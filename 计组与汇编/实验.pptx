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441" r:id="rId2"/>
    <p:sldId id="574" r:id="rId3"/>
    <p:sldId id="573" r:id="rId4"/>
    <p:sldId id="644" r:id="rId5"/>
    <p:sldId id="642" r:id="rId6"/>
    <p:sldId id="643" r:id="rId7"/>
    <p:sldId id="507" r:id="rId8"/>
    <p:sldId id="508" r:id="rId9"/>
    <p:sldId id="509" r:id="rId10"/>
    <p:sldId id="510" r:id="rId11"/>
    <p:sldId id="511" r:id="rId12"/>
    <p:sldId id="512" r:id="rId13"/>
    <p:sldId id="514" r:id="rId14"/>
    <p:sldId id="575" r:id="rId15"/>
    <p:sldId id="576" r:id="rId16"/>
    <p:sldId id="577" r:id="rId17"/>
    <p:sldId id="578" r:id="rId18"/>
    <p:sldId id="579" r:id="rId19"/>
    <p:sldId id="580" r:id="rId20"/>
    <p:sldId id="581" r:id="rId21"/>
    <p:sldId id="582" r:id="rId22"/>
    <p:sldId id="583" r:id="rId23"/>
    <p:sldId id="584" r:id="rId24"/>
    <p:sldId id="585" r:id="rId25"/>
    <p:sldId id="625" r:id="rId26"/>
    <p:sldId id="629" r:id="rId27"/>
    <p:sldId id="630" r:id="rId28"/>
    <p:sldId id="628" r:id="rId29"/>
    <p:sldId id="631" r:id="rId30"/>
    <p:sldId id="522" r:id="rId31"/>
    <p:sldId id="632" r:id="rId32"/>
    <p:sldId id="523" r:id="rId33"/>
    <p:sldId id="546" r:id="rId34"/>
    <p:sldId id="637" r:id="rId35"/>
    <p:sldId id="638" r:id="rId36"/>
    <p:sldId id="640" r:id="rId37"/>
    <p:sldId id="639" r:id="rId38"/>
  </p:sldIdLst>
  <p:sldSz cx="9144000" cy="5143500" type="screen16x9"/>
  <p:notesSz cx="6858000" cy="9144000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3090D8"/>
    <a:srgbClr val="307800"/>
    <a:srgbClr val="483018"/>
    <a:srgbClr val="C0A878"/>
    <a:srgbClr val="F3DEB8"/>
    <a:srgbClr val="0A9B06"/>
    <a:srgbClr val="E8EFC1"/>
    <a:srgbClr val="1E4C7E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9566" autoAdjust="0"/>
  </p:normalViewPr>
  <p:slideViewPr>
    <p:cSldViewPr showGuides="1">
      <p:cViewPr varScale="1">
        <p:scale>
          <a:sx n="160" d="100"/>
          <a:sy n="160" d="100"/>
        </p:scale>
        <p:origin x="144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70A73-B24B-47E5-AC1F-2DEC84ED0BBA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C9B45-6F23-4C9F-9507-7DC487C98C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D63C5-CED3-4198-ADFC-235C7510EC39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D69F8-84B8-4848-85BA-EA3E20CCD7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9502"/>
            <a:ext cx="8496944" cy="41148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25471"/>
            <a:ext cx="8496944" cy="39065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822960"/>
            <a:ext cx="3200400" cy="27843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822960"/>
            <a:ext cx="3200400" cy="278434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74320"/>
            <a:ext cx="7520940" cy="41148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"/>
            <a:ext cx="7520940" cy="4114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822960"/>
            <a:ext cx="3200400" cy="4114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276386"/>
            <a:ext cx="3200400" cy="23317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822960"/>
            <a:ext cx="3200400" cy="41148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276386"/>
            <a:ext cx="3200400" cy="233172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04448" y="4886318"/>
            <a:ext cx="299510" cy="205712"/>
          </a:xfrm>
          <a:prstGeom prst="ellipse">
            <a:avLst/>
          </a:prstGeom>
        </p:spPr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4886318"/>
            <a:ext cx="3574257" cy="257181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-1" fmla="*/ 0 w 3571875"/>
              <a:gd name="connsiteY0-2" fmla="*/ 4210050 h 4210050"/>
              <a:gd name="connsiteX1-3" fmla="*/ 0 w 3571875"/>
              <a:gd name="connsiteY1-4" fmla="*/ 0 h 4210050"/>
              <a:gd name="connsiteX2-5" fmla="*/ 2028825 w 3571875"/>
              <a:gd name="connsiteY2-6" fmla="*/ 2388394 h 4210050"/>
              <a:gd name="connsiteX3-7" fmla="*/ 3571875 w 3571875"/>
              <a:gd name="connsiteY3-8" fmla="*/ 4210050 h 4210050"/>
              <a:gd name="connsiteX4" fmla="*/ 0 w 3571875"/>
              <a:gd name="connsiteY4" fmla="*/ 4210050 h 4210050"/>
              <a:gd name="connsiteX0-9" fmla="*/ 0 w 3571875"/>
              <a:gd name="connsiteY0-10" fmla="*/ 4210050 h 4210050"/>
              <a:gd name="connsiteX1-11" fmla="*/ 0 w 3571875"/>
              <a:gd name="connsiteY1-12" fmla="*/ 0 h 4210050"/>
              <a:gd name="connsiteX2-13" fmla="*/ 2028825 w 3571875"/>
              <a:gd name="connsiteY2-14" fmla="*/ 2205038 h 4210050"/>
              <a:gd name="connsiteX3-15" fmla="*/ 3571875 w 3571875"/>
              <a:gd name="connsiteY3-16" fmla="*/ 4210050 h 4210050"/>
              <a:gd name="connsiteX4-17" fmla="*/ 0 w 3571875"/>
              <a:gd name="connsiteY4-18" fmla="*/ 4210050 h 4210050"/>
              <a:gd name="connsiteX0-19" fmla="*/ 0 w 3571875"/>
              <a:gd name="connsiteY0-20" fmla="*/ 4210050 h 4210050"/>
              <a:gd name="connsiteX1-21" fmla="*/ 0 w 3571875"/>
              <a:gd name="connsiteY1-22" fmla="*/ 0 h 4210050"/>
              <a:gd name="connsiteX2-23" fmla="*/ 2028825 w 3571875"/>
              <a:gd name="connsiteY2-24" fmla="*/ 2393157 h 4210050"/>
              <a:gd name="connsiteX3-25" fmla="*/ 3571875 w 3571875"/>
              <a:gd name="connsiteY3-26" fmla="*/ 4210050 h 4210050"/>
              <a:gd name="connsiteX4-27" fmla="*/ 0 w 3571875"/>
              <a:gd name="connsiteY4-28" fmla="*/ 4210050 h 4210050"/>
              <a:gd name="connsiteX0-29" fmla="*/ 0 w 3571875"/>
              <a:gd name="connsiteY0-30" fmla="*/ 4210050 h 4210050"/>
              <a:gd name="connsiteX1-31" fmla="*/ 0 w 3571875"/>
              <a:gd name="connsiteY1-32" fmla="*/ 0 h 4210050"/>
              <a:gd name="connsiteX2-33" fmla="*/ 2028825 w 3571875"/>
              <a:gd name="connsiteY2-34" fmla="*/ 2393157 h 4210050"/>
              <a:gd name="connsiteX3-35" fmla="*/ 3571875 w 3571875"/>
              <a:gd name="connsiteY3-36" fmla="*/ 4210050 h 4210050"/>
              <a:gd name="connsiteX4-37" fmla="*/ 0 w 3571875"/>
              <a:gd name="connsiteY4-38" fmla="*/ 4210050 h 4210050"/>
              <a:gd name="connsiteX0-39" fmla="*/ 0 w 3571875"/>
              <a:gd name="connsiteY0-40" fmla="*/ 4210050 h 4210050"/>
              <a:gd name="connsiteX1-41" fmla="*/ 0 w 3571875"/>
              <a:gd name="connsiteY1-42" fmla="*/ 0 h 4210050"/>
              <a:gd name="connsiteX2-43" fmla="*/ 2028825 w 3571875"/>
              <a:gd name="connsiteY2-44" fmla="*/ 2281238 h 4210050"/>
              <a:gd name="connsiteX3-45" fmla="*/ 3571875 w 3571875"/>
              <a:gd name="connsiteY3-46" fmla="*/ 4210050 h 4210050"/>
              <a:gd name="connsiteX4-47" fmla="*/ 0 w 3571875"/>
              <a:gd name="connsiteY4-48" fmla="*/ 4210050 h 4210050"/>
              <a:gd name="connsiteX0-49" fmla="*/ 0 w 3571875"/>
              <a:gd name="connsiteY0-50" fmla="*/ 4210050 h 4210050"/>
              <a:gd name="connsiteX1-51" fmla="*/ 0 w 3571875"/>
              <a:gd name="connsiteY1-52" fmla="*/ 0 h 4210050"/>
              <a:gd name="connsiteX2-53" fmla="*/ 2028825 w 3571875"/>
              <a:gd name="connsiteY2-54" fmla="*/ 2393157 h 4210050"/>
              <a:gd name="connsiteX3-55" fmla="*/ 3571875 w 3571875"/>
              <a:gd name="connsiteY3-56" fmla="*/ 4210050 h 4210050"/>
              <a:gd name="connsiteX4-57" fmla="*/ 0 w 3571875"/>
              <a:gd name="connsiteY4-58" fmla="*/ 4210050 h 4210050"/>
              <a:gd name="connsiteX0-59" fmla="*/ 0 w 3571875"/>
              <a:gd name="connsiteY0-60" fmla="*/ 4210050 h 4210050"/>
              <a:gd name="connsiteX1-61" fmla="*/ 0 w 3571875"/>
              <a:gd name="connsiteY1-62" fmla="*/ 0 h 4210050"/>
              <a:gd name="connsiteX2-63" fmla="*/ 2028825 w 3571875"/>
              <a:gd name="connsiteY2-64" fmla="*/ 2393157 h 4210050"/>
              <a:gd name="connsiteX3-65" fmla="*/ 3571875 w 3571875"/>
              <a:gd name="connsiteY3-66" fmla="*/ 4210050 h 4210050"/>
              <a:gd name="connsiteX4-67" fmla="*/ 0 w 3571875"/>
              <a:gd name="connsiteY4-68" fmla="*/ 4210050 h 4210050"/>
              <a:gd name="connsiteX0-69" fmla="*/ 0 w 3571875"/>
              <a:gd name="connsiteY0-70" fmla="*/ 4210050 h 4210050"/>
              <a:gd name="connsiteX1-71" fmla="*/ 0 w 3571875"/>
              <a:gd name="connsiteY1-72" fmla="*/ 0 h 4210050"/>
              <a:gd name="connsiteX2-73" fmla="*/ 2076450 w 3571875"/>
              <a:gd name="connsiteY2-74" fmla="*/ 2274094 h 4210050"/>
              <a:gd name="connsiteX3-75" fmla="*/ 3571875 w 3571875"/>
              <a:gd name="connsiteY3-76" fmla="*/ 4210050 h 4210050"/>
              <a:gd name="connsiteX4-77" fmla="*/ 0 w 3571875"/>
              <a:gd name="connsiteY4-78" fmla="*/ 4210050 h 4210050"/>
              <a:gd name="connsiteX0-79" fmla="*/ 0 w 3571875"/>
              <a:gd name="connsiteY0-80" fmla="*/ 4210050 h 4210050"/>
              <a:gd name="connsiteX1-81" fmla="*/ 0 w 3571875"/>
              <a:gd name="connsiteY1-82" fmla="*/ 0 h 4210050"/>
              <a:gd name="connsiteX2-83" fmla="*/ 2245519 w 3571875"/>
              <a:gd name="connsiteY2-84" fmla="*/ 2405063 h 4210050"/>
              <a:gd name="connsiteX3-85" fmla="*/ 3571875 w 3571875"/>
              <a:gd name="connsiteY3-86" fmla="*/ 4210050 h 4210050"/>
              <a:gd name="connsiteX4-87" fmla="*/ 0 w 3571875"/>
              <a:gd name="connsiteY4-88" fmla="*/ 4210050 h 4210050"/>
              <a:gd name="connsiteX0-89" fmla="*/ 0 w 3571875"/>
              <a:gd name="connsiteY0-90" fmla="*/ 4210050 h 4210050"/>
              <a:gd name="connsiteX1-91" fmla="*/ 0 w 3571875"/>
              <a:gd name="connsiteY1-92" fmla="*/ 0 h 4210050"/>
              <a:gd name="connsiteX2-93" fmla="*/ 2038350 w 3571875"/>
              <a:gd name="connsiteY2-94" fmla="*/ 2405063 h 4210050"/>
              <a:gd name="connsiteX3-95" fmla="*/ 3571875 w 3571875"/>
              <a:gd name="connsiteY3-96" fmla="*/ 4210050 h 4210050"/>
              <a:gd name="connsiteX4-97" fmla="*/ 0 w 3571875"/>
              <a:gd name="connsiteY4-98" fmla="*/ 4210050 h 4210050"/>
              <a:gd name="connsiteX0-99" fmla="*/ 0 w 3571875"/>
              <a:gd name="connsiteY0-100" fmla="*/ 2433637 h 2433637"/>
              <a:gd name="connsiteX1-101" fmla="*/ 257175 w 3571875"/>
              <a:gd name="connsiteY1-102" fmla="*/ 0 h 2433637"/>
              <a:gd name="connsiteX2-103" fmla="*/ 2038350 w 3571875"/>
              <a:gd name="connsiteY2-104" fmla="*/ 628650 h 2433637"/>
              <a:gd name="connsiteX3-105" fmla="*/ 3571875 w 3571875"/>
              <a:gd name="connsiteY3-106" fmla="*/ 2433637 h 2433637"/>
              <a:gd name="connsiteX4-107" fmla="*/ 0 w 3571875"/>
              <a:gd name="connsiteY4-108" fmla="*/ 2433637 h 2433637"/>
              <a:gd name="connsiteX0-109" fmla="*/ 2382 w 3574257"/>
              <a:gd name="connsiteY0-110" fmla="*/ 1807368 h 1807368"/>
              <a:gd name="connsiteX1-111" fmla="*/ 0 w 3574257"/>
              <a:gd name="connsiteY1-112" fmla="*/ 0 h 1807368"/>
              <a:gd name="connsiteX2-113" fmla="*/ 2040732 w 3574257"/>
              <a:gd name="connsiteY2-114" fmla="*/ 2381 h 1807368"/>
              <a:gd name="connsiteX3-115" fmla="*/ 3574257 w 3574257"/>
              <a:gd name="connsiteY3-116" fmla="*/ 1807368 h 1807368"/>
              <a:gd name="connsiteX4-117" fmla="*/ 2382 w 3574257"/>
              <a:gd name="connsiteY4-118" fmla="*/ 1807368 h 1807368"/>
              <a:gd name="connsiteX0-119" fmla="*/ 2382 w 3574257"/>
              <a:gd name="connsiteY0-120" fmla="*/ 1807368 h 1807368"/>
              <a:gd name="connsiteX1-121" fmla="*/ 0 w 3574257"/>
              <a:gd name="connsiteY1-122" fmla="*/ 0 h 1807368"/>
              <a:gd name="connsiteX2-123" fmla="*/ 1924051 w 3574257"/>
              <a:gd name="connsiteY2-124" fmla="*/ 307181 h 1807368"/>
              <a:gd name="connsiteX3-125" fmla="*/ 3574257 w 3574257"/>
              <a:gd name="connsiteY3-126" fmla="*/ 1807368 h 1807368"/>
              <a:gd name="connsiteX4-127" fmla="*/ 2382 w 3574257"/>
              <a:gd name="connsiteY4-128" fmla="*/ 1807368 h 1807368"/>
              <a:gd name="connsiteX0-129" fmla="*/ 2382 w 3574257"/>
              <a:gd name="connsiteY0-130" fmla="*/ 1809749 h 1809749"/>
              <a:gd name="connsiteX1-131" fmla="*/ 0 w 3574257"/>
              <a:gd name="connsiteY1-132" fmla="*/ 2381 h 1809749"/>
              <a:gd name="connsiteX2-133" fmla="*/ 2038351 w 3574257"/>
              <a:gd name="connsiteY2-134" fmla="*/ 0 h 1809749"/>
              <a:gd name="connsiteX3-135" fmla="*/ 3574257 w 3574257"/>
              <a:gd name="connsiteY3-136" fmla="*/ 1809749 h 1809749"/>
              <a:gd name="connsiteX4-137" fmla="*/ 2382 w 3574257"/>
              <a:gd name="connsiteY4-138" fmla="*/ 1809749 h 1809749"/>
              <a:gd name="connsiteX0-139" fmla="*/ 2382 w 3574257"/>
              <a:gd name="connsiteY0-140" fmla="*/ 1807368 h 1807368"/>
              <a:gd name="connsiteX1-141" fmla="*/ 0 w 3574257"/>
              <a:gd name="connsiteY1-142" fmla="*/ 0 h 1807368"/>
              <a:gd name="connsiteX2-143" fmla="*/ 1640682 w 3574257"/>
              <a:gd name="connsiteY2-144" fmla="*/ 450057 h 1807368"/>
              <a:gd name="connsiteX3-145" fmla="*/ 3574257 w 3574257"/>
              <a:gd name="connsiteY3-146" fmla="*/ 1807368 h 1807368"/>
              <a:gd name="connsiteX4-147" fmla="*/ 2382 w 3574257"/>
              <a:gd name="connsiteY4-148" fmla="*/ 1807368 h 1807368"/>
              <a:gd name="connsiteX0-149" fmla="*/ 2382 w 3574257"/>
              <a:gd name="connsiteY0-150" fmla="*/ 1809749 h 1809749"/>
              <a:gd name="connsiteX1-151" fmla="*/ 0 w 3574257"/>
              <a:gd name="connsiteY1-152" fmla="*/ 2381 h 1809749"/>
              <a:gd name="connsiteX2-153" fmla="*/ 2038351 w 3574257"/>
              <a:gd name="connsiteY2-154" fmla="*/ 0 h 1809749"/>
              <a:gd name="connsiteX3-155" fmla="*/ 3574257 w 3574257"/>
              <a:gd name="connsiteY3-156" fmla="*/ 1809749 h 1809749"/>
              <a:gd name="connsiteX4-157" fmla="*/ 2382 w 3574257"/>
              <a:gd name="connsiteY4-158" fmla="*/ 1809749 h 1809749"/>
              <a:gd name="connsiteX0-159" fmla="*/ 2382 w 3574257"/>
              <a:gd name="connsiteY0-160" fmla="*/ 1807368 h 1807368"/>
              <a:gd name="connsiteX1-161" fmla="*/ 0 w 3574257"/>
              <a:gd name="connsiteY1-162" fmla="*/ 0 h 1807368"/>
              <a:gd name="connsiteX2-163" fmla="*/ 1657351 w 3574257"/>
              <a:gd name="connsiteY2-164" fmla="*/ 230982 h 1807368"/>
              <a:gd name="connsiteX3-165" fmla="*/ 3574257 w 3574257"/>
              <a:gd name="connsiteY3-166" fmla="*/ 1807368 h 1807368"/>
              <a:gd name="connsiteX4-167" fmla="*/ 2382 w 3574257"/>
              <a:gd name="connsiteY4-168" fmla="*/ 1807368 h 1807368"/>
              <a:gd name="connsiteX0-169" fmla="*/ 2382 w 3574257"/>
              <a:gd name="connsiteY0-170" fmla="*/ 1807368 h 1807368"/>
              <a:gd name="connsiteX1-171" fmla="*/ 0 w 3574257"/>
              <a:gd name="connsiteY1-172" fmla="*/ 0 h 1807368"/>
              <a:gd name="connsiteX2-173" fmla="*/ 2040732 w 3574257"/>
              <a:gd name="connsiteY2-174" fmla="*/ 2382 h 1807368"/>
              <a:gd name="connsiteX3-175" fmla="*/ 3574257 w 3574257"/>
              <a:gd name="connsiteY3-176" fmla="*/ 1807368 h 1807368"/>
              <a:gd name="connsiteX4-177" fmla="*/ 2382 w 3574257"/>
              <a:gd name="connsiteY4-178" fmla="*/ 1807368 h 1807368"/>
              <a:gd name="connsiteX0-179" fmla="*/ 2382 w 3574257"/>
              <a:gd name="connsiteY0-180" fmla="*/ 1807368 h 1807368"/>
              <a:gd name="connsiteX1-181" fmla="*/ 0 w 3574257"/>
              <a:gd name="connsiteY1-182" fmla="*/ 0 h 1807368"/>
              <a:gd name="connsiteX2-183" fmla="*/ 1774032 w 3574257"/>
              <a:gd name="connsiteY2-184" fmla="*/ 161925 h 1807368"/>
              <a:gd name="connsiteX3-185" fmla="*/ 3574257 w 3574257"/>
              <a:gd name="connsiteY3-186" fmla="*/ 1807368 h 1807368"/>
              <a:gd name="connsiteX4-187" fmla="*/ 2382 w 3574257"/>
              <a:gd name="connsiteY4-188" fmla="*/ 1807368 h 1807368"/>
              <a:gd name="connsiteX0-189" fmla="*/ 2382 w 3574257"/>
              <a:gd name="connsiteY0-190" fmla="*/ 1807368 h 1807368"/>
              <a:gd name="connsiteX1-191" fmla="*/ 0 w 3574257"/>
              <a:gd name="connsiteY1-192" fmla="*/ 0 h 1807368"/>
              <a:gd name="connsiteX2-193" fmla="*/ 1969294 w 3574257"/>
              <a:gd name="connsiteY2-194" fmla="*/ 21432 h 1807368"/>
              <a:gd name="connsiteX3-195" fmla="*/ 3574257 w 3574257"/>
              <a:gd name="connsiteY3-196" fmla="*/ 1807368 h 1807368"/>
              <a:gd name="connsiteX4-197" fmla="*/ 2382 w 3574257"/>
              <a:gd name="connsiteY4-198" fmla="*/ 1807368 h 1807368"/>
              <a:gd name="connsiteX0-199" fmla="*/ 2382 w 3574257"/>
              <a:gd name="connsiteY0-200" fmla="*/ 1807368 h 1807368"/>
              <a:gd name="connsiteX1-201" fmla="*/ 0 w 3574257"/>
              <a:gd name="connsiteY1-202" fmla="*/ 0 h 1807368"/>
              <a:gd name="connsiteX2-203" fmla="*/ 1819275 w 3574257"/>
              <a:gd name="connsiteY2-204" fmla="*/ 200026 h 1807368"/>
              <a:gd name="connsiteX3-205" fmla="*/ 3574257 w 3574257"/>
              <a:gd name="connsiteY3-206" fmla="*/ 1807368 h 1807368"/>
              <a:gd name="connsiteX4-207" fmla="*/ 2382 w 3574257"/>
              <a:gd name="connsiteY4-208" fmla="*/ 1807368 h 1807368"/>
              <a:gd name="connsiteX0-209" fmla="*/ 2382 w 3574257"/>
              <a:gd name="connsiteY0-210" fmla="*/ 1807368 h 1807368"/>
              <a:gd name="connsiteX1-211" fmla="*/ 0 w 3574257"/>
              <a:gd name="connsiteY1-212" fmla="*/ 0 h 1807368"/>
              <a:gd name="connsiteX2-213" fmla="*/ 2045494 w 3574257"/>
              <a:gd name="connsiteY2-214" fmla="*/ 1 h 1807368"/>
              <a:gd name="connsiteX3-215" fmla="*/ 3574257 w 3574257"/>
              <a:gd name="connsiteY3-216" fmla="*/ 1807368 h 1807368"/>
              <a:gd name="connsiteX4-217" fmla="*/ 2382 w 3574257"/>
              <a:gd name="connsiteY4-218" fmla="*/ 1807368 h 18073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4886318"/>
            <a:ext cx="9146380" cy="25718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-1" fmla="*/ 0 w 3112294"/>
              <a:gd name="connsiteY0-2" fmla="*/ 2019301 h 2083594"/>
              <a:gd name="connsiteX1-3" fmla="*/ 2793206 w 3112294"/>
              <a:gd name="connsiteY1-4" fmla="*/ 0 h 2083594"/>
              <a:gd name="connsiteX2-5" fmla="*/ 3112294 w 3112294"/>
              <a:gd name="connsiteY2-6" fmla="*/ 80963 h 2083594"/>
              <a:gd name="connsiteX3-7" fmla="*/ 3112294 w 3112294"/>
              <a:gd name="connsiteY3-8" fmla="*/ 2083594 h 2083594"/>
              <a:gd name="connsiteX4-9" fmla="*/ 0 w 3112294"/>
              <a:gd name="connsiteY4-10" fmla="*/ 2019301 h 2083594"/>
              <a:gd name="connsiteX0-11" fmla="*/ 0 w 3345656"/>
              <a:gd name="connsiteY0-12" fmla="*/ 2097882 h 2097882"/>
              <a:gd name="connsiteX1-13" fmla="*/ 3026568 w 3345656"/>
              <a:gd name="connsiteY1-14" fmla="*/ 0 h 2097882"/>
              <a:gd name="connsiteX2-15" fmla="*/ 3345656 w 3345656"/>
              <a:gd name="connsiteY2-16" fmla="*/ 80963 h 2097882"/>
              <a:gd name="connsiteX3-17" fmla="*/ 3345656 w 3345656"/>
              <a:gd name="connsiteY3-18" fmla="*/ 2083594 h 2097882"/>
              <a:gd name="connsiteX4-19" fmla="*/ 0 w 3345656"/>
              <a:gd name="connsiteY4-20" fmla="*/ 2097882 h 2097882"/>
              <a:gd name="connsiteX0-21" fmla="*/ 0 w 2800350"/>
              <a:gd name="connsiteY0-22" fmla="*/ 1935957 h 2083594"/>
              <a:gd name="connsiteX1-23" fmla="*/ 2481262 w 2800350"/>
              <a:gd name="connsiteY1-24" fmla="*/ 0 h 2083594"/>
              <a:gd name="connsiteX2-25" fmla="*/ 2800350 w 2800350"/>
              <a:gd name="connsiteY2-26" fmla="*/ 80963 h 2083594"/>
              <a:gd name="connsiteX3-27" fmla="*/ 2800350 w 2800350"/>
              <a:gd name="connsiteY3-28" fmla="*/ 2083594 h 2083594"/>
              <a:gd name="connsiteX4-29" fmla="*/ 0 w 2800350"/>
              <a:gd name="connsiteY4-30" fmla="*/ 1935957 h 2083594"/>
              <a:gd name="connsiteX0-31" fmla="*/ 0 w 3352800"/>
              <a:gd name="connsiteY0-32" fmla="*/ 2083594 h 2083594"/>
              <a:gd name="connsiteX1-33" fmla="*/ 3033712 w 3352800"/>
              <a:gd name="connsiteY1-34" fmla="*/ 0 h 2083594"/>
              <a:gd name="connsiteX2-35" fmla="*/ 3352800 w 3352800"/>
              <a:gd name="connsiteY2-36" fmla="*/ 80963 h 2083594"/>
              <a:gd name="connsiteX3-37" fmla="*/ 3352800 w 3352800"/>
              <a:gd name="connsiteY3-38" fmla="*/ 2083594 h 2083594"/>
              <a:gd name="connsiteX4-39" fmla="*/ 0 w 3352800"/>
              <a:gd name="connsiteY4-40" fmla="*/ 2083594 h 2083594"/>
              <a:gd name="connsiteX0-41" fmla="*/ 0 w 3352800"/>
              <a:gd name="connsiteY0-42" fmla="*/ 2002631 h 2002631"/>
              <a:gd name="connsiteX1-43" fmla="*/ 3033712 w 3352800"/>
              <a:gd name="connsiteY1-44" fmla="*/ 157162 h 2002631"/>
              <a:gd name="connsiteX2-45" fmla="*/ 3352800 w 3352800"/>
              <a:gd name="connsiteY2-46" fmla="*/ 0 h 2002631"/>
              <a:gd name="connsiteX3-47" fmla="*/ 3352800 w 3352800"/>
              <a:gd name="connsiteY3-48" fmla="*/ 2002631 h 2002631"/>
              <a:gd name="connsiteX4-49" fmla="*/ 0 w 3352800"/>
              <a:gd name="connsiteY4-50" fmla="*/ 2002631 h 2002631"/>
              <a:gd name="connsiteX0-51" fmla="*/ 0 w 3352800"/>
              <a:gd name="connsiteY0-52" fmla="*/ 2002631 h 2002631"/>
              <a:gd name="connsiteX1-53" fmla="*/ 2988469 w 3352800"/>
              <a:gd name="connsiteY1-54" fmla="*/ 59530 h 2002631"/>
              <a:gd name="connsiteX2-55" fmla="*/ 3352800 w 3352800"/>
              <a:gd name="connsiteY2-56" fmla="*/ 0 h 2002631"/>
              <a:gd name="connsiteX3-57" fmla="*/ 3352800 w 3352800"/>
              <a:gd name="connsiteY3-58" fmla="*/ 2002631 h 2002631"/>
              <a:gd name="connsiteX4-59" fmla="*/ 0 w 3352800"/>
              <a:gd name="connsiteY4-60" fmla="*/ 2002631 h 2002631"/>
              <a:gd name="connsiteX0-61" fmla="*/ 0 w 3352800"/>
              <a:gd name="connsiteY0-62" fmla="*/ 2002631 h 2002631"/>
              <a:gd name="connsiteX1-63" fmla="*/ 2833966 w 3352800"/>
              <a:gd name="connsiteY1-64" fmla="*/ 425 h 2002631"/>
              <a:gd name="connsiteX2-65" fmla="*/ 3352800 w 3352800"/>
              <a:gd name="connsiteY2-66" fmla="*/ 0 h 2002631"/>
              <a:gd name="connsiteX3-67" fmla="*/ 3352800 w 3352800"/>
              <a:gd name="connsiteY3-68" fmla="*/ 2002631 h 2002631"/>
              <a:gd name="connsiteX4-69" fmla="*/ 0 w 3352800"/>
              <a:gd name="connsiteY4-70" fmla="*/ 2002631 h 2002631"/>
              <a:gd name="connsiteX0-71" fmla="*/ 0 w 3352800"/>
              <a:gd name="connsiteY0-72" fmla="*/ 2002631 h 2002631"/>
              <a:gd name="connsiteX1-73" fmla="*/ 2845314 w 3352800"/>
              <a:gd name="connsiteY1-74" fmla="*/ 12246 h 2002631"/>
              <a:gd name="connsiteX2-75" fmla="*/ 3352800 w 3352800"/>
              <a:gd name="connsiteY2-76" fmla="*/ 0 h 2002631"/>
              <a:gd name="connsiteX3-77" fmla="*/ 3352800 w 3352800"/>
              <a:gd name="connsiteY3-78" fmla="*/ 2002631 h 2002631"/>
              <a:gd name="connsiteX4-79" fmla="*/ 0 w 3352800"/>
              <a:gd name="connsiteY4-80" fmla="*/ 2002631 h 2002631"/>
              <a:gd name="connsiteX0-81" fmla="*/ 0 w 3352800"/>
              <a:gd name="connsiteY0-82" fmla="*/ 2002631 h 2002631"/>
              <a:gd name="connsiteX1-83" fmla="*/ 2834839 w 3352800"/>
              <a:gd name="connsiteY1-84" fmla="*/ 425 h 2002631"/>
              <a:gd name="connsiteX2-85" fmla="*/ 3352800 w 3352800"/>
              <a:gd name="connsiteY2-86" fmla="*/ 0 h 2002631"/>
              <a:gd name="connsiteX3-87" fmla="*/ 3352800 w 3352800"/>
              <a:gd name="connsiteY3-88" fmla="*/ 2002631 h 2002631"/>
              <a:gd name="connsiteX4-89" fmla="*/ 0 w 3352800"/>
              <a:gd name="connsiteY4-90" fmla="*/ 2002631 h 2002631"/>
              <a:gd name="connsiteX0-91" fmla="*/ 0 w 3352800"/>
              <a:gd name="connsiteY0-92" fmla="*/ 2002631 h 2002631"/>
              <a:gd name="connsiteX1-93" fmla="*/ 2875865 w 3352800"/>
              <a:gd name="connsiteY1-94" fmla="*/ 81782 h 2002631"/>
              <a:gd name="connsiteX2-95" fmla="*/ 3352800 w 3352800"/>
              <a:gd name="connsiteY2-96" fmla="*/ 0 h 2002631"/>
              <a:gd name="connsiteX3-97" fmla="*/ 3352800 w 3352800"/>
              <a:gd name="connsiteY3-98" fmla="*/ 2002631 h 2002631"/>
              <a:gd name="connsiteX4-99" fmla="*/ 0 w 3352800"/>
              <a:gd name="connsiteY4-100" fmla="*/ 2002631 h 2002631"/>
              <a:gd name="connsiteX0-101" fmla="*/ 0 w 3352800"/>
              <a:gd name="connsiteY0-102" fmla="*/ 2002901 h 2002901"/>
              <a:gd name="connsiteX1-103" fmla="*/ 2836585 w 3352800"/>
              <a:gd name="connsiteY1-104" fmla="*/ 0 h 2002901"/>
              <a:gd name="connsiteX2-105" fmla="*/ 3352800 w 3352800"/>
              <a:gd name="connsiteY2-106" fmla="*/ 270 h 2002901"/>
              <a:gd name="connsiteX3-107" fmla="*/ 3352800 w 3352800"/>
              <a:gd name="connsiteY3-108" fmla="*/ 2002901 h 2002901"/>
              <a:gd name="connsiteX4-109" fmla="*/ 0 w 3352800"/>
              <a:gd name="connsiteY4-110" fmla="*/ 2002901 h 2002901"/>
              <a:gd name="connsiteX0-111" fmla="*/ 0 w 3352800"/>
              <a:gd name="connsiteY0-112" fmla="*/ 2002631 h 2002631"/>
              <a:gd name="connsiteX1-113" fmla="*/ 754045 w 3352800"/>
              <a:gd name="connsiteY1-114" fmla="*/ 1468326 h 2002631"/>
              <a:gd name="connsiteX2-115" fmla="*/ 3352800 w 3352800"/>
              <a:gd name="connsiteY2-116" fmla="*/ 0 h 2002631"/>
              <a:gd name="connsiteX3-117" fmla="*/ 3352800 w 3352800"/>
              <a:gd name="connsiteY3-118" fmla="*/ 2002631 h 2002631"/>
              <a:gd name="connsiteX4-119" fmla="*/ 0 w 3352800"/>
              <a:gd name="connsiteY4-120" fmla="*/ 2002631 h 2002631"/>
              <a:gd name="connsiteX0-121" fmla="*/ 0 w 3352800"/>
              <a:gd name="connsiteY0-122" fmla="*/ 534305 h 534305"/>
              <a:gd name="connsiteX1-123" fmla="*/ 754045 w 3352800"/>
              <a:gd name="connsiteY1-124" fmla="*/ 0 h 534305"/>
              <a:gd name="connsiteX2-125" fmla="*/ 3352800 w 3352800"/>
              <a:gd name="connsiteY2-126" fmla="*/ 7687 h 534305"/>
              <a:gd name="connsiteX3-127" fmla="*/ 3352800 w 3352800"/>
              <a:gd name="connsiteY3-128" fmla="*/ 534305 h 534305"/>
              <a:gd name="connsiteX4-129" fmla="*/ 0 w 3352800"/>
              <a:gd name="connsiteY4-130" fmla="*/ 534305 h 534305"/>
              <a:gd name="connsiteX0-131" fmla="*/ 0 w 3352800"/>
              <a:gd name="connsiteY0-132" fmla="*/ 534305 h 534305"/>
              <a:gd name="connsiteX1-133" fmla="*/ 754045 w 3352800"/>
              <a:gd name="connsiteY1-134" fmla="*/ 0 h 534305"/>
              <a:gd name="connsiteX2-135" fmla="*/ 3352800 w 3352800"/>
              <a:gd name="connsiteY2-136" fmla="*/ 7687 h 534305"/>
              <a:gd name="connsiteX3-137" fmla="*/ 3352800 w 3352800"/>
              <a:gd name="connsiteY3-138" fmla="*/ 534305 h 534305"/>
              <a:gd name="connsiteX4-139" fmla="*/ 0 w 3352800"/>
              <a:gd name="connsiteY4-140" fmla="*/ 534305 h 534305"/>
              <a:gd name="connsiteX0-141" fmla="*/ 0 w 3352800"/>
              <a:gd name="connsiteY0-142" fmla="*/ 526618 h 526618"/>
              <a:gd name="connsiteX1-143" fmla="*/ 980611 w 3352800"/>
              <a:gd name="connsiteY1-144" fmla="*/ 93681 h 526618"/>
              <a:gd name="connsiteX2-145" fmla="*/ 3352800 w 3352800"/>
              <a:gd name="connsiteY2-146" fmla="*/ 0 h 526618"/>
              <a:gd name="connsiteX3-147" fmla="*/ 3352800 w 3352800"/>
              <a:gd name="connsiteY3-148" fmla="*/ 526618 h 526618"/>
              <a:gd name="connsiteX4-149" fmla="*/ 0 w 3352800"/>
              <a:gd name="connsiteY4-150" fmla="*/ 526618 h 526618"/>
              <a:gd name="connsiteX0-151" fmla="*/ 0 w 3352800"/>
              <a:gd name="connsiteY0-152" fmla="*/ 526888 h 526888"/>
              <a:gd name="connsiteX1-153" fmla="*/ 744735 w 3352800"/>
              <a:gd name="connsiteY1-154" fmla="*/ 0 h 526888"/>
              <a:gd name="connsiteX2-155" fmla="*/ 3352800 w 3352800"/>
              <a:gd name="connsiteY2-156" fmla="*/ 270 h 526888"/>
              <a:gd name="connsiteX3-157" fmla="*/ 3352800 w 3352800"/>
              <a:gd name="connsiteY3-158" fmla="*/ 526888 h 526888"/>
              <a:gd name="connsiteX4-159" fmla="*/ 0 w 3352800"/>
              <a:gd name="connsiteY4-160" fmla="*/ 526888 h 526888"/>
              <a:gd name="connsiteX0-161" fmla="*/ 0 w 3352800"/>
              <a:gd name="connsiteY0-162" fmla="*/ 526618 h 526618"/>
              <a:gd name="connsiteX1-163" fmla="*/ 811948 w 3352800"/>
              <a:gd name="connsiteY1-164" fmla="*/ 60921 h 526618"/>
              <a:gd name="connsiteX2-165" fmla="*/ 3352800 w 3352800"/>
              <a:gd name="connsiteY2-166" fmla="*/ 0 h 526618"/>
              <a:gd name="connsiteX3-167" fmla="*/ 3352800 w 3352800"/>
              <a:gd name="connsiteY3-168" fmla="*/ 526618 h 526618"/>
              <a:gd name="connsiteX4-169" fmla="*/ 0 w 3352800"/>
              <a:gd name="connsiteY4-170" fmla="*/ 526618 h 526618"/>
              <a:gd name="connsiteX0-171" fmla="*/ 0 w 3352800"/>
              <a:gd name="connsiteY0-172" fmla="*/ 527584 h 527584"/>
              <a:gd name="connsiteX1-173" fmla="*/ 751718 w 3352800"/>
              <a:gd name="connsiteY1-174" fmla="*/ 0 h 527584"/>
              <a:gd name="connsiteX2-175" fmla="*/ 3352800 w 3352800"/>
              <a:gd name="connsiteY2-176" fmla="*/ 966 h 527584"/>
              <a:gd name="connsiteX3-177" fmla="*/ 3352800 w 3352800"/>
              <a:gd name="connsiteY3-178" fmla="*/ 527584 h 527584"/>
              <a:gd name="connsiteX4-179" fmla="*/ 0 w 3352800"/>
              <a:gd name="connsiteY4-180" fmla="*/ 527584 h 527584"/>
              <a:gd name="connsiteX0-181" fmla="*/ 0 w 3352800"/>
              <a:gd name="connsiteY0-182" fmla="*/ 527584 h 527584"/>
              <a:gd name="connsiteX1-183" fmla="*/ 751718 w 3352800"/>
              <a:gd name="connsiteY1-184" fmla="*/ 0 h 527584"/>
              <a:gd name="connsiteX2-185" fmla="*/ 3241069 w 3352800"/>
              <a:gd name="connsiteY2-186" fmla="*/ 94144 h 527584"/>
              <a:gd name="connsiteX3-187" fmla="*/ 3352800 w 3352800"/>
              <a:gd name="connsiteY3-188" fmla="*/ 527584 h 527584"/>
              <a:gd name="connsiteX4-189" fmla="*/ 0 w 3352800"/>
              <a:gd name="connsiteY4-190" fmla="*/ 527584 h 527584"/>
              <a:gd name="connsiteX0-191" fmla="*/ 0 w 3352800"/>
              <a:gd name="connsiteY0-192" fmla="*/ 527584 h 527584"/>
              <a:gd name="connsiteX1-193" fmla="*/ 751718 w 3352800"/>
              <a:gd name="connsiteY1-194" fmla="*/ 0 h 527584"/>
              <a:gd name="connsiteX2-195" fmla="*/ 3352800 w 3352800"/>
              <a:gd name="connsiteY2-196" fmla="*/ 271 h 527584"/>
              <a:gd name="connsiteX3-197" fmla="*/ 3352800 w 3352800"/>
              <a:gd name="connsiteY3-198" fmla="*/ 527584 h 527584"/>
              <a:gd name="connsiteX4-199" fmla="*/ 0 w 3352800"/>
              <a:gd name="connsiteY4-200" fmla="*/ 527584 h 527584"/>
              <a:gd name="connsiteX0-201" fmla="*/ 0 w 3352800"/>
              <a:gd name="connsiteY0-202" fmla="*/ 527313 h 527313"/>
              <a:gd name="connsiteX1-203" fmla="*/ 900984 w 3352800"/>
              <a:gd name="connsiteY1-204" fmla="*/ 97774 h 527313"/>
              <a:gd name="connsiteX2-205" fmla="*/ 3352800 w 3352800"/>
              <a:gd name="connsiteY2-206" fmla="*/ 0 h 527313"/>
              <a:gd name="connsiteX3-207" fmla="*/ 3352800 w 3352800"/>
              <a:gd name="connsiteY3-208" fmla="*/ 527313 h 527313"/>
              <a:gd name="connsiteX4-209" fmla="*/ 0 w 3352800"/>
              <a:gd name="connsiteY4-210" fmla="*/ 527313 h 527313"/>
              <a:gd name="connsiteX0-211" fmla="*/ 0 w 3352800"/>
              <a:gd name="connsiteY0-212" fmla="*/ 527584 h 527584"/>
              <a:gd name="connsiteX1-213" fmla="*/ 748227 w 3352800"/>
              <a:gd name="connsiteY1-214" fmla="*/ 0 h 527584"/>
              <a:gd name="connsiteX2-215" fmla="*/ 3352800 w 3352800"/>
              <a:gd name="connsiteY2-216" fmla="*/ 271 h 527584"/>
              <a:gd name="connsiteX3-217" fmla="*/ 3352800 w 3352800"/>
              <a:gd name="connsiteY3-218" fmla="*/ 527584 h 527584"/>
              <a:gd name="connsiteX4-219" fmla="*/ 0 w 3352800"/>
              <a:gd name="connsiteY4-220" fmla="*/ 527584 h 5275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35896" y="4939471"/>
            <a:ext cx="2176272" cy="150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746BAEA-2E2F-43C1-8FC5-9FEE3A8DF45C}" type="datetimeFigureOut">
              <a:rPr lang="zh-CN" altLang="en-US" smtClean="0"/>
              <a:t>2025/4/11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79912" y="4957117"/>
            <a:ext cx="4724400" cy="11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Content Placeholder 2"/>
          <p:cNvSpPr txBox="1"/>
          <p:nvPr userDrawn="1"/>
        </p:nvSpPr>
        <p:spPr>
          <a:xfrm>
            <a:off x="323528" y="825471"/>
            <a:ext cx="8496944" cy="390651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990" indent="-173990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590" indent="-164465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1190" indent="-164465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790" indent="-173990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990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185" indent="-164465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785" indent="-164465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1970" indent="-164465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990" indent="-173990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590" indent="-164465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1190" indent="-164465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790" indent="-173990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990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185" indent="-164465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785" indent="-164465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1970" indent="-164465" algn="l" defTabSz="914400" rtl="0" eaLnBrk="1" latinLnBrk="0" hangingPunct="1">
        <a:spcBef>
          <a:spcPts val="300"/>
        </a:spcBef>
        <a:buClr>
          <a:schemeClr val="accent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zhou@ah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51520" y="1131590"/>
            <a:ext cx="8640960" cy="2592288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zh-CN" altLang="en-US" sz="5900" dirty="0" smtClean="0"/>
              <a:t>计算机组成原理与汇编语言程序设计实验</a:t>
            </a:r>
            <a:endParaRPr lang="en-US" altLang="zh-CN" sz="5900" dirty="0" smtClean="0"/>
          </a:p>
          <a:p>
            <a:pPr algn="ctr"/>
            <a:r>
              <a:rPr lang="en-US" altLang="zh-CN" sz="3600" dirty="0" smtClean="0"/>
              <a:t>2024-2025-2</a:t>
            </a:r>
          </a:p>
          <a:p>
            <a:pPr algn="ctr"/>
            <a:r>
              <a:rPr lang="en-US" altLang="zh-CN" sz="3600" dirty="0" smtClean="0">
                <a:hlinkClick r:id="rId2"/>
              </a:rPr>
              <a:t>jzhou@ahu.edu.cn</a:t>
            </a:r>
            <a:endParaRPr lang="en-US" altLang="zh-CN" sz="3600" dirty="0" smtClean="0"/>
          </a:p>
          <a:p>
            <a:pPr algn="ctr"/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539750" y="483870"/>
            <a:ext cx="7870190" cy="399669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/>
              <a:t>LAB01- </a:t>
            </a:r>
            <a:r>
              <a:rPr lang="zh-CN" altLang="en-US" sz="2000" dirty="0"/>
              <a:t>基于</a:t>
            </a:r>
            <a:r>
              <a:rPr lang="en-US" altLang="zh-CN" sz="2000" dirty="0"/>
              <a:t>Mars</a:t>
            </a:r>
            <a:r>
              <a:rPr lang="zh-CN" altLang="en-US" sz="2000" dirty="0"/>
              <a:t>的</a:t>
            </a:r>
            <a:r>
              <a:rPr lang="en-US" altLang="zh-CN" sz="2000" dirty="0"/>
              <a:t>MIPS </a:t>
            </a:r>
            <a:r>
              <a:rPr lang="zh-CN" altLang="en-US" sz="2000" dirty="0"/>
              <a:t>汇编程序分析（</a:t>
            </a:r>
            <a:r>
              <a:rPr lang="zh-CN" altLang="en-US" sz="2000" dirty="0" smtClean="0"/>
              <a:t>第</a:t>
            </a:r>
            <a:r>
              <a:rPr lang="en-US" altLang="zh-CN" sz="2000" dirty="0" smtClean="0"/>
              <a:t>8</a:t>
            </a:r>
            <a:r>
              <a:rPr lang="zh-CN" altLang="en-US" sz="2000" dirty="0" smtClean="0"/>
              <a:t>周</a:t>
            </a:r>
            <a:r>
              <a:rPr lang="zh-CN" altLang="en-US" sz="2000" dirty="0"/>
              <a:t>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/>
              <a:t>LAB02</a:t>
            </a: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>
                <a:sym typeface="+mn-ea"/>
              </a:rPr>
              <a:t>Mars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/>
              <a:t>MIPS </a:t>
            </a:r>
            <a:r>
              <a:rPr lang="zh-CN" altLang="en-US" sz="2000" dirty="0"/>
              <a:t>汇编程序设计</a:t>
            </a:r>
            <a:r>
              <a:rPr lang="zh-CN" altLang="en-US" sz="2000" dirty="0">
                <a:sym typeface="+mn-ea"/>
              </a:rPr>
              <a:t>（第</a:t>
            </a:r>
            <a:r>
              <a:rPr lang="en-US" altLang="zh-CN" sz="2000" dirty="0">
                <a:sym typeface="+mn-ea"/>
              </a:rPr>
              <a:t>9</a:t>
            </a:r>
            <a:r>
              <a:rPr lang="zh-CN" altLang="en-US" sz="2000" dirty="0">
                <a:sym typeface="+mn-ea"/>
              </a:rPr>
              <a:t>周）</a:t>
            </a:r>
            <a:endParaRPr lang="zh-CN" altLang="en-US" sz="2000" dirty="0"/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LAB03-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>
                <a:sym typeface="+mn-ea"/>
              </a:rPr>
              <a:t>Mars</a:t>
            </a:r>
            <a:r>
              <a:rPr lang="zh-CN" altLang="en-US" sz="2000" dirty="0">
                <a:sym typeface="+mn-ea"/>
              </a:rPr>
              <a:t>的基于</a:t>
            </a:r>
            <a:r>
              <a:rPr lang="en-US" altLang="zh-CN" sz="2000" dirty="0">
                <a:sym typeface="+mn-ea"/>
              </a:rPr>
              <a:t>Mars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MIPS </a:t>
            </a:r>
            <a:r>
              <a:rPr lang="zh-CN" altLang="en-US" sz="2000" dirty="0">
                <a:sym typeface="+mn-ea"/>
              </a:rPr>
              <a:t>叶函数设计与调用（第</a:t>
            </a:r>
            <a:r>
              <a:rPr lang="en-US" altLang="zh-CN" sz="2000" dirty="0">
                <a:sym typeface="+mn-ea"/>
              </a:rPr>
              <a:t>10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LAB04-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>
                <a:sym typeface="+mn-ea"/>
              </a:rPr>
              <a:t>Mars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MIPS </a:t>
            </a:r>
            <a:r>
              <a:rPr lang="zh-CN" altLang="en-US" sz="2000" dirty="0">
                <a:sym typeface="+mn-ea"/>
              </a:rPr>
              <a:t>递归函数设计与调用（第</a:t>
            </a:r>
            <a:r>
              <a:rPr lang="en-US" altLang="zh-CN" sz="2000" dirty="0">
                <a:sym typeface="+mn-ea"/>
              </a:rPr>
              <a:t>11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LAB05-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>
                <a:sym typeface="+mn-ea"/>
              </a:rPr>
              <a:t>Mars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MIPS </a:t>
            </a:r>
            <a:r>
              <a:rPr lang="zh-CN" altLang="en-US" sz="2000" dirty="0">
                <a:sym typeface="+mn-ea"/>
              </a:rPr>
              <a:t>排序函数设计与调用（第</a:t>
            </a:r>
            <a:r>
              <a:rPr lang="en-US" altLang="zh-CN" sz="2000" dirty="0">
                <a:sym typeface="+mn-ea"/>
              </a:rPr>
              <a:t>12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LAB06-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sz="2000" dirty="0">
                <a:sym typeface="+mn-ea"/>
              </a:rPr>
              <a:t>的表决电路设计（第</a:t>
            </a:r>
            <a:r>
              <a:rPr lang="en-US" altLang="zh-CN" sz="2000" dirty="0">
                <a:sym typeface="+mn-ea"/>
              </a:rPr>
              <a:t>13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LAB07-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sz="2000" dirty="0">
                <a:sym typeface="+mn-ea"/>
              </a:rPr>
              <a:t>的边沿</a:t>
            </a:r>
            <a:r>
              <a:rPr lang="en-US" altLang="zh-CN" sz="2000" dirty="0">
                <a:sym typeface="+mn-ea"/>
              </a:rPr>
              <a:t>D</a:t>
            </a:r>
            <a:r>
              <a:rPr lang="zh-CN" altLang="en-US" sz="2000" dirty="0">
                <a:sym typeface="+mn-ea"/>
              </a:rPr>
              <a:t>触发器及</a:t>
            </a:r>
            <a:r>
              <a:rPr lang="en-US" altLang="zh-CN" sz="2000" dirty="0">
                <a:sym typeface="+mn-ea"/>
              </a:rPr>
              <a:t>32</a:t>
            </a:r>
            <a:r>
              <a:rPr lang="zh-CN" altLang="en-US" sz="2000" dirty="0">
                <a:sym typeface="+mn-ea"/>
              </a:rPr>
              <a:t>位寄存器设计（第</a:t>
            </a:r>
            <a:r>
              <a:rPr lang="en-US" altLang="zh-CN" sz="2000" dirty="0">
                <a:sym typeface="+mn-ea"/>
              </a:rPr>
              <a:t>14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LAB08-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MIPS</a:t>
            </a:r>
            <a:r>
              <a:rPr lang="zh-CN" altLang="en-US" sz="2000" dirty="0">
                <a:sym typeface="+mn-ea"/>
              </a:rPr>
              <a:t>寄存器文件设计（第</a:t>
            </a:r>
            <a:r>
              <a:rPr lang="en-US" altLang="zh-CN" sz="2000" dirty="0">
                <a:sym typeface="+mn-ea"/>
              </a:rPr>
              <a:t>15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LAB09- 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sz="2000" dirty="0">
                <a:sym typeface="+mn-ea"/>
              </a:rPr>
              <a:t>的</a:t>
            </a:r>
            <a:r>
              <a:rPr lang="en-US" altLang="zh-CN" sz="2000" dirty="0">
                <a:sym typeface="+mn-ea"/>
              </a:rPr>
              <a:t>MIPS </a:t>
            </a:r>
            <a:r>
              <a:rPr lang="zh-CN" altLang="en-US" sz="2000" dirty="0">
                <a:sym typeface="+mn-ea"/>
              </a:rPr>
              <a:t>运算器设计（第</a:t>
            </a:r>
            <a:r>
              <a:rPr lang="en-US" altLang="zh-CN" sz="2000" dirty="0">
                <a:sym typeface="+mn-ea"/>
              </a:rPr>
              <a:t>16</a:t>
            </a:r>
            <a:r>
              <a:rPr lang="zh-CN" altLang="en-US" sz="2000" dirty="0">
                <a:sym typeface="+mn-ea"/>
              </a:rPr>
              <a:t>周）</a:t>
            </a:r>
          </a:p>
          <a:p>
            <a:pPr marL="457200" indent="-457200">
              <a:buFont typeface="Wingdings" panose="05000000000000000000" charset="0"/>
              <a:buChar char="n"/>
            </a:pPr>
            <a:r>
              <a:rPr lang="en-US" altLang="zh-CN" sz="2000" dirty="0">
                <a:sym typeface="+mn-ea"/>
              </a:rPr>
              <a:t>LAB10 -</a:t>
            </a:r>
            <a:r>
              <a:rPr lang="zh-CN" altLang="en-US" sz="2000" dirty="0">
                <a:sym typeface="+mn-ea"/>
              </a:rPr>
              <a:t>基于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sz="2000" dirty="0">
                <a:sym typeface="+mn-ea"/>
              </a:rPr>
              <a:t>单周期</a:t>
            </a:r>
            <a:r>
              <a:rPr lang="en-US" altLang="zh-CN" sz="2000" dirty="0">
                <a:sym typeface="+mn-ea"/>
              </a:rPr>
              <a:t>CPU</a:t>
            </a:r>
            <a:r>
              <a:rPr lang="zh-CN" altLang="en-US" sz="2000" dirty="0">
                <a:sym typeface="+mn-ea"/>
              </a:rPr>
              <a:t>设计（第</a:t>
            </a:r>
            <a:r>
              <a:rPr lang="en-US" altLang="zh-CN" sz="2000" dirty="0">
                <a:sym typeface="+mn-ea"/>
              </a:rPr>
              <a:t>17</a:t>
            </a:r>
            <a:r>
              <a:rPr lang="zh-CN" altLang="en-US" sz="2000" dirty="0">
                <a:sym typeface="+mn-ea"/>
              </a:rPr>
              <a:t>周）</a:t>
            </a:r>
            <a:endParaRPr lang="zh-CN" altLang="en-US" sz="20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11530" y="52070"/>
            <a:ext cx="7520940" cy="411480"/>
          </a:xfrm>
        </p:spPr>
        <p:txBody>
          <a:bodyPr/>
          <a:lstStyle/>
          <a:p>
            <a:pPr algn="ctr"/>
            <a:r>
              <a:rPr lang="zh-CN" altLang="en-US"/>
              <a:t>实验项目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771775" y="1995805"/>
            <a:ext cx="3159760" cy="411480"/>
          </a:xfrm>
        </p:spPr>
        <p:txBody>
          <a:bodyPr/>
          <a:lstStyle/>
          <a:p>
            <a:r>
              <a:rPr lang="en-US" altLang="zh-CN"/>
              <a:t>Mars</a:t>
            </a:r>
            <a:r>
              <a:rPr lang="zh-CN" altLang="en-US"/>
              <a:t>使用方法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824865" y="822960"/>
            <a:ext cx="7075805" cy="2784475"/>
          </a:xfrm>
        </p:spPr>
        <p:txBody>
          <a:bodyPr/>
          <a:lstStyle/>
          <a:p>
            <a:r>
              <a:rPr lang="zh-CN" altLang="en-US"/>
              <a:t>实验任务</a:t>
            </a:r>
            <a:r>
              <a:rPr lang="en-US" altLang="zh-CN"/>
              <a:t>1</a:t>
            </a:r>
            <a:r>
              <a:rPr lang="zh-CN" altLang="en-US"/>
              <a:t>：</a:t>
            </a:r>
          </a:p>
          <a:p>
            <a:r>
              <a:rPr lang="en-US" altLang="zh-CN"/>
              <a:t>    </a:t>
            </a:r>
            <a:r>
              <a:rPr lang="zh-CN" altLang="en-US"/>
              <a:t>在</a:t>
            </a:r>
            <a:r>
              <a:rPr lang="en-US" altLang="zh-CN"/>
              <a:t>MARS</a:t>
            </a:r>
            <a:r>
              <a:rPr lang="zh-CN" altLang="en-US"/>
              <a:t>中编写汇编程序，从键盘读取</a:t>
            </a:r>
            <a:r>
              <a:rPr lang="en-US" altLang="zh-CN"/>
              <a:t>2</a:t>
            </a:r>
            <a:r>
              <a:rPr lang="zh-CN" altLang="en-US"/>
              <a:t>个整数，然后相加后输出到</a:t>
            </a:r>
            <a:r>
              <a:rPr lang="en-US" altLang="zh-CN"/>
              <a:t>I/O</a:t>
            </a:r>
            <a:r>
              <a:rPr lang="zh-CN" altLang="en-US"/>
              <a:t>终端显示，通过单步调试观察每条指令的执行结果。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LAB1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27405" y="195580"/>
            <a:ext cx="7620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.data</a:t>
            </a:r>
            <a:r>
              <a:rPr lang="en-US" altLang="zh-CN" b="1">
                <a:solidFill>
                  <a:srgbClr val="FF0000"/>
                </a:solidFill>
              </a:rPr>
              <a:t> #</a:t>
            </a:r>
            <a:r>
              <a:rPr lang="zh-CN" altLang="en-US" b="1">
                <a:solidFill>
                  <a:srgbClr val="FF0000"/>
                </a:solidFill>
              </a:rPr>
              <a:t>数据段</a:t>
            </a:r>
          </a:p>
          <a:p>
            <a:r>
              <a:rPr lang="zh-CN" altLang="en-US"/>
              <a:t>   PI</a:t>
            </a:r>
            <a:r>
              <a:rPr lang="zh-CN" altLang="en-US" b="1"/>
              <a:t>:</a:t>
            </a:r>
            <a:r>
              <a:rPr lang="zh-CN" altLang="en-US"/>
              <a:t> .float 32</a:t>
            </a:r>
            <a:r>
              <a:rPr lang="en-US" altLang="zh-CN"/>
              <a:t>   #</a:t>
            </a:r>
            <a:r>
              <a:rPr lang="zh-CN" altLang="en-US"/>
              <a:t>格式</a:t>
            </a:r>
            <a:r>
              <a:rPr lang="en-US" altLang="zh-CN"/>
              <a:t>       </a:t>
            </a:r>
            <a:r>
              <a:rPr lang="zh-CN" altLang="en-US"/>
              <a:t>变量名：存储类型名</a:t>
            </a:r>
            <a:r>
              <a:rPr lang="en-US" altLang="zh-CN"/>
              <a:t>  </a:t>
            </a:r>
            <a:r>
              <a:rPr lang="zh-CN" altLang="en-US"/>
              <a:t>数值</a:t>
            </a:r>
          </a:p>
          <a:p>
            <a:r>
              <a:rPr lang="zh-CN" altLang="en-US"/>
              <a:t>   </a:t>
            </a:r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D: .double 3</a:t>
            </a: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   N: .word 32</a:t>
            </a:r>
          </a:p>
          <a:p>
            <a:r>
              <a:rPr lang="zh-CN" altLang="en-US">
                <a:solidFill>
                  <a:schemeClr val="bg1">
                    <a:lumMod val="75000"/>
                  </a:schemeClr>
                </a:solidFill>
              </a:rPr>
              <a:t>   String: .asciiz "Hello MIPS\n"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.text</a:t>
            </a:r>
            <a:r>
              <a:rPr lang="en-US" altLang="zh-CN" b="1">
                <a:solidFill>
                  <a:srgbClr val="FF0000"/>
                </a:solidFill>
              </a:rPr>
              <a:t>  #</a:t>
            </a:r>
            <a:r>
              <a:rPr lang="zh-CN" altLang="en-US" b="1">
                <a:solidFill>
                  <a:srgbClr val="FF0000"/>
                </a:solidFill>
              </a:rPr>
              <a:t>代码段</a:t>
            </a:r>
          </a:p>
          <a:p>
            <a:r>
              <a:rPr lang="zh-CN" altLang="en-US"/>
              <a:t>	li $v0, 2	# 中断调用号 2,输出</a:t>
            </a:r>
          </a:p>
          <a:p>
            <a:r>
              <a:rPr lang="zh-CN" altLang="en-US"/>
              <a:t>	</a:t>
            </a:r>
            <a:r>
              <a:rPr lang="zh-CN" altLang="en-US">
                <a:highlight>
                  <a:srgbClr val="FFFF00"/>
                </a:highlight>
              </a:rPr>
              <a:t>la $t0, PI</a:t>
            </a:r>
            <a:r>
              <a:rPr lang="en-US" altLang="zh-CN">
                <a:highlight>
                  <a:srgbClr val="FFFF00"/>
                </a:highlight>
              </a:rPr>
              <a:t> # </a:t>
            </a:r>
            <a:r>
              <a:rPr lang="zh-CN" altLang="en-US">
                <a:highlight>
                  <a:srgbClr val="FFFF00"/>
                </a:highlight>
              </a:rPr>
              <a:t>这是一条伪指令，用于加载内存地址值到寄存器</a:t>
            </a:r>
          </a:p>
          <a:p>
            <a:r>
              <a:rPr lang="zh-CN" altLang="en-US"/>
              <a:t>	lwc1	$f12, 0($t0)</a:t>
            </a:r>
          </a:p>
          <a:p>
            <a:r>
              <a:rPr lang="zh-CN" altLang="en-US"/>
              <a:t>	syscall</a:t>
            </a:r>
          </a:p>
          <a:p>
            <a:r>
              <a:rPr lang="zh-CN" altLang="en-US"/>
              <a:t>	li	$v0, 4	# 中断调用号 4</a:t>
            </a:r>
          </a:p>
          <a:p>
            <a:r>
              <a:rPr lang="zh-CN" altLang="en-US"/>
              <a:t>	la	$a0, String</a:t>
            </a:r>
          </a:p>
          <a:p>
            <a:r>
              <a:rPr lang="zh-CN" altLang="en-US"/>
              <a:t>	syscall</a:t>
            </a:r>
          </a:p>
          <a:p>
            <a:r>
              <a:rPr lang="zh-CN" altLang="en-US"/>
              <a:t>	li	$v0, 1	# 中断调用号 1</a:t>
            </a:r>
          </a:p>
          <a:p>
            <a:r>
              <a:rPr lang="zh-CN" altLang="en-US"/>
              <a:t>	la	$t0, N</a:t>
            </a:r>
          </a:p>
          <a:p>
            <a:r>
              <a:rPr lang="zh-CN" altLang="en-US"/>
              <a:t>	lw	$a0, 0($t0)</a:t>
            </a:r>
          </a:p>
          <a:p>
            <a:r>
              <a:rPr lang="zh-CN" altLang="en-US"/>
              <a:t>	syscall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179070" y="555625"/>
            <a:ext cx="7931785" cy="2784475"/>
          </a:xfrm>
        </p:spPr>
        <p:txBody>
          <a:bodyPr/>
          <a:lstStyle/>
          <a:p>
            <a:r>
              <a:rPr lang="zh-CN" altLang="en-US"/>
              <a:t>syscall：系统调用，根据功能号（$v0)对输入参数（$a0)进行相应操作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925" y="51435"/>
            <a:ext cx="7520940" cy="411480"/>
          </a:xfrm>
        </p:spPr>
        <p:txBody>
          <a:bodyPr/>
          <a:lstStyle/>
          <a:p>
            <a:r>
              <a:rPr lang="zh-CN" altLang="en-US"/>
              <a:t>汇编程序中的输入和输出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1564005"/>
            <a:ext cx="6149340" cy="510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2067560"/>
            <a:ext cx="573786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实验任务</a:t>
            </a:r>
            <a:r>
              <a:rPr lang="en-US" altLang="zh-CN"/>
              <a:t>2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215" y="825500"/>
            <a:ext cx="5074285" cy="3906520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For the MIPS assembly instructions below, what is the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 corresponding C statement? Assume that the variables f, g, h, i, and j are assigned to registers $s0, $s1, $s2, $s3, and $s4, respectively. Assume that the base address of the arrays A and B are in registers $s6 and $s7, respectively.</a:t>
            </a:r>
            <a:endParaRPr lang="zh-CN" altLang="en-US" sz="2000"/>
          </a:p>
          <a:p>
            <a:pPr algn="l"/>
            <a:r>
              <a:rPr lang="en-US" altLang="zh-CN" sz="20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实验要求：针对上述问题，编写对应的C程序并给出运行结果，然后在MIPS模拟器里运行该汇编程序，并把结果和C程序进行比较。</a:t>
            </a:r>
            <a:r>
              <a:rPr lang="en-US" altLang="zh-CN" sz="2000">
                <a:sym typeface="+mn-ea"/>
              </a:rPr>
              <a:t>f,g,h,i</a:t>
            </a:r>
            <a:r>
              <a:rPr lang="zh-CN" altLang="en-US" sz="2000">
                <a:sym typeface="+mn-ea"/>
              </a:rPr>
              <a:t>初始值自行设置，可以通过增加指令或者直接编辑寄存器方式进行设置。</a:t>
            </a:r>
            <a:endParaRPr lang="zh-CN" altLang="en-US" sz="2000"/>
          </a:p>
          <a:p>
            <a:pPr algn="l"/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507990" y="843280"/>
            <a:ext cx="3571240" cy="25844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ym typeface="+mn-ea"/>
              </a:rPr>
              <a:t>sll $t0, $s0, 2 # $t0 = f * 4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add $t0, $s6, $t0 # $t0 = &amp;A[f]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sll $t1, $s1, 2 # $t1 = g * 4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add $t1, $s7, $t1 # $t1 = &amp;B[g]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lw $s0, 0($t0) # f = A[f]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addi $t2, $t0, 4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lw $t0, 0($t2)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add $t0, $t0, $s0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sw $t0, 0($t1)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LAB-2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23215" y="825500"/>
            <a:ext cx="5259070" cy="390652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/>
              <a:t>    </a:t>
            </a:r>
            <a:r>
              <a:rPr lang="zh-CN" altLang="en-US"/>
              <a:t>Translate the following C code to MIPS assembly code. Use a minimum number of instructions. Assume that the values of a, b, i, and j are in registers $s0, $s1, $t0, and $t1, respectively. Also, assume that register $s2 holds the base address of the array D.</a:t>
            </a:r>
          </a:p>
          <a:p>
            <a:r>
              <a:rPr lang="en-US" altLang="zh-CN"/>
              <a:t>    </a:t>
            </a:r>
            <a:r>
              <a:rPr lang="zh-CN" altLang="en-US"/>
              <a:t>编写上述语句对应的MIPS程序，并和C程序结果进行比较。</a:t>
            </a:r>
          </a:p>
          <a:p>
            <a:r>
              <a:rPr lang="en-US" altLang="zh-CN"/>
              <a:t>     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的值自定义。初始时，数组各元素值均为</a:t>
            </a:r>
            <a:r>
              <a:rPr lang="en-US" altLang="zh-CN"/>
              <a:t>0</a:t>
            </a:r>
            <a:r>
              <a:rPr lang="zh-CN" altLang="en-US"/>
              <a:t>；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68035" y="1275715"/>
            <a:ext cx="2921635" cy="9220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for(i=0; i&lt;a; i++)</a:t>
            </a:r>
            <a:endParaRPr lang="zh-CN" altLang="en-US"/>
          </a:p>
          <a:p>
            <a:r>
              <a:rPr lang="zh-CN" altLang="en-US">
                <a:sym typeface="+mn-ea"/>
              </a:rPr>
              <a:t>   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 for(j=0; j&lt;b; j++)</a:t>
            </a:r>
            <a:endParaRPr lang="zh-CN" altLang="en-US"/>
          </a:p>
          <a:p>
            <a:r>
              <a:rPr lang="zh-CN" altLang="en-US">
                <a:sym typeface="+mn-ea"/>
              </a:rPr>
              <a:t>           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D[4*j] = i + j;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187325" y="822960"/>
            <a:ext cx="4709160" cy="2784475"/>
          </a:xfrm>
        </p:spPr>
        <p:txBody>
          <a:bodyPr/>
          <a:lstStyle/>
          <a:p>
            <a:r>
              <a:rPr lang="en-US" altLang="zh-CN" sz="2200"/>
              <a:t>     </a:t>
            </a:r>
            <a:r>
              <a:rPr lang="zh-CN" altLang="en-US" sz="2200"/>
              <a:t>编写如下函数对应的MIPS汇编程序，并在主函数中通过a0-a3传递参数，同时通过v0获取结果</a:t>
            </a:r>
            <a:r>
              <a:rPr lang="en-US" altLang="zh-CN" sz="2200"/>
              <a:t>.</a:t>
            </a:r>
          </a:p>
          <a:p>
            <a:r>
              <a:rPr lang="en-US" altLang="zh-CN" sz="2200"/>
              <a:t>     </a:t>
            </a:r>
            <a:r>
              <a:rPr lang="zh-CN" altLang="en-US" sz="2200">
                <a:solidFill>
                  <a:srgbClr val="FF0000"/>
                </a:solidFill>
              </a:rPr>
              <a:t>要求</a:t>
            </a:r>
            <a:r>
              <a:rPr lang="zh-CN" altLang="en-US" sz="2200">
                <a:sym typeface="+mn-ea"/>
              </a:rPr>
              <a:t>a,b,c,d,e对应寄存器$s0,$s1,$s2,$s3,$s4; 且g,h,i,j,f对应对应寄存器$s0,$s1,$s2,$s3,$s4。</a:t>
            </a:r>
            <a:endParaRPr lang="zh-CN" altLang="en-US" sz="2200"/>
          </a:p>
          <a:p>
            <a:endParaRPr lang="zh-CN" altLang="en-US" sz="2200"/>
          </a:p>
          <a:p>
            <a:endParaRPr lang="zh-CN" altLang="en-US" sz="2200"/>
          </a:p>
          <a:p>
            <a:endParaRPr lang="zh-CN" altLang="en-US" sz="22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1505" y="267970"/>
            <a:ext cx="7520940" cy="411480"/>
          </a:xfrm>
        </p:spPr>
        <p:txBody>
          <a:bodyPr/>
          <a:lstStyle/>
          <a:p>
            <a:r>
              <a:rPr lang="en-US" altLang="zh-CN"/>
              <a:t>LAB-3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60290" y="725170"/>
            <a:ext cx="4111625" cy="36925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int leaf_example (int g, int h, int i, int j)</a:t>
            </a:r>
            <a:endParaRPr lang="zh-CN" altLang="en-US"/>
          </a:p>
          <a:p>
            <a:r>
              <a:rPr lang="zh-CN" altLang="en-US">
                <a:sym typeface="+mn-ea"/>
              </a:rPr>
              <a:t>{</a:t>
            </a:r>
            <a:endParaRPr lang="zh-CN" altLang="en-US"/>
          </a:p>
          <a:p>
            <a:r>
              <a:rPr lang="zh-CN" altLang="en-US">
                <a:sym typeface="+mn-ea"/>
              </a:rPr>
              <a:t> int f;</a:t>
            </a:r>
            <a:endParaRPr lang="zh-CN" altLang="en-US"/>
          </a:p>
          <a:p>
            <a:r>
              <a:rPr lang="zh-CN" altLang="en-US">
                <a:sym typeface="+mn-ea"/>
              </a:rPr>
              <a:t> f = (g + h) – (i + j);</a:t>
            </a:r>
            <a:endParaRPr lang="zh-CN" altLang="en-US"/>
          </a:p>
          <a:p>
            <a:r>
              <a:rPr lang="zh-CN" altLang="en-US">
                <a:sym typeface="+mn-ea"/>
              </a:rPr>
              <a:t> return f;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r>
              <a:rPr lang="zh-CN" altLang="en-US">
                <a:sym typeface="+mn-ea"/>
              </a:rPr>
              <a:t>int main()</a:t>
            </a:r>
            <a:endParaRPr lang="zh-CN" altLang="en-US"/>
          </a:p>
          <a:p>
            <a:r>
              <a:rPr lang="zh-CN" altLang="en-US">
                <a:sym typeface="+mn-ea"/>
              </a:rPr>
              <a:t>{</a:t>
            </a:r>
            <a:endParaRPr lang="zh-CN" altLang="en-US"/>
          </a:p>
          <a:p>
            <a:r>
              <a:rPr lang="zh-CN" altLang="en-US">
                <a:sym typeface="+mn-ea"/>
              </a:rPr>
              <a:t>     int a,b,c,d,e;</a:t>
            </a:r>
            <a:endParaRPr lang="zh-CN" altLang="en-US"/>
          </a:p>
          <a:p>
            <a:r>
              <a:rPr lang="zh-CN" altLang="en-US">
                <a:sym typeface="+mn-ea"/>
              </a:rPr>
              <a:t>     a=2,b=3,c=4,d=5;</a:t>
            </a:r>
            <a:endParaRPr lang="zh-CN" altLang="en-US"/>
          </a:p>
          <a:p>
            <a:r>
              <a:rPr lang="zh-CN" altLang="en-US">
                <a:sym typeface="+mn-ea"/>
              </a:rPr>
              <a:t>     e=leaf_example(a,b,c,d);</a:t>
            </a:r>
            <a:endParaRPr lang="zh-CN" altLang="en-US"/>
          </a:p>
          <a:p>
            <a:r>
              <a:rPr lang="zh-CN" altLang="en-US">
                <a:sym typeface="+mn-ea"/>
              </a:rPr>
              <a:t>     return 0;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51460" y="988060"/>
            <a:ext cx="4841240" cy="2784475"/>
          </a:xfrm>
        </p:spPr>
        <p:txBody>
          <a:bodyPr/>
          <a:lstStyle/>
          <a:p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编写如下函数对应的MIPS汇编程序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并给出</a:t>
            </a: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程序的运行结果和</a:t>
            </a:r>
            <a:r>
              <a:rPr lang="en-US" altLang="zh-CN">
                <a:sym typeface="+mn-ea"/>
              </a:rPr>
              <a:t>MIPS</a:t>
            </a:r>
            <a:r>
              <a:rPr lang="zh-CN" altLang="en-US">
                <a:sym typeface="+mn-ea"/>
              </a:rPr>
              <a:t>汇编程序的运行结果</a:t>
            </a:r>
            <a:r>
              <a:rPr lang="en-US" altLang="zh-CN">
                <a:sym typeface="+mn-ea"/>
              </a:rPr>
              <a:t>.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054600" y="373380"/>
            <a:ext cx="3943985" cy="439674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1800"/>
              <a:t>int fact (int n)</a:t>
            </a:r>
          </a:p>
          <a:p>
            <a:r>
              <a:rPr lang="zh-CN" altLang="en-US" sz="1800"/>
              <a:t>{</a:t>
            </a:r>
          </a:p>
          <a:p>
            <a:r>
              <a:rPr lang="zh-CN" altLang="en-US" sz="1800"/>
              <a:t> if (n &lt; 1) return </a:t>
            </a:r>
            <a:r>
              <a:rPr lang="en-US" altLang="zh-CN" sz="1800"/>
              <a:t>1</a:t>
            </a:r>
            <a:r>
              <a:rPr lang="zh-CN" altLang="en-US" sz="1800"/>
              <a:t>;</a:t>
            </a:r>
          </a:p>
          <a:p>
            <a:r>
              <a:rPr lang="zh-CN" altLang="en-US" sz="1800"/>
              <a:t> else return n * fact(n – 1);</a:t>
            </a:r>
          </a:p>
          <a:p>
            <a:r>
              <a:rPr lang="zh-CN" altLang="en-US" sz="1800"/>
              <a:t>}</a:t>
            </a:r>
          </a:p>
          <a:p>
            <a:r>
              <a:rPr lang="en-US" altLang="zh-CN" sz="1800"/>
              <a:t>int main()</a:t>
            </a:r>
          </a:p>
          <a:p>
            <a:r>
              <a:rPr lang="en-US" altLang="zh-CN" sz="1800"/>
              <a:t>{</a:t>
            </a:r>
          </a:p>
          <a:p>
            <a:r>
              <a:rPr lang="en-US" altLang="zh-CN" sz="1800"/>
              <a:t>     int i=4, f;</a:t>
            </a:r>
          </a:p>
          <a:p>
            <a:r>
              <a:rPr lang="en-US" altLang="zh-CN" sz="1800"/>
              <a:t>     f=fact(i);</a:t>
            </a:r>
          </a:p>
          <a:p>
            <a:r>
              <a:rPr lang="en-US" altLang="zh-CN" sz="1800"/>
              <a:t>     return 0;</a:t>
            </a:r>
          </a:p>
          <a:p>
            <a:r>
              <a:rPr lang="en-US" altLang="zh-CN" sz="1800"/>
              <a:t>}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1505" y="267970"/>
            <a:ext cx="7520940" cy="411480"/>
          </a:xfrm>
        </p:spPr>
        <p:txBody>
          <a:bodyPr/>
          <a:lstStyle/>
          <a:p>
            <a:r>
              <a:rPr lang="en-US" altLang="zh-CN"/>
              <a:t>LAB-4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251460" y="988060"/>
            <a:ext cx="4841240" cy="2784475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   </a:t>
            </a:r>
            <a:r>
              <a:rPr dirty="0">
                <a:sym typeface="+mn-ea"/>
              </a:rPr>
              <a:t> </a:t>
            </a:r>
            <a:r>
              <a:rPr dirty="0">
                <a:solidFill>
                  <a:schemeClr val="bg1">
                    <a:lumMod val="85000"/>
                  </a:schemeClr>
                </a:solidFill>
                <a:sym typeface="+mn-ea"/>
              </a:rPr>
              <a:t>Implement the following C code in MIPS assembly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+mn-ea"/>
              </a:rPr>
              <a:t>. Compare the results in C and MIPS code.</a:t>
            </a:r>
            <a:endParaRPr dirty="0">
              <a:solidFill>
                <a:schemeClr val="bg1">
                  <a:lumMod val="85000"/>
                </a:schemeClr>
              </a:solidFill>
              <a:sym typeface="+mn-ea"/>
            </a:endParaRPr>
          </a:p>
          <a:p>
            <a:r>
              <a:rPr lang="en-US" dirty="0">
                <a:sym typeface="+mn-ea"/>
              </a:rPr>
              <a:t>   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004435" y="51435"/>
            <a:ext cx="3943985" cy="481393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int fib(int n){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if (n==0)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  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return 0;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else if (n == 1)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return 1;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else</a:t>
            </a:r>
          </a:p>
          <a:p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</a:rPr>
              <a:t>return fib(n−1) + fib(n−2);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}</a:t>
            </a:r>
            <a:endParaRPr lang="zh-CN" alt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main()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{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=4,f;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f=fib(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);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     return 0;</a:t>
            </a:r>
          </a:p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</a:rPr>
              <a:t>}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11505" y="339725"/>
            <a:ext cx="7520940" cy="411480"/>
          </a:xfrm>
        </p:spPr>
        <p:txBody>
          <a:bodyPr/>
          <a:lstStyle/>
          <a:p>
            <a:r>
              <a:rPr lang="en-US" altLang="zh-CN" dirty="0">
                <a:solidFill>
                  <a:schemeClr val="bg1">
                    <a:lumMod val="85000"/>
                  </a:schemeClr>
                </a:solidFill>
              </a:rPr>
              <a:t>LAB-5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147320" y="822960"/>
            <a:ext cx="3776980" cy="2784475"/>
          </a:xfrm>
        </p:spPr>
        <p:txBody>
          <a:bodyPr/>
          <a:lstStyle/>
          <a:p>
            <a:r>
              <a:rPr lang="en-US" baseline="-25000">
                <a:sym typeface="+mn-ea"/>
              </a:rPr>
              <a:t>      </a:t>
            </a:r>
            <a:r>
              <a:rPr baseline="-25000">
                <a:sym typeface="+mn-ea"/>
              </a:rPr>
              <a:t>Implement the following C code in MIPS assembly</a:t>
            </a:r>
            <a:r>
              <a:rPr lang="en-US" baseline="-25000">
                <a:sym typeface="+mn-ea"/>
              </a:rPr>
              <a:t>. Compare the results in C and MIPS code.</a:t>
            </a:r>
          </a:p>
          <a:p>
            <a:endParaRPr lang="en-US" baseline="-25000">
              <a:sym typeface="+mn-ea"/>
            </a:endParaRPr>
          </a:p>
          <a:p>
            <a:r>
              <a:rPr lang="en-US" baseline="-25000">
                <a:sym typeface="+mn-ea"/>
              </a:rPr>
              <a:t>      </a:t>
            </a:r>
            <a:r>
              <a:rPr lang="zh-CN" altLang="en-US" baseline="-25000">
                <a:sym typeface="+mn-ea"/>
              </a:rPr>
              <a:t>要求：</a:t>
            </a:r>
            <a:r>
              <a:rPr lang="en-US" altLang="zh-CN" baseline="-25000">
                <a:sym typeface="+mn-ea"/>
              </a:rPr>
              <a:t>a</a:t>
            </a:r>
            <a:r>
              <a:rPr lang="zh-CN" altLang="en-US" baseline="-25000">
                <a:sym typeface="+mn-ea"/>
              </a:rPr>
              <a:t>数组起始地址为</a:t>
            </a:r>
            <a:r>
              <a:rPr lang="en-US" altLang="zh-CN" baseline="-25000">
                <a:sym typeface="+mn-ea"/>
              </a:rPr>
              <a:t>0x000000000,  </a:t>
            </a:r>
            <a:r>
              <a:rPr lang="zh-CN" altLang="en-US" baseline="-25000">
                <a:sym typeface="+mn-ea"/>
              </a:rPr>
              <a:t>程序运行前通过</a:t>
            </a:r>
            <a:r>
              <a:rPr lang="en-US" altLang="zh-CN" baseline="-25000">
                <a:sym typeface="+mn-ea"/>
              </a:rPr>
              <a:t>Data Segment</a:t>
            </a:r>
            <a:r>
              <a:rPr lang="zh-CN" altLang="en-US" baseline="-25000">
                <a:sym typeface="+mn-ea"/>
              </a:rPr>
              <a:t>设置对应内存对应单元的数据，然后运行程序，观察相应内存单元数据是否进行了正确的排序</a:t>
            </a:r>
            <a:endParaRPr baseline="-25000">
              <a:sym typeface="+mn-ea"/>
            </a:endParaRPr>
          </a:p>
          <a:p>
            <a:endParaRPr lang="zh-CN" altLang="en-US" baseline="-250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9750" y="288290"/>
            <a:ext cx="7520940" cy="41148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LAB-05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96055" y="699770"/>
            <a:ext cx="5042535" cy="1528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2284095"/>
            <a:ext cx="4827270" cy="1736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467544" y="2359025"/>
            <a:ext cx="8352928" cy="2784475"/>
          </a:xfrm>
        </p:spPr>
        <p:txBody>
          <a:bodyPr/>
          <a:lstStyle/>
          <a:p>
            <a:r>
              <a:rPr lang="en-US" baseline="-25000" dirty="0">
                <a:sym typeface="+mn-ea"/>
              </a:rPr>
              <a:t>      </a:t>
            </a:r>
            <a:r>
              <a:rPr lang="zh-CN" altLang="en-US" dirty="0">
                <a:sym typeface="+mn-ea"/>
              </a:rPr>
              <a:t>为完成</a:t>
            </a:r>
            <a:r>
              <a:rPr lang="zh-CN" altLang="en-US" dirty="0" smtClean="0">
                <a:sym typeface="+mn-ea"/>
              </a:rPr>
              <a:t>本实验任务</a:t>
            </a:r>
            <a:r>
              <a:rPr lang="zh-CN" altLang="en-US" dirty="0">
                <a:sym typeface="+mn-ea"/>
              </a:rPr>
              <a:t>，你需要掌握：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基本逻辑门的使用：与、或、非；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2</a:t>
            </a:r>
            <a:r>
              <a:rPr lang="en-US" altLang="zh-CN" dirty="0" smtClean="0">
                <a:sym typeface="+mn-ea"/>
              </a:rPr>
              <a:t>. </a:t>
            </a:r>
            <a:r>
              <a:rPr lang="en-US" altLang="zh-CN" dirty="0" err="1" smtClean="0">
                <a:sym typeface="+mn-ea"/>
              </a:rPr>
              <a:t>Logisim</a:t>
            </a:r>
            <a:r>
              <a:rPr lang="zh-CN" altLang="en-US" dirty="0">
                <a:sym typeface="+mn-ea"/>
              </a:rPr>
              <a:t>的基本操作。</a:t>
            </a:r>
            <a:endParaRPr lang="zh-CN" altLang="en-US" baseline="-250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9750" y="288290"/>
            <a:ext cx="7520940" cy="411480"/>
          </a:xfrm>
        </p:spPr>
        <p:txBody>
          <a:bodyPr/>
          <a:lstStyle/>
          <a:p>
            <a:r>
              <a:rPr lang="en-US" altLang="zh-CN" dirty="0" smtClean="0">
                <a:sym typeface="+mn-ea"/>
              </a:rPr>
              <a:t>LAB-06 </a:t>
            </a:r>
            <a:r>
              <a:rPr lang="zh-CN" altLang="en-US" dirty="0" smtClean="0">
                <a:sym typeface="+mn-ea"/>
              </a:rPr>
              <a:t>基于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dirty="0">
                <a:sym typeface="+mn-ea"/>
              </a:rPr>
              <a:t>的表决电路设计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547664" y="1059582"/>
            <a:ext cx="4742815" cy="1076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在举重比赛中，通常有三位裁判（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）对运动员的试举是否成功进行裁决，当有两位或三位裁判判定试举成功则该运动员试举成功（</a:t>
            </a:r>
            <a:r>
              <a:rPr lang="en-US" altLang="zh-CN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）并获得此次试举的重量记录</a:t>
            </a:r>
            <a:r>
              <a:rPr lang="zh-CN" altLang="en-US" sz="1600" dirty="0" smtClean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241" y="135536"/>
            <a:ext cx="8496944" cy="411480"/>
          </a:xfrm>
        </p:spPr>
        <p:txBody>
          <a:bodyPr/>
          <a:lstStyle/>
          <a:p>
            <a:r>
              <a:rPr lang="zh-CN" altLang="en-US" dirty="0"/>
              <a:t>传统硬件实验的没落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  </a:t>
            </a:r>
            <a:endParaRPr lang="en-US" altLang="zh-CN" dirty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833631" y="77266"/>
            <a:ext cx="4192649" cy="5130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7" b="4353"/>
          <a:stretch>
            <a:fillRect/>
          </a:stretch>
        </p:blipFill>
        <p:spPr>
          <a:xfrm>
            <a:off x="588462" y="1275606"/>
            <a:ext cx="2322258" cy="2145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Logisim</a:t>
            </a:r>
            <a:r>
              <a:rPr lang="zh-CN" altLang="en-US" dirty="0"/>
              <a:t>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程序，跨平台，开源</a:t>
            </a:r>
            <a:endParaRPr lang="en-US" altLang="zh-CN" dirty="0"/>
          </a:p>
          <a:p>
            <a:pPr lvl="1"/>
            <a:r>
              <a:rPr lang="en-US" altLang="zh-CN" dirty="0"/>
              <a:t>WIN</a:t>
            </a:r>
            <a:r>
              <a:rPr lang="zh-CN" altLang="en-US" dirty="0"/>
              <a:t>，</a:t>
            </a:r>
            <a:r>
              <a:rPr lang="en-US" altLang="zh-CN" dirty="0"/>
              <a:t>MAC</a:t>
            </a:r>
            <a:r>
              <a:rPr lang="zh-CN" altLang="en-US" dirty="0"/>
              <a:t>，</a:t>
            </a:r>
            <a:r>
              <a:rPr lang="en-US" altLang="zh-CN" dirty="0"/>
              <a:t>Linux</a:t>
            </a:r>
          </a:p>
          <a:p>
            <a:pPr lvl="1"/>
            <a:r>
              <a:rPr lang="zh-CN" altLang="en-US" dirty="0"/>
              <a:t>目前已经停止更新，</a:t>
            </a:r>
            <a:r>
              <a:rPr lang="en-US" altLang="zh-CN" dirty="0" err="1"/>
              <a:t>github</a:t>
            </a:r>
            <a:r>
              <a:rPr lang="zh-CN" altLang="en-US" dirty="0"/>
              <a:t>上衍生出若干版本</a:t>
            </a:r>
            <a:endParaRPr lang="en-US" altLang="zh-CN" dirty="0"/>
          </a:p>
          <a:p>
            <a:pPr lvl="1"/>
            <a:r>
              <a:rPr lang="en-US" altLang="zh-CN" dirty="0" err="1"/>
              <a:t>Logisim</a:t>
            </a:r>
            <a:r>
              <a:rPr lang="en-US" altLang="zh-CN" dirty="0"/>
              <a:t>-evolution   </a:t>
            </a:r>
            <a:r>
              <a:rPr lang="zh-CN" altLang="en-US" dirty="0">
                <a:solidFill>
                  <a:schemeClr val="tx1"/>
                </a:solidFill>
              </a:rPr>
              <a:t>可嵌入</a:t>
            </a:r>
            <a:r>
              <a:rPr lang="en-US" altLang="zh-CN" dirty="0">
                <a:solidFill>
                  <a:schemeClr val="tx1"/>
                </a:solidFill>
              </a:rPr>
              <a:t>VHDL</a:t>
            </a:r>
            <a:r>
              <a:rPr lang="zh-CN" altLang="en-US" dirty="0">
                <a:solidFill>
                  <a:schemeClr val="tx1"/>
                </a:solidFill>
              </a:rPr>
              <a:t>模块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/>
              <a:t>有</a:t>
            </a:r>
            <a:r>
              <a:rPr lang="en-US" altLang="zh-CN" dirty="0"/>
              <a:t>BUG</a:t>
            </a:r>
            <a:r>
              <a:rPr lang="zh-CN" altLang="en-US" dirty="0"/>
              <a:t>，但完全可用</a:t>
            </a:r>
            <a:endParaRPr lang="en-US" altLang="zh-CN" dirty="0"/>
          </a:p>
          <a:p>
            <a:pPr lvl="2"/>
            <a:r>
              <a:rPr lang="zh-CN" altLang="en-US" dirty="0"/>
              <a:t>如大范围元件移动，重启即可，</a:t>
            </a:r>
            <a:endParaRPr lang="en-US" altLang="zh-CN" dirty="0"/>
          </a:p>
          <a:p>
            <a:r>
              <a:rPr lang="zh-CN" altLang="en-US" dirty="0"/>
              <a:t>用于数字电路开发、</a:t>
            </a:r>
            <a:r>
              <a:rPr lang="en-US" altLang="zh-CN" dirty="0"/>
              <a:t>CPU</a:t>
            </a:r>
            <a:r>
              <a:rPr lang="zh-CN" altLang="en-US" dirty="0"/>
              <a:t>设计的仿真软件</a:t>
            </a:r>
            <a:endParaRPr lang="en-US" altLang="zh-CN" dirty="0"/>
          </a:p>
          <a:p>
            <a:pPr lvl="1"/>
            <a:r>
              <a:rPr lang="zh-CN" altLang="en-US" dirty="0"/>
              <a:t>仿真直观，调试简单</a:t>
            </a:r>
            <a:endParaRPr lang="en-US" altLang="zh-CN" dirty="0"/>
          </a:p>
          <a:p>
            <a:pPr lvl="1"/>
            <a:r>
              <a:rPr lang="zh-CN" altLang="en-US" dirty="0"/>
              <a:t>易学易用</a:t>
            </a:r>
            <a:r>
              <a:rPr lang="en-US" altLang="zh-CN" dirty="0"/>
              <a:t>-1</a:t>
            </a:r>
            <a:r>
              <a:rPr lang="zh-CN" altLang="en-US" dirty="0"/>
              <a:t>小时上手</a:t>
            </a:r>
            <a:endParaRPr lang="en-US" altLang="zh-CN" dirty="0"/>
          </a:p>
          <a:p>
            <a:pPr lvl="1"/>
            <a:r>
              <a:rPr lang="zh-CN" altLang="en-US" dirty="0"/>
              <a:t>全球几百所高校采用</a:t>
            </a:r>
            <a:endParaRPr lang="en-US" altLang="zh-CN" dirty="0"/>
          </a:p>
          <a:p>
            <a:pPr lvl="2"/>
            <a:r>
              <a:rPr lang="zh-CN" altLang="en-US" dirty="0"/>
              <a:t>伯克利分校</a:t>
            </a:r>
            <a:r>
              <a:rPr lang="en-US" altLang="zh-CN" dirty="0"/>
              <a:t>CS61C</a:t>
            </a:r>
            <a:r>
              <a:rPr lang="zh-CN" altLang="en-US" dirty="0"/>
              <a:t>课程</a:t>
            </a:r>
            <a:endParaRPr lang="en-US" altLang="zh-CN" dirty="0"/>
          </a:p>
          <a:p>
            <a:pPr lvl="2"/>
            <a:r>
              <a:rPr lang="zh-CN" altLang="en-US" dirty="0"/>
              <a:t>国防科大，北航，中国地质</a:t>
            </a:r>
            <a:r>
              <a:rPr lang="zh-CN" altLang="en-US" dirty="0" smtClean="0"/>
              <a:t>大学、华科大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26956"/>
          <a:stretch>
            <a:fillRect/>
          </a:stretch>
        </p:blipFill>
        <p:spPr>
          <a:xfrm>
            <a:off x="6156176" y="1064048"/>
            <a:ext cx="2724084" cy="31855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6300192" y="3706301"/>
            <a:ext cx="2283714" cy="582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5681817" y="4488147"/>
            <a:ext cx="25456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>
                <a:solidFill>
                  <a:srgbClr val="7030A0"/>
                </a:solidFill>
              </a:rPr>
              <a:t>Surface</a:t>
            </a:r>
            <a:r>
              <a:rPr lang="zh-CN" altLang="en-US" sz="1500" dirty="0">
                <a:solidFill>
                  <a:srgbClr val="7030A0"/>
                </a:solidFill>
              </a:rPr>
              <a:t>等高分辨率机器设置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Logisim</a:t>
            </a:r>
            <a:r>
              <a:rPr lang="zh-CN" altLang="en-US" dirty="0"/>
              <a:t>实验特色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u="sng" dirty="0">
                <a:solidFill>
                  <a:srgbClr val="C00000"/>
                </a:solidFill>
              </a:rPr>
              <a:t>采用原理图方式进行设计</a:t>
            </a:r>
            <a:endParaRPr lang="en-US" altLang="zh-CN" u="sng" dirty="0">
              <a:solidFill>
                <a:srgbClr val="C00000"/>
              </a:solidFill>
            </a:endParaRPr>
          </a:p>
          <a:p>
            <a:r>
              <a:rPr lang="zh-CN" altLang="en-US" dirty="0"/>
              <a:t>支持子电路封装，易于扩展构建复杂数字电路系统  </a:t>
            </a:r>
            <a:r>
              <a:rPr lang="en-US" altLang="zh-CN" dirty="0"/>
              <a:t>(CPU)</a:t>
            </a:r>
            <a:endParaRPr lang="zh-CN" altLang="en-US" dirty="0"/>
          </a:p>
          <a:p>
            <a:r>
              <a:rPr lang="zh-CN" altLang="en-US" dirty="0"/>
              <a:t>延续了数字逻辑课程中数字电路设计方法</a:t>
            </a:r>
            <a:endParaRPr lang="en-US" altLang="zh-CN" dirty="0"/>
          </a:p>
          <a:p>
            <a:pPr lvl="1"/>
            <a:r>
              <a:rPr lang="zh-CN" altLang="en-US" dirty="0"/>
              <a:t>有利于培养学生硬件设计思维</a:t>
            </a:r>
            <a:endParaRPr lang="en-US" altLang="zh-CN" dirty="0"/>
          </a:p>
          <a:p>
            <a:pPr lvl="1"/>
            <a:r>
              <a:rPr lang="zh-CN" altLang="en-US" dirty="0"/>
              <a:t>回避了硬件描述语言过于抽象、硬件设计程序化的问题。</a:t>
            </a:r>
            <a:endParaRPr lang="en-US" altLang="zh-CN" dirty="0"/>
          </a:p>
          <a:p>
            <a:r>
              <a:rPr lang="zh-CN" altLang="en-US" dirty="0"/>
              <a:t>简单易学，易于调试、零实验成本，无场地和人员要求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lOGISIM</a:t>
            </a:r>
            <a:r>
              <a:rPr lang="zh-CN" altLang="en-US" dirty="0" smtClean="0"/>
              <a:t>软件设置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CN" altLang="en-US" dirty="0" smtClean="0"/>
              <a:t>设置界面语言（中文</a:t>
            </a:r>
            <a:r>
              <a:rPr lang="en-US" altLang="zh-CN" dirty="0" smtClean="0"/>
              <a:t>/</a:t>
            </a:r>
            <a:r>
              <a:rPr lang="zh-CN" altLang="en-US" dirty="0" smtClean="0"/>
              <a:t>英文）</a:t>
            </a:r>
            <a:endParaRPr lang="en-US" altLang="zh-CN" dirty="0" smtClean="0"/>
          </a:p>
          <a:p>
            <a:pPr marL="0" indent="0"/>
            <a:r>
              <a:rPr lang="en-US" altLang="zh-CN" dirty="0" smtClean="0"/>
              <a:t>      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偏好设置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国际化</a:t>
            </a:r>
            <a:endParaRPr lang="en-US" altLang="zh-CN" dirty="0"/>
          </a:p>
          <a:p>
            <a:pPr marL="0" indent="0"/>
            <a:endParaRPr lang="en-US" altLang="zh-CN" dirty="0" smtClean="0"/>
          </a:p>
          <a:p>
            <a:pPr marL="0" indent="0"/>
            <a:r>
              <a:rPr lang="en-US" altLang="zh-CN" dirty="0" smtClean="0"/>
              <a:t>2.   </a:t>
            </a:r>
            <a:r>
              <a:rPr lang="zh-CN" altLang="en-US" dirty="0" smtClean="0"/>
              <a:t>设置界面风格</a:t>
            </a:r>
            <a:endParaRPr lang="en-US" altLang="zh-CN" dirty="0" smtClean="0"/>
          </a:p>
          <a:p>
            <a:pPr marL="0" indent="0"/>
            <a:r>
              <a:rPr lang="zh-CN" altLang="en-US" dirty="0" smtClean="0"/>
              <a:t>       文件</a:t>
            </a:r>
            <a:r>
              <a:rPr lang="en-US" altLang="zh-CN" dirty="0"/>
              <a:t>-&gt;</a:t>
            </a:r>
            <a:r>
              <a:rPr lang="zh-CN" altLang="en-US" dirty="0"/>
              <a:t>偏好设置</a:t>
            </a:r>
            <a:r>
              <a:rPr lang="en-US" altLang="zh-CN" dirty="0" smtClean="0"/>
              <a:t>-&gt;Fork-</a:t>
            </a:r>
          </a:p>
          <a:p>
            <a:pPr marL="0" indent="0"/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选择系统默认，菜单字体略大一些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51470"/>
            <a:ext cx="2652363" cy="24322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492565"/>
            <a:ext cx="2574486" cy="2340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478"/>
            <a:ext cx="8640960" cy="464901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9512" y="627534"/>
            <a:ext cx="2160240" cy="2016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79512" y="2700014"/>
            <a:ext cx="2160240" cy="2016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423160" y="493946"/>
            <a:ext cx="6325304" cy="4222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15516" y="411510"/>
            <a:ext cx="2160240" cy="78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99992" y="3826934"/>
            <a:ext cx="1683206" cy="319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电路图设计区</a:t>
            </a:r>
            <a:endParaRPr lang="en-US" altLang="zh-CN" dirty="0" smtClean="0"/>
          </a:p>
        </p:txBody>
      </p:sp>
      <p:sp>
        <p:nvSpPr>
          <p:cNvPr id="15" name="矩形 14"/>
          <p:cNvSpPr/>
          <p:nvPr/>
        </p:nvSpPr>
        <p:spPr>
          <a:xfrm>
            <a:off x="352775" y="3548586"/>
            <a:ext cx="1885719" cy="319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器</a:t>
            </a:r>
            <a:r>
              <a:rPr lang="zh-CN" altLang="en-US" dirty="0" smtClean="0"/>
              <a:t>件属性设置区</a:t>
            </a:r>
            <a:endParaRPr lang="en-US" altLang="zh-CN" dirty="0" smtClean="0"/>
          </a:p>
        </p:txBody>
      </p:sp>
      <p:sp>
        <p:nvSpPr>
          <p:cNvPr id="16" name="矩形 15"/>
          <p:cNvSpPr/>
          <p:nvPr/>
        </p:nvSpPr>
        <p:spPr>
          <a:xfrm>
            <a:off x="352776" y="2150088"/>
            <a:ext cx="1885719" cy="319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器件选择区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55526"/>
            <a:ext cx="2943225" cy="361950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 flipV="1">
            <a:off x="2051720" y="3291830"/>
            <a:ext cx="252028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72000" y="3432947"/>
            <a:ext cx="266429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单击</a:t>
            </a:r>
            <a:r>
              <a:rPr lang="en-US" altLang="zh-CN" dirty="0" smtClean="0"/>
              <a:t>1</a:t>
            </a:r>
            <a:r>
              <a:rPr lang="zh-CN" altLang="en-US" dirty="0" smtClean="0"/>
              <a:t>次，选择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双击：编辑电路标签</a:t>
            </a:r>
            <a:endParaRPr lang="en-US" altLang="zh-CN" dirty="0" smtClean="0"/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1907704" y="1635646"/>
            <a:ext cx="252028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445994" y="1779662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一个电路由一个或多个子电路构成，至多有一个可设为主电路</a:t>
            </a:r>
            <a:endParaRPr lang="en-US" altLang="zh-CN" dirty="0" smtClean="0"/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1835696" y="231803"/>
            <a:ext cx="280831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1979712" y="453763"/>
            <a:ext cx="2664296" cy="47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64189" y="58820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电路设计区</a:t>
            </a:r>
            <a:r>
              <a:rPr lang="zh-CN" altLang="en-US" dirty="0" smtClean="0"/>
              <a:t>切换为内部结构视图</a:t>
            </a:r>
            <a:endParaRPr lang="en-US" altLang="zh-CN" dirty="0" smtClean="0"/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电路设计区</a:t>
            </a:r>
            <a:r>
              <a:rPr lang="zh-CN" altLang="en-US" dirty="0"/>
              <a:t>切换</a:t>
            </a:r>
            <a:r>
              <a:rPr lang="zh-CN" altLang="en-US" dirty="0" smtClean="0"/>
              <a:t>封装视图</a:t>
            </a:r>
            <a:endParaRPr lang="en-US" altLang="zh-CN" dirty="0" smtClean="0"/>
          </a:p>
        </p:txBody>
      </p:sp>
      <p:sp>
        <p:nvSpPr>
          <p:cNvPr id="16" name="矩形 15"/>
          <p:cNvSpPr/>
          <p:nvPr/>
        </p:nvSpPr>
        <p:spPr>
          <a:xfrm>
            <a:off x="807403" y="555526"/>
            <a:ext cx="884278" cy="252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27584" y="2859782"/>
            <a:ext cx="2088232" cy="1315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445994" y="1779662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启用电路自动仿真后，使用戳工具，可以实现电路运行正确性测试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526"/>
            <a:ext cx="9144000" cy="283397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67944" y="3805309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通过</a:t>
            </a:r>
            <a:r>
              <a:rPr lang="zh-CN" altLang="en-US" dirty="0" smtClean="0">
                <a:solidFill>
                  <a:srgbClr val="FF0000"/>
                </a:solidFill>
              </a:rPr>
              <a:t>方向键</a:t>
            </a:r>
            <a:r>
              <a:rPr lang="zh-CN" altLang="en-US" dirty="0" smtClean="0"/>
              <a:t>快速改变电路朝向</a:t>
            </a:r>
            <a:endParaRPr lang="en-US" altLang="zh-CN" dirty="0" smtClean="0"/>
          </a:p>
        </p:txBody>
      </p:sp>
      <p:cxnSp>
        <p:nvCxnSpPr>
          <p:cNvPr id="8" name="直接箭头连接符 7"/>
          <p:cNvCxnSpPr>
            <a:stCxn id="7" idx="1"/>
          </p:cNvCxnSpPr>
          <p:nvPr/>
        </p:nvCxnSpPr>
        <p:spPr>
          <a:xfrm flipV="1">
            <a:off x="4067944" y="2355727"/>
            <a:ext cx="2376264" cy="180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067944" y="0"/>
            <a:ext cx="48965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鼠标左击元件引脚再拖动，可以进行电路连线</a:t>
            </a:r>
            <a:endParaRPr lang="en-US" altLang="zh-CN" dirty="0" smtClean="0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4283968" y="720080"/>
            <a:ext cx="1656184" cy="44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7584" y="267494"/>
            <a:ext cx="7520940" cy="41148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478"/>
            <a:ext cx="2962275" cy="21431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23478"/>
            <a:ext cx="3105150" cy="2028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123478"/>
            <a:ext cx="4238625" cy="1104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51" y="2571750"/>
            <a:ext cx="2914650" cy="1581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231" y="2414434"/>
            <a:ext cx="3267075" cy="1933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0966" y="2209646"/>
            <a:ext cx="3581400" cy="234315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 flipV="1">
            <a:off x="4716016" y="701648"/>
            <a:ext cx="1779784" cy="943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940152" y="1284779"/>
            <a:ext cx="366221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使用基本电路方法：鼠标左键点击一下，然后在电路设计区再按左键，</a:t>
            </a:r>
            <a:endParaRPr lang="en-US" altLang="zh-CN" dirty="0" smtClean="0"/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4466106" y="1941853"/>
            <a:ext cx="214676" cy="324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478"/>
            <a:ext cx="8640960" cy="464901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716016" y="1466423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电路设计区的电路元件可以通过</a:t>
            </a:r>
            <a:r>
              <a:rPr lang="en-US" altLang="zh-CN" dirty="0" err="1" smtClean="0"/>
              <a:t>ctrl+c,ctrl+v</a:t>
            </a:r>
            <a:r>
              <a:rPr lang="zh-CN" altLang="en-US" dirty="0" smtClean="0"/>
              <a:t>实现电路复制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通过</a:t>
            </a:r>
            <a:r>
              <a:rPr lang="en-US" altLang="zh-CN" dirty="0" smtClean="0"/>
              <a:t>delete</a:t>
            </a:r>
            <a:r>
              <a:rPr lang="zh-CN" altLang="en-US" dirty="0" smtClean="0"/>
              <a:t>键进行删除</a:t>
            </a:r>
            <a:endParaRPr lang="en-US" altLang="zh-CN" dirty="0" smtClean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446" y="3216416"/>
            <a:ext cx="2408554" cy="1899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478"/>
            <a:ext cx="8640960" cy="4649016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H="1" flipV="1">
            <a:off x="1043608" y="339502"/>
            <a:ext cx="3384376" cy="18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445994" y="1779662"/>
            <a:ext cx="3942429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启用电路自动仿真后，使用戳工具，可以实现电路运行正确性测试</a:t>
            </a:r>
            <a:endParaRPr lang="en-US" altLang="zh-CN" dirty="0" smtClean="0"/>
          </a:p>
        </p:txBody>
      </p:sp>
      <p:cxnSp>
        <p:nvCxnSpPr>
          <p:cNvPr id="12" name="直接箭头连接符 11"/>
          <p:cNvCxnSpPr>
            <a:stCxn id="11" idx="1"/>
          </p:cNvCxnSpPr>
          <p:nvPr/>
        </p:nvCxnSpPr>
        <p:spPr>
          <a:xfrm flipH="1" flipV="1">
            <a:off x="251520" y="483518"/>
            <a:ext cx="4194474" cy="1656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电路设计基本要求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zh-CN" altLang="en-US" dirty="0" smtClean="0"/>
              <a:t>电路内元器件布局整齐、对称</a:t>
            </a:r>
            <a:endParaRPr lang="en-US" altLang="zh-CN" dirty="0" smtClean="0"/>
          </a:p>
          <a:p>
            <a:pPr marL="457200" indent="-457200">
              <a:buAutoNum type="arabicPeriod"/>
            </a:pPr>
            <a:endParaRPr lang="en-US" altLang="zh-CN" dirty="0"/>
          </a:p>
          <a:p>
            <a:pPr marL="457200" indent="-457200">
              <a:buAutoNum type="arabicPeriod"/>
            </a:pPr>
            <a:endParaRPr lang="en-US" altLang="zh-CN" dirty="0" smtClean="0"/>
          </a:p>
          <a:p>
            <a:pPr marL="457200" indent="-457200">
              <a:buAutoNum type="arabicPeriod"/>
            </a:pPr>
            <a:endParaRPr lang="en-US" altLang="zh-CN" dirty="0"/>
          </a:p>
          <a:p>
            <a:pPr marL="457200" indent="-457200">
              <a:buAutoNum type="arabicPeriod"/>
            </a:pPr>
            <a:endParaRPr lang="en-US" altLang="zh-CN" dirty="0" smtClean="0"/>
          </a:p>
          <a:p>
            <a:pPr marL="457200" indent="-457200">
              <a:buAutoNum type="arabicPeriod"/>
            </a:pPr>
            <a:endParaRPr lang="en-US" altLang="zh-CN" dirty="0" smtClean="0"/>
          </a:p>
          <a:p>
            <a:pPr marL="457200" indent="-457200">
              <a:buAutoNum type="arabicPeriod"/>
            </a:pPr>
            <a:endParaRPr lang="en-US" altLang="zh-CN" dirty="0"/>
          </a:p>
          <a:p>
            <a:pPr marL="457200" indent="-457200">
              <a:buAutoNum type="arabicPeriod"/>
            </a:pPr>
            <a:endParaRPr lang="en-US" altLang="zh-CN" dirty="0" smtClean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dirty="0" smtClean="0"/>
              <a:t>对于复杂电路设计，</a:t>
            </a:r>
            <a:r>
              <a:rPr lang="zh-CN" altLang="en-US" dirty="0"/>
              <a:t>建议用隧道代替线路直连</a:t>
            </a:r>
            <a:endParaRPr lang="en-US" altLang="zh-CN" dirty="0"/>
          </a:p>
          <a:p>
            <a:pPr marL="457200" indent="-457200">
              <a:buAutoNum type="arabicPeriod"/>
            </a:pPr>
            <a:endParaRPr lang="en-US" altLang="zh-CN" dirty="0"/>
          </a:p>
        </p:txBody>
      </p:sp>
      <p:pic>
        <p:nvPicPr>
          <p:cNvPr id="7" name="内容占位符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36"/>
          <a:stretch>
            <a:fillRect/>
          </a:stretch>
        </p:blipFill>
        <p:spPr>
          <a:xfrm>
            <a:off x="1043608" y="1352022"/>
            <a:ext cx="5881991" cy="28534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52482"/>
            <a:ext cx="8496944" cy="411480"/>
          </a:xfrm>
        </p:spPr>
        <p:txBody>
          <a:bodyPr/>
          <a:lstStyle/>
          <a:p>
            <a:r>
              <a:rPr lang="en-US" altLang="zh-CN"/>
              <a:t>LAB07 </a:t>
            </a:r>
            <a:r>
              <a:rPr lang="zh-CN" altLang="en-US">
                <a:solidFill>
                  <a:srgbClr val="FF0000"/>
                </a:solidFill>
              </a:rPr>
              <a:t>边沿</a:t>
            </a:r>
            <a:r>
              <a:rPr lang="en-US" altLang="zh-CN">
                <a:solidFill>
                  <a:srgbClr val="FF0000"/>
                </a:solidFill>
              </a:rPr>
              <a:t>D</a:t>
            </a:r>
            <a:r>
              <a:rPr lang="zh-CN" altLang="en-US">
                <a:solidFill>
                  <a:srgbClr val="FF0000"/>
                </a:solidFill>
              </a:rPr>
              <a:t>触发器及</a:t>
            </a:r>
            <a:r>
              <a:rPr lang="en-US" altLang="zh-CN">
                <a:solidFill>
                  <a:srgbClr val="FF0000"/>
                </a:solidFill>
              </a:rPr>
              <a:t>32</a:t>
            </a:r>
            <a:r>
              <a:rPr lang="zh-CN" altLang="en-US">
                <a:solidFill>
                  <a:srgbClr val="FF0000"/>
                </a:solidFill>
              </a:rPr>
              <a:t>位寄存器设计实验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23528" y="538451"/>
            <a:ext cx="8496944" cy="3906519"/>
          </a:xfrm>
        </p:spPr>
        <p:txBody>
          <a:bodyPr/>
          <a:lstStyle/>
          <a:p>
            <a:r>
              <a:rPr lang="en-US" altLang="zh-CN" b="0" dirty="0">
                <a:sym typeface="+mn-ea"/>
              </a:rPr>
              <a:t>    </a:t>
            </a:r>
            <a:r>
              <a:rPr lang="zh-CN" altLang="en-US" b="0" dirty="0">
                <a:sym typeface="+mn-ea"/>
              </a:rPr>
              <a:t>在</a:t>
            </a:r>
            <a:r>
              <a:rPr lang="en-US" altLang="zh-CN" b="0" dirty="0" err="1">
                <a:sym typeface="+mn-ea"/>
              </a:rPr>
              <a:t>Logisim</a:t>
            </a:r>
            <a:r>
              <a:rPr lang="zh-CN" altLang="en-US" b="0" dirty="0">
                <a:sym typeface="+mn-ea"/>
              </a:rPr>
              <a:t>中，设计边沿</a:t>
            </a:r>
            <a:r>
              <a:rPr lang="en-US" altLang="zh-CN" b="0" dirty="0">
                <a:sym typeface="+mn-ea"/>
              </a:rPr>
              <a:t>D</a:t>
            </a:r>
            <a:r>
              <a:rPr lang="zh-CN" altLang="en-US" b="0" dirty="0">
                <a:sym typeface="+mn-ea"/>
              </a:rPr>
              <a:t>触发器，然后采用封装形式再设计一个</a:t>
            </a:r>
            <a:r>
              <a:rPr lang="en-US" altLang="zh-CN" b="0" dirty="0">
                <a:sym typeface="+mn-ea"/>
              </a:rPr>
              <a:t>32</a:t>
            </a:r>
            <a:r>
              <a:rPr lang="zh-CN" altLang="en-US" b="0" dirty="0">
                <a:sym typeface="+mn-ea"/>
              </a:rPr>
              <a:t>位的</a:t>
            </a:r>
            <a:r>
              <a:rPr lang="en-US" altLang="zh-CN" b="0" dirty="0">
                <a:sym typeface="+mn-ea"/>
              </a:rPr>
              <a:t>MIPS</a:t>
            </a:r>
            <a:r>
              <a:rPr lang="zh-CN" altLang="en-US" b="0" dirty="0">
                <a:sym typeface="+mn-ea"/>
              </a:rPr>
              <a:t>寄存器</a:t>
            </a:r>
            <a:endParaRPr lang="zh-CN" altLang="en-US" dirty="0"/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1547495" y="1635760"/>
            <a:ext cx="5469890" cy="2625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altLang="zh-CN" dirty="0">
                <a:sym typeface="+mn-ea"/>
              </a:rPr>
              <a:t>LAB08- </a:t>
            </a:r>
            <a:r>
              <a:rPr lang="zh-CN" altLang="en-US" dirty="0">
                <a:sym typeface="+mn-ea"/>
              </a:rPr>
              <a:t>基于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MIPS</a:t>
            </a:r>
            <a:r>
              <a:rPr lang="zh-CN" altLang="en-US" dirty="0">
                <a:sym typeface="+mn-ea"/>
              </a:rPr>
              <a:t>寄存器文件设计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 smtClean="0"/>
              <a:t>    </a:t>
            </a:r>
            <a:r>
              <a:rPr lang="zh-CN" altLang="en-US" dirty="0" smtClean="0"/>
              <a:t>实验内容</a:t>
            </a:r>
            <a:r>
              <a:rPr lang="zh-CN" altLang="en-US" b="0" dirty="0" smtClean="0"/>
              <a:t>：</a:t>
            </a:r>
            <a:r>
              <a:rPr lang="zh-CN" altLang="en-US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利用 </a:t>
            </a:r>
            <a:r>
              <a:rPr lang="en-US" altLang="zh-CN" b="0" dirty="0" err="1">
                <a:latin typeface="宋体" panose="02010600030101010101" pitchFamily="2" charset="-122"/>
                <a:ea typeface="宋体" panose="02010600030101010101" pitchFamily="2" charset="-122"/>
              </a:rPr>
              <a:t>Logisim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构建一个简化的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MIPS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寄存器文件，内部</a:t>
            </a:r>
            <a:r>
              <a:rPr lang="zh-CN" altLang="en-US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寄存器，其具体引脚与功能描述</a:t>
            </a:r>
            <a:r>
              <a:rPr lang="zh-CN" altLang="en-US" b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10" y="1924050"/>
            <a:ext cx="4931410" cy="27959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39702"/>
            <a:ext cx="2908609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7504" y="123478"/>
            <a:ext cx="8496944" cy="41148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 smtClean="0"/>
              <a:t>MIPS</a:t>
            </a:r>
            <a:r>
              <a:rPr lang="zh-CN" altLang="en-US" dirty="0" smtClean="0"/>
              <a:t>寄存器文件设计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9542"/>
            <a:ext cx="7421229" cy="3997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499992" y="195486"/>
            <a:ext cx="2981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实验电路文件：</a:t>
            </a:r>
            <a:r>
              <a:rPr lang="en-US" altLang="zh-CN" dirty="0" err="1" smtClean="0"/>
              <a:t>storage.circ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3363838"/>
            <a:ext cx="2867025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7504" y="3291830"/>
            <a:ext cx="3024336" cy="1728192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LAB09- </a:t>
            </a:r>
            <a:r>
              <a:rPr lang="zh-CN" altLang="en-US" dirty="0">
                <a:sym typeface="+mn-ea"/>
              </a:rPr>
              <a:t>基于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logisim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MIPS 32</a:t>
            </a:r>
            <a:r>
              <a:rPr lang="zh-CN" altLang="en-US" dirty="0">
                <a:sym typeface="+mn-ea"/>
              </a:rPr>
              <a:t>位运算器设计</a:t>
            </a:r>
            <a:endParaRPr lang="en-US" altLang="zh-CN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05" y="1131570"/>
            <a:ext cx="3671570" cy="31407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55" y="1203960"/>
            <a:ext cx="3157220" cy="26377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05" y="4084320"/>
            <a:ext cx="73602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 A 1-bit ALU that performs AND, OR, and addition on a and b or b , and </a:t>
            </a:r>
          </a:p>
          <a:p>
            <a:r>
              <a:rPr lang="zh-CN" altLang="en-US"/>
              <a:t>(bottom) a 1-bit ALU for the most signifi cant 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411730" y="915670"/>
            <a:ext cx="1452245" cy="411480"/>
          </a:xfrm>
        </p:spPr>
        <p:txBody>
          <a:bodyPr/>
          <a:lstStyle/>
          <a:p>
            <a:r>
              <a:rPr lang="zh-CN" altLang="en-US"/>
              <a:t>功能表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52070"/>
            <a:ext cx="3056890" cy="4817745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755650" y="1851660"/>
          <a:ext cx="4902200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5100">
                <a:tc grid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ALUOp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  <a:lnT cap="flat"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Ainvert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Binvert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CarryIn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Operation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Function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Overflow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Zero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Result=A&amp;B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Result=A|B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x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Result=AnorB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Result=A+B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OF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Zero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Result=A-B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OF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Zero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Result=A&lt;B?1:0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100" b="0" dirty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843628"/>
            <a:ext cx="8496944" cy="3906519"/>
          </a:xfrm>
        </p:spPr>
        <p:txBody>
          <a:bodyPr>
            <a:normAutofit/>
          </a:bodyPr>
          <a:lstStyle/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实验内容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2"/>
            <a:r>
              <a:rPr lang="zh-CN" altLang="en-US" dirty="0" smtClean="0">
                <a:sym typeface="+mn-ea"/>
              </a:rPr>
              <a:t>利用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程序计数器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指令存储器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寄存器文件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运算器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数据存储器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控制器</a:t>
            </a:r>
            <a:r>
              <a:rPr lang="zh-CN" altLang="en-US" dirty="0" smtClean="0">
                <a:sym typeface="+mn-ea"/>
              </a:rPr>
              <a:t>及</a:t>
            </a:r>
            <a:r>
              <a:rPr lang="zh-CN" altLang="en-US" dirty="0" smtClean="0">
                <a:solidFill>
                  <a:srgbClr val="FF0000"/>
                </a:solidFill>
                <a:sym typeface="+mn-ea"/>
              </a:rPr>
              <a:t>其他辅助电路元件</a:t>
            </a:r>
            <a:r>
              <a:rPr lang="zh-CN" altLang="en-US" dirty="0" smtClean="0">
                <a:sym typeface="+mn-ea"/>
              </a:rPr>
              <a:t>构建</a:t>
            </a:r>
            <a:r>
              <a:rPr lang="zh-CN" altLang="en-US" dirty="0">
                <a:sym typeface="+mn-ea"/>
              </a:rPr>
              <a:t>一个</a:t>
            </a:r>
            <a:r>
              <a:rPr lang="en-US" altLang="zh-CN" dirty="0">
                <a:sym typeface="+mn-ea"/>
              </a:rPr>
              <a:t>32</a:t>
            </a:r>
            <a:r>
              <a:rPr lang="zh-CN" altLang="en-US" dirty="0">
                <a:sym typeface="+mn-ea"/>
              </a:rPr>
              <a:t>位</a:t>
            </a:r>
            <a:r>
              <a:rPr lang="en-US" altLang="zh-CN" dirty="0">
                <a:sym typeface="+mn-ea"/>
              </a:rPr>
              <a:t>MIPS CPU</a:t>
            </a:r>
            <a:r>
              <a:rPr lang="zh-CN" altLang="en-US" dirty="0">
                <a:solidFill>
                  <a:srgbClr val="0000FF"/>
                </a:solidFill>
                <a:sym typeface="+mn-ea"/>
              </a:rPr>
              <a:t>单周期</a:t>
            </a:r>
            <a:r>
              <a:rPr lang="zh-CN" altLang="en-US" dirty="0">
                <a:sym typeface="+mn-ea"/>
              </a:rPr>
              <a:t>处理器</a:t>
            </a:r>
            <a:r>
              <a:rPr lang="zh-CN" altLang="en-US" dirty="0" smtClean="0">
                <a:sym typeface="+mn-ea"/>
              </a:rPr>
              <a:t>。</a:t>
            </a:r>
            <a:endParaRPr lang="zh-CN" altLang="en-US" dirty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实验目的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2"/>
            <a:r>
              <a:rPr lang="zh-CN" altLang="en-US" dirty="0" smtClean="0"/>
              <a:t>掌握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指令的格式和使用方法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掌握每条指令的执行流程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能够设计每条指令的数据通路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能够对指令的数据通路进行综合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3528" y="267876"/>
            <a:ext cx="8496944" cy="41148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 smtClean="0"/>
              <a:t>LAB-10</a:t>
            </a:r>
            <a:r>
              <a:rPr lang="zh-CN" altLang="en-US" dirty="0" smtClean="0"/>
              <a:t>   单周期</a:t>
            </a:r>
            <a:r>
              <a:rPr lang="en-US" altLang="zh-CN" dirty="0" smtClean="0"/>
              <a:t>CPU</a:t>
            </a:r>
            <a:r>
              <a:rPr lang="zh-CN" altLang="en-US" dirty="0" smtClean="0"/>
              <a:t>设计实验</a:t>
            </a:r>
            <a:r>
              <a:rPr lang="en-US" altLang="zh-CN" dirty="0" smtClean="0"/>
              <a:t>(3</a:t>
            </a:r>
            <a:r>
              <a:rPr lang="zh-CN" altLang="en-US" dirty="0" smtClean="0"/>
              <a:t>周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87450" y="-147955"/>
            <a:ext cx="6050915" cy="47263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5650" y="4516120"/>
            <a:ext cx="81445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 smtClean="0">
                <a:sym typeface="+mn-ea"/>
              </a:rPr>
              <a:t>该</a:t>
            </a:r>
            <a:r>
              <a:rPr lang="en-US" altLang="zh-CN" dirty="0" smtClean="0">
                <a:sym typeface="+mn-ea"/>
              </a:rPr>
              <a:t>CPU</a:t>
            </a:r>
            <a:r>
              <a:rPr lang="zh-CN" altLang="en-US" dirty="0" smtClean="0">
                <a:sym typeface="+mn-ea"/>
              </a:rPr>
              <a:t>支持</a:t>
            </a:r>
            <a:r>
              <a:rPr lang="en-US" altLang="zh-CN" dirty="0" smtClean="0">
                <a:solidFill>
                  <a:srgbClr val="0000FF"/>
                </a:solidFill>
                <a:sym typeface="+mn-ea"/>
              </a:rPr>
              <a:t>8</a:t>
            </a:r>
            <a:r>
              <a:rPr lang="zh-CN" altLang="en-US" dirty="0">
                <a:sym typeface="+mn-ea"/>
              </a:rPr>
              <a:t>条</a:t>
            </a:r>
            <a:r>
              <a:rPr lang="en-US" altLang="zh-CN" dirty="0" smtClean="0">
                <a:sym typeface="+mn-ea"/>
              </a:rPr>
              <a:t>MIPS</a:t>
            </a:r>
            <a:r>
              <a:rPr lang="zh-CN" altLang="en-US" dirty="0" smtClean="0">
                <a:sym typeface="+mn-ea"/>
              </a:rPr>
              <a:t>核心指令</a:t>
            </a:r>
            <a:r>
              <a:rPr lang="en-US" altLang="zh-CN" dirty="0" smtClean="0">
                <a:sym typeface="+mn-ea"/>
              </a:rPr>
              <a:t>: add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slt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addi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lw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sw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beq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bne</a:t>
            </a:r>
            <a:r>
              <a:rPr lang="en-US" altLang="zh-CN" dirty="0">
                <a:sym typeface="+mn-ea"/>
              </a:rPr>
              <a:t>, syscall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459" y="50801"/>
            <a:ext cx="790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隶书" panose="02010509060101010101" charset="-122"/>
                <a:ea typeface="隶书" panose="02010509060101010101" charset="-122"/>
              </a:rPr>
              <a:t>实验步骤</a:t>
            </a:r>
            <a:endParaRPr lang="en-US" altLang="zh-CN" sz="2800" b="1" dirty="0"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5093" y="518016"/>
            <a:ext cx="8865147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  1</a:t>
            </a:r>
            <a:r>
              <a:rPr lang="zh-CN" altLang="en-US" dirty="0" smtClean="0">
                <a:sym typeface="+mn-ea"/>
              </a:rPr>
              <a:t>、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MARS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将</a:t>
            </a:r>
            <a:r>
              <a:rPr lang="en-US" altLang="zh-CN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sort.asm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转换成</a:t>
            </a:r>
            <a:r>
              <a:rPr lang="en-US" altLang="zh-CN" dirty="0" err="1" smtClean="0">
                <a:latin typeface="华文新魏" panose="02010800040101010101" pitchFamily="2" charset="-122"/>
                <a:ea typeface="华文新魏" panose="02010800040101010101" pitchFamily="2" charset="-122"/>
              </a:rPr>
              <a:t>sort.hex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机器语言程序。</a:t>
            </a:r>
            <a:r>
              <a:rPr lang="zh-CN" altLang="en-US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该程序自动在数据存储器</a:t>
            </a:r>
            <a:r>
              <a:rPr lang="en-US" altLang="zh-CN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0~15</a:t>
            </a:r>
            <a:r>
              <a:rPr lang="zh-CN" altLang="en-US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号字单元中写入</a:t>
            </a:r>
            <a:r>
              <a:rPr lang="en-US" altLang="zh-CN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16</a:t>
            </a:r>
            <a:r>
              <a:rPr lang="zh-CN" altLang="en-US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个数据，然后利用冒泡排序将</a:t>
            </a:r>
            <a:r>
              <a:rPr lang="zh-CN" altLang="en-US" dirty="0" smtClean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数据降序</a:t>
            </a:r>
            <a:r>
              <a:rPr lang="zh-CN" altLang="en-US" dirty="0">
                <a:solidFill>
                  <a:srgbClr val="0000FF"/>
                </a:solidFill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排序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，要求统计指令条数并与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MARS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  <a:sym typeface="+mn-ea"/>
              </a:rPr>
              <a:t>中的指令统计数目进行对比。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2</a:t>
            </a:r>
            <a:r>
              <a:rPr lang="zh-CN" altLang="en-US" dirty="0" smtClean="0">
                <a:sym typeface="+mn-ea"/>
              </a:rPr>
              <a:t>、利用</a:t>
            </a:r>
            <a:r>
              <a:rPr lang="en-US" altLang="zh-CN" dirty="0" smtClean="0">
                <a:sym typeface="+mn-ea"/>
              </a:rPr>
              <a:t>MARS</a:t>
            </a:r>
            <a:r>
              <a:rPr lang="zh-CN" altLang="en-US" dirty="0" smtClean="0">
                <a:sym typeface="+mn-ea"/>
              </a:rPr>
              <a:t>软件，</a:t>
            </a:r>
            <a:r>
              <a:rPr lang="en-US" altLang="zh-CN" dirty="0" smtClean="0">
                <a:sym typeface="+mn-ea"/>
              </a:rPr>
              <a:t>Dump memory</a:t>
            </a:r>
            <a:r>
              <a:rPr lang="zh-CN" altLang="en-US" dirty="0" smtClean="0">
                <a:sym typeface="+mn-ea"/>
              </a:rPr>
              <a:t>将内存中的机器语言程序转换成</a:t>
            </a:r>
            <a:r>
              <a:rPr lang="en-US" altLang="zh-CN" dirty="0" smtClean="0">
                <a:sym typeface="+mn-ea"/>
              </a:rPr>
              <a:t>16</a:t>
            </a:r>
            <a:r>
              <a:rPr lang="zh-CN" altLang="en-US" dirty="0" smtClean="0">
                <a:sym typeface="+mn-ea"/>
              </a:rPr>
              <a:t>进制文件</a:t>
            </a:r>
            <a:r>
              <a:rPr lang="en-US" altLang="zh-CN" dirty="0" err="1" smtClean="0">
                <a:sym typeface="+mn-ea"/>
              </a:rPr>
              <a:t>sort.hex</a:t>
            </a:r>
            <a:endParaRPr lang="zh-CN" altLang="en-US" dirty="0" smtClean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ym typeface="+mn-ea"/>
              </a:rPr>
              <a:t>     3</a:t>
            </a:r>
            <a:r>
              <a:rPr lang="zh-CN" altLang="en-US" dirty="0" smtClean="0">
                <a:sym typeface="+mn-ea"/>
              </a:rPr>
              <a:t>、</a:t>
            </a:r>
            <a:r>
              <a:rPr lang="en-US" altLang="zh-CN" dirty="0" err="1" smtClean="0">
                <a:sym typeface="+mn-ea"/>
              </a:rPr>
              <a:t>sort.hex</a:t>
            </a:r>
            <a:r>
              <a:rPr lang="zh-CN" altLang="en-US" dirty="0" smtClean="0">
                <a:sym typeface="+mn-ea"/>
              </a:rPr>
              <a:t>加载到</a:t>
            </a:r>
            <a:r>
              <a:rPr lang="en-US" altLang="zh-CN" dirty="0" err="1" smtClean="0">
                <a:sym typeface="+mn-ea"/>
              </a:rPr>
              <a:t>Logisim</a:t>
            </a:r>
            <a:r>
              <a:rPr lang="zh-CN" altLang="en-US" dirty="0" smtClean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ROM</a:t>
            </a:r>
            <a:r>
              <a:rPr lang="zh-CN" altLang="en-US" dirty="0">
                <a:sym typeface="+mn-ea"/>
              </a:rPr>
              <a:t>中，供</a:t>
            </a:r>
            <a:r>
              <a:rPr lang="en-US" altLang="zh-CN" dirty="0">
                <a:sym typeface="+mn-ea"/>
              </a:rPr>
              <a:t>MIPS  CPU</a:t>
            </a:r>
            <a:r>
              <a:rPr lang="zh-CN" altLang="en-US" dirty="0" smtClean="0">
                <a:sym typeface="+mn-ea"/>
              </a:rPr>
              <a:t>执行（注意地址范围）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07504" y="34413"/>
            <a:ext cx="9036496" cy="3906519"/>
          </a:xfrm>
        </p:spPr>
        <p:txBody>
          <a:bodyPr/>
          <a:lstStyle/>
          <a:p>
            <a:r>
              <a:rPr lang="en-US" altLang="zh-CN" b="0" dirty="0" smtClean="0"/>
              <a:t>8</a:t>
            </a:r>
            <a:r>
              <a:rPr lang="zh-CN" altLang="en-US" b="0" dirty="0"/>
              <a:t>条</a:t>
            </a:r>
            <a:r>
              <a:rPr lang="en-US" altLang="zh-CN" b="0" dirty="0"/>
              <a:t>MIPS</a:t>
            </a:r>
            <a:r>
              <a:rPr lang="zh-CN" altLang="en-US" b="0" dirty="0"/>
              <a:t>核心</a:t>
            </a:r>
            <a:r>
              <a:rPr lang="zh-CN" altLang="en-US" b="0" dirty="0" smtClean="0"/>
              <a:t>指令</a:t>
            </a:r>
            <a:r>
              <a:rPr lang="en-US" altLang="zh-CN" b="0" dirty="0" smtClean="0"/>
              <a:t>: add</a:t>
            </a:r>
            <a:r>
              <a:rPr lang="en-US" altLang="zh-CN" b="0" dirty="0"/>
              <a:t>, </a:t>
            </a:r>
            <a:r>
              <a:rPr lang="en-US" altLang="zh-CN" b="0" dirty="0" err="1"/>
              <a:t>slt</a:t>
            </a:r>
            <a:r>
              <a:rPr lang="en-US" altLang="zh-CN" b="0" dirty="0"/>
              <a:t>, </a:t>
            </a:r>
            <a:r>
              <a:rPr lang="en-US" altLang="zh-CN" b="0" dirty="0" err="1"/>
              <a:t>addi</a:t>
            </a:r>
            <a:r>
              <a:rPr lang="en-US" altLang="zh-CN" b="0" dirty="0"/>
              <a:t>, </a:t>
            </a:r>
            <a:r>
              <a:rPr lang="en-US" altLang="zh-CN" b="0" dirty="0" err="1"/>
              <a:t>lw</a:t>
            </a:r>
            <a:r>
              <a:rPr lang="en-US" altLang="zh-CN" b="0" dirty="0"/>
              <a:t>, </a:t>
            </a:r>
            <a:r>
              <a:rPr lang="en-US" altLang="zh-CN" b="0" dirty="0" err="1"/>
              <a:t>sw</a:t>
            </a:r>
            <a:r>
              <a:rPr lang="en-US" altLang="zh-CN" b="0" dirty="0"/>
              <a:t>, </a:t>
            </a:r>
            <a:r>
              <a:rPr lang="en-US" altLang="zh-CN" b="0" dirty="0" err="1"/>
              <a:t>beq</a:t>
            </a:r>
            <a:r>
              <a:rPr lang="en-US" altLang="zh-CN" b="0" dirty="0"/>
              <a:t>, </a:t>
            </a:r>
            <a:r>
              <a:rPr lang="en-US" altLang="zh-CN" b="0" dirty="0" err="1"/>
              <a:t>bne</a:t>
            </a:r>
            <a:r>
              <a:rPr lang="en-US" altLang="zh-CN" b="0" dirty="0"/>
              <a:t>, </a:t>
            </a:r>
            <a:r>
              <a:rPr lang="en-US" altLang="zh-CN" b="0" dirty="0" err="1"/>
              <a:t>syscall</a:t>
            </a:r>
            <a:r>
              <a:rPr lang="en-US" altLang="zh-CN" b="0" dirty="0"/>
              <a:t> </a:t>
            </a:r>
            <a:endParaRPr lang="en-US" altLang="zh-CN" b="0" dirty="0" smtClean="0"/>
          </a:p>
          <a:p>
            <a:r>
              <a:rPr lang="en-US" altLang="zh-CN" b="0" dirty="0"/>
              <a:t> </a:t>
            </a:r>
            <a:r>
              <a:rPr lang="en-US" altLang="zh-CN" b="0" dirty="0" smtClean="0"/>
              <a:t>    </a:t>
            </a:r>
            <a:endParaRPr lang="zh-CN" altLang="en-US" dirty="0"/>
          </a:p>
        </p:txBody>
      </p:sp>
      <p:graphicFrame>
        <p:nvGraphicFramePr>
          <p:cNvPr id="5" name="内容占位符 3"/>
          <p:cNvGraphicFramePr/>
          <p:nvPr>
            <p:custDataLst>
              <p:tags r:id="rId1"/>
            </p:custDataLst>
          </p:nvPr>
        </p:nvGraphicFramePr>
        <p:xfrm>
          <a:off x="0" y="711324"/>
          <a:ext cx="9144001" cy="416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7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4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026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  <a:endParaRPr lang="zh-CN" alt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指令助记符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RTL 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功能描述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(func:32</a:t>
                      </a: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$rd,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]+R[$rt]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RegDest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Aluop=0101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026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(func:12)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syscall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停机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使得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alt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不变，类似停机指令 </a:t>
                      </a:r>
                      <a:r>
                        <a:rPr lang="en-US" altLang="zh-CN" sz="12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044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(func:42)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r>
                        <a:rPr lang="en-US" altLang="zh-CN" sz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$rd,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]&lt;R[$rt]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小于置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，有符号比较，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RegDest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Aluop=1011,Regwrite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662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000100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r>
                        <a:rPr lang="en-US" altLang="zh-CN" sz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$rt, imm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]=R[$rt]), PC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1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Aluop=1011,Beq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662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</a:p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000101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bne</a:t>
                      </a:r>
                      <a:r>
                        <a:rPr lang="en-US" altLang="zh-CN" sz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$rt, imm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]!=R[$rt]), PC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1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Aluop=1011,Bne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662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</a:p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001000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 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$rt, 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imm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）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AluSrc, Aluop=0101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122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100011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Mem (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Aluop=0101, 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MemToReg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位转换成字地址才能访问数据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8298">
                <a:tc>
                  <a:txBody>
                    <a:bodyPr/>
                    <a:lstStyle/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  <a:p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101011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1200" baseline="0" dirty="0" err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Mem (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2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)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AluSrc,Aluop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=0101, MemWrite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位转换成字地址才能访问数据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9070" y="412115"/>
            <a:ext cx="8750300" cy="37261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实验步骤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步：编写程序实现（字节地址0x200，字地址0x80）开始的8个字单元的降序排序,此程序可在mars mips仿真器中运行,运行时请将Mars Setting中的Memory Configuration设置为</a:t>
            </a:r>
            <a:r>
              <a:rPr lang="zh-CN" altLang="en-US" u="sng">
                <a:solidFill>
                  <a:srgbClr val="FF0000"/>
                </a:solidFill>
              </a:rPr>
              <a:t>Compact，data at address 0（目的：让数据区的基地址从</a:t>
            </a:r>
            <a:r>
              <a:rPr lang="en-US" altLang="zh-CN" u="sng">
                <a:solidFill>
                  <a:srgbClr val="FF0000"/>
                </a:solidFill>
              </a:rPr>
              <a:t>0</a:t>
            </a:r>
            <a:r>
              <a:rPr lang="zh-CN" altLang="en-US" u="sng">
                <a:solidFill>
                  <a:srgbClr val="FF0000"/>
                </a:solidFill>
              </a:rPr>
              <a:t>开始）</a:t>
            </a:r>
            <a:r>
              <a:rPr lang="zh-CN" altLang="en-US"/>
              <a:t>（</a:t>
            </a:r>
            <a:r>
              <a:rPr lang="en-US" altLang="zh-CN">
                <a:solidFill>
                  <a:srgbClr val="FF0000"/>
                </a:solidFill>
              </a:rPr>
              <a:t>20</a:t>
            </a:r>
            <a:r>
              <a:rPr lang="zh-CN" altLang="en-US">
                <a:solidFill>
                  <a:srgbClr val="FF0000"/>
                </a:solidFill>
              </a:rPr>
              <a:t>分</a:t>
            </a:r>
            <a:r>
              <a:rPr lang="zh-CN" altLang="en-US"/>
              <a:t>）</a:t>
            </a:r>
          </a:p>
          <a:p>
            <a:r>
              <a:rPr lang="en-US" altLang="zh-CN"/>
              <a:t>  </a:t>
            </a:r>
            <a:r>
              <a:rPr lang="zh-CN" altLang="en-US"/>
              <a:t>程序仅需要用</a:t>
            </a:r>
            <a:r>
              <a:rPr lang="en-US" altLang="zh-CN"/>
              <a:t> 8</a:t>
            </a:r>
            <a:r>
              <a:rPr lang="zh-CN" altLang="en-US"/>
              <a:t>条指令：</a:t>
            </a:r>
            <a:r>
              <a:rPr lang="en-US" altLang="zh-CN"/>
              <a:t>add addi sw lw beq slt bne syscall</a:t>
            </a:r>
          </a:p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步：将上述程序导入（右击）到下发的</a:t>
            </a:r>
            <a:r>
              <a:rPr lang="en-US" altLang="zh-CN"/>
              <a:t>CPU</a:t>
            </a:r>
            <a:r>
              <a:rPr lang="zh-CN" altLang="en-US"/>
              <a:t>中，然后将上述程序机器码加载到</a:t>
            </a:r>
            <a:r>
              <a:rPr lang="en-US" altLang="zh-CN"/>
              <a:t>IM</a:t>
            </a:r>
            <a:r>
              <a:rPr lang="zh-CN" altLang="en-US"/>
              <a:t>，运行</a:t>
            </a:r>
            <a:r>
              <a:rPr lang="en-US" altLang="zh-CN"/>
              <a:t>CPU</a:t>
            </a:r>
            <a:r>
              <a:rPr lang="zh-CN" altLang="en-US"/>
              <a:t>仿真，观测内存数据是否排序成功（</a:t>
            </a:r>
            <a:r>
              <a:rPr lang="en-US" altLang="zh-CN">
                <a:solidFill>
                  <a:srgbClr val="FF0000"/>
                </a:solidFill>
              </a:rPr>
              <a:t>40</a:t>
            </a:r>
            <a:r>
              <a:rPr lang="zh-CN" altLang="en-US">
                <a:solidFill>
                  <a:srgbClr val="FF0000"/>
                </a:solidFill>
              </a:rPr>
              <a:t>分</a:t>
            </a:r>
            <a:r>
              <a:rPr lang="zh-CN" altLang="en-US"/>
              <a:t>）</a:t>
            </a:r>
          </a:p>
          <a:p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步：将下发的</a:t>
            </a:r>
            <a:r>
              <a:rPr lang="en-US" altLang="zh-CN"/>
              <a:t>CPU</a:t>
            </a:r>
            <a:r>
              <a:rPr lang="zh-CN" altLang="en-US"/>
              <a:t>（位于群文件</a:t>
            </a:r>
            <a:r>
              <a:rPr lang="en-US" altLang="zh-CN">
                <a:solidFill>
                  <a:srgbClr val="FF0000"/>
                </a:solidFill>
              </a:rPr>
              <a:t>cpu.circ</a:t>
            </a:r>
            <a:r>
              <a:rPr lang="zh-CN" altLang="en-US"/>
              <a:t>）中的寄存器文件（</a:t>
            </a:r>
            <a:r>
              <a:rPr lang="en-US" altLang="zh-CN">
                <a:solidFill>
                  <a:srgbClr val="FF0000"/>
                </a:solidFill>
              </a:rPr>
              <a:t>60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分</a:t>
            </a:r>
            <a:r>
              <a:rPr lang="zh-CN" altLang="en-US"/>
              <a:t>）和</a:t>
            </a:r>
            <a:r>
              <a:rPr lang="en-US" altLang="zh-CN"/>
              <a:t>ALU</a:t>
            </a:r>
            <a:r>
              <a:rPr lang="zh-CN" altLang="en-US"/>
              <a:t>（</a:t>
            </a:r>
            <a:r>
              <a:rPr lang="en-US" altLang="zh-CN">
                <a:solidFill>
                  <a:srgbClr val="FF0000"/>
                </a:solidFill>
              </a:rPr>
              <a:t>80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分</a:t>
            </a:r>
            <a:r>
              <a:rPr lang="zh-CN" altLang="en-US"/>
              <a:t>），</a:t>
            </a:r>
            <a:r>
              <a:rPr lang="zh-CN" altLang="en-US">
                <a:sym typeface="+mn-ea"/>
              </a:rPr>
              <a:t>控制器（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分</a:t>
            </a:r>
            <a:r>
              <a:rPr lang="zh-CN" altLang="en-US">
                <a:sym typeface="+mn-ea"/>
              </a:rPr>
              <a:t>）分别</a:t>
            </a:r>
            <a:r>
              <a:rPr lang="zh-CN" altLang="en-US"/>
              <a:t>替换为本组之前设计的电路，然后重新验证设计正确性。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27630" y="1779905"/>
            <a:ext cx="6183630" cy="2271395"/>
          </a:xfrm>
          <a:prstGeom prst="rect">
            <a:avLst/>
          </a:prstGeom>
        </p:spPr>
      </p:pic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79070" y="195580"/>
            <a:ext cx="3200400" cy="131953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1795780" y="2847340"/>
            <a:ext cx="155194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71550" y="2571750"/>
            <a:ext cx="11131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字地址</a:t>
            </a:r>
          </a:p>
          <a:p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字节地址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去掉低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位后的</a:t>
            </a:r>
            <a:r>
              <a:rPr lang="zh-CN" altLang="en-US">
                <a:sym typeface="+mn-ea"/>
              </a:rPr>
              <a:t>十六进制值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7315" y="411480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MIPS</a:t>
            </a:r>
            <a:r>
              <a:rPr lang="zh-CN" altLang="en-US">
                <a:sym typeface="+mn-ea"/>
              </a:rPr>
              <a:t>汇编程序变成机器码，并导出方法</a:t>
            </a:r>
          </a:p>
          <a:p>
            <a:r>
              <a:rPr lang="en-US" altLang="zh-CN">
                <a:sym typeface="+mn-ea"/>
              </a:rPr>
              <a:t>Mars : File-&gt;Dump Memory,</a:t>
            </a:r>
            <a:r>
              <a:rPr lang="zh-CN" altLang="en-US">
                <a:sym typeface="+mn-ea"/>
              </a:rPr>
              <a:t>然后如下选择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2000" y="2715895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将机器码文件导入（右击）到下发的</a:t>
            </a:r>
            <a:r>
              <a:rPr lang="en-US" altLang="zh-CN">
                <a:sym typeface="+mn-ea"/>
              </a:rPr>
              <a:t>CPU</a:t>
            </a:r>
            <a:r>
              <a:rPr lang="zh-CN" altLang="en-US">
                <a:sym typeface="+mn-ea"/>
              </a:rPr>
              <a:t>中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4478655" y="110490"/>
            <a:ext cx="0" cy="4615180"/>
          </a:xfrm>
          <a:prstGeom prst="line">
            <a:avLst/>
          </a:prstGeom>
          <a:ln w="28575" cmpd="sng">
            <a:solidFill>
              <a:srgbClr val="BA343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1491615"/>
            <a:ext cx="3971290" cy="20675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505" y="3651885"/>
            <a:ext cx="1378585" cy="9213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290" y="3348355"/>
            <a:ext cx="2237740" cy="15278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7990" y="771525"/>
            <a:ext cx="2335530" cy="17176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00245" y="5207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打开导出的文件，在前面添加</a:t>
            </a:r>
            <a:r>
              <a:rPr lang="en-US" altLang="zh-CN">
                <a:sym typeface="+mn-ea"/>
              </a:rPr>
              <a:t>v2.0 raw,</a:t>
            </a:r>
            <a:r>
              <a:rPr lang="zh-CN" altLang="en-US">
                <a:sym typeface="+mn-ea"/>
              </a:rPr>
              <a:t>以便让</a:t>
            </a:r>
            <a:r>
              <a:rPr lang="en-US" altLang="zh-CN">
                <a:sym typeface="+mn-ea"/>
              </a:rPr>
              <a:t>logisim rom</a:t>
            </a:r>
            <a:r>
              <a:rPr lang="zh-CN" altLang="en-US">
                <a:sym typeface="+mn-ea"/>
              </a:rPr>
              <a:t>能成功加载该文件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0ZDI1YmEyODUzZDkwMWM4NjBhYTVjNzZhZGYyZDMifQ=="/>
  <p:tag name="KSO_WPP_MARK_KEY" val="ddaa7f27-0a8d-44ad-aaa4-40e9c015713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7,&quot;width&quot;:794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dff5419-cefb-4f91-a9e0-7fc8ed85aa1b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2b31a0a-3312-4be9-8d79-cfab040d42e1}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0</TotalTime>
  <Words>2475</Words>
  <Application>Microsoft Office PowerPoint</Application>
  <PresentationFormat>全屏显示(16:9)</PresentationFormat>
  <Paragraphs>284</Paragraphs>
  <Slides>37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Tunga</vt:lpstr>
      <vt:lpstr>华文仿宋</vt:lpstr>
      <vt:lpstr>华文新魏</vt:lpstr>
      <vt:lpstr>隶书</vt:lpstr>
      <vt:lpstr>宋体</vt:lpstr>
      <vt:lpstr>微软雅黑</vt:lpstr>
      <vt:lpstr>Arial</vt:lpstr>
      <vt:lpstr>Calibri</vt:lpstr>
      <vt:lpstr>Franklin Gothic Book</vt:lpstr>
      <vt:lpstr>Franklin Gothic Medium</vt:lpstr>
      <vt:lpstr>Times New Roman</vt:lpstr>
      <vt:lpstr>Wingdings</vt:lpstr>
      <vt:lpstr>角度</vt:lpstr>
      <vt:lpstr>PowerPoint 演示文稿</vt:lpstr>
      <vt:lpstr>实验项目</vt:lpstr>
      <vt:lpstr>Mars使用方法</vt:lpstr>
      <vt:lpstr>LAB1</vt:lpstr>
      <vt:lpstr>PowerPoint 演示文稿</vt:lpstr>
      <vt:lpstr>汇编程序中的输入和输出</vt:lpstr>
      <vt:lpstr>实验任务2</vt:lpstr>
      <vt:lpstr>LAB-2</vt:lpstr>
      <vt:lpstr>LAB-3</vt:lpstr>
      <vt:lpstr>LAB-4</vt:lpstr>
      <vt:lpstr>LAB-5</vt:lpstr>
      <vt:lpstr>LAB-05    </vt:lpstr>
      <vt:lpstr>LAB-06 基于logisim的表决电路设计    </vt:lpstr>
      <vt:lpstr>传统硬件实验的没落</vt:lpstr>
      <vt:lpstr>Logisim平台</vt:lpstr>
      <vt:lpstr>Logisim实验特色</vt:lpstr>
      <vt:lpstr>lOGISIM软件设置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电路设计基本要求</vt:lpstr>
      <vt:lpstr>LAB07 边沿D触发器及32位寄存器设计实验</vt:lpstr>
      <vt:lpstr>LAB08- 基于logisim的MIPS寄存器文件设计</vt:lpstr>
      <vt:lpstr>MIPS寄存器文件设计</vt:lpstr>
      <vt:lpstr>LAB09- 基于logisim的MIPS 32位运算器设计</vt:lpstr>
      <vt:lpstr>功能表</vt:lpstr>
      <vt:lpstr>LAB-10   单周期CPU设计实验(3周)</vt:lpstr>
      <vt:lpstr>PowerPoint 演示文稿</vt:lpstr>
      <vt:lpstr>PowerPoint 演示文稿</vt:lpstr>
      <vt:lpstr>PowerPoint 演示文稿</vt:lpstr>
      <vt:lpstr>PowerPoint 演示文稿</vt:lpstr>
      <vt:lpstr>实验步骤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蓝色工作汇报</dc:title>
  <dc:creator>第一PPT</dc:creator>
  <cp:keywords>www.1ppt.com</cp:keywords>
  <dc:description>第一PPT</dc:description>
  <cp:lastModifiedBy>SKUser</cp:lastModifiedBy>
  <cp:revision>471</cp:revision>
  <dcterms:created xsi:type="dcterms:W3CDTF">2015-01-08T06:32:00Z</dcterms:created>
  <dcterms:modified xsi:type="dcterms:W3CDTF">2025-04-11T06:02:45Z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2052-12.1.0.16929</vt:lpwstr>
  </property>
  <property fmtid="{D5CDD505-2E9C-101B-9397-08002B2CF9AE}" pid="4" name="ICV">
    <vt:lpwstr>1765645AC6FF4118BCD1428E12473600</vt:lpwstr>
  </property>
</Properties>
</file>