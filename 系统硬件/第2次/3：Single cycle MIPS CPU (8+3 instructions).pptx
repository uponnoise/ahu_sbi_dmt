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72" r:id="rId3"/>
  </p:sldMasterIdLst>
  <p:notesMasterIdLst>
    <p:notesMasterId r:id="rId27"/>
  </p:notesMasterIdLst>
  <p:sldIdLst>
    <p:sldId id="402" r:id="rId4"/>
    <p:sldId id="372" r:id="rId5"/>
    <p:sldId id="413" r:id="rId6"/>
    <p:sldId id="410" r:id="rId7"/>
    <p:sldId id="412" r:id="rId8"/>
    <p:sldId id="408" r:id="rId9"/>
    <p:sldId id="409" r:id="rId10"/>
    <p:sldId id="421" r:id="rId11"/>
    <p:sldId id="403" r:id="rId12"/>
    <p:sldId id="291" r:id="rId13"/>
    <p:sldId id="293" r:id="rId14"/>
    <p:sldId id="404" r:id="rId15"/>
    <p:sldId id="418" r:id="rId16"/>
    <p:sldId id="414" r:id="rId17"/>
    <p:sldId id="419" r:id="rId18"/>
    <p:sldId id="405" r:id="rId19"/>
    <p:sldId id="415" r:id="rId20"/>
    <p:sldId id="411" r:id="rId21"/>
    <p:sldId id="407" r:id="rId22"/>
    <p:sldId id="406" r:id="rId23"/>
    <p:sldId id="417" r:id="rId24"/>
    <p:sldId id="422" r:id="rId25"/>
    <p:sldId id="420" r:id="rId26"/>
  </p:sldIdLst>
  <p:sldSz cx="9144000" cy="5143500" type="screen16x9"/>
  <p:notesSz cx="6858000" cy="9144000"/>
  <p:custDataLst>
    <p:tags r:id="rId2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U FENG" initials="LF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090D8"/>
    <a:srgbClr val="307800"/>
    <a:srgbClr val="483018"/>
    <a:srgbClr val="C0A878"/>
    <a:srgbClr val="F3DEB8"/>
    <a:srgbClr val="0A9B06"/>
    <a:srgbClr val="E8EFC1"/>
    <a:srgbClr val="1E4C7E"/>
    <a:srgbClr val="EAEAEA"/>
    <a:srgbClr val="BA34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67" autoAdjust="0"/>
    <p:restoredTop sz="94270" autoAdjust="0"/>
  </p:normalViewPr>
  <p:slideViewPr>
    <p:cSldViewPr showGuides="1">
      <p:cViewPr varScale="1">
        <p:scale>
          <a:sx n="119" d="100"/>
          <a:sy n="119" d="100"/>
        </p:scale>
        <p:origin x="541" y="95"/>
      </p:cViewPr>
      <p:guideLst>
        <p:guide orient="horz" pos="1620"/>
        <p:guide pos="2917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tags" Target="tags/tag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AD63C5-CED3-4198-ADFC-235C7510EC39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9D69F8-84B8-4848-85BA-EA3E20CCD79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8EE3EC-0DCF-432D-B43B-A984B53E0FA0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626019-F7DB-4086-B42E-F4DE682783A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8940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E632B-76F3-4F99-9D81-AA1EE8EB0075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90678E-CB06-436E-A193-4CD911D3684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26016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08681B-7F00-4C5C-AF4E-84966CF0AB30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B481FC-CB0C-4EAD-BE53-9789BEC4F4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563482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069CE-1539-4596-A53B-869D0DB4381D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567B90-9404-484E-B18B-7F6E75E7D341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71975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F3888-66F6-474C-9CC9-0E8B55AF917E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E4ED18-1FE1-4557-9867-58A3B1F0EEA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50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E3478-DD8B-4B49-A2D3-FFE800946FD6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DE3867-D5A1-4FAA-B825-A6A280C9DCB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19211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DD9203-6A86-484D-85D4-FF348C3CC52D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26D8A-2882-441C-9513-1A0B4863A6CA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65119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5A1E5-7106-40F4-B5B8-C2C90AC17213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6BE82-7B75-4559-90B7-988D56C3A7B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48951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D40DA-8DB1-447B-A456-B66E0C9BBBCE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8E6A63-DDCB-4FD3-8FFD-09DA75E697B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52387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4A99FF-A4EA-4483-8CE4-AA94090B1FD5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84F93F-F03F-4582-A5AF-F7E0DFD1E1F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235742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133E49-F778-4BFB-8E2F-3E43D2B34F0E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75299D-5452-4BC6-93B7-A51B09B1D9C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878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6BAEA-2E2F-43C1-8FC5-9FEE3A8DF45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DB5319-2DBA-4D9A-88B5-78BEDCD9319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5B444-1AB3-4008-89F4-D116109AD3CC}" type="datetimeFigureOut">
              <a:rPr lang="zh-CN" altLang="en-US" smtClean="0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59C40-ADFB-475C-8952-CEFED0415CA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2C990965-54DC-4A11-8C3F-17BA303F10F2}" type="datetimeFigureOut">
              <a:rPr lang="zh-CN" altLang="en-US"/>
              <a:t>2025/3/17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9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832386D3-E338-490A-8996-F93AD2A32E0D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5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3429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6858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0287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371600" algn="ctr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au411y7qq" TargetMode="Externa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image" Target="../media/image14.tmp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6.xml"/><Relationship Id="rId13" Type="http://schemas.openxmlformats.org/officeDocument/2006/relationships/tags" Target="../tags/tag31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21.xml"/><Relationship Id="rId7" Type="http://schemas.openxmlformats.org/officeDocument/2006/relationships/tags" Target="../tags/tag25.xml"/><Relationship Id="rId12" Type="http://schemas.openxmlformats.org/officeDocument/2006/relationships/tags" Target="../tags/tag30.xml"/><Relationship Id="rId17" Type="http://schemas.openxmlformats.org/officeDocument/2006/relationships/tags" Target="../tags/tag35.xml"/><Relationship Id="rId2" Type="http://schemas.openxmlformats.org/officeDocument/2006/relationships/tags" Target="../tags/tag20.xml"/><Relationship Id="rId16" Type="http://schemas.openxmlformats.org/officeDocument/2006/relationships/tags" Target="../tags/tag34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11" Type="http://schemas.openxmlformats.org/officeDocument/2006/relationships/tags" Target="../tags/tag29.xml"/><Relationship Id="rId5" Type="http://schemas.openxmlformats.org/officeDocument/2006/relationships/tags" Target="../tags/tag23.xml"/><Relationship Id="rId15" Type="http://schemas.openxmlformats.org/officeDocument/2006/relationships/tags" Target="../tags/tag33.xml"/><Relationship Id="rId10" Type="http://schemas.openxmlformats.org/officeDocument/2006/relationships/tags" Target="../tags/tag28.xml"/><Relationship Id="rId19" Type="http://schemas.openxmlformats.org/officeDocument/2006/relationships/image" Target="../media/image14.tmp"/><Relationship Id="rId4" Type="http://schemas.openxmlformats.org/officeDocument/2006/relationships/tags" Target="../tags/tag22.xml"/><Relationship Id="rId9" Type="http://schemas.openxmlformats.org/officeDocument/2006/relationships/tags" Target="../tags/tag27.xml"/><Relationship Id="rId14" Type="http://schemas.openxmlformats.org/officeDocument/2006/relationships/tags" Target="../tags/tag3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20459" y="50801"/>
            <a:ext cx="84280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>
                <a:latin typeface="隶书" panose="02010509060101010101" charset="-122"/>
                <a:ea typeface="隶书" panose="02010509060101010101" charset="-122"/>
              </a:rPr>
              <a:t>Part 1: MIPS Machine Instruction Set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7292" y="2995092"/>
            <a:ext cx="8760460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2800" dirty="0"/>
          </a:p>
          <a:p>
            <a:endParaRPr lang="zh-CN" altLang="en-US" dirty="0"/>
          </a:p>
          <a:p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115093" y="518016"/>
            <a:ext cx="8865147" cy="4154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zh-CN" altLang="en-US" sz="1600" dirty="0">
                <a:latin typeface="方正兰亭黑_GBK"/>
                <a:ea typeface="华文楷体" panose="02010600040101010101" pitchFamily="2" charset="-122"/>
              </a:rPr>
              <a:t>一、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https://www.icourse163.org/learn/HUST-1003159001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5.5</a:t>
            </a:r>
            <a:r>
              <a:rPr lang="zh-CN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MIPS Instruction Overview   5.6</a:t>
            </a: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MIPS Instruction Details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二、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Understand the sort.asm program and successfully run it in 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  <a:sym typeface="+mn-ea"/>
              </a:rPr>
              <a:t>MARS</a:t>
            </a: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三、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Referring to examples and the "MIPS32 Instruction Manual. PDF", translate the following 8 assembly instructions into 32-bit machine instructions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四、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Convert sort.asm to </a:t>
            </a:r>
            <a:r>
              <a:rPr lang="en-US" altLang="zh-CN" sz="1600" dirty="0" err="1">
                <a:latin typeface="华文新魏" panose="02010800040101010101" pitchFamily="2" charset="-122"/>
                <a:ea typeface="华文新魏" panose="02010800040101010101" pitchFamily="2" charset="-122"/>
              </a:rPr>
              <a:t>sort.hex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  using MARS's Dump memory function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五、</a:t>
            </a:r>
            <a:r>
              <a:rPr lang="en-US" altLang="zh-CN" sz="1600" dirty="0">
                <a:latin typeface="华文新魏" panose="02010800040101010101" pitchFamily="2" charset="-122"/>
                <a:ea typeface="华文新魏" panose="02010800040101010101" pitchFamily="2" charset="-122"/>
              </a:rPr>
              <a:t>Self study Chapter 4.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437522" y="2571750"/>
            <a:ext cx="43802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lw</a:t>
            </a:r>
            <a:r>
              <a:rPr lang="en-US" altLang="zh-CN" dirty="0"/>
              <a:t> $s4,128($s1)</a:t>
            </a:r>
          </a:p>
          <a:p>
            <a:r>
              <a:rPr lang="en-US" altLang="zh-CN" dirty="0"/>
              <a:t>slt $t0,$s3,$s4</a:t>
            </a:r>
          </a:p>
          <a:p>
            <a:r>
              <a:rPr lang="en-US" altLang="zh-CN" dirty="0"/>
              <a:t>100H:beq $t0,$0,sort_next (120H)</a:t>
            </a:r>
          </a:p>
          <a:p>
            <a:r>
              <a:rPr lang="en-US" altLang="zh-CN" dirty="0"/>
              <a:t>200H:bne $s0, $s1, sort_loop(220H)</a:t>
            </a:r>
          </a:p>
          <a:p>
            <a:endParaRPr lang="en-US" altLang="zh-CN" dirty="0"/>
          </a:p>
        </p:txBody>
      </p:sp>
      <p:sp>
        <p:nvSpPr>
          <p:cNvPr id="8" name="文本框 7"/>
          <p:cNvSpPr txBox="1"/>
          <p:nvPr/>
        </p:nvSpPr>
        <p:spPr>
          <a:xfrm>
            <a:off x="1475656" y="2624893"/>
            <a:ext cx="22353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addi</a:t>
            </a:r>
            <a:r>
              <a:rPr lang="en-US" altLang="zh-CN" dirty="0"/>
              <a:t> $s1,$zero,28</a:t>
            </a:r>
          </a:p>
          <a:p>
            <a:r>
              <a:rPr lang="en-US" altLang="zh-CN" dirty="0"/>
              <a:t>sw $s3, 128($s1)</a:t>
            </a:r>
          </a:p>
          <a:p>
            <a:r>
              <a:rPr lang="en-US" altLang="zh-CN" dirty="0"/>
              <a:t>Add $s0,$zero,$zero</a:t>
            </a:r>
          </a:p>
          <a:p>
            <a:r>
              <a:rPr lang="en-US" altLang="zh-CN" dirty="0" err="1"/>
              <a:t>syscall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88964" y="109817"/>
            <a:ext cx="5878042" cy="334612"/>
          </a:xfrm>
        </p:spPr>
        <p:txBody>
          <a:bodyPr>
            <a:normAutofit fontScale="90000"/>
          </a:bodyPr>
          <a:lstStyle/>
          <a:p>
            <a:r>
              <a:rPr lang="en-US" altLang="zh-CN" sz="2100" dirty="0">
                <a:solidFill>
                  <a:srgbClr val="7030A0"/>
                </a:solidFill>
              </a:rPr>
              <a:t>MIPS Instruction format</a:t>
            </a:r>
            <a:endParaRPr lang="zh-CN" altLang="en-US" sz="2100" dirty="0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593" y="549782"/>
            <a:ext cx="7056784" cy="276715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562691" y="3428169"/>
            <a:ext cx="60186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70C0"/>
                </a:solidFill>
              </a:rPr>
              <a:t>OP=000000..111111;0..63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R-type instruction</a:t>
            </a:r>
            <a:r>
              <a:rPr lang="zh-CN" altLang="en-US" dirty="0">
                <a:solidFill>
                  <a:srgbClr val="0070C0"/>
                </a:solidFill>
              </a:rPr>
              <a:t>：</a:t>
            </a:r>
            <a:r>
              <a:rPr lang="en-US" altLang="zh-CN" dirty="0">
                <a:solidFill>
                  <a:srgbClr val="0070C0"/>
                </a:solidFill>
              </a:rPr>
              <a:t>OP=0,FUNCT=00-43</a:t>
            </a:r>
          </a:p>
          <a:p>
            <a:r>
              <a:rPr lang="en-US" altLang="zh-CN" dirty="0">
                <a:solidFill>
                  <a:srgbClr val="0070C0"/>
                </a:solidFill>
                <a:latin typeface="Algerian" panose="04020705040A02060702" pitchFamily="82" charset="0"/>
              </a:rPr>
              <a:t>I </a:t>
            </a:r>
            <a:r>
              <a:rPr lang="en-US" altLang="zh-CN" dirty="0">
                <a:solidFill>
                  <a:srgbClr val="0070C0"/>
                </a:solidFill>
              </a:rPr>
              <a:t>-type instruction</a:t>
            </a:r>
            <a:r>
              <a:rPr lang="zh-CN" altLang="en-US" dirty="0">
                <a:solidFill>
                  <a:srgbClr val="0070C0"/>
                </a:solidFill>
              </a:rPr>
              <a:t>：</a:t>
            </a:r>
            <a:r>
              <a:rPr lang="en-US" altLang="zh-CN" dirty="0">
                <a:solidFill>
                  <a:srgbClr val="0070C0"/>
                </a:solidFill>
              </a:rPr>
              <a:t>OP=04..43</a:t>
            </a:r>
          </a:p>
          <a:p>
            <a:r>
              <a:rPr lang="en-US" altLang="zh-CN" dirty="0">
                <a:solidFill>
                  <a:srgbClr val="0070C0"/>
                </a:solidFill>
              </a:rPr>
              <a:t>J -type instruction</a:t>
            </a:r>
            <a:r>
              <a:rPr lang="zh-CN" altLang="en-US" dirty="0">
                <a:solidFill>
                  <a:srgbClr val="0070C0"/>
                </a:solidFill>
              </a:rPr>
              <a:t>：</a:t>
            </a:r>
            <a:r>
              <a:rPr lang="en-US" altLang="zh-CN" dirty="0">
                <a:solidFill>
                  <a:srgbClr val="0070C0"/>
                </a:solidFill>
              </a:rPr>
              <a:t>OP=02,03</a:t>
            </a:r>
            <a:endParaRPr lang="zh-CN" alt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内容占位符 4"/>
          <p:cNvGraphicFramePr>
            <a:graphicFrameLocks noGrp="1"/>
          </p:cNvGraphicFramePr>
          <p:nvPr>
            <p:ph idx="1"/>
          </p:nvPr>
        </p:nvGraphicFramePr>
        <p:xfrm>
          <a:off x="1959928" y="48608"/>
          <a:ext cx="5702881" cy="2347528"/>
        </p:xfrm>
        <a:graphic>
          <a:graphicData uri="http://schemas.openxmlformats.org/drawingml/2006/table">
            <a:tbl>
              <a:tblPr/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2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31195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No.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instruction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OpCode</a:t>
                      </a: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FUNCT</a:t>
                      </a: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function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tyoe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19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decimal</a:t>
                      </a: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decimal</a:t>
                      </a:r>
                    </a:p>
                  </a:txBody>
                  <a:tcPr marL="7597" marR="7597" marT="759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BAD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rd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rd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SLT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rd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42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R[rd] = (R[rs] &lt; R[rt]) ? 1 : 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ADDI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+ 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SignExt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LW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35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 = M[R[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]+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SignExt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{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imm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}]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SW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43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M[R[rs]+SignExt{imm}] = R[rt]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346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BEQ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if(R[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]==R[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   PC=PC+4+SignExt({imm,00})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622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BNE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X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if(R[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]!=R[</a:t>
                      </a:r>
                      <a:r>
                        <a:rPr lang="en-US" sz="11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])   PC=PC+4+SignExt({imm,00})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Bahnschrift Light SemiCondensed" panose="020B0502040204020203" pitchFamily="34" charset="0"/>
                        </a:rPr>
                        <a:t>I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195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SYSCALL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停机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0" y="555526"/>
            <a:ext cx="2005677" cy="280076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/>
              <a:t>examples</a:t>
            </a:r>
            <a:r>
              <a:rPr lang="zh-CN" altLang="en-US" sz="1600" dirty="0"/>
              <a:t>：</a:t>
            </a:r>
            <a:endParaRPr lang="en-US" altLang="zh-CN" sz="1600" dirty="0"/>
          </a:p>
          <a:p>
            <a:r>
              <a:rPr lang="zh-CN" altLang="en-US" sz="1600" dirty="0"/>
              <a:t>①</a:t>
            </a:r>
            <a:r>
              <a:rPr lang="en-US" altLang="zh-CN" sz="1600" dirty="0"/>
              <a:t>add $16,$0,$at</a:t>
            </a:r>
          </a:p>
          <a:p>
            <a:r>
              <a:rPr lang="en-US" altLang="zh-CN" sz="1600" dirty="0"/>
              <a:t>0,0,1,16,0,32</a:t>
            </a:r>
          </a:p>
          <a:p>
            <a:r>
              <a:rPr lang="en-US" altLang="zh-CN" sz="1600" dirty="0"/>
              <a:t>000000,00000,00001,</a:t>
            </a:r>
          </a:p>
          <a:p>
            <a:r>
              <a:rPr lang="en-US" altLang="zh-CN" sz="1600" dirty="0"/>
              <a:t>10000,00000,100000</a:t>
            </a:r>
          </a:p>
          <a:p>
            <a:r>
              <a:rPr lang="en-US" altLang="zh-CN" sz="1600" b="1" dirty="0"/>
              <a:t>0x0001,8020</a:t>
            </a:r>
          </a:p>
          <a:p>
            <a:r>
              <a:rPr lang="zh-CN" altLang="en-US" sz="1600" dirty="0">
                <a:latin typeface="等线" panose="02010600030101010101" pitchFamily="2" charset="-122"/>
                <a:ea typeface="等线" panose="02010600030101010101" pitchFamily="2" charset="-122"/>
              </a:rPr>
              <a:t>②</a:t>
            </a:r>
            <a:r>
              <a:rPr lang="en-US" sz="1600" dirty="0" err="1"/>
              <a:t>addi</a:t>
            </a:r>
            <a:r>
              <a:rPr lang="en-US" sz="1600" dirty="0"/>
              <a:t> $s0,$0,-1</a:t>
            </a:r>
          </a:p>
          <a:p>
            <a:r>
              <a:rPr lang="en-US" sz="1600" dirty="0"/>
              <a:t>8</a:t>
            </a:r>
            <a:r>
              <a:rPr lang="en-US" altLang="zh-CN" sz="1600" dirty="0"/>
              <a:t>,0,16,-1</a:t>
            </a:r>
          </a:p>
          <a:p>
            <a:r>
              <a:rPr lang="en-US" sz="1600" dirty="0"/>
              <a:t>001000,00000,10000</a:t>
            </a:r>
          </a:p>
          <a:p>
            <a:r>
              <a:rPr lang="en-US" sz="1600" dirty="0"/>
              <a:t>11111111,11111111</a:t>
            </a:r>
          </a:p>
          <a:p>
            <a:r>
              <a:rPr lang="en-US" sz="1600" b="1" dirty="0">
                <a:solidFill>
                  <a:schemeClr val="tx2"/>
                </a:solidFill>
              </a:rPr>
              <a:t>0x2010,ffff</a:t>
            </a: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8802" y="20048"/>
            <a:ext cx="1371791" cy="5077534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433" y="2435319"/>
            <a:ext cx="3820832" cy="197447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853314" y="4474216"/>
            <a:ext cx="145499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tx2"/>
                </a:solidFill>
              </a:rPr>
              <a:t>General Register Number</a:t>
            </a:r>
            <a:endParaRPr lang="en-US" sz="900" b="1" dirty="0">
              <a:solidFill>
                <a:schemeClr val="tx2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12161" y="2931790"/>
            <a:ext cx="16246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tx2"/>
                </a:solidFill>
              </a:rPr>
              <a:t>8 machine instructions formats and functions</a:t>
            </a:r>
            <a:endParaRPr lang="en-US" sz="900" b="1" dirty="0">
              <a:solidFill>
                <a:schemeClr val="tx2"/>
              </a:solidFill>
            </a:endParaRPr>
          </a:p>
        </p:txBody>
      </p:sp>
      <p:cxnSp>
        <p:nvCxnSpPr>
          <p:cNvPr id="11" name="直接箭头连接符 10"/>
          <p:cNvCxnSpPr>
            <a:stCxn id="2" idx="3"/>
          </p:cNvCxnSpPr>
          <p:nvPr/>
        </p:nvCxnSpPr>
        <p:spPr>
          <a:xfrm flipV="1">
            <a:off x="7308304" y="4011910"/>
            <a:ext cx="374289" cy="577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6438180" y="2402530"/>
            <a:ext cx="321221" cy="5519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15" y="1166"/>
            <a:ext cx="9202072" cy="51423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7903" y="-94146"/>
            <a:ext cx="6772849" cy="994172"/>
          </a:xfrm>
        </p:spPr>
        <p:txBody>
          <a:bodyPr/>
          <a:lstStyle/>
          <a:p>
            <a:r>
              <a:rPr lang="en-US" altLang="zh-CN" b="1" dirty="0" err="1"/>
              <a:t>Alu_op</a:t>
            </a:r>
            <a:r>
              <a:rPr lang="en-US" altLang="zh-CN" b="1" dirty="0"/>
              <a:t> signal</a:t>
            </a:r>
            <a:endParaRPr lang="zh-CN" altLang="en-US" b="1" dirty="0"/>
          </a:p>
        </p:txBody>
      </p:sp>
      <p:pic>
        <p:nvPicPr>
          <p:cNvPr id="7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491" y="728119"/>
            <a:ext cx="9095509" cy="42919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-21766"/>
            <a:ext cx="9144000" cy="513457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文本框 4"/>
          <p:cNvSpPr txBox="1"/>
          <p:nvPr/>
        </p:nvSpPr>
        <p:spPr>
          <a:xfrm>
            <a:off x="-27750" y="4693769"/>
            <a:ext cx="907300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</a:rPr>
              <a:t>MIPS assembly simulation tool MARS. Note that the instruction memory (TEXT field) and data memory (DATA field) in the </a:t>
            </a:r>
            <a:r>
              <a:rPr lang="en-US" altLang="zh-CN" sz="1200" dirty="0" err="1">
                <a:solidFill>
                  <a:schemeClr val="tx2">
                    <a:lumMod val="75000"/>
                  </a:schemeClr>
                </a:solidFill>
              </a:rPr>
              <a:t>Haval</a:t>
            </a:r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</a:rPr>
              <a:t> structure are separated, and the starting address can be set</a:t>
            </a:r>
            <a:r>
              <a:rPr lang="zh-CN" altLang="en-US" sz="1200" dirty="0">
                <a:solidFill>
                  <a:schemeClr val="tx2">
                    <a:lumMod val="75000"/>
                  </a:schemeClr>
                </a:solidFill>
              </a:rPr>
              <a:t>；</a:t>
            </a:r>
            <a:r>
              <a:rPr lang="en-US" altLang="zh-CN" sz="1200" dirty="0">
                <a:solidFill>
                  <a:schemeClr val="tx2">
                    <a:lumMod val="75000"/>
                  </a:schemeClr>
                </a:solidFill>
                <a:hlinkClick r:id="rId3" action="ppaction://hlinkfile"/>
              </a:rPr>
              <a:t>https://www.bilibili.com/video/BV1au411y7qq</a:t>
            </a:r>
            <a:endParaRPr lang="en-US" altLang="zh-CN" sz="12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" y="0"/>
            <a:ext cx="9082991" cy="471354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457200" y="3435846"/>
            <a:ext cx="7211144" cy="72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4196551" y="1986246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1239590" y="549951"/>
            <a:ext cx="33843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accent2"/>
                </a:solidFill>
              </a:rPr>
              <a:t>code segment,</a:t>
            </a:r>
            <a:r>
              <a:rPr lang="zh-CN" altLang="en-US" sz="900" dirty="0">
                <a:solidFill>
                  <a:schemeClr val="accent2"/>
                </a:solidFill>
              </a:rPr>
              <a:t>  </a:t>
            </a:r>
            <a:r>
              <a:rPr lang="en-US" altLang="zh-CN" sz="900" dirty="0">
                <a:solidFill>
                  <a:schemeClr val="accent2"/>
                </a:solidFill>
              </a:rPr>
              <a:t>Byte </a:t>
            </a:r>
            <a:r>
              <a:rPr lang="en-US" altLang="zh-CN" sz="900" dirty="0" err="1">
                <a:solidFill>
                  <a:schemeClr val="accent2"/>
                </a:solidFill>
              </a:rPr>
              <a:t>addr</a:t>
            </a:r>
            <a:r>
              <a:rPr lang="en-US" altLang="zh-CN" sz="900" dirty="0">
                <a:solidFill>
                  <a:schemeClr val="accent2"/>
                </a:solidFill>
              </a:rPr>
              <a:t>,</a:t>
            </a:r>
            <a:r>
              <a:rPr lang="zh-CN" altLang="en-US" sz="900" dirty="0">
                <a:solidFill>
                  <a:schemeClr val="accent2"/>
                </a:solidFill>
              </a:rPr>
              <a:t>  </a:t>
            </a:r>
            <a:r>
              <a:rPr lang="en-US" altLang="zh-CN" sz="900" dirty="0">
                <a:solidFill>
                  <a:schemeClr val="accent2"/>
                </a:solidFill>
              </a:rPr>
              <a:t>instruction,</a:t>
            </a:r>
            <a:r>
              <a:rPr lang="zh-CN" altLang="en-US" sz="900" dirty="0">
                <a:solidFill>
                  <a:schemeClr val="accent2"/>
                </a:solidFill>
              </a:rPr>
              <a:t>  </a:t>
            </a:r>
            <a:r>
              <a:rPr lang="en-US" altLang="zh-CN" sz="900" dirty="0">
                <a:solidFill>
                  <a:schemeClr val="accent2"/>
                </a:solidFill>
              </a:rPr>
              <a:t>assembler</a:t>
            </a:r>
            <a:r>
              <a:rPr lang="zh-CN" altLang="en-US" sz="900" dirty="0">
                <a:solidFill>
                  <a:schemeClr val="accent2"/>
                </a:solidFill>
              </a:rPr>
              <a:t>  </a:t>
            </a:r>
            <a:r>
              <a:rPr lang="en-US" altLang="zh-CN" sz="900" dirty="0">
                <a:solidFill>
                  <a:schemeClr val="accent2"/>
                </a:solidFill>
              </a:rPr>
              <a:t>instruction</a:t>
            </a:r>
            <a:endParaRPr lang="en-US" sz="900" dirty="0">
              <a:solidFill>
                <a:schemeClr val="accent2"/>
              </a:solidFill>
            </a:endParaRPr>
          </a:p>
        </p:txBody>
      </p:sp>
      <p:cxnSp>
        <p:nvCxnSpPr>
          <p:cNvPr id="10" name="直接箭头连接符 9"/>
          <p:cNvCxnSpPr>
            <a:stCxn id="7" idx="1"/>
          </p:cNvCxnSpPr>
          <p:nvPr/>
        </p:nvCxnSpPr>
        <p:spPr>
          <a:xfrm flipH="1">
            <a:off x="519512" y="665367"/>
            <a:ext cx="720078" cy="115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>
            <a:off x="715900" y="719222"/>
            <a:ext cx="1457847" cy="2816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>
            <a:off x="1120788" y="705246"/>
            <a:ext cx="1632581" cy="3017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1970872" y="713127"/>
            <a:ext cx="1609406" cy="2877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>
            <a:off x="2520280" y="738344"/>
            <a:ext cx="1115616" cy="2553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1069590" y="2455402"/>
            <a:ext cx="595068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accent2"/>
                </a:solidFill>
              </a:rPr>
              <a:t>data segment</a:t>
            </a:r>
            <a:r>
              <a:rPr lang="zh-CN" altLang="en-US" sz="900" dirty="0">
                <a:solidFill>
                  <a:schemeClr val="accent2"/>
                </a:solidFill>
              </a:rPr>
              <a:t>               </a:t>
            </a:r>
            <a:r>
              <a:rPr lang="en-US" altLang="zh-CN" sz="900" dirty="0">
                <a:solidFill>
                  <a:schemeClr val="accent2"/>
                </a:solidFill>
              </a:rPr>
              <a:t>Base Address</a:t>
            </a:r>
            <a:r>
              <a:rPr lang="zh-CN" altLang="en-US" sz="900" dirty="0">
                <a:solidFill>
                  <a:schemeClr val="accent2"/>
                </a:solidFill>
              </a:rPr>
              <a:t>                    </a:t>
            </a:r>
            <a:r>
              <a:rPr lang="en-US" altLang="zh-CN" sz="900" dirty="0">
                <a:solidFill>
                  <a:schemeClr val="accent2"/>
                </a:solidFill>
              </a:rPr>
              <a:t>offset</a:t>
            </a:r>
            <a:r>
              <a:rPr lang="zh-CN" altLang="en-US" sz="900" dirty="0">
                <a:solidFill>
                  <a:schemeClr val="accent2"/>
                </a:solidFill>
              </a:rPr>
              <a:t>       </a:t>
            </a:r>
            <a:r>
              <a:rPr lang="en-US" altLang="zh-CN" sz="900" dirty="0">
                <a:solidFill>
                  <a:schemeClr val="accent2"/>
                </a:solidFill>
              </a:rPr>
              <a:t>Value</a:t>
            </a:r>
            <a:r>
              <a:rPr lang="zh-CN" altLang="en-US" sz="900" dirty="0">
                <a:solidFill>
                  <a:schemeClr val="accent2"/>
                </a:solidFill>
              </a:rPr>
              <a:t>                                    </a:t>
            </a:r>
            <a:r>
              <a:rPr lang="en-US" altLang="zh-CN" sz="900" dirty="0" err="1">
                <a:solidFill>
                  <a:schemeClr val="accent2"/>
                </a:solidFill>
              </a:rPr>
              <a:t>sort.hex</a:t>
            </a:r>
            <a:r>
              <a:rPr lang="en-US" altLang="zh-CN" sz="900" dirty="0">
                <a:solidFill>
                  <a:schemeClr val="accent2"/>
                </a:solidFill>
              </a:rPr>
              <a:t> results</a:t>
            </a:r>
            <a:endParaRPr lang="en-US" sz="900" dirty="0">
              <a:solidFill>
                <a:schemeClr val="accent2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715900" y="2571750"/>
            <a:ext cx="365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899592" y="2571750"/>
            <a:ext cx="1152128" cy="26541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H="1">
            <a:off x="3203848" y="2571750"/>
            <a:ext cx="180573" cy="115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3964727" y="2571750"/>
            <a:ext cx="786785" cy="3735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5308471" y="2652510"/>
            <a:ext cx="33665" cy="7833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2394673" y="4238889"/>
            <a:ext cx="46719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C0504D"/>
                </a:solidFill>
                <a:latin typeface="Calibri" panose="020F0502020204030204"/>
                <a:ea typeface="宋体" panose="02010600030101010101" pitchFamily="2" charset="-122"/>
              </a:rPr>
              <a:t>Message         </a:t>
            </a:r>
            <a:r>
              <a:rPr lang="en-US" altLang="zh-CN" sz="900" dirty="0">
                <a:solidFill>
                  <a:srgbClr val="C0504D"/>
                </a:solidFill>
              </a:rPr>
              <a:t>Value Display Method</a:t>
            </a:r>
            <a:endParaRPr lang="en-US" dirty="0"/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3707904" y="4155926"/>
            <a:ext cx="720080" cy="1263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1887441" y="4418490"/>
            <a:ext cx="584448" cy="1709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0" name="图片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5284" y="731289"/>
            <a:ext cx="356404" cy="124741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7360110" y="183890"/>
            <a:ext cx="178389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900" dirty="0">
                <a:solidFill>
                  <a:srgbClr val="C0504D"/>
                </a:solidFill>
              </a:rPr>
              <a:t>Register alias</a:t>
            </a:r>
            <a:r>
              <a:rPr lang="zh-CN" altLang="en-US" sz="900" dirty="0">
                <a:solidFill>
                  <a:srgbClr val="C0504D"/>
                </a:solidFill>
              </a:rPr>
              <a:t>，</a:t>
            </a:r>
            <a:r>
              <a:rPr lang="en-US" altLang="zh-CN" sz="900" dirty="0">
                <a:solidFill>
                  <a:srgbClr val="C0504D"/>
                </a:solidFill>
              </a:rPr>
              <a:t> number </a:t>
            </a:r>
            <a:r>
              <a:rPr lang="zh-CN" altLang="en-US" sz="900" dirty="0">
                <a:solidFill>
                  <a:srgbClr val="C0504D"/>
                </a:solidFill>
              </a:rPr>
              <a:t>，</a:t>
            </a:r>
            <a:r>
              <a:rPr lang="en-US" altLang="zh-CN" sz="900" dirty="0">
                <a:solidFill>
                  <a:srgbClr val="C0504D"/>
                </a:solidFill>
              </a:rPr>
              <a:t>value</a:t>
            </a:r>
            <a:endParaRPr lang="en-US" dirty="0"/>
          </a:p>
        </p:txBody>
      </p:sp>
      <p:cxnSp>
        <p:nvCxnSpPr>
          <p:cNvPr id="52" name="直接箭头连接符 51"/>
          <p:cNvCxnSpPr/>
          <p:nvPr/>
        </p:nvCxnSpPr>
        <p:spPr>
          <a:xfrm>
            <a:off x="7884368" y="409361"/>
            <a:ext cx="177486" cy="342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8460432" y="367257"/>
            <a:ext cx="144016" cy="3695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8895727" y="409361"/>
            <a:ext cx="0" cy="3273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3313783" y="51470"/>
            <a:ext cx="57142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MARS</a:t>
            </a:r>
            <a:r>
              <a:rPr lang="zh-CN" altLang="en-US" sz="1600" dirty="0"/>
              <a:t>、</a:t>
            </a:r>
            <a:r>
              <a:rPr lang="en-US" altLang="zh-CN" sz="1600" dirty="0"/>
              <a:t>assembly</a:t>
            </a:r>
            <a:r>
              <a:rPr lang="zh-CN" altLang="en-US" sz="1600" dirty="0"/>
              <a:t>、</a:t>
            </a:r>
            <a:r>
              <a:rPr lang="en-US" altLang="zh-CN" sz="1600" dirty="0"/>
              <a:t> go</a:t>
            </a:r>
            <a:r>
              <a:rPr lang="zh-CN" altLang="en-US" sz="1600" dirty="0"/>
              <a:t>、</a:t>
            </a:r>
            <a:r>
              <a:rPr lang="en-US" altLang="zh-CN" sz="1600" dirty="0"/>
              <a:t> and step can debug and run </a:t>
            </a:r>
            <a:r>
              <a:rPr lang="en-US" altLang="zh-CN" sz="1600" dirty="0" err="1"/>
              <a:t>instructions,Dump</a:t>
            </a:r>
            <a:r>
              <a:rPr lang="en-US" altLang="zh-CN" sz="1600" dirty="0"/>
              <a:t> memory converts machine language programs in memory into a hexadecimal file *.hex, which can be loaded into Logisim's ROM for execution by the MIPS CPU (pay attention to the address range)</a:t>
            </a:r>
            <a:endParaRPr lang="zh-CN" altLang="en-US" sz="1600" dirty="0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136004"/>
            <a:ext cx="3010320" cy="4784744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5328" y="3309783"/>
            <a:ext cx="3331372" cy="167666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7473" y="1511064"/>
            <a:ext cx="2572109" cy="142894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846" y="1215773"/>
            <a:ext cx="2883634" cy="201953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DAB4D9A0-E2D5-4E63-8FD0-211313377EE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996712"/>
            <a:ext cx="6704457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purpose of the MIPS assembly simulation tool MARS?</a:t>
            </a:r>
            <a:endParaRPr lang="zh-CN" altLang="en-US" sz="25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7C11031-2FBA-42C0-8F90-5DB71997D914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089547"/>
            <a:ext cx="5914771" cy="553998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debug and run instructions, and convert machine language programs into hexadecimal files</a:t>
            </a:r>
            <a:endParaRPr lang="zh-CN" altLang="en-US" sz="15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22ADEC1A-7514-4A39-A773-A28E9FF0785C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78719" y="2137767"/>
            <a:ext cx="385762" cy="385763"/>
          </a:xfrm>
          <a:prstGeom prst="ellipse">
            <a:avLst/>
          </a:prstGeom>
          <a:solidFill>
            <a:srgbClr val="00FF0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48F3F91-21CE-46BA-8EF6-49F7F3EA790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2732484"/>
            <a:ext cx="4818253" cy="384721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9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design hardware for MIPS processors</a:t>
            </a:r>
            <a:endParaRPr lang="zh-CN" altLang="en-US" sz="19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AC97C5C-91A5-462D-BCE7-28C110A23221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780705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687EF7D-C2D6-4D1B-9361-D0C3148EB47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3375422"/>
            <a:ext cx="5809044" cy="369332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simulate the behavior of a multi-cycle MIPS CPU</a:t>
            </a:r>
            <a:endParaRPr lang="zh-CN" altLang="en-US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B751A475-157B-4EE5-A7F9-4ADF8941D47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3423642"/>
            <a:ext cx="385762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B8572A5E-4487-4079-AC0B-4C08FC4D1F0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28800" y="4082489"/>
            <a:ext cx="5992051" cy="353943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7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create graphical representations of MIPS instructions</a:t>
            </a:r>
            <a:endParaRPr lang="zh-CN" altLang="en-US" sz="17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F890147C-9550-45E2-A450-FDB06B678498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78719" y="4066580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546FD6E-C1D6-4845-835B-B30DDE904813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EB4B784F-F5EB-4181-867D-69589CB42FF7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06CF0703-D22F-407D-962F-86B7ECD25063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D266A1C9-B66D-4338-BDB5-42C6ADDDD3B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975B2C44-FAAE-45AD-BA59-1CA482A7A6C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A94DCDFC-0F1E-4B5E-8F90-6CB922FDE5E6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E27F006A-E959-4D9D-BF8E-73C0BE758D97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09840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" y="615032"/>
            <a:ext cx="8651304" cy="426205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zh-CN" altLang="en-US" sz="1800" dirty="0"/>
              <a:t>一、</a:t>
            </a:r>
            <a:r>
              <a:rPr lang="en-US" altLang="zh-CN" sz="1800" dirty="0"/>
              <a:t>self-study https://www.icourse163.org/course/HUST-1205809816 Chapter 6</a:t>
            </a:r>
          </a:p>
          <a:p>
            <a:pPr marL="0" indent="0">
              <a:buNone/>
            </a:pPr>
            <a:r>
              <a:rPr lang="en-US" altLang="zh-CN" sz="1800" dirty="0"/>
              <a:t>      6.1</a:t>
            </a:r>
            <a:r>
              <a:rPr lang="zh-CN" altLang="en-US" sz="1800" dirty="0"/>
              <a:t>、</a:t>
            </a:r>
            <a:r>
              <a:rPr lang="en-US" altLang="zh-CN" sz="1800" dirty="0"/>
              <a:t>Single cycle MIPS framework</a:t>
            </a:r>
          </a:p>
          <a:p>
            <a:pPr marL="0" indent="0">
              <a:buNone/>
            </a:pPr>
            <a:r>
              <a:rPr lang="en-US" altLang="zh-CN" sz="1800" dirty="0"/>
              <a:t>      6.3</a:t>
            </a:r>
            <a:r>
              <a:rPr lang="zh-CN" altLang="en-US" sz="1800" dirty="0"/>
              <a:t>、</a:t>
            </a:r>
            <a:r>
              <a:rPr lang="en-US" altLang="zh-CN" sz="1800" dirty="0"/>
              <a:t>Single cycle MIPS CPU design (8 instructions)</a:t>
            </a:r>
          </a:p>
          <a:p>
            <a:pPr marL="0" indent="0">
              <a:buNone/>
            </a:pPr>
            <a:r>
              <a:rPr lang="zh-CN" altLang="en-US" sz="1800" dirty="0"/>
              <a:t>二、</a:t>
            </a:r>
            <a:r>
              <a:rPr lang="en-US" altLang="zh-CN" sz="1800" dirty="0">
                <a:latin typeface="华文新魏" panose="02010800040101010101" pitchFamily="2" charset="-122"/>
                <a:ea typeface="华文新魏" panose="02010800040101010101" pitchFamily="2" charset="-122"/>
              </a:rPr>
              <a:t>Self study Chapter 5  P87-P90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三、</a:t>
            </a:r>
            <a:r>
              <a:rPr lang="en-US" altLang="zh-CN" sz="1800" dirty="0"/>
              <a:t>Refer to the textbook 5.3 ,Single cycle MIPS processor design experiment in the  template file, </a:t>
            </a:r>
            <a:r>
              <a:rPr lang="en-US" altLang="zh-CN" sz="1800" dirty="0" err="1"/>
              <a:t>Verificate</a:t>
            </a:r>
            <a:r>
              <a:rPr lang="en-US" altLang="zh-CN" sz="1800" dirty="0"/>
              <a:t> on TOUGE platform:      </a:t>
            </a:r>
          </a:p>
          <a:p>
            <a:pPr marL="0" indent="0">
              <a:buNone/>
            </a:pPr>
            <a:r>
              <a:rPr lang="en-US" altLang="zh-CN" sz="1800" dirty="0"/>
              <a:t>      1</a:t>
            </a:r>
            <a:r>
              <a:rPr lang="zh-CN" altLang="en-US" sz="1800" dirty="0"/>
              <a:t>、</a:t>
            </a:r>
            <a:r>
              <a:rPr lang="en-US" altLang="zh-CN" sz="1800" dirty="0"/>
              <a:t>Single cycle hardwired controller</a:t>
            </a:r>
          </a:p>
          <a:p>
            <a:pPr marL="0" indent="0">
              <a:buNone/>
            </a:pPr>
            <a:r>
              <a:rPr lang="en-US" altLang="zh-CN" sz="1800" dirty="0"/>
              <a:t>      2</a:t>
            </a:r>
            <a:r>
              <a:rPr lang="zh-CN" altLang="en-US" sz="1800" dirty="0"/>
              <a:t>、</a:t>
            </a:r>
            <a:r>
              <a:rPr lang="en-US" altLang="zh-CN" sz="1800" dirty="0"/>
              <a:t>Single cycle MIPS (hard wired)</a:t>
            </a:r>
          </a:p>
          <a:p>
            <a:pPr marL="0" indent="0">
              <a:buNone/>
            </a:pPr>
            <a:r>
              <a:rPr lang="en-US" altLang="zh-CN" sz="1800" dirty="0"/>
              <a:t>      3</a:t>
            </a:r>
            <a:r>
              <a:rPr lang="zh-CN" altLang="en-US" sz="1800" dirty="0"/>
              <a:t>、</a:t>
            </a:r>
            <a:r>
              <a:rPr lang="en-US" altLang="zh-CN" sz="1800" dirty="0"/>
              <a:t>Run successful test </a:t>
            </a:r>
            <a:r>
              <a:rPr lang="en-US" altLang="zh-CN" sz="1800" dirty="0" err="1"/>
              <a:t>program:sort.hex</a:t>
            </a:r>
            <a:endParaRPr lang="en-US" altLang="zh-CN" sz="1800" dirty="0"/>
          </a:p>
          <a:p>
            <a:pPr marL="0" indent="0">
              <a:buNone/>
            </a:pPr>
            <a:r>
              <a:rPr lang="zh-CN" altLang="en-US" sz="1800" dirty="0"/>
              <a:t>四、</a:t>
            </a:r>
            <a:r>
              <a:rPr lang="en-US" altLang="zh-CN" sz="1800" dirty="0"/>
              <a:t>Instruction Extension</a:t>
            </a:r>
          </a:p>
          <a:p>
            <a:pPr>
              <a:buAutoNum type="arabicPeriod"/>
            </a:pPr>
            <a:r>
              <a:rPr lang="en-US" altLang="zh-CN" sz="1800" dirty="0"/>
              <a:t> Implement verification and instructions</a:t>
            </a:r>
          </a:p>
          <a:p>
            <a:pPr>
              <a:buAutoNum type="arabicPeriod"/>
            </a:pPr>
            <a:r>
              <a:rPr lang="en-US" altLang="zh-CN" sz="1800" dirty="0"/>
              <a:t> Implement verification </a:t>
            </a:r>
            <a:r>
              <a:rPr lang="en-US" altLang="zh-CN" sz="1800" dirty="0" err="1"/>
              <a:t>andi</a:t>
            </a:r>
            <a:r>
              <a:rPr lang="en-US" altLang="zh-CN" sz="1800" dirty="0"/>
              <a:t> instructions</a:t>
            </a:r>
          </a:p>
          <a:p>
            <a:pPr>
              <a:buAutoNum type="arabicPeriod"/>
            </a:pPr>
            <a:r>
              <a:rPr lang="en-US" altLang="zh-CN" sz="1800" dirty="0"/>
              <a:t> Implement verification j instruction</a:t>
            </a:r>
          </a:p>
          <a:p>
            <a:pPr marL="0" indent="0">
              <a:buNone/>
            </a:pPr>
            <a:r>
              <a:rPr lang="en-US" altLang="zh-CN" sz="2000" dirty="0"/>
              <a:t>Other R</a:t>
            </a:r>
            <a:r>
              <a:rPr lang="zh-CN" altLang="en-US" sz="2000" dirty="0"/>
              <a:t>、</a:t>
            </a:r>
            <a:r>
              <a:rPr lang="en-US" altLang="zh-CN" sz="2000" dirty="0"/>
              <a:t>I</a:t>
            </a:r>
            <a:r>
              <a:rPr lang="zh-CN" altLang="en-US" sz="2000" dirty="0"/>
              <a:t>、</a:t>
            </a:r>
            <a:r>
              <a:rPr lang="en-US" altLang="zh-CN" sz="2000" dirty="0"/>
              <a:t>J type instructions can also be used</a:t>
            </a:r>
          </a:p>
          <a:p>
            <a:endParaRPr lang="zh-CN" altLang="en-US" sz="2000" dirty="0"/>
          </a:p>
        </p:txBody>
      </p:sp>
      <p:sp>
        <p:nvSpPr>
          <p:cNvPr id="5" name="文本框 4"/>
          <p:cNvSpPr txBox="1"/>
          <p:nvPr/>
        </p:nvSpPr>
        <p:spPr>
          <a:xfrm>
            <a:off x="251520" y="100379"/>
            <a:ext cx="84969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US" altLang="zh-CN" sz="2800" b="1" dirty="0">
                <a:solidFill>
                  <a:prstClr val="black"/>
                </a:solidFill>
                <a:latin typeface="隶书" panose="02010509060101010101" charset="-122"/>
                <a:ea typeface="隶书" panose="02010509060101010101" charset="-122"/>
              </a:rPr>
              <a:t>Part 2: Single cycle MIPS CPU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隶书" panose="02010509060101010101" charset="-122"/>
              <a:ea typeface="隶书" panose="02010509060101010101" charset="-122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Box 5" hidden="1"/>
          <p:cNvSpPr txBox="1">
            <a:spLocks noChangeArrowheads="1"/>
          </p:cNvSpPr>
          <p:nvPr/>
        </p:nvSpPr>
        <p:spPr bwMode="auto">
          <a:xfrm>
            <a:off x="2597944" y="1465660"/>
            <a:ext cx="14573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3315" name="矩形 6" hidden="1"/>
          <p:cNvSpPr>
            <a:spLocks noChangeArrowheads="1"/>
          </p:cNvSpPr>
          <p:nvPr/>
        </p:nvSpPr>
        <p:spPr bwMode="auto">
          <a:xfrm>
            <a:off x="2597944" y="2269331"/>
            <a:ext cx="110371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3316" name="矩形 7" hidden="1"/>
          <p:cNvSpPr>
            <a:spLocks noChangeArrowheads="1"/>
          </p:cNvSpPr>
          <p:nvPr/>
        </p:nvSpPr>
        <p:spPr bwMode="auto">
          <a:xfrm>
            <a:off x="2651522" y="3180160"/>
            <a:ext cx="110370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3317" name="矩形 8" hidden="1"/>
          <p:cNvSpPr>
            <a:spLocks noChangeArrowheads="1"/>
          </p:cNvSpPr>
          <p:nvPr/>
        </p:nvSpPr>
        <p:spPr bwMode="auto">
          <a:xfrm>
            <a:off x="2651522" y="4144566"/>
            <a:ext cx="110370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494235" y="913210"/>
            <a:ext cx="6318647" cy="50783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4bit D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Register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use device library and modification of device parameters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Be familiar with the use of CLK pin of sequential circuit.</a:t>
            </a:r>
            <a:endParaRPr lang="zh-CN" altLang="en-US" sz="1350" b="1" dirty="0">
              <a:solidFill>
                <a:prstClr val="black"/>
              </a:solidFill>
              <a:effectLst>
                <a:outerShdw blurRad="457200" dist="50800" dir="5400000" algn="ctr" rotWithShape="0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五边形 31"/>
          <p:cNvSpPr/>
          <p:nvPr/>
        </p:nvSpPr>
        <p:spPr>
          <a:xfrm>
            <a:off x="1601391" y="303610"/>
            <a:ext cx="2394545" cy="364331"/>
          </a:xfrm>
          <a:prstGeom prst="homePlate">
            <a:avLst/>
          </a:prstGeom>
          <a:solidFill>
            <a:srgbClr val="907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3320" name="矩形 22"/>
          <p:cNvSpPr>
            <a:spLocks noChangeArrowheads="1"/>
          </p:cNvSpPr>
          <p:nvPr/>
        </p:nvSpPr>
        <p:spPr bwMode="auto">
          <a:xfrm>
            <a:off x="1709543" y="375077"/>
            <a:ext cx="572491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4bit/16bit D Register</a:t>
            </a:r>
            <a:endParaRPr lang="zh-CN" altLang="en-US" sz="13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322" name="图片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5278" y="1437085"/>
            <a:ext cx="3119910" cy="3294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235" y="1491630"/>
            <a:ext cx="1554615" cy="3509314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C9828DEC-4B5D-4281-AD54-FE6B238C0279}"/>
              </a:ext>
            </a:extLst>
          </p:cNvPr>
          <p:cNvSpPr/>
          <p:nvPr/>
        </p:nvSpPr>
        <p:spPr>
          <a:xfrm>
            <a:off x="6674108" y="1977684"/>
            <a:ext cx="118494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5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Current state</a:t>
            </a:r>
            <a:endParaRPr lang="zh-CN" altLang="en-US" sz="135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5BF1EC-724B-4CFA-B0D3-E56A840EB0B2}"/>
              </a:ext>
            </a:extLst>
          </p:cNvPr>
          <p:cNvSpPr/>
          <p:nvPr/>
        </p:nvSpPr>
        <p:spPr>
          <a:xfrm>
            <a:off x="4095278" y="1549321"/>
            <a:ext cx="963725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5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Next state</a:t>
            </a:r>
            <a:endParaRPr lang="zh-CN" altLang="en-US" sz="1350" dirty="0">
              <a:solidFill>
                <a:srgbClr val="FF00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Box 5" hidden="1"/>
          <p:cNvSpPr txBox="1">
            <a:spLocks noChangeArrowheads="1"/>
          </p:cNvSpPr>
          <p:nvPr/>
        </p:nvSpPr>
        <p:spPr bwMode="auto">
          <a:xfrm>
            <a:off x="2597944" y="1465660"/>
            <a:ext cx="1457325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5363" name="矩形 6" hidden="1"/>
          <p:cNvSpPr>
            <a:spLocks noChangeArrowheads="1"/>
          </p:cNvSpPr>
          <p:nvPr/>
        </p:nvSpPr>
        <p:spPr bwMode="auto">
          <a:xfrm>
            <a:off x="2597944" y="2269331"/>
            <a:ext cx="1103710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5364" name="矩形 7" hidden="1"/>
          <p:cNvSpPr>
            <a:spLocks noChangeArrowheads="1"/>
          </p:cNvSpPr>
          <p:nvPr/>
        </p:nvSpPr>
        <p:spPr bwMode="auto">
          <a:xfrm>
            <a:off x="2651522" y="3180160"/>
            <a:ext cx="110370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5365" name="矩形 8" hidden="1"/>
          <p:cNvSpPr>
            <a:spLocks noChangeArrowheads="1"/>
          </p:cNvSpPr>
          <p:nvPr/>
        </p:nvSpPr>
        <p:spPr bwMode="auto">
          <a:xfrm>
            <a:off x="2651522" y="4144566"/>
            <a:ext cx="1103709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 sz="135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点击添加文本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1456777" y="584454"/>
            <a:ext cx="6230447" cy="7155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1-digit decimal counter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FSM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FSM(Finite state machine)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Status register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State transition  Combined circuit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Output  Combined circuit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；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877610" y="150145"/>
            <a:ext cx="4374356" cy="3000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16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位</a:t>
            </a:r>
            <a:r>
              <a:rPr lang="en-US" altLang="zh-CN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D</a:t>
            </a:r>
            <a:r>
              <a:rPr lang="zh-CN" altLang="en-US" sz="1350" b="1" dirty="0">
                <a:solidFill>
                  <a:prstClr val="black"/>
                </a:solidFill>
                <a:effectLst>
                  <a:outerShdw blurRad="457200" dist="50800" dir="5400000" algn="ctr" rotWithShape="0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</a:rPr>
              <a:t>寄存器：熟悉时序电路的封装和调用</a:t>
            </a:r>
          </a:p>
        </p:txBody>
      </p:sp>
      <p:sp>
        <p:nvSpPr>
          <p:cNvPr id="13" name="五边形 31"/>
          <p:cNvSpPr/>
          <p:nvPr/>
        </p:nvSpPr>
        <p:spPr>
          <a:xfrm>
            <a:off x="1456776" y="150146"/>
            <a:ext cx="5724915" cy="364331"/>
          </a:xfrm>
          <a:prstGeom prst="homePlate">
            <a:avLst/>
          </a:prstGeom>
          <a:solidFill>
            <a:srgbClr val="9078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anchor="ctr"/>
          <a:lstStyle/>
          <a:p>
            <a:pPr algn="ctr" defTabSz="68580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350" dirty="0">
              <a:solidFill>
                <a:prstClr val="white"/>
              </a:solidFill>
              <a:latin typeface="Calibri"/>
              <a:ea typeface="宋体" panose="02010600030101010101" pitchFamily="2" charset="-122"/>
            </a:endParaRPr>
          </a:p>
        </p:txBody>
      </p:sp>
      <p:sp>
        <p:nvSpPr>
          <p:cNvPr id="14" name="矩形 22"/>
          <p:cNvSpPr>
            <a:spLocks noChangeArrowheads="1"/>
          </p:cNvSpPr>
          <p:nvPr/>
        </p:nvSpPr>
        <p:spPr bwMode="auto">
          <a:xfrm>
            <a:off x="1477216" y="221613"/>
            <a:ext cx="5724914" cy="3000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defTabSz="68580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zh-CN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4bit/16bit D Register</a:t>
            </a:r>
            <a:r>
              <a:rPr lang="zh-CN" altLang="en-US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BCD Counter</a:t>
            </a:r>
            <a:r>
              <a:rPr lang="zh-CN" altLang="en-US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35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4-digit decimal counter</a:t>
            </a:r>
            <a:endParaRPr lang="zh-CN" altLang="en-US" sz="1350" dirty="0">
              <a:solidFill>
                <a:prstClr val="black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470083" y="1354047"/>
            <a:ext cx="5400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第一类，若输出逻辑只和状态有关而与输入无关，则称为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Moore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</a:p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第二类，输出逻辑不仅和状态有关而且和输入有关系，则称为</a:t>
            </a:r>
            <a:r>
              <a:rPr lang="en-US" altLang="zh-CN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Mealy</a:t>
            </a:r>
            <a:r>
              <a:rPr lang="zh-CN" altLang="en-US" sz="120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427" y="1873244"/>
            <a:ext cx="5897147" cy="2399705"/>
          </a:xfrm>
          <a:prstGeom prst="rect">
            <a:avLst/>
          </a:prstGeom>
          <a:effectLst>
            <a:outerShdw algn="ctr" rotWithShape="0">
              <a:srgbClr val="000000">
                <a:alpha val="43137"/>
              </a:srgbClr>
            </a:outerShdw>
          </a:effectLst>
        </p:spPr>
      </p:pic>
      <p:sp>
        <p:nvSpPr>
          <p:cNvPr id="4" name="矩形 3"/>
          <p:cNvSpPr/>
          <p:nvPr/>
        </p:nvSpPr>
        <p:spPr>
          <a:xfrm>
            <a:off x="2627784" y="2733768"/>
            <a:ext cx="579005" cy="30008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50" b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转 换</a:t>
            </a:r>
          </a:p>
        </p:txBody>
      </p:sp>
      <p:sp>
        <p:nvSpPr>
          <p:cNvPr id="5" name="矩形 4"/>
          <p:cNvSpPr/>
          <p:nvPr/>
        </p:nvSpPr>
        <p:spPr>
          <a:xfrm>
            <a:off x="5760132" y="3503358"/>
            <a:ext cx="12234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5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组合逻辑电路</a:t>
            </a:r>
          </a:p>
        </p:txBody>
      </p:sp>
      <p:sp>
        <p:nvSpPr>
          <p:cNvPr id="15" name="矩形 14"/>
          <p:cNvSpPr/>
          <p:nvPr/>
        </p:nvSpPr>
        <p:spPr>
          <a:xfrm>
            <a:off x="2305580" y="3503358"/>
            <a:ext cx="122341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135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组合逻辑电路</a:t>
            </a:r>
          </a:p>
        </p:txBody>
      </p:sp>
      <p:sp>
        <p:nvSpPr>
          <p:cNvPr id="6" name="矩形 5"/>
          <p:cNvSpPr/>
          <p:nvPr/>
        </p:nvSpPr>
        <p:spPr>
          <a:xfrm>
            <a:off x="3997804" y="4215065"/>
            <a:ext cx="1194558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135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Moore</a:t>
            </a:r>
            <a:r>
              <a:rPr lang="zh-CN" altLang="en-US" sz="135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状态机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4" y="740644"/>
            <a:ext cx="8791344" cy="44028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224" y="88429"/>
            <a:ext cx="8229600" cy="343296"/>
          </a:xfrm>
        </p:spPr>
        <p:txBody>
          <a:bodyPr>
            <a:normAutofit fontScale="90000"/>
          </a:bodyPr>
          <a:lstStyle/>
          <a:p>
            <a:r>
              <a:rPr lang="zh-CN" altLang="en-US" sz="2400" dirty="0">
                <a:solidFill>
                  <a:srgbClr val="7030A0"/>
                </a:solidFill>
              </a:rPr>
              <a:t>计算机总结构图</a:t>
            </a:r>
          </a:p>
        </p:txBody>
      </p:sp>
      <p:graphicFrame>
        <p:nvGraphicFramePr>
          <p:cNvPr id="3" name="表格 2"/>
          <p:cNvGraphicFramePr>
            <a:graphicFrameLocks noGrp="1"/>
          </p:cNvGraphicFramePr>
          <p:nvPr/>
        </p:nvGraphicFramePr>
        <p:xfrm>
          <a:off x="7878148" y="0"/>
          <a:ext cx="1237861" cy="1844107"/>
        </p:xfrm>
        <a:graphic>
          <a:graphicData uri="http://schemas.openxmlformats.org/drawingml/2006/table">
            <a:tbl>
              <a:tblPr/>
              <a:tblGrid>
                <a:gridCol w="12378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rd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SLT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rd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ADDI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LW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SW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($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)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440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BEQ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1689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BNE 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rs</a:t>
                      </a:r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,$</a:t>
                      </a:r>
                      <a:r>
                        <a:rPr lang="en-US" sz="1100" b="1" i="0" u="none" strike="noStrike" dirty="0" err="1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rt,imm</a:t>
                      </a:r>
                      <a:endParaRPr lang="en-US" sz="1100" b="1" i="0" u="none" strike="noStrike" dirty="0">
                        <a:solidFill>
                          <a:srgbClr val="FF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6163"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100" b="1" i="0" u="none" strike="noStrike" dirty="0">
                          <a:solidFill>
                            <a:srgbClr val="FF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SYSCALL</a:t>
                      </a:r>
                    </a:p>
                  </a:txBody>
                  <a:tcPr marL="7597" marR="7597" marT="759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3851920" y="417366"/>
            <a:ext cx="344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branch=</a:t>
            </a:r>
            <a:r>
              <a:rPr lang="en-US" altLang="zh-CN" dirty="0" err="1"/>
              <a:t>Beq&amp;Equal</a:t>
            </a:r>
            <a:r>
              <a:rPr lang="en-US" altLang="zh-CN" dirty="0"/>
              <a:t> or </a:t>
            </a:r>
            <a:r>
              <a:rPr lang="en-US" altLang="zh-CN" dirty="0" err="1"/>
              <a:t>Bne</a:t>
            </a:r>
            <a:r>
              <a:rPr lang="en-US" altLang="zh-CN" dirty="0"/>
              <a:t>&amp;~Equal</a:t>
            </a:r>
            <a:endParaRPr lang="en-US" dirty="0"/>
          </a:p>
        </p:txBody>
      </p:sp>
      <p:sp>
        <p:nvSpPr>
          <p:cNvPr id="4" name="矩形 3"/>
          <p:cNvSpPr/>
          <p:nvPr/>
        </p:nvSpPr>
        <p:spPr>
          <a:xfrm>
            <a:off x="1259632" y="1347614"/>
            <a:ext cx="833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branch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E51C60-915B-475F-8623-40125E27F5B6}"/>
              </a:ext>
            </a:extLst>
          </p:cNvPr>
          <p:cNvSpPr txBox="1"/>
          <p:nvPr/>
        </p:nvSpPr>
        <p:spPr>
          <a:xfrm>
            <a:off x="1043608" y="2787774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rgbClr val="FF0000"/>
                </a:solidFill>
              </a:rPr>
              <a:t>次态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7D79C65-5B5D-4148-9203-69EC8FCB3FBB}"/>
              </a:ext>
            </a:extLst>
          </p:cNvPr>
          <p:cNvSpPr txBox="1"/>
          <p:nvPr/>
        </p:nvSpPr>
        <p:spPr>
          <a:xfrm>
            <a:off x="3131840" y="3723878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rgbClr val="FF0000"/>
                </a:solidFill>
              </a:rPr>
              <a:t>次态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EE53D37-F95E-475C-8C37-91961B83912D}"/>
              </a:ext>
            </a:extLst>
          </p:cNvPr>
          <p:cNvSpPr txBox="1"/>
          <p:nvPr/>
        </p:nvSpPr>
        <p:spPr>
          <a:xfrm>
            <a:off x="6278794" y="3651870"/>
            <a:ext cx="50405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50" b="1" dirty="0">
                <a:solidFill>
                  <a:srgbClr val="FF0000"/>
                </a:solidFill>
              </a:rPr>
              <a:t>次态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76" y="0"/>
            <a:ext cx="8604448" cy="5111801"/>
          </a:xfrm>
          <a:prstGeom prst="rect">
            <a:avLst/>
          </a:prstGeom>
        </p:spPr>
      </p:pic>
      <p:sp>
        <p:nvSpPr>
          <p:cNvPr id="8" name="矩形: 圆角 7"/>
          <p:cNvSpPr/>
          <p:nvPr/>
        </p:nvSpPr>
        <p:spPr>
          <a:xfrm>
            <a:off x="395536" y="339502"/>
            <a:ext cx="1008112" cy="28803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504" y="754456"/>
            <a:ext cx="8441906" cy="438904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170" y="190176"/>
            <a:ext cx="1271588" cy="1507331"/>
          </a:xfrm>
          <a:prstGeom prst="rect">
            <a:avLst/>
          </a:prstGeom>
        </p:spPr>
      </p:pic>
      <p:cxnSp>
        <p:nvCxnSpPr>
          <p:cNvPr id="8" name="直接连接符 7"/>
          <p:cNvCxnSpPr/>
          <p:nvPr/>
        </p:nvCxnSpPr>
        <p:spPr>
          <a:xfrm flipH="1">
            <a:off x="1549401" y="1947333"/>
            <a:ext cx="14985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549400" y="1947333"/>
            <a:ext cx="0" cy="10329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2523067" y="1739584"/>
            <a:ext cx="60877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chemeClr val="accent1"/>
                </a:solidFill>
              </a:rPr>
              <a:t>Halt</a:t>
            </a:r>
            <a:endParaRPr lang="zh-CN" altLang="en-US" sz="900" dirty="0">
              <a:solidFill>
                <a:schemeClr val="accent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63888" y="411510"/>
            <a:ext cx="34464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branch=</a:t>
            </a:r>
            <a:r>
              <a:rPr lang="en-US" altLang="zh-CN" dirty="0" err="1"/>
              <a:t>Beq&amp;Equal</a:t>
            </a:r>
            <a:r>
              <a:rPr lang="en-US" altLang="zh-CN" dirty="0"/>
              <a:t> or </a:t>
            </a:r>
            <a:r>
              <a:rPr lang="en-US" altLang="zh-CN" dirty="0" err="1"/>
              <a:t>Bne</a:t>
            </a:r>
            <a:r>
              <a:rPr lang="en-US" altLang="zh-CN" dirty="0"/>
              <a:t>&amp;~Equal</a:t>
            </a:r>
            <a:endParaRPr lang="en-US" dirty="0"/>
          </a:p>
        </p:txBody>
      </p:sp>
      <p:sp>
        <p:nvSpPr>
          <p:cNvPr id="3" name="矩形 2"/>
          <p:cNvSpPr/>
          <p:nvPr/>
        </p:nvSpPr>
        <p:spPr>
          <a:xfrm>
            <a:off x="1637712" y="1324085"/>
            <a:ext cx="11340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branch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Controller Design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altLang="zh-CN" dirty="0"/>
          </a:p>
          <a:p>
            <a:r>
              <a:rPr lang="en-US" altLang="zh-CN" dirty="0"/>
              <a:t> using universal tables:</a:t>
            </a:r>
          </a:p>
          <a:p>
            <a:r>
              <a:rPr lang="en-US" altLang="zh-CN" dirty="0"/>
              <a:t>12 in: OP+FUNC</a:t>
            </a:r>
          </a:p>
          <a:p>
            <a:r>
              <a:rPr lang="en-US" altLang="zh-CN" dirty="0"/>
              <a:t>12 outputs: all output control signals</a:t>
            </a:r>
          </a:p>
          <a:p>
            <a:r>
              <a:rPr lang="en-US" altLang="zh-CN" dirty="0"/>
              <a:t>Combinational logic circuit Universal table only need 8 rows;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3924" y="195486"/>
            <a:ext cx="8229600" cy="507703"/>
          </a:xfrm>
        </p:spPr>
        <p:txBody>
          <a:bodyPr>
            <a:normAutofit fontScale="90000"/>
          </a:bodyPr>
          <a:lstStyle/>
          <a:p>
            <a:r>
              <a:rPr lang="en-US" altLang="zh-CN" sz="2800" dirty="0">
                <a:solidFill>
                  <a:srgbClr val="7030A0"/>
                </a:solidFill>
              </a:rPr>
              <a:t>MIPS CPU</a:t>
            </a:r>
            <a:r>
              <a:rPr lang="zh-CN" altLang="en-US" sz="2800" dirty="0">
                <a:solidFill>
                  <a:srgbClr val="7030A0"/>
                </a:solidFill>
              </a:rPr>
              <a:t>中的寄存器使用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8" y="143178"/>
            <a:ext cx="9057143" cy="48571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26797" y="101601"/>
            <a:ext cx="3850217" cy="355600"/>
          </a:xfrm>
        </p:spPr>
        <p:txBody>
          <a:bodyPr>
            <a:normAutofit fontScale="90000"/>
          </a:bodyPr>
          <a:lstStyle/>
          <a:p>
            <a:r>
              <a:rPr lang="en-US" altLang="zh-CN" sz="3000" b="1" dirty="0">
                <a:solidFill>
                  <a:srgbClr val="002060"/>
                </a:solidFill>
              </a:rPr>
              <a:t>8</a:t>
            </a:r>
            <a:r>
              <a:rPr lang="zh-CN" altLang="en-US" sz="3000" b="1" dirty="0">
                <a:solidFill>
                  <a:srgbClr val="002060"/>
                </a:solidFill>
              </a:rPr>
              <a:t>条指令指令格式和功能</a:t>
            </a:r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</p:nvPr>
        </p:nvGraphicFramePr>
        <p:xfrm>
          <a:off x="0" y="0"/>
          <a:ext cx="9144001" cy="4904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0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39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43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7058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opcode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指令助记符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RTL 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功能描述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备注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058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(func:32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 $rd,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]+R[$rt]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RegDest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Aluop=0101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7058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(func:12)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syscall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系统调用，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PC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不变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Halt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6017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(func:42)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slt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$rd,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R[$rd]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]&lt;R[$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，小于置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，有符号比较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RegDest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Aluop=1011,Regwrite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8559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04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$rt, imm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]=R[$rt]), PC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5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Beq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15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257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05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bne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$rt, imm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 (R[$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]!=R[$rt]), PC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</a:t>
                      </a:r>
                      <a:r>
                        <a:rPr lang="en-US" altLang="zh-CN" sz="15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PC+4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+SignExt</a:t>
                      </a:r>
                      <a:r>
                        <a:rPr lang="en-US" altLang="zh-CN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18b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({imm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左移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})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Bne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是</a:t>
                      </a:r>
                      <a:r>
                        <a:rPr lang="zh-CN" altLang="en-US" sz="15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字地址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，左移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位转换成字节地址）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3257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$rt, 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imm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）</a:t>
                      </a:r>
                      <a:endParaRPr lang="en-US" altLang="zh-C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AluSrc, Aluop=0101</a:t>
                      </a:r>
                      <a:r>
                        <a:rPr lang="zh-CN" altLang="en-US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982980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lw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 Mem (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Aluop=0101, 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MemToReg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Regwrite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（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15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位转换成字地址才能访问数据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79455"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$rt, imm($</a:t>
                      </a:r>
                      <a:r>
                        <a:rPr lang="en-US" altLang="zh-CN" sz="1500" baseline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zh-CN" altLang="en-US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Mem (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]+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SignExt</a:t>
                      </a:r>
                      <a:r>
                        <a:rPr lang="en-US" altLang="zh-CN" sz="1500" baseline="-25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16b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(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imm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之和右移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位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anose="05000000000000000000" pitchFamily="2" charset="2"/>
                        </a:rPr>
                        <a:t>)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R[$rt]</a:t>
                      </a:r>
                      <a:endParaRPr lang="en-US" altLang="zh-CN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Wingdings" panose="05000000000000000000" pitchFamily="2" charset="2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AluSrc,Aluop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=0101, MemWrite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，（</a:t>
                      </a:r>
                      <a:r>
                        <a:rPr lang="en-US" altLang="zh-CN" sz="15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和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都是</a:t>
                      </a:r>
                      <a:r>
                        <a:rPr lang="zh-CN" altLang="en-US" sz="1500" b="1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字节地址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，加法和要右移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位转换成字地址才能访问数据</a:t>
                      </a:r>
                      <a:r>
                        <a:rPr lang="en-US" altLang="zh-CN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</a:t>
                      </a:r>
                      <a:r>
                        <a:rPr lang="zh-CN" altLang="en-US" sz="1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）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0" y="4868775"/>
            <a:ext cx="92202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</a:rPr>
              <a:t>备注：</a:t>
            </a:r>
            <a:r>
              <a:rPr lang="zh-CN" altLang="en-US" dirty="0">
                <a:solidFill>
                  <a:srgbClr val="002060"/>
                </a:solidFill>
              </a:rPr>
              <a:t>跳转指令偏移地址</a:t>
            </a:r>
            <a:r>
              <a:rPr lang="en-US" altLang="zh-CN" dirty="0">
                <a:solidFill>
                  <a:srgbClr val="002060"/>
                </a:solidFill>
              </a:rPr>
              <a:t>imm</a:t>
            </a:r>
            <a:r>
              <a:rPr lang="zh-CN" altLang="en-US" dirty="0">
                <a:solidFill>
                  <a:srgbClr val="002060"/>
                </a:solidFill>
              </a:rPr>
              <a:t>求解公式</a:t>
            </a: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：目标字节地址</a:t>
            </a:r>
            <a:r>
              <a:rPr lang="en-US" altLang="zh-CN" dirty="0">
                <a:solidFill>
                  <a:srgbClr val="002060"/>
                </a:solidFill>
                <a:sym typeface="Wingdings" panose="05000000000000000000" pitchFamily="2" charset="2"/>
              </a:rPr>
              <a:t>=</a:t>
            </a: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当前地址</a:t>
            </a:r>
            <a:r>
              <a:rPr lang="en-US" altLang="zh-CN" dirty="0">
                <a:solidFill>
                  <a:srgbClr val="002060"/>
                </a:solidFill>
                <a:sym typeface="Wingdings" panose="05000000000000000000" pitchFamily="2" charset="2"/>
              </a:rPr>
              <a:t>+4+imm</a:t>
            </a:r>
            <a:r>
              <a:rPr lang="zh-CN" altLang="en-US" dirty="0">
                <a:solidFill>
                  <a:srgbClr val="002060"/>
                </a:solidFill>
                <a:sym typeface="Wingdings" panose="05000000000000000000" pitchFamily="2" charset="2"/>
              </a:rPr>
              <a:t>*</a:t>
            </a:r>
            <a:r>
              <a:rPr lang="en-US" altLang="zh-CN" dirty="0">
                <a:solidFill>
                  <a:srgbClr val="002060"/>
                </a:solidFill>
                <a:sym typeface="Wingdings" panose="05000000000000000000" pitchFamily="2" charset="2"/>
              </a:rPr>
              <a:t>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5" y="411510"/>
            <a:ext cx="9129095" cy="473199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555776" y="42178"/>
            <a:ext cx="352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隶书" panose="02010509060101010101" charset="-122"/>
                <a:ea typeface="隶书" panose="02010509060101010101" charset="-122"/>
              </a:rPr>
              <a:t>Single cycle MIPS CPU</a:t>
            </a:r>
            <a:endParaRPr lang="zh-CN" altLang="en-US" dirty="0">
              <a:solidFill>
                <a:srgbClr val="00206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133523"/>
          </a:xfrm>
        </p:spPr>
        <p:txBody>
          <a:bodyPr>
            <a:noAutofit/>
          </a:bodyPr>
          <a:lstStyle/>
          <a:p>
            <a:r>
              <a:rPr lang="en-US" altLang="zh-CN" sz="2000" dirty="0">
                <a:solidFill>
                  <a:srgbClr val="7030A0"/>
                </a:solidFill>
              </a:rPr>
              <a:t>Controller circuit</a:t>
            </a:r>
            <a:endParaRPr lang="zh-CN" altLang="en-US" sz="2000" dirty="0">
              <a:solidFill>
                <a:srgbClr val="7030A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5" y="379023"/>
            <a:ext cx="6351218" cy="472495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0811" y="55127"/>
            <a:ext cx="2514286" cy="276190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688" y="1995686"/>
            <a:ext cx="216024" cy="1956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27192" y="2928561"/>
            <a:ext cx="244827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050" b="1" dirty="0">
                <a:solidFill>
                  <a:schemeClr val="tx2"/>
                </a:solidFill>
              </a:rPr>
              <a:t>这部分产生</a:t>
            </a:r>
            <a:r>
              <a:rPr lang="en-US" altLang="zh-CN" sz="1050" b="1" dirty="0">
                <a:solidFill>
                  <a:schemeClr val="tx2"/>
                </a:solidFill>
              </a:rPr>
              <a:t>ALU_OP</a:t>
            </a:r>
            <a:r>
              <a:rPr lang="zh-CN" altLang="en-US" sz="1050" b="1" dirty="0">
                <a:solidFill>
                  <a:schemeClr val="tx2"/>
                </a:solidFill>
              </a:rPr>
              <a:t>控制信号，</a:t>
            </a:r>
            <a:endParaRPr lang="en-US" altLang="zh-CN" sz="1050" b="1" dirty="0">
              <a:solidFill>
                <a:schemeClr val="tx2"/>
              </a:solidFill>
            </a:endParaRPr>
          </a:p>
          <a:p>
            <a:pPr algn="ctr"/>
            <a:r>
              <a:rPr lang="zh-CN" altLang="en-US" sz="1050" b="1" dirty="0">
                <a:solidFill>
                  <a:schemeClr val="tx2"/>
                </a:solidFill>
              </a:rPr>
              <a:t>用三态门电路易于指令扩展</a:t>
            </a:r>
            <a:endParaRPr lang="en-US" sz="1050" b="1" dirty="0">
              <a:solidFill>
                <a:schemeClr val="tx2"/>
              </a:solidFill>
            </a:endParaRPr>
          </a:p>
        </p:txBody>
      </p:sp>
      <p:sp>
        <p:nvSpPr>
          <p:cNvPr id="6" name="椭圆 5"/>
          <p:cNvSpPr/>
          <p:nvPr/>
        </p:nvSpPr>
        <p:spPr>
          <a:xfrm>
            <a:off x="179512" y="267494"/>
            <a:ext cx="1152128" cy="64807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179512" y="14221"/>
            <a:ext cx="1440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</a:rPr>
              <a:t>Input pin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9" name="椭圆 8"/>
          <p:cNvSpPr/>
          <p:nvPr/>
        </p:nvSpPr>
        <p:spPr>
          <a:xfrm>
            <a:off x="5679116" y="3581023"/>
            <a:ext cx="630070" cy="3913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椭圆 9"/>
          <p:cNvSpPr/>
          <p:nvPr/>
        </p:nvSpPr>
        <p:spPr>
          <a:xfrm>
            <a:off x="1403648" y="1765820"/>
            <a:ext cx="4680520" cy="80593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文本框 10"/>
          <p:cNvSpPr txBox="1"/>
          <p:nvPr/>
        </p:nvSpPr>
        <p:spPr>
          <a:xfrm>
            <a:off x="5612130" y="752535"/>
            <a:ext cx="11521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2"/>
                </a:solidFill>
              </a:rPr>
              <a:t>Output pin</a:t>
            </a:r>
            <a:endParaRPr lang="en-US" sz="1400" dirty="0">
              <a:solidFill>
                <a:schemeClr val="tx2"/>
              </a:solidFill>
            </a:endParaRPr>
          </a:p>
        </p:txBody>
      </p:sp>
      <p:cxnSp>
        <p:nvCxnSpPr>
          <p:cNvPr id="13" name="直接箭头连接符 12"/>
          <p:cNvCxnSpPr/>
          <p:nvPr/>
        </p:nvCxnSpPr>
        <p:spPr>
          <a:xfrm flipH="1">
            <a:off x="5868144" y="1013616"/>
            <a:ext cx="216024" cy="1006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>
            <a:off x="6210176" y="3262225"/>
            <a:ext cx="450056" cy="26031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H="1">
            <a:off x="6052654" y="1013616"/>
            <a:ext cx="103522" cy="259182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8798" y="3470977"/>
            <a:ext cx="2487322" cy="163300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23478"/>
            <a:ext cx="8712968" cy="1080120"/>
          </a:xfrm>
        </p:spPr>
        <p:txBody>
          <a:bodyPr>
            <a:noAutofit/>
          </a:bodyPr>
          <a:lstStyle/>
          <a:p>
            <a:pPr algn="l"/>
            <a:r>
              <a:rPr lang="en-US" altLang="zh-CN" sz="1800" dirty="0">
                <a:solidFill>
                  <a:srgbClr val="7030A0"/>
                </a:solidFill>
              </a:rPr>
              <a:t>The </a:t>
            </a:r>
            <a:r>
              <a:rPr lang="en-US" altLang="zh-CN" sz="1800" dirty="0" err="1">
                <a:solidFill>
                  <a:srgbClr val="7030A0"/>
                </a:solidFill>
              </a:rPr>
              <a:t>instructon</a:t>
            </a:r>
            <a:r>
              <a:rPr lang="en-US" altLang="zh-CN" sz="1800" dirty="0">
                <a:solidFill>
                  <a:srgbClr val="7030A0"/>
                </a:solidFill>
              </a:rPr>
              <a:t> decoder  converts the OP field and FUNC field into an instruction tunnel:</a:t>
            </a:r>
            <a:br>
              <a:rPr lang="en-US" altLang="zh-CN" sz="1800" dirty="0">
                <a:solidFill>
                  <a:srgbClr val="7030A0"/>
                </a:solidFill>
              </a:rPr>
            </a:br>
            <a:r>
              <a:rPr lang="en-US" altLang="zh-CN" sz="1800" dirty="0">
                <a:solidFill>
                  <a:srgbClr val="7030A0"/>
                </a:solidFill>
              </a:rPr>
              <a:t>The ID use comparator. </a:t>
            </a:r>
            <a:br>
              <a:rPr lang="en-US" altLang="zh-CN" sz="1800" dirty="0">
                <a:solidFill>
                  <a:srgbClr val="7030A0"/>
                </a:solidFill>
              </a:rPr>
            </a:br>
            <a:r>
              <a:rPr lang="en-US" altLang="zh-CN" sz="1800" dirty="0">
                <a:solidFill>
                  <a:srgbClr val="7030A0"/>
                </a:solidFill>
              </a:rPr>
              <a:t>R_ Type=1 indicates a  R-type instruction(except </a:t>
            </a:r>
            <a:r>
              <a:rPr lang="en-US" altLang="zh-CN" sz="1800" dirty="0" err="1">
                <a:solidFill>
                  <a:srgbClr val="7030A0"/>
                </a:solidFill>
              </a:rPr>
              <a:t>syscall</a:t>
            </a:r>
            <a:r>
              <a:rPr lang="en-US" altLang="zh-CN" sz="1800" dirty="0">
                <a:solidFill>
                  <a:srgbClr val="7030A0"/>
                </a:solidFill>
              </a:rPr>
              <a:t>).</a:t>
            </a:r>
            <a:endParaRPr lang="zh-CN" altLang="en-US" sz="1800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19622"/>
            <a:ext cx="5400600" cy="35283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9712" y="1110586"/>
            <a:ext cx="7036532" cy="3930441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1290" y="2139702"/>
            <a:ext cx="1872208" cy="432048"/>
          </a:xfrm>
        </p:spPr>
        <p:txBody>
          <a:bodyPr>
            <a:normAutofit fontScale="90000"/>
          </a:bodyPr>
          <a:lstStyle/>
          <a:p>
            <a:r>
              <a:rPr lang="en-US" sz="2000" dirty="0">
                <a:solidFill>
                  <a:schemeClr val="tx2"/>
                </a:solidFill>
              </a:rPr>
              <a:t>Load</a:t>
            </a:r>
            <a:r>
              <a:rPr lang="zh-CN" altLang="en-US" sz="2000" dirty="0">
                <a:solidFill>
                  <a:schemeClr val="tx2"/>
                </a:solidFill>
              </a:rPr>
              <a:t> </a:t>
            </a:r>
            <a:r>
              <a:rPr lang="en-US" sz="2000" dirty="0">
                <a:solidFill>
                  <a:schemeClr val="tx2"/>
                </a:solidFill>
              </a:rPr>
              <a:t>cs3410.jar</a:t>
            </a:r>
            <a:r>
              <a:rPr lang="zh-CN" altLang="en-US" sz="2000" dirty="0">
                <a:solidFill>
                  <a:schemeClr val="tx2"/>
                </a:solidFill>
              </a:rPr>
              <a:t>，</a:t>
            </a:r>
            <a:r>
              <a:rPr lang="en-US" altLang="zh-CN" sz="2000" dirty="0">
                <a:solidFill>
                  <a:schemeClr val="tx2"/>
                </a:solidFill>
              </a:rPr>
              <a:t>mips-probe.jar</a:t>
            </a:r>
            <a:endParaRPr lang="en-US" sz="2000" dirty="0">
              <a:solidFill>
                <a:schemeClr val="tx2"/>
              </a:solidFill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>
            <a:off x="1475656" y="2643758"/>
            <a:ext cx="596492" cy="58613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683568" y="174751"/>
            <a:ext cx="76730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</a:t>
            </a:r>
            <a:r>
              <a:rPr lang="en-US" dirty="0"/>
              <a:t>s3410.jar is an extended component library designed and shared by Cornell University for MIPS circuits, including the register group, ROM, </a:t>
            </a:r>
            <a:r>
              <a:rPr lang="en-US" dirty="0" err="1"/>
              <a:t>RAM,ALU,display</a:t>
            </a:r>
            <a:r>
              <a:rPr lang="en-US" dirty="0"/>
              <a:t> screen of the MIPS CPU</a:t>
            </a:r>
          </a:p>
        </p:txBody>
      </p:sp>
      <p:sp>
        <p:nvSpPr>
          <p:cNvPr id="9" name="矩形: 圆角 8"/>
          <p:cNvSpPr/>
          <p:nvPr/>
        </p:nvSpPr>
        <p:spPr>
          <a:xfrm>
            <a:off x="2059971" y="3229896"/>
            <a:ext cx="792088" cy="10700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50199E85-F2B6-483D-B051-838713762C8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914400" y="996712"/>
            <a:ext cx="6999224" cy="88392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5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What is the purpose of the cs3410.jar library in the MIPS CPU design?</a:t>
            </a:r>
            <a:endParaRPr lang="zh-CN" altLang="en-US" sz="25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9E0D558-96B2-436F-911B-F64B73DCA6D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828800" y="2089547"/>
            <a:ext cx="4842510" cy="40011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implement verification instructions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D540857-1EB1-4E0E-98AE-E360DA187DCF}"/>
              </a:ext>
            </a:extLst>
          </p:cNvPr>
          <p:cNvSpPr>
            <a:spLocks noChangeAspect="1"/>
          </p:cNvSpPr>
          <p:nvPr>
            <p:custDataLst>
              <p:tags r:id="rId4"/>
            </p:custDataLst>
          </p:nvPr>
        </p:nvSpPr>
        <p:spPr>
          <a:xfrm>
            <a:off x="1178719" y="2137767"/>
            <a:ext cx="385762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2E416C-EDEA-4ED5-BA7F-884CA958FC0B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828800" y="2812004"/>
            <a:ext cx="5677980" cy="323165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15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provide an extended component library for MIPS circuits</a:t>
            </a:r>
            <a:endParaRPr lang="zh-CN" altLang="en-US" sz="15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91CB704A-7313-4248-A007-EAA314D8C4C4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178719" y="2780705"/>
            <a:ext cx="385762" cy="385762"/>
          </a:xfrm>
          <a:prstGeom prst="ellipse">
            <a:avLst/>
          </a:prstGeom>
          <a:solidFill>
            <a:srgbClr val="00FF0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CB507E2-06CF-43ED-9D10-A289784C0A38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828800" y="3375422"/>
            <a:ext cx="4389755" cy="40011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modify the instruction decoder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0A4C9290-BAC6-4604-BD12-34D1BED9738F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178719" y="3423642"/>
            <a:ext cx="385762" cy="385763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E54231A3-3C19-453A-9CB5-3A1B609A7926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828800" y="4018359"/>
            <a:ext cx="4124325" cy="400110"/>
          </a:xfrm>
          <a:prstGeom prst="rect">
            <a:avLst/>
          </a:prstGeom>
          <a:noFill/>
          <a:ln w="127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</a14:hiddenLine>
            </a:ext>
          </a:extLst>
        </p:spPr>
        <p:txBody>
          <a:bodyPr vert="horz" wrap="square" rtlCol="0" anchor="ctr">
            <a:spAutoFit/>
          </a:bodyPr>
          <a:lstStyle/>
          <a:p>
            <a:r>
              <a:rPr lang="en-US" altLang="zh-CN" sz="20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To add a MUX in front of the PC</a:t>
            </a:r>
            <a:endParaRPr lang="zh-CN" altLang="en-US" sz="200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E7CFCCF2-DAFF-490D-B776-E07AE3BF2C9D}"/>
              </a:ext>
            </a:extLst>
          </p:cNvPr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178719" y="4066580"/>
            <a:ext cx="385762" cy="385762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BDAFB16B-FA78-4B7D-9C4F-572C48CB645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686550" y="4661297"/>
            <a:ext cx="1157288" cy="30861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1C260E-D608-4943-9A7B-0A9E1064B14A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0" y="0"/>
            <a:ext cx="9144000" cy="635000"/>
            <a:chOff x="0" y="0"/>
            <a:chExt cx="9144000" cy="635000"/>
          </a:xfrm>
        </p:grpSpPr>
        <p:sp>
          <p:nvSpPr>
            <p:cNvPr id="6" name="TitleBackground">
              <a:extLst>
                <a:ext uri="{FF2B5EF4-FFF2-40B4-BE49-F238E27FC236}">
                  <a16:creationId xmlns:a16="http://schemas.microsoft.com/office/drawing/2014/main" id="{FAF69949-4CA9-4D0F-AD44-319E252708E7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9144000" cy="635000"/>
            </a:xfrm>
            <a:prstGeom prst="rect">
              <a:avLst/>
            </a:prstGeom>
            <a:solidFill>
              <a:srgbClr val="F6F7F8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ColorBlock">
              <a:extLst>
                <a:ext uri="{FF2B5EF4-FFF2-40B4-BE49-F238E27FC236}">
                  <a16:creationId xmlns:a16="http://schemas.microsoft.com/office/drawing/2014/main" id="{7C38B9B3-3F52-4D9E-8EC0-B39BE456A177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25400" cap="flat" cmpd="sng" algn="ctr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254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TypeText">
              <a:extLst>
                <a:ext uri="{FF2B5EF4-FFF2-40B4-BE49-F238E27FC236}">
                  <a16:creationId xmlns:a16="http://schemas.microsoft.com/office/drawing/2014/main" id="{01EA8D30-1BB5-467F-9EAF-40C0E7AD525C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单选题</a:t>
              </a:r>
            </a:p>
          </p:txBody>
        </p:sp>
        <p:sp>
          <p:nvSpPr>
            <p:cNvPr id="9" name="TipText">
              <a:extLst>
                <a:ext uri="{FF2B5EF4-FFF2-40B4-BE49-F238E27FC236}">
                  <a16:creationId xmlns:a16="http://schemas.microsoft.com/office/drawing/2014/main" id="{EA691764-B2AA-4707-B8A9-675D5E21E0B2}"/>
                </a:ext>
              </a:extLst>
            </p:cNvPr>
            <p:cNvSpPr txBox="1"/>
            <p:nvPr>
              <p:custDataLst>
                <p:tags r:id="rId17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5161913A-B66A-4977-88B5-B9FB52BF0FF5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4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372321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3108" y="58124"/>
            <a:ext cx="3761380" cy="2690495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504" y="771526"/>
            <a:ext cx="5040560" cy="1800224"/>
          </a:xfrm>
        </p:spPr>
        <p:txBody>
          <a:bodyPr>
            <a:normAutofit fontScale="90000"/>
          </a:bodyPr>
          <a:lstStyle/>
          <a:p>
            <a:pPr lvl="0" algn="l">
              <a:spcBef>
                <a:spcPct val="20000"/>
              </a:spcBef>
            </a:pPr>
            <a:r>
              <a:rPr lang="en-US" altLang="zh-CN" sz="1700" b="1" dirty="0">
                <a:solidFill>
                  <a:prstClr val="black"/>
                </a:solidFill>
                <a:cs typeface="+mn-cs"/>
              </a:rPr>
              <a:t>Instruction Extension</a:t>
            </a:r>
            <a:br>
              <a:rPr lang="en-US" altLang="zh-CN" sz="1700" b="1" dirty="0">
                <a:solidFill>
                  <a:prstClr val="black"/>
                </a:solidFill>
                <a:cs typeface="+mn-cs"/>
              </a:rPr>
            </a:b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1</a:t>
            </a:r>
            <a:r>
              <a:rPr lang="zh-CN" altLang="en-US" sz="1700" dirty="0">
                <a:solidFill>
                  <a:prstClr val="black"/>
                </a:solidFill>
                <a:cs typeface="+mn-cs"/>
              </a:rPr>
              <a:t>、</a:t>
            </a: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Implement verification and instructions</a:t>
            </a:r>
            <a:br>
              <a:rPr lang="en-US" altLang="zh-CN" sz="1700" dirty="0">
                <a:solidFill>
                  <a:prstClr val="black"/>
                </a:solidFill>
                <a:cs typeface="+mn-cs"/>
              </a:rPr>
            </a:b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2</a:t>
            </a:r>
            <a:r>
              <a:rPr lang="zh-CN" altLang="en-US" sz="1700" dirty="0">
                <a:solidFill>
                  <a:prstClr val="black"/>
                </a:solidFill>
                <a:cs typeface="+mn-cs"/>
              </a:rPr>
              <a:t>、</a:t>
            </a: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Implement verification </a:t>
            </a:r>
            <a:r>
              <a:rPr lang="en-US" altLang="zh-CN" sz="1700" dirty="0" err="1">
                <a:solidFill>
                  <a:prstClr val="black"/>
                </a:solidFill>
                <a:cs typeface="+mn-cs"/>
              </a:rPr>
              <a:t>andi</a:t>
            </a: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instructions</a:t>
            </a:r>
            <a:br>
              <a:rPr lang="en-US" altLang="zh-CN" sz="1700" dirty="0">
                <a:solidFill>
                  <a:prstClr val="black"/>
                </a:solidFill>
                <a:cs typeface="+mn-cs"/>
              </a:rPr>
            </a:b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       Modify the instruction decoder and ALU control logic</a:t>
            </a:r>
            <a:r>
              <a:rPr lang="zh-CN" altLang="en-US" sz="1700" dirty="0">
                <a:solidFill>
                  <a:prstClr val="black"/>
                </a:solidFill>
                <a:cs typeface="+mn-cs"/>
              </a:rPr>
              <a:t>，</a:t>
            </a: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or add two rows in the universal table</a:t>
            </a:r>
            <a:br>
              <a:rPr lang="en-US" altLang="zh-CN" sz="1700" dirty="0">
                <a:solidFill>
                  <a:prstClr val="black"/>
                </a:solidFill>
                <a:cs typeface="+mn-cs"/>
              </a:rPr>
            </a:b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3</a:t>
            </a:r>
            <a:r>
              <a:rPr lang="zh-CN" altLang="en-US" sz="1700" dirty="0">
                <a:solidFill>
                  <a:prstClr val="black"/>
                </a:solidFill>
                <a:cs typeface="+mn-cs"/>
              </a:rPr>
              <a:t>、</a:t>
            </a: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Implement verification j instruction</a:t>
            </a:r>
            <a:br>
              <a:rPr lang="en-US" altLang="zh-CN" sz="1700" dirty="0">
                <a:solidFill>
                  <a:prstClr val="black"/>
                </a:solidFill>
                <a:cs typeface="+mn-cs"/>
              </a:rPr>
            </a:br>
            <a:r>
              <a:rPr lang="en-US" altLang="zh-CN" sz="1700" dirty="0">
                <a:solidFill>
                  <a:prstClr val="black"/>
                </a:solidFill>
                <a:cs typeface="+mn-cs"/>
              </a:rPr>
              <a:t>         You must modify the instruction splitter, add the j instruction jump address circuit, j control signal, add a MUX in front of the PC, </a:t>
            </a:r>
            <a:r>
              <a:rPr lang="en-US" altLang="zh-CN" sz="1700" dirty="0" err="1">
                <a:solidFill>
                  <a:prstClr val="black"/>
                </a:solidFill>
                <a:cs typeface="+mn-cs"/>
              </a:rPr>
              <a:t>etc</a:t>
            </a:r>
            <a:br>
              <a:rPr lang="en-US" altLang="zh-CN" sz="1700" dirty="0">
                <a:solidFill>
                  <a:prstClr val="black"/>
                </a:solidFill>
                <a:cs typeface="+mn-cs"/>
              </a:rPr>
            </a:br>
            <a:r>
              <a:rPr lang="en-US" altLang="zh-CN" sz="1600" dirty="0">
                <a:solidFill>
                  <a:prstClr val="black"/>
                </a:solidFill>
                <a:cs typeface="+mn-cs"/>
              </a:rPr>
              <a:t>Other R</a:t>
            </a:r>
            <a:r>
              <a:rPr lang="zh-CN" altLang="en-US" sz="1600" dirty="0">
                <a:solidFill>
                  <a:prstClr val="black"/>
                </a:solidFill>
                <a:cs typeface="+mn-cs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cs typeface="+mn-cs"/>
              </a:rPr>
              <a:t>I</a:t>
            </a:r>
            <a:r>
              <a:rPr lang="zh-CN" altLang="en-US" sz="1600" dirty="0">
                <a:solidFill>
                  <a:prstClr val="black"/>
                </a:solidFill>
                <a:cs typeface="+mn-cs"/>
              </a:rPr>
              <a:t>、</a:t>
            </a:r>
            <a:r>
              <a:rPr lang="en-US" altLang="zh-CN" sz="1600" dirty="0">
                <a:solidFill>
                  <a:prstClr val="black"/>
                </a:solidFill>
                <a:cs typeface="+mn-cs"/>
              </a:rPr>
              <a:t>J type instructions can also be used</a:t>
            </a:r>
            <a:br>
              <a:rPr lang="en-US" altLang="zh-CN" sz="1900" dirty="0">
                <a:solidFill>
                  <a:prstClr val="black"/>
                </a:solidFill>
                <a:cs typeface="+mn-cs"/>
              </a:rPr>
            </a:b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064" y="2360200"/>
            <a:ext cx="1637497" cy="173724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327586" y="3143488"/>
            <a:ext cx="81701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b="1" dirty="0"/>
              <a:t>JMPADDR</a:t>
            </a:r>
            <a:endParaRPr lang="zh-CN" altLang="en-US" sz="1200" dirty="0"/>
          </a:p>
        </p:txBody>
      </p:sp>
      <p:sp>
        <p:nvSpPr>
          <p:cNvPr id="11" name="矩形 10"/>
          <p:cNvSpPr/>
          <p:nvPr/>
        </p:nvSpPr>
        <p:spPr>
          <a:xfrm>
            <a:off x="3785153" y="4500601"/>
            <a:ext cx="45879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"/>
            <a:r>
              <a:rPr lang="en-US" sz="1600" b="1" dirty="0"/>
              <a:t>JMPADDR</a:t>
            </a:r>
            <a:r>
              <a:rPr lang="en-US" altLang="zh-CN" sz="1600" b="1" dirty="0"/>
              <a:t>=</a:t>
            </a:r>
            <a:r>
              <a:rPr lang="en-US" sz="1600" b="1" dirty="0"/>
              <a:t> PC31..28 || </a:t>
            </a:r>
            <a:r>
              <a:rPr lang="en-US" sz="1600" b="1" dirty="0" err="1"/>
              <a:t>instr_index</a:t>
            </a:r>
            <a:r>
              <a:rPr lang="en-US" sz="1600" b="1" dirty="0"/>
              <a:t> || 00    </a:t>
            </a:r>
            <a:r>
              <a:rPr lang="en-US" sz="1600" b="1" dirty="0">
                <a:solidFill>
                  <a:srgbClr val="FF0000"/>
                </a:solidFill>
              </a:rPr>
              <a:t>PC=PC+4</a:t>
            </a:r>
          </a:p>
          <a:p>
            <a:pPr fontAlgn="b"/>
            <a:r>
              <a:rPr lang="en-US" sz="1600" b="1" dirty="0"/>
              <a:t>PCBranch=PC+4+IMM16&lt;&lt;2</a:t>
            </a:r>
          </a:p>
        </p:txBody>
      </p:sp>
      <p:sp>
        <p:nvSpPr>
          <p:cNvPr id="12" name="矩形 11"/>
          <p:cNvSpPr/>
          <p:nvPr/>
        </p:nvSpPr>
        <p:spPr>
          <a:xfrm>
            <a:off x="4816981" y="3878951"/>
            <a:ext cx="486030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200" dirty="0"/>
              <a:t>pc+4</a:t>
            </a:r>
            <a:endParaRPr lang="zh-CN" altLang="en-US" sz="1200" dirty="0"/>
          </a:p>
        </p:txBody>
      </p:sp>
      <p:sp>
        <p:nvSpPr>
          <p:cNvPr id="13" name="矩形 12"/>
          <p:cNvSpPr/>
          <p:nvPr/>
        </p:nvSpPr>
        <p:spPr>
          <a:xfrm>
            <a:off x="5203108" y="4097443"/>
            <a:ext cx="643125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900" b="1" dirty="0" err="1"/>
              <a:t>PCBranch</a:t>
            </a:r>
            <a:endParaRPr lang="zh-CN" altLang="en-US" sz="900" dirty="0"/>
          </a:p>
        </p:txBody>
      </p:sp>
      <p:sp>
        <p:nvSpPr>
          <p:cNvPr id="3" name="文本框 2"/>
          <p:cNvSpPr txBox="1"/>
          <p:nvPr/>
        </p:nvSpPr>
        <p:spPr>
          <a:xfrm>
            <a:off x="3443605" y="3143885"/>
            <a:ext cx="107315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400" b="1"/>
              <a:t>instr_index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225" y="2668270"/>
            <a:ext cx="2273935" cy="112141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db322fc9-0c9f-4165-b1d1-b867dddc84d9"/>
  <p:tag name="COMMONDATA" val="eyJoZGlkIjoiZjExMDE4MjYwOTdhYTViYzIyM2NiY2VlMzhmMjRiYmI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MultipleChoice"/>
  <p:tag name="PROBLEMSCORE" val="1.0"/>
  <p:tag name="PROBLEMPROVIDER" val="AI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Correct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"/>
  <p:tag name="RAINBULLET" val="Wrong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1577</Words>
  <Application>Microsoft Office PowerPoint</Application>
  <PresentationFormat>全屏显示(16:9)</PresentationFormat>
  <Paragraphs>239</Paragraphs>
  <Slides>23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41" baseType="lpstr">
      <vt:lpstr>Microsoft Yahei</vt:lpstr>
      <vt:lpstr>等线</vt:lpstr>
      <vt:lpstr>等线 Light</vt:lpstr>
      <vt:lpstr>方正兰亭黑_GBK</vt:lpstr>
      <vt:lpstr>华文楷体</vt:lpstr>
      <vt:lpstr>华文新魏</vt:lpstr>
      <vt:lpstr>隶书</vt:lpstr>
      <vt:lpstr>宋体</vt:lpstr>
      <vt:lpstr>微软雅黑</vt:lpstr>
      <vt:lpstr>Algerian</vt:lpstr>
      <vt:lpstr>Arial</vt:lpstr>
      <vt:lpstr>Bahnschrift Light SemiCondensed</vt:lpstr>
      <vt:lpstr>Calibri</vt:lpstr>
      <vt:lpstr>Times New Roman</vt:lpstr>
      <vt:lpstr>Wingdings</vt:lpstr>
      <vt:lpstr>Office 主题​​</vt:lpstr>
      <vt:lpstr>1_Office 主题​​</vt:lpstr>
      <vt:lpstr>Office 主题</vt:lpstr>
      <vt:lpstr>PowerPoint 演示文稿</vt:lpstr>
      <vt:lpstr>MIPS Instruction format</vt:lpstr>
      <vt:lpstr>PowerPoint 演示文稿</vt:lpstr>
      <vt:lpstr>PowerPoint 演示文稿</vt:lpstr>
      <vt:lpstr>Alu_op signal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计算机总结构图</vt:lpstr>
      <vt:lpstr>PowerPoint 演示文稿</vt:lpstr>
      <vt:lpstr>PowerPoint 演示文稿</vt:lpstr>
      <vt:lpstr>Controller Design</vt:lpstr>
      <vt:lpstr>MIPS CPU中的寄存器使用</vt:lpstr>
      <vt:lpstr>8条指令指令格式和功能</vt:lpstr>
      <vt:lpstr>PowerPoint 演示文稿</vt:lpstr>
      <vt:lpstr>Controller circuit</vt:lpstr>
      <vt:lpstr>The instructon decoder  converts the OP field and FUNC field into an instruction tunnel: The ID use comparator.  R_ Type=1 indicates a  R-type instruction(except syscall).</vt:lpstr>
      <vt:lpstr>Load cs3410.jar，mips-probe.jar</vt:lpstr>
      <vt:lpstr>PowerPoint 演示文稿</vt:lpstr>
      <vt:lpstr>Instruction Extension  1、Implement verification and instructions  2、Implement verification andi instructions         Modify the instruction decoder and ALU control logic， or add two rows in the universal table  3、Implement verification j instruction          You must modify the instruction splitter, add the j instruction jump address circuit, j control signal, add a MUX in front of the PC, etc Other R、I、J type instructions can also be used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蓝色工作汇报</dc:title>
  <dc:creator>第一PPT</dc:creator>
  <cp:keywords>www.1ppt.com</cp:keywords>
  <dc:description>第一PPT</dc:description>
  <cp:lastModifiedBy>LIU FENG</cp:lastModifiedBy>
  <cp:revision>413</cp:revision>
  <dcterms:created xsi:type="dcterms:W3CDTF">2015-01-08T06:32:00Z</dcterms:created>
  <dcterms:modified xsi:type="dcterms:W3CDTF">2025-03-17T03:42:38Z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RubyTemplateID">
    <vt:lpwstr>2</vt:lpwstr>
  </property>
  <property fmtid="{D5CDD505-2E9C-101B-9397-08002B2CF9AE}" pid="3" name="KSOProductBuildVer">
    <vt:lpwstr>2052-12.1.0.20305</vt:lpwstr>
  </property>
  <property fmtid="{D5CDD505-2E9C-101B-9397-08002B2CF9AE}" pid="4" name="ICV">
    <vt:lpwstr>C016BB80A55C45B790402C27A67E78DE_13</vt:lpwstr>
  </property>
</Properties>
</file>