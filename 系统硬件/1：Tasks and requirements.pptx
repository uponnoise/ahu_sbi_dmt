
<file path=[Content_Types].xml><?xml version="1.0" encoding="utf-8"?>
<Types xmlns="http://schemas.openxmlformats.org/package/2006/content-types">
  <Default Extension="vml" ContentType="application/vnd.openxmlformats-officedocument.vmlDrawing"/>
  <Default Extension="xlsx" ContentType="application/vnd.openxmlformats-officedocument.spreadsheetml.sheet"/>
  <Default Extension="bin" ContentType="application/vnd.openxmlformats-officedocument.oleObject"/>
  <Default Extension="png" ContentType="image/png"/>
  <Default Extension="jpeg" ContentType="image/jpeg"/>
  <Default Extension="JPG" ContentType="image/.jp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11"/>
  </p:notesMasterIdLst>
  <p:sldIdLst>
    <p:sldId id="258" r:id="rId4"/>
    <p:sldId id="299" r:id="rId5"/>
    <p:sldId id="305" r:id="rId6"/>
    <p:sldId id="298" r:id="rId7"/>
    <p:sldId id="295" r:id="rId8"/>
    <p:sldId id="304" r:id="rId9"/>
    <p:sldId id="296" r:id="rId10"/>
    <p:sldId id="288" r:id="rId12"/>
    <p:sldId id="283" r:id="rId13"/>
    <p:sldId id="284" r:id="rId14"/>
    <p:sldId id="297" r:id="rId15"/>
  </p:sldIdLst>
  <p:sldSz cx="12192000"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31" autoAdjust="0"/>
    <p:restoredTop sz="94660"/>
  </p:normalViewPr>
  <p:slideViewPr>
    <p:cSldViewPr snapToGrid="0" showGuides="1">
      <p:cViewPr varScale="1">
        <p:scale>
          <a:sx n="90" d="100"/>
          <a:sy n="90" d="100"/>
        </p:scale>
        <p:origin x="586" y="75"/>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9" Type="http://schemas.openxmlformats.org/officeDocument/2006/relationships/tags" Target="tags/tag4.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notesMaster" Target="notesMasters/notesMaster1.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443418-7762-49AD-9643-A44F191609B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CD5BA0-70FA-46AC-95B8-962878DB73F9}"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串词加上学生的素质提升，包括参赛人数多，参赛种类多，高年级带低年级这样的。</a:t>
            </a:r>
            <a:endParaRPr lang="zh-CN" altLang="en-US" dirty="0"/>
          </a:p>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2475B444-1AB3-4008-89F4-D116109AD3C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C859C40-ADFB-475C-8952-CEFED0415CA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2475B444-1AB3-4008-89F4-D116109AD3C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C859C40-ADFB-475C-8952-CEFED0415CA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2475B444-1AB3-4008-89F4-D116109AD3C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C859C40-ADFB-475C-8952-CEFED0415CA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2475B444-1AB3-4008-89F4-D116109AD3C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C859C40-ADFB-475C-8952-CEFED0415CA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2475B444-1AB3-4008-89F4-D116109AD3CC}"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C859C40-ADFB-475C-8952-CEFED0415CA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2475B444-1AB3-4008-89F4-D116109AD3C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C859C40-ADFB-475C-8952-CEFED0415CA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475B444-1AB3-4008-89F4-D116109AD3C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C859C40-ADFB-475C-8952-CEFED0415CA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2475B444-1AB3-4008-89F4-D116109AD3C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C859C40-ADFB-475C-8952-CEFED0415CA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2475B444-1AB3-4008-89F4-D116109AD3C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C859C40-ADFB-475C-8952-CEFED0415CA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2475B444-1AB3-4008-89F4-D116109AD3C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C859C40-ADFB-475C-8952-CEFED0415CA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2475B444-1AB3-4008-89F4-D116109AD3C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C859C40-ADFB-475C-8952-CEFED0415CA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8400" indent="0" algn="ctr">
              <a:buNone/>
              <a:defRPr>
                <a:solidFill>
                  <a:schemeClr val="tx1">
                    <a:tint val="75000"/>
                  </a:schemeClr>
                </a:solidFill>
              </a:defRPr>
            </a:lvl5pPr>
            <a:lvl6pPr marL="3048000" indent="0" algn="ctr">
              <a:buNone/>
              <a:defRPr>
                <a:solidFill>
                  <a:schemeClr val="tx1">
                    <a:tint val="75000"/>
                  </a:schemeClr>
                </a:solidFill>
              </a:defRPr>
            </a:lvl6pPr>
            <a:lvl7pPr marL="3657600" indent="0" algn="ctr">
              <a:buNone/>
              <a:defRPr>
                <a:solidFill>
                  <a:schemeClr val="tx1">
                    <a:tint val="75000"/>
                  </a:schemeClr>
                </a:solidFill>
              </a:defRPr>
            </a:lvl7pPr>
            <a:lvl8pPr marL="4267200" indent="0" algn="ctr">
              <a:buNone/>
              <a:defRPr>
                <a:solidFill>
                  <a:schemeClr val="tx1">
                    <a:tint val="75000"/>
                  </a:schemeClr>
                </a:solidFill>
              </a:defRPr>
            </a:lvl8pPr>
            <a:lvl9pPr marL="48768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defTabSz="1219200"/>
            <a:fld id="{9746BAEA-2E2F-43C1-8FC5-9FEE3A8DF45C}"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defTabSz="1219200"/>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defTabSz="1219200"/>
            <a:fld id="{02DB5319-2DBA-4D9A-88B5-78BEDCD93195}"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defTabSz="1219200"/>
            <a:fld id="{9746BAEA-2E2F-43C1-8FC5-9FEE3A8DF45C}"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defTabSz="1219200"/>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defTabSz="1219200"/>
            <a:fld id="{02DB5319-2DBA-4D9A-88B5-78BEDCD93195}"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5335"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665">
                <a:solidFill>
                  <a:schemeClr val="tx1">
                    <a:tint val="75000"/>
                  </a:schemeClr>
                </a:solidFill>
              </a:defRPr>
            </a:lvl1pPr>
            <a:lvl2pPr marL="609600" indent="0">
              <a:buNone/>
              <a:defRPr sz="2400">
                <a:solidFill>
                  <a:schemeClr val="tx1">
                    <a:tint val="75000"/>
                  </a:schemeClr>
                </a:solidFill>
              </a:defRPr>
            </a:lvl2pPr>
            <a:lvl3pPr marL="1219200" indent="0">
              <a:buNone/>
              <a:defRPr sz="2135">
                <a:solidFill>
                  <a:schemeClr val="tx1">
                    <a:tint val="75000"/>
                  </a:schemeClr>
                </a:solidFill>
              </a:defRPr>
            </a:lvl3pPr>
            <a:lvl4pPr marL="1828800" indent="0">
              <a:buNone/>
              <a:defRPr sz="1865">
                <a:solidFill>
                  <a:schemeClr val="tx1">
                    <a:tint val="75000"/>
                  </a:schemeClr>
                </a:solidFill>
              </a:defRPr>
            </a:lvl4pPr>
            <a:lvl5pPr marL="2438400" indent="0">
              <a:buNone/>
              <a:defRPr sz="1865">
                <a:solidFill>
                  <a:schemeClr val="tx1">
                    <a:tint val="75000"/>
                  </a:schemeClr>
                </a:solidFill>
              </a:defRPr>
            </a:lvl5pPr>
            <a:lvl6pPr marL="3048000" indent="0">
              <a:buNone/>
              <a:defRPr sz="1865">
                <a:solidFill>
                  <a:schemeClr val="tx1">
                    <a:tint val="75000"/>
                  </a:schemeClr>
                </a:solidFill>
              </a:defRPr>
            </a:lvl6pPr>
            <a:lvl7pPr marL="3657600" indent="0">
              <a:buNone/>
              <a:defRPr sz="1865">
                <a:solidFill>
                  <a:schemeClr val="tx1">
                    <a:tint val="75000"/>
                  </a:schemeClr>
                </a:solidFill>
              </a:defRPr>
            </a:lvl7pPr>
            <a:lvl8pPr marL="4267200" indent="0">
              <a:buNone/>
              <a:defRPr sz="1865">
                <a:solidFill>
                  <a:schemeClr val="tx1">
                    <a:tint val="75000"/>
                  </a:schemeClr>
                </a:solidFill>
              </a:defRPr>
            </a:lvl8pPr>
            <a:lvl9pPr marL="4876800" indent="0">
              <a:buNone/>
              <a:defRPr sz="1865">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defTabSz="1219200"/>
            <a:fld id="{9746BAEA-2E2F-43C1-8FC5-9FEE3A8DF45C}"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defTabSz="1219200"/>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defTabSz="1219200"/>
            <a:fld id="{02DB5319-2DBA-4D9A-88B5-78BEDCD93195}"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200151"/>
            <a:ext cx="5384800" cy="3394075"/>
          </a:xfrm>
        </p:spPr>
        <p:txBody>
          <a:bodyPr/>
          <a:lstStyle>
            <a:lvl1pPr>
              <a:defRPr sz="3735"/>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200151"/>
            <a:ext cx="5384800" cy="3394075"/>
          </a:xfrm>
        </p:spPr>
        <p:txBody>
          <a:bodyPr/>
          <a:lstStyle>
            <a:lvl1pPr>
              <a:defRPr sz="3735"/>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defTabSz="1219200"/>
            <a:fld id="{9746BAEA-2E2F-43C1-8FC5-9FEE3A8DF45C}" type="datetimeFigureOut">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pPr defTabSz="1219200"/>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pPr defTabSz="1219200"/>
            <a:fld id="{02DB5319-2DBA-4D9A-88B5-78BEDCD93195}"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9"/>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3"/>
          </a:xfr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8400" indent="0">
              <a:buNone/>
              <a:defRPr sz="2135" b="1"/>
            </a:lvl5pPr>
            <a:lvl6pPr marL="3048000" indent="0">
              <a:buNone/>
              <a:defRPr sz="2135" b="1"/>
            </a:lvl6pPr>
            <a:lvl7pPr marL="3657600" indent="0">
              <a:buNone/>
              <a:defRPr sz="2135" b="1"/>
            </a:lvl7pPr>
            <a:lvl8pPr marL="4267200" indent="0">
              <a:buNone/>
              <a:defRPr sz="2135" b="1"/>
            </a:lvl8pPr>
            <a:lvl9pPr marL="4876800" indent="0">
              <a:buNone/>
              <a:defRPr sz="213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9" y="1535113"/>
            <a:ext cx="5389033" cy="639763"/>
          </a:xfr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8400" indent="0">
              <a:buNone/>
              <a:defRPr sz="2135" b="1"/>
            </a:lvl5pPr>
            <a:lvl6pPr marL="3048000" indent="0">
              <a:buNone/>
              <a:defRPr sz="2135" b="1"/>
            </a:lvl6pPr>
            <a:lvl7pPr marL="3657600" indent="0">
              <a:buNone/>
              <a:defRPr sz="2135" b="1"/>
            </a:lvl7pPr>
            <a:lvl8pPr marL="4267200" indent="0">
              <a:buNone/>
              <a:defRPr sz="2135" b="1"/>
            </a:lvl8pPr>
            <a:lvl9pPr marL="4876800" indent="0">
              <a:buNone/>
              <a:defRPr sz="213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9" y="2174875"/>
            <a:ext cx="5389033" cy="3951288"/>
          </a:xfr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defTabSz="1219200"/>
            <a:fld id="{9746BAEA-2E2F-43C1-8FC5-9FEE3A8DF45C}" type="datetimeFigureOut">
              <a:rPr lang="zh-CN" altLang="en-US" smtClean="0">
                <a:solidFill>
                  <a:prstClr val="black">
                    <a:tint val="75000"/>
                  </a:prstClr>
                </a:solidFill>
              </a:rPr>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pPr defTabSz="1219200"/>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pPr defTabSz="1219200"/>
            <a:fld id="{02DB5319-2DBA-4D9A-88B5-78BEDCD93195}"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defTabSz="1219200"/>
            <a:fld id="{9746BAEA-2E2F-43C1-8FC5-9FEE3A8DF45C}" type="datetimeFigureOut">
              <a:rPr lang="zh-CN" altLang="en-US" smtClean="0">
                <a:solidFill>
                  <a:prstClr val="black">
                    <a:tint val="75000"/>
                  </a:prstClr>
                </a:solidFill>
              </a:rPr>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pPr defTabSz="1219200"/>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pPr defTabSz="1219200"/>
            <a:fld id="{02DB5319-2DBA-4D9A-88B5-78BEDCD93195}"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defTabSz="1219200"/>
            <a:fld id="{9746BAEA-2E2F-43C1-8FC5-9FEE3A8DF45C}" type="datetimeFigureOut">
              <a:rPr lang="zh-CN" altLang="en-US" smtClean="0">
                <a:solidFill>
                  <a:prstClr val="black">
                    <a:tint val="75000"/>
                  </a:prstClr>
                </a:solidFill>
              </a:rPr>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pPr defTabSz="1219200"/>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pPr defTabSz="1219200"/>
            <a:fld id="{02DB5319-2DBA-4D9A-88B5-78BEDCD93195}"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49"/>
            <a:ext cx="4011084" cy="1162051"/>
          </a:xfrm>
        </p:spPr>
        <p:txBody>
          <a:bodyPr anchor="b"/>
          <a:lstStyle>
            <a:lvl1pPr algn="l">
              <a:defRPr sz="2665"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2"/>
            <a:ext cx="6815667" cy="5853113"/>
          </a:xfrm>
        </p:spPr>
        <p:txBody>
          <a:bodyPr/>
          <a:lstStyle>
            <a:lvl1pPr>
              <a:defRPr sz="4265"/>
            </a:lvl1pPr>
            <a:lvl2pPr>
              <a:defRPr sz="3735"/>
            </a:lvl2pPr>
            <a:lvl3pPr>
              <a:defRPr sz="3200"/>
            </a:lvl3pPr>
            <a:lvl4pPr>
              <a:defRPr sz="2665"/>
            </a:lvl4pPr>
            <a:lvl5pPr>
              <a:defRPr sz="2665"/>
            </a:lvl5pPr>
            <a:lvl6pPr>
              <a:defRPr sz="2665"/>
            </a:lvl6pPr>
            <a:lvl7pPr>
              <a:defRPr sz="2665"/>
            </a:lvl7pPr>
            <a:lvl8pPr>
              <a:defRPr sz="2665"/>
            </a:lvl8pPr>
            <a:lvl9pPr>
              <a:defRPr sz="266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2" y="1435102"/>
            <a:ext cx="4011084" cy="4691063"/>
          </a:xfr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8400" indent="0">
              <a:buNone/>
              <a:defRPr sz="1200"/>
            </a:lvl5pPr>
            <a:lvl6pPr marL="3048000" indent="0">
              <a:buNone/>
              <a:defRPr sz="1200"/>
            </a:lvl6pPr>
            <a:lvl7pPr marL="3657600" indent="0">
              <a:buNone/>
              <a:defRPr sz="1200"/>
            </a:lvl7pPr>
            <a:lvl8pPr marL="4267200" indent="0">
              <a:buNone/>
              <a:defRPr sz="1200"/>
            </a:lvl8pPr>
            <a:lvl9pPr marL="4876800"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defTabSz="1219200"/>
            <a:fld id="{9746BAEA-2E2F-43C1-8FC5-9FEE3A8DF45C}" type="datetimeFigureOut">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pPr defTabSz="1219200"/>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pPr defTabSz="1219200"/>
            <a:fld id="{02DB5319-2DBA-4D9A-88B5-78BEDCD93195}"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9"/>
          </a:xfrm>
        </p:spPr>
        <p:txBody>
          <a:bodyPr anchor="b"/>
          <a:lstStyle>
            <a:lvl1pPr algn="l">
              <a:defRPr sz="2665"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4265"/>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endParaRPr lang="zh-CN" altLang="en-US"/>
          </a:p>
        </p:txBody>
      </p:sp>
      <p:sp>
        <p:nvSpPr>
          <p:cNvPr id="4" name="文本占位符 3"/>
          <p:cNvSpPr>
            <a:spLocks noGrp="1"/>
          </p:cNvSpPr>
          <p:nvPr>
            <p:ph type="body" sz="half" idx="2"/>
          </p:nvPr>
        </p:nvSpPr>
        <p:spPr>
          <a:xfrm>
            <a:off x="2389717" y="5367338"/>
            <a:ext cx="7315200" cy="804863"/>
          </a:xfr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8400" indent="0">
              <a:buNone/>
              <a:defRPr sz="1200"/>
            </a:lvl5pPr>
            <a:lvl6pPr marL="3048000" indent="0">
              <a:buNone/>
              <a:defRPr sz="1200"/>
            </a:lvl6pPr>
            <a:lvl7pPr marL="3657600" indent="0">
              <a:buNone/>
              <a:defRPr sz="1200"/>
            </a:lvl7pPr>
            <a:lvl8pPr marL="4267200" indent="0">
              <a:buNone/>
              <a:defRPr sz="1200"/>
            </a:lvl8pPr>
            <a:lvl9pPr marL="4876800"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defTabSz="1219200"/>
            <a:fld id="{9746BAEA-2E2F-43C1-8FC5-9FEE3A8DF45C}" type="datetimeFigureOut">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pPr defTabSz="1219200"/>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pPr defTabSz="1219200"/>
            <a:fld id="{02DB5319-2DBA-4D9A-88B5-78BEDCD93195}"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defTabSz="1219200"/>
            <a:fld id="{9746BAEA-2E2F-43C1-8FC5-9FEE3A8DF45C}"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defTabSz="1219200"/>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defTabSz="1219200"/>
            <a:fld id="{02DB5319-2DBA-4D9A-88B5-78BEDCD93195}"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06375"/>
            <a:ext cx="2743200" cy="4387851"/>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06375"/>
            <a:ext cx="8026400" cy="4387851"/>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defTabSz="1219200"/>
            <a:fld id="{9746BAEA-2E2F-43C1-8FC5-9FEE3A8DF45C}"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pPr defTabSz="1219200"/>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pPr defTabSz="1219200"/>
            <a:fld id="{02DB5319-2DBA-4D9A-88B5-78BEDCD93195}"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5B444-1AB3-4008-89F4-D116109AD3CC}"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859C40-ADFB-475C-8952-CEFED0415CA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pPr defTabSz="1219200"/>
            <a:fld id="{9746BAEA-2E2F-43C1-8FC5-9FEE3A8DF45C}"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pPr defTabSz="1219200"/>
            <a:endParaRPr lang="zh-CN" altLang="en-US">
              <a:solidFill>
                <a:prstClr val="black">
                  <a:tint val="75000"/>
                </a:prstClr>
              </a:solidFill>
            </a:endParaRPr>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pPr defTabSz="1219200"/>
            <a:fld id="{02DB5319-2DBA-4D9A-88B5-78BEDCD93195}" type="slidenum">
              <a:rPr lang="zh-CN" altLang="en-US" smtClean="0">
                <a:solidFill>
                  <a:prstClr val="black">
                    <a:tint val="75000"/>
                  </a:prstClr>
                </a:solidFill>
              </a:rPr>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1219200"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35"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hyperlink" Target="https://space.bilibili.com/1166580004/video" TargetMode="External"/><Relationship Id="rId2" Type="http://schemas.openxmlformats.org/officeDocument/2006/relationships/hyperlink" Target="https://www.educoder.net/" TargetMode="External"/><Relationship Id="rId1" Type="http://schemas.openxmlformats.org/officeDocument/2006/relationships/hyperlink" Target="https://www.icourse163.org/learn/HUST-1205809816"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hyperlink" Target="https://www.icourse163.org/course/HUST-1205809816"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5.emf"/><Relationship Id="rId1" Type="http://schemas.openxmlformats.org/officeDocument/2006/relationships/package" Target="../embeddings/Workbook1.xlsx"/></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vmlDrawing" Target="../drawings/vmlDrawing2.vml"/><Relationship Id="rId4" Type="http://schemas.openxmlformats.org/officeDocument/2006/relationships/slideLayout" Target="../slideLayouts/slideLayout13.xml"/><Relationship Id="rId3" Type="http://schemas.openxmlformats.org/officeDocument/2006/relationships/image" Target="../media/image7.png"/><Relationship Id="rId2" Type="http://schemas.openxmlformats.org/officeDocument/2006/relationships/image" Target="../media/image6.wmf"/><Relationship Id="rId1"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9" Type="http://schemas.openxmlformats.org/officeDocument/2006/relationships/image" Target="../media/image14.png"/><Relationship Id="rId8" Type="http://schemas.openxmlformats.org/officeDocument/2006/relationships/tags" Target="../tags/tag3.xml"/><Relationship Id="rId7" Type="http://schemas.openxmlformats.org/officeDocument/2006/relationships/image" Target="../media/image13.png"/><Relationship Id="rId6" Type="http://schemas.openxmlformats.org/officeDocument/2006/relationships/tags" Target="../tags/tag2.xml"/><Relationship Id="rId5" Type="http://schemas.openxmlformats.org/officeDocument/2006/relationships/image" Target="../media/image12.jpeg"/><Relationship Id="rId4" Type="http://schemas.openxmlformats.org/officeDocument/2006/relationships/image" Target="../media/image11.jpeg"/><Relationship Id="rId3" Type="http://schemas.openxmlformats.org/officeDocument/2006/relationships/image" Target="../media/image10.png"/><Relationship Id="rId2" Type="http://schemas.openxmlformats.org/officeDocument/2006/relationships/image" Target="../media/image9.jpeg"/><Relationship Id="rId11" Type="http://schemas.openxmlformats.org/officeDocument/2006/relationships/notesSlide" Target="../notesSlides/notesSlide4.xml"/><Relationship Id="rId10" Type="http://schemas.openxmlformats.org/officeDocument/2006/relationships/slideLayout" Target="../slideLayouts/slideLayout18.xml"/><Relationship Id="rId1"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782665"/>
            <a:ext cx="12192000" cy="2285992"/>
          </a:xfrm>
          <a:prstGeom prst="rect">
            <a:avLst/>
          </a:prstGeom>
          <a:solidFill>
            <a:srgbClr val="1D77C9"/>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w="18000">
                  <a:solidFill>
                    <a:srgbClr val="C0504D">
                      <a:satMod val="140000"/>
                    </a:srgbClr>
                  </a:solidFill>
                  <a:prstDash val="solid"/>
                  <a:miter lim="800000"/>
                </a:ln>
                <a:noFill/>
                <a:effectLst>
                  <a:outerShdw blurRad="25500" dist="23000" dir="7020000" algn="tl">
                    <a:srgbClr val="000000">
                      <a:alpha val="50000"/>
                    </a:srgbClr>
                  </a:outerShdw>
                </a:effectLst>
                <a:uLnTx/>
                <a:uFillTx/>
                <a:latin typeface="Calibri" panose="020F0502020204030204"/>
                <a:ea typeface="宋体" panose="02010600030101010101" pitchFamily="2" charset="-122"/>
                <a:cs typeface="+mn-cs"/>
              </a:rPr>
              <a:t> </a:t>
            </a:r>
            <a:endParaRPr kumimoji="0" lang="zh-CN" altLang="en-US" sz="1800" b="1" i="0" u="none" strike="noStrike" kern="0" cap="none" spc="0" normalizeH="0" baseline="0" noProof="0" dirty="0">
              <a:ln w="18000">
                <a:solidFill>
                  <a:srgbClr val="C0504D">
                    <a:satMod val="140000"/>
                  </a:srgbClr>
                </a:solidFill>
                <a:prstDash val="solid"/>
                <a:miter lim="800000"/>
              </a:ln>
              <a:noFill/>
              <a:effectLst>
                <a:outerShdw blurRad="25500" dist="23000" dir="7020000" algn="tl">
                  <a:srgbClr val="000000">
                    <a:alpha val="50000"/>
                  </a:srgbClr>
                </a:outerShdw>
              </a:effectLst>
              <a:uLnTx/>
              <a:uFillTx/>
              <a:latin typeface="Calibri" panose="020F0502020204030204"/>
              <a:ea typeface="宋体" panose="02010600030101010101" pitchFamily="2" charset="-122"/>
              <a:cs typeface="+mn-cs"/>
            </a:endParaRPr>
          </a:p>
        </p:txBody>
      </p:sp>
      <p:sp>
        <p:nvSpPr>
          <p:cNvPr id="2" name="标题 1"/>
          <p:cNvSpPr>
            <a:spLocks noGrp="1"/>
          </p:cNvSpPr>
          <p:nvPr>
            <p:ph type="ctrTitle"/>
          </p:nvPr>
        </p:nvSpPr>
        <p:spPr>
          <a:xfrm>
            <a:off x="1524000" y="2227385"/>
            <a:ext cx="9144000" cy="1282578"/>
          </a:xfrm>
        </p:spPr>
        <p:txBody>
          <a:bodyPr>
            <a:normAutofit fontScale="90000"/>
          </a:bodyPr>
          <a:lstStyle/>
          <a:p>
            <a:r>
              <a:rPr lang="en-US" altLang="zh-CN" dirty="0">
                <a:effectLst>
                  <a:outerShdw blurRad="762000" dist="50800" dir="5400000" algn="ctr" rotWithShape="0">
                    <a:schemeClr val="accent6">
                      <a:alpha val="43000"/>
                    </a:schemeClr>
                  </a:outerShdw>
                </a:effectLst>
              </a:rPr>
              <a:t>Comprehensive training of system hardware</a:t>
            </a:r>
            <a:endParaRPr lang="zh-CN" altLang="en-US" dirty="0">
              <a:effectLst>
                <a:outerShdw blurRad="762000" dist="50800" dir="5400000" algn="ctr" rotWithShape="0">
                  <a:schemeClr val="accent6">
                    <a:alpha val="43000"/>
                  </a:schemeClr>
                </a:outerShdw>
              </a:effectLst>
            </a:endParaRPr>
          </a:p>
        </p:txBody>
      </p:sp>
      <p:sp>
        <p:nvSpPr>
          <p:cNvPr id="4" name="文本框 3"/>
          <p:cNvSpPr txBox="1"/>
          <p:nvPr/>
        </p:nvSpPr>
        <p:spPr>
          <a:xfrm>
            <a:off x="3149600" y="4286015"/>
            <a:ext cx="5685837" cy="1405193"/>
          </a:xfrm>
          <a:prstGeom prst="rect">
            <a:avLst/>
          </a:prstGeom>
          <a:noFill/>
        </p:spPr>
        <p:txBody>
          <a:bodyPr wrap="square" rtlCol="0">
            <a:spAutoFit/>
          </a:bodyPr>
          <a:lstStyle/>
          <a:p>
            <a:pPr algn="ctr">
              <a:lnSpc>
                <a:spcPct val="150000"/>
              </a:lnSpc>
            </a:pPr>
            <a:r>
              <a:rPr lang="en-US" altLang="zh-CN" sz="2000" b="1" dirty="0">
                <a:latin typeface="楷体" panose="02010609060101010101" pitchFamily="49" charset="-122"/>
                <a:ea typeface="楷体" panose="02010609060101010101" pitchFamily="49" charset="-122"/>
              </a:rPr>
              <a:t>Lecturer</a:t>
            </a:r>
            <a:r>
              <a:rPr lang="zh-CN" altLang="en-US" sz="2000" b="1" dirty="0">
                <a:latin typeface="楷体" panose="02010609060101010101" pitchFamily="49" charset="-122"/>
                <a:ea typeface="楷体" panose="02010609060101010101" pitchFamily="49" charset="-122"/>
              </a:rPr>
              <a:t>：</a:t>
            </a:r>
            <a:r>
              <a:rPr lang="en-US" altLang="zh-CN" sz="2000" b="1" dirty="0">
                <a:latin typeface="楷体" panose="02010609060101010101" pitchFamily="49" charset="-122"/>
                <a:ea typeface="楷体" panose="02010609060101010101" pitchFamily="49" charset="-122"/>
              </a:rPr>
              <a:t>Feng Liu</a:t>
            </a:r>
            <a:endParaRPr lang="en-US" altLang="zh-CN" sz="2000" b="1" dirty="0">
              <a:latin typeface="楷体" panose="02010609060101010101" pitchFamily="49" charset="-122"/>
              <a:ea typeface="楷体" panose="02010609060101010101" pitchFamily="49" charset="-122"/>
            </a:endParaRPr>
          </a:p>
          <a:p>
            <a:pPr algn="ctr">
              <a:lnSpc>
                <a:spcPct val="150000"/>
              </a:lnSpc>
            </a:pP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514045623@qq.com</a:t>
            </a:r>
            <a:endParaRPr lang="en-US" altLang="zh-CN" sz="2000" b="1" dirty="0">
              <a:latin typeface="Times New Roman" panose="02020603050405020304" pitchFamily="18" charset="0"/>
              <a:ea typeface="楷体" panose="02010609060101010101" pitchFamily="49" charset="-122"/>
              <a:cs typeface="Times New Roman" panose="02020603050405020304" pitchFamily="18" charset="0"/>
            </a:endParaRPr>
          </a:p>
          <a:p>
            <a:pPr algn="ctr">
              <a:lnSpc>
                <a:spcPct val="150000"/>
              </a:lnSpc>
            </a:pPr>
            <a:r>
              <a:rPr lang="en-US" altLang="zh-CN" sz="2000" b="1" dirty="0">
                <a:latin typeface="楷体" panose="02010609060101010101" pitchFamily="49" charset="-122"/>
                <a:ea typeface="楷体" panose="02010609060101010101" pitchFamily="49" charset="-122"/>
              </a:rPr>
              <a:t>Stony Brook Institute at Anhui University</a:t>
            </a:r>
            <a:endParaRPr lang="zh-CN" altLang="en-US" sz="2000" b="1" dirty="0">
              <a:latin typeface="楷体" panose="02010609060101010101" pitchFamily="49" charset="-122"/>
              <a:ea typeface="楷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24155" y="1066800"/>
            <a:ext cx="10894060" cy="5450840"/>
          </a:xfrm>
        </p:spPr>
        <p:txBody>
          <a:bodyPr>
            <a:normAutofit fontScale="40000" lnSpcReduction="20000"/>
          </a:bodyPr>
          <a:lstStyle/>
          <a:p>
            <a:pPr marL="0" indent="0">
              <a:lnSpc>
                <a:spcPct val="120000"/>
              </a:lnSpc>
              <a:buNone/>
            </a:pPr>
            <a:r>
              <a:rPr lang="en-US" altLang="zh-CN" sz="6000" b="1" dirty="0"/>
              <a:t>QQ group</a:t>
            </a:r>
            <a:r>
              <a:rPr lang="zh-CN" altLang="en-US" sz="6000" b="1" dirty="0"/>
              <a:t>：</a:t>
            </a:r>
            <a:r>
              <a:rPr lang="en-US" altLang="zh-CN" sz="5700" b="1" dirty="0">
                <a:solidFill>
                  <a:schemeClr val="accent1">
                    <a:lumMod val="75000"/>
                  </a:schemeClr>
                </a:solidFill>
              </a:rPr>
              <a:t>1059029595</a:t>
            </a:r>
            <a:endParaRPr lang="en-US" altLang="zh-CN" sz="5700" b="1" dirty="0">
              <a:solidFill>
                <a:schemeClr val="accent1">
                  <a:lumMod val="75000"/>
                </a:schemeClr>
              </a:solidFill>
            </a:endParaRPr>
          </a:p>
          <a:p>
            <a:pPr marL="0" lvl="0" indent="0" defTabSz="914400">
              <a:lnSpc>
                <a:spcPct val="120000"/>
              </a:lnSpc>
              <a:spcBef>
                <a:spcPts val="1000"/>
              </a:spcBef>
              <a:buNone/>
              <a:defRPr/>
            </a:pPr>
            <a:r>
              <a:rPr lang="en-US" altLang="zh-CN" sz="6000" b="1" dirty="0"/>
              <a:t>Online learning resources</a:t>
            </a:r>
            <a:r>
              <a:rPr lang="zh-CN" altLang="en-US" sz="6000" b="1" dirty="0"/>
              <a:t>，</a:t>
            </a:r>
            <a:r>
              <a:rPr lang="en-US" altLang="zh-CN" sz="6000" b="1" dirty="0"/>
              <a:t> introduce first-class MOOC courses</a:t>
            </a:r>
            <a:r>
              <a:rPr lang="zh-CN" altLang="en-US" sz="6000" b="1" dirty="0"/>
              <a:t>：</a:t>
            </a:r>
            <a:endParaRPr lang="en-US" altLang="zh-CN" sz="6000" b="1" dirty="0"/>
          </a:p>
          <a:p>
            <a:pPr marL="0" lvl="0" indent="0" defTabSz="914400">
              <a:lnSpc>
                <a:spcPct val="120000"/>
              </a:lnSpc>
              <a:spcBef>
                <a:spcPts val="1000"/>
              </a:spcBef>
              <a:buNone/>
              <a:defRPr/>
            </a:pPr>
            <a:r>
              <a:rPr lang="en-US" altLang="zh-CN" sz="5600" b="1" u="sng" dirty="0">
                <a:solidFill>
                  <a:schemeClr val="accent1">
                    <a:lumMod val="75000"/>
                  </a:schemeClr>
                </a:solidFill>
                <a:hlinkClick r:id="rId1"/>
              </a:rPr>
              <a:t>     </a:t>
            </a:r>
            <a:r>
              <a:rPr lang="en-US" altLang="zh-CN" sz="5600" b="1" dirty="0">
                <a:solidFill>
                  <a:schemeClr val="accent1">
                    <a:lumMod val="75000"/>
                  </a:schemeClr>
                </a:solidFill>
                <a:hlinkClick r:id="rId1"/>
              </a:rPr>
              <a:t>https://www.icourse163.org/learn/HUST-1205809816</a:t>
            </a:r>
            <a:endParaRPr lang="en-US" altLang="zh-CN" sz="5600" b="1" dirty="0">
              <a:solidFill>
                <a:schemeClr val="accent1">
                  <a:lumMod val="75000"/>
                </a:schemeClr>
              </a:solidFill>
            </a:endParaRPr>
          </a:p>
          <a:p>
            <a:pPr marL="0" lvl="0" indent="0" defTabSz="914400">
              <a:lnSpc>
                <a:spcPct val="120000"/>
              </a:lnSpc>
              <a:spcBef>
                <a:spcPts val="1000"/>
              </a:spcBef>
              <a:buNone/>
              <a:defRPr/>
            </a:pPr>
            <a:br>
              <a:rPr lang="en-US" altLang="zh-CN" sz="6000" b="1" dirty="0">
                <a:solidFill>
                  <a:srgbClr val="FF0000"/>
                </a:solidFill>
              </a:rPr>
            </a:br>
            <a:r>
              <a:rPr lang="en-US" altLang="zh-CN" sz="6200" b="1" dirty="0"/>
              <a:t>Togo platform (verification circuit):</a:t>
            </a:r>
            <a:endParaRPr lang="en-US" altLang="zh-CN" sz="6200" b="1" dirty="0"/>
          </a:p>
          <a:p>
            <a:pPr marL="0" lvl="0" indent="0" defTabSz="914400">
              <a:lnSpc>
                <a:spcPct val="120000"/>
              </a:lnSpc>
              <a:spcBef>
                <a:spcPts val="1000"/>
              </a:spcBef>
              <a:buNone/>
              <a:defRPr/>
            </a:pPr>
            <a:r>
              <a:rPr lang="en-US" altLang="zh-CN" sz="6200" b="1" dirty="0">
                <a:hlinkClick r:id="rId2"/>
              </a:rPr>
              <a:t>     https://www.educoder.net/</a:t>
            </a:r>
            <a:r>
              <a:rPr lang="en-US" altLang="zh-CN" sz="6200" b="1" dirty="0"/>
              <a:t>      </a:t>
            </a:r>
            <a:r>
              <a:rPr lang="zh-CN" altLang="en-US" sz="6200" b="1" dirty="0"/>
              <a:t>：</a:t>
            </a:r>
            <a:r>
              <a:rPr lang="en-US" altLang="zh-CN" sz="6200" b="1" dirty="0"/>
              <a:t>Check and provide template files</a:t>
            </a:r>
            <a:endParaRPr lang="en-US" altLang="zh-CN" sz="6200" b="1" dirty="0"/>
          </a:p>
          <a:p>
            <a:pPr>
              <a:lnSpc>
                <a:spcPct val="120000"/>
              </a:lnSpc>
            </a:pPr>
            <a:r>
              <a:rPr lang="en-US" altLang="zh-CN" sz="6200" b="1" dirty="0"/>
              <a:t>Class code invitation code</a:t>
            </a:r>
            <a:endParaRPr lang="en-US" altLang="zh-CN" sz="6200" b="1" dirty="0"/>
          </a:p>
          <a:p>
            <a:pPr>
              <a:lnSpc>
                <a:spcPct val="120000"/>
              </a:lnSpc>
            </a:pPr>
            <a:r>
              <a:rPr lang="en-US" altLang="zh-CN" sz="4800" b="1" dirty="0">
                <a:solidFill>
                  <a:schemeClr val="tx1">
                    <a:lumMod val="95000"/>
                    <a:lumOff val="5000"/>
                  </a:schemeClr>
                </a:solidFill>
                <a:latin typeface="+mn-ea"/>
              </a:rPr>
              <a:t>Monday afternoon</a:t>
            </a:r>
            <a:r>
              <a:rPr lang="zh-CN" altLang="en-US" sz="4800" b="1" dirty="0">
                <a:solidFill>
                  <a:schemeClr val="tx1">
                    <a:lumMod val="95000"/>
                    <a:lumOff val="5000"/>
                  </a:schemeClr>
                </a:solidFill>
                <a:latin typeface="+mn-ea"/>
              </a:rPr>
              <a:t>：</a:t>
            </a:r>
            <a:r>
              <a:rPr lang="en-US" altLang="zh-CN" sz="4800" b="1" dirty="0">
                <a:solidFill>
                  <a:schemeClr val="tx1">
                    <a:lumMod val="95000"/>
                    <a:lumOff val="5000"/>
                  </a:schemeClr>
                </a:solidFill>
                <a:latin typeface="+mn-ea"/>
              </a:rPr>
              <a:t>QULD7J  TA:</a:t>
            </a:r>
            <a:r>
              <a:rPr lang="zh-CN" altLang="en-US" sz="4800" b="1" dirty="0">
                <a:solidFill>
                  <a:schemeClr val="tx1">
                    <a:lumMod val="95000"/>
                    <a:lumOff val="5000"/>
                  </a:schemeClr>
                </a:solidFill>
                <a:latin typeface="+mn-ea"/>
              </a:rPr>
              <a:t>陈泳铭</a:t>
            </a:r>
            <a:r>
              <a:rPr lang="en-US" sz="4800" b="1" dirty="0">
                <a:solidFill>
                  <a:schemeClr val="tx1">
                    <a:lumMod val="95000"/>
                    <a:lumOff val="5000"/>
                  </a:schemeClr>
                </a:solidFill>
                <a:latin typeface="+mn-ea"/>
              </a:rPr>
              <a:t>      M</a:t>
            </a:r>
            <a:r>
              <a:rPr lang="en-US" altLang="zh-CN" sz="4800" b="1" dirty="0">
                <a:solidFill>
                  <a:schemeClr val="tx1">
                    <a:lumMod val="95000"/>
                    <a:lumOff val="5000"/>
                  </a:schemeClr>
                </a:solidFill>
                <a:latin typeface="+mn-ea"/>
                <a:sym typeface="+mn-ea"/>
              </a:rPr>
              <a:t>onday evening:</a:t>
            </a:r>
            <a:r>
              <a:rPr lang="en-US" altLang="zh-CN" sz="4800" b="1" dirty="0">
                <a:solidFill>
                  <a:schemeClr val="tx1">
                    <a:lumMod val="95000"/>
                    <a:lumOff val="5000"/>
                  </a:schemeClr>
                </a:solidFill>
                <a:latin typeface="+mn-ea"/>
              </a:rPr>
              <a:t>OK4HN9  TA:</a:t>
            </a:r>
            <a:r>
              <a:rPr lang="zh-CN" altLang="en-US" sz="4800" b="1" dirty="0">
                <a:solidFill>
                  <a:schemeClr val="tx1">
                    <a:lumMod val="95000"/>
                    <a:lumOff val="5000"/>
                  </a:schemeClr>
                </a:solidFill>
                <a:latin typeface="+mn-ea"/>
              </a:rPr>
              <a:t>闫一鸣</a:t>
            </a:r>
            <a:r>
              <a:rPr lang="en-US" sz="4800" b="1" dirty="0">
                <a:solidFill>
                  <a:schemeClr val="tx1">
                    <a:lumMod val="95000"/>
                    <a:lumOff val="5000"/>
                  </a:schemeClr>
                </a:solidFill>
                <a:latin typeface="+mn-ea"/>
              </a:rPr>
              <a:t>   </a:t>
            </a:r>
            <a:endParaRPr lang="en-US" sz="4800" b="1" dirty="0">
              <a:solidFill>
                <a:schemeClr val="tx1">
                  <a:lumMod val="95000"/>
                  <a:lumOff val="5000"/>
                </a:schemeClr>
              </a:solidFill>
              <a:latin typeface="+mn-ea"/>
            </a:endParaRPr>
          </a:p>
          <a:p>
            <a:pPr>
              <a:lnSpc>
                <a:spcPct val="120000"/>
              </a:lnSpc>
            </a:pPr>
            <a:r>
              <a:rPr lang="en-US" altLang="zh-CN" sz="4800" b="1" dirty="0">
                <a:solidFill>
                  <a:schemeClr val="tx1">
                    <a:lumMod val="95000"/>
                    <a:lumOff val="5000"/>
                  </a:schemeClr>
                </a:solidFill>
                <a:latin typeface="+mn-ea"/>
              </a:rPr>
              <a:t>Tuesday afternoon:RHMP7L  TA:</a:t>
            </a:r>
            <a:r>
              <a:rPr lang="zh-CN" altLang="en-US" sz="4800" b="1" dirty="0">
                <a:solidFill>
                  <a:schemeClr val="tx1">
                    <a:lumMod val="95000"/>
                    <a:lumOff val="5000"/>
                  </a:schemeClr>
                </a:solidFill>
                <a:latin typeface="+mn-ea"/>
              </a:rPr>
              <a:t>王靖铭</a:t>
            </a:r>
            <a:r>
              <a:rPr lang="en-US" sz="4800" b="1" dirty="0">
                <a:solidFill>
                  <a:schemeClr val="tx1">
                    <a:lumMod val="95000"/>
                    <a:lumOff val="5000"/>
                  </a:schemeClr>
                </a:solidFill>
                <a:latin typeface="+mn-ea"/>
              </a:rPr>
              <a:t>  </a:t>
            </a:r>
            <a:r>
              <a:rPr lang="en-US" altLang="zh-CN" sz="4800" b="1" dirty="0">
                <a:solidFill>
                  <a:schemeClr val="tx1">
                    <a:lumMod val="95000"/>
                    <a:lumOff val="5000"/>
                  </a:schemeClr>
                </a:solidFill>
                <a:latin typeface="+mn-ea"/>
              </a:rPr>
              <a:t>  </a:t>
            </a:r>
            <a:r>
              <a:rPr lang="en-US" altLang="zh-CN" sz="4800" b="1" dirty="0">
                <a:solidFill>
                  <a:schemeClr val="tx1">
                    <a:lumMod val="95000"/>
                    <a:lumOff val="5000"/>
                  </a:schemeClr>
                </a:solidFill>
                <a:latin typeface="+mn-ea"/>
                <a:sym typeface="+mn-ea"/>
              </a:rPr>
              <a:t>Tuesday evening</a:t>
            </a:r>
            <a:r>
              <a:rPr lang="zh-CN" altLang="en-US" sz="4800" b="1" dirty="0">
                <a:solidFill>
                  <a:schemeClr val="tx1">
                    <a:lumMod val="95000"/>
                    <a:lumOff val="5000"/>
                  </a:schemeClr>
                </a:solidFill>
                <a:latin typeface="+mn-ea"/>
              </a:rPr>
              <a:t>：</a:t>
            </a:r>
            <a:r>
              <a:rPr lang="en-US" altLang="zh-CN" sz="4800" b="1" dirty="0">
                <a:solidFill>
                  <a:schemeClr val="tx1">
                    <a:lumMod val="95000"/>
                    <a:lumOff val="5000"/>
                  </a:schemeClr>
                </a:solidFill>
                <a:latin typeface="+mn-ea"/>
              </a:rPr>
              <a:t>M2DQN5 TA:</a:t>
            </a:r>
            <a:r>
              <a:rPr lang="zh-CN" altLang="en-US" sz="4800" b="1" dirty="0">
                <a:solidFill>
                  <a:schemeClr val="tx1">
                    <a:lumMod val="95000"/>
                    <a:lumOff val="5000"/>
                  </a:schemeClr>
                </a:solidFill>
                <a:latin typeface="+mn-ea"/>
              </a:rPr>
              <a:t>黄睿</a:t>
            </a:r>
            <a:endParaRPr lang="zh-CN" altLang="en-US" sz="4800" b="1" dirty="0">
              <a:solidFill>
                <a:schemeClr val="tx1">
                  <a:lumMod val="95000"/>
                  <a:lumOff val="5000"/>
                </a:schemeClr>
              </a:solidFill>
              <a:latin typeface="+mn-ea"/>
            </a:endParaRPr>
          </a:p>
          <a:p>
            <a:pPr>
              <a:lnSpc>
                <a:spcPct val="120000"/>
              </a:lnSpc>
            </a:pPr>
            <a:endParaRPr lang="en-US" altLang="zh-CN" sz="4800" dirty="0">
              <a:solidFill>
                <a:srgbClr val="FF0000"/>
              </a:solidFill>
              <a:latin typeface="-apple-system"/>
            </a:endParaRPr>
          </a:p>
          <a:p>
            <a:pPr marL="0" indent="0">
              <a:lnSpc>
                <a:spcPct val="120000"/>
              </a:lnSpc>
              <a:buNone/>
            </a:pPr>
            <a:r>
              <a:rPr lang="en-US" altLang="zh-CN" sz="6200" b="1" dirty="0"/>
              <a:t>B Station resources</a:t>
            </a:r>
            <a:r>
              <a:rPr lang="zh-CN" altLang="en-US" sz="6200" b="1" dirty="0"/>
              <a:t>：</a:t>
            </a:r>
            <a:r>
              <a:rPr lang="en-US" altLang="zh-CN" sz="5600" b="1" dirty="0">
                <a:hlinkClick r:id="rId3"/>
              </a:rPr>
              <a:t>https://space.bilibili.com/1166580004/video</a:t>
            </a:r>
            <a:endParaRPr lang="en-US" altLang="zh-CN" sz="56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pPr marL="0" lvl="0" indent="0" defTabSz="914400">
              <a:lnSpc>
                <a:spcPct val="120000"/>
              </a:lnSpc>
              <a:spcBef>
                <a:spcPts val="1000"/>
              </a:spcBef>
              <a:buNone/>
              <a:defRPr/>
            </a:pPr>
            <a:r>
              <a:rPr lang="en-US" altLang="zh-CN" sz="2000" b="1" dirty="0">
                <a:solidFill>
                  <a:srgbClr val="4F81BD">
                    <a:lumMod val="75000"/>
                  </a:srgbClr>
                </a:solidFill>
              </a:rPr>
              <a:t>Smart teaching resources</a:t>
            </a:r>
            <a:r>
              <a:rPr lang="zh-CN" altLang="en-US" sz="2000" b="1" dirty="0">
                <a:solidFill>
                  <a:srgbClr val="4F81BD">
                    <a:lumMod val="75000"/>
                  </a:srgbClr>
                </a:solidFill>
              </a:rPr>
              <a:t>：</a:t>
            </a:r>
            <a:r>
              <a:rPr lang="en-US" altLang="zh-CN" sz="2000" b="1" dirty="0">
                <a:solidFill>
                  <a:srgbClr val="4F81BD">
                    <a:lumMod val="75000"/>
                  </a:srgbClr>
                </a:solidFill>
              </a:rPr>
              <a:t>https://ahu.yuketang.cn/</a:t>
            </a:r>
            <a:br>
              <a:rPr lang="en-US" altLang="zh-CN" sz="2000" b="1" dirty="0">
                <a:solidFill>
                  <a:srgbClr val="4F81BD">
                    <a:lumMod val="75000"/>
                  </a:srgbClr>
                </a:solidFill>
              </a:rPr>
            </a:br>
            <a:r>
              <a:rPr lang="en-US" altLang="zh-CN" sz="2000" b="1" dirty="0">
                <a:solidFill>
                  <a:srgbClr val="4F81BD">
                    <a:lumMod val="75000"/>
                  </a:srgbClr>
                </a:solidFill>
              </a:rPr>
              <a:t>           </a:t>
            </a:r>
            <a:endParaRPr lang="en-US" altLang="zh-CN" sz="2000" b="1" dirty="0">
              <a:solidFill>
                <a:srgbClr val="4F81BD">
                  <a:lumMod val="75000"/>
                </a:srgbClr>
              </a:solidFill>
            </a:endParaRPr>
          </a:p>
          <a:p>
            <a:pPr lvl="0" defTabSz="914400">
              <a:lnSpc>
                <a:spcPct val="120000"/>
              </a:lnSpc>
              <a:spcBef>
                <a:spcPts val="1000"/>
              </a:spcBef>
              <a:buAutoNum type="arabicPeriod"/>
              <a:defRPr/>
            </a:pPr>
            <a:r>
              <a:rPr lang="en-US" altLang="zh-CN" sz="2400" b="1" dirty="0">
                <a:solidFill>
                  <a:srgbClr val="FF0000"/>
                </a:solidFill>
              </a:rPr>
              <a:t>Student pre class and in class tests</a:t>
            </a:r>
            <a:endParaRPr lang="en-US" altLang="zh-CN" sz="2400" b="1" dirty="0">
              <a:solidFill>
                <a:srgbClr val="FF0000"/>
              </a:solidFill>
            </a:endParaRPr>
          </a:p>
          <a:p>
            <a:pPr lvl="0" defTabSz="914400">
              <a:lnSpc>
                <a:spcPct val="120000"/>
              </a:lnSpc>
              <a:spcBef>
                <a:spcPts val="1000"/>
              </a:spcBef>
              <a:buAutoNum type="arabicPeriod"/>
              <a:defRPr/>
            </a:pPr>
            <a:r>
              <a:rPr lang="en-US" altLang="zh-CN" sz="2400" b="1" dirty="0">
                <a:solidFill>
                  <a:srgbClr val="FF0000"/>
                </a:solidFill>
              </a:rPr>
              <a:t>Provide various teaching resources</a:t>
            </a:r>
            <a:endParaRPr lang="en-US" altLang="zh-CN" sz="2400" b="1" dirty="0">
              <a:solidFill>
                <a:srgbClr val="FF0000"/>
              </a:solidFill>
            </a:endParaRPr>
          </a:p>
          <a:p>
            <a:pPr lvl="0" defTabSz="914400">
              <a:lnSpc>
                <a:spcPct val="120000"/>
              </a:lnSpc>
              <a:spcBef>
                <a:spcPts val="1000"/>
              </a:spcBef>
              <a:buAutoNum type="arabicPeriod"/>
              <a:defRPr/>
            </a:pPr>
            <a:r>
              <a:rPr lang="en-US" altLang="zh-CN" sz="2400" b="1" dirty="0">
                <a:solidFill>
                  <a:srgbClr val="FF0000"/>
                </a:solidFill>
              </a:rPr>
              <a:t>AI intelligent teaching, 24-hour learning companion</a:t>
            </a:r>
            <a:endParaRPr lang="en-US" altLang="zh-CN" sz="2400" b="1" dirty="0">
              <a:solidFill>
                <a:srgbClr val="FF0000"/>
              </a:solidFill>
            </a:endParaRPr>
          </a:p>
          <a:p>
            <a:pPr lvl="0" defTabSz="914400">
              <a:lnSpc>
                <a:spcPct val="120000"/>
              </a:lnSpc>
              <a:spcBef>
                <a:spcPts val="1000"/>
              </a:spcBef>
              <a:buAutoNum type="arabicPeriod"/>
              <a:defRPr/>
            </a:pPr>
            <a:r>
              <a:rPr lang="en-US" altLang="zh-CN" sz="2400" b="1" dirty="0">
                <a:solidFill>
                  <a:srgbClr val="FF0000"/>
                </a:solidFill>
              </a:rPr>
              <a:t>Knowledge Graph</a:t>
            </a:r>
            <a:endParaRPr lang="zh-CN" altLang="en-US" sz="4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9946" y="973540"/>
            <a:ext cx="4761765" cy="5534836"/>
          </a:xfrm>
          <a:solidFill>
            <a:schemeClr val="bg2"/>
          </a:solidFill>
          <a:effectLst>
            <a:outerShdw blurRad="304800" dist="50800" dir="5400000" algn="ctr" rotWithShape="0">
              <a:srgbClr val="000000">
                <a:alpha val="43137"/>
              </a:srgbClr>
            </a:outerShdw>
          </a:effectLst>
        </p:spPr>
        <p:txBody>
          <a:bodyPr numCol="1">
            <a:normAutofit fontScale="40000" lnSpcReduction="20000"/>
          </a:bodyPr>
          <a:lstStyle/>
          <a:p>
            <a:pPr>
              <a:lnSpc>
                <a:spcPct val="150000"/>
              </a:lnSpc>
            </a:pPr>
            <a:r>
              <a:rPr lang="en-US" altLang="zh-CN" sz="3800"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MOOC</a:t>
            </a:r>
            <a:r>
              <a:rPr lang="zh-CN" altLang="en-US" sz="3800"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a:t>
            </a:r>
            <a:r>
              <a:rPr lang="en-US" altLang="zh-CN" sz="4000" dirty="0">
                <a:solidFill>
                  <a:srgbClr val="333333"/>
                </a:solidFill>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Computer Hardware System Design</a:t>
            </a:r>
            <a:r>
              <a:rPr lang="zh-CN" altLang="en-US" sz="3800"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a:t>
            </a:r>
            <a:endParaRPr lang="en-US" altLang="zh-CN" sz="3800"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endParaRPr>
          </a:p>
          <a:p>
            <a:pPr marL="0" indent="0">
              <a:lnSpc>
                <a:spcPct val="150000"/>
              </a:lnSpc>
              <a:buNone/>
            </a:pPr>
            <a:r>
              <a:rPr lang="zh-CN" altLang="en-US" sz="3800"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一、</a:t>
            </a:r>
            <a:r>
              <a:rPr lang="en-US" altLang="zh-CN" sz="3800"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Basic Experiment of Digital Logic</a:t>
            </a:r>
            <a:endParaRPr lang="en-US" altLang="zh-CN" sz="3800"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endParaRPr>
          </a:p>
          <a:p>
            <a:pPr marL="0" lvl="0" indent="0">
              <a:lnSpc>
                <a:spcPct val="150000"/>
              </a:lnSpc>
              <a:buNone/>
            </a:pPr>
            <a:r>
              <a:rPr lang="zh-CN" altLang="en-US" sz="2700" dirty="0">
                <a:solidFill>
                  <a:prstClr val="black"/>
                </a:solidFill>
                <a:effectLst>
                  <a:outerShdw blurRad="838200" dist="50800" dir="5400000" algn="ctr" rotWithShape="0">
                    <a:srgbClr val="4472C4">
                      <a:alpha val="43000"/>
                    </a:srgbClr>
                  </a:outerShdw>
                </a:effectLst>
                <a:latin typeface="微软雅黑" panose="020B0503020204020204" pitchFamily="34" charset="-122"/>
                <a:ea typeface="微软雅黑" panose="020B0503020204020204" pitchFamily="34" charset="-122"/>
              </a:rPr>
              <a:t>（</a:t>
            </a:r>
            <a:r>
              <a:rPr lang="en-US" altLang="zh-CN" sz="2700" dirty="0">
                <a:solidFill>
                  <a:prstClr val="black"/>
                </a:solidFill>
                <a:effectLst>
                  <a:outerShdw blurRad="838200" dist="50800" dir="5400000" algn="ctr" rotWithShape="0">
                    <a:srgbClr val="4472C4">
                      <a:alpha val="43000"/>
                    </a:srgbClr>
                  </a:outerShdw>
                </a:effectLst>
                <a:latin typeface="微软雅黑" panose="020B0503020204020204" pitchFamily="34" charset="-122"/>
                <a:ea typeface="微软雅黑" panose="020B0503020204020204" pitchFamily="34" charset="-122"/>
              </a:rPr>
              <a:t>1</a:t>
            </a:r>
            <a:r>
              <a:rPr lang="zh-CN" altLang="en-US" sz="2700" dirty="0">
                <a:solidFill>
                  <a:prstClr val="black"/>
                </a:solidFill>
                <a:effectLst>
                  <a:outerShdw blurRad="838200" dist="50800" dir="5400000" algn="ctr" rotWithShape="0">
                    <a:srgbClr val="4472C4">
                      <a:alpha val="43000"/>
                    </a:srgbClr>
                  </a:outerShdw>
                </a:effectLst>
                <a:latin typeface="微软雅黑" panose="020B0503020204020204" pitchFamily="34" charset="-122"/>
                <a:ea typeface="微软雅黑" panose="020B0503020204020204" pitchFamily="34" charset="-122"/>
              </a:rPr>
              <a:t>）</a:t>
            </a:r>
            <a:r>
              <a:rPr lang="en-US" altLang="zh-CN" sz="2700" dirty="0">
                <a:solidFill>
                  <a:prstClr val="black"/>
                </a:solidFill>
                <a:effectLst>
                  <a:outerShdw blurRad="838200" dist="50800" dir="5400000" algn="ctr" rotWithShape="0">
                    <a:srgbClr val="4472C4">
                      <a:alpha val="43000"/>
                    </a:srgbClr>
                  </a:outerShdw>
                </a:effectLst>
                <a:latin typeface="微软雅黑" panose="020B0503020204020204" pitchFamily="34" charset="-122"/>
                <a:ea typeface="微软雅黑" panose="020B0503020204020204" pitchFamily="34" charset="-122"/>
              </a:rPr>
              <a:t>2.1 Combinational logic circuit design</a:t>
            </a:r>
            <a:endParaRPr lang="en-US" altLang="zh-CN" sz="2700" dirty="0">
              <a:solidFill>
                <a:srgbClr val="44546A"/>
              </a:solidFill>
              <a:effectLst>
                <a:outerShdw blurRad="838200" dist="50800" dir="5400000" algn="ctr" rotWithShape="0">
                  <a:srgbClr val="4472C4">
                    <a:alpha val="43000"/>
                  </a:srgbClr>
                </a:outerShdw>
              </a:effectLst>
              <a:latin typeface="微软雅黑" panose="020B0503020204020204" pitchFamily="34" charset="-122"/>
              <a:ea typeface="微软雅黑" panose="020B0503020204020204" pitchFamily="34" charset="-122"/>
            </a:endParaRPr>
          </a:p>
          <a:p>
            <a:pPr marL="0" lvl="0" indent="0">
              <a:lnSpc>
                <a:spcPct val="150000"/>
              </a:lnSpc>
              <a:buNone/>
            </a:pPr>
            <a:r>
              <a:rPr lang="zh-CN" altLang="en-US" dirty="0">
                <a:solidFill>
                  <a:prstClr val="black"/>
                </a:solidFill>
                <a:effectLst>
                  <a:outerShdw blurRad="838200" dist="50800" dir="5400000" algn="ctr" rotWithShape="0">
                    <a:srgbClr val="4472C4">
                      <a:alpha val="43000"/>
                    </a:srgbClr>
                  </a:outerShdw>
                </a:effectLst>
                <a:latin typeface="微软雅黑" panose="020B0503020204020204" pitchFamily="34" charset="-122"/>
                <a:ea typeface="微软雅黑" panose="020B0503020204020204" pitchFamily="34" charset="-122"/>
              </a:rPr>
              <a:t>（</a:t>
            </a:r>
            <a:r>
              <a:rPr lang="en-US" altLang="zh-CN" dirty="0">
                <a:solidFill>
                  <a:prstClr val="black"/>
                </a:solidFill>
                <a:effectLst>
                  <a:outerShdw blurRad="838200" dist="50800" dir="5400000" algn="ctr" rotWithShape="0">
                    <a:srgbClr val="4472C4">
                      <a:alpha val="43000"/>
                    </a:srgbClr>
                  </a:outerShdw>
                </a:effectLst>
                <a:latin typeface="微软雅黑" panose="020B0503020204020204" pitchFamily="34" charset="-122"/>
                <a:ea typeface="微软雅黑" panose="020B0503020204020204" pitchFamily="34" charset="-122"/>
              </a:rPr>
              <a:t>2</a:t>
            </a:r>
            <a:r>
              <a:rPr lang="zh-CN" altLang="en-US" dirty="0">
                <a:solidFill>
                  <a:prstClr val="black"/>
                </a:solidFill>
                <a:effectLst>
                  <a:outerShdw blurRad="838200" dist="50800" dir="5400000" algn="ctr" rotWithShape="0">
                    <a:srgbClr val="4472C4">
                      <a:alpha val="43000"/>
                    </a:srgbClr>
                  </a:outerShdw>
                </a:effectLst>
                <a:latin typeface="微软雅黑" panose="020B0503020204020204" pitchFamily="34" charset="-122"/>
                <a:ea typeface="微软雅黑" panose="020B0503020204020204" pitchFamily="34" charset="-122"/>
              </a:rPr>
              <a:t>）</a:t>
            </a:r>
            <a:r>
              <a:rPr lang="en-US" altLang="zh-CN" dirty="0">
                <a:solidFill>
                  <a:prstClr val="black"/>
                </a:solidFill>
                <a:effectLst>
                  <a:outerShdw blurRad="838200" dist="50800" dir="5400000" algn="ctr" rotWithShape="0">
                    <a:srgbClr val="4472C4">
                      <a:alpha val="43000"/>
                    </a:srgbClr>
                  </a:outerShdw>
                </a:effectLst>
                <a:latin typeface="微软雅黑" panose="020B0503020204020204" pitchFamily="34" charset="-122"/>
                <a:ea typeface="微软雅黑" panose="020B0503020204020204" pitchFamily="34" charset="-122"/>
              </a:rPr>
              <a:t>2.2 Sequential Logic Circuit Design</a:t>
            </a:r>
            <a:endParaRPr lang="en-US" altLang="zh-CN" dirty="0">
              <a:solidFill>
                <a:prstClr val="black"/>
              </a:solidFill>
              <a:effectLst>
                <a:outerShdw blurRad="838200" dist="50800" dir="5400000" algn="ctr" rotWithShape="0">
                  <a:srgbClr val="4472C4">
                    <a:alpha val="43000"/>
                  </a:srgbClr>
                </a:outerShdw>
              </a:effectLst>
              <a:latin typeface="微软雅黑" panose="020B0503020204020204" pitchFamily="34" charset="-122"/>
              <a:ea typeface="微软雅黑" panose="020B0503020204020204" pitchFamily="34" charset="-122"/>
            </a:endParaRPr>
          </a:p>
          <a:p>
            <a:pPr marL="0" indent="0">
              <a:lnSpc>
                <a:spcPct val="150000"/>
              </a:lnSpc>
              <a:buNone/>
            </a:pPr>
            <a:r>
              <a:rPr lang="zh-CN" altLang="en-US" sz="2700" dirty="0">
                <a:solidFill>
                  <a:prstClr val="black"/>
                </a:solidFill>
                <a:effectLst>
                  <a:outerShdw blurRad="838200" dist="50800" dir="5400000" algn="ctr" rotWithShape="0">
                    <a:srgbClr val="4472C4">
                      <a:alpha val="43000"/>
                    </a:srgbClr>
                  </a:outerShdw>
                </a:effectLst>
                <a:latin typeface="微软雅黑" panose="020B0503020204020204" pitchFamily="34" charset="-122"/>
                <a:ea typeface="微软雅黑" panose="020B0503020204020204" pitchFamily="34" charset="-122"/>
              </a:rPr>
              <a:t>（</a:t>
            </a:r>
            <a:r>
              <a:rPr lang="en-US" altLang="zh-CN" sz="2700" dirty="0">
                <a:solidFill>
                  <a:prstClr val="black"/>
                </a:solidFill>
                <a:effectLst>
                  <a:outerShdw blurRad="838200" dist="50800" dir="5400000" algn="ctr" rotWithShape="0">
                    <a:srgbClr val="4472C4">
                      <a:alpha val="43000"/>
                    </a:srgbClr>
                  </a:outerShdw>
                </a:effectLst>
                <a:latin typeface="微软雅黑" panose="020B0503020204020204" pitchFamily="34" charset="-122"/>
                <a:ea typeface="微软雅黑" panose="020B0503020204020204" pitchFamily="34" charset="-122"/>
              </a:rPr>
              <a:t>3</a:t>
            </a:r>
            <a:r>
              <a:rPr lang="zh-CN" altLang="en-US" sz="2700" dirty="0">
                <a:solidFill>
                  <a:prstClr val="black"/>
                </a:solidFill>
                <a:effectLst>
                  <a:outerShdw blurRad="838200" dist="50800" dir="5400000" algn="ctr" rotWithShape="0">
                    <a:srgbClr val="4472C4">
                      <a:alpha val="43000"/>
                    </a:srgbClr>
                  </a:outerShdw>
                </a:effectLst>
                <a:latin typeface="微软雅黑" panose="020B0503020204020204" pitchFamily="34" charset="-122"/>
                <a:ea typeface="微软雅黑" panose="020B0503020204020204" pitchFamily="34" charset="-122"/>
              </a:rPr>
              <a:t>）</a:t>
            </a:r>
            <a:r>
              <a:rPr lang="en-US" altLang="zh-CN" sz="2700" dirty="0">
                <a:solidFill>
                  <a:prstClr val="black"/>
                </a:solidFill>
                <a:effectLst>
                  <a:outerShdw blurRad="838200" dist="50800" dir="5400000" algn="ctr" rotWithShape="0">
                    <a:srgbClr val="4472C4">
                      <a:alpha val="43000"/>
                    </a:srgbClr>
                  </a:outerShdw>
                </a:effectLst>
                <a:latin typeface="微软雅黑" panose="020B0503020204020204" pitchFamily="34" charset="-122"/>
                <a:ea typeface="微软雅黑" panose="020B0503020204020204" pitchFamily="34" charset="-122"/>
              </a:rPr>
              <a:t>2.3 Design of small digital system (Sports watch)</a:t>
            </a:r>
            <a:r>
              <a:rPr lang="zh-CN" altLang="en-US" sz="2400" dirty="0">
                <a:solidFill>
                  <a:srgbClr val="FF0000"/>
                </a:solidFill>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 </a:t>
            </a:r>
            <a:endParaRPr lang="en-US" altLang="zh-CN" sz="2400"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endParaRPr>
          </a:p>
          <a:p>
            <a:pPr marL="0" lvl="0" indent="0">
              <a:lnSpc>
                <a:spcPct val="150000"/>
              </a:lnSpc>
              <a:buNone/>
            </a:pPr>
            <a:r>
              <a:rPr lang="zh-CN" altLang="en-US" sz="3800" dirty="0">
                <a:solidFill>
                  <a:prstClr val="black"/>
                </a:solidFill>
                <a:effectLst>
                  <a:outerShdw blurRad="838200" dist="50800" dir="5400000" algn="ctr" rotWithShape="0">
                    <a:srgbClr val="4472C4">
                      <a:alpha val="43000"/>
                    </a:srgbClr>
                  </a:outerShdw>
                </a:effectLst>
                <a:latin typeface="微软雅黑" panose="020B0503020204020204" pitchFamily="34" charset="-122"/>
                <a:ea typeface="微软雅黑" panose="020B0503020204020204" pitchFamily="34" charset="-122"/>
              </a:rPr>
              <a:t>二、</a:t>
            </a:r>
            <a:r>
              <a:rPr lang="en-US" altLang="zh-CN" sz="4000" dirty="0">
                <a:solidFill>
                  <a:prstClr val="black"/>
                </a:solidFill>
                <a:effectLst>
                  <a:outerShdw blurRad="838200" dist="50800" dir="5400000" algn="ctr" rotWithShape="0">
                    <a:srgbClr val="4472C4">
                      <a:alpha val="43000"/>
                    </a:srgbClr>
                  </a:outerShdw>
                </a:effectLst>
                <a:latin typeface="微软雅黑" panose="020B0503020204020204" pitchFamily="34" charset="-122"/>
                <a:ea typeface="微软雅黑" panose="020B0503020204020204" pitchFamily="34" charset="-122"/>
              </a:rPr>
              <a:t> MIPS CPU design</a:t>
            </a:r>
            <a:endParaRPr lang="en-US" altLang="zh-CN" sz="3800"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endParaRPr>
          </a:p>
          <a:p>
            <a:pPr marL="0" indent="0">
              <a:lnSpc>
                <a:spcPct val="150000"/>
              </a:lnSpc>
              <a:buNone/>
            </a:pPr>
            <a:r>
              <a:rPr lang="zh-CN" altLang="en-US"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a:t>
            </a:r>
            <a:r>
              <a:rPr lang="en-US" altLang="zh-CN"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1</a:t>
            </a:r>
            <a:r>
              <a:rPr lang="zh-CN" altLang="en-US"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a:t>
            </a:r>
            <a:r>
              <a:rPr lang="en-US" altLang="zh-CN"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6.1 Single cycle MIPS architecture</a:t>
            </a:r>
            <a:endParaRPr lang="en-US" altLang="zh-CN" dirty="0">
              <a:solidFill>
                <a:schemeClr val="tx2"/>
              </a:solidFill>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endParaRPr>
          </a:p>
          <a:p>
            <a:pPr marL="0" indent="0">
              <a:lnSpc>
                <a:spcPct val="150000"/>
              </a:lnSpc>
              <a:buNone/>
            </a:pPr>
            <a:r>
              <a:rPr lang="zh-CN" altLang="en-US"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a:t>
            </a:r>
            <a:r>
              <a:rPr lang="en-US" altLang="zh-CN"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2</a:t>
            </a:r>
            <a:r>
              <a:rPr lang="zh-CN" altLang="en-US"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a:t>
            </a:r>
            <a:r>
              <a:rPr lang="en-US" altLang="zh-CN"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6.2 Multi cycle MIPS architecture</a:t>
            </a:r>
            <a:endParaRPr lang="en-US" altLang="zh-CN"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endParaRPr>
          </a:p>
          <a:p>
            <a:pPr marL="0" indent="0">
              <a:lnSpc>
                <a:spcPct val="150000"/>
              </a:lnSpc>
              <a:buNone/>
            </a:pPr>
            <a:r>
              <a:rPr lang="zh-CN" altLang="en-US"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a:t>
            </a:r>
            <a:r>
              <a:rPr lang="en-US" altLang="zh-CN"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3</a:t>
            </a:r>
            <a:r>
              <a:rPr lang="zh-CN" altLang="en-US"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a:t>
            </a:r>
            <a:r>
              <a:rPr lang="en-US" altLang="zh-CN"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6.3 Single cycle MIPS CPU design (8 instructions)</a:t>
            </a:r>
            <a:endParaRPr lang="en-US" altLang="zh-CN" dirty="0">
              <a:solidFill>
                <a:schemeClr val="tx2"/>
              </a:solidFill>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endParaRPr>
          </a:p>
          <a:p>
            <a:pPr marL="0" indent="0">
              <a:lnSpc>
                <a:spcPct val="150000"/>
              </a:lnSpc>
              <a:buNone/>
            </a:pPr>
            <a:r>
              <a:rPr lang="zh-CN" altLang="en-US"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a:t>
            </a:r>
            <a:r>
              <a:rPr lang="en-US" altLang="zh-CN"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4</a:t>
            </a:r>
            <a:r>
              <a:rPr lang="zh-CN" altLang="en-US"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a:t>
            </a:r>
            <a:r>
              <a:rPr lang="en-US" altLang="zh-CN"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6.4 Multi cycle MIPS CPU (Microprogram Controller) Design</a:t>
            </a:r>
            <a:endParaRPr lang="en-US" altLang="zh-CN"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endParaRPr>
          </a:p>
          <a:p>
            <a:pPr marL="0" indent="0">
              <a:lnSpc>
                <a:spcPct val="150000"/>
              </a:lnSpc>
              <a:buNone/>
            </a:pPr>
            <a:r>
              <a:rPr lang="zh-CN" altLang="en-US"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a:t>
            </a:r>
            <a:r>
              <a:rPr lang="en-US" altLang="zh-CN"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5</a:t>
            </a:r>
            <a:r>
              <a:rPr lang="zh-CN" altLang="en-US"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a:t>
            </a:r>
            <a:r>
              <a:rPr lang="en-US" altLang="zh-CN"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6.5 Multi cycle MIPS CPU (Hardwired Controller) Design</a:t>
            </a:r>
            <a:endParaRPr lang="en-US" altLang="zh-CN"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endParaRPr>
          </a:p>
          <a:p>
            <a:pPr marL="0" indent="0">
              <a:lnSpc>
                <a:spcPct val="150000"/>
              </a:lnSpc>
              <a:buNone/>
            </a:pPr>
            <a:r>
              <a:rPr lang="zh-CN" altLang="en-US"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a:t>
            </a:r>
            <a:r>
              <a:rPr lang="en-US" altLang="zh-CN"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6</a:t>
            </a:r>
            <a:r>
              <a:rPr lang="zh-CN" altLang="en-US"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a:t>
            </a:r>
            <a:r>
              <a:rPr lang="en-US" altLang="zh-CN"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6.6 Single cycle MIPS CPU design (24 instructions)</a:t>
            </a:r>
            <a:endParaRPr lang="en-US" altLang="zh-CN" dirty="0">
              <a:solidFill>
                <a:srgbClr val="FF0000"/>
              </a:solidFill>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endParaRPr>
          </a:p>
          <a:p>
            <a:pPr marL="0" indent="0">
              <a:lnSpc>
                <a:spcPct val="150000"/>
              </a:lnSpc>
              <a:buNone/>
            </a:pPr>
            <a:r>
              <a:rPr lang="en-US" altLang="zh-CN" sz="2300"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hlinkClick r:id="rId1"/>
              </a:rPr>
              <a:t>https://www.icourse163.org/course/HUST-1205809816</a:t>
            </a:r>
            <a:endParaRPr lang="en-US" altLang="zh-CN" sz="3800"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endParaRPr>
          </a:p>
          <a:p>
            <a:pPr marL="0" indent="0">
              <a:lnSpc>
                <a:spcPct val="150000"/>
              </a:lnSpc>
              <a:buNone/>
            </a:pPr>
            <a:endParaRPr lang="zh-CN" altLang="en-US" sz="2700"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endParaRPr>
          </a:p>
        </p:txBody>
      </p:sp>
      <p:sp>
        <p:nvSpPr>
          <p:cNvPr id="9" name="矩形 8"/>
          <p:cNvSpPr/>
          <p:nvPr/>
        </p:nvSpPr>
        <p:spPr>
          <a:xfrm>
            <a:off x="5847644" y="982481"/>
            <a:ext cx="6155670" cy="1983740"/>
          </a:xfrm>
          <a:prstGeom prst="rect">
            <a:avLst/>
          </a:prstGeom>
          <a:solidFill>
            <a:schemeClr val="bg2"/>
          </a:solidFill>
          <a:effectLst>
            <a:outerShdw blurRad="546100" dist="50800" dir="5400000" algn="ctr" rotWithShape="0">
              <a:schemeClr val="accent5">
                <a:alpha val="43000"/>
              </a:schemeClr>
            </a:outerShdw>
          </a:effectLst>
        </p:spPr>
        <p:txBody>
          <a:bodyPr wrap="square">
            <a:spAutoFit/>
          </a:bodyPr>
          <a:lstStyle/>
          <a:p>
            <a:pPr algn="l" rtl="0"/>
            <a:r>
              <a:rPr lang="en-US" b="0" i="0" dirty="0">
                <a:solidFill>
                  <a:srgbClr val="333333"/>
                </a:solidFill>
                <a:effectLst/>
                <a:latin typeface="Arial" panose="020B0604020202020204" pitchFamily="34" charset="0"/>
              </a:rPr>
              <a:t>Circuit design</a:t>
            </a:r>
            <a:r>
              <a:rPr kumimoji="0" lang="zh-CN" altLang="en-US" sz="1800" b="0"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mn-cs"/>
              </a:rPr>
              <a:t>：</a:t>
            </a:r>
            <a:endParaRPr kumimoji="0" lang="en-US" altLang="zh-CN" sz="1800" b="0"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mn-cs"/>
            </a:endParaRPr>
          </a:p>
          <a:p>
            <a:pPr marL="342900" indent="-342900">
              <a:lnSpc>
                <a:spcPct val="150000"/>
              </a:lnSpc>
              <a:buFontTx/>
              <a:buAutoNum type="arabicParenBoth"/>
              <a:defRPr/>
            </a:pPr>
            <a:r>
              <a:rPr lang="en-US" altLang="zh-CN" sz="1400"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Sports watch</a:t>
            </a:r>
            <a:endParaRPr lang="en-US" altLang="zh-CN" sz="1400"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endParaRPr>
          </a:p>
          <a:p>
            <a:pPr marL="342900" indent="-342900">
              <a:lnSpc>
                <a:spcPct val="150000"/>
              </a:lnSpc>
              <a:buFontTx/>
              <a:buAutoNum type="arabicParenBoth"/>
              <a:defRPr/>
            </a:pPr>
            <a:r>
              <a:rPr lang="en-US" altLang="zh-CN" sz="1400"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Single cycle MIPS CPU </a:t>
            </a:r>
            <a:r>
              <a:rPr lang="en-US" altLang="zh-CN" sz="140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(8 </a:t>
            </a:r>
            <a:r>
              <a:rPr lang="en-US" altLang="zh-CN" sz="1400"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instructions)</a:t>
            </a:r>
            <a:endParaRPr lang="en-US" altLang="zh-CN" sz="1400"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buClrTx/>
              <a:buSzTx/>
              <a:buFontTx/>
              <a:buAutoNum type="arabicParenBoth"/>
              <a:defRPr/>
            </a:pPr>
            <a:r>
              <a:rPr lang="en-US" altLang="zh-CN" sz="1400"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Multi cycle MIPS CPU (Microprogram Controller, 8 instructions) </a:t>
            </a:r>
            <a:endParaRPr lang="en-US" altLang="zh-CN" sz="1400"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buClrTx/>
              <a:buSzTx/>
              <a:buFontTx/>
              <a:buAutoNum type="arabicParenBoth"/>
              <a:defRPr/>
            </a:pPr>
            <a:r>
              <a:rPr lang="en-US" altLang="zh-CN" sz="1400"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Multi cycle MIPS CPU (Hardwired Controller, 8+3instructions) </a:t>
            </a:r>
            <a:endParaRPr lang="en-US" altLang="zh-CN" sz="1400"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endParaRPr>
          </a:p>
          <a:p>
            <a:pPr marL="342900" marR="0" lvl="0" indent="-342900" algn="l" defTabSz="914400" rtl="0" eaLnBrk="1" fontAlgn="auto" latinLnBrk="0" hangingPunct="1">
              <a:lnSpc>
                <a:spcPct val="150000"/>
              </a:lnSpc>
              <a:spcAft>
                <a:spcPts val="0"/>
              </a:spcAft>
              <a:buClrTx/>
              <a:buSzTx/>
              <a:buFontTx/>
              <a:buAutoNum type="arabicParenBoth"/>
              <a:defRPr/>
            </a:pPr>
            <a:r>
              <a:rPr lang="en-US" altLang="zh-CN" sz="1400"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rPr>
              <a:t>Single cycle MIPS CPU (24 instructions)</a:t>
            </a:r>
            <a:endParaRPr lang="en-US" altLang="zh-CN" sz="1400" dirty="0">
              <a:effectLst>
                <a:outerShdw blurRad="838200" dist="50800" dir="5400000" algn="ctr" rotWithShape="0">
                  <a:schemeClr val="accent5">
                    <a:alpha val="43000"/>
                  </a:schemeClr>
                </a:outerShdw>
              </a:effectLst>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a:blip r:embed="rId2"/>
          <a:stretch>
            <a:fillRect/>
          </a:stretch>
        </p:blipFill>
        <p:spPr>
          <a:xfrm>
            <a:off x="6950396" y="3545453"/>
            <a:ext cx="2662069" cy="2115395"/>
          </a:xfrm>
          <a:prstGeom prst="rect">
            <a:avLst/>
          </a:prstGeom>
          <a:effectLst>
            <a:outerShdw blurRad="495300" dist="50800" dir="5400000" algn="ctr" rotWithShape="0">
              <a:srgbClr val="000000">
                <a:alpha val="43137"/>
              </a:srgbClr>
            </a:outerShdw>
          </a:effectLst>
        </p:spPr>
      </p:pic>
      <p:sp>
        <p:nvSpPr>
          <p:cNvPr id="12" name="圆角矩形 11"/>
          <p:cNvSpPr/>
          <p:nvPr/>
        </p:nvSpPr>
        <p:spPr>
          <a:xfrm>
            <a:off x="7379401" y="4115169"/>
            <a:ext cx="1939342" cy="57166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等线" panose="02010600030101010101" charset="-122"/>
              <a:ea typeface="+mn-ea"/>
              <a:cs typeface="+mn-cs"/>
            </a:endParaRPr>
          </a:p>
        </p:txBody>
      </p:sp>
      <p:sp>
        <p:nvSpPr>
          <p:cNvPr id="13" name="圆角矩形 12"/>
          <p:cNvSpPr/>
          <p:nvPr/>
        </p:nvSpPr>
        <p:spPr>
          <a:xfrm>
            <a:off x="7379401" y="4664730"/>
            <a:ext cx="1939342" cy="62453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等线" panose="02010600030101010101" charset="-122"/>
              <a:ea typeface="+mn-ea"/>
              <a:cs typeface="+mn-cs"/>
            </a:endParaRPr>
          </a:p>
        </p:txBody>
      </p:sp>
      <p:pic>
        <p:nvPicPr>
          <p:cNvPr id="14" name="图片 13"/>
          <p:cNvPicPr>
            <a:picLocks noChangeAspect="1"/>
          </p:cNvPicPr>
          <p:nvPr/>
        </p:nvPicPr>
        <p:blipFill>
          <a:blip r:embed="rId3"/>
          <a:stretch>
            <a:fillRect/>
          </a:stretch>
        </p:blipFill>
        <p:spPr>
          <a:xfrm>
            <a:off x="9781036" y="3511908"/>
            <a:ext cx="2350975" cy="2246453"/>
          </a:xfrm>
          <a:prstGeom prst="rect">
            <a:avLst/>
          </a:prstGeom>
          <a:effectLst>
            <a:outerShdw blurRad="508000" dist="50800" dir="5400000" algn="ctr" rotWithShape="0">
              <a:srgbClr val="000000">
                <a:alpha val="43137"/>
              </a:srgbClr>
            </a:outerShdw>
          </a:effectLst>
        </p:spPr>
      </p:pic>
      <p:sp>
        <p:nvSpPr>
          <p:cNvPr id="15" name="圆角矩形 14"/>
          <p:cNvSpPr/>
          <p:nvPr/>
        </p:nvSpPr>
        <p:spPr>
          <a:xfrm>
            <a:off x="9959498" y="3679282"/>
            <a:ext cx="1804060" cy="63139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等线" panose="02010600030101010101" charset="-122"/>
              <a:ea typeface="+mn-ea"/>
              <a:cs typeface="+mn-cs"/>
            </a:endParaRPr>
          </a:p>
        </p:txBody>
      </p:sp>
      <p:sp>
        <p:nvSpPr>
          <p:cNvPr id="16" name="圆角矩形 15"/>
          <p:cNvSpPr/>
          <p:nvPr/>
        </p:nvSpPr>
        <p:spPr>
          <a:xfrm>
            <a:off x="7317542" y="3725147"/>
            <a:ext cx="1939343" cy="390022"/>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等线" panose="02010600030101010101" charset="-122"/>
              <a:ea typeface="+mn-ea"/>
              <a:cs typeface="+mn-cs"/>
            </a:endParaRPr>
          </a:p>
        </p:txBody>
      </p:sp>
      <p:pic>
        <p:nvPicPr>
          <p:cNvPr id="2" name="图片 1"/>
          <p:cNvPicPr>
            <a:picLocks noChangeAspect="1"/>
          </p:cNvPicPr>
          <p:nvPr/>
        </p:nvPicPr>
        <p:blipFill>
          <a:blip r:embed="rId4"/>
          <a:stretch>
            <a:fillRect/>
          </a:stretch>
        </p:blipFill>
        <p:spPr>
          <a:xfrm>
            <a:off x="5148407" y="3357258"/>
            <a:ext cx="1602109" cy="3443827"/>
          </a:xfrm>
          <a:prstGeom prst="rect">
            <a:avLst/>
          </a:prstGeom>
        </p:spPr>
      </p:pic>
      <p:sp>
        <p:nvSpPr>
          <p:cNvPr id="18" name="圆角矩形 14"/>
          <p:cNvSpPr/>
          <p:nvPr/>
        </p:nvSpPr>
        <p:spPr>
          <a:xfrm>
            <a:off x="5210716" y="3490697"/>
            <a:ext cx="1539800" cy="3310388"/>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等线" panose="02010600030101010101" charset="-122"/>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50582" y="838484"/>
            <a:ext cx="7793467" cy="741716"/>
          </a:xfrm>
          <a:effectLst>
            <a:outerShdw blurRad="38100" dist="50800" dir="5400000" algn="ctr" rotWithShape="0">
              <a:srgbClr val="000000">
                <a:alpha val="43137"/>
              </a:srgbClr>
            </a:outerShdw>
          </a:effectLst>
        </p:spPr>
        <p:txBody>
          <a:bodyPr>
            <a:normAutofit fontScale="90000"/>
          </a:bodyPr>
          <a:lstStyle/>
          <a:p>
            <a:r>
              <a:rPr lang="en-US" altLang="zh-CN" sz="3200" b="1" dirty="0">
                <a:solidFill>
                  <a:srgbClr val="0070C0"/>
                </a:solidFill>
              </a:rPr>
              <a:t>Comprehensive training task of system hardware</a:t>
            </a:r>
            <a:r>
              <a:rPr lang="zh-CN" altLang="en-US" sz="3200" b="1" dirty="0">
                <a:solidFill>
                  <a:srgbClr val="0070C0"/>
                </a:solidFill>
              </a:rPr>
              <a:t>：</a:t>
            </a:r>
            <a:endParaRPr lang="zh-CN" altLang="en-US" sz="3200" dirty="0">
              <a:solidFill>
                <a:srgbClr val="0070C0"/>
              </a:solidFill>
            </a:endParaRPr>
          </a:p>
        </p:txBody>
      </p:sp>
      <p:sp>
        <p:nvSpPr>
          <p:cNvPr id="4" name="内容占位符 3"/>
          <p:cNvSpPr txBox="1">
            <a:spLocks noGrp="1"/>
          </p:cNvSpPr>
          <p:nvPr>
            <p:ph idx="1"/>
          </p:nvPr>
        </p:nvSpPr>
        <p:spPr>
          <a:xfrm>
            <a:off x="465159" y="1437633"/>
            <a:ext cx="11204121" cy="4371975"/>
          </a:xfrm>
          <a:prstGeom prst="rect">
            <a:avLst/>
          </a:prstGeom>
          <a:noFill/>
          <a:effectLst>
            <a:outerShdw blurRad="558800" dist="50800" dir="5400000" sx="1000" sy="1000" algn="ctr" rotWithShape="0">
              <a:srgbClr val="000000">
                <a:alpha val="92000"/>
              </a:srgbClr>
            </a:outerShdw>
          </a:effectLst>
        </p:spPr>
        <p:txBody>
          <a:bodyPr wrap="square" rtlCol="0">
            <a:spAutoFit/>
          </a:bodyPr>
          <a:lstStyle/>
          <a:p>
            <a:r>
              <a:rPr lang="en-US" altLang="zh-CN" sz="2000" b="1" dirty="0">
                <a:solidFill>
                  <a:srgbClr val="00B0F0"/>
                </a:solidFill>
                <a:effectLst>
                  <a:outerShdw blurRad="558800" dist="50800" dir="5400000" algn="ctr" rotWithShape="0">
                    <a:srgbClr val="000000">
                      <a:alpha val="27000"/>
                    </a:srgbClr>
                  </a:outerShdw>
                </a:effectLst>
              </a:rPr>
              <a:t>1</a:t>
            </a:r>
            <a:r>
              <a:rPr lang="zh-CN" altLang="en-US" sz="2000" b="1" dirty="0">
                <a:solidFill>
                  <a:srgbClr val="00B0F0"/>
                </a:solidFill>
                <a:effectLst>
                  <a:outerShdw blurRad="558800" dist="50800" dir="5400000" algn="ctr" rotWithShape="0">
                    <a:srgbClr val="000000">
                      <a:alpha val="27000"/>
                    </a:srgbClr>
                  </a:outerShdw>
                </a:effectLst>
              </a:rPr>
              <a:t>、</a:t>
            </a:r>
            <a:r>
              <a:rPr lang="en-US" altLang="zh-CN" sz="2000" b="1" dirty="0">
                <a:solidFill>
                  <a:srgbClr val="00B0F0"/>
                </a:solidFill>
                <a:effectLst>
                  <a:outerShdw blurRad="558800" dist="50800" dir="5400000" algn="ctr" rotWithShape="0">
                    <a:srgbClr val="000000">
                      <a:alpha val="27000"/>
                    </a:srgbClr>
                  </a:outerShdw>
                </a:effectLst>
              </a:rPr>
              <a:t>Learn MIPS machine instruction Set</a:t>
            </a:r>
            <a:endParaRPr lang="en-US" altLang="zh-CN" sz="2000" b="1" dirty="0">
              <a:solidFill>
                <a:srgbClr val="00B0F0"/>
              </a:solidFill>
              <a:effectLst>
                <a:outerShdw blurRad="558800" dist="50800" dir="5400000" algn="ctr" rotWithShape="0">
                  <a:srgbClr val="000000">
                    <a:alpha val="27000"/>
                  </a:srgbClr>
                </a:outerShdw>
              </a:effectLst>
            </a:endParaRPr>
          </a:p>
          <a:p>
            <a:r>
              <a:rPr lang="en-US" altLang="zh-CN" sz="2000" b="1" dirty="0">
                <a:solidFill>
                  <a:srgbClr val="00B0F0"/>
                </a:solidFill>
                <a:effectLst>
                  <a:outerShdw blurRad="558800" dist="50800" dir="5400000" algn="ctr" rotWithShape="0">
                    <a:srgbClr val="000000">
                      <a:alpha val="27000"/>
                    </a:srgbClr>
                  </a:outerShdw>
                </a:effectLst>
              </a:rPr>
              <a:t>2</a:t>
            </a:r>
            <a:r>
              <a:rPr lang="zh-CN" altLang="en-US" sz="2000" b="1" dirty="0">
                <a:solidFill>
                  <a:srgbClr val="00B0F0"/>
                </a:solidFill>
                <a:effectLst>
                  <a:outerShdw blurRad="558800" dist="50800" dir="5400000" algn="ctr" rotWithShape="0">
                    <a:srgbClr val="000000">
                      <a:alpha val="27000"/>
                    </a:srgbClr>
                  </a:outerShdw>
                </a:effectLst>
              </a:rPr>
              <a:t>、</a:t>
            </a:r>
            <a:r>
              <a:rPr lang="en-US" altLang="zh-CN" sz="2000" b="1" dirty="0">
                <a:solidFill>
                  <a:srgbClr val="00B0F0"/>
                </a:solidFill>
                <a:effectLst>
                  <a:outerShdw blurRad="558800" dist="50800" dir="5400000" algn="ctr" rotWithShape="0">
                    <a:srgbClr val="000000">
                      <a:alpha val="27000"/>
                    </a:srgbClr>
                  </a:outerShdw>
                </a:effectLst>
              </a:rPr>
              <a:t>Design 4 CPU with different structures</a:t>
            </a:r>
            <a:br>
              <a:rPr lang="en-US" altLang="zh-CN" sz="2000" b="1" dirty="0">
                <a:solidFill>
                  <a:srgbClr val="00B0F0"/>
                </a:solidFill>
                <a:effectLst>
                  <a:outerShdw blurRad="558800" dist="50800" dir="5400000" algn="ctr" rotWithShape="0">
                    <a:srgbClr val="000000">
                      <a:alpha val="27000"/>
                    </a:srgbClr>
                  </a:outerShdw>
                </a:effectLst>
              </a:rPr>
            </a:br>
            <a:r>
              <a:rPr lang="en-US" altLang="zh-CN" sz="1400" dirty="0">
                <a:effectLst>
                  <a:outerShdw blurRad="558800" dist="50800" dir="5400000" algn="ctr" rotWithShape="0">
                    <a:srgbClr val="000000">
                      <a:alpha val="27000"/>
                    </a:srgbClr>
                  </a:outerShdw>
                </a:effectLst>
                <a:latin typeface="微软雅黑" panose="020B0503020204020204" pitchFamily="34" charset="-122"/>
                <a:ea typeface="微软雅黑" panose="020B0503020204020204" pitchFamily="34" charset="-122"/>
              </a:rPr>
              <a:t>Multi cycle MIPS CPU (Microprogram Controller, 8 instructions)</a:t>
            </a:r>
            <a:endParaRPr lang="en-US" altLang="zh-CN" sz="1400" b="1" dirty="0">
              <a:solidFill>
                <a:srgbClr val="00B0F0"/>
              </a:solidFill>
              <a:effectLst>
                <a:outerShdw blurRad="558800" dist="50800" dir="5400000" algn="ctr" rotWithShape="0">
                  <a:srgbClr val="000000">
                    <a:alpha val="27000"/>
                  </a:srgbClr>
                </a:outerShdw>
              </a:effectLst>
            </a:endParaRPr>
          </a:p>
          <a:p>
            <a:pPr marL="0" indent="0">
              <a:buNone/>
            </a:pPr>
            <a:r>
              <a:rPr lang="zh-CN" altLang="en-US" sz="1400" b="1" dirty="0">
                <a:solidFill>
                  <a:srgbClr val="00B0F0"/>
                </a:solidFill>
                <a:effectLst>
                  <a:outerShdw blurRad="558800" dist="50800" dir="5400000" algn="ctr" rotWithShape="0">
                    <a:srgbClr val="000000">
                      <a:alpha val="27000"/>
                    </a:srgbClr>
                  </a:outerShdw>
                </a:effectLst>
              </a:rPr>
              <a:t>    </a:t>
            </a:r>
            <a:r>
              <a:rPr lang="en-US" altLang="zh-CN" sz="1400" dirty="0">
                <a:effectLst>
                  <a:outerShdw blurRad="558800" dist="50800" dir="5400000" algn="ctr" rotWithShape="0">
                    <a:srgbClr val="000000">
                      <a:alpha val="27000"/>
                    </a:srgbClr>
                  </a:outerShdw>
                </a:effectLst>
                <a:latin typeface="微软雅黑" panose="020B0503020204020204" pitchFamily="34" charset="-122"/>
                <a:ea typeface="微软雅黑" panose="020B0503020204020204" pitchFamily="34" charset="-122"/>
              </a:rPr>
              <a:t>Multi cycle MIPS CPU (Hardwired Controller, 8 instructions)</a:t>
            </a:r>
            <a:endParaRPr lang="en-US" altLang="zh-CN" sz="1400" b="1" dirty="0">
              <a:solidFill>
                <a:srgbClr val="00B0F0"/>
              </a:solidFill>
              <a:effectLst>
                <a:outerShdw blurRad="558800" dist="50800" dir="5400000" algn="ctr" rotWithShape="0">
                  <a:srgbClr val="000000">
                    <a:alpha val="27000"/>
                  </a:srgbClr>
                </a:outerShdw>
              </a:effectLst>
            </a:endParaRPr>
          </a:p>
          <a:p>
            <a:pPr marL="0" indent="0">
              <a:buNone/>
            </a:pPr>
            <a:r>
              <a:rPr lang="en-US" altLang="zh-CN" sz="1400" dirty="0">
                <a:effectLst>
                  <a:outerShdw blurRad="558800" dist="50800" dir="5400000" algn="ctr" rotWithShape="0">
                    <a:srgbClr val="000000">
                      <a:alpha val="27000"/>
                    </a:srgbClr>
                  </a:outerShdw>
                </a:effectLst>
                <a:latin typeface="微软雅黑" panose="020B0503020204020204" pitchFamily="34" charset="-122"/>
                <a:ea typeface="微软雅黑" panose="020B0503020204020204" pitchFamily="34" charset="-122"/>
              </a:rPr>
              <a:t>    Multi cycle MIPS CPU (Pure Hardwired Controller, 8+3instructions)</a:t>
            </a:r>
            <a:endParaRPr lang="en-US" altLang="zh-CN" sz="1400" b="1" dirty="0">
              <a:solidFill>
                <a:srgbClr val="00B0F0"/>
              </a:solidFill>
              <a:effectLst>
                <a:outerShdw blurRad="558800" dist="50800" dir="5400000" algn="ctr" rotWithShape="0">
                  <a:srgbClr val="000000">
                    <a:alpha val="27000"/>
                  </a:srgbClr>
                </a:outerShdw>
              </a:effectLst>
            </a:endParaRPr>
          </a:p>
          <a:p>
            <a:pPr marL="0" indent="0">
              <a:buNone/>
            </a:pPr>
            <a:r>
              <a:rPr lang="zh-CN" altLang="en-US" sz="1400" b="1" dirty="0">
                <a:solidFill>
                  <a:srgbClr val="00B0F0"/>
                </a:solidFill>
                <a:effectLst>
                  <a:outerShdw blurRad="558800" dist="50800" dir="5400000" algn="ctr" rotWithShape="0">
                    <a:srgbClr val="000000">
                      <a:alpha val="27000"/>
                    </a:srgbClr>
                  </a:outerShdw>
                </a:effectLst>
              </a:rPr>
              <a:t>    </a:t>
            </a:r>
            <a:r>
              <a:rPr lang="en-US" altLang="zh-CN" sz="1400" dirty="0">
                <a:effectLst>
                  <a:outerShdw blurRad="558800" dist="50800" dir="5400000" algn="ctr" rotWithShape="0">
                    <a:srgbClr val="000000">
                      <a:alpha val="27000"/>
                    </a:srgbClr>
                  </a:outerShdw>
                </a:effectLst>
                <a:latin typeface="微软雅黑" panose="020B0503020204020204" pitchFamily="34" charset="-122"/>
                <a:ea typeface="微软雅黑" panose="020B0503020204020204" pitchFamily="34" charset="-122"/>
              </a:rPr>
              <a:t>Single cycle MIPS CPU(Hardwired Controller, 24 instructions)</a:t>
            </a:r>
            <a:endParaRPr lang="en-US" altLang="zh-CN" sz="1400" dirty="0">
              <a:effectLst>
                <a:outerShdw blurRad="558800" dist="50800" dir="5400000" algn="ctr" rotWithShape="0">
                  <a:srgbClr val="000000">
                    <a:alpha val="27000"/>
                  </a:srgbClr>
                </a:outerShdw>
              </a:effectLst>
              <a:latin typeface="微软雅黑" panose="020B0503020204020204" pitchFamily="34" charset="-122"/>
              <a:ea typeface="微软雅黑" panose="020B0503020204020204" pitchFamily="34" charset="-122"/>
            </a:endParaRPr>
          </a:p>
          <a:p>
            <a:pPr marL="0" indent="0">
              <a:buNone/>
            </a:pPr>
            <a:endParaRPr lang="en-US" altLang="zh-CN" sz="1400" b="1" dirty="0">
              <a:solidFill>
                <a:srgbClr val="00B0F0"/>
              </a:solidFill>
              <a:effectLst>
                <a:outerShdw blurRad="558800" dist="50800" dir="5400000" algn="ctr" rotWithShape="0">
                  <a:srgbClr val="000000">
                    <a:alpha val="27000"/>
                  </a:srgbClr>
                </a:outerShdw>
              </a:effectLst>
            </a:endParaRPr>
          </a:p>
          <a:p>
            <a:r>
              <a:rPr lang="en-US" altLang="zh-CN" sz="2000" b="1" dirty="0">
                <a:solidFill>
                  <a:srgbClr val="00B0F0"/>
                </a:solidFill>
                <a:effectLst>
                  <a:outerShdw blurRad="558800" dist="50800" dir="5400000" algn="ctr" rotWithShape="0">
                    <a:srgbClr val="000000">
                      <a:alpha val="27000"/>
                    </a:srgbClr>
                  </a:outerShdw>
                </a:effectLst>
              </a:rPr>
              <a:t>3</a:t>
            </a:r>
            <a:r>
              <a:rPr lang="zh-CN" altLang="en-US" sz="2000" b="1" dirty="0">
                <a:solidFill>
                  <a:srgbClr val="00B0F0"/>
                </a:solidFill>
                <a:effectLst>
                  <a:outerShdw blurRad="558800" dist="50800" dir="5400000" algn="ctr" rotWithShape="0">
                    <a:srgbClr val="000000">
                      <a:alpha val="27000"/>
                    </a:srgbClr>
                  </a:outerShdw>
                </a:effectLst>
              </a:rPr>
              <a:t>、</a:t>
            </a:r>
            <a:r>
              <a:rPr lang="en-US" altLang="zh-CN" sz="1600" dirty="0">
                <a:solidFill>
                  <a:srgbClr val="00B0F0"/>
                </a:solidFill>
                <a:effectLst>
                  <a:outerShdw blurRad="558800" dist="50800" dir="5400000" algn="ctr" rotWithShape="0">
                    <a:srgbClr val="000000">
                      <a:alpha val="27000"/>
                    </a:srgbClr>
                  </a:outerShdw>
                </a:effectLst>
                <a:latin typeface="微软雅黑" panose="020B0503020204020204" pitchFamily="34" charset="-122"/>
                <a:ea typeface="微软雅黑" panose="020B0503020204020204" pitchFamily="34" charset="-122"/>
              </a:rPr>
              <a:t>Each design is scheduled to be completed in three weeks</a:t>
            </a:r>
            <a:r>
              <a:rPr lang="zh-CN" altLang="en-US" sz="1600" dirty="0">
                <a:solidFill>
                  <a:srgbClr val="00B0F0"/>
                </a:solidFill>
                <a:effectLst>
                  <a:outerShdw blurRad="558800" dist="50800" dir="5400000" algn="ctr" rotWithShape="0">
                    <a:srgbClr val="000000">
                      <a:alpha val="27000"/>
                    </a:srgbClr>
                  </a:outerShdw>
                </a:effectLst>
                <a:latin typeface="微软雅黑" panose="020B0503020204020204" pitchFamily="34" charset="-122"/>
                <a:ea typeface="微软雅黑" panose="020B0503020204020204" pitchFamily="34" charset="-122"/>
              </a:rPr>
              <a:t>：</a:t>
            </a:r>
            <a:endParaRPr lang="en-US" altLang="zh-CN" sz="1600" dirty="0">
              <a:solidFill>
                <a:srgbClr val="00B0F0"/>
              </a:solidFill>
              <a:effectLst>
                <a:outerShdw blurRad="558800" dist="50800" dir="5400000" algn="ctr" rotWithShape="0">
                  <a:srgbClr val="000000">
                    <a:alpha val="27000"/>
                  </a:srgbClr>
                </a:outerShdw>
              </a:effectLst>
              <a:latin typeface="微软雅黑" panose="020B0503020204020204" pitchFamily="34" charset="-122"/>
              <a:ea typeface="微软雅黑" panose="020B0503020204020204" pitchFamily="34" charset="-122"/>
            </a:endParaRPr>
          </a:p>
          <a:p>
            <a:pPr marL="0" indent="0">
              <a:buNone/>
            </a:pPr>
            <a:r>
              <a:rPr lang="en-US" altLang="zh-CN" sz="1600" dirty="0">
                <a:solidFill>
                  <a:srgbClr val="00B0F0"/>
                </a:solidFill>
                <a:effectLst>
                  <a:outerShdw blurRad="558800" dist="50800" dir="5400000" algn="ctr" rotWithShape="0">
                    <a:srgbClr val="000000">
                      <a:alpha val="27000"/>
                    </a:srgbClr>
                  </a:outerShdw>
                </a:effectLst>
                <a:latin typeface="微软雅黑" panose="020B0503020204020204" pitchFamily="34" charset="-122"/>
                <a:ea typeface="微软雅黑" panose="020B0503020204020204" pitchFamily="34" charset="-122"/>
              </a:rPr>
              <a:t>    In the first week, the teacher assigned the task, and the students learned by themselves in MOOC, designed the circuit, and went through the test on Touge Platform. submitted the </a:t>
            </a:r>
            <a:r>
              <a:rPr lang="en-US" altLang="zh-CN" sz="1600" dirty="0">
                <a:solidFill>
                  <a:srgbClr val="00B0F0"/>
                </a:solidFill>
                <a:effectLst>
                  <a:outerShdw blurRad="558800" dist="50800" dir="5400000" algn="ctr" rotWithShape="0">
                    <a:srgbClr val="000000">
                      <a:alpha val="27000"/>
                    </a:srgbClr>
                  </a:outerShdw>
                </a:effectLst>
                <a:latin typeface="微软雅黑" panose="020B0503020204020204" pitchFamily="34" charset="-122"/>
                <a:ea typeface="微软雅黑" panose="020B0503020204020204" pitchFamily="34" charset="-122"/>
                <a:sym typeface="+mn-ea"/>
              </a:rPr>
              <a:t>draft version </a:t>
            </a:r>
            <a:r>
              <a:rPr lang="en-US" altLang="zh-CN" sz="1600" dirty="0">
                <a:solidFill>
                  <a:srgbClr val="00B0F0"/>
                </a:solidFill>
                <a:effectLst>
                  <a:outerShdw blurRad="558800" dist="50800" dir="5400000" algn="ctr" rotWithShape="0">
                    <a:srgbClr val="000000">
                      <a:alpha val="27000"/>
                    </a:srgbClr>
                  </a:outerShdw>
                </a:effectLst>
                <a:latin typeface="微软雅黑" panose="020B0503020204020204" pitchFamily="34" charset="-122"/>
                <a:ea typeface="微软雅黑" panose="020B0503020204020204" pitchFamily="34" charset="-122"/>
              </a:rPr>
              <a:t>experiment report before </a:t>
            </a:r>
            <a:r>
              <a:rPr lang="en-US" altLang="zh-CN" sz="1600" dirty="0">
                <a:solidFill>
                  <a:srgbClr val="00B0F0"/>
                </a:solidFill>
                <a:effectLst>
                  <a:outerShdw blurRad="558800" dist="50800" dir="5400000" algn="ctr" rotWithShape="0">
                    <a:srgbClr val="000000">
                      <a:alpha val="27000"/>
                    </a:srgbClr>
                  </a:outerShdw>
                </a:effectLst>
                <a:latin typeface="微软雅黑" panose="020B0503020204020204" pitchFamily="34" charset="-122"/>
                <a:ea typeface="微软雅黑" panose="020B0503020204020204" pitchFamily="34" charset="-122"/>
                <a:sym typeface="+mn-ea"/>
              </a:rPr>
              <a:t>the second week class.</a:t>
            </a:r>
            <a:endParaRPr lang="en-US" altLang="zh-CN" sz="1600" dirty="0">
              <a:solidFill>
                <a:srgbClr val="00B0F0"/>
              </a:solidFill>
              <a:effectLst>
                <a:outerShdw blurRad="558800" dist="50800" dir="5400000" algn="ctr" rotWithShape="0">
                  <a:srgbClr val="000000">
                    <a:alpha val="27000"/>
                  </a:srgbClr>
                </a:outerShdw>
              </a:effectLst>
              <a:latin typeface="微软雅黑" panose="020B0503020204020204" pitchFamily="34" charset="-122"/>
              <a:ea typeface="微软雅黑" panose="020B0503020204020204" pitchFamily="34" charset="-122"/>
            </a:endParaRPr>
          </a:p>
          <a:p>
            <a:pPr marL="0" indent="0">
              <a:buNone/>
            </a:pPr>
            <a:r>
              <a:rPr lang="zh-CN" altLang="en-US" sz="1600" dirty="0">
                <a:solidFill>
                  <a:srgbClr val="00B0F0"/>
                </a:solidFill>
                <a:effectLst>
                  <a:outerShdw blurRad="558800" dist="50800" dir="5400000" algn="ctr" rotWithShape="0">
                    <a:srgbClr val="000000">
                      <a:alpha val="27000"/>
                    </a:srgbClr>
                  </a:outerShdw>
                </a:effectLst>
                <a:latin typeface="微软雅黑" panose="020B0503020204020204" pitchFamily="34" charset="-122"/>
                <a:ea typeface="微软雅黑" panose="020B0503020204020204" pitchFamily="34" charset="-122"/>
              </a:rPr>
              <a:t>    </a:t>
            </a:r>
            <a:r>
              <a:rPr lang="en-US" altLang="zh-CN" sz="1600" dirty="0">
                <a:solidFill>
                  <a:srgbClr val="00B0F0"/>
                </a:solidFill>
                <a:effectLst>
                  <a:outerShdw blurRad="558800" dist="50800" dir="5400000" algn="ctr" rotWithShape="0">
                    <a:srgbClr val="000000">
                      <a:alpha val="27000"/>
                    </a:srgbClr>
                  </a:outerShdw>
                </a:effectLst>
                <a:latin typeface="微软雅黑" panose="020B0503020204020204" pitchFamily="34" charset="-122"/>
                <a:ea typeface="微软雅黑" panose="020B0503020204020204" pitchFamily="34" charset="-122"/>
              </a:rPr>
              <a:t>In the second week, the teacher explained the principle, and the students improved the circuit, and went through the test on </a:t>
            </a:r>
            <a:r>
              <a:rPr lang="en-US" altLang="zh-CN" sz="1600" dirty="0" err="1">
                <a:solidFill>
                  <a:srgbClr val="00B0F0"/>
                </a:solidFill>
                <a:effectLst>
                  <a:outerShdw blurRad="558800" dist="50800" dir="5400000" algn="ctr" rotWithShape="0">
                    <a:srgbClr val="000000">
                      <a:alpha val="27000"/>
                    </a:srgbClr>
                  </a:outerShdw>
                </a:effectLst>
                <a:latin typeface="微软雅黑" panose="020B0503020204020204" pitchFamily="34" charset="-122"/>
                <a:ea typeface="微软雅黑" panose="020B0503020204020204" pitchFamily="34" charset="-122"/>
              </a:rPr>
              <a:t>Touge</a:t>
            </a:r>
            <a:r>
              <a:rPr lang="en-US" altLang="zh-CN" sz="1600" dirty="0">
                <a:solidFill>
                  <a:srgbClr val="00B0F0"/>
                </a:solidFill>
                <a:effectLst>
                  <a:outerShdw blurRad="558800" dist="50800" dir="5400000" algn="ctr" rotWithShape="0">
                    <a:srgbClr val="000000">
                      <a:alpha val="27000"/>
                    </a:srgbClr>
                  </a:outerShdw>
                </a:effectLst>
                <a:latin typeface="微软雅黑" panose="020B0503020204020204" pitchFamily="34" charset="-122"/>
                <a:ea typeface="微软雅黑" panose="020B0503020204020204" pitchFamily="34" charset="-122"/>
              </a:rPr>
              <a:t> Platform, submitted the the final version experiment report.</a:t>
            </a:r>
            <a:endParaRPr lang="en-US" altLang="zh-CN" sz="1600" dirty="0">
              <a:solidFill>
                <a:srgbClr val="00B0F0"/>
              </a:solidFill>
              <a:effectLst>
                <a:outerShdw blurRad="558800" dist="50800" dir="5400000" algn="ctr" rotWithShape="0">
                  <a:srgbClr val="000000">
                    <a:alpha val="27000"/>
                  </a:srgbClr>
                </a:outerShdw>
              </a:effectLst>
              <a:latin typeface="微软雅黑" panose="020B0503020204020204" pitchFamily="34" charset="-122"/>
              <a:ea typeface="微软雅黑" panose="020B0503020204020204" pitchFamily="34" charset="-122"/>
            </a:endParaRPr>
          </a:p>
          <a:p>
            <a:pPr marL="0" indent="0">
              <a:buNone/>
            </a:pPr>
            <a:r>
              <a:rPr lang="zh-CN" altLang="en-US" sz="1600" dirty="0">
                <a:solidFill>
                  <a:srgbClr val="00B0F0"/>
                </a:solidFill>
                <a:effectLst>
                  <a:outerShdw blurRad="558800" dist="50800" dir="5400000" algn="ctr" rotWithShape="0">
                    <a:srgbClr val="000000">
                      <a:alpha val="27000"/>
                    </a:srgbClr>
                  </a:outerShdw>
                </a:effectLst>
                <a:latin typeface="微软雅黑" panose="020B0503020204020204" pitchFamily="34" charset="-122"/>
                <a:ea typeface="微软雅黑" panose="020B0503020204020204" pitchFamily="34" charset="-122"/>
              </a:rPr>
              <a:t>    </a:t>
            </a:r>
            <a:r>
              <a:rPr lang="en-US" altLang="zh-CN" sz="1600" dirty="0">
                <a:solidFill>
                  <a:srgbClr val="00B0F0"/>
                </a:solidFill>
                <a:effectLst>
                  <a:outerShdw blurRad="558800" dist="50800" dir="5400000" algn="ctr" rotWithShape="0">
                    <a:srgbClr val="000000">
                      <a:alpha val="27000"/>
                    </a:srgbClr>
                  </a:outerShdw>
                </a:effectLst>
                <a:latin typeface="微软雅黑" panose="020B0503020204020204" pitchFamily="34" charset="-122"/>
                <a:ea typeface="微软雅黑" panose="020B0503020204020204" pitchFamily="34" charset="-122"/>
              </a:rPr>
              <a:t>In the third week, the teacher checked the design.</a:t>
            </a:r>
            <a:endParaRPr lang="en-US" altLang="zh-CN" sz="1600" dirty="0">
              <a:solidFill>
                <a:srgbClr val="00B0F0"/>
              </a:solidFill>
              <a:effectLst>
                <a:outerShdw blurRad="558800" dist="50800" dir="5400000" algn="ctr" rotWithShape="0">
                  <a:srgbClr val="000000">
                    <a:alpha val="27000"/>
                  </a:srgbClr>
                </a:outerShdw>
              </a:effectLst>
              <a:latin typeface="微软雅黑" panose="020B0503020204020204" pitchFamily="34" charset="-122"/>
              <a:ea typeface="微软雅黑" panose="020B0503020204020204" pitchFamily="34" charset="-122"/>
            </a:endParaRPr>
          </a:p>
        </p:txBody>
      </p:sp>
      <p:sp>
        <p:nvSpPr>
          <p:cNvPr id="10" name="文本框 9"/>
          <p:cNvSpPr txBox="1"/>
          <p:nvPr/>
        </p:nvSpPr>
        <p:spPr>
          <a:xfrm>
            <a:off x="91670" y="6019516"/>
            <a:ext cx="12008660" cy="707886"/>
          </a:xfrm>
          <a:prstGeom prst="rect">
            <a:avLst/>
          </a:prstGeom>
          <a:solidFill>
            <a:schemeClr val="bg2"/>
          </a:solidFill>
        </p:spPr>
        <p:txBody>
          <a:bodyPr wrap="square" rtlCol="0">
            <a:spAutoFit/>
          </a:bodyPr>
          <a:lstStyle/>
          <a:p>
            <a:pPr marL="0" marR="0" lvl="0" indent="0" algn="l" defTabSz="914400" rtl="0" eaLnBrk="1" fontAlgn="auto" latinLnBrk="0" hangingPunct="1">
              <a:lnSpc>
                <a:spcPct val="100000"/>
              </a:lnSpc>
              <a:spcBef>
                <a:spcPts val="0"/>
              </a:spcBef>
              <a:buClrTx/>
              <a:buSzTx/>
              <a:buFontTx/>
              <a:buNone/>
              <a:defRPr/>
            </a:pPr>
            <a:r>
              <a:rPr kumimoji="0" lang="zh-CN" altLang="en-US" sz="2000" b="0" i="0" u="none" strike="noStrike" kern="1200" cap="none" spc="0" normalizeH="0" baseline="0" noProof="0" dirty="0">
                <a:ln>
                  <a:noFill/>
                </a:ln>
                <a:solidFill>
                  <a:srgbClr val="0070C0"/>
                </a:solidFill>
                <a:effectLst/>
                <a:uLnTx/>
                <a:uFillTx/>
                <a:latin typeface="等线" panose="02010600030101010101" charset="-122"/>
                <a:ea typeface="等线" panose="02010600030101010101" charset="-122"/>
                <a:cs typeface="+mn-cs"/>
              </a:rPr>
              <a:t>       </a:t>
            </a:r>
            <a:r>
              <a:rPr kumimoji="0" lang="en-US" altLang="zh-CN" sz="2000" b="0" i="0" u="none" strike="noStrike" kern="1200" cap="none" spc="0" normalizeH="0" baseline="0" noProof="0" dirty="0">
                <a:ln>
                  <a:noFill/>
                </a:ln>
                <a:solidFill>
                  <a:srgbClr val="0070C0"/>
                </a:solidFill>
                <a:effectLst/>
                <a:uLnTx/>
                <a:uFillTx/>
                <a:latin typeface="等线" panose="02010600030101010101" charset="-122"/>
                <a:ea typeface="等线" panose="02010600030101010101" charset="-122"/>
                <a:cs typeface="+mn-cs"/>
              </a:rPr>
              <a:t>we should have a thorough understanding of the theoretical and experimental knowledge of hardware courses such as digital circuit, assembly language, computer composition principle and system structure.</a:t>
            </a:r>
            <a:endParaRPr kumimoji="0" lang="zh-CN" altLang="en-US" sz="2000" b="0" i="0" u="none" strike="noStrike" kern="1200" cap="none" spc="0" normalizeH="0" baseline="0" noProof="0" dirty="0">
              <a:ln>
                <a:noFill/>
              </a:ln>
              <a:solidFill>
                <a:srgbClr val="0070C0"/>
              </a:solidFill>
              <a:effectLst/>
              <a:uLnTx/>
              <a:uFillTx/>
              <a:latin typeface="等线" panose="02010600030101010101" charset="-122"/>
              <a:ea typeface="等线" panose="02010600030101010101" charset="-122"/>
              <a:cs typeface="+mn-cs"/>
            </a:endParaRPr>
          </a:p>
        </p:txBody>
      </p:sp>
      <p:sp>
        <p:nvSpPr>
          <p:cNvPr id="5" name="右大括号 4"/>
          <p:cNvSpPr/>
          <p:nvPr/>
        </p:nvSpPr>
        <p:spPr>
          <a:xfrm>
            <a:off x="6534695" y="2196193"/>
            <a:ext cx="45719" cy="1477736"/>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文本框 8"/>
          <p:cNvSpPr txBox="1"/>
          <p:nvPr/>
        </p:nvSpPr>
        <p:spPr>
          <a:xfrm>
            <a:off x="6802582" y="2793833"/>
            <a:ext cx="6991926" cy="369332"/>
          </a:xfrm>
          <a:prstGeom prst="rect">
            <a:avLst/>
          </a:prstGeom>
          <a:noFill/>
        </p:spPr>
        <p:txBody>
          <a:bodyPr wrap="square">
            <a:spAutoFit/>
          </a:bodyPr>
          <a:lstStyle/>
          <a:p>
            <a:pPr marL="0" indent="0">
              <a:buNone/>
            </a:pPr>
            <a:r>
              <a:rPr lang="en-US" altLang="zh-CN" sz="1800" b="1" dirty="0">
                <a:solidFill>
                  <a:srgbClr val="00B0F0"/>
                </a:solidFill>
                <a:effectLst>
                  <a:outerShdw blurRad="254000" dist="50800" dir="5400000" algn="ctr" rotWithShape="0">
                    <a:srgbClr val="000000">
                      <a:alpha val="43137"/>
                    </a:srgbClr>
                  </a:outerShdw>
                </a:effectLst>
              </a:rPr>
              <a:t>The number of instructions can be expanded.</a:t>
            </a:r>
            <a:endParaRPr lang="en-US" altLang="zh-CN" sz="1800" b="1" dirty="0">
              <a:solidFill>
                <a:srgbClr val="00B0F0"/>
              </a:solidFill>
              <a:effectLst>
                <a:outerShdw blurRad="254000" dist="50800" dir="5400000" algn="ctr" rotWithShape="0">
                  <a:srgbClr val="000000">
                    <a:alpha val="43137"/>
                  </a:srgbClr>
                </a:outerShdw>
              </a:effectLs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graphicFrame>
        <p:nvGraphicFramePr>
          <p:cNvPr id="5" name="内容占位符 4"/>
          <p:cNvGraphicFramePr>
            <a:graphicFrameLocks noGrp="1" noChangeAspect="1"/>
          </p:cNvGraphicFramePr>
          <p:nvPr>
            <p:ph idx="1"/>
          </p:nvPr>
        </p:nvGraphicFramePr>
        <p:xfrm>
          <a:off x="0" y="0"/>
          <a:ext cx="12192000" cy="6300733"/>
        </p:xfrm>
        <a:graphic>
          <a:graphicData uri="http://schemas.openxmlformats.org/presentationml/2006/ole">
            <mc:AlternateContent xmlns:mc="http://schemas.openxmlformats.org/markup-compatibility/2006">
              <mc:Choice xmlns:v="urn:schemas-microsoft-com:vml" Requires="v">
                <p:oleObj spid="_x0000_s2061" name="Worksheet" r:id="rId1" imgW="14549755" imgH="5612130" progId="Excel.Sheet.12">
                  <p:embed/>
                </p:oleObj>
              </mc:Choice>
              <mc:Fallback>
                <p:oleObj name="Worksheet" r:id="rId1" imgW="14549755" imgH="5612130" progId="Excel.Sheet.12">
                  <p:embed/>
                  <p:pic>
                    <p:nvPicPr>
                      <p:cNvPr id="0" name="图片 2053"/>
                      <p:cNvPicPr/>
                      <p:nvPr/>
                    </p:nvPicPr>
                    <p:blipFill>
                      <a:blip r:embed="rId2"/>
                      <a:stretch>
                        <a:fillRect/>
                      </a:stretch>
                    </p:blipFill>
                    <p:spPr>
                      <a:xfrm>
                        <a:off x="0" y="0"/>
                        <a:ext cx="12192000" cy="6300733"/>
                      </a:xfrm>
                      <a:prstGeom prst="rect">
                        <a:avLst/>
                      </a:prstGeom>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035191" y="156267"/>
            <a:ext cx="8122335" cy="748988"/>
          </a:xfrm>
          <a:prstGeom prst="rect">
            <a:avLst/>
          </a:prstGeom>
          <a:noFill/>
        </p:spPr>
        <p:txBody>
          <a:bodyPr wrap="square" rtlCol="0">
            <a:spAutoFit/>
          </a:bodyPr>
          <a:lstStyle/>
          <a:p>
            <a:pPr algn="ctr"/>
            <a:r>
              <a:rPr lang="en-US" altLang="zh-CN" sz="4265" b="1" dirty="0">
                <a:latin typeface="隶书" panose="02010509060101010101" charset="-122"/>
                <a:ea typeface="隶书" panose="02010509060101010101" charset="-122"/>
              </a:rPr>
              <a:t>Score calculation method</a:t>
            </a:r>
            <a:endParaRPr lang="en-US" altLang="zh-CN" sz="2400" dirty="0">
              <a:latin typeface="方正兰亭黑_GBK" panose="02000000000000000000" pitchFamily="2" charset="-122"/>
              <a:ea typeface="方正兰亭黑_GBK" panose="02000000000000000000" pitchFamily="2" charset="-122"/>
              <a:sym typeface="+mn-ea"/>
            </a:endParaRPr>
          </a:p>
        </p:txBody>
      </p:sp>
      <p:sp>
        <p:nvSpPr>
          <p:cNvPr id="5" name="文本框 4"/>
          <p:cNvSpPr txBox="1"/>
          <p:nvPr/>
        </p:nvSpPr>
        <p:spPr>
          <a:xfrm>
            <a:off x="0" y="4005065"/>
            <a:ext cx="11680613" cy="1036117"/>
          </a:xfrm>
          <a:prstGeom prst="rect">
            <a:avLst/>
          </a:prstGeom>
          <a:noFill/>
        </p:spPr>
        <p:txBody>
          <a:bodyPr wrap="square" rtlCol="0">
            <a:spAutoFit/>
          </a:bodyPr>
          <a:lstStyle/>
          <a:p>
            <a:pPr algn="ctr"/>
            <a:endParaRPr lang="zh-CN" altLang="en-US" sz="3735" dirty="0"/>
          </a:p>
          <a:p>
            <a:endParaRPr lang="zh-CN" altLang="en-US" sz="2400" dirty="0"/>
          </a:p>
        </p:txBody>
      </p:sp>
      <p:sp>
        <p:nvSpPr>
          <p:cNvPr id="2" name="文本框 1"/>
          <p:cNvSpPr txBox="1"/>
          <p:nvPr/>
        </p:nvSpPr>
        <p:spPr>
          <a:xfrm>
            <a:off x="0" y="905255"/>
            <a:ext cx="12192000" cy="5215890"/>
          </a:xfrm>
          <a:prstGeom prst="rect">
            <a:avLst/>
          </a:prstGeom>
          <a:solidFill>
            <a:schemeClr val="bg2"/>
          </a:solidFill>
        </p:spPr>
        <p:txBody>
          <a:bodyPr wrap="square" rtlCol="0">
            <a:spAutoFit/>
          </a:bodyPr>
          <a:lstStyle/>
          <a:p>
            <a:pPr algn="ctr">
              <a:lnSpc>
                <a:spcPct val="150000"/>
              </a:lnSpc>
            </a:pPr>
            <a:r>
              <a:rPr lang="en-US" altLang="zh-CN" sz="3200" b="1" dirty="0">
                <a:latin typeface="华文新魏" panose="02010800040101010101" pitchFamily="2" charset="-122"/>
                <a:ea typeface="华文新魏" panose="02010800040101010101" pitchFamily="2" charset="-122"/>
              </a:rPr>
              <a:t>Score=pre class Preview * 0.1+Touge Platform test * 0.1+in class circuit check * 0.5+After class experimental materials * 0.2+oral defense scores * 0.1</a:t>
            </a:r>
            <a:endParaRPr lang="en-US" altLang="zh-CN" sz="3200" b="1" dirty="0">
              <a:latin typeface="华文新魏" panose="02010800040101010101" pitchFamily="2" charset="-122"/>
              <a:ea typeface="华文新魏" panose="02010800040101010101" pitchFamily="2" charset="-122"/>
            </a:endParaRPr>
          </a:p>
          <a:p>
            <a:pPr>
              <a:lnSpc>
                <a:spcPct val="150000"/>
              </a:lnSpc>
            </a:pPr>
            <a:r>
              <a:rPr lang="zh-CN" altLang="en-US" b="1" dirty="0">
                <a:solidFill>
                  <a:srgbClr val="002060"/>
                </a:solidFill>
                <a:latin typeface="华文宋体" panose="02010600040101010101" pitchFamily="2" charset="-122"/>
                <a:ea typeface="华文宋体" panose="02010600040101010101" pitchFamily="2" charset="-122"/>
              </a:rPr>
              <a:t>（</a:t>
            </a:r>
            <a:r>
              <a:rPr lang="en-US" altLang="zh-CN" b="1" dirty="0">
                <a:solidFill>
                  <a:srgbClr val="002060"/>
                </a:solidFill>
                <a:latin typeface="华文宋体" panose="02010600040101010101" pitchFamily="2" charset="-122"/>
                <a:ea typeface="华文宋体" panose="02010600040101010101" pitchFamily="2" charset="-122"/>
              </a:rPr>
              <a:t>1</a:t>
            </a:r>
            <a:r>
              <a:rPr lang="zh-CN" altLang="en-US" b="1" dirty="0">
                <a:solidFill>
                  <a:srgbClr val="002060"/>
                </a:solidFill>
                <a:latin typeface="华文宋体" panose="02010600040101010101" pitchFamily="2" charset="-122"/>
                <a:ea typeface="华文宋体" panose="02010600040101010101" pitchFamily="2" charset="-122"/>
              </a:rPr>
              <a:t>）</a:t>
            </a:r>
            <a:r>
              <a:rPr lang="en-US" altLang="zh-CN" b="1" dirty="0">
                <a:solidFill>
                  <a:srgbClr val="002060"/>
                </a:solidFill>
                <a:latin typeface="华文宋体" panose="02010600040101010101" pitchFamily="2" charset="-122"/>
                <a:ea typeface="华文宋体" panose="02010600040101010101" pitchFamily="2" charset="-122"/>
              </a:rPr>
              <a:t>Encourage to have your own ideas to do experiments, such as increasing the number of different instructions, changing the number of microprograms and the content of control fields, preparing complex programs, doing interrupt circuits, etc., especially HDL+FPGA design, which can effectively improve the final score.</a:t>
            </a:r>
            <a:endParaRPr lang="en-US" altLang="zh-CN" b="1" dirty="0">
              <a:solidFill>
                <a:srgbClr val="002060"/>
              </a:solidFill>
              <a:latin typeface="华文宋体" panose="02010600040101010101" pitchFamily="2" charset="-122"/>
              <a:ea typeface="华文宋体" panose="02010600040101010101" pitchFamily="2" charset="-122"/>
            </a:endParaRPr>
          </a:p>
          <a:p>
            <a:pPr>
              <a:lnSpc>
                <a:spcPct val="150000"/>
              </a:lnSpc>
            </a:pPr>
            <a:r>
              <a:rPr lang="zh-CN" altLang="en-US" b="1" dirty="0">
                <a:solidFill>
                  <a:srgbClr val="002060"/>
                </a:solidFill>
                <a:latin typeface="华文宋体" panose="02010600040101010101" pitchFamily="2" charset="-122"/>
                <a:ea typeface="华文宋体" panose="02010600040101010101" pitchFamily="2" charset="-122"/>
              </a:rPr>
              <a:t>（</a:t>
            </a:r>
            <a:r>
              <a:rPr lang="en-US" altLang="zh-CN" b="1" dirty="0">
                <a:solidFill>
                  <a:srgbClr val="002060"/>
                </a:solidFill>
                <a:latin typeface="华文宋体" panose="02010600040101010101" pitchFamily="2" charset="-122"/>
                <a:ea typeface="华文宋体" panose="02010600040101010101" pitchFamily="2" charset="-122"/>
              </a:rPr>
              <a:t>2</a:t>
            </a:r>
            <a:r>
              <a:rPr lang="zh-CN" altLang="en-US" b="1" dirty="0">
                <a:solidFill>
                  <a:srgbClr val="002060"/>
                </a:solidFill>
                <a:latin typeface="华文宋体" panose="02010600040101010101" pitchFamily="2" charset="-122"/>
                <a:ea typeface="华文宋体" panose="02010600040101010101" pitchFamily="2" charset="-122"/>
              </a:rPr>
              <a:t>）</a:t>
            </a:r>
            <a:r>
              <a:rPr lang="en-US" altLang="zh-CN" b="1" dirty="0">
                <a:solidFill>
                  <a:srgbClr val="002060"/>
                </a:solidFill>
                <a:latin typeface="华文宋体" panose="02010600040101010101" pitchFamily="2" charset="-122"/>
                <a:ea typeface="华文宋体" panose="02010600040101010101" pitchFamily="2" charset="-122"/>
              </a:rPr>
              <a:t>In the last class, we will make a defense, focusing on what tasks and experiences you have done. If you complete optional task, you can explain the working principle. Each person should report for no more than 5 minutes (please control the time, and the error should not exceed 1 minute), and answer questions for 2 minutes (all students are allowed to ask questions)</a:t>
            </a:r>
            <a:r>
              <a:rPr lang="zh-CN" altLang="en-US" b="1" dirty="0">
                <a:solidFill>
                  <a:srgbClr val="002060"/>
                </a:solidFill>
                <a:latin typeface="华文宋体" panose="02010600040101010101" pitchFamily="2" charset="-122"/>
                <a:ea typeface="华文宋体" panose="02010600040101010101" pitchFamily="2" charset="-122"/>
              </a:rPr>
              <a:t>。</a:t>
            </a:r>
            <a:endParaRPr lang="en-US" altLang="zh-CN" b="1" dirty="0">
              <a:solidFill>
                <a:srgbClr val="002060"/>
              </a:solidFill>
              <a:latin typeface="华文宋体" panose="02010600040101010101" pitchFamily="2" charset="-122"/>
              <a:ea typeface="华文宋体" panose="02010600040101010101" pitchFamily="2" charset="-122"/>
            </a:endParaRPr>
          </a:p>
          <a:p>
            <a:pPr>
              <a:lnSpc>
                <a:spcPct val="150000"/>
              </a:lnSpc>
            </a:pPr>
            <a:r>
              <a:rPr lang="en-US" altLang="zh-CN" b="1" dirty="0">
                <a:solidFill>
                  <a:srgbClr val="002060"/>
                </a:solidFill>
                <a:latin typeface="华文宋体" panose="02010600040101010101" pitchFamily="2" charset="-122"/>
                <a:ea typeface="华文宋体" panose="02010600040101010101" pitchFamily="2" charset="-122"/>
              </a:rPr>
              <a:t>  </a:t>
            </a:r>
            <a:endParaRPr lang="en-US" altLang="zh-CN" sz="1600" dirty="0">
              <a:latin typeface="华文宋体" panose="02010600040101010101" pitchFamily="2" charset="-122"/>
              <a:ea typeface="华文宋体" panose="0201060004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custDataLst>
              <p:tags r:id="rId1"/>
            </p:custDataLst>
          </p:nvPr>
        </p:nvGraphicFramePr>
        <p:xfrm>
          <a:off x="293934" y="977153"/>
          <a:ext cx="11593266" cy="5232655"/>
        </p:xfrm>
        <a:graphic>
          <a:graphicData uri="http://schemas.openxmlformats.org/drawingml/2006/table">
            <a:tbl>
              <a:tblPr>
                <a:effectLst>
                  <a:outerShdw blurRad="393700" dist="50800" dir="5400000" algn="ctr" rotWithShape="0">
                    <a:srgbClr val="000000">
                      <a:alpha val="43137"/>
                    </a:srgbClr>
                  </a:outerShdw>
                </a:effectLst>
                <a:tableStyleId>{5C22544A-7EE6-4342-B048-85BDC9FD1C3A}</a:tableStyleId>
              </a:tblPr>
              <a:tblGrid>
                <a:gridCol w="1624513"/>
                <a:gridCol w="9968753"/>
              </a:tblGrid>
              <a:tr h="441391">
                <a:tc>
                  <a:txBody>
                    <a:bodyPr/>
                    <a:lstStyle/>
                    <a:p>
                      <a:pPr algn="ctr" fontAlgn="ctr"/>
                      <a:r>
                        <a:rPr lang="en-US" altLang="zh-CN" sz="1600" b="1" u="none" strike="noStrike" dirty="0">
                          <a:effectLst/>
                        </a:rPr>
                        <a:t>Weeks</a:t>
                      </a:r>
                      <a:endParaRPr lang="zh-CN" altLang="en-US" sz="1600" b="1" i="0" u="none" strike="noStrike" dirty="0">
                        <a:solidFill>
                          <a:srgbClr val="000000"/>
                        </a:solidFill>
                        <a:effectLst/>
                        <a:latin typeface="Calibri" panose="020F0502020204030204" pitchFamily="34" charset="0"/>
                      </a:endParaRPr>
                    </a:p>
                  </a:txBody>
                  <a:tcPr marL="6315" marR="6315" marT="6315" marB="0" anchor="ctr">
                    <a:solidFill>
                      <a:schemeClr val="accent1">
                        <a:lumMod val="40000"/>
                        <a:lumOff val="60000"/>
                      </a:schemeClr>
                    </a:solidFill>
                  </a:tcPr>
                </a:tc>
                <a:tc>
                  <a:txBody>
                    <a:bodyPr/>
                    <a:lstStyle/>
                    <a:p>
                      <a:pPr algn="ctr" fontAlgn="ctr"/>
                      <a:r>
                        <a:rPr lang="en-US" altLang="zh-CN" sz="1600" b="1" u="none" strike="noStrike" dirty="0">
                          <a:effectLst/>
                        </a:rPr>
                        <a:t>task</a:t>
                      </a:r>
                      <a:endParaRPr lang="zh-CN" altLang="en-US" sz="1600" b="1" i="0" u="none" strike="noStrike" dirty="0">
                        <a:solidFill>
                          <a:srgbClr val="000000"/>
                        </a:solidFill>
                        <a:effectLst/>
                        <a:latin typeface="Calibri" panose="020F0502020204030204" pitchFamily="34" charset="0"/>
                      </a:endParaRPr>
                    </a:p>
                  </a:txBody>
                  <a:tcPr marL="6315" marR="6315" marT="6315" marB="0" anchor="ctr">
                    <a:solidFill>
                      <a:schemeClr val="accent1">
                        <a:lumMod val="40000"/>
                        <a:lumOff val="60000"/>
                      </a:schemeClr>
                    </a:solidFill>
                  </a:tcPr>
                </a:tc>
              </a:tr>
              <a:tr h="419221">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mn-lt"/>
                          <a:ea typeface="+mn-ea"/>
                          <a:cs typeface="+mn-cs"/>
                        </a:rPr>
                        <a:t>Week 2</a:t>
                      </a:r>
                      <a:endParaRPr kumimoji="0" lang="zh-CN" altLang="en-US"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6315" marR="6315" marT="6315" marB="0" anchor="ctr">
                    <a:solidFill>
                      <a:schemeClr val="accent1">
                        <a:lumMod val="40000"/>
                        <a:lumOff val="60000"/>
                      </a:schemeClr>
                    </a:solidFill>
                  </a:tcPr>
                </a:tc>
                <a:tc>
                  <a:txBody>
                    <a:bodyPr/>
                    <a:lstStyle/>
                    <a:p>
                      <a:pPr algn="l" fontAlgn="ctr"/>
                      <a:r>
                        <a:rPr lang="en-US" altLang="zh-CN" sz="1600" b="0" i="0" u="none" strike="noStrike" dirty="0">
                          <a:solidFill>
                            <a:srgbClr val="000000"/>
                          </a:solidFill>
                          <a:effectLst/>
                          <a:latin typeface="Calibri" panose="020F0502020204030204" pitchFamily="34" charset="0"/>
                        </a:rPr>
                        <a:t>Publish the design task of project 1.     https://www.bilibili.com/video/BV19F411x7Zh</a:t>
                      </a:r>
                      <a:endParaRPr lang="en-US" altLang="zh-CN" sz="1600" b="0" i="0" u="none" strike="noStrike" dirty="0">
                        <a:solidFill>
                          <a:srgbClr val="000000"/>
                        </a:solidFill>
                        <a:effectLst/>
                        <a:latin typeface="Calibri" panose="020F0502020204030204" pitchFamily="34" charset="0"/>
                      </a:endParaRPr>
                    </a:p>
                  </a:txBody>
                  <a:tcPr marL="6315" marR="6315" marT="6315" marB="0" anchor="ctr">
                    <a:solidFill>
                      <a:schemeClr val="accent1">
                        <a:lumMod val="40000"/>
                        <a:lumOff val="60000"/>
                      </a:schemeClr>
                    </a:solidFill>
                  </a:tcPr>
                </a:tc>
              </a:tr>
              <a:tr h="618564">
                <a:tc>
                  <a:txBody>
                    <a:bodyPr/>
                    <a:lstStyle/>
                    <a:p>
                      <a:pPr algn="ctr" fontAlgn="ctr"/>
                      <a:r>
                        <a:rPr lang="en-US" altLang="zh-CN" sz="1600" u="none" strike="noStrike" dirty="0">
                          <a:effectLst/>
                        </a:rPr>
                        <a:t>Week 3</a:t>
                      </a:r>
                      <a:endParaRPr lang="en-US" altLang="zh-CN" sz="1600" u="none" strike="noStrike" dirty="0">
                        <a:effectLst/>
                      </a:endParaRPr>
                    </a:p>
                    <a:p>
                      <a:pPr algn="ctr" fontAlgn="ctr"/>
                      <a:r>
                        <a:rPr lang="en-US" altLang="zh-CN" sz="1600" u="none" strike="noStrike" dirty="0">
                          <a:effectLst/>
                        </a:rPr>
                        <a:t> (teaching)</a:t>
                      </a:r>
                      <a:endParaRPr lang="zh-CN" altLang="en-US" sz="1600" b="0" i="0" u="none" strike="noStrike" dirty="0">
                        <a:solidFill>
                          <a:srgbClr val="000000"/>
                        </a:solidFill>
                        <a:effectLst/>
                        <a:latin typeface="Calibri" panose="020F0502020204030204" pitchFamily="34" charset="0"/>
                      </a:endParaRPr>
                    </a:p>
                  </a:txBody>
                  <a:tcPr marL="6315" marR="6315" marT="6315" marB="0" anchor="ctr">
                    <a:solidFill>
                      <a:schemeClr val="accent1">
                        <a:lumMod val="40000"/>
                        <a:lumOff val="60000"/>
                      </a:schemeClr>
                    </a:solidFill>
                  </a:tcPr>
                </a:tc>
                <a:tc>
                  <a:txBody>
                    <a:bodyPr/>
                    <a:lstStyle/>
                    <a:p>
                      <a:pPr algn="l" fontAlgn="ctr"/>
                      <a:r>
                        <a:rPr lang="en-US" altLang="zh-CN" sz="1600" u="none" strike="noStrike" dirty="0">
                          <a:effectLst/>
                        </a:rPr>
                        <a:t>In class: teacher explains the difficulties and key points of project 1. </a:t>
                      </a:r>
                      <a:endParaRPr lang="en-US" altLang="zh-CN" sz="1600" u="none" strike="noStrike" dirty="0">
                        <a:effectLst/>
                      </a:endParaRPr>
                    </a:p>
                    <a:p>
                      <a:pPr algn="l" fontAlgn="ctr"/>
                      <a:r>
                        <a:rPr lang="en-US" altLang="zh-CN" sz="1600" u="none" strike="noStrike" dirty="0">
                          <a:effectLst/>
                        </a:rPr>
                        <a:t>After class: the students improve project 1;</a:t>
                      </a:r>
                      <a:endParaRPr lang="en-US" altLang="zh-CN" sz="1600" b="0" i="0" u="none" strike="noStrike" dirty="0">
                        <a:solidFill>
                          <a:srgbClr val="000000"/>
                        </a:solidFill>
                        <a:effectLst/>
                        <a:latin typeface="Calibri" panose="020F0502020204030204" pitchFamily="34" charset="0"/>
                      </a:endParaRPr>
                    </a:p>
                  </a:txBody>
                  <a:tcPr marL="6315" marR="6315" marT="6315" marB="0" anchor="ctr">
                    <a:solidFill>
                      <a:schemeClr val="accent1">
                        <a:lumMod val="40000"/>
                        <a:lumOff val="60000"/>
                      </a:schemeClr>
                    </a:solidFill>
                  </a:tcPr>
                </a:tc>
              </a:tr>
              <a:tr h="1129553">
                <a:tc>
                  <a:txBody>
                    <a:bodyPr/>
                    <a:lstStyle/>
                    <a:p>
                      <a:pPr algn="ctr" fontAlgn="ctr"/>
                      <a:r>
                        <a:rPr lang="en-US" altLang="zh-CN" sz="1600" u="none" strike="noStrike" dirty="0">
                          <a:effectLst/>
                        </a:rPr>
                        <a:t>Week 4</a:t>
                      </a:r>
                      <a:endParaRPr lang="en-US" altLang="zh-CN" sz="1600" u="none" strike="noStrike" dirty="0">
                        <a:effectLst/>
                      </a:endParaRPr>
                    </a:p>
                    <a:p>
                      <a:pPr algn="ctr" fontAlgn="ctr"/>
                      <a:r>
                        <a:rPr lang="en-US" altLang="zh-CN" sz="1600" u="none" strike="noStrike" dirty="0">
                          <a:effectLst/>
                        </a:rPr>
                        <a:t>(inspection)</a:t>
                      </a:r>
                      <a:endParaRPr lang="zh-CN" altLang="en-US" sz="1600" b="0" i="0" u="none" strike="noStrike" dirty="0">
                        <a:solidFill>
                          <a:srgbClr val="000000"/>
                        </a:solidFill>
                        <a:effectLst/>
                        <a:latin typeface="Calibri" panose="020F0502020204030204" pitchFamily="34" charset="0"/>
                      </a:endParaRPr>
                    </a:p>
                  </a:txBody>
                  <a:tcPr marL="6315" marR="6315" marT="6315" marB="0" anchor="ctr">
                    <a:solidFill>
                      <a:schemeClr val="accent1">
                        <a:lumMod val="40000"/>
                        <a:lumOff val="60000"/>
                      </a:schemeClr>
                    </a:solidFill>
                  </a:tcPr>
                </a:tc>
                <a:tc>
                  <a:txBody>
                    <a:bodyPr/>
                    <a:lstStyle/>
                    <a:p>
                      <a:pPr algn="l" fontAlgn="ctr"/>
                      <a:r>
                        <a:rPr lang="en-US" altLang="zh-CN" sz="1600" u="none" strike="noStrike" dirty="0">
                          <a:effectLst/>
                        </a:rPr>
                        <a:t>In class: teacher checks the implementation of project 1; Publish the design task of project 2.</a:t>
                      </a:r>
                      <a:br>
                        <a:rPr lang="zh-CN" altLang="en-US" sz="1600" u="none" strike="noStrike" dirty="0">
                          <a:effectLst/>
                        </a:rPr>
                      </a:br>
                      <a:r>
                        <a:rPr lang="en-US" altLang="zh-CN" sz="1600" u="none" strike="noStrike" dirty="0">
                          <a:effectLst/>
                        </a:rPr>
                        <a:t>After class: students improve project 1, and the final version file of project 1 shall be submitted to the group leader in two days; (group leader shall check the integrity and naming rules ,package them to the teacher's mailbox before the deadline)</a:t>
                      </a:r>
                      <a:br>
                        <a:rPr lang="zh-CN" altLang="en-US" sz="1600" u="none" strike="noStrike" dirty="0">
                          <a:effectLst/>
                        </a:rPr>
                      </a:br>
                      <a:r>
                        <a:rPr lang="en-US" altLang="zh-CN" sz="1600" u="none" strike="noStrike" dirty="0">
                          <a:effectLst/>
                        </a:rPr>
                        <a:t>After class: students learn project 2 by MOOC and start design;</a:t>
                      </a:r>
                      <a:endParaRPr lang="zh-CN" altLang="en-US" sz="1600" b="0" i="0" u="none" strike="noStrike" dirty="0">
                        <a:solidFill>
                          <a:srgbClr val="000000"/>
                        </a:solidFill>
                        <a:effectLst/>
                        <a:latin typeface="Calibri" panose="020F0502020204030204" pitchFamily="34" charset="0"/>
                      </a:endParaRPr>
                    </a:p>
                  </a:txBody>
                  <a:tcPr marL="6315" marR="6315" marT="6315" marB="0" anchor="ctr">
                    <a:solidFill>
                      <a:schemeClr val="accent1">
                        <a:lumMod val="40000"/>
                        <a:lumOff val="60000"/>
                      </a:schemeClr>
                    </a:solidFill>
                  </a:tcPr>
                </a:tc>
              </a:tr>
              <a:tr h="549497">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1600" u="none" strike="noStrike" dirty="0">
                          <a:effectLst/>
                        </a:rPr>
                        <a:t>Week 5</a:t>
                      </a:r>
                      <a:endParaRPr lang="en-US" altLang="zh-CN" sz="1600" u="none" strike="noStrike" dirty="0">
                        <a:effectLst/>
                      </a:endParaRPr>
                    </a:p>
                    <a:p>
                      <a:pPr marL="0" marR="0" lvl="0" indent="0" algn="ctr" defTabSz="914400" rtl="0" eaLnBrk="1" fontAlgn="ctr" latinLnBrk="0" hangingPunct="1">
                        <a:lnSpc>
                          <a:spcPct val="100000"/>
                        </a:lnSpc>
                        <a:spcBef>
                          <a:spcPts val="0"/>
                        </a:spcBef>
                        <a:spcAft>
                          <a:spcPts val="0"/>
                        </a:spcAft>
                        <a:buClrTx/>
                        <a:buSzTx/>
                        <a:buFontTx/>
                        <a:buNone/>
                        <a:defRPr/>
                      </a:pPr>
                      <a:r>
                        <a:rPr lang="en-US" altLang="zh-CN" sz="1600" u="none" strike="noStrike" dirty="0">
                          <a:effectLst/>
                        </a:rPr>
                        <a:t>(teaching)</a:t>
                      </a:r>
                      <a:endParaRPr lang="en-US" altLang="zh-CN" sz="1600" u="none" strike="noStrike" dirty="0">
                        <a:effectLst/>
                      </a:endParaRPr>
                    </a:p>
                  </a:txBody>
                  <a:tcPr marL="6315" marR="6315" marT="6315" marB="0" anchor="ctr">
                    <a:solidFill>
                      <a:schemeClr val="accent1">
                        <a:lumMod val="40000"/>
                        <a:lumOff val="60000"/>
                      </a:schemeClr>
                    </a:solidFill>
                  </a:tcPr>
                </a:tc>
                <a:tc>
                  <a:txBody>
                    <a:bodyPr/>
                    <a:lstStyle/>
                    <a:p>
                      <a:pPr algn="l" fontAlgn="ctr"/>
                      <a:r>
                        <a:rPr lang="en-US" altLang="zh-CN" sz="1600" u="none" strike="noStrike" dirty="0">
                          <a:effectLst/>
                        </a:rPr>
                        <a:t>In class: teacher explains the difficulties and key points of project 2. </a:t>
                      </a:r>
                      <a:endParaRPr lang="en-US" altLang="zh-CN" sz="1600" u="none" strike="noStrike" dirty="0">
                        <a:effectLst/>
                      </a:endParaRPr>
                    </a:p>
                    <a:p>
                      <a:pPr algn="l" fontAlgn="ctr"/>
                      <a:r>
                        <a:rPr lang="en-US" altLang="zh-CN" sz="1600" u="none" strike="noStrike" dirty="0">
                          <a:effectLst/>
                        </a:rPr>
                        <a:t>After class: the students improve project 2;</a:t>
                      </a:r>
                      <a:endParaRPr lang="en-US" altLang="zh-CN" sz="1600" b="0" i="0" u="none" strike="noStrike" dirty="0">
                        <a:solidFill>
                          <a:srgbClr val="000000"/>
                        </a:solidFill>
                        <a:effectLst/>
                        <a:latin typeface="Calibri" panose="020F0502020204030204" pitchFamily="34" charset="0"/>
                      </a:endParaRPr>
                    </a:p>
                  </a:txBody>
                  <a:tcPr marL="6315" marR="6315" marT="6315" marB="0" anchor="ctr">
                    <a:solidFill>
                      <a:schemeClr val="accent1">
                        <a:lumMod val="40000"/>
                        <a:lumOff val="60000"/>
                      </a:schemeClr>
                    </a:solidFill>
                  </a:tcPr>
                </a:tc>
              </a:tr>
              <a:tr h="1255059">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1600" u="none" strike="noStrike" dirty="0">
                          <a:effectLst/>
                        </a:rPr>
                        <a:t>Week 6</a:t>
                      </a:r>
                      <a:endParaRPr lang="en-US" altLang="zh-CN" sz="1600" u="none" strike="noStrike" dirty="0">
                        <a:effectLst/>
                      </a:endParaRPr>
                    </a:p>
                    <a:p>
                      <a:pPr marL="0" marR="0" lvl="0" indent="0" algn="ctr" defTabSz="914400" rtl="0" eaLnBrk="1" fontAlgn="ctr" latinLnBrk="0" hangingPunct="1">
                        <a:lnSpc>
                          <a:spcPct val="100000"/>
                        </a:lnSpc>
                        <a:spcBef>
                          <a:spcPts val="0"/>
                        </a:spcBef>
                        <a:spcAft>
                          <a:spcPts val="0"/>
                        </a:spcAft>
                        <a:buClrTx/>
                        <a:buSzTx/>
                        <a:buFontTx/>
                        <a:buNone/>
                        <a:defRPr/>
                      </a:pPr>
                      <a:r>
                        <a:rPr lang="en-US" altLang="zh-CN" sz="1600" u="none" strike="noStrike" dirty="0">
                          <a:effectLst/>
                        </a:rPr>
                        <a:t> (inspection)</a:t>
                      </a:r>
                      <a:endParaRPr lang="en-US" altLang="zh-CN" sz="1600" u="none" strike="noStrike" dirty="0">
                        <a:effectLst/>
                      </a:endParaRPr>
                    </a:p>
                  </a:txBody>
                  <a:tcPr marL="6315" marR="6315" marT="6315" marB="0" anchor="ctr">
                    <a:solidFill>
                      <a:schemeClr val="accent1">
                        <a:lumMod val="40000"/>
                        <a:lumOff val="60000"/>
                      </a:schemeClr>
                    </a:solidFill>
                  </a:tcPr>
                </a:tc>
                <a:tc>
                  <a:txBody>
                    <a:bodyPr/>
                    <a:lstStyle/>
                    <a:p>
                      <a:pPr algn="l" fontAlgn="ctr"/>
                      <a:r>
                        <a:rPr lang="en-US" altLang="zh-CN" sz="1600" u="none" strike="noStrike" dirty="0">
                          <a:effectLst/>
                        </a:rPr>
                        <a:t>In class: teacher checks the implementation of project 2; Publish the design task of project 3.</a:t>
                      </a:r>
                      <a:br>
                        <a:rPr lang="en-US" altLang="zh-CN" sz="1600" u="none" strike="noStrike" dirty="0">
                          <a:effectLst/>
                        </a:rPr>
                      </a:br>
                      <a:r>
                        <a:rPr lang="en-US" altLang="zh-CN" sz="1600" u="none" strike="noStrike" dirty="0">
                          <a:effectLst/>
                        </a:rPr>
                        <a:t>After class: students improve project 2, and the final version file of project 2 shall be submitted to the group leader </a:t>
                      </a:r>
                      <a:r>
                        <a:rPr lang="en-US" altLang="zh-CN" sz="1600" dirty="0">
                          <a:effectLst/>
                          <a:sym typeface="+mn-ea"/>
                        </a:rPr>
                        <a:t>in two days; </a:t>
                      </a:r>
                      <a:r>
                        <a:rPr lang="en-US" altLang="zh-CN" sz="1600" u="none" strike="noStrike" dirty="0">
                          <a:effectLst/>
                        </a:rPr>
                        <a:t> (group leader shall check the integrity and naming rules ,package them to the teacher's mailbox before the deadline)</a:t>
                      </a:r>
                      <a:br>
                        <a:rPr lang="en-US" altLang="zh-CN" sz="1600" u="none" strike="noStrike" dirty="0">
                          <a:effectLst/>
                        </a:rPr>
                      </a:br>
                      <a:r>
                        <a:rPr lang="en-US" altLang="zh-CN" sz="1600" u="none" strike="noStrike" dirty="0">
                          <a:effectLst/>
                        </a:rPr>
                        <a:t>After class: students learn project 3 by MOOC and start design;</a:t>
                      </a:r>
                      <a:endParaRPr lang="en-US" altLang="zh-CN" sz="1600" u="none" strike="noStrike" dirty="0">
                        <a:effectLst/>
                      </a:endParaRPr>
                    </a:p>
                  </a:txBody>
                  <a:tcPr marL="6315" marR="6315" marT="6315" marB="0" anchor="ctr">
                    <a:solidFill>
                      <a:schemeClr val="accent1">
                        <a:lumMod val="40000"/>
                        <a:lumOff val="60000"/>
                      </a:schemeClr>
                    </a:solidFill>
                  </a:tcPr>
                </a:tc>
              </a:tr>
              <a:tr h="361704">
                <a:tc>
                  <a:txBody>
                    <a:bodyPr/>
                    <a:lstStyle/>
                    <a:p>
                      <a:pPr algn="ctr" fontAlgn="ctr"/>
                      <a:r>
                        <a:rPr lang="en-US" altLang="zh-CN" sz="1600" u="none" strike="noStrike" dirty="0">
                          <a:effectLst/>
                        </a:rPr>
                        <a:t>Week 7-12</a:t>
                      </a:r>
                      <a:endParaRPr lang="zh-CN" altLang="en-US" sz="1600" b="0" i="0" u="none" strike="noStrike" dirty="0">
                        <a:solidFill>
                          <a:srgbClr val="000000"/>
                        </a:solidFill>
                        <a:effectLst/>
                        <a:latin typeface="Calibri" panose="020F0502020204030204" pitchFamily="34" charset="0"/>
                      </a:endParaRPr>
                    </a:p>
                  </a:txBody>
                  <a:tcPr marL="6315" marR="6315" marT="6315" marB="0" anchor="ctr">
                    <a:solidFill>
                      <a:schemeClr val="accent1">
                        <a:lumMod val="40000"/>
                        <a:lumOff val="60000"/>
                      </a:schemeClr>
                    </a:solidFill>
                  </a:tcPr>
                </a:tc>
                <a:tc>
                  <a:txBody>
                    <a:bodyPr/>
                    <a:lstStyle/>
                    <a:p>
                      <a:pPr algn="l" fontAlgn="ctr"/>
                      <a:r>
                        <a:rPr lang="en-US" altLang="zh-CN" sz="1600" u="none" strike="noStrike" dirty="0">
                          <a:effectLst/>
                        </a:rPr>
                        <a:t>completion of the design of project 3 and project 5</a:t>
                      </a:r>
                      <a:endParaRPr lang="zh-CN" altLang="en-US" sz="1600" b="0" i="0" u="none" strike="noStrike" dirty="0">
                        <a:solidFill>
                          <a:srgbClr val="000000"/>
                        </a:solidFill>
                        <a:effectLst/>
                        <a:latin typeface="Calibri" panose="020F0502020204030204" pitchFamily="34" charset="0"/>
                      </a:endParaRPr>
                    </a:p>
                  </a:txBody>
                  <a:tcPr marL="6315" marR="6315" marT="6315" marB="0" anchor="ctr">
                    <a:solidFill>
                      <a:schemeClr val="accent1">
                        <a:lumMod val="40000"/>
                        <a:lumOff val="60000"/>
                      </a:schemeClr>
                    </a:solidFill>
                  </a:tcPr>
                </a:tc>
              </a:tr>
              <a:tr h="361704">
                <a:tc>
                  <a:txBody>
                    <a:bodyPr/>
                    <a:lstStyle/>
                    <a:p>
                      <a:pPr algn="ctr" fontAlgn="ctr"/>
                      <a:r>
                        <a:rPr lang="en-US" altLang="zh-CN" sz="1600" u="none" strike="noStrike" dirty="0">
                          <a:effectLst/>
                        </a:rPr>
                        <a:t>Week 13 </a:t>
                      </a:r>
                      <a:endParaRPr lang="zh-CN" altLang="en-US" sz="1600" b="0" i="0" u="none" strike="noStrike" dirty="0">
                        <a:solidFill>
                          <a:srgbClr val="000000"/>
                        </a:solidFill>
                        <a:effectLst/>
                        <a:latin typeface="Calibri" panose="020F0502020204030204" pitchFamily="34" charset="0"/>
                      </a:endParaRPr>
                    </a:p>
                  </a:txBody>
                  <a:tcPr marL="6315" marR="6315" marT="6315" marB="0" anchor="ctr">
                    <a:solidFill>
                      <a:schemeClr val="accent1">
                        <a:lumMod val="40000"/>
                        <a:lumOff val="60000"/>
                      </a:schemeClr>
                    </a:solidFill>
                  </a:tcPr>
                </a:tc>
                <a:tc>
                  <a:txBody>
                    <a:bodyPr/>
                    <a:lstStyle/>
                    <a:p>
                      <a:pPr algn="l" fontAlgn="ctr"/>
                      <a:r>
                        <a:rPr lang="en-US" altLang="zh-CN" sz="1600" u="none" strike="noStrike" dirty="0">
                          <a:effectLst/>
                        </a:rPr>
                        <a:t>In class: Course summary and defense</a:t>
                      </a:r>
                      <a:endParaRPr lang="zh-CN" altLang="en-US" sz="1600" b="0" i="0" u="none" strike="noStrike" dirty="0">
                        <a:solidFill>
                          <a:srgbClr val="000000"/>
                        </a:solidFill>
                        <a:effectLst/>
                        <a:latin typeface="Calibri" panose="020F0502020204030204" pitchFamily="34" charset="0"/>
                      </a:endParaRPr>
                    </a:p>
                  </a:txBody>
                  <a:tcPr marL="6315" marR="6315" marT="6315" marB="0" anchor="ctr">
                    <a:solidFill>
                      <a:schemeClr val="accent1">
                        <a:lumMod val="40000"/>
                        <a:lumOff val="60000"/>
                      </a:schemeClr>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937032"/>
            <a:ext cx="12045326" cy="5400675"/>
          </a:xfrm>
          <a:prstGeom prst="rect">
            <a:avLst/>
          </a:prstGeom>
          <a:noFill/>
        </p:spPr>
        <p:txBody>
          <a:bodyPr wrap="square" rtlCol="0">
            <a:spAutoFit/>
          </a:bodyPr>
          <a:lstStyle/>
          <a:p>
            <a:pPr defTabSz="1219200">
              <a:lnSpc>
                <a:spcPct val="150000"/>
              </a:lnSpc>
            </a:pPr>
            <a:r>
              <a:rPr lang="en-US" altLang="zh-CN" sz="1600" b="1" dirty="0">
                <a:solidFill>
                  <a:prstClr val="black"/>
                </a:solidFill>
                <a:latin typeface="+mn-ea"/>
              </a:rPr>
              <a:t>The following files are submitted for each project:</a:t>
            </a:r>
            <a:endParaRPr lang="en-US" altLang="zh-CN" sz="1600" b="1" dirty="0">
              <a:solidFill>
                <a:prstClr val="black"/>
              </a:solidFill>
              <a:latin typeface="+mn-ea"/>
            </a:endParaRPr>
          </a:p>
          <a:p>
            <a:pPr defTabSz="1219200">
              <a:lnSpc>
                <a:spcPct val="150000"/>
              </a:lnSpc>
            </a:pPr>
            <a:r>
              <a:rPr lang="zh-CN" altLang="en-US" dirty="0"/>
              <a:t>（</a:t>
            </a:r>
            <a:r>
              <a:rPr lang="en-US" altLang="zh-CN" dirty="0"/>
              <a:t>1</a:t>
            </a:r>
            <a:r>
              <a:rPr lang="zh-CN" altLang="en-US" dirty="0"/>
              <a:t>）</a:t>
            </a:r>
            <a:r>
              <a:rPr lang="en-US" altLang="zh-CN" dirty="0"/>
              <a:t>R3211XXXX</a:t>
            </a:r>
            <a:r>
              <a:rPr lang="zh-CN" altLang="zh-CN" dirty="0"/>
              <a:t>张</a:t>
            </a:r>
            <a:r>
              <a:rPr lang="zh-CN" altLang="en-US" dirty="0"/>
              <a:t>三</a:t>
            </a:r>
            <a:r>
              <a:rPr lang="en-US" altLang="zh-CN" dirty="0" err="1"/>
              <a:t>yymmdd_circuit.CIRC</a:t>
            </a:r>
            <a:r>
              <a:rPr lang="zh-CN" altLang="en-US" dirty="0"/>
              <a:t>；</a:t>
            </a:r>
            <a:endParaRPr lang="en-US" altLang="zh-CN" dirty="0"/>
          </a:p>
          <a:p>
            <a:pPr defTabSz="1219200">
              <a:lnSpc>
                <a:spcPct val="150000"/>
              </a:lnSpc>
            </a:pPr>
            <a:r>
              <a:rPr lang="zh-CN" altLang="en-US" dirty="0"/>
              <a:t>（</a:t>
            </a:r>
            <a:r>
              <a:rPr lang="en-US" altLang="zh-CN" dirty="0"/>
              <a:t>2</a:t>
            </a:r>
            <a:r>
              <a:rPr lang="zh-CN" altLang="en-US" dirty="0"/>
              <a:t>）</a:t>
            </a:r>
            <a:r>
              <a:rPr lang="en-US" altLang="zh-CN" dirty="0">
                <a:sym typeface="+mn-ea"/>
              </a:rPr>
              <a:t>R3211</a:t>
            </a:r>
            <a:r>
              <a:rPr lang="en-US" altLang="zh-CN" dirty="0"/>
              <a:t>XXXX</a:t>
            </a:r>
            <a:r>
              <a:rPr lang="zh-CN" altLang="zh-CN" dirty="0"/>
              <a:t>张</a:t>
            </a:r>
            <a:r>
              <a:rPr lang="zh-CN" altLang="en-US" dirty="0"/>
              <a:t>三</a:t>
            </a:r>
            <a:r>
              <a:rPr lang="en-US" altLang="zh-CN" dirty="0" err="1"/>
              <a:t>yymmdd</a:t>
            </a:r>
            <a:r>
              <a:rPr lang="en-US" altLang="zh-CN" dirty="0"/>
              <a:t> _report.PDF</a:t>
            </a:r>
            <a:r>
              <a:rPr lang="zh-CN" altLang="en-US" dirty="0"/>
              <a:t>；</a:t>
            </a:r>
            <a:endParaRPr lang="en-US" altLang="zh-CN" dirty="0"/>
          </a:p>
          <a:p>
            <a:pPr defTabSz="1219200">
              <a:lnSpc>
                <a:spcPct val="150000"/>
              </a:lnSpc>
            </a:pPr>
            <a:r>
              <a:rPr lang="zh-CN" altLang="en-US" dirty="0"/>
              <a:t>（</a:t>
            </a:r>
            <a:r>
              <a:rPr lang="en-US" altLang="zh-CN" dirty="0"/>
              <a:t>3</a:t>
            </a:r>
            <a:r>
              <a:rPr lang="zh-CN" altLang="en-US" dirty="0"/>
              <a:t>）</a:t>
            </a:r>
            <a:r>
              <a:rPr lang="en-US" altLang="zh-CN" dirty="0"/>
              <a:t>All the.XLSX files that help create functions. </a:t>
            </a:r>
            <a:r>
              <a:rPr lang="en-US" altLang="zh-CN" dirty="0">
                <a:sym typeface="+mn-ea"/>
              </a:rPr>
              <a:t>R3211</a:t>
            </a:r>
            <a:r>
              <a:rPr lang="en-US" altLang="zh-CN" dirty="0"/>
              <a:t>XXXX</a:t>
            </a:r>
            <a:r>
              <a:rPr lang="zh-CN" altLang="en-US" dirty="0"/>
              <a:t>张三</a:t>
            </a:r>
            <a:r>
              <a:rPr lang="en-US" altLang="zh-CN" dirty="0" err="1"/>
              <a:t>yymmdd</a:t>
            </a:r>
            <a:r>
              <a:rPr lang="en-US" altLang="zh-CN" dirty="0"/>
              <a:t> _</a:t>
            </a:r>
            <a:r>
              <a:rPr lang="en-US" altLang="zh-CN" dirty="0" err="1"/>
              <a:t>i</a:t>
            </a:r>
            <a:r>
              <a:rPr lang="en-US" altLang="zh-CN" dirty="0"/>
              <a:t>. XLSX.</a:t>
            </a:r>
            <a:endParaRPr lang="en-US" altLang="zh-CN" dirty="0"/>
          </a:p>
          <a:p>
            <a:pPr defTabSz="1219200">
              <a:lnSpc>
                <a:spcPct val="150000"/>
              </a:lnSpc>
            </a:pPr>
            <a:r>
              <a:rPr lang="zh-CN" altLang="en-US" dirty="0"/>
              <a:t>（</a:t>
            </a:r>
            <a:r>
              <a:rPr lang="en-US" altLang="zh-CN" dirty="0"/>
              <a:t>4</a:t>
            </a:r>
            <a:r>
              <a:rPr lang="zh-CN" altLang="en-US" dirty="0"/>
              <a:t>）</a:t>
            </a:r>
            <a:r>
              <a:rPr lang="en-US" altLang="zh-CN" dirty="0"/>
              <a:t>Assemble source program files (. ASM) and machine language program files (. HEX).</a:t>
            </a:r>
            <a:endParaRPr lang="en-US" altLang="zh-CN" dirty="0"/>
          </a:p>
          <a:p>
            <a:pPr defTabSz="1219200">
              <a:lnSpc>
                <a:spcPct val="150000"/>
              </a:lnSpc>
            </a:pPr>
            <a:r>
              <a:rPr lang="en-US" altLang="zh-CN" dirty="0"/>
              <a:t>               </a:t>
            </a:r>
            <a:r>
              <a:rPr lang="en-US" altLang="zh-CN" dirty="0">
                <a:sym typeface="+mn-ea"/>
              </a:rPr>
              <a:t>R3211</a:t>
            </a:r>
            <a:r>
              <a:rPr lang="en-US" altLang="zh-CN" dirty="0"/>
              <a:t>XXXX</a:t>
            </a:r>
            <a:r>
              <a:rPr lang="zh-CN" altLang="en-US" dirty="0"/>
              <a:t>张三</a:t>
            </a:r>
            <a:r>
              <a:rPr lang="en-US" altLang="zh-CN" dirty="0" err="1"/>
              <a:t>yymmdd</a:t>
            </a:r>
            <a:r>
              <a:rPr lang="en-US" altLang="zh-CN" dirty="0"/>
              <a:t> _i.ASM, EXXXXXX</a:t>
            </a:r>
            <a:r>
              <a:rPr lang="zh-CN" altLang="en-US" dirty="0"/>
              <a:t>张三</a:t>
            </a:r>
            <a:r>
              <a:rPr lang="en-US" altLang="zh-CN" dirty="0" err="1"/>
              <a:t>yymmdd</a:t>
            </a:r>
            <a:r>
              <a:rPr lang="en-US" altLang="zh-CN" dirty="0"/>
              <a:t> _</a:t>
            </a:r>
            <a:r>
              <a:rPr lang="en-US" altLang="zh-CN" dirty="0" err="1"/>
              <a:t>i.HEX</a:t>
            </a:r>
            <a:r>
              <a:rPr lang="en-US" altLang="zh-CN" dirty="0"/>
              <a:t>.</a:t>
            </a:r>
            <a:endParaRPr lang="en-US" altLang="zh-CN" dirty="0"/>
          </a:p>
          <a:p>
            <a:pPr defTabSz="1219200">
              <a:lnSpc>
                <a:spcPct val="150000"/>
              </a:lnSpc>
            </a:pPr>
            <a:r>
              <a:rPr lang="zh-CN" altLang="en-US" dirty="0"/>
              <a:t>（</a:t>
            </a:r>
            <a:r>
              <a:rPr lang="en-US" altLang="zh-CN" dirty="0"/>
              <a:t>5</a:t>
            </a:r>
            <a:r>
              <a:rPr lang="zh-CN" altLang="en-US" dirty="0"/>
              <a:t>）</a:t>
            </a:r>
            <a:r>
              <a:rPr lang="en-US" altLang="zh-CN" dirty="0">
                <a:sym typeface="+mn-ea"/>
              </a:rPr>
              <a:t>R3211</a:t>
            </a:r>
            <a:r>
              <a:rPr lang="en-US" altLang="zh-CN" dirty="0"/>
              <a:t>XXXX</a:t>
            </a:r>
            <a:r>
              <a:rPr lang="zh-CN" altLang="zh-CN" dirty="0"/>
              <a:t>张</a:t>
            </a:r>
            <a:r>
              <a:rPr lang="zh-CN" altLang="en-US" dirty="0"/>
              <a:t>三</a:t>
            </a:r>
            <a:r>
              <a:rPr lang="en-US" altLang="zh-CN" dirty="0" err="1"/>
              <a:t>yymmdd</a:t>
            </a:r>
            <a:r>
              <a:rPr lang="en-US" altLang="zh-CN" dirty="0"/>
              <a:t> _summary.PPT</a:t>
            </a:r>
            <a:r>
              <a:rPr lang="zh-CN" altLang="en-US" dirty="0"/>
              <a:t>；</a:t>
            </a:r>
            <a:r>
              <a:rPr lang="en-US" altLang="zh-CN" dirty="0"/>
              <a:t>PPT defense for the last class.</a:t>
            </a:r>
            <a:endParaRPr lang="en-US" altLang="zh-CN" dirty="0"/>
          </a:p>
          <a:p>
            <a:pPr defTabSz="1219200">
              <a:lnSpc>
                <a:spcPct val="150000"/>
              </a:lnSpc>
            </a:pPr>
            <a:endParaRPr lang="en-US" altLang="zh-CN" sz="1600" b="1" dirty="0">
              <a:solidFill>
                <a:prstClr val="black"/>
              </a:solidFill>
              <a:latin typeface="+mn-ea"/>
            </a:endParaRPr>
          </a:p>
          <a:p>
            <a:pPr defTabSz="1219200">
              <a:lnSpc>
                <a:spcPct val="150000"/>
              </a:lnSpc>
            </a:pPr>
            <a:r>
              <a:rPr lang="en-US" altLang="zh-CN" sz="1600" b="1" dirty="0">
                <a:solidFill>
                  <a:prstClr val="black"/>
                </a:solidFill>
                <a:latin typeface="+mn-ea"/>
              </a:rPr>
              <a:t>remarks</a:t>
            </a:r>
            <a:r>
              <a:rPr lang="en-US" altLang="zh-CN" sz="1600" b="1" dirty="0">
                <a:solidFill>
                  <a:prstClr val="black"/>
                </a:solidFill>
                <a:latin typeface="+mn-ea"/>
                <a:sym typeface="Wingdings" panose="05000000000000000000" pitchFamily="2" charset="2"/>
              </a:rPr>
              <a:t>: </a:t>
            </a:r>
            <a:r>
              <a:rPr lang="zh-CN" altLang="en-US" dirty="0">
                <a:sym typeface="Wingdings" panose="05000000000000000000" pitchFamily="2" charset="2"/>
              </a:rPr>
              <a:t>（</a:t>
            </a:r>
            <a:r>
              <a:rPr lang="en-US" altLang="zh-CN" dirty="0">
                <a:sym typeface="Wingdings" panose="05000000000000000000" pitchFamily="2" charset="2"/>
              </a:rPr>
              <a:t>1</a:t>
            </a:r>
            <a:r>
              <a:rPr lang="zh-CN" altLang="en-US" dirty="0">
                <a:sym typeface="Wingdings" panose="05000000000000000000" pitchFamily="2" charset="2"/>
              </a:rPr>
              <a:t>）</a:t>
            </a:r>
            <a:r>
              <a:rPr lang="en-US" altLang="zh-CN" dirty="0">
                <a:sym typeface="Wingdings" panose="05000000000000000000" pitchFamily="2" charset="2"/>
              </a:rPr>
              <a:t>The above files are compressed into </a:t>
            </a:r>
            <a:r>
              <a:rPr lang="en-US" altLang="zh-CN" dirty="0">
                <a:sym typeface="+mn-ea"/>
              </a:rPr>
              <a:t>R3211</a:t>
            </a:r>
            <a:r>
              <a:rPr lang="en-US" altLang="zh-CN" dirty="0">
                <a:sym typeface="Wingdings" panose="05000000000000000000" pitchFamily="2" charset="2"/>
              </a:rPr>
              <a:t>XXXX</a:t>
            </a:r>
            <a:r>
              <a:rPr lang="zh-CN" altLang="zh-CN" dirty="0"/>
              <a:t>张</a:t>
            </a:r>
            <a:r>
              <a:rPr lang="zh-CN" altLang="en-US" dirty="0"/>
              <a:t>三</a:t>
            </a:r>
            <a:r>
              <a:rPr lang="en-US" altLang="zh-CN" dirty="0" err="1">
                <a:sym typeface="Wingdings" panose="05000000000000000000" pitchFamily="2" charset="2"/>
              </a:rPr>
              <a:t>yymmdd.RAR</a:t>
            </a:r>
            <a:r>
              <a:rPr lang="en-US" altLang="zh-CN" dirty="0"/>
              <a:t>. Five project compressed files 1-4</a:t>
            </a:r>
            <a:r>
              <a:rPr lang="zh-CN" altLang="en-US" dirty="0"/>
              <a:t>；</a:t>
            </a:r>
            <a:endParaRPr lang="zh-CN" altLang="en-US" dirty="0"/>
          </a:p>
          <a:p>
            <a:pPr defTabSz="1219200">
              <a:lnSpc>
                <a:spcPct val="150000"/>
              </a:lnSpc>
            </a:pPr>
            <a:r>
              <a:rPr lang="en-US" altLang="zh-CN" dirty="0">
                <a:sym typeface="+mn-ea"/>
              </a:rPr>
              <a:t>                  </a:t>
            </a:r>
            <a:r>
              <a:rPr lang="zh-CN" altLang="en-US" dirty="0">
                <a:sym typeface="+mn-ea"/>
              </a:rPr>
              <a:t>（</a:t>
            </a:r>
            <a:r>
              <a:rPr lang="en-US" altLang="zh-CN" dirty="0">
                <a:sym typeface="+mn-ea"/>
              </a:rPr>
              <a:t>2</a:t>
            </a:r>
            <a:r>
              <a:rPr lang="zh-CN" altLang="en-US" dirty="0">
                <a:sym typeface="+mn-ea"/>
              </a:rPr>
              <a:t>）</a:t>
            </a:r>
            <a:r>
              <a:rPr lang="en-US" altLang="zh-CN" dirty="0">
                <a:sym typeface="+mn-ea"/>
              </a:rPr>
              <a:t>Submit the draft version file and went through the test on </a:t>
            </a:r>
            <a:r>
              <a:rPr lang="en-US" altLang="zh-CN" dirty="0" err="1">
                <a:sym typeface="+mn-ea"/>
              </a:rPr>
              <a:t>Touge</a:t>
            </a:r>
            <a:r>
              <a:rPr lang="en-US" altLang="zh-CN" dirty="0">
                <a:sym typeface="+mn-ea"/>
              </a:rPr>
              <a:t> Platform before the class in teaching week (</a:t>
            </a:r>
            <a:r>
              <a:rPr lang="en-US" altLang="zh-CN" dirty="0">
                <a:effectLst/>
                <a:sym typeface="+mn-ea"/>
              </a:rPr>
              <a:t>Evening before class</a:t>
            </a:r>
            <a:r>
              <a:rPr lang="en-US" altLang="zh-CN" dirty="0">
                <a:sym typeface="+mn-ea"/>
              </a:rPr>
              <a:t>);</a:t>
            </a:r>
            <a:endParaRPr lang="en-US" altLang="zh-CN" dirty="0"/>
          </a:p>
          <a:p>
            <a:pPr defTabSz="1219200">
              <a:lnSpc>
                <a:spcPct val="150000"/>
              </a:lnSpc>
            </a:pPr>
            <a:r>
              <a:rPr lang="en-US" altLang="zh-CN" dirty="0"/>
              <a:t>                  </a:t>
            </a:r>
            <a:r>
              <a:rPr lang="zh-CN" altLang="en-US" dirty="0"/>
              <a:t>（</a:t>
            </a:r>
            <a:r>
              <a:rPr lang="en-US" altLang="zh-CN" dirty="0"/>
              <a:t>3</a:t>
            </a:r>
            <a:r>
              <a:rPr lang="zh-CN" altLang="en-US" dirty="0"/>
              <a:t>）</a:t>
            </a:r>
            <a:r>
              <a:rPr lang="en-US" altLang="zh-CN" dirty="0"/>
              <a:t>Submit the final version file and went through the test on </a:t>
            </a:r>
            <a:r>
              <a:rPr lang="en-US" altLang="zh-CN" dirty="0" err="1"/>
              <a:t>Touge</a:t>
            </a:r>
            <a:r>
              <a:rPr lang="en-US" altLang="zh-CN" dirty="0"/>
              <a:t> Platform after the inspection week (</a:t>
            </a:r>
            <a:r>
              <a:rPr lang="en-US" altLang="zh-CN" dirty="0">
                <a:effectLst/>
                <a:sym typeface="+mn-ea"/>
              </a:rPr>
              <a:t>two days after class</a:t>
            </a:r>
            <a:r>
              <a:rPr lang="en-US" altLang="zh-CN" dirty="0"/>
              <a:t>)</a:t>
            </a:r>
            <a:r>
              <a:rPr lang="en-US" altLang="zh-CN" dirty="0">
                <a:sym typeface="+mn-ea"/>
              </a:rPr>
              <a:t>;</a:t>
            </a:r>
            <a:endParaRPr lang="en-US" altLang="zh-CN" dirty="0">
              <a:sym typeface="+mn-ea"/>
            </a:endParaRPr>
          </a:p>
        </p:txBody>
      </p:sp>
      <p:sp>
        <p:nvSpPr>
          <p:cNvPr id="4" name="右大括号 3"/>
          <p:cNvSpPr/>
          <p:nvPr/>
        </p:nvSpPr>
        <p:spPr>
          <a:xfrm>
            <a:off x="8940800" y="1476375"/>
            <a:ext cx="393700" cy="185949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文本框 6"/>
          <p:cNvSpPr txBox="1"/>
          <p:nvPr/>
        </p:nvSpPr>
        <p:spPr>
          <a:xfrm>
            <a:off x="9334500" y="2082954"/>
            <a:ext cx="2630335" cy="646331"/>
          </a:xfrm>
          <a:prstGeom prst="rect">
            <a:avLst/>
          </a:prstGeom>
          <a:noFill/>
        </p:spPr>
        <p:txBody>
          <a:bodyPr wrap="none" rtlCol="0">
            <a:spAutoFit/>
          </a:bodyPr>
          <a:lstStyle/>
          <a:p>
            <a:r>
              <a:rPr lang="en-US" altLang="zh-CN" dirty="0"/>
              <a:t>shall be packaged and </a:t>
            </a:r>
            <a:endParaRPr lang="en-US" altLang="zh-CN" dirty="0"/>
          </a:p>
          <a:p>
            <a:r>
              <a:rPr lang="en-US" altLang="zh-CN" dirty="0"/>
              <a:t>submitted in each project </a:t>
            </a:r>
            <a:endParaRPr lang="en-US" dirty="0"/>
          </a:p>
        </p:txBody>
      </p:sp>
      <p:sp>
        <p:nvSpPr>
          <p:cNvPr id="9" name="矩形 8"/>
          <p:cNvSpPr/>
          <p:nvPr/>
        </p:nvSpPr>
        <p:spPr>
          <a:xfrm>
            <a:off x="7754991" y="3335399"/>
            <a:ext cx="1991443" cy="464871"/>
          </a:xfrm>
          <a:prstGeom prst="rect">
            <a:avLst/>
          </a:prstGeom>
        </p:spPr>
        <p:txBody>
          <a:bodyPr wrap="none">
            <a:spAutoFit/>
          </a:bodyPr>
          <a:lstStyle/>
          <a:p>
            <a:pPr defTabSz="1219200">
              <a:lnSpc>
                <a:spcPct val="150000"/>
              </a:lnSpc>
            </a:pPr>
            <a:r>
              <a:rPr lang="en-US" altLang="zh-CN" dirty="0"/>
              <a:t>submit in last week</a:t>
            </a:r>
            <a:endParaRPr lang="en-US" altLang="zh-C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0" y="4005065"/>
            <a:ext cx="11680613" cy="1405449"/>
          </a:xfrm>
          <a:prstGeom prst="rect">
            <a:avLst/>
          </a:prstGeom>
          <a:noFill/>
        </p:spPr>
        <p:txBody>
          <a:bodyPr wrap="square" rtlCol="0">
            <a:spAutoFit/>
          </a:bodyPr>
          <a:lstStyle/>
          <a:p>
            <a:pPr algn="ctr" defTabSz="1219200"/>
            <a:endParaRPr lang="zh-CN" altLang="en-US" sz="3735" dirty="0">
              <a:solidFill>
                <a:prstClr val="black"/>
              </a:solidFill>
              <a:latin typeface="Calibri" panose="020F0502020204030204"/>
              <a:ea typeface="宋体" panose="02010600030101010101" pitchFamily="2" charset="-122"/>
            </a:endParaRPr>
          </a:p>
          <a:p>
            <a:pPr defTabSz="1219200"/>
            <a:endParaRPr lang="zh-CN" altLang="en-US" sz="2400" dirty="0">
              <a:solidFill>
                <a:prstClr val="black"/>
              </a:solidFill>
              <a:latin typeface="Calibri" panose="020F0502020204030204"/>
              <a:ea typeface="宋体" panose="02010600030101010101" pitchFamily="2" charset="-122"/>
            </a:endParaRPr>
          </a:p>
          <a:p>
            <a:pPr defTabSz="1219200"/>
            <a:endParaRPr lang="zh-CN" altLang="en-US" sz="2400" dirty="0">
              <a:solidFill>
                <a:prstClr val="black"/>
              </a:solidFill>
              <a:latin typeface="Calibri" panose="020F0502020204030204"/>
              <a:ea typeface="宋体" panose="02010600030101010101" pitchFamily="2" charset="-122"/>
            </a:endParaRPr>
          </a:p>
        </p:txBody>
      </p:sp>
      <p:sp>
        <p:nvSpPr>
          <p:cNvPr id="2" name="文本框 1"/>
          <p:cNvSpPr txBox="1"/>
          <p:nvPr/>
        </p:nvSpPr>
        <p:spPr>
          <a:xfrm>
            <a:off x="207891" y="1004243"/>
            <a:ext cx="10970187" cy="5016758"/>
          </a:xfrm>
          <a:prstGeom prst="rect">
            <a:avLst/>
          </a:prstGeom>
          <a:noFill/>
        </p:spPr>
        <p:txBody>
          <a:bodyPr wrap="square" rtlCol="0">
            <a:spAutoFit/>
          </a:bodyPr>
          <a:lstStyle/>
          <a:p>
            <a:pPr defTabSz="1219200"/>
            <a:r>
              <a:rPr lang="en-US" altLang="zh-CN" sz="2000" dirty="0">
                <a:solidFill>
                  <a:prstClr val="black"/>
                </a:solidFill>
                <a:latin typeface="宋体" panose="02010600030101010101" pitchFamily="2" charset="-122"/>
                <a:ea typeface="宋体" panose="02010600030101010101" pitchFamily="2" charset="-122"/>
              </a:rPr>
              <a:t>1</a:t>
            </a:r>
            <a:r>
              <a:rPr lang="zh-CN" altLang="en-US" sz="2000" dirty="0">
                <a:solidFill>
                  <a:prstClr val="black"/>
                </a:solidFill>
                <a:latin typeface="宋体" panose="02010600030101010101" pitchFamily="2" charset="-122"/>
                <a:ea typeface="宋体" panose="02010600030101010101" pitchFamily="2" charset="-122"/>
              </a:rPr>
              <a:t>、</a:t>
            </a:r>
            <a:r>
              <a:rPr lang="zh-CN" altLang="en-US" sz="2000" dirty="0">
                <a:solidFill>
                  <a:srgbClr val="0000FF"/>
                </a:solidFill>
                <a:latin typeface="宋体" panose="02010600030101010101" pitchFamily="2" charset="-122"/>
                <a:ea typeface="宋体" panose="02010600030101010101" pitchFamily="2" charset="-122"/>
              </a:rPr>
              <a:t>封面</a:t>
            </a:r>
            <a:endParaRPr lang="zh-CN" altLang="en-US" sz="2000" dirty="0">
              <a:solidFill>
                <a:srgbClr val="0000FF"/>
              </a:solidFill>
              <a:latin typeface="宋体" panose="02010600030101010101" pitchFamily="2" charset="-122"/>
              <a:ea typeface="宋体" panose="02010600030101010101" pitchFamily="2" charset="-122"/>
            </a:endParaRPr>
          </a:p>
          <a:p>
            <a:pPr marL="609600" lvl="1" defTabSz="1219200"/>
            <a:r>
              <a:rPr lang="zh-CN" altLang="en-US" sz="2000" dirty="0">
                <a:solidFill>
                  <a:prstClr val="black"/>
                </a:solidFill>
                <a:latin typeface="宋体" panose="02010600030101010101" pitchFamily="2" charset="-122"/>
                <a:ea typeface="宋体" panose="02010600030101010101" pitchFamily="2" charset="-122"/>
              </a:rPr>
              <a:t>封面包括设计题目、班级、</a:t>
            </a:r>
            <a:r>
              <a:rPr lang="zh-CN" altLang="en-US" sz="2000" dirty="0">
                <a:solidFill>
                  <a:srgbClr val="FF0000"/>
                </a:solidFill>
                <a:latin typeface="宋体" panose="02010600030101010101" pitchFamily="2" charset="-122"/>
                <a:ea typeface="宋体" panose="02010600030101010101" pitchFamily="2" charset="-122"/>
              </a:rPr>
              <a:t>姓名、学号</a:t>
            </a:r>
            <a:r>
              <a:rPr lang="zh-CN" altLang="en-US" sz="2000" dirty="0">
                <a:solidFill>
                  <a:prstClr val="black"/>
                </a:solidFill>
                <a:latin typeface="宋体" panose="02010600030101010101" pitchFamily="2" charset="-122"/>
                <a:ea typeface="宋体" panose="02010600030101010101" pitchFamily="2" charset="-122"/>
              </a:rPr>
              <a:t>以及完成日期等信息。</a:t>
            </a:r>
            <a:endParaRPr lang="en-US" altLang="zh-CN" sz="2000" dirty="0">
              <a:solidFill>
                <a:prstClr val="black"/>
              </a:solidFill>
              <a:latin typeface="宋体" panose="02010600030101010101" pitchFamily="2" charset="-122"/>
              <a:ea typeface="宋体" panose="02010600030101010101" pitchFamily="2" charset="-122"/>
            </a:endParaRPr>
          </a:p>
          <a:p>
            <a:pPr marL="609600" lvl="1" defTabSz="1219200"/>
            <a:endParaRPr lang="zh-CN" altLang="en-US" sz="2000" dirty="0">
              <a:solidFill>
                <a:prstClr val="black"/>
              </a:solidFill>
              <a:latin typeface="宋体" panose="02010600030101010101" pitchFamily="2" charset="-122"/>
              <a:ea typeface="宋体" panose="02010600030101010101" pitchFamily="2" charset="-122"/>
            </a:endParaRPr>
          </a:p>
          <a:p>
            <a:pPr defTabSz="1219200"/>
            <a:r>
              <a:rPr lang="en-US" altLang="zh-CN" sz="2000" dirty="0">
                <a:solidFill>
                  <a:prstClr val="black"/>
                </a:solidFill>
                <a:latin typeface="宋体" panose="02010600030101010101" pitchFamily="2" charset="-122"/>
                <a:ea typeface="宋体" panose="02010600030101010101" pitchFamily="2" charset="-122"/>
              </a:rPr>
              <a:t>2</a:t>
            </a:r>
            <a:r>
              <a:rPr lang="zh-CN" altLang="en-US" sz="2000" dirty="0">
                <a:solidFill>
                  <a:prstClr val="black"/>
                </a:solidFill>
                <a:latin typeface="宋体" panose="02010600030101010101" pitchFamily="2" charset="-122"/>
                <a:ea typeface="宋体" panose="02010600030101010101" pitchFamily="2" charset="-122"/>
              </a:rPr>
              <a:t>、</a:t>
            </a:r>
            <a:r>
              <a:rPr lang="zh-CN" altLang="en-US" sz="2000" dirty="0">
                <a:solidFill>
                  <a:srgbClr val="0000FF"/>
                </a:solidFill>
                <a:latin typeface="宋体" panose="02010600030101010101" pitchFamily="2" charset="-122"/>
                <a:ea typeface="宋体" panose="02010600030101010101" pitchFamily="2" charset="-122"/>
              </a:rPr>
              <a:t>正文</a:t>
            </a:r>
            <a:endParaRPr lang="zh-CN" altLang="en-US" sz="2000" dirty="0">
              <a:solidFill>
                <a:srgbClr val="0000FF"/>
              </a:solidFill>
              <a:latin typeface="宋体" panose="02010600030101010101" pitchFamily="2" charset="-122"/>
              <a:ea typeface="宋体" panose="02010600030101010101" pitchFamily="2" charset="-122"/>
            </a:endParaRPr>
          </a:p>
          <a:p>
            <a:pPr marL="609600" lvl="1" defTabSz="1219200"/>
            <a:r>
              <a:rPr lang="zh-CN" altLang="en-US" sz="2000" dirty="0">
                <a:solidFill>
                  <a:prstClr val="black"/>
                </a:solidFill>
                <a:latin typeface="宋体" panose="02010600030101010101" pitchFamily="2" charset="-122"/>
                <a:ea typeface="宋体" panose="02010600030101010101" pitchFamily="2" charset="-122"/>
              </a:rPr>
              <a:t>（</a:t>
            </a:r>
            <a:r>
              <a:rPr lang="en-US" altLang="zh-CN" sz="2000" dirty="0">
                <a:solidFill>
                  <a:prstClr val="black"/>
                </a:solidFill>
                <a:latin typeface="宋体" panose="02010600030101010101" pitchFamily="2" charset="-122"/>
                <a:ea typeface="宋体" panose="02010600030101010101" pitchFamily="2" charset="-122"/>
              </a:rPr>
              <a:t>1</a:t>
            </a:r>
            <a:r>
              <a:rPr lang="zh-CN" altLang="en-US" sz="2000" dirty="0">
                <a:solidFill>
                  <a:prstClr val="black"/>
                </a:solidFill>
                <a:latin typeface="宋体" panose="02010600030101010101" pitchFamily="2" charset="-122"/>
                <a:ea typeface="宋体" panose="02010600030101010101" pitchFamily="2" charset="-122"/>
              </a:rPr>
              <a:t>）设计题目</a:t>
            </a:r>
            <a:endParaRPr lang="en-US" altLang="zh-CN" sz="2000" dirty="0">
              <a:solidFill>
                <a:prstClr val="black"/>
              </a:solidFill>
              <a:latin typeface="宋体" panose="02010600030101010101" pitchFamily="2" charset="-122"/>
              <a:ea typeface="宋体" panose="02010600030101010101" pitchFamily="2" charset="-122"/>
            </a:endParaRPr>
          </a:p>
          <a:p>
            <a:pPr marL="609600" lvl="1" defTabSz="1219200"/>
            <a:r>
              <a:rPr lang="zh-CN" altLang="en-US" sz="2000" dirty="0">
                <a:solidFill>
                  <a:prstClr val="black"/>
                </a:solidFill>
                <a:latin typeface="宋体" panose="02010600030101010101" pitchFamily="2" charset="-122"/>
                <a:ea typeface="宋体" panose="02010600030101010101" pitchFamily="2" charset="-122"/>
              </a:rPr>
              <a:t>（</a:t>
            </a:r>
            <a:r>
              <a:rPr lang="en-US" altLang="zh-CN" sz="2000" dirty="0">
                <a:solidFill>
                  <a:prstClr val="black"/>
                </a:solidFill>
                <a:latin typeface="宋体" panose="02010600030101010101" pitchFamily="2" charset="-122"/>
                <a:ea typeface="宋体" panose="02010600030101010101" pitchFamily="2" charset="-122"/>
              </a:rPr>
              <a:t>2</a:t>
            </a:r>
            <a:r>
              <a:rPr lang="zh-CN" altLang="en-US" sz="2000" dirty="0">
                <a:solidFill>
                  <a:prstClr val="black"/>
                </a:solidFill>
                <a:latin typeface="宋体" panose="02010600030101010101" pitchFamily="2" charset="-122"/>
                <a:ea typeface="宋体" panose="02010600030101010101" pitchFamily="2" charset="-122"/>
              </a:rPr>
              <a:t>）设计内容</a:t>
            </a:r>
            <a:endParaRPr lang="en-US" altLang="zh-CN" sz="2000" dirty="0">
              <a:solidFill>
                <a:prstClr val="black"/>
              </a:solidFill>
              <a:latin typeface="宋体" panose="02010600030101010101" pitchFamily="2" charset="-122"/>
              <a:ea typeface="宋体" panose="02010600030101010101" pitchFamily="2" charset="-122"/>
            </a:endParaRPr>
          </a:p>
          <a:p>
            <a:pPr marL="609600" lvl="1" defTabSz="1219200"/>
            <a:r>
              <a:rPr lang="zh-CN" altLang="en-US" sz="2000" dirty="0">
                <a:solidFill>
                  <a:prstClr val="black"/>
                </a:solidFill>
                <a:latin typeface="宋体" panose="02010600030101010101" pitchFamily="2" charset="-122"/>
                <a:ea typeface="宋体" panose="02010600030101010101" pitchFamily="2" charset="-122"/>
              </a:rPr>
              <a:t>（</a:t>
            </a:r>
            <a:r>
              <a:rPr lang="en-US" altLang="zh-CN" sz="2000" dirty="0">
                <a:solidFill>
                  <a:prstClr val="black"/>
                </a:solidFill>
                <a:latin typeface="宋体" panose="02010600030101010101" pitchFamily="2" charset="-122"/>
                <a:ea typeface="宋体" panose="02010600030101010101" pitchFamily="2" charset="-122"/>
              </a:rPr>
              <a:t>2</a:t>
            </a:r>
            <a:r>
              <a:rPr lang="zh-CN" altLang="en-US" sz="2000" dirty="0">
                <a:solidFill>
                  <a:prstClr val="black"/>
                </a:solidFill>
                <a:latin typeface="宋体" panose="02010600030101010101" pitchFamily="2" charset="-122"/>
                <a:ea typeface="宋体" panose="02010600030101010101" pitchFamily="2" charset="-122"/>
              </a:rPr>
              <a:t>）设计方法和电路工作原理</a:t>
            </a:r>
            <a:endParaRPr lang="en-US" altLang="zh-CN" sz="2000" dirty="0">
              <a:solidFill>
                <a:prstClr val="black"/>
              </a:solidFill>
              <a:latin typeface="宋体" panose="02010600030101010101" pitchFamily="2" charset="-122"/>
              <a:ea typeface="宋体" panose="02010600030101010101" pitchFamily="2" charset="-122"/>
            </a:endParaRPr>
          </a:p>
          <a:p>
            <a:pPr marL="609600" lvl="1" defTabSz="1219200"/>
            <a:r>
              <a:rPr lang="zh-CN" altLang="en-US" sz="2000" dirty="0">
                <a:solidFill>
                  <a:prstClr val="black"/>
                </a:solidFill>
                <a:latin typeface="宋体" panose="02010600030101010101" pitchFamily="2" charset="-122"/>
                <a:ea typeface="宋体" panose="02010600030101010101" pitchFamily="2" charset="-122"/>
              </a:rPr>
              <a:t>（</a:t>
            </a:r>
            <a:r>
              <a:rPr lang="en-US" altLang="zh-CN" sz="2000" dirty="0">
                <a:solidFill>
                  <a:prstClr val="black"/>
                </a:solidFill>
                <a:latin typeface="宋体" panose="02010600030101010101" pitchFamily="2" charset="-122"/>
                <a:ea typeface="宋体" panose="02010600030101010101" pitchFamily="2" charset="-122"/>
              </a:rPr>
              <a:t>3</a:t>
            </a:r>
            <a:r>
              <a:rPr lang="zh-CN" altLang="en-US" sz="2000" dirty="0">
                <a:solidFill>
                  <a:prstClr val="black"/>
                </a:solidFill>
                <a:latin typeface="宋体" panose="02010600030101010101" pitchFamily="2" charset="-122"/>
                <a:ea typeface="宋体" panose="02010600030101010101" pitchFamily="2" charset="-122"/>
              </a:rPr>
              <a:t>）设计过程</a:t>
            </a:r>
            <a:endParaRPr lang="en-US" altLang="zh-CN" sz="2000" dirty="0">
              <a:solidFill>
                <a:prstClr val="black"/>
              </a:solidFill>
              <a:latin typeface="宋体" panose="02010600030101010101" pitchFamily="2" charset="-122"/>
              <a:ea typeface="宋体" panose="02010600030101010101" pitchFamily="2" charset="-122"/>
            </a:endParaRPr>
          </a:p>
          <a:p>
            <a:pPr marL="609600" lvl="1" defTabSz="1219200"/>
            <a:r>
              <a:rPr lang="zh-CN" altLang="en-US" sz="2000" dirty="0">
                <a:solidFill>
                  <a:prstClr val="black"/>
                </a:solidFill>
                <a:latin typeface="宋体" panose="02010600030101010101" pitchFamily="2" charset="-122"/>
                <a:ea typeface="宋体" panose="02010600030101010101" pitchFamily="2" charset="-122"/>
              </a:rPr>
              <a:t>（</a:t>
            </a:r>
            <a:r>
              <a:rPr lang="en-US" altLang="zh-CN" sz="2000" dirty="0">
                <a:solidFill>
                  <a:prstClr val="black"/>
                </a:solidFill>
                <a:latin typeface="宋体" panose="02010600030101010101" pitchFamily="2" charset="-122"/>
                <a:ea typeface="宋体" panose="02010600030101010101" pitchFamily="2" charset="-122"/>
              </a:rPr>
              <a:t>4</a:t>
            </a:r>
            <a:r>
              <a:rPr lang="zh-CN" altLang="en-US" sz="2000" dirty="0">
                <a:solidFill>
                  <a:prstClr val="black"/>
                </a:solidFill>
                <a:latin typeface="宋体" panose="02010600030101010101" pitchFamily="2" charset="-122"/>
                <a:ea typeface="宋体" panose="02010600030101010101" pitchFamily="2" charset="-122"/>
              </a:rPr>
              <a:t>）</a:t>
            </a:r>
            <a:r>
              <a:rPr lang="zh-CN" altLang="en-US" sz="2000" dirty="0">
                <a:solidFill>
                  <a:srgbClr val="FF0000"/>
                </a:solidFill>
                <a:latin typeface="宋体" panose="02010600030101010101" pitchFamily="2" charset="-122"/>
                <a:ea typeface="宋体" panose="02010600030101010101" pitchFamily="2" charset="-122"/>
              </a:rPr>
              <a:t>设计心得</a:t>
            </a:r>
            <a:r>
              <a:rPr lang="zh-CN" altLang="en-US" sz="2000" dirty="0">
                <a:solidFill>
                  <a:prstClr val="black"/>
                </a:solidFill>
                <a:latin typeface="宋体" panose="02010600030101010101" pitchFamily="2" charset="-122"/>
                <a:ea typeface="宋体" panose="02010600030101010101" pitchFamily="2" charset="-122"/>
              </a:rPr>
              <a:t>（包括每个项目自己的收获与体会；填写项目进度表；遇到的问题和解决的方法；对项目课程和理论课程的意见和建议等）</a:t>
            </a:r>
            <a:r>
              <a:rPr lang="en-US" altLang="zh-CN" sz="2000" dirty="0">
                <a:solidFill>
                  <a:prstClr val="black"/>
                </a:solidFill>
                <a:latin typeface="宋体" panose="02010600030101010101" pitchFamily="2" charset="-122"/>
                <a:ea typeface="宋体" panose="02010600030101010101" pitchFamily="2" charset="-122"/>
              </a:rPr>
              <a:t>——</a:t>
            </a:r>
            <a:r>
              <a:rPr lang="zh-CN" altLang="en-US" sz="2000" b="1" dirty="0">
                <a:solidFill>
                  <a:prstClr val="black"/>
                </a:solidFill>
                <a:latin typeface="宋体" panose="02010600030101010101" pitchFamily="2" charset="-122"/>
                <a:ea typeface="宋体" panose="02010600030101010101" pitchFamily="2" charset="-122"/>
              </a:rPr>
              <a:t>重点</a:t>
            </a:r>
            <a:r>
              <a:rPr lang="zh-CN" altLang="en-US" sz="2000" b="1" dirty="0">
                <a:solidFill>
                  <a:prstClr val="black"/>
                </a:solidFill>
                <a:latin typeface="宋体" panose="02010600030101010101" pitchFamily="2" charset="-122"/>
              </a:rPr>
              <a:t>！</a:t>
            </a:r>
            <a:endParaRPr lang="en-US" altLang="zh-CN" sz="2000" b="1" dirty="0">
              <a:solidFill>
                <a:prstClr val="black"/>
              </a:solidFill>
              <a:latin typeface="宋体" panose="02010600030101010101" pitchFamily="2" charset="-122"/>
              <a:ea typeface="宋体" panose="02010600030101010101" pitchFamily="2" charset="-122"/>
            </a:endParaRPr>
          </a:p>
          <a:p>
            <a:pPr marL="609600" lvl="1" defTabSz="1219200"/>
            <a:endParaRPr lang="zh-CN" altLang="en-US" sz="2000" dirty="0">
              <a:solidFill>
                <a:prstClr val="black"/>
              </a:solidFill>
              <a:latin typeface="宋体" panose="02010600030101010101" pitchFamily="2" charset="-122"/>
              <a:ea typeface="宋体" panose="02010600030101010101" pitchFamily="2" charset="-122"/>
            </a:endParaRPr>
          </a:p>
          <a:p>
            <a:pPr defTabSz="1219200"/>
            <a:r>
              <a:rPr lang="en-US" altLang="zh-CN" sz="2000" dirty="0">
                <a:solidFill>
                  <a:prstClr val="black"/>
                </a:solidFill>
                <a:latin typeface="宋体" panose="02010600030101010101" pitchFamily="2" charset="-122"/>
                <a:ea typeface="宋体" panose="02010600030101010101" pitchFamily="2" charset="-122"/>
              </a:rPr>
              <a:t>3</a:t>
            </a:r>
            <a:r>
              <a:rPr lang="zh-CN" altLang="en-US" sz="2000" dirty="0">
                <a:solidFill>
                  <a:prstClr val="black"/>
                </a:solidFill>
                <a:latin typeface="宋体" panose="02010600030101010101" pitchFamily="2" charset="-122"/>
                <a:ea typeface="宋体" panose="02010600030101010101" pitchFamily="2" charset="-122"/>
              </a:rPr>
              <a:t>．</a:t>
            </a:r>
            <a:r>
              <a:rPr lang="zh-CN" altLang="en-US" sz="2000" dirty="0">
                <a:solidFill>
                  <a:srgbClr val="0000FF"/>
                </a:solidFill>
                <a:latin typeface="宋体" panose="02010600030101010101" pitchFamily="2" charset="-122"/>
                <a:ea typeface="宋体" panose="02010600030101010101" pitchFamily="2" charset="-122"/>
              </a:rPr>
              <a:t>附录</a:t>
            </a:r>
            <a:endParaRPr lang="zh-CN" altLang="en-US" sz="2000" dirty="0">
              <a:solidFill>
                <a:srgbClr val="0000FF"/>
              </a:solidFill>
              <a:latin typeface="宋体" panose="02010600030101010101" pitchFamily="2" charset="-122"/>
              <a:ea typeface="宋体" panose="02010600030101010101" pitchFamily="2" charset="-122"/>
            </a:endParaRPr>
          </a:p>
          <a:p>
            <a:pPr marL="609600" lvl="1" defTabSz="1219200"/>
            <a:r>
              <a:rPr lang="zh-CN" altLang="en-US" sz="2000" dirty="0">
                <a:solidFill>
                  <a:prstClr val="black"/>
                </a:solidFill>
                <a:latin typeface="宋体" panose="02010600030101010101" pitchFamily="2" charset="-122"/>
                <a:ea typeface="宋体" panose="02010600030101010101" pitchFamily="2" charset="-122"/>
              </a:rPr>
              <a:t>（</a:t>
            </a:r>
            <a:r>
              <a:rPr lang="en-US" altLang="zh-CN" sz="2000" dirty="0">
                <a:solidFill>
                  <a:prstClr val="black"/>
                </a:solidFill>
                <a:latin typeface="宋体" panose="02010600030101010101" pitchFamily="2" charset="-122"/>
                <a:ea typeface="宋体" panose="02010600030101010101" pitchFamily="2" charset="-122"/>
              </a:rPr>
              <a:t>1</a:t>
            </a:r>
            <a:r>
              <a:rPr lang="zh-CN" altLang="en-US" sz="2000" dirty="0">
                <a:solidFill>
                  <a:prstClr val="black"/>
                </a:solidFill>
                <a:latin typeface="宋体" panose="02010600030101010101" pitchFamily="2" charset="-122"/>
                <a:ea typeface="宋体" panose="02010600030101010101" pitchFamily="2" charset="-122"/>
              </a:rPr>
              <a:t>）每个电路图</a:t>
            </a:r>
            <a:endParaRPr lang="en-US" altLang="zh-CN" sz="2000" dirty="0">
              <a:solidFill>
                <a:prstClr val="black"/>
              </a:solidFill>
              <a:latin typeface="宋体" panose="02010600030101010101" pitchFamily="2" charset="-122"/>
              <a:ea typeface="宋体" panose="02010600030101010101" pitchFamily="2" charset="-122"/>
            </a:endParaRPr>
          </a:p>
          <a:p>
            <a:pPr marL="609600" lvl="1" defTabSz="1219200"/>
            <a:r>
              <a:rPr lang="zh-CN" altLang="en-US" sz="2000" dirty="0">
                <a:solidFill>
                  <a:prstClr val="black"/>
                </a:solidFill>
                <a:latin typeface="宋体" panose="02010600030101010101" pitchFamily="2" charset="-122"/>
                <a:ea typeface="宋体" panose="02010600030101010101" pitchFamily="2" charset="-122"/>
              </a:rPr>
              <a:t>（</a:t>
            </a:r>
            <a:r>
              <a:rPr lang="en-US" altLang="zh-CN" sz="2000" dirty="0">
                <a:solidFill>
                  <a:prstClr val="black"/>
                </a:solidFill>
                <a:latin typeface="宋体" panose="02010600030101010101" pitchFamily="2" charset="-122"/>
                <a:ea typeface="宋体" panose="02010600030101010101" pitchFamily="2" charset="-122"/>
              </a:rPr>
              <a:t>2</a:t>
            </a:r>
            <a:r>
              <a:rPr lang="zh-CN" altLang="en-US" sz="2000" dirty="0">
                <a:solidFill>
                  <a:prstClr val="black"/>
                </a:solidFill>
                <a:latin typeface="宋体" panose="02010600030101010101" pitchFamily="2" charset="-122"/>
                <a:ea typeface="宋体" panose="02010600030101010101" pitchFamily="2" charset="-122"/>
              </a:rPr>
              <a:t>）每个自动生成表达式的</a:t>
            </a:r>
            <a:r>
              <a:rPr lang="en-US" altLang="zh-CN" sz="2000" dirty="0">
                <a:solidFill>
                  <a:prstClr val="black"/>
                </a:solidFill>
                <a:latin typeface="宋体" panose="02010600030101010101" pitchFamily="2" charset="-122"/>
                <a:ea typeface="宋体" panose="02010600030101010101" pitchFamily="2" charset="-122"/>
              </a:rPr>
              <a:t>excel</a:t>
            </a:r>
            <a:r>
              <a:rPr lang="zh-CN" altLang="en-US" sz="2000" dirty="0">
                <a:solidFill>
                  <a:prstClr val="black"/>
                </a:solidFill>
                <a:latin typeface="宋体" panose="02010600030101010101" pitchFamily="2" charset="-122"/>
                <a:ea typeface="宋体" panose="02010600030101010101" pitchFamily="2" charset="-122"/>
              </a:rPr>
              <a:t>表格</a:t>
            </a:r>
            <a:endParaRPr lang="en-US" altLang="zh-CN" sz="2000" dirty="0">
              <a:solidFill>
                <a:prstClr val="black"/>
              </a:solidFill>
              <a:latin typeface="宋体" panose="02010600030101010101" pitchFamily="2" charset="-122"/>
              <a:ea typeface="宋体" panose="02010600030101010101" pitchFamily="2" charset="-122"/>
            </a:endParaRPr>
          </a:p>
          <a:p>
            <a:pPr marL="609600" lvl="1" defTabSz="1219200"/>
            <a:r>
              <a:rPr lang="zh-CN" altLang="en-US" sz="2000" dirty="0">
                <a:solidFill>
                  <a:prstClr val="black"/>
                </a:solidFill>
                <a:latin typeface="宋体" panose="02010600030101010101" pitchFamily="2" charset="-122"/>
                <a:ea typeface="宋体" panose="02010600030101010101" pitchFamily="2" charset="-122"/>
              </a:rPr>
              <a:t>（</a:t>
            </a:r>
            <a:r>
              <a:rPr lang="en-US" altLang="zh-CN" sz="2000" dirty="0">
                <a:solidFill>
                  <a:prstClr val="black"/>
                </a:solidFill>
                <a:latin typeface="宋体" panose="02010600030101010101" pitchFamily="2" charset="-122"/>
                <a:ea typeface="宋体" panose="02010600030101010101" pitchFamily="2" charset="-122"/>
              </a:rPr>
              <a:t>3</a:t>
            </a:r>
            <a:r>
              <a:rPr lang="zh-CN" altLang="en-US" sz="2000" dirty="0">
                <a:solidFill>
                  <a:prstClr val="black"/>
                </a:solidFill>
                <a:latin typeface="宋体" panose="02010600030101010101" pitchFamily="2" charset="-122"/>
                <a:ea typeface="宋体" panose="02010600030101010101" pitchFamily="2" charset="-122"/>
              </a:rPr>
              <a:t>）自己编写的代码及二进制机器指令</a:t>
            </a:r>
            <a:endParaRPr lang="en-US" altLang="zh-CN" sz="2000" dirty="0">
              <a:solidFill>
                <a:prstClr val="black"/>
              </a:solidFill>
              <a:latin typeface="宋体" panose="02010600030101010101" pitchFamily="2" charset="-122"/>
              <a:ea typeface="宋体" panose="02010600030101010101" pitchFamily="2" charset="-122"/>
            </a:endParaRPr>
          </a:p>
          <a:p>
            <a:pPr defTabSz="1219200"/>
            <a:r>
              <a:rPr lang="en-US" altLang="zh-CN" sz="2000" dirty="0">
                <a:solidFill>
                  <a:prstClr val="black"/>
                </a:solidFill>
                <a:latin typeface="宋体" panose="02010600030101010101" pitchFamily="2" charset="-122"/>
                <a:ea typeface="宋体" panose="02010600030101010101" pitchFamily="2" charset="-122"/>
                <a:cs typeface="隶书" panose="02010509060101010101" charset="-122"/>
                <a:sym typeface="+mn-ea"/>
              </a:rPr>
              <a:t>    </a:t>
            </a:r>
            <a:endParaRPr lang="zh-CN" altLang="en-US" sz="2000" dirty="0">
              <a:solidFill>
                <a:prstClr val="black"/>
              </a:solidFill>
              <a:latin typeface="宋体" panose="02010600030101010101" pitchFamily="2" charset="-122"/>
              <a:ea typeface="宋体" panose="02010600030101010101" pitchFamily="2" charset="-122"/>
              <a:cs typeface="隶书" panose="02010509060101010101" charset="-122"/>
              <a:sym typeface="+mn-ea"/>
            </a:endParaRPr>
          </a:p>
        </p:txBody>
      </p:sp>
      <p:graphicFrame>
        <p:nvGraphicFramePr>
          <p:cNvPr id="4" name="对象 3">
            <a:hlinkClick r:id="" action="ppaction://ole?verb=0"/>
          </p:cNvPr>
          <p:cNvGraphicFramePr>
            <a:graphicFrameLocks noChangeAspect="1"/>
          </p:cNvGraphicFramePr>
          <p:nvPr/>
        </p:nvGraphicFramePr>
        <p:xfrm>
          <a:off x="5486400" y="3285067"/>
          <a:ext cx="1219200" cy="287867"/>
        </p:xfrm>
        <a:graphic>
          <a:graphicData uri="http://schemas.openxmlformats.org/presentationml/2006/ole">
            <mc:AlternateContent xmlns:mc="http://schemas.openxmlformats.org/markup-compatibility/2006">
              <mc:Choice xmlns:v="urn:schemas-microsoft-com:vml" Requires="v">
                <p:oleObj spid="_x0000_s1057" name="" r:id="rId1" imgW="914400" imgH="215900" progId="Equation.KSEE3">
                  <p:embed/>
                </p:oleObj>
              </mc:Choice>
              <mc:Fallback>
                <p:oleObj name="" r:id="rId1" imgW="914400" imgH="215900" progId="Equation.KSEE3">
                  <p:embed/>
                  <p:pic>
                    <p:nvPicPr>
                      <p:cNvPr id="0" name="对象 3">
                        <a:hlinkClick r:id="" action="ppaction://ole?verb=0"/>
                      </p:cNvPr>
                      <p:cNvPicPr/>
                      <p:nvPr/>
                    </p:nvPicPr>
                    <p:blipFill>
                      <a:blip r:embed="rId2"/>
                      <a:stretch>
                        <a:fillRect/>
                      </a:stretch>
                    </p:blipFill>
                    <p:spPr>
                      <a:xfrm>
                        <a:off x="5486400" y="3285067"/>
                        <a:ext cx="1219200" cy="287867"/>
                      </a:xfrm>
                      <a:prstGeom prst="rect">
                        <a:avLst/>
                      </a:prstGeom>
                    </p:spPr>
                  </p:pic>
                </p:oleObj>
              </mc:Fallback>
            </mc:AlternateContent>
          </a:graphicData>
        </a:graphic>
      </p:graphicFrame>
      <p:sp>
        <p:nvSpPr>
          <p:cNvPr id="6" name="Rectangle 2"/>
          <p:cNvSpPr>
            <a:spLocks noGrp="1" noChangeArrowheads="1"/>
          </p:cNvSpPr>
          <p:nvPr>
            <p:ph type="title"/>
          </p:nvPr>
        </p:nvSpPr>
        <p:spPr>
          <a:xfrm>
            <a:off x="3311691" y="-90745"/>
            <a:ext cx="6912768" cy="1293799"/>
          </a:xfrm>
        </p:spPr>
        <p:txBody>
          <a:bodyPr>
            <a:normAutofit/>
          </a:bodyPr>
          <a:lstStyle/>
          <a:p>
            <a:pPr eaLnBrk="1" hangingPunct="1"/>
            <a:r>
              <a:rPr lang="zh-CN" altLang="en-US" sz="3735" b="1" dirty="0">
                <a:ea typeface="隶书" panose="02010509060101010101" charset="-122"/>
              </a:rPr>
              <a:t>设计报告的模板</a:t>
            </a:r>
            <a:r>
              <a:rPr lang="zh-CN" altLang="en-US" sz="3735" dirty="0">
                <a:ea typeface="隶书" panose="02010509060101010101" charset="-122"/>
              </a:rPr>
              <a:t>（</a:t>
            </a:r>
            <a:r>
              <a:rPr lang="en-US" altLang="zh-CN" sz="3735" dirty="0">
                <a:ea typeface="隶书" panose="02010509060101010101" charset="-122"/>
              </a:rPr>
              <a:t>PDF</a:t>
            </a:r>
            <a:r>
              <a:rPr lang="zh-CN" altLang="en-US" sz="3735" dirty="0">
                <a:ea typeface="隶书" panose="02010509060101010101" charset="-122"/>
              </a:rPr>
              <a:t>文件）</a:t>
            </a:r>
            <a:endParaRPr lang="zh-CN" altLang="en-US" sz="3735" dirty="0">
              <a:ea typeface="隶书" panose="02010509060101010101" charset="-122"/>
            </a:endParaRPr>
          </a:p>
        </p:txBody>
      </p:sp>
      <p:pic>
        <p:nvPicPr>
          <p:cNvPr id="7" name="图片 6"/>
          <p:cNvPicPr>
            <a:picLocks noChangeAspect="1"/>
          </p:cNvPicPr>
          <p:nvPr/>
        </p:nvPicPr>
        <p:blipFill>
          <a:blip r:embed="rId3"/>
          <a:stretch>
            <a:fillRect/>
          </a:stretch>
        </p:blipFill>
        <p:spPr>
          <a:xfrm>
            <a:off x="58057" y="1004243"/>
            <a:ext cx="11860131" cy="5805340"/>
          </a:xfrm>
          <a:prstGeom prst="rect">
            <a:avLst/>
          </a:prstGeom>
          <a:effectLst>
            <a:outerShdw blurRad="355600" dist="50800" dir="5400000" algn="ctr" rotWithShape="0">
              <a:srgbClr val="000000">
                <a:alpha val="43137"/>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119967" y="969606"/>
            <a:ext cx="5502796" cy="5372100"/>
          </a:xfrm>
          <a:prstGeom prst="rect">
            <a:avLst/>
          </a:prstGeom>
          <a:noFill/>
        </p:spPr>
        <p:txBody>
          <a:bodyPr wrap="square" rtlCol="0" anchor="t">
            <a:spAutoFit/>
          </a:bodyPr>
          <a:lstStyle/>
          <a:p>
            <a:pPr marL="228600" lvl="1">
              <a:spcBef>
                <a:spcPts val="500"/>
              </a:spcBef>
              <a:buClr>
                <a:schemeClr val="tx1"/>
              </a:buClr>
              <a:buFontTx/>
              <a:buChar char="•"/>
            </a:pPr>
            <a:r>
              <a:rPr lang="en-US" altLang="zh-CN" sz="1600" b="1" dirty="0">
                <a:solidFill>
                  <a:srgbClr val="FF0000"/>
                </a:solidFill>
                <a:latin typeface="+mn-lt"/>
                <a:ea typeface="黑体" panose="02010609060101010101" charset="-122"/>
                <a:sym typeface="+mn-ea"/>
              </a:rPr>
              <a:t>Student awards</a:t>
            </a:r>
            <a:endParaRPr lang="en-US" altLang="zh-CN" sz="1600" b="1" dirty="0">
              <a:solidFill>
                <a:srgbClr val="FF0000"/>
              </a:solidFill>
              <a:latin typeface="+mn-lt"/>
              <a:ea typeface="黑体" panose="02010609060101010101" charset="-122"/>
              <a:sym typeface="+mn-ea"/>
            </a:endParaRPr>
          </a:p>
          <a:p>
            <a:pPr marL="228600" lvl="1">
              <a:spcBef>
                <a:spcPts val="500"/>
              </a:spcBef>
              <a:buClr>
                <a:schemeClr val="tx1"/>
              </a:buClr>
              <a:buFontTx/>
              <a:buChar char="•"/>
            </a:pPr>
            <a:r>
              <a:rPr lang="en-US" altLang="zh-CN" sz="1600" dirty="0">
                <a:latin typeface="黑体" panose="02010609060101010101" charset="-122"/>
                <a:ea typeface="黑体" panose="02010609060101010101" charset="-122"/>
                <a:sym typeface="+mn-ea"/>
              </a:rPr>
              <a:t>In 2023, won the third prize of the 7th National College Students Computer System Ability Training</a:t>
            </a:r>
            <a:endParaRPr lang="en-US" altLang="zh-CN" sz="1600" dirty="0">
              <a:latin typeface="黑体" panose="02010609060101010101" charset="-122"/>
              <a:ea typeface="黑体" panose="02010609060101010101" charset="-122"/>
              <a:sym typeface="+mn-ea"/>
            </a:endParaRPr>
          </a:p>
          <a:p>
            <a:pPr marL="228600" lvl="1">
              <a:spcBef>
                <a:spcPts val="500"/>
              </a:spcBef>
              <a:buClr>
                <a:schemeClr val="tx1"/>
              </a:buClr>
              <a:buFontTx/>
              <a:buChar char="•"/>
            </a:pPr>
            <a:r>
              <a:rPr lang="en-US" altLang="zh-CN" sz="1600" dirty="0">
                <a:latin typeface="黑体" panose="02010609060101010101" charset="-122"/>
                <a:ea typeface="黑体" panose="02010609060101010101" charset="-122"/>
                <a:sym typeface="+mn-ea"/>
              </a:rPr>
              <a:t>In 2023, we won two first prize (No.1</a:t>
            </a:r>
            <a:r>
              <a:rPr lang="zh-CN" altLang="en-US" sz="1600" dirty="0">
                <a:latin typeface="黑体" panose="02010609060101010101" charset="-122"/>
                <a:ea typeface="黑体" panose="02010609060101010101" charset="-122"/>
                <a:sym typeface="+mn-ea"/>
              </a:rPr>
              <a:t>，</a:t>
            </a:r>
            <a:r>
              <a:rPr lang="en-US" altLang="zh-CN" sz="1600" dirty="0">
                <a:latin typeface="黑体" panose="02010609060101010101" charset="-122"/>
                <a:ea typeface="黑体" panose="02010609060101010101" charset="-122"/>
                <a:sym typeface="+mn-ea"/>
              </a:rPr>
              <a:t>2</a:t>
            </a:r>
            <a:r>
              <a:rPr lang="zh-CN" altLang="en-US" sz="1600" dirty="0">
                <a:latin typeface="黑体" panose="02010609060101010101" charset="-122"/>
                <a:ea typeface="黑体" panose="02010609060101010101" charset="-122"/>
                <a:sym typeface="+mn-ea"/>
              </a:rPr>
              <a:t>，</a:t>
            </a:r>
            <a:r>
              <a:rPr lang="en-US" altLang="zh-CN" sz="1600" dirty="0">
                <a:latin typeface="黑体" panose="02010609060101010101" charset="-122"/>
                <a:ea typeface="黑体" panose="02010609060101010101" charset="-122"/>
                <a:sym typeface="+mn-ea"/>
              </a:rPr>
              <a:t>3) and three second prizes in the provincial chip design competition</a:t>
            </a:r>
            <a:endParaRPr lang="en-US" altLang="zh-CN" sz="1600" dirty="0">
              <a:latin typeface="黑体" panose="02010609060101010101" charset="-122"/>
              <a:ea typeface="黑体" panose="02010609060101010101" charset="-122"/>
              <a:sym typeface="+mn-ea"/>
            </a:endParaRPr>
          </a:p>
          <a:p>
            <a:pPr marL="228600" lvl="1">
              <a:spcBef>
                <a:spcPts val="500"/>
              </a:spcBef>
              <a:buClr>
                <a:schemeClr val="tx1"/>
              </a:buClr>
              <a:buFontTx/>
              <a:buChar char="•"/>
            </a:pPr>
            <a:r>
              <a:rPr lang="en-US" altLang="zh-CN" sz="1600" dirty="0">
                <a:latin typeface="黑体" panose="02010609060101010101" charset="-122"/>
                <a:ea typeface="黑体" panose="02010609060101010101" charset="-122"/>
                <a:sym typeface="+mn-ea"/>
              </a:rPr>
              <a:t>In 2022, we won the second prize of "Future Cup" artificial intelligence and robot</a:t>
            </a:r>
            <a:endParaRPr lang="en-US" altLang="zh-CN" sz="1600" b="1" dirty="0">
              <a:solidFill>
                <a:srgbClr val="FF0000"/>
              </a:solidFill>
              <a:latin typeface="+mn-lt"/>
              <a:ea typeface="黑体" panose="02010609060101010101" charset="-122"/>
              <a:sym typeface="+mn-ea"/>
            </a:endParaRPr>
          </a:p>
          <a:p>
            <a:pPr marL="228600" lvl="1">
              <a:spcBef>
                <a:spcPts val="500"/>
              </a:spcBef>
              <a:buClr>
                <a:schemeClr val="tx1"/>
              </a:buClr>
              <a:buFontTx/>
              <a:buChar char="•"/>
            </a:pPr>
            <a:r>
              <a:rPr lang="en-US" altLang="zh-CN" sz="1600" dirty="0">
                <a:latin typeface="黑体" panose="02010609060101010101" charset="-122"/>
                <a:ea typeface="黑体" panose="02010609060101010101" charset="-122"/>
                <a:sym typeface="+mn-ea"/>
              </a:rPr>
              <a:t>In 2022, won the third prize of the 6th National College Students Computer System Ability Training</a:t>
            </a:r>
            <a:endParaRPr lang="en-US" altLang="zh-CN" sz="1600" dirty="0">
              <a:latin typeface="黑体" panose="02010609060101010101" charset="-122"/>
              <a:ea typeface="黑体" panose="02010609060101010101" charset="-122"/>
              <a:sym typeface="+mn-ea"/>
            </a:endParaRPr>
          </a:p>
          <a:p>
            <a:pPr marL="228600" lvl="1">
              <a:spcBef>
                <a:spcPts val="500"/>
              </a:spcBef>
              <a:buClr>
                <a:schemeClr val="tx1"/>
              </a:buClr>
              <a:buFontTx/>
              <a:buChar char="•"/>
            </a:pPr>
            <a:r>
              <a:rPr lang="en-US" altLang="zh-CN" sz="1600" dirty="0">
                <a:latin typeface="黑体" panose="02010609060101010101" charset="-122"/>
                <a:ea typeface="黑体" panose="02010609060101010101" charset="-122"/>
                <a:sym typeface="+mn-ea"/>
              </a:rPr>
              <a:t>In 2022, we won one first prize (No.1) and two second prizes in the provincial chip design competition</a:t>
            </a:r>
            <a:endParaRPr lang="en-US" altLang="zh-CN" sz="1600" dirty="0">
              <a:latin typeface="黑体" panose="02010609060101010101" charset="-122"/>
              <a:ea typeface="黑体" panose="02010609060101010101" charset="-122"/>
              <a:sym typeface="+mn-ea"/>
            </a:endParaRPr>
          </a:p>
          <a:p>
            <a:pPr marL="228600" lvl="1" algn="l">
              <a:spcBef>
                <a:spcPts val="500"/>
              </a:spcBef>
              <a:buClr>
                <a:schemeClr val="tx1"/>
              </a:buClr>
              <a:buSzTx/>
              <a:buFontTx/>
              <a:buChar char="•"/>
            </a:pPr>
            <a:r>
              <a:rPr lang="en-US" altLang="zh-CN" sz="1600" dirty="0">
                <a:latin typeface="黑体" panose="02010609060101010101" charset="-122"/>
                <a:ea typeface="黑体" panose="02010609060101010101" charset="-122"/>
                <a:sym typeface="+mn-ea"/>
              </a:rPr>
              <a:t>In 2021, we won one first prize (No.1) and one third prize in the provincial chip design competition</a:t>
            </a:r>
            <a:endParaRPr lang="en-US" altLang="zh-CN" sz="1600" dirty="0">
              <a:latin typeface="黑体" panose="02010609060101010101" charset="-122"/>
              <a:ea typeface="黑体" panose="02010609060101010101" charset="-122"/>
              <a:sym typeface="+mn-ea"/>
            </a:endParaRPr>
          </a:p>
          <a:p>
            <a:pPr marL="0" lvl="1" algn="l">
              <a:spcBef>
                <a:spcPts val="1200"/>
              </a:spcBef>
              <a:buClr>
                <a:srgbClr val="0086D2"/>
              </a:buClr>
              <a:buSzTx/>
              <a:buFont typeface="Wingdings" panose="05000000000000000000" pitchFamily="2" charset="2"/>
              <a:buChar char="q"/>
            </a:pPr>
            <a:r>
              <a:rPr lang="en-US" altLang="zh-CN" sz="1600" b="1" dirty="0">
                <a:solidFill>
                  <a:srgbClr val="FF0000"/>
                </a:solidFill>
                <a:latin typeface="+mn-lt"/>
                <a:ea typeface="黑体" panose="02010609060101010101" charset="-122"/>
                <a:sym typeface="+mn-ea"/>
              </a:rPr>
              <a:t>Students are granted patents</a:t>
            </a:r>
            <a:endParaRPr lang="en-US" altLang="zh-CN" sz="1600" b="1" dirty="0">
              <a:solidFill>
                <a:srgbClr val="FF0000"/>
              </a:solidFill>
              <a:latin typeface="黑体" panose="02010609060101010101" charset="-122"/>
              <a:ea typeface="黑体" panose="02010609060101010101" charset="-122"/>
              <a:cs typeface="黑体" panose="02010609060101010101" charset="-122"/>
              <a:sym typeface="+mn-ea"/>
            </a:endParaRPr>
          </a:p>
          <a:p>
            <a:pPr marL="228600" lvl="1">
              <a:spcBef>
                <a:spcPts val="500"/>
              </a:spcBef>
              <a:buClr>
                <a:schemeClr val="tx1"/>
              </a:buClr>
              <a:buFontTx/>
              <a:buChar char="•"/>
            </a:pPr>
            <a:r>
              <a:rPr lang="en-US" altLang="zh-CN" sz="1600" dirty="0">
                <a:latin typeface="黑体" panose="02010609060101010101" charset="-122"/>
                <a:ea typeface="黑体" panose="02010609060101010101" charset="-122"/>
                <a:sym typeface="+mn-ea"/>
              </a:rPr>
              <a:t>In 2019,Approved invention patent </a:t>
            </a:r>
            <a:r>
              <a:rPr lang="zh-CN" altLang="en-US" sz="1600" dirty="0">
                <a:latin typeface="黑体" panose="02010609060101010101" charset="-122"/>
                <a:ea typeface="黑体" panose="02010609060101010101" charset="-122"/>
                <a:sym typeface="+mn-ea"/>
              </a:rPr>
              <a:t>“</a:t>
            </a:r>
            <a:r>
              <a:rPr lang="en-US" altLang="zh-CN" sz="1600" dirty="0">
                <a:latin typeface="黑体" panose="02010609060101010101" charset="-122"/>
                <a:ea typeface="黑体" panose="02010609060101010101" charset="-122"/>
                <a:sym typeface="+mn-ea"/>
              </a:rPr>
              <a:t>***Computer composition and architecture***</a:t>
            </a:r>
            <a:r>
              <a:rPr lang="zh-CN" altLang="en-US" sz="1600" dirty="0">
                <a:latin typeface="黑体" panose="02010609060101010101" charset="-122"/>
                <a:ea typeface="黑体" panose="02010609060101010101" charset="-122"/>
                <a:sym typeface="+mn-ea"/>
              </a:rPr>
              <a:t>”</a:t>
            </a:r>
            <a:endParaRPr lang="en-US" altLang="zh-CN" sz="1600" dirty="0">
              <a:latin typeface="黑体" panose="02010609060101010101" charset="-122"/>
              <a:ea typeface="黑体" panose="02010609060101010101" charset="-122"/>
              <a:sym typeface="+mn-ea"/>
            </a:endParaRPr>
          </a:p>
        </p:txBody>
      </p:sp>
      <p:sp>
        <p:nvSpPr>
          <p:cNvPr id="2" name="灯片编号占位符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buClrTx/>
              <a:buSzTx/>
              <a:buFontTx/>
              <a:buNone/>
            </a:pPr>
            <a:fld id="{76D31BE6-AFA1-4555-87B4-A152FC5319F3}"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pic>
        <p:nvPicPr>
          <p:cNvPr id="14" name="图片 1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949109" y="3010758"/>
            <a:ext cx="2905707" cy="3588693"/>
          </a:xfrm>
          <a:prstGeom prst="rect">
            <a:avLst/>
          </a:prstGeom>
        </p:spPr>
      </p:pic>
      <p:sp>
        <p:nvSpPr>
          <p:cNvPr id="48" name="文本框 47"/>
          <p:cNvSpPr txBox="1"/>
          <p:nvPr/>
        </p:nvSpPr>
        <p:spPr>
          <a:xfrm>
            <a:off x="3780946" y="140898"/>
            <a:ext cx="7191854" cy="748988"/>
          </a:xfrm>
          <a:prstGeom prst="rect">
            <a:avLst/>
          </a:prstGeom>
          <a:noFill/>
        </p:spPr>
        <p:txBody>
          <a:bodyPr wrap="square" rtlCol="0">
            <a:spAutoFit/>
          </a:bodyPr>
          <a:lstStyle/>
          <a:p>
            <a:pPr defTabSz="1219200"/>
            <a:r>
              <a:rPr lang="en-US" altLang="zh-CN" sz="4265" b="1" dirty="0">
                <a:solidFill>
                  <a:prstClr val="black"/>
                </a:solidFill>
                <a:latin typeface="隶书" panose="02010509060101010101" charset="-122"/>
                <a:ea typeface="隶书" panose="02010509060101010101" charset="-122"/>
              </a:rPr>
              <a:t>Excellent achievements</a:t>
            </a:r>
            <a:endParaRPr lang="zh-CN" altLang="en-US" sz="4265" b="1" dirty="0">
              <a:solidFill>
                <a:prstClr val="black"/>
              </a:solidFill>
              <a:latin typeface="隶书" panose="02010509060101010101" charset="-122"/>
              <a:ea typeface="隶书" panose="02010509060101010101" charset="-122"/>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62680" y="889397"/>
            <a:ext cx="3332790" cy="2355521"/>
          </a:xfrm>
          <a:prstGeom prst="rect">
            <a:avLst/>
          </a:prstGeom>
        </p:spPr>
      </p:pic>
      <p:pic>
        <p:nvPicPr>
          <p:cNvPr id="3" name="图片 2"/>
          <p:cNvPicPr>
            <a:picLocks noChangeAspect="1"/>
          </p:cNvPicPr>
          <p:nvPr/>
        </p:nvPicPr>
        <p:blipFill>
          <a:blip r:embed="rId3"/>
          <a:stretch>
            <a:fillRect/>
          </a:stretch>
        </p:blipFill>
        <p:spPr>
          <a:xfrm rot="16200000">
            <a:off x="9342218" y="521591"/>
            <a:ext cx="2086049" cy="2981773"/>
          </a:xfrm>
          <a:prstGeom prst="rect">
            <a:avLst/>
          </a:prstGeom>
        </p:spPr>
      </p:pic>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951321" y="2851691"/>
            <a:ext cx="3014415" cy="2138262"/>
          </a:xfrm>
          <a:prstGeom prst="rect">
            <a:avLst/>
          </a:prstGeom>
        </p:spPr>
      </p:pic>
      <p:pic>
        <p:nvPicPr>
          <p:cNvPr id="13" name="图片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62680" y="4825219"/>
            <a:ext cx="2762615" cy="1972733"/>
          </a:xfrm>
          <a:prstGeom prst="rect">
            <a:avLst/>
          </a:prstGeom>
        </p:spPr>
      </p:pic>
      <p:pic>
        <p:nvPicPr>
          <p:cNvPr id="4" name="图片 3"/>
          <p:cNvPicPr>
            <a:picLocks noChangeAspect="1"/>
          </p:cNvPicPr>
          <p:nvPr>
            <p:custDataLst>
              <p:tags r:id="rId6"/>
            </p:custDataLst>
          </p:nvPr>
        </p:nvPicPr>
        <p:blipFill>
          <a:blip r:embed="rId7"/>
          <a:stretch>
            <a:fillRect/>
          </a:stretch>
        </p:blipFill>
        <p:spPr>
          <a:xfrm>
            <a:off x="8951595" y="4600575"/>
            <a:ext cx="3095625" cy="2257425"/>
          </a:xfrm>
          <a:prstGeom prst="rect">
            <a:avLst/>
          </a:prstGeom>
        </p:spPr>
      </p:pic>
      <p:pic>
        <p:nvPicPr>
          <p:cNvPr id="5" name="图片 4"/>
          <p:cNvPicPr>
            <a:picLocks noChangeAspect="1"/>
          </p:cNvPicPr>
          <p:nvPr>
            <p:custDataLst>
              <p:tags r:id="rId8"/>
            </p:custDataLst>
          </p:nvPr>
        </p:nvPicPr>
        <p:blipFill>
          <a:blip r:embed="rId9"/>
          <a:stretch>
            <a:fillRect/>
          </a:stretch>
        </p:blipFill>
        <p:spPr>
          <a:xfrm>
            <a:off x="6067425" y="3010535"/>
            <a:ext cx="2787650" cy="1858645"/>
          </a:xfrm>
          <a:prstGeom prst="rect">
            <a:avLst/>
          </a:prstGeom>
        </p:spPr>
      </p:pic>
    </p:spTree>
  </p:cSld>
  <p:clrMapOvr>
    <a:masterClrMapping/>
  </p:clrMapOvr>
</p:sld>
</file>

<file path=ppt/tags/tag1.xml><?xml version="1.0" encoding="utf-8"?>
<p:tagLst xmlns:p="http://schemas.openxmlformats.org/presentationml/2006/main">
  <p:tag name="KSO_WM_UNIT_TABLE_BEAUTIFY" val="smartTable{84893014-8b22-45b4-a0d3-1faa5f147422}"/>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PP_MARK_KEY" val="161c4823-cc4d-477f-b783-e757954bad27"/>
  <p:tag name="COMMONDATA" val="eyJoZGlkIjoiZjExMDE4MjYwOTdhYTViYzIyM2NiY2VlMzhmMjRiYmI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6762</Words>
  <Application>WPS 演示</Application>
  <PresentationFormat>宽屏</PresentationFormat>
  <Paragraphs>163</Paragraphs>
  <Slides>11</Slides>
  <Notes>4</Notes>
  <HiddenSlides>0</HiddenSlides>
  <MMClips>0</MMClips>
  <ScaleCrop>false</ScaleCrop>
  <HeadingPairs>
    <vt:vector size="8" baseType="variant">
      <vt:variant>
        <vt:lpstr>已用的字体</vt:lpstr>
      </vt:variant>
      <vt:variant>
        <vt:i4>19</vt:i4>
      </vt:variant>
      <vt:variant>
        <vt:lpstr>主题</vt:lpstr>
      </vt:variant>
      <vt:variant>
        <vt:i4>2</vt:i4>
      </vt:variant>
      <vt:variant>
        <vt:lpstr>嵌入 OLE 服务器</vt:lpstr>
      </vt:variant>
      <vt:variant>
        <vt:i4>2</vt:i4>
      </vt:variant>
      <vt:variant>
        <vt:lpstr>幻灯片标题</vt:lpstr>
      </vt:variant>
      <vt:variant>
        <vt:i4>11</vt:i4>
      </vt:variant>
    </vt:vector>
  </HeadingPairs>
  <TitlesOfParts>
    <vt:vector size="34" baseType="lpstr">
      <vt:lpstr>Arial</vt:lpstr>
      <vt:lpstr>宋体</vt:lpstr>
      <vt:lpstr>Wingdings</vt:lpstr>
      <vt:lpstr>Calibri</vt:lpstr>
      <vt:lpstr>楷体</vt:lpstr>
      <vt:lpstr>Times New Roman</vt:lpstr>
      <vt:lpstr>-apple-system</vt:lpstr>
      <vt:lpstr>微软雅黑</vt:lpstr>
      <vt:lpstr>等线</vt:lpstr>
      <vt:lpstr>隶书</vt:lpstr>
      <vt:lpstr>方正兰亭黑_GBK</vt:lpstr>
      <vt:lpstr>黑体</vt:lpstr>
      <vt:lpstr>华文新魏</vt:lpstr>
      <vt:lpstr>华文宋体</vt:lpstr>
      <vt:lpstr>Calibri</vt:lpstr>
      <vt:lpstr>等线 Light</vt:lpstr>
      <vt:lpstr>Arial Unicode MS</vt:lpstr>
      <vt:lpstr>Segoe Print</vt:lpstr>
      <vt:lpstr>汉仪君黑-45简</vt:lpstr>
      <vt:lpstr>Office 主题​​</vt:lpstr>
      <vt:lpstr>1_Office 主题​​</vt:lpstr>
      <vt:lpstr>Excel.Sheet.12</vt:lpstr>
      <vt:lpstr>Equation.KSEE3</vt:lpstr>
      <vt:lpstr>Comprehensive training of system hardware</vt:lpstr>
      <vt:lpstr>PowerPoint 演示文稿</vt:lpstr>
      <vt:lpstr>PowerPoint 演示文稿</vt:lpstr>
      <vt:lpstr>PowerPoint 演示文稿</vt:lpstr>
      <vt:lpstr>Comprehensive training task of system hardware：</vt:lpstr>
      <vt:lpstr>PowerPoint 演示文稿</vt:lpstr>
      <vt:lpstr>PowerPoint 演示文稿</vt:lpstr>
      <vt:lpstr>PowerPoint 演示文稿</vt:lpstr>
      <vt:lpstr>PowerPoint 演示文稿</vt:lpstr>
      <vt:lpstr>设计报告的模板（PDF文件）</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Windows 用户</dc:creator>
  <cp:lastModifiedBy>jealousy</cp:lastModifiedBy>
  <cp:revision>435</cp:revision>
  <cp:lastPrinted>2019-10-15T03:43:00Z</cp:lastPrinted>
  <dcterms:created xsi:type="dcterms:W3CDTF">2019-04-22T08:11:00Z</dcterms:created>
  <dcterms:modified xsi:type="dcterms:W3CDTF">2025-09-15T13:22:35Z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402441DAECEC41D6BB9E3E64FD6A5BDD_13</vt:lpwstr>
  </property>
  <property fmtid="{D5CDD505-2E9C-101B-9397-08002B2CF9AE}" pid="3" name="KSOProductBuildVer">
    <vt:lpwstr>2052-12.1.0.22529</vt:lpwstr>
  </property>
</Properties>
</file>