
<file path=[Content_Types].xml><?xml version="1.0" encoding="utf-8"?>
<Types xmlns="http://schemas.openxmlformats.org/package/2006/content-types">
  <Default Extension="emf" ContentType="image/x-emf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0" r:id="rId3"/>
    <p:sldId id="450" r:id="rId4"/>
    <p:sldId id="427" r:id="rId5"/>
    <p:sldId id="477" r:id="rId6"/>
    <p:sldId id="478" r:id="rId7"/>
    <p:sldId id="452" r:id="rId8"/>
    <p:sldId id="481" r:id="rId9"/>
    <p:sldId id="466" r:id="rId10"/>
    <p:sldId id="437" r:id="rId11"/>
    <p:sldId id="482" r:id="rId12"/>
    <p:sldId id="483" r:id="rId13"/>
    <p:sldId id="467" r:id="rId14"/>
    <p:sldId id="479" r:id="rId15"/>
    <p:sldId id="480" r:id="rId16"/>
  </p:sldIdLst>
  <p:sldSz cx="12192000" cy="6858000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5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A3"/>
    <a:srgbClr val="437D6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63" d="100"/>
          <a:sy n="163" d="100"/>
        </p:scale>
        <p:origin x="222" y="144"/>
      </p:cViewPr>
      <p:guideLst>
        <p:guide orient="horz" pos="459"/>
        <p:guide pos="5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4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B3608A3-4DDF-458B-AC15-D0B4B1198D8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438541B-34D3-47AC-808A-6924AA36544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0D9FD-B979-4686-8E7B-DCFDC217AC2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4F8D-36B9-4587-BC54-546E9400915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75158-C32C-4FA4-864D-E9D1031DEE3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5D768-0A50-4012-8AD8-D2511D1EA8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E2F43-5307-4145-A269-5325A011788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EAF96-6476-4F03-B5AB-96AB3B61D00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8C8F8-9C16-4443-A69E-0CE0A5E7E5E1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14347-F67C-402C-ABA6-6BB31F6234E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DA738-9825-4EB5-9574-7AEF58453A72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C6ED6-C021-4800-A003-FCA3F9A90B6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3ED9-87F4-4DDD-9600-59BDBA28F7F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3E43D-2505-4F0D-9202-AB677BD0754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64656-3BCB-49B1-821F-047AA03CA5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84E40-AE60-4604-9CAD-BAF6392887A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DEF82-0B93-4019-8527-2F3393AB673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365D5-9437-41F6-97B3-2A8713B7E63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ED671-29A7-416D-A19B-6097F828CAF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CB6B6-599C-4FDA-BAA8-6ECAF8C2C5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FB92-4101-4B45-A4D2-E8497CD0443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0F3E5-C849-4386-A40F-F48F2448589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43DE8-1959-48B3-8C15-FFC537504E6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9C4BC-C0F8-4772-BF5A-E93B73D8571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9BD3E94-727E-4401-AA1F-9E4D1E1EB16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721C8D7-BF34-49E2-9A49-2638587F14B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tags" Target="../tags/tag3.xml"/><Relationship Id="rId4" Type="http://schemas.openxmlformats.org/officeDocument/2006/relationships/image" Target="../media/image12.jpeg"/><Relationship Id="rId3" Type="http://schemas.openxmlformats.org/officeDocument/2006/relationships/tags" Target="../tags/tag2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 noChangeArrowheads="1"/>
          </p:cNvSpPr>
          <p:nvPr>
            <p:ph idx="1"/>
          </p:nvPr>
        </p:nvSpPr>
        <p:spPr>
          <a:xfrm>
            <a:off x="1664207" y="2014150"/>
            <a:ext cx="9987719" cy="4485504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26.1 Fresnel and Fraunhofer Diffraction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26.2 Diffraction from a Single Slit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26.3 Intensity in the Single-Slit Pattern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26.4 Multiple Slits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26.5 The Diffraction Grating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26.6 X-ray Diffraction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26.7 Circular Apertures and Resolving Power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838200" y="688587"/>
            <a:ext cx="10515600" cy="1325563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26 DIFFRACTION</a:t>
            </a:r>
            <a:endParaRPr lang="en-IN" sz="4000" b="1" dirty="0">
              <a:solidFill>
                <a:srgbClr val="007FA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120677" y="351070"/>
            <a:ext cx="9578746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Diffraction from a single slit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025" y="3327250"/>
            <a:ext cx="859950" cy="2035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79086" y="1448032"/>
            <a:ext cx="595098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result is not what you might expect.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14" y="2285768"/>
            <a:ext cx="99060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5" y="379351"/>
            <a:ext cx="9578746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Fresnel or Fraunhofer? 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66334" y="1442720"/>
            <a:ext cx="8810920" cy="1217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previous slide outlined two possible outcomes but didn’t set conditions to make a choice. 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Figure below outlines a procedure for differentiation.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56725" y="2649059"/>
            <a:ext cx="10676462" cy="4010025"/>
            <a:chOff x="856725" y="2660489"/>
            <a:chExt cx="10676462" cy="401002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56725" y="2660489"/>
              <a:ext cx="7362825" cy="401002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3680" y="4566108"/>
              <a:ext cx="4949507" cy="21044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51" y="1690688"/>
            <a:ext cx="6975836" cy="2375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091" y="1337035"/>
            <a:ext cx="219075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28" y="365125"/>
            <a:ext cx="10959874" cy="6055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5" y="379351"/>
            <a:ext cx="9578746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Intensity in a single-slit pattern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5760" y="1325922"/>
            <a:ext cx="11124650" cy="5152727"/>
            <a:chOff x="365760" y="1325922"/>
            <a:chExt cx="11124650" cy="515272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5760" y="1442720"/>
              <a:ext cx="8652979" cy="2221486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18739" y="1325922"/>
              <a:ext cx="2471671" cy="245508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5760" y="3544949"/>
              <a:ext cx="6248400" cy="29337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3301" y="4244810"/>
              <a:ext cx="3190875" cy="1371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5" y="379351"/>
            <a:ext cx="9578746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Intensity in a single-slit pattern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23836" y="1150268"/>
            <a:ext cx="7511321" cy="4499113"/>
            <a:chOff x="2549491" y="1597943"/>
            <a:chExt cx="7511321" cy="4499113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2549491" y="2368877"/>
              <a:ext cx="3190875" cy="1371600"/>
            </a:xfrm>
            <a:prstGeom prst="rect">
              <a:avLst/>
            </a:prstGeom>
          </p:spPr>
        </p:pic>
        <p:pic>
          <p:nvPicPr>
            <p:cNvPr id="7" name="Picture 8" descr="36_Figure09-I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5559" y="1597943"/>
              <a:ext cx="2475253" cy="449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70801"/>
          <a:stretch>
            <a:fillRect/>
          </a:stretch>
        </p:blipFill>
        <p:spPr>
          <a:xfrm>
            <a:off x="1242060" y="1149985"/>
            <a:ext cx="6248400" cy="856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75579" y="452712"/>
            <a:ext cx="9578746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Intensity maxima in a single-slit pattern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5172" y="1495593"/>
            <a:ext cx="9368024" cy="2599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expression for peak maxima is iterated for the strongest peak.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Consider Figure that shows the intensity as a function of angle.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1277" y="2153012"/>
            <a:ext cx="4200525" cy="1371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48" y="4274466"/>
            <a:ext cx="9677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94431" y="379351"/>
            <a:ext cx="9899259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Width of the single-slit pattern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7224" y="1442720"/>
            <a:ext cx="9706466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approximation of sin </a:t>
            </a:r>
            <a:r>
              <a:rPr lang="el-GR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θ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l-GR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very good considering the size of the slit and the wavelength of the light.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Consider Figure at the bottom of the slide.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8829" y="2247175"/>
            <a:ext cx="1053364" cy="666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685" y="681037"/>
            <a:ext cx="11357820" cy="55042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94" y="1172557"/>
            <a:ext cx="11707211" cy="49077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94431" y="379351"/>
            <a:ext cx="9899259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slits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77792" y="1442720"/>
            <a:ext cx="621868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analysis of intensity to find the maximum is done in similar fashion as it was for a single slit.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4805" y="-16889"/>
            <a:ext cx="8861231" cy="6858000"/>
            <a:chOff x="1614805" y="-16889"/>
            <a:chExt cx="8861231" cy="68580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14805" y="3154045"/>
              <a:ext cx="5781675" cy="296227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63342" y="-16889"/>
              <a:ext cx="241269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94431" y="379351"/>
            <a:ext cx="9899259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slits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77792" y="1319156"/>
            <a:ext cx="621868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analysis of intensity to find the maximum is done in similar fashion as it was for a single slit.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95161" y="2419619"/>
            <a:ext cx="10024356" cy="4369488"/>
            <a:chOff x="1495161" y="2419619"/>
            <a:chExt cx="10024356" cy="436948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23892" y="2757420"/>
              <a:ext cx="3095625" cy="364807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6574" y="2419619"/>
              <a:ext cx="4881124" cy="496626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5161" y="3003718"/>
              <a:ext cx="5779190" cy="164897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1766" y="4900934"/>
              <a:ext cx="6882126" cy="18881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94431" y="379351"/>
            <a:ext cx="9899259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diffraction grating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66328" y="1650110"/>
            <a:ext cx="6439066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analysis of intensity to find the maximum is done in similar fashion as it was for several slits.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932" y="3146932"/>
            <a:ext cx="6064462" cy="5641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19" y="1580658"/>
            <a:ext cx="3456182" cy="449020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160,&quot;width&quot;:5025}"/>
</p:tagLst>
</file>

<file path=ppt/tags/tag2.xml><?xml version="1.0" encoding="utf-8"?>
<p:tagLst xmlns:p="http://schemas.openxmlformats.org/presentationml/2006/main">
  <p:tag name="KSO_WM_UNIT_PLACING_PICTURE_USER_VIEWPORT" val="{&quot;height&quot;:7085.2173228346455,&quot;width&quot;:3898.036220472441}"/>
</p:tagLst>
</file>

<file path=ppt/tags/tag3.xml><?xml version="1.0" encoding="utf-8"?>
<p:tagLst xmlns:p="http://schemas.openxmlformats.org/presentationml/2006/main">
  <p:tag name="KSO_WM_UNIT_PLACING_PICTURE_USER_VIEWPORT" val="{&quot;height&quot;:4620,&quot;width&quot;:9840}"/>
</p:tagLst>
</file>

<file path=ppt/tags/tag4.xml><?xml version="1.0" encoding="utf-8"?>
<p:tagLst xmlns:p="http://schemas.openxmlformats.org/presentationml/2006/main">
  <p:tag name="ISPRING_PRESENTATION_TITLE" val="PowerPoint 演示文稿"/>
  <p:tag name="commondata" val="eyJoZGlkIjoiOGJlY2I5ZGVlYmRkODE5YjUzODY3NWI3ZjZlOTNhYTM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797979"/>
      </a:dk2>
      <a:lt2>
        <a:srgbClr val="43B4E3"/>
      </a:lt2>
      <a:accent1>
        <a:srgbClr val="0070C0"/>
      </a:accent1>
      <a:accent2>
        <a:srgbClr val="CECECE"/>
      </a:accent2>
      <a:accent3>
        <a:srgbClr val="329FD1"/>
      </a:accent3>
      <a:accent4>
        <a:srgbClr val="CECECE"/>
      </a:accent4>
      <a:accent5>
        <a:srgbClr val="0070C0"/>
      </a:accent5>
      <a:accent6>
        <a:srgbClr val="CECECE"/>
      </a:accent6>
      <a:hlink>
        <a:srgbClr val="169EBE"/>
      </a:hlink>
      <a:folHlink>
        <a:srgbClr val="0070C0"/>
      </a:folHlink>
    </a:clrScheme>
    <a:fontScheme name="自定义 2">
      <a:majorFont>
        <a:latin typeface="Agency FB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WPS 演示</Application>
  <PresentationFormat>宽屏</PresentationFormat>
  <Paragraphs>51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Agency FB</vt:lpstr>
      <vt:lpstr>微软雅黑</vt:lpstr>
      <vt:lpstr>Arial Unicode MS</vt:lpstr>
      <vt:lpstr>Calibri</vt:lpstr>
      <vt:lpstr>Office 主题</vt:lpstr>
      <vt:lpstr>Chapter 26 DIFFRACTION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小鹿PPT；http://pptx.taobao.com</dc:title>
  <dc:creator>小鹿PPT;http://pptx.taobao.com</dc:creator>
  <dc:description>小鹿PPT；http://pptx.taobao.com</dc:description>
  <cp:lastModifiedBy>Jtt</cp:lastModifiedBy>
  <cp:revision>313</cp:revision>
  <dcterms:created xsi:type="dcterms:W3CDTF">2017-07-11T01:33:00Z</dcterms:created>
  <dcterms:modified xsi:type="dcterms:W3CDTF">2023-11-27T03:26:44Z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EC747DF2B6FE46149A84C36180EB1FF7_13</vt:lpwstr>
  </property>
  <property fmtid="{D5CDD505-2E9C-101B-9397-08002B2CF9AE}" pid="3" name="KSOProductBuildVer">
    <vt:lpwstr>2052-12.1.0.15712</vt:lpwstr>
  </property>
</Properties>
</file>