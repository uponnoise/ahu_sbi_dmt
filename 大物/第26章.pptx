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80" r:id="rId3"/>
    <p:sldId id="284" r:id="rId4"/>
    <p:sldId id="282" r:id="rId5"/>
    <p:sldId id="299" r:id="rId6"/>
    <p:sldId id="461" r:id="rId7"/>
    <p:sldId id="450" r:id="rId8"/>
    <p:sldId id="464" r:id="rId9"/>
    <p:sldId id="427" r:id="rId10"/>
    <p:sldId id="477" r:id="rId11"/>
    <p:sldId id="478" r:id="rId12"/>
    <p:sldId id="452" r:id="rId13"/>
    <p:sldId id="481" r:id="rId14"/>
    <p:sldId id="466" r:id="rId15"/>
    <p:sldId id="437" r:id="rId16"/>
    <p:sldId id="482" r:id="rId17"/>
    <p:sldId id="483" r:id="rId18"/>
    <p:sldId id="467" r:id="rId19"/>
    <p:sldId id="479" r:id="rId20"/>
    <p:sldId id="480" r:id="rId21"/>
    <p:sldId id="484" r:id="rId22"/>
    <p:sldId id="302" r:id="rId23"/>
    <p:sldId id="469" r:id="rId24"/>
    <p:sldId id="470" r:id="rId25"/>
    <p:sldId id="471" r:id="rId26"/>
    <p:sldId id="472" r:id="rId27"/>
    <p:sldId id="485" r:id="rId28"/>
    <p:sldId id="473" r:id="rId29"/>
  </p:sldIdLst>
  <p:sldSz cx="12192000" cy="6858000"/>
  <p:notesSz cx="6858000" cy="9144000"/>
  <p:custDataLst>
    <p:tags r:id="rId34"/>
  </p:custDataLst>
  <p:defaultTex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FA3"/>
    <a:srgbClr val="437D6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63" d="100"/>
          <a:sy n="163" d="100"/>
        </p:scale>
        <p:origin x="222" y="144"/>
      </p:cViewPr>
      <p:guideLst>
        <p:guide orient="horz" pos="459"/>
        <p:guide pos="5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gs" Target="tags/tag4.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a:defRPr/>
            </a:pPr>
            <a:fld id="{FB3608A3-4DDF-458B-AC15-D0B4B1198D89}"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ea typeface="+mn-ea"/>
              </a:defRPr>
            </a:lvl1pPr>
          </a:lstStyle>
          <a:p>
            <a:pPr>
              <a:defRPr/>
            </a:pPr>
            <a:fld id="{E438541B-34D3-47AC-808A-6924AA365441}"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7460D9FD-B979-4686-8E7B-DCFDC217AC2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2C84F8D-36B9-4587-BC54-546E9400915D}"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11D75158-C32C-4FA4-864D-E9D1031DEE3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FB5D768-0A50-4012-8AD8-D2511D1EA8D1}"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97BE2F43-5307-4145-A269-5325A011788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04EAF96-6476-4F03-B5AB-96AB3B61D002}"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03B8C8F8-9C16-4443-A69E-0CE0A5E7E5E1}"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3A14347-F67C-402C-ABA6-6BB31F6234E1}"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B83DA738-9825-4EB5-9574-7AEF58453A72}"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E74C6ED6-C021-4800-A003-FCA3F9A90B6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1D33ED9-87F4-4DDD-9600-59BDBA28F7F4}"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403E43D-2505-4F0D-9202-AB677BD0754C}"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9464656-3BCB-49B1-821F-047AA03CA5A1}"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B484E40-AE60-4604-9CAD-BAF6392887A8}"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3E9DEF82-0B93-4019-8527-2F3393AB6730}"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38365D5-9437-41F6-97B3-2A8713B7E634}"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9A6ED671-29A7-416D-A19B-6097F828CAF7}"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B4CB6B6-599C-4FDA-BAA8-6ECAF8C2C524}"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F28FB92-4101-4B45-A4D2-E8497CD0443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850F3E5-C849-4386-A40F-F48F24485892}"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5443DE8-1959-48B3-8C15-FFC537504E6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799C4BC-C0F8-4772-BF5A-E93B73D8571A}"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49BD3E94-727E-4401-AA1F-9E4D1E1EB161}"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a:defRPr/>
            </a:pPr>
            <a:fld id="{D721C8D7-BF34-49E2-9A49-2638587F14BD}"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2pPr>
      <a:lvl3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3pPr>
      <a:lvl4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4pPr>
      <a:lvl5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tags" Target="../tags/tag3.xml"/><Relationship Id="rId4" Type="http://schemas.openxmlformats.org/officeDocument/2006/relationships/image" Target="../media/image16.jpeg"/><Relationship Id="rId3" Type="http://schemas.openxmlformats.org/officeDocument/2006/relationships/tags" Target="../tags/tag2.xml"/><Relationship Id="rId2" Type="http://schemas.openxmlformats.org/officeDocument/2006/relationships/image" Target="../media/image15.png"/><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e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jpeg"/><Relationship Id="rId1"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image" Target="../media/image4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noChangeArrowheads="1"/>
          </p:cNvSpPr>
          <p:nvPr>
            <p:ph idx="1"/>
          </p:nvPr>
        </p:nvSpPr>
        <p:spPr>
          <a:xfrm>
            <a:off x="1664207" y="2014150"/>
            <a:ext cx="9987719" cy="4485504"/>
          </a:xfrm>
        </p:spPr>
        <p:txBody>
          <a:bodyPr/>
          <a:lstStyle/>
          <a:p>
            <a:pPr>
              <a:lnSpc>
                <a:spcPct val="100000"/>
              </a:lnSpc>
              <a:buClr>
                <a:srgbClr val="007FA3"/>
              </a:buClr>
            </a:pPr>
            <a:r>
              <a:rPr lang="en-US" altLang="zh-CN" dirty="0">
                <a:latin typeface="Arial" panose="020B0604020202020204" pitchFamily="34" charset="0"/>
                <a:cs typeface="Arial" panose="020B0604020202020204" pitchFamily="34" charset="0"/>
              </a:rPr>
              <a:t>26.1 Fresnel and Fraunhofer Diffraction</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26.2 Diffraction from a Single Slit</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26.3 Intensity in the Single-Slit Pattern</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26.4 Multiple Slits</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26.5 The Diffraction Grating</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26.6 X-ray Diffraction</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26.7 Circular Apertures and Resolving Power</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Text Placeholder 3"/>
          <p:cNvSpPr>
            <a:spLocks noGrp="1"/>
          </p:cNvSpPr>
          <p:nvPr>
            <p:ph type="title"/>
          </p:nvPr>
        </p:nvSpPr>
        <p:spPr>
          <a:xfrm>
            <a:off x="838200" y="688587"/>
            <a:ext cx="10515600" cy="1325563"/>
          </a:xfrm>
        </p:spPr>
        <p:txBody>
          <a:bodyPr rtlCol="0">
            <a:normAutofit/>
          </a:bodyPr>
          <a:lstStyle/>
          <a:p>
            <a:pPr algn="ctr" fontAlgn="auto">
              <a:spcAft>
                <a:spcPts val="0"/>
              </a:spcAft>
              <a:defRPr/>
            </a:pPr>
            <a:r>
              <a:rPr lang="en-IN" sz="4000" b="1" dirty="0">
                <a:solidFill>
                  <a:srgbClr val="007FA3"/>
                </a:solidFill>
                <a:latin typeface="Arial" panose="020B0604020202020204" pitchFamily="34" charset="0"/>
                <a:ea typeface="+mn-ea"/>
                <a:cs typeface="Arial" panose="020B0604020202020204" pitchFamily="34" charset="0"/>
              </a:rPr>
              <a:t>Chapter 26 DIFFRACTION</a:t>
            </a:r>
            <a:endParaRPr lang="en-IN" sz="4000" b="1" dirty="0">
              <a:solidFill>
                <a:srgbClr val="007FA3"/>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noChangeArrowheads="1"/>
          </p:cNvSpPr>
          <p:nvPr>
            <p:ph type="title"/>
          </p:nvPr>
        </p:nvSpPr>
        <p:spPr>
          <a:xfrm>
            <a:off x="1135062" y="497101"/>
            <a:ext cx="10218737" cy="1325563"/>
          </a:xfrm>
        </p:spPr>
        <p:txBody>
          <a:bodyPr/>
          <a:lstStyle/>
          <a:p>
            <a:r>
              <a:rPr lang="en-US" altLang="zh-CN" sz="3600" b="1" dirty="0">
                <a:solidFill>
                  <a:srgbClr val="007FA3"/>
                </a:solidFill>
                <a:latin typeface="Arial" panose="020B0604020202020204" pitchFamily="34" charset="0"/>
                <a:cs typeface="Arial" panose="020B0604020202020204" pitchFamily="34" charset="0"/>
              </a:rPr>
              <a:t>Goals for chapter 26</a:t>
            </a:r>
            <a:endParaRPr lang="zh-CN" altLang="en-US" sz="3600" b="1" dirty="0">
              <a:solidFill>
                <a:srgbClr val="007FA3"/>
              </a:solidFill>
              <a:latin typeface="Arial" panose="020B0604020202020204" pitchFamily="34" charset="0"/>
              <a:cs typeface="Arial" panose="020B0604020202020204" pitchFamily="34" charset="0"/>
            </a:endParaRPr>
          </a:p>
        </p:txBody>
      </p:sp>
      <p:sp>
        <p:nvSpPr>
          <p:cNvPr id="3" name="矩形 2"/>
          <p:cNvSpPr/>
          <p:nvPr/>
        </p:nvSpPr>
        <p:spPr>
          <a:xfrm>
            <a:off x="1323434" y="1964066"/>
            <a:ext cx="9545131" cy="3443605"/>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define and explain Fresnel and Fraunhofer diffraction</a:t>
            </a:r>
            <a:endParaRPr lang="en-US" altLang="zh-CN" sz="28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consider single-slit diffraction</a:t>
            </a:r>
            <a:endParaRPr lang="en-US" altLang="zh-CN" sz="28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summarize and then apply an understanding of diffraction gratings</a:t>
            </a:r>
            <a:endParaRPr lang="en-US" altLang="zh-CN" sz="28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consider the atomic example of x-ray diffraction</a:t>
            </a:r>
            <a:endParaRPr lang="en-US" altLang="zh-CN" sz="28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study circular apertures and resolving power</a:t>
            </a:r>
            <a:endParaRPr lang="en-US" altLang="zh-CN" sz="2800" dirty="0">
              <a:latin typeface="Arial" panose="020B0604020202020204" pitchFamily="34" charset="0"/>
              <a:cs typeface="Arial" panose="020B0604020202020204" pitchFamily="34" charset="0"/>
            </a:endParaRPr>
          </a:p>
          <a:p>
            <a:pPr marL="0" lvl="1" indent="0">
              <a:lnSpc>
                <a:spcPct val="90000"/>
              </a:lnSpc>
              <a:spcBef>
                <a:spcPts val="1000"/>
              </a:spcBef>
              <a:buClr>
                <a:srgbClr val="007FA3"/>
              </a:buClr>
              <a:buFont typeface="Arial" panose="020B0604020202020204" pitchFamily="34" charset="0"/>
              <a:buNone/>
            </a:pPr>
            <a:endParaRPr lang="en-US" altLang="zh-CN" sz="28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997204" y="445326"/>
            <a:ext cx="82296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en-US" sz="3600" b="1" dirty="0">
                <a:solidFill>
                  <a:srgbClr val="007FA3"/>
                </a:solidFill>
                <a:latin typeface="Arial" panose="020B0604020202020204" pitchFamily="34" charset="0"/>
                <a:cs typeface="Arial" panose="020B0604020202020204" pitchFamily="34" charset="0"/>
              </a:rPr>
              <a:t>Introduction</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3" name="矩形 2"/>
          <p:cNvSpPr/>
          <p:nvPr/>
        </p:nvSpPr>
        <p:spPr>
          <a:xfrm>
            <a:off x="1176313" y="1620769"/>
            <a:ext cx="6506532" cy="4358116"/>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The brilliant blue colors of the tropical butterfly morpho </a:t>
            </a:r>
            <a:r>
              <a:rPr lang="en-US" altLang="zh-CN" sz="2800" dirty="0" err="1">
                <a:latin typeface="Arial" panose="020B0604020202020204" pitchFamily="34" charset="0"/>
                <a:cs typeface="Arial" panose="020B0604020202020204" pitchFamily="34" charset="0"/>
              </a:rPr>
              <a:t>peleides</a:t>
            </a:r>
            <a:r>
              <a:rPr lang="en-US" altLang="zh-CN" sz="2800" dirty="0">
                <a:latin typeface="Arial" panose="020B0604020202020204" pitchFamily="34" charset="0"/>
                <a:cs typeface="Arial" panose="020B0604020202020204" pitchFamily="34" charset="0"/>
              </a:rPr>
              <a:t> are a result of diffraction---the interference of light waves reflected from millions of microscopic scales in the butterfly’s wings. When viewed at the right angle, these scales strongly reflect blue light. The flashes of light from the flapping wings of a morpho may momentarily dazzle predators such as  lizards and birds.</a:t>
            </a:r>
            <a:endParaRPr lang="en-US" altLang="zh-CN" sz="2800" dirty="0">
              <a:latin typeface="Arial" panose="020B0604020202020204" pitchFamily="34" charset="0"/>
              <a:cs typeface="Arial" panose="020B0604020202020204" pitchFamily="34" charset="0"/>
            </a:endParaRPr>
          </a:p>
        </p:txBody>
      </p:sp>
      <p:pic>
        <p:nvPicPr>
          <p:cNvPr id="6" name="Picture 11" descr="36_Figure17-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82845" y="864200"/>
            <a:ext cx="3704222" cy="511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1120677"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smtClean="0">
                <a:solidFill>
                  <a:srgbClr val="007FA3"/>
                </a:solidFill>
                <a:latin typeface="Arial" panose="020B0604020202020204" pitchFamily="34" charset="0"/>
                <a:cs typeface="Arial" panose="020B0604020202020204" pitchFamily="34" charset="0"/>
              </a:rPr>
              <a:t>26.1 Fresnel </a:t>
            </a:r>
            <a:r>
              <a:rPr lang="en-US" altLang="zh-CN" sz="3600" b="1" dirty="0">
                <a:solidFill>
                  <a:srgbClr val="007FA3"/>
                </a:solidFill>
                <a:latin typeface="Arial" panose="020B0604020202020204" pitchFamily="34" charset="0"/>
                <a:cs typeface="Arial" panose="020B0604020202020204" pitchFamily="34" charset="0"/>
              </a:rPr>
              <a:t>and Fraunhofer diffraction</a:t>
            </a:r>
            <a:endParaRPr lang="en-US" altLang="zh-CN" sz="3600" b="1" dirty="0">
              <a:solidFill>
                <a:srgbClr val="007FA3"/>
              </a:solidFill>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a:stretch>
            <a:fillRect/>
          </a:stretch>
        </p:blipFill>
        <p:spPr>
          <a:xfrm>
            <a:off x="5666025" y="3327250"/>
            <a:ext cx="859950" cy="203500"/>
          </a:xfrm>
          <a:prstGeom prst="rect">
            <a:avLst/>
          </a:prstGeom>
        </p:spPr>
      </p:pic>
      <p:sp>
        <p:nvSpPr>
          <p:cNvPr id="6" name="矩形 5"/>
          <p:cNvSpPr/>
          <p:nvPr/>
        </p:nvSpPr>
        <p:spPr>
          <a:xfrm>
            <a:off x="1492576" y="1448032"/>
            <a:ext cx="8961749" cy="1089529"/>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According to geometric optics, a light source shining on an object in front of a screen will cast a sharp shadow. Surprisingly, this does not occur.</a:t>
            </a:r>
            <a:endParaRPr lang="en-US" altLang="zh-CN" sz="2400" dirty="0">
              <a:latin typeface="Arial" panose="020B0604020202020204" pitchFamily="34" charset="0"/>
              <a:cs typeface="Arial" panose="020B0604020202020204" pitchFamily="34" charset="0"/>
            </a:endParaRPr>
          </a:p>
        </p:txBody>
      </p:sp>
      <p:pic>
        <p:nvPicPr>
          <p:cNvPr id="7" name="图片 6"/>
          <p:cNvPicPr>
            <a:picLocks noChangeAspect="1"/>
          </p:cNvPicPr>
          <p:nvPr/>
        </p:nvPicPr>
        <p:blipFill>
          <a:blip r:embed="rId2"/>
          <a:stretch>
            <a:fillRect/>
          </a:stretch>
        </p:blipFill>
        <p:spPr>
          <a:xfrm>
            <a:off x="3869849" y="2548789"/>
            <a:ext cx="3658711" cy="42935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1120677"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Diffraction and </a:t>
            </a:r>
            <a:r>
              <a:rPr lang="en-US" altLang="zh-CN" sz="3600" b="1" dirty="0" err="1">
                <a:solidFill>
                  <a:srgbClr val="007FA3"/>
                </a:solidFill>
                <a:latin typeface="Arial" panose="020B0604020202020204" pitchFamily="34" charset="0"/>
                <a:cs typeface="Arial" panose="020B0604020202020204" pitchFamily="34" charset="0"/>
              </a:rPr>
              <a:t>Huygen’s</a:t>
            </a:r>
            <a:r>
              <a:rPr lang="en-US" altLang="zh-CN" sz="3600" b="1" dirty="0">
                <a:solidFill>
                  <a:srgbClr val="007FA3"/>
                </a:solidFill>
                <a:latin typeface="Arial" panose="020B0604020202020204" pitchFamily="34" charset="0"/>
                <a:cs typeface="Arial" panose="020B0604020202020204" pitchFamily="34" charset="0"/>
              </a:rPr>
              <a:t> Principle</a:t>
            </a:r>
            <a:endParaRPr lang="en-US" altLang="zh-CN" sz="3600" b="1" dirty="0">
              <a:solidFill>
                <a:srgbClr val="007FA3"/>
              </a:solidFill>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a:stretch>
            <a:fillRect/>
          </a:stretch>
        </p:blipFill>
        <p:spPr>
          <a:xfrm>
            <a:off x="5666025" y="3327250"/>
            <a:ext cx="859950" cy="203500"/>
          </a:xfrm>
          <a:prstGeom prst="rect">
            <a:avLst/>
          </a:prstGeom>
        </p:spPr>
      </p:pic>
      <p:sp>
        <p:nvSpPr>
          <p:cNvPr id="7" name="矩形 6"/>
          <p:cNvSpPr/>
          <p:nvPr/>
        </p:nvSpPr>
        <p:spPr>
          <a:xfrm>
            <a:off x="1120677" y="1306780"/>
            <a:ext cx="9842696" cy="2547364"/>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Diffraction patterns can be analyzed using </a:t>
            </a:r>
            <a:r>
              <a:rPr lang="en-US" altLang="zh-CN" sz="2400" dirty="0" err="1">
                <a:latin typeface="Arial" panose="020B0604020202020204" pitchFamily="34" charset="0"/>
                <a:cs typeface="Arial" panose="020B0604020202020204" pitchFamily="34" charset="0"/>
              </a:rPr>
              <a:t>Huygen’s</a:t>
            </a:r>
            <a:r>
              <a:rPr lang="en-US" altLang="zh-CN" sz="2400" dirty="0">
                <a:latin typeface="Arial" panose="020B0604020202020204" pitchFamily="34" charset="0"/>
                <a:cs typeface="Arial" panose="020B0604020202020204" pitchFamily="34" charset="0"/>
              </a:rPr>
              <a:t> Principle. Recall, every source of a wave front can be considered to be the source of secondary waves. Superposition of these waves results in diffraction.  </a:t>
            </a: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If the source and the screen are close to the edge causing the diffraction, the effect is called “near-field” or Fresnel diffraction. If these objects are far apart, so as to allow parallel-ray modeling, the diffraction is called “far-field diffraction” or Fraunhofer diffraction.</a:t>
            </a:r>
            <a:endParaRPr lang="en-US" altLang="zh-CN" sz="2400" dirty="0">
              <a:latin typeface="Arial" panose="020B0604020202020204" pitchFamily="34" charset="0"/>
              <a:cs typeface="Arial" panose="020B0604020202020204" pitchFamily="34" charset="0"/>
            </a:endParaRPr>
          </a:p>
        </p:txBody>
      </p:sp>
      <p:pic>
        <p:nvPicPr>
          <p:cNvPr id="10" name="图片 9"/>
          <p:cNvPicPr>
            <a:picLocks noChangeAspect="1"/>
          </p:cNvPicPr>
          <p:nvPr/>
        </p:nvPicPr>
        <p:blipFill>
          <a:blip r:embed="rId2"/>
          <a:stretch>
            <a:fillRect/>
          </a:stretch>
        </p:blipFill>
        <p:spPr>
          <a:xfrm>
            <a:off x="1613317" y="3736355"/>
            <a:ext cx="8965365" cy="31216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1120677"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Diffraction from a single slit</a:t>
            </a:r>
            <a:endParaRPr lang="en-US" altLang="zh-CN" sz="3600" b="1" dirty="0">
              <a:solidFill>
                <a:srgbClr val="007FA3"/>
              </a:solidFill>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a:stretch>
            <a:fillRect/>
          </a:stretch>
        </p:blipFill>
        <p:spPr>
          <a:xfrm>
            <a:off x="5666025" y="3327250"/>
            <a:ext cx="859950" cy="203500"/>
          </a:xfrm>
          <a:prstGeom prst="rect">
            <a:avLst/>
          </a:prstGeom>
        </p:spPr>
      </p:pic>
      <p:sp>
        <p:nvSpPr>
          <p:cNvPr id="3" name="矩形 2"/>
          <p:cNvSpPr/>
          <p:nvPr/>
        </p:nvSpPr>
        <p:spPr>
          <a:xfrm>
            <a:off x="1279086" y="1448032"/>
            <a:ext cx="5950988" cy="424732"/>
          </a:xfrm>
          <a:prstGeom prst="rect">
            <a:avLst/>
          </a:prstGeom>
        </p:spPr>
        <p:txBody>
          <a:bodyPr wrap="non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result is not what you might expect. </a:t>
            </a:r>
            <a:endParaRPr lang="zh-CN" altLang="en-US" sz="2400" dirty="0">
              <a:latin typeface="Arial" panose="020B0604020202020204" pitchFamily="34" charset="0"/>
              <a:cs typeface="Arial" panose="020B0604020202020204" pitchFamily="34" charset="0"/>
            </a:endParaRPr>
          </a:p>
        </p:txBody>
      </p:sp>
      <p:pic>
        <p:nvPicPr>
          <p:cNvPr id="7" name="图片 6"/>
          <p:cNvPicPr>
            <a:picLocks noChangeAspect="1"/>
          </p:cNvPicPr>
          <p:nvPr/>
        </p:nvPicPr>
        <p:blipFill>
          <a:blip r:embed="rId2"/>
          <a:stretch>
            <a:fillRect/>
          </a:stretch>
        </p:blipFill>
        <p:spPr>
          <a:xfrm>
            <a:off x="1006914" y="2285768"/>
            <a:ext cx="9906000" cy="3124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76652"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Dark fringes in single-slit diffraction</a:t>
            </a:r>
            <a:endParaRPr lang="en-US" altLang="zh-CN" sz="3600" b="1" dirty="0">
              <a:solidFill>
                <a:srgbClr val="007FA3"/>
              </a:solidFill>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a:stretch>
            <a:fillRect/>
          </a:stretch>
        </p:blipFill>
        <p:spPr>
          <a:xfrm>
            <a:off x="5666025" y="3327250"/>
            <a:ext cx="859950" cy="203500"/>
          </a:xfrm>
          <a:prstGeom prst="rect">
            <a:avLst/>
          </a:prstGeom>
        </p:spPr>
      </p:pic>
      <p:sp>
        <p:nvSpPr>
          <p:cNvPr id="3" name="矩形 2"/>
          <p:cNvSpPr/>
          <p:nvPr/>
        </p:nvSpPr>
        <p:spPr>
          <a:xfrm>
            <a:off x="1247480" y="1368041"/>
            <a:ext cx="7491167" cy="757130"/>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figure illustrates Fresnel and Fraunhofer outcomes.</a:t>
            </a:r>
            <a:endParaRPr lang="zh-CN" altLang="en-US" sz="2400" dirty="0">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2"/>
          <a:stretch>
            <a:fillRect/>
          </a:stretch>
        </p:blipFill>
        <p:spPr>
          <a:xfrm>
            <a:off x="796319" y="2564876"/>
            <a:ext cx="10410825" cy="304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56725" y="379351"/>
            <a:ext cx="9578746"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Fresnel or Fraunhofer? </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6" name="矩形 5"/>
          <p:cNvSpPr/>
          <p:nvPr/>
        </p:nvSpPr>
        <p:spPr>
          <a:xfrm>
            <a:off x="1266334" y="1442720"/>
            <a:ext cx="8810920" cy="1217769"/>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previous slide outlined two possible outcomes but didn’t set conditions to make a choice.  </a:t>
            </a: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Figure below outlines a procedure for differentiation.</a:t>
            </a:r>
            <a:endParaRPr lang="en-US" altLang="zh-CN" sz="2400" dirty="0">
              <a:latin typeface="Arial" panose="020B0604020202020204" pitchFamily="34" charset="0"/>
              <a:cs typeface="Arial" panose="020B0604020202020204" pitchFamily="34" charset="0"/>
            </a:endParaRPr>
          </a:p>
        </p:txBody>
      </p:sp>
      <p:grpSp>
        <p:nvGrpSpPr>
          <p:cNvPr id="2" name="组合 1"/>
          <p:cNvGrpSpPr/>
          <p:nvPr/>
        </p:nvGrpSpPr>
        <p:grpSpPr>
          <a:xfrm>
            <a:off x="856725" y="2649059"/>
            <a:ext cx="10676462" cy="4010025"/>
            <a:chOff x="856725" y="2660489"/>
            <a:chExt cx="10676462" cy="4010025"/>
          </a:xfrm>
        </p:grpSpPr>
        <p:pic>
          <p:nvPicPr>
            <p:cNvPr id="10" name="图片 9"/>
            <p:cNvPicPr>
              <a:picLocks noChangeAspect="1"/>
            </p:cNvPicPr>
            <p:nvPr/>
          </p:nvPicPr>
          <p:blipFill>
            <a:blip r:embed="rId1"/>
            <a:stretch>
              <a:fillRect/>
            </a:stretch>
          </p:blipFill>
          <p:spPr>
            <a:xfrm>
              <a:off x="856725" y="2660489"/>
              <a:ext cx="7362825" cy="4010025"/>
            </a:xfrm>
            <a:prstGeom prst="rect">
              <a:avLst/>
            </a:prstGeom>
          </p:spPr>
        </p:pic>
        <p:pic>
          <p:nvPicPr>
            <p:cNvPr id="12" name="图片 11"/>
            <p:cNvPicPr>
              <a:picLocks noChangeAspect="1"/>
            </p:cNvPicPr>
            <p:nvPr/>
          </p:nvPicPr>
          <p:blipFill>
            <a:blip r:embed="rId2"/>
            <a:stretch>
              <a:fillRect/>
            </a:stretch>
          </p:blipFill>
          <p:spPr>
            <a:xfrm>
              <a:off x="6583680" y="4566108"/>
              <a:ext cx="4949507" cy="2104406"/>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dirty="0"/>
          </a:p>
        </p:txBody>
      </p:sp>
      <p:pic>
        <p:nvPicPr>
          <p:cNvPr id="5" name="图片 4"/>
          <p:cNvPicPr>
            <a:picLocks noChangeAspect="1"/>
          </p:cNvPicPr>
          <p:nvPr/>
        </p:nvPicPr>
        <p:blipFill>
          <a:blip r:embed="rId1"/>
          <a:stretch>
            <a:fillRect/>
          </a:stretch>
        </p:blipFill>
        <p:spPr>
          <a:xfrm>
            <a:off x="909651" y="1690688"/>
            <a:ext cx="6975836" cy="2375555"/>
          </a:xfrm>
          <a:prstGeom prst="rect">
            <a:avLst/>
          </a:prstGeom>
        </p:spPr>
      </p:pic>
      <p:pic>
        <p:nvPicPr>
          <p:cNvPr id="8" name="图片 7"/>
          <p:cNvPicPr>
            <a:picLocks noChangeAspect="1"/>
          </p:cNvPicPr>
          <p:nvPr/>
        </p:nvPicPr>
        <p:blipFill>
          <a:blip r:embed="rId2"/>
          <a:stretch>
            <a:fillRect/>
          </a:stretch>
        </p:blipFill>
        <p:spPr>
          <a:xfrm>
            <a:off x="8611091" y="1337035"/>
            <a:ext cx="2190750" cy="3505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616228" y="365125"/>
            <a:ext cx="10959874" cy="6055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56725" y="379351"/>
            <a:ext cx="9578746"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Intensity in a single-slit pattern</a:t>
            </a:r>
            <a:endParaRPr lang="en-US" altLang="zh-CN" sz="3600" b="1" dirty="0">
              <a:solidFill>
                <a:srgbClr val="007FA3"/>
              </a:solidFill>
              <a:latin typeface="Arial" panose="020B0604020202020204" pitchFamily="34" charset="0"/>
              <a:cs typeface="Arial" panose="020B0604020202020204" pitchFamily="34" charset="0"/>
            </a:endParaRPr>
          </a:p>
        </p:txBody>
      </p:sp>
      <p:grpSp>
        <p:nvGrpSpPr>
          <p:cNvPr id="2" name="组合 1"/>
          <p:cNvGrpSpPr/>
          <p:nvPr/>
        </p:nvGrpSpPr>
        <p:grpSpPr>
          <a:xfrm>
            <a:off x="365760" y="1325922"/>
            <a:ext cx="11124650" cy="5152727"/>
            <a:chOff x="365760" y="1325922"/>
            <a:chExt cx="11124650" cy="5152727"/>
          </a:xfrm>
        </p:grpSpPr>
        <p:pic>
          <p:nvPicPr>
            <p:cNvPr id="3" name="图片 2"/>
            <p:cNvPicPr>
              <a:picLocks noChangeAspect="1"/>
            </p:cNvPicPr>
            <p:nvPr/>
          </p:nvPicPr>
          <p:blipFill>
            <a:blip r:embed="rId1"/>
            <a:stretch>
              <a:fillRect/>
            </a:stretch>
          </p:blipFill>
          <p:spPr>
            <a:xfrm>
              <a:off x="365760" y="1442720"/>
              <a:ext cx="8652979" cy="2221486"/>
            </a:xfrm>
            <a:prstGeom prst="rect">
              <a:avLst/>
            </a:prstGeom>
          </p:spPr>
        </p:pic>
        <p:pic>
          <p:nvPicPr>
            <p:cNvPr id="4" name="图片 3"/>
            <p:cNvPicPr>
              <a:picLocks noChangeAspect="1"/>
            </p:cNvPicPr>
            <p:nvPr/>
          </p:nvPicPr>
          <p:blipFill>
            <a:blip r:embed="rId2"/>
            <a:stretch>
              <a:fillRect/>
            </a:stretch>
          </p:blipFill>
          <p:spPr>
            <a:xfrm>
              <a:off x="9018739" y="1325922"/>
              <a:ext cx="2471671" cy="2455082"/>
            </a:xfrm>
            <a:prstGeom prst="rect">
              <a:avLst/>
            </a:prstGeom>
          </p:spPr>
        </p:pic>
        <p:pic>
          <p:nvPicPr>
            <p:cNvPr id="5" name="图片 4"/>
            <p:cNvPicPr>
              <a:picLocks noChangeAspect="1"/>
            </p:cNvPicPr>
            <p:nvPr/>
          </p:nvPicPr>
          <p:blipFill>
            <a:blip r:embed="rId3"/>
            <a:stretch>
              <a:fillRect/>
            </a:stretch>
          </p:blipFill>
          <p:spPr>
            <a:xfrm>
              <a:off x="365760" y="3544949"/>
              <a:ext cx="6248400" cy="2933700"/>
            </a:xfrm>
            <a:prstGeom prst="rect">
              <a:avLst/>
            </a:prstGeom>
          </p:spPr>
        </p:pic>
        <p:pic>
          <p:nvPicPr>
            <p:cNvPr id="6" name="图片 5"/>
            <p:cNvPicPr>
              <a:picLocks noChangeAspect="1"/>
            </p:cNvPicPr>
            <p:nvPr/>
          </p:nvPicPr>
          <p:blipFill>
            <a:blip r:embed="rId4"/>
            <a:stretch>
              <a:fillRect/>
            </a:stretch>
          </p:blipFill>
          <p:spPr>
            <a:xfrm>
              <a:off x="7423301" y="4244810"/>
              <a:ext cx="3190875" cy="137160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56725" y="379351"/>
            <a:ext cx="9578746"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Intensity in a single-slit pattern</a:t>
            </a:r>
            <a:endParaRPr lang="en-US" altLang="zh-CN" sz="3600" b="1" dirty="0">
              <a:solidFill>
                <a:srgbClr val="007FA3"/>
              </a:solidFill>
              <a:latin typeface="Arial" panose="020B0604020202020204" pitchFamily="34" charset="0"/>
              <a:cs typeface="Arial" panose="020B0604020202020204" pitchFamily="34" charset="0"/>
            </a:endParaRPr>
          </a:p>
        </p:txBody>
      </p:sp>
      <p:grpSp>
        <p:nvGrpSpPr>
          <p:cNvPr id="2" name="组合 1"/>
          <p:cNvGrpSpPr/>
          <p:nvPr/>
        </p:nvGrpSpPr>
        <p:grpSpPr>
          <a:xfrm>
            <a:off x="3023836" y="1150268"/>
            <a:ext cx="7511321" cy="4499113"/>
            <a:chOff x="2549491" y="1597943"/>
            <a:chExt cx="7511321" cy="4499113"/>
          </a:xfrm>
        </p:grpSpPr>
        <p:pic>
          <p:nvPicPr>
            <p:cNvPr id="6" name="图片 5"/>
            <p:cNvPicPr>
              <a:picLocks noChangeAspect="1"/>
            </p:cNvPicPr>
            <p:nvPr>
              <p:custDataLst>
                <p:tags r:id="rId1"/>
              </p:custDataLst>
            </p:nvPr>
          </p:nvPicPr>
          <p:blipFill>
            <a:blip r:embed="rId2"/>
            <a:stretch>
              <a:fillRect/>
            </a:stretch>
          </p:blipFill>
          <p:spPr>
            <a:xfrm>
              <a:off x="2549491" y="2368877"/>
              <a:ext cx="3190875" cy="1371600"/>
            </a:xfrm>
            <a:prstGeom prst="rect">
              <a:avLst/>
            </a:prstGeom>
          </p:spPr>
        </p:pic>
        <p:pic>
          <p:nvPicPr>
            <p:cNvPr id="7" name="Picture 8" descr="36_Figure09-I"/>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7585559" y="1597943"/>
              <a:ext cx="2475253" cy="449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 name="图片 4"/>
          <p:cNvPicPr>
            <a:picLocks noChangeAspect="1"/>
          </p:cNvPicPr>
          <p:nvPr>
            <p:custDataLst>
              <p:tags r:id="rId5"/>
            </p:custDataLst>
          </p:nvPr>
        </p:nvPicPr>
        <p:blipFill>
          <a:blip r:embed="rId6"/>
          <a:srcRect t="70801"/>
          <a:stretch>
            <a:fillRect/>
          </a:stretch>
        </p:blipFill>
        <p:spPr>
          <a:xfrm>
            <a:off x="1242060" y="1149985"/>
            <a:ext cx="6248400" cy="85661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75579" y="452712"/>
            <a:ext cx="9578746"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Intensity maxima in a single-slit pattern</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1195172" y="1495593"/>
            <a:ext cx="9368024" cy="2599686"/>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expression for peak maxima is iterated for the strongest peak.</a:t>
            </a: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Consider Figure that shows the intensity as a function of angle.</a:t>
            </a:r>
            <a:endParaRPr lang="en-US" altLang="zh-CN" sz="2400" dirty="0">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1"/>
          <a:stretch>
            <a:fillRect/>
          </a:stretch>
        </p:blipFill>
        <p:spPr>
          <a:xfrm>
            <a:off x="2951277" y="2153012"/>
            <a:ext cx="4200525" cy="1371600"/>
          </a:xfrm>
          <a:prstGeom prst="rect">
            <a:avLst/>
          </a:prstGeom>
        </p:spPr>
      </p:pic>
      <p:pic>
        <p:nvPicPr>
          <p:cNvPr id="4" name="图片 3"/>
          <p:cNvPicPr>
            <a:picLocks noChangeAspect="1"/>
          </p:cNvPicPr>
          <p:nvPr/>
        </p:nvPicPr>
        <p:blipFill>
          <a:blip r:embed="rId2"/>
          <a:stretch>
            <a:fillRect/>
          </a:stretch>
        </p:blipFill>
        <p:spPr>
          <a:xfrm>
            <a:off x="1379848" y="4274466"/>
            <a:ext cx="9677400" cy="24003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94431" y="379351"/>
            <a:ext cx="9899259"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Width of the single-slit pattern</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1087224" y="1442720"/>
            <a:ext cx="9706466" cy="2139047"/>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approximation of sin </a:t>
            </a:r>
            <a:r>
              <a:rPr lang="el-GR" altLang="zh-CN" sz="2400" dirty="0">
                <a:latin typeface="Arial" panose="020B0604020202020204" pitchFamily="34" charset="0"/>
                <a:cs typeface="Arial" panose="020B0604020202020204" pitchFamily="34" charset="0"/>
              </a:rPr>
              <a:t>θ </a:t>
            </a:r>
            <a:r>
              <a:rPr lang="en-US" altLang="zh-CN" sz="2400" dirty="0">
                <a:latin typeface="Arial" panose="020B0604020202020204" pitchFamily="34" charset="0"/>
                <a:cs typeface="Arial" panose="020B0604020202020204" pitchFamily="34" charset="0"/>
              </a:rPr>
              <a:t>= </a:t>
            </a:r>
            <a:r>
              <a:rPr lang="el-GR" altLang="zh-CN" sz="2400" dirty="0">
                <a:latin typeface="Arial" panose="020B0604020202020204" pitchFamily="34" charset="0"/>
                <a:cs typeface="Arial" panose="020B0604020202020204" pitchFamily="34" charset="0"/>
              </a:rPr>
              <a:t>θ</a:t>
            </a:r>
            <a:r>
              <a:rPr lang="en-US" altLang="zh-CN" sz="2400" dirty="0">
                <a:latin typeface="Arial" panose="020B0604020202020204" pitchFamily="34" charset="0"/>
                <a:cs typeface="Arial" panose="020B0604020202020204" pitchFamily="34" charset="0"/>
              </a:rPr>
              <a:t> is very good considering the size of the slit and the wavelength of the light.</a:t>
            </a: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endParaRPr lang="en-US" altLang="zh-CN" sz="2400" dirty="0">
              <a:latin typeface="Arial" panose="020B0604020202020204" pitchFamily="34" charset="0"/>
              <a:cs typeface="Arial" panose="020B0604020202020204" pitchFamily="34" charset="0"/>
            </a:endParaRPr>
          </a:p>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Consider Figure at the bottom of the slide.</a:t>
            </a:r>
            <a:endParaRPr lang="en-US" altLang="zh-CN" sz="2400" dirty="0">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1"/>
          <a:stretch>
            <a:fillRect/>
          </a:stretch>
        </p:blipFill>
        <p:spPr>
          <a:xfrm>
            <a:off x="4008829" y="2247175"/>
            <a:ext cx="1053364" cy="6669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425685" y="681037"/>
            <a:ext cx="11357820" cy="55042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242394" y="1172557"/>
            <a:ext cx="11707211" cy="49077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94431" y="379351"/>
            <a:ext cx="9899259"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Multiple slits</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1177792" y="1442720"/>
            <a:ext cx="6218688" cy="1089529"/>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analysis of intensity to find the maximum is done in similar fashion as it was for a single slit.</a:t>
            </a:r>
            <a:endParaRPr lang="en-US" altLang="zh-CN" sz="2400" dirty="0">
              <a:latin typeface="Arial" panose="020B0604020202020204" pitchFamily="34" charset="0"/>
              <a:cs typeface="Arial" panose="020B0604020202020204" pitchFamily="34" charset="0"/>
            </a:endParaRPr>
          </a:p>
        </p:txBody>
      </p:sp>
      <p:grpSp>
        <p:nvGrpSpPr>
          <p:cNvPr id="4" name="组合 3"/>
          <p:cNvGrpSpPr/>
          <p:nvPr/>
        </p:nvGrpSpPr>
        <p:grpSpPr>
          <a:xfrm>
            <a:off x="1614805" y="-16889"/>
            <a:ext cx="8861231" cy="6858000"/>
            <a:chOff x="1614805" y="-16889"/>
            <a:chExt cx="8861231" cy="6858000"/>
          </a:xfrm>
        </p:grpSpPr>
        <p:pic>
          <p:nvPicPr>
            <p:cNvPr id="3" name="图片 2"/>
            <p:cNvPicPr>
              <a:picLocks noChangeAspect="1"/>
            </p:cNvPicPr>
            <p:nvPr/>
          </p:nvPicPr>
          <p:blipFill>
            <a:blip r:embed="rId1"/>
            <a:stretch>
              <a:fillRect/>
            </a:stretch>
          </p:blipFill>
          <p:spPr>
            <a:xfrm>
              <a:off x="1614805" y="3154045"/>
              <a:ext cx="5781675" cy="2962275"/>
            </a:xfrm>
            <a:prstGeom prst="rect">
              <a:avLst/>
            </a:prstGeom>
          </p:spPr>
        </p:pic>
        <p:pic>
          <p:nvPicPr>
            <p:cNvPr id="7" name="图片 6"/>
            <p:cNvPicPr>
              <a:picLocks noChangeAspect="1"/>
            </p:cNvPicPr>
            <p:nvPr/>
          </p:nvPicPr>
          <p:blipFill>
            <a:blip r:embed="rId2"/>
            <a:stretch>
              <a:fillRect/>
            </a:stretch>
          </p:blipFill>
          <p:spPr>
            <a:xfrm>
              <a:off x="8063342" y="-16889"/>
              <a:ext cx="2412694" cy="6858000"/>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94431" y="379351"/>
            <a:ext cx="9899259"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Several slits</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1177792" y="1319156"/>
            <a:ext cx="6218688" cy="1089529"/>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analysis of intensity to find the maximum is done in similar fashion as it was for a single slit.</a:t>
            </a:r>
            <a:endParaRPr lang="en-US" altLang="zh-CN" sz="2400" dirty="0">
              <a:latin typeface="Arial" panose="020B0604020202020204" pitchFamily="34" charset="0"/>
              <a:cs typeface="Arial" panose="020B0604020202020204" pitchFamily="34" charset="0"/>
            </a:endParaRPr>
          </a:p>
        </p:txBody>
      </p:sp>
      <p:grpSp>
        <p:nvGrpSpPr>
          <p:cNvPr id="3" name="组合 2"/>
          <p:cNvGrpSpPr/>
          <p:nvPr/>
        </p:nvGrpSpPr>
        <p:grpSpPr>
          <a:xfrm>
            <a:off x="1495161" y="2419619"/>
            <a:ext cx="10024356" cy="4369488"/>
            <a:chOff x="1495161" y="2419619"/>
            <a:chExt cx="10024356" cy="4369488"/>
          </a:xfrm>
        </p:grpSpPr>
        <p:pic>
          <p:nvPicPr>
            <p:cNvPr id="4" name="图片 3"/>
            <p:cNvPicPr>
              <a:picLocks noChangeAspect="1"/>
            </p:cNvPicPr>
            <p:nvPr/>
          </p:nvPicPr>
          <p:blipFill>
            <a:blip r:embed="rId1"/>
            <a:stretch>
              <a:fillRect/>
            </a:stretch>
          </p:blipFill>
          <p:spPr>
            <a:xfrm>
              <a:off x="8423892" y="2757420"/>
              <a:ext cx="3095625" cy="3648075"/>
            </a:xfrm>
            <a:prstGeom prst="rect">
              <a:avLst/>
            </a:prstGeom>
          </p:spPr>
        </p:pic>
        <p:pic>
          <p:nvPicPr>
            <p:cNvPr id="5" name="图片 4"/>
            <p:cNvPicPr>
              <a:picLocks noChangeAspect="1"/>
            </p:cNvPicPr>
            <p:nvPr/>
          </p:nvPicPr>
          <p:blipFill>
            <a:blip r:embed="rId2"/>
            <a:stretch>
              <a:fillRect/>
            </a:stretch>
          </p:blipFill>
          <p:spPr>
            <a:xfrm>
              <a:off x="1846574" y="2419619"/>
              <a:ext cx="4881124" cy="496626"/>
            </a:xfrm>
            <a:prstGeom prst="rect">
              <a:avLst/>
            </a:prstGeom>
          </p:spPr>
        </p:pic>
        <p:pic>
          <p:nvPicPr>
            <p:cNvPr id="6" name="图片 5"/>
            <p:cNvPicPr>
              <a:picLocks noChangeAspect="1"/>
            </p:cNvPicPr>
            <p:nvPr/>
          </p:nvPicPr>
          <p:blipFill>
            <a:blip r:embed="rId3"/>
            <a:stretch>
              <a:fillRect/>
            </a:stretch>
          </p:blipFill>
          <p:spPr>
            <a:xfrm>
              <a:off x="1495161" y="3003718"/>
              <a:ext cx="5779190" cy="1648975"/>
            </a:xfrm>
            <a:prstGeom prst="rect">
              <a:avLst/>
            </a:prstGeom>
          </p:spPr>
        </p:pic>
        <p:pic>
          <p:nvPicPr>
            <p:cNvPr id="7" name="图片 6"/>
            <p:cNvPicPr>
              <a:picLocks noChangeAspect="1"/>
            </p:cNvPicPr>
            <p:nvPr/>
          </p:nvPicPr>
          <p:blipFill>
            <a:blip r:embed="rId4"/>
            <a:stretch>
              <a:fillRect/>
            </a:stretch>
          </p:blipFill>
          <p:spPr>
            <a:xfrm>
              <a:off x="1541766" y="4900934"/>
              <a:ext cx="6882126" cy="1888173"/>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894431" y="379351"/>
            <a:ext cx="9899259"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The diffraction grating</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1366328" y="1650110"/>
            <a:ext cx="6439066" cy="1089529"/>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analysis of intensity to find the maximum is done in similar fashion as it was for several slits.</a:t>
            </a:r>
            <a:endParaRPr lang="en-US" altLang="zh-CN" sz="2400" dirty="0">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a:stretch>
            <a:fillRect/>
          </a:stretch>
        </p:blipFill>
        <p:spPr>
          <a:xfrm>
            <a:off x="1740932" y="3146932"/>
            <a:ext cx="6064462" cy="564136"/>
          </a:xfrm>
          <a:prstGeom prst="rect">
            <a:avLst/>
          </a:prstGeom>
        </p:spPr>
      </p:pic>
      <p:pic>
        <p:nvPicPr>
          <p:cNvPr id="3" name="图片 2"/>
          <p:cNvPicPr>
            <a:picLocks noChangeAspect="1"/>
          </p:cNvPicPr>
          <p:nvPr/>
        </p:nvPicPr>
        <p:blipFill>
          <a:blip r:embed="rId2"/>
          <a:stretch>
            <a:fillRect/>
          </a:stretch>
        </p:blipFill>
        <p:spPr>
          <a:xfrm>
            <a:off x="7873119" y="1580658"/>
            <a:ext cx="3456182" cy="44902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069451" y="266583"/>
            <a:ext cx="9469715" cy="632483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The grating spectrograph</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3" name="矩形 2"/>
          <p:cNvSpPr/>
          <p:nvPr/>
        </p:nvSpPr>
        <p:spPr>
          <a:xfrm>
            <a:off x="1030668" y="1419439"/>
            <a:ext cx="9805448" cy="2252924"/>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A grating can be used like a prism, to disperse the wavelengths of a light source. If the source is white light, this process is unremarkable, but if the source is built of discrete wavelengths,</a:t>
            </a:r>
            <a:br>
              <a:rPr lang="en-US" altLang="zh-CN" sz="2600" dirty="0">
                <a:latin typeface="Arial" panose="020B0604020202020204" pitchFamily="34" charset="0"/>
                <a:cs typeface="Arial" panose="020B0604020202020204" pitchFamily="34" charset="0"/>
              </a:rPr>
            </a:br>
            <a:r>
              <a:rPr lang="en-US" altLang="zh-CN" sz="2600" dirty="0">
                <a:latin typeface="Arial" panose="020B0604020202020204" pitchFamily="34" charset="0"/>
                <a:cs typeface="Arial" panose="020B0604020202020204" pitchFamily="34" charset="0"/>
              </a:rPr>
              <a:t>our adventure is now called spectroscopy. Chemical systems and astronomical entities have discrete absorption or emission spectra that contain clues to their identity and reactivity. </a:t>
            </a:r>
            <a:endParaRPr lang="en-US" altLang="zh-CN" sz="2600" dirty="0">
              <a:latin typeface="Arial" panose="020B0604020202020204" pitchFamily="34" charset="0"/>
              <a:cs typeface="Arial" panose="020B0604020202020204" pitchFamily="34" charset="0"/>
            </a:endParaRPr>
          </a:p>
        </p:txBody>
      </p:sp>
      <p:grpSp>
        <p:nvGrpSpPr>
          <p:cNvPr id="6" name="Group 9"/>
          <p:cNvGrpSpPr/>
          <p:nvPr/>
        </p:nvGrpSpPr>
        <p:grpSpPr bwMode="auto">
          <a:xfrm>
            <a:off x="2853964" y="3672363"/>
            <a:ext cx="6248400" cy="3048000"/>
            <a:chOff x="1488" y="1968"/>
            <a:chExt cx="3024" cy="1585"/>
          </a:xfrm>
        </p:grpSpPr>
        <p:pic>
          <p:nvPicPr>
            <p:cNvPr id="8" name="Picture 7" descr="36_Figure19-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4" y="1968"/>
              <a:ext cx="1488"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36_Figure19-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1968"/>
              <a:ext cx="1488" cy="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The grating spectrograph II—instrumental detail</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1190919" y="1567753"/>
            <a:ext cx="9744174" cy="812530"/>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Spectroscopy (the study of light with a device such as the spectrograph shown below) pervades the physical sciences. </a:t>
            </a:r>
            <a:endParaRPr lang="en-US" altLang="zh-CN" sz="2600" dirty="0">
              <a:latin typeface="Arial" panose="020B0604020202020204" pitchFamily="34" charset="0"/>
              <a:cs typeface="Arial" panose="020B0604020202020204" pitchFamily="34" charset="0"/>
            </a:endParaRPr>
          </a:p>
        </p:txBody>
      </p:sp>
      <p:grpSp>
        <p:nvGrpSpPr>
          <p:cNvPr id="4" name="组合 3"/>
          <p:cNvGrpSpPr/>
          <p:nvPr/>
        </p:nvGrpSpPr>
        <p:grpSpPr>
          <a:xfrm>
            <a:off x="1447797" y="2664715"/>
            <a:ext cx="9296406" cy="3812285"/>
            <a:chOff x="1447797" y="2664715"/>
            <a:chExt cx="9296406" cy="3812285"/>
          </a:xfrm>
        </p:grpSpPr>
        <p:pic>
          <p:nvPicPr>
            <p:cNvPr id="6" name="Picture 7" descr="36_Figure20-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797" y="2664715"/>
              <a:ext cx="5030249" cy="3812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stretch>
              <a:fillRect/>
            </a:stretch>
          </p:blipFill>
          <p:spPr>
            <a:xfrm>
              <a:off x="6781803" y="3168030"/>
              <a:ext cx="3962400" cy="2619375"/>
            </a:xfrm>
            <a:prstGeom prst="rect">
              <a:avLst/>
            </a:prstGeom>
          </p:spPr>
        </p:pic>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X-ray diffraction</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3" name="矩形 2"/>
          <p:cNvSpPr/>
          <p:nvPr/>
        </p:nvSpPr>
        <p:spPr>
          <a:xfrm>
            <a:off x="960417" y="1536174"/>
            <a:ext cx="10130664" cy="1892826"/>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X-rays have a wavelength commensurate with atomic structure.  Rontgen had only discovered this high-energy EM wave a few decades earlier when </a:t>
            </a:r>
            <a:r>
              <a:rPr lang="en-US" altLang="zh-CN" sz="2600" dirty="0" err="1">
                <a:latin typeface="Arial" panose="020B0604020202020204" pitchFamily="34" charset="0"/>
                <a:cs typeface="Arial" panose="020B0604020202020204" pitchFamily="34" charset="0"/>
              </a:rPr>
              <a:t>Friederich</a:t>
            </a:r>
            <a:r>
              <a:rPr lang="en-US" altLang="zh-CN" sz="2600" dirty="0">
                <a:latin typeface="Arial" panose="020B0604020202020204" pitchFamily="34" charset="0"/>
                <a:cs typeface="Arial" panose="020B0604020202020204" pitchFamily="34" charset="0"/>
              </a:rPr>
              <a:t>, </a:t>
            </a:r>
            <a:r>
              <a:rPr lang="en-US" altLang="zh-CN" sz="2600" dirty="0" err="1">
                <a:latin typeface="Arial" panose="020B0604020202020204" pitchFamily="34" charset="0"/>
                <a:cs typeface="Arial" panose="020B0604020202020204" pitchFamily="34" charset="0"/>
              </a:rPr>
              <a:t>Knipping</a:t>
            </a:r>
            <a:r>
              <a:rPr lang="en-US" altLang="zh-CN" sz="2600" dirty="0">
                <a:latin typeface="Arial" panose="020B0604020202020204" pitchFamily="34" charset="0"/>
                <a:cs typeface="Arial" panose="020B0604020202020204" pitchFamily="34" charset="0"/>
              </a:rPr>
              <a:t>, and von Laue used it to elucidate crystal structures between adjacent ions in salt crystals. </a:t>
            </a:r>
            <a:endParaRPr lang="en-US" altLang="zh-CN" sz="2600" dirty="0">
              <a:latin typeface="Arial" panose="020B0604020202020204" pitchFamily="34" charset="0"/>
              <a:cs typeface="Arial" panose="020B0604020202020204" pitchFamily="34" charset="0"/>
            </a:endParaRPr>
          </a:p>
        </p:txBody>
      </p:sp>
      <p:pic>
        <p:nvPicPr>
          <p:cNvPr id="7" name="Picture 8" descr="36_Figure21-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2431" y="3612365"/>
            <a:ext cx="8847138"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Ionic configurations from x-ray scattering</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960416" y="1567753"/>
            <a:ext cx="9484482" cy="1172629"/>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Arrangements of cations and anions in salt crystals can be discerned from the scattering pattern they produced when irradiated by x-rays.</a:t>
            </a:r>
            <a:endParaRPr lang="en-US" altLang="zh-CN" sz="2600" dirty="0">
              <a:latin typeface="Arial" panose="020B0604020202020204" pitchFamily="34" charset="0"/>
              <a:cs typeface="Arial" panose="020B0604020202020204" pitchFamily="34" charset="0"/>
            </a:endParaRPr>
          </a:p>
        </p:txBody>
      </p:sp>
      <p:pic>
        <p:nvPicPr>
          <p:cNvPr id="7" name="Picture 7" descr="36_Figure23-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0416" y="3019638"/>
            <a:ext cx="10078646" cy="270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X-ray scattering set Watson and Crick to work</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3" name="矩形 2"/>
          <p:cNvSpPr/>
          <p:nvPr/>
        </p:nvSpPr>
        <p:spPr>
          <a:xfrm>
            <a:off x="1030668" y="1567753"/>
            <a:ext cx="9904425" cy="1172629"/>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An x-ray scattering pattern recorded by their colleague Dr. Franklin led Watson and Crick to brainstorm the staircase arrangement that eventually led to the Nobel Prize.</a:t>
            </a:r>
            <a:endParaRPr lang="en-US" altLang="zh-CN" sz="2600" dirty="0">
              <a:latin typeface="Arial" panose="020B0604020202020204" pitchFamily="34" charset="0"/>
              <a:cs typeface="Arial" panose="020B0604020202020204" pitchFamily="34" charset="0"/>
            </a:endParaRPr>
          </a:p>
        </p:txBody>
      </p:sp>
      <p:grpSp>
        <p:nvGrpSpPr>
          <p:cNvPr id="4" name="组合 3"/>
          <p:cNvGrpSpPr/>
          <p:nvPr/>
        </p:nvGrpSpPr>
        <p:grpSpPr>
          <a:xfrm>
            <a:off x="1128957" y="2813088"/>
            <a:ext cx="9567011" cy="3574121"/>
            <a:chOff x="1128957" y="2813088"/>
            <a:chExt cx="9567011" cy="3574121"/>
          </a:xfrm>
        </p:grpSpPr>
        <p:pic>
          <p:nvPicPr>
            <p:cNvPr id="6" name="Picture 9" descr="36_Figure25-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32015" y="2813088"/>
              <a:ext cx="3163953" cy="3574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2"/>
            <a:stretch>
              <a:fillRect/>
            </a:stretch>
          </p:blipFill>
          <p:spPr>
            <a:xfrm>
              <a:off x="1128957" y="3113398"/>
              <a:ext cx="5924550" cy="2705100"/>
            </a:xfrm>
            <a:prstGeom prst="rect">
              <a:avLst/>
            </a:prstGeom>
          </p:spPr>
        </p:pic>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361724" y="1220100"/>
            <a:ext cx="11468551" cy="52727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Circular apertures and resolving power</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3" name="矩形 2"/>
          <p:cNvSpPr/>
          <p:nvPr/>
        </p:nvSpPr>
        <p:spPr>
          <a:xfrm>
            <a:off x="1030668" y="1567753"/>
            <a:ext cx="7010396" cy="1532727"/>
          </a:xfrm>
          <a:prstGeom prst="rect">
            <a:avLst/>
          </a:prstGeom>
        </p:spPr>
        <p:txBody>
          <a:bodyPr wrap="square">
            <a:spAutoFit/>
          </a:bodyPr>
          <a:lstStyle/>
          <a:p>
            <a:pPr marL="255905" lvl="1" indent="-255905">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In order to have an undistorted Airy disk (for whatever purpose), wavelength of the radiation cannot approach the diameter of the aperture through which it passes. </a:t>
            </a:r>
            <a:endParaRPr lang="en-US" altLang="zh-CN" sz="2600" dirty="0">
              <a:latin typeface="Arial" panose="020B0604020202020204" pitchFamily="34" charset="0"/>
              <a:cs typeface="Arial" panose="020B0604020202020204" pitchFamily="34" charset="0"/>
            </a:endParaRPr>
          </a:p>
        </p:txBody>
      </p:sp>
      <p:grpSp>
        <p:nvGrpSpPr>
          <p:cNvPr id="4" name="组合 3"/>
          <p:cNvGrpSpPr/>
          <p:nvPr/>
        </p:nvGrpSpPr>
        <p:grpSpPr>
          <a:xfrm>
            <a:off x="748136" y="1603694"/>
            <a:ext cx="10239736" cy="5128748"/>
            <a:chOff x="748136" y="1603694"/>
            <a:chExt cx="10239736" cy="5128748"/>
          </a:xfrm>
        </p:grpSpPr>
        <p:pic>
          <p:nvPicPr>
            <p:cNvPr id="8" name="Picture 7" descr="36_Figure26-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8136" y="3916601"/>
              <a:ext cx="4460200" cy="2783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36_Figure27-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3147" y="3916601"/>
              <a:ext cx="2420545" cy="2470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3"/>
            <a:stretch>
              <a:fillRect/>
            </a:stretch>
          </p:blipFill>
          <p:spPr>
            <a:xfrm>
              <a:off x="8567327" y="1603694"/>
              <a:ext cx="2420545" cy="5128748"/>
            </a:xfrm>
            <a:prstGeom prst="rect">
              <a:avLst/>
            </a:prstGeom>
          </p:spPr>
        </p:pic>
      </p:gr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160,&quot;width&quot;:5025}"/>
</p:tagLst>
</file>

<file path=ppt/tags/tag2.xml><?xml version="1.0" encoding="utf-8"?>
<p:tagLst xmlns:p="http://schemas.openxmlformats.org/presentationml/2006/main">
  <p:tag name="KSO_WM_UNIT_PLACING_PICTURE_USER_VIEWPORT" val="{&quot;height&quot;:7085.2173228346455,&quot;width&quot;:3898.036220472441}"/>
</p:tagLst>
</file>

<file path=ppt/tags/tag3.xml><?xml version="1.0" encoding="utf-8"?>
<p:tagLst xmlns:p="http://schemas.openxmlformats.org/presentationml/2006/main">
  <p:tag name="KSO_WM_UNIT_PLACING_PICTURE_USER_VIEWPORT" val="{&quot;height&quot;:4620,&quot;width&quot;:9840}"/>
</p:tagLst>
</file>

<file path=ppt/tags/tag4.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797979"/>
      </a:dk2>
      <a:lt2>
        <a:srgbClr val="43B4E3"/>
      </a:lt2>
      <a:accent1>
        <a:srgbClr val="0070C0"/>
      </a:accent1>
      <a:accent2>
        <a:srgbClr val="CECECE"/>
      </a:accent2>
      <a:accent3>
        <a:srgbClr val="329FD1"/>
      </a:accent3>
      <a:accent4>
        <a:srgbClr val="CECECE"/>
      </a:accent4>
      <a:accent5>
        <a:srgbClr val="0070C0"/>
      </a:accent5>
      <a:accent6>
        <a:srgbClr val="CECECE"/>
      </a:accent6>
      <a:hlink>
        <a:srgbClr val="169EBE"/>
      </a:hlink>
      <a:folHlink>
        <a:srgbClr val="0070C0"/>
      </a:folHlink>
    </a:clrScheme>
    <a:fontScheme name="自定义 2">
      <a:majorFont>
        <a:latin typeface="Agency FB"/>
        <a:ea typeface="微软雅黑"/>
        <a:cs typeface=""/>
      </a:majorFont>
      <a:minorFont>
        <a:latin typeface="Agency FB"/>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4189</Words>
  <Application>WPS 演示</Application>
  <PresentationFormat>宽屏</PresentationFormat>
  <Paragraphs>101</Paragraphs>
  <Slides>27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Arial</vt:lpstr>
      <vt:lpstr>宋体</vt:lpstr>
      <vt:lpstr>Wingdings</vt:lpstr>
      <vt:lpstr>Agency FB</vt:lpstr>
      <vt:lpstr>微软雅黑</vt:lpstr>
      <vt:lpstr>Arial Unicode MS</vt:lpstr>
      <vt:lpstr>Calibri</vt:lpstr>
      <vt:lpstr>Office 主题</vt:lpstr>
      <vt:lpstr>Chapter 26 DIFFRACTION</vt:lpstr>
      <vt:lpstr>Goals for chapter 26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小鹿PPT；http://pptx.taobao.com</dc:title>
  <dc:creator>小鹿PPT;http://pptx.taobao.com</dc:creator>
  <dc:description>小鹿PPT；http://pptx.taobao.com</dc:description>
  <cp:lastModifiedBy>Jtt</cp:lastModifiedBy>
  <cp:revision>311</cp:revision>
  <dcterms:created xsi:type="dcterms:W3CDTF">2017-07-11T01:33:00Z</dcterms:created>
  <dcterms:modified xsi:type="dcterms:W3CDTF">2021-12-20T06:19:46Z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B18FDD2CB7FF4F50B81230E54B4359B8</vt:lpwstr>
  </property>
  <property fmtid="{D5CDD505-2E9C-101B-9397-08002B2CF9AE}" pid="3" name="KSOProductBuildVer">
    <vt:lpwstr>2052-11.1.0.11115</vt:lpwstr>
  </property>
</Properties>
</file>