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6" r:id="rId3"/>
    <p:sldMasterId id="2147483679" r:id="rId4"/>
  </p:sldMasterIdLst>
  <p:notesMasterIdLst>
    <p:notesMasterId r:id="rId11"/>
  </p:notesMasterIdLst>
  <p:sldIdLst>
    <p:sldId id="258" r:id="rId5"/>
    <p:sldId id="293" r:id="rId6"/>
    <p:sldId id="323" r:id="rId7"/>
    <p:sldId id="310" r:id="rId8"/>
    <p:sldId id="309" r:id="rId9"/>
    <p:sldId id="312" r:id="rId10"/>
    <p:sldId id="268" r:id="rId12"/>
    <p:sldId id="322" r:id="rId13"/>
    <p:sldId id="271" r:id="rId14"/>
    <p:sldId id="276" r:id="rId15"/>
    <p:sldId id="292" r:id="rId16"/>
    <p:sldId id="324" r:id="rId17"/>
    <p:sldId id="316" r:id="rId18"/>
    <p:sldId id="317" r:id="rId19"/>
    <p:sldId id="318" r:id="rId20"/>
    <p:sldId id="319" r:id="rId21"/>
    <p:sldId id="320" r:id="rId22"/>
    <p:sldId id="313" r:id="rId23"/>
    <p:sldId id="275" r:id="rId24"/>
    <p:sldId id="315" r:id="rId25"/>
    <p:sldId id="278" r:id="rId26"/>
    <p:sldId id="277" r:id="rId27"/>
    <p:sldId id="280" r:id="rId28"/>
    <p:sldId id="321" r:id="rId2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31" autoAdjust="0"/>
    <p:restoredTop sz="94660"/>
  </p:normalViewPr>
  <p:slideViewPr>
    <p:cSldViewPr snapToGrid="0" showGuides="1">
      <p:cViewPr varScale="1">
        <p:scale>
          <a:sx n="78" d="100"/>
          <a:sy n="78" d="100"/>
        </p:scale>
        <p:origin x="50" y="285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443418-7762-49AD-9643-A44F191609B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CD5BA0-70FA-46AC-95B8-962878DB73F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5B444-1AB3-4008-89F4-D116109AD3C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59C40-ADFB-475C-8952-CEFED0415C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5B444-1AB3-4008-89F4-D116109AD3C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59C40-ADFB-475C-8952-CEFED0415C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5B444-1AB3-4008-89F4-D116109AD3C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59C40-ADFB-475C-8952-CEFED0415C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5B444-1AB3-4008-89F4-D116109AD3C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59C40-ADFB-475C-8952-CEFED0415C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5B444-1AB3-4008-89F4-D116109AD3CC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59C40-ADFB-475C-8952-CEFED0415C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5B444-1AB3-4008-89F4-D116109AD3C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59C40-ADFB-475C-8952-CEFED0415C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5B444-1AB3-4008-89F4-D116109AD3C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59C40-ADFB-475C-8952-CEFED0415C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5B444-1AB3-4008-89F4-D116109AD3C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59C40-ADFB-475C-8952-CEFED0415C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5B444-1AB3-4008-89F4-D116109AD3C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59C40-ADFB-475C-8952-CEFED0415C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5B444-1AB3-4008-89F4-D116109AD3C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59C40-ADFB-475C-8952-CEFED0415C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5B444-1AB3-4008-89F4-D116109AD3C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59C40-ADFB-475C-8952-CEFED0415C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8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8011" y="164638"/>
            <a:ext cx="3655808" cy="369524"/>
          </a:xfrm>
        </p:spPr>
        <p:txBody>
          <a:bodyPr/>
          <a:lstStyle>
            <a:lvl1pPr algn="l">
              <a:defRPr sz="2135" b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矩形 3"/>
          <p:cNvSpPr/>
          <p:nvPr userDrawn="1"/>
        </p:nvSpPr>
        <p:spPr>
          <a:xfrm>
            <a:off x="0" y="599480"/>
            <a:ext cx="12192000" cy="6258520"/>
          </a:xfrm>
          <a:prstGeom prst="rect">
            <a:avLst/>
          </a:prstGeom>
          <a:gradFill flip="none" rotWithShape="1">
            <a:gsLst>
              <a:gs pos="0">
                <a:srgbClr val="CCD0D1"/>
              </a:gs>
              <a:gs pos="49200">
                <a:srgbClr val="E8EAE9"/>
              </a:gs>
              <a:gs pos="100000">
                <a:srgbClr val="FCFCFC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21" name="流程图: 离页连接符 20"/>
          <p:cNvSpPr/>
          <p:nvPr userDrawn="1"/>
        </p:nvSpPr>
        <p:spPr>
          <a:xfrm>
            <a:off x="284566" y="-1"/>
            <a:ext cx="508759" cy="749300"/>
          </a:xfrm>
          <a:prstGeom prst="flowChartOffpageConnector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8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8011" y="164638"/>
            <a:ext cx="3655808" cy="369524"/>
          </a:xfrm>
        </p:spPr>
        <p:txBody>
          <a:bodyPr/>
          <a:lstStyle>
            <a:lvl1pPr algn="l">
              <a:defRPr sz="2135" b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矩形 3"/>
          <p:cNvSpPr/>
          <p:nvPr userDrawn="1"/>
        </p:nvSpPr>
        <p:spPr>
          <a:xfrm>
            <a:off x="0" y="599480"/>
            <a:ext cx="12192000" cy="6258520"/>
          </a:xfrm>
          <a:prstGeom prst="rect">
            <a:avLst/>
          </a:prstGeom>
          <a:gradFill flip="none" rotWithShape="1">
            <a:gsLst>
              <a:gs pos="0">
                <a:srgbClr val="CCD0D1"/>
              </a:gs>
              <a:gs pos="49200">
                <a:srgbClr val="E8EAE9"/>
              </a:gs>
              <a:gs pos="100000">
                <a:srgbClr val="FCFCFC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21" name="流程图: 离页连接符 20"/>
          <p:cNvSpPr/>
          <p:nvPr userDrawn="1"/>
        </p:nvSpPr>
        <p:spPr>
          <a:xfrm>
            <a:off x="284566" y="-1"/>
            <a:ext cx="508759" cy="749300"/>
          </a:xfrm>
          <a:prstGeom prst="flowChartOffpageConnector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8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8011" y="164638"/>
            <a:ext cx="3655808" cy="369524"/>
          </a:xfrm>
        </p:spPr>
        <p:txBody>
          <a:bodyPr/>
          <a:lstStyle>
            <a:lvl1pPr algn="l">
              <a:defRPr sz="2135" b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矩形 3"/>
          <p:cNvSpPr/>
          <p:nvPr userDrawn="1"/>
        </p:nvSpPr>
        <p:spPr>
          <a:xfrm>
            <a:off x="0" y="599480"/>
            <a:ext cx="12192000" cy="6258520"/>
          </a:xfrm>
          <a:prstGeom prst="rect">
            <a:avLst/>
          </a:prstGeom>
          <a:gradFill flip="none" rotWithShape="1">
            <a:gsLst>
              <a:gs pos="0">
                <a:srgbClr val="CCD0D1"/>
              </a:gs>
              <a:gs pos="49200">
                <a:srgbClr val="E8EAE9"/>
              </a:gs>
              <a:gs pos="100000">
                <a:srgbClr val="FCFCFC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21" name="流程图: 离页连接符 20"/>
          <p:cNvSpPr/>
          <p:nvPr userDrawn="1"/>
        </p:nvSpPr>
        <p:spPr>
          <a:xfrm>
            <a:off x="284566" y="-1"/>
            <a:ext cx="508759" cy="749300"/>
          </a:xfrm>
          <a:prstGeom prst="flowChartOffpageConnector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8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8011" y="164638"/>
            <a:ext cx="3655808" cy="369524"/>
          </a:xfrm>
        </p:spPr>
        <p:txBody>
          <a:bodyPr/>
          <a:lstStyle>
            <a:lvl1pPr algn="l">
              <a:defRPr sz="2135" b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矩形 3"/>
          <p:cNvSpPr/>
          <p:nvPr userDrawn="1"/>
        </p:nvSpPr>
        <p:spPr>
          <a:xfrm>
            <a:off x="0" y="599480"/>
            <a:ext cx="12192000" cy="6258520"/>
          </a:xfrm>
          <a:prstGeom prst="rect">
            <a:avLst/>
          </a:prstGeom>
          <a:gradFill flip="none" rotWithShape="1">
            <a:gsLst>
              <a:gs pos="0">
                <a:srgbClr val="CCD0D1"/>
              </a:gs>
              <a:gs pos="49200">
                <a:srgbClr val="E8EAE9"/>
              </a:gs>
              <a:gs pos="100000">
                <a:srgbClr val="FCFCFC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21" name="流程图: 离页连接符 20"/>
          <p:cNvSpPr/>
          <p:nvPr userDrawn="1"/>
        </p:nvSpPr>
        <p:spPr>
          <a:xfrm>
            <a:off x="284566" y="-1"/>
            <a:ext cx="508759" cy="749300"/>
          </a:xfrm>
          <a:prstGeom prst="flowChartOffpageConnector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8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8011" y="164638"/>
            <a:ext cx="3655808" cy="369524"/>
          </a:xfrm>
        </p:spPr>
        <p:txBody>
          <a:bodyPr/>
          <a:lstStyle>
            <a:lvl1pPr algn="l">
              <a:defRPr sz="2135" b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矩形 3"/>
          <p:cNvSpPr/>
          <p:nvPr userDrawn="1"/>
        </p:nvSpPr>
        <p:spPr>
          <a:xfrm>
            <a:off x="0" y="599480"/>
            <a:ext cx="12192000" cy="6258520"/>
          </a:xfrm>
          <a:prstGeom prst="rect">
            <a:avLst/>
          </a:prstGeom>
          <a:gradFill flip="none" rotWithShape="1">
            <a:gsLst>
              <a:gs pos="0">
                <a:srgbClr val="CCD0D1"/>
              </a:gs>
              <a:gs pos="49200">
                <a:srgbClr val="E8EAE9"/>
              </a:gs>
              <a:gs pos="100000">
                <a:srgbClr val="FCFCFC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21" name="流程图: 离页连接符 20"/>
          <p:cNvSpPr/>
          <p:nvPr userDrawn="1"/>
        </p:nvSpPr>
        <p:spPr>
          <a:xfrm>
            <a:off x="284566" y="-1"/>
            <a:ext cx="508759" cy="749300"/>
          </a:xfrm>
          <a:prstGeom prst="flowChartOffpageConnector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8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8011" y="164638"/>
            <a:ext cx="3655808" cy="369524"/>
          </a:xfrm>
        </p:spPr>
        <p:txBody>
          <a:bodyPr/>
          <a:lstStyle>
            <a:lvl1pPr algn="l">
              <a:defRPr sz="2135" b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矩形 3"/>
          <p:cNvSpPr/>
          <p:nvPr userDrawn="1"/>
        </p:nvSpPr>
        <p:spPr>
          <a:xfrm>
            <a:off x="0" y="599480"/>
            <a:ext cx="12192000" cy="6258520"/>
          </a:xfrm>
          <a:prstGeom prst="rect">
            <a:avLst/>
          </a:prstGeom>
          <a:gradFill flip="none" rotWithShape="1">
            <a:gsLst>
              <a:gs pos="0">
                <a:srgbClr val="CCD0D1"/>
              </a:gs>
              <a:gs pos="49200">
                <a:srgbClr val="E8EAE9"/>
              </a:gs>
              <a:gs pos="100000">
                <a:srgbClr val="FCFCFC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21" name="流程图: 离页连接符 20"/>
          <p:cNvSpPr/>
          <p:nvPr userDrawn="1"/>
        </p:nvSpPr>
        <p:spPr>
          <a:xfrm>
            <a:off x="284566" y="-1"/>
            <a:ext cx="508759" cy="749300"/>
          </a:xfrm>
          <a:prstGeom prst="flowChartOffpageConnector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8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DF8838-2596-481A-81BD-BA549497E720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7507C5-9851-4EF6-82C9-5647805156C3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8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8011" y="164638"/>
            <a:ext cx="3655808" cy="369524"/>
          </a:xfrm>
        </p:spPr>
        <p:txBody>
          <a:bodyPr/>
          <a:lstStyle>
            <a:lvl1pPr algn="l">
              <a:defRPr sz="2135" b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矩形 3"/>
          <p:cNvSpPr/>
          <p:nvPr userDrawn="1"/>
        </p:nvSpPr>
        <p:spPr>
          <a:xfrm>
            <a:off x="0" y="599480"/>
            <a:ext cx="12192000" cy="6258520"/>
          </a:xfrm>
          <a:prstGeom prst="rect">
            <a:avLst/>
          </a:prstGeom>
          <a:gradFill flip="none" rotWithShape="1">
            <a:gsLst>
              <a:gs pos="0">
                <a:srgbClr val="CCD0D1"/>
              </a:gs>
              <a:gs pos="49200">
                <a:srgbClr val="E8EAE9"/>
              </a:gs>
              <a:gs pos="100000">
                <a:srgbClr val="FCFCFC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21" name="流程图: 离页连接符 20"/>
          <p:cNvSpPr/>
          <p:nvPr userDrawn="1"/>
        </p:nvSpPr>
        <p:spPr>
          <a:xfrm>
            <a:off x="284566" y="-1"/>
            <a:ext cx="508759" cy="749300"/>
          </a:xfrm>
          <a:prstGeom prst="flowChartOffpageConnector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5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5">
                <a:solidFill>
                  <a:schemeClr val="tx1">
                    <a:tint val="75000"/>
                  </a:schemeClr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102D13-023C-493B-946F-6334B1550202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027665-4685-4CFB-A4DF-574C5BBB6387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200151"/>
            <a:ext cx="5384800" cy="3394075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5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200151"/>
            <a:ext cx="5384800" cy="3394075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5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70EC45-3C31-4C3D-8B77-22FF0C9AAD4A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4074A8-D729-49BB-A7BC-DB2359C77DB8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665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35" b="1"/>
            </a:lvl4pPr>
            <a:lvl5pPr marL="2438400" indent="0">
              <a:buNone/>
              <a:defRPr sz="2135" b="1"/>
            </a:lvl5pPr>
            <a:lvl6pPr marL="3048000" indent="0">
              <a:buNone/>
              <a:defRPr sz="2135" b="1"/>
            </a:lvl6pPr>
            <a:lvl7pPr marL="3657600" indent="0">
              <a:buNone/>
              <a:defRPr sz="2135" b="1"/>
            </a:lvl7pPr>
            <a:lvl8pPr marL="4267200" indent="0">
              <a:buNone/>
              <a:defRPr sz="2135" b="1"/>
            </a:lvl8pPr>
            <a:lvl9pPr marL="4876800" indent="0">
              <a:buNone/>
              <a:defRPr sz="2135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5"/>
            </a:lvl2pPr>
            <a:lvl3pPr>
              <a:defRPr sz="2400"/>
            </a:lvl3pPr>
            <a:lvl4pPr>
              <a:defRPr sz="2135"/>
            </a:lvl4pPr>
            <a:lvl5pPr>
              <a:defRPr sz="2135"/>
            </a:lvl5pPr>
            <a:lvl6pPr>
              <a:defRPr sz="2135"/>
            </a:lvl6pPr>
            <a:lvl7pPr>
              <a:defRPr sz="2135"/>
            </a:lvl7pPr>
            <a:lvl8pPr>
              <a:defRPr sz="2135"/>
            </a:lvl8pPr>
            <a:lvl9pPr>
              <a:defRPr sz="213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665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35" b="1"/>
            </a:lvl4pPr>
            <a:lvl5pPr marL="2438400" indent="0">
              <a:buNone/>
              <a:defRPr sz="2135" b="1"/>
            </a:lvl5pPr>
            <a:lvl6pPr marL="3048000" indent="0">
              <a:buNone/>
              <a:defRPr sz="2135" b="1"/>
            </a:lvl6pPr>
            <a:lvl7pPr marL="3657600" indent="0">
              <a:buNone/>
              <a:defRPr sz="2135" b="1"/>
            </a:lvl7pPr>
            <a:lvl8pPr marL="4267200" indent="0">
              <a:buNone/>
              <a:defRPr sz="2135" b="1"/>
            </a:lvl8pPr>
            <a:lvl9pPr marL="4876800" indent="0">
              <a:buNone/>
              <a:defRPr sz="2135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5"/>
            </a:lvl2pPr>
            <a:lvl3pPr>
              <a:defRPr sz="2400"/>
            </a:lvl3pPr>
            <a:lvl4pPr>
              <a:defRPr sz="2135"/>
            </a:lvl4pPr>
            <a:lvl5pPr>
              <a:defRPr sz="2135"/>
            </a:lvl5pPr>
            <a:lvl6pPr>
              <a:defRPr sz="2135"/>
            </a:lvl6pPr>
            <a:lvl7pPr>
              <a:defRPr sz="2135"/>
            </a:lvl7pPr>
            <a:lvl8pPr>
              <a:defRPr sz="2135"/>
            </a:lvl8pPr>
            <a:lvl9pPr>
              <a:defRPr sz="213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E339D-55A7-444C-B9D1-1957295915E5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B3A32D-1FCD-4730-805F-780D3DD87911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42A674-53CD-422B-9892-C4EF0827967E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B350D4-CBC2-4A07-BB4A-B4CC231CE9C3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5118EC-EDEF-4F9C-852D-0A464BD53A70}" type="datetimeFigureOut">
              <a:rPr lang="zh-CN" altLang="en-US"/>
            </a:fld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CC5073-A55C-4F3C-8D7B-130473455D17}" type="slidenum">
              <a:rPr lang="zh-CN" altLang="en-US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8" y="0"/>
            <a:ext cx="12192000" cy="6858000"/>
          </a:xfrm>
          <a:prstGeom prst="rect">
            <a:avLst/>
          </a:prstGeom>
        </p:spPr>
      </p:pic>
      <p:sp>
        <p:nvSpPr>
          <p:cNvPr id="6" name="矩形 5"/>
          <p:cNvSpPr/>
          <p:nvPr userDrawn="1"/>
        </p:nvSpPr>
        <p:spPr>
          <a:xfrm>
            <a:off x="1045" y="2948947"/>
            <a:ext cx="12192000" cy="3909053"/>
          </a:xfrm>
          <a:custGeom>
            <a:avLst/>
            <a:gdLst/>
            <a:ahLst/>
            <a:cxnLst/>
            <a:rect l="l" t="t" r="r" b="b"/>
            <a:pathLst>
              <a:path w="9144000" h="2931790">
                <a:moveTo>
                  <a:pt x="0" y="0"/>
                </a:moveTo>
                <a:lnTo>
                  <a:pt x="3824456" y="0"/>
                </a:lnTo>
                <a:cubicBezTo>
                  <a:pt x="3824456" y="26976"/>
                  <a:pt x="3831542" y="51749"/>
                  <a:pt x="3844079" y="73220"/>
                </a:cubicBezTo>
                <a:lnTo>
                  <a:pt x="4145508" y="600620"/>
                </a:lnTo>
                <a:cubicBezTo>
                  <a:pt x="4157500" y="622091"/>
                  <a:pt x="4175488" y="640258"/>
                  <a:pt x="4197836" y="653470"/>
                </a:cubicBezTo>
                <a:cubicBezTo>
                  <a:pt x="4220185" y="666683"/>
                  <a:pt x="4245258" y="672739"/>
                  <a:pt x="4269242" y="672739"/>
                </a:cubicBezTo>
                <a:lnTo>
                  <a:pt x="4869920" y="672739"/>
                </a:lnTo>
                <a:cubicBezTo>
                  <a:pt x="4895539" y="673289"/>
                  <a:pt x="4921158" y="667233"/>
                  <a:pt x="4944596" y="653470"/>
                </a:cubicBezTo>
                <a:cubicBezTo>
                  <a:pt x="4966945" y="640258"/>
                  <a:pt x="4984387" y="622091"/>
                  <a:pt x="4996924" y="601171"/>
                </a:cubicBezTo>
                <a:lnTo>
                  <a:pt x="5296718" y="75972"/>
                </a:lnTo>
                <a:cubicBezTo>
                  <a:pt x="5310345" y="53951"/>
                  <a:pt x="5317976" y="28077"/>
                  <a:pt x="5317976" y="0"/>
                </a:cubicBezTo>
                <a:lnTo>
                  <a:pt x="9144000" y="0"/>
                </a:lnTo>
                <a:lnTo>
                  <a:pt x="9144000" y="2931790"/>
                </a:lnTo>
                <a:lnTo>
                  <a:pt x="0" y="293179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1" name="TextBox 7"/>
          <p:cNvSpPr>
            <a:spLocks noChangeArrowheads="1"/>
          </p:cNvSpPr>
          <p:nvPr userDrawn="1"/>
        </p:nvSpPr>
        <p:spPr bwMode="auto">
          <a:xfrm>
            <a:off x="3322320" y="810386"/>
            <a:ext cx="5547360" cy="410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665" dirty="0">
                <a:solidFill>
                  <a:schemeClr val="accent1">
                    <a:lumMod val="20000"/>
                    <a:lumOff val="80000"/>
                  </a:schemeClr>
                </a:solidFill>
                <a:latin typeface="Swis721 Th BT" pitchFamily="34" charset="0"/>
                <a:ea typeface="微软雅黑" panose="020B0503020204020204" pitchFamily="34" charset="-122"/>
                <a:cs typeface="LilyUPC" panose="020B0604020202020204" pitchFamily="34" charset="-34"/>
                <a:sym typeface="微软雅黑" panose="020B0503020204020204" pitchFamily="34" charset="-122"/>
              </a:rPr>
              <a:t>THE BUSENESS PLAN</a:t>
            </a:r>
            <a:endParaRPr lang="zh-CN" altLang="en-US" sz="2665" dirty="0">
              <a:solidFill>
                <a:schemeClr val="accent1">
                  <a:lumMod val="20000"/>
                  <a:lumOff val="80000"/>
                </a:schemeClr>
              </a:solidFill>
              <a:latin typeface="Swis721 Th BT" pitchFamily="34" charset="0"/>
              <a:ea typeface="微软雅黑" panose="020B0503020204020204" pitchFamily="34" charset="-122"/>
              <a:cs typeface="LilyUPC" panose="020B0604020202020204" pitchFamily="34" charset="-34"/>
              <a:sym typeface="微软雅黑" panose="020B0503020204020204" pitchFamily="3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7028" y="263976"/>
            <a:ext cx="1217944" cy="37368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665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5"/>
            </a:lvl1pPr>
            <a:lvl2pPr>
              <a:defRPr sz="3735"/>
            </a:lvl2pPr>
            <a:lvl3pPr>
              <a:defRPr sz="3200"/>
            </a:lvl3pPr>
            <a:lvl4pPr>
              <a:defRPr sz="2665"/>
            </a:lvl4pPr>
            <a:lvl5pPr>
              <a:defRPr sz="26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5"/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3165C5-19AB-4D7E-BF4E-8030D4BC8E07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C2AC4E-50CB-4334-996F-7EE8464BD267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5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4265"/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5"/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C6AEFD-D42C-445E-A078-69D256A721CC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B7A587-D83B-45BF-80B0-EB01029C5564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 showMasterSp="0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3F2B87-989E-4F4D-A3D6-9B10DAD785BB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954EB6-7BED-43FD-8483-DCA0766CC830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06375"/>
            <a:ext cx="2743200" cy="438785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06375"/>
            <a:ext cx="8026400" cy="438785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DB09A5-729D-4B62-9A05-E166FB412201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A21541-2C8E-4FE7-AD01-6AECC40AD2E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5B444-1AB3-4008-89F4-D116109AD3C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59C40-ADFB-475C-8952-CEFED0415C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8EE3EC-0DCF-432D-B43B-A984B53E0FA0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626019-F7DB-4086-B42E-F4DE682783A7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5E632B-76F3-4F99-9D81-AA1EE8EB0075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90678E-CB06-436E-A193-4CD911D3684D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08681B-7F00-4C5C-AF4E-84966CF0AB30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B481FC-CB0C-4EAD-BE53-9789BEC4F4FF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4069CE-1539-4596-A53B-869D0DB4381D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567B90-9404-484E-B18B-7F6E75E7D341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9F3888-66F6-474C-9CC9-0E8B55AF917E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E4ED18-1FE1-4557-9867-58A3B1F0EEA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CE3478-DD8B-4B49-A2D3-FFE800946FD6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DE3867-D5A1-4FAA-B825-A6A280C9DCB2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DD9203-6A86-484D-85D4-FF348C3CC52D}" type="datetimeFigureOut">
              <a:rPr lang="zh-CN" altLang="en-US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F26D8A-2882-441C-9513-1A0B4863A6CA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B5A1E5-7106-40F4-B5B8-C2C90AC17213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56BE82-7B75-4559-90B7-988D56C3A7B4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1D40DA-8DB1-447B-A456-B66E0C9BBBCE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8E6A63-DDCB-4FD3-8FFD-09DA75E697B3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4A99FF-A4EA-4483-8CE4-AA94090B1FD5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84F93F-F03F-4582-A5AF-F7E0DFD1E1F7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133E49-F778-4BFB-8E2F-3E43D2B34F0E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75299D-5452-4BC6-93B7-A51B09B1D9C4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image" Target="../media/image2.png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6.xml"/><Relationship Id="rId8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3.xml"/><Relationship Id="rId5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1.xml"/><Relationship Id="rId3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9.xml"/><Relationship Id="rId14" Type="http://schemas.openxmlformats.org/officeDocument/2006/relationships/theme" Target="../theme/theme2.xml"/><Relationship Id="rId13" Type="http://schemas.openxmlformats.org/officeDocument/2006/relationships/image" Target="../media/image4.jpeg"/><Relationship Id="rId12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8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8.xml"/><Relationship Id="rId8" Type="http://schemas.openxmlformats.org/officeDocument/2006/relationships/slideLayout" Target="../slideLayouts/slideLayout37.xml"/><Relationship Id="rId7" Type="http://schemas.openxmlformats.org/officeDocument/2006/relationships/slideLayout" Target="../slideLayouts/slideLayout36.xml"/><Relationship Id="rId6" Type="http://schemas.openxmlformats.org/officeDocument/2006/relationships/slideLayout" Target="../slideLayouts/slideLayout35.xml"/><Relationship Id="rId5" Type="http://schemas.openxmlformats.org/officeDocument/2006/relationships/slideLayout" Target="../slideLayouts/slideLayout34.xml"/><Relationship Id="rId4" Type="http://schemas.openxmlformats.org/officeDocument/2006/relationships/slideLayout" Target="../slideLayouts/slideLayout33.xml"/><Relationship Id="rId3" Type="http://schemas.openxmlformats.org/officeDocument/2006/relationships/slideLayout" Target="../slideLayouts/slideLayout32.xml"/><Relationship Id="rId2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75B444-1AB3-4008-89F4-D116109AD3C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859C40-ADFB-475C-8952-CEFED0415CA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609600" y="275167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6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BCA76A6C-E1BF-41A9-90D8-1F55C472F0D3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6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6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4AC6EAE7-8652-497A-B0B9-2516C5BD65FF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</p:sldLayoutIdLst>
  <p:txStyles>
    <p:titleStyle>
      <a:lvl1pPr algn="ctr" rtl="0" fontAlgn="base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2C990965-54DC-4A11-8C3F-17BA303F10F2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832386D3-E338-490A-8996-F93AD2A32E0D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0.xml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5" Type="http://schemas.openxmlformats.org/officeDocument/2006/relationships/slideLayout" Target="../slideLayouts/slideLayout36.xml"/><Relationship Id="rId14" Type="http://schemas.openxmlformats.org/officeDocument/2006/relationships/tags" Target="../tags/tag13.xml"/><Relationship Id="rId13" Type="http://schemas.openxmlformats.org/officeDocument/2006/relationships/image" Target="../media/image6.png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2" Type="http://schemas.openxmlformats.org/officeDocument/2006/relationships/hyperlink" Target="https://www.icourse163.org/learn/HUST-1003159001" TargetMode="External"/><Relationship Id="rId1" Type="http://schemas.openxmlformats.org/officeDocument/2006/relationships/hyperlink" Target="https://www.icourse163.org/course/HUST-1205809816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9.xml"/><Relationship Id="rId2" Type="http://schemas.openxmlformats.org/officeDocument/2006/relationships/image" Target="../media/image12.png"/><Relationship Id="rId1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9.xml"/><Relationship Id="rId2" Type="http://schemas.openxmlformats.org/officeDocument/2006/relationships/image" Target="../media/image12.png"/><Relationship Id="rId1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image" Target="../media/image19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770138"/>
            <a:ext cx="12192000" cy="2824439"/>
          </a:xfrm>
          <a:prstGeom prst="rect">
            <a:avLst/>
          </a:prstGeom>
          <a:solidFill>
            <a:srgbClr val="1D77C9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 w="18000">
                  <a:solidFill>
                    <a:srgbClr val="C0504D">
                      <a:satMod val="140000"/>
                    </a:srgb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endParaRPr kumimoji="0" lang="zh-CN" altLang="en-US" sz="1800" b="1" i="0" u="none" strike="noStrike" kern="0" cap="none" spc="0" normalizeH="0" baseline="0" noProof="0" dirty="0">
              <a:ln w="18000">
                <a:solidFill>
                  <a:srgbClr val="C0504D">
                    <a:satMod val="140000"/>
                  </a:srgb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345829" y="2721057"/>
            <a:ext cx="10741269" cy="1802748"/>
          </a:xfrm>
        </p:spPr>
        <p:txBody>
          <a:bodyPr>
            <a:normAutofit fontScale="90000"/>
          </a:bodyPr>
          <a:lstStyle/>
          <a:p>
            <a:br>
              <a:rPr lang="en-US" altLang="zh-CN" dirty="0"/>
            </a:br>
            <a:r>
              <a:rPr lang="en-US" altLang="zh-CN" dirty="0"/>
              <a:t>      </a:t>
            </a:r>
            <a:r>
              <a:rPr lang="en-US" altLang="zh-CN" dirty="0"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Multi cycle MIPS CPU (Microprogram Controller) </a:t>
            </a:r>
            <a:br>
              <a:rPr lang="en-US" altLang="zh-CN" dirty="0"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Box 5" hidden="1"/>
          <p:cNvSpPr txBox="1">
            <a:spLocks noChangeArrowheads="1"/>
          </p:cNvSpPr>
          <p:nvPr/>
        </p:nvSpPr>
        <p:spPr bwMode="auto">
          <a:xfrm>
            <a:off x="3463925" y="1954214"/>
            <a:ext cx="19431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8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点击添加文本</a:t>
            </a:r>
            <a:endParaRPr lang="zh-CN" altLang="en-US" sz="18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363" name="矩形 6" hidden="1"/>
          <p:cNvSpPr>
            <a:spLocks noChangeArrowheads="1"/>
          </p:cNvSpPr>
          <p:nvPr/>
        </p:nvSpPr>
        <p:spPr bwMode="auto">
          <a:xfrm>
            <a:off x="3463926" y="3025776"/>
            <a:ext cx="14716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8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点击添加文本</a:t>
            </a:r>
            <a:endParaRPr lang="zh-CN" altLang="en-US" sz="18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364" name="矩形 7" hidden="1"/>
          <p:cNvSpPr>
            <a:spLocks noChangeArrowheads="1"/>
          </p:cNvSpPr>
          <p:nvPr/>
        </p:nvSpPr>
        <p:spPr bwMode="auto">
          <a:xfrm>
            <a:off x="3535363" y="4240213"/>
            <a:ext cx="1471612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8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点击添加文本</a:t>
            </a:r>
            <a:endParaRPr lang="zh-CN" altLang="en-US" sz="18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365" name="矩形 8" hidden="1"/>
          <p:cNvSpPr>
            <a:spLocks noChangeArrowheads="1"/>
          </p:cNvSpPr>
          <p:nvPr/>
        </p:nvSpPr>
        <p:spPr bwMode="auto">
          <a:xfrm>
            <a:off x="3535363" y="5526088"/>
            <a:ext cx="1471612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8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点击添加文本</a:t>
            </a:r>
            <a:endParaRPr lang="zh-CN" altLang="en-US" sz="18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942369" y="779271"/>
            <a:ext cx="83072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b="1" dirty="0">
                <a:solidFill>
                  <a:prstClr val="black"/>
                </a:solidFill>
                <a:effectLst>
                  <a:outerShdw blurRad="457200" dist="50800" dir="5400000" algn="ctr" rotWithShape="0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FSM(Finite state machine)</a:t>
            </a:r>
            <a:r>
              <a:rPr lang="zh-CN" altLang="en-US" b="1" dirty="0">
                <a:solidFill>
                  <a:prstClr val="black"/>
                </a:solidFill>
                <a:effectLst>
                  <a:outerShdw blurRad="457200" dist="50800" dir="5400000" algn="ctr" rotWithShape="0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：</a:t>
            </a:r>
            <a:r>
              <a:rPr lang="en-US" altLang="zh-CN" b="1" dirty="0">
                <a:solidFill>
                  <a:prstClr val="black"/>
                </a:solidFill>
                <a:effectLst>
                  <a:outerShdw blurRad="457200" dist="50800" dir="5400000" algn="ctr" rotWithShape="0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Status register</a:t>
            </a:r>
            <a:r>
              <a:rPr lang="zh-CN" altLang="en-US" b="1" dirty="0">
                <a:solidFill>
                  <a:prstClr val="black"/>
                </a:solidFill>
                <a:effectLst>
                  <a:outerShdw blurRad="457200" dist="50800" dir="5400000" algn="ctr" rotWithShape="0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，</a:t>
            </a:r>
            <a:r>
              <a:rPr lang="en-US" altLang="zh-CN" b="1" dirty="0">
                <a:solidFill>
                  <a:prstClr val="black"/>
                </a:solidFill>
                <a:effectLst>
                  <a:outerShdw blurRad="457200" dist="50800" dir="5400000" algn="ctr" rotWithShape="0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State transition  Combined circuit</a:t>
            </a:r>
            <a:r>
              <a:rPr lang="zh-CN" altLang="en-US" b="1" dirty="0">
                <a:solidFill>
                  <a:prstClr val="black"/>
                </a:solidFill>
                <a:effectLst>
                  <a:outerShdw blurRad="457200" dist="50800" dir="5400000" algn="ctr" rotWithShape="0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，</a:t>
            </a:r>
            <a:r>
              <a:rPr lang="en-US" altLang="zh-CN" b="1" dirty="0">
                <a:solidFill>
                  <a:prstClr val="black"/>
                </a:solidFill>
                <a:effectLst>
                  <a:outerShdw blurRad="457200" dist="50800" dir="5400000" algn="ctr" rotWithShape="0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Output  Combined circuit</a:t>
            </a:r>
            <a:r>
              <a:rPr lang="zh-CN" altLang="en-US" b="1" dirty="0">
                <a:solidFill>
                  <a:prstClr val="black"/>
                </a:solidFill>
                <a:effectLst>
                  <a:outerShdw blurRad="457200" dist="50800" dir="5400000" algn="ctr" rotWithShape="0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；</a:t>
            </a:r>
            <a:endParaRPr lang="zh-CN" altLang="en-US" b="1" dirty="0">
              <a:solidFill>
                <a:prstClr val="black"/>
              </a:solidFill>
              <a:effectLst>
                <a:outerShdw blurRad="457200" dist="50800" dir="5400000" algn="ctr" rotWithShape="0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960110" y="1805397"/>
            <a:ext cx="7200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第一类，若输出逻辑只和状态有关而与输入无关，则称为</a:t>
            </a:r>
            <a:r>
              <a:rPr lang="en-US" altLang="zh-CN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Moore</a:t>
            </a:r>
            <a:r>
              <a:rPr lang="zh-CN" altLang="en-US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状态机</a:t>
            </a:r>
            <a:endParaRPr lang="zh-CN" altLang="en-US" sz="1600" b="1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第二类，输出逻辑不仅和状态有关而且和输入有关系，则称为</a:t>
            </a:r>
            <a:r>
              <a:rPr lang="en-US" altLang="zh-CN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Mealy</a:t>
            </a:r>
            <a:r>
              <a:rPr lang="zh-CN" altLang="en-US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状态机</a:t>
            </a:r>
            <a:endParaRPr lang="zh-CN" altLang="en-US" sz="1600" b="1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4569" y="2497659"/>
            <a:ext cx="7862862" cy="3199606"/>
          </a:xfrm>
          <a:prstGeom prst="rect">
            <a:avLst/>
          </a:prstGeom>
          <a:effectLst>
            <a:outerShdw algn="ctr" rotWithShape="0">
              <a:srgbClr val="000000">
                <a:alpha val="43137"/>
              </a:srgbClr>
            </a:outerShdw>
          </a:effectLst>
        </p:spPr>
      </p:pic>
      <p:sp>
        <p:nvSpPr>
          <p:cNvPr id="4" name="矩形 3"/>
          <p:cNvSpPr/>
          <p:nvPr/>
        </p:nvSpPr>
        <p:spPr>
          <a:xfrm>
            <a:off x="3503713" y="3645024"/>
            <a:ext cx="710451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转 换</a:t>
            </a:r>
            <a:endParaRPr lang="zh-CN" altLang="en-US" b="1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680176" y="4671144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组合逻辑电路</a:t>
            </a:r>
            <a:endParaRPr lang="zh-CN" altLang="en-US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74107" y="4671144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组合逻辑电路</a:t>
            </a:r>
            <a:endParaRPr lang="zh-CN" altLang="en-US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330405" y="5620087"/>
            <a:ext cx="15311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Moore</a:t>
            </a:r>
            <a:r>
              <a:rPr lang="zh-CN" altLang="en-US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状态机</a:t>
            </a:r>
            <a:endParaRPr lang="zh-CN" altLang="en-US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>
            <p:custDataLst>
              <p:tags r:id="rId1"/>
            </p:custDataLst>
          </p:nvPr>
        </p:nvSpPr>
        <p:spPr>
          <a:xfrm>
            <a:off x="1219200" y="1462723"/>
            <a:ext cx="919670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以下哪一种状态机，其输出逻辑只和状态有关而与输入无关？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2"/>
            </p:custDataLst>
          </p:nvPr>
        </p:nvSpPr>
        <p:spPr>
          <a:xfrm>
            <a:off x="2438400" y="2863691"/>
            <a:ext cx="2321306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Moore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状态机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00FF0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4"/>
            </p:custDataLst>
          </p:nvPr>
        </p:nvSpPr>
        <p:spPr>
          <a:xfrm>
            <a:off x="2438400" y="4578191"/>
            <a:ext cx="2225993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Mealy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状态机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5" name="椭圆 14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矩形: 圆角 15"/>
          <p:cNvSpPr/>
          <p:nvPr>
            <p:custDataLst>
              <p:tags r:id="rId6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0" name="组合 9"/>
          <p:cNvGrpSpPr/>
          <p:nvPr>
            <p:custDataLst>
              <p:tags r:id="rId7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6" name="TitleBackground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ColorBlock"/>
            <p:cNvSpPr/>
            <p:nvPr>
              <p:custDataLst>
                <p:tags r:id="rId9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TypeText"/>
            <p:cNvSpPr txBox="1"/>
            <p:nvPr>
              <p:custDataLst>
                <p:tags r:id="rId10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9" name="TipText"/>
            <p:cNvSpPr txBox="1"/>
            <p:nvPr>
              <p:custDataLst>
                <p:tags r:id="rId11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5" name="图片 4"/>
          <p:cNvPicPr/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74062" y="0"/>
            <a:ext cx="3595331" cy="977401"/>
          </a:xfrm>
        </p:spPr>
        <p:txBody>
          <a:bodyPr/>
          <a:lstStyle/>
          <a:p>
            <a:r>
              <a:rPr lang="zh-CN" altLang="en-US" b="1" dirty="0">
                <a:latin typeface="隶书" panose="02010509060101010101" charset="-122"/>
                <a:ea typeface="隶书" panose="02010509060101010101" charset="-122"/>
              </a:rPr>
              <a:t>设计内容</a:t>
            </a:r>
            <a:endParaRPr lang="zh-CN" altLang="en-US" b="1" dirty="0"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4958" y="977401"/>
            <a:ext cx="4813343" cy="5411483"/>
          </a:xfrm>
          <a:solidFill>
            <a:schemeClr val="bg2"/>
          </a:solidFill>
          <a:effectLst>
            <a:outerShdw blurRad="546100" dist="50800" dir="5400000" algn="ctr" rotWithShape="0">
              <a:srgbClr val="000000">
                <a:alpha val="43137"/>
              </a:srgbClr>
            </a:outerShdw>
          </a:effectLst>
        </p:spPr>
        <p:txBody>
          <a:bodyPr numCol="1">
            <a:normAutofit fontScale="47500" lnSpcReduction="20000"/>
          </a:bodyPr>
          <a:lstStyle/>
          <a:p>
            <a:pPr lvl="0">
              <a:lnSpc>
                <a:spcPct val="150000"/>
              </a:lnSpc>
            </a:pPr>
            <a:r>
              <a:rPr lang="en-US" altLang="zh-CN" sz="3200" dirty="0">
                <a:solidFill>
                  <a:prstClr val="black"/>
                </a:solidFill>
                <a:effectLst>
                  <a:outerShdw blurRad="838200" dist="50800" dir="5400000" algn="ctr" rotWithShape="0">
                    <a:srgbClr val="4472C4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MOOC</a:t>
            </a:r>
            <a:r>
              <a:rPr lang="zh-CN" altLang="en-US" sz="3200" dirty="0">
                <a:solidFill>
                  <a:prstClr val="black"/>
                </a:solidFill>
                <a:effectLst>
                  <a:outerShdw blurRad="838200" dist="50800" dir="5400000" algn="ctr" rotWithShape="0">
                    <a:srgbClr val="4472C4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altLang="zh-CN" sz="3400" dirty="0">
                <a:solidFill>
                  <a:srgbClr val="333333"/>
                </a:solidFill>
                <a:effectLst>
                  <a:outerShdw blurRad="838200" dist="50800" dir="5400000" algn="ctr" rotWithShape="0">
                    <a:srgbClr val="4472C4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Computer Hardware System Design</a:t>
            </a:r>
            <a:r>
              <a:rPr lang="zh-CN" altLang="en-US" sz="3200" dirty="0">
                <a:solidFill>
                  <a:prstClr val="black"/>
                </a:solidFill>
                <a:effectLst>
                  <a:outerShdw blurRad="838200" dist="50800" dir="5400000" algn="ctr" rotWithShape="0">
                    <a:srgbClr val="4472C4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endParaRPr lang="en-US" altLang="zh-CN" sz="3200" dirty="0">
              <a:solidFill>
                <a:prstClr val="black"/>
              </a:solidFill>
              <a:effectLst>
                <a:outerShdw blurRad="838200" dist="50800" dir="5400000" algn="ctr" rotWithShape="0">
                  <a:srgbClr val="4472C4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dirty="0"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6.1 Single cycle MIPS architecture</a:t>
            </a:r>
            <a:r>
              <a:rPr lang="zh-CN" altLang="en-US" dirty="0">
                <a:solidFill>
                  <a:schemeClr val="tx2"/>
                </a:solidFill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solidFill>
                  <a:schemeClr val="tx2"/>
                </a:solidFill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Review</a:t>
            </a:r>
            <a:r>
              <a:rPr lang="zh-CN" altLang="en-US" dirty="0">
                <a:solidFill>
                  <a:schemeClr val="tx2"/>
                </a:solidFill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dirty="0">
              <a:solidFill>
                <a:schemeClr val="tx2"/>
              </a:solidFill>
              <a:effectLst>
                <a:outerShdw blurRad="838200" dist="50800" dir="5400000" algn="ctr" rotWithShape="0">
                  <a:schemeClr val="accent5">
                    <a:alpha val="43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b="1" dirty="0">
                <a:solidFill>
                  <a:schemeClr val="accent5"/>
                </a:solidFill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6.2 Multi cycle MIPS architecture</a:t>
            </a:r>
            <a:endParaRPr lang="en-US" altLang="zh-CN" b="1" dirty="0">
              <a:solidFill>
                <a:schemeClr val="accent5"/>
              </a:solidFill>
              <a:effectLst>
                <a:outerShdw blurRad="838200" dist="50800" dir="5400000" algn="ctr" rotWithShape="0">
                  <a:schemeClr val="accent5">
                    <a:alpha val="43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dirty="0"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6.3 Single cycle MIPS CPU design (8 instructions)</a:t>
            </a:r>
            <a:r>
              <a:rPr lang="zh-CN" altLang="en-US" dirty="0">
                <a:solidFill>
                  <a:schemeClr val="tx2"/>
                </a:solidFill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solidFill>
                  <a:schemeClr val="tx2"/>
                </a:solidFill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Review</a:t>
            </a:r>
            <a:r>
              <a:rPr lang="zh-CN" altLang="en-US" dirty="0">
                <a:solidFill>
                  <a:schemeClr val="tx2"/>
                </a:solidFill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dirty="0">
              <a:solidFill>
                <a:schemeClr val="tx2"/>
              </a:solidFill>
              <a:effectLst>
                <a:outerShdw blurRad="838200" dist="50800" dir="5400000" algn="ctr" rotWithShape="0">
                  <a:schemeClr val="accent5">
                    <a:alpha val="43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solidFill>
                  <a:schemeClr val="accent5"/>
                </a:solidFill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solidFill>
                  <a:schemeClr val="accent5"/>
                </a:solidFill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dirty="0">
                <a:solidFill>
                  <a:schemeClr val="accent5"/>
                </a:solidFill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dirty="0">
                <a:solidFill>
                  <a:schemeClr val="accent5"/>
                </a:solidFill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6.4 Multi cycle MIPS CPU (Microprogram Controller) Design</a:t>
            </a:r>
            <a:endParaRPr lang="en-US" altLang="zh-CN" dirty="0">
              <a:solidFill>
                <a:schemeClr val="accent5"/>
              </a:solidFill>
              <a:effectLst>
                <a:outerShdw blurRad="838200" dist="50800" dir="5400000" algn="ctr" rotWithShape="0">
                  <a:schemeClr val="accent5">
                    <a:alpha val="43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900" dirty="0">
                <a:solidFill>
                  <a:schemeClr val="accent5"/>
                </a:solidFill>
                <a:effectLst>
                  <a:outerShdw blurRad="838200" dist="50800" dir="5400000" algn="ctr" rotWithShape="0">
                    <a:srgbClr val="4472C4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hlinkClick r:id="rId1"/>
              </a:rPr>
              <a:t>    https://www.icourse163.org/course/HUST-1205809816</a:t>
            </a:r>
            <a:endParaRPr lang="en-US" altLang="zh-CN" sz="3200" dirty="0">
              <a:solidFill>
                <a:schemeClr val="accent5"/>
              </a:solidFill>
              <a:effectLst>
                <a:outerShdw blurRad="838200" dist="50800" dir="5400000" algn="ctr" rotWithShape="0">
                  <a:srgbClr val="4472C4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3600" dirty="0">
                <a:solidFill>
                  <a:prstClr val="black"/>
                </a:solidFill>
                <a:effectLst>
                  <a:outerShdw blurRad="838200" dist="50800" dir="5400000" algn="ctr" rotWithShape="0">
                    <a:srgbClr val="4472C4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MOOC</a:t>
            </a:r>
            <a:r>
              <a:rPr lang="zh-CN" altLang="en-US" sz="3600" dirty="0">
                <a:solidFill>
                  <a:prstClr val="black"/>
                </a:solidFill>
                <a:effectLst>
                  <a:outerShdw blurRad="838200" dist="50800" dir="5400000" algn="ctr" rotWithShape="0">
                    <a:srgbClr val="4472C4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altLang="zh-CN" sz="4000" dirty="0"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Computer composition</a:t>
            </a:r>
            <a:r>
              <a:rPr lang="zh-CN" altLang="en-US" sz="3600" dirty="0">
                <a:solidFill>
                  <a:prstClr val="black"/>
                </a:solidFill>
                <a:effectLst>
                  <a:outerShdw blurRad="838200" dist="50800" dir="5400000" algn="ctr" rotWithShape="0">
                    <a:srgbClr val="4472C4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endParaRPr lang="en-US" altLang="zh-CN" sz="3600" dirty="0">
              <a:solidFill>
                <a:prstClr val="black"/>
              </a:solidFill>
              <a:effectLst>
                <a:outerShdw blurRad="838200" dist="50800" dir="5400000" algn="ctr" rotWithShape="0">
                  <a:srgbClr val="4472C4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solidFill>
                  <a:schemeClr val="accent5"/>
                </a:solidFill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solidFill>
                  <a:schemeClr val="accent5"/>
                </a:solidFill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solidFill>
                  <a:schemeClr val="accent5"/>
                </a:solidFill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dirty="0">
                <a:solidFill>
                  <a:schemeClr val="accent5"/>
                </a:solidFill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6.2   Data path design</a:t>
            </a:r>
            <a:endParaRPr lang="en-US" altLang="zh-CN" dirty="0">
              <a:solidFill>
                <a:schemeClr val="accent5"/>
              </a:solidFill>
              <a:effectLst>
                <a:outerShdw blurRad="838200" dist="50800" dir="5400000" algn="ctr" rotWithShape="0">
                  <a:schemeClr val="accent5">
                    <a:alpha val="43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solidFill>
                  <a:schemeClr val="accent5"/>
                </a:solidFill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solidFill>
                  <a:schemeClr val="accent5"/>
                </a:solidFill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solidFill>
                  <a:schemeClr val="accent5"/>
                </a:solidFill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dirty="0">
                <a:solidFill>
                  <a:schemeClr val="accent5"/>
                </a:solidFill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6.10 Microprogram controller</a:t>
            </a:r>
            <a:endParaRPr lang="en-US" altLang="zh-CN" dirty="0">
              <a:solidFill>
                <a:schemeClr val="accent5"/>
              </a:solidFill>
              <a:effectLst>
                <a:outerShdw blurRad="838200" dist="50800" dir="5400000" algn="ctr" rotWithShape="0">
                  <a:schemeClr val="accent5">
                    <a:alpha val="43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solidFill>
                  <a:schemeClr val="accent5"/>
                </a:solidFill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solidFill>
                  <a:schemeClr val="accent5"/>
                </a:solidFill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solidFill>
                  <a:schemeClr val="accent5"/>
                </a:solidFill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dirty="0">
                <a:solidFill>
                  <a:schemeClr val="accent5"/>
                </a:solidFill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6.11 Microprogram design</a:t>
            </a:r>
            <a:endParaRPr lang="en-US" altLang="zh-CN" dirty="0">
              <a:solidFill>
                <a:schemeClr val="accent5"/>
              </a:solidFill>
              <a:effectLst>
                <a:outerShdw blurRad="838200" dist="50800" dir="5400000" algn="ctr" rotWithShape="0">
                  <a:schemeClr val="accent5">
                    <a:alpha val="43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solidFill>
                  <a:schemeClr val="accent5"/>
                </a:solidFill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solidFill>
                  <a:schemeClr val="accent5"/>
                </a:solidFill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dirty="0">
                <a:solidFill>
                  <a:schemeClr val="accent5"/>
                </a:solidFill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dirty="0">
                <a:solidFill>
                  <a:schemeClr val="accent5"/>
                </a:solidFill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6.12 Microprogram instruction Format</a:t>
            </a:r>
            <a:endParaRPr lang="en-US" altLang="zh-CN" dirty="0">
              <a:solidFill>
                <a:schemeClr val="accent5"/>
              </a:solidFill>
              <a:effectLst>
                <a:outerShdw blurRad="838200" dist="50800" dir="5400000" algn="ctr" rotWithShape="0">
                  <a:schemeClr val="accent5">
                    <a:alpha val="43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900" dirty="0">
                <a:solidFill>
                  <a:prstClr val="black"/>
                </a:solidFill>
                <a:effectLst>
                  <a:outerShdw blurRad="838200" dist="50800" dir="5400000" algn="ctr" rotWithShape="0">
                    <a:srgbClr val="4472C4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1900" dirty="0">
                <a:solidFill>
                  <a:prstClr val="black"/>
                </a:solidFill>
                <a:effectLst>
                  <a:outerShdw blurRad="838200" dist="50800" dir="5400000" algn="ctr" rotWithShape="0">
                    <a:srgbClr val="4472C4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https://www.icourse163.org/learn/HUST-1003159001</a:t>
            </a:r>
            <a:r>
              <a:rPr lang="zh-CN" altLang="en-US" sz="1900" dirty="0">
                <a:solidFill>
                  <a:prstClr val="black"/>
                </a:solidFill>
                <a:effectLst>
                  <a:outerShdw blurRad="838200" dist="50800" dir="5400000" algn="ctr" rotWithShape="0">
                    <a:srgbClr val="4472C4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 </a:t>
            </a:r>
            <a:endParaRPr lang="en-US" altLang="zh-CN" sz="1900" dirty="0">
              <a:solidFill>
                <a:prstClr val="black"/>
              </a:solidFill>
              <a:effectLst>
                <a:outerShdw blurRad="838200" dist="50800" dir="5400000" algn="ctr" rotWithShape="0">
                  <a:srgbClr val="4472C4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3800" dirty="0">
              <a:effectLst>
                <a:outerShdw blurRad="469900" dist="50800" dir="5400000" algn="ctr" rotWithShape="0">
                  <a:srgbClr val="000000">
                    <a:alpha val="36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3800" dirty="0">
              <a:effectLst>
                <a:outerShdw blurRad="469900" dist="50800" dir="5400000" algn="ctr" rotWithShape="0">
                  <a:srgbClr val="000000">
                    <a:alpha val="36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3800" dirty="0">
              <a:effectLst>
                <a:outerShdw blurRad="469900" dist="50800" dir="5400000" algn="ctr" rotWithShape="0">
                  <a:srgbClr val="000000">
                    <a:alpha val="36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buNone/>
            </a:pPr>
            <a:endParaRPr lang="zh-CN" altLang="en-US" sz="2700" dirty="0">
              <a:effectLst>
                <a:outerShdw blurRad="469900" dist="50800" dir="5400000" algn="ctr" rotWithShape="0">
                  <a:srgbClr val="000000">
                    <a:alpha val="36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642077" y="3173183"/>
            <a:ext cx="3424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cpu-EduCoder-3-23.circ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5707" y="3580829"/>
            <a:ext cx="2662069" cy="2115395"/>
          </a:xfrm>
          <a:prstGeom prst="rect">
            <a:avLst/>
          </a:prstGeom>
          <a:effectLst>
            <a:outerShdw blurRad="241300" dist="50800" dir="5400000" algn="ctr" rotWithShape="0">
              <a:srgbClr val="000000">
                <a:alpha val="43137"/>
              </a:srgbClr>
            </a:outerShdw>
          </a:effectLst>
        </p:spPr>
      </p:pic>
      <p:sp>
        <p:nvSpPr>
          <p:cNvPr id="12" name="圆角矩形 11"/>
          <p:cNvSpPr/>
          <p:nvPr/>
        </p:nvSpPr>
        <p:spPr>
          <a:xfrm>
            <a:off x="7194797" y="4153114"/>
            <a:ext cx="1804060" cy="57166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+mn-ea"/>
              <a:cs typeface="+mn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651372" y="1101756"/>
            <a:ext cx="6155670" cy="1947071"/>
          </a:xfrm>
          <a:prstGeom prst="rect">
            <a:avLst/>
          </a:prstGeom>
          <a:solidFill>
            <a:schemeClr val="bg2"/>
          </a:solidFill>
          <a:effectLst>
            <a:outerShdw blurRad="546100" dist="50800" dir="5400000" algn="ctr" rotWithShape="0">
              <a:schemeClr val="accent5">
                <a:alpha val="43000"/>
              </a:schemeClr>
            </a:outerShdw>
          </a:effectLst>
        </p:spPr>
        <p:txBody>
          <a:bodyPr wrap="square">
            <a:spAutoFit/>
          </a:bodyPr>
          <a:lstStyle/>
          <a:p>
            <a:pPr algn="l" rtl="0"/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Circuit design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indent="-342900">
              <a:lnSpc>
                <a:spcPct val="150000"/>
              </a:lnSpc>
              <a:buFontTx/>
              <a:buAutoNum type="arabicParenBoth"/>
              <a:defRPr/>
            </a:pPr>
            <a:r>
              <a:rPr lang="en-US" altLang="zh-CN" sz="1400" dirty="0"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Sports watch</a:t>
            </a:r>
            <a:endParaRPr lang="en-US" altLang="zh-CN" sz="1400" dirty="0">
              <a:effectLst>
                <a:outerShdw blurRad="838200" dist="50800" dir="5400000" algn="ctr" rotWithShape="0">
                  <a:schemeClr val="accent5">
                    <a:alpha val="43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Tx/>
              <a:buAutoNum type="arabicParenBoth"/>
              <a:defRPr/>
            </a:pPr>
            <a:r>
              <a:rPr lang="en-US" altLang="zh-CN" sz="1400" dirty="0"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Single cycle MIPS CPU (8+3 instructions)</a:t>
            </a:r>
            <a:endParaRPr lang="en-US" altLang="zh-CN" sz="1400" dirty="0">
              <a:effectLst>
                <a:outerShdw blurRad="838200" dist="50800" dir="5400000" algn="ctr" rotWithShape="0">
                  <a:schemeClr val="accent5">
                    <a:alpha val="43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buClrTx/>
              <a:buSzTx/>
              <a:buFontTx/>
              <a:buAutoNum type="arabicParenBoth"/>
              <a:defRPr/>
            </a:pPr>
            <a:r>
              <a:rPr lang="en-US" altLang="zh-CN" sz="1400" b="1" dirty="0">
                <a:solidFill>
                  <a:schemeClr val="accent5"/>
                </a:solidFill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Multi cycle MIPS CPU (Microprogram Controller, 8 instructions) </a:t>
            </a:r>
            <a:endParaRPr lang="en-US" altLang="zh-CN" sz="1400" b="1" dirty="0">
              <a:solidFill>
                <a:schemeClr val="accent5"/>
              </a:solidFill>
              <a:effectLst>
                <a:outerShdw blurRad="838200" dist="50800" dir="5400000" algn="ctr" rotWithShape="0">
                  <a:schemeClr val="accent5">
                    <a:alpha val="43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buClrTx/>
              <a:buSzTx/>
              <a:buFontTx/>
              <a:buAutoNum type="arabicParenBoth"/>
              <a:defRPr/>
            </a:pPr>
            <a:r>
              <a:rPr lang="en-US" altLang="zh-CN" sz="1400" dirty="0"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Multi cycle MIPS CPU (Hardwired Controller, 8 instructions) </a:t>
            </a:r>
            <a:endParaRPr lang="en-US" altLang="zh-CN" sz="1400" dirty="0">
              <a:effectLst>
                <a:outerShdw blurRad="838200" dist="50800" dir="5400000" algn="ctr" rotWithShape="0">
                  <a:schemeClr val="accent5">
                    <a:alpha val="43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Aft>
                <a:spcPts val="0"/>
              </a:spcAft>
              <a:buClrTx/>
              <a:buSzTx/>
              <a:buFontTx/>
              <a:buAutoNum type="arabicParenBoth"/>
              <a:defRPr/>
            </a:pPr>
            <a:r>
              <a:rPr lang="en-US" altLang="zh-CN" sz="1400" dirty="0">
                <a:effectLst>
                  <a:outerShdw blurRad="838200" dist="50800" dir="5400000" algn="ctr" rotWithShape="0">
                    <a:schemeClr val="accent5">
                      <a:alpha val="43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Single cycle MIPS CPU (24 instructions)</a:t>
            </a:r>
            <a:endParaRPr lang="en-US" altLang="zh-CN" sz="1400" dirty="0">
              <a:effectLst>
                <a:outerShdw blurRad="838200" dist="50800" dir="5400000" algn="ctr" rotWithShape="0">
                  <a:schemeClr val="accent5">
                    <a:alpha val="43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757613" y="0"/>
            <a:ext cx="6967537" cy="959980"/>
          </a:xfrm>
        </p:spPr>
        <p:txBody>
          <a:bodyPr>
            <a:normAutofit/>
          </a:bodyPr>
          <a:lstStyle/>
          <a:p>
            <a:r>
              <a:rPr lang="zh-CN" altLang="en-US" sz="2400" b="1" dirty="0">
                <a:solidFill>
                  <a:schemeClr val="tx2"/>
                </a:solidFill>
              </a:rPr>
              <a:t>多周期微程序</a:t>
            </a:r>
            <a:r>
              <a:rPr lang="en-US" altLang="zh-CN" sz="2400" b="1" dirty="0">
                <a:solidFill>
                  <a:schemeClr val="tx2"/>
                </a:solidFill>
              </a:rPr>
              <a:t>MIPS CPU</a:t>
            </a:r>
            <a:r>
              <a:rPr lang="zh-CN" altLang="en-US" sz="2400" b="1" dirty="0">
                <a:solidFill>
                  <a:schemeClr val="tx2"/>
                </a:solidFill>
              </a:rPr>
              <a:t>设计任务书：</a:t>
            </a:r>
            <a:endParaRPr lang="zh-CN" altLang="en-US" sz="2400" b="1" dirty="0">
              <a:solidFill>
                <a:schemeClr val="tx2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2508" y="1061619"/>
            <a:ext cx="11909777" cy="5458178"/>
          </a:xfrm>
          <a:solidFill>
            <a:schemeClr val="bg2"/>
          </a:solidFill>
          <a:effectLst>
            <a:outerShdw blurRad="596900" dist="50800" dir="5400000" algn="ctr" rotWithShape="0">
              <a:srgbClr val="000000">
                <a:alpha val="43137"/>
              </a:srgbClr>
            </a:outerShdw>
          </a:effectLst>
        </p:spPr>
        <p:txBody>
          <a:bodyPr>
            <a:normAutofit lnSpcReduction="10000"/>
          </a:bodyPr>
          <a:lstStyle/>
          <a:p>
            <a:pPr lvl="0" indent="0">
              <a:lnSpc>
                <a:spcPct val="120000"/>
              </a:lnSpc>
            </a:pPr>
            <a:r>
              <a:rPr lang="en-US" altLang="zh-CN" sz="1800" dirty="0">
                <a:effectLst>
                  <a:outerShdw blurRad="723900" dist="50800" dir="5400000" algn="ctr" rotWithShape="0">
                    <a:srgbClr val="000000">
                      <a:alpha val="43137"/>
                    </a:srgbClr>
                  </a:outerShdw>
                </a:effectLst>
              </a:rPr>
              <a:t>Master the data path of each instruction (8 instructions) in a multi cycle MIPS CPU;</a:t>
            </a:r>
            <a:endParaRPr lang="zh-CN" altLang="zh-CN" sz="1800" dirty="0">
              <a:effectLst>
                <a:outerShdw blurRad="723900" dist="50800" dir="5400000" algn="ctr" rotWithShape="0">
                  <a:srgbClr val="000000">
                    <a:alpha val="43137"/>
                  </a:srgbClr>
                </a:outerShdw>
              </a:effectLst>
            </a:endParaRPr>
          </a:p>
          <a:p>
            <a:pPr lvl="0" indent="0">
              <a:lnSpc>
                <a:spcPct val="120000"/>
              </a:lnSpc>
            </a:pPr>
            <a:r>
              <a:rPr lang="en-US" altLang="zh-CN" sz="2000" dirty="0">
                <a:effectLst>
                  <a:outerShdw blurRad="723900" dist="50800" dir="5400000" algn="ctr" rotWithShape="0">
                    <a:srgbClr val="000000">
                      <a:alpha val="43137"/>
                    </a:srgbClr>
                  </a:outerShdw>
                </a:effectLst>
              </a:rPr>
              <a:t>Master the basic principles of multi cycle MIPS CPU (8 instructions) and design microprogramming controller;</a:t>
            </a:r>
            <a:endParaRPr lang="en-US" altLang="zh-CN" sz="2000" dirty="0">
              <a:effectLst>
                <a:outerShdw blurRad="723900" dist="50800" dir="5400000" algn="ctr" rotWithShape="0">
                  <a:srgbClr val="000000">
                    <a:alpha val="43137"/>
                  </a:srgbClr>
                </a:outerShdw>
              </a:effectLst>
            </a:endParaRPr>
          </a:p>
          <a:p>
            <a:pPr lvl="0" indent="0">
              <a:lnSpc>
                <a:spcPct val="120000"/>
              </a:lnSpc>
            </a:pPr>
            <a:r>
              <a:rPr lang="en-US" altLang="zh-CN" sz="2000" dirty="0">
                <a:effectLst>
                  <a:outerShdw blurRad="723900" dist="50800" dir="5400000" algn="ctr" rotWithShape="0">
                    <a:srgbClr val="000000">
                      <a:alpha val="43137"/>
                    </a:srgbClr>
                  </a:outerShdw>
                </a:effectLst>
              </a:rPr>
              <a:t>Design and implement a multi cycle microprogram MIPS CPU with 8 instructions, including microprogram address transfer circuit, microprogram controller design, and CPU data path circuit </a:t>
            </a:r>
            <a:r>
              <a:rPr lang="en-US" altLang="zh-CN" sz="2000" dirty="0" err="1">
                <a:effectLst>
                  <a:outerShdw blurRad="723900" dist="50800" dir="5400000" algn="ctr" rotWithShape="0">
                    <a:srgbClr val="000000">
                      <a:alpha val="43137"/>
                    </a:srgbClr>
                  </a:outerShdw>
                </a:effectLst>
              </a:rPr>
              <a:t>design,Verificate</a:t>
            </a:r>
            <a:r>
              <a:rPr lang="en-US" altLang="zh-CN" sz="2000" dirty="0">
                <a:effectLst>
                  <a:outerShdw blurRad="723900" dist="50800" dir="5400000" algn="ctr" rotWithShape="0">
                    <a:srgbClr val="000000">
                      <a:alpha val="43137"/>
                    </a:srgbClr>
                  </a:outerShdw>
                </a:effectLst>
              </a:rPr>
              <a:t> on TOUGE platform.</a:t>
            </a:r>
            <a:endParaRPr lang="en-US" altLang="zh-CN" sz="2000" dirty="0">
              <a:effectLst>
                <a:outerShdw blurRad="723900" dist="50800" dir="5400000" algn="ctr" rotWithShape="0">
                  <a:srgbClr val="000000">
                    <a:alpha val="43137"/>
                  </a:srgbClr>
                </a:outerShdw>
              </a:effectLst>
            </a:endParaRPr>
          </a:p>
          <a:p>
            <a:pPr lvl="0" indent="0">
              <a:lnSpc>
                <a:spcPct val="120000"/>
              </a:lnSpc>
            </a:pPr>
            <a:r>
              <a:rPr lang="en-US" altLang="zh-CN" sz="2000" dirty="0">
                <a:effectLst>
                  <a:outerShdw blurRad="723900" dist="50800" dir="5400000" algn="ctr" rotWithShape="0">
                    <a:srgbClr val="000000">
                      <a:alpha val="43137"/>
                    </a:srgbClr>
                  </a:outerShdw>
                </a:effectLst>
              </a:rPr>
              <a:t>Test and run </a:t>
            </a:r>
            <a:r>
              <a:rPr lang="en-US" altLang="zh-CN" sz="2000" dirty="0" err="1">
                <a:effectLst>
                  <a:outerShdw blurRad="723900" dist="50800" dir="5400000" algn="ctr" rotWithShape="0">
                    <a:srgbClr val="000000">
                      <a:alpha val="43137"/>
                    </a:srgbClr>
                  </a:outerShdw>
                </a:effectLst>
              </a:rPr>
              <a:t>sort.hex</a:t>
            </a:r>
            <a:endParaRPr lang="en-US" altLang="zh-CN" sz="2000" dirty="0">
              <a:effectLst>
                <a:outerShdw blurRad="723900" dist="50800" dir="5400000" algn="ctr" rotWithShape="0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altLang="zh-CN" sz="2000" dirty="0"/>
              <a:t>Optional question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1. Change Microinstruction Format and Microprogram Flow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2. Implement verification and instructions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3. Implement verification </a:t>
            </a:r>
            <a:r>
              <a:rPr lang="en-US" altLang="zh-CN" sz="2000" dirty="0" err="1"/>
              <a:t>andi</a:t>
            </a:r>
            <a:r>
              <a:rPr lang="en-US" altLang="zh-CN" sz="2000" dirty="0"/>
              <a:t> instructions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4. Implement verification j instruction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400" dirty="0"/>
              <a:t>Other R</a:t>
            </a:r>
            <a:r>
              <a:rPr lang="zh-CN" altLang="en-US" sz="2400" dirty="0"/>
              <a:t>、</a:t>
            </a:r>
            <a:r>
              <a:rPr lang="en-US" altLang="zh-CN" sz="2400" dirty="0"/>
              <a:t>I</a:t>
            </a:r>
            <a:r>
              <a:rPr lang="zh-CN" altLang="en-US" sz="2400" dirty="0"/>
              <a:t>、</a:t>
            </a:r>
            <a:r>
              <a:rPr lang="en-US" altLang="zh-CN" sz="2400" dirty="0"/>
              <a:t>J type instructions can also be used</a:t>
            </a:r>
            <a:endParaRPr lang="en-US" altLang="zh-CN" sz="2400" dirty="0"/>
          </a:p>
          <a:p>
            <a:pPr lvl="0" indent="0">
              <a:lnSpc>
                <a:spcPct val="170000"/>
              </a:lnSpc>
            </a:pPr>
            <a:endParaRPr lang="zh-CN" altLang="en-US" sz="2000" dirty="0">
              <a:effectLst>
                <a:outerShdw blurRad="723900" dist="50800" dir="5400000" algn="ctr" rotWithShape="0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/>
              <a:t>MIPS</a:t>
            </a:r>
            <a:r>
              <a:rPr lang="zh-CN" altLang="en-US" b="1" dirty="0"/>
              <a:t>指令集</a:t>
            </a:r>
            <a:endParaRPr lang="zh-CN" altLang="en-US" b="1" dirty="0"/>
          </a:p>
        </p:txBody>
      </p:sp>
      <p:sp>
        <p:nvSpPr>
          <p:cNvPr id="3" name="椭圆 22"/>
          <p:cNvSpPr/>
          <p:nvPr/>
        </p:nvSpPr>
        <p:spPr>
          <a:xfrm>
            <a:off x="170389" y="1129852"/>
            <a:ext cx="2592763" cy="211223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4" name="TextBox 3"/>
          <p:cNvSpPr txBox="1"/>
          <p:nvPr/>
        </p:nvSpPr>
        <p:spPr>
          <a:xfrm>
            <a:off x="756453" y="1324292"/>
            <a:ext cx="2075184" cy="172335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373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373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</a:t>
            </a:r>
            <a:endParaRPr lang="en-US" altLang="zh-CN" sz="3735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373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</a:t>
            </a:r>
            <a:endParaRPr lang="en-US" altLang="zh-CN" sz="3735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373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</a:t>
            </a:r>
            <a:endParaRPr lang="zh-CN" altLang="en-US" sz="3735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47328" y="3340100"/>
            <a:ext cx="3744416" cy="0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39350" y="3821904"/>
            <a:ext cx="3360373" cy="14773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3200" b="1" dirty="0">
                <a:latin typeface="+mn-ea"/>
                <a:sym typeface="+mn-ea"/>
              </a:rPr>
              <a:t>R</a:t>
            </a:r>
            <a:r>
              <a:rPr lang="zh-CN" altLang="en-US" sz="3200" b="1" dirty="0">
                <a:latin typeface="+mn-ea"/>
                <a:sym typeface="+mn-ea"/>
              </a:rPr>
              <a:t>型指令：</a:t>
            </a:r>
            <a:r>
              <a:rPr lang="en-US" altLang="zh-CN" sz="3200" b="1" dirty="0">
                <a:latin typeface="+mn-ea"/>
                <a:sym typeface="+mn-ea"/>
              </a:rPr>
              <a:t>3</a:t>
            </a:r>
            <a:r>
              <a:rPr lang="zh-CN" altLang="en-US" sz="3200" b="1" dirty="0">
                <a:latin typeface="+mn-ea"/>
                <a:sym typeface="+mn-ea"/>
              </a:rPr>
              <a:t>条</a:t>
            </a:r>
            <a:endParaRPr lang="en-US" altLang="zh-CN" sz="3200" b="1" dirty="0">
              <a:latin typeface="+mn-ea"/>
            </a:endParaRPr>
          </a:p>
          <a:p>
            <a:r>
              <a:rPr lang="en-US" altLang="zh-CN" sz="3200" b="1" dirty="0">
                <a:latin typeface="+mn-ea"/>
              </a:rPr>
              <a:t>I</a:t>
            </a:r>
            <a:r>
              <a:rPr lang="zh-CN" altLang="en-US" sz="3200" b="1" dirty="0">
                <a:latin typeface="+mn-ea"/>
              </a:rPr>
              <a:t>型指令：</a:t>
            </a:r>
            <a:r>
              <a:rPr lang="en-US" altLang="zh-CN" sz="3200" b="1" dirty="0">
                <a:latin typeface="+mn-ea"/>
              </a:rPr>
              <a:t>5</a:t>
            </a:r>
            <a:r>
              <a:rPr lang="zh-CN" altLang="en-US" sz="3200" b="1" dirty="0">
                <a:latin typeface="+mn-ea"/>
              </a:rPr>
              <a:t>条</a:t>
            </a:r>
            <a:endParaRPr lang="en-US" altLang="zh-CN" sz="3200" b="1" dirty="0">
              <a:latin typeface="+mn-ea"/>
            </a:endParaRPr>
          </a:p>
          <a:p>
            <a:endParaRPr lang="en-US" altLang="zh-CN" sz="3200" b="1" dirty="0">
              <a:latin typeface="+mn-ea"/>
            </a:endParaRPr>
          </a:p>
        </p:txBody>
      </p:sp>
      <p:sp>
        <p:nvSpPr>
          <p:cNvPr id="30" name="KSO_Shape"/>
          <p:cNvSpPr/>
          <p:nvPr/>
        </p:nvSpPr>
        <p:spPr bwMode="auto">
          <a:xfrm>
            <a:off x="335360" y="184745"/>
            <a:ext cx="414352" cy="352888"/>
          </a:xfrm>
          <a:custGeom>
            <a:avLst/>
            <a:gdLst>
              <a:gd name="T0" fmla="*/ 432030 w 2125663"/>
              <a:gd name="T1" fmla="*/ 1344893 h 1811338"/>
              <a:gd name="T2" fmla="*/ 462740 w 2125663"/>
              <a:gd name="T3" fmla="*/ 1477960 h 1811338"/>
              <a:gd name="T4" fmla="*/ 513638 w 2125663"/>
              <a:gd name="T5" fmla="*/ 1557743 h 1811338"/>
              <a:gd name="T6" fmla="*/ 516481 w 2125663"/>
              <a:gd name="T7" fmla="*/ 1336346 h 1811338"/>
              <a:gd name="T8" fmla="*/ 503401 w 2125663"/>
              <a:gd name="T9" fmla="*/ 1310416 h 1811338"/>
              <a:gd name="T10" fmla="*/ 515913 w 2125663"/>
              <a:gd name="T11" fmla="*/ 1250009 h 1811338"/>
              <a:gd name="T12" fmla="*/ 618846 w 2125663"/>
              <a:gd name="T13" fmla="*/ 1242885 h 1811338"/>
              <a:gd name="T14" fmla="*/ 643583 w 2125663"/>
              <a:gd name="T15" fmla="*/ 1263116 h 1811338"/>
              <a:gd name="T16" fmla="*/ 642446 w 2125663"/>
              <a:gd name="T17" fmla="*/ 1324948 h 1811338"/>
              <a:gd name="T18" fmla="*/ 619414 w 2125663"/>
              <a:gd name="T19" fmla="*/ 1342899 h 1811338"/>
              <a:gd name="T20" fmla="*/ 664057 w 2125663"/>
              <a:gd name="T21" fmla="*/ 1524691 h 1811338"/>
              <a:gd name="T22" fmla="*/ 704434 w 2125663"/>
              <a:gd name="T23" fmla="*/ 1417553 h 1811338"/>
              <a:gd name="T24" fmla="*/ 725191 w 2125663"/>
              <a:gd name="T25" fmla="*/ 1259697 h 1811338"/>
              <a:gd name="T26" fmla="*/ 857412 w 2125663"/>
              <a:gd name="T27" fmla="*/ 1192451 h 1811338"/>
              <a:gd name="T28" fmla="*/ 923096 w 2125663"/>
              <a:gd name="T29" fmla="*/ 1212682 h 1811338"/>
              <a:gd name="T30" fmla="*/ 970013 w 2125663"/>
              <a:gd name="T31" fmla="*/ 1259697 h 1811338"/>
              <a:gd name="T32" fmla="*/ 990201 w 2125663"/>
              <a:gd name="T33" fmla="*/ 1325233 h 1811338"/>
              <a:gd name="T34" fmla="*/ 980818 w 2125663"/>
              <a:gd name="T35" fmla="*/ 1537228 h 1811338"/>
              <a:gd name="T36" fmla="*/ 935891 w 2125663"/>
              <a:gd name="T37" fmla="*/ 1570566 h 1811338"/>
              <a:gd name="T38" fmla="*/ 798837 w 2125663"/>
              <a:gd name="T39" fmla="*/ 1607608 h 1811338"/>
              <a:gd name="T40" fmla="*/ 617424 w 2125663"/>
              <a:gd name="T41" fmla="*/ 1622140 h 1811338"/>
              <a:gd name="T42" fmla="*/ 428049 w 2125663"/>
              <a:gd name="T43" fmla="*/ 1615872 h 1811338"/>
              <a:gd name="T44" fmla="*/ 264551 w 2125663"/>
              <a:gd name="T45" fmla="*/ 1588232 h 1811338"/>
              <a:gd name="T46" fmla="*/ 180669 w 2125663"/>
              <a:gd name="T47" fmla="*/ 1549481 h 1811338"/>
              <a:gd name="T48" fmla="*/ 159912 w 2125663"/>
              <a:gd name="T49" fmla="*/ 1517283 h 1811338"/>
              <a:gd name="T50" fmla="*/ 167873 w 2125663"/>
              <a:gd name="T51" fmla="*/ 1284201 h 1811338"/>
              <a:gd name="T52" fmla="*/ 205123 w 2125663"/>
              <a:gd name="T53" fmla="*/ 1228638 h 1811338"/>
              <a:gd name="T54" fmla="*/ 264266 w 2125663"/>
              <a:gd name="T55" fmla="*/ 1196440 h 1811338"/>
              <a:gd name="T56" fmla="*/ 421225 w 2125663"/>
              <a:gd name="T57" fmla="*/ 1183048 h 1811338"/>
              <a:gd name="T58" fmla="*/ 433514 w 2125663"/>
              <a:gd name="T59" fmla="*/ 761303 h 1811338"/>
              <a:gd name="T60" fmla="*/ 391450 w 2125663"/>
              <a:gd name="T61" fmla="*/ 813630 h 1811338"/>
              <a:gd name="T62" fmla="*/ 379229 w 2125663"/>
              <a:gd name="T63" fmla="*/ 902075 h 1811338"/>
              <a:gd name="T64" fmla="*/ 414756 w 2125663"/>
              <a:gd name="T65" fmla="*/ 1016114 h 1811338"/>
              <a:gd name="T66" fmla="*/ 487516 w 2125663"/>
              <a:gd name="T67" fmla="*/ 1099439 h 1811338"/>
              <a:gd name="T68" fmla="*/ 567666 w 2125663"/>
              <a:gd name="T69" fmla="*/ 1135272 h 1811338"/>
              <a:gd name="T70" fmla="*/ 645542 w 2125663"/>
              <a:gd name="T71" fmla="*/ 1111099 h 1811338"/>
              <a:gd name="T72" fmla="*/ 722282 w 2125663"/>
              <a:gd name="T73" fmla="*/ 1035452 h 1811338"/>
              <a:gd name="T74" fmla="*/ 767757 w 2125663"/>
              <a:gd name="T75" fmla="*/ 926248 h 1811338"/>
              <a:gd name="T76" fmla="*/ 666290 w 2125663"/>
              <a:gd name="T77" fmla="*/ 863967 h 1811338"/>
              <a:gd name="T78" fmla="*/ 546918 w 2125663"/>
              <a:gd name="T79" fmla="*/ 832116 h 1811338"/>
              <a:gd name="T80" fmla="*/ 484389 w 2125663"/>
              <a:gd name="T81" fmla="*/ 790595 h 1811338"/>
              <a:gd name="T82" fmla="*/ 452273 w 2125663"/>
              <a:gd name="T83" fmla="*/ 760734 h 1811338"/>
              <a:gd name="T84" fmla="*/ 568234 w 2125663"/>
              <a:gd name="T85" fmla="*/ 587258 h 1811338"/>
              <a:gd name="T86" fmla="*/ 631616 w 2125663"/>
              <a:gd name="T87" fmla="*/ 594937 h 1811338"/>
              <a:gd name="T88" fmla="*/ 705513 w 2125663"/>
              <a:gd name="T89" fmla="*/ 631054 h 1811338"/>
              <a:gd name="T90" fmla="*/ 790210 w 2125663"/>
              <a:gd name="T91" fmla="*/ 732864 h 1811338"/>
              <a:gd name="T92" fmla="*/ 826306 w 2125663"/>
              <a:gd name="T93" fmla="*/ 873920 h 1811338"/>
              <a:gd name="T94" fmla="*/ 818064 w 2125663"/>
              <a:gd name="T95" fmla="*/ 959237 h 1811338"/>
              <a:gd name="T96" fmla="*/ 780831 w 2125663"/>
              <a:gd name="T97" fmla="*/ 1048534 h 1811338"/>
              <a:gd name="T98" fmla="*/ 687607 w 2125663"/>
              <a:gd name="T99" fmla="*/ 1148922 h 1811338"/>
              <a:gd name="T100" fmla="*/ 588983 w 2125663"/>
              <a:gd name="T101" fmla="*/ 1190727 h 1811338"/>
              <a:gd name="T102" fmla="*/ 525033 w 2125663"/>
              <a:gd name="T103" fmla="*/ 1182480 h 1811338"/>
              <a:gd name="T104" fmla="*/ 421293 w 2125663"/>
              <a:gd name="T105" fmla="*/ 1115081 h 1811338"/>
              <a:gd name="T106" fmla="*/ 345406 w 2125663"/>
              <a:gd name="T107" fmla="*/ 1002463 h 1811338"/>
              <a:gd name="T108" fmla="*/ 325511 w 2125663"/>
              <a:gd name="T109" fmla="*/ 929092 h 1811338"/>
              <a:gd name="T110" fmla="*/ 330627 w 2125663"/>
              <a:gd name="T111" fmla="*/ 813915 h 1811338"/>
              <a:gd name="T112" fmla="*/ 388324 w 2125663"/>
              <a:gd name="T113" fmla="*/ 686510 h 1811338"/>
              <a:gd name="T114" fmla="*/ 482400 w 2125663"/>
              <a:gd name="T115" fmla="*/ 608303 h 1811338"/>
              <a:gd name="T116" fmla="*/ 542939 w 2125663"/>
              <a:gd name="T117" fmla="*/ 589534 h 1811338"/>
              <a:gd name="T118" fmla="*/ 0 w 2125663"/>
              <a:gd name="T119" fmla="*/ 0 h 1811338"/>
              <a:gd name="T120" fmla="*/ 174993 w 2125663"/>
              <a:gd name="T121" fmla="*/ 1118883 h 1811338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0" t="0" r="r" b="b"/>
            <a:pathLst>
              <a:path w="2125663" h="1811338">
                <a:moveTo>
                  <a:pt x="470017" y="1320800"/>
                </a:moveTo>
                <a:lnTo>
                  <a:pt x="470335" y="1343069"/>
                </a:lnTo>
                <a:lnTo>
                  <a:pt x="471286" y="1364382"/>
                </a:lnTo>
                <a:lnTo>
                  <a:pt x="472238" y="1385696"/>
                </a:lnTo>
                <a:lnTo>
                  <a:pt x="473190" y="1406374"/>
                </a:lnTo>
                <a:lnTo>
                  <a:pt x="474459" y="1426415"/>
                </a:lnTo>
                <a:lnTo>
                  <a:pt x="476363" y="1446139"/>
                </a:lnTo>
                <a:lnTo>
                  <a:pt x="478267" y="1464908"/>
                </a:lnTo>
                <a:lnTo>
                  <a:pt x="480170" y="1483677"/>
                </a:lnTo>
                <a:lnTo>
                  <a:pt x="482074" y="1501491"/>
                </a:lnTo>
                <a:lnTo>
                  <a:pt x="484612" y="1518988"/>
                </a:lnTo>
                <a:lnTo>
                  <a:pt x="487468" y="1535530"/>
                </a:lnTo>
                <a:lnTo>
                  <a:pt x="490323" y="1552072"/>
                </a:lnTo>
                <a:lnTo>
                  <a:pt x="493179" y="1567660"/>
                </a:lnTo>
                <a:lnTo>
                  <a:pt x="496352" y="1582611"/>
                </a:lnTo>
                <a:lnTo>
                  <a:pt x="500159" y="1597563"/>
                </a:lnTo>
                <a:lnTo>
                  <a:pt x="503649" y="1611560"/>
                </a:lnTo>
                <a:lnTo>
                  <a:pt x="507774" y="1624921"/>
                </a:lnTo>
                <a:lnTo>
                  <a:pt x="511899" y="1637646"/>
                </a:lnTo>
                <a:lnTo>
                  <a:pt x="516341" y="1650052"/>
                </a:lnTo>
                <a:lnTo>
                  <a:pt x="520783" y="1661505"/>
                </a:lnTo>
                <a:lnTo>
                  <a:pt x="525859" y="1672639"/>
                </a:lnTo>
                <a:lnTo>
                  <a:pt x="530936" y="1683137"/>
                </a:lnTo>
                <a:lnTo>
                  <a:pt x="536329" y="1692998"/>
                </a:lnTo>
                <a:lnTo>
                  <a:pt x="541723" y="1702224"/>
                </a:lnTo>
                <a:lnTo>
                  <a:pt x="547752" y="1710813"/>
                </a:lnTo>
                <a:lnTo>
                  <a:pt x="553463" y="1718766"/>
                </a:lnTo>
                <a:lnTo>
                  <a:pt x="559808" y="1726083"/>
                </a:lnTo>
                <a:lnTo>
                  <a:pt x="566154" y="1732763"/>
                </a:lnTo>
                <a:lnTo>
                  <a:pt x="573134" y="1739125"/>
                </a:lnTo>
                <a:lnTo>
                  <a:pt x="580114" y="1744215"/>
                </a:lnTo>
                <a:lnTo>
                  <a:pt x="587412" y="1749305"/>
                </a:lnTo>
                <a:lnTo>
                  <a:pt x="594709" y="1753123"/>
                </a:lnTo>
                <a:lnTo>
                  <a:pt x="594709" y="1499901"/>
                </a:lnTo>
                <a:lnTo>
                  <a:pt x="591537" y="1499264"/>
                </a:lnTo>
                <a:lnTo>
                  <a:pt x="588047" y="1498310"/>
                </a:lnTo>
                <a:lnTo>
                  <a:pt x="584874" y="1497038"/>
                </a:lnTo>
                <a:lnTo>
                  <a:pt x="582018" y="1495765"/>
                </a:lnTo>
                <a:lnTo>
                  <a:pt x="579163" y="1494175"/>
                </a:lnTo>
                <a:lnTo>
                  <a:pt x="576307" y="1491948"/>
                </a:lnTo>
                <a:lnTo>
                  <a:pt x="573769" y="1489721"/>
                </a:lnTo>
                <a:lnTo>
                  <a:pt x="571548" y="1487494"/>
                </a:lnTo>
                <a:lnTo>
                  <a:pt x="569327" y="1484949"/>
                </a:lnTo>
                <a:lnTo>
                  <a:pt x="567106" y="1482404"/>
                </a:lnTo>
                <a:lnTo>
                  <a:pt x="565519" y="1479223"/>
                </a:lnTo>
                <a:lnTo>
                  <a:pt x="564250" y="1476360"/>
                </a:lnTo>
                <a:lnTo>
                  <a:pt x="563298" y="1473179"/>
                </a:lnTo>
                <a:lnTo>
                  <a:pt x="562347" y="1469998"/>
                </a:lnTo>
                <a:lnTo>
                  <a:pt x="562029" y="1466180"/>
                </a:lnTo>
                <a:lnTo>
                  <a:pt x="561712" y="1462999"/>
                </a:lnTo>
                <a:lnTo>
                  <a:pt x="561712" y="1425143"/>
                </a:lnTo>
                <a:lnTo>
                  <a:pt x="562029" y="1421007"/>
                </a:lnTo>
                <a:lnTo>
                  <a:pt x="562664" y="1417508"/>
                </a:lnTo>
                <a:lnTo>
                  <a:pt x="563616" y="1414009"/>
                </a:lnTo>
                <a:lnTo>
                  <a:pt x="564885" y="1410191"/>
                </a:lnTo>
                <a:lnTo>
                  <a:pt x="566154" y="1407010"/>
                </a:lnTo>
                <a:lnTo>
                  <a:pt x="568375" y="1403829"/>
                </a:lnTo>
                <a:lnTo>
                  <a:pt x="570596" y="1400966"/>
                </a:lnTo>
                <a:lnTo>
                  <a:pt x="572817" y="1398103"/>
                </a:lnTo>
                <a:lnTo>
                  <a:pt x="575673" y="1395558"/>
                </a:lnTo>
                <a:lnTo>
                  <a:pt x="578528" y="1393649"/>
                </a:lnTo>
                <a:lnTo>
                  <a:pt x="581701" y="1391741"/>
                </a:lnTo>
                <a:lnTo>
                  <a:pt x="584874" y="1390150"/>
                </a:lnTo>
                <a:lnTo>
                  <a:pt x="588364" y="1388878"/>
                </a:lnTo>
                <a:lnTo>
                  <a:pt x="592171" y="1387605"/>
                </a:lnTo>
                <a:lnTo>
                  <a:pt x="595979" y="1386969"/>
                </a:lnTo>
                <a:lnTo>
                  <a:pt x="599786" y="1386969"/>
                </a:lnTo>
                <a:lnTo>
                  <a:pt x="682597" y="1386969"/>
                </a:lnTo>
                <a:lnTo>
                  <a:pt x="686721" y="1386969"/>
                </a:lnTo>
                <a:lnTo>
                  <a:pt x="690529" y="1387605"/>
                </a:lnTo>
                <a:lnTo>
                  <a:pt x="694019" y="1388878"/>
                </a:lnTo>
                <a:lnTo>
                  <a:pt x="697826" y="1390150"/>
                </a:lnTo>
                <a:lnTo>
                  <a:pt x="700999" y="1391741"/>
                </a:lnTo>
                <a:lnTo>
                  <a:pt x="704172" y="1393649"/>
                </a:lnTo>
                <a:lnTo>
                  <a:pt x="707345" y="1395558"/>
                </a:lnTo>
                <a:lnTo>
                  <a:pt x="709883" y="1398103"/>
                </a:lnTo>
                <a:lnTo>
                  <a:pt x="712104" y="1400966"/>
                </a:lnTo>
                <a:lnTo>
                  <a:pt x="714325" y="1403829"/>
                </a:lnTo>
                <a:lnTo>
                  <a:pt x="716229" y="1407010"/>
                </a:lnTo>
                <a:lnTo>
                  <a:pt x="718132" y="1410191"/>
                </a:lnTo>
                <a:lnTo>
                  <a:pt x="719402" y="1414009"/>
                </a:lnTo>
                <a:lnTo>
                  <a:pt x="720353" y="1417508"/>
                </a:lnTo>
                <a:lnTo>
                  <a:pt x="720671" y="1421007"/>
                </a:lnTo>
                <a:lnTo>
                  <a:pt x="720988" y="1425143"/>
                </a:lnTo>
                <a:lnTo>
                  <a:pt x="720988" y="1462999"/>
                </a:lnTo>
                <a:lnTo>
                  <a:pt x="720988" y="1466180"/>
                </a:lnTo>
                <a:lnTo>
                  <a:pt x="720353" y="1469998"/>
                </a:lnTo>
                <a:lnTo>
                  <a:pt x="719719" y="1473179"/>
                </a:lnTo>
                <a:lnTo>
                  <a:pt x="718450" y="1476360"/>
                </a:lnTo>
                <a:lnTo>
                  <a:pt x="716863" y="1479223"/>
                </a:lnTo>
                <a:lnTo>
                  <a:pt x="715277" y="1482404"/>
                </a:lnTo>
                <a:lnTo>
                  <a:pt x="713373" y="1484949"/>
                </a:lnTo>
                <a:lnTo>
                  <a:pt x="711469" y="1487494"/>
                </a:lnTo>
                <a:lnTo>
                  <a:pt x="708931" y="1489721"/>
                </a:lnTo>
                <a:lnTo>
                  <a:pt x="706710" y="1491948"/>
                </a:lnTo>
                <a:lnTo>
                  <a:pt x="703537" y="1494175"/>
                </a:lnTo>
                <a:lnTo>
                  <a:pt x="700682" y="1495765"/>
                </a:lnTo>
                <a:lnTo>
                  <a:pt x="697826" y="1497038"/>
                </a:lnTo>
                <a:lnTo>
                  <a:pt x="694653" y="1498310"/>
                </a:lnTo>
                <a:lnTo>
                  <a:pt x="691163" y="1499264"/>
                </a:lnTo>
                <a:lnTo>
                  <a:pt x="687991" y="1499901"/>
                </a:lnTo>
                <a:lnTo>
                  <a:pt x="687991" y="1753123"/>
                </a:lnTo>
                <a:lnTo>
                  <a:pt x="695605" y="1749305"/>
                </a:lnTo>
                <a:lnTo>
                  <a:pt x="702586" y="1744215"/>
                </a:lnTo>
                <a:lnTo>
                  <a:pt x="709566" y="1739125"/>
                </a:lnTo>
                <a:lnTo>
                  <a:pt x="716229" y="1732763"/>
                </a:lnTo>
                <a:lnTo>
                  <a:pt x="722892" y="1726083"/>
                </a:lnTo>
                <a:lnTo>
                  <a:pt x="729237" y="1718766"/>
                </a:lnTo>
                <a:lnTo>
                  <a:pt x="734948" y="1710813"/>
                </a:lnTo>
                <a:lnTo>
                  <a:pt x="740977" y="1702224"/>
                </a:lnTo>
                <a:lnTo>
                  <a:pt x="746371" y="1692998"/>
                </a:lnTo>
                <a:lnTo>
                  <a:pt x="751447" y="1683137"/>
                </a:lnTo>
                <a:lnTo>
                  <a:pt x="756841" y="1672639"/>
                </a:lnTo>
                <a:lnTo>
                  <a:pt x="761600" y="1661505"/>
                </a:lnTo>
                <a:lnTo>
                  <a:pt x="766359" y="1650052"/>
                </a:lnTo>
                <a:lnTo>
                  <a:pt x="770801" y="1637646"/>
                </a:lnTo>
                <a:lnTo>
                  <a:pt x="774926" y="1624921"/>
                </a:lnTo>
                <a:lnTo>
                  <a:pt x="779051" y="1611560"/>
                </a:lnTo>
                <a:lnTo>
                  <a:pt x="782541" y="1597563"/>
                </a:lnTo>
                <a:lnTo>
                  <a:pt x="786031" y="1582611"/>
                </a:lnTo>
                <a:lnTo>
                  <a:pt x="789521" y="1567660"/>
                </a:lnTo>
                <a:lnTo>
                  <a:pt x="792377" y="1552072"/>
                </a:lnTo>
                <a:lnTo>
                  <a:pt x="795232" y="1535530"/>
                </a:lnTo>
                <a:lnTo>
                  <a:pt x="797770" y="1518988"/>
                </a:lnTo>
                <a:lnTo>
                  <a:pt x="800626" y="1501491"/>
                </a:lnTo>
                <a:lnTo>
                  <a:pt x="802530" y="1483677"/>
                </a:lnTo>
                <a:lnTo>
                  <a:pt x="804751" y="1464908"/>
                </a:lnTo>
                <a:lnTo>
                  <a:pt x="806337" y="1446139"/>
                </a:lnTo>
                <a:lnTo>
                  <a:pt x="807923" y="1426415"/>
                </a:lnTo>
                <a:lnTo>
                  <a:pt x="809193" y="1406374"/>
                </a:lnTo>
                <a:lnTo>
                  <a:pt x="810779" y="1385696"/>
                </a:lnTo>
                <a:lnTo>
                  <a:pt x="811731" y="1364382"/>
                </a:lnTo>
                <a:lnTo>
                  <a:pt x="812365" y="1343069"/>
                </a:lnTo>
                <a:lnTo>
                  <a:pt x="813000" y="1320800"/>
                </a:lnTo>
                <a:lnTo>
                  <a:pt x="840921" y="1322709"/>
                </a:lnTo>
                <a:lnTo>
                  <a:pt x="866621" y="1324300"/>
                </a:lnTo>
                <a:lnTo>
                  <a:pt x="909771" y="1327481"/>
                </a:lnTo>
                <a:lnTo>
                  <a:pt x="938644" y="1330026"/>
                </a:lnTo>
                <a:lnTo>
                  <a:pt x="948797" y="1330980"/>
                </a:lnTo>
                <a:lnTo>
                  <a:pt x="956729" y="1331298"/>
                </a:lnTo>
                <a:lnTo>
                  <a:pt x="964661" y="1331934"/>
                </a:lnTo>
                <a:lnTo>
                  <a:pt x="972593" y="1332889"/>
                </a:lnTo>
                <a:lnTo>
                  <a:pt x="980208" y="1334161"/>
                </a:lnTo>
                <a:lnTo>
                  <a:pt x="987823" y="1335752"/>
                </a:lnTo>
                <a:lnTo>
                  <a:pt x="995437" y="1337979"/>
                </a:lnTo>
                <a:lnTo>
                  <a:pt x="1002418" y="1340205"/>
                </a:lnTo>
                <a:lnTo>
                  <a:pt x="1009715" y="1343387"/>
                </a:lnTo>
                <a:lnTo>
                  <a:pt x="1016378" y="1346250"/>
                </a:lnTo>
                <a:lnTo>
                  <a:pt x="1023358" y="1349749"/>
                </a:lnTo>
                <a:lnTo>
                  <a:pt x="1030021" y="1353885"/>
                </a:lnTo>
                <a:lnTo>
                  <a:pt x="1036050" y="1357702"/>
                </a:lnTo>
                <a:lnTo>
                  <a:pt x="1042395" y="1361837"/>
                </a:lnTo>
                <a:lnTo>
                  <a:pt x="1048106" y="1366927"/>
                </a:lnTo>
                <a:lnTo>
                  <a:pt x="1053817" y="1371699"/>
                </a:lnTo>
                <a:lnTo>
                  <a:pt x="1059211" y="1377107"/>
                </a:lnTo>
                <a:lnTo>
                  <a:pt x="1064605" y="1382197"/>
                </a:lnTo>
                <a:lnTo>
                  <a:pt x="1069364" y="1388241"/>
                </a:lnTo>
                <a:lnTo>
                  <a:pt x="1073806" y="1393967"/>
                </a:lnTo>
                <a:lnTo>
                  <a:pt x="1078248" y="1400012"/>
                </a:lnTo>
                <a:lnTo>
                  <a:pt x="1082373" y="1406374"/>
                </a:lnTo>
                <a:lnTo>
                  <a:pt x="1085863" y="1413054"/>
                </a:lnTo>
                <a:lnTo>
                  <a:pt x="1089670" y="1419735"/>
                </a:lnTo>
                <a:lnTo>
                  <a:pt x="1092843" y="1426734"/>
                </a:lnTo>
                <a:lnTo>
                  <a:pt x="1095381" y="1433732"/>
                </a:lnTo>
                <a:lnTo>
                  <a:pt x="1097920" y="1441049"/>
                </a:lnTo>
                <a:lnTo>
                  <a:pt x="1100141" y="1448684"/>
                </a:lnTo>
                <a:lnTo>
                  <a:pt x="1101727" y="1456000"/>
                </a:lnTo>
                <a:lnTo>
                  <a:pt x="1103314" y="1463635"/>
                </a:lnTo>
                <a:lnTo>
                  <a:pt x="1104265" y="1471588"/>
                </a:lnTo>
                <a:lnTo>
                  <a:pt x="1104900" y="1479541"/>
                </a:lnTo>
                <a:lnTo>
                  <a:pt x="1104900" y="1487494"/>
                </a:lnTo>
                <a:lnTo>
                  <a:pt x="1104900" y="1686000"/>
                </a:lnTo>
                <a:lnTo>
                  <a:pt x="1104900" y="1690135"/>
                </a:lnTo>
                <a:lnTo>
                  <a:pt x="1104265" y="1693953"/>
                </a:lnTo>
                <a:lnTo>
                  <a:pt x="1103631" y="1697770"/>
                </a:lnTo>
                <a:lnTo>
                  <a:pt x="1102362" y="1701906"/>
                </a:lnTo>
                <a:lnTo>
                  <a:pt x="1101093" y="1705405"/>
                </a:lnTo>
                <a:lnTo>
                  <a:pt x="1099189" y="1709222"/>
                </a:lnTo>
                <a:lnTo>
                  <a:pt x="1096968" y="1713040"/>
                </a:lnTo>
                <a:lnTo>
                  <a:pt x="1094430" y="1716221"/>
                </a:lnTo>
                <a:lnTo>
                  <a:pt x="1091891" y="1719720"/>
                </a:lnTo>
                <a:lnTo>
                  <a:pt x="1089036" y="1722901"/>
                </a:lnTo>
                <a:lnTo>
                  <a:pt x="1085546" y="1726719"/>
                </a:lnTo>
                <a:lnTo>
                  <a:pt x="1082056" y="1729900"/>
                </a:lnTo>
                <a:lnTo>
                  <a:pt x="1078248" y="1732763"/>
                </a:lnTo>
                <a:lnTo>
                  <a:pt x="1074124" y="1736262"/>
                </a:lnTo>
                <a:lnTo>
                  <a:pt x="1069682" y="1739125"/>
                </a:lnTo>
                <a:lnTo>
                  <a:pt x="1065240" y="1741989"/>
                </a:lnTo>
                <a:lnTo>
                  <a:pt x="1055404" y="1748033"/>
                </a:lnTo>
                <a:lnTo>
                  <a:pt x="1044299" y="1753441"/>
                </a:lnTo>
                <a:lnTo>
                  <a:pt x="1032560" y="1758531"/>
                </a:lnTo>
                <a:lnTo>
                  <a:pt x="1019868" y="1763939"/>
                </a:lnTo>
                <a:lnTo>
                  <a:pt x="1005908" y="1768392"/>
                </a:lnTo>
                <a:lnTo>
                  <a:pt x="991630" y="1773164"/>
                </a:lnTo>
                <a:lnTo>
                  <a:pt x="976718" y="1777300"/>
                </a:lnTo>
                <a:lnTo>
                  <a:pt x="960854" y="1781117"/>
                </a:lnTo>
                <a:lnTo>
                  <a:pt x="944038" y="1784934"/>
                </a:lnTo>
                <a:lnTo>
                  <a:pt x="927222" y="1788434"/>
                </a:lnTo>
                <a:lnTo>
                  <a:pt x="909454" y="1791615"/>
                </a:lnTo>
                <a:lnTo>
                  <a:pt x="891369" y="1794796"/>
                </a:lnTo>
                <a:lnTo>
                  <a:pt x="872332" y="1797341"/>
                </a:lnTo>
                <a:lnTo>
                  <a:pt x="853295" y="1799886"/>
                </a:lnTo>
                <a:lnTo>
                  <a:pt x="833941" y="1801795"/>
                </a:lnTo>
                <a:lnTo>
                  <a:pt x="813952" y="1804022"/>
                </a:lnTo>
                <a:lnTo>
                  <a:pt x="793328" y="1805930"/>
                </a:lnTo>
                <a:lnTo>
                  <a:pt x="773022" y="1807203"/>
                </a:lnTo>
                <a:lnTo>
                  <a:pt x="752399" y="1808475"/>
                </a:lnTo>
                <a:lnTo>
                  <a:pt x="731458" y="1809748"/>
                </a:lnTo>
                <a:lnTo>
                  <a:pt x="710200" y="1810384"/>
                </a:lnTo>
                <a:lnTo>
                  <a:pt x="688942" y="1811020"/>
                </a:lnTo>
                <a:lnTo>
                  <a:pt x="667684" y="1811338"/>
                </a:lnTo>
                <a:lnTo>
                  <a:pt x="646427" y="1811338"/>
                </a:lnTo>
                <a:lnTo>
                  <a:pt x="625486" y="1811338"/>
                </a:lnTo>
                <a:lnTo>
                  <a:pt x="603911" y="1811020"/>
                </a:lnTo>
                <a:lnTo>
                  <a:pt x="582653" y="1810384"/>
                </a:lnTo>
                <a:lnTo>
                  <a:pt x="561395" y="1809748"/>
                </a:lnTo>
                <a:lnTo>
                  <a:pt x="540137" y="1808475"/>
                </a:lnTo>
                <a:lnTo>
                  <a:pt x="518879" y="1807203"/>
                </a:lnTo>
                <a:lnTo>
                  <a:pt x="498573" y="1805930"/>
                </a:lnTo>
                <a:lnTo>
                  <a:pt x="477632" y="1804022"/>
                </a:lnTo>
                <a:lnTo>
                  <a:pt x="457326" y="1801795"/>
                </a:lnTo>
                <a:lnTo>
                  <a:pt x="437337" y="1799886"/>
                </a:lnTo>
                <a:lnTo>
                  <a:pt x="417983" y="1797341"/>
                </a:lnTo>
                <a:lnTo>
                  <a:pt x="398629" y="1794796"/>
                </a:lnTo>
                <a:lnTo>
                  <a:pt x="379909" y="1791615"/>
                </a:lnTo>
                <a:lnTo>
                  <a:pt x="361824" y="1788434"/>
                </a:lnTo>
                <a:lnTo>
                  <a:pt x="344056" y="1784934"/>
                </a:lnTo>
                <a:lnTo>
                  <a:pt x="327240" y="1781117"/>
                </a:lnTo>
                <a:lnTo>
                  <a:pt x="310741" y="1777300"/>
                </a:lnTo>
                <a:lnTo>
                  <a:pt x="295195" y="1773164"/>
                </a:lnTo>
                <a:lnTo>
                  <a:pt x="280600" y="1768392"/>
                </a:lnTo>
                <a:lnTo>
                  <a:pt x="266322" y="1763939"/>
                </a:lnTo>
                <a:lnTo>
                  <a:pt x="252996" y="1758531"/>
                </a:lnTo>
                <a:lnTo>
                  <a:pt x="240622" y="1753441"/>
                </a:lnTo>
                <a:lnTo>
                  <a:pt x="229517" y="1748033"/>
                </a:lnTo>
                <a:lnTo>
                  <a:pt x="219047" y="1741989"/>
                </a:lnTo>
                <a:lnTo>
                  <a:pt x="214288" y="1739125"/>
                </a:lnTo>
                <a:lnTo>
                  <a:pt x="209846" y="1736262"/>
                </a:lnTo>
                <a:lnTo>
                  <a:pt x="205404" y="1732763"/>
                </a:lnTo>
                <a:lnTo>
                  <a:pt x="201596" y="1729900"/>
                </a:lnTo>
                <a:lnTo>
                  <a:pt x="198106" y="1726719"/>
                </a:lnTo>
                <a:lnTo>
                  <a:pt x="194299" y="1722901"/>
                </a:lnTo>
                <a:lnTo>
                  <a:pt x="191443" y="1719720"/>
                </a:lnTo>
                <a:lnTo>
                  <a:pt x="188588" y="1716221"/>
                </a:lnTo>
                <a:lnTo>
                  <a:pt x="186367" y="1713040"/>
                </a:lnTo>
                <a:lnTo>
                  <a:pt x="183828" y="1709222"/>
                </a:lnTo>
                <a:lnTo>
                  <a:pt x="181925" y="1705405"/>
                </a:lnTo>
                <a:lnTo>
                  <a:pt x="180338" y="1701906"/>
                </a:lnTo>
                <a:lnTo>
                  <a:pt x="179386" y="1697770"/>
                </a:lnTo>
                <a:lnTo>
                  <a:pt x="178435" y="1693953"/>
                </a:lnTo>
                <a:lnTo>
                  <a:pt x="177800" y="1690135"/>
                </a:lnTo>
                <a:lnTo>
                  <a:pt x="177800" y="1686000"/>
                </a:lnTo>
                <a:lnTo>
                  <a:pt x="177800" y="1487494"/>
                </a:lnTo>
                <a:lnTo>
                  <a:pt x="178117" y="1479541"/>
                </a:lnTo>
                <a:lnTo>
                  <a:pt x="178435" y="1471588"/>
                </a:lnTo>
                <a:lnTo>
                  <a:pt x="179386" y="1463635"/>
                </a:lnTo>
                <a:lnTo>
                  <a:pt x="180973" y="1456000"/>
                </a:lnTo>
                <a:lnTo>
                  <a:pt x="182559" y="1448684"/>
                </a:lnTo>
                <a:lnTo>
                  <a:pt x="184463" y="1441049"/>
                </a:lnTo>
                <a:lnTo>
                  <a:pt x="187318" y="1433732"/>
                </a:lnTo>
                <a:lnTo>
                  <a:pt x="190174" y="1426734"/>
                </a:lnTo>
                <a:lnTo>
                  <a:pt x="193030" y="1419735"/>
                </a:lnTo>
                <a:lnTo>
                  <a:pt x="196520" y="1413054"/>
                </a:lnTo>
                <a:lnTo>
                  <a:pt x="200327" y="1406374"/>
                </a:lnTo>
                <a:lnTo>
                  <a:pt x="204452" y="1400012"/>
                </a:lnTo>
                <a:lnTo>
                  <a:pt x="208576" y="1393967"/>
                </a:lnTo>
                <a:lnTo>
                  <a:pt x="213336" y="1388241"/>
                </a:lnTo>
                <a:lnTo>
                  <a:pt x="218095" y="1382197"/>
                </a:lnTo>
                <a:lnTo>
                  <a:pt x="223489" y="1377107"/>
                </a:lnTo>
                <a:lnTo>
                  <a:pt x="228883" y="1371699"/>
                </a:lnTo>
                <a:lnTo>
                  <a:pt x="234594" y="1366927"/>
                </a:lnTo>
                <a:lnTo>
                  <a:pt x="240305" y="1361837"/>
                </a:lnTo>
                <a:lnTo>
                  <a:pt x="246650" y="1357702"/>
                </a:lnTo>
                <a:lnTo>
                  <a:pt x="252679" y="1353885"/>
                </a:lnTo>
                <a:lnTo>
                  <a:pt x="259659" y="1349749"/>
                </a:lnTo>
                <a:lnTo>
                  <a:pt x="266005" y="1346250"/>
                </a:lnTo>
                <a:lnTo>
                  <a:pt x="272985" y="1343387"/>
                </a:lnTo>
                <a:lnTo>
                  <a:pt x="280282" y="1340205"/>
                </a:lnTo>
                <a:lnTo>
                  <a:pt x="287263" y="1337979"/>
                </a:lnTo>
                <a:lnTo>
                  <a:pt x="294877" y="1335752"/>
                </a:lnTo>
                <a:lnTo>
                  <a:pt x="302492" y="1334161"/>
                </a:lnTo>
                <a:lnTo>
                  <a:pt x="310107" y="1332889"/>
                </a:lnTo>
                <a:lnTo>
                  <a:pt x="318039" y="1331934"/>
                </a:lnTo>
                <a:lnTo>
                  <a:pt x="325971" y="1331298"/>
                </a:lnTo>
                <a:lnTo>
                  <a:pt x="333903" y="1330980"/>
                </a:lnTo>
                <a:lnTo>
                  <a:pt x="344056" y="1330026"/>
                </a:lnTo>
                <a:lnTo>
                  <a:pt x="372929" y="1327481"/>
                </a:lnTo>
                <a:lnTo>
                  <a:pt x="415762" y="1324300"/>
                </a:lnTo>
                <a:lnTo>
                  <a:pt x="441779" y="1322709"/>
                </a:lnTo>
                <a:lnTo>
                  <a:pt x="470017" y="1320800"/>
                </a:lnTo>
                <a:close/>
                <a:moveTo>
                  <a:pt x="1004887" y="995363"/>
                </a:moveTo>
                <a:lnTo>
                  <a:pt x="1176337" y="995363"/>
                </a:lnTo>
                <a:lnTo>
                  <a:pt x="1176337" y="1265238"/>
                </a:lnTo>
                <a:lnTo>
                  <a:pt x="1004887" y="1265238"/>
                </a:lnTo>
                <a:lnTo>
                  <a:pt x="1004887" y="995363"/>
                </a:lnTo>
                <a:close/>
                <a:moveTo>
                  <a:pt x="493561" y="847408"/>
                </a:moveTo>
                <a:lnTo>
                  <a:pt x="491024" y="847726"/>
                </a:lnTo>
                <a:lnTo>
                  <a:pt x="488804" y="848043"/>
                </a:lnTo>
                <a:lnTo>
                  <a:pt x="485950" y="848996"/>
                </a:lnTo>
                <a:lnTo>
                  <a:pt x="483730" y="849948"/>
                </a:lnTo>
                <a:lnTo>
                  <a:pt x="481510" y="851218"/>
                </a:lnTo>
                <a:lnTo>
                  <a:pt x="479290" y="852806"/>
                </a:lnTo>
                <a:lnTo>
                  <a:pt x="475167" y="856933"/>
                </a:lnTo>
                <a:lnTo>
                  <a:pt x="470727" y="861061"/>
                </a:lnTo>
                <a:lnTo>
                  <a:pt x="466604" y="865823"/>
                </a:lnTo>
                <a:lnTo>
                  <a:pt x="462482" y="871221"/>
                </a:lnTo>
                <a:lnTo>
                  <a:pt x="454553" y="882651"/>
                </a:lnTo>
                <a:lnTo>
                  <a:pt x="448527" y="890906"/>
                </a:lnTo>
                <a:lnTo>
                  <a:pt x="442819" y="899478"/>
                </a:lnTo>
                <a:lnTo>
                  <a:pt x="436793" y="908368"/>
                </a:lnTo>
                <a:lnTo>
                  <a:pt x="431402" y="917893"/>
                </a:lnTo>
                <a:lnTo>
                  <a:pt x="429499" y="926783"/>
                </a:lnTo>
                <a:lnTo>
                  <a:pt x="427596" y="935673"/>
                </a:lnTo>
                <a:lnTo>
                  <a:pt x="426010" y="945198"/>
                </a:lnTo>
                <a:lnTo>
                  <a:pt x="424742" y="954406"/>
                </a:lnTo>
                <a:lnTo>
                  <a:pt x="423790" y="963931"/>
                </a:lnTo>
                <a:lnTo>
                  <a:pt x="423156" y="973773"/>
                </a:lnTo>
                <a:lnTo>
                  <a:pt x="422839" y="982981"/>
                </a:lnTo>
                <a:lnTo>
                  <a:pt x="422839" y="992823"/>
                </a:lnTo>
                <a:lnTo>
                  <a:pt x="423156" y="1007111"/>
                </a:lnTo>
                <a:lnTo>
                  <a:pt x="424107" y="1020764"/>
                </a:lnTo>
                <a:lnTo>
                  <a:pt x="426010" y="1034099"/>
                </a:lnTo>
                <a:lnTo>
                  <a:pt x="428547" y="1047434"/>
                </a:lnTo>
                <a:lnTo>
                  <a:pt x="432036" y="1060769"/>
                </a:lnTo>
                <a:lnTo>
                  <a:pt x="435525" y="1073469"/>
                </a:lnTo>
                <a:lnTo>
                  <a:pt x="439965" y="1086169"/>
                </a:lnTo>
                <a:lnTo>
                  <a:pt x="445039" y="1098551"/>
                </a:lnTo>
                <a:lnTo>
                  <a:pt x="450430" y="1110934"/>
                </a:lnTo>
                <a:lnTo>
                  <a:pt x="456456" y="1122999"/>
                </a:lnTo>
                <a:lnTo>
                  <a:pt x="462799" y="1134429"/>
                </a:lnTo>
                <a:lnTo>
                  <a:pt x="469459" y="1145541"/>
                </a:lnTo>
                <a:lnTo>
                  <a:pt x="477070" y="1156019"/>
                </a:lnTo>
                <a:lnTo>
                  <a:pt x="484364" y="1166496"/>
                </a:lnTo>
                <a:lnTo>
                  <a:pt x="492293" y="1176656"/>
                </a:lnTo>
                <a:lnTo>
                  <a:pt x="500539" y="1186181"/>
                </a:lnTo>
                <a:lnTo>
                  <a:pt x="508784" y="1195389"/>
                </a:lnTo>
                <a:lnTo>
                  <a:pt x="517347" y="1204279"/>
                </a:lnTo>
                <a:lnTo>
                  <a:pt x="526227" y="1212216"/>
                </a:lnTo>
                <a:lnTo>
                  <a:pt x="535107" y="1220154"/>
                </a:lnTo>
                <a:lnTo>
                  <a:pt x="543987" y="1227456"/>
                </a:lnTo>
                <a:lnTo>
                  <a:pt x="553184" y="1234124"/>
                </a:lnTo>
                <a:lnTo>
                  <a:pt x="562381" y="1240474"/>
                </a:lnTo>
                <a:lnTo>
                  <a:pt x="571578" y="1245871"/>
                </a:lnTo>
                <a:lnTo>
                  <a:pt x="580775" y="1250951"/>
                </a:lnTo>
                <a:lnTo>
                  <a:pt x="589655" y="1255079"/>
                </a:lnTo>
                <a:lnTo>
                  <a:pt x="598853" y="1258889"/>
                </a:lnTo>
                <a:lnTo>
                  <a:pt x="607732" y="1262381"/>
                </a:lnTo>
                <a:lnTo>
                  <a:pt x="616612" y="1264604"/>
                </a:lnTo>
                <a:lnTo>
                  <a:pt x="624858" y="1266509"/>
                </a:lnTo>
                <a:lnTo>
                  <a:pt x="633421" y="1267461"/>
                </a:lnTo>
                <a:lnTo>
                  <a:pt x="641349" y="1267779"/>
                </a:lnTo>
                <a:lnTo>
                  <a:pt x="649595" y="1267461"/>
                </a:lnTo>
                <a:lnTo>
                  <a:pt x="657524" y="1266509"/>
                </a:lnTo>
                <a:lnTo>
                  <a:pt x="666404" y="1264604"/>
                </a:lnTo>
                <a:lnTo>
                  <a:pt x="674967" y="1262381"/>
                </a:lnTo>
                <a:lnTo>
                  <a:pt x="684164" y="1258889"/>
                </a:lnTo>
                <a:lnTo>
                  <a:pt x="692726" y="1255079"/>
                </a:lnTo>
                <a:lnTo>
                  <a:pt x="701924" y="1250951"/>
                </a:lnTo>
                <a:lnTo>
                  <a:pt x="711121" y="1245871"/>
                </a:lnTo>
                <a:lnTo>
                  <a:pt x="720318" y="1240474"/>
                </a:lnTo>
                <a:lnTo>
                  <a:pt x="729515" y="1234124"/>
                </a:lnTo>
                <a:lnTo>
                  <a:pt x="738395" y="1227456"/>
                </a:lnTo>
                <a:lnTo>
                  <a:pt x="747592" y="1220154"/>
                </a:lnTo>
                <a:lnTo>
                  <a:pt x="756472" y="1212216"/>
                </a:lnTo>
                <a:lnTo>
                  <a:pt x="765352" y="1204279"/>
                </a:lnTo>
                <a:lnTo>
                  <a:pt x="773915" y="1195389"/>
                </a:lnTo>
                <a:lnTo>
                  <a:pt x="782160" y="1186181"/>
                </a:lnTo>
                <a:lnTo>
                  <a:pt x="790406" y="1176656"/>
                </a:lnTo>
                <a:lnTo>
                  <a:pt x="798652" y="1166496"/>
                </a:lnTo>
                <a:lnTo>
                  <a:pt x="805946" y="1156019"/>
                </a:lnTo>
                <a:lnTo>
                  <a:pt x="813240" y="1145541"/>
                </a:lnTo>
                <a:lnTo>
                  <a:pt x="819900" y="1134429"/>
                </a:lnTo>
                <a:lnTo>
                  <a:pt x="826243" y="1122999"/>
                </a:lnTo>
                <a:lnTo>
                  <a:pt x="831952" y="1110934"/>
                </a:lnTo>
                <a:lnTo>
                  <a:pt x="837660" y="1098551"/>
                </a:lnTo>
                <a:lnTo>
                  <a:pt x="842417" y="1086169"/>
                </a:lnTo>
                <a:lnTo>
                  <a:pt x="847174" y="1073469"/>
                </a:lnTo>
                <a:lnTo>
                  <a:pt x="850980" y="1060769"/>
                </a:lnTo>
                <a:lnTo>
                  <a:pt x="853834" y="1047434"/>
                </a:lnTo>
                <a:lnTo>
                  <a:pt x="856689" y="1034099"/>
                </a:lnTo>
                <a:lnTo>
                  <a:pt x="858592" y="1020764"/>
                </a:lnTo>
                <a:lnTo>
                  <a:pt x="859543" y="1007111"/>
                </a:lnTo>
                <a:lnTo>
                  <a:pt x="860177" y="992823"/>
                </a:lnTo>
                <a:lnTo>
                  <a:pt x="859860" y="984886"/>
                </a:lnTo>
                <a:lnTo>
                  <a:pt x="859543" y="976313"/>
                </a:lnTo>
                <a:lnTo>
                  <a:pt x="837343" y="975361"/>
                </a:lnTo>
                <a:lnTo>
                  <a:pt x="814509" y="973773"/>
                </a:lnTo>
                <a:lnTo>
                  <a:pt x="791040" y="970916"/>
                </a:lnTo>
                <a:lnTo>
                  <a:pt x="767255" y="968058"/>
                </a:lnTo>
                <a:lnTo>
                  <a:pt x="743469" y="964566"/>
                </a:lnTo>
                <a:lnTo>
                  <a:pt x="719366" y="960438"/>
                </a:lnTo>
                <a:lnTo>
                  <a:pt x="695898" y="955041"/>
                </a:lnTo>
                <a:lnTo>
                  <a:pt x="684481" y="952501"/>
                </a:lnTo>
                <a:lnTo>
                  <a:pt x="673064" y="949643"/>
                </a:lnTo>
                <a:lnTo>
                  <a:pt x="661964" y="946468"/>
                </a:lnTo>
                <a:lnTo>
                  <a:pt x="651181" y="943293"/>
                </a:lnTo>
                <a:lnTo>
                  <a:pt x="640398" y="940118"/>
                </a:lnTo>
                <a:lnTo>
                  <a:pt x="629932" y="936308"/>
                </a:lnTo>
                <a:lnTo>
                  <a:pt x="620101" y="932816"/>
                </a:lnTo>
                <a:lnTo>
                  <a:pt x="610270" y="929006"/>
                </a:lnTo>
                <a:lnTo>
                  <a:pt x="601073" y="924878"/>
                </a:lnTo>
                <a:lnTo>
                  <a:pt x="592510" y="921068"/>
                </a:lnTo>
                <a:lnTo>
                  <a:pt x="583947" y="916941"/>
                </a:lnTo>
                <a:lnTo>
                  <a:pt x="576018" y="912178"/>
                </a:lnTo>
                <a:lnTo>
                  <a:pt x="568724" y="907733"/>
                </a:lnTo>
                <a:lnTo>
                  <a:pt x="561747" y="903288"/>
                </a:lnTo>
                <a:lnTo>
                  <a:pt x="555404" y="898208"/>
                </a:lnTo>
                <a:lnTo>
                  <a:pt x="550013" y="893128"/>
                </a:lnTo>
                <a:lnTo>
                  <a:pt x="544938" y="887731"/>
                </a:lnTo>
                <a:lnTo>
                  <a:pt x="540498" y="882651"/>
                </a:lnTo>
                <a:lnTo>
                  <a:pt x="536376" y="876936"/>
                </a:lnTo>
                <a:lnTo>
                  <a:pt x="532253" y="872173"/>
                </a:lnTo>
                <a:lnTo>
                  <a:pt x="528447" y="867728"/>
                </a:lnTo>
                <a:lnTo>
                  <a:pt x="524641" y="863601"/>
                </a:lnTo>
                <a:lnTo>
                  <a:pt x="520836" y="860426"/>
                </a:lnTo>
                <a:lnTo>
                  <a:pt x="517347" y="857251"/>
                </a:lnTo>
                <a:lnTo>
                  <a:pt x="514176" y="854393"/>
                </a:lnTo>
                <a:lnTo>
                  <a:pt x="511004" y="852488"/>
                </a:lnTo>
                <a:lnTo>
                  <a:pt x="507833" y="850583"/>
                </a:lnTo>
                <a:lnTo>
                  <a:pt x="504661" y="849313"/>
                </a:lnTo>
                <a:lnTo>
                  <a:pt x="501807" y="848361"/>
                </a:lnTo>
                <a:lnTo>
                  <a:pt x="499270" y="847726"/>
                </a:lnTo>
                <a:lnTo>
                  <a:pt x="496099" y="847408"/>
                </a:lnTo>
                <a:lnTo>
                  <a:pt x="493561" y="847408"/>
                </a:lnTo>
                <a:close/>
                <a:moveTo>
                  <a:pt x="1304925" y="828675"/>
                </a:moveTo>
                <a:lnTo>
                  <a:pt x="1476375" y="828675"/>
                </a:lnTo>
                <a:lnTo>
                  <a:pt x="1476375" y="1252538"/>
                </a:lnTo>
                <a:lnTo>
                  <a:pt x="1304925" y="1252538"/>
                </a:lnTo>
                <a:lnTo>
                  <a:pt x="1304925" y="828675"/>
                </a:lnTo>
                <a:close/>
                <a:moveTo>
                  <a:pt x="634055" y="655638"/>
                </a:moveTo>
                <a:lnTo>
                  <a:pt x="641349" y="655638"/>
                </a:lnTo>
                <a:lnTo>
                  <a:pt x="648644" y="655638"/>
                </a:lnTo>
                <a:lnTo>
                  <a:pt x="655938" y="655956"/>
                </a:lnTo>
                <a:lnTo>
                  <a:pt x="662915" y="656591"/>
                </a:lnTo>
                <a:lnTo>
                  <a:pt x="669892" y="657226"/>
                </a:lnTo>
                <a:lnTo>
                  <a:pt x="677187" y="658178"/>
                </a:lnTo>
                <a:lnTo>
                  <a:pt x="684164" y="659766"/>
                </a:lnTo>
                <a:lnTo>
                  <a:pt x="691141" y="661036"/>
                </a:lnTo>
                <a:lnTo>
                  <a:pt x="698118" y="662623"/>
                </a:lnTo>
                <a:lnTo>
                  <a:pt x="704778" y="664211"/>
                </a:lnTo>
                <a:lnTo>
                  <a:pt x="711438" y="666433"/>
                </a:lnTo>
                <a:lnTo>
                  <a:pt x="718415" y="668338"/>
                </a:lnTo>
                <a:lnTo>
                  <a:pt x="724758" y="670878"/>
                </a:lnTo>
                <a:lnTo>
                  <a:pt x="731418" y="673418"/>
                </a:lnTo>
                <a:lnTo>
                  <a:pt x="737761" y="676276"/>
                </a:lnTo>
                <a:lnTo>
                  <a:pt x="744421" y="679133"/>
                </a:lnTo>
                <a:lnTo>
                  <a:pt x="750446" y="682308"/>
                </a:lnTo>
                <a:lnTo>
                  <a:pt x="763132" y="688976"/>
                </a:lnTo>
                <a:lnTo>
                  <a:pt x="775500" y="696596"/>
                </a:lnTo>
                <a:lnTo>
                  <a:pt x="787235" y="704533"/>
                </a:lnTo>
                <a:lnTo>
                  <a:pt x="798652" y="713423"/>
                </a:lnTo>
                <a:lnTo>
                  <a:pt x="809435" y="722631"/>
                </a:lnTo>
                <a:lnTo>
                  <a:pt x="819900" y="732791"/>
                </a:lnTo>
                <a:lnTo>
                  <a:pt x="830049" y="743586"/>
                </a:lnTo>
                <a:lnTo>
                  <a:pt x="839880" y="754698"/>
                </a:lnTo>
                <a:lnTo>
                  <a:pt x="849394" y="766446"/>
                </a:lnTo>
                <a:lnTo>
                  <a:pt x="858274" y="778511"/>
                </a:lnTo>
                <a:lnTo>
                  <a:pt x="866520" y="791211"/>
                </a:lnTo>
                <a:lnTo>
                  <a:pt x="874449" y="804546"/>
                </a:lnTo>
                <a:lnTo>
                  <a:pt x="881743" y="818198"/>
                </a:lnTo>
                <a:lnTo>
                  <a:pt x="888403" y="832168"/>
                </a:lnTo>
                <a:lnTo>
                  <a:pt x="894746" y="847091"/>
                </a:lnTo>
                <a:lnTo>
                  <a:pt x="900137" y="861696"/>
                </a:lnTo>
                <a:lnTo>
                  <a:pt x="905529" y="876936"/>
                </a:lnTo>
                <a:lnTo>
                  <a:pt x="909651" y="892811"/>
                </a:lnTo>
                <a:lnTo>
                  <a:pt x="913457" y="908686"/>
                </a:lnTo>
                <a:lnTo>
                  <a:pt x="916946" y="924878"/>
                </a:lnTo>
                <a:lnTo>
                  <a:pt x="919166" y="941706"/>
                </a:lnTo>
                <a:lnTo>
                  <a:pt x="921068" y="958533"/>
                </a:lnTo>
                <a:lnTo>
                  <a:pt x="922020" y="975678"/>
                </a:lnTo>
                <a:lnTo>
                  <a:pt x="922337" y="992823"/>
                </a:lnTo>
                <a:lnTo>
                  <a:pt x="922337" y="1002031"/>
                </a:lnTo>
                <a:lnTo>
                  <a:pt x="922020" y="1010921"/>
                </a:lnTo>
                <a:lnTo>
                  <a:pt x="921386" y="1019811"/>
                </a:lnTo>
                <a:lnTo>
                  <a:pt x="920434" y="1028384"/>
                </a:lnTo>
                <a:lnTo>
                  <a:pt x="919483" y="1037274"/>
                </a:lnTo>
                <a:lnTo>
                  <a:pt x="918214" y="1045846"/>
                </a:lnTo>
                <a:lnTo>
                  <a:pt x="916628" y="1054419"/>
                </a:lnTo>
                <a:lnTo>
                  <a:pt x="915043" y="1062674"/>
                </a:lnTo>
                <a:lnTo>
                  <a:pt x="912823" y="1070929"/>
                </a:lnTo>
                <a:lnTo>
                  <a:pt x="910603" y="1079501"/>
                </a:lnTo>
                <a:lnTo>
                  <a:pt x="908383" y="1087756"/>
                </a:lnTo>
                <a:lnTo>
                  <a:pt x="906163" y="1095694"/>
                </a:lnTo>
                <a:lnTo>
                  <a:pt x="903309" y="1103631"/>
                </a:lnTo>
                <a:lnTo>
                  <a:pt x="900137" y="1111569"/>
                </a:lnTo>
                <a:lnTo>
                  <a:pt x="897283" y="1119189"/>
                </a:lnTo>
                <a:lnTo>
                  <a:pt x="894111" y="1126809"/>
                </a:lnTo>
                <a:lnTo>
                  <a:pt x="887134" y="1141731"/>
                </a:lnTo>
                <a:lnTo>
                  <a:pt x="879523" y="1156336"/>
                </a:lnTo>
                <a:lnTo>
                  <a:pt x="871277" y="1170624"/>
                </a:lnTo>
                <a:lnTo>
                  <a:pt x="862714" y="1184276"/>
                </a:lnTo>
                <a:lnTo>
                  <a:pt x="853517" y="1197611"/>
                </a:lnTo>
                <a:lnTo>
                  <a:pt x="843686" y="1209994"/>
                </a:lnTo>
                <a:lnTo>
                  <a:pt x="833854" y="1222376"/>
                </a:lnTo>
                <a:lnTo>
                  <a:pt x="823389" y="1233806"/>
                </a:lnTo>
                <a:lnTo>
                  <a:pt x="812606" y="1244919"/>
                </a:lnTo>
                <a:lnTo>
                  <a:pt x="801823" y="1255396"/>
                </a:lnTo>
                <a:lnTo>
                  <a:pt x="790406" y="1265239"/>
                </a:lnTo>
                <a:lnTo>
                  <a:pt x="778989" y="1274446"/>
                </a:lnTo>
                <a:lnTo>
                  <a:pt x="767255" y="1282701"/>
                </a:lnTo>
                <a:lnTo>
                  <a:pt x="755521" y="1290956"/>
                </a:lnTo>
                <a:lnTo>
                  <a:pt x="743786" y="1298259"/>
                </a:lnTo>
                <a:lnTo>
                  <a:pt x="732052" y="1304609"/>
                </a:lnTo>
                <a:lnTo>
                  <a:pt x="720318" y="1310641"/>
                </a:lnTo>
                <a:lnTo>
                  <a:pt x="708584" y="1315721"/>
                </a:lnTo>
                <a:lnTo>
                  <a:pt x="696849" y="1320166"/>
                </a:lnTo>
                <a:lnTo>
                  <a:pt x="685432" y="1323659"/>
                </a:lnTo>
                <a:lnTo>
                  <a:pt x="674015" y="1326516"/>
                </a:lnTo>
                <a:lnTo>
                  <a:pt x="662915" y="1328421"/>
                </a:lnTo>
                <a:lnTo>
                  <a:pt x="657207" y="1329374"/>
                </a:lnTo>
                <a:lnTo>
                  <a:pt x="652132" y="1329691"/>
                </a:lnTo>
                <a:lnTo>
                  <a:pt x="646424" y="1330009"/>
                </a:lnTo>
                <a:lnTo>
                  <a:pt x="641349" y="1330326"/>
                </a:lnTo>
                <a:lnTo>
                  <a:pt x="635958" y="1330009"/>
                </a:lnTo>
                <a:lnTo>
                  <a:pt x="630884" y="1329691"/>
                </a:lnTo>
                <a:lnTo>
                  <a:pt x="625492" y="1329374"/>
                </a:lnTo>
                <a:lnTo>
                  <a:pt x="620101" y="1328421"/>
                </a:lnTo>
                <a:lnTo>
                  <a:pt x="609001" y="1326516"/>
                </a:lnTo>
                <a:lnTo>
                  <a:pt x="597584" y="1323659"/>
                </a:lnTo>
                <a:lnTo>
                  <a:pt x="585850" y="1320166"/>
                </a:lnTo>
                <a:lnTo>
                  <a:pt x="574433" y="1315721"/>
                </a:lnTo>
                <a:lnTo>
                  <a:pt x="562698" y="1310641"/>
                </a:lnTo>
                <a:lnTo>
                  <a:pt x="550647" y="1304609"/>
                </a:lnTo>
                <a:lnTo>
                  <a:pt x="538913" y="1298259"/>
                </a:lnTo>
                <a:lnTo>
                  <a:pt x="527179" y="1290956"/>
                </a:lnTo>
                <a:lnTo>
                  <a:pt x="515444" y="1282701"/>
                </a:lnTo>
                <a:lnTo>
                  <a:pt x="503710" y="1274446"/>
                </a:lnTo>
                <a:lnTo>
                  <a:pt x="492293" y="1265239"/>
                </a:lnTo>
                <a:lnTo>
                  <a:pt x="481193" y="1255396"/>
                </a:lnTo>
                <a:lnTo>
                  <a:pt x="470093" y="1244919"/>
                </a:lnTo>
                <a:lnTo>
                  <a:pt x="459310" y="1233806"/>
                </a:lnTo>
                <a:lnTo>
                  <a:pt x="448845" y="1222376"/>
                </a:lnTo>
                <a:lnTo>
                  <a:pt x="438696" y="1209994"/>
                </a:lnTo>
                <a:lnTo>
                  <a:pt x="429499" y="1197611"/>
                </a:lnTo>
                <a:lnTo>
                  <a:pt x="419985" y="1184276"/>
                </a:lnTo>
                <a:lnTo>
                  <a:pt x="411422" y="1170624"/>
                </a:lnTo>
                <a:lnTo>
                  <a:pt x="403176" y="1156336"/>
                </a:lnTo>
                <a:lnTo>
                  <a:pt x="395565" y="1141731"/>
                </a:lnTo>
                <a:lnTo>
                  <a:pt x="388588" y="1126809"/>
                </a:lnTo>
                <a:lnTo>
                  <a:pt x="385416" y="1119189"/>
                </a:lnTo>
                <a:lnTo>
                  <a:pt x="382245" y="1111569"/>
                </a:lnTo>
                <a:lnTo>
                  <a:pt x="379390" y="1103631"/>
                </a:lnTo>
                <a:lnTo>
                  <a:pt x="376853" y="1095694"/>
                </a:lnTo>
                <a:lnTo>
                  <a:pt x="374316" y="1087756"/>
                </a:lnTo>
                <a:lnTo>
                  <a:pt x="372096" y="1079501"/>
                </a:lnTo>
                <a:lnTo>
                  <a:pt x="369559" y="1070929"/>
                </a:lnTo>
                <a:lnTo>
                  <a:pt x="367656" y="1062674"/>
                </a:lnTo>
                <a:lnTo>
                  <a:pt x="366071" y="1054419"/>
                </a:lnTo>
                <a:lnTo>
                  <a:pt x="364485" y="1045846"/>
                </a:lnTo>
                <a:lnTo>
                  <a:pt x="363216" y="1037274"/>
                </a:lnTo>
                <a:lnTo>
                  <a:pt x="362265" y="1028384"/>
                </a:lnTo>
                <a:lnTo>
                  <a:pt x="361313" y="1019811"/>
                </a:lnTo>
                <a:lnTo>
                  <a:pt x="360996" y="1010921"/>
                </a:lnTo>
                <a:lnTo>
                  <a:pt x="360362" y="1002031"/>
                </a:lnTo>
                <a:lnTo>
                  <a:pt x="360362" y="992823"/>
                </a:lnTo>
                <a:lnTo>
                  <a:pt x="360679" y="975678"/>
                </a:lnTo>
                <a:lnTo>
                  <a:pt x="361948" y="958533"/>
                </a:lnTo>
                <a:lnTo>
                  <a:pt x="363533" y="941706"/>
                </a:lnTo>
                <a:lnTo>
                  <a:pt x="366071" y="924878"/>
                </a:lnTo>
                <a:lnTo>
                  <a:pt x="368925" y="908686"/>
                </a:lnTo>
                <a:lnTo>
                  <a:pt x="373048" y="892811"/>
                </a:lnTo>
                <a:lnTo>
                  <a:pt x="377171" y="876936"/>
                </a:lnTo>
                <a:lnTo>
                  <a:pt x="382245" y="861696"/>
                </a:lnTo>
                <a:lnTo>
                  <a:pt x="387953" y="847091"/>
                </a:lnTo>
                <a:lnTo>
                  <a:pt x="393979" y="832168"/>
                </a:lnTo>
                <a:lnTo>
                  <a:pt x="400956" y="818198"/>
                </a:lnTo>
                <a:lnTo>
                  <a:pt x="408568" y="804546"/>
                </a:lnTo>
                <a:lnTo>
                  <a:pt x="416179" y="791211"/>
                </a:lnTo>
                <a:lnTo>
                  <a:pt x="424425" y="778511"/>
                </a:lnTo>
                <a:lnTo>
                  <a:pt x="433305" y="766446"/>
                </a:lnTo>
                <a:lnTo>
                  <a:pt x="442819" y="754698"/>
                </a:lnTo>
                <a:lnTo>
                  <a:pt x="452650" y="743586"/>
                </a:lnTo>
                <a:lnTo>
                  <a:pt x="462482" y="732791"/>
                </a:lnTo>
                <a:lnTo>
                  <a:pt x="473264" y="722631"/>
                </a:lnTo>
                <a:lnTo>
                  <a:pt x="484047" y="713423"/>
                </a:lnTo>
                <a:lnTo>
                  <a:pt x="495464" y="704533"/>
                </a:lnTo>
                <a:lnTo>
                  <a:pt x="507516" y="696596"/>
                </a:lnTo>
                <a:lnTo>
                  <a:pt x="519567" y="688976"/>
                </a:lnTo>
                <a:lnTo>
                  <a:pt x="531936" y="682308"/>
                </a:lnTo>
                <a:lnTo>
                  <a:pt x="538278" y="679133"/>
                </a:lnTo>
                <a:lnTo>
                  <a:pt x="544938" y="676276"/>
                </a:lnTo>
                <a:lnTo>
                  <a:pt x="551281" y="673418"/>
                </a:lnTo>
                <a:lnTo>
                  <a:pt x="557941" y="670878"/>
                </a:lnTo>
                <a:lnTo>
                  <a:pt x="564284" y="668338"/>
                </a:lnTo>
                <a:lnTo>
                  <a:pt x="571261" y="666433"/>
                </a:lnTo>
                <a:lnTo>
                  <a:pt x="577921" y="664211"/>
                </a:lnTo>
                <a:lnTo>
                  <a:pt x="584898" y="662623"/>
                </a:lnTo>
                <a:lnTo>
                  <a:pt x="591875" y="661036"/>
                </a:lnTo>
                <a:lnTo>
                  <a:pt x="598535" y="659766"/>
                </a:lnTo>
                <a:lnTo>
                  <a:pt x="605830" y="658178"/>
                </a:lnTo>
                <a:lnTo>
                  <a:pt x="612490" y="657226"/>
                </a:lnTo>
                <a:lnTo>
                  <a:pt x="619784" y="656591"/>
                </a:lnTo>
                <a:lnTo>
                  <a:pt x="627078" y="655956"/>
                </a:lnTo>
                <a:lnTo>
                  <a:pt x="634055" y="655638"/>
                </a:lnTo>
                <a:close/>
                <a:moveTo>
                  <a:pt x="1604962" y="463550"/>
                </a:moveTo>
                <a:lnTo>
                  <a:pt x="1776412" y="463550"/>
                </a:lnTo>
                <a:lnTo>
                  <a:pt x="1776412" y="1252538"/>
                </a:lnTo>
                <a:lnTo>
                  <a:pt x="1604962" y="1252538"/>
                </a:lnTo>
                <a:lnTo>
                  <a:pt x="1604962" y="463550"/>
                </a:lnTo>
                <a:close/>
                <a:moveTo>
                  <a:pt x="0" y="0"/>
                </a:moveTo>
                <a:lnTo>
                  <a:pt x="2125663" y="0"/>
                </a:lnTo>
                <a:lnTo>
                  <a:pt x="2125663" y="171553"/>
                </a:lnTo>
                <a:lnTo>
                  <a:pt x="2039621" y="171553"/>
                </a:lnTo>
                <a:lnTo>
                  <a:pt x="2039621" y="1577975"/>
                </a:lnTo>
                <a:lnTo>
                  <a:pt x="1252220" y="1577975"/>
                </a:lnTo>
                <a:lnTo>
                  <a:pt x="1252220" y="1449310"/>
                </a:lnTo>
                <a:lnTo>
                  <a:pt x="1911033" y="1449310"/>
                </a:lnTo>
                <a:lnTo>
                  <a:pt x="1911033" y="171553"/>
                </a:lnTo>
                <a:lnTo>
                  <a:pt x="195263" y="171553"/>
                </a:lnTo>
                <a:lnTo>
                  <a:pt x="195263" y="1249164"/>
                </a:lnTo>
                <a:lnTo>
                  <a:pt x="66675" y="1249164"/>
                </a:lnTo>
                <a:lnTo>
                  <a:pt x="66675" y="171553"/>
                </a:lnTo>
                <a:lnTo>
                  <a:pt x="0" y="17155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 contourW="12700">
              <a:contourClr>
                <a:srgbClr val="FFFFFF"/>
              </a:contourClr>
            </a:sp3d>
          </a:bodyPr>
          <a:lstStyle/>
          <a:p>
            <a:pPr algn="ctr">
              <a:defRPr/>
            </a:pPr>
            <a:endParaRPr lang="zh-CN" altLang="en-US" sz="2400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54236" y="664873"/>
            <a:ext cx="9043421" cy="5956126"/>
          </a:xfrm>
          <a:prstGeom prst="rect">
            <a:avLst/>
          </a:prstGeom>
          <a:effectLst>
            <a:outerShdw blurRad="279400" dist="50800" dir="5400000" algn="ctr" rotWithShape="0">
              <a:srgbClr val="000000">
                <a:alpha val="43137"/>
              </a:srgbClr>
            </a:outerShdw>
          </a:effectLst>
        </p:spPr>
      </p:pic>
    </p:spTree>
  </p:cSld>
  <p:clrMapOvr>
    <a:masterClrMapping/>
  </p:clrMapOvr>
  <p:transition spd="slow" advClick="0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5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02396" y="135467"/>
            <a:ext cx="5133622" cy="474133"/>
          </a:xfrm>
        </p:spPr>
        <p:txBody>
          <a:bodyPr>
            <a:normAutofit fontScale="90000"/>
          </a:bodyPr>
          <a:lstStyle/>
          <a:p>
            <a:r>
              <a:rPr lang="en-US" altLang="zh-CN" sz="4000" b="1" dirty="0">
                <a:solidFill>
                  <a:srgbClr val="002060"/>
                </a:solidFill>
              </a:rPr>
              <a:t>8</a:t>
            </a:r>
            <a:r>
              <a:rPr lang="zh-CN" altLang="en-US" sz="4000" b="1" dirty="0">
                <a:solidFill>
                  <a:srgbClr val="002060"/>
                </a:solidFill>
              </a:rPr>
              <a:t>条指令指令格式和功能</a:t>
            </a:r>
            <a:endParaRPr lang="zh-CN" altLang="en-US" sz="4000" b="1" dirty="0">
              <a:solidFill>
                <a:srgbClr val="002060"/>
              </a:solidFill>
            </a:endParaRP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</p:nvPr>
        </p:nvGraphicFramePr>
        <p:xfrm>
          <a:off x="0" y="-1"/>
          <a:ext cx="12192000" cy="62282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7356"/>
                <a:gridCol w="1911981"/>
                <a:gridCol w="4583574"/>
                <a:gridCol w="4379089"/>
              </a:tblGrid>
              <a:tr h="409410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opcode</a:t>
                      </a:r>
                      <a:endParaRPr lang="zh-CN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指令助记符</a:t>
                      </a:r>
                      <a:endParaRPr lang="zh-CN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RTL </a:t>
                      </a:r>
                      <a:r>
                        <a:rPr lang="zh-CN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功能描述</a:t>
                      </a:r>
                      <a:endParaRPr lang="zh-CN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备注</a:t>
                      </a:r>
                      <a:endParaRPr lang="zh-CN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409410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(func:32</a:t>
                      </a:r>
                      <a:r>
                        <a:rPr lang="zh-CN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）</a:t>
                      </a:r>
                      <a:endParaRPr lang="zh-CN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 $rd,</a:t>
                      </a:r>
                      <a:r>
                        <a:rPr lang="en-US" altLang="zh-CN" sz="20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$</a:t>
                      </a:r>
                      <a:r>
                        <a:rPr lang="en-US" altLang="zh-CN" sz="20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altLang="zh-CN" sz="20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$rt</a:t>
                      </a:r>
                      <a:endParaRPr lang="zh-CN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R[$rd]</a:t>
                      </a:r>
                      <a:r>
                        <a:rPr lang="en-US" altLang="zh-C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 </a:t>
                      </a:r>
                      <a:r>
                        <a:rPr lang="en-US" altLang="zh-C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R[$</a:t>
                      </a:r>
                      <a:r>
                        <a:rPr lang="en-US" altLang="zh-C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altLang="zh-C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]+R[$rt]</a:t>
                      </a:r>
                      <a:endParaRPr lang="zh-CN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409410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(func:12)</a:t>
                      </a:r>
                      <a:endParaRPr lang="zh-CN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syscall</a:t>
                      </a:r>
                      <a:endParaRPr lang="zh-CN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系统调用</a:t>
                      </a:r>
                      <a:endParaRPr lang="zh-CN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661356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altLang="zh-CN" sz="20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(func:42)</a:t>
                      </a:r>
                      <a:endParaRPr lang="zh-CN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slt</a:t>
                      </a:r>
                      <a:r>
                        <a:rPr lang="en-US" altLang="zh-C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$rd,</a:t>
                      </a:r>
                      <a:r>
                        <a:rPr lang="en-US" altLang="zh-CN" sz="20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$</a:t>
                      </a:r>
                      <a:r>
                        <a:rPr lang="en-US" altLang="zh-CN" sz="20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altLang="zh-CN" sz="20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$rt</a:t>
                      </a:r>
                      <a:endParaRPr lang="zh-CN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R[$rd]</a:t>
                      </a:r>
                      <a:r>
                        <a:rPr lang="en-US" altLang="zh-C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</a:t>
                      </a:r>
                      <a:r>
                        <a:rPr lang="en-US" altLang="zh-C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R[$</a:t>
                      </a:r>
                      <a:r>
                        <a:rPr lang="en-US" altLang="zh-C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altLang="zh-C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]&lt;R[$rt]</a:t>
                      </a:r>
                      <a:endParaRPr lang="zh-CN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小于置</a:t>
                      </a:r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alt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，有符号比较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811412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04</a:t>
                      </a:r>
                      <a:endParaRPr lang="zh-CN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beq</a:t>
                      </a:r>
                      <a:r>
                        <a:rPr lang="en-US" altLang="zh-C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20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</a:t>
                      </a:r>
                      <a:r>
                        <a:rPr lang="en-US" altLang="zh-CN" sz="20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altLang="zh-CN" sz="20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$rt</a:t>
                      </a:r>
                      <a:r>
                        <a:rPr lang="en-US" altLang="zh-CN" sz="2000" baseline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imm</a:t>
                      </a:r>
                      <a:endParaRPr lang="zh-CN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If (R[$</a:t>
                      </a:r>
                      <a:r>
                        <a:rPr lang="en-US" altLang="zh-C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altLang="zh-C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]=R[$rt]), PC</a:t>
                      </a:r>
                      <a:r>
                        <a:rPr lang="en-US" altLang="zh-C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</a:t>
                      </a:r>
                      <a:r>
                        <a:rPr lang="en-US" altLang="zh-CN" sz="20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PC+4</a:t>
                      </a:r>
                      <a:r>
                        <a:rPr lang="en-US" altLang="zh-C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+SignExt</a:t>
                      </a:r>
                      <a:r>
                        <a:rPr lang="en-US" altLang="zh-CN" sz="20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18b</a:t>
                      </a:r>
                      <a:r>
                        <a:rPr lang="en-US" altLang="zh-C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({imm</a:t>
                      </a:r>
                      <a:r>
                        <a:rPr lang="zh-CN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左移</a:t>
                      </a:r>
                      <a:r>
                        <a:rPr lang="en-US" altLang="zh-C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2</a:t>
                      </a:r>
                      <a:r>
                        <a:rPr lang="zh-CN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位</a:t>
                      </a:r>
                      <a:r>
                        <a:rPr lang="en-US" altLang="zh-C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})</a:t>
                      </a:r>
                      <a:endParaRPr lang="zh-CN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imm</a:t>
                      </a:r>
                      <a:r>
                        <a:rPr lang="zh-CN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是</a:t>
                      </a:r>
                      <a:r>
                        <a:rPr lang="zh-CN" altLang="en-US" sz="20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字地址</a:t>
                      </a:r>
                      <a:r>
                        <a:rPr lang="zh-CN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，左移</a:t>
                      </a:r>
                      <a:r>
                        <a:rPr lang="en-US" altLang="zh-C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zh-CN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位转换成字节地址</a:t>
                      </a:r>
                      <a:endParaRPr lang="zh-CN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724342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05</a:t>
                      </a:r>
                      <a:endParaRPr lang="zh-CN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bne</a:t>
                      </a:r>
                      <a:r>
                        <a:rPr lang="en-US" altLang="zh-C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20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</a:t>
                      </a:r>
                      <a:r>
                        <a:rPr lang="en-US" altLang="zh-CN" sz="20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altLang="zh-CN" sz="20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$rt</a:t>
                      </a:r>
                      <a:r>
                        <a:rPr lang="en-US" altLang="zh-CN" sz="2000" baseline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imm</a:t>
                      </a:r>
                      <a:endParaRPr lang="zh-CN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If (R[$</a:t>
                      </a:r>
                      <a:r>
                        <a:rPr lang="en-US" altLang="zh-C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altLang="zh-C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]!=R[$rt]), PC</a:t>
                      </a:r>
                      <a:r>
                        <a:rPr lang="en-US" altLang="zh-C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</a:t>
                      </a:r>
                      <a:r>
                        <a:rPr lang="en-US" altLang="zh-CN" sz="20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PC+4</a:t>
                      </a:r>
                      <a:r>
                        <a:rPr lang="en-US" altLang="zh-C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+SignExt</a:t>
                      </a:r>
                      <a:r>
                        <a:rPr lang="en-US" altLang="zh-CN" sz="20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18b</a:t>
                      </a:r>
                      <a:r>
                        <a:rPr lang="en-US" altLang="zh-C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({imm</a:t>
                      </a:r>
                      <a:r>
                        <a:rPr lang="zh-CN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左移</a:t>
                      </a:r>
                      <a:r>
                        <a:rPr lang="en-US" altLang="zh-C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2</a:t>
                      </a:r>
                      <a:r>
                        <a:rPr lang="zh-CN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位</a:t>
                      </a:r>
                      <a:r>
                        <a:rPr lang="en-US" altLang="zh-C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})</a:t>
                      </a:r>
                      <a:endParaRPr lang="zh-CN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imm</a:t>
                      </a:r>
                      <a:r>
                        <a:rPr lang="zh-CN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是</a:t>
                      </a:r>
                      <a:r>
                        <a:rPr lang="zh-CN" altLang="en-US" sz="20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字地址</a:t>
                      </a:r>
                      <a:r>
                        <a:rPr lang="zh-CN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，左移</a:t>
                      </a:r>
                      <a:r>
                        <a:rPr lang="en-US" altLang="zh-C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zh-CN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位转换成字节地址</a:t>
                      </a:r>
                      <a:endParaRPr lang="zh-CN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724342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08</a:t>
                      </a:r>
                      <a:endParaRPr lang="zh-CN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addi</a:t>
                      </a:r>
                      <a:r>
                        <a:rPr lang="en-US" altLang="zh-C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20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$rt, $</a:t>
                      </a:r>
                      <a:r>
                        <a:rPr lang="en-US" altLang="zh-CN" sz="20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altLang="zh-CN" sz="20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imm</a:t>
                      </a:r>
                      <a:endParaRPr lang="zh-CN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R[$rt]</a:t>
                      </a:r>
                      <a:r>
                        <a:rPr lang="en-US" altLang="zh-C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 </a:t>
                      </a:r>
                      <a:r>
                        <a:rPr lang="en-US" altLang="zh-C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R[$</a:t>
                      </a:r>
                      <a:r>
                        <a:rPr lang="en-US" altLang="zh-C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altLang="zh-C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]+</a:t>
                      </a:r>
                      <a:r>
                        <a:rPr lang="en-US" altLang="zh-C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SignExt</a:t>
                      </a:r>
                      <a:r>
                        <a:rPr lang="en-US" altLang="zh-CN" sz="20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16b</a:t>
                      </a:r>
                      <a:r>
                        <a:rPr lang="en-US" altLang="zh-C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(imm</a:t>
                      </a:r>
                      <a:r>
                        <a:rPr lang="zh-CN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）</a:t>
                      </a:r>
                      <a:endParaRPr lang="en-US" altLang="zh-C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1039273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</a:t>
                      </a:r>
                      <a:endParaRPr lang="zh-CN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lw</a:t>
                      </a:r>
                      <a:r>
                        <a:rPr lang="en-US" altLang="zh-CN" sz="20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$rt, imm($</a:t>
                      </a:r>
                      <a:r>
                        <a:rPr lang="en-US" altLang="zh-CN" sz="20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altLang="zh-CN" sz="20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CN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R[$rt]</a:t>
                      </a:r>
                      <a:r>
                        <a:rPr lang="en-US" altLang="zh-C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 Mem (</a:t>
                      </a:r>
                      <a:r>
                        <a:rPr lang="en-US" altLang="zh-C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R[$</a:t>
                      </a:r>
                      <a:r>
                        <a:rPr lang="en-US" altLang="zh-C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altLang="zh-C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]+</a:t>
                      </a:r>
                      <a:r>
                        <a:rPr lang="en-US" altLang="zh-C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SignExt</a:t>
                      </a:r>
                      <a:r>
                        <a:rPr lang="en-US" altLang="zh-CN" sz="20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16b</a:t>
                      </a:r>
                      <a:r>
                        <a:rPr lang="en-US" altLang="zh-C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en-US" altLang="zh-C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imm</a:t>
                      </a:r>
                      <a:r>
                        <a:rPr lang="en-US" altLang="zh-C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)</a:t>
                      </a:r>
                      <a:r>
                        <a:rPr lang="zh-CN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之和右移</a:t>
                      </a:r>
                      <a:r>
                        <a:rPr lang="en-US" altLang="zh-C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2</a:t>
                      </a:r>
                      <a:r>
                        <a:rPr lang="zh-CN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位</a:t>
                      </a:r>
                      <a:r>
                        <a:rPr lang="en-US" altLang="zh-C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)</a:t>
                      </a:r>
                      <a:endParaRPr lang="en-US" altLang="zh-C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zh-CN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和</a:t>
                      </a:r>
                      <a:r>
                        <a:rPr lang="en-US" altLang="zh-C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imm</a:t>
                      </a:r>
                      <a:r>
                        <a:rPr lang="zh-CN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都是</a:t>
                      </a:r>
                      <a:r>
                        <a:rPr lang="zh-CN" altLang="en-US" sz="20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字节地址</a:t>
                      </a:r>
                      <a:r>
                        <a:rPr lang="zh-CN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，加法和要右移</a:t>
                      </a:r>
                      <a:r>
                        <a:rPr lang="en-US" altLang="zh-C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zh-CN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位转换成字地址才能访问存储器</a:t>
                      </a:r>
                      <a:endParaRPr lang="zh-CN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1039273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43</a:t>
                      </a:r>
                      <a:endParaRPr lang="zh-CN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</a:t>
                      </a:r>
                      <a:r>
                        <a:rPr lang="en-US" altLang="zh-CN" sz="20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$rt, imm($</a:t>
                      </a:r>
                      <a:r>
                        <a:rPr lang="en-US" altLang="zh-CN" sz="20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altLang="zh-CN" sz="20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CN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Mem (</a:t>
                      </a:r>
                      <a:r>
                        <a:rPr lang="en-US" altLang="zh-C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R[$</a:t>
                      </a:r>
                      <a:r>
                        <a:rPr lang="en-US" altLang="zh-C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altLang="zh-C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]+</a:t>
                      </a:r>
                      <a:r>
                        <a:rPr lang="en-US" altLang="zh-C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SignExt</a:t>
                      </a:r>
                      <a:r>
                        <a:rPr lang="en-US" altLang="zh-CN" sz="20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16b</a:t>
                      </a:r>
                      <a:r>
                        <a:rPr lang="en-US" altLang="zh-C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en-US" altLang="zh-C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imm</a:t>
                      </a:r>
                      <a:r>
                        <a:rPr lang="en-US" altLang="zh-C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)</a:t>
                      </a:r>
                      <a:r>
                        <a:rPr lang="zh-CN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之和右移</a:t>
                      </a:r>
                      <a:r>
                        <a:rPr lang="en-US" altLang="zh-C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2</a:t>
                      </a:r>
                      <a:r>
                        <a:rPr lang="zh-CN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位</a:t>
                      </a:r>
                      <a:r>
                        <a:rPr lang="en-US" altLang="zh-C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)</a:t>
                      </a:r>
                      <a:r>
                        <a:rPr lang="en-US" altLang="zh-C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R[$rt]</a:t>
                      </a:r>
                      <a:endParaRPr lang="en-US" altLang="zh-C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zh-CN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和</a:t>
                      </a:r>
                      <a:r>
                        <a:rPr lang="en-US" altLang="zh-C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imm</a:t>
                      </a:r>
                      <a:r>
                        <a:rPr lang="zh-CN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都是</a:t>
                      </a:r>
                      <a:r>
                        <a:rPr lang="zh-CN" altLang="en-US" sz="20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字节地址</a:t>
                      </a:r>
                      <a:r>
                        <a:rPr lang="zh-CN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，加法和要右移</a:t>
                      </a:r>
                      <a:r>
                        <a:rPr lang="en-US" altLang="zh-C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zh-CN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位转换成字地址才能访问存储器</a:t>
                      </a:r>
                      <a:endParaRPr lang="zh-CN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0" y="6491700"/>
            <a:ext cx="12293600" cy="461665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2060"/>
                </a:solidFill>
              </a:rPr>
              <a:t>备注：</a:t>
            </a:r>
            <a:r>
              <a:rPr lang="zh-CN" altLang="en-US" sz="2400" dirty="0">
                <a:solidFill>
                  <a:srgbClr val="002060"/>
                </a:solidFill>
              </a:rPr>
              <a:t>跳转指令偏移地址</a:t>
            </a:r>
            <a:r>
              <a:rPr lang="en-US" altLang="zh-CN" sz="2400" dirty="0">
                <a:solidFill>
                  <a:srgbClr val="002060"/>
                </a:solidFill>
              </a:rPr>
              <a:t>imm</a:t>
            </a:r>
            <a:r>
              <a:rPr lang="zh-CN" altLang="en-US" sz="2400" dirty="0">
                <a:solidFill>
                  <a:srgbClr val="002060"/>
                </a:solidFill>
              </a:rPr>
              <a:t>求解公式</a:t>
            </a:r>
            <a:r>
              <a:rPr lang="zh-CN" altLang="en-US" sz="2400" dirty="0">
                <a:solidFill>
                  <a:srgbClr val="002060"/>
                </a:solidFill>
                <a:sym typeface="Wingdings" panose="05000000000000000000" pitchFamily="2" charset="2"/>
              </a:rPr>
              <a:t>：目标字节地址</a:t>
            </a:r>
            <a:r>
              <a:rPr lang="en-US" altLang="zh-CN" sz="2400">
                <a:solidFill>
                  <a:srgbClr val="002060"/>
                </a:solidFill>
                <a:sym typeface="Wingdings" panose="05000000000000000000" pitchFamily="2" charset="2"/>
              </a:rPr>
              <a:t>C=</a:t>
            </a:r>
            <a:r>
              <a:rPr lang="zh-CN" altLang="en-US" sz="2400" dirty="0">
                <a:solidFill>
                  <a:srgbClr val="002060"/>
                </a:solidFill>
                <a:sym typeface="Wingdings" panose="05000000000000000000" pitchFamily="2" charset="2"/>
              </a:rPr>
              <a:t>当前地址</a:t>
            </a:r>
            <a:r>
              <a:rPr lang="en-US" altLang="zh-CN" sz="2400" dirty="0">
                <a:solidFill>
                  <a:srgbClr val="002060"/>
                </a:solidFill>
                <a:sym typeface="Wingdings" panose="05000000000000000000" pitchFamily="2" charset="2"/>
              </a:rPr>
              <a:t>+4+imm</a:t>
            </a:r>
            <a:r>
              <a:rPr lang="zh-CN" altLang="en-US" sz="2400" dirty="0">
                <a:solidFill>
                  <a:srgbClr val="002060"/>
                </a:solidFill>
                <a:sym typeface="Wingdings" panose="05000000000000000000" pitchFamily="2" charset="2"/>
              </a:rPr>
              <a:t>*</a:t>
            </a:r>
            <a:r>
              <a:rPr lang="en-US" altLang="zh-CN" sz="2400" dirty="0">
                <a:solidFill>
                  <a:srgbClr val="002060"/>
                </a:solidFill>
                <a:sym typeface="Wingdings" panose="05000000000000000000" pitchFamily="2" charset="2"/>
              </a:rPr>
              <a:t>4</a:t>
            </a:r>
            <a:endParaRPr lang="en-US" altLang="zh-CN" sz="2400" dirty="0">
              <a:solidFill>
                <a:srgbClr val="002060"/>
              </a:solidFill>
              <a:sym typeface="Wingdings" panose="05000000000000000000" pitchFamily="2" charset="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6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9437" y="982195"/>
            <a:ext cx="11255875" cy="585205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8790" y="79397"/>
            <a:ext cx="2303773" cy="2730877"/>
          </a:xfrm>
          <a:prstGeom prst="rect">
            <a:avLst/>
          </a:prstGeom>
          <a:effectLst>
            <a:outerShdw blurRad="355600" dist="50800" dir="5400000" algn="ctr" rotWithShape="0">
              <a:srgbClr val="000000">
                <a:alpha val="43137"/>
              </a:srgbClr>
            </a:outerShdw>
          </a:effectLst>
        </p:spPr>
      </p:pic>
      <p:cxnSp>
        <p:nvCxnSpPr>
          <p:cNvPr id="8" name="直接连接符 7"/>
          <p:cNvCxnSpPr/>
          <p:nvPr/>
        </p:nvCxnSpPr>
        <p:spPr>
          <a:xfrm flipH="1">
            <a:off x="2065868" y="2596444"/>
            <a:ext cx="19981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2065867" y="2596444"/>
            <a:ext cx="0" cy="13772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3364089" y="2319445"/>
            <a:ext cx="6999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accent1"/>
                </a:solidFill>
              </a:rPr>
              <a:t>Halt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9694119" y="1619131"/>
            <a:ext cx="596900" cy="70031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矩形 1"/>
          <p:cNvSpPr/>
          <p:nvPr/>
        </p:nvSpPr>
        <p:spPr>
          <a:xfrm>
            <a:off x="179196" y="1703861"/>
            <a:ext cx="40062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PCS</a:t>
            </a:r>
            <a:r>
              <a:rPr lang="en-US" altLang="zh-CN" dirty="0" err="1"/>
              <a:t>rc</a:t>
            </a:r>
            <a:r>
              <a:rPr lang="en-US" dirty="0"/>
              <a:t>= (</a:t>
            </a:r>
            <a:r>
              <a:rPr lang="en-US" dirty="0" err="1"/>
              <a:t>Beq</a:t>
            </a:r>
            <a:r>
              <a:rPr lang="en-US" dirty="0"/>
              <a:t> &amp; Equal) | (</a:t>
            </a:r>
            <a:r>
              <a:rPr lang="en-US" dirty="0" err="1"/>
              <a:t>Bne</a:t>
            </a:r>
            <a:r>
              <a:rPr lang="en-US" dirty="0"/>
              <a:t> &amp; ~Equal)</a:t>
            </a:r>
            <a:endParaRPr 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5707374" y="1362808"/>
            <a:ext cx="2152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CLK Rising edge</a:t>
            </a:r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956464"/>
            <a:ext cx="10664328" cy="5745866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8507" y="0"/>
            <a:ext cx="2177143" cy="4121621"/>
          </a:xfrm>
          <a:prstGeom prst="rect">
            <a:avLst/>
          </a:prstGeom>
          <a:effectLst>
            <a:outerShdw blurRad="279400" dist="50800" dir="5400000" algn="ctr" rotWithShape="0">
              <a:srgbClr val="000000">
                <a:alpha val="43137"/>
              </a:srgbClr>
            </a:outerShdw>
          </a:effectLst>
        </p:spPr>
      </p:pic>
      <p:sp>
        <p:nvSpPr>
          <p:cNvPr id="2" name="文本框 1"/>
          <p:cNvSpPr txBox="1"/>
          <p:nvPr/>
        </p:nvSpPr>
        <p:spPr>
          <a:xfrm>
            <a:off x="3297277" y="172812"/>
            <a:ext cx="67887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0070C0"/>
                </a:solidFill>
              </a:rPr>
              <a:t>Multi cycle 8-instruction CPU data path diagram (suitable for both microprogramming and hardwired controllers)</a:t>
            </a:r>
            <a:endParaRPr lang="zh-CN" altLang="en-US" dirty="0"/>
          </a:p>
        </p:txBody>
      </p:sp>
      <p:sp>
        <p:nvSpPr>
          <p:cNvPr id="5" name="椭圆 4"/>
          <p:cNvSpPr/>
          <p:nvPr/>
        </p:nvSpPr>
        <p:spPr>
          <a:xfrm>
            <a:off x="10086005" y="500743"/>
            <a:ext cx="596900" cy="70031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椭圆 5"/>
          <p:cNvSpPr/>
          <p:nvPr/>
        </p:nvSpPr>
        <p:spPr>
          <a:xfrm>
            <a:off x="10500179" y="56095"/>
            <a:ext cx="596900" cy="70031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椭圆 6"/>
          <p:cNvSpPr/>
          <p:nvPr/>
        </p:nvSpPr>
        <p:spPr>
          <a:xfrm>
            <a:off x="10259053" y="2394857"/>
            <a:ext cx="596900" cy="79465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矩形 7"/>
          <p:cNvSpPr/>
          <p:nvPr/>
        </p:nvSpPr>
        <p:spPr>
          <a:xfrm>
            <a:off x="138820" y="1565544"/>
            <a:ext cx="48654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PCEn</a:t>
            </a:r>
            <a:r>
              <a:rPr lang="en-US" dirty="0"/>
              <a:t>=</a:t>
            </a:r>
            <a:r>
              <a:rPr lang="en-US" dirty="0" err="1"/>
              <a:t>PCWrite</a:t>
            </a:r>
            <a:r>
              <a:rPr lang="en-US" dirty="0"/>
              <a:t> | (</a:t>
            </a:r>
            <a:r>
              <a:rPr lang="en-US" dirty="0" err="1"/>
              <a:t>Beq</a:t>
            </a:r>
            <a:r>
              <a:rPr lang="en-US" dirty="0"/>
              <a:t> &amp; Equal) | (</a:t>
            </a:r>
            <a:r>
              <a:rPr lang="en-US" dirty="0" err="1"/>
              <a:t>Bne</a:t>
            </a:r>
            <a:r>
              <a:rPr lang="en-US" dirty="0"/>
              <a:t> &amp; ~Equal)</a:t>
            </a:r>
            <a:endParaRPr 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5724958" y="1090198"/>
            <a:ext cx="2152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CLK Rising edge</a:t>
            </a:r>
            <a:endParaRPr lang="zh-CN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28860" y="-180975"/>
            <a:ext cx="10515600" cy="1325563"/>
          </a:xfrm>
        </p:spPr>
        <p:txBody>
          <a:bodyPr/>
          <a:lstStyle/>
          <a:p>
            <a:r>
              <a:rPr lang="zh-CN" altLang="en-US" dirty="0"/>
              <a:t>控制信号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489" y="953238"/>
            <a:ext cx="11737644" cy="5904762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690886" y="0"/>
            <a:ext cx="56629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Follow the data path diagram and microprogram flowchart </a:t>
            </a:r>
            <a:r>
              <a:rPr lang="zh-CN" altLang="en-US" sz="1600" dirty="0"/>
              <a:t>，</a:t>
            </a:r>
            <a:r>
              <a:rPr lang="en-US" altLang="zh-CN" sz="1600" dirty="0"/>
              <a:t> provide a detailed explanation of how each statement is implemented through control signals</a:t>
            </a:r>
            <a:endParaRPr lang="zh-CN" altLang="en-US" sz="1600" dirty="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14400"/>
            <a:ext cx="10668000" cy="59436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625467" y="133771"/>
            <a:ext cx="3513463" cy="780629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微程序流程图</a:t>
            </a:r>
            <a:endParaRPr lang="zh-CN" altLang="en-US" dirty="0"/>
          </a:p>
        </p:txBody>
      </p:sp>
      <p:graphicFrame>
        <p:nvGraphicFramePr>
          <p:cNvPr id="5" name="内容占位符 4"/>
          <p:cNvGraphicFramePr>
            <a:graphicFrameLocks noGrp="1"/>
          </p:cNvGraphicFramePr>
          <p:nvPr>
            <p:ph idx="1"/>
          </p:nvPr>
        </p:nvGraphicFramePr>
        <p:xfrm>
          <a:off x="10134600" y="914400"/>
          <a:ext cx="2057400" cy="36986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800"/>
                <a:gridCol w="685800"/>
                <a:gridCol w="685800"/>
              </a:tblGrid>
              <a:tr h="42368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Micro instruction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 dirty="0">
                          <a:effectLst/>
                        </a:rPr>
                        <a:t>status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ADDRESS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</a:tr>
              <a:tr h="22901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IF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0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</a:tr>
              <a:tr h="21756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ID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S1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</a:tr>
              <a:tr h="2175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LW1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</a:tr>
              <a:tr h="2175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LW2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3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</a:tr>
              <a:tr h="2175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LW3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S4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</a:tr>
              <a:tr h="2175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SW1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</a:tr>
              <a:tr h="2175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SW2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</a:tr>
              <a:tr h="2175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R</a:t>
                      </a:r>
                      <a:r>
                        <a:rPr lang="zh-CN" altLang="en-US" sz="1100" u="none" strike="noStrike" dirty="0">
                          <a:effectLst/>
                        </a:rPr>
                        <a:t> </a:t>
                      </a:r>
                      <a:r>
                        <a:rPr lang="en-US" altLang="zh-CN" sz="1100" u="none" strike="noStrike" dirty="0">
                          <a:effectLst/>
                        </a:rPr>
                        <a:t>TYPE1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7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</a:tr>
              <a:tr h="2175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R</a:t>
                      </a:r>
                      <a:r>
                        <a:rPr lang="zh-CN" altLang="en-US" sz="1100" u="none" strike="noStrike" dirty="0">
                          <a:effectLst/>
                        </a:rPr>
                        <a:t> </a:t>
                      </a:r>
                      <a:r>
                        <a:rPr lang="en-US" altLang="zh-CN" sz="1100" u="none" strike="noStrike" dirty="0">
                          <a:effectLst/>
                        </a:rPr>
                        <a:t>TYPE2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</a:tr>
              <a:tr h="2175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Beq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</a:tr>
              <a:tr h="2175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Bne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S10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10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</a:tr>
              <a:tr h="2175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ADDI1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S11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11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</a:tr>
              <a:tr h="2175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ADDI2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S12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12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</a:tr>
              <a:tr h="2175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SYSCALL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S13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13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</a:tr>
              <a:tr h="217568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effectLst/>
                        </a:rPr>
                        <a:t>微程序地址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8" name="椭圆 7"/>
          <p:cNvSpPr/>
          <p:nvPr/>
        </p:nvSpPr>
        <p:spPr>
          <a:xfrm>
            <a:off x="1986698" y="3724179"/>
            <a:ext cx="908756" cy="53244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3075803" y="3676404"/>
            <a:ext cx="908756" cy="53244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901634" y="3735515"/>
            <a:ext cx="1117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dirty="0"/>
              <a:t>核算地址</a:t>
            </a:r>
            <a:endParaRPr lang="en-US" altLang="zh-CN" sz="1100" dirty="0"/>
          </a:p>
          <a:p>
            <a:pPr algn="ctr"/>
            <a:r>
              <a:rPr lang="en-US" altLang="zh-CN" sz="1100" dirty="0" err="1"/>
              <a:t>A+imm→C</a:t>
            </a:r>
            <a:endParaRPr lang="zh-CN" altLang="en-US" sz="1100" dirty="0"/>
          </a:p>
        </p:txBody>
      </p:sp>
      <p:sp>
        <p:nvSpPr>
          <p:cNvPr id="10" name="文本框 9"/>
          <p:cNvSpPr txBox="1"/>
          <p:nvPr/>
        </p:nvSpPr>
        <p:spPr>
          <a:xfrm>
            <a:off x="2980517" y="3727183"/>
            <a:ext cx="109932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dirty="0"/>
              <a:t>核算地址</a:t>
            </a:r>
            <a:endParaRPr lang="en-US" altLang="zh-CN" sz="1100" dirty="0"/>
          </a:p>
          <a:p>
            <a:pPr algn="ctr"/>
            <a:r>
              <a:rPr lang="en-US" altLang="zh-CN" sz="1100" dirty="0" err="1"/>
              <a:t>A+imm→C</a:t>
            </a:r>
            <a:endParaRPr lang="zh-CN" altLang="en-US" sz="1100" dirty="0"/>
          </a:p>
        </p:txBody>
      </p:sp>
      <p:sp>
        <p:nvSpPr>
          <p:cNvPr id="3" name="文本框 2"/>
          <p:cNvSpPr txBox="1"/>
          <p:nvPr/>
        </p:nvSpPr>
        <p:spPr>
          <a:xfrm>
            <a:off x="6096001" y="1200727"/>
            <a:ext cx="403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70C0"/>
                </a:solidFill>
              </a:rPr>
              <a:t>特指</a:t>
            </a:r>
            <a:r>
              <a:rPr lang="en-US" altLang="zh-CN" dirty="0">
                <a:solidFill>
                  <a:srgbClr val="0070C0"/>
                </a:solidFill>
              </a:rPr>
              <a:t>ADD</a:t>
            </a:r>
            <a:r>
              <a:rPr lang="zh-CN" altLang="en-US" dirty="0">
                <a:solidFill>
                  <a:srgbClr val="0070C0"/>
                </a:solidFill>
              </a:rPr>
              <a:t>和</a:t>
            </a:r>
            <a:r>
              <a:rPr lang="en-US" altLang="zh-CN" dirty="0">
                <a:solidFill>
                  <a:srgbClr val="0070C0"/>
                </a:solidFill>
              </a:rPr>
              <a:t>SLT</a:t>
            </a:r>
            <a:r>
              <a:rPr lang="zh-CN" altLang="en-US" dirty="0">
                <a:solidFill>
                  <a:srgbClr val="0070C0"/>
                </a:solidFill>
              </a:rPr>
              <a:t>等</a:t>
            </a:r>
            <a:r>
              <a:rPr lang="en-US" altLang="zh-CN" dirty="0">
                <a:solidFill>
                  <a:srgbClr val="0070C0"/>
                </a:solidFill>
              </a:rPr>
              <a:t>RTYPE,</a:t>
            </a:r>
            <a:r>
              <a:rPr lang="zh-CN" altLang="en-US" dirty="0">
                <a:solidFill>
                  <a:srgbClr val="0070C0"/>
                </a:solidFill>
              </a:rPr>
              <a:t>用</a:t>
            </a:r>
            <a:r>
              <a:rPr lang="en-US" altLang="zh-CN" dirty="0">
                <a:solidFill>
                  <a:srgbClr val="0070C0"/>
                </a:solidFill>
              </a:rPr>
              <a:t>Aluop</a:t>
            </a:r>
            <a:r>
              <a:rPr lang="zh-CN" altLang="en-US" dirty="0">
                <a:solidFill>
                  <a:srgbClr val="0070C0"/>
                </a:solidFill>
              </a:rPr>
              <a:t>区分</a:t>
            </a:r>
            <a:endParaRPr lang="zh-CN" altLang="en-US" dirty="0">
              <a:solidFill>
                <a:srgbClr val="0070C0"/>
              </a:solidFill>
            </a:endParaRPr>
          </a:p>
        </p:txBody>
      </p:sp>
      <p:cxnSp>
        <p:nvCxnSpPr>
          <p:cNvPr id="11" name="直接箭头连接符 10"/>
          <p:cNvCxnSpPr/>
          <p:nvPr/>
        </p:nvCxnSpPr>
        <p:spPr>
          <a:xfrm flipV="1">
            <a:off x="4904509" y="1513168"/>
            <a:ext cx="1560946" cy="13223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6959664" y="84834"/>
            <a:ext cx="388760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Instruction Fetch/Instruction Decode</a:t>
            </a:r>
            <a:endParaRPr lang="en-US" altLang="zh-CN" dirty="0"/>
          </a:p>
          <a:p>
            <a:r>
              <a:rPr lang="en-US" altLang="zh-CN" dirty="0"/>
              <a:t>/</a:t>
            </a:r>
            <a:r>
              <a:rPr lang="en-US" altLang="zh-CN" dirty="0" err="1"/>
              <a:t>Excution</a:t>
            </a:r>
            <a:r>
              <a:rPr lang="en-US" altLang="zh-CN" dirty="0"/>
              <a:t>/Memory Access/Write Back</a:t>
            </a:r>
            <a:endParaRPr lang="zh-CN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90600"/>
            <a:ext cx="12192000" cy="58674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323" y="49544"/>
            <a:ext cx="12049354" cy="760721"/>
          </a:xfrm>
        </p:spPr>
        <p:txBody>
          <a:bodyPr>
            <a:no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Microprogram controller (</a:t>
            </a:r>
            <a:r>
              <a:rPr lang="en-US" altLang="zh-CN" sz="2800" b="1" dirty="0" err="1">
                <a:solidFill>
                  <a:schemeClr val="bg1"/>
                </a:solidFill>
                <a:latin typeface="Sitka Subheading" pitchFamily="2" charset="0"/>
                <a:ea typeface="微软雅黑" panose="020B0503020204020204" pitchFamily="34" charset="-122"/>
              </a:rPr>
              <a:t>input:OP</a:t>
            </a:r>
            <a:r>
              <a:rPr lang="en-US" altLang="zh-CN" sz="2800" b="1" dirty="0">
                <a:solidFill>
                  <a:schemeClr val="bg1"/>
                </a:solidFill>
                <a:latin typeface="Sitka Subheading" pitchFamily="2" charset="0"/>
                <a:ea typeface="微软雅黑" panose="020B0503020204020204" pitchFamily="34" charset="-122"/>
              </a:rPr>
              <a:t>/FUNC/CLK/RST</a:t>
            </a:r>
            <a:r>
              <a:rPr lang="zh-CN" altLang="en-US" sz="2800" b="1" dirty="0">
                <a:solidFill>
                  <a:schemeClr val="bg1"/>
                </a:solidFill>
                <a:latin typeface="Sitka Subheading" pitchFamily="2" charset="0"/>
                <a:ea typeface="微软雅黑" panose="020B0503020204020204" pitchFamily="34" charset="-122"/>
              </a:rPr>
              <a:t>；</a:t>
            </a:r>
            <a:r>
              <a:rPr lang="en-US" altLang="zh-CN" sz="2800" b="1" dirty="0">
                <a:solidFill>
                  <a:schemeClr val="bg1"/>
                </a:solidFill>
                <a:latin typeface="Sitka Subheading" pitchFamily="2" charset="0"/>
                <a:ea typeface="微软雅黑" panose="020B0503020204020204" pitchFamily="34" charset="-122"/>
              </a:rPr>
              <a:t>OUTPUT:ALU_OP,BNE..</a:t>
            </a:r>
            <a:r>
              <a:rPr lang="en-US" altLang="zh-CN" sz="2800" b="1" dirty="0" err="1">
                <a:solidFill>
                  <a:schemeClr val="bg1"/>
                </a:solidFill>
                <a:latin typeface="Sitka Subheading" pitchFamily="2" charset="0"/>
                <a:ea typeface="微软雅黑" panose="020B0503020204020204" pitchFamily="34" charset="-122"/>
              </a:rPr>
              <a:t>IorD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077287" y="1524000"/>
            <a:ext cx="1372447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defTabSz="12192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000" dirty="0">
                <a:solidFill>
                  <a:prstClr val="black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16</a:t>
            </a:r>
            <a:r>
              <a:rPr lang="zh-CN" altLang="en-US" sz="1000" dirty="0">
                <a:solidFill>
                  <a:prstClr val="black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个字，每字</a:t>
            </a:r>
            <a:r>
              <a:rPr lang="en-US" altLang="zh-CN" sz="1000" dirty="0">
                <a:solidFill>
                  <a:prstClr val="black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21</a:t>
            </a:r>
            <a:r>
              <a:rPr lang="zh-CN" altLang="en-US" sz="1000" dirty="0">
                <a:solidFill>
                  <a:prstClr val="black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位</a:t>
            </a:r>
            <a:endParaRPr lang="en-US" altLang="zh-CN" sz="1000" dirty="0">
              <a:solidFill>
                <a:prstClr val="black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733550" y="3848101"/>
            <a:ext cx="5267325" cy="264795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077075" y="3848101"/>
            <a:ext cx="4972916" cy="264795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61951" y="1657350"/>
            <a:ext cx="1171575" cy="13335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cxnSp>
        <p:nvCxnSpPr>
          <p:cNvPr id="11" name="直接箭头连接符 10"/>
          <p:cNvCxnSpPr/>
          <p:nvPr/>
        </p:nvCxnSpPr>
        <p:spPr>
          <a:xfrm>
            <a:off x="7705147" y="1790701"/>
            <a:ext cx="0" cy="352425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1733127" y="1068493"/>
            <a:ext cx="10318327" cy="27008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cxnSp>
        <p:nvCxnSpPr>
          <p:cNvPr id="10" name="直接箭头连接符 9"/>
          <p:cNvCxnSpPr/>
          <p:nvPr/>
        </p:nvCxnSpPr>
        <p:spPr>
          <a:xfrm flipH="1" flipV="1">
            <a:off x="11079892" y="2186108"/>
            <a:ext cx="8238" cy="244054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10677544" y="2475302"/>
            <a:ext cx="1372447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defTabSz="12192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000" dirty="0">
                <a:solidFill>
                  <a:prstClr val="black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1000" dirty="0">
                <a:solidFill>
                  <a:prstClr val="black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位，不输出</a:t>
            </a:r>
            <a:endParaRPr lang="en-US" altLang="zh-CN" sz="1000" dirty="0">
              <a:solidFill>
                <a:prstClr val="black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cxnSp>
        <p:nvCxnSpPr>
          <p:cNvPr id="14" name="直接箭头连接符 13"/>
          <p:cNvCxnSpPr/>
          <p:nvPr/>
        </p:nvCxnSpPr>
        <p:spPr>
          <a:xfrm flipH="1" flipV="1">
            <a:off x="4097289" y="1601998"/>
            <a:ext cx="8238" cy="244054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3761879" y="1883922"/>
            <a:ext cx="1372447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defTabSz="12192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000" dirty="0">
                <a:solidFill>
                  <a:prstClr val="black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4</a:t>
            </a:r>
            <a:r>
              <a:rPr lang="zh-CN" altLang="en-US" sz="1000" dirty="0">
                <a:solidFill>
                  <a:prstClr val="black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位，输出</a:t>
            </a:r>
            <a:endParaRPr lang="en-US" altLang="zh-CN" sz="1000" dirty="0">
              <a:solidFill>
                <a:prstClr val="black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90011"/>
            <a:ext cx="1673411" cy="3167989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11403023" y="1611005"/>
            <a:ext cx="64633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prstClr val="black"/>
                </a:solidFill>
                <a:latin typeface="Calibri" panose="020F0502020204030204" pitchFamily="34" charset="0"/>
              </a:rPr>
              <a:t>不输出</a:t>
            </a:r>
            <a:endParaRPr lang="en-US" altLang="zh-CN" sz="1200" dirty="0">
              <a:solidFill>
                <a:prstClr val="black"/>
              </a:solidFill>
              <a:latin typeface="Calibri" panose="020F0502020204030204" pitchFamily="34" charset="0"/>
            </a:endParaRPr>
          </a:p>
        </p:txBody>
      </p:sp>
      <p:cxnSp>
        <p:nvCxnSpPr>
          <p:cNvPr id="17" name="直接箭头连接符 16"/>
          <p:cNvCxnSpPr/>
          <p:nvPr/>
        </p:nvCxnSpPr>
        <p:spPr>
          <a:xfrm flipH="1" flipV="1">
            <a:off x="10798629" y="1657350"/>
            <a:ext cx="732972" cy="66675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4294967295"/>
          </p:nvPr>
        </p:nvPicPr>
        <p:blipFill>
          <a:blip r:embed="rId1"/>
          <a:stretch>
            <a:fillRect/>
          </a:stretch>
        </p:blipFill>
        <p:spPr>
          <a:xfrm>
            <a:off x="1" y="956464"/>
            <a:ext cx="10196945" cy="5901536"/>
          </a:xfrm>
          <a:prstGeom prst="rect">
            <a:avLst/>
          </a:prstGeom>
        </p:spPr>
      </p:pic>
      <p:cxnSp>
        <p:nvCxnSpPr>
          <p:cNvPr id="7" name="直接连接符 6"/>
          <p:cNvCxnSpPr/>
          <p:nvPr/>
        </p:nvCxnSpPr>
        <p:spPr>
          <a:xfrm flipH="1">
            <a:off x="2179783" y="2456873"/>
            <a:ext cx="168101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2170545" y="2466110"/>
            <a:ext cx="0" cy="167178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3020291" y="2204499"/>
            <a:ext cx="90516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 err="1">
                <a:solidFill>
                  <a:schemeClr val="accent1"/>
                </a:solidFill>
              </a:rPr>
              <a:t>MemREAD</a:t>
            </a:r>
            <a:endParaRPr lang="zh-CN" altLang="en-US" sz="1100" b="1" dirty="0">
              <a:solidFill>
                <a:schemeClr val="accent1"/>
              </a:solidFill>
            </a:endParaRPr>
          </a:p>
        </p:txBody>
      </p:sp>
      <p:cxnSp>
        <p:nvCxnSpPr>
          <p:cNvPr id="14" name="直接箭头连接符 13"/>
          <p:cNvCxnSpPr/>
          <p:nvPr/>
        </p:nvCxnSpPr>
        <p:spPr>
          <a:xfrm>
            <a:off x="2170545" y="2442559"/>
            <a:ext cx="0" cy="1690253"/>
          </a:xfrm>
          <a:prstGeom prst="straightConnector1">
            <a:avLst/>
          </a:prstGeom>
          <a:ln w="28575" cmpd="sng">
            <a:solidFill>
              <a:schemeClr val="accent6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>
            <a:off x="1233056" y="4428837"/>
            <a:ext cx="374073" cy="0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/>
          <p:nvPr/>
        </p:nvCxnSpPr>
        <p:spPr>
          <a:xfrm>
            <a:off x="1745673" y="4525819"/>
            <a:ext cx="332511" cy="0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/>
        </p:nvCxnSpPr>
        <p:spPr>
          <a:xfrm>
            <a:off x="2724728" y="4428837"/>
            <a:ext cx="374073" cy="0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>
            <a:off x="3186545" y="3108036"/>
            <a:ext cx="0" cy="1122219"/>
          </a:xfrm>
          <a:prstGeom prst="straightConnector1">
            <a:avLst/>
          </a:prstGeom>
          <a:ln w="28575" cmpd="sng">
            <a:solidFill>
              <a:schemeClr val="accent6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/>
        </p:nvCxnSpPr>
        <p:spPr>
          <a:xfrm>
            <a:off x="1160319" y="1930397"/>
            <a:ext cx="0" cy="2299859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/>
          <p:nvPr/>
        </p:nvCxnSpPr>
        <p:spPr>
          <a:xfrm>
            <a:off x="6280727" y="4137891"/>
            <a:ext cx="267855" cy="0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/>
          <p:nvPr/>
        </p:nvCxnSpPr>
        <p:spPr>
          <a:xfrm>
            <a:off x="6728691" y="4230256"/>
            <a:ext cx="817419" cy="0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/>
          <p:cNvCxnSpPr/>
          <p:nvPr/>
        </p:nvCxnSpPr>
        <p:spPr>
          <a:xfrm>
            <a:off x="7042727" y="3103419"/>
            <a:ext cx="0" cy="1422400"/>
          </a:xfrm>
          <a:prstGeom prst="straightConnector1">
            <a:avLst/>
          </a:prstGeom>
          <a:ln w="28575" cmpd="sng">
            <a:solidFill>
              <a:schemeClr val="accent6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/>
          <p:cNvCxnSpPr/>
          <p:nvPr/>
        </p:nvCxnSpPr>
        <p:spPr>
          <a:xfrm>
            <a:off x="6603999" y="4705928"/>
            <a:ext cx="267855" cy="0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/>
          <p:cNvCxnSpPr/>
          <p:nvPr/>
        </p:nvCxnSpPr>
        <p:spPr>
          <a:xfrm>
            <a:off x="7181274" y="4789055"/>
            <a:ext cx="364836" cy="0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/>
          <p:nvPr/>
        </p:nvCxnSpPr>
        <p:spPr>
          <a:xfrm>
            <a:off x="849745" y="4456547"/>
            <a:ext cx="240147" cy="0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>
            <a:off x="1420091" y="3749963"/>
            <a:ext cx="4860637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>
            <a:off x="1420091" y="3749963"/>
            <a:ext cx="0" cy="678875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>
          <a:xfrm>
            <a:off x="6280727" y="3749963"/>
            <a:ext cx="0" cy="383311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60"/>
          <p:cNvCxnSpPr/>
          <p:nvPr/>
        </p:nvCxnSpPr>
        <p:spPr>
          <a:xfrm>
            <a:off x="3186546" y="3103419"/>
            <a:ext cx="674255" cy="0"/>
          </a:xfrm>
          <a:prstGeom prst="line">
            <a:avLst/>
          </a:prstGeom>
          <a:ln w="28575" cmpd="sng">
            <a:solidFill>
              <a:schemeClr val="accent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/>
          <p:cNvCxnSpPr/>
          <p:nvPr/>
        </p:nvCxnSpPr>
        <p:spPr>
          <a:xfrm>
            <a:off x="2131291" y="2466109"/>
            <a:ext cx="1729509" cy="0"/>
          </a:xfrm>
          <a:prstGeom prst="line">
            <a:avLst/>
          </a:prstGeom>
          <a:ln w="28575" cmpd="sng">
            <a:solidFill>
              <a:schemeClr val="accent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/>
          <p:cNvCxnSpPr/>
          <p:nvPr/>
        </p:nvCxnSpPr>
        <p:spPr>
          <a:xfrm>
            <a:off x="4384963" y="3103419"/>
            <a:ext cx="2657764" cy="0"/>
          </a:xfrm>
          <a:prstGeom prst="line">
            <a:avLst/>
          </a:prstGeom>
          <a:ln w="28575" cmpd="sng">
            <a:solidFill>
              <a:schemeClr val="accent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/>
          <p:cNvCxnSpPr/>
          <p:nvPr/>
        </p:nvCxnSpPr>
        <p:spPr>
          <a:xfrm>
            <a:off x="4384963" y="2900219"/>
            <a:ext cx="3364347" cy="0"/>
          </a:xfrm>
          <a:prstGeom prst="line">
            <a:avLst/>
          </a:prstGeom>
          <a:ln w="28575" cmpd="sng">
            <a:solidFill>
              <a:schemeClr val="accent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连接符 70"/>
          <p:cNvCxnSpPr/>
          <p:nvPr/>
        </p:nvCxnSpPr>
        <p:spPr>
          <a:xfrm>
            <a:off x="7749309" y="2872508"/>
            <a:ext cx="0" cy="1357747"/>
          </a:xfrm>
          <a:prstGeom prst="line">
            <a:avLst/>
          </a:prstGeom>
          <a:ln w="28575" cmpd="sng">
            <a:solidFill>
              <a:schemeClr val="accent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连接符 73"/>
          <p:cNvCxnSpPr/>
          <p:nvPr/>
        </p:nvCxnSpPr>
        <p:spPr>
          <a:xfrm>
            <a:off x="7904019" y="4525819"/>
            <a:ext cx="381000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/>
          <p:cNvCxnSpPr/>
          <p:nvPr/>
        </p:nvCxnSpPr>
        <p:spPr>
          <a:xfrm>
            <a:off x="8285019" y="4133276"/>
            <a:ext cx="0" cy="392545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/>
          <p:cNvCxnSpPr/>
          <p:nvPr/>
        </p:nvCxnSpPr>
        <p:spPr>
          <a:xfrm>
            <a:off x="8285019" y="4165603"/>
            <a:ext cx="849747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/>
          <p:cNvCxnSpPr/>
          <p:nvPr/>
        </p:nvCxnSpPr>
        <p:spPr>
          <a:xfrm>
            <a:off x="9134764" y="4165603"/>
            <a:ext cx="0" cy="205507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连接符 87"/>
          <p:cNvCxnSpPr/>
          <p:nvPr/>
        </p:nvCxnSpPr>
        <p:spPr>
          <a:xfrm>
            <a:off x="9132457" y="4371109"/>
            <a:ext cx="140855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连接符 89"/>
          <p:cNvCxnSpPr/>
          <p:nvPr/>
        </p:nvCxnSpPr>
        <p:spPr>
          <a:xfrm>
            <a:off x="9468427" y="4461164"/>
            <a:ext cx="137392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连接符 91"/>
          <p:cNvCxnSpPr/>
          <p:nvPr/>
        </p:nvCxnSpPr>
        <p:spPr>
          <a:xfrm>
            <a:off x="9605819" y="4428837"/>
            <a:ext cx="0" cy="2156691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连接符 94"/>
          <p:cNvCxnSpPr/>
          <p:nvPr/>
        </p:nvCxnSpPr>
        <p:spPr>
          <a:xfrm>
            <a:off x="849746" y="6585527"/>
            <a:ext cx="8756073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接连接符 96"/>
          <p:cNvCxnSpPr/>
          <p:nvPr/>
        </p:nvCxnSpPr>
        <p:spPr>
          <a:xfrm>
            <a:off x="838199" y="4428203"/>
            <a:ext cx="11547" cy="2156691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连接符 99"/>
          <p:cNvCxnSpPr/>
          <p:nvPr/>
        </p:nvCxnSpPr>
        <p:spPr>
          <a:xfrm>
            <a:off x="4384964" y="2332183"/>
            <a:ext cx="4140201" cy="0"/>
          </a:xfrm>
          <a:prstGeom prst="line">
            <a:avLst/>
          </a:prstGeom>
          <a:ln w="28575" cmpd="sng">
            <a:solidFill>
              <a:schemeClr val="accent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接连接符 105"/>
          <p:cNvCxnSpPr/>
          <p:nvPr/>
        </p:nvCxnSpPr>
        <p:spPr>
          <a:xfrm>
            <a:off x="8525453" y="2318326"/>
            <a:ext cx="0" cy="157020"/>
          </a:xfrm>
          <a:prstGeom prst="line">
            <a:avLst/>
          </a:prstGeom>
          <a:ln w="508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接连接符 107"/>
          <p:cNvCxnSpPr/>
          <p:nvPr/>
        </p:nvCxnSpPr>
        <p:spPr>
          <a:xfrm>
            <a:off x="8525165" y="2475345"/>
            <a:ext cx="140855" cy="0"/>
          </a:xfrm>
          <a:prstGeom prst="line">
            <a:avLst/>
          </a:prstGeom>
          <a:ln w="508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接连接符 109"/>
          <p:cNvCxnSpPr/>
          <p:nvPr/>
        </p:nvCxnSpPr>
        <p:spPr>
          <a:xfrm>
            <a:off x="8845263" y="2517635"/>
            <a:ext cx="189200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接连接符 115"/>
          <p:cNvCxnSpPr/>
          <p:nvPr/>
        </p:nvCxnSpPr>
        <p:spPr>
          <a:xfrm>
            <a:off x="9020752" y="1952047"/>
            <a:ext cx="0" cy="565587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接连接符 118"/>
          <p:cNvCxnSpPr/>
          <p:nvPr/>
        </p:nvCxnSpPr>
        <p:spPr>
          <a:xfrm>
            <a:off x="1123952" y="1952047"/>
            <a:ext cx="7910513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/>
          <p:cNvSpPr txBox="1"/>
          <p:nvPr/>
        </p:nvSpPr>
        <p:spPr>
          <a:xfrm>
            <a:off x="4603280" y="1039200"/>
            <a:ext cx="5631187" cy="133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5" dirty="0">
                <a:solidFill>
                  <a:schemeClr val="tx2"/>
                </a:solidFill>
              </a:rPr>
              <a:t>LW $</a:t>
            </a:r>
            <a:r>
              <a:rPr lang="en-US" altLang="zh-CN" sz="135" dirty="0" err="1">
                <a:solidFill>
                  <a:schemeClr val="tx2"/>
                </a:solidFill>
              </a:rPr>
              <a:t>rt,imm</a:t>
            </a:r>
            <a:r>
              <a:rPr lang="en-US" altLang="zh-CN" sz="135" dirty="0">
                <a:solidFill>
                  <a:schemeClr val="tx2"/>
                </a:solidFill>
              </a:rPr>
              <a:t>($</a:t>
            </a:r>
            <a:r>
              <a:rPr lang="en-US" altLang="zh-CN" sz="135" dirty="0" err="1">
                <a:solidFill>
                  <a:schemeClr val="tx2"/>
                </a:solidFill>
              </a:rPr>
              <a:t>rs</a:t>
            </a:r>
            <a:r>
              <a:rPr lang="en-US" altLang="zh-CN" sz="135" dirty="0">
                <a:solidFill>
                  <a:schemeClr val="tx2"/>
                </a:solidFill>
              </a:rPr>
              <a:t>);</a:t>
            </a:r>
            <a:r>
              <a:rPr lang="zh-CN" altLang="en-US" sz="135" dirty="0">
                <a:solidFill>
                  <a:schemeClr val="tx2"/>
                </a:solidFill>
              </a:rPr>
              <a:t>功能</a:t>
            </a:r>
            <a:r>
              <a:rPr lang="en-US" altLang="zh-CN" sz="135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R[$rt]</a:t>
            </a:r>
            <a:r>
              <a:rPr lang="en-US" altLang="zh-CN" sz="135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Mem (</a:t>
            </a:r>
            <a:r>
              <a:rPr lang="en-US" altLang="zh-CN" sz="135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R[$</a:t>
            </a:r>
            <a:r>
              <a:rPr lang="en-US" altLang="zh-CN" sz="135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rs</a:t>
            </a:r>
            <a:r>
              <a:rPr lang="en-US" altLang="zh-CN" sz="135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]+</a:t>
            </a:r>
            <a:r>
              <a:rPr lang="en-US" altLang="zh-CN" sz="135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imm</a:t>
            </a:r>
            <a:r>
              <a:rPr lang="en-US" altLang="zh-CN" sz="135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</a:t>
            </a:r>
            <a:endParaRPr lang="en-US" altLang="zh-CN" sz="135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r>
              <a:rPr lang="en-US" altLang="zh-CN" sz="135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I</a:t>
            </a:r>
            <a:r>
              <a:rPr lang="zh-CN" altLang="en-US" sz="135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指令格式：</a:t>
            </a:r>
            <a:r>
              <a:rPr lang="en-US" altLang="zh-CN" sz="135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OP(31:26),</a:t>
            </a:r>
            <a:r>
              <a:rPr lang="en-US" altLang="zh-CN" sz="135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rs</a:t>
            </a:r>
            <a:r>
              <a:rPr lang="en-US" altLang="zh-CN" sz="135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(25:21),rt(20:16),</a:t>
            </a:r>
            <a:r>
              <a:rPr lang="en-US" altLang="zh-CN" sz="135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imm</a:t>
            </a:r>
            <a:r>
              <a:rPr lang="en-US" altLang="zh-CN" sz="135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(15:0)</a:t>
            </a:r>
            <a:endParaRPr lang="en-US" altLang="zh-CN" sz="135" dirty="0">
              <a:solidFill>
                <a:schemeClr val="tx2"/>
              </a:solidFill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6096000" y="486509"/>
            <a:ext cx="369012" cy="1127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35" dirty="0">
                <a:latin typeface="方正姚体" panose="02010601030101010101" pitchFamily="2" charset="-122"/>
                <a:ea typeface="方正姚体" panose="02010601030101010101" pitchFamily="2" charset="-122"/>
              </a:rPr>
              <a:t>环节三：线上问题</a:t>
            </a:r>
            <a:r>
              <a:rPr lang="en-US" altLang="zh-CN" sz="135" dirty="0">
                <a:latin typeface="方正姚体" panose="02010601030101010101" pitchFamily="2" charset="-122"/>
                <a:ea typeface="方正姚体" panose="02010601030101010101" pitchFamily="2" charset="-122"/>
              </a:rPr>
              <a:t>3</a:t>
            </a:r>
            <a:r>
              <a:rPr lang="zh-CN" altLang="en-US" sz="135" dirty="0">
                <a:latin typeface="方正姚体" panose="02010601030101010101" pitchFamily="2" charset="-122"/>
                <a:ea typeface="方正姚体" panose="02010601030101010101" pitchFamily="2" charset="-122"/>
              </a:rPr>
              <a:t>解答</a:t>
            </a:r>
            <a:endParaRPr lang="en-US" altLang="zh-CN" sz="135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163907" y="947420"/>
            <a:ext cx="6964680" cy="954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65" dirty="0">
                <a:latin typeface="宋体" panose="02010600030101010101" pitchFamily="2" charset="-122"/>
                <a:cs typeface="宋体" panose="02010600030101010101" pitchFamily="2" charset="-122"/>
              </a:rPr>
              <a:t>LW $</a:t>
            </a:r>
            <a:r>
              <a:rPr lang="en-US" altLang="zh-CN" sz="1865" dirty="0" err="1">
                <a:latin typeface="宋体" panose="02010600030101010101" pitchFamily="2" charset="-122"/>
                <a:cs typeface="宋体" panose="02010600030101010101" pitchFamily="2" charset="-122"/>
              </a:rPr>
              <a:t>rt,imm</a:t>
            </a:r>
            <a:r>
              <a:rPr lang="en-US" altLang="zh-CN" sz="1865" dirty="0">
                <a:latin typeface="宋体" panose="02010600030101010101" pitchFamily="2" charset="-122"/>
                <a:cs typeface="宋体" panose="02010600030101010101" pitchFamily="2" charset="-122"/>
              </a:rPr>
              <a:t>($</a:t>
            </a:r>
            <a:r>
              <a:rPr lang="en-US" altLang="zh-CN" sz="1865" dirty="0" err="1">
                <a:latin typeface="宋体" panose="02010600030101010101" pitchFamily="2" charset="-122"/>
                <a:cs typeface="宋体" panose="02010600030101010101" pitchFamily="2" charset="-122"/>
              </a:rPr>
              <a:t>rs</a:t>
            </a:r>
            <a:r>
              <a:rPr lang="en-US" altLang="zh-CN" sz="1865" dirty="0">
                <a:latin typeface="宋体" panose="02010600030101010101" pitchFamily="2" charset="-122"/>
                <a:cs typeface="宋体" panose="02010600030101010101" pitchFamily="2" charset="-122"/>
              </a:rPr>
              <a:t>);</a:t>
            </a:r>
            <a:endParaRPr lang="en-US" altLang="zh-CN" sz="1865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1865" dirty="0">
                <a:latin typeface="宋体" panose="02010600030101010101" pitchFamily="2" charset="-122"/>
                <a:cs typeface="宋体" panose="02010600030101010101" pitchFamily="2" charset="-122"/>
              </a:rPr>
              <a:t>功能</a:t>
            </a:r>
            <a:r>
              <a:rPr lang="en-US" altLang="zh-CN" sz="1865" dirty="0">
                <a:latin typeface="宋体" panose="02010600030101010101" pitchFamily="2" charset="-122"/>
                <a:cs typeface="宋体" panose="02010600030101010101" pitchFamily="2" charset="-122"/>
              </a:rPr>
              <a:t> R[$rt]</a:t>
            </a:r>
            <a:r>
              <a:rPr lang="en-US" altLang="zh-CN" sz="1865" dirty="0">
                <a:latin typeface="宋体" panose="02010600030101010101" pitchFamily="2" charset="-122"/>
                <a:cs typeface="宋体" panose="02010600030101010101" pitchFamily="2" charset="-122"/>
                <a:sym typeface="Wingdings" panose="05000000000000000000" pitchFamily="2" charset="2"/>
              </a:rPr>
              <a:t> Mem (</a:t>
            </a:r>
            <a:r>
              <a:rPr lang="en-US" altLang="zh-CN" sz="1865" dirty="0">
                <a:latin typeface="宋体" panose="02010600030101010101" pitchFamily="2" charset="-122"/>
                <a:cs typeface="宋体" panose="02010600030101010101" pitchFamily="2" charset="-122"/>
              </a:rPr>
              <a:t>R[$</a:t>
            </a:r>
            <a:r>
              <a:rPr lang="en-US" altLang="zh-CN" sz="1865" dirty="0" err="1">
                <a:latin typeface="宋体" panose="02010600030101010101" pitchFamily="2" charset="-122"/>
                <a:cs typeface="宋体" panose="02010600030101010101" pitchFamily="2" charset="-122"/>
              </a:rPr>
              <a:t>rs</a:t>
            </a:r>
            <a:r>
              <a:rPr lang="en-US" altLang="zh-CN" sz="1865" dirty="0">
                <a:latin typeface="宋体" panose="02010600030101010101" pitchFamily="2" charset="-122"/>
                <a:cs typeface="宋体" panose="02010600030101010101" pitchFamily="2" charset="-122"/>
              </a:rPr>
              <a:t>]+</a:t>
            </a:r>
            <a:r>
              <a:rPr lang="en-US" altLang="zh-CN" sz="1865" dirty="0" err="1">
                <a:latin typeface="宋体" panose="02010600030101010101" pitchFamily="2" charset="-122"/>
                <a:cs typeface="宋体" panose="02010600030101010101" pitchFamily="2" charset="-122"/>
                <a:sym typeface="Wingdings" panose="05000000000000000000" pitchFamily="2" charset="2"/>
              </a:rPr>
              <a:t>imm</a:t>
            </a:r>
            <a:r>
              <a:rPr lang="en-US" altLang="zh-CN" sz="1865" dirty="0">
                <a:latin typeface="宋体" panose="02010600030101010101" pitchFamily="2" charset="-122"/>
                <a:cs typeface="宋体" panose="02010600030101010101" pitchFamily="2" charset="-122"/>
                <a:sym typeface="Wingdings" panose="05000000000000000000" pitchFamily="2" charset="2"/>
              </a:rPr>
              <a:t>)</a:t>
            </a:r>
            <a:endParaRPr lang="en-US" altLang="zh-CN" sz="1865" dirty="0">
              <a:latin typeface="宋体" panose="02010600030101010101" pitchFamily="2" charset="-122"/>
              <a:cs typeface="宋体" panose="02010600030101010101" pitchFamily="2" charset="-122"/>
              <a:sym typeface="Wingdings" panose="05000000000000000000" pitchFamily="2" charset="2"/>
            </a:endParaRPr>
          </a:p>
          <a:p>
            <a:r>
              <a:rPr lang="en-US" altLang="zh-CN" sz="1865" dirty="0">
                <a:latin typeface="宋体" panose="02010600030101010101" pitchFamily="2" charset="-122"/>
                <a:cs typeface="宋体" panose="02010600030101010101" pitchFamily="2" charset="-122"/>
                <a:sym typeface="Wingdings" panose="05000000000000000000" pitchFamily="2" charset="2"/>
              </a:rPr>
              <a:t>I</a:t>
            </a:r>
            <a:r>
              <a:rPr lang="zh-CN" altLang="en-US" sz="1865" dirty="0">
                <a:latin typeface="宋体" panose="02010600030101010101" pitchFamily="2" charset="-122"/>
                <a:cs typeface="宋体" panose="02010600030101010101" pitchFamily="2" charset="-122"/>
                <a:sym typeface="Wingdings" panose="05000000000000000000" pitchFamily="2" charset="2"/>
              </a:rPr>
              <a:t>指令格式：</a:t>
            </a:r>
            <a:r>
              <a:rPr lang="en-US" altLang="zh-CN" sz="1865" dirty="0">
                <a:latin typeface="宋体" panose="02010600030101010101" pitchFamily="2" charset="-122"/>
                <a:cs typeface="宋体" panose="02010600030101010101" pitchFamily="2" charset="-122"/>
                <a:sym typeface="Wingdings" panose="05000000000000000000" pitchFamily="2" charset="2"/>
              </a:rPr>
              <a:t>OP(31:26),</a:t>
            </a:r>
            <a:r>
              <a:rPr lang="en-US" altLang="zh-CN" sz="1865" dirty="0" err="1">
                <a:latin typeface="宋体" panose="02010600030101010101" pitchFamily="2" charset="-122"/>
                <a:cs typeface="宋体" panose="02010600030101010101" pitchFamily="2" charset="-122"/>
                <a:sym typeface="Wingdings" panose="05000000000000000000" pitchFamily="2" charset="2"/>
              </a:rPr>
              <a:t>rs</a:t>
            </a:r>
            <a:r>
              <a:rPr lang="en-US" altLang="zh-CN" sz="1865" dirty="0">
                <a:latin typeface="宋体" panose="02010600030101010101" pitchFamily="2" charset="-122"/>
                <a:cs typeface="宋体" panose="02010600030101010101" pitchFamily="2" charset="-122"/>
                <a:sym typeface="Wingdings" panose="05000000000000000000" pitchFamily="2" charset="2"/>
              </a:rPr>
              <a:t>(25:21),rt(20:16),</a:t>
            </a:r>
            <a:r>
              <a:rPr lang="en-US" altLang="zh-CN" sz="1865" dirty="0" err="1">
                <a:latin typeface="宋体" panose="02010600030101010101" pitchFamily="2" charset="-122"/>
                <a:cs typeface="宋体" panose="02010600030101010101" pitchFamily="2" charset="-122"/>
                <a:sym typeface="Wingdings" panose="05000000000000000000" pitchFamily="2" charset="2"/>
              </a:rPr>
              <a:t>imm</a:t>
            </a:r>
            <a:r>
              <a:rPr lang="en-US" altLang="zh-CN" sz="1865" dirty="0">
                <a:latin typeface="宋体" panose="02010600030101010101" pitchFamily="2" charset="-122"/>
                <a:cs typeface="宋体" panose="02010600030101010101" pitchFamily="2" charset="-122"/>
                <a:sym typeface="Wingdings" panose="05000000000000000000" pitchFamily="2" charset="2"/>
              </a:rPr>
              <a:t>(15:0)</a:t>
            </a:r>
            <a:endParaRPr lang="en-US" altLang="zh-CN" sz="1865" dirty="0">
              <a:latin typeface="宋体" panose="02010600030101010101" pitchFamily="2" charset="-122"/>
              <a:cs typeface="宋体" panose="02010600030101010101" pitchFamily="2" charset="-122"/>
              <a:sym typeface="Wingdings" panose="05000000000000000000" pitchFamily="2" charset="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197253" y="964353"/>
            <a:ext cx="1950720" cy="4648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sz="2400" dirty="0">
              <a:solidFill>
                <a:schemeClr val="accent1"/>
              </a:solidFill>
            </a:endParaRPr>
          </a:p>
          <a:p>
            <a:r>
              <a:rPr lang="en-US" altLang="zh-CN" sz="1865" dirty="0">
                <a:solidFill>
                  <a:schemeClr val="accent1"/>
                </a:solidFill>
              </a:rPr>
              <a:t>S0:IF</a:t>
            </a:r>
            <a:endParaRPr lang="en-US" altLang="zh-CN" sz="1865" dirty="0">
              <a:solidFill>
                <a:schemeClr val="accent1"/>
              </a:solidFill>
            </a:endParaRPr>
          </a:p>
          <a:p>
            <a:endParaRPr lang="en-US" altLang="zh-CN" sz="1865" dirty="0">
              <a:solidFill>
                <a:schemeClr val="accent1"/>
              </a:solidFill>
            </a:endParaRPr>
          </a:p>
          <a:p>
            <a:r>
              <a:rPr lang="en-US" altLang="zh-CN" sz="1865" dirty="0">
                <a:solidFill>
                  <a:schemeClr val="accent1"/>
                </a:solidFill>
              </a:rPr>
              <a:t>FUNCTION</a:t>
            </a:r>
            <a:r>
              <a:rPr lang="zh-CN" altLang="en-US" sz="1865" dirty="0">
                <a:solidFill>
                  <a:schemeClr val="accent1"/>
                </a:solidFill>
              </a:rPr>
              <a:t>：</a:t>
            </a:r>
            <a:endParaRPr lang="en-US" altLang="zh-CN" sz="1865" dirty="0">
              <a:solidFill>
                <a:schemeClr val="accent1"/>
              </a:solidFill>
            </a:endParaRPr>
          </a:p>
          <a:p>
            <a:r>
              <a:rPr lang="en-US" altLang="zh-CN" sz="1865" dirty="0">
                <a:solidFill>
                  <a:schemeClr val="accent1"/>
                </a:solidFill>
              </a:rPr>
              <a:t>MEM[PC]</a:t>
            </a:r>
            <a:r>
              <a:rPr lang="en-US" altLang="zh-CN" sz="1865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→IR,</a:t>
            </a:r>
            <a:endParaRPr lang="en-US" altLang="zh-CN" sz="1865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1865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PC=PC+4;</a:t>
            </a:r>
            <a:endParaRPr lang="en-US" altLang="zh-CN" sz="1865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zh-CN" altLang="en-US" sz="1865" dirty="0">
                <a:solidFill>
                  <a:schemeClr val="accent1"/>
                </a:solidFill>
              </a:rPr>
              <a:t> </a:t>
            </a:r>
            <a:endParaRPr lang="en-US" altLang="zh-CN" sz="1865" dirty="0">
              <a:solidFill>
                <a:schemeClr val="accent1"/>
              </a:solidFill>
            </a:endParaRPr>
          </a:p>
          <a:p>
            <a:r>
              <a:rPr lang="en-US" altLang="zh-CN" sz="1865" dirty="0">
                <a:solidFill>
                  <a:schemeClr val="accent1"/>
                </a:solidFill>
              </a:rPr>
              <a:t>SIGNAL</a:t>
            </a:r>
            <a:r>
              <a:rPr lang="zh-CN" altLang="en-US" sz="1865" dirty="0">
                <a:solidFill>
                  <a:schemeClr val="accent1"/>
                </a:solidFill>
              </a:rPr>
              <a:t>：</a:t>
            </a:r>
            <a:endParaRPr lang="en-US" altLang="zh-CN" sz="1865" dirty="0">
              <a:solidFill>
                <a:schemeClr val="accent1"/>
              </a:solidFill>
            </a:endParaRPr>
          </a:p>
          <a:p>
            <a:r>
              <a:rPr lang="en-US" altLang="zh-CN" sz="1865" dirty="0" err="1">
                <a:solidFill>
                  <a:schemeClr val="accent1"/>
                </a:solidFill>
              </a:rPr>
              <a:t>MemRead</a:t>
            </a:r>
            <a:r>
              <a:rPr lang="en-US" altLang="zh-CN" sz="1865" dirty="0">
                <a:solidFill>
                  <a:schemeClr val="accent1"/>
                </a:solidFill>
              </a:rPr>
              <a:t>,</a:t>
            </a:r>
            <a:endParaRPr lang="en-US" altLang="zh-CN" sz="1865" dirty="0">
              <a:solidFill>
                <a:schemeClr val="accent1"/>
              </a:solidFill>
            </a:endParaRPr>
          </a:p>
          <a:p>
            <a:r>
              <a:rPr lang="en-US" altLang="zh-CN" sz="1865" dirty="0" err="1">
                <a:solidFill>
                  <a:schemeClr val="accent1"/>
                </a:solidFill>
              </a:rPr>
              <a:t>IRWrite</a:t>
            </a:r>
            <a:r>
              <a:rPr lang="en-US" altLang="zh-CN" sz="1865" dirty="0">
                <a:solidFill>
                  <a:schemeClr val="accent1"/>
                </a:solidFill>
              </a:rPr>
              <a:t>,</a:t>
            </a:r>
            <a:endParaRPr lang="en-US" altLang="zh-CN" sz="1865" dirty="0">
              <a:solidFill>
                <a:schemeClr val="accent1"/>
              </a:solidFill>
            </a:endParaRPr>
          </a:p>
          <a:p>
            <a:r>
              <a:rPr lang="en-US" altLang="zh-CN" sz="1865" dirty="0">
                <a:solidFill>
                  <a:schemeClr val="accent1"/>
                </a:solidFill>
              </a:rPr>
              <a:t>ALUSrcB=01,</a:t>
            </a:r>
            <a:endParaRPr lang="en-US" altLang="zh-CN" sz="1865" dirty="0">
              <a:solidFill>
                <a:schemeClr val="accent1"/>
              </a:solidFill>
            </a:endParaRPr>
          </a:p>
          <a:p>
            <a:r>
              <a:rPr lang="en-US" altLang="zh-CN" sz="1865" dirty="0" err="1">
                <a:solidFill>
                  <a:schemeClr val="accent1"/>
                </a:solidFill>
              </a:rPr>
              <a:t>Aluop</a:t>
            </a:r>
            <a:r>
              <a:rPr lang="en-US" altLang="zh-CN" sz="1865" dirty="0">
                <a:solidFill>
                  <a:schemeClr val="accent1"/>
                </a:solidFill>
              </a:rPr>
              <a:t>=0101,</a:t>
            </a:r>
            <a:endParaRPr lang="en-US" altLang="zh-CN" sz="1865" dirty="0">
              <a:solidFill>
                <a:schemeClr val="accent1"/>
              </a:solidFill>
            </a:endParaRPr>
          </a:p>
          <a:p>
            <a:r>
              <a:rPr lang="en-US" altLang="zh-CN" sz="1865" dirty="0" err="1">
                <a:solidFill>
                  <a:schemeClr val="accent1"/>
                </a:solidFill>
              </a:rPr>
              <a:t>PCWrite</a:t>
            </a:r>
            <a:endParaRPr lang="en-US" altLang="zh-CN" sz="2400" dirty="0">
              <a:solidFill>
                <a:schemeClr val="accent1"/>
              </a:solidFill>
            </a:endParaRPr>
          </a:p>
          <a:p>
            <a:endParaRPr lang="en-US" altLang="zh-CN" sz="2400" dirty="0">
              <a:solidFill>
                <a:schemeClr val="accent1"/>
              </a:solidFill>
            </a:endParaRPr>
          </a:p>
          <a:p>
            <a:endParaRPr lang="zh-CN" altLang="en-US" sz="240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5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00"/>
                            </p:stCondLst>
                            <p:childTnLst>
                              <p:par>
                                <p:cTn id="73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7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500"/>
                            </p:stCondLst>
                            <p:childTnLst>
                              <p:par>
                                <p:cTn id="80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8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8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9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00"/>
                            </p:stCondLst>
                            <p:childTnLst>
                              <p:par>
                                <p:cTn id="103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0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2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2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500"/>
                            </p:stCondLst>
                            <p:childTnLst>
                              <p:par>
                                <p:cTn id="134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3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4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500"/>
                            </p:stCondLst>
                            <p:childTnLst>
                              <p:par>
                                <p:cTn id="149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5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1000"/>
                            </p:stCondLst>
                            <p:childTnLst>
                              <p:par>
                                <p:cTn id="156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5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1500"/>
                            </p:stCondLst>
                            <p:childTnLst>
                              <p:par>
                                <p:cTn id="163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6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2000"/>
                            </p:stCondLst>
                            <p:childTnLst>
                              <p:par>
                                <p:cTn id="170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7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2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7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3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500"/>
                            </p:stCondLst>
                            <p:childTnLst>
                              <p:par>
                                <p:cTn id="185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8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8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9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0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>
                            <p:stCondLst>
                              <p:cond delay="1000"/>
                            </p:stCondLst>
                            <p:childTnLst>
                              <p:par>
                                <p:cTn id="192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9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5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6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7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9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0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1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2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3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4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" fill="hold">
                            <p:stCondLst>
                              <p:cond delay="2000"/>
                            </p:stCondLst>
                            <p:childTnLst>
                              <p:par>
                                <p:cTn id="206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0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1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6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7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8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9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0" fill="hold">
                            <p:stCondLst>
                              <p:cond delay="500"/>
                            </p:stCondLst>
                            <p:childTnLst>
                              <p:par>
                                <p:cTn id="221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2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3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4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5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6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28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2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0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1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2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3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indefinite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3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8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9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0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1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2" fill="hold">
                            <p:stCondLst>
                              <p:cond delay="500"/>
                            </p:stCondLst>
                            <p:childTnLst>
                              <p:par>
                                <p:cTn id="243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4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5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6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7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8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9" fill="hold">
                            <p:stCondLst>
                              <p:cond delay="1000"/>
                            </p:stCondLst>
                            <p:childTnLst>
                              <p:par>
                                <p:cTn id="250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5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2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3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4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5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6" fill="hold">
                            <p:stCondLst>
                              <p:cond delay="1500"/>
                            </p:stCondLst>
                            <p:childTnLst>
                              <p:par>
                                <p:cTn id="257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5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4294967295"/>
          </p:nvPr>
        </p:nvPicPr>
        <p:blipFill>
          <a:blip r:embed="rId1"/>
          <a:stretch>
            <a:fillRect/>
          </a:stretch>
        </p:blipFill>
        <p:spPr>
          <a:xfrm>
            <a:off x="-34924" y="995835"/>
            <a:ext cx="9856923" cy="5901536"/>
          </a:xfrm>
          <a:prstGeom prst="rect">
            <a:avLst/>
          </a:prstGeom>
        </p:spPr>
      </p:pic>
      <p:cxnSp>
        <p:nvCxnSpPr>
          <p:cNvPr id="7" name="直接连接符 6"/>
          <p:cNvCxnSpPr/>
          <p:nvPr/>
        </p:nvCxnSpPr>
        <p:spPr>
          <a:xfrm flipH="1" flipV="1">
            <a:off x="2179783" y="2456874"/>
            <a:ext cx="1604229" cy="923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2170545" y="2466110"/>
            <a:ext cx="0" cy="167178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2912895" y="2240319"/>
            <a:ext cx="90516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 err="1">
                <a:solidFill>
                  <a:schemeClr val="accent1"/>
                </a:solidFill>
              </a:rPr>
              <a:t>MemREAD</a:t>
            </a:r>
            <a:endParaRPr lang="zh-CN" altLang="en-US" sz="1100" b="1" dirty="0">
              <a:solidFill>
                <a:schemeClr val="accent1"/>
              </a:solidFill>
            </a:endParaRPr>
          </a:p>
        </p:txBody>
      </p:sp>
      <p:cxnSp>
        <p:nvCxnSpPr>
          <p:cNvPr id="20" name="直接箭头连接符 19"/>
          <p:cNvCxnSpPr/>
          <p:nvPr/>
        </p:nvCxnSpPr>
        <p:spPr>
          <a:xfrm>
            <a:off x="3137776" y="4417411"/>
            <a:ext cx="313725" cy="11427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/>
          <p:nvPr/>
        </p:nvCxnSpPr>
        <p:spPr>
          <a:xfrm>
            <a:off x="6028055" y="4138295"/>
            <a:ext cx="358140" cy="31751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/>
          <p:nvPr/>
        </p:nvCxnSpPr>
        <p:spPr>
          <a:xfrm>
            <a:off x="6517256" y="4239669"/>
            <a:ext cx="817419" cy="0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/>
          <p:cNvCxnSpPr/>
          <p:nvPr/>
        </p:nvCxnSpPr>
        <p:spPr>
          <a:xfrm>
            <a:off x="6787005" y="3087295"/>
            <a:ext cx="0" cy="1422400"/>
          </a:xfrm>
          <a:prstGeom prst="straightConnector1">
            <a:avLst/>
          </a:prstGeom>
          <a:ln w="28575" cmpd="sng">
            <a:solidFill>
              <a:schemeClr val="accent6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/>
          <p:cNvCxnSpPr/>
          <p:nvPr/>
        </p:nvCxnSpPr>
        <p:spPr>
          <a:xfrm>
            <a:off x="6416675" y="5069841"/>
            <a:ext cx="234315" cy="22225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/>
          <p:cNvCxnSpPr/>
          <p:nvPr/>
        </p:nvCxnSpPr>
        <p:spPr>
          <a:xfrm>
            <a:off x="6925551" y="4796804"/>
            <a:ext cx="364836" cy="0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 flipV="1">
            <a:off x="1326515" y="3789046"/>
            <a:ext cx="4701540" cy="762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 flipH="1">
            <a:off x="1326515" y="3802168"/>
            <a:ext cx="635" cy="625475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>
          <a:xfrm>
            <a:off x="6032755" y="3755043"/>
            <a:ext cx="0" cy="383311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/>
          <p:cNvCxnSpPr/>
          <p:nvPr/>
        </p:nvCxnSpPr>
        <p:spPr>
          <a:xfrm>
            <a:off x="4207791" y="3103419"/>
            <a:ext cx="2579215" cy="0"/>
          </a:xfrm>
          <a:prstGeom prst="line">
            <a:avLst/>
          </a:prstGeom>
          <a:ln w="28575" cmpd="sng">
            <a:solidFill>
              <a:schemeClr val="accent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/>
          <p:cNvCxnSpPr/>
          <p:nvPr/>
        </p:nvCxnSpPr>
        <p:spPr>
          <a:xfrm flipV="1">
            <a:off x="4207791" y="2939588"/>
            <a:ext cx="3247051" cy="7280"/>
          </a:xfrm>
          <a:prstGeom prst="line">
            <a:avLst/>
          </a:prstGeom>
          <a:ln w="28575" cmpd="sng">
            <a:solidFill>
              <a:schemeClr val="accent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连接符 70"/>
          <p:cNvCxnSpPr/>
          <p:nvPr/>
        </p:nvCxnSpPr>
        <p:spPr>
          <a:xfrm>
            <a:off x="7454266" y="2939415"/>
            <a:ext cx="6351" cy="1299211"/>
          </a:xfrm>
          <a:prstGeom prst="line">
            <a:avLst/>
          </a:prstGeom>
          <a:ln w="28575" cmpd="sng">
            <a:solidFill>
              <a:schemeClr val="accent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连接符 73"/>
          <p:cNvCxnSpPr/>
          <p:nvPr/>
        </p:nvCxnSpPr>
        <p:spPr>
          <a:xfrm>
            <a:off x="3442392" y="6204899"/>
            <a:ext cx="889901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/>
          <p:cNvCxnSpPr/>
          <p:nvPr/>
        </p:nvCxnSpPr>
        <p:spPr>
          <a:xfrm>
            <a:off x="7620001" y="4572635"/>
            <a:ext cx="658495" cy="8891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/>
          <p:cNvCxnSpPr/>
          <p:nvPr/>
        </p:nvCxnSpPr>
        <p:spPr>
          <a:xfrm>
            <a:off x="5319427" y="4375367"/>
            <a:ext cx="230755" cy="0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/>
          <p:cNvCxnSpPr/>
          <p:nvPr/>
        </p:nvCxnSpPr>
        <p:spPr>
          <a:xfrm>
            <a:off x="5319649" y="4572559"/>
            <a:ext cx="230755" cy="0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/>
          <p:cNvCxnSpPr/>
          <p:nvPr/>
        </p:nvCxnSpPr>
        <p:spPr>
          <a:xfrm flipH="1">
            <a:off x="3467735" y="3299461"/>
            <a:ext cx="5080" cy="2943225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/>
          <p:cNvCxnSpPr/>
          <p:nvPr/>
        </p:nvCxnSpPr>
        <p:spPr>
          <a:xfrm>
            <a:off x="3451502" y="3299339"/>
            <a:ext cx="332511" cy="0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67"/>
          <p:cNvCxnSpPr/>
          <p:nvPr/>
        </p:nvCxnSpPr>
        <p:spPr>
          <a:xfrm>
            <a:off x="3472873" y="3493227"/>
            <a:ext cx="332511" cy="0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箭头连接符 69"/>
          <p:cNvCxnSpPr/>
          <p:nvPr/>
        </p:nvCxnSpPr>
        <p:spPr>
          <a:xfrm>
            <a:off x="3473873" y="4572847"/>
            <a:ext cx="797560" cy="8467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箭头连接符 71"/>
          <p:cNvCxnSpPr/>
          <p:nvPr/>
        </p:nvCxnSpPr>
        <p:spPr>
          <a:xfrm>
            <a:off x="3473719" y="4375579"/>
            <a:ext cx="827908" cy="0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/>
          <p:cNvCxnSpPr/>
          <p:nvPr/>
        </p:nvCxnSpPr>
        <p:spPr>
          <a:xfrm>
            <a:off x="5319395" y="6181726"/>
            <a:ext cx="1136015" cy="2286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连接符 77"/>
          <p:cNvCxnSpPr/>
          <p:nvPr/>
        </p:nvCxnSpPr>
        <p:spPr>
          <a:xfrm flipH="1">
            <a:off x="6431915" y="5774055"/>
            <a:ext cx="23495" cy="430531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连接符 80"/>
          <p:cNvCxnSpPr/>
          <p:nvPr/>
        </p:nvCxnSpPr>
        <p:spPr>
          <a:xfrm>
            <a:off x="6410960" y="5069841"/>
            <a:ext cx="5715" cy="387985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/>
          <p:cNvSpPr txBox="1"/>
          <p:nvPr/>
        </p:nvSpPr>
        <p:spPr>
          <a:xfrm>
            <a:off x="4300780" y="1108129"/>
            <a:ext cx="5631187" cy="133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5" dirty="0">
                <a:solidFill>
                  <a:schemeClr val="tx2"/>
                </a:solidFill>
              </a:rPr>
              <a:t>LW $</a:t>
            </a:r>
            <a:r>
              <a:rPr lang="en-US" altLang="zh-CN" sz="135" dirty="0" err="1">
                <a:solidFill>
                  <a:schemeClr val="tx2"/>
                </a:solidFill>
              </a:rPr>
              <a:t>rt,imm</a:t>
            </a:r>
            <a:r>
              <a:rPr lang="en-US" altLang="zh-CN" sz="135" dirty="0">
                <a:solidFill>
                  <a:schemeClr val="tx2"/>
                </a:solidFill>
              </a:rPr>
              <a:t>($</a:t>
            </a:r>
            <a:r>
              <a:rPr lang="en-US" altLang="zh-CN" sz="135" dirty="0" err="1">
                <a:solidFill>
                  <a:schemeClr val="tx2"/>
                </a:solidFill>
              </a:rPr>
              <a:t>rs</a:t>
            </a:r>
            <a:r>
              <a:rPr lang="en-US" altLang="zh-CN" sz="135" dirty="0">
                <a:solidFill>
                  <a:schemeClr val="tx2"/>
                </a:solidFill>
              </a:rPr>
              <a:t>);</a:t>
            </a:r>
            <a:r>
              <a:rPr lang="zh-CN" altLang="en-US" sz="135" dirty="0">
                <a:solidFill>
                  <a:schemeClr val="tx2"/>
                </a:solidFill>
              </a:rPr>
              <a:t>功能</a:t>
            </a:r>
            <a:r>
              <a:rPr lang="en-US" altLang="zh-CN" sz="135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R[$rt]</a:t>
            </a:r>
            <a:r>
              <a:rPr lang="en-US" altLang="zh-CN" sz="135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Mem (</a:t>
            </a:r>
            <a:r>
              <a:rPr lang="en-US" altLang="zh-CN" sz="135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R[$</a:t>
            </a:r>
            <a:r>
              <a:rPr lang="en-US" altLang="zh-CN" sz="135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rs</a:t>
            </a:r>
            <a:r>
              <a:rPr lang="en-US" altLang="zh-CN" sz="135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]+</a:t>
            </a:r>
            <a:r>
              <a:rPr lang="en-US" altLang="zh-CN" sz="135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imm</a:t>
            </a:r>
            <a:r>
              <a:rPr lang="en-US" altLang="zh-CN" sz="135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</a:t>
            </a:r>
            <a:endParaRPr lang="en-US" altLang="zh-CN" sz="135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r>
              <a:rPr lang="en-US" altLang="zh-CN" sz="135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I</a:t>
            </a:r>
            <a:r>
              <a:rPr lang="zh-CN" altLang="en-US" sz="135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指令格式：</a:t>
            </a:r>
            <a:r>
              <a:rPr lang="en-US" altLang="zh-CN" sz="135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OP(31:26),</a:t>
            </a:r>
            <a:r>
              <a:rPr lang="en-US" altLang="zh-CN" sz="135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rs</a:t>
            </a:r>
            <a:r>
              <a:rPr lang="en-US" altLang="zh-CN" sz="135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(25:21),rt(20:16),</a:t>
            </a:r>
            <a:r>
              <a:rPr lang="en-US" altLang="zh-CN" sz="135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imm</a:t>
            </a:r>
            <a:r>
              <a:rPr lang="en-US" altLang="zh-CN" sz="135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(15:0)</a:t>
            </a:r>
            <a:endParaRPr lang="en-US" altLang="zh-CN" sz="135" dirty="0">
              <a:solidFill>
                <a:schemeClr val="tx2"/>
              </a:solidFill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6096000" y="486509"/>
            <a:ext cx="369012" cy="1127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35" dirty="0">
                <a:latin typeface="方正姚体" panose="02010601030101010101" pitchFamily="2" charset="-122"/>
                <a:ea typeface="方正姚体" panose="02010601030101010101" pitchFamily="2" charset="-122"/>
              </a:rPr>
              <a:t>环节三：线上问题</a:t>
            </a:r>
            <a:r>
              <a:rPr lang="en-US" altLang="zh-CN" sz="135" dirty="0">
                <a:latin typeface="方正姚体" panose="02010601030101010101" pitchFamily="2" charset="-122"/>
                <a:ea typeface="方正姚体" panose="02010601030101010101" pitchFamily="2" charset="-122"/>
              </a:rPr>
              <a:t>3</a:t>
            </a:r>
            <a:r>
              <a:rPr lang="zh-CN" altLang="en-US" sz="135" dirty="0">
                <a:latin typeface="方正姚体" panose="02010601030101010101" pitchFamily="2" charset="-122"/>
                <a:ea typeface="方正姚体" panose="02010601030101010101" pitchFamily="2" charset="-122"/>
              </a:rPr>
              <a:t>解答</a:t>
            </a:r>
            <a:endParaRPr lang="en-US" altLang="zh-CN" sz="135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817521" y="1108359"/>
            <a:ext cx="7508249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65" dirty="0">
                <a:latin typeface="宋体" panose="02010600030101010101" pitchFamily="2" charset="-122"/>
                <a:cs typeface="宋体" panose="02010600030101010101" pitchFamily="2" charset="-122"/>
              </a:rPr>
              <a:t>LW $</a:t>
            </a:r>
            <a:r>
              <a:rPr lang="en-US" altLang="zh-CN" sz="1865" dirty="0" err="1">
                <a:latin typeface="宋体" panose="02010600030101010101" pitchFamily="2" charset="-122"/>
                <a:cs typeface="宋体" panose="02010600030101010101" pitchFamily="2" charset="-122"/>
              </a:rPr>
              <a:t>rt,imm</a:t>
            </a:r>
            <a:r>
              <a:rPr lang="en-US" altLang="zh-CN" sz="1865" dirty="0">
                <a:latin typeface="宋体" panose="02010600030101010101" pitchFamily="2" charset="-122"/>
                <a:cs typeface="宋体" panose="02010600030101010101" pitchFamily="2" charset="-122"/>
              </a:rPr>
              <a:t>($</a:t>
            </a:r>
            <a:r>
              <a:rPr lang="en-US" altLang="zh-CN" sz="1865" dirty="0" err="1">
                <a:latin typeface="宋体" panose="02010600030101010101" pitchFamily="2" charset="-122"/>
                <a:cs typeface="宋体" panose="02010600030101010101" pitchFamily="2" charset="-122"/>
              </a:rPr>
              <a:t>rs</a:t>
            </a:r>
            <a:r>
              <a:rPr lang="en-US" altLang="zh-CN" sz="1865" dirty="0">
                <a:latin typeface="宋体" panose="02010600030101010101" pitchFamily="2" charset="-122"/>
                <a:cs typeface="宋体" panose="02010600030101010101" pitchFamily="2" charset="-122"/>
              </a:rPr>
              <a:t>);</a:t>
            </a:r>
            <a:r>
              <a:rPr lang="zh-CN" altLang="en-US" sz="1865" dirty="0">
                <a:latin typeface="宋体" panose="02010600030101010101" pitchFamily="2" charset="-122"/>
                <a:cs typeface="宋体" panose="02010600030101010101" pitchFamily="2" charset="-122"/>
              </a:rPr>
              <a:t>功能</a:t>
            </a:r>
            <a:r>
              <a:rPr lang="en-US" altLang="zh-CN" sz="1865" dirty="0">
                <a:latin typeface="宋体" panose="02010600030101010101" pitchFamily="2" charset="-122"/>
                <a:cs typeface="宋体" panose="02010600030101010101" pitchFamily="2" charset="-122"/>
              </a:rPr>
              <a:t> R[$rt]</a:t>
            </a:r>
            <a:r>
              <a:rPr lang="en-US" altLang="zh-CN" sz="1865" dirty="0">
                <a:latin typeface="宋体" panose="02010600030101010101" pitchFamily="2" charset="-122"/>
                <a:cs typeface="宋体" panose="02010600030101010101" pitchFamily="2" charset="-122"/>
                <a:sym typeface="Wingdings" panose="05000000000000000000" pitchFamily="2" charset="2"/>
              </a:rPr>
              <a:t> Mem (</a:t>
            </a:r>
            <a:r>
              <a:rPr lang="en-US" altLang="zh-CN" sz="1865" dirty="0">
                <a:latin typeface="宋体" panose="02010600030101010101" pitchFamily="2" charset="-122"/>
                <a:cs typeface="宋体" panose="02010600030101010101" pitchFamily="2" charset="-122"/>
              </a:rPr>
              <a:t>R[$</a:t>
            </a:r>
            <a:r>
              <a:rPr lang="en-US" altLang="zh-CN" sz="1865" dirty="0" err="1">
                <a:latin typeface="宋体" panose="02010600030101010101" pitchFamily="2" charset="-122"/>
                <a:cs typeface="宋体" panose="02010600030101010101" pitchFamily="2" charset="-122"/>
              </a:rPr>
              <a:t>rs</a:t>
            </a:r>
            <a:r>
              <a:rPr lang="en-US" altLang="zh-CN" sz="1865" dirty="0">
                <a:latin typeface="宋体" panose="02010600030101010101" pitchFamily="2" charset="-122"/>
                <a:cs typeface="宋体" panose="02010600030101010101" pitchFamily="2" charset="-122"/>
              </a:rPr>
              <a:t>]+</a:t>
            </a:r>
            <a:r>
              <a:rPr lang="en-US" altLang="zh-CN" sz="1865" dirty="0" err="1">
                <a:latin typeface="宋体" panose="02010600030101010101" pitchFamily="2" charset="-122"/>
                <a:cs typeface="宋体" panose="02010600030101010101" pitchFamily="2" charset="-122"/>
                <a:sym typeface="Wingdings" panose="05000000000000000000" pitchFamily="2" charset="2"/>
              </a:rPr>
              <a:t>imm</a:t>
            </a:r>
            <a:r>
              <a:rPr lang="en-US" altLang="zh-CN" sz="1865" dirty="0">
                <a:latin typeface="宋体" panose="02010600030101010101" pitchFamily="2" charset="-122"/>
                <a:cs typeface="宋体" panose="02010600030101010101" pitchFamily="2" charset="-122"/>
                <a:sym typeface="Wingdings" panose="05000000000000000000" pitchFamily="2" charset="2"/>
              </a:rPr>
              <a:t>)</a:t>
            </a:r>
            <a:endParaRPr lang="en-US" altLang="zh-CN" sz="1865" dirty="0">
              <a:latin typeface="宋体" panose="02010600030101010101" pitchFamily="2" charset="-122"/>
              <a:cs typeface="宋体" panose="02010600030101010101" pitchFamily="2" charset="-122"/>
              <a:sym typeface="Wingdings" panose="05000000000000000000" pitchFamily="2" charset="2"/>
            </a:endParaRPr>
          </a:p>
          <a:p>
            <a:r>
              <a:rPr lang="en-US" altLang="zh-CN" sz="1865" dirty="0">
                <a:latin typeface="宋体" panose="02010600030101010101" pitchFamily="2" charset="-122"/>
                <a:cs typeface="宋体" panose="02010600030101010101" pitchFamily="2" charset="-122"/>
                <a:sym typeface="Wingdings" panose="05000000000000000000" pitchFamily="2" charset="2"/>
              </a:rPr>
              <a:t>I</a:t>
            </a:r>
            <a:r>
              <a:rPr lang="zh-CN" altLang="en-US" sz="1865" dirty="0">
                <a:latin typeface="宋体" panose="02010600030101010101" pitchFamily="2" charset="-122"/>
                <a:cs typeface="宋体" panose="02010600030101010101" pitchFamily="2" charset="-122"/>
                <a:sym typeface="Wingdings" panose="05000000000000000000" pitchFamily="2" charset="2"/>
              </a:rPr>
              <a:t>指令格式：</a:t>
            </a:r>
            <a:r>
              <a:rPr lang="en-US" altLang="zh-CN" sz="1865" dirty="0">
                <a:latin typeface="宋体" panose="02010600030101010101" pitchFamily="2" charset="-122"/>
                <a:cs typeface="宋体" panose="02010600030101010101" pitchFamily="2" charset="-122"/>
                <a:sym typeface="Wingdings" panose="05000000000000000000" pitchFamily="2" charset="2"/>
              </a:rPr>
              <a:t>OP(31:26),</a:t>
            </a:r>
            <a:r>
              <a:rPr lang="en-US" altLang="zh-CN" sz="1865" dirty="0" err="1">
                <a:latin typeface="宋体" panose="02010600030101010101" pitchFamily="2" charset="-122"/>
                <a:cs typeface="宋体" panose="02010600030101010101" pitchFamily="2" charset="-122"/>
                <a:sym typeface="Wingdings" panose="05000000000000000000" pitchFamily="2" charset="2"/>
              </a:rPr>
              <a:t>rs</a:t>
            </a:r>
            <a:r>
              <a:rPr lang="en-US" altLang="zh-CN" sz="1865" dirty="0">
                <a:latin typeface="宋体" panose="02010600030101010101" pitchFamily="2" charset="-122"/>
                <a:cs typeface="宋体" panose="02010600030101010101" pitchFamily="2" charset="-122"/>
                <a:sym typeface="Wingdings" panose="05000000000000000000" pitchFamily="2" charset="2"/>
              </a:rPr>
              <a:t>(25:21),rt(20:16),</a:t>
            </a:r>
            <a:r>
              <a:rPr lang="en-US" altLang="zh-CN" sz="1865" dirty="0" err="1">
                <a:latin typeface="宋体" panose="02010600030101010101" pitchFamily="2" charset="-122"/>
                <a:cs typeface="宋体" panose="02010600030101010101" pitchFamily="2" charset="-122"/>
                <a:sym typeface="Wingdings" panose="05000000000000000000" pitchFamily="2" charset="2"/>
              </a:rPr>
              <a:t>imm</a:t>
            </a:r>
            <a:r>
              <a:rPr lang="en-US" altLang="zh-CN" sz="1865" dirty="0">
                <a:latin typeface="宋体" panose="02010600030101010101" pitchFamily="2" charset="-122"/>
                <a:cs typeface="宋体" panose="02010600030101010101" pitchFamily="2" charset="-122"/>
                <a:sym typeface="Wingdings" panose="05000000000000000000" pitchFamily="2" charset="2"/>
              </a:rPr>
              <a:t>(15:0)</a:t>
            </a:r>
            <a:endParaRPr lang="en-US" altLang="zh-CN" sz="1865" dirty="0">
              <a:latin typeface="宋体" panose="02010600030101010101" pitchFamily="2" charset="-122"/>
              <a:cs typeface="宋体" panose="02010600030101010101" pitchFamily="2" charset="-122"/>
              <a:sym typeface="Wingdings" panose="05000000000000000000" pitchFamily="2" charset="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897465" y="835846"/>
            <a:ext cx="2173261" cy="54998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65" dirty="0">
                <a:solidFill>
                  <a:schemeClr val="accent1"/>
                </a:solidFill>
              </a:rPr>
              <a:t>S1:ID</a:t>
            </a:r>
            <a:endParaRPr lang="en-US" altLang="zh-CN" sz="1865" dirty="0">
              <a:solidFill>
                <a:schemeClr val="accent1"/>
              </a:solidFill>
            </a:endParaRPr>
          </a:p>
          <a:p>
            <a:endParaRPr lang="en-US" altLang="zh-CN" sz="1865" dirty="0">
              <a:solidFill>
                <a:schemeClr val="accent1"/>
              </a:solidFill>
            </a:endParaRPr>
          </a:p>
          <a:p>
            <a:r>
              <a:rPr lang="en-US" altLang="zh-CN" sz="1865" dirty="0">
                <a:solidFill>
                  <a:schemeClr val="accent1"/>
                </a:solidFill>
              </a:rPr>
              <a:t>FONCTION</a:t>
            </a:r>
            <a:r>
              <a:rPr lang="zh-CN" altLang="en-US" sz="1865" dirty="0">
                <a:solidFill>
                  <a:schemeClr val="accent1"/>
                </a:solidFill>
              </a:rPr>
              <a:t>：</a:t>
            </a:r>
            <a:endParaRPr lang="en-US" altLang="zh-CN" sz="1865" dirty="0">
              <a:solidFill>
                <a:schemeClr val="accent1"/>
              </a:solidFill>
            </a:endParaRPr>
          </a:p>
          <a:p>
            <a:r>
              <a:rPr lang="en-US" altLang="zh-CN" sz="1865" dirty="0">
                <a:solidFill>
                  <a:schemeClr val="accent1"/>
                </a:solidFill>
              </a:rPr>
              <a:t>A=R[R1#],</a:t>
            </a:r>
            <a:endParaRPr lang="en-US" altLang="zh-CN" sz="1865" dirty="0">
              <a:solidFill>
                <a:schemeClr val="accent1"/>
              </a:solidFill>
            </a:endParaRPr>
          </a:p>
          <a:p>
            <a:r>
              <a:rPr lang="en-US" altLang="zh-CN" sz="1865" dirty="0">
                <a:solidFill>
                  <a:schemeClr val="accent1"/>
                </a:solidFill>
              </a:rPr>
              <a:t>B=R[R2#],</a:t>
            </a:r>
            <a:endParaRPr lang="en-US" altLang="zh-CN" sz="1865" dirty="0">
              <a:solidFill>
                <a:schemeClr val="accent1"/>
              </a:solidFill>
            </a:endParaRPr>
          </a:p>
          <a:p>
            <a:r>
              <a:rPr lang="en-US" altLang="zh-CN" sz="1865" dirty="0">
                <a:solidFill>
                  <a:schemeClr val="accent1"/>
                </a:solidFill>
              </a:rPr>
              <a:t>C=PC+IMM16&lt;&lt;</a:t>
            </a:r>
            <a:r>
              <a:rPr lang="en-US" altLang="zh-CN" sz="1865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;</a:t>
            </a:r>
            <a:endParaRPr lang="en-US" altLang="zh-CN" sz="1865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1865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NEXT MICRO ADDRESS(OP+FUNC)</a:t>
            </a:r>
            <a:endParaRPr lang="en-US" altLang="zh-CN" sz="1865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zh-CN" sz="1865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1865" dirty="0">
                <a:solidFill>
                  <a:schemeClr val="accent1"/>
                </a:solidFill>
              </a:rPr>
              <a:t>SIGNAL</a:t>
            </a:r>
            <a:r>
              <a:rPr lang="zh-CN" altLang="en-US" sz="1865" dirty="0">
                <a:solidFill>
                  <a:schemeClr val="accent1"/>
                </a:solidFill>
              </a:rPr>
              <a:t>：</a:t>
            </a:r>
            <a:endParaRPr lang="en-US" altLang="zh-CN" sz="1865" dirty="0">
              <a:solidFill>
                <a:schemeClr val="accent1"/>
              </a:solidFill>
            </a:endParaRPr>
          </a:p>
          <a:p>
            <a:r>
              <a:rPr lang="en-US" altLang="zh-CN" sz="1865" dirty="0">
                <a:solidFill>
                  <a:schemeClr val="accent1"/>
                </a:solidFill>
              </a:rPr>
              <a:t>ALUSrcB=11,</a:t>
            </a:r>
            <a:endParaRPr lang="en-US" altLang="zh-CN" sz="1865" dirty="0">
              <a:solidFill>
                <a:schemeClr val="accent1"/>
              </a:solidFill>
            </a:endParaRPr>
          </a:p>
          <a:p>
            <a:r>
              <a:rPr lang="en-US" altLang="zh-CN" sz="1865" dirty="0" err="1">
                <a:solidFill>
                  <a:schemeClr val="accent1"/>
                </a:solidFill>
              </a:rPr>
              <a:t>Aluop</a:t>
            </a:r>
            <a:r>
              <a:rPr lang="en-US" altLang="zh-CN" sz="1865" dirty="0">
                <a:solidFill>
                  <a:schemeClr val="accent1"/>
                </a:solidFill>
              </a:rPr>
              <a:t>=0101,</a:t>
            </a:r>
            <a:endParaRPr lang="en-US" altLang="zh-CN" sz="1865" dirty="0">
              <a:solidFill>
                <a:schemeClr val="accent1"/>
              </a:solidFill>
            </a:endParaRPr>
          </a:p>
          <a:p>
            <a:r>
              <a:rPr lang="en-US" altLang="zh-CN" sz="1865" dirty="0">
                <a:solidFill>
                  <a:schemeClr val="accent1"/>
                </a:solidFill>
              </a:rPr>
              <a:t>P=1;</a:t>
            </a:r>
            <a:endParaRPr lang="en-US" altLang="zh-CN" sz="1865" dirty="0">
              <a:solidFill>
                <a:schemeClr val="accent1"/>
              </a:solidFill>
            </a:endParaRPr>
          </a:p>
          <a:p>
            <a:endParaRPr lang="en-US" altLang="zh-CN" sz="1865" dirty="0">
              <a:solidFill>
                <a:schemeClr val="accent1"/>
              </a:solidFill>
            </a:endParaRPr>
          </a:p>
          <a:p>
            <a:r>
              <a:rPr lang="en-US" altLang="zh-CN" dirty="0">
                <a:solidFill>
                  <a:schemeClr val="accent1"/>
                </a:solidFill>
              </a:rPr>
              <a:t>Note: The C register stores the branch address (BNE,BEQ) at this time, not for LW instruction.</a:t>
            </a:r>
            <a:endParaRPr lang="en-US" altLang="zh-CN" sz="200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000"/>
                            </p:stCondLst>
                            <p:childTnLst>
                              <p:par>
                                <p:cTn id="45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5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7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7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000"/>
                            </p:stCondLst>
                            <p:childTnLst>
                              <p:par>
                                <p:cTn id="83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8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500"/>
                            </p:stCondLst>
                            <p:childTnLst>
                              <p:par>
                                <p:cTn id="90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9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9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0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1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2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500"/>
                            </p:stCondLst>
                            <p:childTnLst>
                              <p:par>
                                <p:cTn id="128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2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3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500"/>
                            </p:stCondLst>
                            <p:childTnLst>
                              <p:par>
                                <p:cTn id="143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4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5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6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500"/>
                            </p:stCondLst>
                            <p:childTnLst>
                              <p:par>
                                <p:cTn id="166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6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7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4294967295"/>
          </p:nvPr>
        </p:nvPicPr>
        <p:blipFill>
          <a:blip r:embed="rId1"/>
          <a:stretch>
            <a:fillRect/>
          </a:stretch>
        </p:blipFill>
        <p:spPr>
          <a:xfrm>
            <a:off x="1" y="956464"/>
            <a:ext cx="9856923" cy="5901536"/>
          </a:xfrm>
          <a:prstGeom prst="rect">
            <a:avLst/>
          </a:prstGeom>
        </p:spPr>
      </p:pic>
      <p:cxnSp>
        <p:nvCxnSpPr>
          <p:cNvPr id="7" name="直接连接符 6"/>
          <p:cNvCxnSpPr/>
          <p:nvPr/>
        </p:nvCxnSpPr>
        <p:spPr>
          <a:xfrm flipH="1" flipV="1">
            <a:off x="2179783" y="2456874"/>
            <a:ext cx="1570183" cy="923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2170545" y="2466110"/>
            <a:ext cx="0" cy="167178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2863275" y="2204499"/>
            <a:ext cx="90516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 err="1">
                <a:solidFill>
                  <a:schemeClr val="accent1"/>
                </a:solidFill>
              </a:rPr>
              <a:t>MemREAD</a:t>
            </a:r>
            <a:endParaRPr lang="zh-CN" altLang="en-US" sz="1100" b="1" dirty="0">
              <a:solidFill>
                <a:schemeClr val="accent1"/>
              </a:solidFill>
            </a:endParaRPr>
          </a:p>
        </p:txBody>
      </p:sp>
      <p:cxnSp>
        <p:nvCxnSpPr>
          <p:cNvPr id="20" name="直接箭头连接符 19"/>
          <p:cNvCxnSpPr/>
          <p:nvPr/>
        </p:nvCxnSpPr>
        <p:spPr>
          <a:xfrm>
            <a:off x="3137776" y="4417411"/>
            <a:ext cx="335096" cy="0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/>
          <p:nvPr/>
        </p:nvCxnSpPr>
        <p:spPr>
          <a:xfrm>
            <a:off x="5718229" y="4313772"/>
            <a:ext cx="676076" cy="2976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/>
          <p:nvPr/>
        </p:nvCxnSpPr>
        <p:spPr>
          <a:xfrm>
            <a:off x="6516841" y="4192776"/>
            <a:ext cx="817419" cy="0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/>
          <p:cNvCxnSpPr/>
          <p:nvPr/>
        </p:nvCxnSpPr>
        <p:spPr>
          <a:xfrm>
            <a:off x="6787005" y="3087295"/>
            <a:ext cx="0" cy="1422400"/>
          </a:xfrm>
          <a:prstGeom prst="straightConnector1">
            <a:avLst/>
          </a:prstGeom>
          <a:ln w="28575" cmpd="sng">
            <a:solidFill>
              <a:schemeClr val="accent6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/>
          <p:cNvCxnSpPr/>
          <p:nvPr/>
        </p:nvCxnSpPr>
        <p:spPr>
          <a:xfrm>
            <a:off x="6159264" y="4868660"/>
            <a:ext cx="523245" cy="0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/>
          <p:cNvCxnSpPr/>
          <p:nvPr/>
        </p:nvCxnSpPr>
        <p:spPr>
          <a:xfrm>
            <a:off x="6925551" y="4796804"/>
            <a:ext cx="364836" cy="0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>
            <a:off x="6437040" y="3290844"/>
            <a:ext cx="0" cy="793235"/>
          </a:xfrm>
          <a:prstGeom prst="line">
            <a:avLst/>
          </a:prstGeom>
          <a:ln w="28575" cmpd="sng">
            <a:solidFill>
              <a:schemeClr val="accent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>
          <a:xfrm>
            <a:off x="4207791" y="3290844"/>
            <a:ext cx="2213096" cy="0"/>
          </a:xfrm>
          <a:prstGeom prst="line">
            <a:avLst/>
          </a:prstGeom>
          <a:ln w="28575" cmpd="sng">
            <a:solidFill>
              <a:schemeClr val="accent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/>
          <p:cNvCxnSpPr/>
          <p:nvPr/>
        </p:nvCxnSpPr>
        <p:spPr>
          <a:xfrm>
            <a:off x="4207791" y="3103419"/>
            <a:ext cx="2579215" cy="0"/>
          </a:xfrm>
          <a:prstGeom prst="line">
            <a:avLst/>
          </a:prstGeom>
          <a:ln w="28575" cmpd="sng">
            <a:solidFill>
              <a:schemeClr val="accent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/>
          <p:cNvCxnSpPr/>
          <p:nvPr/>
        </p:nvCxnSpPr>
        <p:spPr>
          <a:xfrm flipV="1">
            <a:off x="4207791" y="2900219"/>
            <a:ext cx="3247051" cy="7280"/>
          </a:xfrm>
          <a:prstGeom prst="line">
            <a:avLst/>
          </a:prstGeom>
          <a:ln w="28575" cmpd="sng">
            <a:solidFill>
              <a:schemeClr val="accent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连接符 70"/>
          <p:cNvCxnSpPr/>
          <p:nvPr/>
        </p:nvCxnSpPr>
        <p:spPr>
          <a:xfrm>
            <a:off x="7454841" y="2872508"/>
            <a:ext cx="0" cy="1357747"/>
          </a:xfrm>
          <a:prstGeom prst="line">
            <a:avLst/>
          </a:prstGeom>
          <a:ln w="28575" cmpd="sng">
            <a:solidFill>
              <a:schemeClr val="accent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连接符 73"/>
          <p:cNvCxnSpPr/>
          <p:nvPr/>
        </p:nvCxnSpPr>
        <p:spPr>
          <a:xfrm>
            <a:off x="3472872" y="6152829"/>
            <a:ext cx="889901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/>
          <p:cNvCxnSpPr/>
          <p:nvPr/>
        </p:nvCxnSpPr>
        <p:spPr>
          <a:xfrm flipV="1">
            <a:off x="7625049" y="4541945"/>
            <a:ext cx="658795" cy="1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/>
          <p:cNvCxnSpPr/>
          <p:nvPr/>
        </p:nvCxnSpPr>
        <p:spPr>
          <a:xfrm>
            <a:off x="3472872" y="4417411"/>
            <a:ext cx="0" cy="1735419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/>
          <p:cNvCxnSpPr/>
          <p:nvPr/>
        </p:nvCxnSpPr>
        <p:spPr>
          <a:xfrm>
            <a:off x="5254551" y="6152829"/>
            <a:ext cx="927356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连接符 77"/>
          <p:cNvCxnSpPr/>
          <p:nvPr/>
        </p:nvCxnSpPr>
        <p:spPr>
          <a:xfrm>
            <a:off x="6159264" y="4868661"/>
            <a:ext cx="0" cy="1284169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/>
          <p:cNvSpPr txBox="1"/>
          <p:nvPr/>
        </p:nvSpPr>
        <p:spPr>
          <a:xfrm>
            <a:off x="4300780" y="1108129"/>
            <a:ext cx="5631187" cy="133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5" dirty="0">
                <a:solidFill>
                  <a:schemeClr val="tx2"/>
                </a:solidFill>
              </a:rPr>
              <a:t>LW $</a:t>
            </a:r>
            <a:r>
              <a:rPr lang="en-US" altLang="zh-CN" sz="135" dirty="0" err="1">
                <a:solidFill>
                  <a:schemeClr val="tx2"/>
                </a:solidFill>
              </a:rPr>
              <a:t>rt,imm</a:t>
            </a:r>
            <a:r>
              <a:rPr lang="en-US" altLang="zh-CN" sz="135" dirty="0">
                <a:solidFill>
                  <a:schemeClr val="tx2"/>
                </a:solidFill>
              </a:rPr>
              <a:t>($</a:t>
            </a:r>
            <a:r>
              <a:rPr lang="en-US" altLang="zh-CN" sz="135" dirty="0" err="1">
                <a:solidFill>
                  <a:schemeClr val="tx2"/>
                </a:solidFill>
              </a:rPr>
              <a:t>rs</a:t>
            </a:r>
            <a:r>
              <a:rPr lang="en-US" altLang="zh-CN" sz="135" dirty="0">
                <a:solidFill>
                  <a:schemeClr val="tx2"/>
                </a:solidFill>
              </a:rPr>
              <a:t>);</a:t>
            </a:r>
            <a:r>
              <a:rPr lang="zh-CN" altLang="en-US" sz="135" dirty="0">
                <a:solidFill>
                  <a:schemeClr val="tx2"/>
                </a:solidFill>
              </a:rPr>
              <a:t>功能</a:t>
            </a:r>
            <a:r>
              <a:rPr lang="en-US" altLang="zh-CN" sz="135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R[$rt]</a:t>
            </a:r>
            <a:r>
              <a:rPr lang="en-US" altLang="zh-CN" sz="135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Mem (</a:t>
            </a:r>
            <a:r>
              <a:rPr lang="en-US" altLang="zh-CN" sz="135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R[$</a:t>
            </a:r>
            <a:r>
              <a:rPr lang="en-US" altLang="zh-CN" sz="135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rs</a:t>
            </a:r>
            <a:r>
              <a:rPr lang="en-US" altLang="zh-CN" sz="135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]+</a:t>
            </a:r>
            <a:r>
              <a:rPr lang="en-US" altLang="zh-CN" sz="135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imm</a:t>
            </a:r>
            <a:r>
              <a:rPr lang="en-US" altLang="zh-CN" sz="135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</a:t>
            </a:r>
            <a:endParaRPr lang="en-US" altLang="zh-CN" sz="135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r>
              <a:rPr lang="en-US" altLang="zh-CN" sz="135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I</a:t>
            </a:r>
            <a:r>
              <a:rPr lang="zh-CN" altLang="en-US" sz="135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指令格式：</a:t>
            </a:r>
            <a:r>
              <a:rPr lang="en-US" altLang="zh-CN" sz="135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OP(31:26),</a:t>
            </a:r>
            <a:r>
              <a:rPr lang="en-US" altLang="zh-CN" sz="135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rs</a:t>
            </a:r>
            <a:r>
              <a:rPr lang="en-US" altLang="zh-CN" sz="135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(25:21),rt(20:16),</a:t>
            </a:r>
            <a:r>
              <a:rPr lang="en-US" altLang="zh-CN" sz="135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imm</a:t>
            </a:r>
            <a:r>
              <a:rPr lang="en-US" altLang="zh-CN" sz="135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(15:0)</a:t>
            </a:r>
            <a:endParaRPr lang="en-US" altLang="zh-CN" sz="135" dirty="0">
              <a:solidFill>
                <a:schemeClr val="tx2"/>
              </a:solidFill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6378555" y="495843"/>
            <a:ext cx="369012" cy="1127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35" dirty="0">
                <a:latin typeface="方正姚体" panose="02010601030101010101" pitchFamily="2" charset="-122"/>
                <a:ea typeface="方正姚体" panose="02010601030101010101" pitchFamily="2" charset="-122"/>
              </a:rPr>
              <a:t>环节三：线上问题</a:t>
            </a:r>
            <a:r>
              <a:rPr lang="en-US" altLang="zh-CN" sz="135" dirty="0">
                <a:latin typeface="方正姚体" panose="02010601030101010101" pitchFamily="2" charset="-122"/>
                <a:ea typeface="方正姚体" panose="02010601030101010101" pitchFamily="2" charset="-122"/>
              </a:rPr>
              <a:t>3</a:t>
            </a:r>
            <a:r>
              <a:rPr lang="zh-CN" altLang="en-US" sz="135" dirty="0">
                <a:latin typeface="方正姚体" panose="02010601030101010101" pitchFamily="2" charset="-122"/>
                <a:ea typeface="方正姚体" panose="02010601030101010101" pitchFamily="2" charset="-122"/>
              </a:rPr>
              <a:t>解答</a:t>
            </a:r>
            <a:endParaRPr lang="en-US" altLang="zh-CN" sz="135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093534" y="1029619"/>
            <a:ext cx="7508249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65" dirty="0"/>
              <a:t>LW $</a:t>
            </a:r>
            <a:r>
              <a:rPr lang="en-US" altLang="zh-CN" sz="1865" dirty="0" err="1"/>
              <a:t>rt,imm</a:t>
            </a:r>
            <a:r>
              <a:rPr lang="en-US" altLang="zh-CN" sz="1865" dirty="0"/>
              <a:t>($</a:t>
            </a:r>
            <a:r>
              <a:rPr lang="en-US" altLang="zh-CN" sz="1865" dirty="0" err="1"/>
              <a:t>rs</a:t>
            </a:r>
            <a:r>
              <a:rPr lang="en-US" altLang="zh-CN" sz="1865" dirty="0"/>
              <a:t>);</a:t>
            </a:r>
            <a:r>
              <a:rPr lang="zh-CN" altLang="en-US" sz="1865" dirty="0"/>
              <a:t>功能</a:t>
            </a:r>
            <a:r>
              <a:rPr lang="en-US" altLang="zh-CN" sz="18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R[$rt]</a:t>
            </a:r>
            <a:r>
              <a:rPr lang="en-US" altLang="zh-CN" sz="1865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Mem (</a:t>
            </a:r>
            <a:r>
              <a:rPr lang="en-US" altLang="zh-CN" sz="18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R[$</a:t>
            </a:r>
            <a:r>
              <a:rPr lang="en-US" altLang="zh-CN" sz="186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rs</a:t>
            </a:r>
            <a:r>
              <a:rPr lang="en-US" altLang="zh-CN" sz="18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]+</a:t>
            </a:r>
            <a:r>
              <a:rPr lang="en-US" altLang="zh-CN" sz="1865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imm</a:t>
            </a:r>
            <a:r>
              <a:rPr lang="en-US" altLang="zh-CN" sz="1865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</a:t>
            </a:r>
            <a:endParaRPr lang="en-US" altLang="zh-CN" sz="1865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r>
              <a:rPr lang="en-US" altLang="zh-CN" sz="1865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I</a:t>
            </a:r>
            <a:r>
              <a:rPr lang="zh-CN" altLang="en-US" sz="1865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指令格式：</a:t>
            </a:r>
            <a:r>
              <a:rPr lang="en-US" altLang="zh-CN" sz="1865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OP(31:26),</a:t>
            </a:r>
            <a:r>
              <a:rPr lang="en-US" altLang="zh-CN" sz="1865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rs</a:t>
            </a:r>
            <a:r>
              <a:rPr lang="en-US" altLang="zh-CN" sz="1865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(25:21),rt(20:16),</a:t>
            </a:r>
            <a:r>
              <a:rPr lang="en-US" altLang="zh-CN" sz="1865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imm</a:t>
            </a:r>
            <a:r>
              <a:rPr lang="en-US" altLang="zh-CN" sz="1865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(15:0)</a:t>
            </a:r>
            <a:endParaRPr lang="en-US" altLang="zh-CN" sz="1865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874908" y="1241371"/>
            <a:ext cx="2295313" cy="44021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65" dirty="0">
                <a:solidFill>
                  <a:schemeClr val="accent1"/>
                </a:solidFill>
              </a:rPr>
              <a:t>S2:EX</a:t>
            </a:r>
            <a:endParaRPr lang="en-US" altLang="zh-CN" sz="1865" dirty="0">
              <a:solidFill>
                <a:schemeClr val="accent1"/>
              </a:solidFill>
            </a:endParaRPr>
          </a:p>
          <a:p>
            <a:r>
              <a:rPr lang="en-US" altLang="zh-CN" sz="1865" dirty="0">
                <a:solidFill>
                  <a:schemeClr val="accent1"/>
                </a:solidFill>
              </a:rPr>
              <a:t>Calculate address</a:t>
            </a:r>
            <a:endParaRPr lang="en-US" altLang="zh-CN" sz="1865" dirty="0">
              <a:solidFill>
                <a:schemeClr val="accent1"/>
              </a:solidFill>
            </a:endParaRPr>
          </a:p>
          <a:p>
            <a:endParaRPr lang="en-US" altLang="zh-CN" sz="1865" dirty="0">
              <a:solidFill>
                <a:schemeClr val="accent1"/>
              </a:solidFill>
            </a:endParaRPr>
          </a:p>
          <a:p>
            <a:r>
              <a:rPr lang="en-US" altLang="zh-CN" sz="1865" dirty="0">
                <a:solidFill>
                  <a:schemeClr val="accent1"/>
                </a:solidFill>
              </a:rPr>
              <a:t>FUNCTION</a:t>
            </a:r>
            <a:r>
              <a:rPr lang="zh-CN" altLang="en-US" sz="1865" dirty="0">
                <a:solidFill>
                  <a:schemeClr val="accent1"/>
                </a:solidFill>
              </a:rPr>
              <a:t>：</a:t>
            </a:r>
            <a:endParaRPr lang="en-US" altLang="zh-CN" sz="1865" dirty="0">
              <a:solidFill>
                <a:schemeClr val="accent1"/>
              </a:solidFill>
            </a:endParaRPr>
          </a:p>
          <a:p>
            <a:r>
              <a:rPr lang="en-US" altLang="zh-CN" sz="1865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C=A+imm16</a:t>
            </a:r>
            <a:endParaRPr lang="en-US" altLang="zh-CN" sz="1865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zh-CN" sz="1865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1865" dirty="0">
                <a:solidFill>
                  <a:schemeClr val="accent1"/>
                </a:solidFill>
              </a:rPr>
              <a:t>SIGNAL</a:t>
            </a:r>
            <a:r>
              <a:rPr lang="zh-CN" altLang="en-US" sz="1865" dirty="0">
                <a:solidFill>
                  <a:schemeClr val="accent1"/>
                </a:solidFill>
              </a:rPr>
              <a:t>：</a:t>
            </a:r>
            <a:endParaRPr lang="en-US" altLang="zh-CN" sz="1865" dirty="0">
              <a:solidFill>
                <a:schemeClr val="accent1"/>
              </a:solidFill>
            </a:endParaRPr>
          </a:p>
          <a:p>
            <a:r>
              <a:rPr lang="en-US" altLang="zh-CN" sz="1865" dirty="0" err="1">
                <a:solidFill>
                  <a:schemeClr val="accent1"/>
                </a:solidFill>
              </a:rPr>
              <a:t>ALUSrcA</a:t>
            </a:r>
            <a:r>
              <a:rPr lang="en-US" altLang="zh-CN" sz="1865" dirty="0">
                <a:solidFill>
                  <a:schemeClr val="accent1"/>
                </a:solidFill>
              </a:rPr>
              <a:t>=1,</a:t>
            </a:r>
            <a:endParaRPr lang="en-US" altLang="zh-CN" sz="1865" dirty="0">
              <a:solidFill>
                <a:schemeClr val="accent1"/>
              </a:solidFill>
            </a:endParaRPr>
          </a:p>
          <a:p>
            <a:r>
              <a:rPr lang="en-US" altLang="zh-CN" sz="1865" dirty="0">
                <a:solidFill>
                  <a:schemeClr val="accent1"/>
                </a:solidFill>
              </a:rPr>
              <a:t>ALUSrcB=10,</a:t>
            </a:r>
            <a:endParaRPr lang="en-US" altLang="zh-CN" sz="1865" dirty="0">
              <a:solidFill>
                <a:schemeClr val="accent1"/>
              </a:solidFill>
            </a:endParaRPr>
          </a:p>
          <a:p>
            <a:r>
              <a:rPr lang="en-US" altLang="zh-CN" sz="1865" dirty="0" err="1">
                <a:solidFill>
                  <a:schemeClr val="accent1"/>
                </a:solidFill>
              </a:rPr>
              <a:t>Aluop</a:t>
            </a:r>
            <a:r>
              <a:rPr lang="en-US" altLang="zh-CN" sz="1865" dirty="0">
                <a:solidFill>
                  <a:schemeClr val="accent1"/>
                </a:solidFill>
              </a:rPr>
              <a:t>=0101,</a:t>
            </a:r>
            <a:endParaRPr lang="en-US" altLang="zh-CN" sz="1865" dirty="0">
              <a:solidFill>
                <a:schemeClr val="accent1"/>
              </a:solidFill>
            </a:endParaRPr>
          </a:p>
          <a:p>
            <a:endParaRPr lang="en-US" altLang="zh-CN" sz="1865" dirty="0">
              <a:solidFill>
                <a:schemeClr val="accent1"/>
              </a:solidFill>
            </a:endParaRPr>
          </a:p>
          <a:p>
            <a:r>
              <a:rPr lang="en-US" altLang="zh-CN" sz="1865" dirty="0">
                <a:solidFill>
                  <a:schemeClr val="accent1"/>
                </a:solidFill>
              </a:rPr>
              <a:t>Note: C register  store the memory address (byte address)</a:t>
            </a:r>
            <a:endParaRPr lang="en-US" altLang="zh-CN" sz="240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5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00"/>
                            </p:stCondLst>
                            <p:childTnLst>
                              <p:par>
                                <p:cTn id="73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7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8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8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9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0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1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2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4294967295"/>
          </p:nvPr>
        </p:nvPicPr>
        <p:blipFill>
          <a:blip r:embed="rId1"/>
          <a:stretch>
            <a:fillRect/>
          </a:stretch>
        </p:blipFill>
        <p:spPr>
          <a:xfrm>
            <a:off x="1" y="956464"/>
            <a:ext cx="9856923" cy="5901536"/>
          </a:xfrm>
          <a:prstGeom prst="rect">
            <a:avLst/>
          </a:prstGeom>
        </p:spPr>
      </p:pic>
      <p:cxnSp>
        <p:nvCxnSpPr>
          <p:cNvPr id="7" name="直接连接符 6"/>
          <p:cNvCxnSpPr/>
          <p:nvPr/>
        </p:nvCxnSpPr>
        <p:spPr>
          <a:xfrm flipH="1">
            <a:off x="2179783" y="2456873"/>
            <a:ext cx="168101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2170545" y="2466110"/>
            <a:ext cx="0" cy="167178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2896719" y="2211357"/>
            <a:ext cx="90516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 err="1">
                <a:solidFill>
                  <a:schemeClr val="accent1"/>
                </a:solidFill>
              </a:rPr>
              <a:t>MemREAD</a:t>
            </a:r>
            <a:endParaRPr lang="zh-CN" altLang="en-US" sz="1100" b="1" dirty="0">
              <a:solidFill>
                <a:schemeClr val="accent1"/>
              </a:solidFill>
            </a:endParaRPr>
          </a:p>
        </p:txBody>
      </p:sp>
      <p:cxnSp>
        <p:nvCxnSpPr>
          <p:cNvPr id="20" name="直接箭头连接符 19"/>
          <p:cNvCxnSpPr/>
          <p:nvPr/>
        </p:nvCxnSpPr>
        <p:spPr>
          <a:xfrm>
            <a:off x="1352635" y="4604875"/>
            <a:ext cx="256731" cy="0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/>
          <p:cNvCxnSpPr/>
          <p:nvPr/>
        </p:nvCxnSpPr>
        <p:spPr>
          <a:xfrm>
            <a:off x="1617739" y="2646312"/>
            <a:ext cx="0" cy="1704017"/>
          </a:xfrm>
          <a:prstGeom prst="straightConnector1">
            <a:avLst/>
          </a:prstGeom>
          <a:ln w="28575" cmpd="sng">
            <a:solidFill>
              <a:schemeClr val="accent6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/>
          <p:cNvCxnSpPr/>
          <p:nvPr/>
        </p:nvCxnSpPr>
        <p:spPr>
          <a:xfrm>
            <a:off x="1690672" y="4536456"/>
            <a:ext cx="283528" cy="0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>
          <a:xfrm>
            <a:off x="2170546" y="2466109"/>
            <a:ext cx="1607780" cy="0"/>
          </a:xfrm>
          <a:prstGeom prst="line">
            <a:avLst/>
          </a:prstGeom>
          <a:ln w="28575" cmpd="sng">
            <a:solidFill>
              <a:schemeClr val="accent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/>
          <p:cNvCxnSpPr/>
          <p:nvPr/>
        </p:nvCxnSpPr>
        <p:spPr>
          <a:xfrm>
            <a:off x="1609364" y="2646311"/>
            <a:ext cx="2124827" cy="0"/>
          </a:xfrm>
          <a:prstGeom prst="line">
            <a:avLst/>
          </a:prstGeom>
          <a:ln w="28575" cmpd="sng">
            <a:solidFill>
              <a:schemeClr val="accent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/>
          <p:cNvCxnSpPr/>
          <p:nvPr/>
        </p:nvCxnSpPr>
        <p:spPr>
          <a:xfrm>
            <a:off x="1352635" y="6389685"/>
            <a:ext cx="7334167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连接符 70"/>
          <p:cNvCxnSpPr/>
          <p:nvPr/>
        </p:nvCxnSpPr>
        <p:spPr>
          <a:xfrm>
            <a:off x="8686800" y="4536456"/>
            <a:ext cx="0" cy="1864344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连接符 73"/>
          <p:cNvCxnSpPr/>
          <p:nvPr/>
        </p:nvCxnSpPr>
        <p:spPr>
          <a:xfrm>
            <a:off x="2631147" y="4434121"/>
            <a:ext cx="167472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/>
          <p:cNvCxnSpPr/>
          <p:nvPr/>
        </p:nvCxnSpPr>
        <p:spPr>
          <a:xfrm>
            <a:off x="2186436" y="2456873"/>
            <a:ext cx="0" cy="1681019"/>
          </a:xfrm>
          <a:prstGeom prst="straightConnector1">
            <a:avLst/>
          </a:prstGeom>
          <a:ln w="28575" cmpd="sng">
            <a:solidFill>
              <a:schemeClr val="accent6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/>
          <p:cNvCxnSpPr/>
          <p:nvPr/>
        </p:nvCxnSpPr>
        <p:spPr>
          <a:xfrm>
            <a:off x="2798619" y="4434122"/>
            <a:ext cx="0" cy="913735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/>
          <p:cNvCxnSpPr/>
          <p:nvPr/>
        </p:nvCxnSpPr>
        <p:spPr>
          <a:xfrm>
            <a:off x="8439555" y="4536456"/>
            <a:ext cx="247245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连接符 77"/>
          <p:cNvCxnSpPr/>
          <p:nvPr/>
        </p:nvCxnSpPr>
        <p:spPr>
          <a:xfrm>
            <a:off x="1352635" y="4604875"/>
            <a:ext cx="0" cy="1784811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/>
          <p:cNvSpPr txBox="1"/>
          <p:nvPr/>
        </p:nvSpPr>
        <p:spPr>
          <a:xfrm>
            <a:off x="4300780" y="1108129"/>
            <a:ext cx="5631187" cy="133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5" dirty="0">
                <a:solidFill>
                  <a:schemeClr val="tx2"/>
                </a:solidFill>
              </a:rPr>
              <a:t>LW $</a:t>
            </a:r>
            <a:r>
              <a:rPr lang="en-US" altLang="zh-CN" sz="135" dirty="0" err="1">
                <a:solidFill>
                  <a:schemeClr val="tx2"/>
                </a:solidFill>
              </a:rPr>
              <a:t>rt,imm</a:t>
            </a:r>
            <a:r>
              <a:rPr lang="en-US" altLang="zh-CN" sz="135" dirty="0">
                <a:solidFill>
                  <a:schemeClr val="tx2"/>
                </a:solidFill>
              </a:rPr>
              <a:t>($</a:t>
            </a:r>
            <a:r>
              <a:rPr lang="en-US" altLang="zh-CN" sz="135" dirty="0" err="1">
                <a:solidFill>
                  <a:schemeClr val="tx2"/>
                </a:solidFill>
              </a:rPr>
              <a:t>rs</a:t>
            </a:r>
            <a:r>
              <a:rPr lang="en-US" altLang="zh-CN" sz="135" dirty="0">
                <a:solidFill>
                  <a:schemeClr val="tx2"/>
                </a:solidFill>
              </a:rPr>
              <a:t>);</a:t>
            </a:r>
            <a:r>
              <a:rPr lang="zh-CN" altLang="en-US" sz="135" dirty="0">
                <a:solidFill>
                  <a:schemeClr val="tx2"/>
                </a:solidFill>
              </a:rPr>
              <a:t>功能</a:t>
            </a:r>
            <a:r>
              <a:rPr lang="en-US" altLang="zh-CN" sz="135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R[$rt]</a:t>
            </a:r>
            <a:r>
              <a:rPr lang="en-US" altLang="zh-CN" sz="135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Mem (</a:t>
            </a:r>
            <a:r>
              <a:rPr lang="en-US" altLang="zh-CN" sz="135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R[$</a:t>
            </a:r>
            <a:r>
              <a:rPr lang="en-US" altLang="zh-CN" sz="135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rs</a:t>
            </a:r>
            <a:r>
              <a:rPr lang="en-US" altLang="zh-CN" sz="135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]+</a:t>
            </a:r>
            <a:r>
              <a:rPr lang="en-US" altLang="zh-CN" sz="135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imm</a:t>
            </a:r>
            <a:r>
              <a:rPr lang="en-US" altLang="zh-CN" sz="135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</a:t>
            </a:r>
            <a:endParaRPr lang="en-US" altLang="zh-CN" sz="135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r>
              <a:rPr lang="en-US" altLang="zh-CN" sz="135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I</a:t>
            </a:r>
            <a:r>
              <a:rPr lang="zh-CN" altLang="en-US" sz="135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指令格式：</a:t>
            </a:r>
            <a:r>
              <a:rPr lang="en-US" altLang="zh-CN" sz="135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OP(31:26),</a:t>
            </a:r>
            <a:r>
              <a:rPr lang="en-US" altLang="zh-CN" sz="135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rs</a:t>
            </a:r>
            <a:r>
              <a:rPr lang="en-US" altLang="zh-CN" sz="135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(25:21),rt(20:16),</a:t>
            </a:r>
            <a:r>
              <a:rPr lang="en-US" altLang="zh-CN" sz="135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imm</a:t>
            </a:r>
            <a:r>
              <a:rPr lang="en-US" altLang="zh-CN" sz="135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(15:0)</a:t>
            </a:r>
            <a:endParaRPr lang="en-US" altLang="zh-CN" sz="135" dirty="0">
              <a:solidFill>
                <a:schemeClr val="tx2"/>
              </a:solidFill>
            </a:endParaRPr>
          </a:p>
        </p:txBody>
      </p:sp>
      <p:cxnSp>
        <p:nvCxnSpPr>
          <p:cNvPr id="40" name="直接箭头连接符 39"/>
          <p:cNvCxnSpPr/>
          <p:nvPr/>
        </p:nvCxnSpPr>
        <p:spPr>
          <a:xfrm>
            <a:off x="2798619" y="5347855"/>
            <a:ext cx="196200" cy="0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矩形 43"/>
          <p:cNvSpPr/>
          <p:nvPr/>
        </p:nvSpPr>
        <p:spPr>
          <a:xfrm>
            <a:off x="6655645" y="458701"/>
            <a:ext cx="369012" cy="1127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35" dirty="0">
                <a:latin typeface="方正姚体" panose="02010601030101010101" pitchFamily="2" charset="-122"/>
                <a:ea typeface="方正姚体" panose="02010601030101010101" pitchFamily="2" charset="-122"/>
              </a:rPr>
              <a:t>环节三：线上问题</a:t>
            </a:r>
            <a:r>
              <a:rPr lang="en-US" altLang="zh-CN" sz="135" dirty="0">
                <a:latin typeface="方正姚体" panose="02010601030101010101" pitchFamily="2" charset="-122"/>
                <a:ea typeface="方正姚体" panose="02010601030101010101" pitchFamily="2" charset="-122"/>
              </a:rPr>
              <a:t>3</a:t>
            </a:r>
            <a:r>
              <a:rPr lang="zh-CN" altLang="en-US" sz="135" dirty="0">
                <a:latin typeface="方正姚体" panose="02010601030101010101" pitchFamily="2" charset="-122"/>
                <a:ea typeface="方正姚体" panose="02010601030101010101" pitchFamily="2" charset="-122"/>
              </a:rPr>
              <a:t>解答</a:t>
            </a:r>
            <a:endParaRPr lang="en-US" altLang="zh-CN" sz="135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86008" y="1108359"/>
            <a:ext cx="7508249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65" dirty="0"/>
              <a:t>LW $</a:t>
            </a:r>
            <a:r>
              <a:rPr lang="en-US" altLang="zh-CN" sz="1865" dirty="0" err="1"/>
              <a:t>rt,imm</a:t>
            </a:r>
            <a:r>
              <a:rPr lang="en-US" altLang="zh-CN" sz="1865" dirty="0"/>
              <a:t>($</a:t>
            </a:r>
            <a:r>
              <a:rPr lang="en-US" altLang="zh-CN" sz="1865" dirty="0" err="1"/>
              <a:t>rs</a:t>
            </a:r>
            <a:r>
              <a:rPr lang="en-US" altLang="zh-CN" sz="1865" dirty="0"/>
              <a:t>);</a:t>
            </a:r>
            <a:r>
              <a:rPr lang="zh-CN" altLang="en-US" sz="1865" dirty="0"/>
              <a:t>功能</a:t>
            </a:r>
            <a:r>
              <a:rPr lang="en-US" altLang="zh-CN" sz="18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R[$rt]</a:t>
            </a:r>
            <a:r>
              <a:rPr lang="en-US" altLang="zh-CN" sz="1865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Mem (</a:t>
            </a:r>
            <a:r>
              <a:rPr lang="en-US" altLang="zh-CN" sz="18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R[$</a:t>
            </a:r>
            <a:r>
              <a:rPr lang="en-US" altLang="zh-CN" sz="186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rs</a:t>
            </a:r>
            <a:r>
              <a:rPr lang="en-US" altLang="zh-CN" sz="18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]+</a:t>
            </a:r>
            <a:r>
              <a:rPr lang="en-US" altLang="zh-CN" sz="1865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imm</a:t>
            </a:r>
            <a:r>
              <a:rPr lang="en-US" altLang="zh-CN" sz="1865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</a:t>
            </a:r>
            <a:endParaRPr lang="en-US" altLang="zh-CN" sz="1865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r>
              <a:rPr lang="en-US" altLang="zh-CN" sz="1865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I</a:t>
            </a:r>
            <a:r>
              <a:rPr lang="zh-CN" altLang="en-US" sz="1865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指令格式：</a:t>
            </a:r>
            <a:r>
              <a:rPr lang="en-US" altLang="zh-CN" sz="1865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OP(31:26),</a:t>
            </a:r>
            <a:r>
              <a:rPr lang="en-US" altLang="zh-CN" sz="1865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rs</a:t>
            </a:r>
            <a:r>
              <a:rPr lang="en-US" altLang="zh-CN" sz="1865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(25:21),rt(20:16),</a:t>
            </a:r>
            <a:r>
              <a:rPr lang="en-US" altLang="zh-CN" sz="1865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imm</a:t>
            </a:r>
            <a:r>
              <a:rPr lang="en-US" altLang="zh-CN" sz="1865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(15:0)</a:t>
            </a:r>
            <a:endParaRPr lang="en-US" altLang="zh-CN" sz="1865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856893" y="1270847"/>
            <a:ext cx="2260600" cy="3827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65" dirty="0">
                <a:solidFill>
                  <a:schemeClr val="accent1"/>
                </a:solidFill>
              </a:rPr>
              <a:t>S3:MEM</a:t>
            </a:r>
            <a:endParaRPr lang="en-US" altLang="zh-CN" sz="1865" dirty="0">
              <a:solidFill>
                <a:schemeClr val="accent1"/>
              </a:solidFill>
            </a:endParaRPr>
          </a:p>
          <a:p>
            <a:r>
              <a:rPr lang="en-US" altLang="zh-CN" sz="1865" dirty="0">
                <a:solidFill>
                  <a:schemeClr val="accent1"/>
                </a:solidFill>
              </a:rPr>
              <a:t>READ MEMORY</a:t>
            </a:r>
            <a:endParaRPr lang="en-US" altLang="zh-CN" sz="1865" dirty="0">
              <a:solidFill>
                <a:schemeClr val="accent1"/>
              </a:solidFill>
            </a:endParaRPr>
          </a:p>
          <a:p>
            <a:endParaRPr lang="en-US" altLang="zh-CN" sz="1865" dirty="0">
              <a:solidFill>
                <a:schemeClr val="accent1"/>
              </a:solidFill>
            </a:endParaRPr>
          </a:p>
          <a:p>
            <a:r>
              <a:rPr lang="en-US" altLang="zh-CN" sz="1865" dirty="0">
                <a:solidFill>
                  <a:schemeClr val="accent1"/>
                </a:solidFill>
              </a:rPr>
              <a:t>FUNCTION</a:t>
            </a:r>
            <a:r>
              <a:rPr lang="zh-CN" altLang="en-US" sz="1865" dirty="0">
                <a:solidFill>
                  <a:schemeClr val="accent1"/>
                </a:solidFill>
              </a:rPr>
              <a:t>：</a:t>
            </a:r>
            <a:endParaRPr lang="en-US" altLang="zh-CN" sz="1865" dirty="0">
              <a:solidFill>
                <a:schemeClr val="accent1"/>
              </a:solidFill>
            </a:endParaRPr>
          </a:p>
          <a:p>
            <a:r>
              <a:rPr lang="en-US" altLang="zh-CN" sz="1865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DR=MEM[C]</a:t>
            </a:r>
            <a:endParaRPr lang="en-US" altLang="zh-CN" sz="1865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zh-CN" sz="1865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1865" dirty="0">
                <a:solidFill>
                  <a:schemeClr val="accent1"/>
                </a:solidFill>
              </a:rPr>
              <a:t>SIGNAL</a:t>
            </a:r>
            <a:r>
              <a:rPr lang="zh-CN" altLang="en-US" sz="1865" dirty="0">
                <a:solidFill>
                  <a:schemeClr val="accent1"/>
                </a:solidFill>
              </a:rPr>
              <a:t>：</a:t>
            </a:r>
            <a:endParaRPr lang="en-US" altLang="zh-CN" sz="1865" dirty="0">
              <a:solidFill>
                <a:schemeClr val="accent1"/>
              </a:solidFill>
            </a:endParaRPr>
          </a:p>
          <a:p>
            <a:r>
              <a:rPr lang="en-US" altLang="zh-CN" sz="1865" dirty="0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I</a:t>
            </a:r>
            <a:r>
              <a:rPr lang="en-US" altLang="zh-CN" sz="1865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</a:t>
            </a:r>
            <a:r>
              <a:rPr lang="zh-CN" altLang="en-US" sz="1865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endParaRPr lang="en-US" altLang="zh-CN" sz="1865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865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MEMRead</a:t>
            </a:r>
            <a:endParaRPr lang="en-US" altLang="zh-CN" sz="1865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1865" dirty="0">
              <a:solidFill>
                <a:schemeClr val="accent1"/>
              </a:solidFill>
            </a:endParaRPr>
          </a:p>
          <a:p>
            <a:r>
              <a:rPr lang="en-US" altLang="zh-CN" sz="1865" dirty="0">
                <a:solidFill>
                  <a:schemeClr val="accent1"/>
                </a:solidFill>
              </a:rPr>
              <a:t>Note: reads data from memory and pass to DR register </a:t>
            </a:r>
            <a:endParaRPr lang="en-US" altLang="zh-CN" sz="1865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5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7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8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8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000"/>
                            </p:stCondLst>
                            <p:childTnLst>
                              <p:par>
                                <p:cTn id="93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9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4294967295"/>
          </p:nvPr>
        </p:nvPicPr>
        <p:blipFill>
          <a:blip r:embed="rId1"/>
          <a:stretch>
            <a:fillRect/>
          </a:stretch>
        </p:blipFill>
        <p:spPr>
          <a:xfrm>
            <a:off x="1" y="956464"/>
            <a:ext cx="9856923" cy="5901536"/>
          </a:xfrm>
          <a:prstGeom prst="rect">
            <a:avLst/>
          </a:prstGeom>
        </p:spPr>
      </p:pic>
      <p:cxnSp>
        <p:nvCxnSpPr>
          <p:cNvPr id="7" name="直接连接符 6"/>
          <p:cNvCxnSpPr/>
          <p:nvPr/>
        </p:nvCxnSpPr>
        <p:spPr>
          <a:xfrm flipH="1">
            <a:off x="2179783" y="2456873"/>
            <a:ext cx="168101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2170545" y="2466110"/>
            <a:ext cx="0" cy="167178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2896719" y="2211357"/>
            <a:ext cx="90516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 err="1">
                <a:solidFill>
                  <a:schemeClr val="accent1"/>
                </a:solidFill>
              </a:rPr>
              <a:t>MemREAD</a:t>
            </a:r>
            <a:endParaRPr lang="zh-CN" altLang="en-US" sz="1100" b="1" dirty="0">
              <a:solidFill>
                <a:schemeClr val="accent1"/>
              </a:solidFill>
            </a:endParaRPr>
          </a:p>
        </p:txBody>
      </p:sp>
      <p:cxnSp>
        <p:nvCxnSpPr>
          <p:cNvPr id="20" name="直接箭头连接符 19"/>
          <p:cNvCxnSpPr/>
          <p:nvPr/>
        </p:nvCxnSpPr>
        <p:spPr>
          <a:xfrm>
            <a:off x="3163571" y="5368607"/>
            <a:ext cx="914400" cy="0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/>
          <p:cNvCxnSpPr/>
          <p:nvPr/>
        </p:nvCxnSpPr>
        <p:spPr>
          <a:xfrm>
            <a:off x="4136044" y="3664167"/>
            <a:ext cx="0" cy="1426471"/>
          </a:xfrm>
          <a:prstGeom prst="straightConnector1">
            <a:avLst/>
          </a:prstGeom>
          <a:ln w="28575" cmpd="sng">
            <a:solidFill>
              <a:schemeClr val="accent6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/>
          <p:cNvCxnSpPr/>
          <p:nvPr/>
        </p:nvCxnSpPr>
        <p:spPr>
          <a:xfrm>
            <a:off x="4839855" y="3516549"/>
            <a:ext cx="0" cy="621343"/>
          </a:xfrm>
          <a:prstGeom prst="straightConnector1">
            <a:avLst/>
          </a:prstGeom>
          <a:ln w="28575" cmpd="sng">
            <a:solidFill>
              <a:schemeClr val="accent6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>
          <a:xfrm>
            <a:off x="3453451" y="4521848"/>
            <a:ext cx="167204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/>
          <p:cNvCxnSpPr/>
          <p:nvPr/>
        </p:nvCxnSpPr>
        <p:spPr>
          <a:xfrm>
            <a:off x="3900687" y="4880212"/>
            <a:ext cx="439980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连接符 73"/>
          <p:cNvCxnSpPr/>
          <p:nvPr/>
        </p:nvCxnSpPr>
        <p:spPr>
          <a:xfrm>
            <a:off x="4217044" y="3491733"/>
            <a:ext cx="622811" cy="0"/>
          </a:xfrm>
          <a:prstGeom prst="line">
            <a:avLst/>
          </a:prstGeom>
          <a:ln w="28575" cmpd="sng">
            <a:solidFill>
              <a:schemeClr val="accent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/>
          <p:cNvCxnSpPr/>
          <p:nvPr/>
        </p:nvCxnSpPr>
        <p:spPr>
          <a:xfrm>
            <a:off x="3620655" y="4486275"/>
            <a:ext cx="0" cy="335107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/>
          <p:cNvCxnSpPr/>
          <p:nvPr/>
        </p:nvCxnSpPr>
        <p:spPr>
          <a:xfrm>
            <a:off x="4217045" y="5256892"/>
            <a:ext cx="123623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3606800" y="4821383"/>
            <a:ext cx="131763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矩形 43"/>
          <p:cNvSpPr/>
          <p:nvPr/>
        </p:nvSpPr>
        <p:spPr>
          <a:xfrm>
            <a:off x="6655645" y="458701"/>
            <a:ext cx="369012" cy="1127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35" dirty="0">
                <a:latin typeface="方正姚体" panose="02010601030101010101" pitchFamily="2" charset="-122"/>
                <a:ea typeface="方正姚体" panose="02010601030101010101" pitchFamily="2" charset="-122"/>
              </a:rPr>
              <a:t>环节三：线上问题</a:t>
            </a:r>
            <a:r>
              <a:rPr lang="en-US" altLang="zh-CN" sz="135" dirty="0">
                <a:latin typeface="方正姚体" panose="02010601030101010101" pitchFamily="2" charset="-122"/>
                <a:ea typeface="方正姚体" panose="02010601030101010101" pitchFamily="2" charset="-122"/>
              </a:rPr>
              <a:t>3</a:t>
            </a:r>
            <a:r>
              <a:rPr lang="zh-CN" altLang="en-US" sz="135" dirty="0">
                <a:latin typeface="方正姚体" panose="02010601030101010101" pitchFamily="2" charset="-122"/>
                <a:ea typeface="方正姚体" panose="02010601030101010101" pitchFamily="2" charset="-122"/>
              </a:rPr>
              <a:t>解答</a:t>
            </a:r>
            <a:endParaRPr lang="en-US" altLang="zh-CN" sz="135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217044" y="1075267"/>
            <a:ext cx="7508249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65" dirty="0"/>
              <a:t>LW $</a:t>
            </a:r>
            <a:r>
              <a:rPr lang="en-US" altLang="zh-CN" sz="1865" dirty="0" err="1"/>
              <a:t>rt,imm</a:t>
            </a:r>
            <a:r>
              <a:rPr lang="en-US" altLang="zh-CN" sz="1865" dirty="0"/>
              <a:t>($</a:t>
            </a:r>
            <a:r>
              <a:rPr lang="en-US" altLang="zh-CN" sz="1865" dirty="0" err="1"/>
              <a:t>rs</a:t>
            </a:r>
            <a:r>
              <a:rPr lang="en-US" altLang="zh-CN" sz="1865" dirty="0"/>
              <a:t>);</a:t>
            </a:r>
            <a:r>
              <a:rPr lang="zh-CN" altLang="en-US" sz="1865" dirty="0"/>
              <a:t>功能</a:t>
            </a:r>
            <a:r>
              <a:rPr lang="en-US" altLang="zh-CN" sz="18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R[$rt]</a:t>
            </a:r>
            <a:r>
              <a:rPr lang="en-US" altLang="zh-CN" sz="1865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Mem (</a:t>
            </a:r>
            <a:r>
              <a:rPr lang="en-US" altLang="zh-CN" sz="18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R[$</a:t>
            </a:r>
            <a:r>
              <a:rPr lang="en-US" altLang="zh-CN" sz="186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rs</a:t>
            </a:r>
            <a:r>
              <a:rPr lang="en-US" altLang="zh-CN" sz="18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]+</a:t>
            </a:r>
            <a:r>
              <a:rPr lang="en-US" altLang="zh-CN" sz="1865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imm</a:t>
            </a:r>
            <a:r>
              <a:rPr lang="en-US" altLang="zh-CN" sz="1865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</a:t>
            </a:r>
            <a:endParaRPr lang="en-US" altLang="zh-CN" sz="1865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r>
              <a:rPr lang="en-US" altLang="zh-CN" sz="1865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I</a:t>
            </a:r>
            <a:r>
              <a:rPr lang="zh-CN" altLang="en-US" sz="1865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指令格式：</a:t>
            </a:r>
            <a:r>
              <a:rPr lang="en-US" altLang="zh-CN" sz="1865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OP(31:26),</a:t>
            </a:r>
            <a:r>
              <a:rPr lang="en-US" altLang="zh-CN" sz="1865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rs</a:t>
            </a:r>
            <a:r>
              <a:rPr lang="en-US" altLang="zh-CN" sz="1865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(25:21),rt(20:16),</a:t>
            </a:r>
            <a:r>
              <a:rPr lang="en-US" altLang="zh-CN" sz="1865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imm</a:t>
            </a:r>
            <a:r>
              <a:rPr lang="en-US" altLang="zh-CN" sz="1865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(15:0)</a:t>
            </a:r>
            <a:endParaRPr lang="en-US" altLang="zh-CN" sz="1865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856924" y="1227916"/>
            <a:ext cx="2305473" cy="44021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65" dirty="0">
                <a:solidFill>
                  <a:schemeClr val="accent1"/>
                </a:solidFill>
              </a:rPr>
              <a:t>S4:WB</a:t>
            </a:r>
            <a:endParaRPr lang="en-US" altLang="zh-CN" sz="1865" dirty="0">
              <a:solidFill>
                <a:schemeClr val="accent1"/>
              </a:solidFill>
            </a:endParaRPr>
          </a:p>
          <a:p>
            <a:r>
              <a:rPr lang="en-US" altLang="zh-CN" sz="1865" dirty="0">
                <a:solidFill>
                  <a:schemeClr val="accent1"/>
                </a:solidFill>
              </a:rPr>
              <a:t>WRITE REGISTER</a:t>
            </a:r>
            <a:endParaRPr lang="en-US" altLang="zh-CN" sz="1865" dirty="0">
              <a:solidFill>
                <a:schemeClr val="accent1"/>
              </a:solidFill>
            </a:endParaRPr>
          </a:p>
          <a:p>
            <a:endParaRPr lang="en-US" altLang="zh-CN" sz="1865" dirty="0">
              <a:solidFill>
                <a:schemeClr val="accent1"/>
              </a:solidFill>
            </a:endParaRPr>
          </a:p>
          <a:p>
            <a:r>
              <a:rPr lang="en-US" altLang="zh-CN" sz="1865" dirty="0">
                <a:solidFill>
                  <a:schemeClr val="accent1"/>
                </a:solidFill>
              </a:rPr>
              <a:t>FUNCTION</a:t>
            </a:r>
            <a:r>
              <a:rPr lang="zh-CN" altLang="en-US" sz="1865" dirty="0">
                <a:solidFill>
                  <a:schemeClr val="accent1"/>
                </a:solidFill>
              </a:rPr>
              <a:t>：</a:t>
            </a:r>
            <a:endParaRPr lang="en-US" altLang="zh-CN" sz="1865" dirty="0">
              <a:solidFill>
                <a:schemeClr val="accent1"/>
              </a:solidFill>
            </a:endParaRPr>
          </a:p>
          <a:p>
            <a:r>
              <a:rPr lang="en-US" altLang="zh-CN" sz="1865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 [$rt]=DR</a:t>
            </a:r>
            <a:endParaRPr lang="en-US" altLang="zh-CN" sz="1865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zh-CN" sz="1865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1865" dirty="0">
                <a:solidFill>
                  <a:schemeClr val="accent1"/>
                </a:solidFill>
              </a:rPr>
              <a:t>SIGNAL</a:t>
            </a:r>
            <a:r>
              <a:rPr lang="zh-CN" altLang="en-US" sz="1865" dirty="0">
                <a:solidFill>
                  <a:schemeClr val="accent1"/>
                </a:solidFill>
              </a:rPr>
              <a:t>：</a:t>
            </a:r>
            <a:endParaRPr lang="en-US" altLang="zh-CN" sz="1865" dirty="0">
              <a:solidFill>
                <a:schemeClr val="accent1"/>
              </a:solidFill>
            </a:endParaRPr>
          </a:p>
          <a:p>
            <a:r>
              <a:rPr lang="en-US" altLang="zh-CN" sz="1865" dirty="0" err="1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MemtoReg</a:t>
            </a:r>
            <a:r>
              <a:rPr lang="en-US" altLang="zh-CN" sz="1865" dirty="0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,</a:t>
            </a:r>
            <a:endParaRPr lang="en-US" altLang="zh-CN" sz="1865" dirty="0">
              <a:solidFill>
                <a:schemeClr val="accent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r>
              <a:rPr lang="en-US" altLang="zh-CN" sz="1865" dirty="0" err="1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RegWrite</a:t>
            </a:r>
            <a:endParaRPr lang="en-US" altLang="zh-CN" sz="1865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1865" dirty="0">
              <a:solidFill>
                <a:schemeClr val="accent1"/>
              </a:solidFill>
            </a:endParaRPr>
          </a:p>
          <a:p>
            <a:r>
              <a:rPr lang="en-US" altLang="zh-CN" sz="1865" dirty="0">
                <a:solidFill>
                  <a:schemeClr val="accent1"/>
                </a:solidFill>
              </a:rPr>
              <a:t>Note: In the register group circuit, W# (5 bits) is register number; WD is the write data (32-bit).</a:t>
            </a:r>
            <a:endParaRPr lang="en-US" altLang="zh-CN" sz="240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5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90600"/>
            <a:ext cx="12192000" cy="58674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323" y="49544"/>
            <a:ext cx="12049354" cy="760721"/>
          </a:xfrm>
        </p:spPr>
        <p:txBody>
          <a:bodyPr>
            <a:no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Microprogram controller (</a:t>
            </a:r>
            <a:r>
              <a:rPr lang="en-US" altLang="zh-CN" sz="2800" b="1" dirty="0" err="1">
                <a:solidFill>
                  <a:schemeClr val="bg1"/>
                </a:solidFill>
                <a:latin typeface="Sitka Subheading" pitchFamily="2" charset="0"/>
                <a:ea typeface="微软雅黑" panose="020B0503020204020204" pitchFamily="34" charset="-122"/>
              </a:rPr>
              <a:t>input:OP</a:t>
            </a:r>
            <a:r>
              <a:rPr lang="en-US" altLang="zh-CN" sz="2800" b="1" dirty="0">
                <a:solidFill>
                  <a:schemeClr val="bg1"/>
                </a:solidFill>
                <a:latin typeface="Sitka Subheading" pitchFamily="2" charset="0"/>
                <a:ea typeface="微软雅黑" panose="020B0503020204020204" pitchFamily="34" charset="-122"/>
              </a:rPr>
              <a:t>/FUNC/CLK/RST</a:t>
            </a:r>
            <a:r>
              <a:rPr lang="zh-CN" altLang="en-US" sz="2800" b="1" dirty="0">
                <a:solidFill>
                  <a:schemeClr val="bg1"/>
                </a:solidFill>
                <a:latin typeface="Sitka Subheading" pitchFamily="2" charset="0"/>
                <a:ea typeface="微软雅黑" panose="020B0503020204020204" pitchFamily="34" charset="-122"/>
              </a:rPr>
              <a:t>；</a:t>
            </a:r>
            <a:r>
              <a:rPr lang="en-US" altLang="zh-CN" sz="2800" b="1" dirty="0">
                <a:solidFill>
                  <a:schemeClr val="bg1"/>
                </a:solidFill>
                <a:latin typeface="Sitka Subheading" pitchFamily="2" charset="0"/>
                <a:ea typeface="微软雅黑" panose="020B0503020204020204" pitchFamily="34" charset="-122"/>
              </a:rPr>
              <a:t>OUTPUT:ALU_OP,BNE..</a:t>
            </a:r>
            <a:r>
              <a:rPr lang="en-US" altLang="zh-CN" sz="2800" b="1" dirty="0" err="1">
                <a:solidFill>
                  <a:schemeClr val="bg1"/>
                </a:solidFill>
                <a:latin typeface="Sitka Subheading" pitchFamily="2" charset="0"/>
                <a:ea typeface="微软雅黑" panose="020B0503020204020204" pitchFamily="34" charset="-122"/>
              </a:rPr>
              <a:t>IorD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077287" y="1524000"/>
            <a:ext cx="1372447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defTabSz="12192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000" dirty="0">
                <a:solidFill>
                  <a:prstClr val="black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16</a:t>
            </a:r>
            <a:r>
              <a:rPr lang="zh-CN" altLang="en-US" sz="1000" dirty="0">
                <a:solidFill>
                  <a:prstClr val="black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个字，每字</a:t>
            </a:r>
            <a:r>
              <a:rPr lang="en-US" altLang="zh-CN" sz="1000" dirty="0">
                <a:solidFill>
                  <a:prstClr val="black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21</a:t>
            </a:r>
            <a:r>
              <a:rPr lang="zh-CN" altLang="en-US" sz="1000" dirty="0">
                <a:solidFill>
                  <a:prstClr val="black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位</a:t>
            </a:r>
            <a:endParaRPr lang="en-US" altLang="zh-CN" sz="1000" dirty="0">
              <a:solidFill>
                <a:prstClr val="black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733550" y="3848101"/>
            <a:ext cx="5267325" cy="264795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077075" y="3848101"/>
            <a:ext cx="4972916" cy="264795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61951" y="1657350"/>
            <a:ext cx="1171575" cy="13335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cxnSp>
        <p:nvCxnSpPr>
          <p:cNvPr id="11" name="直接箭头连接符 10"/>
          <p:cNvCxnSpPr/>
          <p:nvPr/>
        </p:nvCxnSpPr>
        <p:spPr>
          <a:xfrm>
            <a:off x="7705147" y="1790701"/>
            <a:ext cx="0" cy="352425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1733127" y="1068493"/>
            <a:ext cx="10318327" cy="27008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cxnSp>
        <p:nvCxnSpPr>
          <p:cNvPr id="10" name="直接箭头连接符 9"/>
          <p:cNvCxnSpPr/>
          <p:nvPr/>
        </p:nvCxnSpPr>
        <p:spPr>
          <a:xfrm flipH="1" flipV="1">
            <a:off x="11079892" y="2186108"/>
            <a:ext cx="8238" cy="244054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10677544" y="2475302"/>
            <a:ext cx="1372447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defTabSz="12192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000" dirty="0">
                <a:solidFill>
                  <a:prstClr val="black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1000" dirty="0">
                <a:solidFill>
                  <a:prstClr val="black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位，不输出</a:t>
            </a:r>
            <a:endParaRPr lang="en-US" altLang="zh-CN" sz="1000" dirty="0">
              <a:solidFill>
                <a:prstClr val="black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cxnSp>
        <p:nvCxnSpPr>
          <p:cNvPr id="14" name="直接箭头连接符 13"/>
          <p:cNvCxnSpPr/>
          <p:nvPr/>
        </p:nvCxnSpPr>
        <p:spPr>
          <a:xfrm flipH="1" flipV="1">
            <a:off x="4097289" y="1601998"/>
            <a:ext cx="8238" cy="244054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3761879" y="1883922"/>
            <a:ext cx="1372447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defTabSz="12192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000" dirty="0">
                <a:solidFill>
                  <a:prstClr val="black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4</a:t>
            </a:r>
            <a:r>
              <a:rPr lang="zh-CN" altLang="en-US" sz="1000" dirty="0">
                <a:solidFill>
                  <a:prstClr val="black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位，输出</a:t>
            </a:r>
            <a:endParaRPr lang="en-US" altLang="zh-CN" sz="1000" dirty="0">
              <a:solidFill>
                <a:prstClr val="black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90011"/>
            <a:ext cx="1673411" cy="3167989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11403023" y="1611005"/>
            <a:ext cx="64633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prstClr val="black"/>
                </a:solidFill>
                <a:latin typeface="Calibri" panose="020F0502020204030204" pitchFamily="34" charset="0"/>
              </a:rPr>
              <a:t>不输出</a:t>
            </a:r>
            <a:endParaRPr lang="en-US" altLang="zh-CN" sz="1200" dirty="0">
              <a:solidFill>
                <a:prstClr val="black"/>
              </a:solidFill>
              <a:latin typeface="Calibri" panose="020F0502020204030204" pitchFamily="34" charset="0"/>
            </a:endParaRPr>
          </a:p>
        </p:txBody>
      </p:sp>
      <p:cxnSp>
        <p:nvCxnSpPr>
          <p:cNvPr id="17" name="直接箭头连接符 16"/>
          <p:cNvCxnSpPr/>
          <p:nvPr/>
        </p:nvCxnSpPr>
        <p:spPr>
          <a:xfrm flipH="1" flipV="1">
            <a:off x="10798629" y="1657350"/>
            <a:ext cx="732972" cy="66675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22780" y="-210531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2800" b="1" dirty="0">
                <a:solidFill>
                  <a:schemeClr val="accent1"/>
                </a:solidFill>
              </a:rPr>
              <a:t>微程序控制器封装和微指令定义</a:t>
            </a:r>
            <a:endParaRPr lang="zh-CN" altLang="en-US" sz="2800" b="1" dirty="0">
              <a:solidFill>
                <a:schemeClr val="accent1"/>
              </a:solidFill>
            </a:endParaRPr>
          </a:p>
        </p:txBody>
      </p:sp>
      <p:graphicFrame>
        <p:nvGraphicFramePr>
          <p:cNvPr id="6" name="内容占位符 5"/>
          <p:cNvGraphicFramePr>
            <a:graphicFrameLocks noGrp="1"/>
          </p:cNvGraphicFramePr>
          <p:nvPr>
            <p:ph idx="1"/>
          </p:nvPr>
        </p:nvGraphicFramePr>
        <p:xfrm>
          <a:off x="-1" y="5218545"/>
          <a:ext cx="12118109" cy="154524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5736"/>
                <a:gridCol w="612871"/>
                <a:gridCol w="654657"/>
                <a:gridCol w="612871"/>
                <a:gridCol w="710371"/>
                <a:gridCol w="710371"/>
                <a:gridCol w="654657"/>
                <a:gridCol w="612871"/>
                <a:gridCol w="650014"/>
                <a:gridCol w="705729"/>
                <a:gridCol w="742872"/>
                <a:gridCol w="705729"/>
                <a:gridCol w="668585"/>
                <a:gridCol w="668585"/>
                <a:gridCol w="933233"/>
                <a:gridCol w="376079"/>
                <a:gridCol w="1002878"/>
              </a:tblGrid>
              <a:tr h="377726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>
                          <a:effectLst/>
                        </a:rPr>
                        <a:t>微指令地址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IorD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PcSrc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AluSrcA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AluSrcB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MemToReg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RegDst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IrWrite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PcWrite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RegWrite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 dirty="0">
                          <a:effectLst/>
                        </a:rPr>
                        <a:t>MemWrite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MemRead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 dirty="0">
                          <a:effectLst/>
                        </a:rPr>
                        <a:t>BEQ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BNE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AluControl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P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>
                          <a:effectLst/>
                        </a:rPr>
                        <a:t>下址字段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b"/>
                </a:tc>
              </a:tr>
              <a:tr h="376091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0000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01</a:t>
                      </a:r>
                      <a:endParaRPr lang="en-US" altLang="zh-CN" sz="1100" b="0" i="0" u="none" strike="noStrike">
                        <a:solidFill>
                          <a:srgbClr val="9C0006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1</a:t>
                      </a:r>
                      <a:endParaRPr lang="en-US" altLang="zh-CN" sz="1100" b="0" i="0" u="none" strike="noStrike">
                        <a:solidFill>
                          <a:srgbClr val="9C0006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1</a:t>
                      </a:r>
                      <a:endParaRPr lang="en-US" altLang="zh-CN" sz="1100" b="0" i="0" u="none" strike="noStrike">
                        <a:solidFill>
                          <a:srgbClr val="9C0006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1</a:t>
                      </a:r>
                      <a:endParaRPr lang="en-US" altLang="zh-CN" sz="1100" b="0" i="0" u="none" strike="noStrike">
                        <a:solidFill>
                          <a:srgbClr val="9C0006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00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 dirty="0">
                          <a:effectLst/>
                        </a:rPr>
                        <a:t>0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0001</a:t>
                      </a:r>
                      <a:endParaRPr lang="en-US" altLang="zh-CN" sz="1100" b="0" i="0" u="none" strike="noStrike">
                        <a:solidFill>
                          <a:srgbClr val="9C0006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b"/>
                </a:tc>
              </a:tr>
              <a:tr h="395713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0001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11</a:t>
                      </a:r>
                      <a:endParaRPr lang="en-US" altLang="zh-CN" sz="1100" b="0" i="0" u="none" strike="noStrike">
                        <a:solidFill>
                          <a:srgbClr val="9C0006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 dirty="0">
                          <a:effectLst/>
                        </a:rPr>
                        <a:t>0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00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1</a:t>
                      </a:r>
                      <a:endParaRPr lang="en-US" altLang="zh-CN" sz="1100" b="0" i="0" u="none" strike="noStrike">
                        <a:solidFill>
                          <a:srgbClr val="9C0006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0000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b"/>
                </a:tc>
              </a:tr>
              <a:tr h="395713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0010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 dirty="0">
                          <a:effectLst/>
                        </a:rPr>
                        <a:t>0</a:t>
                      </a:r>
                      <a:endParaRPr lang="en-US" altLang="zh-CN" sz="1100" b="0" i="0" u="none" strike="noStrike" dirty="0">
                        <a:solidFill>
                          <a:srgbClr val="9C0006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 dirty="0">
                          <a:effectLst/>
                        </a:rPr>
                        <a:t>00</a:t>
                      </a:r>
                      <a:endParaRPr lang="en-US" altLang="zh-CN" sz="1100" b="0" i="0" u="none" strike="noStrike" dirty="0">
                        <a:solidFill>
                          <a:srgbClr val="9C0006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00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</a:rPr>
                        <a:t>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 dirty="0">
                          <a:effectLst/>
                        </a:rPr>
                        <a:t>0011</a:t>
                      </a:r>
                      <a:endParaRPr lang="en-US" altLang="zh-CN" sz="1100" b="0" i="0" u="none" strike="noStrike" dirty="0">
                        <a:solidFill>
                          <a:srgbClr val="9C0006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147" y="618835"/>
            <a:ext cx="8447519" cy="459971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3733" y="618835"/>
            <a:ext cx="3220412" cy="4433455"/>
          </a:xfrm>
          <a:prstGeom prst="rect">
            <a:avLst/>
          </a:prstGeom>
        </p:spPr>
      </p:pic>
      <p:sp>
        <p:nvSpPr>
          <p:cNvPr id="3" name="椭圆 2"/>
          <p:cNvSpPr/>
          <p:nvPr/>
        </p:nvSpPr>
        <p:spPr>
          <a:xfrm>
            <a:off x="9404350" y="899886"/>
            <a:ext cx="596900" cy="70031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椭圆 6"/>
          <p:cNvSpPr/>
          <p:nvPr/>
        </p:nvSpPr>
        <p:spPr>
          <a:xfrm>
            <a:off x="8858250" y="1200150"/>
            <a:ext cx="596900" cy="8001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5287" y="2922815"/>
            <a:ext cx="3690255" cy="188104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175787" y="115677"/>
            <a:ext cx="4596343" cy="572655"/>
          </a:xfrm>
        </p:spPr>
        <p:txBody>
          <a:bodyPr>
            <a:normAutofit fontScale="90000"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多周期</a:t>
            </a: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通路图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 descr="ZL$~F2T]Z45]MQ_WJ8X0J~W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1" y="848360"/>
            <a:ext cx="12175913" cy="6026573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435187" y="2292774"/>
            <a:ext cx="1447800" cy="17949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81070" y="1027906"/>
            <a:ext cx="10619342" cy="5657161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4108223" y="401953"/>
            <a:ext cx="602930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accent5"/>
                </a:solidFill>
              </a:rPr>
              <a:t>Microprogram address transfer circuit</a:t>
            </a:r>
            <a:r>
              <a:rPr lang="zh-CN" altLang="en-US" dirty="0">
                <a:solidFill>
                  <a:schemeClr val="accent5"/>
                </a:solidFill>
              </a:rPr>
              <a:t>：</a:t>
            </a:r>
            <a:r>
              <a:rPr lang="en-US" altLang="zh-CN" dirty="0">
                <a:solidFill>
                  <a:schemeClr val="accent5"/>
                </a:solidFill>
              </a:rPr>
              <a:t> Universal Tables</a:t>
            </a:r>
            <a:endParaRPr lang="zh-CN" altLang="en-US" dirty="0">
              <a:solidFill>
                <a:schemeClr val="accent5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1007392" y="2402237"/>
            <a:ext cx="1673817" cy="131736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199" y="1198912"/>
            <a:ext cx="8209085" cy="511100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4881946" y="331614"/>
            <a:ext cx="602930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accent5"/>
                </a:solidFill>
              </a:rPr>
              <a:t>Microprogram address transfer circuit</a:t>
            </a:r>
            <a:r>
              <a:rPr lang="zh-CN" altLang="en-US" dirty="0">
                <a:solidFill>
                  <a:schemeClr val="accent5"/>
                </a:solidFill>
              </a:rPr>
              <a:t>：</a:t>
            </a:r>
            <a:r>
              <a:rPr lang="en-US" altLang="zh-CN" dirty="0">
                <a:solidFill>
                  <a:schemeClr val="accent5"/>
                </a:solidFill>
              </a:rPr>
              <a:t> Universal Tables</a:t>
            </a:r>
            <a:endParaRPr lang="zh-CN" altLang="en-US" dirty="0">
              <a:solidFill>
                <a:schemeClr val="accent5"/>
              </a:solidFill>
            </a:endParaRPr>
          </a:p>
        </p:txBody>
      </p:sp>
      <p:graphicFrame>
        <p:nvGraphicFramePr>
          <p:cNvPr id="7" name="内容占位符 4"/>
          <p:cNvGraphicFramePr>
            <a:graphicFrameLocks noGrp="1"/>
          </p:cNvGraphicFramePr>
          <p:nvPr>
            <p:ph idx="1"/>
          </p:nvPr>
        </p:nvGraphicFramePr>
        <p:xfrm>
          <a:off x="9527931" y="1345223"/>
          <a:ext cx="2057400" cy="36986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800"/>
                <a:gridCol w="685800"/>
                <a:gridCol w="685800"/>
              </a:tblGrid>
              <a:tr h="42368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Micro instruction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 dirty="0">
                          <a:effectLst/>
                        </a:rPr>
                        <a:t>status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ADDRESS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</a:tr>
              <a:tr h="22901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IF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0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</a:tr>
              <a:tr h="21756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ID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S1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</a:tr>
              <a:tr h="2175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LW1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</a:tr>
              <a:tr h="2175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LW2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3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</a:tr>
              <a:tr h="2175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LW3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S4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</a:tr>
              <a:tr h="2175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SW1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</a:tr>
              <a:tr h="2175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SW2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</a:tr>
              <a:tr h="2175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R</a:t>
                      </a:r>
                      <a:r>
                        <a:rPr lang="zh-CN" altLang="en-US" sz="1100" u="none" strike="noStrike" dirty="0">
                          <a:effectLst/>
                        </a:rPr>
                        <a:t> </a:t>
                      </a:r>
                      <a:r>
                        <a:rPr lang="en-US" altLang="zh-CN" sz="1100" u="none" strike="noStrike" dirty="0">
                          <a:effectLst/>
                        </a:rPr>
                        <a:t>TYPE1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7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</a:tr>
              <a:tr h="2175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R</a:t>
                      </a:r>
                      <a:r>
                        <a:rPr lang="zh-CN" altLang="en-US" sz="1100" u="none" strike="noStrike" dirty="0">
                          <a:effectLst/>
                        </a:rPr>
                        <a:t> </a:t>
                      </a:r>
                      <a:r>
                        <a:rPr lang="en-US" altLang="zh-CN" sz="1100" u="none" strike="noStrike" dirty="0">
                          <a:effectLst/>
                        </a:rPr>
                        <a:t>TYPE2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</a:tr>
              <a:tr h="2175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Beq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</a:tr>
              <a:tr h="2175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Bne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S10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10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</a:tr>
              <a:tr h="2175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ADDI1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S11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11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</a:tr>
              <a:tr h="2175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ADDI2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S12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12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</a:tr>
              <a:tr h="2175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SYSCALL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S13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13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 marL="9525" marR="9525" marT="9525" marB="0" anchor="ctr"/>
                </a:tc>
              </a:tr>
              <a:tr h="217568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effectLst/>
                        </a:rPr>
                        <a:t>微程序地址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35" y="1027906"/>
            <a:ext cx="11799065" cy="5830094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5184817" y="496371"/>
            <a:ext cx="34179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accent5"/>
                </a:solidFill>
              </a:rPr>
              <a:t>微指令自动生成</a:t>
            </a:r>
            <a:r>
              <a:rPr lang="en-US" altLang="zh-CN" dirty="0">
                <a:solidFill>
                  <a:schemeClr val="accent5"/>
                </a:solidFill>
              </a:rPr>
              <a:t>(2019-4-22).xlsx</a:t>
            </a:r>
            <a:endParaRPr lang="zh-CN" altLang="en-US" dirty="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4012785"/>
            <a:ext cx="12043718" cy="2691674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3970638" y="398076"/>
            <a:ext cx="6544962" cy="458659"/>
          </a:xfrm>
        </p:spPr>
        <p:txBody>
          <a:bodyPr>
            <a:normAutofit fontScale="90000"/>
          </a:bodyPr>
          <a:lstStyle/>
          <a:p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</a:rPr>
              <a:t>Circuit debugging artifact: log</a:t>
            </a: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</a:rPr>
              <a:t>，</a:t>
            </a:r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</a:rPr>
              <a:t>CTRL+T</a:t>
            </a:r>
            <a:endParaRPr lang="zh-CN" altLang="en-US" sz="28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934038"/>
            <a:ext cx="12043719" cy="3078747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RAINPROBLEM" val="ProblemBody"/>
</p:tagLst>
</file>

<file path=ppt/tags/tag2.xml><?xml version="1.0" encoding="utf-8"?>
<p:tagLst xmlns:p="http://schemas.openxmlformats.org/presentationml/2006/main">
  <p:tag name="RAINPROBLEM" val="ProblemItem"/>
</p:tagLst>
</file>

<file path=ppt/tags/tag3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4.xml><?xml version="1.0" encoding="utf-8"?>
<p:tagLst xmlns:p="http://schemas.openxmlformats.org/presentationml/2006/main">
  <p:tag name="RAINPROBLEM" val="ProblemItem"/>
</p:tagLst>
</file>

<file path=ppt/tags/tag5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6.xml><?xml version="1.0" encoding="utf-8"?>
<p:tagLst xmlns:p="http://schemas.openxmlformats.org/presentationml/2006/main">
  <p:tag name="RAINPROBLEM" val="ProblemSubmit"/>
  <p:tag name="RAINPROBLEMTYPE" val="MultipleChoice"/>
</p:tagLst>
</file>

<file path=ppt/tags/tag7.xml><?xml version="1.0" encoding="utf-8"?>
<p:tagLst xmlns:p="http://schemas.openxmlformats.org/presentationml/2006/main">
  <p:tag name="RAINPROBLEMTYPE" val="ProblemTypeMarker"/>
</p:tagLst>
</file>

<file path=ppt/tags/tag8.xml><?xml version="1.0" encoding="utf-8"?>
<p:tagLst xmlns:p="http://schemas.openxmlformats.org/presentationml/2006/main">
  <p:tag name="RAINPROBLEMTYPE" val="ProblemTypeMarker"/>
</p:tagLst>
</file>

<file path=ppt/tags/tag9.xml><?xml version="1.0" encoding="utf-8"?>
<p:tagLst xmlns:p="http://schemas.openxmlformats.org/presentationml/2006/main">
  <p:tag name="RAINPROBLEMTYPE" val="ProblemTypeMarker"/>
</p:tagLst>
</file>

<file path=ppt/tags/tag10.xml><?xml version="1.0" encoding="utf-8"?>
<p:tagLst xmlns:p="http://schemas.openxmlformats.org/presentationml/2006/main">
  <p:tag name="RAINPROBLEMTYPE" val="ProblemTypeMarker"/>
</p:tagLst>
</file>

<file path=ppt/tags/tag11.xml><?xml version="1.0" encoding="utf-8"?>
<p:tagLst xmlns:p="http://schemas.openxmlformats.org/presentationml/2006/main">
  <p:tag name="RAINPROBLEMTYPE" val="ProblemTypeMarker"/>
</p:tagLst>
</file>

<file path=ppt/tags/tag12.xml><?xml version="1.0" encoding="utf-8"?>
<p:tagLst xmlns:p="http://schemas.openxmlformats.org/presentationml/2006/main">
  <p:tag name="RAINPROBLEM" val="ProblemSetting"/>
  <p:tag name="RAINPROBLEMTYPE" val="MultipleChoice"/>
</p:tagLst>
</file>

<file path=ppt/tags/tag13.xml><?xml version="1.0" encoding="utf-8"?>
<p:tagLst xmlns:p="http://schemas.openxmlformats.org/presentationml/2006/main">
  <p:tag name="RAINPROBLEM" val="MultipleChoice"/>
  <p:tag name="PROBLEMSCORE" val="1.0"/>
  <p:tag name="PROBLEMPROVIDER" val="AI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第一PPT：WWW.1PPT.COM​">
  <a:themeElements>
    <a:clrScheme name="自定义 2">
      <a:dk1>
        <a:sysClr val="windowText" lastClr="000000"/>
      </a:dk1>
      <a:lt1>
        <a:sysClr val="window" lastClr="FFFFFF"/>
      </a:lt1>
      <a:dk2>
        <a:srgbClr val="FFFFFF"/>
      </a:dk2>
      <a:lt2>
        <a:srgbClr val="FFFFFF"/>
      </a:lt2>
      <a:accent1>
        <a:srgbClr val="0E647C"/>
      </a:accent1>
      <a:accent2>
        <a:srgbClr val="2DB2A4"/>
      </a:accent2>
      <a:accent3>
        <a:srgbClr val="74AF47"/>
      </a:accent3>
      <a:accent4>
        <a:srgbClr val="755DA1"/>
      </a:accent4>
      <a:accent5>
        <a:srgbClr val="4BACC6"/>
      </a:accent5>
      <a:accent6>
        <a:srgbClr val="F87A08"/>
      </a:accent6>
      <a:hlink>
        <a:srgbClr val="FFFFFF"/>
      </a:hlink>
      <a:folHlink>
        <a:srgbClr val="FFFF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lIns="0" tIns="0" rIns="0" bIns="0" rtlCol="0">
        <a:spAutoFit/>
      </a:bodyPr>
      <a:lstStyle>
        <a:defPPr>
          <a:defRPr sz="1600" b="1" dirty="0" smtClean="0">
            <a:solidFill>
              <a:schemeClr val="accent6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5341</Words>
  <Application>WPS 演示</Application>
  <PresentationFormat>宽屏</PresentationFormat>
  <Paragraphs>667</Paragraphs>
  <Slides>24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24</vt:i4>
      </vt:variant>
    </vt:vector>
  </HeadingPairs>
  <TitlesOfParts>
    <vt:vector size="46" baseType="lpstr">
      <vt:lpstr>Arial</vt:lpstr>
      <vt:lpstr>宋体</vt:lpstr>
      <vt:lpstr>Wingdings</vt:lpstr>
      <vt:lpstr>微软雅黑</vt:lpstr>
      <vt:lpstr>Calibri</vt:lpstr>
      <vt:lpstr>Swis721 Th BT</vt:lpstr>
      <vt:lpstr>Segoe Print</vt:lpstr>
      <vt:lpstr>LilyUPC</vt:lpstr>
      <vt:lpstr>Calibri</vt:lpstr>
      <vt:lpstr>隶书</vt:lpstr>
      <vt:lpstr>等线</vt:lpstr>
      <vt:lpstr>Times New Roman</vt:lpstr>
      <vt:lpstr>等线 Light</vt:lpstr>
      <vt:lpstr>Arial Unicode MS</vt:lpstr>
      <vt:lpstr>仿宋</vt:lpstr>
      <vt:lpstr>方正姚体</vt:lpstr>
      <vt:lpstr>黑体</vt:lpstr>
      <vt:lpstr>Sitka Subheading</vt:lpstr>
      <vt:lpstr>Microsoft Sans Serif</vt:lpstr>
      <vt:lpstr>Office 主题​​</vt:lpstr>
      <vt:lpstr>第一PPT：WWW.1PPT.COM​</vt:lpstr>
      <vt:lpstr>Office 主题</vt:lpstr>
      <vt:lpstr>       Multi cycle MIPS CPU (Microprogram Controller)  </vt:lpstr>
      <vt:lpstr>PowerPoint 演示文稿</vt:lpstr>
      <vt:lpstr>PowerPoint 演示文稿</vt:lpstr>
      <vt:lpstr>设计内容</vt:lpstr>
      <vt:lpstr>多周期微程序MIPS CPU设计任务书：</vt:lpstr>
      <vt:lpstr>MIPS指令集</vt:lpstr>
      <vt:lpstr>8条指令指令格式和功能</vt:lpstr>
      <vt:lpstr>PowerPoint 演示文稿</vt:lpstr>
      <vt:lpstr>PowerPoint 演示文稿</vt:lpstr>
      <vt:lpstr>控制信号</vt:lpstr>
      <vt:lpstr>微程序流程图</vt:lpstr>
      <vt:lpstr>Microprogram controller (input:OP/FUNC/CLK/RST；OUTPUT:ALU_OP,BNE..IorD)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Microprogram controller (input:OP/FUNC/CLK/RST；OUTPUT:ALU_OP,BNE..IorD)</vt:lpstr>
      <vt:lpstr>微程序控制器封装和微指令定义</vt:lpstr>
      <vt:lpstr>多周期CPU通路图</vt:lpstr>
      <vt:lpstr>PowerPoint 演示文稿</vt:lpstr>
      <vt:lpstr>PowerPoint 演示文稿</vt:lpstr>
      <vt:lpstr>PowerPoint 演示文稿</vt:lpstr>
      <vt:lpstr>Circuit debugging artifact: log，CTRL+T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Windows 用户</dc:creator>
  <cp:lastModifiedBy>刘峰</cp:lastModifiedBy>
  <cp:revision>361</cp:revision>
  <cp:lastPrinted>2019-10-15T03:43:00Z</cp:lastPrinted>
  <dcterms:created xsi:type="dcterms:W3CDTF">2019-04-22T08:11:00Z</dcterms:created>
  <dcterms:modified xsi:type="dcterms:W3CDTF">2025-04-01T07:40:55Z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C72AF8AA03CE461CB8974C46DFAAF831_12</vt:lpwstr>
  </property>
  <property fmtid="{D5CDD505-2E9C-101B-9397-08002B2CF9AE}" pid="3" name="KSOProductBuildVer">
    <vt:lpwstr>2052-12.1.0.20305</vt:lpwstr>
  </property>
</Properties>
</file>