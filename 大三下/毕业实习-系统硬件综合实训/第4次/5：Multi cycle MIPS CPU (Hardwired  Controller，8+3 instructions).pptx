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0"/>
  </p:notesMasterIdLst>
  <p:sldIdLst>
    <p:sldId id="258" r:id="rId3"/>
    <p:sldId id="317" r:id="rId4"/>
    <p:sldId id="323" r:id="rId5"/>
    <p:sldId id="325" r:id="rId6"/>
    <p:sldId id="329" r:id="rId7"/>
    <p:sldId id="330" r:id="rId8"/>
    <p:sldId id="326" r:id="rId9"/>
    <p:sldId id="327" r:id="rId10"/>
    <p:sldId id="300" r:id="rId11"/>
    <p:sldId id="313" r:id="rId12"/>
    <p:sldId id="316" r:id="rId13"/>
    <p:sldId id="312" r:id="rId14"/>
    <p:sldId id="314" r:id="rId15"/>
    <p:sldId id="318" r:id="rId16"/>
    <p:sldId id="310" r:id="rId17"/>
    <p:sldId id="296" r:id="rId18"/>
    <p:sldId id="282" r:id="rId19"/>
    <p:sldId id="315" r:id="rId20"/>
    <p:sldId id="293" r:id="rId21"/>
    <p:sldId id="319" r:id="rId22"/>
    <p:sldId id="271" r:id="rId23"/>
    <p:sldId id="276" r:id="rId24"/>
    <p:sldId id="281" r:id="rId25"/>
    <p:sldId id="322" r:id="rId26"/>
    <p:sldId id="307" r:id="rId27"/>
    <p:sldId id="320" r:id="rId28"/>
    <p:sldId id="321" r:id="rId29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1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15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43418-7762-49AD-9643-A44F191609B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D5BA0-70FA-46AC-95B8-962878DB73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有了基本的分段和流水接口部件后，我们来看看流水接口中到底锁存什么数据和信息，对于取指与译码阶段直接的接口</a:t>
            </a:r>
            <a:r>
              <a:rPr lang="en-US" altLang="zh-CN" dirty="0"/>
              <a:t>IF/ID</a:t>
            </a:r>
            <a:r>
              <a:rPr lang="zh-CN" altLang="en-US" dirty="0"/>
              <a:t>，应该锁存取指段取出的指令</a:t>
            </a:r>
            <a:r>
              <a:rPr lang="en-US" altLang="zh-CN" dirty="0"/>
              <a:t>IR</a:t>
            </a:r>
            <a:r>
              <a:rPr lang="zh-CN" altLang="en-US" dirty="0"/>
              <a:t>，以及当前指令的</a:t>
            </a:r>
            <a:r>
              <a:rPr lang="en-US" altLang="zh-CN" dirty="0"/>
              <a:t>PC</a:t>
            </a:r>
            <a:r>
              <a:rPr lang="zh-CN" altLang="en-US" dirty="0"/>
              <a:t>，锁存</a:t>
            </a:r>
            <a:r>
              <a:rPr lang="en-US" altLang="zh-CN" dirty="0"/>
              <a:t>IR</a:t>
            </a:r>
            <a:r>
              <a:rPr lang="zh-CN" altLang="en-US" dirty="0"/>
              <a:t>容易理解，锁存</a:t>
            </a:r>
            <a:r>
              <a:rPr lang="en-US" altLang="zh-CN" dirty="0"/>
              <a:t>PC</a:t>
            </a:r>
            <a:r>
              <a:rPr lang="zh-CN" altLang="en-US" dirty="0"/>
              <a:t>的目的主要是方便后端计算分支地址，因为</a:t>
            </a:r>
            <a:r>
              <a:rPr lang="en-US" altLang="zh-CN" dirty="0"/>
              <a:t>PC</a:t>
            </a:r>
            <a:r>
              <a:rPr lang="zh-CN" altLang="en-US" dirty="0"/>
              <a:t>寄存器的值总在变化，必须记住当前指令的</a:t>
            </a:r>
            <a:r>
              <a:rPr lang="en-US" altLang="zh-CN" dirty="0"/>
              <a:t>PC</a:t>
            </a:r>
            <a:r>
              <a:rPr lang="zh-CN" altLang="en-US" dirty="0"/>
              <a:t>。  译码段</a:t>
            </a:r>
            <a:r>
              <a:rPr lang="en-US" altLang="zh-CN" dirty="0"/>
              <a:t>ID</a:t>
            </a:r>
            <a:r>
              <a:rPr lang="zh-CN" altLang="en-US" dirty="0"/>
              <a:t>可以完全复用单周期实验中的控制器，将指令字翻译成控制信号，另外指令字解析后可以访问寄存器文件，得到</a:t>
            </a:r>
            <a:r>
              <a:rPr lang="en-US" altLang="zh-CN" dirty="0"/>
              <a:t>16</a:t>
            </a:r>
            <a:r>
              <a:rPr lang="zh-CN" altLang="en-US" dirty="0"/>
              <a:t>位立即数或</a:t>
            </a:r>
            <a:r>
              <a:rPr lang="en-US" altLang="zh-CN" dirty="0"/>
              <a:t>32</a:t>
            </a:r>
            <a:r>
              <a:rPr lang="zh-CN" altLang="en-US" dirty="0"/>
              <a:t>位立即数，这些都是执行阶段所需要的数据和信号，所以</a:t>
            </a:r>
            <a:r>
              <a:rPr lang="en-US" altLang="zh-CN" dirty="0"/>
              <a:t>ID/EX</a:t>
            </a:r>
            <a:r>
              <a:rPr lang="zh-CN" altLang="en-US" dirty="0"/>
              <a:t>中需要锁存后续</a:t>
            </a:r>
            <a:r>
              <a:rPr lang="en-US" altLang="zh-CN" dirty="0"/>
              <a:t>3</a:t>
            </a:r>
            <a:r>
              <a:rPr lang="zh-CN" altLang="en-US" dirty="0"/>
              <a:t>段所需要的控制信号以及操作数，接口中红色部分是控制信号，绿色部分分别是。。。。。。 </a:t>
            </a:r>
            <a:r>
              <a:rPr lang="en-US" altLang="zh-CN" dirty="0"/>
              <a:t>EX</a:t>
            </a:r>
            <a:r>
              <a:rPr lang="zh-CN" altLang="en-US" dirty="0"/>
              <a:t>段使用部分数据和控制信号</a:t>
            </a:r>
            <a:r>
              <a:rPr lang="en-US" altLang="zh-CN" dirty="0"/>
              <a:t>ALU_OP</a:t>
            </a:r>
            <a:r>
              <a:rPr lang="zh-CN" altLang="en-US" dirty="0"/>
              <a:t>，运算结构，运算结果会送到</a:t>
            </a:r>
            <a:r>
              <a:rPr lang="en-US" altLang="zh-CN" dirty="0"/>
              <a:t>EX/MEM</a:t>
            </a:r>
            <a:r>
              <a:rPr lang="zh-CN" altLang="en-US" dirty="0"/>
              <a:t>接口锁存，由于</a:t>
            </a:r>
            <a:r>
              <a:rPr lang="en-US" altLang="zh-CN" dirty="0"/>
              <a:t>EX</a:t>
            </a:r>
            <a:r>
              <a:rPr lang="zh-CN" altLang="en-US" dirty="0"/>
              <a:t>段控制信号已经使用完毕，所以这里控制信号只需要向后传递</a:t>
            </a:r>
            <a:r>
              <a:rPr lang="en-US" altLang="zh-CN" dirty="0"/>
              <a:t>WB</a:t>
            </a:r>
            <a:r>
              <a:rPr lang="zh-CN" altLang="en-US" dirty="0"/>
              <a:t>，</a:t>
            </a:r>
            <a:r>
              <a:rPr lang="en-US" altLang="zh-CN" dirty="0"/>
              <a:t>MEM</a:t>
            </a:r>
            <a:r>
              <a:rPr lang="zh-CN" altLang="en-US" dirty="0"/>
              <a:t>部分，注意此时</a:t>
            </a:r>
            <a:r>
              <a:rPr lang="en-US" altLang="zh-CN" dirty="0"/>
              <a:t>IR</a:t>
            </a:r>
            <a:r>
              <a:rPr lang="zh-CN" altLang="en-US" dirty="0"/>
              <a:t>，</a:t>
            </a:r>
            <a:r>
              <a:rPr lang="en-US" altLang="zh-CN" dirty="0"/>
              <a:t>PC</a:t>
            </a:r>
            <a:r>
              <a:rPr lang="zh-CN" altLang="en-US" dirty="0"/>
              <a:t>一直向后传递的目的是为了方便调试，构建时空图，实际流水线中并不需要一直传递。依次内推，</a:t>
            </a:r>
            <a:r>
              <a:rPr lang="en-US" altLang="zh-CN" dirty="0"/>
              <a:t>Mem</a:t>
            </a:r>
            <a:r>
              <a:rPr lang="zh-CN" altLang="en-US" dirty="0"/>
              <a:t>、</a:t>
            </a:r>
            <a:r>
              <a:rPr lang="en-US" altLang="zh-CN" dirty="0"/>
              <a:t>WB</a:t>
            </a:r>
            <a:r>
              <a:rPr lang="zh-CN" altLang="en-US" dirty="0"/>
              <a:t>接口中包括写回阶段所需的控制信号，和内存数据，</a:t>
            </a:r>
            <a:r>
              <a:rPr lang="en-US" altLang="zh-CN" dirty="0" err="1"/>
              <a:t>alu</a:t>
            </a:r>
            <a:r>
              <a:rPr lang="zh-CN" altLang="en-US" dirty="0"/>
              <a:t>数据，</a:t>
            </a:r>
            <a:r>
              <a:rPr lang="en-US" altLang="zh-CN" dirty="0"/>
              <a:t>IR</a:t>
            </a:r>
            <a:r>
              <a:rPr lang="zh-CN" altLang="en-US" dirty="0"/>
              <a:t>，</a:t>
            </a:r>
            <a:r>
              <a:rPr lang="en-US" altLang="zh-CN" dirty="0"/>
              <a:t>PC</a:t>
            </a:r>
            <a:r>
              <a:rPr lang="zh-CN" altLang="en-US" dirty="0"/>
              <a:t>。  总体上看，译码段一次性生成的各段所需的控制信号，并依次向后传递，注意画图传递的控制信号应遵循最后用到的信号在最上部的顺序，以方便绘图，后段绘图空间会越来越大。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建议直接将</a:t>
            </a:r>
            <a:r>
              <a:rPr lang="en-US" altLang="zh-CN" dirty="0"/>
              <a:t>IR</a:t>
            </a:r>
            <a:r>
              <a:rPr lang="zh-CN" altLang="en-US" dirty="0"/>
              <a:t>，</a:t>
            </a:r>
            <a:r>
              <a:rPr lang="en-US" altLang="zh-CN" dirty="0"/>
              <a:t>PC</a:t>
            </a:r>
            <a:r>
              <a:rPr lang="zh-CN" altLang="en-US" dirty="0"/>
              <a:t>一直向后传，先讲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259034-BEED-4024-A934-72E55E0D310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441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 userDrawn="1"/>
        </p:nvSpPr>
        <p:spPr>
          <a:xfrm>
            <a:off x="11290928" y="6595549"/>
            <a:ext cx="246888" cy="246888"/>
          </a:xfrm>
          <a:prstGeom prst="ellipse">
            <a:avLst/>
          </a:prstGeom>
          <a:solidFill>
            <a:srgbClr val="38A5EF"/>
          </a:solidFill>
          <a:ln>
            <a:solidFill>
              <a:srgbClr val="38A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822" y="257614"/>
            <a:ext cx="10515600" cy="617641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5D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430" y="6692474"/>
            <a:ext cx="12180570" cy="169469"/>
          </a:xfrm>
          <a:prstGeom prst="rect">
            <a:avLst/>
          </a:prstGeom>
          <a:solidFill>
            <a:srgbClr val="38A5EF"/>
          </a:solidFill>
          <a:ln>
            <a:solidFill>
              <a:srgbClr val="3BA6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DFBFF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270" y="6692474"/>
            <a:ext cx="759220" cy="169469"/>
          </a:xfrm>
          <a:prstGeom prst="rect">
            <a:avLst/>
          </a:prstGeom>
          <a:solidFill>
            <a:srgbClr val="005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3"/>
          <p:cNvSpPr txBox="1"/>
          <p:nvPr userDrawn="1"/>
        </p:nvSpPr>
        <p:spPr>
          <a:xfrm>
            <a:off x="11268341" y="6589899"/>
            <a:ext cx="292061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487823" y="942764"/>
            <a:ext cx="8331438" cy="563702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6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6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" name="任意多边形 20"/>
          <p:cNvSpPr/>
          <p:nvPr userDrawn="1"/>
        </p:nvSpPr>
        <p:spPr>
          <a:xfrm flipV="1">
            <a:off x="326571" y="359908"/>
            <a:ext cx="1386789" cy="4320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48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5B444-1AB3-4008-89F4-D116109AD3C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2F23B-AF66-41A9-897D-44609AD9DFB7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62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ourse163.org/learn/HUST-1003159001" TargetMode="External"/><Relationship Id="rId2" Type="http://schemas.openxmlformats.org/officeDocument/2006/relationships/hyperlink" Target="https://www.icourse163.org/course/HUST-120580981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5.tmp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3" Type="http://schemas.openxmlformats.org/officeDocument/2006/relationships/tags" Target="../tags/tag21.xml"/><Relationship Id="rId21" Type="http://schemas.openxmlformats.org/officeDocument/2006/relationships/image" Target="../media/image5.tmp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tags" Target="../tags/tag37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10" Type="http://schemas.openxmlformats.org/officeDocument/2006/relationships/tags" Target="../tags/tag47.xml"/><Relationship Id="rId19" Type="http://schemas.openxmlformats.org/officeDocument/2006/relationships/image" Target="../media/image5.tmp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tags" Target="../tags/tag6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tags" Target="../tags/tag71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5" Type="http://schemas.openxmlformats.org/officeDocument/2006/relationships/tags" Target="../tags/tag59.xml"/><Relationship Id="rId15" Type="http://schemas.openxmlformats.org/officeDocument/2006/relationships/tags" Target="../tags/tag69.xml"/><Relationship Id="rId10" Type="http://schemas.openxmlformats.org/officeDocument/2006/relationships/tags" Target="../tags/tag64.xml"/><Relationship Id="rId19" Type="http://schemas.openxmlformats.org/officeDocument/2006/relationships/image" Target="../media/image5.tmp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tags" Target="../tags/tag6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17" Type="http://schemas.openxmlformats.org/officeDocument/2006/relationships/tags" Target="../tags/tag93.xml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10" Type="http://schemas.openxmlformats.org/officeDocument/2006/relationships/tags" Target="../tags/tag86.xml"/><Relationship Id="rId19" Type="http://schemas.openxmlformats.org/officeDocument/2006/relationships/image" Target="../media/image5.tmp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8.w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2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770139"/>
            <a:ext cx="12192000" cy="3422750"/>
          </a:xfrm>
          <a:prstGeom prst="rect">
            <a:avLst/>
          </a:prstGeom>
          <a:solidFill>
            <a:srgbClr val="1D77C9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 w="18000">
                  <a:solidFill>
                    <a:srgbClr val="C0504D">
                      <a:satMod val="140000"/>
                    </a:srgb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1" i="0" u="none" strike="noStrike" kern="0" cap="none" spc="0" normalizeH="0" baseline="0" noProof="0" dirty="0">
              <a:ln w="18000">
                <a:solidFill>
                  <a:srgbClr val="C0504D">
                    <a:satMod val="140000"/>
                  </a:srgb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82134" y="2249964"/>
            <a:ext cx="9144000" cy="2062392"/>
          </a:xfrm>
        </p:spPr>
        <p:txBody>
          <a:bodyPr>
            <a:normAutofit/>
          </a:bodyPr>
          <a:lstStyle/>
          <a:p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Multi cycle MIPS CPU (Hardwired Controller)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74062" y="0"/>
            <a:ext cx="3595331" cy="977401"/>
          </a:xfrm>
        </p:spPr>
        <p:txBody>
          <a:bodyPr/>
          <a:lstStyle/>
          <a:p>
            <a:r>
              <a:rPr lang="zh-CN" altLang="en-US" b="1" dirty="0">
                <a:latin typeface="隶书" panose="02010509060101010101" charset="-122"/>
                <a:ea typeface="隶书" panose="02010509060101010101" charset="-122"/>
              </a:rPr>
              <a:t>设计内容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4958" y="977401"/>
            <a:ext cx="4813343" cy="5411483"/>
          </a:xfrm>
          <a:solidFill>
            <a:schemeClr val="bg2"/>
          </a:solidFill>
          <a:effectLst>
            <a:outerShdw blurRad="546100" dist="50800" dir="5400000" algn="ctr" rotWithShape="0">
              <a:srgbClr val="000000">
                <a:alpha val="43137"/>
              </a:srgbClr>
            </a:outerShdw>
          </a:effectLst>
        </p:spPr>
        <p:txBody>
          <a:bodyPr numCol="1">
            <a:normAutofit fontScale="47500" lnSpcReduction="20000"/>
          </a:bodyPr>
          <a:lstStyle/>
          <a:p>
            <a:pPr lvl="0">
              <a:lnSpc>
                <a:spcPct val="150000"/>
              </a:lnSpc>
            </a:pPr>
            <a:r>
              <a:rPr lang="en-US" altLang="zh-CN" sz="32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MOOC</a:t>
            </a:r>
            <a:r>
              <a:rPr lang="zh-CN" altLang="en-US" sz="32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3400" dirty="0">
                <a:solidFill>
                  <a:srgbClr val="333333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Computer Hardware System Design</a:t>
            </a:r>
            <a:r>
              <a:rPr lang="zh-CN" altLang="en-US" sz="32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3200" dirty="0">
              <a:solidFill>
                <a:prstClr val="black"/>
              </a:solidFill>
              <a:effectLst>
                <a:outerShdw blurRad="838200" dist="50800" dir="5400000" algn="ctr" rotWithShape="0">
                  <a:srgbClr val="4472C4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6.1 Single cycle MIPS architecture</a:t>
            </a:r>
            <a:r>
              <a:rPr lang="zh-CN" altLang="en-US" dirty="0">
                <a:solidFill>
                  <a:schemeClr val="tx2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tx2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Review</a:t>
            </a:r>
            <a:r>
              <a:rPr lang="zh-CN" altLang="en-US" dirty="0">
                <a:solidFill>
                  <a:schemeClr val="tx2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tx2"/>
              </a:solidFill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6.2 Multi cycle MIPS architecture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6.3 Single cycle MIPS CPU design (8 instructions)</a:t>
            </a:r>
            <a:r>
              <a:rPr lang="zh-CN" altLang="en-US" dirty="0">
                <a:solidFill>
                  <a:schemeClr val="tx2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tx2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Review</a:t>
            </a:r>
            <a:r>
              <a:rPr lang="zh-CN" altLang="en-US" dirty="0">
                <a:solidFill>
                  <a:schemeClr val="tx2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tx2"/>
              </a:solidFill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6.4 Multi cycle MIPS CPU (Microprogram Controller) Design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6.5 Multi cycle MIPS CPU (Hardwired Controller) Design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900" dirty="0">
                <a:solidFill>
                  <a:schemeClr val="accent5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    https://www.icourse163.org/course/HUST-1205809816</a:t>
            </a:r>
            <a:endParaRPr lang="en-US" altLang="zh-CN" sz="3200" dirty="0">
              <a:solidFill>
                <a:schemeClr val="accent5"/>
              </a:solidFill>
              <a:effectLst>
                <a:outerShdw blurRad="838200" dist="50800" dir="5400000" algn="ctr" rotWithShape="0">
                  <a:srgbClr val="4472C4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MOOC</a:t>
            </a:r>
            <a:r>
              <a:rPr lang="zh-CN" altLang="en-US" sz="36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40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Computer composition</a:t>
            </a:r>
            <a:r>
              <a:rPr lang="zh-CN" altLang="en-US" sz="36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3600" dirty="0">
              <a:solidFill>
                <a:prstClr val="black"/>
              </a:solidFill>
              <a:effectLst>
                <a:outerShdw blurRad="838200" dist="50800" dir="5400000" algn="ctr" rotWithShape="0">
                  <a:srgbClr val="4472C4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6.2   Data path design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6.8 Hardwired controller design(1)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6.9 Hardwired controller design(2)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9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9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https://www.icourse163.org/learn/HUST-1003159001</a:t>
            </a:r>
            <a:r>
              <a:rPr lang="zh-CN" altLang="en-US" sz="19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 </a:t>
            </a:r>
            <a:endParaRPr lang="en-US" altLang="zh-CN" sz="1900" dirty="0">
              <a:solidFill>
                <a:prstClr val="black"/>
              </a:solidFill>
              <a:effectLst>
                <a:outerShdw blurRad="838200" dist="50800" dir="5400000" algn="ctr" rotWithShape="0">
                  <a:srgbClr val="4472C4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3800" dirty="0">
              <a:effectLst>
                <a:outerShdw blurRad="469900" dist="50800" dir="5400000" algn="ctr" rotWithShape="0">
                  <a:srgbClr val="000000">
                    <a:alpha val="36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3800" dirty="0">
              <a:effectLst>
                <a:outerShdw blurRad="469900" dist="50800" dir="5400000" algn="ctr" rotWithShape="0">
                  <a:srgbClr val="000000">
                    <a:alpha val="36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3800" dirty="0">
              <a:effectLst>
                <a:outerShdw blurRad="469900" dist="50800" dir="5400000" algn="ctr" rotWithShape="0">
                  <a:srgbClr val="000000">
                    <a:alpha val="36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700" dirty="0">
              <a:effectLst>
                <a:outerShdw blurRad="469900" dist="50800" dir="5400000" algn="ctr" rotWithShape="0">
                  <a:srgbClr val="000000">
                    <a:alpha val="36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42077" y="3173183"/>
            <a:ext cx="342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cpu-EduCoder-3-23.circ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707" y="3580829"/>
            <a:ext cx="2662069" cy="2115395"/>
          </a:xfrm>
          <a:prstGeom prst="rect">
            <a:avLst/>
          </a:prstGeom>
          <a:effectLst>
            <a:outerShdw blurRad="2413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2" name="圆角矩形 11"/>
          <p:cNvSpPr/>
          <p:nvPr/>
        </p:nvSpPr>
        <p:spPr>
          <a:xfrm>
            <a:off x="7238758" y="4733406"/>
            <a:ext cx="1804060" cy="5716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51372" y="1101756"/>
            <a:ext cx="6155670" cy="1947071"/>
          </a:xfrm>
          <a:prstGeom prst="rect">
            <a:avLst/>
          </a:prstGeom>
          <a:solidFill>
            <a:schemeClr val="bg2"/>
          </a:solidFill>
          <a:effectLst>
            <a:outerShdw blurRad="546100" dist="50800" dir="5400000" algn="ctr" rotWithShape="0">
              <a:schemeClr val="accent5">
                <a:alpha val="43000"/>
              </a:schemeClr>
            </a:outerShdw>
          </a:effectLst>
        </p:spPr>
        <p:txBody>
          <a:bodyPr wrap="square">
            <a:spAutoFit/>
          </a:bodyPr>
          <a:lstStyle/>
          <a:p>
            <a:pPr algn="l" rtl="0"/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Circuit design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Tx/>
              <a:buAutoNum type="arabicParenBoth"/>
              <a:defRPr/>
            </a:pPr>
            <a:r>
              <a:rPr lang="en-US" altLang="zh-CN" sz="14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Sports watch</a:t>
            </a:r>
          </a:p>
          <a:p>
            <a:pPr marL="342900" indent="-342900">
              <a:lnSpc>
                <a:spcPct val="150000"/>
              </a:lnSpc>
              <a:buFontTx/>
              <a:buAutoNum type="arabicParenBoth"/>
              <a:defRPr/>
            </a:pPr>
            <a:r>
              <a:rPr lang="en-US" altLang="zh-CN" sz="14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Single cycle MIPS CPU (8+3 instructions)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AutoNum type="arabicParenBoth"/>
              <a:defRPr/>
            </a:pPr>
            <a:r>
              <a:rPr lang="en-US" altLang="zh-CN" sz="14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Multi cycle MIPS CPU (Microprogram Controller, 8 instructions)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AutoNum type="arabicParenBoth"/>
              <a:defRPr/>
            </a:pPr>
            <a:r>
              <a:rPr lang="en-US" altLang="zh-CN" sz="1400" b="1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Multi cycle MIPS CPU (Hardwired Controller, 8 instructions)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AutoNum type="arabicParenBoth"/>
              <a:defRPr/>
            </a:pPr>
            <a:r>
              <a:rPr lang="en-US" altLang="zh-CN" sz="14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Single cycle MIPS CPU (24 instructions)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37" y="982195"/>
            <a:ext cx="11255875" cy="58520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790" y="79397"/>
            <a:ext cx="2303773" cy="2730877"/>
          </a:xfrm>
          <a:prstGeom prst="rect">
            <a:avLst/>
          </a:prstGeom>
          <a:effectLst>
            <a:outerShdw blurRad="355600" dist="50800" dir="5400000" algn="ctr" rotWithShape="0">
              <a:srgbClr val="000000">
                <a:alpha val="43137"/>
              </a:srgbClr>
            </a:outerShdw>
          </a:effectLst>
        </p:spPr>
      </p:pic>
      <p:cxnSp>
        <p:nvCxnSpPr>
          <p:cNvPr id="8" name="直接连接符 7"/>
          <p:cNvCxnSpPr/>
          <p:nvPr/>
        </p:nvCxnSpPr>
        <p:spPr>
          <a:xfrm flipH="1">
            <a:off x="2065868" y="2596444"/>
            <a:ext cx="1998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065867" y="2596444"/>
            <a:ext cx="0" cy="13772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364089" y="2319445"/>
            <a:ext cx="699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Halt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9694119" y="1619131"/>
            <a:ext cx="596900" cy="700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9196" y="1703861"/>
            <a:ext cx="4006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PCS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=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&amp; Equal) |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&amp; ~Equal)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07374" y="1362808"/>
            <a:ext cx="2152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CLK Rising edge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0EF5993-E5B2-46B8-830A-F9FE00AE8B6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260288"/>
            <a:ext cx="9089292" cy="892552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In a single cycle CPU, which modules are generally divided according to the order of data flow?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9083A3-87E0-4593-A86F-D149DC77413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1310"/>
            <a:ext cx="3808288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IF, EX, ID,MEM,WB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CCD61A3-2EA5-4AF4-9FDA-384363DE2822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B763F4-A9F2-46F4-A88F-E7F87BAC2C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399" y="3718560"/>
            <a:ext cx="3520611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ID,IF, EX,MEM,WB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1FC886F-57B8-4C27-890A-2E8ABC14DB02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BAE985-3BD9-4A6E-8C60-2CDC57AEFB4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5810"/>
            <a:ext cx="3325402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IF,ID, MEM,WB,EX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F365B6B-FF18-4955-8DFD-7505FD6ED93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D6E5C5-BDD0-4757-98A1-099476D2578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3060"/>
            <a:ext cx="3808288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IF,ID,EX,MEM,WB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A164906-F622-4BB0-B202-3CADF2CF777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D87688D-5C37-4E86-A3D8-9228814B51A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1989FCD-EAB7-45D2-9B9E-2031548C98C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7BF78C5-95CA-4B52-96B6-EA693085228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78D22A3A-5FDB-4D0A-A5C4-9E0D391A0C0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1F37BCF5-1A13-4484-BEE5-FAF1ECD9458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4579917-5927-4C34-850D-5D119D499D3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35397FD-82C6-4BA5-AD89-C33E8253783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34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0EF5993-E5B2-46B8-830A-F9FE00AE8B6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11871" y="1301879"/>
            <a:ext cx="9894277" cy="892552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Which of the following statements about modules in a single cycle CPU is correct?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9083A3-87E0-4593-A86F-D149DC77413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79620" y="2718686"/>
            <a:ext cx="8785059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IF mainly includes PC and instruction memory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CD61A3-2EA5-4AF4-9FDA-384363DE2822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12846" y="2782979"/>
            <a:ext cx="570184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B763F4-A9F2-46F4-A88F-E7F87BAC2C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79620" y="3604541"/>
            <a:ext cx="10812380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The ID includes the read logic of the register file and the controller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FC886F-57B8-4C27-890A-2E8ABC14DB02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12846" y="3468779"/>
            <a:ext cx="570184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BAE985-3BD9-4A6E-8C60-2CDC57AEFB4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379620" y="4173404"/>
            <a:ext cx="3686383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EX includes ALU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365B6B-FF18-4955-8DFD-7505FD6ED93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12846" y="4154579"/>
            <a:ext cx="570184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D6E5C5-BDD0-4757-98A1-099476D2578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379620" y="4776086"/>
            <a:ext cx="6012653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MEM includes data memory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A164906-F622-4BB0-B202-3CADF2CF777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12846" y="4840379"/>
            <a:ext cx="570184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D87688D-5C37-4E86-A3D8-9228814B51A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9326680" y="5475361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D95E1D1-5CC4-4D7C-B3EE-7471299C224E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379621" y="5461886"/>
            <a:ext cx="946083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WB includes write logic for register files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61DC92-E7EA-456E-A9A3-42F97A010242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512846" y="5526179"/>
            <a:ext cx="570184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E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D5564D7-D149-4F9A-B721-1D22B2969981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7BF78C5-95CA-4B52-96B6-EA693085228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78D22A3A-5FDB-4D0A-A5C4-9E0D391A0C0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1F37BCF5-1A13-4484-BEE5-FAF1ECD94584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4" name="TipText">
              <a:extLst>
                <a:ext uri="{FF2B5EF4-FFF2-40B4-BE49-F238E27FC236}">
                  <a16:creationId xmlns:a16="http://schemas.microsoft.com/office/drawing/2014/main" id="{0F986AC8-B13B-4FFE-97AD-419DAC12C3D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35397FD-82C6-4BA5-AD89-C33E82537830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504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56464"/>
            <a:ext cx="10664328" cy="574586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507" y="0"/>
            <a:ext cx="2177143" cy="4121621"/>
          </a:xfrm>
          <a:prstGeom prst="rect">
            <a:avLst/>
          </a:prstGeom>
          <a:effectLst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3297277" y="172812"/>
            <a:ext cx="6788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Multi cycle 8-instruction CPU data path diagram (suitable for both microprogramming and hardwired controllers)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0086005" y="500743"/>
            <a:ext cx="596900" cy="700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500179" y="56095"/>
            <a:ext cx="596900" cy="700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259053" y="2394857"/>
            <a:ext cx="596900" cy="7946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8820" y="1565544"/>
            <a:ext cx="4865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PCEn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PCWrite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|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Beq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&amp; Equal) |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Bne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 &amp; ~Equal)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24958" y="1090198"/>
            <a:ext cx="2152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CLK Rising edge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0EF5993-E5B2-46B8-830A-F9FE00AE8B6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8555" y="1610838"/>
            <a:ext cx="11794613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lvl="0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What is the intermediate register of MEM/WB module in multi cycle CPU?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9083A3-87E0-4593-A86F-D149DC77413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1310"/>
            <a:ext cx="3808288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IR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CCD61A3-2EA5-4AF4-9FDA-384363DE2822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B763F4-A9F2-46F4-A88F-E7F87BAC2C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399" y="3718560"/>
            <a:ext cx="3520611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A/B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1FC886F-57B8-4C27-890A-2E8ABC14DB02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BAE985-3BD9-4A6E-8C60-2CDC57AEFB4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5810"/>
            <a:ext cx="3325402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F365B6B-FF18-4955-8DFD-7505FD6ED93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D6E5C5-BDD0-4757-98A1-099476D2578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3060"/>
            <a:ext cx="3808288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DR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A164906-F622-4BB0-B202-3CADF2CF777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D87688D-5C37-4E86-A3D8-9228814B51A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1989FCD-EAB7-45D2-9B9E-2031548C98C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7BF78C5-95CA-4B52-96B6-EA693085228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78D22A3A-5FDB-4D0A-A5C4-9E0D391A0C0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1F37BCF5-1A13-4484-BEE5-FAF1ECD9458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4579917-5927-4C34-850D-5D119D499D3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35397FD-82C6-4BA5-AD89-C33E8253783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5317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0EF5993-E5B2-46B8-830A-F9FE00AE8B6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257272"/>
            <a:ext cx="10363200" cy="892552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What are the advantages of multi cycle CPUs compared to single cycle CPU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9083A3-87E0-4593-A86F-D149DC77413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1310"/>
            <a:ext cx="3808288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High frequency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CD61A3-2EA5-4AF4-9FDA-384363DE2822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B763F4-A9F2-46F4-A88F-E7F87BAC2C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399" y="3718561"/>
            <a:ext cx="8020051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Different instructions have different durations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FC886F-57B8-4C27-890A-2E8ABC14DB02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BAE985-3BD9-4A6E-8C60-2CDC57AEFB4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375758"/>
            <a:ext cx="8204200" cy="892552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The same component can belong to different modules(IF/ID/EX/MEM/WB)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365B6B-FF18-4955-8DFD-7505FD6ED93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D6E5C5-BDD0-4757-98A1-099476D2578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399" y="5433061"/>
            <a:ext cx="6158523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CPU may not have WB module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A164906-F622-4BB0-B202-3CADF2CF777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D87688D-5C37-4E86-A3D8-9228814B51A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9B2ECA1-019D-4961-963A-DACCD85B905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7BF78C5-95CA-4B52-96B6-EA693085228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78D22A3A-5FDB-4D0A-A5C4-9E0D391A0C0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1F37BCF5-1A13-4484-BEE5-FAF1ECD9458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" name="TipText">
              <a:extLst>
                <a:ext uri="{FF2B5EF4-FFF2-40B4-BE49-F238E27FC236}">
                  <a16:creationId xmlns:a16="http://schemas.microsoft.com/office/drawing/2014/main" id="{3131C830-51A7-4F59-B037-25B30F7BAEC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35397FD-82C6-4BA5-AD89-C33E8253783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3819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组合 227"/>
          <p:cNvGrpSpPr/>
          <p:nvPr/>
        </p:nvGrpSpPr>
        <p:grpSpPr>
          <a:xfrm>
            <a:off x="7754701" y="3049676"/>
            <a:ext cx="2588989" cy="458694"/>
            <a:chOff x="4923110" y="3050193"/>
            <a:chExt cx="2588989" cy="458694"/>
          </a:xfrm>
        </p:grpSpPr>
        <p:cxnSp>
          <p:nvCxnSpPr>
            <p:cNvPr id="229" name="直接箭头连接符 228"/>
            <p:cNvCxnSpPr/>
            <p:nvPr/>
          </p:nvCxnSpPr>
          <p:spPr>
            <a:xfrm flipV="1">
              <a:off x="4923110" y="3050193"/>
              <a:ext cx="2575182" cy="103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1" name="直接箭头连接符 230"/>
            <p:cNvCxnSpPr/>
            <p:nvPr/>
          </p:nvCxnSpPr>
          <p:spPr>
            <a:xfrm flipV="1">
              <a:off x="4936917" y="3507853"/>
              <a:ext cx="2575182" cy="103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structure of pipeline CPU</a:t>
            </a:r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1657255" y="5606258"/>
            <a:ext cx="481222" cy="562160"/>
            <a:chOff x="1996852" y="3154126"/>
            <a:chExt cx="324859" cy="384557"/>
          </a:xfrm>
        </p:grpSpPr>
        <p:sp>
          <p:nvSpPr>
            <p:cNvPr id="181" name="文本框 180"/>
            <p:cNvSpPr txBox="1"/>
            <p:nvPr/>
          </p:nvSpPr>
          <p:spPr>
            <a:xfrm>
              <a:off x="1996852" y="3349196"/>
              <a:ext cx="324859" cy="1894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CLK</a:t>
              </a:r>
            </a:p>
          </p:txBody>
        </p:sp>
        <p:cxnSp>
          <p:nvCxnSpPr>
            <p:cNvPr id="182" name="直接连接符 181"/>
            <p:cNvCxnSpPr/>
            <p:nvPr/>
          </p:nvCxnSpPr>
          <p:spPr>
            <a:xfrm>
              <a:off x="2151982" y="3154126"/>
              <a:ext cx="0" cy="22365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</p:cxnSp>
      </p:grpSp>
      <p:cxnSp>
        <p:nvCxnSpPr>
          <p:cNvPr id="126" name="直接连接符 125"/>
          <p:cNvCxnSpPr/>
          <p:nvPr/>
        </p:nvCxnSpPr>
        <p:spPr>
          <a:xfrm>
            <a:off x="4790891" y="5606258"/>
            <a:ext cx="0" cy="158048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24" name="直接连接符 123"/>
          <p:cNvCxnSpPr>
            <a:stCxn id="141" idx="3"/>
          </p:cNvCxnSpPr>
          <p:nvPr/>
        </p:nvCxnSpPr>
        <p:spPr>
          <a:xfrm flipH="1">
            <a:off x="7656327" y="5610003"/>
            <a:ext cx="811" cy="154303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22" name="直接连接符 121"/>
          <p:cNvCxnSpPr>
            <a:stCxn id="137" idx="2"/>
          </p:cNvCxnSpPr>
          <p:nvPr/>
        </p:nvCxnSpPr>
        <p:spPr>
          <a:xfrm flipH="1">
            <a:off x="10509874" y="5610001"/>
            <a:ext cx="1" cy="154305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grpSp>
        <p:nvGrpSpPr>
          <p:cNvPr id="10" name="组合 9"/>
          <p:cNvGrpSpPr/>
          <p:nvPr/>
        </p:nvGrpSpPr>
        <p:grpSpPr>
          <a:xfrm>
            <a:off x="1594035" y="1005166"/>
            <a:ext cx="635111" cy="4604835"/>
            <a:chOff x="896425" y="1654512"/>
            <a:chExt cx="428743" cy="3650913"/>
          </a:xfrm>
        </p:grpSpPr>
        <p:sp>
          <p:nvSpPr>
            <p:cNvPr id="178" name="矩形 177"/>
            <p:cNvSpPr/>
            <p:nvPr/>
          </p:nvSpPr>
          <p:spPr>
            <a:xfrm>
              <a:off x="998491" y="1924050"/>
              <a:ext cx="210737" cy="3381375"/>
            </a:xfrm>
            <a:prstGeom prst="rect">
              <a:avLst/>
            </a:prstGeom>
            <a:solidFill>
              <a:srgbClr val="9CDCF8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9" name="等腰三角形 178"/>
            <p:cNvSpPr/>
            <p:nvPr/>
          </p:nvSpPr>
          <p:spPr>
            <a:xfrm>
              <a:off x="998490" y="5181600"/>
              <a:ext cx="210738" cy="123824"/>
            </a:xfrm>
            <a:prstGeom prst="triangle">
              <a:avLst/>
            </a:prstGeom>
            <a:solidFill>
              <a:srgbClr val="9CDCF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896425" y="1654512"/>
              <a:ext cx="428743" cy="244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IF/ID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451040" y="1005166"/>
            <a:ext cx="700833" cy="4604836"/>
            <a:chOff x="875115" y="1654512"/>
            <a:chExt cx="473111" cy="3650913"/>
          </a:xfrm>
        </p:grpSpPr>
        <p:sp>
          <p:nvSpPr>
            <p:cNvPr id="175" name="矩形 174"/>
            <p:cNvSpPr/>
            <p:nvPr/>
          </p:nvSpPr>
          <p:spPr>
            <a:xfrm>
              <a:off x="998491" y="1924050"/>
              <a:ext cx="210737" cy="3381375"/>
            </a:xfrm>
            <a:prstGeom prst="rect">
              <a:avLst/>
            </a:prstGeom>
            <a:solidFill>
              <a:srgbClr val="9CDCF8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6" name="等腰三角形 175"/>
            <p:cNvSpPr/>
            <p:nvPr/>
          </p:nvSpPr>
          <p:spPr>
            <a:xfrm>
              <a:off x="998490" y="5181600"/>
              <a:ext cx="210738" cy="123824"/>
            </a:xfrm>
            <a:prstGeom prst="triangle">
              <a:avLst/>
            </a:prstGeom>
            <a:solidFill>
              <a:srgbClr val="9CDCF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7" name="文本框 176"/>
            <p:cNvSpPr txBox="1"/>
            <p:nvPr/>
          </p:nvSpPr>
          <p:spPr>
            <a:xfrm>
              <a:off x="875115" y="1654512"/>
              <a:ext cx="473111" cy="244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ID/EX</a:t>
              </a: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7178712" y="1005167"/>
            <a:ext cx="968535" cy="4604837"/>
            <a:chOff x="780889" y="1654512"/>
            <a:chExt cx="653828" cy="3650913"/>
          </a:xfrm>
        </p:grpSpPr>
        <p:sp>
          <p:nvSpPr>
            <p:cNvPr id="140" name="矩形 139"/>
            <p:cNvSpPr/>
            <p:nvPr/>
          </p:nvSpPr>
          <p:spPr>
            <a:xfrm>
              <a:off x="998491" y="1924050"/>
              <a:ext cx="210737" cy="3381375"/>
            </a:xfrm>
            <a:prstGeom prst="rect">
              <a:avLst/>
            </a:prstGeom>
            <a:solidFill>
              <a:srgbClr val="9CDCF8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1" name="等腰三角形 140"/>
            <p:cNvSpPr/>
            <p:nvPr/>
          </p:nvSpPr>
          <p:spPr>
            <a:xfrm>
              <a:off x="998490" y="5181600"/>
              <a:ext cx="210738" cy="123824"/>
            </a:xfrm>
            <a:prstGeom prst="triangle">
              <a:avLst/>
            </a:prstGeom>
            <a:solidFill>
              <a:srgbClr val="9CDCF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780889" y="1654512"/>
              <a:ext cx="653828" cy="244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EX/MEM</a:t>
              </a: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9991703" y="1005166"/>
            <a:ext cx="1058304" cy="4604835"/>
            <a:chOff x="754058" y="1654513"/>
            <a:chExt cx="714428" cy="3650912"/>
          </a:xfrm>
        </p:grpSpPr>
        <p:sp>
          <p:nvSpPr>
            <p:cNvPr id="137" name="矩形 136"/>
            <p:cNvSpPr/>
            <p:nvPr/>
          </p:nvSpPr>
          <p:spPr>
            <a:xfrm>
              <a:off x="998491" y="1924050"/>
              <a:ext cx="210737" cy="3381375"/>
            </a:xfrm>
            <a:prstGeom prst="rect">
              <a:avLst/>
            </a:prstGeom>
            <a:solidFill>
              <a:srgbClr val="9CDCF8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8" name="等腰三角形 137"/>
            <p:cNvSpPr/>
            <p:nvPr/>
          </p:nvSpPr>
          <p:spPr>
            <a:xfrm>
              <a:off x="998490" y="5181600"/>
              <a:ext cx="210738" cy="123824"/>
            </a:xfrm>
            <a:prstGeom prst="triangle">
              <a:avLst/>
            </a:prstGeom>
            <a:solidFill>
              <a:srgbClr val="9CDCF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754058" y="1654513"/>
              <a:ext cx="714428" cy="244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MEM/WB</a:t>
              </a:r>
            </a:p>
          </p:txBody>
        </p:sp>
      </p:grpSp>
      <p:cxnSp>
        <p:nvCxnSpPr>
          <p:cNvPr id="99" name="直接箭头连接符 98"/>
          <p:cNvCxnSpPr>
            <a:endCxn id="179" idx="0"/>
          </p:cNvCxnSpPr>
          <p:nvPr/>
        </p:nvCxnSpPr>
        <p:spPr>
          <a:xfrm>
            <a:off x="1897088" y="1345128"/>
            <a:ext cx="4225" cy="4108696"/>
          </a:xfrm>
          <a:prstGeom prst="straightConnector1">
            <a:avLst/>
          </a:prstGeom>
          <a:noFill/>
          <a:ln w="12700" cap="flat" cmpd="sng" algn="ctr">
            <a:solidFill>
              <a:srgbClr val="5B9BD5"/>
            </a:solidFill>
            <a:prstDash val="dash"/>
            <a:miter lim="800000"/>
            <a:tailEnd type="none"/>
          </a:ln>
          <a:effectLst/>
        </p:spPr>
      </p:cxnSp>
      <p:cxnSp>
        <p:nvCxnSpPr>
          <p:cNvPr id="102" name="直接箭头连接符 101"/>
          <p:cNvCxnSpPr>
            <a:stCxn id="76" idx="0"/>
            <a:endCxn id="141" idx="0"/>
          </p:cNvCxnSpPr>
          <p:nvPr/>
        </p:nvCxnSpPr>
        <p:spPr>
          <a:xfrm>
            <a:off x="7656327" y="1335939"/>
            <a:ext cx="810" cy="4117885"/>
          </a:xfrm>
          <a:prstGeom prst="straightConnector1">
            <a:avLst/>
          </a:prstGeom>
          <a:noFill/>
          <a:ln w="12700" cap="flat" cmpd="sng" algn="ctr">
            <a:solidFill>
              <a:srgbClr val="5B9BD5"/>
            </a:solidFill>
            <a:prstDash val="dash"/>
            <a:miter lim="800000"/>
            <a:tailEnd type="none"/>
          </a:ln>
          <a:effectLst/>
        </p:spPr>
      </p:cxnSp>
      <p:cxnSp>
        <p:nvCxnSpPr>
          <p:cNvPr id="103" name="直接箭头连接符 102"/>
          <p:cNvCxnSpPr>
            <a:stCxn id="84" idx="0"/>
            <a:endCxn id="138" idx="0"/>
          </p:cNvCxnSpPr>
          <p:nvPr/>
        </p:nvCxnSpPr>
        <p:spPr>
          <a:xfrm flipH="1">
            <a:off x="10509874" y="1335939"/>
            <a:ext cx="4693" cy="4117885"/>
          </a:xfrm>
          <a:prstGeom prst="straightConnector1">
            <a:avLst/>
          </a:prstGeom>
          <a:noFill/>
          <a:ln w="12700" cap="flat" cmpd="sng" algn="ctr">
            <a:solidFill>
              <a:srgbClr val="5B9BD5"/>
            </a:solidFill>
            <a:prstDash val="dash"/>
            <a:miter lim="800000"/>
            <a:tailEnd type="none"/>
          </a:ln>
          <a:effectLst/>
        </p:spPr>
      </p:cxnSp>
      <p:sp>
        <p:nvSpPr>
          <p:cNvPr id="104" name="文本框 103"/>
          <p:cNvSpPr txBox="1"/>
          <p:nvPr/>
        </p:nvSpPr>
        <p:spPr>
          <a:xfrm>
            <a:off x="2863373" y="5280267"/>
            <a:ext cx="747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5D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译码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5D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5880066" y="5280267"/>
            <a:ext cx="774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5D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5D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8702047" y="5280322"/>
            <a:ext cx="10150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5D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访存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5D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MEM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10816334" y="5280607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1" i="0" u="none" strike="noStrike" cap="none" spc="0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5D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写回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5D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WB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898873" y="5280267"/>
            <a:ext cx="885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5D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取指令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5D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</a:t>
            </a:r>
          </a:p>
        </p:txBody>
      </p:sp>
      <p:grpSp>
        <p:nvGrpSpPr>
          <p:cNvPr id="188" name="组合 187"/>
          <p:cNvGrpSpPr/>
          <p:nvPr/>
        </p:nvGrpSpPr>
        <p:grpSpPr bwMode="auto">
          <a:xfrm>
            <a:off x="1728187" y="3296199"/>
            <a:ext cx="346249" cy="405224"/>
            <a:chOff x="251021" y="5056211"/>
            <a:chExt cx="346423" cy="381526"/>
          </a:xfrm>
        </p:grpSpPr>
        <p:sp>
          <p:nvSpPr>
            <p:cNvPr id="189" name="矩形 188"/>
            <p:cNvSpPr/>
            <p:nvPr/>
          </p:nvSpPr>
          <p:spPr>
            <a:xfrm>
              <a:off x="319313" y="5095492"/>
              <a:ext cx="216009" cy="317938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190" name="文本框 189"/>
            <p:cNvSpPr txBox="1"/>
            <p:nvPr/>
          </p:nvSpPr>
          <p:spPr>
            <a:xfrm>
              <a:off x="251021" y="5056211"/>
              <a:ext cx="346423" cy="381526"/>
            </a:xfrm>
            <a:prstGeom prst="rect">
              <a:avLst/>
            </a:prstGeom>
            <a:noFill/>
          </p:spPr>
          <p:txBody>
            <a:bodyPr vert="eaVer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PC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Black" panose="020B0A02040204020203" pitchFamily="34" charset="0"/>
                <a:ea typeface="华文细黑" panose="02010600040101010101" pitchFamily="2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191" name="组合 190"/>
          <p:cNvGrpSpPr/>
          <p:nvPr/>
        </p:nvGrpSpPr>
        <p:grpSpPr bwMode="auto">
          <a:xfrm>
            <a:off x="1741555" y="2816744"/>
            <a:ext cx="346249" cy="405224"/>
            <a:chOff x="263515" y="5041476"/>
            <a:chExt cx="346423" cy="381526"/>
          </a:xfrm>
        </p:grpSpPr>
        <p:sp>
          <p:nvSpPr>
            <p:cNvPr id="192" name="矩形 191"/>
            <p:cNvSpPr/>
            <p:nvPr/>
          </p:nvSpPr>
          <p:spPr>
            <a:xfrm>
              <a:off x="319313" y="5095492"/>
              <a:ext cx="216009" cy="317938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193" name="文本框 192"/>
            <p:cNvSpPr txBox="1"/>
            <p:nvPr/>
          </p:nvSpPr>
          <p:spPr>
            <a:xfrm>
              <a:off x="263515" y="5041476"/>
              <a:ext cx="346423" cy="381526"/>
            </a:xfrm>
            <a:prstGeom prst="rect">
              <a:avLst/>
            </a:prstGeom>
            <a:noFill/>
          </p:spPr>
          <p:txBody>
            <a:bodyPr vert="eaVer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IR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Black" panose="020B0A02040204020203" pitchFamily="34" charset="0"/>
                <a:ea typeface="华文细黑" panose="02010600040101010101" pitchFamily="2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057401" y="3237326"/>
            <a:ext cx="2575182" cy="276999"/>
            <a:chOff x="2057401" y="3237326"/>
            <a:chExt cx="2575182" cy="276999"/>
          </a:xfrm>
        </p:grpSpPr>
        <p:sp>
          <p:nvSpPr>
            <p:cNvPr id="114" name="文本框 113"/>
            <p:cNvSpPr txBox="1"/>
            <p:nvPr/>
          </p:nvSpPr>
          <p:spPr>
            <a:xfrm>
              <a:off x="2087804" y="3237326"/>
              <a:ext cx="3818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PC</a:t>
              </a:r>
            </a:p>
          </p:txBody>
        </p:sp>
        <p:cxnSp>
          <p:nvCxnSpPr>
            <p:cNvPr id="194" name="直接箭头连接符 193"/>
            <p:cNvCxnSpPr>
              <a:stCxn id="178" idx="3"/>
            </p:cNvCxnSpPr>
            <p:nvPr/>
          </p:nvCxnSpPr>
          <p:spPr>
            <a:xfrm flipV="1">
              <a:off x="2057401" y="3476532"/>
              <a:ext cx="2575182" cy="103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285" name="组合 284"/>
          <p:cNvGrpSpPr/>
          <p:nvPr/>
        </p:nvGrpSpPr>
        <p:grpSpPr>
          <a:xfrm>
            <a:off x="3564682" y="1458643"/>
            <a:ext cx="1069119" cy="1139706"/>
            <a:chOff x="3475035" y="1422784"/>
            <a:chExt cx="1069119" cy="1139706"/>
          </a:xfrm>
        </p:grpSpPr>
        <p:cxnSp>
          <p:nvCxnSpPr>
            <p:cNvPr id="221" name="直接箭头连接符 220"/>
            <p:cNvCxnSpPr/>
            <p:nvPr/>
          </p:nvCxnSpPr>
          <p:spPr>
            <a:xfrm>
              <a:off x="3475035" y="1422784"/>
              <a:ext cx="106911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6" name="直接箭头连接符 65"/>
            <p:cNvCxnSpPr/>
            <p:nvPr/>
          </p:nvCxnSpPr>
          <p:spPr>
            <a:xfrm>
              <a:off x="3475035" y="1548290"/>
              <a:ext cx="106911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7" name="直接箭头连接符 66"/>
            <p:cNvCxnSpPr/>
            <p:nvPr/>
          </p:nvCxnSpPr>
          <p:spPr>
            <a:xfrm>
              <a:off x="3475035" y="1673796"/>
              <a:ext cx="106911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8" name="直接箭头连接符 67"/>
            <p:cNvCxnSpPr/>
            <p:nvPr/>
          </p:nvCxnSpPr>
          <p:spPr>
            <a:xfrm>
              <a:off x="3475035" y="1867131"/>
              <a:ext cx="106911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9" name="直接箭头连接符 68"/>
            <p:cNvCxnSpPr/>
            <p:nvPr/>
          </p:nvCxnSpPr>
          <p:spPr>
            <a:xfrm>
              <a:off x="3475035" y="1992637"/>
              <a:ext cx="106911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0" name="直接箭头连接符 69"/>
            <p:cNvCxnSpPr/>
            <p:nvPr/>
          </p:nvCxnSpPr>
          <p:spPr>
            <a:xfrm>
              <a:off x="3475035" y="2118143"/>
              <a:ext cx="106911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1" name="直接箭头连接符 70"/>
            <p:cNvCxnSpPr/>
            <p:nvPr/>
          </p:nvCxnSpPr>
          <p:spPr>
            <a:xfrm>
              <a:off x="3475035" y="2311478"/>
              <a:ext cx="106911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2" name="直接箭头连接符 71"/>
            <p:cNvCxnSpPr/>
            <p:nvPr/>
          </p:nvCxnSpPr>
          <p:spPr>
            <a:xfrm>
              <a:off x="3475035" y="2436984"/>
              <a:ext cx="106911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3" name="直接箭头连接符 72"/>
            <p:cNvCxnSpPr/>
            <p:nvPr/>
          </p:nvCxnSpPr>
          <p:spPr>
            <a:xfrm>
              <a:off x="3475035" y="2562490"/>
              <a:ext cx="106911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83" name="组合 82"/>
          <p:cNvGrpSpPr/>
          <p:nvPr/>
        </p:nvGrpSpPr>
        <p:grpSpPr>
          <a:xfrm>
            <a:off x="10332186" y="1335939"/>
            <a:ext cx="377341" cy="461633"/>
            <a:chOff x="4402678" y="2057282"/>
            <a:chExt cx="381000" cy="434037"/>
          </a:xfrm>
        </p:grpSpPr>
        <p:sp>
          <p:nvSpPr>
            <p:cNvPr id="84" name="矩形 83"/>
            <p:cNvSpPr/>
            <p:nvPr/>
          </p:nvSpPr>
          <p:spPr>
            <a:xfrm>
              <a:off x="4430257" y="2057282"/>
              <a:ext cx="313141" cy="434037"/>
            </a:xfrm>
            <a:prstGeom prst="rect">
              <a:avLst/>
            </a:prstGeom>
            <a:solidFill>
              <a:srgbClr val="C000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5" name="文本框 84"/>
            <p:cNvSpPr txBox="1"/>
            <p:nvPr/>
          </p:nvSpPr>
          <p:spPr bwMode="auto">
            <a:xfrm rot="16200000">
              <a:off x="4430402" y="2087259"/>
              <a:ext cx="325551" cy="381000"/>
            </a:xfrm>
            <a:prstGeom prst="rect">
              <a:avLst/>
            </a:prstGeom>
            <a:noFill/>
          </p:spPr>
          <p:txBody>
            <a:bodyPr vert="eaVer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WB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Black" panose="020B0A02040204020203" pitchFamily="34" charset="0"/>
                <a:ea typeface="华文细黑" panose="02010600040101010101" pitchFamily="2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952242" y="1458643"/>
            <a:ext cx="2541671" cy="695359"/>
            <a:chOff x="4952242" y="1458643"/>
            <a:chExt cx="2541671" cy="695359"/>
          </a:xfrm>
        </p:grpSpPr>
        <p:cxnSp>
          <p:nvCxnSpPr>
            <p:cNvPr id="92" name="直接箭头连接符 91"/>
            <p:cNvCxnSpPr/>
            <p:nvPr/>
          </p:nvCxnSpPr>
          <p:spPr>
            <a:xfrm>
              <a:off x="4952242" y="1458643"/>
              <a:ext cx="254167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93" name="直接箭头连接符 92"/>
            <p:cNvCxnSpPr/>
            <p:nvPr/>
          </p:nvCxnSpPr>
          <p:spPr>
            <a:xfrm>
              <a:off x="4952242" y="1584149"/>
              <a:ext cx="254167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94" name="直接箭头连接符 93"/>
            <p:cNvCxnSpPr/>
            <p:nvPr/>
          </p:nvCxnSpPr>
          <p:spPr>
            <a:xfrm>
              <a:off x="4952242" y="1709655"/>
              <a:ext cx="254167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95" name="直接箭头连接符 94"/>
            <p:cNvCxnSpPr/>
            <p:nvPr/>
          </p:nvCxnSpPr>
          <p:spPr>
            <a:xfrm>
              <a:off x="4952242" y="1902990"/>
              <a:ext cx="254167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0" name="直接箭头连接符 99"/>
            <p:cNvCxnSpPr/>
            <p:nvPr/>
          </p:nvCxnSpPr>
          <p:spPr>
            <a:xfrm>
              <a:off x="4952242" y="2028496"/>
              <a:ext cx="254167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9" name="直接箭头连接符 108"/>
            <p:cNvCxnSpPr/>
            <p:nvPr/>
          </p:nvCxnSpPr>
          <p:spPr>
            <a:xfrm>
              <a:off x="4952242" y="2154002"/>
              <a:ext cx="254167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</p:grpSp>
      <p:cxnSp>
        <p:nvCxnSpPr>
          <p:cNvPr id="230" name="直接箭头连接符 229"/>
          <p:cNvCxnSpPr/>
          <p:nvPr/>
        </p:nvCxnSpPr>
        <p:spPr>
          <a:xfrm>
            <a:off x="4923267" y="2490380"/>
            <a:ext cx="1322178" cy="0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233" name="直接箭头连接符 232"/>
          <p:cNvCxnSpPr/>
          <p:nvPr/>
        </p:nvCxnSpPr>
        <p:spPr>
          <a:xfrm>
            <a:off x="7819275" y="2022946"/>
            <a:ext cx="1293422" cy="0"/>
          </a:xfrm>
          <a:prstGeom prst="straightConnector1">
            <a:avLst/>
          </a:prstGeom>
          <a:noFill/>
          <a:ln w="19050" cap="sq" cmpd="sng" algn="ctr">
            <a:solidFill>
              <a:srgbClr val="C00000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11" name="组合 110"/>
          <p:cNvGrpSpPr/>
          <p:nvPr/>
        </p:nvGrpSpPr>
        <p:grpSpPr>
          <a:xfrm>
            <a:off x="7810004" y="1442747"/>
            <a:ext cx="2541671" cy="251012"/>
            <a:chOff x="4746052" y="1915843"/>
            <a:chExt cx="1069119" cy="251012"/>
          </a:xfrm>
        </p:grpSpPr>
        <p:cxnSp>
          <p:nvCxnSpPr>
            <p:cNvPr id="112" name="直接箭头连接符 111"/>
            <p:cNvCxnSpPr/>
            <p:nvPr/>
          </p:nvCxnSpPr>
          <p:spPr>
            <a:xfrm>
              <a:off x="4746052" y="1915843"/>
              <a:ext cx="106911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13" name="直接箭头连接符 112"/>
            <p:cNvCxnSpPr/>
            <p:nvPr/>
          </p:nvCxnSpPr>
          <p:spPr>
            <a:xfrm>
              <a:off x="4746052" y="2041349"/>
              <a:ext cx="106911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15" name="直接箭头连接符 114"/>
            <p:cNvCxnSpPr/>
            <p:nvPr/>
          </p:nvCxnSpPr>
          <p:spPr>
            <a:xfrm>
              <a:off x="4746052" y="2166855"/>
              <a:ext cx="106911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</p:grpSp>
      <p:cxnSp>
        <p:nvCxnSpPr>
          <p:cNvPr id="101" name="直接箭头连接符 100"/>
          <p:cNvCxnSpPr>
            <a:stCxn id="204" idx="0"/>
          </p:cNvCxnSpPr>
          <p:nvPr/>
        </p:nvCxnSpPr>
        <p:spPr>
          <a:xfrm>
            <a:off x="4790891" y="1345128"/>
            <a:ext cx="3824" cy="4154304"/>
          </a:xfrm>
          <a:prstGeom prst="straightConnector1">
            <a:avLst/>
          </a:prstGeom>
          <a:noFill/>
          <a:ln w="12700" cap="flat" cmpd="sng" algn="ctr">
            <a:solidFill>
              <a:srgbClr val="5B9BD5"/>
            </a:solidFill>
            <a:prstDash val="dash"/>
            <a:miter lim="800000"/>
            <a:tailEnd type="none"/>
          </a:ln>
          <a:effectLst/>
        </p:spPr>
      </p:cxnSp>
      <p:grpSp>
        <p:nvGrpSpPr>
          <p:cNvPr id="18" name="组合 17"/>
          <p:cNvGrpSpPr/>
          <p:nvPr/>
        </p:nvGrpSpPr>
        <p:grpSpPr>
          <a:xfrm>
            <a:off x="4593987" y="1345128"/>
            <a:ext cx="392228" cy="1377164"/>
            <a:chOff x="4593987" y="1345128"/>
            <a:chExt cx="392228" cy="1377164"/>
          </a:xfrm>
        </p:grpSpPr>
        <p:grpSp>
          <p:nvGrpSpPr>
            <p:cNvPr id="213" name="组合 212"/>
            <p:cNvGrpSpPr/>
            <p:nvPr/>
          </p:nvGrpSpPr>
          <p:grpSpPr>
            <a:xfrm>
              <a:off x="4593987" y="2260659"/>
              <a:ext cx="376616" cy="461633"/>
              <a:chOff x="4387262" y="2057282"/>
              <a:chExt cx="381000" cy="434037"/>
            </a:xfrm>
          </p:grpSpPr>
          <p:sp>
            <p:nvSpPr>
              <p:cNvPr id="214" name="矩形 213"/>
              <p:cNvSpPr/>
              <p:nvPr/>
            </p:nvSpPr>
            <p:spPr>
              <a:xfrm>
                <a:off x="4430257" y="2057282"/>
                <a:ext cx="313141" cy="434037"/>
              </a:xfrm>
              <a:prstGeom prst="rect">
                <a:avLst/>
              </a:prstGeom>
              <a:solidFill>
                <a:srgbClr val="C0000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15" name="文本框 214"/>
              <p:cNvSpPr txBox="1"/>
              <p:nvPr/>
            </p:nvSpPr>
            <p:spPr bwMode="auto">
              <a:xfrm rot="16200000">
                <a:off x="4414986" y="2087259"/>
                <a:ext cx="325551" cy="381000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EX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210" name="组合 209"/>
            <p:cNvGrpSpPr/>
            <p:nvPr/>
          </p:nvGrpSpPr>
          <p:grpSpPr>
            <a:xfrm>
              <a:off x="4608874" y="1799281"/>
              <a:ext cx="377341" cy="461633"/>
              <a:chOff x="4402676" y="2057282"/>
              <a:chExt cx="381000" cy="434037"/>
            </a:xfrm>
          </p:grpSpPr>
          <p:sp>
            <p:nvSpPr>
              <p:cNvPr id="211" name="矩形 210"/>
              <p:cNvSpPr/>
              <p:nvPr/>
            </p:nvSpPr>
            <p:spPr>
              <a:xfrm>
                <a:off x="4430257" y="2057282"/>
                <a:ext cx="313141" cy="434037"/>
              </a:xfrm>
              <a:prstGeom prst="rect">
                <a:avLst/>
              </a:prstGeom>
              <a:solidFill>
                <a:srgbClr val="C0000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 bwMode="auto">
              <a:xfrm rot="16200000">
                <a:off x="4448487" y="2087259"/>
                <a:ext cx="289378" cy="381000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华文细黑" panose="02010600040101010101" pitchFamily="2" charset="-122"/>
                    <a:cs typeface="Segoe UI Black" panose="020B0A02040204020203" pitchFamily="34" charset="0"/>
                  </a:rPr>
                  <a:t>MEM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209" name="组合 208"/>
            <p:cNvGrpSpPr/>
            <p:nvPr/>
          </p:nvGrpSpPr>
          <p:grpSpPr>
            <a:xfrm>
              <a:off x="4608510" y="1345128"/>
              <a:ext cx="377341" cy="461633"/>
              <a:chOff x="4402678" y="2057282"/>
              <a:chExt cx="381000" cy="434037"/>
            </a:xfrm>
          </p:grpSpPr>
          <p:sp>
            <p:nvSpPr>
              <p:cNvPr id="204" name="矩形 203"/>
              <p:cNvSpPr/>
              <p:nvPr/>
            </p:nvSpPr>
            <p:spPr>
              <a:xfrm>
                <a:off x="4430257" y="2057282"/>
                <a:ext cx="313141" cy="434037"/>
              </a:xfrm>
              <a:prstGeom prst="rect">
                <a:avLst/>
              </a:prstGeom>
              <a:solidFill>
                <a:srgbClr val="C0000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08" name="文本框 207"/>
              <p:cNvSpPr txBox="1"/>
              <p:nvPr/>
            </p:nvSpPr>
            <p:spPr bwMode="auto">
              <a:xfrm rot="16200000">
                <a:off x="4430402" y="2087259"/>
                <a:ext cx="325551" cy="381000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WB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7473946" y="1335939"/>
            <a:ext cx="377705" cy="915786"/>
            <a:chOff x="7473946" y="1335939"/>
            <a:chExt cx="377705" cy="915786"/>
          </a:xfrm>
        </p:grpSpPr>
        <p:grpSp>
          <p:nvGrpSpPr>
            <p:cNvPr id="78" name="组合 77"/>
            <p:cNvGrpSpPr/>
            <p:nvPr/>
          </p:nvGrpSpPr>
          <p:grpSpPr>
            <a:xfrm>
              <a:off x="7474310" y="1790092"/>
              <a:ext cx="377341" cy="461633"/>
              <a:chOff x="4402676" y="2057282"/>
              <a:chExt cx="381000" cy="434037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4430257" y="2057282"/>
                <a:ext cx="313141" cy="434037"/>
              </a:xfrm>
              <a:prstGeom prst="rect">
                <a:avLst/>
              </a:prstGeom>
              <a:solidFill>
                <a:srgbClr val="C0000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80" name="文本框 79"/>
              <p:cNvSpPr txBox="1"/>
              <p:nvPr/>
            </p:nvSpPr>
            <p:spPr bwMode="auto">
              <a:xfrm rot="16200000">
                <a:off x="4448487" y="2087259"/>
                <a:ext cx="289378" cy="381000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华文细黑" panose="02010600040101010101" pitchFamily="2" charset="-122"/>
                    <a:cs typeface="Segoe UI Black" panose="020B0A02040204020203" pitchFamily="34" charset="0"/>
                  </a:rPr>
                  <a:t>MEM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7473946" y="1335939"/>
              <a:ext cx="377341" cy="461633"/>
              <a:chOff x="4402678" y="2057282"/>
              <a:chExt cx="381000" cy="434037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4430257" y="2057282"/>
                <a:ext cx="313141" cy="434037"/>
              </a:xfrm>
              <a:prstGeom prst="rect">
                <a:avLst/>
              </a:prstGeom>
              <a:solidFill>
                <a:srgbClr val="C0000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77" name="文本框 76"/>
              <p:cNvSpPr txBox="1"/>
              <p:nvPr/>
            </p:nvSpPr>
            <p:spPr bwMode="auto">
              <a:xfrm rot="16200000">
                <a:off x="4430402" y="2087259"/>
                <a:ext cx="325551" cy="381000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WB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4616388" y="2829123"/>
            <a:ext cx="361799" cy="870725"/>
            <a:chOff x="4606863" y="2829123"/>
            <a:chExt cx="361799" cy="870725"/>
          </a:xfrm>
        </p:grpSpPr>
        <p:grpSp>
          <p:nvGrpSpPr>
            <p:cNvPr id="119" name="组合 118"/>
            <p:cNvGrpSpPr/>
            <p:nvPr/>
          </p:nvGrpSpPr>
          <p:grpSpPr bwMode="auto">
            <a:xfrm>
              <a:off x="4606863" y="3294624"/>
              <a:ext cx="346249" cy="405224"/>
              <a:chOff x="247957" y="5061258"/>
              <a:chExt cx="346423" cy="381526"/>
            </a:xfrm>
          </p:grpSpPr>
          <p:sp>
            <p:nvSpPr>
              <p:cNvPr id="120" name="矩形 119"/>
              <p:cNvSpPr/>
              <p:nvPr/>
            </p:nvSpPr>
            <p:spPr>
              <a:xfrm>
                <a:off x="319313" y="5095492"/>
                <a:ext cx="216009" cy="317938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21" name="文本框 120"/>
              <p:cNvSpPr txBox="1"/>
              <p:nvPr/>
            </p:nvSpPr>
            <p:spPr>
              <a:xfrm>
                <a:off x="247957" y="5061258"/>
                <a:ext cx="346423" cy="381526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PC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28" name="组合 127"/>
            <p:cNvGrpSpPr/>
            <p:nvPr/>
          </p:nvGrpSpPr>
          <p:grpSpPr bwMode="auto">
            <a:xfrm>
              <a:off x="4622413" y="2829123"/>
              <a:ext cx="346249" cy="405224"/>
              <a:chOff x="263515" y="5041476"/>
              <a:chExt cx="346423" cy="381526"/>
            </a:xfrm>
          </p:grpSpPr>
          <p:sp>
            <p:nvSpPr>
              <p:cNvPr id="129" name="矩形 128"/>
              <p:cNvSpPr/>
              <p:nvPr/>
            </p:nvSpPr>
            <p:spPr>
              <a:xfrm>
                <a:off x="319313" y="5095492"/>
                <a:ext cx="216009" cy="317938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30" name="文本框 129"/>
              <p:cNvSpPr txBox="1"/>
              <p:nvPr/>
            </p:nvSpPr>
            <p:spPr>
              <a:xfrm>
                <a:off x="263515" y="5041476"/>
                <a:ext cx="346423" cy="381526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IR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4590834" y="3783790"/>
            <a:ext cx="405224" cy="808217"/>
            <a:chOff x="4584750" y="3784588"/>
            <a:chExt cx="405224" cy="808217"/>
          </a:xfrm>
        </p:grpSpPr>
        <p:grpSp>
          <p:nvGrpSpPr>
            <p:cNvPr id="131" name="组合 130"/>
            <p:cNvGrpSpPr/>
            <p:nvPr/>
          </p:nvGrpSpPr>
          <p:grpSpPr bwMode="auto">
            <a:xfrm>
              <a:off x="4584750" y="3784588"/>
              <a:ext cx="405224" cy="349958"/>
              <a:chOff x="225834" y="5083938"/>
              <a:chExt cx="405428" cy="329492"/>
            </a:xfrm>
          </p:grpSpPr>
          <p:sp>
            <p:nvSpPr>
              <p:cNvPr id="132" name="矩形 131"/>
              <p:cNvSpPr/>
              <p:nvPr/>
            </p:nvSpPr>
            <p:spPr>
              <a:xfrm>
                <a:off x="319313" y="5095492"/>
                <a:ext cx="216009" cy="317938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33" name="文本框 132"/>
              <p:cNvSpPr txBox="1"/>
              <p:nvPr/>
            </p:nvSpPr>
            <p:spPr>
              <a:xfrm rot="16200000">
                <a:off x="265548" y="5044224"/>
                <a:ext cx="326000" cy="405428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A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34" name="组合 133"/>
            <p:cNvGrpSpPr/>
            <p:nvPr/>
          </p:nvGrpSpPr>
          <p:grpSpPr bwMode="auto">
            <a:xfrm>
              <a:off x="4584750" y="4242850"/>
              <a:ext cx="405224" cy="349955"/>
              <a:chOff x="225833" y="5083941"/>
              <a:chExt cx="405427" cy="329489"/>
            </a:xfrm>
          </p:grpSpPr>
          <p:sp>
            <p:nvSpPr>
              <p:cNvPr id="135" name="矩形 134"/>
              <p:cNvSpPr/>
              <p:nvPr/>
            </p:nvSpPr>
            <p:spPr>
              <a:xfrm>
                <a:off x="319313" y="5095492"/>
                <a:ext cx="216009" cy="317938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36" name="文本框 135"/>
              <p:cNvSpPr txBox="1"/>
              <p:nvPr/>
            </p:nvSpPr>
            <p:spPr>
              <a:xfrm rot="16200000">
                <a:off x="265547" y="5044227"/>
                <a:ext cx="326000" cy="405427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B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</p:grpSp>
      <p:grpSp>
        <p:nvGrpSpPr>
          <p:cNvPr id="143" name="组合 142"/>
          <p:cNvGrpSpPr/>
          <p:nvPr/>
        </p:nvGrpSpPr>
        <p:grpSpPr bwMode="auto">
          <a:xfrm>
            <a:off x="4648689" y="4679601"/>
            <a:ext cx="346249" cy="405224"/>
            <a:chOff x="280275" y="5063698"/>
            <a:chExt cx="346423" cy="381526"/>
          </a:xfrm>
        </p:grpSpPr>
        <p:sp>
          <p:nvSpPr>
            <p:cNvPr id="144" name="矩形 143"/>
            <p:cNvSpPr/>
            <p:nvPr/>
          </p:nvSpPr>
          <p:spPr>
            <a:xfrm>
              <a:off x="319313" y="5095492"/>
              <a:ext cx="216009" cy="317938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280275" y="5063698"/>
              <a:ext cx="346423" cy="381526"/>
            </a:xfrm>
            <a:prstGeom prst="rect">
              <a:avLst/>
            </a:prstGeom>
            <a:noFill/>
          </p:spPr>
          <p:txBody>
            <a:bodyPr vert="eaVer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Imm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Black" panose="020B0A02040204020203" pitchFamily="34" charset="0"/>
                <a:ea typeface="华文细黑" panose="02010600040101010101" pitchFamily="2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485724" y="2836672"/>
            <a:ext cx="361799" cy="870725"/>
            <a:chOff x="7473024" y="2836672"/>
            <a:chExt cx="361799" cy="870725"/>
          </a:xfrm>
        </p:grpSpPr>
        <p:grpSp>
          <p:nvGrpSpPr>
            <p:cNvPr id="146" name="组合 145"/>
            <p:cNvGrpSpPr/>
            <p:nvPr/>
          </p:nvGrpSpPr>
          <p:grpSpPr bwMode="auto">
            <a:xfrm>
              <a:off x="7473024" y="3302173"/>
              <a:ext cx="346249" cy="405224"/>
              <a:chOff x="247957" y="5061258"/>
              <a:chExt cx="346423" cy="381526"/>
            </a:xfrm>
          </p:grpSpPr>
          <p:sp>
            <p:nvSpPr>
              <p:cNvPr id="147" name="矩形 146"/>
              <p:cNvSpPr/>
              <p:nvPr/>
            </p:nvSpPr>
            <p:spPr>
              <a:xfrm>
                <a:off x="319313" y="5095492"/>
                <a:ext cx="216009" cy="317938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48" name="文本框 147"/>
              <p:cNvSpPr txBox="1"/>
              <p:nvPr/>
            </p:nvSpPr>
            <p:spPr>
              <a:xfrm>
                <a:off x="247957" y="5061258"/>
                <a:ext cx="346423" cy="381526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PC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49" name="组合 148"/>
            <p:cNvGrpSpPr/>
            <p:nvPr/>
          </p:nvGrpSpPr>
          <p:grpSpPr bwMode="auto">
            <a:xfrm>
              <a:off x="7488574" y="2836672"/>
              <a:ext cx="346249" cy="405224"/>
              <a:chOff x="263515" y="5041476"/>
              <a:chExt cx="346423" cy="381526"/>
            </a:xfrm>
          </p:grpSpPr>
          <p:sp>
            <p:nvSpPr>
              <p:cNvPr id="150" name="矩形 149"/>
              <p:cNvSpPr/>
              <p:nvPr/>
            </p:nvSpPr>
            <p:spPr>
              <a:xfrm>
                <a:off x="319313" y="5095492"/>
                <a:ext cx="216009" cy="317938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51" name="文本框 150"/>
              <p:cNvSpPr txBox="1"/>
              <p:nvPr/>
            </p:nvSpPr>
            <p:spPr>
              <a:xfrm>
                <a:off x="263515" y="5041476"/>
                <a:ext cx="346423" cy="381526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IR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</p:grpSp>
      <p:grpSp>
        <p:nvGrpSpPr>
          <p:cNvPr id="152" name="组合 151"/>
          <p:cNvGrpSpPr/>
          <p:nvPr/>
        </p:nvGrpSpPr>
        <p:grpSpPr bwMode="auto">
          <a:xfrm>
            <a:off x="7477637" y="4208559"/>
            <a:ext cx="346249" cy="405224"/>
            <a:chOff x="239867" y="5067734"/>
            <a:chExt cx="346423" cy="381526"/>
          </a:xfrm>
        </p:grpSpPr>
        <p:sp>
          <p:nvSpPr>
            <p:cNvPr id="153" name="矩形 152"/>
            <p:cNvSpPr/>
            <p:nvPr/>
          </p:nvSpPr>
          <p:spPr>
            <a:xfrm>
              <a:off x="319313" y="5095492"/>
              <a:ext cx="216009" cy="317938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154" name="文本框 153"/>
            <p:cNvSpPr txBox="1"/>
            <p:nvPr/>
          </p:nvSpPr>
          <p:spPr>
            <a:xfrm>
              <a:off x="239867" y="5067734"/>
              <a:ext cx="346423" cy="381526"/>
            </a:xfrm>
            <a:prstGeom prst="rect">
              <a:avLst/>
            </a:prstGeom>
            <a:noFill/>
          </p:spPr>
          <p:txBody>
            <a:bodyPr vert="eaVer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ALU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Black" panose="020B0A02040204020203" pitchFamily="34" charset="0"/>
                <a:ea typeface="华文细黑" panose="02010600040101010101" pitchFamily="2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0342763" y="2839361"/>
            <a:ext cx="361799" cy="870725"/>
            <a:chOff x="10330063" y="2839361"/>
            <a:chExt cx="361799" cy="870725"/>
          </a:xfrm>
        </p:grpSpPr>
        <p:grpSp>
          <p:nvGrpSpPr>
            <p:cNvPr id="155" name="组合 154"/>
            <p:cNvGrpSpPr/>
            <p:nvPr/>
          </p:nvGrpSpPr>
          <p:grpSpPr bwMode="auto">
            <a:xfrm>
              <a:off x="10330063" y="3304862"/>
              <a:ext cx="346249" cy="405224"/>
              <a:chOff x="247957" y="5061258"/>
              <a:chExt cx="346423" cy="381526"/>
            </a:xfrm>
          </p:grpSpPr>
          <p:sp>
            <p:nvSpPr>
              <p:cNvPr id="156" name="矩形 155"/>
              <p:cNvSpPr/>
              <p:nvPr/>
            </p:nvSpPr>
            <p:spPr>
              <a:xfrm>
                <a:off x="319313" y="5095492"/>
                <a:ext cx="216009" cy="317938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57" name="文本框 156"/>
              <p:cNvSpPr txBox="1"/>
              <p:nvPr/>
            </p:nvSpPr>
            <p:spPr>
              <a:xfrm>
                <a:off x="247957" y="5061258"/>
                <a:ext cx="346423" cy="381526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PC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58" name="组合 157"/>
            <p:cNvGrpSpPr/>
            <p:nvPr/>
          </p:nvGrpSpPr>
          <p:grpSpPr bwMode="auto">
            <a:xfrm>
              <a:off x="10345613" y="2839361"/>
              <a:ext cx="346249" cy="405224"/>
              <a:chOff x="263515" y="5041476"/>
              <a:chExt cx="346423" cy="381526"/>
            </a:xfrm>
          </p:grpSpPr>
          <p:sp>
            <p:nvSpPr>
              <p:cNvPr id="159" name="矩形 158"/>
              <p:cNvSpPr/>
              <p:nvPr/>
            </p:nvSpPr>
            <p:spPr>
              <a:xfrm>
                <a:off x="319313" y="5095492"/>
                <a:ext cx="216009" cy="317938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60" name="文本框 159"/>
              <p:cNvSpPr txBox="1"/>
              <p:nvPr/>
            </p:nvSpPr>
            <p:spPr>
              <a:xfrm>
                <a:off x="263515" y="5041476"/>
                <a:ext cx="346423" cy="381526"/>
              </a:xfrm>
              <a:prstGeom prst="rect">
                <a:avLst/>
              </a:prstGeom>
              <a:noFill/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IR</a:t>
                </a: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华文细黑" panose="02010600040101010101" pitchFamily="2" charset="-122"/>
                  <a:cs typeface="Segoe UI Black" panose="020B0A02040204020203" pitchFamily="34" charset="0"/>
                </a:endParaRPr>
              </a:p>
            </p:txBody>
          </p:sp>
        </p:grpSp>
      </p:grpSp>
      <p:grpSp>
        <p:nvGrpSpPr>
          <p:cNvPr id="161" name="组合 160"/>
          <p:cNvGrpSpPr/>
          <p:nvPr/>
        </p:nvGrpSpPr>
        <p:grpSpPr bwMode="auto">
          <a:xfrm>
            <a:off x="10334676" y="3777615"/>
            <a:ext cx="346249" cy="405224"/>
            <a:chOff x="239867" y="5067734"/>
            <a:chExt cx="346423" cy="381526"/>
          </a:xfrm>
        </p:grpSpPr>
        <p:sp>
          <p:nvSpPr>
            <p:cNvPr id="162" name="矩形 161"/>
            <p:cNvSpPr/>
            <p:nvPr/>
          </p:nvSpPr>
          <p:spPr>
            <a:xfrm>
              <a:off x="319313" y="5095492"/>
              <a:ext cx="216009" cy="317938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239867" y="5067734"/>
              <a:ext cx="346423" cy="381526"/>
            </a:xfrm>
            <a:prstGeom prst="rect">
              <a:avLst/>
            </a:prstGeom>
            <a:noFill/>
          </p:spPr>
          <p:txBody>
            <a:bodyPr vert="eaVer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ALU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Black" panose="020B0A02040204020203" pitchFamily="34" charset="0"/>
                <a:ea typeface="华文细黑" panose="02010600040101010101" pitchFamily="2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 bwMode="auto">
          <a:xfrm>
            <a:off x="10330062" y="4224839"/>
            <a:ext cx="346249" cy="405224"/>
            <a:chOff x="239867" y="5067734"/>
            <a:chExt cx="346423" cy="381526"/>
          </a:xfrm>
        </p:grpSpPr>
        <p:sp>
          <p:nvSpPr>
            <p:cNvPr id="165" name="矩形 164"/>
            <p:cNvSpPr/>
            <p:nvPr/>
          </p:nvSpPr>
          <p:spPr>
            <a:xfrm>
              <a:off x="319313" y="5095492"/>
              <a:ext cx="216009" cy="317938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166" name="文本框 165"/>
            <p:cNvSpPr txBox="1"/>
            <p:nvPr/>
          </p:nvSpPr>
          <p:spPr>
            <a:xfrm>
              <a:off x="239867" y="5067734"/>
              <a:ext cx="346423" cy="381526"/>
            </a:xfrm>
            <a:prstGeom prst="rect">
              <a:avLst/>
            </a:prstGeom>
            <a:noFill/>
          </p:spPr>
          <p:txBody>
            <a:bodyPr vert="eaVer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MD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Black" panose="020B0A02040204020203" pitchFamily="34" charset="0"/>
                <a:ea typeface="华文细黑" panose="02010600040101010101" pitchFamily="2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287" name="组合 286"/>
          <p:cNvGrpSpPr/>
          <p:nvPr/>
        </p:nvGrpSpPr>
        <p:grpSpPr>
          <a:xfrm>
            <a:off x="971833" y="3211801"/>
            <a:ext cx="779115" cy="276999"/>
            <a:chOff x="882186" y="3175942"/>
            <a:chExt cx="779115" cy="276999"/>
          </a:xfrm>
        </p:grpSpPr>
        <p:cxnSp>
          <p:nvCxnSpPr>
            <p:cNvPr id="15" name="直接箭头连接符 14"/>
            <p:cNvCxnSpPr/>
            <p:nvPr/>
          </p:nvCxnSpPr>
          <p:spPr>
            <a:xfrm>
              <a:off x="882186" y="3440673"/>
              <a:ext cx="779115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69" name="文本框 168"/>
            <p:cNvSpPr txBox="1"/>
            <p:nvPr/>
          </p:nvSpPr>
          <p:spPr>
            <a:xfrm>
              <a:off x="954675" y="3175942"/>
              <a:ext cx="3818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PC</a:t>
              </a: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971833" y="2760374"/>
            <a:ext cx="779115" cy="294963"/>
            <a:chOff x="882186" y="2724515"/>
            <a:chExt cx="779115" cy="294963"/>
          </a:xfrm>
        </p:grpSpPr>
        <p:cxnSp>
          <p:nvCxnSpPr>
            <p:cNvPr id="168" name="直接箭头连接符 167"/>
            <p:cNvCxnSpPr/>
            <p:nvPr/>
          </p:nvCxnSpPr>
          <p:spPr>
            <a:xfrm>
              <a:off x="882186" y="3019478"/>
              <a:ext cx="779115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70" name="文本框 169"/>
            <p:cNvSpPr txBox="1"/>
            <p:nvPr/>
          </p:nvSpPr>
          <p:spPr>
            <a:xfrm>
              <a:off x="886849" y="2724515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指令字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>
          <a:xfrm>
            <a:off x="1887053" y="5764306"/>
            <a:ext cx="862282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Rectangle 3"/>
          <p:cNvSpPr txBox="1">
            <a:spLocks noChangeArrowheads="1"/>
          </p:cNvSpPr>
          <p:nvPr/>
        </p:nvSpPr>
        <p:spPr>
          <a:xfrm>
            <a:off x="2463793" y="5990117"/>
            <a:ext cx="6996071" cy="56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FFC000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p"/>
              <a:defRPr sz="2000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译码段生成各段所需的控制信号，依次向后传递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949939" y="3708457"/>
            <a:ext cx="557170" cy="930946"/>
            <a:chOff x="5949939" y="3708457"/>
            <a:chExt cx="557170" cy="930946"/>
          </a:xfrm>
        </p:grpSpPr>
        <p:sp>
          <p:nvSpPr>
            <p:cNvPr id="184" name="任意多边形 183"/>
            <p:cNvSpPr/>
            <p:nvPr/>
          </p:nvSpPr>
          <p:spPr>
            <a:xfrm>
              <a:off x="5949939" y="3708457"/>
              <a:ext cx="557170" cy="930946"/>
            </a:xfrm>
            <a:custGeom>
              <a:avLst/>
              <a:gdLst>
                <a:gd name="connsiteX0" fmla="*/ 0 w 526257"/>
                <a:gd name="connsiteY0" fmla="*/ 0 h 757237"/>
                <a:gd name="connsiteX1" fmla="*/ 0 w 526257"/>
                <a:gd name="connsiteY1" fmla="*/ 295275 h 757237"/>
                <a:gd name="connsiteX2" fmla="*/ 59532 w 526257"/>
                <a:gd name="connsiteY2" fmla="*/ 381000 h 757237"/>
                <a:gd name="connsiteX3" fmla="*/ 4763 w 526257"/>
                <a:gd name="connsiteY3" fmla="*/ 452437 h 757237"/>
                <a:gd name="connsiteX4" fmla="*/ 4763 w 526257"/>
                <a:gd name="connsiteY4" fmla="*/ 757237 h 757237"/>
                <a:gd name="connsiteX5" fmla="*/ 526257 w 526257"/>
                <a:gd name="connsiteY5" fmla="*/ 547687 h 757237"/>
                <a:gd name="connsiteX6" fmla="*/ 526257 w 526257"/>
                <a:gd name="connsiteY6" fmla="*/ 252412 h 757237"/>
                <a:gd name="connsiteX7" fmla="*/ 0 w 526257"/>
                <a:gd name="connsiteY7" fmla="*/ 0 h 7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6257" h="757237">
                  <a:moveTo>
                    <a:pt x="0" y="0"/>
                  </a:moveTo>
                  <a:lnTo>
                    <a:pt x="0" y="295275"/>
                  </a:lnTo>
                  <a:lnTo>
                    <a:pt x="59532" y="381000"/>
                  </a:lnTo>
                  <a:lnTo>
                    <a:pt x="4763" y="452437"/>
                  </a:lnTo>
                  <a:lnTo>
                    <a:pt x="4763" y="757237"/>
                  </a:lnTo>
                  <a:lnTo>
                    <a:pt x="526257" y="547687"/>
                  </a:lnTo>
                  <a:lnTo>
                    <a:pt x="526257" y="252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5" name="文本框 184"/>
            <p:cNvSpPr txBox="1"/>
            <p:nvPr/>
          </p:nvSpPr>
          <p:spPr>
            <a:xfrm>
              <a:off x="5991649" y="4071118"/>
              <a:ext cx="4764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ALU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517885" y="4190212"/>
            <a:ext cx="974820" cy="216672"/>
            <a:chOff x="6517885" y="4190212"/>
            <a:chExt cx="974820" cy="216672"/>
          </a:xfrm>
        </p:grpSpPr>
        <p:cxnSp>
          <p:nvCxnSpPr>
            <p:cNvPr id="220" name="直接箭头连接符 219"/>
            <p:cNvCxnSpPr/>
            <p:nvPr/>
          </p:nvCxnSpPr>
          <p:spPr>
            <a:xfrm>
              <a:off x="6884894" y="4406884"/>
              <a:ext cx="607811" cy="0"/>
            </a:xfrm>
            <a:prstGeom prst="straightConnector1">
              <a:avLst/>
            </a:prstGeom>
            <a:noFill/>
            <a:ln w="19050" cap="sq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22" name="直接箭头连接符 221"/>
            <p:cNvCxnSpPr/>
            <p:nvPr/>
          </p:nvCxnSpPr>
          <p:spPr>
            <a:xfrm>
              <a:off x="6517885" y="4190434"/>
              <a:ext cx="367009" cy="0"/>
            </a:xfrm>
            <a:prstGeom prst="straightConnector1">
              <a:avLst/>
            </a:prstGeom>
            <a:noFill/>
            <a:ln w="1905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46" name="直接连接符 45"/>
            <p:cNvCxnSpPr/>
            <p:nvPr/>
          </p:nvCxnSpPr>
          <p:spPr>
            <a:xfrm>
              <a:off x="6884894" y="4190212"/>
              <a:ext cx="0" cy="216672"/>
            </a:xfrm>
            <a:prstGeom prst="line">
              <a:avLst/>
            </a:prstGeom>
            <a:noFill/>
            <a:ln w="1905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</p:grpSp>
      <p:cxnSp>
        <p:nvCxnSpPr>
          <p:cNvPr id="227" name="直接箭头连接符 226"/>
          <p:cNvCxnSpPr/>
          <p:nvPr/>
        </p:nvCxnSpPr>
        <p:spPr>
          <a:xfrm>
            <a:off x="9705235" y="4395729"/>
            <a:ext cx="6485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4" name="直接连接符 233"/>
          <p:cNvCxnSpPr/>
          <p:nvPr/>
        </p:nvCxnSpPr>
        <p:spPr>
          <a:xfrm>
            <a:off x="9112696" y="2028496"/>
            <a:ext cx="0" cy="1832688"/>
          </a:xfrm>
          <a:prstGeom prst="line">
            <a:avLst/>
          </a:prstGeom>
          <a:noFill/>
          <a:ln w="19050" cap="sq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7" name="组合 6"/>
          <p:cNvGrpSpPr/>
          <p:nvPr/>
        </p:nvGrpSpPr>
        <p:grpSpPr>
          <a:xfrm>
            <a:off x="8491955" y="3848752"/>
            <a:ext cx="1219958" cy="1186311"/>
            <a:chOff x="8491955" y="3848752"/>
            <a:chExt cx="1219958" cy="1186311"/>
          </a:xfrm>
        </p:grpSpPr>
        <p:sp>
          <p:nvSpPr>
            <p:cNvPr id="203" name="矩形 202"/>
            <p:cNvSpPr/>
            <p:nvPr/>
          </p:nvSpPr>
          <p:spPr>
            <a:xfrm>
              <a:off x="8537478" y="3868970"/>
              <a:ext cx="1159582" cy="1163786"/>
            </a:xfrm>
            <a:prstGeom prst="rect">
              <a:avLst/>
            </a:prstGeom>
            <a:solidFill>
              <a:srgbClr val="92D05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5" name="文本框 204"/>
            <p:cNvSpPr txBox="1"/>
            <p:nvPr/>
          </p:nvSpPr>
          <p:spPr>
            <a:xfrm>
              <a:off x="8491955" y="4312324"/>
              <a:ext cx="51809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ADDR</a:t>
              </a:r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8833656" y="4121455"/>
              <a:ext cx="588623" cy="548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</a:t>
              </a:r>
              <a:endPara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存储器</a:t>
              </a:r>
              <a:endPara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7" name="文本框 206"/>
            <p:cNvSpPr txBox="1"/>
            <p:nvPr/>
          </p:nvSpPr>
          <p:spPr>
            <a:xfrm>
              <a:off x="9363741" y="4310897"/>
              <a:ext cx="34817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RD</a:t>
              </a:r>
            </a:p>
          </p:txBody>
        </p:sp>
        <p:sp>
          <p:nvSpPr>
            <p:cNvPr id="216" name="文本框 215"/>
            <p:cNvSpPr txBox="1"/>
            <p:nvPr/>
          </p:nvSpPr>
          <p:spPr>
            <a:xfrm>
              <a:off x="8530433" y="4719683"/>
              <a:ext cx="8455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WD</a:t>
              </a:r>
            </a:p>
          </p:txBody>
        </p:sp>
        <p:sp>
          <p:nvSpPr>
            <p:cNvPr id="217" name="等腰三角形 216"/>
            <p:cNvSpPr/>
            <p:nvPr/>
          </p:nvSpPr>
          <p:spPr>
            <a:xfrm>
              <a:off x="9068679" y="4926083"/>
              <a:ext cx="187278" cy="108980"/>
            </a:xfrm>
            <a:prstGeom prst="triangle">
              <a:avLst/>
            </a:prstGeom>
            <a:solidFill>
              <a:srgbClr val="92D05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1" name="文本框 240"/>
            <p:cNvSpPr txBox="1"/>
            <p:nvPr/>
          </p:nvSpPr>
          <p:spPr>
            <a:xfrm>
              <a:off x="8934516" y="3848752"/>
              <a:ext cx="3658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WE</a:t>
              </a:r>
            </a:p>
          </p:txBody>
        </p:sp>
      </p:grpSp>
      <p:grpSp>
        <p:nvGrpSpPr>
          <p:cNvPr id="242" name="组合 241"/>
          <p:cNvGrpSpPr/>
          <p:nvPr/>
        </p:nvGrpSpPr>
        <p:grpSpPr bwMode="auto">
          <a:xfrm>
            <a:off x="7462101" y="3794825"/>
            <a:ext cx="405224" cy="349958"/>
            <a:chOff x="225834" y="5083938"/>
            <a:chExt cx="405428" cy="329492"/>
          </a:xfrm>
        </p:grpSpPr>
        <p:sp>
          <p:nvSpPr>
            <p:cNvPr id="243" name="矩形 242"/>
            <p:cNvSpPr/>
            <p:nvPr/>
          </p:nvSpPr>
          <p:spPr>
            <a:xfrm>
              <a:off x="319313" y="5095492"/>
              <a:ext cx="216009" cy="317938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244" name="文本框 243"/>
            <p:cNvSpPr txBox="1"/>
            <p:nvPr/>
          </p:nvSpPr>
          <p:spPr>
            <a:xfrm rot="16200000">
              <a:off x="265548" y="5044224"/>
              <a:ext cx="326000" cy="405428"/>
            </a:xfrm>
            <a:prstGeom prst="rect">
              <a:avLst/>
            </a:prstGeom>
            <a:noFill/>
          </p:spPr>
          <p:txBody>
            <a:bodyPr vert="eaVer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B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Black" panose="020B0A02040204020203" pitchFamily="34" charset="0"/>
                <a:ea typeface="华文细黑" panose="02010600040101010101" pitchFamily="2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803406" y="3964168"/>
            <a:ext cx="734072" cy="850191"/>
            <a:chOff x="7803406" y="3964168"/>
            <a:chExt cx="734072" cy="850191"/>
          </a:xfrm>
        </p:grpSpPr>
        <p:cxnSp>
          <p:nvCxnSpPr>
            <p:cNvPr id="224" name="直接箭头连接符 223"/>
            <p:cNvCxnSpPr/>
            <p:nvPr/>
          </p:nvCxnSpPr>
          <p:spPr>
            <a:xfrm>
              <a:off x="7803406" y="4406884"/>
              <a:ext cx="734072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50" name="直接箭头连接符 249"/>
            <p:cNvCxnSpPr/>
            <p:nvPr/>
          </p:nvCxnSpPr>
          <p:spPr>
            <a:xfrm>
              <a:off x="7819273" y="3965439"/>
              <a:ext cx="367009" cy="0"/>
            </a:xfrm>
            <a:prstGeom prst="straightConnector1">
              <a:avLst/>
            </a:prstGeom>
            <a:noFill/>
            <a:ln w="1905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251" name="直接连接符 250"/>
            <p:cNvCxnSpPr/>
            <p:nvPr/>
          </p:nvCxnSpPr>
          <p:spPr>
            <a:xfrm>
              <a:off x="8185286" y="3964168"/>
              <a:ext cx="0" cy="850191"/>
            </a:xfrm>
            <a:prstGeom prst="line">
              <a:avLst/>
            </a:prstGeom>
            <a:noFill/>
            <a:ln w="1905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253" name="直接箭头连接符 252"/>
            <p:cNvCxnSpPr/>
            <p:nvPr/>
          </p:nvCxnSpPr>
          <p:spPr>
            <a:xfrm>
              <a:off x="8185286" y="4814359"/>
              <a:ext cx="352192" cy="0"/>
            </a:xfrm>
            <a:prstGeom prst="straightConnector1">
              <a:avLst/>
            </a:prstGeom>
            <a:noFill/>
            <a:ln w="19050" cap="sq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22" name="组合 21"/>
          <p:cNvGrpSpPr/>
          <p:nvPr/>
        </p:nvGrpSpPr>
        <p:grpSpPr>
          <a:xfrm>
            <a:off x="4963307" y="3964168"/>
            <a:ext cx="1005771" cy="938421"/>
            <a:chOff x="4963307" y="3964168"/>
            <a:chExt cx="1005771" cy="938421"/>
          </a:xfrm>
        </p:grpSpPr>
        <p:cxnSp>
          <p:nvCxnSpPr>
            <p:cNvPr id="218" name="直接箭头连接符 217"/>
            <p:cNvCxnSpPr/>
            <p:nvPr/>
          </p:nvCxnSpPr>
          <p:spPr>
            <a:xfrm>
              <a:off x="4963307" y="3964168"/>
              <a:ext cx="1005771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3" name="组合 2"/>
            <p:cNvGrpSpPr/>
            <p:nvPr/>
          </p:nvGrpSpPr>
          <p:grpSpPr>
            <a:xfrm>
              <a:off x="4963307" y="4436185"/>
              <a:ext cx="986632" cy="466404"/>
              <a:chOff x="4963307" y="4436185"/>
              <a:chExt cx="986632" cy="466404"/>
            </a:xfrm>
          </p:grpSpPr>
          <p:cxnSp>
            <p:nvCxnSpPr>
              <p:cNvPr id="219" name="直接箭头连接符 218"/>
              <p:cNvCxnSpPr/>
              <p:nvPr/>
            </p:nvCxnSpPr>
            <p:spPr>
              <a:xfrm>
                <a:off x="5530327" y="4436185"/>
                <a:ext cx="419612" cy="0"/>
              </a:xfrm>
              <a:prstGeom prst="straightConnector1">
                <a:avLst/>
              </a:prstGeom>
              <a:noFill/>
              <a:ln w="19050" cap="sq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60" name="直接连接符 259"/>
              <p:cNvCxnSpPr/>
              <p:nvPr/>
            </p:nvCxnSpPr>
            <p:spPr>
              <a:xfrm>
                <a:off x="5530327" y="4436185"/>
                <a:ext cx="0" cy="466404"/>
              </a:xfrm>
              <a:prstGeom prst="line">
                <a:avLst/>
              </a:prstGeom>
              <a:noFill/>
              <a:ln w="19050" cap="sq" cmpd="sng" algn="ctr">
                <a:solidFill>
                  <a:sysClr val="windowText" lastClr="000000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263" name="直接箭头连接符 262"/>
              <p:cNvCxnSpPr/>
              <p:nvPr/>
            </p:nvCxnSpPr>
            <p:spPr>
              <a:xfrm>
                <a:off x="4963307" y="4902589"/>
                <a:ext cx="567020" cy="0"/>
              </a:xfrm>
              <a:prstGeom prst="straightConnector1">
                <a:avLst/>
              </a:prstGeom>
              <a:noFill/>
              <a:ln w="19050" cap="sq" cmpd="sng" algn="ctr">
                <a:solidFill>
                  <a:sysClr val="windowText" lastClr="000000"/>
                </a:solidFill>
                <a:prstDash val="solid"/>
                <a:miter lim="800000"/>
                <a:tailEnd type="none"/>
              </a:ln>
              <a:effectLst/>
            </p:spPr>
          </p:cxnSp>
        </p:grpSp>
      </p:grpSp>
      <p:grpSp>
        <p:nvGrpSpPr>
          <p:cNvPr id="27" name="组合 26"/>
          <p:cNvGrpSpPr/>
          <p:nvPr/>
        </p:nvGrpSpPr>
        <p:grpSpPr>
          <a:xfrm>
            <a:off x="6232442" y="2490380"/>
            <a:ext cx="662361" cy="1370804"/>
            <a:chOff x="6232442" y="2490380"/>
            <a:chExt cx="662361" cy="1370804"/>
          </a:xfrm>
        </p:grpSpPr>
        <p:cxnSp>
          <p:nvCxnSpPr>
            <p:cNvPr id="232" name="直接连接符 231"/>
            <p:cNvCxnSpPr/>
            <p:nvPr/>
          </p:nvCxnSpPr>
          <p:spPr>
            <a:xfrm>
              <a:off x="6245442" y="2490380"/>
              <a:ext cx="0" cy="1370804"/>
            </a:xfrm>
            <a:prstGeom prst="line">
              <a:avLst/>
            </a:prstGeom>
            <a:noFill/>
            <a:ln w="19050" cap="sq" cmpd="sng" algn="ctr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74" name="文本框 273"/>
            <p:cNvSpPr txBox="1"/>
            <p:nvPr/>
          </p:nvSpPr>
          <p:spPr>
            <a:xfrm>
              <a:off x="6232442" y="3476688"/>
              <a:ext cx="662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Alu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OP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875668" y="3953517"/>
            <a:ext cx="763496" cy="469647"/>
            <a:chOff x="3875668" y="3953517"/>
            <a:chExt cx="763496" cy="469647"/>
          </a:xfrm>
        </p:grpSpPr>
        <p:cxnSp>
          <p:nvCxnSpPr>
            <p:cNvPr id="275" name="直接箭头连接符 274"/>
            <p:cNvCxnSpPr/>
            <p:nvPr/>
          </p:nvCxnSpPr>
          <p:spPr>
            <a:xfrm>
              <a:off x="3875668" y="3953517"/>
              <a:ext cx="746745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80" name="直接箭头连接符 279"/>
            <p:cNvCxnSpPr/>
            <p:nvPr/>
          </p:nvCxnSpPr>
          <p:spPr>
            <a:xfrm>
              <a:off x="3892419" y="4423164"/>
              <a:ext cx="746745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12" name="组合 11"/>
          <p:cNvGrpSpPr/>
          <p:nvPr/>
        </p:nvGrpSpPr>
        <p:grpSpPr>
          <a:xfrm>
            <a:off x="2052345" y="1329130"/>
            <a:ext cx="2575182" cy="1723478"/>
            <a:chOff x="2052345" y="1329130"/>
            <a:chExt cx="2575182" cy="1723478"/>
          </a:xfrm>
        </p:grpSpPr>
        <p:sp>
          <p:nvSpPr>
            <p:cNvPr id="200" name="文本框 199"/>
            <p:cNvSpPr txBox="1"/>
            <p:nvPr/>
          </p:nvSpPr>
          <p:spPr>
            <a:xfrm>
              <a:off x="2390964" y="1904596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指令字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201" name="圆角矩形 200"/>
            <p:cNvSpPr/>
            <p:nvPr/>
          </p:nvSpPr>
          <p:spPr>
            <a:xfrm>
              <a:off x="3006479" y="1329130"/>
              <a:ext cx="533267" cy="1393162"/>
            </a:xfrm>
            <a:prstGeom prst="roundRect">
              <a:avLst/>
            </a:prstGeom>
            <a:solidFill>
              <a:srgbClr val="C00000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单周期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控制器</a:t>
              </a:r>
            </a:p>
          </p:txBody>
        </p:sp>
        <p:cxnSp>
          <p:nvCxnSpPr>
            <p:cNvPr id="74" name="直接箭头连接符 73"/>
            <p:cNvCxnSpPr/>
            <p:nvPr/>
          </p:nvCxnSpPr>
          <p:spPr>
            <a:xfrm>
              <a:off x="2526179" y="2187101"/>
              <a:ext cx="465696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88" name="直接箭头连接符 287"/>
            <p:cNvCxnSpPr/>
            <p:nvPr/>
          </p:nvCxnSpPr>
          <p:spPr>
            <a:xfrm flipV="1">
              <a:off x="2052345" y="3051574"/>
              <a:ext cx="2575182" cy="103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91" name="直接连接符 290"/>
            <p:cNvCxnSpPr/>
            <p:nvPr/>
          </p:nvCxnSpPr>
          <p:spPr>
            <a:xfrm>
              <a:off x="2526179" y="2196290"/>
              <a:ext cx="0" cy="842994"/>
            </a:xfrm>
            <a:prstGeom prst="line">
              <a:avLst/>
            </a:prstGeom>
            <a:noFill/>
            <a:ln w="1905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</p:grpSp>
      <p:grpSp>
        <p:nvGrpSpPr>
          <p:cNvPr id="6" name="组合 5"/>
          <p:cNvGrpSpPr/>
          <p:nvPr/>
        </p:nvGrpSpPr>
        <p:grpSpPr>
          <a:xfrm>
            <a:off x="2893359" y="3763615"/>
            <a:ext cx="1059022" cy="955507"/>
            <a:chOff x="2893359" y="3763615"/>
            <a:chExt cx="1059022" cy="955507"/>
          </a:xfrm>
        </p:grpSpPr>
        <p:sp>
          <p:nvSpPr>
            <p:cNvPr id="186" name="矩形 185"/>
            <p:cNvSpPr/>
            <p:nvPr/>
          </p:nvSpPr>
          <p:spPr>
            <a:xfrm>
              <a:off x="2948358" y="3771665"/>
              <a:ext cx="927310" cy="945860"/>
            </a:xfrm>
            <a:prstGeom prst="rect">
              <a:avLst/>
            </a:prstGeom>
            <a:solidFill>
              <a:srgbClr val="FFCC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2904010" y="3802764"/>
              <a:ext cx="33695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R1#</a:t>
              </a:r>
            </a:p>
          </p:txBody>
        </p:sp>
        <p:sp>
          <p:nvSpPr>
            <p:cNvPr id="195" name="文本框 194"/>
            <p:cNvSpPr txBox="1"/>
            <p:nvPr/>
          </p:nvSpPr>
          <p:spPr>
            <a:xfrm>
              <a:off x="3083136" y="4146682"/>
              <a:ext cx="707657" cy="214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寄存器文件</a:t>
              </a:r>
              <a:endPara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6" name="文本框 195"/>
            <p:cNvSpPr txBox="1"/>
            <p:nvPr/>
          </p:nvSpPr>
          <p:spPr>
            <a:xfrm>
              <a:off x="3594821" y="3861184"/>
              <a:ext cx="34817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RD1</a:t>
              </a:r>
            </a:p>
          </p:txBody>
        </p:sp>
        <p:sp>
          <p:nvSpPr>
            <p:cNvPr id="197" name="文本框 196"/>
            <p:cNvSpPr txBox="1"/>
            <p:nvPr/>
          </p:nvSpPr>
          <p:spPr>
            <a:xfrm>
              <a:off x="2893359" y="4495196"/>
              <a:ext cx="652069" cy="185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Din</a:t>
              </a:r>
            </a:p>
          </p:txBody>
        </p:sp>
        <p:sp>
          <p:nvSpPr>
            <p:cNvPr id="198" name="文本框 197"/>
            <p:cNvSpPr txBox="1"/>
            <p:nvPr/>
          </p:nvSpPr>
          <p:spPr>
            <a:xfrm>
              <a:off x="2904010" y="3983630"/>
              <a:ext cx="33695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R2#</a:t>
              </a:r>
            </a:p>
          </p:txBody>
        </p:sp>
        <p:sp>
          <p:nvSpPr>
            <p:cNvPr id="199" name="文本框 198"/>
            <p:cNvSpPr txBox="1"/>
            <p:nvPr/>
          </p:nvSpPr>
          <p:spPr>
            <a:xfrm>
              <a:off x="3604209" y="4316334"/>
              <a:ext cx="34817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RD2</a:t>
              </a:r>
            </a:p>
          </p:txBody>
        </p:sp>
        <p:sp>
          <p:nvSpPr>
            <p:cNvPr id="202" name="文本框 201"/>
            <p:cNvSpPr txBox="1"/>
            <p:nvPr/>
          </p:nvSpPr>
          <p:spPr>
            <a:xfrm>
              <a:off x="2893359" y="4355880"/>
              <a:ext cx="652069" cy="185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W#</a:t>
              </a:r>
            </a:p>
          </p:txBody>
        </p:sp>
        <p:sp>
          <p:nvSpPr>
            <p:cNvPr id="284" name="文本框 283"/>
            <p:cNvSpPr txBox="1"/>
            <p:nvPr/>
          </p:nvSpPr>
          <p:spPr>
            <a:xfrm>
              <a:off x="3157534" y="3763615"/>
              <a:ext cx="3658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WE</a:t>
              </a:r>
            </a:p>
          </p:txBody>
        </p:sp>
        <p:sp>
          <p:nvSpPr>
            <p:cNvPr id="171" name="等腰三角形 170"/>
            <p:cNvSpPr/>
            <p:nvPr/>
          </p:nvSpPr>
          <p:spPr>
            <a:xfrm>
              <a:off x="3318854" y="4610142"/>
              <a:ext cx="187278" cy="108980"/>
            </a:xfrm>
            <a:prstGeom prst="triangle">
              <a:avLst/>
            </a:prstGeom>
            <a:solidFill>
              <a:srgbClr val="FFCC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923110" y="3050193"/>
            <a:ext cx="2588989" cy="458694"/>
            <a:chOff x="4923110" y="3050193"/>
            <a:chExt cx="2588989" cy="458694"/>
          </a:xfrm>
        </p:grpSpPr>
        <p:cxnSp>
          <p:nvCxnSpPr>
            <p:cNvPr id="225" name="直接箭头连接符 224"/>
            <p:cNvCxnSpPr/>
            <p:nvPr/>
          </p:nvCxnSpPr>
          <p:spPr>
            <a:xfrm flipV="1">
              <a:off x="4923110" y="3050193"/>
              <a:ext cx="2575182" cy="103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26" name="直接箭头连接符 225"/>
            <p:cNvCxnSpPr/>
            <p:nvPr/>
          </p:nvCxnSpPr>
          <p:spPr>
            <a:xfrm flipV="1">
              <a:off x="4936917" y="3507853"/>
              <a:ext cx="2575182" cy="103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DDECF712-16E4-41DE-B344-037FF5A5C1EA}"/>
              </a:ext>
            </a:extLst>
          </p:cNvPr>
          <p:cNvSpPr/>
          <p:nvPr/>
        </p:nvSpPr>
        <p:spPr>
          <a:xfrm>
            <a:off x="4554552" y="3244334"/>
            <a:ext cx="3082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The structure of pipeline CPU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282"/>
    </mc:Choice>
    <mc:Fallback xmlns="">
      <p:transition spd="slow" advTm="3512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600"/>
            <a:ext cx="12192000" cy="5867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077287" y="1524000"/>
            <a:ext cx="137244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个字，每字</a:t>
            </a:r>
            <a:r>
              <a:rPr lang="en-US" altLang="zh-CN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21</a:t>
            </a:r>
            <a:r>
              <a:rPr lang="zh-CN" altLang="en-US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位</a:t>
            </a:r>
            <a:endParaRPr lang="en-US" altLang="zh-CN" sz="1000" dirty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33550" y="3848101"/>
            <a:ext cx="5267325" cy="26479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77075" y="3848101"/>
            <a:ext cx="4972916" cy="26479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1951" y="1657350"/>
            <a:ext cx="1171575" cy="1333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7705147" y="1790701"/>
            <a:ext cx="0" cy="35242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733127" y="1068493"/>
            <a:ext cx="10318327" cy="2700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11079892" y="2186108"/>
            <a:ext cx="8238" cy="244054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0677544" y="2475302"/>
            <a:ext cx="137244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位，不输出</a:t>
            </a:r>
            <a:endParaRPr lang="en-US" altLang="zh-CN" sz="1000" dirty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 flipV="1">
            <a:off x="4097289" y="1601998"/>
            <a:ext cx="8238" cy="244054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761879" y="1883922"/>
            <a:ext cx="137244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位，输出</a:t>
            </a:r>
            <a:endParaRPr lang="en-US" altLang="zh-CN" sz="1000" dirty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0011"/>
            <a:ext cx="1673411" cy="316798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403023" y="1611005"/>
            <a:ext cx="6463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prstClr val="black"/>
                </a:solidFill>
                <a:latin typeface="Calibri" panose="020F0502020204030204" pitchFamily="34" charset="0"/>
              </a:rPr>
              <a:t>不输出</a:t>
            </a:r>
            <a:endParaRPr lang="en-US" altLang="zh-CN" sz="12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 flipV="1">
            <a:off x="10798629" y="1657350"/>
            <a:ext cx="732972" cy="6667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956058" y="178865"/>
            <a:ext cx="8019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Microprogram controller (</a:t>
            </a:r>
            <a:r>
              <a:rPr lang="en-US" altLang="zh-CN" b="1" dirty="0" err="1"/>
              <a:t>input:OP</a:t>
            </a:r>
            <a:r>
              <a:rPr lang="en-US" altLang="zh-CN" b="1" dirty="0"/>
              <a:t>/FUNC/CLK/RST</a:t>
            </a:r>
            <a:r>
              <a:rPr lang="zh-CN" altLang="en-US" b="1" dirty="0"/>
              <a:t>；</a:t>
            </a:r>
            <a:r>
              <a:rPr lang="en-US" altLang="zh-CN" b="1" dirty="0"/>
              <a:t>OUTPUT:ALU_OP,BNE…</a:t>
            </a:r>
            <a:r>
              <a:rPr lang="en-US" altLang="zh-CN" b="1" dirty="0" err="1">
                <a:latin typeface="Book Antiqua" panose="02040602050305030304" pitchFamily="18" charset="0"/>
              </a:rPr>
              <a:t>I</a:t>
            </a:r>
            <a:r>
              <a:rPr lang="en-US" altLang="zh-CN" b="1" dirty="0" err="1"/>
              <a:t>orD</a:t>
            </a:r>
            <a:r>
              <a:rPr lang="en-US" altLang="zh-CN" b="1" dirty="0"/>
              <a:t>)</a:t>
            </a: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0668000" cy="59436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25467" y="133771"/>
            <a:ext cx="6318633" cy="780629"/>
          </a:xfrm>
        </p:spPr>
        <p:txBody>
          <a:bodyPr>
            <a:normAutofit/>
          </a:bodyPr>
          <a:lstStyle/>
          <a:p>
            <a:r>
              <a:rPr lang="en-US" altLang="zh-CN" dirty="0"/>
              <a:t>Microprogram flowchart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10134600" y="914400"/>
          <a:ext cx="2057400" cy="3698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68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μI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STATE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ADDR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0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IF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ID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LW2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LW3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SW2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R</a:t>
                      </a:r>
                      <a:r>
                        <a:rPr lang="zh-CN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zh-CN" sz="1100" u="none" strike="noStrike" dirty="0">
                          <a:effectLst/>
                        </a:rPr>
                        <a:t>TYPE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R</a:t>
                      </a:r>
                      <a:r>
                        <a:rPr lang="zh-CN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zh-CN" sz="1100" u="none" strike="noStrike" dirty="0">
                          <a:effectLst/>
                        </a:rPr>
                        <a:t>TYPE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Beq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ADDI1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ADDI2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SYSCALL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568">
                <a:tc gridSpan="3"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椭圆 7"/>
          <p:cNvSpPr/>
          <p:nvPr/>
        </p:nvSpPr>
        <p:spPr>
          <a:xfrm>
            <a:off x="1986698" y="3724179"/>
            <a:ext cx="908756" cy="5324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075803" y="3676404"/>
            <a:ext cx="908756" cy="5324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01634" y="3735515"/>
            <a:ext cx="1117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/>
              <a:t>核算地址</a:t>
            </a:r>
            <a:endParaRPr lang="en-US" altLang="zh-CN" sz="1100" dirty="0"/>
          </a:p>
          <a:p>
            <a:pPr algn="ctr"/>
            <a:r>
              <a:rPr lang="en-US" altLang="zh-CN" sz="1100" dirty="0" err="1"/>
              <a:t>A+imm→C</a:t>
            </a:r>
            <a:endParaRPr lang="zh-CN" altLang="en-US" sz="1100" dirty="0"/>
          </a:p>
        </p:txBody>
      </p:sp>
      <p:sp>
        <p:nvSpPr>
          <p:cNvPr id="10" name="文本框 9"/>
          <p:cNvSpPr txBox="1"/>
          <p:nvPr/>
        </p:nvSpPr>
        <p:spPr>
          <a:xfrm>
            <a:off x="2980517" y="3727183"/>
            <a:ext cx="10993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/>
              <a:t>核算地址</a:t>
            </a:r>
            <a:endParaRPr lang="en-US" altLang="zh-CN" sz="1100" dirty="0"/>
          </a:p>
          <a:p>
            <a:pPr algn="ctr"/>
            <a:r>
              <a:rPr lang="en-US" altLang="zh-CN" sz="1100" dirty="0" err="1"/>
              <a:t>A+imm→C</a:t>
            </a:r>
            <a:endParaRPr lang="zh-CN" altLang="en-US" sz="1100" dirty="0"/>
          </a:p>
        </p:txBody>
      </p:sp>
      <p:sp>
        <p:nvSpPr>
          <p:cNvPr id="3" name="文本框 2"/>
          <p:cNvSpPr txBox="1"/>
          <p:nvPr/>
        </p:nvSpPr>
        <p:spPr>
          <a:xfrm>
            <a:off x="6359237" y="1200727"/>
            <a:ext cx="3380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特指</a:t>
            </a:r>
            <a:r>
              <a:rPr lang="en-US" altLang="zh-CN" dirty="0">
                <a:solidFill>
                  <a:srgbClr val="0070C0"/>
                </a:solidFill>
              </a:rPr>
              <a:t>ADD</a:t>
            </a:r>
            <a:r>
              <a:rPr lang="zh-CN" altLang="en-US" dirty="0">
                <a:solidFill>
                  <a:srgbClr val="0070C0"/>
                </a:solidFill>
              </a:rPr>
              <a:t>和</a:t>
            </a:r>
            <a:r>
              <a:rPr lang="en-US" altLang="zh-CN" dirty="0">
                <a:solidFill>
                  <a:srgbClr val="0070C0"/>
                </a:solidFill>
              </a:rPr>
              <a:t>SLT,</a:t>
            </a:r>
            <a:r>
              <a:rPr lang="zh-CN" altLang="en-US" dirty="0">
                <a:solidFill>
                  <a:srgbClr val="0070C0"/>
                </a:solidFill>
              </a:rPr>
              <a:t>用</a:t>
            </a:r>
            <a:r>
              <a:rPr lang="en-US" altLang="zh-CN" dirty="0">
                <a:solidFill>
                  <a:srgbClr val="0070C0"/>
                </a:solidFill>
              </a:rPr>
              <a:t>Aluop</a:t>
            </a:r>
            <a:r>
              <a:rPr lang="zh-CN" altLang="en-US" dirty="0">
                <a:solidFill>
                  <a:srgbClr val="0070C0"/>
                </a:solidFill>
              </a:rPr>
              <a:t>区分</a:t>
            </a: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4904509" y="1513168"/>
            <a:ext cx="1560946" cy="1322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734" y="985367"/>
            <a:ext cx="10668515" cy="538633"/>
          </a:xfrm>
        </p:spPr>
        <p:txBody>
          <a:bodyPr>
            <a:noAutofit/>
          </a:bodyPr>
          <a:lstStyle/>
          <a:p>
            <a:r>
              <a:rPr lang="zh-CN" altLang="en-US" sz="2400">
                <a:effectLst>
                  <a:outerShdw blurRad="622300" dist="50800" dir="5400000" sx="95000" sy="95000" algn="ctr" rotWithShape="0">
                    <a:schemeClr val="accent5">
                      <a:alpha val="43000"/>
                    </a:schemeClr>
                  </a:outerShdw>
                </a:effectLst>
              </a:rPr>
              <a:t>有限状态机</a:t>
            </a:r>
          </a:p>
          <a:p>
            <a:pPr marL="0" indent="0">
              <a:buNone/>
            </a:pPr>
            <a:r>
              <a:rPr lang="en-US" altLang="zh-CN" sz="1400">
                <a:effectLst>
                  <a:outerShdw blurRad="622300" dist="50800" dir="5400000" sx="95000" sy="95000" algn="ctr" rotWithShape="0">
                    <a:schemeClr val="accent5">
                      <a:alpha val="43000"/>
                    </a:schemeClr>
                  </a:outerShdw>
                </a:effectLst>
                <a:latin typeface="Calibri" panose="020F0502020204030204" pitchFamily="34" charset="0"/>
              </a:rPr>
              <a:t>                                             </a:t>
            </a:r>
          </a:p>
        </p:txBody>
      </p:sp>
      <p:pic>
        <p:nvPicPr>
          <p:cNvPr id="7" name="Picture 4" descr="https://gimg2.baidu.com/image_search/src=http%3A%2F%2Fimg2020.cnblogs.com%2Fblog%2F2106403%2F202007%2F2106403-20200730144419512-1094880743.png&amp;refer=http%3A%2F%2Fimg2020.cnblogs.com&amp;app=2002&amp;size=f9999,10000&amp;q=a80&amp;n=0&amp;g=0n&amp;fmt=jpeg?sec=1632728157&amp;t=7ef82b49b0111ed163709405085420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61" y="1385311"/>
            <a:ext cx="11154029" cy="5337542"/>
          </a:xfrm>
          <a:prstGeom prst="rect">
            <a:avLst/>
          </a:prstGeom>
          <a:noFill/>
          <a:effectLst>
            <a:outerShdw blurRad="279400" dist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https://gimg2.baidu.com/image_search/src=http%3A%2F%2Fimg2020.cnblogs.com%2Fblog%2F2106403%2F202007%2F2106403-20200730144419512-1094880743.png&amp;refer=http%3A%2F%2Fimg2020.cnblogs.com&amp;app=2002&amp;size=f9999,10000&amp;q=a80&amp;n=0&amp;g=0n&amp;fmt=jpeg?sec=1632728157&amp;t=7ef82b49b0111ed163709405085420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14" y="1008743"/>
            <a:ext cx="6460355" cy="5704114"/>
          </a:xfrm>
          <a:prstGeom prst="rect">
            <a:avLst/>
          </a:prstGeom>
          <a:noFill/>
          <a:effectLst>
            <a:outerShdw blurRad="279400" dist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6828818" y="1484172"/>
            <a:ext cx="5261582" cy="2462213"/>
          </a:xfrm>
          <a:prstGeom prst="rect">
            <a:avLst/>
          </a:prstGeom>
          <a:solidFill>
            <a:schemeClr val="bg2"/>
          </a:solidFill>
          <a:effectLst>
            <a:outerShdw blurRad="698500" dist="50800" dir="5400000" algn="ctr" rotWithShape="0">
              <a:srgbClr val="000000">
                <a:alpha val="43137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323E32"/>
                </a:solidFill>
                <a:effectLst>
                  <a:outerShdw blurRad="7239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FSM description method: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solidFill>
                  <a:srgbClr val="323E32"/>
                </a:solidFill>
                <a:effectLst>
                  <a:outerShdw blurRad="7239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The status register has 4 bits. S0(0000)…S13</a:t>
            </a:r>
            <a:r>
              <a:rPr lang="zh-CN" altLang="en-US" sz="1600" dirty="0">
                <a:solidFill>
                  <a:srgbClr val="323E32"/>
                </a:solidFill>
                <a:effectLst>
                  <a:outerShdw blurRad="7239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 dirty="0">
                <a:solidFill>
                  <a:srgbClr val="323E32"/>
                </a:solidFill>
                <a:effectLst>
                  <a:outerShdw blurRad="7239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1101</a:t>
            </a:r>
            <a:r>
              <a:rPr lang="zh-CN" altLang="en-US" sz="1600" dirty="0">
                <a:solidFill>
                  <a:srgbClr val="323E32"/>
                </a:solidFill>
                <a:effectLst>
                  <a:outerShdw blurRad="7239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600" dirty="0">
              <a:solidFill>
                <a:srgbClr val="323E32"/>
              </a:solidFill>
              <a:effectLst>
                <a:outerShdw blurRad="723900" dist="50800" dir="5400000" algn="ctr" rotWithShape="0">
                  <a:schemeClr val="accent5">
                    <a:alpha val="43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en-US" altLang="zh-CN" sz="1600" dirty="0">
                <a:solidFill>
                  <a:srgbClr val="323E32"/>
                </a:solidFill>
                <a:effectLst>
                  <a:outerShdw blurRad="7239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Using Moor </a:t>
            </a:r>
            <a:r>
              <a:rPr lang="en-US" altLang="zh-CN" sz="1600" dirty="0" err="1">
                <a:solidFill>
                  <a:srgbClr val="323E32"/>
                </a:solidFill>
                <a:effectLst>
                  <a:outerShdw blurRad="7239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circuit,,designed</a:t>
            </a:r>
            <a:r>
              <a:rPr lang="en-US" altLang="zh-CN" sz="1600" dirty="0">
                <a:solidFill>
                  <a:srgbClr val="323E32"/>
                </a:solidFill>
                <a:effectLst>
                  <a:outerShdw blurRad="7239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two combined logic circuit circuits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solidFill>
                  <a:srgbClr val="323E32"/>
                </a:solidFill>
                <a:effectLst>
                  <a:outerShdw blurRad="7239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FSM conversion circuit: input 4 (current state)+7, output 4bits (secondary state)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solidFill>
                  <a:srgbClr val="323E32"/>
                </a:solidFill>
                <a:effectLst>
                  <a:outerShdw blurRad="7239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State output conversion circuit: input 4 (current state), output 16bits(control signal)</a:t>
            </a:r>
          </a:p>
          <a:p>
            <a:endParaRPr lang="en-US" altLang="zh-CN" sz="1000" dirty="0">
              <a:solidFill>
                <a:srgbClr val="323E32"/>
              </a:solidFill>
              <a:effectLst>
                <a:outerShdw blurRad="723900" dist="50800" dir="5400000" algn="ctr" rotWithShape="0">
                  <a:schemeClr val="accent5">
                    <a:alpha val="43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57613" y="0"/>
            <a:ext cx="6967537" cy="959980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</a:rPr>
              <a:t>多周期微程序</a:t>
            </a:r>
            <a:r>
              <a:rPr lang="en-US" altLang="zh-CN" sz="2400" b="1" dirty="0">
                <a:solidFill>
                  <a:schemeClr val="tx2"/>
                </a:solidFill>
              </a:rPr>
              <a:t>MIPS CPU</a:t>
            </a:r>
            <a:r>
              <a:rPr lang="zh-CN" altLang="en-US" sz="2400" b="1" dirty="0">
                <a:solidFill>
                  <a:schemeClr val="tx2"/>
                </a:solidFill>
              </a:rPr>
              <a:t>设计任务书：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508" y="1061619"/>
            <a:ext cx="11909777" cy="5458178"/>
          </a:xfrm>
          <a:solidFill>
            <a:schemeClr val="bg2"/>
          </a:solidFill>
          <a:effectLst>
            <a:outerShdw blurRad="596900" dist="50800" dir="5400000" algn="ctr" rotWithShape="0">
              <a:srgbClr val="000000">
                <a:alpha val="43137"/>
              </a:srgbClr>
            </a:outerShdw>
          </a:effectLst>
        </p:spPr>
        <p:txBody>
          <a:bodyPr>
            <a:normAutofit/>
          </a:bodyPr>
          <a:lstStyle/>
          <a:p>
            <a:pPr marL="0" lvl="0" indent="0" algn="l" fontAlgn="auto">
              <a:lnSpc>
                <a:spcPct val="120000"/>
              </a:lnSpc>
              <a:buNone/>
            </a:pPr>
            <a:r>
              <a:rPr lang="en-US" altLang="zh-CN" sz="1800" dirty="0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1.Master the data path of each instruction (8 instructions) in a multi cycle MIPS CPU;</a:t>
            </a:r>
            <a:endParaRPr lang="zh-CN" altLang="zh-CN" sz="1800" dirty="0">
              <a:effectLst>
                <a:outerShdw blurRad="723900" dist="50800" dir="5400000" algn="ctr" rotWithShape="0">
                  <a:srgbClr val="000000">
                    <a:alpha val="43137"/>
                  </a:srgbClr>
                </a:outerShdw>
              </a:effectLst>
            </a:endParaRPr>
          </a:p>
          <a:p>
            <a:pPr marL="144145" lvl="0" indent="0" fontAlgn="auto">
              <a:lnSpc>
                <a:spcPct val="120000"/>
              </a:lnSpc>
            </a:pPr>
            <a:r>
              <a:rPr lang="en-US" altLang="zh-CN" sz="2000" dirty="0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Master the basic principles of multi cycle MIPS CPU (8 instructions) and design hardwired controller;</a:t>
            </a:r>
          </a:p>
          <a:p>
            <a:pPr marL="144145" lv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Design and implement a multi cycle microprogram MIPS CPU with 8 instructions, including hardwired controller design, and CPU data path circuit </a:t>
            </a:r>
            <a:r>
              <a:rPr lang="en-US" altLang="zh-CN" sz="2000" dirty="0" err="1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design,Verificate</a:t>
            </a:r>
            <a:r>
              <a:rPr lang="en-US" altLang="zh-CN" sz="2000" dirty="0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 on TOUGE platform.</a:t>
            </a:r>
          </a:p>
          <a:p>
            <a:pPr marL="144145" lvl="0" indent="0" fontAlgn="auto">
              <a:lnSpc>
                <a:spcPct val="120000"/>
              </a:lnSpc>
            </a:pPr>
            <a:r>
              <a:rPr lang="en-US" altLang="zh-CN" sz="2000" dirty="0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Test and run </a:t>
            </a:r>
            <a:r>
              <a:rPr lang="en-US" altLang="zh-CN" sz="2000" dirty="0" err="1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sort.hex</a:t>
            </a:r>
            <a:endParaRPr lang="en-US" altLang="zh-CN" sz="2000" dirty="0">
              <a:effectLst>
                <a:outerShdw blurRad="723900" dist="50800" dir="5400000" algn="ctr" rotWithShape="0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2000" dirty="0"/>
              <a:t>2. Implement verification SUB instructions</a:t>
            </a:r>
          </a:p>
          <a:p>
            <a:pPr marL="0" indent="0">
              <a:buNone/>
            </a:pPr>
            <a:r>
              <a:rPr lang="en-US" altLang="zh-CN" sz="2000" dirty="0"/>
              <a:t>3. Implement verification </a:t>
            </a:r>
            <a:r>
              <a:rPr lang="en-US" altLang="zh-CN" sz="2000" dirty="0" err="1"/>
              <a:t>andi</a:t>
            </a:r>
            <a:r>
              <a:rPr lang="en-US" altLang="zh-CN" sz="2000" dirty="0"/>
              <a:t> instructions</a:t>
            </a:r>
          </a:p>
          <a:p>
            <a:pPr marL="0" indent="0">
              <a:buNone/>
            </a:pPr>
            <a:r>
              <a:rPr lang="en-US" altLang="zh-CN" sz="2000" dirty="0"/>
              <a:t>4. Implement verification j or jal instruction</a:t>
            </a:r>
          </a:p>
          <a:p>
            <a:pPr marL="0" algn="l">
              <a:buClrTx/>
              <a:buSzTx/>
              <a:buNone/>
            </a:pPr>
            <a:r>
              <a:rPr lang="en-US" altLang="zh-CN" sz="2000" dirty="0"/>
              <a:t>5.Learn the principle of universal tables</a:t>
            </a:r>
            <a:r>
              <a:rPr lang="zh-CN" altLang="en-US" sz="2000" dirty="0"/>
              <a:t>，</a:t>
            </a:r>
            <a:r>
              <a:rPr lang="en-US" altLang="zh-CN" sz="2000" dirty="0"/>
              <a:t>write the expressions of the output pins.</a:t>
            </a:r>
          </a:p>
          <a:p>
            <a:pPr marL="0" algn="l">
              <a:buClrTx/>
              <a:buSzTx/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400" dirty="0">
              <a:sym typeface="+mn-ea"/>
            </a:endParaRP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Optional question：Other R、I、J type instructions .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000" dirty="0">
              <a:effectLst>
                <a:outerShdw blurRad="723900" dist="50800" dir="5400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4089" y="-105289"/>
            <a:ext cx="7496587" cy="115359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Design FSM output circuit</a:t>
            </a:r>
            <a:br>
              <a:rPr lang="zh-CN" altLang="en-US" sz="2800" b="1" dirty="0">
                <a:solidFill>
                  <a:srgbClr val="FF0000"/>
                </a:solidFill>
              </a:rPr>
            </a:br>
            <a:r>
              <a:rPr lang="en-US" altLang="zh-CN" sz="2800" b="1" dirty="0">
                <a:solidFill>
                  <a:srgbClr val="FF0000"/>
                </a:solidFill>
              </a:rPr>
              <a:t>Using ROM(Control Memory)</a:t>
            </a:r>
          </a:p>
        </p:txBody>
      </p:sp>
      <p:sp>
        <p:nvSpPr>
          <p:cNvPr id="5" name="椭圆 4"/>
          <p:cNvSpPr/>
          <p:nvPr/>
        </p:nvSpPr>
        <p:spPr>
          <a:xfrm>
            <a:off x="9347521" y="1470361"/>
            <a:ext cx="497711" cy="1134319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324354" y="1285296"/>
            <a:ext cx="1944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位状态寄存器的值相当于</a:t>
            </a:r>
            <a:r>
              <a:rPr lang="en-US" altLang="zh-CN" dirty="0">
                <a:solidFill>
                  <a:srgbClr val="FF0000"/>
                </a:solidFill>
              </a:rPr>
              <a:t>S0..S13</a:t>
            </a:r>
            <a:r>
              <a:rPr lang="zh-CN" altLang="en-US" dirty="0">
                <a:solidFill>
                  <a:srgbClr val="FF0000"/>
                </a:solidFill>
              </a:rPr>
              <a:t>共</a:t>
            </a:r>
            <a:r>
              <a:rPr lang="en-US" altLang="zh-CN" dirty="0">
                <a:solidFill>
                  <a:srgbClr val="FF0000"/>
                </a:solidFill>
              </a:rPr>
              <a:t>14</a:t>
            </a:r>
            <a:r>
              <a:rPr lang="zh-CN" altLang="en-US" dirty="0">
                <a:solidFill>
                  <a:srgbClr val="FF0000"/>
                </a:solidFill>
              </a:rPr>
              <a:t>种状态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4896091" y="2208626"/>
            <a:ext cx="1006998" cy="1356377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096000" y="3303636"/>
            <a:ext cx="11729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控制存储器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828801" y="1470361"/>
            <a:ext cx="128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核心电路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2" y="999067"/>
            <a:ext cx="11734251" cy="577353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84667" y="999067"/>
            <a:ext cx="11743266" cy="297180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 12"/>
          <p:cNvSpPr/>
          <p:nvPr/>
        </p:nvSpPr>
        <p:spPr>
          <a:xfrm>
            <a:off x="6146290" y="3970867"/>
            <a:ext cx="5681643" cy="279272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 13"/>
          <p:cNvSpPr/>
          <p:nvPr/>
        </p:nvSpPr>
        <p:spPr>
          <a:xfrm>
            <a:off x="73535" y="4017166"/>
            <a:ext cx="6022465" cy="275543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6345226" y="1935451"/>
            <a:ext cx="12065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/>
              <a:t>ROM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318512" y="3220975"/>
            <a:ext cx="2297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FSM Conversion Circuit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23236" y="2953159"/>
            <a:ext cx="2122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FSM output circuit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59714" y="1944157"/>
            <a:ext cx="1762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STATE Register</a:t>
            </a:r>
            <a:endParaRPr lang="zh-CN" altLang="en-US" b="1" dirty="0"/>
          </a:p>
        </p:txBody>
      </p:sp>
      <p:pic>
        <p:nvPicPr>
          <p:cNvPr id="19" name="内容占位符 18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44920" y="4067175"/>
            <a:ext cx="5400040" cy="252476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2890" y="4067175"/>
            <a:ext cx="5721350" cy="25533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3602" y="-86566"/>
            <a:ext cx="6326869" cy="132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Hardwired controller (you can removing </a:t>
            </a:r>
            <a:br>
              <a:rPr lang="en-US" altLang="zh-CN" sz="2400" b="1" dirty="0">
                <a:solidFill>
                  <a:srgbClr val="FF0000"/>
                </a:solidFill>
              </a:rPr>
            </a:br>
            <a:r>
              <a:rPr lang="en-US" altLang="zh-CN" sz="2400" b="1" dirty="0">
                <a:solidFill>
                  <a:srgbClr val="FF0000"/>
                </a:solidFill>
              </a:rPr>
              <a:t>the lower 5 bits of control memory)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4" y="1126664"/>
            <a:ext cx="12028571" cy="573133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9168114" y="1470361"/>
            <a:ext cx="497711" cy="1134319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993341" y="1266910"/>
            <a:ext cx="2340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4BIT STATE Register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STATE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0000…1101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4896091" y="2208626"/>
            <a:ext cx="1006998" cy="1356377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903089" y="3360717"/>
            <a:ext cx="11729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控制存储器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599602" y="1291627"/>
            <a:ext cx="1357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Conversion Circuit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 flipV="1">
            <a:off x="6417334" y="4711090"/>
            <a:ext cx="266494" cy="1290568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550488" y="6162895"/>
            <a:ext cx="2000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FSM output circuit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923" y="4800508"/>
            <a:ext cx="3084575" cy="1598673"/>
          </a:xfrm>
          <a:prstGeom prst="rect">
            <a:avLst/>
          </a:prstGeom>
        </p:spPr>
      </p:pic>
      <p:graphicFrame>
        <p:nvGraphicFramePr>
          <p:cNvPr id="15" name="内容占位符 4"/>
          <p:cNvGraphicFramePr/>
          <p:nvPr/>
        </p:nvGraphicFramePr>
        <p:xfrm>
          <a:off x="10352863" y="1191539"/>
          <a:ext cx="1757421" cy="36231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5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μI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STATE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ADDR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IF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4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ID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4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4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LW2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4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LW3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4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4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SW2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4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R</a:t>
                      </a:r>
                      <a:r>
                        <a:rPr lang="zh-CN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zh-CN" sz="1100" u="none" strike="noStrike" dirty="0">
                          <a:effectLst/>
                        </a:rPr>
                        <a:t>TYPE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4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R</a:t>
                      </a:r>
                      <a:r>
                        <a:rPr lang="zh-CN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zh-CN" sz="1100" u="none" strike="noStrike" dirty="0">
                          <a:effectLst/>
                        </a:rPr>
                        <a:t>TYPE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4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Beq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34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34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ADDI1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34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ADDI2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84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SYSCALL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3419">
                <a:tc gridSpan="3"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83305" y="232923"/>
            <a:ext cx="8353364" cy="571309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Design Conversion Circuits (For rookie)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5261" y="1027906"/>
            <a:ext cx="7038095" cy="18857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2" y="2913620"/>
            <a:ext cx="11085714" cy="39443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20" y="1110286"/>
            <a:ext cx="11273231" cy="561708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503930" y="311785"/>
            <a:ext cx="852614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Design Conversion Circuits Using Universal Tables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74792" y="-76161"/>
            <a:ext cx="6343947" cy="1170818"/>
          </a:xfrm>
        </p:spPr>
        <p:txBody>
          <a:bodyPr/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Design FSM output circuit</a:t>
            </a:r>
            <a:br>
              <a:rPr lang="zh-CN" altLang="en-US" sz="2800" b="1" dirty="0">
                <a:solidFill>
                  <a:srgbClr val="FF0000"/>
                </a:solidFill>
              </a:rPr>
            </a:br>
            <a:r>
              <a:rPr lang="en-US" altLang="zh-CN" sz="2800" b="1" dirty="0">
                <a:solidFill>
                  <a:srgbClr val="FF0000"/>
                </a:solidFill>
              </a:rPr>
              <a:t>Using Universal Tables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1008"/>
            <a:ext cx="8328074" cy="5816991"/>
          </a:xfrm>
        </p:spPr>
      </p:pic>
      <p:sp>
        <p:nvSpPr>
          <p:cNvPr id="7" name="文本框 6"/>
          <p:cNvSpPr txBox="1"/>
          <p:nvPr/>
        </p:nvSpPr>
        <p:spPr>
          <a:xfrm>
            <a:off x="4183207" y="2042175"/>
            <a:ext cx="108357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转换电路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83207" y="2366571"/>
            <a:ext cx="1336374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4BIT IN</a:t>
            </a:r>
            <a:r>
              <a:rPr lang="zh-CN" altLang="en-US" dirty="0"/>
              <a:t>，</a:t>
            </a:r>
            <a:r>
              <a:rPr lang="en-US" altLang="zh-CN" dirty="0"/>
              <a:t>16BIT OUT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9622302" y="1041009"/>
            <a:ext cx="703384" cy="407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/>
        </p:nvSpPr>
        <p:spPr>
          <a:xfrm>
            <a:off x="9323070" y="1062963"/>
            <a:ext cx="1684020" cy="979212"/>
          </a:xfrm>
          <a:custGeom>
            <a:avLst/>
            <a:gdLst>
              <a:gd name="connsiteX0" fmla="*/ 0 w 1684020"/>
              <a:gd name="connsiteY0" fmla="*/ 3837 h 979212"/>
              <a:gd name="connsiteX1" fmla="*/ 0 w 1684020"/>
              <a:gd name="connsiteY1" fmla="*/ 3837 h 979212"/>
              <a:gd name="connsiteX2" fmla="*/ 11430 w 1684020"/>
              <a:gd name="connsiteY2" fmla="*/ 102897 h 979212"/>
              <a:gd name="connsiteX3" fmla="*/ 19050 w 1684020"/>
              <a:gd name="connsiteY3" fmla="*/ 133377 h 979212"/>
              <a:gd name="connsiteX4" fmla="*/ 22860 w 1684020"/>
              <a:gd name="connsiteY4" fmla="*/ 350547 h 979212"/>
              <a:gd name="connsiteX5" fmla="*/ 26670 w 1684020"/>
              <a:gd name="connsiteY5" fmla="*/ 628677 h 979212"/>
              <a:gd name="connsiteX6" fmla="*/ 34290 w 1684020"/>
              <a:gd name="connsiteY6" fmla="*/ 640107 h 979212"/>
              <a:gd name="connsiteX7" fmla="*/ 41910 w 1684020"/>
              <a:gd name="connsiteY7" fmla="*/ 662967 h 979212"/>
              <a:gd name="connsiteX8" fmla="*/ 57150 w 1684020"/>
              <a:gd name="connsiteY8" fmla="*/ 685827 h 979212"/>
              <a:gd name="connsiteX9" fmla="*/ 60960 w 1684020"/>
              <a:gd name="connsiteY9" fmla="*/ 697257 h 979212"/>
              <a:gd name="connsiteX10" fmla="*/ 64770 w 1684020"/>
              <a:gd name="connsiteY10" fmla="*/ 720117 h 979212"/>
              <a:gd name="connsiteX11" fmla="*/ 80010 w 1684020"/>
              <a:gd name="connsiteY11" fmla="*/ 723927 h 979212"/>
              <a:gd name="connsiteX12" fmla="*/ 91440 w 1684020"/>
              <a:gd name="connsiteY12" fmla="*/ 731547 h 979212"/>
              <a:gd name="connsiteX13" fmla="*/ 133350 w 1684020"/>
              <a:gd name="connsiteY13" fmla="*/ 739167 h 979212"/>
              <a:gd name="connsiteX14" fmla="*/ 144780 w 1684020"/>
              <a:gd name="connsiteY14" fmla="*/ 742977 h 979212"/>
              <a:gd name="connsiteX15" fmla="*/ 304800 w 1684020"/>
              <a:gd name="connsiteY15" fmla="*/ 750597 h 979212"/>
              <a:gd name="connsiteX16" fmla="*/ 358140 w 1684020"/>
              <a:gd name="connsiteY16" fmla="*/ 758217 h 979212"/>
              <a:gd name="connsiteX17" fmla="*/ 373380 w 1684020"/>
              <a:gd name="connsiteY17" fmla="*/ 769647 h 979212"/>
              <a:gd name="connsiteX18" fmla="*/ 396240 w 1684020"/>
              <a:gd name="connsiteY18" fmla="*/ 777267 h 979212"/>
              <a:gd name="connsiteX19" fmla="*/ 422910 w 1684020"/>
              <a:gd name="connsiteY19" fmla="*/ 784887 h 979212"/>
              <a:gd name="connsiteX20" fmla="*/ 457200 w 1684020"/>
              <a:gd name="connsiteY20" fmla="*/ 796317 h 979212"/>
              <a:gd name="connsiteX21" fmla="*/ 491490 w 1684020"/>
              <a:gd name="connsiteY21" fmla="*/ 807747 h 979212"/>
              <a:gd name="connsiteX22" fmla="*/ 525780 w 1684020"/>
              <a:gd name="connsiteY22" fmla="*/ 815367 h 979212"/>
              <a:gd name="connsiteX23" fmla="*/ 537210 w 1684020"/>
              <a:gd name="connsiteY23" fmla="*/ 819177 h 979212"/>
              <a:gd name="connsiteX24" fmla="*/ 575310 w 1684020"/>
              <a:gd name="connsiteY24" fmla="*/ 830607 h 979212"/>
              <a:gd name="connsiteX25" fmla="*/ 586740 w 1684020"/>
              <a:gd name="connsiteY25" fmla="*/ 834417 h 979212"/>
              <a:gd name="connsiteX26" fmla="*/ 613410 w 1684020"/>
              <a:gd name="connsiteY26" fmla="*/ 845847 h 979212"/>
              <a:gd name="connsiteX27" fmla="*/ 636270 w 1684020"/>
              <a:gd name="connsiteY27" fmla="*/ 861087 h 979212"/>
              <a:gd name="connsiteX28" fmla="*/ 659130 w 1684020"/>
              <a:gd name="connsiteY28" fmla="*/ 876327 h 979212"/>
              <a:gd name="connsiteX29" fmla="*/ 678180 w 1684020"/>
              <a:gd name="connsiteY29" fmla="*/ 887757 h 979212"/>
              <a:gd name="connsiteX30" fmla="*/ 712470 w 1684020"/>
              <a:gd name="connsiteY30" fmla="*/ 906807 h 979212"/>
              <a:gd name="connsiteX31" fmla="*/ 739140 w 1684020"/>
              <a:gd name="connsiteY31" fmla="*/ 922047 h 979212"/>
              <a:gd name="connsiteX32" fmla="*/ 769620 w 1684020"/>
              <a:gd name="connsiteY32" fmla="*/ 937287 h 979212"/>
              <a:gd name="connsiteX33" fmla="*/ 796290 w 1684020"/>
              <a:gd name="connsiteY33" fmla="*/ 952527 h 979212"/>
              <a:gd name="connsiteX34" fmla="*/ 811530 w 1684020"/>
              <a:gd name="connsiteY34" fmla="*/ 960147 h 979212"/>
              <a:gd name="connsiteX35" fmla="*/ 880110 w 1684020"/>
              <a:gd name="connsiteY35" fmla="*/ 963957 h 979212"/>
              <a:gd name="connsiteX36" fmla="*/ 952500 w 1684020"/>
              <a:gd name="connsiteY36" fmla="*/ 971577 h 979212"/>
              <a:gd name="connsiteX37" fmla="*/ 1005840 w 1684020"/>
              <a:gd name="connsiteY37" fmla="*/ 979197 h 979212"/>
              <a:gd name="connsiteX38" fmla="*/ 1337310 w 1684020"/>
              <a:gd name="connsiteY38" fmla="*/ 971577 h 979212"/>
              <a:gd name="connsiteX39" fmla="*/ 1352550 w 1684020"/>
              <a:gd name="connsiteY39" fmla="*/ 963957 h 979212"/>
              <a:gd name="connsiteX40" fmla="*/ 1383030 w 1684020"/>
              <a:gd name="connsiteY40" fmla="*/ 944907 h 979212"/>
              <a:gd name="connsiteX41" fmla="*/ 1413510 w 1684020"/>
              <a:gd name="connsiteY41" fmla="*/ 937287 h 979212"/>
              <a:gd name="connsiteX42" fmla="*/ 1447800 w 1684020"/>
              <a:gd name="connsiteY42" fmla="*/ 925857 h 979212"/>
              <a:gd name="connsiteX43" fmla="*/ 1504950 w 1684020"/>
              <a:gd name="connsiteY43" fmla="*/ 914427 h 979212"/>
              <a:gd name="connsiteX44" fmla="*/ 1535430 w 1684020"/>
              <a:gd name="connsiteY44" fmla="*/ 902997 h 979212"/>
              <a:gd name="connsiteX45" fmla="*/ 1558290 w 1684020"/>
              <a:gd name="connsiteY45" fmla="*/ 891567 h 979212"/>
              <a:gd name="connsiteX46" fmla="*/ 1577340 w 1684020"/>
              <a:gd name="connsiteY46" fmla="*/ 880137 h 979212"/>
              <a:gd name="connsiteX47" fmla="*/ 1604010 w 1684020"/>
              <a:gd name="connsiteY47" fmla="*/ 872517 h 979212"/>
              <a:gd name="connsiteX48" fmla="*/ 1626870 w 1684020"/>
              <a:gd name="connsiteY48" fmla="*/ 861087 h 979212"/>
              <a:gd name="connsiteX49" fmla="*/ 1668780 w 1684020"/>
              <a:gd name="connsiteY49" fmla="*/ 849657 h 979212"/>
              <a:gd name="connsiteX50" fmla="*/ 1680210 w 1684020"/>
              <a:gd name="connsiteY50" fmla="*/ 803937 h 979212"/>
              <a:gd name="connsiteX51" fmla="*/ 1684020 w 1684020"/>
              <a:gd name="connsiteY51" fmla="*/ 739167 h 979212"/>
              <a:gd name="connsiteX52" fmla="*/ 1668780 w 1684020"/>
              <a:gd name="connsiteY52" fmla="*/ 636297 h 979212"/>
              <a:gd name="connsiteX53" fmla="*/ 1661160 w 1684020"/>
              <a:gd name="connsiteY53" fmla="*/ 621057 h 979212"/>
              <a:gd name="connsiteX54" fmla="*/ 1634490 w 1684020"/>
              <a:gd name="connsiteY54" fmla="*/ 586767 h 979212"/>
              <a:gd name="connsiteX55" fmla="*/ 1615440 w 1684020"/>
              <a:gd name="connsiteY55" fmla="*/ 563907 h 979212"/>
              <a:gd name="connsiteX56" fmla="*/ 1607820 w 1684020"/>
              <a:gd name="connsiteY56" fmla="*/ 548667 h 979212"/>
              <a:gd name="connsiteX57" fmla="*/ 1581150 w 1684020"/>
              <a:gd name="connsiteY57" fmla="*/ 521997 h 979212"/>
              <a:gd name="connsiteX58" fmla="*/ 1562100 w 1684020"/>
              <a:gd name="connsiteY58" fmla="*/ 499137 h 979212"/>
              <a:gd name="connsiteX59" fmla="*/ 1550670 w 1684020"/>
              <a:gd name="connsiteY59" fmla="*/ 483897 h 979212"/>
              <a:gd name="connsiteX60" fmla="*/ 1524000 w 1684020"/>
              <a:gd name="connsiteY60" fmla="*/ 461037 h 979212"/>
              <a:gd name="connsiteX61" fmla="*/ 1512570 w 1684020"/>
              <a:gd name="connsiteY61" fmla="*/ 449607 h 979212"/>
              <a:gd name="connsiteX62" fmla="*/ 1497330 w 1684020"/>
              <a:gd name="connsiteY62" fmla="*/ 445797 h 979212"/>
              <a:gd name="connsiteX63" fmla="*/ 1478280 w 1684020"/>
              <a:gd name="connsiteY63" fmla="*/ 422937 h 979212"/>
              <a:gd name="connsiteX64" fmla="*/ 1466850 w 1684020"/>
              <a:gd name="connsiteY64" fmla="*/ 415317 h 979212"/>
              <a:gd name="connsiteX65" fmla="*/ 1428750 w 1684020"/>
              <a:gd name="connsiteY65" fmla="*/ 384837 h 979212"/>
              <a:gd name="connsiteX66" fmla="*/ 1409700 w 1684020"/>
              <a:gd name="connsiteY66" fmla="*/ 369597 h 979212"/>
              <a:gd name="connsiteX67" fmla="*/ 1398270 w 1684020"/>
              <a:gd name="connsiteY67" fmla="*/ 365787 h 979212"/>
              <a:gd name="connsiteX68" fmla="*/ 1375410 w 1684020"/>
              <a:gd name="connsiteY68" fmla="*/ 350547 h 979212"/>
              <a:gd name="connsiteX69" fmla="*/ 1363980 w 1684020"/>
              <a:gd name="connsiteY69" fmla="*/ 342927 h 979212"/>
              <a:gd name="connsiteX70" fmla="*/ 1352550 w 1684020"/>
              <a:gd name="connsiteY70" fmla="*/ 335307 h 979212"/>
              <a:gd name="connsiteX71" fmla="*/ 1314450 w 1684020"/>
              <a:gd name="connsiteY71" fmla="*/ 320067 h 979212"/>
              <a:gd name="connsiteX72" fmla="*/ 1295400 w 1684020"/>
              <a:gd name="connsiteY72" fmla="*/ 312447 h 979212"/>
              <a:gd name="connsiteX73" fmla="*/ 1264920 w 1684020"/>
              <a:gd name="connsiteY73" fmla="*/ 289587 h 979212"/>
              <a:gd name="connsiteX74" fmla="*/ 1249680 w 1684020"/>
              <a:gd name="connsiteY74" fmla="*/ 281967 h 979212"/>
              <a:gd name="connsiteX75" fmla="*/ 1230630 w 1684020"/>
              <a:gd name="connsiteY75" fmla="*/ 266727 h 979212"/>
              <a:gd name="connsiteX76" fmla="*/ 1203960 w 1684020"/>
              <a:gd name="connsiteY76" fmla="*/ 259107 h 979212"/>
              <a:gd name="connsiteX77" fmla="*/ 1143000 w 1684020"/>
              <a:gd name="connsiteY77" fmla="*/ 232437 h 979212"/>
              <a:gd name="connsiteX78" fmla="*/ 1120140 w 1684020"/>
              <a:gd name="connsiteY78" fmla="*/ 224817 h 979212"/>
              <a:gd name="connsiteX79" fmla="*/ 1089660 w 1684020"/>
              <a:gd name="connsiteY79" fmla="*/ 209577 h 979212"/>
              <a:gd name="connsiteX80" fmla="*/ 1062990 w 1684020"/>
              <a:gd name="connsiteY80" fmla="*/ 198147 h 979212"/>
              <a:gd name="connsiteX81" fmla="*/ 1047750 w 1684020"/>
              <a:gd name="connsiteY81" fmla="*/ 190527 h 979212"/>
              <a:gd name="connsiteX82" fmla="*/ 1036320 w 1684020"/>
              <a:gd name="connsiteY82" fmla="*/ 186717 h 979212"/>
              <a:gd name="connsiteX83" fmla="*/ 1021080 w 1684020"/>
              <a:gd name="connsiteY83" fmla="*/ 179097 h 979212"/>
              <a:gd name="connsiteX84" fmla="*/ 998220 w 1684020"/>
              <a:gd name="connsiteY84" fmla="*/ 171477 h 979212"/>
              <a:gd name="connsiteX85" fmla="*/ 967740 w 1684020"/>
              <a:gd name="connsiteY85" fmla="*/ 156237 h 979212"/>
              <a:gd name="connsiteX86" fmla="*/ 933450 w 1684020"/>
              <a:gd name="connsiteY86" fmla="*/ 144807 h 979212"/>
              <a:gd name="connsiteX87" fmla="*/ 910590 w 1684020"/>
              <a:gd name="connsiteY87" fmla="*/ 133377 h 979212"/>
              <a:gd name="connsiteX88" fmla="*/ 895350 w 1684020"/>
              <a:gd name="connsiteY88" fmla="*/ 129567 h 979212"/>
              <a:gd name="connsiteX89" fmla="*/ 834390 w 1684020"/>
              <a:gd name="connsiteY89" fmla="*/ 121947 h 979212"/>
              <a:gd name="connsiteX90" fmla="*/ 781050 w 1684020"/>
              <a:gd name="connsiteY90" fmla="*/ 110517 h 979212"/>
              <a:gd name="connsiteX91" fmla="*/ 720090 w 1684020"/>
              <a:gd name="connsiteY91" fmla="*/ 99087 h 979212"/>
              <a:gd name="connsiteX92" fmla="*/ 708660 w 1684020"/>
              <a:gd name="connsiteY92" fmla="*/ 91467 h 979212"/>
              <a:gd name="connsiteX93" fmla="*/ 621030 w 1684020"/>
              <a:gd name="connsiteY93" fmla="*/ 68607 h 979212"/>
              <a:gd name="connsiteX94" fmla="*/ 605790 w 1684020"/>
              <a:gd name="connsiteY94" fmla="*/ 64797 h 979212"/>
              <a:gd name="connsiteX95" fmla="*/ 571500 w 1684020"/>
              <a:gd name="connsiteY95" fmla="*/ 53367 h 979212"/>
              <a:gd name="connsiteX96" fmla="*/ 533400 w 1684020"/>
              <a:gd name="connsiteY96" fmla="*/ 34317 h 979212"/>
              <a:gd name="connsiteX97" fmla="*/ 518160 w 1684020"/>
              <a:gd name="connsiteY97" fmla="*/ 22887 h 979212"/>
              <a:gd name="connsiteX98" fmla="*/ 499110 w 1684020"/>
              <a:gd name="connsiteY98" fmla="*/ 19077 h 979212"/>
              <a:gd name="connsiteX99" fmla="*/ 487680 w 1684020"/>
              <a:gd name="connsiteY99" fmla="*/ 15267 h 979212"/>
              <a:gd name="connsiteX100" fmla="*/ 430530 w 1684020"/>
              <a:gd name="connsiteY100" fmla="*/ 7647 h 979212"/>
              <a:gd name="connsiteX101" fmla="*/ 365760 w 1684020"/>
              <a:gd name="connsiteY101" fmla="*/ 27 h 979212"/>
              <a:gd name="connsiteX102" fmla="*/ 129540 w 1684020"/>
              <a:gd name="connsiteY102" fmla="*/ 3837 h 979212"/>
              <a:gd name="connsiteX103" fmla="*/ 102870 w 1684020"/>
              <a:gd name="connsiteY103" fmla="*/ 7647 h 979212"/>
              <a:gd name="connsiteX104" fmla="*/ 72390 w 1684020"/>
              <a:gd name="connsiteY104" fmla="*/ 15267 h 979212"/>
              <a:gd name="connsiteX105" fmla="*/ 0 w 1684020"/>
              <a:gd name="connsiteY105" fmla="*/ 3837 h 97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1684020" h="979212">
                <a:moveTo>
                  <a:pt x="0" y="3837"/>
                </a:moveTo>
                <a:lnTo>
                  <a:pt x="0" y="3837"/>
                </a:lnTo>
                <a:cubicBezTo>
                  <a:pt x="17817" y="84012"/>
                  <a:pt x="-3236" y="-19319"/>
                  <a:pt x="11430" y="102897"/>
                </a:cubicBezTo>
                <a:cubicBezTo>
                  <a:pt x="12678" y="113295"/>
                  <a:pt x="19050" y="133377"/>
                  <a:pt x="19050" y="133377"/>
                </a:cubicBezTo>
                <a:cubicBezTo>
                  <a:pt x="20320" y="205767"/>
                  <a:pt x="21746" y="278154"/>
                  <a:pt x="22860" y="350547"/>
                </a:cubicBezTo>
                <a:cubicBezTo>
                  <a:pt x="24286" y="443255"/>
                  <a:pt x="23013" y="536030"/>
                  <a:pt x="26670" y="628677"/>
                </a:cubicBezTo>
                <a:cubicBezTo>
                  <a:pt x="26851" y="633252"/>
                  <a:pt x="32430" y="635923"/>
                  <a:pt x="34290" y="640107"/>
                </a:cubicBezTo>
                <a:cubicBezTo>
                  <a:pt x="37552" y="647447"/>
                  <a:pt x="37455" y="656284"/>
                  <a:pt x="41910" y="662967"/>
                </a:cubicBezTo>
                <a:cubicBezTo>
                  <a:pt x="46990" y="670587"/>
                  <a:pt x="54254" y="677139"/>
                  <a:pt x="57150" y="685827"/>
                </a:cubicBezTo>
                <a:cubicBezTo>
                  <a:pt x="58420" y="689637"/>
                  <a:pt x="60089" y="693337"/>
                  <a:pt x="60960" y="697257"/>
                </a:cubicBezTo>
                <a:cubicBezTo>
                  <a:pt x="62636" y="704798"/>
                  <a:pt x="60280" y="713831"/>
                  <a:pt x="64770" y="720117"/>
                </a:cubicBezTo>
                <a:cubicBezTo>
                  <a:pt x="67814" y="724378"/>
                  <a:pt x="74930" y="722657"/>
                  <a:pt x="80010" y="723927"/>
                </a:cubicBezTo>
                <a:cubicBezTo>
                  <a:pt x="83820" y="726467"/>
                  <a:pt x="87344" y="729499"/>
                  <a:pt x="91440" y="731547"/>
                </a:cubicBezTo>
                <a:cubicBezTo>
                  <a:pt x="103186" y="737420"/>
                  <a:pt x="122843" y="737854"/>
                  <a:pt x="133350" y="739167"/>
                </a:cubicBezTo>
                <a:cubicBezTo>
                  <a:pt x="137160" y="740437"/>
                  <a:pt x="140842" y="742189"/>
                  <a:pt x="144780" y="742977"/>
                </a:cubicBezTo>
                <a:cubicBezTo>
                  <a:pt x="191907" y="752402"/>
                  <a:pt x="279156" y="749864"/>
                  <a:pt x="304800" y="750597"/>
                </a:cubicBezTo>
                <a:cubicBezTo>
                  <a:pt x="306030" y="750720"/>
                  <a:pt x="347782" y="753038"/>
                  <a:pt x="358140" y="758217"/>
                </a:cubicBezTo>
                <a:cubicBezTo>
                  <a:pt x="363820" y="761057"/>
                  <a:pt x="367700" y="766807"/>
                  <a:pt x="373380" y="769647"/>
                </a:cubicBezTo>
                <a:cubicBezTo>
                  <a:pt x="380564" y="773239"/>
                  <a:pt x="388620" y="774727"/>
                  <a:pt x="396240" y="777267"/>
                </a:cubicBezTo>
                <a:cubicBezTo>
                  <a:pt x="412638" y="782733"/>
                  <a:pt x="403774" y="780103"/>
                  <a:pt x="422910" y="784887"/>
                </a:cubicBezTo>
                <a:cubicBezTo>
                  <a:pt x="444825" y="799497"/>
                  <a:pt x="422979" y="787191"/>
                  <a:pt x="457200" y="796317"/>
                </a:cubicBezTo>
                <a:cubicBezTo>
                  <a:pt x="468841" y="799421"/>
                  <a:pt x="479676" y="805384"/>
                  <a:pt x="491490" y="807747"/>
                </a:cubicBezTo>
                <a:cubicBezTo>
                  <a:pt x="504584" y="810366"/>
                  <a:pt x="513225" y="811780"/>
                  <a:pt x="525780" y="815367"/>
                </a:cubicBezTo>
                <a:cubicBezTo>
                  <a:pt x="529642" y="816470"/>
                  <a:pt x="533348" y="818074"/>
                  <a:pt x="537210" y="819177"/>
                </a:cubicBezTo>
                <a:cubicBezTo>
                  <a:pt x="577517" y="830693"/>
                  <a:pt x="520985" y="812499"/>
                  <a:pt x="575310" y="830607"/>
                </a:cubicBezTo>
                <a:cubicBezTo>
                  <a:pt x="579120" y="831877"/>
                  <a:pt x="583398" y="832189"/>
                  <a:pt x="586740" y="834417"/>
                </a:cubicBezTo>
                <a:cubicBezTo>
                  <a:pt x="602527" y="844942"/>
                  <a:pt x="593728" y="840926"/>
                  <a:pt x="613410" y="845847"/>
                </a:cubicBezTo>
                <a:cubicBezTo>
                  <a:pt x="638776" y="871213"/>
                  <a:pt x="611458" y="847302"/>
                  <a:pt x="636270" y="861087"/>
                </a:cubicBezTo>
                <a:cubicBezTo>
                  <a:pt x="644276" y="865535"/>
                  <a:pt x="651404" y="871410"/>
                  <a:pt x="659130" y="876327"/>
                </a:cubicBezTo>
                <a:cubicBezTo>
                  <a:pt x="665378" y="880303"/>
                  <a:pt x="672018" y="883649"/>
                  <a:pt x="678180" y="887757"/>
                </a:cubicBezTo>
                <a:cubicBezTo>
                  <a:pt x="704382" y="905225"/>
                  <a:pt x="692352" y="900101"/>
                  <a:pt x="712470" y="906807"/>
                </a:cubicBezTo>
                <a:cubicBezTo>
                  <a:pt x="749321" y="934445"/>
                  <a:pt x="710050" y="907502"/>
                  <a:pt x="739140" y="922047"/>
                </a:cubicBezTo>
                <a:cubicBezTo>
                  <a:pt x="775130" y="940042"/>
                  <a:pt x="743845" y="928695"/>
                  <a:pt x="769620" y="937287"/>
                </a:cubicBezTo>
                <a:cubicBezTo>
                  <a:pt x="796250" y="957259"/>
                  <a:pt x="773664" y="942830"/>
                  <a:pt x="796290" y="952527"/>
                </a:cubicBezTo>
                <a:cubicBezTo>
                  <a:pt x="801510" y="954764"/>
                  <a:pt x="805902" y="959380"/>
                  <a:pt x="811530" y="960147"/>
                </a:cubicBezTo>
                <a:cubicBezTo>
                  <a:pt x="834215" y="963240"/>
                  <a:pt x="857290" y="962107"/>
                  <a:pt x="880110" y="963957"/>
                </a:cubicBezTo>
                <a:cubicBezTo>
                  <a:pt x="904294" y="965918"/>
                  <a:pt x="952500" y="971577"/>
                  <a:pt x="952500" y="971577"/>
                </a:cubicBezTo>
                <a:cubicBezTo>
                  <a:pt x="972593" y="976600"/>
                  <a:pt x="980883" y="979454"/>
                  <a:pt x="1005840" y="979197"/>
                </a:cubicBezTo>
                <a:cubicBezTo>
                  <a:pt x="1116353" y="978058"/>
                  <a:pt x="1226820" y="974117"/>
                  <a:pt x="1337310" y="971577"/>
                </a:cubicBezTo>
                <a:cubicBezTo>
                  <a:pt x="1342390" y="969037"/>
                  <a:pt x="1347644" y="966819"/>
                  <a:pt x="1352550" y="963957"/>
                </a:cubicBezTo>
                <a:cubicBezTo>
                  <a:pt x="1362899" y="957920"/>
                  <a:pt x="1372053" y="949709"/>
                  <a:pt x="1383030" y="944907"/>
                </a:cubicBezTo>
                <a:cubicBezTo>
                  <a:pt x="1392625" y="940709"/>
                  <a:pt x="1403463" y="940242"/>
                  <a:pt x="1413510" y="937287"/>
                </a:cubicBezTo>
                <a:cubicBezTo>
                  <a:pt x="1425069" y="933887"/>
                  <a:pt x="1436191" y="929082"/>
                  <a:pt x="1447800" y="925857"/>
                </a:cubicBezTo>
                <a:cubicBezTo>
                  <a:pt x="1468716" y="920047"/>
                  <a:pt x="1484340" y="917862"/>
                  <a:pt x="1504950" y="914427"/>
                </a:cubicBezTo>
                <a:cubicBezTo>
                  <a:pt x="1558633" y="887585"/>
                  <a:pt x="1483555" y="923747"/>
                  <a:pt x="1535430" y="902997"/>
                </a:cubicBezTo>
                <a:cubicBezTo>
                  <a:pt x="1543340" y="899833"/>
                  <a:pt x="1550811" y="895647"/>
                  <a:pt x="1558290" y="891567"/>
                </a:cubicBezTo>
                <a:cubicBezTo>
                  <a:pt x="1564791" y="888021"/>
                  <a:pt x="1570504" y="882985"/>
                  <a:pt x="1577340" y="880137"/>
                </a:cubicBezTo>
                <a:cubicBezTo>
                  <a:pt x="1585875" y="876581"/>
                  <a:pt x="1595381" y="875836"/>
                  <a:pt x="1604010" y="872517"/>
                </a:cubicBezTo>
                <a:cubicBezTo>
                  <a:pt x="1611962" y="869459"/>
                  <a:pt x="1618918" y="864145"/>
                  <a:pt x="1626870" y="861087"/>
                </a:cubicBezTo>
                <a:cubicBezTo>
                  <a:pt x="1635281" y="857852"/>
                  <a:pt x="1657763" y="852411"/>
                  <a:pt x="1668780" y="849657"/>
                </a:cubicBezTo>
                <a:cubicBezTo>
                  <a:pt x="1674151" y="833544"/>
                  <a:pt x="1677962" y="823417"/>
                  <a:pt x="1680210" y="803937"/>
                </a:cubicBezTo>
                <a:cubicBezTo>
                  <a:pt x="1682689" y="782452"/>
                  <a:pt x="1682750" y="760757"/>
                  <a:pt x="1684020" y="739167"/>
                </a:cubicBezTo>
                <a:cubicBezTo>
                  <a:pt x="1678940" y="704877"/>
                  <a:pt x="1675367" y="670330"/>
                  <a:pt x="1668780" y="636297"/>
                </a:cubicBezTo>
                <a:cubicBezTo>
                  <a:pt x="1667701" y="630721"/>
                  <a:pt x="1663918" y="626022"/>
                  <a:pt x="1661160" y="621057"/>
                </a:cubicBezTo>
                <a:cubicBezTo>
                  <a:pt x="1645557" y="592972"/>
                  <a:pt x="1655429" y="610032"/>
                  <a:pt x="1634490" y="586767"/>
                </a:cubicBezTo>
                <a:cubicBezTo>
                  <a:pt x="1627855" y="579394"/>
                  <a:pt x="1621128" y="572033"/>
                  <a:pt x="1615440" y="563907"/>
                </a:cubicBezTo>
                <a:cubicBezTo>
                  <a:pt x="1612183" y="559254"/>
                  <a:pt x="1611417" y="553063"/>
                  <a:pt x="1607820" y="548667"/>
                </a:cubicBezTo>
                <a:cubicBezTo>
                  <a:pt x="1599859" y="538937"/>
                  <a:pt x="1588124" y="532458"/>
                  <a:pt x="1581150" y="521997"/>
                </a:cubicBezTo>
                <a:cubicBezTo>
                  <a:pt x="1564309" y="496735"/>
                  <a:pt x="1584102" y="524806"/>
                  <a:pt x="1562100" y="499137"/>
                </a:cubicBezTo>
                <a:cubicBezTo>
                  <a:pt x="1557967" y="494316"/>
                  <a:pt x="1554803" y="488718"/>
                  <a:pt x="1550670" y="483897"/>
                </a:cubicBezTo>
                <a:cubicBezTo>
                  <a:pt x="1537580" y="468625"/>
                  <a:pt x="1540215" y="474936"/>
                  <a:pt x="1524000" y="461037"/>
                </a:cubicBezTo>
                <a:cubicBezTo>
                  <a:pt x="1519909" y="457530"/>
                  <a:pt x="1517248" y="452280"/>
                  <a:pt x="1512570" y="449607"/>
                </a:cubicBezTo>
                <a:cubicBezTo>
                  <a:pt x="1508024" y="447009"/>
                  <a:pt x="1502410" y="447067"/>
                  <a:pt x="1497330" y="445797"/>
                </a:cubicBezTo>
                <a:cubicBezTo>
                  <a:pt x="1489838" y="434558"/>
                  <a:pt x="1489281" y="432104"/>
                  <a:pt x="1478280" y="422937"/>
                </a:cubicBezTo>
                <a:cubicBezTo>
                  <a:pt x="1474762" y="420006"/>
                  <a:pt x="1470479" y="418109"/>
                  <a:pt x="1466850" y="415317"/>
                </a:cubicBezTo>
                <a:cubicBezTo>
                  <a:pt x="1453959" y="405401"/>
                  <a:pt x="1441450" y="394997"/>
                  <a:pt x="1428750" y="384837"/>
                </a:cubicBezTo>
                <a:cubicBezTo>
                  <a:pt x="1422400" y="379757"/>
                  <a:pt x="1417415" y="372169"/>
                  <a:pt x="1409700" y="369597"/>
                </a:cubicBezTo>
                <a:cubicBezTo>
                  <a:pt x="1405890" y="368327"/>
                  <a:pt x="1401781" y="367737"/>
                  <a:pt x="1398270" y="365787"/>
                </a:cubicBezTo>
                <a:cubicBezTo>
                  <a:pt x="1390264" y="361339"/>
                  <a:pt x="1383030" y="355627"/>
                  <a:pt x="1375410" y="350547"/>
                </a:cubicBezTo>
                <a:lnTo>
                  <a:pt x="1363980" y="342927"/>
                </a:lnTo>
                <a:cubicBezTo>
                  <a:pt x="1360170" y="340387"/>
                  <a:pt x="1356802" y="337008"/>
                  <a:pt x="1352550" y="335307"/>
                </a:cubicBezTo>
                <a:lnTo>
                  <a:pt x="1314450" y="320067"/>
                </a:lnTo>
                <a:cubicBezTo>
                  <a:pt x="1308100" y="317527"/>
                  <a:pt x="1300740" y="316719"/>
                  <a:pt x="1295400" y="312447"/>
                </a:cubicBezTo>
                <a:cubicBezTo>
                  <a:pt x="1286239" y="305118"/>
                  <a:pt x="1275534" y="295652"/>
                  <a:pt x="1264920" y="289587"/>
                </a:cubicBezTo>
                <a:cubicBezTo>
                  <a:pt x="1259989" y="286769"/>
                  <a:pt x="1254406" y="285117"/>
                  <a:pt x="1249680" y="281967"/>
                </a:cubicBezTo>
                <a:cubicBezTo>
                  <a:pt x="1242914" y="277456"/>
                  <a:pt x="1237903" y="270364"/>
                  <a:pt x="1230630" y="266727"/>
                </a:cubicBezTo>
                <a:cubicBezTo>
                  <a:pt x="1222360" y="262592"/>
                  <a:pt x="1212570" y="262476"/>
                  <a:pt x="1203960" y="259107"/>
                </a:cubicBezTo>
                <a:cubicBezTo>
                  <a:pt x="1183305" y="251025"/>
                  <a:pt x="1164041" y="239451"/>
                  <a:pt x="1143000" y="232437"/>
                </a:cubicBezTo>
                <a:cubicBezTo>
                  <a:pt x="1135380" y="229897"/>
                  <a:pt x="1127523" y="227981"/>
                  <a:pt x="1120140" y="224817"/>
                </a:cubicBezTo>
                <a:cubicBezTo>
                  <a:pt x="1109699" y="220342"/>
                  <a:pt x="1100101" y="214052"/>
                  <a:pt x="1089660" y="209577"/>
                </a:cubicBezTo>
                <a:cubicBezTo>
                  <a:pt x="1080770" y="205767"/>
                  <a:pt x="1071795" y="202149"/>
                  <a:pt x="1062990" y="198147"/>
                </a:cubicBezTo>
                <a:cubicBezTo>
                  <a:pt x="1057819" y="195797"/>
                  <a:pt x="1052970" y="192764"/>
                  <a:pt x="1047750" y="190527"/>
                </a:cubicBezTo>
                <a:cubicBezTo>
                  <a:pt x="1044059" y="188945"/>
                  <a:pt x="1040011" y="188299"/>
                  <a:pt x="1036320" y="186717"/>
                </a:cubicBezTo>
                <a:cubicBezTo>
                  <a:pt x="1031100" y="184480"/>
                  <a:pt x="1026353" y="181206"/>
                  <a:pt x="1021080" y="179097"/>
                </a:cubicBezTo>
                <a:cubicBezTo>
                  <a:pt x="1013622" y="176114"/>
                  <a:pt x="1005404" y="175069"/>
                  <a:pt x="998220" y="171477"/>
                </a:cubicBezTo>
                <a:cubicBezTo>
                  <a:pt x="988060" y="166397"/>
                  <a:pt x="978760" y="158992"/>
                  <a:pt x="967740" y="156237"/>
                </a:cubicBezTo>
                <a:cubicBezTo>
                  <a:pt x="950747" y="151989"/>
                  <a:pt x="950985" y="152778"/>
                  <a:pt x="933450" y="144807"/>
                </a:cubicBezTo>
                <a:cubicBezTo>
                  <a:pt x="925694" y="141282"/>
                  <a:pt x="918500" y="136541"/>
                  <a:pt x="910590" y="133377"/>
                </a:cubicBezTo>
                <a:cubicBezTo>
                  <a:pt x="905728" y="131432"/>
                  <a:pt x="900528" y="130344"/>
                  <a:pt x="895350" y="129567"/>
                </a:cubicBezTo>
                <a:cubicBezTo>
                  <a:pt x="875098" y="126529"/>
                  <a:pt x="854630" y="125061"/>
                  <a:pt x="834390" y="121947"/>
                </a:cubicBezTo>
                <a:cubicBezTo>
                  <a:pt x="783533" y="114123"/>
                  <a:pt x="811937" y="117136"/>
                  <a:pt x="781050" y="110517"/>
                </a:cubicBezTo>
                <a:cubicBezTo>
                  <a:pt x="749077" y="103666"/>
                  <a:pt x="747552" y="103664"/>
                  <a:pt x="720090" y="99087"/>
                </a:cubicBezTo>
                <a:cubicBezTo>
                  <a:pt x="716280" y="96547"/>
                  <a:pt x="712809" y="93403"/>
                  <a:pt x="708660" y="91467"/>
                </a:cubicBezTo>
                <a:cubicBezTo>
                  <a:pt x="657798" y="67731"/>
                  <a:pt x="672749" y="73309"/>
                  <a:pt x="621030" y="68607"/>
                </a:cubicBezTo>
                <a:cubicBezTo>
                  <a:pt x="615950" y="67337"/>
                  <a:pt x="610795" y="66337"/>
                  <a:pt x="605790" y="64797"/>
                </a:cubicBezTo>
                <a:cubicBezTo>
                  <a:pt x="594275" y="61254"/>
                  <a:pt x="571500" y="53367"/>
                  <a:pt x="571500" y="53367"/>
                </a:cubicBezTo>
                <a:cubicBezTo>
                  <a:pt x="534611" y="25700"/>
                  <a:pt x="581540" y="58387"/>
                  <a:pt x="533400" y="34317"/>
                </a:cubicBezTo>
                <a:cubicBezTo>
                  <a:pt x="527720" y="31477"/>
                  <a:pt x="523963" y="25466"/>
                  <a:pt x="518160" y="22887"/>
                </a:cubicBezTo>
                <a:cubicBezTo>
                  <a:pt x="512242" y="20257"/>
                  <a:pt x="505392" y="20648"/>
                  <a:pt x="499110" y="19077"/>
                </a:cubicBezTo>
                <a:cubicBezTo>
                  <a:pt x="495214" y="18103"/>
                  <a:pt x="491618" y="16055"/>
                  <a:pt x="487680" y="15267"/>
                </a:cubicBezTo>
                <a:cubicBezTo>
                  <a:pt x="478917" y="13514"/>
                  <a:pt x="437947" y="8574"/>
                  <a:pt x="430530" y="7647"/>
                </a:cubicBezTo>
                <a:cubicBezTo>
                  <a:pt x="404958" y="-877"/>
                  <a:pt x="410817" y="27"/>
                  <a:pt x="365760" y="27"/>
                </a:cubicBezTo>
                <a:cubicBezTo>
                  <a:pt x="287010" y="27"/>
                  <a:pt x="208280" y="2567"/>
                  <a:pt x="129540" y="3837"/>
                </a:cubicBezTo>
                <a:cubicBezTo>
                  <a:pt x="120650" y="5107"/>
                  <a:pt x="111676" y="5886"/>
                  <a:pt x="102870" y="7647"/>
                </a:cubicBezTo>
                <a:cubicBezTo>
                  <a:pt x="84176" y="11386"/>
                  <a:pt x="97184" y="14086"/>
                  <a:pt x="72390" y="15267"/>
                </a:cubicBezTo>
                <a:cubicBezTo>
                  <a:pt x="52093" y="16234"/>
                  <a:pt x="12065" y="5742"/>
                  <a:pt x="0" y="38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822" y="1022919"/>
            <a:ext cx="3527963" cy="5711484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9115865" y="1448972"/>
            <a:ext cx="2164466" cy="79268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076124" y="2284646"/>
            <a:ext cx="2424214" cy="998748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076124" y="3360492"/>
            <a:ext cx="2571925" cy="1170818"/>
          </a:xfrm>
          <a:prstGeom prst="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9076124" y="5162843"/>
            <a:ext cx="2867347" cy="1170818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/>
        </p:nvSpPr>
        <p:spPr>
          <a:xfrm>
            <a:off x="6772275" y="1170141"/>
            <a:ext cx="1249619" cy="934884"/>
          </a:xfrm>
          <a:custGeom>
            <a:avLst/>
            <a:gdLst>
              <a:gd name="connsiteX0" fmla="*/ 4763 w 1249619"/>
              <a:gd name="connsiteY0" fmla="*/ 6197 h 934884"/>
              <a:gd name="connsiteX1" fmla="*/ 4763 w 1249619"/>
              <a:gd name="connsiteY1" fmla="*/ 6197 h 934884"/>
              <a:gd name="connsiteX2" fmla="*/ 9525 w 1249619"/>
              <a:gd name="connsiteY2" fmla="*/ 63347 h 934884"/>
              <a:gd name="connsiteX3" fmla="*/ 4763 w 1249619"/>
              <a:gd name="connsiteY3" fmla="*/ 77634 h 934884"/>
              <a:gd name="connsiteX4" fmla="*/ 0 w 1249619"/>
              <a:gd name="connsiteY4" fmla="*/ 153834 h 934884"/>
              <a:gd name="connsiteX5" fmla="*/ 4763 w 1249619"/>
              <a:gd name="connsiteY5" fmla="*/ 468159 h 934884"/>
              <a:gd name="connsiteX6" fmla="*/ 14288 w 1249619"/>
              <a:gd name="connsiteY6" fmla="*/ 496734 h 934884"/>
              <a:gd name="connsiteX7" fmla="*/ 28575 w 1249619"/>
              <a:gd name="connsiteY7" fmla="*/ 582459 h 934884"/>
              <a:gd name="connsiteX8" fmla="*/ 23813 w 1249619"/>
              <a:gd name="connsiteY8" fmla="*/ 639609 h 934884"/>
              <a:gd name="connsiteX9" fmla="*/ 19050 w 1249619"/>
              <a:gd name="connsiteY9" fmla="*/ 653897 h 934884"/>
              <a:gd name="connsiteX10" fmla="*/ 23813 w 1249619"/>
              <a:gd name="connsiteY10" fmla="*/ 672947 h 934884"/>
              <a:gd name="connsiteX11" fmla="*/ 38100 w 1249619"/>
              <a:gd name="connsiteY11" fmla="*/ 701522 h 934884"/>
              <a:gd name="connsiteX12" fmla="*/ 80963 w 1249619"/>
              <a:gd name="connsiteY12" fmla="*/ 720572 h 934884"/>
              <a:gd name="connsiteX13" fmla="*/ 95250 w 1249619"/>
              <a:gd name="connsiteY13" fmla="*/ 725334 h 934884"/>
              <a:gd name="connsiteX14" fmla="*/ 109538 w 1249619"/>
              <a:gd name="connsiteY14" fmla="*/ 730097 h 934884"/>
              <a:gd name="connsiteX15" fmla="*/ 147638 w 1249619"/>
              <a:gd name="connsiteY15" fmla="*/ 739622 h 934884"/>
              <a:gd name="connsiteX16" fmla="*/ 166688 w 1249619"/>
              <a:gd name="connsiteY16" fmla="*/ 744384 h 934884"/>
              <a:gd name="connsiteX17" fmla="*/ 180975 w 1249619"/>
              <a:gd name="connsiteY17" fmla="*/ 753909 h 934884"/>
              <a:gd name="connsiteX18" fmla="*/ 233363 w 1249619"/>
              <a:gd name="connsiteY18" fmla="*/ 768197 h 934884"/>
              <a:gd name="connsiteX19" fmla="*/ 252413 w 1249619"/>
              <a:gd name="connsiteY19" fmla="*/ 777722 h 934884"/>
              <a:gd name="connsiteX20" fmla="*/ 271463 w 1249619"/>
              <a:gd name="connsiteY20" fmla="*/ 782484 h 934884"/>
              <a:gd name="connsiteX21" fmla="*/ 314325 w 1249619"/>
              <a:gd name="connsiteY21" fmla="*/ 806297 h 934884"/>
              <a:gd name="connsiteX22" fmla="*/ 338138 w 1249619"/>
              <a:gd name="connsiteY22" fmla="*/ 811059 h 934884"/>
              <a:gd name="connsiteX23" fmla="*/ 381000 w 1249619"/>
              <a:gd name="connsiteY23" fmla="*/ 825347 h 934884"/>
              <a:gd name="connsiteX24" fmla="*/ 404813 w 1249619"/>
              <a:gd name="connsiteY24" fmla="*/ 834872 h 934884"/>
              <a:gd name="connsiteX25" fmla="*/ 433388 w 1249619"/>
              <a:gd name="connsiteY25" fmla="*/ 844397 h 934884"/>
              <a:gd name="connsiteX26" fmla="*/ 481013 w 1249619"/>
              <a:gd name="connsiteY26" fmla="*/ 863447 h 934884"/>
              <a:gd name="connsiteX27" fmla="*/ 500063 w 1249619"/>
              <a:gd name="connsiteY27" fmla="*/ 872972 h 934884"/>
              <a:gd name="connsiteX28" fmla="*/ 528638 w 1249619"/>
              <a:gd name="connsiteY28" fmla="*/ 882497 h 934884"/>
              <a:gd name="connsiteX29" fmla="*/ 542925 w 1249619"/>
              <a:gd name="connsiteY29" fmla="*/ 892022 h 934884"/>
              <a:gd name="connsiteX30" fmla="*/ 557213 w 1249619"/>
              <a:gd name="connsiteY30" fmla="*/ 896784 h 934884"/>
              <a:gd name="connsiteX31" fmla="*/ 695325 w 1249619"/>
              <a:gd name="connsiteY31" fmla="*/ 915834 h 934884"/>
              <a:gd name="connsiteX32" fmla="*/ 757238 w 1249619"/>
              <a:gd name="connsiteY32" fmla="*/ 925359 h 934884"/>
              <a:gd name="connsiteX33" fmla="*/ 828675 w 1249619"/>
              <a:gd name="connsiteY33" fmla="*/ 934884 h 934884"/>
              <a:gd name="connsiteX34" fmla="*/ 1033463 w 1249619"/>
              <a:gd name="connsiteY34" fmla="*/ 930122 h 934884"/>
              <a:gd name="connsiteX35" fmla="*/ 1081088 w 1249619"/>
              <a:gd name="connsiteY35" fmla="*/ 911072 h 934884"/>
              <a:gd name="connsiteX36" fmla="*/ 1095375 w 1249619"/>
              <a:gd name="connsiteY36" fmla="*/ 901547 h 934884"/>
              <a:gd name="connsiteX37" fmla="*/ 1123950 w 1249619"/>
              <a:gd name="connsiteY37" fmla="*/ 892022 h 934884"/>
              <a:gd name="connsiteX38" fmla="*/ 1162050 w 1249619"/>
              <a:gd name="connsiteY38" fmla="*/ 882497 h 934884"/>
              <a:gd name="connsiteX39" fmla="*/ 1176338 w 1249619"/>
              <a:gd name="connsiteY39" fmla="*/ 868209 h 934884"/>
              <a:gd name="connsiteX40" fmla="*/ 1195388 w 1249619"/>
              <a:gd name="connsiteY40" fmla="*/ 839634 h 934884"/>
              <a:gd name="connsiteX41" fmla="*/ 1204913 w 1249619"/>
              <a:gd name="connsiteY41" fmla="*/ 825347 h 934884"/>
              <a:gd name="connsiteX42" fmla="*/ 1219200 w 1249619"/>
              <a:gd name="connsiteY42" fmla="*/ 811059 h 934884"/>
              <a:gd name="connsiteX43" fmla="*/ 1233488 w 1249619"/>
              <a:gd name="connsiteY43" fmla="*/ 777722 h 934884"/>
              <a:gd name="connsiteX44" fmla="*/ 1243013 w 1249619"/>
              <a:gd name="connsiteY44" fmla="*/ 763434 h 934884"/>
              <a:gd name="connsiteX45" fmla="*/ 1238250 w 1249619"/>
              <a:gd name="connsiteY45" fmla="*/ 563409 h 934884"/>
              <a:gd name="connsiteX46" fmla="*/ 1233488 w 1249619"/>
              <a:gd name="connsiteY46" fmla="*/ 539597 h 934884"/>
              <a:gd name="connsiteX47" fmla="*/ 1219200 w 1249619"/>
              <a:gd name="connsiteY47" fmla="*/ 496734 h 934884"/>
              <a:gd name="connsiteX48" fmla="*/ 1204913 w 1249619"/>
              <a:gd name="connsiteY48" fmla="*/ 463397 h 934884"/>
              <a:gd name="connsiteX49" fmla="*/ 1195388 w 1249619"/>
              <a:gd name="connsiteY49" fmla="*/ 434822 h 934884"/>
              <a:gd name="connsiteX50" fmla="*/ 1181100 w 1249619"/>
              <a:gd name="connsiteY50" fmla="*/ 415772 h 934884"/>
              <a:gd name="connsiteX51" fmla="*/ 1162050 w 1249619"/>
              <a:gd name="connsiteY51" fmla="*/ 387197 h 934884"/>
              <a:gd name="connsiteX52" fmla="*/ 1138238 w 1249619"/>
              <a:gd name="connsiteY52" fmla="*/ 344334 h 934884"/>
              <a:gd name="connsiteX53" fmla="*/ 1123950 w 1249619"/>
              <a:gd name="connsiteY53" fmla="*/ 330047 h 934884"/>
              <a:gd name="connsiteX54" fmla="*/ 1114425 w 1249619"/>
              <a:gd name="connsiteY54" fmla="*/ 315759 h 934884"/>
              <a:gd name="connsiteX55" fmla="*/ 1100138 w 1249619"/>
              <a:gd name="connsiteY55" fmla="*/ 306234 h 934884"/>
              <a:gd name="connsiteX56" fmla="*/ 1057275 w 1249619"/>
              <a:gd name="connsiteY56" fmla="*/ 272897 h 934884"/>
              <a:gd name="connsiteX57" fmla="*/ 1028700 w 1249619"/>
              <a:gd name="connsiteY57" fmla="*/ 253847 h 934884"/>
              <a:gd name="connsiteX58" fmla="*/ 1014413 w 1249619"/>
              <a:gd name="connsiteY58" fmla="*/ 244322 h 934884"/>
              <a:gd name="connsiteX59" fmla="*/ 1000125 w 1249619"/>
              <a:gd name="connsiteY59" fmla="*/ 239559 h 934884"/>
              <a:gd name="connsiteX60" fmla="*/ 985838 w 1249619"/>
              <a:gd name="connsiteY60" fmla="*/ 230034 h 934884"/>
              <a:gd name="connsiteX61" fmla="*/ 966788 w 1249619"/>
              <a:gd name="connsiteY61" fmla="*/ 225272 h 934884"/>
              <a:gd name="connsiteX62" fmla="*/ 938213 w 1249619"/>
              <a:gd name="connsiteY62" fmla="*/ 215747 h 934884"/>
              <a:gd name="connsiteX63" fmla="*/ 904875 w 1249619"/>
              <a:gd name="connsiteY63" fmla="*/ 196697 h 934884"/>
              <a:gd name="connsiteX64" fmla="*/ 890588 w 1249619"/>
              <a:gd name="connsiteY64" fmla="*/ 191934 h 934884"/>
              <a:gd name="connsiteX65" fmla="*/ 881063 w 1249619"/>
              <a:gd name="connsiteY65" fmla="*/ 177647 h 934884"/>
              <a:gd name="connsiteX66" fmla="*/ 852488 w 1249619"/>
              <a:gd name="connsiteY66" fmla="*/ 168122 h 934884"/>
              <a:gd name="connsiteX67" fmla="*/ 814388 w 1249619"/>
              <a:gd name="connsiteY67" fmla="*/ 149072 h 934884"/>
              <a:gd name="connsiteX68" fmla="*/ 800100 w 1249619"/>
              <a:gd name="connsiteY68" fmla="*/ 139547 h 934884"/>
              <a:gd name="connsiteX69" fmla="*/ 752475 w 1249619"/>
              <a:gd name="connsiteY69" fmla="*/ 125259 h 934884"/>
              <a:gd name="connsiteX70" fmla="*/ 714375 w 1249619"/>
              <a:gd name="connsiteY70" fmla="*/ 110972 h 934884"/>
              <a:gd name="connsiteX71" fmla="*/ 685800 w 1249619"/>
              <a:gd name="connsiteY71" fmla="*/ 101447 h 934884"/>
              <a:gd name="connsiteX72" fmla="*/ 666750 w 1249619"/>
              <a:gd name="connsiteY72" fmla="*/ 96684 h 934884"/>
              <a:gd name="connsiteX73" fmla="*/ 619125 w 1249619"/>
              <a:gd name="connsiteY73" fmla="*/ 72872 h 934884"/>
              <a:gd name="connsiteX74" fmla="*/ 590550 w 1249619"/>
              <a:gd name="connsiteY74" fmla="*/ 53822 h 934884"/>
              <a:gd name="connsiteX75" fmla="*/ 557213 w 1249619"/>
              <a:gd name="connsiteY75" fmla="*/ 44297 h 934884"/>
              <a:gd name="connsiteX76" fmla="*/ 523875 w 1249619"/>
              <a:gd name="connsiteY76" fmla="*/ 34772 h 934884"/>
              <a:gd name="connsiteX77" fmla="*/ 481013 w 1249619"/>
              <a:gd name="connsiteY77" fmla="*/ 25247 h 934884"/>
              <a:gd name="connsiteX78" fmla="*/ 100013 w 1249619"/>
              <a:gd name="connsiteY78" fmla="*/ 15722 h 934884"/>
              <a:gd name="connsiteX79" fmla="*/ 85725 w 1249619"/>
              <a:gd name="connsiteY79" fmla="*/ 1434 h 934884"/>
              <a:gd name="connsiteX80" fmla="*/ 4763 w 1249619"/>
              <a:gd name="connsiteY80" fmla="*/ 6197 h 934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249619" h="934884">
                <a:moveTo>
                  <a:pt x="4763" y="6197"/>
                </a:moveTo>
                <a:lnTo>
                  <a:pt x="4763" y="6197"/>
                </a:lnTo>
                <a:cubicBezTo>
                  <a:pt x="6350" y="25247"/>
                  <a:pt x="9525" y="44231"/>
                  <a:pt x="9525" y="63347"/>
                </a:cubicBezTo>
                <a:cubicBezTo>
                  <a:pt x="9525" y="68367"/>
                  <a:pt x="5289" y="72642"/>
                  <a:pt x="4763" y="77634"/>
                </a:cubicBezTo>
                <a:cubicBezTo>
                  <a:pt x="2099" y="102944"/>
                  <a:pt x="1588" y="128434"/>
                  <a:pt x="0" y="153834"/>
                </a:cubicBezTo>
                <a:cubicBezTo>
                  <a:pt x="1588" y="258609"/>
                  <a:pt x="401" y="363463"/>
                  <a:pt x="4763" y="468159"/>
                </a:cubicBezTo>
                <a:cubicBezTo>
                  <a:pt x="5181" y="478191"/>
                  <a:pt x="14288" y="496734"/>
                  <a:pt x="14288" y="496734"/>
                </a:cubicBezTo>
                <a:cubicBezTo>
                  <a:pt x="24739" y="569889"/>
                  <a:pt x="18368" y="541629"/>
                  <a:pt x="28575" y="582459"/>
                </a:cubicBezTo>
                <a:cubicBezTo>
                  <a:pt x="26988" y="601509"/>
                  <a:pt x="26339" y="620661"/>
                  <a:pt x="23813" y="639609"/>
                </a:cubicBezTo>
                <a:cubicBezTo>
                  <a:pt x="23149" y="644585"/>
                  <a:pt x="19050" y="648877"/>
                  <a:pt x="19050" y="653897"/>
                </a:cubicBezTo>
                <a:cubicBezTo>
                  <a:pt x="19050" y="660442"/>
                  <a:pt x="22015" y="666653"/>
                  <a:pt x="23813" y="672947"/>
                </a:cubicBezTo>
                <a:cubicBezTo>
                  <a:pt x="26912" y="683793"/>
                  <a:pt x="29751" y="693173"/>
                  <a:pt x="38100" y="701522"/>
                </a:cubicBezTo>
                <a:cubicBezTo>
                  <a:pt x="49420" y="712842"/>
                  <a:pt x="66817" y="715857"/>
                  <a:pt x="80963" y="720572"/>
                </a:cubicBezTo>
                <a:lnTo>
                  <a:pt x="95250" y="725334"/>
                </a:lnTo>
                <a:cubicBezTo>
                  <a:pt x="100013" y="726922"/>
                  <a:pt x="104668" y="728879"/>
                  <a:pt x="109538" y="730097"/>
                </a:cubicBezTo>
                <a:lnTo>
                  <a:pt x="147638" y="739622"/>
                </a:lnTo>
                <a:lnTo>
                  <a:pt x="166688" y="744384"/>
                </a:lnTo>
                <a:cubicBezTo>
                  <a:pt x="171450" y="747559"/>
                  <a:pt x="175745" y="751584"/>
                  <a:pt x="180975" y="753909"/>
                </a:cubicBezTo>
                <a:cubicBezTo>
                  <a:pt x="200749" y="762697"/>
                  <a:pt x="212992" y="764123"/>
                  <a:pt x="233363" y="768197"/>
                </a:cubicBezTo>
                <a:cubicBezTo>
                  <a:pt x="239713" y="771372"/>
                  <a:pt x="245765" y="775229"/>
                  <a:pt x="252413" y="777722"/>
                </a:cubicBezTo>
                <a:cubicBezTo>
                  <a:pt x="258542" y="780020"/>
                  <a:pt x="265482" y="779826"/>
                  <a:pt x="271463" y="782484"/>
                </a:cubicBezTo>
                <a:cubicBezTo>
                  <a:pt x="289778" y="790624"/>
                  <a:pt x="295881" y="800149"/>
                  <a:pt x="314325" y="806297"/>
                </a:cubicBezTo>
                <a:cubicBezTo>
                  <a:pt x="322004" y="808857"/>
                  <a:pt x="330200" y="809472"/>
                  <a:pt x="338138" y="811059"/>
                </a:cubicBezTo>
                <a:cubicBezTo>
                  <a:pt x="377922" y="830951"/>
                  <a:pt x="334841" y="811499"/>
                  <a:pt x="381000" y="825347"/>
                </a:cubicBezTo>
                <a:cubicBezTo>
                  <a:pt x="389189" y="827804"/>
                  <a:pt x="396779" y="831950"/>
                  <a:pt x="404813" y="834872"/>
                </a:cubicBezTo>
                <a:cubicBezTo>
                  <a:pt x="414249" y="838303"/>
                  <a:pt x="424408" y="839907"/>
                  <a:pt x="433388" y="844397"/>
                </a:cubicBezTo>
                <a:cubicBezTo>
                  <a:pt x="478064" y="866735"/>
                  <a:pt x="422163" y="839907"/>
                  <a:pt x="481013" y="863447"/>
                </a:cubicBezTo>
                <a:cubicBezTo>
                  <a:pt x="487605" y="866084"/>
                  <a:pt x="493471" y="870335"/>
                  <a:pt x="500063" y="872972"/>
                </a:cubicBezTo>
                <a:cubicBezTo>
                  <a:pt x="509385" y="876701"/>
                  <a:pt x="519113" y="879322"/>
                  <a:pt x="528638" y="882497"/>
                </a:cubicBezTo>
                <a:cubicBezTo>
                  <a:pt x="533400" y="885672"/>
                  <a:pt x="537806" y="889462"/>
                  <a:pt x="542925" y="892022"/>
                </a:cubicBezTo>
                <a:cubicBezTo>
                  <a:pt x="547415" y="894267"/>
                  <a:pt x="552253" y="896009"/>
                  <a:pt x="557213" y="896784"/>
                </a:cubicBezTo>
                <a:cubicBezTo>
                  <a:pt x="603129" y="903958"/>
                  <a:pt x="649754" y="906719"/>
                  <a:pt x="695325" y="915834"/>
                </a:cubicBezTo>
                <a:cubicBezTo>
                  <a:pt x="740810" y="924932"/>
                  <a:pt x="696683" y="916708"/>
                  <a:pt x="757238" y="925359"/>
                </a:cubicBezTo>
                <a:cubicBezTo>
                  <a:pt x="832072" y="936050"/>
                  <a:pt x="728460" y="923750"/>
                  <a:pt x="828675" y="934884"/>
                </a:cubicBezTo>
                <a:cubicBezTo>
                  <a:pt x="896938" y="933297"/>
                  <a:pt x="965309" y="934295"/>
                  <a:pt x="1033463" y="930122"/>
                </a:cubicBezTo>
                <a:cubicBezTo>
                  <a:pt x="1044391" y="929453"/>
                  <a:pt x="1070299" y="917238"/>
                  <a:pt x="1081088" y="911072"/>
                </a:cubicBezTo>
                <a:cubicBezTo>
                  <a:pt x="1086058" y="908232"/>
                  <a:pt x="1090145" y="903872"/>
                  <a:pt x="1095375" y="901547"/>
                </a:cubicBezTo>
                <a:cubicBezTo>
                  <a:pt x="1104550" y="897469"/>
                  <a:pt x="1114210" y="894457"/>
                  <a:pt x="1123950" y="892022"/>
                </a:cubicBezTo>
                <a:lnTo>
                  <a:pt x="1162050" y="882497"/>
                </a:lnTo>
                <a:cubicBezTo>
                  <a:pt x="1166813" y="877734"/>
                  <a:pt x="1172203" y="873526"/>
                  <a:pt x="1176338" y="868209"/>
                </a:cubicBezTo>
                <a:cubicBezTo>
                  <a:pt x="1183366" y="859173"/>
                  <a:pt x="1189038" y="849159"/>
                  <a:pt x="1195388" y="839634"/>
                </a:cubicBezTo>
                <a:cubicBezTo>
                  <a:pt x="1198563" y="834872"/>
                  <a:pt x="1200866" y="829394"/>
                  <a:pt x="1204913" y="825347"/>
                </a:cubicBezTo>
                <a:cubicBezTo>
                  <a:pt x="1209675" y="820584"/>
                  <a:pt x="1215285" y="816540"/>
                  <a:pt x="1219200" y="811059"/>
                </a:cubicBezTo>
                <a:cubicBezTo>
                  <a:pt x="1235715" y="787937"/>
                  <a:pt x="1223124" y="798449"/>
                  <a:pt x="1233488" y="777722"/>
                </a:cubicBezTo>
                <a:cubicBezTo>
                  <a:pt x="1236048" y="772602"/>
                  <a:pt x="1239838" y="768197"/>
                  <a:pt x="1243013" y="763434"/>
                </a:cubicBezTo>
                <a:cubicBezTo>
                  <a:pt x="1254017" y="675390"/>
                  <a:pt x="1250484" y="722452"/>
                  <a:pt x="1238250" y="563409"/>
                </a:cubicBezTo>
                <a:cubicBezTo>
                  <a:pt x="1237629" y="555338"/>
                  <a:pt x="1235618" y="547406"/>
                  <a:pt x="1233488" y="539597"/>
                </a:cubicBezTo>
                <a:cubicBezTo>
                  <a:pt x="1233483" y="539579"/>
                  <a:pt x="1221584" y="503887"/>
                  <a:pt x="1219200" y="496734"/>
                </a:cubicBezTo>
                <a:cubicBezTo>
                  <a:pt x="1203868" y="450738"/>
                  <a:pt x="1228457" y="522257"/>
                  <a:pt x="1204913" y="463397"/>
                </a:cubicBezTo>
                <a:cubicBezTo>
                  <a:pt x="1201184" y="454075"/>
                  <a:pt x="1201412" y="442854"/>
                  <a:pt x="1195388" y="434822"/>
                </a:cubicBezTo>
                <a:cubicBezTo>
                  <a:pt x="1190625" y="428472"/>
                  <a:pt x="1185652" y="422275"/>
                  <a:pt x="1181100" y="415772"/>
                </a:cubicBezTo>
                <a:cubicBezTo>
                  <a:pt x="1174535" y="406394"/>
                  <a:pt x="1162050" y="387197"/>
                  <a:pt x="1162050" y="387197"/>
                </a:cubicBezTo>
                <a:cubicBezTo>
                  <a:pt x="1156062" y="369230"/>
                  <a:pt x="1154615" y="360709"/>
                  <a:pt x="1138238" y="344334"/>
                </a:cubicBezTo>
                <a:cubicBezTo>
                  <a:pt x="1133475" y="339572"/>
                  <a:pt x="1128262" y="335221"/>
                  <a:pt x="1123950" y="330047"/>
                </a:cubicBezTo>
                <a:cubicBezTo>
                  <a:pt x="1120286" y="325650"/>
                  <a:pt x="1118472" y="319807"/>
                  <a:pt x="1114425" y="315759"/>
                </a:cubicBezTo>
                <a:cubicBezTo>
                  <a:pt x="1110378" y="311712"/>
                  <a:pt x="1104535" y="309898"/>
                  <a:pt x="1100138" y="306234"/>
                </a:cubicBezTo>
                <a:cubicBezTo>
                  <a:pt x="1055375" y="268932"/>
                  <a:pt x="1129493" y="321043"/>
                  <a:pt x="1057275" y="272897"/>
                </a:cubicBezTo>
                <a:lnTo>
                  <a:pt x="1028700" y="253847"/>
                </a:lnTo>
                <a:cubicBezTo>
                  <a:pt x="1023938" y="250672"/>
                  <a:pt x="1019843" y="246132"/>
                  <a:pt x="1014413" y="244322"/>
                </a:cubicBezTo>
                <a:cubicBezTo>
                  <a:pt x="1009650" y="242734"/>
                  <a:pt x="1004615" y="241804"/>
                  <a:pt x="1000125" y="239559"/>
                </a:cubicBezTo>
                <a:cubicBezTo>
                  <a:pt x="995006" y="236999"/>
                  <a:pt x="991099" y="232289"/>
                  <a:pt x="985838" y="230034"/>
                </a:cubicBezTo>
                <a:cubicBezTo>
                  <a:pt x="979822" y="227456"/>
                  <a:pt x="973057" y="227153"/>
                  <a:pt x="966788" y="225272"/>
                </a:cubicBezTo>
                <a:cubicBezTo>
                  <a:pt x="957171" y="222387"/>
                  <a:pt x="938213" y="215747"/>
                  <a:pt x="938213" y="215747"/>
                </a:cubicBezTo>
                <a:cubicBezTo>
                  <a:pt x="923863" y="206181"/>
                  <a:pt x="921795" y="203949"/>
                  <a:pt x="904875" y="196697"/>
                </a:cubicBezTo>
                <a:cubicBezTo>
                  <a:pt x="900261" y="194719"/>
                  <a:pt x="895350" y="193522"/>
                  <a:pt x="890588" y="191934"/>
                </a:cubicBezTo>
                <a:cubicBezTo>
                  <a:pt x="887413" y="187172"/>
                  <a:pt x="885917" y="180680"/>
                  <a:pt x="881063" y="177647"/>
                </a:cubicBezTo>
                <a:cubicBezTo>
                  <a:pt x="872549" y="172326"/>
                  <a:pt x="861097" y="173288"/>
                  <a:pt x="852488" y="168122"/>
                </a:cubicBezTo>
                <a:cubicBezTo>
                  <a:pt x="824370" y="151251"/>
                  <a:pt x="837457" y="156761"/>
                  <a:pt x="814388" y="149072"/>
                </a:cubicBezTo>
                <a:cubicBezTo>
                  <a:pt x="809625" y="145897"/>
                  <a:pt x="805331" y="141872"/>
                  <a:pt x="800100" y="139547"/>
                </a:cubicBezTo>
                <a:cubicBezTo>
                  <a:pt x="785195" y="132922"/>
                  <a:pt x="768306" y="129217"/>
                  <a:pt x="752475" y="125259"/>
                </a:cubicBezTo>
                <a:cubicBezTo>
                  <a:pt x="727611" y="108683"/>
                  <a:pt x="749233" y="120478"/>
                  <a:pt x="714375" y="110972"/>
                </a:cubicBezTo>
                <a:cubicBezTo>
                  <a:pt x="704689" y="108330"/>
                  <a:pt x="695325" y="104622"/>
                  <a:pt x="685800" y="101447"/>
                </a:cubicBezTo>
                <a:cubicBezTo>
                  <a:pt x="679590" y="99377"/>
                  <a:pt x="673100" y="98272"/>
                  <a:pt x="666750" y="96684"/>
                </a:cubicBezTo>
                <a:cubicBezTo>
                  <a:pt x="632729" y="74003"/>
                  <a:pt x="649281" y="80410"/>
                  <a:pt x="619125" y="72872"/>
                </a:cubicBezTo>
                <a:cubicBezTo>
                  <a:pt x="609600" y="66522"/>
                  <a:pt x="601410" y="57443"/>
                  <a:pt x="590550" y="53822"/>
                </a:cubicBezTo>
                <a:cubicBezTo>
                  <a:pt x="563176" y="44696"/>
                  <a:pt x="590100" y="53266"/>
                  <a:pt x="557213" y="44297"/>
                </a:cubicBezTo>
                <a:cubicBezTo>
                  <a:pt x="546063" y="41256"/>
                  <a:pt x="535025" y="37813"/>
                  <a:pt x="523875" y="34772"/>
                </a:cubicBezTo>
                <a:cubicBezTo>
                  <a:pt x="516500" y="32761"/>
                  <a:pt x="487094" y="25462"/>
                  <a:pt x="481013" y="25247"/>
                </a:cubicBezTo>
                <a:cubicBezTo>
                  <a:pt x="354052" y="20766"/>
                  <a:pt x="100013" y="15722"/>
                  <a:pt x="100013" y="15722"/>
                </a:cubicBezTo>
                <a:cubicBezTo>
                  <a:pt x="95250" y="10959"/>
                  <a:pt x="92382" y="2458"/>
                  <a:pt x="85725" y="1434"/>
                </a:cubicBezTo>
                <a:cubicBezTo>
                  <a:pt x="54431" y="-3380"/>
                  <a:pt x="18257" y="5403"/>
                  <a:pt x="4763" y="61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057549" y="4146435"/>
            <a:ext cx="16706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Conversion Circuit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92" y="995739"/>
            <a:ext cx="9545515" cy="52444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56464"/>
            <a:ext cx="10664328" cy="574586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581" y="0"/>
            <a:ext cx="2346037" cy="444136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738307" y="1328152"/>
            <a:ext cx="4865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PCEn=PCWrite | (Beq &amp; Equal) | (Bne &amp; ~Equal)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97277" y="172812"/>
            <a:ext cx="6788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Multi cycle 8-instruction CPU data path diagram (suitable for both microprogramming and hardwired controllers)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24513" y="38472"/>
            <a:ext cx="4499579" cy="862012"/>
          </a:xfrm>
        </p:spPr>
        <p:txBody>
          <a:bodyPr/>
          <a:lstStyle/>
          <a:p>
            <a:r>
              <a:rPr lang="en-US" altLang="zh-CN" b="1" dirty="0"/>
              <a:t>control signals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9" y="953238"/>
            <a:ext cx="11737644" cy="590476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3602" y="-8656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Using FSM to design a Hardwired Controller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965" y="1238997"/>
            <a:ext cx="11221653" cy="493796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204AF3D7-B41E-4030-A3AB-F97E3B5A1E9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752838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What is the primary purpose of using a Finite State Machine (FSM) in designing a Hardwired Controller?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5CC42B-72A0-4562-A425-B479E732B37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49223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 simplify the instruction set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C51CC39-57E3-4BC0-9492-72524AC9E9A6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B563BE-E88A-4012-AB35-0402C4E504F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818508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 manage the control signals for each clock cycle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6EECFD7-1695-49A6-B5D5-80C1C9808302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B3B502-BF6A-451F-BFAF-F9056031DD2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630447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 add optional extension instructions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6189CBC-4BFA-4254-9A8E-F7608F16FC2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2E5BFD-7876-485C-B32A-85DC7045B90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577234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 replace the datapath in the CPU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038C970-64D6-4EFB-AC76-F004CD6AAFC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9461421-D558-4ED3-A60E-3FA9DD79452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C34D300-0D3B-4AF1-90F2-D039D6F7D95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B80813DA-81A4-4937-92CE-D886A2926E5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B613BA0-6EBC-4FD7-9200-7A6C145409C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33005A3-207D-49C6-9AEB-952F5517169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7A24A6E2-DB16-497C-80E3-0E05C1E527A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FB33F99-B624-4081-AD30-F687C2ED226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30931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37792" y="170481"/>
            <a:ext cx="8754208" cy="861529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Black represents the optional extension instruction set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9027"/>
            <a:ext cx="9910618" cy="464884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441244" y="3318933"/>
            <a:ext cx="2833512" cy="5531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4940" y="977900"/>
            <a:ext cx="72199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The magical universal table, with 12 inputs and 12 outputs, greatly facilitates the definition of combinatorial logic functions; There are also some variations of the universal table, such as adding decimal number fields.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401695" y="349885"/>
            <a:ext cx="38538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/>
              <a:t>Magical Universal Table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525" y="349885"/>
            <a:ext cx="4289425" cy="35826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" y="1913890"/>
            <a:ext cx="11402695" cy="37655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344170" y="1031240"/>
            <a:ext cx="10515600" cy="1862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>
                <a:sym typeface="+mn-ea"/>
              </a:rPr>
              <a:t>Question</a:t>
            </a:r>
            <a:r>
              <a:rPr lang="en-US" altLang="zh-CN" sz="2400"/>
              <a:t> 1: Output logic, 4 inputs and 16 outputs. Solution: Use two universal tables with the same input pins</a:t>
            </a:r>
            <a:br>
              <a:rPr lang="zh-CN" altLang="en-US" sz="1800"/>
            </a:br>
            <a:br>
              <a:rPr lang="zh-CN" altLang="en-US" sz="1800"/>
            </a:br>
            <a:r>
              <a:rPr lang="en-US" altLang="zh-CN" sz="2400"/>
              <a:t>Question 2:  If the number of output pins is 4 and the number of input pins is increased to 16, how should it be handled?</a:t>
            </a: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757584"/>
              </p:ext>
            </p:extLst>
          </p:nvPr>
        </p:nvGraphicFramePr>
        <p:xfrm>
          <a:off x="549910" y="3191510"/>
          <a:ext cx="97155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Worksheet" showAsIcon="1" r:id="rId3" imgW="971640" imgH="771480" progId="Excel.Sheet.12">
                  <p:embed/>
                </p:oleObj>
              </mc:Choice>
              <mc:Fallback>
                <p:oleObj name="Worksheet" showAsIcon="1" r:id="rId3" imgW="971640" imgH="77148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9910" y="3191510"/>
                        <a:ext cx="97155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447290" y="4237355"/>
            <a:ext cx="7519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Write the function values into the experimental report</a:t>
            </a:r>
          </a:p>
          <a:p>
            <a:endParaRPr lang="en-US" altLang="zh-CN"/>
          </a:p>
        </p:txBody>
      </p:sp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9910" y="4110990"/>
          <a:ext cx="108204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showAsIcon="1" r:id="rId5" imgW="971550" imgH="771525" progId="Excel.Sheet.12">
                  <p:embed/>
                </p:oleObj>
              </mc:Choice>
              <mc:Fallback>
                <p:oleObj showAsIcon="1" r:id="rId5" imgW="971550" imgH="771525" progId="Excel.Shee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9910" y="4110990"/>
                        <a:ext cx="108204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3037722-4fe3-4fd8-a7dc-fcd529c4f309"/>
  <p:tag name="COMMONDATA" val="eyJoZGlkIjoiZjExMDE4MjYwOTdhYTViYzIyM2NiY2VlMzhmMjRiYm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PROVIDER" val="A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PROVIDER" val="AI"/>
  <p:tag name="RAINPROBLEMTYPE" val="MultipleChoiceMA"/>
  <p:tag name="RAINPROBLEM" val="MultipleChoiceMA"/>
  <p:tag name="PROBLEMSCORE_HALF" val="0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PROVIDER" val="AI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PROVIDER" val="AI"/>
  <p:tag name="RAINPROBLEMTYPE" val="MultipleChoiceMA"/>
  <p:tag name="RAINPROBLEM" val="MultipleChoiceMA"/>
  <p:tag name="PROBLEMSCORE_HALF" val="0.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2|10.6|52.4|15.3|27.8|1.6|11.5|12.8|11.9|4.4|5.7|17.1|16.6|6.5|13.5|8.7|15.3|3.8|4.8|3.3|2.9|12.5|8.2|9.3|2.9|5.8|2.5|5.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PROVIDER" val="AI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1478</Words>
  <Application>Microsoft Office PowerPoint</Application>
  <PresentationFormat>宽屏</PresentationFormat>
  <Paragraphs>302</Paragraphs>
  <Slides>27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5" baseType="lpstr">
      <vt:lpstr>Microsoft Yahei</vt:lpstr>
      <vt:lpstr>等线</vt:lpstr>
      <vt:lpstr>等线 Light</vt:lpstr>
      <vt:lpstr>仿宋</vt:lpstr>
      <vt:lpstr>华文细黑</vt:lpstr>
      <vt:lpstr>隶书</vt:lpstr>
      <vt:lpstr>宋体</vt:lpstr>
      <vt:lpstr>微软雅黑</vt:lpstr>
      <vt:lpstr>Arial</vt:lpstr>
      <vt:lpstr>Book Antiqua</vt:lpstr>
      <vt:lpstr>Calibri</vt:lpstr>
      <vt:lpstr>Segoe UI</vt:lpstr>
      <vt:lpstr>Segoe UI Black</vt:lpstr>
      <vt:lpstr>Wingdings</vt:lpstr>
      <vt:lpstr>Office 主题​​</vt:lpstr>
      <vt:lpstr>1_Office 主题​​</vt:lpstr>
      <vt:lpstr>Worksheet</vt:lpstr>
      <vt:lpstr>Microsoft Excel Worksheet</vt:lpstr>
      <vt:lpstr>Multi cycle MIPS CPU (Hardwired Controller)</vt:lpstr>
      <vt:lpstr>设计内容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structure of pipeline CPU</vt:lpstr>
      <vt:lpstr>PowerPoint 演示文稿</vt:lpstr>
      <vt:lpstr>Microprogram flowchart</vt:lpstr>
      <vt:lpstr>PowerPoint 演示文稿</vt:lpstr>
      <vt:lpstr>PowerPoint 演示文稿</vt:lpstr>
      <vt:lpstr>多周期微程序MIPS CPU设计任务书：</vt:lpstr>
      <vt:lpstr>Design FSM output circuit Using ROM(Control Memory)</vt:lpstr>
      <vt:lpstr>Hardwired controller (you can removing  the lower 5 bits of control memory)</vt:lpstr>
      <vt:lpstr>Design Conversion Circuits (For rookie)</vt:lpstr>
      <vt:lpstr>PowerPoint 演示文稿</vt:lpstr>
      <vt:lpstr>Design FSM output circuit Using Universal Tables</vt:lpstr>
      <vt:lpstr>PowerPoint 演示文稿</vt:lpstr>
      <vt:lpstr>PowerPoint 演示文稿</vt:lpstr>
      <vt:lpstr>control signals</vt:lpstr>
      <vt:lpstr>Using FSM to design a Hardwired Controller</vt:lpstr>
      <vt:lpstr>PowerPoint 演示文稿</vt:lpstr>
      <vt:lpstr>Black represents the optional extension instruction set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LIU FENG</cp:lastModifiedBy>
  <cp:revision>343</cp:revision>
  <cp:lastPrinted>2019-10-15T03:43:00Z</cp:lastPrinted>
  <dcterms:created xsi:type="dcterms:W3CDTF">2019-04-22T08:11:00Z</dcterms:created>
  <dcterms:modified xsi:type="dcterms:W3CDTF">2025-04-14T02:27:23Z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E1BF39A1A5214647BAB09C8A8E13E48A_12</vt:lpwstr>
  </property>
  <property fmtid="{D5CDD505-2E9C-101B-9397-08002B2CF9AE}" pid="3" name="KSOProductBuildVer">
    <vt:lpwstr>2052-12.1.0.20305</vt:lpwstr>
  </property>
</Properties>
</file>