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0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C5448-ED0E-4706-AC06-0A90C14266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C160E-7043-4CF3-A704-11D1121D2B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C5448-ED0E-4706-AC06-0A90C14266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C160E-7043-4CF3-A704-11D1121D2B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C5448-ED0E-4706-AC06-0A90C14266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C160E-7043-4CF3-A704-11D1121D2B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C5448-ED0E-4706-AC06-0A90C14266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C160E-7043-4CF3-A704-11D1121D2B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C5448-ED0E-4706-AC06-0A90C14266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C160E-7043-4CF3-A704-11D1121D2B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C5448-ED0E-4706-AC06-0A90C14266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C160E-7043-4CF3-A704-11D1121D2B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C5448-ED0E-4706-AC06-0A90C14266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C160E-7043-4CF3-A704-11D1121D2B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C5448-ED0E-4706-AC06-0A90C14266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C160E-7043-4CF3-A704-11D1121D2B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C5448-ED0E-4706-AC06-0A90C14266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C160E-7043-4CF3-A704-11D1121D2B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C5448-ED0E-4706-AC06-0A90C14266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C160E-7043-4CF3-A704-11D1121D2B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C5448-ED0E-4706-AC06-0A90C14266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C160E-7043-4CF3-A704-11D1121D2B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2C5448-ED0E-4706-AC06-0A90C14266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0C160E-7043-4CF3-A704-11D1121D2BC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72710" y="399627"/>
            <a:ext cx="9316278" cy="54775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总结汇报：所有同学以组为单位汇报（每组三人或者两人，由各班级助教同学确认组号组员学号</a:t>
            </a:r>
            <a:r>
              <a:rPr lang="zh-CN" altLang="en-US" dirty="0">
                <a:solidFill>
                  <a:schemeClr val="accent1"/>
                </a:solidFill>
              </a:rPr>
              <a:t>姓名后</a:t>
            </a:r>
            <a:r>
              <a:rPr lang="zh-CN" altLang="en-US" dirty="0">
                <a:solidFill>
                  <a:schemeClr val="accent1"/>
                </a:solidFill>
              </a:rPr>
              <a:t>发群里），由一个同学代为汇报小组所有</a:t>
            </a:r>
            <a:r>
              <a:rPr lang="zh-CN" altLang="en-US" dirty="0">
                <a:solidFill>
                  <a:schemeClr val="accent1"/>
                </a:solidFill>
              </a:rPr>
              <a:t>同学的学习情况（统一一个</a:t>
            </a:r>
            <a:r>
              <a:rPr lang="en-US" altLang="zh-CN" dirty="0">
                <a:solidFill>
                  <a:schemeClr val="accent1"/>
                </a:solidFill>
              </a:rPr>
              <a:t>PPT</a:t>
            </a:r>
            <a:r>
              <a:rPr lang="zh-CN" altLang="en-US" dirty="0">
                <a:solidFill>
                  <a:schemeClr val="accent1"/>
                </a:solidFill>
              </a:rPr>
              <a:t>），小组其他同学也上讲台，随时补充。</a:t>
            </a:r>
            <a:endParaRPr lang="zh-CN" altLang="en-US" dirty="0">
              <a:solidFill>
                <a:schemeClr val="accent1"/>
              </a:solidFill>
            </a:endParaRPr>
          </a:p>
          <a:p>
            <a:r>
              <a:rPr lang="en-US" altLang="zh-CN" dirty="0">
                <a:solidFill>
                  <a:schemeClr val="accent1"/>
                </a:solidFill>
              </a:rPr>
              <a:t>    PPT</a:t>
            </a:r>
            <a:r>
              <a:rPr lang="zh-CN" altLang="en-US" dirty="0">
                <a:solidFill>
                  <a:schemeClr val="accent1"/>
                </a:solidFill>
              </a:rPr>
              <a:t>必须包括以下内容：</a:t>
            </a:r>
            <a:endParaRPr lang="zh-CN" altLang="en-US" dirty="0">
              <a:solidFill>
                <a:schemeClr val="accent1"/>
              </a:solidFill>
            </a:endParaRPr>
          </a:p>
          <a:p>
            <a:r>
              <a:rPr lang="en-US" altLang="zh-CN" dirty="0">
                <a:solidFill>
                  <a:schemeClr val="accent1"/>
                </a:solidFill>
              </a:rPr>
              <a:t>1</a:t>
            </a:r>
            <a:r>
              <a:rPr lang="zh-CN" altLang="en-US" dirty="0">
                <a:solidFill>
                  <a:schemeClr val="accent1"/>
                </a:solidFill>
              </a:rPr>
              <a:t>、选作的实验你做了哪些？其中有哪些让自己觉得是比较经典的电路和其中的特色之处？（</a:t>
            </a:r>
            <a:r>
              <a:rPr lang="zh-CN" altLang="en-US" dirty="0">
                <a:solidFill>
                  <a:schemeClr val="accent1"/>
                </a:solidFill>
              </a:rPr>
              <a:t>各个同学各自不同）</a:t>
            </a:r>
            <a:endParaRPr lang="zh-CN" altLang="en-US" dirty="0">
              <a:solidFill>
                <a:schemeClr val="accent1"/>
              </a:solidFill>
            </a:endParaRPr>
          </a:p>
          <a:p>
            <a:r>
              <a:rPr lang="en-US" altLang="zh-CN" dirty="0">
                <a:solidFill>
                  <a:schemeClr val="accent1"/>
                </a:solidFill>
              </a:rPr>
              <a:t>2</a:t>
            </a:r>
            <a:r>
              <a:rPr lang="zh-CN" altLang="en-US" dirty="0">
                <a:solidFill>
                  <a:schemeClr val="accent1"/>
                </a:solidFill>
              </a:rPr>
              <a:t>、从本课程中学到</a:t>
            </a:r>
            <a:r>
              <a:rPr lang="en-US" altLang="zh-CN" dirty="0">
                <a:solidFill>
                  <a:schemeClr val="accent1"/>
                </a:solidFill>
              </a:rPr>
              <a:t>/</a:t>
            </a:r>
            <a:r>
              <a:rPr lang="zh-CN" altLang="en-US" dirty="0">
                <a:solidFill>
                  <a:schemeClr val="accent1"/>
                </a:solidFill>
              </a:rPr>
              <a:t>获得了什么（小组统一）？</a:t>
            </a:r>
            <a:endParaRPr lang="zh-CN" altLang="en-US" dirty="0">
              <a:solidFill>
                <a:schemeClr val="accent1"/>
              </a:solidFill>
            </a:endParaRPr>
          </a:p>
          <a:p>
            <a:r>
              <a:rPr lang="en-US" altLang="zh-CN" dirty="0">
                <a:solidFill>
                  <a:schemeClr val="accent1"/>
                </a:solidFill>
              </a:rPr>
              <a:t>3</a:t>
            </a:r>
            <a:r>
              <a:rPr lang="zh-CN" altLang="en-US" dirty="0">
                <a:solidFill>
                  <a:schemeClr val="accent1"/>
                </a:solidFill>
              </a:rPr>
              <a:t>、哪个是你认为最有用让你醍醐灌顶的实验？为什么</a:t>
            </a:r>
            <a:r>
              <a:rPr lang="en-US" altLang="zh-CN" dirty="0">
                <a:solidFill>
                  <a:schemeClr val="accent1"/>
                </a:solidFill>
              </a:rPr>
              <a:t> </a:t>
            </a:r>
            <a:r>
              <a:rPr lang="zh-CN" altLang="en-US" dirty="0">
                <a:solidFill>
                  <a:schemeClr val="accent1"/>
                </a:solidFill>
              </a:rPr>
              <a:t>？（小组统一）</a:t>
            </a:r>
            <a:endParaRPr lang="zh-CN" altLang="en-US" dirty="0">
              <a:solidFill>
                <a:schemeClr val="accent1"/>
              </a:solidFill>
            </a:endParaRPr>
          </a:p>
          <a:p>
            <a:r>
              <a:rPr lang="en-US" altLang="zh-CN" dirty="0">
                <a:solidFill>
                  <a:schemeClr val="accent1"/>
                </a:solidFill>
              </a:rPr>
              <a:t>4</a:t>
            </a:r>
            <a:r>
              <a:rPr lang="zh-CN" altLang="en-US" dirty="0">
                <a:solidFill>
                  <a:schemeClr val="accent1"/>
                </a:solidFill>
              </a:rPr>
              <a:t>、为</a:t>
            </a:r>
            <a:r>
              <a:rPr lang="en-US" altLang="zh-CN" dirty="0">
                <a:solidFill>
                  <a:schemeClr val="accent1"/>
                </a:solidFill>
              </a:rPr>
              <a:t>6</a:t>
            </a:r>
            <a:r>
              <a:rPr lang="zh-CN" altLang="en-US" dirty="0">
                <a:solidFill>
                  <a:schemeClr val="accent1"/>
                </a:solidFill>
              </a:rPr>
              <a:t>个实验（包括选做</a:t>
            </a:r>
            <a:r>
              <a:rPr lang="zh-CN" altLang="en-US" dirty="0">
                <a:solidFill>
                  <a:schemeClr val="accent1"/>
                </a:solidFill>
              </a:rPr>
              <a:t>的流水</a:t>
            </a:r>
            <a:r>
              <a:rPr lang="zh-CN" altLang="en-US" dirty="0">
                <a:solidFill>
                  <a:schemeClr val="accent1"/>
                </a:solidFill>
              </a:rPr>
              <a:t>线）学习难度排序（小组统一）</a:t>
            </a:r>
            <a:endParaRPr lang="zh-CN" altLang="en-US" dirty="0">
              <a:solidFill>
                <a:schemeClr val="accent1"/>
              </a:solidFill>
            </a:endParaRPr>
          </a:p>
          <a:p>
            <a:r>
              <a:rPr lang="en-US" altLang="zh-CN" dirty="0">
                <a:solidFill>
                  <a:schemeClr val="accent1"/>
                </a:solidFill>
              </a:rPr>
              <a:t>5</a:t>
            </a:r>
            <a:r>
              <a:rPr lang="zh-CN" altLang="en-US" dirty="0">
                <a:solidFill>
                  <a:schemeClr val="accent1"/>
                </a:solidFill>
              </a:rPr>
              <a:t>、对于本课程内容最满意</a:t>
            </a:r>
            <a:r>
              <a:rPr lang="en-US" altLang="zh-CN" dirty="0">
                <a:solidFill>
                  <a:schemeClr val="accent1"/>
                </a:solidFill>
              </a:rPr>
              <a:t>/</a:t>
            </a:r>
            <a:r>
              <a:rPr lang="zh-CN" altLang="en-US" dirty="0">
                <a:solidFill>
                  <a:schemeClr val="accent1"/>
                </a:solidFill>
              </a:rPr>
              <a:t>不满意的地方及中肯的建议（对以下内容打分，满分</a:t>
            </a:r>
            <a:r>
              <a:rPr lang="en-US" altLang="zh-CN" dirty="0">
                <a:solidFill>
                  <a:schemeClr val="accent1"/>
                </a:solidFill>
              </a:rPr>
              <a:t>5</a:t>
            </a:r>
            <a:r>
              <a:rPr lang="zh-CN" altLang="en-US" dirty="0">
                <a:solidFill>
                  <a:schemeClr val="accent1"/>
                </a:solidFill>
              </a:rPr>
              <a:t>分。如课程内容安排、课件、上课方式、检查方式、慕课、教材、头哥等）？（小组统一）</a:t>
            </a:r>
            <a:endParaRPr lang="zh-CN" altLang="en-US" dirty="0">
              <a:solidFill>
                <a:schemeClr val="accent1"/>
              </a:solidFill>
            </a:endParaRPr>
          </a:p>
          <a:p>
            <a:endParaRPr lang="en-US" altLang="zh-CN" dirty="0">
              <a:solidFill>
                <a:schemeClr val="accent1"/>
              </a:solidFill>
            </a:endParaRPr>
          </a:p>
          <a:p>
            <a:endParaRPr lang="en-US" altLang="zh-CN" dirty="0">
              <a:solidFill>
                <a:schemeClr val="accent1"/>
              </a:solidFill>
            </a:endParaRPr>
          </a:p>
          <a:p>
            <a:r>
              <a:rPr lang="en-US" altLang="zh-CN" dirty="0">
                <a:solidFill>
                  <a:schemeClr val="accent1"/>
                </a:solidFill>
              </a:rPr>
              <a:t>        </a:t>
            </a:r>
            <a:r>
              <a:rPr lang="zh-CN" altLang="en-US" dirty="0">
                <a:solidFill>
                  <a:schemeClr val="accent1"/>
                </a:solidFill>
              </a:rPr>
              <a:t>事先各组把</a:t>
            </a:r>
            <a:r>
              <a:rPr lang="en-US" altLang="zh-CN" dirty="0">
                <a:solidFill>
                  <a:schemeClr val="accent1"/>
                </a:solidFill>
              </a:rPr>
              <a:t>PPT</a:t>
            </a:r>
            <a:r>
              <a:rPr lang="zh-CN" altLang="en-US" dirty="0">
                <a:solidFill>
                  <a:schemeClr val="accent1"/>
                </a:solidFill>
              </a:rPr>
              <a:t>提交给助教同学，在上课前拷入教师机，</a:t>
            </a:r>
            <a:r>
              <a:rPr lang="zh-CN" altLang="en-US" dirty="0">
                <a:solidFill>
                  <a:schemeClr val="accent1"/>
                </a:solidFill>
                <a:sym typeface="+mn-ea"/>
              </a:rPr>
              <a:t>每组同学汇报时间</a:t>
            </a:r>
            <a:r>
              <a:rPr lang="en-US" altLang="zh-CN" dirty="0">
                <a:solidFill>
                  <a:schemeClr val="accent1"/>
                </a:solidFill>
                <a:sym typeface="+mn-ea"/>
              </a:rPr>
              <a:t>5</a:t>
            </a:r>
            <a:r>
              <a:rPr lang="zh-CN" altLang="en-US" dirty="0">
                <a:solidFill>
                  <a:schemeClr val="accent1"/>
                </a:solidFill>
                <a:sym typeface="+mn-ea"/>
              </a:rPr>
              <a:t>分钟（参照毕设汇报时间），留部分时间老师提问，课后把老师提问和你的回答放入汇报</a:t>
            </a:r>
            <a:r>
              <a:rPr lang="en-US" altLang="zh-CN" dirty="0">
                <a:solidFill>
                  <a:schemeClr val="accent1"/>
                </a:solidFill>
                <a:sym typeface="+mn-ea"/>
              </a:rPr>
              <a:t>PPT</a:t>
            </a:r>
            <a:r>
              <a:rPr lang="zh-CN" altLang="en-US" dirty="0">
                <a:solidFill>
                  <a:schemeClr val="accent1"/>
                </a:solidFill>
                <a:sym typeface="+mn-ea"/>
              </a:rPr>
              <a:t>统一上交（注意文件命名规则）</a:t>
            </a:r>
            <a:r>
              <a:rPr lang="zh-CN" altLang="en-US" dirty="0">
                <a:solidFill>
                  <a:schemeClr val="accent1"/>
                </a:solidFill>
              </a:rPr>
              <a:t>助教。</a:t>
            </a:r>
            <a:endParaRPr lang="zh-CN" altLang="en-US" dirty="0">
              <a:solidFill>
                <a:schemeClr val="accent1"/>
              </a:solidFill>
            </a:endParaRPr>
          </a:p>
          <a:p>
            <a:endParaRPr lang="zh-CN" altLang="en-US" dirty="0">
              <a:solidFill>
                <a:schemeClr val="accent1"/>
              </a:solidFill>
            </a:endParaRPr>
          </a:p>
          <a:p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       </a:t>
            </a:r>
            <a:r>
              <a:rPr lang="zh-CN" altLang="en-US" dirty="0">
                <a:solidFill>
                  <a:schemeClr val="accent1"/>
                </a:solidFill>
              </a:rPr>
              <a:t>留部分时间流水线</a:t>
            </a:r>
            <a:r>
              <a:rPr lang="en-US" altLang="zh-CN" dirty="0">
                <a:solidFill>
                  <a:schemeClr val="accent1"/>
                </a:solidFill>
              </a:rPr>
              <a:t>CPU</a:t>
            </a:r>
            <a:r>
              <a:rPr lang="zh-CN" altLang="en-US" dirty="0">
                <a:solidFill>
                  <a:schemeClr val="accent1"/>
                </a:solidFill>
              </a:rPr>
              <a:t>的检查（选做）和部分前</a:t>
            </a:r>
            <a:r>
              <a:rPr lang="en-US" altLang="zh-CN" dirty="0">
                <a:solidFill>
                  <a:schemeClr val="accent1"/>
                </a:solidFill>
              </a:rPr>
              <a:t>5</a:t>
            </a:r>
            <a:r>
              <a:rPr lang="zh-CN" altLang="en-US" dirty="0">
                <a:solidFill>
                  <a:schemeClr val="accent1"/>
                </a:solidFill>
              </a:rPr>
              <a:t>个实验</a:t>
            </a:r>
            <a:r>
              <a:rPr lang="zh-CN" altLang="en-US" dirty="0">
                <a:solidFill>
                  <a:schemeClr val="accent1"/>
                </a:solidFill>
              </a:rPr>
              <a:t>未完成同学的补充</a:t>
            </a:r>
            <a:r>
              <a:rPr lang="zh-CN" altLang="en-US" dirty="0">
                <a:solidFill>
                  <a:schemeClr val="accent1"/>
                </a:solidFill>
              </a:rPr>
              <a:t>检查</a:t>
            </a:r>
            <a:endParaRPr lang="zh-CN" altLang="en-US" dirty="0">
              <a:solidFill>
                <a:schemeClr val="accent1"/>
              </a:solidFill>
            </a:endParaRPr>
          </a:p>
          <a:p>
            <a:endParaRPr lang="zh-CN" altLang="en-US" dirty="0">
              <a:solidFill>
                <a:schemeClr val="accent1"/>
              </a:solidFill>
            </a:endParaRPr>
          </a:p>
          <a:p>
            <a:endParaRPr lang="zh-CN" altLang="en-US" sz="8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468</Words>
  <Application>WPS 演示</Application>
  <PresentationFormat>宽屏</PresentationFormat>
  <Paragraphs>15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等线</vt:lpstr>
      <vt:lpstr>微软雅黑</vt:lpstr>
      <vt:lpstr>Arial Unicode MS</vt:lpstr>
      <vt:lpstr>等线 Light</vt:lpstr>
      <vt:lpstr>Calibri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 FENG</dc:creator>
  <cp:lastModifiedBy>刘峰</cp:lastModifiedBy>
  <cp:revision>7</cp:revision>
  <dcterms:created xsi:type="dcterms:W3CDTF">2025-05-12T06:01:00Z</dcterms:created>
  <dcterms:modified xsi:type="dcterms:W3CDTF">2025-12-01T08:12:00Z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B002D893379D4884B28AFCFA1DC69749_12</vt:lpwstr>
  </property>
  <property fmtid="{D5CDD505-2E9C-101B-9397-08002B2CF9AE}" pid="3" name="KSOProductBuildVer">
    <vt:lpwstr>2052-12.1.0.23542</vt:lpwstr>
  </property>
</Properties>
</file>