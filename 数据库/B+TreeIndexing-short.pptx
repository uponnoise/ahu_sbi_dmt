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6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7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8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9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10.xml" ContentType="application/vnd.openxmlformats-officedocument.theme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  <p:sldMasterId id="2147483773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38" r:id="rId9"/>
    <p:sldMasterId id="2147483749" r:id="rId10"/>
    <p:sldMasterId id="2147483755" r:id="rId11"/>
  </p:sldMasterIdLst>
  <p:notesMasterIdLst>
    <p:notesMasterId r:id="rId38"/>
  </p:notesMasterIdLst>
  <p:sldIdLst>
    <p:sldId id="265" r:id="rId12"/>
    <p:sldId id="479" r:id="rId13"/>
    <p:sldId id="480" r:id="rId14"/>
    <p:sldId id="476" r:id="rId15"/>
    <p:sldId id="497" r:id="rId16"/>
    <p:sldId id="482" r:id="rId17"/>
    <p:sldId id="483" r:id="rId18"/>
    <p:sldId id="499" r:id="rId19"/>
    <p:sldId id="477" r:id="rId20"/>
    <p:sldId id="440" r:id="rId21"/>
    <p:sldId id="441" r:id="rId22"/>
    <p:sldId id="488" r:id="rId23"/>
    <p:sldId id="445" r:id="rId24"/>
    <p:sldId id="444" r:id="rId25"/>
    <p:sldId id="491" r:id="rId26"/>
    <p:sldId id="492" r:id="rId27"/>
    <p:sldId id="447" r:id="rId28"/>
    <p:sldId id="450" r:id="rId29"/>
    <p:sldId id="489" r:id="rId30"/>
    <p:sldId id="490" r:id="rId31"/>
    <p:sldId id="456" r:id="rId32"/>
    <p:sldId id="457" r:id="rId33"/>
    <p:sldId id="458" r:id="rId34"/>
    <p:sldId id="459" r:id="rId35"/>
    <p:sldId id="460" r:id="rId36"/>
    <p:sldId id="498" r:id="rId3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FF9D5B"/>
    <a:srgbClr val="800000"/>
    <a:srgbClr val="A71930"/>
    <a:srgbClr val="B45F06"/>
    <a:srgbClr val="65BDFF"/>
    <a:srgbClr val="D4D4F4"/>
    <a:srgbClr val="FFFF99"/>
    <a:srgbClr val="B9E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81258" autoAdjust="0"/>
  </p:normalViewPr>
  <p:slideViewPr>
    <p:cSldViewPr>
      <p:cViewPr varScale="1">
        <p:scale>
          <a:sx n="60" d="100"/>
          <a:sy n="60" d="100"/>
        </p:scale>
        <p:origin x="892" y="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92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presProps" Target="presProps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AC631B-EBAB-493B-8C23-722F3D11AF04}" type="doc">
      <dgm:prSet loTypeId="urn:microsoft.com/office/officeart/2005/8/layout/pyramid1" loCatId="pyramid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11F9D802-8D10-45EA-816E-AC226A09FB40}">
      <dgm:prSet phldrT="[Text]" custT="1"/>
      <dgm:spPr/>
      <dgm:t>
        <a:bodyPr/>
        <a:lstStyle/>
        <a:p>
          <a:endParaRPr lang="en-US" sz="1400" dirty="0">
            <a:solidFill>
              <a:schemeClr val="bg1"/>
            </a:solidFill>
          </a:endParaRPr>
        </a:p>
        <a:p>
          <a:r>
            <a:rPr lang="en-US" sz="2400" dirty="0">
              <a:solidFill>
                <a:schemeClr val="bg1"/>
              </a:solidFill>
            </a:rPr>
            <a:t>CPU Registries</a:t>
          </a:r>
        </a:p>
      </dgm:t>
    </dgm:pt>
    <dgm:pt modelId="{C756BAFF-F05B-44FB-8666-311278839A27}" type="parTrans" cxnId="{E61A1F62-D31D-49F2-9D41-4B644B2280D7}">
      <dgm:prSet/>
      <dgm:spPr/>
      <dgm:t>
        <a:bodyPr/>
        <a:lstStyle/>
        <a:p>
          <a:endParaRPr lang="en-US"/>
        </a:p>
      </dgm:t>
    </dgm:pt>
    <dgm:pt modelId="{24F5C1AA-1C3A-47A8-88CF-0B9D79240188}" type="sibTrans" cxnId="{E61A1F62-D31D-49F2-9D41-4B644B2280D7}">
      <dgm:prSet/>
      <dgm:spPr/>
      <dgm:t>
        <a:bodyPr/>
        <a:lstStyle/>
        <a:p>
          <a:endParaRPr lang="en-US"/>
        </a:p>
      </dgm:t>
    </dgm:pt>
    <dgm:pt modelId="{66706977-2A17-447E-B998-77A155936318}">
      <dgm:prSet phldrT="[Text]"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</a:rPr>
            <a:t>CPU Caches</a:t>
          </a:r>
        </a:p>
      </dgm:t>
    </dgm:pt>
    <dgm:pt modelId="{66FC43A0-21B7-46EF-8CC9-A852DBD24D88}" type="parTrans" cxnId="{ED696F04-5BAD-426B-8E03-1F0311F6F720}">
      <dgm:prSet/>
      <dgm:spPr/>
      <dgm:t>
        <a:bodyPr/>
        <a:lstStyle/>
        <a:p>
          <a:endParaRPr lang="en-US"/>
        </a:p>
      </dgm:t>
    </dgm:pt>
    <dgm:pt modelId="{F96EFFA6-A06C-4223-9550-D99678194B0B}" type="sibTrans" cxnId="{ED696F04-5BAD-426B-8E03-1F0311F6F720}">
      <dgm:prSet/>
      <dgm:spPr/>
      <dgm:t>
        <a:bodyPr/>
        <a:lstStyle/>
        <a:p>
          <a:endParaRPr lang="en-US"/>
        </a:p>
      </dgm:t>
    </dgm:pt>
    <dgm:pt modelId="{A03E60DA-F901-451D-AB22-2A7338725943}">
      <dgm:prSet phldrT="[Text]"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</a:rPr>
            <a:t>DRAM</a:t>
          </a:r>
        </a:p>
      </dgm:t>
    </dgm:pt>
    <dgm:pt modelId="{C457E65D-FCC2-40CE-A84B-A048454852CD}" type="parTrans" cxnId="{FC040199-DC3F-4027-AEB5-B1CD0BEBF1C9}">
      <dgm:prSet/>
      <dgm:spPr/>
      <dgm:t>
        <a:bodyPr/>
        <a:lstStyle/>
        <a:p>
          <a:endParaRPr lang="en-US"/>
        </a:p>
      </dgm:t>
    </dgm:pt>
    <dgm:pt modelId="{CE49348E-87CD-4B8F-AB88-ADC3DE8BB2DB}" type="sibTrans" cxnId="{FC040199-DC3F-4027-AEB5-B1CD0BEBF1C9}">
      <dgm:prSet/>
      <dgm:spPr/>
      <dgm:t>
        <a:bodyPr/>
        <a:lstStyle/>
        <a:p>
          <a:endParaRPr lang="en-US"/>
        </a:p>
      </dgm:t>
    </dgm:pt>
    <dgm:pt modelId="{478F2272-B241-4F6A-A332-7F8D3C202AC1}">
      <dgm:prSet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</a:rPr>
            <a:t>SSD</a:t>
          </a:r>
        </a:p>
      </dgm:t>
    </dgm:pt>
    <dgm:pt modelId="{F2B09DC2-8626-41BC-87B6-97CC78733780}" type="parTrans" cxnId="{788CF7D7-15AF-4280-9979-CA3EB0A7740B}">
      <dgm:prSet/>
      <dgm:spPr/>
      <dgm:t>
        <a:bodyPr/>
        <a:lstStyle/>
        <a:p>
          <a:endParaRPr lang="en-US"/>
        </a:p>
      </dgm:t>
    </dgm:pt>
    <dgm:pt modelId="{11E13076-3FDA-42A9-878B-E52B12549269}" type="sibTrans" cxnId="{788CF7D7-15AF-4280-9979-CA3EB0A7740B}">
      <dgm:prSet/>
      <dgm:spPr/>
      <dgm:t>
        <a:bodyPr/>
        <a:lstStyle/>
        <a:p>
          <a:endParaRPr lang="en-US"/>
        </a:p>
      </dgm:t>
    </dgm:pt>
    <dgm:pt modelId="{269499C8-4531-458D-897F-7508C9B99A36}">
      <dgm:prSet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</a:rPr>
            <a:t>HDD</a:t>
          </a:r>
        </a:p>
      </dgm:t>
    </dgm:pt>
    <dgm:pt modelId="{C2F244CE-9F16-4B2F-9395-861F60FE20EE}" type="parTrans" cxnId="{B779B9C7-A033-42FE-B4BF-B032303B124E}">
      <dgm:prSet/>
      <dgm:spPr/>
      <dgm:t>
        <a:bodyPr/>
        <a:lstStyle/>
        <a:p>
          <a:endParaRPr lang="en-US"/>
        </a:p>
      </dgm:t>
    </dgm:pt>
    <dgm:pt modelId="{035DDE9F-1A17-4EFC-941E-2E791F77CD73}" type="sibTrans" cxnId="{B779B9C7-A033-42FE-B4BF-B032303B124E}">
      <dgm:prSet/>
      <dgm:spPr/>
      <dgm:t>
        <a:bodyPr/>
        <a:lstStyle/>
        <a:p>
          <a:endParaRPr lang="en-US"/>
        </a:p>
      </dgm:t>
    </dgm:pt>
    <dgm:pt modelId="{198938E7-76AB-45DB-986C-3DEA1442728A}">
      <dgm:prSet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</a:rPr>
            <a:t>Network Storage</a:t>
          </a:r>
        </a:p>
      </dgm:t>
    </dgm:pt>
    <dgm:pt modelId="{2C9F12C9-5E9B-44FA-97BB-52484296D966}" type="parTrans" cxnId="{7387723F-7050-410C-A517-906F82892F9F}">
      <dgm:prSet/>
      <dgm:spPr/>
      <dgm:t>
        <a:bodyPr/>
        <a:lstStyle/>
        <a:p>
          <a:endParaRPr lang="en-US"/>
        </a:p>
      </dgm:t>
    </dgm:pt>
    <dgm:pt modelId="{2779AEE5-8E76-4C76-A4EC-D44567EDD933}" type="sibTrans" cxnId="{7387723F-7050-410C-A517-906F82892F9F}">
      <dgm:prSet/>
      <dgm:spPr/>
      <dgm:t>
        <a:bodyPr/>
        <a:lstStyle/>
        <a:p>
          <a:endParaRPr lang="en-US"/>
        </a:p>
      </dgm:t>
    </dgm:pt>
    <dgm:pt modelId="{0E0D27CB-47A2-47E4-B66C-52E8A1ECBA91}" type="pres">
      <dgm:prSet presAssocID="{D8AC631B-EBAB-493B-8C23-722F3D11AF04}" presName="Name0" presStyleCnt="0">
        <dgm:presLayoutVars>
          <dgm:dir/>
          <dgm:animLvl val="lvl"/>
          <dgm:resizeHandles val="exact"/>
        </dgm:presLayoutVars>
      </dgm:prSet>
      <dgm:spPr/>
    </dgm:pt>
    <dgm:pt modelId="{E4F03CE3-CADD-4AB7-87D0-367478B2023C}" type="pres">
      <dgm:prSet presAssocID="{11F9D802-8D10-45EA-816E-AC226A09FB40}" presName="Name8" presStyleCnt="0"/>
      <dgm:spPr/>
    </dgm:pt>
    <dgm:pt modelId="{C993F868-2FAA-4239-9A1B-4158EA08246A}" type="pres">
      <dgm:prSet presAssocID="{11F9D802-8D10-45EA-816E-AC226A09FB40}" presName="level" presStyleLbl="node1" presStyleIdx="0" presStyleCnt="6">
        <dgm:presLayoutVars>
          <dgm:chMax val="1"/>
          <dgm:bulletEnabled val="1"/>
        </dgm:presLayoutVars>
      </dgm:prSet>
      <dgm:spPr/>
    </dgm:pt>
    <dgm:pt modelId="{3775154C-128A-44DC-A713-D55C4A06FAC2}" type="pres">
      <dgm:prSet presAssocID="{11F9D802-8D10-45EA-816E-AC226A09FB4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F2F62D8-D6EC-4940-9F3B-D3492EDDFDFE}" type="pres">
      <dgm:prSet presAssocID="{66706977-2A17-447E-B998-77A155936318}" presName="Name8" presStyleCnt="0"/>
      <dgm:spPr/>
    </dgm:pt>
    <dgm:pt modelId="{0034391B-F299-434F-AFEC-578D7CFEDA55}" type="pres">
      <dgm:prSet presAssocID="{66706977-2A17-447E-B998-77A155936318}" presName="level" presStyleLbl="node1" presStyleIdx="1" presStyleCnt="6">
        <dgm:presLayoutVars>
          <dgm:chMax val="1"/>
          <dgm:bulletEnabled val="1"/>
        </dgm:presLayoutVars>
      </dgm:prSet>
      <dgm:spPr/>
    </dgm:pt>
    <dgm:pt modelId="{A09D1F57-9C6F-4505-9DB0-FE3CC0C7D277}" type="pres">
      <dgm:prSet presAssocID="{66706977-2A17-447E-B998-77A15593631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470471E-15B2-42C9-9DC3-39EF9405307C}" type="pres">
      <dgm:prSet presAssocID="{A03E60DA-F901-451D-AB22-2A7338725943}" presName="Name8" presStyleCnt="0"/>
      <dgm:spPr/>
    </dgm:pt>
    <dgm:pt modelId="{613E8CBB-20E0-403E-8C4D-B2606F7FE98D}" type="pres">
      <dgm:prSet presAssocID="{A03E60DA-F901-451D-AB22-2A7338725943}" presName="level" presStyleLbl="node1" presStyleIdx="2" presStyleCnt="6">
        <dgm:presLayoutVars>
          <dgm:chMax val="1"/>
          <dgm:bulletEnabled val="1"/>
        </dgm:presLayoutVars>
      </dgm:prSet>
      <dgm:spPr/>
    </dgm:pt>
    <dgm:pt modelId="{4BD359FA-D1BC-4C22-A1DC-7FB3AB5FD0AB}" type="pres">
      <dgm:prSet presAssocID="{A03E60DA-F901-451D-AB22-2A73387259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FE2CB00-F37C-4210-9A58-EA6C94CC29EE}" type="pres">
      <dgm:prSet presAssocID="{478F2272-B241-4F6A-A332-7F8D3C202AC1}" presName="Name8" presStyleCnt="0"/>
      <dgm:spPr/>
    </dgm:pt>
    <dgm:pt modelId="{811A6027-3441-43BC-B774-9292C49D6116}" type="pres">
      <dgm:prSet presAssocID="{478F2272-B241-4F6A-A332-7F8D3C202AC1}" presName="level" presStyleLbl="node1" presStyleIdx="3" presStyleCnt="6">
        <dgm:presLayoutVars>
          <dgm:chMax val="1"/>
          <dgm:bulletEnabled val="1"/>
        </dgm:presLayoutVars>
      </dgm:prSet>
      <dgm:spPr/>
    </dgm:pt>
    <dgm:pt modelId="{03B35A6A-63F4-48E6-8F4B-49C82F9FB588}" type="pres">
      <dgm:prSet presAssocID="{478F2272-B241-4F6A-A332-7F8D3C202AC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9B5B190-86A5-466A-ACD0-F5F3339557BC}" type="pres">
      <dgm:prSet presAssocID="{269499C8-4531-458D-897F-7508C9B99A36}" presName="Name8" presStyleCnt="0"/>
      <dgm:spPr/>
    </dgm:pt>
    <dgm:pt modelId="{BE0C2893-2BAA-44AD-B20C-412F6E525767}" type="pres">
      <dgm:prSet presAssocID="{269499C8-4531-458D-897F-7508C9B99A36}" presName="level" presStyleLbl="node1" presStyleIdx="4" presStyleCnt="6">
        <dgm:presLayoutVars>
          <dgm:chMax val="1"/>
          <dgm:bulletEnabled val="1"/>
        </dgm:presLayoutVars>
      </dgm:prSet>
      <dgm:spPr/>
    </dgm:pt>
    <dgm:pt modelId="{6354CACF-B695-44BC-83B1-FCBF9689E27B}" type="pres">
      <dgm:prSet presAssocID="{269499C8-4531-458D-897F-7508C9B99A3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54DF02E-4EC0-4F23-BB7F-C172E1CF6F87}" type="pres">
      <dgm:prSet presAssocID="{198938E7-76AB-45DB-986C-3DEA1442728A}" presName="Name8" presStyleCnt="0"/>
      <dgm:spPr/>
    </dgm:pt>
    <dgm:pt modelId="{05893FDD-C796-4CAE-88A0-1480BA34F51F}" type="pres">
      <dgm:prSet presAssocID="{198938E7-76AB-45DB-986C-3DEA1442728A}" presName="level" presStyleLbl="node1" presStyleIdx="5" presStyleCnt="6">
        <dgm:presLayoutVars>
          <dgm:chMax val="1"/>
          <dgm:bulletEnabled val="1"/>
        </dgm:presLayoutVars>
      </dgm:prSet>
      <dgm:spPr/>
    </dgm:pt>
    <dgm:pt modelId="{CDDEB3AC-44A4-4E64-B669-19908F4E959C}" type="pres">
      <dgm:prSet presAssocID="{198938E7-76AB-45DB-986C-3DEA1442728A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696F04-5BAD-426B-8E03-1F0311F6F720}" srcId="{D8AC631B-EBAB-493B-8C23-722F3D11AF04}" destId="{66706977-2A17-447E-B998-77A155936318}" srcOrd="1" destOrd="0" parTransId="{66FC43A0-21B7-46EF-8CC9-A852DBD24D88}" sibTransId="{F96EFFA6-A06C-4223-9550-D99678194B0B}"/>
    <dgm:cxn modelId="{0F1CCE35-5DB1-4171-86CB-214AFF3A750D}" type="presOf" srcId="{269499C8-4531-458D-897F-7508C9B99A36}" destId="{6354CACF-B695-44BC-83B1-FCBF9689E27B}" srcOrd="1" destOrd="0" presId="urn:microsoft.com/office/officeart/2005/8/layout/pyramid1"/>
    <dgm:cxn modelId="{7387723F-7050-410C-A517-906F82892F9F}" srcId="{D8AC631B-EBAB-493B-8C23-722F3D11AF04}" destId="{198938E7-76AB-45DB-986C-3DEA1442728A}" srcOrd="5" destOrd="0" parTransId="{2C9F12C9-5E9B-44FA-97BB-52484296D966}" sibTransId="{2779AEE5-8E76-4C76-A4EC-D44567EDD933}"/>
    <dgm:cxn modelId="{E61A1F62-D31D-49F2-9D41-4B644B2280D7}" srcId="{D8AC631B-EBAB-493B-8C23-722F3D11AF04}" destId="{11F9D802-8D10-45EA-816E-AC226A09FB40}" srcOrd="0" destOrd="0" parTransId="{C756BAFF-F05B-44FB-8666-311278839A27}" sibTransId="{24F5C1AA-1C3A-47A8-88CF-0B9D79240188}"/>
    <dgm:cxn modelId="{AEDD476A-FF1B-475B-AE92-2A002EA8DEAD}" type="presOf" srcId="{11F9D802-8D10-45EA-816E-AC226A09FB40}" destId="{C993F868-2FAA-4239-9A1B-4158EA08246A}" srcOrd="0" destOrd="0" presId="urn:microsoft.com/office/officeart/2005/8/layout/pyramid1"/>
    <dgm:cxn modelId="{45A08470-50E0-4054-B8D4-941753C195F3}" type="presOf" srcId="{66706977-2A17-447E-B998-77A155936318}" destId="{A09D1F57-9C6F-4505-9DB0-FE3CC0C7D277}" srcOrd="1" destOrd="0" presId="urn:microsoft.com/office/officeart/2005/8/layout/pyramid1"/>
    <dgm:cxn modelId="{907FA97A-B5FF-48CF-AB80-F8C6CB243968}" type="presOf" srcId="{D8AC631B-EBAB-493B-8C23-722F3D11AF04}" destId="{0E0D27CB-47A2-47E4-B66C-52E8A1ECBA91}" srcOrd="0" destOrd="0" presId="urn:microsoft.com/office/officeart/2005/8/layout/pyramid1"/>
    <dgm:cxn modelId="{6CDBB57A-B5B1-4295-A39C-CEEB24481B06}" type="presOf" srcId="{11F9D802-8D10-45EA-816E-AC226A09FB40}" destId="{3775154C-128A-44DC-A713-D55C4A06FAC2}" srcOrd="1" destOrd="0" presId="urn:microsoft.com/office/officeart/2005/8/layout/pyramid1"/>
    <dgm:cxn modelId="{202C1384-55AB-4A74-98E9-A68543CDD692}" type="presOf" srcId="{198938E7-76AB-45DB-986C-3DEA1442728A}" destId="{05893FDD-C796-4CAE-88A0-1480BA34F51F}" srcOrd="0" destOrd="0" presId="urn:microsoft.com/office/officeart/2005/8/layout/pyramid1"/>
    <dgm:cxn modelId="{CB234189-1EAF-4A41-9002-2D20225CA988}" type="presOf" srcId="{198938E7-76AB-45DB-986C-3DEA1442728A}" destId="{CDDEB3AC-44A4-4E64-B669-19908F4E959C}" srcOrd="1" destOrd="0" presId="urn:microsoft.com/office/officeart/2005/8/layout/pyramid1"/>
    <dgm:cxn modelId="{FC040199-DC3F-4027-AEB5-B1CD0BEBF1C9}" srcId="{D8AC631B-EBAB-493B-8C23-722F3D11AF04}" destId="{A03E60DA-F901-451D-AB22-2A7338725943}" srcOrd="2" destOrd="0" parTransId="{C457E65D-FCC2-40CE-A84B-A048454852CD}" sibTransId="{CE49348E-87CD-4B8F-AB88-ADC3DE8BB2DB}"/>
    <dgm:cxn modelId="{0A8C419D-0E8A-4F3A-A92D-4214191BAF25}" type="presOf" srcId="{269499C8-4531-458D-897F-7508C9B99A36}" destId="{BE0C2893-2BAA-44AD-B20C-412F6E525767}" srcOrd="0" destOrd="0" presId="urn:microsoft.com/office/officeart/2005/8/layout/pyramid1"/>
    <dgm:cxn modelId="{DFD090C1-24FF-40AC-A187-06B4775D00B0}" type="presOf" srcId="{478F2272-B241-4F6A-A332-7F8D3C202AC1}" destId="{03B35A6A-63F4-48E6-8F4B-49C82F9FB588}" srcOrd="1" destOrd="0" presId="urn:microsoft.com/office/officeart/2005/8/layout/pyramid1"/>
    <dgm:cxn modelId="{B779B9C7-A033-42FE-B4BF-B032303B124E}" srcId="{D8AC631B-EBAB-493B-8C23-722F3D11AF04}" destId="{269499C8-4531-458D-897F-7508C9B99A36}" srcOrd="4" destOrd="0" parTransId="{C2F244CE-9F16-4B2F-9395-861F60FE20EE}" sibTransId="{035DDE9F-1A17-4EFC-941E-2E791F77CD73}"/>
    <dgm:cxn modelId="{572ADACB-DD9A-49E8-AD7F-198F58F2F5B6}" type="presOf" srcId="{A03E60DA-F901-451D-AB22-2A7338725943}" destId="{613E8CBB-20E0-403E-8C4D-B2606F7FE98D}" srcOrd="0" destOrd="0" presId="urn:microsoft.com/office/officeart/2005/8/layout/pyramid1"/>
    <dgm:cxn modelId="{BBA686CF-C983-4DF1-852D-27160A196837}" type="presOf" srcId="{A03E60DA-F901-451D-AB22-2A7338725943}" destId="{4BD359FA-D1BC-4C22-A1DC-7FB3AB5FD0AB}" srcOrd="1" destOrd="0" presId="urn:microsoft.com/office/officeart/2005/8/layout/pyramid1"/>
    <dgm:cxn modelId="{788CF7D7-15AF-4280-9979-CA3EB0A7740B}" srcId="{D8AC631B-EBAB-493B-8C23-722F3D11AF04}" destId="{478F2272-B241-4F6A-A332-7F8D3C202AC1}" srcOrd="3" destOrd="0" parTransId="{F2B09DC2-8626-41BC-87B6-97CC78733780}" sibTransId="{11E13076-3FDA-42A9-878B-E52B12549269}"/>
    <dgm:cxn modelId="{B3EF3BDA-3056-46EE-BB5D-9F2572D8C3F0}" type="presOf" srcId="{478F2272-B241-4F6A-A332-7F8D3C202AC1}" destId="{811A6027-3441-43BC-B774-9292C49D6116}" srcOrd="0" destOrd="0" presId="urn:microsoft.com/office/officeart/2005/8/layout/pyramid1"/>
    <dgm:cxn modelId="{689EB0F8-E77C-4A46-82BE-9A855BCCFE9E}" type="presOf" srcId="{66706977-2A17-447E-B998-77A155936318}" destId="{0034391B-F299-434F-AFEC-578D7CFEDA55}" srcOrd="0" destOrd="0" presId="urn:microsoft.com/office/officeart/2005/8/layout/pyramid1"/>
    <dgm:cxn modelId="{F64BF9D7-70C9-4B75-B351-281643DFEAFD}" type="presParOf" srcId="{0E0D27CB-47A2-47E4-B66C-52E8A1ECBA91}" destId="{E4F03CE3-CADD-4AB7-87D0-367478B2023C}" srcOrd="0" destOrd="0" presId="urn:microsoft.com/office/officeart/2005/8/layout/pyramid1"/>
    <dgm:cxn modelId="{1D56B0A6-6D0D-4455-B2CD-DA4E82499DE6}" type="presParOf" srcId="{E4F03CE3-CADD-4AB7-87D0-367478B2023C}" destId="{C993F868-2FAA-4239-9A1B-4158EA08246A}" srcOrd="0" destOrd="0" presId="urn:microsoft.com/office/officeart/2005/8/layout/pyramid1"/>
    <dgm:cxn modelId="{6993A94D-26F5-4C1F-9905-DFBCDCF1FAEA}" type="presParOf" srcId="{E4F03CE3-CADD-4AB7-87D0-367478B2023C}" destId="{3775154C-128A-44DC-A713-D55C4A06FAC2}" srcOrd="1" destOrd="0" presId="urn:microsoft.com/office/officeart/2005/8/layout/pyramid1"/>
    <dgm:cxn modelId="{C8A8CC8D-883C-464B-AF46-7FE22FC38CD0}" type="presParOf" srcId="{0E0D27CB-47A2-47E4-B66C-52E8A1ECBA91}" destId="{EF2F62D8-D6EC-4940-9F3B-D3492EDDFDFE}" srcOrd="1" destOrd="0" presId="urn:microsoft.com/office/officeart/2005/8/layout/pyramid1"/>
    <dgm:cxn modelId="{BC549CDA-CA7F-46CE-AF9E-734E0AFCBA5B}" type="presParOf" srcId="{EF2F62D8-D6EC-4940-9F3B-D3492EDDFDFE}" destId="{0034391B-F299-434F-AFEC-578D7CFEDA55}" srcOrd="0" destOrd="0" presId="urn:microsoft.com/office/officeart/2005/8/layout/pyramid1"/>
    <dgm:cxn modelId="{634AB76F-B500-4D0D-9CF5-C8FFE941C862}" type="presParOf" srcId="{EF2F62D8-D6EC-4940-9F3B-D3492EDDFDFE}" destId="{A09D1F57-9C6F-4505-9DB0-FE3CC0C7D277}" srcOrd="1" destOrd="0" presId="urn:microsoft.com/office/officeart/2005/8/layout/pyramid1"/>
    <dgm:cxn modelId="{46F9D8BC-F689-4832-BFA3-C66324D3F68D}" type="presParOf" srcId="{0E0D27CB-47A2-47E4-B66C-52E8A1ECBA91}" destId="{8470471E-15B2-42C9-9DC3-39EF9405307C}" srcOrd="2" destOrd="0" presId="urn:microsoft.com/office/officeart/2005/8/layout/pyramid1"/>
    <dgm:cxn modelId="{7577D135-5F3F-445B-953E-6BC289E6ED8F}" type="presParOf" srcId="{8470471E-15B2-42C9-9DC3-39EF9405307C}" destId="{613E8CBB-20E0-403E-8C4D-B2606F7FE98D}" srcOrd="0" destOrd="0" presId="urn:microsoft.com/office/officeart/2005/8/layout/pyramid1"/>
    <dgm:cxn modelId="{82AF97F4-F04E-4A21-BF51-F1E6431BEA01}" type="presParOf" srcId="{8470471E-15B2-42C9-9DC3-39EF9405307C}" destId="{4BD359FA-D1BC-4C22-A1DC-7FB3AB5FD0AB}" srcOrd="1" destOrd="0" presId="urn:microsoft.com/office/officeart/2005/8/layout/pyramid1"/>
    <dgm:cxn modelId="{7204770C-DB83-448F-B85B-E53AD6C9AB71}" type="presParOf" srcId="{0E0D27CB-47A2-47E4-B66C-52E8A1ECBA91}" destId="{DFE2CB00-F37C-4210-9A58-EA6C94CC29EE}" srcOrd="3" destOrd="0" presId="urn:microsoft.com/office/officeart/2005/8/layout/pyramid1"/>
    <dgm:cxn modelId="{AB335E3C-FDE4-4783-BB43-5AAA3CC05316}" type="presParOf" srcId="{DFE2CB00-F37C-4210-9A58-EA6C94CC29EE}" destId="{811A6027-3441-43BC-B774-9292C49D6116}" srcOrd="0" destOrd="0" presId="urn:microsoft.com/office/officeart/2005/8/layout/pyramid1"/>
    <dgm:cxn modelId="{92B25EC1-53E0-4B1D-8E74-FF2DFC16DE60}" type="presParOf" srcId="{DFE2CB00-F37C-4210-9A58-EA6C94CC29EE}" destId="{03B35A6A-63F4-48E6-8F4B-49C82F9FB588}" srcOrd="1" destOrd="0" presId="urn:microsoft.com/office/officeart/2005/8/layout/pyramid1"/>
    <dgm:cxn modelId="{EFD62A4E-D4F8-46FE-BCCE-BAA8F3F09E03}" type="presParOf" srcId="{0E0D27CB-47A2-47E4-B66C-52E8A1ECBA91}" destId="{B9B5B190-86A5-466A-ACD0-F5F3339557BC}" srcOrd="4" destOrd="0" presId="urn:microsoft.com/office/officeart/2005/8/layout/pyramid1"/>
    <dgm:cxn modelId="{64C4F531-1F57-4A89-B987-602B8D47A37B}" type="presParOf" srcId="{B9B5B190-86A5-466A-ACD0-F5F3339557BC}" destId="{BE0C2893-2BAA-44AD-B20C-412F6E525767}" srcOrd="0" destOrd="0" presId="urn:microsoft.com/office/officeart/2005/8/layout/pyramid1"/>
    <dgm:cxn modelId="{A7395DDB-1BDF-472C-A76C-83FB1B028561}" type="presParOf" srcId="{B9B5B190-86A5-466A-ACD0-F5F3339557BC}" destId="{6354CACF-B695-44BC-83B1-FCBF9689E27B}" srcOrd="1" destOrd="0" presId="urn:microsoft.com/office/officeart/2005/8/layout/pyramid1"/>
    <dgm:cxn modelId="{73BDFD51-5605-4DBE-A0A9-8302ECF47288}" type="presParOf" srcId="{0E0D27CB-47A2-47E4-B66C-52E8A1ECBA91}" destId="{854DF02E-4EC0-4F23-BB7F-C172E1CF6F87}" srcOrd="5" destOrd="0" presId="urn:microsoft.com/office/officeart/2005/8/layout/pyramid1"/>
    <dgm:cxn modelId="{A8C60744-1A04-4D7E-BE70-98B78DC3DEE1}" type="presParOf" srcId="{854DF02E-4EC0-4F23-BB7F-C172E1CF6F87}" destId="{05893FDD-C796-4CAE-88A0-1480BA34F51F}" srcOrd="0" destOrd="0" presId="urn:microsoft.com/office/officeart/2005/8/layout/pyramid1"/>
    <dgm:cxn modelId="{4DC3BDBF-A3C8-438A-B44C-024D66C8B850}" type="presParOf" srcId="{854DF02E-4EC0-4F23-BB7F-C172E1CF6F87}" destId="{CDDEB3AC-44A4-4E64-B669-19908F4E959C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3F868-2FAA-4239-9A1B-4158EA08246A}">
      <dsp:nvSpPr>
        <dsp:cNvPr id="0" name=""/>
        <dsp:cNvSpPr/>
      </dsp:nvSpPr>
      <dsp:spPr>
        <a:xfrm>
          <a:off x="4921911" y="0"/>
          <a:ext cx="1968764" cy="886089"/>
        </a:xfrm>
        <a:prstGeom prst="trapezoid">
          <a:avLst>
            <a:gd name="adj" fmla="val 111093"/>
          </a:avLst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solidFill>
              <a:schemeClr val="bg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</a:rPr>
            <a:t>CPU Registries</a:t>
          </a:r>
        </a:p>
      </dsp:txBody>
      <dsp:txXfrm>
        <a:off x="4921911" y="0"/>
        <a:ext cx="1968764" cy="886089"/>
      </dsp:txXfrm>
    </dsp:sp>
    <dsp:sp modelId="{0034391B-F299-434F-AFEC-578D7CFEDA55}">
      <dsp:nvSpPr>
        <dsp:cNvPr id="0" name=""/>
        <dsp:cNvSpPr/>
      </dsp:nvSpPr>
      <dsp:spPr>
        <a:xfrm>
          <a:off x="3937529" y="886089"/>
          <a:ext cx="3937528" cy="886089"/>
        </a:xfrm>
        <a:prstGeom prst="trapezoid">
          <a:avLst>
            <a:gd name="adj" fmla="val 111093"/>
          </a:avLst>
        </a:prstGeom>
        <a:solidFill>
          <a:schemeClr val="accent2">
            <a:alpha val="90000"/>
            <a:hueOff val="0"/>
            <a:satOff val="0"/>
            <a:lumOff val="0"/>
            <a:alphaOff val="-8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</a:rPr>
            <a:t>CPU Caches</a:t>
          </a:r>
        </a:p>
      </dsp:txBody>
      <dsp:txXfrm>
        <a:off x="4626596" y="886089"/>
        <a:ext cx="2559393" cy="886089"/>
      </dsp:txXfrm>
    </dsp:sp>
    <dsp:sp modelId="{613E8CBB-20E0-403E-8C4D-B2606F7FE98D}">
      <dsp:nvSpPr>
        <dsp:cNvPr id="0" name=""/>
        <dsp:cNvSpPr/>
      </dsp:nvSpPr>
      <dsp:spPr>
        <a:xfrm>
          <a:off x="2953146" y="1772178"/>
          <a:ext cx="5906293" cy="886089"/>
        </a:xfrm>
        <a:prstGeom prst="trapezoid">
          <a:avLst>
            <a:gd name="adj" fmla="val 111093"/>
          </a:avLst>
        </a:prstGeom>
        <a:solidFill>
          <a:schemeClr val="accent2">
            <a:alpha val="90000"/>
            <a:hueOff val="0"/>
            <a:satOff val="0"/>
            <a:lumOff val="0"/>
            <a:alphaOff val="-16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</a:rPr>
            <a:t>DRAM</a:t>
          </a:r>
        </a:p>
      </dsp:txBody>
      <dsp:txXfrm>
        <a:off x="3986748" y="1772178"/>
        <a:ext cx="3839090" cy="886089"/>
      </dsp:txXfrm>
    </dsp:sp>
    <dsp:sp modelId="{811A6027-3441-43BC-B774-9292C49D6116}">
      <dsp:nvSpPr>
        <dsp:cNvPr id="0" name=""/>
        <dsp:cNvSpPr/>
      </dsp:nvSpPr>
      <dsp:spPr>
        <a:xfrm>
          <a:off x="1968764" y="2658268"/>
          <a:ext cx="7875057" cy="886089"/>
        </a:xfrm>
        <a:prstGeom prst="trapezoid">
          <a:avLst>
            <a:gd name="adj" fmla="val 111093"/>
          </a:avLst>
        </a:prstGeom>
        <a:solidFill>
          <a:schemeClr val="accent2">
            <a:alpha val="90000"/>
            <a:hueOff val="0"/>
            <a:satOff val="0"/>
            <a:lumOff val="0"/>
            <a:alphaOff val="-24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</a:rPr>
            <a:t>SSD</a:t>
          </a:r>
        </a:p>
      </dsp:txBody>
      <dsp:txXfrm>
        <a:off x="3346899" y="2658268"/>
        <a:ext cx="5118787" cy="886089"/>
      </dsp:txXfrm>
    </dsp:sp>
    <dsp:sp modelId="{BE0C2893-2BAA-44AD-B20C-412F6E525767}">
      <dsp:nvSpPr>
        <dsp:cNvPr id="0" name=""/>
        <dsp:cNvSpPr/>
      </dsp:nvSpPr>
      <dsp:spPr>
        <a:xfrm>
          <a:off x="984382" y="3544358"/>
          <a:ext cx="9843822" cy="886089"/>
        </a:xfrm>
        <a:prstGeom prst="trapezoid">
          <a:avLst>
            <a:gd name="adj" fmla="val 111093"/>
          </a:avLst>
        </a:prstGeom>
        <a:solidFill>
          <a:schemeClr val="accent2">
            <a:alpha val="90000"/>
            <a:hueOff val="0"/>
            <a:satOff val="0"/>
            <a:lumOff val="0"/>
            <a:alphaOff val="-32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</a:rPr>
            <a:t>HDD</a:t>
          </a:r>
        </a:p>
      </dsp:txBody>
      <dsp:txXfrm>
        <a:off x="2707051" y="3544358"/>
        <a:ext cx="6398484" cy="886089"/>
      </dsp:txXfrm>
    </dsp:sp>
    <dsp:sp modelId="{05893FDD-C796-4CAE-88A0-1480BA34F51F}">
      <dsp:nvSpPr>
        <dsp:cNvPr id="0" name=""/>
        <dsp:cNvSpPr/>
      </dsp:nvSpPr>
      <dsp:spPr>
        <a:xfrm>
          <a:off x="0" y="4430447"/>
          <a:ext cx="11812587" cy="886089"/>
        </a:xfrm>
        <a:prstGeom prst="trapezoid">
          <a:avLst>
            <a:gd name="adj" fmla="val 111093"/>
          </a:avLst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</a:rPr>
            <a:t>Network Storage</a:t>
          </a:r>
        </a:p>
      </dsp:txBody>
      <dsp:txXfrm>
        <a:off x="2067202" y="4430447"/>
        <a:ext cx="7678181" cy="886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628FCE6-EDDF-4DAD-B7E1-744EFADB451A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2938DFF-218C-4948-B31E-06D658EB2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360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938DFF-218C-4948-B31E-06D658EB2B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8769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DFF-218C-4948-B31E-06D658EB2B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58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https://www.compuram.de/blog/en/samsung-server-ssd-purchasing-advice/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A46638-A69A-4CA3-8EF2-320A26C447D5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1335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>
                <a:latin typeface="UniversS 55 Roman" pitchFamily="2" charset="0"/>
              </a:rPr>
              <a:t>ceiling(</a:t>
            </a:r>
            <a:r>
              <a:rPr lang="en-US" sz="1100" i="1" dirty="0">
                <a:latin typeface="UniversS 55 Roman" pitchFamily="2" charset="0"/>
              </a:rPr>
              <a:t>x</a:t>
            </a:r>
            <a:r>
              <a:rPr lang="en-US" sz="1100" dirty="0">
                <a:latin typeface="UniversS 55 Roman" pitchFamily="2" charset="0"/>
              </a:rPr>
              <a:t>) =  is the smallest integer not less than </a:t>
            </a:r>
            <a:r>
              <a:rPr lang="en-US" sz="1100" i="1" dirty="0">
                <a:latin typeface="UniversS 55 Roman" pitchFamily="2" charset="0"/>
              </a:rPr>
              <a:t>x</a:t>
            </a:r>
            <a:r>
              <a:rPr lang="en-US" sz="1100" dirty="0">
                <a:latin typeface="UniversS 55 Roman" pitchFamily="2" charset="0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A46638-A69A-4CA3-8EF2-320A26C447D5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9477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https://www.ibm.com/docs/en/db2/11.5?topic=tables-table-page-sizes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DFF-218C-4948-B31E-06D658EB2B3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02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page size of 4KB,  three level B+-Tree, </a:t>
            </a:r>
          </a:p>
          <a:p>
            <a:r>
              <a:rPr lang="en-US" dirty="0"/>
              <a:t>Assume key size: 8bytes, pointer size: 32bytes; </a:t>
            </a:r>
          </a:p>
          <a:p>
            <a:r>
              <a:rPr lang="en-US" dirty="0"/>
              <a:t>Each  page can hold ~100</a:t>
            </a:r>
            <a:r>
              <a:rPr lang="en-US" baseline="0" dirty="0"/>
              <a:t> keys;  </a:t>
            </a:r>
            <a:r>
              <a:rPr lang="en-US" baseline="0" dirty="0" err="1"/>
              <a:t>fanout</a:t>
            </a:r>
            <a:r>
              <a:rPr lang="en-US" baseline="0" dirty="0"/>
              <a:t> factor: 200 </a:t>
            </a:r>
          </a:p>
          <a:p>
            <a:r>
              <a:rPr lang="en-US" baseline="0" dirty="0"/>
              <a:t>Depth four.</a:t>
            </a:r>
          </a:p>
          <a:p>
            <a:r>
              <a:rPr lang="en-US" baseline="0" dirty="0"/>
              <a:t>Best case keys:  200x200x200 x100 = 8x10^8 = 800M. </a:t>
            </a:r>
          </a:p>
          <a:p>
            <a:r>
              <a:rPr lang="en-US" baseline="0" dirty="0"/>
              <a:t>Three I/O pages needed for a value search.    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A46638-A69A-4CA3-8EF2-320A26C447D5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5586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n = 133</a:t>
            </a:r>
            <a:r>
              <a:rPr lang="en-US" altLang="en-US" baseline="30000" dirty="0"/>
              <a:t>3</a:t>
            </a:r>
            <a:r>
              <a:rPr lang="en-US" altLang="en-US" dirty="0"/>
              <a:t>; log</a:t>
            </a:r>
            <a:r>
              <a:rPr lang="en-US" altLang="en-US" baseline="-25000" dirty="0"/>
              <a:t>133</a:t>
            </a:r>
            <a:r>
              <a:rPr lang="en-US" altLang="en-US" dirty="0"/>
              <a:t>(n)  = 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DFF-218C-4948-B31E-06D658EB2B3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10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>
              <a:lnSpc>
                <a:spcPts val="1834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DFF-218C-4948-B31E-06D658EB2B3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92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https://www.ibm.com/docs/en/db2/11.5?topic=organization-index-reorganization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A46638-A69A-4CA3-8EF2-320A26C447D5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1088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cci.emory.edu/cms" TargetMode="External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cci.emory.edu/cms" TargetMode="External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0" y="1082675"/>
            <a:ext cx="12192000" cy="1588"/>
          </a:xfrm>
          <a:prstGeom prst="line">
            <a:avLst/>
          </a:prstGeom>
          <a:ln w="12700">
            <a:solidFill>
              <a:srgbClr val="B602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288062"/>
            <a:ext cx="12192000" cy="467416"/>
          </a:xfrm>
          <a:prstGeom prst="rect">
            <a:avLst/>
          </a:prstGeom>
        </p:spPr>
        <p:txBody>
          <a:bodyPr anchor="ctr"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1091260"/>
            <a:ext cx="12192000" cy="5205623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5209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609600" y="1066801"/>
            <a:ext cx="10972800" cy="5211917"/>
          </a:xfrm>
        </p:spPr>
        <p:txBody>
          <a:bodyPr tIns="0" rIns="0" bIns="0" anchor="ctr"/>
          <a:lstStyle>
            <a:lvl1pPr algn="ctr">
              <a:buFontTx/>
              <a:buNone/>
              <a:defRPr sz="4400">
                <a:solidFill>
                  <a:srgbClr val="B60225"/>
                </a:solidFill>
              </a:defRPr>
            </a:lvl1pPr>
            <a:lvl2pPr marL="228600" indent="-228600" algn="ctr">
              <a:buClr>
                <a:srgbClr val="C03137"/>
              </a:buClr>
              <a:buFontTx/>
              <a:buNone/>
              <a:defRPr sz="2400"/>
            </a:lvl2pPr>
            <a:lvl3pPr marL="458788" indent="-230188" algn="ctr">
              <a:buFontTx/>
              <a:buNone/>
              <a:defRPr/>
            </a:lvl3pPr>
            <a:lvl4pPr marL="458788" indent="-230188" algn="ctr">
              <a:buFontTx/>
              <a:buNone/>
              <a:defRPr/>
            </a:lvl4pPr>
            <a:lvl5pPr marL="458788" indent="-230188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141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Left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609600" y="1367658"/>
            <a:ext cx="10972800" cy="4804543"/>
          </a:xfrm>
        </p:spPr>
        <p:txBody>
          <a:bodyPr tIns="0" rIns="0" bIns="0"/>
          <a:lstStyle>
            <a:lvl1pPr>
              <a:buFontTx/>
              <a:buNone/>
              <a:defRPr>
                <a:solidFill>
                  <a:srgbClr val="B60225"/>
                </a:solidFill>
              </a:defRPr>
            </a:lvl1pPr>
            <a:lvl2pPr marL="228600" indent="-228600">
              <a:buClr>
                <a:srgbClr val="C03137"/>
              </a:buClr>
              <a:buFont typeface="Arial"/>
              <a:buChar char="•"/>
              <a:defRPr sz="2400"/>
            </a:lvl2pPr>
            <a:lvl3pPr marL="458788" indent="-230188">
              <a:defRPr/>
            </a:lvl3pPr>
            <a:lvl4pPr marL="458788" indent="-230188">
              <a:defRPr/>
            </a:lvl4pPr>
            <a:lvl5pPr marL="458788" indent="-230188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1718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Bulleted Text 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2"/>
          </p:nvPr>
        </p:nvSpPr>
        <p:spPr>
          <a:xfrm>
            <a:off x="609599" y="1384048"/>
            <a:ext cx="7034288" cy="4788153"/>
          </a:xfrm>
        </p:spPr>
        <p:txBody>
          <a:bodyPr tIns="0"/>
          <a:lstStyle>
            <a:lvl1pPr marL="0" indent="0">
              <a:buNone/>
              <a:defRPr sz="2600">
                <a:solidFill>
                  <a:srgbClr val="B60225"/>
                </a:solidFill>
              </a:defRPr>
            </a:lvl1pPr>
            <a:lvl2pPr marL="228600" indent="-228600" algn="l">
              <a:buClr>
                <a:srgbClr val="B60225"/>
              </a:buClr>
              <a:buFont typeface="Arial"/>
              <a:buChar char="•"/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17"/>
          </p:nvPr>
        </p:nvSpPr>
        <p:spPr>
          <a:xfrm>
            <a:off x="8116291" y="1094980"/>
            <a:ext cx="4075709" cy="1661390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21"/>
          </p:nvPr>
        </p:nvSpPr>
        <p:spPr>
          <a:xfrm>
            <a:off x="8116291" y="4619039"/>
            <a:ext cx="4075709" cy="1655702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22"/>
          </p:nvPr>
        </p:nvSpPr>
        <p:spPr>
          <a:xfrm>
            <a:off x="8116291" y="2850446"/>
            <a:ext cx="4075709" cy="1655702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35405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Bulleted Tex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714862" y="1094981"/>
            <a:ext cx="5477137" cy="5173084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2"/>
          </p:nvPr>
        </p:nvSpPr>
        <p:spPr>
          <a:xfrm>
            <a:off x="609600" y="1392240"/>
            <a:ext cx="5638801" cy="4805361"/>
          </a:xfrm>
        </p:spPr>
        <p:txBody>
          <a:bodyPr tIns="0"/>
          <a:lstStyle>
            <a:lvl1pPr marL="0" indent="0">
              <a:buNone/>
              <a:defRPr sz="2600">
                <a:solidFill>
                  <a:srgbClr val="B60225"/>
                </a:solidFill>
              </a:defRPr>
            </a:lvl1pPr>
            <a:lvl2pPr marL="228600" indent="-228600" algn="l">
              <a:buClr>
                <a:srgbClr val="B60225"/>
              </a:buClr>
              <a:buFont typeface="Arial"/>
              <a:buChar char="•"/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61208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225" y="152400"/>
            <a:ext cx="11813228" cy="7179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26" y="931863"/>
            <a:ext cx="11813228" cy="5316538"/>
          </a:xfrm>
        </p:spPr>
        <p:txBody>
          <a:bodyPr/>
          <a:lstStyle>
            <a:lvl1pPr>
              <a:spcAft>
                <a:spcPts val="300"/>
              </a:spcAft>
              <a:defRPr>
                <a:latin typeface="Verdana" pitchFamily="34" charset="0"/>
              </a:defRPr>
            </a:lvl1pPr>
            <a:lvl2pPr>
              <a:spcAft>
                <a:spcPts val="300"/>
              </a:spcAft>
              <a:defRPr>
                <a:latin typeface="Verdana" pitchFamily="34" charset="0"/>
              </a:defRPr>
            </a:lvl2pPr>
            <a:lvl3pPr>
              <a:spcAft>
                <a:spcPts val="300"/>
              </a:spcAft>
              <a:defRPr>
                <a:latin typeface="Verdana" pitchFamily="34" charset="0"/>
              </a:defRPr>
            </a:lvl3pPr>
            <a:lvl4pPr>
              <a:spcAft>
                <a:spcPts val="300"/>
              </a:spcAft>
              <a:defRPr>
                <a:latin typeface="Verdana" pitchFamily="34" charset="0"/>
              </a:defRPr>
            </a:lvl4pPr>
            <a:lvl5pPr>
              <a:spcAft>
                <a:spcPts val="300"/>
              </a:spcAft>
              <a:defRPr>
                <a:latin typeface="Verdan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69859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1" y="169333"/>
            <a:ext cx="11909852" cy="7179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26" y="931863"/>
            <a:ext cx="11813228" cy="5316538"/>
          </a:xfrm>
        </p:spPr>
        <p:txBody>
          <a:bodyPr/>
          <a:lstStyle>
            <a:lvl1pPr>
              <a:spcAft>
                <a:spcPts val="300"/>
              </a:spcAft>
              <a:defRPr>
                <a:latin typeface="Verdana" pitchFamily="34" charset="0"/>
              </a:defRPr>
            </a:lvl1pPr>
            <a:lvl2pPr>
              <a:spcAft>
                <a:spcPts val="300"/>
              </a:spcAft>
              <a:defRPr>
                <a:latin typeface="Verdana" pitchFamily="34" charset="0"/>
              </a:defRPr>
            </a:lvl2pPr>
            <a:lvl3pPr>
              <a:spcAft>
                <a:spcPts val="300"/>
              </a:spcAft>
              <a:defRPr>
                <a:latin typeface="Verdana" pitchFamily="34" charset="0"/>
              </a:defRPr>
            </a:lvl3pPr>
            <a:lvl4pPr>
              <a:spcAft>
                <a:spcPts val="300"/>
              </a:spcAft>
              <a:defRPr>
                <a:latin typeface="Verdana" pitchFamily="34" charset="0"/>
              </a:defRPr>
            </a:lvl4pPr>
            <a:lvl5pPr>
              <a:spcAft>
                <a:spcPts val="300"/>
              </a:spcAft>
              <a:defRPr>
                <a:latin typeface="Verdana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792209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8DA987-F755-88BE-C273-E55F3DB81491}"/>
              </a:ext>
            </a:extLst>
          </p:cNvPr>
          <p:cNvSpPr/>
          <p:nvPr userDrawn="1"/>
        </p:nvSpPr>
        <p:spPr bwMode="auto">
          <a:xfrm>
            <a:off x="1" y="2282757"/>
            <a:ext cx="12192000" cy="2441643"/>
          </a:xfrm>
          <a:prstGeom prst="rect">
            <a:avLst/>
          </a:prstGeom>
          <a:solidFill>
            <a:srgbClr val="8D1A1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5899" y="2590801"/>
            <a:ext cx="11813228" cy="1905000"/>
          </a:xfrm>
        </p:spPr>
        <p:txBody>
          <a:bodyPr anchor="ctr" anchorCtr="0"/>
          <a:lstStyle>
            <a:lvl1pPr marL="0" indent="0" algn="ctr">
              <a:spcAft>
                <a:spcPts val="300"/>
              </a:spcAft>
              <a:buNone/>
              <a:defRPr sz="3400">
                <a:solidFill>
                  <a:schemeClr val="bg1"/>
                </a:solidFill>
                <a:latin typeface="Verdana" pitchFamily="34" charset="0"/>
              </a:defRPr>
            </a:lvl1pPr>
            <a:lvl2pPr>
              <a:spcAft>
                <a:spcPts val="300"/>
              </a:spcAft>
              <a:defRPr>
                <a:latin typeface="Verdana" pitchFamily="34" charset="0"/>
              </a:defRPr>
            </a:lvl2pPr>
            <a:lvl3pPr>
              <a:spcAft>
                <a:spcPts val="300"/>
              </a:spcAft>
              <a:defRPr>
                <a:latin typeface="Verdana" pitchFamily="34" charset="0"/>
              </a:defRPr>
            </a:lvl3pPr>
            <a:lvl4pPr>
              <a:spcAft>
                <a:spcPts val="300"/>
              </a:spcAft>
              <a:defRPr>
                <a:latin typeface="Verdana" pitchFamily="34" charset="0"/>
              </a:defRPr>
            </a:lvl4pPr>
            <a:lvl5pPr>
              <a:spcAft>
                <a:spcPts val="300"/>
              </a:spcAft>
              <a:defRPr>
                <a:latin typeface="Verdana" pitchFamily="34" charset="0"/>
              </a:defRPr>
            </a:lvl5pPr>
          </a:lstStyle>
          <a:p>
            <a:pPr lvl="0"/>
            <a:r>
              <a:rPr lang="en-US" dirty="0"/>
              <a:t>Common Tabe Expressions </a:t>
            </a:r>
          </a:p>
          <a:p>
            <a:pPr lvl="0"/>
            <a:r>
              <a:rPr lang="en-US" dirty="0"/>
              <a:t>and Recursive Queries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C57061-B223-29B6-C8FE-305EDC1AD3FD}"/>
              </a:ext>
            </a:extLst>
          </p:cNvPr>
          <p:cNvSpPr/>
          <p:nvPr userDrawn="1"/>
        </p:nvSpPr>
        <p:spPr bwMode="auto">
          <a:xfrm>
            <a:off x="0" y="4876800"/>
            <a:ext cx="12192000" cy="19812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37A6CC-31BA-59FE-B641-46A1E17BF830}"/>
              </a:ext>
            </a:extLst>
          </p:cNvPr>
          <p:cNvCxnSpPr/>
          <p:nvPr userDrawn="1"/>
        </p:nvCxnSpPr>
        <p:spPr bwMode="auto">
          <a:xfrm>
            <a:off x="0" y="4330439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ADC6BC-4043-8EA5-9FDD-134773F612DB}"/>
              </a:ext>
            </a:extLst>
          </p:cNvPr>
          <p:cNvCxnSpPr/>
          <p:nvPr userDrawn="1"/>
        </p:nvCxnSpPr>
        <p:spPr bwMode="auto">
          <a:xfrm>
            <a:off x="0" y="4343401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A22648-D334-3753-E71E-73FC38FC9F50}"/>
              </a:ext>
            </a:extLst>
          </p:cNvPr>
          <p:cNvCxnSpPr/>
          <p:nvPr userDrawn="1"/>
        </p:nvCxnSpPr>
        <p:spPr bwMode="auto">
          <a:xfrm>
            <a:off x="0" y="2688083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BE8D5CE-DBAB-0295-774E-CFA11CEB30D8}"/>
              </a:ext>
            </a:extLst>
          </p:cNvPr>
          <p:cNvCxnSpPr/>
          <p:nvPr userDrawn="1"/>
        </p:nvCxnSpPr>
        <p:spPr bwMode="auto">
          <a:xfrm>
            <a:off x="0" y="2701045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80A516C-91FA-B4EC-0709-8FB583F970D7}"/>
              </a:ext>
            </a:extLst>
          </p:cNvPr>
          <p:cNvSpPr/>
          <p:nvPr userDrawn="1"/>
        </p:nvSpPr>
        <p:spPr bwMode="auto">
          <a:xfrm>
            <a:off x="0" y="-3243"/>
            <a:ext cx="12192000" cy="19812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38273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112475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1" y="1295401"/>
            <a:ext cx="5568951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4151" y="1295401"/>
            <a:ext cx="5568949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865564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059427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696138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86707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657247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419600"/>
            <a:ext cx="11506200" cy="72770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612775"/>
            <a:ext cx="11506200" cy="44926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5367338"/>
            <a:ext cx="11506200" cy="10334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382456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679804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1" y="515939"/>
            <a:ext cx="2851149" cy="6188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3900" y="515939"/>
            <a:ext cx="8350251" cy="6188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569489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2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629834" y="2973388"/>
            <a:ext cx="10562167" cy="2741612"/>
          </a:xfrm>
          <a:prstGeom prst="rect">
            <a:avLst/>
          </a:prstGeom>
          <a:solidFill>
            <a:srgbClr val="CCCC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457200"/>
            <a:endParaRPr lang="en-US" sz="1800" b="0">
              <a:solidFill>
                <a:srgbClr val="000000"/>
              </a:solidFill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2946400" y="1906588"/>
            <a:ext cx="8128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defTabSz="457200" eaLnBrk="0" hangingPunct="0"/>
            <a:endParaRPr lang="de-DE" sz="1800" b="0">
              <a:solidFill>
                <a:srgbClr val="000000"/>
              </a:solidFill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27718" y="2927350"/>
            <a:ext cx="10572749" cy="460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457200"/>
            <a:endParaRPr lang="en-US" sz="1800" b="0">
              <a:solidFill>
                <a:srgbClr val="000000"/>
              </a:solidFill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2701" y="2962276"/>
            <a:ext cx="12187767" cy="95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457200"/>
            <a:endParaRPr lang="en-US" sz="1800" b="0">
              <a:solidFill>
                <a:srgbClr val="000000"/>
              </a:solidFill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1"/>
            <a:ext cx="1627717" cy="6056313"/>
          </a:xfrm>
          <a:prstGeom prst="rect">
            <a:avLst/>
          </a:prstGeom>
          <a:solidFill>
            <a:srgbClr val="D28E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457200"/>
            <a:endParaRPr lang="en-US" sz="1800" b="0">
              <a:solidFill>
                <a:srgbClr val="000000"/>
              </a:solidFill>
              <a:latin typeface="Arial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9" name="Picture 2" descr="Emory | Center for Comprehensive Informatics">
            <a:hlinkClick r:id="rId2" tooltip="Emory | Center for Comprehensive Informatics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42000" y="152400"/>
            <a:ext cx="63500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4073" name="Rectangle 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54400" y="4648200"/>
            <a:ext cx="7924800" cy="684212"/>
          </a:xfrm>
        </p:spPr>
        <p:txBody>
          <a:bodyPr rIns="0"/>
          <a:lstStyle>
            <a:lvl1pPr marL="0" indent="0">
              <a:buFontTx/>
              <a:buNone/>
              <a:defRPr sz="2800">
                <a:latin typeface="Verdana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344074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3454400" y="3810000"/>
            <a:ext cx="7924800" cy="838200"/>
          </a:xfrm>
        </p:spPr>
        <p:txBody>
          <a:bodyPr rIns="0" anchor="b"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1" y="1447800"/>
            <a:ext cx="11341100" cy="5256213"/>
          </a:xfrm>
        </p:spPr>
        <p:txBody>
          <a:bodyPr/>
          <a:lstStyle>
            <a:lvl1pPr>
              <a:spcAft>
                <a:spcPts val="300"/>
              </a:spcAft>
              <a:defRPr>
                <a:latin typeface="Verdana" pitchFamily="34" charset="0"/>
              </a:defRPr>
            </a:lvl1pPr>
            <a:lvl2pPr>
              <a:spcAft>
                <a:spcPts val="300"/>
              </a:spcAft>
              <a:defRPr>
                <a:latin typeface="Verdana" pitchFamily="34" charset="0"/>
              </a:defRPr>
            </a:lvl2pPr>
            <a:lvl3pPr>
              <a:spcAft>
                <a:spcPts val="300"/>
              </a:spcAft>
              <a:defRPr>
                <a:latin typeface="Verdana" pitchFamily="34" charset="0"/>
              </a:defRPr>
            </a:lvl3pPr>
            <a:lvl4pPr>
              <a:spcAft>
                <a:spcPts val="300"/>
              </a:spcAft>
              <a:defRPr>
                <a:latin typeface="Verdana" pitchFamily="34" charset="0"/>
              </a:defRPr>
            </a:lvl4pPr>
            <a:lvl5pPr>
              <a:spcAft>
                <a:spcPts val="300"/>
              </a:spcAft>
              <a:defRPr>
                <a:latin typeface="Verdan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1" y="1295401"/>
            <a:ext cx="5568951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4151" y="1295401"/>
            <a:ext cx="5568949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723900" y="515938"/>
            <a:ext cx="11404600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anchor="ctr"/>
          <a:lstStyle/>
          <a:p>
            <a:pPr eaLnBrk="0" hangingPunct="0">
              <a:lnSpc>
                <a:spcPct val="95000"/>
              </a:lnSpc>
              <a:defRPr/>
            </a:pPr>
            <a:r>
              <a:rPr lang="en-US" sz="2600" b="0">
                <a:solidFill>
                  <a:srgbClr val="003399"/>
                </a:solidFill>
                <a:latin typeface="Verdana" charset="0"/>
                <a:ea typeface="ＭＳ Ｐゴシック" charset="-128"/>
                <a:cs typeface="ＭＳ Ｐゴシック" charset="-128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8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5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965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623887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9933" y="623888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1785938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1" y="515939"/>
            <a:ext cx="2851149" cy="6188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3900" y="515939"/>
            <a:ext cx="8350251" cy="6188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2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629834" y="2973388"/>
            <a:ext cx="10562167" cy="2741612"/>
          </a:xfrm>
          <a:prstGeom prst="rect">
            <a:avLst/>
          </a:prstGeom>
          <a:solidFill>
            <a:srgbClr val="CCCC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457200"/>
            <a:endParaRPr lang="en-US" sz="1800" b="0">
              <a:solidFill>
                <a:prstClr val="black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2946400" y="1906588"/>
            <a:ext cx="8128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defTabSz="457200" eaLnBrk="0" hangingPunct="0"/>
            <a:endParaRPr lang="de-DE" sz="1800" b="0">
              <a:solidFill>
                <a:prstClr val="black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27718" y="2927350"/>
            <a:ext cx="10572749" cy="460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457200"/>
            <a:endParaRPr lang="en-US" sz="1800" b="0">
              <a:solidFill>
                <a:prstClr val="black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2701" y="2962276"/>
            <a:ext cx="12187767" cy="95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457200"/>
            <a:endParaRPr lang="en-US" sz="1800" b="0">
              <a:solidFill>
                <a:prstClr val="black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1"/>
            <a:ext cx="1627717" cy="6056313"/>
          </a:xfrm>
          <a:prstGeom prst="rect">
            <a:avLst/>
          </a:prstGeom>
          <a:solidFill>
            <a:srgbClr val="D28E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457200"/>
            <a:endParaRPr lang="en-US" sz="1800" b="0">
              <a:solidFill>
                <a:prstClr val="black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9" name="Picture 2" descr="Emory | Center for Comprehensive Informatics">
            <a:hlinkClick r:id="rId2" tooltip="Emory | Center for Comprehensive Informatics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42000" y="152400"/>
            <a:ext cx="63500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4073" name="Rectangle 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54400" y="4648200"/>
            <a:ext cx="7924800" cy="684212"/>
          </a:xfrm>
        </p:spPr>
        <p:txBody>
          <a:bodyPr rIns="0"/>
          <a:lstStyle>
            <a:lvl1pPr marL="0" indent="0">
              <a:buFontTx/>
              <a:buNone/>
              <a:defRPr sz="2800">
                <a:latin typeface="Verdana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344074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3454400" y="3810000"/>
            <a:ext cx="7924800" cy="838200"/>
          </a:xfrm>
        </p:spPr>
        <p:txBody>
          <a:bodyPr rIns="0" anchor="b"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1" y="1447800"/>
            <a:ext cx="11341100" cy="5256213"/>
          </a:xfrm>
        </p:spPr>
        <p:txBody>
          <a:bodyPr/>
          <a:lstStyle>
            <a:lvl1pPr>
              <a:spcAft>
                <a:spcPts val="300"/>
              </a:spcAft>
              <a:defRPr>
                <a:latin typeface="Verdana" pitchFamily="34" charset="0"/>
              </a:defRPr>
            </a:lvl1pPr>
            <a:lvl2pPr>
              <a:spcAft>
                <a:spcPts val="300"/>
              </a:spcAft>
              <a:defRPr>
                <a:latin typeface="Verdana" pitchFamily="34" charset="0"/>
              </a:defRPr>
            </a:lvl2pPr>
            <a:lvl3pPr>
              <a:spcAft>
                <a:spcPts val="300"/>
              </a:spcAft>
              <a:defRPr>
                <a:latin typeface="Verdana" pitchFamily="34" charset="0"/>
              </a:defRPr>
            </a:lvl3pPr>
            <a:lvl4pPr>
              <a:spcAft>
                <a:spcPts val="300"/>
              </a:spcAft>
              <a:defRPr>
                <a:latin typeface="Verdana" pitchFamily="34" charset="0"/>
              </a:defRPr>
            </a:lvl4pPr>
            <a:lvl5pPr>
              <a:spcAft>
                <a:spcPts val="300"/>
              </a:spcAft>
              <a:defRPr>
                <a:latin typeface="Verdan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1" y="1295401"/>
            <a:ext cx="5568951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4151" y="1295401"/>
            <a:ext cx="5568949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723900" y="515938"/>
            <a:ext cx="11404600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anchor="ctr"/>
          <a:lstStyle/>
          <a:p>
            <a:pPr eaLnBrk="0" hangingPunct="0">
              <a:lnSpc>
                <a:spcPct val="95000"/>
              </a:lnSpc>
              <a:defRPr/>
            </a:pPr>
            <a:r>
              <a:rPr lang="en-US" sz="2600" b="0">
                <a:solidFill>
                  <a:srgbClr val="003399"/>
                </a:solidFill>
                <a:latin typeface="Verdana" charset="0"/>
                <a:ea typeface="ＭＳ Ｐゴシック" charset="-128"/>
                <a:cs typeface="ＭＳ Ｐゴシック" charset="-128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8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5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965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623887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9933" y="623888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1785938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1" y="515939"/>
            <a:ext cx="2851149" cy="6188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3900" y="515939"/>
            <a:ext cx="8350251" cy="6188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E4F7-EC54-884E-B269-6CFF112D5BB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8538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10972800" cy="1143000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203FF-06CB-3F41-B352-CC59EC00212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92882"/>
            <a:ext cx="28448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7016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2133600" y="5943600"/>
            <a:ext cx="9550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1684000" y="6019800"/>
            <a:ext cx="5080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06213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4648-75C3-8546-A361-B39CF5DCCEB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2173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9304-796E-C148-8BCA-8FD0DF7F364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7913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E519-C31B-4E4E-B7DC-968049A31AC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2310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606BA-8166-1045-A6C6-1E3E9C8B0A0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4202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AD2D-5387-CD48-B37E-649B2D93405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1859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89CEF-F4E5-C74D-9EAC-B09FEC12E0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7845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54BAF-AF2E-8D45-ABBC-65D76A3DA60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7477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132A-2418-DC4D-9E2B-3B8C462C438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2670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E4F7-EC54-884E-B269-6CFF112D5BB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976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10972800" cy="1143000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203FF-06CB-3F41-B352-CC59EC00212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92882"/>
            <a:ext cx="28448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1518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2133600" y="5943600"/>
            <a:ext cx="9550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1684000" y="6019800"/>
            <a:ext cx="5080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51097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4648-75C3-8546-A361-B39CF5DCCEB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9977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9304-796E-C148-8BCA-8FD0DF7F364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58154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E519-C31B-4E4E-B7DC-968049A31AC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84715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606BA-8166-1045-A6C6-1E3E9C8B0A0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80902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AD2D-5387-CD48-B37E-649B2D93405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46688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89CEF-F4E5-C74D-9EAC-B09FEC12E0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8382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54BAF-AF2E-8D45-ABBC-65D76A3DA60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61993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132A-2418-DC4D-9E2B-3B8C462C438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98369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E4F7-EC54-884E-B269-6CFF112D5BB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93429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10972800" cy="1143000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203FF-06CB-3F41-B352-CC59EC00212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92882"/>
            <a:ext cx="28448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1259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2133600" y="5943600"/>
            <a:ext cx="9550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1684000" y="6019800"/>
            <a:ext cx="5080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947406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4648-75C3-8546-A361-B39CF5DCCEB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74025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9304-796E-C148-8BCA-8FD0DF7F364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6378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E519-C31B-4E4E-B7DC-968049A31AC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26347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606BA-8166-1045-A6C6-1E3E9C8B0A0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5632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AD2D-5387-CD48-B37E-649B2D93405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44119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89CEF-F4E5-C74D-9EAC-B09FEC12E0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74601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54BAF-AF2E-8D45-ABBC-65D76A3DA60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82194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132A-2418-DC4D-9E2B-3B8C462C438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22232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0" y="1082675"/>
            <a:ext cx="12192000" cy="1588"/>
          </a:xfrm>
          <a:prstGeom prst="line">
            <a:avLst/>
          </a:prstGeom>
          <a:ln w="12700">
            <a:solidFill>
              <a:srgbClr val="B602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288062"/>
            <a:ext cx="12192000" cy="467416"/>
          </a:xfrm>
          <a:prstGeom prst="rect">
            <a:avLst/>
          </a:prstGeom>
        </p:spPr>
        <p:txBody>
          <a:bodyPr anchor="ctr"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947673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609600" y="1066801"/>
            <a:ext cx="10972800" cy="5211917"/>
          </a:xfrm>
        </p:spPr>
        <p:txBody>
          <a:bodyPr tIns="0" rIns="0" bIns="0" anchor="ctr"/>
          <a:lstStyle>
            <a:lvl1pPr algn="ctr">
              <a:buFontTx/>
              <a:buNone/>
              <a:defRPr sz="4400">
                <a:solidFill>
                  <a:srgbClr val="B60225"/>
                </a:solidFill>
              </a:defRPr>
            </a:lvl1pPr>
            <a:lvl2pPr marL="228600" indent="-228600" algn="ctr">
              <a:buClr>
                <a:srgbClr val="C03137"/>
              </a:buClr>
              <a:buFontTx/>
              <a:buNone/>
              <a:defRPr sz="2400"/>
            </a:lvl2pPr>
            <a:lvl3pPr marL="458788" indent="-230188" algn="ctr">
              <a:buFontTx/>
              <a:buNone/>
              <a:defRPr/>
            </a:lvl3pPr>
            <a:lvl4pPr marL="458788" indent="-230188" algn="ctr">
              <a:buFontTx/>
              <a:buNone/>
              <a:defRPr/>
            </a:lvl4pPr>
            <a:lvl5pPr marL="458788" indent="-230188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0389751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Left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609600" y="1367658"/>
            <a:ext cx="10972800" cy="4804543"/>
          </a:xfrm>
        </p:spPr>
        <p:txBody>
          <a:bodyPr tIns="0" rIns="0" bIns="0"/>
          <a:lstStyle>
            <a:lvl1pPr>
              <a:buFontTx/>
              <a:buNone/>
              <a:defRPr>
                <a:solidFill>
                  <a:srgbClr val="B60225"/>
                </a:solidFill>
              </a:defRPr>
            </a:lvl1pPr>
            <a:lvl2pPr marL="228600" indent="-228600">
              <a:buClr>
                <a:srgbClr val="C03137"/>
              </a:buClr>
              <a:buFont typeface="Arial"/>
              <a:buChar char="•"/>
              <a:defRPr sz="2400"/>
            </a:lvl2pPr>
            <a:lvl3pPr marL="458788" indent="-230188">
              <a:defRPr/>
            </a:lvl3pPr>
            <a:lvl4pPr marL="458788" indent="-230188">
              <a:defRPr/>
            </a:lvl4pPr>
            <a:lvl5pPr marL="458788" indent="-230188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253995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Bulleted Text 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2"/>
          </p:nvPr>
        </p:nvSpPr>
        <p:spPr>
          <a:xfrm>
            <a:off x="609599" y="1384048"/>
            <a:ext cx="7034288" cy="4788153"/>
          </a:xfrm>
        </p:spPr>
        <p:txBody>
          <a:bodyPr tIns="0"/>
          <a:lstStyle>
            <a:lvl1pPr marL="0" indent="0">
              <a:buNone/>
              <a:defRPr sz="2600">
                <a:solidFill>
                  <a:srgbClr val="B60225"/>
                </a:solidFill>
              </a:defRPr>
            </a:lvl1pPr>
            <a:lvl2pPr marL="228600" indent="-228600" algn="l">
              <a:buClr>
                <a:srgbClr val="B60225"/>
              </a:buClr>
              <a:buFont typeface="Arial"/>
              <a:buChar char="•"/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17"/>
          </p:nvPr>
        </p:nvSpPr>
        <p:spPr>
          <a:xfrm>
            <a:off x="8116291" y="1094980"/>
            <a:ext cx="4075709" cy="1661390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21"/>
          </p:nvPr>
        </p:nvSpPr>
        <p:spPr>
          <a:xfrm>
            <a:off x="8116291" y="4619039"/>
            <a:ext cx="4075709" cy="1655702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22"/>
          </p:nvPr>
        </p:nvSpPr>
        <p:spPr>
          <a:xfrm>
            <a:off x="8116291" y="2850446"/>
            <a:ext cx="4075709" cy="1655702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563621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Bulleted Tex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714862" y="1094981"/>
            <a:ext cx="5477137" cy="5173084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2"/>
          </p:nvPr>
        </p:nvSpPr>
        <p:spPr>
          <a:xfrm>
            <a:off x="609600" y="1392240"/>
            <a:ext cx="5638801" cy="4805361"/>
          </a:xfrm>
        </p:spPr>
        <p:txBody>
          <a:bodyPr tIns="0"/>
          <a:lstStyle>
            <a:lvl1pPr marL="0" indent="0">
              <a:buNone/>
              <a:defRPr sz="2600">
                <a:solidFill>
                  <a:srgbClr val="B60225"/>
                </a:solidFill>
              </a:defRPr>
            </a:lvl1pPr>
            <a:lvl2pPr marL="228600" indent="-228600" algn="l">
              <a:buClr>
                <a:srgbClr val="B60225"/>
              </a:buClr>
              <a:buFont typeface="Arial"/>
              <a:buChar char="•"/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3376307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1" y="169333"/>
            <a:ext cx="11909852" cy="7179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26" y="931863"/>
            <a:ext cx="11813228" cy="5316538"/>
          </a:xfrm>
        </p:spPr>
        <p:txBody>
          <a:bodyPr/>
          <a:lstStyle>
            <a:lvl1pPr>
              <a:spcAft>
                <a:spcPts val="300"/>
              </a:spcAft>
              <a:defRPr>
                <a:latin typeface="Verdana" pitchFamily="34" charset="0"/>
              </a:defRPr>
            </a:lvl1pPr>
            <a:lvl2pPr>
              <a:spcAft>
                <a:spcPts val="300"/>
              </a:spcAft>
              <a:defRPr>
                <a:latin typeface="Verdana" pitchFamily="34" charset="0"/>
              </a:defRPr>
            </a:lvl2pPr>
            <a:lvl3pPr>
              <a:spcAft>
                <a:spcPts val="300"/>
              </a:spcAft>
              <a:defRPr>
                <a:latin typeface="Verdana" pitchFamily="34" charset="0"/>
              </a:defRPr>
            </a:lvl3pPr>
            <a:lvl4pPr>
              <a:spcAft>
                <a:spcPts val="300"/>
              </a:spcAft>
              <a:defRPr>
                <a:latin typeface="Verdana" pitchFamily="34" charset="0"/>
              </a:defRPr>
            </a:lvl4pPr>
            <a:lvl5pPr>
              <a:spcAft>
                <a:spcPts val="300"/>
              </a:spcAft>
              <a:defRPr>
                <a:latin typeface="Verdana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4692829"/>
      </p:ext>
    </p:extLst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5538743"/>
      </p:ext>
    </p:extLst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1" y="1295401"/>
            <a:ext cx="5568951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4151" y="1295401"/>
            <a:ext cx="5568949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3975217"/>
      </p:ext>
    </p:extLst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4095369"/>
      </p:ext>
    </p:extLst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7856269"/>
      </p:ext>
    </p:extLst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301086"/>
      </p:ext>
    </p:extLst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5580748"/>
      </p:ext>
    </p:extLst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2244899"/>
      </p:ext>
    </p:extLst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3835423"/>
      </p:ext>
    </p:extLst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1" y="515939"/>
            <a:ext cx="2851149" cy="6188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3900" y="515939"/>
            <a:ext cx="8350251" cy="6188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245934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0" y="1082675"/>
            <a:ext cx="12192000" cy="1588"/>
          </a:xfrm>
          <a:prstGeom prst="line">
            <a:avLst/>
          </a:prstGeom>
          <a:ln w="12700">
            <a:solidFill>
              <a:srgbClr val="B602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288062"/>
            <a:ext cx="12192000" cy="467416"/>
          </a:xfrm>
          <a:prstGeom prst="rect">
            <a:avLst/>
          </a:prstGeom>
        </p:spPr>
        <p:txBody>
          <a:bodyPr anchor="ctr"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1091260"/>
            <a:ext cx="12192000" cy="5205623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055230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609600" y="1066801"/>
            <a:ext cx="10972800" cy="5211917"/>
          </a:xfrm>
        </p:spPr>
        <p:txBody>
          <a:bodyPr tIns="0" rIns="0" bIns="0" anchor="ctr"/>
          <a:lstStyle>
            <a:lvl1pPr algn="ctr">
              <a:buFontTx/>
              <a:buNone/>
              <a:defRPr sz="4400">
                <a:solidFill>
                  <a:srgbClr val="B60225"/>
                </a:solidFill>
              </a:defRPr>
            </a:lvl1pPr>
            <a:lvl2pPr marL="228600" indent="-228600" algn="ctr">
              <a:buClr>
                <a:srgbClr val="C03137"/>
              </a:buClr>
              <a:buFontTx/>
              <a:buNone/>
              <a:defRPr sz="2400"/>
            </a:lvl2pPr>
            <a:lvl3pPr marL="458788" indent="-230188" algn="ctr">
              <a:buFontTx/>
              <a:buNone/>
              <a:defRPr/>
            </a:lvl3pPr>
            <a:lvl4pPr marL="458788" indent="-230188" algn="ctr">
              <a:buFontTx/>
              <a:buNone/>
              <a:defRPr/>
            </a:lvl4pPr>
            <a:lvl5pPr marL="458788" indent="-230188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7039240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Left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609600" y="1367658"/>
            <a:ext cx="10972800" cy="4804543"/>
          </a:xfrm>
        </p:spPr>
        <p:txBody>
          <a:bodyPr tIns="0" rIns="0" bIns="0"/>
          <a:lstStyle>
            <a:lvl1pPr>
              <a:buFontTx/>
              <a:buNone/>
              <a:defRPr>
                <a:solidFill>
                  <a:srgbClr val="B60225"/>
                </a:solidFill>
              </a:defRPr>
            </a:lvl1pPr>
            <a:lvl2pPr marL="228600" indent="-228600">
              <a:buClr>
                <a:srgbClr val="C03137"/>
              </a:buClr>
              <a:buFont typeface="Arial"/>
              <a:buChar char="•"/>
              <a:defRPr sz="2400"/>
            </a:lvl2pPr>
            <a:lvl3pPr marL="458788" indent="-230188">
              <a:defRPr/>
            </a:lvl3pPr>
            <a:lvl4pPr marL="458788" indent="-230188">
              <a:defRPr/>
            </a:lvl4pPr>
            <a:lvl5pPr marL="458788" indent="-230188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670435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Bulleted Text 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2"/>
          </p:nvPr>
        </p:nvSpPr>
        <p:spPr>
          <a:xfrm>
            <a:off x="609599" y="1384048"/>
            <a:ext cx="7034288" cy="4788153"/>
          </a:xfrm>
        </p:spPr>
        <p:txBody>
          <a:bodyPr tIns="0"/>
          <a:lstStyle>
            <a:lvl1pPr marL="0" indent="0">
              <a:buNone/>
              <a:defRPr sz="2600">
                <a:solidFill>
                  <a:srgbClr val="B60225"/>
                </a:solidFill>
              </a:defRPr>
            </a:lvl1pPr>
            <a:lvl2pPr marL="228600" indent="-228600" algn="l">
              <a:buClr>
                <a:srgbClr val="B60225"/>
              </a:buClr>
              <a:buFont typeface="Arial"/>
              <a:buChar char="•"/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17"/>
          </p:nvPr>
        </p:nvSpPr>
        <p:spPr>
          <a:xfrm>
            <a:off x="8116291" y="1094980"/>
            <a:ext cx="4075709" cy="1661390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21"/>
          </p:nvPr>
        </p:nvSpPr>
        <p:spPr>
          <a:xfrm>
            <a:off x="8116291" y="4619039"/>
            <a:ext cx="4075709" cy="1655702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22"/>
          </p:nvPr>
        </p:nvSpPr>
        <p:spPr>
          <a:xfrm>
            <a:off x="8116291" y="2850446"/>
            <a:ext cx="4075709" cy="1655702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384488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Bulleted Tex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714862" y="1094981"/>
            <a:ext cx="5477137" cy="5173084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2"/>
          </p:nvPr>
        </p:nvSpPr>
        <p:spPr>
          <a:xfrm>
            <a:off x="609600" y="1392240"/>
            <a:ext cx="5638801" cy="4805361"/>
          </a:xfrm>
        </p:spPr>
        <p:txBody>
          <a:bodyPr tIns="0"/>
          <a:lstStyle>
            <a:lvl1pPr marL="0" indent="0">
              <a:buNone/>
              <a:defRPr sz="2600">
                <a:solidFill>
                  <a:srgbClr val="B60225"/>
                </a:solidFill>
              </a:defRPr>
            </a:lvl1pPr>
            <a:lvl2pPr marL="228600" indent="-228600" algn="l">
              <a:buClr>
                <a:srgbClr val="B60225"/>
              </a:buClr>
              <a:buFont typeface="Arial"/>
              <a:buChar char="•"/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9937261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225" y="152400"/>
            <a:ext cx="11813228" cy="7179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26" y="931863"/>
            <a:ext cx="11813228" cy="5316538"/>
          </a:xfrm>
        </p:spPr>
        <p:txBody>
          <a:bodyPr/>
          <a:lstStyle>
            <a:lvl1pPr>
              <a:spcAft>
                <a:spcPts val="300"/>
              </a:spcAft>
              <a:defRPr>
                <a:latin typeface="Verdana" pitchFamily="34" charset="0"/>
              </a:defRPr>
            </a:lvl1pPr>
            <a:lvl2pPr>
              <a:spcAft>
                <a:spcPts val="300"/>
              </a:spcAft>
              <a:defRPr>
                <a:latin typeface="Verdana" pitchFamily="34" charset="0"/>
              </a:defRPr>
            </a:lvl2pPr>
            <a:lvl3pPr>
              <a:spcAft>
                <a:spcPts val="300"/>
              </a:spcAft>
              <a:defRPr>
                <a:latin typeface="Verdana" pitchFamily="34" charset="0"/>
              </a:defRPr>
            </a:lvl3pPr>
            <a:lvl4pPr>
              <a:spcAft>
                <a:spcPts val="300"/>
              </a:spcAft>
              <a:defRPr>
                <a:latin typeface="Verdana" pitchFamily="34" charset="0"/>
              </a:defRPr>
            </a:lvl4pPr>
            <a:lvl5pPr>
              <a:spcAft>
                <a:spcPts val="300"/>
              </a:spcAft>
              <a:defRPr>
                <a:latin typeface="Verdan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422248"/>
      </p:ext>
    </p:extLst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3399628"/>
      </p:ext>
    </p:extLst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1" y="1295401"/>
            <a:ext cx="5568951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4151" y="1295401"/>
            <a:ext cx="5568949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7156608"/>
      </p:ext>
    </p:extLst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4937709"/>
      </p:ext>
    </p:extLst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7596894"/>
      </p:ext>
    </p:extLst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443256"/>
      </p:ext>
    </p:extLst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6072690"/>
      </p:ext>
    </p:extLst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893632"/>
      </p:ext>
    </p:extLst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989260"/>
      </p:ext>
    </p:extLst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1" y="515939"/>
            <a:ext cx="2851149" cy="6188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3900" y="515939"/>
            <a:ext cx="8350251" cy="6188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0218286"/>
      </p:ext>
    </p:extLst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BU Full Page Photo" userDrawn="1">
  <p:cSld name="SBU Full Page Photo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0" y="6288062"/>
            <a:ext cx="12192000" cy="46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/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9FC368-9A0C-47BD-9C5B-5595233B39D8}"/>
              </a:ext>
            </a:extLst>
          </p:cNvPr>
          <p:cNvSpPr/>
          <p:nvPr userDrawn="1"/>
        </p:nvSpPr>
        <p:spPr>
          <a:xfrm>
            <a:off x="483079" y="293615"/>
            <a:ext cx="3896416" cy="655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64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hyperlink" Target="http://cci.emory.edu/cms" TargetMode="Externa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hyperlink" Target="http://cci.emory.edu/cms" TargetMode="Externa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image" Target="../media/image6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image" Target="../media/image6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slideLayout" Target="../slideLayouts/slideLayout75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9" Type="http://schemas.openxmlformats.org/officeDocument/2006/relationships/image" Target="../media/image8.em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slideLayout" Target="../slideLayouts/slideLayout90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theme" Target="../theme/theme10.xml"/><Relationship Id="rId5" Type="http://schemas.openxmlformats.org/officeDocument/2006/relationships/slideLayout" Target="../slideLayouts/slideLayout92.xml"/><Relationship Id="rId4" Type="http://schemas.openxmlformats.org/officeDocument/2006/relationships/slideLayout" Target="../slideLayouts/slideLayout91.xml"/><Relationship Id="rId9" Type="http://schemas.openxmlformats.org/officeDocument/2006/relationships/image" Target="../media/image8.emf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9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94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Relationship Id="rId14" Type="http://schemas.openxmlformats.org/officeDocument/2006/relationships/image" Target="../media/image9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EE2E6FD-974C-B638-4D91-11E757995767}"/>
              </a:ext>
            </a:extLst>
          </p:cNvPr>
          <p:cNvSpPr/>
          <p:nvPr userDrawn="1"/>
        </p:nvSpPr>
        <p:spPr>
          <a:xfrm>
            <a:off x="0" y="0"/>
            <a:ext cx="12192000" cy="1081087"/>
          </a:xfrm>
          <a:prstGeom prst="rect">
            <a:avLst/>
          </a:prstGeom>
          <a:solidFill>
            <a:srgbClr val="8D1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30326"/>
            <a:ext cx="11658600" cy="4868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8564"/>
            <a:ext cx="12192000" cy="579437"/>
          </a:xfrm>
          <a:prstGeom prst="rect">
            <a:avLst/>
          </a:prstGeom>
          <a:solidFill>
            <a:srgbClr val="8D1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082675"/>
            <a:ext cx="12192000" cy="1588"/>
          </a:xfrm>
          <a:prstGeom prst="line">
            <a:avLst/>
          </a:prstGeom>
          <a:ln w="12700">
            <a:solidFill>
              <a:srgbClr val="B602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930A759-D337-62C7-B0C6-99A2684EBDF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448800" y="85877"/>
            <a:ext cx="2606546" cy="88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8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85" r:id="rId6"/>
  </p:sldLayoutIdLst>
  <p:txStyles>
    <p:titleStyle>
      <a:lvl1pPr algn="r" defTabSz="457200" rtl="0" eaLnBrk="0" fontAlgn="base" hangingPunct="0">
        <a:spcBef>
          <a:spcPct val="0"/>
        </a:spcBef>
        <a:spcAft>
          <a:spcPct val="0"/>
        </a:spcAft>
        <a:defRPr sz="5400" kern="1200" baseline="6000">
          <a:solidFill>
            <a:schemeClr val="bg1"/>
          </a:solidFill>
          <a:latin typeface="Helvetica"/>
          <a:ea typeface="ＭＳ Ｐゴシック" pitchFamily="-112" charset="-128"/>
          <a:cs typeface="Helvetica"/>
        </a:defRPr>
      </a:lvl1pPr>
      <a:lvl2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2pPr>
      <a:lvl3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3pPr>
      <a:lvl4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4pPr>
      <a:lvl5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5pPr>
      <a:lvl6pPr marL="4572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6pPr>
      <a:lvl7pPr marL="9144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7pPr>
      <a:lvl8pPr marL="13716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8pPr>
      <a:lvl9pPr marL="18288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Lucida Grande" charset="0"/>
        <a:buChar char="–"/>
        <a:defRPr sz="28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89872" y="152400"/>
            <a:ext cx="11673527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Click to add title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9873" y="946942"/>
            <a:ext cx="11673527" cy="5301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</p:txBody>
      </p:sp>
      <p:pic>
        <p:nvPicPr>
          <p:cNvPr id="9" name="Picture 7" descr="PPTbackground_Red.jpg"/>
          <p:cNvPicPr>
            <a:picLocks noChangeAspect="1"/>
          </p:cNvPicPr>
          <p:nvPr userDrawn="1"/>
        </p:nvPicPr>
        <p:blipFill>
          <a:blip r:embed="rId13"/>
          <a:srcRect b="97814"/>
          <a:stretch>
            <a:fillRect/>
          </a:stretch>
        </p:blipFill>
        <p:spPr bwMode="auto">
          <a:xfrm flipH="1">
            <a:off x="0" y="-11905"/>
            <a:ext cx="12192000" cy="14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36525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 10"/>
          <p:cNvSpPr/>
          <p:nvPr userDrawn="1"/>
        </p:nvSpPr>
        <p:spPr>
          <a:xfrm>
            <a:off x="0" y="6324601"/>
            <a:ext cx="12192000" cy="544290"/>
          </a:xfrm>
          <a:prstGeom prst="rect">
            <a:avLst/>
          </a:prstGeom>
          <a:solidFill>
            <a:srgbClr val="8D1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8D1A1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B0E251-CC22-766A-8CA5-85DFC9747F54}"/>
              </a:ext>
            </a:extLst>
          </p:cNvPr>
          <p:cNvSpPr/>
          <p:nvPr userDrawn="1"/>
        </p:nvSpPr>
        <p:spPr bwMode="auto">
          <a:xfrm>
            <a:off x="-3243" y="0"/>
            <a:ext cx="12191999" cy="137320"/>
          </a:xfrm>
          <a:prstGeom prst="rect">
            <a:avLst/>
          </a:prstGeom>
          <a:solidFill>
            <a:srgbClr val="8D1A1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520735B3-D6D0-5F46-233B-DAB85DBEF77C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155847"/>
            <a:ext cx="609362" cy="60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65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ransition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rgbClr val="003399"/>
          </a:solidFill>
          <a:latin typeface="Verdana" pitchFamily="34" charset="0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Verdan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Verdan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Verdan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586317" y="1"/>
            <a:ext cx="11605683" cy="479425"/>
          </a:xfrm>
          <a:prstGeom prst="rect">
            <a:avLst/>
          </a:prstGeom>
          <a:solidFill>
            <a:srgbClr val="002878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defTabSz="457200"/>
            <a:endParaRPr lang="en-US" sz="1800" b="0">
              <a:solidFill>
                <a:srgbClr val="000000"/>
              </a:solidFill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23900" y="515938"/>
            <a:ext cx="11404600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Click to add title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1" y="1295401"/>
            <a:ext cx="11341100" cy="540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die Formate des Vorlagentextes zu bearbeiten</a:t>
            </a:r>
          </a:p>
          <a:p>
            <a:pPr lvl="1"/>
            <a:r>
              <a:rPr lang="de-DE"/>
              <a:t>Level 2</a:t>
            </a:r>
          </a:p>
          <a:p>
            <a:pPr lvl="2"/>
            <a:r>
              <a:rPr lang="de-DE"/>
              <a:t>Level 3</a:t>
            </a:r>
          </a:p>
          <a:p>
            <a:pPr lvl="3"/>
            <a:r>
              <a:rPr lang="de-DE"/>
              <a:t>Level 4</a:t>
            </a:r>
          </a:p>
        </p:txBody>
      </p:sp>
      <p:sp>
        <p:nvSpPr>
          <p:cNvPr id="343045" name="Text Box 5"/>
          <p:cNvSpPr txBox="1">
            <a:spLocks noChangeArrowheads="1"/>
          </p:cNvSpPr>
          <p:nvPr/>
        </p:nvSpPr>
        <p:spPr bwMode="gray">
          <a:xfrm rot="-5400000">
            <a:off x="-2909622" y="3362061"/>
            <a:ext cx="6405562" cy="586317"/>
          </a:xfrm>
          <a:prstGeom prst="rect">
            <a:avLst/>
          </a:prstGeom>
          <a:solidFill>
            <a:srgbClr val="D28E0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anchor="ctr"/>
          <a:lstStyle/>
          <a:p>
            <a:pPr algn="ctr" defTabSz="457200" eaLnBrk="0" hangingPunct="0">
              <a:lnSpc>
                <a:spcPts val="2400"/>
              </a:lnSpc>
            </a:pPr>
            <a:r>
              <a:rPr lang="de-DE" sz="1600" b="0">
                <a:solidFill>
                  <a:srgbClr val="000000"/>
                </a:solidFill>
                <a:latin typeface="Verdana" pitchFamily="34" charset="0"/>
                <a:ea typeface="ＭＳ Ｐゴシック" pitchFamily="34" charset="-128"/>
                <a:cs typeface="+mn-cs"/>
              </a:rPr>
              <a:t>                    </a:t>
            </a:r>
          </a:p>
        </p:txBody>
      </p:sp>
      <p:pic>
        <p:nvPicPr>
          <p:cNvPr id="1030" name="Picture 2" descr="Emory | Center for Comprehensive Informatics">
            <a:hlinkClick r:id="rId13" tooltip="Emory | Center for Comprehensive Informatics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783917" y="1"/>
            <a:ext cx="5408083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  <a:ea typeface="ＭＳ Ｐゴシック" charset="-128"/>
          <a:cs typeface="ＭＳ Ｐゴシック" charset="-128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Verdana" pitchFamily="34" charset="0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Verdana" pitchFamily="34" charset="0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Verdana" pitchFamily="34" charset="0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Verdana" pitchFamily="34" charset="0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586317" y="1"/>
            <a:ext cx="11605683" cy="479425"/>
          </a:xfrm>
          <a:prstGeom prst="rect">
            <a:avLst/>
          </a:prstGeom>
          <a:solidFill>
            <a:srgbClr val="002878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defTabSz="457200"/>
            <a:endParaRPr lang="en-US" sz="1800" b="0">
              <a:solidFill>
                <a:prstClr val="black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23900" y="515938"/>
            <a:ext cx="11404600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Click to add title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1" y="1295401"/>
            <a:ext cx="11341100" cy="540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die Formate des Vorlagentextes zu bearbeiten</a:t>
            </a:r>
          </a:p>
          <a:p>
            <a:pPr lvl="1"/>
            <a:r>
              <a:rPr lang="de-DE"/>
              <a:t>Level 2</a:t>
            </a:r>
          </a:p>
          <a:p>
            <a:pPr lvl="2"/>
            <a:r>
              <a:rPr lang="de-DE"/>
              <a:t>Level 3</a:t>
            </a:r>
          </a:p>
          <a:p>
            <a:pPr lvl="3"/>
            <a:r>
              <a:rPr lang="de-DE"/>
              <a:t>Level 4</a:t>
            </a:r>
          </a:p>
        </p:txBody>
      </p:sp>
      <p:sp>
        <p:nvSpPr>
          <p:cNvPr id="343045" name="Text Box 5"/>
          <p:cNvSpPr txBox="1">
            <a:spLocks noChangeArrowheads="1"/>
          </p:cNvSpPr>
          <p:nvPr/>
        </p:nvSpPr>
        <p:spPr bwMode="gray">
          <a:xfrm rot="-5400000">
            <a:off x="-2909622" y="3362061"/>
            <a:ext cx="6405562" cy="586317"/>
          </a:xfrm>
          <a:prstGeom prst="rect">
            <a:avLst/>
          </a:prstGeom>
          <a:solidFill>
            <a:srgbClr val="D28E0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anchor="ctr"/>
          <a:lstStyle/>
          <a:p>
            <a:pPr algn="ctr" defTabSz="457200" eaLnBrk="0" hangingPunct="0">
              <a:lnSpc>
                <a:spcPts val="2400"/>
              </a:lnSpc>
            </a:pPr>
            <a:endParaRPr sz="1800" b="0">
              <a:solidFill>
                <a:prstClr val="black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1030" name="Picture 2" descr="Emory | Center for Comprehensive Informatics">
            <a:hlinkClick r:id="rId13" tooltip="Emory | Center for Comprehensive Informatics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783917" y="1"/>
            <a:ext cx="5408083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hf hdr="0" ft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  <a:ea typeface="ＭＳ Ｐゴシック" charset="-128"/>
          <a:cs typeface="ＭＳ Ｐゴシック" charset="-128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Verdana" pitchFamily="34" charset="0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Verdana" pitchFamily="34" charset="0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Verdana" pitchFamily="34" charset="0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Verdana" pitchFamily="34" charset="0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" y="762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3FCED-22F8-8442-93A2-C7D0192A517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3472"/>
            <a:ext cx="12192000" cy="99535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2641600" y="6324600"/>
            <a:ext cx="95504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6419850"/>
            <a:ext cx="1625600" cy="31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55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" y="762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3FCED-22F8-8442-93A2-C7D0192A517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3472"/>
            <a:ext cx="12192000" cy="99535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2641600" y="6324600"/>
            <a:ext cx="95504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6419850"/>
            <a:ext cx="1625600" cy="31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43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" y="762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3FCED-22F8-8442-93A2-C7D0192A517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3472"/>
            <a:ext cx="12192000" cy="99535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2641600" y="6324600"/>
            <a:ext cx="95504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6419850"/>
            <a:ext cx="1625600" cy="31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16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PPTbackground_Red.jpg"/>
          <p:cNvPicPr>
            <a:picLocks noChangeAspect="1"/>
          </p:cNvPicPr>
          <p:nvPr/>
        </p:nvPicPr>
        <p:blipFill>
          <a:blip r:embed="rId7"/>
          <a:srcRect b="97814"/>
          <a:stretch>
            <a:fillRect/>
          </a:stretch>
        </p:blipFill>
        <p:spPr bwMode="auto">
          <a:xfrm flipH="1">
            <a:off x="0" y="1"/>
            <a:ext cx="12192000" cy="14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36525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11717" y="1330326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8564"/>
            <a:ext cx="12192000" cy="579437"/>
          </a:xfrm>
          <a:prstGeom prst="rect">
            <a:avLst/>
          </a:prstGeom>
          <a:solidFill>
            <a:srgbClr val="B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082675"/>
            <a:ext cx="12192000" cy="1588"/>
          </a:xfrm>
          <a:prstGeom prst="line">
            <a:avLst/>
          </a:prstGeom>
          <a:ln w="12700">
            <a:solidFill>
              <a:srgbClr val="B602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SBU horz_2clr_cmyk.eps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295275"/>
            <a:ext cx="36195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SUNY_CircleOnly_50blk.eps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292100"/>
            <a:ext cx="6477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34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</p:sldLayoutIdLst>
  <p:txStyles>
    <p:titleStyle>
      <a:lvl1pPr algn="r" defTabSz="457200" rtl="0" eaLnBrk="0" fontAlgn="base" hangingPunct="0">
        <a:spcBef>
          <a:spcPct val="0"/>
        </a:spcBef>
        <a:spcAft>
          <a:spcPct val="0"/>
        </a:spcAft>
        <a:defRPr sz="5400" kern="1200" baseline="6000">
          <a:solidFill>
            <a:schemeClr val="bg1"/>
          </a:solidFill>
          <a:latin typeface="Helvetica"/>
          <a:ea typeface="ＭＳ Ｐゴシック" pitchFamily="-112" charset="-128"/>
          <a:cs typeface="Helvetica"/>
        </a:defRPr>
      </a:lvl1pPr>
      <a:lvl2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2pPr>
      <a:lvl3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3pPr>
      <a:lvl4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4pPr>
      <a:lvl5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5pPr>
      <a:lvl6pPr marL="4572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6pPr>
      <a:lvl7pPr marL="9144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7pPr>
      <a:lvl8pPr marL="13716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8pPr>
      <a:lvl9pPr marL="18288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Lucida Grande" charset="0"/>
        <a:buChar char="–"/>
        <a:defRPr sz="28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89872" y="152400"/>
            <a:ext cx="11684000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Click to add title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9873" y="946942"/>
            <a:ext cx="11684000" cy="5530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</p:txBody>
      </p:sp>
      <p:pic>
        <p:nvPicPr>
          <p:cNvPr id="9" name="Picture 7" descr="PPTbackground_Red.jpg"/>
          <p:cNvPicPr>
            <a:picLocks noChangeAspect="1"/>
          </p:cNvPicPr>
          <p:nvPr userDrawn="1"/>
        </p:nvPicPr>
        <p:blipFill>
          <a:blip r:embed="rId12"/>
          <a:srcRect b="97814"/>
          <a:stretch>
            <a:fillRect/>
          </a:stretch>
        </p:blipFill>
        <p:spPr bwMode="auto">
          <a:xfrm flipH="1">
            <a:off x="0" y="-11905"/>
            <a:ext cx="12192000" cy="14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36525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 10"/>
          <p:cNvSpPr/>
          <p:nvPr userDrawn="1"/>
        </p:nvSpPr>
        <p:spPr>
          <a:xfrm>
            <a:off x="0" y="6477001"/>
            <a:ext cx="12192000" cy="391889"/>
          </a:xfrm>
          <a:prstGeom prst="rect">
            <a:avLst/>
          </a:prstGeom>
          <a:solidFill>
            <a:srgbClr val="B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72379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</p:sldLayoutIdLst>
  <p:transition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rgbClr val="003399"/>
          </a:solidFill>
          <a:latin typeface="Verdana" pitchFamily="34" charset="0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Verdan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Verdan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Verdan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PPTbackground_Red.jpg"/>
          <p:cNvPicPr>
            <a:picLocks noChangeAspect="1"/>
          </p:cNvPicPr>
          <p:nvPr/>
        </p:nvPicPr>
        <p:blipFill>
          <a:blip r:embed="rId7"/>
          <a:srcRect b="97814"/>
          <a:stretch>
            <a:fillRect/>
          </a:stretch>
        </p:blipFill>
        <p:spPr bwMode="auto">
          <a:xfrm flipH="1">
            <a:off x="0" y="1"/>
            <a:ext cx="12192000" cy="14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36525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11717" y="1330326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124" name="Picture 4" descr="SBU horz_2clr_cmyk.eps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33" y="295275"/>
            <a:ext cx="4826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278564"/>
            <a:ext cx="12192000" cy="579437"/>
          </a:xfrm>
          <a:prstGeom prst="rect">
            <a:avLst/>
          </a:prstGeom>
          <a:solidFill>
            <a:srgbClr val="B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082675"/>
            <a:ext cx="12192000" cy="1588"/>
          </a:xfrm>
          <a:prstGeom prst="line">
            <a:avLst/>
          </a:prstGeom>
          <a:ln w="12700">
            <a:solidFill>
              <a:srgbClr val="B602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SUNY_CircleOnly_50blk.eps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292100"/>
            <a:ext cx="8636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87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</p:sldLayoutIdLst>
  <p:txStyles>
    <p:titleStyle>
      <a:lvl1pPr algn="r" defTabSz="457200" rtl="0" eaLnBrk="0" fontAlgn="base" hangingPunct="0">
        <a:spcBef>
          <a:spcPct val="0"/>
        </a:spcBef>
        <a:spcAft>
          <a:spcPct val="0"/>
        </a:spcAft>
        <a:defRPr sz="5400" kern="1200" baseline="6000">
          <a:solidFill>
            <a:schemeClr val="bg1"/>
          </a:solidFill>
          <a:latin typeface="Helvetica"/>
          <a:ea typeface="ＭＳ Ｐゴシック" pitchFamily="-112" charset="-128"/>
          <a:cs typeface="Helvetica"/>
        </a:defRPr>
      </a:lvl1pPr>
      <a:lvl2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2pPr>
      <a:lvl3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3pPr>
      <a:lvl4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4pPr>
      <a:lvl5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5pPr>
      <a:lvl6pPr marL="4572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6pPr>
      <a:lvl7pPr marL="9144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7pPr>
      <a:lvl8pPr marL="13716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8pPr>
      <a:lvl9pPr marL="18288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Lucida Grande" charset="0"/>
        <a:buChar char="–"/>
        <a:defRPr sz="28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89872" y="152400"/>
            <a:ext cx="11684000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Click to add title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9873" y="946943"/>
            <a:ext cx="11684000" cy="5453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</p:txBody>
      </p:sp>
      <p:pic>
        <p:nvPicPr>
          <p:cNvPr id="9" name="Picture 7" descr="PPTbackground_Red.jpg"/>
          <p:cNvPicPr>
            <a:picLocks noChangeAspect="1"/>
          </p:cNvPicPr>
          <p:nvPr userDrawn="1"/>
        </p:nvPicPr>
        <p:blipFill>
          <a:blip r:embed="rId13"/>
          <a:srcRect b="97814"/>
          <a:stretch>
            <a:fillRect/>
          </a:stretch>
        </p:blipFill>
        <p:spPr bwMode="auto">
          <a:xfrm flipH="1">
            <a:off x="0" y="-11905"/>
            <a:ext cx="12192000" cy="14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36525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 10"/>
          <p:cNvSpPr/>
          <p:nvPr userDrawn="1"/>
        </p:nvSpPr>
        <p:spPr>
          <a:xfrm>
            <a:off x="0" y="6477000"/>
            <a:ext cx="12192000" cy="391890"/>
          </a:xfrm>
          <a:prstGeom prst="rect">
            <a:avLst/>
          </a:prstGeom>
          <a:solidFill>
            <a:srgbClr val="B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pic>
        <p:nvPicPr>
          <p:cNvPr id="7" name="Picture 6" descr="SBU stack_2clr_cmyk.eps">
            <a:extLst>
              <a:ext uri="{FF2B5EF4-FFF2-40B4-BE49-F238E27FC236}">
                <a16:creationId xmlns:a16="http://schemas.microsoft.com/office/drawing/2014/main" id="{B7F8C73F-A7C8-4166-B9D8-13751F18D48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400" y="228600"/>
            <a:ext cx="935516" cy="331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8921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ransition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rgbClr val="003399"/>
          </a:solidFill>
          <a:latin typeface="Verdana" pitchFamily="34" charset="0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Verdan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Verdan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Verdan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in-scott.github.io/personal_website/research/interactive_latency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0" y="1676400"/>
            <a:ext cx="12192000" cy="23622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ISE305: Database Design and Practice</a:t>
            </a:r>
          </a:p>
          <a:p>
            <a:endParaRPr lang="en-US" sz="1400" b="1" dirty="0">
              <a:solidFill>
                <a:schemeClr val="tx1"/>
              </a:solidFill>
            </a:endParaRPr>
          </a:p>
          <a:p>
            <a:pPr>
              <a:spcBef>
                <a:spcPts val="2000"/>
              </a:spcBef>
            </a:pPr>
            <a:r>
              <a:rPr lang="en-US" sz="4400" b="1" dirty="0">
                <a:solidFill>
                  <a:srgbClr val="8D1A11"/>
                </a:solidFill>
              </a:rPr>
              <a:t>Database Indexing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5816512-A6A4-265D-4371-B67C1D6CAAC6}"/>
              </a:ext>
            </a:extLst>
          </p:cNvPr>
          <p:cNvSpPr txBox="1">
            <a:spLocks/>
          </p:cNvSpPr>
          <p:nvPr/>
        </p:nvSpPr>
        <p:spPr bwMode="auto">
          <a:xfrm>
            <a:off x="2819400" y="3886200"/>
            <a:ext cx="65532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342900" indent="-34290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4400" kern="1200">
                <a:solidFill>
                  <a:srgbClr val="B60225"/>
                </a:solidFill>
                <a:latin typeface="Helvetica"/>
                <a:ea typeface="ＭＳ Ｐゴシック" pitchFamily="-112" charset="-128"/>
                <a:cs typeface="Helvetica"/>
              </a:defRPr>
            </a:lvl1pPr>
            <a:lvl2pPr marL="228600" indent="-22860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3137"/>
              </a:buClr>
              <a:buFontTx/>
              <a:buNone/>
              <a:defRPr sz="2400" kern="1200">
                <a:solidFill>
                  <a:schemeClr val="tx1"/>
                </a:solidFill>
                <a:latin typeface="Helvetica"/>
                <a:ea typeface="ＭＳ Ｐゴシック" pitchFamily="-112" charset="-128"/>
                <a:cs typeface="Helvetica"/>
              </a:defRPr>
            </a:lvl2pPr>
            <a:lvl3pPr marL="458788" indent="-230188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 kern="1200">
                <a:solidFill>
                  <a:schemeClr val="tx1"/>
                </a:solidFill>
                <a:latin typeface="Helvetica"/>
                <a:ea typeface="ＭＳ Ｐゴシック" pitchFamily="-112" charset="-128"/>
                <a:cs typeface="Helvetica"/>
              </a:defRPr>
            </a:lvl3pPr>
            <a:lvl4pPr marL="458788" indent="-230188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 kern="1200">
                <a:solidFill>
                  <a:schemeClr val="tx1"/>
                </a:solidFill>
                <a:latin typeface="Helvetica"/>
                <a:ea typeface="ＭＳ Ｐゴシック" pitchFamily="-112" charset="-128"/>
                <a:cs typeface="Helvetica"/>
              </a:defRPr>
            </a:lvl4pPr>
            <a:lvl5pPr marL="458788" indent="-230188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 kern="1200">
                <a:solidFill>
                  <a:schemeClr val="tx1"/>
                </a:solidFill>
                <a:latin typeface="Helvetica"/>
                <a:ea typeface="ＭＳ Ｐゴシック" pitchFamily="-112" charset="-128"/>
                <a:cs typeface="Helvetic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ＭＳ Ｐゴシック" pitchFamily="-112" charset="-128"/>
              <a:cs typeface="Helvetica"/>
            </a:endParaRPr>
          </a:p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ＭＳ Ｐゴシック" pitchFamily="-112" charset="-128"/>
                <a:cs typeface="Helvetica"/>
              </a:rPr>
              <a:t>Fusheng Wang</a:t>
            </a:r>
          </a:p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ＭＳ Ｐゴシック" pitchFamily="-112" charset="-128"/>
                <a:cs typeface="Helvetica"/>
              </a:rPr>
              <a:t>Department of Computer Science</a:t>
            </a:r>
          </a:p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ＭＳ Ｐゴシック" pitchFamily="-112" charset="-128"/>
                <a:cs typeface="Helvetica"/>
              </a:rPr>
              <a:t>Department of Biomedical Informatics</a:t>
            </a:r>
          </a:p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ＭＳ Ｐゴシック" pitchFamily="-112" charset="-128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48664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2B2BA-715E-92A1-879B-8781BE7A9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Hierarchy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014365-7DE8-87A1-F118-88EE5EA330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5681118"/>
              </p:ext>
            </p:extLst>
          </p:nvPr>
        </p:nvGraphicFramePr>
        <p:xfrm>
          <a:off x="198438" y="931863"/>
          <a:ext cx="11812587" cy="5316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7A2C982-079F-6E00-118B-2560800878F1}"/>
              </a:ext>
            </a:extLst>
          </p:cNvPr>
          <p:cNvSpPr txBox="1"/>
          <p:nvPr/>
        </p:nvSpPr>
        <p:spPr>
          <a:xfrm>
            <a:off x="0" y="1791270"/>
            <a:ext cx="27758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>
                <a:solidFill>
                  <a:srgbClr val="F03E42"/>
                </a:solidFill>
                <a:latin typeface="Arial"/>
                <a:ea typeface="Verdana" panose="020B0604030504040204" pitchFamily="34" charset="0"/>
                <a:cs typeface="Arial" pitchFamily="34" charset="0"/>
              </a:rPr>
              <a:t>Volatile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95959"/>
                </a:solidFill>
                <a:latin typeface="Arial"/>
                <a:ea typeface="Verdana" panose="020B0604030504040204" pitchFamily="34" charset="0"/>
                <a:cs typeface="Arial" pitchFamily="34" charset="0"/>
              </a:rPr>
              <a:t>Random Access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95959"/>
                </a:solidFill>
                <a:latin typeface="Arial"/>
                <a:ea typeface="Verdana" panose="020B0604030504040204" pitchFamily="34" charset="0"/>
                <a:cs typeface="Arial" pitchFamily="34" charset="0"/>
              </a:rPr>
              <a:t>Byte-Addressable</a:t>
            </a:r>
            <a:endParaRPr lang="en-US" b="1" dirty="0">
              <a:solidFill>
                <a:srgbClr val="000000"/>
              </a:solidFill>
              <a:latin typeface="Arial"/>
              <a:ea typeface="Verdana" panose="020B0604030504040204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7EDF96-B49A-03C1-AD53-6C5631003D5E}"/>
              </a:ext>
            </a:extLst>
          </p:cNvPr>
          <p:cNvSpPr txBox="1"/>
          <p:nvPr/>
        </p:nvSpPr>
        <p:spPr>
          <a:xfrm>
            <a:off x="76200" y="4105870"/>
            <a:ext cx="2209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>
                <a:solidFill>
                  <a:srgbClr val="EE3D42"/>
                </a:solidFill>
                <a:latin typeface="Arial"/>
                <a:ea typeface="Verdana" panose="020B0604030504040204" pitchFamily="34" charset="0"/>
                <a:cs typeface="Arial" pitchFamily="34" charset="0"/>
              </a:rPr>
              <a:t>Non-Volatile </a:t>
            </a:r>
            <a:endParaRPr lang="en-US" dirty="0">
              <a:solidFill>
                <a:srgbClr val="000000"/>
              </a:solidFill>
              <a:latin typeface="Arial"/>
              <a:ea typeface="Verdana" panose="020B0604030504040204" pitchFamily="34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85858"/>
                </a:solidFill>
                <a:latin typeface="Arial"/>
                <a:ea typeface="Verdana" panose="020B0604030504040204" pitchFamily="34" charset="0"/>
                <a:cs typeface="Arial" pitchFamily="34" charset="0"/>
              </a:rPr>
              <a:t>Sequential Access </a:t>
            </a:r>
            <a:endParaRPr lang="en-US" dirty="0">
              <a:solidFill>
                <a:srgbClr val="000000"/>
              </a:solidFill>
              <a:latin typeface="Arial"/>
              <a:ea typeface="Verdana" panose="020B0604030504040204" pitchFamily="34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85858"/>
                </a:solidFill>
                <a:latin typeface="Arial"/>
                <a:ea typeface="Verdana" panose="020B0604030504040204" pitchFamily="34" charset="0"/>
                <a:cs typeface="Arial" pitchFamily="34" charset="0"/>
              </a:rPr>
              <a:t>Block Addressable </a:t>
            </a:r>
            <a:endParaRPr lang="en-US" b="1" dirty="0">
              <a:solidFill>
                <a:srgbClr val="000000"/>
              </a:solidFill>
              <a:latin typeface="Arial"/>
              <a:ea typeface="Verdana" panose="020B0604030504040204" pitchFamily="34" charset="0"/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24E06E-D81B-A677-71F9-A8A2A8D122B4}"/>
              </a:ext>
            </a:extLst>
          </p:cNvPr>
          <p:cNvSpPr txBox="1"/>
          <p:nvPr/>
        </p:nvSpPr>
        <p:spPr>
          <a:xfrm>
            <a:off x="9901641" y="1295400"/>
            <a:ext cx="1905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03E42"/>
                </a:solidFill>
                <a:latin typeface="Arial"/>
                <a:ea typeface="Verdana" panose="020B0604030504040204" pitchFamily="34" charset="0"/>
                <a:cs typeface="Arial" pitchFamily="34" charset="0"/>
              </a:rPr>
              <a:t>Faster</a:t>
            </a:r>
          </a:p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03E42"/>
                </a:solidFill>
                <a:latin typeface="Arial"/>
                <a:ea typeface="Verdana" panose="020B0604030504040204" pitchFamily="34" charset="0"/>
                <a:cs typeface="Arial" pitchFamily="34" charset="0"/>
              </a:rPr>
              <a:t>Smaller</a:t>
            </a:r>
          </a:p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03E42"/>
                </a:solidFill>
                <a:latin typeface="Arial"/>
                <a:ea typeface="Verdana" panose="020B0604030504040204" pitchFamily="34" charset="0"/>
                <a:cs typeface="Arial" pitchFamily="34" charset="0"/>
              </a:rPr>
              <a:t>Expensive</a:t>
            </a:r>
            <a:endParaRPr lang="en-US" b="1" dirty="0">
              <a:solidFill>
                <a:srgbClr val="000000"/>
              </a:solidFill>
              <a:latin typeface="Arial"/>
              <a:ea typeface="Verdana" panose="020B0604030504040204" pitchFamily="34" charset="0"/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5C33A1-CD53-1038-A24A-CDB5E6846CFF}"/>
              </a:ext>
            </a:extLst>
          </p:cNvPr>
          <p:cNvSpPr txBox="1"/>
          <p:nvPr/>
        </p:nvSpPr>
        <p:spPr>
          <a:xfrm>
            <a:off x="10718851" y="4343400"/>
            <a:ext cx="10921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03E42"/>
                </a:solidFill>
                <a:latin typeface="Arial"/>
                <a:cs typeface="Arial" pitchFamily="34" charset="0"/>
              </a:rPr>
              <a:t>Slower</a:t>
            </a:r>
          </a:p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03E42"/>
                </a:solidFill>
                <a:latin typeface="Arial"/>
                <a:cs typeface="Arial" pitchFamily="34" charset="0"/>
              </a:rPr>
              <a:t>Larger</a:t>
            </a:r>
          </a:p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03E42"/>
                </a:solidFill>
                <a:latin typeface="Arial"/>
                <a:cs typeface="Arial" pitchFamily="34" charset="0"/>
              </a:rPr>
              <a:t>Cheaper</a:t>
            </a:r>
            <a:endParaRPr lang="en-US" b="1" dirty="0">
              <a:solidFill>
                <a:srgbClr val="000000"/>
              </a:solidFill>
              <a:latin typeface="Arial"/>
              <a:cs typeface="Arial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85D2D6D-935A-B7B5-9351-B6EC2A60ED9B}"/>
              </a:ext>
            </a:extLst>
          </p:cNvPr>
          <p:cNvCxnSpPr>
            <a:cxnSpLocks/>
          </p:cNvCxnSpPr>
          <p:nvPr/>
        </p:nvCxnSpPr>
        <p:spPr bwMode="auto">
          <a:xfrm flipV="1">
            <a:off x="1143000" y="3601328"/>
            <a:ext cx="9885166" cy="56272"/>
          </a:xfrm>
          <a:prstGeom prst="line">
            <a:avLst/>
          </a:prstGeom>
          <a:noFill/>
          <a:ln w="19050" cap="flat" cmpd="sng" algn="ctr">
            <a:solidFill>
              <a:srgbClr val="FF99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93C17F-BFEC-0740-87F4-49D4C18C2E8B}"/>
              </a:ext>
            </a:extLst>
          </p:cNvPr>
          <p:cNvCxnSpPr>
            <a:endCxn id="16" idx="0"/>
          </p:cNvCxnSpPr>
          <p:nvPr/>
        </p:nvCxnSpPr>
        <p:spPr bwMode="auto">
          <a:xfrm>
            <a:off x="11264925" y="2218730"/>
            <a:ext cx="1" cy="2124670"/>
          </a:xfrm>
          <a:prstGeom prst="straightConnector1">
            <a:avLst/>
          </a:prstGeom>
          <a:noFill/>
          <a:ln w="50800" cap="flat" cmpd="sng" algn="ctr">
            <a:solidFill>
              <a:srgbClr val="FF99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58A33DB-3821-B2E8-207A-028060F25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432699"/>
            <a:ext cx="145103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4988209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EBA04-20CF-2067-26FF-D1E75CB9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 Numbers Every Programmer Should Know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07C9F48-9114-4519-288F-5BFD47FC0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058697"/>
              </p:ext>
            </p:extLst>
          </p:nvPr>
        </p:nvGraphicFramePr>
        <p:xfrm>
          <a:off x="1414734" y="838200"/>
          <a:ext cx="9253266" cy="41436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26633">
                  <a:extLst>
                    <a:ext uri="{9D8B030D-6E8A-4147-A177-3AD203B41FA5}">
                      <a16:colId xmlns:a16="http://schemas.microsoft.com/office/drawing/2014/main" val="134645252"/>
                    </a:ext>
                  </a:extLst>
                </a:gridCol>
                <a:gridCol w="4626633">
                  <a:extLst>
                    <a:ext uri="{9D8B030D-6E8A-4147-A177-3AD203B41FA5}">
                      <a16:colId xmlns:a16="http://schemas.microsoft.com/office/drawing/2014/main" val="4204995559"/>
                    </a:ext>
                  </a:extLst>
                </a:gridCol>
              </a:tblGrid>
              <a:tr h="42121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Operation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Latency</a:t>
                      </a:r>
                    </a:p>
                  </a:txBody>
                  <a:tcPr>
                    <a:solidFill>
                      <a:srgbClr val="8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326668"/>
                  </a:ext>
                </a:extLst>
              </a:tr>
              <a:tr h="486015">
                <a:tc>
                  <a:txBody>
                    <a:bodyPr/>
                    <a:lstStyle/>
                    <a:p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L1 cache reference</a:t>
                      </a:r>
                      <a:endParaRPr lang="en-US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447833"/>
                  </a:ext>
                </a:extLst>
              </a:tr>
              <a:tr h="421213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L2 cache reference</a:t>
                      </a:r>
                    </a:p>
                  </a:txBody>
                  <a:tcPr marL="35379" marR="35379" marT="16329" marB="16329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56539"/>
                  </a:ext>
                </a:extLst>
              </a:tr>
              <a:tr h="421213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Main memory reference</a:t>
                      </a:r>
                    </a:p>
                  </a:txBody>
                  <a:tcPr marL="35379" marR="35379" marT="16329" marB="16329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100ns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380876"/>
                  </a:ext>
                </a:extLst>
              </a:tr>
              <a:tr h="42121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SSD</a:t>
                      </a:r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(random read)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16,000ns             </a:t>
                      </a:r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  <a:r>
                        <a:rPr lang="el-GR" sz="2400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 pitchFamily="34" charset="0"/>
                        </a:rPr>
                        <a:t>μ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 pitchFamily="34" charset="0"/>
                        </a:rPr>
                        <a:t>s)</a:t>
                      </a:r>
                      <a:endParaRPr lang="en-US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088652"/>
                  </a:ext>
                </a:extLst>
              </a:tr>
              <a:tr h="42121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HDD</a:t>
                      </a:r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(sequential read 1MB)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825,000ns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302921"/>
                  </a:ext>
                </a:extLst>
              </a:tr>
              <a:tr h="42121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HDD</a:t>
                      </a:r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(seek)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2,000,000ns        </a:t>
                      </a:r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2ms)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536420"/>
                  </a:ext>
                </a:extLst>
              </a:tr>
              <a:tr h="42121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Network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50,000,000 ns     (50ms)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272531"/>
                  </a:ext>
                </a:extLst>
              </a:tr>
              <a:tr h="42121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Tape archives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1,000,000,000 ns (1s)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88206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5E26531-74A7-3BE5-F8BF-86F0B87190F1}"/>
              </a:ext>
            </a:extLst>
          </p:cNvPr>
          <p:cNvSpPr/>
          <p:nvPr/>
        </p:nvSpPr>
        <p:spPr>
          <a:xfrm>
            <a:off x="457200" y="5029200"/>
            <a:ext cx="1112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1 ns = 10</a:t>
            </a:r>
            <a:r>
              <a:rPr lang="en-US" sz="2400" baseline="30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-9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 seconds    1</a:t>
            </a:r>
            <a:r>
              <a:rPr lang="el-GR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μ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s = 10</a:t>
            </a:r>
            <a:r>
              <a:rPr lang="en-US" sz="2400" baseline="30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-6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 seconds   1ms = 10</a:t>
            </a:r>
            <a:r>
              <a:rPr lang="en-US" sz="2400" baseline="30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-3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 seconds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0DCD80-8ECC-B48A-8321-05FC16F6B7B5}"/>
              </a:ext>
            </a:extLst>
          </p:cNvPr>
          <p:cNvSpPr txBox="1"/>
          <p:nvPr/>
        </p:nvSpPr>
        <p:spPr>
          <a:xfrm>
            <a:off x="10956267" y="5076585"/>
            <a:ext cx="1252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  <a:hlinkClick r:id="rId3"/>
              </a:rPr>
              <a:t>Source</a:t>
            </a:r>
            <a:endParaRPr lang="en-US" sz="24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01515-5CEF-F2A0-93C1-EB22E29E1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432699"/>
            <a:ext cx="145103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E68038-C767-FEA2-6AC2-AA24C0C9B867}"/>
              </a:ext>
            </a:extLst>
          </p:cNvPr>
          <p:cNvSpPr txBox="1"/>
          <p:nvPr/>
        </p:nvSpPr>
        <p:spPr>
          <a:xfrm>
            <a:off x="92139" y="5532470"/>
            <a:ext cx="120100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Memory vs SSD: 1600 times faster; memory vs HDD (seek): 20,000 times faster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Cache data into memory when possible; but memory is far more expensive</a:t>
            </a:r>
          </a:p>
        </p:txBody>
      </p:sp>
    </p:spTree>
    <p:extLst>
      <p:ext uri="{BB962C8B-B14F-4D97-AF65-F5344CB8AC3E}">
        <p14:creationId xmlns:p14="http://schemas.microsoft.com/office/powerpoint/2010/main" val="33800232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52B995-B4D3-8FB9-8390-A3CEFDF32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433" y="169333"/>
            <a:ext cx="6581966" cy="40478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8400F6-F0EF-4D5B-2054-F65718E2D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042479"/>
            <a:ext cx="7261426" cy="45538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CCE974-8270-4366-8B01-69D62753E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Disks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010FB-08EF-09BE-B675-D3E94E0FFB26}"/>
              </a:ext>
            </a:extLst>
          </p:cNvPr>
          <p:cNvSpPr txBox="1"/>
          <p:nvPr/>
        </p:nvSpPr>
        <p:spPr>
          <a:xfrm>
            <a:off x="4761127" y="1676400"/>
            <a:ext cx="2590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HDD: ~</a:t>
            </a:r>
            <a:r>
              <a:rPr lang="en-US" sz="2200" b="0" i="0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$21/TB</a:t>
            </a:r>
            <a:endParaRPr lang="en-US" sz="22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01E3F6-28CD-9FC6-7E0E-EF9BF8997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432699"/>
            <a:ext cx="145103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FDBD9-7F9E-318D-A262-C9C5EEA6F680}"/>
              </a:ext>
            </a:extLst>
          </p:cNvPr>
          <p:cNvSpPr txBox="1"/>
          <p:nvPr/>
        </p:nvSpPr>
        <p:spPr>
          <a:xfrm>
            <a:off x="8686800" y="930538"/>
            <a:ext cx="2590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0" i="0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SSD: ~$98/TB</a:t>
            </a:r>
            <a:endParaRPr lang="en-US" sz="22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CE7248-3C0C-E7E5-4F2D-F9B604793D85}"/>
              </a:ext>
            </a:extLst>
          </p:cNvPr>
          <p:cNvGrpSpPr/>
          <p:nvPr/>
        </p:nvGrpSpPr>
        <p:grpSpPr>
          <a:xfrm>
            <a:off x="5508433" y="3178902"/>
            <a:ext cx="6683567" cy="3592351"/>
            <a:chOff x="5508433" y="3178902"/>
            <a:chExt cx="6683567" cy="359235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D6C8522-65B7-6DFF-DC5B-E01D33070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08433" y="3178902"/>
              <a:ext cx="6683567" cy="3592351"/>
            </a:xfrm>
            <a:prstGeom prst="rect">
              <a:avLst/>
            </a:prstGeom>
            <a:ln w="19050">
              <a:solidFill>
                <a:schemeClr val="bg2"/>
              </a:solidFill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3A3B48D-8E7E-6FF4-DD50-FB893E5CBC9E}"/>
                </a:ext>
              </a:extLst>
            </p:cNvPr>
            <p:cNvSpPr txBox="1"/>
            <p:nvPr/>
          </p:nvSpPr>
          <p:spPr>
            <a:xfrm>
              <a:off x="6793012" y="4183475"/>
              <a:ext cx="311298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200" b="0" i="0" dirty="0">
                  <a:solidFill>
                    <a:srgbClr val="C00000"/>
                  </a:solidFill>
                  <a:effectLst/>
                  <a:latin typeface="Verdana" panose="020B0604030504040204" pitchFamily="34" charset="0"/>
                  <a:ea typeface="Verdana" panose="020B0604030504040204" pitchFamily="34" charset="0"/>
                </a:rPr>
                <a:t>Memory: ~$3890/TB</a:t>
              </a:r>
              <a:endParaRPr lang="en-US" sz="22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146995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7800-0938-4F87-3896-D3CA87A0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 Search at a Library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4608E-7EB3-E760-C3C1-64E322F66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possible ways to search a book?</a:t>
            </a:r>
          </a:p>
          <a:p>
            <a:pPr lvl="1"/>
            <a:r>
              <a:rPr lang="en-US" dirty="0"/>
              <a:t>By book title, author, ISBN</a:t>
            </a:r>
          </a:p>
          <a:p>
            <a:pPr lvl="1"/>
            <a:r>
              <a:rPr lang="en-US" dirty="0"/>
              <a:t>Return: which library, shelf and stack  </a:t>
            </a:r>
          </a:p>
          <a:p>
            <a:r>
              <a:rPr lang="en-US" dirty="0"/>
              <a:t>What if no index?</a:t>
            </a:r>
          </a:p>
          <a:p>
            <a:pPr lvl="1"/>
            <a:r>
              <a:rPr lang="en-US" dirty="0"/>
              <a:t>Almost impossible to find a book!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05403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D96FF-377A-93A4-CEE7-73A834505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C5672-2F52-81F5-702E-78586154F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﻿﻿Given: </a:t>
            </a:r>
            <a:r>
              <a:rPr lang="en-US" b="0" i="0" dirty="0">
                <a:solidFill>
                  <a:schemeClr val="accent6"/>
                </a:solidFill>
                <a:effectLst/>
                <a:ea typeface="Verdana" panose="020B0604030504040204" pitchFamily="34" charset="0"/>
              </a:rPr>
              <a:t>emp(</a:t>
            </a:r>
            <a:r>
              <a:rPr lang="en-US" b="0" i="0" u="sng" dirty="0">
                <a:solidFill>
                  <a:schemeClr val="accent6"/>
                </a:solidFill>
                <a:effectLst/>
                <a:ea typeface="Verdana" panose="020B0604030504040204" pitchFamily="34" charset="0"/>
              </a:rPr>
              <a:t>id</a:t>
            </a:r>
            <a:r>
              <a:rPr lang="en-US" b="0" i="0" dirty="0">
                <a:solidFill>
                  <a:schemeClr val="accent6"/>
                </a:solidFill>
                <a:effectLst/>
                <a:ea typeface="Verdana" panose="020B0604030504040204" pitchFamily="34" charset="0"/>
              </a:rPr>
              <a:t>, name, age, dept, address), </a:t>
            </a: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where id is the primary key</a:t>
            </a:r>
          </a:p>
          <a:p>
            <a:r>
              <a:rPr lang="en-US" dirty="0">
                <a:solidFill>
                  <a:srgbClr val="222222"/>
                </a:solidFill>
                <a:ea typeface="Verdana" panose="020B0604030504040204" pitchFamily="34" charset="0"/>
              </a:rPr>
              <a:t>Search key: attribute or combination of attributes used to search emp table</a:t>
            </a:r>
          </a:p>
          <a:p>
            <a:pPr lvl="1"/>
            <a:r>
              <a:rPr lang="en-US" dirty="0">
                <a:solidFill>
                  <a:srgbClr val="222222"/>
                </a:solidFill>
                <a:ea typeface="Verdana" panose="020B0604030504040204" pitchFamily="34" charset="0"/>
              </a:rPr>
              <a:t>﻿﻿Note: a search key is not the same as a key for a table</a:t>
            </a:r>
          </a:p>
          <a:p>
            <a:pPr lvl="1"/>
            <a:endParaRPr lang="en-US" sz="1050" b="0" i="0" dirty="0">
              <a:solidFill>
                <a:srgbClr val="222222"/>
              </a:solidFill>
              <a:effectLst/>
              <a:ea typeface="Verdana" panose="020B060403050404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﻿﻿We can build an index on any attribute</a:t>
            </a:r>
          </a:p>
          <a:p>
            <a:pPr lvl="1"/>
            <a:r>
              <a:rPr lang="en-US" dirty="0">
                <a:solidFill>
                  <a:srgbClr val="222222"/>
                </a:solidFill>
                <a:ea typeface="Verdana" panose="020B0604030504040204" pitchFamily="34" charset="0"/>
              </a:rPr>
              <a:t>e.g., &lt;id&gt;, &lt;name&gt;</a:t>
            </a:r>
          </a:p>
          <a:p>
            <a:pPr lvl="1"/>
            <a:endParaRPr lang="en-US" sz="1100" b="0" i="0" dirty="0">
              <a:solidFill>
                <a:srgbClr val="222222"/>
              </a:solidFill>
              <a:effectLst/>
              <a:ea typeface="Verdana" panose="020B060403050404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﻿﻿We can build an index on </a:t>
            </a:r>
            <a:r>
              <a:rPr lang="en-US" b="0" i="0" dirty="0">
                <a:solidFill>
                  <a:schemeClr val="accent6"/>
                </a:solidFill>
                <a:effectLst/>
                <a:ea typeface="Verdana" panose="020B0604030504040204" pitchFamily="34" charset="0"/>
              </a:rPr>
              <a:t>combination</a:t>
            </a: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 of attributes</a:t>
            </a:r>
          </a:p>
          <a:p>
            <a:pPr lvl="1"/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﻿﻿e.g., &lt;age, name&gt;</a:t>
            </a:r>
          </a:p>
          <a:p>
            <a:pPr lvl="1"/>
            <a:endParaRPr lang="en-US" sz="1100" b="0" i="0" dirty="0">
              <a:solidFill>
                <a:srgbClr val="222222"/>
              </a:solidFill>
              <a:effectLst/>
              <a:ea typeface="Verdana" panose="020B060403050404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﻿﻿We can build </a:t>
            </a:r>
            <a:r>
              <a:rPr lang="en-US" b="0" i="0" dirty="0">
                <a:solidFill>
                  <a:schemeClr val="accent6"/>
                </a:solidFill>
                <a:effectLst/>
                <a:ea typeface="Verdana" panose="020B0604030504040204" pitchFamily="34" charset="0"/>
              </a:rPr>
              <a:t>multiple indexes </a:t>
            </a: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for the same table</a:t>
            </a:r>
          </a:p>
          <a:p>
            <a:pPr lvl="1"/>
            <a:endParaRPr lang="en-US" b="0" i="0" dirty="0">
              <a:solidFill>
                <a:srgbClr val="222222"/>
              </a:solidFill>
              <a:effectLst/>
              <a:ea typeface="Verdana" panose="020B0604030504040204" pitchFamily="34" charset="0"/>
            </a:endParaRPr>
          </a:p>
          <a:p>
            <a:pPr marL="0" indent="0">
              <a:buNone/>
            </a:pPr>
            <a:br>
              <a:rPr lang="en-US" dirty="0">
                <a:ea typeface="Verdana" panose="020B0604030504040204" pitchFamily="34" charset="0"/>
              </a:rPr>
            </a:br>
            <a:endParaRPr lang="en-US" dirty="0"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487C34-C5D4-4D6D-1579-8DEFB4982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108715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20336599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834BB-EE53-BB16-A94D-07C552BC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for Database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8C28-F79A-ECAC-FB97-41A03478E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index is a data structure that speeds up selections (searching) on the search key field(s), </a:t>
            </a:r>
            <a:r>
              <a:rPr lang="en-US" dirty="0" err="1"/>
              <a:t>e.g.,”id</a:t>
            </a:r>
            <a:r>
              <a:rPr lang="en-US" dirty="0"/>
              <a:t>”</a:t>
            </a:r>
          </a:p>
          <a:p>
            <a:r>
              <a:rPr lang="en-US" dirty="0"/>
              <a:t>An index converts a search key k into a data entry k*</a:t>
            </a:r>
          </a:p>
          <a:p>
            <a:r>
              <a:rPr lang="en-US" dirty="0"/>
              <a:t>Given </a:t>
            </a:r>
            <a:r>
              <a:rPr lang="en-US" dirty="0">
                <a:solidFill>
                  <a:schemeClr val="accent6"/>
                </a:solidFill>
              </a:rPr>
              <a:t>k*, </a:t>
            </a:r>
            <a:r>
              <a:rPr lang="en-US" dirty="0"/>
              <a:t>we can get to the record(s) with the search key </a:t>
            </a:r>
            <a:r>
              <a:rPr lang="en-US" dirty="0">
                <a:solidFill>
                  <a:schemeClr val="accent6"/>
                </a:solidFill>
              </a:rPr>
              <a:t>k</a:t>
            </a:r>
            <a:r>
              <a:rPr lang="en-US" dirty="0"/>
              <a:t> in one page I/O  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DBE6918-ECFD-2814-F3FC-E445D4C61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771427"/>
              </p:ext>
            </p:extLst>
          </p:nvPr>
        </p:nvGraphicFramePr>
        <p:xfrm>
          <a:off x="616056" y="3827525"/>
          <a:ext cx="2286000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6576024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894191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v1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613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v2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329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v3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78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v4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479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k3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v5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86268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7D5A6B-8558-68C4-D85A-7A4E0FDDB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024050"/>
              </p:ext>
            </p:extLst>
          </p:nvPr>
        </p:nvGraphicFramePr>
        <p:xfrm>
          <a:off x="3219262" y="3844807"/>
          <a:ext cx="22860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6576024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894191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k1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B45F06"/>
                          </a:solidFill>
                        </a:rPr>
                        <a:t>r1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13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k2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B45F06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329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k3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B45F06"/>
                          </a:solidFill>
                        </a:rPr>
                        <a:t>r3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78557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F4AB42-FA1F-2CB1-A7D0-8845F2DF0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200150"/>
              </p:ext>
            </p:extLst>
          </p:nvPr>
        </p:nvGraphicFramePr>
        <p:xfrm>
          <a:off x="6712056" y="3814081"/>
          <a:ext cx="23622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65760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r1: </a:t>
                      </a:r>
                      <a:r>
                        <a:rPr lang="en-US" sz="2200" dirty="0"/>
                        <a:t>&lt;k1, v1, v2&gt;</a:t>
                      </a:r>
                    </a:p>
                  </a:txBody>
                  <a:tcPr>
                    <a:solidFill>
                      <a:srgbClr val="FF9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13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r2: &lt;k2, v3, v4&gt;</a:t>
                      </a:r>
                    </a:p>
                  </a:txBody>
                  <a:tcP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329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r3: &lt;k3, v5&gt;</a:t>
                      </a:r>
                    </a:p>
                  </a:txBody>
                  <a:tcP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7855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48166D-1921-618B-FF80-27F63AB8664A}"/>
              </a:ext>
            </a:extLst>
          </p:cNvPr>
          <p:cNvSpPr txBox="1"/>
          <p:nvPr/>
        </p:nvSpPr>
        <p:spPr>
          <a:xfrm>
            <a:off x="685800" y="3328020"/>
            <a:ext cx="2157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Logical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826C8A-0E0A-DEF3-5ECD-640764531E31}"/>
              </a:ext>
            </a:extLst>
          </p:cNvPr>
          <p:cNvSpPr txBox="1"/>
          <p:nvPr/>
        </p:nvSpPr>
        <p:spPr>
          <a:xfrm>
            <a:off x="3431629" y="3315594"/>
            <a:ext cx="1914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5F0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Index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A6C1C8-4CCC-D6A8-6D67-3241A34D32F0}"/>
              </a:ext>
            </a:extLst>
          </p:cNvPr>
          <p:cNvSpPr txBox="1"/>
          <p:nvPr/>
        </p:nvSpPr>
        <p:spPr>
          <a:xfrm>
            <a:off x="7000477" y="3315594"/>
            <a:ext cx="175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Page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DF78C7-36AE-0989-D4AA-9A9A9279241A}"/>
              </a:ext>
            </a:extLst>
          </p:cNvPr>
          <p:cNvSpPr txBox="1"/>
          <p:nvPr/>
        </p:nvSpPr>
        <p:spPr>
          <a:xfrm>
            <a:off x="9145920" y="3766565"/>
            <a:ext cx="18149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data record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3C494-2591-2007-7126-1D51FCBA49AF}"/>
              </a:ext>
            </a:extLst>
          </p:cNvPr>
          <p:cNvSpPr txBox="1"/>
          <p:nvPr/>
        </p:nvSpPr>
        <p:spPr>
          <a:xfrm>
            <a:off x="2978256" y="5800138"/>
            <a:ext cx="89045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Record id (rid): r1,r2: location of the record: </a:t>
            </a:r>
            <a:r>
              <a:rPr lang="en-US" sz="22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page# + offset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8E9691-E8F6-D232-55DB-9308AFEFAB45}"/>
              </a:ext>
            </a:extLst>
          </p:cNvPr>
          <p:cNvCxnSpPr>
            <a:cxnSpLocks/>
          </p:cNvCxnSpPr>
          <p:nvPr/>
        </p:nvCxnSpPr>
        <p:spPr bwMode="auto">
          <a:xfrm>
            <a:off x="5505262" y="4038600"/>
            <a:ext cx="1206794" cy="0"/>
          </a:xfrm>
          <a:prstGeom prst="straightConnector1">
            <a:avLst/>
          </a:prstGeom>
          <a:noFill/>
          <a:ln w="31750" cap="flat" cmpd="sng" algn="ctr">
            <a:solidFill>
              <a:srgbClr val="FF99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6459EF-7D02-400F-9A3B-7030DD6185BC}"/>
              </a:ext>
            </a:extLst>
          </p:cNvPr>
          <p:cNvCxnSpPr>
            <a:cxnSpLocks/>
          </p:cNvCxnSpPr>
          <p:nvPr/>
        </p:nvCxnSpPr>
        <p:spPr bwMode="auto">
          <a:xfrm>
            <a:off x="5505262" y="4419600"/>
            <a:ext cx="1206794" cy="0"/>
          </a:xfrm>
          <a:prstGeom prst="straightConnector1">
            <a:avLst/>
          </a:prstGeom>
          <a:noFill/>
          <a:ln w="31750" cap="flat" cmpd="sng" algn="ctr">
            <a:solidFill>
              <a:srgbClr val="FF99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B1EBA8-F852-FF70-1962-DB3172B36AE1}"/>
              </a:ext>
            </a:extLst>
          </p:cNvPr>
          <p:cNvCxnSpPr>
            <a:cxnSpLocks/>
          </p:cNvCxnSpPr>
          <p:nvPr/>
        </p:nvCxnSpPr>
        <p:spPr bwMode="auto">
          <a:xfrm>
            <a:off x="5505262" y="4876800"/>
            <a:ext cx="1206794" cy="0"/>
          </a:xfrm>
          <a:prstGeom prst="straightConnector1">
            <a:avLst/>
          </a:prstGeom>
          <a:noFill/>
          <a:ln w="31750" cap="flat" cmpd="sng" algn="ctr">
            <a:solidFill>
              <a:srgbClr val="FF99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059663D-8FE6-4101-81D5-59C668E72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108715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Indexing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02CB8EBC-9446-8A1D-A524-520952166B54}"/>
              </a:ext>
            </a:extLst>
          </p:cNvPr>
          <p:cNvCxnSpPr>
            <a:cxnSpLocks/>
            <a:endCxn id="7" idx="2"/>
          </p:cNvCxnSpPr>
          <p:nvPr/>
        </p:nvCxnSpPr>
        <p:spPr bwMode="auto">
          <a:xfrm flipV="1">
            <a:off x="2902056" y="5094241"/>
            <a:ext cx="4991100" cy="620071"/>
          </a:xfrm>
          <a:prstGeom prst="curvedConnector2">
            <a:avLst/>
          </a:prstGeom>
          <a:noFill/>
          <a:ln w="31750" cap="flat" cmpd="sng" algn="ctr">
            <a:solidFill>
              <a:srgbClr val="8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A345349-3B65-3720-F98E-1C73BE18A1CE}"/>
              </a:ext>
            </a:extLst>
          </p:cNvPr>
          <p:cNvSpPr txBox="1"/>
          <p:nvPr/>
        </p:nvSpPr>
        <p:spPr>
          <a:xfrm>
            <a:off x="3886200" y="5149833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B45F0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k*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5953231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96D1-6C2D-98FC-EF4A-CAB00CA7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Verdana" panose="020B0604030504040204" pitchFamily="34" charset="0"/>
                <a:cs typeface="Courier New" panose="02070309020205020404" pitchFamily="49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7D1FD-91B1-7A78-9FBC-D42966807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emp(</a:t>
            </a:r>
            <a:r>
              <a:rPr lang="en-US" b="1" u="sng" dirty="0">
                <a:solidFill>
                  <a:schemeClr val="accent6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id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, name, age, dept, address),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 Create an index on the 'id' column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CREATE INDEX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idx_emp_id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ON emp(id);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 Create an index on the 'name' column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 INDEX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idx_emp_name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ON emp(name);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EEEAA1-3412-1E9E-087D-D70848D65C87}"/>
              </a:ext>
            </a:extLst>
          </p:cNvPr>
          <p:cNvSpPr txBox="1"/>
          <p:nvPr/>
        </p:nvSpPr>
        <p:spPr>
          <a:xfrm>
            <a:off x="457200" y="4343400"/>
            <a:ext cx="8839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 panose="02070309020205020404" pitchFamily="49" charset="0"/>
              </a:rPr>
              <a:t>-- drop the indexes 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DROP INDEX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idx_emp_name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DROP INDEX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idx_emp_id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DROP INDEX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idx_emp_name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734923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CA6DF3-E6F7-4BE0-AA06-EC8190B4EE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45" b="1376"/>
          <a:stretch>
            <a:fillRect/>
          </a:stretch>
        </p:blipFill>
        <p:spPr>
          <a:xfrm>
            <a:off x="2057400" y="1371600"/>
            <a:ext cx="7684016" cy="4953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00C855-EA8D-49E5-A446-1B1E5A96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and Index in IBM DB2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A77AE-F44B-A19B-A652-E3F8A3E57DD9}"/>
              </a:ext>
            </a:extLst>
          </p:cNvPr>
          <p:cNvSpPr txBox="1"/>
          <p:nvPr/>
        </p:nvSpPr>
        <p:spPr>
          <a:xfrm>
            <a:off x="1373717" y="990600"/>
            <a:ext cx="26881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Logical Table 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17ABD3-EF02-ED34-F1CE-024E28ECB338}"/>
              </a:ext>
            </a:extLst>
          </p:cNvPr>
          <p:cNvSpPr txBox="1"/>
          <p:nvPr/>
        </p:nvSpPr>
        <p:spPr>
          <a:xfrm>
            <a:off x="4038600" y="992833"/>
            <a:ext cx="28436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6600"/>
                </a:solidFill>
              </a:rPr>
              <a:t>Physical Table 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129AE-91DD-A237-4A89-57B4341818BE}"/>
              </a:ext>
            </a:extLst>
          </p:cNvPr>
          <p:cNvSpPr txBox="1"/>
          <p:nvPr/>
        </p:nvSpPr>
        <p:spPr>
          <a:xfrm>
            <a:off x="8897405" y="1421487"/>
            <a:ext cx="30553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Logical View of Index</a:t>
            </a:r>
          </a:p>
        </p:txBody>
      </p:sp>
    </p:spTree>
    <p:extLst>
      <p:ext uri="{BB962C8B-B14F-4D97-AF65-F5344CB8AC3E}">
        <p14:creationId xmlns:p14="http://schemas.microsoft.com/office/powerpoint/2010/main" val="39990464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Index for Database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Alternatives for data entries </a:t>
            </a:r>
            <a:r>
              <a:rPr lang="en-US" i="1" dirty="0"/>
              <a:t>k</a:t>
            </a:r>
            <a:r>
              <a:rPr lang="en-US" dirty="0"/>
              <a:t>*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Actual </a:t>
            </a:r>
            <a:r>
              <a:rPr lang="en-US" dirty="0">
                <a:solidFill>
                  <a:srgbClr val="FF0000"/>
                </a:solidFill>
              </a:rPr>
              <a:t>data record </a:t>
            </a:r>
            <a:r>
              <a:rPr lang="en-US" dirty="0"/>
              <a:t>with search value </a:t>
            </a:r>
            <a:r>
              <a:rPr lang="en-US" i="1" dirty="0"/>
              <a:t>k: e.g., (</a:t>
            </a:r>
            <a:r>
              <a:rPr lang="en-US" i="1" dirty="0">
                <a:solidFill>
                  <a:srgbClr val="FF6600"/>
                </a:solidFill>
              </a:rPr>
              <a:t>1000</a:t>
            </a:r>
            <a:r>
              <a:rPr lang="en-US" i="1" dirty="0"/>
              <a:t>, Joe Doe, 30, 100 Nicolls Rd, Stony Brook, NY 11794)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&lt;</a:t>
            </a:r>
            <a:r>
              <a:rPr lang="en-US" i="1" dirty="0"/>
              <a:t>k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rid</a:t>
            </a:r>
            <a:r>
              <a:rPr lang="en-US" dirty="0"/>
              <a:t> of data record with search key </a:t>
            </a:r>
            <a:r>
              <a:rPr lang="en-US" i="1" dirty="0"/>
              <a:t>k</a:t>
            </a:r>
            <a:r>
              <a:rPr lang="en-US" dirty="0"/>
              <a:t>&gt;, e.g., 1000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&lt;</a:t>
            </a:r>
            <a:r>
              <a:rPr lang="en-US" i="1" dirty="0"/>
              <a:t>k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list of rids </a:t>
            </a:r>
            <a:r>
              <a:rPr lang="en-US" dirty="0"/>
              <a:t>of data records with search key </a:t>
            </a:r>
            <a:r>
              <a:rPr lang="en-US" i="1" dirty="0"/>
              <a:t>k</a:t>
            </a:r>
            <a:r>
              <a:rPr lang="en-US" dirty="0"/>
              <a:t>&gt;, e.g., (1000, 111000, 111001)</a:t>
            </a:r>
          </a:p>
          <a:p>
            <a:r>
              <a:rPr lang="en-US" dirty="0"/>
              <a:t>Choice depends on the indexing technique used to locate data entry </a:t>
            </a:r>
            <a:r>
              <a:rPr lang="en-US" i="1" dirty="0"/>
              <a:t>k</a:t>
            </a:r>
            <a:r>
              <a:rPr lang="en-US" dirty="0"/>
              <a:t>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87289-1C80-42AF-9C82-A895F934F428}"/>
              </a:ext>
            </a:extLst>
          </p:cNvPr>
          <p:cNvSpPr txBox="1"/>
          <p:nvPr/>
        </p:nvSpPr>
        <p:spPr>
          <a:xfrm>
            <a:off x="7315200" y="2057400"/>
            <a:ext cx="212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66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rid: record ID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6894C2-0D79-D33A-A5CA-EBC164B3D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04517"/>
              </p:ext>
            </p:extLst>
          </p:nvPr>
        </p:nvGraphicFramePr>
        <p:xfrm>
          <a:off x="7620000" y="4952263"/>
          <a:ext cx="22860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6576024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894191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B45F06"/>
                          </a:solidFill>
                        </a:rPr>
                        <a:t>r1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613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B45F06"/>
                          </a:solidFill>
                        </a:rPr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329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k3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B45F06"/>
                          </a:solidFill>
                        </a:rPr>
                        <a:t>r3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7855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81B686D-3CF7-1574-05E4-DD14B2687EA9}"/>
              </a:ext>
            </a:extLst>
          </p:cNvPr>
          <p:cNvSpPr txBox="1"/>
          <p:nvPr/>
        </p:nvSpPr>
        <p:spPr>
          <a:xfrm>
            <a:off x="5715000" y="5361510"/>
            <a:ext cx="1790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B45F06"/>
                </a:solidFill>
              </a:rPr>
              <a:t>Index page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0CDC1-6FC2-FEC8-377B-B901A5B34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108715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Indexing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4D7B07-7AAD-4439-8B3C-3E55E7887CAE}"/>
              </a:ext>
            </a:extLst>
          </p:cNvPr>
          <p:cNvSpPr txBox="1"/>
          <p:nvPr/>
        </p:nvSpPr>
        <p:spPr>
          <a:xfrm>
            <a:off x="8326363" y="4563423"/>
            <a:ext cx="8732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B45F06"/>
                </a:solidFill>
              </a:rPr>
              <a:t>k*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3050879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Most Indexes are Tree Structured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Tree-structured indexes support</a:t>
            </a:r>
          </a:p>
          <a:p>
            <a:pPr lvl="1"/>
            <a:r>
              <a:rPr lang="en-US" dirty="0"/>
              <a:t>Range searches (e.g., </a:t>
            </a:r>
            <a:r>
              <a:rPr lang="en-US" dirty="0" err="1"/>
              <a:t>gpa</a:t>
            </a:r>
            <a:r>
              <a:rPr lang="en-US" dirty="0"/>
              <a:t> &gt; 3.0)</a:t>
            </a:r>
          </a:p>
          <a:p>
            <a:pPr lvl="1"/>
            <a:r>
              <a:rPr lang="en-US" dirty="0"/>
              <a:t>Equality searches (e.g., </a:t>
            </a:r>
            <a:r>
              <a:rPr lang="en-US" dirty="0" err="1"/>
              <a:t>empno</a:t>
            </a:r>
            <a:r>
              <a:rPr lang="en-US" dirty="0"/>
              <a:t> = ‘10000’)</a:t>
            </a:r>
          </a:p>
          <a:p>
            <a:r>
              <a:rPr lang="en-US" dirty="0"/>
              <a:t>Why not just store the file sorted on search key?</a:t>
            </a:r>
          </a:p>
          <a:p>
            <a:pPr lvl="1"/>
            <a:r>
              <a:rPr lang="en-US" dirty="0"/>
              <a:t>Can perform </a:t>
            </a:r>
            <a:r>
              <a:rPr lang="en-US" i="1" dirty="0"/>
              <a:t>binary search </a:t>
            </a:r>
            <a:r>
              <a:rPr lang="en-US" dirty="0"/>
              <a:t>to find matching records</a:t>
            </a:r>
          </a:p>
          <a:p>
            <a:pPr lvl="1"/>
            <a:r>
              <a:rPr lang="en-US" dirty="0"/>
              <a:t>While binary search is fast O(log n) …, the cost is high because we are doing the search over </a:t>
            </a:r>
            <a:r>
              <a:rPr lang="en-US" i="1" dirty="0"/>
              <a:t>disk blocks </a:t>
            </a:r>
            <a:r>
              <a:rPr lang="en-US" dirty="0"/>
              <a:t>(records stored on disk in blocks)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2AFE9-25EE-877C-9921-953C108B4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108715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97404730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EBC6-8FA8-4AB1-ABDD-36ACB593A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B+ Tree: Most Widely Used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7BE6E-3701-90D2-788E-506C6F999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B+Tree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is a self-balancing tree data structure that keeps data sorted and allows searches, sequential access, insertions, and deletions always in </a:t>
            </a:r>
            <a:r>
              <a:rPr lang="en-US" sz="24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O(log n)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F6A084-D9A6-06F7-0977-90DC233F347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21767" y="2590800"/>
            <a:ext cx="6460433" cy="2971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5239E2-04AC-A164-FF88-DFEAC9159633}"/>
              </a:ext>
            </a:extLst>
          </p:cNvPr>
          <p:cNvSpPr txBox="1"/>
          <p:nvPr/>
        </p:nvSpPr>
        <p:spPr>
          <a:xfrm>
            <a:off x="5791200" y="2129135"/>
            <a:ext cx="1447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dirty="0">
                <a:solidFill>
                  <a:srgbClr val="A7193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B+-tree</a:t>
            </a:r>
            <a:endParaRPr lang="en-US" sz="2400" dirty="0">
              <a:solidFill>
                <a:srgbClr val="A71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11594B-E641-E055-82D5-174134B87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101040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B+-Tree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DCA192E-954D-A450-F357-293712586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832281"/>
              </p:ext>
            </p:extLst>
          </p:nvPr>
        </p:nvGraphicFramePr>
        <p:xfrm>
          <a:off x="2895600" y="5562600"/>
          <a:ext cx="1905000" cy="48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58026012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169327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341688089"/>
                    </a:ext>
                  </a:extLst>
                </a:gridCol>
              </a:tblGrid>
              <a:tr h="483504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5321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9379DD-9093-19A8-23EF-960207065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411784"/>
              </p:ext>
            </p:extLst>
          </p:nvPr>
        </p:nvGraphicFramePr>
        <p:xfrm>
          <a:off x="5105400" y="5562600"/>
          <a:ext cx="1447800" cy="48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val="2580260122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169327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341688089"/>
                    </a:ext>
                  </a:extLst>
                </a:gridCol>
              </a:tblGrid>
              <a:tr h="483504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5321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C3530AF-2C18-6F58-97FE-3D31937D7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34623"/>
              </p:ext>
            </p:extLst>
          </p:nvPr>
        </p:nvGraphicFramePr>
        <p:xfrm>
          <a:off x="6629400" y="5562600"/>
          <a:ext cx="1447800" cy="48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val="2580260122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169327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341688089"/>
                    </a:ext>
                  </a:extLst>
                </a:gridCol>
              </a:tblGrid>
              <a:tr h="483504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5321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6B67208-036E-41F6-64AE-C4E7834F6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949683"/>
              </p:ext>
            </p:extLst>
          </p:nvPr>
        </p:nvGraphicFramePr>
        <p:xfrm>
          <a:off x="8458200" y="5562600"/>
          <a:ext cx="1447800" cy="48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val="2580260122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169327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3341688089"/>
                    </a:ext>
                  </a:extLst>
                </a:gridCol>
              </a:tblGrid>
              <a:tr h="483504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d6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d7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5321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1C244AC-5A92-057B-5199-336F8FB72636}"/>
              </a:ext>
            </a:extLst>
          </p:cNvPr>
          <p:cNvSpPr txBox="1"/>
          <p:nvPr/>
        </p:nvSpPr>
        <p:spPr>
          <a:xfrm>
            <a:off x="914400" y="5558135"/>
            <a:ext cx="190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A7193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r>
              <a:rPr lang="en-US" sz="2400" b="0" i="0" u="none" strike="noStrike" dirty="0">
                <a:solidFill>
                  <a:srgbClr val="A7193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ata page</a:t>
            </a:r>
            <a:endParaRPr lang="en-US" sz="2400" dirty="0">
              <a:solidFill>
                <a:srgbClr val="A719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20153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B+-Tree Overview</a:t>
            </a: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210" y="685801"/>
            <a:ext cx="8529791" cy="527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9BB4999-3670-4DED-9AEC-DD91CE64BCCC}"/>
              </a:ext>
            </a:extLst>
          </p:cNvPr>
          <p:cNvSpPr/>
          <p:nvPr/>
        </p:nvSpPr>
        <p:spPr bwMode="auto">
          <a:xfrm>
            <a:off x="4281870" y="1504440"/>
            <a:ext cx="448902" cy="457184"/>
          </a:xfrm>
          <a:prstGeom prst="ellipse">
            <a:avLst/>
          </a:prstGeom>
          <a:noFill/>
          <a:ln w="1270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Siemens Sans Black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E6A2B1-7004-4561-8C7A-EF3B08DBAD2B}"/>
              </a:ext>
            </a:extLst>
          </p:cNvPr>
          <p:cNvSpPr/>
          <p:nvPr/>
        </p:nvSpPr>
        <p:spPr bwMode="auto">
          <a:xfrm>
            <a:off x="5828838" y="1499550"/>
            <a:ext cx="448902" cy="457184"/>
          </a:xfrm>
          <a:prstGeom prst="ellipse">
            <a:avLst/>
          </a:prstGeom>
          <a:noFill/>
          <a:ln w="1270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Siemens Sans Black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559DE68-E482-4FD9-B18D-9BB2A5F093AD}"/>
              </a:ext>
            </a:extLst>
          </p:cNvPr>
          <p:cNvSpPr/>
          <p:nvPr/>
        </p:nvSpPr>
        <p:spPr bwMode="auto">
          <a:xfrm>
            <a:off x="8001000" y="1499550"/>
            <a:ext cx="448902" cy="457184"/>
          </a:xfrm>
          <a:prstGeom prst="ellipse">
            <a:avLst/>
          </a:prstGeom>
          <a:noFill/>
          <a:ln w="1270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Siemens Sans Black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27C295-2F34-473D-B5FC-5C3738F2B7DF}"/>
              </a:ext>
            </a:extLst>
          </p:cNvPr>
          <p:cNvCxnSpPr>
            <a:cxnSpLocks/>
          </p:cNvCxnSpPr>
          <p:nvPr/>
        </p:nvCxnSpPr>
        <p:spPr bwMode="auto">
          <a:xfrm>
            <a:off x="3352800" y="5638800"/>
            <a:ext cx="0" cy="457200"/>
          </a:xfrm>
          <a:prstGeom prst="straightConnector1">
            <a:avLst/>
          </a:prstGeom>
          <a:noFill/>
          <a:ln w="12700" cap="flat" cmpd="sng" algn="ctr">
            <a:solidFill>
              <a:srgbClr val="FF99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AF3F6E-1BA8-4917-9038-A39950AEDFFC}"/>
              </a:ext>
            </a:extLst>
          </p:cNvPr>
          <p:cNvCxnSpPr>
            <a:cxnSpLocks/>
            <a:endCxn id="19" idx="0"/>
          </p:cNvCxnSpPr>
          <p:nvPr/>
        </p:nvCxnSpPr>
        <p:spPr bwMode="auto">
          <a:xfrm>
            <a:off x="3497858" y="5638800"/>
            <a:ext cx="0" cy="441377"/>
          </a:xfrm>
          <a:prstGeom prst="straightConnector1">
            <a:avLst/>
          </a:prstGeom>
          <a:noFill/>
          <a:ln w="12700" cap="flat" cmpd="sng" algn="ctr">
            <a:solidFill>
              <a:srgbClr val="FF99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517C42-4C28-4DAB-80D5-410CB2E33ADE}"/>
              </a:ext>
            </a:extLst>
          </p:cNvPr>
          <p:cNvCxnSpPr>
            <a:cxnSpLocks/>
          </p:cNvCxnSpPr>
          <p:nvPr/>
        </p:nvCxnSpPr>
        <p:spPr bwMode="auto">
          <a:xfrm>
            <a:off x="3657600" y="5638800"/>
            <a:ext cx="533400" cy="457200"/>
          </a:xfrm>
          <a:prstGeom prst="straightConnector1">
            <a:avLst/>
          </a:prstGeom>
          <a:noFill/>
          <a:ln w="12700" cap="flat" cmpd="sng" algn="ctr">
            <a:solidFill>
              <a:srgbClr val="FF99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3F71CD-E2E1-4676-B05A-6F873F905386}"/>
              </a:ext>
            </a:extLst>
          </p:cNvPr>
          <p:cNvSpPr txBox="1"/>
          <p:nvPr/>
        </p:nvSpPr>
        <p:spPr>
          <a:xfrm>
            <a:off x="4038600" y="6091560"/>
            <a:ext cx="594916" cy="215444"/>
          </a:xfrm>
          <a:prstGeom prst="rect">
            <a:avLst/>
          </a:prstGeom>
          <a:solidFill>
            <a:schemeClr val="accent3">
              <a:lumMod val="85000"/>
            </a:schemeClr>
          </a:solidFill>
          <a:ln w="15875"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179A88-A0E3-4B87-8B14-8E20F238BF4A}"/>
              </a:ext>
            </a:extLst>
          </p:cNvPr>
          <p:cNvSpPr txBox="1"/>
          <p:nvPr/>
        </p:nvSpPr>
        <p:spPr>
          <a:xfrm>
            <a:off x="4815284" y="6088184"/>
            <a:ext cx="594916" cy="215444"/>
          </a:xfrm>
          <a:prstGeom prst="rect">
            <a:avLst/>
          </a:prstGeom>
          <a:solidFill>
            <a:schemeClr val="accent3">
              <a:lumMod val="85000"/>
            </a:schemeClr>
          </a:solidFill>
          <a:ln w="15875"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00E700-24A7-4B9C-8D48-DBD34421FB38}"/>
              </a:ext>
            </a:extLst>
          </p:cNvPr>
          <p:cNvSpPr txBox="1"/>
          <p:nvPr/>
        </p:nvSpPr>
        <p:spPr>
          <a:xfrm>
            <a:off x="9539684" y="6078404"/>
            <a:ext cx="594916" cy="215444"/>
          </a:xfrm>
          <a:prstGeom prst="rect">
            <a:avLst/>
          </a:prstGeom>
          <a:solidFill>
            <a:schemeClr val="accent3">
              <a:lumMod val="85000"/>
            </a:schemeClr>
          </a:solidFill>
          <a:ln w="15875"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…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3C8EEC0-E35E-4005-9496-CAEBFEE0D267}"/>
              </a:ext>
            </a:extLst>
          </p:cNvPr>
          <p:cNvCxnSpPr>
            <a:cxnSpLocks/>
            <a:endCxn id="15" idx="1"/>
          </p:cNvCxnSpPr>
          <p:nvPr/>
        </p:nvCxnSpPr>
        <p:spPr bwMode="auto">
          <a:xfrm>
            <a:off x="3795316" y="6192704"/>
            <a:ext cx="243284" cy="6578"/>
          </a:xfrm>
          <a:prstGeom prst="straightConnector1">
            <a:avLst/>
          </a:prstGeom>
          <a:noFill/>
          <a:ln w="12700" cap="flat" cmpd="sng" algn="ctr">
            <a:solidFill>
              <a:srgbClr val="FF99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3E874C6-9ABE-4CD6-9647-395979462355}"/>
              </a:ext>
            </a:extLst>
          </p:cNvPr>
          <p:cNvCxnSpPr>
            <a:cxnSpLocks/>
            <a:stCxn id="15" idx="3"/>
          </p:cNvCxnSpPr>
          <p:nvPr/>
        </p:nvCxnSpPr>
        <p:spPr bwMode="auto">
          <a:xfrm>
            <a:off x="4633516" y="6199282"/>
            <a:ext cx="181768" cy="0"/>
          </a:xfrm>
          <a:prstGeom prst="straightConnector1">
            <a:avLst/>
          </a:prstGeom>
          <a:noFill/>
          <a:ln w="12700" cap="flat" cmpd="sng" algn="ctr">
            <a:solidFill>
              <a:srgbClr val="FF99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A28B288-CC82-493F-A34A-63068AC35E7B}"/>
              </a:ext>
            </a:extLst>
          </p:cNvPr>
          <p:cNvCxnSpPr/>
          <p:nvPr/>
        </p:nvCxnSpPr>
        <p:spPr bwMode="auto">
          <a:xfrm>
            <a:off x="5395516" y="6216134"/>
            <a:ext cx="243284" cy="0"/>
          </a:xfrm>
          <a:prstGeom prst="straightConnector1">
            <a:avLst/>
          </a:prstGeom>
          <a:noFill/>
          <a:ln w="12700" cap="flat" cmpd="sng" algn="ctr">
            <a:solidFill>
              <a:srgbClr val="FF99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718B015-366F-43B5-970C-D009491C1796}"/>
              </a:ext>
            </a:extLst>
          </p:cNvPr>
          <p:cNvCxnSpPr>
            <a:cxnSpLocks/>
          </p:cNvCxnSpPr>
          <p:nvPr/>
        </p:nvCxnSpPr>
        <p:spPr bwMode="auto">
          <a:xfrm>
            <a:off x="9281716" y="6199282"/>
            <a:ext cx="243284" cy="0"/>
          </a:xfrm>
          <a:prstGeom prst="straightConnector1">
            <a:avLst/>
          </a:prstGeom>
          <a:noFill/>
          <a:ln w="12700" cap="flat" cmpd="sng" algn="ctr">
            <a:solidFill>
              <a:srgbClr val="FF99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645145D-98DF-0787-D869-E48E8954E4DA}"/>
              </a:ext>
            </a:extLst>
          </p:cNvPr>
          <p:cNvSpPr txBox="1"/>
          <p:nvPr/>
        </p:nvSpPr>
        <p:spPr>
          <a:xfrm>
            <a:off x="1348490" y="5999569"/>
            <a:ext cx="194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Data pages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DE39D2-C5AF-9A54-93D0-9C3280E02E0D}"/>
              </a:ext>
            </a:extLst>
          </p:cNvPr>
          <p:cNvSpPr txBox="1"/>
          <p:nvPr/>
        </p:nvSpPr>
        <p:spPr>
          <a:xfrm>
            <a:off x="3200400" y="6080177"/>
            <a:ext cx="594916" cy="215444"/>
          </a:xfrm>
          <a:prstGeom prst="rect">
            <a:avLst/>
          </a:prstGeom>
          <a:solidFill>
            <a:schemeClr val="accent3">
              <a:lumMod val="85000"/>
            </a:schemeClr>
          </a:solidFill>
          <a:ln w="15875"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…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2DDF0B-E999-F1FE-44EC-7CB9D533DDD9}"/>
              </a:ext>
            </a:extLst>
          </p:cNvPr>
          <p:cNvCxnSpPr>
            <a:cxnSpLocks/>
            <a:endCxn id="32" idx="0"/>
          </p:cNvCxnSpPr>
          <p:nvPr/>
        </p:nvCxnSpPr>
        <p:spPr bwMode="auto">
          <a:xfrm>
            <a:off x="9837142" y="5638800"/>
            <a:ext cx="0" cy="439604"/>
          </a:xfrm>
          <a:prstGeom prst="straightConnector1">
            <a:avLst/>
          </a:prstGeom>
          <a:noFill/>
          <a:ln w="12700" cap="flat" cmpd="sng" algn="ctr">
            <a:solidFill>
              <a:srgbClr val="FF99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94F5D24-AE8B-ADED-DFD9-FCB32AF59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101040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B+-Tree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C5A052-F09A-A14A-4770-8E0DE9665BA5}"/>
              </a:ext>
            </a:extLst>
          </p:cNvPr>
          <p:cNvSpPr txBox="1"/>
          <p:nvPr/>
        </p:nvSpPr>
        <p:spPr>
          <a:xfrm>
            <a:off x="304800" y="2057400"/>
            <a:ext cx="1452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</a:t>
            </a:r>
            <a:r>
              <a:rPr lang="en-US" sz="2000" baseline="-25000" dirty="0"/>
              <a:t>0</a:t>
            </a:r>
            <a:r>
              <a:rPr lang="en-US" sz="2000" dirty="0"/>
              <a:t>: &lt;k</a:t>
            </a:r>
            <a:r>
              <a:rPr lang="en-US" sz="2000" baseline="-25000" dirty="0"/>
              <a:t>1</a:t>
            </a:r>
          </a:p>
          <a:p>
            <a:r>
              <a:rPr lang="en-US" sz="2000" dirty="0"/>
              <a:t>P</a:t>
            </a:r>
            <a:r>
              <a:rPr lang="en-US" sz="2000" baseline="-25000" dirty="0"/>
              <a:t>1</a:t>
            </a:r>
            <a:r>
              <a:rPr lang="en-US" sz="2000" dirty="0"/>
              <a:t>: &gt;=k</a:t>
            </a:r>
            <a:r>
              <a:rPr lang="en-US" sz="2000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5109533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B+ Tree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The tree stays balanced: same depth for all leaf nodes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200" dirty="0"/>
              <a:t>Insert, delete, search are </a:t>
            </a:r>
            <a:r>
              <a:rPr lang="en-US" sz="2200" i="1" dirty="0"/>
              <a:t>O</a:t>
            </a:r>
            <a:r>
              <a:rPr lang="en-US" sz="2200" dirty="0"/>
              <a:t>(</a:t>
            </a:r>
            <a:r>
              <a:rPr lang="en-US" sz="2200" dirty="0" err="1"/>
              <a:t>log</a:t>
            </a:r>
            <a:r>
              <a:rPr lang="en-US" sz="2200" i="1" baseline="-25000" dirty="0" err="1"/>
              <a:t>f</a:t>
            </a:r>
            <a:r>
              <a:rPr lang="en-US" sz="2200" i="1" dirty="0"/>
              <a:t> n</a:t>
            </a:r>
            <a:r>
              <a:rPr lang="en-US" sz="22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Every node except root must be at least </a:t>
            </a:r>
            <a:r>
              <a:rPr lang="en-US" dirty="0">
                <a:solidFill>
                  <a:schemeClr val="accent2"/>
                </a:solidFill>
              </a:rPr>
              <a:t>50% </a:t>
            </a:r>
            <a:r>
              <a:rPr lang="en-US" dirty="0"/>
              <a:t>full </a:t>
            </a:r>
            <a:r>
              <a:rPr lang="en-US" dirty="0">
                <a:solidFill>
                  <a:schemeClr val="accent6"/>
                </a:solidFill>
              </a:rPr>
              <a:t>(fill factor)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400" dirty="0">
                <a:solidFill>
                  <a:schemeClr val="accent6"/>
                </a:solidFill>
              </a:rPr>
              <a:t>Fanout</a:t>
            </a:r>
            <a:r>
              <a:rPr lang="en-US" dirty="0">
                <a:solidFill>
                  <a:schemeClr val="accent6"/>
                </a:solidFill>
              </a:rPr>
              <a:t> (f)</a:t>
            </a:r>
            <a:r>
              <a:rPr lang="en-US" sz="2400" dirty="0"/>
              <a:t>: the number of pointers out of the node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chemeClr val="accent6"/>
                </a:solidFill>
              </a:rPr>
              <a:t>height(h): </a:t>
            </a:r>
            <a:r>
              <a:rPr lang="en-US" dirty="0"/>
              <a:t>the level of the leaf nodes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Maintains a doubly linked list of data-entry pages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Supports equality and range searches efficiently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2EDDA9-91B9-4AF5-BC8E-5317D802AE05}"/>
              </a:ext>
            </a:extLst>
          </p:cNvPr>
          <p:cNvSpPr/>
          <p:nvPr/>
        </p:nvSpPr>
        <p:spPr>
          <a:xfrm>
            <a:off x="7619999" y="4056144"/>
            <a:ext cx="198120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kern="0" dirty="0">
                <a:solidFill>
                  <a:srgbClr val="FF9933"/>
                </a:solidFill>
                <a:latin typeface="Verdana" pitchFamily="34" charset="0"/>
              </a:rPr>
              <a:t>Order (b)=4</a:t>
            </a:r>
            <a:endParaRPr lang="en-US" sz="2200" dirty="0">
              <a:solidFill>
                <a:srgbClr val="FF9933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63E2BA-191D-4105-912C-BC3CE41F7F51}"/>
              </a:ext>
            </a:extLst>
          </p:cNvPr>
          <p:cNvSpPr/>
          <p:nvPr/>
        </p:nvSpPr>
        <p:spPr>
          <a:xfrm>
            <a:off x="9641226" y="4665744"/>
            <a:ext cx="209357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kern="0" dirty="0">
                <a:solidFill>
                  <a:srgbClr val="FF9933"/>
                </a:solidFill>
                <a:latin typeface="Verdana" pitchFamily="34" charset="0"/>
              </a:rPr>
              <a:t>Height (h)=2</a:t>
            </a:r>
            <a:endParaRPr lang="en-US" sz="2200" dirty="0">
              <a:solidFill>
                <a:srgbClr val="FF993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E1530F-B29E-4D1E-949F-D5F3F9407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962399"/>
            <a:ext cx="8382000" cy="23216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4F0CFE-DCA3-09C1-58DC-E630F34C7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101040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B+-Tree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544E1D-0B34-5D9D-EC16-AFD89D371668}"/>
              </a:ext>
            </a:extLst>
          </p:cNvPr>
          <p:cNvSpPr/>
          <p:nvPr/>
        </p:nvSpPr>
        <p:spPr>
          <a:xfrm>
            <a:off x="2819400" y="6530332"/>
            <a:ext cx="8153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Demo: https://www.cs.usfca.edu/~galles/visualization/BPlusTree.html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EF4531-2790-26A7-CF01-6141472F8A91}"/>
              </a:ext>
            </a:extLst>
          </p:cNvPr>
          <p:cNvSpPr txBox="1"/>
          <p:nvPr/>
        </p:nvSpPr>
        <p:spPr>
          <a:xfrm>
            <a:off x="76200" y="4311801"/>
            <a:ext cx="31242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i="1" dirty="0"/>
              <a:t>Note: Definition of “order” is </a:t>
            </a:r>
          </a:p>
          <a:p>
            <a:r>
              <a:rPr lang="en-US" i="1" dirty="0"/>
              <a:t>inconsistency in the literature </a:t>
            </a:r>
          </a:p>
        </p:txBody>
      </p:sp>
    </p:spTree>
    <p:extLst>
      <p:ext uri="{BB962C8B-B14F-4D97-AF65-F5344CB8AC3E}">
        <p14:creationId xmlns:p14="http://schemas.microsoft.com/office/powerpoint/2010/main" val="43841931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3955-308E-CDC4-5B84-E18944C3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5A491-5B90-2336-9B6D-F13CBD548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Verdana" panose="020B0604030504040204" pitchFamily="34" charset="0"/>
              </a:rPr>
              <a:t>The fundamental unit of data storage in a database is the </a:t>
            </a:r>
            <a:r>
              <a:rPr lang="en-US" dirty="0">
                <a:solidFill>
                  <a:schemeClr val="accent6"/>
                </a:solidFill>
                <a:ea typeface="Verdana" panose="020B0604030504040204" pitchFamily="34" charset="0"/>
              </a:rPr>
              <a:t>page</a:t>
            </a:r>
          </a:p>
          <a:p>
            <a:pPr lvl="1"/>
            <a:r>
              <a:rPr lang="en-US" sz="2000" dirty="0">
                <a:ea typeface="Verdana" panose="020B0604030504040204" pitchFamily="34" charset="0"/>
              </a:rPr>
              <a:t>The disk space allocated to a data file in a database is logically divided into pages </a:t>
            </a:r>
          </a:p>
          <a:p>
            <a:pPr lvl="1"/>
            <a:r>
              <a:rPr lang="en-US" sz="2000" dirty="0">
                <a:ea typeface="Verdana" panose="020B0604030504040204" pitchFamily="34" charset="0"/>
              </a:rPr>
              <a:t>Disk I/O operations are performed at the page level. That is, the database server reads or writes only </a:t>
            </a:r>
            <a:r>
              <a:rPr lang="en-US" sz="2000" dirty="0">
                <a:solidFill>
                  <a:schemeClr val="accent6"/>
                </a:solidFill>
                <a:ea typeface="Verdana" panose="020B0604030504040204" pitchFamily="34" charset="0"/>
              </a:rPr>
              <a:t>whole</a:t>
            </a:r>
            <a:r>
              <a:rPr lang="en-US" sz="2000" dirty="0">
                <a:ea typeface="Verdana" panose="020B0604030504040204" pitchFamily="34" charset="0"/>
              </a:rPr>
              <a:t> data pages</a:t>
            </a:r>
          </a:p>
          <a:p>
            <a:r>
              <a:rPr lang="en-US" dirty="0">
                <a:solidFill>
                  <a:srgbClr val="161616"/>
                </a:solidFill>
                <a:ea typeface="Verdana" panose="020B0604030504040204" pitchFamily="34" charset="0"/>
              </a:rPr>
              <a:t>DB page </a:t>
            </a:r>
            <a:r>
              <a:rPr lang="en-US" b="0" i="0" dirty="0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size</a:t>
            </a:r>
          </a:p>
          <a:p>
            <a:pPr lvl="1"/>
            <a:r>
              <a:rPr lang="en-US" sz="2000" dirty="0">
                <a:solidFill>
                  <a:srgbClr val="161616"/>
                </a:solidFill>
                <a:ea typeface="Verdana" panose="020B0604030504040204" pitchFamily="34" charset="0"/>
              </a:rPr>
              <a:t>Db2: </a:t>
            </a:r>
            <a:r>
              <a:rPr lang="en-US" sz="2000" b="0" i="0" dirty="0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4KB (default), 8KB, 16KB, or 32 KB</a:t>
            </a:r>
          </a:p>
          <a:p>
            <a:pPr lvl="1"/>
            <a:r>
              <a:rPr lang="en-US" sz="2000" dirty="0">
                <a:solidFill>
                  <a:srgbClr val="161616"/>
                </a:solidFill>
                <a:ea typeface="Verdana" panose="020B0604030504040204" pitchFamily="34" charset="0"/>
              </a:rPr>
              <a:t>SQL Sever: 8KB; Oracle: 8KB; PostgreSQL: 8KB; MySQL: 16KB</a:t>
            </a:r>
            <a:endParaRPr lang="en-US" sz="2000" b="0" i="0" dirty="0">
              <a:solidFill>
                <a:srgbClr val="161616"/>
              </a:solidFill>
              <a:effectLst/>
              <a:ea typeface="Verdana" panose="020B0604030504040204" pitchFamily="34" charset="0"/>
            </a:endParaRPr>
          </a:p>
          <a:p>
            <a:pPr lvl="1"/>
            <a:r>
              <a:rPr lang="en-US" sz="2000" dirty="0">
                <a:solidFill>
                  <a:srgbClr val="161616"/>
                </a:solidFill>
                <a:ea typeface="Verdana" panose="020B0604030504040204" pitchFamily="34" charset="0"/>
              </a:rPr>
              <a:t>Page size can be specified when creating a database (for buffer pool and tablespace)</a:t>
            </a:r>
          </a:p>
          <a:p>
            <a:pPr marL="457200" lvl="1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  </a:t>
            </a:r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CREATE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DB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mydb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PAGESIZE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4096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en-US" sz="1800" b="1" dirty="0">
              <a:solidFill>
                <a:srgbClr val="161616"/>
              </a:solidFill>
              <a:latin typeface="IBM Plex Sans" panose="020B0503050203000203" pitchFamily="34" charset="0"/>
            </a:endParaRPr>
          </a:p>
          <a:p>
            <a:r>
              <a:rPr lang="en-US" dirty="0"/>
              <a:t>Each page is given an ID and the DBMS maps page IDs to physical locations </a:t>
            </a:r>
          </a:p>
          <a:p>
            <a:r>
              <a:rPr lang="en-US" dirty="0">
                <a:solidFill>
                  <a:srgbClr val="161616"/>
                </a:solidFill>
                <a:ea typeface="Verdana" panose="020B0604030504040204" pitchFamily="34" charset="0"/>
              </a:rPr>
              <a:t>Hardware and OS page: 4KB</a:t>
            </a:r>
          </a:p>
        </p:txBody>
      </p:sp>
    </p:spTree>
    <p:extLst>
      <p:ext uri="{BB962C8B-B14F-4D97-AF65-F5344CB8AC3E}">
        <p14:creationId xmlns:p14="http://schemas.microsoft.com/office/powerpoint/2010/main" val="54674098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971A-5043-6ECB-7556-704B6132A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72F9D-6DCC-E13E-1E58-0E7ED8D0A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26" y="931863"/>
            <a:ext cx="6507374" cy="5316538"/>
          </a:xfrm>
        </p:spPr>
        <p:txBody>
          <a:bodyPr/>
          <a:lstStyle/>
          <a:p>
            <a:r>
              <a:rPr lang="en-US" b="0" i="0" dirty="0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Record identifiers consist of a page number followed by a slot number</a:t>
            </a:r>
          </a:p>
          <a:p>
            <a:r>
              <a:rPr lang="en-US" b="0" i="0" dirty="0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After a record is assigned a RID, the RID does not change until the table is reorganized</a:t>
            </a:r>
          </a:p>
          <a:p>
            <a:r>
              <a:rPr lang="en-US" b="0" i="0" dirty="0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Use larger page sizes for workloads that tend to access rows sequentially. </a:t>
            </a:r>
            <a:r>
              <a:rPr lang="en-US" dirty="0">
                <a:solidFill>
                  <a:srgbClr val="161616"/>
                </a:solidFill>
                <a:ea typeface="Verdana" panose="020B0604030504040204" pitchFamily="34" charset="0"/>
              </a:rPr>
              <a:t>e</a:t>
            </a:r>
            <a:r>
              <a:rPr lang="en-US" b="0" i="0" dirty="0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.g., sequential access for decision support applications</a:t>
            </a:r>
          </a:p>
          <a:p>
            <a:r>
              <a:rPr lang="en-US" b="0" i="0" dirty="0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Use smaller page sizes for workloads that tend to access rows randomly</a:t>
            </a:r>
          </a:p>
          <a:p>
            <a:r>
              <a:rPr lang="en-US" b="0" i="0" dirty="0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Page size also determines a </a:t>
            </a:r>
            <a:r>
              <a:rPr lang="en-US" b="0" i="0" dirty="0" err="1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tablespcae</a:t>
            </a:r>
            <a:r>
              <a:rPr lang="en-US" b="0" i="0" dirty="0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 size, e.g., 8KB size -&gt; 128G</a:t>
            </a:r>
            <a:endParaRPr lang="en-US" dirty="0">
              <a:ea typeface="Verdana" panose="020B0604030504040204" pitchFamily="34" charset="0"/>
            </a:endParaRPr>
          </a:p>
        </p:txBody>
      </p:sp>
      <p:pic>
        <p:nvPicPr>
          <p:cNvPr id="2052" name="Picture 4" descr="Figure illustrating the RID relationship to data pages">
            <a:extLst>
              <a:ext uri="{FF2B5EF4-FFF2-40B4-BE49-F238E27FC236}">
                <a16:creationId xmlns:a16="http://schemas.microsoft.com/office/drawing/2014/main" id="{46D535E5-5656-15D7-6FE4-90443A8B3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825" y="931863"/>
            <a:ext cx="5107175" cy="300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49859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Searching a B+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blocks are required to find</a:t>
            </a:r>
          </a:p>
          <a:p>
            <a:pPr lvl="1"/>
            <a:r>
              <a:rPr lang="en-US" sz="2000" dirty="0"/>
              <a:t>Entry 24*?    Entry 30*?</a:t>
            </a:r>
          </a:p>
          <a:p>
            <a:pPr lvl="1"/>
            <a:r>
              <a:rPr lang="en-US" sz="2000" dirty="0">
                <a:solidFill>
                  <a:schemeClr val="accent6"/>
                </a:solidFill>
              </a:rPr>
              <a:t>Single key search: depth + data block access</a:t>
            </a:r>
          </a:p>
          <a:p>
            <a:r>
              <a:rPr lang="en-US" dirty="0"/>
              <a:t>How many blocks are required to find all data entries   30* &gt;= k &gt; 14*?</a:t>
            </a:r>
          </a:p>
          <a:p>
            <a:pPr lvl="1"/>
            <a:r>
              <a:rPr lang="en-US" dirty="0"/>
              <a:t>Range query: 2 x h + target key blocks (# of target keys/</a:t>
            </a:r>
            <a:r>
              <a:rPr lang="en-US" dirty="0" err="1"/>
              <a:t>avg_fill_factor</a:t>
            </a:r>
            <a:r>
              <a:rPr lang="en-US" dirty="0"/>
              <a:t>) + data block access </a:t>
            </a: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529574"/>
            <a:ext cx="6096000" cy="2566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BDA10D-BE92-4491-88B3-5BCE0E5C3D05}"/>
              </a:ext>
            </a:extLst>
          </p:cNvPr>
          <p:cNvCxnSpPr>
            <a:cxnSpLocks/>
          </p:cNvCxnSpPr>
          <p:nvPr/>
        </p:nvCxnSpPr>
        <p:spPr bwMode="auto">
          <a:xfrm>
            <a:off x="6311940" y="5867400"/>
            <a:ext cx="0" cy="189784"/>
          </a:xfrm>
          <a:prstGeom prst="straightConnector1">
            <a:avLst/>
          </a:prstGeom>
          <a:noFill/>
          <a:ln w="12700" cap="flat" cmpd="sng" algn="ctr">
            <a:solidFill>
              <a:srgbClr val="FF99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CF50FFE-3CAE-20D2-2FE6-DBA153437CD2}"/>
              </a:ext>
            </a:extLst>
          </p:cNvPr>
          <p:cNvSpPr txBox="1"/>
          <p:nvPr/>
        </p:nvSpPr>
        <p:spPr>
          <a:xfrm>
            <a:off x="6014482" y="6103258"/>
            <a:ext cx="594916" cy="215444"/>
          </a:xfrm>
          <a:prstGeom prst="rect">
            <a:avLst/>
          </a:prstGeom>
          <a:solidFill>
            <a:schemeClr val="accent3">
              <a:lumMod val="85000"/>
            </a:schemeClr>
          </a:solidFill>
          <a:ln w="15875"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D4B4DB-26C1-8021-4981-B44EA5D29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101040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B+-Tree</a:t>
            </a:r>
          </a:p>
        </p:txBody>
      </p:sp>
    </p:spTree>
    <p:extLst>
      <p:ext uri="{BB962C8B-B14F-4D97-AF65-F5344CB8AC3E}">
        <p14:creationId xmlns:p14="http://schemas.microsoft.com/office/powerpoint/2010/main" val="28132060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B+ Trees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Typical order: 200 (max entries in a node) </a:t>
            </a:r>
            <a:r>
              <a:rPr lang="en-US" i="1" dirty="0"/>
              <a:t>(or 100 with another definition)</a:t>
            </a:r>
          </a:p>
          <a:p>
            <a:r>
              <a:rPr lang="en-US" altLang="en-US" sz="2800" dirty="0"/>
              <a:t>Typical fill-factor: </a:t>
            </a:r>
            <a:r>
              <a:rPr lang="en-US" altLang="en-US" sz="2800" dirty="0">
                <a:solidFill>
                  <a:schemeClr val="accent6"/>
                </a:solidFill>
              </a:rPr>
              <a:t>67%</a:t>
            </a:r>
          </a:p>
          <a:p>
            <a:pPr lvl="1" eaLnBrk="1" hangingPunct="1"/>
            <a:r>
              <a:rPr lang="en-US" altLang="en-US" sz="2800" dirty="0"/>
              <a:t>average </a:t>
            </a:r>
            <a:r>
              <a:rPr lang="en-US" altLang="en-US" sz="2800" dirty="0" err="1"/>
              <a:t>fanout</a:t>
            </a:r>
            <a:r>
              <a:rPr lang="en-US" altLang="en-US" sz="2800" dirty="0"/>
              <a:t> = 200 * 67% =  133</a:t>
            </a:r>
            <a:endParaRPr lang="en-US" altLang="en-US" sz="2600" dirty="0"/>
          </a:p>
          <a:p>
            <a:pPr eaLnBrk="1" hangingPunct="1"/>
            <a:r>
              <a:rPr lang="en-US" altLang="en-US" sz="2800" dirty="0"/>
              <a:t>Typical capacities:</a:t>
            </a:r>
          </a:p>
          <a:p>
            <a:pPr lvl="1" eaLnBrk="1" hangingPunct="1"/>
            <a:r>
              <a:rPr lang="en-US" altLang="en-US" sz="2400" dirty="0"/>
              <a:t>Height 3: 133</a:t>
            </a:r>
            <a:r>
              <a:rPr lang="en-US" altLang="en-US" sz="2400" baseline="30000" dirty="0"/>
              <a:t>3</a:t>
            </a:r>
            <a:r>
              <a:rPr lang="en-US" altLang="en-US" sz="2400" dirty="0"/>
              <a:t> =  2,352,637 entries (in the leaf)</a:t>
            </a:r>
          </a:p>
          <a:p>
            <a:pPr lvl="1"/>
            <a:r>
              <a:rPr lang="en-US" altLang="en-US" sz="2400" dirty="0"/>
              <a:t>Height 4: 133</a:t>
            </a:r>
            <a:r>
              <a:rPr lang="en-US" altLang="en-US" sz="2400" baseline="30000" dirty="0"/>
              <a:t>4</a:t>
            </a:r>
            <a:r>
              <a:rPr lang="en-US" altLang="en-US" sz="2400" dirty="0"/>
              <a:t> = 312,900,700 entries (in the leaf)</a:t>
            </a:r>
          </a:p>
          <a:p>
            <a:pPr eaLnBrk="1" hangingPunct="1"/>
            <a:r>
              <a:rPr lang="en-US" altLang="en-US" sz="2800" dirty="0"/>
              <a:t>Can often cache top levels in memory:</a:t>
            </a:r>
          </a:p>
          <a:p>
            <a:pPr lvl="1" eaLnBrk="1" hangingPunct="1"/>
            <a:r>
              <a:rPr lang="en-US" altLang="en-US" sz="2400" dirty="0"/>
              <a:t>Level 1 =           1 page  =    8 KB</a:t>
            </a:r>
          </a:p>
          <a:p>
            <a:pPr lvl="1" eaLnBrk="1" hangingPunct="1"/>
            <a:r>
              <a:rPr lang="en-US" altLang="en-US" sz="2400" dirty="0"/>
              <a:t>Level 2 =      133 pages =     1 MB</a:t>
            </a:r>
          </a:p>
          <a:p>
            <a:pPr lvl="1" eaLnBrk="1" hangingPunct="1"/>
            <a:r>
              <a:rPr lang="en-US" altLang="en-US" sz="2400" dirty="0"/>
              <a:t>Level 3 = 17,689 pages =  133 MB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32F2BB-B2EA-E4E9-3A53-CFF5DB2C9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101040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B+-Tree</a:t>
            </a:r>
          </a:p>
        </p:txBody>
      </p:sp>
    </p:spTree>
    <p:extLst>
      <p:ext uri="{BB962C8B-B14F-4D97-AF65-F5344CB8AC3E}">
        <p14:creationId xmlns:p14="http://schemas.microsoft.com/office/powerpoint/2010/main" val="12018125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78F5-4A10-FF03-9292-C9D2EC3AC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Pool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E6EBB-FE85-2E16-3BBD-0B7D52BED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26" y="931863"/>
            <a:ext cx="11813228" cy="1125537"/>
          </a:xfrm>
        </p:spPr>
        <p:txBody>
          <a:bodyPr/>
          <a:lstStyle/>
          <a:p>
            <a:r>
              <a:rPr lang="en-US" b="0" i="0" dirty="0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A </a:t>
            </a:r>
            <a:r>
              <a:rPr lang="en-US" b="0" i="1" dirty="0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buffer pool</a:t>
            </a:r>
            <a:r>
              <a:rPr lang="en-US" b="0" i="0" dirty="0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 (or data buffer) is an area of main memory that has been allocated by the database manager for the purpose of caching table and index data as it is read from </a:t>
            </a:r>
            <a:endParaRPr lang="en-US" dirty="0">
              <a:solidFill>
                <a:srgbClr val="161616"/>
              </a:solidFill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2300" b="0" i="0" dirty="0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   </a:t>
            </a:r>
            <a:r>
              <a:rPr lang="en-US" b="0" i="0" dirty="0">
                <a:solidFill>
                  <a:srgbClr val="161616"/>
                </a:solidFill>
                <a:effectLst/>
                <a:ea typeface="Verdana" panose="020B0604030504040204" pitchFamily="34" charset="0"/>
              </a:rPr>
              <a:t>disk</a:t>
            </a:r>
            <a:endParaRPr lang="en-US" sz="2300" b="0" i="0" dirty="0">
              <a:solidFill>
                <a:srgbClr val="161616"/>
              </a:solidFill>
              <a:effectLst/>
              <a:ea typeface="Verdana" panose="020B0604030504040204" pitchFamily="34" charset="0"/>
            </a:endParaRPr>
          </a:p>
          <a:p>
            <a:pPr marL="0" indent="0">
              <a:buNone/>
            </a:pPr>
            <a:endParaRPr lang="en-US" sz="2000" dirty="0"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57C6CB-A9D4-470B-6000-1AE414412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727662"/>
            <a:ext cx="6765730" cy="4520738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23B139-DA74-B1B0-1994-66D95819A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809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Cache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99839F-4AE1-C610-1D92-97A68174F07B}"/>
              </a:ext>
            </a:extLst>
          </p:cNvPr>
          <p:cNvSpPr txBox="1">
            <a:spLocks/>
          </p:cNvSpPr>
          <p:nvPr/>
        </p:nvSpPr>
        <p:spPr bwMode="auto">
          <a:xfrm>
            <a:off x="198226" y="3124200"/>
            <a:ext cx="5047498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ts val="300"/>
              </a:spcAft>
              <a:buChar char="•"/>
              <a:defRPr sz="24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ts val="300"/>
              </a:spcAft>
              <a:buChar char="–"/>
              <a:defRPr sz="2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•"/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–"/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»"/>
              <a:defRPr sz="1500">
                <a:solidFill>
                  <a:srgbClr val="003399"/>
                </a:solidFill>
                <a:latin typeface="Verdana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9pPr>
          </a:lstStyle>
          <a:p>
            <a:r>
              <a:rPr lang="en-US" kern="0" dirty="0">
                <a:solidFill>
                  <a:srgbClr val="161616"/>
                </a:solidFill>
                <a:ea typeface="Verdana" panose="020B0604030504040204" pitchFamily="34" charset="0"/>
              </a:rPr>
              <a:t>Every database must have a buffer pool</a:t>
            </a:r>
          </a:p>
          <a:p>
            <a:r>
              <a:rPr lang="en-US" kern="0" dirty="0">
                <a:solidFill>
                  <a:srgbClr val="161616"/>
                </a:solidFill>
                <a:ea typeface="Verdana" panose="020B0604030504040204" pitchFamily="34" charset="0"/>
              </a:rPr>
              <a:t>Buffer pool is specified when CREATE DATABASE</a:t>
            </a:r>
          </a:p>
          <a:p>
            <a:r>
              <a:rPr lang="en-US" kern="0" dirty="0">
                <a:solidFill>
                  <a:srgbClr val="161616"/>
                </a:solidFill>
                <a:ea typeface="Verdana" panose="020B0604030504040204" pitchFamily="34" charset="0"/>
              </a:rPr>
              <a:t>A dedicated database server can have 80% memory used for buffer pool</a:t>
            </a:r>
          </a:p>
          <a:p>
            <a:pPr marL="0" indent="0">
              <a:buFontTx/>
              <a:buNone/>
            </a:pPr>
            <a:endParaRPr lang="en-US" kern="0" dirty="0"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75329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0CCC6-FBE8-5CD2-F251-C9215511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 in Oracle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6D24E-9506-139F-3FE2-E0C0396A5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26" y="931863"/>
            <a:ext cx="6261523" cy="53165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00000"/>
                </a:solidFill>
                <a:effectLst/>
                <a:ea typeface="Verdana" panose="020B0604030504040204" pitchFamily="34" charset="0"/>
              </a:rPr>
              <a:t>Program code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00000"/>
                </a:solidFill>
                <a:effectLst/>
                <a:ea typeface="Verdana" panose="020B0604030504040204" pitchFamily="34" charset="0"/>
              </a:rPr>
              <a:t>Information about each connected session, even if it is not currently active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00000"/>
                </a:solidFill>
                <a:effectLst/>
                <a:ea typeface="Verdana" panose="020B0604030504040204" pitchFamily="34" charset="0"/>
              </a:rPr>
              <a:t>Information needed during program execution, for example, the current state of a query from which rows are being fetched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00000"/>
                </a:solidFill>
                <a:effectLst/>
                <a:ea typeface="Verdana" panose="020B0604030504040204" pitchFamily="34" charset="0"/>
              </a:rPr>
              <a:t>Information such as lock data that is shared and communicated among processes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000000"/>
                </a:solidFill>
                <a:effectLst/>
                <a:ea typeface="Verdana" panose="020B0604030504040204" pitchFamily="34" charset="0"/>
              </a:rPr>
              <a:t>Cached data, such as data blocks and redo records, that also exists on disk</a:t>
            </a:r>
            <a:endParaRPr lang="en-US" sz="2200" dirty="0">
              <a:ea typeface="Verdana" panose="020B0604030504040204" pitchFamily="34" charset="0"/>
            </a:endParaRPr>
          </a:p>
        </p:txBody>
      </p:sp>
      <p:pic>
        <p:nvPicPr>
          <p:cNvPr id="4" name="Picture 2" descr="Description of Figure 14-1 follows">
            <a:extLst>
              <a:ext uri="{FF2B5EF4-FFF2-40B4-BE49-F238E27FC236}">
                <a16:creationId xmlns:a16="http://schemas.microsoft.com/office/drawing/2014/main" id="{88E569BB-94DB-42FB-584B-592847999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749" y="751682"/>
            <a:ext cx="5534025" cy="567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2A1A7F-CE40-C828-8FFE-7B536D28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809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Cache</a:t>
            </a:r>
          </a:p>
        </p:txBody>
      </p:sp>
    </p:spTree>
    <p:extLst>
      <p:ext uri="{BB962C8B-B14F-4D97-AF65-F5344CB8AC3E}">
        <p14:creationId xmlns:p14="http://schemas.microsoft.com/office/powerpoint/2010/main" val="36482531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B+ Trees: Summary	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Searching:</a:t>
            </a:r>
          </a:p>
          <a:p>
            <a:pPr lvl="1"/>
            <a:r>
              <a:rPr lang="en-US" altLang="en-US" dirty="0" err="1"/>
              <a:t>log</a:t>
            </a:r>
            <a:r>
              <a:rPr lang="en-US" altLang="en-US" baseline="-25000" dirty="0" err="1"/>
              <a:t>d</a:t>
            </a:r>
            <a:r>
              <a:rPr lang="en-US" altLang="en-US" dirty="0"/>
              <a:t>(n) – Where </a:t>
            </a:r>
            <a:r>
              <a:rPr lang="en-US" altLang="en-US" i="1" dirty="0"/>
              <a:t>d </a:t>
            </a:r>
            <a:r>
              <a:rPr lang="en-US" altLang="en-US" dirty="0"/>
              <a:t>is the order, and </a:t>
            </a:r>
            <a:r>
              <a:rPr lang="en-US" altLang="en-US" i="1" dirty="0"/>
              <a:t>n </a:t>
            </a:r>
            <a:r>
              <a:rPr lang="en-US" altLang="en-US" dirty="0"/>
              <a:t>is the number of entries (Why?)</a:t>
            </a:r>
          </a:p>
          <a:p>
            <a:r>
              <a:rPr lang="en-US" altLang="en-US" dirty="0"/>
              <a:t>Insertion:</a:t>
            </a:r>
          </a:p>
          <a:p>
            <a:pPr lvl="1"/>
            <a:r>
              <a:rPr lang="en-US" altLang="en-US" dirty="0"/>
              <a:t>Find the leaf to insert into</a:t>
            </a:r>
          </a:p>
          <a:p>
            <a:pPr lvl="1"/>
            <a:r>
              <a:rPr lang="en-US" altLang="en-US" dirty="0"/>
              <a:t>If full, split the node, and adjust index accordingly</a:t>
            </a:r>
          </a:p>
          <a:p>
            <a:pPr lvl="1"/>
            <a:r>
              <a:rPr lang="en-US" altLang="en-US" dirty="0"/>
              <a:t>Similar cost as searching</a:t>
            </a:r>
          </a:p>
          <a:p>
            <a:r>
              <a:rPr lang="en-US" altLang="en-US" dirty="0"/>
              <a:t>Deletion</a:t>
            </a:r>
          </a:p>
          <a:p>
            <a:pPr lvl="1"/>
            <a:r>
              <a:rPr lang="en-US" altLang="en-US" dirty="0"/>
              <a:t>Find the leaf node</a:t>
            </a:r>
          </a:p>
          <a:p>
            <a:pPr lvl="1"/>
            <a:r>
              <a:rPr lang="en-US" altLang="en-US" dirty="0"/>
              <a:t>Delete</a:t>
            </a:r>
          </a:p>
          <a:p>
            <a:pPr lvl="1"/>
            <a:r>
              <a:rPr lang="en-US" altLang="en-US" dirty="0"/>
              <a:t>May not remain half-full; must adjust the index accordingly</a:t>
            </a:r>
          </a:p>
        </p:txBody>
      </p:sp>
    </p:spTree>
    <p:extLst>
      <p:ext uri="{BB962C8B-B14F-4D97-AF65-F5344CB8AC3E}">
        <p14:creationId xmlns:p14="http://schemas.microsoft.com/office/powerpoint/2010/main" val="423442552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Rules of Thumb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en-US" dirty="0">
                <a:solidFill>
                  <a:schemeClr val="accent6"/>
                </a:solidFill>
              </a:rPr>
              <a:t>Index every primary key in the database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Primary key index is automatically created for many databases</a:t>
            </a:r>
          </a:p>
          <a:p>
            <a:pPr lvl="1">
              <a:spcBef>
                <a:spcPts val="300"/>
              </a:spcBef>
            </a:pPr>
            <a:endParaRPr lang="en-US" dirty="0"/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accent6"/>
                </a:solidFill>
              </a:rPr>
              <a:t>Use a </a:t>
            </a:r>
            <a:r>
              <a:rPr lang="en-US" dirty="0" err="1">
                <a:solidFill>
                  <a:schemeClr val="accent6"/>
                </a:solidFill>
              </a:rPr>
              <a:t>B+tree</a:t>
            </a:r>
            <a:r>
              <a:rPr lang="en-US" dirty="0">
                <a:solidFill>
                  <a:schemeClr val="accent6"/>
                </a:solidFill>
              </a:rPr>
              <a:t> index for both equality (=) and range queries (a&lt;b&lt;c)</a:t>
            </a:r>
            <a:endParaRPr lang="en-US" dirty="0"/>
          </a:p>
          <a:p>
            <a:pPr lvl="1">
              <a:spcBef>
                <a:spcPts val="300"/>
              </a:spcBef>
            </a:pPr>
            <a:r>
              <a:rPr lang="en-US" dirty="0"/>
              <a:t>Attributes frequently referenced in SQL WHERE clauses are potentially good candidates for an index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e.g.: empno</a:t>
            </a:r>
            <a:r>
              <a:rPr lang="en-US" dirty="0">
                <a:solidFill>
                  <a:schemeClr val="accent6"/>
                </a:solidFill>
              </a:rPr>
              <a:t> = </a:t>
            </a:r>
            <a:r>
              <a:rPr lang="en-US" dirty="0"/>
              <a:t>‘111’;  salary &gt; 80000 and salary &lt;10000 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An exception is an inequality like “WHERE empno </a:t>
            </a:r>
            <a:r>
              <a:rPr lang="en-US" dirty="0">
                <a:solidFill>
                  <a:srgbClr val="FF0000"/>
                </a:solidFill>
              </a:rPr>
              <a:t>&lt;&gt;</a:t>
            </a:r>
            <a:r>
              <a:rPr lang="en-US" dirty="0"/>
              <a:t> 1234”, due to high selectivity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32CD9-6272-9AF6-5E14-58A0FAF36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20710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Indexing Practices</a:t>
            </a:r>
          </a:p>
        </p:txBody>
      </p:sp>
    </p:spTree>
    <p:extLst>
      <p:ext uri="{BB962C8B-B14F-4D97-AF65-F5344CB8AC3E}">
        <p14:creationId xmlns:p14="http://schemas.microsoft.com/office/powerpoint/2010/main" val="288711678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Rules of Thumb </a:t>
            </a:r>
            <a:r>
              <a:rPr lang="en-US" b="0" dirty="0"/>
              <a:t>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en-US" dirty="0">
                <a:solidFill>
                  <a:schemeClr val="accent6"/>
                </a:solidFill>
              </a:rPr>
              <a:t>Choose carefully one clustered index for each table</a:t>
            </a:r>
          </a:p>
          <a:p>
            <a:pPr lvl="1">
              <a:spcBef>
                <a:spcPts val="300"/>
              </a:spcBef>
            </a:pPr>
            <a:r>
              <a:rPr lang="en-US" sz="2000" dirty="0"/>
              <a:t>Create a clustered index on the most important query on that table</a:t>
            </a:r>
          </a:p>
          <a:p>
            <a:pPr lvl="1">
              <a:spcBef>
                <a:spcPts val="300"/>
              </a:spcBef>
            </a:pPr>
            <a:r>
              <a:rPr lang="en-US" sz="2000" dirty="0"/>
              <a:t>Build a clustered index on a PK for range searches or maintaining an order for efficient batch processing</a:t>
            </a:r>
          </a:p>
          <a:p>
            <a:pPr lvl="1">
              <a:spcBef>
                <a:spcPts val="300"/>
              </a:spcBef>
            </a:pPr>
            <a:r>
              <a:rPr lang="en-US" sz="2000" dirty="0"/>
              <a:t>DB2, SQL Server, Oracle, and Sybase all support clustered indexes: 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DEPT_IX </a:t>
            </a:r>
            <a:r>
              <a:rPr lang="en-US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 (DEPTNO </a:t>
            </a:r>
            <a:r>
              <a:rPr lang="en-US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CLUSTER</a:t>
            </a:r>
            <a:r>
              <a:rPr lang="en-US" b="1" dirty="0">
                <a:latin typeface="Courier New" panose="02070309020205020404" pitchFamily="49" charset="0"/>
                <a:cs typeface="Courier New" pitchFamily="49" charset="0"/>
              </a:rPr>
              <a:t>;</a:t>
            </a: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480E417E-E4EC-406F-AD36-5805065CC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670002"/>
            <a:ext cx="7909605" cy="25908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F45954-15DE-4FD4-58A9-D3D15D2C5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20710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Indexing Practices</a:t>
            </a:r>
          </a:p>
        </p:txBody>
      </p:sp>
    </p:spTree>
    <p:extLst>
      <p:ext uri="{BB962C8B-B14F-4D97-AF65-F5344CB8AC3E}">
        <p14:creationId xmlns:p14="http://schemas.microsoft.com/office/powerpoint/2010/main" val="224628916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Rules of Thumb </a:t>
            </a:r>
            <a:r>
              <a:rPr lang="en-US" b="0" dirty="0"/>
              <a:t>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en-US" dirty="0">
                <a:solidFill>
                  <a:schemeClr val="accent6"/>
                </a:solidFill>
              </a:rPr>
              <a:t>Create indexes for foreign keys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Even if not required, creating indexes for each foreign key can optimize the performance when accessing and enforcing referential constraints</a:t>
            </a:r>
          </a:p>
          <a:p>
            <a:pPr>
              <a:spcBef>
                <a:spcPts val="300"/>
              </a:spcBef>
            </a:pPr>
            <a:endParaRPr lang="en-US" dirty="0">
              <a:solidFill>
                <a:schemeClr val="accent6"/>
              </a:solidFill>
            </a:endParaRP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accent6"/>
                </a:solidFill>
              </a:rPr>
              <a:t>Index to avoid sorting (GROUP BY)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The GROUP BY and ORDER BY clauses tend to invoke sorts; the optimizer might avoid sorting using index</a:t>
            </a:r>
          </a:p>
          <a:p>
            <a:pPr lvl="1">
              <a:spcBef>
                <a:spcPts val="3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workdept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</a:pPr>
            <a:endParaRPr lang="en-US" dirty="0">
              <a:solidFill>
                <a:schemeClr val="accent6"/>
              </a:solidFill>
            </a:endParaRP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accent6"/>
                </a:solidFill>
              </a:rPr>
              <a:t>Avoid or remove redundant indexes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Indexes that use the same columns or almost the same columns make query optimization more complicated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7EC19-24D0-69EA-4109-1019A8C99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20710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Indexing Practices</a:t>
            </a:r>
          </a:p>
        </p:txBody>
      </p:sp>
    </p:spTree>
    <p:extLst>
      <p:ext uri="{BB962C8B-B14F-4D97-AF65-F5344CB8AC3E}">
        <p14:creationId xmlns:p14="http://schemas.microsoft.com/office/powerpoint/2010/main" val="392475820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Rules of Thumb </a:t>
            </a:r>
            <a:r>
              <a:rPr lang="en-US" b="0" dirty="0"/>
              <a:t>(4)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Add indexes only when absolutely necessary</a:t>
            </a:r>
          </a:p>
          <a:p>
            <a:r>
              <a:rPr lang="en-US" dirty="0">
                <a:solidFill>
                  <a:schemeClr val="accent6"/>
                </a:solidFill>
              </a:rPr>
              <a:t>Add or delete index columns for composite indexes to improve performance</a:t>
            </a:r>
          </a:p>
          <a:p>
            <a:pPr lvl="1"/>
            <a:r>
              <a:rPr lang="en-US" dirty="0"/>
              <a:t>Multiple-column composite indexes can be very efficient for certain complex queries</a:t>
            </a:r>
          </a:p>
          <a:p>
            <a:r>
              <a:rPr lang="en-US" dirty="0">
                <a:solidFill>
                  <a:schemeClr val="accent6"/>
                </a:solidFill>
              </a:rPr>
              <a:t>Keep up index maintenance on a regular basis; drop indexes only when they are clearly hurting performance</a:t>
            </a:r>
            <a:endParaRPr lang="en-US" sz="2000" dirty="0">
              <a:solidFill>
                <a:schemeClr val="accent6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/>
              <a:t>Index maintenance is needed constantly when table rows are constantly updated</a:t>
            </a:r>
          </a:p>
          <a:p>
            <a:pPr lvl="1"/>
            <a:r>
              <a:rPr lang="en-US" dirty="0"/>
              <a:t>Either reorganize the index or delete it if a bottleneck</a:t>
            </a:r>
          </a:p>
          <a:p>
            <a:pPr marL="457200" lvl="1" indent="0">
              <a:buNone/>
            </a:pPr>
            <a:r>
              <a:rPr lang="en-US" dirty="0"/>
              <a:t>e.g.: </a:t>
            </a:r>
            <a:r>
              <a:rPr lang="en-US" dirty="0" err="1"/>
              <a:t>runstats</a:t>
            </a:r>
            <a:r>
              <a:rPr lang="en-US" dirty="0"/>
              <a:t>; REORG TABLE; REORG INDEXES..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33C5C-4DBB-19D7-C743-8F1F296AF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19446"/>
            <a:ext cx="20710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Indexing Practices</a:t>
            </a:r>
          </a:p>
        </p:txBody>
      </p:sp>
    </p:spTree>
    <p:extLst>
      <p:ext uri="{BB962C8B-B14F-4D97-AF65-F5344CB8AC3E}">
        <p14:creationId xmlns:p14="http://schemas.microsoft.com/office/powerpoint/2010/main" val="381525917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29FF1-2D9E-C01C-C87F-A23D67DB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Rules of Thumb </a:t>
            </a:r>
            <a:r>
              <a:rPr lang="en-US" b="0" dirty="0"/>
              <a:t>(5)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7ACFA-1060-3D5E-AA95-1CDF7E0EC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en-US" dirty="0">
                <a:solidFill>
                  <a:schemeClr val="accent6"/>
                </a:solidFill>
              </a:rPr>
              <a:t>Consider adding columns for index-only access</a:t>
            </a:r>
          </a:p>
          <a:p>
            <a:pPr lvl="1">
              <a:spcBef>
                <a:spcPts val="300"/>
              </a:spcBef>
            </a:pPr>
            <a:r>
              <a:rPr lang="en-US" sz="2000" b="1" dirty="0">
                <a:solidFill>
                  <a:srgbClr val="800000"/>
                </a:solidFill>
                <a:ea typeface="Verdana" panose="020B0604030504040204" pitchFamily="34" charset="0"/>
              </a:rPr>
              <a:t>SELECT</a:t>
            </a:r>
            <a:r>
              <a:rPr lang="en-US" sz="2000" b="1" dirty="0">
                <a:solidFill>
                  <a:srgbClr val="000000"/>
                </a:solidFill>
                <a:ea typeface="Verdana" panose="020B0604030504040204" pitchFamily="34" charset="0"/>
              </a:rPr>
              <a:t> DEPTNAME </a:t>
            </a:r>
            <a:r>
              <a:rPr lang="en-US" sz="2000" b="1" dirty="0">
                <a:solidFill>
                  <a:srgbClr val="800000"/>
                </a:solidFill>
                <a:ea typeface="Verdana" panose="020B0604030504040204" pitchFamily="34" charset="0"/>
              </a:rPr>
              <a:t>FROM</a:t>
            </a:r>
            <a:r>
              <a:rPr lang="en-US" sz="2000" b="1" dirty="0">
                <a:solidFill>
                  <a:srgbClr val="000000"/>
                </a:solidFill>
                <a:ea typeface="Verdana" panose="020B0604030504040204" pitchFamily="34" charset="0"/>
              </a:rPr>
              <a:t> DEPT </a:t>
            </a:r>
            <a:r>
              <a:rPr lang="en-US" sz="2000" b="1" dirty="0">
                <a:solidFill>
                  <a:srgbClr val="800000"/>
                </a:solidFill>
                <a:ea typeface="Verdana" panose="020B0604030504040204" pitchFamily="34" charset="0"/>
              </a:rPr>
              <a:t>WHERE</a:t>
            </a:r>
            <a:r>
              <a:rPr lang="en-US" sz="2000" b="1" dirty="0">
                <a:solidFill>
                  <a:srgbClr val="000000"/>
                </a:solidFill>
                <a:ea typeface="Verdana" panose="020B0604030504040204" pitchFamily="34" charset="0"/>
              </a:rPr>
              <a:t> DEPTNO =  </a:t>
            </a:r>
            <a:r>
              <a:rPr lang="en-US" sz="2000" b="1" dirty="0">
                <a:solidFill>
                  <a:srgbClr val="008000"/>
                </a:solidFill>
                <a:ea typeface="Verdana" panose="020B0604030504040204" pitchFamily="34" charset="0"/>
              </a:rPr>
              <a:t>'D01’</a:t>
            </a:r>
            <a:r>
              <a:rPr lang="en-US" sz="2000" b="1" dirty="0">
                <a:solidFill>
                  <a:srgbClr val="FF0000"/>
                </a:solidFill>
                <a:ea typeface="Verdana" panose="020B0604030504040204" pitchFamily="34" charset="0"/>
              </a:rPr>
              <a:t>;</a:t>
            </a:r>
          </a:p>
          <a:p>
            <a:pPr lvl="1">
              <a:spcBef>
                <a:spcPts val="300"/>
              </a:spcBef>
            </a:pPr>
            <a:r>
              <a:rPr lang="en-US" sz="2000" dirty="0">
                <a:ea typeface="Verdana" panose="020B0604030504040204" pitchFamily="34" charset="0"/>
              </a:rPr>
              <a:t>Method 1: </a:t>
            </a:r>
            <a:r>
              <a:rPr lang="en-US" sz="2000" dirty="0">
                <a:solidFill>
                  <a:srgbClr val="800000"/>
                </a:solidFill>
                <a:ea typeface="Verdana" panose="020B0604030504040204" pitchFamily="34" charset="0"/>
              </a:rPr>
              <a:t>CREATE</a:t>
            </a:r>
            <a:r>
              <a:rPr lang="en-US" sz="2000" dirty="0">
                <a:solidFill>
                  <a:srgbClr val="000000"/>
                </a:solidFill>
                <a:ea typeface="Verdana" panose="020B0604030504040204" pitchFamily="34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ea typeface="Verdana" panose="020B0604030504040204" pitchFamily="34" charset="0"/>
              </a:rPr>
              <a:t>INDEX</a:t>
            </a:r>
            <a:r>
              <a:rPr lang="en-US" sz="2000" dirty="0">
                <a:solidFill>
                  <a:srgbClr val="000000"/>
                </a:solidFill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a typeface="Verdana" panose="020B0604030504040204" pitchFamily="34" charset="0"/>
              </a:rPr>
              <a:t>combindx</a:t>
            </a:r>
            <a:r>
              <a:rPr lang="en-US" sz="2000" dirty="0">
                <a:solidFill>
                  <a:srgbClr val="000000"/>
                </a:solidFill>
                <a:ea typeface="Verdana" panose="020B0604030504040204" pitchFamily="34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ea typeface="Verdana" panose="020B0604030504040204" pitchFamily="34" charset="0"/>
              </a:rPr>
              <a:t>on</a:t>
            </a:r>
            <a:r>
              <a:rPr lang="en-US" sz="2000" dirty="0">
                <a:solidFill>
                  <a:srgbClr val="000000"/>
                </a:solidFill>
                <a:ea typeface="Verdana" panose="020B0604030504040204" pitchFamily="34" charset="0"/>
              </a:rPr>
              <a:t> dept (</a:t>
            </a:r>
            <a:r>
              <a:rPr lang="en-US" sz="2000" dirty="0" err="1">
                <a:solidFill>
                  <a:srgbClr val="000000"/>
                </a:solidFill>
                <a:ea typeface="Verdana" panose="020B0604030504040204" pitchFamily="34" charset="0"/>
              </a:rPr>
              <a:t>deptno</a:t>
            </a:r>
            <a:r>
              <a:rPr lang="en-US" sz="2000" dirty="0">
                <a:solidFill>
                  <a:srgbClr val="000000"/>
                </a:solidFill>
                <a:ea typeface="Verdana" panose="020B0604030504040204" pitchFamily="34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ea typeface="Verdana" panose="020B0604030504040204" pitchFamily="34" charset="0"/>
              </a:rPr>
              <a:t>deptname</a:t>
            </a:r>
            <a:r>
              <a:rPr lang="en-US" sz="2000" dirty="0">
                <a:solidFill>
                  <a:srgbClr val="000000"/>
                </a:solidFill>
                <a:ea typeface="Verdana" panose="020B0604030504040204" pitchFamily="34" charset="0"/>
              </a:rPr>
              <a:t>);</a:t>
            </a:r>
            <a:endParaRPr lang="en-US" sz="2000" dirty="0">
              <a:ea typeface="Verdana" panose="020B0604030504040204" pitchFamily="34" charset="0"/>
            </a:endParaRPr>
          </a:p>
          <a:p>
            <a:pPr lvl="1">
              <a:spcBef>
                <a:spcPts val="300"/>
              </a:spcBef>
            </a:pPr>
            <a:r>
              <a:rPr lang="en-US" sz="2000" dirty="0">
                <a:ea typeface="Verdana" panose="020B0604030504040204" pitchFamily="34" charset="0"/>
              </a:rPr>
              <a:t>Method 2: index include columns:</a:t>
            </a:r>
          </a:p>
          <a:p>
            <a:pPr lvl="2">
              <a:spcBef>
                <a:spcPts val="300"/>
              </a:spcBef>
            </a:pPr>
            <a:r>
              <a:rPr lang="en-US" sz="2000" dirty="0">
                <a:solidFill>
                  <a:srgbClr val="800000"/>
                </a:solidFill>
                <a:ea typeface="Verdana" panose="020B0604030504040204" pitchFamily="34" charset="0"/>
              </a:rPr>
              <a:t>CREATE</a:t>
            </a:r>
            <a:r>
              <a:rPr lang="en-US" sz="2000" dirty="0">
                <a:solidFill>
                  <a:srgbClr val="000000"/>
                </a:solidFill>
                <a:ea typeface="Verdana" panose="020B0604030504040204" pitchFamily="34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ea typeface="Verdana" panose="020B0604030504040204" pitchFamily="34" charset="0"/>
              </a:rPr>
              <a:t>INDEX</a:t>
            </a:r>
            <a:r>
              <a:rPr lang="en-US" sz="2000" dirty="0">
                <a:solidFill>
                  <a:srgbClr val="000000"/>
                </a:solidFill>
                <a:ea typeface="Verdana" panose="020B0604030504040204" pitchFamily="34" charset="0"/>
              </a:rPr>
              <a:t> IXNAME </a:t>
            </a:r>
            <a:r>
              <a:rPr lang="en-US" sz="2000" dirty="0">
                <a:solidFill>
                  <a:srgbClr val="800000"/>
                </a:solidFill>
                <a:ea typeface="Verdana" panose="020B0604030504040204" pitchFamily="34" charset="0"/>
              </a:rPr>
              <a:t>ON</a:t>
            </a:r>
            <a:r>
              <a:rPr lang="en-US" sz="2000" dirty="0">
                <a:solidFill>
                  <a:srgbClr val="000000"/>
                </a:solidFill>
                <a:ea typeface="Verdana" panose="020B0604030504040204" pitchFamily="34" charset="0"/>
              </a:rPr>
              <a:t> DEPT ( DEPTNO ) INCLUDE ( DEPTNAME )</a:t>
            </a:r>
            <a:r>
              <a:rPr lang="en-US" sz="2000" dirty="0">
                <a:solidFill>
                  <a:srgbClr val="FF0000"/>
                </a:solidFill>
                <a:ea typeface="Verdana" panose="020B0604030504040204" pitchFamily="34" charset="0"/>
              </a:rPr>
              <a:t>;</a:t>
            </a:r>
          </a:p>
          <a:p>
            <a:pPr lvl="2">
              <a:spcBef>
                <a:spcPts val="300"/>
              </a:spcBef>
            </a:pPr>
            <a:r>
              <a:rPr lang="en-US" sz="2000" dirty="0">
                <a:ea typeface="Verdana" panose="020B0604030504040204" pitchFamily="34" charset="0"/>
              </a:rPr>
              <a:t>The index key is only on the DEPTNO column, but the DEPTNAME is also included in the index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DABA17-3AB2-04B9-1B56-047575D58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001285"/>
              </p:ext>
            </p:extLst>
          </p:nvPr>
        </p:nvGraphicFramePr>
        <p:xfrm>
          <a:off x="3276600" y="3707496"/>
          <a:ext cx="4267200" cy="48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58026012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169327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3341688089"/>
                    </a:ext>
                  </a:extLst>
                </a:gridCol>
              </a:tblGrid>
              <a:tr h="483504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2"/>
                          </a:solidFill>
                        </a:rPr>
                        <a:t>111</a:t>
                      </a:r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|</a:t>
                      </a:r>
                      <a:r>
                        <a:rPr lang="en-US" sz="2200" dirty="0">
                          <a:solidFill>
                            <a:schemeClr val="tx2"/>
                          </a:solidFill>
                        </a:rPr>
                        <a:t>CS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2"/>
                          </a:solidFill>
                        </a:rPr>
                        <a:t>112</a:t>
                      </a:r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|</a:t>
                      </a:r>
                      <a:r>
                        <a:rPr lang="en-US" sz="2200" dirty="0">
                          <a:solidFill>
                            <a:schemeClr val="tx2"/>
                          </a:solidFill>
                        </a:rPr>
                        <a:t>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113|</a:t>
                      </a:r>
                      <a:r>
                        <a:rPr lang="en-US" sz="2200" dirty="0">
                          <a:solidFill>
                            <a:schemeClr val="tx2"/>
                          </a:solidFill>
                        </a:rPr>
                        <a:t>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53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25923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2_Stony Brook Univers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3_Standard">
  <a:themeElements>
    <a:clrScheme name="siemens internal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iemens inter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lnDef>
  </a:objectDefaults>
  <a:extraClrSchemeLst>
    <a:extraClrScheme>
      <a:clrScheme name="siemens internal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emens internal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siemens internal">
  <a:themeElements>
    <a:clrScheme name="siemens internal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iemens inter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lnDef>
  </a:objectDefaults>
  <a:extraClrSchemeLst>
    <a:extraClrScheme>
      <a:clrScheme name="siemens internal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emens internal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siemens internal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siemens inter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lnDef>
  </a:objectDefaults>
  <a:extraClrSchemeLst>
    <a:extraClrScheme>
      <a:clrScheme name="siemens internal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emens internal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tony Brook Univers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1_Standard">
  <a:themeElements>
    <a:clrScheme name="siemens internal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iemens inter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lnDef>
  </a:objectDefaults>
  <a:extraClrSchemeLst>
    <a:extraClrScheme>
      <a:clrScheme name="siemens internal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emens internal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_Stony Brook Univers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2_Standard">
  <a:themeElements>
    <a:clrScheme name="siemens internal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iemens inter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lnDef>
  </a:objectDefaults>
  <a:extraClrSchemeLst>
    <a:extraClrScheme>
      <a:clrScheme name="siemens internal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emens internal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EmoryTheme</Template>
  <TotalTime>8497</TotalTime>
  <Words>2100</Words>
  <Application>Microsoft Office PowerPoint</Application>
  <PresentationFormat>Widescreen</PresentationFormat>
  <Paragraphs>310</Paragraphs>
  <Slides>26</Slides>
  <Notes>9</Notes>
  <HiddenSlides>9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26</vt:i4>
      </vt:variant>
    </vt:vector>
  </HeadingPairs>
  <TitlesOfParts>
    <vt:vector size="49" baseType="lpstr">
      <vt:lpstr>Helvetica Neue</vt:lpstr>
      <vt:lpstr>Lucida Grande</vt:lpstr>
      <vt:lpstr>Siemens Sans</vt:lpstr>
      <vt:lpstr>Siemens Sans Black</vt:lpstr>
      <vt:lpstr>UniversS 55 Roman</vt:lpstr>
      <vt:lpstr>Arial</vt:lpstr>
      <vt:lpstr>Calibri</vt:lpstr>
      <vt:lpstr>Consolas</vt:lpstr>
      <vt:lpstr>Courier New</vt:lpstr>
      <vt:lpstr>Helvetica</vt:lpstr>
      <vt:lpstr>IBM Plex Sans</vt:lpstr>
      <vt:lpstr>Verdana</vt:lpstr>
      <vt:lpstr>2_Stony Brook University</vt:lpstr>
      <vt:lpstr>3_Standard</vt:lpstr>
      <vt:lpstr>1_siemens internal</vt:lpstr>
      <vt:lpstr>2_siemens internal</vt:lpstr>
      <vt:lpstr>Office Theme</vt:lpstr>
      <vt:lpstr>1_Office Theme</vt:lpstr>
      <vt:lpstr>2_Office Theme</vt:lpstr>
      <vt:lpstr>Stony Brook University</vt:lpstr>
      <vt:lpstr>1_Standard</vt:lpstr>
      <vt:lpstr>1_Stony Brook University</vt:lpstr>
      <vt:lpstr>2_Standard</vt:lpstr>
      <vt:lpstr>PowerPoint Presentation</vt:lpstr>
      <vt:lpstr>Memory Hierarchy</vt:lpstr>
      <vt:lpstr>Latency Numbers Every Programmer Should Know</vt:lpstr>
      <vt:lpstr>Storage Disks</vt:lpstr>
      <vt:lpstr>Book Search at a Library </vt:lpstr>
      <vt:lpstr>Database Indexing</vt:lpstr>
      <vt:lpstr>Index for Database Table</vt:lpstr>
      <vt:lpstr>Example</vt:lpstr>
      <vt:lpstr>Table and Index in IBM DB2</vt:lpstr>
      <vt:lpstr>Index for Database Table</vt:lpstr>
      <vt:lpstr>Most Indexes are Tree Structured</vt:lpstr>
      <vt:lpstr>B+ Tree: Most Widely Used Index</vt:lpstr>
      <vt:lpstr>B+-Tree Overview</vt:lpstr>
      <vt:lpstr>B+ Tree Properties</vt:lpstr>
      <vt:lpstr>Database Pages</vt:lpstr>
      <vt:lpstr>Database Page</vt:lpstr>
      <vt:lpstr>Searching a B+ Tree</vt:lpstr>
      <vt:lpstr>B+ Trees in Practice</vt:lpstr>
      <vt:lpstr>Buffer Pool</vt:lpstr>
      <vt:lpstr>Memory Management in Oracle</vt:lpstr>
      <vt:lpstr>B+ Trees: Summary </vt:lpstr>
      <vt:lpstr>Indexing Rules of Thumb</vt:lpstr>
      <vt:lpstr>Indexing Rules of Thumb (2)</vt:lpstr>
      <vt:lpstr>Indexing Rules of Thumb (3)</vt:lpstr>
      <vt:lpstr>Indexing Rules of Thumb (4)</vt:lpstr>
      <vt:lpstr>Indexing Rules of Thumb (5)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SATO: A Spatial Data Partitioning Framework for Scalable Query Processing</dc:title>
  <dc:creator>Hoang Vo</dc:creator>
  <cp:lastModifiedBy>Fusheng Wang</cp:lastModifiedBy>
  <cp:revision>1016</cp:revision>
  <cp:lastPrinted>2015-02-05T23:22:19Z</cp:lastPrinted>
  <dcterms:created xsi:type="dcterms:W3CDTF">2014-10-10T03:49:09Z</dcterms:created>
  <dcterms:modified xsi:type="dcterms:W3CDTF">2025-06-11T16:55:05Z</dcterms:modified>
</cp:coreProperties>
</file>