
<file path=[Content_Types].xml><?xml version="1.0" encoding="utf-8"?>
<Types xmlns="http://schemas.openxmlformats.org/package/2006/content-types">
  <Default Extension="png" ContentType="image/png"/>
  <Default Extension="rels" ContentType="application/vnd.openxmlformats-package.relationships+xml"/>
  <Default Extension="tif" ContentType="image/tif"/>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307" r:id="rId3"/>
    <p:sldId id="284" r:id="rId4"/>
    <p:sldId id="285" r:id="rId5"/>
    <p:sldId id="287" r:id="rId6"/>
    <p:sldId id="288" r:id="rId7"/>
    <p:sldId id="289" r:id="rId8"/>
    <p:sldId id="291" r:id="rId9"/>
    <p:sldId id="292" r:id="rId10"/>
    <p:sldId id="293" r:id="rId11"/>
    <p:sldId id="295" r:id="rId12"/>
    <p:sldId id="296" r:id="rId13"/>
    <p:sldId id="297" r:id="rId14"/>
    <p:sldId id="300" r:id="rId15"/>
    <p:sldId id="301" r:id="rId16"/>
    <p:sldId id="302" r:id="rId17"/>
    <p:sldId id="303" r:id="rId18"/>
    <p:sldId id="305" r:id="rId19"/>
    <p:sldId id="306" r:id="rId20"/>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4572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9144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13716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18288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22860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27432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32004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36576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
          <a:latin typeface="Helvetica Neue Medium"/>
          <a:ea typeface="Helvetica Neue Medium"/>
          <a:cs typeface="Helvetica Neue Medium"/>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
          <a:latin typeface="Helvetica Neue Medium"/>
          <a:ea typeface="Helvetica Neue Medium"/>
          <a:cs typeface="Helvetica Neue Medium"/>
        </a:font>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7" d="100"/>
          <a:sy n="57" d="100"/>
        </p:scale>
        <p:origin x="2061"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28"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openxmlformats.org/officeDocument/2006/relationships/customXml" Target="../customXml/item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于 心瑞 Xinrui YU" userId="e6fcc6d4-2b88-4beb-95d7-57ae4d33a768" providerId="ADAL" clId="{F34F8855-C621-4438-806B-08A2E2CB3E3D}"/>
    <pc:docChg chg="delSld modSld">
      <pc:chgData name="于 心瑞 Xinrui YU" userId="e6fcc6d4-2b88-4beb-95d7-57ae4d33a768" providerId="ADAL" clId="{F34F8855-C621-4438-806B-08A2E2CB3E3D}" dt="2026-03-03T10:47:27.601" v="33" actId="47"/>
      <pc:docMkLst>
        <pc:docMk/>
      </pc:docMkLst>
      <pc:sldChg chg="modSp mod">
        <pc:chgData name="于 心瑞 Xinrui YU" userId="e6fcc6d4-2b88-4beb-95d7-57ae4d33a768" providerId="ADAL" clId="{F34F8855-C621-4438-806B-08A2E2CB3E3D}" dt="2026-03-02T15:26:07.940" v="0" actId="20577"/>
        <pc:sldMkLst>
          <pc:docMk/>
          <pc:sldMk cId="0" sldId="256"/>
        </pc:sldMkLst>
        <pc:spChg chg="mod">
          <ac:chgData name="于 心瑞 Xinrui YU" userId="e6fcc6d4-2b88-4beb-95d7-57ae4d33a768" providerId="ADAL" clId="{F34F8855-C621-4438-806B-08A2E2CB3E3D}" dt="2026-03-02T15:26:07.940" v="0" actId="20577"/>
          <ac:spMkLst>
            <pc:docMk/>
            <pc:sldMk cId="0" sldId="256"/>
            <ac:spMk id="154" creationId="{00000000-0000-0000-0000-000000000000}"/>
          </ac:spMkLst>
        </pc:spChg>
      </pc:sldChg>
      <pc:sldChg chg="del">
        <pc:chgData name="于 心瑞 Xinrui YU" userId="e6fcc6d4-2b88-4beb-95d7-57ae4d33a768" providerId="ADAL" clId="{F34F8855-C621-4438-806B-08A2E2CB3E3D}" dt="2026-03-03T02:36:31.616" v="4" actId="47"/>
        <pc:sldMkLst>
          <pc:docMk/>
          <pc:sldMk cId="0" sldId="257"/>
        </pc:sldMkLst>
      </pc:sldChg>
      <pc:sldChg chg="del">
        <pc:chgData name="于 心瑞 Xinrui YU" userId="e6fcc6d4-2b88-4beb-95d7-57ae4d33a768" providerId="ADAL" clId="{F34F8855-C621-4438-806B-08A2E2CB3E3D}" dt="2026-03-03T02:36:32.791" v="5" actId="47"/>
        <pc:sldMkLst>
          <pc:docMk/>
          <pc:sldMk cId="0" sldId="258"/>
        </pc:sldMkLst>
      </pc:sldChg>
      <pc:sldChg chg="del">
        <pc:chgData name="于 心瑞 Xinrui YU" userId="e6fcc6d4-2b88-4beb-95d7-57ae4d33a768" providerId="ADAL" clId="{F34F8855-C621-4438-806B-08A2E2CB3E3D}" dt="2026-03-03T02:36:34.073" v="6" actId="47"/>
        <pc:sldMkLst>
          <pc:docMk/>
          <pc:sldMk cId="0" sldId="259"/>
        </pc:sldMkLst>
      </pc:sldChg>
      <pc:sldChg chg="del">
        <pc:chgData name="于 心瑞 Xinrui YU" userId="e6fcc6d4-2b88-4beb-95d7-57ae4d33a768" providerId="ADAL" clId="{F34F8855-C621-4438-806B-08A2E2CB3E3D}" dt="2026-03-03T02:36:34.492" v="7" actId="47"/>
        <pc:sldMkLst>
          <pc:docMk/>
          <pc:sldMk cId="0" sldId="260"/>
        </pc:sldMkLst>
      </pc:sldChg>
      <pc:sldChg chg="del">
        <pc:chgData name="于 心瑞 Xinrui YU" userId="e6fcc6d4-2b88-4beb-95d7-57ae4d33a768" providerId="ADAL" clId="{F34F8855-C621-4438-806B-08A2E2CB3E3D}" dt="2026-03-03T02:36:36.958" v="8" actId="47"/>
        <pc:sldMkLst>
          <pc:docMk/>
          <pc:sldMk cId="0" sldId="261"/>
        </pc:sldMkLst>
      </pc:sldChg>
      <pc:sldChg chg="del">
        <pc:chgData name="于 心瑞 Xinrui YU" userId="e6fcc6d4-2b88-4beb-95d7-57ae4d33a768" providerId="ADAL" clId="{F34F8855-C621-4438-806B-08A2E2CB3E3D}" dt="2026-03-03T02:36:39.421" v="9" actId="47"/>
        <pc:sldMkLst>
          <pc:docMk/>
          <pc:sldMk cId="0" sldId="262"/>
        </pc:sldMkLst>
      </pc:sldChg>
      <pc:sldChg chg="del">
        <pc:chgData name="于 心瑞 Xinrui YU" userId="e6fcc6d4-2b88-4beb-95d7-57ae4d33a768" providerId="ADAL" clId="{F34F8855-C621-4438-806B-08A2E2CB3E3D}" dt="2026-03-03T02:36:40.276" v="10" actId="47"/>
        <pc:sldMkLst>
          <pc:docMk/>
          <pc:sldMk cId="0" sldId="263"/>
        </pc:sldMkLst>
      </pc:sldChg>
      <pc:sldChg chg="del">
        <pc:chgData name="于 心瑞 Xinrui YU" userId="e6fcc6d4-2b88-4beb-95d7-57ae4d33a768" providerId="ADAL" clId="{F34F8855-C621-4438-806B-08A2E2CB3E3D}" dt="2026-03-03T02:36:41.554" v="11" actId="47"/>
        <pc:sldMkLst>
          <pc:docMk/>
          <pc:sldMk cId="0" sldId="264"/>
        </pc:sldMkLst>
      </pc:sldChg>
      <pc:sldChg chg="del">
        <pc:chgData name="于 心瑞 Xinrui YU" userId="e6fcc6d4-2b88-4beb-95d7-57ae4d33a768" providerId="ADAL" clId="{F34F8855-C621-4438-806B-08A2E2CB3E3D}" dt="2026-03-03T02:36:42.186" v="12" actId="47"/>
        <pc:sldMkLst>
          <pc:docMk/>
          <pc:sldMk cId="0" sldId="265"/>
        </pc:sldMkLst>
      </pc:sldChg>
      <pc:sldChg chg="del">
        <pc:chgData name="于 心瑞 Xinrui YU" userId="e6fcc6d4-2b88-4beb-95d7-57ae4d33a768" providerId="ADAL" clId="{F34F8855-C621-4438-806B-08A2E2CB3E3D}" dt="2026-03-03T02:36:44.751" v="13" actId="47"/>
        <pc:sldMkLst>
          <pc:docMk/>
          <pc:sldMk cId="0" sldId="266"/>
        </pc:sldMkLst>
      </pc:sldChg>
      <pc:sldChg chg="del">
        <pc:chgData name="于 心瑞 Xinrui YU" userId="e6fcc6d4-2b88-4beb-95d7-57ae4d33a768" providerId="ADAL" clId="{F34F8855-C621-4438-806B-08A2E2CB3E3D}" dt="2026-03-03T02:36:45.505" v="14" actId="47"/>
        <pc:sldMkLst>
          <pc:docMk/>
          <pc:sldMk cId="0" sldId="267"/>
        </pc:sldMkLst>
      </pc:sldChg>
      <pc:sldChg chg="del">
        <pc:chgData name="于 心瑞 Xinrui YU" userId="e6fcc6d4-2b88-4beb-95d7-57ae4d33a768" providerId="ADAL" clId="{F34F8855-C621-4438-806B-08A2E2CB3E3D}" dt="2026-03-03T02:36:46.499" v="15" actId="47"/>
        <pc:sldMkLst>
          <pc:docMk/>
          <pc:sldMk cId="0" sldId="268"/>
        </pc:sldMkLst>
      </pc:sldChg>
      <pc:sldChg chg="del">
        <pc:chgData name="于 心瑞 Xinrui YU" userId="e6fcc6d4-2b88-4beb-95d7-57ae4d33a768" providerId="ADAL" clId="{F34F8855-C621-4438-806B-08A2E2CB3E3D}" dt="2026-03-03T02:36:47.684" v="16" actId="47"/>
        <pc:sldMkLst>
          <pc:docMk/>
          <pc:sldMk cId="0" sldId="269"/>
        </pc:sldMkLst>
      </pc:sldChg>
      <pc:sldChg chg="del">
        <pc:chgData name="于 心瑞 Xinrui YU" userId="e6fcc6d4-2b88-4beb-95d7-57ae4d33a768" providerId="ADAL" clId="{F34F8855-C621-4438-806B-08A2E2CB3E3D}" dt="2026-03-03T02:36:49.095" v="17" actId="47"/>
        <pc:sldMkLst>
          <pc:docMk/>
          <pc:sldMk cId="0" sldId="270"/>
        </pc:sldMkLst>
      </pc:sldChg>
      <pc:sldChg chg="del">
        <pc:chgData name="于 心瑞 Xinrui YU" userId="e6fcc6d4-2b88-4beb-95d7-57ae4d33a768" providerId="ADAL" clId="{F34F8855-C621-4438-806B-08A2E2CB3E3D}" dt="2026-03-03T02:36:50.451" v="18" actId="47"/>
        <pc:sldMkLst>
          <pc:docMk/>
          <pc:sldMk cId="0" sldId="271"/>
        </pc:sldMkLst>
      </pc:sldChg>
      <pc:sldChg chg="del">
        <pc:chgData name="于 心瑞 Xinrui YU" userId="e6fcc6d4-2b88-4beb-95d7-57ae4d33a768" providerId="ADAL" clId="{F34F8855-C621-4438-806B-08A2E2CB3E3D}" dt="2026-03-03T02:36:51.926" v="19" actId="47"/>
        <pc:sldMkLst>
          <pc:docMk/>
          <pc:sldMk cId="0" sldId="272"/>
        </pc:sldMkLst>
      </pc:sldChg>
      <pc:sldChg chg="del">
        <pc:chgData name="于 心瑞 Xinrui YU" userId="e6fcc6d4-2b88-4beb-95d7-57ae4d33a768" providerId="ADAL" clId="{F34F8855-C621-4438-806B-08A2E2CB3E3D}" dt="2026-03-03T02:36:53.412" v="20" actId="47"/>
        <pc:sldMkLst>
          <pc:docMk/>
          <pc:sldMk cId="0" sldId="273"/>
        </pc:sldMkLst>
      </pc:sldChg>
      <pc:sldChg chg="del">
        <pc:chgData name="于 心瑞 Xinrui YU" userId="e6fcc6d4-2b88-4beb-95d7-57ae4d33a768" providerId="ADAL" clId="{F34F8855-C621-4438-806B-08A2E2CB3E3D}" dt="2026-03-03T02:36:53.746" v="21" actId="47"/>
        <pc:sldMkLst>
          <pc:docMk/>
          <pc:sldMk cId="0" sldId="274"/>
        </pc:sldMkLst>
      </pc:sldChg>
      <pc:sldChg chg="del">
        <pc:chgData name="于 心瑞 Xinrui YU" userId="e6fcc6d4-2b88-4beb-95d7-57ae4d33a768" providerId="ADAL" clId="{F34F8855-C621-4438-806B-08A2E2CB3E3D}" dt="2026-03-03T02:36:54.245" v="22" actId="47"/>
        <pc:sldMkLst>
          <pc:docMk/>
          <pc:sldMk cId="0" sldId="275"/>
        </pc:sldMkLst>
      </pc:sldChg>
      <pc:sldChg chg="del">
        <pc:chgData name="于 心瑞 Xinrui YU" userId="e6fcc6d4-2b88-4beb-95d7-57ae4d33a768" providerId="ADAL" clId="{F34F8855-C621-4438-806B-08A2E2CB3E3D}" dt="2026-03-03T02:36:54.820" v="23" actId="47"/>
        <pc:sldMkLst>
          <pc:docMk/>
          <pc:sldMk cId="0" sldId="276"/>
        </pc:sldMkLst>
      </pc:sldChg>
      <pc:sldChg chg="del">
        <pc:chgData name="于 心瑞 Xinrui YU" userId="e6fcc6d4-2b88-4beb-95d7-57ae4d33a768" providerId="ADAL" clId="{F34F8855-C621-4438-806B-08A2E2CB3E3D}" dt="2026-03-03T02:36:55.581" v="24" actId="47"/>
        <pc:sldMkLst>
          <pc:docMk/>
          <pc:sldMk cId="0" sldId="277"/>
        </pc:sldMkLst>
      </pc:sldChg>
      <pc:sldChg chg="del">
        <pc:chgData name="于 心瑞 Xinrui YU" userId="e6fcc6d4-2b88-4beb-95d7-57ae4d33a768" providerId="ADAL" clId="{F34F8855-C621-4438-806B-08A2E2CB3E3D}" dt="2026-03-03T02:36:57.328" v="25" actId="47"/>
        <pc:sldMkLst>
          <pc:docMk/>
          <pc:sldMk cId="0" sldId="278"/>
        </pc:sldMkLst>
      </pc:sldChg>
      <pc:sldChg chg="del">
        <pc:chgData name="于 心瑞 Xinrui YU" userId="e6fcc6d4-2b88-4beb-95d7-57ae4d33a768" providerId="ADAL" clId="{F34F8855-C621-4438-806B-08A2E2CB3E3D}" dt="2026-03-03T02:36:58.129" v="26" actId="47"/>
        <pc:sldMkLst>
          <pc:docMk/>
          <pc:sldMk cId="0" sldId="279"/>
        </pc:sldMkLst>
      </pc:sldChg>
      <pc:sldChg chg="del">
        <pc:chgData name="于 心瑞 Xinrui YU" userId="e6fcc6d4-2b88-4beb-95d7-57ae4d33a768" providerId="ADAL" clId="{F34F8855-C621-4438-806B-08A2E2CB3E3D}" dt="2026-03-03T02:36:19.350" v="1" actId="47"/>
        <pc:sldMkLst>
          <pc:docMk/>
          <pc:sldMk cId="0" sldId="280"/>
        </pc:sldMkLst>
      </pc:sldChg>
      <pc:sldChg chg="del">
        <pc:chgData name="于 心瑞 Xinrui YU" userId="e6fcc6d4-2b88-4beb-95d7-57ae4d33a768" providerId="ADAL" clId="{F34F8855-C621-4438-806B-08A2E2CB3E3D}" dt="2026-03-03T02:36:22.076" v="2" actId="47"/>
        <pc:sldMkLst>
          <pc:docMk/>
          <pc:sldMk cId="0" sldId="281"/>
        </pc:sldMkLst>
      </pc:sldChg>
      <pc:sldChg chg="del">
        <pc:chgData name="于 心瑞 Xinrui YU" userId="e6fcc6d4-2b88-4beb-95d7-57ae4d33a768" providerId="ADAL" clId="{F34F8855-C621-4438-806B-08A2E2CB3E3D}" dt="2026-03-03T02:36:23.638" v="3" actId="47"/>
        <pc:sldMkLst>
          <pc:docMk/>
          <pc:sldMk cId="0" sldId="282"/>
        </pc:sldMkLst>
      </pc:sldChg>
      <pc:sldChg chg="del">
        <pc:chgData name="于 心瑞 Xinrui YU" userId="e6fcc6d4-2b88-4beb-95d7-57ae4d33a768" providerId="ADAL" clId="{F34F8855-C621-4438-806B-08A2E2CB3E3D}" dt="2026-03-03T02:37:00.054" v="27" actId="47"/>
        <pc:sldMkLst>
          <pc:docMk/>
          <pc:sldMk cId="0" sldId="283"/>
        </pc:sldMkLst>
      </pc:sldChg>
      <pc:sldChg chg="del">
        <pc:chgData name="于 心瑞 Xinrui YU" userId="e6fcc6d4-2b88-4beb-95d7-57ae4d33a768" providerId="ADAL" clId="{F34F8855-C621-4438-806B-08A2E2CB3E3D}" dt="2026-03-03T10:47:27.601" v="33" actId="47"/>
        <pc:sldMkLst>
          <pc:docMk/>
          <pc:sldMk cId="0" sldId="299"/>
        </pc:sldMkLst>
      </pc:sldChg>
      <pc:sldChg chg="modSp mod">
        <pc:chgData name="于 心瑞 Xinrui YU" userId="e6fcc6d4-2b88-4beb-95d7-57ae4d33a768" providerId="ADAL" clId="{F34F8855-C621-4438-806B-08A2E2CB3E3D}" dt="2026-03-03T02:37:29.855" v="28" actId="1076"/>
        <pc:sldMkLst>
          <pc:docMk/>
          <pc:sldMk cId="0" sldId="307"/>
        </pc:sldMkLst>
        <pc:picChg chg="mod">
          <ac:chgData name="于 心瑞 Xinrui YU" userId="e6fcc6d4-2b88-4beb-95d7-57ae4d33a768" providerId="ADAL" clId="{F34F8855-C621-4438-806B-08A2E2CB3E3D}" dt="2026-03-03T02:37:29.855" v="28" actId="1076"/>
          <ac:picMkLst>
            <pc:docMk/>
            <pc:sldMk cId="0" sldId="307"/>
            <ac:picMk id="439" creationId="{00000000-0000-0000-0000-000000000000}"/>
          </ac:picMkLst>
        </pc:picChg>
      </pc:sldChg>
      <pc:sldChg chg="del">
        <pc:chgData name="于 心瑞 Xinrui YU" userId="e6fcc6d4-2b88-4beb-95d7-57ae4d33a768" providerId="ADAL" clId="{F34F8855-C621-4438-806B-08A2E2CB3E3D}" dt="2026-03-03T02:37:42.229" v="29" actId="47"/>
        <pc:sldMkLst>
          <pc:docMk/>
          <pc:sldMk cId="0" sldId="308"/>
        </pc:sldMkLst>
      </pc:sldChg>
      <pc:sldChg chg="del">
        <pc:chgData name="于 心瑞 Xinrui YU" userId="e6fcc6d4-2b88-4beb-95d7-57ae4d33a768" providerId="ADAL" clId="{F34F8855-C621-4438-806B-08A2E2CB3E3D}" dt="2026-03-03T02:37:43.195" v="30" actId="47"/>
        <pc:sldMkLst>
          <pc:docMk/>
          <pc:sldMk cId="0" sldId="309"/>
        </pc:sldMkLst>
      </pc:sldChg>
      <pc:sldChg chg="del">
        <pc:chgData name="于 心瑞 Xinrui YU" userId="e6fcc6d4-2b88-4beb-95d7-57ae4d33a768" providerId="ADAL" clId="{F34F8855-C621-4438-806B-08A2E2CB3E3D}" dt="2026-03-03T02:37:44.319" v="31" actId="47"/>
        <pc:sldMkLst>
          <pc:docMk/>
          <pc:sldMk cId="0" sldId="310"/>
        </pc:sldMkLst>
      </pc:sldChg>
      <pc:sldChg chg="del">
        <pc:chgData name="于 心瑞 Xinrui YU" userId="e6fcc6d4-2b88-4beb-95d7-57ae4d33a768" providerId="ADAL" clId="{F34F8855-C621-4438-806B-08A2E2CB3E3D}" dt="2026-03-03T02:37:45.413" v="32" actId="47"/>
        <pc:sldMkLst>
          <pc:docMk/>
          <pc:sldMk cId="0" sldId="311"/>
        </pc:sldMkLst>
      </pc:sldChg>
      <pc:sldMasterChg chg="delSldLayout">
        <pc:chgData name="于 心瑞 Xinrui YU" userId="e6fcc6d4-2b88-4beb-95d7-57ae4d33a768" providerId="ADAL" clId="{F34F8855-C621-4438-806B-08A2E2CB3E3D}" dt="2026-03-03T02:37:45.413" v="32" actId="47"/>
        <pc:sldMasterMkLst>
          <pc:docMk/>
          <pc:sldMasterMk cId="0" sldId="2147483648"/>
        </pc:sldMasterMkLst>
        <pc:sldLayoutChg chg="del">
          <pc:chgData name="于 心瑞 Xinrui YU" userId="e6fcc6d4-2b88-4beb-95d7-57ae4d33a768" providerId="ADAL" clId="{F34F8855-C621-4438-806B-08A2E2CB3E3D}" dt="2026-03-03T02:37:45.413" v="32" actId="47"/>
          <pc:sldLayoutMkLst>
            <pc:docMk/>
            <pc:sldMasterMk cId="0" sldId="2147483648"/>
            <pc:sldLayoutMk cId="0" sldId="2147483662"/>
          </pc:sldLayoutMkLst>
        </pc:sldLayoutChg>
        <pc:sldLayoutChg chg="del">
          <pc:chgData name="于 心瑞 Xinrui YU" userId="e6fcc6d4-2b88-4beb-95d7-57ae4d33a768" providerId="ADAL" clId="{F34F8855-C621-4438-806B-08A2E2CB3E3D}" dt="2026-03-03T02:36:34.492" v="7" actId="47"/>
          <pc:sldLayoutMkLst>
            <pc:docMk/>
            <pc:sldMasterMk cId="0" sldId="2147483648"/>
            <pc:sldLayoutMk cId="0" sldId="2147483663"/>
          </pc:sldLayoutMkLst>
        </pc:sldLayoutChg>
        <pc:sldLayoutChg chg="del">
          <pc:chgData name="于 心瑞 Xinrui YU" userId="e6fcc6d4-2b88-4beb-95d7-57ae4d33a768" providerId="ADAL" clId="{F34F8855-C621-4438-806B-08A2E2CB3E3D}" dt="2026-03-03T02:36:39.421" v="9" actId="47"/>
          <pc:sldLayoutMkLst>
            <pc:docMk/>
            <pc:sldMasterMk cId="0" sldId="2147483648"/>
            <pc:sldLayoutMk cId="0" sldId="2147483664"/>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1" name="Shape 151"/>
          <p:cNvSpPr>
            <a:spLocks noGrp="1" noRot="1" noChangeAspect="1"/>
          </p:cNvSpPr>
          <p:nvPr>
            <p:ph type="sldImg"/>
          </p:nvPr>
        </p:nvSpPr>
        <p:spPr>
          <a:xfrm>
            <a:off x="1143000" y="685800"/>
            <a:ext cx="4572000" cy="3429000"/>
          </a:xfrm>
          <a:prstGeom prst="rect">
            <a:avLst/>
          </a:prstGeom>
        </p:spPr>
        <p:txBody>
          <a:bodyPr/>
          <a:lstStyle/>
          <a:p>
            <a:endParaRPr/>
          </a:p>
        </p:txBody>
      </p:sp>
      <p:sp>
        <p:nvSpPr>
          <p:cNvPr id="152" name="Shape 15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 name="Shape 340"/>
          <p:cNvSpPr>
            <a:spLocks noGrp="1" noRot="1" noChangeAspect="1"/>
          </p:cNvSpPr>
          <p:nvPr>
            <p:ph type="sldImg"/>
          </p:nvPr>
        </p:nvSpPr>
        <p:spPr>
          <a:xfrm>
            <a:off x="381000" y="685800"/>
            <a:ext cx="6096000" cy="3429000"/>
          </a:xfrm>
          <a:prstGeom prst="rect">
            <a:avLst/>
          </a:prstGeom>
        </p:spPr>
        <p:txBody>
          <a:bodyPr/>
          <a:lstStyle/>
          <a:p>
            <a:endParaRPr/>
          </a:p>
        </p:txBody>
      </p:sp>
      <p:sp>
        <p:nvSpPr>
          <p:cNvPr id="341" name="Shape 341"/>
          <p:cNvSpPr>
            <a:spLocks noGrp="1"/>
          </p:cNvSpPr>
          <p:nvPr>
            <p:ph type="body" sz="quarter" idx="1"/>
          </p:nvPr>
        </p:nvSpPr>
        <p:spPr>
          <a:prstGeom prst="rect">
            <a:avLst/>
          </a:prstGeom>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 name="Shape 346"/>
          <p:cNvSpPr>
            <a:spLocks noGrp="1" noRot="1" noChangeAspect="1"/>
          </p:cNvSpPr>
          <p:nvPr>
            <p:ph type="sldImg"/>
          </p:nvPr>
        </p:nvSpPr>
        <p:spPr>
          <a:xfrm>
            <a:off x="381000" y="685800"/>
            <a:ext cx="6096000" cy="3429000"/>
          </a:xfrm>
          <a:prstGeom prst="rect">
            <a:avLst/>
          </a:prstGeom>
        </p:spPr>
        <p:txBody>
          <a:bodyPr/>
          <a:lstStyle/>
          <a:p>
            <a:endParaRPr/>
          </a:p>
        </p:txBody>
      </p:sp>
      <p:sp>
        <p:nvSpPr>
          <p:cNvPr id="347" name="Shape 347"/>
          <p:cNvSpPr>
            <a:spLocks noGrp="1"/>
          </p:cNvSpPr>
          <p:nvPr>
            <p:ph type="body" sz="quarter" idx="1"/>
          </p:nvPr>
        </p:nvSpPr>
        <p:spPr>
          <a:prstGeom prst="rect">
            <a:avLst/>
          </a:prstGeom>
        </p:spPr>
        <p:txBody>
          <a:bodyPr/>
          <a:lstStyle/>
          <a:p>
            <a:r>
              <a:rPr lang="en-US" altLang="zh-CN" dirty="0"/>
              <a:t>Anonymity: mask.</a:t>
            </a:r>
          </a:p>
          <a:p>
            <a:r>
              <a:rPr lang="en-US" dirty="0"/>
              <a:t>Privacy: one-to-one conversation. </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 name="Shape 351"/>
          <p:cNvSpPr>
            <a:spLocks noGrp="1" noRot="1" noChangeAspect="1"/>
          </p:cNvSpPr>
          <p:nvPr>
            <p:ph type="sldImg"/>
          </p:nvPr>
        </p:nvSpPr>
        <p:spPr>
          <a:xfrm>
            <a:off x="381000" y="685800"/>
            <a:ext cx="6096000" cy="3429000"/>
          </a:xfrm>
          <a:prstGeom prst="rect">
            <a:avLst/>
          </a:prstGeom>
        </p:spPr>
        <p:txBody>
          <a:bodyPr/>
          <a:lstStyle/>
          <a:p>
            <a:endParaRPr/>
          </a:p>
        </p:txBody>
      </p:sp>
      <p:sp>
        <p:nvSpPr>
          <p:cNvPr id="352" name="Shape 352"/>
          <p:cNvSpPr>
            <a:spLocks noGrp="1"/>
          </p:cNvSpPr>
          <p:nvPr>
            <p:ph type="body" sz="quarter" idx="1"/>
          </p:nvPr>
        </p:nvSpPr>
        <p:spPr>
          <a:prstGeom prst="rect">
            <a:avLst/>
          </a:prstGeom>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 name="Shape 361"/>
          <p:cNvSpPr>
            <a:spLocks noGrp="1" noRot="1" noChangeAspect="1"/>
          </p:cNvSpPr>
          <p:nvPr>
            <p:ph type="sldImg"/>
          </p:nvPr>
        </p:nvSpPr>
        <p:spPr>
          <a:xfrm>
            <a:off x="381000" y="685800"/>
            <a:ext cx="6096000" cy="3429000"/>
          </a:xfrm>
          <a:prstGeom prst="rect">
            <a:avLst/>
          </a:prstGeom>
        </p:spPr>
        <p:txBody>
          <a:bodyPr/>
          <a:lstStyle/>
          <a:p>
            <a:endParaRPr/>
          </a:p>
        </p:txBody>
      </p:sp>
      <p:sp>
        <p:nvSpPr>
          <p:cNvPr id="362" name="Shape 362"/>
          <p:cNvSpPr>
            <a:spLocks noGrp="1"/>
          </p:cNvSpPr>
          <p:nvPr>
            <p:ph type="body" sz="quarter" idx="1"/>
          </p:nvPr>
        </p:nvSpPr>
        <p:spPr>
          <a:prstGeom prst="rect">
            <a:avLst/>
          </a:prstGeom>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 name="Shape 382"/>
          <p:cNvSpPr>
            <a:spLocks noGrp="1" noRot="1" noChangeAspect="1"/>
          </p:cNvSpPr>
          <p:nvPr>
            <p:ph type="sldImg"/>
          </p:nvPr>
        </p:nvSpPr>
        <p:spPr>
          <a:xfrm>
            <a:off x="381000" y="685800"/>
            <a:ext cx="6096000" cy="3429000"/>
          </a:xfrm>
          <a:prstGeom prst="rect">
            <a:avLst/>
          </a:prstGeom>
        </p:spPr>
        <p:txBody>
          <a:bodyPr/>
          <a:lstStyle/>
          <a:p>
            <a:endParaRPr/>
          </a:p>
        </p:txBody>
      </p:sp>
      <p:sp>
        <p:nvSpPr>
          <p:cNvPr id="383" name="Shape 383"/>
          <p:cNvSpPr>
            <a:spLocks noGrp="1"/>
          </p:cNvSpPr>
          <p:nvPr>
            <p:ph type="body" sz="quarter" idx="1"/>
          </p:nvPr>
        </p:nvSpPr>
        <p:spPr>
          <a:prstGeom prst="rect">
            <a:avLst/>
          </a:prstGeom>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 name="Shape 425"/>
          <p:cNvSpPr>
            <a:spLocks noGrp="1" noRot="1" noChangeAspect="1"/>
          </p:cNvSpPr>
          <p:nvPr>
            <p:ph type="sldImg"/>
          </p:nvPr>
        </p:nvSpPr>
        <p:spPr>
          <a:xfrm>
            <a:off x="381000" y="685800"/>
            <a:ext cx="6096000" cy="3429000"/>
          </a:xfrm>
          <a:prstGeom prst="rect">
            <a:avLst/>
          </a:prstGeom>
        </p:spPr>
        <p:txBody>
          <a:bodyPr/>
          <a:lstStyle/>
          <a:p>
            <a:endParaRPr/>
          </a:p>
        </p:txBody>
      </p:sp>
      <p:sp>
        <p:nvSpPr>
          <p:cNvPr id="426" name="Shape 426"/>
          <p:cNvSpPr>
            <a:spLocks noGrp="1"/>
          </p:cNvSpPr>
          <p:nvPr>
            <p:ph type="body" sz="quarter" idx="1"/>
          </p:nvPr>
        </p:nvSpPr>
        <p:spPr>
          <a:prstGeom prst="rect">
            <a:avLst/>
          </a:prstGeom>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778000" y="2298700"/>
            <a:ext cx="20828000" cy="4648200"/>
          </a:xfrm>
          <a:prstGeom prst="rect">
            <a:avLst/>
          </a:prstGeom>
        </p:spPr>
        <p:txBody>
          <a:bodyPr anchor="b"/>
          <a:lstStyle/>
          <a:p>
            <a:r>
              <a:t>Title Text</a:t>
            </a:r>
          </a:p>
        </p:txBody>
      </p:sp>
      <p:sp>
        <p:nvSpPr>
          <p:cNvPr id="12" name="Body Level One…"/>
          <p:cNvSpPr txBox="1">
            <a:spLocks noGrp="1"/>
          </p:cNvSpPr>
          <p:nvPr>
            <p:ph type="body" sz="quarter" idx="1"/>
          </p:nvPr>
        </p:nvSpPr>
        <p:spPr>
          <a:xfrm>
            <a:off x="1778000" y="7073900"/>
            <a:ext cx="20828000" cy="1587500"/>
          </a:xfrm>
          <a:prstGeom prst="rect">
            <a:avLst/>
          </a:prstGeom>
        </p:spPr>
        <p:txBody>
          <a:bodyPr anchor="t"/>
          <a:lstStyle>
            <a:lvl1pPr marL="0" indent="0" algn="ctr">
              <a:spcBef>
                <a:spcPts val="0"/>
              </a:spcBef>
              <a:buSzTx/>
              <a:buNone/>
              <a:defRPr sz="6400">
                <a:solidFill>
                  <a:schemeClr val="accent5">
                    <a:hueOff val="-82419"/>
                    <a:satOff val="-9513"/>
                    <a:lumOff val="-16343"/>
                  </a:schemeClr>
                </a:solidFill>
              </a:defRPr>
            </a:lvl1pPr>
            <a:lvl2pPr marL="0" indent="0" algn="ctr">
              <a:spcBef>
                <a:spcPts val="0"/>
              </a:spcBef>
              <a:buSzTx/>
              <a:buNone/>
              <a:defRPr sz="6400">
                <a:solidFill>
                  <a:schemeClr val="accent5">
                    <a:hueOff val="-82419"/>
                    <a:satOff val="-9513"/>
                    <a:lumOff val="-16343"/>
                  </a:schemeClr>
                </a:solidFill>
              </a:defRPr>
            </a:lvl2pPr>
            <a:lvl3pPr marL="0" indent="0" algn="ctr">
              <a:spcBef>
                <a:spcPts val="0"/>
              </a:spcBef>
              <a:buSzTx/>
              <a:buNone/>
              <a:defRPr sz="6400">
                <a:solidFill>
                  <a:schemeClr val="accent5">
                    <a:hueOff val="-82419"/>
                    <a:satOff val="-9513"/>
                    <a:lumOff val="-16343"/>
                  </a:schemeClr>
                </a:solidFill>
              </a:defRPr>
            </a:lvl3pPr>
            <a:lvl4pPr marL="0" indent="0" algn="ctr">
              <a:spcBef>
                <a:spcPts val="0"/>
              </a:spcBef>
              <a:buSzTx/>
              <a:buNone/>
              <a:defRPr sz="6400">
                <a:solidFill>
                  <a:schemeClr val="accent5">
                    <a:hueOff val="-82419"/>
                    <a:satOff val="-9513"/>
                    <a:lumOff val="-16343"/>
                  </a:schemeClr>
                </a:solidFill>
              </a:defRPr>
            </a:lvl4pPr>
            <a:lvl5pPr marL="0" indent="0" algn="ctr">
              <a:spcBef>
                <a:spcPts val="0"/>
              </a:spcBef>
              <a:buSzTx/>
              <a:buNone/>
              <a:defRPr sz="6400">
                <a:solidFill>
                  <a:schemeClr val="accent5">
                    <a:hueOff val="-82419"/>
                    <a:satOff val="-9513"/>
                    <a:lumOff val="-16343"/>
                  </a:schemeClr>
                </a:solidFill>
              </a:defRPr>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1778000" y="4533900"/>
            <a:ext cx="20828000" cy="4648200"/>
          </a:xfrm>
          <a:prstGeom prst="rect">
            <a:avLst/>
          </a:prstGeom>
        </p:spPr>
        <p:txBody>
          <a:bodyPr/>
          <a:lstStyle/>
          <a:p>
            <a:r>
              <a:t>Title Text</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532204087_1355x1355.jpg"/>
          <p:cNvSpPr>
            <a:spLocks noGrp="1"/>
          </p:cNvSpPr>
          <p:nvPr>
            <p:ph type="pic" sz="half" idx="21"/>
          </p:nvPr>
        </p:nvSpPr>
        <p:spPr>
          <a:xfrm>
            <a:off x="12827000" y="952500"/>
            <a:ext cx="11468100" cy="11468100"/>
          </a:xfrm>
          <a:prstGeom prst="rect">
            <a:avLst/>
          </a:prstGeom>
        </p:spPr>
        <p:txBody>
          <a:bodyPr lIns="91439" tIns="45719" rIns="91439" bIns="45719" anchor="t">
            <a:noAutofit/>
          </a:bodyPr>
          <a:lstStyle/>
          <a:p>
            <a:endParaRPr/>
          </a:p>
        </p:txBody>
      </p:sp>
      <p:sp>
        <p:nvSpPr>
          <p:cNvPr id="39" name="Title Text"/>
          <p:cNvSpPr txBox="1">
            <a:spLocks noGrp="1"/>
          </p:cNvSpPr>
          <p:nvPr>
            <p:ph type="title"/>
          </p:nvPr>
        </p:nvSpPr>
        <p:spPr>
          <a:xfrm>
            <a:off x="1651000" y="952500"/>
            <a:ext cx="10223500" cy="5549900"/>
          </a:xfrm>
          <a:prstGeom prst="rect">
            <a:avLst/>
          </a:prstGeom>
        </p:spPr>
        <p:txBody>
          <a:bodyPr anchor="b"/>
          <a:lstStyle>
            <a:lvl1pPr>
              <a:defRPr sz="8400"/>
            </a:lvl1pPr>
          </a:lstStyle>
          <a:p>
            <a:r>
              <a:t>Title Text</a:t>
            </a:r>
          </a:p>
        </p:txBody>
      </p:sp>
      <p:sp>
        <p:nvSpPr>
          <p:cNvPr id="40" name="Body Level One…"/>
          <p:cNvSpPr txBox="1">
            <a:spLocks noGrp="1"/>
          </p:cNvSpPr>
          <p:nvPr>
            <p:ph type="body" sz="quarter" idx="1"/>
          </p:nvPr>
        </p:nvSpPr>
        <p:spPr>
          <a:xfrm>
            <a:off x="1651000" y="6527800"/>
            <a:ext cx="10223500" cy="5727700"/>
          </a:xfrm>
          <a:prstGeom prst="rect">
            <a:avLst/>
          </a:prstGeom>
        </p:spPr>
        <p:txBody>
          <a:bodyPr anchor="t"/>
          <a:lstStyle>
            <a:lvl1pPr marL="0" indent="0" algn="ctr">
              <a:spcBef>
                <a:spcPts val="0"/>
              </a:spcBef>
              <a:buSzTx/>
              <a:buNone/>
              <a:defRPr sz="6400">
                <a:solidFill>
                  <a:schemeClr val="accent5">
                    <a:hueOff val="-82419"/>
                    <a:satOff val="-9513"/>
                    <a:lumOff val="-16343"/>
                  </a:schemeClr>
                </a:solidFill>
              </a:defRPr>
            </a:lvl1pPr>
            <a:lvl2pPr marL="0" indent="0" algn="ctr">
              <a:spcBef>
                <a:spcPts val="0"/>
              </a:spcBef>
              <a:buSzTx/>
              <a:buNone/>
              <a:defRPr sz="6400">
                <a:solidFill>
                  <a:schemeClr val="accent5">
                    <a:hueOff val="-82419"/>
                    <a:satOff val="-9513"/>
                    <a:lumOff val="-16343"/>
                  </a:schemeClr>
                </a:solidFill>
              </a:defRPr>
            </a:lvl2pPr>
            <a:lvl3pPr marL="0" indent="0" algn="ctr">
              <a:spcBef>
                <a:spcPts val="0"/>
              </a:spcBef>
              <a:buSzTx/>
              <a:buNone/>
              <a:defRPr sz="6400">
                <a:solidFill>
                  <a:schemeClr val="accent5">
                    <a:hueOff val="-82419"/>
                    <a:satOff val="-9513"/>
                    <a:lumOff val="-16343"/>
                  </a:schemeClr>
                </a:solidFill>
              </a:defRPr>
            </a:lvl3pPr>
            <a:lvl4pPr marL="0" indent="0" algn="ctr">
              <a:spcBef>
                <a:spcPts val="0"/>
              </a:spcBef>
              <a:buSzTx/>
              <a:buNone/>
              <a:defRPr sz="6400">
                <a:solidFill>
                  <a:schemeClr val="accent5">
                    <a:hueOff val="-82419"/>
                    <a:satOff val="-9513"/>
                    <a:lumOff val="-16343"/>
                  </a:schemeClr>
                </a:solidFill>
              </a:defRPr>
            </a:lvl4pPr>
            <a:lvl5pPr marL="0" indent="0" algn="ctr">
              <a:spcBef>
                <a:spcPts val="0"/>
              </a:spcBef>
              <a:buSzTx/>
              <a:buNone/>
              <a:defRPr sz="6400">
                <a:solidFill>
                  <a:schemeClr val="accent5">
                    <a:hueOff val="-82419"/>
                    <a:satOff val="-9513"/>
                    <a:lumOff val="-16343"/>
                  </a:schemeClr>
                </a:solidFill>
              </a:defRPr>
            </a:lvl5p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t>Title Text</a:t>
            </a:r>
          </a:p>
        </p:txBody>
      </p:sp>
      <p:sp>
        <p:nvSpPr>
          <p:cNvPr id="57" name="Body Level One…"/>
          <p:cNvSpPr txBox="1">
            <a:spLocks noGrp="1"/>
          </p:cNvSpPr>
          <p:nvPr>
            <p:ph type="body" idx="1"/>
          </p:nvPr>
        </p:nvSpPr>
        <p:spPr>
          <a:prstGeom prst="rect">
            <a:avLst/>
          </a:prstGeom>
        </p:spPr>
        <p:txBody>
          <a:bodyPr/>
          <a:lstStyle>
            <a:lvl1pPr>
              <a:defRPr sz="4800"/>
            </a:lvl1pPr>
            <a:lvl2pPr>
              <a:defRPr sz="4800"/>
            </a:lvl2pPr>
            <a:lvl3pPr>
              <a:defRPr sz="4800"/>
            </a:lvl3pPr>
            <a:lvl4pPr>
              <a:defRPr sz="4800"/>
            </a:lvl4pPr>
            <a:lvl5pPr>
              <a:defRPr sz="4800"/>
            </a:lvl5p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532205080_1647x1098.jpg"/>
          <p:cNvSpPr>
            <a:spLocks noGrp="1"/>
          </p:cNvSpPr>
          <p:nvPr>
            <p:ph type="pic" sz="half" idx="21"/>
          </p:nvPr>
        </p:nvSpPr>
        <p:spPr>
          <a:xfrm>
            <a:off x="10960100" y="3149600"/>
            <a:ext cx="13944600" cy="9296400"/>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1689100" y="3149600"/>
            <a:ext cx="10223500" cy="9296400"/>
          </a:xfrm>
          <a:prstGeom prst="rect">
            <a:avLst/>
          </a:prstGeom>
        </p:spPr>
        <p:txBody>
          <a:bodyPr/>
          <a:lstStyle>
            <a:lvl1pPr marL="558800" indent="-558800">
              <a:spcBef>
                <a:spcPts val="4500"/>
              </a:spcBef>
              <a:defRPr sz="3800" b="1"/>
            </a:lvl1pPr>
            <a:lvl2pPr marL="1117600" indent="-558800">
              <a:spcBef>
                <a:spcPts val="4500"/>
              </a:spcBef>
              <a:defRPr sz="3800" b="1"/>
            </a:lvl2pPr>
            <a:lvl3pPr marL="1676400" indent="-558800">
              <a:spcBef>
                <a:spcPts val="4500"/>
              </a:spcBef>
              <a:defRPr sz="3800" b="1"/>
            </a:lvl3pPr>
            <a:lvl4pPr marL="2235200" indent="-558800">
              <a:spcBef>
                <a:spcPts val="4500"/>
              </a:spcBef>
              <a:defRPr sz="3800" b="1"/>
            </a:lvl4pPr>
            <a:lvl5pPr marL="2794000" indent="-558800">
              <a:spcBef>
                <a:spcPts val="4500"/>
              </a:spcBef>
              <a:defRPr sz="3800" b="1"/>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1689100" y="1778000"/>
            <a:ext cx="21005800" cy="10160000"/>
          </a:xfrm>
          <a:prstGeom prst="rect">
            <a:avLst/>
          </a:prstGeom>
        </p:spPr>
        <p:txBody>
          <a:bodyPr/>
          <a:lstStyle>
            <a:lvl1pPr>
              <a:defRPr sz="4800"/>
            </a:lvl1pPr>
            <a:lvl2pPr>
              <a:defRPr sz="4800"/>
            </a:lvl2pPr>
            <a:lvl3pPr>
              <a:defRPr sz="4800"/>
            </a:lvl3pPr>
            <a:lvl4pPr>
              <a:defRPr sz="4800"/>
            </a:lvl4pPr>
            <a:lvl5pPr>
              <a:defRPr sz="4800"/>
            </a:lvl5p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532205080_1647x1098.jpg"/>
          <p:cNvSpPr>
            <a:spLocks noGrp="1"/>
          </p:cNvSpPr>
          <p:nvPr>
            <p:ph type="pic" sz="quarter" idx="21"/>
          </p:nvPr>
        </p:nvSpPr>
        <p:spPr>
          <a:xfrm>
            <a:off x="15300325" y="7048500"/>
            <a:ext cx="8324850" cy="5549900"/>
          </a:xfrm>
          <a:prstGeom prst="rect">
            <a:avLst/>
          </a:prstGeom>
        </p:spPr>
        <p:txBody>
          <a:bodyPr lIns="91439" tIns="45719" rIns="91439" bIns="45719" anchor="t">
            <a:noAutofit/>
          </a:bodyPr>
          <a:lstStyle/>
          <a:p>
            <a:endParaRPr/>
          </a:p>
        </p:txBody>
      </p:sp>
      <p:sp>
        <p:nvSpPr>
          <p:cNvPr id="84" name="532204087_1355x1355.jpg"/>
          <p:cNvSpPr>
            <a:spLocks noGrp="1"/>
          </p:cNvSpPr>
          <p:nvPr>
            <p:ph type="pic" sz="quarter" idx="22"/>
          </p:nvPr>
        </p:nvSpPr>
        <p:spPr>
          <a:xfrm>
            <a:off x="15760700" y="863600"/>
            <a:ext cx="7404100" cy="7404100"/>
          </a:xfrm>
          <a:prstGeom prst="rect">
            <a:avLst/>
          </a:prstGeom>
        </p:spPr>
        <p:txBody>
          <a:bodyPr lIns="91439" tIns="45719" rIns="91439" bIns="45719" anchor="t">
            <a:noAutofit/>
          </a:bodyPr>
          <a:lstStyle/>
          <a:p>
            <a:endParaRPr/>
          </a:p>
        </p:txBody>
      </p:sp>
      <p:sp>
        <p:nvSpPr>
          <p:cNvPr id="85" name="532241774_2880x1920.jpg"/>
          <p:cNvSpPr>
            <a:spLocks noGrp="1"/>
          </p:cNvSpPr>
          <p:nvPr>
            <p:ph type="pic" idx="23"/>
          </p:nvPr>
        </p:nvSpPr>
        <p:spPr>
          <a:xfrm>
            <a:off x="-990600" y="1130300"/>
            <a:ext cx="17202150" cy="11468100"/>
          </a:xfrm>
          <a:prstGeom prst="rect">
            <a:avLst/>
          </a:prstGeom>
        </p:spPr>
        <p:txBody>
          <a:bodyPr lIns="91439" tIns="45719" rIns="91439" bIns="45719" anchor="t">
            <a:noAutofit/>
          </a:bodyPr>
          <a:lstStyle/>
          <a:p>
            <a:endParaRP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Johnny Appleseed"/>
          <p:cNvSpPr txBox="1">
            <a:spLocks noGrp="1"/>
          </p:cNvSpPr>
          <p:nvPr>
            <p:ph type="body" sz="quarter" idx="21"/>
          </p:nvPr>
        </p:nvSpPr>
        <p:spPr>
          <a:xfrm>
            <a:off x="2387600" y="8953500"/>
            <a:ext cx="19621500" cy="585521"/>
          </a:xfrm>
          <a:prstGeom prst="rect">
            <a:avLst/>
          </a:prstGeom>
        </p:spPr>
        <p:txBody>
          <a:bodyPr anchor="t">
            <a:spAutoFit/>
          </a:bodyPr>
          <a:lstStyle>
            <a:lvl1pPr marL="0" indent="0" algn="ctr">
              <a:spcBef>
                <a:spcPts val="0"/>
              </a:spcBef>
              <a:buSzTx/>
              <a:buNone/>
              <a:defRPr sz="3200" i="1">
                <a:latin typeface="Helvetica Neue"/>
                <a:ea typeface="Helvetica Neue"/>
                <a:cs typeface="Helvetica Neue"/>
                <a:sym typeface="Helvetica Neue"/>
              </a:defRPr>
            </a:lvl1pPr>
          </a:lstStyle>
          <a:p>
            <a:r>
              <a:t>–Johnny Appleseed</a:t>
            </a:r>
          </a:p>
        </p:txBody>
      </p:sp>
      <p:sp>
        <p:nvSpPr>
          <p:cNvPr id="94" name="“Type a quote here.”"/>
          <p:cNvSpPr txBox="1">
            <a:spLocks noGrp="1"/>
          </p:cNvSpPr>
          <p:nvPr>
            <p:ph type="body" sz="quarter" idx="22"/>
          </p:nvPr>
        </p:nvSpPr>
        <p:spPr>
          <a:xfrm>
            <a:off x="2387600" y="6076950"/>
            <a:ext cx="19621500" cy="825500"/>
          </a:xfrm>
          <a:prstGeom prst="rect">
            <a:avLst/>
          </a:prstGeom>
        </p:spPr>
        <p:txBody>
          <a:bodyPr>
            <a:spAutoFit/>
          </a:bodyPr>
          <a:lstStyle>
            <a:lvl1pPr marL="0" indent="0" algn="ctr">
              <a:spcBef>
                <a:spcPts val="0"/>
              </a:spcBef>
              <a:buSzTx/>
              <a:buNone/>
              <a:defRPr sz="4800">
                <a:latin typeface="Helvetica Neue Medium"/>
                <a:ea typeface="Helvetica Neue Medium"/>
                <a:cs typeface="Helvetica Neue Medium"/>
                <a:sym typeface="Helvetica Neue Medium"/>
              </a:defRPr>
            </a:lvl1pPr>
          </a:lstStyle>
          <a:p>
            <a:r>
              <a:t>“Type a quote here.” </a:t>
            </a:r>
          </a:p>
        </p:txBody>
      </p:sp>
      <p:sp>
        <p:nvSpPr>
          <p:cNvPr id="9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532241774_2880x1920.jpg"/>
          <p:cNvSpPr>
            <a:spLocks noGrp="1"/>
          </p:cNvSpPr>
          <p:nvPr>
            <p:ph type="pic" idx="21"/>
          </p:nvPr>
        </p:nvSpPr>
        <p:spPr>
          <a:xfrm>
            <a:off x="-50800" y="-1270000"/>
            <a:ext cx="24485600" cy="16323734"/>
          </a:xfrm>
          <a:prstGeom prst="rect">
            <a:avLst/>
          </a:prstGeom>
        </p:spPr>
        <p:txBody>
          <a:bodyPr lIns="91439" tIns="45719" rIns="91439" bIns="45719" anchor="t">
            <a:noAutofit/>
          </a:bodyPr>
          <a:lstStyle/>
          <a:p>
            <a:endParaRPr/>
          </a:p>
        </p:txBody>
      </p:sp>
      <p:sp>
        <p:nvSpPr>
          <p:cNvPr id="10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117" name="Title Text"/>
          <p:cNvSpPr txBox="1">
            <a:spLocks noGrp="1"/>
          </p:cNvSpPr>
          <p:nvPr>
            <p:ph type="title"/>
          </p:nvPr>
        </p:nvSpPr>
        <p:spPr>
          <a:xfrm>
            <a:off x="4387453" y="625078"/>
            <a:ext cx="15609094" cy="3036094"/>
          </a:xfrm>
          <a:prstGeom prst="rect">
            <a:avLst/>
          </a:prstGeom>
        </p:spPr>
        <p:txBody>
          <a:bodyPr lIns="71437" tIns="71437" rIns="71437" bIns="71437"/>
          <a:lstStyle>
            <a:lvl1pPr defTabSz="821531">
              <a:defRPr sz="8000" b="1">
                <a:solidFill>
                  <a:srgbClr val="009ACA"/>
                </a:solidFill>
                <a:latin typeface="Helvetica"/>
                <a:ea typeface="Helvetica"/>
                <a:cs typeface="Helvetica"/>
                <a:sym typeface="Helvetica"/>
              </a:defRPr>
            </a:lvl1pPr>
          </a:lstStyle>
          <a:p>
            <a:r>
              <a:t>Title Text</a:t>
            </a:r>
          </a:p>
        </p:txBody>
      </p:sp>
      <p:sp>
        <p:nvSpPr>
          <p:cNvPr id="118" name="Body Level One…"/>
          <p:cNvSpPr txBox="1">
            <a:spLocks noGrp="1"/>
          </p:cNvSpPr>
          <p:nvPr>
            <p:ph type="body" idx="1"/>
          </p:nvPr>
        </p:nvSpPr>
        <p:spPr>
          <a:xfrm>
            <a:off x="4387453" y="3661171"/>
            <a:ext cx="15609094" cy="8840392"/>
          </a:xfrm>
          <a:prstGeom prst="rect">
            <a:avLst/>
          </a:prstGeom>
        </p:spPr>
        <p:txBody>
          <a:bodyPr lIns="71437" tIns="71437" rIns="71437" bIns="71437"/>
          <a:lstStyle>
            <a:lvl1pPr marL="617361" indent="-617361" defTabSz="821531">
              <a:spcBef>
                <a:spcPts val="0"/>
              </a:spcBef>
              <a:buSzPct val="75000"/>
              <a:defRPr sz="5000">
                <a:latin typeface="Helvetica"/>
                <a:ea typeface="Helvetica"/>
                <a:cs typeface="Helvetica"/>
                <a:sym typeface="Helvetica"/>
              </a:defRPr>
            </a:lvl1pPr>
            <a:lvl2pPr marL="1061861" indent="-617361" defTabSz="821531">
              <a:spcBef>
                <a:spcPts val="0"/>
              </a:spcBef>
              <a:buSzPct val="75000"/>
              <a:defRPr sz="5000">
                <a:latin typeface="Helvetica"/>
                <a:ea typeface="Helvetica"/>
                <a:cs typeface="Helvetica"/>
                <a:sym typeface="Helvetica"/>
              </a:defRPr>
            </a:lvl2pPr>
            <a:lvl3pPr marL="1506361" indent="-617361" defTabSz="821531">
              <a:spcBef>
                <a:spcPts val="0"/>
              </a:spcBef>
              <a:buSzPct val="75000"/>
              <a:defRPr sz="5000">
                <a:latin typeface="Helvetica"/>
                <a:ea typeface="Helvetica"/>
                <a:cs typeface="Helvetica"/>
                <a:sym typeface="Helvetica"/>
              </a:defRPr>
            </a:lvl3pPr>
            <a:lvl4pPr marL="1950861" indent="-617361" defTabSz="821531">
              <a:spcBef>
                <a:spcPts val="0"/>
              </a:spcBef>
              <a:buSzPct val="75000"/>
              <a:defRPr sz="5000">
                <a:latin typeface="Helvetica"/>
                <a:ea typeface="Helvetica"/>
                <a:cs typeface="Helvetica"/>
                <a:sym typeface="Helvetica"/>
              </a:defRPr>
            </a:lvl4pPr>
            <a:lvl5pPr marL="2395361" indent="-617361" defTabSz="821531">
              <a:spcBef>
                <a:spcPts val="0"/>
              </a:spcBef>
              <a:buSzPct val="75000"/>
              <a:defRPr sz="5000">
                <a:latin typeface="Helvetica"/>
                <a:ea typeface="Helvetica"/>
                <a:cs typeface="Helvetica"/>
                <a:sym typeface="Helvetica"/>
              </a:defRPr>
            </a:lvl5pPr>
          </a:lstStyle>
          <a:p>
            <a:r>
              <a:t>Body Level One</a:t>
            </a:r>
          </a:p>
          <a:p>
            <a:pPr lvl="1"/>
            <a:r>
              <a:t>Body Level Two</a:t>
            </a:r>
          </a:p>
          <a:p>
            <a:pPr lvl="2"/>
            <a:r>
              <a:t>Body Level Three</a:t>
            </a:r>
          </a:p>
          <a:p>
            <a:pPr lvl="3"/>
            <a:r>
              <a:t>Body Level Four</a:t>
            </a:r>
          </a:p>
          <a:p>
            <a:pPr lvl="4"/>
            <a:r>
              <a:t>Body Level Five</a:t>
            </a:r>
          </a:p>
        </p:txBody>
      </p:sp>
      <p:sp>
        <p:nvSpPr>
          <p:cNvPr id="119" name="Slide Number"/>
          <p:cNvSpPr txBox="1">
            <a:spLocks noGrp="1"/>
          </p:cNvSpPr>
          <p:nvPr>
            <p:ph type="sldNum" sz="quarter" idx="2"/>
          </p:nvPr>
        </p:nvSpPr>
        <p:spPr>
          <a:xfrm>
            <a:off x="11935814" y="13010554"/>
            <a:ext cx="494513" cy="511176"/>
          </a:xfrm>
          <a:prstGeom prst="rect">
            <a:avLst/>
          </a:prstGeom>
        </p:spPr>
        <p:txBody>
          <a:bodyPr lIns="71437" tIns="71437" rIns="71437" bIns="71437"/>
          <a:lstStyle>
            <a:lvl1pPr defTabSz="821531">
              <a:defRPr>
                <a:latin typeface="Helvetica Light"/>
                <a:ea typeface="Helvetica Light"/>
                <a:cs typeface="Helvetica Light"/>
                <a:sym typeface="Helvetica Light"/>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689100" y="355600"/>
            <a:ext cx="21005800" cy="2286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p>
            <a:r>
              <a:t>Title Text</a:t>
            </a:r>
          </a:p>
        </p:txBody>
      </p:sp>
      <p:sp>
        <p:nvSpPr>
          <p:cNvPr id="3" name="Body Level One…"/>
          <p:cNvSpPr txBox="1">
            <a:spLocks noGrp="1"/>
          </p:cNvSpPr>
          <p:nvPr>
            <p:ph type="body" idx="1"/>
          </p:nvPr>
        </p:nvSpPr>
        <p:spPr>
          <a:xfrm>
            <a:off x="1689100" y="3149600"/>
            <a:ext cx="21005800" cy="9296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1959031" y="13081000"/>
            <a:ext cx="453238" cy="461059"/>
          </a:xfrm>
          <a:prstGeom prst="rect">
            <a:avLst/>
          </a:prstGeom>
          <a:ln w="12700">
            <a:miter lim="400000"/>
          </a:ln>
        </p:spPr>
        <p:txBody>
          <a:bodyPr wrap="none" lIns="50800" tIns="50800" rIns="50800" bIns="50800">
            <a:spAutoFit/>
          </a:bodyPr>
          <a:lstStyle>
            <a:lvl1pPr>
              <a:defRPr sz="2400" b="0">
                <a:latin typeface="Helvetica Neue Light"/>
                <a:ea typeface="Helvetica Neue Light"/>
                <a:cs typeface="Helvetica Neue Light"/>
                <a:sym typeface="Helvetica Neue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ransition spd="med"/>
  <p:txStyles>
    <p:titleStyle>
      <a:lvl1pPr marL="0" marR="0" indent="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Georgia"/>
        </a:defRPr>
      </a:lvl1pPr>
      <a:lvl2pPr marL="0" marR="0" indent="4572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Georgia"/>
        </a:defRPr>
      </a:lvl2pPr>
      <a:lvl3pPr marL="0" marR="0" indent="9144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Georgia"/>
        </a:defRPr>
      </a:lvl3pPr>
      <a:lvl4pPr marL="0" marR="0" indent="13716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Georgia"/>
        </a:defRPr>
      </a:lvl4pPr>
      <a:lvl5pPr marL="0" marR="0" indent="18288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Georgia"/>
        </a:defRPr>
      </a:lvl5pPr>
      <a:lvl6pPr marL="0" marR="0" indent="22860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Georgia"/>
        </a:defRPr>
      </a:lvl6pPr>
      <a:lvl7pPr marL="0" marR="0" indent="27432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Georgia"/>
        </a:defRPr>
      </a:lvl7pPr>
      <a:lvl8pPr marL="0" marR="0" indent="32004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Georgia"/>
        </a:defRPr>
      </a:lvl8pPr>
      <a:lvl9pPr marL="0" marR="0" indent="36576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Georgia"/>
        </a:defRPr>
      </a:lvl9pPr>
    </p:titleStyle>
    <p:bodyStyle>
      <a:lvl1pPr marL="635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mn-lt"/>
          <a:ea typeface="+mn-ea"/>
          <a:cs typeface="+mn-cs"/>
          <a:sym typeface="Georgia"/>
        </a:defRPr>
      </a:lvl1pPr>
      <a:lvl2pPr marL="1270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mn-lt"/>
          <a:ea typeface="+mn-ea"/>
          <a:cs typeface="+mn-cs"/>
          <a:sym typeface="Georgia"/>
        </a:defRPr>
      </a:lvl2pPr>
      <a:lvl3pPr marL="1905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mn-lt"/>
          <a:ea typeface="+mn-ea"/>
          <a:cs typeface="+mn-cs"/>
          <a:sym typeface="Georgia"/>
        </a:defRPr>
      </a:lvl3pPr>
      <a:lvl4pPr marL="2540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mn-lt"/>
          <a:ea typeface="+mn-ea"/>
          <a:cs typeface="+mn-cs"/>
          <a:sym typeface="Georgia"/>
        </a:defRPr>
      </a:lvl4pPr>
      <a:lvl5pPr marL="3175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mn-lt"/>
          <a:ea typeface="+mn-ea"/>
          <a:cs typeface="+mn-cs"/>
          <a:sym typeface="Georgia"/>
        </a:defRPr>
      </a:lvl5pPr>
      <a:lvl6pPr marL="3810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mn-lt"/>
          <a:ea typeface="+mn-ea"/>
          <a:cs typeface="+mn-cs"/>
          <a:sym typeface="Georgia"/>
        </a:defRPr>
      </a:lvl6pPr>
      <a:lvl7pPr marL="4445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mn-lt"/>
          <a:ea typeface="+mn-ea"/>
          <a:cs typeface="+mn-cs"/>
          <a:sym typeface="Georgia"/>
        </a:defRPr>
      </a:lvl7pPr>
      <a:lvl8pPr marL="5080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mn-lt"/>
          <a:ea typeface="+mn-ea"/>
          <a:cs typeface="+mn-cs"/>
          <a:sym typeface="Georgia"/>
        </a:defRPr>
      </a:lvl8pPr>
      <a:lvl9pPr marL="5715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mn-lt"/>
          <a:ea typeface="+mn-ea"/>
          <a:cs typeface="+mn-cs"/>
          <a:sym typeface="Georgia"/>
        </a:defRPr>
      </a:lvl9pPr>
    </p:bodyStyle>
    <p:otherStyle>
      <a:lvl1pPr marL="0" marR="0" indent="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1pPr>
      <a:lvl2pPr marL="0" marR="0" indent="4572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2pPr>
      <a:lvl3pPr marL="0" marR="0" indent="9144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3pPr>
      <a:lvl4pPr marL="0" marR="0" indent="13716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4pPr>
      <a:lvl5pPr marL="0" marR="0" indent="18288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5pPr>
      <a:lvl6pPr marL="0" marR="0" indent="22860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6pPr>
      <a:lvl7pPr marL="0" marR="0" indent="27432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7pPr>
      <a:lvl8pPr marL="0" marR="0" indent="32004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8pPr>
      <a:lvl9pPr marL="0" marR="0" indent="36576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2.tif"/><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2.tif"/><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3.tif"/><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6.tif"/><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8.tif"/><Relationship Id="rId2" Type="http://schemas.openxmlformats.org/officeDocument/2006/relationships/image" Target="../media/image7.tif"/><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CSE 331: Computer Security Fundamentals…"/>
          <p:cNvSpPr txBox="1">
            <a:spLocks noGrp="1"/>
          </p:cNvSpPr>
          <p:nvPr>
            <p:ph type="ctrTitle"/>
          </p:nvPr>
        </p:nvSpPr>
        <p:spPr>
          <a:xfrm>
            <a:off x="1778000" y="859135"/>
            <a:ext cx="20828000" cy="4648201"/>
          </a:xfrm>
          <a:prstGeom prst="rect">
            <a:avLst/>
          </a:prstGeom>
        </p:spPr>
        <p:txBody>
          <a:bodyPr>
            <a:normAutofit fontScale="90000"/>
          </a:bodyPr>
          <a:lstStyle/>
          <a:p>
            <a:pPr>
              <a:defRPr b="1"/>
            </a:pPr>
            <a:r>
              <a:rPr dirty="0"/>
              <a:t>CSE 331: Computer Security Fundamentals</a:t>
            </a:r>
          </a:p>
          <a:p>
            <a:pPr>
              <a:defRPr sz="8400"/>
            </a:pPr>
            <a:r>
              <a:rPr lang="en-US"/>
              <a:t>S</a:t>
            </a:r>
            <a:r>
              <a:rPr lang="en-US" altLang="zh-CN"/>
              <a:t>pring 2026</a:t>
            </a:r>
            <a:endParaRPr dirty="0"/>
          </a:p>
        </p:txBody>
      </p:sp>
      <p:sp>
        <p:nvSpPr>
          <p:cNvPr id="155" name="Class Overview"/>
          <p:cNvSpPr txBox="1">
            <a:spLocks noGrp="1"/>
          </p:cNvSpPr>
          <p:nvPr>
            <p:ph type="subTitle" sz="quarter" idx="1"/>
          </p:nvPr>
        </p:nvSpPr>
        <p:spPr>
          <a:xfrm>
            <a:off x="1778000" y="6064250"/>
            <a:ext cx="20828000" cy="1587500"/>
          </a:xfrm>
          <a:prstGeom prst="rect">
            <a:avLst/>
          </a:prstGeom>
        </p:spPr>
        <p:txBody>
          <a:bodyPr/>
          <a:lstStyle/>
          <a:p>
            <a:r>
              <a:t>Class Overview</a:t>
            </a:r>
          </a:p>
        </p:txBody>
      </p:sp>
      <p:sp>
        <p:nvSpPr>
          <p:cNvPr id="2" name="Amir Rahmati">
            <a:extLst>
              <a:ext uri="{FF2B5EF4-FFF2-40B4-BE49-F238E27FC236}">
                <a16:creationId xmlns:a16="http://schemas.microsoft.com/office/drawing/2014/main" id="{79F21180-6A42-A971-F331-172321048FC2}"/>
              </a:ext>
            </a:extLst>
          </p:cNvPr>
          <p:cNvSpPr txBox="1"/>
          <p:nvPr/>
        </p:nvSpPr>
        <p:spPr>
          <a:xfrm>
            <a:off x="8743140" y="7719526"/>
            <a:ext cx="6897721" cy="26879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8400" b="0">
                <a:latin typeface="+mn-lt"/>
                <a:ea typeface="+mn-ea"/>
                <a:cs typeface="+mn-cs"/>
                <a:sym typeface="Georgia"/>
              </a:defRPr>
            </a:lvl1pPr>
          </a:lstStyle>
          <a:p>
            <a:r>
              <a:rPr dirty="0"/>
              <a:t>Amir Rahmati</a:t>
            </a:r>
            <a:endParaRPr lang="en-US" dirty="0"/>
          </a:p>
          <a:p>
            <a:r>
              <a:rPr lang="en-US" dirty="0"/>
              <a:t>X</a:t>
            </a:r>
            <a:r>
              <a:rPr lang="en-US" altLang="zh-CN" dirty="0"/>
              <a:t>inrui Yu</a:t>
            </a:r>
            <a:endParaRPr dirty="0"/>
          </a:p>
        </p:txBody>
      </p:sp>
      <p:pic>
        <p:nvPicPr>
          <p:cNvPr id="3" name="그림 1" descr="Text, letter&#10;&#10;Description automatically generated">
            <a:extLst>
              <a:ext uri="{FF2B5EF4-FFF2-40B4-BE49-F238E27FC236}">
                <a16:creationId xmlns:a16="http://schemas.microsoft.com/office/drawing/2014/main" id="{30057B31-C40D-5037-C8AD-D2765F7B70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77404" y="10780017"/>
            <a:ext cx="5629192" cy="2076848"/>
          </a:xfrm>
          <a:prstGeom prst="rect">
            <a:avLst/>
          </a:prstGeom>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Join the Class on Teams! </a:t>
            </a:r>
            <a:endParaRPr lang="zh-CN" altLang="en-US" dirty="0"/>
          </a:p>
        </p:txBody>
      </p:sp>
      <p:sp>
        <p:nvSpPr>
          <p:cNvPr id="5" name="Confidentiality: the property, that information is not made available or disclosed to unauthorized individuals, entities, or processes…"/>
          <p:cNvSpPr txBox="1">
            <a:spLocks/>
          </p:cNvSpPr>
          <p:nvPr/>
        </p:nvSpPr>
        <p:spPr>
          <a:xfrm>
            <a:off x="2955235" y="3661171"/>
            <a:ext cx="18606052" cy="88403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7" tIns="71437" rIns="71437" bIns="71437" anchor="ctr">
            <a:normAutofit lnSpcReduction="10000"/>
          </a:bodyPr>
          <a:lstStyle>
            <a:lvl1pPr marL="617361" marR="0" indent="-617361" algn="l" defTabSz="821531" latinLnBrk="0">
              <a:lnSpc>
                <a:spcPct val="100000"/>
              </a:lnSpc>
              <a:spcBef>
                <a:spcPts val="0"/>
              </a:spcBef>
              <a:spcAft>
                <a:spcPts val="0"/>
              </a:spcAft>
              <a:buClrTx/>
              <a:buSzPct val="75000"/>
              <a:buFontTx/>
              <a:buChar char="•"/>
              <a:tabLst/>
              <a:defRPr sz="5000" b="0" i="0" u="none" strike="noStrike" cap="none" spc="0" baseline="0">
                <a:solidFill>
                  <a:srgbClr val="000000"/>
                </a:solidFill>
                <a:uFillTx/>
                <a:latin typeface="Helvetica"/>
                <a:ea typeface="Helvetica"/>
                <a:cs typeface="Helvetica"/>
                <a:sym typeface="Helvetica"/>
              </a:defRPr>
            </a:lvl1pPr>
            <a:lvl2pPr marL="1061861" marR="0" indent="-617361" algn="l" defTabSz="821531" latinLnBrk="0">
              <a:lnSpc>
                <a:spcPct val="100000"/>
              </a:lnSpc>
              <a:spcBef>
                <a:spcPts val="0"/>
              </a:spcBef>
              <a:spcAft>
                <a:spcPts val="0"/>
              </a:spcAft>
              <a:buClrTx/>
              <a:buSzPct val="75000"/>
              <a:buFontTx/>
              <a:buChar char="•"/>
              <a:tabLst/>
              <a:defRPr sz="5000" b="0" i="0" u="none" strike="noStrike" cap="none" spc="0" baseline="0">
                <a:solidFill>
                  <a:srgbClr val="000000"/>
                </a:solidFill>
                <a:uFillTx/>
                <a:latin typeface="Helvetica"/>
                <a:ea typeface="Helvetica"/>
                <a:cs typeface="Helvetica"/>
                <a:sym typeface="Helvetica"/>
              </a:defRPr>
            </a:lvl2pPr>
            <a:lvl3pPr marL="1506361" marR="0" indent="-617361" algn="l" defTabSz="821531" latinLnBrk="0">
              <a:lnSpc>
                <a:spcPct val="100000"/>
              </a:lnSpc>
              <a:spcBef>
                <a:spcPts val="0"/>
              </a:spcBef>
              <a:spcAft>
                <a:spcPts val="0"/>
              </a:spcAft>
              <a:buClrTx/>
              <a:buSzPct val="75000"/>
              <a:buFontTx/>
              <a:buChar char="•"/>
              <a:tabLst/>
              <a:defRPr sz="5000" b="0" i="0" u="none" strike="noStrike" cap="none" spc="0" baseline="0">
                <a:solidFill>
                  <a:srgbClr val="000000"/>
                </a:solidFill>
                <a:uFillTx/>
                <a:latin typeface="Helvetica"/>
                <a:ea typeface="Helvetica"/>
                <a:cs typeface="Helvetica"/>
                <a:sym typeface="Helvetica"/>
              </a:defRPr>
            </a:lvl3pPr>
            <a:lvl4pPr marL="1950861" marR="0" indent="-617361" algn="l" defTabSz="821531" latinLnBrk="0">
              <a:lnSpc>
                <a:spcPct val="100000"/>
              </a:lnSpc>
              <a:spcBef>
                <a:spcPts val="0"/>
              </a:spcBef>
              <a:spcAft>
                <a:spcPts val="0"/>
              </a:spcAft>
              <a:buClrTx/>
              <a:buSzPct val="75000"/>
              <a:buFontTx/>
              <a:buChar char="•"/>
              <a:tabLst/>
              <a:defRPr sz="5000" b="0" i="0" u="none" strike="noStrike" cap="none" spc="0" baseline="0">
                <a:solidFill>
                  <a:srgbClr val="000000"/>
                </a:solidFill>
                <a:uFillTx/>
                <a:latin typeface="Helvetica"/>
                <a:ea typeface="Helvetica"/>
                <a:cs typeface="Helvetica"/>
                <a:sym typeface="Helvetica"/>
              </a:defRPr>
            </a:lvl4pPr>
            <a:lvl5pPr marL="2395361" marR="0" indent="-617361" algn="l" defTabSz="821531" latinLnBrk="0">
              <a:lnSpc>
                <a:spcPct val="100000"/>
              </a:lnSpc>
              <a:spcBef>
                <a:spcPts val="0"/>
              </a:spcBef>
              <a:spcAft>
                <a:spcPts val="0"/>
              </a:spcAft>
              <a:buClrTx/>
              <a:buSzPct val="75000"/>
              <a:buFontTx/>
              <a:buChar char="•"/>
              <a:tabLst/>
              <a:defRPr sz="5000" b="0" i="0" u="none" strike="noStrike" cap="none" spc="0" baseline="0">
                <a:solidFill>
                  <a:srgbClr val="000000"/>
                </a:solidFill>
                <a:uFillTx/>
                <a:latin typeface="Helvetica"/>
                <a:ea typeface="Helvetica"/>
                <a:cs typeface="Helvetica"/>
                <a:sym typeface="Helvetica"/>
              </a:defRPr>
            </a:lvl5pPr>
            <a:lvl6pPr marL="3810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mn-lt"/>
                <a:ea typeface="+mn-ea"/>
                <a:cs typeface="+mn-cs"/>
                <a:sym typeface="Georgia"/>
              </a:defRPr>
            </a:lvl6pPr>
            <a:lvl7pPr marL="4445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mn-lt"/>
                <a:ea typeface="+mn-ea"/>
                <a:cs typeface="+mn-cs"/>
                <a:sym typeface="Georgia"/>
              </a:defRPr>
            </a:lvl7pPr>
            <a:lvl8pPr marL="5080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mn-lt"/>
                <a:ea typeface="+mn-ea"/>
                <a:cs typeface="+mn-cs"/>
                <a:sym typeface="Georgia"/>
              </a:defRPr>
            </a:lvl8pPr>
            <a:lvl9pPr marL="5715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mn-lt"/>
                <a:ea typeface="+mn-ea"/>
                <a:cs typeface="+mn-cs"/>
                <a:sym typeface="Georgia"/>
              </a:defRPr>
            </a:lvl9pPr>
          </a:lstStyle>
          <a:p>
            <a:pPr marL="0" indent="0" algn="ctr" hangingPunct="1">
              <a:buNone/>
              <a:defRPr>
                <a:latin typeface="+mn-lt"/>
                <a:ea typeface="+mn-ea"/>
                <a:cs typeface="+mn-cs"/>
                <a:sym typeface="Georgia"/>
              </a:defRPr>
            </a:pPr>
            <a:r>
              <a:rPr lang="en-US" b="1" dirty="0">
                <a:solidFill>
                  <a:srgbClr val="C82506"/>
                </a:solidFill>
                <a:latin typeface="+mn-lt"/>
                <a:ea typeface="+mn-ea"/>
                <a:cs typeface="+mn-cs"/>
                <a:sym typeface="Georgia"/>
              </a:rPr>
              <a:t>Invitation code:</a:t>
            </a:r>
            <a:br>
              <a:rPr lang="en-US" b="1" dirty="0">
                <a:solidFill>
                  <a:srgbClr val="C82506"/>
                </a:solidFill>
                <a:latin typeface="+mn-lt"/>
                <a:ea typeface="+mn-ea"/>
                <a:cs typeface="+mn-cs"/>
                <a:sym typeface="Georgia"/>
              </a:rPr>
            </a:br>
            <a:r>
              <a:rPr lang="en-US" altLang="zh-CN" sz="15000" dirty="0">
                <a:latin typeface="Arial" panose="020B0604020202020204" pitchFamily="34" charset="0"/>
                <a:cs typeface="Arial" panose="020B0604020202020204" pitchFamily="34" charset="0"/>
                <a:sym typeface="Georgia"/>
              </a:rPr>
              <a:t>bc83shx</a:t>
            </a:r>
          </a:p>
          <a:p>
            <a:pPr marL="0" indent="0" algn="ctr" hangingPunct="1">
              <a:buNone/>
              <a:defRPr>
                <a:latin typeface="+mn-lt"/>
                <a:ea typeface="+mn-ea"/>
                <a:cs typeface="+mn-cs"/>
                <a:sym typeface="Georgia"/>
              </a:defRPr>
            </a:pPr>
            <a:endParaRPr lang="en-US" altLang="zh-CN" sz="4400" dirty="0">
              <a:sym typeface="Georgia"/>
            </a:endParaRPr>
          </a:p>
          <a:p>
            <a:pPr>
              <a:lnSpc>
                <a:spcPct val="150000"/>
              </a:lnSpc>
            </a:pPr>
            <a:r>
              <a:rPr lang="en-US" altLang="zh-CN" dirty="0"/>
              <a:t>Everything is on Teams: Syllabus, Textbook, Slides, Homework</a:t>
            </a:r>
          </a:p>
          <a:p>
            <a:pPr>
              <a:lnSpc>
                <a:spcPct val="150000"/>
              </a:lnSpc>
            </a:pPr>
            <a:r>
              <a:rPr lang="en-US" altLang="zh-CN" dirty="0"/>
              <a:t>Slides will be uploaded after each class. </a:t>
            </a:r>
          </a:p>
          <a:p>
            <a:pPr>
              <a:lnSpc>
                <a:spcPct val="150000"/>
              </a:lnSpc>
            </a:pPr>
            <a:endParaRPr lang="en-US" altLang="zh-CN" dirty="0"/>
          </a:p>
          <a:p>
            <a:pPr>
              <a:lnSpc>
                <a:spcPct val="150000"/>
              </a:lnSpc>
            </a:pPr>
            <a:r>
              <a:rPr lang="en-US" altLang="zh-CN" dirty="0"/>
              <a:t>If you have questions, send me a message on Teams</a:t>
            </a:r>
          </a:p>
          <a:p>
            <a:pPr marL="0" indent="0">
              <a:lnSpc>
                <a:spcPct val="150000"/>
              </a:lnSpc>
              <a:buNone/>
            </a:pPr>
            <a:r>
              <a:rPr lang="en-US" altLang="zh-CN" b="1" dirty="0"/>
              <a:t>Check your Teams often!</a:t>
            </a:r>
          </a:p>
          <a:p>
            <a:pPr hangingPunct="1">
              <a:defRPr>
                <a:latin typeface="+mn-lt"/>
                <a:ea typeface="+mn-ea"/>
                <a:cs typeface="+mn-cs"/>
                <a:sym typeface="Georgia"/>
              </a:defRPr>
            </a:pPr>
            <a:endParaRPr lang="en-US" dirty="0">
              <a:latin typeface="+mn-lt"/>
              <a:ea typeface="+mn-ea"/>
              <a:cs typeface="+mn-cs"/>
              <a:sym typeface="Georgia"/>
            </a:endParaRPr>
          </a:p>
        </p:txBody>
      </p:sp>
    </p:spTree>
    <p:extLst>
      <p:ext uri="{BB962C8B-B14F-4D97-AF65-F5344CB8AC3E}">
        <p14:creationId xmlns:p14="http://schemas.microsoft.com/office/powerpoint/2010/main" val="237337964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fill="hold" grpId="0" nodeType="clickEffect">
                                  <p:stCondLst>
                                    <p:cond delay="0"/>
                                  </p:stCondLst>
                                  <p:iterate>
                                    <p:tmAbs val="0"/>
                                  </p:iterate>
                                  <p:childTnLst>
                                    <p:set>
                                      <p:cBhvr>
                                        <p:cTn id="6" fill="hold"/>
                                        <p:tgtEl>
                                          <p:spTgt spid="5">
                                            <p:bg/>
                                          </p:spTgt>
                                        </p:tgtEl>
                                        <p:attrNameLst>
                                          <p:attrName>style.visibility</p:attrName>
                                        </p:attrNameLst>
                                      </p:cBhvr>
                                      <p:to>
                                        <p:strVal val="visible"/>
                                      </p:to>
                                    </p:set>
                                    <p:animEffect transition="in" filter="fade">
                                      <p:cBhvr>
                                        <p:cTn id="7" dur="1000"/>
                                        <p:tgtEl>
                                          <p:spTgt spid="5">
                                            <p:bg/>
                                          </p:spTgt>
                                        </p:tgtEl>
                                      </p:cBhvr>
                                    </p:animEffect>
                                  </p:childTnLst>
                                </p:cTn>
                              </p:par>
                              <p:par>
                                <p:cTn id="8" presetID="10" presetClass="entr" presetSubtype="0" fill="hold" grpId="0" nodeType="withEffect">
                                  <p:stCondLst>
                                    <p:cond delay="0"/>
                                  </p:stCondLst>
                                  <p:iterate>
                                    <p:tmAbs val="0"/>
                                  </p:iterate>
                                  <p:childTnLst>
                                    <p:set>
                                      <p:cBhvr>
                                        <p:cTn id="9" fill="hold"/>
                                        <p:tgtEl>
                                          <p:spTgt spid="5">
                                            <p:txEl>
                                              <p:pRg st="0" end="0"/>
                                            </p:txEl>
                                          </p:spTgt>
                                        </p:tgtEl>
                                        <p:attrNameLst>
                                          <p:attrName>style.visibility</p:attrName>
                                        </p:attrNameLst>
                                      </p:cBhvr>
                                      <p:to>
                                        <p:strVal val="visible"/>
                                      </p:to>
                                    </p:set>
                                    <p:animEffect transition="in" filter="fade">
                                      <p:cBhvr>
                                        <p:cTn id="10" dur="1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5" animBg="1" advAuto="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 name="How do you define Computer Security?"/>
          <p:cNvSpPr txBox="1">
            <a:spLocks noGrp="1"/>
          </p:cNvSpPr>
          <p:nvPr>
            <p:ph type="title"/>
          </p:nvPr>
        </p:nvSpPr>
        <p:spPr>
          <a:prstGeom prst="rect">
            <a:avLst/>
          </a:prstGeom>
        </p:spPr>
        <p:txBody>
          <a:bodyPr>
            <a:normAutofit fontScale="90000"/>
          </a:bodyPr>
          <a:lstStyle>
            <a:lvl1pPr defTabSz="742950">
              <a:defRPr sz="10080" b="0">
                <a:solidFill>
                  <a:srgbClr val="000000"/>
                </a:solidFill>
                <a:latin typeface="+mn-lt"/>
                <a:ea typeface="+mn-ea"/>
                <a:cs typeface="+mn-cs"/>
                <a:sym typeface="Georgia"/>
              </a:defRPr>
            </a:lvl1pPr>
          </a:lstStyle>
          <a:p>
            <a:r>
              <a:t>How do you define Computer Security?</a:t>
            </a:r>
          </a:p>
        </p:txBody>
      </p:sp>
      <p:sp>
        <p:nvSpPr>
          <p:cNvPr id="326" name="“Computer security studies how systems can achieve their goal in the presence of an adversary.”"/>
          <p:cNvSpPr txBox="1"/>
          <p:nvPr/>
        </p:nvSpPr>
        <p:spPr>
          <a:xfrm>
            <a:off x="5828474" y="4216041"/>
            <a:ext cx="12727052" cy="29241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7" tIns="71437" rIns="71437" bIns="71437" anchor="ctr">
            <a:spAutoFit/>
          </a:bodyPr>
          <a:lstStyle/>
          <a:p>
            <a:pPr defTabSz="821531">
              <a:defRPr sz="6400" b="0">
                <a:latin typeface="+mn-lt"/>
                <a:ea typeface="+mn-ea"/>
                <a:cs typeface="+mn-cs"/>
                <a:sym typeface="Georgia"/>
              </a:defRPr>
            </a:pPr>
            <a:r>
              <a:t>“Computer security studies how systems can achieve their goal in the presence of an </a:t>
            </a:r>
            <a:r>
              <a:rPr>
                <a:solidFill>
                  <a:srgbClr val="C82506"/>
                </a:solidFill>
              </a:rPr>
              <a:t>adversary</a:t>
            </a:r>
            <a:r>
              <a:t>.”</a:t>
            </a:r>
          </a:p>
        </p:txBody>
      </p:sp>
      <p:sp>
        <p:nvSpPr>
          <p:cNvPr id="327" name="An intelligence that actively tries to cause the system to misbehave."/>
          <p:cNvSpPr txBox="1"/>
          <p:nvPr/>
        </p:nvSpPr>
        <p:spPr>
          <a:xfrm>
            <a:off x="9370577" y="8861895"/>
            <a:ext cx="10296566" cy="16414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7" tIns="71437" rIns="71437" bIns="71437" anchor="ctr">
            <a:spAutoFit/>
          </a:bodyPr>
          <a:lstStyle>
            <a:lvl1pPr defTabSz="821531">
              <a:defRPr sz="5200" b="0">
                <a:solidFill>
                  <a:srgbClr val="C82506"/>
                </a:solidFill>
                <a:latin typeface="+mn-lt"/>
                <a:ea typeface="+mn-ea"/>
                <a:cs typeface="+mn-cs"/>
                <a:sym typeface="Georgia"/>
              </a:defRPr>
            </a:lvl1pPr>
          </a:lstStyle>
          <a:p>
            <a:r>
              <a:t>An intelligence that actively tries to cause the system to misbehave.</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0" nodeType="clickEffect">
                                  <p:stCondLst>
                                    <p:cond delay="0"/>
                                  </p:stCondLst>
                                  <p:iterate>
                                    <p:tmAbs val="0"/>
                                  </p:iterate>
                                  <p:childTnLst>
                                    <p:set>
                                      <p:cBhvr>
                                        <p:cTn id="6" fill="hold"/>
                                        <p:tgtEl>
                                          <p:spTgt spid="326"/>
                                        </p:tgtEl>
                                        <p:attrNameLst>
                                          <p:attrName>style.visibility</p:attrName>
                                        </p:attrNameLst>
                                      </p:cBhvr>
                                      <p:to>
                                        <p:strVal val="visible"/>
                                      </p:to>
                                    </p:set>
                                    <p:animEffect transition="in" filter="fade">
                                      <p:cBhvr>
                                        <p:cTn id="7" dur="1000"/>
                                        <p:tgtEl>
                                          <p:spTgt spid="3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grpId="0" nodeType="clickEffect">
                                  <p:stCondLst>
                                    <p:cond delay="0"/>
                                  </p:stCondLst>
                                  <p:iterate>
                                    <p:tmAbs val="0"/>
                                  </p:iterate>
                                  <p:childTnLst>
                                    <p:set>
                                      <p:cBhvr>
                                        <p:cTn id="11" fill="hold"/>
                                        <p:tgtEl>
                                          <p:spTgt spid="327"/>
                                        </p:tgtEl>
                                        <p:attrNameLst>
                                          <p:attrName>style.visibility</p:attrName>
                                        </p:attrNameLst>
                                      </p:cBhvr>
                                      <p:to>
                                        <p:strVal val="visible"/>
                                      </p:to>
                                    </p:set>
                                    <p:animEffect transition="in" filter="fade">
                                      <p:cBhvr>
                                        <p:cTn id="12" dur="1000"/>
                                        <p:tgtEl>
                                          <p:spTgt spid="3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6" grpId="0" animBg="1" advAuto="0"/>
      <p:bldP spid="327" grpId="0" animBg="1" advAuto="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 name="Slide Number"/>
          <p:cNvSpPr txBox="1">
            <a:spLocks noGrp="1"/>
          </p:cNvSpPr>
          <p:nvPr>
            <p:ph type="sldNum" sz="quarter" idx="4294967295"/>
          </p:nvPr>
        </p:nvSpPr>
        <p:spPr>
          <a:xfrm>
            <a:off x="11935814" y="13010554"/>
            <a:ext cx="494513" cy="51117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7" tIns="71437" rIns="71437" bIns="71437"/>
          <a:lstStyle>
            <a:lvl1pPr defTabSz="821531">
              <a:defRPr>
                <a:latin typeface="Helvetica Light"/>
                <a:ea typeface="Helvetica Light"/>
                <a:cs typeface="Helvetica Light"/>
                <a:sym typeface="Helvetica Light"/>
              </a:defRPr>
            </a:lvl1pPr>
          </a:lstStyle>
          <a:p>
            <a:fld id="{86CB4B4D-7CA3-9044-876B-883B54F8677D}" type="slidenum">
              <a:rPr/>
              <a:t>4</a:t>
            </a:fld>
            <a:endParaRPr/>
          </a:p>
        </p:txBody>
      </p:sp>
      <p:sp>
        <p:nvSpPr>
          <p:cNvPr id="330" name="The Security Mindset…"/>
          <p:cNvSpPr/>
          <p:nvPr/>
        </p:nvSpPr>
        <p:spPr>
          <a:xfrm>
            <a:off x="0" y="-22813"/>
            <a:ext cx="24384000" cy="13761626"/>
          </a:xfrm>
          <a:prstGeom prst="rect">
            <a:avLst/>
          </a:prstGeom>
          <a:solidFill>
            <a:srgbClr val="009ACA"/>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7" tIns="71437" rIns="71437" bIns="71437" anchor="ctr"/>
          <a:lstStyle/>
          <a:p>
            <a:pPr defTabSz="821531">
              <a:defRPr sz="13600" b="0" u="sng">
                <a:solidFill>
                  <a:srgbClr val="FFFFFF"/>
                </a:solidFill>
                <a:latin typeface="+mn-lt"/>
                <a:ea typeface="+mn-ea"/>
                <a:cs typeface="+mn-cs"/>
                <a:sym typeface="Georgia"/>
              </a:defRPr>
            </a:pPr>
            <a:r>
              <a:rPr>
                <a:solidFill>
                  <a:srgbClr val="C82506"/>
                </a:solidFill>
              </a:rPr>
              <a:t>The Security Mindset</a:t>
            </a:r>
          </a:p>
          <a:p>
            <a:pPr defTabSz="821531">
              <a:defRPr sz="13600" b="0">
                <a:solidFill>
                  <a:srgbClr val="FFFFFF"/>
                </a:solidFill>
                <a:latin typeface="+mn-lt"/>
                <a:ea typeface="+mn-ea"/>
                <a:cs typeface="+mn-cs"/>
                <a:sym typeface="Georgia"/>
              </a:defRPr>
            </a:pPr>
            <a:r>
              <a:t>What does it mean</a:t>
            </a:r>
          </a:p>
          <a:p>
            <a:pPr defTabSz="821531">
              <a:defRPr sz="13600" b="0">
                <a:solidFill>
                  <a:srgbClr val="FFFFFF"/>
                </a:solidFill>
                <a:latin typeface="+mn-lt"/>
                <a:ea typeface="+mn-ea"/>
                <a:cs typeface="+mn-cs"/>
                <a:sym typeface="Georgia"/>
              </a:defRPr>
            </a:pPr>
            <a:r>
              <a:t>to make a system</a:t>
            </a:r>
          </a:p>
          <a:p>
            <a:pPr defTabSz="821531">
              <a:defRPr sz="13600" b="0">
                <a:solidFill>
                  <a:srgbClr val="FFFFFF"/>
                </a:solidFill>
                <a:latin typeface="+mn-lt"/>
                <a:ea typeface="+mn-ea"/>
                <a:cs typeface="+mn-cs"/>
                <a:sym typeface="Georgia"/>
              </a:defRPr>
            </a:pPr>
            <a:r>
              <a:rPr>
                <a:solidFill>
                  <a:srgbClr val="C82506"/>
                </a:solidFill>
              </a:rPr>
              <a:t>Secure</a:t>
            </a:r>
          </a:p>
          <a:p>
            <a:pPr defTabSz="821531">
              <a:defRPr sz="19600" b="0">
                <a:solidFill>
                  <a:srgbClr val="FFFFFF"/>
                </a:solidFill>
                <a:latin typeface="+mn-lt"/>
                <a:ea typeface="+mn-ea"/>
                <a:cs typeface="+mn-cs"/>
                <a:sym typeface="Georgia"/>
              </a:defRPr>
            </a:pPr>
            <a:r>
              <a:t>?</a:t>
            </a:r>
          </a:p>
        </p:txBody>
      </p:sp>
      <p:sp>
        <p:nvSpPr>
          <p:cNvPr id="331" name="Rectangle"/>
          <p:cNvSpPr/>
          <p:nvPr/>
        </p:nvSpPr>
        <p:spPr>
          <a:xfrm>
            <a:off x="4089213" y="3381990"/>
            <a:ext cx="15257875" cy="9317062"/>
          </a:xfrm>
          <a:prstGeom prst="rect">
            <a:avLst/>
          </a:prstGeom>
          <a:solidFill>
            <a:srgbClr val="009ACA"/>
          </a:solidFill>
          <a:ln w="12700">
            <a:miter lim="400000"/>
          </a:ln>
        </p:spPr>
        <p:txBody>
          <a:bodyPr lIns="71437" tIns="71437" rIns="71437" bIns="71437" anchor="ctr"/>
          <a:lstStyle/>
          <a:p>
            <a:pPr defTabSz="821531">
              <a:defRPr sz="13600" b="0" u="sng">
                <a:solidFill>
                  <a:srgbClr val="FFFFFF"/>
                </a:solidFill>
                <a:latin typeface="+mn-lt"/>
                <a:ea typeface="+mn-ea"/>
                <a:cs typeface="+mn-cs"/>
                <a:sym typeface="Georgia"/>
              </a:defRPr>
            </a:pPr>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xit" fill="hold" grpId="0" nodeType="clickEffect">
                                  <p:stCondLst>
                                    <p:cond delay="0"/>
                                  </p:stCondLst>
                                  <p:iterate>
                                    <p:tmAbs val="0"/>
                                  </p:iterate>
                                  <p:childTnLst>
                                    <p:animEffect transition="out" filter="fade">
                                      <p:cBhvr>
                                        <p:cTn id="6" dur="1000" fill="hold"/>
                                        <p:tgtEl>
                                          <p:spTgt spid="331"/>
                                        </p:tgtEl>
                                      </p:cBhvr>
                                    </p:animEffect>
                                    <p:set>
                                      <p:cBhvr>
                                        <p:cTn id="7" fill="hold">
                                          <p:stCondLst>
                                            <p:cond delay="999"/>
                                          </p:stCondLst>
                                        </p:cTn>
                                        <p:tgtEl>
                                          <p:spTgt spid="33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1" grpId="0" animBg="1" advAuto="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Key Properties: The CIA Triad"/>
          <p:cNvSpPr txBox="1">
            <a:spLocks noGrp="1"/>
          </p:cNvSpPr>
          <p:nvPr>
            <p:ph type="title"/>
          </p:nvPr>
        </p:nvSpPr>
        <p:spPr>
          <a:xfrm>
            <a:off x="4387453" y="625078"/>
            <a:ext cx="17445489" cy="3036094"/>
          </a:xfrm>
          <a:prstGeom prst="rect">
            <a:avLst/>
          </a:prstGeom>
        </p:spPr>
        <p:txBody>
          <a:bodyPr/>
          <a:lstStyle>
            <a:lvl1pPr defTabSz="751205">
              <a:defRPr sz="10192" b="0">
                <a:solidFill>
                  <a:srgbClr val="000000"/>
                </a:solidFill>
                <a:latin typeface="+mn-lt"/>
                <a:ea typeface="+mn-ea"/>
                <a:cs typeface="+mn-cs"/>
                <a:sym typeface="Georgia"/>
              </a:defRPr>
            </a:lvl1pPr>
          </a:lstStyle>
          <a:p>
            <a:r>
              <a:t>Key Properties: The CIA Triad</a:t>
            </a:r>
          </a:p>
        </p:txBody>
      </p:sp>
      <p:pic>
        <p:nvPicPr>
          <p:cNvPr id="338" name="Image" descr="Image"/>
          <p:cNvPicPr>
            <a:picLocks noChangeAspect="1"/>
          </p:cNvPicPr>
          <p:nvPr/>
        </p:nvPicPr>
        <p:blipFill>
          <a:blip r:embed="rId3"/>
          <a:stretch>
            <a:fillRect/>
          </a:stretch>
        </p:blipFill>
        <p:spPr>
          <a:xfrm>
            <a:off x="2154782" y="4783967"/>
            <a:ext cx="7367530" cy="6612660"/>
          </a:xfrm>
          <a:prstGeom prst="rect">
            <a:avLst/>
          </a:prstGeom>
          <a:ln w="12700">
            <a:miter lim="400000"/>
          </a:ln>
        </p:spPr>
      </p:pic>
      <p:sp>
        <p:nvSpPr>
          <p:cNvPr id="339" name="Confidentiality: the property, that information is not made available or disclosed to unauthorized individuals, entities, or processes…"/>
          <p:cNvSpPr txBox="1">
            <a:spLocks noGrp="1"/>
          </p:cNvSpPr>
          <p:nvPr>
            <p:ph type="body" sz="half" idx="1"/>
          </p:nvPr>
        </p:nvSpPr>
        <p:spPr>
          <a:xfrm>
            <a:off x="8954383" y="3661171"/>
            <a:ext cx="12254115" cy="8840392"/>
          </a:xfrm>
          <a:prstGeom prst="rect">
            <a:avLst/>
          </a:prstGeom>
        </p:spPr>
        <p:txBody>
          <a:bodyPr/>
          <a:lstStyle/>
          <a:p>
            <a:pPr>
              <a:defRPr>
                <a:latin typeface="+mn-lt"/>
                <a:ea typeface="+mn-ea"/>
                <a:cs typeface="+mn-cs"/>
                <a:sym typeface="Georgia"/>
              </a:defRPr>
            </a:pPr>
            <a:r>
              <a:rPr b="1" dirty="0">
                <a:solidFill>
                  <a:srgbClr val="C82506"/>
                </a:solidFill>
              </a:rPr>
              <a:t>Confidentiality:</a:t>
            </a:r>
            <a:r>
              <a:rPr dirty="0"/>
              <a:t> the property, that information is not made available or disclosed to unauthorized individuals, entities, or processes</a:t>
            </a:r>
          </a:p>
          <a:p>
            <a:pPr>
              <a:defRPr>
                <a:latin typeface="+mn-lt"/>
                <a:ea typeface="+mn-ea"/>
                <a:cs typeface="+mn-cs"/>
                <a:sym typeface="Georgia"/>
              </a:defRPr>
            </a:pPr>
            <a:endParaRPr dirty="0"/>
          </a:p>
          <a:p>
            <a:pPr>
              <a:defRPr>
                <a:latin typeface="+mn-lt"/>
                <a:ea typeface="+mn-ea"/>
                <a:cs typeface="+mn-cs"/>
                <a:sym typeface="Georgia"/>
              </a:defRPr>
            </a:pPr>
            <a:r>
              <a:rPr b="1" dirty="0">
                <a:solidFill>
                  <a:srgbClr val="C82506"/>
                </a:solidFill>
              </a:rPr>
              <a:t>Integrity: </a:t>
            </a:r>
            <a:r>
              <a:rPr dirty="0"/>
              <a:t>The property that sensitive data has not been modified or deleted in an unauthorized and undetected manner</a:t>
            </a:r>
          </a:p>
          <a:p>
            <a:pPr>
              <a:defRPr>
                <a:latin typeface="+mn-lt"/>
                <a:ea typeface="+mn-ea"/>
                <a:cs typeface="+mn-cs"/>
                <a:sym typeface="Georgia"/>
              </a:defRPr>
            </a:pPr>
            <a:endParaRPr dirty="0"/>
          </a:p>
          <a:p>
            <a:pPr>
              <a:defRPr>
                <a:latin typeface="+mn-lt"/>
                <a:ea typeface="+mn-ea"/>
                <a:cs typeface="+mn-cs"/>
                <a:sym typeface="Georgia"/>
              </a:defRPr>
            </a:pPr>
            <a:r>
              <a:rPr b="1" dirty="0">
                <a:solidFill>
                  <a:srgbClr val="C82506"/>
                </a:solidFill>
              </a:rPr>
              <a:t>Availability:</a:t>
            </a:r>
            <a:r>
              <a:rPr dirty="0"/>
              <a:t> Ensuring timely and reliable access to and use of information.</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0" nodeType="clickEffect">
                                  <p:stCondLst>
                                    <p:cond delay="0"/>
                                  </p:stCondLst>
                                  <p:iterate>
                                    <p:tmAbs val="0"/>
                                  </p:iterate>
                                  <p:childTnLst>
                                    <p:set>
                                      <p:cBhvr>
                                        <p:cTn id="6" fill="hold"/>
                                        <p:tgtEl>
                                          <p:spTgt spid="339">
                                            <p:bg/>
                                          </p:spTgt>
                                        </p:tgtEl>
                                        <p:attrNameLst>
                                          <p:attrName>style.visibility</p:attrName>
                                        </p:attrNameLst>
                                      </p:cBhvr>
                                      <p:to>
                                        <p:strVal val="visible"/>
                                      </p:to>
                                    </p:set>
                                    <p:animEffect transition="in" filter="fade">
                                      <p:cBhvr>
                                        <p:cTn id="7" dur="1000"/>
                                        <p:tgtEl>
                                          <p:spTgt spid="339">
                                            <p:bg/>
                                          </p:spTgt>
                                        </p:tgtEl>
                                      </p:cBhvr>
                                    </p:animEffect>
                                  </p:childTnLst>
                                </p:cTn>
                              </p:par>
                              <p:par>
                                <p:cTn id="8" presetID="10" presetClass="entr" presetSubtype="0" fill="hold" grpId="0" nodeType="withEffect">
                                  <p:stCondLst>
                                    <p:cond delay="0"/>
                                  </p:stCondLst>
                                  <p:iterate>
                                    <p:tmAbs val="0"/>
                                  </p:iterate>
                                  <p:childTnLst>
                                    <p:set>
                                      <p:cBhvr>
                                        <p:cTn id="9" fill="hold"/>
                                        <p:tgtEl>
                                          <p:spTgt spid="339">
                                            <p:txEl>
                                              <p:pRg st="0" end="0"/>
                                            </p:txEl>
                                          </p:spTgt>
                                        </p:tgtEl>
                                        <p:attrNameLst>
                                          <p:attrName>style.visibility</p:attrName>
                                        </p:attrNameLst>
                                      </p:cBhvr>
                                      <p:to>
                                        <p:strVal val="visible"/>
                                      </p:to>
                                    </p:set>
                                    <p:animEffect transition="in" filter="fade">
                                      <p:cBhvr>
                                        <p:cTn id="10" dur="1000"/>
                                        <p:tgtEl>
                                          <p:spTgt spid="339">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fill="hold" grpId="0" nodeType="clickEffect">
                                  <p:stCondLst>
                                    <p:cond delay="0"/>
                                  </p:stCondLst>
                                  <p:iterate>
                                    <p:tmAbs val="0"/>
                                  </p:iterate>
                                  <p:childTnLst>
                                    <p:set>
                                      <p:cBhvr>
                                        <p:cTn id="14" fill="hold"/>
                                        <p:tgtEl>
                                          <p:spTgt spid="339">
                                            <p:txEl>
                                              <p:pRg st="1" end="1"/>
                                            </p:txEl>
                                          </p:spTgt>
                                        </p:tgtEl>
                                        <p:attrNameLst>
                                          <p:attrName>style.visibility</p:attrName>
                                        </p:attrNameLst>
                                      </p:cBhvr>
                                      <p:to>
                                        <p:strVal val="visible"/>
                                      </p:to>
                                    </p:set>
                                    <p:animEffect transition="in" filter="fade">
                                      <p:cBhvr>
                                        <p:cTn id="15" dur="1000"/>
                                        <p:tgtEl>
                                          <p:spTgt spid="339">
                                            <p:txEl>
                                              <p:pRg st="1" end="1"/>
                                            </p:txEl>
                                          </p:spTgt>
                                        </p:tgtEl>
                                      </p:cBhvr>
                                    </p:animEffect>
                                  </p:childTnLst>
                                </p:cTn>
                              </p:par>
                            </p:childTnLst>
                          </p:cTn>
                        </p:par>
                        <p:par>
                          <p:cTn id="16" fill="hold">
                            <p:stCondLst>
                              <p:cond delay="1000"/>
                            </p:stCondLst>
                            <p:childTnLst>
                              <p:par>
                                <p:cTn id="17" presetID="10" presetClass="entr" fill="hold" grpId="0" nodeType="afterEffect">
                                  <p:stCondLst>
                                    <p:cond delay="0"/>
                                  </p:stCondLst>
                                  <p:iterate>
                                    <p:tmAbs val="0"/>
                                  </p:iterate>
                                  <p:childTnLst>
                                    <p:set>
                                      <p:cBhvr>
                                        <p:cTn id="18" fill="hold"/>
                                        <p:tgtEl>
                                          <p:spTgt spid="339">
                                            <p:txEl>
                                              <p:pRg st="2" end="2"/>
                                            </p:txEl>
                                          </p:spTgt>
                                        </p:tgtEl>
                                        <p:attrNameLst>
                                          <p:attrName>style.visibility</p:attrName>
                                        </p:attrNameLst>
                                      </p:cBhvr>
                                      <p:to>
                                        <p:strVal val="visible"/>
                                      </p:to>
                                    </p:set>
                                    <p:animEffect transition="in" filter="fade">
                                      <p:cBhvr>
                                        <p:cTn id="19" dur="1000"/>
                                        <p:tgtEl>
                                          <p:spTgt spid="339">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fill="hold" grpId="0" nodeType="clickEffect">
                                  <p:stCondLst>
                                    <p:cond delay="0"/>
                                  </p:stCondLst>
                                  <p:iterate>
                                    <p:tmAbs val="0"/>
                                  </p:iterate>
                                  <p:childTnLst>
                                    <p:set>
                                      <p:cBhvr>
                                        <p:cTn id="23" fill="hold"/>
                                        <p:tgtEl>
                                          <p:spTgt spid="339">
                                            <p:txEl>
                                              <p:pRg st="3" end="3"/>
                                            </p:txEl>
                                          </p:spTgt>
                                        </p:tgtEl>
                                        <p:attrNameLst>
                                          <p:attrName>style.visibility</p:attrName>
                                        </p:attrNameLst>
                                      </p:cBhvr>
                                      <p:to>
                                        <p:strVal val="visible"/>
                                      </p:to>
                                    </p:set>
                                    <p:animEffect transition="in" filter="fade">
                                      <p:cBhvr>
                                        <p:cTn id="24" dur="1000"/>
                                        <p:tgtEl>
                                          <p:spTgt spid="339">
                                            <p:txEl>
                                              <p:pRg st="3" end="3"/>
                                            </p:txEl>
                                          </p:spTgt>
                                        </p:tgtEl>
                                      </p:cBhvr>
                                    </p:animEffect>
                                  </p:childTnLst>
                                </p:cTn>
                              </p:par>
                            </p:childTnLst>
                          </p:cTn>
                        </p:par>
                        <p:par>
                          <p:cTn id="25" fill="hold">
                            <p:stCondLst>
                              <p:cond delay="1000"/>
                            </p:stCondLst>
                            <p:childTnLst>
                              <p:par>
                                <p:cTn id="26" presetID="10" presetClass="entr" fill="hold" grpId="0" nodeType="afterEffect">
                                  <p:stCondLst>
                                    <p:cond delay="0"/>
                                  </p:stCondLst>
                                  <p:iterate>
                                    <p:tmAbs val="0"/>
                                  </p:iterate>
                                  <p:childTnLst>
                                    <p:set>
                                      <p:cBhvr>
                                        <p:cTn id="27" fill="hold"/>
                                        <p:tgtEl>
                                          <p:spTgt spid="339">
                                            <p:txEl>
                                              <p:pRg st="4" end="4"/>
                                            </p:txEl>
                                          </p:spTgt>
                                        </p:tgtEl>
                                        <p:attrNameLst>
                                          <p:attrName>style.visibility</p:attrName>
                                        </p:attrNameLst>
                                      </p:cBhvr>
                                      <p:to>
                                        <p:strVal val="visible"/>
                                      </p:to>
                                    </p:set>
                                    <p:animEffect transition="in" filter="fade">
                                      <p:cBhvr>
                                        <p:cTn id="28" dur="1000"/>
                                        <p:tgtEl>
                                          <p:spTgt spid="3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9" grpId="0" build="p" bldLvl="5" animBg="1" advAuto="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 name="Are These Enough?"/>
          <p:cNvSpPr txBox="1">
            <a:spLocks noGrp="1"/>
          </p:cNvSpPr>
          <p:nvPr>
            <p:ph type="title"/>
          </p:nvPr>
        </p:nvSpPr>
        <p:spPr>
          <a:prstGeom prst="rect">
            <a:avLst/>
          </a:prstGeom>
        </p:spPr>
        <p:txBody>
          <a:bodyPr/>
          <a:lstStyle>
            <a:lvl1pPr defTabSz="825500">
              <a:defRPr sz="11200" b="0">
                <a:solidFill>
                  <a:srgbClr val="000000"/>
                </a:solidFill>
                <a:latin typeface="+mn-lt"/>
                <a:ea typeface="+mn-ea"/>
                <a:cs typeface="+mn-cs"/>
                <a:sym typeface="Georgia"/>
              </a:defRPr>
            </a:lvl1pPr>
          </a:lstStyle>
          <a:p>
            <a:r>
              <a:t>Are These Enough?</a:t>
            </a:r>
          </a:p>
        </p:txBody>
      </p:sp>
      <p:pic>
        <p:nvPicPr>
          <p:cNvPr id="344" name="Image" descr="Image"/>
          <p:cNvPicPr>
            <a:picLocks noChangeAspect="1"/>
          </p:cNvPicPr>
          <p:nvPr/>
        </p:nvPicPr>
        <p:blipFill>
          <a:blip r:embed="rId3"/>
          <a:stretch>
            <a:fillRect/>
          </a:stretch>
        </p:blipFill>
        <p:spPr>
          <a:xfrm>
            <a:off x="2154782" y="4783967"/>
            <a:ext cx="7367530" cy="6612660"/>
          </a:xfrm>
          <a:prstGeom prst="rect">
            <a:avLst/>
          </a:prstGeom>
          <a:ln w="12700">
            <a:miter lim="400000"/>
          </a:ln>
        </p:spPr>
      </p:pic>
      <p:sp>
        <p:nvSpPr>
          <p:cNvPr id="345" name="Privacy: The right of an entity, acting in its own behalf, to determine the degree to which it will interact with its environment, including the degree to which the entity is willing to share information about itself with others.…"/>
          <p:cNvSpPr txBox="1">
            <a:spLocks noGrp="1"/>
          </p:cNvSpPr>
          <p:nvPr>
            <p:ph type="body" sz="half" idx="1"/>
          </p:nvPr>
        </p:nvSpPr>
        <p:spPr>
          <a:xfrm>
            <a:off x="8954383" y="3661171"/>
            <a:ext cx="11042164" cy="8840392"/>
          </a:xfrm>
          <a:prstGeom prst="rect">
            <a:avLst/>
          </a:prstGeom>
        </p:spPr>
        <p:txBody>
          <a:bodyPr/>
          <a:lstStyle/>
          <a:p>
            <a:pPr>
              <a:defRPr>
                <a:latin typeface="+mn-lt"/>
                <a:ea typeface="+mn-ea"/>
                <a:cs typeface="+mn-cs"/>
                <a:sym typeface="Georgia"/>
              </a:defRPr>
            </a:pPr>
            <a:r>
              <a:rPr b="1">
                <a:solidFill>
                  <a:srgbClr val="C82506"/>
                </a:solidFill>
              </a:rPr>
              <a:t>Privacy:</a:t>
            </a:r>
            <a:r>
              <a:t> The right of an entity, acting in its own behalf, to determine the degree to which it will interact with its environment, including the degree to which the entity is willing to share information about itself with others.  </a:t>
            </a:r>
          </a:p>
          <a:p>
            <a:pPr>
              <a:defRPr>
                <a:latin typeface="+mn-lt"/>
                <a:ea typeface="+mn-ea"/>
                <a:cs typeface="+mn-cs"/>
                <a:sym typeface="Georgia"/>
              </a:defRPr>
            </a:pPr>
            <a:endParaRPr/>
          </a:p>
          <a:p>
            <a:pPr>
              <a:defRPr>
                <a:latin typeface="+mn-lt"/>
                <a:ea typeface="+mn-ea"/>
                <a:cs typeface="+mn-cs"/>
                <a:sym typeface="Georgia"/>
              </a:defRPr>
            </a:pPr>
            <a:r>
              <a:rPr b="1">
                <a:solidFill>
                  <a:srgbClr val="C82506"/>
                </a:solidFill>
              </a:rPr>
              <a:t>Anonymity: </a:t>
            </a:r>
            <a:r>
              <a:t>The state of being not identifiable within a set of subjects, the anonymity set.</a:t>
            </a:r>
            <a:r>
              <a:rPr sz="1600"/>
              <a:t>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0" nodeType="clickEffect">
                                  <p:stCondLst>
                                    <p:cond delay="0"/>
                                  </p:stCondLst>
                                  <p:iterate>
                                    <p:tmAbs val="0"/>
                                  </p:iterate>
                                  <p:childTnLst>
                                    <p:set>
                                      <p:cBhvr>
                                        <p:cTn id="6" fill="hold"/>
                                        <p:tgtEl>
                                          <p:spTgt spid="345">
                                            <p:bg/>
                                          </p:spTgt>
                                        </p:tgtEl>
                                        <p:attrNameLst>
                                          <p:attrName>style.visibility</p:attrName>
                                        </p:attrNameLst>
                                      </p:cBhvr>
                                      <p:to>
                                        <p:strVal val="visible"/>
                                      </p:to>
                                    </p:set>
                                    <p:animEffect transition="in" filter="fade">
                                      <p:cBhvr>
                                        <p:cTn id="7" dur="1000"/>
                                        <p:tgtEl>
                                          <p:spTgt spid="345">
                                            <p:bg/>
                                          </p:spTgt>
                                        </p:tgtEl>
                                      </p:cBhvr>
                                    </p:animEffect>
                                  </p:childTnLst>
                                </p:cTn>
                              </p:par>
                              <p:par>
                                <p:cTn id="8" presetID="10" presetClass="entr" presetSubtype="0" fill="hold" grpId="0" nodeType="withEffect">
                                  <p:stCondLst>
                                    <p:cond delay="0"/>
                                  </p:stCondLst>
                                  <p:iterate>
                                    <p:tmAbs val="0"/>
                                  </p:iterate>
                                  <p:childTnLst>
                                    <p:set>
                                      <p:cBhvr>
                                        <p:cTn id="9" fill="hold"/>
                                        <p:tgtEl>
                                          <p:spTgt spid="345">
                                            <p:txEl>
                                              <p:pRg st="0" end="0"/>
                                            </p:txEl>
                                          </p:spTgt>
                                        </p:tgtEl>
                                        <p:attrNameLst>
                                          <p:attrName>style.visibility</p:attrName>
                                        </p:attrNameLst>
                                      </p:cBhvr>
                                      <p:to>
                                        <p:strVal val="visible"/>
                                      </p:to>
                                    </p:set>
                                    <p:animEffect transition="in" filter="fade">
                                      <p:cBhvr>
                                        <p:cTn id="10" dur="1000"/>
                                        <p:tgtEl>
                                          <p:spTgt spid="34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fill="hold" grpId="0" nodeType="clickEffect">
                                  <p:stCondLst>
                                    <p:cond delay="0"/>
                                  </p:stCondLst>
                                  <p:iterate>
                                    <p:tmAbs val="0"/>
                                  </p:iterate>
                                  <p:childTnLst>
                                    <p:set>
                                      <p:cBhvr>
                                        <p:cTn id="14" fill="hold"/>
                                        <p:tgtEl>
                                          <p:spTgt spid="345">
                                            <p:txEl>
                                              <p:pRg st="1" end="1"/>
                                            </p:txEl>
                                          </p:spTgt>
                                        </p:tgtEl>
                                        <p:attrNameLst>
                                          <p:attrName>style.visibility</p:attrName>
                                        </p:attrNameLst>
                                      </p:cBhvr>
                                      <p:to>
                                        <p:strVal val="visible"/>
                                      </p:to>
                                    </p:set>
                                    <p:animEffect transition="in" filter="fade">
                                      <p:cBhvr>
                                        <p:cTn id="15" dur="1000"/>
                                        <p:tgtEl>
                                          <p:spTgt spid="345">
                                            <p:txEl>
                                              <p:pRg st="1" end="1"/>
                                            </p:txEl>
                                          </p:spTgt>
                                        </p:tgtEl>
                                      </p:cBhvr>
                                    </p:animEffect>
                                  </p:childTnLst>
                                </p:cTn>
                              </p:par>
                            </p:childTnLst>
                          </p:cTn>
                        </p:par>
                        <p:par>
                          <p:cTn id="16" fill="hold">
                            <p:stCondLst>
                              <p:cond delay="1000"/>
                            </p:stCondLst>
                            <p:childTnLst>
                              <p:par>
                                <p:cTn id="17" presetID="10" presetClass="entr" fill="hold" grpId="0" nodeType="afterEffect">
                                  <p:stCondLst>
                                    <p:cond delay="0"/>
                                  </p:stCondLst>
                                  <p:iterate>
                                    <p:tmAbs val="0"/>
                                  </p:iterate>
                                  <p:childTnLst>
                                    <p:set>
                                      <p:cBhvr>
                                        <p:cTn id="18" fill="hold"/>
                                        <p:tgtEl>
                                          <p:spTgt spid="345">
                                            <p:txEl>
                                              <p:pRg st="2" end="2"/>
                                            </p:txEl>
                                          </p:spTgt>
                                        </p:tgtEl>
                                        <p:attrNameLst>
                                          <p:attrName>style.visibility</p:attrName>
                                        </p:attrNameLst>
                                      </p:cBhvr>
                                      <p:to>
                                        <p:strVal val="visible"/>
                                      </p:to>
                                    </p:set>
                                    <p:animEffect transition="in" filter="fade">
                                      <p:cBhvr>
                                        <p:cTn id="19" dur="1000"/>
                                        <p:tgtEl>
                                          <p:spTgt spid="34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 grpId="0" build="p" bldLvl="5" animBg="1" advAuto="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 name="Threat Model"/>
          <p:cNvSpPr txBox="1">
            <a:spLocks noGrp="1"/>
          </p:cNvSpPr>
          <p:nvPr>
            <p:ph type="title"/>
          </p:nvPr>
        </p:nvSpPr>
        <p:spPr>
          <a:prstGeom prst="rect">
            <a:avLst/>
          </a:prstGeom>
        </p:spPr>
        <p:txBody>
          <a:bodyPr/>
          <a:lstStyle>
            <a:lvl1pPr defTabSz="825500">
              <a:defRPr sz="11200" b="0">
                <a:solidFill>
                  <a:srgbClr val="000000"/>
                </a:solidFill>
                <a:latin typeface="+mn-lt"/>
                <a:ea typeface="+mn-ea"/>
                <a:cs typeface="+mn-cs"/>
                <a:sym typeface="Georgia"/>
              </a:defRPr>
            </a:lvl1pPr>
          </a:lstStyle>
          <a:p>
            <a:r>
              <a:t>Threat Model</a:t>
            </a:r>
          </a:p>
        </p:txBody>
      </p:sp>
      <p:pic>
        <p:nvPicPr>
          <p:cNvPr id="350" name="Image" descr="Image"/>
          <p:cNvPicPr>
            <a:picLocks noChangeAspect="1"/>
          </p:cNvPicPr>
          <p:nvPr/>
        </p:nvPicPr>
        <p:blipFill>
          <a:blip r:embed="rId3"/>
          <a:stretch>
            <a:fillRect/>
          </a:stretch>
        </p:blipFill>
        <p:spPr>
          <a:xfrm>
            <a:off x="9214228" y="3880228"/>
            <a:ext cx="5955544" cy="5955544"/>
          </a:xfrm>
          <a:prstGeom prst="rect">
            <a:avLst/>
          </a:prstGeom>
          <a:ln w="12700">
            <a:miter lim="400000"/>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 name="Thinking Like an Attacker"/>
          <p:cNvSpPr txBox="1">
            <a:spLocks noGrp="1"/>
          </p:cNvSpPr>
          <p:nvPr>
            <p:ph type="title"/>
          </p:nvPr>
        </p:nvSpPr>
        <p:spPr>
          <a:prstGeom prst="rect">
            <a:avLst/>
          </a:prstGeom>
        </p:spPr>
        <p:txBody>
          <a:bodyPr/>
          <a:lstStyle>
            <a:lvl1pPr defTabSz="775969">
              <a:defRPr sz="10528" b="0">
                <a:solidFill>
                  <a:srgbClr val="000000"/>
                </a:solidFill>
                <a:latin typeface="+mn-lt"/>
                <a:ea typeface="+mn-ea"/>
                <a:cs typeface="+mn-cs"/>
                <a:sym typeface="Georgia"/>
              </a:defRPr>
            </a:lvl1pPr>
          </a:lstStyle>
          <a:p>
            <a:r>
              <a:t>Thinking Like an Attacker</a:t>
            </a:r>
          </a:p>
        </p:txBody>
      </p:sp>
      <p:sp>
        <p:nvSpPr>
          <p:cNvPr id="360" name="Look for weakest links.…"/>
          <p:cNvSpPr txBox="1">
            <a:spLocks noGrp="1"/>
          </p:cNvSpPr>
          <p:nvPr>
            <p:ph type="body" idx="1"/>
          </p:nvPr>
        </p:nvSpPr>
        <p:spPr>
          <a:xfrm>
            <a:off x="3834158" y="3661171"/>
            <a:ext cx="16715684" cy="8840392"/>
          </a:xfrm>
          <a:prstGeom prst="rect">
            <a:avLst/>
          </a:prstGeom>
        </p:spPr>
        <p:txBody>
          <a:bodyPr/>
          <a:lstStyle/>
          <a:p>
            <a:pPr>
              <a:lnSpc>
                <a:spcPct val="120000"/>
              </a:lnSpc>
              <a:defRPr>
                <a:solidFill>
                  <a:srgbClr val="C82506"/>
                </a:solidFill>
                <a:latin typeface="+mn-lt"/>
                <a:ea typeface="+mn-ea"/>
                <a:cs typeface="+mn-cs"/>
                <a:sym typeface="Georgia"/>
              </a:defRPr>
            </a:pPr>
            <a:r>
              <a:t>Look for weakest links.</a:t>
            </a:r>
          </a:p>
          <a:p>
            <a:pPr>
              <a:lnSpc>
                <a:spcPct val="120000"/>
              </a:lnSpc>
              <a:defRPr>
                <a:latin typeface="+mn-lt"/>
                <a:ea typeface="+mn-ea"/>
                <a:cs typeface="+mn-cs"/>
                <a:sym typeface="Georgia"/>
              </a:defRPr>
            </a:pPr>
            <a:r>
              <a:t>Identify assumptions that security depends on. </a:t>
            </a:r>
          </a:p>
          <a:p>
            <a:pPr lvl="2">
              <a:lnSpc>
                <a:spcPct val="120000"/>
              </a:lnSpc>
              <a:defRPr>
                <a:latin typeface="+mn-lt"/>
                <a:ea typeface="+mn-ea"/>
                <a:cs typeface="+mn-cs"/>
                <a:sym typeface="Georgia"/>
              </a:defRPr>
            </a:pPr>
            <a:r>
              <a:t>Are they false?</a:t>
            </a:r>
          </a:p>
          <a:p>
            <a:pPr>
              <a:lnSpc>
                <a:spcPct val="120000"/>
              </a:lnSpc>
              <a:defRPr>
                <a:solidFill>
                  <a:srgbClr val="C82506"/>
                </a:solidFill>
                <a:latin typeface="+mn-lt"/>
                <a:ea typeface="+mn-ea"/>
                <a:cs typeface="+mn-cs"/>
                <a:sym typeface="Georgia"/>
              </a:defRPr>
            </a:pPr>
            <a:r>
              <a:t>Think outside the box</a:t>
            </a:r>
          </a:p>
          <a:p>
            <a:pPr lvl="2">
              <a:lnSpc>
                <a:spcPct val="120000"/>
              </a:lnSpc>
              <a:defRPr>
                <a:solidFill>
                  <a:srgbClr val="C82506"/>
                </a:solidFill>
                <a:latin typeface="+mn-lt"/>
                <a:ea typeface="+mn-ea"/>
                <a:cs typeface="+mn-cs"/>
                <a:sym typeface="Georgia"/>
              </a:defRPr>
            </a:pPr>
            <a:r>
              <a:t>Don’t be constrained by system designer’s worldview.</a:t>
            </a:r>
          </a:p>
          <a:p>
            <a:pPr>
              <a:lnSpc>
                <a:spcPct val="120000"/>
              </a:lnSpc>
              <a:defRPr>
                <a:latin typeface="+mn-lt"/>
                <a:ea typeface="+mn-ea"/>
                <a:cs typeface="+mn-cs"/>
                <a:sym typeface="Georgia"/>
              </a:defRPr>
            </a:pPr>
            <a:r>
              <a:t>Practice thinking like an attacker:</a:t>
            </a:r>
          </a:p>
          <a:p>
            <a:pPr lvl="2">
              <a:lnSpc>
                <a:spcPct val="120000"/>
              </a:lnSpc>
              <a:defRPr>
                <a:latin typeface="+mn-lt"/>
                <a:ea typeface="+mn-ea"/>
                <a:cs typeface="+mn-cs"/>
                <a:sym typeface="Georgia"/>
              </a:defRPr>
            </a:pPr>
            <a:r>
              <a:t>what does it means for the system to be secure?</a:t>
            </a:r>
          </a:p>
          <a:p>
            <a:pPr lvl="2">
              <a:lnSpc>
                <a:spcPct val="120000"/>
              </a:lnSpc>
              <a:defRPr>
                <a:latin typeface="+mn-lt"/>
                <a:ea typeface="+mn-ea"/>
                <a:cs typeface="+mn-cs"/>
                <a:sym typeface="Georgia"/>
              </a:defRPr>
            </a:pPr>
            <a:r>
              <a:t>How could it be exploited by an attacker?</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fill="hold" grpId="0" nodeType="afterEffect">
                                  <p:stCondLst>
                                    <p:cond delay="0"/>
                                  </p:stCondLst>
                                  <p:iterate>
                                    <p:tmAbs val="0"/>
                                  </p:iterate>
                                  <p:childTnLst>
                                    <p:set>
                                      <p:cBhvr>
                                        <p:cTn id="6" fill="hold"/>
                                        <p:tgtEl>
                                          <p:spTgt spid="360">
                                            <p:bg/>
                                          </p:spTgt>
                                        </p:tgtEl>
                                        <p:attrNameLst>
                                          <p:attrName>style.visibility</p:attrName>
                                        </p:attrNameLst>
                                      </p:cBhvr>
                                      <p:to>
                                        <p:strVal val="visible"/>
                                      </p:to>
                                    </p:set>
                                    <p:animEffect transition="in" filter="fade">
                                      <p:cBhvr>
                                        <p:cTn id="7" dur="1000"/>
                                        <p:tgtEl>
                                          <p:spTgt spid="360">
                                            <p:bg/>
                                          </p:spTgt>
                                        </p:tgtEl>
                                      </p:cBhvr>
                                    </p:animEffect>
                                  </p:childTnLst>
                                </p:cTn>
                              </p:par>
                              <p:par>
                                <p:cTn id="8" presetID="10" presetClass="entr" presetSubtype="0" fill="hold" grpId="0" nodeType="withEffect">
                                  <p:stCondLst>
                                    <p:cond delay="0"/>
                                  </p:stCondLst>
                                  <p:iterate>
                                    <p:tmAbs val="0"/>
                                  </p:iterate>
                                  <p:childTnLst>
                                    <p:set>
                                      <p:cBhvr>
                                        <p:cTn id="9" fill="hold"/>
                                        <p:tgtEl>
                                          <p:spTgt spid="360">
                                            <p:txEl>
                                              <p:pRg st="0" end="0"/>
                                            </p:txEl>
                                          </p:spTgt>
                                        </p:tgtEl>
                                        <p:attrNameLst>
                                          <p:attrName>style.visibility</p:attrName>
                                        </p:attrNameLst>
                                      </p:cBhvr>
                                      <p:to>
                                        <p:strVal val="visible"/>
                                      </p:to>
                                    </p:set>
                                    <p:animEffect transition="in" filter="fade">
                                      <p:cBhvr>
                                        <p:cTn id="10" dur="1000"/>
                                        <p:tgtEl>
                                          <p:spTgt spid="360">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fill="hold" grpId="0" nodeType="clickEffect">
                                  <p:stCondLst>
                                    <p:cond delay="0"/>
                                  </p:stCondLst>
                                  <p:iterate>
                                    <p:tmAbs val="0"/>
                                  </p:iterate>
                                  <p:childTnLst>
                                    <p:set>
                                      <p:cBhvr>
                                        <p:cTn id="14" fill="hold"/>
                                        <p:tgtEl>
                                          <p:spTgt spid="360">
                                            <p:txEl>
                                              <p:pRg st="1" end="1"/>
                                            </p:txEl>
                                          </p:spTgt>
                                        </p:tgtEl>
                                        <p:attrNameLst>
                                          <p:attrName>style.visibility</p:attrName>
                                        </p:attrNameLst>
                                      </p:cBhvr>
                                      <p:to>
                                        <p:strVal val="visible"/>
                                      </p:to>
                                    </p:set>
                                    <p:animEffect transition="in" filter="fade">
                                      <p:cBhvr>
                                        <p:cTn id="15" dur="1000"/>
                                        <p:tgtEl>
                                          <p:spTgt spid="360">
                                            <p:txEl>
                                              <p:pRg st="1" end="1"/>
                                            </p:txEl>
                                          </p:spTgt>
                                        </p:tgtEl>
                                      </p:cBhvr>
                                    </p:animEffect>
                                  </p:childTnLst>
                                </p:cTn>
                              </p:par>
                              <p:par>
                                <p:cTn id="16" presetID="10" presetClass="entr" presetSubtype="0" fill="hold" grpId="0" nodeType="withEffect">
                                  <p:stCondLst>
                                    <p:cond delay="0"/>
                                  </p:stCondLst>
                                  <p:iterate>
                                    <p:tmAbs val="0"/>
                                  </p:iterate>
                                  <p:childTnLst>
                                    <p:set>
                                      <p:cBhvr>
                                        <p:cTn id="17" fill="hold"/>
                                        <p:tgtEl>
                                          <p:spTgt spid="360">
                                            <p:txEl>
                                              <p:pRg st="2" end="2"/>
                                            </p:txEl>
                                          </p:spTgt>
                                        </p:tgtEl>
                                        <p:attrNameLst>
                                          <p:attrName>style.visibility</p:attrName>
                                        </p:attrNameLst>
                                      </p:cBhvr>
                                      <p:to>
                                        <p:strVal val="visible"/>
                                      </p:to>
                                    </p:set>
                                    <p:animEffect transition="in" filter="fade">
                                      <p:cBhvr>
                                        <p:cTn id="18" dur="1000"/>
                                        <p:tgtEl>
                                          <p:spTgt spid="360">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fill="hold" grpId="0" nodeType="clickEffect">
                                  <p:stCondLst>
                                    <p:cond delay="0"/>
                                  </p:stCondLst>
                                  <p:iterate>
                                    <p:tmAbs val="0"/>
                                  </p:iterate>
                                  <p:childTnLst>
                                    <p:set>
                                      <p:cBhvr>
                                        <p:cTn id="22" fill="hold"/>
                                        <p:tgtEl>
                                          <p:spTgt spid="360">
                                            <p:txEl>
                                              <p:pRg st="3" end="3"/>
                                            </p:txEl>
                                          </p:spTgt>
                                        </p:tgtEl>
                                        <p:attrNameLst>
                                          <p:attrName>style.visibility</p:attrName>
                                        </p:attrNameLst>
                                      </p:cBhvr>
                                      <p:to>
                                        <p:strVal val="visible"/>
                                      </p:to>
                                    </p:set>
                                    <p:animEffect transition="in" filter="fade">
                                      <p:cBhvr>
                                        <p:cTn id="23" dur="1000"/>
                                        <p:tgtEl>
                                          <p:spTgt spid="360">
                                            <p:txEl>
                                              <p:pRg st="3" end="3"/>
                                            </p:txEl>
                                          </p:spTgt>
                                        </p:tgtEl>
                                      </p:cBhvr>
                                    </p:animEffect>
                                  </p:childTnLst>
                                </p:cTn>
                              </p:par>
                              <p:par>
                                <p:cTn id="24" presetID="10" presetClass="entr" presetSubtype="0" fill="hold" grpId="0" nodeType="withEffect">
                                  <p:stCondLst>
                                    <p:cond delay="0"/>
                                  </p:stCondLst>
                                  <p:iterate>
                                    <p:tmAbs val="0"/>
                                  </p:iterate>
                                  <p:childTnLst>
                                    <p:set>
                                      <p:cBhvr>
                                        <p:cTn id="25" fill="hold"/>
                                        <p:tgtEl>
                                          <p:spTgt spid="360">
                                            <p:txEl>
                                              <p:pRg st="4" end="4"/>
                                            </p:txEl>
                                          </p:spTgt>
                                        </p:tgtEl>
                                        <p:attrNameLst>
                                          <p:attrName>style.visibility</p:attrName>
                                        </p:attrNameLst>
                                      </p:cBhvr>
                                      <p:to>
                                        <p:strVal val="visible"/>
                                      </p:to>
                                    </p:set>
                                    <p:animEffect transition="in" filter="fade">
                                      <p:cBhvr>
                                        <p:cTn id="26" dur="1000"/>
                                        <p:tgtEl>
                                          <p:spTgt spid="360">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fill="hold" grpId="0" nodeType="clickEffect">
                                  <p:stCondLst>
                                    <p:cond delay="0"/>
                                  </p:stCondLst>
                                  <p:iterate>
                                    <p:tmAbs val="0"/>
                                  </p:iterate>
                                  <p:childTnLst>
                                    <p:set>
                                      <p:cBhvr>
                                        <p:cTn id="30" fill="hold"/>
                                        <p:tgtEl>
                                          <p:spTgt spid="360">
                                            <p:txEl>
                                              <p:pRg st="5" end="5"/>
                                            </p:txEl>
                                          </p:spTgt>
                                        </p:tgtEl>
                                        <p:attrNameLst>
                                          <p:attrName>style.visibility</p:attrName>
                                        </p:attrNameLst>
                                      </p:cBhvr>
                                      <p:to>
                                        <p:strVal val="visible"/>
                                      </p:to>
                                    </p:set>
                                    <p:animEffect transition="in" filter="fade">
                                      <p:cBhvr>
                                        <p:cTn id="31" dur="1000"/>
                                        <p:tgtEl>
                                          <p:spTgt spid="360">
                                            <p:txEl>
                                              <p:pRg st="5" end="5"/>
                                            </p:txEl>
                                          </p:spTgt>
                                        </p:tgtEl>
                                      </p:cBhvr>
                                    </p:animEffect>
                                  </p:childTnLst>
                                </p:cTn>
                              </p:par>
                              <p:par>
                                <p:cTn id="32" presetID="10" presetClass="entr" presetSubtype="0" fill="hold" grpId="0" nodeType="withEffect">
                                  <p:stCondLst>
                                    <p:cond delay="0"/>
                                  </p:stCondLst>
                                  <p:iterate>
                                    <p:tmAbs val="0"/>
                                  </p:iterate>
                                  <p:childTnLst>
                                    <p:set>
                                      <p:cBhvr>
                                        <p:cTn id="33" fill="hold"/>
                                        <p:tgtEl>
                                          <p:spTgt spid="360">
                                            <p:txEl>
                                              <p:pRg st="6" end="6"/>
                                            </p:txEl>
                                          </p:spTgt>
                                        </p:tgtEl>
                                        <p:attrNameLst>
                                          <p:attrName>style.visibility</p:attrName>
                                        </p:attrNameLst>
                                      </p:cBhvr>
                                      <p:to>
                                        <p:strVal val="visible"/>
                                      </p:to>
                                    </p:set>
                                    <p:animEffect transition="in" filter="fade">
                                      <p:cBhvr>
                                        <p:cTn id="34" dur="1000"/>
                                        <p:tgtEl>
                                          <p:spTgt spid="360">
                                            <p:txEl>
                                              <p:pRg st="6" end="6"/>
                                            </p:txEl>
                                          </p:spTgt>
                                        </p:tgtEl>
                                      </p:cBhvr>
                                    </p:animEffect>
                                  </p:childTnLst>
                                </p:cTn>
                              </p:par>
                              <p:par>
                                <p:cTn id="35" presetID="10" presetClass="entr" presetSubtype="0" fill="hold" grpId="0" nodeType="withEffect">
                                  <p:stCondLst>
                                    <p:cond delay="0"/>
                                  </p:stCondLst>
                                  <p:iterate>
                                    <p:tmAbs val="0"/>
                                  </p:iterate>
                                  <p:childTnLst>
                                    <p:set>
                                      <p:cBhvr>
                                        <p:cTn id="36" fill="hold"/>
                                        <p:tgtEl>
                                          <p:spTgt spid="360">
                                            <p:txEl>
                                              <p:pRg st="7" end="7"/>
                                            </p:txEl>
                                          </p:spTgt>
                                        </p:tgtEl>
                                        <p:attrNameLst>
                                          <p:attrName>style.visibility</p:attrName>
                                        </p:attrNameLst>
                                      </p:cBhvr>
                                      <p:to>
                                        <p:strVal val="visible"/>
                                      </p:to>
                                    </p:set>
                                    <p:animEffect transition="in" filter="fade">
                                      <p:cBhvr>
                                        <p:cTn id="37" dur="1000"/>
                                        <p:tgtEl>
                                          <p:spTgt spid="36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0" grpId="0" build="p" animBg="1" advAuto="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Why Study Attacks?"/>
          <p:cNvSpPr txBox="1">
            <a:spLocks noGrp="1"/>
          </p:cNvSpPr>
          <p:nvPr>
            <p:ph type="title"/>
          </p:nvPr>
        </p:nvSpPr>
        <p:spPr>
          <a:prstGeom prst="rect">
            <a:avLst/>
          </a:prstGeom>
        </p:spPr>
        <p:txBody>
          <a:bodyPr/>
          <a:lstStyle>
            <a:lvl1pPr defTabSz="825500">
              <a:defRPr sz="11200" b="0">
                <a:solidFill>
                  <a:srgbClr val="000000"/>
                </a:solidFill>
                <a:latin typeface="+mn-lt"/>
                <a:ea typeface="+mn-ea"/>
                <a:cs typeface="+mn-cs"/>
                <a:sym typeface="Georgia"/>
              </a:defRPr>
            </a:lvl1pPr>
          </a:lstStyle>
          <a:p>
            <a:r>
              <a:t>Why Study Attacks?</a:t>
            </a:r>
          </a:p>
        </p:txBody>
      </p:sp>
      <p:sp>
        <p:nvSpPr>
          <p:cNvPr id="365" name="Identify vulnerabilities so they can be fixed.…"/>
          <p:cNvSpPr txBox="1">
            <a:spLocks noGrp="1"/>
          </p:cNvSpPr>
          <p:nvPr>
            <p:ph type="body" idx="1"/>
          </p:nvPr>
        </p:nvSpPr>
        <p:spPr>
          <a:prstGeom prst="rect">
            <a:avLst/>
          </a:prstGeom>
        </p:spPr>
        <p:txBody>
          <a:bodyPr/>
          <a:lstStyle/>
          <a:p>
            <a:pPr>
              <a:lnSpc>
                <a:spcPct val="150000"/>
              </a:lnSpc>
              <a:defRPr>
                <a:latin typeface="+mn-lt"/>
                <a:ea typeface="+mn-ea"/>
                <a:cs typeface="+mn-cs"/>
                <a:sym typeface="Georgia"/>
              </a:defRPr>
            </a:pPr>
            <a:r>
              <a:t>Identify vulnerabilities so they can be fixed.</a:t>
            </a:r>
          </a:p>
          <a:p>
            <a:pPr>
              <a:lnSpc>
                <a:spcPct val="150000"/>
              </a:lnSpc>
              <a:defRPr>
                <a:solidFill>
                  <a:srgbClr val="C82506"/>
                </a:solidFill>
                <a:latin typeface="+mn-lt"/>
                <a:ea typeface="+mn-ea"/>
                <a:cs typeface="+mn-cs"/>
                <a:sym typeface="Georgia"/>
              </a:defRPr>
            </a:pPr>
            <a:r>
              <a:t>Create incentives for vendors to be careful.</a:t>
            </a:r>
          </a:p>
          <a:p>
            <a:pPr>
              <a:lnSpc>
                <a:spcPct val="150000"/>
              </a:lnSpc>
              <a:defRPr>
                <a:latin typeface="+mn-lt"/>
                <a:ea typeface="+mn-ea"/>
                <a:cs typeface="+mn-cs"/>
                <a:sym typeface="Georgia"/>
              </a:defRPr>
            </a:pPr>
            <a:r>
              <a:t>Learn about new classes of threats.</a:t>
            </a:r>
          </a:p>
          <a:p>
            <a:pPr>
              <a:lnSpc>
                <a:spcPct val="150000"/>
              </a:lnSpc>
              <a:defRPr>
                <a:solidFill>
                  <a:srgbClr val="C82506"/>
                </a:solidFill>
                <a:latin typeface="+mn-lt"/>
                <a:ea typeface="+mn-ea"/>
                <a:cs typeface="+mn-cs"/>
                <a:sym typeface="Georgia"/>
              </a:defRPr>
            </a:pPr>
            <a:r>
              <a:t>Determine what we need to defend against.</a:t>
            </a:r>
          </a:p>
          <a:p>
            <a:pPr>
              <a:lnSpc>
                <a:spcPct val="150000"/>
              </a:lnSpc>
              <a:defRPr>
                <a:latin typeface="+mn-lt"/>
                <a:ea typeface="+mn-ea"/>
                <a:cs typeface="+mn-cs"/>
                <a:sym typeface="Georgia"/>
              </a:defRPr>
            </a:pPr>
            <a:r>
              <a:t>Help designers build stronger systems.</a:t>
            </a:r>
          </a:p>
          <a:p>
            <a:pPr>
              <a:lnSpc>
                <a:spcPct val="150000"/>
              </a:lnSpc>
              <a:defRPr>
                <a:solidFill>
                  <a:srgbClr val="C82506"/>
                </a:solidFill>
                <a:latin typeface="+mn-lt"/>
                <a:ea typeface="+mn-ea"/>
                <a:cs typeface="+mn-cs"/>
                <a:sym typeface="Georgia"/>
              </a:defRPr>
            </a:pPr>
            <a:r>
              <a:t>Help users more accurately evaluate risk.</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fill="hold" grpId="0" nodeType="afterEffect">
                                  <p:stCondLst>
                                    <p:cond delay="0"/>
                                  </p:stCondLst>
                                  <p:iterate>
                                    <p:tmAbs val="0"/>
                                  </p:iterate>
                                  <p:childTnLst>
                                    <p:set>
                                      <p:cBhvr>
                                        <p:cTn id="6" fill="hold"/>
                                        <p:tgtEl>
                                          <p:spTgt spid="365">
                                            <p:bg/>
                                          </p:spTgt>
                                        </p:tgtEl>
                                        <p:attrNameLst>
                                          <p:attrName>style.visibility</p:attrName>
                                        </p:attrNameLst>
                                      </p:cBhvr>
                                      <p:to>
                                        <p:strVal val="visible"/>
                                      </p:to>
                                    </p:set>
                                    <p:animEffect transition="in" filter="fade">
                                      <p:cBhvr>
                                        <p:cTn id="7" dur="1000"/>
                                        <p:tgtEl>
                                          <p:spTgt spid="365">
                                            <p:bg/>
                                          </p:spTgt>
                                        </p:tgtEl>
                                      </p:cBhvr>
                                    </p:animEffect>
                                  </p:childTnLst>
                                </p:cTn>
                              </p:par>
                              <p:par>
                                <p:cTn id="8" presetID="10" presetClass="entr" presetSubtype="0" fill="hold" grpId="0" nodeType="withEffect">
                                  <p:stCondLst>
                                    <p:cond delay="0"/>
                                  </p:stCondLst>
                                  <p:iterate>
                                    <p:tmAbs val="0"/>
                                  </p:iterate>
                                  <p:childTnLst>
                                    <p:set>
                                      <p:cBhvr>
                                        <p:cTn id="9" fill="hold"/>
                                        <p:tgtEl>
                                          <p:spTgt spid="365">
                                            <p:txEl>
                                              <p:pRg st="0" end="0"/>
                                            </p:txEl>
                                          </p:spTgt>
                                        </p:tgtEl>
                                        <p:attrNameLst>
                                          <p:attrName>style.visibility</p:attrName>
                                        </p:attrNameLst>
                                      </p:cBhvr>
                                      <p:to>
                                        <p:strVal val="visible"/>
                                      </p:to>
                                    </p:set>
                                    <p:animEffect transition="in" filter="fade">
                                      <p:cBhvr>
                                        <p:cTn id="10" dur="1000"/>
                                        <p:tgtEl>
                                          <p:spTgt spid="36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fill="hold" grpId="0" nodeType="clickEffect">
                                  <p:stCondLst>
                                    <p:cond delay="0"/>
                                  </p:stCondLst>
                                  <p:iterate>
                                    <p:tmAbs val="0"/>
                                  </p:iterate>
                                  <p:childTnLst>
                                    <p:set>
                                      <p:cBhvr>
                                        <p:cTn id="14" fill="hold"/>
                                        <p:tgtEl>
                                          <p:spTgt spid="365">
                                            <p:txEl>
                                              <p:pRg st="1" end="1"/>
                                            </p:txEl>
                                          </p:spTgt>
                                        </p:tgtEl>
                                        <p:attrNameLst>
                                          <p:attrName>style.visibility</p:attrName>
                                        </p:attrNameLst>
                                      </p:cBhvr>
                                      <p:to>
                                        <p:strVal val="visible"/>
                                      </p:to>
                                    </p:set>
                                    <p:animEffect transition="in" filter="fade">
                                      <p:cBhvr>
                                        <p:cTn id="15" dur="1000"/>
                                        <p:tgtEl>
                                          <p:spTgt spid="365">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fill="hold" grpId="0" nodeType="clickEffect">
                                  <p:stCondLst>
                                    <p:cond delay="0"/>
                                  </p:stCondLst>
                                  <p:iterate>
                                    <p:tmAbs val="0"/>
                                  </p:iterate>
                                  <p:childTnLst>
                                    <p:set>
                                      <p:cBhvr>
                                        <p:cTn id="19" fill="hold"/>
                                        <p:tgtEl>
                                          <p:spTgt spid="365">
                                            <p:txEl>
                                              <p:pRg st="2" end="2"/>
                                            </p:txEl>
                                          </p:spTgt>
                                        </p:tgtEl>
                                        <p:attrNameLst>
                                          <p:attrName>style.visibility</p:attrName>
                                        </p:attrNameLst>
                                      </p:cBhvr>
                                      <p:to>
                                        <p:strVal val="visible"/>
                                      </p:to>
                                    </p:set>
                                    <p:animEffect transition="in" filter="fade">
                                      <p:cBhvr>
                                        <p:cTn id="20" dur="1000"/>
                                        <p:tgtEl>
                                          <p:spTgt spid="36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fill="hold" grpId="0" nodeType="clickEffect">
                                  <p:stCondLst>
                                    <p:cond delay="0"/>
                                  </p:stCondLst>
                                  <p:iterate>
                                    <p:tmAbs val="0"/>
                                  </p:iterate>
                                  <p:childTnLst>
                                    <p:set>
                                      <p:cBhvr>
                                        <p:cTn id="24" fill="hold"/>
                                        <p:tgtEl>
                                          <p:spTgt spid="365">
                                            <p:txEl>
                                              <p:pRg st="3" end="3"/>
                                            </p:txEl>
                                          </p:spTgt>
                                        </p:tgtEl>
                                        <p:attrNameLst>
                                          <p:attrName>style.visibility</p:attrName>
                                        </p:attrNameLst>
                                      </p:cBhvr>
                                      <p:to>
                                        <p:strVal val="visible"/>
                                      </p:to>
                                    </p:set>
                                    <p:animEffect transition="in" filter="fade">
                                      <p:cBhvr>
                                        <p:cTn id="25" dur="1000"/>
                                        <p:tgtEl>
                                          <p:spTgt spid="365">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fill="hold" grpId="0" nodeType="clickEffect">
                                  <p:stCondLst>
                                    <p:cond delay="0"/>
                                  </p:stCondLst>
                                  <p:iterate>
                                    <p:tmAbs val="0"/>
                                  </p:iterate>
                                  <p:childTnLst>
                                    <p:set>
                                      <p:cBhvr>
                                        <p:cTn id="29" fill="hold"/>
                                        <p:tgtEl>
                                          <p:spTgt spid="365">
                                            <p:txEl>
                                              <p:pRg st="4" end="4"/>
                                            </p:txEl>
                                          </p:spTgt>
                                        </p:tgtEl>
                                        <p:attrNameLst>
                                          <p:attrName>style.visibility</p:attrName>
                                        </p:attrNameLst>
                                      </p:cBhvr>
                                      <p:to>
                                        <p:strVal val="visible"/>
                                      </p:to>
                                    </p:set>
                                    <p:animEffect transition="in" filter="fade">
                                      <p:cBhvr>
                                        <p:cTn id="30" dur="1000"/>
                                        <p:tgtEl>
                                          <p:spTgt spid="365">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fill="hold" grpId="0" nodeType="clickEffect">
                                  <p:stCondLst>
                                    <p:cond delay="0"/>
                                  </p:stCondLst>
                                  <p:iterate>
                                    <p:tmAbs val="0"/>
                                  </p:iterate>
                                  <p:childTnLst>
                                    <p:set>
                                      <p:cBhvr>
                                        <p:cTn id="34" fill="hold"/>
                                        <p:tgtEl>
                                          <p:spTgt spid="365">
                                            <p:txEl>
                                              <p:pRg st="5" end="5"/>
                                            </p:txEl>
                                          </p:spTgt>
                                        </p:tgtEl>
                                        <p:attrNameLst>
                                          <p:attrName>style.visibility</p:attrName>
                                        </p:attrNameLst>
                                      </p:cBhvr>
                                      <p:to>
                                        <p:strVal val="visible"/>
                                      </p:to>
                                    </p:set>
                                    <p:animEffect transition="in" filter="fade">
                                      <p:cBhvr>
                                        <p:cTn id="35" dur="1000"/>
                                        <p:tgtEl>
                                          <p:spTgt spid="36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5" grpId="0" build="p" bldLvl="5" animBg="1" advAuto="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 name="The Attacker Process"/>
          <p:cNvSpPr txBox="1">
            <a:spLocks noGrp="1"/>
          </p:cNvSpPr>
          <p:nvPr>
            <p:ph type="title"/>
          </p:nvPr>
        </p:nvSpPr>
        <p:spPr>
          <a:prstGeom prst="rect">
            <a:avLst/>
          </a:prstGeom>
        </p:spPr>
        <p:txBody>
          <a:bodyPr/>
          <a:lstStyle>
            <a:lvl1pPr defTabSz="825500">
              <a:defRPr sz="11200" b="0">
                <a:solidFill>
                  <a:srgbClr val="000000"/>
                </a:solidFill>
                <a:latin typeface="+mn-lt"/>
                <a:ea typeface="+mn-ea"/>
                <a:cs typeface="+mn-cs"/>
                <a:sym typeface="Georgia"/>
              </a:defRPr>
            </a:lvl1pPr>
          </a:lstStyle>
          <a:p>
            <a:r>
              <a:t>The Attacker Process</a:t>
            </a:r>
          </a:p>
        </p:txBody>
      </p:sp>
      <p:grpSp>
        <p:nvGrpSpPr>
          <p:cNvPr id="370" name="Group"/>
          <p:cNvGrpSpPr/>
          <p:nvPr/>
        </p:nvGrpSpPr>
        <p:grpSpPr>
          <a:xfrm>
            <a:off x="3806697" y="3292286"/>
            <a:ext cx="16770606" cy="8376341"/>
            <a:chOff x="0" y="0"/>
            <a:chExt cx="16770605" cy="8376339"/>
          </a:xfrm>
        </p:grpSpPr>
        <p:pic>
          <p:nvPicPr>
            <p:cNvPr id="368" name="Image" descr="Image"/>
            <p:cNvPicPr>
              <a:picLocks noChangeAspect="1"/>
            </p:cNvPicPr>
            <p:nvPr/>
          </p:nvPicPr>
          <p:blipFill>
            <a:blip r:embed="rId2"/>
            <a:stretch>
              <a:fillRect/>
            </a:stretch>
          </p:blipFill>
          <p:spPr>
            <a:xfrm>
              <a:off x="332530" y="0"/>
              <a:ext cx="16438076" cy="8376340"/>
            </a:xfrm>
            <a:prstGeom prst="rect">
              <a:avLst/>
            </a:prstGeom>
            <a:ln w="12700" cap="flat">
              <a:noFill/>
              <a:miter lim="400000"/>
            </a:ln>
            <a:effectLst/>
          </p:spPr>
        </p:pic>
        <p:sp>
          <p:nvSpPr>
            <p:cNvPr id="369" name="Square"/>
            <p:cNvSpPr/>
            <p:nvPr/>
          </p:nvSpPr>
          <p:spPr>
            <a:xfrm>
              <a:off x="0" y="21675"/>
              <a:ext cx="1785938" cy="1785939"/>
            </a:xfrm>
            <a:prstGeom prst="rect">
              <a:avLst/>
            </a:prstGeom>
            <a:solidFill>
              <a:srgbClr val="FFFFFF"/>
            </a:solidFill>
            <a:ln w="12700" cap="flat">
              <a:noFill/>
              <a:miter lim="400000"/>
            </a:ln>
            <a:effectLst/>
          </p:spPr>
          <p:txBody>
            <a:bodyPr wrap="square" lIns="71437" tIns="71437" rIns="71437" bIns="71437" numCol="1" anchor="ctr">
              <a:noAutofit/>
            </a:bodyPr>
            <a:lstStyle/>
            <a:p>
              <a:pPr defTabSz="821531">
                <a:defRPr sz="9000" b="0">
                  <a:solidFill>
                    <a:srgbClr val="FFFFFF"/>
                  </a:solidFill>
                  <a:latin typeface="Helvetica"/>
                  <a:ea typeface="Helvetica"/>
                  <a:cs typeface="Helvetica"/>
                  <a:sym typeface="Helvetica"/>
                </a:defRPr>
              </a:pPr>
              <a:endParaRPr/>
            </a:p>
          </p:txBody>
        </p:sp>
      </p:gr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 name="The World of Ours"/>
          <p:cNvSpPr txBox="1">
            <a:spLocks noGrp="1"/>
          </p:cNvSpPr>
          <p:nvPr>
            <p:ph type="title"/>
          </p:nvPr>
        </p:nvSpPr>
        <p:spPr>
          <a:prstGeom prst="rect">
            <a:avLst/>
          </a:prstGeom>
        </p:spPr>
        <p:txBody>
          <a:bodyPr/>
          <a:lstStyle>
            <a:lvl1pPr defTabSz="825500">
              <a:defRPr sz="11200" b="0">
                <a:solidFill>
                  <a:srgbClr val="000000"/>
                </a:solidFill>
                <a:latin typeface="+mn-lt"/>
                <a:ea typeface="+mn-ea"/>
                <a:cs typeface="+mn-cs"/>
                <a:sym typeface="Georgia"/>
              </a:defRPr>
            </a:lvl1pPr>
          </a:lstStyle>
          <a:p>
            <a:r>
              <a:t>The World of Ours</a:t>
            </a:r>
          </a:p>
        </p:txBody>
      </p:sp>
      <p:pic>
        <p:nvPicPr>
          <p:cNvPr id="377" name="Image" descr="Image"/>
          <p:cNvPicPr>
            <a:picLocks noChangeAspect="1"/>
          </p:cNvPicPr>
          <p:nvPr/>
        </p:nvPicPr>
        <p:blipFill>
          <a:blip r:embed="rId2"/>
          <a:stretch>
            <a:fillRect/>
          </a:stretch>
        </p:blipFill>
        <p:spPr>
          <a:xfrm>
            <a:off x="3048000" y="4690997"/>
            <a:ext cx="18288000" cy="4334006"/>
          </a:xfrm>
          <a:prstGeom prst="rect">
            <a:avLst/>
          </a:prstGeom>
          <a:ln w="12700">
            <a:miter lim="400000"/>
          </a:ln>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 name="The $5 Wrench"/>
          <p:cNvSpPr txBox="1">
            <a:spLocks noGrp="1"/>
          </p:cNvSpPr>
          <p:nvPr>
            <p:ph type="title"/>
          </p:nvPr>
        </p:nvSpPr>
        <p:spPr>
          <a:prstGeom prst="rect">
            <a:avLst/>
          </a:prstGeom>
        </p:spPr>
        <p:txBody>
          <a:bodyPr/>
          <a:lstStyle>
            <a:lvl1pPr defTabSz="825500">
              <a:defRPr sz="11200" b="0">
                <a:solidFill>
                  <a:srgbClr val="000000"/>
                </a:solidFill>
                <a:latin typeface="+mn-lt"/>
                <a:ea typeface="+mn-ea"/>
                <a:cs typeface="+mn-cs"/>
                <a:sym typeface="Georgia"/>
              </a:defRPr>
            </a:lvl1pPr>
          </a:lstStyle>
          <a:p>
            <a:r>
              <a:t>The $5 Wrench</a:t>
            </a:r>
          </a:p>
        </p:txBody>
      </p:sp>
      <p:pic>
        <p:nvPicPr>
          <p:cNvPr id="380" name="Image" descr="Image"/>
          <p:cNvPicPr>
            <a:picLocks noChangeAspect="1"/>
          </p:cNvPicPr>
          <p:nvPr/>
        </p:nvPicPr>
        <p:blipFill>
          <a:blip r:embed="rId3"/>
          <a:stretch>
            <a:fillRect/>
          </a:stretch>
        </p:blipFill>
        <p:spPr>
          <a:xfrm>
            <a:off x="5943136" y="3567091"/>
            <a:ext cx="12497728" cy="7643701"/>
          </a:xfrm>
          <a:prstGeom prst="rect">
            <a:avLst/>
          </a:prstGeom>
          <a:ln w="12700">
            <a:miter lim="400000"/>
          </a:ln>
        </p:spPr>
      </p:pic>
      <p:sp>
        <p:nvSpPr>
          <p:cNvPr id="381" name="Rectangle"/>
          <p:cNvSpPr/>
          <p:nvPr/>
        </p:nvSpPr>
        <p:spPr>
          <a:xfrm>
            <a:off x="12199266" y="3207528"/>
            <a:ext cx="7292899" cy="8746477"/>
          </a:xfrm>
          <a:prstGeom prst="rect">
            <a:avLst/>
          </a:prstGeom>
          <a:solidFill>
            <a:srgbClr val="FFFFFF"/>
          </a:solidFill>
          <a:ln w="12700">
            <a:miter lim="400000"/>
          </a:ln>
        </p:spPr>
        <p:txBody>
          <a:bodyPr lIns="0" tIns="0" rIns="0" bIns="0" anchor="ctr"/>
          <a:lstStyle/>
          <a:p>
            <a:pPr>
              <a:defRPr sz="3200" b="0">
                <a:solidFill>
                  <a:srgbClr val="FFFFFF"/>
                </a:solidFill>
                <a:latin typeface="Helvetica Neue Medium"/>
                <a:ea typeface="Helvetica Neue Medium"/>
                <a:cs typeface="Helvetica Neue Medium"/>
                <a:sym typeface="Helvetica Neue Medium"/>
              </a:defRPr>
            </a:pPr>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xit" fill="hold" grpId="0" nodeType="clickEffect">
                                  <p:stCondLst>
                                    <p:cond delay="0"/>
                                  </p:stCondLst>
                                  <p:iterate>
                                    <p:tmAbs val="0"/>
                                  </p:iterate>
                                  <p:childTnLst>
                                    <p:animEffect transition="out" filter="fade">
                                      <p:cBhvr>
                                        <p:cTn id="6" dur="1000" fill="hold"/>
                                        <p:tgtEl>
                                          <p:spTgt spid="381"/>
                                        </p:tgtEl>
                                      </p:cBhvr>
                                    </p:animEffect>
                                    <p:set>
                                      <p:cBhvr>
                                        <p:cTn id="7" fill="hold">
                                          <p:stCondLst>
                                            <p:cond delay="999"/>
                                          </p:stCondLst>
                                        </p:cTn>
                                        <p:tgtEl>
                                          <p:spTgt spid="38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 grpId="0" animBg="1" advAuto="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 name="Play Fair!"/>
          <p:cNvSpPr txBox="1">
            <a:spLocks noGrp="1"/>
          </p:cNvSpPr>
          <p:nvPr>
            <p:ph type="title"/>
          </p:nvPr>
        </p:nvSpPr>
        <p:spPr>
          <a:prstGeom prst="rect">
            <a:avLst/>
          </a:prstGeom>
        </p:spPr>
        <p:txBody>
          <a:bodyPr/>
          <a:lstStyle/>
          <a:p>
            <a:r>
              <a:t>Play Fair!</a:t>
            </a:r>
          </a:p>
        </p:txBody>
      </p:sp>
      <p:sp>
        <p:nvSpPr>
          <p:cNvPr id="386" name="Computer Fraud and Abuse Act (CFAA) http://www.justice.gov/criminal/cybercrime/docs/ccmanual.pdf…"/>
          <p:cNvSpPr txBox="1">
            <a:spLocks noGrp="1"/>
          </p:cNvSpPr>
          <p:nvPr>
            <p:ph type="body" sz="half" idx="1"/>
          </p:nvPr>
        </p:nvSpPr>
        <p:spPr>
          <a:xfrm>
            <a:off x="1689100" y="6127092"/>
            <a:ext cx="21005800" cy="6318908"/>
          </a:xfrm>
          <a:prstGeom prst="rect">
            <a:avLst/>
          </a:prstGeom>
        </p:spPr>
        <p:txBody>
          <a:bodyPr/>
          <a:lstStyle/>
          <a:p>
            <a:r>
              <a:t>Computer Fraud and Abuse Act (CFAA)</a:t>
            </a:r>
            <a:br/>
            <a:r>
              <a:rPr>
                <a:solidFill>
                  <a:schemeClr val="accent5">
                    <a:lumOff val="-29866"/>
                  </a:schemeClr>
                </a:solidFill>
              </a:rPr>
              <a:t>http://www.justice.gov/criminal/cybercrime/docs/ccmanual.pdf</a:t>
            </a:r>
          </a:p>
          <a:p>
            <a:r>
              <a:t>Practice on your own systems or controlled environment</a:t>
            </a:r>
          </a:p>
        </p:txBody>
      </p:sp>
      <p:sp>
        <p:nvSpPr>
          <p:cNvPr id="387" name="Breaking into systems is illegal!…"/>
          <p:cNvSpPr txBox="1"/>
          <p:nvPr/>
        </p:nvSpPr>
        <p:spPr>
          <a:xfrm>
            <a:off x="5658841" y="3595484"/>
            <a:ext cx="13066317" cy="195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a:defRPr sz="6400" b="0">
                <a:solidFill>
                  <a:schemeClr val="accent5">
                    <a:hueOff val="-82419"/>
                    <a:satOff val="-9513"/>
                    <a:lumOff val="-16343"/>
                  </a:schemeClr>
                </a:solidFill>
                <a:latin typeface="+mn-lt"/>
                <a:ea typeface="+mn-ea"/>
                <a:cs typeface="+mn-cs"/>
                <a:sym typeface="Georgia"/>
              </a:defRPr>
            </a:pPr>
            <a:r>
              <a:t>Breaking into systems is illegal!</a:t>
            </a:r>
          </a:p>
          <a:p>
            <a:pPr>
              <a:defRPr sz="6400" b="0">
                <a:solidFill>
                  <a:schemeClr val="accent5">
                    <a:hueOff val="-82419"/>
                    <a:satOff val="-9513"/>
                    <a:lumOff val="-16343"/>
                  </a:schemeClr>
                </a:solidFill>
                <a:latin typeface="+mn-lt"/>
                <a:ea typeface="+mn-ea"/>
                <a:cs typeface="+mn-cs"/>
                <a:sym typeface="Georgia"/>
              </a:defRPr>
            </a:pPr>
            <a:r>
              <a:t>  Unauthorized data access is illegal!</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 name="Thinking as a Defender"/>
          <p:cNvSpPr txBox="1">
            <a:spLocks noGrp="1"/>
          </p:cNvSpPr>
          <p:nvPr>
            <p:ph type="title"/>
          </p:nvPr>
        </p:nvSpPr>
        <p:spPr>
          <a:prstGeom prst="rect">
            <a:avLst/>
          </a:prstGeom>
        </p:spPr>
        <p:txBody>
          <a:bodyPr/>
          <a:lstStyle>
            <a:lvl1pPr defTabSz="825500">
              <a:defRPr sz="11200" b="0">
                <a:solidFill>
                  <a:srgbClr val="000000"/>
                </a:solidFill>
                <a:latin typeface="+mn-lt"/>
                <a:ea typeface="+mn-ea"/>
                <a:cs typeface="+mn-cs"/>
                <a:sym typeface="Georgia"/>
              </a:defRPr>
            </a:lvl1pPr>
          </a:lstStyle>
          <a:p>
            <a:r>
              <a:t>Thinking as a Defender</a:t>
            </a:r>
          </a:p>
        </p:txBody>
      </p:sp>
      <p:sp>
        <p:nvSpPr>
          <p:cNvPr id="399" name="Security policy…"/>
          <p:cNvSpPr txBox="1">
            <a:spLocks noGrp="1"/>
          </p:cNvSpPr>
          <p:nvPr>
            <p:ph type="body" idx="1"/>
          </p:nvPr>
        </p:nvSpPr>
        <p:spPr>
          <a:xfrm>
            <a:off x="3730652" y="2679584"/>
            <a:ext cx="16922696" cy="9584366"/>
          </a:xfrm>
          <a:prstGeom prst="rect">
            <a:avLst/>
          </a:prstGeom>
        </p:spPr>
        <p:txBody>
          <a:bodyPr/>
          <a:lstStyle/>
          <a:p>
            <a:pPr>
              <a:defRPr>
                <a:solidFill>
                  <a:schemeClr val="accent5">
                    <a:lumOff val="-29866"/>
                  </a:schemeClr>
                </a:solidFill>
                <a:latin typeface="+mn-lt"/>
                <a:ea typeface="+mn-ea"/>
                <a:cs typeface="+mn-cs"/>
                <a:sym typeface="Georgia"/>
              </a:defRPr>
            </a:pPr>
            <a:r>
              <a:t>Security policy</a:t>
            </a:r>
          </a:p>
          <a:p>
            <a:pPr lvl="2">
              <a:defRPr>
                <a:latin typeface="+mn-lt"/>
                <a:ea typeface="+mn-ea"/>
                <a:cs typeface="+mn-cs"/>
                <a:sym typeface="Georgia"/>
              </a:defRPr>
            </a:pPr>
            <a:r>
              <a:t>What are we trying to protect?</a:t>
            </a:r>
          </a:p>
          <a:p>
            <a:pPr lvl="2">
              <a:defRPr>
                <a:latin typeface="+mn-lt"/>
                <a:ea typeface="+mn-ea"/>
                <a:cs typeface="+mn-cs"/>
                <a:sym typeface="Georgia"/>
              </a:defRPr>
            </a:pPr>
            <a:r>
              <a:t>What properties are we trying to enforce?</a:t>
            </a:r>
          </a:p>
          <a:p>
            <a:pPr lvl="2">
              <a:defRPr>
                <a:latin typeface="+mn-lt"/>
                <a:ea typeface="+mn-ea"/>
                <a:cs typeface="+mn-cs"/>
                <a:sym typeface="Georgia"/>
              </a:defRPr>
            </a:pPr>
            <a:endParaRPr/>
          </a:p>
          <a:p>
            <a:pPr>
              <a:defRPr>
                <a:solidFill>
                  <a:schemeClr val="accent5">
                    <a:lumOff val="-29866"/>
                  </a:schemeClr>
                </a:solidFill>
                <a:latin typeface="+mn-lt"/>
                <a:ea typeface="+mn-ea"/>
                <a:cs typeface="+mn-cs"/>
                <a:sym typeface="Georgia"/>
              </a:defRPr>
            </a:pPr>
            <a:r>
              <a:t>Countermeasures</a:t>
            </a:r>
          </a:p>
          <a:p>
            <a:pPr lvl="2">
              <a:defRPr>
                <a:latin typeface="+mn-lt"/>
                <a:ea typeface="+mn-ea"/>
                <a:cs typeface="+mn-cs"/>
                <a:sym typeface="Georgia"/>
              </a:defRPr>
            </a:pPr>
            <a:r>
              <a:t>Costs vs. Benefits?</a:t>
            </a:r>
          </a:p>
          <a:p>
            <a:pPr lvl="2">
              <a:defRPr>
                <a:latin typeface="+mn-lt"/>
                <a:ea typeface="+mn-ea"/>
                <a:cs typeface="+mn-cs"/>
                <a:sym typeface="Georgia"/>
              </a:defRPr>
            </a:pPr>
            <a:r>
              <a:t>Technical vs. nontechnical?</a:t>
            </a:r>
          </a:p>
          <a:p>
            <a:pPr lvl="2">
              <a:defRPr>
                <a:latin typeface="+mn-lt"/>
                <a:ea typeface="+mn-ea"/>
                <a:cs typeface="+mn-cs"/>
                <a:sym typeface="Georgia"/>
              </a:defRPr>
            </a:pPr>
            <a:endParaRPr/>
          </a:p>
          <a:p>
            <a:pPr>
              <a:defRPr>
                <a:solidFill>
                  <a:schemeClr val="accent5">
                    <a:lumOff val="-29866"/>
                  </a:schemeClr>
                </a:solidFill>
                <a:latin typeface="+mn-lt"/>
                <a:ea typeface="+mn-ea"/>
                <a:cs typeface="+mn-cs"/>
                <a:sym typeface="Georgia"/>
              </a:defRPr>
            </a:pPr>
            <a:r>
              <a:t>Challenge is to think rationally and rigorously about risk.</a:t>
            </a:r>
          </a:p>
        </p:txBody>
      </p:sp>
      <p:sp>
        <p:nvSpPr>
          <p:cNvPr id="400" name="Rational paranoia."/>
          <p:cNvSpPr txBox="1"/>
          <p:nvPr/>
        </p:nvSpPr>
        <p:spPr>
          <a:xfrm>
            <a:off x="8075872" y="11560738"/>
            <a:ext cx="8232255" cy="10953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71437" tIns="71437" rIns="71437" bIns="71437" anchor="ctr">
            <a:spAutoFit/>
          </a:bodyPr>
          <a:lstStyle>
            <a:lvl1pPr defTabSz="821531">
              <a:defRPr sz="6600">
                <a:solidFill>
                  <a:srgbClr val="C82506"/>
                </a:solidFill>
                <a:latin typeface="+mn-lt"/>
                <a:ea typeface="+mn-ea"/>
                <a:cs typeface="+mn-cs"/>
                <a:sym typeface="Georgia"/>
              </a:defRPr>
            </a:lvl1pPr>
          </a:lstStyle>
          <a:p>
            <a:r>
              <a:t>Rational paranoia.</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fill="hold" grpId="0" nodeType="afterEffect">
                                  <p:stCondLst>
                                    <p:cond delay="0"/>
                                  </p:stCondLst>
                                  <p:iterate>
                                    <p:tmAbs val="0"/>
                                  </p:iterate>
                                  <p:childTnLst>
                                    <p:set>
                                      <p:cBhvr>
                                        <p:cTn id="6" fill="hold"/>
                                        <p:tgtEl>
                                          <p:spTgt spid="399">
                                            <p:bg/>
                                          </p:spTgt>
                                        </p:tgtEl>
                                        <p:attrNameLst>
                                          <p:attrName>style.visibility</p:attrName>
                                        </p:attrNameLst>
                                      </p:cBhvr>
                                      <p:to>
                                        <p:strVal val="visible"/>
                                      </p:to>
                                    </p:set>
                                    <p:animEffect transition="in" filter="fade">
                                      <p:cBhvr>
                                        <p:cTn id="7" dur="1000"/>
                                        <p:tgtEl>
                                          <p:spTgt spid="399">
                                            <p:bg/>
                                          </p:spTgt>
                                        </p:tgtEl>
                                      </p:cBhvr>
                                    </p:animEffect>
                                  </p:childTnLst>
                                </p:cTn>
                              </p:par>
                              <p:par>
                                <p:cTn id="8" presetID="10" presetClass="entr" presetSubtype="0" fill="hold" grpId="0" nodeType="withEffect">
                                  <p:stCondLst>
                                    <p:cond delay="0"/>
                                  </p:stCondLst>
                                  <p:iterate>
                                    <p:tmAbs val="0"/>
                                  </p:iterate>
                                  <p:childTnLst>
                                    <p:set>
                                      <p:cBhvr>
                                        <p:cTn id="9" fill="hold"/>
                                        <p:tgtEl>
                                          <p:spTgt spid="399">
                                            <p:txEl>
                                              <p:pRg st="0" end="0"/>
                                            </p:txEl>
                                          </p:spTgt>
                                        </p:tgtEl>
                                        <p:attrNameLst>
                                          <p:attrName>style.visibility</p:attrName>
                                        </p:attrNameLst>
                                      </p:cBhvr>
                                      <p:to>
                                        <p:strVal val="visible"/>
                                      </p:to>
                                    </p:set>
                                    <p:animEffect transition="in" filter="fade">
                                      <p:cBhvr>
                                        <p:cTn id="10" dur="1000"/>
                                        <p:tgtEl>
                                          <p:spTgt spid="399">
                                            <p:txEl>
                                              <p:pRg st="0" end="0"/>
                                            </p:txEl>
                                          </p:spTgt>
                                        </p:tgtEl>
                                      </p:cBhvr>
                                    </p:animEffect>
                                  </p:childTnLst>
                                </p:cTn>
                              </p:par>
                              <p:par>
                                <p:cTn id="11" presetID="10" presetClass="entr" presetSubtype="0" fill="hold" grpId="0" nodeType="withEffect">
                                  <p:stCondLst>
                                    <p:cond delay="0"/>
                                  </p:stCondLst>
                                  <p:iterate>
                                    <p:tmAbs val="0"/>
                                  </p:iterate>
                                  <p:childTnLst>
                                    <p:set>
                                      <p:cBhvr>
                                        <p:cTn id="12" fill="hold"/>
                                        <p:tgtEl>
                                          <p:spTgt spid="399">
                                            <p:txEl>
                                              <p:pRg st="1" end="1"/>
                                            </p:txEl>
                                          </p:spTgt>
                                        </p:tgtEl>
                                        <p:attrNameLst>
                                          <p:attrName>style.visibility</p:attrName>
                                        </p:attrNameLst>
                                      </p:cBhvr>
                                      <p:to>
                                        <p:strVal val="visible"/>
                                      </p:to>
                                    </p:set>
                                    <p:animEffect transition="in" filter="fade">
                                      <p:cBhvr>
                                        <p:cTn id="13" dur="1000"/>
                                        <p:tgtEl>
                                          <p:spTgt spid="399">
                                            <p:txEl>
                                              <p:pRg st="1" end="1"/>
                                            </p:txEl>
                                          </p:spTgt>
                                        </p:tgtEl>
                                      </p:cBhvr>
                                    </p:animEffect>
                                  </p:childTnLst>
                                </p:cTn>
                              </p:par>
                              <p:par>
                                <p:cTn id="14" presetID="10" presetClass="entr" presetSubtype="0" fill="hold" grpId="0" nodeType="withEffect">
                                  <p:stCondLst>
                                    <p:cond delay="0"/>
                                  </p:stCondLst>
                                  <p:iterate>
                                    <p:tmAbs val="0"/>
                                  </p:iterate>
                                  <p:childTnLst>
                                    <p:set>
                                      <p:cBhvr>
                                        <p:cTn id="15" fill="hold"/>
                                        <p:tgtEl>
                                          <p:spTgt spid="399">
                                            <p:txEl>
                                              <p:pRg st="2" end="2"/>
                                            </p:txEl>
                                          </p:spTgt>
                                        </p:tgtEl>
                                        <p:attrNameLst>
                                          <p:attrName>style.visibility</p:attrName>
                                        </p:attrNameLst>
                                      </p:cBhvr>
                                      <p:to>
                                        <p:strVal val="visible"/>
                                      </p:to>
                                    </p:set>
                                    <p:animEffect transition="in" filter="fade">
                                      <p:cBhvr>
                                        <p:cTn id="16" dur="1000"/>
                                        <p:tgtEl>
                                          <p:spTgt spid="399">
                                            <p:txEl>
                                              <p:pRg st="2" end="2"/>
                                            </p:txEl>
                                          </p:spTgt>
                                        </p:tgtEl>
                                      </p:cBhvr>
                                    </p:animEffect>
                                  </p:childTnLst>
                                </p:cTn>
                              </p:par>
                              <p:par>
                                <p:cTn id="17" presetID="10" presetClass="entr" presetSubtype="0" fill="hold" grpId="0" nodeType="withEffect">
                                  <p:stCondLst>
                                    <p:cond delay="0"/>
                                  </p:stCondLst>
                                  <p:iterate>
                                    <p:tmAbs val="0"/>
                                  </p:iterate>
                                  <p:childTnLst>
                                    <p:set>
                                      <p:cBhvr>
                                        <p:cTn id="18" fill="hold"/>
                                        <p:tgtEl>
                                          <p:spTgt spid="399">
                                            <p:txEl>
                                              <p:pRg st="3" end="3"/>
                                            </p:txEl>
                                          </p:spTgt>
                                        </p:tgtEl>
                                        <p:attrNameLst>
                                          <p:attrName>style.visibility</p:attrName>
                                        </p:attrNameLst>
                                      </p:cBhvr>
                                      <p:to>
                                        <p:strVal val="visible"/>
                                      </p:to>
                                    </p:set>
                                    <p:animEffect transition="in" filter="fade">
                                      <p:cBhvr>
                                        <p:cTn id="19" dur="1000"/>
                                        <p:tgtEl>
                                          <p:spTgt spid="399">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fill="hold" grpId="0" nodeType="clickEffect">
                                  <p:stCondLst>
                                    <p:cond delay="0"/>
                                  </p:stCondLst>
                                  <p:iterate>
                                    <p:tmAbs val="0"/>
                                  </p:iterate>
                                  <p:childTnLst>
                                    <p:set>
                                      <p:cBhvr>
                                        <p:cTn id="23" fill="hold"/>
                                        <p:tgtEl>
                                          <p:spTgt spid="399">
                                            <p:txEl>
                                              <p:pRg st="4" end="4"/>
                                            </p:txEl>
                                          </p:spTgt>
                                        </p:tgtEl>
                                        <p:attrNameLst>
                                          <p:attrName>style.visibility</p:attrName>
                                        </p:attrNameLst>
                                      </p:cBhvr>
                                      <p:to>
                                        <p:strVal val="visible"/>
                                      </p:to>
                                    </p:set>
                                    <p:animEffect transition="in" filter="fade">
                                      <p:cBhvr>
                                        <p:cTn id="24" dur="1000"/>
                                        <p:tgtEl>
                                          <p:spTgt spid="399">
                                            <p:txEl>
                                              <p:pRg st="4" end="4"/>
                                            </p:txEl>
                                          </p:spTgt>
                                        </p:tgtEl>
                                      </p:cBhvr>
                                    </p:animEffect>
                                  </p:childTnLst>
                                </p:cTn>
                              </p:par>
                              <p:par>
                                <p:cTn id="25" presetID="10" presetClass="entr" presetSubtype="0" fill="hold" grpId="0" nodeType="withEffect">
                                  <p:stCondLst>
                                    <p:cond delay="0"/>
                                  </p:stCondLst>
                                  <p:iterate>
                                    <p:tmAbs val="0"/>
                                  </p:iterate>
                                  <p:childTnLst>
                                    <p:set>
                                      <p:cBhvr>
                                        <p:cTn id="26" fill="hold"/>
                                        <p:tgtEl>
                                          <p:spTgt spid="399">
                                            <p:txEl>
                                              <p:pRg st="5" end="5"/>
                                            </p:txEl>
                                          </p:spTgt>
                                        </p:tgtEl>
                                        <p:attrNameLst>
                                          <p:attrName>style.visibility</p:attrName>
                                        </p:attrNameLst>
                                      </p:cBhvr>
                                      <p:to>
                                        <p:strVal val="visible"/>
                                      </p:to>
                                    </p:set>
                                    <p:animEffect transition="in" filter="fade">
                                      <p:cBhvr>
                                        <p:cTn id="27" dur="1000"/>
                                        <p:tgtEl>
                                          <p:spTgt spid="399">
                                            <p:txEl>
                                              <p:pRg st="5" end="5"/>
                                            </p:txEl>
                                          </p:spTgt>
                                        </p:tgtEl>
                                      </p:cBhvr>
                                    </p:animEffect>
                                  </p:childTnLst>
                                </p:cTn>
                              </p:par>
                              <p:par>
                                <p:cTn id="28" presetID="10" presetClass="entr" presetSubtype="0" fill="hold" grpId="0" nodeType="withEffect">
                                  <p:stCondLst>
                                    <p:cond delay="0"/>
                                  </p:stCondLst>
                                  <p:iterate>
                                    <p:tmAbs val="0"/>
                                  </p:iterate>
                                  <p:childTnLst>
                                    <p:set>
                                      <p:cBhvr>
                                        <p:cTn id="29" fill="hold"/>
                                        <p:tgtEl>
                                          <p:spTgt spid="399">
                                            <p:txEl>
                                              <p:pRg st="6" end="6"/>
                                            </p:txEl>
                                          </p:spTgt>
                                        </p:tgtEl>
                                        <p:attrNameLst>
                                          <p:attrName>style.visibility</p:attrName>
                                        </p:attrNameLst>
                                      </p:cBhvr>
                                      <p:to>
                                        <p:strVal val="visible"/>
                                      </p:to>
                                    </p:set>
                                    <p:animEffect transition="in" filter="fade">
                                      <p:cBhvr>
                                        <p:cTn id="30" dur="1000"/>
                                        <p:tgtEl>
                                          <p:spTgt spid="399">
                                            <p:txEl>
                                              <p:pRg st="6" end="6"/>
                                            </p:txEl>
                                          </p:spTgt>
                                        </p:tgtEl>
                                      </p:cBhvr>
                                    </p:animEffect>
                                  </p:childTnLst>
                                </p:cTn>
                              </p:par>
                              <p:par>
                                <p:cTn id="31" presetID="10" presetClass="entr" presetSubtype="0" fill="hold" grpId="0" nodeType="withEffect">
                                  <p:stCondLst>
                                    <p:cond delay="0"/>
                                  </p:stCondLst>
                                  <p:iterate>
                                    <p:tmAbs val="0"/>
                                  </p:iterate>
                                  <p:childTnLst>
                                    <p:set>
                                      <p:cBhvr>
                                        <p:cTn id="32" fill="hold"/>
                                        <p:tgtEl>
                                          <p:spTgt spid="399">
                                            <p:txEl>
                                              <p:pRg st="7" end="7"/>
                                            </p:txEl>
                                          </p:spTgt>
                                        </p:tgtEl>
                                        <p:attrNameLst>
                                          <p:attrName>style.visibility</p:attrName>
                                        </p:attrNameLst>
                                      </p:cBhvr>
                                      <p:to>
                                        <p:strVal val="visible"/>
                                      </p:to>
                                    </p:set>
                                    <p:animEffect transition="in" filter="fade">
                                      <p:cBhvr>
                                        <p:cTn id="33" dur="1000"/>
                                        <p:tgtEl>
                                          <p:spTgt spid="399">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fill="hold" grpId="0" nodeType="clickEffect">
                                  <p:stCondLst>
                                    <p:cond delay="0"/>
                                  </p:stCondLst>
                                  <p:iterate>
                                    <p:tmAbs val="0"/>
                                  </p:iterate>
                                  <p:childTnLst>
                                    <p:set>
                                      <p:cBhvr>
                                        <p:cTn id="37" fill="hold"/>
                                        <p:tgtEl>
                                          <p:spTgt spid="399">
                                            <p:txEl>
                                              <p:pRg st="8" end="8"/>
                                            </p:txEl>
                                          </p:spTgt>
                                        </p:tgtEl>
                                        <p:attrNameLst>
                                          <p:attrName>style.visibility</p:attrName>
                                        </p:attrNameLst>
                                      </p:cBhvr>
                                      <p:to>
                                        <p:strVal val="visible"/>
                                      </p:to>
                                    </p:set>
                                    <p:animEffect transition="in" filter="fade">
                                      <p:cBhvr>
                                        <p:cTn id="38" dur="1000"/>
                                        <p:tgtEl>
                                          <p:spTgt spid="399">
                                            <p:txEl>
                                              <p:pRg st="8" end="8"/>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fill="hold" grpId="0" nodeType="clickEffect">
                                  <p:stCondLst>
                                    <p:cond delay="0"/>
                                  </p:stCondLst>
                                  <p:iterate>
                                    <p:tmAbs val="0"/>
                                  </p:iterate>
                                  <p:childTnLst>
                                    <p:set>
                                      <p:cBhvr>
                                        <p:cTn id="42" fill="hold"/>
                                        <p:tgtEl>
                                          <p:spTgt spid="400"/>
                                        </p:tgtEl>
                                        <p:attrNameLst>
                                          <p:attrName>style.visibility</p:attrName>
                                        </p:attrNameLst>
                                      </p:cBhvr>
                                      <p:to>
                                        <p:strVal val="visible"/>
                                      </p:to>
                                    </p:set>
                                    <p:animEffect transition="in" filter="fade">
                                      <p:cBhvr>
                                        <p:cTn id="43" dur="1000"/>
                                        <p:tgtEl>
                                          <p:spTgt spid="4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 grpId="0" build="p" animBg="1" advAuto="0"/>
      <p:bldP spid="400" grpId="0" animBg="1" advAuto="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 name="Cost - Benefit Analysis"/>
          <p:cNvSpPr txBox="1">
            <a:spLocks noGrp="1"/>
          </p:cNvSpPr>
          <p:nvPr>
            <p:ph type="title"/>
          </p:nvPr>
        </p:nvSpPr>
        <p:spPr>
          <a:prstGeom prst="rect">
            <a:avLst/>
          </a:prstGeom>
        </p:spPr>
        <p:txBody>
          <a:bodyPr/>
          <a:lstStyle>
            <a:lvl1pPr defTabSz="825500">
              <a:defRPr sz="11200" b="0">
                <a:solidFill>
                  <a:srgbClr val="000000"/>
                </a:solidFill>
                <a:latin typeface="+mn-lt"/>
                <a:ea typeface="+mn-ea"/>
                <a:cs typeface="+mn-cs"/>
                <a:sym typeface="Georgia"/>
              </a:defRPr>
            </a:lvl1pPr>
          </a:lstStyle>
          <a:p>
            <a:r>
              <a:t>Cost - Benefit Analysis</a:t>
            </a:r>
          </a:p>
        </p:txBody>
      </p:sp>
      <p:sp>
        <p:nvSpPr>
          <p:cNvPr id="403" name="The Pintos Memo"/>
          <p:cNvSpPr txBox="1"/>
          <p:nvPr/>
        </p:nvSpPr>
        <p:spPr>
          <a:xfrm>
            <a:off x="8941395" y="3432328"/>
            <a:ext cx="6501210" cy="10699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71437" tIns="71437" rIns="71437" bIns="71437" anchor="ctr">
            <a:spAutoFit/>
          </a:bodyPr>
          <a:lstStyle>
            <a:lvl1pPr>
              <a:defRPr sz="6400" b="0">
                <a:solidFill>
                  <a:srgbClr val="C82506"/>
                </a:solidFill>
                <a:latin typeface="+mn-lt"/>
                <a:ea typeface="+mn-ea"/>
                <a:cs typeface="+mn-cs"/>
                <a:sym typeface="Georgia"/>
              </a:defRPr>
            </a:lvl1pPr>
          </a:lstStyle>
          <a:p>
            <a:pPr>
              <a:defRPr>
                <a:solidFill>
                  <a:schemeClr val="accent5">
                    <a:hueOff val="-82419"/>
                    <a:satOff val="-9513"/>
                    <a:lumOff val="-16343"/>
                  </a:schemeClr>
                </a:solidFill>
              </a:defRPr>
            </a:pPr>
            <a:r>
              <a:rPr>
                <a:solidFill>
                  <a:srgbClr val="C82506"/>
                </a:solidFill>
              </a:rPr>
              <a:t>The Pintos Memo</a:t>
            </a:r>
          </a:p>
        </p:txBody>
      </p:sp>
      <p:sp>
        <p:nvSpPr>
          <p:cNvPr id="404" name="fuel system modifications…"/>
          <p:cNvSpPr txBox="1"/>
          <p:nvPr/>
        </p:nvSpPr>
        <p:spPr>
          <a:xfrm>
            <a:off x="9661649" y="5946888"/>
            <a:ext cx="11506092" cy="23907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7" tIns="71437" rIns="71437" bIns="71437" anchor="ctr">
            <a:spAutoFit/>
          </a:bodyPr>
          <a:lstStyle/>
          <a:p>
            <a:pPr defTabSz="821531">
              <a:defRPr sz="5200">
                <a:latin typeface="+mn-lt"/>
                <a:ea typeface="+mn-ea"/>
                <a:cs typeface="+mn-cs"/>
                <a:sym typeface="Georgia"/>
              </a:defRPr>
            </a:pPr>
            <a:r>
              <a:t>fuel system modifications</a:t>
            </a:r>
          </a:p>
          <a:p>
            <a:pPr defTabSz="821531">
              <a:defRPr sz="5200" b="0">
                <a:latin typeface="+mn-lt"/>
                <a:ea typeface="+mn-ea"/>
                <a:cs typeface="+mn-cs"/>
                <a:sym typeface="Georgia"/>
              </a:defRPr>
            </a:pPr>
            <a:r>
              <a:t>$11 cost per car X 12.5M cars </a:t>
            </a:r>
          </a:p>
          <a:p>
            <a:pPr defTabSz="821531">
              <a:defRPr sz="5200" b="0">
                <a:latin typeface="+mn-lt"/>
                <a:ea typeface="+mn-ea"/>
                <a:cs typeface="+mn-cs"/>
                <a:sym typeface="Georgia"/>
              </a:defRPr>
            </a:pPr>
            <a:r>
              <a:t>= $137M</a:t>
            </a:r>
          </a:p>
        </p:txBody>
      </p:sp>
      <p:pic>
        <p:nvPicPr>
          <p:cNvPr id="405" name="Image" descr="Image"/>
          <p:cNvPicPr>
            <a:picLocks noChangeAspect="1"/>
          </p:cNvPicPr>
          <p:nvPr/>
        </p:nvPicPr>
        <p:blipFill>
          <a:blip r:embed="rId2"/>
          <a:stretch>
            <a:fillRect/>
          </a:stretch>
        </p:blipFill>
        <p:spPr>
          <a:xfrm>
            <a:off x="3156239" y="9740378"/>
            <a:ext cx="6066151" cy="3412210"/>
          </a:xfrm>
          <a:prstGeom prst="rect">
            <a:avLst/>
          </a:prstGeom>
          <a:ln w="25400">
            <a:miter lim="400000"/>
          </a:ln>
          <a:effectLst>
            <a:outerShdw blurRad="355600" dist="177800" dir="5400000" rotWithShape="0">
              <a:srgbClr val="000000">
                <a:alpha val="70000"/>
              </a:srgbClr>
            </a:outerShdw>
          </a:effectLst>
        </p:spPr>
      </p:pic>
      <p:pic>
        <p:nvPicPr>
          <p:cNvPr id="406" name="Image" descr="Image"/>
          <p:cNvPicPr>
            <a:picLocks noChangeAspect="1"/>
          </p:cNvPicPr>
          <p:nvPr/>
        </p:nvPicPr>
        <p:blipFill>
          <a:blip r:embed="rId3"/>
          <a:stretch>
            <a:fillRect/>
          </a:stretch>
        </p:blipFill>
        <p:spPr>
          <a:xfrm>
            <a:off x="3380299" y="5192819"/>
            <a:ext cx="5618030" cy="3898913"/>
          </a:xfrm>
          <a:prstGeom prst="rect">
            <a:avLst/>
          </a:prstGeom>
          <a:ln w="25400">
            <a:miter lim="400000"/>
          </a:ln>
          <a:effectLst>
            <a:outerShdw blurRad="355600" dist="177800" dir="5400000" rotWithShape="0">
              <a:srgbClr val="000000">
                <a:alpha val="70000"/>
              </a:srgbClr>
            </a:outerShdw>
          </a:effectLst>
        </p:spPr>
      </p:pic>
      <p:sp>
        <p:nvSpPr>
          <p:cNvPr id="407" name="human life…"/>
          <p:cNvSpPr txBox="1"/>
          <p:nvPr/>
        </p:nvSpPr>
        <p:spPr>
          <a:xfrm>
            <a:off x="10262127" y="9876445"/>
            <a:ext cx="10305135" cy="31400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7" tIns="71437" rIns="71437" bIns="71437" anchor="ctr">
            <a:spAutoFit/>
          </a:bodyPr>
          <a:lstStyle/>
          <a:p>
            <a:pPr defTabSz="821531">
              <a:defRPr sz="5200">
                <a:latin typeface="+mn-lt"/>
                <a:ea typeface="+mn-ea"/>
                <a:cs typeface="+mn-cs"/>
                <a:sym typeface="Georgia"/>
              </a:defRPr>
            </a:pPr>
            <a:r>
              <a:t>human life</a:t>
            </a:r>
          </a:p>
          <a:p>
            <a:pPr defTabSz="821531">
              <a:defRPr sz="5200" b="0">
                <a:latin typeface="+mn-lt"/>
                <a:ea typeface="+mn-ea"/>
                <a:cs typeface="+mn-cs"/>
                <a:sym typeface="Georgia"/>
              </a:defRPr>
            </a:pPr>
            <a:r>
              <a:t>180 serious injuries per year X $275K cost per person </a:t>
            </a:r>
          </a:p>
          <a:p>
            <a:pPr defTabSz="821531">
              <a:defRPr sz="5200" b="0">
                <a:latin typeface="+mn-lt"/>
                <a:ea typeface="+mn-ea"/>
                <a:cs typeface="+mn-cs"/>
                <a:sym typeface="Georgia"/>
              </a:defRPr>
            </a:pPr>
            <a:r>
              <a:t>= $49.5M.</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0" nodeType="clickEffect">
                                  <p:stCondLst>
                                    <p:cond delay="0"/>
                                  </p:stCondLst>
                                  <p:iterate>
                                    <p:tmAbs val="0"/>
                                  </p:iterate>
                                  <p:childTnLst>
                                    <p:set>
                                      <p:cBhvr>
                                        <p:cTn id="6" fill="hold"/>
                                        <p:tgtEl>
                                          <p:spTgt spid="404"/>
                                        </p:tgtEl>
                                        <p:attrNameLst>
                                          <p:attrName>style.visibility</p:attrName>
                                        </p:attrNameLst>
                                      </p:cBhvr>
                                      <p:to>
                                        <p:strVal val="visible"/>
                                      </p:to>
                                    </p:set>
                                    <p:animEffect transition="in" filter="fade">
                                      <p:cBhvr>
                                        <p:cTn id="7" dur="1000"/>
                                        <p:tgtEl>
                                          <p:spTgt spid="40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grpId="0" nodeType="clickEffect">
                                  <p:stCondLst>
                                    <p:cond delay="0"/>
                                  </p:stCondLst>
                                  <p:iterate>
                                    <p:tmAbs val="0"/>
                                  </p:iterate>
                                  <p:childTnLst>
                                    <p:set>
                                      <p:cBhvr>
                                        <p:cTn id="11" fill="hold"/>
                                        <p:tgtEl>
                                          <p:spTgt spid="407"/>
                                        </p:tgtEl>
                                        <p:attrNameLst>
                                          <p:attrName>style.visibility</p:attrName>
                                        </p:attrNameLst>
                                      </p:cBhvr>
                                      <p:to>
                                        <p:strVal val="visible"/>
                                      </p:to>
                                    </p:set>
                                    <p:animEffect transition="in" filter="fade">
                                      <p:cBhvr>
                                        <p:cTn id="12" dur="1000"/>
                                        <p:tgtEl>
                                          <p:spTgt spid="407"/>
                                        </p:tgtEl>
                                      </p:cBhvr>
                                    </p:animEffect>
                                  </p:childTnLst>
                                </p:cTn>
                              </p:par>
                            </p:childTnLst>
                          </p:cTn>
                        </p:par>
                        <p:par>
                          <p:cTn id="13" fill="hold">
                            <p:stCondLst>
                              <p:cond delay="1000"/>
                            </p:stCondLst>
                            <p:childTnLst>
                              <p:par>
                                <p:cTn id="14" presetID="10" presetClass="entr" fill="hold" grpId="0" nodeType="afterEffect">
                                  <p:stCondLst>
                                    <p:cond delay="0"/>
                                  </p:stCondLst>
                                  <p:iterate>
                                    <p:tmAbs val="0"/>
                                  </p:iterate>
                                  <p:childTnLst>
                                    <p:set>
                                      <p:cBhvr>
                                        <p:cTn id="15" fill="hold"/>
                                        <p:tgtEl>
                                          <p:spTgt spid="405"/>
                                        </p:tgtEl>
                                        <p:attrNameLst>
                                          <p:attrName>style.visibility</p:attrName>
                                        </p:attrNameLst>
                                      </p:cBhvr>
                                      <p:to>
                                        <p:strVal val="visible"/>
                                      </p:to>
                                    </p:set>
                                    <p:animEffect transition="in" filter="fade">
                                      <p:cBhvr>
                                        <p:cTn id="16" dur="1000"/>
                                        <p:tgtEl>
                                          <p:spTgt spid="4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 grpId="0" animBg="1" advAuto="0"/>
      <p:bldP spid="405" grpId="0" animBg="1" advAuto="0"/>
      <p:bldP spid="407" grpId="0" animBg="1" advAuto="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 name="Many Things Can Go Wrong"/>
          <p:cNvSpPr txBox="1">
            <a:spLocks noGrp="1"/>
          </p:cNvSpPr>
          <p:nvPr>
            <p:ph type="title"/>
          </p:nvPr>
        </p:nvSpPr>
        <p:spPr>
          <a:xfrm>
            <a:off x="3543093" y="625078"/>
            <a:ext cx="17297814" cy="3036094"/>
          </a:xfrm>
          <a:prstGeom prst="rect">
            <a:avLst/>
          </a:prstGeom>
        </p:spPr>
        <p:txBody>
          <a:bodyPr/>
          <a:lstStyle>
            <a:lvl1pPr defTabSz="792479">
              <a:defRPr sz="10752" b="0">
                <a:solidFill>
                  <a:srgbClr val="000000"/>
                </a:solidFill>
                <a:latin typeface="+mn-lt"/>
                <a:ea typeface="+mn-ea"/>
                <a:cs typeface="+mn-cs"/>
                <a:sym typeface="Georgia"/>
              </a:defRPr>
            </a:lvl1pPr>
          </a:lstStyle>
          <a:p>
            <a:r>
              <a:t>Many Things Can Go Wrong</a:t>
            </a:r>
          </a:p>
        </p:txBody>
      </p:sp>
      <p:sp>
        <p:nvSpPr>
          <p:cNvPr id="410" name="Software bugs or design issues…"/>
          <p:cNvSpPr txBox="1">
            <a:spLocks noGrp="1"/>
          </p:cNvSpPr>
          <p:nvPr>
            <p:ph type="body" idx="1"/>
          </p:nvPr>
        </p:nvSpPr>
        <p:spPr>
          <a:xfrm>
            <a:off x="3625366" y="3661171"/>
            <a:ext cx="17133268" cy="8840392"/>
          </a:xfrm>
          <a:prstGeom prst="rect">
            <a:avLst/>
          </a:prstGeom>
        </p:spPr>
        <p:txBody>
          <a:bodyPr>
            <a:normAutofit lnSpcReduction="10000"/>
          </a:bodyPr>
          <a:lstStyle/>
          <a:p>
            <a:pPr marL="600075" indent="-600075" defTabSz="813315">
              <a:lnSpc>
                <a:spcPct val="200000"/>
              </a:lnSpc>
              <a:defRPr sz="5940">
                <a:latin typeface="+mn-lt"/>
                <a:ea typeface="+mn-ea"/>
                <a:cs typeface="+mn-cs"/>
                <a:sym typeface="Georgia"/>
              </a:defRPr>
            </a:pPr>
            <a:r>
              <a:t>Software bugs or design issues</a:t>
            </a:r>
          </a:p>
          <a:p>
            <a:pPr marL="600075" indent="-600075" defTabSz="813315">
              <a:lnSpc>
                <a:spcPct val="200000"/>
              </a:lnSpc>
              <a:defRPr sz="5940">
                <a:solidFill>
                  <a:schemeClr val="accent5">
                    <a:lumOff val="-29866"/>
                  </a:schemeClr>
                </a:solidFill>
                <a:latin typeface="+mn-lt"/>
                <a:ea typeface="+mn-ea"/>
                <a:cs typeface="+mn-cs"/>
                <a:sym typeface="Georgia"/>
              </a:defRPr>
            </a:pPr>
            <a:r>
              <a:t>Hardware bugs or design issues</a:t>
            </a:r>
          </a:p>
          <a:p>
            <a:pPr marL="600075" indent="-600075" defTabSz="813315">
              <a:lnSpc>
                <a:spcPct val="200000"/>
              </a:lnSpc>
              <a:defRPr sz="5940">
                <a:latin typeface="+mn-lt"/>
                <a:ea typeface="+mn-ea"/>
                <a:cs typeface="+mn-cs"/>
                <a:sym typeface="Georgia"/>
              </a:defRPr>
            </a:pPr>
            <a:r>
              <a:t>Humans (social engineering)</a:t>
            </a:r>
          </a:p>
          <a:p>
            <a:pPr marL="600075" indent="-600075" defTabSz="813315">
              <a:lnSpc>
                <a:spcPct val="200000"/>
              </a:lnSpc>
              <a:defRPr sz="5940">
                <a:latin typeface="+mn-lt"/>
                <a:ea typeface="+mn-ea"/>
                <a:cs typeface="+mn-cs"/>
                <a:sym typeface="Georgia"/>
              </a:defRPr>
            </a:pPr>
            <a:r>
              <a:rPr>
                <a:solidFill>
                  <a:schemeClr val="accent5">
                    <a:lumOff val="-29866"/>
                  </a:schemeClr>
                </a:solidFill>
              </a:rPr>
              <a:t>Unintended characteristics </a:t>
            </a:r>
            <a:br/>
            <a:r>
              <a:t>(e.g., side channels, poor sources of randomness)</a:t>
            </a:r>
          </a:p>
        </p:txBody>
      </p:sp>
      <p:sp>
        <p:nvSpPr>
          <p:cNvPr id="411" name="Everything can be compromised.…"/>
          <p:cNvSpPr/>
          <p:nvPr/>
        </p:nvSpPr>
        <p:spPr>
          <a:xfrm rot="20925652">
            <a:off x="4642248" y="4492062"/>
            <a:ext cx="16478857" cy="6013209"/>
          </a:xfrm>
          <a:prstGeom prst="rect">
            <a:avLst/>
          </a:prstGeom>
          <a:solidFill>
            <a:srgbClr val="D01A14"/>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spcBef>
                <a:spcPts val="5900"/>
              </a:spcBef>
              <a:defRPr sz="6600" b="0">
                <a:solidFill>
                  <a:srgbClr val="FFFFFF"/>
                </a:solidFill>
                <a:latin typeface="+mn-lt"/>
                <a:ea typeface="+mn-ea"/>
                <a:cs typeface="+mn-cs"/>
                <a:sym typeface="Georgia"/>
              </a:defRPr>
            </a:pPr>
            <a:r>
              <a:t>Everything can be compromised.</a:t>
            </a:r>
            <a:endParaRPr>
              <a:latin typeface="Times Roman"/>
              <a:ea typeface="Times Roman"/>
              <a:cs typeface="Times Roman"/>
              <a:sym typeface="Times Roman"/>
            </a:endParaRPr>
          </a:p>
          <a:p>
            <a:pPr>
              <a:spcBef>
                <a:spcPts val="5900"/>
              </a:spcBef>
              <a:defRPr sz="6600" b="0">
                <a:solidFill>
                  <a:srgbClr val="FFFFFF"/>
                </a:solidFill>
                <a:latin typeface="+mn-lt"/>
                <a:ea typeface="+mn-ea"/>
                <a:cs typeface="+mn-cs"/>
                <a:sym typeface="Georgia"/>
              </a:defRPr>
            </a:pPr>
            <a:r>
              <a:t>There is no such thing as complete security.</a:t>
            </a:r>
            <a:endParaRPr>
              <a:latin typeface="Times Roman"/>
              <a:ea typeface="Times Roman"/>
              <a:cs typeface="Times Roman"/>
              <a:sym typeface="Times Roman"/>
            </a:endParaRPr>
          </a:p>
          <a:p>
            <a:pPr>
              <a:spcBef>
                <a:spcPts val="5900"/>
              </a:spcBef>
              <a:defRPr sz="6600" b="0">
                <a:solidFill>
                  <a:srgbClr val="FFFFFF"/>
                </a:solidFill>
                <a:latin typeface="+mn-lt"/>
                <a:ea typeface="+mn-ea"/>
                <a:cs typeface="+mn-cs"/>
                <a:sym typeface="Georgia"/>
              </a:defRPr>
            </a:pPr>
            <a:r>
              <a:t>Only degrees of security.</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fill="hold" grpId="0" nodeType="afterEffect">
                                  <p:stCondLst>
                                    <p:cond delay="0"/>
                                  </p:stCondLst>
                                  <p:iterate>
                                    <p:tmAbs val="0"/>
                                  </p:iterate>
                                  <p:childTnLst>
                                    <p:set>
                                      <p:cBhvr>
                                        <p:cTn id="6" fill="hold"/>
                                        <p:tgtEl>
                                          <p:spTgt spid="410">
                                            <p:bg/>
                                          </p:spTgt>
                                        </p:tgtEl>
                                        <p:attrNameLst>
                                          <p:attrName>style.visibility</p:attrName>
                                        </p:attrNameLst>
                                      </p:cBhvr>
                                      <p:to>
                                        <p:strVal val="visible"/>
                                      </p:to>
                                    </p:set>
                                    <p:animEffect transition="in" filter="fade">
                                      <p:cBhvr>
                                        <p:cTn id="7" dur="1000"/>
                                        <p:tgtEl>
                                          <p:spTgt spid="410">
                                            <p:bg/>
                                          </p:spTgt>
                                        </p:tgtEl>
                                      </p:cBhvr>
                                    </p:animEffect>
                                  </p:childTnLst>
                                </p:cTn>
                              </p:par>
                              <p:par>
                                <p:cTn id="8" presetID="10" presetClass="entr" presetSubtype="0" fill="hold" grpId="0" nodeType="withEffect">
                                  <p:stCondLst>
                                    <p:cond delay="0"/>
                                  </p:stCondLst>
                                  <p:iterate>
                                    <p:tmAbs val="0"/>
                                  </p:iterate>
                                  <p:childTnLst>
                                    <p:set>
                                      <p:cBhvr>
                                        <p:cTn id="9" fill="hold"/>
                                        <p:tgtEl>
                                          <p:spTgt spid="410">
                                            <p:txEl>
                                              <p:pRg st="0" end="0"/>
                                            </p:txEl>
                                          </p:spTgt>
                                        </p:tgtEl>
                                        <p:attrNameLst>
                                          <p:attrName>style.visibility</p:attrName>
                                        </p:attrNameLst>
                                      </p:cBhvr>
                                      <p:to>
                                        <p:strVal val="visible"/>
                                      </p:to>
                                    </p:set>
                                    <p:animEffect transition="in" filter="fade">
                                      <p:cBhvr>
                                        <p:cTn id="10" dur="1000"/>
                                        <p:tgtEl>
                                          <p:spTgt spid="410">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fill="hold" grpId="0" nodeType="clickEffect">
                                  <p:stCondLst>
                                    <p:cond delay="0"/>
                                  </p:stCondLst>
                                  <p:iterate>
                                    <p:tmAbs val="0"/>
                                  </p:iterate>
                                  <p:childTnLst>
                                    <p:set>
                                      <p:cBhvr>
                                        <p:cTn id="14" fill="hold"/>
                                        <p:tgtEl>
                                          <p:spTgt spid="410">
                                            <p:txEl>
                                              <p:pRg st="1" end="1"/>
                                            </p:txEl>
                                          </p:spTgt>
                                        </p:tgtEl>
                                        <p:attrNameLst>
                                          <p:attrName>style.visibility</p:attrName>
                                        </p:attrNameLst>
                                      </p:cBhvr>
                                      <p:to>
                                        <p:strVal val="visible"/>
                                      </p:to>
                                    </p:set>
                                    <p:animEffect transition="in" filter="fade">
                                      <p:cBhvr>
                                        <p:cTn id="15" dur="1000"/>
                                        <p:tgtEl>
                                          <p:spTgt spid="410">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fill="hold" grpId="0" nodeType="clickEffect">
                                  <p:stCondLst>
                                    <p:cond delay="0"/>
                                  </p:stCondLst>
                                  <p:iterate>
                                    <p:tmAbs val="0"/>
                                  </p:iterate>
                                  <p:childTnLst>
                                    <p:set>
                                      <p:cBhvr>
                                        <p:cTn id="19" fill="hold"/>
                                        <p:tgtEl>
                                          <p:spTgt spid="410">
                                            <p:txEl>
                                              <p:pRg st="2" end="2"/>
                                            </p:txEl>
                                          </p:spTgt>
                                        </p:tgtEl>
                                        <p:attrNameLst>
                                          <p:attrName>style.visibility</p:attrName>
                                        </p:attrNameLst>
                                      </p:cBhvr>
                                      <p:to>
                                        <p:strVal val="visible"/>
                                      </p:to>
                                    </p:set>
                                    <p:animEffect transition="in" filter="fade">
                                      <p:cBhvr>
                                        <p:cTn id="20" dur="1000"/>
                                        <p:tgtEl>
                                          <p:spTgt spid="410">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fill="hold" grpId="0" nodeType="clickEffect">
                                  <p:stCondLst>
                                    <p:cond delay="0"/>
                                  </p:stCondLst>
                                  <p:iterate>
                                    <p:tmAbs val="0"/>
                                  </p:iterate>
                                  <p:childTnLst>
                                    <p:set>
                                      <p:cBhvr>
                                        <p:cTn id="24" fill="hold"/>
                                        <p:tgtEl>
                                          <p:spTgt spid="410">
                                            <p:txEl>
                                              <p:pRg st="3" end="3"/>
                                            </p:txEl>
                                          </p:spTgt>
                                        </p:tgtEl>
                                        <p:attrNameLst>
                                          <p:attrName>style.visibility</p:attrName>
                                        </p:attrNameLst>
                                      </p:cBhvr>
                                      <p:to>
                                        <p:strVal val="visible"/>
                                      </p:to>
                                    </p:set>
                                    <p:animEffect transition="in" filter="fade">
                                      <p:cBhvr>
                                        <p:cTn id="25" dur="1000"/>
                                        <p:tgtEl>
                                          <p:spTgt spid="410">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fill="hold" grpId="0" nodeType="clickEffect">
                                  <p:stCondLst>
                                    <p:cond delay="0"/>
                                  </p:stCondLst>
                                  <p:iterate>
                                    <p:tmAbs val="0"/>
                                  </p:iterate>
                                  <p:childTnLst>
                                    <p:set>
                                      <p:cBhvr>
                                        <p:cTn id="29" fill="hold"/>
                                        <p:tgtEl>
                                          <p:spTgt spid="411"/>
                                        </p:tgtEl>
                                        <p:attrNameLst>
                                          <p:attrName>style.visibility</p:attrName>
                                        </p:attrNameLst>
                                      </p:cBhvr>
                                      <p:to>
                                        <p:strVal val="visible"/>
                                      </p:to>
                                    </p:set>
                                    <p:animEffect transition="in" filter="fade">
                                      <p:cBhvr>
                                        <p:cTn id="30" dur="1000"/>
                                        <p:tgtEl>
                                          <p:spTgt spid="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 grpId="0" build="p" bldLvl="5" animBg="1" advAuto="0"/>
      <p:bldP spid="411" grpId="0" animBg="1" advAuto="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 name="Designing Defenses"/>
          <p:cNvSpPr txBox="1">
            <a:spLocks noGrp="1"/>
          </p:cNvSpPr>
          <p:nvPr>
            <p:ph type="title"/>
          </p:nvPr>
        </p:nvSpPr>
        <p:spPr>
          <a:prstGeom prst="rect">
            <a:avLst/>
          </a:prstGeom>
        </p:spPr>
        <p:txBody>
          <a:bodyPr/>
          <a:lstStyle>
            <a:lvl1pPr defTabSz="825500">
              <a:defRPr sz="11200" b="0">
                <a:solidFill>
                  <a:srgbClr val="000000"/>
                </a:solidFill>
                <a:latin typeface="+mn-lt"/>
                <a:ea typeface="+mn-ea"/>
                <a:cs typeface="+mn-cs"/>
                <a:sym typeface="Georgia"/>
              </a:defRPr>
            </a:lvl1pPr>
          </a:lstStyle>
          <a:p>
            <a:r>
              <a:t>Designing Defenses</a:t>
            </a:r>
          </a:p>
        </p:txBody>
      </p:sp>
      <p:sp>
        <p:nvSpPr>
          <p:cNvPr id="414" name="Identify the weaknesses of your design…"/>
          <p:cNvSpPr txBox="1">
            <a:spLocks noGrp="1"/>
          </p:cNvSpPr>
          <p:nvPr>
            <p:ph type="body" idx="1"/>
          </p:nvPr>
        </p:nvSpPr>
        <p:spPr>
          <a:xfrm>
            <a:off x="4387453" y="3670101"/>
            <a:ext cx="15609094" cy="8840392"/>
          </a:xfrm>
          <a:prstGeom prst="rect">
            <a:avLst/>
          </a:prstGeom>
        </p:spPr>
        <p:txBody>
          <a:bodyPr/>
          <a:lstStyle/>
          <a:p>
            <a:pPr>
              <a:lnSpc>
                <a:spcPct val="120000"/>
              </a:lnSpc>
              <a:defRPr>
                <a:solidFill>
                  <a:srgbClr val="C82506"/>
                </a:solidFill>
                <a:latin typeface="+mn-lt"/>
                <a:ea typeface="+mn-ea"/>
                <a:cs typeface="+mn-cs"/>
                <a:sym typeface="Georgia"/>
              </a:defRPr>
            </a:pPr>
            <a:r>
              <a:t>Identify the weaknesses of your design</a:t>
            </a:r>
          </a:p>
          <a:p>
            <a:pPr lvl="1">
              <a:lnSpc>
                <a:spcPct val="120000"/>
              </a:lnSpc>
              <a:defRPr>
                <a:latin typeface="+mn-lt"/>
                <a:ea typeface="+mn-ea"/>
                <a:cs typeface="+mn-cs"/>
                <a:sym typeface="Georgia"/>
              </a:defRPr>
            </a:pPr>
            <a:r>
              <a:t>Focus on correcting them</a:t>
            </a:r>
          </a:p>
          <a:p>
            <a:pPr>
              <a:lnSpc>
                <a:spcPct val="120000"/>
              </a:lnSpc>
              <a:defRPr>
                <a:solidFill>
                  <a:srgbClr val="C82506"/>
                </a:solidFill>
                <a:latin typeface="+mn-lt"/>
                <a:ea typeface="+mn-ea"/>
                <a:cs typeface="+mn-cs"/>
                <a:sym typeface="Georgia"/>
              </a:defRPr>
            </a:pPr>
            <a:r>
              <a:t>Trusted components</a:t>
            </a:r>
          </a:p>
          <a:p>
            <a:pPr lvl="2">
              <a:lnSpc>
                <a:spcPct val="120000"/>
              </a:lnSpc>
              <a:defRPr>
                <a:latin typeface="+mn-lt"/>
                <a:ea typeface="+mn-ea"/>
                <a:cs typeface="+mn-cs"/>
                <a:sym typeface="Georgia"/>
              </a:defRPr>
            </a:pPr>
            <a:r>
              <a:t>Parts that must function correctly for the system to be secure.</a:t>
            </a:r>
          </a:p>
          <a:p>
            <a:pPr>
              <a:lnSpc>
                <a:spcPct val="120000"/>
              </a:lnSpc>
              <a:defRPr>
                <a:solidFill>
                  <a:schemeClr val="accent5">
                    <a:lumOff val="-29866"/>
                  </a:schemeClr>
                </a:solidFill>
                <a:latin typeface="+mn-lt"/>
                <a:ea typeface="+mn-ea"/>
                <a:cs typeface="+mn-cs"/>
                <a:sym typeface="Georgia"/>
              </a:defRPr>
            </a:pPr>
            <a:r>
              <a:t>Attack surface</a:t>
            </a:r>
          </a:p>
          <a:p>
            <a:pPr lvl="2">
              <a:lnSpc>
                <a:spcPct val="120000"/>
              </a:lnSpc>
              <a:defRPr>
                <a:latin typeface="+mn-lt"/>
                <a:ea typeface="+mn-ea"/>
                <a:cs typeface="+mn-cs"/>
                <a:sym typeface="Georgia"/>
              </a:defRPr>
            </a:pPr>
            <a:r>
              <a:t>Parts of the system exposed to the attacker</a:t>
            </a:r>
          </a:p>
          <a:p>
            <a:pPr>
              <a:lnSpc>
                <a:spcPct val="120000"/>
              </a:lnSpc>
              <a:defRPr>
                <a:solidFill>
                  <a:srgbClr val="C82506"/>
                </a:solidFill>
                <a:latin typeface="+mn-lt"/>
                <a:ea typeface="+mn-ea"/>
                <a:cs typeface="+mn-cs"/>
                <a:sym typeface="Georgia"/>
              </a:defRPr>
            </a:pPr>
            <a:r>
              <a:t>Complexity and Obscurity</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fill="hold" grpId="0" nodeType="afterEffect">
                                  <p:stCondLst>
                                    <p:cond delay="0"/>
                                  </p:stCondLst>
                                  <p:iterate>
                                    <p:tmAbs val="0"/>
                                  </p:iterate>
                                  <p:childTnLst>
                                    <p:set>
                                      <p:cBhvr>
                                        <p:cTn id="6" fill="hold"/>
                                        <p:tgtEl>
                                          <p:spTgt spid="414">
                                            <p:bg/>
                                          </p:spTgt>
                                        </p:tgtEl>
                                        <p:attrNameLst>
                                          <p:attrName>style.visibility</p:attrName>
                                        </p:attrNameLst>
                                      </p:cBhvr>
                                      <p:to>
                                        <p:strVal val="visible"/>
                                      </p:to>
                                    </p:set>
                                    <p:animEffect transition="in" filter="fade">
                                      <p:cBhvr>
                                        <p:cTn id="7" dur="1000"/>
                                        <p:tgtEl>
                                          <p:spTgt spid="414">
                                            <p:bg/>
                                          </p:spTgt>
                                        </p:tgtEl>
                                      </p:cBhvr>
                                    </p:animEffect>
                                  </p:childTnLst>
                                </p:cTn>
                              </p:par>
                              <p:par>
                                <p:cTn id="8" presetID="10" presetClass="entr" presetSubtype="0" fill="hold" grpId="0" nodeType="withEffect">
                                  <p:stCondLst>
                                    <p:cond delay="0"/>
                                  </p:stCondLst>
                                  <p:iterate>
                                    <p:tmAbs val="0"/>
                                  </p:iterate>
                                  <p:childTnLst>
                                    <p:set>
                                      <p:cBhvr>
                                        <p:cTn id="9" fill="hold"/>
                                        <p:tgtEl>
                                          <p:spTgt spid="414">
                                            <p:txEl>
                                              <p:pRg st="0" end="0"/>
                                            </p:txEl>
                                          </p:spTgt>
                                        </p:tgtEl>
                                        <p:attrNameLst>
                                          <p:attrName>style.visibility</p:attrName>
                                        </p:attrNameLst>
                                      </p:cBhvr>
                                      <p:to>
                                        <p:strVal val="visible"/>
                                      </p:to>
                                    </p:set>
                                    <p:animEffect transition="in" filter="fade">
                                      <p:cBhvr>
                                        <p:cTn id="10" dur="1000"/>
                                        <p:tgtEl>
                                          <p:spTgt spid="414">
                                            <p:txEl>
                                              <p:pRg st="0" end="0"/>
                                            </p:txEl>
                                          </p:spTgt>
                                        </p:tgtEl>
                                      </p:cBhvr>
                                    </p:animEffect>
                                  </p:childTnLst>
                                </p:cTn>
                              </p:par>
                              <p:par>
                                <p:cTn id="11" presetID="10" presetClass="entr" presetSubtype="0" fill="hold" grpId="0" nodeType="withEffect">
                                  <p:stCondLst>
                                    <p:cond delay="0"/>
                                  </p:stCondLst>
                                  <p:iterate>
                                    <p:tmAbs val="0"/>
                                  </p:iterate>
                                  <p:childTnLst>
                                    <p:set>
                                      <p:cBhvr>
                                        <p:cTn id="12" fill="hold"/>
                                        <p:tgtEl>
                                          <p:spTgt spid="414">
                                            <p:txEl>
                                              <p:pRg st="1" end="1"/>
                                            </p:txEl>
                                          </p:spTgt>
                                        </p:tgtEl>
                                        <p:attrNameLst>
                                          <p:attrName>style.visibility</p:attrName>
                                        </p:attrNameLst>
                                      </p:cBhvr>
                                      <p:to>
                                        <p:strVal val="visible"/>
                                      </p:to>
                                    </p:set>
                                    <p:animEffect transition="in" filter="fade">
                                      <p:cBhvr>
                                        <p:cTn id="13" dur="1000"/>
                                        <p:tgtEl>
                                          <p:spTgt spid="414">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fill="hold" grpId="0" nodeType="clickEffect">
                                  <p:stCondLst>
                                    <p:cond delay="0"/>
                                  </p:stCondLst>
                                  <p:iterate>
                                    <p:tmAbs val="0"/>
                                  </p:iterate>
                                  <p:childTnLst>
                                    <p:set>
                                      <p:cBhvr>
                                        <p:cTn id="17" fill="hold"/>
                                        <p:tgtEl>
                                          <p:spTgt spid="414">
                                            <p:txEl>
                                              <p:pRg st="2" end="2"/>
                                            </p:txEl>
                                          </p:spTgt>
                                        </p:tgtEl>
                                        <p:attrNameLst>
                                          <p:attrName>style.visibility</p:attrName>
                                        </p:attrNameLst>
                                      </p:cBhvr>
                                      <p:to>
                                        <p:strVal val="visible"/>
                                      </p:to>
                                    </p:set>
                                    <p:animEffect transition="in" filter="fade">
                                      <p:cBhvr>
                                        <p:cTn id="18" dur="1000"/>
                                        <p:tgtEl>
                                          <p:spTgt spid="414">
                                            <p:txEl>
                                              <p:pRg st="2" end="2"/>
                                            </p:txEl>
                                          </p:spTgt>
                                        </p:tgtEl>
                                      </p:cBhvr>
                                    </p:animEffect>
                                  </p:childTnLst>
                                </p:cTn>
                              </p:par>
                              <p:par>
                                <p:cTn id="19" presetID="10" presetClass="entr" presetSubtype="0" fill="hold" grpId="0" nodeType="withEffect">
                                  <p:stCondLst>
                                    <p:cond delay="0"/>
                                  </p:stCondLst>
                                  <p:iterate>
                                    <p:tmAbs val="0"/>
                                  </p:iterate>
                                  <p:childTnLst>
                                    <p:set>
                                      <p:cBhvr>
                                        <p:cTn id="20" fill="hold"/>
                                        <p:tgtEl>
                                          <p:spTgt spid="414">
                                            <p:txEl>
                                              <p:pRg st="3" end="3"/>
                                            </p:txEl>
                                          </p:spTgt>
                                        </p:tgtEl>
                                        <p:attrNameLst>
                                          <p:attrName>style.visibility</p:attrName>
                                        </p:attrNameLst>
                                      </p:cBhvr>
                                      <p:to>
                                        <p:strVal val="visible"/>
                                      </p:to>
                                    </p:set>
                                    <p:animEffect transition="in" filter="fade">
                                      <p:cBhvr>
                                        <p:cTn id="21" dur="1000"/>
                                        <p:tgtEl>
                                          <p:spTgt spid="414">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fill="hold" grpId="0" nodeType="clickEffect">
                                  <p:stCondLst>
                                    <p:cond delay="0"/>
                                  </p:stCondLst>
                                  <p:iterate>
                                    <p:tmAbs val="0"/>
                                  </p:iterate>
                                  <p:childTnLst>
                                    <p:set>
                                      <p:cBhvr>
                                        <p:cTn id="25" fill="hold"/>
                                        <p:tgtEl>
                                          <p:spTgt spid="414">
                                            <p:txEl>
                                              <p:pRg st="4" end="4"/>
                                            </p:txEl>
                                          </p:spTgt>
                                        </p:tgtEl>
                                        <p:attrNameLst>
                                          <p:attrName>style.visibility</p:attrName>
                                        </p:attrNameLst>
                                      </p:cBhvr>
                                      <p:to>
                                        <p:strVal val="visible"/>
                                      </p:to>
                                    </p:set>
                                    <p:animEffect transition="in" filter="fade">
                                      <p:cBhvr>
                                        <p:cTn id="26" dur="1000"/>
                                        <p:tgtEl>
                                          <p:spTgt spid="414">
                                            <p:txEl>
                                              <p:pRg st="4" end="4"/>
                                            </p:txEl>
                                          </p:spTgt>
                                        </p:tgtEl>
                                      </p:cBhvr>
                                    </p:animEffect>
                                  </p:childTnLst>
                                </p:cTn>
                              </p:par>
                              <p:par>
                                <p:cTn id="27" presetID="10" presetClass="entr" presetSubtype="0" fill="hold" grpId="0" nodeType="withEffect">
                                  <p:stCondLst>
                                    <p:cond delay="0"/>
                                  </p:stCondLst>
                                  <p:iterate>
                                    <p:tmAbs val="0"/>
                                  </p:iterate>
                                  <p:childTnLst>
                                    <p:set>
                                      <p:cBhvr>
                                        <p:cTn id="28" fill="hold"/>
                                        <p:tgtEl>
                                          <p:spTgt spid="414">
                                            <p:txEl>
                                              <p:pRg st="5" end="5"/>
                                            </p:txEl>
                                          </p:spTgt>
                                        </p:tgtEl>
                                        <p:attrNameLst>
                                          <p:attrName>style.visibility</p:attrName>
                                        </p:attrNameLst>
                                      </p:cBhvr>
                                      <p:to>
                                        <p:strVal val="visible"/>
                                      </p:to>
                                    </p:set>
                                    <p:animEffect transition="in" filter="fade">
                                      <p:cBhvr>
                                        <p:cTn id="29" dur="1000"/>
                                        <p:tgtEl>
                                          <p:spTgt spid="414">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fill="hold" grpId="0" nodeType="clickEffect">
                                  <p:stCondLst>
                                    <p:cond delay="0"/>
                                  </p:stCondLst>
                                  <p:iterate>
                                    <p:tmAbs val="0"/>
                                  </p:iterate>
                                  <p:childTnLst>
                                    <p:set>
                                      <p:cBhvr>
                                        <p:cTn id="33" fill="hold"/>
                                        <p:tgtEl>
                                          <p:spTgt spid="414">
                                            <p:txEl>
                                              <p:pRg st="6" end="6"/>
                                            </p:txEl>
                                          </p:spTgt>
                                        </p:tgtEl>
                                        <p:attrNameLst>
                                          <p:attrName>style.visibility</p:attrName>
                                        </p:attrNameLst>
                                      </p:cBhvr>
                                      <p:to>
                                        <p:strVal val="visible"/>
                                      </p:to>
                                    </p:set>
                                    <p:animEffect transition="in" filter="fade">
                                      <p:cBhvr>
                                        <p:cTn id="34" dur="1000"/>
                                        <p:tgtEl>
                                          <p:spTgt spid="41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 grpId="0" build="p" animBg="1" advAuto="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 name="End Result"/>
          <p:cNvSpPr txBox="1">
            <a:spLocks noGrp="1"/>
          </p:cNvSpPr>
          <p:nvPr>
            <p:ph type="title"/>
          </p:nvPr>
        </p:nvSpPr>
        <p:spPr>
          <a:prstGeom prst="rect">
            <a:avLst/>
          </a:prstGeom>
        </p:spPr>
        <p:txBody>
          <a:bodyPr/>
          <a:lstStyle>
            <a:lvl1pPr defTabSz="825500">
              <a:defRPr sz="11200" b="0">
                <a:solidFill>
                  <a:srgbClr val="000000"/>
                </a:solidFill>
                <a:latin typeface="+mn-lt"/>
                <a:ea typeface="+mn-ea"/>
                <a:cs typeface="+mn-cs"/>
                <a:sym typeface="Georgia"/>
              </a:defRPr>
            </a:lvl1pPr>
          </a:lstStyle>
          <a:p>
            <a:r>
              <a:t>End Result</a:t>
            </a:r>
          </a:p>
        </p:txBody>
      </p:sp>
      <p:sp>
        <p:nvSpPr>
          <p:cNvPr id="424" name="“Design a mechanism…"/>
          <p:cNvSpPr txBox="1"/>
          <p:nvPr/>
        </p:nvSpPr>
        <p:spPr>
          <a:xfrm>
            <a:off x="4459581" y="5053012"/>
            <a:ext cx="15464837" cy="36099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7" tIns="71437" rIns="71437" bIns="71437" anchor="ctr">
            <a:spAutoFit/>
          </a:bodyPr>
          <a:lstStyle/>
          <a:p>
            <a:pPr defTabSz="821531">
              <a:defRPr sz="8000" b="0">
                <a:latin typeface="+mn-lt"/>
                <a:ea typeface="+mn-ea"/>
                <a:cs typeface="+mn-cs"/>
                <a:sym typeface="Georgia"/>
              </a:defRPr>
            </a:pPr>
            <a:r>
              <a:t>“Design a </a:t>
            </a:r>
            <a:r>
              <a:rPr>
                <a:solidFill>
                  <a:srgbClr val="C82506"/>
                </a:solidFill>
              </a:rPr>
              <a:t>mechanism</a:t>
            </a:r>
          </a:p>
          <a:p>
            <a:pPr defTabSz="821531">
              <a:defRPr sz="8000" b="0">
                <a:latin typeface="+mn-lt"/>
                <a:ea typeface="+mn-ea"/>
                <a:cs typeface="+mn-cs"/>
                <a:sym typeface="Georgia"/>
              </a:defRPr>
            </a:pPr>
            <a:r>
              <a:t>based on the </a:t>
            </a:r>
            <a:r>
              <a:rPr>
                <a:solidFill>
                  <a:srgbClr val="C82506"/>
                </a:solidFill>
              </a:rPr>
              <a:t>threat model</a:t>
            </a:r>
          </a:p>
          <a:p>
            <a:pPr defTabSz="821531">
              <a:defRPr sz="8000" b="0">
                <a:latin typeface="+mn-lt"/>
                <a:ea typeface="+mn-ea"/>
                <a:cs typeface="+mn-cs"/>
                <a:sym typeface="Georgia"/>
              </a:defRPr>
            </a:pPr>
            <a:r>
              <a:t>that allow us to achieve our </a:t>
            </a:r>
            <a:r>
              <a:rPr>
                <a:solidFill>
                  <a:srgbClr val="C82506"/>
                </a:solidFill>
              </a:rPr>
              <a:t>goal</a:t>
            </a:r>
            <a:r>
              <a:t>.”</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0" nodeType="clickEffect">
                                  <p:stCondLst>
                                    <p:cond delay="0"/>
                                  </p:stCondLst>
                                  <p:iterate>
                                    <p:tmAbs val="0"/>
                                  </p:iterate>
                                  <p:childTnLst>
                                    <p:set>
                                      <p:cBhvr>
                                        <p:cTn id="6" fill="hold"/>
                                        <p:tgtEl>
                                          <p:spTgt spid="424"/>
                                        </p:tgtEl>
                                        <p:attrNameLst>
                                          <p:attrName>style.visibility</p:attrName>
                                        </p:attrNameLst>
                                      </p:cBhvr>
                                      <p:to>
                                        <p:strVal val="visible"/>
                                      </p:to>
                                    </p:set>
                                    <p:animEffect transition="in" filter="fade">
                                      <p:cBhvr>
                                        <p:cTn id="7" dur="1000"/>
                                        <p:tgtEl>
                                          <p:spTgt spid="4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4" grpId="0" animBg="1" advAuto="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 name="The Never-Ending Cycle"/>
          <p:cNvSpPr txBox="1">
            <a:spLocks noGrp="1"/>
          </p:cNvSpPr>
          <p:nvPr>
            <p:ph type="title"/>
          </p:nvPr>
        </p:nvSpPr>
        <p:spPr>
          <a:prstGeom prst="rect">
            <a:avLst/>
          </a:prstGeom>
        </p:spPr>
        <p:txBody>
          <a:bodyPr/>
          <a:lstStyle>
            <a:lvl1pPr defTabSz="825500">
              <a:defRPr sz="11200" b="0">
                <a:solidFill>
                  <a:srgbClr val="000000"/>
                </a:solidFill>
                <a:latin typeface="+mn-lt"/>
                <a:ea typeface="+mn-ea"/>
                <a:cs typeface="+mn-cs"/>
                <a:sym typeface="Georgia"/>
              </a:defRPr>
            </a:lvl1pPr>
          </a:lstStyle>
          <a:p>
            <a:r>
              <a:t>The Never-Ending Cycle</a:t>
            </a:r>
          </a:p>
        </p:txBody>
      </p:sp>
      <p:pic>
        <p:nvPicPr>
          <p:cNvPr id="433" name="Connection Line" descr="Connection Line"/>
          <p:cNvPicPr>
            <a:picLocks/>
          </p:cNvPicPr>
          <p:nvPr/>
        </p:nvPicPr>
        <p:blipFill>
          <a:blip r:embed="rId2"/>
          <a:stretch>
            <a:fillRect/>
          </a:stretch>
        </p:blipFill>
        <p:spPr>
          <a:xfrm>
            <a:off x="6583108" y="4088116"/>
            <a:ext cx="10630457" cy="3520699"/>
          </a:xfrm>
          <a:prstGeom prst="rect">
            <a:avLst/>
          </a:prstGeom>
        </p:spPr>
      </p:pic>
      <p:sp>
        <p:nvSpPr>
          <p:cNvPr id="430" name="Attacks"/>
          <p:cNvSpPr txBox="1"/>
          <p:nvPr/>
        </p:nvSpPr>
        <p:spPr>
          <a:xfrm>
            <a:off x="5126137" y="7550152"/>
            <a:ext cx="3903255" cy="15144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71437" tIns="71437" rIns="71437" bIns="71437" anchor="ctr">
            <a:spAutoFit/>
          </a:bodyPr>
          <a:lstStyle>
            <a:lvl1pPr algn="l" defTabSz="821531">
              <a:defRPr sz="9000" b="0">
                <a:latin typeface="Helvetica"/>
                <a:ea typeface="Helvetica"/>
                <a:cs typeface="Helvetica"/>
                <a:sym typeface="Helvetica"/>
              </a:defRPr>
            </a:lvl1pPr>
          </a:lstStyle>
          <a:p>
            <a:r>
              <a:t>Attacks</a:t>
            </a:r>
          </a:p>
        </p:txBody>
      </p:sp>
      <p:sp>
        <p:nvSpPr>
          <p:cNvPr id="431" name="Defenses"/>
          <p:cNvSpPr txBox="1"/>
          <p:nvPr/>
        </p:nvSpPr>
        <p:spPr>
          <a:xfrm>
            <a:off x="14566718" y="7550152"/>
            <a:ext cx="4984305" cy="15144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71437" tIns="71437" rIns="71437" bIns="71437" anchor="ctr">
            <a:spAutoFit/>
          </a:bodyPr>
          <a:lstStyle>
            <a:lvl1pPr algn="l" defTabSz="821531">
              <a:defRPr sz="9000" b="0">
                <a:latin typeface="Helvetica"/>
                <a:ea typeface="Helvetica"/>
                <a:cs typeface="Helvetica"/>
                <a:sym typeface="Helvetica"/>
              </a:defRPr>
            </a:lvl1pPr>
          </a:lstStyle>
          <a:p>
            <a:r>
              <a:t>Defenses</a:t>
            </a:r>
          </a:p>
        </p:txBody>
      </p:sp>
      <p:pic>
        <p:nvPicPr>
          <p:cNvPr id="435" name="Connection Line" descr="Connection Line"/>
          <p:cNvPicPr>
            <a:picLocks/>
          </p:cNvPicPr>
          <p:nvPr/>
        </p:nvPicPr>
        <p:blipFill>
          <a:blip r:embed="rId3"/>
          <a:stretch>
            <a:fillRect/>
          </a:stretch>
        </p:blipFill>
        <p:spPr>
          <a:xfrm>
            <a:off x="6680605" y="9243878"/>
            <a:ext cx="10284063" cy="2967254"/>
          </a:xfrm>
          <a:prstGeom prst="rect">
            <a:avLst/>
          </a:prstGeom>
        </p:spPr>
      </p:pic>
    </p:spTree>
  </p:cSld>
  <p:clrMapOvr>
    <a:masterClrMapping/>
  </p:clrMapOvr>
  <p:transition spd="med"/>
</p:sld>
</file>

<file path=ppt/theme/theme1.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Georgia"/>
        <a:ea typeface="Georgia"/>
        <a:cs typeface="Georgia"/>
      </a:majorFont>
      <a:minorFont>
        <a:latin typeface="Georgia"/>
        <a:ea typeface="Georgia"/>
        <a:cs typeface="Georgi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Georgia"/>
        <a:ea typeface="Georgia"/>
        <a:cs typeface="Georgia"/>
      </a:majorFont>
      <a:minorFont>
        <a:latin typeface="Georgia"/>
        <a:ea typeface="Georgia"/>
        <a:cs typeface="Georgi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文档" ma:contentTypeID="0x010100BA28DED8D9F2D14B8E27CB18C307E003" ma:contentTypeVersion="7" ma:contentTypeDescription="新建文档。" ma:contentTypeScope="" ma:versionID="8e87291d25d8265b33d35bde67425d18">
  <xsd:schema xmlns:xsd="http://www.w3.org/2001/XMLSchema" xmlns:xs="http://www.w3.org/2001/XMLSchema" xmlns:p="http://schemas.microsoft.com/office/2006/metadata/properties" xmlns:ns2="59278939-d8ab-4e38-b034-f411ac5ce45e" targetNamespace="http://schemas.microsoft.com/office/2006/metadata/properties" ma:root="true" ma:fieldsID="a2b22be353407fad8a8e10cfed4202f2" ns2:_="">
    <xsd:import namespace="59278939-d8ab-4e38-b034-f411ac5ce45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9278939-d8ab-4e38-b034-f411ac5ce4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内容类型"/>
        <xsd:element ref="dc:title" minOccurs="0" maxOccurs="1" ma:index="4" ma:displayName="标题"/>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ED0BE77-44C9-47B2-AD07-7C31B843E446}"/>
</file>

<file path=customXml/itemProps2.xml><?xml version="1.0" encoding="utf-8"?>
<ds:datastoreItem xmlns:ds="http://schemas.openxmlformats.org/officeDocument/2006/customXml" ds:itemID="{BCB391CE-6AB6-4C8B-91F1-A333D3050181}"/>
</file>

<file path=customXml/itemProps3.xml><?xml version="1.0" encoding="utf-8"?>
<ds:datastoreItem xmlns:ds="http://schemas.openxmlformats.org/officeDocument/2006/customXml" ds:itemID="{C395F377-AC31-4B56-9767-5B53E728BB33}"/>
</file>

<file path=docProps/app.xml><?xml version="1.0" encoding="utf-8"?>
<Properties xmlns="http://schemas.openxmlformats.org/officeDocument/2006/extended-properties" xmlns:vt="http://schemas.openxmlformats.org/officeDocument/2006/docPropsVTypes">
  <TotalTime>102</TotalTime>
  <Words>615</Words>
  <Application>Microsoft Office PowerPoint</Application>
  <PresentationFormat>Custom</PresentationFormat>
  <Paragraphs>101</Paragraphs>
  <Slides>19</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Helvetica Light</vt:lpstr>
      <vt:lpstr>Helvetica Neue</vt:lpstr>
      <vt:lpstr>Helvetica Neue Light</vt:lpstr>
      <vt:lpstr>Helvetica Neue Medium</vt:lpstr>
      <vt:lpstr>Times Roman</vt:lpstr>
      <vt:lpstr>Arial</vt:lpstr>
      <vt:lpstr>Georgia</vt:lpstr>
      <vt:lpstr>Helvetica</vt:lpstr>
      <vt:lpstr>White</vt:lpstr>
      <vt:lpstr>CSE 331: Computer Security Fundamentals Spring 2026</vt:lpstr>
      <vt:lpstr>Join the Class on Teams! </vt:lpstr>
      <vt:lpstr>How do you define Computer Security?</vt:lpstr>
      <vt:lpstr>PowerPoint Presentation</vt:lpstr>
      <vt:lpstr>Key Properties: The CIA Triad</vt:lpstr>
      <vt:lpstr>Are These Enough?</vt:lpstr>
      <vt:lpstr>Threat Model</vt:lpstr>
      <vt:lpstr>Thinking Like an Attacker</vt:lpstr>
      <vt:lpstr>Why Study Attacks?</vt:lpstr>
      <vt:lpstr>The Attacker Process</vt:lpstr>
      <vt:lpstr>The World of Ours</vt:lpstr>
      <vt:lpstr>The $5 Wrench</vt:lpstr>
      <vt:lpstr>Play Fair!</vt:lpstr>
      <vt:lpstr>Thinking as a Defender</vt:lpstr>
      <vt:lpstr>Cost - Benefit Analysis</vt:lpstr>
      <vt:lpstr>Many Things Can Go Wrong</vt:lpstr>
      <vt:lpstr>Designing Defenses</vt:lpstr>
      <vt:lpstr>End Result</vt:lpstr>
      <vt:lpstr>The Never-Ending Cycle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331: Computer Security Fundamentals Fall 2024</dc:title>
  <cp:lastModifiedBy>XINRUI YU</cp:lastModifiedBy>
  <cp:revision>4</cp:revision>
  <cp:lastPrinted>2025-02-25T12:45:49Z</cp:lastPrinted>
  <dcterms:modified xsi:type="dcterms:W3CDTF">2026-03-03T10:47:28Z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0x010100BA28DED8D9F2D14B8E27CB18C307E003</vt:lpwstr>
  </property>
</Properties>
</file>