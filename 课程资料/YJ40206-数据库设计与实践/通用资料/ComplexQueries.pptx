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6.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7.xml" ContentType="application/vnd.openxmlformats-officedocument.theme+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8.xml" ContentType="application/vnd.openxmlformats-officedocument.theme+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9.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62" r:id="rId1"/>
    <p:sldMasterId id="2147483751" r:id="rId2"/>
    <p:sldMasterId id="2147483660" r:id="rId3"/>
    <p:sldMasterId id="2147483672" r:id="rId4"/>
    <p:sldMasterId id="2147483684" r:id="rId5"/>
    <p:sldMasterId id="2147483696" r:id="rId6"/>
    <p:sldMasterId id="2147483708" r:id="rId7"/>
    <p:sldMasterId id="2147483720" r:id="rId8"/>
    <p:sldMasterId id="2147483732" r:id="rId9"/>
    <p:sldMasterId id="2147483738" r:id="rId10"/>
  </p:sldMasterIdLst>
  <p:notesMasterIdLst>
    <p:notesMasterId r:id="rId99"/>
  </p:notesMasterIdLst>
  <p:handoutMasterIdLst>
    <p:handoutMasterId r:id="rId100"/>
  </p:handoutMasterIdLst>
  <p:sldIdLst>
    <p:sldId id="265" r:id="rId11"/>
    <p:sldId id="395" r:id="rId12"/>
    <p:sldId id="307" r:id="rId13"/>
    <p:sldId id="373" r:id="rId14"/>
    <p:sldId id="385" r:id="rId15"/>
    <p:sldId id="386" r:id="rId16"/>
    <p:sldId id="304" r:id="rId17"/>
    <p:sldId id="305" r:id="rId18"/>
    <p:sldId id="306" r:id="rId19"/>
    <p:sldId id="411" r:id="rId20"/>
    <p:sldId id="308" r:id="rId21"/>
    <p:sldId id="368" r:id="rId22"/>
    <p:sldId id="375" r:id="rId23"/>
    <p:sldId id="311" r:id="rId24"/>
    <p:sldId id="314" r:id="rId25"/>
    <p:sldId id="315" r:id="rId26"/>
    <p:sldId id="396" r:id="rId27"/>
    <p:sldId id="317" r:id="rId28"/>
    <p:sldId id="318" r:id="rId29"/>
    <p:sldId id="319" r:id="rId30"/>
    <p:sldId id="371" r:id="rId31"/>
    <p:sldId id="372" r:id="rId32"/>
    <p:sldId id="320" r:id="rId33"/>
    <p:sldId id="321" r:id="rId34"/>
    <p:sldId id="322" r:id="rId35"/>
    <p:sldId id="323" r:id="rId36"/>
    <p:sldId id="324" r:id="rId37"/>
    <p:sldId id="325" r:id="rId38"/>
    <p:sldId id="326" r:id="rId39"/>
    <p:sldId id="388" r:id="rId40"/>
    <p:sldId id="412" r:id="rId41"/>
    <p:sldId id="327" r:id="rId42"/>
    <p:sldId id="366" r:id="rId43"/>
    <p:sldId id="367" r:id="rId44"/>
    <p:sldId id="383" r:id="rId45"/>
    <p:sldId id="328" r:id="rId46"/>
    <p:sldId id="329" r:id="rId47"/>
    <p:sldId id="330" r:id="rId48"/>
    <p:sldId id="331" r:id="rId49"/>
    <p:sldId id="332" r:id="rId50"/>
    <p:sldId id="382" r:id="rId51"/>
    <p:sldId id="397" r:id="rId52"/>
    <p:sldId id="376" r:id="rId53"/>
    <p:sldId id="390" r:id="rId54"/>
    <p:sldId id="380" r:id="rId55"/>
    <p:sldId id="413" r:id="rId56"/>
    <p:sldId id="381" r:id="rId57"/>
    <p:sldId id="379" r:id="rId58"/>
    <p:sldId id="398" r:id="rId59"/>
    <p:sldId id="392" r:id="rId60"/>
    <p:sldId id="393" r:id="rId61"/>
    <p:sldId id="394" r:id="rId62"/>
    <p:sldId id="334" r:id="rId63"/>
    <p:sldId id="404" r:id="rId64"/>
    <p:sldId id="391" r:id="rId65"/>
    <p:sldId id="403" r:id="rId66"/>
    <p:sldId id="399" r:id="rId67"/>
    <p:sldId id="406" r:id="rId68"/>
    <p:sldId id="405" r:id="rId69"/>
    <p:sldId id="345" r:id="rId70"/>
    <p:sldId id="407" r:id="rId71"/>
    <p:sldId id="410" r:id="rId72"/>
    <p:sldId id="339" r:id="rId73"/>
    <p:sldId id="340" r:id="rId74"/>
    <p:sldId id="341" r:id="rId75"/>
    <p:sldId id="343" r:id="rId76"/>
    <p:sldId id="344" r:id="rId77"/>
    <p:sldId id="370" r:id="rId78"/>
    <p:sldId id="408" r:id="rId79"/>
    <p:sldId id="400" r:id="rId80"/>
    <p:sldId id="347" r:id="rId81"/>
    <p:sldId id="348" r:id="rId82"/>
    <p:sldId id="349" r:id="rId83"/>
    <p:sldId id="350" r:id="rId84"/>
    <p:sldId id="409" r:id="rId85"/>
    <p:sldId id="352" r:id="rId86"/>
    <p:sldId id="402" r:id="rId87"/>
    <p:sldId id="353" r:id="rId88"/>
    <p:sldId id="354" r:id="rId89"/>
    <p:sldId id="355" r:id="rId90"/>
    <p:sldId id="356" r:id="rId91"/>
    <p:sldId id="357" r:id="rId92"/>
    <p:sldId id="358" r:id="rId93"/>
    <p:sldId id="359" r:id="rId94"/>
    <p:sldId id="360" r:id="rId95"/>
    <p:sldId id="361" r:id="rId96"/>
    <p:sldId id="414" r:id="rId97"/>
    <p:sldId id="364" r:id="rId98"/>
  </p:sldIdLst>
  <p:sldSz cx="12192000" cy="6858000"/>
  <p:notesSz cx="9296400" cy="701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兔巴哥 Wang" initials="兔巴哥" lastIdx="1" clrIdx="0">
    <p:extLst>
      <p:ext uri="{19B8F6BF-5375-455C-9EA6-DF929625EA0E}">
        <p15:presenceInfo xmlns:p15="http://schemas.microsoft.com/office/powerpoint/2012/main" userId="0fd89dd23878562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EFF0F1"/>
    <a:srgbClr val="FFE07D"/>
    <a:srgbClr val="FFFFFF"/>
    <a:srgbClr val="CBA9E5"/>
    <a:srgbClr val="FFD757"/>
    <a:srgbClr val="BD002E"/>
    <a:srgbClr val="8D1A11"/>
    <a:srgbClr val="9A0000"/>
    <a:srgbClr val="59B9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06" autoAdjust="0"/>
    <p:restoredTop sz="87017" autoAdjust="0"/>
  </p:normalViewPr>
  <p:slideViewPr>
    <p:cSldViewPr>
      <p:cViewPr varScale="1">
        <p:scale>
          <a:sx n="64" d="100"/>
          <a:sy n="64" d="100"/>
        </p:scale>
        <p:origin x="728" y="80"/>
      </p:cViewPr>
      <p:guideLst>
        <p:guide orient="horz" pos="2160"/>
        <p:guide pos="3840"/>
      </p:guideLst>
    </p:cSldViewPr>
  </p:slideViewPr>
  <p:outlineViewPr>
    <p:cViewPr>
      <p:scale>
        <a:sx n="33" d="100"/>
        <a:sy n="33" d="100"/>
      </p:scale>
      <p:origin x="0" y="-79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slide" Target="slides/slide53.xml"/><Relationship Id="rId68" Type="http://schemas.openxmlformats.org/officeDocument/2006/relationships/slide" Target="slides/slide58.xml"/><Relationship Id="rId84" Type="http://schemas.openxmlformats.org/officeDocument/2006/relationships/slide" Target="slides/slide74.xml"/><Relationship Id="rId89" Type="http://schemas.openxmlformats.org/officeDocument/2006/relationships/slide" Target="slides/slide79.xml"/><Relationship Id="rId16" Type="http://schemas.openxmlformats.org/officeDocument/2006/relationships/slide" Target="slides/slide6.xml"/><Relationship Id="rId11" Type="http://schemas.openxmlformats.org/officeDocument/2006/relationships/slide" Target="slides/slide1.xml"/><Relationship Id="rId32" Type="http://schemas.openxmlformats.org/officeDocument/2006/relationships/slide" Target="slides/slide22.xml"/><Relationship Id="rId37" Type="http://schemas.openxmlformats.org/officeDocument/2006/relationships/slide" Target="slides/slide27.xml"/><Relationship Id="rId53" Type="http://schemas.openxmlformats.org/officeDocument/2006/relationships/slide" Target="slides/slide43.xml"/><Relationship Id="rId58" Type="http://schemas.openxmlformats.org/officeDocument/2006/relationships/slide" Target="slides/slide48.xml"/><Relationship Id="rId74" Type="http://schemas.openxmlformats.org/officeDocument/2006/relationships/slide" Target="slides/slide64.xml"/><Relationship Id="rId79" Type="http://schemas.openxmlformats.org/officeDocument/2006/relationships/slide" Target="slides/slide69.xml"/><Relationship Id="rId102" Type="http://schemas.openxmlformats.org/officeDocument/2006/relationships/presProps" Target="presProps.xml"/><Relationship Id="rId5" Type="http://schemas.openxmlformats.org/officeDocument/2006/relationships/slideMaster" Target="slideMasters/slideMaster5.xml"/><Relationship Id="rId90" Type="http://schemas.openxmlformats.org/officeDocument/2006/relationships/slide" Target="slides/slide80.xml"/><Relationship Id="rId95" Type="http://schemas.openxmlformats.org/officeDocument/2006/relationships/slide" Target="slides/slide85.xml"/><Relationship Id="rId22" Type="http://schemas.openxmlformats.org/officeDocument/2006/relationships/slide" Target="slides/slide12.xml"/><Relationship Id="rId27" Type="http://schemas.openxmlformats.org/officeDocument/2006/relationships/slide" Target="slides/slide17.xml"/><Relationship Id="rId43" Type="http://schemas.openxmlformats.org/officeDocument/2006/relationships/slide" Target="slides/slide33.xml"/><Relationship Id="rId48" Type="http://schemas.openxmlformats.org/officeDocument/2006/relationships/slide" Target="slides/slide38.xml"/><Relationship Id="rId64" Type="http://schemas.openxmlformats.org/officeDocument/2006/relationships/slide" Target="slides/slide54.xml"/><Relationship Id="rId69" Type="http://schemas.openxmlformats.org/officeDocument/2006/relationships/slide" Target="slides/slide59.xml"/><Relationship Id="rId80" Type="http://schemas.openxmlformats.org/officeDocument/2006/relationships/slide" Target="slides/slide70.xml"/><Relationship Id="rId85" Type="http://schemas.openxmlformats.org/officeDocument/2006/relationships/slide" Target="slides/slide75.xml"/><Relationship Id="rId12" Type="http://schemas.openxmlformats.org/officeDocument/2006/relationships/slide" Target="slides/slide2.xml"/><Relationship Id="rId17" Type="http://schemas.openxmlformats.org/officeDocument/2006/relationships/slide" Target="slides/slide7.xml"/><Relationship Id="rId33" Type="http://schemas.openxmlformats.org/officeDocument/2006/relationships/slide" Target="slides/slide23.xml"/><Relationship Id="rId38" Type="http://schemas.openxmlformats.org/officeDocument/2006/relationships/slide" Target="slides/slide28.xml"/><Relationship Id="rId59" Type="http://schemas.openxmlformats.org/officeDocument/2006/relationships/slide" Target="slides/slide49.xml"/><Relationship Id="rId103" Type="http://schemas.openxmlformats.org/officeDocument/2006/relationships/viewProps" Target="viewProps.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70" Type="http://schemas.openxmlformats.org/officeDocument/2006/relationships/slide" Target="slides/slide60.xml"/><Relationship Id="rId75" Type="http://schemas.openxmlformats.org/officeDocument/2006/relationships/slide" Target="slides/slide65.xml"/><Relationship Id="rId83" Type="http://schemas.openxmlformats.org/officeDocument/2006/relationships/slide" Target="slides/slide73.xml"/><Relationship Id="rId88" Type="http://schemas.openxmlformats.org/officeDocument/2006/relationships/slide" Target="slides/slide78.xml"/><Relationship Id="rId91" Type="http://schemas.openxmlformats.org/officeDocument/2006/relationships/slide" Target="slides/slide81.xml"/><Relationship Id="rId96" Type="http://schemas.openxmlformats.org/officeDocument/2006/relationships/slide" Target="slides/slide86.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10.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slide" Target="slides/slide63.xml"/><Relationship Id="rId78" Type="http://schemas.openxmlformats.org/officeDocument/2006/relationships/slide" Target="slides/slide68.xml"/><Relationship Id="rId81" Type="http://schemas.openxmlformats.org/officeDocument/2006/relationships/slide" Target="slides/slide71.xml"/><Relationship Id="rId86" Type="http://schemas.openxmlformats.org/officeDocument/2006/relationships/slide" Target="slides/slide76.xml"/><Relationship Id="rId94" Type="http://schemas.openxmlformats.org/officeDocument/2006/relationships/slide" Target="slides/slide84.xml"/><Relationship Id="rId99" Type="http://schemas.openxmlformats.org/officeDocument/2006/relationships/notesMaster" Target="notesMasters/notesMaster1.xml"/><Relationship Id="rId101"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6" Type="http://schemas.openxmlformats.org/officeDocument/2006/relationships/slide" Target="slides/slide66.xml"/><Relationship Id="rId97" Type="http://schemas.openxmlformats.org/officeDocument/2006/relationships/slide" Target="slides/slide87.xml"/><Relationship Id="rId104" Type="http://schemas.openxmlformats.org/officeDocument/2006/relationships/theme" Target="theme/theme1.xml"/><Relationship Id="rId7" Type="http://schemas.openxmlformats.org/officeDocument/2006/relationships/slideMaster" Target="slideMasters/slideMaster7.xml"/><Relationship Id="rId71" Type="http://schemas.openxmlformats.org/officeDocument/2006/relationships/slide" Target="slides/slide61.xml"/><Relationship Id="rId92" Type="http://schemas.openxmlformats.org/officeDocument/2006/relationships/slide" Target="slides/slide82.xml"/><Relationship Id="rId2" Type="http://schemas.openxmlformats.org/officeDocument/2006/relationships/slideMaster" Target="slideMasters/slideMaster2.xml"/><Relationship Id="rId29" Type="http://schemas.openxmlformats.org/officeDocument/2006/relationships/slide" Target="slides/slide19.xml"/><Relationship Id="rId24" Type="http://schemas.openxmlformats.org/officeDocument/2006/relationships/slide" Target="slides/slide14.xml"/><Relationship Id="rId40" Type="http://schemas.openxmlformats.org/officeDocument/2006/relationships/slide" Target="slides/slide30.xml"/><Relationship Id="rId45" Type="http://schemas.openxmlformats.org/officeDocument/2006/relationships/slide" Target="slides/slide35.xml"/><Relationship Id="rId66" Type="http://schemas.openxmlformats.org/officeDocument/2006/relationships/slide" Target="slides/slide56.xml"/><Relationship Id="rId87" Type="http://schemas.openxmlformats.org/officeDocument/2006/relationships/slide" Target="slides/slide77.xml"/><Relationship Id="rId61" Type="http://schemas.openxmlformats.org/officeDocument/2006/relationships/slide" Target="slides/slide51.xml"/><Relationship Id="rId82" Type="http://schemas.openxmlformats.org/officeDocument/2006/relationships/slide" Target="slides/slide72.xml"/><Relationship Id="rId19" Type="http://schemas.openxmlformats.org/officeDocument/2006/relationships/slide" Target="slides/slide9.xml"/><Relationship Id="rId14" Type="http://schemas.openxmlformats.org/officeDocument/2006/relationships/slide" Target="slides/slide4.xml"/><Relationship Id="rId30" Type="http://schemas.openxmlformats.org/officeDocument/2006/relationships/slide" Target="slides/slide20.xml"/><Relationship Id="rId35" Type="http://schemas.openxmlformats.org/officeDocument/2006/relationships/slide" Target="slides/slide25.xml"/><Relationship Id="rId56" Type="http://schemas.openxmlformats.org/officeDocument/2006/relationships/slide" Target="slides/slide46.xml"/><Relationship Id="rId77" Type="http://schemas.openxmlformats.org/officeDocument/2006/relationships/slide" Target="slides/slide67.xml"/><Relationship Id="rId100" Type="http://schemas.openxmlformats.org/officeDocument/2006/relationships/handoutMaster" Target="handoutMasters/handoutMaster1.xml"/><Relationship Id="rId105" Type="http://schemas.openxmlformats.org/officeDocument/2006/relationships/tableStyles" Target="tableStyles.xml"/><Relationship Id="rId8" Type="http://schemas.openxmlformats.org/officeDocument/2006/relationships/slideMaster" Target="slideMasters/slideMaster8.xml"/><Relationship Id="rId51" Type="http://schemas.openxmlformats.org/officeDocument/2006/relationships/slide" Target="slides/slide41.xml"/><Relationship Id="rId72" Type="http://schemas.openxmlformats.org/officeDocument/2006/relationships/slide" Target="slides/slide62.xml"/><Relationship Id="rId93" Type="http://schemas.openxmlformats.org/officeDocument/2006/relationships/slide" Target="slides/slide83.xml"/><Relationship Id="rId98" Type="http://schemas.openxmlformats.org/officeDocument/2006/relationships/slide" Target="slides/slide88.xml"/><Relationship Id="rId3" Type="http://schemas.openxmlformats.org/officeDocument/2006/relationships/slideMaster" Target="slideMasters/slideMaster3.xml"/><Relationship Id="rId25" Type="http://schemas.openxmlformats.org/officeDocument/2006/relationships/slide" Target="slides/slide15.xml"/><Relationship Id="rId46" Type="http://schemas.openxmlformats.org/officeDocument/2006/relationships/slide" Target="slides/slide36.xml"/><Relationship Id="rId67" Type="http://schemas.openxmlformats.org/officeDocument/2006/relationships/slide" Target="slides/slide5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6C92AB1-B607-48EB-8573-641360BB5120}"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D5C62AF5-5DB3-45C0-B6E5-93C5D77147A1}">
      <dgm:prSet phldrT="[Text]" custT="1"/>
      <dgm:spPr/>
      <dgm:t>
        <a:bodyPr/>
        <a:lstStyle/>
        <a:p>
          <a:r>
            <a:rPr lang="en-US" sz="2400" dirty="0"/>
            <a:t>1</a:t>
          </a:r>
        </a:p>
      </dgm:t>
    </dgm:pt>
    <dgm:pt modelId="{B4DDE56A-D0F0-4625-8640-A72E8DCA17E7}" type="parTrans" cxnId="{E143E444-E8B0-464E-AB38-F98395D6AA03}">
      <dgm:prSet/>
      <dgm:spPr/>
      <dgm:t>
        <a:bodyPr/>
        <a:lstStyle/>
        <a:p>
          <a:endParaRPr lang="en-US" sz="2400"/>
        </a:p>
      </dgm:t>
    </dgm:pt>
    <dgm:pt modelId="{A5A67CD4-9AC6-429C-8F53-B849401EE08C}" type="sibTrans" cxnId="{E143E444-E8B0-464E-AB38-F98395D6AA03}">
      <dgm:prSet/>
      <dgm:spPr/>
      <dgm:t>
        <a:bodyPr/>
        <a:lstStyle/>
        <a:p>
          <a:endParaRPr lang="en-US" sz="2400"/>
        </a:p>
      </dgm:t>
    </dgm:pt>
    <dgm:pt modelId="{0CE63D06-D0A5-4809-81C4-BAD050294DCA}">
      <dgm:prSet phldrT="[Text]" custT="1"/>
      <dgm:spPr/>
      <dgm:t>
        <a:bodyPr/>
        <a:lstStyle/>
        <a:p>
          <a:r>
            <a:rPr lang="en-US" sz="2400" dirty="0"/>
            <a:t>1a</a:t>
          </a:r>
        </a:p>
      </dgm:t>
    </dgm:pt>
    <dgm:pt modelId="{BC3A6C86-A9CC-48B5-91A0-3821627731F8}" type="parTrans" cxnId="{F1EFCC47-4623-4F1F-81BF-357B8043C23E}">
      <dgm:prSet/>
      <dgm:spPr/>
      <dgm:t>
        <a:bodyPr/>
        <a:lstStyle/>
        <a:p>
          <a:endParaRPr lang="en-US" sz="2400"/>
        </a:p>
      </dgm:t>
    </dgm:pt>
    <dgm:pt modelId="{A555BDD9-ECC4-44CF-9212-858B0444164C}" type="sibTrans" cxnId="{F1EFCC47-4623-4F1F-81BF-357B8043C23E}">
      <dgm:prSet/>
      <dgm:spPr/>
      <dgm:t>
        <a:bodyPr/>
        <a:lstStyle/>
        <a:p>
          <a:endParaRPr lang="en-US" sz="2400"/>
        </a:p>
      </dgm:t>
    </dgm:pt>
    <dgm:pt modelId="{E49E0E62-B790-415F-A10C-26774EB88F7A}">
      <dgm:prSet phldrT="[Text]" custT="1"/>
      <dgm:spPr/>
      <dgm:t>
        <a:bodyPr/>
        <a:lstStyle/>
        <a:p>
          <a:r>
            <a:rPr lang="en-US" sz="2400" dirty="0"/>
            <a:t>1aC</a:t>
          </a:r>
        </a:p>
      </dgm:t>
    </dgm:pt>
    <dgm:pt modelId="{D870BC5B-EB7A-4E5E-A16D-A1EF41782962}" type="parTrans" cxnId="{6142D476-277A-4A5A-81F7-4C288ECA7815}">
      <dgm:prSet/>
      <dgm:spPr/>
      <dgm:t>
        <a:bodyPr/>
        <a:lstStyle/>
        <a:p>
          <a:endParaRPr lang="en-US" sz="2400"/>
        </a:p>
      </dgm:t>
    </dgm:pt>
    <dgm:pt modelId="{7644F989-18DE-47CF-BFE8-6932EEB3D14F}" type="sibTrans" cxnId="{6142D476-277A-4A5A-81F7-4C288ECA7815}">
      <dgm:prSet/>
      <dgm:spPr/>
      <dgm:t>
        <a:bodyPr/>
        <a:lstStyle/>
        <a:p>
          <a:endParaRPr lang="en-US" sz="2400"/>
        </a:p>
      </dgm:t>
    </dgm:pt>
    <dgm:pt modelId="{B8B9CC3B-D8A3-4BEB-BCFD-C21FA76AC94B}">
      <dgm:prSet phldrT="[Text]" custT="1"/>
      <dgm:spPr/>
      <dgm:t>
        <a:bodyPr/>
        <a:lstStyle/>
        <a:p>
          <a:r>
            <a:rPr lang="en-US" sz="2400" dirty="0"/>
            <a:t>1aD</a:t>
          </a:r>
        </a:p>
      </dgm:t>
    </dgm:pt>
    <dgm:pt modelId="{234858F0-F29F-4F46-85AA-0B64AB36A93D}" type="parTrans" cxnId="{04464E36-41FC-482D-8A8E-F13733C64B02}">
      <dgm:prSet/>
      <dgm:spPr/>
      <dgm:t>
        <a:bodyPr/>
        <a:lstStyle/>
        <a:p>
          <a:endParaRPr lang="en-US" sz="2400"/>
        </a:p>
      </dgm:t>
    </dgm:pt>
    <dgm:pt modelId="{4587873B-F9DD-4CB4-B8C6-10D8705BE63E}" type="sibTrans" cxnId="{04464E36-41FC-482D-8A8E-F13733C64B02}">
      <dgm:prSet/>
      <dgm:spPr/>
      <dgm:t>
        <a:bodyPr/>
        <a:lstStyle/>
        <a:p>
          <a:endParaRPr lang="en-US" sz="2400"/>
        </a:p>
      </dgm:t>
    </dgm:pt>
    <dgm:pt modelId="{3F1700EF-D35D-45EF-B4CA-4AC92C1D83F5}">
      <dgm:prSet phldrT="[Text]" custT="1"/>
      <dgm:spPr/>
      <dgm:t>
        <a:bodyPr/>
        <a:lstStyle/>
        <a:p>
          <a:r>
            <a:rPr lang="en-US" sz="2400" dirty="0"/>
            <a:t>1b</a:t>
          </a:r>
        </a:p>
      </dgm:t>
    </dgm:pt>
    <dgm:pt modelId="{58FB2B6E-8AA0-4D62-941B-FA3EAFC48C22}" type="parTrans" cxnId="{C9DC1484-1ED8-4466-A43D-009D6F3DDAB3}">
      <dgm:prSet/>
      <dgm:spPr/>
      <dgm:t>
        <a:bodyPr/>
        <a:lstStyle/>
        <a:p>
          <a:endParaRPr lang="en-US" sz="2400"/>
        </a:p>
      </dgm:t>
    </dgm:pt>
    <dgm:pt modelId="{D7AE626B-6D74-4A2A-AE1E-ABB75AC1DC96}" type="sibTrans" cxnId="{C9DC1484-1ED8-4466-A43D-009D6F3DDAB3}">
      <dgm:prSet/>
      <dgm:spPr/>
      <dgm:t>
        <a:bodyPr/>
        <a:lstStyle/>
        <a:p>
          <a:endParaRPr lang="en-US" sz="2400"/>
        </a:p>
      </dgm:t>
    </dgm:pt>
    <dgm:pt modelId="{A57FE82E-DB32-4243-A771-6EB53A18ABFC}">
      <dgm:prSet phldrT="[Text]" custT="1"/>
      <dgm:spPr/>
      <dgm:t>
        <a:bodyPr/>
        <a:lstStyle/>
        <a:p>
          <a:r>
            <a:rPr lang="en-US" sz="2400" dirty="0"/>
            <a:t>1bE</a:t>
          </a:r>
        </a:p>
      </dgm:t>
    </dgm:pt>
    <dgm:pt modelId="{B84AA936-21E1-4CF1-A1CF-D02CD657FDEB}" type="parTrans" cxnId="{BF26DB3E-0452-4A42-82F2-49BB5CA6B92C}">
      <dgm:prSet/>
      <dgm:spPr/>
      <dgm:t>
        <a:bodyPr/>
        <a:lstStyle/>
        <a:p>
          <a:endParaRPr lang="en-US" sz="2400"/>
        </a:p>
      </dgm:t>
    </dgm:pt>
    <dgm:pt modelId="{A157157D-67E5-49C5-99A0-558DC3D2CEF5}" type="sibTrans" cxnId="{BF26DB3E-0452-4A42-82F2-49BB5CA6B92C}">
      <dgm:prSet/>
      <dgm:spPr/>
      <dgm:t>
        <a:bodyPr/>
        <a:lstStyle/>
        <a:p>
          <a:endParaRPr lang="en-US" sz="2400"/>
        </a:p>
      </dgm:t>
    </dgm:pt>
    <dgm:pt modelId="{6E56124B-EFD1-4909-9420-2B1FE23DCEDF}">
      <dgm:prSet custT="1"/>
      <dgm:spPr/>
      <dgm:t>
        <a:bodyPr/>
        <a:lstStyle/>
        <a:p>
          <a:r>
            <a:rPr lang="en-US" sz="2400" dirty="0"/>
            <a:t>1bF</a:t>
          </a:r>
        </a:p>
      </dgm:t>
    </dgm:pt>
    <dgm:pt modelId="{A6479D1E-A5B5-4509-983F-BF3EB11180E3}" type="parTrans" cxnId="{0A968E85-AE4D-4B57-B6F9-153B16D22651}">
      <dgm:prSet/>
      <dgm:spPr/>
      <dgm:t>
        <a:bodyPr/>
        <a:lstStyle/>
        <a:p>
          <a:endParaRPr lang="en-US" sz="2400"/>
        </a:p>
      </dgm:t>
    </dgm:pt>
    <dgm:pt modelId="{E785274B-F4BA-450E-8C06-39CFE0FC23B0}" type="sibTrans" cxnId="{0A968E85-AE4D-4B57-B6F9-153B16D22651}">
      <dgm:prSet/>
      <dgm:spPr/>
      <dgm:t>
        <a:bodyPr/>
        <a:lstStyle/>
        <a:p>
          <a:endParaRPr lang="en-US" sz="2400"/>
        </a:p>
      </dgm:t>
    </dgm:pt>
    <dgm:pt modelId="{A226C989-7343-48F7-A302-9519F7BDB4A9}">
      <dgm:prSet/>
      <dgm:spPr>
        <a:solidFill>
          <a:srgbClr val="FFC000">
            <a:alpha val="90000"/>
          </a:srgbClr>
        </a:solidFill>
      </dgm:spPr>
      <dgm:t>
        <a:bodyPr/>
        <a:lstStyle/>
        <a:p>
          <a:r>
            <a:rPr lang="en-US" dirty="0"/>
            <a:t>1aCx</a:t>
          </a:r>
        </a:p>
      </dgm:t>
    </dgm:pt>
    <dgm:pt modelId="{0904F60B-B627-4D8A-9A68-A097FD66BD80}" type="parTrans" cxnId="{6A4BD9AD-366F-4AAE-9514-B82DBDBBEA2E}">
      <dgm:prSet/>
      <dgm:spPr/>
      <dgm:t>
        <a:bodyPr/>
        <a:lstStyle/>
        <a:p>
          <a:endParaRPr lang="en-US"/>
        </a:p>
      </dgm:t>
    </dgm:pt>
    <dgm:pt modelId="{6D3232DB-55CB-4184-BEC0-8D2FEF432CF7}" type="sibTrans" cxnId="{6A4BD9AD-366F-4AAE-9514-B82DBDBBEA2E}">
      <dgm:prSet/>
      <dgm:spPr/>
      <dgm:t>
        <a:bodyPr/>
        <a:lstStyle/>
        <a:p>
          <a:endParaRPr lang="en-US"/>
        </a:p>
      </dgm:t>
    </dgm:pt>
    <dgm:pt modelId="{06384E7C-8640-44FE-83B5-4987370717E1}" type="pres">
      <dgm:prSet presAssocID="{36C92AB1-B607-48EB-8573-641360BB5120}" presName="hierChild1" presStyleCnt="0">
        <dgm:presLayoutVars>
          <dgm:chPref val="1"/>
          <dgm:dir/>
          <dgm:animOne val="branch"/>
          <dgm:animLvl val="lvl"/>
          <dgm:resizeHandles/>
        </dgm:presLayoutVars>
      </dgm:prSet>
      <dgm:spPr/>
    </dgm:pt>
    <dgm:pt modelId="{79B6C1CD-7063-4703-9648-177415274BC3}" type="pres">
      <dgm:prSet presAssocID="{D5C62AF5-5DB3-45C0-B6E5-93C5D77147A1}" presName="hierRoot1" presStyleCnt="0"/>
      <dgm:spPr/>
    </dgm:pt>
    <dgm:pt modelId="{34BC4ACD-8EB8-4B1C-A89F-2481C3D99B5E}" type="pres">
      <dgm:prSet presAssocID="{D5C62AF5-5DB3-45C0-B6E5-93C5D77147A1}" presName="composite" presStyleCnt="0"/>
      <dgm:spPr/>
    </dgm:pt>
    <dgm:pt modelId="{9720FCA9-5925-4CDC-BD95-77043533C62E}" type="pres">
      <dgm:prSet presAssocID="{D5C62AF5-5DB3-45C0-B6E5-93C5D77147A1}" presName="background" presStyleLbl="node0" presStyleIdx="0" presStyleCnt="1"/>
      <dgm:spPr/>
    </dgm:pt>
    <dgm:pt modelId="{53FE977D-2D5F-4D10-A888-361C27D92ADF}" type="pres">
      <dgm:prSet presAssocID="{D5C62AF5-5DB3-45C0-B6E5-93C5D77147A1}" presName="text" presStyleLbl="fgAcc0" presStyleIdx="0" presStyleCnt="1" custLinFactNeighborY="4449">
        <dgm:presLayoutVars>
          <dgm:chPref val="3"/>
        </dgm:presLayoutVars>
      </dgm:prSet>
      <dgm:spPr/>
    </dgm:pt>
    <dgm:pt modelId="{BEBD6345-B131-41DD-A0F5-509AEB6BC5C5}" type="pres">
      <dgm:prSet presAssocID="{D5C62AF5-5DB3-45C0-B6E5-93C5D77147A1}" presName="hierChild2" presStyleCnt="0"/>
      <dgm:spPr/>
    </dgm:pt>
    <dgm:pt modelId="{CD0E72F0-BD54-4593-A635-2347D7B9B516}" type="pres">
      <dgm:prSet presAssocID="{BC3A6C86-A9CC-48B5-91A0-3821627731F8}" presName="Name10" presStyleLbl="parChTrans1D2" presStyleIdx="0" presStyleCnt="2"/>
      <dgm:spPr/>
    </dgm:pt>
    <dgm:pt modelId="{45724D12-46E5-4B49-97A2-6F5588244D7A}" type="pres">
      <dgm:prSet presAssocID="{0CE63D06-D0A5-4809-81C4-BAD050294DCA}" presName="hierRoot2" presStyleCnt="0"/>
      <dgm:spPr/>
    </dgm:pt>
    <dgm:pt modelId="{5921AC86-831F-4E99-94C1-A9DD56F06386}" type="pres">
      <dgm:prSet presAssocID="{0CE63D06-D0A5-4809-81C4-BAD050294DCA}" presName="composite2" presStyleCnt="0"/>
      <dgm:spPr/>
    </dgm:pt>
    <dgm:pt modelId="{7FF04DB6-7976-43CA-82BB-83AAE4B4D0C3}" type="pres">
      <dgm:prSet presAssocID="{0CE63D06-D0A5-4809-81C4-BAD050294DCA}" presName="background2" presStyleLbl="node2" presStyleIdx="0" presStyleCnt="2"/>
      <dgm:spPr/>
    </dgm:pt>
    <dgm:pt modelId="{5E6F3F65-2EBF-4446-8B1B-E2C8562D8018}" type="pres">
      <dgm:prSet presAssocID="{0CE63D06-D0A5-4809-81C4-BAD050294DCA}" presName="text2" presStyleLbl="fgAcc2" presStyleIdx="0" presStyleCnt="2">
        <dgm:presLayoutVars>
          <dgm:chPref val="3"/>
        </dgm:presLayoutVars>
      </dgm:prSet>
      <dgm:spPr/>
    </dgm:pt>
    <dgm:pt modelId="{7EDBF98D-57C4-4470-A08F-C7698BE42E3C}" type="pres">
      <dgm:prSet presAssocID="{0CE63D06-D0A5-4809-81C4-BAD050294DCA}" presName="hierChild3" presStyleCnt="0"/>
      <dgm:spPr/>
    </dgm:pt>
    <dgm:pt modelId="{0F7B0D72-8F63-4DFA-A937-87A64C6970B0}" type="pres">
      <dgm:prSet presAssocID="{D870BC5B-EB7A-4E5E-A16D-A1EF41782962}" presName="Name17" presStyleLbl="parChTrans1D3" presStyleIdx="0" presStyleCnt="4"/>
      <dgm:spPr/>
    </dgm:pt>
    <dgm:pt modelId="{1ABC74F6-8F44-4318-8ABD-C51731670130}" type="pres">
      <dgm:prSet presAssocID="{E49E0E62-B790-415F-A10C-26774EB88F7A}" presName="hierRoot3" presStyleCnt="0"/>
      <dgm:spPr/>
    </dgm:pt>
    <dgm:pt modelId="{5972C2CF-3FB3-4BF6-BC56-4A9DC03DFFC0}" type="pres">
      <dgm:prSet presAssocID="{E49E0E62-B790-415F-A10C-26774EB88F7A}" presName="composite3" presStyleCnt="0"/>
      <dgm:spPr/>
    </dgm:pt>
    <dgm:pt modelId="{0C4D951D-99F7-4320-A661-CFBF1C888A4E}" type="pres">
      <dgm:prSet presAssocID="{E49E0E62-B790-415F-A10C-26774EB88F7A}" presName="background3" presStyleLbl="node3" presStyleIdx="0" presStyleCnt="4"/>
      <dgm:spPr/>
    </dgm:pt>
    <dgm:pt modelId="{72006EAE-1A1A-4231-A07D-56722D7362BD}" type="pres">
      <dgm:prSet presAssocID="{E49E0E62-B790-415F-A10C-26774EB88F7A}" presName="text3" presStyleLbl="fgAcc3" presStyleIdx="0" presStyleCnt="4">
        <dgm:presLayoutVars>
          <dgm:chPref val="3"/>
        </dgm:presLayoutVars>
      </dgm:prSet>
      <dgm:spPr/>
    </dgm:pt>
    <dgm:pt modelId="{680BF579-045C-4749-8212-ACA6532B7681}" type="pres">
      <dgm:prSet presAssocID="{E49E0E62-B790-415F-A10C-26774EB88F7A}" presName="hierChild4" presStyleCnt="0"/>
      <dgm:spPr/>
    </dgm:pt>
    <dgm:pt modelId="{31D485FA-B655-4B40-B1B7-3E942A097332}" type="pres">
      <dgm:prSet presAssocID="{0904F60B-B627-4D8A-9A68-A097FD66BD80}" presName="Name23" presStyleLbl="parChTrans1D4" presStyleIdx="0" presStyleCnt="1"/>
      <dgm:spPr/>
    </dgm:pt>
    <dgm:pt modelId="{F7A43D4D-5856-4DB3-BA18-3C445B2D84AE}" type="pres">
      <dgm:prSet presAssocID="{A226C989-7343-48F7-A302-9519F7BDB4A9}" presName="hierRoot4" presStyleCnt="0"/>
      <dgm:spPr/>
    </dgm:pt>
    <dgm:pt modelId="{591E086D-2DE6-43EC-9D5B-AF7C6F0FDC84}" type="pres">
      <dgm:prSet presAssocID="{A226C989-7343-48F7-A302-9519F7BDB4A9}" presName="composite4" presStyleCnt="0"/>
      <dgm:spPr/>
    </dgm:pt>
    <dgm:pt modelId="{B74ED432-F6DF-48FC-8A45-AF1DB4F1FE89}" type="pres">
      <dgm:prSet presAssocID="{A226C989-7343-48F7-A302-9519F7BDB4A9}" presName="background4" presStyleLbl="node4" presStyleIdx="0" presStyleCnt="1"/>
      <dgm:spPr/>
    </dgm:pt>
    <dgm:pt modelId="{5ECC6EF8-BFD5-4A05-8095-82F53CFBD14B}" type="pres">
      <dgm:prSet presAssocID="{A226C989-7343-48F7-A302-9519F7BDB4A9}" presName="text4" presStyleLbl="fgAcc4" presStyleIdx="0" presStyleCnt="1">
        <dgm:presLayoutVars>
          <dgm:chPref val="3"/>
        </dgm:presLayoutVars>
      </dgm:prSet>
      <dgm:spPr/>
    </dgm:pt>
    <dgm:pt modelId="{F2EF9B0E-22D2-4F95-B45A-C4266091BC1C}" type="pres">
      <dgm:prSet presAssocID="{A226C989-7343-48F7-A302-9519F7BDB4A9}" presName="hierChild5" presStyleCnt="0"/>
      <dgm:spPr/>
    </dgm:pt>
    <dgm:pt modelId="{59D5D202-E362-4F9A-9D2B-E73B96EB9062}" type="pres">
      <dgm:prSet presAssocID="{234858F0-F29F-4F46-85AA-0B64AB36A93D}" presName="Name17" presStyleLbl="parChTrans1D3" presStyleIdx="1" presStyleCnt="4"/>
      <dgm:spPr/>
    </dgm:pt>
    <dgm:pt modelId="{B2FBD9A4-3794-40D6-BCF7-6A9820E0363E}" type="pres">
      <dgm:prSet presAssocID="{B8B9CC3B-D8A3-4BEB-BCFD-C21FA76AC94B}" presName="hierRoot3" presStyleCnt="0"/>
      <dgm:spPr/>
    </dgm:pt>
    <dgm:pt modelId="{E4922F27-3716-470D-B746-C63AAB49DBB7}" type="pres">
      <dgm:prSet presAssocID="{B8B9CC3B-D8A3-4BEB-BCFD-C21FA76AC94B}" presName="composite3" presStyleCnt="0"/>
      <dgm:spPr/>
    </dgm:pt>
    <dgm:pt modelId="{10AAB597-1F66-49E8-9919-8AF98868AF5F}" type="pres">
      <dgm:prSet presAssocID="{B8B9CC3B-D8A3-4BEB-BCFD-C21FA76AC94B}" presName="background3" presStyleLbl="node3" presStyleIdx="1" presStyleCnt="4"/>
      <dgm:spPr/>
    </dgm:pt>
    <dgm:pt modelId="{3F4B4D2A-0D83-4C1D-B634-63FB3FFF3FF8}" type="pres">
      <dgm:prSet presAssocID="{B8B9CC3B-D8A3-4BEB-BCFD-C21FA76AC94B}" presName="text3" presStyleLbl="fgAcc3" presStyleIdx="1" presStyleCnt="4">
        <dgm:presLayoutVars>
          <dgm:chPref val="3"/>
        </dgm:presLayoutVars>
      </dgm:prSet>
      <dgm:spPr/>
    </dgm:pt>
    <dgm:pt modelId="{45123791-D212-4C50-9D9E-2499C3657F97}" type="pres">
      <dgm:prSet presAssocID="{B8B9CC3B-D8A3-4BEB-BCFD-C21FA76AC94B}" presName="hierChild4" presStyleCnt="0"/>
      <dgm:spPr/>
    </dgm:pt>
    <dgm:pt modelId="{C3122428-FAF2-4265-B37F-688D3FB1F776}" type="pres">
      <dgm:prSet presAssocID="{58FB2B6E-8AA0-4D62-941B-FA3EAFC48C22}" presName="Name10" presStyleLbl="parChTrans1D2" presStyleIdx="1" presStyleCnt="2"/>
      <dgm:spPr/>
    </dgm:pt>
    <dgm:pt modelId="{346767B9-2C8B-4E19-96E1-B46F537C7373}" type="pres">
      <dgm:prSet presAssocID="{3F1700EF-D35D-45EF-B4CA-4AC92C1D83F5}" presName="hierRoot2" presStyleCnt="0"/>
      <dgm:spPr/>
    </dgm:pt>
    <dgm:pt modelId="{6A5091A3-EEFE-411B-9132-FA7B7F699286}" type="pres">
      <dgm:prSet presAssocID="{3F1700EF-D35D-45EF-B4CA-4AC92C1D83F5}" presName="composite2" presStyleCnt="0"/>
      <dgm:spPr/>
    </dgm:pt>
    <dgm:pt modelId="{D1764431-6D40-4221-97EF-F73CFEB279B0}" type="pres">
      <dgm:prSet presAssocID="{3F1700EF-D35D-45EF-B4CA-4AC92C1D83F5}" presName="background2" presStyleLbl="node2" presStyleIdx="1" presStyleCnt="2"/>
      <dgm:spPr/>
    </dgm:pt>
    <dgm:pt modelId="{D0FA094B-C7DE-4B27-9955-3E1376FF07E1}" type="pres">
      <dgm:prSet presAssocID="{3F1700EF-D35D-45EF-B4CA-4AC92C1D83F5}" presName="text2" presStyleLbl="fgAcc2" presStyleIdx="1" presStyleCnt="2">
        <dgm:presLayoutVars>
          <dgm:chPref val="3"/>
        </dgm:presLayoutVars>
      </dgm:prSet>
      <dgm:spPr/>
    </dgm:pt>
    <dgm:pt modelId="{EE1D482C-7BEB-4581-831B-A98E618C2A34}" type="pres">
      <dgm:prSet presAssocID="{3F1700EF-D35D-45EF-B4CA-4AC92C1D83F5}" presName="hierChild3" presStyleCnt="0"/>
      <dgm:spPr/>
    </dgm:pt>
    <dgm:pt modelId="{47B04005-336F-4A18-BAF1-1AA7D66F9E00}" type="pres">
      <dgm:prSet presAssocID="{B84AA936-21E1-4CF1-A1CF-D02CD657FDEB}" presName="Name17" presStyleLbl="parChTrans1D3" presStyleIdx="2" presStyleCnt="4"/>
      <dgm:spPr/>
    </dgm:pt>
    <dgm:pt modelId="{5E2D8B3E-3F9D-4AD7-94A5-21D7D43B6441}" type="pres">
      <dgm:prSet presAssocID="{A57FE82E-DB32-4243-A771-6EB53A18ABFC}" presName="hierRoot3" presStyleCnt="0"/>
      <dgm:spPr/>
    </dgm:pt>
    <dgm:pt modelId="{723E7DA7-0B04-4964-A914-54A0AF7D66AD}" type="pres">
      <dgm:prSet presAssocID="{A57FE82E-DB32-4243-A771-6EB53A18ABFC}" presName="composite3" presStyleCnt="0"/>
      <dgm:spPr/>
    </dgm:pt>
    <dgm:pt modelId="{8485E5AB-DCE3-4CEA-AEEC-C1D2559FF1C2}" type="pres">
      <dgm:prSet presAssocID="{A57FE82E-DB32-4243-A771-6EB53A18ABFC}" presName="background3" presStyleLbl="node3" presStyleIdx="2" presStyleCnt="4"/>
      <dgm:spPr/>
    </dgm:pt>
    <dgm:pt modelId="{4F10709A-721E-4C3B-83C3-EBC7DCA3EE3A}" type="pres">
      <dgm:prSet presAssocID="{A57FE82E-DB32-4243-A771-6EB53A18ABFC}" presName="text3" presStyleLbl="fgAcc3" presStyleIdx="2" presStyleCnt="4">
        <dgm:presLayoutVars>
          <dgm:chPref val="3"/>
        </dgm:presLayoutVars>
      </dgm:prSet>
      <dgm:spPr/>
    </dgm:pt>
    <dgm:pt modelId="{1DB50742-C99B-4256-A3E0-41189B25DDCD}" type="pres">
      <dgm:prSet presAssocID="{A57FE82E-DB32-4243-A771-6EB53A18ABFC}" presName="hierChild4" presStyleCnt="0"/>
      <dgm:spPr/>
    </dgm:pt>
    <dgm:pt modelId="{757943C6-2610-422E-A531-9FA38051C672}" type="pres">
      <dgm:prSet presAssocID="{A6479D1E-A5B5-4509-983F-BF3EB11180E3}" presName="Name17" presStyleLbl="parChTrans1D3" presStyleIdx="3" presStyleCnt="4"/>
      <dgm:spPr/>
    </dgm:pt>
    <dgm:pt modelId="{F7289A8A-AF80-47F2-A744-AE01F88DE108}" type="pres">
      <dgm:prSet presAssocID="{6E56124B-EFD1-4909-9420-2B1FE23DCEDF}" presName="hierRoot3" presStyleCnt="0"/>
      <dgm:spPr/>
    </dgm:pt>
    <dgm:pt modelId="{12E9C79E-BB31-4EDE-B232-3C9DBAB3FC95}" type="pres">
      <dgm:prSet presAssocID="{6E56124B-EFD1-4909-9420-2B1FE23DCEDF}" presName="composite3" presStyleCnt="0"/>
      <dgm:spPr/>
    </dgm:pt>
    <dgm:pt modelId="{16A4A426-C025-4F6E-A940-AA0DCAA1CF74}" type="pres">
      <dgm:prSet presAssocID="{6E56124B-EFD1-4909-9420-2B1FE23DCEDF}" presName="background3" presStyleLbl="node3" presStyleIdx="3" presStyleCnt="4"/>
      <dgm:spPr/>
    </dgm:pt>
    <dgm:pt modelId="{0F007C70-ED79-45E9-833C-2B06789C378D}" type="pres">
      <dgm:prSet presAssocID="{6E56124B-EFD1-4909-9420-2B1FE23DCEDF}" presName="text3" presStyleLbl="fgAcc3" presStyleIdx="3" presStyleCnt="4">
        <dgm:presLayoutVars>
          <dgm:chPref val="3"/>
        </dgm:presLayoutVars>
      </dgm:prSet>
      <dgm:spPr/>
    </dgm:pt>
    <dgm:pt modelId="{0F1D1D37-BA12-4FFC-9400-7904646224B9}" type="pres">
      <dgm:prSet presAssocID="{6E56124B-EFD1-4909-9420-2B1FE23DCEDF}" presName="hierChild4" presStyleCnt="0"/>
      <dgm:spPr/>
    </dgm:pt>
  </dgm:ptLst>
  <dgm:cxnLst>
    <dgm:cxn modelId="{8DABE72D-9CA0-44C1-A213-642B9148EB5C}" type="presOf" srcId="{E49E0E62-B790-415F-A10C-26774EB88F7A}" destId="{72006EAE-1A1A-4231-A07D-56722D7362BD}" srcOrd="0" destOrd="0" presId="urn:microsoft.com/office/officeart/2005/8/layout/hierarchy1"/>
    <dgm:cxn modelId="{AA191236-CE04-45C2-A873-4D6D5E57BD70}" type="presOf" srcId="{B84AA936-21E1-4CF1-A1CF-D02CD657FDEB}" destId="{47B04005-336F-4A18-BAF1-1AA7D66F9E00}" srcOrd="0" destOrd="0" presId="urn:microsoft.com/office/officeart/2005/8/layout/hierarchy1"/>
    <dgm:cxn modelId="{04464E36-41FC-482D-8A8E-F13733C64B02}" srcId="{0CE63D06-D0A5-4809-81C4-BAD050294DCA}" destId="{B8B9CC3B-D8A3-4BEB-BCFD-C21FA76AC94B}" srcOrd="1" destOrd="0" parTransId="{234858F0-F29F-4F46-85AA-0B64AB36A93D}" sibTransId="{4587873B-F9DD-4CB4-B8C6-10D8705BE63E}"/>
    <dgm:cxn modelId="{BF26DB3E-0452-4A42-82F2-49BB5CA6B92C}" srcId="{3F1700EF-D35D-45EF-B4CA-4AC92C1D83F5}" destId="{A57FE82E-DB32-4243-A771-6EB53A18ABFC}" srcOrd="0" destOrd="0" parTransId="{B84AA936-21E1-4CF1-A1CF-D02CD657FDEB}" sibTransId="{A157157D-67E5-49C5-99A0-558DC3D2CEF5}"/>
    <dgm:cxn modelId="{FA41155E-F64E-40C2-B118-19C3C82D0EFD}" type="presOf" srcId="{234858F0-F29F-4F46-85AA-0B64AB36A93D}" destId="{59D5D202-E362-4F9A-9D2B-E73B96EB9062}" srcOrd="0" destOrd="0" presId="urn:microsoft.com/office/officeart/2005/8/layout/hierarchy1"/>
    <dgm:cxn modelId="{4554D661-5DC8-40F4-984C-2CB96BCB9849}" type="presOf" srcId="{0CE63D06-D0A5-4809-81C4-BAD050294DCA}" destId="{5E6F3F65-2EBF-4446-8B1B-E2C8562D8018}" srcOrd="0" destOrd="0" presId="urn:microsoft.com/office/officeart/2005/8/layout/hierarchy1"/>
    <dgm:cxn modelId="{E143E444-E8B0-464E-AB38-F98395D6AA03}" srcId="{36C92AB1-B607-48EB-8573-641360BB5120}" destId="{D5C62AF5-5DB3-45C0-B6E5-93C5D77147A1}" srcOrd="0" destOrd="0" parTransId="{B4DDE56A-D0F0-4625-8640-A72E8DCA17E7}" sibTransId="{A5A67CD4-9AC6-429C-8F53-B849401EE08C}"/>
    <dgm:cxn modelId="{402A3B66-51C3-4944-9E6A-7BCE6AB79F76}" type="presOf" srcId="{D5C62AF5-5DB3-45C0-B6E5-93C5D77147A1}" destId="{53FE977D-2D5F-4D10-A888-361C27D92ADF}" srcOrd="0" destOrd="0" presId="urn:microsoft.com/office/officeart/2005/8/layout/hierarchy1"/>
    <dgm:cxn modelId="{F1EFCC47-4623-4F1F-81BF-357B8043C23E}" srcId="{D5C62AF5-5DB3-45C0-B6E5-93C5D77147A1}" destId="{0CE63D06-D0A5-4809-81C4-BAD050294DCA}" srcOrd="0" destOrd="0" parTransId="{BC3A6C86-A9CC-48B5-91A0-3821627731F8}" sibTransId="{A555BDD9-ECC4-44CF-9212-858B0444164C}"/>
    <dgm:cxn modelId="{CFE68771-1F5F-4D6C-800B-E53BB694FF95}" type="presOf" srcId="{BC3A6C86-A9CC-48B5-91A0-3821627731F8}" destId="{CD0E72F0-BD54-4593-A635-2347D7B9B516}" srcOrd="0" destOrd="0" presId="urn:microsoft.com/office/officeart/2005/8/layout/hierarchy1"/>
    <dgm:cxn modelId="{93F38E55-7697-4A19-BCD1-908BD61FFD47}" type="presOf" srcId="{0904F60B-B627-4D8A-9A68-A097FD66BD80}" destId="{31D485FA-B655-4B40-B1B7-3E942A097332}" srcOrd="0" destOrd="0" presId="urn:microsoft.com/office/officeart/2005/8/layout/hierarchy1"/>
    <dgm:cxn modelId="{6142D476-277A-4A5A-81F7-4C288ECA7815}" srcId="{0CE63D06-D0A5-4809-81C4-BAD050294DCA}" destId="{E49E0E62-B790-415F-A10C-26774EB88F7A}" srcOrd="0" destOrd="0" parTransId="{D870BC5B-EB7A-4E5E-A16D-A1EF41782962}" sibTransId="{7644F989-18DE-47CF-BFE8-6932EEB3D14F}"/>
    <dgm:cxn modelId="{BAEA2A81-B711-430D-BE73-DCFE123335EA}" type="presOf" srcId="{3F1700EF-D35D-45EF-B4CA-4AC92C1D83F5}" destId="{D0FA094B-C7DE-4B27-9955-3E1376FF07E1}" srcOrd="0" destOrd="0" presId="urn:microsoft.com/office/officeart/2005/8/layout/hierarchy1"/>
    <dgm:cxn modelId="{342F0C84-6EA6-4620-B874-2CD39443ADCD}" type="presOf" srcId="{D870BC5B-EB7A-4E5E-A16D-A1EF41782962}" destId="{0F7B0D72-8F63-4DFA-A937-87A64C6970B0}" srcOrd="0" destOrd="0" presId="urn:microsoft.com/office/officeart/2005/8/layout/hierarchy1"/>
    <dgm:cxn modelId="{C9DC1484-1ED8-4466-A43D-009D6F3DDAB3}" srcId="{D5C62AF5-5DB3-45C0-B6E5-93C5D77147A1}" destId="{3F1700EF-D35D-45EF-B4CA-4AC92C1D83F5}" srcOrd="1" destOrd="0" parTransId="{58FB2B6E-8AA0-4D62-941B-FA3EAFC48C22}" sibTransId="{D7AE626B-6D74-4A2A-AE1E-ABB75AC1DC96}"/>
    <dgm:cxn modelId="{0A968E85-AE4D-4B57-B6F9-153B16D22651}" srcId="{3F1700EF-D35D-45EF-B4CA-4AC92C1D83F5}" destId="{6E56124B-EFD1-4909-9420-2B1FE23DCEDF}" srcOrd="1" destOrd="0" parTransId="{A6479D1E-A5B5-4509-983F-BF3EB11180E3}" sibTransId="{E785274B-F4BA-450E-8C06-39CFE0FC23B0}"/>
    <dgm:cxn modelId="{F9AFF99F-16E3-4155-97D1-1CF2E5661FE1}" type="presOf" srcId="{58FB2B6E-8AA0-4D62-941B-FA3EAFC48C22}" destId="{C3122428-FAF2-4265-B37F-688D3FB1F776}" srcOrd="0" destOrd="0" presId="urn:microsoft.com/office/officeart/2005/8/layout/hierarchy1"/>
    <dgm:cxn modelId="{1345B3A2-84F3-4C80-BF5F-F462C9CF9017}" type="presOf" srcId="{A6479D1E-A5B5-4509-983F-BF3EB11180E3}" destId="{757943C6-2610-422E-A531-9FA38051C672}" srcOrd="0" destOrd="0" presId="urn:microsoft.com/office/officeart/2005/8/layout/hierarchy1"/>
    <dgm:cxn modelId="{6A4BD9AD-366F-4AAE-9514-B82DBDBBEA2E}" srcId="{E49E0E62-B790-415F-A10C-26774EB88F7A}" destId="{A226C989-7343-48F7-A302-9519F7BDB4A9}" srcOrd="0" destOrd="0" parTransId="{0904F60B-B627-4D8A-9A68-A097FD66BD80}" sibTransId="{6D3232DB-55CB-4184-BEC0-8D2FEF432CF7}"/>
    <dgm:cxn modelId="{1D432BDA-E590-448D-B902-DA0695B25B58}" type="presOf" srcId="{36C92AB1-B607-48EB-8573-641360BB5120}" destId="{06384E7C-8640-44FE-83B5-4987370717E1}" srcOrd="0" destOrd="0" presId="urn:microsoft.com/office/officeart/2005/8/layout/hierarchy1"/>
    <dgm:cxn modelId="{DC5709DC-056A-41F5-BB6C-F672B71E0D6A}" type="presOf" srcId="{B8B9CC3B-D8A3-4BEB-BCFD-C21FA76AC94B}" destId="{3F4B4D2A-0D83-4C1D-B634-63FB3FFF3FF8}" srcOrd="0" destOrd="0" presId="urn:microsoft.com/office/officeart/2005/8/layout/hierarchy1"/>
    <dgm:cxn modelId="{DC8D86E3-7F3E-4970-BB4D-3C66E28D81D6}" type="presOf" srcId="{A226C989-7343-48F7-A302-9519F7BDB4A9}" destId="{5ECC6EF8-BFD5-4A05-8095-82F53CFBD14B}" srcOrd="0" destOrd="0" presId="urn:microsoft.com/office/officeart/2005/8/layout/hierarchy1"/>
    <dgm:cxn modelId="{079C93EA-9E00-43B8-B166-D1C638911C5B}" type="presOf" srcId="{A57FE82E-DB32-4243-A771-6EB53A18ABFC}" destId="{4F10709A-721E-4C3B-83C3-EBC7DCA3EE3A}" srcOrd="0" destOrd="0" presId="urn:microsoft.com/office/officeart/2005/8/layout/hierarchy1"/>
    <dgm:cxn modelId="{60FAB2FB-7B68-4DD9-9C8B-D6057B07156D}" type="presOf" srcId="{6E56124B-EFD1-4909-9420-2B1FE23DCEDF}" destId="{0F007C70-ED79-45E9-833C-2B06789C378D}" srcOrd="0" destOrd="0" presId="urn:microsoft.com/office/officeart/2005/8/layout/hierarchy1"/>
    <dgm:cxn modelId="{0CB266A3-D4CE-44CE-B543-5D0F89BFC913}" type="presParOf" srcId="{06384E7C-8640-44FE-83B5-4987370717E1}" destId="{79B6C1CD-7063-4703-9648-177415274BC3}" srcOrd="0" destOrd="0" presId="urn:microsoft.com/office/officeart/2005/8/layout/hierarchy1"/>
    <dgm:cxn modelId="{D9B2036B-2CBE-4537-A089-6E94643F297C}" type="presParOf" srcId="{79B6C1CD-7063-4703-9648-177415274BC3}" destId="{34BC4ACD-8EB8-4B1C-A89F-2481C3D99B5E}" srcOrd="0" destOrd="0" presId="urn:microsoft.com/office/officeart/2005/8/layout/hierarchy1"/>
    <dgm:cxn modelId="{4EAC9E24-CE4D-48D5-A46E-465AAB8E5986}" type="presParOf" srcId="{34BC4ACD-8EB8-4B1C-A89F-2481C3D99B5E}" destId="{9720FCA9-5925-4CDC-BD95-77043533C62E}" srcOrd="0" destOrd="0" presId="urn:microsoft.com/office/officeart/2005/8/layout/hierarchy1"/>
    <dgm:cxn modelId="{12B165C0-D303-4BAE-B039-B04BE5018668}" type="presParOf" srcId="{34BC4ACD-8EB8-4B1C-A89F-2481C3D99B5E}" destId="{53FE977D-2D5F-4D10-A888-361C27D92ADF}" srcOrd="1" destOrd="0" presId="urn:microsoft.com/office/officeart/2005/8/layout/hierarchy1"/>
    <dgm:cxn modelId="{F0D9B492-C895-4F7E-A961-45109DA39C58}" type="presParOf" srcId="{79B6C1CD-7063-4703-9648-177415274BC3}" destId="{BEBD6345-B131-41DD-A0F5-509AEB6BC5C5}" srcOrd="1" destOrd="0" presId="urn:microsoft.com/office/officeart/2005/8/layout/hierarchy1"/>
    <dgm:cxn modelId="{92B68153-8E90-4CDB-9C34-430381B4A261}" type="presParOf" srcId="{BEBD6345-B131-41DD-A0F5-509AEB6BC5C5}" destId="{CD0E72F0-BD54-4593-A635-2347D7B9B516}" srcOrd="0" destOrd="0" presId="urn:microsoft.com/office/officeart/2005/8/layout/hierarchy1"/>
    <dgm:cxn modelId="{A88ED7FE-FBD0-495D-848C-C258420F3328}" type="presParOf" srcId="{BEBD6345-B131-41DD-A0F5-509AEB6BC5C5}" destId="{45724D12-46E5-4B49-97A2-6F5588244D7A}" srcOrd="1" destOrd="0" presId="urn:microsoft.com/office/officeart/2005/8/layout/hierarchy1"/>
    <dgm:cxn modelId="{B8F3172F-BBF9-4EE2-8F0A-DDA57DA5F306}" type="presParOf" srcId="{45724D12-46E5-4B49-97A2-6F5588244D7A}" destId="{5921AC86-831F-4E99-94C1-A9DD56F06386}" srcOrd="0" destOrd="0" presId="urn:microsoft.com/office/officeart/2005/8/layout/hierarchy1"/>
    <dgm:cxn modelId="{7DE2AAF1-5DC5-4028-9FA6-F71E088E9DB4}" type="presParOf" srcId="{5921AC86-831F-4E99-94C1-A9DD56F06386}" destId="{7FF04DB6-7976-43CA-82BB-83AAE4B4D0C3}" srcOrd="0" destOrd="0" presId="urn:microsoft.com/office/officeart/2005/8/layout/hierarchy1"/>
    <dgm:cxn modelId="{692807B6-C5D8-45F6-8652-25C18D0D3FDA}" type="presParOf" srcId="{5921AC86-831F-4E99-94C1-A9DD56F06386}" destId="{5E6F3F65-2EBF-4446-8B1B-E2C8562D8018}" srcOrd="1" destOrd="0" presId="urn:microsoft.com/office/officeart/2005/8/layout/hierarchy1"/>
    <dgm:cxn modelId="{D970D37A-9336-4C06-88F2-E52F356A4F57}" type="presParOf" srcId="{45724D12-46E5-4B49-97A2-6F5588244D7A}" destId="{7EDBF98D-57C4-4470-A08F-C7698BE42E3C}" srcOrd="1" destOrd="0" presId="urn:microsoft.com/office/officeart/2005/8/layout/hierarchy1"/>
    <dgm:cxn modelId="{2CB45722-BE5B-49FA-931C-E423B47FE8B8}" type="presParOf" srcId="{7EDBF98D-57C4-4470-A08F-C7698BE42E3C}" destId="{0F7B0D72-8F63-4DFA-A937-87A64C6970B0}" srcOrd="0" destOrd="0" presId="urn:microsoft.com/office/officeart/2005/8/layout/hierarchy1"/>
    <dgm:cxn modelId="{B03471ED-6D83-4737-9F67-BA82464F9DB1}" type="presParOf" srcId="{7EDBF98D-57C4-4470-A08F-C7698BE42E3C}" destId="{1ABC74F6-8F44-4318-8ABD-C51731670130}" srcOrd="1" destOrd="0" presId="urn:microsoft.com/office/officeart/2005/8/layout/hierarchy1"/>
    <dgm:cxn modelId="{E07D878B-F1C3-4C79-B2E4-18DE8EB48A39}" type="presParOf" srcId="{1ABC74F6-8F44-4318-8ABD-C51731670130}" destId="{5972C2CF-3FB3-4BF6-BC56-4A9DC03DFFC0}" srcOrd="0" destOrd="0" presId="urn:microsoft.com/office/officeart/2005/8/layout/hierarchy1"/>
    <dgm:cxn modelId="{255C1A44-90E3-43FA-8CAE-1642422F15B3}" type="presParOf" srcId="{5972C2CF-3FB3-4BF6-BC56-4A9DC03DFFC0}" destId="{0C4D951D-99F7-4320-A661-CFBF1C888A4E}" srcOrd="0" destOrd="0" presId="urn:microsoft.com/office/officeart/2005/8/layout/hierarchy1"/>
    <dgm:cxn modelId="{4DD74492-9655-4217-96CE-65730F85FEC9}" type="presParOf" srcId="{5972C2CF-3FB3-4BF6-BC56-4A9DC03DFFC0}" destId="{72006EAE-1A1A-4231-A07D-56722D7362BD}" srcOrd="1" destOrd="0" presId="urn:microsoft.com/office/officeart/2005/8/layout/hierarchy1"/>
    <dgm:cxn modelId="{238AF270-F82E-4D33-B610-BB9C2C10B9A0}" type="presParOf" srcId="{1ABC74F6-8F44-4318-8ABD-C51731670130}" destId="{680BF579-045C-4749-8212-ACA6532B7681}" srcOrd="1" destOrd="0" presId="urn:microsoft.com/office/officeart/2005/8/layout/hierarchy1"/>
    <dgm:cxn modelId="{53459955-9FB0-4AEC-AA5F-7690499CCD9D}" type="presParOf" srcId="{680BF579-045C-4749-8212-ACA6532B7681}" destId="{31D485FA-B655-4B40-B1B7-3E942A097332}" srcOrd="0" destOrd="0" presId="urn:microsoft.com/office/officeart/2005/8/layout/hierarchy1"/>
    <dgm:cxn modelId="{03EF3712-EFB9-49F5-8578-4FE6AEBCC1A2}" type="presParOf" srcId="{680BF579-045C-4749-8212-ACA6532B7681}" destId="{F7A43D4D-5856-4DB3-BA18-3C445B2D84AE}" srcOrd="1" destOrd="0" presId="urn:microsoft.com/office/officeart/2005/8/layout/hierarchy1"/>
    <dgm:cxn modelId="{1C61DAD2-161E-4497-819D-8534079312FD}" type="presParOf" srcId="{F7A43D4D-5856-4DB3-BA18-3C445B2D84AE}" destId="{591E086D-2DE6-43EC-9D5B-AF7C6F0FDC84}" srcOrd="0" destOrd="0" presId="urn:microsoft.com/office/officeart/2005/8/layout/hierarchy1"/>
    <dgm:cxn modelId="{A41904C1-E801-4D31-99A2-286F9DBD0D00}" type="presParOf" srcId="{591E086D-2DE6-43EC-9D5B-AF7C6F0FDC84}" destId="{B74ED432-F6DF-48FC-8A45-AF1DB4F1FE89}" srcOrd="0" destOrd="0" presId="urn:microsoft.com/office/officeart/2005/8/layout/hierarchy1"/>
    <dgm:cxn modelId="{2BC25A8C-002B-4992-B6AD-8510AB6F8D52}" type="presParOf" srcId="{591E086D-2DE6-43EC-9D5B-AF7C6F0FDC84}" destId="{5ECC6EF8-BFD5-4A05-8095-82F53CFBD14B}" srcOrd="1" destOrd="0" presId="urn:microsoft.com/office/officeart/2005/8/layout/hierarchy1"/>
    <dgm:cxn modelId="{B468804A-C340-4CEE-83F0-E78A10994F97}" type="presParOf" srcId="{F7A43D4D-5856-4DB3-BA18-3C445B2D84AE}" destId="{F2EF9B0E-22D2-4F95-B45A-C4266091BC1C}" srcOrd="1" destOrd="0" presId="urn:microsoft.com/office/officeart/2005/8/layout/hierarchy1"/>
    <dgm:cxn modelId="{BBB66C8C-2FFB-4005-B093-8928406CBD70}" type="presParOf" srcId="{7EDBF98D-57C4-4470-A08F-C7698BE42E3C}" destId="{59D5D202-E362-4F9A-9D2B-E73B96EB9062}" srcOrd="2" destOrd="0" presId="urn:microsoft.com/office/officeart/2005/8/layout/hierarchy1"/>
    <dgm:cxn modelId="{D102B9B7-EE50-4F18-95BD-73630736F95A}" type="presParOf" srcId="{7EDBF98D-57C4-4470-A08F-C7698BE42E3C}" destId="{B2FBD9A4-3794-40D6-BCF7-6A9820E0363E}" srcOrd="3" destOrd="0" presId="urn:microsoft.com/office/officeart/2005/8/layout/hierarchy1"/>
    <dgm:cxn modelId="{F0B25F80-AA16-45E4-A32D-65052D1051A3}" type="presParOf" srcId="{B2FBD9A4-3794-40D6-BCF7-6A9820E0363E}" destId="{E4922F27-3716-470D-B746-C63AAB49DBB7}" srcOrd="0" destOrd="0" presId="urn:microsoft.com/office/officeart/2005/8/layout/hierarchy1"/>
    <dgm:cxn modelId="{4B5EA971-BB37-4685-ADFB-F0F50FEA7FFF}" type="presParOf" srcId="{E4922F27-3716-470D-B746-C63AAB49DBB7}" destId="{10AAB597-1F66-49E8-9919-8AF98868AF5F}" srcOrd="0" destOrd="0" presId="urn:microsoft.com/office/officeart/2005/8/layout/hierarchy1"/>
    <dgm:cxn modelId="{0148E9DE-504A-4CDA-A00B-4642AC22228E}" type="presParOf" srcId="{E4922F27-3716-470D-B746-C63AAB49DBB7}" destId="{3F4B4D2A-0D83-4C1D-B634-63FB3FFF3FF8}" srcOrd="1" destOrd="0" presId="urn:microsoft.com/office/officeart/2005/8/layout/hierarchy1"/>
    <dgm:cxn modelId="{49642C26-6F00-451B-8881-FFBA641509DB}" type="presParOf" srcId="{B2FBD9A4-3794-40D6-BCF7-6A9820E0363E}" destId="{45123791-D212-4C50-9D9E-2499C3657F97}" srcOrd="1" destOrd="0" presId="urn:microsoft.com/office/officeart/2005/8/layout/hierarchy1"/>
    <dgm:cxn modelId="{50835748-F3F8-4C47-AE29-CA4841CA14CB}" type="presParOf" srcId="{BEBD6345-B131-41DD-A0F5-509AEB6BC5C5}" destId="{C3122428-FAF2-4265-B37F-688D3FB1F776}" srcOrd="2" destOrd="0" presId="urn:microsoft.com/office/officeart/2005/8/layout/hierarchy1"/>
    <dgm:cxn modelId="{DB3B77E3-D5EE-4B25-8ADB-EFB0A87B06E9}" type="presParOf" srcId="{BEBD6345-B131-41DD-A0F5-509AEB6BC5C5}" destId="{346767B9-2C8B-4E19-96E1-B46F537C7373}" srcOrd="3" destOrd="0" presId="urn:microsoft.com/office/officeart/2005/8/layout/hierarchy1"/>
    <dgm:cxn modelId="{97FE7E7D-EBE5-464D-A567-77B93C611FD6}" type="presParOf" srcId="{346767B9-2C8B-4E19-96E1-B46F537C7373}" destId="{6A5091A3-EEFE-411B-9132-FA7B7F699286}" srcOrd="0" destOrd="0" presId="urn:microsoft.com/office/officeart/2005/8/layout/hierarchy1"/>
    <dgm:cxn modelId="{19143824-F1FF-443F-AB8E-359AC5131B96}" type="presParOf" srcId="{6A5091A3-EEFE-411B-9132-FA7B7F699286}" destId="{D1764431-6D40-4221-97EF-F73CFEB279B0}" srcOrd="0" destOrd="0" presId="urn:microsoft.com/office/officeart/2005/8/layout/hierarchy1"/>
    <dgm:cxn modelId="{68E3CBEF-E311-47A6-81A9-C86DAD6E1668}" type="presParOf" srcId="{6A5091A3-EEFE-411B-9132-FA7B7F699286}" destId="{D0FA094B-C7DE-4B27-9955-3E1376FF07E1}" srcOrd="1" destOrd="0" presId="urn:microsoft.com/office/officeart/2005/8/layout/hierarchy1"/>
    <dgm:cxn modelId="{9C1C6D98-FF8A-45A6-8F36-9BFD2AF0ED15}" type="presParOf" srcId="{346767B9-2C8B-4E19-96E1-B46F537C7373}" destId="{EE1D482C-7BEB-4581-831B-A98E618C2A34}" srcOrd="1" destOrd="0" presId="urn:microsoft.com/office/officeart/2005/8/layout/hierarchy1"/>
    <dgm:cxn modelId="{25E76D24-7251-4911-96E3-A3C3A39E8B74}" type="presParOf" srcId="{EE1D482C-7BEB-4581-831B-A98E618C2A34}" destId="{47B04005-336F-4A18-BAF1-1AA7D66F9E00}" srcOrd="0" destOrd="0" presId="urn:microsoft.com/office/officeart/2005/8/layout/hierarchy1"/>
    <dgm:cxn modelId="{CEF9D8F2-AA18-4CEE-B139-CB154D6FBB2D}" type="presParOf" srcId="{EE1D482C-7BEB-4581-831B-A98E618C2A34}" destId="{5E2D8B3E-3F9D-4AD7-94A5-21D7D43B6441}" srcOrd="1" destOrd="0" presId="urn:microsoft.com/office/officeart/2005/8/layout/hierarchy1"/>
    <dgm:cxn modelId="{9CFA3FB3-808B-4285-ACE7-0644CA8864F3}" type="presParOf" srcId="{5E2D8B3E-3F9D-4AD7-94A5-21D7D43B6441}" destId="{723E7DA7-0B04-4964-A914-54A0AF7D66AD}" srcOrd="0" destOrd="0" presId="urn:microsoft.com/office/officeart/2005/8/layout/hierarchy1"/>
    <dgm:cxn modelId="{FD118C07-943E-45FE-9D89-56D7E949D00B}" type="presParOf" srcId="{723E7DA7-0B04-4964-A914-54A0AF7D66AD}" destId="{8485E5AB-DCE3-4CEA-AEEC-C1D2559FF1C2}" srcOrd="0" destOrd="0" presId="urn:microsoft.com/office/officeart/2005/8/layout/hierarchy1"/>
    <dgm:cxn modelId="{D1DD2A9A-6DC3-4D95-A784-E87A7D4C440E}" type="presParOf" srcId="{723E7DA7-0B04-4964-A914-54A0AF7D66AD}" destId="{4F10709A-721E-4C3B-83C3-EBC7DCA3EE3A}" srcOrd="1" destOrd="0" presId="urn:microsoft.com/office/officeart/2005/8/layout/hierarchy1"/>
    <dgm:cxn modelId="{C0920EE9-FED3-4A1F-A7A4-53FFF65A79FD}" type="presParOf" srcId="{5E2D8B3E-3F9D-4AD7-94A5-21D7D43B6441}" destId="{1DB50742-C99B-4256-A3E0-41189B25DDCD}" srcOrd="1" destOrd="0" presId="urn:microsoft.com/office/officeart/2005/8/layout/hierarchy1"/>
    <dgm:cxn modelId="{B2737B4E-3D19-4EC7-A937-38FDBA6FF0BC}" type="presParOf" srcId="{EE1D482C-7BEB-4581-831B-A98E618C2A34}" destId="{757943C6-2610-422E-A531-9FA38051C672}" srcOrd="2" destOrd="0" presId="urn:microsoft.com/office/officeart/2005/8/layout/hierarchy1"/>
    <dgm:cxn modelId="{F77FADE5-E7E3-4725-9F5A-F11FD0BA82F5}" type="presParOf" srcId="{EE1D482C-7BEB-4581-831B-A98E618C2A34}" destId="{F7289A8A-AF80-47F2-A744-AE01F88DE108}" srcOrd="3" destOrd="0" presId="urn:microsoft.com/office/officeart/2005/8/layout/hierarchy1"/>
    <dgm:cxn modelId="{F10D1B65-757B-4C46-A2F1-D04BC5AEEE10}" type="presParOf" srcId="{F7289A8A-AF80-47F2-A744-AE01F88DE108}" destId="{12E9C79E-BB31-4EDE-B232-3C9DBAB3FC95}" srcOrd="0" destOrd="0" presId="urn:microsoft.com/office/officeart/2005/8/layout/hierarchy1"/>
    <dgm:cxn modelId="{EACA744F-11DC-4936-89AA-F733621C11D7}" type="presParOf" srcId="{12E9C79E-BB31-4EDE-B232-3C9DBAB3FC95}" destId="{16A4A426-C025-4F6E-A940-AA0DCAA1CF74}" srcOrd="0" destOrd="0" presId="urn:microsoft.com/office/officeart/2005/8/layout/hierarchy1"/>
    <dgm:cxn modelId="{47803F0A-FE09-4147-A696-1754DC596608}" type="presParOf" srcId="{12E9C79E-BB31-4EDE-B232-3C9DBAB3FC95}" destId="{0F007C70-ED79-45E9-833C-2B06789C378D}" srcOrd="1" destOrd="0" presId="urn:microsoft.com/office/officeart/2005/8/layout/hierarchy1"/>
    <dgm:cxn modelId="{D7E8CC24-1FBA-427D-8DE3-D9394503C3A8}" type="presParOf" srcId="{F7289A8A-AF80-47F2-A744-AE01F88DE108}" destId="{0F1D1D37-BA12-4FFC-9400-7904646224B9}"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6C92AB1-B607-48EB-8573-641360BB5120}"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D5C62AF5-5DB3-45C0-B6E5-93C5D77147A1}">
      <dgm:prSet phldrT="[Text]" custT="1"/>
      <dgm:spPr/>
      <dgm:t>
        <a:bodyPr/>
        <a:lstStyle/>
        <a:p>
          <a:r>
            <a:rPr lang="en-US" sz="2400" dirty="0"/>
            <a:t>1</a:t>
          </a:r>
        </a:p>
      </dgm:t>
    </dgm:pt>
    <dgm:pt modelId="{B4DDE56A-D0F0-4625-8640-A72E8DCA17E7}" type="parTrans" cxnId="{E143E444-E8B0-464E-AB38-F98395D6AA03}">
      <dgm:prSet/>
      <dgm:spPr/>
      <dgm:t>
        <a:bodyPr/>
        <a:lstStyle/>
        <a:p>
          <a:endParaRPr lang="en-US" sz="2400"/>
        </a:p>
      </dgm:t>
    </dgm:pt>
    <dgm:pt modelId="{A5A67CD4-9AC6-429C-8F53-B849401EE08C}" type="sibTrans" cxnId="{E143E444-E8B0-464E-AB38-F98395D6AA03}">
      <dgm:prSet/>
      <dgm:spPr/>
      <dgm:t>
        <a:bodyPr/>
        <a:lstStyle/>
        <a:p>
          <a:endParaRPr lang="en-US" sz="2400"/>
        </a:p>
      </dgm:t>
    </dgm:pt>
    <dgm:pt modelId="{0CE63D06-D0A5-4809-81C4-BAD050294DCA}">
      <dgm:prSet phldrT="[Text]" custT="1"/>
      <dgm:spPr/>
      <dgm:t>
        <a:bodyPr/>
        <a:lstStyle/>
        <a:p>
          <a:r>
            <a:rPr lang="en-US" sz="2400" dirty="0"/>
            <a:t>1a</a:t>
          </a:r>
        </a:p>
      </dgm:t>
    </dgm:pt>
    <dgm:pt modelId="{BC3A6C86-A9CC-48B5-91A0-3821627731F8}" type="parTrans" cxnId="{F1EFCC47-4623-4F1F-81BF-357B8043C23E}">
      <dgm:prSet/>
      <dgm:spPr/>
      <dgm:t>
        <a:bodyPr/>
        <a:lstStyle/>
        <a:p>
          <a:endParaRPr lang="en-US" sz="2400"/>
        </a:p>
      </dgm:t>
    </dgm:pt>
    <dgm:pt modelId="{A555BDD9-ECC4-44CF-9212-858B0444164C}" type="sibTrans" cxnId="{F1EFCC47-4623-4F1F-81BF-357B8043C23E}">
      <dgm:prSet/>
      <dgm:spPr/>
      <dgm:t>
        <a:bodyPr/>
        <a:lstStyle/>
        <a:p>
          <a:endParaRPr lang="en-US" sz="2400"/>
        </a:p>
      </dgm:t>
    </dgm:pt>
    <dgm:pt modelId="{E49E0E62-B790-415F-A10C-26774EB88F7A}">
      <dgm:prSet phldrT="[Text]" custT="1"/>
      <dgm:spPr/>
      <dgm:t>
        <a:bodyPr/>
        <a:lstStyle/>
        <a:p>
          <a:r>
            <a:rPr lang="en-US" sz="2400" dirty="0"/>
            <a:t>1aC</a:t>
          </a:r>
        </a:p>
      </dgm:t>
    </dgm:pt>
    <dgm:pt modelId="{D870BC5B-EB7A-4E5E-A16D-A1EF41782962}" type="parTrans" cxnId="{6142D476-277A-4A5A-81F7-4C288ECA7815}">
      <dgm:prSet/>
      <dgm:spPr/>
      <dgm:t>
        <a:bodyPr/>
        <a:lstStyle/>
        <a:p>
          <a:endParaRPr lang="en-US" sz="2400"/>
        </a:p>
      </dgm:t>
    </dgm:pt>
    <dgm:pt modelId="{7644F989-18DE-47CF-BFE8-6932EEB3D14F}" type="sibTrans" cxnId="{6142D476-277A-4A5A-81F7-4C288ECA7815}">
      <dgm:prSet/>
      <dgm:spPr/>
      <dgm:t>
        <a:bodyPr/>
        <a:lstStyle/>
        <a:p>
          <a:endParaRPr lang="en-US" sz="2400"/>
        </a:p>
      </dgm:t>
    </dgm:pt>
    <dgm:pt modelId="{B8B9CC3B-D8A3-4BEB-BCFD-C21FA76AC94B}">
      <dgm:prSet phldrT="[Text]" custT="1"/>
      <dgm:spPr/>
      <dgm:t>
        <a:bodyPr/>
        <a:lstStyle/>
        <a:p>
          <a:r>
            <a:rPr lang="en-US" sz="2400" dirty="0"/>
            <a:t>1aD</a:t>
          </a:r>
        </a:p>
      </dgm:t>
    </dgm:pt>
    <dgm:pt modelId="{234858F0-F29F-4F46-85AA-0B64AB36A93D}" type="parTrans" cxnId="{04464E36-41FC-482D-8A8E-F13733C64B02}">
      <dgm:prSet/>
      <dgm:spPr/>
      <dgm:t>
        <a:bodyPr/>
        <a:lstStyle/>
        <a:p>
          <a:endParaRPr lang="en-US" sz="2400"/>
        </a:p>
      </dgm:t>
    </dgm:pt>
    <dgm:pt modelId="{4587873B-F9DD-4CB4-B8C6-10D8705BE63E}" type="sibTrans" cxnId="{04464E36-41FC-482D-8A8E-F13733C64B02}">
      <dgm:prSet/>
      <dgm:spPr/>
      <dgm:t>
        <a:bodyPr/>
        <a:lstStyle/>
        <a:p>
          <a:endParaRPr lang="en-US" sz="2400"/>
        </a:p>
      </dgm:t>
    </dgm:pt>
    <dgm:pt modelId="{3F1700EF-D35D-45EF-B4CA-4AC92C1D83F5}">
      <dgm:prSet phldrT="[Text]" custT="1"/>
      <dgm:spPr/>
      <dgm:t>
        <a:bodyPr/>
        <a:lstStyle/>
        <a:p>
          <a:r>
            <a:rPr lang="en-US" sz="2400" dirty="0"/>
            <a:t>1b</a:t>
          </a:r>
        </a:p>
      </dgm:t>
    </dgm:pt>
    <dgm:pt modelId="{58FB2B6E-8AA0-4D62-941B-FA3EAFC48C22}" type="parTrans" cxnId="{C9DC1484-1ED8-4466-A43D-009D6F3DDAB3}">
      <dgm:prSet/>
      <dgm:spPr/>
      <dgm:t>
        <a:bodyPr/>
        <a:lstStyle/>
        <a:p>
          <a:endParaRPr lang="en-US" sz="2400"/>
        </a:p>
      </dgm:t>
    </dgm:pt>
    <dgm:pt modelId="{D7AE626B-6D74-4A2A-AE1E-ABB75AC1DC96}" type="sibTrans" cxnId="{C9DC1484-1ED8-4466-A43D-009D6F3DDAB3}">
      <dgm:prSet/>
      <dgm:spPr/>
      <dgm:t>
        <a:bodyPr/>
        <a:lstStyle/>
        <a:p>
          <a:endParaRPr lang="en-US" sz="2400"/>
        </a:p>
      </dgm:t>
    </dgm:pt>
    <dgm:pt modelId="{A57FE82E-DB32-4243-A771-6EB53A18ABFC}">
      <dgm:prSet phldrT="[Text]" custT="1"/>
      <dgm:spPr/>
      <dgm:t>
        <a:bodyPr/>
        <a:lstStyle/>
        <a:p>
          <a:r>
            <a:rPr lang="en-US" sz="2400" dirty="0"/>
            <a:t>1bE</a:t>
          </a:r>
        </a:p>
      </dgm:t>
    </dgm:pt>
    <dgm:pt modelId="{B84AA936-21E1-4CF1-A1CF-D02CD657FDEB}" type="parTrans" cxnId="{BF26DB3E-0452-4A42-82F2-49BB5CA6B92C}">
      <dgm:prSet/>
      <dgm:spPr/>
      <dgm:t>
        <a:bodyPr/>
        <a:lstStyle/>
        <a:p>
          <a:endParaRPr lang="en-US" sz="2400"/>
        </a:p>
      </dgm:t>
    </dgm:pt>
    <dgm:pt modelId="{A157157D-67E5-49C5-99A0-558DC3D2CEF5}" type="sibTrans" cxnId="{BF26DB3E-0452-4A42-82F2-49BB5CA6B92C}">
      <dgm:prSet/>
      <dgm:spPr/>
      <dgm:t>
        <a:bodyPr/>
        <a:lstStyle/>
        <a:p>
          <a:endParaRPr lang="en-US" sz="2400"/>
        </a:p>
      </dgm:t>
    </dgm:pt>
    <dgm:pt modelId="{6E56124B-EFD1-4909-9420-2B1FE23DCEDF}">
      <dgm:prSet custT="1"/>
      <dgm:spPr/>
      <dgm:t>
        <a:bodyPr/>
        <a:lstStyle/>
        <a:p>
          <a:r>
            <a:rPr lang="en-US" sz="2400" dirty="0"/>
            <a:t>1bF</a:t>
          </a:r>
        </a:p>
      </dgm:t>
    </dgm:pt>
    <dgm:pt modelId="{A6479D1E-A5B5-4509-983F-BF3EB11180E3}" type="parTrans" cxnId="{0A968E85-AE4D-4B57-B6F9-153B16D22651}">
      <dgm:prSet/>
      <dgm:spPr/>
      <dgm:t>
        <a:bodyPr/>
        <a:lstStyle/>
        <a:p>
          <a:endParaRPr lang="en-US" sz="2400"/>
        </a:p>
      </dgm:t>
    </dgm:pt>
    <dgm:pt modelId="{E785274B-F4BA-450E-8C06-39CFE0FC23B0}" type="sibTrans" cxnId="{0A968E85-AE4D-4B57-B6F9-153B16D22651}">
      <dgm:prSet/>
      <dgm:spPr/>
      <dgm:t>
        <a:bodyPr/>
        <a:lstStyle/>
        <a:p>
          <a:endParaRPr lang="en-US" sz="2400"/>
        </a:p>
      </dgm:t>
    </dgm:pt>
    <dgm:pt modelId="{A226C989-7343-48F7-A302-9519F7BDB4A9}">
      <dgm:prSet/>
      <dgm:spPr/>
      <dgm:t>
        <a:bodyPr/>
        <a:lstStyle/>
        <a:p>
          <a:r>
            <a:rPr lang="en-US" dirty="0"/>
            <a:t>1aCx</a:t>
          </a:r>
        </a:p>
      </dgm:t>
    </dgm:pt>
    <dgm:pt modelId="{0904F60B-B627-4D8A-9A68-A097FD66BD80}" type="parTrans" cxnId="{6A4BD9AD-366F-4AAE-9514-B82DBDBBEA2E}">
      <dgm:prSet/>
      <dgm:spPr/>
      <dgm:t>
        <a:bodyPr/>
        <a:lstStyle/>
        <a:p>
          <a:endParaRPr lang="en-US"/>
        </a:p>
      </dgm:t>
    </dgm:pt>
    <dgm:pt modelId="{6D3232DB-55CB-4184-BEC0-8D2FEF432CF7}" type="sibTrans" cxnId="{6A4BD9AD-366F-4AAE-9514-B82DBDBBEA2E}">
      <dgm:prSet/>
      <dgm:spPr/>
      <dgm:t>
        <a:bodyPr/>
        <a:lstStyle/>
        <a:p>
          <a:endParaRPr lang="en-US"/>
        </a:p>
      </dgm:t>
    </dgm:pt>
    <dgm:pt modelId="{06384E7C-8640-44FE-83B5-4987370717E1}" type="pres">
      <dgm:prSet presAssocID="{36C92AB1-B607-48EB-8573-641360BB5120}" presName="hierChild1" presStyleCnt="0">
        <dgm:presLayoutVars>
          <dgm:chPref val="1"/>
          <dgm:dir/>
          <dgm:animOne val="branch"/>
          <dgm:animLvl val="lvl"/>
          <dgm:resizeHandles/>
        </dgm:presLayoutVars>
      </dgm:prSet>
      <dgm:spPr/>
    </dgm:pt>
    <dgm:pt modelId="{79B6C1CD-7063-4703-9648-177415274BC3}" type="pres">
      <dgm:prSet presAssocID="{D5C62AF5-5DB3-45C0-B6E5-93C5D77147A1}" presName="hierRoot1" presStyleCnt="0"/>
      <dgm:spPr/>
    </dgm:pt>
    <dgm:pt modelId="{34BC4ACD-8EB8-4B1C-A89F-2481C3D99B5E}" type="pres">
      <dgm:prSet presAssocID="{D5C62AF5-5DB3-45C0-B6E5-93C5D77147A1}" presName="composite" presStyleCnt="0"/>
      <dgm:spPr/>
    </dgm:pt>
    <dgm:pt modelId="{9720FCA9-5925-4CDC-BD95-77043533C62E}" type="pres">
      <dgm:prSet presAssocID="{D5C62AF5-5DB3-45C0-B6E5-93C5D77147A1}" presName="background" presStyleLbl="node0" presStyleIdx="0" presStyleCnt="1"/>
      <dgm:spPr/>
    </dgm:pt>
    <dgm:pt modelId="{53FE977D-2D5F-4D10-A888-361C27D92ADF}" type="pres">
      <dgm:prSet presAssocID="{D5C62AF5-5DB3-45C0-B6E5-93C5D77147A1}" presName="text" presStyleLbl="fgAcc0" presStyleIdx="0" presStyleCnt="1">
        <dgm:presLayoutVars>
          <dgm:chPref val="3"/>
        </dgm:presLayoutVars>
      </dgm:prSet>
      <dgm:spPr/>
    </dgm:pt>
    <dgm:pt modelId="{BEBD6345-B131-41DD-A0F5-509AEB6BC5C5}" type="pres">
      <dgm:prSet presAssocID="{D5C62AF5-5DB3-45C0-B6E5-93C5D77147A1}" presName="hierChild2" presStyleCnt="0"/>
      <dgm:spPr/>
    </dgm:pt>
    <dgm:pt modelId="{CD0E72F0-BD54-4593-A635-2347D7B9B516}" type="pres">
      <dgm:prSet presAssocID="{BC3A6C86-A9CC-48B5-91A0-3821627731F8}" presName="Name10" presStyleLbl="parChTrans1D2" presStyleIdx="0" presStyleCnt="2"/>
      <dgm:spPr/>
    </dgm:pt>
    <dgm:pt modelId="{45724D12-46E5-4B49-97A2-6F5588244D7A}" type="pres">
      <dgm:prSet presAssocID="{0CE63D06-D0A5-4809-81C4-BAD050294DCA}" presName="hierRoot2" presStyleCnt="0"/>
      <dgm:spPr/>
    </dgm:pt>
    <dgm:pt modelId="{5921AC86-831F-4E99-94C1-A9DD56F06386}" type="pres">
      <dgm:prSet presAssocID="{0CE63D06-D0A5-4809-81C4-BAD050294DCA}" presName="composite2" presStyleCnt="0"/>
      <dgm:spPr/>
    </dgm:pt>
    <dgm:pt modelId="{7FF04DB6-7976-43CA-82BB-83AAE4B4D0C3}" type="pres">
      <dgm:prSet presAssocID="{0CE63D06-D0A5-4809-81C4-BAD050294DCA}" presName="background2" presStyleLbl="node2" presStyleIdx="0" presStyleCnt="2"/>
      <dgm:spPr/>
    </dgm:pt>
    <dgm:pt modelId="{5E6F3F65-2EBF-4446-8B1B-E2C8562D8018}" type="pres">
      <dgm:prSet presAssocID="{0CE63D06-D0A5-4809-81C4-BAD050294DCA}" presName="text2" presStyleLbl="fgAcc2" presStyleIdx="0" presStyleCnt="2">
        <dgm:presLayoutVars>
          <dgm:chPref val="3"/>
        </dgm:presLayoutVars>
      </dgm:prSet>
      <dgm:spPr/>
    </dgm:pt>
    <dgm:pt modelId="{7EDBF98D-57C4-4470-A08F-C7698BE42E3C}" type="pres">
      <dgm:prSet presAssocID="{0CE63D06-D0A5-4809-81C4-BAD050294DCA}" presName="hierChild3" presStyleCnt="0"/>
      <dgm:spPr/>
    </dgm:pt>
    <dgm:pt modelId="{0F7B0D72-8F63-4DFA-A937-87A64C6970B0}" type="pres">
      <dgm:prSet presAssocID="{D870BC5B-EB7A-4E5E-A16D-A1EF41782962}" presName="Name17" presStyleLbl="parChTrans1D3" presStyleIdx="0" presStyleCnt="4"/>
      <dgm:spPr/>
    </dgm:pt>
    <dgm:pt modelId="{1ABC74F6-8F44-4318-8ABD-C51731670130}" type="pres">
      <dgm:prSet presAssocID="{E49E0E62-B790-415F-A10C-26774EB88F7A}" presName="hierRoot3" presStyleCnt="0"/>
      <dgm:spPr/>
    </dgm:pt>
    <dgm:pt modelId="{5972C2CF-3FB3-4BF6-BC56-4A9DC03DFFC0}" type="pres">
      <dgm:prSet presAssocID="{E49E0E62-B790-415F-A10C-26774EB88F7A}" presName="composite3" presStyleCnt="0"/>
      <dgm:spPr/>
    </dgm:pt>
    <dgm:pt modelId="{0C4D951D-99F7-4320-A661-CFBF1C888A4E}" type="pres">
      <dgm:prSet presAssocID="{E49E0E62-B790-415F-A10C-26774EB88F7A}" presName="background3" presStyleLbl="node3" presStyleIdx="0" presStyleCnt="4"/>
      <dgm:spPr/>
    </dgm:pt>
    <dgm:pt modelId="{72006EAE-1A1A-4231-A07D-56722D7362BD}" type="pres">
      <dgm:prSet presAssocID="{E49E0E62-B790-415F-A10C-26774EB88F7A}" presName="text3" presStyleLbl="fgAcc3" presStyleIdx="0" presStyleCnt="4">
        <dgm:presLayoutVars>
          <dgm:chPref val="3"/>
        </dgm:presLayoutVars>
      </dgm:prSet>
      <dgm:spPr/>
    </dgm:pt>
    <dgm:pt modelId="{680BF579-045C-4749-8212-ACA6532B7681}" type="pres">
      <dgm:prSet presAssocID="{E49E0E62-B790-415F-A10C-26774EB88F7A}" presName="hierChild4" presStyleCnt="0"/>
      <dgm:spPr/>
    </dgm:pt>
    <dgm:pt modelId="{31D485FA-B655-4B40-B1B7-3E942A097332}" type="pres">
      <dgm:prSet presAssocID="{0904F60B-B627-4D8A-9A68-A097FD66BD80}" presName="Name23" presStyleLbl="parChTrans1D4" presStyleIdx="0" presStyleCnt="1"/>
      <dgm:spPr/>
    </dgm:pt>
    <dgm:pt modelId="{F7A43D4D-5856-4DB3-BA18-3C445B2D84AE}" type="pres">
      <dgm:prSet presAssocID="{A226C989-7343-48F7-A302-9519F7BDB4A9}" presName="hierRoot4" presStyleCnt="0"/>
      <dgm:spPr/>
    </dgm:pt>
    <dgm:pt modelId="{591E086D-2DE6-43EC-9D5B-AF7C6F0FDC84}" type="pres">
      <dgm:prSet presAssocID="{A226C989-7343-48F7-A302-9519F7BDB4A9}" presName="composite4" presStyleCnt="0"/>
      <dgm:spPr/>
    </dgm:pt>
    <dgm:pt modelId="{B74ED432-F6DF-48FC-8A45-AF1DB4F1FE89}" type="pres">
      <dgm:prSet presAssocID="{A226C989-7343-48F7-A302-9519F7BDB4A9}" presName="background4" presStyleLbl="node4" presStyleIdx="0" presStyleCnt="1"/>
      <dgm:spPr/>
    </dgm:pt>
    <dgm:pt modelId="{5ECC6EF8-BFD5-4A05-8095-82F53CFBD14B}" type="pres">
      <dgm:prSet presAssocID="{A226C989-7343-48F7-A302-9519F7BDB4A9}" presName="text4" presStyleLbl="fgAcc4" presStyleIdx="0" presStyleCnt="1">
        <dgm:presLayoutVars>
          <dgm:chPref val="3"/>
        </dgm:presLayoutVars>
      </dgm:prSet>
      <dgm:spPr/>
    </dgm:pt>
    <dgm:pt modelId="{F2EF9B0E-22D2-4F95-B45A-C4266091BC1C}" type="pres">
      <dgm:prSet presAssocID="{A226C989-7343-48F7-A302-9519F7BDB4A9}" presName="hierChild5" presStyleCnt="0"/>
      <dgm:spPr/>
    </dgm:pt>
    <dgm:pt modelId="{59D5D202-E362-4F9A-9D2B-E73B96EB9062}" type="pres">
      <dgm:prSet presAssocID="{234858F0-F29F-4F46-85AA-0B64AB36A93D}" presName="Name17" presStyleLbl="parChTrans1D3" presStyleIdx="1" presStyleCnt="4"/>
      <dgm:spPr/>
    </dgm:pt>
    <dgm:pt modelId="{B2FBD9A4-3794-40D6-BCF7-6A9820E0363E}" type="pres">
      <dgm:prSet presAssocID="{B8B9CC3B-D8A3-4BEB-BCFD-C21FA76AC94B}" presName="hierRoot3" presStyleCnt="0"/>
      <dgm:spPr/>
    </dgm:pt>
    <dgm:pt modelId="{E4922F27-3716-470D-B746-C63AAB49DBB7}" type="pres">
      <dgm:prSet presAssocID="{B8B9CC3B-D8A3-4BEB-BCFD-C21FA76AC94B}" presName="composite3" presStyleCnt="0"/>
      <dgm:spPr/>
    </dgm:pt>
    <dgm:pt modelId="{10AAB597-1F66-49E8-9919-8AF98868AF5F}" type="pres">
      <dgm:prSet presAssocID="{B8B9CC3B-D8A3-4BEB-BCFD-C21FA76AC94B}" presName="background3" presStyleLbl="node3" presStyleIdx="1" presStyleCnt="4"/>
      <dgm:spPr/>
    </dgm:pt>
    <dgm:pt modelId="{3F4B4D2A-0D83-4C1D-B634-63FB3FFF3FF8}" type="pres">
      <dgm:prSet presAssocID="{B8B9CC3B-D8A3-4BEB-BCFD-C21FA76AC94B}" presName="text3" presStyleLbl="fgAcc3" presStyleIdx="1" presStyleCnt="4">
        <dgm:presLayoutVars>
          <dgm:chPref val="3"/>
        </dgm:presLayoutVars>
      </dgm:prSet>
      <dgm:spPr/>
    </dgm:pt>
    <dgm:pt modelId="{45123791-D212-4C50-9D9E-2499C3657F97}" type="pres">
      <dgm:prSet presAssocID="{B8B9CC3B-D8A3-4BEB-BCFD-C21FA76AC94B}" presName="hierChild4" presStyleCnt="0"/>
      <dgm:spPr/>
    </dgm:pt>
    <dgm:pt modelId="{C3122428-FAF2-4265-B37F-688D3FB1F776}" type="pres">
      <dgm:prSet presAssocID="{58FB2B6E-8AA0-4D62-941B-FA3EAFC48C22}" presName="Name10" presStyleLbl="parChTrans1D2" presStyleIdx="1" presStyleCnt="2"/>
      <dgm:spPr/>
    </dgm:pt>
    <dgm:pt modelId="{346767B9-2C8B-4E19-96E1-B46F537C7373}" type="pres">
      <dgm:prSet presAssocID="{3F1700EF-D35D-45EF-B4CA-4AC92C1D83F5}" presName="hierRoot2" presStyleCnt="0"/>
      <dgm:spPr/>
    </dgm:pt>
    <dgm:pt modelId="{6A5091A3-EEFE-411B-9132-FA7B7F699286}" type="pres">
      <dgm:prSet presAssocID="{3F1700EF-D35D-45EF-B4CA-4AC92C1D83F5}" presName="composite2" presStyleCnt="0"/>
      <dgm:spPr/>
    </dgm:pt>
    <dgm:pt modelId="{D1764431-6D40-4221-97EF-F73CFEB279B0}" type="pres">
      <dgm:prSet presAssocID="{3F1700EF-D35D-45EF-B4CA-4AC92C1D83F5}" presName="background2" presStyleLbl="node2" presStyleIdx="1" presStyleCnt="2"/>
      <dgm:spPr/>
    </dgm:pt>
    <dgm:pt modelId="{D0FA094B-C7DE-4B27-9955-3E1376FF07E1}" type="pres">
      <dgm:prSet presAssocID="{3F1700EF-D35D-45EF-B4CA-4AC92C1D83F5}" presName="text2" presStyleLbl="fgAcc2" presStyleIdx="1" presStyleCnt="2">
        <dgm:presLayoutVars>
          <dgm:chPref val="3"/>
        </dgm:presLayoutVars>
      </dgm:prSet>
      <dgm:spPr/>
    </dgm:pt>
    <dgm:pt modelId="{EE1D482C-7BEB-4581-831B-A98E618C2A34}" type="pres">
      <dgm:prSet presAssocID="{3F1700EF-D35D-45EF-B4CA-4AC92C1D83F5}" presName="hierChild3" presStyleCnt="0"/>
      <dgm:spPr/>
    </dgm:pt>
    <dgm:pt modelId="{47B04005-336F-4A18-BAF1-1AA7D66F9E00}" type="pres">
      <dgm:prSet presAssocID="{B84AA936-21E1-4CF1-A1CF-D02CD657FDEB}" presName="Name17" presStyleLbl="parChTrans1D3" presStyleIdx="2" presStyleCnt="4"/>
      <dgm:spPr/>
    </dgm:pt>
    <dgm:pt modelId="{5E2D8B3E-3F9D-4AD7-94A5-21D7D43B6441}" type="pres">
      <dgm:prSet presAssocID="{A57FE82E-DB32-4243-A771-6EB53A18ABFC}" presName="hierRoot3" presStyleCnt="0"/>
      <dgm:spPr/>
    </dgm:pt>
    <dgm:pt modelId="{723E7DA7-0B04-4964-A914-54A0AF7D66AD}" type="pres">
      <dgm:prSet presAssocID="{A57FE82E-DB32-4243-A771-6EB53A18ABFC}" presName="composite3" presStyleCnt="0"/>
      <dgm:spPr/>
    </dgm:pt>
    <dgm:pt modelId="{8485E5AB-DCE3-4CEA-AEEC-C1D2559FF1C2}" type="pres">
      <dgm:prSet presAssocID="{A57FE82E-DB32-4243-A771-6EB53A18ABFC}" presName="background3" presStyleLbl="node3" presStyleIdx="2" presStyleCnt="4"/>
      <dgm:spPr/>
    </dgm:pt>
    <dgm:pt modelId="{4F10709A-721E-4C3B-83C3-EBC7DCA3EE3A}" type="pres">
      <dgm:prSet presAssocID="{A57FE82E-DB32-4243-A771-6EB53A18ABFC}" presName="text3" presStyleLbl="fgAcc3" presStyleIdx="2" presStyleCnt="4">
        <dgm:presLayoutVars>
          <dgm:chPref val="3"/>
        </dgm:presLayoutVars>
      </dgm:prSet>
      <dgm:spPr/>
    </dgm:pt>
    <dgm:pt modelId="{1DB50742-C99B-4256-A3E0-41189B25DDCD}" type="pres">
      <dgm:prSet presAssocID="{A57FE82E-DB32-4243-A771-6EB53A18ABFC}" presName="hierChild4" presStyleCnt="0"/>
      <dgm:spPr/>
    </dgm:pt>
    <dgm:pt modelId="{757943C6-2610-422E-A531-9FA38051C672}" type="pres">
      <dgm:prSet presAssocID="{A6479D1E-A5B5-4509-983F-BF3EB11180E3}" presName="Name17" presStyleLbl="parChTrans1D3" presStyleIdx="3" presStyleCnt="4"/>
      <dgm:spPr/>
    </dgm:pt>
    <dgm:pt modelId="{F7289A8A-AF80-47F2-A744-AE01F88DE108}" type="pres">
      <dgm:prSet presAssocID="{6E56124B-EFD1-4909-9420-2B1FE23DCEDF}" presName="hierRoot3" presStyleCnt="0"/>
      <dgm:spPr/>
    </dgm:pt>
    <dgm:pt modelId="{12E9C79E-BB31-4EDE-B232-3C9DBAB3FC95}" type="pres">
      <dgm:prSet presAssocID="{6E56124B-EFD1-4909-9420-2B1FE23DCEDF}" presName="composite3" presStyleCnt="0"/>
      <dgm:spPr/>
    </dgm:pt>
    <dgm:pt modelId="{16A4A426-C025-4F6E-A940-AA0DCAA1CF74}" type="pres">
      <dgm:prSet presAssocID="{6E56124B-EFD1-4909-9420-2B1FE23DCEDF}" presName="background3" presStyleLbl="node3" presStyleIdx="3" presStyleCnt="4"/>
      <dgm:spPr/>
    </dgm:pt>
    <dgm:pt modelId="{0F007C70-ED79-45E9-833C-2B06789C378D}" type="pres">
      <dgm:prSet presAssocID="{6E56124B-EFD1-4909-9420-2B1FE23DCEDF}" presName="text3" presStyleLbl="fgAcc3" presStyleIdx="3" presStyleCnt="4">
        <dgm:presLayoutVars>
          <dgm:chPref val="3"/>
        </dgm:presLayoutVars>
      </dgm:prSet>
      <dgm:spPr/>
    </dgm:pt>
    <dgm:pt modelId="{0F1D1D37-BA12-4FFC-9400-7904646224B9}" type="pres">
      <dgm:prSet presAssocID="{6E56124B-EFD1-4909-9420-2B1FE23DCEDF}" presName="hierChild4" presStyleCnt="0"/>
      <dgm:spPr/>
    </dgm:pt>
  </dgm:ptLst>
  <dgm:cxnLst>
    <dgm:cxn modelId="{8DABE72D-9CA0-44C1-A213-642B9148EB5C}" type="presOf" srcId="{E49E0E62-B790-415F-A10C-26774EB88F7A}" destId="{72006EAE-1A1A-4231-A07D-56722D7362BD}" srcOrd="0" destOrd="0" presId="urn:microsoft.com/office/officeart/2005/8/layout/hierarchy1"/>
    <dgm:cxn modelId="{AA191236-CE04-45C2-A873-4D6D5E57BD70}" type="presOf" srcId="{B84AA936-21E1-4CF1-A1CF-D02CD657FDEB}" destId="{47B04005-336F-4A18-BAF1-1AA7D66F9E00}" srcOrd="0" destOrd="0" presId="urn:microsoft.com/office/officeart/2005/8/layout/hierarchy1"/>
    <dgm:cxn modelId="{04464E36-41FC-482D-8A8E-F13733C64B02}" srcId="{0CE63D06-D0A5-4809-81C4-BAD050294DCA}" destId="{B8B9CC3B-D8A3-4BEB-BCFD-C21FA76AC94B}" srcOrd="1" destOrd="0" parTransId="{234858F0-F29F-4F46-85AA-0B64AB36A93D}" sibTransId="{4587873B-F9DD-4CB4-B8C6-10D8705BE63E}"/>
    <dgm:cxn modelId="{BF26DB3E-0452-4A42-82F2-49BB5CA6B92C}" srcId="{3F1700EF-D35D-45EF-B4CA-4AC92C1D83F5}" destId="{A57FE82E-DB32-4243-A771-6EB53A18ABFC}" srcOrd="0" destOrd="0" parTransId="{B84AA936-21E1-4CF1-A1CF-D02CD657FDEB}" sibTransId="{A157157D-67E5-49C5-99A0-558DC3D2CEF5}"/>
    <dgm:cxn modelId="{FA41155E-F64E-40C2-B118-19C3C82D0EFD}" type="presOf" srcId="{234858F0-F29F-4F46-85AA-0B64AB36A93D}" destId="{59D5D202-E362-4F9A-9D2B-E73B96EB9062}" srcOrd="0" destOrd="0" presId="urn:microsoft.com/office/officeart/2005/8/layout/hierarchy1"/>
    <dgm:cxn modelId="{4554D661-5DC8-40F4-984C-2CB96BCB9849}" type="presOf" srcId="{0CE63D06-D0A5-4809-81C4-BAD050294DCA}" destId="{5E6F3F65-2EBF-4446-8B1B-E2C8562D8018}" srcOrd="0" destOrd="0" presId="urn:microsoft.com/office/officeart/2005/8/layout/hierarchy1"/>
    <dgm:cxn modelId="{E143E444-E8B0-464E-AB38-F98395D6AA03}" srcId="{36C92AB1-B607-48EB-8573-641360BB5120}" destId="{D5C62AF5-5DB3-45C0-B6E5-93C5D77147A1}" srcOrd="0" destOrd="0" parTransId="{B4DDE56A-D0F0-4625-8640-A72E8DCA17E7}" sibTransId="{A5A67CD4-9AC6-429C-8F53-B849401EE08C}"/>
    <dgm:cxn modelId="{402A3B66-51C3-4944-9E6A-7BCE6AB79F76}" type="presOf" srcId="{D5C62AF5-5DB3-45C0-B6E5-93C5D77147A1}" destId="{53FE977D-2D5F-4D10-A888-361C27D92ADF}" srcOrd="0" destOrd="0" presId="urn:microsoft.com/office/officeart/2005/8/layout/hierarchy1"/>
    <dgm:cxn modelId="{F1EFCC47-4623-4F1F-81BF-357B8043C23E}" srcId="{D5C62AF5-5DB3-45C0-B6E5-93C5D77147A1}" destId="{0CE63D06-D0A5-4809-81C4-BAD050294DCA}" srcOrd="0" destOrd="0" parTransId="{BC3A6C86-A9CC-48B5-91A0-3821627731F8}" sibTransId="{A555BDD9-ECC4-44CF-9212-858B0444164C}"/>
    <dgm:cxn modelId="{CFE68771-1F5F-4D6C-800B-E53BB694FF95}" type="presOf" srcId="{BC3A6C86-A9CC-48B5-91A0-3821627731F8}" destId="{CD0E72F0-BD54-4593-A635-2347D7B9B516}" srcOrd="0" destOrd="0" presId="urn:microsoft.com/office/officeart/2005/8/layout/hierarchy1"/>
    <dgm:cxn modelId="{93F38E55-7697-4A19-BCD1-908BD61FFD47}" type="presOf" srcId="{0904F60B-B627-4D8A-9A68-A097FD66BD80}" destId="{31D485FA-B655-4B40-B1B7-3E942A097332}" srcOrd="0" destOrd="0" presId="urn:microsoft.com/office/officeart/2005/8/layout/hierarchy1"/>
    <dgm:cxn modelId="{6142D476-277A-4A5A-81F7-4C288ECA7815}" srcId="{0CE63D06-D0A5-4809-81C4-BAD050294DCA}" destId="{E49E0E62-B790-415F-A10C-26774EB88F7A}" srcOrd="0" destOrd="0" parTransId="{D870BC5B-EB7A-4E5E-A16D-A1EF41782962}" sibTransId="{7644F989-18DE-47CF-BFE8-6932EEB3D14F}"/>
    <dgm:cxn modelId="{BAEA2A81-B711-430D-BE73-DCFE123335EA}" type="presOf" srcId="{3F1700EF-D35D-45EF-B4CA-4AC92C1D83F5}" destId="{D0FA094B-C7DE-4B27-9955-3E1376FF07E1}" srcOrd="0" destOrd="0" presId="urn:microsoft.com/office/officeart/2005/8/layout/hierarchy1"/>
    <dgm:cxn modelId="{342F0C84-6EA6-4620-B874-2CD39443ADCD}" type="presOf" srcId="{D870BC5B-EB7A-4E5E-A16D-A1EF41782962}" destId="{0F7B0D72-8F63-4DFA-A937-87A64C6970B0}" srcOrd="0" destOrd="0" presId="urn:microsoft.com/office/officeart/2005/8/layout/hierarchy1"/>
    <dgm:cxn modelId="{C9DC1484-1ED8-4466-A43D-009D6F3DDAB3}" srcId="{D5C62AF5-5DB3-45C0-B6E5-93C5D77147A1}" destId="{3F1700EF-D35D-45EF-B4CA-4AC92C1D83F5}" srcOrd="1" destOrd="0" parTransId="{58FB2B6E-8AA0-4D62-941B-FA3EAFC48C22}" sibTransId="{D7AE626B-6D74-4A2A-AE1E-ABB75AC1DC96}"/>
    <dgm:cxn modelId="{0A968E85-AE4D-4B57-B6F9-153B16D22651}" srcId="{3F1700EF-D35D-45EF-B4CA-4AC92C1D83F5}" destId="{6E56124B-EFD1-4909-9420-2B1FE23DCEDF}" srcOrd="1" destOrd="0" parTransId="{A6479D1E-A5B5-4509-983F-BF3EB11180E3}" sibTransId="{E785274B-F4BA-450E-8C06-39CFE0FC23B0}"/>
    <dgm:cxn modelId="{F9AFF99F-16E3-4155-97D1-1CF2E5661FE1}" type="presOf" srcId="{58FB2B6E-8AA0-4D62-941B-FA3EAFC48C22}" destId="{C3122428-FAF2-4265-B37F-688D3FB1F776}" srcOrd="0" destOrd="0" presId="urn:microsoft.com/office/officeart/2005/8/layout/hierarchy1"/>
    <dgm:cxn modelId="{1345B3A2-84F3-4C80-BF5F-F462C9CF9017}" type="presOf" srcId="{A6479D1E-A5B5-4509-983F-BF3EB11180E3}" destId="{757943C6-2610-422E-A531-9FA38051C672}" srcOrd="0" destOrd="0" presId="urn:microsoft.com/office/officeart/2005/8/layout/hierarchy1"/>
    <dgm:cxn modelId="{6A4BD9AD-366F-4AAE-9514-B82DBDBBEA2E}" srcId="{E49E0E62-B790-415F-A10C-26774EB88F7A}" destId="{A226C989-7343-48F7-A302-9519F7BDB4A9}" srcOrd="0" destOrd="0" parTransId="{0904F60B-B627-4D8A-9A68-A097FD66BD80}" sibTransId="{6D3232DB-55CB-4184-BEC0-8D2FEF432CF7}"/>
    <dgm:cxn modelId="{1D432BDA-E590-448D-B902-DA0695B25B58}" type="presOf" srcId="{36C92AB1-B607-48EB-8573-641360BB5120}" destId="{06384E7C-8640-44FE-83B5-4987370717E1}" srcOrd="0" destOrd="0" presId="urn:microsoft.com/office/officeart/2005/8/layout/hierarchy1"/>
    <dgm:cxn modelId="{DC5709DC-056A-41F5-BB6C-F672B71E0D6A}" type="presOf" srcId="{B8B9CC3B-D8A3-4BEB-BCFD-C21FA76AC94B}" destId="{3F4B4D2A-0D83-4C1D-B634-63FB3FFF3FF8}" srcOrd="0" destOrd="0" presId="urn:microsoft.com/office/officeart/2005/8/layout/hierarchy1"/>
    <dgm:cxn modelId="{DC8D86E3-7F3E-4970-BB4D-3C66E28D81D6}" type="presOf" srcId="{A226C989-7343-48F7-A302-9519F7BDB4A9}" destId="{5ECC6EF8-BFD5-4A05-8095-82F53CFBD14B}" srcOrd="0" destOrd="0" presId="urn:microsoft.com/office/officeart/2005/8/layout/hierarchy1"/>
    <dgm:cxn modelId="{079C93EA-9E00-43B8-B166-D1C638911C5B}" type="presOf" srcId="{A57FE82E-DB32-4243-A771-6EB53A18ABFC}" destId="{4F10709A-721E-4C3B-83C3-EBC7DCA3EE3A}" srcOrd="0" destOrd="0" presId="urn:microsoft.com/office/officeart/2005/8/layout/hierarchy1"/>
    <dgm:cxn modelId="{60FAB2FB-7B68-4DD9-9C8B-D6057B07156D}" type="presOf" srcId="{6E56124B-EFD1-4909-9420-2B1FE23DCEDF}" destId="{0F007C70-ED79-45E9-833C-2B06789C378D}" srcOrd="0" destOrd="0" presId="urn:microsoft.com/office/officeart/2005/8/layout/hierarchy1"/>
    <dgm:cxn modelId="{0CB266A3-D4CE-44CE-B543-5D0F89BFC913}" type="presParOf" srcId="{06384E7C-8640-44FE-83B5-4987370717E1}" destId="{79B6C1CD-7063-4703-9648-177415274BC3}" srcOrd="0" destOrd="0" presId="urn:microsoft.com/office/officeart/2005/8/layout/hierarchy1"/>
    <dgm:cxn modelId="{D9B2036B-2CBE-4537-A089-6E94643F297C}" type="presParOf" srcId="{79B6C1CD-7063-4703-9648-177415274BC3}" destId="{34BC4ACD-8EB8-4B1C-A89F-2481C3D99B5E}" srcOrd="0" destOrd="0" presId="urn:microsoft.com/office/officeart/2005/8/layout/hierarchy1"/>
    <dgm:cxn modelId="{4EAC9E24-CE4D-48D5-A46E-465AAB8E5986}" type="presParOf" srcId="{34BC4ACD-8EB8-4B1C-A89F-2481C3D99B5E}" destId="{9720FCA9-5925-4CDC-BD95-77043533C62E}" srcOrd="0" destOrd="0" presId="urn:microsoft.com/office/officeart/2005/8/layout/hierarchy1"/>
    <dgm:cxn modelId="{12B165C0-D303-4BAE-B039-B04BE5018668}" type="presParOf" srcId="{34BC4ACD-8EB8-4B1C-A89F-2481C3D99B5E}" destId="{53FE977D-2D5F-4D10-A888-361C27D92ADF}" srcOrd="1" destOrd="0" presId="urn:microsoft.com/office/officeart/2005/8/layout/hierarchy1"/>
    <dgm:cxn modelId="{F0D9B492-C895-4F7E-A961-45109DA39C58}" type="presParOf" srcId="{79B6C1CD-7063-4703-9648-177415274BC3}" destId="{BEBD6345-B131-41DD-A0F5-509AEB6BC5C5}" srcOrd="1" destOrd="0" presId="urn:microsoft.com/office/officeart/2005/8/layout/hierarchy1"/>
    <dgm:cxn modelId="{92B68153-8E90-4CDB-9C34-430381B4A261}" type="presParOf" srcId="{BEBD6345-B131-41DD-A0F5-509AEB6BC5C5}" destId="{CD0E72F0-BD54-4593-A635-2347D7B9B516}" srcOrd="0" destOrd="0" presId="urn:microsoft.com/office/officeart/2005/8/layout/hierarchy1"/>
    <dgm:cxn modelId="{A88ED7FE-FBD0-495D-848C-C258420F3328}" type="presParOf" srcId="{BEBD6345-B131-41DD-A0F5-509AEB6BC5C5}" destId="{45724D12-46E5-4B49-97A2-6F5588244D7A}" srcOrd="1" destOrd="0" presId="urn:microsoft.com/office/officeart/2005/8/layout/hierarchy1"/>
    <dgm:cxn modelId="{B8F3172F-BBF9-4EE2-8F0A-DDA57DA5F306}" type="presParOf" srcId="{45724D12-46E5-4B49-97A2-6F5588244D7A}" destId="{5921AC86-831F-4E99-94C1-A9DD56F06386}" srcOrd="0" destOrd="0" presId="urn:microsoft.com/office/officeart/2005/8/layout/hierarchy1"/>
    <dgm:cxn modelId="{7DE2AAF1-5DC5-4028-9FA6-F71E088E9DB4}" type="presParOf" srcId="{5921AC86-831F-4E99-94C1-A9DD56F06386}" destId="{7FF04DB6-7976-43CA-82BB-83AAE4B4D0C3}" srcOrd="0" destOrd="0" presId="urn:microsoft.com/office/officeart/2005/8/layout/hierarchy1"/>
    <dgm:cxn modelId="{692807B6-C5D8-45F6-8652-25C18D0D3FDA}" type="presParOf" srcId="{5921AC86-831F-4E99-94C1-A9DD56F06386}" destId="{5E6F3F65-2EBF-4446-8B1B-E2C8562D8018}" srcOrd="1" destOrd="0" presId="urn:microsoft.com/office/officeart/2005/8/layout/hierarchy1"/>
    <dgm:cxn modelId="{D970D37A-9336-4C06-88F2-E52F356A4F57}" type="presParOf" srcId="{45724D12-46E5-4B49-97A2-6F5588244D7A}" destId="{7EDBF98D-57C4-4470-A08F-C7698BE42E3C}" srcOrd="1" destOrd="0" presId="urn:microsoft.com/office/officeart/2005/8/layout/hierarchy1"/>
    <dgm:cxn modelId="{2CB45722-BE5B-49FA-931C-E423B47FE8B8}" type="presParOf" srcId="{7EDBF98D-57C4-4470-A08F-C7698BE42E3C}" destId="{0F7B0D72-8F63-4DFA-A937-87A64C6970B0}" srcOrd="0" destOrd="0" presId="urn:microsoft.com/office/officeart/2005/8/layout/hierarchy1"/>
    <dgm:cxn modelId="{B03471ED-6D83-4737-9F67-BA82464F9DB1}" type="presParOf" srcId="{7EDBF98D-57C4-4470-A08F-C7698BE42E3C}" destId="{1ABC74F6-8F44-4318-8ABD-C51731670130}" srcOrd="1" destOrd="0" presId="urn:microsoft.com/office/officeart/2005/8/layout/hierarchy1"/>
    <dgm:cxn modelId="{E07D878B-F1C3-4C79-B2E4-18DE8EB48A39}" type="presParOf" srcId="{1ABC74F6-8F44-4318-8ABD-C51731670130}" destId="{5972C2CF-3FB3-4BF6-BC56-4A9DC03DFFC0}" srcOrd="0" destOrd="0" presId="urn:microsoft.com/office/officeart/2005/8/layout/hierarchy1"/>
    <dgm:cxn modelId="{255C1A44-90E3-43FA-8CAE-1642422F15B3}" type="presParOf" srcId="{5972C2CF-3FB3-4BF6-BC56-4A9DC03DFFC0}" destId="{0C4D951D-99F7-4320-A661-CFBF1C888A4E}" srcOrd="0" destOrd="0" presId="urn:microsoft.com/office/officeart/2005/8/layout/hierarchy1"/>
    <dgm:cxn modelId="{4DD74492-9655-4217-96CE-65730F85FEC9}" type="presParOf" srcId="{5972C2CF-3FB3-4BF6-BC56-4A9DC03DFFC0}" destId="{72006EAE-1A1A-4231-A07D-56722D7362BD}" srcOrd="1" destOrd="0" presId="urn:microsoft.com/office/officeart/2005/8/layout/hierarchy1"/>
    <dgm:cxn modelId="{238AF270-F82E-4D33-B610-BB9C2C10B9A0}" type="presParOf" srcId="{1ABC74F6-8F44-4318-8ABD-C51731670130}" destId="{680BF579-045C-4749-8212-ACA6532B7681}" srcOrd="1" destOrd="0" presId="urn:microsoft.com/office/officeart/2005/8/layout/hierarchy1"/>
    <dgm:cxn modelId="{53459955-9FB0-4AEC-AA5F-7690499CCD9D}" type="presParOf" srcId="{680BF579-045C-4749-8212-ACA6532B7681}" destId="{31D485FA-B655-4B40-B1B7-3E942A097332}" srcOrd="0" destOrd="0" presId="urn:microsoft.com/office/officeart/2005/8/layout/hierarchy1"/>
    <dgm:cxn modelId="{03EF3712-EFB9-49F5-8578-4FE6AEBCC1A2}" type="presParOf" srcId="{680BF579-045C-4749-8212-ACA6532B7681}" destId="{F7A43D4D-5856-4DB3-BA18-3C445B2D84AE}" srcOrd="1" destOrd="0" presId="urn:microsoft.com/office/officeart/2005/8/layout/hierarchy1"/>
    <dgm:cxn modelId="{1C61DAD2-161E-4497-819D-8534079312FD}" type="presParOf" srcId="{F7A43D4D-5856-4DB3-BA18-3C445B2D84AE}" destId="{591E086D-2DE6-43EC-9D5B-AF7C6F0FDC84}" srcOrd="0" destOrd="0" presId="urn:microsoft.com/office/officeart/2005/8/layout/hierarchy1"/>
    <dgm:cxn modelId="{A41904C1-E801-4D31-99A2-286F9DBD0D00}" type="presParOf" srcId="{591E086D-2DE6-43EC-9D5B-AF7C6F0FDC84}" destId="{B74ED432-F6DF-48FC-8A45-AF1DB4F1FE89}" srcOrd="0" destOrd="0" presId="urn:microsoft.com/office/officeart/2005/8/layout/hierarchy1"/>
    <dgm:cxn modelId="{2BC25A8C-002B-4992-B6AD-8510AB6F8D52}" type="presParOf" srcId="{591E086D-2DE6-43EC-9D5B-AF7C6F0FDC84}" destId="{5ECC6EF8-BFD5-4A05-8095-82F53CFBD14B}" srcOrd="1" destOrd="0" presId="urn:microsoft.com/office/officeart/2005/8/layout/hierarchy1"/>
    <dgm:cxn modelId="{B468804A-C340-4CEE-83F0-E78A10994F97}" type="presParOf" srcId="{F7A43D4D-5856-4DB3-BA18-3C445B2D84AE}" destId="{F2EF9B0E-22D2-4F95-B45A-C4266091BC1C}" srcOrd="1" destOrd="0" presId="urn:microsoft.com/office/officeart/2005/8/layout/hierarchy1"/>
    <dgm:cxn modelId="{BBB66C8C-2FFB-4005-B093-8928406CBD70}" type="presParOf" srcId="{7EDBF98D-57C4-4470-A08F-C7698BE42E3C}" destId="{59D5D202-E362-4F9A-9D2B-E73B96EB9062}" srcOrd="2" destOrd="0" presId="urn:microsoft.com/office/officeart/2005/8/layout/hierarchy1"/>
    <dgm:cxn modelId="{D102B9B7-EE50-4F18-95BD-73630736F95A}" type="presParOf" srcId="{7EDBF98D-57C4-4470-A08F-C7698BE42E3C}" destId="{B2FBD9A4-3794-40D6-BCF7-6A9820E0363E}" srcOrd="3" destOrd="0" presId="urn:microsoft.com/office/officeart/2005/8/layout/hierarchy1"/>
    <dgm:cxn modelId="{F0B25F80-AA16-45E4-A32D-65052D1051A3}" type="presParOf" srcId="{B2FBD9A4-3794-40D6-BCF7-6A9820E0363E}" destId="{E4922F27-3716-470D-B746-C63AAB49DBB7}" srcOrd="0" destOrd="0" presId="urn:microsoft.com/office/officeart/2005/8/layout/hierarchy1"/>
    <dgm:cxn modelId="{4B5EA971-BB37-4685-ADFB-F0F50FEA7FFF}" type="presParOf" srcId="{E4922F27-3716-470D-B746-C63AAB49DBB7}" destId="{10AAB597-1F66-49E8-9919-8AF98868AF5F}" srcOrd="0" destOrd="0" presId="urn:microsoft.com/office/officeart/2005/8/layout/hierarchy1"/>
    <dgm:cxn modelId="{0148E9DE-504A-4CDA-A00B-4642AC22228E}" type="presParOf" srcId="{E4922F27-3716-470D-B746-C63AAB49DBB7}" destId="{3F4B4D2A-0D83-4C1D-B634-63FB3FFF3FF8}" srcOrd="1" destOrd="0" presId="urn:microsoft.com/office/officeart/2005/8/layout/hierarchy1"/>
    <dgm:cxn modelId="{49642C26-6F00-451B-8881-FFBA641509DB}" type="presParOf" srcId="{B2FBD9A4-3794-40D6-BCF7-6A9820E0363E}" destId="{45123791-D212-4C50-9D9E-2499C3657F97}" srcOrd="1" destOrd="0" presId="urn:microsoft.com/office/officeart/2005/8/layout/hierarchy1"/>
    <dgm:cxn modelId="{50835748-F3F8-4C47-AE29-CA4841CA14CB}" type="presParOf" srcId="{BEBD6345-B131-41DD-A0F5-509AEB6BC5C5}" destId="{C3122428-FAF2-4265-B37F-688D3FB1F776}" srcOrd="2" destOrd="0" presId="urn:microsoft.com/office/officeart/2005/8/layout/hierarchy1"/>
    <dgm:cxn modelId="{DB3B77E3-D5EE-4B25-8ADB-EFB0A87B06E9}" type="presParOf" srcId="{BEBD6345-B131-41DD-A0F5-509AEB6BC5C5}" destId="{346767B9-2C8B-4E19-96E1-B46F537C7373}" srcOrd="3" destOrd="0" presId="urn:microsoft.com/office/officeart/2005/8/layout/hierarchy1"/>
    <dgm:cxn modelId="{97FE7E7D-EBE5-464D-A567-77B93C611FD6}" type="presParOf" srcId="{346767B9-2C8B-4E19-96E1-B46F537C7373}" destId="{6A5091A3-EEFE-411B-9132-FA7B7F699286}" srcOrd="0" destOrd="0" presId="urn:microsoft.com/office/officeart/2005/8/layout/hierarchy1"/>
    <dgm:cxn modelId="{19143824-F1FF-443F-AB8E-359AC5131B96}" type="presParOf" srcId="{6A5091A3-EEFE-411B-9132-FA7B7F699286}" destId="{D1764431-6D40-4221-97EF-F73CFEB279B0}" srcOrd="0" destOrd="0" presId="urn:microsoft.com/office/officeart/2005/8/layout/hierarchy1"/>
    <dgm:cxn modelId="{68E3CBEF-E311-47A6-81A9-C86DAD6E1668}" type="presParOf" srcId="{6A5091A3-EEFE-411B-9132-FA7B7F699286}" destId="{D0FA094B-C7DE-4B27-9955-3E1376FF07E1}" srcOrd="1" destOrd="0" presId="urn:microsoft.com/office/officeart/2005/8/layout/hierarchy1"/>
    <dgm:cxn modelId="{9C1C6D98-FF8A-45A6-8F36-9BFD2AF0ED15}" type="presParOf" srcId="{346767B9-2C8B-4E19-96E1-B46F537C7373}" destId="{EE1D482C-7BEB-4581-831B-A98E618C2A34}" srcOrd="1" destOrd="0" presId="urn:microsoft.com/office/officeart/2005/8/layout/hierarchy1"/>
    <dgm:cxn modelId="{25E76D24-7251-4911-96E3-A3C3A39E8B74}" type="presParOf" srcId="{EE1D482C-7BEB-4581-831B-A98E618C2A34}" destId="{47B04005-336F-4A18-BAF1-1AA7D66F9E00}" srcOrd="0" destOrd="0" presId="urn:microsoft.com/office/officeart/2005/8/layout/hierarchy1"/>
    <dgm:cxn modelId="{CEF9D8F2-AA18-4CEE-B139-CB154D6FBB2D}" type="presParOf" srcId="{EE1D482C-7BEB-4581-831B-A98E618C2A34}" destId="{5E2D8B3E-3F9D-4AD7-94A5-21D7D43B6441}" srcOrd="1" destOrd="0" presId="urn:microsoft.com/office/officeart/2005/8/layout/hierarchy1"/>
    <dgm:cxn modelId="{9CFA3FB3-808B-4285-ACE7-0644CA8864F3}" type="presParOf" srcId="{5E2D8B3E-3F9D-4AD7-94A5-21D7D43B6441}" destId="{723E7DA7-0B04-4964-A914-54A0AF7D66AD}" srcOrd="0" destOrd="0" presId="urn:microsoft.com/office/officeart/2005/8/layout/hierarchy1"/>
    <dgm:cxn modelId="{FD118C07-943E-45FE-9D89-56D7E949D00B}" type="presParOf" srcId="{723E7DA7-0B04-4964-A914-54A0AF7D66AD}" destId="{8485E5AB-DCE3-4CEA-AEEC-C1D2559FF1C2}" srcOrd="0" destOrd="0" presId="urn:microsoft.com/office/officeart/2005/8/layout/hierarchy1"/>
    <dgm:cxn modelId="{D1DD2A9A-6DC3-4D95-A784-E87A7D4C440E}" type="presParOf" srcId="{723E7DA7-0B04-4964-A914-54A0AF7D66AD}" destId="{4F10709A-721E-4C3B-83C3-EBC7DCA3EE3A}" srcOrd="1" destOrd="0" presId="urn:microsoft.com/office/officeart/2005/8/layout/hierarchy1"/>
    <dgm:cxn modelId="{C0920EE9-FED3-4A1F-A7A4-53FFF65A79FD}" type="presParOf" srcId="{5E2D8B3E-3F9D-4AD7-94A5-21D7D43B6441}" destId="{1DB50742-C99B-4256-A3E0-41189B25DDCD}" srcOrd="1" destOrd="0" presId="urn:microsoft.com/office/officeart/2005/8/layout/hierarchy1"/>
    <dgm:cxn modelId="{B2737B4E-3D19-4EC7-A937-38FDBA6FF0BC}" type="presParOf" srcId="{EE1D482C-7BEB-4581-831B-A98E618C2A34}" destId="{757943C6-2610-422E-A531-9FA38051C672}" srcOrd="2" destOrd="0" presId="urn:microsoft.com/office/officeart/2005/8/layout/hierarchy1"/>
    <dgm:cxn modelId="{F77FADE5-E7E3-4725-9F5A-F11FD0BA82F5}" type="presParOf" srcId="{EE1D482C-7BEB-4581-831B-A98E618C2A34}" destId="{F7289A8A-AF80-47F2-A744-AE01F88DE108}" srcOrd="3" destOrd="0" presId="urn:microsoft.com/office/officeart/2005/8/layout/hierarchy1"/>
    <dgm:cxn modelId="{F10D1B65-757B-4C46-A2F1-D04BC5AEEE10}" type="presParOf" srcId="{F7289A8A-AF80-47F2-A744-AE01F88DE108}" destId="{12E9C79E-BB31-4EDE-B232-3C9DBAB3FC95}" srcOrd="0" destOrd="0" presId="urn:microsoft.com/office/officeart/2005/8/layout/hierarchy1"/>
    <dgm:cxn modelId="{EACA744F-11DC-4936-89AA-F733621C11D7}" type="presParOf" srcId="{12E9C79E-BB31-4EDE-B232-3C9DBAB3FC95}" destId="{16A4A426-C025-4F6E-A940-AA0DCAA1CF74}" srcOrd="0" destOrd="0" presId="urn:microsoft.com/office/officeart/2005/8/layout/hierarchy1"/>
    <dgm:cxn modelId="{47803F0A-FE09-4147-A696-1754DC596608}" type="presParOf" srcId="{12E9C79E-BB31-4EDE-B232-3C9DBAB3FC95}" destId="{0F007C70-ED79-45E9-833C-2B06789C378D}" srcOrd="1" destOrd="0" presId="urn:microsoft.com/office/officeart/2005/8/layout/hierarchy1"/>
    <dgm:cxn modelId="{D7E8CC24-1FBA-427D-8DE3-D9394503C3A8}" type="presParOf" srcId="{F7289A8A-AF80-47F2-A744-AE01F88DE108}" destId="{0F1D1D37-BA12-4FFC-9400-7904646224B9}"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7943C6-2610-422E-A531-9FA38051C672}">
      <dsp:nvSpPr>
        <dsp:cNvPr id="0" name=""/>
        <dsp:cNvSpPr/>
      </dsp:nvSpPr>
      <dsp:spPr>
        <a:xfrm>
          <a:off x="3944273" y="1540256"/>
          <a:ext cx="602524" cy="286746"/>
        </a:xfrm>
        <a:custGeom>
          <a:avLst/>
          <a:gdLst/>
          <a:ahLst/>
          <a:cxnLst/>
          <a:rect l="0" t="0" r="0" b="0"/>
          <a:pathLst>
            <a:path>
              <a:moveTo>
                <a:pt x="0" y="0"/>
              </a:moveTo>
              <a:lnTo>
                <a:pt x="0" y="195409"/>
              </a:lnTo>
              <a:lnTo>
                <a:pt x="602524" y="195409"/>
              </a:lnTo>
              <a:lnTo>
                <a:pt x="602524" y="28674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7B04005-336F-4A18-BAF1-1AA7D66F9E00}">
      <dsp:nvSpPr>
        <dsp:cNvPr id="0" name=""/>
        <dsp:cNvSpPr/>
      </dsp:nvSpPr>
      <dsp:spPr>
        <a:xfrm>
          <a:off x="3341749" y="1540256"/>
          <a:ext cx="602524" cy="286746"/>
        </a:xfrm>
        <a:custGeom>
          <a:avLst/>
          <a:gdLst/>
          <a:ahLst/>
          <a:cxnLst/>
          <a:rect l="0" t="0" r="0" b="0"/>
          <a:pathLst>
            <a:path>
              <a:moveTo>
                <a:pt x="602524" y="0"/>
              </a:moveTo>
              <a:lnTo>
                <a:pt x="602524" y="195409"/>
              </a:lnTo>
              <a:lnTo>
                <a:pt x="0" y="195409"/>
              </a:lnTo>
              <a:lnTo>
                <a:pt x="0" y="28674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3122428-FAF2-4265-B37F-688D3FB1F776}">
      <dsp:nvSpPr>
        <dsp:cNvPr id="0" name=""/>
        <dsp:cNvSpPr/>
      </dsp:nvSpPr>
      <dsp:spPr>
        <a:xfrm>
          <a:off x="2739225" y="655286"/>
          <a:ext cx="1205048" cy="258892"/>
        </a:xfrm>
        <a:custGeom>
          <a:avLst/>
          <a:gdLst/>
          <a:ahLst/>
          <a:cxnLst/>
          <a:rect l="0" t="0" r="0" b="0"/>
          <a:pathLst>
            <a:path>
              <a:moveTo>
                <a:pt x="0" y="0"/>
              </a:moveTo>
              <a:lnTo>
                <a:pt x="0" y="167555"/>
              </a:lnTo>
              <a:lnTo>
                <a:pt x="1205048" y="167555"/>
              </a:lnTo>
              <a:lnTo>
                <a:pt x="1205048" y="25889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9D5D202-E362-4F9A-9D2B-E73B96EB9062}">
      <dsp:nvSpPr>
        <dsp:cNvPr id="0" name=""/>
        <dsp:cNvSpPr/>
      </dsp:nvSpPr>
      <dsp:spPr>
        <a:xfrm>
          <a:off x="1534176" y="1540256"/>
          <a:ext cx="602524" cy="286746"/>
        </a:xfrm>
        <a:custGeom>
          <a:avLst/>
          <a:gdLst/>
          <a:ahLst/>
          <a:cxnLst/>
          <a:rect l="0" t="0" r="0" b="0"/>
          <a:pathLst>
            <a:path>
              <a:moveTo>
                <a:pt x="0" y="0"/>
              </a:moveTo>
              <a:lnTo>
                <a:pt x="0" y="195409"/>
              </a:lnTo>
              <a:lnTo>
                <a:pt x="602524" y="195409"/>
              </a:lnTo>
              <a:lnTo>
                <a:pt x="602524" y="28674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1D485FA-B655-4B40-B1B7-3E942A097332}">
      <dsp:nvSpPr>
        <dsp:cNvPr id="0" name=""/>
        <dsp:cNvSpPr/>
      </dsp:nvSpPr>
      <dsp:spPr>
        <a:xfrm>
          <a:off x="885931" y="2453081"/>
          <a:ext cx="91440" cy="286746"/>
        </a:xfrm>
        <a:custGeom>
          <a:avLst/>
          <a:gdLst/>
          <a:ahLst/>
          <a:cxnLst/>
          <a:rect l="0" t="0" r="0" b="0"/>
          <a:pathLst>
            <a:path>
              <a:moveTo>
                <a:pt x="45720" y="0"/>
              </a:moveTo>
              <a:lnTo>
                <a:pt x="45720" y="28674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7B0D72-8F63-4DFA-A937-87A64C6970B0}">
      <dsp:nvSpPr>
        <dsp:cNvPr id="0" name=""/>
        <dsp:cNvSpPr/>
      </dsp:nvSpPr>
      <dsp:spPr>
        <a:xfrm>
          <a:off x="931651" y="1540256"/>
          <a:ext cx="602524" cy="286746"/>
        </a:xfrm>
        <a:custGeom>
          <a:avLst/>
          <a:gdLst/>
          <a:ahLst/>
          <a:cxnLst/>
          <a:rect l="0" t="0" r="0" b="0"/>
          <a:pathLst>
            <a:path>
              <a:moveTo>
                <a:pt x="602524" y="0"/>
              </a:moveTo>
              <a:lnTo>
                <a:pt x="602524" y="195409"/>
              </a:lnTo>
              <a:lnTo>
                <a:pt x="0" y="195409"/>
              </a:lnTo>
              <a:lnTo>
                <a:pt x="0" y="28674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D0E72F0-BD54-4593-A635-2347D7B9B516}">
      <dsp:nvSpPr>
        <dsp:cNvPr id="0" name=""/>
        <dsp:cNvSpPr/>
      </dsp:nvSpPr>
      <dsp:spPr>
        <a:xfrm>
          <a:off x="1534176" y="655286"/>
          <a:ext cx="1205048" cy="258892"/>
        </a:xfrm>
        <a:custGeom>
          <a:avLst/>
          <a:gdLst/>
          <a:ahLst/>
          <a:cxnLst/>
          <a:rect l="0" t="0" r="0" b="0"/>
          <a:pathLst>
            <a:path>
              <a:moveTo>
                <a:pt x="1205048" y="0"/>
              </a:moveTo>
              <a:lnTo>
                <a:pt x="1205048" y="167555"/>
              </a:lnTo>
              <a:lnTo>
                <a:pt x="0" y="167555"/>
              </a:lnTo>
              <a:lnTo>
                <a:pt x="0" y="25889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20FCA9-5925-4CDC-BD95-77043533C62E}">
      <dsp:nvSpPr>
        <dsp:cNvPr id="0" name=""/>
        <dsp:cNvSpPr/>
      </dsp:nvSpPr>
      <dsp:spPr>
        <a:xfrm>
          <a:off x="2246250" y="29208"/>
          <a:ext cx="985949" cy="6260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3FE977D-2D5F-4D10-A888-361C27D92ADF}">
      <dsp:nvSpPr>
        <dsp:cNvPr id="0" name=""/>
        <dsp:cNvSpPr/>
      </dsp:nvSpPr>
      <dsp:spPr>
        <a:xfrm>
          <a:off x="2355800" y="133281"/>
          <a:ext cx="985949" cy="62607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1</a:t>
          </a:r>
        </a:p>
      </dsp:txBody>
      <dsp:txXfrm>
        <a:off x="2374137" y="151618"/>
        <a:ext cx="949275" cy="589403"/>
      </dsp:txXfrm>
    </dsp:sp>
    <dsp:sp modelId="{7FF04DB6-7976-43CA-82BB-83AAE4B4D0C3}">
      <dsp:nvSpPr>
        <dsp:cNvPr id="0" name=""/>
        <dsp:cNvSpPr/>
      </dsp:nvSpPr>
      <dsp:spPr>
        <a:xfrm>
          <a:off x="1041201" y="914179"/>
          <a:ext cx="985949" cy="6260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E6F3F65-2EBF-4446-8B1B-E2C8562D8018}">
      <dsp:nvSpPr>
        <dsp:cNvPr id="0" name=""/>
        <dsp:cNvSpPr/>
      </dsp:nvSpPr>
      <dsp:spPr>
        <a:xfrm>
          <a:off x="1150751" y="1018251"/>
          <a:ext cx="985949" cy="62607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1a</a:t>
          </a:r>
        </a:p>
      </dsp:txBody>
      <dsp:txXfrm>
        <a:off x="1169088" y="1036588"/>
        <a:ext cx="949275" cy="589403"/>
      </dsp:txXfrm>
    </dsp:sp>
    <dsp:sp modelId="{0C4D951D-99F7-4320-A661-CFBF1C888A4E}">
      <dsp:nvSpPr>
        <dsp:cNvPr id="0" name=""/>
        <dsp:cNvSpPr/>
      </dsp:nvSpPr>
      <dsp:spPr>
        <a:xfrm>
          <a:off x="438677" y="1827003"/>
          <a:ext cx="985949" cy="6260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2006EAE-1A1A-4231-A07D-56722D7362BD}">
      <dsp:nvSpPr>
        <dsp:cNvPr id="0" name=""/>
        <dsp:cNvSpPr/>
      </dsp:nvSpPr>
      <dsp:spPr>
        <a:xfrm>
          <a:off x="548227" y="1931076"/>
          <a:ext cx="985949" cy="62607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1aC</a:t>
          </a:r>
        </a:p>
      </dsp:txBody>
      <dsp:txXfrm>
        <a:off x="566564" y="1949413"/>
        <a:ext cx="949275" cy="589403"/>
      </dsp:txXfrm>
    </dsp:sp>
    <dsp:sp modelId="{B74ED432-F6DF-48FC-8A45-AF1DB4F1FE89}">
      <dsp:nvSpPr>
        <dsp:cNvPr id="0" name=""/>
        <dsp:cNvSpPr/>
      </dsp:nvSpPr>
      <dsp:spPr>
        <a:xfrm>
          <a:off x="438677" y="2739828"/>
          <a:ext cx="985949" cy="6260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ECC6EF8-BFD5-4A05-8095-82F53CFBD14B}">
      <dsp:nvSpPr>
        <dsp:cNvPr id="0" name=""/>
        <dsp:cNvSpPr/>
      </dsp:nvSpPr>
      <dsp:spPr>
        <a:xfrm>
          <a:off x="548227" y="2843900"/>
          <a:ext cx="985949" cy="626077"/>
        </a:xfrm>
        <a:prstGeom prst="roundRect">
          <a:avLst>
            <a:gd name="adj" fmla="val 10000"/>
          </a:avLst>
        </a:prstGeom>
        <a:solidFill>
          <a:srgbClr val="FFC000">
            <a:alpha val="90000"/>
          </a:srgb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1aCx</a:t>
          </a:r>
        </a:p>
      </dsp:txBody>
      <dsp:txXfrm>
        <a:off x="566564" y="2862237"/>
        <a:ext cx="949275" cy="589403"/>
      </dsp:txXfrm>
    </dsp:sp>
    <dsp:sp modelId="{10AAB597-1F66-49E8-9919-8AF98868AF5F}">
      <dsp:nvSpPr>
        <dsp:cNvPr id="0" name=""/>
        <dsp:cNvSpPr/>
      </dsp:nvSpPr>
      <dsp:spPr>
        <a:xfrm>
          <a:off x="1643726" y="1827003"/>
          <a:ext cx="985949" cy="6260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F4B4D2A-0D83-4C1D-B634-63FB3FFF3FF8}">
      <dsp:nvSpPr>
        <dsp:cNvPr id="0" name=""/>
        <dsp:cNvSpPr/>
      </dsp:nvSpPr>
      <dsp:spPr>
        <a:xfrm>
          <a:off x="1753275" y="1931076"/>
          <a:ext cx="985949" cy="62607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1aD</a:t>
          </a:r>
        </a:p>
      </dsp:txBody>
      <dsp:txXfrm>
        <a:off x="1771612" y="1949413"/>
        <a:ext cx="949275" cy="589403"/>
      </dsp:txXfrm>
    </dsp:sp>
    <dsp:sp modelId="{D1764431-6D40-4221-97EF-F73CFEB279B0}">
      <dsp:nvSpPr>
        <dsp:cNvPr id="0" name=""/>
        <dsp:cNvSpPr/>
      </dsp:nvSpPr>
      <dsp:spPr>
        <a:xfrm>
          <a:off x="3451299" y="914179"/>
          <a:ext cx="985949" cy="6260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FA094B-C7DE-4B27-9955-3E1376FF07E1}">
      <dsp:nvSpPr>
        <dsp:cNvPr id="0" name=""/>
        <dsp:cNvSpPr/>
      </dsp:nvSpPr>
      <dsp:spPr>
        <a:xfrm>
          <a:off x="3560849" y="1018251"/>
          <a:ext cx="985949" cy="62607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1b</a:t>
          </a:r>
        </a:p>
      </dsp:txBody>
      <dsp:txXfrm>
        <a:off x="3579186" y="1036588"/>
        <a:ext cx="949275" cy="589403"/>
      </dsp:txXfrm>
    </dsp:sp>
    <dsp:sp modelId="{8485E5AB-DCE3-4CEA-AEEC-C1D2559FF1C2}">
      <dsp:nvSpPr>
        <dsp:cNvPr id="0" name=""/>
        <dsp:cNvSpPr/>
      </dsp:nvSpPr>
      <dsp:spPr>
        <a:xfrm>
          <a:off x="2848774" y="1827003"/>
          <a:ext cx="985949" cy="6260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F10709A-721E-4C3B-83C3-EBC7DCA3EE3A}">
      <dsp:nvSpPr>
        <dsp:cNvPr id="0" name=""/>
        <dsp:cNvSpPr/>
      </dsp:nvSpPr>
      <dsp:spPr>
        <a:xfrm>
          <a:off x="2958324" y="1931076"/>
          <a:ext cx="985949" cy="62607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1bE</a:t>
          </a:r>
        </a:p>
      </dsp:txBody>
      <dsp:txXfrm>
        <a:off x="2976661" y="1949413"/>
        <a:ext cx="949275" cy="589403"/>
      </dsp:txXfrm>
    </dsp:sp>
    <dsp:sp modelId="{16A4A426-C025-4F6E-A940-AA0DCAA1CF74}">
      <dsp:nvSpPr>
        <dsp:cNvPr id="0" name=""/>
        <dsp:cNvSpPr/>
      </dsp:nvSpPr>
      <dsp:spPr>
        <a:xfrm>
          <a:off x="4053823" y="1827003"/>
          <a:ext cx="985949" cy="6260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F007C70-ED79-45E9-833C-2B06789C378D}">
      <dsp:nvSpPr>
        <dsp:cNvPr id="0" name=""/>
        <dsp:cNvSpPr/>
      </dsp:nvSpPr>
      <dsp:spPr>
        <a:xfrm>
          <a:off x="4163373" y="1931076"/>
          <a:ext cx="985949" cy="62607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1bF</a:t>
          </a:r>
        </a:p>
      </dsp:txBody>
      <dsp:txXfrm>
        <a:off x="4181710" y="1949413"/>
        <a:ext cx="949275" cy="5894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7943C6-2610-422E-A531-9FA38051C672}">
      <dsp:nvSpPr>
        <dsp:cNvPr id="0" name=""/>
        <dsp:cNvSpPr/>
      </dsp:nvSpPr>
      <dsp:spPr>
        <a:xfrm>
          <a:off x="3944273" y="1540256"/>
          <a:ext cx="602524" cy="286746"/>
        </a:xfrm>
        <a:custGeom>
          <a:avLst/>
          <a:gdLst/>
          <a:ahLst/>
          <a:cxnLst/>
          <a:rect l="0" t="0" r="0" b="0"/>
          <a:pathLst>
            <a:path>
              <a:moveTo>
                <a:pt x="0" y="0"/>
              </a:moveTo>
              <a:lnTo>
                <a:pt x="0" y="195409"/>
              </a:lnTo>
              <a:lnTo>
                <a:pt x="602524" y="195409"/>
              </a:lnTo>
              <a:lnTo>
                <a:pt x="602524" y="28674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7B04005-336F-4A18-BAF1-1AA7D66F9E00}">
      <dsp:nvSpPr>
        <dsp:cNvPr id="0" name=""/>
        <dsp:cNvSpPr/>
      </dsp:nvSpPr>
      <dsp:spPr>
        <a:xfrm>
          <a:off x="3341749" y="1540256"/>
          <a:ext cx="602524" cy="286746"/>
        </a:xfrm>
        <a:custGeom>
          <a:avLst/>
          <a:gdLst/>
          <a:ahLst/>
          <a:cxnLst/>
          <a:rect l="0" t="0" r="0" b="0"/>
          <a:pathLst>
            <a:path>
              <a:moveTo>
                <a:pt x="602524" y="0"/>
              </a:moveTo>
              <a:lnTo>
                <a:pt x="602524" y="195409"/>
              </a:lnTo>
              <a:lnTo>
                <a:pt x="0" y="195409"/>
              </a:lnTo>
              <a:lnTo>
                <a:pt x="0" y="28674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3122428-FAF2-4265-B37F-688D3FB1F776}">
      <dsp:nvSpPr>
        <dsp:cNvPr id="0" name=""/>
        <dsp:cNvSpPr/>
      </dsp:nvSpPr>
      <dsp:spPr>
        <a:xfrm>
          <a:off x="2739225" y="627432"/>
          <a:ext cx="1205048" cy="286746"/>
        </a:xfrm>
        <a:custGeom>
          <a:avLst/>
          <a:gdLst/>
          <a:ahLst/>
          <a:cxnLst/>
          <a:rect l="0" t="0" r="0" b="0"/>
          <a:pathLst>
            <a:path>
              <a:moveTo>
                <a:pt x="0" y="0"/>
              </a:moveTo>
              <a:lnTo>
                <a:pt x="0" y="195409"/>
              </a:lnTo>
              <a:lnTo>
                <a:pt x="1205048" y="195409"/>
              </a:lnTo>
              <a:lnTo>
                <a:pt x="1205048" y="28674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9D5D202-E362-4F9A-9D2B-E73B96EB9062}">
      <dsp:nvSpPr>
        <dsp:cNvPr id="0" name=""/>
        <dsp:cNvSpPr/>
      </dsp:nvSpPr>
      <dsp:spPr>
        <a:xfrm>
          <a:off x="1534176" y="1540256"/>
          <a:ext cx="602524" cy="286746"/>
        </a:xfrm>
        <a:custGeom>
          <a:avLst/>
          <a:gdLst/>
          <a:ahLst/>
          <a:cxnLst/>
          <a:rect l="0" t="0" r="0" b="0"/>
          <a:pathLst>
            <a:path>
              <a:moveTo>
                <a:pt x="0" y="0"/>
              </a:moveTo>
              <a:lnTo>
                <a:pt x="0" y="195409"/>
              </a:lnTo>
              <a:lnTo>
                <a:pt x="602524" y="195409"/>
              </a:lnTo>
              <a:lnTo>
                <a:pt x="602524" y="28674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1D485FA-B655-4B40-B1B7-3E942A097332}">
      <dsp:nvSpPr>
        <dsp:cNvPr id="0" name=""/>
        <dsp:cNvSpPr/>
      </dsp:nvSpPr>
      <dsp:spPr>
        <a:xfrm>
          <a:off x="885931" y="2453081"/>
          <a:ext cx="91440" cy="286746"/>
        </a:xfrm>
        <a:custGeom>
          <a:avLst/>
          <a:gdLst/>
          <a:ahLst/>
          <a:cxnLst/>
          <a:rect l="0" t="0" r="0" b="0"/>
          <a:pathLst>
            <a:path>
              <a:moveTo>
                <a:pt x="45720" y="0"/>
              </a:moveTo>
              <a:lnTo>
                <a:pt x="45720" y="28674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7B0D72-8F63-4DFA-A937-87A64C6970B0}">
      <dsp:nvSpPr>
        <dsp:cNvPr id="0" name=""/>
        <dsp:cNvSpPr/>
      </dsp:nvSpPr>
      <dsp:spPr>
        <a:xfrm>
          <a:off x="931651" y="1540256"/>
          <a:ext cx="602524" cy="286746"/>
        </a:xfrm>
        <a:custGeom>
          <a:avLst/>
          <a:gdLst/>
          <a:ahLst/>
          <a:cxnLst/>
          <a:rect l="0" t="0" r="0" b="0"/>
          <a:pathLst>
            <a:path>
              <a:moveTo>
                <a:pt x="602524" y="0"/>
              </a:moveTo>
              <a:lnTo>
                <a:pt x="602524" y="195409"/>
              </a:lnTo>
              <a:lnTo>
                <a:pt x="0" y="195409"/>
              </a:lnTo>
              <a:lnTo>
                <a:pt x="0" y="28674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D0E72F0-BD54-4593-A635-2347D7B9B516}">
      <dsp:nvSpPr>
        <dsp:cNvPr id="0" name=""/>
        <dsp:cNvSpPr/>
      </dsp:nvSpPr>
      <dsp:spPr>
        <a:xfrm>
          <a:off x="1534176" y="627432"/>
          <a:ext cx="1205048" cy="286746"/>
        </a:xfrm>
        <a:custGeom>
          <a:avLst/>
          <a:gdLst/>
          <a:ahLst/>
          <a:cxnLst/>
          <a:rect l="0" t="0" r="0" b="0"/>
          <a:pathLst>
            <a:path>
              <a:moveTo>
                <a:pt x="1205048" y="0"/>
              </a:moveTo>
              <a:lnTo>
                <a:pt x="1205048" y="195409"/>
              </a:lnTo>
              <a:lnTo>
                <a:pt x="0" y="195409"/>
              </a:lnTo>
              <a:lnTo>
                <a:pt x="0" y="28674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20FCA9-5925-4CDC-BD95-77043533C62E}">
      <dsp:nvSpPr>
        <dsp:cNvPr id="0" name=""/>
        <dsp:cNvSpPr/>
      </dsp:nvSpPr>
      <dsp:spPr>
        <a:xfrm>
          <a:off x="2246250" y="1354"/>
          <a:ext cx="985949" cy="6260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3FE977D-2D5F-4D10-A888-361C27D92ADF}">
      <dsp:nvSpPr>
        <dsp:cNvPr id="0" name=""/>
        <dsp:cNvSpPr/>
      </dsp:nvSpPr>
      <dsp:spPr>
        <a:xfrm>
          <a:off x="2355800" y="105427"/>
          <a:ext cx="985949" cy="62607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1</a:t>
          </a:r>
        </a:p>
      </dsp:txBody>
      <dsp:txXfrm>
        <a:off x="2374137" y="123764"/>
        <a:ext cx="949275" cy="589403"/>
      </dsp:txXfrm>
    </dsp:sp>
    <dsp:sp modelId="{7FF04DB6-7976-43CA-82BB-83AAE4B4D0C3}">
      <dsp:nvSpPr>
        <dsp:cNvPr id="0" name=""/>
        <dsp:cNvSpPr/>
      </dsp:nvSpPr>
      <dsp:spPr>
        <a:xfrm>
          <a:off x="1041201" y="914179"/>
          <a:ext cx="985949" cy="6260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E6F3F65-2EBF-4446-8B1B-E2C8562D8018}">
      <dsp:nvSpPr>
        <dsp:cNvPr id="0" name=""/>
        <dsp:cNvSpPr/>
      </dsp:nvSpPr>
      <dsp:spPr>
        <a:xfrm>
          <a:off x="1150751" y="1018251"/>
          <a:ext cx="985949" cy="62607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1a</a:t>
          </a:r>
        </a:p>
      </dsp:txBody>
      <dsp:txXfrm>
        <a:off x="1169088" y="1036588"/>
        <a:ext cx="949275" cy="589403"/>
      </dsp:txXfrm>
    </dsp:sp>
    <dsp:sp modelId="{0C4D951D-99F7-4320-A661-CFBF1C888A4E}">
      <dsp:nvSpPr>
        <dsp:cNvPr id="0" name=""/>
        <dsp:cNvSpPr/>
      </dsp:nvSpPr>
      <dsp:spPr>
        <a:xfrm>
          <a:off x="438677" y="1827003"/>
          <a:ext cx="985949" cy="6260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2006EAE-1A1A-4231-A07D-56722D7362BD}">
      <dsp:nvSpPr>
        <dsp:cNvPr id="0" name=""/>
        <dsp:cNvSpPr/>
      </dsp:nvSpPr>
      <dsp:spPr>
        <a:xfrm>
          <a:off x="548227" y="1931076"/>
          <a:ext cx="985949" cy="62607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1aC</a:t>
          </a:r>
        </a:p>
      </dsp:txBody>
      <dsp:txXfrm>
        <a:off x="566564" y="1949413"/>
        <a:ext cx="949275" cy="589403"/>
      </dsp:txXfrm>
    </dsp:sp>
    <dsp:sp modelId="{B74ED432-F6DF-48FC-8A45-AF1DB4F1FE89}">
      <dsp:nvSpPr>
        <dsp:cNvPr id="0" name=""/>
        <dsp:cNvSpPr/>
      </dsp:nvSpPr>
      <dsp:spPr>
        <a:xfrm>
          <a:off x="438677" y="2739828"/>
          <a:ext cx="985949" cy="6260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ECC6EF8-BFD5-4A05-8095-82F53CFBD14B}">
      <dsp:nvSpPr>
        <dsp:cNvPr id="0" name=""/>
        <dsp:cNvSpPr/>
      </dsp:nvSpPr>
      <dsp:spPr>
        <a:xfrm>
          <a:off x="548227" y="2843900"/>
          <a:ext cx="985949" cy="62607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1aCx</a:t>
          </a:r>
        </a:p>
      </dsp:txBody>
      <dsp:txXfrm>
        <a:off x="566564" y="2862237"/>
        <a:ext cx="949275" cy="589403"/>
      </dsp:txXfrm>
    </dsp:sp>
    <dsp:sp modelId="{10AAB597-1F66-49E8-9919-8AF98868AF5F}">
      <dsp:nvSpPr>
        <dsp:cNvPr id="0" name=""/>
        <dsp:cNvSpPr/>
      </dsp:nvSpPr>
      <dsp:spPr>
        <a:xfrm>
          <a:off x="1643726" y="1827003"/>
          <a:ext cx="985949" cy="6260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F4B4D2A-0D83-4C1D-B634-63FB3FFF3FF8}">
      <dsp:nvSpPr>
        <dsp:cNvPr id="0" name=""/>
        <dsp:cNvSpPr/>
      </dsp:nvSpPr>
      <dsp:spPr>
        <a:xfrm>
          <a:off x="1753275" y="1931076"/>
          <a:ext cx="985949" cy="62607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1aD</a:t>
          </a:r>
        </a:p>
      </dsp:txBody>
      <dsp:txXfrm>
        <a:off x="1771612" y="1949413"/>
        <a:ext cx="949275" cy="589403"/>
      </dsp:txXfrm>
    </dsp:sp>
    <dsp:sp modelId="{D1764431-6D40-4221-97EF-F73CFEB279B0}">
      <dsp:nvSpPr>
        <dsp:cNvPr id="0" name=""/>
        <dsp:cNvSpPr/>
      </dsp:nvSpPr>
      <dsp:spPr>
        <a:xfrm>
          <a:off x="3451299" y="914179"/>
          <a:ext cx="985949" cy="6260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FA094B-C7DE-4B27-9955-3E1376FF07E1}">
      <dsp:nvSpPr>
        <dsp:cNvPr id="0" name=""/>
        <dsp:cNvSpPr/>
      </dsp:nvSpPr>
      <dsp:spPr>
        <a:xfrm>
          <a:off x="3560849" y="1018251"/>
          <a:ext cx="985949" cy="62607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1b</a:t>
          </a:r>
        </a:p>
      </dsp:txBody>
      <dsp:txXfrm>
        <a:off x="3579186" y="1036588"/>
        <a:ext cx="949275" cy="589403"/>
      </dsp:txXfrm>
    </dsp:sp>
    <dsp:sp modelId="{8485E5AB-DCE3-4CEA-AEEC-C1D2559FF1C2}">
      <dsp:nvSpPr>
        <dsp:cNvPr id="0" name=""/>
        <dsp:cNvSpPr/>
      </dsp:nvSpPr>
      <dsp:spPr>
        <a:xfrm>
          <a:off x="2848774" y="1827003"/>
          <a:ext cx="985949" cy="6260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F10709A-721E-4C3B-83C3-EBC7DCA3EE3A}">
      <dsp:nvSpPr>
        <dsp:cNvPr id="0" name=""/>
        <dsp:cNvSpPr/>
      </dsp:nvSpPr>
      <dsp:spPr>
        <a:xfrm>
          <a:off x="2958324" y="1931076"/>
          <a:ext cx="985949" cy="62607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1bE</a:t>
          </a:r>
        </a:p>
      </dsp:txBody>
      <dsp:txXfrm>
        <a:off x="2976661" y="1949413"/>
        <a:ext cx="949275" cy="589403"/>
      </dsp:txXfrm>
    </dsp:sp>
    <dsp:sp modelId="{16A4A426-C025-4F6E-A940-AA0DCAA1CF74}">
      <dsp:nvSpPr>
        <dsp:cNvPr id="0" name=""/>
        <dsp:cNvSpPr/>
      </dsp:nvSpPr>
      <dsp:spPr>
        <a:xfrm>
          <a:off x="4053823" y="1827003"/>
          <a:ext cx="985949" cy="6260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F007C70-ED79-45E9-833C-2B06789C378D}">
      <dsp:nvSpPr>
        <dsp:cNvPr id="0" name=""/>
        <dsp:cNvSpPr/>
      </dsp:nvSpPr>
      <dsp:spPr>
        <a:xfrm>
          <a:off x="4163373" y="1931076"/>
          <a:ext cx="985949" cy="62607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1bF</a:t>
          </a:r>
        </a:p>
      </dsp:txBody>
      <dsp:txXfrm>
        <a:off x="4181710" y="1949413"/>
        <a:ext cx="949275" cy="58940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51737"/>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5265809" y="0"/>
            <a:ext cx="4028440" cy="351737"/>
          </a:xfrm>
          <a:prstGeom prst="rect">
            <a:avLst/>
          </a:prstGeom>
        </p:spPr>
        <p:txBody>
          <a:bodyPr vert="horz" lIns="93177" tIns="46589" rIns="93177" bIns="46589" rtlCol="0"/>
          <a:lstStyle>
            <a:lvl1pPr algn="r">
              <a:defRPr sz="1200"/>
            </a:lvl1pPr>
          </a:lstStyle>
          <a:p>
            <a:fld id="{E6111496-B189-429B-AFC5-24D1D34733DC}" type="datetimeFigureOut">
              <a:rPr lang="en-US" smtClean="0"/>
              <a:t>6/17/2025</a:t>
            </a:fld>
            <a:endParaRPr lang="en-US"/>
          </a:p>
        </p:txBody>
      </p:sp>
      <p:sp>
        <p:nvSpPr>
          <p:cNvPr id="4" name="Footer Placeholder 3"/>
          <p:cNvSpPr>
            <a:spLocks noGrp="1"/>
          </p:cNvSpPr>
          <p:nvPr>
            <p:ph type="ftr" sz="quarter" idx="2"/>
          </p:nvPr>
        </p:nvSpPr>
        <p:spPr>
          <a:xfrm>
            <a:off x="0" y="6658664"/>
            <a:ext cx="4028440" cy="351736"/>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5265809" y="6658664"/>
            <a:ext cx="4028440" cy="351736"/>
          </a:xfrm>
          <a:prstGeom prst="rect">
            <a:avLst/>
          </a:prstGeom>
        </p:spPr>
        <p:txBody>
          <a:bodyPr vert="horz" lIns="93177" tIns="46589" rIns="93177" bIns="46589" rtlCol="0" anchor="b"/>
          <a:lstStyle>
            <a:lvl1pPr algn="r">
              <a:defRPr sz="1200"/>
            </a:lvl1pPr>
          </a:lstStyle>
          <a:p>
            <a:fld id="{6C90CB45-27BB-4BD8-9A38-71B07E44059A}" type="slidenum">
              <a:rPr lang="en-US" smtClean="0"/>
              <a:t>‹#›</a:t>
            </a:fld>
            <a:endParaRPr lang="en-US"/>
          </a:p>
        </p:txBody>
      </p:sp>
    </p:spTree>
    <p:extLst>
      <p:ext uri="{BB962C8B-B14F-4D97-AF65-F5344CB8AC3E}">
        <p14:creationId xmlns:p14="http://schemas.microsoft.com/office/powerpoint/2010/main" val="1237860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505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5265809" y="0"/>
            <a:ext cx="4028440" cy="350520"/>
          </a:xfrm>
          <a:prstGeom prst="rect">
            <a:avLst/>
          </a:prstGeom>
        </p:spPr>
        <p:txBody>
          <a:bodyPr vert="horz" lIns="93177" tIns="46589" rIns="93177" bIns="46589" rtlCol="0"/>
          <a:lstStyle>
            <a:lvl1pPr algn="r">
              <a:defRPr sz="1200"/>
            </a:lvl1pPr>
          </a:lstStyle>
          <a:p>
            <a:fld id="{3628FCE6-EDDF-4DAD-B7E1-744EFADB451A}" type="datetimeFigureOut">
              <a:rPr lang="en-US" smtClean="0"/>
              <a:t>6/17/2025</a:t>
            </a:fld>
            <a:endParaRPr lang="en-US"/>
          </a:p>
        </p:txBody>
      </p:sp>
      <p:sp>
        <p:nvSpPr>
          <p:cNvPr id="4" name="Slide Image Placeholder 3"/>
          <p:cNvSpPr>
            <a:spLocks noGrp="1" noRot="1" noChangeAspect="1"/>
          </p:cNvSpPr>
          <p:nvPr>
            <p:ph type="sldImg" idx="2"/>
          </p:nvPr>
        </p:nvSpPr>
        <p:spPr>
          <a:xfrm>
            <a:off x="2311400" y="525463"/>
            <a:ext cx="4673600" cy="2628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929640" y="3329940"/>
            <a:ext cx="7437120" cy="31546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664"/>
            <a:ext cx="4028440" cy="3505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5265809" y="6658664"/>
            <a:ext cx="4028440" cy="350520"/>
          </a:xfrm>
          <a:prstGeom prst="rect">
            <a:avLst/>
          </a:prstGeom>
        </p:spPr>
        <p:txBody>
          <a:bodyPr vert="horz" lIns="93177" tIns="46589" rIns="93177" bIns="46589" rtlCol="0" anchor="b"/>
          <a:lstStyle>
            <a:lvl1pPr algn="r">
              <a:defRPr sz="1200"/>
            </a:lvl1pPr>
          </a:lstStyle>
          <a:p>
            <a:fld id="{42938DFF-218C-4948-B31E-06D658EB2B31}" type="slidenum">
              <a:rPr lang="en-US" smtClean="0"/>
              <a:t>‹#›</a:t>
            </a:fld>
            <a:endParaRPr lang="en-US"/>
          </a:p>
        </p:txBody>
      </p:sp>
    </p:spTree>
    <p:extLst>
      <p:ext uri="{BB962C8B-B14F-4D97-AF65-F5344CB8AC3E}">
        <p14:creationId xmlns:p14="http://schemas.microsoft.com/office/powerpoint/2010/main" val="2400360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ibm.com/support/knowledgecenter/SSEPGG_9.7.0/com.ibm.db2.luw.apdv.sample.doc/doc/clp/s-flt-db2.html"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938DFF-218C-4948-B31E-06D658EB2B3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387695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11400" y="525463"/>
            <a:ext cx="4673600" cy="2628900"/>
          </a:xfrm>
        </p:spPr>
      </p:sp>
      <p:sp>
        <p:nvSpPr>
          <p:cNvPr id="3" name="Notes Placeholder 2"/>
          <p:cNvSpPr>
            <a:spLocks noGrp="1"/>
          </p:cNvSpPr>
          <p:nvPr>
            <p:ph type="body" idx="1"/>
          </p:nvPr>
        </p:nvSpPr>
        <p:spPr/>
        <p:txBody>
          <a:bodyPr>
            <a:normAutofit/>
          </a:bodyPr>
          <a:lstStyle/>
          <a:p>
            <a:r>
              <a:rPr lang="en-US" sz="1400" dirty="0">
                <a:latin typeface="Verdana" pitchFamily="34" charset="0"/>
                <a:ea typeface="Verdana" pitchFamily="34" charset="0"/>
                <a:cs typeface="Verdana" pitchFamily="34" charset="0"/>
              </a:rPr>
              <a:t>you can reference a common table expression many times in the same SQL statement</a:t>
            </a:r>
          </a:p>
        </p:txBody>
      </p:sp>
      <p:sp>
        <p:nvSpPr>
          <p:cNvPr id="4" name="Slide Number Placeholder 3"/>
          <p:cNvSpPr>
            <a:spLocks noGrp="1"/>
          </p:cNvSpPr>
          <p:nvPr>
            <p:ph type="sldNum" sz="quarter" idx="10"/>
          </p:nvPr>
        </p:nvSpPr>
        <p:spPr/>
        <p:txBody>
          <a:bodyPr/>
          <a:lstStyle/>
          <a:p>
            <a:pPr>
              <a:defRPr/>
            </a:pPr>
            <a:fld id="{DDA46638-A69A-4CA3-8EF2-320A26C447D5}" type="slidenum">
              <a:rPr lang="zh-CN" altLang="en-US" smtClean="0"/>
              <a:pPr>
                <a:defRPr/>
              </a:pPr>
              <a:t>3</a:t>
            </a:fld>
            <a:endParaRPr lang="en-US" altLang="zh-CN"/>
          </a:p>
        </p:txBody>
      </p:sp>
    </p:spTree>
    <p:extLst>
      <p:ext uri="{BB962C8B-B14F-4D97-AF65-F5344CB8AC3E}">
        <p14:creationId xmlns:p14="http://schemas.microsoft.com/office/powerpoint/2010/main" val="653001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11400" y="525463"/>
            <a:ext cx="4673600" cy="2628900"/>
          </a:xfrm>
        </p:spPr>
      </p:sp>
      <p:sp>
        <p:nvSpPr>
          <p:cNvPr id="3" name="Notes Placeholder 2"/>
          <p:cNvSpPr>
            <a:spLocks noGrp="1"/>
          </p:cNvSpPr>
          <p:nvPr>
            <p:ph type="body" idx="1"/>
          </p:nvPr>
        </p:nvSpPr>
        <p:spPr/>
        <p:txBody>
          <a:bodyPr>
            <a:normAutofit/>
          </a:bodyPr>
          <a:lstStyle/>
          <a:p>
            <a:r>
              <a:rPr lang="en-US" sz="1400" dirty="0">
                <a:latin typeface="Verdana" pitchFamily="34" charset="0"/>
                <a:ea typeface="Verdana" pitchFamily="34" charset="0"/>
                <a:cs typeface="Verdana" pitchFamily="34" charset="0"/>
              </a:rPr>
              <a:t>you can reference a common table expression many times in the same SQL statement</a:t>
            </a:r>
          </a:p>
        </p:txBody>
      </p:sp>
      <p:sp>
        <p:nvSpPr>
          <p:cNvPr id="4" name="Slide Number Placeholder 3"/>
          <p:cNvSpPr>
            <a:spLocks noGrp="1"/>
          </p:cNvSpPr>
          <p:nvPr>
            <p:ph type="sldNum" sz="quarter" idx="10"/>
          </p:nvPr>
        </p:nvSpPr>
        <p:spPr/>
        <p:txBody>
          <a:bodyPr/>
          <a:lstStyle/>
          <a:p>
            <a:pPr>
              <a:defRPr/>
            </a:pPr>
            <a:fld id="{DDA46638-A69A-4CA3-8EF2-320A26C447D5}" type="slidenum">
              <a:rPr lang="zh-CN" altLang="en-US" smtClean="0"/>
              <a:pPr>
                <a:defRPr/>
              </a:pPr>
              <a:t>4</a:t>
            </a:fld>
            <a:endParaRPr lang="en-US" altLang="zh-CN"/>
          </a:p>
        </p:txBody>
      </p:sp>
    </p:spTree>
    <p:extLst>
      <p:ext uri="{BB962C8B-B14F-4D97-AF65-F5344CB8AC3E}">
        <p14:creationId xmlns:p14="http://schemas.microsoft.com/office/powerpoint/2010/main" val="41217681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E8081-5946-6E7A-8C23-12689F3012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FBF473-1BD4-8CE3-46A9-32169A812E84}"/>
              </a:ext>
            </a:extLst>
          </p:cNvPr>
          <p:cNvSpPr>
            <a:spLocks noGrp="1" noRot="1" noChangeAspect="1"/>
          </p:cNvSpPr>
          <p:nvPr>
            <p:ph type="sldImg"/>
          </p:nvPr>
        </p:nvSpPr>
        <p:spPr>
          <a:xfrm>
            <a:off x="2311400" y="525463"/>
            <a:ext cx="4673600" cy="2628900"/>
          </a:xfrm>
        </p:spPr>
      </p:sp>
      <p:sp>
        <p:nvSpPr>
          <p:cNvPr id="3" name="Notes Placeholder 2">
            <a:extLst>
              <a:ext uri="{FF2B5EF4-FFF2-40B4-BE49-F238E27FC236}">
                <a16:creationId xmlns:a16="http://schemas.microsoft.com/office/drawing/2014/main" id="{0C711DA2-A33F-A64F-7069-CF4CD3A7506D}"/>
              </a:ext>
            </a:extLst>
          </p:cNvPr>
          <p:cNvSpPr>
            <a:spLocks noGrp="1"/>
          </p:cNvSpPr>
          <p:nvPr>
            <p:ph type="body" idx="1"/>
          </p:nvPr>
        </p:nvSpPr>
        <p:spPr/>
        <p:txBody>
          <a:bodyPr>
            <a:normAutofit/>
          </a:bodyPr>
          <a:lstStyle/>
          <a:p>
            <a:r>
              <a:rPr lang="en-US" sz="1400" dirty="0">
                <a:latin typeface="Verdana" pitchFamily="34" charset="0"/>
                <a:ea typeface="Verdana" pitchFamily="34" charset="0"/>
                <a:cs typeface="Verdana" pitchFamily="34" charset="0"/>
              </a:rPr>
              <a:t>you can reference a common table expression many times in the same SQL statement</a:t>
            </a:r>
          </a:p>
        </p:txBody>
      </p:sp>
      <p:sp>
        <p:nvSpPr>
          <p:cNvPr id="4" name="Slide Number Placeholder 3">
            <a:extLst>
              <a:ext uri="{FF2B5EF4-FFF2-40B4-BE49-F238E27FC236}">
                <a16:creationId xmlns:a16="http://schemas.microsoft.com/office/drawing/2014/main" id="{1E4370E8-6BA6-57B4-4B91-4FDA8D1FDB06}"/>
              </a:ext>
            </a:extLst>
          </p:cNvPr>
          <p:cNvSpPr>
            <a:spLocks noGrp="1"/>
          </p:cNvSpPr>
          <p:nvPr>
            <p:ph type="sldNum" sz="quarter" idx="10"/>
          </p:nvPr>
        </p:nvSpPr>
        <p:spPr/>
        <p:txBody>
          <a:bodyPr/>
          <a:lstStyle/>
          <a:p>
            <a:pPr>
              <a:defRPr/>
            </a:pPr>
            <a:fld id="{DDA46638-A69A-4CA3-8EF2-320A26C447D5}" type="slidenum">
              <a:rPr lang="zh-CN" altLang="en-US" smtClean="0"/>
              <a:pPr>
                <a:defRPr/>
              </a:pPr>
              <a:t>5</a:t>
            </a:fld>
            <a:endParaRPr lang="en-US" altLang="zh-CN"/>
          </a:p>
        </p:txBody>
      </p:sp>
    </p:spTree>
    <p:extLst>
      <p:ext uri="{BB962C8B-B14F-4D97-AF65-F5344CB8AC3E}">
        <p14:creationId xmlns:p14="http://schemas.microsoft.com/office/powerpoint/2010/main" val="2525451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buNone/>
            </a:pPr>
            <a:r>
              <a:rPr lang="en-US" b="0" i="0" dirty="0">
                <a:solidFill>
                  <a:srgbClr val="0077AA"/>
                </a:solidFill>
                <a:effectLst/>
                <a:latin typeface="Open Sans" panose="020B0606030504020204" pitchFamily="34" charset="0"/>
              </a:rPr>
              <a:t>WITH</a:t>
            </a:r>
            <a:r>
              <a:rPr lang="en-US" b="0" i="0" dirty="0">
                <a:solidFill>
                  <a:srgbClr val="555555"/>
                </a:solidFill>
                <a:effectLst/>
                <a:latin typeface="Open Sans" panose="020B0606030504020204" pitchFamily="34" charset="0"/>
              </a:rPr>
              <a:t> cte1 </a:t>
            </a:r>
            <a:r>
              <a:rPr lang="en-US" b="0" i="0" dirty="0">
                <a:solidFill>
                  <a:srgbClr val="0077AA"/>
                </a:solidFill>
                <a:effectLst/>
                <a:latin typeface="Open Sans" panose="020B0606030504020204" pitchFamily="34" charset="0"/>
              </a:rPr>
              <a:t>AS</a:t>
            </a:r>
            <a:r>
              <a:rPr lang="en-US" b="0" i="0" dirty="0">
                <a:solidFill>
                  <a:srgbClr val="555555"/>
                </a:solidFill>
                <a:effectLst/>
                <a:latin typeface="Open Sans" panose="020B0606030504020204" pitchFamily="34" charset="0"/>
              </a:rPr>
              <a:t> </a:t>
            </a:r>
            <a:r>
              <a:rPr lang="en-US" b="0" i="0" dirty="0">
                <a:solidFill>
                  <a:srgbClr val="999999"/>
                </a:solidFill>
                <a:effectLst/>
                <a:latin typeface="Open Sans" panose="020B0606030504020204" pitchFamily="34" charset="0"/>
              </a:rPr>
              <a:t>(...),</a:t>
            </a:r>
            <a:r>
              <a:rPr lang="en-US" b="0" i="0" dirty="0">
                <a:solidFill>
                  <a:srgbClr val="555555"/>
                </a:solidFill>
                <a:effectLst/>
                <a:latin typeface="Open Sans" panose="020B0606030504020204" pitchFamily="34" charset="0"/>
              </a:rPr>
              <a:t> cte2 </a:t>
            </a:r>
            <a:r>
              <a:rPr lang="en-US" b="0" i="0" dirty="0">
                <a:solidFill>
                  <a:srgbClr val="0077AA"/>
                </a:solidFill>
                <a:effectLst/>
                <a:latin typeface="Open Sans" panose="020B0606030504020204" pitchFamily="34" charset="0"/>
              </a:rPr>
              <a:t>AS</a:t>
            </a:r>
            <a:r>
              <a:rPr lang="en-US" b="0" i="0" dirty="0">
                <a:solidFill>
                  <a:srgbClr val="555555"/>
                </a:solidFill>
                <a:effectLst/>
                <a:latin typeface="Open Sans" panose="020B0606030504020204" pitchFamily="34" charset="0"/>
              </a:rPr>
              <a:t> </a:t>
            </a:r>
            <a:r>
              <a:rPr lang="en-US" b="0" i="0" dirty="0">
                <a:solidFill>
                  <a:srgbClr val="999999"/>
                </a:solidFill>
                <a:effectLst/>
                <a:latin typeface="Open Sans" panose="020B0606030504020204" pitchFamily="34" charset="0"/>
              </a:rPr>
              <a:t>(...)</a:t>
            </a:r>
            <a:r>
              <a:rPr lang="en-US" b="0" i="0" dirty="0">
                <a:solidFill>
                  <a:srgbClr val="555555"/>
                </a:solidFill>
                <a:effectLst/>
                <a:latin typeface="Open Sans" panose="020B0606030504020204" pitchFamily="34" charset="0"/>
              </a:rPr>
              <a:t> </a:t>
            </a:r>
            <a:r>
              <a:rPr lang="en-US" b="0" i="0" dirty="0">
                <a:solidFill>
                  <a:srgbClr val="0077AA"/>
                </a:solidFill>
                <a:effectLst/>
                <a:latin typeface="Open Sans" panose="020B0606030504020204" pitchFamily="34" charset="0"/>
              </a:rPr>
              <a:t>SELECT</a:t>
            </a:r>
            <a:r>
              <a:rPr lang="en-US" b="0" i="0" dirty="0">
                <a:solidFill>
                  <a:srgbClr val="555555"/>
                </a:solidFill>
                <a:effectLst/>
                <a:latin typeface="Open Sans" panose="020B0606030504020204" pitchFamily="34" charset="0"/>
              </a:rPr>
              <a:t> </a:t>
            </a:r>
            <a:r>
              <a:rPr lang="en-US" b="0" i="0" dirty="0">
                <a:solidFill>
                  <a:srgbClr val="999999"/>
                </a:solidFill>
                <a:effectLst/>
                <a:latin typeface="Open Sans" panose="020B0606030504020204" pitchFamily="34" charset="0"/>
              </a:rPr>
              <a:t>...</a:t>
            </a:r>
            <a:endParaRPr lang="en-US" b="0" i="0" dirty="0">
              <a:solidFill>
                <a:srgbClr val="555555"/>
              </a:solidFill>
              <a:effectLst/>
              <a:latin typeface="Open Sans" panose="020B0606030504020204" pitchFamily="34" charset="0"/>
            </a:endParaRPr>
          </a:p>
          <a:p>
            <a:pPr>
              <a:buNone/>
            </a:pPr>
            <a:br>
              <a:rPr lang="en-US" dirty="0"/>
            </a:br>
            <a:endParaRPr lang="en-US" dirty="0"/>
          </a:p>
        </p:txBody>
      </p:sp>
      <p:sp>
        <p:nvSpPr>
          <p:cNvPr id="4" name="Slide Number Placeholder 3"/>
          <p:cNvSpPr>
            <a:spLocks noGrp="1"/>
          </p:cNvSpPr>
          <p:nvPr>
            <p:ph type="sldNum" sz="quarter" idx="5"/>
          </p:nvPr>
        </p:nvSpPr>
        <p:spPr/>
        <p:txBody>
          <a:bodyPr/>
          <a:lstStyle/>
          <a:p>
            <a:fld id="{42938DFF-218C-4948-B31E-06D658EB2B31}" type="slidenum">
              <a:rPr lang="en-US" smtClean="0"/>
              <a:t>6</a:t>
            </a:fld>
            <a:endParaRPr lang="en-US"/>
          </a:p>
        </p:txBody>
      </p:sp>
    </p:spTree>
    <p:extLst>
      <p:ext uri="{BB962C8B-B14F-4D97-AF65-F5344CB8AC3E}">
        <p14:creationId xmlns:p14="http://schemas.microsoft.com/office/powerpoint/2010/main" val="40430343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11400" y="525463"/>
            <a:ext cx="4673600" cy="2628900"/>
          </a:xfrm>
        </p:spPr>
      </p:sp>
      <p:sp>
        <p:nvSpPr>
          <p:cNvPr id="3" name="Notes Placeholder 2"/>
          <p:cNvSpPr>
            <a:spLocks noGrp="1"/>
          </p:cNvSpPr>
          <p:nvPr>
            <p:ph type="body" idx="1"/>
          </p:nvPr>
        </p:nvSpPr>
        <p:spPr/>
        <p:txBody>
          <a:bodyPr>
            <a:normAutofit/>
          </a:bodyPr>
          <a:lstStyle/>
          <a:p>
            <a:r>
              <a:rPr lang="en-US" dirty="0"/>
              <a:t>START WITH and CONNECT BY in Oracle SQL:</a:t>
            </a:r>
          </a:p>
          <a:p>
            <a:r>
              <a:rPr lang="en-US" dirty="0"/>
              <a:t>http://www.adp-gmbh.ch/ora/sql/connect_by.html</a:t>
            </a:r>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DDA46638-A69A-4CA3-8EF2-320A26C447D5}" type="slidenum">
              <a:rPr lang="zh-CN" altLang="en-US" smtClean="0"/>
              <a:pPr>
                <a:defRPr/>
              </a:pPr>
              <a:t>9</a:t>
            </a:fld>
            <a:endParaRPr lang="en-US" altLang="zh-CN"/>
          </a:p>
        </p:txBody>
      </p:sp>
    </p:spTree>
    <p:extLst>
      <p:ext uri="{BB962C8B-B14F-4D97-AF65-F5344CB8AC3E}">
        <p14:creationId xmlns:p14="http://schemas.microsoft.com/office/powerpoint/2010/main" val="581446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93441-CDE7-8B07-0D04-E603D28639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B265CA-53D5-E717-89E7-F4BA4277EC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842302-C163-F5A3-F384-5E2783B1CC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3A8A1F-B7E5-9E66-44F6-02B1BC6F67E5}"/>
              </a:ext>
            </a:extLst>
          </p:cNvPr>
          <p:cNvSpPr>
            <a:spLocks noGrp="1"/>
          </p:cNvSpPr>
          <p:nvPr>
            <p:ph type="sldNum" sz="quarter" idx="5"/>
          </p:nvPr>
        </p:nvSpPr>
        <p:spPr/>
        <p:txBody>
          <a:bodyPr/>
          <a:lstStyle/>
          <a:p>
            <a:fld id="{42938DFF-218C-4948-B31E-06D658EB2B31}" type="slidenum">
              <a:rPr lang="en-US" smtClean="0"/>
              <a:t>10</a:t>
            </a:fld>
            <a:endParaRPr lang="en-US"/>
          </a:p>
        </p:txBody>
      </p:sp>
    </p:spTree>
    <p:extLst>
      <p:ext uri="{BB962C8B-B14F-4D97-AF65-F5344CB8AC3E}">
        <p14:creationId xmlns:p14="http://schemas.microsoft.com/office/powerpoint/2010/main" val="25681500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11400" y="525463"/>
            <a:ext cx="4673600" cy="2628900"/>
          </a:xfrm>
        </p:spPr>
      </p:sp>
      <p:sp>
        <p:nvSpPr>
          <p:cNvPr id="3" name="Notes Placeholder 2"/>
          <p:cNvSpPr>
            <a:spLocks noGrp="1"/>
          </p:cNvSpPr>
          <p:nvPr>
            <p:ph type="body" idx="1"/>
          </p:nvPr>
        </p:nvSpPr>
        <p:spPr/>
        <p:txBody>
          <a:bodyPr>
            <a:normAutofit/>
          </a:bodyPr>
          <a:lstStyle/>
          <a:p>
            <a:endParaRPr lang="en-US" sz="2000" b="0" dirty="0"/>
          </a:p>
        </p:txBody>
      </p:sp>
      <p:sp>
        <p:nvSpPr>
          <p:cNvPr id="4" name="Slide Number Placeholder 3"/>
          <p:cNvSpPr>
            <a:spLocks noGrp="1"/>
          </p:cNvSpPr>
          <p:nvPr>
            <p:ph type="sldNum" sz="quarter" idx="10"/>
          </p:nvPr>
        </p:nvSpPr>
        <p:spPr/>
        <p:txBody>
          <a:bodyPr/>
          <a:lstStyle/>
          <a:p>
            <a:pPr>
              <a:defRPr/>
            </a:pPr>
            <a:fld id="{DDA46638-A69A-4CA3-8EF2-320A26C447D5}" type="slidenum">
              <a:rPr lang="zh-CN" altLang="en-US" smtClean="0"/>
              <a:pPr>
                <a:defRPr/>
              </a:pPr>
              <a:t>11</a:t>
            </a:fld>
            <a:endParaRPr lang="en-US" altLang="zh-CN"/>
          </a:p>
        </p:txBody>
      </p:sp>
    </p:spTree>
    <p:extLst>
      <p:ext uri="{BB962C8B-B14F-4D97-AF65-F5344CB8AC3E}">
        <p14:creationId xmlns:p14="http://schemas.microsoft.com/office/powerpoint/2010/main" val="3434664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11400" y="525463"/>
            <a:ext cx="4673600" cy="2628900"/>
          </a:xfrm>
        </p:spPr>
      </p:sp>
      <p:sp>
        <p:nvSpPr>
          <p:cNvPr id="3" name="Notes Placeholder 2"/>
          <p:cNvSpPr>
            <a:spLocks noGrp="1"/>
          </p:cNvSpPr>
          <p:nvPr>
            <p:ph type="body" idx="1"/>
          </p:nvPr>
        </p:nvSpPr>
        <p:spPr/>
        <p:txBody>
          <a:bodyPr/>
          <a:lstStyle/>
          <a:p>
            <a:r>
              <a:rPr lang="en-US" sz="1200" b="0" i="0" dirty="0">
                <a:solidFill>
                  <a:srgbClr val="202124"/>
                </a:solidFill>
                <a:effectLst/>
                <a:latin typeface="Roboto" panose="02000000000000000000" pitchFamily="2" charset="0"/>
              </a:rPr>
              <a:t>UNION: only keeps unique records </a:t>
            </a:r>
          </a:p>
          <a:p>
            <a:r>
              <a:rPr lang="en-US" sz="1200" b="0" i="0" dirty="0">
                <a:solidFill>
                  <a:srgbClr val="202124"/>
                </a:solidFill>
                <a:effectLst/>
                <a:latin typeface="Roboto" panose="02000000000000000000" pitchFamily="2" charset="0"/>
              </a:rPr>
              <a:t>UNION ALL: keeps all records, including duplicates</a:t>
            </a:r>
            <a:endParaRPr lang="en-US" sz="1200" b="0" dirty="0"/>
          </a:p>
          <a:p>
            <a:endParaRPr lang="en-US" dirty="0"/>
          </a:p>
          <a:p>
            <a:r>
              <a:rPr lang="en-US" dirty="0"/>
              <a:t>Another recursive SQL example: </a:t>
            </a:r>
            <a:r>
              <a:rPr lang="en-US" dirty="0">
                <a:hlinkClick r:id="rId3"/>
              </a:rPr>
              <a:t>https://www.ibm.com/support/knowledgecenter/SSEPGG_9.7.0/com.ibm.db2.luw.apdv.sample.doc/doc/clp/s-flt-db2.html</a:t>
            </a:r>
            <a:endParaRPr lang="en-US" dirty="0"/>
          </a:p>
        </p:txBody>
      </p:sp>
      <p:sp>
        <p:nvSpPr>
          <p:cNvPr id="4" name="Slide Number Placeholder 3"/>
          <p:cNvSpPr>
            <a:spLocks noGrp="1"/>
          </p:cNvSpPr>
          <p:nvPr>
            <p:ph type="sldNum" sz="quarter" idx="5"/>
          </p:nvPr>
        </p:nvSpPr>
        <p:spPr/>
        <p:txBody>
          <a:bodyPr/>
          <a:lstStyle/>
          <a:p>
            <a:fld id="{42938DFF-218C-4948-B31E-06D658EB2B31}" type="slidenum">
              <a:rPr lang="en-US" smtClean="0"/>
              <a:t>12</a:t>
            </a:fld>
            <a:endParaRPr lang="en-US"/>
          </a:p>
        </p:txBody>
      </p:sp>
    </p:spTree>
    <p:extLst>
      <p:ext uri="{BB962C8B-B14F-4D97-AF65-F5344CB8AC3E}">
        <p14:creationId xmlns:p14="http://schemas.microsoft.com/office/powerpoint/2010/main" val="40386633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938DFF-218C-4948-B31E-06D658EB2B31}" type="slidenum">
              <a:rPr lang="en-US" smtClean="0"/>
              <a:t>13</a:t>
            </a:fld>
            <a:endParaRPr lang="en-US"/>
          </a:p>
        </p:txBody>
      </p:sp>
    </p:spTree>
    <p:extLst>
      <p:ext uri="{BB962C8B-B14F-4D97-AF65-F5344CB8AC3E}">
        <p14:creationId xmlns:p14="http://schemas.microsoft.com/office/powerpoint/2010/main" val="6284153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11400" y="525463"/>
            <a:ext cx="4673600" cy="2628900"/>
          </a:xfrm>
        </p:spPr>
      </p:sp>
      <p:sp>
        <p:nvSpPr>
          <p:cNvPr id="3" name="Notes Placeholder 2"/>
          <p:cNvSpPr>
            <a:spLocks noGrp="1"/>
          </p:cNvSpPr>
          <p:nvPr>
            <p:ph type="body" idx="1"/>
          </p:nvPr>
        </p:nvSpPr>
        <p:spPr/>
        <p:txBody>
          <a:bodyPr>
            <a:normAutofit/>
          </a:bodyPr>
          <a:lstStyle/>
          <a:p>
            <a:r>
              <a:rPr lang="en-US" dirty="0"/>
              <a:t>http://docs.oracle.com/cd/B12037_01/server.101/b10759/queries003.htm</a:t>
            </a:r>
          </a:p>
        </p:txBody>
      </p:sp>
      <p:sp>
        <p:nvSpPr>
          <p:cNvPr id="4" name="Slide Number Placeholder 3"/>
          <p:cNvSpPr>
            <a:spLocks noGrp="1"/>
          </p:cNvSpPr>
          <p:nvPr>
            <p:ph type="sldNum" sz="quarter" idx="10"/>
          </p:nvPr>
        </p:nvSpPr>
        <p:spPr/>
        <p:txBody>
          <a:bodyPr/>
          <a:lstStyle/>
          <a:p>
            <a:pPr>
              <a:defRPr/>
            </a:pPr>
            <a:fld id="{DDA46638-A69A-4CA3-8EF2-320A26C447D5}" type="slidenum">
              <a:rPr lang="zh-CN" altLang="en-US" smtClean="0"/>
              <a:pPr>
                <a:defRPr/>
              </a:pPr>
              <a:t>16</a:t>
            </a:fld>
            <a:endParaRPr lang="en-US" altLang="zh-CN"/>
          </a:p>
        </p:txBody>
      </p:sp>
    </p:spTree>
    <p:extLst>
      <p:ext uri="{BB962C8B-B14F-4D97-AF65-F5344CB8AC3E}">
        <p14:creationId xmlns:p14="http://schemas.microsoft.com/office/powerpoint/2010/main" val="28440671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11400" y="525463"/>
            <a:ext cx="4673600" cy="26289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with the dimension tables surrounding the central fact table.</a:t>
            </a:r>
            <a:endParaRPr lang="en-US" dirty="0"/>
          </a:p>
        </p:txBody>
      </p:sp>
      <p:sp>
        <p:nvSpPr>
          <p:cNvPr id="4" name="Slide Number Placeholder 3"/>
          <p:cNvSpPr>
            <a:spLocks noGrp="1"/>
          </p:cNvSpPr>
          <p:nvPr>
            <p:ph type="sldNum" sz="quarter" idx="5"/>
          </p:nvPr>
        </p:nvSpPr>
        <p:spPr/>
        <p:txBody>
          <a:bodyPr/>
          <a:lstStyle/>
          <a:p>
            <a:fld id="{42938DFF-218C-4948-B31E-06D658EB2B31}" type="slidenum">
              <a:rPr lang="en-US" smtClean="0"/>
              <a:t>21</a:t>
            </a:fld>
            <a:endParaRPr lang="en-US"/>
          </a:p>
        </p:txBody>
      </p:sp>
    </p:spTree>
    <p:extLst>
      <p:ext uri="{BB962C8B-B14F-4D97-AF65-F5344CB8AC3E}">
        <p14:creationId xmlns:p14="http://schemas.microsoft.com/office/powerpoint/2010/main" val="11911048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11400" y="525463"/>
            <a:ext cx="4673600" cy="26289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fact table has the same dimensions as it does in the star schema example. The most important difference is that the dimension tables in the snowflake schema are normalized. Interestingly, the process of normalizing dimension tables is called snowflaking.</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Snowflake schemas will use less space to store dimension tables. This is because as a rule any normalized database produces far fewer redundant records .</a:t>
            </a:r>
          </a:p>
          <a:p>
            <a:r>
              <a:rPr lang="en-US" sz="1200" b="0" i="0" kern="1200" dirty="0">
                <a:solidFill>
                  <a:schemeClr val="tx1"/>
                </a:solidFill>
                <a:effectLst/>
                <a:latin typeface="+mn-lt"/>
                <a:ea typeface="+mn-ea"/>
                <a:cs typeface="+mn-cs"/>
              </a:rPr>
              <a:t>Denormalized data models increase the chances of data integrity problems. These issues will complicate future modifications and maintenance as well.</a:t>
            </a:r>
          </a:p>
          <a:p>
            <a:endParaRPr lang="en-US" dirty="0"/>
          </a:p>
        </p:txBody>
      </p:sp>
      <p:sp>
        <p:nvSpPr>
          <p:cNvPr id="4" name="Slide Number Placeholder 3"/>
          <p:cNvSpPr>
            <a:spLocks noGrp="1"/>
          </p:cNvSpPr>
          <p:nvPr>
            <p:ph type="sldNum" sz="quarter" idx="5"/>
          </p:nvPr>
        </p:nvSpPr>
        <p:spPr/>
        <p:txBody>
          <a:bodyPr/>
          <a:lstStyle/>
          <a:p>
            <a:fld id="{42938DFF-218C-4948-B31E-06D658EB2B31}" type="slidenum">
              <a:rPr lang="en-US" smtClean="0"/>
              <a:t>22</a:t>
            </a:fld>
            <a:endParaRPr lang="en-US"/>
          </a:p>
        </p:txBody>
      </p:sp>
    </p:spTree>
    <p:extLst>
      <p:ext uri="{BB962C8B-B14F-4D97-AF65-F5344CB8AC3E}">
        <p14:creationId xmlns:p14="http://schemas.microsoft.com/office/powerpoint/2010/main" val="30874924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11400" y="525463"/>
            <a:ext cx="4673600" cy="2628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938DFF-218C-4948-B31E-06D658EB2B31}" type="slidenum">
              <a:rPr lang="en-US" smtClean="0"/>
              <a:t>25</a:t>
            </a:fld>
            <a:endParaRPr lang="en-US"/>
          </a:p>
        </p:txBody>
      </p:sp>
    </p:spTree>
    <p:extLst>
      <p:ext uri="{BB962C8B-B14F-4D97-AF65-F5344CB8AC3E}">
        <p14:creationId xmlns:p14="http://schemas.microsoft.com/office/powerpoint/2010/main" val="41504989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NULL AS state</a:t>
            </a:r>
            <a:r>
              <a:rPr lang="en-US" dirty="0"/>
              <a:t>, </a:t>
            </a:r>
            <a:r>
              <a:rPr lang="en-US" b="1" dirty="0"/>
              <a:t>NULL AS county</a:t>
            </a:r>
            <a:r>
              <a:rPr lang="en-US" dirty="0"/>
              <a:t>, </a:t>
            </a:r>
            <a:r>
              <a:rPr lang="en-US" b="1" dirty="0"/>
              <a:t>NULL AS city</a:t>
            </a:r>
            <a:r>
              <a:rPr lang="en-US" dirty="0"/>
              <a:t>:</a:t>
            </a:r>
          </a:p>
          <a:p>
            <a:r>
              <a:rPr lang="en-US" dirty="0"/>
              <a:t>These are </a:t>
            </a:r>
            <a:r>
              <a:rPr lang="en-US" b="1" dirty="0"/>
              <a:t>placeholders</a:t>
            </a:r>
            <a:r>
              <a:rPr lang="en-US" dirty="0"/>
              <a:t> to align with the structure of the result set.</a:t>
            </a:r>
          </a:p>
          <a:p>
            <a:endParaRPr lang="en-US" dirty="0"/>
          </a:p>
        </p:txBody>
      </p:sp>
      <p:sp>
        <p:nvSpPr>
          <p:cNvPr id="4" name="Slide Number Placeholder 3"/>
          <p:cNvSpPr>
            <a:spLocks noGrp="1"/>
          </p:cNvSpPr>
          <p:nvPr>
            <p:ph type="sldNum" sz="quarter" idx="5"/>
          </p:nvPr>
        </p:nvSpPr>
        <p:spPr/>
        <p:txBody>
          <a:bodyPr/>
          <a:lstStyle/>
          <a:p>
            <a:fld id="{42938DFF-218C-4948-B31E-06D658EB2B31}" type="slidenum">
              <a:rPr lang="en-US" smtClean="0"/>
              <a:t>31</a:t>
            </a:fld>
            <a:endParaRPr lang="en-US"/>
          </a:p>
        </p:txBody>
      </p:sp>
    </p:spTree>
    <p:extLst>
      <p:ext uri="{BB962C8B-B14F-4D97-AF65-F5344CB8AC3E}">
        <p14:creationId xmlns:p14="http://schemas.microsoft.com/office/powerpoint/2010/main" val="7617068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https://www.ablebits.com/office-addins-blog/excel-pivot-table-tutorial/</a:t>
            </a:r>
          </a:p>
          <a:p>
            <a:endParaRPr lang="en-US" dirty="0"/>
          </a:p>
        </p:txBody>
      </p:sp>
      <p:sp>
        <p:nvSpPr>
          <p:cNvPr id="4" name="Slide Number Placeholder 3"/>
          <p:cNvSpPr>
            <a:spLocks noGrp="1"/>
          </p:cNvSpPr>
          <p:nvPr>
            <p:ph type="sldNum" sz="quarter" idx="5"/>
          </p:nvPr>
        </p:nvSpPr>
        <p:spPr/>
        <p:txBody>
          <a:bodyPr/>
          <a:lstStyle/>
          <a:p>
            <a:fld id="{42938DFF-218C-4948-B31E-06D658EB2B31}" type="slidenum">
              <a:rPr lang="en-US" smtClean="0"/>
              <a:t>43</a:t>
            </a:fld>
            <a:endParaRPr lang="en-US"/>
          </a:p>
        </p:txBody>
      </p:sp>
    </p:spTree>
    <p:extLst>
      <p:ext uri="{BB962C8B-B14F-4D97-AF65-F5344CB8AC3E}">
        <p14:creationId xmlns:p14="http://schemas.microsoft.com/office/powerpoint/2010/main" val="20554804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https://docs.snowflake.com/en/sql-reference/constructs/pivot.html</a:t>
            </a:r>
          </a:p>
          <a:p>
            <a:r>
              <a:rPr lang="en-US" dirty="0"/>
              <a:t>https://www.databricks.com/blog/2018/11/01/sql-pivot-converting-rows-to-columns.html</a:t>
            </a:r>
          </a:p>
        </p:txBody>
      </p:sp>
      <p:sp>
        <p:nvSpPr>
          <p:cNvPr id="4" name="Slide Number Placeholder 3"/>
          <p:cNvSpPr>
            <a:spLocks noGrp="1"/>
          </p:cNvSpPr>
          <p:nvPr>
            <p:ph type="sldNum" sz="quarter" idx="5"/>
          </p:nvPr>
        </p:nvSpPr>
        <p:spPr/>
        <p:txBody>
          <a:bodyPr/>
          <a:lstStyle/>
          <a:p>
            <a:fld id="{42938DFF-218C-4948-B31E-06D658EB2B31}" type="slidenum">
              <a:rPr lang="en-US" smtClean="0"/>
              <a:t>48</a:t>
            </a:fld>
            <a:endParaRPr lang="en-US"/>
          </a:p>
        </p:txBody>
      </p:sp>
    </p:spTree>
    <p:extLst>
      <p:ext uri="{BB962C8B-B14F-4D97-AF65-F5344CB8AC3E}">
        <p14:creationId xmlns:p14="http://schemas.microsoft.com/office/powerpoint/2010/main" val="23953915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938DFF-218C-4948-B31E-06D658EB2B31}" type="slidenum">
              <a:rPr lang="en-US" smtClean="0"/>
              <a:t>50</a:t>
            </a:fld>
            <a:endParaRPr lang="en-US"/>
          </a:p>
        </p:txBody>
      </p:sp>
    </p:spTree>
    <p:extLst>
      <p:ext uri="{BB962C8B-B14F-4D97-AF65-F5344CB8AC3E}">
        <p14:creationId xmlns:p14="http://schemas.microsoft.com/office/powerpoint/2010/main" val="40545587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F777C-E0A2-245D-AE1D-D06C12822B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E7B2B1-230D-D812-8ED5-D3D23C56C6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48FC73-C2D8-B864-F8AC-CCCD079F8449}"/>
              </a:ext>
            </a:extLst>
          </p:cNvPr>
          <p:cNvSpPr>
            <a:spLocks noGrp="1"/>
          </p:cNvSpPr>
          <p:nvPr>
            <p:ph type="body" idx="1"/>
          </p:nvPr>
        </p:nvSpPr>
        <p:spPr/>
        <p:txBody>
          <a:bodyPr/>
          <a:lstStyle/>
          <a:p>
            <a:pPr algn="l">
              <a:spcBef>
                <a:spcPts val="300"/>
              </a:spcBef>
              <a:spcAft>
                <a:spcPts val="1029"/>
              </a:spcAft>
              <a:buFont typeface="+mj-lt"/>
              <a:buAutoNum type="arabicPeriod"/>
            </a:pPr>
            <a:endParaRPr lang="en-US" b="0" i="0" dirty="0">
              <a:solidFill>
                <a:srgbClr val="404040"/>
              </a:solidFill>
              <a:effectLst/>
              <a:latin typeface="quote-cjk-patch"/>
            </a:endParaRPr>
          </a:p>
          <a:p>
            <a:pPr marL="742950" lvl="1" indent="-285750" algn="l">
              <a:lnSpc>
                <a:spcPts val="2143"/>
              </a:lnSpc>
              <a:spcBef>
                <a:spcPts val="300"/>
              </a:spcBef>
              <a:spcAft>
                <a:spcPts val="1029"/>
              </a:spcAft>
              <a:buFont typeface="+mj-lt"/>
              <a:buAutoNum type="arabicPeriod"/>
            </a:pPr>
            <a:r>
              <a:rPr lang="en-US" b="0" i="0" dirty="0">
                <a:solidFill>
                  <a:srgbClr val="404040"/>
                </a:solidFill>
                <a:effectLst/>
                <a:latin typeface="quote-cjk-patch"/>
              </a:rPr>
              <a:t>STDDEV() = SQRT(VARIANCE())</a:t>
            </a:r>
          </a:p>
          <a:p>
            <a:pPr>
              <a:buNone/>
            </a:pPr>
            <a:br>
              <a:rPr lang="en-US" dirty="0"/>
            </a:br>
            <a:endParaRPr lang="en-US" dirty="0"/>
          </a:p>
        </p:txBody>
      </p:sp>
      <p:sp>
        <p:nvSpPr>
          <p:cNvPr id="4" name="Slide Number Placeholder 3">
            <a:extLst>
              <a:ext uri="{FF2B5EF4-FFF2-40B4-BE49-F238E27FC236}">
                <a16:creationId xmlns:a16="http://schemas.microsoft.com/office/drawing/2014/main" id="{95F4880B-248C-A67C-9F0A-290BD89CF1C7}"/>
              </a:ext>
            </a:extLst>
          </p:cNvPr>
          <p:cNvSpPr>
            <a:spLocks noGrp="1"/>
          </p:cNvSpPr>
          <p:nvPr>
            <p:ph type="sldNum" sz="quarter" idx="5"/>
          </p:nvPr>
        </p:nvSpPr>
        <p:spPr/>
        <p:txBody>
          <a:bodyPr/>
          <a:lstStyle/>
          <a:p>
            <a:fld id="{42938DFF-218C-4948-B31E-06D658EB2B31}" type="slidenum">
              <a:rPr lang="en-US" smtClean="0"/>
              <a:t>51</a:t>
            </a:fld>
            <a:endParaRPr lang="en-US"/>
          </a:p>
        </p:txBody>
      </p:sp>
    </p:spTree>
    <p:extLst>
      <p:ext uri="{BB962C8B-B14F-4D97-AF65-F5344CB8AC3E}">
        <p14:creationId xmlns:p14="http://schemas.microsoft.com/office/powerpoint/2010/main" val="3078667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PERCENTILE_CONT(0.9): This computes the 90th percentile of </a:t>
            </a:r>
            <a:r>
              <a:rPr lang="en-US" dirty="0" err="1"/>
              <a:t>salaries.If</a:t>
            </a:r>
            <a:r>
              <a:rPr lang="en-US" dirty="0"/>
              <a:t> 90% of the salaries fall below $72,500, and there's no exact $72,500 salary, it will interpolate between, say, $55,000 and $80,000 to return a value like $72,500.</a:t>
            </a:r>
          </a:p>
          <a:p>
            <a:r>
              <a:rPr lang="en-US" b="1" dirty="0"/>
              <a:t>PERCENTILE_DISC (Discrete Percentile):  </a:t>
            </a:r>
            <a:r>
              <a:rPr lang="en-US" dirty="0"/>
              <a:t>Returns the </a:t>
            </a:r>
            <a:r>
              <a:rPr lang="en-US" b="1" dirty="0"/>
              <a:t>first actual value</a:t>
            </a:r>
            <a:r>
              <a:rPr lang="en-US" dirty="0"/>
              <a:t> in the dataset that reaches or exceeds the desired percentile.</a:t>
            </a:r>
          </a:p>
          <a:p>
            <a:r>
              <a:rPr lang="en-US" dirty="0"/>
              <a:t>This returns the </a:t>
            </a:r>
            <a:r>
              <a:rPr lang="en-US" b="1" dirty="0"/>
              <a:t>smallest actual salary</a:t>
            </a:r>
            <a:r>
              <a:rPr lang="en-US" dirty="0"/>
              <a:t> such that at least 90% of salaries are </a:t>
            </a:r>
            <a:r>
              <a:rPr lang="en-US" b="1" dirty="0"/>
              <a:t>less than or equal to it</a:t>
            </a:r>
            <a:r>
              <a:rPr lang="en-US" dirty="0"/>
              <a:t>.</a:t>
            </a:r>
          </a:p>
          <a:p>
            <a:endParaRPr lang="en-US" dirty="0"/>
          </a:p>
        </p:txBody>
      </p:sp>
      <p:sp>
        <p:nvSpPr>
          <p:cNvPr id="4" name="Slide Number Placeholder 3"/>
          <p:cNvSpPr>
            <a:spLocks noGrp="1"/>
          </p:cNvSpPr>
          <p:nvPr>
            <p:ph type="sldNum" sz="quarter" idx="5"/>
          </p:nvPr>
        </p:nvSpPr>
        <p:spPr/>
        <p:txBody>
          <a:bodyPr/>
          <a:lstStyle/>
          <a:p>
            <a:fld id="{42938DFF-218C-4948-B31E-06D658EB2B31}" type="slidenum">
              <a:rPr lang="en-US" smtClean="0"/>
              <a:t>52</a:t>
            </a:fld>
            <a:endParaRPr lang="en-US"/>
          </a:p>
        </p:txBody>
      </p:sp>
    </p:spTree>
    <p:extLst>
      <p:ext uri="{BB962C8B-B14F-4D97-AF65-F5344CB8AC3E}">
        <p14:creationId xmlns:p14="http://schemas.microsoft.com/office/powerpoint/2010/main" val="25013642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11400" y="525463"/>
            <a:ext cx="4673600" cy="2628900"/>
          </a:xfrm>
        </p:spPr>
      </p:sp>
      <p:sp>
        <p:nvSpPr>
          <p:cNvPr id="3" name="Notes Placeholder 2"/>
          <p:cNvSpPr>
            <a:spLocks noGrp="1"/>
          </p:cNvSpPr>
          <p:nvPr>
            <p:ph type="body" idx="1"/>
          </p:nvPr>
        </p:nvSpPr>
        <p:spPr/>
        <p:txBody>
          <a:bodyPr>
            <a:normAutofit/>
          </a:bodyPr>
          <a:lstStyle/>
          <a:p>
            <a:r>
              <a:rPr lang="en-US" dirty="0"/>
              <a:t>https://www.ibm.com/support/knowledgecenter/en/SSEPEK_11.0.0/sqlref/src/tpc/db2z_aggregatefunctionsintro.html</a:t>
            </a:r>
          </a:p>
          <a:p>
            <a:endParaRPr lang="en-US" dirty="0"/>
          </a:p>
          <a:p>
            <a:r>
              <a:rPr lang="en-US" dirty="0"/>
              <a:t>https://www.ibm.com/support/knowledgecenter/en/SS6NHC/com.ibm.swg.im.dashdb.sql.ref.doc/doc/r0011043.html</a:t>
            </a:r>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DDA46638-A69A-4CA3-8EF2-320A26C447D5}" type="slidenum">
              <a:rPr lang="zh-CN" altLang="en-US" smtClean="0"/>
              <a:pPr>
                <a:defRPr/>
              </a:pPr>
              <a:t>53</a:t>
            </a:fld>
            <a:endParaRPr lang="en-US" altLang="zh-CN"/>
          </a:p>
        </p:txBody>
      </p:sp>
    </p:spTree>
    <p:extLst>
      <p:ext uri="{BB962C8B-B14F-4D97-AF65-F5344CB8AC3E}">
        <p14:creationId xmlns:p14="http://schemas.microsoft.com/office/powerpoint/2010/main" val="41395401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A01D4-99CD-B601-31B1-AE08556D55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32706-6881-5E01-49C8-45C1C8207108}"/>
              </a:ext>
            </a:extLst>
          </p:cNvPr>
          <p:cNvSpPr>
            <a:spLocks noGrp="1" noRot="1" noChangeAspect="1"/>
          </p:cNvSpPr>
          <p:nvPr>
            <p:ph type="sldImg"/>
          </p:nvPr>
        </p:nvSpPr>
        <p:spPr>
          <a:xfrm>
            <a:off x="2311400" y="525463"/>
            <a:ext cx="4673600" cy="2628900"/>
          </a:xfrm>
        </p:spPr>
      </p:sp>
      <p:sp>
        <p:nvSpPr>
          <p:cNvPr id="3" name="Notes Placeholder 2">
            <a:extLst>
              <a:ext uri="{FF2B5EF4-FFF2-40B4-BE49-F238E27FC236}">
                <a16:creationId xmlns:a16="http://schemas.microsoft.com/office/drawing/2014/main" id="{7054BF20-91AC-4F17-14AA-74ADFCD6629C}"/>
              </a:ext>
            </a:extLst>
          </p:cNvPr>
          <p:cNvSpPr>
            <a:spLocks noGrp="1"/>
          </p:cNvSpPr>
          <p:nvPr>
            <p:ph type="body" idx="1"/>
          </p:nvPr>
        </p:nvSpPr>
        <p:spPr/>
        <p:txBody>
          <a:bodyPr>
            <a:normAutofit/>
          </a:bodyPr>
          <a:lstStyle/>
          <a:p>
            <a:r>
              <a:rPr lang="en-US" dirty="0"/>
              <a:t>https://www.ibm.com/support/knowledgecenter/en/SSEPEK_11.0.0/sqlref/src/tpc/db2z_aggregatefunctionsintro.html</a:t>
            </a:r>
          </a:p>
          <a:p>
            <a:endParaRPr lang="en-US" dirty="0"/>
          </a:p>
          <a:p>
            <a:r>
              <a:rPr lang="en-US" dirty="0"/>
              <a:t>https://www.ibm.com/support/knowledgecenter/en/SS6NHC/com.ibm.swg.im.dashdb.sql.ref.doc/doc/r0011043.html</a:t>
            </a:r>
          </a:p>
          <a:p>
            <a:endParaRPr lang="en-US" dirty="0"/>
          </a:p>
          <a:p>
            <a:endParaRPr lang="en-US" dirty="0"/>
          </a:p>
        </p:txBody>
      </p:sp>
      <p:sp>
        <p:nvSpPr>
          <p:cNvPr id="4" name="Slide Number Placeholder 3">
            <a:extLst>
              <a:ext uri="{FF2B5EF4-FFF2-40B4-BE49-F238E27FC236}">
                <a16:creationId xmlns:a16="http://schemas.microsoft.com/office/drawing/2014/main" id="{BE3EB8F6-8272-E1BC-2CAE-3F34F5DB4680}"/>
              </a:ext>
            </a:extLst>
          </p:cNvPr>
          <p:cNvSpPr>
            <a:spLocks noGrp="1"/>
          </p:cNvSpPr>
          <p:nvPr>
            <p:ph type="sldNum" sz="quarter" idx="10"/>
          </p:nvPr>
        </p:nvSpPr>
        <p:spPr/>
        <p:txBody>
          <a:bodyPr/>
          <a:lstStyle/>
          <a:p>
            <a:pPr>
              <a:defRPr/>
            </a:pPr>
            <a:fld id="{DDA46638-A69A-4CA3-8EF2-320A26C447D5}" type="slidenum">
              <a:rPr lang="zh-CN" altLang="en-US" smtClean="0"/>
              <a:pPr>
                <a:defRPr/>
              </a:pPr>
              <a:t>54</a:t>
            </a:fld>
            <a:endParaRPr lang="en-US" altLang="zh-CN"/>
          </a:p>
        </p:txBody>
      </p:sp>
    </p:spTree>
    <p:extLst>
      <p:ext uri="{BB962C8B-B14F-4D97-AF65-F5344CB8AC3E}">
        <p14:creationId xmlns:p14="http://schemas.microsoft.com/office/powerpoint/2010/main" val="34621328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E4521-F3FA-AA6A-80D2-A6B7AD7291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37B58E-E6D0-87D5-20A3-95D85ABBE7E0}"/>
              </a:ext>
            </a:extLst>
          </p:cNvPr>
          <p:cNvSpPr>
            <a:spLocks noGrp="1" noRot="1" noChangeAspect="1"/>
          </p:cNvSpPr>
          <p:nvPr>
            <p:ph type="sldImg"/>
          </p:nvPr>
        </p:nvSpPr>
        <p:spPr>
          <a:xfrm>
            <a:off x="2311400" y="525463"/>
            <a:ext cx="4673600" cy="2628900"/>
          </a:xfrm>
        </p:spPr>
      </p:sp>
      <p:sp>
        <p:nvSpPr>
          <p:cNvPr id="3" name="Notes Placeholder 2">
            <a:extLst>
              <a:ext uri="{FF2B5EF4-FFF2-40B4-BE49-F238E27FC236}">
                <a16:creationId xmlns:a16="http://schemas.microsoft.com/office/drawing/2014/main" id="{6D21488B-D52C-877E-3BB1-88CAC995E604}"/>
              </a:ext>
            </a:extLst>
          </p:cNvPr>
          <p:cNvSpPr>
            <a:spLocks noGrp="1"/>
          </p:cNvSpPr>
          <p:nvPr>
            <p:ph type="body" idx="1"/>
          </p:nvPr>
        </p:nvSpPr>
        <p:spPr/>
        <p:txBody>
          <a:bodyPr>
            <a:normAutofit/>
          </a:bodyPr>
          <a:lstStyle/>
          <a:p>
            <a:r>
              <a:rPr lang="en-US" dirty="0"/>
              <a:t>https://www.ibm.com/support/knowledgecenter/en/SSEPEK_11.0.0/sqlref/src/tpc/db2z_aggregatefunctionsintro.html</a:t>
            </a:r>
          </a:p>
          <a:p>
            <a:endParaRPr lang="en-US" dirty="0"/>
          </a:p>
          <a:p>
            <a:r>
              <a:rPr lang="en-US" dirty="0"/>
              <a:t>https://www.ibm.com/support/knowledgecenter/en/SS6NHC/com.ibm.swg.im.dashdb.sql.ref.doc/doc/r0011043.html</a:t>
            </a:r>
          </a:p>
          <a:p>
            <a:endParaRPr lang="en-US" dirty="0"/>
          </a:p>
          <a:p>
            <a:endParaRPr lang="en-US" dirty="0"/>
          </a:p>
        </p:txBody>
      </p:sp>
      <p:sp>
        <p:nvSpPr>
          <p:cNvPr id="4" name="Slide Number Placeholder 3">
            <a:extLst>
              <a:ext uri="{FF2B5EF4-FFF2-40B4-BE49-F238E27FC236}">
                <a16:creationId xmlns:a16="http://schemas.microsoft.com/office/drawing/2014/main" id="{AA340D22-509C-1293-F053-BF4F8747FA29}"/>
              </a:ext>
            </a:extLst>
          </p:cNvPr>
          <p:cNvSpPr>
            <a:spLocks noGrp="1"/>
          </p:cNvSpPr>
          <p:nvPr>
            <p:ph type="sldNum" sz="quarter" idx="10"/>
          </p:nvPr>
        </p:nvSpPr>
        <p:spPr/>
        <p:txBody>
          <a:bodyPr/>
          <a:lstStyle/>
          <a:p>
            <a:pPr>
              <a:defRPr/>
            </a:pPr>
            <a:fld id="{DDA46638-A69A-4CA3-8EF2-320A26C447D5}" type="slidenum">
              <a:rPr lang="zh-CN" altLang="en-US" smtClean="0"/>
              <a:pPr>
                <a:defRPr/>
              </a:pPr>
              <a:t>55</a:t>
            </a:fld>
            <a:endParaRPr lang="en-US" altLang="zh-CN"/>
          </a:p>
        </p:txBody>
      </p:sp>
    </p:spTree>
    <p:extLst>
      <p:ext uri="{BB962C8B-B14F-4D97-AF65-F5344CB8AC3E}">
        <p14:creationId xmlns:p14="http://schemas.microsoft.com/office/powerpoint/2010/main" val="36232455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08F7E-103F-95CC-F36C-170E45CED4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3DF2FE-C935-3597-D1F3-9B134040BB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3304F4-8225-BD05-9920-0FCBBDE610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2E885A-400E-4A6A-5726-6EA8098571AC}"/>
              </a:ext>
            </a:extLst>
          </p:cNvPr>
          <p:cNvSpPr>
            <a:spLocks noGrp="1"/>
          </p:cNvSpPr>
          <p:nvPr>
            <p:ph type="sldNum" sz="quarter" idx="5"/>
          </p:nvPr>
        </p:nvSpPr>
        <p:spPr/>
        <p:txBody>
          <a:bodyPr/>
          <a:lstStyle/>
          <a:p>
            <a:fld id="{42938DFF-218C-4948-B31E-06D658EB2B31}" type="slidenum">
              <a:rPr lang="en-US" smtClean="0"/>
              <a:t>58</a:t>
            </a:fld>
            <a:endParaRPr lang="en-US"/>
          </a:p>
        </p:txBody>
      </p:sp>
    </p:spTree>
    <p:extLst>
      <p:ext uri="{BB962C8B-B14F-4D97-AF65-F5344CB8AC3E}">
        <p14:creationId xmlns:p14="http://schemas.microsoft.com/office/powerpoint/2010/main" val="23588703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938DFF-218C-4948-B31E-06D658EB2B31}" type="slidenum">
              <a:rPr lang="en-US" smtClean="0"/>
              <a:t>59</a:t>
            </a:fld>
            <a:endParaRPr lang="en-US"/>
          </a:p>
        </p:txBody>
      </p:sp>
    </p:spTree>
    <p:extLst>
      <p:ext uri="{BB962C8B-B14F-4D97-AF65-F5344CB8AC3E}">
        <p14:creationId xmlns:p14="http://schemas.microsoft.com/office/powerpoint/2010/main" val="2112799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11400" y="525463"/>
            <a:ext cx="4673600" cy="2628900"/>
          </a:xfrm>
        </p:spPr>
      </p:sp>
      <p:sp>
        <p:nvSpPr>
          <p:cNvPr id="3" name="Notes Placeholder 2"/>
          <p:cNvSpPr>
            <a:spLocks noGrp="1"/>
          </p:cNvSpPr>
          <p:nvPr>
            <p:ph type="body" idx="1"/>
          </p:nvPr>
        </p:nvSpPr>
        <p:spPr/>
        <p:txBody>
          <a:bodyPr>
            <a:normAutofit/>
          </a:bodyPr>
          <a:lstStyle/>
          <a:p>
            <a:r>
              <a:rPr lang="en-US" dirty="0"/>
              <a:t>http://publib.boulder.ibm.com/infocenter/db2luw/v9r7/index.jsp?topic=/com.ibm.db2.luw.sql.ref.doc/doc/r0023461.html</a:t>
            </a:r>
          </a:p>
        </p:txBody>
      </p:sp>
      <p:sp>
        <p:nvSpPr>
          <p:cNvPr id="4" name="Slide Number Placeholder 3"/>
          <p:cNvSpPr>
            <a:spLocks noGrp="1"/>
          </p:cNvSpPr>
          <p:nvPr>
            <p:ph type="sldNum" sz="quarter" idx="10"/>
          </p:nvPr>
        </p:nvSpPr>
        <p:spPr/>
        <p:txBody>
          <a:bodyPr/>
          <a:lstStyle/>
          <a:p>
            <a:pPr>
              <a:defRPr/>
            </a:pPr>
            <a:fld id="{DDA46638-A69A-4CA3-8EF2-320A26C447D5}" type="slidenum">
              <a:rPr lang="zh-CN" altLang="en-US" smtClean="0"/>
              <a:pPr>
                <a:defRPr/>
              </a:pPr>
              <a:t>63</a:t>
            </a:fld>
            <a:endParaRPr lang="en-US" altLang="zh-CN"/>
          </a:p>
        </p:txBody>
      </p:sp>
    </p:spTree>
    <p:extLst>
      <p:ext uri="{BB962C8B-B14F-4D97-AF65-F5344CB8AC3E}">
        <p14:creationId xmlns:p14="http://schemas.microsoft.com/office/powerpoint/2010/main" val="25334697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en-US" sz="1800" b="1" dirty="0">
                <a:solidFill>
                  <a:srgbClr val="800000"/>
                </a:solidFill>
                <a:effectLst/>
                <a:latin typeface="Consolas" panose="020B0609020204030204" pitchFamily="49" charset="0"/>
              </a:rPr>
              <a:t>SELECT</a:t>
            </a:r>
            <a:r>
              <a:rPr lang="en-US" sz="1800" dirty="0">
                <a:solidFill>
                  <a:srgbClr val="000000"/>
                </a:solidFill>
                <a:effectLst/>
                <a:latin typeface="Consolas" panose="020B0609020204030204" pitchFamily="49" charset="0"/>
              </a:rPr>
              <a:t> </a:t>
            </a:r>
            <a:r>
              <a:rPr lang="en-US" sz="1800" dirty="0">
                <a:solidFill>
                  <a:srgbClr val="006464"/>
                </a:solidFill>
                <a:effectLst/>
                <a:latin typeface="Consolas" panose="020B0609020204030204" pitchFamily="49" charset="0"/>
              </a:rPr>
              <a:t>WORKDEPT</a:t>
            </a:r>
            <a:r>
              <a:rPr lang="en-US" sz="1800" dirty="0">
                <a:solidFill>
                  <a:srgbClr val="000000"/>
                </a:solidFill>
                <a:effectLst/>
                <a:latin typeface="Consolas" panose="020B0609020204030204" pitchFamily="49" charset="0"/>
              </a:rPr>
              <a:t>, </a:t>
            </a:r>
            <a:r>
              <a:rPr lang="en-US" sz="1800" dirty="0">
                <a:solidFill>
                  <a:srgbClr val="006464"/>
                </a:solidFill>
                <a:effectLst/>
                <a:latin typeface="Consolas" panose="020B0609020204030204" pitchFamily="49" charset="0"/>
              </a:rPr>
              <a:t>LASTNAME</a:t>
            </a:r>
            <a:r>
              <a:rPr lang="en-US" sz="1800" dirty="0">
                <a:solidFill>
                  <a:srgbClr val="000000"/>
                </a:solidFill>
                <a:effectLst/>
                <a:latin typeface="Consolas" panose="020B0609020204030204" pitchFamily="49" charset="0"/>
              </a:rPr>
              <a:t>, </a:t>
            </a:r>
            <a:r>
              <a:rPr lang="en-US" sz="1800" dirty="0">
                <a:solidFill>
                  <a:srgbClr val="006464"/>
                </a:solidFill>
                <a:effectLst/>
                <a:latin typeface="Consolas" panose="020B0609020204030204" pitchFamily="49" charset="0"/>
              </a:rPr>
              <a:t>SALARY</a:t>
            </a:r>
            <a:r>
              <a:rPr lang="en-US" sz="1800" dirty="0">
                <a:solidFill>
                  <a:srgbClr val="000000"/>
                </a:solidFill>
                <a:effectLst/>
                <a:latin typeface="Consolas" panose="020B0609020204030204" pitchFamily="49" charset="0"/>
              </a:rPr>
              <a:t>, </a:t>
            </a:r>
            <a:r>
              <a:rPr lang="en-US" sz="1800" b="1" dirty="0">
                <a:solidFill>
                  <a:srgbClr val="000080"/>
                </a:solidFill>
                <a:effectLst/>
                <a:latin typeface="Consolas" panose="020B0609020204030204" pitchFamily="49" charset="0"/>
              </a:rPr>
              <a:t>DECIMAL</a:t>
            </a:r>
            <a:r>
              <a:rPr lang="en-US" sz="1800" dirty="0">
                <a:solidFill>
                  <a:srgbClr val="000000"/>
                </a:solidFill>
                <a:effectLst/>
                <a:latin typeface="Consolas" panose="020B0609020204030204" pitchFamily="49" charset="0"/>
              </a:rPr>
              <a:t> (</a:t>
            </a:r>
            <a:r>
              <a:rPr lang="en-US" sz="1800" dirty="0">
                <a:solidFill>
                  <a:srgbClr val="006464"/>
                </a:solidFill>
                <a:effectLst/>
                <a:latin typeface="Consolas" panose="020B0609020204030204" pitchFamily="49" charset="0"/>
              </a:rPr>
              <a:t>SALARY</a:t>
            </a:r>
            <a:r>
              <a:rPr lang="en-US" sz="1800" dirty="0">
                <a:solidFill>
                  <a:srgbClr val="000000"/>
                </a:solidFill>
                <a:effectLst/>
                <a:latin typeface="Consolas" panose="020B0609020204030204" pitchFamily="49" charset="0"/>
              </a:rPr>
              <a:t>, </a:t>
            </a:r>
            <a:r>
              <a:rPr lang="en-US" sz="1800" dirty="0">
                <a:solidFill>
                  <a:srgbClr val="0000FF"/>
                </a:solidFill>
                <a:effectLst/>
                <a:latin typeface="Consolas" panose="020B0609020204030204" pitchFamily="49" charset="0"/>
              </a:rPr>
              <a:t>15</a:t>
            </a:r>
            <a:r>
              <a:rPr lang="en-US" sz="1800" dirty="0">
                <a:solidFill>
                  <a:srgbClr val="000000"/>
                </a:solidFill>
                <a:effectLst/>
                <a:latin typeface="Consolas" panose="020B0609020204030204" pitchFamily="49" charset="0"/>
              </a:rPr>
              <a:t>, </a:t>
            </a:r>
            <a:r>
              <a:rPr lang="en-US" sz="1800" dirty="0">
                <a:solidFill>
                  <a:srgbClr val="0000FF"/>
                </a:solidFill>
                <a:effectLst/>
                <a:latin typeface="Consolas" panose="020B0609020204030204" pitchFamily="49" charset="0"/>
              </a:rPr>
              <a:t>0</a:t>
            </a:r>
            <a:r>
              <a:rPr lang="en-US" sz="1800" dirty="0">
                <a:solidFill>
                  <a:srgbClr val="000000"/>
                </a:solidFill>
                <a:effectLst/>
                <a:latin typeface="Consolas" panose="020B0609020204030204" pitchFamily="49" charset="0"/>
              </a:rPr>
              <a:t>) *</a:t>
            </a:r>
            <a:r>
              <a:rPr lang="en-US" sz="1800" dirty="0">
                <a:solidFill>
                  <a:srgbClr val="0000FF"/>
                </a:solidFill>
                <a:effectLst/>
                <a:latin typeface="Consolas" panose="020B0609020204030204" pitchFamily="49" charset="0"/>
              </a:rPr>
              <a:t>100</a:t>
            </a:r>
            <a:r>
              <a:rPr lang="en-US" sz="1800" dirty="0">
                <a:solidFill>
                  <a:srgbClr val="000000"/>
                </a:solidFill>
                <a:effectLst/>
                <a:latin typeface="Consolas" panose="020B0609020204030204" pitchFamily="49" charset="0"/>
              </a:rPr>
              <a:t>/</a:t>
            </a:r>
            <a:r>
              <a:rPr lang="en-US" sz="1800" b="1" dirty="0">
                <a:solidFill>
                  <a:srgbClr val="000080"/>
                </a:solidFill>
                <a:effectLst/>
                <a:latin typeface="Consolas" panose="020B0609020204030204" pitchFamily="49" charset="0"/>
              </a:rPr>
              <a:t>SUM</a:t>
            </a:r>
            <a:r>
              <a:rPr lang="en-US" sz="1800" dirty="0">
                <a:solidFill>
                  <a:srgbClr val="000000"/>
                </a:solidFill>
                <a:effectLst/>
                <a:latin typeface="Consolas" panose="020B0609020204030204" pitchFamily="49" charset="0"/>
              </a:rPr>
              <a:t> (</a:t>
            </a:r>
            <a:r>
              <a:rPr lang="en-US" sz="1800" dirty="0">
                <a:solidFill>
                  <a:srgbClr val="006464"/>
                </a:solidFill>
                <a:effectLst/>
                <a:latin typeface="Consolas" panose="020B0609020204030204" pitchFamily="49" charset="0"/>
              </a:rPr>
              <a:t>SALARY</a:t>
            </a:r>
            <a:r>
              <a:rPr lang="en-US" sz="1800" dirty="0">
                <a:solidFill>
                  <a:srgbClr val="000000"/>
                </a:solidFill>
                <a:effectLst/>
                <a:latin typeface="Consolas" panose="020B0609020204030204" pitchFamily="49" charset="0"/>
              </a:rPr>
              <a:t>) </a:t>
            </a:r>
          </a:p>
          <a:p>
            <a:pPr marL="0" marR="0"/>
            <a:r>
              <a:rPr lang="en-US" sz="1800" b="1" dirty="0">
                <a:solidFill>
                  <a:srgbClr val="800000"/>
                </a:solidFill>
                <a:effectLst/>
                <a:latin typeface="Consolas" panose="020B0609020204030204" pitchFamily="49" charset="0"/>
              </a:rPr>
              <a:t>OVER</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PARTITION</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BY</a:t>
            </a:r>
            <a:r>
              <a:rPr lang="en-US" sz="1800" dirty="0">
                <a:solidFill>
                  <a:srgbClr val="000000"/>
                </a:solidFill>
                <a:effectLst/>
                <a:latin typeface="Consolas" panose="020B0609020204030204" pitchFamily="49" charset="0"/>
              </a:rPr>
              <a:t> WORKDEPT)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DEPT_SALARY_PERCENT </a:t>
            </a:r>
          </a:p>
          <a:p>
            <a:pPr marL="0" marR="0"/>
            <a:r>
              <a:rPr lang="en-US" sz="1800" b="1" dirty="0">
                <a:solidFill>
                  <a:srgbClr val="800000"/>
                </a:solidFill>
                <a:effectLst/>
                <a:latin typeface="Consolas" panose="020B0609020204030204" pitchFamily="49" charset="0"/>
              </a:rPr>
              <a:t>FROM</a:t>
            </a:r>
            <a:r>
              <a:rPr lang="en-US" sz="1800" dirty="0">
                <a:solidFill>
                  <a:srgbClr val="000000"/>
                </a:solidFill>
                <a:effectLst/>
                <a:latin typeface="Consolas" panose="020B0609020204030204" pitchFamily="49" charset="0"/>
              </a:rPr>
              <a:t> </a:t>
            </a:r>
            <a:r>
              <a:rPr lang="en-US" sz="1800" dirty="0">
                <a:solidFill>
                  <a:srgbClr val="8E00C6"/>
                </a:solidFill>
                <a:effectLst/>
                <a:latin typeface="Consolas" panose="020B0609020204030204" pitchFamily="49" charset="0"/>
              </a:rPr>
              <a:t>EMPLOYEE</a:t>
            </a:r>
            <a:r>
              <a:rPr lang="en-US" sz="1800" dirty="0">
                <a:solidFill>
                  <a:srgbClr val="000000"/>
                </a:solidFill>
                <a:effectLst/>
                <a:latin typeface="Consolas" panose="020B0609020204030204" pitchFamily="49" charset="0"/>
              </a:rPr>
              <a:t> </a:t>
            </a:r>
          </a:p>
          <a:p>
            <a:pPr marL="0" marR="0"/>
            <a:r>
              <a:rPr lang="en-US" sz="1800" b="1" dirty="0">
                <a:solidFill>
                  <a:srgbClr val="800000"/>
                </a:solidFill>
                <a:effectLst/>
                <a:latin typeface="Consolas" panose="020B0609020204030204" pitchFamily="49" charset="0"/>
              </a:rPr>
              <a:t>WHERE</a:t>
            </a:r>
            <a:r>
              <a:rPr lang="en-US" sz="1800" dirty="0">
                <a:solidFill>
                  <a:srgbClr val="000000"/>
                </a:solidFill>
                <a:effectLst/>
                <a:latin typeface="Consolas" panose="020B0609020204030204" pitchFamily="49" charset="0"/>
              </a:rPr>
              <a:t> </a:t>
            </a:r>
            <a:r>
              <a:rPr lang="en-US" sz="1800" dirty="0">
                <a:solidFill>
                  <a:srgbClr val="006464"/>
                </a:solidFill>
                <a:effectLst/>
                <a:latin typeface="Consolas" panose="020B0609020204030204" pitchFamily="49" charset="0"/>
              </a:rPr>
              <a:t>WORKDEPT</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IN</a:t>
            </a:r>
            <a:r>
              <a:rPr lang="en-US" sz="1800" dirty="0">
                <a:solidFill>
                  <a:srgbClr val="000000"/>
                </a:solidFill>
                <a:effectLst/>
                <a:latin typeface="Consolas" panose="020B0609020204030204" pitchFamily="49" charset="0"/>
              </a:rPr>
              <a:t> (</a:t>
            </a:r>
            <a:r>
              <a:rPr lang="en-US" sz="1800" dirty="0">
                <a:solidFill>
                  <a:srgbClr val="008000"/>
                </a:solidFill>
                <a:effectLst/>
                <a:latin typeface="Consolas" panose="020B0609020204030204" pitchFamily="49" charset="0"/>
              </a:rPr>
              <a:t>'A00'</a:t>
            </a:r>
            <a:r>
              <a:rPr lang="en-US" sz="1800" dirty="0">
                <a:solidFill>
                  <a:srgbClr val="000000"/>
                </a:solidFill>
                <a:effectLst/>
                <a:latin typeface="Consolas" panose="020B0609020204030204" pitchFamily="49" charset="0"/>
              </a:rPr>
              <a:t>, </a:t>
            </a:r>
            <a:r>
              <a:rPr lang="en-US" sz="1800" dirty="0">
                <a:solidFill>
                  <a:srgbClr val="008000"/>
                </a:solidFill>
                <a:effectLst/>
                <a:latin typeface="Consolas" panose="020B0609020204030204" pitchFamily="49" charset="0"/>
              </a:rPr>
              <a:t>'A11'</a:t>
            </a:r>
            <a:r>
              <a:rPr lang="en-US" sz="1800" dirty="0">
                <a:solidFill>
                  <a:srgbClr val="000000"/>
                </a:solidFill>
                <a:effectLst/>
                <a:latin typeface="Consolas" panose="020B0609020204030204" pitchFamily="49" charset="0"/>
              </a:rPr>
              <a:t> , </a:t>
            </a:r>
            <a:r>
              <a:rPr lang="en-US" sz="1800" dirty="0">
                <a:solidFill>
                  <a:srgbClr val="008000"/>
                </a:solidFill>
                <a:effectLst/>
                <a:latin typeface="Consolas" panose="020B0609020204030204" pitchFamily="49" charset="0"/>
              </a:rPr>
              <a:t>'C01'</a:t>
            </a:r>
            <a:r>
              <a:rPr lang="en-US" sz="1800" dirty="0">
                <a:solidFill>
                  <a:srgbClr val="000000"/>
                </a:solidFill>
                <a:effectLst/>
                <a:latin typeface="Consolas" panose="020B0609020204030204" pitchFamily="49" charset="0"/>
              </a:rPr>
              <a:t>, </a:t>
            </a:r>
            <a:r>
              <a:rPr lang="en-US" sz="1800" dirty="0">
                <a:solidFill>
                  <a:srgbClr val="008000"/>
                </a:solidFill>
                <a:effectLst/>
                <a:latin typeface="Consolas" panose="020B0609020204030204" pitchFamily="49" charset="0"/>
              </a:rPr>
              <a:t>'D1'</a:t>
            </a:r>
            <a:r>
              <a:rPr lang="en-US" sz="1800" dirty="0">
                <a:solidFill>
                  <a:srgbClr val="000000"/>
                </a:solidFill>
                <a:effectLst/>
                <a:latin typeface="Consolas" panose="020B0609020204030204" pitchFamily="49" charset="0"/>
              </a:rPr>
              <a:t>, </a:t>
            </a:r>
            <a:r>
              <a:rPr lang="en-US" sz="1800" dirty="0">
                <a:solidFill>
                  <a:srgbClr val="008000"/>
                </a:solidFill>
                <a:effectLst/>
                <a:latin typeface="Consolas" panose="020B0609020204030204" pitchFamily="49" charset="0"/>
              </a:rPr>
              <a:t>'D11'</a:t>
            </a:r>
            <a:r>
              <a:rPr lang="en-US" sz="1800" dirty="0">
                <a:solidFill>
                  <a:srgbClr val="000000"/>
                </a:solidFill>
                <a:effectLst/>
                <a:latin typeface="Consolas" panose="020B0609020204030204" pitchFamily="49" charset="0"/>
              </a:rPr>
              <a:t>) </a:t>
            </a:r>
          </a:p>
          <a:p>
            <a:pPr marL="0" marR="0"/>
            <a:r>
              <a:rPr lang="en-US" sz="1800" b="1" dirty="0">
                <a:solidFill>
                  <a:srgbClr val="800000"/>
                </a:solidFill>
                <a:effectLst/>
                <a:latin typeface="Consolas" panose="020B0609020204030204" pitchFamily="49" charset="0"/>
              </a:rPr>
              <a:t>ORDER</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BY</a:t>
            </a:r>
            <a:r>
              <a:rPr lang="en-US" sz="1800" dirty="0">
                <a:solidFill>
                  <a:srgbClr val="000000"/>
                </a:solidFill>
                <a:effectLst/>
                <a:latin typeface="Consolas" panose="020B0609020204030204" pitchFamily="49" charset="0"/>
              </a:rPr>
              <a:t> </a:t>
            </a:r>
            <a:r>
              <a:rPr lang="en-US" sz="1800" dirty="0">
                <a:solidFill>
                  <a:srgbClr val="006464"/>
                </a:solidFill>
                <a:effectLst/>
                <a:latin typeface="Consolas" panose="020B0609020204030204" pitchFamily="49" charset="0"/>
              </a:rPr>
              <a:t>WORKDEPT</a:t>
            </a:r>
            <a:r>
              <a:rPr lang="en-US" sz="1800" dirty="0">
                <a:solidFill>
                  <a:srgbClr val="000000"/>
                </a:solidFill>
                <a:effectLst/>
                <a:latin typeface="Consolas" panose="020B0609020204030204" pitchFamily="49" charset="0"/>
              </a:rPr>
              <a:t>, </a:t>
            </a:r>
            <a:r>
              <a:rPr lang="en-US" sz="1800" u="sng" dirty="0">
                <a:solidFill>
                  <a:srgbClr val="6C5151"/>
                </a:solidFill>
                <a:effectLst/>
                <a:latin typeface="Consolas" panose="020B0609020204030204" pitchFamily="49" charset="0"/>
              </a:rPr>
              <a:t>DEPT_SALARY_PERCENT</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DESC</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endParaRPr lang="en-US" dirty="0"/>
          </a:p>
        </p:txBody>
      </p:sp>
      <p:sp>
        <p:nvSpPr>
          <p:cNvPr id="4" name="Slide Number Placeholder 3"/>
          <p:cNvSpPr>
            <a:spLocks noGrp="1"/>
          </p:cNvSpPr>
          <p:nvPr>
            <p:ph type="sldNum" sz="quarter" idx="5"/>
          </p:nvPr>
        </p:nvSpPr>
        <p:spPr/>
        <p:txBody>
          <a:bodyPr/>
          <a:lstStyle/>
          <a:p>
            <a:fld id="{42938DFF-218C-4948-B31E-06D658EB2B31}" type="slidenum">
              <a:rPr lang="en-US" smtClean="0"/>
              <a:t>67</a:t>
            </a:fld>
            <a:endParaRPr lang="en-US"/>
          </a:p>
        </p:txBody>
      </p:sp>
    </p:spTree>
    <p:extLst>
      <p:ext uri="{BB962C8B-B14F-4D97-AF65-F5344CB8AC3E}">
        <p14:creationId xmlns:p14="http://schemas.microsoft.com/office/powerpoint/2010/main" val="37800505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11400" y="525463"/>
            <a:ext cx="4673600" cy="2628900"/>
          </a:xfrm>
        </p:spPr>
      </p:sp>
      <p:sp>
        <p:nvSpPr>
          <p:cNvPr id="3" name="Notes Placeholder 2"/>
          <p:cNvSpPr>
            <a:spLocks noGrp="1"/>
          </p:cNvSpPr>
          <p:nvPr>
            <p:ph type="body" idx="1"/>
          </p:nvPr>
        </p:nvSpPr>
        <p:spPr/>
        <p:txBody>
          <a:bodyPr/>
          <a:lstStyle/>
          <a:p>
            <a:r>
              <a:rPr lang="en-US" dirty="0"/>
              <a:t>WITH SUM_DEPT_SALARY AS (</a:t>
            </a:r>
          </a:p>
          <a:p>
            <a:r>
              <a:rPr lang="en-US" dirty="0"/>
              <a:t>	SELECT WORKDEPT, SUM(SALARY) AS SUM_SALARY</a:t>
            </a:r>
          </a:p>
          <a:p>
            <a:r>
              <a:rPr lang="en-US" dirty="0"/>
              <a:t>	FROM EMPLOYEE</a:t>
            </a:r>
          </a:p>
          <a:p>
            <a:r>
              <a:rPr lang="en-US" dirty="0"/>
              <a:t>	GROUP BY WORKDEPT</a:t>
            </a:r>
          </a:p>
          <a:p>
            <a:r>
              <a:rPr lang="en-US" dirty="0"/>
              <a:t>)</a:t>
            </a:r>
          </a:p>
          <a:p>
            <a:endParaRPr lang="en-US" dirty="0"/>
          </a:p>
          <a:p>
            <a:r>
              <a:rPr lang="en-US" dirty="0"/>
              <a:t>SELECT WORKDEPT, LASTNAME, SALARY, </a:t>
            </a:r>
          </a:p>
          <a:p>
            <a:r>
              <a:rPr lang="en-US" dirty="0"/>
              <a:t>		DECIMAL (SALARY, 15,0)*100/</a:t>
            </a:r>
            <a:r>
              <a:rPr lang="en-US" dirty="0" err="1"/>
              <a:t>a.SUM_SALARY</a:t>
            </a:r>
            <a:endParaRPr lang="en-US" dirty="0"/>
          </a:p>
          <a:p>
            <a:r>
              <a:rPr lang="en-US" dirty="0"/>
              <a:t>FROM EMPLOYEE e and SUM_DEPT_SALARY a</a:t>
            </a:r>
          </a:p>
          <a:p>
            <a:r>
              <a:rPr lang="en-US" dirty="0"/>
              <a:t>WHERE </a:t>
            </a:r>
            <a:r>
              <a:rPr lang="en-US" dirty="0" err="1"/>
              <a:t>e.WORKDEPT</a:t>
            </a:r>
            <a:r>
              <a:rPr lang="en-US" dirty="0"/>
              <a:t> = </a:t>
            </a:r>
            <a:r>
              <a:rPr lang="en-US" dirty="0" err="1"/>
              <a:t>a.WORKDEPT</a:t>
            </a:r>
            <a:r>
              <a:rPr lang="en-US" dirty="0"/>
              <a:t> AND</a:t>
            </a:r>
          </a:p>
          <a:p>
            <a:r>
              <a:rPr lang="en-US" dirty="0"/>
              <a:t>      </a:t>
            </a:r>
            <a:r>
              <a:rPr lang="en-US" dirty="0" err="1"/>
              <a:t>e.WORKDEPT</a:t>
            </a:r>
            <a:r>
              <a:rPr lang="en-US" dirty="0"/>
              <a:t> IN ('A01', 'A11', 'B01', </a:t>
            </a:r>
          </a:p>
          <a:p>
            <a:r>
              <a:rPr lang="en-US" dirty="0"/>
              <a:t>	  'C01', 'D1', 'D11');</a:t>
            </a:r>
          </a:p>
          <a:p>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42938DFF-218C-4948-B31E-06D658EB2B31}" type="slidenum">
              <a:rPr lang="en-US" smtClean="0"/>
              <a:t>68</a:t>
            </a:fld>
            <a:endParaRPr lang="en-US"/>
          </a:p>
        </p:txBody>
      </p:sp>
    </p:spTree>
    <p:extLst>
      <p:ext uri="{BB962C8B-B14F-4D97-AF65-F5344CB8AC3E}">
        <p14:creationId xmlns:p14="http://schemas.microsoft.com/office/powerpoint/2010/main" val="29053691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938DFF-218C-4948-B31E-06D658EB2B31}" type="slidenum">
              <a:rPr lang="en-US" smtClean="0"/>
              <a:t>69</a:t>
            </a:fld>
            <a:endParaRPr lang="en-US"/>
          </a:p>
        </p:txBody>
      </p:sp>
    </p:spTree>
    <p:extLst>
      <p:ext uri="{BB962C8B-B14F-4D97-AF65-F5344CB8AC3E}">
        <p14:creationId xmlns:p14="http://schemas.microsoft.com/office/powerpoint/2010/main" val="29037295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11400" y="525463"/>
            <a:ext cx="4673600" cy="2628900"/>
          </a:xfrm>
        </p:spPr>
      </p:sp>
      <p:sp>
        <p:nvSpPr>
          <p:cNvPr id="3" name="Notes Placeholder 2"/>
          <p:cNvSpPr>
            <a:spLocks noGrp="1"/>
          </p:cNvSpPr>
          <p:nvPr>
            <p:ph type="body" idx="1"/>
          </p:nvPr>
        </p:nvSpPr>
        <p:spPr/>
        <p:txBody>
          <a:bodyPr/>
          <a:lstStyle/>
          <a:p>
            <a:r>
              <a:rPr lang="en-US"/>
              <a:t>https://www.ibm.com/support/knowledgecenter/SSEPGG_11.5.0/com.ibm.db2.luw.sql.ref.doc/doc/r0023461.html</a:t>
            </a:r>
            <a:endParaRPr lang="en-US" dirty="0"/>
          </a:p>
        </p:txBody>
      </p:sp>
      <p:sp>
        <p:nvSpPr>
          <p:cNvPr id="4" name="Slide Number Placeholder 3"/>
          <p:cNvSpPr>
            <a:spLocks noGrp="1"/>
          </p:cNvSpPr>
          <p:nvPr>
            <p:ph type="sldNum" sz="quarter" idx="10"/>
          </p:nvPr>
        </p:nvSpPr>
        <p:spPr/>
        <p:txBody>
          <a:bodyPr/>
          <a:lstStyle/>
          <a:p>
            <a:pPr>
              <a:defRPr/>
            </a:pPr>
            <a:fld id="{DDA46638-A69A-4CA3-8EF2-320A26C447D5}" type="slidenum">
              <a:rPr lang="zh-CN" altLang="en-US" smtClean="0"/>
              <a:pPr>
                <a:defRPr/>
              </a:pPr>
              <a:t>71</a:t>
            </a:fld>
            <a:endParaRPr lang="en-US" altLang="zh-CN"/>
          </a:p>
        </p:txBody>
      </p:sp>
    </p:spTree>
    <p:extLst>
      <p:ext uri="{BB962C8B-B14F-4D97-AF65-F5344CB8AC3E}">
        <p14:creationId xmlns:p14="http://schemas.microsoft.com/office/powerpoint/2010/main" val="20778169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Other databases have similar OVER based queries for Windows.</a:t>
            </a:r>
          </a:p>
          <a:p>
            <a:r>
              <a:rPr lang="en-US" sz="1400" dirty="0"/>
              <a:t>e.g.: Oracle:</a:t>
            </a:r>
          </a:p>
          <a:p>
            <a:r>
              <a:rPr lang="en-US" dirty="0"/>
              <a:t>https://blogs.oracle.com/oraclemagazine/a-window-into-the-world-of-analytic-functions</a:t>
            </a:r>
          </a:p>
          <a:p>
            <a:endParaRPr lang="en-US" dirty="0"/>
          </a:p>
        </p:txBody>
      </p:sp>
      <p:sp>
        <p:nvSpPr>
          <p:cNvPr id="4" name="Slide Number Placeholder 3"/>
          <p:cNvSpPr>
            <a:spLocks noGrp="1"/>
          </p:cNvSpPr>
          <p:nvPr>
            <p:ph type="sldNum" sz="quarter" idx="5"/>
          </p:nvPr>
        </p:nvSpPr>
        <p:spPr/>
        <p:txBody>
          <a:bodyPr/>
          <a:lstStyle/>
          <a:p>
            <a:fld id="{42938DFF-218C-4948-B31E-06D658EB2B31}" type="slidenum">
              <a:rPr lang="en-US" smtClean="0"/>
              <a:t>74</a:t>
            </a:fld>
            <a:endParaRPr lang="en-US"/>
          </a:p>
        </p:txBody>
      </p:sp>
    </p:spTree>
    <p:extLst>
      <p:ext uri="{BB962C8B-B14F-4D97-AF65-F5344CB8AC3E}">
        <p14:creationId xmlns:p14="http://schemas.microsoft.com/office/powerpoint/2010/main" val="20186069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11400" y="525463"/>
            <a:ext cx="4673600" cy="2628900"/>
          </a:xfrm>
        </p:spPr>
      </p:sp>
      <p:sp>
        <p:nvSpPr>
          <p:cNvPr id="3" name="Notes Placeholder 2"/>
          <p:cNvSpPr>
            <a:spLocks noGrp="1"/>
          </p:cNvSpPr>
          <p:nvPr>
            <p:ph type="body" idx="1"/>
          </p:nvPr>
        </p:nvSpPr>
        <p:spPr/>
        <p:txBody>
          <a:bodyPr>
            <a:normAutofit/>
          </a:bodyPr>
          <a:lstStyle/>
          <a:p>
            <a:r>
              <a:rPr lang="en-US" dirty="0"/>
              <a:t>http://www.ibm.com/developerworks/data/library/techarticle/0208kuznetsov/0208kuznetsov.html</a:t>
            </a:r>
          </a:p>
          <a:p>
            <a:r>
              <a:rPr lang="en-US" dirty="0"/>
              <a:t>http://download.oracle.com/docs/cd/B10500_01/server.920/a96520/mv.htm</a:t>
            </a:r>
          </a:p>
          <a:p>
            <a:r>
              <a:rPr lang="en-US" dirty="0"/>
              <a:t>http://</a:t>
            </a:r>
            <a:r>
              <a:rPr lang="en-US" dirty="0" err="1"/>
              <a:t>www.benjaminarai.com/benjamin_arai/index.php?display</a:t>
            </a:r>
            <a:r>
              <a:rPr lang="en-US" dirty="0"/>
              <a:t>=/</a:t>
            </a:r>
            <a:r>
              <a:rPr lang="en-US" dirty="0" err="1"/>
              <a:t>postgresql_materialized_views.php</a:t>
            </a:r>
            <a:endParaRPr lang="en-US"/>
          </a:p>
          <a:p>
            <a:endParaRPr lang="en-US"/>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DDA46638-A69A-4CA3-8EF2-320A26C447D5}" type="slidenum">
              <a:rPr lang="zh-CN" altLang="en-US" smtClean="0"/>
              <a:pPr>
                <a:defRPr/>
              </a:pPr>
              <a:t>78</a:t>
            </a:fld>
            <a:endParaRPr lang="en-US" altLang="zh-CN"/>
          </a:p>
        </p:txBody>
      </p:sp>
    </p:spTree>
    <p:extLst>
      <p:ext uri="{BB962C8B-B14F-4D97-AF65-F5344CB8AC3E}">
        <p14:creationId xmlns:p14="http://schemas.microsoft.com/office/powerpoint/2010/main" val="22163119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Repartitioned data from a table, or part of a table, in a partitioned database environment</a:t>
            </a:r>
          </a:p>
          <a:p>
            <a:endParaRPr lang="en-US" dirty="0"/>
          </a:p>
        </p:txBody>
      </p:sp>
      <p:sp>
        <p:nvSpPr>
          <p:cNvPr id="4" name="Slide Number Placeholder 3"/>
          <p:cNvSpPr>
            <a:spLocks noGrp="1"/>
          </p:cNvSpPr>
          <p:nvPr>
            <p:ph type="sldNum" sz="quarter" idx="5"/>
          </p:nvPr>
        </p:nvSpPr>
        <p:spPr/>
        <p:txBody>
          <a:bodyPr/>
          <a:lstStyle/>
          <a:p>
            <a:fld id="{42938DFF-218C-4948-B31E-06D658EB2B31}" type="slidenum">
              <a:rPr lang="en-US" smtClean="0"/>
              <a:t>79</a:t>
            </a:fld>
            <a:endParaRPr lang="en-US"/>
          </a:p>
        </p:txBody>
      </p:sp>
    </p:spTree>
    <p:extLst>
      <p:ext uri="{BB962C8B-B14F-4D97-AF65-F5344CB8AC3E}">
        <p14:creationId xmlns:p14="http://schemas.microsoft.com/office/powerpoint/2010/main" val="10830644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https://www.ibm.com/docs/en/db2/12.1?topic=tables-materialized-query</a:t>
            </a:r>
          </a:p>
          <a:p>
            <a:endParaRPr lang="en-US" dirty="0"/>
          </a:p>
        </p:txBody>
      </p:sp>
      <p:sp>
        <p:nvSpPr>
          <p:cNvPr id="4" name="Slide Number Placeholder 3"/>
          <p:cNvSpPr>
            <a:spLocks noGrp="1"/>
          </p:cNvSpPr>
          <p:nvPr>
            <p:ph type="sldNum" sz="quarter" idx="5"/>
          </p:nvPr>
        </p:nvSpPr>
        <p:spPr/>
        <p:txBody>
          <a:bodyPr/>
          <a:lstStyle/>
          <a:p>
            <a:fld id="{42938DFF-218C-4948-B31E-06D658EB2B31}" type="slidenum">
              <a:rPr lang="en-US" smtClean="0"/>
              <a:t>82</a:t>
            </a:fld>
            <a:endParaRPr lang="en-US"/>
          </a:p>
        </p:txBody>
      </p:sp>
    </p:spTree>
    <p:extLst>
      <p:ext uri="{BB962C8B-B14F-4D97-AF65-F5344CB8AC3E}">
        <p14:creationId xmlns:p14="http://schemas.microsoft.com/office/powerpoint/2010/main" val="4148626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cci.emory.edu/cms" TargetMode="External"/><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cci.emory.edu/cms" TargetMode="External"/><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BU Full Page Photo">
    <p:spTree>
      <p:nvGrpSpPr>
        <p:cNvPr id="1" name=""/>
        <p:cNvGrpSpPr/>
        <p:nvPr/>
      </p:nvGrpSpPr>
      <p:grpSpPr>
        <a:xfrm>
          <a:off x="0" y="0"/>
          <a:ext cx="0" cy="0"/>
          <a:chOff x="0" y="0"/>
          <a:chExt cx="0" cy="0"/>
        </a:xfrm>
      </p:grpSpPr>
      <p:cxnSp>
        <p:nvCxnSpPr>
          <p:cNvPr id="7" name="Straight Connector 6"/>
          <p:cNvCxnSpPr/>
          <p:nvPr userDrawn="1"/>
        </p:nvCxnSpPr>
        <p:spPr>
          <a:xfrm>
            <a:off x="0" y="1082675"/>
            <a:ext cx="12192000" cy="1588"/>
          </a:xfrm>
          <a:prstGeom prst="line">
            <a:avLst/>
          </a:prstGeom>
          <a:ln w="12700">
            <a:solidFill>
              <a:srgbClr val="B60225"/>
            </a:solidFill>
          </a:ln>
          <a:effectLst/>
        </p:spPr>
        <p:style>
          <a:lnRef idx="2">
            <a:schemeClr val="accent1"/>
          </a:lnRef>
          <a:fillRef idx="0">
            <a:schemeClr val="accent1"/>
          </a:fillRef>
          <a:effectRef idx="1">
            <a:schemeClr val="accent1"/>
          </a:effectRef>
          <a:fontRef idx="minor">
            <a:schemeClr val="tx1"/>
          </a:fontRef>
        </p:style>
      </p:cxnSp>
      <p:sp>
        <p:nvSpPr>
          <p:cNvPr id="6" name="Text Placeholder 12"/>
          <p:cNvSpPr>
            <a:spLocks noGrp="1"/>
          </p:cNvSpPr>
          <p:nvPr>
            <p:ph type="body" sz="quarter" idx="14"/>
          </p:nvPr>
        </p:nvSpPr>
        <p:spPr>
          <a:xfrm>
            <a:off x="0" y="6288062"/>
            <a:ext cx="12192000" cy="467416"/>
          </a:xfrm>
          <a:prstGeom prst="rect">
            <a:avLst/>
          </a:prstGeom>
        </p:spPr>
        <p:txBody>
          <a:bodyPr anchor="ctr"/>
          <a:lstStyle>
            <a:lvl1pPr algn="ctr">
              <a:buFontTx/>
              <a:buNone/>
              <a:defRPr sz="2000" baseline="0">
                <a:solidFill>
                  <a:srgbClr val="FFFFFF"/>
                </a:solidFill>
                <a:latin typeface="Helvetica"/>
                <a:cs typeface="Helvetica"/>
              </a:defRPr>
            </a:lvl1pPr>
          </a:lstStyle>
          <a:p>
            <a:pPr lvl="0"/>
            <a:r>
              <a:rPr lang="en-US" dirty="0"/>
              <a:t>Click to edit Master text styles</a:t>
            </a:r>
          </a:p>
        </p:txBody>
      </p:sp>
      <p:sp>
        <p:nvSpPr>
          <p:cNvPr id="9" name="Picture Placeholder 2"/>
          <p:cNvSpPr>
            <a:spLocks noGrp="1"/>
          </p:cNvSpPr>
          <p:nvPr>
            <p:ph type="pic" idx="1"/>
          </p:nvPr>
        </p:nvSpPr>
        <p:spPr>
          <a:xfrm>
            <a:off x="0" y="1091260"/>
            <a:ext cx="12192000" cy="5205623"/>
          </a:xfrm>
          <a:solidFill>
            <a:schemeClr val="bg1">
              <a:lumMod val="85000"/>
            </a:schemeClr>
          </a:solidFill>
        </p:spPr>
        <p:txBody>
          <a:bodyPr rtlCol="0">
            <a:normAutofit/>
          </a:bodyPr>
          <a:lstStyle>
            <a:lvl1pPr marL="0" indent="0">
              <a:buNone/>
              <a:defRPr sz="32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Tree>
    <p:extLst>
      <p:ext uri="{BB962C8B-B14F-4D97-AF65-F5344CB8AC3E}">
        <p14:creationId xmlns:p14="http://schemas.microsoft.com/office/powerpoint/2010/main" val="1829764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BU Title Slide">
    <p:spTree>
      <p:nvGrpSpPr>
        <p:cNvPr id="1" name=""/>
        <p:cNvGrpSpPr/>
        <p:nvPr/>
      </p:nvGrpSpPr>
      <p:grpSpPr>
        <a:xfrm>
          <a:off x="0" y="0"/>
          <a:ext cx="0" cy="0"/>
          <a:chOff x="0" y="0"/>
          <a:chExt cx="0" cy="0"/>
        </a:xfrm>
      </p:grpSpPr>
      <p:sp>
        <p:nvSpPr>
          <p:cNvPr id="7" name="Text Placeholder 12"/>
          <p:cNvSpPr>
            <a:spLocks noGrp="1"/>
          </p:cNvSpPr>
          <p:nvPr>
            <p:ph type="body" sz="quarter" idx="14"/>
          </p:nvPr>
        </p:nvSpPr>
        <p:spPr>
          <a:xfrm>
            <a:off x="0" y="6362700"/>
            <a:ext cx="12192000" cy="495300"/>
          </a:xfrm>
          <a:prstGeom prst="rect">
            <a:avLst/>
          </a:prstGeom>
        </p:spPr>
        <p:txBody>
          <a:bodyPr/>
          <a:lstStyle>
            <a:lvl1pPr algn="ctr">
              <a:buFontTx/>
              <a:buNone/>
              <a:defRPr sz="2000" baseline="0">
                <a:solidFill>
                  <a:srgbClr val="FFFFFF"/>
                </a:solidFill>
                <a:latin typeface="Helvetica"/>
                <a:cs typeface="Helvetica"/>
              </a:defRPr>
            </a:lvl1pPr>
          </a:lstStyle>
          <a:p>
            <a:pPr lvl="0"/>
            <a:r>
              <a:rPr lang="en-US" dirty="0"/>
              <a:t>Click to edit Master text styles</a:t>
            </a:r>
          </a:p>
        </p:txBody>
      </p:sp>
      <p:sp>
        <p:nvSpPr>
          <p:cNvPr id="6" name="Text Placeholder 7"/>
          <p:cNvSpPr>
            <a:spLocks noGrp="1"/>
          </p:cNvSpPr>
          <p:nvPr>
            <p:ph type="body" sz="quarter" idx="15"/>
          </p:nvPr>
        </p:nvSpPr>
        <p:spPr>
          <a:xfrm>
            <a:off x="609600" y="1066801"/>
            <a:ext cx="10972800" cy="5211917"/>
          </a:xfrm>
        </p:spPr>
        <p:txBody>
          <a:bodyPr tIns="0" rIns="0" bIns="0" anchor="ctr"/>
          <a:lstStyle>
            <a:lvl1pPr algn="ctr">
              <a:buFontTx/>
              <a:buNone/>
              <a:defRPr sz="4400">
                <a:solidFill>
                  <a:srgbClr val="B60225"/>
                </a:solidFill>
              </a:defRPr>
            </a:lvl1pPr>
            <a:lvl2pPr marL="228600" indent="-228600" algn="ctr">
              <a:buClr>
                <a:srgbClr val="C03137"/>
              </a:buClr>
              <a:buFontTx/>
              <a:buNone/>
              <a:defRPr sz="2400"/>
            </a:lvl2pPr>
            <a:lvl3pPr marL="458788" indent="-230188" algn="ctr">
              <a:buFontTx/>
              <a:buNone/>
              <a:defRPr/>
            </a:lvl3pPr>
            <a:lvl4pPr marL="458788" indent="-230188" algn="ctr">
              <a:buFontTx/>
              <a:buNone/>
              <a:defRPr/>
            </a:lvl4pPr>
            <a:lvl5pPr marL="458788" indent="-230188" algn="ctr">
              <a:buFontTx/>
              <a:buNone/>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095076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BU Left Bulleted Text">
    <p:spTree>
      <p:nvGrpSpPr>
        <p:cNvPr id="1" name=""/>
        <p:cNvGrpSpPr/>
        <p:nvPr/>
      </p:nvGrpSpPr>
      <p:grpSpPr>
        <a:xfrm>
          <a:off x="0" y="0"/>
          <a:ext cx="0" cy="0"/>
          <a:chOff x="0" y="0"/>
          <a:chExt cx="0" cy="0"/>
        </a:xfrm>
      </p:grpSpPr>
      <p:sp>
        <p:nvSpPr>
          <p:cNvPr id="5" name="Text Placeholder 12"/>
          <p:cNvSpPr>
            <a:spLocks noGrp="1"/>
          </p:cNvSpPr>
          <p:nvPr>
            <p:ph type="body" sz="quarter" idx="14"/>
          </p:nvPr>
        </p:nvSpPr>
        <p:spPr>
          <a:xfrm>
            <a:off x="0" y="6362700"/>
            <a:ext cx="12192000" cy="495300"/>
          </a:xfrm>
          <a:prstGeom prst="rect">
            <a:avLst/>
          </a:prstGeom>
        </p:spPr>
        <p:txBody>
          <a:bodyPr/>
          <a:lstStyle>
            <a:lvl1pPr algn="ctr">
              <a:buFontTx/>
              <a:buNone/>
              <a:defRPr sz="2000" baseline="0">
                <a:solidFill>
                  <a:srgbClr val="FFFFFF"/>
                </a:solidFill>
                <a:latin typeface="Helvetica"/>
                <a:cs typeface="Helvetica"/>
              </a:defRPr>
            </a:lvl1pPr>
          </a:lstStyle>
          <a:p>
            <a:pPr lvl="0"/>
            <a:r>
              <a:rPr lang="en-US" dirty="0"/>
              <a:t>Click to edit Master text styles</a:t>
            </a:r>
          </a:p>
        </p:txBody>
      </p:sp>
      <p:sp>
        <p:nvSpPr>
          <p:cNvPr id="8" name="Text Placeholder 7"/>
          <p:cNvSpPr>
            <a:spLocks noGrp="1"/>
          </p:cNvSpPr>
          <p:nvPr>
            <p:ph type="body" sz="quarter" idx="15"/>
          </p:nvPr>
        </p:nvSpPr>
        <p:spPr>
          <a:xfrm>
            <a:off x="609600" y="1367658"/>
            <a:ext cx="10972800" cy="4804543"/>
          </a:xfrm>
        </p:spPr>
        <p:txBody>
          <a:bodyPr tIns="0" rIns="0" bIns="0"/>
          <a:lstStyle>
            <a:lvl1pPr>
              <a:buFontTx/>
              <a:buNone/>
              <a:defRPr>
                <a:solidFill>
                  <a:srgbClr val="B60225"/>
                </a:solidFill>
              </a:defRPr>
            </a:lvl1pPr>
            <a:lvl2pPr marL="228600" indent="-228600">
              <a:buClr>
                <a:srgbClr val="C03137"/>
              </a:buClr>
              <a:buFont typeface="Arial"/>
              <a:buChar char="•"/>
              <a:defRPr sz="2400"/>
            </a:lvl2pPr>
            <a:lvl3pPr marL="458788" indent="-230188">
              <a:defRPr/>
            </a:lvl3pPr>
            <a:lvl4pPr marL="458788" indent="-230188">
              <a:defRPr/>
            </a:lvl4pPr>
            <a:lvl5pPr marL="458788" indent="-230188">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3429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BU Bulleted Text 3 Photo">
    <p:spTree>
      <p:nvGrpSpPr>
        <p:cNvPr id="1" name=""/>
        <p:cNvGrpSpPr/>
        <p:nvPr/>
      </p:nvGrpSpPr>
      <p:grpSpPr>
        <a:xfrm>
          <a:off x="0" y="0"/>
          <a:ext cx="0" cy="0"/>
          <a:chOff x="0" y="0"/>
          <a:chExt cx="0" cy="0"/>
        </a:xfrm>
      </p:grpSpPr>
      <p:sp>
        <p:nvSpPr>
          <p:cNvPr id="4" name="Content Placeholder 2"/>
          <p:cNvSpPr>
            <a:spLocks noGrp="1"/>
          </p:cNvSpPr>
          <p:nvPr>
            <p:ph idx="12"/>
          </p:nvPr>
        </p:nvSpPr>
        <p:spPr>
          <a:xfrm>
            <a:off x="609599" y="1384048"/>
            <a:ext cx="7034288" cy="4788153"/>
          </a:xfrm>
        </p:spPr>
        <p:txBody>
          <a:bodyPr tIns="0"/>
          <a:lstStyle>
            <a:lvl1pPr marL="0" indent="0">
              <a:buNone/>
              <a:defRPr sz="2600">
                <a:solidFill>
                  <a:srgbClr val="B60225"/>
                </a:solidFill>
              </a:defRPr>
            </a:lvl1pPr>
            <a:lvl2pPr marL="228600" indent="-228600" algn="l">
              <a:buClr>
                <a:srgbClr val="B60225"/>
              </a:buClr>
              <a:buFont typeface="Arial"/>
              <a:buChar char="•"/>
              <a:defRPr sz="2200"/>
            </a:lvl2pPr>
          </a:lstStyle>
          <a:p>
            <a:pPr lvl="0"/>
            <a:r>
              <a:rPr lang="en-US" dirty="0"/>
              <a:t>Click to edit Master text styles</a:t>
            </a:r>
          </a:p>
          <a:p>
            <a:pPr lvl="1"/>
            <a:r>
              <a:rPr lang="en-US" dirty="0"/>
              <a:t>Second level</a:t>
            </a:r>
          </a:p>
        </p:txBody>
      </p:sp>
      <p:sp>
        <p:nvSpPr>
          <p:cNvPr id="8" name="Text Placeholder 12"/>
          <p:cNvSpPr>
            <a:spLocks noGrp="1"/>
          </p:cNvSpPr>
          <p:nvPr>
            <p:ph type="body" sz="quarter" idx="15"/>
          </p:nvPr>
        </p:nvSpPr>
        <p:spPr>
          <a:xfrm>
            <a:off x="0" y="6362700"/>
            <a:ext cx="12192000" cy="495300"/>
          </a:xfrm>
          <a:prstGeom prst="rect">
            <a:avLst/>
          </a:prstGeom>
        </p:spPr>
        <p:txBody>
          <a:bodyPr/>
          <a:lstStyle>
            <a:lvl1pPr algn="ctr">
              <a:buFontTx/>
              <a:buNone/>
              <a:defRPr sz="2000" baseline="0">
                <a:solidFill>
                  <a:srgbClr val="FFFFFF"/>
                </a:solidFill>
                <a:latin typeface="Helvetica"/>
                <a:cs typeface="Helvetica"/>
              </a:defRPr>
            </a:lvl1pPr>
          </a:lstStyle>
          <a:p>
            <a:pPr lvl="0"/>
            <a:r>
              <a:rPr lang="en-US"/>
              <a:t>Click to edit Master text styles</a:t>
            </a:r>
          </a:p>
        </p:txBody>
      </p:sp>
      <p:sp>
        <p:nvSpPr>
          <p:cNvPr id="11" name="Picture Placeholder 2"/>
          <p:cNvSpPr>
            <a:spLocks noGrp="1"/>
          </p:cNvSpPr>
          <p:nvPr>
            <p:ph type="pic" idx="17"/>
          </p:nvPr>
        </p:nvSpPr>
        <p:spPr>
          <a:xfrm>
            <a:off x="8116291" y="1094980"/>
            <a:ext cx="4075709" cy="1661390"/>
          </a:xfrm>
          <a:solidFill>
            <a:schemeClr val="bg1">
              <a:lumMod val="8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15" name="Picture Placeholder 2"/>
          <p:cNvSpPr>
            <a:spLocks noGrp="1"/>
          </p:cNvSpPr>
          <p:nvPr>
            <p:ph type="pic" idx="21"/>
          </p:nvPr>
        </p:nvSpPr>
        <p:spPr>
          <a:xfrm>
            <a:off x="8116291" y="4619039"/>
            <a:ext cx="4075709" cy="1655702"/>
          </a:xfrm>
          <a:solidFill>
            <a:schemeClr val="bg1">
              <a:lumMod val="8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16" name="Picture Placeholder 2"/>
          <p:cNvSpPr>
            <a:spLocks noGrp="1"/>
          </p:cNvSpPr>
          <p:nvPr>
            <p:ph type="pic" idx="22"/>
          </p:nvPr>
        </p:nvSpPr>
        <p:spPr>
          <a:xfrm>
            <a:off x="8116291" y="2850446"/>
            <a:ext cx="4075709" cy="1655702"/>
          </a:xfrm>
          <a:solidFill>
            <a:schemeClr val="bg1">
              <a:lumMod val="8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Tree>
    <p:extLst>
      <p:ext uri="{BB962C8B-B14F-4D97-AF65-F5344CB8AC3E}">
        <p14:creationId xmlns:p14="http://schemas.microsoft.com/office/powerpoint/2010/main" val="2203271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BU Bulleted Text 1 Photo">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6714862" y="1094981"/>
            <a:ext cx="5477137" cy="5173084"/>
          </a:xfrm>
          <a:solidFill>
            <a:schemeClr val="bg1">
              <a:lumMod val="8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8" name="Text Placeholder 12"/>
          <p:cNvSpPr>
            <a:spLocks noGrp="1"/>
          </p:cNvSpPr>
          <p:nvPr>
            <p:ph type="body" sz="quarter" idx="15"/>
          </p:nvPr>
        </p:nvSpPr>
        <p:spPr>
          <a:xfrm>
            <a:off x="0" y="6362700"/>
            <a:ext cx="12192000" cy="495300"/>
          </a:xfrm>
          <a:prstGeom prst="rect">
            <a:avLst/>
          </a:prstGeom>
        </p:spPr>
        <p:txBody>
          <a:bodyPr/>
          <a:lstStyle>
            <a:lvl1pPr algn="ctr">
              <a:buFontTx/>
              <a:buNone/>
              <a:defRPr sz="2000" baseline="0">
                <a:solidFill>
                  <a:srgbClr val="FFFFFF"/>
                </a:solidFill>
                <a:latin typeface="Helvetica"/>
                <a:cs typeface="Helvetica"/>
              </a:defRPr>
            </a:lvl1pPr>
          </a:lstStyle>
          <a:p>
            <a:pPr lvl="0"/>
            <a:r>
              <a:rPr lang="en-US"/>
              <a:t>Click to edit Master text styles</a:t>
            </a:r>
          </a:p>
        </p:txBody>
      </p:sp>
      <p:sp>
        <p:nvSpPr>
          <p:cNvPr id="10" name="Content Placeholder 2"/>
          <p:cNvSpPr>
            <a:spLocks noGrp="1"/>
          </p:cNvSpPr>
          <p:nvPr>
            <p:ph idx="12"/>
          </p:nvPr>
        </p:nvSpPr>
        <p:spPr>
          <a:xfrm>
            <a:off x="609600" y="1392240"/>
            <a:ext cx="5638801" cy="4805361"/>
          </a:xfrm>
        </p:spPr>
        <p:txBody>
          <a:bodyPr tIns="0"/>
          <a:lstStyle>
            <a:lvl1pPr marL="0" indent="0">
              <a:buNone/>
              <a:defRPr sz="2600">
                <a:solidFill>
                  <a:srgbClr val="B60225"/>
                </a:solidFill>
              </a:defRPr>
            </a:lvl1pPr>
            <a:lvl2pPr marL="228600" indent="-228600" algn="l">
              <a:buClr>
                <a:srgbClr val="B60225"/>
              </a:buClr>
              <a:buFont typeface="Arial"/>
              <a:buChar char="•"/>
              <a:defRPr sz="2200"/>
            </a:lvl2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4096294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1601" y="169333"/>
            <a:ext cx="11909852" cy="717937"/>
          </a:xfrm>
        </p:spPr>
        <p:txBody>
          <a:bodyPr/>
          <a:lstStyle/>
          <a:p>
            <a:r>
              <a:rPr lang="en-US" dirty="0"/>
              <a:t>Click to edit Master title style</a:t>
            </a:r>
          </a:p>
        </p:txBody>
      </p:sp>
      <p:sp>
        <p:nvSpPr>
          <p:cNvPr id="3" name="Content Placeholder 2"/>
          <p:cNvSpPr>
            <a:spLocks noGrp="1"/>
          </p:cNvSpPr>
          <p:nvPr>
            <p:ph idx="1"/>
          </p:nvPr>
        </p:nvSpPr>
        <p:spPr>
          <a:xfrm>
            <a:off x="198226" y="931863"/>
            <a:ext cx="11813228" cy="5316538"/>
          </a:xfrm>
        </p:spPr>
        <p:txBody>
          <a:bodyPr/>
          <a:lstStyle>
            <a:lvl1pPr>
              <a:spcAft>
                <a:spcPts val="300"/>
              </a:spcAft>
              <a:defRPr>
                <a:latin typeface="Verdana" pitchFamily="34" charset="0"/>
              </a:defRPr>
            </a:lvl1pPr>
            <a:lvl2pPr>
              <a:spcAft>
                <a:spcPts val="300"/>
              </a:spcAft>
              <a:defRPr>
                <a:latin typeface="Verdana" pitchFamily="34" charset="0"/>
              </a:defRPr>
            </a:lvl2pPr>
            <a:lvl3pPr>
              <a:spcAft>
                <a:spcPts val="300"/>
              </a:spcAft>
              <a:defRPr>
                <a:latin typeface="Verdana" pitchFamily="34" charset="0"/>
              </a:defRPr>
            </a:lvl3pPr>
            <a:lvl4pPr>
              <a:spcAft>
                <a:spcPts val="300"/>
              </a:spcAft>
              <a:defRPr>
                <a:latin typeface="Verdana" pitchFamily="34" charset="0"/>
              </a:defRPr>
            </a:lvl4pPr>
            <a:lvl5pPr>
              <a:spcAft>
                <a:spcPts val="300"/>
              </a:spcAft>
              <a:defRPr>
                <a:latin typeface="Verdan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9144227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48DA987-F755-88BE-C273-E55F3DB81491}"/>
              </a:ext>
            </a:extLst>
          </p:cNvPr>
          <p:cNvSpPr/>
          <p:nvPr userDrawn="1"/>
        </p:nvSpPr>
        <p:spPr bwMode="auto">
          <a:xfrm>
            <a:off x="1" y="2282757"/>
            <a:ext cx="12192000" cy="2441643"/>
          </a:xfrm>
          <a:prstGeom prst="rect">
            <a:avLst/>
          </a:prstGeom>
          <a:solidFill>
            <a:srgbClr val="8D1A1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sp>
        <p:nvSpPr>
          <p:cNvPr id="3" name="Content Placeholder 2"/>
          <p:cNvSpPr>
            <a:spLocks noGrp="1"/>
          </p:cNvSpPr>
          <p:nvPr>
            <p:ph idx="1" hasCustomPrompt="1"/>
          </p:nvPr>
        </p:nvSpPr>
        <p:spPr>
          <a:xfrm>
            <a:off x="205899" y="2590801"/>
            <a:ext cx="11813228" cy="1905000"/>
          </a:xfrm>
        </p:spPr>
        <p:txBody>
          <a:bodyPr anchor="ctr" anchorCtr="0"/>
          <a:lstStyle>
            <a:lvl1pPr marL="0" indent="0" algn="ctr">
              <a:spcAft>
                <a:spcPts val="300"/>
              </a:spcAft>
              <a:buNone/>
              <a:defRPr sz="3400">
                <a:solidFill>
                  <a:schemeClr val="bg1"/>
                </a:solidFill>
                <a:latin typeface="Verdana" pitchFamily="34" charset="0"/>
              </a:defRPr>
            </a:lvl1pPr>
            <a:lvl2pPr>
              <a:spcAft>
                <a:spcPts val="300"/>
              </a:spcAft>
              <a:defRPr>
                <a:latin typeface="Verdana" pitchFamily="34" charset="0"/>
              </a:defRPr>
            </a:lvl2pPr>
            <a:lvl3pPr>
              <a:spcAft>
                <a:spcPts val="300"/>
              </a:spcAft>
              <a:defRPr>
                <a:latin typeface="Verdana" pitchFamily="34" charset="0"/>
              </a:defRPr>
            </a:lvl3pPr>
            <a:lvl4pPr>
              <a:spcAft>
                <a:spcPts val="300"/>
              </a:spcAft>
              <a:defRPr>
                <a:latin typeface="Verdana" pitchFamily="34" charset="0"/>
              </a:defRPr>
            </a:lvl4pPr>
            <a:lvl5pPr>
              <a:spcAft>
                <a:spcPts val="300"/>
              </a:spcAft>
              <a:defRPr>
                <a:latin typeface="Verdana" pitchFamily="34" charset="0"/>
              </a:defRPr>
            </a:lvl5pPr>
          </a:lstStyle>
          <a:p>
            <a:pPr lvl="0"/>
            <a:r>
              <a:rPr lang="en-US" dirty="0"/>
              <a:t>Common Tabe Expressions </a:t>
            </a:r>
          </a:p>
          <a:p>
            <a:pPr lvl="0"/>
            <a:r>
              <a:rPr lang="en-US" dirty="0"/>
              <a:t>and Recursive Queries</a:t>
            </a:r>
          </a:p>
        </p:txBody>
      </p:sp>
      <p:sp>
        <p:nvSpPr>
          <p:cNvPr id="4" name="Rectangle 3">
            <a:extLst>
              <a:ext uri="{FF2B5EF4-FFF2-40B4-BE49-F238E27FC236}">
                <a16:creationId xmlns:a16="http://schemas.microsoft.com/office/drawing/2014/main" id="{C1C57061-B223-29B6-C8FE-305EDC1AD3FD}"/>
              </a:ext>
            </a:extLst>
          </p:cNvPr>
          <p:cNvSpPr/>
          <p:nvPr userDrawn="1"/>
        </p:nvSpPr>
        <p:spPr bwMode="auto">
          <a:xfrm>
            <a:off x="0" y="4876800"/>
            <a:ext cx="12192000" cy="1981200"/>
          </a:xfrm>
          <a:prstGeom prst="rect">
            <a:avLst/>
          </a:prstGeom>
          <a:solidFill>
            <a:schemeClr val="bg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cxnSp>
        <p:nvCxnSpPr>
          <p:cNvPr id="13" name="Straight Connector 12">
            <a:extLst>
              <a:ext uri="{FF2B5EF4-FFF2-40B4-BE49-F238E27FC236}">
                <a16:creationId xmlns:a16="http://schemas.microsoft.com/office/drawing/2014/main" id="{FB37A6CC-31BA-59FE-B641-46A1E17BF830}"/>
              </a:ext>
            </a:extLst>
          </p:cNvPr>
          <p:cNvCxnSpPr/>
          <p:nvPr userDrawn="1"/>
        </p:nvCxnSpPr>
        <p:spPr bwMode="auto">
          <a:xfrm>
            <a:off x="0" y="4330439"/>
            <a:ext cx="12192000" cy="0"/>
          </a:xfrm>
          <a:prstGeom prst="line">
            <a:avLst/>
          </a:prstGeom>
          <a:noFill/>
          <a:ln w="12700" cap="flat" cmpd="sng" algn="ctr">
            <a:solidFill>
              <a:schemeClr val="tx1"/>
            </a:solidFill>
            <a:prstDash val="solid"/>
            <a:round/>
            <a:headEnd type="none" w="med" len="med"/>
            <a:tailEnd type="none" w="med" len="med"/>
          </a:ln>
          <a:effectLst/>
        </p:spPr>
      </p:cxnSp>
      <p:cxnSp>
        <p:nvCxnSpPr>
          <p:cNvPr id="14" name="Straight Connector 13">
            <a:extLst>
              <a:ext uri="{FF2B5EF4-FFF2-40B4-BE49-F238E27FC236}">
                <a16:creationId xmlns:a16="http://schemas.microsoft.com/office/drawing/2014/main" id="{3BADC6BC-4043-8EA5-9FDD-134773F612DB}"/>
              </a:ext>
            </a:extLst>
          </p:cNvPr>
          <p:cNvCxnSpPr/>
          <p:nvPr userDrawn="1"/>
        </p:nvCxnSpPr>
        <p:spPr bwMode="auto">
          <a:xfrm>
            <a:off x="0" y="4343401"/>
            <a:ext cx="12192000" cy="0"/>
          </a:xfrm>
          <a:prstGeom prst="line">
            <a:avLst/>
          </a:prstGeom>
          <a:noFill/>
          <a:ln w="12700" cap="flat" cmpd="sng" algn="ctr">
            <a:solidFill>
              <a:schemeClr val="bg1"/>
            </a:solidFill>
            <a:prstDash val="solid"/>
            <a:round/>
            <a:headEnd type="none" w="med" len="med"/>
            <a:tailEnd type="none" w="med" len="med"/>
          </a:ln>
          <a:effectLst/>
        </p:spPr>
      </p:cxnSp>
      <p:cxnSp>
        <p:nvCxnSpPr>
          <p:cNvPr id="17" name="Straight Connector 16">
            <a:extLst>
              <a:ext uri="{FF2B5EF4-FFF2-40B4-BE49-F238E27FC236}">
                <a16:creationId xmlns:a16="http://schemas.microsoft.com/office/drawing/2014/main" id="{67A22648-D334-3753-E71E-73FC38FC9F50}"/>
              </a:ext>
            </a:extLst>
          </p:cNvPr>
          <p:cNvCxnSpPr/>
          <p:nvPr userDrawn="1"/>
        </p:nvCxnSpPr>
        <p:spPr bwMode="auto">
          <a:xfrm>
            <a:off x="0" y="2688083"/>
            <a:ext cx="12192000" cy="0"/>
          </a:xfrm>
          <a:prstGeom prst="line">
            <a:avLst/>
          </a:prstGeom>
          <a:noFill/>
          <a:ln w="12700" cap="flat" cmpd="sng" algn="ctr">
            <a:solidFill>
              <a:schemeClr val="tx1"/>
            </a:solidFill>
            <a:prstDash val="solid"/>
            <a:round/>
            <a:headEnd type="none" w="med" len="med"/>
            <a:tailEnd type="none" w="med" len="med"/>
          </a:ln>
          <a:effectLst/>
        </p:spPr>
      </p:cxnSp>
      <p:cxnSp>
        <p:nvCxnSpPr>
          <p:cNvPr id="18" name="Straight Connector 17">
            <a:extLst>
              <a:ext uri="{FF2B5EF4-FFF2-40B4-BE49-F238E27FC236}">
                <a16:creationId xmlns:a16="http://schemas.microsoft.com/office/drawing/2014/main" id="{FBE8D5CE-DBAB-0295-774E-CFA11CEB30D8}"/>
              </a:ext>
            </a:extLst>
          </p:cNvPr>
          <p:cNvCxnSpPr/>
          <p:nvPr userDrawn="1"/>
        </p:nvCxnSpPr>
        <p:spPr bwMode="auto">
          <a:xfrm>
            <a:off x="0" y="2701045"/>
            <a:ext cx="12192000" cy="0"/>
          </a:xfrm>
          <a:prstGeom prst="line">
            <a:avLst/>
          </a:prstGeom>
          <a:noFill/>
          <a:ln w="12700" cap="flat" cmpd="sng" algn="ctr">
            <a:solidFill>
              <a:schemeClr val="bg1"/>
            </a:solidFill>
            <a:prstDash val="solid"/>
            <a:round/>
            <a:headEnd type="none" w="med" len="med"/>
            <a:tailEnd type="none" w="med" len="med"/>
          </a:ln>
          <a:effectLst/>
        </p:spPr>
      </p:cxnSp>
      <p:sp>
        <p:nvSpPr>
          <p:cNvPr id="19" name="Rectangle 18">
            <a:extLst>
              <a:ext uri="{FF2B5EF4-FFF2-40B4-BE49-F238E27FC236}">
                <a16:creationId xmlns:a16="http://schemas.microsoft.com/office/drawing/2014/main" id="{080A516C-91FA-B4EC-0709-8FB583F970D7}"/>
              </a:ext>
            </a:extLst>
          </p:cNvPr>
          <p:cNvSpPr/>
          <p:nvPr userDrawn="1"/>
        </p:nvSpPr>
        <p:spPr bwMode="auto">
          <a:xfrm>
            <a:off x="0" y="-3243"/>
            <a:ext cx="12192000" cy="1981200"/>
          </a:xfrm>
          <a:prstGeom prst="rect">
            <a:avLst/>
          </a:prstGeom>
          <a:solidFill>
            <a:schemeClr val="bg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spTree>
    <p:extLst>
      <p:ext uri="{BB962C8B-B14F-4D97-AF65-F5344CB8AC3E}">
        <p14:creationId xmlns:p14="http://schemas.microsoft.com/office/powerpoint/2010/main" val="336714331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40384197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62001" y="1295401"/>
            <a:ext cx="5568951" cy="5408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34151" y="1295401"/>
            <a:ext cx="5568949" cy="5408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687543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3921642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429117110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4356824"/>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43337348"/>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4419600"/>
            <a:ext cx="11506200" cy="727705"/>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304800" y="612775"/>
            <a:ext cx="11506200" cy="449262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304800" y="5367338"/>
            <a:ext cx="11506200" cy="10334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211137921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7454857"/>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351" y="515939"/>
            <a:ext cx="2851149" cy="61880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23900" y="515939"/>
            <a:ext cx="8350251" cy="61880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765970"/>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1601" y="169333"/>
            <a:ext cx="11909852" cy="717937"/>
          </a:xfrm>
        </p:spPr>
        <p:txBody>
          <a:bodyPr/>
          <a:lstStyle/>
          <a:p>
            <a:r>
              <a:rPr lang="en-US" dirty="0"/>
              <a:t>Click to edit Master title style</a:t>
            </a:r>
          </a:p>
        </p:txBody>
      </p:sp>
      <p:sp>
        <p:nvSpPr>
          <p:cNvPr id="3" name="Content Placeholder 2"/>
          <p:cNvSpPr>
            <a:spLocks noGrp="1"/>
          </p:cNvSpPr>
          <p:nvPr>
            <p:ph idx="1"/>
          </p:nvPr>
        </p:nvSpPr>
        <p:spPr>
          <a:xfrm>
            <a:off x="198226" y="931863"/>
            <a:ext cx="11813228" cy="5316538"/>
          </a:xfrm>
        </p:spPr>
        <p:txBody>
          <a:bodyPr/>
          <a:lstStyle>
            <a:lvl1pPr>
              <a:spcAft>
                <a:spcPts val="300"/>
              </a:spcAft>
              <a:defRPr>
                <a:latin typeface="Verdana" pitchFamily="34" charset="0"/>
              </a:defRPr>
            </a:lvl1pPr>
            <a:lvl2pPr>
              <a:spcAft>
                <a:spcPts val="300"/>
              </a:spcAft>
              <a:defRPr>
                <a:latin typeface="Verdana" pitchFamily="34" charset="0"/>
              </a:defRPr>
            </a:lvl2pPr>
            <a:lvl3pPr>
              <a:spcAft>
                <a:spcPts val="300"/>
              </a:spcAft>
              <a:defRPr>
                <a:latin typeface="Verdana" pitchFamily="34" charset="0"/>
              </a:defRPr>
            </a:lvl3pPr>
            <a:lvl4pPr>
              <a:spcAft>
                <a:spcPts val="300"/>
              </a:spcAft>
              <a:defRPr>
                <a:latin typeface="Verdana" pitchFamily="34" charset="0"/>
              </a:defRPr>
            </a:lvl4pPr>
            <a:lvl5pPr>
              <a:spcAft>
                <a:spcPts val="300"/>
              </a:spcAft>
              <a:defRPr>
                <a:latin typeface="Verdan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62001" y="1295401"/>
            <a:ext cx="5568951" cy="5408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34151" y="1295401"/>
            <a:ext cx="5568949" cy="5408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351" y="515939"/>
            <a:ext cx="2851149" cy="61880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23900" y="515939"/>
            <a:ext cx="8350251" cy="61880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2878"/>
        </a:solidFill>
        <a:effectLst/>
      </p:bgPr>
    </p:bg>
    <p:spTree>
      <p:nvGrpSpPr>
        <p:cNvPr id="1" name=""/>
        <p:cNvGrpSpPr/>
        <p:nvPr/>
      </p:nvGrpSpPr>
      <p:grpSpPr>
        <a:xfrm>
          <a:off x="0" y="0"/>
          <a:ext cx="0" cy="0"/>
          <a:chOff x="0" y="0"/>
          <a:chExt cx="0" cy="0"/>
        </a:xfrm>
      </p:grpSpPr>
      <p:sp>
        <p:nvSpPr>
          <p:cNvPr id="4" name="Rectangle 3"/>
          <p:cNvSpPr>
            <a:spLocks noChangeArrowheads="1"/>
          </p:cNvSpPr>
          <p:nvPr/>
        </p:nvSpPr>
        <p:spPr bwMode="auto">
          <a:xfrm>
            <a:off x="1629834" y="2973388"/>
            <a:ext cx="10562167" cy="2741612"/>
          </a:xfrm>
          <a:prstGeom prst="rect">
            <a:avLst/>
          </a:prstGeom>
          <a:solidFill>
            <a:srgbClr val="CCCCCC"/>
          </a:solidFill>
          <a:ln w="9525">
            <a:noFill/>
            <a:miter lim="800000"/>
            <a:headEnd/>
            <a:tailEnd/>
          </a:ln>
          <a:effectLst/>
        </p:spPr>
        <p:txBody>
          <a:bodyPr wrap="none" anchor="ctr"/>
          <a:lstStyle/>
          <a:p>
            <a:pPr algn="ctr" defTabSz="457200"/>
            <a:endParaRPr lang="en-US" sz="1800" b="0">
              <a:solidFill>
                <a:srgbClr val="000000"/>
              </a:solidFill>
              <a:latin typeface="Arial" charset="0"/>
              <a:ea typeface="ＭＳ Ｐゴシック" pitchFamily="34" charset="-128"/>
              <a:cs typeface="+mn-cs"/>
            </a:endParaRPr>
          </a:p>
        </p:txBody>
      </p:sp>
      <p:sp>
        <p:nvSpPr>
          <p:cNvPr id="5" name="Rectangle 7"/>
          <p:cNvSpPr>
            <a:spLocks noChangeArrowheads="1"/>
          </p:cNvSpPr>
          <p:nvPr/>
        </p:nvSpPr>
        <p:spPr bwMode="auto">
          <a:xfrm>
            <a:off x="2946400" y="1906588"/>
            <a:ext cx="8128000" cy="1066800"/>
          </a:xfrm>
          <a:prstGeom prst="rect">
            <a:avLst/>
          </a:prstGeom>
          <a:noFill/>
          <a:ln w="9525">
            <a:noFill/>
            <a:miter lim="800000"/>
            <a:headEnd/>
            <a:tailEnd/>
          </a:ln>
          <a:effectLst/>
        </p:spPr>
        <p:txBody>
          <a:bodyPr anchor="ctr"/>
          <a:lstStyle/>
          <a:p>
            <a:pPr defTabSz="457200" eaLnBrk="0" hangingPunct="0"/>
            <a:endParaRPr lang="de-DE" sz="1800" b="0">
              <a:solidFill>
                <a:srgbClr val="000000"/>
              </a:solidFill>
              <a:latin typeface="Arial" charset="0"/>
              <a:ea typeface="ＭＳ Ｐゴシック" pitchFamily="34" charset="-128"/>
              <a:cs typeface="+mn-cs"/>
            </a:endParaRPr>
          </a:p>
        </p:txBody>
      </p:sp>
      <p:sp>
        <p:nvSpPr>
          <p:cNvPr id="6" name="Rectangle 5"/>
          <p:cNvSpPr>
            <a:spLocks noChangeArrowheads="1"/>
          </p:cNvSpPr>
          <p:nvPr/>
        </p:nvSpPr>
        <p:spPr bwMode="auto">
          <a:xfrm>
            <a:off x="1627718" y="2927350"/>
            <a:ext cx="10572749" cy="46038"/>
          </a:xfrm>
          <a:prstGeom prst="rect">
            <a:avLst/>
          </a:prstGeom>
          <a:solidFill>
            <a:schemeClr val="bg1"/>
          </a:solidFill>
          <a:ln w="9525">
            <a:noFill/>
            <a:miter lim="800000"/>
            <a:headEnd/>
            <a:tailEnd/>
          </a:ln>
          <a:effectLst/>
        </p:spPr>
        <p:txBody>
          <a:bodyPr wrap="none" anchor="ctr"/>
          <a:lstStyle/>
          <a:p>
            <a:pPr algn="ctr" defTabSz="457200"/>
            <a:endParaRPr lang="en-US" sz="1800" b="0">
              <a:solidFill>
                <a:srgbClr val="000000"/>
              </a:solidFill>
              <a:latin typeface="Arial" charset="0"/>
              <a:ea typeface="ＭＳ Ｐゴシック" pitchFamily="34" charset="-128"/>
              <a:cs typeface="+mn-cs"/>
            </a:endParaRPr>
          </a:p>
        </p:txBody>
      </p:sp>
      <p:sp>
        <p:nvSpPr>
          <p:cNvPr id="7" name="Rectangle 13"/>
          <p:cNvSpPr>
            <a:spLocks noChangeArrowheads="1"/>
          </p:cNvSpPr>
          <p:nvPr/>
        </p:nvSpPr>
        <p:spPr bwMode="auto">
          <a:xfrm>
            <a:off x="12701" y="2962276"/>
            <a:ext cx="12187767" cy="9525"/>
          </a:xfrm>
          <a:prstGeom prst="rect">
            <a:avLst/>
          </a:prstGeom>
          <a:solidFill>
            <a:srgbClr val="336699"/>
          </a:solidFill>
          <a:ln w="9525">
            <a:noFill/>
            <a:miter lim="800000"/>
            <a:headEnd/>
            <a:tailEnd/>
          </a:ln>
          <a:effectLst/>
        </p:spPr>
        <p:txBody>
          <a:bodyPr wrap="none" anchor="ctr"/>
          <a:lstStyle/>
          <a:p>
            <a:pPr algn="ctr" defTabSz="457200"/>
            <a:endParaRPr lang="en-US" sz="1800" b="0">
              <a:solidFill>
                <a:srgbClr val="000000"/>
              </a:solidFill>
              <a:latin typeface="Arial" charset="0"/>
              <a:ea typeface="ＭＳ Ｐゴシック" pitchFamily="34" charset="-128"/>
              <a:cs typeface="+mn-cs"/>
            </a:endParaRPr>
          </a:p>
        </p:txBody>
      </p:sp>
      <p:sp>
        <p:nvSpPr>
          <p:cNvPr id="8" name="Rectangle 2"/>
          <p:cNvSpPr>
            <a:spLocks noChangeArrowheads="1"/>
          </p:cNvSpPr>
          <p:nvPr/>
        </p:nvSpPr>
        <p:spPr bwMode="auto">
          <a:xfrm>
            <a:off x="0" y="1"/>
            <a:ext cx="1627717" cy="6056313"/>
          </a:xfrm>
          <a:prstGeom prst="rect">
            <a:avLst/>
          </a:prstGeom>
          <a:solidFill>
            <a:srgbClr val="D28E00"/>
          </a:solidFill>
          <a:ln w="9525">
            <a:noFill/>
            <a:miter lim="800000"/>
            <a:headEnd/>
            <a:tailEnd/>
          </a:ln>
          <a:effectLst/>
        </p:spPr>
        <p:txBody>
          <a:bodyPr wrap="none" anchor="ctr"/>
          <a:lstStyle/>
          <a:p>
            <a:pPr algn="ctr" defTabSz="457200"/>
            <a:endParaRPr lang="en-US" sz="1800" b="0">
              <a:solidFill>
                <a:srgbClr val="000000"/>
              </a:solidFill>
              <a:latin typeface="Arial" charset="0"/>
              <a:ea typeface="ＭＳ Ｐゴシック" pitchFamily="34" charset="-128"/>
              <a:cs typeface="+mn-cs"/>
            </a:endParaRPr>
          </a:p>
        </p:txBody>
      </p:sp>
      <p:pic>
        <p:nvPicPr>
          <p:cNvPr id="9" name="Picture 2" descr="Emory | Center for Comprehensive Informatics">
            <a:hlinkClick r:id="rId2" tooltip="Emory | Center for Comprehensive Informatics"/>
          </p:cNvPr>
          <p:cNvPicPr>
            <a:picLocks noChangeAspect="1" noChangeArrowheads="1"/>
          </p:cNvPicPr>
          <p:nvPr/>
        </p:nvPicPr>
        <p:blipFill>
          <a:blip r:embed="rId3" cstate="print"/>
          <a:srcRect/>
          <a:stretch>
            <a:fillRect/>
          </a:stretch>
        </p:blipFill>
        <p:spPr bwMode="auto">
          <a:xfrm>
            <a:off x="5842000" y="152400"/>
            <a:ext cx="6350000" cy="495300"/>
          </a:xfrm>
          <a:prstGeom prst="rect">
            <a:avLst/>
          </a:prstGeom>
          <a:noFill/>
          <a:ln w="9525">
            <a:noFill/>
            <a:miter lim="800000"/>
            <a:headEnd/>
            <a:tailEnd/>
          </a:ln>
        </p:spPr>
      </p:pic>
      <p:sp>
        <p:nvSpPr>
          <p:cNvPr id="344073" name="Rectangle 9"/>
          <p:cNvSpPr>
            <a:spLocks noGrp="1" noChangeArrowheads="1"/>
          </p:cNvSpPr>
          <p:nvPr>
            <p:ph type="subTitle" sz="quarter" idx="1"/>
          </p:nvPr>
        </p:nvSpPr>
        <p:spPr>
          <a:xfrm>
            <a:off x="3454400" y="4648200"/>
            <a:ext cx="7924800" cy="684212"/>
          </a:xfrm>
        </p:spPr>
        <p:txBody>
          <a:bodyPr rIns="0"/>
          <a:lstStyle>
            <a:lvl1pPr marL="0" indent="0">
              <a:buFontTx/>
              <a:buNone/>
              <a:defRPr sz="2800">
                <a:latin typeface="Verdana" pitchFamily="34" charset="0"/>
              </a:defRPr>
            </a:lvl1pPr>
          </a:lstStyle>
          <a:p>
            <a:r>
              <a:rPr lang="en-US"/>
              <a:t>Click to edit Master subtitle style</a:t>
            </a:r>
            <a:endParaRPr lang="de-DE" dirty="0"/>
          </a:p>
        </p:txBody>
      </p:sp>
      <p:sp>
        <p:nvSpPr>
          <p:cNvPr id="344074" name="Rectangle 10"/>
          <p:cNvSpPr>
            <a:spLocks noGrp="1" noChangeArrowheads="1"/>
          </p:cNvSpPr>
          <p:nvPr>
            <p:ph type="ctrTitle" sz="quarter"/>
          </p:nvPr>
        </p:nvSpPr>
        <p:spPr>
          <a:xfrm>
            <a:off x="3454400" y="3810000"/>
            <a:ext cx="7924800" cy="838200"/>
          </a:xfrm>
        </p:spPr>
        <p:txBody>
          <a:bodyPr rIns="0" anchor="b"/>
          <a:lstStyle>
            <a:lvl1pPr>
              <a:defRPr sz="3200">
                <a:latin typeface="Verdana" pitchFamily="34" charset="0"/>
              </a:defRPr>
            </a:lvl1pPr>
          </a:lstStyle>
          <a:p>
            <a:r>
              <a:rPr lang="en-US"/>
              <a:t>Click to edit Master title style</a:t>
            </a:r>
            <a:endParaRPr lang="de-DE" dirty="0"/>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762001" y="1447800"/>
            <a:ext cx="11341100" cy="5256213"/>
          </a:xfrm>
        </p:spPr>
        <p:txBody>
          <a:bodyPr/>
          <a:lstStyle>
            <a:lvl1pPr>
              <a:spcAft>
                <a:spcPts val="300"/>
              </a:spcAft>
              <a:defRPr>
                <a:latin typeface="Verdana" pitchFamily="34" charset="0"/>
              </a:defRPr>
            </a:lvl1pPr>
            <a:lvl2pPr>
              <a:spcAft>
                <a:spcPts val="300"/>
              </a:spcAft>
              <a:defRPr>
                <a:latin typeface="Verdana" pitchFamily="34" charset="0"/>
              </a:defRPr>
            </a:lvl2pPr>
            <a:lvl3pPr>
              <a:spcAft>
                <a:spcPts val="300"/>
              </a:spcAft>
              <a:defRPr>
                <a:latin typeface="Verdana" pitchFamily="34" charset="0"/>
              </a:defRPr>
            </a:lvl3pPr>
            <a:lvl4pPr>
              <a:spcAft>
                <a:spcPts val="300"/>
              </a:spcAft>
              <a:defRPr>
                <a:latin typeface="Verdana" pitchFamily="34" charset="0"/>
              </a:defRPr>
            </a:lvl4pPr>
            <a:lvl5pPr>
              <a:spcAft>
                <a:spcPts val="300"/>
              </a:spcAft>
              <a:defRPr>
                <a:latin typeface="Verdan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62001" y="1295401"/>
            <a:ext cx="5568951" cy="5408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34151" y="1295401"/>
            <a:ext cx="5568949" cy="5408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Title 1"/>
          <p:cNvSpPr txBox="1">
            <a:spLocks/>
          </p:cNvSpPr>
          <p:nvPr/>
        </p:nvSpPr>
        <p:spPr bwMode="auto">
          <a:xfrm>
            <a:off x="723900" y="515938"/>
            <a:ext cx="11404600" cy="779462"/>
          </a:xfrm>
          <a:prstGeom prst="rect">
            <a:avLst/>
          </a:prstGeom>
          <a:noFill/>
          <a:ln w="9525">
            <a:noFill/>
            <a:miter lim="800000"/>
            <a:headEnd/>
            <a:tailEnd/>
          </a:ln>
        </p:spPr>
        <p:txBody>
          <a:bodyPr lIns="0" tIns="0" anchor="ctr"/>
          <a:lstStyle/>
          <a:p>
            <a:pPr eaLnBrk="0" hangingPunct="0">
              <a:lnSpc>
                <a:spcPct val="95000"/>
              </a:lnSpc>
              <a:defRPr/>
            </a:pPr>
            <a:r>
              <a:rPr lang="en-US" sz="2600" b="0">
                <a:solidFill>
                  <a:srgbClr val="003399"/>
                </a:solidFill>
                <a:latin typeface="Verdana" charset="0"/>
                <a:ea typeface="ＭＳ Ｐゴシック" charset="-128"/>
                <a:cs typeface="ＭＳ Ｐゴシック" charset="-128"/>
              </a:rPr>
              <a:t>Click to edit Master title style</a:t>
            </a:r>
          </a:p>
        </p:txBody>
      </p:sp>
      <p:sp>
        <p:nvSpPr>
          <p:cNvPr id="3" name="Text Placeholder 2"/>
          <p:cNvSpPr>
            <a:spLocks noGrp="1"/>
          </p:cNvSpPr>
          <p:nvPr>
            <p:ph type="body" idx="1"/>
          </p:nvPr>
        </p:nvSpPr>
        <p:spPr>
          <a:xfrm>
            <a:off x="8128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28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5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965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1" y="623887"/>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969933" y="623888"/>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12801" y="1785938"/>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351" y="515939"/>
            <a:ext cx="2851149" cy="61880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23900" y="515939"/>
            <a:ext cx="8350251" cy="61880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2878"/>
        </a:solidFill>
        <a:effectLst/>
      </p:bgPr>
    </p:bg>
    <p:spTree>
      <p:nvGrpSpPr>
        <p:cNvPr id="1" name=""/>
        <p:cNvGrpSpPr/>
        <p:nvPr/>
      </p:nvGrpSpPr>
      <p:grpSpPr>
        <a:xfrm>
          <a:off x="0" y="0"/>
          <a:ext cx="0" cy="0"/>
          <a:chOff x="0" y="0"/>
          <a:chExt cx="0" cy="0"/>
        </a:xfrm>
      </p:grpSpPr>
      <p:sp>
        <p:nvSpPr>
          <p:cNvPr id="4" name="Rectangle 3"/>
          <p:cNvSpPr>
            <a:spLocks noChangeArrowheads="1"/>
          </p:cNvSpPr>
          <p:nvPr/>
        </p:nvSpPr>
        <p:spPr bwMode="auto">
          <a:xfrm>
            <a:off x="1629834" y="2973388"/>
            <a:ext cx="10562167" cy="2741612"/>
          </a:xfrm>
          <a:prstGeom prst="rect">
            <a:avLst/>
          </a:prstGeom>
          <a:solidFill>
            <a:srgbClr val="CCCCCC"/>
          </a:solidFill>
          <a:ln w="9525">
            <a:noFill/>
            <a:miter lim="800000"/>
            <a:headEnd/>
            <a:tailEnd/>
          </a:ln>
          <a:effectLst/>
        </p:spPr>
        <p:txBody>
          <a:bodyPr wrap="none" anchor="ctr"/>
          <a:lstStyle/>
          <a:p>
            <a:pPr algn="ctr" defTabSz="457200"/>
            <a:endParaRPr lang="en-US" sz="1800" b="0">
              <a:solidFill>
                <a:prstClr val="black"/>
              </a:solidFill>
              <a:latin typeface="Arial" pitchFamily="34" charset="0"/>
              <a:ea typeface="ＭＳ Ｐゴシック" pitchFamily="34" charset="-128"/>
              <a:cs typeface="+mn-cs"/>
            </a:endParaRPr>
          </a:p>
        </p:txBody>
      </p:sp>
      <p:sp>
        <p:nvSpPr>
          <p:cNvPr id="5" name="Rectangle 7"/>
          <p:cNvSpPr>
            <a:spLocks noChangeArrowheads="1"/>
          </p:cNvSpPr>
          <p:nvPr/>
        </p:nvSpPr>
        <p:spPr bwMode="auto">
          <a:xfrm>
            <a:off x="2946400" y="1906588"/>
            <a:ext cx="8128000" cy="1066800"/>
          </a:xfrm>
          <a:prstGeom prst="rect">
            <a:avLst/>
          </a:prstGeom>
          <a:noFill/>
          <a:ln w="9525">
            <a:noFill/>
            <a:miter lim="800000"/>
            <a:headEnd/>
            <a:tailEnd/>
          </a:ln>
          <a:effectLst/>
        </p:spPr>
        <p:txBody>
          <a:bodyPr anchor="ctr"/>
          <a:lstStyle/>
          <a:p>
            <a:pPr defTabSz="457200" eaLnBrk="0" hangingPunct="0"/>
            <a:endParaRPr lang="de-DE" sz="1800" b="0">
              <a:solidFill>
                <a:prstClr val="black"/>
              </a:solidFill>
              <a:latin typeface="Arial" pitchFamily="34" charset="0"/>
              <a:ea typeface="ＭＳ Ｐゴシック" pitchFamily="34" charset="-128"/>
              <a:cs typeface="+mn-cs"/>
            </a:endParaRPr>
          </a:p>
        </p:txBody>
      </p:sp>
      <p:sp>
        <p:nvSpPr>
          <p:cNvPr id="6" name="Rectangle 5"/>
          <p:cNvSpPr>
            <a:spLocks noChangeArrowheads="1"/>
          </p:cNvSpPr>
          <p:nvPr/>
        </p:nvSpPr>
        <p:spPr bwMode="auto">
          <a:xfrm>
            <a:off x="1627718" y="2927350"/>
            <a:ext cx="10572749" cy="46038"/>
          </a:xfrm>
          <a:prstGeom prst="rect">
            <a:avLst/>
          </a:prstGeom>
          <a:solidFill>
            <a:schemeClr val="bg1"/>
          </a:solidFill>
          <a:ln w="9525">
            <a:noFill/>
            <a:miter lim="800000"/>
            <a:headEnd/>
            <a:tailEnd/>
          </a:ln>
          <a:effectLst/>
        </p:spPr>
        <p:txBody>
          <a:bodyPr wrap="none" anchor="ctr"/>
          <a:lstStyle/>
          <a:p>
            <a:pPr algn="ctr" defTabSz="457200"/>
            <a:endParaRPr lang="en-US" sz="1800" b="0">
              <a:solidFill>
                <a:prstClr val="black"/>
              </a:solidFill>
              <a:latin typeface="Arial" pitchFamily="34" charset="0"/>
              <a:ea typeface="ＭＳ Ｐゴシック" pitchFamily="34" charset="-128"/>
              <a:cs typeface="+mn-cs"/>
            </a:endParaRPr>
          </a:p>
        </p:txBody>
      </p:sp>
      <p:sp>
        <p:nvSpPr>
          <p:cNvPr id="7" name="Rectangle 13"/>
          <p:cNvSpPr>
            <a:spLocks noChangeArrowheads="1"/>
          </p:cNvSpPr>
          <p:nvPr/>
        </p:nvSpPr>
        <p:spPr bwMode="auto">
          <a:xfrm>
            <a:off x="12701" y="2962276"/>
            <a:ext cx="12187767" cy="9525"/>
          </a:xfrm>
          <a:prstGeom prst="rect">
            <a:avLst/>
          </a:prstGeom>
          <a:solidFill>
            <a:srgbClr val="336699"/>
          </a:solidFill>
          <a:ln w="9525">
            <a:noFill/>
            <a:miter lim="800000"/>
            <a:headEnd/>
            <a:tailEnd/>
          </a:ln>
          <a:effectLst/>
        </p:spPr>
        <p:txBody>
          <a:bodyPr wrap="none" anchor="ctr"/>
          <a:lstStyle/>
          <a:p>
            <a:pPr algn="ctr" defTabSz="457200"/>
            <a:endParaRPr lang="en-US" sz="1800" b="0">
              <a:solidFill>
                <a:prstClr val="black"/>
              </a:solidFill>
              <a:latin typeface="Arial" pitchFamily="34" charset="0"/>
              <a:ea typeface="ＭＳ Ｐゴシック" pitchFamily="34" charset="-128"/>
              <a:cs typeface="+mn-cs"/>
            </a:endParaRPr>
          </a:p>
        </p:txBody>
      </p:sp>
      <p:sp>
        <p:nvSpPr>
          <p:cNvPr id="8" name="Rectangle 2"/>
          <p:cNvSpPr>
            <a:spLocks noChangeArrowheads="1"/>
          </p:cNvSpPr>
          <p:nvPr/>
        </p:nvSpPr>
        <p:spPr bwMode="auto">
          <a:xfrm>
            <a:off x="0" y="1"/>
            <a:ext cx="1627717" cy="6056313"/>
          </a:xfrm>
          <a:prstGeom prst="rect">
            <a:avLst/>
          </a:prstGeom>
          <a:solidFill>
            <a:srgbClr val="D28E00"/>
          </a:solidFill>
          <a:ln w="9525">
            <a:noFill/>
            <a:miter lim="800000"/>
            <a:headEnd/>
            <a:tailEnd/>
          </a:ln>
          <a:effectLst/>
        </p:spPr>
        <p:txBody>
          <a:bodyPr wrap="none" anchor="ctr"/>
          <a:lstStyle/>
          <a:p>
            <a:pPr algn="ctr" defTabSz="457200"/>
            <a:endParaRPr lang="en-US" sz="1800" b="0">
              <a:solidFill>
                <a:prstClr val="black"/>
              </a:solidFill>
              <a:latin typeface="Arial" pitchFamily="34" charset="0"/>
              <a:ea typeface="ＭＳ Ｐゴシック" pitchFamily="34" charset="-128"/>
              <a:cs typeface="+mn-cs"/>
            </a:endParaRPr>
          </a:p>
        </p:txBody>
      </p:sp>
      <p:pic>
        <p:nvPicPr>
          <p:cNvPr id="9" name="Picture 2" descr="Emory | Center for Comprehensive Informatics">
            <a:hlinkClick r:id="rId2" tooltip="Emory | Center for Comprehensive Informatics"/>
          </p:cNvPr>
          <p:cNvPicPr>
            <a:picLocks noChangeAspect="1" noChangeArrowheads="1"/>
          </p:cNvPicPr>
          <p:nvPr/>
        </p:nvPicPr>
        <p:blipFill>
          <a:blip r:embed="rId3" cstate="print"/>
          <a:srcRect/>
          <a:stretch>
            <a:fillRect/>
          </a:stretch>
        </p:blipFill>
        <p:spPr bwMode="auto">
          <a:xfrm>
            <a:off x="5842000" y="152400"/>
            <a:ext cx="6350000" cy="495300"/>
          </a:xfrm>
          <a:prstGeom prst="rect">
            <a:avLst/>
          </a:prstGeom>
          <a:noFill/>
          <a:ln w="9525">
            <a:noFill/>
            <a:miter lim="800000"/>
            <a:headEnd/>
            <a:tailEnd/>
          </a:ln>
        </p:spPr>
      </p:pic>
      <p:sp>
        <p:nvSpPr>
          <p:cNvPr id="344073" name="Rectangle 9"/>
          <p:cNvSpPr>
            <a:spLocks noGrp="1" noChangeArrowheads="1"/>
          </p:cNvSpPr>
          <p:nvPr>
            <p:ph type="subTitle" sz="quarter" idx="1"/>
          </p:nvPr>
        </p:nvSpPr>
        <p:spPr>
          <a:xfrm>
            <a:off x="3454400" y="4648200"/>
            <a:ext cx="7924800" cy="684212"/>
          </a:xfrm>
        </p:spPr>
        <p:txBody>
          <a:bodyPr rIns="0"/>
          <a:lstStyle>
            <a:lvl1pPr marL="0" indent="0">
              <a:buFontTx/>
              <a:buNone/>
              <a:defRPr sz="2800">
                <a:latin typeface="Verdana" pitchFamily="34" charset="0"/>
              </a:defRPr>
            </a:lvl1pPr>
          </a:lstStyle>
          <a:p>
            <a:r>
              <a:rPr lang="en-US"/>
              <a:t>Click to edit Master subtitle style</a:t>
            </a:r>
            <a:endParaRPr lang="de-DE" dirty="0"/>
          </a:p>
        </p:txBody>
      </p:sp>
      <p:sp>
        <p:nvSpPr>
          <p:cNvPr id="344074" name="Rectangle 10"/>
          <p:cNvSpPr>
            <a:spLocks noGrp="1" noChangeArrowheads="1"/>
          </p:cNvSpPr>
          <p:nvPr>
            <p:ph type="ctrTitle" sz="quarter"/>
          </p:nvPr>
        </p:nvSpPr>
        <p:spPr>
          <a:xfrm>
            <a:off x="3454400" y="3810000"/>
            <a:ext cx="7924800" cy="838200"/>
          </a:xfrm>
        </p:spPr>
        <p:txBody>
          <a:bodyPr rIns="0" anchor="b"/>
          <a:lstStyle>
            <a:lvl1pPr>
              <a:defRPr sz="3200">
                <a:latin typeface="Verdana" pitchFamily="34" charset="0"/>
              </a:defRPr>
            </a:lvl1pPr>
          </a:lstStyle>
          <a:p>
            <a:r>
              <a:rPr lang="en-US"/>
              <a:t>Click to edit Master title style</a:t>
            </a:r>
            <a:endParaRPr lang="de-DE" dirty="0"/>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762001" y="1447800"/>
            <a:ext cx="11341100" cy="5256213"/>
          </a:xfrm>
        </p:spPr>
        <p:txBody>
          <a:bodyPr/>
          <a:lstStyle>
            <a:lvl1pPr>
              <a:spcAft>
                <a:spcPts val="300"/>
              </a:spcAft>
              <a:defRPr>
                <a:latin typeface="Verdana" pitchFamily="34" charset="0"/>
              </a:defRPr>
            </a:lvl1pPr>
            <a:lvl2pPr>
              <a:spcAft>
                <a:spcPts val="300"/>
              </a:spcAft>
              <a:defRPr>
                <a:latin typeface="Verdana" pitchFamily="34" charset="0"/>
              </a:defRPr>
            </a:lvl2pPr>
            <a:lvl3pPr>
              <a:spcAft>
                <a:spcPts val="300"/>
              </a:spcAft>
              <a:defRPr>
                <a:latin typeface="Verdana" pitchFamily="34" charset="0"/>
              </a:defRPr>
            </a:lvl3pPr>
            <a:lvl4pPr>
              <a:spcAft>
                <a:spcPts val="300"/>
              </a:spcAft>
              <a:defRPr>
                <a:latin typeface="Verdana" pitchFamily="34" charset="0"/>
              </a:defRPr>
            </a:lvl4pPr>
            <a:lvl5pPr>
              <a:spcAft>
                <a:spcPts val="300"/>
              </a:spcAft>
              <a:defRPr>
                <a:latin typeface="Verdan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62001" y="1295401"/>
            <a:ext cx="5568951" cy="5408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34151" y="1295401"/>
            <a:ext cx="5568949" cy="5408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Title 1"/>
          <p:cNvSpPr txBox="1">
            <a:spLocks/>
          </p:cNvSpPr>
          <p:nvPr/>
        </p:nvSpPr>
        <p:spPr bwMode="auto">
          <a:xfrm>
            <a:off x="723900" y="515938"/>
            <a:ext cx="11404600" cy="779462"/>
          </a:xfrm>
          <a:prstGeom prst="rect">
            <a:avLst/>
          </a:prstGeom>
          <a:noFill/>
          <a:ln w="9525">
            <a:noFill/>
            <a:miter lim="800000"/>
            <a:headEnd/>
            <a:tailEnd/>
          </a:ln>
        </p:spPr>
        <p:txBody>
          <a:bodyPr lIns="0" tIns="0" anchor="ctr"/>
          <a:lstStyle/>
          <a:p>
            <a:pPr eaLnBrk="0" hangingPunct="0">
              <a:lnSpc>
                <a:spcPct val="95000"/>
              </a:lnSpc>
              <a:defRPr/>
            </a:pPr>
            <a:r>
              <a:rPr lang="en-US" sz="2600" b="0">
                <a:solidFill>
                  <a:srgbClr val="003399"/>
                </a:solidFill>
                <a:latin typeface="Verdana" charset="0"/>
                <a:ea typeface="ＭＳ Ｐゴシック" charset="-128"/>
                <a:cs typeface="ＭＳ Ｐゴシック" charset="-128"/>
              </a:rPr>
              <a:t>Click to edit Master title style</a:t>
            </a:r>
          </a:p>
        </p:txBody>
      </p:sp>
      <p:sp>
        <p:nvSpPr>
          <p:cNvPr id="3" name="Text Placeholder 2"/>
          <p:cNvSpPr>
            <a:spLocks noGrp="1"/>
          </p:cNvSpPr>
          <p:nvPr>
            <p:ph type="body" idx="1"/>
          </p:nvPr>
        </p:nvSpPr>
        <p:spPr>
          <a:xfrm>
            <a:off x="8128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28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5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965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1" y="623887"/>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969933" y="623888"/>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12801" y="1785938"/>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351" y="515939"/>
            <a:ext cx="2851149" cy="61880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23900" y="515939"/>
            <a:ext cx="8350251" cy="61880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2"/>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7F3E4F7-EC54-884E-B269-6CFF112D5BB7}" type="datetime1">
              <a:rPr lang="en-US" smtClean="0">
                <a:solidFill>
                  <a:prstClr val="black">
                    <a:tint val="75000"/>
                  </a:prstClr>
                </a:solidFill>
              </a:rPr>
              <a:pPr/>
              <a:t>6/17/2025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6785387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0972800" cy="1143000"/>
          </a:xfrm>
        </p:spPr>
        <p:txBody>
          <a:bodyPr>
            <a:normAutofit/>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5203FF-06CB-3F41-B352-CC59EC002124}" type="datetime1">
              <a:rPr lang="en-US" smtClean="0">
                <a:solidFill>
                  <a:prstClr val="black">
                    <a:tint val="75000"/>
                  </a:prstClr>
                </a:solidFill>
              </a:rPr>
              <a:pPr/>
              <a:t>6/17/2025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9347200" y="6492882"/>
            <a:ext cx="2844800" cy="365125"/>
          </a:xfrm>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7070166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Rectangle 6"/>
          <p:cNvSpPr/>
          <p:nvPr userDrawn="1"/>
        </p:nvSpPr>
        <p:spPr>
          <a:xfrm>
            <a:off x="2133600" y="5943600"/>
            <a:ext cx="9550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a:solidFill>
                <a:prstClr val="white"/>
              </a:solidFill>
            </a:endParaRPr>
          </a:p>
        </p:txBody>
      </p:sp>
      <p:sp>
        <p:nvSpPr>
          <p:cNvPr id="9" name="Rectangle 8"/>
          <p:cNvSpPr/>
          <p:nvPr userDrawn="1"/>
        </p:nvSpPr>
        <p:spPr>
          <a:xfrm>
            <a:off x="11684000" y="6019800"/>
            <a:ext cx="50800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a:solidFill>
                <a:prstClr val="white"/>
              </a:solidFill>
            </a:endParaRPr>
          </a:p>
        </p:txBody>
      </p:sp>
      <p:sp>
        <p:nvSpPr>
          <p:cNvPr id="8" name="Title 7"/>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8062132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B534648-75C3-8546-A361-B39CF5DCCEBF}" type="datetime1">
              <a:rPr lang="en-US" smtClean="0">
                <a:solidFill>
                  <a:prstClr val="black">
                    <a:tint val="75000"/>
                  </a:prstClr>
                </a:solidFill>
              </a:rPr>
              <a:pPr/>
              <a:t>6/17/2025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3521731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2"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2"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BAB9304-796E-C148-8BCA-8FD0DF7F3645}" type="datetime1">
              <a:rPr lang="en-US" smtClean="0">
                <a:solidFill>
                  <a:prstClr val="black">
                    <a:tint val="75000"/>
                  </a:prstClr>
                </a:solidFill>
              </a:rPr>
              <a:pPr/>
              <a:t>6/17/2025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3079136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3ABE519-C31B-4E4E-B7DC-968049A31AC8}" type="datetime1">
              <a:rPr lang="en-US" smtClean="0">
                <a:solidFill>
                  <a:prstClr val="black">
                    <a:tint val="75000"/>
                  </a:prstClr>
                </a:solidFill>
              </a:rPr>
              <a:pPr/>
              <a:t>6/17/2025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7923104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6606BA-8166-1045-A6C6-1E3E9C8B0A0A}" type="datetime1">
              <a:rPr lang="en-US" smtClean="0">
                <a:solidFill>
                  <a:prstClr val="black">
                    <a:tint val="75000"/>
                  </a:prstClr>
                </a:solidFill>
              </a:rPr>
              <a:pPr/>
              <a:t>6/17/2025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474202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7"/>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9BAD2D-5387-CD48-B37E-649B2D93405F}" type="datetime1">
              <a:rPr lang="en-US" smtClean="0">
                <a:solidFill>
                  <a:prstClr val="black">
                    <a:tint val="75000"/>
                  </a:prstClr>
                </a:solidFill>
              </a:rPr>
              <a:pPr/>
              <a:t>6/17/2025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2318592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6D89CEF-F4E5-C74D-9EAC-B09FEC12E0D4}" type="datetime1">
              <a:rPr lang="en-US" smtClean="0">
                <a:solidFill>
                  <a:prstClr val="black">
                    <a:tint val="75000"/>
                  </a:prstClr>
                </a:solidFill>
              </a:rPr>
              <a:pPr/>
              <a:t>6/17/2025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0678450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1754BAF-AF2E-8D45-ABBC-65D76A3DA607}" type="datetime1">
              <a:rPr lang="en-US" smtClean="0">
                <a:solidFill>
                  <a:prstClr val="black">
                    <a:tint val="75000"/>
                  </a:prstClr>
                </a:solidFill>
              </a:rPr>
              <a:pPr/>
              <a:t>6/17/2025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5474773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5"/>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5"/>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73132A-2418-DC4D-9E2B-3B8C462C4388}" type="datetime1">
              <a:rPr lang="en-US" smtClean="0">
                <a:solidFill>
                  <a:prstClr val="black">
                    <a:tint val="75000"/>
                  </a:prstClr>
                </a:solidFill>
              </a:rPr>
              <a:pPr/>
              <a:t>6/17/2025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7426703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2"/>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7F3E4F7-EC54-884E-B269-6CFF112D5BB7}" type="datetime1">
              <a:rPr lang="en-US" smtClean="0">
                <a:solidFill>
                  <a:prstClr val="black">
                    <a:tint val="75000"/>
                  </a:prstClr>
                </a:solidFill>
              </a:rPr>
              <a:pPr/>
              <a:t>6/17/2025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52976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0972800" cy="1143000"/>
          </a:xfrm>
        </p:spPr>
        <p:txBody>
          <a:bodyPr>
            <a:normAutofit/>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5203FF-06CB-3F41-B352-CC59EC002124}" type="datetime1">
              <a:rPr lang="en-US" smtClean="0">
                <a:solidFill>
                  <a:prstClr val="black">
                    <a:tint val="75000"/>
                  </a:prstClr>
                </a:solidFill>
              </a:rPr>
              <a:pPr/>
              <a:t>6/17/2025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9347200" y="6492882"/>
            <a:ext cx="2844800" cy="365125"/>
          </a:xfrm>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6215186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Rectangle 6"/>
          <p:cNvSpPr/>
          <p:nvPr userDrawn="1"/>
        </p:nvSpPr>
        <p:spPr>
          <a:xfrm>
            <a:off x="2133600" y="5943600"/>
            <a:ext cx="9550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a:solidFill>
                <a:prstClr val="white"/>
              </a:solidFill>
            </a:endParaRPr>
          </a:p>
        </p:txBody>
      </p:sp>
      <p:sp>
        <p:nvSpPr>
          <p:cNvPr id="9" name="Rectangle 8"/>
          <p:cNvSpPr/>
          <p:nvPr userDrawn="1"/>
        </p:nvSpPr>
        <p:spPr>
          <a:xfrm>
            <a:off x="11684000" y="6019800"/>
            <a:ext cx="50800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a:solidFill>
                <a:prstClr val="white"/>
              </a:solidFill>
            </a:endParaRPr>
          </a:p>
        </p:txBody>
      </p:sp>
      <p:sp>
        <p:nvSpPr>
          <p:cNvPr id="8" name="Title 7"/>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8510971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B534648-75C3-8546-A361-B39CF5DCCEBF}" type="datetime1">
              <a:rPr lang="en-US" smtClean="0">
                <a:solidFill>
                  <a:prstClr val="black">
                    <a:tint val="75000"/>
                  </a:prstClr>
                </a:solidFill>
              </a:rPr>
              <a:pPr/>
              <a:t>6/17/2025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1699776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2"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2"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BAB9304-796E-C148-8BCA-8FD0DF7F3645}" type="datetime1">
              <a:rPr lang="en-US" smtClean="0">
                <a:solidFill>
                  <a:prstClr val="black">
                    <a:tint val="75000"/>
                  </a:prstClr>
                </a:solidFill>
              </a:rPr>
              <a:pPr/>
              <a:t>6/17/2025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8058154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3ABE519-C31B-4E4E-B7DC-968049A31AC8}" type="datetime1">
              <a:rPr lang="en-US" smtClean="0">
                <a:solidFill>
                  <a:prstClr val="black">
                    <a:tint val="75000"/>
                  </a:prstClr>
                </a:solidFill>
              </a:rPr>
              <a:pPr/>
              <a:t>6/17/2025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9484715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6606BA-8166-1045-A6C6-1E3E9C8B0A0A}" type="datetime1">
              <a:rPr lang="en-US" smtClean="0">
                <a:solidFill>
                  <a:prstClr val="black">
                    <a:tint val="75000"/>
                  </a:prstClr>
                </a:solidFill>
              </a:rPr>
              <a:pPr/>
              <a:t>6/17/2025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5980902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7"/>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9BAD2D-5387-CD48-B37E-649B2D93405F}" type="datetime1">
              <a:rPr lang="en-US" smtClean="0">
                <a:solidFill>
                  <a:prstClr val="black">
                    <a:tint val="75000"/>
                  </a:prstClr>
                </a:solidFill>
              </a:rPr>
              <a:pPr/>
              <a:t>6/17/2025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9646688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6D89CEF-F4E5-C74D-9EAC-B09FEC12E0D4}" type="datetime1">
              <a:rPr lang="en-US" smtClean="0">
                <a:solidFill>
                  <a:prstClr val="black">
                    <a:tint val="75000"/>
                  </a:prstClr>
                </a:solidFill>
              </a:rPr>
              <a:pPr/>
              <a:t>6/17/2025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4883825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1754BAF-AF2E-8D45-ABBC-65D76A3DA607}" type="datetime1">
              <a:rPr lang="en-US" smtClean="0">
                <a:solidFill>
                  <a:prstClr val="black">
                    <a:tint val="75000"/>
                  </a:prstClr>
                </a:solidFill>
              </a:rPr>
              <a:pPr/>
              <a:t>6/17/2025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3061993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5"/>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5"/>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73132A-2418-DC4D-9E2B-3B8C462C4388}" type="datetime1">
              <a:rPr lang="en-US" smtClean="0">
                <a:solidFill>
                  <a:prstClr val="black">
                    <a:tint val="75000"/>
                  </a:prstClr>
                </a:solidFill>
              </a:rPr>
              <a:pPr/>
              <a:t>6/17/2025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4898369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2"/>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7F3E4F7-EC54-884E-B269-6CFF112D5BB7}" type="datetime1">
              <a:rPr lang="en-US" smtClean="0">
                <a:solidFill>
                  <a:prstClr val="black">
                    <a:tint val="75000"/>
                  </a:prstClr>
                </a:solidFill>
              </a:rPr>
              <a:pPr/>
              <a:t>6/17/2025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5593429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0972800" cy="1143000"/>
          </a:xfrm>
        </p:spPr>
        <p:txBody>
          <a:bodyPr>
            <a:normAutofit/>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5203FF-06CB-3F41-B352-CC59EC002124}" type="datetime1">
              <a:rPr lang="en-US" smtClean="0">
                <a:solidFill>
                  <a:prstClr val="black">
                    <a:tint val="75000"/>
                  </a:prstClr>
                </a:solidFill>
              </a:rPr>
              <a:pPr/>
              <a:t>6/17/2025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9347200" y="6492882"/>
            <a:ext cx="2844800" cy="365125"/>
          </a:xfrm>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3512596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Rectangle 6"/>
          <p:cNvSpPr/>
          <p:nvPr userDrawn="1"/>
        </p:nvSpPr>
        <p:spPr>
          <a:xfrm>
            <a:off x="2133600" y="5943600"/>
            <a:ext cx="9550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a:solidFill>
                <a:prstClr val="white"/>
              </a:solidFill>
            </a:endParaRPr>
          </a:p>
        </p:txBody>
      </p:sp>
      <p:sp>
        <p:nvSpPr>
          <p:cNvPr id="9" name="Rectangle 8"/>
          <p:cNvSpPr/>
          <p:nvPr userDrawn="1"/>
        </p:nvSpPr>
        <p:spPr>
          <a:xfrm>
            <a:off x="11684000" y="6019800"/>
            <a:ext cx="50800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a:solidFill>
                <a:prstClr val="white"/>
              </a:solidFill>
            </a:endParaRPr>
          </a:p>
        </p:txBody>
      </p:sp>
      <p:sp>
        <p:nvSpPr>
          <p:cNvPr id="8" name="Title 7"/>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294740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B534648-75C3-8546-A361-B39CF5DCCEBF}" type="datetime1">
              <a:rPr lang="en-US" smtClean="0">
                <a:solidFill>
                  <a:prstClr val="black">
                    <a:tint val="75000"/>
                  </a:prstClr>
                </a:solidFill>
              </a:rPr>
              <a:pPr/>
              <a:t>6/17/2025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5774025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2"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2"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BAB9304-796E-C148-8BCA-8FD0DF7F3645}" type="datetime1">
              <a:rPr lang="en-US" smtClean="0">
                <a:solidFill>
                  <a:prstClr val="black">
                    <a:tint val="75000"/>
                  </a:prstClr>
                </a:solidFill>
              </a:rPr>
              <a:pPr/>
              <a:t>6/17/2025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7363786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3ABE519-C31B-4E4E-B7DC-968049A31AC8}" type="datetime1">
              <a:rPr lang="en-US" smtClean="0">
                <a:solidFill>
                  <a:prstClr val="black">
                    <a:tint val="75000"/>
                  </a:prstClr>
                </a:solidFill>
              </a:rPr>
              <a:pPr/>
              <a:t>6/17/2025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4426347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6606BA-8166-1045-A6C6-1E3E9C8B0A0A}" type="datetime1">
              <a:rPr lang="en-US" smtClean="0">
                <a:solidFill>
                  <a:prstClr val="black">
                    <a:tint val="75000"/>
                  </a:prstClr>
                </a:solidFill>
              </a:rPr>
              <a:pPr/>
              <a:t>6/17/2025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7956328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7"/>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9BAD2D-5387-CD48-B37E-649B2D93405F}" type="datetime1">
              <a:rPr lang="en-US" smtClean="0">
                <a:solidFill>
                  <a:prstClr val="black">
                    <a:tint val="75000"/>
                  </a:prstClr>
                </a:solidFill>
              </a:rPr>
              <a:pPr/>
              <a:t>6/17/2025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6344119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6D89CEF-F4E5-C74D-9EAC-B09FEC12E0D4}" type="datetime1">
              <a:rPr lang="en-US" smtClean="0">
                <a:solidFill>
                  <a:prstClr val="black">
                    <a:tint val="75000"/>
                  </a:prstClr>
                </a:solidFill>
              </a:rPr>
              <a:pPr/>
              <a:t>6/17/2025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4174601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1754BAF-AF2E-8D45-ABBC-65D76A3DA607}" type="datetime1">
              <a:rPr lang="en-US" smtClean="0">
                <a:solidFill>
                  <a:prstClr val="black">
                    <a:tint val="75000"/>
                  </a:prstClr>
                </a:solidFill>
              </a:rPr>
              <a:pPr/>
              <a:t>6/17/2025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4782194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5"/>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5"/>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73132A-2418-DC4D-9E2B-3B8C462C4388}" type="datetime1">
              <a:rPr lang="en-US" smtClean="0">
                <a:solidFill>
                  <a:prstClr val="black">
                    <a:tint val="75000"/>
                  </a:prstClr>
                </a:solidFill>
              </a:rPr>
              <a:pPr/>
              <a:t>6/17/2025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8622232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SBU Full Page Photo">
    <p:spTree>
      <p:nvGrpSpPr>
        <p:cNvPr id="1" name=""/>
        <p:cNvGrpSpPr/>
        <p:nvPr/>
      </p:nvGrpSpPr>
      <p:grpSpPr>
        <a:xfrm>
          <a:off x="0" y="0"/>
          <a:ext cx="0" cy="0"/>
          <a:chOff x="0" y="0"/>
          <a:chExt cx="0" cy="0"/>
        </a:xfrm>
      </p:grpSpPr>
      <p:cxnSp>
        <p:nvCxnSpPr>
          <p:cNvPr id="7" name="Straight Connector 6"/>
          <p:cNvCxnSpPr/>
          <p:nvPr userDrawn="1"/>
        </p:nvCxnSpPr>
        <p:spPr>
          <a:xfrm>
            <a:off x="0" y="1082675"/>
            <a:ext cx="12192000" cy="1588"/>
          </a:xfrm>
          <a:prstGeom prst="line">
            <a:avLst/>
          </a:prstGeom>
          <a:ln w="12700">
            <a:solidFill>
              <a:srgbClr val="B60225"/>
            </a:solidFill>
          </a:ln>
          <a:effectLst/>
        </p:spPr>
        <p:style>
          <a:lnRef idx="2">
            <a:schemeClr val="accent1"/>
          </a:lnRef>
          <a:fillRef idx="0">
            <a:schemeClr val="accent1"/>
          </a:fillRef>
          <a:effectRef idx="1">
            <a:schemeClr val="accent1"/>
          </a:effectRef>
          <a:fontRef idx="minor">
            <a:schemeClr val="tx1"/>
          </a:fontRef>
        </p:style>
      </p:cxnSp>
      <p:sp>
        <p:nvSpPr>
          <p:cNvPr id="6" name="Text Placeholder 12"/>
          <p:cNvSpPr>
            <a:spLocks noGrp="1"/>
          </p:cNvSpPr>
          <p:nvPr>
            <p:ph type="body" sz="quarter" idx="14"/>
          </p:nvPr>
        </p:nvSpPr>
        <p:spPr>
          <a:xfrm>
            <a:off x="0" y="6288062"/>
            <a:ext cx="12192000" cy="467416"/>
          </a:xfrm>
          <a:prstGeom prst="rect">
            <a:avLst/>
          </a:prstGeom>
        </p:spPr>
        <p:txBody>
          <a:bodyPr anchor="ctr"/>
          <a:lstStyle>
            <a:lvl1pPr algn="ctr">
              <a:buFontTx/>
              <a:buNone/>
              <a:defRPr sz="2000" baseline="0">
                <a:solidFill>
                  <a:srgbClr val="FFFFFF"/>
                </a:solidFill>
                <a:latin typeface="Helvetica"/>
                <a:cs typeface="Helvetica"/>
              </a:defRPr>
            </a:lvl1pPr>
          </a:lstStyle>
          <a:p>
            <a:pPr lvl="0"/>
            <a:r>
              <a:rPr lang="en-US" dirty="0"/>
              <a:t>Click to edit Master text styles</a:t>
            </a:r>
          </a:p>
        </p:txBody>
      </p:sp>
      <p:sp>
        <p:nvSpPr>
          <p:cNvPr id="9" name="Picture Placeholder 2"/>
          <p:cNvSpPr>
            <a:spLocks noGrp="1"/>
          </p:cNvSpPr>
          <p:nvPr>
            <p:ph type="pic" idx="1"/>
          </p:nvPr>
        </p:nvSpPr>
        <p:spPr>
          <a:xfrm>
            <a:off x="0" y="1091260"/>
            <a:ext cx="12192000" cy="5205623"/>
          </a:xfrm>
          <a:solidFill>
            <a:schemeClr val="bg1">
              <a:lumMod val="85000"/>
            </a:schemeClr>
          </a:solidFill>
        </p:spPr>
        <p:txBody>
          <a:bodyPr rtlCol="0">
            <a:normAutofit/>
          </a:bodyPr>
          <a:lstStyle>
            <a:lvl1pPr marL="0" indent="0">
              <a:buNone/>
              <a:defRPr sz="32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Tree>
    <p:extLst>
      <p:ext uri="{BB962C8B-B14F-4D97-AF65-F5344CB8AC3E}">
        <p14:creationId xmlns:p14="http://schemas.microsoft.com/office/powerpoint/2010/main" val="108947673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SBU Title Slide">
    <p:spTree>
      <p:nvGrpSpPr>
        <p:cNvPr id="1" name=""/>
        <p:cNvGrpSpPr/>
        <p:nvPr/>
      </p:nvGrpSpPr>
      <p:grpSpPr>
        <a:xfrm>
          <a:off x="0" y="0"/>
          <a:ext cx="0" cy="0"/>
          <a:chOff x="0" y="0"/>
          <a:chExt cx="0" cy="0"/>
        </a:xfrm>
      </p:grpSpPr>
      <p:sp>
        <p:nvSpPr>
          <p:cNvPr id="7" name="Text Placeholder 12"/>
          <p:cNvSpPr>
            <a:spLocks noGrp="1"/>
          </p:cNvSpPr>
          <p:nvPr>
            <p:ph type="body" sz="quarter" idx="14"/>
          </p:nvPr>
        </p:nvSpPr>
        <p:spPr>
          <a:xfrm>
            <a:off x="0" y="6362700"/>
            <a:ext cx="12192000" cy="495300"/>
          </a:xfrm>
          <a:prstGeom prst="rect">
            <a:avLst/>
          </a:prstGeom>
        </p:spPr>
        <p:txBody>
          <a:bodyPr/>
          <a:lstStyle>
            <a:lvl1pPr algn="ctr">
              <a:buFontTx/>
              <a:buNone/>
              <a:defRPr sz="2000" baseline="0">
                <a:solidFill>
                  <a:srgbClr val="FFFFFF"/>
                </a:solidFill>
                <a:latin typeface="Helvetica"/>
                <a:cs typeface="Helvetica"/>
              </a:defRPr>
            </a:lvl1pPr>
          </a:lstStyle>
          <a:p>
            <a:pPr lvl="0"/>
            <a:r>
              <a:rPr lang="en-US" dirty="0"/>
              <a:t>Click to edit Master text styles</a:t>
            </a:r>
          </a:p>
        </p:txBody>
      </p:sp>
      <p:sp>
        <p:nvSpPr>
          <p:cNvPr id="6" name="Text Placeholder 7"/>
          <p:cNvSpPr>
            <a:spLocks noGrp="1"/>
          </p:cNvSpPr>
          <p:nvPr>
            <p:ph type="body" sz="quarter" idx="15"/>
          </p:nvPr>
        </p:nvSpPr>
        <p:spPr>
          <a:xfrm>
            <a:off x="609600" y="1066801"/>
            <a:ext cx="10972800" cy="5211917"/>
          </a:xfrm>
        </p:spPr>
        <p:txBody>
          <a:bodyPr tIns="0" rIns="0" bIns="0" anchor="ctr"/>
          <a:lstStyle>
            <a:lvl1pPr algn="ctr">
              <a:buFontTx/>
              <a:buNone/>
              <a:defRPr sz="4400">
                <a:solidFill>
                  <a:srgbClr val="B60225"/>
                </a:solidFill>
              </a:defRPr>
            </a:lvl1pPr>
            <a:lvl2pPr marL="228600" indent="-228600" algn="ctr">
              <a:buClr>
                <a:srgbClr val="C03137"/>
              </a:buClr>
              <a:buFontTx/>
              <a:buNone/>
              <a:defRPr sz="2400"/>
            </a:lvl2pPr>
            <a:lvl3pPr marL="458788" indent="-230188" algn="ctr">
              <a:buFontTx/>
              <a:buNone/>
              <a:defRPr/>
            </a:lvl3pPr>
            <a:lvl4pPr marL="458788" indent="-230188" algn="ctr">
              <a:buFontTx/>
              <a:buNone/>
              <a:defRPr/>
            </a:lvl4pPr>
            <a:lvl5pPr marL="458788" indent="-230188" algn="ctr">
              <a:buFontTx/>
              <a:buNone/>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20389751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SBU Left Bulleted Text">
    <p:spTree>
      <p:nvGrpSpPr>
        <p:cNvPr id="1" name=""/>
        <p:cNvGrpSpPr/>
        <p:nvPr/>
      </p:nvGrpSpPr>
      <p:grpSpPr>
        <a:xfrm>
          <a:off x="0" y="0"/>
          <a:ext cx="0" cy="0"/>
          <a:chOff x="0" y="0"/>
          <a:chExt cx="0" cy="0"/>
        </a:xfrm>
      </p:grpSpPr>
      <p:sp>
        <p:nvSpPr>
          <p:cNvPr id="5" name="Text Placeholder 12"/>
          <p:cNvSpPr>
            <a:spLocks noGrp="1"/>
          </p:cNvSpPr>
          <p:nvPr>
            <p:ph type="body" sz="quarter" idx="14"/>
          </p:nvPr>
        </p:nvSpPr>
        <p:spPr>
          <a:xfrm>
            <a:off x="0" y="6362700"/>
            <a:ext cx="12192000" cy="495300"/>
          </a:xfrm>
          <a:prstGeom prst="rect">
            <a:avLst/>
          </a:prstGeom>
        </p:spPr>
        <p:txBody>
          <a:bodyPr/>
          <a:lstStyle>
            <a:lvl1pPr algn="ctr">
              <a:buFontTx/>
              <a:buNone/>
              <a:defRPr sz="2000" baseline="0">
                <a:solidFill>
                  <a:srgbClr val="FFFFFF"/>
                </a:solidFill>
                <a:latin typeface="Helvetica"/>
                <a:cs typeface="Helvetica"/>
              </a:defRPr>
            </a:lvl1pPr>
          </a:lstStyle>
          <a:p>
            <a:pPr lvl="0"/>
            <a:r>
              <a:rPr lang="en-US" dirty="0"/>
              <a:t>Click to edit Master text styles</a:t>
            </a:r>
          </a:p>
        </p:txBody>
      </p:sp>
      <p:sp>
        <p:nvSpPr>
          <p:cNvPr id="8" name="Text Placeholder 7"/>
          <p:cNvSpPr>
            <a:spLocks noGrp="1"/>
          </p:cNvSpPr>
          <p:nvPr>
            <p:ph type="body" sz="quarter" idx="15"/>
          </p:nvPr>
        </p:nvSpPr>
        <p:spPr>
          <a:xfrm>
            <a:off x="609600" y="1367658"/>
            <a:ext cx="10972800" cy="4804543"/>
          </a:xfrm>
        </p:spPr>
        <p:txBody>
          <a:bodyPr tIns="0" rIns="0" bIns="0"/>
          <a:lstStyle>
            <a:lvl1pPr>
              <a:buFontTx/>
              <a:buNone/>
              <a:defRPr>
                <a:solidFill>
                  <a:srgbClr val="B60225"/>
                </a:solidFill>
              </a:defRPr>
            </a:lvl1pPr>
            <a:lvl2pPr marL="228600" indent="-228600">
              <a:buClr>
                <a:srgbClr val="C03137"/>
              </a:buClr>
              <a:buFont typeface="Arial"/>
              <a:buChar char="•"/>
              <a:defRPr sz="2400"/>
            </a:lvl2pPr>
            <a:lvl3pPr marL="458788" indent="-230188">
              <a:defRPr/>
            </a:lvl3pPr>
            <a:lvl4pPr marL="458788" indent="-230188">
              <a:defRPr/>
            </a:lvl4pPr>
            <a:lvl5pPr marL="458788" indent="-230188">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3253995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SBU Bulleted Text 3 Photo">
    <p:spTree>
      <p:nvGrpSpPr>
        <p:cNvPr id="1" name=""/>
        <p:cNvGrpSpPr/>
        <p:nvPr/>
      </p:nvGrpSpPr>
      <p:grpSpPr>
        <a:xfrm>
          <a:off x="0" y="0"/>
          <a:ext cx="0" cy="0"/>
          <a:chOff x="0" y="0"/>
          <a:chExt cx="0" cy="0"/>
        </a:xfrm>
      </p:grpSpPr>
      <p:sp>
        <p:nvSpPr>
          <p:cNvPr id="4" name="Content Placeholder 2"/>
          <p:cNvSpPr>
            <a:spLocks noGrp="1"/>
          </p:cNvSpPr>
          <p:nvPr>
            <p:ph idx="12"/>
          </p:nvPr>
        </p:nvSpPr>
        <p:spPr>
          <a:xfrm>
            <a:off x="609599" y="1384048"/>
            <a:ext cx="7034288" cy="4788153"/>
          </a:xfrm>
        </p:spPr>
        <p:txBody>
          <a:bodyPr tIns="0"/>
          <a:lstStyle>
            <a:lvl1pPr marL="0" indent="0">
              <a:buNone/>
              <a:defRPr sz="2600">
                <a:solidFill>
                  <a:srgbClr val="B60225"/>
                </a:solidFill>
              </a:defRPr>
            </a:lvl1pPr>
            <a:lvl2pPr marL="228600" indent="-228600" algn="l">
              <a:buClr>
                <a:srgbClr val="B60225"/>
              </a:buClr>
              <a:buFont typeface="Arial"/>
              <a:buChar char="•"/>
              <a:defRPr sz="2200"/>
            </a:lvl2pPr>
          </a:lstStyle>
          <a:p>
            <a:pPr lvl="0"/>
            <a:r>
              <a:rPr lang="en-US" dirty="0"/>
              <a:t>Click to edit Master text styles</a:t>
            </a:r>
          </a:p>
          <a:p>
            <a:pPr lvl="1"/>
            <a:r>
              <a:rPr lang="en-US" dirty="0"/>
              <a:t>Second level</a:t>
            </a:r>
          </a:p>
        </p:txBody>
      </p:sp>
      <p:sp>
        <p:nvSpPr>
          <p:cNvPr id="8" name="Text Placeholder 12"/>
          <p:cNvSpPr>
            <a:spLocks noGrp="1"/>
          </p:cNvSpPr>
          <p:nvPr>
            <p:ph type="body" sz="quarter" idx="15"/>
          </p:nvPr>
        </p:nvSpPr>
        <p:spPr>
          <a:xfrm>
            <a:off x="0" y="6362700"/>
            <a:ext cx="12192000" cy="495300"/>
          </a:xfrm>
          <a:prstGeom prst="rect">
            <a:avLst/>
          </a:prstGeom>
        </p:spPr>
        <p:txBody>
          <a:bodyPr/>
          <a:lstStyle>
            <a:lvl1pPr algn="ctr">
              <a:buFontTx/>
              <a:buNone/>
              <a:defRPr sz="2000" baseline="0">
                <a:solidFill>
                  <a:srgbClr val="FFFFFF"/>
                </a:solidFill>
                <a:latin typeface="Helvetica"/>
                <a:cs typeface="Helvetica"/>
              </a:defRPr>
            </a:lvl1pPr>
          </a:lstStyle>
          <a:p>
            <a:pPr lvl="0"/>
            <a:r>
              <a:rPr lang="en-US"/>
              <a:t>Click to edit Master text styles</a:t>
            </a:r>
          </a:p>
        </p:txBody>
      </p:sp>
      <p:sp>
        <p:nvSpPr>
          <p:cNvPr id="11" name="Picture Placeholder 2"/>
          <p:cNvSpPr>
            <a:spLocks noGrp="1"/>
          </p:cNvSpPr>
          <p:nvPr>
            <p:ph type="pic" idx="17"/>
          </p:nvPr>
        </p:nvSpPr>
        <p:spPr>
          <a:xfrm>
            <a:off x="8116291" y="1094980"/>
            <a:ext cx="4075709" cy="1661390"/>
          </a:xfrm>
          <a:solidFill>
            <a:schemeClr val="bg1">
              <a:lumMod val="8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15" name="Picture Placeholder 2"/>
          <p:cNvSpPr>
            <a:spLocks noGrp="1"/>
          </p:cNvSpPr>
          <p:nvPr>
            <p:ph type="pic" idx="21"/>
          </p:nvPr>
        </p:nvSpPr>
        <p:spPr>
          <a:xfrm>
            <a:off x="8116291" y="4619039"/>
            <a:ext cx="4075709" cy="1655702"/>
          </a:xfrm>
          <a:solidFill>
            <a:schemeClr val="bg1">
              <a:lumMod val="8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16" name="Picture Placeholder 2"/>
          <p:cNvSpPr>
            <a:spLocks noGrp="1"/>
          </p:cNvSpPr>
          <p:nvPr>
            <p:ph type="pic" idx="22"/>
          </p:nvPr>
        </p:nvSpPr>
        <p:spPr>
          <a:xfrm>
            <a:off x="8116291" y="2850446"/>
            <a:ext cx="4075709" cy="1655702"/>
          </a:xfrm>
          <a:solidFill>
            <a:schemeClr val="bg1">
              <a:lumMod val="8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Tree>
    <p:extLst>
      <p:ext uri="{BB962C8B-B14F-4D97-AF65-F5344CB8AC3E}">
        <p14:creationId xmlns:p14="http://schemas.microsoft.com/office/powerpoint/2010/main" val="385563621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SBU Bulleted Text 1 Photo">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6714862" y="1094981"/>
            <a:ext cx="5477137" cy="5173084"/>
          </a:xfrm>
          <a:solidFill>
            <a:schemeClr val="bg1">
              <a:lumMod val="8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8" name="Text Placeholder 12"/>
          <p:cNvSpPr>
            <a:spLocks noGrp="1"/>
          </p:cNvSpPr>
          <p:nvPr>
            <p:ph type="body" sz="quarter" idx="15"/>
          </p:nvPr>
        </p:nvSpPr>
        <p:spPr>
          <a:xfrm>
            <a:off x="0" y="6362700"/>
            <a:ext cx="12192000" cy="495300"/>
          </a:xfrm>
          <a:prstGeom prst="rect">
            <a:avLst/>
          </a:prstGeom>
        </p:spPr>
        <p:txBody>
          <a:bodyPr/>
          <a:lstStyle>
            <a:lvl1pPr algn="ctr">
              <a:buFontTx/>
              <a:buNone/>
              <a:defRPr sz="2000" baseline="0">
                <a:solidFill>
                  <a:srgbClr val="FFFFFF"/>
                </a:solidFill>
                <a:latin typeface="Helvetica"/>
                <a:cs typeface="Helvetica"/>
              </a:defRPr>
            </a:lvl1pPr>
          </a:lstStyle>
          <a:p>
            <a:pPr lvl="0"/>
            <a:r>
              <a:rPr lang="en-US"/>
              <a:t>Click to edit Master text styles</a:t>
            </a:r>
          </a:p>
        </p:txBody>
      </p:sp>
      <p:sp>
        <p:nvSpPr>
          <p:cNvPr id="10" name="Content Placeholder 2"/>
          <p:cNvSpPr>
            <a:spLocks noGrp="1"/>
          </p:cNvSpPr>
          <p:nvPr>
            <p:ph idx="12"/>
          </p:nvPr>
        </p:nvSpPr>
        <p:spPr>
          <a:xfrm>
            <a:off x="609600" y="1392240"/>
            <a:ext cx="5638801" cy="4805361"/>
          </a:xfrm>
        </p:spPr>
        <p:txBody>
          <a:bodyPr tIns="0"/>
          <a:lstStyle>
            <a:lvl1pPr marL="0" indent="0">
              <a:buNone/>
              <a:defRPr sz="2600">
                <a:solidFill>
                  <a:srgbClr val="B60225"/>
                </a:solidFill>
              </a:defRPr>
            </a:lvl1pPr>
            <a:lvl2pPr marL="228600" indent="-228600" algn="l">
              <a:buClr>
                <a:srgbClr val="B60225"/>
              </a:buClr>
              <a:buFont typeface="Arial"/>
              <a:buChar char="•"/>
              <a:defRPr sz="2200"/>
            </a:lvl2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73376307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23900" y="515938"/>
            <a:ext cx="11404600" cy="779462"/>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762001" y="1371601"/>
            <a:ext cx="11341100" cy="5332413"/>
          </a:xfrm>
        </p:spPr>
        <p:txBody>
          <a:bodyPr/>
          <a:lstStyle>
            <a:lvl1pPr>
              <a:spcAft>
                <a:spcPts val="300"/>
              </a:spcAft>
              <a:defRPr>
                <a:latin typeface="Verdana" pitchFamily="34" charset="0"/>
              </a:defRPr>
            </a:lvl1pPr>
            <a:lvl2pPr>
              <a:spcAft>
                <a:spcPts val="300"/>
              </a:spcAft>
              <a:defRPr>
                <a:latin typeface="Verdana" pitchFamily="34" charset="0"/>
              </a:defRPr>
            </a:lvl2pPr>
            <a:lvl3pPr>
              <a:spcAft>
                <a:spcPts val="300"/>
              </a:spcAft>
              <a:defRPr>
                <a:latin typeface="Verdana" pitchFamily="34" charset="0"/>
              </a:defRPr>
            </a:lvl3pPr>
            <a:lvl4pPr>
              <a:spcAft>
                <a:spcPts val="300"/>
              </a:spcAft>
              <a:defRPr>
                <a:latin typeface="Verdana" pitchFamily="34" charset="0"/>
              </a:defRPr>
            </a:lvl4pPr>
            <a:lvl5pPr>
              <a:spcAft>
                <a:spcPts val="300"/>
              </a:spcAft>
              <a:defRPr>
                <a:latin typeface="Verdan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08106712"/>
      </p:ext>
    </p:extLst>
  </p:cSld>
  <p:clrMapOvr>
    <a:masterClrMapping/>
  </p:clrMapOv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23900" y="515938"/>
            <a:ext cx="11404600" cy="779462"/>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241437745"/>
      </p:ext>
    </p:extLst>
  </p:cSld>
  <p:clrMapOvr>
    <a:masterClrMapping/>
  </p:clrMapOvr>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8225" y="152400"/>
            <a:ext cx="11813228" cy="717937"/>
          </a:xfrm>
        </p:spPr>
        <p:txBody>
          <a:bodyPr/>
          <a:lstStyle/>
          <a:p>
            <a:r>
              <a:rPr lang="en-US" dirty="0"/>
              <a:t>Click to edit Master title style</a:t>
            </a:r>
          </a:p>
        </p:txBody>
      </p:sp>
      <p:sp>
        <p:nvSpPr>
          <p:cNvPr id="3" name="Content Placeholder 2"/>
          <p:cNvSpPr>
            <a:spLocks noGrp="1"/>
          </p:cNvSpPr>
          <p:nvPr>
            <p:ph idx="1"/>
          </p:nvPr>
        </p:nvSpPr>
        <p:spPr>
          <a:xfrm>
            <a:off x="198226" y="931863"/>
            <a:ext cx="11813228" cy="5316538"/>
          </a:xfrm>
        </p:spPr>
        <p:txBody>
          <a:bodyPr/>
          <a:lstStyle>
            <a:lvl1pPr>
              <a:spcAft>
                <a:spcPts val="300"/>
              </a:spcAft>
              <a:defRPr>
                <a:latin typeface="Verdana" pitchFamily="34" charset="0"/>
              </a:defRPr>
            </a:lvl1pPr>
            <a:lvl2pPr>
              <a:spcAft>
                <a:spcPts val="300"/>
              </a:spcAft>
              <a:defRPr>
                <a:latin typeface="Verdana" pitchFamily="34" charset="0"/>
              </a:defRPr>
            </a:lvl2pPr>
            <a:lvl3pPr>
              <a:spcAft>
                <a:spcPts val="300"/>
              </a:spcAft>
              <a:defRPr>
                <a:latin typeface="Verdana" pitchFamily="34" charset="0"/>
              </a:defRPr>
            </a:lvl3pPr>
            <a:lvl4pPr>
              <a:spcAft>
                <a:spcPts val="300"/>
              </a:spcAft>
              <a:defRPr>
                <a:latin typeface="Verdana" pitchFamily="34" charset="0"/>
              </a:defRPr>
            </a:lvl4pPr>
            <a:lvl5pPr>
              <a:spcAft>
                <a:spcPts val="300"/>
              </a:spcAft>
              <a:defRPr>
                <a:latin typeface="Verdan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21988062"/>
      </p:ext>
    </p:extLst>
  </p:cSld>
  <p:clrMapOvr>
    <a:masterClrMapping/>
  </p:clrMapOvr>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250833723"/>
      </p:ext>
    </p:extLst>
  </p:cSld>
  <p:clrMapOvr>
    <a:masterClrMapping/>
  </p:clrMapOvr>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62001" y="1295401"/>
            <a:ext cx="5568951" cy="5408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34151" y="1295401"/>
            <a:ext cx="5568949" cy="5408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39660558"/>
      </p:ext>
    </p:extLst>
  </p:cSld>
  <p:clrMapOvr>
    <a:masterClrMapping/>
  </p:clrMapOvr>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8117011"/>
      </p:ext>
    </p:extLst>
  </p:cSld>
  <p:clrMapOvr>
    <a:masterClrMapping/>
  </p:clrMapOvr>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19930131"/>
      </p:ext>
    </p:extLst>
  </p:cSld>
  <p:clrMapOvr>
    <a:masterClrMapping/>
  </p:clrMapOvr>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7609804"/>
      </p:ext>
    </p:extLst>
  </p:cSld>
  <p:clrMapOvr>
    <a:masterClrMapping/>
  </p:clrMapOvr>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01154090"/>
      </p:ext>
    </p:extLst>
  </p:cSld>
  <p:clrMapOvr>
    <a:masterClrMapping/>
  </p:clrMapOvr>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463568576"/>
      </p:ext>
    </p:extLst>
  </p:cSld>
  <p:clrMapOvr>
    <a:masterClrMapping/>
  </p:clrMapOvr>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3947780"/>
      </p:ext>
    </p:extLst>
  </p:cSld>
  <p:clrMapOvr>
    <a:masterClrMapping/>
  </p:clrMapOvr>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351" y="515939"/>
            <a:ext cx="2851149" cy="61880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23900" y="515939"/>
            <a:ext cx="8350251" cy="61880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42463658"/>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image" Target="../media/image2.jpeg"/><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4.pn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image" Target="../media/image2.jpeg"/><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theme" Target="../theme/theme3.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hyperlink" Target="http://cci.emory.edu/cms" TargetMode="Externa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image" Target="../media/image5.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hyperlink" Target="http://cci.emory.edu/cms" TargetMode="Externa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image" Target="../media/image5.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image" Target="../media/image6.png"/><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theme" Target="../theme/theme6.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7.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image" Target="../media/image6.png"/><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theme" Target="../theme/theme7.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image" Target="../media/image7.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8.xml"/><Relationship Id="rId13" Type="http://schemas.openxmlformats.org/officeDocument/2006/relationships/image" Target="../media/image6.png"/><Relationship Id="rId3" Type="http://schemas.openxmlformats.org/officeDocument/2006/relationships/slideLayout" Target="../slideLayouts/slideLayout73.xml"/><Relationship Id="rId7" Type="http://schemas.openxmlformats.org/officeDocument/2006/relationships/slideLayout" Target="../slideLayouts/slideLayout77.xml"/><Relationship Id="rId12" Type="http://schemas.openxmlformats.org/officeDocument/2006/relationships/theme" Target="../theme/theme8.xml"/><Relationship Id="rId2" Type="http://schemas.openxmlformats.org/officeDocument/2006/relationships/slideLayout" Target="../slideLayouts/slideLayout72.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5" Type="http://schemas.openxmlformats.org/officeDocument/2006/relationships/slideLayout" Target="../slideLayouts/slideLayout75.xml"/><Relationship Id="rId10" Type="http://schemas.openxmlformats.org/officeDocument/2006/relationships/slideLayout" Target="../slideLayouts/slideLayout80.xml"/><Relationship Id="rId4" Type="http://schemas.openxmlformats.org/officeDocument/2006/relationships/slideLayout" Target="../slideLayouts/slideLayout74.xml"/><Relationship Id="rId9" Type="http://schemas.openxmlformats.org/officeDocument/2006/relationships/slideLayout" Target="../slideLayouts/slideLayout79.xml"/><Relationship Id="rId14" Type="http://schemas.openxmlformats.org/officeDocument/2006/relationships/image" Target="../media/image7.png"/></Relationships>
</file>

<file path=ppt/slideMasters/_rels/slideMaster9.xml.rels><?xml version="1.0" encoding="UTF-8" standalone="yes"?>
<Relationships xmlns="http://schemas.openxmlformats.org/package/2006/relationships"><Relationship Id="rId8" Type="http://schemas.openxmlformats.org/officeDocument/2006/relationships/theme" Target="../theme/theme9.xml"/><Relationship Id="rId3" Type="http://schemas.openxmlformats.org/officeDocument/2006/relationships/slideLayout" Target="../slideLayouts/slideLayout84.xml"/><Relationship Id="rId7" Type="http://schemas.openxmlformats.org/officeDocument/2006/relationships/slideLayout" Target="../slideLayouts/slideLayout88.xml"/><Relationship Id="rId2" Type="http://schemas.openxmlformats.org/officeDocument/2006/relationships/slideLayout" Target="../slideLayouts/slideLayout83.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image" Target="../media/image9.emf"/><Relationship Id="rId5" Type="http://schemas.openxmlformats.org/officeDocument/2006/relationships/slideLayout" Target="../slideLayouts/slideLayout86.xml"/><Relationship Id="rId10" Type="http://schemas.openxmlformats.org/officeDocument/2006/relationships/image" Target="../media/image8.emf"/><Relationship Id="rId4" Type="http://schemas.openxmlformats.org/officeDocument/2006/relationships/slideLayout" Target="../slideLayouts/slideLayout85.xml"/><Relationship Id="rId9" Type="http://schemas.openxmlformats.org/officeDocument/2006/relationships/image" Target="../media/image2.jpe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96.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image" Target="../media/image2.jpeg"/><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theme" Target="../theme/theme10.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EE2E6FD-974C-B638-4D91-11E757995767}"/>
              </a:ext>
            </a:extLst>
          </p:cNvPr>
          <p:cNvSpPr/>
          <p:nvPr userDrawn="1"/>
        </p:nvSpPr>
        <p:spPr>
          <a:xfrm>
            <a:off x="0" y="0"/>
            <a:ext cx="12192000" cy="1081087"/>
          </a:xfrm>
          <a:prstGeom prst="rect">
            <a:avLst/>
          </a:prstGeom>
          <a:solidFill>
            <a:srgbClr val="8D1A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23" name="Text Placeholder 2"/>
          <p:cNvSpPr>
            <a:spLocks noGrp="1"/>
          </p:cNvSpPr>
          <p:nvPr>
            <p:ph type="body" idx="1"/>
          </p:nvPr>
        </p:nvSpPr>
        <p:spPr bwMode="auto">
          <a:xfrm>
            <a:off x="228600" y="1330326"/>
            <a:ext cx="11658600" cy="48687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p:cNvSpPr/>
          <p:nvPr/>
        </p:nvSpPr>
        <p:spPr>
          <a:xfrm>
            <a:off x="0" y="6278564"/>
            <a:ext cx="12192000" cy="579437"/>
          </a:xfrm>
          <a:prstGeom prst="rect">
            <a:avLst/>
          </a:prstGeom>
          <a:solidFill>
            <a:srgbClr val="8D1A1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defTabSz="457200" fontAlgn="base">
              <a:spcBef>
                <a:spcPct val="0"/>
              </a:spcBef>
              <a:spcAft>
                <a:spcPct val="0"/>
              </a:spcAft>
              <a:defRPr/>
            </a:pPr>
            <a:endParaRPr lang="en-US" sz="1800">
              <a:solidFill>
                <a:prstClr val="white"/>
              </a:solidFill>
            </a:endParaRPr>
          </a:p>
        </p:txBody>
      </p:sp>
      <p:cxnSp>
        <p:nvCxnSpPr>
          <p:cNvPr id="6" name="Straight Connector 5"/>
          <p:cNvCxnSpPr/>
          <p:nvPr/>
        </p:nvCxnSpPr>
        <p:spPr>
          <a:xfrm>
            <a:off x="0" y="1082675"/>
            <a:ext cx="12192000" cy="1588"/>
          </a:xfrm>
          <a:prstGeom prst="line">
            <a:avLst/>
          </a:prstGeom>
          <a:ln w="12700">
            <a:solidFill>
              <a:srgbClr val="B60225"/>
            </a:solidFill>
          </a:ln>
          <a:effectLst/>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2930A759-D337-62C7-B0C6-99A2684EBDF5}"/>
              </a:ext>
            </a:extLst>
          </p:cNvPr>
          <p:cNvPicPr>
            <a:picLocks noChangeAspect="1"/>
          </p:cNvPicPr>
          <p:nvPr userDrawn="1"/>
        </p:nvPicPr>
        <p:blipFill>
          <a:blip r:embed="rId7"/>
          <a:stretch>
            <a:fillRect/>
          </a:stretch>
        </p:blipFill>
        <p:spPr>
          <a:xfrm>
            <a:off x="9448800" y="85877"/>
            <a:ext cx="2606546" cy="886508"/>
          </a:xfrm>
          <a:prstGeom prst="rect">
            <a:avLst/>
          </a:prstGeom>
        </p:spPr>
      </p:pic>
    </p:spTree>
    <p:extLst>
      <p:ext uri="{BB962C8B-B14F-4D97-AF65-F5344CB8AC3E}">
        <p14:creationId xmlns:p14="http://schemas.microsoft.com/office/powerpoint/2010/main" val="3703665781"/>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Lst>
  <p:txStyles>
    <p:titleStyle>
      <a:lvl1pPr algn="r" defTabSz="457200" rtl="0" eaLnBrk="0" fontAlgn="base" hangingPunct="0">
        <a:spcBef>
          <a:spcPct val="0"/>
        </a:spcBef>
        <a:spcAft>
          <a:spcPct val="0"/>
        </a:spcAft>
        <a:defRPr sz="5400" kern="1200" baseline="6000">
          <a:solidFill>
            <a:schemeClr val="bg1"/>
          </a:solidFill>
          <a:latin typeface="Helvetica"/>
          <a:ea typeface="ＭＳ Ｐゴシック" pitchFamily="-112" charset="-128"/>
          <a:cs typeface="Helvetica"/>
        </a:defRPr>
      </a:lvl1pPr>
      <a:lvl2pPr algn="r" defTabSz="457200" rtl="0" eaLnBrk="0" fontAlgn="base" hangingPunct="0">
        <a:spcBef>
          <a:spcPct val="0"/>
        </a:spcBef>
        <a:spcAft>
          <a:spcPct val="0"/>
        </a:spcAft>
        <a:defRPr sz="5400" baseline="6000">
          <a:solidFill>
            <a:schemeClr val="bg1"/>
          </a:solidFill>
          <a:latin typeface="Helvetica" pitchFamily="-112" charset="0"/>
          <a:ea typeface="ＭＳ Ｐゴシック" pitchFamily="-112" charset="-128"/>
        </a:defRPr>
      </a:lvl2pPr>
      <a:lvl3pPr algn="r" defTabSz="457200" rtl="0" eaLnBrk="0" fontAlgn="base" hangingPunct="0">
        <a:spcBef>
          <a:spcPct val="0"/>
        </a:spcBef>
        <a:spcAft>
          <a:spcPct val="0"/>
        </a:spcAft>
        <a:defRPr sz="5400" baseline="6000">
          <a:solidFill>
            <a:schemeClr val="bg1"/>
          </a:solidFill>
          <a:latin typeface="Helvetica" pitchFamily="-112" charset="0"/>
          <a:ea typeface="ＭＳ Ｐゴシック" pitchFamily="-112" charset="-128"/>
        </a:defRPr>
      </a:lvl3pPr>
      <a:lvl4pPr algn="r" defTabSz="457200" rtl="0" eaLnBrk="0" fontAlgn="base" hangingPunct="0">
        <a:spcBef>
          <a:spcPct val="0"/>
        </a:spcBef>
        <a:spcAft>
          <a:spcPct val="0"/>
        </a:spcAft>
        <a:defRPr sz="5400" baseline="6000">
          <a:solidFill>
            <a:schemeClr val="bg1"/>
          </a:solidFill>
          <a:latin typeface="Helvetica" pitchFamily="-112" charset="0"/>
          <a:ea typeface="ＭＳ Ｐゴシック" pitchFamily="-112" charset="-128"/>
        </a:defRPr>
      </a:lvl4pPr>
      <a:lvl5pPr algn="r" defTabSz="457200" rtl="0" eaLnBrk="0" fontAlgn="base" hangingPunct="0">
        <a:spcBef>
          <a:spcPct val="0"/>
        </a:spcBef>
        <a:spcAft>
          <a:spcPct val="0"/>
        </a:spcAft>
        <a:defRPr sz="5400" baseline="6000">
          <a:solidFill>
            <a:schemeClr val="bg1"/>
          </a:solidFill>
          <a:latin typeface="Helvetica" pitchFamily="-112" charset="0"/>
          <a:ea typeface="ＭＳ Ｐゴシック" pitchFamily="-112" charset="-128"/>
        </a:defRPr>
      </a:lvl5pPr>
      <a:lvl6pPr marL="457200" algn="r" defTabSz="457200" rtl="0" fontAlgn="base">
        <a:spcBef>
          <a:spcPct val="0"/>
        </a:spcBef>
        <a:spcAft>
          <a:spcPct val="0"/>
        </a:spcAft>
        <a:defRPr sz="5400" baseline="6000">
          <a:solidFill>
            <a:schemeClr val="bg1"/>
          </a:solidFill>
          <a:latin typeface="Helvetica" pitchFamily="-112" charset="0"/>
          <a:ea typeface="ＭＳ Ｐゴシック" pitchFamily="-112" charset="-128"/>
        </a:defRPr>
      </a:lvl6pPr>
      <a:lvl7pPr marL="914400" algn="r" defTabSz="457200" rtl="0" fontAlgn="base">
        <a:spcBef>
          <a:spcPct val="0"/>
        </a:spcBef>
        <a:spcAft>
          <a:spcPct val="0"/>
        </a:spcAft>
        <a:defRPr sz="5400" baseline="6000">
          <a:solidFill>
            <a:schemeClr val="bg1"/>
          </a:solidFill>
          <a:latin typeface="Helvetica" pitchFamily="-112" charset="0"/>
          <a:ea typeface="ＭＳ Ｐゴシック" pitchFamily="-112" charset="-128"/>
        </a:defRPr>
      </a:lvl7pPr>
      <a:lvl8pPr marL="1371600" algn="r" defTabSz="457200" rtl="0" fontAlgn="base">
        <a:spcBef>
          <a:spcPct val="0"/>
        </a:spcBef>
        <a:spcAft>
          <a:spcPct val="0"/>
        </a:spcAft>
        <a:defRPr sz="5400" baseline="6000">
          <a:solidFill>
            <a:schemeClr val="bg1"/>
          </a:solidFill>
          <a:latin typeface="Helvetica" pitchFamily="-112" charset="0"/>
          <a:ea typeface="ＭＳ Ｐゴシック" pitchFamily="-112" charset="-128"/>
        </a:defRPr>
      </a:lvl8pPr>
      <a:lvl9pPr marL="1828800" algn="r" defTabSz="457200" rtl="0" fontAlgn="base">
        <a:spcBef>
          <a:spcPct val="0"/>
        </a:spcBef>
        <a:spcAft>
          <a:spcPct val="0"/>
        </a:spcAft>
        <a:defRPr sz="5400" baseline="6000">
          <a:solidFill>
            <a:schemeClr val="bg1"/>
          </a:solidFill>
          <a:latin typeface="Helvetica" pitchFamily="-112" charset="0"/>
          <a:ea typeface="ＭＳ Ｐゴシック" pitchFamily="-112" charset="-128"/>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Helvetica"/>
          <a:ea typeface="ＭＳ Ｐゴシック" pitchFamily="-112" charset="-128"/>
          <a:cs typeface="Helvetica"/>
        </a:defRPr>
      </a:lvl1pPr>
      <a:lvl2pPr marL="742950" indent="-285750" algn="l" defTabSz="457200" rtl="0" eaLnBrk="0" fontAlgn="base" hangingPunct="0">
        <a:spcBef>
          <a:spcPct val="20000"/>
        </a:spcBef>
        <a:spcAft>
          <a:spcPct val="0"/>
        </a:spcAft>
        <a:buFont typeface="Lucida Grande" charset="0"/>
        <a:buChar char="–"/>
        <a:defRPr sz="2800" kern="1200">
          <a:solidFill>
            <a:schemeClr val="tx1"/>
          </a:solidFill>
          <a:latin typeface="Helvetica"/>
          <a:ea typeface="ＭＳ Ｐゴシック" pitchFamily="-112" charset="-128"/>
          <a:cs typeface="Helvetica"/>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Helvetica"/>
          <a:ea typeface="ＭＳ Ｐゴシック" pitchFamily="-112" charset="-128"/>
          <a:cs typeface="Helvetica"/>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Helvetica"/>
          <a:ea typeface="ＭＳ Ｐゴシック" pitchFamily="-112" charset="-128"/>
          <a:cs typeface="Helvetica"/>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Helvetica"/>
          <a:ea typeface="ＭＳ Ｐゴシック" pitchFamily="-112" charset="-128"/>
          <a:cs typeface="Helvetic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title"/>
          </p:nvPr>
        </p:nvSpPr>
        <p:spPr bwMode="auto">
          <a:xfrm>
            <a:off x="289872" y="152400"/>
            <a:ext cx="11673527" cy="779462"/>
          </a:xfrm>
          <a:prstGeom prst="rect">
            <a:avLst/>
          </a:prstGeom>
          <a:noFill/>
          <a:ln w="9525">
            <a:noFill/>
            <a:miter lim="800000"/>
            <a:headEnd/>
            <a:tailEnd/>
          </a:ln>
        </p:spPr>
        <p:txBody>
          <a:bodyPr vert="horz" wrap="square" lIns="0" tIns="0" rIns="91440" bIns="45720" numCol="1" anchor="ctr" anchorCtr="0" compatLnSpc="1">
            <a:prstTxWarp prst="textNoShape">
              <a:avLst/>
            </a:prstTxWarp>
          </a:bodyPr>
          <a:lstStyle/>
          <a:p>
            <a:pPr lvl="0"/>
            <a:r>
              <a:rPr lang="de-DE" dirty="0"/>
              <a:t>Click to add title</a:t>
            </a:r>
          </a:p>
        </p:txBody>
      </p:sp>
      <p:sp>
        <p:nvSpPr>
          <p:cNvPr id="1028" name="Rectangle 4"/>
          <p:cNvSpPr>
            <a:spLocks noGrp="1" noChangeArrowheads="1"/>
          </p:cNvSpPr>
          <p:nvPr>
            <p:ph type="body" idx="1"/>
          </p:nvPr>
        </p:nvSpPr>
        <p:spPr bwMode="auto">
          <a:xfrm>
            <a:off x="289873" y="946942"/>
            <a:ext cx="11673527" cy="5301458"/>
          </a:xfrm>
          <a:prstGeom prst="rect">
            <a:avLst/>
          </a:prstGeom>
          <a:noFill/>
          <a:ln w="9525">
            <a:noFill/>
            <a:miter lim="800000"/>
            <a:headEnd/>
            <a:tailEnd/>
          </a:ln>
        </p:spPr>
        <p:txBody>
          <a:bodyPr vert="horz" wrap="square" lIns="0" tIns="0" rIns="91440" bIns="45720" numCol="1" anchor="t" anchorCtr="0" compatLnSpc="1">
            <a:prstTxWarp prst="textNoShape">
              <a:avLst/>
            </a:prstTxWarp>
          </a:bodyPr>
          <a:lstStyle/>
          <a:p>
            <a:pPr lvl="0"/>
            <a:r>
              <a:rPr lang="de-DE" dirty="0"/>
              <a:t>Klicken Sie, um die Formate des Vorlagentextes zu bearbeiten</a:t>
            </a:r>
          </a:p>
          <a:p>
            <a:pPr lvl="1"/>
            <a:r>
              <a:rPr lang="de-DE" dirty="0"/>
              <a:t>Level 2</a:t>
            </a:r>
          </a:p>
          <a:p>
            <a:pPr lvl="2"/>
            <a:r>
              <a:rPr lang="de-DE" dirty="0"/>
              <a:t>Level 3</a:t>
            </a:r>
          </a:p>
          <a:p>
            <a:pPr lvl="3"/>
            <a:r>
              <a:rPr lang="de-DE" dirty="0"/>
              <a:t>Level 4</a:t>
            </a:r>
          </a:p>
        </p:txBody>
      </p:sp>
      <p:pic>
        <p:nvPicPr>
          <p:cNvPr id="9" name="Picture 7" descr="PPTbackground_Red.jpg"/>
          <p:cNvPicPr>
            <a:picLocks noChangeAspect="1"/>
          </p:cNvPicPr>
          <p:nvPr userDrawn="1"/>
        </p:nvPicPr>
        <p:blipFill>
          <a:blip r:embed="rId13"/>
          <a:srcRect b="97814"/>
          <a:stretch>
            <a:fillRect/>
          </a:stretch>
        </p:blipFill>
        <p:spPr bwMode="auto">
          <a:xfrm flipH="1">
            <a:off x="0" y="-11905"/>
            <a:ext cx="12192000" cy="149225"/>
          </a:xfrm>
          <a:prstGeom prst="rect">
            <a:avLst/>
          </a:prstGeom>
          <a:noFill/>
          <a:ln w="9525">
            <a:noFill/>
            <a:miter lim="800000"/>
            <a:headEnd/>
            <a:tailEnd/>
          </a:ln>
          <a:effectLst>
            <a:outerShdw blurRad="136525" dist="38100" dir="2700000" algn="tl" rotWithShape="0">
              <a:srgbClr val="000000">
                <a:alpha val="43000"/>
              </a:srgbClr>
            </a:outerShdw>
          </a:effectLst>
        </p:spPr>
      </p:pic>
      <p:sp>
        <p:nvSpPr>
          <p:cNvPr id="11" name="Rectangle 10"/>
          <p:cNvSpPr/>
          <p:nvPr userDrawn="1"/>
        </p:nvSpPr>
        <p:spPr>
          <a:xfrm>
            <a:off x="0" y="6324601"/>
            <a:ext cx="12192000" cy="544290"/>
          </a:xfrm>
          <a:prstGeom prst="rect">
            <a:avLst/>
          </a:prstGeom>
          <a:solidFill>
            <a:srgbClr val="8D1A1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dirty="0">
              <a:solidFill>
                <a:srgbClr val="8D1A11"/>
              </a:solidFill>
            </a:endParaRPr>
          </a:p>
        </p:txBody>
      </p:sp>
      <p:sp>
        <p:nvSpPr>
          <p:cNvPr id="2" name="Rectangle 1">
            <a:extLst>
              <a:ext uri="{FF2B5EF4-FFF2-40B4-BE49-F238E27FC236}">
                <a16:creationId xmlns:a16="http://schemas.microsoft.com/office/drawing/2014/main" id="{4FB0E251-CC22-766A-8CA5-85DFC9747F54}"/>
              </a:ext>
            </a:extLst>
          </p:cNvPr>
          <p:cNvSpPr/>
          <p:nvPr userDrawn="1"/>
        </p:nvSpPr>
        <p:spPr bwMode="auto">
          <a:xfrm>
            <a:off x="-3243" y="0"/>
            <a:ext cx="12191999" cy="137320"/>
          </a:xfrm>
          <a:prstGeom prst="rect">
            <a:avLst/>
          </a:prstGeom>
          <a:solidFill>
            <a:srgbClr val="8D1A1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pic>
        <p:nvPicPr>
          <p:cNvPr id="5" name="Picture 4" descr="A logo with text on it&#10;&#10;AI-generated content may be incorrect.">
            <a:extLst>
              <a:ext uri="{FF2B5EF4-FFF2-40B4-BE49-F238E27FC236}">
                <a16:creationId xmlns:a16="http://schemas.microsoft.com/office/drawing/2014/main" id="{520735B3-D6D0-5F46-233B-DAB85DBEF77C}"/>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1506200" y="155847"/>
            <a:ext cx="609362" cy="609362"/>
          </a:xfrm>
          <a:prstGeom prst="rect">
            <a:avLst/>
          </a:prstGeom>
        </p:spPr>
      </p:pic>
    </p:spTree>
    <p:extLst>
      <p:ext uri="{BB962C8B-B14F-4D97-AF65-F5344CB8AC3E}">
        <p14:creationId xmlns:p14="http://schemas.microsoft.com/office/powerpoint/2010/main" val="498247645"/>
      </p:ext>
    </p:extLst>
  </p:cSld>
  <p:clrMap bg1="lt1" tx1="dk1" bg2="lt2" tx2="dk2" accent1="accent1" accent2="accent2" accent3="accent3" accent4="accent4" accent5="accent5" accent6="accent6" hlink="hlink" folHlink="folHlink"/>
  <p:sldLayoutIdLst>
    <p:sldLayoutId id="2147483752" r:id="rId1"/>
    <p:sldLayoutId id="2147483768"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ransition/>
  <p:txStyles>
    <p:titleStyle>
      <a:lvl1pPr algn="l" rtl="0" eaLnBrk="1" fontAlgn="base" hangingPunct="1">
        <a:lnSpc>
          <a:spcPct val="95000"/>
        </a:lnSpc>
        <a:spcBef>
          <a:spcPct val="0"/>
        </a:spcBef>
        <a:spcAft>
          <a:spcPct val="0"/>
        </a:spcAft>
        <a:defRPr sz="2600" b="1">
          <a:solidFill>
            <a:srgbClr val="003399"/>
          </a:solidFill>
          <a:latin typeface="Verdana" pitchFamily="34" charset="0"/>
          <a:ea typeface="+mj-ea"/>
          <a:cs typeface="+mj-cs"/>
        </a:defRPr>
      </a:lvl1pPr>
      <a:lvl2pPr algn="l" rtl="0" eaLnBrk="1" fontAlgn="base" hangingPunct="1">
        <a:lnSpc>
          <a:spcPct val="95000"/>
        </a:lnSpc>
        <a:spcBef>
          <a:spcPct val="0"/>
        </a:spcBef>
        <a:spcAft>
          <a:spcPct val="0"/>
        </a:spcAft>
        <a:defRPr sz="2600">
          <a:solidFill>
            <a:srgbClr val="003399"/>
          </a:solidFill>
          <a:latin typeface="Verdana" pitchFamily="34" charset="0"/>
        </a:defRPr>
      </a:lvl2pPr>
      <a:lvl3pPr algn="l" rtl="0" eaLnBrk="1" fontAlgn="base" hangingPunct="1">
        <a:lnSpc>
          <a:spcPct val="95000"/>
        </a:lnSpc>
        <a:spcBef>
          <a:spcPct val="0"/>
        </a:spcBef>
        <a:spcAft>
          <a:spcPct val="0"/>
        </a:spcAft>
        <a:defRPr sz="2600">
          <a:solidFill>
            <a:srgbClr val="003399"/>
          </a:solidFill>
          <a:latin typeface="Verdana" pitchFamily="34" charset="0"/>
        </a:defRPr>
      </a:lvl3pPr>
      <a:lvl4pPr algn="l" rtl="0" eaLnBrk="1" fontAlgn="base" hangingPunct="1">
        <a:lnSpc>
          <a:spcPct val="95000"/>
        </a:lnSpc>
        <a:spcBef>
          <a:spcPct val="0"/>
        </a:spcBef>
        <a:spcAft>
          <a:spcPct val="0"/>
        </a:spcAft>
        <a:defRPr sz="2600">
          <a:solidFill>
            <a:srgbClr val="003399"/>
          </a:solidFill>
          <a:latin typeface="Verdana" pitchFamily="34" charset="0"/>
        </a:defRPr>
      </a:lvl4pPr>
      <a:lvl5pPr algn="l" rtl="0" eaLnBrk="1" fontAlgn="base" hangingPunct="1">
        <a:lnSpc>
          <a:spcPct val="95000"/>
        </a:lnSpc>
        <a:spcBef>
          <a:spcPct val="0"/>
        </a:spcBef>
        <a:spcAft>
          <a:spcPct val="0"/>
        </a:spcAft>
        <a:defRPr sz="2600">
          <a:solidFill>
            <a:srgbClr val="003399"/>
          </a:solidFill>
          <a:latin typeface="Verdana" pitchFamily="34" charset="0"/>
        </a:defRPr>
      </a:lvl5pPr>
      <a:lvl6pPr marL="457200" algn="l" rtl="0" eaLnBrk="1" fontAlgn="base" hangingPunct="1">
        <a:lnSpc>
          <a:spcPct val="95000"/>
        </a:lnSpc>
        <a:spcBef>
          <a:spcPct val="0"/>
        </a:spcBef>
        <a:spcAft>
          <a:spcPct val="0"/>
        </a:spcAft>
        <a:defRPr sz="2600">
          <a:solidFill>
            <a:srgbClr val="003399"/>
          </a:solidFill>
          <a:latin typeface="Arial" charset="0"/>
        </a:defRPr>
      </a:lvl6pPr>
      <a:lvl7pPr marL="914400" algn="l" rtl="0" eaLnBrk="1" fontAlgn="base" hangingPunct="1">
        <a:lnSpc>
          <a:spcPct val="95000"/>
        </a:lnSpc>
        <a:spcBef>
          <a:spcPct val="0"/>
        </a:spcBef>
        <a:spcAft>
          <a:spcPct val="0"/>
        </a:spcAft>
        <a:defRPr sz="2600">
          <a:solidFill>
            <a:srgbClr val="003399"/>
          </a:solidFill>
          <a:latin typeface="Arial" charset="0"/>
        </a:defRPr>
      </a:lvl7pPr>
      <a:lvl8pPr marL="1371600" algn="l" rtl="0" eaLnBrk="1" fontAlgn="base" hangingPunct="1">
        <a:lnSpc>
          <a:spcPct val="95000"/>
        </a:lnSpc>
        <a:spcBef>
          <a:spcPct val="0"/>
        </a:spcBef>
        <a:spcAft>
          <a:spcPct val="0"/>
        </a:spcAft>
        <a:defRPr sz="2600">
          <a:solidFill>
            <a:srgbClr val="003399"/>
          </a:solidFill>
          <a:latin typeface="Arial" charset="0"/>
        </a:defRPr>
      </a:lvl8pPr>
      <a:lvl9pPr marL="1828800" algn="l" rtl="0" eaLnBrk="1" fontAlgn="base" hangingPunct="1">
        <a:lnSpc>
          <a:spcPct val="95000"/>
        </a:lnSpc>
        <a:spcBef>
          <a:spcPct val="0"/>
        </a:spcBef>
        <a:spcAft>
          <a:spcPct val="0"/>
        </a:spcAft>
        <a:defRPr sz="2600">
          <a:solidFill>
            <a:srgbClr val="003399"/>
          </a:solidFill>
          <a:latin typeface="Arial" charset="0"/>
        </a:defRPr>
      </a:lvl9pPr>
    </p:titleStyle>
    <p:bodyStyle>
      <a:lvl1pPr marL="342900" indent="-342900" algn="l" rtl="0" eaLnBrk="1" fontAlgn="base" hangingPunct="1">
        <a:spcBef>
          <a:spcPct val="20000"/>
        </a:spcBef>
        <a:spcAft>
          <a:spcPct val="0"/>
        </a:spcAft>
        <a:buChar char="•"/>
        <a:defRPr sz="2400">
          <a:solidFill>
            <a:schemeClr val="tx1"/>
          </a:solidFill>
          <a:latin typeface="Verdana" pitchFamily="34" charset="0"/>
          <a:ea typeface="+mn-ea"/>
          <a:cs typeface="+mn-cs"/>
        </a:defRPr>
      </a:lvl1pPr>
      <a:lvl2pPr marL="742950" indent="-285750" algn="l" rtl="0" eaLnBrk="1" fontAlgn="base" hangingPunct="1">
        <a:spcBef>
          <a:spcPct val="20000"/>
        </a:spcBef>
        <a:spcAft>
          <a:spcPct val="0"/>
        </a:spcAft>
        <a:buChar char="–"/>
        <a:defRPr sz="2200">
          <a:solidFill>
            <a:schemeClr val="tx1"/>
          </a:solidFill>
          <a:latin typeface="Verdana" pitchFamily="34" charset="0"/>
        </a:defRPr>
      </a:lvl2pPr>
      <a:lvl3pPr marL="1143000" indent="-228600" algn="l" rtl="0" eaLnBrk="1" fontAlgn="base" hangingPunct="1">
        <a:spcBef>
          <a:spcPct val="20000"/>
        </a:spcBef>
        <a:spcAft>
          <a:spcPct val="0"/>
        </a:spcAft>
        <a:buChar char="•"/>
        <a:defRPr>
          <a:solidFill>
            <a:schemeClr val="tx1"/>
          </a:solidFill>
          <a:latin typeface="Verdana" pitchFamily="34" charset="0"/>
        </a:defRPr>
      </a:lvl3pPr>
      <a:lvl4pPr marL="1600200" indent="-228600" algn="l" rtl="0" eaLnBrk="1" fontAlgn="base" hangingPunct="1">
        <a:spcBef>
          <a:spcPct val="20000"/>
        </a:spcBef>
        <a:spcAft>
          <a:spcPct val="0"/>
        </a:spcAft>
        <a:buChar char="–"/>
        <a:defRPr sz="1600">
          <a:solidFill>
            <a:schemeClr val="tx1"/>
          </a:solidFill>
          <a:latin typeface="Verdana" pitchFamily="34" charset="0"/>
        </a:defRPr>
      </a:lvl4pPr>
      <a:lvl5pPr marL="2057400" indent="-228600" algn="l" rtl="0" eaLnBrk="1" fontAlgn="base" hangingPunct="1">
        <a:spcBef>
          <a:spcPct val="20000"/>
        </a:spcBef>
        <a:spcAft>
          <a:spcPct val="0"/>
        </a:spcAft>
        <a:buChar char="»"/>
        <a:defRPr sz="1500">
          <a:solidFill>
            <a:srgbClr val="003399"/>
          </a:solidFill>
          <a:latin typeface="Siemens Sans" pitchFamily="2" charset="0"/>
        </a:defRPr>
      </a:lvl5pPr>
      <a:lvl6pPr marL="2514600" indent="-228600" algn="l" rtl="0" eaLnBrk="1" fontAlgn="base" hangingPunct="1">
        <a:spcBef>
          <a:spcPct val="20000"/>
        </a:spcBef>
        <a:spcAft>
          <a:spcPct val="0"/>
        </a:spcAft>
        <a:buChar char="»"/>
        <a:defRPr sz="1500">
          <a:solidFill>
            <a:srgbClr val="003399"/>
          </a:solidFill>
          <a:latin typeface="Siemens Sans" pitchFamily="2" charset="0"/>
        </a:defRPr>
      </a:lvl6pPr>
      <a:lvl7pPr marL="2971800" indent="-228600" algn="l" rtl="0" eaLnBrk="1" fontAlgn="base" hangingPunct="1">
        <a:spcBef>
          <a:spcPct val="20000"/>
        </a:spcBef>
        <a:spcAft>
          <a:spcPct val="0"/>
        </a:spcAft>
        <a:buChar char="»"/>
        <a:defRPr sz="1500">
          <a:solidFill>
            <a:srgbClr val="003399"/>
          </a:solidFill>
          <a:latin typeface="Siemens Sans" pitchFamily="2" charset="0"/>
        </a:defRPr>
      </a:lvl7pPr>
      <a:lvl8pPr marL="3429000" indent="-228600" algn="l" rtl="0" eaLnBrk="1" fontAlgn="base" hangingPunct="1">
        <a:spcBef>
          <a:spcPct val="20000"/>
        </a:spcBef>
        <a:spcAft>
          <a:spcPct val="0"/>
        </a:spcAft>
        <a:buChar char="»"/>
        <a:defRPr sz="1500">
          <a:solidFill>
            <a:srgbClr val="003399"/>
          </a:solidFill>
          <a:latin typeface="Siemens Sans" pitchFamily="2" charset="0"/>
        </a:defRPr>
      </a:lvl8pPr>
      <a:lvl9pPr marL="3886200" indent="-228600" algn="l" rtl="0" eaLnBrk="1" fontAlgn="base" hangingPunct="1">
        <a:spcBef>
          <a:spcPct val="20000"/>
        </a:spcBef>
        <a:spcAft>
          <a:spcPct val="0"/>
        </a:spcAft>
        <a:buChar char="»"/>
        <a:defRPr sz="1500">
          <a:solidFill>
            <a:srgbClr val="003399"/>
          </a:solidFill>
          <a:latin typeface="Siemens Sans" pitchFamily="2"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title"/>
          </p:nvPr>
        </p:nvSpPr>
        <p:spPr bwMode="auto">
          <a:xfrm>
            <a:off x="289872" y="152400"/>
            <a:ext cx="11684000" cy="779462"/>
          </a:xfrm>
          <a:prstGeom prst="rect">
            <a:avLst/>
          </a:prstGeom>
          <a:noFill/>
          <a:ln w="9525">
            <a:noFill/>
            <a:miter lim="800000"/>
            <a:headEnd/>
            <a:tailEnd/>
          </a:ln>
        </p:spPr>
        <p:txBody>
          <a:bodyPr vert="horz" wrap="square" lIns="0" tIns="0" rIns="91440" bIns="45720" numCol="1" anchor="ctr" anchorCtr="0" compatLnSpc="1">
            <a:prstTxWarp prst="textNoShape">
              <a:avLst/>
            </a:prstTxWarp>
          </a:bodyPr>
          <a:lstStyle/>
          <a:p>
            <a:pPr lvl="0"/>
            <a:r>
              <a:rPr lang="de-DE" dirty="0"/>
              <a:t>Click to add title</a:t>
            </a:r>
          </a:p>
        </p:txBody>
      </p:sp>
      <p:sp>
        <p:nvSpPr>
          <p:cNvPr id="1028" name="Rectangle 4"/>
          <p:cNvSpPr>
            <a:spLocks noGrp="1" noChangeArrowheads="1"/>
          </p:cNvSpPr>
          <p:nvPr>
            <p:ph type="body" idx="1"/>
          </p:nvPr>
        </p:nvSpPr>
        <p:spPr bwMode="auto">
          <a:xfrm>
            <a:off x="289873" y="946943"/>
            <a:ext cx="11684000" cy="5342511"/>
          </a:xfrm>
          <a:prstGeom prst="rect">
            <a:avLst/>
          </a:prstGeom>
          <a:noFill/>
          <a:ln w="9525">
            <a:noFill/>
            <a:miter lim="800000"/>
            <a:headEnd/>
            <a:tailEnd/>
          </a:ln>
        </p:spPr>
        <p:txBody>
          <a:bodyPr vert="horz" wrap="square" lIns="0" tIns="0" rIns="91440" bIns="45720" numCol="1" anchor="t" anchorCtr="0" compatLnSpc="1">
            <a:prstTxWarp prst="textNoShape">
              <a:avLst/>
            </a:prstTxWarp>
          </a:bodyPr>
          <a:lstStyle/>
          <a:p>
            <a:pPr lvl="0"/>
            <a:r>
              <a:rPr lang="de-DE" dirty="0"/>
              <a:t>Klicken Sie, um die Formate des Vorlagentextes zu bearbeiten</a:t>
            </a:r>
          </a:p>
          <a:p>
            <a:pPr lvl="1"/>
            <a:r>
              <a:rPr lang="de-DE" dirty="0"/>
              <a:t>Level 2</a:t>
            </a:r>
          </a:p>
          <a:p>
            <a:pPr lvl="2"/>
            <a:r>
              <a:rPr lang="de-DE" dirty="0"/>
              <a:t>Level 3</a:t>
            </a:r>
          </a:p>
          <a:p>
            <a:pPr lvl="3"/>
            <a:r>
              <a:rPr lang="de-DE" dirty="0"/>
              <a:t>Level 4</a:t>
            </a:r>
          </a:p>
        </p:txBody>
      </p:sp>
      <p:pic>
        <p:nvPicPr>
          <p:cNvPr id="9" name="Picture 7" descr="PPTbackground_Red.jpg"/>
          <p:cNvPicPr>
            <a:picLocks noChangeAspect="1"/>
          </p:cNvPicPr>
          <p:nvPr userDrawn="1"/>
        </p:nvPicPr>
        <p:blipFill>
          <a:blip r:embed="rId12"/>
          <a:srcRect b="97814"/>
          <a:stretch>
            <a:fillRect/>
          </a:stretch>
        </p:blipFill>
        <p:spPr bwMode="auto">
          <a:xfrm flipH="1">
            <a:off x="0" y="-11905"/>
            <a:ext cx="12192000" cy="149225"/>
          </a:xfrm>
          <a:prstGeom prst="rect">
            <a:avLst/>
          </a:prstGeom>
          <a:noFill/>
          <a:ln w="9525">
            <a:noFill/>
            <a:miter lim="800000"/>
            <a:headEnd/>
            <a:tailEnd/>
          </a:ln>
          <a:effectLst>
            <a:outerShdw blurRad="136525" dist="38100" dir="2700000" algn="tl" rotWithShape="0">
              <a:srgbClr val="000000">
                <a:alpha val="43000"/>
              </a:srgbClr>
            </a:outerShdw>
          </a:effectLst>
        </p:spPr>
      </p:pic>
      <p:sp>
        <p:nvSpPr>
          <p:cNvPr id="11" name="Rectangle 10"/>
          <p:cNvSpPr/>
          <p:nvPr userDrawn="1"/>
        </p:nvSpPr>
        <p:spPr>
          <a:xfrm>
            <a:off x="0" y="6289453"/>
            <a:ext cx="12192000" cy="579437"/>
          </a:xfrm>
          <a:prstGeom prst="rect">
            <a:avLst/>
          </a:prstGeom>
          <a:solidFill>
            <a:srgbClr val="B60225"/>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p>
        </p:txBody>
      </p:sp>
      <p:pic>
        <p:nvPicPr>
          <p:cNvPr id="7" name="Picture 6">
            <a:extLst>
              <a:ext uri="{FF2B5EF4-FFF2-40B4-BE49-F238E27FC236}">
                <a16:creationId xmlns:a16="http://schemas.microsoft.com/office/drawing/2014/main" id="{1282C09A-4B99-4120-BB38-6F0BB8FD4FE8}"/>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1201400" y="201693"/>
            <a:ext cx="941771" cy="331628"/>
          </a:xfrm>
          <a:prstGeom prst="rect">
            <a:avLst/>
          </a:prstGeom>
        </p:spPr>
      </p:pic>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p:transition/>
  <p:txStyles>
    <p:titleStyle>
      <a:lvl1pPr algn="l" rtl="0" eaLnBrk="1" fontAlgn="base" hangingPunct="1">
        <a:lnSpc>
          <a:spcPct val="95000"/>
        </a:lnSpc>
        <a:spcBef>
          <a:spcPct val="0"/>
        </a:spcBef>
        <a:spcAft>
          <a:spcPct val="0"/>
        </a:spcAft>
        <a:defRPr sz="2600" b="1">
          <a:solidFill>
            <a:srgbClr val="003399"/>
          </a:solidFill>
          <a:latin typeface="Verdana" pitchFamily="34" charset="0"/>
          <a:ea typeface="+mj-ea"/>
          <a:cs typeface="+mj-cs"/>
        </a:defRPr>
      </a:lvl1pPr>
      <a:lvl2pPr algn="l" rtl="0" eaLnBrk="1" fontAlgn="base" hangingPunct="1">
        <a:lnSpc>
          <a:spcPct val="95000"/>
        </a:lnSpc>
        <a:spcBef>
          <a:spcPct val="0"/>
        </a:spcBef>
        <a:spcAft>
          <a:spcPct val="0"/>
        </a:spcAft>
        <a:defRPr sz="2600">
          <a:solidFill>
            <a:srgbClr val="003399"/>
          </a:solidFill>
          <a:latin typeface="Verdana" pitchFamily="34" charset="0"/>
        </a:defRPr>
      </a:lvl2pPr>
      <a:lvl3pPr algn="l" rtl="0" eaLnBrk="1" fontAlgn="base" hangingPunct="1">
        <a:lnSpc>
          <a:spcPct val="95000"/>
        </a:lnSpc>
        <a:spcBef>
          <a:spcPct val="0"/>
        </a:spcBef>
        <a:spcAft>
          <a:spcPct val="0"/>
        </a:spcAft>
        <a:defRPr sz="2600">
          <a:solidFill>
            <a:srgbClr val="003399"/>
          </a:solidFill>
          <a:latin typeface="Verdana" pitchFamily="34" charset="0"/>
        </a:defRPr>
      </a:lvl3pPr>
      <a:lvl4pPr algn="l" rtl="0" eaLnBrk="1" fontAlgn="base" hangingPunct="1">
        <a:lnSpc>
          <a:spcPct val="95000"/>
        </a:lnSpc>
        <a:spcBef>
          <a:spcPct val="0"/>
        </a:spcBef>
        <a:spcAft>
          <a:spcPct val="0"/>
        </a:spcAft>
        <a:defRPr sz="2600">
          <a:solidFill>
            <a:srgbClr val="003399"/>
          </a:solidFill>
          <a:latin typeface="Verdana" pitchFamily="34" charset="0"/>
        </a:defRPr>
      </a:lvl4pPr>
      <a:lvl5pPr algn="l" rtl="0" eaLnBrk="1" fontAlgn="base" hangingPunct="1">
        <a:lnSpc>
          <a:spcPct val="95000"/>
        </a:lnSpc>
        <a:spcBef>
          <a:spcPct val="0"/>
        </a:spcBef>
        <a:spcAft>
          <a:spcPct val="0"/>
        </a:spcAft>
        <a:defRPr sz="2600">
          <a:solidFill>
            <a:srgbClr val="003399"/>
          </a:solidFill>
          <a:latin typeface="Verdana" pitchFamily="34" charset="0"/>
        </a:defRPr>
      </a:lvl5pPr>
      <a:lvl6pPr marL="457200" algn="l" rtl="0" eaLnBrk="1" fontAlgn="base" hangingPunct="1">
        <a:lnSpc>
          <a:spcPct val="95000"/>
        </a:lnSpc>
        <a:spcBef>
          <a:spcPct val="0"/>
        </a:spcBef>
        <a:spcAft>
          <a:spcPct val="0"/>
        </a:spcAft>
        <a:defRPr sz="2600">
          <a:solidFill>
            <a:srgbClr val="003399"/>
          </a:solidFill>
          <a:latin typeface="Arial" charset="0"/>
        </a:defRPr>
      </a:lvl6pPr>
      <a:lvl7pPr marL="914400" algn="l" rtl="0" eaLnBrk="1" fontAlgn="base" hangingPunct="1">
        <a:lnSpc>
          <a:spcPct val="95000"/>
        </a:lnSpc>
        <a:spcBef>
          <a:spcPct val="0"/>
        </a:spcBef>
        <a:spcAft>
          <a:spcPct val="0"/>
        </a:spcAft>
        <a:defRPr sz="2600">
          <a:solidFill>
            <a:srgbClr val="003399"/>
          </a:solidFill>
          <a:latin typeface="Arial" charset="0"/>
        </a:defRPr>
      </a:lvl7pPr>
      <a:lvl8pPr marL="1371600" algn="l" rtl="0" eaLnBrk="1" fontAlgn="base" hangingPunct="1">
        <a:lnSpc>
          <a:spcPct val="95000"/>
        </a:lnSpc>
        <a:spcBef>
          <a:spcPct val="0"/>
        </a:spcBef>
        <a:spcAft>
          <a:spcPct val="0"/>
        </a:spcAft>
        <a:defRPr sz="2600">
          <a:solidFill>
            <a:srgbClr val="003399"/>
          </a:solidFill>
          <a:latin typeface="Arial" charset="0"/>
        </a:defRPr>
      </a:lvl8pPr>
      <a:lvl9pPr marL="1828800" algn="l" rtl="0" eaLnBrk="1" fontAlgn="base" hangingPunct="1">
        <a:lnSpc>
          <a:spcPct val="95000"/>
        </a:lnSpc>
        <a:spcBef>
          <a:spcPct val="0"/>
        </a:spcBef>
        <a:spcAft>
          <a:spcPct val="0"/>
        </a:spcAft>
        <a:defRPr sz="2600">
          <a:solidFill>
            <a:srgbClr val="003399"/>
          </a:solidFill>
          <a:latin typeface="Arial" charset="0"/>
        </a:defRPr>
      </a:lvl9pPr>
    </p:titleStyle>
    <p:bodyStyle>
      <a:lvl1pPr marL="342900" indent="-342900" algn="l" rtl="0" eaLnBrk="1" fontAlgn="base" hangingPunct="1">
        <a:spcBef>
          <a:spcPct val="20000"/>
        </a:spcBef>
        <a:spcAft>
          <a:spcPct val="0"/>
        </a:spcAft>
        <a:buChar char="•"/>
        <a:defRPr sz="2400">
          <a:solidFill>
            <a:schemeClr val="tx1"/>
          </a:solidFill>
          <a:latin typeface="Verdana" pitchFamily="34" charset="0"/>
          <a:ea typeface="+mn-ea"/>
          <a:cs typeface="+mn-cs"/>
        </a:defRPr>
      </a:lvl1pPr>
      <a:lvl2pPr marL="742950" indent="-285750" algn="l" rtl="0" eaLnBrk="1" fontAlgn="base" hangingPunct="1">
        <a:spcBef>
          <a:spcPct val="20000"/>
        </a:spcBef>
        <a:spcAft>
          <a:spcPct val="0"/>
        </a:spcAft>
        <a:buChar char="–"/>
        <a:defRPr sz="2200">
          <a:solidFill>
            <a:schemeClr val="tx1"/>
          </a:solidFill>
          <a:latin typeface="Verdana" pitchFamily="34" charset="0"/>
        </a:defRPr>
      </a:lvl2pPr>
      <a:lvl3pPr marL="1143000" indent="-228600" algn="l" rtl="0" eaLnBrk="1" fontAlgn="base" hangingPunct="1">
        <a:spcBef>
          <a:spcPct val="20000"/>
        </a:spcBef>
        <a:spcAft>
          <a:spcPct val="0"/>
        </a:spcAft>
        <a:buChar char="•"/>
        <a:defRPr>
          <a:solidFill>
            <a:schemeClr val="tx1"/>
          </a:solidFill>
          <a:latin typeface="Verdana" pitchFamily="34" charset="0"/>
        </a:defRPr>
      </a:lvl3pPr>
      <a:lvl4pPr marL="1600200" indent="-228600" algn="l" rtl="0" eaLnBrk="1" fontAlgn="base" hangingPunct="1">
        <a:spcBef>
          <a:spcPct val="20000"/>
        </a:spcBef>
        <a:spcAft>
          <a:spcPct val="0"/>
        </a:spcAft>
        <a:buChar char="–"/>
        <a:defRPr sz="1600">
          <a:solidFill>
            <a:schemeClr val="tx1"/>
          </a:solidFill>
          <a:latin typeface="Verdana" pitchFamily="34" charset="0"/>
        </a:defRPr>
      </a:lvl4pPr>
      <a:lvl5pPr marL="2057400" indent="-228600" algn="l" rtl="0" eaLnBrk="1" fontAlgn="base" hangingPunct="1">
        <a:spcBef>
          <a:spcPct val="20000"/>
        </a:spcBef>
        <a:spcAft>
          <a:spcPct val="0"/>
        </a:spcAft>
        <a:buChar char="»"/>
        <a:defRPr sz="1500">
          <a:solidFill>
            <a:srgbClr val="003399"/>
          </a:solidFill>
          <a:latin typeface="Siemens Sans" pitchFamily="2" charset="0"/>
        </a:defRPr>
      </a:lvl5pPr>
      <a:lvl6pPr marL="2514600" indent="-228600" algn="l" rtl="0" eaLnBrk="1" fontAlgn="base" hangingPunct="1">
        <a:spcBef>
          <a:spcPct val="20000"/>
        </a:spcBef>
        <a:spcAft>
          <a:spcPct val="0"/>
        </a:spcAft>
        <a:buChar char="»"/>
        <a:defRPr sz="1500">
          <a:solidFill>
            <a:srgbClr val="003399"/>
          </a:solidFill>
          <a:latin typeface="Siemens Sans" pitchFamily="2" charset="0"/>
        </a:defRPr>
      </a:lvl6pPr>
      <a:lvl7pPr marL="2971800" indent="-228600" algn="l" rtl="0" eaLnBrk="1" fontAlgn="base" hangingPunct="1">
        <a:spcBef>
          <a:spcPct val="20000"/>
        </a:spcBef>
        <a:spcAft>
          <a:spcPct val="0"/>
        </a:spcAft>
        <a:buChar char="»"/>
        <a:defRPr sz="1500">
          <a:solidFill>
            <a:srgbClr val="003399"/>
          </a:solidFill>
          <a:latin typeface="Siemens Sans" pitchFamily="2" charset="0"/>
        </a:defRPr>
      </a:lvl7pPr>
      <a:lvl8pPr marL="3429000" indent="-228600" algn="l" rtl="0" eaLnBrk="1" fontAlgn="base" hangingPunct="1">
        <a:spcBef>
          <a:spcPct val="20000"/>
        </a:spcBef>
        <a:spcAft>
          <a:spcPct val="0"/>
        </a:spcAft>
        <a:buChar char="»"/>
        <a:defRPr sz="1500">
          <a:solidFill>
            <a:srgbClr val="003399"/>
          </a:solidFill>
          <a:latin typeface="Siemens Sans" pitchFamily="2" charset="0"/>
        </a:defRPr>
      </a:lvl8pPr>
      <a:lvl9pPr marL="3886200" indent="-228600" algn="l" rtl="0" eaLnBrk="1" fontAlgn="base" hangingPunct="1">
        <a:spcBef>
          <a:spcPct val="20000"/>
        </a:spcBef>
        <a:spcAft>
          <a:spcPct val="0"/>
        </a:spcAft>
        <a:buChar char="»"/>
        <a:defRPr sz="1500">
          <a:solidFill>
            <a:srgbClr val="003399"/>
          </a:solidFill>
          <a:latin typeface="Siemens Sans" pitchFamily="2"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bwMode="auto">
          <a:xfrm>
            <a:off x="586317" y="1"/>
            <a:ext cx="11605683" cy="479425"/>
          </a:xfrm>
          <a:prstGeom prst="rect">
            <a:avLst/>
          </a:prstGeom>
          <a:solidFill>
            <a:srgbClr val="002878"/>
          </a:solidFill>
          <a:ln w="12700" cap="flat" cmpd="sng" algn="ctr">
            <a:noFill/>
            <a:prstDash val="solid"/>
            <a:round/>
            <a:headEnd type="none" w="med" len="med"/>
            <a:tailEnd type="none" w="med" len="med"/>
          </a:ln>
          <a:effectLst/>
        </p:spPr>
        <p:txBody>
          <a:bodyPr/>
          <a:lstStyle/>
          <a:p>
            <a:pPr algn="ctr" defTabSz="457200"/>
            <a:endParaRPr lang="en-US" sz="1800" b="0">
              <a:solidFill>
                <a:srgbClr val="000000"/>
              </a:solidFill>
              <a:latin typeface="Arial" charset="0"/>
              <a:ea typeface="ＭＳ Ｐゴシック" pitchFamily="34" charset="-128"/>
              <a:cs typeface="+mn-cs"/>
            </a:endParaRPr>
          </a:p>
        </p:txBody>
      </p:sp>
      <p:sp>
        <p:nvSpPr>
          <p:cNvPr id="1027" name="Rectangle 3"/>
          <p:cNvSpPr>
            <a:spLocks noGrp="1" noChangeArrowheads="1"/>
          </p:cNvSpPr>
          <p:nvPr>
            <p:ph type="title"/>
          </p:nvPr>
        </p:nvSpPr>
        <p:spPr bwMode="auto">
          <a:xfrm>
            <a:off x="723900" y="515938"/>
            <a:ext cx="11404600" cy="779462"/>
          </a:xfrm>
          <a:prstGeom prst="rect">
            <a:avLst/>
          </a:prstGeom>
          <a:noFill/>
          <a:ln w="9525">
            <a:noFill/>
            <a:miter lim="800000"/>
            <a:headEnd/>
            <a:tailEnd/>
          </a:ln>
        </p:spPr>
        <p:txBody>
          <a:bodyPr vert="horz" wrap="square" lIns="0" tIns="0" rIns="91440" bIns="45720" numCol="1" anchor="ctr" anchorCtr="0" compatLnSpc="1">
            <a:prstTxWarp prst="textNoShape">
              <a:avLst/>
            </a:prstTxWarp>
          </a:bodyPr>
          <a:lstStyle/>
          <a:p>
            <a:pPr lvl="0"/>
            <a:r>
              <a:rPr lang="de-DE"/>
              <a:t>Click to add title</a:t>
            </a:r>
          </a:p>
        </p:txBody>
      </p:sp>
      <p:sp>
        <p:nvSpPr>
          <p:cNvPr id="1028" name="Rectangle 4"/>
          <p:cNvSpPr>
            <a:spLocks noGrp="1" noChangeArrowheads="1"/>
          </p:cNvSpPr>
          <p:nvPr>
            <p:ph type="body" idx="1"/>
          </p:nvPr>
        </p:nvSpPr>
        <p:spPr bwMode="auto">
          <a:xfrm>
            <a:off x="762001" y="1295401"/>
            <a:ext cx="11341100" cy="5408613"/>
          </a:xfrm>
          <a:prstGeom prst="rect">
            <a:avLst/>
          </a:prstGeom>
          <a:noFill/>
          <a:ln w="9525">
            <a:noFill/>
            <a:miter lim="800000"/>
            <a:headEnd/>
            <a:tailEnd/>
          </a:ln>
        </p:spPr>
        <p:txBody>
          <a:bodyPr vert="horz" wrap="square" lIns="0" tIns="0" rIns="91440" bIns="45720" numCol="1" anchor="t" anchorCtr="0" compatLnSpc="1">
            <a:prstTxWarp prst="textNoShape">
              <a:avLst/>
            </a:prstTxWarp>
          </a:bodyPr>
          <a:lstStyle/>
          <a:p>
            <a:pPr lvl="0"/>
            <a:r>
              <a:rPr lang="de-DE"/>
              <a:t>Klicken Sie, um die Formate des Vorlagentextes zu bearbeiten</a:t>
            </a:r>
          </a:p>
          <a:p>
            <a:pPr lvl="1"/>
            <a:r>
              <a:rPr lang="de-DE"/>
              <a:t>Level 2</a:t>
            </a:r>
          </a:p>
          <a:p>
            <a:pPr lvl="2"/>
            <a:r>
              <a:rPr lang="de-DE"/>
              <a:t>Level 3</a:t>
            </a:r>
          </a:p>
          <a:p>
            <a:pPr lvl="3"/>
            <a:r>
              <a:rPr lang="de-DE"/>
              <a:t>Level 4</a:t>
            </a:r>
          </a:p>
        </p:txBody>
      </p:sp>
      <p:sp>
        <p:nvSpPr>
          <p:cNvPr id="343045" name="Text Box 5"/>
          <p:cNvSpPr txBox="1">
            <a:spLocks noChangeArrowheads="1"/>
          </p:cNvSpPr>
          <p:nvPr/>
        </p:nvSpPr>
        <p:spPr bwMode="gray">
          <a:xfrm rot="-5400000">
            <a:off x="-2909622" y="3362061"/>
            <a:ext cx="6405562" cy="586317"/>
          </a:xfrm>
          <a:prstGeom prst="rect">
            <a:avLst/>
          </a:prstGeom>
          <a:solidFill>
            <a:srgbClr val="D28E00"/>
          </a:solidFill>
          <a:ln w="9525">
            <a:noFill/>
            <a:miter lim="800000"/>
            <a:headEnd/>
            <a:tailEnd/>
          </a:ln>
          <a:effectLst/>
        </p:spPr>
        <p:txBody>
          <a:bodyPr wrap="none" lIns="0" tIns="0" anchor="ctr"/>
          <a:lstStyle/>
          <a:p>
            <a:pPr algn="ctr" defTabSz="457200" eaLnBrk="0" hangingPunct="0">
              <a:lnSpc>
                <a:spcPts val="2400"/>
              </a:lnSpc>
            </a:pPr>
            <a:r>
              <a:rPr lang="de-DE" sz="1600" b="0">
                <a:solidFill>
                  <a:srgbClr val="000000"/>
                </a:solidFill>
                <a:latin typeface="Verdana" pitchFamily="34" charset="0"/>
                <a:ea typeface="ＭＳ Ｐゴシック" pitchFamily="34" charset="-128"/>
                <a:cs typeface="+mn-cs"/>
              </a:rPr>
              <a:t>                    </a:t>
            </a:r>
          </a:p>
        </p:txBody>
      </p:sp>
      <p:pic>
        <p:nvPicPr>
          <p:cNvPr id="1030" name="Picture 2" descr="Emory | Center for Comprehensive Informatics">
            <a:hlinkClick r:id="rId13" tooltip="Emory | Center for Comprehensive Informatics"/>
          </p:cNvPr>
          <p:cNvPicPr>
            <a:picLocks noChangeAspect="1" noChangeArrowheads="1"/>
          </p:cNvPicPr>
          <p:nvPr/>
        </p:nvPicPr>
        <p:blipFill>
          <a:blip r:embed="rId14" cstate="print"/>
          <a:srcRect/>
          <a:stretch>
            <a:fillRect/>
          </a:stretch>
        </p:blipFill>
        <p:spPr bwMode="auto">
          <a:xfrm>
            <a:off x="6783917" y="1"/>
            <a:ext cx="5408083" cy="4222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txStyles>
    <p:titleStyle>
      <a:lvl1pPr algn="l" rtl="0" eaLnBrk="1" fontAlgn="base" hangingPunct="1">
        <a:lnSpc>
          <a:spcPct val="95000"/>
        </a:lnSpc>
        <a:spcBef>
          <a:spcPct val="0"/>
        </a:spcBef>
        <a:spcAft>
          <a:spcPct val="0"/>
        </a:spcAft>
        <a:defRPr sz="2600">
          <a:solidFill>
            <a:srgbClr val="003399"/>
          </a:solidFill>
          <a:latin typeface="Verdana" pitchFamily="34" charset="0"/>
          <a:ea typeface="ＭＳ Ｐゴシック" charset="-128"/>
          <a:cs typeface="ＭＳ Ｐゴシック" charset="-128"/>
        </a:defRPr>
      </a:lvl1pPr>
      <a:lvl2pPr algn="l" rtl="0" eaLnBrk="1" fontAlgn="base" hangingPunct="1">
        <a:lnSpc>
          <a:spcPct val="95000"/>
        </a:lnSpc>
        <a:spcBef>
          <a:spcPct val="0"/>
        </a:spcBef>
        <a:spcAft>
          <a:spcPct val="0"/>
        </a:spcAft>
        <a:defRPr sz="2600">
          <a:solidFill>
            <a:srgbClr val="003399"/>
          </a:solidFill>
          <a:latin typeface="Verdana" pitchFamily="34" charset="0"/>
          <a:ea typeface="ＭＳ Ｐゴシック" charset="-128"/>
          <a:cs typeface="ＭＳ Ｐゴシック" charset="-128"/>
        </a:defRPr>
      </a:lvl2pPr>
      <a:lvl3pPr algn="l" rtl="0" eaLnBrk="1" fontAlgn="base" hangingPunct="1">
        <a:lnSpc>
          <a:spcPct val="95000"/>
        </a:lnSpc>
        <a:spcBef>
          <a:spcPct val="0"/>
        </a:spcBef>
        <a:spcAft>
          <a:spcPct val="0"/>
        </a:spcAft>
        <a:defRPr sz="2600">
          <a:solidFill>
            <a:srgbClr val="003399"/>
          </a:solidFill>
          <a:latin typeface="Verdana" pitchFamily="34" charset="0"/>
          <a:ea typeface="ＭＳ Ｐゴシック" charset="-128"/>
          <a:cs typeface="ＭＳ Ｐゴシック" charset="-128"/>
        </a:defRPr>
      </a:lvl3pPr>
      <a:lvl4pPr algn="l" rtl="0" eaLnBrk="1" fontAlgn="base" hangingPunct="1">
        <a:lnSpc>
          <a:spcPct val="95000"/>
        </a:lnSpc>
        <a:spcBef>
          <a:spcPct val="0"/>
        </a:spcBef>
        <a:spcAft>
          <a:spcPct val="0"/>
        </a:spcAft>
        <a:defRPr sz="2600">
          <a:solidFill>
            <a:srgbClr val="003399"/>
          </a:solidFill>
          <a:latin typeface="Verdana" pitchFamily="34" charset="0"/>
          <a:ea typeface="ＭＳ Ｐゴシック" charset="-128"/>
          <a:cs typeface="ＭＳ Ｐゴシック" charset="-128"/>
        </a:defRPr>
      </a:lvl4pPr>
      <a:lvl5pPr algn="l" rtl="0" eaLnBrk="1" fontAlgn="base" hangingPunct="1">
        <a:lnSpc>
          <a:spcPct val="95000"/>
        </a:lnSpc>
        <a:spcBef>
          <a:spcPct val="0"/>
        </a:spcBef>
        <a:spcAft>
          <a:spcPct val="0"/>
        </a:spcAft>
        <a:defRPr sz="2600">
          <a:solidFill>
            <a:srgbClr val="003399"/>
          </a:solidFill>
          <a:latin typeface="Verdana" pitchFamily="34" charset="0"/>
          <a:ea typeface="ＭＳ Ｐゴシック" charset="-128"/>
          <a:cs typeface="ＭＳ Ｐゴシック" charset="-128"/>
        </a:defRPr>
      </a:lvl5pPr>
      <a:lvl6pPr marL="457200" algn="l" rtl="0" eaLnBrk="1" fontAlgn="base" hangingPunct="1">
        <a:lnSpc>
          <a:spcPct val="95000"/>
        </a:lnSpc>
        <a:spcBef>
          <a:spcPct val="0"/>
        </a:spcBef>
        <a:spcAft>
          <a:spcPct val="0"/>
        </a:spcAft>
        <a:defRPr sz="2600">
          <a:solidFill>
            <a:srgbClr val="003399"/>
          </a:solidFill>
          <a:latin typeface="Arial" charset="0"/>
        </a:defRPr>
      </a:lvl6pPr>
      <a:lvl7pPr marL="914400" algn="l" rtl="0" eaLnBrk="1" fontAlgn="base" hangingPunct="1">
        <a:lnSpc>
          <a:spcPct val="95000"/>
        </a:lnSpc>
        <a:spcBef>
          <a:spcPct val="0"/>
        </a:spcBef>
        <a:spcAft>
          <a:spcPct val="0"/>
        </a:spcAft>
        <a:defRPr sz="2600">
          <a:solidFill>
            <a:srgbClr val="003399"/>
          </a:solidFill>
          <a:latin typeface="Arial" charset="0"/>
        </a:defRPr>
      </a:lvl7pPr>
      <a:lvl8pPr marL="1371600" algn="l" rtl="0" eaLnBrk="1" fontAlgn="base" hangingPunct="1">
        <a:lnSpc>
          <a:spcPct val="95000"/>
        </a:lnSpc>
        <a:spcBef>
          <a:spcPct val="0"/>
        </a:spcBef>
        <a:spcAft>
          <a:spcPct val="0"/>
        </a:spcAft>
        <a:defRPr sz="2600">
          <a:solidFill>
            <a:srgbClr val="003399"/>
          </a:solidFill>
          <a:latin typeface="Arial" charset="0"/>
        </a:defRPr>
      </a:lvl8pPr>
      <a:lvl9pPr marL="1828800" algn="l" rtl="0" eaLnBrk="1" fontAlgn="base" hangingPunct="1">
        <a:lnSpc>
          <a:spcPct val="95000"/>
        </a:lnSpc>
        <a:spcBef>
          <a:spcPct val="0"/>
        </a:spcBef>
        <a:spcAft>
          <a:spcPct val="0"/>
        </a:spcAft>
        <a:defRPr sz="2600">
          <a:solidFill>
            <a:srgbClr val="003399"/>
          </a:solidFill>
          <a:latin typeface="Arial" charset="0"/>
        </a:defRPr>
      </a:lvl9pPr>
    </p:titleStyle>
    <p:bodyStyle>
      <a:lvl1pPr marL="342900" indent="-342900" algn="l" rtl="0" eaLnBrk="1" fontAlgn="base" hangingPunct="1">
        <a:spcBef>
          <a:spcPct val="20000"/>
        </a:spcBef>
        <a:spcAft>
          <a:spcPct val="0"/>
        </a:spcAft>
        <a:buChar char="•"/>
        <a:defRPr sz="2400">
          <a:solidFill>
            <a:schemeClr val="tx1"/>
          </a:solidFill>
          <a:latin typeface="Verdana" pitchFamily="34" charset="0"/>
          <a:ea typeface="ＭＳ Ｐゴシック" charset="-128"/>
          <a:cs typeface="ＭＳ Ｐゴシック" charset="-128"/>
        </a:defRPr>
      </a:lvl1pPr>
      <a:lvl2pPr marL="742950" indent="-285750" algn="l" rtl="0" eaLnBrk="1" fontAlgn="base" hangingPunct="1">
        <a:spcBef>
          <a:spcPct val="20000"/>
        </a:spcBef>
        <a:spcAft>
          <a:spcPct val="0"/>
        </a:spcAft>
        <a:buChar char="–"/>
        <a:defRPr sz="2200">
          <a:solidFill>
            <a:schemeClr val="tx1"/>
          </a:solidFill>
          <a:latin typeface="Verdana" pitchFamily="34" charset="0"/>
          <a:ea typeface="ＭＳ Ｐゴシック" charset="-128"/>
        </a:defRPr>
      </a:lvl2pPr>
      <a:lvl3pPr marL="1143000" indent="-228600" algn="l" rtl="0" eaLnBrk="1" fontAlgn="base" hangingPunct="1">
        <a:spcBef>
          <a:spcPct val="20000"/>
        </a:spcBef>
        <a:spcAft>
          <a:spcPct val="0"/>
        </a:spcAft>
        <a:buChar char="•"/>
        <a:defRPr>
          <a:solidFill>
            <a:schemeClr val="tx1"/>
          </a:solidFill>
          <a:latin typeface="Verdana" pitchFamily="34" charset="0"/>
          <a:ea typeface="ＭＳ Ｐゴシック" charset="-128"/>
        </a:defRPr>
      </a:lvl3pPr>
      <a:lvl4pPr marL="1600200" indent="-228600" algn="l" rtl="0" eaLnBrk="1" fontAlgn="base" hangingPunct="1">
        <a:spcBef>
          <a:spcPct val="20000"/>
        </a:spcBef>
        <a:spcAft>
          <a:spcPct val="0"/>
        </a:spcAft>
        <a:buChar char="–"/>
        <a:defRPr sz="1600">
          <a:solidFill>
            <a:schemeClr val="tx1"/>
          </a:solidFill>
          <a:latin typeface="Verdana" pitchFamily="34" charset="0"/>
          <a:ea typeface="ＭＳ Ｐゴシック" charset="-128"/>
        </a:defRPr>
      </a:lvl4pPr>
      <a:lvl5pPr marL="2057400" indent="-228600" algn="l" rtl="0" eaLnBrk="1" fontAlgn="base" hangingPunct="1">
        <a:spcBef>
          <a:spcPct val="20000"/>
        </a:spcBef>
        <a:spcAft>
          <a:spcPct val="0"/>
        </a:spcAft>
        <a:buChar char="»"/>
        <a:defRPr sz="1500">
          <a:solidFill>
            <a:srgbClr val="003399"/>
          </a:solidFill>
          <a:latin typeface="Siemens Sans" pitchFamily="2" charset="0"/>
          <a:ea typeface="ＭＳ Ｐゴシック" charset="-128"/>
        </a:defRPr>
      </a:lvl5pPr>
      <a:lvl6pPr marL="2514600" indent="-228600" algn="l" rtl="0" eaLnBrk="1" fontAlgn="base" hangingPunct="1">
        <a:spcBef>
          <a:spcPct val="20000"/>
        </a:spcBef>
        <a:spcAft>
          <a:spcPct val="0"/>
        </a:spcAft>
        <a:buChar char="»"/>
        <a:defRPr sz="1500">
          <a:solidFill>
            <a:srgbClr val="003399"/>
          </a:solidFill>
          <a:latin typeface="Siemens Sans" pitchFamily="2" charset="0"/>
        </a:defRPr>
      </a:lvl6pPr>
      <a:lvl7pPr marL="2971800" indent="-228600" algn="l" rtl="0" eaLnBrk="1" fontAlgn="base" hangingPunct="1">
        <a:spcBef>
          <a:spcPct val="20000"/>
        </a:spcBef>
        <a:spcAft>
          <a:spcPct val="0"/>
        </a:spcAft>
        <a:buChar char="»"/>
        <a:defRPr sz="1500">
          <a:solidFill>
            <a:srgbClr val="003399"/>
          </a:solidFill>
          <a:latin typeface="Siemens Sans" pitchFamily="2" charset="0"/>
        </a:defRPr>
      </a:lvl7pPr>
      <a:lvl8pPr marL="3429000" indent="-228600" algn="l" rtl="0" eaLnBrk="1" fontAlgn="base" hangingPunct="1">
        <a:spcBef>
          <a:spcPct val="20000"/>
        </a:spcBef>
        <a:spcAft>
          <a:spcPct val="0"/>
        </a:spcAft>
        <a:buChar char="»"/>
        <a:defRPr sz="1500">
          <a:solidFill>
            <a:srgbClr val="003399"/>
          </a:solidFill>
          <a:latin typeface="Siemens Sans" pitchFamily="2" charset="0"/>
        </a:defRPr>
      </a:lvl8pPr>
      <a:lvl9pPr marL="3886200" indent="-228600" algn="l" rtl="0" eaLnBrk="1" fontAlgn="base" hangingPunct="1">
        <a:spcBef>
          <a:spcPct val="20000"/>
        </a:spcBef>
        <a:spcAft>
          <a:spcPct val="0"/>
        </a:spcAft>
        <a:buChar char="»"/>
        <a:defRPr sz="1500">
          <a:solidFill>
            <a:srgbClr val="003399"/>
          </a:solidFill>
          <a:latin typeface="Siemens Sans" pitchFamily="2"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bwMode="auto">
          <a:xfrm>
            <a:off x="586317" y="1"/>
            <a:ext cx="11605683" cy="479425"/>
          </a:xfrm>
          <a:prstGeom prst="rect">
            <a:avLst/>
          </a:prstGeom>
          <a:solidFill>
            <a:srgbClr val="002878"/>
          </a:solidFill>
          <a:ln w="12700" cap="flat" cmpd="sng" algn="ctr">
            <a:noFill/>
            <a:prstDash val="solid"/>
            <a:round/>
            <a:headEnd type="none" w="med" len="med"/>
            <a:tailEnd type="none" w="med" len="med"/>
          </a:ln>
          <a:effectLst/>
        </p:spPr>
        <p:txBody>
          <a:bodyPr/>
          <a:lstStyle/>
          <a:p>
            <a:pPr algn="ctr" defTabSz="457200"/>
            <a:endParaRPr lang="en-US" sz="1800" b="0">
              <a:solidFill>
                <a:prstClr val="black"/>
              </a:solidFill>
              <a:latin typeface="Arial" pitchFamily="34" charset="0"/>
              <a:ea typeface="ＭＳ Ｐゴシック" pitchFamily="34" charset="-128"/>
              <a:cs typeface="+mn-cs"/>
            </a:endParaRPr>
          </a:p>
        </p:txBody>
      </p:sp>
      <p:sp>
        <p:nvSpPr>
          <p:cNvPr id="1027" name="Rectangle 3"/>
          <p:cNvSpPr>
            <a:spLocks noGrp="1" noChangeArrowheads="1"/>
          </p:cNvSpPr>
          <p:nvPr>
            <p:ph type="title"/>
          </p:nvPr>
        </p:nvSpPr>
        <p:spPr bwMode="auto">
          <a:xfrm>
            <a:off x="723900" y="515938"/>
            <a:ext cx="11404600" cy="779462"/>
          </a:xfrm>
          <a:prstGeom prst="rect">
            <a:avLst/>
          </a:prstGeom>
          <a:noFill/>
          <a:ln w="9525">
            <a:noFill/>
            <a:miter lim="800000"/>
            <a:headEnd/>
            <a:tailEnd/>
          </a:ln>
        </p:spPr>
        <p:txBody>
          <a:bodyPr vert="horz" wrap="square" lIns="0" tIns="0" rIns="91440" bIns="45720" numCol="1" anchor="ctr" anchorCtr="0" compatLnSpc="1">
            <a:prstTxWarp prst="textNoShape">
              <a:avLst/>
            </a:prstTxWarp>
          </a:bodyPr>
          <a:lstStyle/>
          <a:p>
            <a:pPr lvl="0"/>
            <a:r>
              <a:rPr lang="de-DE"/>
              <a:t>Click to add title</a:t>
            </a:r>
          </a:p>
        </p:txBody>
      </p:sp>
      <p:sp>
        <p:nvSpPr>
          <p:cNvPr id="1028" name="Rectangle 4"/>
          <p:cNvSpPr>
            <a:spLocks noGrp="1" noChangeArrowheads="1"/>
          </p:cNvSpPr>
          <p:nvPr>
            <p:ph type="body" idx="1"/>
          </p:nvPr>
        </p:nvSpPr>
        <p:spPr bwMode="auto">
          <a:xfrm>
            <a:off x="762001" y="1295401"/>
            <a:ext cx="11341100" cy="5408613"/>
          </a:xfrm>
          <a:prstGeom prst="rect">
            <a:avLst/>
          </a:prstGeom>
          <a:noFill/>
          <a:ln w="9525">
            <a:noFill/>
            <a:miter lim="800000"/>
            <a:headEnd/>
            <a:tailEnd/>
          </a:ln>
        </p:spPr>
        <p:txBody>
          <a:bodyPr vert="horz" wrap="square" lIns="0" tIns="0" rIns="91440" bIns="45720" numCol="1" anchor="t" anchorCtr="0" compatLnSpc="1">
            <a:prstTxWarp prst="textNoShape">
              <a:avLst/>
            </a:prstTxWarp>
          </a:bodyPr>
          <a:lstStyle/>
          <a:p>
            <a:pPr lvl="0"/>
            <a:r>
              <a:rPr lang="de-DE"/>
              <a:t>Klicken Sie, um die Formate des Vorlagentextes zu bearbeiten</a:t>
            </a:r>
          </a:p>
          <a:p>
            <a:pPr lvl="1"/>
            <a:r>
              <a:rPr lang="de-DE"/>
              <a:t>Level 2</a:t>
            </a:r>
          </a:p>
          <a:p>
            <a:pPr lvl="2"/>
            <a:r>
              <a:rPr lang="de-DE"/>
              <a:t>Level 3</a:t>
            </a:r>
          </a:p>
          <a:p>
            <a:pPr lvl="3"/>
            <a:r>
              <a:rPr lang="de-DE"/>
              <a:t>Level 4</a:t>
            </a:r>
          </a:p>
        </p:txBody>
      </p:sp>
      <p:sp>
        <p:nvSpPr>
          <p:cNvPr id="343045" name="Text Box 5"/>
          <p:cNvSpPr txBox="1">
            <a:spLocks noChangeArrowheads="1"/>
          </p:cNvSpPr>
          <p:nvPr/>
        </p:nvSpPr>
        <p:spPr bwMode="gray">
          <a:xfrm rot="-5400000">
            <a:off x="-2909622" y="3362061"/>
            <a:ext cx="6405562" cy="586317"/>
          </a:xfrm>
          <a:prstGeom prst="rect">
            <a:avLst/>
          </a:prstGeom>
          <a:solidFill>
            <a:srgbClr val="D28E00"/>
          </a:solidFill>
          <a:ln w="9525">
            <a:noFill/>
            <a:miter lim="800000"/>
            <a:headEnd/>
            <a:tailEnd/>
          </a:ln>
          <a:effectLst/>
        </p:spPr>
        <p:txBody>
          <a:bodyPr wrap="none" lIns="0" tIns="0" anchor="ctr"/>
          <a:lstStyle/>
          <a:p>
            <a:pPr algn="ctr" defTabSz="457200" eaLnBrk="0" hangingPunct="0">
              <a:lnSpc>
                <a:spcPts val="2400"/>
              </a:lnSpc>
            </a:pPr>
            <a:endParaRPr sz="1800" b="0">
              <a:solidFill>
                <a:prstClr val="black"/>
              </a:solidFill>
              <a:latin typeface="Arial" pitchFamily="34" charset="0"/>
              <a:ea typeface="ＭＳ Ｐゴシック" pitchFamily="34" charset="-128"/>
              <a:cs typeface="+mn-cs"/>
            </a:endParaRPr>
          </a:p>
        </p:txBody>
      </p:sp>
      <p:pic>
        <p:nvPicPr>
          <p:cNvPr id="1030" name="Picture 2" descr="Emory | Center for Comprehensive Informatics">
            <a:hlinkClick r:id="rId13" tooltip="Emory | Center for Comprehensive Informatics"/>
          </p:cNvPr>
          <p:cNvPicPr>
            <a:picLocks noChangeAspect="1" noChangeArrowheads="1"/>
          </p:cNvPicPr>
          <p:nvPr/>
        </p:nvPicPr>
        <p:blipFill>
          <a:blip r:embed="rId14" cstate="print"/>
          <a:srcRect/>
          <a:stretch>
            <a:fillRect/>
          </a:stretch>
        </p:blipFill>
        <p:spPr bwMode="auto">
          <a:xfrm>
            <a:off x="6783917" y="1"/>
            <a:ext cx="5408083" cy="4222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p:hf hdr="0" ftr="0" dt="0"/>
  <p:txStyles>
    <p:titleStyle>
      <a:lvl1pPr algn="l" rtl="0" eaLnBrk="1" fontAlgn="base" hangingPunct="1">
        <a:lnSpc>
          <a:spcPct val="95000"/>
        </a:lnSpc>
        <a:spcBef>
          <a:spcPct val="0"/>
        </a:spcBef>
        <a:spcAft>
          <a:spcPct val="0"/>
        </a:spcAft>
        <a:defRPr sz="2600">
          <a:solidFill>
            <a:srgbClr val="003399"/>
          </a:solidFill>
          <a:latin typeface="Verdana" pitchFamily="34" charset="0"/>
          <a:ea typeface="ＭＳ Ｐゴシック" charset="-128"/>
          <a:cs typeface="ＭＳ Ｐゴシック" charset="-128"/>
        </a:defRPr>
      </a:lvl1pPr>
      <a:lvl2pPr algn="l" rtl="0" eaLnBrk="1" fontAlgn="base" hangingPunct="1">
        <a:lnSpc>
          <a:spcPct val="95000"/>
        </a:lnSpc>
        <a:spcBef>
          <a:spcPct val="0"/>
        </a:spcBef>
        <a:spcAft>
          <a:spcPct val="0"/>
        </a:spcAft>
        <a:defRPr sz="2600">
          <a:solidFill>
            <a:srgbClr val="003399"/>
          </a:solidFill>
          <a:latin typeface="Verdana" pitchFamily="34" charset="0"/>
          <a:ea typeface="ＭＳ Ｐゴシック" charset="-128"/>
          <a:cs typeface="ＭＳ Ｐゴシック" charset="-128"/>
        </a:defRPr>
      </a:lvl2pPr>
      <a:lvl3pPr algn="l" rtl="0" eaLnBrk="1" fontAlgn="base" hangingPunct="1">
        <a:lnSpc>
          <a:spcPct val="95000"/>
        </a:lnSpc>
        <a:spcBef>
          <a:spcPct val="0"/>
        </a:spcBef>
        <a:spcAft>
          <a:spcPct val="0"/>
        </a:spcAft>
        <a:defRPr sz="2600">
          <a:solidFill>
            <a:srgbClr val="003399"/>
          </a:solidFill>
          <a:latin typeface="Verdana" pitchFamily="34" charset="0"/>
          <a:ea typeface="ＭＳ Ｐゴシック" charset="-128"/>
          <a:cs typeface="ＭＳ Ｐゴシック" charset="-128"/>
        </a:defRPr>
      </a:lvl3pPr>
      <a:lvl4pPr algn="l" rtl="0" eaLnBrk="1" fontAlgn="base" hangingPunct="1">
        <a:lnSpc>
          <a:spcPct val="95000"/>
        </a:lnSpc>
        <a:spcBef>
          <a:spcPct val="0"/>
        </a:spcBef>
        <a:spcAft>
          <a:spcPct val="0"/>
        </a:spcAft>
        <a:defRPr sz="2600">
          <a:solidFill>
            <a:srgbClr val="003399"/>
          </a:solidFill>
          <a:latin typeface="Verdana" pitchFamily="34" charset="0"/>
          <a:ea typeface="ＭＳ Ｐゴシック" charset="-128"/>
          <a:cs typeface="ＭＳ Ｐゴシック" charset="-128"/>
        </a:defRPr>
      </a:lvl4pPr>
      <a:lvl5pPr algn="l" rtl="0" eaLnBrk="1" fontAlgn="base" hangingPunct="1">
        <a:lnSpc>
          <a:spcPct val="95000"/>
        </a:lnSpc>
        <a:spcBef>
          <a:spcPct val="0"/>
        </a:spcBef>
        <a:spcAft>
          <a:spcPct val="0"/>
        </a:spcAft>
        <a:defRPr sz="2600">
          <a:solidFill>
            <a:srgbClr val="003399"/>
          </a:solidFill>
          <a:latin typeface="Verdana" pitchFamily="34" charset="0"/>
          <a:ea typeface="ＭＳ Ｐゴシック" charset="-128"/>
          <a:cs typeface="ＭＳ Ｐゴシック" charset="-128"/>
        </a:defRPr>
      </a:lvl5pPr>
      <a:lvl6pPr marL="457200" algn="l" rtl="0" eaLnBrk="1" fontAlgn="base" hangingPunct="1">
        <a:lnSpc>
          <a:spcPct val="95000"/>
        </a:lnSpc>
        <a:spcBef>
          <a:spcPct val="0"/>
        </a:spcBef>
        <a:spcAft>
          <a:spcPct val="0"/>
        </a:spcAft>
        <a:defRPr sz="2600">
          <a:solidFill>
            <a:srgbClr val="003399"/>
          </a:solidFill>
          <a:latin typeface="Arial" charset="0"/>
        </a:defRPr>
      </a:lvl6pPr>
      <a:lvl7pPr marL="914400" algn="l" rtl="0" eaLnBrk="1" fontAlgn="base" hangingPunct="1">
        <a:lnSpc>
          <a:spcPct val="95000"/>
        </a:lnSpc>
        <a:spcBef>
          <a:spcPct val="0"/>
        </a:spcBef>
        <a:spcAft>
          <a:spcPct val="0"/>
        </a:spcAft>
        <a:defRPr sz="2600">
          <a:solidFill>
            <a:srgbClr val="003399"/>
          </a:solidFill>
          <a:latin typeface="Arial" charset="0"/>
        </a:defRPr>
      </a:lvl7pPr>
      <a:lvl8pPr marL="1371600" algn="l" rtl="0" eaLnBrk="1" fontAlgn="base" hangingPunct="1">
        <a:lnSpc>
          <a:spcPct val="95000"/>
        </a:lnSpc>
        <a:spcBef>
          <a:spcPct val="0"/>
        </a:spcBef>
        <a:spcAft>
          <a:spcPct val="0"/>
        </a:spcAft>
        <a:defRPr sz="2600">
          <a:solidFill>
            <a:srgbClr val="003399"/>
          </a:solidFill>
          <a:latin typeface="Arial" charset="0"/>
        </a:defRPr>
      </a:lvl8pPr>
      <a:lvl9pPr marL="1828800" algn="l" rtl="0" eaLnBrk="1" fontAlgn="base" hangingPunct="1">
        <a:lnSpc>
          <a:spcPct val="95000"/>
        </a:lnSpc>
        <a:spcBef>
          <a:spcPct val="0"/>
        </a:spcBef>
        <a:spcAft>
          <a:spcPct val="0"/>
        </a:spcAft>
        <a:defRPr sz="2600">
          <a:solidFill>
            <a:srgbClr val="003399"/>
          </a:solidFill>
          <a:latin typeface="Arial" charset="0"/>
        </a:defRPr>
      </a:lvl9pPr>
    </p:titleStyle>
    <p:bodyStyle>
      <a:lvl1pPr marL="342900" indent="-342900" algn="l" rtl="0" eaLnBrk="1" fontAlgn="base" hangingPunct="1">
        <a:spcBef>
          <a:spcPct val="20000"/>
        </a:spcBef>
        <a:spcAft>
          <a:spcPct val="0"/>
        </a:spcAft>
        <a:buChar char="•"/>
        <a:defRPr sz="2400">
          <a:solidFill>
            <a:schemeClr val="tx1"/>
          </a:solidFill>
          <a:latin typeface="Verdana" pitchFamily="34" charset="0"/>
          <a:ea typeface="ＭＳ Ｐゴシック" charset="-128"/>
          <a:cs typeface="ＭＳ Ｐゴシック" charset="-128"/>
        </a:defRPr>
      </a:lvl1pPr>
      <a:lvl2pPr marL="742950" indent="-285750" algn="l" rtl="0" eaLnBrk="1" fontAlgn="base" hangingPunct="1">
        <a:spcBef>
          <a:spcPct val="20000"/>
        </a:spcBef>
        <a:spcAft>
          <a:spcPct val="0"/>
        </a:spcAft>
        <a:buChar char="–"/>
        <a:defRPr sz="2200">
          <a:solidFill>
            <a:schemeClr val="tx1"/>
          </a:solidFill>
          <a:latin typeface="Verdana" pitchFamily="34" charset="0"/>
          <a:ea typeface="ＭＳ Ｐゴシック" charset="-128"/>
        </a:defRPr>
      </a:lvl2pPr>
      <a:lvl3pPr marL="1143000" indent="-228600" algn="l" rtl="0" eaLnBrk="1" fontAlgn="base" hangingPunct="1">
        <a:spcBef>
          <a:spcPct val="20000"/>
        </a:spcBef>
        <a:spcAft>
          <a:spcPct val="0"/>
        </a:spcAft>
        <a:buChar char="•"/>
        <a:defRPr>
          <a:solidFill>
            <a:schemeClr val="tx1"/>
          </a:solidFill>
          <a:latin typeface="Verdana" pitchFamily="34" charset="0"/>
          <a:ea typeface="ＭＳ Ｐゴシック" charset="-128"/>
        </a:defRPr>
      </a:lvl3pPr>
      <a:lvl4pPr marL="1600200" indent="-228600" algn="l" rtl="0" eaLnBrk="1" fontAlgn="base" hangingPunct="1">
        <a:spcBef>
          <a:spcPct val="20000"/>
        </a:spcBef>
        <a:spcAft>
          <a:spcPct val="0"/>
        </a:spcAft>
        <a:buChar char="–"/>
        <a:defRPr sz="1600">
          <a:solidFill>
            <a:schemeClr val="tx1"/>
          </a:solidFill>
          <a:latin typeface="Verdana" pitchFamily="34" charset="0"/>
          <a:ea typeface="ＭＳ Ｐゴシック" charset="-128"/>
        </a:defRPr>
      </a:lvl4pPr>
      <a:lvl5pPr marL="2057400" indent="-228600" algn="l" rtl="0" eaLnBrk="1" fontAlgn="base" hangingPunct="1">
        <a:spcBef>
          <a:spcPct val="20000"/>
        </a:spcBef>
        <a:spcAft>
          <a:spcPct val="0"/>
        </a:spcAft>
        <a:buChar char="»"/>
        <a:defRPr sz="1500">
          <a:solidFill>
            <a:srgbClr val="003399"/>
          </a:solidFill>
          <a:latin typeface="Siemens Sans" pitchFamily="2" charset="0"/>
          <a:ea typeface="ＭＳ Ｐゴシック" charset="-128"/>
        </a:defRPr>
      </a:lvl5pPr>
      <a:lvl6pPr marL="2514600" indent="-228600" algn="l" rtl="0" eaLnBrk="1" fontAlgn="base" hangingPunct="1">
        <a:spcBef>
          <a:spcPct val="20000"/>
        </a:spcBef>
        <a:spcAft>
          <a:spcPct val="0"/>
        </a:spcAft>
        <a:buChar char="»"/>
        <a:defRPr sz="1500">
          <a:solidFill>
            <a:srgbClr val="003399"/>
          </a:solidFill>
          <a:latin typeface="Siemens Sans" pitchFamily="2" charset="0"/>
        </a:defRPr>
      </a:lvl6pPr>
      <a:lvl7pPr marL="2971800" indent="-228600" algn="l" rtl="0" eaLnBrk="1" fontAlgn="base" hangingPunct="1">
        <a:spcBef>
          <a:spcPct val="20000"/>
        </a:spcBef>
        <a:spcAft>
          <a:spcPct val="0"/>
        </a:spcAft>
        <a:buChar char="»"/>
        <a:defRPr sz="1500">
          <a:solidFill>
            <a:srgbClr val="003399"/>
          </a:solidFill>
          <a:latin typeface="Siemens Sans" pitchFamily="2" charset="0"/>
        </a:defRPr>
      </a:lvl7pPr>
      <a:lvl8pPr marL="3429000" indent="-228600" algn="l" rtl="0" eaLnBrk="1" fontAlgn="base" hangingPunct="1">
        <a:spcBef>
          <a:spcPct val="20000"/>
        </a:spcBef>
        <a:spcAft>
          <a:spcPct val="0"/>
        </a:spcAft>
        <a:buChar char="»"/>
        <a:defRPr sz="1500">
          <a:solidFill>
            <a:srgbClr val="003399"/>
          </a:solidFill>
          <a:latin typeface="Siemens Sans" pitchFamily="2" charset="0"/>
        </a:defRPr>
      </a:lvl8pPr>
      <a:lvl9pPr marL="3886200" indent="-228600" algn="l" rtl="0" eaLnBrk="1" fontAlgn="base" hangingPunct="1">
        <a:spcBef>
          <a:spcPct val="20000"/>
        </a:spcBef>
        <a:spcAft>
          <a:spcPct val="0"/>
        </a:spcAft>
        <a:buChar char="»"/>
        <a:defRPr sz="1500">
          <a:solidFill>
            <a:srgbClr val="003399"/>
          </a:solidFill>
          <a:latin typeface="Siemens Sans" pitchFamily="2"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1600" y="76200"/>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6"/>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7"/>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63FCED-22F8-8442-93A2-C7D0192A517D}" type="datetime1">
              <a:rPr lang="en-US" smtClean="0">
                <a:solidFill>
                  <a:prstClr val="black">
                    <a:tint val="75000"/>
                  </a:prstClr>
                </a:solidFill>
              </a:rPr>
              <a:pPr/>
              <a:t>6/17/2025</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7"/>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9347200" y="6492882"/>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pic>
        <p:nvPicPr>
          <p:cNvPr id="10" name="Picture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1043472"/>
            <a:ext cx="12192000" cy="99535"/>
          </a:xfrm>
          <a:prstGeom prst="rect">
            <a:avLst/>
          </a:prstGeom>
        </p:spPr>
      </p:pic>
      <p:cxnSp>
        <p:nvCxnSpPr>
          <p:cNvPr id="11" name="Straight Connector 10"/>
          <p:cNvCxnSpPr/>
          <p:nvPr/>
        </p:nvCxnSpPr>
        <p:spPr>
          <a:xfrm>
            <a:off x="2641600" y="6324600"/>
            <a:ext cx="9550400" cy="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0058400" y="6419850"/>
            <a:ext cx="1625600" cy="315208"/>
          </a:xfrm>
          <a:prstGeom prst="rect">
            <a:avLst/>
          </a:prstGeom>
        </p:spPr>
      </p:pic>
    </p:spTree>
    <p:extLst>
      <p:ext uri="{BB962C8B-B14F-4D97-AF65-F5344CB8AC3E}">
        <p14:creationId xmlns:p14="http://schemas.microsoft.com/office/powerpoint/2010/main" val="16265574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914400" rtl="0" eaLnBrk="1" latinLnBrk="0" hangingPunct="1">
        <a:spcBef>
          <a:spcPct val="0"/>
        </a:spcBef>
        <a:buNone/>
        <a:defRPr sz="40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1600" y="76200"/>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6"/>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7"/>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63FCED-22F8-8442-93A2-C7D0192A517D}" type="datetime1">
              <a:rPr lang="en-US" smtClean="0">
                <a:solidFill>
                  <a:prstClr val="black">
                    <a:tint val="75000"/>
                  </a:prstClr>
                </a:solidFill>
              </a:rPr>
              <a:pPr/>
              <a:t>6/17/2025</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7"/>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9347200" y="6492882"/>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pic>
        <p:nvPicPr>
          <p:cNvPr id="10" name="Picture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1043472"/>
            <a:ext cx="12192000" cy="99535"/>
          </a:xfrm>
          <a:prstGeom prst="rect">
            <a:avLst/>
          </a:prstGeom>
        </p:spPr>
      </p:pic>
      <p:cxnSp>
        <p:nvCxnSpPr>
          <p:cNvPr id="11" name="Straight Connector 10"/>
          <p:cNvCxnSpPr/>
          <p:nvPr/>
        </p:nvCxnSpPr>
        <p:spPr>
          <a:xfrm>
            <a:off x="2641600" y="6324600"/>
            <a:ext cx="9550400" cy="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0058400" y="6419850"/>
            <a:ext cx="1625600" cy="315208"/>
          </a:xfrm>
          <a:prstGeom prst="rect">
            <a:avLst/>
          </a:prstGeom>
        </p:spPr>
      </p:pic>
    </p:spTree>
    <p:extLst>
      <p:ext uri="{BB962C8B-B14F-4D97-AF65-F5344CB8AC3E}">
        <p14:creationId xmlns:p14="http://schemas.microsoft.com/office/powerpoint/2010/main" val="155944342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defTabSz="914400" rtl="0" eaLnBrk="1" latinLnBrk="0" hangingPunct="1">
        <a:spcBef>
          <a:spcPct val="0"/>
        </a:spcBef>
        <a:buNone/>
        <a:defRPr sz="40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1600" y="76200"/>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6"/>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7"/>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63FCED-22F8-8442-93A2-C7D0192A517D}" type="datetime1">
              <a:rPr lang="en-US" smtClean="0">
                <a:solidFill>
                  <a:prstClr val="black">
                    <a:tint val="75000"/>
                  </a:prstClr>
                </a:solidFill>
              </a:rPr>
              <a:pPr/>
              <a:t>6/17/2025</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7"/>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9347200" y="6492882"/>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pic>
        <p:nvPicPr>
          <p:cNvPr id="10" name="Picture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1043472"/>
            <a:ext cx="12192000" cy="99535"/>
          </a:xfrm>
          <a:prstGeom prst="rect">
            <a:avLst/>
          </a:prstGeom>
        </p:spPr>
      </p:pic>
      <p:cxnSp>
        <p:nvCxnSpPr>
          <p:cNvPr id="11" name="Straight Connector 10"/>
          <p:cNvCxnSpPr/>
          <p:nvPr/>
        </p:nvCxnSpPr>
        <p:spPr>
          <a:xfrm>
            <a:off x="2641600" y="6324600"/>
            <a:ext cx="9550400" cy="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0058400" y="6419850"/>
            <a:ext cx="1625600" cy="315208"/>
          </a:xfrm>
          <a:prstGeom prst="rect">
            <a:avLst/>
          </a:prstGeom>
        </p:spPr>
      </p:pic>
    </p:spTree>
    <p:extLst>
      <p:ext uri="{BB962C8B-B14F-4D97-AF65-F5344CB8AC3E}">
        <p14:creationId xmlns:p14="http://schemas.microsoft.com/office/powerpoint/2010/main" val="1976162137"/>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l" defTabSz="914400" rtl="0" eaLnBrk="1" latinLnBrk="0" hangingPunct="1">
        <a:spcBef>
          <a:spcPct val="0"/>
        </a:spcBef>
        <a:buNone/>
        <a:defRPr sz="40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6" name="Picture 7" descr="PPTbackground_Red.jpg"/>
          <p:cNvPicPr>
            <a:picLocks noChangeAspect="1"/>
          </p:cNvPicPr>
          <p:nvPr/>
        </p:nvPicPr>
        <p:blipFill>
          <a:blip r:embed="rId9"/>
          <a:srcRect b="97814"/>
          <a:stretch>
            <a:fillRect/>
          </a:stretch>
        </p:blipFill>
        <p:spPr bwMode="auto">
          <a:xfrm flipH="1">
            <a:off x="0" y="1"/>
            <a:ext cx="12192000" cy="149225"/>
          </a:xfrm>
          <a:prstGeom prst="rect">
            <a:avLst/>
          </a:prstGeom>
          <a:noFill/>
          <a:ln w="9525">
            <a:noFill/>
            <a:miter lim="800000"/>
            <a:headEnd/>
            <a:tailEnd/>
          </a:ln>
          <a:effectLst>
            <a:outerShdw blurRad="136525" dist="38100" dir="2700000" algn="tl" rotWithShape="0">
              <a:srgbClr val="000000">
                <a:alpha val="43000"/>
              </a:srgbClr>
            </a:outerShdw>
          </a:effectLst>
        </p:spPr>
      </p:pic>
      <p:sp>
        <p:nvSpPr>
          <p:cNvPr id="5123" name="Text Placeholder 2"/>
          <p:cNvSpPr>
            <a:spLocks noGrp="1"/>
          </p:cNvSpPr>
          <p:nvPr>
            <p:ph type="body" idx="1"/>
          </p:nvPr>
        </p:nvSpPr>
        <p:spPr bwMode="auto">
          <a:xfrm>
            <a:off x="611717" y="1330326"/>
            <a:ext cx="10972800"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p:nvPr/>
        </p:nvSpPr>
        <p:spPr>
          <a:xfrm>
            <a:off x="0" y="6278564"/>
            <a:ext cx="12192000" cy="579437"/>
          </a:xfrm>
          <a:prstGeom prst="rect">
            <a:avLst/>
          </a:prstGeom>
          <a:solidFill>
            <a:srgbClr val="B60225"/>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defTabSz="457200" fontAlgn="base">
              <a:spcBef>
                <a:spcPct val="0"/>
              </a:spcBef>
              <a:spcAft>
                <a:spcPct val="0"/>
              </a:spcAft>
              <a:defRPr/>
            </a:pPr>
            <a:endParaRPr lang="en-US" sz="1800">
              <a:solidFill>
                <a:prstClr val="white"/>
              </a:solidFill>
            </a:endParaRPr>
          </a:p>
        </p:txBody>
      </p:sp>
      <p:cxnSp>
        <p:nvCxnSpPr>
          <p:cNvPr id="6" name="Straight Connector 5"/>
          <p:cNvCxnSpPr/>
          <p:nvPr/>
        </p:nvCxnSpPr>
        <p:spPr>
          <a:xfrm>
            <a:off x="0" y="1082675"/>
            <a:ext cx="12192000" cy="1588"/>
          </a:xfrm>
          <a:prstGeom prst="line">
            <a:avLst/>
          </a:prstGeom>
          <a:ln w="12700">
            <a:solidFill>
              <a:srgbClr val="B60225"/>
            </a:solidFill>
          </a:ln>
          <a:effectLst/>
        </p:spPr>
        <p:style>
          <a:lnRef idx="2">
            <a:schemeClr val="accent1"/>
          </a:lnRef>
          <a:fillRef idx="0">
            <a:schemeClr val="accent1"/>
          </a:fillRef>
          <a:effectRef idx="1">
            <a:schemeClr val="accent1"/>
          </a:effectRef>
          <a:fontRef idx="minor">
            <a:schemeClr val="tx1"/>
          </a:fontRef>
        </p:style>
      </p:cxnSp>
      <p:pic>
        <p:nvPicPr>
          <p:cNvPr id="8" name="Picture 4" descr="SBU horz_2clr_cmyk.eps">
            <a:extLst>
              <a:ext uri="{FF2B5EF4-FFF2-40B4-BE49-F238E27FC236}">
                <a16:creationId xmlns:a16="http://schemas.microsoft.com/office/drawing/2014/main" id="{C7DCDA31-2FE6-46F8-9318-52310BA49AB5}"/>
              </a:ext>
            </a:extLst>
          </p:cNvPr>
          <p:cNvPicPr>
            <a:picLocks noChangeAspect="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460375" y="295275"/>
            <a:ext cx="3619500" cy="622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 name="Picture 8" descr="SUNY_CircleOnly_50blk.eps">
            <a:extLst>
              <a:ext uri="{FF2B5EF4-FFF2-40B4-BE49-F238E27FC236}">
                <a16:creationId xmlns:a16="http://schemas.microsoft.com/office/drawing/2014/main" id="{FDC2D437-E18E-475C-BC75-82CBD0457DC8}"/>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1260667" y="282575"/>
            <a:ext cx="647700" cy="647700"/>
          </a:xfrm>
          <a:prstGeom prst="rect">
            <a:avLst/>
          </a:prstGeom>
        </p:spPr>
      </p:pic>
    </p:spTree>
    <p:extLst>
      <p:ext uri="{BB962C8B-B14F-4D97-AF65-F5344CB8AC3E}">
        <p14:creationId xmlns:p14="http://schemas.microsoft.com/office/powerpoint/2010/main" val="78743438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49" r:id="rId6"/>
    <p:sldLayoutId id="2147483750" r:id="rId7"/>
  </p:sldLayoutIdLst>
  <p:txStyles>
    <p:titleStyle>
      <a:lvl1pPr algn="r" defTabSz="457200" rtl="0" eaLnBrk="0" fontAlgn="base" hangingPunct="0">
        <a:spcBef>
          <a:spcPct val="0"/>
        </a:spcBef>
        <a:spcAft>
          <a:spcPct val="0"/>
        </a:spcAft>
        <a:defRPr sz="5400" kern="1200" baseline="6000">
          <a:solidFill>
            <a:schemeClr val="bg1"/>
          </a:solidFill>
          <a:latin typeface="Helvetica"/>
          <a:ea typeface="ＭＳ Ｐゴシック" pitchFamily="-112" charset="-128"/>
          <a:cs typeface="Helvetica"/>
        </a:defRPr>
      </a:lvl1pPr>
      <a:lvl2pPr algn="r" defTabSz="457200" rtl="0" eaLnBrk="0" fontAlgn="base" hangingPunct="0">
        <a:spcBef>
          <a:spcPct val="0"/>
        </a:spcBef>
        <a:spcAft>
          <a:spcPct val="0"/>
        </a:spcAft>
        <a:defRPr sz="5400" baseline="6000">
          <a:solidFill>
            <a:schemeClr val="bg1"/>
          </a:solidFill>
          <a:latin typeface="Helvetica" pitchFamily="-112" charset="0"/>
          <a:ea typeface="ＭＳ Ｐゴシック" pitchFamily="-112" charset="-128"/>
        </a:defRPr>
      </a:lvl2pPr>
      <a:lvl3pPr algn="r" defTabSz="457200" rtl="0" eaLnBrk="0" fontAlgn="base" hangingPunct="0">
        <a:spcBef>
          <a:spcPct val="0"/>
        </a:spcBef>
        <a:spcAft>
          <a:spcPct val="0"/>
        </a:spcAft>
        <a:defRPr sz="5400" baseline="6000">
          <a:solidFill>
            <a:schemeClr val="bg1"/>
          </a:solidFill>
          <a:latin typeface="Helvetica" pitchFamily="-112" charset="0"/>
          <a:ea typeface="ＭＳ Ｐゴシック" pitchFamily="-112" charset="-128"/>
        </a:defRPr>
      </a:lvl3pPr>
      <a:lvl4pPr algn="r" defTabSz="457200" rtl="0" eaLnBrk="0" fontAlgn="base" hangingPunct="0">
        <a:spcBef>
          <a:spcPct val="0"/>
        </a:spcBef>
        <a:spcAft>
          <a:spcPct val="0"/>
        </a:spcAft>
        <a:defRPr sz="5400" baseline="6000">
          <a:solidFill>
            <a:schemeClr val="bg1"/>
          </a:solidFill>
          <a:latin typeface="Helvetica" pitchFamily="-112" charset="0"/>
          <a:ea typeface="ＭＳ Ｐゴシック" pitchFamily="-112" charset="-128"/>
        </a:defRPr>
      </a:lvl4pPr>
      <a:lvl5pPr algn="r" defTabSz="457200" rtl="0" eaLnBrk="0" fontAlgn="base" hangingPunct="0">
        <a:spcBef>
          <a:spcPct val="0"/>
        </a:spcBef>
        <a:spcAft>
          <a:spcPct val="0"/>
        </a:spcAft>
        <a:defRPr sz="5400" baseline="6000">
          <a:solidFill>
            <a:schemeClr val="bg1"/>
          </a:solidFill>
          <a:latin typeface="Helvetica" pitchFamily="-112" charset="0"/>
          <a:ea typeface="ＭＳ Ｐゴシック" pitchFamily="-112" charset="-128"/>
        </a:defRPr>
      </a:lvl5pPr>
      <a:lvl6pPr marL="457200" algn="r" defTabSz="457200" rtl="0" fontAlgn="base">
        <a:spcBef>
          <a:spcPct val="0"/>
        </a:spcBef>
        <a:spcAft>
          <a:spcPct val="0"/>
        </a:spcAft>
        <a:defRPr sz="5400" baseline="6000">
          <a:solidFill>
            <a:schemeClr val="bg1"/>
          </a:solidFill>
          <a:latin typeface="Helvetica" pitchFamily="-112" charset="0"/>
          <a:ea typeface="ＭＳ Ｐゴシック" pitchFamily="-112" charset="-128"/>
        </a:defRPr>
      </a:lvl6pPr>
      <a:lvl7pPr marL="914400" algn="r" defTabSz="457200" rtl="0" fontAlgn="base">
        <a:spcBef>
          <a:spcPct val="0"/>
        </a:spcBef>
        <a:spcAft>
          <a:spcPct val="0"/>
        </a:spcAft>
        <a:defRPr sz="5400" baseline="6000">
          <a:solidFill>
            <a:schemeClr val="bg1"/>
          </a:solidFill>
          <a:latin typeface="Helvetica" pitchFamily="-112" charset="0"/>
          <a:ea typeface="ＭＳ Ｐゴシック" pitchFamily="-112" charset="-128"/>
        </a:defRPr>
      </a:lvl7pPr>
      <a:lvl8pPr marL="1371600" algn="r" defTabSz="457200" rtl="0" fontAlgn="base">
        <a:spcBef>
          <a:spcPct val="0"/>
        </a:spcBef>
        <a:spcAft>
          <a:spcPct val="0"/>
        </a:spcAft>
        <a:defRPr sz="5400" baseline="6000">
          <a:solidFill>
            <a:schemeClr val="bg1"/>
          </a:solidFill>
          <a:latin typeface="Helvetica" pitchFamily="-112" charset="0"/>
          <a:ea typeface="ＭＳ Ｐゴシック" pitchFamily="-112" charset="-128"/>
        </a:defRPr>
      </a:lvl8pPr>
      <a:lvl9pPr marL="1828800" algn="r" defTabSz="457200" rtl="0" fontAlgn="base">
        <a:spcBef>
          <a:spcPct val="0"/>
        </a:spcBef>
        <a:spcAft>
          <a:spcPct val="0"/>
        </a:spcAft>
        <a:defRPr sz="5400" baseline="6000">
          <a:solidFill>
            <a:schemeClr val="bg1"/>
          </a:solidFill>
          <a:latin typeface="Helvetica" pitchFamily="-112" charset="0"/>
          <a:ea typeface="ＭＳ Ｐゴシック" pitchFamily="-112" charset="-128"/>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Helvetica"/>
          <a:ea typeface="ＭＳ Ｐゴシック" pitchFamily="-112" charset="-128"/>
          <a:cs typeface="Helvetica"/>
        </a:defRPr>
      </a:lvl1pPr>
      <a:lvl2pPr marL="742950" indent="-285750" algn="l" defTabSz="457200" rtl="0" eaLnBrk="0" fontAlgn="base" hangingPunct="0">
        <a:spcBef>
          <a:spcPct val="20000"/>
        </a:spcBef>
        <a:spcAft>
          <a:spcPct val="0"/>
        </a:spcAft>
        <a:buFont typeface="Lucida Grande" charset="0"/>
        <a:buChar char="–"/>
        <a:defRPr sz="2800" kern="1200">
          <a:solidFill>
            <a:schemeClr val="tx1"/>
          </a:solidFill>
          <a:latin typeface="Helvetica"/>
          <a:ea typeface="ＭＳ Ｐゴシック" pitchFamily="-112" charset="-128"/>
          <a:cs typeface="Helvetica"/>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Helvetica"/>
          <a:ea typeface="ＭＳ Ｐゴシック" pitchFamily="-112" charset="-128"/>
          <a:cs typeface="Helvetica"/>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Helvetica"/>
          <a:ea typeface="ＭＳ Ｐゴシック" pitchFamily="-112" charset="-128"/>
          <a:cs typeface="Helvetica"/>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Helvetica"/>
          <a:ea typeface="ＭＳ Ｐゴシック" pitchFamily="-112" charset="-128"/>
          <a:cs typeface="Helvetic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title"/>
          </p:nvPr>
        </p:nvSpPr>
        <p:spPr bwMode="auto">
          <a:xfrm>
            <a:off x="289872" y="152400"/>
            <a:ext cx="11684000" cy="779462"/>
          </a:xfrm>
          <a:prstGeom prst="rect">
            <a:avLst/>
          </a:prstGeom>
          <a:noFill/>
          <a:ln w="9525">
            <a:noFill/>
            <a:miter lim="800000"/>
            <a:headEnd/>
            <a:tailEnd/>
          </a:ln>
        </p:spPr>
        <p:txBody>
          <a:bodyPr vert="horz" wrap="square" lIns="0" tIns="0" rIns="91440" bIns="45720" numCol="1" anchor="ctr" anchorCtr="0" compatLnSpc="1">
            <a:prstTxWarp prst="textNoShape">
              <a:avLst/>
            </a:prstTxWarp>
          </a:bodyPr>
          <a:lstStyle/>
          <a:p>
            <a:pPr lvl="0"/>
            <a:r>
              <a:rPr lang="de-DE" dirty="0"/>
              <a:t>Click to add title</a:t>
            </a:r>
          </a:p>
        </p:txBody>
      </p:sp>
      <p:sp>
        <p:nvSpPr>
          <p:cNvPr id="1028" name="Rectangle 4"/>
          <p:cNvSpPr>
            <a:spLocks noGrp="1" noChangeArrowheads="1"/>
          </p:cNvSpPr>
          <p:nvPr>
            <p:ph type="body" idx="1"/>
          </p:nvPr>
        </p:nvSpPr>
        <p:spPr bwMode="auto">
          <a:xfrm>
            <a:off x="289873" y="946943"/>
            <a:ext cx="11684000" cy="5342511"/>
          </a:xfrm>
          <a:prstGeom prst="rect">
            <a:avLst/>
          </a:prstGeom>
          <a:noFill/>
          <a:ln w="9525">
            <a:noFill/>
            <a:miter lim="800000"/>
            <a:headEnd/>
            <a:tailEnd/>
          </a:ln>
        </p:spPr>
        <p:txBody>
          <a:bodyPr vert="horz" wrap="square" lIns="0" tIns="0" rIns="91440" bIns="45720" numCol="1" anchor="t" anchorCtr="0" compatLnSpc="1">
            <a:prstTxWarp prst="textNoShape">
              <a:avLst/>
            </a:prstTxWarp>
          </a:bodyPr>
          <a:lstStyle/>
          <a:p>
            <a:pPr lvl="0"/>
            <a:r>
              <a:rPr lang="de-DE" dirty="0"/>
              <a:t>Klicken Sie, um die Formate des Vorlagentextes zu bearbeiten</a:t>
            </a:r>
          </a:p>
          <a:p>
            <a:pPr lvl="1"/>
            <a:r>
              <a:rPr lang="de-DE" dirty="0"/>
              <a:t>Level 2</a:t>
            </a:r>
          </a:p>
          <a:p>
            <a:pPr lvl="2"/>
            <a:r>
              <a:rPr lang="de-DE" dirty="0"/>
              <a:t>Level 3</a:t>
            </a:r>
          </a:p>
          <a:p>
            <a:pPr lvl="3"/>
            <a:r>
              <a:rPr lang="de-DE" dirty="0"/>
              <a:t>Level 4</a:t>
            </a:r>
          </a:p>
        </p:txBody>
      </p:sp>
      <p:pic>
        <p:nvPicPr>
          <p:cNvPr id="9" name="Picture 7" descr="PPTbackground_Red.jpg"/>
          <p:cNvPicPr>
            <a:picLocks noChangeAspect="1"/>
          </p:cNvPicPr>
          <p:nvPr userDrawn="1"/>
        </p:nvPicPr>
        <p:blipFill>
          <a:blip r:embed="rId12"/>
          <a:srcRect b="97814"/>
          <a:stretch>
            <a:fillRect/>
          </a:stretch>
        </p:blipFill>
        <p:spPr bwMode="auto">
          <a:xfrm flipH="1">
            <a:off x="0" y="-11905"/>
            <a:ext cx="12192000" cy="149225"/>
          </a:xfrm>
          <a:prstGeom prst="rect">
            <a:avLst/>
          </a:prstGeom>
          <a:noFill/>
          <a:ln w="9525">
            <a:noFill/>
            <a:miter lim="800000"/>
            <a:headEnd/>
            <a:tailEnd/>
          </a:ln>
          <a:effectLst>
            <a:outerShdw blurRad="136525" dist="38100" dir="2700000" algn="tl" rotWithShape="0">
              <a:srgbClr val="000000">
                <a:alpha val="43000"/>
              </a:srgbClr>
            </a:outerShdw>
          </a:effectLst>
        </p:spPr>
      </p:pic>
      <p:sp>
        <p:nvSpPr>
          <p:cNvPr id="11" name="Rectangle 10"/>
          <p:cNvSpPr/>
          <p:nvPr userDrawn="1"/>
        </p:nvSpPr>
        <p:spPr>
          <a:xfrm>
            <a:off x="0" y="6289453"/>
            <a:ext cx="12192000" cy="579437"/>
          </a:xfrm>
          <a:prstGeom prst="rect">
            <a:avLst/>
          </a:prstGeom>
          <a:solidFill>
            <a:srgbClr val="B60225"/>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srgbClr val="FFFFFF"/>
              </a:solidFill>
            </a:endParaRPr>
          </a:p>
        </p:txBody>
      </p:sp>
    </p:spTree>
    <p:extLst>
      <p:ext uri="{BB962C8B-B14F-4D97-AF65-F5344CB8AC3E}">
        <p14:creationId xmlns:p14="http://schemas.microsoft.com/office/powerpoint/2010/main" val="2217182716"/>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Lst>
  <p:transition/>
  <p:txStyles>
    <p:titleStyle>
      <a:lvl1pPr algn="l" rtl="0" eaLnBrk="1" fontAlgn="base" hangingPunct="1">
        <a:lnSpc>
          <a:spcPct val="95000"/>
        </a:lnSpc>
        <a:spcBef>
          <a:spcPct val="0"/>
        </a:spcBef>
        <a:spcAft>
          <a:spcPct val="0"/>
        </a:spcAft>
        <a:defRPr sz="2600" b="1">
          <a:solidFill>
            <a:srgbClr val="003399"/>
          </a:solidFill>
          <a:latin typeface="Verdana" pitchFamily="34" charset="0"/>
          <a:ea typeface="+mj-ea"/>
          <a:cs typeface="+mj-cs"/>
        </a:defRPr>
      </a:lvl1pPr>
      <a:lvl2pPr algn="l" rtl="0" eaLnBrk="1" fontAlgn="base" hangingPunct="1">
        <a:lnSpc>
          <a:spcPct val="95000"/>
        </a:lnSpc>
        <a:spcBef>
          <a:spcPct val="0"/>
        </a:spcBef>
        <a:spcAft>
          <a:spcPct val="0"/>
        </a:spcAft>
        <a:defRPr sz="2600">
          <a:solidFill>
            <a:srgbClr val="003399"/>
          </a:solidFill>
          <a:latin typeface="Verdana" pitchFamily="34" charset="0"/>
        </a:defRPr>
      </a:lvl2pPr>
      <a:lvl3pPr algn="l" rtl="0" eaLnBrk="1" fontAlgn="base" hangingPunct="1">
        <a:lnSpc>
          <a:spcPct val="95000"/>
        </a:lnSpc>
        <a:spcBef>
          <a:spcPct val="0"/>
        </a:spcBef>
        <a:spcAft>
          <a:spcPct val="0"/>
        </a:spcAft>
        <a:defRPr sz="2600">
          <a:solidFill>
            <a:srgbClr val="003399"/>
          </a:solidFill>
          <a:latin typeface="Verdana" pitchFamily="34" charset="0"/>
        </a:defRPr>
      </a:lvl3pPr>
      <a:lvl4pPr algn="l" rtl="0" eaLnBrk="1" fontAlgn="base" hangingPunct="1">
        <a:lnSpc>
          <a:spcPct val="95000"/>
        </a:lnSpc>
        <a:spcBef>
          <a:spcPct val="0"/>
        </a:spcBef>
        <a:spcAft>
          <a:spcPct val="0"/>
        </a:spcAft>
        <a:defRPr sz="2600">
          <a:solidFill>
            <a:srgbClr val="003399"/>
          </a:solidFill>
          <a:latin typeface="Verdana" pitchFamily="34" charset="0"/>
        </a:defRPr>
      </a:lvl4pPr>
      <a:lvl5pPr algn="l" rtl="0" eaLnBrk="1" fontAlgn="base" hangingPunct="1">
        <a:lnSpc>
          <a:spcPct val="95000"/>
        </a:lnSpc>
        <a:spcBef>
          <a:spcPct val="0"/>
        </a:spcBef>
        <a:spcAft>
          <a:spcPct val="0"/>
        </a:spcAft>
        <a:defRPr sz="2600">
          <a:solidFill>
            <a:srgbClr val="003399"/>
          </a:solidFill>
          <a:latin typeface="Verdana" pitchFamily="34" charset="0"/>
        </a:defRPr>
      </a:lvl5pPr>
      <a:lvl6pPr marL="457200" algn="l" rtl="0" eaLnBrk="1" fontAlgn="base" hangingPunct="1">
        <a:lnSpc>
          <a:spcPct val="95000"/>
        </a:lnSpc>
        <a:spcBef>
          <a:spcPct val="0"/>
        </a:spcBef>
        <a:spcAft>
          <a:spcPct val="0"/>
        </a:spcAft>
        <a:defRPr sz="2600">
          <a:solidFill>
            <a:srgbClr val="003399"/>
          </a:solidFill>
          <a:latin typeface="Arial" charset="0"/>
        </a:defRPr>
      </a:lvl6pPr>
      <a:lvl7pPr marL="914400" algn="l" rtl="0" eaLnBrk="1" fontAlgn="base" hangingPunct="1">
        <a:lnSpc>
          <a:spcPct val="95000"/>
        </a:lnSpc>
        <a:spcBef>
          <a:spcPct val="0"/>
        </a:spcBef>
        <a:spcAft>
          <a:spcPct val="0"/>
        </a:spcAft>
        <a:defRPr sz="2600">
          <a:solidFill>
            <a:srgbClr val="003399"/>
          </a:solidFill>
          <a:latin typeface="Arial" charset="0"/>
        </a:defRPr>
      </a:lvl7pPr>
      <a:lvl8pPr marL="1371600" algn="l" rtl="0" eaLnBrk="1" fontAlgn="base" hangingPunct="1">
        <a:lnSpc>
          <a:spcPct val="95000"/>
        </a:lnSpc>
        <a:spcBef>
          <a:spcPct val="0"/>
        </a:spcBef>
        <a:spcAft>
          <a:spcPct val="0"/>
        </a:spcAft>
        <a:defRPr sz="2600">
          <a:solidFill>
            <a:srgbClr val="003399"/>
          </a:solidFill>
          <a:latin typeface="Arial" charset="0"/>
        </a:defRPr>
      </a:lvl8pPr>
      <a:lvl9pPr marL="1828800" algn="l" rtl="0" eaLnBrk="1" fontAlgn="base" hangingPunct="1">
        <a:lnSpc>
          <a:spcPct val="95000"/>
        </a:lnSpc>
        <a:spcBef>
          <a:spcPct val="0"/>
        </a:spcBef>
        <a:spcAft>
          <a:spcPct val="0"/>
        </a:spcAft>
        <a:defRPr sz="2600">
          <a:solidFill>
            <a:srgbClr val="003399"/>
          </a:solidFill>
          <a:latin typeface="Arial" charset="0"/>
        </a:defRPr>
      </a:lvl9pPr>
    </p:titleStyle>
    <p:bodyStyle>
      <a:lvl1pPr marL="342900" indent="-342900" algn="l" rtl="0" eaLnBrk="1" fontAlgn="base" hangingPunct="1">
        <a:spcBef>
          <a:spcPct val="20000"/>
        </a:spcBef>
        <a:spcAft>
          <a:spcPct val="0"/>
        </a:spcAft>
        <a:buChar char="•"/>
        <a:defRPr sz="2400">
          <a:solidFill>
            <a:schemeClr val="tx1"/>
          </a:solidFill>
          <a:latin typeface="Verdana" pitchFamily="34" charset="0"/>
          <a:ea typeface="+mn-ea"/>
          <a:cs typeface="+mn-cs"/>
        </a:defRPr>
      </a:lvl1pPr>
      <a:lvl2pPr marL="742950" indent="-285750" algn="l" rtl="0" eaLnBrk="1" fontAlgn="base" hangingPunct="1">
        <a:spcBef>
          <a:spcPct val="20000"/>
        </a:spcBef>
        <a:spcAft>
          <a:spcPct val="0"/>
        </a:spcAft>
        <a:buChar char="–"/>
        <a:defRPr sz="2200">
          <a:solidFill>
            <a:schemeClr val="tx1"/>
          </a:solidFill>
          <a:latin typeface="Verdana" pitchFamily="34" charset="0"/>
        </a:defRPr>
      </a:lvl2pPr>
      <a:lvl3pPr marL="1143000" indent="-228600" algn="l" rtl="0" eaLnBrk="1" fontAlgn="base" hangingPunct="1">
        <a:spcBef>
          <a:spcPct val="20000"/>
        </a:spcBef>
        <a:spcAft>
          <a:spcPct val="0"/>
        </a:spcAft>
        <a:buChar char="•"/>
        <a:defRPr>
          <a:solidFill>
            <a:schemeClr val="tx1"/>
          </a:solidFill>
          <a:latin typeface="Verdana" pitchFamily="34" charset="0"/>
        </a:defRPr>
      </a:lvl3pPr>
      <a:lvl4pPr marL="1600200" indent="-228600" algn="l" rtl="0" eaLnBrk="1" fontAlgn="base" hangingPunct="1">
        <a:spcBef>
          <a:spcPct val="20000"/>
        </a:spcBef>
        <a:spcAft>
          <a:spcPct val="0"/>
        </a:spcAft>
        <a:buChar char="–"/>
        <a:defRPr sz="1600">
          <a:solidFill>
            <a:schemeClr val="tx1"/>
          </a:solidFill>
          <a:latin typeface="Verdana" pitchFamily="34" charset="0"/>
        </a:defRPr>
      </a:lvl4pPr>
      <a:lvl5pPr marL="2057400" indent="-228600" algn="l" rtl="0" eaLnBrk="1" fontAlgn="base" hangingPunct="1">
        <a:spcBef>
          <a:spcPct val="20000"/>
        </a:spcBef>
        <a:spcAft>
          <a:spcPct val="0"/>
        </a:spcAft>
        <a:buChar char="»"/>
        <a:defRPr sz="1500">
          <a:solidFill>
            <a:srgbClr val="003399"/>
          </a:solidFill>
          <a:latin typeface="Siemens Sans" pitchFamily="2" charset="0"/>
        </a:defRPr>
      </a:lvl5pPr>
      <a:lvl6pPr marL="2514600" indent="-228600" algn="l" rtl="0" eaLnBrk="1" fontAlgn="base" hangingPunct="1">
        <a:spcBef>
          <a:spcPct val="20000"/>
        </a:spcBef>
        <a:spcAft>
          <a:spcPct val="0"/>
        </a:spcAft>
        <a:buChar char="»"/>
        <a:defRPr sz="1500">
          <a:solidFill>
            <a:srgbClr val="003399"/>
          </a:solidFill>
          <a:latin typeface="Siemens Sans" pitchFamily="2" charset="0"/>
        </a:defRPr>
      </a:lvl6pPr>
      <a:lvl7pPr marL="2971800" indent="-228600" algn="l" rtl="0" eaLnBrk="1" fontAlgn="base" hangingPunct="1">
        <a:spcBef>
          <a:spcPct val="20000"/>
        </a:spcBef>
        <a:spcAft>
          <a:spcPct val="0"/>
        </a:spcAft>
        <a:buChar char="»"/>
        <a:defRPr sz="1500">
          <a:solidFill>
            <a:srgbClr val="003399"/>
          </a:solidFill>
          <a:latin typeface="Siemens Sans" pitchFamily="2" charset="0"/>
        </a:defRPr>
      </a:lvl7pPr>
      <a:lvl8pPr marL="3429000" indent="-228600" algn="l" rtl="0" eaLnBrk="1" fontAlgn="base" hangingPunct="1">
        <a:spcBef>
          <a:spcPct val="20000"/>
        </a:spcBef>
        <a:spcAft>
          <a:spcPct val="0"/>
        </a:spcAft>
        <a:buChar char="»"/>
        <a:defRPr sz="1500">
          <a:solidFill>
            <a:srgbClr val="003399"/>
          </a:solidFill>
          <a:latin typeface="Siemens Sans" pitchFamily="2" charset="0"/>
        </a:defRPr>
      </a:lvl8pPr>
      <a:lvl9pPr marL="3886200" indent="-228600" algn="l" rtl="0" eaLnBrk="1" fontAlgn="base" hangingPunct="1">
        <a:spcBef>
          <a:spcPct val="20000"/>
        </a:spcBef>
        <a:spcAft>
          <a:spcPct val="0"/>
        </a:spcAft>
        <a:buChar char="»"/>
        <a:defRPr sz="1500">
          <a:solidFill>
            <a:srgbClr val="003399"/>
          </a:solidFill>
          <a:latin typeface="Siemens Sans" pitchFamily="2"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0.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1.wmf"/></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13.gif"/></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hyperlink" Target="https://www.ablebits.com/office-addins-blog/author/svetlana-cheusheva/" TargetMode="External"/><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6.xml"/><Relationship Id="rId4" Type="http://schemas.openxmlformats.org/officeDocument/2006/relationships/image" Target="../media/image4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hyperlink" Target="https://www.ibm.com/docs/en/db2/12.1?topic=tables-materialized-query" TargetMode="External"/></Relationships>
</file>

<file path=ppt/slides/_rels/slide8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4"/>
          </p:nvPr>
        </p:nvSpPr>
        <p:spPr>
          <a:xfrm>
            <a:off x="0" y="1676400"/>
            <a:ext cx="12192000" cy="495300"/>
          </a:xfrm>
        </p:spPr>
        <p:txBody>
          <a:bodyPr/>
          <a:lstStyle/>
          <a:p>
            <a:r>
              <a:rPr lang="en-US" sz="3200" dirty="0">
                <a:solidFill>
                  <a:schemeClr val="tx1"/>
                </a:solidFill>
              </a:rPr>
              <a:t>ISE305: Database Design and Practice</a:t>
            </a:r>
          </a:p>
          <a:p>
            <a:endParaRPr lang="en-US" sz="1400" b="1" dirty="0">
              <a:solidFill>
                <a:schemeClr val="tx1"/>
              </a:solidFill>
            </a:endParaRPr>
          </a:p>
          <a:p>
            <a:r>
              <a:rPr lang="en-US" sz="4400" b="1" dirty="0">
                <a:solidFill>
                  <a:srgbClr val="8D1A11"/>
                </a:solidFill>
              </a:rPr>
              <a:t>Complex Queries</a:t>
            </a:r>
          </a:p>
        </p:txBody>
      </p:sp>
      <p:sp>
        <p:nvSpPr>
          <p:cNvPr id="6" name="Text Placeholder 2">
            <a:extLst>
              <a:ext uri="{FF2B5EF4-FFF2-40B4-BE49-F238E27FC236}">
                <a16:creationId xmlns:a16="http://schemas.microsoft.com/office/drawing/2014/main" id="{55816512-A6A4-265D-4371-B67C1D6CAAC6}"/>
              </a:ext>
            </a:extLst>
          </p:cNvPr>
          <p:cNvSpPr txBox="1">
            <a:spLocks/>
          </p:cNvSpPr>
          <p:nvPr/>
        </p:nvSpPr>
        <p:spPr bwMode="auto">
          <a:xfrm>
            <a:off x="2819400" y="3886200"/>
            <a:ext cx="6553200" cy="1828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ctr" anchorCtr="0" compatLnSpc="1">
            <a:prstTxWarp prst="textNoShape">
              <a:avLst/>
            </a:prstTxWarp>
          </a:bodyPr>
          <a:lstStyle>
            <a:lvl1pPr marL="342900" indent="-342900" algn="ctr" defTabSz="457200" rtl="0" eaLnBrk="0" fontAlgn="base" hangingPunct="0">
              <a:spcBef>
                <a:spcPct val="20000"/>
              </a:spcBef>
              <a:spcAft>
                <a:spcPct val="0"/>
              </a:spcAft>
              <a:buFontTx/>
              <a:buNone/>
              <a:defRPr sz="4400" kern="1200">
                <a:solidFill>
                  <a:srgbClr val="B60225"/>
                </a:solidFill>
                <a:latin typeface="Helvetica"/>
                <a:ea typeface="ＭＳ Ｐゴシック" pitchFamily="-112" charset="-128"/>
                <a:cs typeface="Helvetica"/>
              </a:defRPr>
            </a:lvl1pPr>
            <a:lvl2pPr marL="228600" indent="-228600" algn="ctr" defTabSz="457200" rtl="0" eaLnBrk="0" fontAlgn="base" hangingPunct="0">
              <a:spcBef>
                <a:spcPct val="20000"/>
              </a:spcBef>
              <a:spcAft>
                <a:spcPct val="0"/>
              </a:spcAft>
              <a:buClr>
                <a:srgbClr val="C03137"/>
              </a:buClr>
              <a:buFontTx/>
              <a:buNone/>
              <a:defRPr sz="2400" kern="1200">
                <a:solidFill>
                  <a:schemeClr val="tx1"/>
                </a:solidFill>
                <a:latin typeface="Helvetica"/>
                <a:ea typeface="ＭＳ Ｐゴシック" pitchFamily="-112" charset="-128"/>
                <a:cs typeface="Helvetica"/>
              </a:defRPr>
            </a:lvl2pPr>
            <a:lvl3pPr marL="458788" indent="-230188" algn="ctr" defTabSz="457200" rtl="0" eaLnBrk="0" fontAlgn="base" hangingPunct="0">
              <a:spcBef>
                <a:spcPct val="20000"/>
              </a:spcBef>
              <a:spcAft>
                <a:spcPct val="0"/>
              </a:spcAft>
              <a:buFontTx/>
              <a:buNone/>
              <a:defRPr sz="2400" kern="1200">
                <a:solidFill>
                  <a:schemeClr val="tx1"/>
                </a:solidFill>
                <a:latin typeface="Helvetica"/>
                <a:ea typeface="ＭＳ Ｐゴシック" pitchFamily="-112" charset="-128"/>
                <a:cs typeface="Helvetica"/>
              </a:defRPr>
            </a:lvl3pPr>
            <a:lvl4pPr marL="458788" indent="-230188" algn="ctr" defTabSz="457200" rtl="0" eaLnBrk="0" fontAlgn="base" hangingPunct="0">
              <a:spcBef>
                <a:spcPct val="20000"/>
              </a:spcBef>
              <a:spcAft>
                <a:spcPct val="0"/>
              </a:spcAft>
              <a:buFontTx/>
              <a:buNone/>
              <a:defRPr sz="2000" kern="1200">
                <a:solidFill>
                  <a:schemeClr val="tx1"/>
                </a:solidFill>
                <a:latin typeface="Helvetica"/>
                <a:ea typeface="ＭＳ Ｐゴシック" pitchFamily="-112" charset="-128"/>
                <a:cs typeface="Helvetica"/>
              </a:defRPr>
            </a:lvl4pPr>
            <a:lvl5pPr marL="458788" indent="-230188" algn="ctr" defTabSz="457200" rtl="0" eaLnBrk="0" fontAlgn="base" hangingPunct="0">
              <a:spcBef>
                <a:spcPct val="20000"/>
              </a:spcBef>
              <a:spcAft>
                <a:spcPct val="0"/>
              </a:spcAft>
              <a:buFontTx/>
              <a:buNone/>
              <a:defRPr sz="2000" kern="1200">
                <a:solidFill>
                  <a:schemeClr val="tx1"/>
                </a:solidFill>
                <a:latin typeface="Helvetica"/>
                <a:ea typeface="ＭＳ Ｐゴシック" pitchFamily="-112" charset="-128"/>
                <a:cs typeface="Helvetic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ctr" defTabSz="457200" rtl="0" eaLnBrk="0" fontAlgn="base" latinLnBrk="0" hangingPunct="0">
              <a:lnSpc>
                <a:spcPct val="100000"/>
              </a:lnSpc>
              <a:spcBef>
                <a:spcPct val="20000"/>
              </a:spcBef>
              <a:spcAft>
                <a:spcPct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a:ea typeface="ＭＳ Ｐゴシック" pitchFamily="-112" charset="-128"/>
            </a:endParaRPr>
          </a:p>
          <a:p>
            <a:pPr marL="342900" marR="0" lvl="0" indent="-342900" algn="ctr" defTabSz="457200" rtl="0" eaLnBrk="0" fontAlgn="base" latinLnBrk="0" hangingPunct="0">
              <a:lnSpc>
                <a:spcPct val="100000"/>
              </a:lnSpc>
              <a:spcBef>
                <a:spcPct val="20000"/>
              </a:spcBef>
              <a:spcAft>
                <a:spcPct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Helvetica"/>
                <a:ea typeface="ＭＳ Ｐゴシック" pitchFamily="-112" charset="-128"/>
              </a:rPr>
              <a:t>Fusheng Wang</a:t>
            </a:r>
          </a:p>
          <a:p>
            <a:pPr marL="342900" marR="0" lvl="0" indent="-342900" algn="ctr" defTabSz="457200" rtl="0" eaLnBrk="0" fontAlgn="base" latinLnBrk="0" hangingPunct="0">
              <a:lnSpc>
                <a:spcPct val="100000"/>
              </a:lnSpc>
              <a:spcBef>
                <a:spcPct val="20000"/>
              </a:spcBef>
              <a:spcAft>
                <a:spcPct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Helvetica"/>
                <a:ea typeface="ＭＳ Ｐゴシック" pitchFamily="-112" charset="-128"/>
              </a:rPr>
              <a:t>Department of Computer Science</a:t>
            </a:r>
          </a:p>
          <a:p>
            <a:pPr marL="342900" marR="0" lvl="0" indent="-342900" algn="ctr" defTabSz="457200" rtl="0" eaLnBrk="0" fontAlgn="base" latinLnBrk="0" hangingPunct="0">
              <a:lnSpc>
                <a:spcPct val="100000"/>
              </a:lnSpc>
              <a:spcBef>
                <a:spcPct val="20000"/>
              </a:spcBef>
              <a:spcAft>
                <a:spcPct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Helvetica"/>
                <a:ea typeface="ＭＳ Ｐゴシック" pitchFamily="-112" charset="-128"/>
              </a:rPr>
              <a:t>Department of Biomedical Informatics</a:t>
            </a:r>
          </a:p>
          <a:p>
            <a:pPr marL="342900" marR="0" lvl="0" indent="-342900" algn="ctr" defTabSz="457200" rtl="0" eaLnBrk="0" fontAlgn="base" latinLnBrk="0" hangingPunct="0">
              <a:lnSpc>
                <a:spcPct val="100000"/>
              </a:lnSpc>
              <a:spcBef>
                <a:spcPct val="20000"/>
              </a:spcBef>
              <a:spcAft>
                <a:spcPct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Helvetica"/>
              <a:ea typeface="ＭＳ Ｐゴシック" pitchFamily="-112" charset="-128"/>
            </a:endParaRPr>
          </a:p>
        </p:txBody>
      </p:sp>
    </p:spTree>
    <p:extLst>
      <p:ext uri="{BB962C8B-B14F-4D97-AF65-F5344CB8AC3E}">
        <p14:creationId xmlns:p14="http://schemas.microsoft.com/office/powerpoint/2010/main" val="3648664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EDA5C9-019E-8AAB-BEA1-8BFA5563E1EB}"/>
              </a:ext>
            </a:extLst>
          </p:cNvPr>
          <p:cNvSpPr>
            <a:spLocks noGrp="1"/>
          </p:cNvSpPr>
          <p:nvPr>
            <p:ph idx="1"/>
          </p:nvPr>
        </p:nvSpPr>
        <p:spPr/>
        <p:txBody>
          <a:bodyPr/>
          <a:lstStyle/>
          <a:p>
            <a:r>
              <a:rPr lang="en-US" dirty="0"/>
              <a:t>Common Table Expressions </a:t>
            </a:r>
          </a:p>
          <a:p>
            <a:r>
              <a:rPr lang="en-US" dirty="0"/>
              <a:t>and Recursive Queries</a:t>
            </a:r>
          </a:p>
        </p:txBody>
      </p:sp>
    </p:spTree>
    <p:extLst>
      <p:ext uri="{BB962C8B-B14F-4D97-AF65-F5344CB8AC3E}">
        <p14:creationId xmlns:p14="http://schemas.microsoft.com/office/powerpoint/2010/main" val="350221173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Expressions</a:t>
            </a:r>
          </a:p>
        </p:txBody>
      </p:sp>
      <p:sp>
        <p:nvSpPr>
          <p:cNvPr id="3" name="Content Placeholder 2"/>
          <p:cNvSpPr>
            <a:spLocks noGrp="1"/>
          </p:cNvSpPr>
          <p:nvPr>
            <p:ph idx="1"/>
          </p:nvPr>
        </p:nvSpPr>
        <p:spPr/>
        <p:txBody>
          <a:bodyPr/>
          <a:lstStyle/>
          <a:p>
            <a:r>
              <a:rPr lang="en-US" dirty="0"/>
              <a:t>A </a:t>
            </a:r>
            <a:r>
              <a:rPr lang="en-US" dirty="0">
                <a:solidFill>
                  <a:schemeClr val="accent2"/>
                </a:solidFill>
              </a:rPr>
              <a:t>table expression </a:t>
            </a:r>
            <a:r>
              <a:rPr lang="en-US" dirty="0"/>
              <a:t>is a SQL statement used within another SQL statement</a:t>
            </a:r>
          </a:p>
          <a:p>
            <a:pPr lvl="1"/>
            <a:r>
              <a:rPr lang="en-US" dirty="0"/>
              <a:t>Nested table expressions (NTE)</a:t>
            </a:r>
          </a:p>
          <a:p>
            <a:pPr lvl="1"/>
            <a:r>
              <a:rPr lang="en-US" dirty="0"/>
              <a:t>Common table expressions (CTE)</a:t>
            </a:r>
          </a:p>
          <a:p>
            <a:r>
              <a:rPr lang="en-US" dirty="0"/>
              <a:t>Nested table expression: acts as a temporary table </a:t>
            </a:r>
          </a:p>
          <a:p>
            <a:endParaRPr lang="en-US" sz="800" dirty="0"/>
          </a:p>
          <a:p>
            <a:pPr marL="0" indent="0">
              <a:buNone/>
            </a:pPr>
            <a:r>
              <a:rPr lang="en-US" i="1" dirty="0">
                <a:solidFill>
                  <a:schemeClr val="bg2"/>
                </a:solidFill>
              </a:rPr>
              <a:t>   Return the max salary for each dept:</a:t>
            </a:r>
          </a:p>
        </p:txBody>
      </p:sp>
      <p:sp>
        <p:nvSpPr>
          <p:cNvPr id="5" name="TextBox 4">
            <a:extLst>
              <a:ext uri="{FF2B5EF4-FFF2-40B4-BE49-F238E27FC236}">
                <a16:creationId xmlns:a16="http://schemas.microsoft.com/office/drawing/2014/main" id="{AFA31203-A09F-268D-0C1C-BFAF7772D162}"/>
              </a:ext>
            </a:extLst>
          </p:cNvPr>
          <p:cNvSpPr txBox="1"/>
          <p:nvPr/>
        </p:nvSpPr>
        <p:spPr>
          <a:xfrm>
            <a:off x="2057400" y="4145340"/>
            <a:ext cx="7696200" cy="1569660"/>
          </a:xfrm>
          <a:prstGeom prst="rect">
            <a:avLst/>
          </a:prstGeom>
          <a:solidFill>
            <a:schemeClr val="bg1"/>
          </a:solidFill>
          <a:ln>
            <a:solidFill>
              <a:schemeClr val="bg2"/>
            </a:solidFill>
          </a:ln>
          <a:effectLst>
            <a:outerShdw blurRad="50800" dist="63500" dir="2700000" algn="tl" rotWithShape="0">
              <a:prstClr val="black">
                <a:alpha val="40000"/>
              </a:prstClr>
            </a:outerShdw>
          </a:effectLst>
        </p:spPr>
        <p:txBody>
          <a:bodyPr wrap="square">
            <a:spAutoFit/>
          </a:bodyPr>
          <a:lstStyle/>
          <a:p>
            <a:pPr algn="l"/>
            <a:r>
              <a:rPr lang="en-US" sz="2400" b="1" dirty="0">
                <a:solidFill>
                  <a:srgbClr val="800000"/>
                </a:solidFill>
                <a:latin typeface="Consolas" panose="020B0609020204030204" pitchFamily="49" charset="0"/>
              </a:rPr>
              <a:t>SELECT</a:t>
            </a:r>
            <a:r>
              <a:rPr lang="en-US" sz="2400" dirty="0">
                <a:solidFill>
                  <a:srgbClr val="000000"/>
                </a:solidFill>
                <a:latin typeface="Consolas" panose="020B0609020204030204" pitchFamily="49" charset="0"/>
              </a:rPr>
              <a:t> * </a:t>
            </a:r>
            <a:r>
              <a:rPr lang="en-US" sz="2400" b="1" dirty="0">
                <a:solidFill>
                  <a:srgbClr val="800000"/>
                </a:solidFill>
                <a:latin typeface="Consolas" panose="020B0609020204030204" pitchFamily="49" charset="0"/>
              </a:rPr>
              <a:t>FROM</a:t>
            </a:r>
            <a:r>
              <a:rPr lang="en-US" sz="2400" dirty="0">
                <a:solidFill>
                  <a:srgbClr val="000000"/>
                </a:solidFill>
                <a:latin typeface="Consolas" panose="020B0609020204030204" pitchFamily="49" charset="0"/>
              </a:rPr>
              <a:t> </a:t>
            </a:r>
          </a:p>
          <a:p>
            <a:pPr algn="l"/>
            <a:r>
              <a:rPr lang="en-US" sz="2400" dirty="0">
                <a:solidFill>
                  <a:srgbClr val="000000"/>
                </a:solidFill>
                <a:latin typeface="Consolas" panose="020B0609020204030204" pitchFamily="49" charset="0"/>
              </a:rPr>
              <a:t>  </a:t>
            </a:r>
            <a:r>
              <a:rPr lang="en-US" sz="2400" dirty="0">
                <a:solidFill>
                  <a:schemeClr val="accent6"/>
                </a:solidFill>
                <a:latin typeface="Consolas" panose="020B0609020204030204" pitchFamily="49" charset="0"/>
              </a:rPr>
              <a:t>(</a:t>
            </a:r>
            <a:r>
              <a:rPr lang="en-US" sz="2400" b="1" dirty="0">
                <a:solidFill>
                  <a:schemeClr val="accent6"/>
                </a:solidFill>
                <a:latin typeface="Consolas" panose="020B0609020204030204" pitchFamily="49" charset="0"/>
              </a:rPr>
              <a:t>SELECT</a:t>
            </a:r>
            <a:r>
              <a:rPr lang="en-US" sz="2400" dirty="0">
                <a:solidFill>
                  <a:schemeClr val="accent6"/>
                </a:solidFill>
                <a:latin typeface="Consolas" panose="020B0609020204030204" pitchFamily="49" charset="0"/>
              </a:rPr>
              <a:t> WORKDEPT, MAX(SALARY) AS MAXSAL </a:t>
            </a:r>
          </a:p>
          <a:p>
            <a:pPr algn="l"/>
            <a:r>
              <a:rPr lang="en-US" sz="2400" dirty="0">
                <a:solidFill>
                  <a:schemeClr val="accent6"/>
                </a:solidFill>
                <a:latin typeface="Consolas" panose="020B0609020204030204" pitchFamily="49" charset="0"/>
              </a:rPr>
              <a:t>   </a:t>
            </a:r>
            <a:r>
              <a:rPr lang="en-US" sz="2400" b="1" dirty="0">
                <a:solidFill>
                  <a:schemeClr val="accent6"/>
                </a:solidFill>
                <a:latin typeface="Consolas" panose="020B0609020204030204" pitchFamily="49" charset="0"/>
              </a:rPr>
              <a:t>FROM </a:t>
            </a:r>
            <a:r>
              <a:rPr lang="en-US" sz="2400" dirty="0">
                <a:solidFill>
                  <a:schemeClr val="accent6"/>
                </a:solidFill>
                <a:latin typeface="Consolas" panose="020B0609020204030204" pitchFamily="49" charset="0"/>
              </a:rPr>
              <a:t>EMPLOYEE</a:t>
            </a:r>
          </a:p>
          <a:p>
            <a:pPr algn="l"/>
            <a:r>
              <a:rPr lang="en-US" sz="2400" dirty="0">
                <a:solidFill>
                  <a:schemeClr val="accent6"/>
                </a:solidFill>
                <a:latin typeface="Consolas" panose="020B0609020204030204" pitchFamily="49" charset="0"/>
              </a:rPr>
              <a:t>   </a:t>
            </a:r>
            <a:r>
              <a:rPr lang="en-US" sz="2400" b="1" dirty="0">
                <a:solidFill>
                  <a:schemeClr val="accent6"/>
                </a:solidFill>
                <a:latin typeface="Consolas" panose="020B0609020204030204" pitchFamily="49" charset="0"/>
              </a:rPr>
              <a:t>GROUP BY </a:t>
            </a:r>
            <a:r>
              <a:rPr lang="en-US" sz="2400" dirty="0">
                <a:solidFill>
                  <a:schemeClr val="accent6"/>
                </a:solidFill>
                <a:latin typeface="Consolas" panose="020B0609020204030204" pitchFamily="49" charset="0"/>
              </a:rPr>
              <a:t>WORKDEPT) </a:t>
            </a:r>
            <a:r>
              <a:rPr lang="en-US" sz="2400" b="1" dirty="0">
                <a:solidFill>
                  <a:schemeClr val="accent6"/>
                </a:solidFill>
                <a:latin typeface="Consolas" panose="020B0609020204030204" pitchFamily="49" charset="0"/>
              </a:rPr>
              <a:t>AS</a:t>
            </a:r>
            <a:r>
              <a:rPr lang="en-US" sz="2400" dirty="0">
                <a:solidFill>
                  <a:schemeClr val="accent6"/>
                </a:solidFill>
                <a:latin typeface="Consolas" panose="020B0609020204030204" pitchFamily="49" charset="0"/>
              </a:rPr>
              <a:t> T2</a:t>
            </a:r>
            <a:r>
              <a:rPr lang="en-US" sz="2400" dirty="0">
                <a:solidFill>
                  <a:srgbClr val="FF0000"/>
                </a:solidFill>
                <a:latin typeface="Consolas" panose="020B0609020204030204" pitchFamily="49" charset="0"/>
              </a:rPr>
              <a:t>;</a:t>
            </a:r>
            <a:endParaRPr lang="en-US" sz="2400" dirty="0"/>
          </a:p>
        </p:txBody>
      </p:sp>
      <p:sp>
        <p:nvSpPr>
          <p:cNvPr id="4" name="TextBox 3">
            <a:extLst>
              <a:ext uri="{FF2B5EF4-FFF2-40B4-BE49-F238E27FC236}">
                <a16:creationId xmlns:a16="http://schemas.microsoft.com/office/drawing/2014/main" id="{24BA2D48-B928-C7C3-982E-A651580BCCE7}"/>
              </a:ext>
            </a:extLst>
          </p:cNvPr>
          <p:cNvSpPr txBox="1">
            <a:spLocks noChangeArrowheads="1"/>
          </p:cNvSpPr>
          <p:nvPr/>
        </p:nvSpPr>
        <p:spPr bwMode="auto">
          <a:xfrm>
            <a:off x="76200" y="6430064"/>
            <a:ext cx="2977097"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Common table expressions</a:t>
            </a:r>
          </a:p>
        </p:txBody>
      </p:sp>
    </p:spTree>
    <p:extLst>
      <p:ext uri="{BB962C8B-B14F-4D97-AF65-F5344CB8AC3E}">
        <p14:creationId xmlns:p14="http://schemas.microsoft.com/office/powerpoint/2010/main" val="138523438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Table Expressions</a:t>
            </a:r>
          </a:p>
        </p:txBody>
      </p:sp>
      <p:sp>
        <p:nvSpPr>
          <p:cNvPr id="3" name="Content Placeholder 2"/>
          <p:cNvSpPr>
            <a:spLocks noGrp="1"/>
          </p:cNvSpPr>
          <p:nvPr>
            <p:ph idx="1"/>
          </p:nvPr>
        </p:nvSpPr>
        <p:spPr/>
        <p:txBody>
          <a:bodyPr/>
          <a:lstStyle/>
          <a:p>
            <a:pPr>
              <a:spcBef>
                <a:spcPts val="300"/>
              </a:spcBef>
            </a:pPr>
            <a:r>
              <a:rPr lang="en-US" dirty="0"/>
              <a:t>A common table expression is a named subquery defined in a </a:t>
            </a:r>
            <a:r>
              <a:rPr lang="en-US" dirty="0">
                <a:solidFill>
                  <a:schemeClr val="accent2"/>
                </a:solidFill>
              </a:rPr>
              <a:t>WITH</a:t>
            </a:r>
            <a:r>
              <a:rPr lang="en-US" dirty="0"/>
              <a:t> clause; or a named temporary table retained during the SQL statement  </a:t>
            </a:r>
          </a:p>
          <a:p>
            <a:pPr>
              <a:spcBef>
                <a:spcPts val="300"/>
              </a:spcBef>
            </a:pPr>
            <a:r>
              <a:rPr lang="en-US" dirty="0"/>
              <a:t>All references to a temporary table (in a given SQL statement) return the same result</a:t>
            </a:r>
          </a:p>
          <a:p>
            <a:pPr>
              <a:spcBef>
                <a:spcPts val="300"/>
              </a:spcBef>
            </a:pPr>
            <a:r>
              <a:rPr lang="en-US" dirty="0"/>
              <a:t>Cyclic references are not allowed</a:t>
            </a:r>
          </a:p>
          <a:p>
            <a:pPr marL="0" indent="0">
              <a:buNone/>
            </a:pPr>
            <a:endParaRPr lang="en-US" dirty="0"/>
          </a:p>
        </p:txBody>
      </p:sp>
      <p:sp>
        <p:nvSpPr>
          <p:cNvPr id="4" name="TextBox 3">
            <a:extLst>
              <a:ext uri="{FF2B5EF4-FFF2-40B4-BE49-F238E27FC236}">
                <a16:creationId xmlns:a16="http://schemas.microsoft.com/office/drawing/2014/main" id="{6D7F5F31-88FE-47B5-D15D-7947960D1AA4}"/>
              </a:ext>
            </a:extLst>
          </p:cNvPr>
          <p:cNvSpPr txBox="1">
            <a:spLocks noChangeArrowheads="1"/>
          </p:cNvSpPr>
          <p:nvPr/>
        </p:nvSpPr>
        <p:spPr bwMode="auto">
          <a:xfrm>
            <a:off x="76200" y="6430064"/>
            <a:ext cx="2977097"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Common table expressions</a:t>
            </a:r>
          </a:p>
        </p:txBody>
      </p:sp>
      <p:sp>
        <p:nvSpPr>
          <p:cNvPr id="8" name="TextBox 7">
            <a:extLst>
              <a:ext uri="{FF2B5EF4-FFF2-40B4-BE49-F238E27FC236}">
                <a16:creationId xmlns:a16="http://schemas.microsoft.com/office/drawing/2014/main" id="{7D8984D2-8C7D-B16B-0B13-E7A1720F7BAF}"/>
              </a:ext>
            </a:extLst>
          </p:cNvPr>
          <p:cNvSpPr txBox="1"/>
          <p:nvPr/>
        </p:nvSpPr>
        <p:spPr>
          <a:xfrm>
            <a:off x="128105" y="3778581"/>
            <a:ext cx="5658111" cy="1938992"/>
          </a:xfrm>
          <a:prstGeom prst="rect">
            <a:avLst/>
          </a:prstGeom>
          <a:solidFill>
            <a:schemeClr val="bg1"/>
          </a:solidFill>
          <a:ln>
            <a:solidFill>
              <a:schemeClr val="bg2"/>
            </a:solidFill>
          </a:ln>
          <a:effectLst>
            <a:outerShdw blurRad="50800" dist="63500" dir="2700000" algn="tl" rotWithShape="0">
              <a:prstClr val="black">
                <a:alpha val="40000"/>
              </a:prstClr>
            </a:outerShdw>
          </a:effectLst>
        </p:spPr>
        <p:txBody>
          <a:bodyPr wrap="square">
            <a:spAutoFit/>
          </a:bodyPr>
          <a:lstStyle/>
          <a:p>
            <a:pPr algn="l"/>
            <a:r>
              <a:rPr lang="en-US" sz="2400" b="1" dirty="0">
                <a:solidFill>
                  <a:srgbClr val="800000"/>
                </a:solidFill>
                <a:latin typeface="Consolas" panose="020B0609020204030204" pitchFamily="49" charset="0"/>
              </a:rPr>
              <a:t>SELECT</a:t>
            </a:r>
            <a:r>
              <a:rPr lang="en-US" sz="2400" dirty="0">
                <a:solidFill>
                  <a:srgbClr val="000000"/>
                </a:solidFill>
                <a:latin typeface="Consolas" panose="020B0609020204030204" pitchFamily="49" charset="0"/>
              </a:rPr>
              <a:t> * </a:t>
            </a:r>
            <a:r>
              <a:rPr lang="en-US" sz="2400" b="1" dirty="0">
                <a:solidFill>
                  <a:srgbClr val="800000"/>
                </a:solidFill>
                <a:latin typeface="Consolas" panose="020B0609020204030204" pitchFamily="49" charset="0"/>
              </a:rPr>
              <a:t>FROM</a:t>
            </a:r>
            <a:r>
              <a:rPr lang="en-US" sz="2400" dirty="0">
                <a:solidFill>
                  <a:srgbClr val="000000"/>
                </a:solidFill>
                <a:latin typeface="Consolas" panose="020B0609020204030204" pitchFamily="49" charset="0"/>
              </a:rPr>
              <a:t> </a:t>
            </a:r>
          </a:p>
          <a:p>
            <a:pPr algn="l"/>
            <a:r>
              <a:rPr lang="en-US" sz="2400" dirty="0">
                <a:solidFill>
                  <a:srgbClr val="000000"/>
                </a:solidFill>
                <a:latin typeface="Consolas" panose="020B0609020204030204" pitchFamily="49" charset="0"/>
              </a:rPr>
              <a:t>  </a:t>
            </a:r>
            <a:r>
              <a:rPr lang="en-US" sz="2400" dirty="0">
                <a:solidFill>
                  <a:schemeClr val="accent6"/>
                </a:solidFill>
                <a:latin typeface="Consolas" panose="020B0609020204030204" pitchFamily="49" charset="0"/>
              </a:rPr>
              <a:t>(</a:t>
            </a:r>
            <a:r>
              <a:rPr lang="en-US" sz="2400" b="1" dirty="0">
                <a:solidFill>
                  <a:schemeClr val="accent6"/>
                </a:solidFill>
                <a:latin typeface="Consolas" panose="020B0609020204030204" pitchFamily="49" charset="0"/>
              </a:rPr>
              <a:t>SELECT</a:t>
            </a:r>
            <a:r>
              <a:rPr lang="en-US" sz="2400" dirty="0">
                <a:solidFill>
                  <a:schemeClr val="accent6"/>
                </a:solidFill>
                <a:latin typeface="Consolas" panose="020B0609020204030204" pitchFamily="49" charset="0"/>
              </a:rPr>
              <a:t> WORKDEPT, MAX(SALARY) </a:t>
            </a:r>
          </a:p>
          <a:p>
            <a:pPr algn="l"/>
            <a:r>
              <a:rPr lang="en-US" sz="2400" dirty="0">
                <a:solidFill>
                  <a:schemeClr val="accent6"/>
                </a:solidFill>
                <a:latin typeface="Consolas" panose="020B0609020204030204" pitchFamily="49" charset="0"/>
              </a:rPr>
              <a:t>     AS MAXSAL </a:t>
            </a:r>
          </a:p>
          <a:p>
            <a:pPr algn="l"/>
            <a:r>
              <a:rPr lang="en-US" sz="2400" dirty="0">
                <a:solidFill>
                  <a:schemeClr val="accent6"/>
                </a:solidFill>
                <a:latin typeface="Consolas" panose="020B0609020204030204" pitchFamily="49" charset="0"/>
              </a:rPr>
              <a:t>   </a:t>
            </a:r>
            <a:r>
              <a:rPr lang="en-US" sz="2400" b="1" dirty="0">
                <a:solidFill>
                  <a:schemeClr val="accent6"/>
                </a:solidFill>
                <a:latin typeface="Consolas" panose="020B0609020204030204" pitchFamily="49" charset="0"/>
              </a:rPr>
              <a:t>FROM </a:t>
            </a:r>
            <a:r>
              <a:rPr lang="en-US" sz="2400" dirty="0">
                <a:solidFill>
                  <a:schemeClr val="accent6"/>
                </a:solidFill>
                <a:latin typeface="Consolas" panose="020B0609020204030204" pitchFamily="49" charset="0"/>
              </a:rPr>
              <a:t>EMPLOYEE</a:t>
            </a:r>
          </a:p>
          <a:p>
            <a:pPr algn="l"/>
            <a:r>
              <a:rPr lang="en-US" sz="2400" dirty="0">
                <a:solidFill>
                  <a:schemeClr val="accent6"/>
                </a:solidFill>
                <a:latin typeface="Consolas" panose="020B0609020204030204" pitchFamily="49" charset="0"/>
              </a:rPr>
              <a:t>   </a:t>
            </a:r>
            <a:r>
              <a:rPr lang="en-US" sz="2400" b="1" dirty="0">
                <a:solidFill>
                  <a:schemeClr val="accent6"/>
                </a:solidFill>
                <a:latin typeface="Consolas" panose="020B0609020204030204" pitchFamily="49" charset="0"/>
              </a:rPr>
              <a:t>GROUP BY </a:t>
            </a:r>
            <a:r>
              <a:rPr lang="en-US" sz="2400" dirty="0">
                <a:solidFill>
                  <a:schemeClr val="accent6"/>
                </a:solidFill>
                <a:latin typeface="Consolas" panose="020B0609020204030204" pitchFamily="49" charset="0"/>
              </a:rPr>
              <a:t>WORKDEPT) </a:t>
            </a:r>
            <a:r>
              <a:rPr lang="en-US" sz="2400" b="1" dirty="0">
                <a:solidFill>
                  <a:schemeClr val="accent6"/>
                </a:solidFill>
                <a:latin typeface="Consolas" panose="020B0609020204030204" pitchFamily="49" charset="0"/>
              </a:rPr>
              <a:t>AS</a:t>
            </a:r>
            <a:r>
              <a:rPr lang="en-US" sz="2400" dirty="0">
                <a:solidFill>
                  <a:schemeClr val="accent6"/>
                </a:solidFill>
                <a:latin typeface="Consolas" panose="020B0609020204030204" pitchFamily="49" charset="0"/>
              </a:rPr>
              <a:t> T2</a:t>
            </a:r>
            <a:r>
              <a:rPr lang="en-US" sz="2400" dirty="0">
                <a:solidFill>
                  <a:srgbClr val="FF0000"/>
                </a:solidFill>
                <a:latin typeface="Consolas" panose="020B0609020204030204" pitchFamily="49" charset="0"/>
              </a:rPr>
              <a:t>;</a:t>
            </a:r>
            <a:endParaRPr lang="en-US" sz="2400" dirty="0"/>
          </a:p>
        </p:txBody>
      </p:sp>
      <p:sp>
        <p:nvSpPr>
          <p:cNvPr id="9" name="TextBox 8">
            <a:extLst>
              <a:ext uri="{FF2B5EF4-FFF2-40B4-BE49-F238E27FC236}">
                <a16:creationId xmlns:a16="http://schemas.microsoft.com/office/drawing/2014/main" id="{21BDA102-377B-F89B-FF70-87268AFF23B2}"/>
              </a:ext>
            </a:extLst>
          </p:cNvPr>
          <p:cNvSpPr txBox="1"/>
          <p:nvPr/>
        </p:nvSpPr>
        <p:spPr>
          <a:xfrm>
            <a:off x="5910470" y="3570254"/>
            <a:ext cx="5976730" cy="2308324"/>
          </a:xfrm>
          <a:prstGeom prst="rect">
            <a:avLst/>
          </a:prstGeom>
          <a:solidFill>
            <a:srgbClr val="B6DF89"/>
          </a:solidFill>
          <a:ln>
            <a:solidFill>
              <a:schemeClr val="bg2"/>
            </a:solidFill>
          </a:ln>
          <a:effectLst>
            <a:outerShdw blurRad="50800" dist="63500" dir="2700000" algn="tl" rotWithShape="0">
              <a:prstClr val="black">
                <a:alpha val="40000"/>
              </a:prstClr>
            </a:outerShdw>
          </a:effectLst>
        </p:spPr>
        <p:txBody>
          <a:bodyPr wrap="square">
            <a:spAutoFit/>
          </a:bodyPr>
          <a:lstStyle/>
          <a:p>
            <a:pPr algn="l"/>
            <a:r>
              <a:rPr lang="en-US" sz="2400" b="1" dirty="0">
                <a:solidFill>
                  <a:srgbClr val="800000"/>
                </a:solidFill>
                <a:latin typeface="Consolas" panose="020B0609020204030204" pitchFamily="49" charset="0"/>
              </a:rPr>
              <a:t>WITH</a:t>
            </a:r>
            <a:r>
              <a:rPr lang="en-US" sz="2400" b="1" dirty="0">
                <a:solidFill>
                  <a:srgbClr val="000000"/>
                </a:solidFill>
                <a:latin typeface="Consolas" panose="020B0609020204030204" pitchFamily="49" charset="0"/>
              </a:rPr>
              <a:t> </a:t>
            </a:r>
            <a:r>
              <a:rPr lang="en-US" sz="2400" dirty="0">
                <a:solidFill>
                  <a:srgbClr val="000000"/>
                </a:solidFill>
                <a:latin typeface="Consolas" panose="020B0609020204030204" pitchFamily="49" charset="0"/>
              </a:rPr>
              <a:t>T2</a:t>
            </a:r>
            <a:r>
              <a:rPr lang="en-US" sz="2400" b="1" dirty="0">
                <a:solidFill>
                  <a:srgbClr val="000000"/>
                </a:solidFill>
                <a:latin typeface="Consolas" panose="020B0609020204030204" pitchFamily="49" charset="0"/>
              </a:rPr>
              <a:t> </a:t>
            </a:r>
            <a:r>
              <a:rPr lang="en-US" sz="2400" b="1" dirty="0">
                <a:solidFill>
                  <a:srgbClr val="800000"/>
                </a:solidFill>
                <a:latin typeface="Consolas" panose="020B0609020204030204" pitchFamily="49" charset="0"/>
              </a:rPr>
              <a:t>AS</a:t>
            </a:r>
          </a:p>
          <a:p>
            <a:pPr algn="l"/>
            <a:r>
              <a:rPr lang="en-US" sz="2400" b="1" dirty="0">
                <a:solidFill>
                  <a:srgbClr val="000000"/>
                </a:solidFill>
                <a:latin typeface="Consolas" panose="020B0609020204030204" pitchFamily="49" charset="0"/>
              </a:rPr>
              <a:t>  </a:t>
            </a:r>
            <a:r>
              <a:rPr lang="en-US" sz="2400" dirty="0">
                <a:solidFill>
                  <a:srgbClr val="000000"/>
                </a:solidFill>
                <a:latin typeface="Consolas" panose="020B0609020204030204" pitchFamily="49" charset="0"/>
              </a:rPr>
              <a:t>(</a:t>
            </a:r>
            <a:r>
              <a:rPr lang="en-US" sz="2400" b="1" dirty="0">
                <a:solidFill>
                  <a:srgbClr val="800000"/>
                </a:solidFill>
                <a:latin typeface="Consolas" panose="020B0609020204030204" pitchFamily="49" charset="0"/>
              </a:rPr>
              <a:t>SELECT</a:t>
            </a:r>
            <a:r>
              <a:rPr lang="en-US" sz="2400" b="1" dirty="0">
                <a:solidFill>
                  <a:srgbClr val="000000"/>
                </a:solidFill>
                <a:latin typeface="Consolas" panose="020B0609020204030204" pitchFamily="49" charset="0"/>
              </a:rPr>
              <a:t> </a:t>
            </a:r>
            <a:r>
              <a:rPr lang="en-US" sz="2400" dirty="0">
                <a:solidFill>
                  <a:srgbClr val="000000"/>
                </a:solidFill>
                <a:latin typeface="Consolas" panose="020B0609020204030204" pitchFamily="49" charset="0"/>
              </a:rPr>
              <a:t>WORKDEPT,</a:t>
            </a:r>
            <a:r>
              <a:rPr lang="en-US" sz="2400" b="1" dirty="0">
                <a:solidFill>
                  <a:srgbClr val="000000"/>
                </a:solidFill>
                <a:latin typeface="Consolas" panose="020B0609020204030204" pitchFamily="49" charset="0"/>
              </a:rPr>
              <a:t> </a:t>
            </a:r>
            <a:r>
              <a:rPr lang="en-US" sz="2400" b="1" dirty="0">
                <a:solidFill>
                  <a:srgbClr val="000080"/>
                </a:solidFill>
                <a:latin typeface="Consolas" panose="020B0609020204030204" pitchFamily="49" charset="0"/>
              </a:rPr>
              <a:t>MAX</a:t>
            </a:r>
            <a:r>
              <a:rPr lang="en-US" sz="2400" dirty="0">
                <a:solidFill>
                  <a:srgbClr val="000000"/>
                </a:solidFill>
                <a:latin typeface="Consolas" panose="020B0609020204030204" pitchFamily="49" charset="0"/>
              </a:rPr>
              <a:t>(SALARY)</a:t>
            </a:r>
            <a:r>
              <a:rPr lang="en-US" sz="2400" b="1" dirty="0">
                <a:solidFill>
                  <a:srgbClr val="000000"/>
                </a:solidFill>
                <a:latin typeface="Consolas" panose="020B0609020204030204" pitchFamily="49" charset="0"/>
              </a:rPr>
              <a:t> </a:t>
            </a:r>
          </a:p>
          <a:p>
            <a:pPr algn="l"/>
            <a:r>
              <a:rPr lang="en-US" sz="2400" b="1" dirty="0">
                <a:solidFill>
                  <a:srgbClr val="000000"/>
                </a:solidFill>
                <a:latin typeface="Consolas" panose="020B0609020204030204" pitchFamily="49" charset="0"/>
              </a:rPr>
              <a:t>     </a:t>
            </a:r>
            <a:r>
              <a:rPr lang="en-US" sz="2400" b="1" dirty="0">
                <a:solidFill>
                  <a:srgbClr val="800000"/>
                </a:solidFill>
                <a:latin typeface="Consolas" panose="020B0609020204030204" pitchFamily="49" charset="0"/>
              </a:rPr>
              <a:t>AS</a:t>
            </a:r>
            <a:r>
              <a:rPr lang="en-US" sz="2400" b="1" dirty="0">
                <a:solidFill>
                  <a:srgbClr val="000000"/>
                </a:solidFill>
                <a:latin typeface="Consolas" panose="020B0609020204030204" pitchFamily="49" charset="0"/>
              </a:rPr>
              <a:t> </a:t>
            </a:r>
            <a:r>
              <a:rPr lang="en-US" sz="2400" dirty="0">
                <a:solidFill>
                  <a:srgbClr val="000000"/>
                </a:solidFill>
                <a:latin typeface="Consolas" panose="020B0609020204030204" pitchFamily="49" charset="0"/>
              </a:rPr>
              <a:t>MAXSAL</a:t>
            </a:r>
            <a:r>
              <a:rPr lang="en-US" sz="2400" b="1" dirty="0">
                <a:solidFill>
                  <a:srgbClr val="000000"/>
                </a:solidFill>
                <a:latin typeface="Consolas" panose="020B0609020204030204" pitchFamily="49" charset="0"/>
              </a:rPr>
              <a:t> </a:t>
            </a:r>
          </a:p>
          <a:p>
            <a:pPr algn="l"/>
            <a:r>
              <a:rPr lang="en-US" sz="2400" b="1" dirty="0">
                <a:solidFill>
                  <a:srgbClr val="000000"/>
                </a:solidFill>
                <a:latin typeface="Consolas" panose="020B0609020204030204" pitchFamily="49" charset="0"/>
              </a:rPr>
              <a:t>   </a:t>
            </a:r>
            <a:r>
              <a:rPr lang="en-US" sz="2400" b="1" dirty="0">
                <a:solidFill>
                  <a:srgbClr val="800000"/>
                </a:solidFill>
                <a:latin typeface="Consolas" panose="020B0609020204030204" pitchFamily="49" charset="0"/>
              </a:rPr>
              <a:t>FROM</a:t>
            </a:r>
            <a:r>
              <a:rPr lang="en-US" sz="2400" b="1" dirty="0">
                <a:solidFill>
                  <a:srgbClr val="000000"/>
                </a:solidFill>
                <a:latin typeface="Consolas" panose="020B0609020204030204" pitchFamily="49" charset="0"/>
              </a:rPr>
              <a:t> </a:t>
            </a:r>
            <a:r>
              <a:rPr lang="en-US" sz="2400" dirty="0">
                <a:solidFill>
                  <a:srgbClr val="000000"/>
                </a:solidFill>
                <a:latin typeface="Consolas" panose="020B0609020204030204" pitchFamily="49" charset="0"/>
              </a:rPr>
              <a:t>EMPLOYEE</a:t>
            </a:r>
          </a:p>
          <a:p>
            <a:pPr algn="l"/>
            <a:r>
              <a:rPr lang="en-US" sz="2400" b="1" dirty="0">
                <a:solidFill>
                  <a:srgbClr val="000000"/>
                </a:solidFill>
                <a:latin typeface="Consolas" panose="020B0609020204030204" pitchFamily="49" charset="0"/>
              </a:rPr>
              <a:t>   </a:t>
            </a:r>
            <a:r>
              <a:rPr lang="en-US" sz="2400" b="1" dirty="0">
                <a:solidFill>
                  <a:srgbClr val="800000"/>
                </a:solidFill>
                <a:latin typeface="Consolas" panose="020B0609020204030204" pitchFamily="49" charset="0"/>
              </a:rPr>
              <a:t>GROUP</a:t>
            </a:r>
            <a:r>
              <a:rPr lang="en-US" sz="2400" b="1" dirty="0">
                <a:solidFill>
                  <a:srgbClr val="000000"/>
                </a:solidFill>
                <a:latin typeface="Consolas" panose="020B0609020204030204" pitchFamily="49" charset="0"/>
              </a:rPr>
              <a:t> </a:t>
            </a:r>
            <a:r>
              <a:rPr lang="en-US" sz="2400" b="1" dirty="0">
                <a:solidFill>
                  <a:srgbClr val="800000"/>
                </a:solidFill>
                <a:latin typeface="Consolas" panose="020B0609020204030204" pitchFamily="49" charset="0"/>
              </a:rPr>
              <a:t>BY</a:t>
            </a:r>
            <a:r>
              <a:rPr lang="en-US" sz="2400" b="1" dirty="0">
                <a:solidFill>
                  <a:srgbClr val="000000"/>
                </a:solidFill>
                <a:latin typeface="Consolas" panose="020B0609020204030204" pitchFamily="49" charset="0"/>
              </a:rPr>
              <a:t> </a:t>
            </a:r>
            <a:r>
              <a:rPr lang="en-US" sz="2400" dirty="0">
                <a:solidFill>
                  <a:srgbClr val="000000"/>
                </a:solidFill>
                <a:latin typeface="Consolas" panose="020B0609020204030204" pitchFamily="49" charset="0"/>
              </a:rPr>
              <a:t>WORKDEPT)</a:t>
            </a:r>
            <a:r>
              <a:rPr lang="en-US" sz="2400" b="1" dirty="0">
                <a:solidFill>
                  <a:srgbClr val="000000"/>
                </a:solidFill>
                <a:latin typeface="Consolas" panose="020B0609020204030204" pitchFamily="49" charset="0"/>
              </a:rPr>
              <a:t> </a:t>
            </a:r>
          </a:p>
          <a:p>
            <a:pPr algn="l"/>
            <a:r>
              <a:rPr lang="en-US" sz="2400" b="1" dirty="0">
                <a:solidFill>
                  <a:srgbClr val="FF0000"/>
                </a:solidFill>
                <a:latin typeface="Consolas" panose="020B0609020204030204" pitchFamily="49" charset="0"/>
              </a:rPr>
              <a:t>SELECT * FROM </a:t>
            </a:r>
            <a:r>
              <a:rPr lang="en-US" sz="2400" dirty="0">
                <a:solidFill>
                  <a:srgbClr val="FF0000"/>
                </a:solidFill>
                <a:latin typeface="Consolas" panose="020B0609020204030204" pitchFamily="49" charset="0"/>
              </a:rPr>
              <a:t>T2</a:t>
            </a:r>
            <a:r>
              <a:rPr lang="en-US" sz="2400" b="1" dirty="0">
                <a:solidFill>
                  <a:srgbClr val="FF0000"/>
                </a:solidFill>
                <a:latin typeface="Consolas" panose="020B0609020204030204" pitchFamily="49" charset="0"/>
              </a:rPr>
              <a:t>;</a:t>
            </a:r>
            <a:endParaRPr lang="en-US" sz="2400" b="1" dirty="0">
              <a:solidFill>
                <a:srgbClr val="FF0000"/>
              </a:solidFill>
            </a:endParaRPr>
          </a:p>
        </p:txBody>
      </p:sp>
    </p:spTree>
    <p:extLst>
      <p:ext uri="{BB962C8B-B14F-4D97-AF65-F5344CB8AC3E}">
        <p14:creationId xmlns:p14="http://schemas.microsoft.com/office/powerpoint/2010/main" val="210408932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250" fill="hold"/>
                                        <p:tgtEl>
                                          <p:spTgt spid="8"/>
                                        </p:tgtEl>
                                        <p:attrNameLst>
                                          <p:attrName>ppt_x</p:attrName>
                                        </p:attrNameLst>
                                      </p:cBhvr>
                                      <p:tavLst>
                                        <p:tav tm="0">
                                          <p:val>
                                            <p:strVal val="#ppt_x"/>
                                          </p:val>
                                        </p:tav>
                                        <p:tav tm="100000">
                                          <p:val>
                                            <p:strVal val="#ppt_x"/>
                                          </p:val>
                                        </p:tav>
                                      </p:tavLst>
                                    </p:anim>
                                    <p:anim calcmode="lin" valueType="num">
                                      <p:cBhvr additive="base">
                                        <p:cTn id="8" dur="25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250" fill="hold"/>
                                        <p:tgtEl>
                                          <p:spTgt spid="9"/>
                                        </p:tgtEl>
                                        <p:attrNameLst>
                                          <p:attrName>ppt_x</p:attrName>
                                        </p:attrNameLst>
                                      </p:cBhvr>
                                      <p:tavLst>
                                        <p:tav tm="0">
                                          <p:val>
                                            <p:strVal val="#ppt_x"/>
                                          </p:val>
                                        </p:tav>
                                        <p:tav tm="100000">
                                          <p:val>
                                            <p:strVal val="#ppt_x"/>
                                          </p:val>
                                        </p:tav>
                                      </p:tavLst>
                                    </p:anim>
                                    <p:anim calcmode="lin" valueType="num">
                                      <p:cBhvr additive="base">
                                        <p:cTn id="14" dur="25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E3870-371E-76B6-4F07-25C8861F1A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01E1CD-DF56-57C8-0602-C642CD2D13CA}"/>
              </a:ext>
            </a:extLst>
          </p:cNvPr>
          <p:cNvSpPr>
            <a:spLocks noGrp="1"/>
          </p:cNvSpPr>
          <p:nvPr>
            <p:ph type="title"/>
          </p:nvPr>
        </p:nvSpPr>
        <p:spPr/>
        <p:txBody>
          <a:bodyPr/>
          <a:lstStyle/>
          <a:p>
            <a:r>
              <a:rPr lang="en-US" dirty="0"/>
              <a:t>Common Table Expressions</a:t>
            </a:r>
          </a:p>
        </p:txBody>
      </p:sp>
      <p:sp>
        <p:nvSpPr>
          <p:cNvPr id="3" name="Content Placeholder 2">
            <a:extLst>
              <a:ext uri="{FF2B5EF4-FFF2-40B4-BE49-F238E27FC236}">
                <a16:creationId xmlns:a16="http://schemas.microsoft.com/office/drawing/2014/main" id="{C62AC535-2EBB-F2AD-5738-B5E6B754F6ED}"/>
              </a:ext>
            </a:extLst>
          </p:cNvPr>
          <p:cNvSpPr>
            <a:spLocks noGrp="1"/>
          </p:cNvSpPr>
          <p:nvPr>
            <p:ph idx="1"/>
          </p:nvPr>
        </p:nvSpPr>
        <p:spPr>
          <a:xfrm>
            <a:off x="198226" y="779462"/>
            <a:ext cx="11813228" cy="5316538"/>
          </a:xfrm>
        </p:spPr>
        <p:txBody>
          <a:bodyPr/>
          <a:lstStyle/>
          <a:p>
            <a:pPr marL="0" indent="0">
              <a:buNone/>
            </a:pPr>
            <a:r>
              <a:rPr lang="en-US" i="1" dirty="0"/>
              <a:t>Return the max </a:t>
            </a:r>
            <a:r>
              <a:rPr lang="en-US" i="1" dirty="0">
                <a:solidFill>
                  <a:srgbClr val="FF0000"/>
                </a:solidFill>
              </a:rPr>
              <a:t>dept average salary</a:t>
            </a:r>
            <a:r>
              <a:rPr lang="en-US" i="1" dirty="0"/>
              <a:t>:</a:t>
            </a:r>
          </a:p>
          <a:p>
            <a:pPr marL="0" indent="0">
              <a:buNone/>
            </a:pPr>
            <a:endParaRPr lang="en-US" dirty="0"/>
          </a:p>
        </p:txBody>
      </p:sp>
      <p:sp>
        <p:nvSpPr>
          <p:cNvPr id="4" name="TextBox 3">
            <a:extLst>
              <a:ext uri="{FF2B5EF4-FFF2-40B4-BE49-F238E27FC236}">
                <a16:creationId xmlns:a16="http://schemas.microsoft.com/office/drawing/2014/main" id="{7BD012AC-3473-504A-D936-BBFB76F00B8E}"/>
              </a:ext>
            </a:extLst>
          </p:cNvPr>
          <p:cNvSpPr txBox="1">
            <a:spLocks noChangeArrowheads="1"/>
          </p:cNvSpPr>
          <p:nvPr/>
        </p:nvSpPr>
        <p:spPr bwMode="auto">
          <a:xfrm>
            <a:off x="76200" y="6430064"/>
            <a:ext cx="2977097"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Common table expressions</a:t>
            </a:r>
          </a:p>
        </p:txBody>
      </p:sp>
      <p:sp>
        <p:nvSpPr>
          <p:cNvPr id="6" name="TextBox 5">
            <a:extLst>
              <a:ext uri="{FF2B5EF4-FFF2-40B4-BE49-F238E27FC236}">
                <a16:creationId xmlns:a16="http://schemas.microsoft.com/office/drawing/2014/main" id="{44C67357-E1F1-A915-9ACB-968D24B6F386}"/>
              </a:ext>
            </a:extLst>
          </p:cNvPr>
          <p:cNvSpPr txBox="1"/>
          <p:nvPr/>
        </p:nvSpPr>
        <p:spPr>
          <a:xfrm>
            <a:off x="198226" y="1204769"/>
            <a:ext cx="5775345" cy="2908489"/>
          </a:xfrm>
          <a:prstGeom prst="rect">
            <a:avLst/>
          </a:prstGeom>
          <a:solidFill>
            <a:srgbClr val="B6DF89"/>
          </a:solidFill>
          <a:ln>
            <a:solidFill>
              <a:schemeClr val="bg2"/>
            </a:solidFill>
          </a:ln>
          <a:effectLst>
            <a:outerShdw blurRad="50800" dist="63500" dir="2700000" algn="tl" rotWithShape="0">
              <a:prstClr val="black">
                <a:alpha val="40000"/>
              </a:prstClr>
            </a:outerShdw>
          </a:effectLst>
        </p:spPr>
        <p:txBody>
          <a:bodyPr wrap="square" lIns="45720" rIns="45720">
            <a:spAutoFit/>
          </a:bodyPr>
          <a:lstStyle>
            <a:defPPr>
              <a:defRPr lang="en-US"/>
            </a:defPPr>
            <a:lvl1pPr>
              <a:defRPr>
                <a:solidFill>
                  <a:srgbClr val="800000"/>
                </a:solidFill>
                <a:latin typeface="Consolas" panose="020B0609020204030204" pitchFamily="49" charset="0"/>
              </a:defRPr>
            </a:lvl1pPr>
          </a:lstStyle>
          <a:p>
            <a:pPr algn="l">
              <a:spcBef>
                <a:spcPts val="300"/>
              </a:spcBef>
            </a:pPr>
            <a:r>
              <a:rPr lang="en-US" sz="2400" dirty="0">
                <a:solidFill>
                  <a:srgbClr val="800000"/>
                </a:solidFill>
              </a:rPr>
              <a:t>WITH</a:t>
            </a:r>
            <a:r>
              <a:rPr lang="en-US" sz="2400" dirty="0">
                <a:solidFill>
                  <a:srgbClr val="000000"/>
                </a:solidFill>
              </a:rPr>
              <a:t> </a:t>
            </a:r>
            <a:r>
              <a:rPr lang="en-US" sz="2400" b="1" dirty="0">
                <a:solidFill>
                  <a:schemeClr val="accent6"/>
                </a:solidFill>
              </a:rPr>
              <a:t>AVSAL</a:t>
            </a:r>
            <a:r>
              <a:rPr lang="en-US" sz="2400" b="1" dirty="0">
                <a:solidFill>
                  <a:srgbClr val="000000"/>
                </a:solidFill>
              </a:rPr>
              <a:t> </a:t>
            </a:r>
            <a:r>
              <a:rPr lang="en-US" sz="2400" dirty="0">
                <a:solidFill>
                  <a:srgbClr val="FF0000"/>
                </a:solidFill>
              </a:rPr>
              <a:t>(WORKDEPT, AVGSAL) </a:t>
            </a:r>
            <a:r>
              <a:rPr lang="en-US" sz="2400" dirty="0">
                <a:solidFill>
                  <a:srgbClr val="800000"/>
                </a:solidFill>
              </a:rPr>
              <a:t>AS</a:t>
            </a:r>
          </a:p>
          <a:p>
            <a:pPr algn="l">
              <a:spcBef>
                <a:spcPts val="300"/>
              </a:spcBef>
            </a:pPr>
            <a:r>
              <a:rPr lang="en-US" sz="2400" dirty="0">
                <a:solidFill>
                  <a:srgbClr val="000000"/>
                </a:solidFill>
              </a:rPr>
              <a:t>     (</a:t>
            </a:r>
            <a:r>
              <a:rPr lang="en-US" sz="2400" dirty="0">
                <a:solidFill>
                  <a:srgbClr val="800000"/>
                </a:solidFill>
              </a:rPr>
              <a:t>SELECT</a:t>
            </a:r>
            <a:r>
              <a:rPr lang="en-US" sz="2400" dirty="0">
                <a:solidFill>
                  <a:srgbClr val="000000"/>
                </a:solidFill>
              </a:rPr>
              <a:t> WORKDEPT, </a:t>
            </a:r>
          </a:p>
          <a:p>
            <a:pPr algn="l">
              <a:spcBef>
                <a:spcPts val="300"/>
              </a:spcBef>
            </a:pPr>
            <a:r>
              <a:rPr lang="en-US" sz="2400" dirty="0">
                <a:solidFill>
                  <a:srgbClr val="000000"/>
                </a:solidFill>
              </a:rPr>
              <a:t>        </a:t>
            </a:r>
            <a:r>
              <a:rPr lang="en-US" sz="2400" dirty="0">
                <a:solidFill>
                  <a:srgbClr val="800000"/>
                </a:solidFill>
              </a:rPr>
              <a:t>AVG</a:t>
            </a:r>
            <a:r>
              <a:rPr lang="en-US" sz="2400" dirty="0">
                <a:solidFill>
                  <a:srgbClr val="000000"/>
                </a:solidFill>
              </a:rPr>
              <a:t>(SALARY) </a:t>
            </a:r>
            <a:r>
              <a:rPr lang="en-US" sz="2400" dirty="0">
                <a:solidFill>
                  <a:srgbClr val="800000"/>
                </a:solidFill>
              </a:rPr>
              <a:t>as</a:t>
            </a:r>
            <a:r>
              <a:rPr lang="en-US" sz="2400" dirty="0">
                <a:solidFill>
                  <a:srgbClr val="000000"/>
                </a:solidFill>
              </a:rPr>
              <a:t> AVGSAL </a:t>
            </a:r>
          </a:p>
          <a:p>
            <a:pPr algn="l">
              <a:spcBef>
                <a:spcPts val="300"/>
              </a:spcBef>
            </a:pPr>
            <a:r>
              <a:rPr lang="en-US" sz="2400" dirty="0">
                <a:solidFill>
                  <a:srgbClr val="000000"/>
                </a:solidFill>
              </a:rPr>
              <a:t>      </a:t>
            </a:r>
            <a:r>
              <a:rPr lang="en-US" sz="2400" dirty="0">
                <a:solidFill>
                  <a:srgbClr val="800000"/>
                </a:solidFill>
              </a:rPr>
              <a:t>FROM</a:t>
            </a:r>
            <a:r>
              <a:rPr lang="en-US" sz="2400" dirty="0">
                <a:solidFill>
                  <a:srgbClr val="000000"/>
                </a:solidFill>
              </a:rPr>
              <a:t> EMPLOYEE  </a:t>
            </a:r>
          </a:p>
          <a:p>
            <a:pPr algn="l">
              <a:spcBef>
                <a:spcPts val="300"/>
              </a:spcBef>
            </a:pPr>
            <a:r>
              <a:rPr lang="en-US" sz="2400" dirty="0">
                <a:solidFill>
                  <a:srgbClr val="000000"/>
                </a:solidFill>
              </a:rPr>
              <a:t>      </a:t>
            </a:r>
            <a:r>
              <a:rPr lang="en-US" sz="2400" dirty="0">
                <a:solidFill>
                  <a:srgbClr val="800000"/>
                </a:solidFill>
              </a:rPr>
              <a:t>GROUP</a:t>
            </a:r>
            <a:r>
              <a:rPr lang="en-US" sz="2400" dirty="0">
                <a:solidFill>
                  <a:srgbClr val="000000"/>
                </a:solidFill>
              </a:rPr>
              <a:t> </a:t>
            </a:r>
            <a:r>
              <a:rPr lang="en-US" sz="2400" dirty="0">
                <a:solidFill>
                  <a:srgbClr val="800000"/>
                </a:solidFill>
              </a:rPr>
              <a:t>BY</a:t>
            </a:r>
            <a:r>
              <a:rPr lang="en-US" sz="2400" dirty="0">
                <a:solidFill>
                  <a:srgbClr val="000000"/>
                </a:solidFill>
              </a:rPr>
              <a:t> WORKDEPT)</a:t>
            </a:r>
          </a:p>
          <a:p>
            <a:pPr algn="l">
              <a:spcBef>
                <a:spcPts val="300"/>
              </a:spcBef>
            </a:pPr>
            <a:r>
              <a:rPr lang="en-US" sz="2400" dirty="0">
                <a:solidFill>
                  <a:srgbClr val="800000"/>
                </a:solidFill>
              </a:rPr>
              <a:t>SELECT</a:t>
            </a:r>
            <a:r>
              <a:rPr lang="en-US" sz="2400" dirty="0">
                <a:solidFill>
                  <a:srgbClr val="000000"/>
                </a:solidFill>
              </a:rPr>
              <a:t> </a:t>
            </a:r>
            <a:r>
              <a:rPr lang="en-US" sz="2400" dirty="0">
                <a:solidFill>
                  <a:srgbClr val="800000"/>
                </a:solidFill>
              </a:rPr>
              <a:t>MAX</a:t>
            </a:r>
            <a:r>
              <a:rPr lang="en-US" sz="2400" dirty="0">
                <a:solidFill>
                  <a:srgbClr val="000000"/>
                </a:solidFill>
              </a:rPr>
              <a:t>(AVGSAL) </a:t>
            </a:r>
            <a:r>
              <a:rPr lang="en-US" sz="2400" dirty="0">
                <a:solidFill>
                  <a:srgbClr val="800000"/>
                </a:solidFill>
              </a:rPr>
              <a:t>AS</a:t>
            </a:r>
            <a:r>
              <a:rPr lang="en-US" sz="2400" dirty="0">
                <a:solidFill>
                  <a:srgbClr val="000000"/>
                </a:solidFill>
              </a:rPr>
              <a:t> MAXAVGSAL </a:t>
            </a:r>
          </a:p>
          <a:p>
            <a:pPr algn="l">
              <a:spcBef>
                <a:spcPts val="300"/>
              </a:spcBef>
            </a:pPr>
            <a:r>
              <a:rPr lang="en-US" sz="2400" dirty="0">
                <a:solidFill>
                  <a:srgbClr val="800000"/>
                </a:solidFill>
              </a:rPr>
              <a:t>FROM</a:t>
            </a:r>
            <a:r>
              <a:rPr lang="en-US" sz="2400" dirty="0">
                <a:solidFill>
                  <a:srgbClr val="000000"/>
                </a:solidFill>
              </a:rPr>
              <a:t> </a:t>
            </a:r>
            <a:r>
              <a:rPr lang="en-US" sz="2400" b="1" dirty="0">
                <a:solidFill>
                  <a:schemeClr val="accent6"/>
                </a:solidFill>
              </a:rPr>
              <a:t>AVSAL</a:t>
            </a:r>
            <a:r>
              <a:rPr lang="en-US" sz="2400" dirty="0">
                <a:solidFill>
                  <a:srgbClr val="FF0000"/>
                </a:solidFill>
              </a:rPr>
              <a:t>;</a:t>
            </a:r>
            <a:endParaRPr lang="en-US" sz="2400" dirty="0"/>
          </a:p>
        </p:txBody>
      </p:sp>
      <p:grpSp>
        <p:nvGrpSpPr>
          <p:cNvPr id="7" name="Group 6">
            <a:extLst>
              <a:ext uri="{FF2B5EF4-FFF2-40B4-BE49-F238E27FC236}">
                <a16:creationId xmlns:a16="http://schemas.microsoft.com/office/drawing/2014/main" id="{DC8E74A7-6544-1BCE-4331-2BEB637FAA61}"/>
              </a:ext>
            </a:extLst>
          </p:cNvPr>
          <p:cNvGrpSpPr/>
          <p:nvPr/>
        </p:nvGrpSpPr>
        <p:grpSpPr>
          <a:xfrm>
            <a:off x="6077917" y="2956679"/>
            <a:ext cx="6037883" cy="3620373"/>
            <a:chOff x="14104879" y="1746362"/>
            <a:chExt cx="8194269" cy="3620373"/>
          </a:xfrm>
        </p:grpSpPr>
        <p:sp>
          <p:nvSpPr>
            <p:cNvPr id="8" name="TextBox 7">
              <a:extLst>
                <a:ext uri="{FF2B5EF4-FFF2-40B4-BE49-F238E27FC236}">
                  <a16:creationId xmlns:a16="http://schemas.microsoft.com/office/drawing/2014/main" id="{B6CA2197-FEF0-E5F7-D0FD-C7362EDB43C3}"/>
                </a:ext>
              </a:extLst>
            </p:cNvPr>
            <p:cNvSpPr txBox="1"/>
            <p:nvPr/>
          </p:nvSpPr>
          <p:spPr>
            <a:xfrm>
              <a:off x="14104879" y="2227414"/>
              <a:ext cx="8194269" cy="3139321"/>
            </a:xfrm>
            <a:prstGeom prst="rect">
              <a:avLst/>
            </a:prstGeom>
            <a:solidFill>
              <a:schemeClr val="bg1"/>
            </a:solidFill>
            <a:ln>
              <a:solidFill>
                <a:schemeClr val="bg2"/>
              </a:solidFill>
            </a:ln>
            <a:effectLst>
              <a:outerShdw blurRad="50800" dist="63500" dir="2700000" algn="tl" rotWithShape="0">
                <a:prstClr val="black">
                  <a:alpha val="40000"/>
                </a:prstClr>
              </a:outerShdw>
            </a:effectLst>
          </p:spPr>
          <p:txBody>
            <a:bodyPr wrap="square">
              <a:spAutoFit/>
            </a:bodyPr>
            <a:lstStyle>
              <a:defPPr>
                <a:defRPr lang="en-US"/>
              </a:defPPr>
              <a:lvl1pPr>
                <a:defRPr>
                  <a:solidFill>
                    <a:srgbClr val="800000"/>
                  </a:solidFill>
                  <a:latin typeface="Consolas" panose="020B0609020204030204" pitchFamily="49" charset="0"/>
                </a:defRPr>
              </a:lvl1pPr>
            </a:lstStyle>
            <a:p>
              <a:pPr algn="l"/>
              <a:r>
                <a:rPr lang="en-US" sz="2200" dirty="0">
                  <a:solidFill>
                    <a:srgbClr val="800000"/>
                  </a:solidFill>
                  <a:latin typeface="Consolas" panose="020B0609020204030204" pitchFamily="49" charset="0"/>
                </a:rPr>
                <a:t>SELECT</a:t>
              </a:r>
              <a:r>
                <a:rPr lang="en-US" sz="2200" dirty="0">
                  <a:solidFill>
                    <a:srgbClr val="000000"/>
                  </a:solidFill>
                  <a:latin typeface="Consolas" panose="020B0609020204030204" pitchFamily="49" charset="0"/>
                </a:rPr>
                <a:t> *</a:t>
              </a:r>
            </a:p>
            <a:p>
              <a:pPr algn="l"/>
              <a:r>
                <a:rPr lang="en-US" sz="2200" dirty="0">
                  <a:solidFill>
                    <a:srgbClr val="800000"/>
                  </a:solidFill>
                  <a:latin typeface="Consolas" panose="020B0609020204030204" pitchFamily="49" charset="0"/>
                </a:rPr>
                <a:t>FROM</a:t>
              </a:r>
            </a:p>
            <a:p>
              <a:pPr algn="l"/>
              <a:r>
                <a:rPr lang="en-US" sz="2200" dirty="0">
                  <a:solidFill>
                    <a:srgbClr val="000000"/>
                  </a:solidFill>
                  <a:latin typeface="Consolas" panose="020B0609020204030204" pitchFamily="49" charset="0"/>
                </a:rPr>
                <a:t>    (</a:t>
              </a:r>
              <a:r>
                <a:rPr lang="en-US" sz="2200" dirty="0">
                  <a:solidFill>
                    <a:srgbClr val="800000"/>
                  </a:solidFill>
                  <a:latin typeface="Consolas" panose="020B0609020204030204" pitchFamily="49" charset="0"/>
                </a:rPr>
                <a:t>SELECT</a:t>
              </a:r>
              <a:r>
                <a:rPr lang="en-US" sz="2200" dirty="0">
                  <a:solidFill>
                    <a:srgbClr val="000000"/>
                  </a:solidFill>
                  <a:latin typeface="Consolas" panose="020B0609020204030204" pitchFamily="49" charset="0"/>
                </a:rPr>
                <a:t> </a:t>
              </a:r>
              <a:r>
                <a:rPr lang="en-US" sz="2200" dirty="0">
                  <a:solidFill>
                    <a:srgbClr val="800000"/>
                  </a:solidFill>
                  <a:latin typeface="Consolas" panose="020B0609020204030204" pitchFamily="49" charset="0"/>
                </a:rPr>
                <a:t>MAX</a:t>
              </a:r>
              <a:r>
                <a:rPr lang="en-US" sz="2200" dirty="0">
                  <a:solidFill>
                    <a:srgbClr val="000000"/>
                  </a:solidFill>
                  <a:latin typeface="Consolas" panose="020B0609020204030204" pitchFamily="49" charset="0"/>
                </a:rPr>
                <a:t>(</a:t>
              </a:r>
              <a:r>
                <a:rPr lang="en-US" sz="2200" dirty="0" err="1">
                  <a:solidFill>
                    <a:srgbClr val="000000"/>
                  </a:solidFill>
                  <a:latin typeface="Consolas" panose="020B0609020204030204" pitchFamily="49" charset="0"/>
                </a:rPr>
                <a:t>avg_sal</a:t>
              </a:r>
              <a:r>
                <a:rPr lang="en-US" sz="2200" dirty="0">
                  <a:solidFill>
                    <a:srgbClr val="000000"/>
                  </a:solidFill>
                  <a:latin typeface="Consolas" panose="020B0609020204030204" pitchFamily="49" charset="0"/>
                </a:rPr>
                <a:t>) </a:t>
              </a:r>
              <a:r>
                <a:rPr lang="en-US" sz="2200" dirty="0">
                  <a:solidFill>
                    <a:srgbClr val="800000"/>
                  </a:solidFill>
                  <a:latin typeface="Consolas" panose="020B0609020204030204" pitchFamily="49" charset="0"/>
                </a:rPr>
                <a:t>AS</a:t>
              </a:r>
              <a:r>
                <a:rPr lang="en-US" sz="2200"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max_avg</a:t>
              </a:r>
              <a:endParaRPr lang="en-US" sz="2200" dirty="0">
                <a:solidFill>
                  <a:srgbClr val="000000"/>
                </a:solidFill>
                <a:latin typeface="Consolas" panose="020B0609020204030204" pitchFamily="49" charset="0"/>
              </a:endParaRPr>
            </a:p>
            <a:p>
              <a:pPr algn="l"/>
              <a:r>
                <a:rPr lang="en-US" sz="2200" dirty="0">
                  <a:solidFill>
                    <a:srgbClr val="000000"/>
                  </a:solidFill>
                  <a:latin typeface="Consolas" panose="020B0609020204030204" pitchFamily="49" charset="0"/>
                </a:rPr>
                <a:t>     </a:t>
              </a:r>
              <a:r>
                <a:rPr lang="en-US" sz="2200" dirty="0">
                  <a:solidFill>
                    <a:srgbClr val="800000"/>
                  </a:solidFill>
                  <a:latin typeface="Consolas" panose="020B0609020204030204" pitchFamily="49" charset="0"/>
                </a:rPr>
                <a:t>FROM</a:t>
              </a:r>
              <a:r>
                <a:rPr lang="en-US" sz="2200" dirty="0">
                  <a:solidFill>
                    <a:srgbClr val="000000"/>
                  </a:solidFill>
                  <a:latin typeface="Consolas" panose="020B0609020204030204" pitchFamily="49" charset="0"/>
                </a:rPr>
                <a:t> (</a:t>
              </a:r>
              <a:r>
                <a:rPr lang="en-US" sz="2200" dirty="0">
                  <a:solidFill>
                    <a:schemeClr val="accent6"/>
                  </a:solidFill>
                </a:rPr>
                <a:t>SELECT dept, </a:t>
              </a:r>
            </a:p>
            <a:p>
              <a:pPr algn="l"/>
              <a:r>
                <a:rPr lang="en-US" sz="2200" dirty="0">
                  <a:solidFill>
                    <a:schemeClr val="accent6"/>
                  </a:solidFill>
                </a:rPr>
                <a:t>             AVG(salary) AS </a:t>
              </a:r>
              <a:r>
                <a:rPr lang="en-US" sz="2200" dirty="0" err="1">
                  <a:solidFill>
                    <a:schemeClr val="accent6"/>
                  </a:solidFill>
                </a:rPr>
                <a:t>avg_sal</a:t>
              </a:r>
              <a:endParaRPr lang="en-US" sz="2200" dirty="0">
                <a:solidFill>
                  <a:schemeClr val="accent6"/>
                </a:solidFill>
              </a:endParaRPr>
            </a:p>
            <a:p>
              <a:pPr algn="l"/>
              <a:r>
                <a:rPr lang="en-US" sz="2200" dirty="0">
                  <a:solidFill>
                    <a:schemeClr val="accent6"/>
                  </a:solidFill>
                </a:rPr>
                <a:t>           FROM staff</a:t>
              </a:r>
            </a:p>
            <a:p>
              <a:pPr algn="l"/>
              <a:r>
                <a:rPr lang="en-US" sz="2200" dirty="0">
                  <a:solidFill>
                    <a:schemeClr val="accent6"/>
                  </a:solidFill>
                </a:rPr>
                <a:t>           GROUP BY dept</a:t>
              </a:r>
            </a:p>
            <a:p>
              <a:pPr algn="l"/>
              <a:r>
                <a:rPr lang="en-US" sz="2200" dirty="0">
                  <a:solidFill>
                    <a:schemeClr val="accent6"/>
                  </a:solidFill>
                </a:rPr>
                <a:t>          ) AS temp1</a:t>
              </a:r>
            </a:p>
            <a:p>
              <a:pPr algn="l"/>
              <a:r>
                <a:rPr lang="en-US" sz="2200" dirty="0">
                  <a:solidFill>
                    <a:srgbClr val="000000"/>
                  </a:solidFill>
                  <a:latin typeface="Consolas" panose="020B0609020204030204" pitchFamily="49" charset="0"/>
                </a:rPr>
                <a:t>    ) </a:t>
              </a:r>
              <a:r>
                <a:rPr lang="en-US" sz="2200" dirty="0">
                  <a:solidFill>
                    <a:srgbClr val="800000"/>
                  </a:solidFill>
                  <a:latin typeface="Consolas" panose="020B0609020204030204" pitchFamily="49" charset="0"/>
                </a:rPr>
                <a:t>AS</a:t>
              </a:r>
              <a:r>
                <a:rPr lang="en-US" sz="2200" dirty="0">
                  <a:solidFill>
                    <a:srgbClr val="000000"/>
                  </a:solidFill>
                  <a:latin typeface="Consolas" panose="020B0609020204030204" pitchFamily="49" charset="0"/>
                </a:rPr>
                <a:t> </a:t>
              </a:r>
              <a:r>
                <a:rPr lang="en-US" sz="2200" b="1" dirty="0">
                  <a:solidFill>
                    <a:srgbClr val="000000"/>
                  </a:solidFill>
                  <a:latin typeface="Consolas" panose="020B0609020204030204" pitchFamily="49" charset="0"/>
                </a:rPr>
                <a:t>temp2</a:t>
              </a:r>
              <a:r>
                <a:rPr lang="en-US" sz="2200" dirty="0">
                  <a:solidFill>
                    <a:srgbClr val="FF0000"/>
                  </a:solidFill>
                  <a:latin typeface="Consolas" panose="020B0609020204030204" pitchFamily="49" charset="0"/>
                </a:rPr>
                <a:t>;</a:t>
              </a:r>
              <a:endParaRPr lang="en-US" sz="2200" dirty="0"/>
            </a:p>
          </p:txBody>
        </p:sp>
        <p:sp>
          <p:nvSpPr>
            <p:cNvPr id="9" name="Content Placeholder 2">
              <a:extLst>
                <a:ext uri="{FF2B5EF4-FFF2-40B4-BE49-F238E27FC236}">
                  <a16:creationId xmlns:a16="http://schemas.microsoft.com/office/drawing/2014/main" id="{5C0DC255-C36E-367B-B66D-9E5D63AF95B0}"/>
                </a:ext>
              </a:extLst>
            </p:cNvPr>
            <p:cNvSpPr txBox="1">
              <a:spLocks/>
            </p:cNvSpPr>
            <p:nvPr/>
          </p:nvSpPr>
          <p:spPr bwMode="auto">
            <a:xfrm>
              <a:off x="14956734" y="1746362"/>
              <a:ext cx="5894614" cy="463590"/>
            </a:xfrm>
            <a:prstGeom prst="rect">
              <a:avLst/>
            </a:prstGeom>
            <a:noFill/>
            <a:ln w="9525">
              <a:noFill/>
              <a:miter lim="800000"/>
              <a:headEnd/>
              <a:tailEnd/>
            </a:ln>
          </p:spPr>
          <p:txBody>
            <a:bodyPr vert="horz" wrap="square" lIns="0" tIns="0" rIns="91440" bIns="45720" numCol="1" anchor="t" anchorCtr="0" compatLnSpc="1">
              <a:prstTxWarp prst="textNoShape">
                <a:avLst/>
              </a:prstTxWarp>
            </a:bodyPr>
            <a:lstStyle>
              <a:lvl1pPr marL="342900" indent="-342900" algn="l" rtl="0" eaLnBrk="1" fontAlgn="base" hangingPunct="1">
                <a:spcBef>
                  <a:spcPct val="20000"/>
                </a:spcBef>
                <a:spcAft>
                  <a:spcPts val="300"/>
                </a:spcAft>
                <a:buChar char="•"/>
                <a:defRPr sz="2400">
                  <a:solidFill>
                    <a:schemeClr val="tx1"/>
                  </a:solidFill>
                  <a:latin typeface="Verdana" pitchFamily="34" charset="0"/>
                  <a:ea typeface="+mn-ea"/>
                  <a:cs typeface="+mn-cs"/>
                </a:defRPr>
              </a:lvl1pPr>
              <a:lvl2pPr marL="742950" indent="-285750" algn="l" rtl="0" eaLnBrk="1" fontAlgn="base" hangingPunct="1">
                <a:spcBef>
                  <a:spcPct val="20000"/>
                </a:spcBef>
                <a:spcAft>
                  <a:spcPts val="300"/>
                </a:spcAft>
                <a:buChar char="–"/>
                <a:defRPr sz="2200">
                  <a:solidFill>
                    <a:schemeClr val="tx1"/>
                  </a:solidFill>
                  <a:latin typeface="Verdana" pitchFamily="34" charset="0"/>
                </a:defRPr>
              </a:lvl2pPr>
              <a:lvl3pPr marL="1143000" indent="-228600" algn="l" rtl="0" eaLnBrk="1" fontAlgn="base" hangingPunct="1">
                <a:spcBef>
                  <a:spcPct val="20000"/>
                </a:spcBef>
                <a:spcAft>
                  <a:spcPts val="300"/>
                </a:spcAft>
                <a:buChar char="•"/>
                <a:defRPr>
                  <a:solidFill>
                    <a:schemeClr val="tx1"/>
                  </a:solidFill>
                  <a:latin typeface="Verdana" pitchFamily="34" charset="0"/>
                </a:defRPr>
              </a:lvl3pPr>
              <a:lvl4pPr marL="1600200" indent="-228600" algn="l" rtl="0" eaLnBrk="1" fontAlgn="base" hangingPunct="1">
                <a:spcBef>
                  <a:spcPct val="20000"/>
                </a:spcBef>
                <a:spcAft>
                  <a:spcPts val="300"/>
                </a:spcAft>
                <a:buChar char="–"/>
                <a:defRPr sz="1600">
                  <a:solidFill>
                    <a:schemeClr val="tx1"/>
                  </a:solidFill>
                  <a:latin typeface="Verdana" pitchFamily="34" charset="0"/>
                </a:defRPr>
              </a:lvl4pPr>
              <a:lvl5pPr marL="2057400" indent="-228600" algn="l" rtl="0" eaLnBrk="1" fontAlgn="base" hangingPunct="1">
                <a:spcBef>
                  <a:spcPct val="20000"/>
                </a:spcBef>
                <a:spcAft>
                  <a:spcPts val="300"/>
                </a:spcAft>
                <a:buChar char="»"/>
                <a:defRPr sz="1500">
                  <a:solidFill>
                    <a:srgbClr val="003399"/>
                  </a:solidFill>
                  <a:latin typeface="Verdana" pitchFamily="34" charset="0"/>
                </a:defRPr>
              </a:lvl5pPr>
              <a:lvl6pPr marL="2514600" indent="-228600" algn="l" rtl="0" eaLnBrk="1" fontAlgn="base" hangingPunct="1">
                <a:spcBef>
                  <a:spcPct val="20000"/>
                </a:spcBef>
                <a:spcAft>
                  <a:spcPct val="0"/>
                </a:spcAft>
                <a:buChar char="»"/>
                <a:defRPr sz="1500">
                  <a:solidFill>
                    <a:srgbClr val="003399"/>
                  </a:solidFill>
                  <a:latin typeface="Siemens Sans" pitchFamily="2" charset="0"/>
                </a:defRPr>
              </a:lvl6pPr>
              <a:lvl7pPr marL="2971800" indent="-228600" algn="l" rtl="0" eaLnBrk="1" fontAlgn="base" hangingPunct="1">
                <a:spcBef>
                  <a:spcPct val="20000"/>
                </a:spcBef>
                <a:spcAft>
                  <a:spcPct val="0"/>
                </a:spcAft>
                <a:buChar char="»"/>
                <a:defRPr sz="1500">
                  <a:solidFill>
                    <a:srgbClr val="003399"/>
                  </a:solidFill>
                  <a:latin typeface="Siemens Sans" pitchFamily="2" charset="0"/>
                </a:defRPr>
              </a:lvl7pPr>
              <a:lvl8pPr marL="3429000" indent="-228600" algn="l" rtl="0" eaLnBrk="1" fontAlgn="base" hangingPunct="1">
                <a:spcBef>
                  <a:spcPct val="20000"/>
                </a:spcBef>
                <a:spcAft>
                  <a:spcPct val="0"/>
                </a:spcAft>
                <a:buChar char="»"/>
                <a:defRPr sz="1500">
                  <a:solidFill>
                    <a:srgbClr val="003399"/>
                  </a:solidFill>
                  <a:latin typeface="Siemens Sans" pitchFamily="2" charset="0"/>
                </a:defRPr>
              </a:lvl8pPr>
              <a:lvl9pPr marL="3886200" indent="-228600" algn="l" rtl="0" eaLnBrk="1" fontAlgn="base" hangingPunct="1">
                <a:spcBef>
                  <a:spcPct val="20000"/>
                </a:spcBef>
                <a:spcAft>
                  <a:spcPct val="0"/>
                </a:spcAft>
                <a:buChar char="»"/>
                <a:defRPr sz="1500">
                  <a:solidFill>
                    <a:srgbClr val="003399"/>
                  </a:solidFill>
                  <a:latin typeface="Siemens Sans" pitchFamily="2" charset="0"/>
                </a:defRPr>
              </a:lvl9pPr>
            </a:lstStyle>
            <a:p>
              <a:pPr marL="0" indent="0" algn="ctr">
                <a:buNone/>
              </a:pPr>
              <a:r>
                <a:rPr lang="en-US" kern="0" dirty="0"/>
                <a:t>Nested table expression:</a:t>
              </a:r>
            </a:p>
          </p:txBody>
        </p:sp>
      </p:grpSp>
    </p:spTree>
    <p:extLst>
      <p:ext uri="{BB962C8B-B14F-4D97-AF65-F5344CB8AC3E}">
        <p14:creationId xmlns:p14="http://schemas.microsoft.com/office/powerpoint/2010/main" val="70216974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250" fill="hold"/>
                                        <p:tgtEl>
                                          <p:spTgt spid="6"/>
                                        </p:tgtEl>
                                        <p:attrNameLst>
                                          <p:attrName>ppt_x</p:attrName>
                                        </p:attrNameLst>
                                      </p:cBhvr>
                                      <p:tavLst>
                                        <p:tav tm="0">
                                          <p:val>
                                            <p:strVal val="#ppt_x"/>
                                          </p:val>
                                        </p:tav>
                                        <p:tav tm="100000">
                                          <p:val>
                                            <p:strVal val="#ppt_x"/>
                                          </p:val>
                                        </p:tav>
                                      </p:tavLst>
                                    </p:anim>
                                    <p:anim calcmode="lin" valueType="num">
                                      <p:cBhvr additive="base">
                                        <p:cTn id="8" dur="25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250" fill="hold"/>
                                        <p:tgtEl>
                                          <p:spTgt spid="7"/>
                                        </p:tgtEl>
                                        <p:attrNameLst>
                                          <p:attrName>ppt_x</p:attrName>
                                        </p:attrNameLst>
                                      </p:cBhvr>
                                      <p:tavLst>
                                        <p:tav tm="0">
                                          <p:val>
                                            <p:strVal val="#ppt_x"/>
                                          </p:val>
                                        </p:tav>
                                        <p:tav tm="100000">
                                          <p:val>
                                            <p:strVal val="#ppt_x"/>
                                          </p:val>
                                        </p:tav>
                                      </p:tavLst>
                                    </p:anim>
                                    <p:anim calcmode="lin" valueType="num">
                                      <p:cBhvr additive="base">
                                        <p:cTn id="14" dur="25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2AE41-2DFD-6E74-7E9A-60BCCE3A943A}"/>
              </a:ext>
            </a:extLst>
          </p:cNvPr>
          <p:cNvSpPr>
            <a:spLocks noGrp="1"/>
          </p:cNvSpPr>
          <p:nvPr>
            <p:ph type="title"/>
          </p:nvPr>
        </p:nvSpPr>
        <p:spPr/>
        <p:txBody>
          <a:bodyPr/>
          <a:lstStyle/>
          <a:p>
            <a:r>
              <a:rPr lang="en-US" dirty="0"/>
              <a:t>Common Table Expressions</a:t>
            </a:r>
          </a:p>
        </p:txBody>
      </p:sp>
      <p:sp>
        <p:nvSpPr>
          <p:cNvPr id="3" name="Content Placeholder 2">
            <a:extLst>
              <a:ext uri="{FF2B5EF4-FFF2-40B4-BE49-F238E27FC236}">
                <a16:creationId xmlns:a16="http://schemas.microsoft.com/office/drawing/2014/main" id="{094CF93F-E1A0-9FE4-EF22-6F13CE3558FB}"/>
              </a:ext>
            </a:extLst>
          </p:cNvPr>
          <p:cNvSpPr>
            <a:spLocks noGrp="1"/>
          </p:cNvSpPr>
          <p:nvPr>
            <p:ph idx="1"/>
          </p:nvPr>
        </p:nvSpPr>
        <p:spPr>
          <a:xfrm>
            <a:off x="198226" y="806065"/>
            <a:ext cx="11813228" cy="717936"/>
          </a:xfrm>
        </p:spPr>
        <p:txBody>
          <a:bodyPr/>
          <a:lstStyle/>
          <a:p>
            <a:pPr marL="0" indent="0">
              <a:buNone/>
            </a:pPr>
            <a:r>
              <a:rPr lang="en-US" b="1" i="0" dirty="0">
                <a:solidFill>
                  <a:srgbClr val="0077AA"/>
                </a:solidFill>
                <a:effectLst/>
                <a:latin typeface="Courier New" panose="02070309020205020404" pitchFamily="49" charset="0"/>
                <a:cs typeface="Courier New" panose="02070309020205020404" pitchFamily="49" charset="0"/>
              </a:rPr>
              <a:t>WITH</a:t>
            </a:r>
            <a:r>
              <a:rPr lang="en-US" i="0" dirty="0">
                <a:solidFill>
                  <a:srgbClr val="000000"/>
                </a:solidFill>
                <a:effectLst/>
                <a:latin typeface="Courier New" panose="02070309020205020404" pitchFamily="49" charset="0"/>
                <a:cs typeface="Courier New" panose="02070309020205020404" pitchFamily="49" charset="0"/>
              </a:rPr>
              <a:t> cte1 </a:t>
            </a:r>
            <a:r>
              <a:rPr lang="en-US" b="1" i="0" dirty="0">
                <a:solidFill>
                  <a:srgbClr val="0077AA"/>
                </a:solidFill>
                <a:effectLst/>
                <a:latin typeface="Courier New" panose="02070309020205020404" pitchFamily="49" charset="0"/>
                <a:cs typeface="Courier New" panose="02070309020205020404" pitchFamily="49" charset="0"/>
              </a:rPr>
              <a:t>AS</a:t>
            </a:r>
            <a:r>
              <a:rPr lang="en-US" i="0" dirty="0">
                <a:solidFill>
                  <a:srgbClr val="000000"/>
                </a:solidFill>
                <a:effectLst/>
                <a:latin typeface="Courier New" panose="02070309020205020404" pitchFamily="49" charset="0"/>
                <a:cs typeface="Courier New" panose="02070309020205020404" pitchFamily="49" charset="0"/>
              </a:rPr>
              <a:t> </a:t>
            </a:r>
            <a:r>
              <a:rPr lang="en-US" i="0" dirty="0">
                <a:solidFill>
                  <a:srgbClr val="999999"/>
                </a:solidFill>
                <a:effectLst/>
                <a:latin typeface="Courier New" panose="02070309020205020404" pitchFamily="49" charset="0"/>
                <a:cs typeface="Courier New" panose="02070309020205020404" pitchFamily="49" charset="0"/>
              </a:rPr>
              <a:t>(...),</a:t>
            </a:r>
            <a:r>
              <a:rPr lang="en-US" i="0" dirty="0">
                <a:solidFill>
                  <a:srgbClr val="000000"/>
                </a:solidFill>
                <a:effectLst/>
                <a:latin typeface="Courier New" panose="02070309020205020404" pitchFamily="49" charset="0"/>
                <a:cs typeface="Courier New" panose="02070309020205020404" pitchFamily="49" charset="0"/>
              </a:rPr>
              <a:t> cte2 </a:t>
            </a:r>
            <a:r>
              <a:rPr lang="en-US" b="1" i="0" dirty="0">
                <a:solidFill>
                  <a:srgbClr val="0077AA"/>
                </a:solidFill>
                <a:effectLst/>
                <a:latin typeface="Courier New" panose="02070309020205020404" pitchFamily="49" charset="0"/>
                <a:cs typeface="Courier New" panose="02070309020205020404" pitchFamily="49" charset="0"/>
              </a:rPr>
              <a:t>AS</a:t>
            </a:r>
            <a:r>
              <a:rPr lang="en-US" i="0" dirty="0">
                <a:solidFill>
                  <a:srgbClr val="000000"/>
                </a:solidFill>
                <a:effectLst/>
                <a:latin typeface="Courier New" panose="02070309020205020404" pitchFamily="49" charset="0"/>
                <a:cs typeface="Courier New" panose="02070309020205020404" pitchFamily="49" charset="0"/>
              </a:rPr>
              <a:t> </a:t>
            </a:r>
            <a:r>
              <a:rPr lang="en-US" i="0" dirty="0">
                <a:solidFill>
                  <a:srgbClr val="999999"/>
                </a:solidFill>
                <a:effectLst/>
                <a:latin typeface="Courier New" panose="02070309020205020404" pitchFamily="49" charset="0"/>
                <a:cs typeface="Courier New" panose="02070309020205020404" pitchFamily="49" charset="0"/>
              </a:rPr>
              <a:t>(...)</a:t>
            </a:r>
            <a:r>
              <a:rPr lang="en-US" i="0" dirty="0">
                <a:solidFill>
                  <a:srgbClr val="000000"/>
                </a:solidFill>
                <a:effectLst/>
                <a:latin typeface="Courier New" panose="02070309020205020404" pitchFamily="49" charset="0"/>
                <a:cs typeface="Courier New" panose="02070309020205020404" pitchFamily="49" charset="0"/>
              </a:rPr>
              <a:t> </a:t>
            </a:r>
            <a:r>
              <a:rPr lang="en-US" b="1" i="0" dirty="0">
                <a:solidFill>
                  <a:srgbClr val="0077AA"/>
                </a:solidFill>
                <a:effectLst/>
                <a:latin typeface="Courier New" panose="02070309020205020404" pitchFamily="49" charset="0"/>
                <a:cs typeface="Courier New" panose="02070309020205020404" pitchFamily="49" charset="0"/>
              </a:rPr>
              <a:t>SELECT</a:t>
            </a:r>
            <a:r>
              <a:rPr lang="en-US" i="0" dirty="0">
                <a:solidFill>
                  <a:srgbClr val="000000"/>
                </a:solidFill>
                <a:effectLst/>
                <a:latin typeface="Courier New" panose="02070309020205020404" pitchFamily="49" charset="0"/>
                <a:cs typeface="Courier New" panose="02070309020205020404" pitchFamily="49" charset="0"/>
              </a:rPr>
              <a:t> </a:t>
            </a:r>
            <a:r>
              <a:rPr lang="en-US" i="0" dirty="0">
                <a:solidFill>
                  <a:srgbClr val="999999"/>
                </a:solidFill>
                <a:effectLst/>
                <a:latin typeface="Courier New" panose="02070309020205020404" pitchFamily="49" charset="0"/>
                <a:cs typeface="Courier New" panose="02070309020205020404" pitchFamily="49" charset="0"/>
              </a:rPr>
              <a:t>...</a:t>
            </a:r>
          </a:p>
          <a:p>
            <a:pPr marL="0" indent="0">
              <a:buNone/>
            </a:pPr>
            <a:r>
              <a:rPr lang="en-US" sz="2000" dirty="0">
                <a:solidFill>
                  <a:schemeClr val="bg2"/>
                </a:solidFill>
              </a:rPr>
              <a:t>--Find the departments where the average salary of employees is greater than $80K, and also list all employees in those departments along with their department name</a:t>
            </a:r>
            <a:endParaRPr lang="en-US" sz="2000" dirty="0">
              <a:solidFill>
                <a:schemeClr val="bg2"/>
              </a:solidFill>
              <a:latin typeface="Courier New" panose="02070309020205020404" pitchFamily="49" charset="0"/>
              <a:cs typeface="Courier New" panose="02070309020205020404" pitchFamily="49" charset="0"/>
            </a:endParaRPr>
          </a:p>
        </p:txBody>
      </p:sp>
      <p:sp>
        <p:nvSpPr>
          <p:cNvPr id="5" name="TextBox 4">
            <a:extLst>
              <a:ext uri="{FF2B5EF4-FFF2-40B4-BE49-F238E27FC236}">
                <a16:creationId xmlns:a16="http://schemas.microsoft.com/office/drawing/2014/main" id="{E6986B23-38CE-BB4B-88F3-179340706AAE}"/>
              </a:ext>
            </a:extLst>
          </p:cNvPr>
          <p:cNvSpPr txBox="1"/>
          <p:nvPr/>
        </p:nvSpPr>
        <p:spPr>
          <a:xfrm>
            <a:off x="1600200" y="1905000"/>
            <a:ext cx="8839200" cy="4401205"/>
          </a:xfrm>
          <a:prstGeom prst="rect">
            <a:avLst/>
          </a:prstGeom>
          <a:solidFill>
            <a:srgbClr val="B6DF89"/>
          </a:solidFill>
          <a:ln>
            <a:solidFill>
              <a:schemeClr val="bg2"/>
            </a:solidFill>
          </a:ln>
          <a:effectLst>
            <a:outerShdw blurRad="50800" dist="63500" dir="2700000" algn="tl" rotWithShape="0">
              <a:prstClr val="black">
                <a:alpha val="40000"/>
              </a:prstClr>
            </a:outerShdw>
          </a:effectLst>
        </p:spPr>
        <p:txBody>
          <a:bodyPr wrap="square" lIns="45720" rIns="45720">
            <a:spAutoFit/>
          </a:bodyPr>
          <a:lstStyle>
            <a:defPPr>
              <a:defRPr lang="en-US"/>
            </a:defPPr>
            <a:lvl1pPr>
              <a:defRPr>
                <a:solidFill>
                  <a:srgbClr val="800000"/>
                </a:solidFill>
                <a:latin typeface="Consolas" panose="020B0609020204030204" pitchFamily="49" charset="0"/>
              </a:defRPr>
            </a:lvl1pPr>
          </a:lstStyle>
          <a:p>
            <a:r>
              <a:rPr lang="en-US" sz="2000" b="1" dirty="0"/>
              <a:t>WITH</a:t>
            </a:r>
            <a:r>
              <a:rPr lang="en-US" sz="2000" b="1" dirty="0">
                <a:solidFill>
                  <a:srgbClr val="000000"/>
                </a:solidFill>
              </a:rPr>
              <a:t> </a:t>
            </a:r>
            <a:r>
              <a:rPr lang="en-US" sz="2000" dirty="0" err="1">
                <a:solidFill>
                  <a:srgbClr val="FF0000"/>
                </a:solidFill>
              </a:rPr>
              <a:t>dept_avg_salary</a:t>
            </a:r>
            <a:r>
              <a:rPr lang="en-US" sz="2000" dirty="0">
                <a:solidFill>
                  <a:srgbClr val="FF0000"/>
                </a:solidFill>
              </a:rPr>
              <a:t> </a:t>
            </a:r>
            <a:r>
              <a:rPr lang="en-US" sz="2000" b="1" dirty="0"/>
              <a:t>AS</a:t>
            </a:r>
            <a:r>
              <a:rPr lang="en-US" sz="2000" b="1" dirty="0">
                <a:solidFill>
                  <a:srgbClr val="000000"/>
                </a:solidFill>
              </a:rPr>
              <a:t> </a:t>
            </a:r>
            <a:r>
              <a:rPr lang="en-US" sz="2000" dirty="0">
                <a:solidFill>
                  <a:srgbClr val="000000"/>
                </a:solidFill>
              </a:rPr>
              <a:t>(</a:t>
            </a:r>
          </a:p>
          <a:p>
            <a:r>
              <a:rPr lang="en-US" sz="2000" dirty="0">
                <a:solidFill>
                  <a:srgbClr val="000000"/>
                </a:solidFill>
              </a:rPr>
              <a:t>    </a:t>
            </a:r>
            <a:r>
              <a:rPr lang="en-US" sz="2000" b="1" dirty="0"/>
              <a:t>SELECT</a:t>
            </a:r>
            <a:r>
              <a:rPr lang="en-US" sz="2000" b="1" dirty="0">
                <a:solidFill>
                  <a:srgbClr val="000000"/>
                </a:solidFill>
              </a:rPr>
              <a:t> </a:t>
            </a:r>
            <a:r>
              <a:rPr lang="en-US" sz="2000" dirty="0" err="1">
                <a:solidFill>
                  <a:srgbClr val="000000"/>
                </a:solidFill>
              </a:rPr>
              <a:t>workdept</a:t>
            </a:r>
            <a:r>
              <a:rPr lang="en-US" sz="2000" dirty="0">
                <a:solidFill>
                  <a:srgbClr val="000000"/>
                </a:solidFill>
              </a:rPr>
              <a:t>,</a:t>
            </a:r>
            <a:r>
              <a:rPr lang="en-US" sz="2000" b="1" dirty="0">
                <a:solidFill>
                  <a:srgbClr val="000000"/>
                </a:solidFill>
              </a:rPr>
              <a:t> </a:t>
            </a:r>
            <a:r>
              <a:rPr lang="en-US" sz="2000" b="1" dirty="0">
                <a:solidFill>
                  <a:srgbClr val="000080"/>
                </a:solidFill>
              </a:rPr>
              <a:t>AVG</a:t>
            </a:r>
            <a:r>
              <a:rPr lang="en-US" sz="2000" dirty="0">
                <a:solidFill>
                  <a:srgbClr val="000000"/>
                </a:solidFill>
              </a:rPr>
              <a:t>(salary)</a:t>
            </a:r>
            <a:r>
              <a:rPr lang="en-US" sz="2000" b="1" dirty="0">
                <a:solidFill>
                  <a:srgbClr val="000000"/>
                </a:solidFill>
              </a:rPr>
              <a:t> </a:t>
            </a:r>
            <a:r>
              <a:rPr lang="en-US" sz="2000" b="1" dirty="0"/>
              <a:t>AS</a:t>
            </a:r>
            <a:r>
              <a:rPr lang="en-US" sz="2000" b="1" dirty="0">
                <a:solidFill>
                  <a:srgbClr val="000000"/>
                </a:solidFill>
              </a:rPr>
              <a:t> </a:t>
            </a:r>
            <a:r>
              <a:rPr lang="en-US" sz="2000" dirty="0" err="1">
                <a:solidFill>
                  <a:srgbClr val="000000"/>
                </a:solidFill>
              </a:rPr>
              <a:t>avg_salary</a:t>
            </a:r>
            <a:endParaRPr lang="en-US" sz="2000" dirty="0">
              <a:solidFill>
                <a:srgbClr val="000000"/>
              </a:solidFill>
            </a:endParaRPr>
          </a:p>
          <a:p>
            <a:r>
              <a:rPr lang="en-US" sz="2000" dirty="0">
                <a:solidFill>
                  <a:srgbClr val="000000"/>
                </a:solidFill>
              </a:rPr>
              <a:t>    </a:t>
            </a:r>
            <a:r>
              <a:rPr lang="en-US" sz="2000" b="1" dirty="0"/>
              <a:t>FROM</a:t>
            </a:r>
            <a:r>
              <a:rPr lang="en-US" sz="2000" b="1" dirty="0">
                <a:solidFill>
                  <a:srgbClr val="000000"/>
                </a:solidFill>
              </a:rPr>
              <a:t> </a:t>
            </a:r>
            <a:r>
              <a:rPr lang="en-US" sz="2000" dirty="0">
                <a:solidFill>
                  <a:srgbClr val="000000"/>
                </a:solidFill>
              </a:rPr>
              <a:t>employee</a:t>
            </a:r>
          </a:p>
          <a:p>
            <a:r>
              <a:rPr lang="en-US" sz="2000" dirty="0">
                <a:solidFill>
                  <a:srgbClr val="000000"/>
                </a:solidFill>
              </a:rPr>
              <a:t>    </a:t>
            </a:r>
            <a:r>
              <a:rPr lang="en-US" sz="2000" b="1" dirty="0"/>
              <a:t>GROUP</a:t>
            </a:r>
            <a:r>
              <a:rPr lang="en-US" sz="2000" b="1" dirty="0">
                <a:solidFill>
                  <a:srgbClr val="000000"/>
                </a:solidFill>
              </a:rPr>
              <a:t> </a:t>
            </a:r>
            <a:r>
              <a:rPr lang="en-US" sz="2000" b="1" dirty="0"/>
              <a:t>BY</a:t>
            </a:r>
            <a:r>
              <a:rPr lang="en-US" sz="2000" b="1" dirty="0">
                <a:solidFill>
                  <a:srgbClr val="000000"/>
                </a:solidFill>
              </a:rPr>
              <a:t> </a:t>
            </a:r>
            <a:r>
              <a:rPr lang="en-US" sz="2000" dirty="0" err="1">
                <a:solidFill>
                  <a:srgbClr val="000000"/>
                </a:solidFill>
              </a:rPr>
              <a:t>workdept</a:t>
            </a:r>
            <a:endParaRPr lang="en-US" sz="2000" dirty="0">
              <a:solidFill>
                <a:srgbClr val="000000"/>
              </a:solidFill>
            </a:endParaRPr>
          </a:p>
          <a:p>
            <a:r>
              <a:rPr lang="en-US" sz="2000" dirty="0">
                <a:solidFill>
                  <a:srgbClr val="000000"/>
                </a:solidFill>
              </a:rPr>
              <a:t>),</a:t>
            </a:r>
          </a:p>
          <a:p>
            <a:r>
              <a:rPr lang="en-US" sz="2000" dirty="0" err="1">
                <a:solidFill>
                  <a:srgbClr val="FF0000"/>
                </a:solidFill>
              </a:rPr>
              <a:t>high_salary_depts</a:t>
            </a:r>
            <a:r>
              <a:rPr lang="en-US" sz="2000" dirty="0">
                <a:solidFill>
                  <a:srgbClr val="FF0000"/>
                </a:solidFill>
              </a:rPr>
              <a:t> </a:t>
            </a:r>
            <a:r>
              <a:rPr lang="en-US" sz="2000" b="1" dirty="0"/>
              <a:t>AS</a:t>
            </a:r>
            <a:r>
              <a:rPr lang="en-US" sz="2000" b="1" dirty="0">
                <a:solidFill>
                  <a:srgbClr val="000000"/>
                </a:solidFill>
              </a:rPr>
              <a:t> (</a:t>
            </a:r>
          </a:p>
          <a:p>
            <a:r>
              <a:rPr lang="en-US" sz="2000" dirty="0">
                <a:solidFill>
                  <a:srgbClr val="000000"/>
                </a:solidFill>
              </a:rPr>
              <a:t>    </a:t>
            </a:r>
            <a:r>
              <a:rPr lang="en-US" sz="2000" b="1" dirty="0"/>
              <a:t>SELECT</a:t>
            </a:r>
            <a:r>
              <a:rPr lang="en-US" sz="2000" b="1" dirty="0">
                <a:solidFill>
                  <a:srgbClr val="000000"/>
                </a:solidFill>
              </a:rPr>
              <a:t> </a:t>
            </a:r>
            <a:r>
              <a:rPr lang="en-US" sz="2000" dirty="0" err="1">
                <a:solidFill>
                  <a:srgbClr val="000000"/>
                </a:solidFill>
              </a:rPr>
              <a:t>d.deptno</a:t>
            </a:r>
            <a:r>
              <a:rPr lang="en-US" sz="2000" dirty="0">
                <a:solidFill>
                  <a:srgbClr val="000000"/>
                </a:solidFill>
              </a:rPr>
              <a:t>, </a:t>
            </a:r>
            <a:r>
              <a:rPr lang="en-US" sz="2000" dirty="0" err="1">
                <a:solidFill>
                  <a:srgbClr val="000000"/>
                </a:solidFill>
              </a:rPr>
              <a:t>d.deptname</a:t>
            </a:r>
            <a:endParaRPr lang="en-US" sz="2000" dirty="0">
              <a:solidFill>
                <a:srgbClr val="000000"/>
              </a:solidFill>
            </a:endParaRPr>
          </a:p>
          <a:p>
            <a:r>
              <a:rPr lang="en-US" sz="2000" dirty="0">
                <a:solidFill>
                  <a:srgbClr val="000000"/>
                </a:solidFill>
              </a:rPr>
              <a:t>    </a:t>
            </a:r>
            <a:r>
              <a:rPr lang="en-US" sz="2000" b="1" dirty="0"/>
              <a:t>FROM</a:t>
            </a:r>
            <a:r>
              <a:rPr lang="en-US" sz="2000" b="1" dirty="0">
                <a:solidFill>
                  <a:srgbClr val="000000"/>
                </a:solidFill>
              </a:rPr>
              <a:t> </a:t>
            </a:r>
            <a:r>
              <a:rPr lang="en-US" sz="2000" dirty="0" err="1">
                <a:solidFill>
                  <a:srgbClr val="000000"/>
                </a:solidFill>
              </a:rPr>
              <a:t>dept_avg_salary</a:t>
            </a:r>
            <a:r>
              <a:rPr lang="en-US" sz="2000" dirty="0">
                <a:solidFill>
                  <a:srgbClr val="000000"/>
                </a:solidFill>
              </a:rPr>
              <a:t> das, department d</a:t>
            </a:r>
          </a:p>
          <a:p>
            <a:r>
              <a:rPr lang="en-US" sz="2000" dirty="0">
                <a:solidFill>
                  <a:srgbClr val="000000"/>
                </a:solidFill>
              </a:rPr>
              <a:t>    </a:t>
            </a:r>
            <a:r>
              <a:rPr lang="en-US" sz="2000" b="1" dirty="0"/>
              <a:t>WHERE</a:t>
            </a:r>
            <a:r>
              <a:rPr lang="en-US" sz="2000" b="1" dirty="0">
                <a:solidFill>
                  <a:srgbClr val="000000"/>
                </a:solidFill>
              </a:rPr>
              <a:t> </a:t>
            </a:r>
            <a:r>
              <a:rPr lang="en-US" sz="2000" dirty="0" err="1">
                <a:solidFill>
                  <a:srgbClr val="000000"/>
                </a:solidFill>
              </a:rPr>
              <a:t>das.workdept</a:t>
            </a:r>
            <a:r>
              <a:rPr lang="en-US" sz="2000" dirty="0">
                <a:solidFill>
                  <a:srgbClr val="000000"/>
                </a:solidFill>
              </a:rPr>
              <a:t> = </a:t>
            </a:r>
            <a:r>
              <a:rPr lang="en-US" sz="2000" dirty="0" err="1">
                <a:solidFill>
                  <a:srgbClr val="000000"/>
                </a:solidFill>
              </a:rPr>
              <a:t>d.deptno</a:t>
            </a:r>
            <a:endParaRPr lang="en-US" sz="2000" dirty="0">
              <a:solidFill>
                <a:srgbClr val="000000"/>
              </a:solidFill>
            </a:endParaRPr>
          </a:p>
          <a:p>
            <a:r>
              <a:rPr lang="en-US" sz="2000" dirty="0">
                <a:solidFill>
                  <a:srgbClr val="000000"/>
                </a:solidFill>
              </a:rPr>
              <a:t>      </a:t>
            </a:r>
            <a:r>
              <a:rPr lang="en-US" sz="2000" b="1" dirty="0"/>
              <a:t>AND</a:t>
            </a:r>
            <a:r>
              <a:rPr lang="en-US" sz="2000" b="1" dirty="0">
                <a:solidFill>
                  <a:srgbClr val="000000"/>
                </a:solidFill>
              </a:rPr>
              <a:t> </a:t>
            </a:r>
            <a:r>
              <a:rPr lang="en-US" sz="2000" dirty="0" err="1">
                <a:solidFill>
                  <a:srgbClr val="000000"/>
                </a:solidFill>
              </a:rPr>
              <a:t>das.avg_salary</a:t>
            </a:r>
            <a:r>
              <a:rPr lang="en-US" sz="2000" dirty="0">
                <a:solidFill>
                  <a:srgbClr val="000000"/>
                </a:solidFill>
              </a:rPr>
              <a:t> &gt; </a:t>
            </a:r>
            <a:r>
              <a:rPr lang="en-US" sz="2000" dirty="0">
                <a:solidFill>
                  <a:srgbClr val="0000FF"/>
                </a:solidFill>
              </a:rPr>
              <a:t>80000</a:t>
            </a:r>
          </a:p>
          <a:p>
            <a:r>
              <a:rPr lang="en-US" sz="2000" dirty="0">
                <a:solidFill>
                  <a:srgbClr val="000000"/>
                </a:solidFill>
              </a:rPr>
              <a:t>)</a:t>
            </a:r>
          </a:p>
          <a:p>
            <a:r>
              <a:rPr lang="en-US" sz="2000" b="1" dirty="0"/>
              <a:t>SELECT</a:t>
            </a:r>
            <a:r>
              <a:rPr lang="en-US" sz="2000" b="1" dirty="0">
                <a:solidFill>
                  <a:srgbClr val="000000"/>
                </a:solidFill>
              </a:rPr>
              <a:t> </a:t>
            </a:r>
            <a:r>
              <a:rPr lang="en-US" sz="2000" dirty="0" err="1">
                <a:solidFill>
                  <a:srgbClr val="000000"/>
                </a:solidFill>
              </a:rPr>
              <a:t>e.empno</a:t>
            </a:r>
            <a:r>
              <a:rPr lang="en-US" sz="2000" dirty="0">
                <a:solidFill>
                  <a:srgbClr val="000000"/>
                </a:solidFill>
              </a:rPr>
              <a:t>, </a:t>
            </a:r>
            <a:r>
              <a:rPr lang="en-US" sz="2000" dirty="0" err="1">
                <a:solidFill>
                  <a:srgbClr val="000000"/>
                </a:solidFill>
              </a:rPr>
              <a:t>e.firstnme</a:t>
            </a:r>
            <a:r>
              <a:rPr lang="en-US" sz="2000" dirty="0">
                <a:solidFill>
                  <a:srgbClr val="000000"/>
                </a:solidFill>
              </a:rPr>
              <a:t>, </a:t>
            </a:r>
            <a:r>
              <a:rPr lang="en-US" sz="2000" dirty="0" err="1">
                <a:solidFill>
                  <a:srgbClr val="000000"/>
                </a:solidFill>
              </a:rPr>
              <a:t>e.lastname</a:t>
            </a:r>
            <a:r>
              <a:rPr lang="en-US" sz="2000" dirty="0">
                <a:solidFill>
                  <a:srgbClr val="000000"/>
                </a:solidFill>
              </a:rPr>
              <a:t>, </a:t>
            </a:r>
            <a:r>
              <a:rPr lang="en-US" sz="2000" dirty="0" err="1">
                <a:solidFill>
                  <a:srgbClr val="000000"/>
                </a:solidFill>
              </a:rPr>
              <a:t>e.salary</a:t>
            </a:r>
            <a:r>
              <a:rPr lang="en-US" sz="2000" dirty="0">
                <a:solidFill>
                  <a:srgbClr val="000000"/>
                </a:solidFill>
              </a:rPr>
              <a:t>, </a:t>
            </a:r>
            <a:r>
              <a:rPr lang="en-US" sz="2000" dirty="0" err="1">
                <a:solidFill>
                  <a:srgbClr val="000000"/>
                </a:solidFill>
              </a:rPr>
              <a:t>h.deptname</a:t>
            </a:r>
            <a:endParaRPr lang="en-US" sz="2000" dirty="0">
              <a:solidFill>
                <a:srgbClr val="000000"/>
              </a:solidFill>
            </a:endParaRPr>
          </a:p>
          <a:p>
            <a:r>
              <a:rPr lang="en-US" sz="2000" b="1" dirty="0"/>
              <a:t>FROM</a:t>
            </a:r>
            <a:r>
              <a:rPr lang="en-US" sz="2000" b="1" dirty="0">
                <a:solidFill>
                  <a:srgbClr val="000000"/>
                </a:solidFill>
              </a:rPr>
              <a:t> </a:t>
            </a:r>
            <a:r>
              <a:rPr lang="en-US" sz="2000" dirty="0">
                <a:solidFill>
                  <a:srgbClr val="000000"/>
                </a:solidFill>
              </a:rPr>
              <a:t>employee e, </a:t>
            </a:r>
            <a:r>
              <a:rPr lang="en-US" sz="2000" dirty="0" err="1">
                <a:solidFill>
                  <a:srgbClr val="FF0000"/>
                </a:solidFill>
              </a:rPr>
              <a:t>high_salary_depts</a:t>
            </a:r>
            <a:r>
              <a:rPr lang="en-US" sz="2000" dirty="0">
                <a:solidFill>
                  <a:srgbClr val="FF0000"/>
                </a:solidFill>
              </a:rPr>
              <a:t> </a:t>
            </a:r>
            <a:r>
              <a:rPr lang="en-US" sz="2000" dirty="0">
                <a:solidFill>
                  <a:srgbClr val="000000"/>
                </a:solidFill>
              </a:rPr>
              <a:t>h</a:t>
            </a:r>
          </a:p>
          <a:p>
            <a:r>
              <a:rPr lang="en-US" sz="2000" b="1" dirty="0"/>
              <a:t>WHERE</a:t>
            </a:r>
            <a:r>
              <a:rPr lang="en-US" sz="2000" b="1" dirty="0">
                <a:solidFill>
                  <a:srgbClr val="000000"/>
                </a:solidFill>
              </a:rPr>
              <a:t> </a:t>
            </a:r>
            <a:r>
              <a:rPr lang="en-US" sz="2000" dirty="0" err="1">
                <a:solidFill>
                  <a:srgbClr val="000000"/>
                </a:solidFill>
              </a:rPr>
              <a:t>e.workdept</a:t>
            </a:r>
            <a:r>
              <a:rPr lang="en-US" sz="2000" dirty="0">
                <a:solidFill>
                  <a:srgbClr val="000000"/>
                </a:solidFill>
              </a:rPr>
              <a:t> = </a:t>
            </a:r>
            <a:r>
              <a:rPr lang="en-US" sz="2000" dirty="0" err="1">
                <a:solidFill>
                  <a:srgbClr val="000000"/>
                </a:solidFill>
              </a:rPr>
              <a:t>h.deptno</a:t>
            </a:r>
            <a:r>
              <a:rPr lang="en-US" sz="2000" dirty="0">
                <a:solidFill>
                  <a:srgbClr val="FF0000"/>
                </a:solidFill>
              </a:rPr>
              <a:t>;</a:t>
            </a:r>
            <a:endParaRPr lang="en-US" sz="2000" dirty="0"/>
          </a:p>
        </p:txBody>
      </p:sp>
    </p:spTree>
    <p:extLst>
      <p:ext uri="{BB962C8B-B14F-4D97-AF65-F5344CB8AC3E}">
        <p14:creationId xmlns:p14="http://schemas.microsoft.com/office/powerpoint/2010/main" val="379338328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50" fill="hold"/>
                                        <p:tgtEl>
                                          <p:spTgt spid="5"/>
                                        </p:tgtEl>
                                        <p:attrNameLst>
                                          <p:attrName>ppt_x</p:attrName>
                                        </p:attrNameLst>
                                      </p:cBhvr>
                                      <p:tavLst>
                                        <p:tav tm="0">
                                          <p:val>
                                            <p:strVal val="#ppt_x"/>
                                          </p:val>
                                        </p:tav>
                                        <p:tav tm="100000">
                                          <p:val>
                                            <p:strVal val="#ppt_x"/>
                                          </p:val>
                                        </p:tav>
                                      </p:tavLst>
                                    </p:anim>
                                    <p:anim calcmode="lin" valueType="num">
                                      <p:cBhvr additive="base">
                                        <p:cTn id="8" dur="25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Recursive Queries</a:t>
            </a:r>
          </a:p>
        </p:txBody>
      </p:sp>
      <p:sp>
        <p:nvSpPr>
          <p:cNvPr id="3" name="Content Placeholder 2"/>
          <p:cNvSpPr>
            <a:spLocks noGrp="1"/>
          </p:cNvSpPr>
          <p:nvPr>
            <p:ph idx="1"/>
          </p:nvPr>
        </p:nvSpPr>
        <p:spPr/>
        <p:txBody>
          <a:bodyPr/>
          <a:lstStyle/>
          <a:p>
            <a:r>
              <a:rPr lang="en-US" dirty="0"/>
              <a:t>In math/</a:t>
            </a:r>
            <a:r>
              <a:rPr lang="en-US" dirty="0" err="1"/>
              <a:t>cs</a:t>
            </a:r>
            <a:r>
              <a:rPr lang="en-US" dirty="0"/>
              <a:t>, a class of objects or methods exhibit </a:t>
            </a:r>
            <a:r>
              <a:rPr lang="en-US" dirty="0">
                <a:solidFill>
                  <a:schemeClr val="accent2"/>
                </a:solidFill>
              </a:rPr>
              <a:t>recursive behavior </a:t>
            </a:r>
            <a:r>
              <a:rPr lang="en-US" dirty="0"/>
              <a:t>when they can be defined by two properties:</a:t>
            </a:r>
          </a:p>
          <a:p>
            <a:pPr lvl="1"/>
            <a:r>
              <a:rPr lang="en-US" b="1" dirty="0"/>
              <a:t>A simple base case (or cases), and</a:t>
            </a:r>
          </a:p>
          <a:p>
            <a:pPr lvl="1"/>
            <a:r>
              <a:rPr lang="en-US" b="1" dirty="0"/>
              <a:t>A set of rules which reduce all other cases toward the base case</a:t>
            </a:r>
          </a:p>
          <a:p>
            <a:r>
              <a:rPr lang="en-US" dirty="0"/>
              <a:t>A recursive SQL has a reference to the relation itself</a:t>
            </a:r>
          </a:p>
          <a:p>
            <a:endParaRPr lang="en-US" dirty="0"/>
          </a:p>
        </p:txBody>
      </p:sp>
      <p:sp>
        <p:nvSpPr>
          <p:cNvPr id="5" name="TextBox 4">
            <a:extLst>
              <a:ext uri="{FF2B5EF4-FFF2-40B4-BE49-F238E27FC236}">
                <a16:creationId xmlns:a16="http://schemas.microsoft.com/office/drawing/2014/main" id="{0A0F85EE-3157-38D1-4DA1-7A67969B9F4F}"/>
              </a:ext>
            </a:extLst>
          </p:cNvPr>
          <p:cNvSpPr txBox="1">
            <a:spLocks noChangeArrowheads="1"/>
          </p:cNvSpPr>
          <p:nvPr/>
        </p:nvSpPr>
        <p:spPr bwMode="auto">
          <a:xfrm>
            <a:off x="76200" y="6430064"/>
            <a:ext cx="200048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Recursive queries</a:t>
            </a:r>
          </a:p>
        </p:txBody>
      </p:sp>
    </p:spTree>
    <p:extLst>
      <p:ext uri="{BB962C8B-B14F-4D97-AF65-F5344CB8AC3E}">
        <p14:creationId xmlns:p14="http://schemas.microsoft.com/office/powerpoint/2010/main" val="23324727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for Problems Requiring Recursion</a:t>
            </a:r>
          </a:p>
        </p:txBody>
      </p:sp>
      <p:sp>
        <p:nvSpPr>
          <p:cNvPr id="3" name="Content Placeholder 2"/>
          <p:cNvSpPr>
            <a:spLocks noGrp="1"/>
          </p:cNvSpPr>
          <p:nvPr>
            <p:ph idx="1"/>
          </p:nvPr>
        </p:nvSpPr>
        <p:spPr/>
        <p:txBody>
          <a:bodyPr/>
          <a:lstStyle/>
          <a:p>
            <a:pPr>
              <a:spcBef>
                <a:spcPts val="600"/>
              </a:spcBef>
              <a:spcAft>
                <a:spcPts val="600"/>
              </a:spcAft>
            </a:pPr>
            <a:r>
              <a:rPr lang="en-US" dirty="0"/>
              <a:t>Ancestors: given relation </a:t>
            </a:r>
            <a:r>
              <a:rPr lang="en-US" dirty="0">
                <a:solidFill>
                  <a:schemeClr val="accent6"/>
                </a:solidFill>
              </a:rPr>
              <a:t>parent(p, c) </a:t>
            </a:r>
            <a:r>
              <a:rPr lang="en-US" dirty="0"/>
              <a:t>find all the ancestors of person X</a:t>
            </a:r>
          </a:p>
          <a:p>
            <a:pPr lvl="1">
              <a:spcBef>
                <a:spcPts val="600"/>
              </a:spcBef>
              <a:spcAft>
                <a:spcPts val="600"/>
              </a:spcAft>
            </a:pPr>
            <a:r>
              <a:rPr lang="en-US" dirty="0"/>
              <a:t>(Reachability in or transitive closure of a graph)</a:t>
            </a:r>
          </a:p>
          <a:p>
            <a:pPr>
              <a:spcBef>
                <a:spcPts val="600"/>
              </a:spcBef>
              <a:spcAft>
                <a:spcPts val="600"/>
              </a:spcAft>
            </a:pPr>
            <a:r>
              <a:rPr lang="en-US" dirty="0"/>
              <a:t>Parts explosion: given relation </a:t>
            </a:r>
            <a:r>
              <a:rPr lang="en-US" dirty="0">
                <a:solidFill>
                  <a:schemeClr val="accent6"/>
                </a:solidFill>
              </a:rPr>
              <a:t>compound(super, sub, count)</a:t>
            </a:r>
            <a:r>
              <a:rPr lang="en-US" dirty="0"/>
              <a:t>, compute a complete bill of materials needed to produce one part P</a:t>
            </a:r>
          </a:p>
          <a:p>
            <a:pPr>
              <a:spcBef>
                <a:spcPts val="600"/>
              </a:spcBef>
              <a:spcAft>
                <a:spcPts val="600"/>
              </a:spcAft>
            </a:pPr>
            <a:r>
              <a:rPr lang="en-US" dirty="0"/>
              <a:t>Path queries: given relation </a:t>
            </a:r>
            <a:r>
              <a:rPr lang="en-US" dirty="0">
                <a:solidFill>
                  <a:schemeClr val="accent6"/>
                </a:solidFill>
              </a:rPr>
              <a:t>edge(from, to, distance)</a:t>
            </a:r>
            <a:r>
              <a:rPr lang="en-US" dirty="0"/>
              <a:t>, compute shortest path from A to B</a:t>
            </a:r>
          </a:p>
          <a:p>
            <a:pPr>
              <a:spcBef>
                <a:spcPts val="600"/>
              </a:spcBef>
              <a:spcAft>
                <a:spcPts val="600"/>
              </a:spcAft>
            </a:pPr>
            <a:r>
              <a:rPr lang="en-US" dirty="0"/>
              <a:t>Challenges</a:t>
            </a:r>
          </a:p>
          <a:p>
            <a:pPr lvl="1">
              <a:spcBef>
                <a:spcPts val="600"/>
              </a:spcBef>
              <a:spcAft>
                <a:spcPts val="600"/>
              </a:spcAft>
            </a:pPr>
            <a:r>
              <a:rPr lang="en-US" dirty="0">
                <a:ea typeface="ＭＳ Ｐゴシック" pitchFamily="34" charset="-128"/>
              </a:rPr>
              <a:t>Without recursion, a non-recursive non-iterative program can perform only a fixed number of joins with itself</a:t>
            </a:r>
            <a:endParaRPr lang="en-US" dirty="0"/>
          </a:p>
        </p:txBody>
      </p:sp>
      <p:sp>
        <p:nvSpPr>
          <p:cNvPr id="4" name="TextBox 3">
            <a:extLst>
              <a:ext uri="{FF2B5EF4-FFF2-40B4-BE49-F238E27FC236}">
                <a16:creationId xmlns:a16="http://schemas.microsoft.com/office/drawing/2014/main" id="{052A7894-2F81-EFBC-AF8D-6BC96E9DBA70}"/>
              </a:ext>
            </a:extLst>
          </p:cNvPr>
          <p:cNvSpPr txBox="1">
            <a:spLocks noChangeArrowheads="1"/>
          </p:cNvSpPr>
          <p:nvPr/>
        </p:nvSpPr>
        <p:spPr bwMode="auto">
          <a:xfrm>
            <a:off x="76200" y="6430064"/>
            <a:ext cx="200048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Recursive queries</a:t>
            </a:r>
          </a:p>
        </p:txBody>
      </p:sp>
    </p:spTree>
    <p:extLst>
      <p:ext uri="{BB962C8B-B14F-4D97-AF65-F5344CB8AC3E}">
        <p14:creationId xmlns:p14="http://schemas.microsoft.com/office/powerpoint/2010/main" val="63096887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Recursive queries in SQL:1999</a:t>
            </a:r>
          </a:p>
        </p:txBody>
      </p:sp>
      <p:sp>
        <p:nvSpPr>
          <p:cNvPr id="3" name="Content Placeholder 2"/>
          <p:cNvSpPr>
            <a:spLocks noGrp="1"/>
          </p:cNvSpPr>
          <p:nvPr>
            <p:ph idx="1"/>
          </p:nvPr>
        </p:nvSpPr>
        <p:spPr/>
        <p:txBody>
          <a:bodyPr/>
          <a:lstStyle/>
          <a:p>
            <a:r>
              <a:rPr lang="en-US" dirty="0"/>
              <a:t>Prior to the SQL:1999 standard, the limitations of SQL to handle self-referencing relationships were well known: “Bill of materials” and “Traveling Salesman”.</a:t>
            </a:r>
          </a:p>
          <a:p>
            <a:r>
              <a:rPr lang="en-US" dirty="0"/>
              <a:t>Recursive SQL in SQL:1999 not only provides navigating self-referencing relationships, but also introducing a looping construct (similar to a DO WHILE loop) in SQL</a:t>
            </a:r>
          </a:p>
          <a:p>
            <a:r>
              <a:rPr lang="en-US" dirty="0"/>
              <a:t>Constructs to support recursive queries</a:t>
            </a:r>
          </a:p>
          <a:p>
            <a:pPr lvl="1"/>
            <a:r>
              <a:rPr lang="en-US" dirty="0"/>
              <a:t>Common Table Expression (CTE)</a:t>
            </a:r>
          </a:p>
          <a:p>
            <a:pPr lvl="1"/>
            <a:r>
              <a:rPr lang="en-US" dirty="0">
                <a:solidFill>
                  <a:schemeClr val="accent6"/>
                </a:solidFill>
              </a:rPr>
              <a:t>Recursive Common Table Expression (RCTE): </a:t>
            </a:r>
            <a:r>
              <a:rPr lang="en-US" dirty="0"/>
              <a:t>an extension of a CTE, that references itself</a:t>
            </a:r>
          </a:p>
          <a:p>
            <a:pPr lvl="1"/>
            <a:endParaRPr lang="en-US" sz="2000" dirty="0"/>
          </a:p>
        </p:txBody>
      </p:sp>
      <p:sp>
        <p:nvSpPr>
          <p:cNvPr id="5" name="TextBox 4">
            <a:extLst>
              <a:ext uri="{FF2B5EF4-FFF2-40B4-BE49-F238E27FC236}">
                <a16:creationId xmlns:a16="http://schemas.microsoft.com/office/drawing/2014/main" id="{0229DBCC-60D4-5A6D-83C9-E613310F0E9C}"/>
              </a:ext>
            </a:extLst>
          </p:cNvPr>
          <p:cNvSpPr txBox="1">
            <a:spLocks noChangeArrowheads="1"/>
          </p:cNvSpPr>
          <p:nvPr/>
        </p:nvSpPr>
        <p:spPr bwMode="auto">
          <a:xfrm>
            <a:off x="76200" y="6430064"/>
            <a:ext cx="200048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Recursive queries</a:t>
            </a:r>
          </a:p>
        </p:txBody>
      </p:sp>
    </p:spTree>
    <p:extLst>
      <p:ext uri="{BB962C8B-B14F-4D97-AF65-F5344CB8AC3E}">
        <p14:creationId xmlns:p14="http://schemas.microsoft.com/office/powerpoint/2010/main" val="249876255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10A4C-F11D-3BA0-ED2D-DF8766572F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0B6D7C-5777-CCE4-66CF-0DBB68AC25EC}"/>
              </a:ext>
            </a:extLst>
          </p:cNvPr>
          <p:cNvSpPr>
            <a:spLocks noGrp="1"/>
          </p:cNvSpPr>
          <p:nvPr>
            <p:ph type="title"/>
          </p:nvPr>
        </p:nvSpPr>
        <p:spPr/>
        <p:txBody>
          <a:bodyPr/>
          <a:lstStyle/>
          <a:p>
            <a:r>
              <a:rPr lang="en-US" dirty="0"/>
              <a:t>Example</a:t>
            </a:r>
          </a:p>
        </p:txBody>
      </p:sp>
      <p:sp>
        <p:nvSpPr>
          <p:cNvPr id="5" name="TextBox 4">
            <a:extLst>
              <a:ext uri="{FF2B5EF4-FFF2-40B4-BE49-F238E27FC236}">
                <a16:creationId xmlns:a16="http://schemas.microsoft.com/office/drawing/2014/main" id="{40885C59-6A74-97E1-2DDA-BBA3F2A405F2}"/>
              </a:ext>
            </a:extLst>
          </p:cNvPr>
          <p:cNvSpPr txBox="1"/>
          <p:nvPr/>
        </p:nvSpPr>
        <p:spPr>
          <a:xfrm>
            <a:off x="180547" y="762000"/>
            <a:ext cx="6601253" cy="3785652"/>
          </a:xfrm>
          <a:prstGeom prst="rect">
            <a:avLst/>
          </a:prstGeom>
          <a:solidFill>
            <a:schemeClr val="bg1"/>
          </a:solidFill>
          <a:ln>
            <a:solidFill>
              <a:schemeClr val="bg2"/>
            </a:solidFill>
          </a:ln>
          <a:effectLst>
            <a:outerShdw blurRad="50800" dist="63500" dir="2700000" algn="tl" rotWithShape="0">
              <a:prstClr val="black">
                <a:alpha val="40000"/>
              </a:prstClr>
            </a:outerShdw>
          </a:effectLst>
        </p:spPr>
        <p:txBody>
          <a:bodyPr wrap="square">
            <a:spAutoFit/>
          </a:bodyPr>
          <a:lstStyle>
            <a:defPPr>
              <a:defRPr lang="en-US"/>
            </a:defPPr>
            <a:lvl1pPr>
              <a:defRPr>
                <a:solidFill>
                  <a:srgbClr val="800000"/>
                </a:solidFill>
                <a:latin typeface="Consolas" panose="020B0609020204030204" pitchFamily="49" charset="0"/>
              </a:defRPr>
            </a:lvl1pPr>
          </a:lstStyle>
          <a:p>
            <a:pPr algn="l"/>
            <a:r>
              <a:rPr lang="en-US" sz="2000" dirty="0">
                <a:solidFill>
                  <a:srgbClr val="800000"/>
                </a:solidFill>
                <a:latin typeface="Consolas" panose="020B0609020204030204" pitchFamily="49" charset="0"/>
              </a:rPr>
              <a:t>CREATE</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TABLE</a:t>
            </a:r>
            <a:r>
              <a:rPr lang="en-US" sz="2000" dirty="0">
                <a:solidFill>
                  <a:srgbClr val="000000"/>
                </a:solidFill>
                <a:latin typeface="Consolas" panose="020B0609020204030204" pitchFamily="49" charset="0"/>
              </a:rPr>
              <a:t> </a:t>
            </a:r>
            <a:r>
              <a:rPr lang="en-US" sz="2000" b="1" dirty="0">
                <a:solidFill>
                  <a:srgbClr val="000000"/>
                </a:solidFill>
                <a:latin typeface="Consolas" panose="020B0609020204030204" pitchFamily="49" charset="0"/>
              </a:rPr>
              <a:t>assembly </a:t>
            </a:r>
            <a:r>
              <a:rPr lang="en-US" sz="2000" dirty="0">
                <a:solidFill>
                  <a:srgbClr val="000000"/>
                </a:solidFill>
                <a:latin typeface="Consolas" panose="020B0609020204030204" pitchFamily="49" charset="0"/>
              </a:rPr>
              <a:t>(</a:t>
            </a:r>
          </a:p>
          <a:p>
            <a:pPr algn="l"/>
            <a:r>
              <a:rPr lang="en-US" sz="2000" dirty="0">
                <a:solidFill>
                  <a:srgbClr val="000000"/>
                </a:solidFill>
                <a:latin typeface="Consolas" panose="020B0609020204030204" pitchFamily="49" charset="0"/>
              </a:rPr>
              <a:t>   part </a:t>
            </a:r>
            <a:r>
              <a:rPr lang="en-US" sz="2000" dirty="0">
                <a:solidFill>
                  <a:srgbClr val="800000"/>
                </a:solidFill>
                <a:latin typeface="Consolas" panose="020B0609020204030204" pitchFamily="49" charset="0"/>
              </a:rPr>
              <a:t>VARCHAR</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64</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NOT</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NULL</a:t>
            </a:r>
            <a:r>
              <a:rPr lang="en-US" sz="2000" dirty="0">
                <a:solidFill>
                  <a:srgbClr val="000000"/>
                </a:solidFill>
                <a:latin typeface="Consolas" panose="020B0609020204030204" pitchFamily="49" charset="0"/>
              </a:rPr>
              <a:t>,</a:t>
            </a:r>
          </a:p>
          <a:p>
            <a:pPr algn="l"/>
            <a:r>
              <a:rPr lang="en-US" sz="2000" dirty="0">
                <a:solidFill>
                  <a:srgbClr val="000000"/>
                </a:solidFill>
                <a:latin typeface="Consolas" panose="020B0609020204030204" pitchFamily="49" charset="0"/>
              </a:rPr>
              <a:t>   subpart </a:t>
            </a:r>
            <a:r>
              <a:rPr lang="en-US" sz="2000" dirty="0">
                <a:solidFill>
                  <a:srgbClr val="800000"/>
                </a:solidFill>
                <a:latin typeface="Consolas" panose="020B0609020204030204" pitchFamily="49" charset="0"/>
              </a:rPr>
              <a:t>VARCHAR</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64</a:t>
            </a:r>
            <a:r>
              <a:rPr lang="en-US" sz="2000" dirty="0">
                <a:solidFill>
                  <a:srgbClr val="000000"/>
                </a:solidFill>
                <a:latin typeface="Consolas" panose="020B0609020204030204" pitchFamily="49" charset="0"/>
              </a:rPr>
              <a:t>) )</a:t>
            </a:r>
            <a:r>
              <a:rPr lang="en-US" sz="2000" dirty="0">
                <a:solidFill>
                  <a:srgbClr val="FF0000"/>
                </a:solidFill>
                <a:latin typeface="Consolas" panose="020B0609020204030204" pitchFamily="49" charset="0"/>
              </a:rPr>
              <a:t>;</a:t>
            </a:r>
          </a:p>
          <a:p>
            <a:pPr algn="l"/>
            <a:endParaRPr lang="en-US" sz="2000" dirty="0">
              <a:solidFill>
                <a:srgbClr val="FF0000"/>
              </a:solidFill>
            </a:endParaRPr>
          </a:p>
          <a:p>
            <a:pPr algn="l"/>
            <a:endParaRPr lang="en-US" sz="2000" dirty="0">
              <a:latin typeface="Consolas" panose="020B0609020204030204" pitchFamily="49" charset="0"/>
            </a:endParaRPr>
          </a:p>
          <a:p>
            <a:pPr algn="l"/>
            <a:r>
              <a:rPr lang="en-US" sz="2000" dirty="0">
                <a:solidFill>
                  <a:srgbClr val="800000"/>
                </a:solidFill>
                <a:latin typeface="Consolas" panose="020B0609020204030204" pitchFamily="49" charset="0"/>
              </a:rPr>
              <a:t>INSERT</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INTO</a:t>
            </a:r>
            <a:r>
              <a:rPr lang="en-US" sz="2000" dirty="0">
                <a:solidFill>
                  <a:srgbClr val="000000"/>
                </a:solidFill>
                <a:latin typeface="Consolas" panose="020B0609020204030204" pitchFamily="49" charset="0"/>
              </a:rPr>
              <a:t> assembly </a:t>
            </a:r>
            <a:r>
              <a:rPr lang="en-US" sz="2000" dirty="0">
                <a:solidFill>
                  <a:srgbClr val="800000"/>
                </a:solidFill>
                <a:latin typeface="Consolas" panose="020B0609020204030204" pitchFamily="49" charset="0"/>
              </a:rPr>
              <a:t>VALUES</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'1'</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'1a'</a:t>
            </a:r>
            <a:r>
              <a:rPr lang="en-US" sz="2000" dirty="0">
                <a:solidFill>
                  <a:srgbClr val="000000"/>
                </a:solidFill>
                <a:latin typeface="Consolas" panose="020B0609020204030204" pitchFamily="49" charset="0"/>
              </a:rPr>
              <a:t>)</a:t>
            </a:r>
            <a:r>
              <a:rPr lang="en-US" sz="2000" dirty="0">
                <a:solidFill>
                  <a:srgbClr val="FF0000"/>
                </a:solidFill>
                <a:latin typeface="Consolas" panose="020B0609020204030204" pitchFamily="49" charset="0"/>
              </a:rPr>
              <a:t>;</a:t>
            </a:r>
          </a:p>
          <a:p>
            <a:pPr algn="l"/>
            <a:r>
              <a:rPr lang="en-US" sz="2000" dirty="0">
                <a:solidFill>
                  <a:srgbClr val="800000"/>
                </a:solidFill>
                <a:latin typeface="Consolas" panose="020B0609020204030204" pitchFamily="49" charset="0"/>
              </a:rPr>
              <a:t>INSERT</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INTO</a:t>
            </a:r>
            <a:r>
              <a:rPr lang="en-US" sz="2000" dirty="0">
                <a:solidFill>
                  <a:srgbClr val="000000"/>
                </a:solidFill>
                <a:latin typeface="Consolas" panose="020B0609020204030204" pitchFamily="49" charset="0"/>
              </a:rPr>
              <a:t> assembly </a:t>
            </a:r>
            <a:r>
              <a:rPr lang="en-US" sz="2000" dirty="0">
                <a:solidFill>
                  <a:srgbClr val="800000"/>
                </a:solidFill>
                <a:latin typeface="Consolas" panose="020B0609020204030204" pitchFamily="49" charset="0"/>
              </a:rPr>
              <a:t>VALUES</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'1'</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'1b'</a:t>
            </a:r>
            <a:r>
              <a:rPr lang="en-US" sz="2000" dirty="0">
                <a:solidFill>
                  <a:srgbClr val="000000"/>
                </a:solidFill>
                <a:latin typeface="Consolas" panose="020B0609020204030204" pitchFamily="49" charset="0"/>
              </a:rPr>
              <a:t>)</a:t>
            </a:r>
            <a:r>
              <a:rPr lang="en-US" sz="2000" dirty="0">
                <a:solidFill>
                  <a:srgbClr val="FF0000"/>
                </a:solidFill>
                <a:latin typeface="Consolas" panose="020B0609020204030204" pitchFamily="49" charset="0"/>
              </a:rPr>
              <a:t>;</a:t>
            </a:r>
          </a:p>
          <a:p>
            <a:pPr algn="l"/>
            <a:r>
              <a:rPr lang="en-US" sz="2000" dirty="0">
                <a:solidFill>
                  <a:srgbClr val="800000"/>
                </a:solidFill>
                <a:latin typeface="Consolas" panose="020B0609020204030204" pitchFamily="49" charset="0"/>
              </a:rPr>
              <a:t>INSERT</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INTO</a:t>
            </a:r>
            <a:r>
              <a:rPr lang="en-US" sz="2000" dirty="0">
                <a:solidFill>
                  <a:srgbClr val="000000"/>
                </a:solidFill>
                <a:latin typeface="Consolas" panose="020B0609020204030204" pitchFamily="49" charset="0"/>
              </a:rPr>
              <a:t> assembly </a:t>
            </a:r>
            <a:r>
              <a:rPr lang="en-US" sz="2000" dirty="0">
                <a:solidFill>
                  <a:srgbClr val="800000"/>
                </a:solidFill>
                <a:latin typeface="Consolas" panose="020B0609020204030204" pitchFamily="49" charset="0"/>
              </a:rPr>
              <a:t>VALUES</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'1a'</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'1aC'</a:t>
            </a:r>
            <a:r>
              <a:rPr lang="en-US" sz="2000" dirty="0">
                <a:solidFill>
                  <a:srgbClr val="000000"/>
                </a:solidFill>
                <a:latin typeface="Consolas" panose="020B0609020204030204" pitchFamily="49" charset="0"/>
              </a:rPr>
              <a:t>)</a:t>
            </a:r>
            <a:r>
              <a:rPr lang="en-US" sz="2000" dirty="0">
                <a:solidFill>
                  <a:srgbClr val="FF0000"/>
                </a:solidFill>
                <a:latin typeface="Consolas" panose="020B0609020204030204" pitchFamily="49" charset="0"/>
              </a:rPr>
              <a:t>;</a:t>
            </a:r>
          </a:p>
          <a:p>
            <a:pPr algn="l"/>
            <a:r>
              <a:rPr lang="en-US" sz="2000" dirty="0">
                <a:solidFill>
                  <a:srgbClr val="800000"/>
                </a:solidFill>
                <a:latin typeface="Consolas" panose="020B0609020204030204" pitchFamily="49" charset="0"/>
              </a:rPr>
              <a:t>INSERT</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INTO</a:t>
            </a:r>
            <a:r>
              <a:rPr lang="en-US" sz="2000" dirty="0">
                <a:solidFill>
                  <a:srgbClr val="000000"/>
                </a:solidFill>
                <a:latin typeface="Consolas" panose="020B0609020204030204" pitchFamily="49" charset="0"/>
              </a:rPr>
              <a:t> assembly </a:t>
            </a:r>
            <a:r>
              <a:rPr lang="en-US" sz="2000" dirty="0">
                <a:solidFill>
                  <a:srgbClr val="800000"/>
                </a:solidFill>
                <a:latin typeface="Consolas" panose="020B0609020204030204" pitchFamily="49" charset="0"/>
              </a:rPr>
              <a:t>VALUES</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'1a'</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'1aD'</a:t>
            </a:r>
            <a:r>
              <a:rPr lang="en-US" sz="2000" dirty="0">
                <a:solidFill>
                  <a:srgbClr val="000000"/>
                </a:solidFill>
                <a:latin typeface="Consolas" panose="020B0609020204030204" pitchFamily="49" charset="0"/>
              </a:rPr>
              <a:t>)</a:t>
            </a:r>
            <a:r>
              <a:rPr lang="en-US" sz="2000" dirty="0">
                <a:solidFill>
                  <a:srgbClr val="FF0000"/>
                </a:solidFill>
                <a:latin typeface="Consolas" panose="020B0609020204030204" pitchFamily="49" charset="0"/>
              </a:rPr>
              <a:t>;</a:t>
            </a:r>
          </a:p>
          <a:p>
            <a:pPr algn="l"/>
            <a:r>
              <a:rPr lang="en-US" sz="2000" dirty="0">
                <a:solidFill>
                  <a:srgbClr val="800000"/>
                </a:solidFill>
                <a:latin typeface="Consolas" panose="020B0609020204030204" pitchFamily="49" charset="0"/>
              </a:rPr>
              <a:t>INSERT</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INTO</a:t>
            </a:r>
            <a:r>
              <a:rPr lang="en-US" sz="2000" dirty="0">
                <a:solidFill>
                  <a:srgbClr val="000000"/>
                </a:solidFill>
                <a:latin typeface="Consolas" panose="020B0609020204030204" pitchFamily="49" charset="0"/>
              </a:rPr>
              <a:t> assembly </a:t>
            </a:r>
            <a:r>
              <a:rPr lang="en-US" sz="2000" dirty="0">
                <a:solidFill>
                  <a:srgbClr val="800000"/>
                </a:solidFill>
                <a:latin typeface="Consolas" panose="020B0609020204030204" pitchFamily="49" charset="0"/>
              </a:rPr>
              <a:t>VALUES</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'1b'</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'1bE'</a:t>
            </a:r>
            <a:r>
              <a:rPr lang="en-US" sz="2000" dirty="0">
                <a:solidFill>
                  <a:srgbClr val="000000"/>
                </a:solidFill>
                <a:latin typeface="Consolas" panose="020B0609020204030204" pitchFamily="49" charset="0"/>
              </a:rPr>
              <a:t>)</a:t>
            </a:r>
            <a:r>
              <a:rPr lang="en-US" sz="2000" dirty="0">
                <a:solidFill>
                  <a:srgbClr val="FF0000"/>
                </a:solidFill>
                <a:latin typeface="Consolas" panose="020B0609020204030204" pitchFamily="49" charset="0"/>
              </a:rPr>
              <a:t>;</a:t>
            </a:r>
          </a:p>
          <a:p>
            <a:pPr algn="l"/>
            <a:r>
              <a:rPr lang="en-US" sz="2000" dirty="0">
                <a:solidFill>
                  <a:srgbClr val="800000"/>
                </a:solidFill>
                <a:latin typeface="Consolas" panose="020B0609020204030204" pitchFamily="49" charset="0"/>
              </a:rPr>
              <a:t>INSERT</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INTO</a:t>
            </a:r>
            <a:r>
              <a:rPr lang="en-US" sz="2000" dirty="0">
                <a:solidFill>
                  <a:srgbClr val="000000"/>
                </a:solidFill>
                <a:latin typeface="Consolas" panose="020B0609020204030204" pitchFamily="49" charset="0"/>
              </a:rPr>
              <a:t> assembly </a:t>
            </a:r>
            <a:r>
              <a:rPr lang="en-US" sz="2000" dirty="0">
                <a:solidFill>
                  <a:srgbClr val="800000"/>
                </a:solidFill>
                <a:latin typeface="Consolas" panose="020B0609020204030204" pitchFamily="49" charset="0"/>
              </a:rPr>
              <a:t>VALUES</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'1b'</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'1bF'</a:t>
            </a:r>
            <a:r>
              <a:rPr lang="en-US" sz="2000" dirty="0">
                <a:solidFill>
                  <a:srgbClr val="000000"/>
                </a:solidFill>
                <a:latin typeface="Consolas" panose="020B0609020204030204" pitchFamily="49" charset="0"/>
              </a:rPr>
              <a:t>)</a:t>
            </a:r>
            <a:r>
              <a:rPr lang="en-US" sz="2000" dirty="0">
                <a:solidFill>
                  <a:srgbClr val="FF0000"/>
                </a:solidFill>
                <a:latin typeface="Consolas" panose="020B0609020204030204" pitchFamily="49" charset="0"/>
              </a:rPr>
              <a:t>;</a:t>
            </a:r>
          </a:p>
          <a:p>
            <a:pPr algn="l"/>
            <a:r>
              <a:rPr lang="en-US" sz="2000" dirty="0">
                <a:solidFill>
                  <a:srgbClr val="800000"/>
                </a:solidFill>
                <a:latin typeface="Consolas" panose="020B0609020204030204" pitchFamily="49" charset="0"/>
              </a:rPr>
              <a:t>INSERT</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INTO</a:t>
            </a:r>
            <a:r>
              <a:rPr lang="en-US" sz="2000" dirty="0">
                <a:solidFill>
                  <a:srgbClr val="000000"/>
                </a:solidFill>
                <a:latin typeface="Consolas" panose="020B0609020204030204" pitchFamily="49" charset="0"/>
              </a:rPr>
              <a:t> assembly </a:t>
            </a:r>
            <a:r>
              <a:rPr lang="en-US" sz="2000" dirty="0">
                <a:solidFill>
                  <a:srgbClr val="800000"/>
                </a:solidFill>
                <a:latin typeface="Consolas" panose="020B0609020204030204" pitchFamily="49" charset="0"/>
              </a:rPr>
              <a:t>VALUES</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'1aC'</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'1aCx'</a:t>
            </a:r>
            <a:r>
              <a:rPr lang="en-US" sz="2000" dirty="0">
                <a:solidFill>
                  <a:srgbClr val="000000"/>
                </a:solidFill>
                <a:latin typeface="Consolas" panose="020B0609020204030204" pitchFamily="49" charset="0"/>
              </a:rPr>
              <a:t>)</a:t>
            </a:r>
            <a:r>
              <a:rPr lang="en-US" sz="2000" dirty="0">
                <a:solidFill>
                  <a:srgbClr val="FF0000"/>
                </a:solidFill>
                <a:latin typeface="Consolas" panose="020B0609020204030204" pitchFamily="49" charset="0"/>
              </a:rPr>
              <a:t>;</a:t>
            </a:r>
            <a:endParaRPr lang="en-US" sz="2000" dirty="0"/>
          </a:p>
        </p:txBody>
      </p:sp>
      <p:graphicFrame>
        <p:nvGraphicFramePr>
          <p:cNvPr id="9" name="Diagram 8">
            <a:extLst>
              <a:ext uri="{FF2B5EF4-FFF2-40B4-BE49-F238E27FC236}">
                <a16:creationId xmlns:a16="http://schemas.microsoft.com/office/drawing/2014/main" id="{593ABDC9-CEAB-BB5F-21DC-A34C1DA5CB45}"/>
              </a:ext>
            </a:extLst>
          </p:cNvPr>
          <p:cNvGraphicFramePr/>
          <p:nvPr>
            <p:extLst>
              <p:ext uri="{D42A27DB-BD31-4B8C-83A1-F6EECF244321}">
                <p14:modId xmlns:p14="http://schemas.microsoft.com/office/powerpoint/2010/main" val="613488688"/>
              </p:ext>
            </p:extLst>
          </p:nvPr>
        </p:nvGraphicFramePr>
        <p:xfrm>
          <a:off x="7010400" y="1007113"/>
          <a:ext cx="5588000" cy="34713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5646002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a:extLst>
              <a:ext uri="{FF2B5EF4-FFF2-40B4-BE49-F238E27FC236}">
                <a16:creationId xmlns:a16="http://schemas.microsoft.com/office/drawing/2014/main" id="{5A12A361-75C5-0BD2-84D0-565A90D82ABB}"/>
              </a:ext>
            </a:extLst>
          </p:cNvPr>
          <p:cNvGraphicFramePr>
            <a:graphicFrameLocks noChangeAspect="1"/>
          </p:cNvGraphicFramePr>
          <p:nvPr>
            <p:extLst>
              <p:ext uri="{D42A27DB-BD31-4B8C-83A1-F6EECF244321}">
                <p14:modId xmlns:p14="http://schemas.microsoft.com/office/powerpoint/2010/main" val="148191759"/>
              </p:ext>
            </p:extLst>
          </p:nvPr>
        </p:nvGraphicFramePr>
        <p:xfrm>
          <a:off x="7543800" y="2589844"/>
          <a:ext cx="4572000" cy="1678311"/>
        </p:xfrm>
        <a:graphic>
          <a:graphicData uri="http://schemas.openxmlformats.org/presentationml/2006/ole">
            <mc:AlternateContent xmlns:mc="http://schemas.openxmlformats.org/markup-compatibility/2006">
              <mc:Choice xmlns:v="urn:schemas-microsoft-com:vml" Requires="v">
                <p:oleObj name="Image" r:id="rId3" imgW="5064828" imgH="1859190" progId="Photoshop.Image.18">
                  <p:embed/>
                </p:oleObj>
              </mc:Choice>
              <mc:Fallback>
                <p:oleObj name="Image" r:id="rId3" imgW="5064828" imgH="1859190" progId="Photoshop.Image.18">
                  <p:embed/>
                  <p:pic>
                    <p:nvPicPr>
                      <p:cNvPr id="0" name=""/>
                      <p:cNvPicPr/>
                      <p:nvPr/>
                    </p:nvPicPr>
                    <p:blipFill>
                      <a:blip r:embed="rId4"/>
                      <a:stretch>
                        <a:fillRect/>
                      </a:stretch>
                    </p:blipFill>
                    <p:spPr>
                      <a:xfrm>
                        <a:off x="7543800" y="2589844"/>
                        <a:ext cx="4572000" cy="1678311"/>
                      </a:xfrm>
                      <a:prstGeom prst="rect">
                        <a:avLst/>
                      </a:prstGeom>
                    </p:spPr>
                  </p:pic>
                </p:oleObj>
              </mc:Fallback>
            </mc:AlternateContent>
          </a:graphicData>
        </a:graphic>
      </p:graphicFrame>
      <p:sp>
        <p:nvSpPr>
          <p:cNvPr id="39" name="Title 38"/>
          <p:cNvSpPr>
            <a:spLocks noGrp="1"/>
          </p:cNvSpPr>
          <p:nvPr>
            <p:ph type="title"/>
          </p:nvPr>
        </p:nvSpPr>
        <p:spPr/>
        <p:txBody>
          <a:bodyPr/>
          <a:lstStyle/>
          <a:p>
            <a:r>
              <a:rPr lang="en-US" dirty="0"/>
              <a:t>Example Recursive Queries </a:t>
            </a:r>
          </a:p>
        </p:txBody>
      </p:sp>
      <p:sp>
        <p:nvSpPr>
          <p:cNvPr id="2" name="TextBox 1">
            <a:extLst>
              <a:ext uri="{FF2B5EF4-FFF2-40B4-BE49-F238E27FC236}">
                <a16:creationId xmlns:a16="http://schemas.microsoft.com/office/drawing/2014/main" id="{9F32D898-B500-0677-BD74-239E0F369C9C}"/>
              </a:ext>
            </a:extLst>
          </p:cNvPr>
          <p:cNvSpPr txBox="1">
            <a:spLocks noChangeArrowheads="1"/>
          </p:cNvSpPr>
          <p:nvPr/>
        </p:nvSpPr>
        <p:spPr bwMode="auto">
          <a:xfrm>
            <a:off x="76200" y="6430064"/>
            <a:ext cx="200048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Recursive queries</a:t>
            </a:r>
          </a:p>
        </p:txBody>
      </p:sp>
      <p:sp>
        <p:nvSpPr>
          <p:cNvPr id="5" name="TextBox 4">
            <a:extLst>
              <a:ext uri="{FF2B5EF4-FFF2-40B4-BE49-F238E27FC236}">
                <a16:creationId xmlns:a16="http://schemas.microsoft.com/office/drawing/2014/main" id="{8B040A8E-D5B7-7C65-869E-38ECF875B774}"/>
              </a:ext>
            </a:extLst>
          </p:cNvPr>
          <p:cNvSpPr txBox="1"/>
          <p:nvPr/>
        </p:nvSpPr>
        <p:spPr>
          <a:xfrm>
            <a:off x="76200" y="1905000"/>
            <a:ext cx="7543800" cy="3960058"/>
          </a:xfrm>
          <a:prstGeom prst="rect">
            <a:avLst/>
          </a:prstGeom>
          <a:solidFill>
            <a:schemeClr val="bg1"/>
          </a:solidFill>
          <a:ln w="12700">
            <a:solidFill>
              <a:schemeClr val="bg2"/>
            </a:solidFill>
          </a:ln>
          <a:effectLst>
            <a:outerShdw blurRad="76200" dist="76200" dir="2700000" algn="tl" rotWithShape="0">
              <a:prstClr val="black">
                <a:alpha val="40000"/>
              </a:prstClr>
            </a:outerShdw>
          </a:effectLst>
        </p:spPr>
        <p:txBody>
          <a:bodyPr wrap="square">
            <a:spAutoFit/>
          </a:bodyPr>
          <a:lstStyle/>
          <a:p>
            <a:pPr algn="l">
              <a:spcBef>
                <a:spcPts val="200"/>
              </a:spcBef>
            </a:pPr>
            <a:r>
              <a:rPr lang="en-US" sz="2400" b="1" dirty="0">
                <a:solidFill>
                  <a:schemeClr val="accent6"/>
                </a:solidFill>
                <a:latin typeface="Consolas" panose="020B0609020204030204" pitchFamily="49" charset="0"/>
              </a:rPr>
              <a:t>WITH RECURSIVE </a:t>
            </a:r>
            <a:r>
              <a:rPr lang="en-US" sz="2400" dirty="0">
                <a:solidFill>
                  <a:srgbClr val="FF0000"/>
                </a:solidFill>
                <a:latin typeface="Consolas" panose="020B0609020204030204" pitchFamily="49" charset="0"/>
              </a:rPr>
              <a:t>all_super </a:t>
            </a:r>
            <a:r>
              <a:rPr lang="en-US" sz="2400" dirty="0">
                <a:solidFill>
                  <a:srgbClr val="000000"/>
                </a:solidFill>
                <a:latin typeface="Consolas" panose="020B0609020204030204" pitchFamily="49" charset="0"/>
              </a:rPr>
              <a:t>(major, minor) </a:t>
            </a:r>
            <a:r>
              <a:rPr lang="en-US" sz="2400" b="1" dirty="0">
                <a:solidFill>
                  <a:srgbClr val="800000"/>
                </a:solidFill>
                <a:latin typeface="Consolas" panose="020B0609020204030204" pitchFamily="49" charset="0"/>
              </a:rPr>
              <a:t>AS</a:t>
            </a:r>
          </a:p>
          <a:p>
            <a:pPr algn="l">
              <a:spcBef>
                <a:spcPts val="200"/>
              </a:spcBef>
            </a:pPr>
            <a:r>
              <a:rPr lang="en-US" sz="2400" b="1" dirty="0">
                <a:solidFill>
                  <a:srgbClr val="000000"/>
                </a:solidFill>
                <a:latin typeface="Consolas" panose="020B0609020204030204" pitchFamily="49" charset="0"/>
              </a:rPr>
              <a:t> (  </a:t>
            </a:r>
            <a:r>
              <a:rPr lang="en-US" sz="2400" b="1" dirty="0">
                <a:solidFill>
                  <a:srgbClr val="800000"/>
                </a:solidFill>
                <a:latin typeface="Consolas" panose="020B0609020204030204" pitchFamily="49" charset="0"/>
              </a:rPr>
              <a:t>SELECT</a:t>
            </a:r>
            <a:r>
              <a:rPr lang="en-US" sz="2400" b="1" dirty="0">
                <a:solidFill>
                  <a:srgbClr val="000000"/>
                </a:solidFill>
                <a:latin typeface="Consolas" panose="020B0609020204030204" pitchFamily="49" charset="0"/>
              </a:rPr>
              <a:t> </a:t>
            </a:r>
            <a:r>
              <a:rPr lang="en-US" sz="2400" dirty="0">
                <a:solidFill>
                  <a:srgbClr val="000000"/>
                </a:solidFill>
                <a:latin typeface="Consolas" panose="020B0609020204030204" pitchFamily="49" charset="0"/>
              </a:rPr>
              <a:t>part, subpart</a:t>
            </a:r>
          </a:p>
          <a:p>
            <a:pPr algn="l">
              <a:spcBef>
                <a:spcPts val="200"/>
              </a:spcBef>
            </a:pPr>
            <a:r>
              <a:rPr lang="en-US" sz="2400" b="1" dirty="0">
                <a:solidFill>
                  <a:srgbClr val="000000"/>
                </a:solidFill>
                <a:latin typeface="Consolas" panose="020B0609020204030204" pitchFamily="49" charset="0"/>
              </a:rPr>
              <a:t>    </a:t>
            </a:r>
            <a:r>
              <a:rPr lang="en-US" sz="2400" b="1" dirty="0">
                <a:solidFill>
                  <a:srgbClr val="800000"/>
                </a:solidFill>
                <a:latin typeface="Consolas" panose="020B0609020204030204" pitchFamily="49" charset="0"/>
              </a:rPr>
              <a:t>FROM</a:t>
            </a:r>
            <a:r>
              <a:rPr lang="en-US" sz="2400" b="1" dirty="0">
                <a:solidFill>
                  <a:srgbClr val="000000"/>
                </a:solidFill>
                <a:latin typeface="Consolas" panose="020B0609020204030204" pitchFamily="49" charset="0"/>
              </a:rPr>
              <a:t> </a:t>
            </a:r>
            <a:r>
              <a:rPr lang="en-US" sz="2400" dirty="0">
                <a:solidFill>
                  <a:srgbClr val="A9711A"/>
                </a:solidFill>
                <a:latin typeface="Consolas" panose="020B0609020204030204" pitchFamily="49" charset="0"/>
              </a:rPr>
              <a:t>assembly</a:t>
            </a:r>
          </a:p>
          <a:p>
            <a:pPr algn="l">
              <a:spcBef>
                <a:spcPts val="600"/>
              </a:spcBef>
              <a:spcAft>
                <a:spcPts val="600"/>
              </a:spcAft>
            </a:pPr>
            <a:r>
              <a:rPr lang="en-US" sz="2400" b="1" dirty="0">
                <a:solidFill>
                  <a:srgbClr val="A9711A"/>
                </a:solidFill>
                <a:latin typeface="Consolas" panose="020B0609020204030204" pitchFamily="49" charset="0"/>
              </a:rPr>
              <a:t>   </a:t>
            </a:r>
            <a:r>
              <a:rPr lang="en-US" sz="2400" b="1" dirty="0">
                <a:solidFill>
                  <a:srgbClr val="000000"/>
                </a:solidFill>
                <a:latin typeface="Consolas" panose="020B0609020204030204" pitchFamily="49" charset="0"/>
              </a:rPr>
              <a:t>   </a:t>
            </a:r>
            <a:r>
              <a:rPr lang="en-US" sz="2400" b="1" dirty="0">
                <a:solidFill>
                  <a:schemeClr val="accent6"/>
                </a:solidFill>
                <a:latin typeface="Consolas" panose="020B0609020204030204" pitchFamily="49" charset="0"/>
              </a:rPr>
              <a:t>UNION ALL</a:t>
            </a:r>
          </a:p>
          <a:p>
            <a:pPr algn="l">
              <a:spcBef>
                <a:spcPts val="200"/>
              </a:spcBef>
            </a:pPr>
            <a:r>
              <a:rPr lang="en-US" sz="2400" b="1" dirty="0">
                <a:solidFill>
                  <a:srgbClr val="000000"/>
                </a:solidFill>
                <a:latin typeface="Consolas" panose="020B0609020204030204" pitchFamily="49" charset="0"/>
              </a:rPr>
              <a:t>    </a:t>
            </a:r>
            <a:r>
              <a:rPr lang="en-US" sz="2400" b="1" dirty="0">
                <a:solidFill>
                  <a:srgbClr val="800000"/>
                </a:solidFill>
                <a:latin typeface="Consolas" panose="020B0609020204030204" pitchFamily="49" charset="0"/>
              </a:rPr>
              <a:t>SELECT</a:t>
            </a:r>
            <a:r>
              <a:rPr lang="en-US" sz="2400" b="1"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assb.part</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alls.minor</a:t>
            </a:r>
            <a:endParaRPr lang="en-US" sz="2400" dirty="0">
              <a:solidFill>
                <a:srgbClr val="000000"/>
              </a:solidFill>
              <a:latin typeface="Consolas" panose="020B0609020204030204" pitchFamily="49" charset="0"/>
            </a:endParaRPr>
          </a:p>
          <a:p>
            <a:pPr algn="l">
              <a:spcBef>
                <a:spcPts val="200"/>
              </a:spcBef>
            </a:pPr>
            <a:r>
              <a:rPr lang="en-US" sz="2400" b="1" dirty="0">
                <a:solidFill>
                  <a:srgbClr val="000000"/>
                </a:solidFill>
                <a:latin typeface="Consolas" panose="020B0609020204030204" pitchFamily="49" charset="0"/>
              </a:rPr>
              <a:t>    </a:t>
            </a:r>
            <a:r>
              <a:rPr lang="en-US" sz="2400" b="1" dirty="0">
                <a:solidFill>
                  <a:srgbClr val="800000"/>
                </a:solidFill>
                <a:latin typeface="Consolas" panose="020B0609020204030204" pitchFamily="49" charset="0"/>
              </a:rPr>
              <a:t>FROM</a:t>
            </a:r>
            <a:r>
              <a:rPr lang="en-US" sz="2400" dirty="0">
                <a:solidFill>
                  <a:srgbClr val="000000"/>
                </a:solidFill>
                <a:latin typeface="Consolas" panose="020B0609020204030204" pitchFamily="49" charset="0"/>
              </a:rPr>
              <a:t> </a:t>
            </a:r>
            <a:r>
              <a:rPr lang="en-US" sz="2400" dirty="0">
                <a:solidFill>
                  <a:srgbClr val="A9711A"/>
                </a:solidFill>
                <a:latin typeface="Consolas" panose="020B0609020204030204" pitchFamily="49" charset="0"/>
              </a:rPr>
              <a:t>assembly</a:t>
            </a:r>
            <a:r>
              <a:rPr lang="en-US" sz="2400" dirty="0">
                <a:solidFill>
                  <a:srgbClr val="000000"/>
                </a:solidFill>
                <a:latin typeface="Consolas" panose="020B0609020204030204" pitchFamily="49" charset="0"/>
              </a:rPr>
              <a:t> </a:t>
            </a:r>
            <a:r>
              <a:rPr lang="en-US" sz="2400" b="1" dirty="0">
                <a:solidFill>
                  <a:srgbClr val="800000"/>
                </a:solidFill>
                <a:latin typeface="Consolas" panose="020B0609020204030204" pitchFamily="49" charset="0"/>
              </a:rPr>
              <a:t>AS</a:t>
            </a:r>
            <a:r>
              <a:rPr lang="en-US" sz="2400" b="1"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assb,</a:t>
            </a:r>
            <a:r>
              <a:rPr lang="en-US" sz="2400" dirty="0" err="1">
                <a:solidFill>
                  <a:srgbClr val="FF0000"/>
                </a:solidFill>
                <a:latin typeface="Consolas" panose="020B0609020204030204" pitchFamily="49" charset="0"/>
              </a:rPr>
              <a:t>all_super</a:t>
            </a:r>
            <a:r>
              <a:rPr lang="en-US" sz="2400" dirty="0">
                <a:solidFill>
                  <a:srgbClr val="FF0000"/>
                </a:solidFill>
                <a:latin typeface="Consolas" panose="020B0609020204030204" pitchFamily="49" charset="0"/>
              </a:rPr>
              <a:t> </a:t>
            </a:r>
            <a:r>
              <a:rPr lang="en-US" sz="2400" b="1" dirty="0">
                <a:solidFill>
                  <a:srgbClr val="800000"/>
                </a:solidFill>
                <a:latin typeface="Consolas" panose="020B0609020204030204" pitchFamily="49" charset="0"/>
              </a:rPr>
              <a:t>AS</a:t>
            </a:r>
            <a:r>
              <a:rPr lang="en-US" sz="2400" b="1"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alls</a:t>
            </a:r>
            <a:endParaRPr lang="en-US" sz="2400" dirty="0">
              <a:solidFill>
                <a:srgbClr val="000000"/>
              </a:solidFill>
              <a:latin typeface="Consolas" panose="020B0609020204030204" pitchFamily="49" charset="0"/>
            </a:endParaRPr>
          </a:p>
          <a:p>
            <a:pPr algn="l">
              <a:spcBef>
                <a:spcPts val="200"/>
              </a:spcBef>
            </a:pPr>
            <a:r>
              <a:rPr lang="en-US" sz="2400" b="1" dirty="0">
                <a:solidFill>
                  <a:srgbClr val="000000"/>
                </a:solidFill>
                <a:latin typeface="Consolas" panose="020B0609020204030204" pitchFamily="49" charset="0"/>
              </a:rPr>
              <a:t>    </a:t>
            </a:r>
            <a:r>
              <a:rPr lang="en-US" sz="2400" b="1" dirty="0">
                <a:solidFill>
                  <a:srgbClr val="800000"/>
                </a:solidFill>
                <a:latin typeface="Consolas" panose="020B0609020204030204" pitchFamily="49" charset="0"/>
              </a:rPr>
              <a:t>WHERE</a:t>
            </a:r>
            <a:r>
              <a:rPr lang="en-US" sz="2400" b="1"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assb.subpart</a:t>
            </a:r>
            <a:r>
              <a:rPr lang="en-US" sz="2400" dirty="0">
                <a:solidFill>
                  <a:srgbClr val="000000"/>
                </a:solidFill>
                <a:latin typeface="Consolas" panose="020B0609020204030204" pitchFamily="49" charset="0"/>
              </a:rPr>
              <a:t> = </a:t>
            </a:r>
            <a:r>
              <a:rPr lang="en-US" sz="2400" dirty="0" err="1">
                <a:solidFill>
                  <a:srgbClr val="000000"/>
                </a:solidFill>
                <a:latin typeface="Consolas" panose="020B0609020204030204" pitchFamily="49" charset="0"/>
              </a:rPr>
              <a:t>alls.major</a:t>
            </a:r>
            <a:r>
              <a:rPr lang="en-US" sz="2400" b="1" dirty="0">
                <a:solidFill>
                  <a:srgbClr val="000000"/>
                </a:solidFill>
                <a:latin typeface="Consolas" panose="020B0609020204030204" pitchFamily="49" charset="0"/>
              </a:rPr>
              <a:t>)</a:t>
            </a:r>
          </a:p>
          <a:p>
            <a:pPr algn="l">
              <a:spcBef>
                <a:spcPts val="200"/>
              </a:spcBef>
            </a:pPr>
            <a:endParaRPr lang="en-US" sz="1100" b="1" dirty="0">
              <a:solidFill>
                <a:srgbClr val="800000"/>
              </a:solidFill>
              <a:latin typeface="Consolas" panose="020B0609020204030204" pitchFamily="49" charset="0"/>
            </a:endParaRPr>
          </a:p>
          <a:p>
            <a:pPr algn="l">
              <a:spcBef>
                <a:spcPts val="200"/>
              </a:spcBef>
            </a:pPr>
            <a:r>
              <a:rPr lang="en-US" sz="2400" b="1" dirty="0">
                <a:solidFill>
                  <a:srgbClr val="800000"/>
                </a:solidFill>
                <a:latin typeface="Consolas" panose="020B0609020204030204" pitchFamily="49" charset="0"/>
              </a:rPr>
              <a:t>SELECT</a:t>
            </a:r>
            <a:r>
              <a:rPr lang="en-US" sz="2400" b="1" dirty="0">
                <a:solidFill>
                  <a:srgbClr val="000000"/>
                </a:solidFill>
                <a:latin typeface="Consolas" panose="020B0609020204030204" pitchFamily="49" charset="0"/>
              </a:rPr>
              <a:t> *   </a:t>
            </a:r>
            <a:r>
              <a:rPr lang="en-US" sz="2400" b="1" dirty="0">
                <a:solidFill>
                  <a:srgbClr val="800000"/>
                </a:solidFill>
                <a:latin typeface="Consolas" panose="020B0609020204030204" pitchFamily="49" charset="0"/>
              </a:rPr>
              <a:t>FROM</a:t>
            </a:r>
            <a:r>
              <a:rPr lang="en-US" sz="2400" b="1" dirty="0">
                <a:solidFill>
                  <a:srgbClr val="000000"/>
                </a:solidFill>
                <a:latin typeface="Consolas" panose="020B0609020204030204" pitchFamily="49" charset="0"/>
              </a:rPr>
              <a:t> </a:t>
            </a:r>
            <a:r>
              <a:rPr lang="en-US" sz="2400" dirty="0">
                <a:solidFill>
                  <a:srgbClr val="000000"/>
                </a:solidFill>
                <a:latin typeface="Consolas" panose="020B0609020204030204" pitchFamily="49" charset="0"/>
              </a:rPr>
              <a:t>all_super</a:t>
            </a:r>
          </a:p>
          <a:p>
            <a:pPr algn="l">
              <a:spcBef>
                <a:spcPts val="200"/>
              </a:spcBef>
            </a:pPr>
            <a:r>
              <a:rPr lang="en-US" sz="2400" b="1" dirty="0">
                <a:solidFill>
                  <a:srgbClr val="800000"/>
                </a:solidFill>
                <a:latin typeface="Consolas" panose="020B0609020204030204" pitchFamily="49" charset="0"/>
              </a:rPr>
              <a:t>WHERE</a:t>
            </a:r>
            <a:r>
              <a:rPr lang="en-US" sz="2400" b="1" dirty="0">
                <a:solidFill>
                  <a:srgbClr val="000000"/>
                </a:solidFill>
                <a:latin typeface="Consolas" panose="020B0609020204030204" pitchFamily="49" charset="0"/>
              </a:rPr>
              <a:t> m</a:t>
            </a:r>
            <a:r>
              <a:rPr lang="en-US" sz="2400" dirty="0">
                <a:solidFill>
                  <a:srgbClr val="000000"/>
                </a:solidFill>
                <a:latin typeface="Consolas" panose="020B0609020204030204" pitchFamily="49" charset="0"/>
              </a:rPr>
              <a:t>inor = </a:t>
            </a:r>
            <a:r>
              <a:rPr lang="en-US" sz="2400" dirty="0">
                <a:solidFill>
                  <a:srgbClr val="008000"/>
                </a:solidFill>
                <a:latin typeface="Consolas" panose="020B0609020204030204" pitchFamily="49" charset="0"/>
              </a:rPr>
              <a:t>'1aCx’</a:t>
            </a:r>
            <a:r>
              <a:rPr lang="en-US" sz="2400" dirty="0">
                <a:solidFill>
                  <a:srgbClr val="FF0000"/>
                </a:solidFill>
                <a:latin typeface="Consolas" panose="020B0609020204030204" pitchFamily="49" charset="0"/>
              </a:rPr>
              <a:t>;</a:t>
            </a:r>
          </a:p>
        </p:txBody>
      </p:sp>
      <p:sp>
        <p:nvSpPr>
          <p:cNvPr id="6" name="TextBox 5">
            <a:extLst>
              <a:ext uri="{FF2B5EF4-FFF2-40B4-BE49-F238E27FC236}">
                <a16:creationId xmlns:a16="http://schemas.microsoft.com/office/drawing/2014/main" id="{9EEA2150-700C-1D4F-0632-4AF67A9BE8B4}"/>
              </a:ext>
            </a:extLst>
          </p:cNvPr>
          <p:cNvSpPr txBox="1"/>
          <p:nvPr/>
        </p:nvSpPr>
        <p:spPr>
          <a:xfrm>
            <a:off x="152400" y="838200"/>
            <a:ext cx="10775730" cy="830997"/>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rPr>
              <a:t>Find the parts using “top tube’ (i.e., ancestor parts of ‘</a:t>
            </a:r>
            <a:r>
              <a:rPr lang="en-US" sz="2400" dirty="0">
                <a:solidFill>
                  <a:srgbClr val="008000"/>
                </a:solidFill>
                <a:latin typeface="Verdana" panose="020B0604030504040204" pitchFamily="34" charset="0"/>
                <a:ea typeface="Verdana" panose="020B0604030504040204" pitchFamily="34" charset="0"/>
              </a:rPr>
              <a:t>1aCx</a:t>
            </a:r>
            <a:r>
              <a:rPr lang="en-US" sz="2400" dirty="0">
                <a:latin typeface="Verdana" panose="020B0604030504040204" pitchFamily="34" charset="0"/>
                <a:ea typeface="Verdana" panose="020B0604030504040204" pitchFamily="34" charset="0"/>
              </a:rPr>
              <a:t>’)</a:t>
            </a:r>
          </a:p>
          <a:p>
            <a:r>
              <a:rPr lang="en-US" sz="2400" dirty="0">
                <a:latin typeface="Verdana" panose="020B0604030504040204" pitchFamily="34" charset="0"/>
                <a:ea typeface="Verdana" panose="020B0604030504040204" pitchFamily="34" charset="0"/>
              </a:rPr>
              <a:t>from table </a:t>
            </a:r>
            <a:r>
              <a:rPr lang="en-US" sz="2400" dirty="0">
                <a:solidFill>
                  <a:srgbClr val="A9711A"/>
                </a:solidFill>
                <a:latin typeface="Verdana" panose="020B0604030504040204" pitchFamily="34" charset="0"/>
                <a:ea typeface="Verdana" panose="020B0604030504040204" pitchFamily="34" charset="0"/>
              </a:rPr>
              <a:t>assembly (part, subpart)</a:t>
            </a:r>
            <a:endParaRPr lang="en-US" sz="24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15918557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Recursive Queries  with IBM Db2 Syntax </a:t>
            </a:r>
          </a:p>
        </p:txBody>
      </p:sp>
      <p:sp>
        <p:nvSpPr>
          <p:cNvPr id="4" name="TextBox 3">
            <a:extLst>
              <a:ext uri="{FF2B5EF4-FFF2-40B4-BE49-F238E27FC236}">
                <a16:creationId xmlns:a16="http://schemas.microsoft.com/office/drawing/2014/main" id="{45456D18-4FFD-4284-A2E5-5C5EA125103A}"/>
              </a:ext>
            </a:extLst>
          </p:cNvPr>
          <p:cNvSpPr txBox="1"/>
          <p:nvPr/>
        </p:nvSpPr>
        <p:spPr>
          <a:xfrm>
            <a:off x="685800" y="5086290"/>
            <a:ext cx="3953326" cy="461665"/>
          </a:xfrm>
          <a:prstGeom prst="rect">
            <a:avLst/>
          </a:prstGeom>
          <a:noFill/>
        </p:spPr>
        <p:txBody>
          <a:bodyPr wrap="none" rtlCol="0">
            <a:spAutoFit/>
          </a:bodyPr>
          <a:lstStyle/>
          <a:p>
            <a:r>
              <a:rPr lang="en-US" sz="2400" dirty="0">
                <a:solidFill>
                  <a:srgbClr val="00B050"/>
                </a:solidFill>
              </a:rPr>
              <a:t>Recursive clause is ignored</a:t>
            </a:r>
          </a:p>
        </p:txBody>
      </p:sp>
      <p:sp>
        <p:nvSpPr>
          <p:cNvPr id="6" name="TextBox 5">
            <a:extLst>
              <a:ext uri="{FF2B5EF4-FFF2-40B4-BE49-F238E27FC236}">
                <a16:creationId xmlns:a16="http://schemas.microsoft.com/office/drawing/2014/main" id="{6896519D-DE09-34B8-9371-4715D41E0084}"/>
              </a:ext>
            </a:extLst>
          </p:cNvPr>
          <p:cNvSpPr txBox="1">
            <a:spLocks noChangeArrowheads="1"/>
          </p:cNvSpPr>
          <p:nvPr/>
        </p:nvSpPr>
        <p:spPr bwMode="auto">
          <a:xfrm>
            <a:off x="76200" y="6430064"/>
            <a:ext cx="200048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Recursive queries</a:t>
            </a:r>
          </a:p>
        </p:txBody>
      </p:sp>
      <p:sp>
        <p:nvSpPr>
          <p:cNvPr id="3" name="TextBox 2">
            <a:extLst>
              <a:ext uri="{FF2B5EF4-FFF2-40B4-BE49-F238E27FC236}">
                <a16:creationId xmlns:a16="http://schemas.microsoft.com/office/drawing/2014/main" id="{ADC5F520-0133-7BE2-4471-9732B6B91ACF}"/>
              </a:ext>
            </a:extLst>
          </p:cNvPr>
          <p:cNvSpPr txBox="1"/>
          <p:nvPr/>
        </p:nvSpPr>
        <p:spPr>
          <a:xfrm>
            <a:off x="609600" y="1082091"/>
            <a:ext cx="7543800" cy="3749744"/>
          </a:xfrm>
          <a:prstGeom prst="rect">
            <a:avLst/>
          </a:prstGeom>
          <a:solidFill>
            <a:schemeClr val="bg1"/>
          </a:solidFill>
          <a:ln w="12700">
            <a:solidFill>
              <a:schemeClr val="bg2"/>
            </a:solidFill>
          </a:ln>
          <a:effectLst>
            <a:outerShdw blurRad="76200" dist="76200" dir="2700000" algn="tl" rotWithShape="0">
              <a:prstClr val="black">
                <a:alpha val="40000"/>
              </a:prstClr>
            </a:outerShdw>
          </a:effectLst>
        </p:spPr>
        <p:txBody>
          <a:bodyPr wrap="square">
            <a:spAutoFit/>
          </a:bodyPr>
          <a:lstStyle/>
          <a:p>
            <a:pPr algn="l">
              <a:spcBef>
                <a:spcPts val="200"/>
              </a:spcBef>
            </a:pPr>
            <a:r>
              <a:rPr lang="en-US" sz="2400" b="1" dirty="0">
                <a:solidFill>
                  <a:schemeClr val="accent6"/>
                </a:solidFill>
                <a:latin typeface="Consolas" panose="020B0609020204030204" pitchFamily="49" charset="0"/>
              </a:rPr>
              <a:t>WITH </a:t>
            </a:r>
            <a:r>
              <a:rPr lang="en-US" sz="2400" dirty="0">
                <a:solidFill>
                  <a:srgbClr val="FF0000"/>
                </a:solidFill>
                <a:latin typeface="Consolas" panose="020B0609020204030204" pitchFamily="49" charset="0"/>
              </a:rPr>
              <a:t>all_super </a:t>
            </a:r>
            <a:r>
              <a:rPr lang="en-US" sz="2400" dirty="0">
                <a:solidFill>
                  <a:srgbClr val="000000"/>
                </a:solidFill>
                <a:latin typeface="Consolas" panose="020B0609020204030204" pitchFamily="49" charset="0"/>
              </a:rPr>
              <a:t>(major, minor) </a:t>
            </a:r>
            <a:r>
              <a:rPr lang="en-US" sz="2400" b="1" dirty="0">
                <a:solidFill>
                  <a:srgbClr val="800000"/>
                </a:solidFill>
                <a:latin typeface="Consolas" panose="020B0609020204030204" pitchFamily="49" charset="0"/>
              </a:rPr>
              <a:t>AS</a:t>
            </a:r>
          </a:p>
          <a:p>
            <a:pPr algn="l">
              <a:spcBef>
                <a:spcPts val="200"/>
              </a:spcBef>
            </a:pPr>
            <a:r>
              <a:rPr lang="en-US" sz="2400" b="1" dirty="0">
                <a:solidFill>
                  <a:srgbClr val="000000"/>
                </a:solidFill>
                <a:latin typeface="Consolas" panose="020B0609020204030204" pitchFamily="49" charset="0"/>
              </a:rPr>
              <a:t> (  </a:t>
            </a:r>
            <a:r>
              <a:rPr lang="en-US" sz="2400" b="1" dirty="0">
                <a:solidFill>
                  <a:srgbClr val="800000"/>
                </a:solidFill>
                <a:latin typeface="Consolas" panose="020B0609020204030204" pitchFamily="49" charset="0"/>
              </a:rPr>
              <a:t>SELECT</a:t>
            </a:r>
            <a:r>
              <a:rPr lang="en-US" sz="2400" b="1" dirty="0">
                <a:solidFill>
                  <a:srgbClr val="000000"/>
                </a:solidFill>
                <a:latin typeface="Consolas" panose="020B0609020204030204" pitchFamily="49" charset="0"/>
              </a:rPr>
              <a:t> </a:t>
            </a:r>
            <a:r>
              <a:rPr lang="en-US" sz="2400" dirty="0">
                <a:solidFill>
                  <a:srgbClr val="000000"/>
                </a:solidFill>
                <a:latin typeface="Consolas" panose="020B0609020204030204" pitchFamily="49" charset="0"/>
              </a:rPr>
              <a:t>part, subpart</a:t>
            </a:r>
          </a:p>
          <a:p>
            <a:pPr algn="l">
              <a:spcBef>
                <a:spcPts val="200"/>
              </a:spcBef>
            </a:pPr>
            <a:r>
              <a:rPr lang="en-US" sz="2400" b="1" dirty="0">
                <a:solidFill>
                  <a:srgbClr val="000000"/>
                </a:solidFill>
                <a:latin typeface="Consolas" panose="020B0609020204030204" pitchFamily="49" charset="0"/>
              </a:rPr>
              <a:t>    </a:t>
            </a:r>
            <a:r>
              <a:rPr lang="en-US" sz="2400" b="1" dirty="0">
                <a:solidFill>
                  <a:srgbClr val="800000"/>
                </a:solidFill>
                <a:latin typeface="Consolas" panose="020B0609020204030204" pitchFamily="49" charset="0"/>
              </a:rPr>
              <a:t>FROM</a:t>
            </a:r>
            <a:r>
              <a:rPr lang="en-US" sz="2400" b="1" dirty="0">
                <a:solidFill>
                  <a:srgbClr val="000000"/>
                </a:solidFill>
                <a:latin typeface="Consolas" panose="020B0609020204030204" pitchFamily="49" charset="0"/>
              </a:rPr>
              <a:t> </a:t>
            </a:r>
            <a:r>
              <a:rPr lang="en-US" sz="2400" dirty="0">
                <a:solidFill>
                  <a:srgbClr val="A9711A"/>
                </a:solidFill>
                <a:latin typeface="Consolas" panose="020B0609020204030204" pitchFamily="49" charset="0"/>
              </a:rPr>
              <a:t>assembly</a:t>
            </a:r>
          </a:p>
          <a:p>
            <a:pPr algn="l">
              <a:spcBef>
                <a:spcPts val="600"/>
              </a:spcBef>
              <a:spcAft>
                <a:spcPts val="600"/>
              </a:spcAft>
            </a:pPr>
            <a:r>
              <a:rPr lang="en-US" sz="2400" b="1" dirty="0">
                <a:solidFill>
                  <a:srgbClr val="A9711A"/>
                </a:solidFill>
                <a:latin typeface="Consolas" panose="020B0609020204030204" pitchFamily="49" charset="0"/>
              </a:rPr>
              <a:t>   </a:t>
            </a:r>
            <a:r>
              <a:rPr lang="en-US" sz="2400" b="1" dirty="0">
                <a:solidFill>
                  <a:srgbClr val="000000"/>
                </a:solidFill>
                <a:latin typeface="Consolas" panose="020B0609020204030204" pitchFamily="49" charset="0"/>
              </a:rPr>
              <a:t>   </a:t>
            </a:r>
            <a:r>
              <a:rPr lang="en-US" sz="2400" b="1" dirty="0">
                <a:solidFill>
                  <a:schemeClr val="accent6"/>
                </a:solidFill>
                <a:latin typeface="Consolas" panose="020B0609020204030204" pitchFamily="49" charset="0"/>
              </a:rPr>
              <a:t>UNION ALL</a:t>
            </a:r>
          </a:p>
          <a:p>
            <a:pPr algn="l">
              <a:spcBef>
                <a:spcPts val="200"/>
              </a:spcBef>
            </a:pPr>
            <a:r>
              <a:rPr lang="en-US" sz="2400" b="1" dirty="0">
                <a:solidFill>
                  <a:srgbClr val="000000"/>
                </a:solidFill>
                <a:latin typeface="Consolas" panose="020B0609020204030204" pitchFamily="49" charset="0"/>
              </a:rPr>
              <a:t>    </a:t>
            </a:r>
            <a:r>
              <a:rPr lang="en-US" sz="2400" b="1" dirty="0">
                <a:solidFill>
                  <a:srgbClr val="800000"/>
                </a:solidFill>
                <a:latin typeface="Consolas" panose="020B0609020204030204" pitchFamily="49" charset="0"/>
              </a:rPr>
              <a:t>SELECT</a:t>
            </a:r>
            <a:r>
              <a:rPr lang="en-US" sz="2400" b="1"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assb.part</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alls.minor</a:t>
            </a:r>
            <a:endParaRPr lang="en-US" sz="2400" dirty="0">
              <a:solidFill>
                <a:srgbClr val="000000"/>
              </a:solidFill>
              <a:latin typeface="Consolas" panose="020B0609020204030204" pitchFamily="49" charset="0"/>
            </a:endParaRPr>
          </a:p>
          <a:p>
            <a:pPr algn="l">
              <a:spcBef>
                <a:spcPts val="200"/>
              </a:spcBef>
            </a:pPr>
            <a:r>
              <a:rPr lang="en-US" sz="2400" b="1" dirty="0">
                <a:solidFill>
                  <a:srgbClr val="000000"/>
                </a:solidFill>
                <a:latin typeface="Consolas" panose="020B0609020204030204" pitchFamily="49" charset="0"/>
              </a:rPr>
              <a:t>    </a:t>
            </a:r>
            <a:r>
              <a:rPr lang="en-US" sz="2400" b="1" dirty="0">
                <a:solidFill>
                  <a:srgbClr val="800000"/>
                </a:solidFill>
                <a:latin typeface="Consolas" panose="020B0609020204030204" pitchFamily="49" charset="0"/>
              </a:rPr>
              <a:t>FROM</a:t>
            </a:r>
            <a:r>
              <a:rPr lang="en-US" sz="2400" dirty="0">
                <a:solidFill>
                  <a:srgbClr val="000000"/>
                </a:solidFill>
                <a:latin typeface="Consolas" panose="020B0609020204030204" pitchFamily="49" charset="0"/>
              </a:rPr>
              <a:t> </a:t>
            </a:r>
            <a:r>
              <a:rPr lang="en-US" sz="2400" dirty="0">
                <a:solidFill>
                  <a:srgbClr val="A9711A"/>
                </a:solidFill>
                <a:latin typeface="Consolas" panose="020B0609020204030204" pitchFamily="49" charset="0"/>
              </a:rPr>
              <a:t>assembly</a:t>
            </a:r>
            <a:r>
              <a:rPr lang="en-US" sz="2400" dirty="0">
                <a:solidFill>
                  <a:srgbClr val="000000"/>
                </a:solidFill>
                <a:latin typeface="Consolas" panose="020B0609020204030204" pitchFamily="49" charset="0"/>
              </a:rPr>
              <a:t> </a:t>
            </a:r>
            <a:r>
              <a:rPr lang="en-US" sz="2400" b="1" dirty="0">
                <a:solidFill>
                  <a:srgbClr val="800000"/>
                </a:solidFill>
                <a:latin typeface="Consolas" panose="020B0609020204030204" pitchFamily="49" charset="0"/>
              </a:rPr>
              <a:t>AS</a:t>
            </a:r>
            <a:r>
              <a:rPr lang="en-US" sz="2400" b="1"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assb,</a:t>
            </a:r>
            <a:r>
              <a:rPr lang="en-US" sz="2400" dirty="0" err="1">
                <a:solidFill>
                  <a:srgbClr val="FF0000"/>
                </a:solidFill>
                <a:latin typeface="Consolas" panose="020B0609020204030204" pitchFamily="49" charset="0"/>
              </a:rPr>
              <a:t>all_super</a:t>
            </a:r>
            <a:r>
              <a:rPr lang="en-US" sz="2400" dirty="0">
                <a:solidFill>
                  <a:srgbClr val="FF0000"/>
                </a:solidFill>
                <a:latin typeface="Consolas" panose="020B0609020204030204" pitchFamily="49" charset="0"/>
              </a:rPr>
              <a:t> </a:t>
            </a:r>
            <a:r>
              <a:rPr lang="en-US" sz="2400" b="1" dirty="0">
                <a:solidFill>
                  <a:srgbClr val="800000"/>
                </a:solidFill>
                <a:latin typeface="Consolas" panose="020B0609020204030204" pitchFamily="49" charset="0"/>
              </a:rPr>
              <a:t>AS</a:t>
            </a:r>
            <a:r>
              <a:rPr lang="en-US" sz="2400" b="1"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alls</a:t>
            </a:r>
            <a:endParaRPr lang="en-US" sz="2400" dirty="0">
              <a:solidFill>
                <a:srgbClr val="000000"/>
              </a:solidFill>
              <a:latin typeface="Consolas" panose="020B0609020204030204" pitchFamily="49" charset="0"/>
            </a:endParaRPr>
          </a:p>
          <a:p>
            <a:pPr algn="l">
              <a:spcBef>
                <a:spcPts val="200"/>
              </a:spcBef>
            </a:pPr>
            <a:r>
              <a:rPr lang="en-US" sz="2400" b="1" dirty="0">
                <a:solidFill>
                  <a:srgbClr val="000000"/>
                </a:solidFill>
                <a:latin typeface="Consolas" panose="020B0609020204030204" pitchFamily="49" charset="0"/>
              </a:rPr>
              <a:t>    </a:t>
            </a:r>
            <a:r>
              <a:rPr lang="en-US" sz="2400" b="1" dirty="0">
                <a:solidFill>
                  <a:srgbClr val="800000"/>
                </a:solidFill>
                <a:latin typeface="Consolas" panose="020B0609020204030204" pitchFamily="49" charset="0"/>
              </a:rPr>
              <a:t>WHERE</a:t>
            </a:r>
            <a:r>
              <a:rPr lang="en-US" sz="2400" b="1"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assb.subpart</a:t>
            </a:r>
            <a:r>
              <a:rPr lang="en-US" sz="2400" dirty="0">
                <a:solidFill>
                  <a:srgbClr val="000000"/>
                </a:solidFill>
                <a:latin typeface="Consolas" panose="020B0609020204030204" pitchFamily="49" charset="0"/>
              </a:rPr>
              <a:t> = </a:t>
            </a:r>
            <a:r>
              <a:rPr lang="en-US" sz="2400" dirty="0" err="1">
                <a:solidFill>
                  <a:srgbClr val="000000"/>
                </a:solidFill>
                <a:latin typeface="Consolas" panose="020B0609020204030204" pitchFamily="49" charset="0"/>
              </a:rPr>
              <a:t>alls.major</a:t>
            </a:r>
            <a:r>
              <a:rPr lang="en-US" sz="2400" b="1" dirty="0">
                <a:solidFill>
                  <a:srgbClr val="000000"/>
                </a:solidFill>
                <a:latin typeface="Consolas" panose="020B0609020204030204" pitchFamily="49" charset="0"/>
              </a:rPr>
              <a:t>)</a:t>
            </a:r>
          </a:p>
          <a:p>
            <a:pPr algn="l">
              <a:spcBef>
                <a:spcPts val="200"/>
              </a:spcBef>
            </a:pPr>
            <a:r>
              <a:rPr lang="en-US" sz="2400" b="1" dirty="0">
                <a:solidFill>
                  <a:srgbClr val="800000"/>
                </a:solidFill>
                <a:latin typeface="Consolas" panose="020B0609020204030204" pitchFamily="49" charset="0"/>
              </a:rPr>
              <a:t>SELECT</a:t>
            </a:r>
            <a:r>
              <a:rPr lang="en-US" sz="2400" b="1" dirty="0">
                <a:solidFill>
                  <a:srgbClr val="000000"/>
                </a:solidFill>
                <a:latin typeface="Consolas" panose="020B0609020204030204" pitchFamily="49" charset="0"/>
              </a:rPr>
              <a:t> *   </a:t>
            </a:r>
            <a:r>
              <a:rPr lang="en-US" sz="2400" b="1" dirty="0">
                <a:solidFill>
                  <a:srgbClr val="800000"/>
                </a:solidFill>
                <a:latin typeface="Consolas" panose="020B0609020204030204" pitchFamily="49" charset="0"/>
              </a:rPr>
              <a:t>FROM</a:t>
            </a:r>
            <a:r>
              <a:rPr lang="en-US" sz="2400" b="1" dirty="0">
                <a:solidFill>
                  <a:srgbClr val="000000"/>
                </a:solidFill>
                <a:latin typeface="Consolas" panose="020B0609020204030204" pitchFamily="49" charset="0"/>
              </a:rPr>
              <a:t> </a:t>
            </a:r>
            <a:r>
              <a:rPr lang="en-US" sz="2400" dirty="0">
                <a:solidFill>
                  <a:srgbClr val="000000"/>
                </a:solidFill>
                <a:latin typeface="Consolas" panose="020B0609020204030204" pitchFamily="49" charset="0"/>
              </a:rPr>
              <a:t>all_super</a:t>
            </a:r>
          </a:p>
          <a:p>
            <a:pPr algn="l">
              <a:spcBef>
                <a:spcPts val="200"/>
              </a:spcBef>
            </a:pPr>
            <a:r>
              <a:rPr lang="en-US" sz="2400" b="1" dirty="0">
                <a:solidFill>
                  <a:srgbClr val="800000"/>
                </a:solidFill>
                <a:latin typeface="Consolas" panose="020B0609020204030204" pitchFamily="49" charset="0"/>
              </a:rPr>
              <a:t>WHERE</a:t>
            </a:r>
            <a:r>
              <a:rPr lang="en-US" sz="2400" b="1" dirty="0">
                <a:solidFill>
                  <a:srgbClr val="000000"/>
                </a:solidFill>
                <a:latin typeface="Consolas" panose="020B0609020204030204" pitchFamily="49" charset="0"/>
              </a:rPr>
              <a:t> m</a:t>
            </a:r>
            <a:r>
              <a:rPr lang="en-US" sz="2400" dirty="0">
                <a:solidFill>
                  <a:srgbClr val="000000"/>
                </a:solidFill>
                <a:latin typeface="Consolas" panose="020B0609020204030204" pitchFamily="49" charset="0"/>
              </a:rPr>
              <a:t>inor = </a:t>
            </a:r>
            <a:r>
              <a:rPr lang="en-US" sz="2400" dirty="0">
                <a:solidFill>
                  <a:srgbClr val="008000"/>
                </a:solidFill>
                <a:latin typeface="Consolas" panose="020B0609020204030204" pitchFamily="49" charset="0"/>
              </a:rPr>
              <a:t>'1aCx’</a:t>
            </a:r>
            <a:r>
              <a:rPr lang="en-US" sz="2400" dirty="0">
                <a:solidFill>
                  <a:srgbClr val="FF0000"/>
                </a:solidFill>
                <a:latin typeface="Consolas" panose="020B0609020204030204" pitchFamily="49" charset="0"/>
              </a:rPr>
              <a:t>;</a:t>
            </a:r>
          </a:p>
        </p:txBody>
      </p:sp>
    </p:spTree>
    <p:extLst>
      <p:ext uri="{BB962C8B-B14F-4D97-AF65-F5344CB8AC3E}">
        <p14:creationId xmlns:p14="http://schemas.microsoft.com/office/powerpoint/2010/main" val="130328877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ED292-F8FA-1048-A282-0F08D5C3D644}"/>
              </a:ext>
            </a:extLst>
          </p:cNvPr>
          <p:cNvSpPr>
            <a:spLocks noGrp="1"/>
          </p:cNvSpPr>
          <p:nvPr>
            <p:ph type="title"/>
          </p:nvPr>
        </p:nvSpPr>
        <p:spPr/>
        <p:txBody>
          <a:bodyPr/>
          <a:lstStyle/>
          <a:p>
            <a:r>
              <a:rPr lang="en-US" dirty="0"/>
              <a:t>Example</a:t>
            </a:r>
          </a:p>
        </p:txBody>
      </p:sp>
      <p:sp>
        <p:nvSpPr>
          <p:cNvPr id="5" name="TextBox 4">
            <a:extLst>
              <a:ext uri="{FF2B5EF4-FFF2-40B4-BE49-F238E27FC236}">
                <a16:creationId xmlns:a16="http://schemas.microsoft.com/office/drawing/2014/main" id="{956DD618-7883-3E0F-EF93-536569A803C4}"/>
              </a:ext>
            </a:extLst>
          </p:cNvPr>
          <p:cNvSpPr txBox="1"/>
          <p:nvPr/>
        </p:nvSpPr>
        <p:spPr>
          <a:xfrm>
            <a:off x="209198" y="762000"/>
            <a:ext cx="5715000" cy="2862322"/>
          </a:xfrm>
          <a:prstGeom prst="rect">
            <a:avLst/>
          </a:prstGeom>
          <a:solidFill>
            <a:schemeClr val="bg1"/>
          </a:solidFill>
          <a:ln>
            <a:solidFill>
              <a:schemeClr val="bg2"/>
            </a:solidFill>
          </a:ln>
          <a:effectLst>
            <a:outerShdw blurRad="50800" dist="63500" dir="2700000" algn="tl" rotWithShape="0">
              <a:prstClr val="black">
                <a:alpha val="40000"/>
              </a:prstClr>
            </a:outerShdw>
          </a:effectLst>
        </p:spPr>
        <p:txBody>
          <a:bodyPr wrap="square">
            <a:spAutoFit/>
          </a:bodyPr>
          <a:lstStyle>
            <a:defPPr>
              <a:defRPr lang="en-US"/>
            </a:defPPr>
            <a:lvl1pPr>
              <a:defRPr>
                <a:solidFill>
                  <a:srgbClr val="800000"/>
                </a:solidFill>
                <a:latin typeface="Consolas" panose="020B0609020204030204" pitchFamily="49" charset="0"/>
              </a:defRPr>
            </a:lvl1pPr>
          </a:lstStyle>
          <a:p>
            <a:pPr algn="l"/>
            <a:r>
              <a:rPr lang="en-US" sz="1800" dirty="0">
                <a:solidFill>
                  <a:srgbClr val="800000"/>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800000"/>
                </a:solidFill>
                <a:latin typeface="Consolas" panose="020B0609020204030204" pitchFamily="49" charset="0"/>
              </a:rPr>
              <a:t>TABLE</a:t>
            </a:r>
            <a:r>
              <a:rPr lang="en-US" sz="1800" dirty="0">
                <a:solidFill>
                  <a:srgbClr val="000000"/>
                </a:solidFill>
                <a:latin typeface="Consolas" panose="020B0609020204030204" pitchFamily="49" charset="0"/>
              </a:rPr>
              <a:t> assembly (</a:t>
            </a:r>
          </a:p>
          <a:p>
            <a:pPr algn="l"/>
            <a:r>
              <a:rPr lang="en-US" sz="1800" dirty="0">
                <a:solidFill>
                  <a:srgbClr val="000000"/>
                </a:solidFill>
                <a:latin typeface="Consolas" panose="020B0609020204030204" pitchFamily="49" charset="0"/>
              </a:rPr>
              <a:t>part </a:t>
            </a:r>
            <a:r>
              <a:rPr lang="en-US" sz="1800" dirty="0">
                <a:solidFill>
                  <a:srgbClr val="800000"/>
                </a:solidFill>
                <a:latin typeface="Consolas" panose="020B0609020204030204" pitchFamily="49" charset="0"/>
              </a:rPr>
              <a:t>VARCHAR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64</a:t>
            </a:r>
            <a:r>
              <a:rPr lang="en-US" sz="1800" dirty="0">
                <a:solidFill>
                  <a:srgbClr val="000000"/>
                </a:solidFill>
                <a:latin typeface="Consolas" panose="020B0609020204030204" pitchFamily="49" charset="0"/>
              </a:rPr>
              <a:t>) </a:t>
            </a:r>
            <a:r>
              <a:rPr lang="en-US" sz="1800" dirty="0">
                <a:solidFill>
                  <a:srgbClr val="800000"/>
                </a:solidFill>
                <a:latin typeface="Consolas" panose="020B0609020204030204" pitchFamily="49" charset="0"/>
              </a:rPr>
              <a:t>NOT</a:t>
            </a:r>
            <a:r>
              <a:rPr lang="en-US" sz="1800" dirty="0">
                <a:solidFill>
                  <a:srgbClr val="000000"/>
                </a:solidFill>
                <a:latin typeface="Consolas" panose="020B0609020204030204" pitchFamily="49" charset="0"/>
              </a:rPr>
              <a:t> </a:t>
            </a:r>
            <a:r>
              <a:rPr lang="en-US" sz="1800" dirty="0">
                <a:solidFill>
                  <a:srgbClr val="800000"/>
                </a:solidFill>
                <a:latin typeface="Consolas" panose="020B0609020204030204" pitchFamily="49" charset="0"/>
              </a:rPr>
              <a:t>NULL</a:t>
            </a:r>
            <a:r>
              <a:rPr lang="en-US" sz="1800" dirty="0">
                <a:solidFill>
                  <a:srgbClr val="000000"/>
                </a:solidFill>
                <a:latin typeface="Consolas" panose="020B0609020204030204" pitchFamily="49" charset="0"/>
              </a:rPr>
              <a:t>,</a:t>
            </a:r>
          </a:p>
          <a:p>
            <a:pPr algn="l"/>
            <a:r>
              <a:rPr lang="en-US" sz="1800" dirty="0">
                <a:solidFill>
                  <a:srgbClr val="000000"/>
                </a:solidFill>
                <a:latin typeface="Consolas" panose="020B0609020204030204" pitchFamily="49" charset="0"/>
              </a:rPr>
              <a:t>subpart </a:t>
            </a:r>
            <a:r>
              <a:rPr lang="en-US" sz="1800" dirty="0">
                <a:solidFill>
                  <a:srgbClr val="800000"/>
                </a:solidFill>
                <a:latin typeface="Consolas" panose="020B0609020204030204" pitchFamily="49" charset="0"/>
              </a:rPr>
              <a:t>VARCHAR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64</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a:t>
            </a:r>
            <a:endParaRPr lang="en-US" sz="1800" dirty="0">
              <a:latin typeface="Consolas" panose="020B0609020204030204" pitchFamily="49" charset="0"/>
            </a:endParaRPr>
          </a:p>
          <a:p>
            <a:pPr algn="l"/>
            <a:r>
              <a:rPr lang="en-US" sz="1800" dirty="0">
                <a:solidFill>
                  <a:srgbClr val="800000"/>
                </a:solidFill>
                <a:latin typeface="Consolas" panose="020B0609020204030204" pitchFamily="49" charset="0"/>
              </a:rPr>
              <a:t>INSERT</a:t>
            </a:r>
            <a:r>
              <a:rPr lang="en-US" sz="1800" dirty="0">
                <a:solidFill>
                  <a:srgbClr val="000000"/>
                </a:solidFill>
                <a:latin typeface="Consolas" panose="020B0609020204030204" pitchFamily="49" charset="0"/>
              </a:rPr>
              <a:t> </a:t>
            </a:r>
            <a:r>
              <a:rPr lang="en-US" sz="1800" dirty="0">
                <a:solidFill>
                  <a:srgbClr val="800000"/>
                </a:solidFill>
                <a:latin typeface="Consolas" panose="020B0609020204030204" pitchFamily="49" charset="0"/>
              </a:rPr>
              <a:t>INTO</a:t>
            </a:r>
            <a:r>
              <a:rPr lang="en-US" sz="1800" dirty="0">
                <a:solidFill>
                  <a:srgbClr val="000000"/>
                </a:solidFill>
                <a:latin typeface="Consolas" panose="020B0609020204030204" pitchFamily="49" charset="0"/>
              </a:rPr>
              <a:t> assembly </a:t>
            </a:r>
            <a:r>
              <a:rPr lang="en-US" sz="1800" dirty="0">
                <a:solidFill>
                  <a:srgbClr val="800000"/>
                </a:solidFill>
                <a:latin typeface="Consolas" panose="020B0609020204030204" pitchFamily="49" charset="0"/>
              </a:rPr>
              <a:t>VALUES</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'1'</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'1a'</a:t>
            </a:r>
            <a:r>
              <a:rPr lang="en-US" sz="1800" dirty="0">
                <a:solidFill>
                  <a:srgbClr val="000000"/>
                </a:solidFill>
                <a:latin typeface="Consolas" panose="020B0609020204030204" pitchFamily="49" charset="0"/>
              </a:rPr>
              <a:t>)</a:t>
            </a:r>
            <a:r>
              <a:rPr lang="en-US" sz="1800" dirty="0">
                <a:solidFill>
                  <a:srgbClr val="FF0000"/>
                </a:solidFill>
                <a:latin typeface="Consolas" panose="020B0609020204030204" pitchFamily="49" charset="0"/>
              </a:rPr>
              <a:t>;</a:t>
            </a:r>
          </a:p>
          <a:p>
            <a:pPr algn="l"/>
            <a:r>
              <a:rPr lang="en-US" sz="1800" dirty="0">
                <a:solidFill>
                  <a:srgbClr val="800000"/>
                </a:solidFill>
                <a:latin typeface="Consolas" panose="020B0609020204030204" pitchFamily="49" charset="0"/>
              </a:rPr>
              <a:t>INSERT</a:t>
            </a:r>
            <a:r>
              <a:rPr lang="en-US" sz="1800" dirty="0">
                <a:solidFill>
                  <a:srgbClr val="000000"/>
                </a:solidFill>
                <a:latin typeface="Consolas" panose="020B0609020204030204" pitchFamily="49" charset="0"/>
              </a:rPr>
              <a:t> </a:t>
            </a:r>
            <a:r>
              <a:rPr lang="en-US" sz="1800" dirty="0">
                <a:solidFill>
                  <a:srgbClr val="800000"/>
                </a:solidFill>
                <a:latin typeface="Consolas" panose="020B0609020204030204" pitchFamily="49" charset="0"/>
              </a:rPr>
              <a:t>INTO</a:t>
            </a:r>
            <a:r>
              <a:rPr lang="en-US" sz="1800" dirty="0">
                <a:solidFill>
                  <a:srgbClr val="000000"/>
                </a:solidFill>
                <a:latin typeface="Consolas" panose="020B0609020204030204" pitchFamily="49" charset="0"/>
              </a:rPr>
              <a:t> assembly </a:t>
            </a:r>
            <a:r>
              <a:rPr lang="en-US" sz="1800" dirty="0">
                <a:solidFill>
                  <a:srgbClr val="800000"/>
                </a:solidFill>
                <a:latin typeface="Consolas" panose="020B0609020204030204" pitchFamily="49" charset="0"/>
              </a:rPr>
              <a:t>VALUES</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'1'</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'1b'</a:t>
            </a:r>
            <a:r>
              <a:rPr lang="en-US" sz="1800" dirty="0">
                <a:solidFill>
                  <a:srgbClr val="000000"/>
                </a:solidFill>
                <a:latin typeface="Consolas" panose="020B0609020204030204" pitchFamily="49" charset="0"/>
              </a:rPr>
              <a:t>)</a:t>
            </a:r>
            <a:r>
              <a:rPr lang="en-US" sz="1800" dirty="0">
                <a:solidFill>
                  <a:srgbClr val="FF0000"/>
                </a:solidFill>
                <a:latin typeface="Consolas" panose="020B0609020204030204" pitchFamily="49" charset="0"/>
              </a:rPr>
              <a:t>;</a:t>
            </a:r>
          </a:p>
          <a:p>
            <a:pPr algn="l"/>
            <a:r>
              <a:rPr lang="en-US" sz="1800" dirty="0">
                <a:solidFill>
                  <a:srgbClr val="800000"/>
                </a:solidFill>
                <a:latin typeface="Consolas" panose="020B0609020204030204" pitchFamily="49" charset="0"/>
              </a:rPr>
              <a:t>INSERT</a:t>
            </a:r>
            <a:r>
              <a:rPr lang="en-US" sz="1800" dirty="0">
                <a:solidFill>
                  <a:srgbClr val="000000"/>
                </a:solidFill>
                <a:latin typeface="Consolas" panose="020B0609020204030204" pitchFamily="49" charset="0"/>
              </a:rPr>
              <a:t> </a:t>
            </a:r>
            <a:r>
              <a:rPr lang="en-US" sz="1800" dirty="0">
                <a:solidFill>
                  <a:srgbClr val="800000"/>
                </a:solidFill>
                <a:latin typeface="Consolas" panose="020B0609020204030204" pitchFamily="49" charset="0"/>
              </a:rPr>
              <a:t>INTO</a:t>
            </a:r>
            <a:r>
              <a:rPr lang="en-US" sz="1800" dirty="0">
                <a:solidFill>
                  <a:srgbClr val="000000"/>
                </a:solidFill>
                <a:latin typeface="Consolas" panose="020B0609020204030204" pitchFamily="49" charset="0"/>
              </a:rPr>
              <a:t> assembly </a:t>
            </a:r>
            <a:r>
              <a:rPr lang="en-US" sz="1800" dirty="0">
                <a:solidFill>
                  <a:srgbClr val="800000"/>
                </a:solidFill>
                <a:latin typeface="Consolas" panose="020B0609020204030204" pitchFamily="49" charset="0"/>
              </a:rPr>
              <a:t>VALUES</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'1a'</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'1aC'</a:t>
            </a:r>
            <a:r>
              <a:rPr lang="en-US" sz="1800" dirty="0">
                <a:solidFill>
                  <a:srgbClr val="000000"/>
                </a:solidFill>
                <a:latin typeface="Consolas" panose="020B0609020204030204" pitchFamily="49" charset="0"/>
              </a:rPr>
              <a:t>)</a:t>
            </a:r>
            <a:r>
              <a:rPr lang="en-US" sz="1800" dirty="0">
                <a:solidFill>
                  <a:srgbClr val="FF0000"/>
                </a:solidFill>
                <a:latin typeface="Consolas" panose="020B0609020204030204" pitchFamily="49" charset="0"/>
              </a:rPr>
              <a:t>;</a:t>
            </a:r>
          </a:p>
          <a:p>
            <a:pPr algn="l"/>
            <a:r>
              <a:rPr lang="en-US" sz="1800" dirty="0">
                <a:solidFill>
                  <a:srgbClr val="800000"/>
                </a:solidFill>
                <a:latin typeface="Consolas" panose="020B0609020204030204" pitchFamily="49" charset="0"/>
              </a:rPr>
              <a:t>INSERT</a:t>
            </a:r>
            <a:r>
              <a:rPr lang="en-US" sz="1800" dirty="0">
                <a:solidFill>
                  <a:srgbClr val="000000"/>
                </a:solidFill>
                <a:latin typeface="Consolas" panose="020B0609020204030204" pitchFamily="49" charset="0"/>
              </a:rPr>
              <a:t> </a:t>
            </a:r>
            <a:r>
              <a:rPr lang="en-US" sz="1800" dirty="0">
                <a:solidFill>
                  <a:srgbClr val="800000"/>
                </a:solidFill>
                <a:latin typeface="Consolas" panose="020B0609020204030204" pitchFamily="49" charset="0"/>
              </a:rPr>
              <a:t>INTO</a:t>
            </a:r>
            <a:r>
              <a:rPr lang="en-US" sz="1800" dirty="0">
                <a:solidFill>
                  <a:srgbClr val="000000"/>
                </a:solidFill>
                <a:latin typeface="Consolas" panose="020B0609020204030204" pitchFamily="49" charset="0"/>
              </a:rPr>
              <a:t> assembly </a:t>
            </a:r>
            <a:r>
              <a:rPr lang="en-US" sz="1800" dirty="0">
                <a:solidFill>
                  <a:srgbClr val="800000"/>
                </a:solidFill>
                <a:latin typeface="Consolas" panose="020B0609020204030204" pitchFamily="49" charset="0"/>
              </a:rPr>
              <a:t>VALUES</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'1a'</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'1aD'</a:t>
            </a:r>
            <a:r>
              <a:rPr lang="en-US" sz="1800" dirty="0">
                <a:solidFill>
                  <a:srgbClr val="000000"/>
                </a:solidFill>
                <a:latin typeface="Consolas" panose="020B0609020204030204" pitchFamily="49" charset="0"/>
              </a:rPr>
              <a:t>)</a:t>
            </a:r>
            <a:r>
              <a:rPr lang="en-US" sz="1800" dirty="0">
                <a:solidFill>
                  <a:srgbClr val="FF0000"/>
                </a:solidFill>
                <a:latin typeface="Consolas" panose="020B0609020204030204" pitchFamily="49" charset="0"/>
              </a:rPr>
              <a:t>;</a:t>
            </a:r>
          </a:p>
          <a:p>
            <a:pPr algn="l"/>
            <a:r>
              <a:rPr lang="en-US" sz="1800" dirty="0">
                <a:solidFill>
                  <a:srgbClr val="800000"/>
                </a:solidFill>
                <a:latin typeface="Consolas" panose="020B0609020204030204" pitchFamily="49" charset="0"/>
              </a:rPr>
              <a:t>INSERT</a:t>
            </a:r>
            <a:r>
              <a:rPr lang="en-US" sz="1800" dirty="0">
                <a:solidFill>
                  <a:srgbClr val="000000"/>
                </a:solidFill>
                <a:latin typeface="Consolas" panose="020B0609020204030204" pitchFamily="49" charset="0"/>
              </a:rPr>
              <a:t> </a:t>
            </a:r>
            <a:r>
              <a:rPr lang="en-US" sz="1800" dirty="0">
                <a:solidFill>
                  <a:srgbClr val="800000"/>
                </a:solidFill>
                <a:latin typeface="Consolas" panose="020B0609020204030204" pitchFamily="49" charset="0"/>
              </a:rPr>
              <a:t>INTO</a:t>
            </a:r>
            <a:r>
              <a:rPr lang="en-US" sz="1800" dirty="0">
                <a:solidFill>
                  <a:srgbClr val="000000"/>
                </a:solidFill>
                <a:latin typeface="Consolas" panose="020B0609020204030204" pitchFamily="49" charset="0"/>
              </a:rPr>
              <a:t> assembly </a:t>
            </a:r>
            <a:r>
              <a:rPr lang="en-US" sz="1800" dirty="0">
                <a:solidFill>
                  <a:srgbClr val="800000"/>
                </a:solidFill>
                <a:latin typeface="Consolas" panose="020B0609020204030204" pitchFamily="49" charset="0"/>
              </a:rPr>
              <a:t>VALUES</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'1b'</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'1bE'</a:t>
            </a:r>
            <a:r>
              <a:rPr lang="en-US" sz="1800" dirty="0">
                <a:solidFill>
                  <a:srgbClr val="000000"/>
                </a:solidFill>
                <a:latin typeface="Consolas" panose="020B0609020204030204" pitchFamily="49" charset="0"/>
              </a:rPr>
              <a:t>)</a:t>
            </a:r>
            <a:r>
              <a:rPr lang="en-US" sz="1800" dirty="0">
                <a:solidFill>
                  <a:srgbClr val="FF0000"/>
                </a:solidFill>
                <a:latin typeface="Consolas" panose="020B0609020204030204" pitchFamily="49" charset="0"/>
              </a:rPr>
              <a:t>;</a:t>
            </a:r>
          </a:p>
          <a:p>
            <a:pPr algn="l"/>
            <a:r>
              <a:rPr lang="en-US" sz="1800" dirty="0">
                <a:solidFill>
                  <a:srgbClr val="800000"/>
                </a:solidFill>
                <a:latin typeface="Consolas" panose="020B0609020204030204" pitchFamily="49" charset="0"/>
              </a:rPr>
              <a:t>INSERT</a:t>
            </a:r>
            <a:r>
              <a:rPr lang="en-US" sz="1800" dirty="0">
                <a:solidFill>
                  <a:srgbClr val="000000"/>
                </a:solidFill>
                <a:latin typeface="Consolas" panose="020B0609020204030204" pitchFamily="49" charset="0"/>
              </a:rPr>
              <a:t> </a:t>
            </a:r>
            <a:r>
              <a:rPr lang="en-US" sz="1800" dirty="0">
                <a:solidFill>
                  <a:srgbClr val="800000"/>
                </a:solidFill>
                <a:latin typeface="Consolas" panose="020B0609020204030204" pitchFamily="49" charset="0"/>
              </a:rPr>
              <a:t>INTO</a:t>
            </a:r>
            <a:r>
              <a:rPr lang="en-US" sz="1800" dirty="0">
                <a:solidFill>
                  <a:srgbClr val="000000"/>
                </a:solidFill>
                <a:latin typeface="Consolas" panose="020B0609020204030204" pitchFamily="49" charset="0"/>
              </a:rPr>
              <a:t> assembly </a:t>
            </a:r>
            <a:r>
              <a:rPr lang="en-US" sz="1800" dirty="0">
                <a:solidFill>
                  <a:srgbClr val="800000"/>
                </a:solidFill>
                <a:latin typeface="Consolas" panose="020B0609020204030204" pitchFamily="49" charset="0"/>
              </a:rPr>
              <a:t>VALUES</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'1b'</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'1bF'</a:t>
            </a:r>
            <a:r>
              <a:rPr lang="en-US" sz="1800" dirty="0">
                <a:solidFill>
                  <a:srgbClr val="000000"/>
                </a:solidFill>
                <a:latin typeface="Consolas" panose="020B0609020204030204" pitchFamily="49" charset="0"/>
              </a:rPr>
              <a:t>)</a:t>
            </a:r>
            <a:r>
              <a:rPr lang="en-US" sz="1800" dirty="0">
                <a:solidFill>
                  <a:srgbClr val="FF0000"/>
                </a:solidFill>
                <a:latin typeface="Consolas" panose="020B0609020204030204" pitchFamily="49" charset="0"/>
              </a:rPr>
              <a:t>;</a:t>
            </a:r>
          </a:p>
          <a:p>
            <a:pPr algn="l"/>
            <a:r>
              <a:rPr lang="en-US" sz="1800" dirty="0">
                <a:solidFill>
                  <a:srgbClr val="800000"/>
                </a:solidFill>
                <a:latin typeface="Consolas" panose="020B0609020204030204" pitchFamily="49" charset="0"/>
              </a:rPr>
              <a:t>INSERT</a:t>
            </a:r>
            <a:r>
              <a:rPr lang="en-US" sz="1800" dirty="0">
                <a:solidFill>
                  <a:srgbClr val="000000"/>
                </a:solidFill>
                <a:latin typeface="Consolas" panose="020B0609020204030204" pitchFamily="49" charset="0"/>
              </a:rPr>
              <a:t> </a:t>
            </a:r>
            <a:r>
              <a:rPr lang="en-US" sz="1800" dirty="0">
                <a:solidFill>
                  <a:srgbClr val="800000"/>
                </a:solidFill>
                <a:latin typeface="Consolas" panose="020B0609020204030204" pitchFamily="49" charset="0"/>
              </a:rPr>
              <a:t>INTO</a:t>
            </a:r>
            <a:r>
              <a:rPr lang="en-US" sz="1800" dirty="0">
                <a:solidFill>
                  <a:srgbClr val="000000"/>
                </a:solidFill>
                <a:latin typeface="Consolas" panose="020B0609020204030204" pitchFamily="49" charset="0"/>
              </a:rPr>
              <a:t> assembly </a:t>
            </a:r>
            <a:r>
              <a:rPr lang="en-US" sz="1800" dirty="0">
                <a:solidFill>
                  <a:srgbClr val="800000"/>
                </a:solidFill>
                <a:latin typeface="Consolas" panose="020B0609020204030204" pitchFamily="49" charset="0"/>
              </a:rPr>
              <a:t>VALUES</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'1aC'</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'1aCx'</a:t>
            </a:r>
            <a:r>
              <a:rPr lang="en-US" sz="1800" dirty="0">
                <a:solidFill>
                  <a:srgbClr val="000000"/>
                </a:solidFill>
                <a:latin typeface="Consolas" panose="020B0609020204030204" pitchFamily="49" charset="0"/>
              </a:rPr>
              <a:t>)</a:t>
            </a:r>
            <a:r>
              <a:rPr lang="en-US" sz="1800" dirty="0">
                <a:solidFill>
                  <a:srgbClr val="FF0000"/>
                </a:solidFill>
                <a:latin typeface="Consolas" panose="020B0609020204030204" pitchFamily="49" charset="0"/>
              </a:rPr>
              <a:t>;</a:t>
            </a:r>
            <a:endParaRPr lang="en-US" dirty="0"/>
          </a:p>
        </p:txBody>
      </p:sp>
      <p:graphicFrame>
        <p:nvGraphicFramePr>
          <p:cNvPr id="9" name="Diagram 8">
            <a:extLst>
              <a:ext uri="{FF2B5EF4-FFF2-40B4-BE49-F238E27FC236}">
                <a16:creationId xmlns:a16="http://schemas.microsoft.com/office/drawing/2014/main" id="{7637C6D4-10E3-5C09-7598-7296887BE43B}"/>
              </a:ext>
            </a:extLst>
          </p:cNvPr>
          <p:cNvGraphicFramePr/>
          <p:nvPr>
            <p:extLst>
              <p:ext uri="{D42A27DB-BD31-4B8C-83A1-F6EECF244321}">
                <p14:modId xmlns:p14="http://schemas.microsoft.com/office/powerpoint/2010/main" val="220060391"/>
              </p:ext>
            </p:extLst>
          </p:nvPr>
        </p:nvGraphicFramePr>
        <p:xfrm>
          <a:off x="6394802" y="231240"/>
          <a:ext cx="5588000" cy="34713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AF548952-2705-91C4-553B-F5EA83C8179A}"/>
              </a:ext>
            </a:extLst>
          </p:cNvPr>
          <p:cNvSpPr txBox="1"/>
          <p:nvPr/>
        </p:nvSpPr>
        <p:spPr>
          <a:xfrm>
            <a:off x="209198" y="3702573"/>
            <a:ext cx="6394802" cy="2918748"/>
          </a:xfrm>
          <a:prstGeom prst="rect">
            <a:avLst/>
          </a:prstGeom>
          <a:solidFill>
            <a:schemeClr val="bg1"/>
          </a:solidFill>
          <a:ln w="12700">
            <a:solidFill>
              <a:schemeClr val="bg2"/>
            </a:solidFill>
          </a:ln>
          <a:effectLst>
            <a:outerShdw blurRad="76200" dist="76200" dir="2700000" algn="tl" rotWithShape="0">
              <a:prstClr val="black">
                <a:alpha val="40000"/>
              </a:prstClr>
            </a:outerShdw>
          </a:effectLst>
        </p:spPr>
        <p:txBody>
          <a:bodyPr wrap="square">
            <a:spAutoFit/>
          </a:bodyPr>
          <a:lstStyle/>
          <a:p>
            <a:pPr algn="l">
              <a:spcBef>
                <a:spcPts val="200"/>
              </a:spcBef>
            </a:pPr>
            <a:r>
              <a:rPr lang="en-US" b="1" dirty="0">
                <a:solidFill>
                  <a:schemeClr val="accent6"/>
                </a:solidFill>
                <a:latin typeface="Consolas" panose="020B0609020204030204" pitchFamily="49" charset="0"/>
              </a:rPr>
              <a:t>WITH RECURSIVE </a:t>
            </a:r>
            <a:r>
              <a:rPr lang="en-US" dirty="0">
                <a:solidFill>
                  <a:srgbClr val="FF0000"/>
                </a:solidFill>
                <a:latin typeface="Consolas" panose="020B0609020204030204" pitchFamily="49" charset="0"/>
              </a:rPr>
              <a:t>all_super </a:t>
            </a:r>
            <a:r>
              <a:rPr lang="en-US" dirty="0">
                <a:solidFill>
                  <a:srgbClr val="000000"/>
                </a:solidFill>
                <a:latin typeface="Consolas" panose="020B0609020204030204" pitchFamily="49" charset="0"/>
              </a:rPr>
              <a:t>(major, minor) </a:t>
            </a:r>
            <a:r>
              <a:rPr lang="en-US" b="1" dirty="0">
                <a:solidFill>
                  <a:srgbClr val="800000"/>
                </a:solidFill>
                <a:latin typeface="Consolas" panose="020B0609020204030204" pitchFamily="49" charset="0"/>
              </a:rPr>
              <a:t>AS</a:t>
            </a:r>
          </a:p>
          <a:p>
            <a:pPr algn="l">
              <a:spcBef>
                <a:spcPts val="200"/>
              </a:spcBef>
            </a:pPr>
            <a:r>
              <a:rPr lang="en-US" b="1" dirty="0">
                <a:solidFill>
                  <a:srgbClr val="000000"/>
                </a:solidFill>
                <a:latin typeface="Consolas" panose="020B0609020204030204" pitchFamily="49" charset="0"/>
              </a:rPr>
              <a:t> (  </a:t>
            </a:r>
            <a:r>
              <a:rPr lang="en-US" b="1" dirty="0">
                <a:solidFill>
                  <a:srgbClr val="800000"/>
                </a:solidFill>
                <a:latin typeface="Consolas" panose="020B0609020204030204" pitchFamily="49" charset="0"/>
              </a:rPr>
              <a:t>SELECT</a:t>
            </a:r>
            <a:r>
              <a:rPr lang="en-US" b="1" dirty="0">
                <a:solidFill>
                  <a:srgbClr val="000000"/>
                </a:solidFill>
                <a:latin typeface="Consolas" panose="020B0609020204030204" pitchFamily="49" charset="0"/>
              </a:rPr>
              <a:t> </a:t>
            </a:r>
            <a:r>
              <a:rPr lang="en-US" dirty="0">
                <a:solidFill>
                  <a:srgbClr val="000000"/>
                </a:solidFill>
                <a:latin typeface="Consolas" panose="020B0609020204030204" pitchFamily="49" charset="0"/>
              </a:rPr>
              <a:t>part, subpart</a:t>
            </a:r>
          </a:p>
          <a:p>
            <a:pPr algn="l">
              <a:spcBef>
                <a:spcPts val="200"/>
              </a:spcBef>
            </a:pPr>
            <a:r>
              <a:rPr lang="en-US" b="1" dirty="0">
                <a:solidFill>
                  <a:srgbClr val="000000"/>
                </a:solidFill>
                <a:latin typeface="Consolas" panose="020B0609020204030204" pitchFamily="49" charset="0"/>
              </a:rPr>
              <a:t>    </a:t>
            </a:r>
            <a:r>
              <a:rPr lang="en-US" b="1" dirty="0">
                <a:solidFill>
                  <a:srgbClr val="800000"/>
                </a:solidFill>
                <a:latin typeface="Consolas" panose="020B0609020204030204" pitchFamily="49" charset="0"/>
              </a:rPr>
              <a:t>FROM</a:t>
            </a:r>
            <a:r>
              <a:rPr lang="en-US" b="1" dirty="0">
                <a:solidFill>
                  <a:srgbClr val="000000"/>
                </a:solidFill>
                <a:latin typeface="Consolas" panose="020B0609020204030204" pitchFamily="49" charset="0"/>
              </a:rPr>
              <a:t> </a:t>
            </a:r>
            <a:r>
              <a:rPr lang="en-US" dirty="0">
                <a:solidFill>
                  <a:srgbClr val="A9711A"/>
                </a:solidFill>
                <a:latin typeface="Consolas" panose="020B0609020204030204" pitchFamily="49" charset="0"/>
              </a:rPr>
              <a:t>assembly</a:t>
            </a:r>
          </a:p>
          <a:p>
            <a:pPr algn="l">
              <a:spcBef>
                <a:spcPts val="600"/>
              </a:spcBef>
              <a:spcAft>
                <a:spcPts val="600"/>
              </a:spcAft>
            </a:pPr>
            <a:r>
              <a:rPr lang="en-US" b="1" dirty="0">
                <a:solidFill>
                  <a:srgbClr val="A9711A"/>
                </a:solidFill>
                <a:latin typeface="Consolas" panose="020B0609020204030204" pitchFamily="49" charset="0"/>
              </a:rPr>
              <a:t>   </a:t>
            </a:r>
            <a:r>
              <a:rPr lang="en-US" b="1" dirty="0">
                <a:solidFill>
                  <a:srgbClr val="000000"/>
                </a:solidFill>
                <a:latin typeface="Consolas" panose="020B0609020204030204" pitchFamily="49" charset="0"/>
              </a:rPr>
              <a:t>   </a:t>
            </a:r>
            <a:r>
              <a:rPr lang="en-US" b="1" dirty="0">
                <a:solidFill>
                  <a:schemeClr val="accent6"/>
                </a:solidFill>
                <a:latin typeface="Consolas" panose="020B0609020204030204" pitchFamily="49" charset="0"/>
              </a:rPr>
              <a:t>UNION ALL</a:t>
            </a:r>
          </a:p>
          <a:p>
            <a:pPr algn="l">
              <a:spcBef>
                <a:spcPts val="200"/>
              </a:spcBef>
            </a:pPr>
            <a:r>
              <a:rPr lang="en-US" b="1" dirty="0">
                <a:solidFill>
                  <a:srgbClr val="000000"/>
                </a:solidFill>
                <a:latin typeface="Consolas" panose="020B0609020204030204" pitchFamily="49" charset="0"/>
              </a:rPr>
              <a:t>    </a:t>
            </a:r>
            <a:r>
              <a:rPr lang="en-US" b="1" dirty="0">
                <a:solidFill>
                  <a:srgbClr val="800000"/>
                </a:solidFill>
                <a:latin typeface="Consolas" panose="020B0609020204030204" pitchFamily="49" charset="0"/>
              </a:rPr>
              <a:t>SELECT</a:t>
            </a:r>
            <a:r>
              <a:rPr lang="en-US" b="1"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assb.part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alls.minor</a:t>
            </a:r>
            <a:endParaRPr lang="en-US" dirty="0">
              <a:solidFill>
                <a:srgbClr val="000000"/>
              </a:solidFill>
              <a:latin typeface="Consolas" panose="020B0609020204030204" pitchFamily="49" charset="0"/>
            </a:endParaRPr>
          </a:p>
          <a:p>
            <a:pPr algn="l">
              <a:spcBef>
                <a:spcPts val="200"/>
              </a:spcBef>
            </a:pPr>
            <a:r>
              <a:rPr lang="en-US" b="1" dirty="0">
                <a:solidFill>
                  <a:srgbClr val="000000"/>
                </a:solidFill>
                <a:latin typeface="Consolas" panose="020B0609020204030204" pitchFamily="49" charset="0"/>
              </a:rPr>
              <a:t>    </a:t>
            </a:r>
            <a:r>
              <a:rPr lang="en-US" b="1" dirty="0">
                <a:solidFill>
                  <a:srgbClr val="800000"/>
                </a:solidFill>
                <a:latin typeface="Consolas" panose="020B0609020204030204" pitchFamily="49" charset="0"/>
              </a:rPr>
              <a:t>FROM</a:t>
            </a:r>
            <a:r>
              <a:rPr lang="en-US" dirty="0">
                <a:solidFill>
                  <a:srgbClr val="000000"/>
                </a:solidFill>
                <a:latin typeface="Consolas" panose="020B0609020204030204" pitchFamily="49" charset="0"/>
              </a:rPr>
              <a:t> </a:t>
            </a:r>
            <a:r>
              <a:rPr lang="en-US" dirty="0">
                <a:solidFill>
                  <a:srgbClr val="A9711A"/>
                </a:solidFill>
                <a:latin typeface="Consolas" panose="020B0609020204030204" pitchFamily="49" charset="0"/>
              </a:rPr>
              <a:t>assembly</a:t>
            </a:r>
            <a:r>
              <a:rPr lang="en-US" dirty="0">
                <a:solidFill>
                  <a:srgbClr val="000000"/>
                </a:solidFill>
                <a:latin typeface="Consolas" panose="020B0609020204030204" pitchFamily="49" charset="0"/>
              </a:rPr>
              <a:t> </a:t>
            </a:r>
            <a:r>
              <a:rPr lang="en-US" b="1" dirty="0">
                <a:solidFill>
                  <a:srgbClr val="800000"/>
                </a:solidFill>
                <a:latin typeface="Consolas" panose="020B0609020204030204" pitchFamily="49" charset="0"/>
              </a:rPr>
              <a:t>AS</a:t>
            </a:r>
            <a:r>
              <a:rPr lang="en-US" b="1"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assb,</a:t>
            </a:r>
            <a:r>
              <a:rPr lang="en-US" dirty="0" err="1">
                <a:solidFill>
                  <a:srgbClr val="FF0000"/>
                </a:solidFill>
                <a:latin typeface="Consolas" panose="020B0609020204030204" pitchFamily="49" charset="0"/>
              </a:rPr>
              <a:t>all_super</a:t>
            </a:r>
            <a:r>
              <a:rPr lang="en-US" dirty="0">
                <a:solidFill>
                  <a:srgbClr val="FF0000"/>
                </a:solidFill>
                <a:latin typeface="Consolas" panose="020B0609020204030204" pitchFamily="49" charset="0"/>
              </a:rPr>
              <a:t> </a:t>
            </a:r>
            <a:r>
              <a:rPr lang="en-US" b="1" dirty="0">
                <a:solidFill>
                  <a:srgbClr val="800000"/>
                </a:solidFill>
                <a:latin typeface="Consolas" panose="020B0609020204030204" pitchFamily="49" charset="0"/>
              </a:rPr>
              <a:t>AS</a:t>
            </a:r>
            <a:r>
              <a:rPr lang="en-US" b="1"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alls</a:t>
            </a:r>
            <a:endParaRPr lang="en-US" dirty="0">
              <a:solidFill>
                <a:srgbClr val="000000"/>
              </a:solidFill>
              <a:latin typeface="Consolas" panose="020B0609020204030204" pitchFamily="49" charset="0"/>
            </a:endParaRPr>
          </a:p>
          <a:p>
            <a:pPr algn="l">
              <a:spcBef>
                <a:spcPts val="200"/>
              </a:spcBef>
            </a:pPr>
            <a:r>
              <a:rPr lang="en-US" b="1" dirty="0">
                <a:solidFill>
                  <a:srgbClr val="000000"/>
                </a:solidFill>
                <a:latin typeface="Consolas" panose="020B0609020204030204" pitchFamily="49" charset="0"/>
              </a:rPr>
              <a:t>    </a:t>
            </a:r>
            <a:r>
              <a:rPr lang="en-US" b="1" dirty="0">
                <a:solidFill>
                  <a:srgbClr val="800000"/>
                </a:solidFill>
                <a:latin typeface="Consolas" panose="020B0609020204030204" pitchFamily="49" charset="0"/>
              </a:rPr>
              <a:t>WHERE</a:t>
            </a:r>
            <a:r>
              <a:rPr lang="en-US" b="1"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assb.subpart</a:t>
            </a:r>
            <a:r>
              <a:rPr lang="en-US" dirty="0">
                <a:solidFill>
                  <a:srgbClr val="000000"/>
                </a:solidFill>
                <a:latin typeface="Consolas" panose="020B0609020204030204" pitchFamily="49" charset="0"/>
              </a:rPr>
              <a:t> = </a:t>
            </a:r>
            <a:r>
              <a:rPr lang="en-US" dirty="0" err="1">
                <a:solidFill>
                  <a:srgbClr val="000000"/>
                </a:solidFill>
                <a:latin typeface="Consolas" panose="020B0609020204030204" pitchFamily="49" charset="0"/>
              </a:rPr>
              <a:t>alls.major</a:t>
            </a:r>
            <a:r>
              <a:rPr lang="en-US" b="1" dirty="0">
                <a:solidFill>
                  <a:srgbClr val="000000"/>
                </a:solidFill>
                <a:latin typeface="Consolas" panose="020B0609020204030204" pitchFamily="49" charset="0"/>
              </a:rPr>
              <a:t>)</a:t>
            </a:r>
          </a:p>
          <a:p>
            <a:pPr algn="l">
              <a:spcBef>
                <a:spcPts val="200"/>
              </a:spcBef>
            </a:pPr>
            <a:r>
              <a:rPr lang="en-US" b="1" dirty="0">
                <a:solidFill>
                  <a:srgbClr val="800000"/>
                </a:solidFill>
                <a:latin typeface="Consolas" panose="020B0609020204030204" pitchFamily="49" charset="0"/>
              </a:rPr>
              <a:t>SELECT</a:t>
            </a:r>
            <a:r>
              <a:rPr lang="en-US" b="1" dirty="0">
                <a:solidFill>
                  <a:srgbClr val="000000"/>
                </a:solidFill>
                <a:latin typeface="Consolas" panose="020B0609020204030204" pitchFamily="49" charset="0"/>
              </a:rPr>
              <a:t> *   </a:t>
            </a:r>
            <a:r>
              <a:rPr lang="en-US" b="1" dirty="0">
                <a:solidFill>
                  <a:srgbClr val="800000"/>
                </a:solidFill>
                <a:latin typeface="Consolas" panose="020B0609020204030204" pitchFamily="49" charset="0"/>
              </a:rPr>
              <a:t>FROM</a:t>
            </a:r>
            <a:r>
              <a:rPr lang="en-US" b="1" dirty="0">
                <a:solidFill>
                  <a:srgbClr val="000000"/>
                </a:solidFill>
                <a:latin typeface="Consolas" panose="020B0609020204030204" pitchFamily="49" charset="0"/>
              </a:rPr>
              <a:t> </a:t>
            </a:r>
            <a:r>
              <a:rPr lang="en-US" dirty="0">
                <a:solidFill>
                  <a:srgbClr val="000000"/>
                </a:solidFill>
                <a:latin typeface="Consolas" panose="020B0609020204030204" pitchFamily="49" charset="0"/>
              </a:rPr>
              <a:t>all_super</a:t>
            </a:r>
          </a:p>
          <a:p>
            <a:pPr algn="l">
              <a:spcBef>
                <a:spcPts val="200"/>
              </a:spcBef>
            </a:pPr>
            <a:r>
              <a:rPr lang="en-US" b="1" dirty="0">
                <a:solidFill>
                  <a:srgbClr val="800000"/>
                </a:solidFill>
                <a:latin typeface="Consolas" panose="020B0609020204030204" pitchFamily="49" charset="0"/>
              </a:rPr>
              <a:t>WHERE</a:t>
            </a:r>
            <a:r>
              <a:rPr lang="en-US" b="1" dirty="0">
                <a:solidFill>
                  <a:srgbClr val="000000"/>
                </a:solidFill>
                <a:latin typeface="Consolas" panose="020B0609020204030204" pitchFamily="49" charset="0"/>
              </a:rPr>
              <a:t> m</a:t>
            </a:r>
            <a:r>
              <a:rPr lang="en-US" dirty="0">
                <a:solidFill>
                  <a:srgbClr val="000000"/>
                </a:solidFill>
                <a:latin typeface="Consolas" panose="020B0609020204030204" pitchFamily="49" charset="0"/>
              </a:rPr>
              <a:t>inor = </a:t>
            </a:r>
            <a:r>
              <a:rPr lang="en-US" dirty="0">
                <a:solidFill>
                  <a:srgbClr val="008000"/>
                </a:solidFill>
                <a:latin typeface="Consolas" panose="020B0609020204030204" pitchFamily="49" charset="0"/>
              </a:rPr>
              <a:t>'1aCx’</a:t>
            </a:r>
            <a:r>
              <a:rPr lang="en-US" dirty="0">
                <a:solidFill>
                  <a:srgbClr val="FF0000"/>
                </a:solidFill>
                <a:latin typeface="Consolas" panose="020B0609020204030204" pitchFamily="49" charset="0"/>
              </a:rPr>
              <a:t>;</a:t>
            </a:r>
          </a:p>
        </p:txBody>
      </p:sp>
    </p:spTree>
    <p:extLst>
      <p:ext uri="{BB962C8B-B14F-4D97-AF65-F5344CB8AC3E}">
        <p14:creationId xmlns:p14="http://schemas.microsoft.com/office/powerpoint/2010/main" val="304481624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Execution of Recursive Queries</a:t>
            </a:r>
          </a:p>
        </p:txBody>
      </p:sp>
      <p:sp>
        <p:nvSpPr>
          <p:cNvPr id="3" name="Content Placeholder 2"/>
          <p:cNvSpPr>
            <a:spLocks noGrp="1"/>
          </p:cNvSpPr>
          <p:nvPr>
            <p:ph idx="1"/>
          </p:nvPr>
        </p:nvSpPr>
        <p:spPr/>
        <p:txBody>
          <a:bodyPr/>
          <a:lstStyle/>
          <a:p>
            <a:r>
              <a:rPr lang="en-US" dirty="0"/>
              <a:t>Create initial result set (query on </a:t>
            </a:r>
            <a:r>
              <a:rPr lang="en-US" dirty="0">
                <a:solidFill>
                  <a:schemeClr val="accent6"/>
                </a:solidFill>
              </a:rPr>
              <a:t>base tables</a:t>
            </a:r>
            <a:r>
              <a:rPr lang="en-US" dirty="0"/>
              <a:t>)</a:t>
            </a:r>
          </a:p>
          <a:p>
            <a:r>
              <a:rPr lang="en-US" dirty="0"/>
              <a:t>Recursion based on the existing result set (</a:t>
            </a:r>
            <a:r>
              <a:rPr lang="en-US" dirty="0">
                <a:solidFill>
                  <a:schemeClr val="accent6"/>
                </a:solidFill>
              </a:rPr>
              <a:t>temporary result table</a:t>
            </a:r>
            <a:r>
              <a:rPr lang="en-US" dirty="0"/>
              <a:t>)</a:t>
            </a:r>
          </a:p>
          <a:p>
            <a:r>
              <a:rPr lang="en-US" dirty="0"/>
              <a:t>Final query to return final result set (</a:t>
            </a:r>
            <a:r>
              <a:rPr lang="en-US" dirty="0">
                <a:solidFill>
                  <a:schemeClr val="accent6"/>
                </a:solidFill>
              </a:rPr>
              <a:t>termination</a:t>
            </a:r>
            <a:r>
              <a:rPr lang="en-US" dirty="0"/>
              <a:t>)</a:t>
            </a:r>
          </a:p>
          <a:p>
            <a:r>
              <a:rPr lang="en-US" dirty="0"/>
              <a:t>Limit recursion depth: use a `WHERE` condition to prevent infinite recursion and control the depth of recursion</a:t>
            </a:r>
          </a:p>
          <a:p>
            <a:pPr lvl="1"/>
            <a:r>
              <a:rPr lang="en-US" dirty="0"/>
              <a:t>MySQL defaults to a maximum recursion depth of 262,144, which can be adjusted</a:t>
            </a:r>
          </a:p>
          <a:p>
            <a:endParaRPr lang="en-US" dirty="0"/>
          </a:p>
          <a:p>
            <a:endParaRPr lang="en-US" dirty="0"/>
          </a:p>
        </p:txBody>
      </p:sp>
      <p:sp>
        <p:nvSpPr>
          <p:cNvPr id="5" name="TextBox 4">
            <a:extLst>
              <a:ext uri="{FF2B5EF4-FFF2-40B4-BE49-F238E27FC236}">
                <a16:creationId xmlns:a16="http://schemas.microsoft.com/office/drawing/2014/main" id="{3C1B39A1-15E6-80CB-983C-EAB6C1471AFA}"/>
              </a:ext>
            </a:extLst>
          </p:cNvPr>
          <p:cNvSpPr txBox="1">
            <a:spLocks noChangeArrowheads="1"/>
          </p:cNvSpPr>
          <p:nvPr/>
        </p:nvSpPr>
        <p:spPr bwMode="auto">
          <a:xfrm>
            <a:off x="76200" y="6430064"/>
            <a:ext cx="200048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Recursive queries</a:t>
            </a:r>
          </a:p>
        </p:txBody>
      </p:sp>
    </p:spTree>
    <p:extLst>
      <p:ext uri="{BB962C8B-B14F-4D97-AF65-F5344CB8AC3E}">
        <p14:creationId xmlns:p14="http://schemas.microsoft.com/office/powerpoint/2010/main" val="399093292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Recursive Query Discussion</a:t>
            </a:r>
          </a:p>
        </p:txBody>
      </p:sp>
      <p:sp>
        <p:nvSpPr>
          <p:cNvPr id="3" name="Content Placeholder 2"/>
          <p:cNvSpPr>
            <a:spLocks noGrp="1"/>
          </p:cNvSpPr>
          <p:nvPr>
            <p:ph idx="1"/>
          </p:nvPr>
        </p:nvSpPr>
        <p:spPr/>
        <p:txBody>
          <a:bodyPr/>
          <a:lstStyle/>
          <a:p>
            <a:r>
              <a:rPr lang="en-US" dirty="0"/>
              <a:t>SQL-99 only requires "linear" recursion: </a:t>
            </a:r>
            <a:r>
              <a:rPr lang="en-US" dirty="0">
                <a:solidFill>
                  <a:schemeClr val="accent6"/>
                </a:solidFill>
              </a:rPr>
              <a:t>each FROM has at most one reference to a recursively-defined relation</a:t>
            </a:r>
          </a:p>
          <a:p>
            <a:r>
              <a:rPr lang="en-US" dirty="0"/>
              <a:t>Provide a loop like iteration in SQL</a:t>
            </a:r>
          </a:p>
          <a:p>
            <a:r>
              <a:rPr lang="en-US" dirty="0"/>
              <a:t>Many use cases: BOM, social network (find n-</a:t>
            </a:r>
            <a:r>
              <a:rPr lang="en-US" dirty="0" err="1"/>
              <a:t>th</a:t>
            </a:r>
            <a:r>
              <a:rPr lang="en-US" dirty="0"/>
              <a:t> connection in a social network), etc</a:t>
            </a:r>
          </a:p>
          <a:p>
            <a:r>
              <a:rPr lang="en-US" dirty="0"/>
              <a:t>Implemented by major DBMS vendors: DB2, SQL Server, Sybase, PostgreSQL, Snowflake, </a:t>
            </a:r>
            <a:r>
              <a:rPr lang="en-US" dirty="0" err="1"/>
              <a:t>etc</a:t>
            </a:r>
            <a:r>
              <a:rPr lang="en-US" dirty="0"/>
              <a:t>, with different flavors</a:t>
            </a:r>
          </a:p>
          <a:p>
            <a:pPr marL="0" indent="0">
              <a:buNone/>
            </a:pPr>
            <a:endParaRPr lang="en-US" dirty="0"/>
          </a:p>
        </p:txBody>
      </p:sp>
      <p:sp>
        <p:nvSpPr>
          <p:cNvPr id="8" name="TextBox 7">
            <a:extLst>
              <a:ext uri="{FF2B5EF4-FFF2-40B4-BE49-F238E27FC236}">
                <a16:creationId xmlns:a16="http://schemas.microsoft.com/office/drawing/2014/main" id="{41F5A553-AE54-DCD8-5B5E-BB4B230A20EB}"/>
              </a:ext>
            </a:extLst>
          </p:cNvPr>
          <p:cNvSpPr txBox="1">
            <a:spLocks noChangeArrowheads="1"/>
          </p:cNvSpPr>
          <p:nvPr/>
        </p:nvSpPr>
        <p:spPr bwMode="auto">
          <a:xfrm>
            <a:off x="76200" y="6430064"/>
            <a:ext cx="200048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Recursive queries</a:t>
            </a:r>
          </a:p>
        </p:txBody>
      </p:sp>
    </p:spTree>
    <p:extLst>
      <p:ext uri="{BB962C8B-B14F-4D97-AF65-F5344CB8AC3E}">
        <p14:creationId xmlns:p14="http://schemas.microsoft.com/office/powerpoint/2010/main" val="144795219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Alternative Oracle Recursive Query Example (Hierarchical Query; Non-Standard)</a:t>
            </a:r>
          </a:p>
        </p:txBody>
      </p:sp>
      <p:sp>
        <p:nvSpPr>
          <p:cNvPr id="3" name="Content Placeholder 2"/>
          <p:cNvSpPr>
            <a:spLocks noGrp="1"/>
          </p:cNvSpPr>
          <p:nvPr>
            <p:ph idx="1"/>
          </p:nvPr>
        </p:nvSpPr>
        <p:spPr/>
        <p:txBody>
          <a:bodyPr/>
          <a:lstStyle/>
          <a:p>
            <a:r>
              <a:rPr lang="en-US" dirty="0"/>
              <a:t>Example Table:</a:t>
            </a:r>
          </a:p>
          <a:p>
            <a:pPr lvl="1">
              <a:buNone/>
            </a:pPr>
            <a:r>
              <a:rPr lang="en-US" sz="2000" dirty="0">
                <a:latin typeface="Courier New" panose="02070309020205020404" pitchFamily="49" charset="0"/>
                <a:cs typeface="Courier New" panose="02070309020205020404" pitchFamily="49" charset="0"/>
              </a:rPr>
              <a:t>employee(</a:t>
            </a:r>
            <a:r>
              <a:rPr lang="en-US" sz="2000" dirty="0" err="1">
                <a:latin typeface="Courier New" panose="02070309020205020404" pitchFamily="49" charset="0"/>
                <a:cs typeface="Courier New" panose="02070309020205020404" pitchFamily="49" charset="0"/>
              </a:rPr>
              <a:t>employee_id</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last_name</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manager_id</a:t>
            </a:r>
            <a:r>
              <a:rPr lang="en-US" sz="2000" dirty="0">
                <a:latin typeface="Courier New" panose="02070309020205020404" pitchFamily="49" charset="0"/>
                <a:cs typeface="Courier New" panose="02070309020205020404" pitchFamily="49" charset="0"/>
              </a:rPr>
              <a:t>, level)</a:t>
            </a:r>
            <a:r>
              <a:rPr lang="en-US" dirty="0">
                <a:latin typeface="Courier New" panose="02070309020205020404" pitchFamily="49" charset="0"/>
                <a:cs typeface="Courier New" panose="02070309020205020404" pitchFamily="49" charset="0"/>
              </a:rPr>
              <a:t>   </a:t>
            </a:r>
          </a:p>
          <a:p>
            <a:pPr lvl="1">
              <a:buNone/>
            </a:pPr>
            <a:r>
              <a:rPr lang="en-US" dirty="0"/>
              <a:t>  </a:t>
            </a:r>
            <a:endParaRPr lang="en-US" dirty="0">
              <a:latin typeface="Courier New" pitchFamily="49" charset="0"/>
              <a:cs typeface="Courier New" pitchFamily="49" charset="0"/>
            </a:endParaRPr>
          </a:p>
        </p:txBody>
      </p:sp>
      <p:sp>
        <p:nvSpPr>
          <p:cNvPr id="6" name="Rectangle 5"/>
          <p:cNvSpPr/>
          <p:nvPr/>
        </p:nvSpPr>
        <p:spPr>
          <a:xfrm>
            <a:off x="1876426" y="3505200"/>
            <a:ext cx="8334375" cy="2862322"/>
          </a:xfrm>
          <a:prstGeom prst="rect">
            <a:avLst/>
          </a:prstGeom>
        </p:spPr>
        <p:txBody>
          <a:bodyPr wrap="square">
            <a:spAutoFit/>
          </a:bodyPr>
          <a:lstStyle/>
          <a:p>
            <a:r>
              <a:rPr lang="en-US" dirty="0">
                <a:latin typeface="Courier New" pitchFamily="49" charset="0"/>
                <a:cs typeface="Courier New" pitchFamily="49" charset="0"/>
              </a:rPr>
              <a:t>LAST_NAME                 EMPLOYEE_ID MANAGER_ID      LEVEL</a:t>
            </a:r>
          </a:p>
          <a:p>
            <a:r>
              <a:rPr lang="en-US" dirty="0">
                <a:latin typeface="Courier New" pitchFamily="49" charset="0"/>
                <a:cs typeface="Courier New" pitchFamily="49" charset="0"/>
              </a:rPr>
              <a:t>------------------------- ----------- ---------- ----------</a:t>
            </a:r>
          </a:p>
          <a:p>
            <a:r>
              <a:rPr lang="en-US" dirty="0">
                <a:latin typeface="Courier New" pitchFamily="49" charset="0"/>
                <a:cs typeface="Courier New" pitchFamily="49" charset="0"/>
              </a:rPr>
              <a:t>King                              100                     1</a:t>
            </a:r>
          </a:p>
          <a:p>
            <a:r>
              <a:rPr lang="en-US" dirty="0" err="1">
                <a:latin typeface="Courier New" pitchFamily="49" charset="0"/>
                <a:cs typeface="Courier New" pitchFamily="49" charset="0"/>
              </a:rPr>
              <a:t>Cambrault</a:t>
            </a:r>
            <a:r>
              <a:rPr lang="en-US" dirty="0">
                <a:latin typeface="Courier New" pitchFamily="49" charset="0"/>
                <a:cs typeface="Courier New" pitchFamily="49" charset="0"/>
              </a:rPr>
              <a:t>                         148        100          2</a:t>
            </a:r>
          </a:p>
          <a:p>
            <a:r>
              <a:rPr lang="en-US" dirty="0">
                <a:latin typeface="Courier New" pitchFamily="49" charset="0"/>
                <a:cs typeface="Courier New" pitchFamily="49" charset="0"/>
              </a:rPr>
              <a:t>Bates                             172        148          3</a:t>
            </a:r>
          </a:p>
          <a:p>
            <a:r>
              <a:rPr lang="en-US" dirty="0">
                <a:latin typeface="Courier New" pitchFamily="49" charset="0"/>
                <a:cs typeface="Courier New" pitchFamily="49" charset="0"/>
              </a:rPr>
              <a:t>Bloom                             169        148          3</a:t>
            </a:r>
          </a:p>
          <a:p>
            <a:r>
              <a:rPr lang="en-US" dirty="0">
                <a:latin typeface="Courier New" pitchFamily="49" charset="0"/>
                <a:cs typeface="Courier New" pitchFamily="49" charset="0"/>
              </a:rPr>
              <a:t>Fox                               170        148          3</a:t>
            </a:r>
          </a:p>
          <a:p>
            <a:r>
              <a:rPr lang="en-US" dirty="0">
                <a:latin typeface="Courier New" pitchFamily="49" charset="0"/>
                <a:cs typeface="Courier New" pitchFamily="49" charset="0"/>
              </a:rPr>
              <a:t>Kumar                             173        148          3</a:t>
            </a:r>
          </a:p>
          <a:p>
            <a:r>
              <a:rPr lang="en-US" dirty="0" err="1">
                <a:latin typeface="Courier New" pitchFamily="49" charset="0"/>
                <a:cs typeface="Courier New" pitchFamily="49" charset="0"/>
              </a:rPr>
              <a:t>Ozer</a:t>
            </a:r>
            <a:r>
              <a:rPr lang="en-US" dirty="0">
                <a:latin typeface="Courier New" pitchFamily="49" charset="0"/>
                <a:cs typeface="Courier New" pitchFamily="49" charset="0"/>
              </a:rPr>
              <a:t>                              168        148          3</a:t>
            </a:r>
          </a:p>
          <a:p>
            <a:r>
              <a:rPr lang="en-US" dirty="0">
                <a:latin typeface="Courier New" pitchFamily="49" charset="0"/>
                <a:cs typeface="Courier New" pitchFamily="49" charset="0"/>
              </a:rPr>
              <a:t>Smith                             171        148          3</a:t>
            </a:r>
          </a:p>
        </p:txBody>
      </p:sp>
      <p:sp>
        <p:nvSpPr>
          <p:cNvPr id="7" name="Rectangle 6"/>
          <p:cNvSpPr/>
          <p:nvPr/>
        </p:nvSpPr>
        <p:spPr>
          <a:xfrm>
            <a:off x="2362200" y="1981201"/>
            <a:ext cx="7467600" cy="1323439"/>
          </a:xfrm>
          <a:prstGeom prst="rect">
            <a:avLst/>
          </a:prstGeom>
          <a:solidFill>
            <a:schemeClr val="bg1"/>
          </a:solidFill>
          <a:ln w="12700">
            <a:solidFill>
              <a:schemeClr val="bg2"/>
            </a:solidFill>
          </a:ln>
          <a:effectLst>
            <a:outerShdw blurRad="76200" dist="76200" dir="2700000" algn="tl" rotWithShape="0">
              <a:prstClr val="black">
                <a:alpha val="40000"/>
              </a:prstClr>
            </a:outerShdw>
          </a:effectLst>
        </p:spPr>
        <p:txBody>
          <a:bodyPr wrap="square">
            <a:spAutoFit/>
          </a:bodyPr>
          <a:lstStyle/>
          <a:p>
            <a:r>
              <a:rPr lang="en-US" sz="2000" b="1" dirty="0">
                <a:solidFill>
                  <a:schemeClr val="accent6"/>
                </a:solidFill>
                <a:latin typeface="Courier New" pitchFamily="49" charset="0"/>
                <a:cs typeface="Courier New" pitchFamily="49" charset="0"/>
              </a:rPr>
              <a:t>SELECT</a:t>
            </a:r>
            <a:r>
              <a:rPr lang="en-US" sz="2000" dirty="0">
                <a:solidFill>
                  <a:schemeClr val="accent6"/>
                </a:solidFill>
                <a:latin typeface="Courier New" pitchFamily="49" charset="0"/>
                <a:cs typeface="Courier New" pitchFamily="49" charset="0"/>
              </a:rPr>
              <a:t> </a:t>
            </a:r>
            <a:r>
              <a:rPr lang="en-US" sz="2000" dirty="0" err="1">
                <a:latin typeface="Courier New" pitchFamily="49" charset="0"/>
                <a:cs typeface="Courier New" pitchFamily="49" charset="0"/>
              </a:rPr>
              <a:t>last_name</a:t>
            </a: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employee_id,manager_id,level</a:t>
            </a:r>
            <a:endParaRPr lang="en-US" sz="2000" dirty="0">
              <a:latin typeface="Courier New" pitchFamily="49" charset="0"/>
              <a:cs typeface="Courier New" pitchFamily="49" charset="0"/>
            </a:endParaRPr>
          </a:p>
          <a:p>
            <a:r>
              <a:rPr lang="en-US" sz="2000" b="1" dirty="0">
                <a:solidFill>
                  <a:schemeClr val="accent6"/>
                </a:solidFill>
                <a:latin typeface="Courier New" pitchFamily="49" charset="0"/>
                <a:cs typeface="Courier New" pitchFamily="49" charset="0"/>
              </a:rPr>
              <a:t>FROM</a:t>
            </a:r>
            <a:r>
              <a:rPr lang="en-US" sz="2000" dirty="0">
                <a:solidFill>
                  <a:schemeClr val="accent6"/>
                </a:solidFill>
                <a:latin typeface="Courier New" pitchFamily="49" charset="0"/>
                <a:cs typeface="Courier New" pitchFamily="49" charset="0"/>
              </a:rPr>
              <a:t> </a:t>
            </a:r>
            <a:r>
              <a:rPr lang="en-US" sz="2000" dirty="0">
                <a:latin typeface="Courier New" pitchFamily="49" charset="0"/>
                <a:cs typeface="Courier New" pitchFamily="49" charset="0"/>
              </a:rPr>
              <a:t>employees </a:t>
            </a:r>
            <a:r>
              <a:rPr lang="en-US" sz="2000" b="1" dirty="0">
                <a:solidFill>
                  <a:srgbClr val="C00000"/>
                </a:solidFill>
                <a:latin typeface="Courier New" pitchFamily="49" charset="0"/>
                <a:cs typeface="Courier New" pitchFamily="49" charset="0"/>
              </a:rPr>
              <a:t>START WITH </a:t>
            </a:r>
            <a:r>
              <a:rPr lang="en-US" sz="2000" dirty="0" err="1">
                <a:latin typeface="Courier New" pitchFamily="49" charset="0"/>
                <a:cs typeface="Courier New" pitchFamily="49" charset="0"/>
              </a:rPr>
              <a:t>employee_id</a:t>
            </a:r>
            <a:r>
              <a:rPr lang="en-US" sz="2000" dirty="0">
                <a:latin typeface="Courier New" pitchFamily="49" charset="0"/>
                <a:cs typeface="Courier New" pitchFamily="49" charset="0"/>
              </a:rPr>
              <a:t> = 100 </a:t>
            </a:r>
          </a:p>
          <a:p>
            <a:r>
              <a:rPr lang="en-US" sz="2000" b="1" dirty="0">
                <a:solidFill>
                  <a:srgbClr val="C00000"/>
                </a:solidFill>
                <a:latin typeface="Courier New" pitchFamily="49" charset="0"/>
                <a:cs typeface="Courier New" pitchFamily="49" charset="0"/>
              </a:rPr>
              <a:t>CONNECT BY PRIOR</a:t>
            </a:r>
            <a:r>
              <a:rPr lang="en-US" sz="2000" dirty="0">
                <a:solidFill>
                  <a:schemeClr val="accent6"/>
                </a:solidFill>
                <a:latin typeface="Courier New" pitchFamily="49" charset="0"/>
                <a:cs typeface="Courier New" pitchFamily="49" charset="0"/>
              </a:rPr>
              <a:t> </a:t>
            </a:r>
            <a:r>
              <a:rPr lang="en-US" sz="2000" dirty="0" err="1">
                <a:latin typeface="Courier New" pitchFamily="49" charset="0"/>
                <a:cs typeface="Courier New" pitchFamily="49" charset="0"/>
              </a:rPr>
              <a:t>employee_id</a:t>
            </a:r>
            <a:r>
              <a:rPr lang="en-US" sz="2000" dirty="0">
                <a:latin typeface="Courier New" pitchFamily="49" charset="0"/>
                <a:cs typeface="Courier New" pitchFamily="49" charset="0"/>
              </a:rPr>
              <a:t> = </a:t>
            </a:r>
            <a:r>
              <a:rPr lang="en-US" sz="2000" dirty="0" err="1">
                <a:latin typeface="Courier New" pitchFamily="49" charset="0"/>
                <a:cs typeface="Courier New" pitchFamily="49" charset="0"/>
              </a:rPr>
              <a:t>manager_id</a:t>
            </a:r>
            <a:r>
              <a:rPr lang="en-US" sz="2000" dirty="0">
                <a:latin typeface="Courier New" pitchFamily="49" charset="0"/>
                <a:cs typeface="Courier New" pitchFamily="49" charset="0"/>
              </a:rPr>
              <a:t> </a:t>
            </a:r>
          </a:p>
          <a:p>
            <a:r>
              <a:rPr lang="en-US" sz="2000" b="1" dirty="0">
                <a:solidFill>
                  <a:schemeClr val="accent6"/>
                </a:solidFill>
                <a:latin typeface="Courier New" pitchFamily="49" charset="0"/>
                <a:cs typeface="Courier New" pitchFamily="49" charset="0"/>
              </a:rPr>
              <a:t>ORDER SIBLINGS BY </a:t>
            </a:r>
            <a:r>
              <a:rPr lang="en-US" sz="2000" dirty="0" err="1">
                <a:latin typeface="Courier New" pitchFamily="49" charset="0"/>
                <a:cs typeface="Courier New" pitchFamily="49" charset="0"/>
              </a:rPr>
              <a:t>last_name</a:t>
            </a:r>
            <a:r>
              <a:rPr lang="en-US" sz="2000" dirty="0">
                <a:latin typeface="Courier New" pitchFamily="49" charset="0"/>
                <a:cs typeface="Courier New" pitchFamily="49" charset="0"/>
              </a:rPr>
              <a:t>;</a:t>
            </a:r>
          </a:p>
        </p:txBody>
      </p:sp>
      <p:sp>
        <p:nvSpPr>
          <p:cNvPr id="5" name="TextBox 4">
            <a:extLst>
              <a:ext uri="{FF2B5EF4-FFF2-40B4-BE49-F238E27FC236}">
                <a16:creationId xmlns:a16="http://schemas.microsoft.com/office/drawing/2014/main" id="{013D5000-C70E-D996-8CAF-C77AEE452D96}"/>
              </a:ext>
            </a:extLst>
          </p:cNvPr>
          <p:cNvSpPr txBox="1">
            <a:spLocks noChangeArrowheads="1"/>
          </p:cNvSpPr>
          <p:nvPr/>
        </p:nvSpPr>
        <p:spPr bwMode="auto">
          <a:xfrm>
            <a:off x="76200" y="6430064"/>
            <a:ext cx="200048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Recursive queries</a:t>
            </a:r>
          </a:p>
        </p:txBody>
      </p:sp>
    </p:spTree>
    <p:extLst>
      <p:ext uri="{BB962C8B-B14F-4D97-AF65-F5344CB8AC3E}">
        <p14:creationId xmlns:p14="http://schemas.microsoft.com/office/powerpoint/2010/main" val="157843681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91B9F-6016-20E2-8EE3-5C769EAE23D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3A72A42-3CD5-D05E-1E66-87692D41C315}"/>
              </a:ext>
            </a:extLst>
          </p:cNvPr>
          <p:cNvSpPr>
            <a:spLocks noGrp="1"/>
          </p:cNvSpPr>
          <p:nvPr>
            <p:ph idx="1"/>
          </p:nvPr>
        </p:nvSpPr>
        <p:spPr/>
        <p:txBody>
          <a:bodyPr/>
          <a:lstStyle/>
          <a:p>
            <a:r>
              <a:rPr lang="en-US" dirty="0"/>
              <a:t>OLAP Queries </a:t>
            </a:r>
          </a:p>
          <a:p>
            <a:r>
              <a:rPr lang="en-US" dirty="0"/>
              <a:t>(Online Analytical Processing Queries) </a:t>
            </a:r>
          </a:p>
        </p:txBody>
      </p:sp>
    </p:spTree>
    <p:extLst>
      <p:ext uri="{BB962C8B-B14F-4D97-AF65-F5344CB8AC3E}">
        <p14:creationId xmlns:p14="http://schemas.microsoft.com/office/powerpoint/2010/main" val="397011540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of Decision Support</a:t>
            </a:r>
          </a:p>
        </p:txBody>
      </p:sp>
      <p:sp>
        <p:nvSpPr>
          <p:cNvPr id="3" name="Content Placeholder 2"/>
          <p:cNvSpPr>
            <a:spLocks noGrp="1"/>
          </p:cNvSpPr>
          <p:nvPr>
            <p:ph idx="1"/>
          </p:nvPr>
        </p:nvSpPr>
        <p:spPr/>
        <p:txBody>
          <a:bodyPr/>
          <a:lstStyle/>
          <a:p>
            <a:pPr>
              <a:buFont typeface="Wingdings" pitchFamily="2" charset="2"/>
              <a:buChar char="§"/>
            </a:pPr>
            <a:r>
              <a:rPr lang="en-US" dirty="0"/>
              <a:t>Increasingly,</a:t>
            </a:r>
            <a:r>
              <a:rPr lang="en-US" dirty="0">
                <a:solidFill>
                  <a:schemeClr val="accent2"/>
                </a:solidFill>
              </a:rPr>
              <a:t> </a:t>
            </a:r>
            <a:r>
              <a:rPr lang="en-US" dirty="0"/>
              <a:t>organizations are analyzing current and historical data to identify useful patterns and support business strategies</a:t>
            </a:r>
          </a:p>
          <a:p>
            <a:pPr>
              <a:buFont typeface="Wingdings" pitchFamily="2" charset="2"/>
              <a:buChar char="§"/>
            </a:pPr>
            <a:r>
              <a:rPr lang="en-US" dirty="0"/>
              <a:t>Emphasis is on </a:t>
            </a:r>
            <a:r>
              <a:rPr lang="en-US" dirty="0">
                <a:solidFill>
                  <a:schemeClr val="accent6"/>
                </a:solidFill>
              </a:rPr>
              <a:t>complex, interactive, exploratory </a:t>
            </a:r>
            <a:r>
              <a:rPr lang="en-US" dirty="0"/>
              <a:t>analysis of very large datasets created by integrating data from across all parts of an enterprise; data is fairly </a:t>
            </a:r>
            <a:r>
              <a:rPr lang="en-US" dirty="0">
                <a:solidFill>
                  <a:schemeClr val="accent6"/>
                </a:solidFill>
              </a:rPr>
              <a:t>static</a:t>
            </a:r>
          </a:p>
          <a:p>
            <a:pPr lvl="1">
              <a:buFont typeface="Wingdings" pitchFamily="2" charset="2"/>
              <a:buChar char="§"/>
            </a:pPr>
            <a:r>
              <a:rPr lang="en-US" dirty="0">
                <a:solidFill>
                  <a:schemeClr val="accent2"/>
                </a:solidFill>
              </a:rPr>
              <a:t>Data Warehousing:</a:t>
            </a:r>
            <a:r>
              <a:rPr lang="en-US" dirty="0"/>
              <a:t> consolidate data from many sources in one large repository</a:t>
            </a:r>
            <a:endParaRPr lang="en-US" dirty="0">
              <a:solidFill>
                <a:schemeClr val="accent6"/>
              </a:solidFill>
            </a:endParaRPr>
          </a:p>
          <a:p>
            <a:pPr lvl="1"/>
            <a:r>
              <a:rPr lang="en-US" dirty="0">
                <a:solidFill>
                  <a:schemeClr val="accent2"/>
                </a:solidFill>
              </a:rPr>
              <a:t>On-Line Analytic Processing (OLAP): </a:t>
            </a:r>
            <a:r>
              <a:rPr lang="en-US" dirty="0"/>
              <a:t>mostly long queries</a:t>
            </a:r>
            <a:endParaRPr lang="en-US" dirty="0">
              <a:solidFill>
                <a:schemeClr val="accent2"/>
              </a:solidFill>
            </a:endParaRPr>
          </a:p>
          <a:p>
            <a:pPr lvl="1"/>
            <a:r>
              <a:rPr lang="en-US" dirty="0">
                <a:solidFill>
                  <a:schemeClr val="accent6">
                    <a:lumMod val="40000"/>
                    <a:lumOff val="60000"/>
                  </a:schemeClr>
                </a:solidFill>
              </a:rPr>
              <a:t>On-line Transaction Processing (OLTP): </a:t>
            </a:r>
            <a:r>
              <a:rPr lang="en-US" dirty="0">
                <a:solidFill>
                  <a:schemeClr val="tx1">
                    <a:lumMod val="50000"/>
                    <a:lumOff val="50000"/>
                  </a:schemeClr>
                </a:solidFill>
              </a:rPr>
              <a:t>short update transactions</a:t>
            </a:r>
          </a:p>
          <a:p>
            <a:pPr lvl="1">
              <a:buNone/>
            </a:pPr>
            <a:endParaRPr lang="en-US" dirty="0"/>
          </a:p>
        </p:txBody>
      </p:sp>
      <p:sp>
        <p:nvSpPr>
          <p:cNvPr id="5" name="TextBox 4">
            <a:extLst>
              <a:ext uri="{FF2B5EF4-FFF2-40B4-BE49-F238E27FC236}">
                <a16:creationId xmlns:a16="http://schemas.microsoft.com/office/drawing/2014/main" id="{ECD716FF-E6A2-0D8A-B3C7-3A3B33A10644}"/>
              </a:ext>
            </a:extLst>
          </p:cNvPr>
          <p:cNvSpPr txBox="1">
            <a:spLocks noChangeArrowheads="1"/>
          </p:cNvSpPr>
          <p:nvPr/>
        </p:nvSpPr>
        <p:spPr bwMode="auto">
          <a:xfrm>
            <a:off x="76200" y="6430064"/>
            <a:ext cx="155042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OLAP queries</a:t>
            </a:r>
          </a:p>
        </p:txBody>
      </p:sp>
    </p:spTree>
    <p:extLst>
      <p:ext uri="{BB962C8B-B14F-4D97-AF65-F5344CB8AC3E}">
        <p14:creationId xmlns:p14="http://schemas.microsoft.com/office/powerpoint/2010/main" val="124216211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Concepts</a:t>
            </a:r>
          </a:p>
        </p:txBody>
      </p:sp>
      <p:sp>
        <p:nvSpPr>
          <p:cNvPr id="3" name="Content Placeholder 2"/>
          <p:cNvSpPr>
            <a:spLocks noGrp="1"/>
          </p:cNvSpPr>
          <p:nvPr>
            <p:ph idx="1"/>
          </p:nvPr>
        </p:nvSpPr>
        <p:spPr/>
        <p:txBody>
          <a:bodyPr/>
          <a:lstStyle/>
          <a:p>
            <a:pPr>
              <a:lnSpc>
                <a:spcPct val="90000"/>
              </a:lnSpc>
              <a:buFont typeface="Wingdings" pitchFamily="2" charset="2"/>
              <a:buChar char="§"/>
            </a:pPr>
            <a:r>
              <a:rPr lang="en-US" dirty="0">
                <a:solidFill>
                  <a:schemeClr val="accent2"/>
                </a:solidFill>
              </a:rPr>
              <a:t>Data Warehousing:</a:t>
            </a:r>
            <a:r>
              <a:rPr lang="en-US" dirty="0"/>
              <a:t> Consolidate data from many sources in one large repository</a:t>
            </a:r>
          </a:p>
          <a:p>
            <a:pPr lvl="1">
              <a:lnSpc>
                <a:spcPct val="90000"/>
              </a:lnSpc>
            </a:pPr>
            <a:r>
              <a:rPr lang="en-US" dirty="0"/>
              <a:t>ETL (extract, transform, load), periodic synchronization of replicas</a:t>
            </a:r>
          </a:p>
          <a:p>
            <a:pPr lvl="1">
              <a:lnSpc>
                <a:spcPct val="90000"/>
              </a:lnSpc>
            </a:pPr>
            <a:r>
              <a:rPr lang="en-US" dirty="0"/>
              <a:t>Semantic integration</a:t>
            </a:r>
          </a:p>
          <a:p>
            <a:pPr lvl="1">
              <a:lnSpc>
                <a:spcPct val="90000"/>
              </a:lnSpc>
            </a:pPr>
            <a:r>
              <a:rPr lang="en-US" dirty="0"/>
              <a:t>Data cleaning</a:t>
            </a:r>
          </a:p>
          <a:p>
            <a:pPr>
              <a:lnSpc>
                <a:spcPct val="90000"/>
              </a:lnSpc>
              <a:buFont typeface="Wingdings" pitchFamily="2" charset="2"/>
              <a:buChar char="§"/>
            </a:pPr>
            <a:r>
              <a:rPr lang="en-US" dirty="0">
                <a:solidFill>
                  <a:schemeClr val="accent2"/>
                </a:solidFill>
              </a:rPr>
              <a:t>OLAP:</a:t>
            </a:r>
            <a:r>
              <a:rPr lang="en-US" dirty="0"/>
              <a:t>  </a:t>
            </a:r>
          </a:p>
          <a:p>
            <a:pPr lvl="1">
              <a:lnSpc>
                <a:spcPct val="90000"/>
              </a:lnSpc>
            </a:pPr>
            <a:r>
              <a:rPr lang="en-US" dirty="0"/>
              <a:t>Complex SQL queries and views</a:t>
            </a:r>
          </a:p>
          <a:p>
            <a:pPr lvl="1">
              <a:lnSpc>
                <a:spcPct val="90000"/>
              </a:lnSpc>
            </a:pPr>
            <a:r>
              <a:rPr lang="en-US" dirty="0"/>
              <a:t>Queries based on spreadsheet-style operations and “multidimensional” view of data</a:t>
            </a:r>
          </a:p>
          <a:p>
            <a:pPr lvl="1">
              <a:lnSpc>
                <a:spcPct val="90000"/>
              </a:lnSpc>
            </a:pPr>
            <a:r>
              <a:rPr lang="en-US" dirty="0"/>
              <a:t>Interactive and “online” queries</a:t>
            </a:r>
          </a:p>
        </p:txBody>
      </p:sp>
      <p:sp>
        <p:nvSpPr>
          <p:cNvPr id="4" name="TextBox 3">
            <a:extLst>
              <a:ext uri="{FF2B5EF4-FFF2-40B4-BE49-F238E27FC236}">
                <a16:creationId xmlns:a16="http://schemas.microsoft.com/office/drawing/2014/main" id="{CD255ABF-93EE-2421-1B00-9863D2CC9EA1}"/>
              </a:ext>
            </a:extLst>
          </p:cNvPr>
          <p:cNvSpPr txBox="1">
            <a:spLocks noChangeArrowheads="1"/>
          </p:cNvSpPr>
          <p:nvPr/>
        </p:nvSpPr>
        <p:spPr bwMode="auto">
          <a:xfrm>
            <a:off x="76200" y="6430064"/>
            <a:ext cx="155042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OLAP queries</a:t>
            </a:r>
          </a:p>
        </p:txBody>
      </p:sp>
    </p:spTree>
    <p:extLst>
      <p:ext uri="{BB962C8B-B14F-4D97-AF65-F5344CB8AC3E}">
        <p14:creationId xmlns:p14="http://schemas.microsoft.com/office/powerpoint/2010/main" val="2882097368"/>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OLAP Introduction</a:t>
            </a:r>
          </a:p>
        </p:txBody>
      </p:sp>
      <p:sp>
        <p:nvSpPr>
          <p:cNvPr id="3" name="Content Placeholder 2"/>
          <p:cNvSpPr>
            <a:spLocks noGrp="1"/>
          </p:cNvSpPr>
          <p:nvPr>
            <p:ph idx="1"/>
          </p:nvPr>
        </p:nvSpPr>
        <p:spPr/>
        <p:txBody>
          <a:bodyPr/>
          <a:lstStyle/>
          <a:p>
            <a:r>
              <a:rPr lang="en-US" dirty="0"/>
              <a:t>OLAP data is modeled multi-dimensionally</a:t>
            </a:r>
          </a:p>
          <a:p>
            <a:r>
              <a:rPr lang="en-US" dirty="0"/>
              <a:t> It can be modeled as </a:t>
            </a:r>
            <a:r>
              <a:rPr lang="en-US" dirty="0">
                <a:solidFill>
                  <a:schemeClr val="accent6"/>
                </a:solidFill>
              </a:rPr>
              <a:t>dimension attributes </a:t>
            </a:r>
            <a:r>
              <a:rPr lang="en-US" dirty="0"/>
              <a:t>and </a:t>
            </a:r>
            <a:r>
              <a:rPr lang="en-US" dirty="0">
                <a:solidFill>
                  <a:schemeClr val="accent6"/>
                </a:solidFill>
              </a:rPr>
              <a:t>measure attributes</a:t>
            </a:r>
            <a:r>
              <a:rPr lang="en-US" dirty="0"/>
              <a:t>:</a:t>
            </a:r>
          </a:p>
          <a:p>
            <a:pPr lvl="1"/>
            <a:r>
              <a:rPr lang="en-US" dirty="0"/>
              <a:t>Given a relation used for data analysis, we can identify some of its attributes as </a:t>
            </a:r>
            <a:r>
              <a:rPr lang="en-US" dirty="0">
                <a:solidFill>
                  <a:schemeClr val="accent6"/>
                </a:solidFill>
              </a:rPr>
              <a:t>measure attributes</a:t>
            </a:r>
            <a:r>
              <a:rPr lang="en-US" dirty="0"/>
              <a:t>, since they measure some value and can be aggregated upon (e.g., </a:t>
            </a:r>
            <a:r>
              <a:rPr lang="en-US" i="1" dirty="0">
                <a:solidFill>
                  <a:srgbClr val="C00000"/>
                </a:solidFill>
              </a:rPr>
              <a:t>number of sales</a:t>
            </a:r>
            <a:r>
              <a:rPr lang="en-US" dirty="0"/>
              <a:t>)</a:t>
            </a:r>
          </a:p>
          <a:p>
            <a:pPr lvl="1"/>
            <a:r>
              <a:rPr lang="en-US" dirty="0"/>
              <a:t>Some of the other attributes of the relation are identified as </a:t>
            </a:r>
            <a:r>
              <a:rPr lang="en-US" dirty="0">
                <a:solidFill>
                  <a:schemeClr val="accent6"/>
                </a:solidFill>
              </a:rPr>
              <a:t>dimension attributes</a:t>
            </a:r>
            <a:r>
              <a:rPr lang="en-US" dirty="0"/>
              <a:t>, since they define the dimensions on which measure attributes and summaries of measure attributes are viewed. </a:t>
            </a:r>
            <a:r>
              <a:rPr lang="en-US" dirty="0">
                <a:solidFill>
                  <a:srgbClr val="C00000"/>
                </a:solidFill>
              </a:rPr>
              <a:t>e.g., </a:t>
            </a:r>
            <a:r>
              <a:rPr lang="en-US" i="1" dirty="0">
                <a:solidFill>
                  <a:srgbClr val="C00000"/>
                </a:solidFill>
              </a:rPr>
              <a:t>month, year, state, county, city…</a:t>
            </a:r>
          </a:p>
        </p:txBody>
      </p:sp>
      <p:sp>
        <p:nvSpPr>
          <p:cNvPr id="4" name="TextBox 3">
            <a:extLst>
              <a:ext uri="{FF2B5EF4-FFF2-40B4-BE49-F238E27FC236}">
                <a16:creationId xmlns:a16="http://schemas.microsoft.com/office/drawing/2014/main" id="{A88FD6B9-64E2-3914-B2A0-786F4FE320FC}"/>
              </a:ext>
            </a:extLst>
          </p:cNvPr>
          <p:cNvSpPr txBox="1">
            <a:spLocks noChangeArrowheads="1"/>
          </p:cNvSpPr>
          <p:nvPr/>
        </p:nvSpPr>
        <p:spPr bwMode="auto">
          <a:xfrm>
            <a:off x="76200" y="6430064"/>
            <a:ext cx="155042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OLAP queries</a:t>
            </a:r>
          </a:p>
        </p:txBody>
      </p:sp>
    </p:spTree>
    <p:extLst>
      <p:ext uri="{BB962C8B-B14F-4D97-AF65-F5344CB8AC3E}">
        <p14:creationId xmlns:p14="http://schemas.microsoft.com/office/powerpoint/2010/main" val="42135513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BF5C2-2267-47BE-9004-1EB43021D0F3}"/>
              </a:ext>
            </a:extLst>
          </p:cNvPr>
          <p:cNvSpPr>
            <a:spLocks noGrp="1"/>
          </p:cNvSpPr>
          <p:nvPr>
            <p:ph type="title"/>
          </p:nvPr>
        </p:nvSpPr>
        <p:spPr/>
        <p:txBody>
          <a:bodyPr/>
          <a:lstStyle/>
          <a:p>
            <a:r>
              <a:rPr lang="en-US" dirty="0"/>
              <a:t>The Star Schema</a:t>
            </a:r>
          </a:p>
        </p:txBody>
      </p:sp>
      <p:graphicFrame>
        <p:nvGraphicFramePr>
          <p:cNvPr id="6" name="Object 5">
            <a:extLst>
              <a:ext uri="{FF2B5EF4-FFF2-40B4-BE49-F238E27FC236}">
                <a16:creationId xmlns:a16="http://schemas.microsoft.com/office/drawing/2014/main" id="{547D1F04-D2AE-4F62-9DE4-10639656DDE5}"/>
              </a:ext>
            </a:extLst>
          </p:cNvPr>
          <p:cNvGraphicFramePr>
            <a:graphicFrameLocks noChangeAspect="1"/>
          </p:cNvGraphicFramePr>
          <p:nvPr>
            <p:extLst>
              <p:ext uri="{D42A27DB-BD31-4B8C-83A1-F6EECF244321}">
                <p14:modId xmlns:p14="http://schemas.microsoft.com/office/powerpoint/2010/main" val="1485842629"/>
              </p:ext>
            </p:extLst>
          </p:nvPr>
        </p:nvGraphicFramePr>
        <p:xfrm>
          <a:off x="4953000" y="1319702"/>
          <a:ext cx="7239000" cy="4970217"/>
        </p:xfrm>
        <a:graphic>
          <a:graphicData uri="http://schemas.openxmlformats.org/presentationml/2006/ole">
            <mc:AlternateContent xmlns:mc="http://schemas.openxmlformats.org/markup-compatibility/2006">
              <mc:Choice xmlns:v="urn:schemas-microsoft-com:vml" Requires="v">
                <p:oleObj name="Image" r:id="rId3" imgW="34488720" imgH="23669640" progId="Photoshop.Image.18">
                  <p:embed/>
                </p:oleObj>
              </mc:Choice>
              <mc:Fallback>
                <p:oleObj name="Image" r:id="rId3" imgW="34488720" imgH="23669640" progId="Photoshop.Image.18">
                  <p:embed/>
                  <p:pic>
                    <p:nvPicPr>
                      <p:cNvPr id="0" name=""/>
                      <p:cNvPicPr/>
                      <p:nvPr/>
                    </p:nvPicPr>
                    <p:blipFill>
                      <a:blip r:embed="rId4"/>
                      <a:stretch>
                        <a:fillRect/>
                      </a:stretch>
                    </p:blipFill>
                    <p:spPr>
                      <a:xfrm>
                        <a:off x="4953000" y="1319702"/>
                        <a:ext cx="7239000" cy="4970217"/>
                      </a:xfrm>
                      <a:prstGeom prst="rect">
                        <a:avLst/>
                      </a:prstGeom>
                    </p:spPr>
                  </p:pic>
                </p:oleObj>
              </mc:Fallback>
            </mc:AlternateContent>
          </a:graphicData>
        </a:graphic>
      </p:graphicFrame>
      <p:sp>
        <p:nvSpPr>
          <p:cNvPr id="4" name="TextBox 3">
            <a:extLst>
              <a:ext uri="{FF2B5EF4-FFF2-40B4-BE49-F238E27FC236}">
                <a16:creationId xmlns:a16="http://schemas.microsoft.com/office/drawing/2014/main" id="{28D39DE6-42D5-F2AA-EFEE-72050A243C96}"/>
              </a:ext>
            </a:extLst>
          </p:cNvPr>
          <p:cNvSpPr txBox="1">
            <a:spLocks noChangeArrowheads="1"/>
          </p:cNvSpPr>
          <p:nvPr/>
        </p:nvSpPr>
        <p:spPr bwMode="auto">
          <a:xfrm>
            <a:off x="76200" y="6430064"/>
            <a:ext cx="155042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OLAP queries</a:t>
            </a:r>
          </a:p>
        </p:txBody>
      </p:sp>
      <p:sp>
        <p:nvSpPr>
          <p:cNvPr id="3" name="Content Placeholder 2">
            <a:extLst>
              <a:ext uri="{FF2B5EF4-FFF2-40B4-BE49-F238E27FC236}">
                <a16:creationId xmlns:a16="http://schemas.microsoft.com/office/drawing/2014/main" id="{9A6FB61F-D158-4789-8CB2-870B0E8B2DD7}"/>
              </a:ext>
            </a:extLst>
          </p:cNvPr>
          <p:cNvSpPr>
            <a:spLocks noGrp="1"/>
          </p:cNvSpPr>
          <p:nvPr>
            <p:ph idx="1"/>
          </p:nvPr>
        </p:nvSpPr>
        <p:spPr>
          <a:xfrm>
            <a:off x="198226" y="931863"/>
            <a:ext cx="4830974" cy="5316538"/>
          </a:xfrm>
        </p:spPr>
        <p:txBody>
          <a:bodyPr/>
          <a:lstStyle/>
          <a:p>
            <a:r>
              <a:rPr lang="en-US" dirty="0"/>
              <a:t>The star schema consists of one or more fact tables referencing any number of dimension tables</a:t>
            </a:r>
          </a:p>
        </p:txBody>
      </p:sp>
    </p:spTree>
    <p:extLst>
      <p:ext uri="{BB962C8B-B14F-4D97-AF65-F5344CB8AC3E}">
        <p14:creationId xmlns:p14="http://schemas.microsoft.com/office/powerpoint/2010/main" val="2866015673"/>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360C9-2FFD-4F7D-80B9-A17AA6242818}"/>
              </a:ext>
            </a:extLst>
          </p:cNvPr>
          <p:cNvSpPr>
            <a:spLocks noGrp="1"/>
          </p:cNvSpPr>
          <p:nvPr>
            <p:ph type="title"/>
          </p:nvPr>
        </p:nvSpPr>
        <p:spPr/>
        <p:txBody>
          <a:bodyPr/>
          <a:lstStyle/>
          <a:p>
            <a:r>
              <a:rPr lang="en-US" dirty="0"/>
              <a:t>Snowflake Schema</a:t>
            </a:r>
          </a:p>
        </p:txBody>
      </p:sp>
      <p:pic>
        <p:nvPicPr>
          <p:cNvPr id="4" name="Picture 3">
            <a:extLst>
              <a:ext uri="{FF2B5EF4-FFF2-40B4-BE49-F238E27FC236}">
                <a16:creationId xmlns:a16="http://schemas.microsoft.com/office/drawing/2014/main" id="{C4E77ECF-7627-4557-B194-4A5111B81F28}"/>
              </a:ext>
            </a:extLst>
          </p:cNvPr>
          <p:cNvPicPr>
            <a:picLocks noChangeAspect="1"/>
          </p:cNvPicPr>
          <p:nvPr/>
        </p:nvPicPr>
        <p:blipFill>
          <a:blip r:embed="rId3"/>
          <a:stretch>
            <a:fillRect/>
          </a:stretch>
        </p:blipFill>
        <p:spPr>
          <a:xfrm>
            <a:off x="6437860" y="557144"/>
            <a:ext cx="5677940" cy="5739976"/>
          </a:xfrm>
          <a:prstGeom prst="rect">
            <a:avLst/>
          </a:prstGeom>
        </p:spPr>
      </p:pic>
      <p:pic>
        <p:nvPicPr>
          <p:cNvPr id="1026" name="Picture 2">
            <a:extLst>
              <a:ext uri="{FF2B5EF4-FFF2-40B4-BE49-F238E27FC236}">
                <a16:creationId xmlns:a16="http://schemas.microsoft.com/office/drawing/2014/main" id="{0657FCC5-09DD-E5FC-9CF0-9727826AE7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050" y="2457450"/>
            <a:ext cx="5086350" cy="35623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4EF842E-5FF4-A25C-9CAC-AA3CE6DA8CEB}"/>
              </a:ext>
            </a:extLst>
          </p:cNvPr>
          <p:cNvSpPr txBox="1"/>
          <p:nvPr/>
        </p:nvSpPr>
        <p:spPr>
          <a:xfrm>
            <a:off x="101601" y="838200"/>
            <a:ext cx="6234544" cy="1015663"/>
          </a:xfrm>
          <a:prstGeom prst="rect">
            <a:avLst/>
          </a:prstGeom>
          <a:noFill/>
        </p:spPr>
        <p:txBody>
          <a:bodyPr wrap="square">
            <a:spAutoFit/>
          </a:bodyPr>
          <a:lstStyle/>
          <a:p>
            <a:r>
              <a:rPr lang="en-US" sz="2000" b="0" i="0" dirty="0">
                <a:solidFill>
                  <a:srgbClr val="161616"/>
                </a:solidFill>
                <a:effectLst/>
                <a:latin typeface="Verdana" panose="020B0604030504040204" pitchFamily="34" charset="0"/>
                <a:ea typeface="Verdana" panose="020B0604030504040204" pitchFamily="34" charset="0"/>
              </a:rPr>
              <a:t>Snowflake schemas further separate the different levels of a hierarchy into separate normalized tables</a:t>
            </a:r>
            <a:endParaRPr lang="en-US" sz="2000" dirty="0">
              <a:latin typeface="Verdana" panose="020B0604030504040204" pitchFamily="34" charset="0"/>
              <a:ea typeface="Verdana" panose="020B0604030504040204" pitchFamily="34" charset="0"/>
            </a:endParaRPr>
          </a:p>
        </p:txBody>
      </p:sp>
      <p:sp>
        <p:nvSpPr>
          <p:cNvPr id="6" name="TextBox 5">
            <a:extLst>
              <a:ext uri="{FF2B5EF4-FFF2-40B4-BE49-F238E27FC236}">
                <a16:creationId xmlns:a16="http://schemas.microsoft.com/office/drawing/2014/main" id="{8ED4BF42-91BF-CFCE-2C23-3ADD18CDAC0B}"/>
              </a:ext>
            </a:extLst>
          </p:cNvPr>
          <p:cNvSpPr txBox="1">
            <a:spLocks noChangeArrowheads="1"/>
          </p:cNvSpPr>
          <p:nvPr/>
        </p:nvSpPr>
        <p:spPr bwMode="auto">
          <a:xfrm>
            <a:off x="76200" y="6430064"/>
            <a:ext cx="155042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OLAP queries</a:t>
            </a:r>
          </a:p>
        </p:txBody>
      </p:sp>
    </p:spTree>
    <p:extLst>
      <p:ext uri="{BB962C8B-B14F-4D97-AF65-F5344CB8AC3E}">
        <p14:creationId xmlns:p14="http://schemas.microsoft.com/office/powerpoint/2010/main" val="326278653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Cross Tabulation</a:t>
            </a:r>
          </a:p>
        </p:txBody>
      </p:sp>
      <p:sp>
        <p:nvSpPr>
          <p:cNvPr id="3" name="Content Placeholder 2"/>
          <p:cNvSpPr>
            <a:spLocks noGrp="1"/>
          </p:cNvSpPr>
          <p:nvPr>
            <p:ph idx="1"/>
          </p:nvPr>
        </p:nvSpPr>
        <p:spPr/>
        <p:txBody>
          <a:bodyPr/>
          <a:lstStyle/>
          <a:p>
            <a:r>
              <a:rPr lang="en-US" dirty="0"/>
              <a:t>A cross tabulation is a table where:</a:t>
            </a:r>
          </a:p>
          <a:p>
            <a:pPr lvl="1">
              <a:spcBef>
                <a:spcPts val="0"/>
              </a:spcBef>
              <a:spcAft>
                <a:spcPts val="0"/>
              </a:spcAft>
            </a:pPr>
            <a:r>
              <a:rPr lang="en-US" dirty="0"/>
              <a:t>values of one of the dimension attributes form the </a:t>
            </a:r>
            <a:r>
              <a:rPr lang="en-US" dirty="0">
                <a:solidFill>
                  <a:schemeClr val="accent6"/>
                </a:solidFill>
              </a:rPr>
              <a:t>row</a:t>
            </a:r>
            <a:r>
              <a:rPr lang="en-US" dirty="0"/>
              <a:t> headers, </a:t>
            </a:r>
          </a:p>
          <a:p>
            <a:pPr lvl="1">
              <a:spcBef>
                <a:spcPts val="0"/>
              </a:spcBef>
              <a:spcAft>
                <a:spcPts val="0"/>
              </a:spcAft>
            </a:pPr>
            <a:r>
              <a:rPr lang="en-US" dirty="0"/>
              <a:t>values of another dimension attribute form the </a:t>
            </a:r>
            <a:r>
              <a:rPr lang="en-US" dirty="0">
                <a:solidFill>
                  <a:schemeClr val="accent6"/>
                </a:solidFill>
              </a:rPr>
              <a:t>column</a:t>
            </a:r>
            <a:r>
              <a:rPr lang="en-US" dirty="0"/>
              <a:t> headers, </a:t>
            </a:r>
          </a:p>
          <a:p>
            <a:pPr lvl="1">
              <a:spcBef>
                <a:spcPts val="0"/>
              </a:spcBef>
              <a:spcAft>
                <a:spcPts val="0"/>
              </a:spcAft>
            </a:pPr>
            <a:r>
              <a:rPr lang="en-US" dirty="0"/>
              <a:t>and values in individual cells are (</a:t>
            </a:r>
            <a:r>
              <a:rPr lang="en-US" dirty="0">
                <a:solidFill>
                  <a:schemeClr val="accent2"/>
                </a:solidFill>
              </a:rPr>
              <a:t>aggregates</a:t>
            </a:r>
            <a:r>
              <a:rPr lang="en-US" dirty="0"/>
              <a:t> of) the values of the dimension attributes that specify the </a:t>
            </a:r>
            <a:r>
              <a:rPr lang="en-US" dirty="0">
                <a:solidFill>
                  <a:schemeClr val="accent6"/>
                </a:solidFill>
              </a:rPr>
              <a:t>cell</a:t>
            </a:r>
          </a:p>
        </p:txBody>
      </p:sp>
      <p:pic>
        <p:nvPicPr>
          <p:cNvPr id="6146" name="Picture 2"/>
          <p:cNvPicPr>
            <a:picLocks noChangeAspect="1" noChangeArrowheads="1"/>
          </p:cNvPicPr>
          <p:nvPr/>
        </p:nvPicPr>
        <p:blipFill>
          <a:blip r:embed="rId2" cstate="print"/>
          <a:srcRect/>
          <a:stretch>
            <a:fillRect/>
          </a:stretch>
        </p:blipFill>
        <p:spPr bwMode="auto">
          <a:xfrm>
            <a:off x="1981201" y="3112931"/>
            <a:ext cx="7705725" cy="2754469"/>
          </a:xfrm>
          <a:prstGeom prst="rect">
            <a:avLst/>
          </a:prstGeom>
          <a:noFill/>
          <a:ln w="9525">
            <a:noFill/>
            <a:miter lim="800000"/>
            <a:headEnd/>
            <a:tailEnd/>
          </a:ln>
        </p:spPr>
      </p:pic>
      <p:cxnSp>
        <p:nvCxnSpPr>
          <p:cNvPr id="8" name="Straight Arrow Connector 7"/>
          <p:cNvCxnSpPr>
            <a:cxnSpLocks/>
          </p:cNvCxnSpPr>
          <p:nvPr/>
        </p:nvCxnSpPr>
        <p:spPr bwMode="auto">
          <a:xfrm>
            <a:off x="2514600" y="3114420"/>
            <a:ext cx="7010400" cy="0"/>
          </a:xfrm>
          <a:prstGeom prst="straightConnector1">
            <a:avLst/>
          </a:prstGeom>
          <a:noFill/>
          <a:ln w="19050" cap="flat" cmpd="sng" algn="ctr">
            <a:solidFill>
              <a:srgbClr val="FF9900"/>
            </a:solidFill>
            <a:prstDash val="solid"/>
            <a:round/>
            <a:headEnd type="none" w="med" len="med"/>
            <a:tailEnd type="arrow"/>
          </a:ln>
          <a:effectLst/>
        </p:spPr>
      </p:cxnSp>
      <p:cxnSp>
        <p:nvCxnSpPr>
          <p:cNvPr id="10" name="Straight Arrow Connector 9"/>
          <p:cNvCxnSpPr/>
          <p:nvPr/>
        </p:nvCxnSpPr>
        <p:spPr bwMode="auto">
          <a:xfrm>
            <a:off x="1981200" y="3352801"/>
            <a:ext cx="0" cy="2208213"/>
          </a:xfrm>
          <a:prstGeom prst="straightConnector1">
            <a:avLst/>
          </a:prstGeom>
          <a:noFill/>
          <a:ln w="19050" cap="flat" cmpd="sng" algn="ctr">
            <a:solidFill>
              <a:srgbClr val="FF9900"/>
            </a:solidFill>
            <a:prstDash val="solid"/>
            <a:round/>
            <a:headEnd type="none" w="med" len="med"/>
            <a:tailEnd type="arrow"/>
          </a:ln>
          <a:effectLst/>
        </p:spPr>
      </p:cxnSp>
      <p:sp>
        <p:nvSpPr>
          <p:cNvPr id="4" name="TextBox 3">
            <a:extLst>
              <a:ext uri="{FF2B5EF4-FFF2-40B4-BE49-F238E27FC236}">
                <a16:creationId xmlns:a16="http://schemas.microsoft.com/office/drawing/2014/main" id="{CE565C49-5FCA-C70F-19E7-250689B20F97}"/>
              </a:ext>
            </a:extLst>
          </p:cNvPr>
          <p:cNvSpPr txBox="1">
            <a:spLocks noChangeArrowheads="1"/>
          </p:cNvSpPr>
          <p:nvPr/>
        </p:nvSpPr>
        <p:spPr bwMode="auto">
          <a:xfrm>
            <a:off x="76200" y="6430064"/>
            <a:ext cx="155042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OLAP queries</a:t>
            </a:r>
          </a:p>
        </p:txBody>
      </p:sp>
    </p:spTree>
    <p:extLst>
      <p:ext uri="{BB962C8B-B14F-4D97-AF65-F5344CB8AC3E}">
        <p14:creationId xmlns:p14="http://schemas.microsoft.com/office/powerpoint/2010/main" val="368846054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Cross Tabulation and its Relational Representation</a:t>
            </a:r>
          </a:p>
        </p:txBody>
      </p:sp>
      <p:sp>
        <p:nvSpPr>
          <p:cNvPr id="3" name="Content Placeholder 2"/>
          <p:cNvSpPr>
            <a:spLocks noGrp="1"/>
          </p:cNvSpPr>
          <p:nvPr>
            <p:ph idx="1"/>
          </p:nvPr>
        </p:nvSpPr>
        <p:spPr>
          <a:xfrm>
            <a:off x="198226" y="931863"/>
            <a:ext cx="7193174" cy="5316538"/>
          </a:xfrm>
        </p:spPr>
        <p:txBody>
          <a:bodyPr vert="horz" wrap="square" lIns="0" tIns="0" rIns="0" bIns="45720" numCol="1" anchor="t" anchorCtr="0" compatLnSpc="1">
            <a:prstTxWarp prst="textNoShape">
              <a:avLst/>
            </a:prstTxWarp>
          </a:bodyPr>
          <a:lstStyle/>
          <a:p>
            <a:r>
              <a:rPr lang="en-US" dirty="0"/>
              <a:t>In relational DBMSs cross tabulations are represented as relations:</a:t>
            </a:r>
          </a:p>
          <a:p>
            <a:pPr lvl="1"/>
            <a:r>
              <a:rPr lang="en-US" dirty="0"/>
              <a:t>The value “</a:t>
            </a:r>
            <a:r>
              <a:rPr lang="en-US" dirty="0">
                <a:solidFill>
                  <a:schemeClr val="accent6"/>
                </a:solidFill>
              </a:rPr>
              <a:t>all”</a:t>
            </a:r>
            <a:r>
              <a:rPr lang="en-US" dirty="0"/>
              <a:t> is used to represent aggregates</a:t>
            </a:r>
          </a:p>
          <a:p>
            <a:r>
              <a:rPr lang="en-US" dirty="0"/>
              <a:t>The SQL 1999 standard uses </a:t>
            </a:r>
            <a:r>
              <a:rPr lang="en-US" dirty="0">
                <a:solidFill>
                  <a:schemeClr val="accent6"/>
                </a:solidFill>
              </a:rPr>
              <a:t>null</a:t>
            </a:r>
            <a:r>
              <a:rPr lang="en-US" dirty="0"/>
              <a:t> values in place of “all”</a:t>
            </a:r>
          </a:p>
          <a:p>
            <a:r>
              <a:rPr lang="en-US" dirty="0"/>
              <a:t> </a:t>
            </a:r>
          </a:p>
        </p:txBody>
      </p:sp>
      <p:pic>
        <p:nvPicPr>
          <p:cNvPr id="7170" name="Picture 2"/>
          <p:cNvPicPr>
            <a:picLocks noChangeAspect="1" noChangeArrowheads="1"/>
          </p:cNvPicPr>
          <p:nvPr/>
        </p:nvPicPr>
        <p:blipFill>
          <a:blip r:embed="rId2" cstate="print"/>
          <a:srcRect/>
          <a:stretch>
            <a:fillRect/>
          </a:stretch>
        </p:blipFill>
        <p:spPr bwMode="auto">
          <a:xfrm>
            <a:off x="7467600" y="914769"/>
            <a:ext cx="4309550" cy="5332413"/>
          </a:xfrm>
          <a:prstGeom prst="rect">
            <a:avLst/>
          </a:prstGeom>
          <a:noFill/>
          <a:ln w="9525">
            <a:noFill/>
            <a:miter lim="800000"/>
            <a:headEnd/>
            <a:tailEnd/>
          </a:ln>
        </p:spPr>
      </p:pic>
      <p:sp>
        <p:nvSpPr>
          <p:cNvPr id="4" name="TextBox 3">
            <a:extLst>
              <a:ext uri="{FF2B5EF4-FFF2-40B4-BE49-F238E27FC236}">
                <a16:creationId xmlns:a16="http://schemas.microsoft.com/office/drawing/2014/main" id="{82526DAA-2540-A5F1-D089-CDA3E828F958}"/>
              </a:ext>
            </a:extLst>
          </p:cNvPr>
          <p:cNvSpPr txBox="1">
            <a:spLocks noChangeArrowheads="1"/>
          </p:cNvSpPr>
          <p:nvPr/>
        </p:nvSpPr>
        <p:spPr bwMode="auto">
          <a:xfrm>
            <a:off x="76200" y="6430064"/>
            <a:ext cx="155042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OLAP queries</a:t>
            </a:r>
          </a:p>
        </p:txBody>
      </p:sp>
    </p:spTree>
    <p:extLst>
      <p:ext uri="{BB962C8B-B14F-4D97-AF65-F5344CB8AC3E}">
        <p14:creationId xmlns:p14="http://schemas.microsoft.com/office/powerpoint/2010/main" val="296914910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OLAP Terminology</a:t>
            </a:r>
          </a:p>
        </p:txBody>
      </p:sp>
      <p:sp>
        <p:nvSpPr>
          <p:cNvPr id="7" name="Content Placeholder 2"/>
          <p:cNvSpPr>
            <a:spLocks noGrp="1"/>
          </p:cNvSpPr>
          <p:nvPr>
            <p:ph idx="1"/>
          </p:nvPr>
        </p:nvSpPr>
        <p:spPr>
          <a:xfrm>
            <a:off x="198226" y="931863"/>
            <a:ext cx="6888374" cy="5316538"/>
          </a:xfrm>
        </p:spPr>
        <p:txBody>
          <a:bodyPr/>
          <a:lstStyle/>
          <a:p>
            <a:r>
              <a:rPr lang="en-US" dirty="0">
                <a:latin typeface="Arial" pitchFamily="34" charset="0"/>
              </a:rPr>
              <a:t>A </a:t>
            </a:r>
            <a:r>
              <a:rPr lang="en-US" b="1" dirty="0">
                <a:latin typeface="Arial" pitchFamily="34" charset="0"/>
              </a:rPr>
              <a:t>dimension</a:t>
            </a:r>
            <a:r>
              <a:rPr lang="en-US" dirty="0">
                <a:latin typeface="Arial" pitchFamily="34" charset="0"/>
              </a:rPr>
              <a:t> is an axis along which data is organized </a:t>
            </a:r>
          </a:p>
          <a:p>
            <a:pPr marL="0" indent="0">
              <a:buNone/>
            </a:pPr>
            <a:endParaRPr lang="en-US" dirty="0">
              <a:latin typeface="Arial" pitchFamily="34" charset="0"/>
            </a:endParaRPr>
          </a:p>
          <a:p>
            <a:pPr marL="0" indent="0">
              <a:buNone/>
            </a:pPr>
            <a:endParaRPr lang="en-US" dirty="0">
              <a:latin typeface="Arial" pitchFamily="34" charset="0"/>
            </a:endParaRPr>
          </a:p>
          <a:p>
            <a:endParaRPr lang="en-US" dirty="0">
              <a:latin typeface="Arial" pitchFamily="34" charset="0"/>
            </a:endParaRPr>
          </a:p>
          <a:p>
            <a:r>
              <a:rPr lang="en-US" dirty="0">
                <a:latin typeface="Arial" pitchFamily="34" charset="0"/>
              </a:rPr>
              <a:t>A </a:t>
            </a:r>
            <a:r>
              <a:rPr lang="en-US" b="1" dirty="0">
                <a:latin typeface="Arial" pitchFamily="34" charset="0"/>
              </a:rPr>
              <a:t>slice</a:t>
            </a:r>
            <a:r>
              <a:rPr lang="en-US" dirty="0">
                <a:latin typeface="Arial" pitchFamily="34" charset="0"/>
              </a:rPr>
              <a:t> is the portion of the table that contains all the rows that have a specific value for one of the dimensions</a:t>
            </a:r>
          </a:p>
          <a:p>
            <a:pPr lvl="1"/>
            <a:r>
              <a:rPr lang="en-US" b="1" dirty="0"/>
              <a:t>Dice</a:t>
            </a:r>
            <a:r>
              <a:rPr lang="en-US" dirty="0"/>
              <a:t>: a slice on more than two dimensions</a:t>
            </a:r>
            <a:endParaRPr lang="en-US" dirty="0">
              <a:latin typeface="Arial" pitchFamily="34" charset="0"/>
            </a:endParaRPr>
          </a:p>
          <a:p>
            <a:pPr lvl="1"/>
            <a:endParaRPr lang="en-US" dirty="0">
              <a:latin typeface="Arial" pitchFamily="34" charset="0"/>
            </a:endParaRPr>
          </a:p>
          <a:p>
            <a:endParaRPr lang="en-US" dirty="0"/>
          </a:p>
        </p:txBody>
      </p:sp>
      <p:pic>
        <p:nvPicPr>
          <p:cNvPr id="8"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62807" y="533400"/>
            <a:ext cx="4632545" cy="2801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7151" y="3429000"/>
            <a:ext cx="5181600" cy="2859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a:extLst>
              <a:ext uri="{FF2B5EF4-FFF2-40B4-BE49-F238E27FC236}">
                <a16:creationId xmlns:a16="http://schemas.microsoft.com/office/drawing/2014/main" id="{5FB6AC12-D781-88F4-E35A-45322C0F9110}"/>
              </a:ext>
            </a:extLst>
          </p:cNvPr>
          <p:cNvSpPr txBox="1">
            <a:spLocks noChangeArrowheads="1"/>
          </p:cNvSpPr>
          <p:nvPr/>
        </p:nvSpPr>
        <p:spPr bwMode="auto">
          <a:xfrm>
            <a:off x="76200" y="6430064"/>
            <a:ext cx="155042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OLAP queries</a:t>
            </a:r>
          </a:p>
        </p:txBody>
      </p:sp>
    </p:spTree>
    <p:extLst>
      <p:ext uri="{BB962C8B-B14F-4D97-AF65-F5344CB8AC3E}">
        <p14:creationId xmlns:p14="http://schemas.microsoft.com/office/powerpoint/2010/main" val="1785114999"/>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OLAP Terminology </a:t>
            </a:r>
            <a:r>
              <a:rPr lang="en-US" sz="2400" dirty="0"/>
              <a:t>(2)</a:t>
            </a:r>
            <a:endParaRPr lang="en-US" dirty="0"/>
          </a:p>
        </p:txBody>
      </p:sp>
      <p:sp>
        <p:nvSpPr>
          <p:cNvPr id="3" name="Content Placeholder 2"/>
          <p:cNvSpPr>
            <a:spLocks noGrp="1"/>
          </p:cNvSpPr>
          <p:nvPr>
            <p:ph idx="1"/>
          </p:nvPr>
        </p:nvSpPr>
        <p:spPr/>
        <p:txBody>
          <a:bodyPr/>
          <a:lstStyle/>
          <a:p>
            <a:r>
              <a:rPr lang="en-US" b="1" dirty="0"/>
              <a:t>Pivoting</a:t>
            </a:r>
            <a:r>
              <a:rPr lang="en-US" dirty="0"/>
              <a:t>: changing the dimensions to provide an alternative presentation of data,  allows an analyst to rotate the cube in space to see its various faces</a:t>
            </a:r>
          </a:p>
          <a:p>
            <a:r>
              <a:rPr lang="en-US" b="1" dirty="0"/>
              <a:t>Rollup</a:t>
            </a:r>
            <a:r>
              <a:rPr lang="en-US" dirty="0"/>
              <a:t>: moving from finer-granularity data to a coarser granularity: summarizing the data along a dimension</a:t>
            </a:r>
          </a:p>
          <a:p>
            <a:r>
              <a:rPr lang="en-US" b="1" dirty="0"/>
              <a:t>Drill down</a:t>
            </a:r>
            <a:r>
              <a:rPr lang="en-US" dirty="0"/>
              <a:t>: moving from coarse granularity data to fine granularity data:  navigate among levels of data ranging from the most summarized (up) to the most detailed (down)</a:t>
            </a:r>
          </a:p>
          <a:p>
            <a:endParaRPr lang="en-US" dirty="0"/>
          </a:p>
        </p:txBody>
      </p:sp>
      <p:sp>
        <p:nvSpPr>
          <p:cNvPr id="4" name="TextBox 3">
            <a:extLst>
              <a:ext uri="{FF2B5EF4-FFF2-40B4-BE49-F238E27FC236}">
                <a16:creationId xmlns:a16="http://schemas.microsoft.com/office/drawing/2014/main" id="{CE96BB9F-2072-F982-C655-039B3CF65CAD}"/>
              </a:ext>
            </a:extLst>
          </p:cNvPr>
          <p:cNvSpPr txBox="1">
            <a:spLocks noChangeArrowheads="1"/>
          </p:cNvSpPr>
          <p:nvPr/>
        </p:nvSpPr>
        <p:spPr bwMode="auto">
          <a:xfrm>
            <a:off x="76200" y="6430064"/>
            <a:ext cx="155042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OLAP queries</a:t>
            </a:r>
          </a:p>
        </p:txBody>
      </p:sp>
    </p:spTree>
    <p:extLst>
      <p:ext uri="{BB962C8B-B14F-4D97-AF65-F5344CB8AC3E}">
        <p14:creationId xmlns:p14="http://schemas.microsoft.com/office/powerpoint/2010/main" val="407008760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Extended Aggregation</a:t>
            </a:r>
          </a:p>
        </p:txBody>
      </p:sp>
      <p:sp>
        <p:nvSpPr>
          <p:cNvPr id="3" name="Content Placeholder 2"/>
          <p:cNvSpPr>
            <a:spLocks noGrp="1"/>
          </p:cNvSpPr>
          <p:nvPr>
            <p:ph idx="1"/>
          </p:nvPr>
        </p:nvSpPr>
        <p:spPr/>
        <p:txBody>
          <a:bodyPr/>
          <a:lstStyle/>
          <a:p>
            <a:r>
              <a:rPr lang="en-US" dirty="0"/>
              <a:t>OLAP data is modeled multi-dimensionally: dimension attributes and measure attributes</a:t>
            </a:r>
          </a:p>
          <a:p>
            <a:r>
              <a:rPr lang="en-US" dirty="0">
                <a:solidFill>
                  <a:schemeClr val="accent6"/>
                </a:solidFill>
              </a:rPr>
              <a:t>GROUP BY </a:t>
            </a:r>
            <a:r>
              <a:rPr lang="en-US" dirty="0"/>
              <a:t>and </a:t>
            </a:r>
            <a:r>
              <a:rPr lang="en-US" dirty="0">
                <a:solidFill>
                  <a:schemeClr val="accent6"/>
                </a:solidFill>
              </a:rPr>
              <a:t>GROUPING SETS </a:t>
            </a:r>
            <a:r>
              <a:rPr lang="en-US" dirty="0"/>
              <a:t>statements are used to group individual rows into combined sets based on the value in one, or more columns</a:t>
            </a:r>
            <a:endParaRPr lang="en-US" dirty="0">
              <a:solidFill>
                <a:schemeClr val="accent6"/>
              </a:solidFill>
            </a:endParaRPr>
          </a:p>
          <a:p>
            <a:r>
              <a:rPr lang="en-US" dirty="0">
                <a:solidFill>
                  <a:schemeClr val="accent6"/>
                </a:solidFill>
              </a:rPr>
              <a:t>ROLLUP </a:t>
            </a:r>
            <a:r>
              <a:rPr lang="en-US" dirty="0"/>
              <a:t>and </a:t>
            </a:r>
            <a:r>
              <a:rPr lang="en-US" dirty="0">
                <a:solidFill>
                  <a:schemeClr val="accent6"/>
                </a:solidFill>
              </a:rPr>
              <a:t>CUBE</a:t>
            </a:r>
            <a:r>
              <a:rPr lang="en-US" dirty="0"/>
              <a:t> statements are short-hand forms of particular types of GROUPING SETS statement</a:t>
            </a:r>
          </a:p>
          <a:p>
            <a:r>
              <a:rPr lang="en-US" dirty="0"/>
              <a:t>The ROLLUP, CUBE, or GROUPING SETS operators can generate the same result set as when you use UNION ALL to combine single grouping queries; however, using one of the GROUP BY operators is usually more efficient</a:t>
            </a:r>
          </a:p>
        </p:txBody>
      </p:sp>
      <p:sp>
        <p:nvSpPr>
          <p:cNvPr id="4" name="TextBox 3">
            <a:extLst>
              <a:ext uri="{FF2B5EF4-FFF2-40B4-BE49-F238E27FC236}">
                <a16:creationId xmlns:a16="http://schemas.microsoft.com/office/drawing/2014/main" id="{368D0394-C8E3-2A81-09E8-7EA7524BB50F}"/>
              </a:ext>
            </a:extLst>
          </p:cNvPr>
          <p:cNvSpPr txBox="1">
            <a:spLocks noChangeArrowheads="1"/>
          </p:cNvSpPr>
          <p:nvPr/>
        </p:nvSpPr>
        <p:spPr bwMode="auto">
          <a:xfrm>
            <a:off x="76200" y="6430064"/>
            <a:ext cx="155042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OLAP queries</a:t>
            </a:r>
          </a:p>
        </p:txBody>
      </p:sp>
    </p:spTree>
    <p:extLst>
      <p:ext uri="{BB962C8B-B14F-4D97-AF65-F5344CB8AC3E}">
        <p14:creationId xmlns:p14="http://schemas.microsoft.com/office/powerpoint/2010/main" val="695834577"/>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Census Database</a:t>
            </a:r>
          </a:p>
        </p:txBody>
      </p:sp>
      <p:pic>
        <p:nvPicPr>
          <p:cNvPr id="7" name="Content Placeholder 6">
            <a:extLst>
              <a:ext uri="{FF2B5EF4-FFF2-40B4-BE49-F238E27FC236}">
                <a16:creationId xmlns:a16="http://schemas.microsoft.com/office/drawing/2014/main" id="{E689C358-07B5-FB00-049E-F9A90E0E9D4C}"/>
              </a:ext>
            </a:extLst>
          </p:cNvPr>
          <p:cNvPicPr>
            <a:picLocks noGrp="1" noChangeAspect="1"/>
          </p:cNvPicPr>
          <p:nvPr>
            <p:ph idx="1"/>
          </p:nvPr>
        </p:nvPicPr>
        <p:blipFill>
          <a:blip r:embed="rId2"/>
          <a:stretch>
            <a:fillRect/>
          </a:stretch>
        </p:blipFill>
        <p:spPr>
          <a:xfrm>
            <a:off x="2774395" y="931863"/>
            <a:ext cx="6660672" cy="5316537"/>
          </a:xfrm>
          <a:prstGeom prst="rect">
            <a:avLst/>
          </a:prstGeom>
          <a:ln w="12700">
            <a:solidFill>
              <a:schemeClr val="bg1">
                <a:lumMod val="50000"/>
              </a:schemeClr>
            </a:solid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id="{EC5B4D21-DD7F-E869-5027-D0BC219AC76B}"/>
              </a:ext>
            </a:extLst>
          </p:cNvPr>
          <p:cNvSpPr txBox="1">
            <a:spLocks noChangeArrowheads="1"/>
          </p:cNvSpPr>
          <p:nvPr/>
        </p:nvSpPr>
        <p:spPr bwMode="auto">
          <a:xfrm>
            <a:off x="76200" y="6430064"/>
            <a:ext cx="155042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OLAP queries</a:t>
            </a:r>
          </a:p>
        </p:txBody>
      </p:sp>
    </p:spTree>
    <p:extLst>
      <p:ext uri="{BB962C8B-B14F-4D97-AF65-F5344CB8AC3E}">
        <p14:creationId xmlns:p14="http://schemas.microsoft.com/office/powerpoint/2010/main" val="19880827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ROLLUP</a:t>
            </a:r>
          </a:p>
        </p:txBody>
      </p:sp>
      <p:sp>
        <p:nvSpPr>
          <p:cNvPr id="3" name="Content Placeholder 2"/>
          <p:cNvSpPr>
            <a:spLocks noGrp="1"/>
          </p:cNvSpPr>
          <p:nvPr>
            <p:ph idx="1"/>
          </p:nvPr>
        </p:nvSpPr>
        <p:spPr/>
        <p:txBody>
          <a:bodyPr/>
          <a:lstStyle/>
          <a:p>
            <a:pPr>
              <a:spcBef>
                <a:spcPts val="300"/>
              </a:spcBef>
            </a:pPr>
            <a:r>
              <a:rPr lang="en-US" dirty="0"/>
              <a:t>ROLLUP operation generates union on every prefix of specified list of attributes with </a:t>
            </a:r>
            <a:r>
              <a:rPr lang="en-US" dirty="0">
                <a:solidFill>
                  <a:schemeClr val="accent6"/>
                </a:solidFill>
              </a:rPr>
              <a:t>multiple levels of a hierarchy</a:t>
            </a:r>
            <a:r>
              <a:rPr lang="en-US" dirty="0"/>
              <a:t> – providing sub-total rows in addition to the ’regular’ grouped rows</a:t>
            </a:r>
          </a:p>
          <a:p>
            <a:pPr>
              <a:spcBef>
                <a:spcPts val="300"/>
              </a:spcBef>
            </a:pPr>
            <a:r>
              <a:rPr lang="en-US" dirty="0">
                <a:solidFill>
                  <a:srgbClr val="C00000"/>
                </a:solidFill>
              </a:rPr>
              <a:t>GROUP BY ROLLUP (</a:t>
            </a:r>
            <a:r>
              <a:rPr lang="en-US" dirty="0" err="1">
                <a:solidFill>
                  <a:srgbClr val="C00000"/>
                </a:solidFill>
              </a:rPr>
              <a:t>a,b,c</a:t>
            </a:r>
            <a:r>
              <a:rPr lang="en-US" dirty="0">
                <a:solidFill>
                  <a:srgbClr val="C00000"/>
                </a:solidFill>
              </a:rPr>
              <a:t>) </a:t>
            </a:r>
            <a:r>
              <a:rPr lang="en-US" dirty="0"/>
              <a:t>is equivalent to:</a:t>
            </a:r>
          </a:p>
          <a:p>
            <a:pPr>
              <a:spcBef>
                <a:spcPts val="300"/>
              </a:spcBef>
              <a:buNone/>
            </a:pPr>
            <a:r>
              <a:rPr lang="en-US" dirty="0"/>
              <a:t>   </a:t>
            </a:r>
            <a:r>
              <a:rPr lang="en-US" dirty="0">
                <a:solidFill>
                  <a:srgbClr val="C00000"/>
                </a:solidFill>
              </a:rPr>
              <a:t>GROUP BY GROUPING SETS </a:t>
            </a:r>
            <a:r>
              <a:rPr lang="en-US" dirty="0"/>
              <a:t>( </a:t>
            </a:r>
            <a:r>
              <a:rPr lang="en-US" dirty="0">
                <a:solidFill>
                  <a:srgbClr val="FF0000"/>
                </a:solidFill>
              </a:rPr>
              <a:t>(</a:t>
            </a:r>
            <a:r>
              <a:rPr lang="en-US" dirty="0" err="1">
                <a:solidFill>
                  <a:srgbClr val="FF0000"/>
                </a:solidFill>
              </a:rPr>
              <a:t>a,b,c</a:t>
            </a:r>
            <a:r>
              <a:rPr lang="en-US" dirty="0">
                <a:solidFill>
                  <a:srgbClr val="FF0000"/>
                </a:solidFill>
              </a:rPr>
              <a:t>)  (</a:t>
            </a:r>
            <a:r>
              <a:rPr lang="en-US" dirty="0" err="1">
                <a:solidFill>
                  <a:srgbClr val="FF0000"/>
                </a:solidFill>
              </a:rPr>
              <a:t>a,b</a:t>
            </a:r>
            <a:r>
              <a:rPr lang="en-US" dirty="0">
                <a:solidFill>
                  <a:srgbClr val="FF0000"/>
                </a:solidFill>
              </a:rPr>
              <a:t>)  (a)  ()  </a:t>
            </a:r>
            <a:r>
              <a:rPr lang="en-US" dirty="0"/>
              <a:t>)</a:t>
            </a:r>
          </a:p>
          <a:p>
            <a:pPr>
              <a:spcBef>
                <a:spcPts val="300"/>
              </a:spcBef>
            </a:pPr>
            <a:r>
              <a:rPr lang="en-US" dirty="0"/>
              <a:t>e.g.: </a:t>
            </a:r>
            <a:r>
              <a:rPr lang="en-US" sz="2200" i="1" dirty="0"/>
              <a:t>The total population and the average income in </a:t>
            </a:r>
            <a:r>
              <a:rPr lang="en-US" sz="2200" i="1" dirty="0">
                <a:solidFill>
                  <a:srgbClr val="C00000"/>
                </a:solidFill>
              </a:rPr>
              <a:t>each city, county, and state, and the census</a:t>
            </a:r>
            <a:r>
              <a:rPr lang="en-US" sz="2200" i="1" dirty="0"/>
              <a:t> as a whole:</a:t>
            </a:r>
          </a:p>
          <a:p>
            <a:endParaRPr lang="en-US" sz="2200" i="1" dirty="0"/>
          </a:p>
          <a:p>
            <a:endParaRPr lang="en-US" sz="2200" i="1" dirty="0"/>
          </a:p>
          <a:p>
            <a:endParaRPr lang="en-US" sz="2200" i="1" dirty="0"/>
          </a:p>
          <a:p>
            <a:endParaRPr lang="en-US" sz="1600" i="1" dirty="0"/>
          </a:p>
          <a:p>
            <a:endParaRPr lang="en-US" sz="1000" i="1" dirty="0"/>
          </a:p>
          <a:p>
            <a:r>
              <a:rPr lang="en-US" sz="2200" dirty="0"/>
              <a:t>Optimized query performance: a single scan instead of multiple scans of the table</a:t>
            </a:r>
          </a:p>
        </p:txBody>
      </p:sp>
      <p:sp>
        <p:nvSpPr>
          <p:cNvPr id="4" name="Text Box 4"/>
          <p:cNvSpPr txBox="1">
            <a:spLocks noChangeArrowheads="1"/>
          </p:cNvSpPr>
          <p:nvPr/>
        </p:nvSpPr>
        <p:spPr bwMode="auto">
          <a:xfrm>
            <a:off x="304800" y="3700671"/>
            <a:ext cx="7162800" cy="1938992"/>
          </a:xfrm>
          <a:prstGeom prst="rect">
            <a:avLst/>
          </a:prstGeom>
          <a:solidFill>
            <a:schemeClr val="lt1"/>
          </a:solidFill>
          <a:ln w="9525">
            <a:solidFill>
              <a:schemeClr val="bg2"/>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400" dirty="0">
                <a:solidFill>
                  <a:srgbClr val="800000"/>
                </a:solidFill>
                <a:latin typeface="Consolas" panose="020B0609020204030204" pitchFamily="49" charset="0"/>
              </a:rPr>
              <a:t>SELECT</a:t>
            </a:r>
            <a:r>
              <a:rPr lang="en-US" sz="2400" dirty="0">
                <a:solidFill>
                  <a:srgbClr val="000000"/>
                </a:solidFill>
                <a:latin typeface="Consolas" panose="020B0609020204030204" pitchFamily="49" charset="0"/>
              </a:rPr>
              <a:t> state, county, city,  </a:t>
            </a:r>
          </a:p>
          <a:p>
            <a:pPr algn="l"/>
            <a:r>
              <a:rPr lang="en-US" sz="2400" dirty="0">
                <a:solidFill>
                  <a:srgbClr val="000000"/>
                </a:solidFill>
                <a:latin typeface="Consolas" panose="020B0609020204030204" pitchFamily="49" charset="0"/>
              </a:rPr>
              <a:t>        </a:t>
            </a:r>
            <a:r>
              <a:rPr lang="en-US" sz="2400" dirty="0">
                <a:solidFill>
                  <a:srgbClr val="000080"/>
                </a:solidFill>
                <a:latin typeface="Consolas" panose="020B0609020204030204" pitchFamily="49" charset="0"/>
              </a:rPr>
              <a:t>COUNT</a:t>
            </a:r>
            <a:r>
              <a:rPr lang="en-US" sz="2400" dirty="0">
                <a:solidFill>
                  <a:srgbClr val="000000"/>
                </a:solidFill>
                <a:latin typeface="Consolas" panose="020B0609020204030204" pitchFamily="49" charset="0"/>
              </a:rPr>
              <a:t> (*) </a:t>
            </a:r>
            <a:r>
              <a:rPr lang="en-US" sz="2400" dirty="0">
                <a:solidFill>
                  <a:srgbClr val="800000"/>
                </a:solidFill>
                <a:latin typeface="Consolas" panose="020B0609020204030204" pitchFamily="49" charset="0"/>
              </a:rPr>
              <a:t>AS</a:t>
            </a:r>
            <a:r>
              <a:rPr lang="en-US" sz="2400" dirty="0">
                <a:solidFill>
                  <a:srgbClr val="000000"/>
                </a:solidFill>
                <a:latin typeface="Consolas" panose="020B0609020204030204" pitchFamily="49" charset="0"/>
              </a:rPr>
              <a:t>  population,</a:t>
            </a:r>
          </a:p>
          <a:p>
            <a:pPr algn="l"/>
            <a:r>
              <a:rPr lang="en-US" sz="2400" dirty="0">
                <a:solidFill>
                  <a:srgbClr val="000000"/>
                </a:solidFill>
                <a:latin typeface="Consolas" panose="020B0609020204030204" pitchFamily="49" charset="0"/>
              </a:rPr>
              <a:t>        </a:t>
            </a:r>
            <a:r>
              <a:rPr lang="en-US" sz="2400" dirty="0">
                <a:solidFill>
                  <a:srgbClr val="000080"/>
                </a:solidFill>
                <a:latin typeface="Consolas" panose="020B0609020204030204" pitchFamily="49" charset="0"/>
              </a:rPr>
              <a:t>AVG</a:t>
            </a:r>
            <a:r>
              <a:rPr lang="en-US" sz="2400" dirty="0">
                <a:solidFill>
                  <a:srgbClr val="000000"/>
                </a:solidFill>
                <a:latin typeface="Consolas" panose="020B0609020204030204" pitchFamily="49" charset="0"/>
              </a:rPr>
              <a:t>(income) </a:t>
            </a:r>
            <a:r>
              <a:rPr lang="en-US" sz="2400" dirty="0">
                <a:solidFill>
                  <a:srgbClr val="800000"/>
                </a:solidFill>
                <a:latin typeface="Consolas" panose="020B0609020204030204" pitchFamily="49" charset="0"/>
              </a:rPr>
              <a:t>AS</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avg_income</a:t>
            </a:r>
            <a:r>
              <a:rPr lang="en-US" sz="2400" dirty="0">
                <a:solidFill>
                  <a:srgbClr val="000000"/>
                </a:solidFill>
                <a:latin typeface="Consolas" panose="020B0609020204030204" pitchFamily="49" charset="0"/>
              </a:rPr>
              <a:t>   </a:t>
            </a:r>
          </a:p>
          <a:p>
            <a:pPr algn="l"/>
            <a:r>
              <a:rPr lang="en-US" sz="2400" dirty="0">
                <a:solidFill>
                  <a:srgbClr val="800000"/>
                </a:solidFill>
                <a:latin typeface="Consolas" panose="020B0609020204030204" pitchFamily="49" charset="0"/>
              </a:rPr>
              <a:t>FROM</a:t>
            </a:r>
            <a:r>
              <a:rPr lang="en-US" sz="2400" dirty="0">
                <a:solidFill>
                  <a:srgbClr val="000000"/>
                </a:solidFill>
                <a:latin typeface="Consolas" panose="020B0609020204030204" pitchFamily="49" charset="0"/>
              </a:rPr>
              <a:t>    census </a:t>
            </a:r>
          </a:p>
          <a:p>
            <a:pPr algn="l"/>
            <a:r>
              <a:rPr lang="en-US" sz="2400" dirty="0">
                <a:solidFill>
                  <a:srgbClr val="800000"/>
                </a:solidFill>
                <a:latin typeface="Consolas" panose="020B0609020204030204" pitchFamily="49" charset="0"/>
              </a:rPr>
              <a:t>GROUP</a:t>
            </a:r>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BY</a:t>
            </a:r>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ROLLUP</a:t>
            </a:r>
            <a:r>
              <a:rPr lang="en-US" sz="2400" dirty="0">
                <a:solidFill>
                  <a:srgbClr val="000000"/>
                </a:solidFill>
                <a:latin typeface="Consolas" panose="020B0609020204030204" pitchFamily="49" charset="0"/>
              </a:rPr>
              <a:t> (state, county, city)</a:t>
            </a:r>
            <a:r>
              <a:rPr lang="en-US" sz="2400" dirty="0">
                <a:solidFill>
                  <a:srgbClr val="FF0000"/>
                </a:solidFill>
                <a:latin typeface="Consolas" panose="020B0609020204030204" pitchFamily="49" charset="0"/>
              </a:rPr>
              <a:t>;</a:t>
            </a:r>
          </a:p>
        </p:txBody>
      </p:sp>
      <p:sp>
        <p:nvSpPr>
          <p:cNvPr id="5" name="TextBox 4">
            <a:extLst>
              <a:ext uri="{FF2B5EF4-FFF2-40B4-BE49-F238E27FC236}">
                <a16:creationId xmlns:a16="http://schemas.microsoft.com/office/drawing/2014/main" id="{9916ED5B-1A0D-0C3E-9F84-DA90829FB3F1}"/>
              </a:ext>
            </a:extLst>
          </p:cNvPr>
          <p:cNvSpPr txBox="1">
            <a:spLocks noChangeArrowheads="1"/>
          </p:cNvSpPr>
          <p:nvPr/>
        </p:nvSpPr>
        <p:spPr bwMode="auto">
          <a:xfrm>
            <a:off x="76200" y="6430064"/>
            <a:ext cx="155042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OLAP queries</a:t>
            </a:r>
          </a:p>
        </p:txBody>
      </p:sp>
      <p:sp>
        <p:nvSpPr>
          <p:cNvPr id="9" name="TextBox 8">
            <a:extLst>
              <a:ext uri="{FF2B5EF4-FFF2-40B4-BE49-F238E27FC236}">
                <a16:creationId xmlns:a16="http://schemas.microsoft.com/office/drawing/2014/main" id="{A2B4247F-B6F3-9042-7855-761D1D5CBEF0}"/>
              </a:ext>
            </a:extLst>
          </p:cNvPr>
          <p:cNvSpPr txBox="1"/>
          <p:nvPr/>
        </p:nvSpPr>
        <p:spPr>
          <a:xfrm>
            <a:off x="7848600" y="3994666"/>
            <a:ext cx="4038600" cy="15696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rPr>
              <a:t>GROUPING SETS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rPr>
              <a:t> </a:t>
            </a:r>
            <a:r>
              <a:rPr kumimoji="0" lang="en-US" sz="2400" b="0" i="0" u="none" strike="noStrike" kern="1200" cap="none" spc="0" normalizeH="0" baseline="0" noProof="0" dirty="0">
                <a:ln>
                  <a:noFill/>
                </a:ln>
                <a:solidFill>
                  <a:srgbClr val="FF0000"/>
                </a:solidFill>
                <a:effectLst/>
                <a:uLnTx/>
                <a:uFillTx/>
                <a:latin typeface="Consolas" panose="020B0609020204030204" pitchFamily="49" charset="0"/>
              </a:rPr>
              <a:t>(state, county, city)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latin typeface="Consolas" panose="020B0609020204030204" pitchFamily="49" charset="0"/>
              </a:rPr>
              <a:t> </a:t>
            </a:r>
            <a:r>
              <a:rPr kumimoji="0" lang="en-US" sz="2400" b="0" i="0" u="none" strike="noStrike" kern="1200" cap="none" spc="0" normalizeH="0" baseline="0" noProof="0" dirty="0">
                <a:ln>
                  <a:noFill/>
                </a:ln>
                <a:solidFill>
                  <a:srgbClr val="FF0000"/>
                </a:solidFill>
                <a:effectLst/>
                <a:uLnTx/>
                <a:uFillTx/>
                <a:latin typeface="Consolas" panose="020B0609020204030204" pitchFamily="49" charset="0"/>
              </a:rPr>
              <a:t>(state, county)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latin typeface="Consolas" panose="020B0609020204030204" pitchFamily="49" charset="0"/>
              </a:rPr>
              <a:t> </a:t>
            </a:r>
            <a:r>
              <a:rPr kumimoji="0" lang="en-US" sz="2400" b="0" i="0" u="none" strike="noStrike" kern="1200" cap="none" spc="0" normalizeH="0" baseline="0" noProof="0" dirty="0">
                <a:ln>
                  <a:noFill/>
                </a:ln>
                <a:solidFill>
                  <a:srgbClr val="FF0000"/>
                </a:solidFill>
                <a:effectLst/>
                <a:uLnTx/>
                <a:uFillTx/>
                <a:latin typeface="Consolas" panose="020B0609020204030204" pitchFamily="49" charset="0"/>
              </a:rPr>
              <a:t>(state)  ()  </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rPr>
              <a:t>)</a:t>
            </a:r>
          </a:p>
        </p:txBody>
      </p:sp>
      <p:sp>
        <p:nvSpPr>
          <p:cNvPr id="10" name="Arrow: Left-Right 9">
            <a:extLst>
              <a:ext uri="{FF2B5EF4-FFF2-40B4-BE49-F238E27FC236}">
                <a16:creationId xmlns:a16="http://schemas.microsoft.com/office/drawing/2014/main" id="{8B45BEB3-D1F7-5706-2CDD-1AB163F57386}"/>
              </a:ext>
            </a:extLst>
          </p:cNvPr>
          <p:cNvSpPr/>
          <p:nvPr/>
        </p:nvSpPr>
        <p:spPr bwMode="auto">
          <a:xfrm>
            <a:off x="6896100" y="5408474"/>
            <a:ext cx="1143000" cy="230326"/>
          </a:xfrm>
          <a:prstGeom prst="leftRightArrow">
            <a:avLst/>
          </a:prstGeom>
          <a:noFill/>
          <a:ln w="12700" cap="flat" cmpd="sng" algn="ctr">
            <a:solidFill>
              <a:srgbClr val="FF99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spTree>
    <p:extLst>
      <p:ext uri="{BB962C8B-B14F-4D97-AF65-F5344CB8AC3E}">
        <p14:creationId xmlns:p14="http://schemas.microsoft.com/office/powerpoint/2010/main" val="1937289575"/>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61616-0C10-7925-4379-A81F0CDA4A1B}"/>
              </a:ext>
            </a:extLst>
          </p:cNvPr>
          <p:cNvSpPr>
            <a:spLocks noGrp="1"/>
          </p:cNvSpPr>
          <p:nvPr>
            <p:ph type="title"/>
          </p:nvPr>
        </p:nvSpPr>
        <p:spPr/>
        <p:txBody>
          <a:bodyPr/>
          <a:lstStyle/>
          <a:p>
            <a:r>
              <a:rPr lang="en-US" dirty="0"/>
              <a:t>ROLLUP (MySQL Alternative)</a:t>
            </a:r>
          </a:p>
        </p:txBody>
      </p:sp>
      <p:sp>
        <p:nvSpPr>
          <p:cNvPr id="4" name="Text Box 4">
            <a:extLst>
              <a:ext uri="{FF2B5EF4-FFF2-40B4-BE49-F238E27FC236}">
                <a16:creationId xmlns:a16="http://schemas.microsoft.com/office/drawing/2014/main" id="{90C1B539-9D87-873A-F509-24BB32585273}"/>
              </a:ext>
            </a:extLst>
          </p:cNvPr>
          <p:cNvSpPr txBox="1">
            <a:spLocks noChangeArrowheads="1"/>
          </p:cNvSpPr>
          <p:nvPr/>
        </p:nvSpPr>
        <p:spPr bwMode="auto">
          <a:xfrm>
            <a:off x="2133600" y="1371600"/>
            <a:ext cx="7162800" cy="1938992"/>
          </a:xfrm>
          <a:prstGeom prst="rect">
            <a:avLst/>
          </a:prstGeom>
          <a:solidFill>
            <a:schemeClr val="lt1"/>
          </a:solidFill>
          <a:ln w="9525">
            <a:solidFill>
              <a:schemeClr val="bg2"/>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400" dirty="0">
                <a:solidFill>
                  <a:srgbClr val="800000"/>
                </a:solidFill>
                <a:latin typeface="Consolas" panose="020B0609020204030204" pitchFamily="49" charset="0"/>
              </a:rPr>
              <a:t>SELECT</a:t>
            </a:r>
            <a:r>
              <a:rPr lang="en-US" sz="2400" dirty="0">
                <a:solidFill>
                  <a:srgbClr val="000000"/>
                </a:solidFill>
                <a:latin typeface="Consolas" panose="020B0609020204030204" pitchFamily="49" charset="0"/>
              </a:rPr>
              <a:t> state, county, city,  </a:t>
            </a:r>
          </a:p>
          <a:p>
            <a:pPr algn="l"/>
            <a:r>
              <a:rPr lang="en-US" sz="2400" dirty="0">
                <a:solidFill>
                  <a:srgbClr val="000000"/>
                </a:solidFill>
                <a:latin typeface="Consolas" panose="020B0609020204030204" pitchFamily="49" charset="0"/>
              </a:rPr>
              <a:t>        </a:t>
            </a:r>
            <a:r>
              <a:rPr lang="en-US" sz="2400" dirty="0">
                <a:solidFill>
                  <a:srgbClr val="000080"/>
                </a:solidFill>
                <a:latin typeface="Consolas" panose="020B0609020204030204" pitchFamily="49" charset="0"/>
              </a:rPr>
              <a:t>COUNT</a:t>
            </a:r>
            <a:r>
              <a:rPr lang="en-US" sz="2400" dirty="0">
                <a:solidFill>
                  <a:srgbClr val="000000"/>
                </a:solidFill>
                <a:latin typeface="Consolas" panose="020B0609020204030204" pitchFamily="49" charset="0"/>
              </a:rPr>
              <a:t> (*) </a:t>
            </a:r>
            <a:r>
              <a:rPr lang="en-US" sz="2400" dirty="0">
                <a:solidFill>
                  <a:srgbClr val="800000"/>
                </a:solidFill>
                <a:latin typeface="Consolas" panose="020B0609020204030204" pitchFamily="49" charset="0"/>
              </a:rPr>
              <a:t>AS</a:t>
            </a:r>
            <a:r>
              <a:rPr lang="en-US" sz="2400" dirty="0">
                <a:solidFill>
                  <a:srgbClr val="000000"/>
                </a:solidFill>
                <a:latin typeface="Consolas" panose="020B0609020204030204" pitchFamily="49" charset="0"/>
              </a:rPr>
              <a:t>  population,</a:t>
            </a:r>
          </a:p>
          <a:p>
            <a:pPr algn="l"/>
            <a:r>
              <a:rPr lang="en-US" sz="2400" dirty="0">
                <a:solidFill>
                  <a:srgbClr val="000000"/>
                </a:solidFill>
                <a:latin typeface="Consolas" panose="020B0609020204030204" pitchFamily="49" charset="0"/>
              </a:rPr>
              <a:t>        </a:t>
            </a:r>
            <a:r>
              <a:rPr lang="en-US" sz="2400" dirty="0">
                <a:solidFill>
                  <a:srgbClr val="000080"/>
                </a:solidFill>
                <a:latin typeface="Consolas" panose="020B0609020204030204" pitchFamily="49" charset="0"/>
              </a:rPr>
              <a:t>AVG</a:t>
            </a:r>
            <a:r>
              <a:rPr lang="en-US" sz="2400" dirty="0">
                <a:solidFill>
                  <a:srgbClr val="000000"/>
                </a:solidFill>
                <a:latin typeface="Consolas" panose="020B0609020204030204" pitchFamily="49" charset="0"/>
              </a:rPr>
              <a:t>(income) </a:t>
            </a:r>
            <a:r>
              <a:rPr lang="en-US" sz="2400" dirty="0">
                <a:solidFill>
                  <a:srgbClr val="800000"/>
                </a:solidFill>
                <a:latin typeface="Consolas" panose="020B0609020204030204" pitchFamily="49" charset="0"/>
              </a:rPr>
              <a:t>AS</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avg_income</a:t>
            </a:r>
            <a:r>
              <a:rPr lang="en-US" sz="2400" dirty="0">
                <a:solidFill>
                  <a:srgbClr val="000000"/>
                </a:solidFill>
                <a:latin typeface="Consolas" panose="020B0609020204030204" pitchFamily="49" charset="0"/>
              </a:rPr>
              <a:t>   </a:t>
            </a:r>
          </a:p>
          <a:p>
            <a:pPr algn="l"/>
            <a:r>
              <a:rPr lang="en-US" sz="2400" dirty="0">
                <a:solidFill>
                  <a:srgbClr val="800000"/>
                </a:solidFill>
                <a:latin typeface="Consolas" panose="020B0609020204030204" pitchFamily="49" charset="0"/>
              </a:rPr>
              <a:t>FROM</a:t>
            </a:r>
            <a:r>
              <a:rPr lang="en-US" sz="2400" dirty="0">
                <a:solidFill>
                  <a:srgbClr val="000000"/>
                </a:solidFill>
                <a:latin typeface="Consolas" panose="020B0609020204030204" pitchFamily="49" charset="0"/>
              </a:rPr>
              <a:t>    census </a:t>
            </a:r>
          </a:p>
          <a:p>
            <a:pPr algn="l"/>
            <a:r>
              <a:rPr lang="en-US" sz="2400" dirty="0">
                <a:solidFill>
                  <a:srgbClr val="800000"/>
                </a:solidFill>
                <a:latin typeface="Consolas" panose="020B0609020204030204" pitchFamily="49" charset="0"/>
              </a:rPr>
              <a:t>GROUP</a:t>
            </a:r>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BY</a:t>
            </a:r>
            <a:r>
              <a:rPr lang="en-US" sz="2400" dirty="0">
                <a:solidFill>
                  <a:srgbClr val="000000"/>
                </a:solidFill>
                <a:latin typeface="Consolas" panose="020B0609020204030204" pitchFamily="49" charset="0"/>
              </a:rPr>
              <a:t> state, county, city </a:t>
            </a:r>
            <a:r>
              <a:rPr lang="en-US" sz="2400" dirty="0">
                <a:solidFill>
                  <a:srgbClr val="800000"/>
                </a:solidFill>
                <a:latin typeface="Consolas" panose="020B0609020204030204" pitchFamily="49" charset="0"/>
              </a:rPr>
              <a:t>WITH ROLLUP</a:t>
            </a:r>
            <a:r>
              <a:rPr lang="en-US" sz="2400" dirty="0">
                <a:solidFill>
                  <a:srgbClr val="FF0000"/>
                </a:solidFill>
                <a:latin typeface="Consolas" panose="020B0609020204030204" pitchFamily="49" charset="0"/>
              </a:rPr>
              <a:t>;</a:t>
            </a:r>
          </a:p>
        </p:txBody>
      </p:sp>
      <p:sp>
        <p:nvSpPr>
          <p:cNvPr id="3" name="TextBox 2">
            <a:extLst>
              <a:ext uri="{FF2B5EF4-FFF2-40B4-BE49-F238E27FC236}">
                <a16:creationId xmlns:a16="http://schemas.microsoft.com/office/drawing/2014/main" id="{47995330-8106-598A-E348-A6C34F9EFFC8}"/>
              </a:ext>
            </a:extLst>
          </p:cNvPr>
          <p:cNvSpPr txBox="1"/>
          <p:nvPr/>
        </p:nvSpPr>
        <p:spPr>
          <a:xfrm>
            <a:off x="152400" y="3794922"/>
            <a:ext cx="5306261" cy="461665"/>
          </a:xfrm>
          <a:prstGeom prst="rect">
            <a:avLst/>
          </a:prstGeom>
          <a:noFill/>
        </p:spPr>
        <p:txBody>
          <a:bodyPr wrap="none" rtlCol="0">
            <a:spAutoFit/>
          </a:bodyPr>
          <a:lstStyle/>
          <a:p>
            <a:r>
              <a:rPr lang="en-US" sz="2400" dirty="0">
                <a:latin typeface="Verdana" panose="020B0604030504040204" pitchFamily="34" charset="0"/>
                <a:ea typeface="Verdana" panose="020B0604030504040204" pitchFamily="34" charset="0"/>
              </a:rPr>
              <a:t>Usually a single scan of the table</a:t>
            </a:r>
          </a:p>
        </p:txBody>
      </p:sp>
    </p:spTree>
    <p:extLst>
      <p:ext uri="{BB962C8B-B14F-4D97-AF65-F5344CB8AC3E}">
        <p14:creationId xmlns:p14="http://schemas.microsoft.com/office/powerpoint/2010/main" val="1388723003"/>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32448-A65D-CC8D-06D3-1CA8FA80B546}"/>
              </a:ext>
            </a:extLst>
          </p:cNvPr>
          <p:cNvSpPr>
            <a:spLocks noGrp="1"/>
          </p:cNvSpPr>
          <p:nvPr>
            <p:ph type="title"/>
          </p:nvPr>
        </p:nvSpPr>
        <p:spPr/>
        <p:txBody>
          <a:bodyPr/>
          <a:lstStyle/>
          <a:p>
            <a:r>
              <a:rPr lang="en-US" dirty="0"/>
              <a:t>UNION (Multiple Table Scans!)</a:t>
            </a:r>
          </a:p>
        </p:txBody>
      </p:sp>
      <p:sp>
        <p:nvSpPr>
          <p:cNvPr id="3" name="Content Placeholder 2">
            <a:extLst>
              <a:ext uri="{FF2B5EF4-FFF2-40B4-BE49-F238E27FC236}">
                <a16:creationId xmlns:a16="http://schemas.microsoft.com/office/drawing/2014/main" id="{7C88DD5E-47CB-0298-8DAF-6B0571D151CD}"/>
              </a:ext>
            </a:extLst>
          </p:cNvPr>
          <p:cNvSpPr>
            <a:spLocks noGrp="1"/>
          </p:cNvSpPr>
          <p:nvPr>
            <p:ph idx="1"/>
          </p:nvPr>
        </p:nvSpPr>
        <p:spPr/>
        <p:txBody>
          <a:bodyPr/>
          <a:lstStyle/>
          <a:p>
            <a:pPr marL="0" marR="0">
              <a:buNone/>
            </a:pPr>
            <a:r>
              <a:rPr lang="en-US" sz="1800" b="1" dirty="0">
                <a:solidFill>
                  <a:srgbClr val="800000"/>
                </a:solidFill>
                <a:effectLst/>
                <a:latin typeface="Consolas" panose="020B0609020204030204" pitchFamily="49" charset="0"/>
              </a:rPr>
              <a:t>SELECT</a:t>
            </a:r>
            <a:r>
              <a:rPr lang="en-US" sz="1800" dirty="0">
                <a:solidFill>
                  <a:srgbClr val="000000"/>
                </a:solidFill>
                <a:effectLst/>
                <a:latin typeface="Consolas" panose="020B0609020204030204" pitchFamily="49" charset="0"/>
              </a:rPr>
              <a:t> state, county, city, </a:t>
            </a:r>
            <a:r>
              <a:rPr lang="en-US" sz="1800" b="1" dirty="0">
                <a:solidFill>
                  <a:srgbClr val="000080"/>
                </a:solidFill>
                <a:effectLst/>
                <a:latin typeface="Consolas" panose="020B0609020204030204" pitchFamily="49" charset="0"/>
              </a:rPr>
              <a:t>COUNT</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a:solidFill>
                  <a:srgbClr val="006464"/>
                </a:solidFill>
                <a:effectLst/>
                <a:latin typeface="Consolas" panose="020B0609020204030204" pitchFamily="49" charset="0"/>
              </a:rPr>
              <a:t>population</a:t>
            </a:r>
            <a:r>
              <a:rPr lang="en-US" sz="1800" dirty="0">
                <a:solidFill>
                  <a:srgbClr val="000000"/>
                </a:solidFill>
                <a:effectLst/>
                <a:latin typeface="Consolas" panose="020B0609020204030204" pitchFamily="49" charset="0"/>
              </a:rPr>
              <a:t>, </a:t>
            </a:r>
            <a:r>
              <a:rPr lang="en-US" sz="1800" b="1" dirty="0">
                <a:solidFill>
                  <a:srgbClr val="000080"/>
                </a:solidFill>
                <a:effectLst/>
                <a:latin typeface="Consolas" panose="020B0609020204030204" pitchFamily="49" charset="0"/>
              </a:rPr>
              <a:t>AVG</a:t>
            </a:r>
            <a:r>
              <a:rPr lang="en-US" sz="1800" dirty="0">
                <a:solidFill>
                  <a:srgbClr val="000000"/>
                </a:solidFill>
                <a:effectLst/>
                <a:latin typeface="Consolas" panose="020B0609020204030204" pitchFamily="49" charset="0"/>
              </a:rPr>
              <a:t>(income)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err="1">
                <a:solidFill>
                  <a:srgbClr val="006464"/>
                </a:solidFill>
                <a:effectLst/>
                <a:latin typeface="Consolas" panose="020B0609020204030204" pitchFamily="49" charset="0"/>
              </a:rPr>
              <a:t>avg_income</a:t>
            </a:r>
            <a:endParaRPr lang="en-US" sz="1800" dirty="0">
              <a:solidFill>
                <a:srgbClr val="000000"/>
              </a:solidFill>
              <a:effectLst/>
              <a:latin typeface="Consolas" panose="020B0609020204030204" pitchFamily="49" charset="0"/>
            </a:endParaRPr>
          </a:p>
          <a:p>
            <a:pPr marL="0" marR="0">
              <a:buNone/>
            </a:pPr>
            <a:r>
              <a:rPr lang="en-US" sz="1800" b="1" dirty="0">
                <a:solidFill>
                  <a:srgbClr val="800000"/>
                </a:solidFill>
                <a:effectLst/>
                <a:latin typeface="Consolas" panose="020B0609020204030204" pitchFamily="49" charset="0"/>
              </a:rPr>
              <a:t>FROM</a:t>
            </a:r>
            <a:r>
              <a:rPr lang="en-US" sz="1800" dirty="0">
                <a:solidFill>
                  <a:srgbClr val="000000"/>
                </a:solidFill>
                <a:effectLst/>
                <a:latin typeface="Consolas" panose="020B0609020204030204" pitchFamily="49" charset="0"/>
              </a:rPr>
              <a:t> </a:t>
            </a:r>
            <a:r>
              <a:rPr lang="en-US" sz="1800" dirty="0">
                <a:solidFill>
                  <a:srgbClr val="6C5151"/>
                </a:solidFill>
                <a:effectLst/>
                <a:latin typeface="Consolas" panose="020B0609020204030204" pitchFamily="49" charset="0"/>
              </a:rPr>
              <a:t>census</a:t>
            </a:r>
            <a:endParaRPr lang="en-US" sz="1800" dirty="0">
              <a:solidFill>
                <a:srgbClr val="000000"/>
              </a:solidFill>
              <a:effectLst/>
              <a:latin typeface="Consolas" panose="020B0609020204030204" pitchFamily="49" charset="0"/>
            </a:endParaRPr>
          </a:p>
          <a:p>
            <a:pPr marL="0" marR="0">
              <a:buNone/>
            </a:pPr>
            <a:r>
              <a:rPr lang="en-US" sz="1800" b="1" dirty="0">
                <a:solidFill>
                  <a:srgbClr val="800000"/>
                </a:solidFill>
                <a:effectLst/>
                <a:latin typeface="Consolas" panose="020B0609020204030204" pitchFamily="49" charset="0"/>
              </a:rPr>
              <a:t>GROUP</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BY</a:t>
            </a:r>
            <a:r>
              <a:rPr lang="en-US" sz="1800" dirty="0">
                <a:solidFill>
                  <a:srgbClr val="000000"/>
                </a:solidFill>
                <a:effectLst/>
                <a:latin typeface="Consolas" panose="020B0609020204030204" pitchFamily="49" charset="0"/>
              </a:rPr>
              <a:t> state, county, city</a:t>
            </a:r>
          </a:p>
          <a:p>
            <a:pPr marL="0" marR="0">
              <a:buNone/>
            </a:pPr>
            <a:r>
              <a:rPr lang="en-US" sz="1800" b="1" dirty="0">
                <a:solidFill>
                  <a:srgbClr val="800000"/>
                </a:solidFill>
                <a:effectLst/>
                <a:latin typeface="Consolas" panose="020B0609020204030204" pitchFamily="49" charset="0"/>
              </a:rPr>
              <a:t>UNION</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ALL</a:t>
            </a:r>
            <a:endParaRPr lang="en-US" sz="1800" dirty="0">
              <a:solidFill>
                <a:srgbClr val="000000"/>
              </a:solidFill>
              <a:effectLst/>
              <a:latin typeface="Consolas" panose="020B0609020204030204" pitchFamily="49" charset="0"/>
            </a:endParaRPr>
          </a:p>
          <a:p>
            <a:pPr marL="0" marR="0">
              <a:buNone/>
            </a:pPr>
            <a:r>
              <a:rPr lang="en-US" sz="1800" b="1" dirty="0">
                <a:solidFill>
                  <a:srgbClr val="800000"/>
                </a:solidFill>
                <a:effectLst/>
                <a:latin typeface="Consolas" panose="020B0609020204030204" pitchFamily="49" charset="0"/>
              </a:rPr>
              <a:t>SELECT</a:t>
            </a:r>
            <a:r>
              <a:rPr lang="en-US" sz="1800" dirty="0">
                <a:solidFill>
                  <a:srgbClr val="000000"/>
                </a:solidFill>
                <a:effectLst/>
                <a:latin typeface="Consolas" panose="020B0609020204030204" pitchFamily="49" charset="0"/>
              </a:rPr>
              <a:t> state, county, </a:t>
            </a:r>
            <a:r>
              <a:rPr lang="en-US" sz="1800" b="1" dirty="0">
                <a:solidFill>
                  <a:srgbClr val="800000"/>
                </a:solidFill>
                <a:effectLst/>
                <a:latin typeface="Consolas" panose="020B0609020204030204" pitchFamily="49" charset="0"/>
              </a:rPr>
              <a:t>NULL</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a:solidFill>
                  <a:srgbClr val="006464"/>
                </a:solidFill>
                <a:effectLst/>
                <a:latin typeface="Consolas" panose="020B0609020204030204" pitchFamily="49" charset="0"/>
              </a:rPr>
              <a:t>city</a:t>
            </a:r>
            <a:r>
              <a:rPr lang="en-US" sz="1800" dirty="0">
                <a:solidFill>
                  <a:srgbClr val="000000"/>
                </a:solidFill>
                <a:effectLst/>
                <a:latin typeface="Consolas" panose="020B0609020204030204" pitchFamily="49" charset="0"/>
              </a:rPr>
              <a:t>, </a:t>
            </a:r>
            <a:r>
              <a:rPr lang="en-US" sz="1800" b="1" dirty="0">
                <a:solidFill>
                  <a:srgbClr val="000080"/>
                </a:solidFill>
                <a:effectLst/>
                <a:latin typeface="Consolas" panose="020B0609020204030204" pitchFamily="49" charset="0"/>
              </a:rPr>
              <a:t>COUNT</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a:solidFill>
                  <a:srgbClr val="006464"/>
                </a:solidFill>
                <a:effectLst/>
                <a:latin typeface="Consolas" panose="020B0609020204030204" pitchFamily="49" charset="0"/>
              </a:rPr>
              <a:t>population</a:t>
            </a:r>
            <a:r>
              <a:rPr lang="en-US" sz="1800" dirty="0">
                <a:solidFill>
                  <a:srgbClr val="000000"/>
                </a:solidFill>
                <a:effectLst/>
                <a:latin typeface="Consolas" panose="020B0609020204030204" pitchFamily="49" charset="0"/>
              </a:rPr>
              <a:t>, </a:t>
            </a:r>
            <a:r>
              <a:rPr lang="en-US" sz="1800" b="1" dirty="0">
                <a:solidFill>
                  <a:srgbClr val="000080"/>
                </a:solidFill>
                <a:effectLst/>
                <a:latin typeface="Consolas" panose="020B0609020204030204" pitchFamily="49" charset="0"/>
              </a:rPr>
              <a:t>AVG</a:t>
            </a:r>
            <a:r>
              <a:rPr lang="en-US" sz="1800" dirty="0">
                <a:solidFill>
                  <a:srgbClr val="000000"/>
                </a:solidFill>
                <a:effectLst/>
                <a:latin typeface="Consolas" panose="020B0609020204030204" pitchFamily="49" charset="0"/>
              </a:rPr>
              <a:t>(income)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err="1">
                <a:solidFill>
                  <a:srgbClr val="006464"/>
                </a:solidFill>
                <a:effectLst/>
                <a:latin typeface="Consolas" panose="020B0609020204030204" pitchFamily="49" charset="0"/>
              </a:rPr>
              <a:t>avg_income</a:t>
            </a:r>
            <a:endParaRPr lang="en-US" sz="1800" dirty="0">
              <a:solidFill>
                <a:srgbClr val="000000"/>
              </a:solidFill>
              <a:effectLst/>
              <a:latin typeface="Consolas" panose="020B0609020204030204" pitchFamily="49" charset="0"/>
            </a:endParaRPr>
          </a:p>
          <a:p>
            <a:pPr marL="0" marR="0">
              <a:buNone/>
            </a:pPr>
            <a:r>
              <a:rPr lang="en-US" sz="1800" b="1" dirty="0">
                <a:solidFill>
                  <a:srgbClr val="800000"/>
                </a:solidFill>
                <a:effectLst/>
                <a:latin typeface="Consolas" panose="020B0609020204030204" pitchFamily="49" charset="0"/>
              </a:rPr>
              <a:t>FROM</a:t>
            </a:r>
            <a:r>
              <a:rPr lang="en-US" sz="1800" dirty="0">
                <a:solidFill>
                  <a:srgbClr val="000000"/>
                </a:solidFill>
                <a:effectLst/>
                <a:latin typeface="Consolas" panose="020B0609020204030204" pitchFamily="49" charset="0"/>
              </a:rPr>
              <a:t> </a:t>
            </a:r>
            <a:r>
              <a:rPr lang="en-US" sz="1800" dirty="0">
                <a:solidFill>
                  <a:srgbClr val="6C5151"/>
                </a:solidFill>
                <a:effectLst/>
                <a:latin typeface="Consolas" panose="020B0609020204030204" pitchFamily="49" charset="0"/>
              </a:rPr>
              <a:t>census</a:t>
            </a:r>
            <a:endParaRPr lang="en-US" sz="1800" dirty="0">
              <a:solidFill>
                <a:srgbClr val="000000"/>
              </a:solidFill>
              <a:effectLst/>
              <a:latin typeface="Consolas" panose="020B0609020204030204" pitchFamily="49" charset="0"/>
            </a:endParaRPr>
          </a:p>
          <a:p>
            <a:pPr marL="0" marR="0">
              <a:buNone/>
            </a:pPr>
            <a:r>
              <a:rPr lang="en-US" sz="1800" b="1" dirty="0">
                <a:solidFill>
                  <a:srgbClr val="800000"/>
                </a:solidFill>
                <a:effectLst/>
                <a:latin typeface="Consolas" panose="020B0609020204030204" pitchFamily="49" charset="0"/>
              </a:rPr>
              <a:t>GROUP</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BY</a:t>
            </a:r>
            <a:r>
              <a:rPr lang="en-US" sz="1800" dirty="0">
                <a:solidFill>
                  <a:srgbClr val="000000"/>
                </a:solidFill>
                <a:effectLst/>
                <a:latin typeface="Consolas" panose="020B0609020204030204" pitchFamily="49" charset="0"/>
              </a:rPr>
              <a:t> state, county</a:t>
            </a:r>
          </a:p>
          <a:p>
            <a:pPr marL="0" marR="0">
              <a:buNone/>
            </a:pPr>
            <a:r>
              <a:rPr lang="en-US" sz="1800" b="1" dirty="0">
                <a:solidFill>
                  <a:srgbClr val="800000"/>
                </a:solidFill>
                <a:effectLst/>
                <a:latin typeface="Consolas" panose="020B0609020204030204" pitchFamily="49" charset="0"/>
              </a:rPr>
              <a:t>UNION</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ALL</a:t>
            </a:r>
            <a:endParaRPr lang="en-US" sz="1800" dirty="0">
              <a:solidFill>
                <a:srgbClr val="000000"/>
              </a:solidFill>
              <a:effectLst/>
              <a:latin typeface="Consolas" panose="020B0609020204030204" pitchFamily="49" charset="0"/>
            </a:endParaRPr>
          </a:p>
          <a:p>
            <a:pPr marL="0" marR="0">
              <a:buNone/>
            </a:pPr>
            <a:r>
              <a:rPr lang="en-US" sz="1800" b="1" dirty="0">
                <a:solidFill>
                  <a:srgbClr val="800000"/>
                </a:solidFill>
                <a:effectLst/>
                <a:latin typeface="Consolas" panose="020B0609020204030204" pitchFamily="49" charset="0"/>
              </a:rPr>
              <a:t>SELECT</a:t>
            </a:r>
            <a:r>
              <a:rPr lang="en-US" sz="1800" dirty="0">
                <a:solidFill>
                  <a:srgbClr val="000000"/>
                </a:solidFill>
                <a:effectLst/>
                <a:latin typeface="Consolas" panose="020B0609020204030204" pitchFamily="49" charset="0"/>
              </a:rPr>
              <a:t> state, </a:t>
            </a:r>
            <a:r>
              <a:rPr lang="en-US" sz="1800" b="1" dirty="0">
                <a:solidFill>
                  <a:srgbClr val="800000"/>
                </a:solidFill>
                <a:effectLst/>
                <a:latin typeface="Consolas" panose="020B0609020204030204" pitchFamily="49" charset="0"/>
              </a:rPr>
              <a:t>NULL</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a:solidFill>
                  <a:srgbClr val="006464"/>
                </a:solidFill>
                <a:effectLst/>
                <a:latin typeface="Consolas" panose="020B0609020204030204" pitchFamily="49" charset="0"/>
              </a:rPr>
              <a:t>county</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NULL</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a:solidFill>
                  <a:srgbClr val="006464"/>
                </a:solidFill>
                <a:effectLst/>
                <a:latin typeface="Consolas" panose="020B0609020204030204" pitchFamily="49" charset="0"/>
              </a:rPr>
              <a:t>city</a:t>
            </a:r>
            <a:r>
              <a:rPr lang="en-US" sz="1800" dirty="0">
                <a:solidFill>
                  <a:srgbClr val="000000"/>
                </a:solidFill>
                <a:effectLst/>
                <a:latin typeface="Consolas" panose="020B0609020204030204" pitchFamily="49" charset="0"/>
              </a:rPr>
              <a:t>, </a:t>
            </a:r>
            <a:r>
              <a:rPr lang="en-US" sz="1800" b="1" dirty="0">
                <a:solidFill>
                  <a:srgbClr val="000080"/>
                </a:solidFill>
                <a:effectLst/>
                <a:latin typeface="Consolas" panose="020B0609020204030204" pitchFamily="49" charset="0"/>
              </a:rPr>
              <a:t>COUNT</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a:solidFill>
                  <a:srgbClr val="006464"/>
                </a:solidFill>
                <a:effectLst/>
                <a:latin typeface="Consolas" panose="020B0609020204030204" pitchFamily="49" charset="0"/>
              </a:rPr>
              <a:t>population</a:t>
            </a:r>
            <a:r>
              <a:rPr lang="en-US" sz="1800" dirty="0">
                <a:solidFill>
                  <a:srgbClr val="000000"/>
                </a:solidFill>
                <a:effectLst/>
                <a:latin typeface="Consolas" panose="020B0609020204030204" pitchFamily="49" charset="0"/>
              </a:rPr>
              <a:t>, </a:t>
            </a:r>
            <a:r>
              <a:rPr lang="en-US" sz="1800" b="1" dirty="0">
                <a:solidFill>
                  <a:srgbClr val="000080"/>
                </a:solidFill>
                <a:effectLst/>
                <a:latin typeface="Consolas" panose="020B0609020204030204" pitchFamily="49" charset="0"/>
              </a:rPr>
              <a:t>AVG</a:t>
            </a:r>
            <a:r>
              <a:rPr lang="en-US" sz="1800" dirty="0">
                <a:solidFill>
                  <a:srgbClr val="000000"/>
                </a:solidFill>
                <a:effectLst/>
                <a:latin typeface="Consolas" panose="020B0609020204030204" pitchFamily="49" charset="0"/>
              </a:rPr>
              <a:t>(income)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err="1">
                <a:solidFill>
                  <a:srgbClr val="006464"/>
                </a:solidFill>
                <a:effectLst/>
                <a:latin typeface="Consolas" panose="020B0609020204030204" pitchFamily="49" charset="0"/>
              </a:rPr>
              <a:t>avg_income</a:t>
            </a:r>
            <a:endParaRPr lang="en-US" sz="1800" dirty="0">
              <a:solidFill>
                <a:srgbClr val="000000"/>
              </a:solidFill>
              <a:effectLst/>
              <a:latin typeface="Consolas" panose="020B0609020204030204" pitchFamily="49" charset="0"/>
            </a:endParaRPr>
          </a:p>
          <a:p>
            <a:pPr marL="0" marR="0">
              <a:buNone/>
            </a:pPr>
            <a:r>
              <a:rPr lang="en-US" sz="1800" b="1" dirty="0">
                <a:solidFill>
                  <a:srgbClr val="800000"/>
                </a:solidFill>
                <a:effectLst/>
                <a:latin typeface="Consolas" panose="020B0609020204030204" pitchFamily="49" charset="0"/>
              </a:rPr>
              <a:t>FROM</a:t>
            </a:r>
            <a:r>
              <a:rPr lang="en-US" sz="1800" dirty="0">
                <a:solidFill>
                  <a:srgbClr val="000000"/>
                </a:solidFill>
                <a:effectLst/>
                <a:latin typeface="Consolas" panose="020B0609020204030204" pitchFamily="49" charset="0"/>
              </a:rPr>
              <a:t> </a:t>
            </a:r>
            <a:r>
              <a:rPr lang="en-US" sz="1800" dirty="0">
                <a:solidFill>
                  <a:srgbClr val="6C5151"/>
                </a:solidFill>
                <a:effectLst/>
                <a:latin typeface="Consolas" panose="020B0609020204030204" pitchFamily="49" charset="0"/>
              </a:rPr>
              <a:t>census</a:t>
            </a:r>
            <a:endParaRPr lang="en-US" sz="1800" dirty="0">
              <a:solidFill>
                <a:srgbClr val="000000"/>
              </a:solidFill>
              <a:effectLst/>
              <a:latin typeface="Consolas" panose="020B0609020204030204" pitchFamily="49" charset="0"/>
            </a:endParaRPr>
          </a:p>
          <a:p>
            <a:pPr marL="0" marR="0">
              <a:buNone/>
            </a:pPr>
            <a:r>
              <a:rPr lang="en-US" sz="1800" b="1" dirty="0">
                <a:solidFill>
                  <a:srgbClr val="800000"/>
                </a:solidFill>
                <a:effectLst/>
                <a:latin typeface="Consolas" panose="020B0609020204030204" pitchFamily="49" charset="0"/>
              </a:rPr>
              <a:t>GROUP</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BY</a:t>
            </a:r>
            <a:r>
              <a:rPr lang="en-US" sz="1800" dirty="0">
                <a:solidFill>
                  <a:srgbClr val="000000"/>
                </a:solidFill>
                <a:effectLst/>
                <a:latin typeface="Consolas" panose="020B0609020204030204" pitchFamily="49" charset="0"/>
              </a:rPr>
              <a:t> state</a:t>
            </a:r>
          </a:p>
          <a:p>
            <a:pPr marL="0" marR="0">
              <a:buNone/>
            </a:pPr>
            <a:r>
              <a:rPr lang="en-US" sz="1800" b="1" dirty="0">
                <a:solidFill>
                  <a:srgbClr val="800000"/>
                </a:solidFill>
                <a:effectLst/>
                <a:latin typeface="Consolas" panose="020B0609020204030204" pitchFamily="49" charset="0"/>
              </a:rPr>
              <a:t>UNION</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ALL</a:t>
            </a:r>
            <a:endParaRPr lang="en-US" sz="1800" dirty="0">
              <a:solidFill>
                <a:srgbClr val="000000"/>
              </a:solidFill>
              <a:effectLst/>
              <a:latin typeface="Consolas" panose="020B0609020204030204" pitchFamily="49" charset="0"/>
            </a:endParaRPr>
          </a:p>
          <a:p>
            <a:pPr marL="0" marR="0">
              <a:buNone/>
            </a:pPr>
            <a:r>
              <a:rPr lang="en-US" sz="1800" b="1" dirty="0">
                <a:solidFill>
                  <a:srgbClr val="800000"/>
                </a:solidFill>
                <a:effectLst/>
                <a:latin typeface="Consolas" panose="020B0609020204030204" pitchFamily="49" charset="0"/>
              </a:rPr>
              <a:t>SELECT</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NULL</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a:solidFill>
                  <a:srgbClr val="006464"/>
                </a:solidFill>
                <a:effectLst/>
                <a:latin typeface="Consolas" panose="020B0609020204030204" pitchFamily="49" charset="0"/>
              </a:rPr>
              <a:t>state</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NULL</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a:solidFill>
                  <a:srgbClr val="006464"/>
                </a:solidFill>
                <a:effectLst/>
                <a:latin typeface="Consolas" panose="020B0609020204030204" pitchFamily="49" charset="0"/>
              </a:rPr>
              <a:t>county</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NULL</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a:solidFill>
                  <a:srgbClr val="006464"/>
                </a:solidFill>
                <a:effectLst/>
                <a:latin typeface="Consolas" panose="020B0609020204030204" pitchFamily="49" charset="0"/>
              </a:rPr>
              <a:t>city</a:t>
            </a:r>
            <a:r>
              <a:rPr lang="en-US" sz="1800" dirty="0">
                <a:solidFill>
                  <a:srgbClr val="000000"/>
                </a:solidFill>
                <a:effectLst/>
                <a:latin typeface="Consolas" panose="020B0609020204030204" pitchFamily="49" charset="0"/>
              </a:rPr>
              <a:t>, </a:t>
            </a:r>
          </a:p>
          <a:p>
            <a:pPr marL="0" marR="0">
              <a:buNone/>
            </a:pPr>
            <a:r>
              <a:rPr lang="en-US" sz="1800" b="1" dirty="0">
                <a:solidFill>
                  <a:srgbClr val="000080"/>
                </a:solidFill>
                <a:effectLst/>
                <a:latin typeface="Consolas" panose="020B0609020204030204" pitchFamily="49" charset="0"/>
              </a:rPr>
              <a:t>COUNT</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a:solidFill>
                  <a:srgbClr val="006464"/>
                </a:solidFill>
                <a:effectLst/>
                <a:latin typeface="Consolas" panose="020B0609020204030204" pitchFamily="49" charset="0"/>
              </a:rPr>
              <a:t>population</a:t>
            </a:r>
            <a:r>
              <a:rPr lang="en-US" sz="1800" dirty="0">
                <a:solidFill>
                  <a:srgbClr val="000000"/>
                </a:solidFill>
                <a:effectLst/>
                <a:latin typeface="Consolas" panose="020B0609020204030204" pitchFamily="49" charset="0"/>
              </a:rPr>
              <a:t>, </a:t>
            </a:r>
            <a:r>
              <a:rPr lang="en-US" sz="1800" b="1" dirty="0">
                <a:solidFill>
                  <a:srgbClr val="000080"/>
                </a:solidFill>
                <a:effectLst/>
                <a:latin typeface="Consolas" panose="020B0609020204030204" pitchFamily="49" charset="0"/>
              </a:rPr>
              <a:t>AVG</a:t>
            </a:r>
            <a:r>
              <a:rPr lang="en-US" sz="1800" dirty="0">
                <a:solidFill>
                  <a:srgbClr val="000000"/>
                </a:solidFill>
                <a:effectLst/>
                <a:latin typeface="Consolas" panose="020B0609020204030204" pitchFamily="49" charset="0"/>
              </a:rPr>
              <a:t>(income)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err="1">
                <a:solidFill>
                  <a:srgbClr val="006464"/>
                </a:solidFill>
                <a:effectLst/>
                <a:latin typeface="Consolas" panose="020B0609020204030204" pitchFamily="49" charset="0"/>
              </a:rPr>
              <a:t>avg_income</a:t>
            </a:r>
            <a:r>
              <a:rPr lang="en-US" sz="1800" i="1" dirty="0">
                <a:solidFill>
                  <a:srgbClr val="000000"/>
                </a:solidFill>
                <a:latin typeface="Consolas" panose="020B0609020204030204" pitchFamily="49" charset="0"/>
              </a:rPr>
              <a:t> </a:t>
            </a:r>
            <a:r>
              <a:rPr lang="en-US" sz="1800" b="1" dirty="0">
                <a:solidFill>
                  <a:srgbClr val="800000"/>
                </a:solidFill>
                <a:effectLst/>
                <a:latin typeface="Consolas" panose="020B0609020204030204" pitchFamily="49" charset="0"/>
              </a:rPr>
              <a:t>FROM</a:t>
            </a:r>
            <a:r>
              <a:rPr lang="en-US" sz="1800" dirty="0">
                <a:solidFill>
                  <a:srgbClr val="000000"/>
                </a:solidFill>
                <a:effectLst/>
                <a:latin typeface="Consolas" panose="020B0609020204030204" pitchFamily="49" charset="0"/>
              </a:rPr>
              <a:t> </a:t>
            </a:r>
            <a:r>
              <a:rPr lang="en-US" sz="1800" dirty="0">
                <a:solidFill>
                  <a:srgbClr val="6C5151"/>
                </a:solidFill>
                <a:effectLst/>
                <a:latin typeface="Consolas" panose="020B0609020204030204" pitchFamily="49" charset="0"/>
              </a:rPr>
              <a:t>census</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endParaRPr lang="en-US" sz="1800" dirty="0"/>
          </a:p>
        </p:txBody>
      </p:sp>
    </p:spTree>
    <p:extLst>
      <p:ext uri="{BB962C8B-B14F-4D97-AF65-F5344CB8AC3E}">
        <p14:creationId xmlns:p14="http://schemas.microsoft.com/office/powerpoint/2010/main" val="2179042780"/>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ROLLUP Query Result</a:t>
            </a:r>
          </a:p>
        </p:txBody>
      </p:sp>
      <p:sp>
        <p:nvSpPr>
          <p:cNvPr id="3" name="TextBox 2">
            <a:extLst>
              <a:ext uri="{FF2B5EF4-FFF2-40B4-BE49-F238E27FC236}">
                <a16:creationId xmlns:a16="http://schemas.microsoft.com/office/drawing/2014/main" id="{7B551B8E-DB71-B0AB-26FC-4F290FE81BCB}"/>
              </a:ext>
            </a:extLst>
          </p:cNvPr>
          <p:cNvSpPr txBox="1">
            <a:spLocks noChangeArrowheads="1"/>
          </p:cNvSpPr>
          <p:nvPr/>
        </p:nvSpPr>
        <p:spPr bwMode="auto">
          <a:xfrm>
            <a:off x="76200" y="6430064"/>
            <a:ext cx="155042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OLAP queries</a:t>
            </a:r>
          </a:p>
        </p:txBody>
      </p:sp>
      <p:pic>
        <p:nvPicPr>
          <p:cNvPr id="6" name="Picture 5">
            <a:extLst>
              <a:ext uri="{FF2B5EF4-FFF2-40B4-BE49-F238E27FC236}">
                <a16:creationId xmlns:a16="http://schemas.microsoft.com/office/drawing/2014/main" id="{815DCA26-48DD-8243-BDC0-F678D2A2A880}"/>
              </a:ext>
            </a:extLst>
          </p:cNvPr>
          <p:cNvPicPr>
            <a:picLocks noChangeAspect="1"/>
          </p:cNvPicPr>
          <p:nvPr/>
        </p:nvPicPr>
        <p:blipFill>
          <a:blip r:embed="rId2"/>
          <a:stretch>
            <a:fillRect/>
          </a:stretch>
        </p:blipFill>
        <p:spPr>
          <a:xfrm>
            <a:off x="2286000" y="1066800"/>
            <a:ext cx="7621529" cy="5117404"/>
          </a:xfrm>
          <a:prstGeom prst="rect">
            <a:avLst/>
          </a:prstGeom>
          <a:ln w="12700">
            <a:solidFill>
              <a:schemeClr val="bg1">
                <a:lumMod val="50000"/>
              </a:schemeClr>
            </a:solid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11558706"/>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Getting Rid of NULLs</a:t>
            </a:r>
          </a:p>
        </p:txBody>
      </p:sp>
      <p:sp>
        <p:nvSpPr>
          <p:cNvPr id="4" name="Text Box 4"/>
          <p:cNvSpPr txBox="1">
            <a:spLocks noChangeArrowheads="1"/>
          </p:cNvSpPr>
          <p:nvPr/>
        </p:nvSpPr>
        <p:spPr bwMode="auto">
          <a:xfrm>
            <a:off x="1672669" y="1447800"/>
            <a:ext cx="8859920" cy="3477875"/>
          </a:xfrm>
          <a:prstGeom prst="rect">
            <a:avLst/>
          </a:prstGeom>
          <a:solidFill>
            <a:schemeClr val="lt1"/>
          </a:solidFill>
          <a:ln w="9525">
            <a:solidFill>
              <a:schemeClr val="bg2"/>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000" dirty="0">
                <a:solidFill>
                  <a:srgbClr val="800000"/>
                </a:solidFill>
                <a:latin typeface="Consolas" panose="020B0609020204030204" pitchFamily="49" charset="0"/>
              </a:rPr>
              <a:t>SELECT</a:t>
            </a:r>
            <a:r>
              <a:rPr lang="en-US" sz="2000" dirty="0">
                <a:solidFill>
                  <a:srgbClr val="000000"/>
                </a:solidFill>
                <a:latin typeface="Consolas" panose="020B0609020204030204" pitchFamily="49" charset="0"/>
              </a:rPr>
              <a:t> </a:t>
            </a:r>
          </a:p>
          <a:p>
            <a:pPr algn="l"/>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CASE</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grouping</a:t>
            </a:r>
            <a:r>
              <a:rPr lang="en-US" sz="2000" dirty="0">
                <a:solidFill>
                  <a:srgbClr val="000000"/>
                </a:solidFill>
                <a:latin typeface="Consolas" panose="020B0609020204030204" pitchFamily="49" charset="0"/>
              </a:rPr>
              <a:t> (state)  </a:t>
            </a:r>
          </a:p>
          <a:p>
            <a:pPr algn="l"/>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WHEN</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1</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THEN</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'(-all-)'</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ELSE</a:t>
            </a:r>
            <a:r>
              <a:rPr lang="en-US" sz="2000" dirty="0">
                <a:solidFill>
                  <a:srgbClr val="000000"/>
                </a:solidFill>
                <a:latin typeface="Consolas" panose="020B0609020204030204" pitchFamily="49" charset="0"/>
              </a:rPr>
              <a:t> state </a:t>
            </a:r>
            <a:r>
              <a:rPr lang="en-US" sz="2000" dirty="0">
                <a:solidFill>
                  <a:srgbClr val="800000"/>
                </a:solidFill>
                <a:latin typeface="Consolas" panose="020B0609020204030204" pitchFamily="49" charset="0"/>
              </a:rPr>
              <a:t>END</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AS</a:t>
            </a:r>
            <a:r>
              <a:rPr lang="en-US" sz="2000" dirty="0">
                <a:solidFill>
                  <a:srgbClr val="000000"/>
                </a:solidFill>
                <a:latin typeface="Consolas" panose="020B0609020204030204" pitchFamily="49" charset="0"/>
              </a:rPr>
              <a:t> state, </a:t>
            </a:r>
          </a:p>
          <a:p>
            <a:pPr algn="l"/>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CASE</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grouping</a:t>
            </a:r>
            <a:r>
              <a:rPr lang="en-US" sz="2000" dirty="0">
                <a:solidFill>
                  <a:srgbClr val="000000"/>
                </a:solidFill>
                <a:latin typeface="Consolas" panose="020B0609020204030204" pitchFamily="49" charset="0"/>
              </a:rPr>
              <a:t> (county) </a:t>
            </a:r>
            <a:r>
              <a:rPr lang="en-US" sz="2000" dirty="0">
                <a:solidFill>
                  <a:srgbClr val="800000"/>
                </a:solidFill>
                <a:latin typeface="Consolas" panose="020B0609020204030204" pitchFamily="49" charset="0"/>
              </a:rPr>
              <a:t>WHEN</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1</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THEN</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'(-all-)'</a:t>
            </a:r>
            <a:r>
              <a:rPr lang="en-US" sz="2000" dirty="0">
                <a:solidFill>
                  <a:srgbClr val="000000"/>
                </a:solidFill>
                <a:latin typeface="Consolas" panose="020B0609020204030204" pitchFamily="49" charset="0"/>
              </a:rPr>
              <a:t> </a:t>
            </a:r>
          </a:p>
          <a:p>
            <a:pPr algn="l"/>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ELSE</a:t>
            </a:r>
            <a:r>
              <a:rPr lang="en-US" sz="2000" dirty="0">
                <a:solidFill>
                  <a:srgbClr val="000000"/>
                </a:solidFill>
                <a:latin typeface="Consolas" panose="020B0609020204030204" pitchFamily="49" charset="0"/>
              </a:rPr>
              <a:t> county </a:t>
            </a:r>
            <a:r>
              <a:rPr lang="en-US" sz="2000" dirty="0">
                <a:solidFill>
                  <a:srgbClr val="800000"/>
                </a:solidFill>
                <a:latin typeface="Consolas" panose="020B0609020204030204" pitchFamily="49" charset="0"/>
              </a:rPr>
              <a:t>END</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AS</a:t>
            </a:r>
            <a:r>
              <a:rPr lang="en-US" sz="2000" dirty="0">
                <a:solidFill>
                  <a:srgbClr val="000000"/>
                </a:solidFill>
                <a:latin typeface="Consolas" panose="020B0609020204030204" pitchFamily="49" charset="0"/>
              </a:rPr>
              <a:t> county,</a:t>
            </a:r>
          </a:p>
          <a:p>
            <a:pPr algn="l"/>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CASE</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grouping</a:t>
            </a:r>
            <a:r>
              <a:rPr lang="en-US" sz="2000" dirty="0">
                <a:solidFill>
                  <a:srgbClr val="000000"/>
                </a:solidFill>
                <a:latin typeface="Consolas" panose="020B0609020204030204" pitchFamily="49" charset="0"/>
              </a:rPr>
              <a:t> (city)  </a:t>
            </a:r>
            <a:r>
              <a:rPr lang="en-US" sz="2000" dirty="0">
                <a:solidFill>
                  <a:srgbClr val="800000"/>
                </a:solidFill>
                <a:latin typeface="Consolas" panose="020B0609020204030204" pitchFamily="49" charset="0"/>
              </a:rPr>
              <a:t>WHEN</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1</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THEN</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'(-all-)'</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ELSE</a:t>
            </a:r>
            <a:r>
              <a:rPr lang="en-US" sz="2000" dirty="0">
                <a:solidFill>
                  <a:srgbClr val="000000"/>
                </a:solidFill>
                <a:latin typeface="Consolas" panose="020B0609020204030204" pitchFamily="49" charset="0"/>
              </a:rPr>
              <a:t> city </a:t>
            </a:r>
          </a:p>
          <a:p>
            <a:pPr algn="l"/>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END</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AS</a:t>
            </a:r>
            <a:r>
              <a:rPr lang="en-US" sz="2000" dirty="0">
                <a:solidFill>
                  <a:srgbClr val="000000"/>
                </a:solidFill>
                <a:latin typeface="Consolas" panose="020B0609020204030204" pitchFamily="49" charset="0"/>
              </a:rPr>
              <a:t> city, </a:t>
            </a:r>
          </a:p>
          <a:p>
            <a:pPr algn="l"/>
            <a:r>
              <a:rPr lang="en-US" sz="2000" dirty="0">
                <a:solidFill>
                  <a:srgbClr val="000000"/>
                </a:solidFill>
                <a:latin typeface="Consolas" panose="020B0609020204030204" pitchFamily="49" charset="0"/>
              </a:rPr>
              <a:t>   </a:t>
            </a:r>
            <a:r>
              <a:rPr lang="en-US" sz="2000" dirty="0">
                <a:solidFill>
                  <a:srgbClr val="000080"/>
                </a:solidFill>
                <a:latin typeface="Consolas" panose="020B0609020204030204" pitchFamily="49" charset="0"/>
              </a:rPr>
              <a:t>count</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AS</a:t>
            </a:r>
            <a:r>
              <a:rPr lang="en-US" sz="2000" dirty="0">
                <a:solidFill>
                  <a:srgbClr val="000000"/>
                </a:solidFill>
                <a:latin typeface="Consolas" panose="020B0609020204030204" pitchFamily="49" charset="0"/>
              </a:rPr>
              <a:t> pop, </a:t>
            </a:r>
            <a:r>
              <a:rPr lang="en-US" sz="2000" dirty="0">
                <a:solidFill>
                  <a:srgbClr val="000080"/>
                </a:solidFill>
                <a:latin typeface="Consolas" panose="020B0609020204030204" pitchFamily="49" charset="0"/>
              </a:rPr>
              <a:t>avg</a:t>
            </a:r>
            <a:r>
              <a:rPr lang="en-US" sz="2000" dirty="0">
                <a:solidFill>
                  <a:srgbClr val="000000"/>
                </a:solidFill>
                <a:latin typeface="Consolas" panose="020B0609020204030204" pitchFamily="49" charset="0"/>
              </a:rPr>
              <a:t>(income) </a:t>
            </a:r>
            <a:r>
              <a:rPr lang="en-US" sz="2000" dirty="0">
                <a:solidFill>
                  <a:srgbClr val="800000"/>
                </a:solidFill>
                <a:latin typeface="Consolas" panose="020B0609020204030204" pitchFamily="49" charset="0"/>
              </a:rPr>
              <a:t>AS</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avg_income</a:t>
            </a:r>
            <a:endParaRPr lang="en-US" sz="2000" dirty="0">
              <a:solidFill>
                <a:srgbClr val="000000"/>
              </a:solidFill>
              <a:latin typeface="Consolas" panose="020B0609020204030204" pitchFamily="49" charset="0"/>
            </a:endParaRPr>
          </a:p>
          <a:p>
            <a:pPr algn="l"/>
            <a:r>
              <a:rPr lang="en-US" sz="2000" dirty="0">
                <a:solidFill>
                  <a:srgbClr val="800000"/>
                </a:solidFill>
                <a:latin typeface="Consolas" panose="020B0609020204030204" pitchFamily="49" charset="0"/>
              </a:rPr>
              <a:t>FROM</a:t>
            </a:r>
            <a:r>
              <a:rPr lang="en-US" sz="2000" dirty="0">
                <a:solidFill>
                  <a:srgbClr val="000000"/>
                </a:solidFill>
                <a:latin typeface="Consolas" panose="020B0609020204030204" pitchFamily="49" charset="0"/>
              </a:rPr>
              <a:t> census </a:t>
            </a:r>
          </a:p>
          <a:p>
            <a:pPr algn="l"/>
            <a:r>
              <a:rPr lang="en-US" sz="2000" dirty="0">
                <a:solidFill>
                  <a:srgbClr val="800000"/>
                </a:solidFill>
                <a:latin typeface="Consolas" panose="020B0609020204030204" pitchFamily="49" charset="0"/>
              </a:rPr>
              <a:t>GROUP</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BY</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ROLLUP</a:t>
            </a:r>
            <a:r>
              <a:rPr lang="en-US" sz="2000" dirty="0">
                <a:solidFill>
                  <a:srgbClr val="000000"/>
                </a:solidFill>
                <a:latin typeface="Consolas" panose="020B0609020204030204" pitchFamily="49" charset="0"/>
              </a:rPr>
              <a:t> (state, county, city)</a:t>
            </a:r>
          </a:p>
          <a:p>
            <a:pPr algn="l"/>
            <a:r>
              <a:rPr lang="en-US" sz="2000" dirty="0">
                <a:solidFill>
                  <a:srgbClr val="800000"/>
                </a:solidFill>
                <a:latin typeface="Consolas" panose="020B0609020204030204" pitchFamily="49" charset="0"/>
              </a:rPr>
              <a:t>ORDER</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BY</a:t>
            </a:r>
            <a:r>
              <a:rPr lang="en-US" sz="2000" dirty="0">
                <a:solidFill>
                  <a:srgbClr val="000000"/>
                </a:solidFill>
                <a:latin typeface="Consolas" panose="020B0609020204030204" pitchFamily="49" charset="0"/>
              </a:rPr>
              <a:t> state, county, city</a:t>
            </a:r>
            <a:r>
              <a:rPr lang="en-US" sz="2000" dirty="0">
                <a:solidFill>
                  <a:srgbClr val="FF0000"/>
                </a:solidFill>
                <a:latin typeface="Consolas" panose="020B0609020204030204" pitchFamily="49" charset="0"/>
              </a:rPr>
              <a:t>;</a:t>
            </a:r>
            <a:endParaRPr lang="en-US" sz="2800" dirty="0">
              <a:solidFill>
                <a:schemeClr val="accent6"/>
              </a:solidFill>
              <a:latin typeface="Arial Narrow" pitchFamily="34" charset="0"/>
            </a:endParaRPr>
          </a:p>
        </p:txBody>
      </p:sp>
      <p:sp>
        <p:nvSpPr>
          <p:cNvPr id="5" name="TextBox 4">
            <a:extLst>
              <a:ext uri="{FF2B5EF4-FFF2-40B4-BE49-F238E27FC236}">
                <a16:creationId xmlns:a16="http://schemas.microsoft.com/office/drawing/2014/main" id="{4863643B-CC73-24CE-4137-0F72D65696F3}"/>
              </a:ext>
            </a:extLst>
          </p:cNvPr>
          <p:cNvSpPr txBox="1">
            <a:spLocks noChangeArrowheads="1"/>
          </p:cNvSpPr>
          <p:nvPr/>
        </p:nvSpPr>
        <p:spPr bwMode="auto">
          <a:xfrm>
            <a:off x="76200" y="6430064"/>
            <a:ext cx="155042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OLAP queries</a:t>
            </a:r>
          </a:p>
        </p:txBody>
      </p:sp>
    </p:spTree>
    <p:extLst>
      <p:ext uri="{BB962C8B-B14F-4D97-AF65-F5344CB8AC3E}">
        <p14:creationId xmlns:p14="http://schemas.microsoft.com/office/powerpoint/2010/main" val="1009119687"/>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Getting Rid of NULLs: Result</a:t>
            </a:r>
          </a:p>
        </p:txBody>
      </p:sp>
      <p:sp>
        <p:nvSpPr>
          <p:cNvPr id="4" name="TextBox 3">
            <a:extLst>
              <a:ext uri="{FF2B5EF4-FFF2-40B4-BE49-F238E27FC236}">
                <a16:creationId xmlns:a16="http://schemas.microsoft.com/office/drawing/2014/main" id="{C09CD29C-EDCC-4274-C5E5-01A858E93C05}"/>
              </a:ext>
            </a:extLst>
          </p:cNvPr>
          <p:cNvSpPr txBox="1">
            <a:spLocks noChangeArrowheads="1"/>
          </p:cNvSpPr>
          <p:nvPr/>
        </p:nvSpPr>
        <p:spPr bwMode="auto">
          <a:xfrm>
            <a:off x="76200" y="6430064"/>
            <a:ext cx="155042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OLAP queries</a:t>
            </a:r>
          </a:p>
        </p:txBody>
      </p:sp>
      <p:pic>
        <p:nvPicPr>
          <p:cNvPr id="7" name="Picture 6">
            <a:extLst>
              <a:ext uri="{FF2B5EF4-FFF2-40B4-BE49-F238E27FC236}">
                <a16:creationId xmlns:a16="http://schemas.microsoft.com/office/drawing/2014/main" id="{ED76ED28-7877-912B-96D5-2A9E395FF923}"/>
              </a:ext>
            </a:extLst>
          </p:cNvPr>
          <p:cNvPicPr>
            <a:picLocks noChangeAspect="1"/>
          </p:cNvPicPr>
          <p:nvPr/>
        </p:nvPicPr>
        <p:blipFill>
          <a:blip r:embed="rId2"/>
          <a:stretch>
            <a:fillRect/>
          </a:stretch>
        </p:blipFill>
        <p:spPr>
          <a:xfrm>
            <a:off x="2349543" y="914400"/>
            <a:ext cx="7492914" cy="5170181"/>
          </a:xfrm>
          <a:prstGeom prst="rect">
            <a:avLst/>
          </a:prstGeom>
          <a:ln w="12700">
            <a:solidFill>
              <a:schemeClr val="bg1">
                <a:lumMod val="50000"/>
              </a:schemeClr>
            </a:solid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80940937"/>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ABFFB-DB68-46CC-154A-A36B578533D7}"/>
              </a:ext>
            </a:extLst>
          </p:cNvPr>
          <p:cNvSpPr>
            <a:spLocks noGrp="1"/>
          </p:cNvSpPr>
          <p:nvPr>
            <p:ph type="title"/>
          </p:nvPr>
        </p:nvSpPr>
        <p:spPr/>
        <p:txBody>
          <a:bodyPr/>
          <a:lstStyle/>
          <a:p>
            <a:r>
              <a:rPr lang="en-US" dirty="0"/>
              <a:t>How about Changing the Order of Columns?</a:t>
            </a:r>
          </a:p>
        </p:txBody>
      </p:sp>
      <p:sp>
        <p:nvSpPr>
          <p:cNvPr id="4" name="Text Box 4">
            <a:extLst>
              <a:ext uri="{FF2B5EF4-FFF2-40B4-BE49-F238E27FC236}">
                <a16:creationId xmlns:a16="http://schemas.microsoft.com/office/drawing/2014/main" id="{358C65C3-BF55-299A-ED76-FF1CF3761341}"/>
              </a:ext>
            </a:extLst>
          </p:cNvPr>
          <p:cNvSpPr txBox="1">
            <a:spLocks noChangeArrowheads="1"/>
          </p:cNvSpPr>
          <p:nvPr/>
        </p:nvSpPr>
        <p:spPr bwMode="auto">
          <a:xfrm>
            <a:off x="152400" y="4055595"/>
            <a:ext cx="4953000" cy="1477328"/>
          </a:xfrm>
          <a:prstGeom prst="rect">
            <a:avLst/>
          </a:prstGeom>
          <a:solidFill>
            <a:schemeClr val="lt1"/>
          </a:solidFill>
          <a:ln w="9525">
            <a:solidFill>
              <a:schemeClr val="bg2"/>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dirty="0">
                <a:solidFill>
                  <a:srgbClr val="800000"/>
                </a:solidFill>
                <a:latin typeface="Consolas" panose="020B0609020204030204" pitchFamily="49" charset="0"/>
              </a:rPr>
              <a:t>SELECT</a:t>
            </a:r>
            <a:r>
              <a:rPr lang="en-US" dirty="0">
                <a:solidFill>
                  <a:srgbClr val="000000"/>
                </a:solidFill>
                <a:latin typeface="Consolas" panose="020B0609020204030204" pitchFamily="49" charset="0"/>
              </a:rPr>
              <a:t> state, county, city,  </a:t>
            </a:r>
          </a:p>
          <a:p>
            <a:pPr algn="l"/>
            <a:r>
              <a:rPr lang="en-US" dirty="0">
                <a:solidFill>
                  <a:srgbClr val="000000"/>
                </a:solidFill>
                <a:latin typeface="Consolas" panose="020B0609020204030204" pitchFamily="49" charset="0"/>
              </a:rPr>
              <a:t>        </a:t>
            </a:r>
            <a:r>
              <a:rPr lang="en-US" dirty="0">
                <a:solidFill>
                  <a:srgbClr val="000080"/>
                </a:solidFill>
                <a:latin typeface="Consolas" panose="020B0609020204030204" pitchFamily="49" charset="0"/>
              </a:rPr>
              <a:t>COUNT</a:t>
            </a:r>
            <a:r>
              <a:rPr lang="en-US" dirty="0">
                <a:solidFill>
                  <a:srgbClr val="000000"/>
                </a:solidFill>
                <a:latin typeface="Consolas" panose="020B0609020204030204" pitchFamily="49" charset="0"/>
              </a:rPr>
              <a:t> (*) </a:t>
            </a:r>
            <a:r>
              <a:rPr lang="en-US" dirty="0">
                <a:solidFill>
                  <a:srgbClr val="800000"/>
                </a:solidFill>
                <a:latin typeface="Consolas" panose="020B0609020204030204" pitchFamily="49" charset="0"/>
              </a:rPr>
              <a:t>AS</a:t>
            </a:r>
            <a:r>
              <a:rPr lang="en-US" dirty="0">
                <a:solidFill>
                  <a:srgbClr val="000000"/>
                </a:solidFill>
                <a:latin typeface="Consolas" panose="020B0609020204030204" pitchFamily="49" charset="0"/>
              </a:rPr>
              <a:t>  population,</a:t>
            </a:r>
          </a:p>
          <a:p>
            <a:pPr algn="l"/>
            <a:r>
              <a:rPr lang="en-US" dirty="0">
                <a:solidFill>
                  <a:srgbClr val="000000"/>
                </a:solidFill>
                <a:latin typeface="Consolas" panose="020B0609020204030204" pitchFamily="49" charset="0"/>
              </a:rPr>
              <a:t>        </a:t>
            </a:r>
            <a:r>
              <a:rPr lang="en-US" dirty="0">
                <a:solidFill>
                  <a:srgbClr val="000080"/>
                </a:solidFill>
                <a:latin typeface="Consolas" panose="020B0609020204030204" pitchFamily="49" charset="0"/>
              </a:rPr>
              <a:t>AVG</a:t>
            </a:r>
            <a:r>
              <a:rPr lang="en-US" dirty="0">
                <a:solidFill>
                  <a:srgbClr val="000000"/>
                </a:solidFill>
                <a:latin typeface="Consolas" panose="020B0609020204030204" pitchFamily="49" charset="0"/>
              </a:rPr>
              <a:t>(income) </a:t>
            </a:r>
            <a:r>
              <a:rPr lang="en-US" dirty="0">
                <a:solidFill>
                  <a:srgbClr val="800000"/>
                </a:solidFill>
                <a:latin typeface="Consolas" panose="020B0609020204030204" pitchFamily="49" charset="0"/>
              </a:rPr>
              <a:t>AS</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avg_income</a:t>
            </a:r>
            <a:r>
              <a:rPr lang="en-US" dirty="0">
                <a:solidFill>
                  <a:srgbClr val="000000"/>
                </a:solidFill>
                <a:latin typeface="Consolas" panose="020B0609020204030204" pitchFamily="49" charset="0"/>
              </a:rPr>
              <a:t>   </a:t>
            </a:r>
          </a:p>
          <a:p>
            <a:pPr algn="l"/>
            <a:r>
              <a:rPr lang="en-US" dirty="0">
                <a:solidFill>
                  <a:srgbClr val="800000"/>
                </a:solidFill>
                <a:latin typeface="Consolas" panose="020B0609020204030204" pitchFamily="49" charset="0"/>
              </a:rPr>
              <a:t>FROM</a:t>
            </a:r>
            <a:r>
              <a:rPr lang="en-US" dirty="0">
                <a:solidFill>
                  <a:srgbClr val="000000"/>
                </a:solidFill>
                <a:latin typeface="Consolas" panose="020B0609020204030204" pitchFamily="49" charset="0"/>
              </a:rPr>
              <a:t>    census </a:t>
            </a:r>
          </a:p>
          <a:p>
            <a:pPr algn="l"/>
            <a:r>
              <a:rPr lang="en-US" dirty="0">
                <a:solidFill>
                  <a:srgbClr val="800000"/>
                </a:solidFill>
                <a:latin typeface="Consolas" panose="020B0609020204030204" pitchFamily="49" charset="0"/>
              </a:rPr>
              <a:t>GROUP</a:t>
            </a:r>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BY</a:t>
            </a:r>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ROLLUP</a:t>
            </a:r>
            <a:r>
              <a:rPr lang="en-US" dirty="0">
                <a:solidFill>
                  <a:srgbClr val="000000"/>
                </a:solidFill>
                <a:latin typeface="Consolas" panose="020B0609020204030204" pitchFamily="49" charset="0"/>
              </a:rPr>
              <a:t> (</a:t>
            </a:r>
            <a:r>
              <a:rPr lang="en-US" b="1" dirty="0">
                <a:latin typeface="Consolas" panose="020B0609020204030204" pitchFamily="49" charset="0"/>
              </a:rPr>
              <a:t>city, county, state</a:t>
            </a:r>
            <a:r>
              <a:rPr lang="en-US" dirty="0">
                <a:solidFill>
                  <a:srgbClr val="000000"/>
                </a:solidFill>
                <a:latin typeface="Consolas" panose="020B0609020204030204" pitchFamily="49" charset="0"/>
              </a:rPr>
              <a:t>)</a:t>
            </a:r>
            <a:r>
              <a:rPr lang="en-US" dirty="0">
                <a:solidFill>
                  <a:srgbClr val="FF0000"/>
                </a:solidFill>
                <a:latin typeface="Consolas" panose="020B0609020204030204" pitchFamily="49" charset="0"/>
              </a:rPr>
              <a:t>;</a:t>
            </a:r>
          </a:p>
        </p:txBody>
      </p:sp>
      <p:sp>
        <p:nvSpPr>
          <p:cNvPr id="7" name="Text Box 4">
            <a:extLst>
              <a:ext uri="{FF2B5EF4-FFF2-40B4-BE49-F238E27FC236}">
                <a16:creationId xmlns:a16="http://schemas.microsoft.com/office/drawing/2014/main" id="{37DAE405-DCC4-9174-75A7-22C2300153A2}"/>
              </a:ext>
            </a:extLst>
          </p:cNvPr>
          <p:cNvSpPr txBox="1">
            <a:spLocks noChangeArrowheads="1"/>
          </p:cNvSpPr>
          <p:nvPr/>
        </p:nvSpPr>
        <p:spPr bwMode="auto">
          <a:xfrm>
            <a:off x="152400" y="1628843"/>
            <a:ext cx="4953000" cy="1477328"/>
          </a:xfrm>
          <a:prstGeom prst="rect">
            <a:avLst/>
          </a:prstGeom>
          <a:solidFill>
            <a:schemeClr val="lt1"/>
          </a:solidFill>
          <a:ln w="9525">
            <a:solidFill>
              <a:schemeClr val="bg2"/>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dirty="0">
                <a:solidFill>
                  <a:srgbClr val="800000"/>
                </a:solidFill>
                <a:latin typeface="Consolas" panose="020B0609020204030204" pitchFamily="49" charset="0"/>
              </a:rPr>
              <a:t>SELECT</a:t>
            </a:r>
            <a:r>
              <a:rPr lang="en-US" dirty="0">
                <a:solidFill>
                  <a:srgbClr val="000000"/>
                </a:solidFill>
                <a:latin typeface="Consolas" panose="020B0609020204030204" pitchFamily="49" charset="0"/>
              </a:rPr>
              <a:t> state, county, city,  </a:t>
            </a:r>
          </a:p>
          <a:p>
            <a:pPr algn="l"/>
            <a:r>
              <a:rPr lang="en-US" dirty="0">
                <a:solidFill>
                  <a:srgbClr val="000000"/>
                </a:solidFill>
                <a:latin typeface="Consolas" panose="020B0609020204030204" pitchFamily="49" charset="0"/>
              </a:rPr>
              <a:t>        </a:t>
            </a:r>
            <a:r>
              <a:rPr lang="en-US" dirty="0">
                <a:solidFill>
                  <a:srgbClr val="000080"/>
                </a:solidFill>
                <a:latin typeface="Consolas" panose="020B0609020204030204" pitchFamily="49" charset="0"/>
              </a:rPr>
              <a:t>COUNT</a:t>
            </a:r>
            <a:r>
              <a:rPr lang="en-US" dirty="0">
                <a:solidFill>
                  <a:srgbClr val="000000"/>
                </a:solidFill>
                <a:latin typeface="Consolas" panose="020B0609020204030204" pitchFamily="49" charset="0"/>
              </a:rPr>
              <a:t> (*) </a:t>
            </a:r>
            <a:r>
              <a:rPr lang="en-US" dirty="0">
                <a:solidFill>
                  <a:srgbClr val="800000"/>
                </a:solidFill>
                <a:latin typeface="Consolas" panose="020B0609020204030204" pitchFamily="49" charset="0"/>
              </a:rPr>
              <a:t>AS</a:t>
            </a:r>
            <a:r>
              <a:rPr lang="en-US" dirty="0">
                <a:solidFill>
                  <a:srgbClr val="000000"/>
                </a:solidFill>
                <a:latin typeface="Consolas" panose="020B0609020204030204" pitchFamily="49" charset="0"/>
              </a:rPr>
              <a:t>  population,</a:t>
            </a:r>
          </a:p>
          <a:p>
            <a:pPr algn="l"/>
            <a:r>
              <a:rPr lang="en-US" dirty="0">
                <a:solidFill>
                  <a:srgbClr val="000000"/>
                </a:solidFill>
                <a:latin typeface="Consolas" panose="020B0609020204030204" pitchFamily="49" charset="0"/>
              </a:rPr>
              <a:t>        </a:t>
            </a:r>
            <a:r>
              <a:rPr lang="en-US" dirty="0">
                <a:solidFill>
                  <a:srgbClr val="000080"/>
                </a:solidFill>
                <a:latin typeface="Consolas" panose="020B0609020204030204" pitchFamily="49" charset="0"/>
              </a:rPr>
              <a:t>AVG</a:t>
            </a:r>
            <a:r>
              <a:rPr lang="en-US" dirty="0">
                <a:solidFill>
                  <a:srgbClr val="000000"/>
                </a:solidFill>
                <a:latin typeface="Consolas" panose="020B0609020204030204" pitchFamily="49" charset="0"/>
              </a:rPr>
              <a:t>(income) </a:t>
            </a:r>
            <a:r>
              <a:rPr lang="en-US" dirty="0">
                <a:solidFill>
                  <a:srgbClr val="800000"/>
                </a:solidFill>
                <a:latin typeface="Consolas" panose="020B0609020204030204" pitchFamily="49" charset="0"/>
              </a:rPr>
              <a:t>AS</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avg_income</a:t>
            </a:r>
            <a:r>
              <a:rPr lang="en-US" dirty="0">
                <a:solidFill>
                  <a:srgbClr val="000000"/>
                </a:solidFill>
                <a:latin typeface="Consolas" panose="020B0609020204030204" pitchFamily="49" charset="0"/>
              </a:rPr>
              <a:t>   </a:t>
            </a:r>
          </a:p>
          <a:p>
            <a:pPr algn="l"/>
            <a:r>
              <a:rPr lang="en-US" dirty="0">
                <a:solidFill>
                  <a:srgbClr val="800000"/>
                </a:solidFill>
                <a:latin typeface="Consolas" panose="020B0609020204030204" pitchFamily="49" charset="0"/>
              </a:rPr>
              <a:t>FROM</a:t>
            </a:r>
            <a:r>
              <a:rPr lang="en-US" dirty="0">
                <a:solidFill>
                  <a:srgbClr val="000000"/>
                </a:solidFill>
                <a:latin typeface="Consolas" panose="020B0609020204030204" pitchFamily="49" charset="0"/>
              </a:rPr>
              <a:t>    census </a:t>
            </a:r>
          </a:p>
          <a:p>
            <a:pPr algn="l"/>
            <a:r>
              <a:rPr lang="en-US" dirty="0">
                <a:solidFill>
                  <a:srgbClr val="800000"/>
                </a:solidFill>
                <a:latin typeface="Consolas" panose="020B0609020204030204" pitchFamily="49" charset="0"/>
              </a:rPr>
              <a:t>GROUP</a:t>
            </a:r>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BY</a:t>
            </a:r>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ROLLUP</a:t>
            </a:r>
            <a:r>
              <a:rPr lang="en-US" dirty="0">
                <a:solidFill>
                  <a:srgbClr val="000000"/>
                </a:solidFill>
                <a:latin typeface="Consolas" panose="020B0609020204030204" pitchFamily="49" charset="0"/>
              </a:rPr>
              <a:t> (state, county, city)</a:t>
            </a:r>
            <a:r>
              <a:rPr lang="en-US" dirty="0">
                <a:solidFill>
                  <a:srgbClr val="FF0000"/>
                </a:solidFill>
                <a:latin typeface="Consolas" panose="020B0609020204030204" pitchFamily="49" charset="0"/>
              </a:rPr>
              <a:t>;</a:t>
            </a:r>
          </a:p>
        </p:txBody>
      </p:sp>
      <p:sp>
        <p:nvSpPr>
          <p:cNvPr id="9" name="TextBox 8">
            <a:extLst>
              <a:ext uri="{FF2B5EF4-FFF2-40B4-BE49-F238E27FC236}">
                <a16:creationId xmlns:a16="http://schemas.microsoft.com/office/drawing/2014/main" id="{071A78C2-1C38-0B1C-E0B0-7310D259252D}"/>
              </a:ext>
            </a:extLst>
          </p:cNvPr>
          <p:cNvSpPr txBox="1"/>
          <p:nvPr/>
        </p:nvSpPr>
        <p:spPr>
          <a:xfrm>
            <a:off x="15077" y="863565"/>
            <a:ext cx="6234544" cy="646331"/>
          </a:xfrm>
          <a:prstGeom prst="rect">
            <a:avLst/>
          </a:prstGeom>
          <a:noFill/>
        </p:spPr>
        <p:txBody>
          <a:bodyPr wrap="square">
            <a:spAutoFit/>
          </a:bodyPr>
          <a:lstStyle/>
          <a:p>
            <a:pPr>
              <a:buNone/>
            </a:pPr>
            <a:r>
              <a:rPr lang="en-US" dirty="0"/>
              <a:t>GROUPING SETS( </a:t>
            </a:r>
            <a:r>
              <a:rPr lang="en-US" dirty="0">
                <a:solidFill>
                  <a:srgbClr val="FF0000"/>
                </a:solidFill>
              </a:rPr>
              <a:t>(state, county, city)  (state, county)  (state)  ()  </a:t>
            </a:r>
            <a:r>
              <a:rPr lang="en-US" dirty="0"/>
              <a:t>)</a:t>
            </a:r>
          </a:p>
        </p:txBody>
      </p:sp>
      <p:sp>
        <p:nvSpPr>
          <p:cNvPr id="11" name="TextBox 10">
            <a:extLst>
              <a:ext uri="{FF2B5EF4-FFF2-40B4-BE49-F238E27FC236}">
                <a16:creationId xmlns:a16="http://schemas.microsoft.com/office/drawing/2014/main" id="{195C28CB-8C21-8DF4-F2A4-D2D641E7F36E}"/>
              </a:ext>
            </a:extLst>
          </p:cNvPr>
          <p:cNvSpPr txBox="1"/>
          <p:nvPr/>
        </p:nvSpPr>
        <p:spPr>
          <a:xfrm>
            <a:off x="101601" y="5612681"/>
            <a:ext cx="6234544" cy="646331"/>
          </a:xfrm>
          <a:prstGeom prst="rect">
            <a:avLst/>
          </a:prstGeom>
          <a:noFill/>
        </p:spPr>
        <p:txBody>
          <a:bodyPr wrap="square">
            <a:spAutoFit/>
          </a:bodyPr>
          <a:lstStyle/>
          <a:p>
            <a:pPr>
              <a:buNone/>
            </a:pPr>
            <a:r>
              <a:rPr lang="en-US" dirty="0"/>
              <a:t>GROUPING SETS( </a:t>
            </a:r>
            <a:r>
              <a:rPr lang="en-US" dirty="0">
                <a:solidFill>
                  <a:srgbClr val="FF0000"/>
                </a:solidFill>
              </a:rPr>
              <a:t>(city, county, state)  (city, county)  (city)  ()  </a:t>
            </a:r>
            <a:r>
              <a:rPr lang="en-US" dirty="0"/>
              <a:t>)</a:t>
            </a:r>
          </a:p>
        </p:txBody>
      </p:sp>
      <p:sp>
        <p:nvSpPr>
          <p:cNvPr id="12" name="Arrow: Right 11">
            <a:extLst>
              <a:ext uri="{FF2B5EF4-FFF2-40B4-BE49-F238E27FC236}">
                <a16:creationId xmlns:a16="http://schemas.microsoft.com/office/drawing/2014/main" id="{5DD8E039-8C35-90D8-005B-5F9D5F22D205}"/>
              </a:ext>
            </a:extLst>
          </p:cNvPr>
          <p:cNvSpPr/>
          <p:nvPr/>
        </p:nvSpPr>
        <p:spPr bwMode="auto">
          <a:xfrm>
            <a:off x="5351318" y="4502518"/>
            <a:ext cx="838200" cy="609600"/>
          </a:xfrm>
          <a:prstGeom prst="rightArrow">
            <a:avLst/>
          </a:prstGeom>
          <a:solidFill>
            <a:srgbClr val="FFC000"/>
          </a:solidFill>
          <a:ln w="1270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dirty="0">
              <a:ln>
                <a:noFill/>
              </a:ln>
              <a:solidFill>
                <a:schemeClr val="tx1"/>
              </a:solidFill>
              <a:effectLst/>
              <a:latin typeface="Siemens Sans Black" pitchFamily="2" charset="0"/>
            </a:endParaRPr>
          </a:p>
        </p:txBody>
      </p:sp>
      <p:sp>
        <p:nvSpPr>
          <p:cNvPr id="13" name="Arrow: Down 12">
            <a:extLst>
              <a:ext uri="{FF2B5EF4-FFF2-40B4-BE49-F238E27FC236}">
                <a16:creationId xmlns:a16="http://schemas.microsoft.com/office/drawing/2014/main" id="{840D7FFD-EAF8-ED1C-AEE1-42E2E9DE1601}"/>
              </a:ext>
            </a:extLst>
          </p:cNvPr>
          <p:cNvSpPr/>
          <p:nvPr/>
        </p:nvSpPr>
        <p:spPr bwMode="auto">
          <a:xfrm>
            <a:off x="2209800" y="3276600"/>
            <a:ext cx="609600" cy="685800"/>
          </a:xfrm>
          <a:prstGeom prst="downArrow">
            <a:avLst/>
          </a:prstGeom>
          <a:solidFill>
            <a:srgbClr val="FFC000"/>
          </a:solidFill>
          <a:ln w="1270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endParaRPr lang="en-US" sz="2400" b="1" dirty="0">
              <a:latin typeface="Siemens Sans Black" pitchFamily="2" charset="0"/>
            </a:endParaRPr>
          </a:p>
        </p:txBody>
      </p:sp>
      <p:pic>
        <p:nvPicPr>
          <p:cNvPr id="15" name="Picture 14">
            <a:extLst>
              <a:ext uri="{FF2B5EF4-FFF2-40B4-BE49-F238E27FC236}">
                <a16:creationId xmlns:a16="http://schemas.microsoft.com/office/drawing/2014/main" id="{1443AE49-8637-BC5B-6029-BE2A9C07DB5C}"/>
              </a:ext>
            </a:extLst>
          </p:cNvPr>
          <p:cNvPicPr>
            <a:picLocks noChangeAspect="1"/>
          </p:cNvPicPr>
          <p:nvPr/>
        </p:nvPicPr>
        <p:blipFill>
          <a:blip r:embed="rId2"/>
          <a:stretch>
            <a:fillRect/>
          </a:stretch>
        </p:blipFill>
        <p:spPr>
          <a:xfrm>
            <a:off x="6582063" y="770432"/>
            <a:ext cx="5335965" cy="5918235"/>
          </a:xfrm>
          <a:prstGeom prst="rect">
            <a:avLst/>
          </a:prstGeom>
          <a:ln w="12700">
            <a:solidFill>
              <a:schemeClr val="bg1">
                <a:lumMod val="50000"/>
              </a:schemeClr>
            </a:solidFill>
          </a:ln>
          <a:effectLst>
            <a:outerShdw blurRad="292100" dist="139700" dir="2700000" algn="tl" rotWithShape="0">
              <a:srgbClr val="333333">
                <a:alpha val="65000"/>
              </a:srgbClr>
            </a:outerShdw>
          </a:effectLst>
        </p:spPr>
      </p:pic>
      <p:sp>
        <p:nvSpPr>
          <p:cNvPr id="3" name="TextBox 2">
            <a:extLst>
              <a:ext uri="{FF2B5EF4-FFF2-40B4-BE49-F238E27FC236}">
                <a16:creationId xmlns:a16="http://schemas.microsoft.com/office/drawing/2014/main" id="{EDDA4EF3-ADAB-7CC5-89EA-E5B50D4F9AB8}"/>
              </a:ext>
            </a:extLst>
          </p:cNvPr>
          <p:cNvSpPr txBox="1"/>
          <p:nvPr/>
        </p:nvSpPr>
        <p:spPr>
          <a:xfrm>
            <a:off x="3810000" y="3316069"/>
            <a:ext cx="762000" cy="646331"/>
          </a:xfrm>
          <a:prstGeom prst="rect">
            <a:avLst/>
          </a:prstGeom>
          <a:noFill/>
        </p:spPr>
        <p:txBody>
          <a:bodyPr wrap="square" rtlCol="0">
            <a:spAutoFit/>
          </a:bodyPr>
          <a:lstStyle/>
          <a:p>
            <a:r>
              <a:rPr lang="en-US" sz="3600" b="1" dirty="0">
                <a:solidFill>
                  <a:srgbClr val="FF0000"/>
                </a:solidFill>
                <a:latin typeface="Verdana" panose="020B0604030504040204" pitchFamily="34" charset="0"/>
                <a:ea typeface="Verdana" panose="020B0604030504040204" pitchFamily="34" charset="0"/>
              </a:rPr>
              <a:t>≠</a:t>
            </a:r>
          </a:p>
        </p:txBody>
      </p:sp>
    </p:spTree>
    <p:extLst>
      <p:ext uri="{BB962C8B-B14F-4D97-AF65-F5344CB8AC3E}">
        <p14:creationId xmlns:p14="http://schemas.microsoft.com/office/powerpoint/2010/main" val="29801050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CUBE</a:t>
            </a:r>
          </a:p>
        </p:txBody>
      </p:sp>
      <p:sp>
        <p:nvSpPr>
          <p:cNvPr id="3" name="Content Placeholder 2"/>
          <p:cNvSpPr>
            <a:spLocks noGrp="1"/>
          </p:cNvSpPr>
          <p:nvPr>
            <p:ph idx="1"/>
          </p:nvPr>
        </p:nvSpPr>
        <p:spPr/>
        <p:txBody>
          <a:bodyPr/>
          <a:lstStyle/>
          <a:p>
            <a:r>
              <a:rPr lang="en-US" dirty="0"/>
              <a:t>CUBE operation computes union of GROUP BY's on every subset of the specified attributes</a:t>
            </a:r>
          </a:p>
          <a:p>
            <a:endParaRPr lang="en-US" dirty="0"/>
          </a:p>
          <a:p>
            <a:endParaRPr lang="en-US" dirty="0"/>
          </a:p>
          <a:p>
            <a:endParaRPr lang="en-US" dirty="0"/>
          </a:p>
          <a:p>
            <a:endParaRPr lang="en-US" sz="1200" dirty="0"/>
          </a:p>
          <a:p>
            <a:r>
              <a:rPr lang="en-US" dirty="0"/>
              <a:t>e.g.: effect of gender and birth date on income</a:t>
            </a:r>
          </a:p>
        </p:txBody>
      </p:sp>
      <p:sp>
        <p:nvSpPr>
          <p:cNvPr id="4" name="Rectangle 3"/>
          <p:cNvSpPr/>
          <p:nvPr/>
        </p:nvSpPr>
        <p:spPr>
          <a:xfrm>
            <a:off x="2667000" y="3958334"/>
            <a:ext cx="7620000" cy="1415772"/>
          </a:xfrm>
          <a:prstGeom prst="rect">
            <a:avLst/>
          </a:prstGeom>
          <a:solidFill>
            <a:schemeClr val="bg1"/>
          </a:solidFill>
          <a:ln>
            <a:solidFill>
              <a:schemeClr val="bg2"/>
            </a:solidFill>
          </a:ln>
          <a:effectLst>
            <a:outerShdw blurRad="50800" dist="38100" dir="2700000" algn="tl" rotWithShape="0">
              <a:prstClr val="black">
                <a:alpha val="40000"/>
              </a:prstClr>
            </a:outerShdw>
          </a:effectLst>
        </p:spPr>
        <p:txBody>
          <a:bodyPr wrap="square" lIns="182880" tIns="91440" rIns="182880" bIns="91440">
            <a:spAutoFit/>
          </a:bodyPr>
          <a:lstStyle/>
          <a:p>
            <a:pPr algn="l"/>
            <a:r>
              <a:rPr lang="en-US" sz="2000" dirty="0">
                <a:solidFill>
                  <a:srgbClr val="800000"/>
                </a:solidFill>
                <a:latin typeface="Consolas" panose="020B0609020204030204" pitchFamily="49" charset="0"/>
              </a:rPr>
              <a:t>SELECT</a:t>
            </a:r>
            <a:r>
              <a:rPr lang="en-US" sz="2000" dirty="0">
                <a:solidFill>
                  <a:srgbClr val="000000"/>
                </a:solidFill>
                <a:latin typeface="Consolas" panose="020B0609020204030204" pitchFamily="49" charset="0"/>
              </a:rPr>
              <a:t> sex, </a:t>
            </a:r>
            <a:r>
              <a:rPr lang="en-US" sz="2000" dirty="0">
                <a:solidFill>
                  <a:srgbClr val="800000"/>
                </a:solidFill>
                <a:latin typeface="Consolas" panose="020B0609020204030204" pitchFamily="49" charset="0"/>
              </a:rPr>
              <a:t>year</a:t>
            </a:r>
            <a:r>
              <a:rPr lang="en-US" sz="2000" dirty="0">
                <a:solidFill>
                  <a:srgbClr val="000000"/>
                </a:solidFill>
                <a:latin typeface="Consolas" panose="020B0609020204030204" pitchFamily="49" charset="0"/>
              </a:rPr>
              <a:t>(birthdate) </a:t>
            </a:r>
            <a:r>
              <a:rPr lang="en-US" sz="2000" dirty="0">
                <a:solidFill>
                  <a:srgbClr val="800000"/>
                </a:solidFill>
                <a:latin typeface="Consolas" panose="020B0609020204030204" pitchFamily="49" charset="0"/>
              </a:rPr>
              <a:t>AS</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birth_year</a:t>
            </a:r>
            <a:r>
              <a:rPr lang="en-US" sz="2000" dirty="0">
                <a:solidFill>
                  <a:srgbClr val="000000"/>
                </a:solidFill>
                <a:latin typeface="Consolas" panose="020B0609020204030204" pitchFamily="49" charset="0"/>
              </a:rPr>
              <a:t>,</a:t>
            </a:r>
          </a:p>
          <a:p>
            <a:pPr algn="l"/>
            <a:r>
              <a:rPr lang="en-US" sz="2000" dirty="0">
                <a:solidFill>
                  <a:srgbClr val="000000"/>
                </a:solidFill>
                <a:latin typeface="Consolas" panose="020B0609020204030204" pitchFamily="49" charset="0"/>
              </a:rPr>
              <a:t>       </a:t>
            </a:r>
            <a:r>
              <a:rPr lang="en-US" sz="2000" dirty="0">
                <a:solidFill>
                  <a:srgbClr val="000080"/>
                </a:solidFill>
                <a:latin typeface="Consolas" panose="020B0609020204030204" pitchFamily="49" charset="0"/>
              </a:rPr>
              <a:t>MAX</a:t>
            </a:r>
            <a:r>
              <a:rPr lang="en-US" sz="2000" dirty="0">
                <a:solidFill>
                  <a:srgbClr val="000000"/>
                </a:solidFill>
                <a:latin typeface="Consolas" panose="020B0609020204030204" pitchFamily="49" charset="0"/>
              </a:rPr>
              <a:t> (income) </a:t>
            </a:r>
            <a:r>
              <a:rPr lang="en-US" sz="2000" dirty="0">
                <a:solidFill>
                  <a:srgbClr val="800000"/>
                </a:solidFill>
                <a:latin typeface="Consolas" panose="020B0609020204030204" pitchFamily="49" charset="0"/>
              </a:rPr>
              <a:t>AS</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max_income</a:t>
            </a:r>
            <a:r>
              <a:rPr lang="en-US" sz="2000" dirty="0">
                <a:solidFill>
                  <a:srgbClr val="000000"/>
                </a:solidFill>
                <a:latin typeface="Consolas" panose="020B0609020204030204" pitchFamily="49" charset="0"/>
              </a:rPr>
              <a:t> </a:t>
            </a:r>
          </a:p>
          <a:p>
            <a:pPr algn="l"/>
            <a:r>
              <a:rPr lang="en-US" sz="2000" dirty="0">
                <a:solidFill>
                  <a:srgbClr val="800000"/>
                </a:solidFill>
                <a:latin typeface="Consolas" panose="020B0609020204030204" pitchFamily="49" charset="0"/>
              </a:rPr>
              <a:t>FROM</a:t>
            </a:r>
            <a:r>
              <a:rPr lang="en-US" sz="2000" dirty="0">
                <a:solidFill>
                  <a:srgbClr val="000000"/>
                </a:solidFill>
                <a:latin typeface="Consolas" panose="020B0609020204030204" pitchFamily="49" charset="0"/>
              </a:rPr>
              <a:t>  census</a:t>
            </a:r>
          </a:p>
          <a:p>
            <a:pPr algn="l"/>
            <a:r>
              <a:rPr lang="en-US" sz="2000" dirty="0">
                <a:solidFill>
                  <a:srgbClr val="800000"/>
                </a:solidFill>
                <a:latin typeface="Consolas" panose="020B0609020204030204" pitchFamily="49" charset="0"/>
              </a:rPr>
              <a:t>GROUP</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BY</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CUBE</a:t>
            </a:r>
            <a:r>
              <a:rPr lang="en-US" sz="2000" dirty="0">
                <a:solidFill>
                  <a:srgbClr val="000000"/>
                </a:solidFill>
                <a:latin typeface="Consolas" panose="020B0609020204030204" pitchFamily="49" charset="0"/>
              </a:rPr>
              <a:t>(sex, </a:t>
            </a:r>
            <a:r>
              <a:rPr lang="en-US" sz="2000" dirty="0">
                <a:solidFill>
                  <a:srgbClr val="800000"/>
                </a:solidFill>
                <a:latin typeface="Consolas" panose="020B0609020204030204" pitchFamily="49" charset="0"/>
              </a:rPr>
              <a:t>year</a:t>
            </a:r>
            <a:r>
              <a:rPr lang="en-US" sz="2000" dirty="0">
                <a:solidFill>
                  <a:srgbClr val="000000"/>
                </a:solidFill>
                <a:latin typeface="Consolas" panose="020B0609020204030204" pitchFamily="49" charset="0"/>
              </a:rPr>
              <a:t>(birthdate) )</a:t>
            </a:r>
            <a:r>
              <a:rPr lang="en-US" sz="2000" dirty="0">
                <a:solidFill>
                  <a:srgbClr val="FF0000"/>
                </a:solidFill>
                <a:latin typeface="Consolas" panose="020B0609020204030204" pitchFamily="49" charset="0"/>
              </a:rPr>
              <a:t>;</a:t>
            </a:r>
            <a:endParaRPr lang="en-US" sz="2800" dirty="0">
              <a:latin typeface="Verdana" panose="020B0604030504040204" pitchFamily="34" charset="0"/>
              <a:ea typeface="Verdana" panose="020B0604030504040204" pitchFamily="34" charset="0"/>
            </a:endParaRPr>
          </a:p>
        </p:txBody>
      </p:sp>
      <p:sp>
        <p:nvSpPr>
          <p:cNvPr id="5" name="Rectangle 4"/>
          <p:cNvSpPr/>
          <p:nvPr/>
        </p:nvSpPr>
        <p:spPr>
          <a:xfrm>
            <a:off x="2667000" y="1752601"/>
            <a:ext cx="7620000" cy="1107996"/>
          </a:xfrm>
          <a:prstGeom prst="rect">
            <a:avLst/>
          </a:prstGeom>
          <a:solidFill>
            <a:schemeClr val="bg1"/>
          </a:solidFill>
          <a:ln>
            <a:solidFill>
              <a:schemeClr val="bg2"/>
            </a:solidFill>
          </a:ln>
          <a:effectLst>
            <a:outerShdw blurRad="50800" dist="38100" dir="2700000" algn="tl" rotWithShape="0">
              <a:prstClr val="black">
                <a:alpha val="40000"/>
              </a:prstClr>
            </a:outerShdw>
          </a:effectLst>
        </p:spPr>
        <p:txBody>
          <a:bodyPr wrap="square" lIns="182880" tIns="91440" rIns="182880" bIns="91440">
            <a:spAutoFit/>
          </a:bodyPr>
          <a:lstStyle/>
          <a:p>
            <a:pPr algn="l"/>
            <a:r>
              <a:rPr lang="en-US" sz="2000" b="1" dirty="0">
                <a:solidFill>
                  <a:srgbClr val="800000"/>
                </a:solidFill>
                <a:latin typeface="Consolas" panose="020B0609020204030204" pitchFamily="49" charset="0"/>
              </a:rPr>
              <a:t>GROUP</a:t>
            </a:r>
            <a:r>
              <a:rPr lang="en-US" sz="2000" b="1" dirty="0">
                <a:solidFill>
                  <a:srgbClr val="000000"/>
                </a:solidFill>
                <a:latin typeface="Consolas" panose="020B0609020204030204" pitchFamily="49" charset="0"/>
              </a:rPr>
              <a:t> </a:t>
            </a:r>
            <a:r>
              <a:rPr lang="en-US" sz="2000" b="1" dirty="0">
                <a:solidFill>
                  <a:srgbClr val="800000"/>
                </a:solidFill>
                <a:latin typeface="Consolas" panose="020B0609020204030204" pitchFamily="49" charset="0"/>
              </a:rPr>
              <a:t>BY</a:t>
            </a:r>
            <a:r>
              <a:rPr lang="en-US" sz="2000" b="1" dirty="0">
                <a:solidFill>
                  <a:srgbClr val="000000"/>
                </a:solidFill>
                <a:latin typeface="Consolas" panose="020B0609020204030204" pitchFamily="49" charset="0"/>
              </a:rPr>
              <a:t> </a:t>
            </a:r>
            <a:r>
              <a:rPr lang="en-US" sz="2000" b="1" dirty="0">
                <a:solidFill>
                  <a:srgbClr val="800000"/>
                </a:solidFill>
                <a:latin typeface="Consolas" panose="020B0609020204030204" pitchFamily="49" charset="0"/>
              </a:rPr>
              <a:t>CUBE</a:t>
            </a:r>
            <a:r>
              <a:rPr lang="en-US" sz="2000" b="1" dirty="0">
                <a:solidFill>
                  <a:srgbClr val="000000"/>
                </a:solidFill>
                <a:latin typeface="Consolas" panose="020B0609020204030204" pitchFamily="49" charset="0"/>
              </a:rPr>
              <a:t> (</a:t>
            </a:r>
            <a:r>
              <a:rPr lang="en-US" sz="2000" b="1" dirty="0" err="1">
                <a:solidFill>
                  <a:srgbClr val="000000"/>
                </a:solidFill>
                <a:latin typeface="Consolas" panose="020B0609020204030204" pitchFamily="49" charset="0"/>
              </a:rPr>
              <a:t>a,b,c</a:t>
            </a:r>
            <a:r>
              <a:rPr lang="en-US" sz="2000" b="1" dirty="0">
                <a:solidFill>
                  <a:srgbClr val="000000"/>
                </a:solidFill>
                <a:latin typeface="Consolas" panose="020B0609020204030204" pitchFamily="49" charset="0"/>
              </a:rPr>
              <a:t>) </a:t>
            </a:r>
            <a:r>
              <a:rPr lang="en-US" sz="2000" b="1" dirty="0">
                <a:solidFill>
                  <a:srgbClr val="800000"/>
                </a:solidFill>
                <a:latin typeface="Consolas" panose="020B0609020204030204" pitchFamily="49" charset="0"/>
              </a:rPr>
              <a:t>is</a:t>
            </a:r>
            <a:r>
              <a:rPr lang="en-US" sz="2000" b="1" dirty="0">
                <a:solidFill>
                  <a:srgbClr val="000000"/>
                </a:solidFill>
                <a:latin typeface="Consolas" panose="020B0609020204030204" pitchFamily="49" charset="0"/>
              </a:rPr>
              <a:t> equivalent </a:t>
            </a:r>
            <a:r>
              <a:rPr lang="en-US" sz="2000" b="1" dirty="0">
                <a:solidFill>
                  <a:srgbClr val="800000"/>
                </a:solidFill>
                <a:latin typeface="Consolas" panose="020B0609020204030204" pitchFamily="49" charset="0"/>
              </a:rPr>
              <a:t>to</a:t>
            </a:r>
          </a:p>
          <a:p>
            <a:pPr algn="l"/>
            <a:r>
              <a:rPr lang="en-US" sz="2000" b="1" dirty="0">
                <a:solidFill>
                  <a:srgbClr val="800000"/>
                </a:solidFill>
                <a:latin typeface="Consolas" panose="020B0609020204030204" pitchFamily="49" charset="0"/>
              </a:rPr>
              <a:t>GROUP</a:t>
            </a:r>
            <a:r>
              <a:rPr lang="en-US" sz="2000" b="1" dirty="0">
                <a:solidFill>
                  <a:srgbClr val="000000"/>
                </a:solidFill>
                <a:latin typeface="Consolas" panose="020B0609020204030204" pitchFamily="49" charset="0"/>
              </a:rPr>
              <a:t> </a:t>
            </a:r>
            <a:r>
              <a:rPr lang="en-US" sz="2000" b="1" dirty="0">
                <a:solidFill>
                  <a:srgbClr val="800000"/>
                </a:solidFill>
                <a:latin typeface="Consolas" panose="020B0609020204030204" pitchFamily="49" charset="0"/>
              </a:rPr>
              <a:t>BY</a:t>
            </a:r>
            <a:r>
              <a:rPr lang="en-US" sz="2000" b="1" dirty="0">
                <a:solidFill>
                  <a:srgbClr val="000000"/>
                </a:solidFill>
                <a:latin typeface="Consolas" panose="020B0609020204030204" pitchFamily="49" charset="0"/>
              </a:rPr>
              <a:t> </a:t>
            </a:r>
            <a:r>
              <a:rPr lang="en-US" sz="2000" b="1" dirty="0">
                <a:solidFill>
                  <a:srgbClr val="800000"/>
                </a:solidFill>
                <a:latin typeface="Consolas" panose="020B0609020204030204" pitchFamily="49" charset="0"/>
              </a:rPr>
              <a:t>GROUPING</a:t>
            </a:r>
            <a:r>
              <a:rPr lang="en-US" sz="2000" b="1" dirty="0">
                <a:solidFill>
                  <a:srgbClr val="000000"/>
                </a:solidFill>
                <a:latin typeface="Consolas" panose="020B0609020204030204" pitchFamily="49" charset="0"/>
              </a:rPr>
              <a:t> </a:t>
            </a:r>
            <a:r>
              <a:rPr lang="en-US" sz="2000" b="1" dirty="0">
                <a:solidFill>
                  <a:srgbClr val="800000"/>
                </a:solidFill>
                <a:latin typeface="Consolas" panose="020B0609020204030204" pitchFamily="49" charset="0"/>
              </a:rPr>
              <a:t>SETS</a:t>
            </a:r>
          </a:p>
          <a:p>
            <a:pPr algn="l"/>
            <a:r>
              <a:rPr lang="pt-BR" sz="2000" dirty="0">
                <a:solidFill>
                  <a:srgbClr val="000000"/>
                </a:solidFill>
                <a:latin typeface="Consolas" panose="020B0609020204030204" pitchFamily="49" charset="0"/>
              </a:rPr>
              <a:t>( (a,b,c) (a,b) (a,c) (b,c) (a) (b) (c) () )</a:t>
            </a:r>
            <a:endParaRPr lang="en-US" sz="2800" dirty="0">
              <a:latin typeface="Consolas" panose="020B0609020204030204" pitchFamily="49" charset="0"/>
              <a:ea typeface="Verdana" panose="020B0604030504040204" pitchFamily="34" charset="0"/>
            </a:endParaRPr>
          </a:p>
        </p:txBody>
      </p:sp>
      <p:sp>
        <p:nvSpPr>
          <p:cNvPr id="6" name="TextBox 5">
            <a:extLst>
              <a:ext uri="{FF2B5EF4-FFF2-40B4-BE49-F238E27FC236}">
                <a16:creationId xmlns:a16="http://schemas.microsoft.com/office/drawing/2014/main" id="{9150F794-4AAB-E773-E633-3DC8E18A97AC}"/>
              </a:ext>
            </a:extLst>
          </p:cNvPr>
          <p:cNvSpPr txBox="1">
            <a:spLocks noChangeArrowheads="1"/>
          </p:cNvSpPr>
          <p:nvPr/>
        </p:nvSpPr>
        <p:spPr bwMode="auto">
          <a:xfrm>
            <a:off x="76200" y="6430064"/>
            <a:ext cx="155042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OLAP queries</a:t>
            </a:r>
          </a:p>
        </p:txBody>
      </p:sp>
    </p:spTree>
    <p:extLst>
      <p:ext uri="{BB962C8B-B14F-4D97-AF65-F5344CB8AC3E}">
        <p14:creationId xmlns:p14="http://schemas.microsoft.com/office/powerpoint/2010/main" val="3731893298"/>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Cube Query Result</a:t>
            </a:r>
          </a:p>
        </p:txBody>
      </p:sp>
      <p:sp>
        <p:nvSpPr>
          <p:cNvPr id="3" name="TextBox 2">
            <a:extLst>
              <a:ext uri="{FF2B5EF4-FFF2-40B4-BE49-F238E27FC236}">
                <a16:creationId xmlns:a16="http://schemas.microsoft.com/office/drawing/2014/main" id="{ED7870B9-6E8D-337A-07F3-B13D5050EF90}"/>
              </a:ext>
            </a:extLst>
          </p:cNvPr>
          <p:cNvSpPr txBox="1">
            <a:spLocks noChangeArrowheads="1"/>
          </p:cNvSpPr>
          <p:nvPr/>
        </p:nvSpPr>
        <p:spPr bwMode="auto">
          <a:xfrm>
            <a:off x="76200" y="6430064"/>
            <a:ext cx="155042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OLAP queries</a:t>
            </a:r>
          </a:p>
        </p:txBody>
      </p:sp>
      <p:pic>
        <p:nvPicPr>
          <p:cNvPr id="5" name="Picture 4">
            <a:extLst>
              <a:ext uri="{FF2B5EF4-FFF2-40B4-BE49-F238E27FC236}">
                <a16:creationId xmlns:a16="http://schemas.microsoft.com/office/drawing/2014/main" id="{16553021-7510-3D73-52D9-AB078F1DD585}"/>
              </a:ext>
            </a:extLst>
          </p:cNvPr>
          <p:cNvPicPr>
            <a:picLocks noChangeAspect="1"/>
          </p:cNvPicPr>
          <p:nvPr/>
        </p:nvPicPr>
        <p:blipFill>
          <a:blip r:embed="rId2"/>
          <a:stretch>
            <a:fillRect/>
          </a:stretch>
        </p:blipFill>
        <p:spPr>
          <a:xfrm>
            <a:off x="6096000" y="684996"/>
            <a:ext cx="5571671" cy="5556970"/>
          </a:xfrm>
          <a:prstGeom prst="rect">
            <a:avLst/>
          </a:prstGeom>
        </p:spPr>
      </p:pic>
      <p:sp>
        <p:nvSpPr>
          <p:cNvPr id="7" name="TextBox 6">
            <a:extLst>
              <a:ext uri="{FF2B5EF4-FFF2-40B4-BE49-F238E27FC236}">
                <a16:creationId xmlns:a16="http://schemas.microsoft.com/office/drawing/2014/main" id="{4180E081-7307-A3CE-D623-A5BD15708DCE}"/>
              </a:ext>
            </a:extLst>
          </p:cNvPr>
          <p:cNvSpPr txBox="1"/>
          <p:nvPr/>
        </p:nvSpPr>
        <p:spPr>
          <a:xfrm>
            <a:off x="685800" y="2362200"/>
            <a:ext cx="4495800" cy="1754326"/>
          </a:xfrm>
          <a:prstGeom prst="rect">
            <a:avLst/>
          </a:prstGeom>
          <a:noFill/>
        </p:spPr>
        <p:txBody>
          <a:bodyPr wrap="square">
            <a:spAutoFit/>
          </a:bodyPr>
          <a:lstStyle/>
          <a:p>
            <a:r>
              <a:rPr lang="en-US" sz="1800" dirty="0">
                <a:latin typeface="Verdana" panose="020B0604030504040204" pitchFamily="34" charset="0"/>
                <a:ea typeface="Verdana" panose="020B0604030504040204" pitchFamily="34" charset="0"/>
              </a:rPr>
              <a:t>GROUP BY GROUPING SETS(</a:t>
            </a:r>
          </a:p>
          <a:p>
            <a:r>
              <a:rPr lang="en-US" dirty="0">
                <a:solidFill>
                  <a:srgbClr val="000000"/>
                </a:solidFill>
                <a:latin typeface="Verdana" panose="020B0604030504040204" pitchFamily="34" charset="0"/>
                <a:ea typeface="Verdana" panose="020B0604030504040204" pitchFamily="34" charset="0"/>
              </a:rPr>
              <a:t>  </a:t>
            </a:r>
            <a:r>
              <a:rPr lang="en-US" sz="1800" dirty="0">
                <a:solidFill>
                  <a:srgbClr val="000000"/>
                </a:solidFill>
                <a:latin typeface="Consolas" panose="020B0609020204030204" pitchFamily="49" charset="0"/>
              </a:rPr>
              <a:t>(sex, </a:t>
            </a:r>
            <a:r>
              <a:rPr lang="en-US" sz="1800" dirty="0">
                <a:solidFill>
                  <a:srgbClr val="800000"/>
                </a:solidFill>
                <a:latin typeface="Consolas" panose="020B0609020204030204" pitchFamily="49" charset="0"/>
              </a:rPr>
              <a:t>year</a:t>
            </a:r>
            <a:r>
              <a:rPr lang="en-US" sz="1800" dirty="0">
                <a:solidFill>
                  <a:srgbClr val="000000"/>
                </a:solidFill>
                <a:latin typeface="Consolas" panose="020B0609020204030204" pitchFamily="49" charset="0"/>
              </a:rPr>
              <a:t>(birthdate)) </a:t>
            </a:r>
          </a:p>
          <a:p>
            <a:r>
              <a:rPr lang="en-US" dirty="0">
                <a:solidFill>
                  <a:srgbClr val="000000"/>
                </a:solidFill>
                <a:latin typeface="Consolas" panose="020B0609020204030204" pitchFamily="49" charset="0"/>
              </a:rPr>
              <a:t> </a:t>
            </a:r>
            <a:r>
              <a:rPr lang="en-US" sz="1800" dirty="0">
                <a:solidFill>
                  <a:srgbClr val="000000"/>
                </a:solidFill>
                <a:latin typeface="Consolas" panose="020B0609020204030204" pitchFamily="49" charset="0"/>
              </a:rPr>
              <a:t>(sex) </a:t>
            </a:r>
          </a:p>
          <a:p>
            <a:r>
              <a:rPr lang="en-US" dirty="0">
                <a:solidFill>
                  <a:srgbClr val="000000"/>
                </a:solidFill>
                <a:latin typeface="Consolas" panose="020B0609020204030204" pitchFamily="49" charset="0"/>
              </a:rPr>
              <a:t> </a:t>
            </a:r>
            <a:r>
              <a:rPr lang="en-US" sz="1800" dirty="0">
                <a:solidFill>
                  <a:srgbClr val="000000"/>
                </a:solidFill>
                <a:latin typeface="Consolas" panose="020B0609020204030204" pitchFamily="49" charset="0"/>
              </a:rPr>
              <a:t>(</a:t>
            </a:r>
            <a:r>
              <a:rPr lang="en-US" sz="1800" dirty="0">
                <a:solidFill>
                  <a:srgbClr val="800000"/>
                </a:solidFill>
                <a:latin typeface="Consolas" panose="020B0609020204030204" pitchFamily="49" charset="0"/>
              </a:rPr>
              <a:t>year</a:t>
            </a:r>
            <a:r>
              <a:rPr lang="en-US" sz="1800" dirty="0">
                <a:solidFill>
                  <a:srgbClr val="000000"/>
                </a:solidFill>
                <a:latin typeface="Consolas" panose="020B0609020204030204" pitchFamily="49" charset="0"/>
              </a:rPr>
              <a:t>(birthdate)</a:t>
            </a:r>
            <a:r>
              <a:rPr lang="en-US" sz="1800" dirty="0">
                <a:latin typeface="Verdana" panose="020B0604030504040204" pitchFamily="34" charset="0"/>
                <a:ea typeface="Verdana" panose="020B0604030504040204" pitchFamily="34" charset="0"/>
              </a:rPr>
              <a:t>)</a:t>
            </a:r>
          </a:p>
          <a:p>
            <a:r>
              <a:rPr lang="en-US" dirty="0">
                <a:latin typeface="Verdana" panose="020B0604030504040204" pitchFamily="34" charset="0"/>
                <a:ea typeface="Verdana" panose="020B0604030504040204" pitchFamily="34" charset="0"/>
              </a:rPr>
              <a:t> </a:t>
            </a:r>
            <a:r>
              <a:rPr lang="en-US" sz="1800" dirty="0">
                <a:latin typeface="Verdana" panose="020B0604030504040204" pitchFamily="34" charset="0"/>
                <a:ea typeface="Verdana" panose="020B0604030504040204" pitchFamily="34" charset="0"/>
              </a:rPr>
              <a:t> () </a:t>
            </a:r>
          </a:p>
          <a:p>
            <a:r>
              <a:rPr lang="en-US" sz="1800" dirty="0">
                <a:latin typeface="Verdana" panose="020B0604030504040204" pitchFamily="34" charset="0"/>
                <a:ea typeface="Verdana" panose="020B0604030504040204" pitchFamily="34" charset="0"/>
              </a:rPr>
              <a:t>)</a:t>
            </a:r>
          </a:p>
        </p:txBody>
      </p:sp>
      <p:sp>
        <p:nvSpPr>
          <p:cNvPr id="9" name="TextBox 8">
            <a:extLst>
              <a:ext uri="{FF2B5EF4-FFF2-40B4-BE49-F238E27FC236}">
                <a16:creationId xmlns:a16="http://schemas.microsoft.com/office/drawing/2014/main" id="{796EEF13-9F3B-81C9-D8AC-A973734292E8}"/>
              </a:ext>
            </a:extLst>
          </p:cNvPr>
          <p:cNvSpPr txBox="1"/>
          <p:nvPr/>
        </p:nvSpPr>
        <p:spPr>
          <a:xfrm>
            <a:off x="304800" y="1143000"/>
            <a:ext cx="5257800" cy="400110"/>
          </a:xfrm>
          <a:prstGeom prst="rect">
            <a:avLst/>
          </a:prstGeom>
          <a:noFill/>
        </p:spPr>
        <p:txBody>
          <a:bodyPr wrap="square">
            <a:spAutoFit/>
          </a:bodyPr>
          <a:lstStyle/>
          <a:p>
            <a:pPr algn="l"/>
            <a:r>
              <a:rPr lang="en-US" sz="2000" dirty="0">
                <a:solidFill>
                  <a:srgbClr val="800000"/>
                </a:solidFill>
                <a:latin typeface="Consolas" panose="020B0609020204030204" pitchFamily="49" charset="0"/>
              </a:rPr>
              <a:t>GROUP</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BY</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CUBE</a:t>
            </a:r>
            <a:r>
              <a:rPr lang="en-US" sz="2000" dirty="0">
                <a:solidFill>
                  <a:srgbClr val="000000"/>
                </a:solidFill>
                <a:latin typeface="Consolas" panose="020B0609020204030204" pitchFamily="49" charset="0"/>
              </a:rPr>
              <a:t>(sex, </a:t>
            </a:r>
            <a:r>
              <a:rPr lang="en-US" sz="2000" dirty="0">
                <a:solidFill>
                  <a:srgbClr val="800000"/>
                </a:solidFill>
                <a:latin typeface="Consolas" panose="020B0609020204030204" pitchFamily="49" charset="0"/>
              </a:rPr>
              <a:t>year</a:t>
            </a:r>
            <a:r>
              <a:rPr lang="en-US" sz="2000" dirty="0">
                <a:solidFill>
                  <a:srgbClr val="000000"/>
                </a:solidFill>
                <a:latin typeface="Consolas" panose="020B0609020204030204" pitchFamily="49" charset="0"/>
              </a:rPr>
              <a:t>(birthdate) )</a:t>
            </a:r>
            <a:endParaRPr lang="en-US" sz="2800" dirty="0">
              <a:latin typeface="Verdana" panose="020B0604030504040204" pitchFamily="34" charset="0"/>
              <a:ea typeface="Verdana" panose="020B0604030504040204" pitchFamily="34" charset="0"/>
            </a:endParaRPr>
          </a:p>
        </p:txBody>
      </p:sp>
      <p:sp>
        <p:nvSpPr>
          <p:cNvPr id="11" name="Arrow: Down 10">
            <a:extLst>
              <a:ext uri="{FF2B5EF4-FFF2-40B4-BE49-F238E27FC236}">
                <a16:creationId xmlns:a16="http://schemas.microsoft.com/office/drawing/2014/main" id="{259430CF-0111-31C1-0112-595155AC3A4D}"/>
              </a:ext>
            </a:extLst>
          </p:cNvPr>
          <p:cNvSpPr/>
          <p:nvPr/>
        </p:nvSpPr>
        <p:spPr bwMode="auto">
          <a:xfrm>
            <a:off x="1993901" y="1606678"/>
            <a:ext cx="609600" cy="685800"/>
          </a:xfrm>
          <a:prstGeom prst="downArrow">
            <a:avLst/>
          </a:prstGeom>
          <a:solidFill>
            <a:srgbClr val="FFC000"/>
          </a:solidFill>
          <a:ln w="1270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endParaRPr lang="en-US" sz="2400" b="1">
              <a:latin typeface="Siemens Sans Black" pitchFamily="2" charset="0"/>
            </a:endParaRPr>
          </a:p>
        </p:txBody>
      </p:sp>
    </p:spTree>
    <p:extLst>
      <p:ext uri="{BB962C8B-B14F-4D97-AF65-F5344CB8AC3E}">
        <p14:creationId xmlns:p14="http://schemas.microsoft.com/office/powerpoint/2010/main" val="2412232468"/>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Grouping Sets</a:t>
            </a:r>
          </a:p>
        </p:txBody>
      </p:sp>
      <p:sp>
        <p:nvSpPr>
          <p:cNvPr id="3" name="Content Placeholder 2"/>
          <p:cNvSpPr>
            <a:spLocks noGrp="1"/>
          </p:cNvSpPr>
          <p:nvPr>
            <p:ph idx="1"/>
          </p:nvPr>
        </p:nvSpPr>
        <p:spPr/>
        <p:txBody>
          <a:bodyPr/>
          <a:lstStyle/>
          <a:p>
            <a:r>
              <a:rPr lang="en-US" dirty="0"/>
              <a:t>GROUPING SETS statement enables us to get multiple GROUP BY result sets using a single statement</a:t>
            </a:r>
          </a:p>
          <a:p>
            <a:r>
              <a:rPr lang="en-US" dirty="0"/>
              <a:t>Nested (i.e., in secondary parenthesis), and non-nested GROUPING SETS sub-phrases can be distinguished:</a:t>
            </a:r>
          </a:p>
          <a:p>
            <a:pPr lvl="1"/>
            <a:r>
              <a:rPr lang="en-US" dirty="0"/>
              <a:t>Nested list of columns works as a simple GROUP BY: </a:t>
            </a:r>
            <a:r>
              <a:rPr lang="en-US" b="1" dirty="0"/>
              <a:t>((</a:t>
            </a:r>
            <a:r>
              <a:rPr lang="en-US" dirty="0"/>
              <a:t>…</a:t>
            </a:r>
            <a:r>
              <a:rPr lang="en-US" b="1" dirty="0"/>
              <a:t>))</a:t>
            </a:r>
          </a:p>
          <a:p>
            <a:pPr lvl="1"/>
            <a:r>
              <a:rPr lang="en-US" dirty="0"/>
              <a:t>Non-nested list of columns works as separate simple GROUP BY statements, which are then combined in an implied UNION ALL</a:t>
            </a:r>
          </a:p>
          <a:p>
            <a:pPr lvl="1"/>
            <a:r>
              <a:rPr lang="en-US" dirty="0"/>
              <a:t>(.,.,)</a:t>
            </a:r>
          </a:p>
        </p:txBody>
      </p:sp>
      <p:sp>
        <p:nvSpPr>
          <p:cNvPr id="4" name="TextBox 3">
            <a:extLst>
              <a:ext uri="{FF2B5EF4-FFF2-40B4-BE49-F238E27FC236}">
                <a16:creationId xmlns:a16="http://schemas.microsoft.com/office/drawing/2014/main" id="{4A864008-E6DA-E8F7-D8A7-4948531C82DA}"/>
              </a:ext>
            </a:extLst>
          </p:cNvPr>
          <p:cNvSpPr txBox="1">
            <a:spLocks noChangeArrowheads="1"/>
          </p:cNvSpPr>
          <p:nvPr/>
        </p:nvSpPr>
        <p:spPr bwMode="auto">
          <a:xfrm>
            <a:off x="76200" y="6430064"/>
            <a:ext cx="155042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OLAP queries</a:t>
            </a:r>
          </a:p>
        </p:txBody>
      </p:sp>
    </p:spTree>
    <p:extLst>
      <p:ext uri="{BB962C8B-B14F-4D97-AF65-F5344CB8AC3E}">
        <p14:creationId xmlns:p14="http://schemas.microsoft.com/office/powerpoint/2010/main" val="757788485"/>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Grouping Sets</a:t>
            </a:r>
          </a:p>
        </p:txBody>
      </p:sp>
      <p:pic>
        <p:nvPicPr>
          <p:cNvPr id="11266" name="Picture 2"/>
          <p:cNvPicPr>
            <a:picLocks noChangeAspect="1" noChangeArrowheads="1"/>
          </p:cNvPicPr>
          <p:nvPr/>
        </p:nvPicPr>
        <p:blipFill>
          <a:blip r:embed="rId2" cstate="print"/>
          <a:srcRect/>
          <a:stretch>
            <a:fillRect/>
          </a:stretch>
        </p:blipFill>
        <p:spPr bwMode="auto">
          <a:xfrm>
            <a:off x="2006218" y="1514912"/>
            <a:ext cx="8604761" cy="4047688"/>
          </a:xfrm>
          <a:prstGeom prst="rect">
            <a:avLst/>
          </a:prstGeom>
          <a:noFill/>
          <a:ln w="9525">
            <a:noFill/>
            <a:miter lim="800000"/>
            <a:headEnd/>
            <a:tailEnd/>
          </a:ln>
        </p:spPr>
      </p:pic>
      <p:sp>
        <p:nvSpPr>
          <p:cNvPr id="3" name="TextBox 2">
            <a:extLst>
              <a:ext uri="{FF2B5EF4-FFF2-40B4-BE49-F238E27FC236}">
                <a16:creationId xmlns:a16="http://schemas.microsoft.com/office/drawing/2014/main" id="{A6E4D286-F965-FB52-27AF-17248E8AF03C}"/>
              </a:ext>
            </a:extLst>
          </p:cNvPr>
          <p:cNvSpPr txBox="1">
            <a:spLocks noChangeArrowheads="1"/>
          </p:cNvSpPr>
          <p:nvPr/>
        </p:nvSpPr>
        <p:spPr bwMode="auto">
          <a:xfrm>
            <a:off x="76200" y="6430064"/>
            <a:ext cx="155042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OLAP queries</a:t>
            </a:r>
          </a:p>
        </p:txBody>
      </p:sp>
    </p:spTree>
    <p:extLst>
      <p:ext uri="{BB962C8B-B14F-4D97-AF65-F5344CB8AC3E}">
        <p14:creationId xmlns:p14="http://schemas.microsoft.com/office/powerpoint/2010/main" val="2248849400"/>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Grouping Sets</a:t>
            </a:r>
          </a:p>
        </p:txBody>
      </p:sp>
      <p:sp>
        <p:nvSpPr>
          <p:cNvPr id="3" name="Content Placeholder 2"/>
          <p:cNvSpPr>
            <a:spLocks noGrp="1"/>
          </p:cNvSpPr>
          <p:nvPr>
            <p:ph idx="1"/>
          </p:nvPr>
        </p:nvSpPr>
        <p:spPr/>
        <p:txBody>
          <a:bodyPr/>
          <a:lstStyle/>
          <a:p>
            <a:r>
              <a:rPr lang="en-US" dirty="0"/>
              <a:t>ROLLUP and CUBE statements are short-hand forms of particular types of GROUPING SETS statement</a:t>
            </a:r>
          </a:p>
          <a:p>
            <a:endParaRPr lang="en-US" dirty="0"/>
          </a:p>
          <a:p>
            <a:pPr>
              <a:buNone/>
            </a:pPr>
            <a:endParaRPr lang="en-US" dirty="0"/>
          </a:p>
          <a:p>
            <a:pPr marL="0" indent="0">
              <a:buNone/>
            </a:pPr>
            <a:endParaRPr lang="en-US" sz="300" dirty="0"/>
          </a:p>
          <a:p>
            <a:r>
              <a:rPr lang="en-US" dirty="0"/>
              <a:t>CUBE expression displays a cross tab of the sub-totals for any specified fields. Example:</a:t>
            </a:r>
          </a:p>
        </p:txBody>
      </p:sp>
      <p:pic>
        <p:nvPicPr>
          <p:cNvPr id="12290" name="Picture 2"/>
          <p:cNvPicPr>
            <a:picLocks noChangeAspect="1" noChangeArrowheads="1"/>
          </p:cNvPicPr>
          <p:nvPr/>
        </p:nvPicPr>
        <p:blipFill>
          <a:blip r:embed="rId2" cstate="print"/>
          <a:srcRect/>
          <a:stretch>
            <a:fillRect/>
          </a:stretch>
        </p:blipFill>
        <p:spPr bwMode="auto">
          <a:xfrm>
            <a:off x="2000251" y="1691334"/>
            <a:ext cx="8620125" cy="1128066"/>
          </a:xfrm>
          <a:prstGeom prst="rect">
            <a:avLst/>
          </a:prstGeom>
          <a:noFill/>
          <a:ln w="9525">
            <a:noFill/>
            <a:miter lim="800000"/>
            <a:headEnd/>
            <a:tailEnd/>
          </a:ln>
        </p:spPr>
      </p:pic>
      <p:pic>
        <p:nvPicPr>
          <p:cNvPr id="12291" name="Picture 3"/>
          <p:cNvPicPr>
            <a:picLocks noChangeAspect="1" noChangeArrowheads="1"/>
          </p:cNvPicPr>
          <p:nvPr/>
        </p:nvPicPr>
        <p:blipFill>
          <a:blip r:embed="rId3" cstate="print"/>
          <a:srcRect/>
          <a:stretch>
            <a:fillRect/>
          </a:stretch>
        </p:blipFill>
        <p:spPr bwMode="auto">
          <a:xfrm>
            <a:off x="1905000" y="3676650"/>
            <a:ext cx="8423354" cy="2495550"/>
          </a:xfrm>
          <a:prstGeom prst="rect">
            <a:avLst/>
          </a:prstGeom>
          <a:noFill/>
          <a:ln w="9525">
            <a:noFill/>
            <a:miter lim="800000"/>
            <a:headEnd/>
            <a:tailEnd/>
          </a:ln>
        </p:spPr>
      </p:pic>
      <p:sp>
        <p:nvSpPr>
          <p:cNvPr id="4" name="TextBox 3">
            <a:extLst>
              <a:ext uri="{FF2B5EF4-FFF2-40B4-BE49-F238E27FC236}">
                <a16:creationId xmlns:a16="http://schemas.microsoft.com/office/drawing/2014/main" id="{30445EC6-C7AD-7023-9147-192BFA94F844}"/>
              </a:ext>
            </a:extLst>
          </p:cNvPr>
          <p:cNvSpPr txBox="1">
            <a:spLocks noChangeArrowheads="1"/>
          </p:cNvSpPr>
          <p:nvPr/>
        </p:nvSpPr>
        <p:spPr bwMode="auto">
          <a:xfrm>
            <a:off x="76200" y="6430064"/>
            <a:ext cx="155042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OLAP queries</a:t>
            </a:r>
          </a:p>
        </p:txBody>
      </p:sp>
      <p:sp>
        <p:nvSpPr>
          <p:cNvPr id="5" name="TextBox 4">
            <a:extLst>
              <a:ext uri="{FF2B5EF4-FFF2-40B4-BE49-F238E27FC236}">
                <a16:creationId xmlns:a16="http://schemas.microsoft.com/office/drawing/2014/main" id="{F07231FA-06F8-53AB-46E9-C5787DD12877}"/>
              </a:ext>
            </a:extLst>
          </p:cNvPr>
          <p:cNvSpPr txBox="1"/>
          <p:nvPr/>
        </p:nvSpPr>
        <p:spPr>
          <a:xfrm>
            <a:off x="304800" y="5105400"/>
            <a:ext cx="4953000" cy="769441"/>
          </a:xfrm>
          <a:prstGeom prst="rect">
            <a:avLst/>
          </a:prstGeom>
          <a:noFill/>
        </p:spPr>
        <p:txBody>
          <a:bodyPr wrap="square" rtlCol="0">
            <a:spAutoFit/>
          </a:bodyPr>
          <a:lstStyle/>
          <a:p>
            <a:r>
              <a:rPr lang="en-US" sz="2200" dirty="0">
                <a:solidFill>
                  <a:srgbClr val="FF0000"/>
                </a:solidFill>
              </a:rPr>
              <a:t>CUBE is supported by major RDBMS </a:t>
            </a:r>
          </a:p>
          <a:p>
            <a:r>
              <a:rPr lang="en-US" sz="2200" dirty="0">
                <a:solidFill>
                  <a:srgbClr val="FF0000"/>
                </a:solidFill>
              </a:rPr>
              <a:t>except MySQL and </a:t>
            </a:r>
            <a:r>
              <a:rPr lang="en-US" sz="2200" dirty="0" err="1">
                <a:solidFill>
                  <a:srgbClr val="FF0000"/>
                </a:solidFill>
              </a:rPr>
              <a:t>SQLLite</a:t>
            </a:r>
            <a:endParaRPr lang="en-US" sz="2200" dirty="0">
              <a:solidFill>
                <a:srgbClr val="FF0000"/>
              </a:solidFill>
            </a:endParaRPr>
          </a:p>
        </p:txBody>
      </p:sp>
    </p:spTree>
    <p:extLst>
      <p:ext uri="{BB962C8B-B14F-4D97-AF65-F5344CB8AC3E}">
        <p14:creationId xmlns:p14="http://schemas.microsoft.com/office/powerpoint/2010/main" val="22193332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50" fill="hold"/>
                                        <p:tgtEl>
                                          <p:spTgt spid="5"/>
                                        </p:tgtEl>
                                        <p:attrNameLst>
                                          <p:attrName>ppt_x</p:attrName>
                                        </p:attrNameLst>
                                      </p:cBhvr>
                                      <p:tavLst>
                                        <p:tav tm="0">
                                          <p:val>
                                            <p:strVal val="#ppt_x"/>
                                          </p:val>
                                        </p:tav>
                                        <p:tav tm="100000">
                                          <p:val>
                                            <p:strVal val="#ppt_x"/>
                                          </p:val>
                                        </p:tav>
                                      </p:tavLst>
                                    </p:anim>
                                    <p:anim calcmode="lin" valueType="num">
                                      <p:cBhvr additive="base">
                                        <p:cTn id="8" dur="25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p:sp>
        <p:nvSpPr>
          <p:cNvPr id="3" name="Content Placeholder 2"/>
          <p:cNvSpPr>
            <a:spLocks noGrp="1"/>
          </p:cNvSpPr>
          <p:nvPr>
            <p:ph idx="1"/>
          </p:nvPr>
        </p:nvSpPr>
        <p:spPr/>
        <p:txBody>
          <a:bodyPr/>
          <a:lstStyle/>
          <a:p>
            <a:r>
              <a:rPr lang="en-US" dirty="0">
                <a:solidFill>
                  <a:schemeClr val="tx1">
                    <a:lumMod val="50000"/>
                    <a:lumOff val="50000"/>
                  </a:schemeClr>
                </a:solidFill>
              </a:rPr>
              <a:t>Recursive queries</a:t>
            </a:r>
          </a:p>
          <a:p>
            <a:r>
              <a:rPr lang="en-US" dirty="0">
                <a:solidFill>
                  <a:schemeClr val="tx1">
                    <a:lumMod val="50000"/>
                    <a:lumOff val="50000"/>
                  </a:schemeClr>
                </a:solidFill>
              </a:rPr>
              <a:t>Super groups</a:t>
            </a:r>
          </a:p>
          <a:p>
            <a:r>
              <a:rPr lang="en-US" dirty="0">
                <a:solidFill>
                  <a:schemeClr val="tx1">
                    <a:lumMod val="50000"/>
                    <a:lumOff val="50000"/>
                  </a:schemeClr>
                </a:solidFill>
              </a:rPr>
              <a:t>Aggregate/ statistics functions</a:t>
            </a:r>
          </a:p>
          <a:p>
            <a:r>
              <a:rPr lang="en-US" dirty="0"/>
              <a:t>Pivoting</a:t>
            </a:r>
          </a:p>
          <a:p>
            <a:r>
              <a:rPr lang="en-US" dirty="0">
                <a:solidFill>
                  <a:schemeClr val="tx1">
                    <a:lumMod val="50000"/>
                    <a:lumOff val="50000"/>
                  </a:schemeClr>
                </a:solidFill>
              </a:rPr>
              <a:t>Ranking</a:t>
            </a:r>
          </a:p>
          <a:p>
            <a:r>
              <a:rPr lang="en-US" dirty="0">
                <a:solidFill>
                  <a:schemeClr val="tx1">
                    <a:lumMod val="50000"/>
                    <a:lumOff val="50000"/>
                  </a:schemeClr>
                </a:solidFill>
              </a:rPr>
              <a:t>Windowing</a:t>
            </a:r>
          </a:p>
          <a:p>
            <a:r>
              <a:rPr lang="en-US" dirty="0">
                <a:solidFill>
                  <a:schemeClr val="tx1">
                    <a:lumMod val="50000"/>
                    <a:lumOff val="50000"/>
                  </a:schemeClr>
                </a:solidFill>
              </a:rPr>
              <a:t>Materialized query tables</a:t>
            </a:r>
          </a:p>
          <a:p>
            <a:pPr>
              <a:buNone/>
            </a:pPr>
            <a:endParaRPr lang="en-US" dirty="0">
              <a:solidFill>
                <a:schemeClr val="tx1">
                  <a:lumMod val="50000"/>
                  <a:lumOff val="50000"/>
                </a:schemeClr>
              </a:solidFill>
            </a:endParaRPr>
          </a:p>
        </p:txBody>
      </p:sp>
    </p:spTree>
    <p:extLst>
      <p:ext uri="{BB962C8B-B14F-4D97-AF65-F5344CB8AC3E}">
        <p14:creationId xmlns:p14="http://schemas.microsoft.com/office/powerpoint/2010/main" val="2763190571"/>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798D0-03A2-C7EE-CC5E-11C7310D97B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799EC5E-DF7F-3C06-1FE3-FBB36A41F7CA}"/>
              </a:ext>
            </a:extLst>
          </p:cNvPr>
          <p:cNvSpPr>
            <a:spLocks noGrp="1"/>
          </p:cNvSpPr>
          <p:nvPr>
            <p:ph idx="1"/>
          </p:nvPr>
        </p:nvSpPr>
        <p:spPr/>
        <p:txBody>
          <a:bodyPr/>
          <a:lstStyle/>
          <a:p>
            <a:r>
              <a:rPr lang="en-US" dirty="0"/>
              <a:t>Pivoting Queries</a:t>
            </a:r>
          </a:p>
        </p:txBody>
      </p:sp>
    </p:spTree>
    <p:extLst>
      <p:ext uri="{BB962C8B-B14F-4D97-AF65-F5344CB8AC3E}">
        <p14:creationId xmlns:p14="http://schemas.microsoft.com/office/powerpoint/2010/main" val="2383901865"/>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F3488-BAB5-11C2-4C36-967FFC41163A}"/>
              </a:ext>
            </a:extLst>
          </p:cNvPr>
          <p:cNvSpPr>
            <a:spLocks noGrp="1"/>
          </p:cNvSpPr>
          <p:nvPr>
            <p:ph type="title"/>
          </p:nvPr>
        </p:nvSpPr>
        <p:spPr/>
        <p:txBody>
          <a:bodyPr/>
          <a:lstStyle/>
          <a:p>
            <a:r>
              <a:rPr lang="en-US" dirty="0"/>
              <a:t>Pivoting a Table (Transpose)</a:t>
            </a:r>
          </a:p>
        </p:txBody>
      </p:sp>
      <p:pic>
        <p:nvPicPr>
          <p:cNvPr id="1026" name="Picture 2" descr="The source data for a summary table">
            <a:extLst>
              <a:ext uri="{FF2B5EF4-FFF2-40B4-BE49-F238E27FC236}">
                <a16:creationId xmlns:a16="http://schemas.microsoft.com/office/drawing/2014/main" id="{2A1B9B58-096E-6DBE-5C4E-9F62A2124EA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228600" y="2284955"/>
            <a:ext cx="3753196" cy="278953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28" name="Picture 4" descr="Excel Pivot Table examples">
            <a:extLst>
              <a:ext uri="{FF2B5EF4-FFF2-40B4-BE49-F238E27FC236}">
                <a16:creationId xmlns:a16="http://schemas.microsoft.com/office/drawing/2014/main" id="{8AFF7B30-53A7-FFB5-C3C9-AF03010618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1536482"/>
            <a:ext cx="6235592" cy="471566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0" name="Arrow: Right 9">
            <a:extLst>
              <a:ext uri="{FF2B5EF4-FFF2-40B4-BE49-F238E27FC236}">
                <a16:creationId xmlns:a16="http://schemas.microsoft.com/office/drawing/2014/main" id="{9CA4A55F-BB46-DF29-3E42-CBD3D679910C}"/>
              </a:ext>
            </a:extLst>
          </p:cNvPr>
          <p:cNvSpPr/>
          <p:nvPr/>
        </p:nvSpPr>
        <p:spPr bwMode="auto">
          <a:xfrm>
            <a:off x="4191000" y="3505200"/>
            <a:ext cx="838200" cy="609600"/>
          </a:xfrm>
          <a:prstGeom prst="rightArrow">
            <a:avLst/>
          </a:prstGeom>
          <a:solidFill>
            <a:srgbClr val="FFC000"/>
          </a:solidFill>
          <a:ln w="1270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dirty="0">
              <a:ln>
                <a:noFill/>
              </a:ln>
              <a:solidFill>
                <a:schemeClr val="tx1"/>
              </a:solidFill>
              <a:effectLst/>
              <a:latin typeface="Siemens Sans Black" pitchFamily="2" charset="0"/>
            </a:endParaRPr>
          </a:p>
        </p:txBody>
      </p:sp>
      <p:sp>
        <p:nvSpPr>
          <p:cNvPr id="12" name="TextBox 11">
            <a:extLst>
              <a:ext uri="{FF2B5EF4-FFF2-40B4-BE49-F238E27FC236}">
                <a16:creationId xmlns:a16="http://schemas.microsoft.com/office/drawing/2014/main" id="{9F536E7C-6539-E253-DE26-AAC982F8DF6D}"/>
              </a:ext>
            </a:extLst>
          </p:cNvPr>
          <p:cNvSpPr txBox="1"/>
          <p:nvPr/>
        </p:nvSpPr>
        <p:spPr>
          <a:xfrm>
            <a:off x="294851" y="685800"/>
            <a:ext cx="11602298" cy="769441"/>
          </a:xfrm>
          <a:prstGeom prst="rect">
            <a:avLst/>
          </a:prstGeom>
          <a:noFill/>
        </p:spPr>
        <p:txBody>
          <a:bodyPr wrap="square">
            <a:spAutoFit/>
          </a:bodyPr>
          <a:lstStyle/>
          <a:p>
            <a:r>
              <a:rPr lang="en-US" sz="2200" i="0" dirty="0">
                <a:solidFill>
                  <a:srgbClr val="202124"/>
                </a:solidFill>
                <a:effectLst/>
                <a:latin typeface="Verdana" panose="020B0604030504040204" pitchFamily="34" charset="0"/>
                <a:ea typeface="Verdana" panose="020B0604030504040204" pitchFamily="34" charset="0"/>
              </a:rPr>
              <a:t>Summarize and reorganize selected columns and rows of data in a spreadsheet or database table to obtain a desired report</a:t>
            </a:r>
            <a:endParaRPr lang="en-US" sz="2200" dirty="0">
              <a:latin typeface="Verdana" panose="020B0604030504040204" pitchFamily="34" charset="0"/>
              <a:ea typeface="Verdana" panose="020B0604030504040204" pitchFamily="34" charset="0"/>
            </a:endParaRPr>
          </a:p>
        </p:txBody>
      </p:sp>
      <p:sp>
        <p:nvSpPr>
          <p:cNvPr id="16" name="TextBox 15">
            <a:extLst>
              <a:ext uri="{FF2B5EF4-FFF2-40B4-BE49-F238E27FC236}">
                <a16:creationId xmlns:a16="http://schemas.microsoft.com/office/drawing/2014/main" id="{8A076907-846D-758D-0DBF-7B1B8A642281}"/>
              </a:ext>
            </a:extLst>
          </p:cNvPr>
          <p:cNvSpPr txBox="1"/>
          <p:nvPr/>
        </p:nvSpPr>
        <p:spPr>
          <a:xfrm>
            <a:off x="301557" y="5674943"/>
            <a:ext cx="3733800" cy="369332"/>
          </a:xfrm>
          <a:prstGeom prst="rect">
            <a:avLst/>
          </a:prstGeom>
          <a:noFill/>
        </p:spPr>
        <p:txBody>
          <a:bodyPr wrap="square">
            <a:spAutoFit/>
          </a:bodyPr>
          <a:lstStyle/>
          <a:p>
            <a:r>
              <a:rPr lang="en-US" b="0" i="0" u="none" strike="noStrike" dirty="0">
                <a:solidFill>
                  <a:srgbClr val="555555"/>
                </a:solidFill>
                <a:effectLst/>
                <a:latin typeface="Verdana" panose="020B0604030504040204" pitchFamily="34" charset="0"/>
                <a:ea typeface="Verdana" panose="020B0604030504040204" pitchFamily="34" charset="0"/>
                <a:hlinkClick r:id="rId5"/>
              </a:rPr>
              <a:t>Credit: Svetlana </a:t>
            </a:r>
            <a:r>
              <a:rPr lang="en-US" b="0" i="0" u="none" strike="noStrike" dirty="0" err="1">
                <a:solidFill>
                  <a:srgbClr val="555555"/>
                </a:solidFill>
                <a:effectLst/>
                <a:latin typeface="Verdana" panose="020B0604030504040204" pitchFamily="34" charset="0"/>
                <a:ea typeface="Verdana" panose="020B0604030504040204" pitchFamily="34" charset="0"/>
                <a:hlinkClick r:id="rId5"/>
              </a:rPr>
              <a:t>Cheusheva</a:t>
            </a:r>
            <a:endParaRPr lang="en-US" dirty="0">
              <a:latin typeface="Verdana" panose="020B0604030504040204" pitchFamily="34" charset="0"/>
              <a:ea typeface="Verdana" panose="020B0604030504040204" pitchFamily="34" charset="0"/>
            </a:endParaRPr>
          </a:p>
        </p:txBody>
      </p:sp>
      <p:sp>
        <p:nvSpPr>
          <p:cNvPr id="17" name="TextBox 16">
            <a:extLst>
              <a:ext uri="{FF2B5EF4-FFF2-40B4-BE49-F238E27FC236}">
                <a16:creationId xmlns:a16="http://schemas.microsoft.com/office/drawing/2014/main" id="{8472A0FD-4632-990B-D9D5-93E8710DEB6C}"/>
              </a:ext>
            </a:extLst>
          </p:cNvPr>
          <p:cNvSpPr txBox="1">
            <a:spLocks noChangeArrowheads="1"/>
          </p:cNvSpPr>
          <p:nvPr/>
        </p:nvSpPr>
        <p:spPr bwMode="auto">
          <a:xfrm>
            <a:off x="76200" y="6430064"/>
            <a:ext cx="1003608"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Pivoting</a:t>
            </a:r>
          </a:p>
        </p:txBody>
      </p:sp>
    </p:spTree>
    <p:extLst>
      <p:ext uri="{BB962C8B-B14F-4D97-AF65-F5344CB8AC3E}">
        <p14:creationId xmlns:p14="http://schemas.microsoft.com/office/powerpoint/2010/main" val="36614069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46ED9-F0F4-56F3-E310-2E9C6A54F4DA}"/>
              </a:ext>
            </a:extLst>
          </p:cNvPr>
          <p:cNvSpPr>
            <a:spLocks noGrp="1"/>
          </p:cNvSpPr>
          <p:nvPr>
            <p:ph type="title"/>
          </p:nvPr>
        </p:nvSpPr>
        <p:spPr/>
        <p:txBody>
          <a:bodyPr/>
          <a:lstStyle/>
          <a:p>
            <a:r>
              <a:rPr lang="en-US" dirty="0"/>
              <a:t>Pivoting in SQL: FILTER for GROUP BY</a:t>
            </a:r>
          </a:p>
        </p:txBody>
      </p:sp>
      <p:sp>
        <p:nvSpPr>
          <p:cNvPr id="6" name="TextBox 5">
            <a:extLst>
              <a:ext uri="{FF2B5EF4-FFF2-40B4-BE49-F238E27FC236}">
                <a16:creationId xmlns:a16="http://schemas.microsoft.com/office/drawing/2014/main" id="{2C23A434-F742-274B-CF0F-C425F128CFA2}"/>
              </a:ext>
            </a:extLst>
          </p:cNvPr>
          <p:cNvSpPr txBox="1"/>
          <p:nvPr/>
        </p:nvSpPr>
        <p:spPr>
          <a:xfrm>
            <a:off x="1905000" y="1905000"/>
            <a:ext cx="8686800" cy="2585323"/>
          </a:xfrm>
          <a:prstGeom prst="rect">
            <a:avLst/>
          </a:prstGeom>
          <a:solidFill>
            <a:schemeClr val="bg1"/>
          </a:solidFill>
          <a:ln>
            <a:solidFill>
              <a:schemeClr val="bg1">
                <a:lumMod val="50000"/>
              </a:schemeClr>
            </a:solidFill>
          </a:ln>
          <a:effectLst>
            <a:outerShdw blurRad="127000" dist="88900" dir="2700000" algn="tl" rotWithShape="0">
              <a:prstClr val="black">
                <a:alpha val="40000"/>
              </a:prstClr>
            </a:outerShdw>
          </a:effectLst>
        </p:spPr>
        <p:txBody>
          <a:bodyPr wrap="square">
            <a:spAutoFit/>
          </a:bodyPr>
          <a:lstStyle>
            <a:defPPr>
              <a:defRPr lang="en-US"/>
            </a:defPPr>
            <a:lvl1pPr>
              <a:defRPr>
                <a:solidFill>
                  <a:srgbClr val="800000"/>
                </a:solidFill>
                <a:latin typeface="Consolas" panose="020B0609020204030204" pitchFamily="49" charset="0"/>
              </a:defRPr>
            </a:lvl1pPr>
          </a:lstStyle>
          <a:p>
            <a:pPr algn="l"/>
            <a:r>
              <a:rPr lang="en-US" sz="1800" dirty="0">
                <a:solidFill>
                  <a:srgbClr val="800000"/>
                </a:solidFill>
                <a:latin typeface="Consolas" panose="020B0609020204030204" pitchFamily="49" charset="0"/>
              </a:rPr>
              <a:t>SELECT </a:t>
            </a:r>
            <a:r>
              <a:rPr lang="en-US" sz="1800" dirty="0">
                <a:solidFill>
                  <a:srgbClr val="000000"/>
                </a:solidFill>
                <a:latin typeface="Consolas" panose="020B0609020204030204" pitchFamily="49" charset="0"/>
              </a:rPr>
              <a:t>reseller,</a:t>
            </a:r>
          </a:p>
          <a:p>
            <a:pPr algn="l"/>
            <a:r>
              <a:rPr lang="en-US" sz="1800" dirty="0">
                <a:solidFill>
                  <a:srgbClr val="000000"/>
                </a:solidFill>
                <a:latin typeface="Consolas" panose="020B0609020204030204" pitchFamily="49" charset="0"/>
              </a:rPr>
              <a:t>    </a:t>
            </a:r>
            <a:r>
              <a:rPr lang="en-US" sz="1800" dirty="0">
                <a:solidFill>
                  <a:srgbClr val="000080"/>
                </a:solidFill>
                <a:latin typeface="Consolas" panose="020B0609020204030204" pitchFamily="49" charset="0"/>
              </a:rPr>
              <a:t>SUM</a:t>
            </a:r>
            <a:r>
              <a:rPr lang="en-US" sz="1800" dirty="0">
                <a:solidFill>
                  <a:srgbClr val="000000"/>
                </a:solidFill>
                <a:latin typeface="Consolas" panose="020B0609020204030204" pitchFamily="49" charset="0"/>
              </a:rPr>
              <a:t>(sales) </a:t>
            </a:r>
            <a:r>
              <a:rPr lang="en-US" sz="1800" dirty="0">
                <a:solidFill>
                  <a:srgbClr val="800000"/>
                </a:solidFill>
                <a:latin typeface="Consolas" panose="020B0609020204030204" pitchFamily="49" charset="0"/>
              </a:rPr>
              <a:t>FILTER</a:t>
            </a:r>
            <a:r>
              <a:rPr lang="en-US" sz="1800" dirty="0">
                <a:solidFill>
                  <a:srgbClr val="000000"/>
                </a:solidFill>
                <a:latin typeface="Consolas" panose="020B0609020204030204" pitchFamily="49" charset="0"/>
              </a:rPr>
              <a:t> (</a:t>
            </a:r>
            <a:r>
              <a:rPr lang="en-US" sz="1800" dirty="0">
                <a:solidFill>
                  <a:srgbClr val="800000"/>
                </a:solidFill>
                <a:latin typeface="Consolas" panose="020B0609020204030204" pitchFamily="49" charset="0"/>
              </a:rPr>
              <a:t>WHERE</a:t>
            </a:r>
            <a:r>
              <a:rPr lang="en-US" sz="1800" dirty="0">
                <a:solidFill>
                  <a:srgbClr val="000000"/>
                </a:solidFill>
                <a:latin typeface="Consolas" panose="020B0609020204030204" pitchFamily="49" charset="0"/>
              </a:rPr>
              <a:t> product = </a:t>
            </a:r>
            <a:r>
              <a:rPr lang="en-US" sz="1800" dirty="0">
                <a:solidFill>
                  <a:srgbClr val="008000"/>
                </a:solidFill>
                <a:latin typeface="Consolas" panose="020B0609020204030204" pitchFamily="49" charset="0"/>
              </a:rPr>
              <a:t>'Apples'</a:t>
            </a:r>
            <a:r>
              <a:rPr lang="en-US" sz="1800" dirty="0">
                <a:solidFill>
                  <a:srgbClr val="000000"/>
                </a:solidFill>
                <a:latin typeface="Consolas" panose="020B0609020204030204" pitchFamily="49" charset="0"/>
              </a:rPr>
              <a:t>) </a:t>
            </a:r>
            <a:r>
              <a:rPr lang="en-US" sz="1800" dirty="0">
                <a:solidFill>
                  <a:srgbClr val="800000"/>
                </a:solidFill>
                <a:latin typeface="Consolas" panose="020B0609020204030204" pitchFamily="49" charset="0"/>
              </a:rPr>
              <a:t>AS</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apples_sales</a:t>
            </a:r>
            <a:r>
              <a:rPr lang="en-US" sz="1800" dirty="0">
                <a:solidFill>
                  <a:srgbClr val="000000"/>
                </a:solidFill>
                <a:latin typeface="Consolas" panose="020B0609020204030204" pitchFamily="49" charset="0"/>
              </a:rPr>
              <a:t>,</a:t>
            </a:r>
          </a:p>
          <a:p>
            <a:pPr algn="l"/>
            <a:r>
              <a:rPr lang="en-US" sz="1800" dirty="0">
                <a:solidFill>
                  <a:srgbClr val="000000"/>
                </a:solidFill>
                <a:latin typeface="Consolas" panose="020B0609020204030204" pitchFamily="49" charset="0"/>
              </a:rPr>
              <a:t>    </a:t>
            </a:r>
            <a:r>
              <a:rPr lang="en-US" sz="1800" dirty="0">
                <a:solidFill>
                  <a:srgbClr val="000080"/>
                </a:solidFill>
                <a:latin typeface="Consolas" panose="020B0609020204030204" pitchFamily="49" charset="0"/>
              </a:rPr>
              <a:t>SUM</a:t>
            </a:r>
            <a:r>
              <a:rPr lang="en-US" sz="1800" dirty="0">
                <a:solidFill>
                  <a:srgbClr val="000000"/>
                </a:solidFill>
                <a:latin typeface="Consolas" panose="020B0609020204030204" pitchFamily="49" charset="0"/>
              </a:rPr>
              <a:t>(sales) </a:t>
            </a:r>
            <a:r>
              <a:rPr lang="en-US" sz="1800" dirty="0">
                <a:solidFill>
                  <a:srgbClr val="800000"/>
                </a:solidFill>
                <a:latin typeface="Consolas" panose="020B0609020204030204" pitchFamily="49" charset="0"/>
              </a:rPr>
              <a:t>FILTER</a:t>
            </a:r>
            <a:r>
              <a:rPr lang="en-US" sz="1800" dirty="0">
                <a:solidFill>
                  <a:srgbClr val="000000"/>
                </a:solidFill>
                <a:latin typeface="Consolas" panose="020B0609020204030204" pitchFamily="49" charset="0"/>
              </a:rPr>
              <a:t> (</a:t>
            </a:r>
            <a:r>
              <a:rPr lang="en-US" sz="1800" dirty="0">
                <a:solidFill>
                  <a:srgbClr val="800000"/>
                </a:solidFill>
                <a:latin typeface="Consolas" panose="020B0609020204030204" pitchFamily="49" charset="0"/>
              </a:rPr>
              <a:t>WHERE</a:t>
            </a:r>
            <a:r>
              <a:rPr lang="en-US" sz="1800" dirty="0">
                <a:solidFill>
                  <a:srgbClr val="000000"/>
                </a:solidFill>
                <a:latin typeface="Consolas" panose="020B0609020204030204" pitchFamily="49" charset="0"/>
              </a:rPr>
              <a:t> product = </a:t>
            </a:r>
            <a:r>
              <a:rPr lang="en-US" sz="1800" dirty="0">
                <a:solidFill>
                  <a:srgbClr val="008000"/>
                </a:solidFill>
                <a:latin typeface="Consolas" panose="020B0609020204030204" pitchFamily="49" charset="0"/>
              </a:rPr>
              <a:t>'Bananas'</a:t>
            </a:r>
            <a:r>
              <a:rPr lang="en-US" sz="1800" dirty="0">
                <a:solidFill>
                  <a:srgbClr val="000000"/>
                </a:solidFill>
                <a:latin typeface="Consolas" panose="020B0609020204030204" pitchFamily="49" charset="0"/>
              </a:rPr>
              <a:t>) </a:t>
            </a:r>
            <a:r>
              <a:rPr lang="en-US" sz="1800" dirty="0">
                <a:solidFill>
                  <a:srgbClr val="800000"/>
                </a:solidFill>
                <a:latin typeface="Consolas" panose="020B0609020204030204" pitchFamily="49" charset="0"/>
              </a:rPr>
              <a:t>AS</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bananas_sales</a:t>
            </a:r>
            <a:r>
              <a:rPr lang="en-US" sz="1800" dirty="0">
                <a:solidFill>
                  <a:srgbClr val="000000"/>
                </a:solidFill>
                <a:latin typeface="Consolas" panose="020B0609020204030204" pitchFamily="49" charset="0"/>
              </a:rPr>
              <a:t>,</a:t>
            </a:r>
          </a:p>
          <a:p>
            <a:pPr algn="l"/>
            <a:r>
              <a:rPr lang="en-US" sz="1800" dirty="0">
                <a:solidFill>
                  <a:srgbClr val="000000"/>
                </a:solidFill>
                <a:latin typeface="Consolas" panose="020B0609020204030204" pitchFamily="49" charset="0"/>
              </a:rPr>
              <a:t>    </a:t>
            </a:r>
            <a:r>
              <a:rPr lang="en-US" sz="1800" dirty="0">
                <a:solidFill>
                  <a:srgbClr val="000080"/>
                </a:solidFill>
                <a:latin typeface="Consolas" panose="020B0609020204030204" pitchFamily="49" charset="0"/>
              </a:rPr>
              <a:t>SUM</a:t>
            </a:r>
            <a:r>
              <a:rPr lang="en-US" sz="1800" dirty="0">
                <a:solidFill>
                  <a:srgbClr val="000000"/>
                </a:solidFill>
                <a:latin typeface="Consolas" panose="020B0609020204030204" pitchFamily="49" charset="0"/>
              </a:rPr>
              <a:t>(sales) </a:t>
            </a:r>
            <a:r>
              <a:rPr lang="en-US" sz="1800" dirty="0">
                <a:solidFill>
                  <a:srgbClr val="800000"/>
                </a:solidFill>
                <a:latin typeface="Consolas" panose="020B0609020204030204" pitchFamily="49" charset="0"/>
              </a:rPr>
              <a:t>FILTER</a:t>
            </a:r>
            <a:r>
              <a:rPr lang="en-US" sz="1800" dirty="0">
                <a:solidFill>
                  <a:srgbClr val="000000"/>
                </a:solidFill>
                <a:latin typeface="Consolas" panose="020B0609020204030204" pitchFamily="49" charset="0"/>
              </a:rPr>
              <a:t> (</a:t>
            </a:r>
            <a:r>
              <a:rPr lang="en-US" sz="1800" dirty="0">
                <a:solidFill>
                  <a:srgbClr val="800000"/>
                </a:solidFill>
                <a:latin typeface="Consolas" panose="020B0609020204030204" pitchFamily="49" charset="0"/>
              </a:rPr>
              <a:t>WHERE</a:t>
            </a:r>
            <a:r>
              <a:rPr lang="en-US" sz="1800" dirty="0">
                <a:solidFill>
                  <a:srgbClr val="000000"/>
                </a:solidFill>
                <a:latin typeface="Consolas" panose="020B0609020204030204" pitchFamily="49" charset="0"/>
              </a:rPr>
              <a:t> product = </a:t>
            </a:r>
            <a:r>
              <a:rPr lang="en-US" sz="1800" dirty="0">
                <a:solidFill>
                  <a:srgbClr val="008000"/>
                </a:solidFill>
                <a:latin typeface="Consolas" panose="020B0609020204030204" pitchFamily="49" charset="0"/>
              </a:rPr>
              <a:t>'Cherries'</a:t>
            </a:r>
            <a:r>
              <a:rPr lang="en-US" sz="1800" dirty="0">
                <a:solidFill>
                  <a:srgbClr val="000000"/>
                </a:solidFill>
                <a:latin typeface="Consolas" panose="020B0609020204030204" pitchFamily="49" charset="0"/>
              </a:rPr>
              <a:t>) </a:t>
            </a:r>
            <a:r>
              <a:rPr lang="en-US" sz="1800" dirty="0">
                <a:solidFill>
                  <a:srgbClr val="800000"/>
                </a:solidFill>
                <a:latin typeface="Consolas" panose="020B0609020204030204" pitchFamily="49" charset="0"/>
              </a:rPr>
              <a:t>AS</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cherries_sales</a:t>
            </a:r>
            <a:r>
              <a:rPr lang="en-US" sz="1800" dirty="0">
                <a:solidFill>
                  <a:srgbClr val="000000"/>
                </a:solidFill>
                <a:latin typeface="Consolas" panose="020B0609020204030204" pitchFamily="49" charset="0"/>
              </a:rPr>
              <a:t>,</a:t>
            </a:r>
          </a:p>
          <a:p>
            <a:pPr algn="l"/>
            <a:r>
              <a:rPr lang="en-US" sz="1800" dirty="0">
                <a:solidFill>
                  <a:srgbClr val="000000"/>
                </a:solidFill>
                <a:latin typeface="Consolas" panose="020B0609020204030204" pitchFamily="49" charset="0"/>
              </a:rPr>
              <a:t>    </a:t>
            </a:r>
            <a:r>
              <a:rPr lang="en-US" sz="1800" dirty="0">
                <a:solidFill>
                  <a:srgbClr val="000080"/>
                </a:solidFill>
                <a:latin typeface="Consolas" panose="020B0609020204030204" pitchFamily="49" charset="0"/>
              </a:rPr>
              <a:t>SUM</a:t>
            </a:r>
            <a:r>
              <a:rPr lang="en-US" sz="1800" dirty="0">
                <a:solidFill>
                  <a:srgbClr val="000000"/>
                </a:solidFill>
                <a:latin typeface="Consolas" panose="020B0609020204030204" pitchFamily="49" charset="0"/>
              </a:rPr>
              <a:t>(sales) </a:t>
            </a:r>
            <a:r>
              <a:rPr lang="en-US" sz="1800" dirty="0">
                <a:solidFill>
                  <a:srgbClr val="800000"/>
                </a:solidFill>
                <a:latin typeface="Consolas" panose="020B0609020204030204" pitchFamily="49" charset="0"/>
              </a:rPr>
              <a:t>FILTER</a:t>
            </a:r>
            <a:r>
              <a:rPr lang="en-US" sz="1800" dirty="0">
                <a:solidFill>
                  <a:srgbClr val="000000"/>
                </a:solidFill>
                <a:latin typeface="Consolas" panose="020B0609020204030204" pitchFamily="49" charset="0"/>
              </a:rPr>
              <a:t> (</a:t>
            </a:r>
            <a:r>
              <a:rPr lang="en-US" sz="1800" dirty="0">
                <a:solidFill>
                  <a:srgbClr val="800000"/>
                </a:solidFill>
                <a:latin typeface="Consolas" panose="020B0609020204030204" pitchFamily="49" charset="0"/>
              </a:rPr>
              <a:t>WHERE</a:t>
            </a:r>
            <a:r>
              <a:rPr lang="en-US" sz="1800" dirty="0">
                <a:solidFill>
                  <a:srgbClr val="000000"/>
                </a:solidFill>
                <a:latin typeface="Consolas" panose="020B0609020204030204" pitchFamily="49" charset="0"/>
              </a:rPr>
              <a:t> product = </a:t>
            </a:r>
            <a:r>
              <a:rPr lang="en-US" sz="1800" dirty="0">
                <a:solidFill>
                  <a:srgbClr val="008000"/>
                </a:solidFill>
                <a:latin typeface="Consolas" panose="020B0609020204030204" pitchFamily="49" charset="0"/>
              </a:rPr>
              <a:t>'Oranges'</a:t>
            </a:r>
            <a:r>
              <a:rPr lang="en-US" sz="1800" dirty="0">
                <a:solidFill>
                  <a:srgbClr val="000000"/>
                </a:solidFill>
                <a:latin typeface="Consolas" panose="020B0609020204030204" pitchFamily="49" charset="0"/>
              </a:rPr>
              <a:t>) </a:t>
            </a:r>
            <a:r>
              <a:rPr lang="en-US" sz="1800" dirty="0">
                <a:solidFill>
                  <a:srgbClr val="800000"/>
                </a:solidFill>
                <a:latin typeface="Consolas" panose="020B0609020204030204" pitchFamily="49" charset="0"/>
              </a:rPr>
              <a:t>AS</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oranges_sales</a:t>
            </a:r>
            <a:r>
              <a:rPr lang="en-US" sz="1800" dirty="0">
                <a:solidFill>
                  <a:srgbClr val="000000"/>
                </a:solidFill>
                <a:latin typeface="Consolas" panose="020B0609020204030204" pitchFamily="49" charset="0"/>
              </a:rPr>
              <a:t>,</a:t>
            </a:r>
          </a:p>
          <a:p>
            <a:pPr algn="l"/>
            <a:r>
              <a:rPr lang="en-US" sz="1800" dirty="0">
                <a:solidFill>
                  <a:srgbClr val="000000"/>
                </a:solidFill>
                <a:latin typeface="Consolas" panose="020B0609020204030204" pitchFamily="49" charset="0"/>
              </a:rPr>
              <a:t>    </a:t>
            </a:r>
            <a:r>
              <a:rPr lang="en-US" sz="1800" dirty="0">
                <a:solidFill>
                  <a:srgbClr val="000080"/>
                </a:solidFill>
                <a:latin typeface="Consolas" panose="020B0609020204030204" pitchFamily="49" charset="0"/>
              </a:rPr>
              <a:t>SUM</a:t>
            </a:r>
            <a:r>
              <a:rPr lang="en-US" sz="1800" dirty="0">
                <a:solidFill>
                  <a:srgbClr val="000000"/>
                </a:solidFill>
                <a:latin typeface="Consolas" panose="020B0609020204030204" pitchFamily="49" charset="0"/>
              </a:rPr>
              <a:t>(sales) </a:t>
            </a:r>
            <a:r>
              <a:rPr lang="en-US" sz="1800" dirty="0">
                <a:solidFill>
                  <a:srgbClr val="800000"/>
                </a:solidFill>
                <a:latin typeface="Consolas" panose="020B0609020204030204" pitchFamily="49" charset="0"/>
              </a:rPr>
              <a:t>AS</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total_sales</a:t>
            </a:r>
            <a:endParaRPr lang="en-US" sz="1800" dirty="0">
              <a:solidFill>
                <a:srgbClr val="000000"/>
              </a:solidFill>
              <a:latin typeface="Consolas" panose="020B0609020204030204" pitchFamily="49" charset="0"/>
            </a:endParaRPr>
          </a:p>
          <a:p>
            <a:pPr algn="l"/>
            <a:r>
              <a:rPr lang="en-US" sz="1800" dirty="0">
                <a:solidFill>
                  <a:srgbClr val="800000"/>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pivotsales</a:t>
            </a:r>
            <a:endParaRPr lang="en-US" sz="1800" dirty="0">
              <a:solidFill>
                <a:srgbClr val="000000"/>
              </a:solidFill>
              <a:latin typeface="Consolas" panose="020B0609020204030204" pitchFamily="49" charset="0"/>
            </a:endParaRPr>
          </a:p>
          <a:p>
            <a:pPr algn="l"/>
            <a:r>
              <a:rPr lang="en-US" sz="1800" dirty="0">
                <a:solidFill>
                  <a:srgbClr val="800000"/>
                </a:solidFill>
                <a:latin typeface="Consolas" panose="020B0609020204030204" pitchFamily="49" charset="0"/>
              </a:rPr>
              <a:t>GROUP</a:t>
            </a:r>
            <a:r>
              <a:rPr lang="en-US" sz="1800" dirty="0">
                <a:solidFill>
                  <a:srgbClr val="000000"/>
                </a:solidFill>
                <a:latin typeface="Consolas" panose="020B0609020204030204" pitchFamily="49" charset="0"/>
              </a:rPr>
              <a:t> </a:t>
            </a:r>
            <a:r>
              <a:rPr lang="en-US" sz="1800" dirty="0">
                <a:solidFill>
                  <a:srgbClr val="800000"/>
                </a:solidFill>
                <a:latin typeface="Consolas" panose="020B0609020204030204" pitchFamily="49" charset="0"/>
              </a:rPr>
              <a:t>BY</a:t>
            </a:r>
            <a:r>
              <a:rPr lang="en-US" sz="1800" dirty="0">
                <a:solidFill>
                  <a:srgbClr val="000000"/>
                </a:solidFill>
                <a:latin typeface="Consolas" panose="020B0609020204030204" pitchFamily="49" charset="0"/>
              </a:rPr>
              <a:t> reseller</a:t>
            </a:r>
            <a:r>
              <a:rPr lang="en-US" sz="1800" dirty="0">
                <a:solidFill>
                  <a:srgbClr val="FF0000"/>
                </a:solidFill>
                <a:latin typeface="Consolas" panose="020B0609020204030204" pitchFamily="49" charset="0"/>
              </a:rPr>
              <a:t>;</a:t>
            </a:r>
            <a:endParaRPr lang="en-US" sz="2000" dirty="0">
              <a:solidFill>
                <a:srgbClr val="FF0000"/>
              </a:solidFill>
            </a:endParaRPr>
          </a:p>
        </p:txBody>
      </p:sp>
      <p:graphicFrame>
        <p:nvGraphicFramePr>
          <p:cNvPr id="7" name="Table 6">
            <a:extLst>
              <a:ext uri="{FF2B5EF4-FFF2-40B4-BE49-F238E27FC236}">
                <a16:creationId xmlns:a16="http://schemas.microsoft.com/office/drawing/2014/main" id="{7F645FD1-9576-9124-925E-7D64EC1C38D2}"/>
              </a:ext>
            </a:extLst>
          </p:cNvPr>
          <p:cNvGraphicFramePr>
            <a:graphicFrameLocks noGrp="1"/>
          </p:cNvGraphicFramePr>
          <p:nvPr>
            <p:extLst>
              <p:ext uri="{D42A27DB-BD31-4B8C-83A1-F6EECF244321}">
                <p14:modId xmlns:p14="http://schemas.microsoft.com/office/powerpoint/2010/main" val="1533994387"/>
              </p:ext>
            </p:extLst>
          </p:nvPr>
        </p:nvGraphicFramePr>
        <p:xfrm>
          <a:off x="533400" y="4608995"/>
          <a:ext cx="11125200" cy="1689100"/>
        </p:xfrm>
        <a:graphic>
          <a:graphicData uri="http://schemas.openxmlformats.org/drawingml/2006/table">
            <a:tbl>
              <a:tblPr>
                <a:tableStyleId>{073A0DAA-6AF3-43AB-8588-CEC1D06C72B9}</a:tableStyleId>
              </a:tblPr>
              <a:tblGrid>
                <a:gridCol w="1016746">
                  <a:extLst>
                    <a:ext uri="{9D8B030D-6E8A-4147-A177-3AD203B41FA5}">
                      <a16:colId xmlns:a16="http://schemas.microsoft.com/office/drawing/2014/main" val="4016137597"/>
                    </a:ext>
                  </a:extLst>
                </a:gridCol>
                <a:gridCol w="1815618">
                  <a:extLst>
                    <a:ext uri="{9D8B030D-6E8A-4147-A177-3AD203B41FA5}">
                      <a16:colId xmlns:a16="http://schemas.microsoft.com/office/drawing/2014/main" val="4059824354"/>
                    </a:ext>
                  </a:extLst>
                </a:gridCol>
                <a:gridCol w="1960868">
                  <a:extLst>
                    <a:ext uri="{9D8B030D-6E8A-4147-A177-3AD203B41FA5}">
                      <a16:colId xmlns:a16="http://schemas.microsoft.com/office/drawing/2014/main" val="3532311490"/>
                    </a:ext>
                  </a:extLst>
                </a:gridCol>
                <a:gridCol w="1888243">
                  <a:extLst>
                    <a:ext uri="{9D8B030D-6E8A-4147-A177-3AD203B41FA5}">
                      <a16:colId xmlns:a16="http://schemas.microsoft.com/office/drawing/2014/main" val="3863116859"/>
                    </a:ext>
                  </a:extLst>
                </a:gridCol>
                <a:gridCol w="2081525">
                  <a:extLst>
                    <a:ext uri="{9D8B030D-6E8A-4147-A177-3AD203B41FA5}">
                      <a16:colId xmlns:a16="http://schemas.microsoft.com/office/drawing/2014/main" val="1483412931"/>
                    </a:ext>
                  </a:extLst>
                </a:gridCol>
                <a:gridCol w="2362200">
                  <a:extLst>
                    <a:ext uri="{9D8B030D-6E8A-4147-A177-3AD203B41FA5}">
                      <a16:colId xmlns:a16="http://schemas.microsoft.com/office/drawing/2014/main" val="45944639"/>
                    </a:ext>
                  </a:extLst>
                </a:gridCol>
              </a:tblGrid>
              <a:tr h="0">
                <a:tc>
                  <a:txBody>
                    <a:bodyPr/>
                    <a:lstStyle/>
                    <a:p>
                      <a:pPr algn="ctr"/>
                      <a:r>
                        <a:rPr lang="en-US" sz="1800" b="1" kern="1200" dirty="0">
                          <a:solidFill>
                            <a:srgbClr val="404040"/>
                          </a:solidFill>
                          <a:effectLst/>
                        </a:rPr>
                        <a:t>reseller</a:t>
                      </a:r>
                      <a:endParaRPr lang="en-US" sz="1800" b="1" kern="1200" dirty="0">
                        <a:solidFill>
                          <a:srgbClr val="404040"/>
                        </a:solidFill>
                        <a:effectLst/>
                        <a:latin typeface="+mn-lt"/>
                        <a:ea typeface="+mn-ea"/>
                        <a:cs typeface="+mn-cs"/>
                      </a:endParaRPr>
                    </a:p>
                  </a:txBody>
                  <a:tcPr marR="31750" marT="31750" marB="31750" anchor="ctr"/>
                </a:tc>
                <a:tc>
                  <a:txBody>
                    <a:bodyPr/>
                    <a:lstStyle/>
                    <a:p>
                      <a:pPr algn="ctr"/>
                      <a:r>
                        <a:rPr lang="en-US" sz="1800" b="1">
                          <a:solidFill>
                            <a:srgbClr val="404040"/>
                          </a:solidFill>
                          <a:effectLst/>
                        </a:rPr>
                        <a:t>apples_sales</a:t>
                      </a:r>
                    </a:p>
                  </a:txBody>
                  <a:tcPr marL="31750" marR="31750" marT="31750" marB="31750" anchor="ctr"/>
                </a:tc>
                <a:tc>
                  <a:txBody>
                    <a:bodyPr/>
                    <a:lstStyle/>
                    <a:p>
                      <a:pPr algn="ctr"/>
                      <a:r>
                        <a:rPr lang="en-US" sz="1800" b="1">
                          <a:solidFill>
                            <a:srgbClr val="404040"/>
                          </a:solidFill>
                          <a:effectLst/>
                        </a:rPr>
                        <a:t>bananas_sales</a:t>
                      </a:r>
                    </a:p>
                  </a:txBody>
                  <a:tcPr marL="31750" marR="31750" marT="31750" marB="31750" anchor="ctr"/>
                </a:tc>
                <a:tc>
                  <a:txBody>
                    <a:bodyPr/>
                    <a:lstStyle/>
                    <a:p>
                      <a:pPr algn="ctr"/>
                      <a:r>
                        <a:rPr lang="en-US" sz="1800" b="1">
                          <a:solidFill>
                            <a:srgbClr val="404040"/>
                          </a:solidFill>
                          <a:effectLst/>
                        </a:rPr>
                        <a:t>cherries_sales</a:t>
                      </a:r>
                    </a:p>
                  </a:txBody>
                  <a:tcPr marL="31750" marR="31750" marT="31750" marB="31750" anchor="ctr"/>
                </a:tc>
                <a:tc>
                  <a:txBody>
                    <a:bodyPr/>
                    <a:lstStyle/>
                    <a:p>
                      <a:pPr algn="ctr"/>
                      <a:r>
                        <a:rPr lang="en-US" sz="1800" b="1">
                          <a:solidFill>
                            <a:srgbClr val="404040"/>
                          </a:solidFill>
                          <a:effectLst/>
                        </a:rPr>
                        <a:t>oranges_sales</a:t>
                      </a:r>
                    </a:p>
                  </a:txBody>
                  <a:tcPr marL="31750" marR="31750" marT="31750" marB="31750" anchor="ctr"/>
                </a:tc>
                <a:tc>
                  <a:txBody>
                    <a:bodyPr/>
                    <a:lstStyle/>
                    <a:p>
                      <a:pPr algn="ctr"/>
                      <a:r>
                        <a:rPr lang="en-US" sz="1800" b="1" dirty="0" err="1">
                          <a:solidFill>
                            <a:srgbClr val="404040"/>
                          </a:solidFill>
                          <a:effectLst/>
                        </a:rPr>
                        <a:t>total_sales</a:t>
                      </a:r>
                      <a:endParaRPr lang="en-US" sz="1800" b="1" dirty="0">
                        <a:solidFill>
                          <a:srgbClr val="404040"/>
                        </a:solidFill>
                        <a:effectLst/>
                      </a:endParaRPr>
                    </a:p>
                  </a:txBody>
                  <a:tcPr marL="31750" marR="31750" marT="31750" marB="31750" anchor="ctr"/>
                </a:tc>
                <a:extLst>
                  <a:ext uri="{0D108BD9-81ED-4DB2-BD59-A6C34878D82A}">
                    <a16:rowId xmlns:a16="http://schemas.microsoft.com/office/drawing/2014/main" val="860205276"/>
                  </a:ext>
                </a:extLst>
              </a:tr>
              <a:tr h="0">
                <a:tc>
                  <a:txBody>
                    <a:bodyPr/>
                    <a:lstStyle/>
                    <a:p>
                      <a:r>
                        <a:rPr lang="en-US" sz="1800" dirty="0">
                          <a:effectLst/>
                        </a:rPr>
                        <a:t>John</a:t>
                      </a:r>
                    </a:p>
                  </a:txBody>
                  <a:tcPr marR="31750" marT="31750" marB="31750" anchor="ctr"/>
                </a:tc>
                <a:tc>
                  <a:txBody>
                    <a:bodyPr/>
                    <a:lstStyle/>
                    <a:p>
                      <a:r>
                        <a:rPr lang="en-US" sz="1800">
                          <a:effectLst/>
                        </a:rPr>
                        <a:t>0</a:t>
                      </a:r>
                    </a:p>
                  </a:txBody>
                  <a:tcPr marL="31750" marR="31750" marT="31750" marB="31750" anchor="ctr"/>
                </a:tc>
                <a:tc>
                  <a:txBody>
                    <a:bodyPr/>
                    <a:lstStyle/>
                    <a:p>
                      <a:r>
                        <a:rPr lang="en-US" sz="1800">
                          <a:effectLst/>
                        </a:rPr>
                        <a:t>0</a:t>
                      </a:r>
                    </a:p>
                  </a:txBody>
                  <a:tcPr marL="31750" marR="31750" marT="31750" marB="31750" anchor="ctr"/>
                </a:tc>
                <a:tc>
                  <a:txBody>
                    <a:bodyPr/>
                    <a:lstStyle/>
                    <a:p>
                      <a:r>
                        <a:rPr lang="en-US" sz="1800">
                          <a:effectLst/>
                        </a:rPr>
                        <a:t>250</a:t>
                      </a:r>
                    </a:p>
                  </a:txBody>
                  <a:tcPr marL="31750" marR="31750" marT="31750" marB="31750" anchor="ctr"/>
                </a:tc>
                <a:tc>
                  <a:txBody>
                    <a:bodyPr/>
                    <a:lstStyle/>
                    <a:p>
                      <a:r>
                        <a:rPr lang="en-US" sz="1800" dirty="0">
                          <a:effectLst/>
                        </a:rPr>
                        <a:t>0</a:t>
                      </a:r>
                    </a:p>
                  </a:txBody>
                  <a:tcPr marL="31750" marR="31750" marT="31750" marB="31750" anchor="ctr"/>
                </a:tc>
                <a:tc>
                  <a:txBody>
                    <a:bodyPr/>
                    <a:lstStyle/>
                    <a:p>
                      <a:r>
                        <a:rPr lang="en-US" sz="1800" dirty="0">
                          <a:effectLst/>
                        </a:rPr>
                        <a:t>250</a:t>
                      </a:r>
                    </a:p>
                  </a:txBody>
                  <a:tcPr marL="31750" marR="31750" marT="31750" marB="31750" anchor="ctr"/>
                </a:tc>
                <a:extLst>
                  <a:ext uri="{0D108BD9-81ED-4DB2-BD59-A6C34878D82A}">
                    <a16:rowId xmlns:a16="http://schemas.microsoft.com/office/drawing/2014/main" val="2975374447"/>
                  </a:ext>
                </a:extLst>
              </a:tr>
              <a:tr h="0">
                <a:tc>
                  <a:txBody>
                    <a:bodyPr/>
                    <a:lstStyle/>
                    <a:p>
                      <a:r>
                        <a:rPr lang="en-US" sz="1800">
                          <a:effectLst/>
                        </a:rPr>
                        <a:t>Mike</a:t>
                      </a:r>
                    </a:p>
                  </a:txBody>
                  <a:tcPr marR="31750" marT="31750" marB="31750" anchor="ctr"/>
                </a:tc>
                <a:tc>
                  <a:txBody>
                    <a:bodyPr/>
                    <a:lstStyle/>
                    <a:p>
                      <a:r>
                        <a:rPr lang="en-US" sz="1800">
                          <a:effectLst/>
                        </a:rPr>
                        <a:t>120</a:t>
                      </a:r>
                    </a:p>
                  </a:txBody>
                  <a:tcPr marL="31750" marR="31750" marT="31750" marB="31750" anchor="ctr"/>
                </a:tc>
                <a:tc>
                  <a:txBody>
                    <a:bodyPr/>
                    <a:lstStyle/>
                    <a:p>
                      <a:r>
                        <a:rPr lang="en-US" sz="1800">
                          <a:effectLst/>
                        </a:rPr>
                        <a:t>200</a:t>
                      </a:r>
                    </a:p>
                  </a:txBody>
                  <a:tcPr marL="31750" marR="31750" marT="31750" marB="31750" anchor="ctr"/>
                </a:tc>
                <a:tc>
                  <a:txBody>
                    <a:bodyPr/>
                    <a:lstStyle/>
                    <a:p>
                      <a:r>
                        <a:rPr lang="en-US" sz="1800">
                          <a:effectLst/>
                        </a:rPr>
                        <a:t>250</a:t>
                      </a:r>
                    </a:p>
                  </a:txBody>
                  <a:tcPr marL="31750" marR="31750" marT="31750" marB="31750" anchor="ctr"/>
                </a:tc>
                <a:tc>
                  <a:txBody>
                    <a:bodyPr/>
                    <a:lstStyle/>
                    <a:p>
                      <a:r>
                        <a:rPr lang="en-US" sz="1800">
                          <a:effectLst/>
                        </a:rPr>
                        <a:t>400</a:t>
                      </a:r>
                    </a:p>
                  </a:txBody>
                  <a:tcPr marL="31750" marR="31750" marT="31750" marB="31750" anchor="ctr"/>
                </a:tc>
                <a:tc>
                  <a:txBody>
                    <a:bodyPr/>
                    <a:lstStyle/>
                    <a:p>
                      <a:r>
                        <a:rPr lang="en-US" sz="1800" dirty="0">
                          <a:effectLst/>
                        </a:rPr>
                        <a:t>970</a:t>
                      </a:r>
                    </a:p>
                  </a:txBody>
                  <a:tcPr marL="31750" marR="31750" marT="31750" marB="31750" anchor="ctr"/>
                </a:tc>
                <a:extLst>
                  <a:ext uri="{0D108BD9-81ED-4DB2-BD59-A6C34878D82A}">
                    <a16:rowId xmlns:a16="http://schemas.microsoft.com/office/drawing/2014/main" val="345318347"/>
                  </a:ext>
                </a:extLst>
              </a:tr>
              <a:tr h="0">
                <a:tc>
                  <a:txBody>
                    <a:bodyPr/>
                    <a:lstStyle/>
                    <a:p>
                      <a:r>
                        <a:rPr lang="en-US" sz="1800">
                          <a:effectLst/>
                        </a:rPr>
                        <a:t>Pete</a:t>
                      </a:r>
                    </a:p>
                  </a:txBody>
                  <a:tcPr marR="31750" marT="31750" marB="31750" anchor="ctr"/>
                </a:tc>
                <a:tc>
                  <a:txBody>
                    <a:bodyPr/>
                    <a:lstStyle/>
                    <a:p>
                      <a:r>
                        <a:rPr lang="en-US" sz="1800">
                          <a:effectLst/>
                        </a:rPr>
                        <a:t>290</a:t>
                      </a:r>
                    </a:p>
                  </a:txBody>
                  <a:tcPr marL="31750" marR="31750" marT="31750" marB="31750" anchor="ctr"/>
                </a:tc>
                <a:tc>
                  <a:txBody>
                    <a:bodyPr/>
                    <a:lstStyle/>
                    <a:p>
                      <a:r>
                        <a:rPr lang="en-US" sz="1800" dirty="0">
                          <a:effectLst/>
                        </a:rPr>
                        <a:t>0</a:t>
                      </a:r>
                    </a:p>
                  </a:txBody>
                  <a:tcPr marL="31750" marR="31750" marT="31750" marB="31750" anchor="ctr"/>
                </a:tc>
                <a:tc>
                  <a:txBody>
                    <a:bodyPr/>
                    <a:lstStyle/>
                    <a:p>
                      <a:r>
                        <a:rPr lang="en-US" sz="1800">
                          <a:effectLst/>
                        </a:rPr>
                        <a:t>0</a:t>
                      </a:r>
                    </a:p>
                  </a:txBody>
                  <a:tcPr marL="31750" marR="31750" marT="31750" marB="31750" anchor="ctr"/>
                </a:tc>
                <a:tc>
                  <a:txBody>
                    <a:bodyPr/>
                    <a:lstStyle/>
                    <a:p>
                      <a:r>
                        <a:rPr lang="en-US" sz="1800">
                          <a:effectLst/>
                        </a:rPr>
                        <a:t>0</a:t>
                      </a:r>
                    </a:p>
                  </a:txBody>
                  <a:tcPr marL="31750" marR="31750" marT="31750" marB="31750" anchor="ctr"/>
                </a:tc>
                <a:tc>
                  <a:txBody>
                    <a:bodyPr/>
                    <a:lstStyle/>
                    <a:p>
                      <a:r>
                        <a:rPr lang="en-US" sz="1800">
                          <a:effectLst/>
                        </a:rPr>
                        <a:t>290</a:t>
                      </a:r>
                    </a:p>
                  </a:txBody>
                  <a:tcPr marL="31750" marR="31750" marT="31750" marB="31750" anchor="ctr"/>
                </a:tc>
                <a:extLst>
                  <a:ext uri="{0D108BD9-81ED-4DB2-BD59-A6C34878D82A}">
                    <a16:rowId xmlns:a16="http://schemas.microsoft.com/office/drawing/2014/main" val="2939033065"/>
                  </a:ext>
                </a:extLst>
              </a:tr>
              <a:tr h="0">
                <a:tc>
                  <a:txBody>
                    <a:bodyPr/>
                    <a:lstStyle/>
                    <a:p>
                      <a:r>
                        <a:rPr lang="en-US" sz="1800">
                          <a:effectLst/>
                        </a:rPr>
                        <a:t>Sally</a:t>
                      </a:r>
                    </a:p>
                  </a:txBody>
                  <a:tcPr marR="31750" marT="31750" marB="31750" anchor="ctr"/>
                </a:tc>
                <a:tc>
                  <a:txBody>
                    <a:bodyPr/>
                    <a:lstStyle/>
                    <a:p>
                      <a:r>
                        <a:rPr lang="en-US" sz="1800">
                          <a:effectLst/>
                        </a:rPr>
                        <a:t>0</a:t>
                      </a:r>
                    </a:p>
                  </a:txBody>
                  <a:tcPr marL="31750" marR="31750" marT="31750" marB="31750" anchor="ctr"/>
                </a:tc>
                <a:tc>
                  <a:txBody>
                    <a:bodyPr/>
                    <a:lstStyle/>
                    <a:p>
                      <a:r>
                        <a:rPr lang="en-US" sz="1800">
                          <a:effectLst/>
                        </a:rPr>
                        <a:t>250</a:t>
                      </a:r>
                    </a:p>
                  </a:txBody>
                  <a:tcPr marL="31750" marR="31750" marT="31750" marB="31750" anchor="ctr"/>
                </a:tc>
                <a:tc>
                  <a:txBody>
                    <a:bodyPr/>
                    <a:lstStyle/>
                    <a:p>
                      <a:r>
                        <a:rPr lang="en-US" sz="1800">
                          <a:effectLst/>
                        </a:rPr>
                        <a:t>330</a:t>
                      </a:r>
                    </a:p>
                  </a:txBody>
                  <a:tcPr marL="31750" marR="31750" marT="31750" marB="31750" anchor="ctr"/>
                </a:tc>
                <a:tc>
                  <a:txBody>
                    <a:bodyPr/>
                    <a:lstStyle/>
                    <a:p>
                      <a:r>
                        <a:rPr lang="en-US" sz="1800">
                          <a:effectLst/>
                        </a:rPr>
                        <a:t>0</a:t>
                      </a:r>
                    </a:p>
                  </a:txBody>
                  <a:tcPr marL="31750" marR="31750" marT="31750" marB="31750" anchor="ctr"/>
                </a:tc>
                <a:tc>
                  <a:txBody>
                    <a:bodyPr/>
                    <a:lstStyle/>
                    <a:p>
                      <a:r>
                        <a:rPr lang="en-US" sz="1800" dirty="0">
                          <a:effectLst/>
                        </a:rPr>
                        <a:t>580</a:t>
                      </a:r>
                    </a:p>
                  </a:txBody>
                  <a:tcPr marL="31750" marR="31750" marT="31750" marB="31750" anchor="ctr"/>
                </a:tc>
                <a:extLst>
                  <a:ext uri="{0D108BD9-81ED-4DB2-BD59-A6C34878D82A}">
                    <a16:rowId xmlns:a16="http://schemas.microsoft.com/office/drawing/2014/main" val="2468342362"/>
                  </a:ext>
                </a:extLst>
              </a:tr>
            </a:tbl>
          </a:graphicData>
        </a:graphic>
      </p:graphicFrame>
      <p:sp>
        <p:nvSpPr>
          <p:cNvPr id="10" name="Content Placeholder 2">
            <a:extLst>
              <a:ext uri="{FF2B5EF4-FFF2-40B4-BE49-F238E27FC236}">
                <a16:creationId xmlns:a16="http://schemas.microsoft.com/office/drawing/2014/main" id="{F906AFE0-7C62-69B9-8979-6685565FF7B8}"/>
              </a:ext>
            </a:extLst>
          </p:cNvPr>
          <p:cNvSpPr>
            <a:spLocks noGrp="1"/>
          </p:cNvSpPr>
          <p:nvPr>
            <p:ph idx="1"/>
          </p:nvPr>
        </p:nvSpPr>
        <p:spPr>
          <a:xfrm>
            <a:off x="198226" y="762000"/>
            <a:ext cx="11813228" cy="5486401"/>
          </a:xfrm>
        </p:spPr>
        <p:txBody>
          <a:bodyPr/>
          <a:lstStyle/>
          <a:p>
            <a:pPr marL="0" indent="0">
              <a:spcBef>
                <a:spcPts val="100"/>
              </a:spcBef>
              <a:buNone/>
            </a:pPr>
            <a:r>
              <a:rPr lang="en-US" dirty="0"/>
              <a:t>Transpose data from multiple rows into columns of a single row</a:t>
            </a:r>
          </a:p>
          <a:p>
            <a:pPr>
              <a:spcBef>
                <a:spcPts val="100"/>
              </a:spcBef>
            </a:pPr>
            <a:r>
              <a:rPr lang="en-US" dirty="0"/>
              <a:t>FILTER is used on an aggregate function to limit the values used in an aggregation</a:t>
            </a:r>
          </a:p>
        </p:txBody>
      </p:sp>
    </p:spTree>
    <p:extLst>
      <p:ext uri="{BB962C8B-B14F-4D97-AF65-F5344CB8AC3E}">
        <p14:creationId xmlns:p14="http://schemas.microsoft.com/office/powerpoint/2010/main" val="16963451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250" fill="hold"/>
                                        <p:tgtEl>
                                          <p:spTgt spid="7"/>
                                        </p:tgtEl>
                                        <p:attrNameLst>
                                          <p:attrName>ppt_x</p:attrName>
                                        </p:attrNameLst>
                                      </p:cBhvr>
                                      <p:tavLst>
                                        <p:tav tm="0">
                                          <p:val>
                                            <p:strVal val="#ppt_x"/>
                                          </p:val>
                                        </p:tav>
                                        <p:tav tm="100000">
                                          <p:val>
                                            <p:strVal val="#ppt_x"/>
                                          </p:val>
                                        </p:tav>
                                      </p:tavLst>
                                    </p:anim>
                                    <p:anim calcmode="lin" valueType="num">
                                      <p:cBhvr additive="base">
                                        <p:cTn id="8" dur="25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FE368-D78B-7D0C-41F4-A9DCD773893E}"/>
              </a:ext>
            </a:extLst>
          </p:cNvPr>
          <p:cNvSpPr>
            <a:spLocks noGrp="1"/>
          </p:cNvSpPr>
          <p:nvPr>
            <p:ph type="title"/>
          </p:nvPr>
        </p:nvSpPr>
        <p:spPr/>
        <p:txBody>
          <a:bodyPr/>
          <a:lstStyle/>
          <a:p>
            <a:r>
              <a:rPr lang="en-US" dirty="0"/>
              <a:t>FILTER for GROUP BY</a:t>
            </a:r>
          </a:p>
        </p:txBody>
      </p:sp>
      <p:sp>
        <p:nvSpPr>
          <p:cNvPr id="3" name="Content Placeholder 2">
            <a:extLst>
              <a:ext uri="{FF2B5EF4-FFF2-40B4-BE49-F238E27FC236}">
                <a16:creationId xmlns:a16="http://schemas.microsoft.com/office/drawing/2014/main" id="{A2881D54-7695-78D8-70CB-B3FD47B548AD}"/>
              </a:ext>
            </a:extLst>
          </p:cNvPr>
          <p:cNvSpPr>
            <a:spLocks noGrp="1"/>
          </p:cNvSpPr>
          <p:nvPr>
            <p:ph idx="1"/>
          </p:nvPr>
        </p:nvSpPr>
        <p:spPr>
          <a:xfrm>
            <a:off x="198226" y="838200"/>
            <a:ext cx="11813228" cy="5410201"/>
          </a:xfrm>
        </p:spPr>
        <p:txBody>
          <a:bodyPr/>
          <a:lstStyle/>
          <a:p>
            <a:pPr marL="0" indent="0">
              <a:spcBef>
                <a:spcPts val="100"/>
              </a:spcBef>
              <a:buNone/>
            </a:pPr>
            <a:r>
              <a:rPr lang="en-US" sz="2400" dirty="0" err="1">
                <a:solidFill>
                  <a:srgbClr val="FFC000"/>
                </a:solidFill>
                <a:latin typeface="Consolas" panose="020B0609020204030204" pitchFamily="49" charset="0"/>
              </a:rPr>
              <a:t>pivotsales</a:t>
            </a:r>
            <a:r>
              <a:rPr lang="en-US" sz="2400" dirty="0">
                <a:solidFill>
                  <a:srgbClr val="FFC000"/>
                </a:solidFill>
                <a:latin typeface="Consolas" panose="020B0609020204030204" pitchFamily="49" charset="0"/>
              </a:rPr>
              <a:t>(reseller, product, month, sales)</a:t>
            </a:r>
            <a:endParaRPr lang="en-US" dirty="0"/>
          </a:p>
          <a:p>
            <a:pPr>
              <a:spcBef>
                <a:spcPts val="100"/>
              </a:spcBef>
            </a:pPr>
            <a:r>
              <a:rPr lang="en-US" sz="2000" dirty="0"/>
              <a:t>For reach reseller, return the total sales, total sales of  “Cherries”, total sales in fall, avg sales in October, and count of sales that is more than 200.</a:t>
            </a:r>
          </a:p>
        </p:txBody>
      </p:sp>
      <p:sp>
        <p:nvSpPr>
          <p:cNvPr id="8" name="TextBox 7">
            <a:extLst>
              <a:ext uri="{FF2B5EF4-FFF2-40B4-BE49-F238E27FC236}">
                <a16:creationId xmlns:a16="http://schemas.microsoft.com/office/drawing/2014/main" id="{3E5CE8B8-B35E-4F20-F57E-8A6D582F62D8}"/>
              </a:ext>
            </a:extLst>
          </p:cNvPr>
          <p:cNvSpPr txBox="1"/>
          <p:nvPr/>
        </p:nvSpPr>
        <p:spPr>
          <a:xfrm>
            <a:off x="204037" y="1956551"/>
            <a:ext cx="11785599" cy="2862322"/>
          </a:xfrm>
          <a:prstGeom prst="rect">
            <a:avLst/>
          </a:prstGeom>
          <a:solidFill>
            <a:schemeClr val="bg1"/>
          </a:solidFill>
          <a:ln>
            <a:solidFill>
              <a:schemeClr val="bg1">
                <a:lumMod val="50000"/>
              </a:schemeClr>
            </a:solidFill>
          </a:ln>
          <a:effectLst>
            <a:outerShdw blurRad="127000" dist="88900" dir="2700000" algn="tl" rotWithShape="0">
              <a:prstClr val="black">
                <a:alpha val="40000"/>
              </a:prstClr>
            </a:outerShdw>
          </a:effectLst>
        </p:spPr>
        <p:txBody>
          <a:bodyPr wrap="square">
            <a:spAutoFit/>
          </a:bodyPr>
          <a:lstStyle>
            <a:defPPr>
              <a:defRPr lang="en-US"/>
            </a:defPPr>
            <a:lvl1pPr>
              <a:defRPr>
                <a:solidFill>
                  <a:srgbClr val="800000"/>
                </a:solidFill>
                <a:latin typeface="Consolas" panose="020B0609020204030204" pitchFamily="49" charset="0"/>
              </a:defRPr>
            </a:lvl1pPr>
          </a:lstStyle>
          <a:p>
            <a:r>
              <a:rPr lang="en-US" sz="2000" dirty="0"/>
              <a:t>SELECT </a:t>
            </a:r>
            <a:r>
              <a:rPr lang="en-US" sz="2000" dirty="0">
                <a:solidFill>
                  <a:srgbClr val="000000"/>
                </a:solidFill>
              </a:rPr>
              <a:t>reseller,</a:t>
            </a:r>
          </a:p>
          <a:p>
            <a:r>
              <a:rPr lang="en-US" sz="2000" dirty="0">
                <a:solidFill>
                  <a:srgbClr val="000000"/>
                </a:solidFill>
              </a:rPr>
              <a:t>    </a:t>
            </a:r>
            <a:r>
              <a:rPr lang="en-US" sz="2000" dirty="0">
                <a:solidFill>
                  <a:srgbClr val="000080"/>
                </a:solidFill>
              </a:rPr>
              <a:t>SUM</a:t>
            </a:r>
            <a:r>
              <a:rPr lang="en-US" sz="2000" dirty="0">
                <a:solidFill>
                  <a:srgbClr val="000000"/>
                </a:solidFill>
              </a:rPr>
              <a:t>(sales) </a:t>
            </a:r>
            <a:r>
              <a:rPr lang="en-US" sz="2000" dirty="0"/>
              <a:t>AS</a:t>
            </a:r>
            <a:r>
              <a:rPr lang="en-US" sz="2000" dirty="0">
                <a:solidFill>
                  <a:srgbClr val="000000"/>
                </a:solidFill>
              </a:rPr>
              <a:t> </a:t>
            </a:r>
            <a:r>
              <a:rPr lang="en-US" sz="2000" dirty="0" err="1">
                <a:solidFill>
                  <a:srgbClr val="000000"/>
                </a:solidFill>
              </a:rPr>
              <a:t>total_sales</a:t>
            </a:r>
            <a:r>
              <a:rPr lang="en-US" sz="2000" dirty="0">
                <a:solidFill>
                  <a:srgbClr val="000000"/>
                </a:solidFill>
              </a:rPr>
              <a:t>,</a:t>
            </a:r>
          </a:p>
          <a:p>
            <a:r>
              <a:rPr lang="en-US" sz="2000" dirty="0">
                <a:solidFill>
                  <a:srgbClr val="000000"/>
                </a:solidFill>
              </a:rPr>
              <a:t>    </a:t>
            </a:r>
            <a:r>
              <a:rPr lang="en-US" sz="2000" dirty="0">
                <a:solidFill>
                  <a:srgbClr val="000080"/>
                </a:solidFill>
              </a:rPr>
              <a:t>SUM</a:t>
            </a:r>
            <a:r>
              <a:rPr lang="en-US" sz="2000" dirty="0">
                <a:solidFill>
                  <a:srgbClr val="000000"/>
                </a:solidFill>
              </a:rPr>
              <a:t>(sales) </a:t>
            </a:r>
            <a:r>
              <a:rPr lang="en-US" sz="2000" dirty="0"/>
              <a:t>FILTER</a:t>
            </a:r>
            <a:r>
              <a:rPr lang="en-US" sz="2000" dirty="0">
                <a:solidFill>
                  <a:srgbClr val="000000"/>
                </a:solidFill>
              </a:rPr>
              <a:t> (</a:t>
            </a:r>
            <a:r>
              <a:rPr lang="en-US" sz="2000" dirty="0"/>
              <a:t>WHERE</a:t>
            </a:r>
            <a:r>
              <a:rPr lang="en-US" sz="2000" dirty="0">
                <a:solidFill>
                  <a:srgbClr val="000000"/>
                </a:solidFill>
              </a:rPr>
              <a:t> product = </a:t>
            </a:r>
            <a:r>
              <a:rPr lang="en-US" sz="2000" dirty="0">
                <a:solidFill>
                  <a:srgbClr val="008000"/>
                </a:solidFill>
              </a:rPr>
              <a:t>'Cherries'</a:t>
            </a:r>
            <a:r>
              <a:rPr lang="en-US" sz="2000" dirty="0">
                <a:solidFill>
                  <a:srgbClr val="000000"/>
                </a:solidFill>
              </a:rPr>
              <a:t>) </a:t>
            </a:r>
            <a:r>
              <a:rPr lang="en-US" sz="2000" dirty="0"/>
              <a:t>AS</a:t>
            </a:r>
            <a:r>
              <a:rPr lang="en-US" sz="2000" dirty="0">
                <a:solidFill>
                  <a:srgbClr val="000000"/>
                </a:solidFill>
              </a:rPr>
              <a:t> </a:t>
            </a:r>
            <a:r>
              <a:rPr lang="en-US" sz="2000" dirty="0" err="1">
                <a:solidFill>
                  <a:srgbClr val="000000"/>
                </a:solidFill>
              </a:rPr>
              <a:t>cherries_sales</a:t>
            </a:r>
            <a:r>
              <a:rPr lang="en-US" sz="2000" dirty="0">
                <a:solidFill>
                  <a:srgbClr val="000000"/>
                </a:solidFill>
              </a:rPr>
              <a:t>,</a:t>
            </a:r>
          </a:p>
          <a:p>
            <a:r>
              <a:rPr lang="en-US" sz="2000" dirty="0">
                <a:solidFill>
                  <a:srgbClr val="000000"/>
                </a:solidFill>
              </a:rPr>
              <a:t>    </a:t>
            </a:r>
            <a:r>
              <a:rPr lang="en-US" sz="2000" dirty="0">
                <a:solidFill>
                  <a:srgbClr val="000080"/>
                </a:solidFill>
              </a:rPr>
              <a:t>SUM</a:t>
            </a:r>
            <a:r>
              <a:rPr lang="en-US" sz="2000" dirty="0">
                <a:solidFill>
                  <a:srgbClr val="000000"/>
                </a:solidFill>
              </a:rPr>
              <a:t>(sales) </a:t>
            </a:r>
            <a:r>
              <a:rPr lang="en-US" sz="2000" dirty="0"/>
              <a:t>FILTER</a:t>
            </a:r>
            <a:r>
              <a:rPr lang="en-US" sz="2000" dirty="0">
                <a:solidFill>
                  <a:srgbClr val="000000"/>
                </a:solidFill>
              </a:rPr>
              <a:t> (</a:t>
            </a:r>
            <a:r>
              <a:rPr lang="en-US" sz="2000" dirty="0"/>
              <a:t>WHERE</a:t>
            </a:r>
            <a:r>
              <a:rPr lang="en-US" sz="2000" dirty="0">
                <a:solidFill>
                  <a:srgbClr val="000000"/>
                </a:solidFill>
              </a:rPr>
              <a:t> </a:t>
            </a:r>
            <a:r>
              <a:rPr lang="en-US" sz="2000" dirty="0"/>
              <a:t>month</a:t>
            </a:r>
            <a:r>
              <a:rPr lang="en-US" sz="2000" dirty="0">
                <a:solidFill>
                  <a:srgbClr val="000000"/>
                </a:solidFill>
              </a:rPr>
              <a:t> </a:t>
            </a:r>
            <a:r>
              <a:rPr lang="en-US" sz="2000" dirty="0"/>
              <a:t>IN</a:t>
            </a:r>
            <a:r>
              <a:rPr lang="en-US" sz="2000" dirty="0">
                <a:solidFill>
                  <a:srgbClr val="000000"/>
                </a:solidFill>
              </a:rPr>
              <a:t> (</a:t>
            </a:r>
            <a:r>
              <a:rPr lang="en-US" sz="2000" dirty="0">
                <a:solidFill>
                  <a:srgbClr val="008000"/>
                </a:solidFill>
              </a:rPr>
              <a:t>'Sep'</a:t>
            </a:r>
            <a:r>
              <a:rPr lang="en-US" sz="2000" dirty="0">
                <a:solidFill>
                  <a:srgbClr val="000000"/>
                </a:solidFill>
              </a:rPr>
              <a:t>, </a:t>
            </a:r>
            <a:r>
              <a:rPr lang="en-US" sz="2000" dirty="0">
                <a:solidFill>
                  <a:srgbClr val="008000"/>
                </a:solidFill>
              </a:rPr>
              <a:t>'Oct'</a:t>
            </a:r>
            <a:r>
              <a:rPr lang="en-US" sz="2000" dirty="0">
                <a:solidFill>
                  <a:srgbClr val="000000"/>
                </a:solidFill>
              </a:rPr>
              <a:t>, </a:t>
            </a:r>
            <a:r>
              <a:rPr lang="en-US" sz="2000" dirty="0">
                <a:solidFill>
                  <a:srgbClr val="008000"/>
                </a:solidFill>
              </a:rPr>
              <a:t>'Nov'</a:t>
            </a:r>
            <a:r>
              <a:rPr lang="en-US" sz="2000" dirty="0">
                <a:solidFill>
                  <a:srgbClr val="000000"/>
                </a:solidFill>
              </a:rPr>
              <a:t>)) </a:t>
            </a:r>
            <a:r>
              <a:rPr lang="en-US" sz="2000" dirty="0"/>
              <a:t>AS</a:t>
            </a:r>
            <a:r>
              <a:rPr lang="en-US" sz="2000" dirty="0">
                <a:solidFill>
                  <a:srgbClr val="000000"/>
                </a:solidFill>
              </a:rPr>
              <a:t> </a:t>
            </a:r>
            <a:r>
              <a:rPr lang="en-US" sz="2000" dirty="0" err="1">
                <a:solidFill>
                  <a:srgbClr val="000000"/>
                </a:solidFill>
              </a:rPr>
              <a:t>fall_season_sales</a:t>
            </a:r>
            <a:r>
              <a:rPr lang="en-US" sz="2000" dirty="0">
                <a:solidFill>
                  <a:srgbClr val="000000"/>
                </a:solidFill>
              </a:rPr>
              <a:t>,</a:t>
            </a:r>
          </a:p>
          <a:p>
            <a:r>
              <a:rPr lang="en-US" sz="2000" dirty="0">
                <a:solidFill>
                  <a:srgbClr val="000000"/>
                </a:solidFill>
              </a:rPr>
              <a:t>    </a:t>
            </a:r>
            <a:r>
              <a:rPr lang="en-US" sz="2000" dirty="0">
                <a:solidFill>
                  <a:srgbClr val="000080"/>
                </a:solidFill>
              </a:rPr>
              <a:t>AVG</a:t>
            </a:r>
            <a:r>
              <a:rPr lang="en-US" sz="2000" dirty="0">
                <a:solidFill>
                  <a:srgbClr val="000000"/>
                </a:solidFill>
              </a:rPr>
              <a:t>(sales) </a:t>
            </a:r>
            <a:r>
              <a:rPr lang="en-US" sz="2000" dirty="0"/>
              <a:t>FILTER</a:t>
            </a:r>
            <a:r>
              <a:rPr lang="en-US" sz="2000" dirty="0">
                <a:solidFill>
                  <a:srgbClr val="000000"/>
                </a:solidFill>
              </a:rPr>
              <a:t> (</a:t>
            </a:r>
            <a:r>
              <a:rPr lang="en-US" sz="2000" dirty="0"/>
              <a:t>WHERE</a:t>
            </a:r>
            <a:r>
              <a:rPr lang="en-US" sz="2000" dirty="0">
                <a:solidFill>
                  <a:srgbClr val="000000"/>
                </a:solidFill>
              </a:rPr>
              <a:t> </a:t>
            </a:r>
            <a:r>
              <a:rPr lang="en-US" sz="2000" dirty="0"/>
              <a:t>month</a:t>
            </a:r>
            <a:r>
              <a:rPr lang="en-US" sz="2000" dirty="0">
                <a:solidFill>
                  <a:srgbClr val="000000"/>
                </a:solidFill>
              </a:rPr>
              <a:t> = </a:t>
            </a:r>
            <a:r>
              <a:rPr lang="en-US" sz="2000" dirty="0">
                <a:solidFill>
                  <a:srgbClr val="008000"/>
                </a:solidFill>
              </a:rPr>
              <a:t>'Oct'</a:t>
            </a:r>
            <a:r>
              <a:rPr lang="en-US" sz="2000" dirty="0">
                <a:solidFill>
                  <a:srgbClr val="000000"/>
                </a:solidFill>
              </a:rPr>
              <a:t>) </a:t>
            </a:r>
            <a:r>
              <a:rPr lang="en-US" sz="2000" dirty="0"/>
              <a:t>AS</a:t>
            </a:r>
            <a:r>
              <a:rPr lang="en-US" sz="2000" dirty="0">
                <a:solidFill>
                  <a:srgbClr val="000000"/>
                </a:solidFill>
              </a:rPr>
              <a:t> </a:t>
            </a:r>
            <a:r>
              <a:rPr lang="en-US" sz="2000" dirty="0" err="1">
                <a:solidFill>
                  <a:srgbClr val="000000"/>
                </a:solidFill>
              </a:rPr>
              <a:t>avg_oct_sales</a:t>
            </a:r>
            <a:r>
              <a:rPr lang="en-US" sz="2000" dirty="0">
                <a:solidFill>
                  <a:srgbClr val="000000"/>
                </a:solidFill>
              </a:rPr>
              <a:t>,</a:t>
            </a:r>
          </a:p>
          <a:p>
            <a:r>
              <a:rPr lang="en-US" sz="2000" dirty="0">
                <a:solidFill>
                  <a:srgbClr val="000000"/>
                </a:solidFill>
              </a:rPr>
              <a:t>    </a:t>
            </a:r>
            <a:r>
              <a:rPr lang="en-US" sz="2000" dirty="0">
                <a:solidFill>
                  <a:srgbClr val="000080"/>
                </a:solidFill>
              </a:rPr>
              <a:t>COUNT</a:t>
            </a:r>
            <a:r>
              <a:rPr lang="en-US" sz="2000" dirty="0">
                <a:solidFill>
                  <a:srgbClr val="000000"/>
                </a:solidFill>
              </a:rPr>
              <a:t>(*) </a:t>
            </a:r>
            <a:r>
              <a:rPr lang="en-US" sz="2000" dirty="0"/>
              <a:t>FILTER</a:t>
            </a:r>
            <a:r>
              <a:rPr lang="en-US" sz="2000" dirty="0">
                <a:solidFill>
                  <a:srgbClr val="000000"/>
                </a:solidFill>
              </a:rPr>
              <a:t> (</a:t>
            </a:r>
            <a:r>
              <a:rPr lang="en-US" sz="2000" dirty="0"/>
              <a:t>WHERE</a:t>
            </a:r>
            <a:r>
              <a:rPr lang="en-US" sz="2000" dirty="0">
                <a:solidFill>
                  <a:srgbClr val="000000"/>
                </a:solidFill>
              </a:rPr>
              <a:t> sales &gt; </a:t>
            </a:r>
            <a:r>
              <a:rPr lang="en-US" sz="2000" dirty="0">
                <a:solidFill>
                  <a:srgbClr val="0000FF"/>
                </a:solidFill>
              </a:rPr>
              <a:t>200</a:t>
            </a:r>
            <a:r>
              <a:rPr lang="en-US" sz="2000" dirty="0">
                <a:solidFill>
                  <a:srgbClr val="000000"/>
                </a:solidFill>
              </a:rPr>
              <a:t>) </a:t>
            </a:r>
            <a:r>
              <a:rPr lang="en-US" sz="2000" dirty="0"/>
              <a:t>AS</a:t>
            </a:r>
            <a:r>
              <a:rPr lang="en-US" sz="2000" dirty="0">
                <a:solidFill>
                  <a:srgbClr val="000000"/>
                </a:solidFill>
              </a:rPr>
              <a:t> </a:t>
            </a:r>
            <a:r>
              <a:rPr lang="en-US" sz="2000" dirty="0" err="1">
                <a:solidFill>
                  <a:srgbClr val="000000"/>
                </a:solidFill>
              </a:rPr>
              <a:t>high_sales_count</a:t>
            </a:r>
            <a:endParaRPr lang="en-US" sz="2000" dirty="0">
              <a:solidFill>
                <a:srgbClr val="000000"/>
              </a:solidFill>
            </a:endParaRPr>
          </a:p>
          <a:p>
            <a:r>
              <a:rPr lang="en-US" sz="2000" dirty="0"/>
              <a:t>FROM</a:t>
            </a:r>
            <a:r>
              <a:rPr lang="en-US" sz="2000" dirty="0">
                <a:solidFill>
                  <a:srgbClr val="000000"/>
                </a:solidFill>
              </a:rPr>
              <a:t> </a:t>
            </a:r>
            <a:r>
              <a:rPr lang="en-US" sz="2000" dirty="0" err="1">
                <a:solidFill>
                  <a:srgbClr val="000000"/>
                </a:solidFill>
              </a:rPr>
              <a:t>pivotsales</a:t>
            </a:r>
            <a:endParaRPr lang="en-US" sz="2000" dirty="0">
              <a:solidFill>
                <a:srgbClr val="000000"/>
              </a:solidFill>
            </a:endParaRPr>
          </a:p>
          <a:p>
            <a:r>
              <a:rPr lang="en-US" sz="2000" dirty="0"/>
              <a:t>GROUP</a:t>
            </a:r>
            <a:r>
              <a:rPr lang="en-US" sz="2000" dirty="0">
                <a:solidFill>
                  <a:srgbClr val="000000"/>
                </a:solidFill>
              </a:rPr>
              <a:t> </a:t>
            </a:r>
            <a:r>
              <a:rPr lang="en-US" sz="2000" dirty="0"/>
              <a:t>BY</a:t>
            </a:r>
            <a:r>
              <a:rPr lang="en-US" sz="2000" dirty="0">
                <a:solidFill>
                  <a:srgbClr val="000000"/>
                </a:solidFill>
              </a:rPr>
              <a:t> reseller</a:t>
            </a:r>
          </a:p>
          <a:p>
            <a:r>
              <a:rPr lang="en-US" sz="2000" dirty="0"/>
              <a:t>ORDER</a:t>
            </a:r>
            <a:r>
              <a:rPr lang="en-US" sz="2000" dirty="0">
                <a:solidFill>
                  <a:srgbClr val="000000"/>
                </a:solidFill>
              </a:rPr>
              <a:t> </a:t>
            </a:r>
            <a:r>
              <a:rPr lang="en-US" sz="2000" dirty="0"/>
              <a:t>BY</a:t>
            </a:r>
            <a:r>
              <a:rPr lang="en-US" sz="2000" dirty="0">
                <a:solidFill>
                  <a:srgbClr val="000000"/>
                </a:solidFill>
              </a:rPr>
              <a:t> </a:t>
            </a:r>
            <a:r>
              <a:rPr lang="en-US" sz="2000" dirty="0" err="1">
                <a:solidFill>
                  <a:srgbClr val="000000"/>
                </a:solidFill>
              </a:rPr>
              <a:t>total_sales</a:t>
            </a:r>
            <a:r>
              <a:rPr lang="en-US" sz="2000" dirty="0">
                <a:solidFill>
                  <a:srgbClr val="000000"/>
                </a:solidFill>
              </a:rPr>
              <a:t> </a:t>
            </a:r>
            <a:r>
              <a:rPr lang="en-US" sz="2000" dirty="0"/>
              <a:t>DESC</a:t>
            </a:r>
            <a:r>
              <a:rPr lang="en-US" sz="2000" dirty="0">
                <a:solidFill>
                  <a:srgbClr val="FF0000"/>
                </a:solidFill>
              </a:rPr>
              <a:t>;</a:t>
            </a:r>
          </a:p>
        </p:txBody>
      </p:sp>
      <p:sp>
        <p:nvSpPr>
          <p:cNvPr id="11" name="TextBox 10">
            <a:extLst>
              <a:ext uri="{FF2B5EF4-FFF2-40B4-BE49-F238E27FC236}">
                <a16:creationId xmlns:a16="http://schemas.microsoft.com/office/drawing/2014/main" id="{471D6780-9B3F-CC76-0A75-F4769D787D7A}"/>
              </a:ext>
            </a:extLst>
          </p:cNvPr>
          <p:cNvSpPr txBox="1">
            <a:spLocks noChangeArrowheads="1"/>
          </p:cNvSpPr>
          <p:nvPr/>
        </p:nvSpPr>
        <p:spPr bwMode="auto">
          <a:xfrm>
            <a:off x="76200" y="6430064"/>
            <a:ext cx="1003608"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Pivoting</a:t>
            </a:r>
          </a:p>
        </p:txBody>
      </p:sp>
      <p:graphicFrame>
        <p:nvGraphicFramePr>
          <p:cNvPr id="5" name="Content Placeholder 3">
            <a:extLst>
              <a:ext uri="{FF2B5EF4-FFF2-40B4-BE49-F238E27FC236}">
                <a16:creationId xmlns:a16="http://schemas.microsoft.com/office/drawing/2014/main" id="{EBC0A739-EF35-B409-DB47-43D53D93334F}"/>
              </a:ext>
            </a:extLst>
          </p:cNvPr>
          <p:cNvGraphicFramePr>
            <a:graphicFrameLocks/>
          </p:cNvGraphicFramePr>
          <p:nvPr>
            <p:extLst>
              <p:ext uri="{D42A27DB-BD31-4B8C-83A1-F6EECF244321}">
                <p14:modId xmlns:p14="http://schemas.microsoft.com/office/powerpoint/2010/main" val="1821000095"/>
              </p:ext>
            </p:extLst>
          </p:nvPr>
        </p:nvGraphicFramePr>
        <p:xfrm>
          <a:off x="259557" y="4932318"/>
          <a:ext cx="11672886" cy="1384300"/>
        </p:xfrm>
        <a:graphic>
          <a:graphicData uri="http://schemas.openxmlformats.org/drawingml/2006/table">
            <a:tbl>
              <a:tblPr>
                <a:tableStyleId>{775DCB02-9BB8-47FD-8907-85C794F793BA}</a:tableStyleId>
              </a:tblPr>
              <a:tblGrid>
                <a:gridCol w="1560512">
                  <a:extLst>
                    <a:ext uri="{9D8B030D-6E8A-4147-A177-3AD203B41FA5}">
                      <a16:colId xmlns:a16="http://schemas.microsoft.com/office/drawing/2014/main" val="2361039964"/>
                    </a:ext>
                  </a:extLst>
                </a:gridCol>
                <a:gridCol w="1676400">
                  <a:extLst>
                    <a:ext uri="{9D8B030D-6E8A-4147-A177-3AD203B41FA5}">
                      <a16:colId xmlns:a16="http://schemas.microsoft.com/office/drawing/2014/main" val="707400054"/>
                    </a:ext>
                  </a:extLst>
                </a:gridCol>
                <a:gridCol w="1905000">
                  <a:extLst>
                    <a:ext uri="{9D8B030D-6E8A-4147-A177-3AD203B41FA5}">
                      <a16:colId xmlns:a16="http://schemas.microsoft.com/office/drawing/2014/main" val="938594637"/>
                    </a:ext>
                  </a:extLst>
                </a:gridCol>
                <a:gridCol w="2133600">
                  <a:extLst>
                    <a:ext uri="{9D8B030D-6E8A-4147-A177-3AD203B41FA5}">
                      <a16:colId xmlns:a16="http://schemas.microsoft.com/office/drawing/2014/main" val="771642125"/>
                    </a:ext>
                  </a:extLst>
                </a:gridCol>
                <a:gridCol w="1905000">
                  <a:extLst>
                    <a:ext uri="{9D8B030D-6E8A-4147-A177-3AD203B41FA5}">
                      <a16:colId xmlns:a16="http://schemas.microsoft.com/office/drawing/2014/main" val="958092900"/>
                    </a:ext>
                  </a:extLst>
                </a:gridCol>
                <a:gridCol w="2492374">
                  <a:extLst>
                    <a:ext uri="{9D8B030D-6E8A-4147-A177-3AD203B41FA5}">
                      <a16:colId xmlns:a16="http://schemas.microsoft.com/office/drawing/2014/main" val="701017651"/>
                    </a:ext>
                  </a:extLst>
                </a:gridCol>
              </a:tblGrid>
              <a:tr h="0">
                <a:tc>
                  <a:txBody>
                    <a:bodyPr/>
                    <a:lstStyle/>
                    <a:p>
                      <a:pPr algn="ctr"/>
                      <a:r>
                        <a:rPr lang="en-US" sz="1400" b="1" dirty="0">
                          <a:solidFill>
                            <a:srgbClr val="404040"/>
                          </a:solidFill>
                          <a:effectLst/>
                        </a:rPr>
                        <a:t>reseller</a:t>
                      </a:r>
                    </a:p>
                  </a:txBody>
                  <a:tcPr marR="31750" marT="31750" marB="31750" anchor="ctr"/>
                </a:tc>
                <a:tc>
                  <a:txBody>
                    <a:bodyPr/>
                    <a:lstStyle/>
                    <a:p>
                      <a:pPr algn="ctr"/>
                      <a:r>
                        <a:rPr lang="en-US" sz="1400" b="1">
                          <a:solidFill>
                            <a:srgbClr val="404040"/>
                          </a:solidFill>
                          <a:effectLst/>
                        </a:rPr>
                        <a:t>total_sales</a:t>
                      </a:r>
                    </a:p>
                  </a:txBody>
                  <a:tcPr marL="31750" marR="31750" marT="31750" marB="31750" anchor="ctr"/>
                </a:tc>
                <a:tc>
                  <a:txBody>
                    <a:bodyPr/>
                    <a:lstStyle/>
                    <a:p>
                      <a:pPr algn="ctr"/>
                      <a:r>
                        <a:rPr lang="en-US" sz="1400" b="1">
                          <a:solidFill>
                            <a:srgbClr val="404040"/>
                          </a:solidFill>
                          <a:effectLst/>
                        </a:rPr>
                        <a:t>cherries_sales</a:t>
                      </a:r>
                    </a:p>
                  </a:txBody>
                  <a:tcPr marL="31750" marR="31750" marT="31750" marB="31750" anchor="ctr"/>
                </a:tc>
                <a:tc>
                  <a:txBody>
                    <a:bodyPr/>
                    <a:lstStyle/>
                    <a:p>
                      <a:pPr algn="ctr"/>
                      <a:r>
                        <a:rPr lang="en-US" sz="1400" b="1">
                          <a:solidFill>
                            <a:srgbClr val="404040"/>
                          </a:solidFill>
                          <a:effectLst/>
                        </a:rPr>
                        <a:t>fall_season_sales</a:t>
                      </a:r>
                    </a:p>
                  </a:txBody>
                  <a:tcPr marL="31750" marR="31750" marT="31750" marB="31750" anchor="ctr"/>
                </a:tc>
                <a:tc>
                  <a:txBody>
                    <a:bodyPr/>
                    <a:lstStyle/>
                    <a:p>
                      <a:pPr algn="ctr"/>
                      <a:r>
                        <a:rPr lang="en-US" sz="1400" b="1">
                          <a:solidFill>
                            <a:srgbClr val="404040"/>
                          </a:solidFill>
                          <a:effectLst/>
                        </a:rPr>
                        <a:t>avg_oct_sales</a:t>
                      </a:r>
                    </a:p>
                  </a:txBody>
                  <a:tcPr marL="31750" marR="31750" marT="31750" marB="31750" anchor="ctr"/>
                </a:tc>
                <a:tc>
                  <a:txBody>
                    <a:bodyPr/>
                    <a:lstStyle/>
                    <a:p>
                      <a:pPr algn="ctr"/>
                      <a:r>
                        <a:rPr lang="en-US" sz="1400" b="1" dirty="0" err="1">
                          <a:solidFill>
                            <a:srgbClr val="404040"/>
                          </a:solidFill>
                          <a:effectLst/>
                        </a:rPr>
                        <a:t>high_sales_count</a:t>
                      </a:r>
                      <a:endParaRPr lang="en-US" sz="1400" b="1" dirty="0">
                        <a:solidFill>
                          <a:srgbClr val="404040"/>
                        </a:solidFill>
                        <a:effectLst/>
                      </a:endParaRPr>
                    </a:p>
                  </a:txBody>
                  <a:tcPr marL="31750" marR="31750" marT="31750" marB="31750" anchor="ctr"/>
                </a:tc>
                <a:extLst>
                  <a:ext uri="{0D108BD9-81ED-4DB2-BD59-A6C34878D82A}">
                    <a16:rowId xmlns:a16="http://schemas.microsoft.com/office/drawing/2014/main" val="2170408245"/>
                  </a:ext>
                </a:extLst>
              </a:tr>
              <a:tr h="0">
                <a:tc>
                  <a:txBody>
                    <a:bodyPr/>
                    <a:lstStyle/>
                    <a:p>
                      <a:r>
                        <a:rPr lang="en-US" sz="1400">
                          <a:effectLst/>
                        </a:rPr>
                        <a:t>Mike</a:t>
                      </a:r>
                    </a:p>
                  </a:txBody>
                  <a:tcPr marR="31750" marT="31750" marB="31750" anchor="ctr"/>
                </a:tc>
                <a:tc>
                  <a:txBody>
                    <a:bodyPr/>
                    <a:lstStyle/>
                    <a:p>
                      <a:r>
                        <a:rPr lang="en-US" sz="1400">
                          <a:effectLst/>
                        </a:rPr>
                        <a:t>970</a:t>
                      </a:r>
                    </a:p>
                  </a:txBody>
                  <a:tcPr marL="31750" marR="31750" marT="31750" marB="31750" anchor="ctr"/>
                </a:tc>
                <a:tc>
                  <a:txBody>
                    <a:bodyPr/>
                    <a:lstStyle/>
                    <a:p>
                      <a:r>
                        <a:rPr lang="en-US" sz="1400">
                          <a:effectLst/>
                        </a:rPr>
                        <a:t>250</a:t>
                      </a:r>
                    </a:p>
                  </a:txBody>
                  <a:tcPr marL="31750" marR="31750" marT="31750" marB="31750" anchor="ctr"/>
                </a:tc>
                <a:tc>
                  <a:txBody>
                    <a:bodyPr/>
                    <a:lstStyle/>
                    <a:p>
                      <a:r>
                        <a:rPr lang="en-US" sz="1400" dirty="0">
                          <a:effectLst/>
                        </a:rPr>
                        <a:t>970</a:t>
                      </a:r>
                    </a:p>
                  </a:txBody>
                  <a:tcPr marL="31750" marR="31750" marT="31750" marB="31750" anchor="ctr"/>
                </a:tc>
                <a:tc>
                  <a:txBody>
                    <a:bodyPr/>
                    <a:lstStyle/>
                    <a:p>
                      <a:r>
                        <a:rPr lang="en-US" sz="1400" dirty="0">
                          <a:effectLst/>
                        </a:rPr>
                        <a:t>160</a:t>
                      </a:r>
                    </a:p>
                  </a:txBody>
                  <a:tcPr marL="31750" marR="31750" marT="31750" marB="31750" anchor="ctr"/>
                </a:tc>
                <a:tc>
                  <a:txBody>
                    <a:bodyPr/>
                    <a:lstStyle/>
                    <a:p>
                      <a:r>
                        <a:rPr lang="en-US" sz="1400" dirty="0">
                          <a:effectLst/>
                        </a:rPr>
                        <a:t>2</a:t>
                      </a:r>
                    </a:p>
                  </a:txBody>
                  <a:tcPr marL="31750" marR="31750" marT="31750" marB="31750" anchor="ctr"/>
                </a:tc>
                <a:extLst>
                  <a:ext uri="{0D108BD9-81ED-4DB2-BD59-A6C34878D82A}">
                    <a16:rowId xmlns:a16="http://schemas.microsoft.com/office/drawing/2014/main" val="2656236732"/>
                  </a:ext>
                </a:extLst>
              </a:tr>
              <a:tr h="0">
                <a:tc>
                  <a:txBody>
                    <a:bodyPr/>
                    <a:lstStyle/>
                    <a:p>
                      <a:r>
                        <a:rPr lang="en-US" sz="1400">
                          <a:effectLst/>
                        </a:rPr>
                        <a:t>Sally</a:t>
                      </a:r>
                    </a:p>
                  </a:txBody>
                  <a:tcPr marR="31750" marT="31750" marB="31750" anchor="ctr"/>
                </a:tc>
                <a:tc>
                  <a:txBody>
                    <a:bodyPr/>
                    <a:lstStyle/>
                    <a:p>
                      <a:r>
                        <a:rPr lang="en-US" sz="1400" dirty="0">
                          <a:effectLst/>
                        </a:rPr>
                        <a:t>580</a:t>
                      </a:r>
                    </a:p>
                  </a:txBody>
                  <a:tcPr marL="31750" marR="31750" marT="31750" marB="31750" anchor="ctr"/>
                </a:tc>
                <a:tc>
                  <a:txBody>
                    <a:bodyPr/>
                    <a:lstStyle/>
                    <a:p>
                      <a:r>
                        <a:rPr lang="en-US" sz="1400">
                          <a:effectLst/>
                        </a:rPr>
                        <a:t>330</a:t>
                      </a:r>
                    </a:p>
                  </a:txBody>
                  <a:tcPr marL="31750" marR="31750" marT="31750" marB="31750" anchor="ctr"/>
                </a:tc>
                <a:tc>
                  <a:txBody>
                    <a:bodyPr/>
                    <a:lstStyle/>
                    <a:p>
                      <a:r>
                        <a:rPr lang="en-US" sz="1400">
                          <a:effectLst/>
                        </a:rPr>
                        <a:t>580</a:t>
                      </a:r>
                    </a:p>
                  </a:txBody>
                  <a:tcPr marL="31750" marR="31750" marT="31750" marB="31750" anchor="ctr"/>
                </a:tc>
                <a:tc>
                  <a:txBody>
                    <a:bodyPr/>
                    <a:lstStyle/>
                    <a:p>
                      <a:r>
                        <a:rPr lang="en-US" sz="1400" dirty="0">
                          <a:effectLst/>
                        </a:rPr>
                        <a:t>250</a:t>
                      </a:r>
                    </a:p>
                  </a:txBody>
                  <a:tcPr marL="31750" marR="31750" marT="31750" marB="31750" anchor="ctr"/>
                </a:tc>
                <a:tc>
                  <a:txBody>
                    <a:bodyPr/>
                    <a:lstStyle/>
                    <a:p>
                      <a:r>
                        <a:rPr lang="en-US" sz="1400">
                          <a:effectLst/>
                        </a:rPr>
                        <a:t>2</a:t>
                      </a:r>
                    </a:p>
                  </a:txBody>
                  <a:tcPr marL="31750" marR="31750" marT="31750" marB="31750" anchor="ctr"/>
                </a:tc>
                <a:extLst>
                  <a:ext uri="{0D108BD9-81ED-4DB2-BD59-A6C34878D82A}">
                    <a16:rowId xmlns:a16="http://schemas.microsoft.com/office/drawing/2014/main" val="2981493215"/>
                  </a:ext>
                </a:extLst>
              </a:tr>
              <a:tr h="0">
                <a:tc>
                  <a:txBody>
                    <a:bodyPr/>
                    <a:lstStyle/>
                    <a:p>
                      <a:r>
                        <a:rPr lang="en-US" sz="1400">
                          <a:effectLst/>
                        </a:rPr>
                        <a:t>Pete</a:t>
                      </a:r>
                    </a:p>
                  </a:txBody>
                  <a:tcPr marR="31750" marT="31750" marB="31750" anchor="ctr"/>
                </a:tc>
                <a:tc>
                  <a:txBody>
                    <a:bodyPr/>
                    <a:lstStyle/>
                    <a:p>
                      <a:r>
                        <a:rPr lang="en-US" sz="1400">
                          <a:effectLst/>
                        </a:rPr>
                        <a:t>290</a:t>
                      </a:r>
                    </a:p>
                  </a:txBody>
                  <a:tcPr marL="31750" marR="31750" marT="31750" marB="31750" anchor="ctr"/>
                </a:tc>
                <a:tc>
                  <a:txBody>
                    <a:bodyPr/>
                    <a:lstStyle/>
                    <a:p>
                      <a:r>
                        <a:rPr lang="en-US" sz="1400">
                          <a:effectLst/>
                        </a:rPr>
                        <a:t>0</a:t>
                      </a:r>
                    </a:p>
                  </a:txBody>
                  <a:tcPr marL="31750" marR="31750" marT="31750" marB="31750" anchor="ctr"/>
                </a:tc>
                <a:tc>
                  <a:txBody>
                    <a:bodyPr/>
                    <a:lstStyle/>
                    <a:p>
                      <a:r>
                        <a:rPr lang="en-US" sz="1400">
                          <a:effectLst/>
                        </a:rPr>
                        <a:t>290</a:t>
                      </a:r>
                    </a:p>
                  </a:txBody>
                  <a:tcPr marL="31750" marR="31750" marT="31750" marB="31750" anchor="ctr"/>
                </a:tc>
                <a:tc>
                  <a:txBody>
                    <a:bodyPr/>
                    <a:lstStyle/>
                    <a:p>
                      <a:r>
                        <a:rPr lang="en-US" sz="1400" dirty="0">
                          <a:effectLst/>
                        </a:rPr>
                        <a:t>145</a:t>
                      </a:r>
                    </a:p>
                  </a:txBody>
                  <a:tcPr marL="31750" marR="31750" marT="31750" marB="31750" anchor="ctr"/>
                </a:tc>
                <a:tc>
                  <a:txBody>
                    <a:bodyPr/>
                    <a:lstStyle/>
                    <a:p>
                      <a:r>
                        <a:rPr lang="en-US" sz="1400">
                          <a:effectLst/>
                        </a:rPr>
                        <a:t>0</a:t>
                      </a:r>
                    </a:p>
                  </a:txBody>
                  <a:tcPr marL="31750" marR="31750" marT="31750" marB="31750" anchor="ctr"/>
                </a:tc>
                <a:extLst>
                  <a:ext uri="{0D108BD9-81ED-4DB2-BD59-A6C34878D82A}">
                    <a16:rowId xmlns:a16="http://schemas.microsoft.com/office/drawing/2014/main" val="3113936799"/>
                  </a:ext>
                </a:extLst>
              </a:tr>
              <a:tr h="0">
                <a:tc>
                  <a:txBody>
                    <a:bodyPr/>
                    <a:lstStyle/>
                    <a:p>
                      <a:r>
                        <a:rPr lang="en-US" sz="1400" dirty="0">
                          <a:effectLst/>
                        </a:rPr>
                        <a:t>John</a:t>
                      </a:r>
                    </a:p>
                  </a:txBody>
                  <a:tcPr marR="31750" marT="31750" marB="31750" anchor="ctr"/>
                </a:tc>
                <a:tc>
                  <a:txBody>
                    <a:bodyPr/>
                    <a:lstStyle/>
                    <a:p>
                      <a:r>
                        <a:rPr lang="en-US" sz="1400" dirty="0">
                          <a:effectLst/>
                        </a:rPr>
                        <a:t>250</a:t>
                      </a:r>
                    </a:p>
                  </a:txBody>
                  <a:tcPr marL="31750" marR="31750" marT="31750" marB="31750" anchor="ctr"/>
                </a:tc>
                <a:tc>
                  <a:txBody>
                    <a:bodyPr/>
                    <a:lstStyle/>
                    <a:p>
                      <a:r>
                        <a:rPr lang="en-US" sz="1400">
                          <a:effectLst/>
                        </a:rPr>
                        <a:t>250</a:t>
                      </a:r>
                    </a:p>
                  </a:txBody>
                  <a:tcPr marL="31750" marR="31750" marT="31750" marB="31750" anchor="ctr"/>
                </a:tc>
                <a:tc>
                  <a:txBody>
                    <a:bodyPr/>
                    <a:lstStyle/>
                    <a:p>
                      <a:r>
                        <a:rPr lang="en-US" sz="1400">
                          <a:effectLst/>
                        </a:rPr>
                        <a:t>250</a:t>
                      </a:r>
                    </a:p>
                  </a:txBody>
                  <a:tcPr marL="31750" marR="31750" marT="31750" marB="31750" anchor="ctr"/>
                </a:tc>
                <a:tc>
                  <a:txBody>
                    <a:bodyPr/>
                    <a:lstStyle/>
                    <a:p>
                      <a:r>
                        <a:rPr lang="en-US" sz="1400">
                          <a:effectLst/>
                        </a:rPr>
                        <a:t>NULL</a:t>
                      </a:r>
                    </a:p>
                  </a:txBody>
                  <a:tcPr marL="31750" marR="31750" marT="31750" marB="31750" anchor="ctr"/>
                </a:tc>
                <a:tc>
                  <a:txBody>
                    <a:bodyPr/>
                    <a:lstStyle/>
                    <a:p>
                      <a:r>
                        <a:rPr lang="en-US" sz="1400" dirty="0">
                          <a:effectLst/>
                        </a:rPr>
                        <a:t>1</a:t>
                      </a:r>
                    </a:p>
                  </a:txBody>
                  <a:tcPr marL="31750" marR="31750" marT="31750" marB="31750" anchor="ctr"/>
                </a:tc>
                <a:extLst>
                  <a:ext uri="{0D108BD9-81ED-4DB2-BD59-A6C34878D82A}">
                    <a16:rowId xmlns:a16="http://schemas.microsoft.com/office/drawing/2014/main" val="1382851239"/>
                  </a:ext>
                </a:extLst>
              </a:tr>
            </a:tbl>
          </a:graphicData>
        </a:graphic>
      </p:graphicFrame>
    </p:spTree>
    <p:extLst>
      <p:ext uri="{BB962C8B-B14F-4D97-AF65-F5344CB8AC3E}">
        <p14:creationId xmlns:p14="http://schemas.microsoft.com/office/powerpoint/2010/main" val="2694073322"/>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DFD83-4889-080A-C7E3-34646A0C94CE}"/>
              </a:ext>
            </a:extLst>
          </p:cNvPr>
          <p:cNvSpPr>
            <a:spLocks noGrp="1"/>
          </p:cNvSpPr>
          <p:nvPr>
            <p:ph type="title"/>
          </p:nvPr>
        </p:nvSpPr>
        <p:spPr/>
        <p:txBody>
          <a:bodyPr/>
          <a:lstStyle/>
          <a:p>
            <a:r>
              <a:rPr lang="en-US" dirty="0"/>
              <a:t>DBMS with FILTER Support</a:t>
            </a:r>
          </a:p>
        </p:txBody>
      </p:sp>
      <p:sp>
        <p:nvSpPr>
          <p:cNvPr id="3" name="Content Placeholder 2">
            <a:extLst>
              <a:ext uri="{FF2B5EF4-FFF2-40B4-BE49-F238E27FC236}">
                <a16:creationId xmlns:a16="http://schemas.microsoft.com/office/drawing/2014/main" id="{920CEDBF-AEC6-DD68-E0CA-E495CF58D239}"/>
              </a:ext>
            </a:extLst>
          </p:cNvPr>
          <p:cNvSpPr>
            <a:spLocks noGrp="1"/>
          </p:cNvSpPr>
          <p:nvPr>
            <p:ph idx="1"/>
          </p:nvPr>
        </p:nvSpPr>
        <p:spPr>
          <a:xfrm>
            <a:off x="198226" y="931863"/>
            <a:ext cx="11813228" cy="1506537"/>
          </a:xfrm>
        </p:spPr>
        <p:txBody>
          <a:bodyPr/>
          <a:lstStyle/>
          <a:p>
            <a:pPr marL="0" indent="0">
              <a:buNone/>
            </a:pPr>
            <a:r>
              <a:rPr lang="en-US" dirty="0"/>
              <a:t>✅ Supports FILTER:</a:t>
            </a:r>
          </a:p>
          <a:p>
            <a:pPr marL="0" indent="0">
              <a:buNone/>
            </a:pPr>
            <a:r>
              <a:rPr lang="en-US" dirty="0"/>
              <a:t>PostgreSQL, SQLite, MariaDB, IBM DB2, </a:t>
            </a:r>
            <a:r>
              <a:rPr lang="en-US" dirty="0" err="1"/>
              <a:t>DuckDB</a:t>
            </a:r>
            <a:r>
              <a:rPr lang="en-US" dirty="0"/>
              <a:t>, Trino, Presto, Amazon Redshift, </a:t>
            </a:r>
            <a:r>
              <a:rPr lang="en-US" dirty="0" err="1"/>
              <a:t>CockroachDB</a:t>
            </a:r>
            <a:r>
              <a:rPr lang="en-US" dirty="0"/>
              <a:t>, </a:t>
            </a:r>
            <a:r>
              <a:rPr lang="en-US" dirty="0" err="1"/>
              <a:t>etc</a:t>
            </a:r>
            <a:endParaRPr lang="en-US" dirty="0"/>
          </a:p>
          <a:p>
            <a:pPr marL="0" indent="0">
              <a:buNone/>
            </a:pPr>
            <a:endParaRPr lang="en-US" dirty="0"/>
          </a:p>
        </p:txBody>
      </p:sp>
      <p:sp>
        <p:nvSpPr>
          <p:cNvPr id="16" name="Rectangle 11">
            <a:extLst>
              <a:ext uri="{FF2B5EF4-FFF2-40B4-BE49-F238E27FC236}">
                <a16:creationId xmlns:a16="http://schemas.microsoft.com/office/drawing/2014/main" id="{1B1A8C01-94AB-1712-DBFF-11EED43D8C0B}"/>
              </a:ext>
            </a:extLst>
          </p:cNvPr>
          <p:cNvSpPr>
            <a:spLocks noChangeArrowheads="1"/>
          </p:cNvSpPr>
          <p:nvPr/>
        </p:nvSpPr>
        <p:spPr bwMode="auto">
          <a:xfrm>
            <a:off x="198226" y="3048000"/>
            <a:ext cx="111252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2400" dirty="0"/>
              <a:t>❌ </a:t>
            </a:r>
            <a:r>
              <a:rPr kumimoji="0" lang="en-US" altLang="en-US" sz="240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Does NOT support FILTER:</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MySQL, </a:t>
            </a:r>
            <a:r>
              <a:rPr lang="en-US" altLang="en-US" sz="2400" dirty="0">
                <a:latin typeface="Verdana" panose="020B0604030504040204" pitchFamily="34" charset="0"/>
                <a:ea typeface="Verdana" panose="020B0604030504040204" pitchFamily="34" charset="0"/>
              </a:rPr>
              <a:t> </a:t>
            </a:r>
            <a:r>
              <a:rPr kumimoji="0" lang="en-US" altLang="en-US" sz="24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Oracle, SQL Server, </a:t>
            </a:r>
            <a:r>
              <a:rPr kumimoji="0" lang="en-US" altLang="en-US" sz="2400" b="0" i="0" u="none" strike="noStrike" cap="none" normalizeH="0" baseline="0" dirty="0" err="1">
                <a:ln>
                  <a:noFill/>
                </a:ln>
                <a:solidFill>
                  <a:schemeClr val="tx1"/>
                </a:solidFill>
                <a:effectLst/>
                <a:latin typeface="Verdana" panose="020B0604030504040204" pitchFamily="34" charset="0"/>
                <a:ea typeface="Verdana" panose="020B0604030504040204" pitchFamily="34" charset="0"/>
              </a:rPr>
              <a:t>etc</a:t>
            </a:r>
            <a:endParaRPr kumimoji="0" lang="en-US" altLang="en-US" sz="2400" b="0"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545835680"/>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46A6F-05CB-E554-35D7-C4B5845CC45E}"/>
              </a:ext>
            </a:extLst>
          </p:cNvPr>
          <p:cNvSpPr>
            <a:spLocks noGrp="1"/>
          </p:cNvSpPr>
          <p:nvPr>
            <p:ph type="title"/>
          </p:nvPr>
        </p:nvSpPr>
        <p:spPr/>
        <p:txBody>
          <a:bodyPr/>
          <a:lstStyle/>
          <a:p>
            <a:r>
              <a:rPr lang="en-US" dirty="0"/>
              <a:t>Pivoting in SQL: Case</a:t>
            </a:r>
          </a:p>
        </p:txBody>
      </p:sp>
      <p:sp>
        <p:nvSpPr>
          <p:cNvPr id="5" name="TextBox 4">
            <a:extLst>
              <a:ext uri="{FF2B5EF4-FFF2-40B4-BE49-F238E27FC236}">
                <a16:creationId xmlns:a16="http://schemas.microsoft.com/office/drawing/2014/main" id="{8C3E3934-0ABA-A334-CAD3-666D2AF78C17}"/>
              </a:ext>
            </a:extLst>
          </p:cNvPr>
          <p:cNvSpPr txBox="1"/>
          <p:nvPr/>
        </p:nvSpPr>
        <p:spPr>
          <a:xfrm>
            <a:off x="76200" y="981011"/>
            <a:ext cx="11909852" cy="2677656"/>
          </a:xfrm>
          <a:prstGeom prst="rect">
            <a:avLst/>
          </a:prstGeom>
          <a:solidFill>
            <a:schemeClr val="bg1"/>
          </a:solidFill>
          <a:ln>
            <a:solidFill>
              <a:schemeClr val="bg1">
                <a:lumMod val="50000"/>
              </a:schemeClr>
            </a:solidFill>
          </a:ln>
          <a:effectLst>
            <a:outerShdw blurRad="127000" dist="88900" dir="2700000" algn="tl" rotWithShape="0">
              <a:prstClr val="black">
                <a:alpha val="40000"/>
              </a:prstClr>
            </a:outerShdw>
          </a:effectLst>
        </p:spPr>
        <p:txBody>
          <a:bodyPr wrap="square">
            <a:spAutoFit/>
          </a:bodyPr>
          <a:lstStyle>
            <a:defPPr>
              <a:defRPr lang="en-US"/>
            </a:defPPr>
            <a:lvl1pPr>
              <a:defRPr>
                <a:solidFill>
                  <a:srgbClr val="800000"/>
                </a:solidFill>
                <a:latin typeface="Consolas" panose="020B0609020204030204" pitchFamily="49" charset="0"/>
              </a:defRPr>
            </a:lvl1pPr>
          </a:lstStyle>
          <a:p>
            <a:pPr algn="l"/>
            <a:r>
              <a:rPr lang="en-US" sz="2100" dirty="0">
                <a:solidFill>
                  <a:srgbClr val="800000"/>
                </a:solidFill>
                <a:latin typeface="Consolas" panose="020B0609020204030204" pitchFamily="49" charset="0"/>
              </a:rPr>
              <a:t>SELECT</a:t>
            </a:r>
            <a:r>
              <a:rPr lang="en-US" sz="2100" dirty="0">
                <a:solidFill>
                  <a:srgbClr val="000000"/>
                </a:solidFill>
                <a:latin typeface="Consolas" panose="020B0609020204030204" pitchFamily="49" charset="0"/>
              </a:rPr>
              <a:t> reseller,</a:t>
            </a:r>
          </a:p>
          <a:p>
            <a:pPr algn="l"/>
            <a:r>
              <a:rPr lang="en-US" sz="2100" dirty="0">
                <a:solidFill>
                  <a:srgbClr val="000000"/>
                </a:solidFill>
                <a:latin typeface="Consolas" panose="020B0609020204030204" pitchFamily="49" charset="0"/>
              </a:rPr>
              <a:t>    </a:t>
            </a:r>
            <a:r>
              <a:rPr lang="en-US" sz="2100" dirty="0">
                <a:solidFill>
                  <a:srgbClr val="000080"/>
                </a:solidFill>
                <a:latin typeface="Consolas" panose="020B0609020204030204" pitchFamily="49" charset="0"/>
              </a:rPr>
              <a:t>SUM</a:t>
            </a:r>
            <a:r>
              <a:rPr lang="en-US" sz="2100" dirty="0">
                <a:solidFill>
                  <a:srgbClr val="000000"/>
                </a:solidFill>
                <a:latin typeface="Consolas" panose="020B0609020204030204" pitchFamily="49" charset="0"/>
              </a:rPr>
              <a:t>(</a:t>
            </a:r>
            <a:r>
              <a:rPr lang="en-US" sz="2100" b="1" dirty="0">
                <a:solidFill>
                  <a:srgbClr val="800000"/>
                </a:solidFill>
                <a:latin typeface="Consolas" panose="020B0609020204030204" pitchFamily="49" charset="0"/>
              </a:rPr>
              <a:t>CASE</a:t>
            </a:r>
            <a:r>
              <a:rPr lang="en-US" sz="2100" b="1" dirty="0">
                <a:solidFill>
                  <a:srgbClr val="000000"/>
                </a:solidFill>
                <a:latin typeface="Consolas" panose="020B0609020204030204" pitchFamily="49" charset="0"/>
              </a:rPr>
              <a:t> </a:t>
            </a:r>
            <a:r>
              <a:rPr lang="en-US" sz="2100" b="1" dirty="0">
                <a:solidFill>
                  <a:srgbClr val="800000"/>
                </a:solidFill>
                <a:latin typeface="Consolas" panose="020B0609020204030204" pitchFamily="49" charset="0"/>
              </a:rPr>
              <a:t>WHEN</a:t>
            </a:r>
            <a:r>
              <a:rPr lang="en-US" sz="2100" b="1" dirty="0">
                <a:solidFill>
                  <a:srgbClr val="000000"/>
                </a:solidFill>
                <a:latin typeface="Consolas" panose="020B0609020204030204" pitchFamily="49" charset="0"/>
              </a:rPr>
              <a:t> </a:t>
            </a:r>
            <a:r>
              <a:rPr lang="en-US" sz="2100" dirty="0">
                <a:solidFill>
                  <a:srgbClr val="000000"/>
                </a:solidFill>
                <a:latin typeface="Consolas" panose="020B0609020204030204" pitchFamily="49" charset="0"/>
              </a:rPr>
              <a:t>product = </a:t>
            </a:r>
            <a:r>
              <a:rPr lang="en-US" sz="2100" dirty="0">
                <a:solidFill>
                  <a:srgbClr val="008000"/>
                </a:solidFill>
                <a:latin typeface="Consolas" panose="020B0609020204030204" pitchFamily="49" charset="0"/>
              </a:rPr>
              <a:t>'Apples'</a:t>
            </a:r>
            <a:r>
              <a:rPr lang="en-US" sz="2100" dirty="0">
                <a:solidFill>
                  <a:srgbClr val="000000"/>
                </a:solidFill>
                <a:latin typeface="Consolas" panose="020B0609020204030204" pitchFamily="49" charset="0"/>
              </a:rPr>
              <a:t> </a:t>
            </a:r>
            <a:r>
              <a:rPr lang="en-US" sz="2100" dirty="0">
                <a:solidFill>
                  <a:srgbClr val="800000"/>
                </a:solidFill>
                <a:latin typeface="Consolas" panose="020B0609020204030204" pitchFamily="49" charset="0"/>
              </a:rPr>
              <a:t>T</a:t>
            </a:r>
            <a:r>
              <a:rPr lang="en-US" sz="2100" b="1" dirty="0">
                <a:solidFill>
                  <a:srgbClr val="800000"/>
                </a:solidFill>
                <a:latin typeface="Consolas" panose="020B0609020204030204" pitchFamily="49" charset="0"/>
              </a:rPr>
              <a:t>HEN</a:t>
            </a:r>
            <a:r>
              <a:rPr lang="en-US" sz="2100" dirty="0">
                <a:solidFill>
                  <a:srgbClr val="000000"/>
                </a:solidFill>
                <a:latin typeface="Consolas" panose="020B0609020204030204" pitchFamily="49" charset="0"/>
              </a:rPr>
              <a:t> sales </a:t>
            </a:r>
            <a:r>
              <a:rPr lang="en-US" sz="2100" dirty="0">
                <a:solidFill>
                  <a:srgbClr val="800000"/>
                </a:solidFill>
                <a:latin typeface="Consolas" panose="020B0609020204030204" pitchFamily="49" charset="0"/>
              </a:rPr>
              <a:t>ELSE</a:t>
            </a:r>
            <a:r>
              <a:rPr lang="en-US" sz="2100" dirty="0">
                <a:solidFill>
                  <a:srgbClr val="000000"/>
                </a:solidFill>
                <a:latin typeface="Consolas" panose="020B0609020204030204" pitchFamily="49" charset="0"/>
              </a:rPr>
              <a:t> </a:t>
            </a:r>
            <a:r>
              <a:rPr lang="en-US" sz="2100" dirty="0">
                <a:solidFill>
                  <a:srgbClr val="0000FF"/>
                </a:solidFill>
                <a:latin typeface="Consolas" panose="020B0609020204030204" pitchFamily="49" charset="0"/>
              </a:rPr>
              <a:t>0</a:t>
            </a:r>
            <a:r>
              <a:rPr lang="en-US" sz="2100" dirty="0">
                <a:solidFill>
                  <a:srgbClr val="000000"/>
                </a:solidFill>
                <a:latin typeface="Consolas" panose="020B0609020204030204" pitchFamily="49" charset="0"/>
              </a:rPr>
              <a:t> </a:t>
            </a:r>
            <a:r>
              <a:rPr lang="en-US" sz="2100" dirty="0">
                <a:solidFill>
                  <a:srgbClr val="800000"/>
                </a:solidFill>
                <a:latin typeface="Consolas" panose="020B0609020204030204" pitchFamily="49" charset="0"/>
              </a:rPr>
              <a:t>END</a:t>
            </a:r>
            <a:r>
              <a:rPr lang="en-US" sz="2100" dirty="0">
                <a:solidFill>
                  <a:srgbClr val="000000"/>
                </a:solidFill>
                <a:latin typeface="Consolas" panose="020B0609020204030204" pitchFamily="49" charset="0"/>
              </a:rPr>
              <a:t>) </a:t>
            </a:r>
            <a:r>
              <a:rPr lang="en-US" sz="2100" dirty="0">
                <a:solidFill>
                  <a:srgbClr val="800000"/>
                </a:solidFill>
                <a:latin typeface="Consolas" panose="020B0609020204030204" pitchFamily="49" charset="0"/>
              </a:rPr>
              <a:t>AS</a:t>
            </a:r>
            <a:r>
              <a:rPr lang="en-US" sz="2100" dirty="0">
                <a:solidFill>
                  <a:srgbClr val="000000"/>
                </a:solidFill>
                <a:latin typeface="Consolas" panose="020B0609020204030204" pitchFamily="49" charset="0"/>
              </a:rPr>
              <a:t> </a:t>
            </a:r>
            <a:r>
              <a:rPr lang="en-US" sz="2100" dirty="0" err="1">
                <a:solidFill>
                  <a:srgbClr val="000000"/>
                </a:solidFill>
                <a:latin typeface="Consolas" panose="020B0609020204030204" pitchFamily="49" charset="0"/>
              </a:rPr>
              <a:t>apples_sales</a:t>
            </a:r>
            <a:r>
              <a:rPr lang="en-US" sz="2100" dirty="0">
                <a:solidFill>
                  <a:srgbClr val="000000"/>
                </a:solidFill>
                <a:latin typeface="Consolas" panose="020B0609020204030204" pitchFamily="49" charset="0"/>
              </a:rPr>
              <a:t>,</a:t>
            </a:r>
          </a:p>
          <a:p>
            <a:pPr algn="l"/>
            <a:r>
              <a:rPr lang="en-US" sz="2100" dirty="0">
                <a:solidFill>
                  <a:srgbClr val="000000"/>
                </a:solidFill>
                <a:latin typeface="Consolas" panose="020B0609020204030204" pitchFamily="49" charset="0"/>
              </a:rPr>
              <a:t>    </a:t>
            </a:r>
            <a:r>
              <a:rPr lang="en-US" sz="2100" dirty="0">
                <a:solidFill>
                  <a:srgbClr val="000080"/>
                </a:solidFill>
                <a:latin typeface="Consolas" panose="020B0609020204030204" pitchFamily="49" charset="0"/>
              </a:rPr>
              <a:t>SUM</a:t>
            </a:r>
            <a:r>
              <a:rPr lang="en-US" sz="2100" dirty="0">
                <a:solidFill>
                  <a:srgbClr val="000000"/>
                </a:solidFill>
                <a:latin typeface="Consolas" panose="020B0609020204030204" pitchFamily="49" charset="0"/>
              </a:rPr>
              <a:t>(</a:t>
            </a:r>
            <a:r>
              <a:rPr lang="en-US" sz="2100" b="1" dirty="0">
                <a:solidFill>
                  <a:srgbClr val="800000"/>
                </a:solidFill>
                <a:latin typeface="Consolas" panose="020B0609020204030204" pitchFamily="49" charset="0"/>
              </a:rPr>
              <a:t>CASE</a:t>
            </a:r>
            <a:r>
              <a:rPr lang="en-US" sz="2100" b="1" dirty="0">
                <a:solidFill>
                  <a:srgbClr val="000000"/>
                </a:solidFill>
                <a:latin typeface="Consolas" panose="020B0609020204030204" pitchFamily="49" charset="0"/>
              </a:rPr>
              <a:t> </a:t>
            </a:r>
            <a:r>
              <a:rPr lang="en-US" sz="2100" b="1" dirty="0">
                <a:solidFill>
                  <a:srgbClr val="800000"/>
                </a:solidFill>
                <a:latin typeface="Consolas" panose="020B0609020204030204" pitchFamily="49" charset="0"/>
              </a:rPr>
              <a:t>WHEN</a:t>
            </a:r>
            <a:r>
              <a:rPr lang="en-US" sz="2100" b="1" dirty="0">
                <a:solidFill>
                  <a:srgbClr val="000000"/>
                </a:solidFill>
                <a:latin typeface="Consolas" panose="020B0609020204030204" pitchFamily="49" charset="0"/>
              </a:rPr>
              <a:t> </a:t>
            </a:r>
            <a:r>
              <a:rPr lang="en-US" sz="2100" dirty="0">
                <a:solidFill>
                  <a:srgbClr val="000000"/>
                </a:solidFill>
                <a:latin typeface="Consolas" panose="020B0609020204030204" pitchFamily="49" charset="0"/>
              </a:rPr>
              <a:t>product = </a:t>
            </a:r>
            <a:r>
              <a:rPr lang="en-US" sz="2100" dirty="0">
                <a:solidFill>
                  <a:srgbClr val="008000"/>
                </a:solidFill>
                <a:latin typeface="Consolas" panose="020B0609020204030204" pitchFamily="49" charset="0"/>
              </a:rPr>
              <a:t>'Bananas'</a:t>
            </a:r>
            <a:r>
              <a:rPr lang="en-US" sz="2100" dirty="0">
                <a:solidFill>
                  <a:srgbClr val="000000"/>
                </a:solidFill>
                <a:latin typeface="Consolas" panose="020B0609020204030204" pitchFamily="49" charset="0"/>
              </a:rPr>
              <a:t> </a:t>
            </a:r>
            <a:r>
              <a:rPr lang="en-US" sz="2100" b="1" dirty="0">
                <a:solidFill>
                  <a:srgbClr val="800000"/>
                </a:solidFill>
                <a:latin typeface="Consolas" panose="020B0609020204030204" pitchFamily="49" charset="0"/>
              </a:rPr>
              <a:t>THEN</a:t>
            </a:r>
            <a:r>
              <a:rPr lang="en-US" sz="2100" dirty="0">
                <a:solidFill>
                  <a:srgbClr val="000000"/>
                </a:solidFill>
                <a:latin typeface="Consolas" panose="020B0609020204030204" pitchFamily="49" charset="0"/>
              </a:rPr>
              <a:t> sales </a:t>
            </a:r>
            <a:r>
              <a:rPr lang="en-US" sz="2100" dirty="0">
                <a:solidFill>
                  <a:srgbClr val="800000"/>
                </a:solidFill>
                <a:latin typeface="Consolas" panose="020B0609020204030204" pitchFamily="49" charset="0"/>
              </a:rPr>
              <a:t>ELSE</a:t>
            </a:r>
            <a:r>
              <a:rPr lang="en-US" sz="2100" dirty="0">
                <a:solidFill>
                  <a:srgbClr val="000000"/>
                </a:solidFill>
                <a:latin typeface="Consolas" panose="020B0609020204030204" pitchFamily="49" charset="0"/>
              </a:rPr>
              <a:t> </a:t>
            </a:r>
            <a:r>
              <a:rPr lang="en-US" sz="2100" dirty="0">
                <a:solidFill>
                  <a:srgbClr val="0000FF"/>
                </a:solidFill>
                <a:latin typeface="Consolas" panose="020B0609020204030204" pitchFamily="49" charset="0"/>
              </a:rPr>
              <a:t>0</a:t>
            </a:r>
            <a:r>
              <a:rPr lang="en-US" sz="2100" dirty="0">
                <a:solidFill>
                  <a:srgbClr val="000000"/>
                </a:solidFill>
                <a:latin typeface="Consolas" panose="020B0609020204030204" pitchFamily="49" charset="0"/>
              </a:rPr>
              <a:t> </a:t>
            </a:r>
            <a:r>
              <a:rPr lang="en-US" sz="2100" dirty="0">
                <a:solidFill>
                  <a:srgbClr val="800000"/>
                </a:solidFill>
                <a:latin typeface="Consolas" panose="020B0609020204030204" pitchFamily="49" charset="0"/>
              </a:rPr>
              <a:t>END</a:t>
            </a:r>
            <a:r>
              <a:rPr lang="en-US" sz="2100" dirty="0">
                <a:solidFill>
                  <a:srgbClr val="000000"/>
                </a:solidFill>
                <a:latin typeface="Consolas" panose="020B0609020204030204" pitchFamily="49" charset="0"/>
              </a:rPr>
              <a:t>) </a:t>
            </a:r>
            <a:r>
              <a:rPr lang="en-US" sz="2100" dirty="0">
                <a:solidFill>
                  <a:srgbClr val="800000"/>
                </a:solidFill>
                <a:latin typeface="Consolas" panose="020B0609020204030204" pitchFamily="49" charset="0"/>
              </a:rPr>
              <a:t>AS</a:t>
            </a:r>
            <a:r>
              <a:rPr lang="en-US" sz="2100" dirty="0">
                <a:solidFill>
                  <a:srgbClr val="000000"/>
                </a:solidFill>
                <a:latin typeface="Consolas" panose="020B0609020204030204" pitchFamily="49" charset="0"/>
              </a:rPr>
              <a:t> </a:t>
            </a:r>
            <a:r>
              <a:rPr lang="en-US" sz="2100" dirty="0" err="1">
                <a:solidFill>
                  <a:srgbClr val="000000"/>
                </a:solidFill>
                <a:latin typeface="Consolas" panose="020B0609020204030204" pitchFamily="49" charset="0"/>
              </a:rPr>
              <a:t>bananas_sales</a:t>
            </a:r>
            <a:r>
              <a:rPr lang="en-US" sz="2100" dirty="0">
                <a:solidFill>
                  <a:srgbClr val="000000"/>
                </a:solidFill>
                <a:latin typeface="Consolas" panose="020B0609020204030204" pitchFamily="49" charset="0"/>
              </a:rPr>
              <a:t>,</a:t>
            </a:r>
          </a:p>
          <a:p>
            <a:pPr algn="l"/>
            <a:r>
              <a:rPr lang="en-US" sz="2100" dirty="0">
                <a:solidFill>
                  <a:srgbClr val="000000"/>
                </a:solidFill>
                <a:latin typeface="Consolas" panose="020B0609020204030204" pitchFamily="49" charset="0"/>
              </a:rPr>
              <a:t>    </a:t>
            </a:r>
            <a:r>
              <a:rPr lang="en-US" sz="2100" dirty="0">
                <a:solidFill>
                  <a:srgbClr val="000080"/>
                </a:solidFill>
                <a:latin typeface="Consolas" panose="020B0609020204030204" pitchFamily="49" charset="0"/>
              </a:rPr>
              <a:t>SUM</a:t>
            </a:r>
            <a:r>
              <a:rPr lang="en-US" sz="2100" dirty="0">
                <a:solidFill>
                  <a:srgbClr val="000000"/>
                </a:solidFill>
                <a:latin typeface="Consolas" panose="020B0609020204030204" pitchFamily="49" charset="0"/>
              </a:rPr>
              <a:t>(</a:t>
            </a:r>
            <a:r>
              <a:rPr lang="en-US" sz="2100" b="1" dirty="0">
                <a:solidFill>
                  <a:srgbClr val="800000"/>
                </a:solidFill>
                <a:latin typeface="Consolas" panose="020B0609020204030204" pitchFamily="49" charset="0"/>
              </a:rPr>
              <a:t>CASE</a:t>
            </a:r>
            <a:r>
              <a:rPr lang="en-US" sz="2100" b="1" dirty="0">
                <a:solidFill>
                  <a:srgbClr val="000000"/>
                </a:solidFill>
                <a:latin typeface="Consolas" panose="020B0609020204030204" pitchFamily="49" charset="0"/>
              </a:rPr>
              <a:t> </a:t>
            </a:r>
            <a:r>
              <a:rPr lang="en-US" sz="2100" b="1" dirty="0">
                <a:solidFill>
                  <a:srgbClr val="800000"/>
                </a:solidFill>
                <a:latin typeface="Consolas" panose="020B0609020204030204" pitchFamily="49" charset="0"/>
              </a:rPr>
              <a:t>WHEN</a:t>
            </a:r>
            <a:r>
              <a:rPr lang="en-US" sz="2100" b="1" dirty="0">
                <a:solidFill>
                  <a:srgbClr val="000000"/>
                </a:solidFill>
                <a:latin typeface="Consolas" panose="020B0609020204030204" pitchFamily="49" charset="0"/>
              </a:rPr>
              <a:t> </a:t>
            </a:r>
            <a:r>
              <a:rPr lang="en-US" sz="2100" dirty="0">
                <a:solidFill>
                  <a:srgbClr val="000000"/>
                </a:solidFill>
                <a:latin typeface="Consolas" panose="020B0609020204030204" pitchFamily="49" charset="0"/>
              </a:rPr>
              <a:t>product = </a:t>
            </a:r>
            <a:r>
              <a:rPr lang="en-US" sz="2100" dirty="0">
                <a:solidFill>
                  <a:srgbClr val="008000"/>
                </a:solidFill>
                <a:latin typeface="Consolas" panose="020B0609020204030204" pitchFamily="49" charset="0"/>
              </a:rPr>
              <a:t>'Cherries'</a:t>
            </a:r>
            <a:r>
              <a:rPr lang="en-US" sz="2100" dirty="0">
                <a:solidFill>
                  <a:srgbClr val="000000"/>
                </a:solidFill>
                <a:latin typeface="Consolas" panose="020B0609020204030204" pitchFamily="49" charset="0"/>
              </a:rPr>
              <a:t> </a:t>
            </a:r>
            <a:r>
              <a:rPr lang="en-US" sz="2100" b="1" dirty="0">
                <a:solidFill>
                  <a:srgbClr val="800000"/>
                </a:solidFill>
                <a:latin typeface="Consolas" panose="020B0609020204030204" pitchFamily="49" charset="0"/>
              </a:rPr>
              <a:t>THEN</a:t>
            </a:r>
            <a:r>
              <a:rPr lang="en-US" sz="2100" dirty="0">
                <a:solidFill>
                  <a:srgbClr val="000000"/>
                </a:solidFill>
                <a:latin typeface="Consolas" panose="020B0609020204030204" pitchFamily="49" charset="0"/>
              </a:rPr>
              <a:t> sales </a:t>
            </a:r>
            <a:r>
              <a:rPr lang="en-US" sz="2100" dirty="0">
                <a:solidFill>
                  <a:srgbClr val="800000"/>
                </a:solidFill>
                <a:latin typeface="Consolas" panose="020B0609020204030204" pitchFamily="49" charset="0"/>
              </a:rPr>
              <a:t>ELSE</a:t>
            </a:r>
            <a:r>
              <a:rPr lang="en-US" sz="2100" dirty="0">
                <a:solidFill>
                  <a:srgbClr val="000000"/>
                </a:solidFill>
                <a:latin typeface="Consolas" panose="020B0609020204030204" pitchFamily="49" charset="0"/>
              </a:rPr>
              <a:t> </a:t>
            </a:r>
            <a:r>
              <a:rPr lang="en-US" sz="2100" dirty="0">
                <a:solidFill>
                  <a:srgbClr val="0000FF"/>
                </a:solidFill>
                <a:latin typeface="Consolas" panose="020B0609020204030204" pitchFamily="49" charset="0"/>
              </a:rPr>
              <a:t>0</a:t>
            </a:r>
            <a:r>
              <a:rPr lang="en-US" sz="2100" dirty="0">
                <a:solidFill>
                  <a:srgbClr val="000000"/>
                </a:solidFill>
                <a:latin typeface="Consolas" panose="020B0609020204030204" pitchFamily="49" charset="0"/>
              </a:rPr>
              <a:t> </a:t>
            </a:r>
            <a:r>
              <a:rPr lang="en-US" sz="2100" dirty="0">
                <a:solidFill>
                  <a:srgbClr val="800000"/>
                </a:solidFill>
                <a:latin typeface="Consolas" panose="020B0609020204030204" pitchFamily="49" charset="0"/>
              </a:rPr>
              <a:t>END</a:t>
            </a:r>
            <a:r>
              <a:rPr lang="en-US" sz="2100" dirty="0">
                <a:solidFill>
                  <a:srgbClr val="000000"/>
                </a:solidFill>
                <a:latin typeface="Consolas" panose="020B0609020204030204" pitchFamily="49" charset="0"/>
              </a:rPr>
              <a:t>) </a:t>
            </a:r>
            <a:r>
              <a:rPr lang="en-US" sz="2100" dirty="0">
                <a:solidFill>
                  <a:srgbClr val="800000"/>
                </a:solidFill>
                <a:latin typeface="Consolas" panose="020B0609020204030204" pitchFamily="49" charset="0"/>
              </a:rPr>
              <a:t>AS</a:t>
            </a:r>
            <a:r>
              <a:rPr lang="en-US" sz="2100" dirty="0">
                <a:solidFill>
                  <a:srgbClr val="000000"/>
                </a:solidFill>
                <a:latin typeface="Consolas" panose="020B0609020204030204" pitchFamily="49" charset="0"/>
              </a:rPr>
              <a:t> </a:t>
            </a:r>
            <a:r>
              <a:rPr lang="en-US" sz="2100" dirty="0" err="1">
                <a:solidFill>
                  <a:srgbClr val="000000"/>
                </a:solidFill>
                <a:latin typeface="Consolas" panose="020B0609020204030204" pitchFamily="49" charset="0"/>
              </a:rPr>
              <a:t>cherries_sales</a:t>
            </a:r>
            <a:r>
              <a:rPr lang="en-US" sz="2100" dirty="0">
                <a:solidFill>
                  <a:srgbClr val="000000"/>
                </a:solidFill>
                <a:latin typeface="Consolas" panose="020B0609020204030204" pitchFamily="49" charset="0"/>
              </a:rPr>
              <a:t>,</a:t>
            </a:r>
          </a:p>
          <a:p>
            <a:pPr algn="l"/>
            <a:r>
              <a:rPr lang="en-US" sz="2100" dirty="0">
                <a:solidFill>
                  <a:srgbClr val="000000"/>
                </a:solidFill>
                <a:latin typeface="Consolas" panose="020B0609020204030204" pitchFamily="49" charset="0"/>
              </a:rPr>
              <a:t>    </a:t>
            </a:r>
            <a:r>
              <a:rPr lang="en-US" sz="2100" dirty="0">
                <a:solidFill>
                  <a:srgbClr val="000080"/>
                </a:solidFill>
                <a:latin typeface="Consolas" panose="020B0609020204030204" pitchFamily="49" charset="0"/>
              </a:rPr>
              <a:t>SUM</a:t>
            </a:r>
            <a:r>
              <a:rPr lang="en-US" sz="2100" dirty="0">
                <a:solidFill>
                  <a:srgbClr val="000000"/>
                </a:solidFill>
                <a:latin typeface="Consolas" panose="020B0609020204030204" pitchFamily="49" charset="0"/>
              </a:rPr>
              <a:t>(</a:t>
            </a:r>
            <a:r>
              <a:rPr lang="en-US" sz="2100" b="1" dirty="0">
                <a:solidFill>
                  <a:srgbClr val="800000"/>
                </a:solidFill>
                <a:latin typeface="Consolas" panose="020B0609020204030204" pitchFamily="49" charset="0"/>
              </a:rPr>
              <a:t>CASE</a:t>
            </a:r>
            <a:r>
              <a:rPr lang="en-US" sz="2100" b="1" dirty="0">
                <a:solidFill>
                  <a:srgbClr val="000000"/>
                </a:solidFill>
                <a:latin typeface="Consolas" panose="020B0609020204030204" pitchFamily="49" charset="0"/>
              </a:rPr>
              <a:t> </a:t>
            </a:r>
            <a:r>
              <a:rPr lang="en-US" sz="2100" b="1" dirty="0">
                <a:solidFill>
                  <a:srgbClr val="800000"/>
                </a:solidFill>
                <a:latin typeface="Consolas" panose="020B0609020204030204" pitchFamily="49" charset="0"/>
              </a:rPr>
              <a:t>WHEN</a:t>
            </a:r>
            <a:r>
              <a:rPr lang="en-US" sz="2100" b="1" dirty="0">
                <a:solidFill>
                  <a:srgbClr val="000000"/>
                </a:solidFill>
                <a:latin typeface="Consolas" panose="020B0609020204030204" pitchFamily="49" charset="0"/>
              </a:rPr>
              <a:t> </a:t>
            </a:r>
            <a:r>
              <a:rPr lang="en-US" sz="2100" dirty="0">
                <a:solidFill>
                  <a:srgbClr val="000000"/>
                </a:solidFill>
                <a:latin typeface="Consolas" panose="020B0609020204030204" pitchFamily="49" charset="0"/>
              </a:rPr>
              <a:t>product = </a:t>
            </a:r>
            <a:r>
              <a:rPr lang="en-US" sz="2100" dirty="0">
                <a:solidFill>
                  <a:srgbClr val="008000"/>
                </a:solidFill>
                <a:latin typeface="Consolas" panose="020B0609020204030204" pitchFamily="49" charset="0"/>
              </a:rPr>
              <a:t>'Oranges'</a:t>
            </a:r>
            <a:r>
              <a:rPr lang="en-US" sz="2100" dirty="0">
                <a:solidFill>
                  <a:srgbClr val="000000"/>
                </a:solidFill>
                <a:latin typeface="Consolas" panose="020B0609020204030204" pitchFamily="49" charset="0"/>
              </a:rPr>
              <a:t> </a:t>
            </a:r>
            <a:r>
              <a:rPr lang="en-US" sz="2100" dirty="0">
                <a:solidFill>
                  <a:srgbClr val="800000"/>
                </a:solidFill>
                <a:latin typeface="Consolas" panose="020B0609020204030204" pitchFamily="49" charset="0"/>
              </a:rPr>
              <a:t>T</a:t>
            </a:r>
            <a:r>
              <a:rPr lang="en-US" sz="2100" b="1" dirty="0">
                <a:solidFill>
                  <a:srgbClr val="800000"/>
                </a:solidFill>
                <a:latin typeface="Consolas" panose="020B0609020204030204" pitchFamily="49" charset="0"/>
              </a:rPr>
              <a:t>HEN</a:t>
            </a:r>
            <a:r>
              <a:rPr lang="en-US" sz="2100" dirty="0">
                <a:solidFill>
                  <a:srgbClr val="000000"/>
                </a:solidFill>
                <a:latin typeface="Consolas" panose="020B0609020204030204" pitchFamily="49" charset="0"/>
              </a:rPr>
              <a:t> sales </a:t>
            </a:r>
            <a:r>
              <a:rPr lang="en-US" sz="2100" dirty="0">
                <a:solidFill>
                  <a:srgbClr val="800000"/>
                </a:solidFill>
                <a:latin typeface="Consolas" panose="020B0609020204030204" pitchFamily="49" charset="0"/>
              </a:rPr>
              <a:t>ELSE</a:t>
            </a:r>
            <a:r>
              <a:rPr lang="en-US" sz="2100" dirty="0">
                <a:solidFill>
                  <a:srgbClr val="000000"/>
                </a:solidFill>
                <a:latin typeface="Consolas" panose="020B0609020204030204" pitchFamily="49" charset="0"/>
              </a:rPr>
              <a:t> </a:t>
            </a:r>
            <a:r>
              <a:rPr lang="en-US" sz="2100" dirty="0">
                <a:solidFill>
                  <a:srgbClr val="0000FF"/>
                </a:solidFill>
                <a:latin typeface="Consolas" panose="020B0609020204030204" pitchFamily="49" charset="0"/>
              </a:rPr>
              <a:t>0</a:t>
            </a:r>
            <a:r>
              <a:rPr lang="en-US" sz="2100" dirty="0">
                <a:solidFill>
                  <a:srgbClr val="000000"/>
                </a:solidFill>
                <a:latin typeface="Consolas" panose="020B0609020204030204" pitchFamily="49" charset="0"/>
              </a:rPr>
              <a:t> </a:t>
            </a:r>
            <a:r>
              <a:rPr lang="en-US" sz="2100" dirty="0">
                <a:solidFill>
                  <a:srgbClr val="800000"/>
                </a:solidFill>
                <a:latin typeface="Consolas" panose="020B0609020204030204" pitchFamily="49" charset="0"/>
              </a:rPr>
              <a:t>END</a:t>
            </a:r>
            <a:r>
              <a:rPr lang="en-US" sz="2100" dirty="0">
                <a:solidFill>
                  <a:srgbClr val="000000"/>
                </a:solidFill>
                <a:latin typeface="Consolas" panose="020B0609020204030204" pitchFamily="49" charset="0"/>
              </a:rPr>
              <a:t>) </a:t>
            </a:r>
            <a:r>
              <a:rPr lang="en-US" sz="2100" dirty="0">
                <a:solidFill>
                  <a:srgbClr val="800000"/>
                </a:solidFill>
                <a:latin typeface="Consolas" panose="020B0609020204030204" pitchFamily="49" charset="0"/>
              </a:rPr>
              <a:t>AS</a:t>
            </a:r>
            <a:r>
              <a:rPr lang="en-US" sz="2100" dirty="0">
                <a:solidFill>
                  <a:srgbClr val="000000"/>
                </a:solidFill>
                <a:latin typeface="Consolas" panose="020B0609020204030204" pitchFamily="49" charset="0"/>
              </a:rPr>
              <a:t> </a:t>
            </a:r>
            <a:r>
              <a:rPr lang="en-US" sz="2100" dirty="0" err="1">
                <a:solidFill>
                  <a:srgbClr val="000000"/>
                </a:solidFill>
                <a:latin typeface="Consolas" panose="020B0609020204030204" pitchFamily="49" charset="0"/>
              </a:rPr>
              <a:t>oranges_sales</a:t>
            </a:r>
            <a:r>
              <a:rPr lang="en-US" sz="2100" dirty="0">
                <a:solidFill>
                  <a:srgbClr val="000000"/>
                </a:solidFill>
                <a:latin typeface="Consolas" panose="020B0609020204030204" pitchFamily="49" charset="0"/>
              </a:rPr>
              <a:t>,</a:t>
            </a:r>
          </a:p>
          <a:p>
            <a:pPr algn="l"/>
            <a:r>
              <a:rPr lang="en-US" sz="2100" dirty="0">
                <a:solidFill>
                  <a:srgbClr val="000000"/>
                </a:solidFill>
                <a:latin typeface="Consolas" panose="020B0609020204030204" pitchFamily="49" charset="0"/>
              </a:rPr>
              <a:t>    </a:t>
            </a:r>
            <a:r>
              <a:rPr lang="en-US" sz="2100" dirty="0">
                <a:solidFill>
                  <a:srgbClr val="000080"/>
                </a:solidFill>
                <a:latin typeface="Consolas" panose="020B0609020204030204" pitchFamily="49" charset="0"/>
              </a:rPr>
              <a:t>SUM</a:t>
            </a:r>
            <a:r>
              <a:rPr lang="en-US" sz="2100" dirty="0">
                <a:solidFill>
                  <a:srgbClr val="000000"/>
                </a:solidFill>
                <a:latin typeface="Consolas" panose="020B0609020204030204" pitchFamily="49" charset="0"/>
              </a:rPr>
              <a:t>(sales) </a:t>
            </a:r>
            <a:r>
              <a:rPr lang="en-US" sz="2100" dirty="0">
                <a:solidFill>
                  <a:srgbClr val="800000"/>
                </a:solidFill>
                <a:latin typeface="Consolas" panose="020B0609020204030204" pitchFamily="49" charset="0"/>
              </a:rPr>
              <a:t>AS</a:t>
            </a:r>
            <a:r>
              <a:rPr lang="en-US" sz="2100" dirty="0">
                <a:solidFill>
                  <a:srgbClr val="000000"/>
                </a:solidFill>
                <a:latin typeface="Consolas" panose="020B0609020204030204" pitchFamily="49" charset="0"/>
              </a:rPr>
              <a:t> </a:t>
            </a:r>
            <a:r>
              <a:rPr lang="en-US" sz="2100" dirty="0" err="1">
                <a:solidFill>
                  <a:srgbClr val="000000"/>
                </a:solidFill>
                <a:latin typeface="Consolas" panose="020B0609020204030204" pitchFamily="49" charset="0"/>
              </a:rPr>
              <a:t>total_sales</a:t>
            </a:r>
            <a:endParaRPr lang="en-US" sz="2100" dirty="0">
              <a:solidFill>
                <a:srgbClr val="000000"/>
              </a:solidFill>
              <a:latin typeface="Consolas" panose="020B0609020204030204" pitchFamily="49" charset="0"/>
            </a:endParaRPr>
          </a:p>
          <a:p>
            <a:pPr algn="l"/>
            <a:r>
              <a:rPr lang="en-US" sz="2100" dirty="0">
                <a:solidFill>
                  <a:srgbClr val="800000"/>
                </a:solidFill>
                <a:latin typeface="Consolas" panose="020B0609020204030204" pitchFamily="49" charset="0"/>
              </a:rPr>
              <a:t>FROM</a:t>
            </a:r>
            <a:r>
              <a:rPr lang="en-US" sz="2100" dirty="0">
                <a:solidFill>
                  <a:srgbClr val="000000"/>
                </a:solidFill>
                <a:latin typeface="Consolas" panose="020B0609020204030204" pitchFamily="49" charset="0"/>
              </a:rPr>
              <a:t> </a:t>
            </a:r>
            <a:r>
              <a:rPr lang="en-US" sz="2100" dirty="0" err="1">
                <a:solidFill>
                  <a:srgbClr val="000000"/>
                </a:solidFill>
                <a:latin typeface="Consolas" panose="020B0609020204030204" pitchFamily="49" charset="0"/>
              </a:rPr>
              <a:t>pivotsales</a:t>
            </a:r>
            <a:endParaRPr lang="en-US" sz="2100" dirty="0">
              <a:solidFill>
                <a:srgbClr val="000000"/>
              </a:solidFill>
              <a:latin typeface="Consolas" panose="020B0609020204030204" pitchFamily="49" charset="0"/>
            </a:endParaRPr>
          </a:p>
          <a:p>
            <a:pPr algn="l"/>
            <a:r>
              <a:rPr lang="en-US" sz="2100" dirty="0">
                <a:solidFill>
                  <a:srgbClr val="800000"/>
                </a:solidFill>
                <a:latin typeface="Consolas" panose="020B0609020204030204" pitchFamily="49" charset="0"/>
              </a:rPr>
              <a:t>GROUP</a:t>
            </a:r>
            <a:r>
              <a:rPr lang="en-US" sz="2100" dirty="0">
                <a:solidFill>
                  <a:srgbClr val="000000"/>
                </a:solidFill>
                <a:latin typeface="Consolas" panose="020B0609020204030204" pitchFamily="49" charset="0"/>
              </a:rPr>
              <a:t> </a:t>
            </a:r>
            <a:r>
              <a:rPr lang="en-US" sz="2100" dirty="0">
                <a:solidFill>
                  <a:srgbClr val="800000"/>
                </a:solidFill>
                <a:latin typeface="Consolas" panose="020B0609020204030204" pitchFamily="49" charset="0"/>
              </a:rPr>
              <a:t>BY</a:t>
            </a:r>
            <a:r>
              <a:rPr lang="en-US" sz="2100" dirty="0">
                <a:solidFill>
                  <a:srgbClr val="000000"/>
                </a:solidFill>
                <a:latin typeface="Consolas" panose="020B0609020204030204" pitchFamily="49" charset="0"/>
              </a:rPr>
              <a:t> reseller</a:t>
            </a:r>
            <a:r>
              <a:rPr lang="en-US" sz="2100" dirty="0">
                <a:solidFill>
                  <a:srgbClr val="FF0000"/>
                </a:solidFill>
                <a:latin typeface="Consolas" panose="020B0609020204030204" pitchFamily="49" charset="0"/>
              </a:rPr>
              <a:t>;</a:t>
            </a:r>
            <a:endParaRPr lang="en-US" sz="2100" dirty="0"/>
          </a:p>
        </p:txBody>
      </p:sp>
      <p:sp>
        <p:nvSpPr>
          <p:cNvPr id="8" name="TextBox 7">
            <a:extLst>
              <a:ext uri="{FF2B5EF4-FFF2-40B4-BE49-F238E27FC236}">
                <a16:creationId xmlns:a16="http://schemas.microsoft.com/office/drawing/2014/main" id="{ED9D701E-82FB-4975-0D77-A0AD1AE8BE1C}"/>
              </a:ext>
            </a:extLst>
          </p:cNvPr>
          <p:cNvSpPr txBox="1">
            <a:spLocks noChangeArrowheads="1"/>
          </p:cNvSpPr>
          <p:nvPr/>
        </p:nvSpPr>
        <p:spPr bwMode="auto">
          <a:xfrm>
            <a:off x="76200" y="6430064"/>
            <a:ext cx="1003608"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Pivoting</a:t>
            </a:r>
          </a:p>
        </p:txBody>
      </p:sp>
      <p:graphicFrame>
        <p:nvGraphicFramePr>
          <p:cNvPr id="17" name="Table 16">
            <a:extLst>
              <a:ext uri="{FF2B5EF4-FFF2-40B4-BE49-F238E27FC236}">
                <a16:creationId xmlns:a16="http://schemas.microsoft.com/office/drawing/2014/main" id="{2D6C3342-6E96-4B34-9359-68FD43D98B56}"/>
              </a:ext>
            </a:extLst>
          </p:cNvPr>
          <p:cNvGraphicFramePr>
            <a:graphicFrameLocks noGrp="1"/>
          </p:cNvGraphicFramePr>
          <p:nvPr>
            <p:extLst>
              <p:ext uri="{D42A27DB-BD31-4B8C-83A1-F6EECF244321}">
                <p14:modId xmlns:p14="http://schemas.microsoft.com/office/powerpoint/2010/main" val="702286026"/>
              </p:ext>
            </p:extLst>
          </p:nvPr>
        </p:nvGraphicFramePr>
        <p:xfrm>
          <a:off x="533401" y="4419600"/>
          <a:ext cx="10972799" cy="1719580"/>
        </p:xfrm>
        <a:graphic>
          <a:graphicData uri="http://schemas.openxmlformats.org/drawingml/2006/table">
            <a:tbl>
              <a:tblPr>
                <a:tableStyleId>{073A0DAA-6AF3-43AB-8588-CEC1D06C72B9}</a:tableStyleId>
              </a:tblPr>
              <a:tblGrid>
                <a:gridCol w="1350007">
                  <a:extLst>
                    <a:ext uri="{9D8B030D-6E8A-4147-A177-3AD203B41FA5}">
                      <a16:colId xmlns:a16="http://schemas.microsoft.com/office/drawing/2014/main" val="954239533"/>
                    </a:ext>
                  </a:extLst>
                </a:gridCol>
                <a:gridCol w="1740293">
                  <a:extLst>
                    <a:ext uri="{9D8B030D-6E8A-4147-A177-3AD203B41FA5}">
                      <a16:colId xmlns:a16="http://schemas.microsoft.com/office/drawing/2014/main" val="1714005410"/>
                    </a:ext>
                  </a:extLst>
                </a:gridCol>
                <a:gridCol w="2047403">
                  <a:extLst>
                    <a:ext uri="{9D8B030D-6E8A-4147-A177-3AD203B41FA5}">
                      <a16:colId xmlns:a16="http://schemas.microsoft.com/office/drawing/2014/main" val="2473978250"/>
                    </a:ext>
                  </a:extLst>
                </a:gridCol>
                <a:gridCol w="1945032">
                  <a:extLst>
                    <a:ext uri="{9D8B030D-6E8A-4147-A177-3AD203B41FA5}">
                      <a16:colId xmlns:a16="http://schemas.microsoft.com/office/drawing/2014/main" val="4227260826"/>
                    </a:ext>
                  </a:extLst>
                </a:gridCol>
                <a:gridCol w="1945032">
                  <a:extLst>
                    <a:ext uri="{9D8B030D-6E8A-4147-A177-3AD203B41FA5}">
                      <a16:colId xmlns:a16="http://schemas.microsoft.com/office/drawing/2014/main" val="2109715641"/>
                    </a:ext>
                  </a:extLst>
                </a:gridCol>
                <a:gridCol w="1945032">
                  <a:extLst>
                    <a:ext uri="{9D8B030D-6E8A-4147-A177-3AD203B41FA5}">
                      <a16:colId xmlns:a16="http://schemas.microsoft.com/office/drawing/2014/main" val="3525283884"/>
                    </a:ext>
                  </a:extLst>
                </a:gridCol>
              </a:tblGrid>
              <a:tr h="0">
                <a:tc>
                  <a:txBody>
                    <a:bodyPr/>
                    <a:lstStyle/>
                    <a:p>
                      <a:pPr algn="r"/>
                      <a:r>
                        <a:rPr lang="en-US" sz="2000" b="1" dirty="0">
                          <a:solidFill>
                            <a:srgbClr val="404040"/>
                          </a:solidFill>
                          <a:effectLst/>
                        </a:rPr>
                        <a:t>reseller</a:t>
                      </a:r>
                    </a:p>
                  </a:txBody>
                  <a:tcPr marR="31750" marT="31750" marB="31750" anchor="ctr"/>
                </a:tc>
                <a:tc>
                  <a:txBody>
                    <a:bodyPr/>
                    <a:lstStyle/>
                    <a:p>
                      <a:pPr algn="r"/>
                      <a:r>
                        <a:rPr lang="en-US" sz="2000" b="1" dirty="0" err="1">
                          <a:solidFill>
                            <a:srgbClr val="404040"/>
                          </a:solidFill>
                          <a:effectLst/>
                        </a:rPr>
                        <a:t>apples_sales</a:t>
                      </a:r>
                      <a:endParaRPr lang="en-US" sz="2000" b="1" dirty="0">
                        <a:solidFill>
                          <a:srgbClr val="404040"/>
                        </a:solidFill>
                        <a:effectLst/>
                      </a:endParaRPr>
                    </a:p>
                  </a:txBody>
                  <a:tcPr marL="31750" marR="31750" marT="31750" marB="31750" anchor="ctr"/>
                </a:tc>
                <a:tc>
                  <a:txBody>
                    <a:bodyPr/>
                    <a:lstStyle/>
                    <a:p>
                      <a:pPr algn="r"/>
                      <a:r>
                        <a:rPr lang="en-US" sz="2000" b="1" dirty="0" err="1">
                          <a:solidFill>
                            <a:srgbClr val="404040"/>
                          </a:solidFill>
                          <a:effectLst/>
                        </a:rPr>
                        <a:t>bananas_sales</a:t>
                      </a:r>
                      <a:endParaRPr lang="en-US" sz="2000" b="1" dirty="0">
                        <a:solidFill>
                          <a:srgbClr val="404040"/>
                        </a:solidFill>
                        <a:effectLst/>
                      </a:endParaRPr>
                    </a:p>
                  </a:txBody>
                  <a:tcPr marL="31750" marR="31750" marT="31750" marB="31750" anchor="ctr"/>
                </a:tc>
                <a:tc>
                  <a:txBody>
                    <a:bodyPr/>
                    <a:lstStyle/>
                    <a:p>
                      <a:pPr algn="r"/>
                      <a:r>
                        <a:rPr lang="en-US" sz="2000" b="1" dirty="0" err="1">
                          <a:solidFill>
                            <a:srgbClr val="404040"/>
                          </a:solidFill>
                          <a:effectLst/>
                        </a:rPr>
                        <a:t>cherries_sales</a:t>
                      </a:r>
                      <a:endParaRPr lang="en-US" sz="2000" b="1" dirty="0">
                        <a:solidFill>
                          <a:srgbClr val="404040"/>
                        </a:solidFill>
                        <a:effectLst/>
                      </a:endParaRPr>
                    </a:p>
                  </a:txBody>
                  <a:tcPr marL="31750" marR="31750" marT="31750" marB="31750" anchor="ctr"/>
                </a:tc>
                <a:tc>
                  <a:txBody>
                    <a:bodyPr/>
                    <a:lstStyle/>
                    <a:p>
                      <a:pPr algn="r"/>
                      <a:r>
                        <a:rPr lang="en-US" sz="2000" b="1" dirty="0" err="1">
                          <a:solidFill>
                            <a:srgbClr val="404040"/>
                          </a:solidFill>
                          <a:effectLst/>
                        </a:rPr>
                        <a:t>oranges_sales</a:t>
                      </a:r>
                      <a:endParaRPr lang="en-US" sz="2000" b="1" dirty="0">
                        <a:solidFill>
                          <a:srgbClr val="404040"/>
                        </a:solidFill>
                        <a:effectLst/>
                      </a:endParaRPr>
                    </a:p>
                  </a:txBody>
                  <a:tcPr marL="31750" marR="31750" marT="31750" marB="31750" anchor="ctr"/>
                </a:tc>
                <a:tc>
                  <a:txBody>
                    <a:bodyPr/>
                    <a:lstStyle/>
                    <a:p>
                      <a:pPr algn="r"/>
                      <a:r>
                        <a:rPr lang="en-US" sz="2000" b="1" dirty="0" err="1">
                          <a:solidFill>
                            <a:srgbClr val="404040"/>
                          </a:solidFill>
                          <a:effectLst/>
                        </a:rPr>
                        <a:t>total_sales</a:t>
                      </a:r>
                      <a:endParaRPr lang="en-US" sz="2000" b="1" dirty="0">
                        <a:solidFill>
                          <a:srgbClr val="404040"/>
                        </a:solidFill>
                        <a:effectLst/>
                      </a:endParaRPr>
                    </a:p>
                  </a:txBody>
                  <a:tcPr marL="31750" marR="31750" marT="31750" marB="31750" anchor="ctr"/>
                </a:tc>
                <a:extLst>
                  <a:ext uri="{0D108BD9-81ED-4DB2-BD59-A6C34878D82A}">
                    <a16:rowId xmlns:a16="http://schemas.microsoft.com/office/drawing/2014/main" val="773736006"/>
                  </a:ext>
                </a:extLst>
              </a:tr>
              <a:tr h="0">
                <a:tc>
                  <a:txBody>
                    <a:bodyPr/>
                    <a:lstStyle/>
                    <a:p>
                      <a:pPr algn="r"/>
                      <a:r>
                        <a:rPr lang="en-US" sz="1800">
                          <a:effectLst/>
                        </a:rPr>
                        <a:t>John</a:t>
                      </a:r>
                    </a:p>
                  </a:txBody>
                  <a:tcPr marR="31750" marT="31750" marB="31750" anchor="ctr"/>
                </a:tc>
                <a:tc>
                  <a:txBody>
                    <a:bodyPr/>
                    <a:lstStyle/>
                    <a:p>
                      <a:pPr algn="r"/>
                      <a:r>
                        <a:rPr lang="en-US" sz="1800">
                          <a:effectLst/>
                        </a:rPr>
                        <a:t>0</a:t>
                      </a:r>
                    </a:p>
                  </a:txBody>
                  <a:tcPr marL="31750" marR="31750" marT="31750" marB="31750" anchor="ctr"/>
                </a:tc>
                <a:tc>
                  <a:txBody>
                    <a:bodyPr/>
                    <a:lstStyle/>
                    <a:p>
                      <a:pPr algn="r"/>
                      <a:r>
                        <a:rPr lang="en-US" sz="1800">
                          <a:effectLst/>
                        </a:rPr>
                        <a:t>0</a:t>
                      </a:r>
                    </a:p>
                  </a:txBody>
                  <a:tcPr marL="31750" marR="31750" marT="31750" marB="31750" anchor="ctr"/>
                </a:tc>
                <a:tc>
                  <a:txBody>
                    <a:bodyPr/>
                    <a:lstStyle/>
                    <a:p>
                      <a:pPr algn="r"/>
                      <a:r>
                        <a:rPr lang="en-US" sz="1800">
                          <a:effectLst/>
                        </a:rPr>
                        <a:t>250</a:t>
                      </a:r>
                    </a:p>
                  </a:txBody>
                  <a:tcPr marL="31750" marR="31750" marT="31750" marB="31750" anchor="ctr"/>
                </a:tc>
                <a:tc>
                  <a:txBody>
                    <a:bodyPr/>
                    <a:lstStyle/>
                    <a:p>
                      <a:pPr algn="r"/>
                      <a:r>
                        <a:rPr lang="en-US" sz="1800" dirty="0">
                          <a:effectLst/>
                        </a:rPr>
                        <a:t>0</a:t>
                      </a:r>
                    </a:p>
                  </a:txBody>
                  <a:tcPr marL="31750" marR="31750" marT="31750" marB="31750" anchor="ctr"/>
                </a:tc>
                <a:tc>
                  <a:txBody>
                    <a:bodyPr/>
                    <a:lstStyle/>
                    <a:p>
                      <a:pPr algn="r"/>
                      <a:r>
                        <a:rPr lang="en-US" sz="1800" dirty="0">
                          <a:effectLst/>
                        </a:rPr>
                        <a:t>250</a:t>
                      </a:r>
                    </a:p>
                  </a:txBody>
                  <a:tcPr marL="31750" marR="31750" marT="31750" marB="31750" anchor="ctr"/>
                </a:tc>
                <a:extLst>
                  <a:ext uri="{0D108BD9-81ED-4DB2-BD59-A6C34878D82A}">
                    <a16:rowId xmlns:a16="http://schemas.microsoft.com/office/drawing/2014/main" val="2926733689"/>
                  </a:ext>
                </a:extLst>
              </a:tr>
              <a:tr h="0">
                <a:tc>
                  <a:txBody>
                    <a:bodyPr/>
                    <a:lstStyle/>
                    <a:p>
                      <a:pPr algn="r"/>
                      <a:r>
                        <a:rPr lang="en-US" sz="1800">
                          <a:effectLst/>
                        </a:rPr>
                        <a:t>Mike</a:t>
                      </a:r>
                    </a:p>
                  </a:txBody>
                  <a:tcPr marR="31750" marT="31750" marB="31750" anchor="ctr"/>
                </a:tc>
                <a:tc>
                  <a:txBody>
                    <a:bodyPr/>
                    <a:lstStyle/>
                    <a:p>
                      <a:pPr algn="r"/>
                      <a:r>
                        <a:rPr lang="en-US" sz="1800">
                          <a:effectLst/>
                        </a:rPr>
                        <a:t>120</a:t>
                      </a:r>
                    </a:p>
                  </a:txBody>
                  <a:tcPr marL="31750" marR="31750" marT="31750" marB="31750" anchor="ctr"/>
                </a:tc>
                <a:tc>
                  <a:txBody>
                    <a:bodyPr/>
                    <a:lstStyle/>
                    <a:p>
                      <a:pPr algn="r"/>
                      <a:r>
                        <a:rPr lang="en-US" sz="1800">
                          <a:effectLst/>
                        </a:rPr>
                        <a:t>200</a:t>
                      </a:r>
                    </a:p>
                  </a:txBody>
                  <a:tcPr marL="31750" marR="31750" marT="31750" marB="31750" anchor="ctr"/>
                </a:tc>
                <a:tc>
                  <a:txBody>
                    <a:bodyPr/>
                    <a:lstStyle/>
                    <a:p>
                      <a:pPr algn="r"/>
                      <a:r>
                        <a:rPr lang="en-US" sz="1800">
                          <a:effectLst/>
                        </a:rPr>
                        <a:t>250</a:t>
                      </a:r>
                    </a:p>
                  </a:txBody>
                  <a:tcPr marL="31750" marR="31750" marT="31750" marB="31750" anchor="ctr"/>
                </a:tc>
                <a:tc>
                  <a:txBody>
                    <a:bodyPr/>
                    <a:lstStyle/>
                    <a:p>
                      <a:pPr algn="r"/>
                      <a:r>
                        <a:rPr lang="en-US" sz="1800">
                          <a:effectLst/>
                        </a:rPr>
                        <a:t>400</a:t>
                      </a:r>
                    </a:p>
                  </a:txBody>
                  <a:tcPr marL="31750" marR="31750" marT="31750" marB="31750" anchor="ctr"/>
                </a:tc>
                <a:tc>
                  <a:txBody>
                    <a:bodyPr/>
                    <a:lstStyle/>
                    <a:p>
                      <a:pPr algn="r"/>
                      <a:r>
                        <a:rPr lang="en-US" sz="1800">
                          <a:effectLst/>
                        </a:rPr>
                        <a:t>970</a:t>
                      </a:r>
                    </a:p>
                  </a:txBody>
                  <a:tcPr marL="31750" marR="31750" marT="31750" marB="31750" anchor="ctr"/>
                </a:tc>
                <a:extLst>
                  <a:ext uri="{0D108BD9-81ED-4DB2-BD59-A6C34878D82A}">
                    <a16:rowId xmlns:a16="http://schemas.microsoft.com/office/drawing/2014/main" val="3619975914"/>
                  </a:ext>
                </a:extLst>
              </a:tr>
              <a:tr h="0">
                <a:tc>
                  <a:txBody>
                    <a:bodyPr/>
                    <a:lstStyle/>
                    <a:p>
                      <a:pPr algn="r"/>
                      <a:r>
                        <a:rPr lang="en-US" sz="1800">
                          <a:effectLst/>
                        </a:rPr>
                        <a:t>Pete</a:t>
                      </a:r>
                    </a:p>
                  </a:txBody>
                  <a:tcPr marR="31750" marT="31750" marB="31750" anchor="ctr"/>
                </a:tc>
                <a:tc>
                  <a:txBody>
                    <a:bodyPr/>
                    <a:lstStyle/>
                    <a:p>
                      <a:pPr algn="r"/>
                      <a:r>
                        <a:rPr lang="en-US" sz="1800">
                          <a:effectLst/>
                        </a:rPr>
                        <a:t>290</a:t>
                      </a:r>
                    </a:p>
                  </a:txBody>
                  <a:tcPr marL="31750" marR="31750" marT="31750" marB="31750" anchor="ctr"/>
                </a:tc>
                <a:tc>
                  <a:txBody>
                    <a:bodyPr/>
                    <a:lstStyle/>
                    <a:p>
                      <a:pPr algn="r"/>
                      <a:r>
                        <a:rPr lang="en-US" sz="1800">
                          <a:effectLst/>
                        </a:rPr>
                        <a:t>0</a:t>
                      </a:r>
                    </a:p>
                  </a:txBody>
                  <a:tcPr marL="31750" marR="31750" marT="31750" marB="31750" anchor="ctr"/>
                </a:tc>
                <a:tc>
                  <a:txBody>
                    <a:bodyPr/>
                    <a:lstStyle/>
                    <a:p>
                      <a:pPr algn="r"/>
                      <a:r>
                        <a:rPr lang="en-US" sz="1800">
                          <a:effectLst/>
                        </a:rPr>
                        <a:t>0</a:t>
                      </a:r>
                    </a:p>
                  </a:txBody>
                  <a:tcPr marL="31750" marR="31750" marT="31750" marB="31750" anchor="ctr"/>
                </a:tc>
                <a:tc>
                  <a:txBody>
                    <a:bodyPr/>
                    <a:lstStyle/>
                    <a:p>
                      <a:pPr algn="r"/>
                      <a:r>
                        <a:rPr lang="en-US" sz="1800" dirty="0">
                          <a:effectLst/>
                        </a:rPr>
                        <a:t>0</a:t>
                      </a:r>
                    </a:p>
                  </a:txBody>
                  <a:tcPr marL="31750" marR="31750" marT="31750" marB="31750" anchor="ctr"/>
                </a:tc>
                <a:tc>
                  <a:txBody>
                    <a:bodyPr/>
                    <a:lstStyle/>
                    <a:p>
                      <a:pPr algn="r"/>
                      <a:r>
                        <a:rPr lang="en-US" sz="1800">
                          <a:effectLst/>
                        </a:rPr>
                        <a:t>290</a:t>
                      </a:r>
                    </a:p>
                  </a:txBody>
                  <a:tcPr marL="31750" marR="31750" marT="31750" marB="31750" anchor="ctr"/>
                </a:tc>
                <a:extLst>
                  <a:ext uri="{0D108BD9-81ED-4DB2-BD59-A6C34878D82A}">
                    <a16:rowId xmlns:a16="http://schemas.microsoft.com/office/drawing/2014/main" val="4588656"/>
                  </a:ext>
                </a:extLst>
              </a:tr>
              <a:tr h="0">
                <a:tc>
                  <a:txBody>
                    <a:bodyPr/>
                    <a:lstStyle/>
                    <a:p>
                      <a:pPr algn="r"/>
                      <a:r>
                        <a:rPr lang="en-US" sz="1800">
                          <a:effectLst/>
                        </a:rPr>
                        <a:t>Sally</a:t>
                      </a:r>
                    </a:p>
                  </a:txBody>
                  <a:tcPr marR="31750" marT="31750" marB="31750" anchor="ctr"/>
                </a:tc>
                <a:tc>
                  <a:txBody>
                    <a:bodyPr/>
                    <a:lstStyle/>
                    <a:p>
                      <a:pPr algn="r"/>
                      <a:r>
                        <a:rPr lang="en-US" sz="1800">
                          <a:effectLst/>
                        </a:rPr>
                        <a:t>0</a:t>
                      </a:r>
                    </a:p>
                  </a:txBody>
                  <a:tcPr marL="31750" marR="31750" marT="31750" marB="31750" anchor="ctr"/>
                </a:tc>
                <a:tc>
                  <a:txBody>
                    <a:bodyPr/>
                    <a:lstStyle/>
                    <a:p>
                      <a:pPr algn="r"/>
                      <a:r>
                        <a:rPr lang="en-US" sz="1800" dirty="0">
                          <a:effectLst/>
                        </a:rPr>
                        <a:t>250</a:t>
                      </a:r>
                    </a:p>
                  </a:txBody>
                  <a:tcPr marL="31750" marR="31750" marT="31750" marB="31750" anchor="ctr"/>
                </a:tc>
                <a:tc>
                  <a:txBody>
                    <a:bodyPr/>
                    <a:lstStyle/>
                    <a:p>
                      <a:pPr algn="r"/>
                      <a:r>
                        <a:rPr lang="en-US" sz="1800">
                          <a:effectLst/>
                        </a:rPr>
                        <a:t>330</a:t>
                      </a:r>
                    </a:p>
                  </a:txBody>
                  <a:tcPr marL="31750" marR="31750" marT="31750" marB="31750" anchor="ctr"/>
                </a:tc>
                <a:tc>
                  <a:txBody>
                    <a:bodyPr/>
                    <a:lstStyle/>
                    <a:p>
                      <a:pPr algn="r"/>
                      <a:r>
                        <a:rPr lang="en-US" sz="1800">
                          <a:effectLst/>
                        </a:rPr>
                        <a:t>0</a:t>
                      </a:r>
                    </a:p>
                  </a:txBody>
                  <a:tcPr marL="31750" marR="31750" marT="31750" marB="31750" anchor="ctr"/>
                </a:tc>
                <a:tc>
                  <a:txBody>
                    <a:bodyPr/>
                    <a:lstStyle/>
                    <a:p>
                      <a:pPr algn="r"/>
                      <a:r>
                        <a:rPr lang="en-US" sz="1800" dirty="0">
                          <a:effectLst/>
                        </a:rPr>
                        <a:t>580</a:t>
                      </a:r>
                    </a:p>
                  </a:txBody>
                  <a:tcPr marL="31750" marR="31750" marT="31750" marB="31750" anchor="ctr"/>
                </a:tc>
                <a:extLst>
                  <a:ext uri="{0D108BD9-81ED-4DB2-BD59-A6C34878D82A}">
                    <a16:rowId xmlns:a16="http://schemas.microsoft.com/office/drawing/2014/main" val="3050280591"/>
                  </a:ext>
                </a:extLst>
              </a:tr>
            </a:tbl>
          </a:graphicData>
        </a:graphic>
      </p:graphicFrame>
    </p:spTree>
    <p:extLst>
      <p:ext uri="{BB962C8B-B14F-4D97-AF65-F5344CB8AC3E}">
        <p14:creationId xmlns:p14="http://schemas.microsoft.com/office/powerpoint/2010/main" val="292713281"/>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06C18-3EBD-2007-08F3-C3EC5A6BA508}"/>
              </a:ext>
            </a:extLst>
          </p:cNvPr>
          <p:cNvSpPr>
            <a:spLocks noGrp="1"/>
          </p:cNvSpPr>
          <p:nvPr>
            <p:ph type="title"/>
          </p:nvPr>
        </p:nvSpPr>
        <p:spPr/>
        <p:txBody>
          <a:bodyPr/>
          <a:lstStyle/>
          <a:p>
            <a:r>
              <a:rPr lang="en-US" dirty="0"/>
              <a:t>Pivoting in SQL: PIVOT Clause</a:t>
            </a:r>
          </a:p>
        </p:txBody>
      </p:sp>
      <p:sp>
        <p:nvSpPr>
          <p:cNvPr id="3" name="Content Placeholder 2">
            <a:extLst>
              <a:ext uri="{FF2B5EF4-FFF2-40B4-BE49-F238E27FC236}">
                <a16:creationId xmlns:a16="http://schemas.microsoft.com/office/drawing/2014/main" id="{7FEA58EF-047A-7FE5-44CC-25B54CB59D5A}"/>
              </a:ext>
            </a:extLst>
          </p:cNvPr>
          <p:cNvSpPr>
            <a:spLocks noGrp="1"/>
          </p:cNvSpPr>
          <p:nvPr>
            <p:ph idx="1"/>
          </p:nvPr>
        </p:nvSpPr>
        <p:spPr/>
        <p:txBody>
          <a:bodyPr/>
          <a:lstStyle/>
          <a:p>
            <a:r>
              <a:rPr lang="en-US" dirty="0"/>
              <a:t>PIVOT: rotate a table by turning the unique values from one column in the input expression into multiple columns and aggregating results</a:t>
            </a:r>
          </a:p>
          <a:p>
            <a:r>
              <a:rPr lang="en-US" dirty="0"/>
              <a:t>Supported: Apache Spark, Snowflake, Oracle, Microsoft SQL Server, </a:t>
            </a:r>
            <a:r>
              <a:rPr lang="en-US" dirty="0" err="1"/>
              <a:t>TeraData</a:t>
            </a:r>
            <a:endParaRPr lang="en-US" dirty="0"/>
          </a:p>
          <a:p>
            <a:endParaRPr lang="en-US" dirty="0"/>
          </a:p>
        </p:txBody>
      </p:sp>
      <p:sp>
        <p:nvSpPr>
          <p:cNvPr id="6" name="TextBox 5">
            <a:extLst>
              <a:ext uri="{FF2B5EF4-FFF2-40B4-BE49-F238E27FC236}">
                <a16:creationId xmlns:a16="http://schemas.microsoft.com/office/drawing/2014/main" id="{C31D268F-07E2-0AC8-2507-9A0167FABD4A}"/>
              </a:ext>
            </a:extLst>
          </p:cNvPr>
          <p:cNvSpPr txBox="1"/>
          <p:nvPr/>
        </p:nvSpPr>
        <p:spPr>
          <a:xfrm>
            <a:off x="2209800" y="2209800"/>
            <a:ext cx="9906000" cy="1631216"/>
          </a:xfrm>
          <a:prstGeom prst="rect">
            <a:avLst/>
          </a:prstGeom>
          <a:solidFill>
            <a:schemeClr val="bg1"/>
          </a:solidFill>
          <a:ln>
            <a:solidFill>
              <a:schemeClr val="bg1">
                <a:lumMod val="50000"/>
              </a:schemeClr>
            </a:solidFill>
          </a:ln>
          <a:effectLst>
            <a:outerShdw blurRad="127000" dist="88900" dir="2700000" algn="tl" rotWithShape="0">
              <a:prstClr val="black">
                <a:alpha val="40000"/>
              </a:prstClr>
            </a:outerShdw>
          </a:effectLst>
        </p:spPr>
        <p:txBody>
          <a:bodyPr wrap="square">
            <a:spAutoFit/>
          </a:bodyPr>
          <a:lstStyle>
            <a:defPPr>
              <a:defRPr lang="en-US"/>
            </a:defPPr>
            <a:lvl1pPr>
              <a:defRPr>
                <a:solidFill>
                  <a:srgbClr val="800000"/>
                </a:solidFill>
                <a:latin typeface="Consolas" panose="020B0609020204030204" pitchFamily="49" charset="0"/>
              </a:defRPr>
            </a:lvl1pPr>
          </a:lstStyle>
          <a:p>
            <a:pPr algn="l"/>
            <a:r>
              <a:rPr lang="en-US" sz="2000" b="1" dirty="0">
                <a:solidFill>
                  <a:srgbClr val="800000"/>
                </a:solidFill>
                <a:latin typeface="Consolas" panose="020B0609020204030204" pitchFamily="49" charset="0"/>
              </a:rPr>
              <a:t>SELECT</a:t>
            </a:r>
            <a:r>
              <a:rPr lang="en-US" sz="2000" b="1" dirty="0">
                <a:solidFill>
                  <a:srgbClr val="000000"/>
                </a:solidFill>
                <a:latin typeface="Consolas" panose="020B0609020204030204" pitchFamily="49" charset="0"/>
              </a:rPr>
              <a:t>   </a:t>
            </a:r>
          </a:p>
          <a:p>
            <a:pPr algn="l"/>
            <a:r>
              <a:rPr lang="en-US" sz="2000" b="1" dirty="0">
                <a:solidFill>
                  <a:srgbClr val="800000"/>
                </a:solidFill>
                <a:latin typeface="Consolas" panose="020B0609020204030204" pitchFamily="49" charset="0"/>
              </a:rPr>
              <a:t>FROM</a:t>
            </a:r>
            <a:r>
              <a:rPr lang="en-US" sz="2000" b="1"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pivotsales</a:t>
            </a:r>
            <a:endParaRPr lang="en-US" sz="2000" dirty="0">
              <a:solidFill>
                <a:srgbClr val="000000"/>
              </a:solidFill>
              <a:latin typeface="Consolas" panose="020B0609020204030204" pitchFamily="49" charset="0"/>
            </a:endParaRPr>
          </a:p>
          <a:p>
            <a:pPr algn="l"/>
            <a:r>
              <a:rPr lang="en-US" sz="2000" dirty="0">
                <a:solidFill>
                  <a:srgbClr val="000000"/>
                </a:solidFill>
                <a:latin typeface="Consolas" panose="020B0609020204030204" pitchFamily="49" charset="0"/>
              </a:rPr>
              <a:t>PIVOT (</a:t>
            </a:r>
            <a:r>
              <a:rPr lang="en-US" sz="2000" b="1" dirty="0">
                <a:solidFill>
                  <a:srgbClr val="000080"/>
                </a:solidFill>
                <a:latin typeface="Consolas" panose="020B0609020204030204" pitchFamily="49" charset="0"/>
              </a:rPr>
              <a:t>SUM</a:t>
            </a:r>
            <a:r>
              <a:rPr lang="en-US" sz="2000" b="1" dirty="0">
                <a:solidFill>
                  <a:srgbClr val="000000"/>
                </a:solidFill>
                <a:latin typeface="Consolas" panose="020B0609020204030204" pitchFamily="49" charset="0"/>
              </a:rPr>
              <a:t> (</a:t>
            </a:r>
            <a:r>
              <a:rPr lang="en-US" sz="2000" dirty="0">
                <a:solidFill>
                  <a:srgbClr val="000000"/>
                </a:solidFill>
                <a:latin typeface="Consolas" panose="020B0609020204030204" pitchFamily="49" charset="0"/>
              </a:rPr>
              <a:t>sales</a:t>
            </a:r>
            <a:r>
              <a:rPr lang="en-US" sz="2000" b="1" dirty="0">
                <a:solidFill>
                  <a:srgbClr val="000000"/>
                </a:solidFill>
                <a:latin typeface="Consolas" panose="020B0609020204030204" pitchFamily="49" charset="0"/>
              </a:rPr>
              <a:t>) </a:t>
            </a:r>
            <a:r>
              <a:rPr lang="en-US" sz="2000" b="1" dirty="0">
                <a:solidFill>
                  <a:srgbClr val="800000"/>
                </a:solidFill>
                <a:latin typeface="Consolas" panose="020B0609020204030204" pitchFamily="49" charset="0"/>
              </a:rPr>
              <a:t>for</a:t>
            </a:r>
            <a:r>
              <a:rPr lang="en-US" sz="2000" b="1" dirty="0">
                <a:solidFill>
                  <a:srgbClr val="000000"/>
                </a:solidFill>
                <a:latin typeface="Consolas" panose="020B0609020204030204" pitchFamily="49" charset="0"/>
              </a:rPr>
              <a:t> </a:t>
            </a:r>
            <a:r>
              <a:rPr lang="en-US" sz="2000" dirty="0">
                <a:solidFill>
                  <a:srgbClr val="000000"/>
                </a:solidFill>
                <a:latin typeface="Consolas" panose="020B0609020204030204" pitchFamily="49" charset="0"/>
              </a:rPr>
              <a:t>product</a:t>
            </a:r>
            <a:r>
              <a:rPr lang="en-US" sz="2000" b="1" dirty="0">
                <a:solidFill>
                  <a:srgbClr val="000000"/>
                </a:solidFill>
                <a:latin typeface="Consolas" panose="020B0609020204030204" pitchFamily="49" charset="0"/>
              </a:rPr>
              <a:t> </a:t>
            </a:r>
          </a:p>
          <a:p>
            <a:pPr algn="l"/>
            <a:r>
              <a:rPr lang="it-IT" sz="2000" dirty="0">
                <a:solidFill>
                  <a:srgbClr val="000000"/>
                </a:solidFill>
                <a:latin typeface="Consolas" panose="020B0609020204030204" pitchFamily="49" charset="0"/>
              </a:rPr>
              <a:t>       </a:t>
            </a:r>
            <a:r>
              <a:rPr lang="it-IT" sz="2000" b="1" dirty="0">
                <a:solidFill>
                  <a:srgbClr val="800000"/>
                </a:solidFill>
                <a:latin typeface="Consolas" panose="020B0609020204030204" pitchFamily="49" charset="0"/>
              </a:rPr>
              <a:t>IN</a:t>
            </a:r>
            <a:r>
              <a:rPr lang="it-IT" sz="2000" b="1" dirty="0">
                <a:solidFill>
                  <a:srgbClr val="000000"/>
                </a:solidFill>
                <a:latin typeface="Consolas" panose="020B0609020204030204" pitchFamily="49" charset="0"/>
              </a:rPr>
              <a:t> </a:t>
            </a:r>
            <a:r>
              <a:rPr lang="it-IT" sz="2000" dirty="0">
                <a:solidFill>
                  <a:srgbClr val="000000"/>
                </a:solidFill>
                <a:latin typeface="Consolas" panose="020B0609020204030204" pitchFamily="49" charset="0"/>
              </a:rPr>
              <a:t>(</a:t>
            </a:r>
            <a:r>
              <a:rPr lang="it-IT" sz="2000" dirty="0">
                <a:solidFill>
                  <a:srgbClr val="008000"/>
                </a:solidFill>
                <a:latin typeface="Consolas" panose="020B0609020204030204" pitchFamily="49" charset="0"/>
              </a:rPr>
              <a:t>'Apples'</a:t>
            </a:r>
            <a:r>
              <a:rPr lang="it-IT" sz="2000" dirty="0">
                <a:solidFill>
                  <a:srgbClr val="000000"/>
                </a:solidFill>
                <a:latin typeface="Consolas" panose="020B0609020204030204" pitchFamily="49" charset="0"/>
              </a:rPr>
              <a:t>, </a:t>
            </a:r>
            <a:r>
              <a:rPr lang="it-IT" sz="2000" dirty="0">
                <a:solidFill>
                  <a:srgbClr val="008000"/>
                </a:solidFill>
                <a:latin typeface="Consolas" panose="020B0609020204030204" pitchFamily="49" charset="0"/>
              </a:rPr>
              <a:t>'Bananas'</a:t>
            </a:r>
            <a:r>
              <a:rPr lang="it-IT" sz="2000" dirty="0">
                <a:solidFill>
                  <a:srgbClr val="000000"/>
                </a:solidFill>
                <a:latin typeface="Consolas" panose="020B0609020204030204" pitchFamily="49" charset="0"/>
              </a:rPr>
              <a:t>, </a:t>
            </a:r>
            <a:r>
              <a:rPr lang="it-IT" sz="2000" dirty="0">
                <a:solidFill>
                  <a:srgbClr val="008000"/>
                </a:solidFill>
                <a:latin typeface="Consolas" panose="020B0609020204030204" pitchFamily="49" charset="0"/>
              </a:rPr>
              <a:t>'Cherries'</a:t>
            </a:r>
            <a:r>
              <a:rPr lang="it-IT" sz="2000" dirty="0">
                <a:solidFill>
                  <a:srgbClr val="000000"/>
                </a:solidFill>
                <a:latin typeface="Consolas" panose="020B0609020204030204" pitchFamily="49" charset="0"/>
              </a:rPr>
              <a:t>, </a:t>
            </a:r>
            <a:r>
              <a:rPr lang="it-IT" sz="2000" dirty="0">
                <a:solidFill>
                  <a:srgbClr val="008000"/>
                </a:solidFill>
                <a:latin typeface="Consolas" panose="020B0609020204030204" pitchFamily="49" charset="0"/>
              </a:rPr>
              <a:t>'Oranges'</a:t>
            </a:r>
            <a:r>
              <a:rPr lang="it-IT" sz="2000" dirty="0">
                <a:solidFill>
                  <a:srgbClr val="000000"/>
                </a:solidFill>
                <a:latin typeface="Consolas" panose="020B0609020204030204" pitchFamily="49" charset="0"/>
              </a:rPr>
              <a:t>)</a:t>
            </a:r>
            <a:r>
              <a:rPr lang="en-US" sz="2000" dirty="0">
                <a:solidFill>
                  <a:srgbClr val="000000"/>
                </a:solidFill>
                <a:latin typeface="Consolas" panose="020B0609020204030204" pitchFamily="49" charset="0"/>
              </a:rPr>
              <a:t>)</a:t>
            </a:r>
          </a:p>
          <a:p>
            <a:pPr algn="l"/>
            <a:r>
              <a:rPr lang="en-US" sz="2000" b="1" dirty="0">
                <a:solidFill>
                  <a:srgbClr val="800000"/>
                </a:solidFill>
                <a:latin typeface="Consolas" panose="020B0609020204030204" pitchFamily="49" charset="0"/>
              </a:rPr>
              <a:t>ORDER</a:t>
            </a:r>
            <a:r>
              <a:rPr lang="en-US" sz="2000" b="1" dirty="0">
                <a:solidFill>
                  <a:srgbClr val="000000"/>
                </a:solidFill>
                <a:latin typeface="Consolas" panose="020B0609020204030204" pitchFamily="49" charset="0"/>
              </a:rPr>
              <a:t> </a:t>
            </a:r>
            <a:r>
              <a:rPr lang="en-US" sz="2000" b="1" dirty="0">
                <a:solidFill>
                  <a:srgbClr val="800000"/>
                </a:solidFill>
                <a:latin typeface="Consolas" panose="020B0609020204030204" pitchFamily="49" charset="0"/>
              </a:rPr>
              <a:t>BY</a:t>
            </a:r>
            <a:r>
              <a:rPr lang="en-US" sz="2000" b="1" dirty="0">
                <a:solidFill>
                  <a:srgbClr val="000000"/>
                </a:solidFill>
                <a:latin typeface="Consolas" panose="020B0609020204030204" pitchFamily="49" charset="0"/>
              </a:rPr>
              <a:t> </a:t>
            </a:r>
            <a:r>
              <a:rPr lang="en-US" sz="2000" dirty="0">
                <a:solidFill>
                  <a:srgbClr val="000000"/>
                </a:solidFill>
                <a:latin typeface="Consolas" panose="020B0609020204030204" pitchFamily="49" charset="0"/>
              </a:rPr>
              <a:t>reseller</a:t>
            </a:r>
            <a:r>
              <a:rPr lang="en-US" sz="2000" b="1" dirty="0">
                <a:solidFill>
                  <a:srgbClr val="FF0000"/>
                </a:solidFill>
                <a:latin typeface="Consolas" panose="020B0609020204030204" pitchFamily="49" charset="0"/>
              </a:rPr>
              <a:t>;</a:t>
            </a:r>
            <a:endParaRPr lang="en-US" dirty="0"/>
          </a:p>
        </p:txBody>
      </p:sp>
      <p:sp>
        <p:nvSpPr>
          <p:cNvPr id="9" name="TextBox 8">
            <a:extLst>
              <a:ext uri="{FF2B5EF4-FFF2-40B4-BE49-F238E27FC236}">
                <a16:creationId xmlns:a16="http://schemas.microsoft.com/office/drawing/2014/main" id="{2C6D49F2-80F3-F3AD-7201-ABB76364F91F}"/>
              </a:ext>
            </a:extLst>
          </p:cNvPr>
          <p:cNvSpPr txBox="1">
            <a:spLocks noChangeArrowheads="1"/>
          </p:cNvSpPr>
          <p:nvPr/>
        </p:nvSpPr>
        <p:spPr bwMode="auto">
          <a:xfrm>
            <a:off x="76200" y="6430064"/>
            <a:ext cx="1003608"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Pivoting</a:t>
            </a:r>
          </a:p>
        </p:txBody>
      </p:sp>
      <p:sp>
        <p:nvSpPr>
          <p:cNvPr id="4" name="TextBox 3">
            <a:extLst>
              <a:ext uri="{FF2B5EF4-FFF2-40B4-BE49-F238E27FC236}">
                <a16:creationId xmlns:a16="http://schemas.microsoft.com/office/drawing/2014/main" id="{45D5D5DD-BF1C-4291-14DC-704A210C88D7}"/>
              </a:ext>
            </a:extLst>
          </p:cNvPr>
          <p:cNvSpPr txBox="1"/>
          <p:nvPr/>
        </p:nvSpPr>
        <p:spPr>
          <a:xfrm>
            <a:off x="2209800" y="4064676"/>
            <a:ext cx="9906000" cy="2246769"/>
          </a:xfrm>
          <a:prstGeom prst="rect">
            <a:avLst/>
          </a:prstGeom>
          <a:solidFill>
            <a:schemeClr val="bg1"/>
          </a:solidFill>
          <a:ln>
            <a:solidFill>
              <a:schemeClr val="bg1">
                <a:lumMod val="50000"/>
              </a:schemeClr>
            </a:solidFill>
          </a:ln>
          <a:effectLst>
            <a:outerShdw blurRad="127000" dist="88900" dir="2700000" algn="tl" rotWithShape="0">
              <a:prstClr val="black">
                <a:alpha val="40000"/>
              </a:prstClr>
            </a:outerShdw>
          </a:effectLst>
        </p:spPr>
        <p:txBody>
          <a:bodyPr wrap="square">
            <a:spAutoFit/>
          </a:bodyPr>
          <a:lstStyle>
            <a:defPPr>
              <a:defRPr lang="en-US"/>
            </a:defPPr>
            <a:lvl1pPr>
              <a:defRPr>
                <a:solidFill>
                  <a:srgbClr val="800000"/>
                </a:solidFill>
                <a:latin typeface="Consolas" panose="020B0609020204030204" pitchFamily="49" charset="0"/>
              </a:defRPr>
            </a:lvl1pPr>
          </a:lstStyle>
          <a:p>
            <a:pPr algn="l"/>
            <a:r>
              <a:rPr lang="en-US" sz="2000" b="1" dirty="0">
                <a:solidFill>
                  <a:srgbClr val="800000"/>
                </a:solidFill>
                <a:latin typeface="Consolas" panose="020B0609020204030204" pitchFamily="49" charset="0"/>
              </a:rPr>
              <a:t>SELECT</a:t>
            </a:r>
            <a:r>
              <a:rPr lang="en-US" sz="2000" b="1"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reseler</a:t>
            </a:r>
            <a:r>
              <a:rPr lang="en-US" sz="2000" dirty="0">
                <a:solidFill>
                  <a:srgbClr val="000000"/>
                </a:solidFill>
                <a:latin typeface="Consolas" panose="020B0609020204030204" pitchFamily="49" charset="0"/>
              </a:rPr>
              <a:t>, </a:t>
            </a:r>
          </a:p>
          <a:p>
            <a:pPr algn="l"/>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'Apples'</a:t>
            </a:r>
            <a:r>
              <a:rPr lang="en-US" sz="2000" dirty="0">
                <a:solidFill>
                  <a:srgbClr val="000000"/>
                </a:solidFill>
                <a:latin typeface="Consolas" panose="020B0609020204030204" pitchFamily="49" charset="0"/>
              </a:rPr>
              <a:t> </a:t>
            </a:r>
            <a:r>
              <a:rPr lang="en-US" sz="2000" b="1" dirty="0">
                <a:solidFill>
                  <a:srgbClr val="800000"/>
                </a:solidFill>
                <a:latin typeface="Consolas" panose="020B0609020204030204" pitchFamily="49" charset="0"/>
              </a:rPr>
              <a:t>AS</a:t>
            </a:r>
            <a:r>
              <a:rPr lang="en-US" sz="2000" b="1" dirty="0">
                <a:solidFill>
                  <a:srgbClr val="000000"/>
                </a:solidFill>
                <a:latin typeface="Consolas" panose="020B0609020204030204" pitchFamily="49" charset="0"/>
              </a:rPr>
              <a:t> </a:t>
            </a:r>
            <a:r>
              <a:rPr lang="en-US" sz="2000" dirty="0">
                <a:solidFill>
                  <a:srgbClr val="000000"/>
                </a:solidFill>
                <a:latin typeface="Consolas" panose="020B0609020204030204" pitchFamily="49" charset="0"/>
              </a:rPr>
              <a:t>Apples</a:t>
            </a:r>
            <a:r>
              <a:rPr lang="en-US" sz="2000" b="1"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'Bananas'</a:t>
            </a:r>
            <a:r>
              <a:rPr lang="en-US" sz="2000" dirty="0">
                <a:solidFill>
                  <a:srgbClr val="000000"/>
                </a:solidFill>
                <a:latin typeface="Consolas" panose="020B0609020204030204" pitchFamily="49" charset="0"/>
              </a:rPr>
              <a:t> </a:t>
            </a:r>
            <a:r>
              <a:rPr lang="en-US" sz="2000" b="1" dirty="0">
                <a:solidFill>
                  <a:srgbClr val="800000"/>
                </a:solidFill>
                <a:latin typeface="Consolas" panose="020B0609020204030204" pitchFamily="49" charset="0"/>
              </a:rPr>
              <a:t>AS</a:t>
            </a:r>
            <a:r>
              <a:rPr lang="en-US" sz="2000" b="1" dirty="0">
                <a:solidFill>
                  <a:srgbClr val="000000"/>
                </a:solidFill>
                <a:latin typeface="Consolas" panose="020B0609020204030204" pitchFamily="49" charset="0"/>
              </a:rPr>
              <a:t> </a:t>
            </a:r>
            <a:r>
              <a:rPr lang="en-US" sz="2000" dirty="0">
                <a:solidFill>
                  <a:srgbClr val="000000"/>
                </a:solidFill>
                <a:latin typeface="Consolas" panose="020B0609020204030204" pitchFamily="49" charset="0"/>
              </a:rPr>
              <a:t>Bananas, </a:t>
            </a:r>
          </a:p>
          <a:p>
            <a:pPr algn="l"/>
            <a:r>
              <a:rPr lang="en-US" sz="2000" b="1" dirty="0">
                <a:solidFill>
                  <a:srgbClr val="000000"/>
                </a:solidFill>
              </a:rPr>
              <a:t>  </a:t>
            </a:r>
            <a:r>
              <a:rPr lang="en-US" sz="2000" dirty="0">
                <a:solidFill>
                  <a:srgbClr val="008000"/>
                </a:solidFill>
                <a:latin typeface="Consolas" panose="020B0609020204030204" pitchFamily="49" charset="0"/>
              </a:rPr>
              <a:t>'Cherries'</a:t>
            </a:r>
            <a:r>
              <a:rPr lang="en-US" sz="2000" dirty="0">
                <a:solidFill>
                  <a:srgbClr val="000000"/>
                </a:solidFill>
                <a:latin typeface="Consolas" panose="020B0609020204030204" pitchFamily="49" charset="0"/>
              </a:rPr>
              <a:t> </a:t>
            </a:r>
            <a:r>
              <a:rPr lang="en-US" sz="2000" b="1" dirty="0">
                <a:solidFill>
                  <a:srgbClr val="800000"/>
                </a:solidFill>
                <a:latin typeface="Consolas" panose="020B0609020204030204" pitchFamily="49" charset="0"/>
              </a:rPr>
              <a:t>AS</a:t>
            </a:r>
            <a:r>
              <a:rPr lang="en-US" sz="2000" b="1" dirty="0">
                <a:solidFill>
                  <a:srgbClr val="000000"/>
                </a:solidFill>
                <a:latin typeface="Consolas" panose="020B0609020204030204" pitchFamily="49" charset="0"/>
              </a:rPr>
              <a:t> </a:t>
            </a:r>
            <a:r>
              <a:rPr lang="en-US" sz="2000" dirty="0">
                <a:solidFill>
                  <a:srgbClr val="000000"/>
                </a:solidFill>
                <a:latin typeface="Consolas" panose="020B0609020204030204" pitchFamily="49" charset="0"/>
              </a:rPr>
              <a:t>Cherries, </a:t>
            </a:r>
            <a:r>
              <a:rPr lang="en-US" sz="2000" dirty="0">
                <a:solidFill>
                  <a:srgbClr val="008000"/>
                </a:solidFill>
                <a:latin typeface="Consolas" panose="020B0609020204030204" pitchFamily="49" charset="0"/>
              </a:rPr>
              <a:t>'Oranges'</a:t>
            </a:r>
            <a:r>
              <a:rPr lang="en-US" sz="2000" dirty="0">
                <a:solidFill>
                  <a:srgbClr val="000000"/>
                </a:solidFill>
                <a:latin typeface="Consolas" panose="020B0609020204030204" pitchFamily="49" charset="0"/>
              </a:rPr>
              <a:t> </a:t>
            </a:r>
            <a:r>
              <a:rPr lang="en-US" sz="2000" b="1" dirty="0">
                <a:solidFill>
                  <a:srgbClr val="800000"/>
                </a:solidFill>
                <a:latin typeface="Consolas" panose="020B0609020204030204" pitchFamily="49" charset="0"/>
              </a:rPr>
              <a:t>AS</a:t>
            </a:r>
            <a:r>
              <a:rPr lang="en-US" sz="2000" b="1" dirty="0">
                <a:solidFill>
                  <a:srgbClr val="000000"/>
                </a:solidFill>
                <a:latin typeface="Consolas" panose="020B0609020204030204" pitchFamily="49" charset="0"/>
              </a:rPr>
              <a:t> </a:t>
            </a:r>
            <a:r>
              <a:rPr lang="en-US" sz="2000" dirty="0">
                <a:solidFill>
                  <a:srgbClr val="000000"/>
                </a:solidFill>
                <a:latin typeface="Consolas" panose="020B0609020204030204" pitchFamily="49" charset="0"/>
              </a:rPr>
              <a:t>Oranges</a:t>
            </a:r>
          </a:p>
          <a:p>
            <a:pPr algn="l"/>
            <a:r>
              <a:rPr lang="en-US" sz="2000" b="1" dirty="0">
                <a:solidFill>
                  <a:srgbClr val="800000"/>
                </a:solidFill>
                <a:latin typeface="Consolas" panose="020B0609020204030204" pitchFamily="49" charset="0"/>
              </a:rPr>
              <a:t>FROM</a:t>
            </a:r>
            <a:r>
              <a:rPr lang="en-US" sz="2000" b="1"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pivotsales</a:t>
            </a:r>
            <a:endParaRPr lang="en-US" sz="2000" dirty="0">
              <a:solidFill>
                <a:srgbClr val="000000"/>
              </a:solidFill>
              <a:latin typeface="Consolas" panose="020B0609020204030204" pitchFamily="49" charset="0"/>
            </a:endParaRPr>
          </a:p>
          <a:p>
            <a:pPr algn="l"/>
            <a:r>
              <a:rPr lang="en-US" sz="2000" dirty="0">
                <a:solidFill>
                  <a:srgbClr val="000000"/>
                </a:solidFill>
                <a:latin typeface="Consolas" panose="020B0609020204030204" pitchFamily="49" charset="0"/>
              </a:rPr>
              <a:t>PIVOT (</a:t>
            </a:r>
            <a:r>
              <a:rPr lang="en-US" sz="2000" b="1" dirty="0">
                <a:solidFill>
                  <a:srgbClr val="000080"/>
                </a:solidFill>
                <a:latin typeface="Consolas" panose="020B0609020204030204" pitchFamily="49" charset="0"/>
              </a:rPr>
              <a:t>SUM</a:t>
            </a:r>
            <a:r>
              <a:rPr lang="en-US" sz="2000" b="1" dirty="0">
                <a:solidFill>
                  <a:srgbClr val="000000"/>
                </a:solidFill>
                <a:latin typeface="Consolas" panose="020B0609020204030204" pitchFamily="49" charset="0"/>
              </a:rPr>
              <a:t> (</a:t>
            </a:r>
            <a:r>
              <a:rPr lang="en-US" sz="2000" dirty="0">
                <a:solidFill>
                  <a:srgbClr val="000000"/>
                </a:solidFill>
                <a:latin typeface="Consolas" panose="020B0609020204030204" pitchFamily="49" charset="0"/>
              </a:rPr>
              <a:t>sales</a:t>
            </a:r>
            <a:r>
              <a:rPr lang="en-US" sz="2000" b="1" dirty="0">
                <a:solidFill>
                  <a:srgbClr val="000000"/>
                </a:solidFill>
                <a:latin typeface="Consolas" panose="020B0609020204030204" pitchFamily="49" charset="0"/>
              </a:rPr>
              <a:t>) </a:t>
            </a:r>
            <a:r>
              <a:rPr lang="en-US" sz="2000" b="1" dirty="0">
                <a:solidFill>
                  <a:srgbClr val="800000"/>
                </a:solidFill>
                <a:latin typeface="Consolas" panose="020B0609020204030204" pitchFamily="49" charset="0"/>
              </a:rPr>
              <a:t>for</a:t>
            </a:r>
            <a:r>
              <a:rPr lang="en-US" sz="2000" b="1" dirty="0">
                <a:solidFill>
                  <a:srgbClr val="000000"/>
                </a:solidFill>
                <a:latin typeface="Consolas" panose="020B0609020204030204" pitchFamily="49" charset="0"/>
              </a:rPr>
              <a:t> </a:t>
            </a:r>
            <a:r>
              <a:rPr lang="en-US" sz="2000" dirty="0">
                <a:solidFill>
                  <a:srgbClr val="000000"/>
                </a:solidFill>
                <a:latin typeface="Consolas" panose="020B0609020204030204" pitchFamily="49" charset="0"/>
              </a:rPr>
              <a:t>product</a:t>
            </a:r>
            <a:r>
              <a:rPr lang="en-US" sz="2000" b="1" dirty="0">
                <a:solidFill>
                  <a:srgbClr val="000000"/>
                </a:solidFill>
                <a:latin typeface="Consolas" panose="020B0609020204030204" pitchFamily="49" charset="0"/>
              </a:rPr>
              <a:t> </a:t>
            </a:r>
          </a:p>
          <a:p>
            <a:pPr algn="l"/>
            <a:r>
              <a:rPr lang="it-IT" sz="2000" dirty="0">
                <a:solidFill>
                  <a:srgbClr val="000000"/>
                </a:solidFill>
                <a:latin typeface="Consolas" panose="020B0609020204030204" pitchFamily="49" charset="0"/>
              </a:rPr>
              <a:t>       </a:t>
            </a:r>
            <a:r>
              <a:rPr lang="it-IT" sz="2000" b="1" dirty="0">
                <a:solidFill>
                  <a:srgbClr val="800000"/>
                </a:solidFill>
                <a:latin typeface="Consolas" panose="020B0609020204030204" pitchFamily="49" charset="0"/>
              </a:rPr>
              <a:t>IN</a:t>
            </a:r>
            <a:r>
              <a:rPr lang="it-IT" sz="2000" b="1" dirty="0">
                <a:solidFill>
                  <a:srgbClr val="000000"/>
                </a:solidFill>
                <a:latin typeface="Consolas" panose="020B0609020204030204" pitchFamily="49" charset="0"/>
              </a:rPr>
              <a:t> (</a:t>
            </a:r>
            <a:r>
              <a:rPr lang="it-IT" sz="2000" dirty="0">
                <a:solidFill>
                  <a:srgbClr val="008000"/>
                </a:solidFill>
                <a:latin typeface="Consolas" panose="020B0609020204030204" pitchFamily="49" charset="0"/>
              </a:rPr>
              <a:t>'Apples'</a:t>
            </a:r>
            <a:r>
              <a:rPr lang="it-IT" sz="2000" dirty="0">
                <a:solidFill>
                  <a:srgbClr val="000000"/>
                </a:solidFill>
                <a:latin typeface="Consolas" panose="020B0609020204030204" pitchFamily="49" charset="0"/>
              </a:rPr>
              <a:t>, </a:t>
            </a:r>
            <a:r>
              <a:rPr lang="it-IT" sz="2000" dirty="0">
                <a:solidFill>
                  <a:srgbClr val="008000"/>
                </a:solidFill>
                <a:latin typeface="Consolas" panose="020B0609020204030204" pitchFamily="49" charset="0"/>
              </a:rPr>
              <a:t>'Bananas'</a:t>
            </a:r>
            <a:r>
              <a:rPr lang="it-IT" sz="2000" dirty="0">
                <a:solidFill>
                  <a:srgbClr val="000000"/>
                </a:solidFill>
                <a:latin typeface="Consolas" panose="020B0609020204030204" pitchFamily="49" charset="0"/>
              </a:rPr>
              <a:t>, </a:t>
            </a:r>
            <a:r>
              <a:rPr lang="it-IT" sz="2000" dirty="0">
                <a:solidFill>
                  <a:srgbClr val="008000"/>
                </a:solidFill>
                <a:latin typeface="Consolas" panose="020B0609020204030204" pitchFamily="49" charset="0"/>
              </a:rPr>
              <a:t>'Cherries'</a:t>
            </a:r>
            <a:r>
              <a:rPr lang="it-IT" sz="2000" dirty="0">
                <a:solidFill>
                  <a:srgbClr val="000000"/>
                </a:solidFill>
                <a:latin typeface="Consolas" panose="020B0609020204030204" pitchFamily="49" charset="0"/>
              </a:rPr>
              <a:t>, </a:t>
            </a:r>
            <a:r>
              <a:rPr lang="it-IT" sz="2000" dirty="0">
                <a:solidFill>
                  <a:srgbClr val="008000"/>
                </a:solidFill>
                <a:latin typeface="Consolas" panose="020B0609020204030204" pitchFamily="49" charset="0"/>
              </a:rPr>
              <a:t>'Oranges’</a:t>
            </a:r>
            <a:r>
              <a:rPr lang="it-IT" sz="2000" dirty="0">
                <a:solidFill>
                  <a:srgbClr val="000000"/>
                </a:solidFill>
                <a:latin typeface="Consolas" panose="020B0609020204030204" pitchFamily="49" charset="0"/>
              </a:rPr>
              <a:t>) </a:t>
            </a:r>
            <a:r>
              <a:rPr lang="en-US" sz="2000" dirty="0">
                <a:solidFill>
                  <a:srgbClr val="000000"/>
                </a:solidFill>
                <a:latin typeface="Consolas" panose="020B0609020204030204" pitchFamily="49" charset="0"/>
              </a:rPr>
              <a:t>)</a:t>
            </a:r>
          </a:p>
          <a:p>
            <a:pPr algn="l"/>
            <a:r>
              <a:rPr lang="en-US" sz="2000" b="1" dirty="0">
                <a:solidFill>
                  <a:srgbClr val="800000"/>
                </a:solidFill>
                <a:latin typeface="Consolas" panose="020B0609020204030204" pitchFamily="49" charset="0"/>
              </a:rPr>
              <a:t>ORDER</a:t>
            </a:r>
            <a:r>
              <a:rPr lang="en-US" sz="2000" b="1" dirty="0">
                <a:solidFill>
                  <a:srgbClr val="000000"/>
                </a:solidFill>
                <a:latin typeface="Consolas" panose="020B0609020204030204" pitchFamily="49" charset="0"/>
              </a:rPr>
              <a:t> </a:t>
            </a:r>
            <a:r>
              <a:rPr lang="en-US" sz="2000" b="1" dirty="0">
                <a:solidFill>
                  <a:srgbClr val="800000"/>
                </a:solidFill>
                <a:latin typeface="Consolas" panose="020B0609020204030204" pitchFamily="49" charset="0"/>
              </a:rPr>
              <a:t>BY</a:t>
            </a:r>
            <a:r>
              <a:rPr lang="en-US" sz="2000" b="1" dirty="0">
                <a:solidFill>
                  <a:srgbClr val="000000"/>
                </a:solidFill>
                <a:latin typeface="Consolas" panose="020B0609020204030204" pitchFamily="49" charset="0"/>
              </a:rPr>
              <a:t> reseller</a:t>
            </a:r>
            <a:r>
              <a:rPr lang="en-US" sz="2000" b="1" dirty="0">
                <a:solidFill>
                  <a:srgbClr val="FF0000"/>
                </a:solidFill>
                <a:latin typeface="Consolas" panose="020B0609020204030204" pitchFamily="49" charset="0"/>
              </a:rPr>
              <a:t>;</a:t>
            </a:r>
            <a:endParaRPr lang="en-US" dirty="0"/>
          </a:p>
        </p:txBody>
      </p:sp>
    </p:spTree>
    <p:extLst>
      <p:ext uri="{BB962C8B-B14F-4D97-AF65-F5344CB8AC3E}">
        <p14:creationId xmlns:p14="http://schemas.microsoft.com/office/powerpoint/2010/main" val="4258643211"/>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3F714-9876-B42D-41EA-6985AD9B234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BA2FBC-E713-CEF5-070A-3C319C2B7F47}"/>
              </a:ext>
            </a:extLst>
          </p:cNvPr>
          <p:cNvSpPr>
            <a:spLocks noGrp="1"/>
          </p:cNvSpPr>
          <p:nvPr>
            <p:ph idx="1"/>
          </p:nvPr>
        </p:nvSpPr>
        <p:spPr/>
        <p:txBody>
          <a:bodyPr/>
          <a:lstStyle/>
          <a:p>
            <a:r>
              <a:rPr lang="en-US" dirty="0"/>
              <a:t>Aggregate and Statistical Functions</a:t>
            </a:r>
          </a:p>
        </p:txBody>
      </p:sp>
    </p:spTree>
    <p:extLst>
      <p:ext uri="{BB962C8B-B14F-4D97-AF65-F5344CB8AC3E}">
        <p14:creationId xmlns:p14="http://schemas.microsoft.com/office/powerpoint/2010/main" val="886209328"/>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B6E5F-2684-C3D6-BE9B-AC047519CD81}"/>
              </a:ext>
            </a:extLst>
          </p:cNvPr>
          <p:cNvSpPr>
            <a:spLocks noGrp="1"/>
          </p:cNvSpPr>
          <p:nvPr>
            <p:ph type="title"/>
          </p:nvPr>
        </p:nvSpPr>
        <p:spPr/>
        <p:txBody>
          <a:bodyPr/>
          <a:lstStyle/>
          <a:p>
            <a:r>
              <a:rPr lang="en-US" dirty="0"/>
              <a:t>Aggregations: Number-Based</a:t>
            </a:r>
          </a:p>
        </p:txBody>
      </p:sp>
      <p:graphicFrame>
        <p:nvGraphicFramePr>
          <p:cNvPr id="5" name="Table 4">
            <a:extLst>
              <a:ext uri="{FF2B5EF4-FFF2-40B4-BE49-F238E27FC236}">
                <a16:creationId xmlns:a16="http://schemas.microsoft.com/office/drawing/2014/main" id="{0C66E88B-9813-CD95-846C-080268D9FE5A}"/>
              </a:ext>
            </a:extLst>
          </p:cNvPr>
          <p:cNvGraphicFramePr>
            <a:graphicFrameLocks noGrp="1"/>
          </p:cNvGraphicFramePr>
          <p:nvPr>
            <p:extLst>
              <p:ext uri="{D42A27DB-BD31-4B8C-83A1-F6EECF244321}">
                <p14:modId xmlns:p14="http://schemas.microsoft.com/office/powerpoint/2010/main" val="542664648"/>
              </p:ext>
            </p:extLst>
          </p:nvPr>
        </p:nvGraphicFramePr>
        <p:xfrm>
          <a:off x="290513" y="1043305"/>
          <a:ext cx="11672887" cy="3338195"/>
        </p:xfrm>
        <a:graphic>
          <a:graphicData uri="http://schemas.openxmlformats.org/drawingml/2006/table">
            <a:tbl>
              <a:tblPr>
                <a:tableStyleId>{5940675A-B579-460E-94D1-54222C63F5DA}</a:tableStyleId>
              </a:tblPr>
              <a:tblGrid>
                <a:gridCol w="1385887">
                  <a:extLst>
                    <a:ext uri="{9D8B030D-6E8A-4147-A177-3AD203B41FA5}">
                      <a16:colId xmlns:a16="http://schemas.microsoft.com/office/drawing/2014/main" val="1505953182"/>
                    </a:ext>
                  </a:extLst>
                </a:gridCol>
                <a:gridCol w="4572000">
                  <a:extLst>
                    <a:ext uri="{9D8B030D-6E8A-4147-A177-3AD203B41FA5}">
                      <a16:colId xmlns:a16="http://schemas.microsoft.com/office/drawing/2014/main" val="3695703094"/>
                    </a:ext>
                  </a:extLst>
                </a:gridCol>
                <a:gridCol w="5715000">
                  <a:extLst>
                    <a:ext uri="{9D8B030D-6E8A-4147-A177-3AD203B41FA5}">
                      <a16:colId xmlns:a16="http://schemas.microsoft.com/office/drawing/2014/main" val="3715002912"/>
                    </a:ext>
                  </a:extLst>
                </a:gridCol>
              </a:tblGrid>
              <a:tr h="337820">
                <a:tc>
                  <a:txBody>
                    <a:bodyPr/>
                    <a:lstStyle/>
                    <a:p>
                      <a:pPr algn="l"/>
                      <a:r>
                        <a:rPr lang="en-US" sz="1800" b="1" dirty="0">
                          <a:solidFill>
                            <a:srgbClr val="404040"/>
                          </a:solidFill>
                          <a:effectLst/>
                        </a:rPr>
                        <a:t>Name</a:t>
                      </a:r>
                    </a:p>
                  </a:txBody>
                  <a:tcPr marR="31750" marT="31750" marB="31750" anchor="ctr"/>
                </a:tc>
                <a:tc>
                  <a:txBody>
                    <a:bodyPr/>
                    <a:lstStyle/>
                    <a:p>
                      <a:pPr algn="l"/>
                      <a:r>
                        <a:rPr lang="en-US" sz="1800" b="1">
                          <a:solidFill>
                            <a:srgbClr val="404040"/>
                          </a:solidFill>
                          <a:effectLst/>
                        </a:rPr>
                        <a:t>Description</a:t>
                      </a:r>
                    </a:p>
                  </a:txBody>
                  <a:tcPr marL="31750" marR="31750" marT="31750" marB="31750" anchor="ctr"/>
                </a:tc>
                <a:tc>
                  <a:txBody>
                    <a:bodyPr/>
                    <a:lstStyle/>
                    <a:p>
                      <a:pPr algn="l"/>
                      <a:r>
                        <a:rPr lang="en-US" sz="1800" b="1">
                          <a:solidFill>
                            <a:srgbClr val="404040"/>
                          </a:solidFill>
                          <a:effectLst/>
                        </a:rPr>
                        <a:t>Example</a:t>
                      </a:r>
                    </a:p>
                  </a:txBody>
                  <a:tcPr marL="31750" marR="31750" marT="31750" marB="31750" anchor="ctr"/>
                </a:tc>
                <a:extLst>
                  <a:ext uri="{0D108BD9-81ED-4DB2-BD59-A6C34878D82A}">
                    <a16:rowId xmlns:a16="http://schemas.microsoft.com/office/drawing/2014/main" val="3949365005"/>
                  </a:ext>
                </a:extLst>
              </a:tr>
              <a:tr h="523875">
                <a:tc>
                  <a:txBody>
                    <a:bodyPr/>
                    <a:lstStyle/>
                    <a:p>
                      <a:r>
                        <a:rPr lang="en-US" sz="1800" dirty="0">
                          <a:effectLst/>
                        </a:rPr>
                        <a:t>SUM()</a:t>
                      </a:r>
                    </a:p>
                  </a:txBody>
                  <a:tcPr marR="31750" marT="31750" marB="31750" anchor="ctr"/>
                </a:tc>
                <a:tc>
                  <a:txBody>
                    <a:bodyPr/>
                    <a:lstStyle/>
                    <a:p>
                      <a:r>
                        <a:rPr lang="en-US" sz="1800" dirty="0">
                          <a:effectLst/>
                        </a:rPr>
                        <a:t>Calculates the total sum of numeric values</a:t>
                      </a:r>
                    </a:p>
                  </a:txBody>
                  <a:tcPr marL="31750" marR="31750" marT="31750" marB="31750" anchor="ctr"/>
                </a:tc>
                <a:tc>
                  <a:txBody>
                    <a:bodyPr/>
                    <a:lstStyle/>
                    <a:p>
                      <a:r>
                        <a:rPr lang="en-US" sz="1600" dirty="0">
                          <a:effectLst/>
                        </a:rPr>
                        <a:t>SELECT SUM(salary) FROM employees; → 250000  </a:t>
                      </a:r>
                    </a:p>
                  </a:txBody>
                  <a:tcPr marL="31750" marR="31750" marT="31750" marB="31750" anchor="ctr"/>
                </a:tc>
                <a:extLst>
                  <a:ext uri="{0D108BD9-81ED-4DB2-BD59-A6C34878D82A}">
                    <a16:rowId xmlns:a16="http://schemas.microsoft.com/office/drawing/2014/main" val="3713904064"/>
                  </a:ext>
                </a:extLst>
              </a:tr>
              <a:tr h="457200">
                <a:tc>
                  <a:txBody>
                    <a:bodyPr/>
                    <a:lstStyle/>
                    <a:p>
                      <a:r>
                        <a:rPr lang="en-US" sz="1800" dirty="0">
                          <a:effectLst/>
                        </a:rPr>
                        <a:t>AVG()</a:t>
                      </a:r>
                    </a:p>
                  </a:txBody>
                  <a:tcPr marR="31750" marT="31750" marB="31750" anchor="ctr"/>
                </a:tc>
                <a:tc>
                  <a:txBody>
                    <a:bodyPr/>
                    <a:lstStyle/>
                    <a:p>
                      <a:r>
                        <a:rPr lang="en-US" sz="1800">
                          <a:effectLst/>
                        </a:rPr>
                        <a:t>Computes the arithmetic mean</a:t>
                      </a:r>
                    </a:p>
                  </a:txBody>
                  <a:tcPr marL="31750" marR="31750" marT="31750" marB="31750" anchor="ctr"/>
                </a:tc>
                <a:tc>
                  <a:txBody>
                    <a:bodyPr/>
                    <a:lstStyle/>
                    <a:p>
                      <a:r>
                        <a:rPr lang="en-US" sz="1800" dirty="0">
                          <a:effectLst/>
                        </a:rPr>
                        <a:t>SELECT AVG(salary) FROM employees; → 75000  </a:t>
                      </a:r>
                    </a:p>
                  </a:txBody>
                  <a:tcPr marL="31750" marR="31750" marT="31750" marB="31750" anchor="ctr"/>
                </a:tc>
                <a:extLst>
                  <a:ext uri="{0D108BD9-81ED-4DB2-BD59-A6C34878D82A}">
                    <a16:rowId xmlns:a16="http://schemas.microsoft.com/office/drawing/2014/main" val="3748635958"/>
                  </a:ext>
                </a:extLst>
              </a:tr>
              <a:tr h="457200">
                <a:tc>
                  <a:txBody>
                    <a:bodyPr/>
                    <a:lstStyle/>
                    <a:p>
                      <a:r>
                        <a:rPr lang="en-US" sz="1800" dirty="0">
                          <a:effectLst/>
                        </a:rPr>
                        <a:t>MIN()</a:t>
                      </a:r>
                    </a:p>
                  </a:txBody>
                  <a:tcPr marR="31750" marT="31750" marB="31750" anchor="ctr"/>
                </a:tc>
                <a:tc>
                  <a:txBody>
                    <a:bodyPr/>
                    <a:lstStyle/>
                    <a:p>
                      <a:r>
                        <a:rPr lang="en-US" sz="1800">
                          <a:effectLst/>
                        </a:rPr>
                        <a:t>Returns the smallest value</a:t>
                      </a:r>
                    </a:p>
                  </a:txBody>
                  <a:tcPr marL="31750" marR="31750" marT="31750" marB="31750" anchor="ctr"/>
                </a:tc>
                <a:tc>
                  <a:txBody>
                    <a:bodyPr/>
                    <a:lstStyle/>
                    <a:p>
                      <a:r>
                        <a:rPr lang="en-US" sz="1800" dirty="0">
                          <a:effectLst/>
                        </a:rPr>
                        <a:t>SELECT MIN(salary) FROM employees; → 50000  </a:t>
                      </a:r>
                    </a:p>
                  </a:txBody>
                  <a:tcPr marL="31750" marR="31750" marT="31750" marB="31750" anchor="ctr"/>
                </a:tc>
                <a:extLst>
                  <a:ext uri="{0D108BD9-81ED-4DB2-BD59-A6C34878D82A}">
                    <a16:rowId xmlns:a16="http://schemas.microsoft.com/office/drawing/2014/main" val="1968539924"/>
                  </a:ext>
                </a:extLst>
              </a:tr>
              <a:tr h="302895">
                <a:tc>
                  <a:txBody>
                    <a:bodyPr/>
                    <a:lstStyle/>
                    <a:p>
                      <a:r>
                        <a:rPr lang="en-US" sz="1800">
                          <a:effectLst/>
                        </a:rPr>
                        <a:t>MAX()</a:t>
                      </a:r>
                    </a:p>
                  </a:txBody>
                  <a:tcPr marR="31750" marT="31750" marB="31750" anchor="ctr"/>
                </a:tc>
                <a:tc>
                  <a:txBody>
                    <a:bodyPr/>
                    <a:lstStyle/>
                    <a:p>
                      <a:r>
                        <a:rPr lang="en-US" sz="1800">
                          <a:effectLst/>
                        </a:rPr>
                        <a:t>Returns the largest value</a:t>
                      </a:r>
                    </a:p>
                  </a:txBody>
                  <a:tcPr marL="31750" marR="31750" marT="31750" marB="31750" anchor="ctr"/>
                </a:tc>
                <a:tc>
                  <a:txBody>
                    <a:bodyPr/>
                    <a:lstStyle/>
                    <a:p>
                      <a:r>
                        <a:rPr lang="en-US" sz="1800" dirty="0">
                          <a:effectLst/>
                        </a:rPr>
                        <a:t>SELECT MAX(salary) FROM employees; → 100000  </a:t>
                      </a:r>
                    </a:p>
                  </a:txBody>
                  <a:tcPr marL="31750" marR="31750" marT="31750" marB="31750" anchor="ctr"/>
                </a:tc>
                <a:extLst>
                  <a:ext uri="{0D108BD9-81ED-4DB2-BD59-A6C34878D82A}">
                    <a16:rowId xmlns:a16="http://schemas.microsoft.com/office/drawing/2014/main" val="2104696289"/>
                  </a:ext>
                </a:extLst>
              </a:tr>
              <a:tr h="347980">
                <a:tc>
                  <a:txBody>
                    <a:bodyPr/>
                    <a:lstStyle/>
                    <a:p>
                      <a:r>
                        <a:rPr lang="en-US" sz="1800" dirty="0">
                          <a:effectLst/>
                        </a:rPr>
                        <a:t>BIT_AND()</a:t>
                      </a:r>
                    </a:p>
                  </a:txBody>
                  <a:tcPr marR="31750" marT="31750" marB="31750" anchor="ctr"/>
                </a:tc>
                <a:tc>
                  <a:txBody>
                    <a:bodyPr/>
                    <a:lstStyle/>
                    <a:p>
                      <a:r>
                        <a:rPr lang="en-US" sz="1800">
                          <a:effectLst/>
                        </a:rPr>
                        <a:t>Bitwise AND operation</a:t>
                      </a:r>
                    </a:p>
                  </a:txBody>
                  <a:tcPr marL="31750" marR="31750" marT="31750" marB="31750" anchor="ctr"/>
                </a:tc>
                <a:tc>
                  <a:txBody>
                    <a:bodyPr/>
                    <a:lstStyle/>
                    <a:p>
                      <a:r>
                        <a:rPr lang="en-US" sz="1800" dirty="0">
                          <a:effectLst/>
                        </a:rPr>
                        <a:t>SELECT BIT_AND(likes) FROM </a:t>
                      </a:r>
                      <a:r>
                        <a:rPr lang="en-US" sz="1800" dirty="0" err="1">
                          <a:effectLst/>
                        </a:rPr>
                        <a:t>userlikes</a:t>
                      </a:r>
                      <a:r>
                        <a:rPr lang="en-US" sz="1800" dirty="0">
                          <a:effectLst/>
                        </a:rPr>
                        <a:t>; → 64 (binary 01)</a:t>
                      </a:r>
                    </a:p>
                  </a:txBody>
                  <a:tcPr marL="31750" marR="31750" marT="31750" marB="31750" anchor="ctr"/>
                </a:tc>
                <a:extLst>
                  <a:ext uri="{0D108BD9-81ED-4DB2-BD59-A6C34878D82A}">
                    <a16:rowId xmlns:a16="http://schemas.microsoft.com/office/drawing/2014/main" val="380944258"/>
                  </a:ext>
                </a:extLst>
              </a:tr>
              <a:tr h="99695">
                <a:tc>
                  <a:txBody>
                    <a:bodyPr/>
                    <a:lstStyle/>
                    <a:p>
                      <a:r>
                        <a:rPr lang="en-US" sz="1800">
                          <a:effectLst/>
                        </a:rPr>
                        <a:t>BIT_OR()</a:t>
                      </a:r>
                    </a:p>
                  </a:txBody>
                  <a:tcPr marR="31750" marT="31750" marB="31750" anchor="ctr"/>
                </a:tc>
                <a:tc>
                  <a:txBody>
                    <a:bodyPr/>
                    <a:lstStyle/>
                    <a:p>
                      <a:r>
                        <a:rPr lang="en-US" sz="1800" dirty="0">
                          <a:effectLst/>
                        </a:rPr>
                        <a:t>Bitwise OR operation</a:t>
                      </a:r>
                    </a:p>
                  </a:txBody>
                  <a:tcPr marL="31750" marR="31750" marT="31750" marB="31750" anchor="ctr"/>
                </a:tc>
                <a:tc>
                  <a:txBody>
                    <a:bodyPr/>
                    <a:lstStyle/>
                    <a:p>
                      <a:r>
                        <a:rPr lang="en-US" sz="1800" dirty="0">
                          <a:effectLst/>
                        </a:rPr>
                        <a:t>SELECT BIT_OR(likes) FROM </a:t>
                      </a:r>
                      <a:r>
                        <a:rPr lang="en-US" sz="1800" dirty="0" err="1">
                          <a:effectLst/>
                        </a:rPr>
                        <a:t>userlikes</a:t>
                      </a:r>
                      <a:r>
                        <a:rPr lang="en-US" sz="1800" dirty="0">
                          <a:effectLst/>
                        </a:rPr>
                        <a:t>; → 7 (binary 111)</a:t>
                      </a:r>
                    </a:p>
                  </a:txBody>
                  <a:tcPr marL="31750" marR="31750" marT="31750" marB="31750" anchor="ctr"/>
                </a:tc>
                <a:extLst>
                  <a:ext uri="{0D108BD9-81ED-4DB2-BD59-A6C34878D82A}">
                    <a16:rowId xmlns:a16="http://schemas.microsoft.com/office/drawing/2014/main" val="1100375773"/>
                  </a:ext>
                </a:extLst>
              </a:tr>
            </a:tbl>
          </a:graphicData>
        </a:graphic>
      </p:graphicFrame>
      <p:sp>
        <p:nvSpPr>
          <p:cNvPr id="16" name="TextBox 15">
            <a:extLst>
              <a:ext uri="{FF2B5EF4-FFF2-40B4-BE49-F238E27FC236}">
                <a16:creationId xmlns:a16="http://schemas.microsoft.com/office/drawing/2014/main" id="{975B0EB6-21E6-30B1-869B-0B6737C6855F}"/>
              </a:ext>
            </a:extLst>
          </p:cNvPr>
          <p:cNvSpPr txBox="1"/>
          <p:nvPr/>
        </p:nvSpPr>
        <p:spPr>
          <a:xfrm>
            <a:off x="152400" y="4786072"/>
            <a:ext cx="2971800" cy="1015663"/>
          </a:xfrm>
          <a:prstGeom prst="rect">
            <a:avLst/>
          </a:prstGeom>
          <a:noFill/>
        </p:spPr>
        <p:txBody>
          <a:bodyPr wrap="square">
            <a:spAutoFit/>
          </a:bodyPr>
          <a:lstStyle/>
          <a:p>
            <a:r>
              <a:rPr lang="en-US" sz="2000" b="0" i="0" dirty="0">
                <a:solidFill>
                  <a:srgbClr val="794938"/>
                </a:solidFill>
                <a:effectLst/>
                <a:latin typeface="Monaco"/>
              </a:rPr>
              <a:t>SELECT</a:t>
            </a:r>
            <a:r>
              <a:rPr lang="en-US" sz="2000" b="0" i="0" dirty="0">
                <a:solidFill>
                  <a:srgbClr val="16191F"/>
                </a:solidFill>
                <a:effectLst/>
                <a:latin typeface="Monaco"/>
              </a:rPr>
              <a:t> city, </a:t>
            </a:r>
            <a:r>
              <a:rPr lang="en-US" sz="2000" b="0" i="0" dirty="0" err="1">
                <a:solidFill>
                  <a:srgbClr val="16191F"/>
                </a:solidFill>
                <a:effectLst/>
                <a:latin typeface="Monaco"/>
              </a:rPr>
              <a:t>bit_and</a:t>
            </a:r>
            <a:r>
              <a:rPr lang="en-US" sz="2000" b="0" i="0" dirty="0">
                <a:solidFill>
                  <a:srgbClr val="16191F"/>
                </a:solidFill>
                <a:effectLst/>
                <a:latin typeface="Monaco"/>
              </a:rPr>
              <a:t>(likes) </a:t>
            </a:r>
            <a:endParaRPr lang="en-US" sz="2000" dirty="0">
              <a:solidFill>
                <a:srgbClr val="794938"/>
              </a:solidFill>
              <a:latin typeface="Monaco"/>
            </a:endParaRPr>
          </a:p>
          <a:p>
            <a:r>
              <a:rPr lang="en-US" sz="2000" b="0" i="0" dirty="0">
                <a:solidFill>
                  <a:srgbClr val="794938"/>
                </a:solidFill>
                <a:effectLst/>
                <a:latin typeface="Monaco"/>
              </a:rPr>
              <a:t>FROM</a:t>
            </a:r>
            <a:r>
              <a:rPr lang="en-US" sz="2000" b="0" i="0" dirty="0">
                <a:solidFill>
                  <a:srgbClr val="16191F"/>
                </a:solidFill>
                <a:effectLst/>
                <a:latin typeface="Monaco"/>
              </a:rPr>
              <a:t> </a:t>
            </a:r>
            <a:r>
              <a:rPr lang="en-US" sz="2000" b="0" i="0" dirty="0" err="1">
                <a:solidFill>
                  <a:srgbClr val="16191F"/>
                </a:solidFill>
                <a:effectLst/>
                <a:latin typeface="Monaco"/>
              </a:rPr>
              <a:t>userlikes</a:t>
            </a:r>
            <a:r>
              <a:rPr lang="en-US" sz="2000" b="0" i="0" dirty="0">
                <a:solidFill>
                  <a:srgbClr val="16191F"/>
                </a:solidFill>
                <a:effectLst/>
                <a:latin typeface="Monaco"/>
              </a:rPr>
              <a:t> </a:t>
            </a:r>
          </a:p>
          <a:p>
            <a:r>
              <a:rPr lang="en-US" sz="2000" b="0" i="0" dirty="0">
                <a:solidFill>
                  <a:srgbClr val="794938"/>
                </a:solidFill>
                <a:effectLst/>
                <a:latin typeface="Monaco"/>
              </a:rPr>
              <a:t>GROUP BY</a:t>
            </a:r>
            <a:r>
              <a:rPr lang="en-US" sz="2000" b="0" i="0" dirty="0">
                <a:solidFill>
                  <a:srgbClr val="16191F"/>
                </a:solidFill>
                <a:effectLst/>
                <a:latin typeface="Monaco"/>
              </a:rPr>
              <a:t> city </a:t>
            </a:r>
          </a:p>
        </p:txBody>
      </p:sp>
      <p:graphicFrame>
        <p:nvGraphicFramePr>
          <p:cNvPr id="20" name="Table 19">
            <a:extLst>
              <a:ext uri="{FF2B5EF4-FFF2-40B4-BE49-F238E27FC236}">
                <a16:creationId xmlns:a16="http://schemas.microsoft.com/office/drawing/2014/main" id="{C21909B0-D7AD-9E0D-59A3-8E94A9C0D265}"/>
              </a:ext>
            </a:extLst>
          </p:cNvPr>
          <p:cNvGraphicFramePr>
            <a:graphicFrameLocks noGrp="1"/>
          </p:cNvGraphicFramePr>
          <p:nvPr>
            <p:extLst>
              <p:ext uri="{D42A27DB-BD31-4B8C-83A1-F6EECF244321}">
                <p14:modId xmlns:p14="http://schemas.microsoft.com/office/powerpoint/2010/main" val="375016177"/>
              </p:ext>
            </p:extLst>
          </p:nvPr>
        </p:nvGraphicFramePr>
        <p:xfrm>
          <a:off x="3072041" y="4770498"/>
          <a:ext cx="4191000" cy="1325502"/>
        </p:xfrm>
        <a:graphic>
          <a:graphicData uri="http://schemas.openxmlformats.org/drawingml/2006/table">
            <a:tbl>
              <a:tblPr firstRow="1" firstCol="1" bandRow="1"/>
              <a:tblGrid>
                <a:gridCol w="1577530">
                  <a:extLst>
                    <a:ext uri="{9D8B030D-6E8A-4147-A177-3AD203B41FA5}">
                      <a16:colId xmlns:a16="http://schemas.microsoft.com/office/drawing/2014/main" val="2153878453"/>
                    </a:ext>
                  </a:extLst>
                </a:gridCol>
                <a:gridCol w="1019068">
                  <a:extLst>
                    <a:ext uri="{9D8B030D-6E8A-4147-A177-3AD203B41FA5}">
                      <a16:colId xmlns:a16="http://schemas.microsoft.com/office/drawing/2014/main" val="2956835319"/>
                    </a:ext>
                  </a:extLst>
                </a:gridCol>
                <a:gridCol w="1594402">
                  <a:extLst>
                    <a:ext uri="{9D8B030D-6E8A-4147-A177-3AD203B41FA5}">
                      <a16:colId xmlns:a16="http://schemas.microsoft.com/office/drawing/2014/main" val="1419446972"/>
                    </a:ext>
                  </a:extLst>
                </a:gridCol>
              </a:tblGrid>
              <a:tr h="0">
                <a:tc>
                  <a:txBody>
                    <a:bodyPr/>
                    <a:lstStyle/>
                    <a:p>
                      <a:pPr marL="0" marR="0">
                        <a:lnSpc>
                          <a:spcPct val="115000"/>
                        </a:lnSpc>
                        <a:spcAft>
                          <a:spcPts val="800"/>
                        </a:spcAft>
                        <a:buNone/>
                      </a:pPr>
                      <a:r>
                        <a:rPr lang="en-US" sz="1400" b="1" kern="100">
                          <a:effectLst/>
                          <a:latin typeface="Verdana" panose="020B0604030504040204" pitchFamily="34" charset="0"/>
                          <a:ea typeface="Verdana" panose="020B0604030504040204" pitchFamily="34" charset="0"/>
                          <a:cs typeface="Times New Roman" panose="02020603050405020304" pitchFamily="18" charset="0"/>
                        </a:rPr>
                        <a:t>city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400" b="1" kern="100">
                          <a:effectLst/>
                          <a:latin typeface="Verdana" panose="020B0604030504040204" pitchFamily="34" charset="0"/>
                          <a:ea typeface="Verdana" panose="020B0604030504040204" pitchFamily="34" charset="0"/>
                          <a:cs typeface="Times New Roman" panose="02020603050405020304" pitchFamily="18" charset="0"/>
                        </a:rPr>
                        <a:t>likes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400" b="1" kern="100" dirty="0">
                          <a:effectLst/>
                          <a:latin typeface="Verdana" panose="020B0604030504040204" pitchFamily="34" charset="0"/>
                          <a:ea typeface="Verdana" panose="020B0604030504040204" pitchFamily="34" charset="0"/>
                          <a:cs typeface="Times New Roman" panose="02020603050405020304" pitchFamily="18" charset="0"/>
                        </a:rPr>
                        <a:t>likes (binary)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7131355"/>
                  </a:ext>
                </a:extLst>
              </a:tr>
              <a:tr h="0">
                <a:tc>
                  <a:txBody>
                    <a:bodyPr/>
                    <a:lstStyle/>
                    <a:p>
                      <a:pPr marL="0" marR="0">
                        <a:lnSpc>
                          <a:spcPct val="115000"/>
                        </a:lnSpc>
                        <a:spcAft>
                          <a:spcPts val="800"/>
                        </a:spcAft>
                        <a:buNone/>
                      </a:pPr>
                      <a:r>
                        <a:rPr lang="en-US" sz="1400" kern="100" dirty="0">
                          <a:effectLst/>
                          <a:latin typeface="Verdana" panose="020B0604030504040204" pitchFamily="34" charset="0"/>
                          <a:ea typeface="Verdana" panose="020B0604030504040204" pitchFamily="34" charset="0"/>
                          <a:cs typeface="Times New Roman" panose="02020603050405020304" pitchFamily="18" charset="0"/>
                        </a:rPr>
                        <a:t>Los Angeles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400" kern="100">
                          <a:effectLst/>
                          <a:latin typeface="Verdana" panose="020B0604030504040204" pitchFamily="34" charset="0"/>
                          <a:ea typeface="Verdana" panose="020B0604030504040204" pitchFamily="34" charset="0"/>
                          <a:cs typeface="Times New Roman" panose="02020603050405020304" pitchFamily="18" charset="0"/>
                        </a:rPr>
                        <a:t> 0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15000"/>
                        </a:lnSpc>
                        <a:spcAft>
                          <a:spcPts val="800"/>
                        </a:spcAft>
                        <a:buNone/>
                      </a:pPr>
                      <a:r>
                        <a:rPr lang="en-US" sz="1400" kern="100" dirty="0">
                          <a:effectLst/>
                          <a:latin typeface="Verdana" panose="020B0604030504040204" pitchFamily="34" charset="0"/>
                          <a:ea typeface="Verdana" panose="020B0604030504040204" pitchFamily="34" charset="0"/>
                          <a:cs typeface="Times New Roman" panose="02020603050405020304" pitchFamily="18" charset="0"/>
                        </a:rPr>
                        <a:t>00000000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28455500"/>
                  </a:ext>
                </a:extLst>
              </a:tr>
              <a:tr h="0">
                <a:tc>
                  <a:txBody>
                    <a:bodyPr/>
                    <a:lstStyle/>
                    <a:p>
                      <a:pPr marL="0" marR="0">
                        <a:lnSpc>
                          <a:spcPct val="115000"/>
                        </a:lnSpc>
                        <a:spcAft>
                          <a:spcPts val="800"/>
                        </a:spcAft>
                        <a:buNone/>
                      </a:pPr>
                      <a:r>
                        <a:rPr lang="en-US" sz="1400" kern="100" dirty="0">
                          <a:effectLst/>
                          <a:latin typeface="Verdana" panose="020B0604030504040204" pitchFamily="34" charset="0"/>
                          <a:ea typeface="Verdana" panose="020B0604030504040204" pitchFamily="34" charset="0"/>
                          <a:cs typeface="Times New Roman" panose="02020603050405020304" pitchFamily="18" charset="0"/>
                        </a:rPr>
                        <a:t>Sacramento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400" kern="100">
                          <a:effectLst/>
                          <a:latin typeface="Verdana" panose="020B0604030504040204" pitchFamily="34" charset="0"/>
                          <a:ea typeface="Verdana" panose="020B0604030504040204" pitchFamily="34" charset="0"/>
                          <a:cs typeface="Times New Roman" panose="02020603050405020304" pitchFamily="18" charset="0"/>
                        </a:rPr>
                        <a:t> 0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15000"/>
                        </a:lnSpc>
                        <a:spcAft>
                          <a:spcPts val="800"/>
                        </a:spcAft>
                        <a:buNone/>
                      </a:pPr>
                      <a:r>
                        <a:rPr lang="en-US" sz="1400" kern="100" dirty="0">
                          <a:effectLst/>
                          <a:latin typeface="Verdana" panose="020B0604030504040204" pitchFamily="34" charset="0"/>
                          <a:ea typeface="Verdana" panose="020B0604030504040204" pitchFamily="34" charset="0"/>
                          <a:cs typeface="Times New Roman" panose="02020603050405020304" pitchFamily="18" charset="0"/>
                        </a:rPr>
                        <a:t>00000000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59182418"/>
                  </a:ext>
                </a:extLst>
              </a:tr>
              <a:tr h="0">
                <a:tc>
                  <a:txBody>
                    <a:bodyPr/>
                    <a:lstStyle/>
                    <a:p>
                      <a:pPr marL="0" marR="0">
                        <a:lnSpc>
                          <a:spcPct val="115000"/>
                        </a:lnSpc>
                        <a:spcAft>
                          <a:spcPts val="800"/>
                        </a:spcAft>
                        <a:buNone/>
                      </a:pPr>
                      <a:r>
                        <a:rPr lang="en-US" sz="1400" kern="100">
                          <a:effectLst/>
                          <a:latin typeface="Verdana" panose="020B0604030504040204" pitchFamily="34" charset="0"/>
                          <a:ea typeface="Verdana" panose="020B0604030504040204" pitchFamily="34" charset="0"/>
                          <a:cs typeface="Times New Roman" panose="02020603050405020304" pitchFamily="18" charset="0"/>
                        </a:rPr>
                        <a:t>San Francisco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400" kern="100">
                          <a:effectLst/>
                          <a:latin typeface="Verdana" panose="020B0604030504040204" pitchFamily="34" charset="0"/>
                          <a:ea typeface="Verdana" panose="020B0604030504040204" pitchFamily="34" charset="0"/>
                          <a:cs typeface="Times New Roman" panose="02020603050405020304" pitchFamily="18" charset="0"/>
                        </a:rPr>
                        <a:t> 0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15000"/>
                        </a:lnSpc>
                        <a:spcAft>
                          <a:spcPts val="800"/>
                        </a:spcAft>
                        <a:buNone/>
                      </a:pPr>
                      <a:r>
                        <a:rPr lang="en-US" sz="1400" kern="100" dirty="0">
                          <a:effectLst/>
                          <a:latin typeface="Verdana" panose="020B0604030504040204" pitchFamily="34" charset="0"/>
                          <a:ea typeface="Verdana" panose="020B0604030504040204" pitchFamily="34" charset="0"/>
                          <a:cs typeface="Times New Roman" panose="02020603050405020304" pitchFamily="18" charset="0"/>
                        </a:rPr>
                        <a:t>00000000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47092203"/>
                  </a:ext>
                </a:extLst>
              </a:tr>
              <a:tr h="0">
                <a:tc>
                  <a:txBody>
                    <a:bodyPr/>
                    <a:lstStyle/>
                    <a:p>
                      <a:pPr marL="0" marR="0">
                        <a:lnSpc>
                          <a:spcPct val="115000"/>
                        </a:lnSpc>
                        <a:spcAft>
                          <a:spcPts val="800"/>
                        </a:spcAft>
                        <a:buNone/>
                      </a:pPr>
                      <a:r>
                        <a:rPr lang="en-US" sz="1400" kern="100">
                          <a:effectLst/>
                          <a:latin typeface="Verdana" panose="020B0604030504040204" pitchFamily="34" charset="0"/>
                          <a:ea typeface="Verdana" panose="020B0604030504040204" pitchFamily="34" charset="0"/>
                          <a:cs typeface="Times New Roman" panose="02020603050405020304" pitchFamily="18" charset="0"/>
                        </a:rPr>
                        <a:t>San Jose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400" kern="100">
                          <a:effectLst/>
                          <a:latin typeface="Verdana" panose="020B0604030504040204" pitchFamily="34" charset="0"/>
                          <a:ea typeface="Verdana" panose="020B0604030504040204" pitchFamily="34" charset="0"/>
                          <a:cs typeface="Times New Roman" panose="02020603050405020304" pitchFamily="18" charset="0"/>
                        </a:rPr>
                        <a:t> 64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15000"/>
                        </a:lnSpc>
                        <a:spcAft>
                          <a:spcPts val="800"/>
                        </a:spcAft>
                        <a:buNone/>
                      </a:pPr>
                      <a:r>
                        <a:rPr lang="en-US" sz="1400" kern="100" dirty="0">
                          <a:effectLst/>
                          <a:latin typeface="Verdana" panose="020B0604030504040204" pitchFamily="34" charset="0"/>
                          <a:ea typeface="Verdana" panose="020B0604030504040204" pitchFamily="34" charset="0"/>
                          <a:cs typeface="Times New Roman" panose="02020603050405020304" pitchFamily="18" charset="0"/>
                        </a:rPr>
                        <a:t>01000000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15679003"/>
                  </a:ext>
                </a:extLst>
              </a:tr>
              <a:tr h="0">
                <a:tc>
                  <a:txBody>
                    <a:bodyPr/>
                    <a:lstStyle/>
                    <a:p>
                      <a:pPr marL="0" marR="0">
                        <a:lnSpc>
                          <a:spcPct val="115000"/>
                        </a:lnSpc>
                        <a:spcAft>
                          <a:spcPts val="800"/>
                        </a:spcAft>
                        <a:buNone/>
                      </a:pPr>
                      <a:r>
                        <a:rPr lang="en-US" sz="1400" kern="100">
                          <a:effectLst/>
                          <a:latin typeface="Verdana" panose="020B0604030504040204" pitchFamily="34" charset="0"/>
                          <a:ea typeface="Verdana" panose="020B0604030504040204" pitchFamily="34" charset="0"/>
                          <a:cs typeface="Times New Roman" panose="02020603050405020304" pitchFamily="18" charset="0"/>
                        </a:rPr>
                        <a:t>Santa Barbara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400" kern="100" dirty="0">
                          <a:effectLst/>
                          <a:latin typeface="Verdana" panose="020B0604030504040204" pitchFamily="34" charset="0"/>
                          <a:ea typeface="Verdana" panose="020B0604030504040204" pitchFamily="34" charset="0"/>
                          <a:cs typeface="Times New Roman" panose="02020603050405020304" pitchFamily="18" charset="0"/>
                        </a:rPr>
                        <a:t> 192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15000"/>
                        </a:lnSpc>
                        <a:spcAft>
                          <a:spcPts val="800"/>
                        </a:spcAft>
                        <a:buNone/>
                      </a:pPr>
                      <a:r>
                        <a:rPr lang="en-US" sz="1400" kern="100" dirty="0">
                          <a:effectLst/>
                          <a:latin typeface="Verdana" panose="020B0604030504040204" pitchFamily="34" charset="0"/>
                          <a:ea typeface="Verdana" panose="020B0604030504040204" pitchFamily="34" charset="0"/>
                          <a:cs typeface="Times New Roman" panose="02020603050405020304" pitchFamily="18" charset="0"/>
                        </a:rPr>
                        <a:t>11000000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9932282"/>
                  </a:ext>
                </a:extLst>
              </a:tr>
            </a:tbl>
          </a:graphicData>
        </a:graphic>
      </p:graphicFrame>
      <p:sp>
        <p:nvSpPr>
          <p:cNvPr id="21" name="Rectangle 20">
            <a:extLst>
              <a:ext uri="{FF2B5EF4-FFF2-40B4-BE49-F238E27FC236}">
                <a16:creationId xmlns:a16="http://schemas.microsoft.com/office/drawing/2014/main" id="{BCEAB7DF-4B11-486F-15E1-98C8683C6419}"/>
              </a:ext>
            </a:extLst>
          </p:cNvPr>
          <p:cNvSpPr/>
          <p:nvPr/>
        </p:nvSpPr>
        <p:spPr bwMode="auto">
          <a:xfrm>
            <a:off x="6412044" y="4924805"/>
            <a:ext cx="76200" cy="1171195"/>
          </a:xfrm>
          <a:prstGeom prst="rect">
            <a:avLst/>
          </a:prstGeom>
          <a:solidFill>
            <a:srgbClr val="FF0000">
              <a:alpha val="16000"/>
            </a:srgb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graphicFrame>
        <p:nvGraphicFramePr>
          <p:cNvPr id="23" name="Table 22">
            <a:extLst>
              <a:ext uri="{FF2B5EF4-FFF2-40B4-BE49-F238E27FC236}">
                <a16:creationId xmlns:a16="http://schemas.microsoft.com/office/drawing/2014/main" id="{7E8B77AB-6107-21AC-194E-5ED7ABA4DC25}"/>
              </a:ext>
            </a:extLst>
          </p:cNvPr>
          <p:cNvGraphicFramePr>
            <a:graphicFrameLocks noGrp="1"/>
          </p:cNvGraphicFramePr>
          <p:nvPr>
            <p:extLst>
              <p:ext uri="{D42A27DB-BD31-4B8C-83A1-F6EECF244321}">
                <p14:modId xmlns:p14="http://schemas.microsoft.com/office/powerpoint/2010/main" val="3519573837"/>
              </p:ext>
            </p:extLst>
          </p:nvPr>
        </p:nvGraphicFramePr>
        <p:xfrm>
          <a:off x="7318512" y="4884609"/>
          <a:ext cx="4724401" cy="1097280"/>
        </p:xfrm>
        <a:graphic>
          <a:graphicData uri="http://schemas.openxmlformats.org/drawingml/2006/table">
            <a:tbl>
              <a:tblPr>
                <a:tableStyleId>{5940675A-B579-460E-94D1-54222C63F5DA}</a:tableStyleId>
              </a:tblPr>
              <a:tblGrid>
                <a:gridCol w="1219201">
                  <a:extLst>
                    <a:ext uri="{9D8B030D-6E8A-4147-A177-3AD203B41FA5}">
                      <a16:colId xmlns:a16="http://schemas.microsoft.com/office/drawing/2014/main" val="336537970"/>
                    </a:ext>
                  </a:extLst>
                </a:gridCol>
                <a:gridCol w="1600200">
                  <a:extLst>
                    <a:ext uri="{9D8B030D-6E8A-4147-A177-3AD203B41FA5}">
                      <a16:colId xmlns:a16="http://schemas.microsoft.com/office/drawing/2014/main" val="1646289543"/>
                    </a:ext>
                  </a:extLst>
                </a:gridCol>
                <a:gridCol w="1905000">
                  <a:extLst>
                    <a:ext uri="{9D8B030D-6E8A-4147-A177-3AD203B41FA5}">
                      <a16:colId xmlns:a16="http://schemas.microsoft.com/office/drawing/2014/main" val="3134685229"/>
                    </a:ext>
                  </a:extLst>
                </a:gridCol>
              </a:tblGrid>
              <a:tr h="0">
                <a:tc>
                  <a:txBody>
                    <a:bodyPr/>
                    <a:lstStyle/>
                    <a:p>
                      <a:r>
                        <a:rPr lang="en-US" sz="1800"/>
                        <a:t>Operation</a:t>
                      </a:r>
                    </a:p>
                  </a:txBody>
                  <a:tcPr anchor="ctr"/>
                </a:tc>
                <a:tc>
                  <a:txBody>
                    <a:bodyPr/>
                    <a:lstStyle/>
                    <a:p>
                      <a:r>
                        <a:rPr lang="en-US" sz="1800" dirty="0"/>
                        <a:t>Binary Result</a:t>
                      </a:r>
                    </a:p>
                  </a:txBody>
                  <a:tcPr anchor="ctr"/>
                </a:tc>
                <a:tc>
                  <a:txBody>
                    <a:bodyPr/>
                    <a:lstStyle/>
                    <a:p>
                      <a:r>
                        <a:rPr lang="en-US" sz="1800"/>
                        <a:t>Decimal Result</a:t>
                      </a:r>
                    </a:p>
                  </a:txBody>
                  <a:tcPr anchor="ctr"/>
                </a:tc>
                <a:extLst>
                  <a:ext uri="{0D108BD9-81ED-4DB2-BD59-A6C34878D82A}">
                    <a16:rowId xmlns:a16="http://schemas.microsoft.com/office/drawing/2014/main" val="2049117364"/>
                  </a:ext>
                </a:extLst>
              </a:tr>
              <a:tr h="0">
                <a:tc>
                  <a:txBody>
                    <a:bodyPr/>
                    <a:lstStyle/>
                    <a:p>
                      <a:r>
                        <a:rPr lang="en-US" sz="1800"/>
                        <a:t>bit_or</a:t>
                      </a:r>
                    </a:p>
                  </a:txBody>
                  <a:tcPr anchor="ctr"/>
                </a:tc>
                <a:tc>
                  <a:txBody>
                    <a:bodyPr/>
                    <a:lstStyle/>
                    <a:p>
                      <a:r>
                        <a:rPr lang="en-US" sz="1800"/>
                        <a:t>11000000</a:t>
                      </a:r>
                    </a:p>
                  </a:txBody>
                  <a:tcPr anchor="ctr"/>
                </a:tc>
                <a:tc>
                  <a:txBody>
                    <a:bodyPr/>
                    <a:lstStyle/>
                    <a:p>
                      <a:r>
                        <a:rPr lang="en-US" sz="1800"/>
                        <a:t>192</a:t>
                      </a:r>
                    </a:p>
                  </a:txBody>
                  <a:tcPr anchor="ctr"/>
                </a:tc>
                <a:extLst>
                  <a:ext uri="{0D108BD9-81ED-4DB2-BD59-A6C34878D82A}">
                    <a16:rowId xmlns:a16="http://schemas.microsoft.com/office/drawing/2014/main" val="917515166"/>
                  </a:ext>
                </a:extLst>
              </a:tr>
              <a:tr h="0">
                <a:tc>
                  <a:txBody>
                    <a:bodyPr/>
                    <a:lstStyle/>
                    <a:p>
                      <a:r>
                        <a:rPr lang="en-US" sz="1800"/>
                        <a:t>bit_and</a:t>
                      </a:r>
                    </a:p>
                  </a:txBody>
                  <a:tcPr anchor="ctr"/>
                </a:tc>
                <a:tc>
                  <a:txBody>
                    <a:bodyPr/>
                    <a:lstStyle/>
                    <a:p>
                      <a:r>
                        <a:rPr lang="en-US" sz="1800" dirty="0"/>
                        <a:t>01000000</a:t>
                      </a:r>
                    </a:p>
                  </a:txBody>
                  <a:tcPr anchor="ctr"/>
                </a:tc>
                <a:tc>
                  <a:txBody>
                    <a:bodyPr/>
                    <a:lstStyle/>
                    <a:p>
                      <a:r>
                        <a:rPr lang="en-US" sz="1800" dirty="0"/>
                        <a:t>64</a:t>
                      </a:r>
                    </a:p>
                  </a:txBody>
                  <a:tcPr anchor="ctr"/>
                </a:tc>
                <a:extLst>
                  <a:ext uri="{0D108BD9-81ED-4DB2-BD59-A6C34878D82A}">
                    <a16:rowId xmlns:a16="http://schemas.microsoft.com/office/drawing/2014/main" val="3917849039"/>
                  </a:ext>
                </a:extLst>
              </a:tr>
            </a:tbl>
          </a:graphicData>
        </a:graphic>
      </p:graphicFrame>
    </p:spTree>
    <p:extLst>
      <p:ext uri="{BB962C8B-B14F-4D97-AF65-F5344CB8AC3E}">
        <p14:creationId xmlns:p14="http://schemas.microsoft.com/office/powerpoint/2010/main" val="350982841"/>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0FBE0-B358-3C3B-2AA7-539069A829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581E37-3C4B-33E7-1FE4-9CD1582E99D0}"/>
              </a:ext>
            </a:extLst>
          </p:cNvPr>
          <p:cNvSpPr>
            <a:spLocks noGrp="1"/>
          </p:cNvSpPr>
          <p:nvPr>
            <p:ph type="title"/>
          </p:nvPr>
        </p:nvSpPr>
        <p:spPr/>
        <p:txBody>
          <a:bodyPr/>
          <a:lstStyle/>
          <a:p>
            <a:r>
              <a:rPr lang="en-US" dirty="0"/>
              <a:t>Aggregations: Statistics-Based</a:t>
            </a:r>
          </a:p>
        </p:txBody>
      </p:sp>
      <p:graphicFrame>
        <p:nvGraphicFramePr>
          <p:cNvPr id="5" name="Table 4">
            <a:extLst>
              <a:ext uri="{FF2B5EF4-FFF2-40B4-BE49-F238E27FC236}">
                <a16:creationId xmlns:a16="http://schemas.microsoft.com/office/drawing/2014/main" id="{114410DF-827E-7602-6E90-048ED12D6327}"/>
              </a:ext>
            </a:extLst>
          </p:cNvPr>
          <p:cNvGraphicFramePr>
            <a:graphicFrameLocks noGrp="1"/>
          </p:cNvGraphicFramePr>
          <p:nvPr>
            <p:extLst>
              <p:ext uri="{D42A27DB-BD31-4B8C-83A1-F6EECF244321}">
                <p14:modId xmlns:p14="http://schemas.microsoft.com/office/powerpoint/2010/main" val="3299831108"/>
              </p:ext>
            </p:extLst>
          </p:nvPr>
        </p:nvGraphicFramePr>
        <p:xfrm>
          <a:off x="101601" y="1043305"/>
          <a:ext cx="11937999" cy="4138296"/>
        </p:xfrm>
        <a:graphic>
          <a:graphicData uri="http://schemas.openxmlformats.org/drawingml/2006/table">
            <a:tbl>
              <a:tblPr>
                <a:tableStyleId>{5940675A-B579-460E-94D1-54222C63F5DA}</a:tableStyleId>
              </a:tblPr>
              <a:tblGrid>
                <a:gridCol w="2658569">
                  <a:extLst>
                    <a:ext uri="{9D8B030D-6E8A-4147-A177-3AD203B41FA5}">
                      <a16:colId xmlns:a16="http://schemas.microsoft.com/office/drawing/2014/main" val="1505953182"/>
                    </a:ext>
                  </a:extLst>
                </a:gridCol>
                <a:gridCol w="2733257">
                  <a:extLst>
                    <a:ext uri="{9D8B030D-6E8A-4147-A177-3AD203B41FA5}">
                      <a16:colId xmlns:a16="http://schemas.microsoft.com/office/drawing/2014/main" val="3695703094"/>
                    </a:ext>
                  </a:extLst>
                </a:gridCol>
                <a:gridCol w="6546173">
                  <a:extLst>
                    <a:ext uri="{9D8B030D-6E8A-4147-A177-3AD203B41FA5}">
                      <a16:colId xmlns:a16="http://schemas.microsoft.com/office/drawing/2014/main" val="3715002912"/>
                    </a:ext>
                  </a:extLst>
                </a:gridCol>
              </a:tblGrid>
              <a:tr h="361091">
                <a:tc>
                  <a:txBody>
                    <a:bodyPr/>
                    <a:lstStyle/>
                    <a:p>
                      <a:pPr algn="l"/>
                      <a:r>
                        <a:rPr lang="en-US" sz="1800" b="1" dirty="0">
                          <a:solidFill>
                            <a:srgbClr val="404040"/>
                          </a:solidFill>
                          <a:effectLst/>
                        </a:rPr>
                        <a:t>Name</a:t>
                      </a:r>
                    </a:p>
                  </a:txBody>
                  <a:tcPr marR="31750" marT="31750" marB="31750" anchor="ctr"/>
                </a:tc>
                <a:tc>
                  <a:txBody>
                    <a:bodyPr/>
                    <a:lstStyle/>
                    <a:p>
                      <a:pPr algn="l"/>
                      <a:r>
                        <a:rPr lang="en-US" sz="1800" b="1">
                          <a:solidFill>
                            <a:srgbClr val="404040"/>
                          </a:solidFill>
                          <a:effectLst/>
                        </a:rPr>
                        <a:t>Description</a:t>
                      </a:r>
                    </a:p>
                  </a:txBody>
                  <a:tcPr marL="31750" marR="31750" marT="31750" marB="31750" anchor="ctr"/>
                </a:tc>
                <a:tc>
                  <a:txBody>
                    <a:bodyPr/>
                    <a:lstStyle/>
                    <a:p>
                      <a:pPr algn="l"/>
                      <a:r>
                        <a:rPr lang="en-US" sz="1800" b="1">
                          <a:solidFill>
                            <a:srgbClr val="404040"/>
                          </a:solidFill>
                          <a:effectLst/>
                        </a:rPr>
                        <a:t>Example</a:t>
                      </a:r>
                    </a:p>
                  </a:txBody>
                  <a:tcPr marL="31750" marR="31750" marT="31750" marB="31750" anchor="ctr"/>
                </a:tc>
                <a:extLst>
                  <a:ext uri="{0D108BD9-81ED-4DB2-BD59-A6C34878D82A}">
                    <a16:rowId xmlns:a16="http://schemas.microsoft.com/office/drawing/2014/main" val="3949365005"/>
                  </a:ext>
                </a:extLst>
              </a:tr>
              <a:tr h="559963">
                <a:tc>
                  <a:txBody>
                    <a:bodyPr/>
                    <a:lstStyle/>
                    <a:p>
                      <a:r>
                        <a:rPr lang="en-US" sz="1600" b="1" dirty="0">
                          <a:effectLst/>
                        </a:rPr>
                        <a:t>STDDEV()</a:t>
                      </a:r>
                    </a:p>
                  </a:txBody>
                  <a:tcPr marR="31750" marT="31750" marB="31750" anchor="ctr"/>
                </a:tc>
                <a:tc>
                  <a:txBody>
                    <a:bodyPr/>
                    <a:lstStyle/>
                    <a:p>
                      <a:r>
                        <a:rPr lang="en-US" sz="1600" dirty="0">
                          <a:effectLst/>
                        </a:rPr>
                        <a:t>Standard deviation of values</a:t>
                      </a:r>
                    </a:p>
                  </a:txBody>
                  <a:tcPr marL="31750" marR="31750" marT="31750" marB="31750" anchor="ctr"/>
                </a:tc>
                <a:tc>
                  <a:txBody>
                    <a:bodyPr/>
                    <a:lstStyle/>
                    <a:p>
                      <a:r>
                        <a:rPr lang="en-US" sz="1600" dirty="0">
                          <a:effectLst/>
                        </a:rPr>
                        <a:t>SELECT STDDEV(salary) FROM employees;  </a:t>
                      </a:r>
                    </a:p>
                  </a:txBody>
                  <a:tcPr marL="31750" marR="31750" marT="31750" marB="31750" anchor="ctr"/>
                </a:tc>
                <a:extLst>
                  <a:ext uri="{0D108BD9-81ED-4DB2-BD59-A6C34878D82A}">
                    <a16:rowId xmlns:a16="http://schemas.microsoft.com/office/drawing/2014/main" val="3713904064"/>
                  </a:ext>
                </a:extLst>
              </a:tr>
              <a:tr h="488695">
                <a:tc>
                  <a:txBody>
                    <a:bodyPr/>
                    <a:lstStyle/>
                    <a:p>
                      <a:r>
                        <a:rPr lang="en-US" sz="1600" b="1" dirty="0">
                          <a:effectLst/>
                        </a:rPr>
                        <a:t>VARIANCE()</a:t>
                      </a:r>
                    </a:p>
                  </a:txBody>
                  <a:tcPr marR="31750" marT="31750" marB="31750" anchor="ctr"/>
                </a:tc>
                <a:tc>
                  <a:txBody>
                    <a:bodyPr/>
                    <a:lstStyle/>
                    <a:p>
                      <a:r>
                        <a:rPr lang="en-US" sz="1600" dirty="0">
                          <a:effectLst/>
                        </a:rPr>
                        <a:t>Statistical variance</a:t>
                      </a:r>
                    </a:p>
                  </a:txBody>
                  <a:tcPr marL="31750" marR="31750" marT="31750" marB="31750" anchor="ctr"/>
                </a:tc>
                <a:tc>
                  <a:txBody>
                    <a:bodyPr/>
                    <a:lstStyle/>
                    <a:p>
                      <a:r>
                        <a:rPr lang="en-US" sz="1600" dirty="0">
                          <a:effectLst/>
                        </a:rPr>
                        <a:t>SELECT VARIANCE(salary) FROM employees;  </a:t>
                      </a:r>
                    </a:p>
                  </a:txBody>
                  <a:tcPr marL="31750" marR="31750" marT="31750" marB="31750" anchor="ctr"/>
                </a:tc>
                <a:extLst>
                  <a:ext uri="{0D108BD9-81ED-4DB2-BD59-A6C34878D82A}">
                    <a16:rowId xmlns:a16="http://schemas.microsoft.com/office/drawing/2014/main" val="3748635958"/>
                  </a:ext>
                </a:extLst>
              </a:tr>
              <a:tr h="58914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effectLst/>
                        </a:rPr>
                        <a:t>COVARIANCE() (COVAR_POP() )</a:t>
                      </a:r>
                    </a:p>
                  </a:txBody>
                  <a:tcPr marR="31750" marT="31750" marB="3175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Covariance across entire population</a:t>
                      </a:r>
                    </a:p>
                  </a:txBody>
                  <a:tcPr marL="31750" marR="31750" marT="31750" marB="31750" anchor="ctr"/>
                </a:tc>
                <a:tc>
                  <a:txBody>
                    <a:bodyPr/>
                    <a:lstStyle/>
                    <a:p>
                      <a:pPr algn="l"/>
                      <a:r>
                        <a:rPr lang="en-US" sz="1600" dirty="0">
                          <a:solidFill>
                            <a:srgbClr val="800000"/>
                          </a:solidFill>
                          <a:latin typeface="Consolas" panose="020B0609020204030204" pitchFamily="49" charset="0"/>
                        </a:rPr>
                        <a:t>SELECT</a:t>
                      </a:r>
                      <a:r>
                        <a:rPr lang="en-US" sz="1600" dirty="0">
                          <a:solidFill>
                            <a:srgbClr val="000000"/>
                          </a:solidFill>
                          <a:latin typeface="Consolas" panose="020B0609020204030204" pitchFamily="49" charset="0"/>
                        </a:rPr>
                        <a:t> COVARIANCE(SALARY, BONUS) </a:t>
                      </a:r>
                      <a:r>
                        <a:rPr lang="en-US" sz="1600" dirty="0">
                          <a:solidFill>
                            <a:srgbClr val="800000"/>
                          </a:solidFill>
                          <a:latin typeface="Consolas" panose="020B0609020204030204" pitchFamily="49" charset="0"/>
                        </a:rPr>
                        <a:t>FROM</a:t>
                      </a:r>
                      <a:r>
                        <a:rPr lang="en-US" sz="1600" dirty="0">
                          <a:solidFill>
                            <a:srgbClr val="000000"/>
                          </a:solidFill>
                          <a:latin typeface="Consolas" panose="020B0609020204030204" pitchFamily="49" charset="0"/>
                        </a:rPr>
                        <a:t> EMPLOYEE;</a:t>
                      </a:r>
                    </a:p>
                  </a:txBody>
                  <a:tcPr marL="31750" marR="31750" marT="31750" marB="31750" anchor="ctr"/>
                </a:tc>
                <a:extLst>
                  <a:ext uri="{0D108BD9-81ED-4DB2-BD59-A6C34878D82A}">
                    <a16:rowId xmlns:a16="http://schemas.microsoft.com/office/drawing/2014/main" val="4227524724"/>
                  </a:ext>
                </a:extLst>
              </a:tr>
              <a:tr h="58914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effectLst/>
                        </a:rPr>
                        <a:t>COVAR_SAMP()</a:t>
                      </a:r>
                    </a:p>
                  </a:txBody>
                  <a:tcPr marR="31750" marT="31750" marB="3175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Covariance across a sample of the population</a:t>
                      </a:r>
                    </a:p>
                  </a:txBody>
                  <a:tcPr marL="31750" marR="31750" marT="31750" marB="31750" anchor="ctr"/>
                </a:tc>
                <a:tc>
                  <a:txBody>
                    <a:bodyPr/>
                    <a:lstStyle/>
                    <a:p>
                      <a:pPr algn="l"/>
                      <a:r>
                        <a:rPr lang="en-US" sz="1600" b="1" dirty="0">
                          <a:solidFill>
                            <a:srgbClr val="800000"/>
                          </a:solidFill>
                          <a:latin typeface="Consolas" panose="020B0609020204030204" pitchFamily="49" charset="0"/>
                        </a:rPr>
                        <a:t>SELECT</a:t>
                      </a:r>
                      <a:r>
                        <a:rPr lang="en-US" sz="1600" b="1" dirty="0">
                          <a:solidFill>
                            <a:srgbClr val="000000"/>
                          </a:solidFill>
                          <a:latin typeface="Consolas" panose="020B0609020204030204" pitchFamily="49" charset="0"/>
                        </a:rPr>
                        <a:t> </a:t>
                      </a:r>
                      <a:r>
                        <a:rPr lang="en-US" sz="1600" b="1" dirty="0">
                          <a:solidFill>
                            <a:srgbClr val="800000"/>
                          </a:solidFill>
                          <a:latin typeface="Consolas" panose="020B0609020204030204" pitchFamily="49" charset="0"/>
                        </a:rPr>
                        <a:t>COVAR_SAMP</a:t>
                      </a:r>
                      <a:r>
                        <a:rPr lang="en-US" sz="1600" b="1" dirty="0">
                          <a:solidFill>
                            <a:srgbClr val="000000"/>
                          </a:solidFill>
                          <a:latin typeface="Consolas" panose="020B0609020204030204" pitchFamily="49" charset="0"/>
                        </a:rPr>
                        <a:t>(revenue, </a:t>
                      </a:r>
                      <a:r>
                        <a:rPr lang="en-US" sz="1600" b="1" dirty="0" err="1">
                          <a:solidFill>
                            <a:srgbClr val="000000"/>
                          </a:solidFill>
                          <a:latin typeface="Consolas" panose="020B0609020204030204" pitchFamily="49" charset="0"/>
                        </a:rPr>
                        <a:t>marketing_spend</a:t>
                      </a:r>
                      <a:r>
                        <a:rPr lang="en-US" sz="1600" b="1" dirty="0">
                          <a:solidFill>
                            <a:srgbClr val="000000"/>
                          </a:solidFill>
                          <a:latin typeface="Consolas" panose="020B0609020204030204" pitchFamily="49" charset="0"/>
                        </a:rPr>
                        <a:t>)</a:t>
                      </a:r>
                    </a:p>
                    <a:p>
                      <a:pPr algn="l"/>
                      <a:r>
                        <a:rPr lang="en-US" sz="1600" b="1" dirty="0">
                          <a:solidFill>
                            <a:srgbClr val="800000"/>
                          </a:solidFill>
                          <a:latin typeface="Consolas" panose="020B0609020204030204" pitchFamily="49" charset="0"/>
                        </a:rPr>
                        <a:t>FROM</a:t>
                      </a:r>
                      <a:r>
                        <a:rPr lang="en-US" sz="1600" b="1" dirty="0">
                          <a:solidFill>
                            <a:srgbClr val="000000"/>
                          </a:solidFill>
                          <a:latin typeface="Consolas" panose="020B0609020204030204" pitchFamily="49" charset="0"/>
                        </a:rPr>
                        <a:t> customers </a:t>
                      </a:r>
                      <a:r>
                        <a:rPr lang="en-US" sz="1600" b="1" dirty="0">
                          <a:solidFill>
                            <a:srgbClr val="800000"/>
                          </a:solidFill>
                          <a:latin typeface="Consolas" panose="020B0609020204030204" pitchFamily="49" charset="0"/>
                        </a:rPr>
                        <a:t>TABLESAMPLE</a:t>
                      </a:r>
                      <a:r>
                        <a:rPr lang="en-US" sz="1600" b="1" dirty="0">
                          <a:solidFill>
                            <a:srgbClr val="000000"/>
                          </a:solidFill>
                          <a:latin typeface="Consolas" panose="020B0609020204030204" pitchFamily="49" charset="0"/>
                        </a:rPr>
                        <a:t> </a:t>
                      </a:r>
                      <a:r>
                        <a:rPr lang="en-US" sz="1600" b="1" dirty="0">
                          <a:solidFill>
                            <a:srgbClr val="800000"/>
                          </a:solidFill>
                          <a:latin typeface="Consolas" panose="020B0609020204030204" pitchFamily="49" charset="0"/>
                        </a:rPr>
                        <a:t>SYSTEM</a:t>
                      </a:r>
                      <a:r>
                        <a:rPr lang="en-US" sz="1600" b="1" dirty="0">
                          <a:solidFill>
                            <a:srgbClr val="000000"/>
                          </a:solidFill>
                          <a:latin typeface="Consolas" panose="020B0609020204030204" pitchFamily="49" charset="0"/>
                        </a:rPr>
                        <a:t>(</a:t>
                      </a:r>
                      <a:r>
                        <a:rPr lang="en-US" sz="1600" b="1" dirty="0">
                          <a:solidFill>
                            <a:srgbClr val="0000FF"/>
                          </a:solidFill>
                          <a:latin typeface="Consolas" panose="020B0609020204030204" pitchFamily="49" charset="0"/>
                        </a:rPr>
                        <a:t>10</a:t>
                      </a:r>
                      <a:r>
                        <a:rPr lang="en-US" sz="1600" b="1" dirty="0">
                          <a:solidFill>
                            <a:srgbClr val="000000"/>
                          </a:solidFill>
                          <a:latin typeface="Consolas" panose="020B0609020204030204" pitchFamily="49" charset="0"/>
                        </a:rPr>
                        <a:t>)</a:t>
                      </a:r>
                      <a:r>
                        <a:rPr lang="en-US" sz="1600" b="1" dirty="0">
                          <a:solidFill>
                            <a:srgbClr val="FF0000"/>
                          </a:solidFill>
                          <a:latin typeface="Consolas" panose="020B0609020204030204" pitchFamily="49" charset="0"/>
                        </a:rPr>
                        <a:t>; </a:t>
                      </a:r>
                      <a:r>
                        <a:rPr lang="en-US" sz="1600" b="1" dirty="0">
                          <a:solidFill>
                            <a:schemeClr val="bg2"/>
                          </a:solidFill>
                          <a:latin typeface="Consolas" panose="020B0609020204030204" pitchFamily="49" charset="0"/>
                        </a:rPr>
                        <a:t>--10% sampling</a:t>
                      </a:r>
                      <a:endParaRPr lang="en-US" sz="1600" dirty="0">
                        <a:solidFill>
                          <a:schemeClr val="bg2"/>
                        </a:solidFill>
                        <a:effectLst/>
                      </a:endParaRPr>
                    </a:p>
                  </a:txBody>
                  <a:tcPr marL="31750" marR="31750" marT="31750" marB="31750" anchor="ctr"/>
                </a:tc>
                <a:extLst>
                  <a:ext uri="{0D108BD9-81ED-4DB2-BD59-A6C34878D82A}">
                    <a16:rowId xmlns:a16="http://schemas.microsoft.com/office/drawing/2014/main" val="1502633549"/>
                  </a:ext>
                </a:extLst>
              </a:tr>
              <a:tr h="589149">
                <a:tc>
                  <a:txBody>
                    <a:bodyPr/>
                    <a:lstStyle/>
                    <a:p>
                      <a:r>
                        <a:rPr lang="en-US" sz="1600" b="1" dirty="0">
                          <a:effectLst/>
                        </a:rPr>
                        <a:t>PERCENTILE_CONT()</a:t>
                      </a:r>
                    </a:p>
                  </a:txBody>
                  <a:tcPr marR="31750" marT="31750" marB="31750" anchor="ctr"/>
                </a:tc>
                <a:tc>
                  <a:txBody>
                    <a:bodyPr/>
                    <a:lstStyle/>
                    <a:p>
                      <a:r>
                        <a:rPr lang="en-US" sz="1600" dirty="0">
                          <a:effectLst/>
                        </a:rPr>
                        <a:t>Median (interpolated)</a:t>
                      </a:r>
                    </a:p>
                  </a:txBody>
                  <a:tcPr marL="31750" marR="31750" marT="31750" marB="31750" anchor="ctr"/>
                </a:tc>
                <a:tc>
                  <a:txBody>
                    <a:bodyPr/>
                    <a:lstStyle/>
                    <a:p>
                      <a:r>
                        <a:rPr lang="en-US" sz="1600" dirty="0">
                          <a:effectLst/>
                        </a:rPr>
                        <a:t>SELECT PERCENTILE_CONT(0.5) WITHIN GROUP (ORDER BY salary); → 75000</a:t>
                      </a:r>
                    </a:p>
                  </a:txBody>
                  <a:tcPr marL="31750" marR="31750" marT="31750" marB="31750" anchor="ctr"/>
                </a:tc>
                <a:extLst>
                  <a:ext uri="{0D108BD9-81ED-4DB2-BD59-A6C34878D82A}">
                    <a16:rowId xmlns:a16="http://schemas.microsoft.com/office/drawing/2014/main" val="1968539924"/>
                  </a:ext>
                </a:extLst>
              </a:tr>
              <a:tr h="589149">
                <a:tc>
                  <a:txBody>
                    <a:bodyPr/>
                    <a:lstStyle/>
                    <a:p>
                      <a:r>
                        <a:rPr lang="en-US" sz="1600" b="1" dirty="0">
                          <a:effectLst/>
                        </a:rPr>
                        <a:t>PERCENTILE_DISC()</a:t>
                      </a:r>
                    </a:p>
                  </a:txBody>
                  <a:tcPr marR="31750" marT="31750" marB="31750" anchor="ctr"/>
                </a:tc>
                <a:tc>
                  <a:txBody>
                    <a:bodyPr/>
                    <a:lstStyle/>
                    <a:p>
                      <a:r>
                        <a:rPr lang="en-US" sz="1600">
                          <a:effectLst/>
                        </a:rPr>
                        <a:t>90th percentile (actual value)</a:t>
                      </a:r>
                    </a:p>
                  </a:txBody>
                  <a:tcPr marL="31750" marR="31750" marT="31750" marB="31750" anchor="ctr"/>
                </a:tc>
                <a:tc>
                  <a:txBody>
                    <a:bodyPr/>
                    <a:lstStyle/>
                    <a:p>
                      <a:r>
                        <a:rPr lang="en-US" sz="1600" dirty="0">
                          <a:effectLst/>
                        </a:rPr>
                        <a:t>SELECT PERCENTILE_DISC(0.9) WITHIN GROUP (ORDER BY salary)</a:t>
                      </a:r>
                    </a:p>
                  </a:txBody>
                  <a:tcPr marL="31750" marR="31750" marT="31750" marB="31750" anchor="ctr"/>
                </a:tc>
                <a:extLst>
                  <a:ext uri="{0D108BD9-81ED-4DB2-BD59-A6C34878D82A}">
                    <a16:rowId xmlns:a16="http://schemas.microsoft.com/office/drawing/2014/main" val="2104696289"/>
                  </a:ext>
                </a:extLst>
              </a:tr>
              <a:tr h="371951">
                <a:tc>
                  <a:txBody>
                    <a:bodyPr/>
                    <a:lstStyle/>
                    <a:p>
                      <a:r>
                        <a:rPr lang="en-US" sz="1600" b="1" dirty="0">
                          <a:effectLst/>
                        </a:rPr>
                        <a:t>MEDIAN()</a:t>
                      </a:r>
                    </a:p>
                  </a:txBody>
                  <a:tcPr marR="31750" marT="31750" marB="31750" anchor="ctr"/>
                </a:tc>
                <a:tc>
                  <a:txBody>
                    <a:bodyPr/>
                    <a:lstStyle/>
                    <a:p>
                      <a:r>
                        <a:rPr lang="en-US" sz="1600" dirty="0">
                          <a:effectLst/>
                        </a:rPr>
                        <a:t>Middle value</a:t>
                      </a:r>
                    </a:p>
                  </a:txBody>
                  <a:tcPr marL="31750" marR="31750" marT="31750" marB="31750" anchor="ctr"/>
                </a:tc>
                <a:tc>
                  <a:txBody>
                    <a:bodyPr/>
                    <a:lstStyle/>
                    <a:p>
                      <a:r>
                        <a:rPr lang="en-US" sz="1600" dirty="0">
                          <a:effectLst/>
                        </a:rPr>
                        <a:t>SELECT MEDIAN(salary) FROM employees;</a:t>
                      </a:r>
                    </a:p>
                  </a:txBody>
                  <a:tcPr marL="31750" marR="31750" marT="31750" marB="31750" anchor="ctr"/>
                </a:tc>
                <a:extLst>
                  <a:ext uri="{0D108BD9-81ED-4DB2-BD59-A6C34878D82A}">
                    <a16:rowId xmlns:a16="http://schemas.microsoft.com/office/drawing/2014/main" val="380944258"/>
                  </a:ext>
                </a:extLst>
              </a:tr>
            </a:tbl>
          </a:graphicData>
        </a:graphic>
      </p:graphicFrame>
      <p:sp>
        <p:nvSpPr>
          <p:cNvPr id="4" name="TextBox 3">
            <a:extLst>
              <a:ext uri="{FF2B5EF4-FFF2-40B4-BE49-F238E27FC236}">
                <a16:creationId xmlns:a16="http://schemas.microsoft.com/office/drawing/2014/main" id="{A018A27F-9D66-0290-D1A3-CFD343DD427B}"/>
              </a:ext>
            </a:extLst>
          </p:cNvPr>
          <p:cNvSpPr txBox="1"/>
          <p:nvPr/>
        </p:nvSpPr>
        <p:spPr>
          <a:xfrm>
            <a:off x="76200" y="5351377"/>
            <a:ext cx="5562600" cy="684803"/>
          </a:xfrm>
          <a:prstGeom prst="rect">
            <a:avLst/>
          </a:prstGeom>
          <a:noFill/>
        </p:spPr>
        <p:txBody>
          <a:bodyPr wrap="square">
            <a:spAutoFit/>
          </a:bodyPr>
          <a:lstStyle/>
          <a:p>
            <a:pPr>
              <a:spcBef>
                <a:spcPts val="300"/>
              </a:spcBef>
            </a:pPr>
            <a:r>
              <a:rPr lang="en-US" dirty="0">
                <a:latin typeface="+mj-lt"/>
              </a:rPr>
              <a:t>Variance = Σ(xᵢ - mean)² / (n - 1)  </a:t>
            </a:r>
            <a:r>
              <a:rPr lang="en-US" dirty="0">
                <a:solidFill>
                  <a:schemeClr val="bg2"/>
                </a:solidFill>
                <a:latin typeface="+mj-lt"/>
              </a:rPr>
              <a:t># sample variance</a:t>
            </a:r>
          </a:p>
          <a:p>
            <a:pPr>
              <a:spcBef>
                <a:spcPts val="300"/>
              </a:spcBef>
            </a:pPr>
            <a:r>
              <a:rPr lang="en-US" b="0" i="0" dirty="0">
                <a:effectLst/>
                <a:latin typeface="+mj-lt"/>
              </a:rPr>
              <a:t>STDDEV() = SQRT(VARIANCE() )</a:t>
            </a:r>
          </a:p>
        </p:txBody>
      </p:sp>
      <p:sp>
        <p:nvSpPr>
          <p:cNvPr id="13" name="TextBox 12">
            <a:extLst>
              <a:ext uri="{FF2B5EF4-FFF2-40B4-BE49-F238E27FC236}">
                <a16:creationId xmlns:a16="http://schemas.microsoft.com/office/drawing/2014/main" id="{84A7E810-8E87-610B-7826-8E0F69B85FE9}"/>
              </a:ext>
            </a:extLst>
          </p:cNvPr>
          <p:cNvSpPr txBox="1"/>
          <p:nvPr/>
        </p:nvSpPr>
        <p:spPr>
          <a:xfrm>
            <a:off x="5824928" y="5360121"/>
            <a:ext cx="58674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MEDIAN(): (</a:t>
            </a:r>
            <a:r>
              <a:rPr kumimoji="0" lang="en-US" sz="1800" b="0" i="0" u="none" strike="noStrike" kern="1200" cap="none" spc="0" normalizeH="0" baseline="0" noProof="0" dirty="0">
                <a:ln>
                  <a:noFill/>
                </a:ln>
                <a:solidFill>
                  <a:schemeClr val="bg2"/>
                </a:solidFill>
                <a:effectLst/>
                <a:uLnTx/>
                <a:uFillTx/>
                <a:latin typeface="Arial"/>
                <a:ea typeface="+mn-ea"/>
                <a:cs typeface="+mn-cs"/>
              </a:rPr>
              <a:t>1, 5, 7, 8,100</a:t>
            </a:r>
            <a:r>
              <a:rPr kumimoji="0" lang="en-US" sz="1800" b="0" i="0" u="none" strike="noStrike" kern="1200" cap="none" spc="0" normalizeH="0" baseline="0" noProof="0" dirty="0">
                <a:ln>
                  <a:noFill/>
                </a:ln>
                <a:solidFill>
                  <a:srgbClr val="000000"/>
                </a:solidFill>
                <a:effectLst/>
                <a:uLnTx/>
                <a:uFillTx/>
                <a:latin typeface="Arial"/>
                <a:ea typeface="+mn-ea"/>
                <a:cs typeface="+mn-cs"/>
              </a:rPr>
              <a:t>) : 7    AVG(): 24.2</a:t>
            </a:r>
          </a:p>
        </p:txBody>
      </p:sp>
      <p:sp>
        <p:nvSpPr>
          <p:cNvPr id="15" name="TextBox 14">
            <a:extLst>
              <a:ext uri="{FF2B5EF4-FFF2-40B4-BE49-F238E27FC236}">
                <a16:creationId xmlns:a16="http://schemas.microsoft.com/office/drawing/2014/main" id="{3EB58D66-7C5C-FEB2-69A4-D08CBB30EE67}"/>
              </a:ext>
            </a:extLst>
          </p:cNvPr>
          <p:cNvSpPr txBox="1"/>
          <p:nvPr/>
        </p:nvSpPr>
        <p:spPr>
          <a:xfrm>
            <a:off x="5867400" y="5851514"/>
            <a:ext cx="5647544" cy="369332"/>
          </a:xfrm>
          <a:prstGeom prst="rect">
            <a:avLst/>
          </a:prstGeom>
          <a:noFill/>
        </p:spPr>
        <p:txBody>
          <a:bodyPr wrap="square">
            <a:spAutoFit/>
          </a:bodyPr>
          <a:lstStyle/>
          <a:p>
            <a:r>
              <a:rPr lang="en-US" dirty="0"/>
              <a:t>COVAR_POP(X,Y) = Σ[(xᵢ - μₓ)(yᵢ - μᵧ)] / N </a:t>
            </a:r>
          </a:p>
        </p:txBody>
      </p:sp>
    </p:spTree>
    <p:extLst>
      <p:ext uri="{BB962C8B-B14F-4D97-AF65-F5344CB8AC3E}">
        <p14:creationId xmlns:p14="http://schemas.microsoft.com/office/powerpoint/2010/main" val="4045803726"/>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AF5D8-CE0B-9B86-3C6B-999EE87B8654}"/>
              </a:ext>
            </a:extLst>
          </p:cNvPr>
          <p:cNvSpPr>
            <a:spLocks noGrp="1"/>
          </p:cNvSpPr>
          <p:nvPr>
            <p:ph type="title"/>
          </p:nvPr>
        </p:nvSpPr>
        <p:spPr/>
        <p:txBody>
          <a:bodyPr/>
          <a:lstStyle/>
          <a:p>
            <a:r>
              <a:rPr lang="en-US" dirty="0"/>
              <a:t>Aggregations: Statistics-Based: Percentile</a:t>
            </a:r>
          </a:p>
        </p:txBody>
      </p:sp>
      <p:sp>
        <p:nvSpPr>
          <p:cNvPr id="7" name="TextBox 6">
            <a:extLst>
              <a:ext uri="{FF2B5EF4-FFF2-40B4-BE49-F238E27FC236}">
                <a16:creationId xmlns:a16="http://schemas.microsoft.com/office/drawing/2014/main" id="{F2D0EECF-5E03-2065-3170-DD81C7F66CEE}"/>
              </a:ext>
            </a:extLst>
          </p:cNvPr>
          <p:cNvSpPr txBox="1"/>
          <p:nvPr/>
        </p:nvSpPr>
        <p:spPr>
          <a:xfrm>
            <a:off x="457200" y="5617621"/>
            <a:ext cx="5200885" cy="707886"/>
          </a:xfrm>
          <a:prstGeom prst="rect">
            <a:avLst/>
          </a:prstGeom>
          <a:noFill/>
        </p:spPr>
        <p:txBody>
          <a:bodyPr wrap="square">
            <a:spAutoFit/>
          </a:bodyPr>
          <a:lstStyle/>
          <a:p>
            <a:r>
              <a:rPr lang="en-US" sz="2000" b="1" dirty="0">
                <a:latin typeface="Verdana" panose="020B0604030504040204" pitchFamily="34" charset="0"/>
                <a:ea typeface="Verdana" panose="020B0604030504040204" pitchFamily="34" charset="0"/>
              </a:rPr>
              <a:t>Salary:</a:t>
            </a:r>
          </a:p>
          <a:p>
            <a:r>
              <a:rPr lang="en-US" sz="2000" dirty="0">
                <a:latin typeface="Verdana" panose="020B0604030504040204" pitchFamily="34" charset="0"/>
                <a:ea typeface="Verdana" panose="020B0604030504040204" pitchFamily="34" charset="0"/>
              </a:rPr>
              <a:t>30000, 45000, 50000, 55000, 80000</a:t>
            </a:r>
          </a:p>
        </p:txBody>
      </p:sp>
      <p:sp>
        <p:nvSpPr>
          <p:cNvPr id="9" name="TextBox 8">
            <a:extLst>
              <a:ext uri="{FF2B5EF4-FFF2-40B4-BE49-F238E27FC236}">
                <a16:creationId xmlns:a16="http://schemas.microsoft.com/office/drawing/2014/main" id="{63957CE7-E473-FE84-B6D9-590FD9BB7CA6}"/>
              </a:ext>
            </a:extLst>
          </p:cNvPr>
          <p:cNvSpPr txBox="1"/>
          <p:nvPr/>
        </p:nvSpPr>
        <p:spPr>
          <a:xfrm>
            <a:off x="236290" y="1143000"/>
            <a:ext cx="6088310" cy="4185761"/>
          </a:xfrm>
          <a:prstGeom prst="rect">
            <a:avLst/>
          </a:prstGeom>
          <a:noFill/>
          <a:ln w="12700">
            <a:solidFill>
              <a:schemeClr val="bg2"/>
            </a:solidFill>
          </a:ln>
        </p:spPr>
        <p:txBody>
          <a:bodyPr wrap="square">
            <a:spAutoFit/>
          </a:bodyPr>
          <a:lstStyle/>
          <a:p>
            <a:pPr algn="l"/>
            <a:r>
              <a:rPr lang="en-US" sz="1900" dirty="0">
                <a:solidFill>
                  <a:srgbClr val="808080"/>
                </a:solidFill>
                <a:latin typeface="Consolas" panose="020B0609020204030204" pitchFamily="49" charset="0"/>
              </a:rPr>
              <a:t>--Example 1: Median Salary (50</a:t>
            </a:r>
            <a:r>
              <a:rPr lang="en-US" sz="1900" baseline="30000" dirty="0">
                <a:solidFill>
                  <a:srgbClr val="808080"/>
                </a:solidFill>
                <a:latin typeface="Consolas" panose="020B0609020204030204" pitchFamily="49" charset="0"/>
              </a:rPr>
              <a:t>th</a:t>
            </a:r>
            <a:r>
              <a:rPr lang="en-US" sz="1900" dirty="0">
                <a:solidFill>
                  <a:srgbClr val="808080"/>
                </a:solidFill>
                <a:latin typeface="Consolas" panose="020B0609020204030204" pitchFamily="49" charset="0"/>
              </a:rPr>
              <a:t> Percentile)</a:t>
            </a:r>
          </a:p>
          <a:p>
            <a:pPr algn="l"/>
            <a:r>
              <a:rPr lang="en-US" sz="1900" dirty="0">
                <a:solidFill>
                  <a:srgbClr val="808080"/>
                </a:solidFill>
                <a:latin typeface="Consolas" panose="020B0609020204030204" pitchFamily="49" charset="0"/>
              </a:rPr>
              <a:t>-- Continuous median (may interpolate)</a:t>
            </a:r>
          </a:p>
          <a:p>
            <a:pPr algn="l"/>
            <a:r>
              <a:rPr lang="en-US" sz="1900" b="1" dirty="0">
                <a:solidFill>
                  <a:srgbClr val="800000"/>
                </a:solidFill>
                <a:latin typeface="Consolas" panose="020B0609020204030204" pitchFamily="49" charset="0"/>
              </a:rPr>
              <a:t>SELECT</a:t>
            </a:r>
            <a:r>
              <a:rPr lang="en-US" sz="1900" b="1" dirty="0">
                <a:solidFill>
                  <a:srgbClr val="000000"/>
                </a:solidFill>
                <a:latin typeface="Consolas" panose="020B0609020204030204" pitchFamily="49" charset="0"/>
              </a:rPr>
              <a:t> </a:t>
            </a:r>
            <a:r>
              <a:rPr lang="en-US" sz="1900" b="1" dirty="0">
                <a:solidFill>
                  <a:srgbClr val="000080"/>
                </a:solidFill>
                <a:latin typeface="Consolas" panose="020B0609020204030204" pitchFamily="49" charset="0"/>
              </a:rPr>
              <a:t>PERCENTILE_CONT</a:t>
            </a:r>
            <a:r>
              <a:rPr lang="en-US" sz="1900" b="1" dirty="0">
                <a:solidFill>
                  <a:srgbClr val="000000"/>
                </a:solidFill>
                <a:latin typeface="Consolas" panose="020B0609020204030204" pitchFamily="49" charset="0"/>
              </a:rPr>
              <a:t>(</a:t>
            </a:r>
            <a:r>
              <a:rPr lang="en-US" sz="1900" b="1" dirty="0">
                <a:solidFill>
                  <a:srgbClr val="0000FF"/>
                </a:solidFill>
                <a:latin typeface="Consolas" panose="020B0609020204030204" pitchFamily="49" charset="0"/>
              </a:rPr>
              <a:t>0</a:t>
            </a:r>
            <a:r>
              <a:rPr lang="en-US" sz="1900" b="1" dirty="0">
                <a:solidFill>
                  <a:srgbClr val="000000"/>
                </a:solidFill>
                <a:latin typeface="Consolas" panose="020B0609020204030204" pitchFamily="49" charset="0"/>
              </a:rPr>
              <a:t>.</a:t>
            </a:r>
            <a:r>
              <a:rPr lang="en-US" sz="1900" b="1" dirty="0">
                <a:solidFill>
                  <a:srgbClr val="0000FF"/>
                </a:solidFill>
                <a:latin typeface="Consolas" panose="020B0609020204030204" pitchFamily="49" charset="0"/>
              </a:rPr>
              <a:t>5</a:t>
            </a:r>
            <a:r>
              <a:rPr lang="en-US" sz="1900" b="1" dirty="0">
                <a:solidFill>
                  <a:srgbClr val="000000"/>
                </a:solidFill>
                <a:latin typeface="Consolas" panose="020B0609020204030204" pitchFamily="49" charset="0"/>
              </a:rPr>
              <a:t>) </a:t>
            </a:r>
            <a:r>
              <a:rPr lang="en-US" sz="1900" b="1" dirty="0">
                <a:solidFill>
                  <a:srgbClr val="800000"/>
                </a:solidFill>
                <a:latin typeface="Consolas" panose="020B0609020204030204" pitchFamily="49" charset="0"/>
              </a:rPr>
              <a:t>WITHIN</a:t>
            </a:r>
            <a:r>
              <a:rPr lang="en-US" sz="1900" b="1" dirty="0">
                <a:solidFill>
                  <a:srgbClr val="000000"/>
                </a:solidFill>
                <a:latin typeface="Consolas" panose="020B0609020204030204" pitchFamily="49" charset="0"/>
              </a:rPr>
              <a:t> </a:t>
            </a:r>
            <a:r>
              <a:rPr lang="en-US" sz="1900" b="1" dirty="0">
                <a:solidFill>
                  <a:srgbClr val="800000"/>
                </a:solidFill>
                <a:latin typeface="Consolas" panose="020B0609020204030204" pitchFamily="49" charset="0"/>
              </a:rPr>
              <a:t>GROUP</a:t>
            </a:r>
            <a:r>
              <a:rPr lang="en-US" sz="1900" b="1" dirty="0">
                <a:solidFill>
                  <a:srgbClr val="000000"/>
                </a:solidFill>
                <a:latin typeface="Consolas" panose="020B0609020204030204" pitchFamily="49" charset="0"/>
              </a:rPr>
              <a:t> </a:t>
            </a:r>
          </a:p>
          <a:p>
            <a:pPr algn="l"/>
            <a:r>
              <a:rPr lang="en-US" sz="1900" b="1" dirty="0">
                <a:solidFill>
                  <a:srgbClr val="000000"/>
                </a:solidFill>
                <a:latin typeface="Consolas" panose="020B0609020204030204" pitchFamily="49" charset="0"/>
              </a:rPr>
              <a:t>  (</a:t>
            </a:r>
            <a:r>
              <a:rPr lang="en-US" sz="1900" b="1" dirty="0">
                <a:solidFill>
                  <a:srgbClr val="800000"/>
                </a:solidFill>
                <a:latin typeface="Consolas" panose="020B0609020204030204" pitchFamily="49" charset="0"/>
              </a:rPr>
              <a:t>ORDER</a:t>
            </a:r>
            <a:r>
              <a:rPr lang="en-US" sz="1900" b="1" dirty="0">
                <a:solidFill>
                  <a:srgbClr val="000000"/>
                </a:solidFill>
                <a:latin typeface="Consolas" panose="020B0609020204030204" pitchFamily="49" charset="0"/>
              </a:rPr>
              <a:t> </a:t>
            </a:r>
            <a:r>
              <a:rPr lang="en-US" sz="1900" b="1" dirty="0">
                <a:solidFill>
                  <a:srgbClr val="800000"/>
                </a:solidFill>
                <a:latin typeface="Consolas" panose="020B0609020204030204" pitchFamily="49" charset="0"/>
              </a:rPr>
              <a:t>BY</a:t>
            </a:r>
            <a:r>
              <a:rPr lang="en-US" sz="1900" b="1" dirty="0">
                <a:solidFill>
                  <a:srgbClr val="000000"/>
                </a:solidFill>
                <a:latin typeface="Consolas" panose="020B0609020204030204" pitchFamily="49" charset="0"/>
              </a:rPr>
              <a:t> salary) </a:t>
            </a:r>
          </a:p>
          <a:p>
            <a:pPr algn="l"/>
            <a:r>
              <a:rPr lang="en-US" sz="1900" b="1" dirty="0">
                <a:solidFill>
                  <a:srgbClr val="800000"/>
                </a:solidFill>
                <a:latin typeface="Consolas" panose="020B0609020204030204" pitchFamily="49" charset="0"/>
              </a:rPr>
              <a:t>FROM</a:t>
            </a:r>
            <a:r>
              <a:rPr lang="en-US" sz="1900" b="1" dirty="0">
                <a:solidFill>
                  <a:srgbClr val="000000"/>
                </a:solidFill>
                <a:latin typeface="Consolas" panose="020B0609020204030204" pitchFamily="49" charset="0"/>
              </a:rPr>
              <a:t> employee</a:t>
            </a:r>
            <a:r>
              <a:rPr lang="en-US" sz="1900" b="1" dirty="0">
                <a:solidFill>
                  <a:srgbClr val="FF0000"/>
                </a:solidFill>
                <a:latin typeface="Consolas" panose="020B0609020204030204" pitchFamily="49" charset="0"/>
              </a:rPr>
              <a:t>;</a:t>
            </a:r>
          </a:p>
          <a:p>
            <a:pPr algn="l"/>
            <a:r>
              <a:rPr lang="en-US" sz="1900" dirty="0">
                <a:solidFill>
                  <a:srgbClr val="808080"/>
                </a:solidFill>
                <a:latin typeface="Consolas" panose="020B0609020204030204" pitchFamily="49" charset="0"/>
              </a:rPr>
              <a:t>-- Returns: 50000 (no interpolation needed)</a:t>
            </a:r>
          </a:p>
          <a:p>
            <a:pPr algn="l"/>
            <a:endParaRPr lang="en-US" sz="1900" dirty="0">
              <a:latin typeface="Consolas" panose="020B0609020204030204" pitchFamily="49" charset="0"/>
            </a:endParaRPr>
          </a:p>
          <a:p>
            <a:pPr algn="l"/>
            <a:r>
              <a:rPr lang="en-US" sz="1900" dirty="0">
                <a:solidFill>
                  <a:srgbClr val="808080"/>
                </a:solidFill>
                <a:latin typeface="Consolas" panose="020B0609020204030204" pitchFamily="49" charset="0"/>
              </a:rPr>
              <a:t>-- Discrete median</a:t>
            </a:r>
          </a:p>
          <a:p>
            <a:pPr algn="l"/>
            <a:r>
              <a:rPr lang="en-US" sz="1900" b="1" dirty="0">
                <a:solidFill>
                  <a:srgbClr val="800000"/>
                </a:solidFill>
                <a:latin typeface="Consolas" panose="020B0609020204030204" pitchFamily="49" charset="0"/>
              </a:rPr>
              <a:t>SELECT</a:t>
            </a:r>
            <a:r>
              <a:rPr lang="en-US" sz="1900" b="1" dirty="0">
                <a:solidFill>
                  <a:srgbClr val="000000"/>
                </a:solidFill>
                <a:latin typeface="Consolas" panose="020B0609020204030204" pitchFamily="49" charset="0"/>
              </a:rPr>
              <a:t> </a:t>
            </a:r>
            <a:r>
              <a:rPr lang="en-US" sz="1900" b="1" dirty="0">
                <a:solidFill>
                  <a:srgbClr val="000080"/>
                </a:solidFill>
                <a:latin typeface="Consolas" panose="020B0609020204030204" pitchFamily="49" charset="0"/>
              </a:rPr>
              <a:t>PERCENTILE_DISC</a:t>
            </a:r>
            <a:r>
              <a:rPr lang="en-US" sz="1900" b="1" dirty="0">
                <a:solidFill>
                  <a:srgbClr val="000000"/>
                </a:solidFill>
                <a:latin typeface="Consolas" panose="020B0609020204030204" pitchFamily="49" charset="0"/>
              </a:rPr>
              <a:t>(</a:t>
            </a:r>
            <a:r>
              <a:rPr lang="en-US" sz="1900" b="1" dirty="0">
                <a:solidFill>
                  <a:srgbClr val="0000FF"/>
                </a:solidFill>
                <a:latin typeface="Consolas" panose="020B0609020204030204" pitchFamily="49" charset="0"/>
              </a:rPr>
              <a:t>0</a:t>
            </a:r>
            <a:r>
              <a:rPr lang="en-US" sz="1900" b="1" dirty="0">
                <a:solidFill>
                  <a:srgbClr val="000000"/>
                </a:solidFill>
                <a:latin typeface="Consolas" panose="020B0609020204030204" pitchFamily="49" charset="0"/>
              </a:rPr>
              <a:t>.</a:t>
            </a:r>
            <a:r>
              <a:rPr lang="en-US" sz="1900" b="1" dirty="0">
                <a:solidFill>
                  <a:srgbClr val="0000FF"/>
                </a:solidFill>
                <a:latin typeface="Consolas" panose="020B0609020204030204" pitchFamily="49" charset="0"/>
              </a:rPr>
              <a:t>5</a:t>
            </a:r>
            <a:r>
              <a:rPr lang="en-US" sz="1900" b="1" dirty="0">
                <a:solidFill>
                  <a:srgbClr val="000000"/>
                </a:solidFill>
                <a:latin typeface="Consolas" panose="020B0609020204030204" pitchFamily="49" charset="0"/>
              </a:rPr>
              <a:t>) </a:t>
            </a:r>
            <a:r>
              <a:rPr lang="en-US" sz="1900" b="1" dirty="0">
                <a:solidFill>
                  <a:srgbClr val="800000"/>
                </a:solidFill>
                <a:latin typeface="Consolas" panose="020B0609020204030204" pitchFamily="49" charset="0"/>
              </a:rPr>
              <a:t>WITHIN</a:t>
            </a:r>
            <a:r>
              <a:rPr lang="en-US" sz="1900" b="1" dirty="0">
                <a:solidFill>
                  <a:srgbClr val="000000"/>
                </a:solidFill>
                <a:latin typeface="Consolas" panose="020B0609020204030204" pitchFamily="49" charset="0"/>
              </a:rPr>
              <a:t> </a:t>
            </a:r>
            <a:r>
              <a:rPr lang="en-US" sz="1900" b="1" dirty="0">
                <a:solidFill>
                  <a:srgbClr val="800000"/>
                </a:solidFill>
                <a:latin typeface="Consolas" panose="020B0609020204030204" pitchFamily="49" charset="0"/>
              </a:rPr>
              <a:t>GROUP</a:t>
            </a:r>
            <a:r>
              <a:rPr lang="en-US" sz="1900" b="1" dirty="0">
                <a:solidFill>
                  <a:srgbClr val="000000"/>
                </a:solidFill>
                <a:latin typeface="Consolas" panose="020B0609020204030204" pitchFamily="49" charset="0"/>
              </a:rPr>
              <a:t> </a:t>
            </a:r>
          </a:p>
          <a:p>
            <a:pPr algn="l"/>
            <a:r>
              <a:rPr lang="en-US" sz="1900" b="1" dirty="0">
                <a:solidFill>
                  <a:srgbClr val="000000"/>
                </a:solidFill>
                <a:latin typeface="Consolas" panose="020B0609020204030204" pitchFamily="49" charset="0"/>
              </a:rPr>
              <a:t>  (</a:t>
            </a:r>
            <a:r>
              <a:rPr lang="en-US" sz="1900" b="1" dirty="0">
                <a:solidFill>
                  <a:srgbClr val="800000"/>
                </a:solidFill>
                <a:latin typeface="Consolas" panose="020B0609020204030204" pitchFamily="49" charset="0"/>
              </a:rPr>
              <a:t>ORDER</a:t>
            </a:r>
            <a:r>
              <a:rPr lang="en-US" sz="1900" b="1" dirty="0">
                <a:solidFill>
                  <a:srgbClr val="000000"/>
                </a:solidFill>
                <a:latin typeface="Consolas" panose="020B0609020204030204" pitchFamily="49" charset="0"/>
              </a:rPr>
              <a:t> </a:t>
            </a:r>
            <a:r>
              <a:rPr lang="en-US" sz="1900" b="1" dirty="0">
                <a:solidFill>
                  <a:srgbClr val="800000"/>
                </a:solidFill>
                <a:latin typeface="Consolas" panose="020B0609020204030204" pitchFamily="49" charset="0"/>
              </a:rPr>
              <a:t>BY</a:t>
            </a:r>
            <a:r>
              <a:rPr lang="en-US" sz="1900" b="1" dirty="0">
                <a:solidFill>
                  <a:srgbClr val="000000"/>
                </a:solidFill>
                <a:latin typeface="Consolas" panose="020B0609020204030204" pitchFamily="49" charset="0"/>
              </a:rPr>
              <a:t> salary) </a:t>
            </a:r>
          </a:p>
          <a:p>
            <a:pPr algn="l"/>
            <a:r>
              <a:rPr lang="en-US" sz="1900" b="1" dirty="0">
                <a:solidFill>
                  <a:srgbClr val="800000"/>
                </a:solidFill>
                <a:latin typeface="Consolas" panose="020B0609020204030204" pitchFamily="49" charset="0"/>
              </a:rPr>
              <a:t>FROM</a:t>
            </a:r>
            <a:r>
              <a:rPr lang="en-US" sz="1900" b="1" dirty="0">
                <a:solidFill>
                  <a:srgbClr val="000000"/>
                </a:solidFill>
                <a:latin typeface="Consolas" panose="020B0609020204030204" pitchFamily="49" charset="0"/>
              </a:rPr>
              <a:t> employee</a:t>
            </a:r>
            <a:r>
              <a:rPr lang="en-US" sz="1900" b="1" dirty="0">
                <a:solidFill>
                  <a:srgbClr val="FF0000"/>
                </a:solidFill>
                <a:latin typeface="Consolas" panose="020B0609020204030204" pitchFamily="49" charset="0"/>
              </a:rPr>
              <a:t>;</a:t>
            </a:r>
          </a:p>
          <a:p>
            <a:pPr algn="l"/>
            <a:r>
              <a:rPr lang="en-US" sz="1900" dirty="0">
                <a:solidFill>
                  <a:srgbClr val="808080"/>
                </a:solidFill>
                <a:latin typeface="Consolas" panose="020B0609020204030204" pitchFamily="49" charset="0"/>
              </a:rPr>
              <a:t>-- Returns: 50000</a:t>
            </a:r>
          </a:p>
          <a:p>
            <a:pPr marL="285750" indent="-285750" algn="l">
              <a:buFont typeface="Wingdings" panose="05000000000000000000" pitchFamily="2" charset="2"/>
              <a:buChar char="n"/>
            </a:pPr>
            <a:endParaRPr lang="en-US" sz="1900" dirty="0">
              <a:solidFill>
                <a:srgbClr val="808080"/>
              </a:solidFill>
              <a:latin typeface="Consolas" panose="020B0609020204030204" pitchFamily="49" charset="0"/>
            </a:endParaRPr>
          </a:p>
          <a:p>
            <a:pPr algn="l"/>
            <a:endParaRPr lang="en-US" sz="1900" dirty="0"/>
          </a:p>
        </p:txBody>
      </p:sp>
      <p:sp>
        <p:nvSpPr>
          <p:cNvPr id="11" name="TextBox 10">
            <a:extLst>
              <a:ext uri="{FF2B5EF4-FFF2-40B4-BE49-F238E27FC236}">
                <a16:creationId xmlns:a16="http://schemas.microsoft.com/office/drawing/2014/main" id="{618026AC-B512-1FE5-BE49-042D3D515B0B}"/>
              </a:ext>
            </a:extLst>
          </p:cNvPr>
          <p:cNvSpPr txBox="1"/>
          <p:nvPr/>
        </p:nvSpPr>
        <p:spPr>
          <a:xfrm>
            <a:off x="6400800" y="1143000"/>
            <a:ext cx="5610653" cy="4770537"/>
          </a:xfrm>
          <a:prstGeom prst="rect">
            <a:avLst/>
          </a:prstGeom>
          <a:noFill/>
          <a:ln w="12700">
            <a:solidFill>
              <a:schemeClr val="bg2"/>
            </a:solidFill>
          </a:ln>
        </p:spPr>
        <p:txBody>
          <a:bodyPr wrap="square">
            <a:spAutoFit/>
          </a:bodyPr>
          <a:lstStyle/>
          <a:p>
            <a:pPr algn="l"/>
            <a:r>
              <a:rPr lang="en-US" sz="1900" dirty="0">
                <a:solidFill>
                  <a:srgbClr val="808080"/>
                </a:solidFill>
                <a:latin typeface="Consolas" panose="020B0609020204030204" pitchFamily="49" charset="0"/>
              </a:rPr>
              <a:t>--Example 2: 90th Percentile</a:t>
            </a:r>
          </a:p>
          <a:p>
            <a:pPr algn="l"/>
            <a:r>
              <a:rPr lang="en-US" sz="1900" dirty="0">
                <a:solidFill>
                  <a:srgbClr val="808080"/>
                </a:solidFill>
                <a:latin typeface="Consolas" panose="020B0609020204030204" pitchFamily="49" charset="0"/>
              </a:rPr>
              <a:t>-- Continuous (interpolates </a:t>
            </a:r>
          </a:p>
          <a:p>
            <a:pPr algn="l"/>
            <a:r>
              <a:rPr lang="en-US" sz="1900" dirty="0">
                <a:solidFill>
                  <a:srgbClr val="808080"/>
                </a:solidFill>
                <a:latin typeface="Consolas" panose="020B0609020204030204" pitchFamily="49" charset="0"/>
              </a:rPr>
              <a:t>-- between 55000 and 80000)</a:t>
            </a:r>
          </a:p>
          <a:p>
            <a:pPr algn="l"/>
            <a:r>
              <a:rPr lang="en-US" sz="1900" b="1" dirty="0">
                <a:solidFill>
                  <a:srgbClr val="800000"/>
                </a:solidFill>
                <a:latin typeface="Consolas" panose="020B0609020204030204" pitchFamily="49" charset="0"/>
              </a:rPr>
              <a:t>SELECT</a:t>
            </a:r>
            <a:r>
              <a:rPr lang="en-US" sz="1900" b="1" dirty="0">
                <a:solidFill>
                  <a:srgbClr val="000000"/>
                </a:solidFill>
                <a:latin typeface="Consolas" panose="020B0609020204030204" pitchFamily="49" charset="0"/>
              </a:rPr>
              <a:t> </a:t>
            </a:r>
            <a:r>
              <a:rPr lang="en-US" sz="1900" b="1" dirty="0">
                <a:solidFill>
                  <a:srgbClr val="000080"/>
                </a:solidFill>
                <a:latin typeface="Consolas" panose="020B0609020204030204" pitchFamily="49" charset="0"/>
              </a:rPr>
              <a:t>PERCENTILE_CONT</a:t>
            </a:r>
            <a:r>
              <a:rPr lang="en-US" sz="1900" b="1" dirty="0">
                <a:solidFill>
                  <a:srgbClr val="000000"/>
                </a:solidFill>
                <a:latin typeface="Consolas" panose="020B0609020204030204" pitchFamily="49" charset="0"/>
              </a:rPr>
              <a:t>(</a:t>
            </a:r>
            <a:r>
              <a:rPr lang="en-US" sz="1900" b="1" dirty="0">
                <a:solidFill>
                  <a:srgbClr val="0000FF"/>
                </a:solidFill>
                <a:latin typeface="Consolas" panose="020B0609020204030204" pitchFamily="49" charset="0"/>
              </a:rPr>
              <a:t>0</a:t>
            </a:r>
            <a:r>
              <a:rPr lang="en-US" sz="1900" b="1" dirty="0">
                <a:solidFill>
                  <a:srgbClr val="000000"/>
                </a:solidFill>
                <a:latin typeface="Consolas" panose="020B0609020204030204" pitchFamily="49" charset="0"/>
              </a:rPr>
              <a:t>.</a:t>
            </a:r>
            <a:r>
              <a:rPr lang="en-US" sz="1900" b="1" dirty="0">
                <a:solidFill>
                  <a:srgbClr val="0000FF"/>
                </a:solidFill>
                <a:latin typeface="Consolas" panose="020B0609020204030204" pitchFamily="49" charset="0"/>
              </a:rPr>
              <a:t>9</a:t>
            </a:r>
            <a:r>
              <a:rPr lang="en-US" sz="1900" b="1" dirty="0">
                <a:solidFill>
                  <a:srgbClr val="000000"/>
                </a:solidFill>
                <a:latin typeface="Consolas" panose="020B0609020204030204" pitchFamily="49" charset="0"/>
              </a:rPr>
              <a:t>) </a:t>
            </a:r>
            <a:r>
              <a:rPr lang="en-US" sz="1900" b="1" dirty="0">
                <a:solidFill>
                  <a:srgbClr val="800000"/>
                </a:solidFill>
                <a:latin typeface="Consolas" panose="020B0609020204030204" pitchFamily="49" charset="0"/>
              </a:rPr>
              <a:t>WITHIN</a:t>
            </a:r>
            <a:r>
              <a:rPr lang="en-US" sz="1900" b="1" dirty="0">
                <a:solidFill>
                  <a:srgbClr val="000000"/>
                </a:solidFill>
                <a:latin typeface="Consolas" panose="020B0609020204030204" pitchFamily="49" charset="0"/>
              </a:rPr>
              <a:t> </a:t>
            </a:r>
            <a:r>
              <a:rPr lang="en-US" sz="1900" b="1" dirty="0">
                <a:solidFill>
                  <a:srgbClr val="800000"/>
                </a:solidFill>
                <a:latin typeface="Consolas" panose="020B0609020204030204" pitchFamily="49" charset="0"/>
              </a:rPr>
              <a:t>GROUP</a:t>
            </a:r>
            <a:r>
              <a:rPr lang="en-US" sz="1900" b="1" dirty="0">
                <a:solidFill>
                  <a:srgbClr val="000000"/>
                </a:solidFill>
                <a:latin typeface="Consolas" panose="020B0609020204030204" pitchFamily="49" charset="0"/>
              </a:rPr>
              <a:t> </a:t>
            </a:r>
          </a:p>
          <a:p>
            <a:pPr algn="l"/>
            <a:r>
              <a:rPr lang="en-US" sz="1900" b="1" dirty="0">
                <a:solidFill>
                  <a:srgbClr val="000000"/>
                </a:solidFill>
                <a:latin typeface="Consolas" panose="020B0609020204030204" pitchFamily="49" charset="0"/>
              </a:rPr>
              <a:t> (</a:t>
            </a:r>
            <a:r>
              <a:rPr lang="en-US" sz="1900" b="1" dirty="0">
                <a:solidFill>
                  <a:srgbClr val="800000"/>
                </a:solidFill>
                <a:latin typeface="Consolas" panose="020B0609020204030204" pitchFamily="49" charset="0"/>
              </a:rPr>
              <a:t>ORDER</a:t>
            </a:r>
            <a:r>
              <a:rPr lang="en-US" sz="1900" b="1" dirty="0">
                <a:solidFill>
                  <a:srgbClr val="000000"/>
                </a:solidFill>
                <a:latin typeface="Consolas" panose="020B0609020204030204" pitchFamily="49" charset="0"/>
              </a:rPr>
              <a:t> </a:t>
            </a:r>
            <a:r>
              <a:rPr lang="en-US" sz="1900" b="1" dirty="0">
                <a:solidFill>
                  <a:srgbClr val="800000"/>
                </a:solidFill>
                <a:latin typeface="Consolas" panose="020B0609020204030204" pitchFamily="49" charset="0"/>
              </a:rPr>
              <a:t>BY</a:t>
            </a:r>
            <a:r>
              <a:rPr lang="en-US" sz="1900" b="1" dirty="0">
                <a:solidFill>
                  <a:srgbClr val="000000"/>
                </a:solidFill>
                <a:latin typeface="Consolas" panose="020B0609020204030204" pitchFamily="49" charset="0"/>
              </a:rPr>
              <a:t> salary) </a:t>
            </a:r>
          </a:p>
          <a:p>
            <a:pPr algn="l"/>
            <a:r>
              <a:rPr lang="en-US" sz="1900" b="1" dirty="0">
                <a:solidFill>
                  <a:srgbClr val="800000"/>
                </a:solidFill>
                <a:latin typeface="Consolas" panose="020B0609020204030204" pitchFamily="49" charset="0"/>
              </a:rPr>
              <a:t>FROM</a:t>
            </a:r>
            <a:r>
              <a:rPr lang="en-US" sz="1900" b="1" dirty="0">
                <a:solidFill>
                  <a:srgbClr val="000000"/>
                </a:solidFill>
                <a:latin typeface="Consolas" panose="020B0609020204030204" pitchFamily="49" charset="0"/>
              </a:rPr>
              <a:t> employees</a:t>
            </a:r>
          </a:p>
          <a:p>
            <a:pPr algn="l"/>
            <a:r>
              <a:rPr lang="en-US" sz="1900" dirty="0">
                <a:solidFill>
                  <a:srgbClr val="808080"/>
                </a:solidFill>
                <a:latin typeface="Consolas" panose="020B0609020204030204" pitchFamily="49" charset="0"/>
              </a:rPr>
              <a:t>-- Returns: 72500 (calculated value)</a:t>
            </a:r>
          </a:p>
          <a:p>
            <a:pPr algn="l"/>
            <a:endParaRPr lang="en-US" sz="1900" dirty="0">
              <a:latin typeface="Consolas" panose="020B0609020204030204" pitchFamily="49" charset="0"/>
            </a:endParaRPr>
          </a:p>
          <a:p>
            <a:pPr algn="l"/>
            <a:r>
              <a:rPr lang="en-US" sz="1900" dirty="0">
                <a:solidFill>
                  <a:srgbClr val="808080"/>
                </a:solidFill>
                <a:latin typeface="Consolas" panose="020B0609020204030204" pitchFamily="49" charset="0"/>
              </a:rPr>
              <a:t>-- Discrete (returns first value at </a:t>
            </a:r>
          </a:p>
          <a:p>
            <a:pPr algn="l"/>
            <a:r>
              <a:rPr lang="en-US" sz="1900" dirty="0">
                <a:solidFill>
                  <a:srgbClr val="808080"/>
                </a:solidFill>
                <a:latin typeface="Consolas" panose="020B0609020204030204" pitchFamily="49" charset="0"/>
              </a:rPr>
              <a:t>-- or exceeding 90th %</a:t>
            </a:r>
            <a:r>
              <a:rPr lang="en-US" sz="1900" dirty="0" err="1">
                <a:solidFill>
                  <a:srgbClr val="808080"/>
                </a:solidFill>
                <a:latin typeface="Consolas" panose="020B0609020204030204" pitchFamily="49" charset="0"/>
              </a:rPr>
              <a:t>ile</a:t>
            </a:r>
            <a:r>
              <a:rPr lang="en-US" sz="1900" dirty="0">
                <a:solidFill>
                  <a:srgbClr val="808080"/>
                </a:solidFill>
                <a:latin typeface="Consolas" panose="020B0609020204030204" pitchFamily="49" charset="0"/>
              </a:rPr>
              <a:t>)</a:t>
            </a:r>
          </a:p>
          <a:p>
            <a:pPr algn="l"/>
            <a:r>
              <a:rPr lang="en-US" sz="1900" b="1" dirty="0">
                <a:solidFill>
                  <a:srgbClr val="800000"/>
                </a:solidFill>
                <a:latin typeface="Consolas" panose="020B0609020204030204" pitchFamily="49" charset="0"/>
              </a:rPr>
              <a:t>SELECT</a:t>
            </a:r>
            <a:r>
              <a:rPr lang="en-US" sz="1900" b="1" dirty="0">
                <a:solidFill>
                  <a:srgbClr val="000000"/>
                </a:solidFill>
                <a:latin typeface="Consolas" panose="020B0609020204030204" pitchFamily="49" charset="0"/>
              </a:rPr>
              <a:t> </a:t>
            </a:r>
            <a:r>
              <a:rPr lang="en-US" sz="1900" b="1" dirty="0">
                <a:solidFill>
                  <a:srgbClr val="000080"/>
                </a:solidFill>
                <a:latin typeface="Consolas" panose="020B0609020204030204" pitchFamily="49" charset="0"/>
              </a:rPr>
              <a:t>PERCENTILE_DISC</a:t>
            </a:r>
            <a:r>
              <a:rPr lang="en-US" sz="1900" b="1" dirty="0">
                <a:solidFill>
                  <a:srgbClr val="000000"/>
                </a:solidFill>
                <a:latin typeface="Consolas" panose="020B0609020204030204" pitchFamily="49" charset="0"/>
              </a:rPr>
              <a:t>(</a:t>
            </a:r>
            <a:r>
              <a:rPr lang="en-US" sz="1900" b="1" dirty="0">
                <a:solidFill>
                  <a:srgbClr val="0000FF"/>
                </a:solidFill>
                <a:latin typeface="Consolas" panose="020B0609020204030204" pitchFamily="49" charset="0"/>
              </a:rPr>
              <a:t>0</a:t>
            </a:r>
            <a:r>
              <a:rPr lang="en-US" sz="1900" b="1" dirty="0">
                <a:solidFill>
                  <a:srgbClr val="000000"/>
                </a:solidFill>
                <a:latin typeface="Consolas" panose="020B0609020204030204" pitchFamily="49" charset="0"/>
              </a:rPr>
              <a:t>.</a:t>
            </a:r>
            <a:r>
              <a:rPr lang="en-US" sz="1900" b="1" dirty="0">
                <a:solidFill>
                  <a:srgbClr val="0000FF"/>
                </a:solidFill>
                <a:latin typeface="Consolas" panose="020B0609020204030204" pitchFamily="49" charset="0"/>
              </a:rPr>
              <a:t>9</a:t>
            </a:r>
            <a:r>
              <a:rPr lang="en-US" sz="1900" b="1" dirty="0">
                <a:solidFill>
                  <a:srgbClr val="000000"/>
                </a:solidFill>
                <a:latin typeface="Consolas" panose="020B0609020204030204" pitchFamily="49" charset="0"/>
              </a:rPr>
              <a:t>) </a:t>
            </a:r>
            <a:r>
              <a:rPr lang="en-US" sz="1900" b="1" dirty="0">
                <a:solidFill>
                  <a:srgbClr val="800000"/>
                </a:solidFill>
                <a:latin typeface="Consolas" panose="020B0609020204030204" pitchFamily="49" charset="0"/>
              </a:rPr>
              <a:t>WITHIN</a:t>
            </a:r>
            <a:r>
              <a:rPr lang="en-US" sz="1900" b="1" dirty="0">
                <a:solidFill>
                  <a:srgbClr val="000000"/>
                </a:solidFill>
                <a:latin typeface="Consolas" panose="020B0609020204030204" pitchFamily="49" charset="0"/>
              </a:rPr>
              <a:t> </a:t>
            </a:r>
            <a:r>
              <a:rPr lang="en-US" sz="1900" b="1" dirty="0">
                <a:solidFill>
                  <a:srgbClr val="800000"/>
                </a:solidFill>
                <a:latin typeface="Consolas" panose="020B0609020204030204" pitchFamily="49" charset="0"/>
              </a:rPr>
              <a:t>GROUP</a:t>
            </a:r>
            <a:r>
              <a:rPr lang="en-US" sz="1900" b="1" dirty="0">
                <a:solidFill>
                  <a:srgbClr val="000000"/>
                </a:solidFill>
                <a:latin typeface="Consolas" panose="020B0609020204030204" pitchFamily="49" charset="0"/>
              </a:rPr>
              <a:t> </a:t>
            </a:r>
          </a:p>
          <a:p>
            <a:pPr algn="l"/>
            <a:r>
              <a:rPr lang="en-US" sz="1900" b="1" dirty="0">
                <a:solidFill>
                  <a:srgbClr val="000000"/>
                </a:solidFill>
                <a:latin typeface="Consolas" panose="020B0609020204030204" pitchFamily="49" charset="0"/>
              </a:rPr>
              <a:t>  (</a:t>
            </a:r>
            <a:r>
              <a:rPr lang="en-US" sz="1900" b="1" dirty="0">
                <a:solidFill>
                  <a:srgbClr val="800000"/>
                </a:solidFill>
                <a:latin typeface="Consolas" panose="020B0609020204030204" pitchFamily="49" charset="0"/>
              </a:rPr>
              <a:t>ORDER</a:t>
            </a:r>
            <a:r>
              <a:rPr lang="en-US" sz="1900" b="1" dirty="0">
                <a:solidFill>
                  <a:srgbClr val="000000"/>
                </a:solidFill>
                <a:latin typeface="Consolas" panose="020B0609020204030204" pitchFamily="49" charset="0"/>
              </a:rPr>
              <a:t> </a:t>
            </a:r>
            <a:r>
              <a:rPr lang="en-US" sz="1900" b="1" dirty="0">
                <a:solidFill>
                  <a:srgbClr val="800000"/>
                </a:solidFill>
                <a:latin typeface="Consolas" panose="020B0609020204030204" pitchFamily="49" charset="0"/>
              </a:rPr>
              <a:t>BY</a:t>
            </a:r>
            <a:r>
              <a:rPr lang="en-US" sz="1900" b="1" dirty="0">
                <a:solidFill>
                  <a:srgbClr val="000000"/>
                </a:solidFill>
                <a:latin typeface="Consolas" panose="020B0609020204030204" pitchFamily="49" charset="0"/>
              </a:rPr>
              <a:t> salary) </a:t>
            </a:r>
          </a:p>
          <a:p>
            <a:pPr algn="l"/>
            <a:r>
              <a:rPr lang="en-US" sz="1900" b="1" dirty="0">
                <a:solidFill>
                  <a:srgbClr val="800000"/>
                </a:solidFill>
                <a:latin typeface="Consolas" panose="020B0609020204030204" pitchFamily="49" charset="0"/>
              </a:rPr>
              <a:t>FROM</a:t>
            </a:r>
            <a:r>
              <a:rPr lang="en-US" sz="1900" b="1" dirty="0">
                <a:solidFill>
                  <a:srgbClr val="000000"/>
                </a:solidFill>
                <a:latin typeface="Consolas" panose="020B0609020204030204" pitchFamily="49" charset="0"/>
              </a:rPr>
              <a:t> employees</a:t>
            </a:r>
          </a:p>
          <a:p>
            <a:pPr marL="285750" indent="-285750">
              <a:buFont typeface="Wingdings" panose="05000000000000000000" pitchFamily="2" charset="2"/>
              <a:buChar char="n"/>
            </a:pPr>
            <a:r>
              <a:rPr lang="en-US" sz="1900" dirty="0">
                <a:solidFill>
                  <a:srgbClr val="808080"/>
                </a:solidFill>
                <a:latin typeface="Consolas" panose="020B0609020204030204" pitchFamily="49" charset="0"/>
              </a:rPr>
              <a:t>Returns: 80000 </a:t>
            </a:r>
            <a:r>
              <a:rPr lang="en-US" sz="1900" i="1" dirty="0">
                <a:solidFill>
                  <a:srgbClr val="808080"/>
                </a:solidFill>
                <a:latin typeface="Consolas" panose="020B0609020204030204" pitchFamily="49" charset="0"/>
              </a:rPr>
              <a:t>(</a:t>
            </a:r>
            <a:r>
              <a:rPr lang="en-US" sz="1900" i="1" dirty="0"/>
              <a:t>the smallest actual salary such that at least 90% of salaries are less than or equal to it)</a:t>
            </a:r>
          </a:p>
        </p:txBody>
      </p:sp>
    </p:spTree>
    <p:extLst>
      <p:ext uri="{BB962C8B-B14F-4D97-AF65-F5344CB8AC3E}">
        <p14:creationId xmlns:p14="http://schemas.microsoft.com/office/powerpoint/2010/main" val="861693435"/>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Aggregate Functions: String Based</a:t>
            </a:r>
          </a:p>
        </p:txBody>
      </p:sp>
      <p:sp>
        <p:nvSpPr>
          <p:cNvPr id="3" name="TextBox 2">
            <a:extLst>
              <a:ext uri="{FF2B5EF4-FFF2-40B4-BE49-F238E27FC236}">
                <a16:creationId xmlns:a16="http://schemas.microsoft.com/office/drawing/2014/main" id="{8A5164E8-1D40-F0A7-7DFA-E7D22FB7D9CE}"/>
              </a:ext>
            </a:extLst>
          </p:cNvPr>
          <p:cNvSpPr txBox="1">
            <a:spLocks noChangeArrowheads="1"/>
          </p:cNvSpPr>
          <p:nvPr/>
        </p:nvSpPr>
        <p:spPr bwMode="auto">
          <a:xfrm>
            <a:off x="76200" y="6430064"/>
            <a:ext cx="124585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Aggregate</a:t>
            </a:r>
          </a:p>
        </p:txBody>
      </p:sp>
      <p:graphicFrame>
        <p:nvGraphicFramePr>
          <p:cNvPr id="5" name="Table 4">
            <a:extLst>
              <a:ext uri="{FF2B5EF4-FFF2-40B4-BE49-F238E27FC236}">
                <a16:creationId xmlns:a16="http://schemas.microsoft.com/office/drawing/2014/main" id="{0421AD85-349A-45B0-0241-BEB3E73B7F36}"/>
              </a:ext>
            </a:extLst>
          </p:cNvPr>
          <p:cNvGraphicFramePr>
            <a:graphicFrameLocks noGrp="1"/>
          </p:cNvGraphicFramePr>
          <p:nvPr>
            <p:extLst>
              <p:ext uri="{D42A27DB-BD31-4B8C-83A1-F6EECF244321}">
                <p14:modId xmlns:p14="http://schemas.microsoft.com/office/powerpoint/2010/main" val="4175343401"/>
              </p:ext>
            </p:extLst>
          </p:nvPr>
        </p:nvGraphicFramePr>
        <p:xfrm>
          <a:off x="101601" y="1427775"/>
          <a:ext cx="11937999" cy="3954485"/>
        </p:xfrm>
        <a:graphic>
          <a:graphicData uri="http://schemas.openxmlformats.org/drawingml/2006/table">
            <a:tbl>
              <a:tblPr>
                <a:tableStyleId>{5940675A-B579-460E-94D1-54222C63F5DA}</a:tableStyleId>
              </a:tblPr>
              <a:tblGrid>
                <a:gridCol w="2658569">
                  <a:extLst>
                    <a:ext uri="{9D8B030D-6E8A-4147-A177-3AD203B41FA5}">
                      <a16:colId xmlns:a16="http://schemas.microsoft.com/office/drawing/2014/main" val="1505953182"/>
                    </a:ext>
                  </a:extLst>
                </a:gridCol>
                <a:gridCol w="2733257">
                  <a:extLst>
                    <a:ext uri="{9D8B030D-6E8A-4147-A177-3AD203B41FA5}">
                      <a16:colId xmlns:a16="http://schemas.microsoft.com/office/drawing/2014/main" val="3695703094"/>
                    </a:ext>
                  </a:extLst>
                </a:gridCol>
                <a:gridCol w="6546173">
                  <a:extLst>
                    <a:ext uri="{9D8B030D-6E8A-4147-A177-3AD203B41FA5}">
                      <a16:colId xmlns:a16="http://schemas.microsoft.com/office/drawing/2014/main" val="3715002912"/>
                    </a:ext>
                  </a:extLst>
                </a:gridCol>
              </a:tblGrid>
              <a:tr h="364966">
                <a:tc>
                  <a:txBody>
                    <a:bodyPr/>
                    <a:lstStyle/>
                    <a:p>
                      <a:pPr algn="l"/>
                      <a:r>
                        <a:rPr lang="en-US" sz="1800" b="1" dirty="0">
                          <a:solidFill>
                            <a:srgbClr val="404040"/>
                          </a:solidFill>
                          <a:effectLst/>
                        </a:rPr>
                        <a:t>Name</a:t>
                      </a:r>
                    </a:p>
                  </a:txBody>
                  <a:tcPr marR="31750" marT="31750" marB="31750" anchor="ctr"/>
                </a:tc>
                <a:tc>
                  <a:txBody>
                    <a:bodyPr/>
                    <a:lstStyle/>
                    <a:p>
                      <a:pPr algn="l"/>
                      <a:r>
                        <a:rPr lang="en-US" sz="1800" b="1">
                          <a:solidFill>
                            <a:srgbClr val="404040"/>
                          </a:solidFill>
                          <a:effectLst/>
                        </a:rPr>
                        <a:t>Description</a:t>
                      </a:r>
                    </a:p>
                  </a:txBody>
                  <a:tcPr marL="31750" marR="31750" marT="31750" marB="31750" anchor="ctr"/>
                </a:tc>
                <a:tc>
                  <a:txBody>
                    <a:bodyPr/>
                    <a:lstStyle/>
                    <a:p>
                      <a:pPr algn="l"/>
                      <a:r>
                        <a:rPr lang="en-US" sz="1800" b="1">
                          <a:solidFill>
                            <a:srgbClr val="404040"/>
                          </a:solidFill>
                          <a:effectLst/>
                        </a:rPr>
                        <a:t>Example</a:t>
                      </a:r>
                    </a:p>
                  </a:txBody>
                  <a:tcPr marL="31750" marR="31750" marT="31750" marB="31750" anchor="ctr"/>
                </a:tc>
                <a:extLst>
                  <a:ext uri="{0D108BD9-81ED-4DB2-BD59-A6C34878D82A}">
                    <a16:rowId xmlns:a16="http://schemas.microsoft.com/office/drawing/2014/main" val="3949365005"/>
                  </a:ext>
                </a:extLst>
              </a:tr>
              <a:tr h="661330">
                <a:tc>
                  <a:txBody>
                    <a:bodyPr/>
                    <a:lstStyle/>
                    <a:p>
                      <a:r>
                        <a:rPr lang="en-US">
                          <a:effectLst/>
                        </a:rPr>
                        <a:t>GROUP_CONCAT()</a:t>
                      </a:r>
                    </a:p>
                  </a:txBody>
                  <a:tcPr marR="31750" marT="31750" marB="31750" anchor="ctr"/>
                </a:tc>
                <a:tc>
                  <a:txBody>
                    <a:bodyPr/>
                    <a:lstStyle/>
                    <a:p>
                      <a:r>
                        <a:rPr lang="en-US">
                          <a:effectLst/>
                        </a:rPr>
                        <a:t>Concatenates strings (MySQL)</a:t>
                      </a:r>
                    </a:p>
                  </a:txBody>
                  <a:tcPr marL="31750" marR="31750" marT="31750" marB="31750" anchor="ctr"/>
                </a:tc>
                <a:tc>
                  <a:txBody>
                    <a:bodyPr/>
                    <a:lstStyle/>
                    <a:p>
                      <a:r>
                        <a:rPr lang="en-US" sz="1800" b="1" dirty="0">
                          <a:solidFill>
                            <a:srgbClr val="800000"/>
                          </a:solidFill>
                          <a:latin typeface="Consolas" panose="020B0609020204030204" pitchFamily="49" charset="0"/>
                        </a:rPr>
                        <a:t>SELECT</a:t>
                      </a:r>
                      <a:r>
                        <a:rPr lang="en-US" sz="1800" b="1" dirty="0">
                          <a:solidFill>
                            <a:srgbClr val="000000"/>
                          </a:solidFill>
                          <a:latin typeface="Consolas" panose="020B0609020204030204" pitchFamily="49" charset="0"/>
                        </a:rPr>
                        <a:t> </a:t>
                      </a:r>
                      <a:r>
                        <a:rPr lang="en-US" sz="1800" b="1" dirty="0">
                          <a:solidFill>
                            <a:srgbClr val="000080"/>
                          </a:solidFill>
                          <a:latin typeface="Consolas" panose="020B0609020204030204" pitchFamily="49" charset="0"/>
                        </a:rPr>
                        <a:t>GROUP_CONCAT</a:t>
                      </a:r>
                      <a:r>
                        <a:rPr lang="en-US" sz="1800" b="1" dirty="0">
                          <a:solidFill>
                            <a:srgbClr val="000000"/>
                          </a:solidFill>
                          <a:latin typeface="Consolas" panose="020B0609020204030204" pitchFamily="49" charset="0"/>
                        </a:rPr>
                        <a:t>(name </a:t>
                      </a:r>
                      <a:r>
                        <a:rPr lang="en-US" sz="1800" b="1" dirty="0">
                          <a:solidFill>
                            <a:srgbClr val="800000"/>
                          </a:solidFill>
                          <a:latin typeface="Consolas" panose="020B0609020204030204" pitchFamily="49" charset="0"/>
                        </a:rPr>
                        <a:t>SEPARATOR</a:t>
                      </a:r>
                      <a:r>
                        <a:rPr lang="en-US" sz="1800" b="1" dirty="0">
                          <a:solidFill>
                            <a:srgbClr val="000000"/>
                          </a:solidFill>
                          <a:latin typeface="Consolas" panose="020B0609020204030204" pitchFamily="49" charset="0"/>
                        </a:rPr>
                        <a:t> </a:t>
                      </a:r>
                      <a:r>
                        <a:rPr lang="en-US" sz="1800" b="1" dirty="0">
                          <a:solidFill>
                            <a:srgbClr val="008000"/>
                          </a:solidFill>
                          <a:latin typeface="Consolas" panose="020B0609020204030204" pitchFamily="49" charset="0"/>
                        </a:rPr>
                        <a:t>', '</a:t>
                      </a:r>
                      <a:r>
                        <a:rPr lang="en-US" sz="1800" b="1" dirty="0">
                          <a:solidFill>
                            <a:srgbClr val="000000"/>
                          </a:solidFill>
                          <a:latin typeface="Consolas" panose="020B0609020204030204" pitchFamily="49" charset="0"/>
                        </a:rPr>
                        <a:t>) </a:t>
                      </a:r>
                      <a:r>
                        <a:rPr lang="en-US" sz="1800" b="1" dirty="0">
                          <a:solidFill>
                            <a:srgbClr val="800000"/>
                          </a:solidFill>
                          <a:latin typeface="Consolas" panose="020B0609020204030204" pitchFamily="49" charset="0"/>
                        </a:rPr>
                        <a:t>FROM</a:t>
                      </a:r>
                      <a:r>
                        <a:rPr lang="en-US" sz="1800" b="1" dirty="0">
                          <a:solidFill>
                            <a:srgbClr val="000000"/>
                          </a:solidFill>
                          <a:latin typeface="Consolas" panose="020B0609020204030204" pitchFamily="49" charset="0"/>
                        </a:rPr>
                        <a:t> employee</a:t>
                      </a:r>
                      <a:r>
                        <a:rPr lang="en-US" sz="1800" b="1" dirty="0">
                          <a:solidFill>
                            <a:srgbClr val="FF0000"/>
                          </a:solidFill>
                          <a:latin typeface="Consolas" panose="020B0609020204030204" pitchFamily="49" charset="0"/>
                        </a:rPr>
                        <a:t>;</a:t>
                      </a:r>
                      <a:r>
                        <a:rPr lang="en-US" sz="1800" b="1" dirty="0">
                          <a:solidFill>
                            <a:srgbClr val="000000"/>
                          </a:solidFill>
                          <a:latin typeface="Consolas" panose="020B0609020204030204" pitchFamily="49" charset="0"/>
                        </a:rPr>
                        <a:t> </a:t>
                      </a:r>
                      <a:r>
                        <a:rPr lang="en-US" dirty="0">
                          <a:effectLst/>
                        </a:rPr>
                        <a:t>→ "Alice, Bob, Carol"</a:t>
                      </a:r>
                    </a:p>
                  </a:txBody>
                  <a:tcPr marL="31750" marR="31750" marT="31750" marB="31750" anchor="ctr"/>
                </a:tc>
                <a:extLst>
                  <a:ext uri="{0D108BD9-81ED-4DB2-BD59-A6C34878D82A}">
                    <a16:rowId xmlns:a16="http://schemas.microsoft.com/office/drawing/2014/main" val="3713904064"/>
                  </a:ext>
                </a:extLst>
              </a:tr>
              <a:tr h="661330">
                <a:tc>
                  <a:txBody>
                    <a:bodyPr/>
                    <a:lstStyle/>
                    <a:p>
                      <a:r>
                        <a:rPr lang="en-US">
                          <a:effectLst/>
                        </a:rPr>
                        <a:t>STRING_AGG()</a:t>
                      </a:r>
                    </a:p>
                  </a:txBody>
                  <a:tcPr marR="31750" marT="31750" marB="31750" anchor="ctr"/>
                </a:tc>
                <a:tc>
                  <a:txBody>
                    <a:bodyPr/>
                    <a:lstStyle/>
                    <a:p>
                      <a:r>
                        <a:rPr lang="en-US">
                          <a:effectLst/>
                        </a:rPr>
                        <a:t>Concatenates with delimiter (PostgreSQL)</a:t>
                      </a:r>
                    </a:p>
                  </a:txBody>
                  <a:tcPr marL="31750" marR="31750" marT="31750" marB="31750" anchor="ctr"/>
                </a:tc>
                <a:tc>
                  <a:txBody>
                    <a:bodyPr/>
                    <a:lstStyle/>
                    <a:p>
                      <a:r>
                        <a:rPr lang="en-US" sz="1800" b="1" dirty="0">
                          <a:solidFill>
                            <a:srgbClr val="800000"/>
                          </a:solidFill>
                          <a:latin typeface="Consolas" panose="020B0609020204030204" pitchFamily="49" charset="0"/>
                        </a:rPr>
                        <a:t>SELECT</a:t>
                      </a:r>
                      <a:r>
                        <a:rPr lang="en-US" sz="1800" b="1" dirty="0">
                          <a:solidFill>
                            <a:srgbClr val="000000"/>
                          </a:solidFill>
                          <a:latin typeface="Consolas" panose="020B0609020204030204" pitchFamily="49" charset="0"/>
                        </a:rPr>
                        <a:t> STRING_AGG(name, </a:t>
                      </a:r>
                      <a:r>
                        <a:rPr lang="en-US" sz="1800" b="1" dirty="0">
                          <a:solidFill>
                            <a:srgbClr val="008000"/>
                          </a:solidFill>
                          <a:latin typeface="Consolas" panose="020B0609020204030204" pitchFamily="49" charset="0"/>
                        </a:rPr>
                        <a:t>'; '</a:t>
                      </a:r>
                      <a:r>
                        <a:rPr lang="en-US" sz="1800" b="1" dirty="0">
                          <a:solidFill>
                            <a:srgbClr val="000000"/>
                          </a:solidFill>
                          <a:latin typeface="Consolas" panose="020B0609020204030204" pitchFamily="49" charset="0"/>
                        </a:rPr>
                        <a:t>) </a:t>
                      </a:r>
                      <a:r>
                        <a:rPr lang="en-US" sz="1800" b="1" dirty="0">
                          <a:solidFill>
                            <a:srgbClr val="800000"/>
                          </a:solidFill>
                          <a:latin typeface="Consolas" panose="020B0609020204030204" pitchFamily="49" charset="0"/>
                        </a:rPr>
                        <a:t>FROM</a:t>
                      </a:r>
                      <a:r>
                        <a:rPr lang="en-US" sz="1800" b="1" dirty="0">
                          <a:solidFill>
                            <a:srgbClr val="000000"/>
                          </a:solidFill>
                          <a:latin typeface="Consolas" panose="020B0609020204030204" pitchFamily="49" charset="0"/>
                        </a:rPr>
                        <a:t> employee</a:t>
                      </a:r>
                      <a:r>
                        <a:rPr lang="en-US" sz="1800" b="1" dirty="0">
                          <a:solidFill>
                            <a:srgbClr val="FF0000"/>
                          </a:solidFill>
                          <a:latin typeface="Consolas" panose="020B0609020204030204" pitchFamily="49" charset="0"/>
                        </a:rPr>
                        <a:t>;</a:t>
                      </a:r>
                      <a:r>
                        <a:rPr lang="en-US" sz="1800" b="1" dirty="0">
                          <a:solidFill>
                            <a:srgbClr val="000000"/>
                          </a:solidFill>
                          <a:latin typeface="Consolas" panose="020B0609020204030204" pitchFamily="49" charset="0"/>
                        </a:rPr>
                        <a:t> </a:t>
                      </a:r>
                      <a:r>
                        <a:rPr lang="en-US" dirty="0">
                          <a:effectLst/>
                        </a:rPr>
                        <a:t>→ "Alice; Bob; Carol"</a:t>
                      </a:r>
                    </a:p>
                  </a:txBody>
                  <a:tcPr marL="31750" marR="31750" marT="31750" marB="31750" anchor="ctr"/>
                </a:tc>
                <a:extLst>
                  <a:ext uri="{0D108BD9-81ED-4DB2-BD59-A6C34878D82A}">
                    <a16:rowId xmlns:a16="http://schemas.microsoft.com/office/drawing/2014/main" val="3748635958"/>
                  </a:ext>
                </a:extLst>
              </a:tr>
              <a:tr h="493939">
                <a:tc>
                  <a:txBody>
                    <a:bodyPr/>
                    <a:lstStyle/>
                    <a:p>
                      <a:r>
                        <a:rPr lang="en-US" dirty="0">
                          <a:effectLst/>
                        </a:rPr>
                        <a:t>LISTAGG()</a:t>
                      </a:r>
                    </a:p>
                  </a:txBody>
                  <a:tcPr marR="31750" marT="31750" marB="31750" anchor="ctr"/>
                </a:tc>
                <a:tc>
                  <a:txBody>
                    <a:bodyPr/>
                    <a:lstStyle/>
                    <a:p>
                      <a:r>
                        <a:rPr lang="en-US">
                          <a:effectLst/>
                        </a:rPr>
                        <a:t>Oracle string aggregation</a:t>
                      </a:r>
                    </a:p>
                  </a:txBody>
                  <a:tcPr marL="31750" marR="31750" marT="31750" marB="31750" anchor="ctr"/>
                </a:tc>
                <a:tc>
                  <a:txBody>
                    <a:bodyPr/>
                    <a:lstStyle/>
                    <a:p>
                      <a:r>
                        <a:rPr lang="en-US" sz="1800" b="1" dirty="0">
                          <a:solidFill>
                            <a:srgbClr val="800000"/>
                          </a:solidFill>
                          <a:latin typeface="Consolas" panose="020B0609020204030204" pitchFamily="49" charset="0"/>
                        </a:rPr>
                        <a:t>SELECT</a:t>
                      </a:r>
                      <a:r>
                        <a:rPr lang="en-US" sz="1800" b="1" dirty="0">
                          <a:solidFill>
                            <a:srgbClr val="000000"/>
                          </a:solidFill>
                          <a:latin typeface="Consolas" panose="020B0609020204030204" pitchFamily="49" charset="0"/>
                        </a:rPr>
                        <a:t> LISTAGG(name, ‘,’) </a:t>
                      </a:r>
                      <a:r>
                        <a:rPr lang="en-US" sz="1800" b="1" dirty="0">
                          <a:solidFill>
                            <a:srgbClr val="800000"/>
                          </a:solidFill>
                          <a:latin typeface="Consolas" panose="020B0609020204030204" pitchFamily="49" charset="0"/>
                        </a:rPr>
                        <a:t>FROM</a:t>
                      </a:r>
                      <a:r>
                        <a:rPr lang="en-US" sz="1800" b="1" dirty="0">
                          <a:solidFill>
                            <a:srgbClr val="000000"/>
                          </a:solidFill>
                          <a:latin typeface="Consolas" panose="020B0609020204030204" pitchFamily="49" charset="0"/>
                        </a:rPr>
                        <a:t> employee</a:t>
                      </a:r>
                      <a:r>
                        <a:rPr lang="en-US" sz="1800" b="1" dirty="0">
                          <a:solidFill>
                            <a:srgbClr val="FF0000"/>
                          </a:solidFill>
                          <a:latin typeface="Consolas" panose="020B0609020204030204" pitchFamily="49" charset="0"/>
                        </a:rPr>
                        <a:t>;</a:t>
                      </a:r>
                      <a:endParaRPr lang="en-US" dirty="0">
                        <a:effectLst/>
                      </a:endParaRPr>
                    </a:p>
                  </a:txBody>
                  <a:tcPr marL="31750" marR="31750" marT="31750" marB="31750" anchor="ctr"/>
                </a:tc>
                <a:extLst>
                  <a:ext uri="{0D108BD9-81ED-4DB2-BD59-A6C34878D82A}">
                    <a16:rowId xmlns:a16="http://schemas.microsoft.com/office/drawing/2014/main" val="1968539924"/>
                  </a:ext>
                </a:extLst>
              </a:tr>
              <a:tr h="661330">
                <a:tc>
                  <a:txBody>
                    <a:bodyPr/>
                    <a:lstStyle/>
                    <a:p>
                      <a:r>
                        <a:rPr lang="en-US" dirty="0">
                          <a:effectLst/>
                        </a:rPr>
                        <a:t>JSON_ARRAYAGG()</a:t>
                      </a:r>
                    </a:p>
                  </a:txBody>
                  <a:tcPr marR="31750" marT="31750" marB="31750" anchor="ctr"/>
                </a:tc>
                <a:tc>
                  <a:txBody>
                    <a:bodyPr/>
                    <a:lstStyle/>
                    <a:p>
                      <a:r>
                        <a:rPr lang="en-US" dirty="0"/>
                        <a:t>Aggregates values from multiple rows into a JSON array</a:t>
                      </a:r>
                      <a:endParaRPr lang="en-US" dirty="0">
                        <a:effectLst/>
                      </a:endParaRPr>
                    </a:p>
                  </a:txBody>
                  <a:tcPr marL="31750" marR="31750" marT="31750" marB="31750" anchor="ctr"/>
                </a:tc>
                <a:tc>
                  <a:txBody>
                    <a:bodyPr/>
                    <a:lstStyle/>
                    <a:p>
                      <a:r>
                        <a:rPr lang="en-US" sz="1800" b="1" dirty="0">
                          <a:solidFill>
                            <a:srgbClr val="800000"/>
                          </a:solidFill>
                          <a:latin typeface="Consolas" panose="020B0609020204030204" pitchFamily="49" charset="0"/>
                        </a:rPr>
                        <a:t>SELECT</a:t>
                      </a:r>
                      <a:r>
                        <a:rPr lang="en-US" sz="1800" b="1" dirty="0">
                          <a:solidFill>
                            <a:srgbClr val="000000"/>
                          </a:solidFill>
                          <a:latin typeface="Consolas" panose="020B0609020204030204" pitchFamily="49" charset="0"/>
                        </a:rPr>
                        <a:t> JSON_ARRAYAGG(name) </a:t>
                      </a:r>
                      <a:r>
                        <a:rPr lang="en-US" sz="1800" b="1" dirty="0">
                          <a:solidFill>
                            <a:srgbClr val="800000"/>
                          </a:solidFill>
                          <a:latin typeface="Consolas" panose="020B0609020204030204" pitchFamily="49" charset="0"/>
                        </a:rPr>
                        <a:t>FROM</a:t>
                      </a:r>
                      <a:r>
                        <a:rPr lang="en-US" sz="1800" b="1" dirty="0">
                          <a:solidFill>
                            <a:srgbClr val="000000"/>
                          </a:solidFill>
                          <a:latin typeface="Consolas" panose="020B0609020204030204" pitchFamily="49" charset="0"/>
                        </a:rPr>
                        <a:t> employee</a:t>
                      </a:r>
                      <a:r>
                        <a:rPr lang="en-US" sz="1800" b="1" dirty="0">
                          <a:solidFill>
                            <a:srgbClr val="FF0000"/>
                          </a:solidFill>
                          <a:latin typeface="Consolas" panose="020B0609020204030204" pitchFamily="49" charset="0"/>
                        </a:rPr>
                        <a:t>;</a:t>
                      </a:r>
                      <a:r>
                        <a:rPr lang="en-US" sz="1800" b="1" dirty="0">
                          <a:solidFill>
                            <a:srgbClr val="000000"/>
                          </a:solidFill>
                          <a:latin typeface="Consolas" panose="020B0609020204030204" pitchFamily="49" charset="0"/>
                        </a:rPr>
                        <a:t> </a:t>
                      </a:r>
                      <a:r>
                        <a:rPr lang="en-US" dirty="0">
                          <a:effectLst/>
                        </a:rPr>
                        <a:t>→ ["Alice", "Bob", "Carol"]</a:t>
                      </a:r>
                    </a:p>
                  </a:txBody>
                  <a:tcPr marL="31750" marR="31750" marT="31750" marB="31750" anchor="ctr"/>
                </a:tc>
                <a:extLst>
                  <a:ext uri="{0D108BD9-81ED-4DB2-BD59-A6C34878D82A}">
                    <a16:rowId xmlns:a16="http://schemas.microsoft.com/office/drawing/2014/main" val="2104696289"/>
                  </a:ext>
                </a:extLst>
              </a:tr>
              <a:tr h="661330">
                <a:tc>
                  <a:txBody>
                    <a:bodyPr/>
                    <a:lstStyle/>
                    <a:p>
                      <a:r>
                        <a:rPr lang="en-US" dirty="0" err="1">
                          <a:effectLst/>
                        </a:rPr>
                        <a:t>XMLAgg</a:t>
                      </a:r>
                      <a:endParaRPr lang="en-US" dirty="0">
                        <a:effectLst/>
                      </a:endParaRPr>
                    </a:p>
                  </a:txBody>
                  <a:tcPr marR="31750" marT="31750" marB="31750" anchor="ctr"/>
                </a:tc>
                <a:tc>
                  <a:txBody>
                    <a:bodyPr/>
                    <a:lstStyle/>
                    <a:p>
                      <a:r>
                        <a:rPr lang="en-US" dirty="0">
                          <a:effectLst/>
                        </a:rPr>
                        <a:t>Aggregate XML element</a:t>
                      </a:r>
                    </a:p>
                  </a:txBody>
                  <a:tcPr marL="31750" marR="31750" marT="31750" marB="31750" anchor="ctr"/>
                </a:tc>
                <a:tc>
                  <a:txBody>
                    <a:bodyPr/>
                    <a:lstStyle/>
                    <a:p>
                      <a:pPr marL="0" marR="0">
                        <a:buNone/>
                      </a:pPr>
                      <a:r>
                        <a:rPr lang="en-US" sz="1800" b="1" dirty="0">
                          <a:solidFill>
                            <a:srgbClr val="800000"/>
                          </a:solidFill>
                          <a:effectLst/>
                          <a:latin typeface="Consolas" panose="020B0609020204030204" pitchFamily="49" charset="0"/>
                        </a:rPr>
                        <a:t>SELECT</a:t>
                      </a:r>
                      <a:r>
                        <a:rPr lang="en-US" sz="1800" dirty="0">
                          <a:solidFill>
                            <a:srgbClr val="000000"/>
                          </a:solidFill>
                          <a:effectLst/>
                          <a:latin typeface="Consolas" panose="020B0609020204030204" pitchFamily="49" charset="0"/>
                        </a:rPr>
                        <a:t> department,</a:t>
                      </a:r>
                    </a:p>
                    <a:p>
                      <a:pPr marL="0" marR="0">
                        <a:buNone/>
                      </a:pPr>
                      <a:r>
                        <a:rPr lang="en-US" sz="1800" dirty="0">
                          <a:solidFill>
                            <a:srgbClr val="000000"/>
                          </a:solidFill>
                          <a:effectLst/>
                          <a:latin typeface="Consolas" panose="020B0609020204030204" pitchFamily="49" charset="0"/>
                        </a:rPr>
                        <a:t>XMLAGG(XMLELEMENT(NAME emp, name))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err="1">
                          <a:solidFill>
                            <a:srgbClr val="006464"/>
                          </a:solidFill>
                          <a:effectLst/>
                          <a:latin typeface="Consolas" panose="020B0609020204030204" pitchFamily="49" charset="0"/>
                        </a:rPr>
                        <a:t>emp_list</a:t>
                      </a:r>
                      <a:endParaRPr lang="en-US" sz="1800" dirty="0">
                        <a:solidFill>
                          <a:srgbClr val="000000"/>
                        </a:solidFill>
                        <a:effectLst/>
                        <a:latin typeface="Consolas" panose="020B0609020204030204" pitchFamily="49" charset="0"/>
                      </a:endParaRPr>
                    </a:p>
                    <a:p>
                      <a:pPr marL="0" marR="0"/>
                      <a:r>
                        <a:rPr lang="en-US" sz="1800" b="1" dirty="0">
                          <a:solidFill>
                            <a:srgbClr val="800000"/>
                          </a:solidFill>
                          <a:effectLst/>
                          <a:latin typeface="Consolas" panose="020B0609020204030204" pitchFamily="49" charset="0"/>
                        </a:rPr>
                        <a:t>FROM</a:t>
                      </a:r>
                      <a:r>
                        <a:rPr lang="en-US" sz="1800" dirty="0">
                          <a:solidFill>
                            <a:srgbClr val="000000"/>
                          </a:solidFill>
                          <a:effectLst/>
                          <a:latin typeface="Consolas" panose="020B0609020204030204" pitchFamily="49" charset="0"/>
                        </a:rPr>
                        <a:t> </a:t>
                      </a:r>
                      <a:r>
                        <a:rPr lang="en-US" sz="1800" u="sng" dirty="0">
                          <a:solidFill>
                            <a:srgbClr val="6C5151"/>
                          </a:solidFill>
                          <a:effectLst/>
                          <a:latin typeface="Consolas" panose="020B0609020204030204" pitchFamily="49" charset="0"/>
                        </a:rPr>
                        <a:t>employees</a:t>
                      </a:r>
                      <a:endParaRPr lang="en-US" sz="1800" dirty="0">
                        <a:solidFill>
                          <a:srgbClr val="000000"/>
                        </a:solidFill>
                        <a:effectLst/>
                        <a:latin typeface="Consolas" panose="020B0609020204030204" pitchFamily="49" charset="0"/>
                      </a:endParaRPr>
                    </a:p>
                  </a:txBody>
                  <a:tcPr marL="31750" marR="31750" marT="31750" marB="31750" anchor="ctr"/>
                </a:tc>
                <a:extLst>
                  <a:ext uri="{0D108BD9-81ED-4DB2-BD59-A6C34878D82A}">
                    <a16:rowId xmlns:a16="http://schemas.microsoft.com/office/drawing/2014/main" val="291682176"/>
                  </a:ext>
                </a:extLst>
              </a:tr>
            </a:tbl>
          </a:graphicData>
        </a:graphic>
      </p:graphicFrame>
    </p:spTree>
    <p:extLst>
      <p:ext uri="{BB962C8B-B14F-4D97-AF65-F5344CB8AC3E}">
        <p14:creationId xmlns:p14="http://schemas.microsoft.com/office/powerpoint/2010/main" val="4167539732"/>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A1333-6213-D741-B3EC-AE5F22D9DB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8C5E2A-BB95-F304-5EE6-66FA5449A351}"/>
              </a:ext>
            </a:extLst>
          </p:cNvPr>
          <p:cNvSpPr>
            <a:spLocks noGrp="1"/>
          </p:cNvSpPr>
          <p:nvPr>
            <p:ph type="title"/>
          </p:nvPr>
        </p:nvSpPr>
        <p:spPr/>
        <p:txBody>
          <a:bodyPr/>
          <a:lstStyle/>
          <a:p>
            <a:r>
              <a:rPr lang="en-US" sz="2800" dirty="0"/>
              <a:t>JSON_ARRAYAGG Example</a:t>
            </a:r>
            <a:endParaRPr lang="en-US" dirty="0"/>
          </a:p>
        </p:txBody>
      </p:sp>
      <p:sp>
        <p:nvSpPr>
          <p:cNvPr id="3" name="TextBox 2">
            <a:extLst>
              <a:ext uri="{FF2B5EF4-FFF2-40B4-BE49-F238E27FC236}">
                <a16:creationId xmlns:a16="http://schemas.microsoft.com/office/drawing/2014/main" id="{04ED9D2B-A7D9-FE96-B36A-32125AC566E2}"/>
              </a:ext>
            </a:extLst>
          </p:cNvPr>
          <p:cNvSpPr txBox="1">
            <a:spLocks noChangeArrowheads="1"/>
          </p:cNvSpPr>
          <p:nvPr/>
        </p:nvSpPr>
        <p:spPr bwMode="auto">
          <a:xfrm>
            <a:off x="76200" y="6430064"/>
            <a:ext cx="124585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Aggregate</a:t>
            </a:r>
          </a:p>
        </p:txBody>
      </p:sp>
      <p:sp>
        <p:nvSpPr>
          <p:cNvPr id="8" name="TextBox 7">
            <a:extLst>
              <a:ext uri="{FF2B5EF4-FFF2-40B4-BE49-F238E27FC236}">
                <a16:creationId xmlns:a16="http://schemas.microsoft.com/office/drawing/2014/main" id="{EE89F241-C9E5-F556-B182-A8B337E52291}"/>
              </a:ext>
            </a:extLst>
          </p:cNvPr>
          <p:cNvSpPr txBox="1"/>
          <p:nvPr/>
        </p:nvSpPr>
        <p:spPr>
          <a:xfrm>
            <a:off x="228600" y="943618"/>
            <a:ext cx="11430000" cy="830997"/>
          </a:xfrm>
          <a:prstGeom prst="rect">
            <a:avLst/>
          </a:prstGeom>
          <a:noFill/>
        </p:spPr>
        <p:txBody>
          <a:bodyPr wrap="square">
            <a:spAutoFit/>
          </a:bodyPr>
          <a:lstStyle/>
          <a:p>
            <a:r>
              <a:rPr lang="en-US" sz="2400" dirty="0"/>
              <a:t>JSON_ARRAYAGG(): supported by MySQL, Oracle, PostgreSQL, Db2, SQL Server, </a:t>
            </a:r>
            <a:r>
              <a:rPr lang="en-US" sz="2400" dirty="0" err="1"/>
              <a:t>SQLLite</a:t>
            </a:r>
            <a:r>
              <a:rPr lang="en-US" sz="2400" dirty="0"/>
              <a:t>, </a:t>
            </a:r>
            <a:r>
              <a:rPr lang="en-US" sz="2400" dirty="0" err="1"/>
              <a:t>etc</a:t>
            </a:r>
            <a:endParaRPr lang="en-US" sz="2400" dirty="0"/>
          </a:p>
        </p:txBody>
      </p:sp>
      <p:sp>
        <p:nvSpPr>
          <p:cNvPr id="12" name="TextBox 11">
            <a:extLst>
              <a:ext uri="{FF2B5EF4-FFF2-40B4-BE49-F238E27FC236}">
                <a16:creationId xmlns:a16="http://schemas.microsoft.com/office/drawing/2014/main" id="{DD36D497-21AD-F60A-0020-9B926443B6A3}"/>
              </a:ext>
            </a:extLst>
          </p:cNvPr>
          <p:cNvSpPr txBox="1"/>
          <p:nvPr/>
        </p:nvSpPr>
        <p:spPr>
          <a:xfrm>
            <a:off x="228600" y="1981200"/>
            <a:ext cx="11909852" cy="2246769"/>
          </a:xfrm>
          <a:prstGeom prst="rect">
            <a:avLst/>
          </a:prstGeom>
          <a:noFill/>
          <a:ln w="12700">
            <a:solidFill>
              <a:schemeClr val="bg2"/>
            </a:solidFill>
          </a:ln>
        </p:spPr>
        <p:txBody>
          <a:bodyPr wrap="square">
            <a:spAutoFit/>
          </a:bodyPr>
          <a:lstStyle/>
          <a:p>
            <a:pPr algn="l"/>
            <a:r>
              <a:rPr lang="en-US" sz="2000" b="1" dirty="0">
                <a:solidFill>
                  <a:srgbClr val="800000"/>
                </a:solidFill>
                <a:latin typeface="Consolas" panose="020B0609020204030204" pitchFamily="49" charset="0"/>
              </a:rPr>
              <a:t>SELECT</a:t>
            </a:r>
            <a:r>
              <a:rPr lang="en-US" sz="2000" b="1" dirty="0">
                <a:solidFill>
                  <a:srgbClr val="000000"/>
                </a:solidFill>
                <a:latin typeface="Consolas" panose="020B0609020204030204" pitchFamily="49" charset="0"/>
              </a:rPr>
              <a:t> </a:t>
            </a:r>
            <a:r>
              <a:rPr lang="en-US" sz="2000" b="1" dirty="0" err="1">
                <a:solidFill>
                  <a:srgbClr val="000000"/>
                </a:solidFill>
                <a:latin typeface="Consolas" panose="020B0609020204030204" pitchFamily="49" charset="0"/>
              </a:rPr>
              <a:t>workdept</a:t>
            </a:r>
            <a:r>
              <a:rPr lang="en-US" sz="2000" b="1" dirty="0">
                <a:solidFill>
                  <a:srgbClr val="000000"/>
                </a:solidFill>
                <a:latin typeface="Consolas" panose="020B0609020204030204" pitchFamily="49" charset="0"/>
              </a:rPr>
              <a:t>, </a:t>
            </a:r>
            <a:r>
              <a:rPr lang="en-US" sz="2000" dirty="0">
                <a:solidFill>
                  <a:srgbClr val="000000"/>
                </a:solidFill>
                <a:latin typeface="Consolas" panose="020B0609020204030204" pitchFamily="49" charset="0"/>
              </a:rPr>
              <a:t>JSON_ARRAYAGG(</a:t>
            </a:r>
          </a:p>
          <a:p>
            <a:pPr algn="l"/>
            <a:r>
              <a:rPr lang="en-US" sz="2000" dirty="0">
                <a:solidFill>
                  <a:srgbClr val="000000"/>
                </a:solidFill>
                <a:latin typeface="Consolas" panose="020B0609020204030204" pitchFamily="49" charset="0"/>
              </a:rPr>
              <a:t>      JSON_OBJECT(</a:t>
            </a:r>
          </a:p>
          <a:p>
            <a:pPr algn="l"/>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a:t>
            </a:r>
            <a:r>
              <a:rPr lang="en-US" sz="2000" dirty="0" err="1">
                <a:solidFill>
                  <a:srgbClr val="008000"/>
                </a:solidFill>
                <a:latin typeface="Consolas" panose="020B0609020204030204" pitchFamily="49" charset="0"/>
              </a:rPr>
              <a:t>empno'</a:t>
            </a:r>
            <a:r>
              <a:rPr lang="en-US" sz="2000" dirty="0" err="1">
                <a:solidFill>
                  <a:srgbClr val="000000"/>
                </a:solidFill>
                <a:latin typeface="Consolas" panose="020B0609020204030204" pitchFamily="49" charset="0"/>
              </a:rPr>
              <a:t>,empno</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a:t>
            </a:r>
            <a:r>
              <a:rPr lang="en-US" sz="2000" dirty="0" err="1">
                <a:solidFill>
                  <a:srgbClr val="008000"/>
                </a:solidFill>
                <a:latin typeface="Consolas" panose="020B0609020204030204" pitchFamily="49" charset="0"/>
              </a:rPr>
              <a:t>firstnme</a:t>
            </a:r>
            <a:r>
              <a:rPr lang="en-US" sz="2000" dirty="0">
                <a:solidFill>
                  <a:srgbClr val="008000"/>
                </a:solidFill>
                <a:latin typeface="Consolas" panose="020B0609020204030204" pitchFamily="49" charset="0"/>
              </a:rPr>
              <a:t>'</a:t>
            </a:r>
            <a:r>
              <a:rPr lang="en-US" sz="2000" dirty="0">
                <a:solidFill>
                  <a:srgbClr val="000000"/>
                </a:solidFill>
                <a:latin typeface="Consolas" panose="020B0609020204030204" pitchFamily="49" charset="0"/>
              </a:rPr>
              <a:t>,</a:t>
            </a:r>
            <a:r>
              <a:rPr lang="en-US" sz="2000" dirty="0" err="1">
                <a:solidFill>
                  <a:srgbClr val="000000"/>
                </a:solidFill>
                <a:latin typeface="Consolas" panose="020B0609020204030204" pitchFamily="49" charset="0"/>
              </a:rPr>
              <a:t>firstnme</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a:t>
            </a:r>
            <a:r>
              <a:rPr lang="en-US" sz="2000" dirty="0" err="1">
                <a:solidFill>
                  <a:srgbClr val="008000"/>
                </a:solidFill>
                <a:latin typeface="Consolas" panose="020B0609020204030204" pitchFamily="49" charset="0"/>
              </a:rPr>
              <a:t>lastname</a:t>
            </a:r>
            <a:r>
              <a:rPr lang="en-US" sz="2000" dirty="0">
                <a:solidFill>
                  <a:srgbClr val="008000"/>
                </a:solidFill>
                <a:latin typeface="Consolas" panose="020B0609020204030204" pitchFamily="49" charset="0"/>
              </a:rPr>
              <a:t>'</a:t>
            </a:r>
            <a:r>
              <a:rPr lang="en-US" sz="2000" dirty="0">
                <a:solidFill>
                  <a:srgbClr val="000000"/>
                </a:solidFill>
                <a:latin typeface="Consolas" panose="020B0609020204030204" pitchFamily="49" charset="0"/>
              </a:rPr>
              <a:t>,</a:t>
            </a:r>
            <a:r>
              <a:rPr lang="en-US" sz="2000" dirty="0" err="1">
                <a:solidFill>
                  <a:srgbClr val="000000"/>
                </a:solidFill>
                <a:latin typeface="Consolas" panose="020B0609020204030204" pitchFamily="49" charset="0"/>
              </a:rPr>
              <a:t>lastname</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a:t>
            </a:r>
            <a:r>
              <a:rPr lang="en-US" sz="2000" dirty="0" err="1">
                <a:solidFill>
                  <a:srgbClr val="008000"/>
                </a:solidFill>
                <a:latin typeface="Consolas" panose="020B0609020204030204" pitchFamily="49" charset="0"/>
              </a:rPr>
              <a:t>salary'</a:t>
            </a:r>
            <a:r>
              <a:rPr lang="en-US" sz="2000" dirty="0" err="1">
                <a:solidFill>
                  <a:srgbClr val="000000"/>
                </a:solidFill>
                <a:latin typeface="Consolas" panose="020B0609020204030204" pitchFamily="49" charset="0"/>
              </a:rPr>
              <a:t>,salary</a:t>
            </a:r>
            <a:endParaRPr lang="en-US" sz="2000" dirty="0">
              <a:solidFill>
                <a:srgbClr val="000000"/>
              </a:solidFill>
              <a:latin typeface="Consolas" panose="020B0609020204030204" pitchFamily="49" charset="0"/>
            </a:endParaRPr>
          </a:p>
          <a:p>
            <a:pPr algn="l"/>
            <a:r>
              <a:rPr lang="en-US" sz="2000" dirty="0">
                <a:solidFill>
                  <a:srgbClr val="000000"/>
                </a:solidFill>
                <a:latin typeface="Consolas" panose="020B0609020204030204" pitchFamily="49" charset="0"/>
              </a:rPr>
              <a:t>      )</a:t>
            </a:r>
          </a:p>
          <a:p>
            <a:pPr algn="l"/>
            <a:r>
              <a:rPr lang="en-US" sz="2000" dirty="0">
                <a:solidFill>
                  <a:srgbClr val="000000"/>
                </a:solidFill>
                <a:latin typeface="Consolas" panose="020B0609020204030204" pitchFamily="49" charset="0"/>
              </a:rPr>
              <a:t>    ) </a:t>
            </a:r>
            <a:r>
              <a:rPr lang="en-US" sz="2000" b="1" dirty="0">
                <a:solidFill>
                  <a:srgbClr val="800000"/>
                </a:solidFill>
                <a:latin typeface="Consolas" panose="020B0609020204030204" pitchFamily="49" charset="0"/>
              </a:rPr>
              <a:t>AS</a:t>
            </a:r>
            <a:r>
              <a:rPr lang="en-US" sz="2000" b="1" dirty="0">
                <a:solidFill>
                  <a:srgbClr val="000000"/>
                </a:solidFill>
                <a:latin typeface="Consolas" panose="020B0609020204030204" pitchFamily="49" charset="0"/>
              </a:rPr>
              <a:t> employees</a:t>
            </a:r>
          </a:p>
          <a:p>
            <a:pPr algn="l"/>
            <a:r>
              <a:rPr lang="en-US" sz="2000" b="1" dirty="0">
                <a:solidFill>
                  <a:srgbClr val="800000"/>
                </a:solidFill>
                <a:latin typeface="Consolas" panose="020B0609020204030204" pitchFamily="49" charset="0"/>
              </a:rPr>
              <a:t>FROM</a:t>
            </a:r>
            <a:r>
              <a:rPr lang="en-US" sz="2000" b="1" dirty="0">
                <a:solidFill>
                  <a:srgbClr val="000000"/>
                </a:solidFill>
                <a:latin typeface="Consolas" panose="020B0609020204030204" pitchFamily="49" charset="0"/>
              </a:rPr>
              <a:t> employee</a:t>
            </a:r>
          </a:p>
          <a:p>
            <a:pPr algn="l"/>
            <a:r>
              <a:rPr lang="en-US" sz="2000" b="1" dirty="0">
                <a:solidFill>
                  <a:srgbClr val="800000"/>
                </a:solidFill>
                <a:latin typeface="Consolas" panose="020B0609020204030204" pitchFamily="49" charset="0"/>
              </a:rPr>
              <a:t>GROUP</a:t>
            </a:r>
            <a:r>
              <a:rPr lang="en-US" sz="2000" b="1" dirty="0">
                <a:solidFill>
                  <a:srgbClr val="000000"/>
                </a:solidFill>
                <a:latin typeface="Consolas" panose="020B0609020204030204" pitchFamily="49" charset="0"/>
              </a:rPr>
              <a:t> </a:t>
            </a:r>
            <a:r>
              <a:rPr lang="en-US" sz="2000" b="1" dirty="0">
                <a:solidFill>
                  <a:srgbClr val="800000"/>
                </a:solidFill>
                <a:latin typeface="Consolas" panose="020B0609020204030204" pitchFamily="49" charset="0"/>
              </a:rPr>
              <a:t>BY</a:t>
            </a:r>
            <a:r>
              <a:rPr lang="en-US" sz="2000" b="1" dirty="0">
                <a:solidFill>
                  <a:srgbClr val="000000"/>
                </a:solidFill>
                <a:latin typeface="Consolas" panose="020B0609020204030204" pitchFamily="49" charset="0"/>
              </a:rPr>
              <a:t> </a:t>
            </a:r>
            <a:r>
              <a:rPr lang="en-US" sz="2000" b="1" dirty="0" err="1">
                <a:solidFill>
                  <a:srgbClr val="000000"/>
                </a:solidFill>
                <a:latin typeface="Consolas" panose="020B0609020204030204" pitchFamily="49" charset="0"/>
              </a:rPr>
              <a:t>workdept</a:t>
            </a:r>
            <a:r>
              <a:rPr lang="en-US" sz="2000" b="1" dirty="0">
                <a:solidFill>
                  <a:srgbClr val="FF0000"/>
                </a:solidFill>
                <a:latin typeface="Consolas" panose="020B0609020204030204" pitchFamily="49" charset="0"/>
              </a:rPr>
              <a:t>;</a:t>
            </a:r>
            <a:endParaRPr lang="en-US" sz="2000" dirty="0"/>
          </a:p>
        </p:txBody>
      </p:sp>
      <p:pic>
        <p:nvPicPr>
          <p:cNvPr id="14" name="Picture 13">
            <a:extLst>
              <a:ext uri="{FF2B5EF4-FFF2-40B4-BE49-F238E27FC236}">
                <a16:creationId xmlns:a16="http://schemas.microsoft.com/office/drawing/2014/main" id="{D98B3BF3-5396-5343-0032-D354C88536F9}"/>
              </a:ext>
            </a:extLst>
          </p:cNvPr>
          <p:cNvPicPr>
            <a:picLocks noChangeAspect="1"/>
          </p:cNvPicPr>
          <p:nvPr/>
        </p:nvPicPr>
        <p:blipFill>
          <a:blip r:embed="rId3"/>
          <a:stretch>
            <a:fillRect/>
          </a:stretch>
        </p:blipFill>
        <p:spPr>
          <a:xfrm>
            <a:off x="1681515" y="4648200"/>
            <a:ext cx="8750024" cy="1130899"/>
          </a:xfrm>
          <a:prstGeom prst="rect">
            <a:avLst/>
          </a:prstGeom>
          <a:ln w="12700">
            <a:solidFill>
              <a:schemeClr val="bg2"/>
            </a:solidFill>
          </a:ln>
        </p:spPr>
      </p:pic>
    </p:spTree>
    <p:extLst>
      <p:ext uri="{BB962C8B-B14F-4D97-AF65-F5344CB8AC3E}">
        <p14:creationId xmlns:p14="http://schemas.microsoft.com/office/powerpoint/2010/main" val="3415375679"/>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6B1FF-55ED-2FE5-8F1A-2F240A8AF9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FF3AA6-ED2E-ABA7-9155-687EC07F1260}"/>
              </a:ext>
            </a:extLst>
          </p:cNvPr>
          <p:cNvSpPr>
            <a:spLocks noGrp="1"/>
          </p:cNvSpPr>
          <p:nvPr>
            <p:ph type="title"/>
          </p:nvPr>
        </p:nvSpPr>
        <p:spPr/>
        <p:txBody>
          <a:bodyPr/>
          <a:lstStyle/>
          <a:p>
            <a:r>
              <a:rPr lang="en-US" dirty="0"/>
              <a:t>Aggregations: Regression</a:t>
            </a:r>
          </a:p>
        </p:txBody>
      </p:sp>
      <p:sp>
        <p:nvSpPr>
          <p:cNvPr id="3" name="TextBox 2">
            <a:extLst>
              <a:ext uri="{FF2B5EF4-FFF2-40B4-BE49-F238E27FC236}">
                <a16:creationId xmlns:a16="http://schemas.microsoft.com/office/drawing/2014/main" id="{2EAD521D-FEE6-497B-C4B6-FE201C459D93}"/>
              </a:ext>
            </a:extLst>
          </p:cNvPr>
          <p:cNvSpPr txBox="1">
            <a:spLocks noChangeArrowheads="1"/>
          </p:cNvSpPr>
          <p:nvPr/>
        </p:nvSpPr>
        <p:spPr bwMode="auto">
          <a:xfrm>
            <a:off x="76200" y="6430064"/>
            <a:ext cx="124585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Aggregate</a:t>
            </a:r>
          </a:p>
        </p:txBody>
      </p:sp>
      <p:sp>
        <p:nvSpPr>
          <p:cNvPr id="7" name="TextBox 6">
            <a:extLst>
              <a:ext uri="{FF2B5EF4-FFF2-40B4-BE49-F238E27FC236}">
                <a16:creationId xmlns:a16="http://schemas.microsoft.com/office/drawing/2014/main" id="{A221E35E-1E34-D52B-A02C-DE8C45BB2806}"/>
              </a:ext>
            </a:extLst>
          </p:cNvPr>
          <p:cNvSpPr txBox="1"/>
          <p:nvPr/>
        </p:nvSpPr>
        <p:spPr>
          <a:xfrm>
            <a:off x="9677400" y="2926629"/>
            <a:ext cx="2438400" cy="1938992"/>
          </a:xfrm>
          <a:prstGeom prst="rect">
            <a:avLst/>
          </a:prstGeom>
          <a:noFill/>
        </p:spPr>
        <p:txBody>
          <a:bodyPr wrap="square" rtlCol="0">
            <a:spAutoFit/>
          </a:bodyPr>
          <a:lstStyle/>
          <a:p>
            <a:r>
              <a:rPr lang="en-US" sz="2000" b="1" dirty="0"/>
              <a:t>Y = </a:t>
            </a:r>
            <a:r>
              <a:rPr lang="en-US" sz="2000" b="1" dirty="0" err="1"/>
              <a:t>aX+b</a:t>
            </a:r>
            <a:r>
              <a:rPr lang="en-US" sz="2000" b="1" dirty="0"/>
              <a:t>   </a:t>
            </a:r>
          </a:p>
          <a:p>
            <a:r>
              <a:rPr lang="en-US" sz="2000" dirty="0"/>
              <a:t> (a: regression </a:t>
            </a:r>
          </a:p>
          <a:p>
            <a:r>
              <a:rPr lang="en-US" sz="2000" dirty="0"/>
              <a:t>    coefficient </a:t>
            </a:r>
          </a:p>
          <a:p>
            <a:r>
              <a:rPr lang="en-US" sz="2000" dirty="0"/>
              <a:t>     or slope;</a:t>
            </a:r>
          </a:p>
          <a:p>
            <a:r>
              <a:rPr lang="en-US" sz="2000" dirty="0"/>
              <a:t>   b: intercept</a:t>
            </a:r>
          </a:p>
          <a:p>
            <a:r>
              <a:rPr lang="en-US" sz="2000" dirty="0"/>
              <a:t> )</a:t>
            </a:r>
          </a:p>
        </p:txBody>
      </p:sp>
      <p:grpSp>
        <p:nvGrpSpPr>
          <p:cNvPr id="8" name="Group 7">
            <a:extLst>
              <a:ext uri="{FF2B5EF4-FFF2-40B4-BE49-F238E27FC236}">
                <a16:creationId xmlns:a16="http://schemas.microsoft.com/office/drawing/2014/main" id="{480AB0E1-92C2-E452-E6D6-E1B58EA08B0C}"/>
              </a:ext>
            </a:extLst>
          </p:cNvPr>
          <p:cNvGrpSpPr/>
          <p:nvPr/>
        </p:nvGrpSpPr>
        <p:grpSpPr>
          <a:xfrm>
            <a:off x="152400" y="840061"/>
            <a:ext cx="9372600" cy="5027339"/>
            <a:chOff x="457200" y="1525861"/>
            <a:chExt cx="8620125" cy="4265339"/>
          </a:xfrm>
        </p:grpSpPr>
        <p:pic>
          <p:nvPicPr>
            <p:cNvPr id="9" name="Picture 3">
              <a:extLst>
                <a:ext uri="{FF2B5EF4-FFF2-40B4-BE49-F238E27FC236}">
                  <a16:creationId xmlns:a16="http://schemas.microsoft.com/office/drawing/2014/main" id="{D3707C50-1E6D-443E-0BE6-4D1DAB295C12}"/>
                </a:ext>
              </a:extLst>
            </p:cNvPr>
            <p:cNvPicPr>
              <a:picLocks noChangeAspect="1" noChangeArrowheads="1"/>
            </p:cNvPicPr>
            <p:nvPr/>
          </p:nvPicPr>
          <p:blipFill>
            <a:blip r:embed="rId3" cstate="print"/>
            <a:srcRect/>
            <a:stretch>
              <a:fillRect/>
            </a:stretch>
          </p:blipFill>
          <p:spPr bwMode="auto">
            <a:xfrm>
              <a:off x="475121" y="2278165"/>
              <a:ext cx="8602204" cy="3513035"/>
            </a:xfrm>
            <a:prstGeom prst="rect">
              <a:avLst/>
            </a:prstGeom>
            <a:noFill/>
            <a:ln w="9525">
              <a:noFill/>
              <a:miter lim="800000"/>
              <a:headEnd/>
              <a:tailEnd/>
            </a:ln>
          </p:spPr>
        </p:pic>
        <p:pic>
          <p:nvPicPr>
            <p:cNvPr id="10" name="Picture 2">
              <a:extLst>
                <a:ext uri="{FF2B5EF4-FFF2-40B4-BE49-F238E27FC236}">
                  <a16:creationId xmlns:a16="http://schemas.microsoft.com/office/drawing/2014/main" id="{FAE0AAB5-BF47-9D26-68A2-29A4709BC096}"/>
                </a:ext>
              </a:extLst>
            </p:cNvPr>
            <p:cNvPicPr>
              <a:picLocks noChangeAspect="1" noChangeArrowheads="1"/>
            </p:cNvPicPr>
            <p:nvPr/>
          </p:nvPicPr>
          <p:blipFill>
            <a:blip r:embed="rId4" cstate="print"/>
            <a:srcRect/>
            <a:stretch>
              <a:fillRect/>
            </a:stretch>
          </p:blipFill>
          <p:spPr bwMode="auto">
            <a:xfrm>
              <a:off x="457200" y="1525861"/>
              <a:ext cx="8614151" cy="1141139"/>
            </a:xfrm>
            <a:prstGeom prst="rect">
              <a:avLst/>
            </a:prstGeom>
            <a:noFill/>
            <a:ln w="9525">
              <a:noFill/>
              <a:miter lim="800000"/>
              <a:headEnd/>
              <a:tailEnd/>
            </a:ln>
          </p:spPr>
        </p:pic>
      </p:grpSp>
    </p:spTree>
    <p:extLst>
      <p:ext uri="{BB962C8B-B14F-4D97-AF65-F5344CB8AC3E}">
        <p14:creationId xmlns:p14="http://schemas.microsoft.com/office/powerpoint/2010/main" val="2721714302"/>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A1778-8B64-43F2-4A36-0FA048B4070C}"/>
              </a:ext>
            </a:extLst>
          </p:cNvPr>
          <p:cNvSpPr>
            <a:spLocks noGrp="1"/>
          </p:cNvSpPr>
          <p:nvPr>
            <p:ph type="title"/>
          </p:nvPr>
        </p:nvSpPr>
        <p:spPr/>
        <p:txBody>
          <a:bodyPr/>
          <a:lstStyle/>
          <a:p>
            <a:r>
              <a:rPr lang="en-US" dirty="0"/>
              <a:t>Regression Example</a:t>
            </a:r>
          </a:p>
        </p:txBody>
      </p:sp>
      <p:sp>
        <p:nvSpPr>
          <p:cNvPr id="5" name="TextBox 4">
            <a:extLst>
              <a:ext uri="{FF2B5EF4-FFF2-40B4-BE49-F238E27FC236}">
                <a16:creationId xmlns:a16="http://schemas.microsoft.com/office/drawing/2014/main" id="{2E41B72D-49F1-9428-061F-C6CE39D414F1}"/>
              </a:ext>
            </a:extLst>
          </p:cNvPr>
          <p:cNvSpPr txBox="1"/>
          <p:nvPr/>
        </p:nvSpPr>
        <p:spPr>
          <a:xfrm>
            <a:off x="1322054" y="1981200"/>
            <a:ext cx="9041146" cy="1938992"/>
          </a:xfrm>
          <a:prstGeom prst="rect">
            <a:avLst/>
          </a:prstGeom>
          <a:noFill/>
          <a:ln w="12700">
            <a:solidFill>
              <a:srgbClr val="000000"/>
            </a:solidFill>
          </a:ln>
        </p:spPr>
        <p:txBody>
          <a:bodyPr wrap="square">
            <a:spAutoFit/>
          </a:bodyPr>
          <a:lstStyle/>
          <a:p>
            <a:pPr algn="l"/>
            <a:r>
              <a:rPr lang="en-US" sz="2000" b="1" dirty="0">
                <a:solidFill>
                  <a:srgbClr val="800000"/>
                </a:solidFill>
                <a:latin typeface="Consolas" panose="020B0609020204030204" pitchFamily="49" charset="0"/>
              </a:rPr>
              <a:t>SELECT</a:t>
            </a:r>
          </a:p>
          <a:p>
            <a:pPr algn="l"/>
            <a:r>
              <a:rPr lang="en-US" sz="2000" dirty="0">
                <a:solidFill>
                  <a:srgbClr val="000000"/>
                </a:solidFill>
                <a:latin typeface="Consolas" panose="020B0609020204030204" pitchFamily="49" charset="0"/>
              </a:rPr>
              <a:t>    </a:t>
            </a:r>
            <a:r>
              <a:rPr lang="en-US" sz="2000" b="1" dirty="0">
                <a:solidFill>
                  <a:srgbClr val="000080"/>
                </a:solidFill>
                <a:latin typeface="Consolas" panose="020B0609020204030204" pitchFamily="49" charset="0"/>
              </a:rPr>
              <a:t>REGR_SLOPE</a:t>
            </a:r>
            <a:r>
              <a:rPr lang="en-US" sz="2000" b="1" dirty="0">
                <a:solidFill>
                  <a:srgbClr val="000000"/>
                </a:solidFill>
                <a:latin typeface="Consolas" panose="020B0609020204030204" pitchFamily="49" charset="0"/>
              </a:rPr>
              <a:t>(revenue, </a:t>
            </a:r>
            <a:r>
              <a:rPr lang="en-US" sz="2000" b="1" dirty="0" err="1">
                <a:solidFill>
                  <a:srgbClr val="000000"/>
                </a:solidFill>
                <a:latin typeface="Consolas" panose="020B0609020204030204" pitchFamily="49" charset="0"/>
              </a:rPr>
              <a:t>ad_spend</a:t>
            </a:r>
            <a:r>
              <a:rPr lang="en-US" sz="2000" b="1" dirty="0">
                <a:solidFill>
                  <a:srgbClr val="000000"/>
                </a:solidFill>
                <a:latin typeface="Consolas" panose="020B0609020204030204" pitchFamily="49" charset="0"/>
              </a:rPr>
              <a:t>) </a:t>
            </a:r>
            <a:r>
              <a:rPr lang="en-US" sz="2000" b="1" dirty="0">
                <a:solidFill>
                  <a:srgbClr val="800000"/>
                </a:solidFill>
                <a:latin typeface="Consolas" panose="020B0609020204030204" pitchFamily="49" charset="0"/>
              </a:rPr>
              <a:t>AS</a:t>
            </a:r>
            <a:r>
              <a:rPr lang="en-US" sz="2000" b="1" dirty="0">
                <a:solidFill>
                  <a:srgbClr val="000000"/>
                </a:solidFill>
                <a:latin typeface="Consolas" panose="020B0609020204030204" pitchFamily="49" charset="0"/>
              </a:rPr>
              <a:t> slope,</a:t>
            </a:r>
          </a:p>
          <a:p>
            <a:pPr algn="l"/>
            <a:r>
              <a:rPr lang="en-US" sz="2000" dirty="0">
                <a:solidFill>
                  <a:srgbClr val="000000"/>
                </a:solidFill>
                <a:latin typeface="Consolas" panose="020B0609020204030204" pitchFamily="49" charset="0"/>
              </a:rPr>
              <a:t>    </a:t>
            </a:r>
            <a:r>
              <a:rPr lang="en-US" sz="2000" b="1" dirty="0">
                <a:solidFill>
                  <a:srgbClr val="000080"/>
                </a:solidFill>
                <a:latin typeface="Consolas" panose="020B0609020204030204" pitchFamily="49" charset="0"/>
              </a:rPr>
              <a:t>REGR_INTERCEPT</a:t>
            </a:r>
            <a:r>
              <a:rPr lang="en-US" sz="2000" b="1" dirty="0">
                <a:solidFill>
                  <a:srgbClr val="000000"/>
                </a:solidFill>
                <a:latin typeface="Consolas" panose="020B0609020204030204" pitchFamily="49" charset="0"/>
              </a:rPr>
              <a:t>(revenue, </a:t>
            </a:r>
            <a:r>
              <a:rPr lang="en-US" sz="2000" b="1" dirty="0" err="1">
                <a:solidFill>
                  <a:srgbClr val="000000"/>
                </a:solidFill>
                <a:latin typeface="Consolas" panose="020B0609020204030204" pitchFamily="49" charset="0"/>
              </a:rPr>
              <a:t>ad_spend</a:t>
            </a:r>
            <a:r>
              <a:rPr lang="en-US" sz="2000" b="1" dirty="0">
                <a:solidFill>
                  <a:srgbClr val="000000"/>
                </a:solidFill>
                <a:latin typeface="Consolas" panose="020B0609020204030204" pitchFamily="49" charset="0"/>
              </a:rPr>
              <a:t>) </a:t>
            </a:r>
            <a:r>
              <a:rPr lang="en-US" sz="2000" b="1" dirty="0">
                <a:solidFill>
                  <a:srgbClr val="800000"/>
                </a:solidFill>
                <a:latin typeface="Consolas" panose="020B0609020204030204" pitchFamily="49" charset="0"/>
              </a:rPr>
              <a:t>AS</a:t>
            </a:r>
            <a:r>
              <a:rPr lang="en-US" sz="2000" b="1" dirty="0">
                <a:solidFill>
                  <a:srgbClr val="000000"/>
                </a:solidFill>
                <a:latin typeface="Consolas" panose="020B0609020204030204" pitchFamily="49" charset="0"/>
              </a:rPr>
              <a:t> intercept,</a:t>
            </a:r>
          </a:p>
          <a:p>
            <a:pPr algn="l"/>
            <a:r>
              <a:rPr lang="en-US" sz="2000" dirty="0">
                <a:solidFill>
                  <a:srgbClr val="000000"/>
                </a:solidFill>
                <a:latin typeface="Consolas" panose="020B0609020204030204" pitchFamily="49" charset="0"/>
              </a:rPr>
              <a:t>    </a:t>
            </a:r>
            <a:r>
              <a:rPr lang="en-US" sz="2000" b="1" dirty="0">
                <a:solidFill>
                  <a:srgbClr val="000080"/>
                </a:solidFill>
                <a:latin typeface="Consolas" panose="020B0609020204030204" pitchFamily="49" charset="0"/>
              </a:rPr>
              <a:t>REGR_R2</a:t>
            </a:r>
            <a:r>
              <a:rPr lang="en-US" sz="2000" b="1" dirty="0">
                <a:solidFill>
                  <a:srgbClr val="000000"/>
                </a:solidFill>
                <a:latin typeface="Consolas" panose="020B0609020204030204" pitchFamily="49" charset="0"/>
              </a:rPr>
              <a:t>(revenue, </a:t>
            </a:r>
            <a:r>
              <a:rPr lang="en-US" sz="2000" b="1" dirty="0" err="1">
                <a:solidFill>
                  <a:srgbClr val="000000"/>
                </a:solidFill>
                <a:latin typeface="Consolas" panose="020B0609020204030204" pitchFamily="49" charset="0"/>
              </a:rPr>
              <a:t>ad_spend</a:t>
            </a:r>
            <a:r>
              <a:rPr lang="en-US" sz="2000" b="1" dirty="0">
                <a:solidFill>
                  <a:srgbClr val="000000"/>
                </a:solidFill>
                <a:latin typeface="Consolas" panose="020B0609020204030204" pitchFamily="49" charset="0"/>
              </a:rPr>
              <a:t>) </a:t>
            </a:r>
            <a:r>
              <a:rPr lang="en-US" sz="2000" b="1" dirty="0">
                <a:solidFill>
                  <a:srgbClr val="800000"/>
                </a:solidFill>
                <a:latin typeface="Consolas" panose="020B0609020204030204" pitchFamily="49" charset="0"/>
              </a:rPr>
              <a:t>AS</a:t>
            </a:r>
            <a:r>
              <a:rPr lang="en-US" sz="2000" b="1" dirty="0">
                <a:solidFill>
                  <a:srgbClr val="000000"/>
                </a:solidFill>
                <a:latin typeface="Consolas" panose="020B0609020204030204" pitchFamily="49" charset="0"/>
              </a:rPr>
              <a:t> </a:t>
            </a:r>
            <a:r>
              <a:rPr lang="en-US" sz="2000" b="1" dirty="0" err="1">
                <a:solidFill>
                  <a:srgbClr val="000000"/>
                </a:solidFill>
                <a:latin typeface="Consolas" panose="020B0609020204030204" pitchFamily="49" charset="0"/>
              </a:rPr>
              <a:t>r_squared</a:t>
            </a:r>
            <a:r>
              <a:rPr lang="en-US" sz="2000" b="1" dirty="0">
                <a:solidFill>
                  <a:srgbClr val="000000"/>
                </a:solidFill>
                <a:latin typeface="Consolas" panose="020B0609020204030204" pitchFamily="49" charset="0"/>
              </a:rPr>
              <a:t>,</a:t>
            </a:r>
          </a:p>
          <a:p>
            <a:pPr algn="l"/>
            <a:r>
              <a:rPr lang="en-US" sz="2000" dirty="0">
                <a:solidFill>
                  <a:srgbClr val="000000"/>
                </a:solidFill>
                <a:latin typeface="Consolas" panose="020B0609020204030204" pitchFamily="49" charset="0"/>
              </a:rPr>
              <a:t>    </a:t>
            </a:r>
            <a:r>
              <a:rPr lang="en-US" sz="2000" b="1" dirty="0">
                <a:solidFill>
                  <a:srgbClr val="000080"/>
                </a:solidFill>
                <a:latin typeface="Consolas" panose="020B0609020204030204" pitchFamily="49" charset="0"/>
              </a:rPr>
              <a:t>REGR_COUNT</a:t>
            </a:r>
            <a:r>
              <a:rPr lang="en-US" sz="2000" b="1" dirty="0">
                <a:solidFill>
                  <a:srgbClr val="000000"/>
                </a:solidFill>
                <a:latin typeface="Consolas" panose="020B0609020204030204" pitchFamily="49" charset="0"/>
              </a:rPr>
              <a:t>(revenue, </a:t>
            </a:r>
            <a:r>
              <a:rPr lang="en-US" sz="2000" b="1" dirty="0" err="1">
                <a:solidFill>
                  <a:srgbClr val="000000"/>
                </a:solidFill>
                <a:latin typeface="Consolas" panose="020B0609020204030204" pitchFamily="49" charset="0"/>
              </a:rPr>
              <a:t>ad_spend</a:t>
            </a:r>
            <a:r>
              <a:rPr lang="en-US" sz="2000" b="1" dirty="0">
                <a:solidFill>
                  <a:srgbClr val="000000"/>
                </a:solidFill>
                <a:latin typeface="Consolas" panose="020B0609020204030204" pitchFamily="49" charset="0"/>
              </a:rPr>
              <a:t>) </a:t>
            </a:r>
            <a:r>
              <a:rPr lang="en-US" sz="2000" b="1" dirty="0">
                <a:solidFill>
                  <a:srgbClr val="800000"/>
                </a:solidFill>
                <a:latin typeface="Consolas" panose="020B0609020204030204" pitchFamily="49" charset="0"/>
              </a:rPr>
              <a:t>AS</a:t>
            </a:r>
            <a:r>
              <a:rPr lang="en-US" sz="2000" b="1" dirty="0">
                <a:solidFill>
                  <a:srgbClr val="000000"/>
                </a:solidFill>
                <a:latin typeface="Consolas" panose="020B0609020204030204" pitchFamily="49" charset="0"/>
              </a:rPr>
              <a:t> </a:t>
            </a:r>
            <a:r>
              <a:rPr lang="en-US" sz="2000" b="1" dirty="0" err="1">
                <a:solidFill>
                  <a:srgbClr val="000000"/>
                </a:solidFill>
                <a:latin typeface="Consolas" panose="020B0609020204030204" pitchFamily="49" charset="0"/>
              </a:rPr>
              <a:t>data_points</a:t>
            </a:r>
            <a:endParaRPr lang="en-US" sz="2000" b="1" dirty="0">
              <a:solidFill>
                <a:srgbClr val="000000"/>
              </a:solidFill>
              <a:latin typeface="Consolas" panose="020B0609020204030204" pitchFamily="49" charset="0"/>
            </a:endParaRPr>
          </a:p>
          <a:p>
            <a:pPr algn="l"/>
            <a:r>
              <a:rPr lang="en-US" sz="2000" b="1" dirty="0">
                <a:solidFill>
                  <a:srgbClr val="800000"/>
                </a:solidFill>
                <a:latin typeface="Consolas" panose="020B0609020204030204" pitchFamily="49" charset="0"/>
              </a:rPr>
              <a:t>FROM</a:t>
            </a:r>
            <a:r>
              <a:rPr lang="en-US" sz="2000" b="1" dirty="0">
                <a:solidFill>
                  <a:srgbClr val="000000"/>
                </a:solidFill>
                <a:latin typeface="Consolas" panose="020B0609020204030204" pitchFamily="49" charset="0"/>
              </a:rPr>
              <a:t> </a:t>
            </a:r>
            <a:r>
              <a:rPr lang="en-US" sz="2000" b="1" dirty="0" err="1">
                <a:solidFill>
                  <a:srgbClr val="000000"/>
                </a:solidFill>
                <a:latin typeface="Consolas" panose="020B0609020204030204" pitchFamily="49" charset="0"/>
              </a:rPr>
              <a:t>marketing_campaigns</a:t>
            </a:r>
            <a:r>
              <a:rPr lang="en-US" sz="2000" b="1" dirty="0">
                <a:solidFill>
                  <a:srgbClr val="FF0000"/>
                </a:solidFill>
                <a:latin typeface="Consolas" panose="020B0609020204030204" pitchFamily="49" charset="0"/>
              </a:rPr>
              <a:t>;</a:t>
            </a:r>
            <a:endParaRPr lang="en-US" sz="2000" dirty="0">
              <a:solidFill>
                <a:srgbClr val="808080"/>
              </a:solidFill>
              <a:latin typeface="Consolas" panose="020B0609020204030204" pitchFamily="49" charset="0"/>
            </a:endParaRPr>
          </a:p>
        </p:txBody>
      </p:sp>
      <p:sp>
        <p:nvSpPr>
          <p:cNvPr id="12" name="TextBox 11">
            <a:extLst>
              <a:ext uri="{FF2B5EF4-FFF2-40B4-BE49-F238E27FC236}">
                <a16:creationId xmlns:a16="http://schemas.microsoft.com/office/drawing/2014/main" id="{F035E12F-27D0-5942-BCC0-3653DDC7C67C}"/>
              </a:ext>
            </a:extLst>
          </p:cNvPr>
          <p:cNvSpPr txBox="1"/>
          <p:nvPr/>
        </p:nvSpPr>
        <p:spPr>
          <a:xfrm>
            <a:off x="2286000" y="4334470"/>
            <a:ext cx="7162800" cy="923330"/>
          </a:xfrm>
          <a:prstGeom prst="rect">
            <a:avLst/>
          </a:prstGeom>
          <a:noFill/>
        </p:spPr>
        <p:txBody>
          <a:bodyPr wrap="square">
            <a:spAutoFit/>
          </a:bodyPr>
          <a:lstStyle/>
          <a:p>
            <a:pPr algn="l"/>
            <a:r>
              <a:rPr lang="en-US" dirty="0">
                <a:solidFill>
                  <a:srgbClr val="808080"/>
                </a:solidFill>
                <a:latin typeface="Consolas" panose="020B0609020204030204" pitchFamily="49" charset="0"/>
              </a:rPr>
              <a:t>| SLOPE  | INTERCEPT | R_SQUARED | DATA_POINTS |</a:t>
            </a:r>
          </a:p>
          <a:p>
            <a:pPr algn="l"/>
            <a:r>
              <a:rPr lang="en-US" dirty="0">
                <a:solidFill>
                  <a:srgbClr val="808080"/>
                </a:solidFill>
                <a:latin typeface="Consolas" panose="020B0609020204030204" pitchFamily="49" charset="0"/>
              </a:rPr>
              <a:t>|--------|-----------|-----------|-------------|</a:t>
            </a:r>
          </a:p>
          <a:p>
            <a:pPr algn="l"/>
            <a:r>
              <a:rPr lang="en-US" dirty="0">
                <a:solidFill>
                  <a:srgbClr val="808080"/>
                </a:solidFill>
                <a:latin typeface="Consolas" panose="020B0609020204030204" pitchFamily="49" charset="0"/>
              </a:rPr>
              <a:t>| 2.75   | 1500.00   | 0.89      | 120         |</a:t>
            </a:r>
            <a:endParaRPr lang="en-US" dirty="0"/>
          </a:p>
        </p:txBody>
      </p:sp>
      <p:sp>
        <p:nvSpPr>
          <p:cNvPr id="6" name="TextBox 5">
            <a:extLst>
              <a:ext uri="{FF2B5EF4-FFF2-40B4-BE49-F238E27FC236}">
                <a16:creationId xmlns:a16="http://schemas.microsoft.com/office/drawing/2014/main" id="{A7E6617E-CFCF-2C70-4164-D226CD6337C2}"/>
              </a:ext>
            </a:extLst>
          </p:cNvPr>
          <p:cNvSpPr txBox="1"/>
          <p:nvPr/>
        </p:nvSpPr>
        <p:spPr>
          <a:xfrm>
            <a:off x="1905000" y="887270"/>
            <a:ext cx="8077200" cy="830997"/>
          </a:xfrm>
          <a:prstGeom prst="rect">
            <a:avLst/>
          </a:prstGeom>
          <a:noFill/>
        </p:spPr>
        <p:txBody>
          <a:bodyPr wrap="square" rtlCol="0">
            <a:spAutoFit/>
          </a:bodyPr>
          <a:lstStyle/>
          <a:p>
            <a:pPr algn="ctr"/>
            <a:r>
              <a:rPr lang="en-US" sz="2400" b="1" dirty="0">
                <a:latin typeface="Verdana" panose="020B0604030504040204" pitchFamily="34" charset="0"/>
                <a:ea typeface="Verdana" panose="020B0604030504040204" pitchFamily="34" charset="0"/>
              </a:rPr>
              <a:t>Y = </a:t>
            </a:r>
            <a:r>
              <a:rPr lang="en-US" sz="2400" b="1" dirty="0" err="1">
                <a:latin typeface="Verdana" panose="020B0604030504040204" pitchFamily="34" charset="0"/>
                <a:ea typeface="Verdana" panose="020B0604030504040204" pitchFamily="34" charset="0"/>
              </a:rPr>
              <a:t>aX+b</a:t>
            </a:r>
            <a:r>
              <a:rPr lang="en-US" sz="2400" b="1" dirty="0">
                <a:latin typeface="Verdana" panose="020B0604030504040204" pitchFamily="34" charset="0"/>
                <a:ea typeface="Verdana" panose="020B0604030504040204" pitchFamily="34" charset="0"/>
              </a:rPr>
              <a:t>   </a:t>
            </a:r>
          </a:p>
          <a:p>
            <a:pPr algn="ctr"/>
            <a:r>
              <a:rPr lang="en-US" sz="2400" dirty="0">
                <a:latin typeface="Verdana" panose="020B0604030504040204" pitchFamily="34" charset="0"/>
                <a:ea typeface="Verdana" panose="020B0604030504040204" pitchFamily="34" charset="0"/>
              </a:rPr>
              <a:t> (a: regression coefficient or slope;   b: intercept)</a:t>
            </a:r>
          </a:p>
        </p:txBody>
      </p:sp>
      <p:sp>
        <p:nvSpPr>
          <p:cNvPr id="7" name="TextBox 6">
            <a:extLst>
              <a:ext uri="{FF2B5EF4-FFF2-40B4-BE49-F238E27FC236}">
                <a16:creationId xmlns:a16="http://schemas.microsoft.com/office/drawing/2014/main" id="{529EFFF2-72C7-4C78-FA84-EECA08E4AA52}"/>
              </a:ext>
            </a:extLst>
          </p:cNvPr>
          <p:cNvSpPr txBox="1">
            <a:spLocks noChangeArrowheads="1"/>
          </p:cNvSpPr>
          <p:nvPr/>
        </p:nvSpPr>
        <p:spPr bwMode="auto">
          <a:xfrm>
            <a:off x="76200" y="6430064"/>
            <a:ext cx="124585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Aggregate</a:t>
            </a:r>
          </a:p>
        </p:txBody>
      </p:sp>
    </p:spTree>
    <p:extLst>
      <p:ext uri="{BB962C8B-B14F-4D97-AF65-F5344CB8AC3E}">
        <p14:creationId xmlns:p14="http://schemas.microsoft.com/office/powerpoint/2010/main" val="267047681"/>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4D4B3-DEC6-6DD8-0D47-F7FB97FB118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7BFCB1-077A-AD9C-BAB9-D0C52FE91FC7}"/>
              </a:ext>
            </a:extLst>
          </p:cNvPr>
          <p:cNvSpPr>
            <a:spLocks noGrp="1"/>
          </p:cNvSpPr>
          <p:nvPr>
            <p:ph idx="1"/>
          </p:nvPr>
        </p:nvSpPr>
        <p:spPr/>
        <p:txBody>
          <a:bodyPr/>
          <a:lstStyle/>
          <a:p>
            <a:r>
              <a:rPr lang="en-US" dirty="0"/>
              <a:t>OVER Based Partitioning Queries</a:t>
            </a:r>
          </a:p>
        </p:txBody>
      </p:sp>
    </p:spTree>
    <p:extLst>
      <p:ext uri="{BB962C8B-B14F-4D97-AF65-F5344CB8AC3E}">
        <p14:creationId xmlns:p14="http://schemas.microsoft.com/office/powerpoint/2010/main" val="1918847081"/>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044AF-1FA2-57B8-7DAF-8E386060B0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23A31B-36F1-F026-2C00-7FA098840EFC}"/>
              </a:ext>
            </a:extLst>
          </p:cNvPr>
          <p:cNvSpPr>
            <a:spLocks noGrp="1"/>
          </p:cNvSpPr>
          <p:nvPr>
            <p:ph type="title"/>
          </p:nvPr>
        </p:nvSpPr>
        <p:spPr/>
        <p:txBody>
          <a:bodyPr/>
          <a:lstStyle/>
          <a:p>
            <a:r>
              <a:rPr lang="en-US" dirty="0"/>
              <a:t>Traditional GROUP BY </a:t>
            </a:r>
          </a:p>
        </p:txBody>
      </p:sp>
      <p:sp>
        <p:nvSpPr>
          <p:cNvPr id="3" name="Content Placeholder 2">
            <a:extLst>
              <a:ext uri="{FF2B5EF4-FFF2-40B4-BE49-F238E27FC236}">
                <a16:creationId xmlns:a16="http://schemas.microsoft.com/office/drawing/2014/main" id="{F86BA5D3-BA78-C389-87D5-76A9110009BE}"/>
              </a:ext>
            </a:extLst>
          </p:cNvPr>
          <p:cNvSpPr>
            <a:spLocks noGrp="1"/>
          </p:cNvSpPr>
          <p:nvPr>
            <p:ph idx="1"/>
          </p:nvPr>
        </p:nvSpPr>
        <p:spPr>
          <a:xfrm>
            <a:off x="198226" y="779462"/>
            <a:ext cx="11813228" cy="5316538"/>
          </a:xfrm>
        </p:spPr>
        <p:txBody>
          <a:bodyPr/>
          <a:lstStyle/>
          <a:p>
            <a:r>
              <a:rPr lang="en-US" sz="2200" dirty="0"/>
              <a:t>One result record per group, e.g., </a:t>
            </a:r>
            <a:r>
              <a:rPr lang="en-US" sz="2200" dirty="0" err="1"/>
              <a:t>workdept</a:t>
            </a:r>
            <a:endParaRPr lang="en-US" sz="2200" dirty="0"/>
          </a:p>
          <a:p>
            <a:endParaRPr lang="en-US" dirty="0"/>
          </a:p>
          <a:p>
            <a:endParaRPr lang="en-US" dirty="0"/>
          </a:p>
        </p:txBody>
      </p:sp>
      <p:graphicFrame>
        <p:nvGraphicFramePr>
          <p:cNvPr id="10" name="Table 9">
            <a:extLst>
              <a:ext uri="{FF2B5EF4-FFF2-40B4-BE49-F238E27FC236}">
                <a16:creationId xmlns:a16="http://schemas.microsoft.com/office/drawing/2014/main" id="{13754173-5FA4-5596-89C8-38E769E46ADC}"/>
              </a:ext>
            </a:extLst>
          </p:cNvPr>
          <p:cNvGraphicFramePr>
            <a:graphicFrameLocks noGrp="1"/>
          </p:cNvGraphicFramePr>
          <p:nvPr>
            <p:extLst>
              <p:ext uri="{D42A27DB-BD31-4B8C-83A1-F6EECF244321}">
                <p14:modId xmlns:p14="http://schemas.microsoft.com/office/powerpoint/2010/main" val="1196483840"/>
              </p:ext>
            </p:extLst>
          </p:nvPr>
        </p:nvGraphicFramePr>
        <p:xfrm>
          <a:off x="942899" y="1373752"/>
          <a:ext cx="5715000" cy="3503048"/>
        </p:xfrm>
        <a:graphic>
          <a:graphicData uri="http://schemas.openxmlformats.org/drawingml/2006/table">
            <a:tbl>
              <a:tblPr firstRow="1" firstCol="1" bandRow="1">
                <a:tableStyleId>{5940675A-B579-460E-94D1-54222C63F5DA}</a:tableStyleId>
              </a:tblPr>
              <a:tblGrid>
                <a:gridCol w="1066800">
                  <a:extLst>
                    <a:ext uri="{9D8B030D-6E8A-4147-A177-3AD203B41FA5}">
                      <a16:colId xmlns:a16="http://schemas.microsoft.com/office/drawing/2014/main" val="4126637413"/>
                    </a:ext>
                  </a:extLst>
                </a:gridCol>
                <a:gridCol w="1219200">
                  <a:extLst>
                    <a:ext uri="{9D8B030D-6E8A-4147-A177-3AD203B41FA5}">
                      <a16:colId xmlns:a16="http://schemas.microsoft.com/office/drawing/2014/main" val="1448146012"/>
                    </a:ext>
                  </a:extLst>
                </a:gridCol>
                <a:gridCol w="1479176">
                  <a:extLst>
                    <a:ext uri="{9D8B030D-6E8A-4147-A177-3AD203B41FA5}">
                      <a16:colId xmlns:a16="http://schemas.microsoft.com/office/drawing/2014/main" val="3078591172"/>
                    </a:ext>
                  </a:extLst>
                </a:gridCol>
                <a:gridCol w="1949824">
                  <a:extLst>
                    <a:ext uri="{9D8B030D-6E8A-4147-A177-3AD203B41FA5}">
                      <a16:colId xmlns:a16="http://schemas.microsoft.com/office/drawing/2014/main" val="154945008"/>
                    </a:ext>
                  </a:extLst>
                </a:gridCol>
              </a:tblGrid>
              <a:tr h="0">
                <a:tc>
                  <a:txBody>
                    <a:bodyPr/>
                    <a:lstStyle/>
                    <a:p>
                      <a:pPr marL="0" marR="0" algn="ctr">
                        <a:lnSpc>
                          <a:spcPct val="115000"/>
                        </a:lnSpc>
                        <a:spcAft>
                          <a:spcPts val="800"/>
                        </a:spcAft>
                        <a:buNone/>
                      </a:pPr>
                      <a:r>
                        <a:rPr lang="en-US" sz="1600" b="1" kern="100" dirty="0" err="1">
                          <a:solidFill>
                            <a:schemeClr val="tx1"/>
                          </a:solidFill>
                          <a:effectLst/>
                        </a:rPr>
                        <a:t>workdept</a:t>
                      </a:r>
                      <a:endParaRPr lang="en-US" sz="1600" b="1"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b="1" kern="100" dirty="0" err="1">
                          <a:solidFill>
                            <a:schemeClr val="tx1"/>
                          </a:solidFill>
                          <a:effectLst/>
                        </a:rPr>
                        <a:t>firstname</a:t>
                      </a:r>
                      <a:endParaRPr lang="en-US" sz="1600" b="1"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b="1" kern="100">
                          <a:solidFill>
                            <a:schemeClr val="tx1"/>
                          </a:solidFill>
                          <a:effectLst/>
                        </a:rPr>
                        <a:t>lastname</a:t>
                      </a:r>
                      <a:endParaRPr lang="en-US" sz="1600" b="1"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b="1" kern="100" dirty="0">
                          <a:solidFill>
                            <a:schemeClr val="tx1"/>
                          </a:solidFill>
                          <a:effectLst/>
                        </a:rPr>
                        <a:t>salary</a:t>
                      </a:r>
                      <a:endParaRPr lang="en-US" sz="1600" b="1"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593715451"/>
                  </a:ext>
                </a:extLst>
              </a:tr>
              <a:tr h="0">
                <a:tc>
                  <a:txBody>
                    <a:bodyPr/>
                    <a:lstStyle/>
                    <a:p>
                      <a:pPr marL="0" marR="0">
                        <a:lnSpc>
                          <a:spcPct val="115000"/>
                        </a:lnSpc>
                        <a:spcAft>
                          <a:spcPts val="800"/>
                        </a:spcAft>
                        <a:buNone/>
                      </a:pPr>
                      <a:r>
                        <a:rPr lang="en-US" sz="1400" kern="100" dirty="0">
                          <a:effectLst/>
                        </a:rPr>
                        <a:t>A00</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nSpc>
                          <a:spcPct val="115000"/>
                        </a:lnSpc>
                        <a:spcAft>
                          <a:spcPts val="800"/>
                        </a:spcAft>
                        <a:buNone/>
                      </a:pPr>
                      <a:r>
                        <a:rPr lang="en-US" sz="1400" kern="100">
                          <a:effectLst/>
                        </a:rPr>
                        <a:t>CHRISTINE</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nSpc>
                          <a:spcPct val="115000"/>
                        </a:lnSpc>
                        <a:spcAft>
                          <a:spcPts val="800"/>
                        </a:spcAft>
                        <a:buNone/>
                      </a:pPr>
                      <a:r>
                        <a:rPr lang="en-US" sz="1400" kern="100">
                          <a:effectLst/>
                        </a:rPr>
                        <a:t>HAAS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gn="r">
                        <a:lnSpc>
                          <a:spcPct val="115000"/>
                        </a:lnSpc>
                        <a:spcAft>
                          <a:spcPts val="800"/>
                        </a:spcAft>
                        <a:buNone/>
                      </a:pPr>
                      <a:r>
                        <a:rPr lang="en-US" sz="1400" kern="100">
                          <a:effectLst/>
                        </a:rPr>
                        <a:t>176827.21</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extLst>
                  <a:ext uri="{0D108BD9-81ED-4DB2-BD59-A6C34878D82A}">
                    <a16:rowId xmlns:a16="http://schemas.microsoft.com/office/drawing/2014/main" val="3887755489"/>
                  </a:ext>
                </a:extLst>
              </a:tr>
              <a:tr h="0">
                <a:tc>
                  <a:txBody>
                    <a:bodyPr/>
                    <a:lstStyle/>
                    <a:p>
                      <a:pPr marL="0" marR="0">
                        <a:lnSpc>
                          <a:spcPct val="115000"/>
                        </a:lnSpc>
                        <a:spcAft>
                          <a:spcPts val="800"/>
                        </a:spcAft>
                        <a:buNone/>
                      </a:pPr>
                      <a:r>
                        <a:rPr lang="en-US" sz="1400" kern="100">
                          <a:effectLst/>
                        </a:rPr>
                        <a:t>A00</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nSpc>
                          <a:spcPct val="115000"/>
                        </a:lnSpc>
                        <a:spcAft>
                          <a:spcPts val="800"/>
                        </a:spcAft>
                        <a:buNone/>
                      </a:pPr>
                      <a:r>
                        <a:rPr lang="en-US" sz="1400" kern="100" dirty="0">
                          <a:effectLst/>
                        </a:rPr>
                        <a:t>GREG</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nSpc>
                          <a:spcPct val="115000"/>
                        </a:lnSpc>
                        <a:spcAft>
                          <a:spcPts val="800"/>
                        </a:spcAft>
                        <a:buNone/>
                      </a:pPr>
                      <a:r>
                        <a:rPr lang="en-US" sz="1400" kern="100" dirty="0">
                          <a:effectLst/>
                        </a:rPr>
                        <a:t>ORLANDO</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gn="r">
                        <a:lnSpc>
                          <a:spcPct val="115000"/>
                        </a:lnSpc>
                        <a:spcAft>
                          <a:spcPts val="800"/>
                        </a:spcAft>
                        <a:buNone/>
                      </a:pPr>
                      <a:r>
                        <a:rPr lang="en-US" sz="1400" kern="100" dirty="0">
                          <a:effectLst/>
                        </a:rPr>
                        <a:t>39250.00</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extLst>
                  <a:ext uri="{0D108BD9-81ED-4DB2-BD59-A6C34878D82A}">
                    <a16:rowId xmlns:a16="http://schemas.microsoft.com/office/drawing/2014/main" val="2505357738"/>
                  </a:ext>
                </a:extLst>
              </a:tr>
              <a:tr h="0">
                <a:tc>
                  <a:txBody>
                    <a:bodyPr/>
                    <a:lstStyle/>
                    <a:p>
                      <a:pPr marL="0" marR="0">
                        <a:lnSpc>
                          <a:spcPct val="115000"/>
                        </a:lnSpc>
                        <a:spcAft>
                          <a:spcPts val="800"/>
                        </a:spcAft>
                        <a:buNone/>
                      </a:pPr>
                      <a:r>
                        <a:rPr lang="en-US" sz="1400" kern="100">
                          <a:effectLst/>
                        </a:rPr>
                        <a:t>A00</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nSpc>
                          <a:spcPct val="115000"/>
                        </a:lnSpc>
                        <a:spcAft>
                          <a:spcPts val="800"/>
                        </a:spcAft>
                        <a:buNone/>
                      </a:pPr>
                      <a:r>
                        <a:rPr lang="en-US" sz="1400" kern="100">
                          <a:effectLst/>
                        </a:rPr>
                        <a:t>DIAN</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nSpc>
                          <a:spcPct val="115000"/>
                        </a:lnSpc>
                        <a:spcAft>
                          <a:spcPts val="800"/>
                        </a:spcAft>
                        <a:buNone/>
                      </a:pPr>
                      <a:r>
                        <a:rPr lang="en-US" sz="1400" kern="100">
                          <a:effectLst/>
                        </a:rPr>
                        <a:t>HEMMINGER</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gn="r">
                        <a:lnSpc>
                          <a:spcPct val="115000"/>
                        </a:lnSpc>
                        <a:spcAft>
                          <a:spcPts val="800"/>
                        </a:spcAft>
                        <a:buNone/>
                      </a:pPr>
                      <a:r>
                        <a:rPr lang="en-US" sz="1400" kern="100">
                          <a:effectLst/>
                        </a:rPr>
                        <a:t>46500.00</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extLst>
                  <a:ext uri="{0D108BD9-81ED-4DB2-BD59-A6C34878D82A}">
                    <a16:rowId xmlns:a16="http://schemas.microsoft.com/office/drawing/2014/main" val="2881240007"/>
                  </a:ext>
                </a:extLst>
              </a:tr>
              <a:tr h="0">
                <a:tc>
                  <a:txBody>
                    <a:bodyPr/>
                    <a:lstStyle/>
                    <a:p>
                      <a:pPr marL="0" marR="0">
                        <a:lnSpc>
                          <a:spcPct val="115000"/>
                        </a:lnSpc>
                        <a:spcAft>
                          <a:spcPts val="800"/>
                        </a:spcAft>
                        <a:buNone/>
                      </a:pPr>
                      <a:r>
                        <a:rPr lang="en-US" sz="1400" kern="100" dirty="0">
                          <a:effectLst/>
                        </a:rPr>
                        <a:t>A00</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nSpc>
                          <a:spcPct val="115000"/>
                        </a:lnSpc>
                        <a:spcAft>
                          <a:spcPts val="800"/>
                        </a:spcAft>
                        <a:buNone/>
                      </a:pPr>
                      <a:r>
                        <a:rPr lang="en-US" sz="1400" kern="100">
                          <a:effectLst/>
                        </a:rPr>
                        <a:t>VINCENZO</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nSpc>
                          <a:spcPct val="115000"/>
                        </a:lnSpc>
                        <a:spcAft>
                          <a:spcPts val="800"/>
                        </a:spcAft>
                        <a:buNone/>
                      </a:pPr>
                      <a:r>
                        <a:rPr lang="en-US" sz="1400" kern="100">
                          <a:effectLst/>
                        </a:rPr>
                        <a:t>LUCCHESSI</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gn="r">
                        <a:lnSpc>
                          <a:spcPct val="115000"/>
                        </a:lnSpc>
                        <a:spcAft>
                          <a:spcPts val="800"/>
                        </a:spcAft>
                        <a:buNone/>
                      </a:pPr>
                      <a:r>
                        <a:rPr lang="en-US" sz="1400" kern="100">
                          <a:effectLst/>
                        </a:rPr>
                        <a:t>66500.00</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extLst>
                  <a:ext uri="{0D108BD9-81ED-4DB2-BD59-A6C34878D82A}">
                    <a16:rowId xmlns:a16="http://schemas.microsoft.com/office/drawing/2014/main" val="324285161"/>
                  </a:ext>
                </a:extLst>
              </a:tr>
              <a:tr h="0">
                <a:tc>
                  <a:txBody>
                    <a:bodyPr/>
                    <a:lstStyle/>
                    <a:p>
                      <a:pPr marL="0" marR="0">
                        <a:lnSpc>
                          <a:spcPct val="115000"/>
                        </a:lnSpc>
                        <a:spcAft>
                          <a:spcPts val="800"/>
                        </a:spcAft>
                        <a:buNone/>
                      </a:pPr>
                      <a:r>
                        <a:rPr lang="en-US" sz="1400" kern="100">
                          <a:effectLst/>
                        </a:rPr>
                        <a:t>A00</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nSpc>
                          <a:spcPct val="115000"/>
                        </a:lnSpc>
                        <a:spcAft>
                          <a:spcPts val="800"/>
                        </a:spcAft>
                        <a:buNone/>
                      </a:pPr>
                      <a:r>
                        <a:rPr lang="en-US" sz="1400" kern="100" dirty="0">
                          <a:effectLst/>
                        </a:rPr>
                        <a:t>SEAN</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nSpc>
                          <a:spcPct val="115000"/>
                        </a:lnSpc>
                        <a:spcAft>
                          <a:spcPts val="800"/>
                        </a:spcAft>
                        <a:buNone/>
                      </a:pPr>
                      <a:r>
                        <a:rPr lang="en-US" sz="1400" kern="100">
                          <a:effectLst/>
                        </a:rPr>
                        <a:t>O'CONNELL</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gn="r">
                        <a:lnSpc>
                          <a:spcPct val="115000"/>
                        </a:lnSpc>
                        <a:spcAft>
                          <a:spcPts val="800"/>
                        </a:spcAft>
                        <a:buNone/>
                      </a:pPr>
                      <a:r>
                        <a:rPr lang="en-US" sz="1400" kern="100" dirty="0">
                          <a:effectLst/>
                        </a:rPr>
                        <a:t>49250.00</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extLst>
                  <a:ext uri="{0D108BD9-81ED-4DB2-BD59-A6C34878D82A}">
                    <a16:rowId xmlns:a16="http://schemas.microsoft.com/office/drawing/2014/main" val="623314699"/>
                  </a:ext>
                </a:extLst>
              </a:tr>
              <a:tr h="0">
                <a:tc>
                  <a:txBody>
                    <a:bodyPr/>
                    <a:lstStyle/>
                    <a:p>
                      <a:pPr marL="0" marR="0">
                        <a:lnSpc>
                          <a:spcPct val="115000"/>
                        </a:lnSpc>
                        <a:spcAft>
                          <a:spcPts val="800"/>
                        </a:spcAft>
                        <a:buNone/>
                      </a:pPr>
                      <a:r>
                        <a:rPr lang="en-US" sz="1400" kern="100">
                          <a:effectLst/>
                        </a:rPr>
                        <a:t>B01</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1">
                        <a:lumMod val="20000"/>
                        <a:lumOff val="80000"/>
                      </a:schemeClr>
                    </a:solidFill>
                  </a:tcPr>
                </a:tc>
                <a:tc>
                  <a:txBody>
                    <a:bodyPr/>
                    <a:lstStyle/>
                    <a:p>
                      <a:pPr marL="0" marR="0">
                        <a:lnSpc>
                          <a:spcPct val="115000"/>
                        </a:lnSpc>
                        <a:spcAft>
                          <a:spcPts val="800"/>
                        </a:spcAft>
                        <a:buNone/>
                      </a:pPr>
                      <a:r>
                        <a:rPr lang="en-US" sz="1400" kern="100">
                          <a:effectLst/>
                        </a:rPr>
                        <a:t>MICHAEL</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1">
                        <a:lumMod val="20000"/>
                        <a:lumOff val="80000"/>
                      </a:schemeClr>
                    </a:solidFill>
                  </a:tcPr>
                </a:tc>
                <a:tc>
                  <a:txBody>
                    <a:bodyPr/>
                    <a:lstStyle/>
                    <a:p>
                      <a:pPr marL="0" marR="0">
                        <a:lnSpc>
                          <a:spcPct val="115000"/>
                        </a:lnSpc>
                        <a:spcAft>
                          <a:spcPts val="800"/>
                        </a:spcAft>
                        <a:buNone/>
                      </a:pPr>
                      <a:r>
                        <a:rPr lang="en-US" sz="1400" kern="100">
                          <a:effectLst/>
                        </a:rPr>
                        <a:t>THOMPSON</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1">
                        <a:lumMod val="20000"/>
                        <a:lumOff val="80000"/>
                      </a:schemeClr>
                    </a:solidFill>
                  </a:tcPr>
                </a:tc>
                <a:tc>
                  <a:txBody>
                    <a:bodyPr/>
                    <a:lstStyle/>
                    <a:p>
                      <a:pPr marL="0" marR="0" algn="r">
                        <a:lnSpc>
                          <a:spcPct val="115000"/>
                        </a:lnSpc>
                        <a:spcAft>
                          <a:spcPts val="800"/>
                        </a:spcAft>
                        <a:buNone/>
                      </a:pPr>
                      <a:r>
                        <a:rPr lang="en-US" sz="1400" kern="100" dirty="0">
                          <a:effectLst/>
                        </a:rPr>
                        <a:t>94250.00</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1">
                        <a:lumMod val="20000"/>
                        <a:lumOff val="80000"/>
                      </a:schemeClr>
                    </a:solidFill>
                  </a:tcPr>
                </a:tc>
                <a:extLst>
                  <a:ext uri="{0D108BD9-81ED-4DB2-BD59-A6C34878D82A}">
                    <a16:rowId xmlns:a16="http://schemas.microsoft.com/office/drawing/2014/main" val="1217954184"/>
                  </a:ext>
                </a:extLst>
              </a:tr>
              <a:tr h="0">
                <a:tc>
                  <a:txBody>
                    <a:bodyPr/>
                    <a:lstStyle/>
                    <a:p>
                      <a:pPr marL="0" marR="0">
                        <a:lnSpc>
                          <a:spcPct val="115000"/>
                        </a:lnSpc>
                        <a:spcAft>
                          <a:spcPts val="800"/>
                        </a:spcAft>
                        <a:buNone/>
                      </a:pPr>
                      <a:r>
                        <a:rPr lang="en-US" sz="1400" kern="100">
                          <a:effectLst/>
                        </a:rPr>
                        <a:t>C01</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tc>
                  <a:txBody>
                    <a:bodyPr/>
                    <a:lstStyle/>
                    <a:p>
                      <a:pPr marL="0" marR="0">
                        <a:lnSpc>
                          <a:spcPct val="115000"/>
                        </a:lnSpc>
                        <a:spcAft>
                          <a:spcPts val="800"/>
                        </a:spcAft>
                        <a:buNone/>
                      </a:pPr>
                      <a:r>
                        <a:rPr lang="en-US" sz="1400" kern="100">
                          <a:effectLst/>
                        </a:rPr>
                        <a:t>SALLY</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tc>
                  <a:txBody>
                    <a:bodyPr/>
                    <a:lstStyle/>
                    <a:p>
                      <a:pPr marL="0" marR="0">
                        <a:lnSpc>
                          <a:spcPct val="115000"/>
                        </a:lnSpc>
                        <a:spcAft>
                          <a:spcPts val="800"/>
                        </a:spcAft>
                        <a:buNone/>
                      </a:pPr>
                      <a:r>
                        <a:rPr lang="en-US" sz="1400" kern="100" dirty="0">
                          <a:effectLst/>
                        </a:rPr>
                        <a:t>KWAN</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tc>
                  <a:txBody>
                    <a:bodyPr/>
                    <a:lstStyle/>
                    <a:p>
                      <a:pPr marL="0" marR="0" algn="r">
                        <a:lnSpc>
                          <a:spcPct val="115000"/>
                        </a:lnSpc>
                        <a:spcAft>
                          <a:spcPts val="800"/>
                        </a:spcAft>
                        <a:buNone/>
                      </a:pPr>
                      <a:r>
                        <a:rPr lang="en-US" sz="1400" kern="100">
                          <a:effectLst/>
                        </a:rPr>
                        <a:t>98250.00</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extLst>
                  <a:ext uri="{0D108BD9-81ED-4DB2-BD59-A6C34878D82A}">
                    <a16:rowId xmlns:a16="http://schemas.microsoft.com/office/drawing/2014/main" val="460836296"/>
                  </a:ext>
                </a:extLst>
              </a:tr>
              <a:tr h="0">
                <a:tc>
                  <a:txBody>
                    <a:bodyPr/>
                    <a:lstStyle/>
                    <a:p>
                      <a:pPr marL="0" marR="0">
                        <a:lnSpc>
                          <a:spcPct val="115000"/>
                        </a:lnSpc>
                        <a:spcAft>
                          <a:spcPts val="800"/>
                        </a:spcAft>
                        <a:buNone/>
                      </a:pPr>
                      <a:r>
                        <a:rPr lang="en-US" sz="1400" kern="100">
                          <a:effectLst/>
                        </a:rPr>
                        <a:t>C01</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tc>
                  <a:txBody>
                    <a:bodyPr/>
                    <a:lstStyle/>
                    <a:p>
                      <a:pPr marL="0" marR="0">
                        <a:lnSpc>
                          <a:spcPct val="115000"/>
                        </a:lnSpc>
                        <a:spcAft>
                          <a:spcPts val="800"/>
                        </a:spcAft>
                        <a:buNone/>
                      </a:pPr>
                      <a:r>
                        <a:rPr lang="en-US" sz="1400" kern="100">
                          <a:effectLst/>
                        </a:rPr>
                        <a:t>DELORES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tc>
                  <a:txBody>
                    <a:bodyPr/>
                    <a:lstStyle/>
                    <a:p>
                      <a:pPr marL="0" marR="0">
                        <a:lnSpc>
                          <a:spcPct val="115000"/>
                        </a:lnSpc>
                        <a:spcAft>
                          <a:spcPts val="800"/>
                        </a:spcAft>
                        <a:buNone/>
                      </a:pPr>
                      <a:r>
                        <a:rPr lang="en-US" sz="1400" kern="100">
                          <a:effectLst/>
                        </a:rPr>
                        <a:t>QUINTANA</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tc>
                  <a:txBody>
                    <a:bodyPr/>
                    <a:lstStyle/>
                    <a:p>
                      <a:pPr marL="0" marR="0" algn="r">
                        <a:lnSpc>
                          <a:spcPct val="115000"/>
                        </a:lnSpc>
                        <a:spcAft>
                          <a:spcPts val="800"/>
                        </a:spcAft>
                        <a:buNone/>
                      </a:pPr>
                      <a:r>
                        <a:rPr lang="en-US" sz="1400" kern="100">
                          <a:effectLst/>
                        </a:rPr>
                        <a:t>73800.00</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extLst>
                  <a:ext uri="{0D108BD9-81ED-4DB2-BD59-A6C34878D82A}">
                    <a16:rowId xmlns:a16="http://schemas.microsoft.com/office/drawing/2014/main" val="3787845629"/>
                  </a:ext>
                </a:extLst>
              </a:tr>
              <a:tr h="0">
                <a:tc>
                  <a:txBody>
                    <a:bodyPr/>
                    <a:lstStyle/>
                    <a:p>
                      <a:pPr marL="0" marR="0">
                        <a:lnSpc>
                          <a:spcPct val="115000"/>
                        </a:lnSpc>
                        <a:spcAft>
                          <a:spcPts val="800"/>
                        </a:spcAft>
                        <a:buNone/>
                      </a:pPr>
                      <a:r>
                        <a:rPr lang="en-US" sz="1400" kern="100">
                          <a:effectLst/>
                        </a:rPr>
                        <a:t>C01</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tc>
                  <a:txBody>
                    <a:bodyPr/>
                    <a:lstStyle/>
                    <a:p>
                      <a:pPr marL="0" marR="0">
                        <a:lnSpc>
                          <a:spcPct val="115000"/>
                        </a:lnSpc>
                        <a:spcAft>
                          <a:spcPts val="800"/>
                        </a:spcAft>
                        <a:buNone/>
                      </a:pPr>
                      <a:r>
                        <a:rPr lang="en-US" sz="1400" kern="100">
                          <a:effectLst/>
                        </a:rPr>
                        <a:t>HEATHER</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tc>
                  <a:txBody>
                    <a:bodyPr/>
                    <a:lstStyle/>
                    <a:p>
                      <a:pPr marL="0" marR="0">
                        <a:lnSpc>
                          <a:spcPct val="115000"/>
                        </a:lnSpc>
                        <a:spcAft>
                          <a:spcPts val="800"/>
                        </a:spcAft>
                        <a:buNone/>
                      </a:pPr>
                      <a:r>
                        <a:rPr lang="en-US" sz="1400" kern="100">
                          <a:effectLst/>
                        </a:rPr>
                        <a:t>NICHOLLS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tc>
                  <a:txBody>
                    <a:bodyPr/>
                    <a:lstStyle/>
                    <a:p>
                      <a:pPr marL="0" marR="0" algn="r">
                        <a:lnSpc>
                          <a:spcPct val="115000"/>
                        </a:lnSpc>
                        <a:spcAft>
                          <a:spcPts val="800"/>
                        </a:spcAft>
                        <a:buNone/>
                      </a:pPr>
                      <a:r>
                        <a:rPr lang="en-US" sz="1400" kern="100">
                          <a:effectLst/>
                        </a:rPr>
                        <a:t>68420.00</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extLst>
                  <a:ext uri="{0D108BD9-81ED-4DB2-BD59-A6C34878D82A}">
                    <a16:rowId xmlns:a16="http://schemas.microsoft.com/office/drawing/2014/main" val="2921993308"/>
                  </a:ext>
                </a:extLst>
              </a:tr>
              <a:tr h="0">
                <a:tc>
                  <a:txBody>
                    <a:bodyPr/>
                    <a:lstStyle/>
                    <a:p>
                      <a:pPr marL="0" marR="0">
                        <a:lnSpc>
                          <a:spcPct val="115000"/>
                        </a:lnSpc>
                        <a:spcAft>
                          <a:spcPts val="800"/>
                        </a:spcAft>
                        <a:buNone/>
                      </a:pPr>
                      <a:r>
                        <a:rPr lang="en-US" sz="1400" kern="100">
                          <a:effectLst/>
                        </a:rPr>
                        <a:t>C01</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tc>
                  <a:txBody>
                    <a:bodyPr/>
                    <a:lstStyle/>
                    <a:p>
                      <a:pPr marL="0" marR="0">
                        <a:lnSpc>
                          <a:spcPct val="115000"/>
                        </a:lnSpc>
                        <a:spcAft>
                          <a:spcPts val="800"/>
                        </a:spcAft>
                        <a:buNone/>
                      </a:pPr>
                      <a:r>
                        <a:rPr lang="en-US" sz="1400" kern="100">
                          <a:effectLst/>
                        </a:rPr>
                        <a:t>KIM</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tc>
                  <a:txBody>
                    <a:bodyPr/>
                    <a:lstStyle/>
                    <a:p>
                      <a:pPr marL="0" marR="0">
                        <a:lnSpc>
                          <a:spcPct val="115000"/>
                        </a:lnSpc>
                        <a:spcAft>
                          <a:spcPts val="800"/>
                        </a:spcAft>
                        <a:buNone/>
                      </a:pPr>
                      <a:r>
                        <a:rPr lang="en-US" sz="1400" kern="100">
                          <a:effectLst/>
                        </a:rPr>
                        <a:t>NATZ</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tc>
                  <a:txBody>
                    <a:bodyPr/>
                    <a:lstStyle/>
                    <a:p>
                      <a:pPr marL="0" marR="0" algn="r">
                        <a:lnSpc>
                          <a:spcPct val="115000"/>
                        </a:lnSpc>
                        <a:spcAft>
                          <a:spcPts val="800"/>
                        </a:spcAft>
                        <a:buNone/>
                      </a:pPr>
                      <a:r>
                        <a:rPr lang="en-US" sz="1400" kern="100" dirty="0">
                          <a:effectLst/>
                        </a:rPr>
                        <a:t>68420.00</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extLst>
                  <a:ext uri="{0D108BD9-81ED-4DB2-BD59-A6C34878D82A}">
                    <a16:rowId xmlns:a16="http://schemas.microsoft.com/office/drawing/2014/main" val="1525998916"/>
                  </a:ext>
                </a:extLst>
              </a:tr>
              <a:tr h="0">
                <a:tc>
                  <a:txBody>
                    <a:bodyPr/>
                    <a:lstStyle/>
                    <a:p>
                      <a:pPr marL="0" marR="0">
                        <a:lnSpc>
                          <a:spcPct val="115000"/>
                        </a:lnSpc>
                        <a:spcAft>
                          <a:spcPts val="800"/>
                        </a:spcAft>
                        <a:buNone/>
                      </a:pPr>
                      <a:r>
                        <a:rPr lang="en-US" sz="1400" kern="100" dirty="0">
                          <a:effectLst/>
                        </a:rPr>
                        <a:t>D11</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tc>
                  <a:txBody>
                    <a:bodyPr/>
                    <a:lstStyle/>
                    <a:p>
                      <a:pPr marL="0" marR="0">
                        <a:lnSpc>
                          <a:spcPct val="115000"/>
                        </a:lnSpc>
                        <a:spcAft>
                          <a:spcPts val="800"/>
                        </a:spcAft>
                        <a:buNone/>
                      </a:pPr>
                      <a:r>
                        <a:rPr lang="en-US" sz="1400" kern="100">
                          <a:effectLst/>
                        </a:rPr>
                        <a:t>IRVING</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tc>
                  <a:txBody>
                    <a:bodyPr/>
                    <a:lstStyle/>
                    <a:p>
                      <a:pPr marL="0" marR="0">
                        <a:lnSpc>
                          <a:spcPct val="115000"/>
                        </a:lnSpc>
                        <a:spcAft>
                          <a:spcPts val="800"/>
                        </a:spcAft>
                        <a:buNone/>
                      </a:pPr>
                      <a:r>
                        <a:rPr lang="en-US" sz="1400" kern="100">
                          <a:effectLst/>
                        </a:rPr>
                        <a:t>STERN</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tc>
                  <a:txBody>
                    <a:bodyPr/>
                    <a:lstStyle/>
                    <a:p>
                      <a:pPr marL="0" marR="0" algn="r">
                        <a:lnSpc>
                          <a:spcPct val="115000"/>
                        </a:lnSpc>
                        <a:spcAft>
                          <a:spcPts val="800"/>
                        </a:spcAft>
                        <a:buNone/>
                      </a:pPr>
                      <a:r>
                        <a:rPr lang="en-US" sz="1400" kern="100">
                          <a:effectLst/>
                        </a:rPr>
                        <a:t>72250.00</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extLst>
                  <a:ext uri="{0D108BD9-81ED-4DB2-BD59-A6C34878D82A}">
                    <a16:rowId xmlns:a16="http://schemas.microsoft.com/office/drawing/2014/main" val="683622253"/>
                  </a:ext>
                </a:extLst>
              </a:tr>
              <a:tr h="0">
                <a:tc>
                  <a:txBody>
                    <a:bodyPr/>
                    <a:lstStyle/>
                    <a:p>
                      <a:pPr marL="0" marR="0">
                        <a:lnSpc>
                          <a:spcPct val="115000"/>
                        </a:lnSpc>
                        <a:spcAft>
                          <a:spcPts val="800"/>
                        </a:spcAft>
                        <a:buNone/>
                      </a:pPr>
                      <a:r>
                        <a:rPr lang="en-US" sz="1400" kern="100" dirty="0">
                          <a:effectLst/>
                        </a:rPr>
                        <a:t>D11</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tc>
                  <a:txBody>
                    <a:bodyPr/>
                    <a:lstStyle/>
                    <a:p>
                      <a:pPr marL="0" marR="0">
                        <a:lnSpc>
                          <a:spcPct val="115000"/>
                        </a:lnSpc>
                        <a:spcAft>
                          <a:spcPts val="800"/>
                        </a:spcAft>
                        <a:buNone/>
                      </a:pPr>
                      <a:r>
                        <a:rPr lang="en-US" sz="1400" kern="100" dirty="0">
                          <a:effectLst/>
                        </a:rPr>
                        <a:t>REBA</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tc>
                  <a:txBody>
                    <a:bodyPr/>
                    <a:lstStyle/>
                    <a:p>
                      <a:pPr marL="0" marR="0">
                        <a:lnSpc>
                          <a:spcPct val="115000"/>
                        </a:lnSpc>
                        <a:spcAft>
                          <a:spcPts val="800"/>
                        </a:spcAft>
                        <a:buNone/>
                      </a:pPr>
                      <a:r>
                        <a:rPr lang="en-US" sz="1400" kern="100" dirty="0">
                          <a:effectLst/>
                        </a:rPr>
                        <a:t>JOHN</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tc>
                  <a:txBody>
                    <a:bodyPr/>
                    <a:lstStyle/>
                    <a:p>
                      <a:pPr marL="0" marR="0" algn="r">
                        <a:lnSpc>
                          <a:spcPct val="115000"/>
                        </a:lnSpc>
                        <a:spcAft>
                          <a:spcPts val="800"/>
                        </a:spcAft>
                        <a:buNone/>
                      </a:pPr>
                      <a:r>
                        <a:rPr lang="en-US" sz="1400" kern="100" dirty="0">
                          <a:effectLst/>
                        </a:rPr>
                        <a:t>69840.00</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extLst>
                  <a:ext uri="{0D108BD9-81ED-4DB2-BD59-A6C34878D82A}">
                    <a16:rowId xmlns:a16="http://schemas.microsoft.com/office/drawing/2014/main" val="989986490"/>
                  </a:ext>
                </a:extLst>
              </a:tr>
              <a:tr h="0">
                <a:tc>
                  <a:txBody>
                    <a:bodyPr/>
                    <a:lstStyle/>
                    <a:p>
                      <a:pPr marL="0" marR="0">
                        <a:lnSpc>
                          <a:spcPct val="115000"/>
                        </a:lnSpc>
                        <a:spcAft>
                          <a:spcPts val="800"/>
                        </a:spcAft>
                        <a:buNone/>
                      </a:pPr>
                      <a:r>
                        <a:rPr lang="en-US" sz="1400" kern="100">
                          <a:effectLst/>
                        </a:rPr>
                        <a:t>D11</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tc>
                  <a:txBody>
                    <a:bodyPr/>
                    <a:lstStyle/>
                    <a:p>
                      <a:pPr marL="0" marR="0">
                        <a:lnSpc>
                          <a:spcPct val="115000"/>
                        </a:lnSpc>
                        <a:spcAft>
                          <a:spcPts val="800"/>
                        </a:spcAft>
                        <a:buNone/>
                      </a:pPr>
                      <a:r>
                        <a:rPr lang="en-US" sz="1400" kern="100" dirty="0">
                          <a:effectLst/>
                        </a:rPr>
                        <a:t>JENNIFER</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tc>
                  <a:txBody>
                    <a:bodyPr/>
                    <a:lstStyle/>
                    <a:p>
                      <a:pPr marL="0" marR="0">
                        <a:lnSpc>
                          <a:spcPct val="115000"/>
                        </a:lnSpc>
                        <a:spcAft>
                          <a:spcPts val="800"/>
                        </a:spcAft>
                        <a:buNone/>
                      </a:pPr>
                      <a:r>
                        <a:rPr lang="en-US" sz="1400" kern="100">
                          <a:effectLst/>
                        </a:rPr>
                        <a:t>LUTZ</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tc>
                  <a:txBody>
                    <a:bodyPr/>
                    <a:lstStyle/>
                    <a:p>
                      <a:pPr marL="0" marR="0" algn="r">
                        <a:lnSpc>
                          <a:spcPct val="115000"/>
                        </a:lnSpc>
                        <a:spcAft>
                          <a:spcPts val="800"/>
                        </a:spcAft>
                        <a:buNone/>
                      </a:pPr>
                      <a:r>
                        <a:rPr lang="en-US" sz="1400" kern="100">
                          <a:effectLst/>
                        </a:rPr>
                        <a:t>49840.00</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extLst>
                  <a:ext uri="{0D108BD9-81ED-4DB2-BD59-A6C34878D82A}">
                    <a16:rowId xmlns:a16="http://schemas.microsoft.com/office/drawing/2014/main" val="1842844040"/>
                  </a:ext>
                </a:extLst>
              </a:tr>
              <a:tr h="0">
                <a:tc>
                  <a:txBody>
                    <a:bodyPr/>
                    <a:lstStyle/>
                    <a:p>
                      <a:pPr marL="0" marR="0">
                        <a:lnSpc>
                          <a:spcPct val="115000"/>
                        </a:lnSpc>
                        <a:spcAft>
                          <a:spcPts val="800"/>
                        </a:spcAft>
                        <a:buNone/>
                      </a:pPr>
                      <a:r>
                        <a:rPr lang="en-US" sz="1400" kern="100">
                          <a:effectLst/>
                        </a:rPr>
                        <a:t>D11</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tc>
                  <a:txBody>
                    <a:bodyPr/>
                    <a:lstStyle/>
                    <a:p>
                      <a:pPr marL="0" marR="0">
                        <a:lnSpc>
                          <a:spcPct val="115000"/>
                        </a:lnSpc>
                        <a:spcAft>
                          <a:spcPts val="800"/>
                        </a:spcAft>
                        <a:buNone/>
                      </a:pPr>
                      <a:r>
                        <a:rPr lang="en-US" sz="1400" kern="100" dirty="0">
                          <a:effectLst/>
                        </a:rPr>
                        <a:t>BRUCE</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tc>
                  <a:txBody>
                    <a:bodyPr/>
                    <a:lstStyle/>
                    <a:p>
                      <a:pPr marL="0" marR="0">
                        <a:lnSpc>
                          <a:spcPct val="115000"/>
                        </a:lnSpc>
                        <a:spcAft>
                          <a:spcPts val="800"/>
                        </a:spcAft>
                        <a:buNone/>
                      </a:pPr>
                      <a:r>
                        <a:rPr lang="en-US" sz="1400" kern="100" dirty="0">
                          <a:effectLst/>
                        </a:rPr>
                        <a:t>ADAMSON</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tc>
                  <a:txBody>
                    <a:bodyPr/>
                    <a:lstStyle/>
                    <a:p>
                      <a:pPr marL="0" marR="0" algn="r">
                        <a:lnSpc>
                          <a:spcPct val="115000"/>
                        </a:lnSpc>
                        <a:spcAft>
                          <a:spcPts val="800"/>
                        </a:spcAft>
                        <a:buNone/>
                      </a:pPr>
                      <a:r>
                        <a:rPr lang="en-US" sz="1400" kern="100" dirty="0">
                          <a:effectLst/>
                        </a:rPr>
                        <a:t>55280.00</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extLst>
                  <a:ext uri="{0D108BD9-81ED-4DB2-BD59-A6C34878D82A}">
                    <a16:rowId xmlns:a16="http://schemas.microsoft.com/office/drawing/2014/main" val="383977124"/>
                  </a:ext>
                </a:extLst>
              </a:tr>
            </a:tbl>
          </a:graphicData>
        </a:graphic>
      </p:graphicFrame>
      <p:sp>
        <p:nvSpPr>
          <p:cNvPr id="16" name="TextBox 15">
            <a:extLst>
              <a:ext uri="{FF2B5EF4-FFF2-40B4-BE49-F238E27FC236}">
                <a16:creationId xmlns:a16="http://schemas.microsoft.com/office/drawing/2014/main" id="{6F0CDCA4-1943-EAF4-97D7-3C399961C6D5}"/>
              </a:ext>
            </a:extLst>
          </p:cNvPr>
          <p:cNvSpPr txBox="1"/>
          <p:nvPr/>
        </p:nvSpPr>
        <p:spPr>
          <a:xfrm>
            <a:off x="1752600" y="5182105"/>
            <a:ext cx="8382000" cy="1200329"/>
          </a:xfrm>
          <a:prstGeom prst="rect">
            <a:avLst/>
          </a:prstGeom>
          <a:noFill/>
          <a:ln w="12700">
            <a:solidFill>
              <a:srgbClr val="000000"/>
            </a:solidFill>
          </a:ln>
        </p:spPr>
        <p:txBody>
          <a:bodyPr wrap="square">
            <a:spAutoFit/>
          </a:bodyPr>
          <a:lstStyle/>
          <a:p>
            <a:pPr algn="l"/>
            <a:r>
              <a:rPr lang="en-US" sz="2400" b="1" dirty="0">
                <a:solidFill>
                  <a:srgbClr val="800000"/>
                </a:solidFill>
                <a:latin typeface="Consolas" panose="020B0609020204030204" pitchFamily="49" charset="0"/>
              </a:rPr>
              <a:t>SELECT</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workdept</a:t>
            </a:r>
            <a:r>
              <a:rPr lang="en-US" sz="2400" b="1" dirty="0">
                <a:solidFill>
                  <a:srgbClr val="000000"/>
                </a:solidFill>
                <a:latin typeface="Consolas" panose="020B0609020204030204" pitchFamily="49" charset="0"/>
              </a:rPr>
              <a:t>,  </a:t>
            </a:r>
            <a:r>
              <a:rPr lang="en-US" sz="2400" b="1" dirty="0">
                <a:solidFill>
                  <a:srgbClr val="000080"/>
                </a:solidFill>
                <a:latin typeface="Consolas" panose="020B0609020204030204" pitchFamily="49" charset="0"/>
              </a:rPr>
              <a:t>AVG</a:t>
            </a:r>
            <a:r>
              <a:rPr lang="en-US" sz="2400" b="1" dirty="0">
                <a:solidFill>
                  <a:srgbClr val="000000"/>
                </a:solidFill>
                <a:latin typeface="Consolas" panose="020B0609020204030204" pitchFamily="49" charset="0"/>
              </a:rPr>
              <a:t>(salary) </a:t>
            </a:r>
            <a:r>
              <a:rPr lang="en-US" sz="2400" b="1" dirty="0">
                <a:solidFill>
                  <a:srgbClr val="800000"/>
                </a:solidFill>
                <a:latin typeface="Consolas" panose="020B0609020204030204" pitchFamily="49" charset="0"/>
              </a:rPr>
              <a:t>AS</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AvgSalary</a:t>
            </a:r>
            <a:endParaRPr lang="en-US" sz="2400" b="1" dirty="0">
              <a:solidFill>
                <a:srgbClr val="000000"/>
              </a:solidFill>
              <a:latin typeface="Consolas" panose="020B0609020204030204" pitchFamily="49" charset="0"/>
            </a:endParaRPr>
          </a:p>
          <a:p>
            <a:pPr algn="l"/>
            <a:r>
              <a:rPr lang="en-US" sz="2400" b="1" dirty="0">
                <a:solidFill>
                  <a:srgbClr val="800000"/>
                </a:solidFill>
                <a:latin typeface="Consolas" panose="020B0609020204030204" pitchFamily="49" charset="0"/>
              </a:rPr>
              <a:t>FROM</a:t>
            </a:r>
            <a:r>
              <a:rPr lang="en-US" sz="2400" b="1" dirty="0">
                <a:solidFill>
                  <a:srgbClr val="000000"/>
                </a:solidFill>
                <a:latin typeface="Consolas" panose="020B0609020204030204" pitchFamily="49" charset="0"/>
              </a:rPr>
              <a:t> employee</a:t>
            </a:r>
          </a:p>
          <a:p>
            <a:pPr algn="l"/>
            <a:r>
              <a:rPr lang="en-US" sz="2400" b="1" dirty="0">
                <a:solidFill>
                  <a:srgbClr val="800000"/>
                </a:solidFill>
                <a:latin typeface="Consolas" panose="020B0609020204030204" pitchFamily="49" charset="0"/>
              </a:rPr>
              <a:t>GROUP</a:t>
            </a:r>
            <a:r>
              <a:rPr lang="en-US" sz="2400" b="1" dirty="0">
                <a:solidFill>
                  <a:srgbClr val="000000"/>
                </a:solidFill>
                <a:latin typeface="Consolas" panose="020B0609020204030204" pitchFamily="49" charset="0"/>
              </a:rPr>
              <a:t> </a:t>
            </a:r>
            <a:r>
              <a:rPr lang="en-US" sz="2400" b="1" dirty="0">
                <a:solidFill>
                  <a:srgbClr val="800000"/>
                </a:solidFill>
                <a:latin typeface="Consolas" panose="020B0609020204030204" pitchFamily="49" charset="0"/>
              </a:rPr>
              <a:t>BY</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workdept</a:t>
            </a:r>
            <a:r>
              <a:rPr lang="en-US" sz="2400" b="1" dirty="0">
                <a:solidFill>
                  <a:srgbClr val="FF0000"/>
                </a:solidFill>
                <a:latin typeface="Consolas" panose="020B0609020204030204" pitchFamily="49" charset="0"/>
              </a:rPr>
              <a:t>;</a:t>
            </a:r>
            <a:endParaRPr lang="en-US" sz="2400" dirty="0"/>
          </a:p>
        </p:txBody>
      </p:sp>
      <p:sp>
        <p:nvSpPr>
          <p:cNvPr id="18" name="Right Brace 17">
            <a:extLst>
              <a:ext uri="{FF2B5EF4-FFF2-40B4-BE49-F238E27FC236}">
                <a16:creationId xmlns:a16="http://schemas.microsoft.com/office/drawing/2014/main" id="{F93B2593-39DC-8B08-2F77-EFD07C6F61DE}"/>
              </a:ext>
            </a:extLst>
          </p:cNvPr>
          <p:cNvSpPr/>
          <p:nvPr/>
        </p:nvSpPr>
        <p:spPr bwMode="auto">
          <a:xfrm>
            <a:off x="6657899" y="1628953"/>
            <a:ext cx="258974" cy="1143000"/>
          </a:xfrm>
          <a:prstGeom prst="rightBrace">
            <a:avLst/>
          </a:prstGeom>
          <a:noFill/>
          <a:ln w="12700" cap="flat" cmpd="sng" algn="ctr">
            <a:solidFill>
              <a:srgbClr val="FF99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sp>
        <p:nvSpPr>
          <p:cNvPr id="19" name="TextBox 18">
            <a:extLst>
              <a:ext uri="{FF2B5EF4-FFF2-40B4-BE49-F238E27FC236}">
                <a16:creationId xmlns:a16="http://schemas.microsoft.com/office/drawing/2014/main" id="{8973B2E7-745F-307D-A790-20DDDD103F04}"/>
              </a:ext>
            </a:extLst>
          </p:cNvPr>
          <p:cNvSpPr txBox="1"/>
          <p:nvPr/>
        </p:nvSpPr>
        <p:spPr>
          <a:xfrm>
            <a:off x="6754524" y="1752600"/>
            <a:ext cx="838691" cy="923330"/>
          </a:xfrm>
          <a:prstGeom prst="rect">
            <a:avLst/>
          </a:prstGeom>
          <a:noFill/>
        </p:spPr>
        <p:txBody>
          <a:bodyPr wrap="none" rtlCol="0">
            <a:spAutoFit/>
          </a:bodyPr>
          <a:lstStyle/>
          <a:p>
            <a:r>
              <a:rPr lang="en-US" dirty="0"/>
              <a:t>Avg</a:t>
            </a:r>
          </a:p>
          <a:p>
            <a:r>
              <a:rPr lang="en-US" dirty="0"/>
              <a:t>Dept</a:t>
            </a:r>
          </a:p>
          <a:p>
            <a:r>
              <a:rPr lang="en-US" dirty="0"/>
              <a:t>Salary</a:t>
            </a:r>
          </a:p>
        </p:txBody>
      </p:sp>
      <p:pic>
        <p:nvPicPr>
          <p:cNvPr id="5" name="Picture 4">
            <a:extLst>
              <a:ext uri="{FF2B5EF4-FFF2-40B4-BE49-F238E27FC236}">
                <a16:creationId xmlns:a16="http://schemas.microsoft.com/office/drawing/2014/main" id="{F4A9722D-D8AD-F9B5-8E35-F8A16D554753}"/>
              </a:ext>
            </a:extLst>
          </p:cNvPr>
          <p:cNvPicPr>
            <a:picLocks noChangeAspect="1"/>
          </p:cNvPicPr>
          <p:nvPr/>
        </p:nvPicPr>
        <p:blipFill>
          <a:blip r:embed="rId3"/>
          <a:stretch>
            <a:fillRect/>
          </a:stretch>
        </p:blipFill>
        <p:spPr>
          <a:xfrm>
            <a:off x="8181899" y="1497399"/>
            <a:ext cx="3019501" cy="3092790"/>
          </a:xfrm>
          <a:prstGeom prst="rect">
            <a:avLst/>
          </a:prstGeom>
          <a:noFill/>
          <a:ln w="12700">
            <a:solidFill>
              <a:srgbClr val="000000"/>
            </a:solidFill>
          </a:ln>
        </p:spPr>
      </p:pic>
      <p:sp>
        <p:nvSpPr>
          <p:cNvPr id="6" name="TextBox 5">
            <a:extLst>
              <a:ext uri="{FF2B5EF4-FFF2-40B4-BE49-F238E27FC236}">
                <a16:creationId xmlns:a16="http://schemas.microsoft.com/office/drawing/2014/main" id="{BF453D79-BF2B-C4E1-FBF6-9EC6644D93FC}"/>
              </a:ext>
            </a:extLst>
          </p:cNvPr>
          <p:cNvSpPr txBox="1"/>
          <p:nvPr/>
        </p:nvSpPr>
        <p:spPr>
          <a:xfrm rot="10800000">
            <a:off x="1524000" y="1643945"/>
            <a:ext cx="461665" cy="1143000"/>
          </a:xfrm>
          <a:prstGeom prst="rect">
            <a:avLst/>
          </a:prstGeom>
          <a:solidFill>
            <a:srgbClr val="92D050">
              <a:alpha val="91000"/>
            </a:srgbClr>
          </a:solidFill>
        </p:spPr>
        <p:txBody>
          <a:bodyPr vert="eaVert" wrap="square" rtlCol="0">
            <a:spAutoFit/>
          </a:bodyPr>
          <a:lstStyle/>
          <a:p>
            <a:r>
              <a:rPr lang="en-US" dirty="0"/>
              <a:t> partition</a:t>
            </a:r>
          </a:p>
        </p:txBody>
      </p:sp>
      <p:sp>
        <p:nvSpPr>
          <p:cNvPr id="20" name="Freeform: Shape 19">
            <a:extLst>
              <a:ext uri="{FF2B5EF4-FFF2-40B4-BE49-F238E27FC236}">
                <a16:creationId xmlns:a16="http://schemas.microsoft.com/office/drawing/2014/main" id="{549FAD02-6B42-2E98-69A8-6426430AB558}"/>
              </a:ext>
            </a:extLst>
          </p:cNvPr>
          <p:cNvSpPr/>
          <p:nvPr/>
        </p:nvSpPr>
        <p:spPr bwMode="auto">
          <a:xfrm flipV="1">
            <a:off x="1426759" y="1826101"/>
            <a:ext cx="6678939" cy="287181"/>
          </a:xfrm>
          <a:custGeom>
            <a:avLst/>
            <a:gdLst>
              <a:gd name="connsiteX0" fmla="*/ 0 w 4879298"/>
              <a:gd name="connsiteY0" fmla="*/ 281065 h 281065"/>
              <a:gd name="connsiteX1" fmla="*/ 4879298 w 4879298"/>
              <a:gd name="connsiteY1" fmla="*/ 0 h 281065"/>
              <a:gd name="connsiteX2" fmla="*/ 4879298 w 4879298"/>
              <a:gd name="connsiteY2" fmla="*/ 0 h 281065"/>
              <a:gd name="connsiteX3" fmla="*/ 4879298 w 4879298"/>
              <a:gd name="connsiteY3" fmla="*/ 0 h 281065"/>
            </a:gdLst>
            <a:ahLst/>
            <a:cxnLst>
              <a:cxn ang="0">
                <a:pos x="connsiteX0" y="connsiteY0"/>
              </a:cxn>
              <a:cxn ang="0">
                <a:pos x="connsiteX1" y="connsiteY1"/>
              </a:cxn>
              <a:cxn ang="0">
                <a:pos x="connsiteX2" y="connsiteY2"/>
              </a:cxn>
              <a:cxn ang="0">
                <a:pos x="connsiteX3" y="connsiteY3"/>
              </a:cxn>
            </a:cxnLst>
            <a:rect l="l" t="t" r="r" b="b"/>
            <a:pathLst>
              <a:path w="4879298" h="281065">
                <a:moveTo>
                  <a:pt x="0" y="281065"/>
                </a:moveTo>
                <a:lnTo>
                  <a:pt x="4879298" y="0"/>
                </a:lnTo>
                <a:lnTo>
                  <a:pt x="4879298" y="0"/>
                </a:lnTo>
                <a:lnTo>
                  <a:pt x="4879298" y="0"/>
                </a:lnTo>
              </a:path>
            </a:pathLst>
          </a:custGeom>
          <a:noFill/>
          <a:ln w="19050" cap="flat" cmpd="sng" algn="ctr">
            <a:solidFill>
              <a:srgbClr val="00B050"/>
            </a:solidFill>
            <a:prstDash val="solid"/>
            <a:round/>
            <a:headEnd type="none" w="med" len="med"/>
            <a:tailEnd type="stealth"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spTree>
    <p:extLst>
      <p:ext uri="{BB962C8B-B14F-4D97-AF65-F5344CB8AC3E}">
        <p14:creationId xmlns:p14="http://schemas.microsoft.com/office/powerpoint/2010/main" val="3491756770"/>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11E48-488D-B1E6-5578-F1F29EB09A28}"/>
              </a:ext>
            </a:extLst>
          </p:cNvPr>
          <p:cNvSpPr>
            <a:spLocks noGrp="1"/>
          </p:cNvSpPr>
          <p:nvPr>
            <p:ph type="title"/>
          </p:nvPr>
        </p:nvSpPr>
        <p:spPr/>
        <p:txBody>
          <a:bodyPr/>
          <a:lstStyle/>
          <a:p>
            <a:r>
              <a:rPr lang="en-US" dirty="0"/>
              <a:t>OVER Clause</a:t>
            </a:r>
          </a:p>
        </p:txBody>
      </p:sp>
      <p:sp>
        <p:nvSpPr>
          <p:cNvPr id="3" name="Content Placeholder 2">
            <a:extLst>
              <a:ext uri="{FF2B5EF4-FFF2-40B4-BE49-F238E27FC236}">
                <a16:creationId xmlns:a16="http://schemas.microsoft.com/office/drawing/2014/main" id="{B9AAABA7-9423-17F9-8D0B-79539D28100C}"/>
              </a:ext>
            </a:extLst>
          </p:cNvPr>
          <p:cNvSpPr>
            <a:spLocks noGrp="1"/>
          </p:cNvSpPr>
          <p:nvPr>
            <p:ph idx="1"/>
          </p:nvPr>
        </p:nvSpPr>
        <p:spPr>
          <a:xfrm>
            <a:off x="198226" y="779462"/>
            <a:ext cx="11813228" cy="5316538"/>
          </a:xfrm>
        </p:spPr>
        <p:txBody>
          <a:bodyPr/>
          <a:lstStyle/>
          <a:p>
            <a:pPr marL="0" indent="0">
              <a:buNone/>
            </a:pPr>
            <a:r>
              <a:rPr lang="en-US" dirty="0"/>
              <a:t>An OVER clause in SQL defines a group of rows (window) for calculations, without collapsing the results into a single row</a:t>
            </a:r>
          </a:p>
          <a:p>
            <a:endParaRPr lang="en-US" sz="2800" dirty="0"/>
          </a:p>
          <a:p>
            <a:endParaRPr lang="en-US" sz="2800" dirty="0"/>
          </a:p>
        </p:txBody>
      </p:sp>
      <p:graphicFrame>
        <p:nvGraphicFramePr>
          <p:cNvPr id="10" name="Table 9">
            <a:extLst>
              <a:ext uri="{FF2B5EF4-FFF2-40B4-BE49-F238E27FC236}">
                <a16:creationId xmlns:a16="http://schemas.microsoft.com/office/drawing/2014/main" id="{79C87480-D2F6-871A-8412-97A5DF535F03}"/>
              </a:ext>
            </a:extLst>
          </p:cNvPr>
          <p:cNvGraphicFramePr>
            <a:graphicFrameLocks noGrp="1"/>
          </p:cNvGraphicFramePr>
          <p:nvPr>
            <p:extLst>
              <p:ext uri="{D42A27DB-BD31-4B8C-83A1-F6EECF244321}">
                <p14:modId xmlns:p14="http://schemas.microsoft.com/office/powerpoint/2010/main" val="1925204433"/>
              </p:ext>
            </p:extLst>
          </p:nvPr>
        </p:nvGraphicFramePr>
        <p:xfrm>
          <a:off x="76200" y="1602352"/>
          <a:ext cx="5715000" cy="3503048"/>
        </p:xfrm>
        <a:graphic>
          <a:graphicData uri="http://schemas.openxmlformats.org/drawingml/2006/table">
            <a:tbl>
              <a:tblPr firstRow="1" firstCol="1" bandRow="1">
                <a:tableStyleId>{5940675A-B579-460E-94D1-54222C63F5DA}</a:tableStyleId>
              </a:tblPr>
              <a:tblGrid>
                <a:gridCol w="1066800">
                  <a:extLst>
                    <a:ext uri="{9D8B030D-6E8A-4147-A177-3AD203B41FA5}">
                      <a16:colId xmlns:a16="http://schemas.microsoft.com/office/drawing/2014/main" val="4126637413"/>
                    </a:ext>
                  </a:extLst>
                </a:gridCol>
                <a:gridCol w="1219200">
                  <a:extLst>
                    <a:ext uri="{9D8B030D-6E8A-4147-A177-3AD203B41FA5}">
                      <a16:colId xmlns:a16="http://schemas.microsoft.com/office/drawing/2014/main" val="1448146012"/>
                    </a:ext>
                  </a:extLst>
                </a:gridCol>
                <a:gridCol w="1479176">
                  <a:extLst>
                    <a:ext uri="{9D8B030D-6E8A-4147-A177-3AD203B41FA5}">
                      <a16:colId xmlns:a16="http://schemas.microsoft.com/office/drawing/2014/main" val="3078591172"/>
                    </a:ext>
                  </a:extLst>
                </a:gridCol>
                <a:gridCol w="1949824">
                  <a:extLst>
                    <a:ext uri="{9D8B030D-6E8A-4147-A177-3AD203B41FA5}">
                      <a16:colId xmlns:a16="http://schemas.microsoft.com/office/drawing/2014/main" val="154945008"/>
                    </a:ext>
                  </a:extLst>
                </a:gridCol>
              </a:tblGrid>
              <a:tr h="0">
                <a:tc>
                  <a:txBody>
                    <a:bodyPr/>
                    <a:lstStyle/>
                    <a:p>
                      <a:pPr marL="0" marR="0" algn="ctr">
                        <a:lnSpc>
                          <a:spcPct val="115000"/>
                        </a:lnSpc>
                        <a:spcAft>
                          <a:spcPts val="800"/>
                        </a:spcAft>
                        <a:buNone/>
                      </a:pPr>
                      <a:r>
                        <a:rPr lang="en-US" sz="1600" b="1" kern="100" dirty="0" err="1">
                          <a:solidFill>
                            <a:schemeClr val="tx1"/>
                          </a:solidFill>
                          <a:effectLst/>
                        </a:rPr>
                        <a:t>workdept</a:t>
                      </a:r>
                      <a:endParaRPr lang="en-US" sz="1600" b="1"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b="1" kern="100" dirty="0" err="1">
                          <a:solidFill>
                            <a:schemeClr val="tx1"/>
                          </a:solidFill>
                          <a:effectLst/>
                        </a:rPr>
                        <a:t>firstname</a:t>
                      </a:r>
                      <a:endParaRPr lang="en-US" sz="1600" b="1"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b="1" kern="100">
                          <a:solidFill>
                            <a:schemeClr val="tx1"/>
                          </a:solidFill>
                          <a:effectLst/>
                        </a:rPr>
                        <a:t>lastname</a:t>
                      </a:r>
                      <a:endParaRPr lang="en-US" sz="1600" b="1"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b="1" kern="100" dirty="0">
                          <a:solidFill>
                            <a:schemeClr val="tx1"/>
                          </a:solidFill>
                          <a:effectLst/>
                        </a:rPr>
                        <a:t>salary</a:t>
                      </a:r>
                      <a:endParaRPr lang="en-US" sz="1600" b="1"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593715451"/>
                  </a:ext>
                </a:extLst>
              </a:tr>
              <a:tr h="0">
                <a:tc>
                  <a:txBody>
                    <a:bodyPr/>
                    <a:lstStyle/>
                    <a:p>
                      <a:pPr marL="0" marR="0">
                        <a:lnSpc>
                          <a:spcPct val="115000"/>
                        </a:lnSpc>
                        <a:spcAft>
                          <a:spcPts val="800"/>
                        </a:spcAft>
                        <a:buNone/>
                      </a:pPr>
                      <a:r>
                        <a:rPr lang="en-US" sz="1400" kern="100" dirty="0">
                          <a:effectLst/>
                        </a:rPr>
                        <a:t>A00</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nSpc>
                          <a:spcPct val="115000"/>
                        </a:lnSpc>
                        <a:spcAft>
                          <a:spcPts val="800"/>
                        </a:spcAft>
                        <a:buNone/>
                      </a:pPr>
                      <a:r>
                        <a:rPr lang="en-US" sz="1400" kern="100">
                          <a:effectLst/>
                        </a:rPr>
                        <a:t>CHRISTINE</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nSpc>
                          <a:spcPct val="115000"/>
                        </a:lnSpc>
                        <a:spcAft>
                          <a:spcPts val="800"/>
                        </a:spcAft>
                        <a:buNone/>
                      </a:pPr>
                      <a:r>
                        <a:rPr lang="en-US" sz="1400" kern="100">
                          <a:effectLst/>
                        </a:rPr>
                        <a:t>HAAS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gn="r">
                        <a:lnSpc>
                          <a:spcPct val="115000"/>
                        </a:lnSpc>
                        <a:spcAft>
                          <a:spcPts val="800"/>
                        </a:spcAft>
                        <a:buNone/>
                      </a:pPr>
                      <a:r>
                        <a:rPr lang="en-US" sz="1400" kern="100">
                          <a:effectLst/>
                        </a:rPr>
                        <a:t>176827.21</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extLst>
                  <a:ext uri="{0D108BD9-81ED-4DB2-BD59-A6C34878D82A}">
                    <a16:rowId xmlns:a16="http://schemas.microsoft.com/office/drawing/2014/main" val="3887755489"/>
                  </a:ext>
                </a:extLst>
              </a:tr>
              <a:tr h="0">
                <a:tc>
                  <a:txBody>
                    <a:bodyPr/>
                    <a:lstStyle/>
                    <a:p>
                      <a:pPr marL="0" marR="0">
                        <a:lnSpc>
                          <a:spcPct val="115000"/>
                        </a:lnSpc>
                        <a:spcAft>
                          <a:spcPts val="800"/>
                        </a:spcAft>
                        <a:buNone/>
                      </a:pPr>
                      <a:r>
                        <a:rPr lang="en-US" sz="1400" kern="100">
                          <a:effectLst/>
                        </a:rPr>
                        <a:t>A00</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nSpc>
                          <a:spcPct val="115000"/>
                        </a:lnSpc>
                        <a:spcAft>
                          <a:spcPts val="800"/>
                        </a:spcAft>
                        <a:buNone/>
                      </a:pPr>
                      <a:r>
                        <a:rPr lang="en-US" sz="1400" kern="100" dirty="0">
                          <a:effectLst/>
                        </a:rPr>
                        <a:t>GREG</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nSpc>
                          <a:spcPct val="115000"/>
                        </a:lnSpc>
                        <a:spcAft>
                          <a:spcPts val="800"/>
                        </a:spcAft>
                        <a:buNone/>
                      </a:pPr>
                      <a:r>
                        <a:rPr lang="en-US" sz="1400" kern="100" dirty="0">
                          <a:effectLst/>
                        </a:rPr>
                        <a:t>ORLANDO</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gn="r">
                        <a:lnSpc>
                          <a:spcPct val="115000"/>
                        </a:lnSpc>
                        <a:spcAft>
                          <a:spcPts val="800"/>
                        </a:spcAft>
                        <a:buNone/>
                      </a:pPr>
                      <a:r>
                        <a:rPr lang="en-US" sz="1400" kern="100" dirty="0">
                          <a:effectLst/>
                        </a:rPr>
                        <a:t>39250.00</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extLst>
                  <a:ext uri="{0D108BD9-81ED-4DB2-BD59-A6C34878D82A}">
                    <a16:rowId xmlns:a16="http://schemas.microsoft.com/office/drawing/2014/main" val="2505357738"/>
                  </a:ext>
                </a:extLst>
              </a:tr>
              <a:tr h="0">
                <a:tc>
                  <a:txBody>
                    <a:bodyPr/>
                    <a:lstStyle/>
                    <a:p>
                      <a:pPr marL="0" marR="0">
                        <a:lnSpc>
                          <a:spcPct val="115000"/>
                        </a:lnSpc>
                        <a:spcAft>
                          <a:spcPts val="800"/>
                        </a:spcAft>
                        <a:buNone/>
                      </a:pPr>
                      <a:r>
                        <a:rPr lang="en-US" sz="1400" kern="100">
                          <a:effectLst/>
                        </a:rPr>
                        <a:t>A00</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nSpc>
                          <a:spcPct val="115000"/>
                        </a:lnSpc>
                        <a:spcAft>
                          <a:spcPts val="800"/>
                        </a:spcAft>
                        <a:buNone/>
                      </a:pPr>
                      <a:r>
                        <a:rPr lang="en-US" sz="1400" kern="100" dirty="0">
                          <a:effectLst/>
                        </a:rPr>
                        <a:t>DIAN</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nSpc>
                          <a:spcPct val="115000"/>
                        </a:lnSpc>
                        <a:spcAft>
                          <a:spcPts val="800"/>
                        </a:spcAft>
                        <a:buNone/>
                      </a:pPr>
                      <a:r>
                        <a:rPr lang="en-US" sz="1400" kern="100">
                          <a:effectLst/>
                        </a:rPr>
                        <a:t>HEMMINGER</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gn="r">
                        <a:lnSpc>
                          <a:spcPct val="115000"/>
                        </a:lnSpc>
                        <a:spcAft>
                          <a:spcPts val="800"/>
                        </a:spcAft>
                        <a:buNone/>
                      </a:pPr>
                      <a:r>
                        <a:rPr lang="en-US" sz="1400" kern="100">
                          <a:effectLst/>
                        </a:rPr>
                        <a:t>46500.00</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extLst>
                  <a:ext uri="{0D108BD9-81ED-4DB2-BD59-A6C34878D82A}">
                    <a16:rowId xmlns:a16="http://schemas.microsoft.com/office/drawing/2014/main" val="2881240007"/>
                  </a:ext>
                </a:extLst>
              </a:tr>
              <a:tr h="0">
                <a:tc>
                  <a:txBody>
                    <a:bodyPr/>
                    <a:lstStyle/>
                    <a:p>
                      <a:pPr marL="0" marR="0">
                        <a:lnSpc>
                          <a:spcPct val="115000"/>
                        </a:lnSpc>
                        <a:spcAft>
                          <a:spcPts val="800"/>
                        </a:spcAft>
                        <a:buNone/>
                      </a:pPr>
                      <a:r>
                        <a:rPr lang="en-US" sz="1400" kern="100" dirty="0">
                          <a:effectLst/>
                        </a:rPr>
                        <a:t>A00</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nSpc>
                          <a:spcPct val="115000"/>
                        </a:lnSpc>
                        <a:spcAft>
                          <a:spcPts val="800"/>
                        </a:spcAft>
                        <a:buNone/>
                      </a:pPr>
                      <a:r>
                        <a:rPr lang="en-US" sz="1400" kern="100">
                          <a:effectLst/>
                        </a:rPr>
                        <a:t>VINCENZO</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nSpc>
                          <a:spcPct val="115000"/>
                        </a:lnSpc>
                        <a:spcAft>
                          <a:spcPts val="800"/>
                        </a:spcAft>
                        <a:buNone/>
                      </a:pPr>
                      <a:r>
                        <a:rPr lang="en-US" sz="1400" kern="100">
                          <a:effectLst/>
                        </a:rPr>
                        <a:t>LUCCHESSI</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gn="r">
                        <a:lnSpc>
                          <a:spcPct val="115000"/>
                        </a:lnSpc>
                        <a:spcAft>
                          <a:spcPts val="800"/>
                        </a:spcAft>
                        <a:buNone/>
                      </a:pPr>
                      <a:r>
                        <a:rPr lang="en-US" sz="1400" kern="100">
                          <a:effectLst/>
                        </a:rPr>
                        <a:t>66500.00</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extLst>
                  <a:ext uri="{0D108BD9-81ED-4DB2-BD59-A6C34878D82A}">
                    <a16:rowId xmlns:a16="http://schemas.microsoft.com/office/drawing/2014/main" val="324285161"/>
                  </a:ext>
                </a:extLst>
              </a:tr>
              <a:tr h="0">
                <a:tc>
                  <a:txBody>
                    <a:bodyPr/>
                    <a:lstStyle/>
                    <a:p>
                      <a:pPr marL="0" marR="0">
                        <a:lnSpc>
                          <a:spcPct val="115000"/>
                        </a:lnSpc>
                        <a:spcAft>
                          <a:spcPts val="800"/>
                        </a:spcAft>
                        <a:buNone/>
                      </a:pPr>
                      <a:r>
                        <a:rPr lang="en-US" sz="1400" kern="100">
                          <a:effectLst/>
                        </a:rPr>
                        <a:t>A00</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nSpc>
                          <a:spcPct val="115000"/>
                        </a:lnSpc>
                        <a:spcAft>
                          <a:spcPts val="800"/>
                        </a:spcAft>
                        <a:buNone/>
                      </a:pPr>
                      <a:r>
                        <a:rPr lang="en-US" sz="1400" kern="100" dirty="0">
                          <a:effectLst/>
                        </a:rPr>
                        <a:t>SEAN</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nSpc>
                          <a:spcPct val="115000"/>
                        </a:lnSpc>
                        <a:spcAft>
                          <a:spcPts val="800"/>
                        </a:spcAft>
                        <a:buNone/>
                      </a:pPr>
                      <a:r>
                        <a:rPr lang="en-US" sz="1400" kern="100">
                          <a:effectLst/>
                        </a:rPr>
                        <a:t>O'CONNELL</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marL="0" marR="0" algn="r">
                        <a:lnSpc>
                          <a:spcPct val="115000"/>
                        </a:lnSpc>
                        <a:spcAft>
                          <a:spcPts val="800"/>
                        </a:spcAft>
                        <a:buNone/>
                      </a:pPr>
                      <a:r>
                        <a:rPr lang="en-US" sz="1400" kern="100" dirty="0">
                          <a:effectLst/>
                        </a:rPr>
                        <a:t>49250.00</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extLst>
                  <a:ext uri="{0D108BD9-81ED-4DB2-BD59-A6C34878D82A}">
                    <a16:rowId xmlns:a16="http://schemas.microsoft.com/office/drawing/2014/main" val="623314699"/>
                  </a:ext>
                </a:extLst>
              </a:tr>
              <a:tr h="0">
                <a:tc>
                  <a:txBody>
                    <a:bodyPr/>
                    <a:lstStyle/>
                    <a:p>
                      <a:pPr marL="0" marR="0">
                        <a:lnSpc>
                          <a:spcPct val="115000"/>
                        </a:lnSpc>
                        <a:spcAft>
                          <a:spcPts val="800"/>
                        </a:spcAft>
                        <a:buNone/>
                      </a:pPr>
                      <a:r>
                        <a:rPr lang="en-US" sz="1400" kern="100">
                          <a:effectLst/>
                        </a:rPr>
                        <a:t>B01</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1">
                        <a:lumMod val="20000"/>
                        <a:lumOff val="80000"/>
                      </a:schemeClr>
                    </a:solidFill>
                  </a:tcPr>
                </a:tc>
                <a:tc>
                  <a:txBody>
                    <a:bodyPr/>
                    <a:lstStyle/>
                    <a:p>
                      <a:pPr marL="0" marR="0">
                        <a:lnSpc>
                          <a:spcPct val="115000"/>
                        </a:lnSpc>
                        <a:spcAft>
                          <a:spcPts val="800"/>
                        </a:spcAft>
                        <a:buNone/>
                      </a:pPr>
                      <a:r>
                        <a:rPr lang="en-US" sz="1400" kern="100">
                          <a:effectLst/>
                        </a:rPr>
                        <a:t>MICHAEL</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1">
                        <a:lumMod val="20000"/>
                        <a:lumOff val="80000"/>
                      </a:schemeClr>
                    </a:solidFill>
                  </a:tcPr>
                </a:tc>
                <a:tc>
                  <a:txBody>
                    <a:bodyPr/>
                    <a:lstStyle/>
                    <a:p>
                      <a:pPr marL="0" marR="0">
                        <a:lnSpc>
                          <a:spcPct val="115000"/>
                        </a:lnSpc>
                        <a:spcAft>
                          <a:spcPts val="800"/>
                        </a:spcAft>
                        <a:buNone/>
                      </a:pPr>
                      <a:r>
                        <a:rPr lang="en-US" sz="1400" kern="100">
                          <a:effectLst/>
                        </a:rPr>
                        <a:t>THOMPSON</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1">
                        <a:lumMod val="20000"/>
                        <a:lumOff val="80000"/>
                      </a:schemeClr>
                    </a:solidFill>
                  </a:tcPr>
                </a:tc>
                <a:tc>
                  <a:txBody>
                    <a:bodyPr/>
                    <a:lstStyle/>
                    <a:p>
                      <a:pPr marL="0" marR="0" algn="r">
                        <a:lnSpc>
                          <a:spcPct val="115000"/>
                        </a:lnSpc>
                        <a:spcAft>
                          <a:spcPts val="800"/>
                        </a:spcAft>
                        <a:buNone/>
                      </a:pPr>
                      <a:r>
                        <a:rPr lang="en-US" sz="1400" kern="100" dirty="0">
                          <a:effectLst/>
                        </a:rPr>
                        <a:t>94250.00</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chemeClr val="accent1">
                        <a:lumMod val="20000"/>
                        <a:lumOff val="80000"/>
                      </a:schemeClr>
                    </a:solidFill>
                  </a:tcPr>
                </a:tc>
                <a:extLst>
                  <a:ext uri="{0D108BD9-81ED-4DB2-BD59-A6C34878D82A}">
                    <a16:rowId xmlns:a16="http://schemas.microsoft.com/office/drawing/2014/main" val="1217954184"/>
                  </a:ext>
                </a:extLst>
              </a:tr>
              <a:tr h="0">
                <a:tc>
                  <a:txBody>
                    <a:bodyPr/>
                    <a:lstStyle/>
                    <a:p>
                      <a:pPr marL="0" marR="0">
                        <a:lnSpc>
                          <a:spcPct val="115000"/>
                        </a:lnSpc>
                        <a:spcAft>
                          <a:spcPts val="800"/>
                        </a:spcAft>
                        <a:buNone/>
                      </a:pPr>
                      <a:r>
                        <a:rPr lang="en-US" sz="1400" kern="100">
                          <a:effectLst/>
                        </a:rPr>
                        <a:t>C01</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tc>
                  <a:txBody>
                    <a:bodyPr/>
                    <a:lstStyle/>
                    <a:p>
                      <a:pPr marL="0" marR="0">
                        <a:lnSpc>
                          <a:spcPct val="115000"/>
                        </a:lnSpc>
                        <a:spcAft>
                          <a:spcPts val="800"/>
                        </a:spcAft>
                        <a:buNone/>
                      </a:pPr>
                      <a:r>
                        <a:rPr lang="en-US" sz="1400" kern="100">
                          <a:effectLst/>
                        </a:rPr>
                        <a:t>SALLY</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tc>
                  <a:txBody>
                    <a:bodyPr/>
                    <a:lstStyle/>
                    <a:p>
                      <a:pPr marL="0" marR="0">
                        <a:lnSpc>
                          <a:spcPct val="115000"/>
                        </a:lnSpc>
                        <a:spcAft>
                          <a:spcPts val="800"/>
                        </a:spcAft>
                        <a:buNone/>
                      </a:pPr>
                      <a:r>
                        <a:rPr lang="en-US" sz="1400" kern="100" dirty="0">
                          <a:effectLst/>
                        </a:rPr>
                        <a:t>KWAN</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tc>
                  <a:txBody>
                    <a:bodyPr/>
                    <a:lstStyle/>
                    <a:p>
                      <a:pPr marL="0" marR="0" algn="r">
                        <a:lnSpc>
                          <a:spcPct val="115000"/>
                        </a:lnSpc>
                        <a:spcAft>
                          <a:spcPts val="800"/>
                        </a:spcAft>
                        <a:buNone/>
                      </a:pPr>
                      <a:r>
                        <a:rPr lang="en-US" sz="1400" kern="100">
                          <a:effectLst/>
                        </a:rPr>
                        <a:t>98250.00</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extLst>
                  <a:ext uri="{0D108BD9-81ED-4DB2-BD59-A6C34878D82A}">
                    <a16:rowId xmlns:a16="http://schemas.microsoft.com/office/drawing/2014/main" val="460836296"/>
                  </a:ext>
                </a:extLst>
              </a:tr>
              <a:tr h="0">
                <a:tc>
                  <a:txBody>
                    <a:bodyPr/>
                    <a:lstStyle/>
                    <a:p>
                      <a:pPr marL="0" marR="0">
                        <a:lnSpc>
                          <a:spcPct val="115000"/>
                        </a:lnSpc>
                        <a:spcAft>
                          <a:spcPts val="800"/>
                        </a:spcAft>
                        <a:buNone/>
                      </a:pPr>
                      <a:r>
                        <a:rPr lang="en-US" sz="1400" kern="100">
                          <a:effectLst/>
                        </a:rPr>
                        <a:t>C01</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tc>
                  <a:txBody>
                    <a:bodyPr/>
                    <a:lstStyle/>
                    <a:p>
                      <a:pPr marL="0" marR="0">
                        <a:lnSpc>
                          <a:spcPct val="115000"/>
                        </a:lnSpc>
                        <a:spcAft>
                          <a:spcPts val="800"/>
                        </a:spcAft>
                        <a:buNone/>
                      </a:pPr>
                      <a:r>
                        <a:rPr lang="en-US" sz="1400" kern="100">
                          <a:effectLst/>
                        </a:rPr>
                        <a:t>DELORES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tc>
                  <a:txBody>
                    <a:bodyPr/>
                    <a:lstStyle/>
                    <a:p>
                      <a:pPr marL="0" marR="0">
                        <a:lnSpc>
                          <a:spcPct val="115000"/>
                        </a:lnSpc>
                        <a:spcAft>
                          <a:spcPts val="800"/>
                        </a:spcAft>
                        <a:buNone/>
                      </a:pPr>
                      <a:r>
                        <a:rPr lang="en-US" sz="1400" kern="100">
                          <a:effectLst/>
                        </a:rPr>
                        <a:t>QUINTANA</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tc>
                  <a:txBody>
                    <a:bodyPr/>
                    <a:lstStyle/>
                    <a:p>
                      <a:pPr marL="0" marR="0" algn="r">
                        <a:lnSpc>
                          <a:spcPct val="115000"/>
                        </a:lnSpc>
                        <a:spcAft>
                          <a:spcPts val="800"/>
                        </a:spcAft>
                        <a:buNone/>
                      </a:pPr>
                      <a:r>
                        <a:rPr lang="en-US" sz="1400" kern="100">
                          <a:effectLst/>
                        </a:rPr>
                        <a:t>73800.00</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extLst>
                  <a:ext uri="{0D108BD9-81ED-4DB2-BD59-A6C34878D82A}">
                    <a16:rowId xmlns:a16="http://schemas.microsoft.com/office/drawing/2014/main" val="3787845629"/>
                  </a:ext>
                </a:extLst>
              </a:tr>
              <a:tr h="0">
                <a:tc>
                  <a:txBody>
                    <a:bodyPr/>
                    <a:lstStyle/>
                    <a:p>
                      <a:pPr marL="0" marR="0">
                        <a:lnSpc>
                          <a:spcPct val="115000"/>
                        </a:lnSpc>
                        <a:spcAft>
                          <a:spcPts val="800"/>
                        </a:spcAft>
                        <a:buNone/>
                      </a:pPr>
                      <a:r>
                        <a:rPr lang="en-US" sz="1400" kern="100">
                          <a:effectLst/>
                        </a:rPr>
                        <a:t>C01</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tc>
                  <a:txBody>
                    <a:bodyPr/>
                    <a:lstStyle/>
                    <a:p>
                      <a:pPr marL="0" marR="0">
                        <a:lnSpc>
                          <a:spcPct val="115000"/>
                        </a:lnSpc>
                        <a:spcAft>
                          <a:spcPts val="800"/>
                        </a:spcAft>
                        <a:buNone/>
                      </a:pPr>
                      <a:r>
                        <a:rPr lang="en-US" sz="1400" kern="100">
                          <a:effectLst/>
                        </a:rPr>
                        <a:t>HEATHER</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tc>
                  <a:txBody>
                    <a:bodyPr/>
                    <a:lstStyle/>
                    <a:p>
                      <a:pPr marL="0" marR="0">
                        <a:lnSpc>
                          <a:spcPct val="115000"/>
                        </a:lnSpc>
                        <a:spcAft>
                          <a:spcPts val="800"/>
                        </a:spcAft>
                        <a:buNone/>
                      </a:pPr>
                      <a:r>
                        <a:rPr lang="en-US" sz="1400" kern="100">
                          <a:effectLst/>
                        </a:rPr>
                        <a:t>NICHOLLS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tc>
                  <a:txBody>
                    <a:bodyPr/>
                    <a:lstStyle/>
                    <a:p>
                      <a:pPr marL="0" marR="0" algn="r">
                        <a:lnSpc>
                          <a:spcPct val="115000"/>
                        </a:lnSpc>
                        <a:spcAft>
                          <a:spcPts val="800"/>
                        </a:spcAft>
                        <a:buNone/>
                      </a:pPr>
                      <a:r>
                        <a:rPr lang="en-US" sz="1400" kern="100">
                          <a:effectLst/>
                        </a:rPr>
                        <a:t>68420.00</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extLst>
                  <a:ext uri="{0D108BD9-81ED-4DB2-BD59-A6C34878D82A}">
                    <a16:rowId xmlns:a16="http://schemas.microsoft.com/office/drawing/2014/main" val="2921993308"/>
                  </a:ext>
                </a:extLst>
              </a:tr>
              <a:tr h="0">
                <a:tc>
                  <a:txBody>
                    <a:bodyPr/>
                    <a:lstStyle/>
                    <a:p>
                      <a:pPr marL="0" marR="0">
                        <a:lnSpc>
                          <a:spcPct val="115000"/>
                        </a:lnSpc>
                        <a:spcAft>
                          <a:spcPts val="800"/>
                        </a:spcAft>
                        <a:buNone/>
                      </a:pPr>
                      <a:r>
                        <a:rPr lang="en-US" sz="1400" kern="100">
                          <a:effectLst/>
                        </a:rPr>
                        <a:t>C01</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tc>
                  <a:txBody>
                    <a:bodyPr/>
                    <a:lstStyle/>
                    <a:p>
                      <a:pPr marL="0" marR="0">
                        <a:lnSpc>
                          <a:spcPct val="115000"/>
                        </a:lnSpc>
                        <a:spcAft>
                          <a:spcPts val="800"/>
                        </a:spcAft>
                        <a:buNone/>
                      </a:pPr>
                      <a:r>
                        <a:rPr lang="en-US" sz="1400" kern="100">
                          <a:effectLst/>
                        </a:rPr>
                        <a:t>KIM</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tc>
                  <a:txBody>
                    <a:bodyPr/>
                    <a:lstStyle/>
                    <a:p>
                      <a:pPr marL="0" marR="0">
                        <a:lnSpc>
                          <a:spcPct val="115000"/>
                        </a:lnSpc>
                        <a:spcAft>
                          <a:spcPts val="800"/>
                        </a:spcAft>
                        <a:buNone/>
                      </a:pPr>
                      <a:r>
                        <a:rPr lang="en-US" sz="1400" kern="100">
                          <a:effectLst/>
                        </a:rPr>
                        <a:t>NATZ</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tc>
                  <a:txBody>
                    <a:bodyPr/>
                    <a:lstStyle/>
                    <a:p>
                      <a:pPr marL="0" marR="0" algn="r">
                        <a:lnSpc>
                          <a:spcPct val="115000"/>
                        </a:lnSpc>
                        <a:spcAft>
                          <a:spcPts val="800"/>
                        </a:spcAft>
                        <a:buNone/>
                      </a:pPr>
                      <a:r>
                        <a:rPr lang="en-US" sz="1400" kern="100" dirty="0">
                          <a:effectLst/>
                        </a:rPr>
                        <a:t>68420.00</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CBA9E5"/>
                    </a:solidFill>
                  </a:tcPr>
                </a:tc>
                <a:extLst>
                  <a:ext uri="{0D108BD9-81ED-4DB2-BD59-A6C34878D82A}">
                    <a16:rowId xmlns:a16="http://schemas.microsoft.com/office/drawing/2014/main" val="1525998916"/>
                  </a:ext>
                </a:extLst>
              </a:tr>
              <a:tr h="0">
                <a:tc>
                  <a:txBody>
                    <a:bodyPr/>
                    <a:lstStyle/>
                    <a:p>
                      <a:pPr marL="0" marR="0">
                        <a:lnSpc>
                          <a:spcPct val="115000"/>
                        </a:lnSpc>
                        <a:spcAft>
                          <a:spcPts val="800"/>
                        </a:spcAft>
                        <a:buNone/>
                      </a:pPr>
                      <a:r>
                        <a:rPr lang="en-US" sz="1400" kern="100" dirty="0">
                          <a:effectLst/>
                        </a:rPr>
                        <a:t>D11</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tc>
                  <a:txBody>
                    <a:bodyPr/>
                    <a:lstStyle/>
                    <a:p>
                      <a:pPr marL="0" marR="0">
                        <a:lnSpc>
                          <a:spcPct val="115000"/>
                        </a:lnSpc>
                        <a:spcAft>
                          <a:spcPts val="800"/>
                        </a:spcAft>
                        <a:buNone/>
                      </a:pPr>
                      <a:r>
                        <a:rPr lang="en-US" sz="1400" kern="100">
                          <a:effectLst/>
                        </a:rPr>
                        <a:t>IRVING</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tc>
                  <a:txBody>
                    <a:bodyPr/>
                    <a:lstStyle/>
                    <a:p>
                      <a:pPr marL="0" marR="0">
                        <a:lnSpc>
                          <a:spcPct val="115000"/>
                        </a:lnSpc>
                        <a:spcAft>
                          <a:spcPts val="800"/>
                        </a:spcAft>
                        <a:buNone/>
                      </a:pPr>
                      <a:r>
                        <a:rPr lang="en-US" sz="1400" kern="100">
                          <a:effectLst/>
                        </a:rPr>
                        <a:t>STERN</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tc>
                  <a:txBody>
                    <a:bodyPr/>
                    <a:lstStyle/>
                    <a:p>
                      <a:pPr marL="0" marR="0" algn="r">
                        <a:lnSpc>
                          <a:spcPct val="115000"/>
                        </a:lnSpc>
                        <a:spcAft>
                          <a:spcPts val="800"/>
                        </a:spcAft>
                        <a:buNone/>
                      </a:pPr>
                      <a:r>
                        <a:rPr lang="en-US" sz="1400" kern="100">
                          <a:effectLst/>
                        </a:rPr>
                        <a:t>72250.00</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extLst>
                  <a:ext uri="{0D108BD9-81ED-4DB2-BD59-A6C34878D82A}">
                    <a16:rowId xmlns:a16="http://schemas.microsoft.com/office/drawing/2014/main" val="683622253"/>
                  </a:ext>
                </a:extLst>
              </a:tr>
              <a:tr h="0">
                <a:tc>
                  <a:txBody>
                    <a:bodyPr/>
                    <a:lstStyle/>
                    <a:p>
                      <a:pPr marL="0" marR="0">
                        <a:lnSpc>
                          <a:spcPct val="115000"/>
                        </a:lnSpc>
                        <a:spcAft>
                          <a:spcPts val="800"/>
                        </a:spcAft>
                        <a:buNone/>
                      </a:pPr>
                      <a:r>
                        <a:rPr lang="en-US" sz="1400" kern="100" dirty="0">
                          <a:effectLst/>
                        </a:rPr>
                        <a:t>D11</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tc>
                  <a:txBody>
                    <a:bodyPr/>
                    <a:lstStyle/>
                    <a:p>
                      <a:pPr marL="0" marR="0">
                        <a:lnSpc>
                          <a:spcPct val="115000"/>
                        </a:lnSpc>
                        <a:spcAft>
                          <a:spcPts val="800"/>
                        </a:spcAft>
                        <a:buNone/>
                      </a:pPr>
                      <a:r>
                        <a:rPr lang="en-US" sz="1400" kern="100" dirty="0">
                          <a:effectLst/>
                        </a:rPr>
                        <a:t>REBA</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tc>
                  <a:txBody>
                    <a:bodyPr/>
                    <a:lstStyle/>
                    <a:p>
                      <a:pPr marL="0" marR="0">
                        <a:lnSpc>
                          <a:spcPct val="115000"/>
                        </a:lnSpc>
                        <a:spcAft>
                          <a:spcPts val="800"/>
                        </a:spcAft>
                        <a:buNone/>
                      </a:pPr>
                      <a:r>
                        <a:rPr lang="en-US" sz="1400" kern="100" dirty="0">
                          <a:effectLst/>
                        </a:rPr>
                        <a:t>JOHN</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tc>
                  <a:txBody>
                    <a:bodyPr/>
                    <a:lstStyle/>
                    <a:p>
                      <a:pPr marL="0" marR="0" algn="r">
                        <a:lnSpc>
                          <a:spcPct val="115000"/>
                        </a:lnSpc>
                        <a:spcAft>
                          <a:spcPts val="800"/>
                        </a:spcAft>
                        <a:buNone/>
                      </a:pPr>
                      <a:r>
                        <a:rPr lang="en-US" sz="1400" kern="100" dirty="0">
                          <a:effectLst/>
                        </a:rPr>
                        <a:t>69840.00</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extLst>
                  <a:ext uri="{0D108BD9-81ED-4DB2-BD59-A6C34878D82A}">
                    <a16:rowId xmlns:a16="http://schemas.microsoft.com/office/drawing/2014/main" val="989986490"/>
                  </a:ext>
                </a:extLst>
              </a:tr>
              <a:tr h="0">
                <a:tc>
                  <a:txBody>
                    <a:bodyPr/>
                    <a:lstStyle/>
                    <a:p>
                      <a:pPr marL="0" marR="0">
                        <a:lnSpc>
                          <a:spcPct val="115000"/>
                        </a:lnSpc>
                        <a:spcAft>
                          <a:spcPts val="800"/>
                        </a:spcAft>
                        <a:buNone/>
                      </a:pPr>
                      <a:r>
                        <a:rPr lang="en-US" sz="1400" kern="100">
                          <a:effectLst/>
                        </a:rPr>
                        <a:t>D11</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tc>
                  <a:txBody>
                    <a:bodyPr/>
                    <a:lstStyle/>
                    <a:p>
                      <a:pPr marL="0" marR="0">
                        <a:lnSpc>
                          <a:spcPct val="115000"/>
                        </a:lnSpc>
                        <a:spcAft>
                          <a:spcPts val="800"/>
                        </a:spcAft>
                        <a:buNone/>
                      </a:pPr>
                      <a:r>
                        <a:rPr lang="en-US" sz="1400" kern="100" dirty="0">
                          <a:effectLst/>
                        </a:rPr>
                        <a:t>JENNIFER</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tc>
                  <a:txBody>
                    <a:bodyPr/>
                    <a:lstStyle/>
                    <a:p>
                      <a:pPr marL="0" marR="0">
                        <a:lnSpc>
                          <a:spcPct val="115000"/>
                        </a:lnSpc>
                        <a:spcAft>
                          <a:spcPts val="800"/>
                        </a:spcAft>
                        <a:buNone/>
                      </a:pPr>
                      <a:r>
                        <a:rPr lang="en-US" sz="1400" kern="100">
                          <a:effectLst/>
                        </a:rPr>
                        <a:t>LUTZ</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tc>
                  <a:txBody>
                    <a:bodyPr/>
                    <a:lstStyle/>
                    <a:p>
                      <a:pPr marL="0" marR="0" algn="r">
                        <a:lnSpc>
                          <a:spcPct val="115000"/>
                        </a:lnSpc>
                        <a:spcAft>
                          <a:spcPts val="800"/>
                        </a:spcAft>
                        <a:buNone/>
                      </a:pPr>
                      <a:r>
                        <a:rPr lang="en-US" sz="1400" kern="100">
                          <a:effectLst/>
                        </a:rPr>
                        <a:t>49840.00</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extLst>
                  <a:ext uri="{0D108BD9-81ED-4DB2-BD59-A6C34878D82A}">
                    <a16:rowId xmlns:a16="http://schemas.microsoft.com/office/drawing/2014/main" val="1842844040"/>
                  </a:ext>
                </a:extLst>
              </a:tr>
              <a:tr h="0">
                <a:tc>
                  <a:txBody>
                    <a:bodyPr/>
                    <a:lstStyle/>
                    <a:p>
                      <a:pPr marL="0" marR="0">
                        <a:lnSpc>
                          <a:spcPct val="115000"/>
                        </a:lnSpc>
                        <a:spcAft>
                          <a:spcPts val="800"/>
                        </a:spcAft>
                        <a:buNone/>
                      </a:pPr>
                      <a:r>
                        <a:rPr lang="en-US" sz="1400" kern="100">
                          <a:effectLst/>
                        </a:rPr>
                        <a:t>D11</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tc>
                  <a:txBody>
                    <a:bodyPr/>
                    <a:lstStyle/>
                    <a:p>
                      <a:pPr marL="0" marR="0">
                        <a:lnSpc>
                          <a:spcPct val="115000"/>
                        </a:lnSpc>
                        <a:spcAft>
                          <a:spcPts val="800"/>
                        </a:spcAft>
                        <a:buNone/>
                      </a:pPr>
                      <a:r>
                        <a:rPr lang="en-US" sz="1400" kern="100" dirty="0">
                          <a:effectLst/>
                        </a:rPr>
                        <a:t>BRUCE</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tc>
                  <a:txBody>
                    <a:bodyPr/>
                    <a:lstStyle/>
                    <a:p>
                      <a:pPr marL="0" marR="0">
                        <a:lnSpc>
                          <a:spcPct val="115000"/>
                        </a:lnSpc>
                        <a:spcAft>
                          <a:spcPts val="800"/>
                        </a:spcAft>
                        <a:buNone/>
                      </a:pPr>
                      <a:r>
                        <a:rPr lang="en-US" sz="1400" kern="100" dirty="0">
                          <a:effectLst/>
                        </a:rPr>
                        <a:t>ADAMSON</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tc>
                  <a:txBody>
                    <a:bodyPr/>
                    <a:lstStyle/>
                    <a:p>
                      <a:pPr marL="0" marR="0" algn="r">
                        <a:lnSpc>
                          <a:spcPct val="115000"/>
                        </a:lnSpc>
                        <a:spcAft>
                          <a:spcPts val="800"/>
                        </a:spcAft>
                        <a:buNone/>
                      </a:pPr>
                      <a:r>
                        <a:rPr lang="en-US" sz="1400" kern="100" dirty="0">
                          <a:effectLst/>
                        </a:rPr>
                        <a:t>55280.00</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solidFill>
                      <a:srgbClr val="FFE07D"/>
                    </a:solidFill>
                  </a:tcPr>
                </a:tc>
                <a:extLst>
                  <a:ext uri="{0D108BD9-81ED-4DB2-BD59-A6C34878D82A}">
                    <a16:rowId xmlns:a16="http://schemas.microsoft.com/office/drawing/2014/main" val="383977124"/>
                  </a:ext>
                </a:extLst>
              </a:tr>
            </a:tbl>
          </a:graphicData>
        </a:graphic>
      </p:graphicFrame>
      <p:pic>
        <p:nvPicPr>
          <p:cNvPr id="14" name="Picture 13">
            <a:extLst>
              <a:ext uri="{FF2B5EF4-FFF2-40B4-BE49-F238E27FC236}">
                <a16:creationId xmlns:a16="http://schemas.microsoft.com/office/drawing/2014/main" id="{101AEF16-AC58-F47E-C28E-C128402A76C0}"/>
              </a:ext>
            </a:extLst>
          </p:cNvPr>
          <p:cNvPicPr>
            <a:picLocks noChangeAspect="1"/>
          </p:cNvPicPr>
          <p:nvPr/>
        </p:nvPicPr>
        <p:blipFill>
          <a:blip r:embed="rId3"/>
          <a:stretch>
            <a:fillRect/>
          </a:stretch>
        </p:blipFill>
        <p:spPr>
          <a:xfrm>
            <a:off x="6791145" y="1573599"/>
            <a:ext cx="5339422" cy="3684201"/>
          </a:xfrm>
          <a:prstGeom prst="rect">
            <a:avLst/>
          </a:prstGeom>
          <a:noFill/>
          <a:ln w="12700">
            <a:solidFill>
              <a:srgbClr val="000000"/>
            </a:solidFill>
          </a:ln>
        </p:spPr>
      </p:pic>
      <p:sp>
        <p:nvSpPr>
          <p:cNvPr id="16" name="TextBox 15">
            <a:extLst>
              <a:ext uri="{FF2B5EF4-FFF2-40B4-BE49-F238E27FC236}">
                <a16:creationId xmlns:a16="http://schemas.microsoft.com/office/drawing/2014/main" id="{9D584DB0-ADA7-79F9-595E-7C048E805DA6}"/>
              </a:ext>
            </a:extLst>
          </p:cNvPr>
          <p:cNvSpPr txBox="1"/>
          <p:nvPr/>
        </p:nvSpPr>
        <p:spPr>
          <a:xfrm>
            <a:off x="1219200" y="5275404"/>
            <a:ext cx="9220200" cy="1107996"/>
          </a:xfrm>
          <a:prstGeom prst="rect">
            <a:avLst/>
          </a:prstGeom>
          <a:noFill/>
          <a:ln w="12700">
            <a:noFill/>
          </a:ln>
        </p:spPr>
        <p:txBody>
          <a:bodyPr wrap="square">
            <a:spAutoFit/>
          </a:bodyPr>
          <a:lstStyle/>
          <a:p>
            <a:pPr algn="l"/>
            <a:r>
              <a:rPr lang="en-US" sz="2200" b="1" dirty="0">
                <a:solidFill>
                  <a:srgbClr val="800000"/>
                </a:solidFill>
                <a:latin typeface="Consolas" panose="020B0609020204030204" pitchFamily="49" charset="0"/>
              </a:rPr>
              <a:t>SELECT</a:t>
            </a:r>
            <a:r>
              <a:rPr lang="en-US" sz="2200" b="1" dirty="0">
                <a:solidFill>
                  <a:srgbClr val="000000"/>
                </a:solidFill>
                <a:latin typeface="Consolas" panose="020B0609020204030204" pitchFamily="49" charset="0"/>
              </a:rPr>
              <a:t> </a:t>
            </a:r>
            <a:r>
              <a:rPr lang="en-US" sz="2200" b="1" dirty="0" err="1">
                <a:solidFill>
                  <a:srgbClr val="000000"/>
                </a:solidFill>
                <a:latin typeface="Consolas" panose="020B0609020204030204" pitchFamily="49" charset="0"/>
              </a:rPr>
              <a:t>firstnme</a:t>
            </a:r>
            <a:r>
              <a:rPr lang="en-US" sz="2200" b="1" dirty="0">
                <a:solidFill>
                  <a:srgbClr val="000000"/>
                </a:solidFill>
                <a:latin typeface="Consolas" panose="020B0609020204030204" pitchFamily="49" charset="0"/>
              </a:rPr>
              <a:t>, </a:t>
            </a:r>
            <a:r>
              <a:rPr lang="en-US" sz="2200" b="1" dirty="0" err="1">
                <a:solidFill>
                  <a:srgbClr val="000000"/>
                </a:solidFill>
                <a:latin typeface="Consolas" panose="020B0609020204030204" pitchFamily="49" charset="0"/>
              </a:rPr>
              <a:t>lastname</a:t>
            </a:r>
            <a:r>
              <a:rPr lang="en-US" sz="2200" b="1" dirty="0">
                <a:solidFill>
                  <a:srgbClr val="000000"/>
                </a:solidFill>
                <a:latin typeface="Consolas" panose="020B0609020204030204" pitchFamily="49" charset="0"/>
              </a:rPr>
              <a:t>, </a:t>
            </a:r>
            <a:r>
              <a:rPr lang="en-US" sz="2200" b="1" dirty="0" err="1">
                <a:solidFill>
                  <a:srgbClr val="000000"/>
                </a:solidFill>
                <a:latin typeface="Consolas" panose="020B0609020204030204" pitchFamily="49" charset="0"/>
              </a:rPr>
              <a:t>workdept</a:t>
            </a:r>
            <a:r>
              <a:rPr lang="en-US" sz="2200" b="1" dirty="0">
                <a:solidFill>
                  <a:srgbClr val="000000"/>
                </a:solidFill>
                <a:latin typeface="Consolas" panose="020B0609020204030204" pitchFamily="49" charset="0"/>
              </a:rPr>
              <a:t>, salary, </a:t>
            </a:r>
            <a:r>
              <a:rPr lang="en-US" sz="2200" b="1" dirty="0">
                <a:solidFill>
                  <a:srgbClr val="000080"/>
                </a:solidFill>
                <a:latin typeface="Consolas" panose="020B0609020204030204" pitchFamily="49" charset="0"/>
              </a:rPr>
              <a:t>AVG</a:t>
            </a:r>
            <a:r>
              <a:rPr lang="en-US" sz="2200" b="1" dirty="0">
                <a:solidFill>
                  <a:srgbClr val="000000"/>
                </a:solidFill>
                <a:latin typeface="Consolas" panose="020B0609020204030204" pitchFamily="49" charset="0"/>
              </a:rPr>
              <a:t>(salary) </a:t>
            </a:r>
          </a:p>
          <a:p>
            <a:pPr algn="l"/>
            <a:r>
              <a:rPr lang="en-US" sz="2200"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OVER</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PARTITION</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BY</a:t>
            </a:r>
            <a:r>
              <a:rPr lang="en-US" sz="2200" b="1" dirty="0">
                <a:solidFill>
                  <a:srgbClr val="000000"/>
                </a:solidFill>
                <a:latin typeface="Consolas" panose="020B0609020204030204" pitchFamily="49" charset="0"/>
              </a:rPr>
              <a:t> </a:t>
            </a:r>
            <a:r>
              <a:rPr lang="en-US" sz="2200" b="1" dirty="0" err="1">
                <a:solidFill>
                  <a:srgbClr val="000000"/>
                </a:solidFill>
                <a:latin typeface="Consolas" panose="020B0609020204030204" pitchFamily="49" charset="0"/>
              </a:rPr>
              <a:t>workdept</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AS</a:t>
            </a:r>
            <a:r>
              <a:rPr lang="en-US" sz="2200" b="1" dirty="0">
                <a:solidFill>
                  <a:srgbClr val="000000"/>
                </a:solidFill>
                <a:latin typeface="Consolas" panose="020B0609020204030204" pitchFamily="49" charset="0"/>
              </a:rPr>
              <a:t> </a:t>
            </a:r>
            <a:r>
              <a:rPr lang="en-US" sz="2200" b="1" dirty="0" err="1">
                <a:solidFill>
                  <a:srgbClr val="000000"/>
                </a:solidFill>
                <a:latin typeface="Consolas" panose="020B0609020204030204" pitchFamily="49" charset="0"/>
              </a:rPr>
              <a:t>AvgDeptSalary</a:t>
            </a:r>
            <a:endParaRPr lang="en-US" sz="2200" b="1" dirty="0">
              <a:solidFill>
                <a:srgbClr val="000000"/>
              </a:solidFill>
              <a:latin typeface="Consolas" panose="020B0609020204030204" pitchFamily="49" charset="0"/>
            </a:endParaRPr>
          </a:p>
          <a:p>
            <a:pPr algn="l"/>
            <a:r>
              <a:rPr lang="en-US" sz="2200" b="1" dirty="0">
                <a:solidFill>
                  <a:srgbClr val="800000"/>
                </a:solidFill>
                <a:latin typeface="Consolas" panose="020B0609020204030204" pitchFamily="49" charset="0"/>
              </a:rPr>
              <a:t>FROM</a:t>
            </a:r>
            <a:r>
              <a:rPr lang="en-US" sz="2200" b="1" dirty="0">
                <a:solidFill>
                  <a:srgbClr val="000000"/>
                </a:solidFill>
                <a:latin typeface="Consolas" panose="020B0609020204030204" pitchFamily="49" charset="0"/>
              </a:rPr>
              <a:t> employee</a:t>
            </a:r>
            <a:r>
              <a:rPr lang="en-US" sz="2200" b="1" dirty="0">
                <a:solidFill>
                  <a:srgbClr val="FF0000"/>
                </a:solidFill>
                <a:latin typeface="Consolas" panose="020B0609020204030204" pitchFamily="49" charset="0"/>
              </a:rPr>
              <a:t>;</a:t>
            </a:r>
            <a:endParaRPr lang="en-US" sz="2200" dirty="0"/>
          </a:p>
        </p:txBody>
      </p:sp>
      <p:sp>
        <p:nvSpPr>
          <p:cNvPr id="18" name="Right Brace 17">
            <a:extLst>
              <a:ext uri="{FF2B5EF4-FFF2-40B4-BE49-F238E27FC236}">
                <a16:creationId xmlns:a16="http://schemas.microsoft.com/office/drawing/2014/main" id="{E03FAD06-0C18-ED93-0D7B-6C95D4A35482}"/>
              </a:ext>
            </a:extLst>
          </p:cNvPr>
          <p:cNvSpPr/>
          <p:nvPr/>
        </p:nvSpPr>
        <p:spPr bwMode="auto">
          <a:xfrm>
            <a:off x="5791200" y="1857553"/>
            <a:ext cx="258974" cy="1143000"/>
          </a:xfrm>
          <a:prstGeom prst="rightBrace">
            <a:avLst/>
          </a:prstGeom>
          <a:noFill/>
          <a:ln w="12700" cap="flat" cmpd="sng" algn="ctr">
            <a:solidFill>
              <a:srgbClr val="FF99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sp>
        <p:nvSpPr>
          <p:cNvPr id="19" name="TextBox 18">
            <a:extLst>
              <a:ext uri="{FF2B5EF4-FFF2-40B4-BE49-F238E27FC236}">
                <a16:creationId xmlns:a16="http://schemas.microsoft.com/office/drawing/2014/main" id="{874B8CCF-9B80-1220-B430-14A6DA118A24}"/>
              </a:ext>
            </a:extLst>
          </p:cNvPr>
          <p:cNvSpPr txBox="1"/>
          <p:nvPr/>
        </p:nvSpPr>
        <p:spPr>
          <a:xfrm>
            <a:off x="5887825" y="1981200"/>
            <a:ext cx="800219" cy="923330"/>
          </a:xfrm>
          <a:prstGeom prst="rect">
            <a:avLst/>
          </a:prstGeom>
          <a:noFill/>
        </p:spPr>
        <p:txBody>
          <a:bodyPr wrap="none" rtlCol="0">
            <a:spAutoFit/>
          </a:bodyPr>
          <a:lstStyle/>
          <a:p>
            <a:r>
              <a:rPr lang="en-US" dirty="0"/>
              <a:t>avg</a:t>
            </a:r>
          </a:p>
          <a:p>
            <a:r>
              <a:rPr lang="en-US" dirty="0"/>
              <a:t>dept</a:t>
            </a:r>
          </a:p>
          <a:p>
            <a:r>
              <a:rPr lang="en-US" dirty="0"/>
              <a:t>salary</a:t>
            </a:r>
          </a:p>
        </p:txBody>
      </p:sp>
      <p:sp>
        <p:nvSpPr>
          <p:cNvPr id="20" name="Freeform: Shape 19">
            <a:extLst>
              <a:ext uri="{FF2B5EF4-FFF2-40B4-BE49-F238E27FC236}">
                <a16:creationId xmlns:a16="http://schemas.microsoft.com/office/drawing/2014/main" id="{F03F60A7-AE52-2208-9FAD-328813F83F19}"/>
              </a:ext>
            </a:extLst>
          </p:cNvPr>
          <p:cNvSpPr/>
          <p:nvPr/>
        </p:nvSpPr>
        <p:spPr bwMode="auto">
          <a:xfrm>
            <a:off x="6449518" y="2042410"/>
            <a:ext cx="4879298" cy="281065"/>
          </a:xfrm>
          <a:custGeom>
            <a:avLst/>
            <a:gdLst>
              <a:gd name="connsiteX0" fmla="*/ 0 w 4879298"/>
              <a:gd name="connsiteY0" fmla="*/ 281065 h 281065"/>
              <a:gd name="connsiteX1" fmla="*/ 4879298 w 4879298"/>
              <a:gd name="connsiteY1" fmla="*/ 0 h 281065"/>
              <a:gd name="connsiteX2" fmla="*/ 4879298 w 4879298"/>
              <a:gd name="connsiteY2" fmla="*/ 0 h 281065"/>
              <a:gd name="connsiteX3" fmla="*/ 4879298 w 4879298"/>
              <a:gd name="connsiteY3" fmla="*/ 0 h 281065"/>
            </a:gdLst>
            <a:ahLst/>
            <a:cxnLst>
              <a:cxn ang="0">
                <a:pos x="connsiteX0" y="connsiteY0"/>
              </a:cxn>
              <a:cxn ang="0">
                <a:pos x="connsiteX1" y="connsiteY1"/>
              </a:cxn>
              <a:cxn ang="0">
                <a:pos x="connsiteX2" y="connsiteY2"/>
              </a:cxn>
              <a:cxn ang="0">
                <a:pos x="connsiteX3" y="connsiteY3"/>
              </a:cxn>
            </a:cxnLst>
            <a:rect l="l" t="t" r="r" b="b"/>
            <a:pathLst>
              <a:path w="4879298" h="281065">
                <a:moveTo>
                  <a:pt x="0" y="281065"/>
                </a:moveTo>
                <a:lnTo>
                  <a:pt x="4879298" y="0"/>
                </a:lnTo>
                <a:lnTo>
                  <a:pt x="4879298" y="0"/>
                </a:lnTo>
                <a:lnTo>
                  <a:pt x="4879298" y="0"/>
                </a:lnTo>
              </a:path>
            </a:pathLst>
          </a:custGeom>
          <a:noFill/>
          <a:ln w="19050" cap="flat" cmpd="sng" algn="ctr">
            <a:solidFill>
              <a:srgbClr val="00B050"/>
            </a:solidFill>
            <a:prstDash val="solid"/>
            <a:round/>
            <a:headEnd type="none" w="med" len="med"/>
            <a:tailEnd type="stealth"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cxnSp>
        <p:nvCxnSpPr>
          <p:cNvPr id="22" name="Straight Arrow Connector 21">
            <a:extLst>
              <a:ext uri="{FF2B5EF4-FFF2-40B4-BE49-F238E27FC236}">
                <a16:creationId xmlns:a16="http://schemas.microsoft.com/office/drawing/2014/main" id="{5FA82165-E8D5-CAD2-34ED-8284C9451FC5}"/>
              </a:ext>
            </a:extLst>
          </p:cNvPr>
          <p:cNvCxnSpPr/>
          <p:nvPr/>
        </p:nvCxnSpPr>
        <p:spPr bwMode="auto">
          <a:xfrm>
            <a:off x="5791200" y="1981200"/>
            <a:ext cx="990600" cy="0"/>
          </a:xfrm>
          <a:prstGeom prst="straightConnector1">
            <a:avLst/>
          </a:prstGeom>
          <a:noFill/>
          <a:ln w="19050" cap="flat" cmpd="sng" algn="ctr">
            <a:solidFill>
              <a:srgbClr val="00B050"/>
            </a:solidFill>
            <a:prstDash val="solid"/>
            <a:round/>
            <a:headEnd type="none" w="med" len="med"/>
            <a:tailEnd type="triangle"/>
          </a:ln>
          <a:effectLst/>
        </p:spPr>
      </p:cxnSp>
      <p:sp>
        <p:nvSpPr>
          <p:cNvPr id="23" name="TextBox 22">
            <a:extLst>
              <a:ext uri="{FF2B5EF4-FFF2-40B4-BE49-F238E27FC236}">
                <a16:creationId xmlns:a16="http://schemas.microsoft.com/office/drawing/2014/main" id="{D6265683-3619-C32C-663F-AC89A1BDFC02}"/>
              </a:ext>
            </a:extLst>
          </p:cNvPr>
          <p:cNvSpPr txBox="1"/>
          <p:nvPr/>
        </p:nvSpPr>
        <p:spPr>
          <a:xfrm rot="10800000">
            <a:off x="673579" y="1871365"/>
            <a:ext cx="461665" cy="1143000"/>
          </a:xfrm>
          <a:prstGeom prst="rect">
            <a:avLst/>
          </a:prstGeom>
          <a:solidFill>
            <a:srgbClr val="92D050">
              <a:alpha val="91000"/>
            </a:srgbClr>
          </a:solidFill>
        </p:spPr>
        <p:txBody>
          <a:bodyPr vert="eaVert" wrap="square" rtlCol="0">
            <a:spAutoFit/>
          </a:bodyPr>
          <a:lstStyle/>
          <a:p>
            <a:pPr algn="ctr"/>
            <a:r>
              <a:rPr lang="en-US" dirty="0"/>
              <a:t>partition</a:t>
            </a:r>
          </a:p>
        </p:txBody>
      </p:sp>
    </p:spTree>
    <p:extLst>
      <p:ext uri="{BB962C8B-B14F-4D97-AF65-F5344CB8AC3E}">
        <p14:creationId xmlns:p14="http://schemas.microsoft.com/office/powerpoint/2010/main" val="1959411987"/>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Grouping versus OVER</a:t>
            </a:r>
          </a:p>
        </p:txBody>
      </p:sp>
      <p:sp>
        <p:nvSpPr>
          <p:cNvPr id="3" name="Content Placeholder 2"/>
          <p:cNvSpPr>
            <a:spLocks noGrp="1"/>
          </p:cNvSpPr>
          <p:nvPr>
            <p:ph idx="1"/>
          </p:nvPr>
        </p:nvSpPr>
        <p:spPr/>
        <p:txBody>
          <a:bodyPr/>
          <a:lstStyle/>
          <a:p>
            <a:r>
              <a:rPr lang="en-US" dirty="0"/>
              <a:t>Grouping (BY) returns </a:t>
            </a:r>
            <a:r>
              <a:rPr lang="en-US" dirty="0">
                <a:solidFill>
                  <a:schemeClr val="accent6"/>
                </a:solidFill>
              </a:rPr>
              <a:t>one</a:t>
            </a:r>
            <a:r>
              <a:rPr lang="en-US" dirty="0"/>
              <a:t> result </a:t>
            </a:r>
            <a:r>
              <a:rPr lang="en-US" dirty="0">
                <a:solidFill>
                  <a:schemeClr val="accent6"/>
                </a:solidFill>
              </a:rPr>
              <a:t>per partition </a:t>
            </a:r>
            <a:r>
              <a:rPr lang="en-US" dirty="0"/>
              <a:t>(e.g., </a:t>
            </a:r>
            <a:r>
              <a:rPr lang="en-US" dirty="0" err="1"/>
              <a:t>workdept</a:t>
            </a:r>
            <a:r>
              <a:rPr lang="en-US" dirty="0"/>
              <a:t>)</a:t>
            </a:r>
          </a:p>
          <a:p>
            <a:pPr lvl="1"/>
            <a:r>
              <a:rPr lang="en-US" dirty="0"/>
              <a:t>Partition can only be based on an existing attribute</a:t>
            </a:r>
          </a:p>
          <a:p>
            <a:pPr lvl="1"/>
            <a:r>
              <a:rPr lang="en-US" dirty="0"/>
              <a:t>Result is aggregation for </a:t>
            </a:r>
            <a:r>
              <a:rPr lang="en-US" b="1" dirty="0"/>
              <a:t>each partition </a:t>
            </a:r>
            <a:r>
              <a:rPr lang="en-US" dirty="0"/>
              <a:t>(or grouped columns(s))</a:t>
            </a:r>
          </a:p>
          <a:p>
            <a:pPr lvl="1"/>
            <a:r>
              <a:rPr lang="en-US" b="1" dirty="0">
                <a:solidFill>
                  <a:srgbClr val="C00000"/>
                </a:solidFill>
              </a:rPr>
              <a:t>One result by partition/group</a:t>
            </a:r>
          </a:p>
          <a:p>
            <a:pPr marL="457200" lvl="1" indent="0">
              <a:buNone/>
            </a:pPr>
            <a:endParaRPr lang="en-US" dirty="0">
              <a:solidFill>
                <a:srgbClr val="C00000"/>
              </a:solidFill>
            </a:endParaRPr>
          </a:p>
          <a:p>
            <a:r>
              <a:rPr lang="en-US" dirty="0"/>
              <a:t>OVER provides additional ranking and aggregation for each partition or window, and  combines such information for </a:t>
            </a:r>
            <a:r>
              <a:rPr lang="en-US" b="1" dirty="0"/>
              <a:t>each tuple </a:t>
            </a:r>
            <a:r>
              <a:rPr lang="en-US" dirty="0"/>
              <a:t>(e.g., employee)</a:t>
            </a:r>
          </a:p>
          <a:p>
            <a:pPr lvl="1"/>
            <a:r>
              <a:rPr lang="en-US" b="1" dirty="0">
                <a:solidFill>
                  <a:srgbClr val="C00000"/>
                </a:solidFill>
              </a:rPr>
              <a:t>One result per record</a:t>
            </a:r>
          </a:p>
          <a:p>
            <a:pPr lvl="1"/>
            <a:r>
              <a:rPr lang="en-US" dirty="0"/>
              <a:t>Partition could be not only attribute values, but also windows </a:t>
            </a:r>
          </a:p>
          <a:p>
            <a:pPr lvl="1"/>
            <a:r>
              <a:rPr lang="en-US" dirty="0"/>
              <a:t>Beyond aggregation </a:t>
            </a:r>
          </a:p>
        </p:txBody>
      </p:sp>
      <p:sp>
        <p:nvSpPr>
          <p:cNvPr id="4" name="TextBox 3">
            <a:extLst>
              <a:ext uri="{FF2B5EF4-FFF2-40B4-BE49-F238E27FC236}">
                <a16:creationId xmlns:a16="http://schemas.microsoft.com/office/drawing/2014/main" id="{8E9E027F-CE7E-D5E1-9340-9AB620785157}"/>
              </a:ext>
            </a:extLst>
          </p:cNvPr>
          <p:cNvSpPr txBox="1">
            <a:spLocks noChangeArrowheads="1"/>
          </p:cNvSpPr>
          <p:nvPr/>
        </p:nvSpPr>
        <p:spPr bwMode="auto">
          <a:xfrm>
            <a:off x="76200" y="6430064"/>
            <a:ext cx="1012585"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Ranking</a:t>
            </a:r>
          </a:p>
        </p:txBody>
      </p:sp>
    </p:spTree>
    <p:extLst>
      <p:ext uri="{BB962C8B-B14F-4D97-AF65-F5344CB8AC3E}">
        <p14:creationId xmlns:p14="http://schemas.microsoft.com/office/powerpoint/2010/main" val="2448989944"/>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E8C43-BA39-AFB3-7D53-2D1EFF5E75C5}"/>
              </a:ext>
            </a:extLst>
          </p:cNvPr>
          <p:cNvSpPr>
            <a:spLocks noGrp="1"/>
          </p:cNvSpPr>
          <p:nvPr>
            <p:ph type="title"/>
          </p:nvPr>
        </p:nvSpPr>
        <p:spPr/>
        <p:txBody>
          <a:bodyPr/>
          <a:lstStyle/>
          <a:p>
            <a:r>
              <a:rPr lang="en-US" dirty="0"/>
              <a:t>OVER vs GROUP BY</a:t>
            </a:r>
          </a:p>
        </p:txBody>
      </p:sp>
      <p:sp>
        <p:nvSpPr>
          <p:cNvPr id="3" name="Content Placeholder 2">
            <a:extLst>
              <a:ext uri="{FF2B5EF4-FFF2-40B4-BE49-F238E27FC236}">
                <a16:creationId xmlns:a16="http://schemas.microsoft.com/office/drawing/2014/main" id="{20A7F570-14F0-21EE-E80E-663517812E08}"/>
              </a:ext>
            </a:extLst>
          </p:cNvPr>
          <p:cNvSpPr>
            <a:spLocks noGrp="1"/>
          </p:cNvSpPr>
          <p:nvPr>
            <p:ph idx="1"/>
          </p:nvPr>
        </p:nvSpPr>
        <p:spPr/>
        <p:txBody>
          <a:bodyPr/>
          <a:lstStyle/>
          <a:p>
            <a:r>
              <a:rPr lang="en-US" dirty="0"/>
              <a:t>What does this query do?</a:t>
            </a:r>
          </a:p>
        </p:txBody>
      </p:sp>
      <p:sp>
        <p:nvSpPr>
          <p:cNvPr id="4" name="TextBox 3">
            <a:extLst>
              <a:ext uri="{FF2B5EF4-FFF2-40B4-BE49-F238E27FC236}">
                <a16:creationId xmlns:a16="http://schemas.microsoft.com/office/drawing/2014/main" id="{B7413766-1679-C7D9-18B4-F5B89CAACF3B}"/>
              </a:ext>
            </a:extLst>
          </p:cNvPr>
          <p:cNvSpPr txBox="1"/>
          <p:nvPr/>
        </p:nvSpPr>
        <p:spPr>
          <a:xfrm>
            <a:off x="101601" y="1828800"/>
            <a:ext cx="6451599" cy="1569660"/>
          </a:xfrm>
          <a:prstGeom prst="rect">
            <a:avLst/>
          </a:prstGeom>
          <a:noFill/>
          <a:ln w="12700">
            <a:solidFill>
              <a:srgbClr val="000000"/>
            </a:solidFill>
          </a:ln>
        </p:spPr>
        <p:txBody>
          <a:bodyPr wrap="square">
            <a:spAutoFit/>
          </a:bodyPr>
          <a:lstStyle/>
          <a:p>
            <a:pPr algn="l"/>
            <a:r>
              <a:rPr lang="en-US" sz="2400" b="1" dirty="0">
                <a:solidFill>
                  <a:srgbClr val="800000"/>
                </a:solidFill>
                <a:latin typeface="Consolas" panose="020B0609020204030204" pitchFamily="49" charset="0"/>
              </a:rPr>
              <a:t>SELECT</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firstnme</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lastname</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workdept</a:t>
            </a:r>
            <a:r>
              <a:rPr lang="en-US" sz="2400" b="1" dirty="0">
                <a:solidFill>
                  <a:srgbClr val="000000"/>
                </a:solidFill>
                <a:latin typeface="Consolas" panose="020B0609020204030204" pitchFamily="49" charset="0"/>
              </a:rPr>
              <a:t>,  </a:t>
            </a:r>
          </a:p>
          <a:p>
            <a:pPr algn="l"/>
            <a:r>
              <a:rPr lang="en-US" sz="2400" dirty="0">
                <a:solidFill>
                  <a:srgbClr val="000000"/>
                </a:solidFill>
                <a:latin typeface="Consolas" panose="020B0609020204030204" pitchFamily="49" charset="0"/>
              </a:rPr>
              <a:t>       </a:t>
            </a:r>
            <a:r>
              <a:rPr lang="en-US" sz="2400" b="1" dirty="0">
                <a:solidFill>
                  <a:srgbClr val="000080"/>
                </a:solidFill>
                <a:latin typeface="Consolas" panose="020B0609020204030204" pitchFamily="49" charset="0"/>
              </a:rPr>
              <a:t>AVG</a:t>
            </a:r>
            <a:r>
              <a:rPr lang="en-US" sz="2400" b="1" dirty="0">
                <a:solidFill>
                  <a:srgbClr val="000000"/>
                </a:solidFill>
                <a:latin typeface="Consolas" panose="020B0609020204030204" pitchFamily="49" charset="0"/>
              </a:rPr>
              <a:t>(salary) </a:t>
            </a:r>
            <a:r>
              <a:rPr lang="en-US" sz="2400" b="1" dirty="0">
                <a:solidFill>
                  <a:srgbClr val="800000"/>
                </a:solidFill>
                <a:latin typeface="Consolas" panose="020B0609020204030204" pitchFamily="49" charset="0"/>
              </a:rPr>
              <a:t>OVER</a:t>
            </a:r>
            <a:r>
              <a:rPr lang="en-US" sz="2400" b="1" dirty="0">
                <a:solidFill>
                  <a:srgbClr val="000000"/>
                </a:solidFill>
                <a:latin typeface="Consolas" panose="020B0609020204030204" pitchFamily="49" charset="0"/>
              </a:rPr>
              <a:t> () </a:t>
            </a:r>
            <a:r>
              <a:rPr lang="en-US" sz="2400" b="1" dirty="0">
                <a:solidFill>
                  <a:srgbClr val="800000"/>
                </a:solidFill>
                <a:latin typeface="Consolas" panose="020B0609020204030204" pitchFamily="49" charset="0"/>
              </a:rPr>
              <a:t>AS</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AvgSalary</a:t>
            </a:r>
            <a:endParaRPr lang="en-US" sz="2400" b="1" dirty="0">
              <a:solidFill>
                <a:srgbClr val="000000"/>
              </a:solidFill>
              <a:latin typeface="Consolas" panose="020B0609020204030204" pitchFamily="49" charset="0"/>
            </a:endParaRPr>
          </a:p>
          <a:p>
            <a:pPr algn="l"/>
            <a:r>
              <a:rPr lang="en-US" sz="2400" b="1" dirty="0">
                <a:solidFill>
                  <a:srgbClr val="800000"/>
                </a:solidFill>
                <a:latin typeface="Consolas" panose="020B0609020204030204" pitchFamily="49" charset="0"/>
              </a:rPr>
              <a:t>FROM</a:t>
            </a:r>
            <a:r>
              <a:rPr lang="en-US" sz="2400" b="1" dirty="0">
                <a:solidFill>
                  <a:srgbClr val="000000"/>
                </a:solidFill>
                <a:latin typeface="Consolas" panose="020B0609020204030204" pitchFamily="49" charset="0"/>
              </a:rPr>
              <a:t> employee</a:t>
            </a:r>
            <a:r>
              <a:rPr lang="en-US" sz="2400" b="1" dirty="0">
                <a:solidFill>
                  <a:srgbClr val="FF0000"/>
                </a:solidFill>
                <a:latin typeface="Consolas" panose="020B0609020204030204" pitchFamily="49" charset="0"/>
              </a:rPr>
              <a:t>;</a:t>
            </a:r>
            <a:endParaRPr lang="en-US" sz="2800" dirty="0"/>
          </a:p>
        </p:txBody>
      </p:sp>
      <p:pic>
        <p:nvPicPr>
          <p:cNvPr id="6" name="Picture 5">
            <a:extLst>
              <a:ext uri="{FF2B5EF4-FFF2-40B4-BE49-F238E27FC236}">
                <a16:creationId xmlns:a16="http://schemas.microsoft.com/office/drawing/2014/main" id="{D53021E0-3044-E4BD-D8A5-FF98F2E95DD1}"/>
              </a:ext>
            </a:extLst>
          </p:cNvPr>
          <p:cNvPicPr>
            <a:picLocks noChangeAspect="1"/>
          </p:cNvPicPr>
          <p:nvPr/>
        </p:nvPicPr>
        <p:blipFill>
          <a:blip r:embed="rId2"/>
          <a:stretch>
            <a:fillRect/>
          </a:stretch>
        </p:blipFill>
        <p:spPr>
          <a:xfrm>
            <a:off x="6781800" y="1181100"/>
            <a:ext cx="5058849" cy="4495800"/>
          </a:xfrm>
          <a:prstGeom prst="rect">
            <a:avLst/>
          </a:prstGeom>
          <a:noFill/>
          <a:ln w="12700">
            <a:solidFill>
              <a:srgbClr val="000000"/>
            </a:solidFill>
          </a:ln>
        </p:spPr>
      </p:pic>
    </p:spTree>
    <p:extLst>
      <p:ext uri="{BB962C8B-B14F-4D97-AF65-F5344CB8AC3E}">
        <p14:creationId xmlns:p14="http://schemas.microsoft.com/office/powerpoint/2010/main" val="17672709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250" fill="hold"/>
                                        <p:tgtEl>
                                          <p:spTgt spid="6"/>
                                        </p:tgtEl>
                                        <p:attrNameLst>
                                          <p:attrName>ppt_x</p:attrName>
                                        </p:attrNameLst>
                                      </p:cBhvr>
                                      <p:tavLst>
                                        <p:tav tm="0">
                                          <p:val>
                                            <p:strVal val="#ppt_x"/>
                                          </p:val>
                                        </p:tav>
                                        <p:tav tm="100000">
                                          <p:val>
                                            <p:strVal val="#ppt_x"/>
                                          </p:val>
                                        </p:tav>
                                      </p:tavLst>
                                    </p:anim>
                                    <p:anim calcmode="lin" valueType="num">
                                      <p:cBhvr additive="base">
                                        <p:cTn id="8" dur="25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1235D-AB8B-8EEB-1B72-9352E264E3B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B65D68-4A59-DD77-C569-6783B25DC93D}"/>
              </a:ext>
            </a:extLst>
          </p:cNvPr>
          <p:cNvSpPr>
            <a:spLocks noGrp="1"/>
          </p:cNvSpPr>
          <p:nvPr>
            <p:ph idx="1"/>
          </p:nvPr>
        </p:nvSpPr>
        <p:spPr/>
        <p:txBody>
          <a:bodyPr/>
          <a:lstStyle/>
          <a:p>
            <a:r>
              <a:rPr lang="en-US" dirty="0"/>
              <a:t>Ranking Queries</a:t>
            </a:r>
          </a:p>
        </p:txBody>
      </p:sp>
    </p:spTree>
    <p:extLst>
      <p:ext uri="{BB962C8B-B14F-4D97-AF65-F5344CB8AC3E}">
        <p14:creationId xmlns:p14="http://schemas.microsoft.com/office/powerpoint/2010/main" val="1384700286"/>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Ranking</a:t>
            </a:r>
          </a:p>
        </p:txBody>
      </p:sp>
      <p:sp>
        <p:nvSpPr>
          <p:cNvPr id="3" name="Content Placeholder 2"/>
          <p:cNvSpPr>
            <a:spLocks noGrp="1"/>
          </p:cNvSpPr>
          <p:nvPr>
            <p:ph idx="1"/>
          </p:nvPr>
        </p:nvSpPr>
        <p:spPr/>
        <p:txBody>
          <a:bodyPr/>
          <a:lstStyle/>
          <a:p>
            <a:pPr>
              <a:spcAft>
                <a:spcPts val="600"/>
              </a:spcAft>
            </a:pPr>
            <a:r>
              <a:rPr lang="en-US" dirty="0"/>
              <a:t>The </a:t>
            </a:r>
            <a:r>
              <a:rPr lang="en-US" dirty="0">
                <a:solidFill>
                  <a:schemeClr val="accent6"/>
                </a:solidFill>
              </a:rPr>
              <a:t>RANK</a:t>
            </a:r>
            <a:r>
              <a:rPr lang="en-US" dirty="0"/>
              <a:t> and </a:t>
            </a:r>
            <a:r>
              <a:rPr lang="en-US" dirty="0">
                <a:solidFill>
                  <a:schemeClr val="accent6"/>
                </a:solidFill>
              </a:rPr>
              <a:t>DENSE_RANK </a:t>
            </a:r>
            <a:r>
              <a:rPr lang="en-US" dirty="0"/>
              <a:t>functions enable one to rank the rows returned by a query, the result is of type BIGINT</a:t>
            </a:r>
          </a:p>
          <a:p>
            <a:pPr>
              <a:spcAft>
                <a:spcPts val="600"/>
              </a:spcAft>
            </a:pPr>
            <a:r>
              <a:rPr lang="en-US" dirty="0">
                <a:solidFill>
                  <a:schemeClr val="accent6"/>
                </a:solidFill>
              </a:rPr>
              <a:t>ORDER BY </a:t>
            </a:r>
            <a:r>
              <a:rPr lang="en-US" dirty="0"/>
              <a:t>CLAUSE over ranking value is required</a:t>
            </a:r>
          </a:p>
          <a:p>
            <a:pPr>
              <a:spcAft>
                <a:spcPts val="600"/>
              </a:spcAft>
            </a:pPr>
            <a:r>
              <a:rPr lang="en-US" dirty="0"/>
              <a:t>For RANK, if multiple rows have </a:t>
            </a:r>
            <a:r>
              <a:rPr lang="en-US" dirty="0">
                <a:solidFill>
                  <a:schemeClr val="accent6"/>
                </a:solidFill>
              </a:rPr>
              <a:t>equal values </a:t>
            </a:r>
            <a:r>
              <a:rPr lang="en-US" dirty="0"/>
              <a:t>(e.g., 200, 200, 100), they all get </a:t>
            </a:r>
            <a:r>
              <a:rPr lang="en-US" dirty="0">
                <a:solidFill>
                  <a:schemeClr val="accent6"/>
                </a:solidFill>
              </a:rPr>
              <a:t>the same rank </a:t>
            </a:r>
            <a:r>
              <a:rPr lang="en-US" dirty="0"/>
              <a:t>(can be tied, e.g., </a:t>
            </a:r>
            <a:r>
              <a:rPr lang="en-US" dirty="0">
                <a:solidFill>
                  <a:srgbClr val="00B0F0"/>
                </a:solidFill>
              </a:rPr>
              <a:t>1, 1</a:t>
            </a:r>
            <a:r>
              <a:rPr lang="en-US" dirty="0"/>
              <a:t>, 3)</a:t>
            </a:r>
          </a:p>
          <a:p>
            <a:pPr>
              <a:spcAft>
                <a:spcPts val="600"/>
              </a:spcAft>
            </a:pPr>
            <a:r>
              <a:rPr lang="en-US" dirty="0"/>
              <a:t>DENSE_RANK does not leave gaps (e.g., 1, 2, 3)</a:t>
            </a:r>
          </a:p>
          <a:p>
            <a:pPr>
              <a:spcAft>
                <a:spcPts val="600"/>
              </a:spcAft>
            </a:pPr>
            <a:r>
              <a:rPr lang="en-US" dirty="0">
                <a:solidFill>
                  <a:schemeClr val="accent6"/>
                </a:solidFill>
              </a:rPr>
              <a:t>ROW_NUMBER</a:t>
            </a:r>
            <a:r>
              <a:rPr lang="en-US" dirty="0"/>
              <a:t>: computes the sequential row number of the row within the window</a:t>
            </a:r>
          </a:p>
          <a:p>
            <a:pPr>
              <a:spcAft>
                <a:spcPts val="600"/>
              </a:spcAft>
            </a:pPr>
            <a:endParaRPr lang="en-US" dirty="0"/>
          </a:p>
          <a:p>
            <a:pPr>
              <a:spcAft>
                <a:spcPts val="600"/>
              </a:spcAft>
            </a:pPr>
            <a:endParaRPr lang="en-US" dirty="0"/>
          </a:p>
        </p:txBody>
      </p:sp>
      <p:sp>
        <p:nvSpPr>
          <p:cNvPr id="4" name="TextBox 3">
            <a:extLst>
              <a:ext uri="{FF2B5EF4-FFF2-40B4-BE49-F238E27FC236}">
                <a16:creationId xmlns:a16="http://schemas.microsoft.com/office/drawing/2014/main" id="{F27D5C05-9C4B-AC12-0196-D87DED8A07FF}"/>
              </a:ext>
            </a:extLst>
          </p:cNvPr>
          <p:cNvSpPr txBox="1">
            <a:spLocks noChangeArrowheads="1"/>
          </p:cNvSpPr>
          <p:nvPr/>
        </p:nvSpPr>
        <p:spPr bwMode="auto">
          <a:xfrm>
            <a:off x="76200" y="6430064"/>
            <a:ext cx="1012585"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Ranking</a:t>
            </a:r>
          </a:p>
        </p:txBody>
      </p:sp>
    </p:spTree>
    <p:extLst>
      <p:ext uri="{BB962C8B-B14F-4D97-AF65-F5344CB8AC3E}">
        <p14:creationId xmlns:p14="http://schemas.microsoft.com/office/powerpoint/2010/main" val="2973750771"/>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RANK Query</a:t>
            </a:r>
          </a:p>
        </p:txBody>
      </p:sp>
      <p:sp>
        <p:nvSpPr>
          <p:cNvPr id="4" name="Content Placeholder 2">
            <a:extLst>
              <a:ext uri="{FF2B5EF4-FFF2-40B4-BE49-F238E27FC236}">
                <a16:creationId xmlns:a16="http://schemas.microsoft.com/office/drawing/2014/main" id="{B66C006C-D636-88D3-F3D3-A2B9F0300D94}"/>
              </a:ext>
            </a:extLst>
          </p:cNvPr>
          <p:cNvSpPr>
            <a:spLocks noGrp="1"/>
          </p:cNvSpPr>
          <p:nvPr>
            <p:ph idx="1"/>
          </p:nvPr>
        </p:nvSpPr>
        <p:spPr>
          <a:xfrm>
            <a:off x="198226" y="838200"/>
            <a:ext cx="11813228" cy="5316538"/>
          </a:xfrm>
        </p:spPr>
        <p:txBody>
          <a:bodyPr/>
          <a:lstStyle/>
          <a:p>
            <a:pPr marL="0" indent="0">
              <a:buNone/>
            </a:pPr>
            <a:r>
              <a:rPr lang="en-US" dirty="0"/>
              <a:t>Return the rank of employees based on salary</a:t>
            </a:r>
          </a:p>
        </p:txBody>
      </p:sp>
      <p:sp>
        <p:nvSpPr>
          <p:cNvPr id="3" name="TextBox 2">
            <a:extLst>
              <a:ext uri="{FF2B5EF4-FFF2-40B4-BE49-F238E27FC236}">
                <a16:creationId xmlns:a16="http://schemas.microsoft.com/office/drawing/2014/main" id="{CE80E7AE-6A01-EC29-723F-59A28925E8D6}"/>
              </a:ext>
            </a:extLst>
          </p:cNvPr>
          <p:cNvSpPr txBox="1">
            <a:spLocks noChangeArrowheads="1"/>
          </p:cNvSpPr>
          <p:nvPr/>
        </p:nvSpPr>
        <p:spPr bwMode="auto">
          <a:xfrm>
            <a:off x="76200" y="6430064"/>
            <a:ext cx="1012585"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Ranking</a:t>
            </a:r>
          </a:p>
        </p:txBody>
      </p:sp>
      <p:sp>
        <p:nvSpPr>
          <p:cNvPr id="9" name="TextBox 8">
            <a:extLst>
              <a:ext uri="{FF2B5EF4-FFF2-40B4-BE49-F238E27FC236}">
                <a16:creationId xmlns:a16="http://schemas.microsoft.com/office/drawing/2014/main" id="{381E830D-C6F7-BF30-1658-0C3EFE765672}"/>
              </a:ext>
            </a:extLst>
          </p:cNvPr>
          <p:cNvSpPr txBox="1"/>
          <p:nvPr/>
        </p:nvSpPr>
        <p:spPr>
          <a:xfrm>
            <a:off x="762000" y="1311966"/>
            <a:ext cx="10363200" cy="1785104"/>
          </a:xfrm>
          <a:prstGeom prst="rect">
            <a:avLst/>
          </a:prstGeom>
          <a:ln>
            <a:solidFill>
              <a:schemeClr val="bg2"/>
            </a:solidFill>
          </a:ln>
        </p:spPr>
        <p:txBody>
          <a:bodyPr wrap="square">
            <a:spAutoFit/>
          </a:bodyPr>
          <a:lstStyle/>
          <a:p>
            <a:r>
              <a:rPr lang="en-US" sz="2200" b="1" dirty="0">
                <a:solidFill>
                  <a:srgbClr val="800000"/>
                </a:solidFill>
                <a:latin typeface="Consolas" panose="020B0609020204030204" pitchFamily="49" charset="0"/>
              </a:rPr>
              <a:t>SELECT</a:t>
            </a:r>
            <a:r>
              <a:rPr lang="en-US" sz="2200" b="1" dirty="0">
                <a:solidFill>
                  <a:srgbClr val="000000"/>
                </a:solidFill>
                <a:latin typeface="Consolas" panose="020B0609020204030204" pitchFamily="49" charset="0"/>
              </a:rPr>
              <a:t> </a:t>
            </a:r>
            <a:r>
              <a:rPr lang="en-US" sz="2200" dirty="0">
                <a:solidFill>
                  <a:srgbClr val="000000"/>
                </a:solidFill>
                <a:latin typeface="Consolas" panose="020B0609020204030204" pitchFamily="49" charset="0"/>
              </a:rPr>
              <a:t>empno, </a:t>
            </a:r>
            <a:r>
              <a:rPr lang="en-US" sz="2200" dirty="0" err="1">
                <a:solidFill>
                  <a:srgbClr val="000000"/>
                </a:solidFill>
                <a:latin typeface="Consolas" panose="020B0609020204030204" pitchFamily="49" charset="0"/>
              </a:rPr>
              <a:t>lastname</a:t>
            </a:r>
            <a:r>
              <a:rPr lang="en-US" sz="2200"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firstnme</a:t>
            </a:r>
            <a:r>
              <a:rPr lang="en-US" sz="2200" dirty="0">
                <a:solidFill>
                  <a:srgbClr val="000000"/>
                </a:solidFill>
                <a:latin typeface="Consolas" panose="020B0609020204030204" pitchFamily="49" charset="0"/>
              </a:rPr>
              <a:t>, salary,   </a:t>
            </a:r>
          </a:p>
          <a:p>
            <a:r>
              <a:rPr lang="en-US" sz="2200"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RANK</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OVER</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ORDER</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BY</a:t>
            </a:r>
            <a:r>
              <a:rPr lang="en-US" sz="2200" b="1" dirty="0">
                <a:solidFill>
                  <a:srgbClr val="000000"/>
                </a:solidFill>
                <a:latin typeface="Consolas" panose="020B0609020204030204" pitchFamily="49" charset="0"/>
              </a:rPr>
              <a:t> </a:t>
            </a:r>
            <a:r>
              <a:rPr lang="en-US" sz="2200" dirty="0">
                <a:solidFill>
                  <a:srgbClr val="000000"/>
                </a:solidFill>
                <a:latin typeface="Consolas" panose="020B0609020204030204" pitchFamily="49" charset="0"/>
              </a:rPr>
              <a:t>salary</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DESC</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AS</a:t>
            </a:r>
            <a:r>
              <a:rPr lang="en-US" sz="2200" b="1"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sal_rank</a:t>
            </a:r>
            <a:r>
              <a:rPr lang="en-US" sz="2200" dirty="0">
                <a:solidFill>
                  <a:srgbClr val="000000"/>
                </a:solidFill>
                <a:latin typeface="Consolas" panose="020B0609020204030204" pitchFamily="49" charset="0"/>
              </a:rPr>
              <a:t>, </a:t>
            </a:r>
          </a:p>
          <a:p>
            <a:r>
              <a:rPr lang="en-US" sz="2200"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DENSE_RANK</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OVER</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ORDER</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BY</a:t>
            </a:r>
            <a:r>
              <a:rPr lang="en-US" sz="2200" b="1" dirty="0">
                <a:solidFill>
                  <a:srgbClr val="000000"/>
                </a:solidFill>
                <a:latin typeface="Consolas" panose="020B0609020204030204" pitchFamily="49" charset="0"/>
              </a:rPr>
              <a:t> </a:t>
            </a:r>
            <a:r>
              <a:rPr lang="en-US" sz="2200" dirty="0">
                <a:solidFill>
                  <a:srgbClr val="000000"/>
                </a:solidFill>
                <a:latin typeface="Consolas" panose="020B0609020204030204" pitchFamily="49" charset="0"/>
              </a:rPr>
              <a:t>salary</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DESC</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AS</a:t>
            </a:r>
            <a:r>
              <a:rPr lang="en-US" sz="2200" b="1"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dense_sal_rank</a:t>
            </a:r>
            <a:r>
              <a:rPr lang="en-US" sz="2200" dirty="0">
                <a:solidFill>
                  <a:srgbClr val="000000"/>
                </a:solidFill>
                <a:latin typeface="Consolas" panose="020B0609020204030204" pitchFamily="49" charset="0"/>
              </a:rPr>
              <a:t>, </a:t>
            </a:r>
          </a:p>
          <a:p>
            <a:r>
              <a:rPr lang="en-US" sz="2200"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ROW_NUMBER</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OVER</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ORDER</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BY</a:t>
            </a:r>
            <a:r>
              <a:rPr lang="en-US" sz="2200" b="1" dirty="0">
                <a:solidFill>
                  <a:srgbClr val="000000"/>
                </a:solidFill>
                <a:latin typeface="Consolas" panose="020B0609020204030204" pitchFamily="49" charset="0"/>
              </a:rPr>
              <a:t> </a:t>
            </a:r>
            <a:r>
              <a:rPr lang="en-US" sz="2200" dirty="0">
                <a:solidFill>
                  <a:srgbClr val="000000"/>
                </a:solidFill>
                <a:latin typeface="Consolas" panose="020B0609020204030204" pitchFamily="49" charset="0"/>
              </a:rPr>
              <a:t>salary</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DESC</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AS</a:t>
            </a:r>
            <a:r>
              <a:rPr lang="en-US" sz="2200" b="1"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row_num</a:t>
            </a:r>
            <a:endParaRPr lang="en-US" sz="2200" dirty="0">
              <a:solidFill>
                <a:srgbClr val="000000"/>
              </a:solidFill>
              <a:latin typeface="Consolas" panose="020B0609020204030204" pitchFamily="49" charset="0"/>
            </a:endParaRPr>
          </a:p>
          <a:p>
            <a:r>
              <a:rPr lang="en-US" sz="2200" b="1" dirty="0">
                <a:solidFill>
                  <a:srgbClr val="800000"/>
                </a:solidFill>
                <a:latin typeface="Consolas" panose="020B0609020204030204" pitchFamily="49" charset="0"/>
              </a:rPr>
              <a:t>FROM</a:t>
            </a:r>
            <a:r>
              <a:rPr lang="en-US" sz="2200" b="1" dirty="0">
                <a:solidFill>
                  <a:srgbClr val="000000"/>
                </a:solidFill>
                <a:latin typeface="Consolas" panose="020B0609020204030204" pitchFamily="49" charset="0"/>
              </a:rPr>
              <a:t> </a:t>
            </a:r>
            <a:r>
              <a:rPr lang="en-US" sz="2200" dirty="0">
                <a:solidFill>
                  <a:srgbClr val="000000"/>
                </a:solidFill>
                <a:latin typeface="Consolas" panose="020B0609020204030204" pitchFamily="49" charset="0"/>
              </a:rPr>
              <a:t>EMPLOYEE</a:t>
            </a:r>
            <a:r>
              <a:rPr lang="en-US" sz="2200" dirty="0">
                <a:solidFill>
                  <a:srgbClr val="FF0000"/>
                </a:solidFill>
                <a:latin typeface="Consolas" panose="020B0609020204030204" pitchFamily="49" charset="0"/>
              </a:rPr>
              <a:t>;</a:t>
            </a:r>
          </a:p>
        </p:txBody>
      </p:sp>
      <p:sp>
        <p:nvSpPr>
          <p:cNvPr id="6" name="TextBox 5">
            <a:extLst>
              <a:ext uri="{FF2B5EF4-FFF2-40B4-BE49-F238E27FC236}">
                <a16:creationId xmlns:a16="http://schemas.microsoft.com/office/drawing/2014/main" id="{51FC47D8-BE38-6A8E-579E-A97DF784D634}"/>
              </a:ext>
            </a:extLst>
          </p:cNvPr>
          <p:cNvSpPr txBox="1"/>
          <p:nvPr/>
        </p:nvSpPr>
        <p:spPr>
          <a:xfrm>
            <a:off x="1981200" y="6390329"/>
            <a:ext cx="8153400" cy="369332"/>
          </a:xfrm>
          <a:prstGeom prst="rect">
            <a:avLst/>
          </a:prstGeom>
          <a:noFill/>
        </p:spPr>
        <p:txBody>
          <a:bodyPr wrap="square">
            <a:spAutoFit/>
          </a:bodyPr>
          <a:lstStyle/>
          <a:p>
            <a:pPr algn="ctr"/>
            <a:r>
              <a:rPr lang="en-US" sz="1800" dirty="0">
                <a:solidFill>
                  <a:schemeClr val="bg1"/>
                </a:solidFill>
                <a:latin typeface="Verdana" panose="020B0604030504040204" pitchFamily="34" charset="0"/>
                <a:ea typeface="Verdana" panose="020B0604030504040204" pitchFamily="34" charset="0"/>
              </a:rPr>
              <a:t>employee(empno, </a:t>
            </a:r>
            <a:r>
              <a:rPr lang="en-US" sz="1800" dirty="0" err="1">
                <a:solidFill>
                  <a:schemeClr val="bg1"/>
                </a:solidFill>
                <a:latin typeface="Verdana" panose="020B0604030504040204" pitchFamily="34" charset="0"/>
                <a:ea typeface="Verdana" panose="020B0604030504040204" pitchFamily="34" charset="0"/>
              </a:rPr>
              <a:t>lastname</a:t>
            </a:r>
            <a:r>
              <a:rPr lang="en-US" sz="1800" dirty="0">
                <a:solidFill>
                  <a:schemeClr val="bg1"/>
                </a:solidFill>
                <a:latin typeface="Verdana" panose="020B0604030504040204" pitchFamily="34" charset="0"/>
                <a:ea typeface="Verdana" panose="020B0604030504040204" pitchFamily="34" charset="0"/>
              </a:rPr>
              <a:t>, </a:t>
            </a:r>
            <a:r>
              <a:rPr lang="en-US" sz="1800" dirty="0" err="1">
                <a:solidFill>
                  <a:schemeClr val="bg1"/>
                </a:solidFill>
                <a:latin typeface="Verdana" panose="020B0604030504040204" pitchFamily="34" charset="0"/>
                <a:ea typeface="Verdana" panose="020B0604030504040204" pitchFamily="34" charset="0"/>
              </a:rPr>
              <a:t>firstnme</a:t>
            </a:r>
            <a:r>
              <a:rPr lang="en-US" sz="1800" dirty="0">
                <a:solidFill>
                  <a:schemeClr val="bg1"/>
                </a:solidFill>
                <a:latin typeface="Verdana" panose="020B0604030504040204" pitchFamily="34" charset="0"/>
                <a:ea typeface="Verdana" panose="020B0604030504040204" pitchFamily="34" charset="0"/>
              </a:rPr>
              <a:t>, salary, bonus, dept) </a:t>
            </a:r>
          </a:p>
        </p:txBody>
      </p:sp>
      <p:pic>
        <p:nvPicPr>
          <p:cNvPr id="10" name="Picture 9">
            <a:extLst>
              <a:ext uri="{FF2B5EF4-FFF2-40B4-BE49-F238E27FC236}">
                <a16:creationId xmlns:a16="http://schemas.microsoft.com/office/drawing/2014/main" id="{8578EF42-7E22-070A-6D4C-CD17CA305FE7}"/>
              </a:ext>
            </a:extLst>
          </p:cNvPr>
          <p:cNvPicPr>
            <a:picLocks noChangeAspect="1"/>
          </p:cNvPicPr>
          <p:nvPr/>
        </p:nvPicPr>
        <p:blipFill>
          <a:blip r:embed="rId2"/>
          <a:stretch>
            <a:fillRect/>
          </a:stretch>
        </p:blipFill>
        <p:spPr>
          <a:xfrm>
            <a:off x="2790140" y="3216149"/>
            <a:ext cx="6629400" cy="3227167"/>
          </a:xfrm>
          <a:prstGeom prst="rect">
            <a:avLst/>
          </a:prstGeom>
          <a:noFill/>
          <a:ln w="12700">
            <a:solidFill>
              <a:srgbClr val="000000"/>
            </a:solidFill>
          </a:ln>
        </p:spPr>
      </p:pic>
    </p:spTree>
    <p:extLst>
      <p:ext uri="{BB962C8B-B14F-4D97-AF65-F5344CB8AC3E}">
        <p14:creationId xmlns:p14="http://schemas.microsoft.com/office/powerpoint/2010/main" val="4201499953"/>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RANKING with PARITION</a:t>
            </a:r>
          </a:p>
        </p:txBody>
      </p:sp>
      <p:sp>
        <p:nvSpPr>
          <p:cNvPr id="3" name="Content Placeholder 2"/>
          <p:cNvSpPr>
            <a:spLocks noGrp="1"/>
          </p:cNvSpPr>
          <p:nvPr>
            <p:ph idx="1"/>
          </p:nvPr>
        </p:nvSpPr>
        <p:spPr>
          <a:xfrm>
            <a:off x="198226" y="762000"/>
            <a:ext cx="11813228" cy="5486401"/>
          </a:xfrm>
        </p:spPr>
        <p:txBody>
          <a:bodyPr/>
          <a:lstStyle/>
          <a:p>
            <a:r>
              <a:rPr lang="en-US" dirty="0"/>
              <a:t>PARTITION BY clause allows for subdividing the rows into partitions. Similar to GROUP BY except it is </a:t>
            </a:r>
            <a:r>
              <a:rPr lang="en-US" b="1" dirty="0"/>
              <a:t>local</a:t>
            </a:r>
            <a:r>
              <a:rPr lang="en-US" dirty="0"/>
              <a:t> to the window set</a:t>
            </a:r>
          </a:p>
          <a:p>
            <a:r>
              <a:rPr lang="en-US" dirty="0">
                <a:solidFill>
                  <a:schemeClr val="accent6"/>
                </a:solidFill>
              </a:rPr>
              <a:t>Find employees whose salaries ranked top 3 within each department</a:t>
            </a:r>
          </a:p>
        </p:txBody>
      </p:sp>
      <p:sp>
        <p:nvSpPr>
          <p:cNvPr id="4" name="TextBox 3">
            <a:extLst>
              <a:ext uri="{FF2B5EF4-FFF2-40B4-BE49-F238E27FC236}">
                <a16:creationId xmlns:a16="http://schemas.microsoft.com/office/drawing/2014/main" id="{710EC37F-4234-8CED-7FF2-74878D096D64}"/>
              </a:ext>
            </a:extLst>
          </p:cNvPr>
          <p:cNvSpPr txBox="1">
            <a:spLocks noChangeArrowheads="1"/>
          </p:cNvSpPr>
          <p:nvPr/>
        </p:nvSpPr>
        <p:spPr bwMode="auto">
          <a:xfrm>
            <a:off x="76200" y="6430064"/>
            <a:ext cx="1012585"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Ranking</a:t>
            </a:r>
          </a:p>
        </p:txBody>
      </p:sp>
      <p:cxnSp>
        <p:nvCxnSpPr>
          <p:cNvPr id="6" name="Straight Connector 5">
            <a:extLst>
              <a:ext uri="{FF2B5EF4-FFF2-40B4-BE49-F238E27FC236}">
                <a16:creationId xmlns:a16="http://schemas.microsoft.com/office/drawing/2014/main" id="{34342F59-F769-63B8-36E4-7116A60EA4A1}"/>
              </a:ext>
            </a:extLst>
          </p:cNvPr>
          <p:cNvCxnSpPr>
            <a:cxnSpLocks/>
          </p:cNvCxnSpPr>
          <p:nvPr/>
        </p:nvCxnSpPr>
        <p:spPr bwMode="auto">
          <a:xfrm>
            <a:off x="2680858" y="3327499"/>
            <a:ext cx="2895600" cy="0"/>
          </a:xfrm>
          <a:prstGeom prst="line">
            <a:avLst/>
          </a:prstGeom>
          <a:noFill/>
          <a:ln w="25400" cap="flat" cmpd="sng" algn="ctr">
            <a:solidFill>
              <a:srgbClr val="FF9900"/>
            </a:solidFill>
            <a:prstDash val="solid"/>
            <a:round/>
            <a:headEnd type="none" w="med" len="med"/>
            <a:tailEnd type="none" w="med" len="med"/>
          </a:ln>
          <a:effectLst/>
        </p:spPr>
      </p:cxnSp>
      <p:sp>
        <p:nvSpPr>
          <p:cNvPr id="7" name="TextBox 6">
            <a:extLst>
              <a:ext uri="{FF2B5EF4-FFF2-40B4-BE49-F238E27FC236}">
                <a16:creationId xmlns:a16="http://schemas.microsoft.com/office/drawing/2014/main" id="{69AB603B-A15A-1579-C7B3-61F0AA40EF11}"/>
              </a:ext>
            </a:extLst>
          </p:cNvPr>
          <p:cNvSpPr txBox="1"/>
          <p:nvPr/>
        </p:nvSpPr>
        <p:spPr>
          <a:xfrm>
            <a:off x="304800" y="2184499"/>
            <a:ext cx="11576052" cy="2980303"/>
          </a:xfrm>
          <a:prstGeom prst="rect">
            <a:avLst/>
          </a:prstGeom>
          <a:ln>
            <a:solidFill>
              <a:schemeClr val="bg2"/>
            </a:solidFill>
          </a:ln>
        </p:spPr>
        <p:txBody>
          <a:bodyPr wrap="square">
            <a:spAutoFit/>
          </a:bodyPr>
          <a:lstStyle/>
          <a:p>
            <a:pPr algn="l">
              <a:spcBef>
                <a:spcPts val="200"/>
              </a:spcBef>
            </a:pPr>
            <a:r>
              <a:rPr lang="en-US" sz="2200" b="1" dirty="0">
                <a:solidFill>
                  <a:srgbClr val="800000"/>
                </a:solidFill>
                <a:latin typeface="Consolas" panose="020B0609020204030204" pitchFamily="49" charset="0"/>
              </a:rPr>
              <a:t>WITH</a:t>
            </a:r>
            <a:r>
              <a:rPr lang="en-US" sz="2200" b="1"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salary_rank_by_dept</a:t>
            </a:r>
            <a:r>
              <a:rPr lang="en-US" sz="2200"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AS</a:t>
            </a:r>
            <a:r>
              <a:rPr lang="en-US" sz="2200" b="1" dirty="0">
                <a:solidFill>
                  <a:srgbClr val="000000"/>
                </a:solidFill>
                <a:latin typeface="Consolas" panose="020B0609020204030204" pitchFamily="49" charset="0"/>
              </a:rPr>
              <a:t> (</a:t>
            </a:r>
          </a:p>
          <a:p>
            <a:pPr algn="l">
              <a:spcBef>
                <a:spcPts val="200"/>
              </a:spcBef>
            </a:pPr>
            <a:r>
              <a:rPr lang="en-US" sz="2200" b="1" dirty="0">
                <a:solidFill>
                  <a:srgbClr val="800000"/>
                </a:solidFill>
                <a:latin typeface="Consolas" panose="020B0609020204030204" pitchFamily="49" charset="0"/>
              </a:rPr>
              <a:t>SELECT</a:t>
            </a:r>
            <a:r>
              <a:rPr lang="en-US" sz="2200" b="1"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workdept</a:t>
            </a:r>
            <a:r>
              <a:rPr lang="en-US" sz="2200"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lastname</a:t>
            </a:r>
            <a:r>
              <a:rPr lang="en-US" sz="2200"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firstnme</a:t>
            </a:r>
            <a:r>
              <a:rPr lang="en-US" sz="2200" dirty="0">
                <a:solidFill>
                  <a:srgbClr val="000000"/>
                </a:solidFill>
                <a:latin typeface="Consolas" panose="020B0609020204030204" pitchFamily="49" charset="0"/>
              </a:rPr>
              <a:t>, salary,   </a:t>
            </a:r>
          </a:p>
          <a:p>
            <a:pPr algn="l">
              <a:spcBef>
                <a:spcPts val="200"/>
              </a:spcBef>
            </a:pPr>
            <a:r>
              <a:rPr lang="en-US" sz="2200"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RANK</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OVER</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PARTITION</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BY</a:t>
            </a:r>
            <a:r>
              <a:rPr lang="en-US" sz="2200" b="1"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workdept</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ORDER</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BY</a:t>
            </a:r>
            <a:r>
              <a:rPr lang="en-US" sz="2200" b="1" dirty="0">
                <a:solidFill>
                  <a:srgbClr val="000000"/>
                </a:solidFill>
                <a:latin typeface="Consolas" panose="020B0609020204030204" pitchFamily="49" charset="0"/>
              </a:rPr>
              <a:t> salary </a:t>
            </a:r>
            <a:r>
              <a:rPr lang="en-US" sz="2200" b="1" dirty="0">
                <a:solidFill>
                  <a:srgbClr val="800000"/>
                </a:solidFill>
                <a:latin typeface="Consolas" panose="020B0609020204030204" pitchFamily="49" charset="0"/>
              </a:rPr>
              <a:t>DESC</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AS</a:t>
            </a:r>
            <a:r>
              <a:rPr lang="en-US" sz="2200" b="1"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rank_in_dept</a:t>
            </a:r>
            <a:endParaRPr lang="en-US" sz="2200" dirty="0">
              <a:solidFill>
                <a:srgbClr val="000000"/>
              </a:solidFill>
              <a:latin typeface="Consolas" panose="020B0609020204030204" pitchFamily="49" charset="0"/>
            </a:endParaRPr>
          </a:p>
          <a:p>
            <a:pPr algn="l">
              <a:spcBef>
                <a:spcPts val="200"/>
              </a:spcBef>
            </a:pPr>
            <a:r>
              <a:rPr lang="en-US" sz="2200" b="1" dirty="0">
                <a:solidFill>
                  <a:srgbClr val="800000"/>
                </a:solidFill>
                <a:latin typeface="Consolas" panose="020B0609020204030204" pitchFamily="49" charset="0"/>
              </a:rPr>
              <a:t>FROM</a:t>
            </a:r>
            <a:r>
              <a:rPr lang="en-US" sz="2200" b="1" dirty="0">
                <a:solidFill>
                  <a:srgbClr val="000000"/>
                </a:solidFill>
                <a:latin typeface="Consolas" panose="020B0609020204030204" pitchFamily="49" charset="0"/>
              </a:rPr>
              <a:t> </a:t>
            </a:r>
            <a:r>
              <a:rPr lang="en-US" sz="2200" dirty="0">
                <a:solidFill>
                  <a:srgbClr val="000000"/>
                </a:solidFill>
                <a:latin typeface="Consolas" panose="020B0609020204030204" pitchFamily="49" charset="0"/>
              </a:rPr>
              <a:t>employee)</a:t>
            </a:r>
          </a:p>
          <a:p>
            <a:pPr algn="l">
              <a:spcBef>
                <a:spcPts val="200"/>
              </a:spcBef>
            </a:pPr>
            <a:endParaRPr lang="en-US" sz="2000" dirty="0">
              <a:solidFill>
                <a:srgbClr val="000000"/>
              </a:solidFill>
              <a:latin typeface="Consolas" panose="020B0609020204030204" pitchFamily="49" charset="0"/>
            </a:endParaRPr>
          </a:p>
          <a:p>
            <a:pPr algn="l">
              <a:spcBef>
                <a:spcPts val="200"/>
              </a:spcBef>
            </a:pPr>
            <a:r>
              <a:rPr lang="en-US" sz="2200" b="1" dirty="0">
                <a:solidFill>
                  <a:srgbClr val="800000"/>
                </a:solidFill>
                <a:latin typeface="Consolas" panose="020B0609020204030204" pitchFamily="49" charset="0"/>
              </a:rPr>
              <a:t>SELECT</a:t>
            </a:r>
            <a:r>
              <a:rPr lang="en-US" sz="2200" b="1"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workdept</a:t>
            </a:r>
            <a:r>
              <a:rPr lang="en-US" sz="2200"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lastname</a:t>
            </a:r>
            <a:r>
              <a:rPr lang="en-US" sz="2200"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firstnme</a:t>
            </a:r>
            <a:r>
              <a:rPr lang="en-US" sz="2200" dirty="0">
                <a:solidFill>
                  <a:srgbClr val="000000"/>
                </a:solidFill>
                <a:latin typeface="Consolas" panose="020B0609020204030204" pitchFamily="49" charset="0"/>
              </a:rPr>
              <a:t>, salary, </a:t>
            </a:r>
            <a:r>
              <a:rPr lang="en-US" sz="2200" dirty="0" err="1">
                <a:solidFill>
                  <a:srgbClr val="000000"/>
                </a:solidFill>
                <a:latin typeface="Consolas" panose="020B0609020204030204" pitchFamily="49" charset="0"/>
              </a:rPr>
              <a:t>rank_in_dept</a:t>
            </a:r>
            <a:r>
              <a:rPr lang="en-US" sz="2200" dirty="0">
                <a:solidFill>
                  <a:srgbClr val="000000"/>
                </a:solidFill>
                <a:latin typeface="Consolas" panose="020B0609020204030204" pitchFamily="49" charset="0"/>
              </a:rPr>
              <a:t> </a:t>
            </a:r>
          </a:p>
          <a:p>
            <a:pPr algn="l">
              <a:spcBef>
                <a:spcPts val="200"/>
              </a:spcBef>
            </a:pPr>
            <a:r>
              <a:rPr lang="en-US" sz="2200" b="1" dirty="0">
                <a:solidFill>
                  <a:srgbClr val="800000"/>
                </a:solidFill>
                <a:latin typeface="Consolas" panose="020B0609020204030204" pitchFamily="49" charset="0"/>
              </a:rPr>
              <a:t>FROM</a:t>
            </a:r>
            <a:r>
              <a:rPr lang="en-US" sz="2200" b="1"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salary_rank_by_dept</a:t>
            </a:r>
            <a:endParaRPr lang="en-US" sz="2200" dirty="0">
              <a:solidFill>
                <a:srgbClr val="000000"/>
              </a:solidFill>
              <a:latin typeface="Consolas" panose="020B0609020204030204" pitchFamily="49" charset="0"/>
            </a:endParaRPr>
          </a:p>
          <a:p>
            <a:pPr algn="l">
              <a:spcBef>
                <a:spcPts val="200"/>
              </a:spcBef>
            </a:pPr>
            <a:r>
              <a:rPr lang="en-US" sz="2200" b="1" dirty="0">
                <a:solidFill>
                  <a:srgbClr val="800000"/>
                </a:solidFill>
                <a:latin typeface="Consolas" panose="020B0609020204030204" pitchFamily="49" charset="0"/>
              </a:rPr>
              <a:t>WHERE</a:t>
            </a:r>
            <a:r>
              <a:rPr lang="en-US" sz="2200" b="1"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rank_in_dept</a:t>
            </a:r>
            <a:r>
              <a:rPr lang="en-US" sz="2200" dirty="0">
                <a:solidFill>
                  <a:srgbClr val="000000"/>
                </a:solidFill>
                <a:latin typeface="Consolas" panose="020B0609020204030204" pitchFamily="49" charset="0"/>
              </a:rPr>
              <a:t> &lt;=</a:t>
            </a:r>
            <a:r>
              <a:rPr lang="en-US" sz="2200" dirty="0">
                <a:solidFill>
                  <a:srgbClr val="0000FF"/>
                </a:solidFill>
                <a:latin typeface="Consolas" panose="020B0609020204030204" pitchFamily="49" charset="0"/>
              </a:rPr>
              <a:t>3</a:t>
            </a:r>
            <a:r>
              <a:rPr lang="en-US" sz="2200" dirty="0">
                <a:solidFill>
                  <a:srgbClr val="FF0000"/>
                </a:solidFill>
                <a:latin typeface="Consolas" panose="020B0609020204030204" pitchFamily="49" charset="0"/>
              </a:rPr>
              <a:t>;</a:t>
            </a:r>
          </a:p>
        </p:txBody>
      </p:sp>
      <p:pic>
        <p:nvPicPr>
          <p:cNvPr id="11" name="Picture 10">
            <a:extLst>
              <a:ext uri="{FF2B5EF4-FFF2-40B4-BE49-F238E27FC236}">
                <a16:creationId xmlns:a16="http://schemas.microsoft.com/office/drawing/2014/main" id="{9F9C3BAD-CE71-3E00-32C2-F52890B2A0E4}"/>
              </a:ext>
            </a:extLst>
          </p:cNvPr>
          <p:cNvPicPr>
            <a:picLocks noChangeAspect="1"/>
          </p:cNvPicPr>
          <p:nvPr/>
        </p:nvPicPr>
        <p:blipFill>
          <a:blip r:embed="rId2"/>
          <a:stretch>
            <a:fillRect/>
          </a:stretch>
        </p:blipFill>
        <p:spPr>
          <a:xfrm>
            <a:off x="6596962" y="4427611"/>
            <a:ext cx="5414491" cy="2393579"/>
          </a:xfrm>
          <a:prstGeom prst="rect">
            <a:avLst/>
          </a:prstGeom>
          <a:noFill/>
          <a:ln w="12700">
            <a:solidFill>
              <a:srgbClr val="000000"/>
            </a:solidFill>
          </a:ln>
        </p:spPr>
      </p:pic>
    </p:spTree>
    <p:extLst>
      <p:ext uri="{BB962C8B-B14F-4D97-AF65-F5344CB8AC3E}">
        <p14:creationId xmlns:p14="http://schemas.microsoft.com/office/powerpoint/2010/main" val="2461984602"/>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 N Queries</a:t>
            </a:r>
          </a:p>
        </p:txBody>
      </p:sp>
      <p:sp>
        <p:nvSpPr>
          <p:cNvPr id="3" name="Content Placeholder 2"/>
          <p:cNvSpPr>
            <a:spLocks noGrp="1"/>
          </p:cNvSpPr>
          <p:nvPr>
            <p:ph idx="1"/>
          </p:nvPr>
        </p:nvSpPr>
        <p:spPr/>
        <p:txBody>
          <a:bodyPr/>
          <a:lstStyle/>
          <a:p>
            <a:r>
              <a:rPr lang="en-US" dirty="0"/>
              <a:t>Top N queries can be specified using rank queries</a:t>
            </a:r>
          </a:p>
          <a:p>
            <a:r>
              <a:rPr lang="en-US" dirty="0">
                <a:solidFill>
                  <a:schemeClr val="accent2"/>
                </a:solidFill>
              </a:rPr>
              <a:t>Many flavors </a:t>
            </a:r>
            <a:r>
              <a:rPr lang="en-US" dirty="0"/>
              <a:t>to return the first N rows after the result is generated</a:t>
            </a:r>
          </a:p>
          <a:p>
            <a:r>
              <a:rPr lang="en-US" dirty="0"/>
              <a:t>It can’t handle the tie case, and not portable to different database systems.</a:t>
            </a:r>
          </a:p>
          <a:p>
            <a:pPr lvl="1"/>
            <a:r>
              <a:rPr lang="en-US" dirty="0"/>
              <a:t>In case there is no tie, you can use it to return correct results.</a:t>
            </a:r>
          </a:p>
        </p:txBody>
      </p:sp>
      <p:sp>
        <p:nvSpPr>
          <p:cNvPr id="6" name="Rectangle 5">
            <a:extLst>
              <a:ext uri="{FF2B5EF4-FFF2-40B4-BE49-F238E27FC236}">
                <a16:creationId xmlns:a16="http://schemas.microsoft.com/office/drawing/2014/main" id="{335FF6B0-BBAA-4618-B73F-34F0F8B695DB}"/>
              </a:ext>
            </a:extLst>
          </p:cNvPr>
          <p:cNvSpPr/>
          <p:nvPr/>
        </p:nvSpPr>
        <p:spPr>
          <a:xfrm>
            <a:off x="3163025" y="9601200"/>
            <a:ext cx="1204633" cy="4154984"/>
          </a:xfrm>
          <a:prstGeom prst="rect">
            <a:avLst/>
          </a:prstGeom>
        </p:spPr>
        <p:txBody>
          <a:bodyPr wrap="square">
            <a:spAutoFit/>
          </a:bodyPr>
          <a:lstStyle/>
          <a:p>
            <a:r>
              <a:rPr lang="en-US" sz="4400" dirty="0"/>
              <a:t>MySQL: … limit 10;</a:t>
            </a:r>
          </a:p>
        </p:txBody>
      </p:sp>
      <p:sp>
        <p:nvSpPr>
          <p:cNvPr id="7" name="Rectangle 2">
            <a:extLst>
              <a:ext uri="{FF2B5EF4-FFF2-40B4-BE49-F238E27FC236}">
                <a16:creationId xmlns:a16="http://schemas.microsoft.com/office/drawing/2014/main" id="{99DA733D-1A0C-441E-9E0B-AE2D14A697E0}"/>
              </a:ext>
            </a:extLst>
          </p:cNvPr>
          <p:cNvSpPr>
            <a:spLocks noChangeArrowheads="1"/>
          </p:cNvSpPr>
          <p:nvPr/>
        </p:nvSpPr>
        <p:spPr bwMode="auto">
          <a:xfrm>
            <a:off x="1676400" y="3519101"/>
            <a:ext cx="3886200" cy="2392963"/>
          </a:xfrm>
          <a:prstGeom prst="rect">
            <a:avLst/>
          </a:prstGeom>
          <a:solidFill>
            <a:srgbClr val="EFF0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242729"/>
                </a:solidFill>
                <a:cs typeface="Arial" panose="020B0604020202020204" pitchFamily="34" charset="0"/>
              </a:rPr>
              <a:t>MySQL:</a:t>
            </a:r>
            <a:endParaRPr lang="en-US" altLang="en-US" dirty="0">
              <a:solidFill>
                <a:srgbClr val="101094"/>
              </a:solidFill>
              <a:latin typeface="Consolas" panose="020B0609020204030204" pitchFamily="49" charset="0"/>
              <a:ea typeface="inherit"/>
            </a:endParaRPr>
          </a:p>
          <a:p>
            <a:r>
              <a:rPr lang="en-US" altLang="en-US" dirty="0">
                <a:solidFill>
                  <a:srgbClr val="101094"/>
                </a:solidFill>
                <a:latin typeface="Consolas" panose="020B0609020204030204" pitchFamily="49" charset="0"/>
                <a:ea typeface="inherit"/>
              </a:rPr>
              <a:t>SELECT</a:t>
            </a:r>
            <a:r>
              <a:rPr lang="en-US" altLang="en-US" dirty="0">
                <a:solidFill>
                  <a:srgbClr val="303336"/>
                </a:solidFill>
                <a:latin typeface="Consolas" panose="020B0609020204030204" pitchFamily="49" charset="0"/>
                <a:ea typeface="inherit"/>
              </a:rPr>
              <a:t> ... LIMIT </a:t>
            </a:r>
            <a:r>
              <a:rPr lang="en-US" altLang="en-US" dirty="0">
                <a:solidFill>
                  <a:srgbClr val="7D2727"/>
                </a:solidFill>
                <a:latin typeface="Consolas" panose="020B0609020204030204" pitchFamily="49" charset="0"/>
                <a:ea typeface="inherit"/>
              </a:rPr>
              <a:t>10</a:t>
            </a:r>
            <a:endParaRPr lang="en-US" altLang="en-US" dirty="0"/>
          </a:p>
          <a:p>
            <a:endParaRPr lang="en-US" altLang="en-US" dirty="0">
              <a:solidFill>
                <a:srgbClr val="242729"/>
              </a:solidFill>
              <a:cs typeface="Arial" panose="020B0604020202020204" pitchFamily="34" charset="0"/>
            </a:endParaRPr>
          </a:p>
          <a:p>
            <a:r>
              <a:rPr lang="en-US" altLang="en-US" dirty="0">
                <a:solidFill>
                  <a:srgbClr val="242729"/>
                </a:solidFill>
                <a:cs typeface="Arial" panose="020B0604020202020204" pitchFamily="34" charset="0"/>
              </a:rPr>
              <a:t>MS SQL Server:</a:t>
            </a:r>
            <a:endParaRPr lang="en-US" altLang="en-US" dirty="0">
              <a:solidFill>
                <a:srgbClr val="101094"/>
              </a:solidFill>
              <a:latin typeface="Consolas" panose="020B0609020204030204" pitchFamily="49" charset="0"/>
              <a:ea typeface="inherit"/>
            </a:endParaRPr>
          </a:p>
          <a:p>
            <a:r>
              <a:rPr lang="en-US" altLang="en-US" dirty="0">
                <a:solidFill>
                  <a:srgbClr val="101094"/>
                </a:solidFill>
                <a:latin typeface="Consolas" panose="020B0609020204030204" pitchFamily="49" charset="0"/>
                <a:ea typeface="inherit"/>
              </a:rPr>
              <a:t>SELECT</a:t>
            </a:r>
            <a:r>
              <a:rPr lang="en-US" altLang="en-US" dirty="0">
                <a:solidFill>
                  <a:srgbClr val="303336"/>
                </a:solidFill>
                <a:latin typeface="Consolas" panose="020B0609020204030204" pitchFamily="49" charset="0"/>
                <a:ea typeface="inherit"/>
              </a:rPr>
              <a:t> </a:t>
            </a:r>
            <a:r>
              <a:rPr lang="en-US" altLang="en-US" dirty="0">
                <a:solidFill>
                  <a:srgbClr val="101094"/>
                </a:solidFill>
                <a:latin typeface="Consolas" panose="020B0609020204030204" pitchFamily="49" charset="0"/>
                <a:ea typeface="inherit"/>
              </a:rPr>
              <a:t>TOP</a:t>
            </a:r>
            <a:r>
              <a:rPr lang="en-US" altLang="en-US" dirty="0">
                <a:solidFill>
                  <a:srgbClr val="303336"/>
                </a:solidFill>
                <a:latin typeface="Consolas" panose="020B0609020204030204" pitchFamily="49" charset="0"/>
                <a:ea typeface="inherit"/>
              </a:rPr>
              <a:t> </a:t>
            </a:r>
            <a:r>
              <a:rPr lang="en-US" altLang="en-US" dirty="0">
                <a:solidFill>
                  <a:srgbClr val="7D2727"/>
                </a:solidFill>
                <a:latin typeface="Consolas" panose="020B0609020204030204" pitchFamily="49" charset="0"/>
                <a:ea typeface="inherit"/>
              </a:rPr>
              <a:t>10</a:t>
            </a:r>
            <a:r>
              <a:rPr lang="en-US" altLang="en-US" dirty="0">
                <a:solidFill>
                  <a:srgbClr val="303336"/>
                </a:solidFill>
                <a:latin typeface="Consolas" panose="020B0609020204030204" pitchFamily="49" charset="0"/>
                <a:ea typeface="inherit"/>
              </a:rPr>
              <a:t> ...</a:t>
            </a:r>
          </a:p>
          <a:p>
            <a:endParaRPr lang="en-US" altLang="en-US" sz="1100" dirty="0"/>
          </a:p>
          <a:p>
            <a:pPr lvl="0"/>
            <a:endParaRPr lang="en-US" altLang="en-US" sz="1050" dirty="0"/>
          </a:p>
          <a:p>
            <a:r>
              <a:rPr lang="en-US" altLang="en-US" dirty="0">
                <a:solidFill>
                  <a:srgbClr val="242729"/>
                </a:solidFill>
                <a:cs typeface="Arial" panose="020B0604020202020204" pitchFamily="34" charset="0"/>
              </a:rPr>
              <a:t>Sybase:</a:t>
            </a:r>
            <a:endParaRPr lang="en-US" altLang="en-US" dirty="0">
              <a:solidFill>
                <a:srgbClr val="101094"/>
              </a:solidFill>
              <a:latin typeface="Consolas" panose="020B0609020204030204" pitchFamily="49" charset="0"/>
              <a:ea typeface="inherit"/>
            </a:endParaRPr>
          </a:p>
          <a:p>
            <a:r>
              <a:rPr lang="en-US" altLang="en-US" dirty="0">
                <a:solidFill>
                  <a:srgbClr val="101094"/>
                </a:solidFill>
                <a:latin typeface="Consolas" panose="020B0609020204030204" pitchFamily="49" charset="0"/>
                <a:ea typeface="inherit"/>
              </a:rPr>
              <a:t>SET</a:t>
            </a:r>
            <a:r>
              <a:rPr lang="en-US" altLang="en-US" dirty="0">
                <a:solidFill>
                  <a:srgbClr val="303336"/>
                </a:solidFill>
                <a:latin typeface="Consolas" panose="020B0609020204030204" pitchFamily="49" charset="0"/>
                <a:ea typeface="inherit"/>
              </a:rPr>
              <a:t> </a:t>
            </a:r>
            <a:r>
              <a:rPr lang="en-US" altLang="en-US" dirty="0">
                <a:solidFill>
                  <a:srgbClr val="101094"/>
                </a:solidFill>
                <a:latin typeface="Consolas" panose="020B0609020204030204" pitchFamily="49" charset="0"/>
                <a:ea typeface="inherit"/>
              </a:rPr>
              <a:t>ROWCOUNT</a:t>
            </a:r>
            <a:r>
              <a:rPr lang="en-US" altLang="en-US" dirty="0">
                <a:solidFill>
                  <a:srgbClr val="303336"/>
                </a:solidFill>
                <a:latin typeface="Consolas" panose="020B0609020204030204" pitchFamily="49" charset="0"/>
                <a:ea typeface="inherit"/>
              </a:rPr>
              <a:t> </a:t>
            </a:r>
            <a:r>
              <a:rPr lang="en-US" altLang="en-US" dirty="0">
                <a:solidFill>
                  <a:srgbClr val="7D2727"/>
                </a:solidFill>
                <a:latin typeface="Consolas" panose="020B0609020204030204" pitchFamily="49" charset="0"/>
                <a:ea typeface="inherit"/>
              </a:rPr>
              <a:t>10</a:t>
            </a:r>
            <a:r>
              <a:rPr lang="en-US" altLang="en-US" dirty="0">
                <a:solidFill>
                  <a:srgbClr val="303336"/>
                </a:solidFill>
                <a:latin typeface="Consolas" panose="020B0609020204030204" pitchFamily="49" charset="0"/>
                <a:ea typeface="inherit"/>
              </a:rPr>
              <a:t> </a:t>
            </a:r>
            <a:r>
              <a:rPr lang="en-US" altLang="en-US" dirty="0">
                <a:solidFill>
                  <a:srgbClr val="101094"/>
                </a:solidFill>
                <a:latin typeface="Consolas" panose="020B0609020204030204" pitchFamily="49" charset="0"/>
                <a:ea typeface="inherit"/>
              </a:rPr>
              <a:t>SELECT</a:t>
            </a:r>
            <a:r>
              <a:rPr lang="en-US" altLang="en-US" dirty="0">
                <a:solidFill>
                  <a:srgbClr val="303336"/>
                </a:solidFill>
                <a:latin typeface="Consolas" panose="020B0609020204030204" pitchFamily="49" charset="0"/>
                <a:ea typeface="inherit"/>
              </a:rPr>
              <a:t> ...</a:t>
            </a:r>
          </a:p>
          <a:p>
            <a:endParaRPr lang="en-US" altLang="en-US" sz="800" dirty="0"/>
          </a:p>
        </p:txBody>
      </p:sp>
      <p:sp>
        <p:nvSpPr>
          <p:cNvPr id="11" name="Rectangle 10">
            <a:extLst>
              <a:ext uri="{FF2B5EF4-FFF2-40B4-BE49-F238E27FC236}">
                <a16:creationId xmlns:a16="http://schemas.microsoft.com/office/drawing/2014/main" id="{BF1BAAA6-926F-4EFD-84E0-44ACE4B2EB6E}"/>
              </a:ext>
            </a:extLst>
          </p:cNvPr>
          <p:cNvSpPr/>
          <p:nvPr/>
        </p:nvSpPr>
        <p:spPr>
          <a:xfrm>
            <a:off x="6477000" y="3657600"/>
            <a:ext cx="3505200" cy="2308324"/>
          </a:xfrm>
          <a:prstGeom prst="rect">
            <a:avLst/>
          </a:prstGeom>
          <a:solidFill>
            <a:srgbClr val="EFF0F1"/>
          </a:solidFill>
        </p:spPr>
        <p:txBody>
          <a:bodyPr wrap="square">
            <a:spAutoFit/>
          </a:bodyPr>
          <a:lstStyle/>
          <a:p>
            <a:pPr lvl="0" eaLnBrk="0" fontAlgn="base" hangingPunct="0">
              <a:spcBef>
                <a:spcPct val="0"/>
              </a:spcBef>
              <a:spcAft>
                <a:spcPct val="0"/>
              </a:spcAft>
            </a:pPr>
            <a:r>
              <a:rPr lang="en-US" altLang="en-US" dirty="0">
                <a:latin typeface="Arial" panose="020B0604020202020204" pitchFamily="34" charset="0"/>
              </a:rPr>
              <a:t>DB2:</a:t>
            </a:r>
          </a:p>
          <a:p>
            <a:pPr lvl="0"/>
            <a:r>
              <a:rPr lang="en-US" altLang="en-US" dirty="0"/>
              <a:t>FETCH FIRST </a:t>
            </a:r>
            <a:r>
              <a:rPr lang="en-US" altLang="en-US" dirty="0">
                <a:solidFill>
                  <a:srgbClr val="7D2727"/>
                </a:solidFill>
                <a:latin typeface="Consolas" panose="020B0609020204030204" pitchFamily="49" charset="0"/>
                <a:ea typeface="inherit"/>
              </a:rPr>
              <a:t>10</a:t>
            </a:r>
            <a:r>
              <a:rPr lang="en-US" altLang="en-US" dirty="0"/>
              <a:t> ROWS ONLY</a:t>
            </a:r>
          </a:p>
          <a:p>
            <a:pPr lvl="0"/>
            <a:endParaRPr lang="en-US" altLang="en-US" dirty="0"/>
          </a:p>
          <a:p>
            <a:pPr lvl="0"/>
            <a:r>
              <a:rPr lang="en-US" altLang="en-US" dirty="0"/>
              <a:t>Oracle:  </a:t>
            </a:r>
          </a:p>
          <a:p>
            <a:r>
              <a:rPr lang="en-US" altLang="en-US" dirty="0">
                <a:latin typeface="Arial" panose="020B0604020202020204" pitchFamily="34" charset="0"/>
              </a:rPr>
              <a:t>WHERE ROWNUM &lt;= </a:t>
            </a:r>
            <a:r>
              <a:rPr lang="en-US" altLang="en-US" dirty="0">
                <a:solidFill>
                  <a:srgbClr val="7D2727"/>
                </a:solidFill>
                <a:latin typeface="Consolas" panose="020B0609020204030204" pitchFamily="49" charset="0"/>
                <a:ea typeface="inherit"/>
              </a:rPr>
              <a:t>10</a:t>
            </a:r>
            <a:r>
              <a:rPr lang="en-US" altLang="en-US" dirty="0">
                <a:latin typeface="Arial" panose="020B0604020202020204" pitchFamily="34" charset="0"/>
              </a:rPr>
              <a:t> </a:t>
            </a:r>
          </a:p>
          <a:p>
            <a:endParaRPr lang="en-US" altLang="en-US" dirty="0">
              <a:latin typeface="Arial" panose="020B0604020202020204" pitchFamily="34" charset="0"/>
            </a:endParaRPr>
          </a:p>
          <a:p>
            <a:r>
              <a:rPr lang="en-US" altLang="en-US" dirty="0">
                <a:latin typeface="Arial" panose="020B0604020202020204" pitchFamily="34" charset="0"/>
              </a:rPr>
              <a:t>Snowflake: </a:t>
            </a:r>
            <a:r>
              <a:rPr kumimoji="0" lang="en-US" altLang="en-US" sz="1800" b="1" i="0" u="none" strike="noStrike" cap="none" normalizeH="0" baseline="0" dirty="0">
                <a:ln>
                  <a:noFill/>
                </a:ln>
                <a:solidFill>
                  <a:srgbClr val="02A0F9"/>
                </a:solidFill>
                <a:effectLst/>
                <a:latin typeface="Arial Unicode MS"/>
                <a:ea typeface="apercu-mono"/>
              </a:rPr>
              <a:t>select</a:t>
            </a:r>
            <a:r>
              <a:rPr kumimoji="0" lang="en-US" altLang="en-US" sz="1800" b="0" i="0" u="none" strike="noStrike" cap="none" normalizeH="0" baseline="0" dirty="0">
                <a:ln>
                  <a:noFill/>
                </a:ln>
                <a:solidFill>
                  <a:srgbClr val="2C2F34"/>
                </a:solidFill>
                <a:effectLst/>
                <a:latin typeface="Arial Unicode MS"/>
                <a:ea typeface="apercu-mono"/>
              </a:rPr>
              <a:t> </a:t>
            </a:r>
            <a:r>
              <a:rPr kumimoji="0" lang="en-US" altLang="en-US" sz="1800" b="1" i="0" u="none" strike="noStrike" cap="none" normalizeH="0" baseline="0" dirty="0">
                <a:ln>
                  <a:noFill/>
                </a:ln>
                <a:solidFill>
                  <a:srgbClr val="02A0F9"/>
                </a:solidFill>
                <a:effectLst/>
                <a:latin typeface="Arial Unicode MS"/>
                <a:ea typeface="apercu-mono"/>
              </a:rPr>
              <a:t>TOP</a:t>
            </a:r>
            <a:r>
              <a:rPr kumimoji="0" lang="en-US" altLang="en-US" sz="1800" b="0" i="0" u="none" strike="noStrike" cap="none" normalizeH="0" baseline="0" dirty="0">
                <a:ln>
                  <a:noFill/>
                </a:ln>
                <a:solidFill>
                  <a:srgbClr val="2C2F34"/>
                </a:solidFill>
                <a:effectLst/>
                <a:latin typeface="Arial Unicode MS"/>
                <a:ea typeface="apercu-mono"/>
              </a:rPr>
              <a:t> </a:t>
            </a:r>
            <a:r>
              <a:rPr kumimoji="0" lang="en-US" altLang="en-US" sz="1800" b="0" i="0" u="none" strike="noStrike" cap="none" normalizeH="0" baseline="0" dirty="0">
                <a:ln>
                  <a:noFill/>
                </a:ln>
                <a:solidFill>
                  <a:srgbClr val="00A000"/>
                </a:solidFill>
                <a:effectLst/>
                <a:latin typeface="Arial Unicode MS"/>
                <a:ea typeface="apercu-mono"/>
              </a:rPr>
              <a:t>4</a:t>
            </a:r>
            <a:r>
              <a:rPr kumimoji="0" lang="en-US" altLang="en-US" sz="1800" b="0" i="0" u="none" strike="noStrike" cap="none" normalizeH="0" baseline="0" dirty="0">
                <a:ln>
                  <a:noFill/>
                </a:ln>
                <a:solidFill>
                  <a:srgbClr val="2C2F34"/>
                </a:solidFill>
                <a:effectLst/>
                <a:latin typeface="Arial Unicode MS"/>
                <a:ea typeface="apercu-mono"/>
              </a:rPr>
              <a:t> </a:t>
            </a:r>
            <a:r>
              <a:rPr kumimoji="0" lang="en-US" altLang="en-US" sz="1800" b="0" i="0" u="none" strike="noStrike" cap="none" normalizeH="0" baseline="0" dirty="0">
                <a:ln>
                  <a:noFill/>
                </a:ln>
                <a:solidFill>
                  <a:srgbClr val="35AE91"/>
                </a:solidFill>
                <a:effectLst/>
                <a:latin typeface="Arial Unicode MS"/>
                <a:ea typeface="apercu-mono"/>
              </a:rPr>
              <a:t>c1</a:t>
            </a:r>
            <a:r>
              <a:rPr kumimoji="0" lang="en-US" altLang="en-US" sz="1800" b="0" i="0" u="none" strike="noStrike" cap="none" normalizeH="0" baseline="0" dirty="0">
                <a:ln>
                  <a:noFill/>
                </a:ln>
                <a:solidFill>
                  <a:srgbClr val="2C2F34"/>
                </a:solidFill>
                <a:effectLst/>
                <a:latin typeface="Arial Unicode MS"/>
                <a:ea typeface="apercu-mono"/>
              </a:rPr>
              <a:t> </a:t>
            </a:r>
            <a:r>
              <a:rPr kumimoji="0" lang="en-US" altLang="en-US" sz="1800" b="1" i="0" u="none" strike="noStrike" cap="none" normalizeH="0" baseline="0" dirty="0">
                <a:ln>
                  <a:noFill/>
                </a:ln>
                <a:solidFill>
                  <a:srgbClr val="02A0F9"/>
                </a:solidFill>
                <a:effectLst/>
                <a:latin typeface="Arial Unicode MS"/>
                <a:ea typeface="apercu-mono"/>
              </a:rPr>
              <a:t>from</a:t>
            </a:r>
            <a:r>
              <a:rPr kumimoji="0" lang="en-US" altLang="en-US" sz="1800" b="0" i="0" u="none" strike="noStrike" cap="none" normalizeH="0" baseline="0" dirty="0">
                <a:ln>
                  <a:noFill/>
                </a:ln>
                <a:solidFill>
                  <a:srgbClr val="2C2F34"/>
                </a:solidFill>
                <a:effectLst/>
                <a:latin typeface="Arial Unicode MS"/>
                <a:ea typeface="apercu-mono"/>
              </a:rPr>
              <a:t> </a:t>
            </a:r>
            <a:r>
              <a:rPr kumimoji="0" lang="en-US" altLang="en-US" sz="1800" b="0" i="0" u="none" strike="noStrike" cap="none" normalizeH="0" baseline="0" dirty="0" err="1">
                <a:ln>
                  <a:noFill/>
                </a:ln>
                <a:solidFill>
                  <a:srgbClr val="35AE91"/>
                </a:solidFill>
                <a:effectLst/>
                <a:latin typeface="Arial Unicode MS"/>
                <a:ea typeface="apercu-mono"/>
              </a:rPr>
              <a:t>testtable</a:t>
            </a:r>
            <a:r>
              <a:rPr kumimoji="0" lang="en-US" altLang="en-US" sz="1800" b="1" i="0" u="none" strike="noStrike" cap="none" normalizeH="0" baseline="0" dirty="0">
                <a:ln>
                  <a:noFill/>
                </a:ln>
                <a:solidFill>
                  <a:srgbClr val="FF9F36"/>
                </a:solidFill>
                <a:effectLst/>
                <a:latin typeface="Arial Unicode MS"/>
                <a:ea typeface="apercu-mono"/>
              </a:rPr>
              <a:t>;</a:t>
            </a:r>
            <a:r>
              <a:rPr kumimoji="0" lang="en-US" altLang="en-US" sz="1800" b="0" i="0" u="none" strike="noStrike" cap="none" normalizeH="0" baseline="0" dirty="0">
                <a:ln>
                  <a:noFill/>
                </a:ln>
                <a:solidFill>
                  <a:srgbClr val="2C2F34"/>
                </a:solidFill>
                <a:effectLst/>
                <a:latin typeface="Arial Unicode MS"/>
                <a:ea typeface="apercu-mono"/>
              </a:rPr>
              <a:t> </a:t>
            </a:r>
            <a:endParaRPr lang="en-US" altLang="en-US" dirty="0">
              <a:latin typeface="Arial" panose="020B0604020202020204" pitchFamily="34" charset="0"/>
            </a:endParaRPr>
          </a:p>
        </p:txBody>
      </p:sp>
      <p:sp>
        <p:nvSpPr>
          <p:cNvPr id="4" name="TextBox 3">
            <a:extLst>
              <a:ext uri="{FF2B5EF4-FFF2-40B4-BE49-F238E27FC236}">
                <a16:creationId xmlns:a16="http://schemas.microsoft.com/office/drawing/2014/main" id="{C247DA62-27A2-3216-C618-A8D4BA955178}"/>
              </a:ext>
            </a:extLst>
          </p:cNvPr>
          <p:cNvSpPr txBox="1">
            <a:spLocks noChangeArrowheads="1"/>
          </p:cNvSpPr>
          <p:nvPr/>
        </p:nvSpPr>
        <p:spPr bwMode="auto">
          <a:xfrm>
            <a:off x="76200" y="6430064"/>
            <a:ext cx="1012585"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Ranking</a:t>
            </a:r>
          </a:p>
        </p:txBody>
      </p:sp>
      <p:sp>
        <p:nvSpPr>
          <p:cNvPr id="5" name="Rectangle 1">
            <a:extLst>
              <a:ext uri="{FF2B5EF4-FFF2-40B4-BE49-F238E27FC236}">
                <a16:creationId xmlns:a16="http://schemas.microsoft.com/office/drawing/2014/main" id="{2C745B21-C44D-8EAD-2CC5-99356BA5AF80}"/>
              </a:ext>
            </a:extLst>
          </p:cNvPr>
          <p:cNvSpPr>
            <a:spLocks noChangeArrowheads="1"/>
          </p:cNvSpPr>
          <p:nvPr/>
        </p:nvSpPr>
        <p:spPr bwMode="auto">
          <a:xfrm>
            <a:off x="0" y="90100"/>
            <a:ext cx="65" cy="276999"/>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33514246"/>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 with Aggregates</a:t>
            </a:r>
          </a:p>
        </p:txBody>
      </p:sp>
      <p:sp>
        <p:nvSpPr>
          <p:cNvPr id="3" name="Content Placeholder 2"/>
          <p:cNvSpPr>
            <a:spLocks noGrp="1"/>
          </p:cNvSpPr>
          <p:nvPr>
            <p:ph idx="1"/>
          </p:nvPr>
        </p:nvSpPr>
        <p:spPr/>
        <p:txBody>
          <a:bodyPr/>
          <a:lstStyle/>
          <a:p>
            <a:pPr>
              <a:spcBef>
                <a:spcPts val="200"/>
              </a:spcBef>
              <a:spcAft>
                <a:spcPts val="200"/>
              </a:spcAft>
            </a:pPr>
            <a:r>
              <a:rPr lang="en-US" dirty="0"/>
              <a:t>OVER clause can take advantage of aggregate functions (SUM, AVG, CORRELATION, etc) and operates on the range of rows in the window and returns a single aggregate value for the range</a:t>
            </a:r>
          </a:p>
          <a:p>
            <a:pPr>
              <a:spcBef>
                <a:spcPts val="200"/>
              </a:spcBef>
              <a:spcAft>
                <a:spcPts val="200"/>
              </a:spcAft>
            </a:pPr>
            <a:r>
              <a:rPr lang="en-US" dirty="0">
                <a:solidFill>
                  <a:schemeClr val="accent2"/>
                </a:solidFill>
              </a:rPr>
              <a:t>e.g., find the percentage of each employee’s salary to the dept total </a:t>
            </a:r>
          </a:p>
        </p:txBody>
      </p:sp>
      <p:sp>
        <p:nvSpPr>
          <p:cNvPr id="4" name="TextBox 3">
            <a:extLst>
              <a:ext uri="{FF2B5EF4-FFF2-40B4-BE49-F238E27FC236}">
                <a16:creationId xmlns:a16="http://schemas.microsoft.com/office/drawing/2014/main" id="{4E552CD3-FDB5-5D11-5F07-9AB75F1C8BCF}"/>
              </a:ext>
            </a:extLst>
          </p:cNvPr>
          <p:cNvSpPr txBox="1">
            <a:spLocks noChangeArrowheads="1"/>
          </p:cNvSpPr>
          <p:nvPr/>
        </p:nvSpPr>
        <p:spPr bwMode="auto">
          <a:xfrm>
            <a:off x="76200" y="6430064"/>
            <a:ext cx="1012585"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Ranking</a:t>
            </a:r>
          </a:p>
        </p:txBody>
      </p:sp>
      <p:sp>
        <p:nvSpPr>
          <p:cNvPr id="6" name="Rectangle 5">
            <a:extLst>
              <a:ext uri="{FF2B5EF4-FFF2-40B4-BE49-F238E27FC236}">
                <a16:creationId xmlns:a16="http://schemas.microsoft.com/office/drawing/2014/main" id="{364EC1F8-C24A-3656-6600-B4EA8C1CDBF7}"/>
              </a:ext>
            </a:extLst>
          </p:cNvPr>
          <p:cNvSpPr/>
          <p:nvPr/>
        </p:nvSpPr>
        <p:spPr bwMode="auto">
          <a:xfrm>
            <a:off x="5764092" y="3223457"/>
            <a:ext cx="3989508" cy="53144"/>
          </a:xfrm>
          <a:prstGeom prst="rect">
            <a:avLst/>
          </a:prstGeom>
          <a:solidFill>
            <a:srgbClr val="FFC000">
              <a:alpha val="50000"/>
            </a:srgb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sp>
        <p:nvSpPr>
          <p:cNvPr id="8" name="TextBox 7">
            <a:extLst>
              <a:ext uri="{FF2B5EF4-FFF2-40B4-BE49-F238E27FC236}">
                <a16:creationId xmlns:a16="http://schemas.microsoft.com/office/drawing/2014/main" id="{4717958C-ECE5-4424-632A-288192817345}"/>
              </a:ext>
            </a:extLst>
          </p:cNvPr>
          <p:cNvSpPr txBox="1"/>
          <p:nvPr/>
        </p:nvSpPr>
        <p:spPr>
          <a:xfrm>
            <a:off x="180546" y="2596838"/>
            <a:ext cx="9982200" cy="2123658"/>
          </a:xfrm>
          <a:prstGeom prst="rect">
            <a:avLst/>
          </a:prstGeom>
          <a:noFill/>
          <a:ln>
            <a:solidFill>
              <a:schemeClr val="tx1"/>
            </a:solidFill>
          </a:ln>
        </p:spPr>
        <p:txBody>
          <a:bodyPr wrap="square">
            <a:spAutoFit/>
          </a:bodyPr>
          <a:lstStyle/>
          <a:p>
            <a:pPr algn="l"/>
            <a:r>
              <a:rPr lang="en-US" sz="2200" b="1" dirty="0">
                <a:solidFill>
                  <a:srgbClr val="800000"/>
                </a:solidFill>
                <a:latin typeface="Consolas" panose="020B0609020204030204" pitchFamily="49" charset="0"/>
              </a:rPr>
              <a:t>SELECT</a:t>
            </a:r>
            <a:r>
              <a:rPr lang="en-US" sz="2200" b="1"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workdept</a:t>
            </a:r>
            <a:r>
              <a:rPr lang="en-US" sz="2200"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lastname</a:t>
            </a:r>
            <a:r>
              <a:rPr lang="en-US" sz="2200" dirty="0">
                <a:solidFill>
                  <a:srgbClr val="000000"/>
                </a:solidFill>
                <a:latin typeface="Consolas" panose="020B0609020204030204" pitchFamily="49" charset="0"/>
              </a:rPr>
              <a:t>, salary,</a:t>
            </a:r>
          </a:p>
          <a:p>
            <a:pPr algn="l"/>
            <a:r>
              <a:rPr lang="en-US" sz="2200" dirty="0">
                <a:solidFill>
                  <a:srgbClr val="000000"/>
                </a:solidFill>
                <a:latin typeface="Consolas" panose="020B0609020204030204" pitchFamily="49" charset="0"/>
              </a:rPr>
              <a:t>  </a:t>
            </a:r>
            <a:r>
              <a:rPr lang="en-US" sz="2200" b="1" dirty="0">
                <a:solidFill>
                  <a:srgbClr val="000080"/>
                </a:solidFill>
                <a:latin typeface="Consolas" panose="020B0609020204030204" pitchFamily="49" charset="0"/>
              </a:rPr>
              <a:t>CAST</a:t>
            </a:r>
            <a:r>
              <a:rPr lang="en-US" sz="2200" dirty="0">
                <a:solidFill>
                  <a:srgbClr val="000000"/>
                </a:solidFill>
                <a:latin typeface="Consolas" panose="020B0609020204030204" pitchFamily="49" charset="0"/>
              </a:rPr>
              <a:t>(</a:t>
            </a:r>
            <a:r>
              <a:rPr lang="en-US" sz="2200" dirty="0">
                <a:solidFill>
                  <a:srgbClr val="FF0000"/>
                </a:solidFill>
                <a:latin typeface="Consolas" panose="020B0609020204030204" pitchFamily="49" charset="0"/>
              </a:rPr>
              <a:t>salary * 100 </a:t>
            </a:r>
            <a:r>
              <a:rPr lang="en-US" sz="2200" b="1" dirty="0">
                <a:solidFill>
                  <a:srgbClr val="FF0000"/>
                </a:solidFill>
                <a:latin typeface="Consolas" panose="020B0609020204030204" pitchFamily="49" charset="0"/>
              </a:rPr>
              <a:t>/ SUM</a:t>
            </a:r>
            <a:r>
              <a:rPr lang="en-US" sz="2200" dirty="0">
                <a:solidFill>
                  <a:srgbClr val="FF0000"/>
                </a:solidFill>
                <a:latin typeface="Consolas" panose="020B0609020204030204" pitchFamily="49" charset="0"/>
              </a:rPr>
              <a:t>(salary</a:t>
            </a:r>
            <a:r>
              <a:rPr lang="en-US" sz="2200"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OVER</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PARTITION</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BY</a:t>
            </a:r>
            <a:r>
              <a:rPr lang="en-US" sz="2200" b="1"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workdept</a:t>
            </a:r>
            <a:r>
              <a:rPr lang="en-US" sz="2200" dirty="0">
                <a:solidFill>
                  <a:srgbClr val="000000"/>
                </a:solidFill>
                <a:latin typeface="Consolas" panose="020B0609020204030204" pitchFamily="49" charset="0"/>
              </a:rPr>
              <a:t>)</a:t>
            </a:r>
            <a:r>
              <a:rPr lang="en-US" sz="2200" b="1" dirty="0">
                <a:solidFill>
                  <a:srgbClr val="000000"/>
                </a:solidFill>
                <a:latin typeface="Consolas" panose="020B0609020204030204" pitchFamily="49" charset="0"/>
              </a:rPr>
              <a:t>  </a:t>
            </a:r>
          </a:p>
          <a:p>
            <a:pPr algn="l"/>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AS</a:t>
            </a:r>
            <a:r>
              <a:rPr lang="en-US" sz="2200" b="1" dirty="0">
                <a:solidFill>
                  <a:srgbClr val="000000"/>
                </a:solidFill>
                <a:latin typeface="Consolas" panose="020B0609020204030204" pitchFamily="49" charset="0"/>
              </a:rPr>
              <a:t> </a:t>
            </a:r>
            <a:r>
              <a:rPr lang="en-US" sz="2200" b="1" dirty="0">
                <a:solidFill>
                  <a:srgbClr val="000080"/>
                </a:solidFill>
                <a:latin typeface="Consolas" panose="020B0609020204030204" pitchFamily="49" charset="0"/>
              </a:rPr>
              <a:t>DECIMAL</a:t>
            </a:r>
            <a:r>
              <a:rPr lang="en-US" sz="2200" dirty="0">
                <a:solidFill>
                  <a:srgbClr val="000000"/>
                </a:solidFill>
                <a:latin typeface="Consolas" panose="020B0609020204030204" pitchFamily="49" charset="0"/>
              </a:rPr>
              <a:t>(</a:t>
            </a:r>
            <a:r>
              <a:rPr lang="en-US" sz="2200" dirty="0">
                <a:solidFill>
                  <a:srgbClr val="0000FF"/>
                </a:solidFill>
                <a:latin typeface="Consolas" panose="020B0609020204030204" pitchFamily="49" charset="0"/>
              </a:rPr>
              <a:t>5</a:t>
            </a:r>
            <a:r>
              <a:rPr lang="en-US" sz="2200" dirty="0">
                <a:solidFill>
                  <a:srgbClr val="000000"/>
                </a:solidFill>
                <a:latin typeface="Consolas" panose="020B0609020204030204" pitchFamily="49" charset="0"/>
              </a:rPr>
              <a:t>,</a:t>
            </a:r>
            <a:r>
              <a:rPr lang="en-US" sz="2200" dirty="0">
                <a:solidFill>
                  <a:srgbClr val="0000FF"/>
                </a:solidFill>
                <a:latin typeface="Consolas" panose="020B0609020204030204" pitchFamily="49" charset="0"/>
              </a:rPr>
              <a:t>2</a:t>
            </a:r>
            <a:r>
              <a:rPr lang="en-US" sz="2200" dirty="0">
                <a:solidFill>
                  <a:srgbClr val="000000"/>
                </a:solidFill>
                <a:latin typeface="Consolas" panose="020B0609020204030204" pitchFamily="49" charset="0"/>
              </a:rPr>
              <a:t>)) </a:t>
            </a:r>
          </a:p>
          <a:p>
            <a:pPr algn="l"/>
            <a:r>
              <a:rPr lang="en-US" sz="2200"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AS</a:t>
            </a:r>
            <a:r>
              <a:rPr lang="en-US" sz="2200" b="1"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dept_salary_percent</a:t>
            </a:r>
            <a:endParaRPr lang="en-US" sz="2200" dirty="0">
              <a:solidFill>
                <a:srgbClr val="000000"/>
              </a:solidFill>
              <a:latin typeface="Consolas" panose="020B0609020204030204" pitchFamily="49" charset="0"/>
            </a:endParaRPr>
          </a:p>
          <a:p>
            <a:pPr algn="l"/>
            <a:r>
              <a:rPr lang="en-US" sz="2200" b="1" dirty="0">
                <a:solidFill>
                  <a:srgbClr val="800000"/>
                </a:solidFill>
                <a:latin typeface="Consolas" panose="020B0609020204030204" pitchFamily="49" charset="0"/>
              </a:rPr>
              <a:t>FROM</a:t>
            </a:r>
            <a:r>
              <a:rPr lang="en-US" sz="2200" b="1" dirty="0">
                <a:solidFill>
                  <a:srgbClr val="000000"/>
                </a:solidFill>
                <a:latin typeface="Consolas" panose="020B0609020204030204" pitchFamily="49" charset="0"/>
              </a:rPr>
              <a:t> </a:t>
            </a:r>
            <a:r>
              <a:rPr lang="en-US" sz="2200" dirty="0">
                <a:solidFill>
                  <a:srgbClr val="0000FF"/>
                </a:solidFill>
                <a:latin typeface="Consolas" panose="020B0609020204030204" pitchFamily="49" charset="0"/>
              </a:rPr>
              <a:t>employee</a:t>
            </a:r>
          </a:p>
          <a:p>
            <a:pPr algn="l"/>
            <a:r>
              <a:rPr lang="en-US" sz="2200" b="1" dirty="0">
                <a:solidFill>
                  <a:srgbClr val="800000"/>
                </a:solidFill>
                <a:latin typeface="Consolas" panose="020B0609020204030204" pitchFamily="49" charset="0"/>
              </a:rPr>
              <a:t>ORDER</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BY</a:t>
            </a:r>
            <a:r>
              <a:rPr lang="en-US" sz="2200" b="1"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workdept</a:t>
            </a:r>
            <a:r>
              <a:rPr lang="en-US" sz="2200"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dept_salary_percent</a:t>
            </a:r>
            <a:r>
              <a:rPr lang="en-US" sz="2200" b="1" dirty="0">
                <a:solidFill>
                  <a:srgbClr val="000000"/>
                </a:solidFill>
                <a:latin typeface="Consolas" panose="020B0609020204030204" pitchFamily="49" charset="0"/>
              </a:rPr>
              <a:t> </a:t>
            </a:r>
            <a:r>
              <a:rPr lang="en-US" sz="2200" b="1" dirty="0">
                <a:solidFill>
                  <a:srgbClr val="800000"/>
                </a:solidFill>
                <a:latin typeface="Consolas" panose="020B0609020204030204" pitchFamily="49" charset="0"/>
              </a:rPr>
              <a:t>DESC</a:t>
            </a:r>
            <a:r>
              <a:rPr lang="en-US" sz="2200" b="1" dirty="0">
                <a:solidFill>
                  <a:srgbClr val="FF0000"/>
                </a:solidFill>
                <a:latin typeface="Consolas" panose="020B0609020204030204" pitchFamily="49" charset="0"/>
              </a:rPr>
              <a:t>;</a:t>
            </a:r>
            <a:endParaRPr lang="en-US" sz="2200" dirty="0">
              <a:solidFill>
                <a:srgbClr val="000000"/>
              </a:solidFill>
              <a:effectLst/>
              <a:latin typeface="Consolas" panose="020B0609020204030204" pitchFamily="49" charset="0"/>
            </a:endParaRPr>
          </a:p>
        </p:txBody>
      </p:sp>
      <p:pic>
        <p:nvPicPr>
          <p:cNvPr id="9" name="Picture 8">
            <a:extLst>
              <a:ext uri="{FF2B5EF4-FFF2-40B4-BE49-F238E27FC236}">
                <a16:creationId xmlns:a16="http://schemas.microsoft.com/office/drawing/2014/main" id="{424087BD-E9FB-5204-C5B6-38BA8139EDE4}"/>
              </a:ext>
            </a:extLst>
          </p:cNvPr>
          <p:cNvPicPr>
            <a:picLocks noChangeAspect="1"/>
          </p:cNvPicPr>
          <p:nvPr/>
        </p:nvPicPr>
        <p:blipFill>
          <a:blip r:embed="rId3"/>
          <a:stretch>
            <a:fillRect/>
          </a:stretch>
        </p:blipFill>
        <p:spPr>
          <a:xfrm>
            <a:off x="6980583" y="4657703"/>
            <a:ext cx="5181600" cy="2200297"/>
          </a:xfrm>
          <a:prstGeom prst="rect">
            <a:avLst/>
          </a:prstGeom>
        </p:spPr>
      </p:pic>
    </p:spTree>
    <p:extLst>
      <p:ext uri="{BB962C8B-B14F-4D97-AF65-F5344CB8AC3E}">
        <p14:creationId xmlns:p14="http://schemas.microsoft.com/office/powerpoint/2010/main" val="896766508"/>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Alternative Approach: Using Common Table Expression</a:t>
            </a:r>
          </a:p>
        </p:txBody>
      </p:sp>
      <p:sp>
        <p:nvSpPr>
          <p:cNvPr id="3" name="TextBox 2">
            <a:extLst>
              <a:ext uri="{FF2B5EF4-FFF2-40B4-BE49-F238E27FC236}">
                <a16:creationId xmlns:a16="http://schemas.microsoft.com/office/drawing/2014/main" id="{CD6C9B53-73F3-B44A-A328-A538C1326365}"/>
              </a:ext>
            </a:extLst>
          </p:cNvPr>
          <p:cNvSpPr txBox="1">
            <a:spLocks noChangeArrowheads="1"/>
          </p:cNvSpPr>
          <p:nvPr/>
        </p:nvSpPr>
        <p:spPr bwMode="auto">
          <a:xfrm>
            <a:off x="76200" y="6430064"/>
            <a:ext cx="1012585"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Ranking</a:t>
            </a:r>
          </a:p>
        </p:txBody>
      </p:sp>
      <p:sp>
        <p:nvSpPr>
          <p:cNvPr id="6" name="TextBox 5">
            <a:extLst>
              <a:ext uri="{FF2B5EF4-FFF2-40B4-BE49-F238E27FC236}">
                <a16:creationId xmlns:a16="http://schemas.microsoft.com/office/drawing/2014/main" id="{77049C52-B8E5-C4A2-3A1F-F8F53DCB220A}"/>
              </a:ext>
            </a:extLst>
          </p:cNvPr>
          <p:cNvSpPr txBox="1"/>
          <p:nvPr/>
        </p:nvSpPr>
        <p:spPr>
          <a:xfrm>
            <a:off x="552675" y="1905000"/>
            <a:ext cx="10820400" cy="3785652"/>
          </a:xfrm>
          <a:prstGeom prst="rect">
            <a:avLst/>
          </a:prstGeom>
          <a:noFill/>
          <a:ln>
            <a:solidFill>
              <a:schemeClr val="tx1"/>
            </a:solidFill>
          </a:ln>
        </p:spPr>
        <p:txBody>
          <a:bodyPr wrap="square" lIns="182880" rIns="182880">
            <a:spAutoFit/>
          </a:bodyPr>
          <a:lstStyle/>
          <a:p>
            <a:pPr marL="0" marR="0"/>
            <a:r>
              <a:rPr lang="en-US" sz="2400" b="1" dirty="0">
                <a:solidFill>
                  <a:srgbClr val="800000"/>
                </a:solidFill>
                <a:effectLst/>
                <a:latin typeface="Consolas" panose="020B0609020204030204" pitchFamily="49" charset="0"/>
              </a:rPr>
              <a:t>WITH</a:t>
            </a:r>
            <a:r>
              <a:rPr lang="en-US" sz="2400" dirty="0">
                <a:solidFill>
                  <a:srgbClr val="000000"/>
                </a:solidFill>
                <a:effectLst/>
                <a:latin typeface="Consolas" panose="020B0609020204030204" pitchFamily="49" charset="0"/>
              </a:rPr>
              <a:t> </a:t>
            </a:r>
            <a:r>
              <a:rPr lang="en-US" sz="2400" i="1" dirty="0">
                <a:solidFill>
                  <a:srgbClr val="8E00C6"/>
                </a:solidFill>
                <a:effectLst/>
                <a:latin typeface="Consolas" panose="020B0609020204030204" pitchFamily="49" charset="0"/>
              </a:rPr>
              <a:t>SUM_DEPT_SALARY</a:t>
            </a:r>
            <a:r>
              <a:rPr lang="en-US" sz="2400" dirty="0">
                <a:solidFill>
                  <a:srgbClr val="000000"/>
                </a:solidFill>
                <a:effectLst/>
                <a:latin typeface="Consolas" panose="020B0609020204030204" pitchFamily="49" charset="0"/>
              </a:rPr>
              <a:t> </a:t>
            </a:r>
            <a:r>
              <a:rPr lang="en-US" sz="2400" b="1" dirty="0">
                <a:solidFill>
                  <a:srgbClr val="800000"/>
                </a:solidFill>
                <a:effectLst/>
                <a:latin typeface="Consolas" panose="020B0609020204030204" pitchFamily="49" charset="0"/>
              </a:rPr>
              <a:t>AS</a:t>
            </a:r>
            <a:r>
              <a:rPr lang="en-US" sz="2400" dirty="0">
                <a:solidFill>
                  <a:srgbClr val="000000"/>
                </a:solidFill>
                <a:effectLst/>
                <a:latin typeface="Consolas" panose="020B0609020204030204" pitchFamily="49" charset="0"/>
              </a:rPr>
              <a:t> (</a:t>
            </a:r>
          </a:p>
          <a:p>
            <a:pPr marL="0" marR="0"/>
            <a:r>
              <a:rPr lang="en-US" sz="2400" b="1" dirty="0">
                <a:solidFill>
                  <a:srgbClr val="800000"/>
                </a:solidFill>
                <a:effectLst/>
                <a:latin typeface="Consolas" panose="020B0609020204030204" pitchFamily="49" charset="0"/>
              </a:rPr>
              <a:t>SELECT</a:t>
            </a:r>
            <a:r>
              <a:rPr lang="en-US" sz="2400" dirty="0">
                <a:solidFill>
                  <a:srgbClr val="000000"/>
                </a:solidFill>
                <a:effectLst/>
                <a:latin typeface="Consolas" panose="020B0609020204030204" pitchFamily="49" charset="0"/>
              </a:rPr>
              <a:t> </a:t>
            </a:r>
            <a:r>
              <a:rPr lang="en-US" sz="2400" dirty="0">
                <a:solidFill>
                  <a:srgbClr val="006464"/>
                </a:solidFill>
                <a:effectLst/>
                <a:latin typeface="Consolas" panose="020B0609020204030204" pitchFamily="49" charset="0"/>
              </a:rPr>
              <a:t>WORKDEPT</a:t>
            </a:r>
            <a:r>
              <a:rPr lang="en-US" sz="2400" dirty="0">
                <a:solidFill>
                  <a:srgbClr val="000000"/>
                </a:solidFill>
                <a:effectLst/>
                <a:latin typeface="Consolas" panose="020B0609020204030204" pitchFamily="49" charset="0"/>
              </a:rPr>
              <a:t>, </a:t>
            </a:r>
            <a:r>
              <a:rPr lang="en-US" sz="2400" b="1" dirty="0">
                <a:solidFill>
                  <a:srgbClr val="000080"/>
                </a:solidFill>
                <a:effectLst/>
                <a:latin typeface="Consolas" panose="020B0609020204030204" pitchFamily="49" charset="0"/>
              </a:rPr>
              <a:t>SUM</a:t>
            </a:r>
            <a:r>
              <a:rPr lang="en-US" sz="2400" dirty="0">
                <a:solidFill>
                  <a:srgbClr val="000000"/>
                </a:solidFill>
                <a:effectLst/>
                <a:latin typeface="Consolas" panose="020B0609020204030204" pitchFamily="49" charset="0"/>
              </a:rPr>
              <a:t>(</a:t>
            </a:r>
            <a:r>
              <a:rPr lang="en-US" sz="2400" dirty="0">
                <a:solidFill>
                  <a:srgbClr val="006464"/>
                </a:solidFill>
                <a:effectLst/>
                <a:latin typeface="Consolas" panose="020B0609020204030204" pitchFamily="49" charset="0"/>
              </a:rPr>
              <a:t>SALARY</a:t>
            </a:r>
            <a:r>
              <a:rPr lang="en-US" sz="2400" dirty="0">
                <a:solidFill>
                  <a:srgbClr val="000000"/>
                </a:solidFill>
                <a:effectLst/>
                <a:latin typeface="Consolas" panose="020B0609020204030204" pitchFamily="49" charset="0"/>
              </a:rPr>
              <a:t>) </a:t>
            </a:r>
            <a:r>
              <a:rPr lang="en-US" sz="2400" b="1" dirty="0">
                <a:solidFill>
                  <a:srgbClr val="800000"/>
                </a:solidFill>
                <a:effectLst/>
                <a:latin typeface="Consolas" panose="020B0609020204030204" pitchFamily="49" charset="0"/>
              </a:rPr>
              <a:t>AS</a:t>
            </a:r>
            <a:r>
              <a:rPr lang="en-US" sz="2400" dirty="0">
                <a:solidFill>
                  <a:srgbClr val="000000"/>
                </a:solidFill>
                <a:effectLst/>
                <a:latin typeface="Consolas" panose="020B0609020204030204" pitchFamily="49" charset="0"/>
              </a:rPr>
              <a:t> </a:t>
            </a:r>
            <a:r>
              <a:rPr lang="en-US" sz="2400" i="1" dirty="0">
                <a:solidFill>
                  <a:srgbClr val="006464"/>
                </a:solidFill>
                <a:effectLst/>
                <a:latin typeface="Consolas" panose="020B0609020204030204" pitchFamily="49" charset="0"/>
              </a:rPr>
              <a:t>SUM_SALARY</a:t>
            </a:r>
            <a:endParaRPr lang="en-US" sz="2400" dirty="0">
              <a:solidFill>
                <a:srgbClr val="000000"/>
              </a:solidFill>
              <a:effectLst/>
              <a:latin typeface="Consolas" panose="020B0609020204030204" pitchFamily="49" charset="0"/>
            </a:endParaRPr>
          </a:p>
          <a:p>
            <a:pPr marL="0" marR="0"/>
            <a:r>
              <a:rPr lang="en-US" sz="2400" b="1" dirty="0">
                <a:solidFill>
                  <a:srgbClr val="800000"/>
                </a:solidFill>
                <a:effectLst/>
                <a:latin typeface="Consolas" panose="020B0609020204030204" pitchFamily="49" charset="0"/>
              </a:rPr>
              <a:t>FROM</a:t>
            </a:r>
            <a:r>
              <a:rPr lang="en-US" sz="2400" dirty="0">
                <a:solidFill>
                  <a:srgbClr val="000000"/>
                </a:solidFill>
                <a:effectLst/>
                <a:latin typeface="Consolas" panose="020B0609020204030204" pitchFamily="49" charset="0"/>
              </a:rPr>
              <a:t> </a:t>
            </a:r>
            <a:r>
              <a:rPr lang="en-US" sz="2400" dirty="0">
                <a:solidFill>
                  <a:srgbClr val="8E00C6"/>
                </a:solidFill>
                <a:effectLst/>
                <a:latin typeface="Consolas" panose="020B0609020204030204" pitchFamily="49" charset="0"/>
              </a:rPr>
              <a:t>EMPLOYEE</a:t>
            </a:r>
            <a:endParaRPr lang="en-US" sz="2400" dirty="0">
              <a:solidFill>
                <a:srgbClr val="000000"/>
              </a:solidFill>
              <a:effectLst/>
              <a:latin typeface="Consolas" panose="020B0609020204030204" pitchFamily="49" charset="0"/>
            </a:endParaRPr>
          </a:p>
          <a:p>
            <a:pPr marL="0" marR="0"/>
            <a:r>
              <a:rPr lang="en-US" sz="2400" b="1" dirty="0">
                <a:solidFill>
                  <a:srgbClr val="800000"/>
                </a:solidFill>
                <a:effectLst/>
                <a:latin typeface="Consolas" panose="020B0609020204030204" pitchFamily="49" charset="0"/>
              </a:rPr>
              <a:t>GROUP</a:t>
            </a:r>
            <a:r>
              <a:rPr lang="en-US" sz="2400" dirty="0">
                <a:solidFill>
                  <a:srgbClr val="000000"/>
                </a:solidFill>
                <a:effectLst/>
                <a:latin typeface="Consolas" panose="020B0609020204030204" pitchFamily="49" charset="0"/>
              </a:rPr>
              <a:t> </a:t>
            </a:r>
            <a:r>
              <a:rPr lang="en-US" sz="2400" b="1" dirty="0">
                <a:solidFill>
                  <a:srgbClr val="800000"/>
                </a:solidFill>
                <a:effectLst/>
                <a:latin typeface="Consolas" panose="020B0609020204030204" pitchFamily="49" charset="0"/>
              </a:rPr>
              <a:t>BY</a:t>
            </a:r>
            <a:r>
              <a:rPr lang="en-US" sz="2400" dirty="0">
                <a:solidFill>
                  <a:srgbClr val="000000"/>
                </a:solidFill>
                <a:effectLst/>
                <a:latin typeface="Consolas" panose="020B0609020204030204" pitchFamily="49" charset="0"/>
              </a:rPr>
              <a:t> </a:t>
            </a:r>
            <a:r>
              <a:rPr lang="en-US" sz="2400" dirty="0">
                <a:solidFill>
                  <a:srgbClr val="006464"/>
                </a:solidFill>
                <a:effectLst/>
                <a:latin typeface="Consolas" panose="020B0609020204030204" pitchFamily="49" charset="0"/>
              </a:rPr>
              <a:t>WORKDEPT</a:t>
            </a:r>
            <a:endParaRPr lang="en-US" sz="2400" dirty="0">
              <a:solidFill>
                <a:srgbClr val="000000"/>
              </a:solidFill>
              <a:effectLst/>
              <a:latin typeface="Consolas" panose="020B0609020204030204" pitchFamily="49" charset="0"/>
            </a:endParaRPr>
          </a:p>
          <a:p>
            <a:pPr marL="0" marR="0"/>
            <a:r>
              <a:rPr lang="en-US" sz="2400" dirty="0">
                <a:solidFill>
                  <a:srgbClr val="000000"/>
                </a:solidFill>
                <a:effectLst/>
                <a:latin typeface="Consolas" panose="020B0609020204030204" pitchFamily="49" charset="0"/>
              </a:rPr>
              <a:t>)</a:t>
            </a:r>
          </a:p>
          <a:p>
            <a:pPr marL="0" marR="0"/>
            <a:r>
              <a:rPr lang="en-US" sz="2400" b="1" dirty="0">
                <a:solidFill>
                  <a:srgbClr val="800000"/>
                </a:solidFill>
                <a:effectLst/>
                <a:latin typeface="Consolas" panose="020B0609020204030204" pitchFamily="49" charset="0"/>
              </a:rPr>
              <a:t>SELECT</a:t>
            </a:r>
            <a:r>
              <a:rPr lang="en-US" sz="2400" dirty="0">
                <a:solidFill>
                  <a:srgbClr val="000000"/>
                </a:solidFill>
                <a:effectLst/>
                <a:latin typeface="Consolas" panose="020B0609020204030204" pitchFamily="49" charset="0"/>
              </a:rPr>
              <a:t> </a:t>
            </a:r>
            <a:r>
              <a:rPr lang="en-US" sz="2400" i="1" dirty="0">
                <a:solidFill>
                  <a:srgbClr val="8E00C6"/>
                </a:solidFill>
                <a:effectLst/>
                <a:latin typeface="Consolas" panose="020B0609020204030204" pitchFamily="49" charset="0"/>
              </a:rPr>
              <a:t>e</a:t>
            </a:r>
            <a:r>
              <a:rPr lang="en-US" sz="2400" dirty="0">
                <a:solidFill>
                  <a:srgbClr val="000000"/>
                </a:solidFill>
                <a:effectLst/>
                <a:latin typeface="Consolas" panose="020B0609020204030204" pitchFamily="49" charset="0"/>
              </a:rPr>
              <a:t>.</a:t>
            </a:r>
            <a:r>
              <a:rPr lang="en-US" sz="2400" dirty="0">
                <a:solidFill>
                  <a:srgbClr val="006464"/>
                </a:solidFill>
                <a:effectLst/>
                <a:latin typeface="Consolas" panose="020B0609020204030204" pitchFamily="49" charset="0"/>
              </a:rPr>
              <a:t>WORKDEPT</a:t>
            </a:r>
            <a:r>
              <a:rPr lang="en-US" sz="2400" dirty="0">
                <a:solidFill>
                  <a:srgbClr val="000000"/>
                </a:solidFill>
                <a:effectLst/>
                <a:latin typeface="Consolas" panose="020B0609020204030204" pitchFamily="49" charset="0"/>
              </a:rPr>
              <a:t>, </a:t>
            </a:r>
            <a:r>
              <a:rPr lang="en-US" sz="2400" i="1" dirty="0">
                <a:solidFill>
                  <a:srgbClr val="8E00C6"/>
                </a:solidFill>
                <a:effectLst/>
                <a:latin typeface="Consolas" panose="020B0609020204030204" pitchFamily="49" charset="0"/>
              </a:rPr>
              <a:t>e</a:t>
            </a:r>
            <a:r>
              <a:rPr lang="en-US" sz="2400" dirty="0">
                <a:solidFill>
                  <a:srgbClr val="000000"/>
                </a:solidFill>
                <a:effectLst/>
                <a:latin typeface="Consolas" panose="020B0609020204030204" pitchFamily="49" charset="0"/>
              </a:rPr>
              <a:t>.</a:t>
            </a:r>
            <a:r>
              <a:rPr lang="en-US" sz="2400" dirty="0">
                <a:solidFill>
                  <a:srgbClr val="006464"/>
                </a:solidFill>
                <a:effectLst/>
                <a:latin typeface="Consolas" panose="020B0609020204030204" pitchFamily="49" charset="0"/>
              </a:rPr>
              <a:t>LASTNAME</a:t>
            </a:r>
            <a:r>
              <a:rPr lang="en-US" sz="2400" dirty="0">
                <a:solidFill>
                  <a:srgbClr val="000000"/>
                </a:solidFill>
                <a:effectLst/>
                <a:latin typeface="Consolas" panose="020B0609020204030204" pitchFamily="49" charset="0"/>
              </a:rPr>
              <a:t>, </a:t>
            </a:r>
            <a:r>
              <a:rPr lang="en-US" sz="2400" i="1" dirty="0">
                <a:solidFill>
                  <a:srgbClr val="8E00C6"/>
                </a:solidFill>
                <a:effectLst/>
                <a:latin typeface="Consolas" panose="020B0609020204030204" pitchFamily="49" charset="0"/>
              </a:rPr>
              <a:t>e</a:t>
            </a:r>
            <a:r>
              <a:rPr lang="en-US" sz="2400" dirty="0">
                <a:solidFill>
                  <a:srgbClr val="000000"/>
                </a:solidFill>
                <a:effectLst/>
                <a:latin typeface="Consolas" panose="020B0609020204030204" pitchFamily="49" charset="0"/>
              </a:rPr>
              <a:t>.</a:t>
            </a:r>
            <a:r>
              <a:rPr lang="en-US" sz="2400" dirty="0">
                <a:solidFill>
                  <a:srgbClr val="006464"/>
                </a:solidFill>
                <a:effectLst/>
                <a:latin typeface="Consolas" panose="020B0609020204030204" pitchFamily="49" charset="0"/>
              </a:rPr>
              <a:t>SALARY</a:t>
            </a:r>
            <a:r>
              <a:rPr lang="en-US" sz="2400" dirty="0">
                <a:solidFill>
                  <a:srgbClr val="000000"/>
                </a:solidFill>
                <a:effectLst/>
                <a:latin typeface="Consolas" panose="020B0609020204030204" pitchFamily="49" charset="0"/>
              </a:rPr>
              <a:t>, </a:t>
            </a:r>
          </a:p>
          <a:p>
            <a:pPr marL="0" marR="0"/>
            <a:r>
              <a:rPr lang="en-US" sz="2400" dirty="0">
                <a:solidFill>
                  <a:srgbClr val="006464"/>
                </a:solidFill>
                <a:effectLst/>
                <a:latin typeface="Consolas" panose="020B0609020204030204" pitchFamily="49" charset="0"/>
              </a:rPr>
              <a:t>SALARY</a:t>
            </a:r>
            <a:r>
              <a:rPr lang="en-US" sz="2400" dirty="0">
                <a:solidFill>
                  <a:srgbClr val="000000"/>
                </a:solidFill>
                <a:effectLst/>
                <a:latin typeface="Consolas" panose="020B0609020204030204" pitchFamily="49" charset="0"/>
              </a:rPr>
              <a:t>*</a:t>
            </a:r>
            <a:r>
              <a:rPr lang="en-US" sz="2400" dirty="0">
                <a:solidFill>
                  <a:srgbClr val="0000FF"/>
                </a:solidFill>
                <a:effectLst/>
                <a:latin typeface="Consolas" panose="020B0609020204030204" pitchFamily="49" charset="0"/>
              </a:rPr>
              <a:t>100</a:t>
            </a:r>
            <a:r>
              <a:rPr lang="en-US" sz="2400" dirty="0">
                <a:solidFill>
                  <a:srgbClr val="000000"/>
                </a:solidFill>
                <a:effectLst/>
                <a:latin typeface="Consolas" panose="020B0609020204030204" pitchFamily="49" charset="0"/>
              </a:rPr>
              <a:t>/</a:t>
            </a:r>
            <a:r>
              <a:rPr lang="en-US" sz="2400" i="1" dirty="0">
                <a:solidFill>
                  <a:srgbClr val="8E00C6"/>
                </a:solidFill>
                <a:effectLst/>
                <a:latin typeface="Consolas" panose="020B0609020204030204" pitchFamily="49" charset="0"/>
              </a:rPr>
              <a:t>a</a:t>
            </a:r>
            <a:r>
              <a:rPr lang="en-US" sz="2400" dirty="0">
                <a:solidFill>
                  <a:srgbClr val="000000"/>
                </a:solidFill>
                <a:effectLst/>
                <a:latin typeface="Consolas" panose="020B0609020204030204" pitchFamily="49" charset="0"/>
              </a:rPr>
              <a:t>.</a:t>
            </a:r>
            <a:r>
              <a:rPr lang="en-US" sz="2400" i="1" dirty="0">
                <a:solidFill>
                  <a:srgbClr val="006464"/>
                </a:solidFill>
                <a:effectLst/>
                <a:latin typeface="Consolas" panose="020B0609020204030204" pitchFamily="49" charset="0"/>
              </a:rPr>
              <a:t>SUM_SALARY</a:t>
            </a:r>
            <a:r>
              <a:rPr lang="en-US" sz="2400" dirty="0">
                <a:solidFill>
                  <a:srgbClr val="000000"/>
                </a:solidFill>
                <a:effectLst/>
                <a:latin typeface="Consolas" panose="020B0609020204030204" pitchFamily="49" charset="0"/>
              </a:rPr>
              <a:t> </a:t>
            </a:r>
            <a:r>
              <a:rPr lang="en-US" sz="2400" b="1" dirty="0">
                <a:solidFill>
                  <a:srgbClr val="800000"/>
                </a:solidFill>
                <a:effectLst/>
                <a:latin typeface="Consolas" panose="020B0609020204030204" pitchFamily="49" charset="0"/>
              </a:rPr>
              <a:t>AS</a:t>
            </a:r>
            <a:r>
              <a:rPr lang="en-US" sz="2400" dirty="0">
                <a:solidFill>
                  <a:srgbClr val="000000"/>
                </a:solidFill>
                <a:effectLst/>
                <a:latin typeface="Consolas" panose="020B0609020204030204" pitchFamily="49" charset="0"/>
              </a:rPr>
              <a:t> </a:t>
            </a:r>
            <a:r>
              <a:rPr lang="en-US" sz="2400" i="1" dirty="0">
                <a:solidFill>
                  <a:srgbClr val="006464"/>
                </a:solidFill>
                <a:effectLst/>
                <a:latin typeface="Consolas" panose="020B0609020204030204" pitchFamily="49" charset="0"/>
              </a:rPr>
              <a:t>DEPT_SALARY_PERCENT</a:t>
            </a:r>
            <a:endParaRPr lang="en-US" sz="2400" dirty="0">
              <a:solidFill>
                <a:srgbClr val="000000"/>
              </a:solidFill>
              <a:effectLst/>
              <a:latin typeface="Consolas" panose="020B0609020204030204" pitchFamily="49" charset="0"/>
            </a:endParaRPr>
          </a:p>
          <a:p>
            <a:pPr marL="0" marR="0"/>
            <a:r>
              <a:rPr lang="en-US" sz="2400" b="1" dirty="0">
                <a:solidFill>
                  <a:srgbClr val="800000"/>
                </a:solidFill>
                <a:effectLst/>
                <a:latin typeface="Consolas" panose="020B0609020204030204" pitchFamily="49" charset="0"/>
              </a:rPr>
              <a:t>FROM</a:t>
            </a:r>
            <a:r>
              <a:rPr lang="en-US" sz="2400" dirty="0">
                <a:solidFill>
                  <a:srgbClr val="000000"/>
                </a:solidFill>
                <a:effectLst/>
                <a:latin typeface="Consolas" panose="020B0609020204030204" pitchFamily="49" charset="0"/>
              </a:rPr>
              <a:t> </a:t>
            </a:r>
            <a:r>
              <a:rPr lang="en-US" sz="2400" dirty="0">
                <a:solidFill>
                  <a:srgbClr val="8E00C6"/>
                </a:solidFill>
                <a:effectLst/>
                <a:latin typeface="Consolas" panose="020B0609020204030204" pitchFamily="49" charset="0"/>
              </a:rPr>
              <a:t>EMPLOYEE</a:t>
            </a:r>
            <a:r>
              <a:rPr lang="en-US" sz="2400" dirty="0">
                <a:solidFill>
                  <a:srgbClr val="000000"/>
                </a:solidFill>
                <a:effectLst/>
                <a:latin typeface="Consolas" panose="020B0609020204030204" pitchFamily="49" charset="0"/>
              </a:rPr>
              <a:t> </a:t>
            </a:r>
            <a:r>
              <a:rPr lang="en-US" sz="2400" i="1" dirty="0">
                <a:solidFill>
                  <a:srgbClr val="8E00C6"/>
                </a:solidFill>
                <a:effectLst/>
                <a:latin typeface="Consolas" panose="020B0609020204030204" pitchFamily="49" charset="0"/>
              </a:rPr>
              <a:t>e</a:t>
            </a:r>
            <a:r>
              <a:rPr lang="en-US" sz="2400" dirty="0">
                <a:solidFill>
                  <a:srgbClr val="000000"/>
                </a:solidFill>
                <a:effectLst/>
                <a:latin typeface="Consolas" panose="020B0609020204030204" pitchFamily="49" charset="0"/>
              </a:rPr>
              <a:t>, </a:t>
            </a:r>
            <a:r>
              <a:rPr lang="en-US" sz="2400" i="1" dirty="0">
                <a:solidFill>
                  <a:srgbClr val="8E00C6"/>
                </a:solidFill>
                <a:effectLst/>
                <a:latin typeface="Consolas" panose="020B0609020204030204" pitchFamily="49" charset="0"/>
              </a:rPr>
              <a:t>SUM_DEPT_SALARY</a:t>
            </a:r>
            <a:r>
              <a:rPr lang="en-US" sz="2400" dirty="0">
                <a:solidFill>
                  <a:srgbClr val="000000"/>
                </a:solidFill>
                <a:effectLst/>
                <a:latin typeface="Consolas" panose="020B0609020204030204" pitchFamily="49" charset="0"/>
              </a:rPr>
              <a:t> </a:t>
            </a:r>
            <a:r>
              <a:rPr lang="en-US" sz="2400" i="1" dirty="0">
                <a:solidFill>
                  <a:srgbClr val="8E00C6"/>
                </a:solidFill>
                <a:effectLst/>
                <a:latin typeface="Consolas" panose="020B0609020204030204" pitchFamily="49" charset="0"/>
              </a:rPr>
              <a:t>a</a:t>
            </a:r>
            <a:endParaRPr lang="en-US" sz="2400" dirty="0">
              <a:solidFill>
                <a:srgbClr val="000000"/>
              </a:solidFill>
              <a:effectLst/>
              <a:latin typeface="Consolas" panose="020B0609020204030204" pitchFamily="49" charset="0"/>
            </a:endParaRPr>
          </a:p>
          <a:p>
            <a:pPr marL="0" marR="0"/>
            <a:r>
              <a:rPr lang="en-US" sz="2400" b="1" dirty="0">
                <a:solidFill>
                  <a:srgbClr val="800000"/>
                </a:solidFill>
                <a:effectLst/>
                <a:latin typeface="Consolas" panose="020B0609020204030204" pitchFamily="49" charset="0"/>
              </a:rPr>
              <a:t>WHERE</a:t>
            </a:r>
            <a:r>
              <a:rPr lang="en-US" sz="2400" dirty="0">
                <a:solidFill>
                  <a:srgbClr val="000000"/>
                </a:solidFill>
                <a:effectLst/>
                <a:latin typeface="Consolas" panose="020B0609020204030204" pitchFamily="49" charset="0"/>
              </a:rPr>
              <a:t> </a:t>
            </a:r>
            <a:r>
              <a:rPr lang="en-US" sz="2400" i="1" dirty="0">
                <a:solidFill>
                  <a:srgbClr val="8E00C6"/>
                </a:solidFill>
                <a:effectLst/>
                <a:latin typeface="Consolas" panose="020B0609020204030204" pitchFamily="49" charset="0"/>
              </a:rPr>
              <a:t>e</a:t>
            </a:r>
            <a:r>
              <a:rPr lang="en-US" sz="2400" dirty="0">
                <a:solidFill>
                  <a:srgbClr val="000000"/>
                </a:solidFill>
                <a:effectLst/>
                <a:latin typeface="Consolas" panose="020B0609020204030204" pitchFamily="49" charset="0"/>
              </a:rPr>
              <a:t>.</a:t>
            </a:r>
            <a:r>
              <a:rPr lang="en-US" sz="2400" dirty="0">
                <a:solidFill>
                  <a:srgbClr val="006464"/>
                </a:solidFill>
                <a:effectLst/>
                <a:latin typeface="Consolas" panose="020B0609020204030204" pitchFamily="49" charset="0"/>
              </a:rPr>
              <a:t>WORKDEPT</a:t>
            </a:r>
            <a:r>
              <a:rPr lang="en-US" sz="2400" dirty="0">
                <a:solidFill>
                  <a:srgbClr val="000000"/>
                </a:solidFill>
                <a:effectLst/>
                <a:latin typeface="Consolas" panose="020B0609020204030204" pitchFamily="49" charset="0"/>
              </a:rPr>
              <a:t> = </a:t>
            </a:r>
            <a:r>
              <a:rPr lang="en-US" sz="2400" i="1" dirty="0" err="1">
                <a:solidFill>
                  <a:srgbClr val="8E00C6"/>
                </a:solidFill>
                <a:effectLst/>
                <a:latin typeface="Consolas" panose="020B0609020204030204" pitchFamily="49" charset="0"/>
              </a:rPr>
              <a:t>a</a:t>
            </a:r>
            <a:r>
              <a:rPr lang="en-US" sz="2400" dirty="0" err="1">
                <a:solidFill>
                  <a:srgbClr val="000000"/>
                </a:solidFill>
                <a:effectLst/>
                <a:latin typeface="Consolas" panose="020B0609020204030204" pitchFamily="49" charset="0"/>
              </a:rPr>
              <a:t>.</a:t>
            </a:r>
            <a:r>
              <a:rPr lang="en-US" sz="2400" dirty="0" err="1">
                <a:solidFill>
                  <a:srgbClr val="006464"/>
                </a:solidFill>
                <a:effectLst/>
                <a:latin typeface="Consolas" panose="020B0609020204030204" pitchFamily="49" charset="0"/>
              </a:rPr>
              <a:t>WORKDEPT</a:t>
            </a:r>
            <a:endParaRPr lang="en-US" sz="2400" dirty="0">
              <a:solidFill>
                <a:srgbClr val="000000"/>
              </a:solidFill>
              <a:effectLst/>
              <a:latin typeface="Consolas" panose="020B0609020204030204" pitchFamily="49" charset="0"/>
            </a:endParaRPr>
          </a:p>
          <a:p>
            <a:pPr marL="0" marR="0"/>
            <a:r>
              <a:rPr lang="en-US" sz="2400" b="1" dirty="0">
                <a:solidFill>
                  <a:srgbClr val="800000"/>
                </a:solidFill>
                <a:effectLst/>
                <a:latin typeface="Consolas" panose="020B0609020204030204" pitchFamily="49" charset="0"/>
              </a:rPr>
              <a:t>ORDER</a:t>
            </a:r>
            <a:r>
              <a:rPr lang="en-US" sz="2400" dirty="0">
                <a:solidFill>
                  <a:srgbClr val="000000"/>
                </a:solidFill>
                <a:effectLst/>
                <a:latin typeface="Consolas" panose="020B0609020204030204" pitchFamily="49" charset="0"/>
              </a:rPr>
              <a:t> </a:t>
            </a:r>
            <a:r>
              <a:rPr lang="en-US" sz="2400" b="1" dirty="0">
                <a:solidFill>
                  <a:srgbClr val="800000"/>
                </a:solidFill>
                <a:effectLst/>
                <a:latin typeface="Consolas" panose="020B0609020204030204" pitchFamily="49" charset="0"/>
              </a:rPr>
              <a:t>BY</a:t>
            </a:r>
            <a:r>
              <a:rPr lang="en-US" sz="2400" dirty="0">
                <a:solidFill>
                  <a:srgbClr val="000000"/>
                </a:solidFill>
                <a:effectLst/>
                <a:latin typeface="Consolas" panose="020B0609020204030204" pitchFamily="49" charset="0"/>
              </a:rPr>
              <a:t> </a:t>
            </a:r>
            <a:r>
              <a:rPr lang="en-US" sz="2400" i="1" dirty="0">
                <a:solidFill>
                  <a:srgbClr val="8E00C6"/>
                </a:solidFill>
                <a:effectLst/>
                <a:latin typeface="Consolas" panose="020B0609020204030204" pitchFamily="49" charset="0"/>
              </a:rPr>
              <a:t>e</a:t>
            </a:r>
            <a:r>
              <a:rPr lang="en-US" sz="2400" dirty="0">
                <a:solidFill>
                  <a:srgbClr val="000000"/>
                </a:solidFill>
                <a:effectLst/>
                <a:latin typeface="Consolas" panose="020B0609020204030204" pitchFamily="49" charset="0"/>
              </a:rPr>
              <a:t>.</a:t>
            </a:r>
            <a:r>
              <a:rPr lang="en-US" sz="2400" dirty="0">
                <a:solidFill>
                  <a:srgbClr val="006464"/>
                </a:solidFill>
                <a:effectLst/>
                <a:latin typeface="Consolas" panose="020B0609020204030204" pitchFamily="49" charset="0"/>
              </a:rPr>
              <a:t>WORKDEPT</a:t>
            </a:r>
            <a:r>
              <a:rPr lang="en-US" sz="2400" dirty="0">
                <a:solidFill>
                  <a:srgbClr val="000000"/>
                </a:solidFill>
                <a:effectLst/>
                <a:latin typeface="Consolas" panose="020B0609020204030204" pitchFamily="49" charset="0"/>
              </a:rPr>
              <a:t>, </a:t>
            </a:r>
            <a:r>
              <a:rPr lang="en-US" sz="2400" i="1" dirty="0">
                <a:solidFill>
                  <a:srgbClr val="006464"/>
                </a:solidFill>
                <a:effectLst/>
                <a:latin typeface="Consolas" panose="020B0609020204030204" pitchFamily="49" charset="0"/>
              </a:rPr>
              <a:t>DEPT_SALARY_PERCENT</a:t>
            </a:r>
            <a:r>
              <a:rPr lang="en-US" sz="2400" dirty="0">
                <a:solidFill>
                  <a:srgbClr val="000000"/>
                </a:solidFill>
                <a:effectLst/>
                <a:latin typeface="Consolas" panose="020B0609020204030204" pitchFamily="49" charset="0"/>
              </a:rPr>
              <a:t> </a:t>
            </a:r>
            <a:r>
              <a:rPr lang="en-US" sz="2400" b="1" dirty="0">
                <a:solidFill>
                  <a:srgbClr val="800000"/>
                </a:solidFill>
                <a:effectLst/>
                <a:latin typeface="Consolas" panose="020B0609020204030204" pitchFamily="49" charset="0"/>
              </a:rPr>
              <a:t>DESC</a:t>
            </a:r>
            <a:r>
              <a:rPr lang="en-US" sz="2400" dirty="0">
                <a:solidFill>
                  <a:srgbClr val="FF0000"/>
                </a:solidFill>
                <a:effectLst/>
                <a:latin typeface="Consolas" panose="020B0609020204030204" pitchFamily="49" charset="0"/>
              </a:rPr>
              <a:t>;</a:t>
            </a:r>
            <a:endParaRPr lang="en-US" sz="2400" dirty="0">
              <a:solidFill>
                <a:srgbClr val="00000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CD6B3DC4-B6D5-E207-882A-3D198FE478F4}"/>
              </a:ext>
            </a:extLst>
          </p:cNvPr>
          <p:cNvSpPr txBox="1"/>
          <p:nvPr/>
        </p:nvSpPr>
        <p:spPr>
          <a:xfrm>
            <a:off x="381000" y="980351"/>
            <a:ext cx="10820400" cy="461665"/>
          </a:xfrm>
          <a:prstGeom prst="rect">
            <a:avLst/>
          </a:prstGeom>
          <a:noFill/>
        </p:spPr>
        <p:txBody>
          <a:bodyPr wrap="square">
            <a:spAutoFit/>
          </a:bodyPr>
          <a:lstStyle/>
          <a:p>
            <a:r>
              <a:rPr lang="en-US" sz="2400" dirty="0">
                <a:latin typeface="Verdana" panose="020B0604030504040204" pitchFamily="34" charset="0"/>
                <a:ea typeface="Verdana" panose="020B0604030504040204" pitchFamily="34" charset="0"/>
              </a:rPr>
              <a:t>Find the percentage of each employee’s salary to the dept total: </a:t>
            </a:r>
          </a:p>
        </p:txBody>
      </p:sp>
    </p:spTree>
    <p:extLst>
      <p:ext uri="{BB962C8B-B14F-4D97-AF65-F5344CB8AC3E}">
        <p14:creationId xmlns:p14="http://schemas.microsoft.com/office/powerpoint/2010/main" val="2874762847"/>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B1D1B-984E-F75E-2162-8D8C3215385A}"/>
              </a:ext>
            </a:extLst>
          </p:cNvPr>
          <p:cNvSpPr>
            <a:spLocks noGrp="1"/>
          </p:cNvSpPr>
          <p:nvPr>
            <p:ph type="title"/>
          </p:nvPr>
        </p:nvSpPr>
        <p:spPr/>
        <p:txBody>
          <a:bodyPr/>
          <a:lstStyle/>
          <a:p>
            <a:r>
              <a:rPr lang="en-US" dirty="0"/>
              <a:t>Summary of Partitioning (OVER) Based Operations</a:t>
            </a:r>
          </a:p>
        </p:txBody>
      </p:sp>
      <p:graphicFrame>
        <p:nvGraphicFramePr>
          <p:cNvPr id="20" name="Content Placeholder 19">
            <a:extLst>
              <a:ext uri="{FF2B5EF4-FFF2-40B4-BE49-F238E27FC236}">
                <a16:creationId xmlns:a16="http://schemas.microsoft.com/office/drawing/2014/main" id="{3C9F3DC7-68A7-7568-1170-071B5616082A}"/>
              </a:ext>
            </a:extLst>
          </p:cNvPr>
          <p:cNvGraphicFramePr>
            <a:graphicFrameLocks noGrp="1"/>
          </p:cNvGraphicFramePr>
          <p:nvPr>
            <p:ph idx="1"/>
            <p:extLst>
              <p:ext uri="{D42A27DB-BD31-4B8C-83A1-F6EECF244321}">
                <p14:modId xmlns:p14="http://schemas.microsoft.com/office/powerpoint/2010/main" val="1425786981"/>
              </p:ext>
            </p:extLst>
          </p:nvPr>
        </p:nvGraphicFramePr>
        <p:xfrm>
          <a:off x="180547" y="866034"/>
          <a:ext cx="11672888" cy="3048000"/>
        </p:xfrm>
        <a:graphic>
          <a:graphicData uri="http://schemas.openxmlformats.org/drawingml/2006/table">
            <a:tbl>
              <a:tblPr>
                <a:tableStyleId>{5940675A-B579-460E-94D1-54222C63F5DA}</a:tableStyleId>
              </a:tblPr>
              <a:tblGrid>
                <a:gridCol w="1941513">
                  <a:extLst>
                    <a:ext uri="{9D8B030D-6E8A-4147-A177-3AD203B41FA5}">
                      <a16:colId xmlns:a16="http://schemas.microsoft.com/office/drawing/2014/main" val="1198554916"/>
                    </a:ext>
                  </a:extLst>
                </a:gridCol>
                <a:gridCol w="9731375">
                  <a:extLst>
                    <a:ext uri="{9D8B030D-6E8A-4147-A177-3AD203B41FA5}">
                      <a16:colId xmlns:a16="http://schemas.microsoft.com/office/drawing/2014/main" val="2522937965"/>
                    </a:ext>
                  </a:extLst>
                </a:gridCol>
              </a:tblGrid>
              <a:tr h="0">
                <a:tc>
                  <a:txBody>
                    <a:bodyPr/>
                    <a:lstStyle/>
                    <a:p>
                      <a:r>
                        <a:rPr lang="en-US" b="1">
                          <a:solidFill>
                            <a:schemeClr val="bg1"/>
                          </a:solidFill>
                        </a:rPr>
                        <a:t>Category</a:t>
                      </a:r>
                    </a:p>
                  </a:txBody>
                  <a:tcPr anchor="ctr">
                    <a:solidFill>
                      <a:schemeClr val="accent2"/>
                    </a:solidFill>
                  </a:tcPr>
                </a:tc>
                <a:tc>
                  <a:txBody>
                    <a:bodyPr/>
                    <a:lstStyle/>
                    <a:p>
                      <a:r>
                        <a:rPr lang="en-US" b="1" dirty="0">
                          <a:solidFill>
                            <a:schemeClr val="bg1"/>
                          </a:solidFill>
                        </a:rPr>
                        <a:t>Functions</a:t>
                      </a:r>
                    </a:p>
                  </a:txBody>
                  <a:tcPr anchor="ctr">
                    <a:solidFill>
                      <a:schemeClr val="accent2"/>
                    </a:solidFill>
                  </a:tcPr>
                </a:tc>
                <a:extLst>
                  <a:ext uri="{0D108BD9-81ED-4DB2-BD59-A6C34878D82A}">
                    <a16:rowId xmlns:a16="http://schemas.microsoft.com/office/drawing/2014/main" val="342325692"/>
                  </a:ext>
                </a:extLst>
              </a:tr>
              <a:tr h="0">
                <a:tc>
                  <a:txBody>
                    <a:bodyPr/>
                    <a:lstStyle/>
                    <a:p>
                      <a:r>
                        <a:rPr lang="en-US" sz="2000" dirty="0"/>
                        <a:t>Aggregates</a:t>
                      </a:r>
                    </a:p>
                  </a:txBody>
                  <a:tcPr anchor="ctr"/>
                </a:tc>
                <a:tc>
                  <a:txBody>
                    <a:bodyPr/>
                    <a:lstStyle/>
                    <a:p>
                      <a:r>
                        <a:rPr lang="en-US" sz="1900" b="0" dirty="0"/>
                        <a:t>SUM(), AVG(), COUNT(), MIN(), MAX()</a:t>
                      </a:r>
                    </a:p>
                    <a:p>
                      <a:r>
                        <a:rPr lang="en-US" sz="1900" b="0" dirty="0"/>
                        <a:t>e.g., </a:t>
                      </a:r>
                      <a:r>
                        <a:rPr lang="en-US" sz="1900" b="0" dirty="0">
                          <a:solidFill>
                            <a:srgbClr val="000080"/>
                          </a:solidFill>
                          <a:latin typeface="Consolas" panose="020B0609020204030204" pitchFamily="49" charset="0"/>
                        </a:rPr>
                        <a:t>SUM</a:t>
                      </a:r>
                      <a:r>
                        <a:rPr lang="en-US" sz="1900" b="0" dirty="0">
                          <a:solidFill>
                            <a:srgbClr val="000000"/>
                          </a:solidFill>
                          <a:latin typeface="Consolas" panose="020B0609020204030204" pitchFamily="49" charset="0"/>
                        </a:rPr>
                        <a:t>(salary) </a:t>
                      </a:r>
                      <a:r>
                        <a:rPr lang="en-US" sz="1900" b="0" dirty="0">
                          <a:solidFill>
                            <a:srgbClr val="800000"/>
                          </a:solidFill>
                          <a:latin typeface="Consolas" panose="020B0609020204030204" pitchFamily="49" charset="0"/>
                        </a:rPr>
                        <a:t>OVER</a:t>
                      </a:r>
                      <a:r>
                        <a:rPr lang="en-US" sz="1900" b="0" dirty="0">
                          <a:solidFill>
                            <a:srgbClr val="000000"/>
                          </a:solidFill>
                          <a:latin typeface="Consolas" panose="020B0609020204030204" pitchFamily="49" charset="0"/>
                        </a:rPr>
                        <a:t> (</a:t>
                      </a:r>
                      <a:r>
                        <a:rPr lang="en-US" sz="1900" b="0" dirty="0">
                          <a:solidFill>
                            <a:srgbClr val="800000"/>
                          </a:solidFill>
                          <a:latin typeface="Consolas" panose="020B0609020204030204" pitchFamily="49" charset="0"/>
                        </a:rPr>
                        <a:t>PARTITION</a:t>
                      </a:r>
                      <a:r>
                        <a:rPr lang="en-US" sz="1900" b="0" dirty="0">
                          <a:solidFill>
                            <a:srgbClr val="000000"/>
                          </a:solidFill>
                          <a:latin typeface="Consolas" panose="020B0609020204030204" pitchFamily="49" charset="0"/>
                        </a:rPr>
                        <a:t> </a:t>
                      </a:r>
                      <a:r>
                        <a:rPr lang="en-US" sz="1900" b="0" dirty="0">
                          <a:solidFill>
                            <a:srgbClr val="800000"/>
                          </a:solidFill>
                          <a:latin typeface="Consolas" panose="020B0609020204030204" pitchFamily="49" charset="0"/>
                        </a:rPr>
                        <a:t>BY</a:t>
                      </a:r>
                      <a:r>
                        <a:rPr lang="en-US" sz="1900" b="0" dirty="0">
                          <a:solidFill>
                            <a:srgbClr val="000000"/>
                          </a:solidFill>
                          <a:latin typeface="Consolas" panose="020B0609020204030204" pitchFamily="49" charset="0"/>
                        </a:rPr>
                        <a:t> </a:t>
                      </a:r>
                      <a:r>
                        <a:rPr lang="en-US" sz="1900" b="0" dirty="0" err="1">
                          <a:solidFill>
                            <a:srgbClr val="000000"/>
                          </a:solidFill>
                          <a:latin typeface="Consolas" panose="020B0609020204030204" pitchFamily="49" charset="0"/>
                        </a:rPr>
                        <a:t>workdept</a:t>
                      </a:r>
                      <a:r>
                        <a:rPr lang="en-US" sz="1900" b="0" dirty="0">
                          <a:solidFill>
                            <a:srgbClr val="000000"/>
                          </a:solidFill>
                          <a:latin typeface="Consolas" panose="020B0609020204030204" pitchFamily="49" charset="0"/>
                        </a:rPr>
                        <a:t>)</a:t>
                      </a:r>
                      <a:endParaRPr lang="en-US" sz="1900" b="0" dirty="0"/>
                    </a:p>
                  </a:txBody>
                  <a:tcPr anchor="ctr"/>
                </a:tc>
                <a:extLst>
                  <a:ext uri="{0D108BD9-81ED-4DB2-BD59-A6C34878D82A}">
                    <a16:rowId xmlns:a16="http://schemas.microsoft.com/office/drawing/2014/main" val="2183854875"/>
                  </a:ext>
                </a:extLst>
              </a:tr>
              <a:tr h="0">
                <a:tc>
                  <a:txBody>
                    <a:bodyPr/>
                    <a:lstStyle/>
                    <a:p>
                      <a:r>
                        <a:rPr lang="en-US" sz="2000" dirty="0"/>
                        <a:t>Ranking</a:t>
                      </a:r>
                    </a:p>
                  </a:txBody>
                  <a:tcPr anchor="ctr"/>
                </a:tc>
                <a:tc>
                  <a:txBody>
                    <a:bodyPr/>
                    <a:lstStyle/>
                    <a:p>
                      <a:r>
                        <a:rPr lang="en-US" sz="1900" b="0" dirty="0"/>
                        <a:t>ROW_NUMBER(), RANK(), DENSE_RANK(), NTILE()</a:t>
                      </a:r>
                    </a:p>
                    <a:p>
                      <a:pPr algn="l"/>
                      <a:r>
                        <a:rPr lang="en-US" sz="1900" b="0" dirty="0"/>
                        <a:t>e.g.,: </a:t>
                      </a:r>
                      <a:r>
                        <a:rPr lang="en-US" sz="1900" b="0" dirty="0">
                          <a:solidFill>
                            <a:srgbClr val="800000"/>
                          </a:solidFill>
                          <a:latin typeface="Consolas" panose="020B0609020204030204" pitchFamily="49" charset="0"/>
                        </a:rPr>
                        <a:t>RANK</a:t>
                      </a:r>
                      <a:r>
                        <a:rPr lang="en-US" sz="1900" b="0" dirty="0">
                          <a:solidFill>
                            <a:srgbClr val="000000"/>
                          </a:solidFill>
                          <a:latin typeface="Consolas" panose="020B0609020204030204" pitchFamily="49" charset="0"/>
                        </a:rPr>
                        <a:t>() </a:t>
                      </a:r>
                      <a:r>
                        <a:rPr lang="en-US" sz="1900" b="0" dirty="0">
                          <a:solidFill>
                            <a:srgbClr val="800000"/>
                          </a:solidFill>
                          <a:latin typeface="Consolas" panose="020B0609020204030204" pitchFamily="49" charset="0"/>
                        </a:rPr>
                        <a:t>OVER</a:t>
                      </a:r>
                      <a:r>
                        <a:rPr lang="en-US" sz="1900" b="0" dirty="0">
                          <a:solidFill>
                            <a:srgbClr val="000000"/>
                          </a:solidFill>
                          <a:latin typeface="Consolas" panose="020B0609020204030204" pitchFamily="49" charset="0"/>
                        </a:rPr>
                        <a:t> (</a:t>
                      </a:r>
                      <a:r>
                        <a:rPr lang="en-US" sz="1900" b="0" dirty="0">
                          <a:solidFill>
                            <a:srgbClr val="800000"/>
                          </a:solidFill>
                          <a:latin typeface="Consolas" panose="020B0609020204030204" pitchFamily="49" charset="0"/>
                        </a:rPr>
                        <a:t>PARTITION</a:t>
                      </a:r>
                      <a:r>
                        <a:rPr lang="en-US" sz="1900" b="0" dirty="0">
                          <a:solidFill>
                            <a:srgbClr val="000000"/>
                          </a:solidFill>
                          <a:latin typeface="Consolas" panose="020B0609020204030204" pitchFamily="49" charset="0"/>
                        </a:rPr>
                        <a:t> </a:t>
                      </a:r>
                      <a:r>
                        <a:rPr lang="en-US" sz="1900" b="0" dirty="0">
                          <a:solidFill>
                            <a:srgbClr val="800000"/>
                          </a:solidFill>
                          <a:latin typeface="Consolas" panose="020B0609020204030204" pitchFamily="49" charset="0"/>
                        </a:rPr>
                        <a:t>BY</a:t>
                      </a:r>
                      <a:r>
                        <a:rPr lang="en-US" sz="1900" b="0" dirty="0">
                          <a:solidFill>
                            <a:srgbClr val="000000"/>
                          </a:solidFill>
                          <a:latin typeface="Consolas" panose="020B0609020204030204" pitchFamily="49" charset="0"/>
                        </a:rPr>
                        <a:t> </a:t>
                      </a:r>
                      <a:r>
                        <a:rPr lang="en-US" sz="1900" b="0" dirty="0" err="1">
                          <a:solidFill>
                            <a:srgbClr val="000000"/>
                          </a:solidFill>
                          <a:latin typeface="Consolas" panose="020B0609020204030204" pitchFamily="49" charset="0"/>
                        </a:rPr>
                        <a:t>workdept</a:t>
                      </a:r>
                      <a:r>
                        <a:rPr lang="en-US" sz="1900" b="0" dirty="0">
                          <a:solidFill>
                            <a:srgbClr val="000000"/>
                          </a:solidFill>
                          <a:latin typeface="Consolas" panose="020B0609020204030204" pitchFamily="49" charset="0"/>
                        </a:rPr>
                        <a:t> </a:t>
                      </a:r>
                      <a:r>
                        <a:rPr lang="en-US" sz="1900" b="0" dirty="0">
                          <a:solidFill>
                            <a:srgbClr val="800000"/>
                          </a:solidFill>
                          <a:latin typeface="Consolas" panose="020B0609020204030204" pitchFamily="49" charset="0"/>
                        </a:rPr>
                        <a:t>ORDER</a:t>
                      </a:r>
                      <a:r>
                        <a:rPr lang="en-US" sz="1900" b="0" dirty="0">
                          <a:solidFill>
                            <a:srgbClr val="000000"/>
                          </a:solidFill>
                          <a:latin typeface="Consolas" panose="020B0609020204030204" pitchFamily="49" charset="0"/>
                        </a:rPr>
                        <a:t> </a:t>
                      </a:r>
                      <a:r>
                        <a:rPr lang="en-US" sz="1900" b="0" dirty="0">
                          <a:solidFill>
                            <a:srgbClr val="800000"/>
                          </a:solidFill>
                          <a:latin typeface="Consolas" panose="020B0609020204030204" pitchFamily="49" charset="0"/>
                        </a:rPr>
                        <a:t>BY</a:t>
                      </a:r>
                      <a:r>
                        <a:rPr lang="en-US" sz="1900" b="0" dirty="0">
                          <a:solidFill>
                            <a:srgbClr val="000000"/>
                          </a:solidFill>
                          <a:latin typeface="Consolas" panose="020B0609020204030204" pitchFamily="49" charset="0"/>
                        </a:rPr>
                        <a:t> salary </a:t>
                      </a:r>
                      <a:r>
                        <a:rPr lang="en-US" sz="1900" b="0" dirty="0">
                          <a:solidFill>
                            <a:srgbClr val="800000"/>
                          </a:solidFill>
                          <a:latin typeface="Consolas" panose="020B0609020204030204" pitchFamily="49" charset="0"/>
                        </a:rPr>
                        <a:t>DESC</a:t>
                      </a:r>
                      <a:r>
                        <a:rPr lang="en-US" sz="1900" b="0" dirty="0">
                          <a:solidFill>
                            <a:srgbClr val="000000"/>
                          </a:solidFill>
                          <a:latin typeface="Consolas" panose="020B0609020204030204" pitchFamily="49" charset="0"/>
                        </a:rPr>
                        <a:t>)</a:t>
                      </a:r>
                    </a:p>
                  </a:txBody>
                  <a:tcPr anchor="ctr"/>
                </a:tc>
                <a:extLst>
                  <a:ext uri="{0D108BD9-81ED-4DB2-BD59-A6C34878D82A}">
                    <a16:rowId xmlns:a16="http://schemas.microsoft.com/office/drawing/2014/main" val="1963944785"/>
                  </a:ext>
                </a:extLst>
              </a:tr>
              <a:tr h="0">
                <a:tc>
                  <a:txBody>
                    <a:bodyPr/>
                    <a:lstStyle/>
                    <a:p>
                      <a:r>
                        <a:rPr lang="en-US" sz="2000" dirty="0"/>
                        <a:t>Offsets</a:t>
                      </a:r>
                    </a:p>
                  </a:txBody>
                  <a:tcPr anchor="ctr"/>
                </a:tc>
                <a:tc>
                  <a:txBody>
                    <a:bodyPr/>
                    <a:lstStyle/>
                    <a:p>
                      <a:r>
                        <a:rPr lang="en-US" sz="1900" b="0" dirty="0"/>
                        <a:t>LAG(), LEAD(), FIRST_VALUE(), LAST_VALUE()</a:t>
                      </a:r>
                    </a:p>
                    <a:p>
                      <a:pPr algn="l"/>
                      <a:r>
                        <a:rPr lang="en-US" sz="1900" b="0" dirty="0"/>
                        <a:t>e.g.: </a:t>
                      </a:r>
                      <a:r>
                        <a:rPr lang="en-US" sz="1900" b="0" dirty="0">
                          <a:solidFill>
                            <a:srgbClr val="000080"/>
                          </a:solidFill>
                          <a:latin typeface="Consolas" panose="020B0609020204030204" pitchFamily="49" charset="0"/>
                        </a:rPr>
                        <a:t>FIRST_VALUE</a:t>
                      </a:r>
                      <a:r>
                        <a:rPr lang="en-US" sz="1900" b="0" dirty="0">
                          <a:solidFill>
                            <a:srgbClr val="000000"/>
                          </a:solidFill>
                          <a:latin typeface="Consolas" panose="020B0609020204030204" pitchFamily="49" charset="0"/>
                        </a:rPr>
                        <a:t>(salary) </a:t>
                      </a:r>
                      <a:r>
                        <a:rPr lang="en-US" sz="1900" b="0" dirty="0">
                          <a:solidFill>
                            <a:srgbClr val="800000"/>
                          </a:solidFill>
                          <a:latin typeface="Consolas" panose="020B0609020204030204" pitchFamily="49" charset="0"/>
                        </a:rPr>
                        <a:t>OVER</a:t>
                      </a:r>
                      <a:r>
                        <a:rPr lang="en-US" sz="1900" b="0" dirty="0">
                          <a:solidFill>
                            <a:srgbClr val="000000"/>
                          </a:solidFill>
                          <a:latin typeface="Consolas" panose="020B0609020204030204" pitchFamily="49" charset="0"/>
                        </a:rPr>
                        <a:t> (</a:t>
                      </a:r>
                      <a:r>
                        <a:rPr lang="en-US" sz="1900" b="0" dirty="0">
                          <a:solidFill>
                            <a:srgbClr val="800000"/>
                          </a:solidFill>
                          <a:latin typeface="Consolas" panose="020B0609020204030204" pitchFamily="49" charset="0"/>
                        </a:rPr>
                        <a:t>PARTITION</a:t>
                      </a:r>
                      <a:r>
                        <a:rPr lang="en-US" sz="1900" b="0" dirty="0">
                          <a:solidFill>
                            <a:srgbClr val="000000"/>
                          </a:solidFill>
                          <a:latin typeface="Consolas" panose="020B0609020204030204" pitchFamily="49" charset="0"/>
                        </a:rPr>
                        <a:t> </a:t>
                      </a:r>
                      <a:r>
                        <a:rPr lang="en-US" sz="1900" b="0" dirty="0">
                          <a:solidFill>
                            <a:srgbClr val="800000"/>
                          </a:solidFill>
                          <a:latin typeface="Consolas" panose="020B0609020204030204" pitchFamily="49" charset="0"/>
                        </a:rPr>
                        <a:t>BY</a:t>
                      </a:r>
                      <a:r>
                        <a:rPr lang="en-US" sz="1900" b="0" dirty="0">
                          <a:solidFill>
                            <a:srgbClr val="000000"/>
                          </a:solidFill>
                          <a:latin typeface="Consolas" panose="020B0609020204030204" pitchFamily="49" charset="0"/>
                        </a:rPr>
                        <a:t> </a:t>
                      </a:r>
                      <a:r>
                        <a:rPr lang="en-US" sz="1900" b="0" dirty="0" err="1">
                          <a:solidFill>
                            <a:srgbClr val="000000"/>
                          </a:solidFill>
                          <a:latin typeface="Consolas" panose="020B0609020204030204" pitchFamily="49" charset="0"/>
                        </a:rPr>
                        <a:t>workdept</a:t>
                      </a:r>
                      <a:r>
                        <a:rPr lang="en-US" sz="1900" b="0" dirty="0">
                          <a:solidFill>
                            <a:srgbClr val="000000"/>
                          </a:solidFill>
                          <a:latin typeface="Consolas" panose="020B0609020204030204" pitchFamily="49" charset="0"/>
                        </a:rPr>
                        <a:t> </a:t>
                      </a:r>
                      <a:r>
                        <a:rPr lang="en-US" sz="1900" b="0" dirty="0">
                          <a:solidFill>
                            <a:srgbClr val="800000"/>
                          </a:solidFill>
                          <a:latin typeface="Consolas" panose="020B0609020204030204" pitchFamily="49" charset="0"/>
                        </a:rPr>
                        <a:t>ORDER</a:t>
                      </a:r>
                      <a:r>
                        <a:rPr lang="en-US" sz="1900" b="0" dirty="0">
                          <a:solidFill>
                            <a:srgbClr val="000000"/>
                          </a:solidFill>
                          <a:latin typeface="Consolas" panose="020B0609020204030204" pitchFamily="49" charset="0"/>
                        </a:rPr>
                        <a:t> </a:t>
                      </a:r>
                      <a:r>
                        <a:rPr lang="en-US" sz="1900" b="0" dirty="0">
                          <a:solidFill>
                            <a:srgbClr val="800000"/>
                          </a:solidFill>
                          <a:latin typeface="Consolas" panose="020B0609020204030204" pitchFamily="49" charset="0"/>
                        </a:rPr>
                        <a:t>BY</a:t>
                      </a:r>
                      <a:r>
                        <a:rPr lang="en-US" sz="1900" b="0" dirty="0">
                          <a:solidFill>
                            <a:srgbClr val="000000"/>
                          </a:solidFill>
                          <a:latin typeface="Consolas" panose="020B0609020204030204" pitchFamily="49" charset="0"/>
                        </a:rPr>
                        <a:t> </a:t>
                      </a:r>
                      <a:r>
                        <a:rPr lang="en-US" sz="1900" b="0" dirty="0" err="1">
                          <a:solidFill>
                            <a:srgbClr val="000000"/>
                          </a:solidFill>
                          <a:latin typeface="Consolas" panose="020B0609020204030204" pitchFamily="49" charset="0"/>
                        </a:rPr>
                        <a:t>hiredate</a:t>
                      </a:r>
                      <a:r>
                        <a:rPr lang="en-US" sz="1900" b="0" dirty="0">
                          <a:solidFill>
                            <a:srgbClr val="000000"/>
                          </a:solidFill>
                          <a:latin typeface="Consolas" panose="020B0609020204030204" pitchFamily="49" charset="0"/>
                        </a:rPr>
                        <a:t>)</a:t>
                      </a:r>
                    </a:p>
                  </a:txBody>
                  <a:tcPr anchor="ctr"/>
                </a:tc>
                <a:extLst>
                  <a:ext uri="{0D108BD9-81ED-4DB2-BD59-A6C34878D82A}">
                    <a16:rowId xmlns:a16="http://schemas.microsoft.com/office/drawing/2014/main" val="3418770384"/>
                  </a:ext>
                </a:extLst>
              </a:tr>
              <a:tr h="0">
                <a:tc>
                  <a:txBody>
                    <a:bodyPr/>
                    <a:lstStyle/>
                    <a:p>
                      <a:r>
                        <a:rPr lang="en-US" sz="2000" dirty="0"/>
                        <a:t>Distributions</a:t>
                      </a:r>
                    </a:p>
                  </a:txBody>
                  <a:tcPr anchor="ctr"/>
                </a:tc>
                <a:tc>
                  <a:txBody>
                    <a:bodyPr/>
                    <a:lstStyle/>
                    <a:p>
                      <a:r>
                        <a:rPr lang="en-US" sz="1900" b="0" dirty="0"/>
                        <a:t>PERCENT_RANK(), CUME_DIST(), NTH_VALUE()</a:t>
                      </a:r>
                    </a:p>
                    <a:p>
                      <a:pPr algn="l"/>
                      <a:r>
                        <a:rPr lang="en-US" sz="1900" b="0" dirty="0">
                          <a:solidFill>
                            <a:srgbClr val="000080"/>
                          </a:solidFill>
                          <a:latin typeface="Consolas" panose="020B0609020204030204" pitchFamily="49" charset="0"/>
                        </a:rPr>
                        <a:t>PERCENT_RANK</a:t>
                      </a:r>
                      <a:r>
                        <a:rPr lang="en-US" sz="1900" b="0" dirty="0">
                          <a:solidFill>
                            <a:srgbClr val="000000"/>
                          </a:solidFill>
                          <a:latin typeface="Consolas" panose="020B0609020204030204" pitchFamily="49" charset="0"/>
                        </a:rPr>
                        <a:t>() </a:t>
                      </a:r>
                      <a:r>
                        <a:rPr lang="en-US" sz="1900" b="0" dirty="0">
                          <a:solidFill>
                            <a:srgbClr val="800000"/>
                          </a:solidFill>
                          <a:latin typeface="Consolas" panose="020B0609020204030204" pitchFamily="49" charset="0"/>
                        </a:rPr>
                        <a:t>OVER</a:t>
                      </a:r>
                      <a:r>
                        <a:rPr lang="en-US" sz="1900" b="0" dirty="0">
                          <a:solidFill>
                            <a:srgbClr val="000000"/>
                          </a:solidFill>
                          <a:latin typeface="Consolas" panose="020B0609020204030204" pitchFamily="49" charset="0"/>
                        </a:rPr>
                        <a:t> (</a:t>
                      </a:r>
                      <a:r>
                        <a:rPr lang="en-US" sz="1900" b="0" dirty="0">
                          <a:solidFill>
                            <a:srgbClr val="800000"/>
                          </a:solidFill>
                          <a:latin typeface="Consolas" panose="020B0609020204030204" pitchFamily="49" charset="0"/>
                        </a:rPr>
                        <a:t>PARTITION</a:t>
                      </a:r>
                      <a:r>
                        <a:rPr lang="en-US" sz="1900" b="0" dirty="0">
                          <a:solidFill>
                            <a:srgbClr val="000000"/>
                          </a:solidFill>
                          <a:latin typeface="Consolas" panose="020B0609020204030204" pitchFamily="49" charset="0"/>
                        </a:rPr>
                        <a:t> </a:t>
                      </a:r>
                      <a:r>
                        <a:rPr lang="en-US" sz="1900" b="0" dirty="0">
                          <a:solidFill>
                            <a:srgbClr val="800000"/>
                          </a:solidFill>
                          <a:latin typeface="Consolas" panose="020B0609020204030204" pitchFamily="49" charset="0"/>
                        </a:rPr>
                        <a:t>BY</a:t>
                      </a:r>
                      <a:r>
                        <a:rPr lang="en-US" sz="1900" b="0" dirty="0">
                          <a:solidFill>
                            <a:srgbClr val="000000"/>
                          </a:solidFill>
                          <a:latin typeface="Consolas" panose="020B0609020204030204" pitchFamily="49" charset="0"/>
                        </a:rPr>
                        <a:t> </a:t>
                      </a:r>
                      <a:r>
                        <a:rPr lang="en-US" sz="1900" b="0" dirty="0" err="1">
                          <a:solidFill>
                            <a:srgbClr val="000000"/>
                          </a:solidFill>
                          <a:latin typeface="Consolas" panose="020B0609020204030204" pitchFamily="49" charset="0"/>
                        </a:rPr>
                        <a:t>workdept</a:t>
                      </a:r>
                      <a:r>
                        <a:rPr lang="en-US" sz="1900" b="0" dirty="0">
                          <a:solidFill>
                            <a:srgbClr val="000000"/>
                          </a:solidFill>
                          <a:latin typeface="Consolas" panose="020B0609020204030204" pitchFamily="49" charset="0"/>
                        </a:rPr>
                        <a:t> </a:t>
                      </a:r>
                      <a:r>
                        <a:rPr lang="en-US" sz="1900" b="0" dirty="0">
                          <a:solidFill>
                            <a:srgbClr val="800000"/>
                          </a:solidFill>
                          <a:latin typeface="Consolas" panose="020B0609020204030204" pitchFamily="49" charset="0"/>
                        </a:rPr>
                        <a:t>ORDER</a:t>
                      </a:r>
                      <a:r>
                        <a:rPr lang="en-US" sz="1900" b="0" dirty="0">
                          <a:solidFill>
                            <a:srgbClr val="000000"/>
                          </a:solidFill>
                          <a:latin typeface="Consolas" panose="020B0609020204030204" pitchFamily="49" charset="0"/>
                        </a:rPr>
                        <a:t> </a:t>
                      </a:r>
                      <a:r>
                        <a:rPr lang="en-US" sz="1900" b="0" dirty="0">
                          <a:solidFill>
                            <a:srgbClr val="800000"/>
                          </a:solidFill>
                          <a:latin typeface="Consolas" panose="020B0609020204030204" pitchFamily="49" charset="0"/>
                        </a:rPr>
                        <a:t>BY</a:t>
                      </a:r>
                      <a:r>
                        <a:rPr lang="en-US" sz="1900" b="0" dirty="0">
                          <a:solidFill>
                            <a:srgbClr val="000000"/>
                          </a:solidFill>
                          <a:latin typeface="Consolas" panose="020B0609020204030204" pitchFamily="49" charset="0"/>
                        </a:rPr>
                        <a:t> salary)</a:t>
                      </a:r>
                    </a:p>
                  </a:txBody>
                  <a:tcPr anchor="ctr"/>
                </a:tc>
                <a:extLst>
                  <a:ext uri="{0D108BD9-81ED-4DB2-BD59-A6C34878D82A}">
                    <a16:rowId xmlns:a16="http://schemas.microsoft.com/office/drawing/2014/main" val="816983337"/>
                  </a:ext>
                </a:extLst>
              </a:tr>
            </a:tbl>
          </a:graphicData>
        </a:graphic>
      </p:graphicFrame>
      <p:graphicFrame>
        <p:nvGraphicFramePr>
          <p:cNvPr id="21" name="Table 20">
            <a:extLst>
              <a:ext uri="{FF2B5EF4-FFF2-40B4-BE49-F238E27FC236}">
                <a16:creationId xmlns:a16="http://schemas.microsoft.com/office/drawing/2014/main" id="{30F36009-04B8-D157-7362-874F4C0A81C3}"/>
              </a:ext>
            </a:extLst>
          </p:cNvPr>
          <p:cNvGraphicFramePr>
            <a:graphicFrameLocks noGrp="1"/>
          </p:cNvGraphicFramePr>
          <p:nvPr>
            <p:extLst>
              <p:ext uri="{D42A27DB-BD31-4B8C-83A1-F6EECF244321}">
                <p14:modId xmlns:p14="http://schemas.microsoft.com/office/powerpoint/2010/main" val="1234269344"/>
              </p:ext>
            </p:extLst>
          </p:nvPr>
        </p:nvGraphicFramePr>
        <p:xfrm>
          <a:off x="184297" y="3962400"/>
          <a:ext cx="11672886" cy="2377440"/>
        </p:xfrm>
        <a:graphic>
          <a:graphicData uri="http://schemas.openxmlformats.org/drawingml/2006/table">
            <a:tbl>
              <a:tblPr>
                <a:tableStyleId>{5940675A-B579-460E-94D1-54222C63F5DA}</a:tableStyleId>
              </a:tblPr>
              <a:tblGrid>
                <a:gridCol w="2218315">
                  <a:extLst>
                    <a:ext uri="{9D8B030D-6E8A-4147-A177-3AD203B41FA5}">
                      <a16:colId xmlns:a16="http://schemas.microsoft.com/office/drawing/2014/main" val="2301195881"/>
                    </a:ext>
                  </a:extLst>
                </a:gridCol>
                <a:gridCol w="2590800">
                  <a:extLst>
                    <a:ext uri="{9D8B030D-6E8A-4147-A177-3AD203B41FA5}">
                      <a16:colId xmlns:a16="http://schemas.microsoft.com/office/drawing/2014/main" val="810907575"/>
                    </a:ext>
                  </a:extLst>
                </a:gridCol>
                <a:gridCol w="6863771">
                  <a:extLst>
                    <a:ext uri="{9D8B030D-6E8A-4147-A177-3AD203B41FA5}">
                      <a16:colId xmlns:a16="http://schemas.microsoft.com/office/drawing/2014/main" val="2962418072"/>
                    </a:ext>
                  </a:extLst>
                </a:gridCol>
              </a:tblGrid>
              <a:tr h="237392">
                <a:tc>
                  <a:txBody>
                    <a:bodyPr/>
                    <a:lstStyle/>
                    <a:p>
                      <a:r>
                        <a:rPr lang="en-US" sz="1200" b="0" kern="1200" dirty="0">
                          <a:solidFill>
                            <a:schemeClr val="tx1"/>
                          </a:solidFill>
                        </a:rPr>
                        <a:t>NTILE</a:t>
                      </a:r>
                      <a:r>
                        <a:rPr lang="en-US" sz="1200" b="0" dirty="0">
                          <a:solidFill>
                            <a:schemeClr val="tx1"/>
                          </a:solidFill>
                        </a:rPr>
                        <a:t>(n)</a:t>
                      </a:r>
                    </a:p>
                  </a:txBody>
                  <a:tcPr anchor="ctr"/>
                </a:tc>
                <a:tc>
                  <a:txBody>
                    <a:bodyPr/>
                    <a:lstStyle/>
                    <a:p>
                      <a:r>
                        <a:rPr lang="en-US" sz="1200" dirty="0">
                          <a:solidFill>
                            <a:schemeClr val="tx1"/>
                          </a:solidFill>
                        </a:rPr>
                        <a:t>Divides rows into n buckets</a:t>
                      </a:r>
                    </a:p>
                  </a:txBody>
                  <a:tcPr anchor="ctr"/>
                </a:tc>
                <a:tc>
                  <a:txBody>
                    <a:bodyPr/>
                    <a:lstStyle/>
                    <a:p>
                      <a:r>
                        <a:rPr lang="en-US" sz="1200" dirty="0">
                          <a:solidFill>
                            <a:schemeClr val="tx1"/>
                          </a:solidFill>
                        </a:rPr>
                        <a:t>NTILE(4) OVER (ORDER BY sales)</a:t>
                      </a:r>
                    </a:p>
                  </a:txBody>
                  <a:tcPr anchor="ctr"/>
                </a:tc>
                <a:extLst>
                  <a:ext uri="{0D108BD9-81ED-4DB2-BD59-A6C34878D82A}">
                    <a16:rowId xmlns:a16="http://schemas.microsoft.com/office/drawing/2014/main" val="2541467696"/>
                  </a:ext>
                </a:extLst>
              </a:tr>
              <a:tr h="237392">
                <a:tc>
                  <a:txBody>
                    <a:bodyPr/>
                    <a:lstStyle/>
                    <a:p>
                      <a:r>
                        <a:rPr lang="en-US" sz="1200" dirty="0"/>
                        <a:t>LAG(expr, offset, default)</a:t>
                      </a:r>
                    </a:p>
                  </a:txBody>
                  <a:tcPr anchor="ctr"/>
                </a:tc>
                <a:tc>
                  <a:txBody>
                    <a:bodyPr/>
                    <a:lstStyle/>
                    <a:p>
                      <a:r>
                        <a:rPr lang="en-US" sz="1200"/>
                        <a:t>Value from previous row</a:t>
                      </a:r>
                    </a:p>
                  </a:txBody>
                  <a:tcPr anchor="ctr"/>
                </a:tc>
                <a:tc>
                  <a:txBody>
                    <a:bodyPr/>
                    <a:lstStyle/>
                    <a:p>
                      <a:r>
                        <a:rPr lang="en-US" sz="1200"/>
                        <a:t>LAG(salary, 1, 0) OVER (PARTITION BY dept ORDER BY id)</a:t>
                      </a:r>
                    </a:p>
                  </a:txBody>
                  <a:tcPr anchor="ctr"/>
                </a:tc>
                <a:extLst>
                  <a:ext uri="{0D108BD9-81ED-4DB2-BD59-A6C34878D82A}">
                    <a16:rowId xmlns:a16="http://schemas.microsoft.com/office/drawing/2014/main" val="1002280633"/>
                  </a:ext>
                </a:extLst>
              </a:tr>
              <a:tr h="237392">
                <a:tc>
                  <a:txBody>
                    <a:bodyPr/>
                    <a:lstStyle/>
                    <a:p>
                      <a:r>
                        <a:rPr lang="en-US" sz="1200" dirty="0"/>
                        <a:t>LEAD(expr, offset, default)</a:t>
                      </a:r>
                    </a:p>
                  </a:txBody>
                  <a:tcPr anchor="ctr"/>
                </a:tc>
                <a:tc>
                  <a:txBody>
                    <a:bodyPr/>
                    <a:lstStyle/>
                    <a:p>
                      <a:r>
                        <a:rPr lang="en-US" sz="1200"/>
                        <a:t>Value from next row</a:t>
                      </a:r>
                    </a:p>
                  </a:txBody>
                  <a:tcPr anchor="ctr"/>
                </a:tc>
                <a:tc>
                  <a:txBody>
                    <a:bodyPr/>
                    <a:lstStyle/>
                    <a:p>
                      <a:r>
                        <a:rPr lang="en-US" sz="1200"/>
                        <a:t>LEAD(score) OVER (ORDER BY test_date)</a:t>
                      </a:r>
                    </a:p>
                  </a:txBody>
                  <a:tcPr anchor="ctr"/>
                </a:tc>
                <a:extLst>
                  <a:ext uri="{0D108BD9-81ED-4DB2-BD59-A6C34878D82A}">
                    <a16:rowId xmlns:a16="http://schemas.microsoft.com/office/drawing/2014/main" val="925430125"/>
                  </a:ext>
                </a:extLst>
              </a:tr>
              <a:tr h="237392">
                <a:tc>
                  <a:txBody>
                    <a:bodyPr/>
                    <a:lstStyle/>
                    <a:p>
                      <a:r>
                        <a:rPr lang="en-US" sz="1200" dirty="0"/>
                        <a:t>FIRST_VALUE()</a:t>
                      </a:r>
                    </a:p>
                  </a:txBody>
                  <a:tcPr anchor="ctr"/>
                </a:tc>
                <a:tc>
                  <a:txBody>
                    <a:bodyPr/>
                    <a:lstStyle/>
                    <a:p>
                      <a:r>
                        <a:rPr lang="en-US" sz="1200" dirty="0"/>
                        <a:t>First value in the window frame</a:t>
                      </a:r>
                    </a:p>
                  </a:txBody>
                  <a:tcPr anchor="ctr"/>
                </a:tc>
                <a:tc>
                  <a:txBody>
                    <a:bodyPr/>
                    <a:lstStyle/>
                    <a:p>
                      <a:r>
                        <a:rPr lang="en-US" sz="1200"/>
                        <a:t>FIRST_VALUE(salary) OVER (PARTITION BY dept ORDER BY hire_date)</a:t>
                      </a:r>
                    </a:p>
                  </a:txBody>
                  <a:tcPr anchor="ctr"/>
                </a:tc>
                <a:extLst>
                  <a:ext uri="{0D108BD9-81ED-4DB2-BD59-A6C34878D82A}">
                    <a16:rowId xmlns:a16="http://schemas.microsoft.com/office/drawing/2014/main" val="2852899530"/>
                  </a:ext>
                </a:extLst>
              </a:tr>
              <a:tr h="395654">
                <a:tc>
                  <a:txBody>
                    <a:bodyPr/>
                    <a:lstStyle/>
                    <a:p>
                      <a:r>
                        <a:rPr lang="en-US" sz="1200" dirty="0"/>
                        <a:t>LAST_VALUE()</a:t>
                      </a:r>
                    </a:p>
                  </a:txBody>
                  <a:tcPr anchor="ctr"/>
                </a:tc>
                <a:tc>
                  <a:txBody>
                    <a:bodyPr/>
                    <a:lstStyle/>
                    <a:p>
                      <a:r>
                        <a:rPr lang="en-US" sz="1200" dirty="0"/>
                        <a:t>Last value in the window frame</a:t>
                      </a:r>
                    </a:p>
                  </a:txBody>
                  <a:tcPr anchor="ctr"/>
                </a:tc>
                <a:tc>
                  <a:txBody>
                    <a:bodyPr/>
                    <a:lstStyle/>
                    <a:p>
                      <a:r>
                        <a:rPr lang="en-US" sz="1200" dirty="0"/>
                        <a:t>LAST_VALUE(score) OVER (ORDER BY date ROWS BETWEEN UNBOUNDED PRECEDING AND UNBOUNDED FOLLOWING)</a:t>
                      </a:r>
                    </a:p>
                  </a:txBody>
                  <a:tcPr anchor="ctr"/>
                </a:tc>
                <a:extLst>
                  <a:ext uri="{0D108BD9-81ED-4DB2-BD59-A6C34878D82A}">
                    <a16:rowId xmlns:a16="http://schemas.microsoft.com/office/drawing/2014/main" val="3325243952"/>
                  </a:ext>
                </a:extLst>
              </a:tr>
              <a:tr h="237392">
                <a:tc>
                  <a:txBody>
                    <a:bodyPr/>
                    <a:lstStyle/>
                    <a:p>
                      <a:r>
                        <a:rPr lang="en-US" sz="1200" dirty="0"/>
                        <a:t>PERCENT_RANK()</a:t>
                      </a:r>
                    </a:p>
                  </a:txBody>
                  <a:tcPr anchor="ctr"/>
                </a:tc>
                <a:tc>
                  <a:txBody>
                    <a:bodyPr/>
                    <a:lstStyle/>
                    <a:p>
                      <a:r>
                        <a:rPr lang="en-US" sz="1200"/>
                        <a:t>Relative rank (0 to 1)</a:t>
                      </a:r>
                    </a:p>
                  </a:txBody>
                  <a:tcPr anchor="ctr"/>
                </a:tc>
                <a:tc>
                  <a:txBody>
                    <a:bodyPr/>
                    <a:lstStyle/>
                    <a:p>
                      <a:r>
                        <a:rPr lang="en-US" sz="1200"/>
                        <a:t>PERCENT_RANK() OVER (PARTITION BY dept ORDER BY salary)</a:t>
                      </a:r>
                    </a:p>
                  </a:txBody>
                  <a:tcPr anchor="ctr"/>
                </a:tc>
                <a:extLst>
                  <a:ext uri="{0D108BD9-81ED-4DB2-BD59-A6C34878D82A}">
                    <a16:rowId xmlns:a16="http://schemas.microsoft.com/office/drawing/2014/main" val="875092043"/>
                  </a:ext>
                </a:extLst>
              </a:tr>
              <a:tr h="237392">
                <a:tc>
                  <a:txBody>
                    <a:bodyPr/>
                    <a:lstStyle/>
                    <a:p>
                      <a:r>
                        <a:rPr lang="en-US" sz="1200"/>
                        <a:t>CUME_DIST()</a:t>
                      </a:r>
                    </a:p>
                  </a:txBody>
                  <a:tcPr anchor="ctr"/>
                </a:tc>
                <a:tc>
                  <a:txBody>
                    <a:bodyPr/>
                    <a:lstStyle/>
                    <a:p>
                      <a:r>
                        <a:rPr lang="en-US" sz="1200"/>
                        <a:t>Cumulative distribution (0 to 1)</a:t>
                      </a:r>
                    </a:p>
                  </a:txBody>
                  <a:tcPr anchor="ctr"/>
                </a:tc>
                <a:tc>
                  <a:txBody>
                    <a:bodyPr/>
                    <a:lstStyle/>
                    <a:p>
                      <a:r>
                        <a:rPr lang="en-US" sz="1200"/>
                        <a:t>CUME_DIST() OVER (ORDER BY score)</a:t>
                      </a:r>
                    </a:p>
                  </a:txBody>
                  <a:tcPr anchor="ctr"/>
                </a:tc>
                <a:extLst>
                  <a:ext uri="{0D108BD9-81ED-4DB2-BD59-A6C34878D82A}">
                    <a16:rowId xmlns:a16="http://schemas.microsoft.com/office/drawing/2014/main" val="2015828413"/>
                  </a:ext>
                </a:extLst>
              </a:tr>
              <a:tr h="237392">
                <a:tc>
                  <a:txBody>
                    <a:bodyPr/>
                    <a:lstStyle/>
                    <a:p>
                      <a:r>
                        <a:rPr lang="en-US" sz="1200"/>
                        <a:t>NTH_VALUE(expr, n)</a:t>
                      </a:r>
                    </a:p>
                  </a:txBody>
                  <a:tcPr anchor="ctr"/>
                </a:tc>
                <a:tc>
                  <a:txBody>
                    <a:bodyPr/>
                    <a:lstStyle/>
                    <a:p>
                      <a:r>
                        <a:rPr lang="en-US" sz="1200"/>
                        <a:t>Returns the nth value in window</a:t>
                      </a:r>
                    </a:p>
                  </a:txBody>
                  <a:tcPr anchor="ctr"/>
                </a:tc>
                <a:tc>
                  <a:txBody>
                    <a:bodyPr/>
                    <a:lstStyle/>
                    <a:p>
                      <a:r>
                        <a:rPr lang="en-US" sz="1200" dirty="0"/>
                        <a:t>NTH_VALUE(score, 2) OVER (ORDER BY date)</a:t>
                      </a:r>
                    </a:p>
                  </a:txBody>
                  <a:tcPr anchor="ctr"/>
                </a:tc>
                <a:extLst>
                  <a:ext uri="{0D108BD9-81ED-4DB2-BD59-A6C34878D82A}">
                    <a16:rowId xmlns:a16="http://schemas.microsoft.com/office/drawing/2014/main" val="798438415"/>
                  </a:ext>
                </a:extLst>
              </a:tr>
            </a:tbl>
          </a:graphicData>
        </a:graphic>
      </p:graphicFrame>
    </p:spTree>
    <p:extLst>
      <p:ext uri="{BB962C8B-B14F-4D97-AF65-F5344CB8AC3E}">
        <p14:creationId xmlns:p14="http://schemas.microsoft.com/office/powerpoint/2010/main" val="1905395202"/>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91430-4925-7582-96D2-58E55C949EB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D8E7DA1-CE13-3057-5A50-BD43FAC67BCF}"/>
              </a:ext>
            </a:extLst>
          </p:cNvPr>
          <p:cNvSpPr>
            <a:spLocks noGrp="1"/>
          </p:cNvSpPr>
          <p:nvPr>
            <p:ph idx="1"/>
          </p:nvPr>
        </p:nvSpPr>
        <p:spPr/>
        <p:txBody>
          <a:bodyPr/>
          <a:lstStyle/>
          <a:p>
            <a:r>
              <a:rPr lang="en-US" dirty="0"/>
              <a:t>Moving Window</a:t>
            </a:r>
          </a:p>
        </p:txBody>
      </p:sp>
    </p:spTree>
    <p:extLst>
      <p:ext uri="{BB962C8B-B14F-4D97-AF65-F5344CB8AC3E}">
        <p14:creationId xmlns:p14="http://schemas.microsoft.com/office/powerpoint/2010/main" val="4138722535"/>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Windowing</a:t>
            </a:r>
          </a:p>
        </p:txBody>
      </p:sp>
      <p:sp>
        <p:nvSpPr>
          <p:cNvPr id="3" name="Content Placeholder 2"/>
          <p:cNvSpPr>
            <a:spLocks noGrp="1"/>
          </p:cNvSpPr>
          <p:nvPr>
            <p:ph idx="1"/>
          </p:nvPr>
        </p:nvSpPr>
        <p:spPr/>
        <p:txBody>
          <a:bodyPr/>
          <a:lstStyle/>
          <a:p>
            <a:r>
              <a:rPr lang="en-US" dirty="0"/>
              <a:t>Work on a "window" of matching rows. This window can be defined as:</a:t>
            </a:r>
          </a:p>
          <a:p>
            <a:pPr lvl="1">
              <a:spcBef>
                <a:spcPts val="0"/>
              </a:spcBef>
            </a:pPr>
            <a:r>
              <a:rPr lang="en-US" sz="2000" dirty="0">
                <a:solidFill>
                  <a:schemeClr val="bg2"/>
                </a:solidFill>
              </a:rPr>
              <a:t>All matching rows</a:t>
            </a:r>
          </a:p>
          <a:p>
            <a:pPr lvl="1">
              <a:spcBef>
                <a:spcPts val="0"/>
              </a:spcBef>
            </a:pPr>
            <a:r>
              <a:rPr lang="en-US" sz="2000" dirty="0">
                <a:solidFill>
                  <a:schemeClr val="bg2"/>
                </a:solidFill>
              </a:rPr>
              <a:t>All matching rows within a partition</a:t>
            </a:r>
          </a:p>
          <a:p>
            <a:pPr lvl="1">
              <a:spcBef>
                <a:spcPts val="0"/>
              </a:spcBef>
            </a:pPr>
            <a:r>
              <a:rPr lang="en-US" sz="2000" dirty="0"/>
              <a:t>Sliding windows: some moving subset of the matching rows (within a partition, if defined)</a:t>
            </a:r>
          </a:p>
          <a:p>
            <a:r>
              <a:rPr lang="en-US" dirty="0"/>
              <a:t>A moving window has to have an </a:t>
            </a:r>
            <a:r>
              <a:rPr lang="en-US" dirty="0">
                <a:solidFill>
                  <a:schemeClr val="accent6"/>
                </a:solidFill>
              </a:rPr>
              <a:t>ORDER BY </a:t>
            </a:r>
            <a:r>
              <a:rPr lang="en-US" dirty="0"/>
              <a:t>clause so that the set of matching rows can be determined</a:t>
            </a:r>
          </a:p>
          <a:p>
            <a:r>
              <a:rPr lang="en-US" dirty="0"/>
              <a:t>Window size partitions</a:t>
            </a:r>
          </a:p>
          <a:p>
            <a:pPr lvl="1">
              <a:spcBef>
                <a:spcPts val="0"/>
              </a:spcBef>
            </a:pPr>
            <a:r>
              <a:rPr lang="en-US" sz="2000" dirty="0"/>
              <a:t>UNBOUNDED PRECEDING: all of the preceding rows for cumulative rows</a:t>
            </a:r>
          </a:p>
          <a:p>
            <a:pPr lvl="1">
              <a:spcBef>
                <a:spcPts val="0"/>
              </a:spcBef>
            </a:pPr>
            <a:r>
              <a:rPr lang="en-US" sz="2000" dirty="0"/>
              <a:t>Number PRECEDING: The "n" preceding rows</a:t>
            </a:r>
          </a:p>
          <a:p>
            <a:pPr lvl="1">
              <a:spcBef>
                <a:spcPts val="0"/>
              </a:spcBef>
            </a:pPr>
            <a:r>
              <a:rPr lang="en-US" sz="2000" dirty="0"/>
              <a:t>UNBOUNDED FOLLOWING: all of the following rows</a:t>
            </a:r>
          </a:p>
          <a:p>
            <a:pPr lvl="1">
              <a:spcBef>
                <a:spcPts val="0"/>
              </a:spcBef>
            </a:pPr>
            <a:r>
              <a:rPr lang="en-US" sz="2000" dirty="0"/>
              <a:t>Number FOLLOWING: the "n" following rows</a:t>
            </a:r>
          </a:p>
          <a:p>
            <a:pPr lvl="1">
              <a:spcBef>
                <a:spcPts val="0"/>
              </a:spcBef>
            </a:pPr>
            <a:r>
              <a:rPr lang="en-US" sz="2000" dirty="0"/>
              <a:t>CURRENT ROW: only the current row</a:t>
            </a:r>
            <a:endParaRPr lang="en-US" dirty="0"/>
          </a:p>
        </p:txBody>
      </p:sp>
      <p:sp>
        <p:nvSpPr>
          <p:cNvPr id="4" name="TextBox 3">
            <a:extLst>
              <a:ext uri="{FF2B5EF4-FFF2-40B4-BE49-F238E27FC236}">
                <a16:creationId xmlns:a16="http://schemas.microsoft.com/office/drawing/2014/main" id="{33EA0EE5-46FA-4F53-595B-1905D02283E4}"/>
              </a:ext>
            </a:extLst>
          </p:cNvPr>
          <p:cNvSpPr txBox="1">
            <a:spLocks noChangeArrowheads="1"/>
          </p:cNvSpPr>
          <p:nvPr/>
        </p:nvSpPr>
        <p:spPr bwMode="auto">
          <a:xfrm>
            <a:off x="76200" y="6430064"/>
            <a:ext cx="130997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Windowing</a:t>
            </a:r>
          </a:p>
        </p:txBody>
      </p:sp>
    </p:spTree>
    <p:extLst>
      <p:ext uri="{BB962C8B-B14F-4D97-AF65-F5344CB8AC3E}">
        <p14:creationId xmlns:p14="http://schemas.microsoft.com/office/powerpoint/2010/main" val="168906772"/>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2" cstate="print"/>
          <a:srcRect/>
          <a:stretch>
            <a:fillRect/>
          </a:stretch>
        </p:blipFill>
        <p:spPr bwMode="auto">
          <a:xfrm>
            <a:off x="3352801" y="708676"/>
            <a:ext cx="5768975" cy="5463525"/>
          </a:xfrm>
          <a:prstGeom prst="rect">
            <a:avLst/>
          </a:prstGeom>
          <a:noFill/>
          <a:ln w="9525">
            <a:noFill/>
            <a:miter lim="800000"/>
            <a:headEnd/>
            <a:tailEnd/>
          </a:ln>
        </p:spPr>
      </p:pic>
      <p:sp>
        <p:nvSpPr>
          <p:cNvPr id="6" name="TextBox 5"/>
          <p:cNvSpPr txBox="1"/>
          <p:nvPr/>
        </p:nvSpPr>
        <p:spPr>
          <a:xfrm>
            <a:off x="3657601" y="4899675"/>
            <a:ext cx="2446504" cy="523220"/>
          </a:xfrm>
          <a:prstGeom prst="rect">
            <a:avLst/>
          </a:prstGeom>
          <a:noFill/>
        </p:spPr>
        <p:txBody>
          <a:bodyPr wrap="none" rtlCol="0">
            <a:spAutoFit/>
          </a:bodyPr>
          <a:lstStyle/>
          <a:p>
            <a:r>
              <a:rPr lang="en-US" sz="2800" dirty="0">
                <a:solidFill>
                  <a:srgbClr val="009900"/>
                </a:solidFill>
              </a:rPr>
              <a:t>row </a:t>
            </a:r>
            <a:r>
              <a:rPr lang="en-US" sz="2800" dirty="0">
                <a:solidFill>
                  <a:schemeClr val="accent2"/>
                </a:solidFill>
              </a:rPr>
              <a:t>(or range)</a:t>
            </a:r>
          </a:p>
        </p:txBody>
      </p:sp>
      <p:cxnSp>
        <p:nvCxnSpPr>
          <p:cNvPr id="8" name="Straight Arrow Connector 7"/>
          <p:cNvCxnSpPr/>
          <p:nvPr/>
        </p:nvCxnSpPr>
        <p:spPr bwMode="auto">
          <a:xfrm rot="5400000">
            <a:off x="240832" y="3439643"/>
            <a:ext cx="5463524" cy="1588"/>
          </a:xfrm>
          <a:prstGeom prst="straightConnector1">
            <a:avLst/>
          </a:prstGeom>
          <a:noFill/>
          <a:ln w="38100" cap="flat" cmpd="sng" algn="ctr">
            <a:solidFill>
              <a:srgbClr val="FF9900"/>
            </a:solidFill>
            <a:prstDash val="solid"/>
            <a:round/>
            <a:headEnd type="none" w="med" len="med"/>
            <a:tailEnd type="arrow" w="lg" len="med"/>
          </a:ln>
          <a:effectLst/>
        </p:spPr>
      </p:cxnSp>
      <p:sp>
        <p:nvSpPr>
          <p:cNvPr id="11" name="TextBox 10"/>
          <p:cNvSpPr txBox="1"/>
          <p:nvPr/>
        </p:nvSpPr>
        <p:spPr>
          <a:xfrm rot="16200000">
            <a:off x="1802249" y="1599739"/>
            <a:ext cx="1877437" cy="400110"/>
          </a:xfrm>
          <a:prstGeom prst="rect">
            <a:avLst/>
          </a:prstGeom>
          <a:noFill/>
        </p:spPr>
        <p:txBody>
          <a:bodyPr wrap="none" rtlCol="0">
            <a:spAutoFit/>
          </a:bodyPr>
          <a:lstStyle/>
          <a:p>
            <a:r>
              <a:rPr lang="en-US" sz="2000" dirty="0">
                <a:solidFill>
                  <a:srgbClr val="009900"/>
                </a:solidFill>
              </a:rPr>
              <a:t>Attribute order </a:t>
            </a:r>
          </a:p>
        </p:txBody>
      </p:sp>
      <p:sp>
        <p:nvSpPr>
          <p:cNvPr id="4" name="Title 3"/>
          <p:cNvSpPr>
            <a:spLocks noGrp="1"/>
          </p:cNvSpPr>
          <p:nvPr>
            <p:ph type="title"/>
          </p:nvPr>
        </p:nvSpPr>
        <p:spPr/>
        <p:txBody>
          <a:bodyPr/>
          <a:lstStyle/>
          <a:p>
            <a:r>
              <a:rPr lang="en-US" dirty="0"/>
              <a:t>Windowing Relationships</a:t>
            </a:r>
          </a:p>
        </p:txBody>
      </p:sp>
      <p:sp>
        <p:nvSpPr>
          <p:cNvPr id="2" name="TextBox 1">
            <a:extLst>
              <a:ext uri="{FF2B5EF4-FFF2-40B4-BE49-F238E27FC236}">
                <a16:creationId xmlns:a16="http://schemas.microsoft.com/office/drawing/2014/main" id="{51D6D298-2951-7BFA-99EE-87C16700D9E2}"/>
              </a:ext>
            </a:extLst>
          </p:cNvPr>
          <p:cNvSpPr txBox="1">
            <a:spLocks noChangeArrowheads="1"/>
          </p:cNvSpPr>
          <p:nvPr/>
        </p:nvSpPr>
        <p:spPr bwMode="auto">
          <a:xfrm>
            <a:off x="76200" y="6430064"/>
            <a:ext cx="130997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Windowing</a:t>
            </a:r>
          </a:p>
        </p:txBody>
      </p:sp>
    </p:spTree>
    <p:extLst>
      <p:ext uri="{BB962C8B-B14F-4D97-AF65-F5344CB8AC3E}">
        <p14:creationId xmlns:p14="http://schemas.microsoft.com/office/powerpoint/2010/main" val="3527858420"/>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Window Example: Moving Average</a:t>
            </a:r>
          </a:p>
        </p:txBody>
      </p:sp>
      <p:sp>
        <p:nvSpPr>
          <p:cNvPr id="3" name="Content Placeholder 2"/>
          <p:cNvSpPr>
            <a:spLocks noGrp="1"/>
          </p:cNvSpPr>
          <p:nvPr>
            <p:ph idx="1"/>
          </p:nvPr>
        </p:nvSpPr>
        <p:spPr/>
        <p:txBody>
          <a:bodyPr/>
          <a:lstStyle/>
          <a:p>
            <a:r>
              <a:rPr lang="en-US" dirty="0"/>
              <a:t>e.g., IBM stock five day moving average</a:t>
            </a:r>
          </a:p>
        </p:txBody>
      </p:sp>
      <p:pic>
        <p:nvPicPr>
          <p:cNvPr id="18435" name="Picture 3"/>
          <p:cNvPicPr>
            <a:picLocks noChangeAspect="1" noChangeArrowheads="1"/>
          </p:cNvPicPr>
          <p:nvPr/>
        </p:nvPicPr>
        <p:blipFill>
          <a:blip r:embed="rId2" cstate="print"/>
          <a:srcRect/>
          <a:stretch>
            <a:fillRect/>
          </a:stretch>
        </p:blipFill>
        <p:spPr bwMode="auto">
          <a:xfrm>
            <a:off x="914400" y="3240596"/>
            <a:ext cx="5715000" cy="2987688"/>
          </a:xfrm>
          <a:prstGeom prst="rect">
            <a:avLst/>
          </a:prstGeom>
          <a:noFill/>
          <a:ln w="9525">
            <a:noFill/>
            <a:miter lim="800000"/>
            <a:headEnd/>
            <a:tailEnd/>
          </a:ln>
        </p:spPr>
      </p:pic>
      <p:sp>
        <p:nvSpPr>
          <p:cNvPr id="5" name="TextBox 4">
            <a:extLst>
              <a:ext uri="{FF2B5EF4-FFF2-40B4-BE49-F238E27FC236}">
                <a16:creationId xmlns:a16="http://schemas.microsoft.com/office/drawing/2014/main" id="{A2EB3E47-E650-A941-8909-2017091828A5}"/>
              </a:ext>
            </a:extLst>
          </p:cNvPr>
          <p:cNvSpPr txBox="1">
            <a:spLocks noChangeArrowheads="1"/>
          </p:cNvSpPr>
          <p:nvPr/>
        </p:nvSpPr>
        <p:spPr bwMode="auto">
          <a:xfrm>
            <a:off x="76200" y="6430064"/>
            <a:ext cx="130997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Windowing</a:t>
            </a:r>
          </a:p>
        </p:txBody>
      </p:sp>
      <p:sp>
        <p:nvSpPr>
          <p:cNvPr id="7" name="TextBox 6">
            <a:extLst>
              <a:ext uri="{FF2B5EF4-FFF2-40B4-BE49-F238E27FC236}">
                <a16:creationId xmlns:a16="http://schemas.microsoft.com/office/drawing/2014/main" id="{C2640120-36EF-F015-5D46-E3E6E8CCC061}"/>
              </a:ext>
            </a:extLst>
          </p:cNvPr>
          <p:cNvSpPr txBox="1"/>
          <p:nvPr/>
        </p:nvSpPr>
        <p:spPr>
          <a:xfrm>
            <a:off x="762000" y="1397675"/>
            <a:ext cx="10058400" cy="1631216"/>
          </a:xfrm>
          <a:prstGeom prst="rect">
            <a:avLst/>
          </a:prstGeom>
          <a:ln>
            <a:solidFill>
              <a:schemeClr val="bg2"/>
            </a:solidFill>
          </a:ln>
        </p:spPr>
        <p:txBody>
          <a:bodyPr wrap="square">
            <a:spAutoFit/>
          </a:bodyPr>
          <a:lstStyle>
            <a:defPPr>
              <a:defRPr lang="en-US"/>
            </a:defPPr>
            <a:lvl1pPr>
              <a:defRPr sz="2000">
                <a:solidFill>
                  <a:srgbClr val="800000"/>
                </a:solidFill>
                <a:latin typeface="Consolas" panose="020B0609020204030204" pitchFamily="49" charset="0"/>
              </a:defRPr>
            </a:lvl1pPr>
          </a:lstStyle>
          <a:p>
            <a:pPr marL="0" marR="0"/>
            <a:r>
              <a:rPr lang="en-US" b="1" dirty="0">
                <a:solidFill>
                  <a:srgbClr val="800000"/>
                </a:solidFill>
                <a:effectLst/>
                <a:latin typeface="Consolas" panose="020B0609020204030204" pitchFamily="49" charset="0"/>
              </a:rPr>
              <a:t>SELECT</a:t>
            </a:r>
            <a:r>
              <a:rPr lang="en-US" dirty="0">
                <a:solidFill>
                  <a:srgbClr val="000000"/>
                </a:solidFill>
                <a:effectLst/>
                <a:latin typeface="Consolas" panose="020B0609020204030204" pitchFamily="49" charset="0"/>
              </a:rPr>
              <a:t> </a:t>
            </a:r>
            <a:r>
              <a:rPr lang="en-US" b="1" dirty="0">
                <a:solidFill>
                  <a:srgbClr val="800000"/>
                </a:solidFill>
                <a:effectLst/>
                <a:latin typeface="Consolas" panose="020B0609020204030204" pitchFamily="49" charset="0"/>
              </a:rPr>
              <a:t>date</a:t>
            </a:r>
            <a:r>
              <a:rPr lang="en-US" dirty="0">
                <a:solidFill>
                  <a:srgbClr val="000000"/>
                </a:solidFill>
                <a:effectLst/>
                <a:latin typeface="Consolas" panose="020B0609020204030204" pitchFamily="49" charset="0"/>
              </a:rPr>
              <a:t>, close_price, </a:t>
            </a:r>
          </a:p>
          <a:p>
            <a:pPr marL="0" marR="0"/>
            <a:r>
              <a:rPr lang="en-US" b="1" dirty="0">
                <a:solidFill>
                  <a:srgbClr val="000080"/>
                </a:solidFill>
                <a:effectLst/>
                <a:latin typeface="Consolas" panose="020B0609020204030204" pitchFamily="49" charset="0"/>
              </a:rPr>
              <a:t>avg</a:t>
            </a:r>
            <a:r>
              <a:rPr lang="en-US" dirty="0">
                <a:solidFill>
                  <a:srgbClr val="000000"/>
                </a:solidFill>
                <a:effectLst/>
                <a:latin typeface="Consolas" panose="020B0609020204030204" pitchFamily="49" charset="0"/>
              </a:rPr>
              <a:t> (close_price) </a:t>
            </a:r>
            <a:r>
              <a:rPr lang="en-US" b="1" dirty="0">
                <a:solidFill>
                  <a:srgbClr val="800000"/>
                </a:solidFill>
                <a:effectLst/>
                <a:latin typeface="Consolas" panose="020B0609020204030204" pitchFamily="49" charset="0"/>
              </a:rPr>
              <a:t>OVER</a:t>
            </a:r>
            <a:r>
              <a:rPr lang="en-US" dirty="0">
                <a:solidFill>
                  <a:srgbClr val="000000"/>
                </a:solidFill>
                <a:effectLst/>
                <a:latin typeface="Consolas" panose="020B0609020204030204" pitchFamily="49" charset="0"/>
              </a:rPr>
              <a:t> (</a:t>
            </a:r>
            <a:r>
              <a:rPr lang="en-US" b="1" dirty="0">
                <a:solidFill>
                  <a:srgbClr val="800000"/>
                </a:solidFill>
                <a:effectLst/>
                <a:latin typeface="Consolas" panose="020B0609020204030204" pitchFamily="49" charset="0"/>
              </a:rPr>
              <a:t>ORDER</a:t>
            </a:r>
            <a:r>
              <a:rPr lang="en-US" dirty="0">
                <a:solidFill>
                  <a:srgbClr val="000000"/>
                </a:solidFill>
                <a:effectLst/>
                <a:latin typeface="Consolas" panose="020B0609020204030204" pitchFamily="49" charset="0"/>
              </a:rPr>
              <a:t> </a:t>
            </a:r>
            <a:r>
              <a:rPr lang="en-US" b="1" dirty="0">
                <a:solidFill>
                  <a:srgbClr val="800000"/>
                </a:solidFill>
                <a:effectLst/>
                <a:latin typeface="Consolas" panose="020B0609020204030204" pitchFamily="49" charset="0"/>
              </a:rPr>
              <a:t>BY</a:t>
            </a:r>
            <a:r>
              <a:rPr lang="en-US" dirty="0">
                <a:solidFill>
                  <a:srgbClr val="000000"/>
                </a:solidFill>
                <a:effectLst/>
                <a:latin typeface="Consolas" panose="020B0609020204030204" pitchFamily="49" charset="0"/>
              </a:rPr>
              <a:t> </a:t>
            </a:r>
            <a:r>
              <a:rPr lang="en-US" b="1" dirty="0">
                <a:solidFill>
                  <a:srgbClr val="800000"/>
                </a:solidFill>
                <a:effectLst/>
                <a:latin typeface="Consolas" panose="020B0609020204030204" pitchFamily="49" charset="0"/>
              </a:rPr>
              <a:t>DATE</a:t>
            </a:r>
            <a:r>
              <a:rPr lang="en-US" dirty="0">
                <a:solidFill>
                  <a:srgbClr val="000000"/>
                </a:solidFill>
                <a:effectLst/>
                <a:latin typeface="Consolas" panose="020B0609020204030204" pitchFamily="49" charset="0"/>
              </a:rPr>
              <a:t> </a:t>
            </a:r>
            <a:r>
              <a:rPr lang="en-US" b="1" dirty="0">
                <a:solidFill>
                  <a:srgbClr val="800000"/>
                </a:solidFill>
                <a:effectLst/>
                <a:latin typeface="Consolas" panose="020B0609020204030204" pitchFamily="49" charset="0"/>
              </a:rPr>
              <a:t>ROWS</a:t>
            </a:r>
            <a:r>
              <a:rPr lang="en-US" dirty="0">
                <a:solidFill>
                  <a:srgbClr val="000000"/>
                </a:solidFill>
                <a:effectLst/>
                <a:latin typeface="Consolas" panose="020B0609020204030204" pitchFamily="49" charset="0"/>
              </a:rPr>
              <a:t> </a:t>
            </a:r>
            <a:r>
              <a:rPr lang="en-US" dirty="0">
                <a:solidFill>
                  <a:srgbClr val="0000FF"/>
                </a:solidFill>
                <a:effectLst/>
                <a:latin typeface="Consolas" panose="020B0609020204030204" pitchFamily="49" charset="0"/>
              </a:rPr>
              <a:t>5</a:t>
            </a:r>
            <a:r>
              <a:rPr lang="en-US" dirty="0">
                <a:solidFill>
                  <a:srgbClr val="000000"/>
                </a:solidFill>
                <a:effectLst/>
                <a:latin typeface="Consolas" panose="020B0609020204030204" pitchFamily="49" charset="0"/>
              </a:rPr>
              <a:t> </a:t>
            </a:r>
            <a:r>
              <a:rPr lang="en-US" b="1" dirty="0">
                <a:solidFill>
                  <a:srgbClr val="800000"/>
                </a:solidFill>
                <a:effectLst/>
                <a:latin typeface="Consolas" panose="020B0609020204030204" pitchFamily="49" charset="0"/>
              </a:rPr>
              <a:t>PRECEDING</a:t>
            </a:r>
            <a:r>
              <a:rPr lang="en-US" dirty="0">
                <a:solidFill>
                  <a:srgbClr val="000000"/>
                </a:solidFill>
                <a:effectLst/>
                <a:latin typeface="Consolas" panose="020B0609020204030204" pitchFamily="49" charset="0"/>
              </a:rPr>
              <a:t>) </a:t>
            </a:r>
            <a:r>
              <a:rPr lang="en-US" b="1" dirty="0">
                <a:solidFill>
                  <a:srgbClr val="800000"/>
                </a:solidFill>
                <a:effectLst/>
                <a:latin typeface="Consolas" panose="020B0609020204030204" pitchFamily="49" charset="0"/>
              </a:rPr>
              <a:t>AS</a:t>
            </a:r>
            <a:r>
              <a:rPr lang="en-US" dirty="0">
                <a:solidFill>
                  <a:srgbClr val="000000"/>
                </a:solidFill>
                <a:effectLst/>
                <a:latin typeface="Consolas" panose="020B0609020204030204" pitchFamily="49" charset="0"/>
              </a:rPr>
              <a:t> </a:t>
            </a:r>
            <a:r>
              <a:rPr lang="en-US" i="1" dirty="0">
                <a:solidFill>
                  <a:srgbClr val="006464"/>
                </a:solidFill>
                <a:effectLst/>
                <a:latin typeface="Consolas" panose="020B0609020204030204" pitchFamily="49" charset="0"/>
              </a:rPr>
              <a:t>SMOOTH5</a:t>
            </a:r>
            <a:r>
              <a:rPr lang="en-US" dirty="0">
                <a:solidFill>
                  <a:srgbClr val="000000"/>
                </a:solidFill>
                <a:effectLst/>
                <a:latin typeface="Consolas" panose="020B0609020204030204" pitchFamily="49" charset="0"/>
              </a:rPr>
              <a:t>,</a:t>
            </a:r>
          </a:p>
          <a:p>
            <a:pPr marL="0" marR="0"/>
            <a:r>
              <a:rPr lang="en-US" b="1" dirty="0">
                <a:solidFill>
                  <a:srgbClr val="000080"/>
                </a:solidFill>
                <a:effectLst/>
                <a:latin typeface="Consolas" panose="020B0609020204030204" pitchFamily="49" charset="0"/>
              </a:rPr>
              <a:t>avg</a:t>
            </a:r>
            <a:r>
              <a:rPr lang="en-US" dirty="0">
                <a:solidFill>
                  <a:srgbClr val="000000"/>
                </a:solidFill>
                <a:effectLst/>
                <a:latin typeface="Consolas" panose="020B0609020204030204" pitchFamily="49" charset="0"/>
              </a:rPr>
              <a:t> (close_price) </a:t>
            </a:r>
            <a:r>
              <a:rPr lang="en-US" b="1" dirty="0">
                <a:solidFill>
                  <a:srgbClr val="800000"/>
                </a:solidFill>
                <a:effectLst/>
                <a:latin typeface="Consolas" panose="020B0609020204030204" pitchFamily="49" charset="0"/>
              </a:rPr>
              <a:t>OVER</a:t>
            </a:r>
            <a:r>
              <a:rPr lang="en-US" dirty="0">
                <a:solidFill>
                  <a:srgbClr val="000000"/>
                </a:solidFill>
                <a:effectLst/>
                <a:latin typeface="Consolas" panose="020B0609020204030204" pitchFamily="49" charset="0"/>
              </a:rPr>
              <a:t> </a:t>
            </a:r>
          </a:p>
          <a:p>
            <a:pPr marL="0" marR="0"/>
            <a:r>
              <a:rPr lang="en-US" dirty="0">
                <a:solidFill>
                  <a:srgbClr val="000000"/>
                </a:solidFill>
                <a:effectLst/>
                <a:latin typeface="Consolas" panose="020B0609020204030204" pitchFamily="49" charset="0"/>
              </a:rPr>
              <a:t>(</a:t>
            </a:r>
            <a:r>
              <a:rPr lang="en-US" b="1" dirty="0">
                <a:solidFill>
                  <a:srgbClr val="800000"/>
                </a:solidFill>
                <a:effectLst/>
                <a:latin typeface="Consolas" panose="020B0609020204030204" pitchFamily="49" charset="0"/>
              </a:rPr>
              <a:t>ORDER</a:t>
            </a:r>
            <a:r>
              <a:rPr lang="en-US" dirty="0">
                <a:solidFill>
                  <a:srgbClr val="000000"/>
                </a:solidFill>
                <a:effectLst/>
                <a:latin typeface="Consolas" panose="020B0609020204030204" pitchFamily="49" charset="0"/>
              </a:rPr>
              <a:t> </a:t>
            </a:r>
            <a:r>
              <a:rPr lang="en-US" b="1" dirty="0">
                <a:solidFill>
                  <a:srgbClr val="800000"/>
                </a:solidFill>
                <a:effectLst/>
                <a:latin typeface="Consolas" panose="020B0609020204030204" pitchFamily="49" charset="0"/>
              </a:rPr>
              <a:t>BY</a:t>
            </a:r>
            <a:r>
              <a:rPr lang="en-US" dirty="0">
                <a:solidFill>
                  <a:srgbClr val="000000"/>
                </a:solidFill>
                <a:effectLst/>
                <a:latin typeface="Consolas" panose="020B0609020204030204" pitchFamily="49" charset="0"/>
              </a:rPr>
              <a:t> </a:t>
            </a:r>
            <a:r>
              <a:rPr lang="en-US" b="1" dirty="0">
                <a:solidFill>
                  <a:srgbClr val="800000"/>
                </a:solidFill>
                <a:effectLst/>
                <a:latin typeface="Consolas" panose="020B0609020204030204" pitchFamily="49" charset="0"/>
              </a:rPr>
              <a:t>DATE</a:t>
            </a:r>
            <a:r>
              <a:rPr lang="en-US" dirty="0">
                <a:solidFill>
                  <a:srgbClr val="000000"/>
                </a:solidFill>
                <a:effectLst/>
                <a:latin typeface="Consolas" panose="020B0609020204030204" pitchFamily="49" charset="0"/>
              </a:rPr>
              <a:t> </a:t>
            </a:r>
            <a:r>
              <a:rPr lang="en-US" b="1" dirty="0">
                <a:solidFill>
                  <a:srgbClr val="800000"/>
                </a:solidFill>
                <a:effectLst/>
                <a:latin typeface="Consolas" panose="020B0609020204030204" pitchFamily="49" charset="0"/>
              </a:rPr>
              <a:t>ROWS</a:t>
            </a:r>
            <a:r>
              <a:rPr lang="en-US" dirty="0">
                <a:solidFill>
                  <a:srgbClr val="000000"/>
                </a:solidFill>
                <a:effectLst/>
                <a:latin typeface="Consolas" panose="020B0609020204030204" pitchFamily="49" charset="0"/>
              </a:rPr>
              <a:t> </a:t>
            </a:r>
            <a:r>
              <a:rPr lang="en-US" b="1" dirty="0">
                <a:solidFill>
                  <a:srgbClr val="800000"/>
                </a:solidFill>
                <a:effectLst/>
                <a:latin typeface="Consolas" panose="020B0609020204030204" pitchFamily="49" charset="0"/>
              </a:rPr>
              <a:t>BETWEEN</a:t>
            </a:r>
            <a:r>
              <a:rPr lang="en-US" dirty="0">
                <a:solidFill>
                  <a:srgbClr val="000000"/>
                </a:solidFill>
                <a:effectLst/>
                <a:latin typeface="Consolas" panose="020B0609020204030204" pitchFamily="49" charset="0"/>
              </a:rPr>
              <a:t> </a:t>
            </a:r>
            <a:r>
              <a:rPr lang="en-US" dirty="0">
                <a:solidFill>
                  <a:srgbClr val="0000FF"/>
                </a:solidFill>
                <a:effectLst/>
                <a:latin typeface="Consolas" panose="020B0609020204030204" pitchFamily="49" charset="0"/>
              </a:rPr>
              <a:t>5</a:t>
            </a:r>
            <a:r>
              <a:rPr lang="en-US" dirty="0">
                <a:solidFill>
                  <a:srgbClr val="000000"/>
                </a:solidFill>
                <a:effectLst/>
                <a:latin typeface="Consolas" panose="020B0609020204030204" pitchFamily="49" charset="0"/>
              </a:rPr>
              <a:t> </a:t>
            </a:r>
            <a:r>
              <a:rPr lang="en-US" b="1" dirty="0">
                <a:solidFill>
                  <a:srgbClr val="800000"/>
                </a:solidFill>
                <a:effectLst/>
                <a:latin typeface="Consolas" panose="020B0609020204030204" pitchFamily="49" charset="0"/>
              </a:rPr>
              <a:t>PRECEDING</a:t>
            </a:r>
            <a:r>
              <a:rPr lang="en-US" dirty="0">
                <a:solidFill>
                  <a:srgbClr val="000000"/>
                </a:solidFill>
                <a:effectLst/>
                <a:latin typeface="Consolas" panose="020B0609020204030204" pitchFamily="49" charset="0"/>
              </a:rPr>
              <a:t> </a:t>
            </a:r>
            <a:r>
              <a:rPr lang="en-US" b="1" dirty="0">
                <a:solidFill>
                  <a:srgbClr val="800000"/>
                </a:solidFill>
                <a:effectLst/>
                <a:latin typeface="Consolas" panose="020B0609020204030204" pitchFamily="49" charset="0"/>
              </a:rPr>
              <a:t>AND</a:t>
            </a:r>
            <a:r>
              <a:rPr lang="en-US" dirty="0">
                <a:solidFill>
                  <a:srgbClr val="000000"/>
                </a:solidFill>
                <a:effectLst/>
                <a:latin typeface="Consolas" panose="020B0609020204030204" pitchFamily="49" charset="0"/>
              </a:rPr>
              <a:t> </a:t>
            </a:r>
            <a:r>
              <a:rPr lang="en-US" dirty="0">
                <a:solidFill>
                  <a:srgbClr val="0000FF"/>
                </a:solidFill>
                <a:effectLst/>
                <a:latin typeface="Consolas" panose="020B0609020204030204" pitchFamily="49" charset="0"/>
              </a:rPr>
              <a:t>5</a:t>
            </a:r>
            <a:r>
              <a:rPr lang="en-US" dirty="0">
                <a:solidFill>
                  <a:srgbClr val="000000"/>
                </a:solidFill>
                <a:effectLst/>
                <a:latin typeface="Consolas" panose="020B0609020204030204" pitchFamily="49" charset="0"/>
              </a:rPr>
              <a:t> </a:t>
            </a:r>
            <a:r>
              <a:rPr lang="en-US" b="1" dirty="0">
                <a:solidFill>
                  <a:srgbClr val="800000"/>
                </a:solidFill>
                <a:effectLst/>
                <a:latin typeface="Consolas" panose="020B0609020204030204" pitchFamily="49" charset="0"/>
              </a:rPr>
              <a:t>FOLLOWING</a:t>
            </a:r>
            <a:r>
              <a:rPr lang="en-US" dirty="0">
                <a:solidFill>
                  <a:srgbClr val="000000"/>
                </a:solidFill>
                <a:effectLst/>
                <a:latin typeface="Consolas" panose="020B0609020204030204" pitchFamily="49" charset="0"/>
              </a:rPr>
              <a:t>) </a:t>
            </a:r>
            <a:r>
              <a:rPr lang="en-US" b="1" dirty="0">
                <a:solidFill>
                  <a:srgbClr val="800000"/>
                </a:solidFill>
                <a:effectLst/>
                <a:latin typeface="Consolas" panose="020B0609020204030204" pitchFamily="49" charset="0"/>
              </a:rPr>
              <a:t>AS</a:t>
            </a:r>
            <a:r>
              <a:rPr lang="en-US" dirty="0">
                <a:solidFill>
                  <a:srgbClr val="000000"/>
                </a:solidFill>
                <a:effectLst/>
                <a:latin typeface="Consolas" panose="020B0609020204030204" pitchFamily="49" charset="0"/>
              </a:rPr>
              <a:t> </a:t>
            </a:r>
            <a:r>
              <a:rPr lang="en-US" i="1" dirty="0">
                <a:solidFill>
                  <a:srgbClr val="006464"/>
                </a:solidFill>
                <a:effectLst/>
                <a:latin typeface="Consolas" panose="020B0609020204030204" pitchFamily="49" charset="0"/>
              </a:rPr>
              <a:t>SMOOTH10</a:t>
            </a:r>
            <a:endParaRPr lang="en-US" dirty="0">
              <a:solidFill>
                <a:srgbClr val="000000"/>
              </a:solidFill>
              <a:effectLst/>
              <a:latin typeface="Consolas" panose="020B0609020204030204" pitchFamily="49" charset="0"/>
            </a:endParaRPr>
          </a:p>
          <a:p>
            <a:pPr marL="0" marR="0"/>
            <a:r>
              <a:rPr lang="en-US" b="1" dirty="0">
                <a:solidFill>
                  <a:srgbClr val="800000"/>
                </a:solidFill>
                <a:effectLst/>
                <a:latin typeface="Consolas" panose="020B0609020204030204" pitchFamily="49" charset="0"/>
              </a:rPr>
              <a:t>FROM</a:t>
            </a:r>
            <a:r>
              <a:rPr lang="en-US" dirty="0">
                <a:solidFill>
                  <a:srgbClr val="000000"/>
                </a:solidFill>
                <a:effectLst/>
                <a:latin typeface="Consolas" panose="020B0609020204030204" pitchFamily="49" charset="0"/>
              </a:rPr>
              <a:t> </a:t>
            </a:r>
            <a:r>
              <a:rPr lang="en-US" dirty="0" err="1">
                <a:solidFill>
                  <a:srgbClr val="6C5151"/>
                </a:solidFill>
                <a:effectLst/>
                <a:latin typeface="Consolas" panose="020B0609020204030204" pitchFamily="49" charset="0"/>
              </a:rPr>
              <a:t>stocktab</a:t>
            </a:r>
            <a:r>
              <a:rPr lang="en-US" dirty="0">
                <a:solidFill>
                  <a:srgbClr val="FF0000"/>
                </a:solidFill>
                <a:effectLst/>
                <a:latin typeface="Consolas" panose="020B0609020204030204" pitchFamily="49" charset="0"/>
              </a:rPr>
              <a:t>;</a:t>
            </a:r>
            <a:endParaRPr lang="en-US" dirty="0">
              <a:solidFill>
                <a:srgbClr val="000000"/>
              </a:solidFill>
              <a:effectLst/>
              <a:latin typeface="Consolas" panose="020B0609020204030204" pitchFamily="49" charset="0"/>
            </a:endParaRPr>
          </a:p>
        </p:txBody>
      </p:sp>
      <p:pic>
        <p:nvPicPr>
          <p:cNvPr id="6" name="Picture 5">
            <a:extLst>
              <a:ext uri="{FF2B5EF4-FFF2-40B4-BE49-F238E27FC236}">
                <a16:creationId xmlns:a16="http://schemas.microsoft.com/office/drawing/2014/main" id="{7B521050-4F86-A749-A51C-7B697B1FF1AF}"/>
              </a:ext>
            </a:extLst>
          </p:cNvPr>
          <p:cNvPicPr>
            <a:picLocks noChangeAspect="1"/>
          </p:cNvPicPr>
          <p:nvPr/>
        </p:nvPicPr>
        <p:blipFill>
          <a:blip r:embed="rId3"/>
          <a:stretch>
            <a:fillRect/>
          </a:stretch>
        </p:blipFill>
        <p:spPr>
          <a:xfrm>
            <a:off x="6679095" y="3829110"/>
            <a:ext cx="5416681" cy="1885263"/>
          </a:xfrm>
          <a:prstGeom prst="rect">
            <a:avLst/>
          </a:prstGeom>
          <a:ln w="12700">
            <a:solidFill>
              <a:schemeClr val="bg2"/>
            </a:solidFill>
          </a:ln>
        </p:spPr>
      </p:pic>
    </p:spTree>
    <p:extLst>
      <p:ext uri="{BB962C8B-B14F-4D97-AF65-F5344CB8AC3E}">
        <p14:creationId xmlns:p14="http://schemas.microsoft.com/office/powerpoint/2010/main" val="17410536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435"/>
                                        </p:tgtEl>
                                        <p:attrNameLst>
                                          <p:attrName>style.visibility</p:attrName>
                                        </p:attrNameLst>
                                      </p:cBhvr>
                                      <p:to>
                                        <p:strVal val="visible"/>
                                      </p:to>
                                    </p:set>
                                    <p:anim calcmode="lin" valueType="num">
                                      <p:cBhvr additive="base">
                                        <p:cTn id="7" dur="500" fill="hold"/>
                                        <p:tgtEl>
                                          <p:spTgt spid="18435"/>
                                        </p:tgtEl>
                                        <p:attrNameLst>
                                          <p:attrName>ppt_x</p:attrName>
                                        </p:attrNameLst>
                                      </p:cBhvr>
                                      <p:tavLst>
                                        <p:tav tm="0">
                                          <p:val>
                                            <p:strVal val="#ppt_x"/>
                                          </p:val>
                                        </p:tav>
                                        <p:tav tm="100000">
                                          <p:val>
                                            <p:strVal val="#ppt_x"/>
                                          </p:val>
                                        </p:tav>
                                      </p:tavLst>
                                    </p:anim>
                                    <p:anim calcmode="lin" valueType="num">
                                      <p:cBhvr additive="base">
                                        <p:cTn id="8" dur="500" fill="hold"/>
                                        <p:tgtEl>
                                          <p:spTgt spid="184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Rows versus Range</a:t>
            </a:r>
          </a:p>
        </p:txBody>
      </p:sp>
      <p:sp>
        <p:nvSpPr>
          <p:cNvPr id="3" name="Content Placeholder 2"/>
          <p:cNvSpPr>
            <a:spLocks noGrp="1"/>
          </p:cNvSpPr>
          <p:nvPr>
            <p:ph idx="1"/>
          </p:nvPr>
        </p:nvSpPr>
        <p:spPr/>
        <p:txBody>
          <a:bodyPr/>
          <a:lstStyle/>
          <a:p>
            <a:r>
              <a:rPr lang="en-US" dirty="0"/>
              <a:t>A moving window of rows to be evaluated (relative to the current row) can be defined using either the ROW or RANGE expressions</a:t>
            </a:r>
          </a:p>
          <a:p>
            <a:r>
              <a:rPr lang="en-US" dirty="0"/>
              <a:t>ROWS: refer to the </a:t>
            </a:r>
            <a:r>
              <a:rPr lang="en-US" dirty="0">
                <a:solidFill>
                  <a:schemeClr val="accent6"/>
                </a:solidFill>
              </a:rPr>
              <a:t>"n" rows </a:t>
            </a:r>
            <a:r>
              <a:rPr lang="en-US" dirty="0"/>
              <a:t>in the table</a:t>
            </a:r>
            <a:r>
              <a:rPr lang="en-US" dirty="0">
                <a:solidFill>
                  <a:schemeClr val="accent6"/>
                </a:solidFill>
              </a:rPr>
              <a:t> </a:t>
            </a:r>
            <a:r>
              <a:rPr lang="en-US" dirty="0"/>
              <a:t>before and/or after (within the partition), as defined by the ORDER BY</a:t>
            </a:r>
          </a:p>
          <a:p>
            <a:r>
              <a:rPr lang="en-US" dirty="0"/>
              <a:t>RANGE: refer to those rows before and/or after (within the partition) that are </a:t>
            </a:r>
            <a:r>
              <a:rPr lang="en-US" dirty="0">
                <a:solidFill>
                  <a:schemeClr val="accent6"/>
                </a:solidFill>
              </a:rPr>
              <a:t>within a range </a:t>
            </a:r>
            <a:r>
              <a:rPr lang="en-US" dirty="0"/>
              <a:t>(e.g., 5 days)</a:t>
            </a:r>
            <a:r>
              <a:rPr lang="en-US" dirty="0">
                <a:solidFill>
                  <a:schemeClr val="accent6"/>
                </a:solidFill>
              </a:rPr>
              <a:t> </a:t>
            </a:r>
            <a:r>
              <a:rPr lang="en-US" dirty="0"/>
              <a:t>of the current row, as defined by the ORDER BY</a:t>
            </a:r>
          </a:p>
        </p:txBody>
      </p:sp>
      <p:sp>
        <p:nvSpPr>
          <p:cNvPr id="6" name="TextBox 5">
            <a:extLst>
              <a:ext uri="{FF2B5EF4-FFF2-40B4-BE49-F238E27FC236}">
                <a16:creationId xmlns:a16="http://schemas.microsoft.com/office/drawing/2014/main" id="{A9FE6F39-A82A-E2E9-8AB4-B4526882E2D0}"/>
              </a:ext>
            </a:extLst>
          </p:cNvPr>
          <p:cNvSpPr txBox="1">
            <a:spLocks noChangeArrowheads="1"/>
          </p:cNvSpPr>
          <p:nvPr/>
        </p:nvSpPr>
        <p:spPr bwMode="auto">
          <a:xfrm>
            <a:off x="76200" y="6430064"/>
            <a:ext cx="1309974"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Windowing</a:t>
            </a:r>
          </a:p>
        </p:txBody>
      </p:sp>
      <p:pic>
        <p:nvPicPr>
          <p:cNvPr id="5" name="Picture 4">
            <a:extLst>
              <a:ext uri="{FF2B5EF4-FFF2-40B4-BE49-F238E27FC236}">
                <a16:creationId xmlns:a16="http://schemas.microsoft.com/office/drawing/2014/main" id="{D74E6392-8972-D78F-20A5-ED0A9081DE0D}"/>
              </a:ext>
            </a:extLst>
          </p:cNvPr>
          <p:cNvPicPr>
            <a:picLocks noChangeAspect="1"/>
          </p:cNvPicPr>
          <p:nvPr/>
        </p:nvPicPr>
        <p:blipFill>
          <a:blip r:embed="rId3"/>
          <a:stretch>
            <a:fillRect/>
          </a:stretch>
        </p:blipFill>
        <p:spPr>
          <a:xfrm>
            <a:off x="10210800" y="3659332"/>
            <a:ext cx="1035990" cy="2633662"/>
          </a:xfrm>
          <a:prstGeom prst="rect">
            <a:avLst/>
          </a:prstGeom>
          <a:ln w="12700">
            <a:solidFill>
              <a:schemeClr val="bg2"/>
            </a:solidFill>
          </a:ln>
        </p:spPr>
      </p:pic>
      <p:sp>
        <p:nvSpPr>
          <p:cNvPr id="7" name="TextBox 6">
            <a:extLst>
              <a:ext uri="{FF2B5EF4-FFF2-40B4-BE49-F238E27FC236}">
                <a16:creationId xmlns:a16="http://schemas.microsoft.com/office/drawing/2014/main" id="{35DFD3C9-9B84-CD8E-B664-D1EAC1B1B4E8}"/>
              </a:ext>
            </a:extLst>
          </p:cNvPr>
          <p:cNvSpPr txBox="1"/>
          <p:nvPr/>
        </p:nvSpPr>
        <p:spPr>
          <a:xfrm rot="10800000">
            <a:off x="9585812" y="4038600"/>
            <a:ext cx="492443" cy="914400"/>
          </a:xfrm>
          <a:prstGeom prst="rect">
            <a:avLst/>
          </a:prstGeom>
          <a:noFill/>
        </p:spPr>
        <p:txBody>
          <a:bodyPr vert="eaVert" wrap="square" rtlCol="0">
            <a:spAutoFit/>
          </a:bodyPr>
          <a:lstStyle/>
          <a:p>
            <a:pPr algn="ctr"/>
            <a:r>
              <a:rPr lang="en-US" sz="2000" dirty="0"/>
              <a:t>5 rows</a:t>
            </a:r>
          </a:p>
        </p:txBody>
      </p:sp>
      <p:sp>
        <p:nvSpPr>
          <p:cNvPr id="8" name="Left Brace 7">
            <a:extLst>
              <a:ext uri="{FF2B5EF4-FFF2-40B4-BE49-F238E27FC236}">
                <a16:creationId xmlns:a16="http://schemas.microsoft.com/office/drawing/2014/main" id="{93EF7E8A-3851-DE5D-5AFC-C0A6D666BF36}"/>
              </a:ext>
            </a:extLst>
          </p:cNvPr>
          <p:cNvSpPr/>
          <p:nvPr/>
        </p:nvSpPr>
        <p:spPr bwMode="auto">
          <a:xfrm>
            <a:off x="9982200" y="4038600"/>
            <a:ext cx="152400" cy="1371600"/>
          </a:xfrm>
          <a:prstGeom prst="leftBrace">
            <a:avLst/>
          </a:prstGeom>
          <a:noFill/>
          <a:ln w="12700" cap="flat" cmpd="sng" algn="ctr">
            <a:solidFill>
              <a:srgbClr val="FF99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sp>
        <p:nvSpPr>
          <p:cNvPr id="9" name="TextBox 8">
            <a:extLst>
              <a:ext uri="{FF2B5EF4-FFF2-40B4-BE49-F238E27FC236}">
                <a16:creationId xmlns:a16="http://schemas.microsoft.com/office/drawing/2014/main" id="{D4530BD1-77D8-C26C-A1B0-EF5FCF23E7D4}"/>
              </a:ext>
            </a:extLst>
          </p:cNvPr>
          <p:cNvSpPr txBox="1"/>
          <p:nvPr/>
        </p:nvSpPr>
        <p:spPr>
          <a:xfrm rot="10800000">
            <a:off x="11430000" y="4038600"/>
            <a:ext cx="492443" cy="914400"/>
          </a:xfrm>
          <a:prstGeom prst="rect">
            <a:avLst/>
          </a:prstGeom>
          <a:noFill/>
        </p:spPr>
        <p:txBody>
          <a:bodyPr vert="eaVert" wrap="square" rtlCol="0">
            <a:spAutoFit/>
          </a:bodyPr>
          <a:lstStyle/>
          <a:p>
            <a:pPr algn="ctr"/>
            <a:r>
              <a:rPr lang="en-US" sz="2000" dirty="0"/>
              <a:t>5 days</a:t>
            </a:r>
          </a:p>
        </p:txBody>
      </p:sp>
      <p:sp>
        <p:nvSpPr>
          <p:cNvPr id="10" name="Right Brace 9">
            <a:extLst>
              <a:ext uri="{FF2B5EF4-FFF2-40B4-BE49-F238E27FC236}">
                <a16:creationId xmlns:a16="http://schemas.microsoft.com/office/drawing/2014/main" id="{222F7DDB-BA19-193A-31A2-FDEA49AFF585}"/>
              </a:ext>
            </a:extLst>
          </p:cNvPr>
          <p:cNvSpPr/>
          <p:nvPr/>
        </p:nvSpPr>
        <p:spPr bwMode="auto">
          <a:xfrm>
            <a:off x="11322990" y="4038600"/>
            <a:ext cx="183210" cy="1066800"/>
          </a:xfrm>
          <a:prstGeom prst="rightBrace">
            <a:avLst/>
          </a:prstGeom>
          <a:noFill/>
          <a:ln w="12700" cap="flat" cmpd="sng" algn="ctr">
            <a:solidFill>
              <a:srgbClr val="FF99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sp>
        <p:nvSpPr>
          <p:cNvPr id="4" name="Content Placeholder 2">
            <a:extLst>
              <a:ext uri="{FF2B5EF4-FFF2-40B4-BE49-F238E27FC236}">
                <a16:creationId xmlns:a16="http://schemas.microsoft.com/office/drawing/2014/main" id="{8A57036F-3B2A-D845-EE18-1E2404F89D1C}"/>
              </a:ext>
            </a:extLst>
          </p:cNvPr>
          <p:cNvSpPr txBox="1">
            <a:spLocks/>
          </p:cNvSpPr>
          <p:nvPr/>
        </p:nvSpPr>
        <p:spPr bwMode="auto">
          <a:xfrm>
            <a:off x="503026" y="4114800"/>
            <a:ext cx="8564774" cy="1981200"/>
          </a:xfrm>
          <a:prstGeom prst="rect">
            <a:avLst/>
          </a:prstGeom>
          <a:solidFill>
            <a:schemeClr val="bg1"/>
          </a:solidFill>
          <a:ln w="9525">
            <a:solidFill>
              <a:schemeClr val="bg2"/>
            </a:solidFill>
            <a:miter lim="800000"/>
            <a:headEnd/>
            <a:tailEnd/>
          </a:ln>
          <a:effectLst>
            <a:outerShdw blurRad="88900" dist="38100" dir="2700000" algn="tl" rotWithShape="0">
              <a:prstClr val="black">
                <a:alpha val="40000"/>
              </a:prstClr>
            </a:outerShdw>
          </a:effectLst>
        </p:spPr>
        <p:txBody>
          <a:bodyPr vert="horz" wrap="square" lIns="36576" tIns="36576" rIns="18288" bIns="18288" numCol="1" anchor="t" anchorCtr="0" compatLnSpc="1">
            <a:prstTxWarp prst="textNoShape">
              <a:avLst/>
            </a:prstTxWarp>
          </a:bodyPr>
          <a:lstStyle>
            <a:lvl1pPr marL="342900" indent="-342900" algn="l" rtl="0" eaLnBrk="1" fontAlgn="base" hangingPunct="1">
              <a:spcBef>
                <a:spcPct val="20000"/>
              </a:spcBef>
              <a:spcAft>
                <a:spcPts val="300"/>
              </a:spcAft>
              <a:buChar char="•"/>
              <a:defRPr sz="2400">
                <a:solidFill>
                  <a:schemeClr val="tx1"/>
                </a:solidFill>
                <a:latin typeface="Verdana" pitchFamily="34" charset="0"/>
                <a:ea typeface="+mn-ea"/>
                <a:cs typeface="+mn-cs"/>
              </a:defRPr>
            </a:lvl1pPr>
            <a:lvl2pPr marL="742950" indent="-285750" algn="l" rtl="0" eaLnBrk="1" fontAlgn="base" hangingPunct="1">
              <a:spcBef>
                <a:spcPct val="20000"/>
              </a:spcBef>
              <a:spcAft>
                <a:spcPts val="300"/>
              </a:spcAft>
              <a:buChar char="–"/>
              <a:defRPr sz="2200">
                <a:solidFill>
                  <a:schemeClr val="tx1"/>
                </a:solidFill>
                <a:latin typeface="Verdana" pitchFamily="34" charset="0"/>
              </a:defRPr>
            </a:lvl2pPr>
            <a:lvl3pPr marL="1143000" indent="-228600" algn="l" rtl="0" eaLnBrk="1" fontAlgn="base" hangingPunct="1">
              <a:spcBef>
                <a:spcPct val="20000"/>
              </a:spcBef>
              <a:spcAft>
                <a:spcPts val="300"/>
              </a:spcAft>
              <a:buChar char="•"/>
              <a:defRPr>
                <a:solidFill>
                  <a:schemeClr val="tx1"/>
                </a:solidFill>
                <a:latin typeface="Verdana" pitchFamily="34" charset="0"/>
              </a:defRPr>
            </a:lvl3pPr>
            <a:lvl4pPr marL="1600200" indent="-228600" algn="l" rtl="0" eaLnBrk="1" fontAlgn="base" hangingPunct="1">
              <a:spcBef>
                <a:spcPct val="20000"/>
              </a:spcBef>
              <a:spcAft>
                <a:spcPts val="300"/>
              </a:spcAft>
              <a:buChar char="–"/>
              <a:defRPr sz="1600">
                <a:solidFill>
                  <a:schemeClr val="tx1"/>
                </a:solidFill>
                <a:latin typeface="Verdana" pitchFamily="34" charset="0"/>
              </a:defRPr>
            </a:lvl4pPr>
            <a:lvl5pPr marL="2057400" indent="-228600" algn="l" rtl="0" eaLnBrk="1" fontAlgn="base" hangingPunct="1">
              <a:spcBef>
                <a:spcPct val="20000"/>
              </a:spcBef>
              <a:spcAft>
                <a:spcPts val="300"/>
              </a:spcAft>
              <a:buChar char="»"/>
              <a:defRPr sz="1500">
                <a:solidFill>
                  <a:srgbClr val="003399"/>
                </a:solidFill>
                <a:latin typeface="Verdana" pitchFamily="34" charset="0"/>
              </a:defRPr>
            </a:lvl5pPr>
            <a:lvl6pPr marL="2514600" indent="-228600" algn="l" rtl="0" eaLnBrk="1" fontAlgn="base" hangingPunct="1">
              <a:spcBef>
                <a:spcPct val="20000"/>
              </a:spcBef>
              <a:spcAft>
                <a:spcPct val="0"/>
              </a:spcAft>
              <a:buChar char="»"/>
              <a:defRPr sz="1500">
                <a:solidFill>
                  <a:srgbClr val="003399"/>
                </a:solidFill>
                <a:latin typeface="Siemens Sans" pitchFamily="2" charset="0"/>
              </a:defRPr>
            </a:lvl6pPr>
            <a:lvl7pPr marL="2971800" indent="-228600" algn="l" rtl="0" eaLnBrk="1" fontAlgn="base" hangingPunct="1">
              <a:spcBef>
                <a:spcPct val="20000"/>
              </a:spcBef>
              <a:spcAft>
                <a:spcPct val="0"/>
              </a:spcAft>
              <a:buChar char="»"/>
              <a:defRPr sz="1500">
                <a:solidFill>
                  <a:srgbClr val="003399"/>
                </a:solidFill>
                <a:latin typeface="Siemens Sans" pitchFamily="2" charset="0"/>
              </a:defRPr>
            </a:lvl7pPr>
            <a:lvl8pPr marL="3429000" indent="-228600" algn="l" rtl="0" eaLnBrk="1" fontAlgn="base" hangingPunct="1">
              <a:spcBef>
                <a:spcPct val="20000"/>
              </a:spcBef>
              <a:spcAft>
                <a:spcPct val="0"/>
              </a:spcAft>
              <a:buChar char="»"/>
              <a:defRPr sz="1500">
                <a:solidFill>
                  <a:srgbClr val="003399"/>
                </a:solidFill>
                <a:latin typeface="Siemens Sans" pitchFamily="2" charset="0"/>
              </a:defRPr>
            </a:lvl8pPr>
            <a:lvl9pPr marL="3886200" indent="-228600" algn="l" rtl="0" eaLnBrk="1" fontAlgn="base" hangingPunct="1">
              <a:spcBef>
                <a:spcPct val="20000"/>
              </a:spcBef>
              <a:spcAft>
                <a:spcPct val="0"/>
              </a:spcAft>
              <a:buChar char="»"/>
              <a:defRPr sz="1500">
                <a:solidFill>
                  <a:srgbClr val="003399"/>
                </a:solidFill>
                <a:latin typeface="Siemens Sans" pitchFamily="2" charset="0"/>
              </a:defRPr>
            </a:lvl9pPr>
          </a:lstStyle>
          <a:p>
            <a:pPr marL="0" indent="0">
              <a:buFontTx/>
              <a:buNone/>
            </a:pPr>
            <a:r>
              <a:rPr lang="en-US" sz="2200" kern="0" dirty="0">
                <a:solidFill>
                  <a:srgbClr val="800000"/>
                </a:solidFill>
                <a:latin typeface="Consolas" panose="020B0609020204030204" pitchFamily="49" charset="0"/>
              </a:rPr>
              <a:t>SELECT</a:t>
            </a:r>
            <a:r>
              <a:rPr lang="en-US" sz="2200" kern="0" dirty="0">
                <a:solidFill>
                  <a:srgbClr val="000000"/>
                </a:solidFill>
                <a:latin typeface="Consolas" panose="020B0609020204030204" pitchFamily="49" charset="0"/>
              </a:rPr>
              <a:t> </a:t>
            </a:r>
            <a:r>
              <a:rPr lang="en-US" sz="2200" kern="0" dirty="0">
                <a:solidFill>
                  <a:srgbClr val="000080"/>
                </a:solidFill>
                <a:latin typeface="Consolas" panose="020B0609020204030204" pitchFamily="49" charset="0"/>
              </a:rPr>
              <a:t>DATE</a:t>
            </a:r>
            <a:r>
              <a:rPr lang="en-US" sz="2200" kern="0" dirty="0">
                <a:solidFill>
                  <a:srgbClr val="000000"/>
                </a:solidFill>
                <a:latin typeface="Consolas" panose="020B0609020204030204" pitchFamily="49" charset="0"/>
              </a:rPr>
              <a:t>,SYMBOL,CLOSE_PRICE,</a:t>
            </a:r>
            <a:r>
              <a:rPr lang="en-US" sz="2200" kern="0" dirty="0">
                <a:solidFill>
                  <a:srgbClr val="000080"/>
                </a:solidFill>
                <a:latin typeface="Consolas" panose="020B0609020204030204" pitchFamily="49" charset="0"/>
              </a:rPr>
              <a:t>AVG</a:t>
            </a:r>
            <a:r>
              <a:rPr lang="en-US" sz="2200" kern="0" dirty="0">
                <a:solidFill>
                  <a:srgbClr val="000000"/>
                </a:solidFill>
                <a:latin typeface="Consolas" panose="020B0609020204030204" pitchFamily="49" charset="0"/>
              </a:rPr>
              <a:t>(CLOSE_PRICE) </a:t>
            </a:r>
            <a:r>
              <a:rPr lang="en-US" sz="2200" kern="0" dirty="0">
                <a:solidFill>
                  <a:srgbClr val="800000"/>
                </a:solidFill>
                <a:latin typeface="Consolas" panose="020B0609020204030204" pitchFamily="49" charset="0"/>
              </a:rPr>
              <a:t>OVER</a:t>
            </a:r>
          </a:p>
          <a:p>
            <a:pPr marL="0" indent="0">
              <a:buFontTx/>
              <a:buNone/>
            </a:pPr>
            <a:r>
              <a:rPr lang="en-US" sz="2200" kern="0" dirty="0">
                <a:solidFill>
                  <a:srgbClr val="000000"/>
                </a:solidFill>
                <a:latin typeface="Consolas" panose="020B0609020204030204" pitchFamily="49" charset="0"/>
              </a:rPr>
              <a:t>  (</a:t>
            </a:r>
            <a:r>
              <a:rPr lang="en-US" sz="2200" kern="0" dirty="0">
                <a:solidFill>
                  <a:srgbClr val="800000"/>
                </a:solidFill>
                <a:latin typeface="Consolas" panose="020B0609020204030204" pitchFamily="49" charset="0"/>
              </a:rPr>
              <a:t>ORDER</a:t>
            </a:r>
            <a:r>
              <a:rPr lang="en-US" sz="2200" kern="0" dirty="0">
                <a:solidFill>
                  <a:srgbClr val="000000"/>
                </a:solidFill>
                <a:latin typeface="Consolas" panose="020B0609020204030204" pitchFamily="49" charset="0"/>
              </a:rPr>
              <a:t> </a:t>
            </a:r>
            <a:r>
              <a:rPr lang="en-US" sz="2200" kern="0" dirty="0">
                <a:solidFill>
                  <a:srgbClr val="800000"/>
                </a:solidFill>
                <a:latin typeface="Consolas" panose="020B0609020204030204" pitchFamily="49" charset="0"/>
              </a:rPr>
              <a:t>BY</a:t>
            </a:r>
            <a:r>
              <a:rPr lang="en-US" sz="2200" kern="0" dirty="0">
                <a:solidFill>
                  <a:srgbClr val="000000"/>
                </a:solidFill>
                <a:latin typeface="Consolas" panose="020B0609020204030204" pitchFamily="49" charset="0"/>
              </a:rPr>
              <a:t> </a:t>
            </a:r>
            <a:r>
              <a:rPr lang="en-US" sz="2200" kern="0" dirty="0">
                <a:solidFill>
                  <a:srgbClr val="000080"/>
                </a:solidFill>
                <a:latin typeface="Consolas" panose="020B0609020204030204" pitchFamily="49" charset="0"/>
              </a:rPr>
              <a:t>DATE</a:t>
            </a:r>
            <a:r>
              <a:rPr lang="en-US" sz="2200" kern="0" dirty="0">
                <a:solidFill>
                  <a:srgbClr val="000000"/>
                </a:solidFill>
                <a:latin typeface="Consolas" panose="020B0609020204030204" pitchFamily="49" charset="0"/>
              </a:rPr>
              <a:t> </a:t>
            </a:r>
            <a:r>
              <a:rPr lang="en-US" sz="2200" kern="0" dirty="0">
                <a:solidFill>
                  <a:srgbClr val="800000"/>
                </a:solidFill>
                <a:latin typeface="Consolas" panose="020B0609020204030204" pitchFamily="49" charset="0"/>
              </a:rPr>
              <a:t>RANGE</a:t>
            </a:r>
            <a:r>
              <a:rPr lang="en-US" sz="2200" kern="0" dirty="0">
                <a:solidFill>
                  <a:srgbClr val="000000"/>
                </a:solidFill>
                <a:latin typeface="Consolas" panose="020B0609020204030204" pitchFamily="49" charset="0"/>
              </a:rPr>
              <a:t> </a:t>
            </a:r>
            <a:r>
              <a:rPr lang="en-US" sz="2200" kern="0" dirty="0">
                <a:solidFill>
                  <a:srgbClr val="0000FF"/>
                </a:solidFill>
                <a:latin typeface="Consolas" panose="020B0609020204030204" pitchFamily="49" charset="0"/>
              </a:rPr>
              <a:t>5</a:t>
            </a:r>
            <a:r>
              <a:rPr lang="en-US" sz="2200" kern="0" dirty="0">
                <a:solidFill>
                  <a:srgbClr val="000000"/>
                </a:solidFill>
                <a:latin typeface="Consolas" panose="020B0609020204030204" pitchFamily="49" charset="0"/>
              </a:rPr>
              <a:t> </a:t>
            </a:r>
            <a:r>
              <a:rPr lang="en-US" sz="2200" kern="0" dirty="0">
                <a:solidFill>
                  <a:srgbClr val="800000"/>
                </a:solidFill>
                <a:latin typeface="Consolas" panose="020B0609020204030204" pitchFamily="49" charset="0"/>
              </a:rPr>
              <a:t>PRECEDING</a:t>
            </a:r>
            <a:r>
              <a:rPr lang="en-US" sz="2200" kern="0" dirty="0">
                <a:solidFill>
                  <a:srgbClr val="000000"/>
                </a:solidFill>
                <a:latin typeface="Consolas" panose="020B0609020204030204" pitchFamily="49" charset="0"/>
              </a:rPr>
              <a:t>) </a:t>
            </a:r>
            <a:r>
              <a:rPr lang="en-US" sz="2200" kern="0" dirty="0">
                <a:solidFill>
                  <a:srgbClr val="800000"/>
                </a:solidFill>
                <a:latin typeface="Consolas" panose="020B0609020204030204" pitchFamily="49" charset="0"/>
              </a:rPr>
              <a:t>AS</a:t>
            </a:r>
            <a:r>
              <a:rPr lang="en-US" sz="2200" kern="0" dirty="0">
                <a:solidFill>
                  <a:srgbClr val="000000"/>
                </a:solidFill>
                <a:latin typeface="Consolas" panose="020B0609020204030204" pitchFamily="49" charset="0"/>
              </a:rPr>
              <a:t> SMOOTH</a:t>
            </a:r>
          </a:p>
          <a:p>
            <a:pPr marL="0" indent="0">
              <a:buFontTx/>
              <a:buNone/>
            </a:pPr>
            <a:r>
              <a:rPr lang="en-US" sz="2200" kern="0" dirty="0">
                <a:solidFill>
                  <a:srgbClr val="800000"/>
                </a:solidFill>
                <a:latin typeface="Consolas" panose="020B0609020204030204" pitchFamily="49" charset="0"/>
              </a:rPr>
              <a:t>FROM</a:t>
            </a:r>
            <a:r>
              <a:rPr lang="en-US" sz="2200" kern="0" dirty="0">
                <a:solidFill>
                  <a:srgbClr val="000000"/>
                </a:solidFill>
                <a:latin typeface="Consolas" panose="020B0609020204030204" pitchFamily="49" charset="0"/>
              </a:rPr>
              <a:t> STOCKTAB</a:t>
            </a:r>
          </a:p>
          <a:p>
            <a:pPr marL="0" indent="0">
              <a:buFontTx/>
              <a:buNone/>
            </a:pPr>
            <a:r>
              <a:rPr lang="en-US" sz="2200" kern="0" dirty="0">
                <a:solidFill>
                  <a:srgbClr val="800000"/>
                </a:solidFill>
                <a:latin typeface="Consolas" panose="020B0609020204030204" pitchFamily="49" charset="0"/>
              </a:rPr>
              <a:t>WHERE</a:t>
            </a:r>
            <a:r>
              <a:rPr lang="en-US" sz="2200" kern="0" dirty="0">
                <a:solidFill>
                  <a:srgbClr val="000000"/>
                </a:solidFill>
                <a:latin typeface="Consolas" panose="020B0609020204030204" pitchFamily="49" charset="0"/>
              </a:rPr>
              <a:t> SYMBOL = </a:t>
            </a:r>
            <a:r>
              <a:rPr lang="en-US" sz="2200" kern="0" dirty="0">
                <a:solidFill>
                  <a:srgbClr val="008000"/>
                </a:solidFill>
                <a:latin typeface="Consolas" panose="020B0609020204030204" pitchFamily="49" charset="0"/>
              </a:rPr>
              <a:t>'IBM'</a:t>
            </a:r>
            <a:r>
              <a:rPr lang="en-US" sz="2200" kern="0" dirty="0">
                <a:solidFill>
                  <a:srgbClr val="FF0000"/>
                </a:solidFill>
                <a:latin typeface="Consolas" panose="020B0609020204030204" pitchFamily="49" charset="0"/>
              </a:rPr>
              <a:t>;</a:t>
            </a:r>
            <a:endParaRPr lang="en-US" sz="2200" kern="0" dirty="0"/>
          </a:p>
        </p:txBody>
      </p:sp>
    </p:spTree>
    <p:extLst>
      <p:ext uri="{BB962C8B-B14F-4D97-AF65-F5344CB8AC3E}">
        <p14:creationId xmlns:p14="http://schemas.microsoft.com/office/powerpoint/2010/main" val="3348240930"/>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750FE-4F0F-B883-C707-B98E7E7E9A25}"/>
              </a:ext>
            </a:extLst>
          </p:cNvPr>
          <p:cNvSpPr>
            <a:spLocks noGrp="1"/>
          </p:cNvSpPr>
          <p:nvPr>
            <p:ph type="title"/>
          </p:nvPr>
        </p:nvSpPr>
        <p:spPr/>
        <p:txBody>
          <a:bodyPr/>
          <a:lstStyle/>
          <a:p>
            <a:r>
              <a:rPr lang="en-US" dirty="0"/>
              <a:t>LAG/LEAD</a:t>
            </a:r>
          </a:p>
        </p:txBody>
      </p:sp>
      <p:sp>
        <p:nvSpPr>
          <p:cNvPr id="3" name="Content Placeholder 2">
            <a:extLst>
              <a:ext uri="{FF2B5EF4-FFF2-40B4-BE49-F238E27FC236}">
                <a16:creationId xmlns:a16="http://schemas.microsoft.com/office/drawing/2014/main" id="{B0ED3577-46E6-FCF9-010C-A27615821D41}"/>
              </a:ext>
            </a:extLst>
          </p:cNvPr>
          <p:cNvSpPr>
            <a:spLocks noGrp="1"/>
          </p:cNvSpPr>
          <p:nvPr>
            <p:ph idx="1"/>
          </p:nvPr>
        </p:nvSpPr>
        <p:spPr>
          <a:xfrm>
            <a:off x="198226" y="685800"/>
            <a:ext cx="11813228" cy="5562601"/>
          </a:xfrm>
        </p:spPr>
        <p:txBody>
          <a:bodyPr/>
          <a:lstStyle/>
          <a:p>
            <a:r>
              <a:rPr lang="en-US" sz="2200" dirty="0"/>
              <a:t>Lag: window function that lets you look back at a previous row's value </a:t>
            </a:r>
          </a:p>
          <a:p>
            <a:pPr marL="0" indent="0">
              <a:buNone/>
            </a:pPr>
            <a:r>
              <a:rPr lang="en-US" sz="2200" dirty="0"/>
              <a:t>    e.g., the difference in the amounts paid between each day and the </a:t>
            </a:r>
            <a:r>
              <a:rPr lang="en-US" sz="2200" b="1" dirty="0"/>
              <a:t>last</a:t>
            </a:r>
            <a:r>
              <a:rPr lang="en-US" sz="2200" dirty="0"/>
              <a:t> one</a:t>
            </a:r>
          </a:p>
          <a:p>
            <a:r>
              <a:rPr lang="en-US" sz="2200" dirty="0"/>
              <a:t>Lead: diff in the amounts paid between each day and the </a:t>
            </a:r>
            <a:r>
              <a:rPr lang="en-US" sz="2200" b="1" dirty="0"/>
              <a:t>next</a:t>
            </a:r>
            <a:r>
              <a:rPr lang="en-US" sz="2200" dirty="0"/>
              <a:t> one </a:t>
            </a:r>
          </a:p>
        </p:txBody>
      </p:sp>
      <p:sp>
        <p:nvSpPr>
          <p:cNvPr id="5" name="TextBox 4">
            <a:extLst>
              <a:ext uri="{FF2B5EF4-FFF2-40B4-BE49-F238E27FC236}">
                <a16:creationId xmlns:a16="http://schemas.microsoft.com/office/drawing/2014/main" id="{4D5D6C49-8082-7A57-EBF8-DA77A9FD6805}"/>
              </a:ext>
            </a:extLst>
          </p:cNvPr>
          <p:cNvSpPr txBox="1"/>
          <p:nvPr/>
        </p:nvSpPr>
        <p:spPr>
          <a:xfrm>
            <a:off x="2058907" y="1898166"/>
            <a:ext cx="8610600" cy="1384995"/>
          </a:xfrm>
          <a:prstGeom prst="rect">
            <a:avLst/>
          </a:prstGeom>
          <a:noFill/>
        </p:spPr>
        <p:txBody>
          <a:bodyPr wrap="square">
            <a:spAutoFit/>
          </a:bodyPr>
          <a:lstStyle/>
          <a:p>
            <a:pPr algn="l"/>
            <a:r>
              <a:rPr lang="en-US" sz="2100" b="1" dirty="0">
                <a:solidFill>
                  <a:srgbClr val="800000"/>
                </a:solidFill>
                <a:latin typeface="Consolas" panose="020B0609020204030204" pitchFamily="49" charset="0"/>
              </a:rPr>
              <a:t>SELECT</a:t>
            </a:r>
            <a:r>
              <a:rPr lang="en-US" sz="2100" b="1" dirty="0">
                <a:solidFill>
                  <a:srgbClr val="000000"/>
                </a:solidFill>
                <a:latin typeface="Consolas" panose="020B0609020204030204" pitchFamily="49" charset="0"/>
              </a:rPr>
              <a:t> </a:t>
            </a:r>
            <a:r>
              <a:rPr lang="en-US" sz="2100" b="1" dirty="0" err="1">
                <a:solidFill>
                  <a:srgbClr val="000000"/>
                </a:solidFill>
                <a:latin typeface="Consolas" panose="020B0609020204030204" pitchFamily="49" charset="0"/>
              </a:rPr>
              <a:t>payment_date</a:t>
            </a:r>
            <a:r>
              <a:rPr lang="en-US" sz="2100" b="1" dirty="0">
                <a:solidFill>
                  <a:srgbClr val="000000"/>
                </a:solidFill>
                <a:latin typeface="Consolas" panose="020B0609020204030204" pitchFamily="49" charset="0"/>
              </a:rPr>
              <a:t>, amount, </a:t>
            </a:r>
            <a:r>
              <a:rPr lang="en-US" sz="2100" b="1" dirty="0">
                <a:solidFill>
                  <a:srgbClr val="000080"/>
                </a:solidFill>
                <a:latin typeface="Consolas" panose="020B0609020204030204" pitchFamily="49" charset="0"/>
              </a:rPr>
              <a:t>LAG</a:t>
            </a:r>
            <a:r>
              <a:rPr lang="en-US" sz="2100" b="1" dirty="0">
                <a:solidFill>
                  <a:srgbClr val="000000"/>
                </a:solidFill>
                <a:latin typeface="Consolas" panose="020B0609020204030204" pitchFamily="49" charset="0"/>
              </a:rPr>
              <a:t>(amount) </a:t>
            </a:r>
          </a:p>
          <a:p>
            <a:pPr algn="l"/>
            <a:r>
              <a:rPr lang="en-US" sz="2100" b="1" dirty="0">
                <a:solidFill>
                  <a:srgbClr val="800000"/>
                </a:solidFill>
                <a:latin typeface="Consolas" panose="020B0609020204030204" pitchFamily="49" charset="0"/>
              </a:rPr>
              <a:t>OVER</a:t>
            </a:r>
            <a:r>
              <a:rPr lang="en-US" sz="2100" b="1" dirty="0">
                <a:solidFill>
                  <a:srgbClr val="000000"/>
                </a:solidFill>
                <a:latin typeface="Consolas" panose="020B0609020204030204" pitchFamily="49" charset="0"/>
              </a:rPr>
              <a:t> (</a:t>
            </a:r>
            <a:r>
              <a:rPr lang="en-US" sz="2100" b="1" dirty="0">
                <a:solidFill>
                  <a:srgbClr val="800000"/>
                </a:solidFill>
                <a:latin typeface="Consolas" panose="020B0609020204030204" pitchFamily="49" charset="0"/>
              </a:rPr>
              <a:t>ORDER</a:t>
            </a:r>
            <a:r>
              <a:rPr lang="en-US" sz="2100" b="1" dirty="0">
                <a:solidFill>
                  <a:srgbClr val="000000"/>
                </a:solidFill>
                <a:latin typeface="Consolas" panose="020B0609020204030204" pitchFamily="49" charset="0"/>
              </a:rPr>
              <a:t> </a:t>
            </a:r>
            <a:r>
              <a:rPr lang="en-US" sz="2100" b="1" dirty="0">
                <a:solidFill>
                  <a:srgbClr val="800000"/>
                </a:solidFill>
                <a:latin typeface="Consolas" panose="020B0609020204030204" pitchFamily="49" charset="0"/>
              </a:rPr>
              <a:t>BY</a:t>
            </a:r>
            <a:r>
              <a:rPr lang="en-US" sz="2100" b="1" dirty="0">
                <a:solidFill>
                  <a:srgbClr val="000000"/>
                </a:solidFill>
                <a:latin typeface="Consolas" panose="020B0609020204030204" pitchFamily="49" charset="0"/>
              </a:rPr>
              <a:t> </a:t>
            </a:r>
            <a:r>
              <a:rPr lang="en-US" sz="2100" b="1" dirty="0" err="1">
                <a:solidFill>
                  <a:srgbClr val="000000"/>
                </a:solidFill>
                <a:latin typeface="Consolas" panose="020B0609020204030204" pitchFamily="49" charset="0"/>
              </a:rPr>
              <a:t>payment_date</a:t>
            </a:r>
            <a:r>
              <a:rPr lang="en-US" sz="2100" b="1" dirty="0">
                <a:solidFill>
                  <a:srgbClr val="000000"/>
                </a:solidFill>
                <a:latin typeface="Consolas" panose="020B0609020204030204" pitchFamily="49" charset="0"/>
              </a:rPr>
              <a:t>) - amount </a:t>
            </a:r>
            <a:r>
              <a:rPr lang="en-US" sz="2100" b="1" dirty="0">
                <a:solidFill>
                  <a:srgbClr val="800000"/>
                </a:solidFill>
                <a:latin typeface="Consolas" panose="020B0609020204030204" pitchFamily="49" charset="0"/>
              </a:rPr>
              <a:t>AS</a:t>
            </a:r>
            <a:r>
              <a:rPr lang="en-US" sz="2100" b="1" dirty="0">
                <a:solidFill>
                  <a:srgbClr val="000000"/>
                </a:solidFill>
                <a:latin typeface="Consolas" panose="020B0609020204030204" pitchFamily="49" charset="0"/>
              </a:rPr>
              <a:t> diff</a:t>
            </a:r>
          </a:p>
          <a:p>
            <a:pPr algn="l"/>
            <a:r>
              <a:rPr lang="en-US" sz="2100" b="1" dirty="0">
                <a:solidFill>
                  <a:srgbClr val="800000"/>
                </a:solidFill>
                <a:latin typeface="Consolas" panose="020B0609020204030204" pitchFamily="49" charset="0"/>
              </a:rPr>
              <a:t>FROM</a:t>
            </a:r>
            <a:r>
              <a:rPr lang="en-US" sz="2100" b="1" dirty="0">
                <a:solidFill>
                  <a:srgbClr val="000000"/>
                </a:solidFill>
                <a:latin typeface="Consolas" panose="020B0609020204030204" pitchFamily="49" charset="0"/>
              </a:rPr>
              <a:t> payment p</a:t>
            </a:r>
          </a:p>
          <a:p>
            <a:pPr algn="l"/>
            <a:r>
              <a:rPr lang="en-US" sz="2100" b="1" dirty="0">
                <a:solidFill>
                  <a:srgbClr val="800000"/>
                </a:solidFill>
                <a:latin typeface="Consolas" panose="020B0609020204030204" pitchFamily="49" charset="0"/>
              </a:rPr>
              <a:t>ORDER</a:t>
            </a:r>
            <a:r>
              <a:rPr lang="en-US" sz="2100" b="1" dirty="0">
                <a:solidFill>
                  <a:srgbClr val="000000"/>
                </a:solidFill>
                <a:latin typeface="Consolas" panose="020B0609020204030204" pitchFamily="49" charset="0"/>
              </a:rPr>
              <a:t> </a:t>
            </a:r>
            <a:r>
              <a:rPr lang="en-US" sz="2100" b="1" dirty="0">
                <a:solidFill>
                  <a:srgbClr val="800000"/>
                </a:solidFill>
                <a:latin typeface="Consolas" panose="020B0609020204030204" pitchFamily="49" charset="0"/>
              </a:rPr>
              <a:t>BY</a:t>
            </a:r>
            <a:r>
              <a:rPr lang="en-US" sz="2100" b="1" dirty="0">
                <a:solidFill>
                  <a:srgbClr val="000000"/>
                </a:solidFill>
                <a:latin typeface="Consolas" panose="020B0609020204030204" pitchFamily="49" charset="0"/>
              </a:rPr>
              <a:t> </a:t>
            </a:r>
            <a:r>
              <a:rPr lang="en-US" sz="2100" b="1" dirty="0" err="1">
                <a:solidFill>
                  <a:srgbClr val="000000"/>
                </a:solidFill>
                <a:latin typeface="Consolas" panose="020B0609020204030204" pitchFamily="49" charset="0"/>
              </a:rPr>
              <a:t>payment_date</a:t>
            </a:r>
            <a:r>
              <a:rPr lang="en-US" sz="2100" b="1" dirty="0">
                <a:solidFill>
                  <a:srgbClr val="FF0000"/>
                </a:solidFill>
                <a:latin typeface="Consolas" panose="020B0609020204030204" pitchFamily="49" charset="0"/>
              </a:rPr>
              <a:t>;</a:t>
            </a:r>
            <a:endParaRPr lang="en-US" sz="2100" dirty="0"/>
          </a:p>
        </p:txBody>
      </p:sp>
      <p:pic>
        <p:nvPicPr>
          <p:cNvPr id="7" name="Picture 6">
            <a:extLst>
              <a:ext uri="{FF2B5EF4-FFF2-40B4-BE49-F238E27FC236}">
                <a16:creationId xmlns:a16="http://schemas.microsoft.com/office/drawing/2014/main" id="{B531FC76-0F3A-D4D3-269F-46120A1A9D95}"/>
              </a:ext>
            </a:extLst>
          </p:cNvPr>
          <p:cNvPicPr>
            <a:picLocks noChangeAspect="1"/>
          </p:cNvPicPr>
          <p:nvPr/>
        </p:nvPicPr>
        <p:blipFill>
          <a:blip r:embed="rId2"/>
          <a:stretch>
            <a:fillRect/>
          </a:stretch>
        </p:blipFill>
        <p:spPr>
          <a:xfrm>
            <a:off x="1327877" y="3298469"/>
            <a:ext cx="2351108" cy="3231415"/>
          </a:xfrm>
          <a:prstGeom prst="rect">
            <a:avLst/>
          </a:prstGeom>
          <a:ln w="12700">
            <a:solidFill>
              <a:schemeClr val="bg2"/>
            </a:solidFill>
          </a:ln>
          <a:effectLst>
            <a:outerShdw blurRad="76200" dist="76200" dir="2700000" algn="tl" rotWithShape="0">
              <a:prstClr val="black">
                <a:alpha val="40000"/>
              </a:prstClr>
            </a:outerShdw>
          </a:effectLst>
        </p:spPr>
      </p:pic>
      <p:pic>
        <p:nvPicPr>
          <p:cNvPr id="9" name="Picture 8">
            <a:extLst>
              <a:ext uri="{FF2B5EF4-FFF2-40B4-BE49-F238E27FC236}">
                <a16:creationId xmlns:a16="http://schemas.microsoft.com/office/drawing/2014/main" id="{3DF406A8-62DE-A0BB-5A8F-B6C4653C689F}"/>
              </a:ext>
            </a:extLst>
          </p:cNvPr>
          <p:cNvPicPr>
            <a:picLocks noChangeAspect="1"/>
          </p:cNvPicPr>
          <p:nvPr/>
        </p:nvPicPr>
        <p:blipFill>
          <a:blip r:embed="rId3"/>
          <a:stretch>
            <a:fillRect/>
          </a:stretch>
        </p:blipFill>
        <p:spPr>
          <a:xfrm>
            <a:off x="3861759" y="3298468"/>
            <a:ext cx="3409718" cy="3215289"/>
          </a:xfrm>
          <a:prstGeom prst="rect">
            <a:avLst/>
          </a:prstGeom>
          <a:ln w="12700">
            <a:solidFill>
              <a:schemeClr val="bg2"/>
            </a:solidFill>
          </a:ln>
          <a:effectLst>
            <a:outerShdw blurRad="76200" dist="76200" dir="2700000" algn="tl" rotWithShape="0">
              <a:prstClr val="black">
                <a:alpha val="40000"/>
              </a:prstClr>
            </a:outerShdw>
          </a:effectLst>
        </p:spPr>
      </p:pic>
      <p:pic>
        <p:nvPicPr>
          <p:cNvPr id="11" name="Picture 10">
            <a:extLst>
              <a:ext uri="{FF2B5EF4-FFF2-40B4-BE49-F238E27FC236}">
                <a16:creationId xmlns:a16="http://schemas.microsoft.com/office/drawing/2014/main" id="{A7F752F3-814B-13D4-4D3A-4757DCEFD679}"/>
              </a:ext>
            </a:extLst>
          </p:cNvPr>
          <p:cNvPicPr>
            <a:picLocks noChangeAspect="1"/>
          </p:cNvPicPr>
          <p:nvPr/>
        </p:nvPicPr>
        <p:blipFill>
          <a:blip r:embed="rId4"/>
          <a:stretch>
            <a:fillRect/>
          </a:stretch>
        </p:blipFill>
        <p:spPr>
          <a:xfrm>
            <a:off x="7423877" y="3298468"/>
            <a:ext cx="3430120" cy="3215290"/>
          </a:xfrm>
          <a:prstGeom prst="rect">
            <a:avLst/>
          </a:prstGeom>
          <a:ln w="12700">
            <a:solidFill>
              <a:schemeClr val="bg2"/>
            </a:solidFill>
          </a:ln>
          <a:effectLst>
            <a:outerShdw blurRad="76200" dist="76200" dir="2700000" algn="tl" rotWithShape="0">
              <a:prstClr val="black">
                <a:alpha val="40000"/>
              </a:prstClr>
            </a:outerShdw>
          </a:effectLst>
        </p:spPr>
      </p:pic>
      <p:sp>
        <p:nvSpPr>
          <p:cNvPr id="14" name="Freeform: Shape 13">
            <a:extLst>
              <a:ext uri="{FF2B5EF4-FFF2-40B4-BE49-F238E27FC236}">
                <a16:creationId xmlns:a16="http://schemas.microsoft.com/office/drawing/2014/main" id="{86395499-6997-D51D-3A18-D1ABE44596BA}"/>
              </a:ext>
            </a:extLst>
          </p:cNvPr>
          <p:cNvSpPr/>
          <p:nvPr/>
        </p:nvSpPr>
        <p:spPr bwMode="auto">
          <a:xfrm>
            <a:off x="3645107" y="3450789"/>
            <a:ext cx="124673" cy="281145"/>
          </a:xfrm>
          <a:custGeom>
            <a:avLst/>
            <a:gdLst>
              <a:gd name="connsiteX0" fmla="*/ 0 w 124673"/>
              <a:gd name="connsiteY0" fmla="*/ 281145 h 281145"/>
              <a:gd name="connsiteX1" fmla="*/ 67455 w 124673"/>
              <a:gd name="connsiteY1" fmla="*/ 277397 h 281145"/>
              <a:gd name="connsiteX2" fmla="*/ 71203 w 124673"/>
              <a:gd name="connsiteY2" fmla="*/ 262407 h 281145"/>
              <a:gd name="connsiteX3" fmla="*/ 78698 w 124673"/>
              <a:gd name="connsiteY3" fmla="*/ 251164 h 281145"/>
              <a:gd name="connsiteX4" fmla="*/ 104931 w 124673"/>
              <a:gd name="connsiteY4" fmla="*/ 217436 h 281145"/>
              <a:gd name="connsiteX5" fmla="*/ 119921 w 124673"/>
              <a:gd name="connsiteY5" fmla="*/ 179961 h 281145"/>
              <a:gd name="connsiteX6" fmla="*/ 116173 w 124673"/>
              <a:gd name="connsiteY6" fmla="*/ 45049 h 281145"/>
              <a:gd name="connsiteX7" fmla="*/ 101183 w 124673"/>
              <a:gd name="connsiteY7" fmla="*/ 37554 h 281145"/>
              <a:gd name="connsiteX8" fmla="*/ 71203 w 124673"/>
              <a:gd name="connsiteY8" fmla="*/ 18817 h 281145"/>
              <a:gd name="connsiteX9" fmla="*/ 59960 w 124673"/>
              <a:gd name="connsiteY9" fmla="*/ 11322 h 281145"/>
              <a:gd name="connsiteX10" fmla="*/ 37475 w 124673"/>
              <a:gd name="connsiteY10" fmla="*/ 7574 h 281145"/>
              <a:gd name="connsiteX11" fmla="*/ 7495 w 124673"/>
              <a:gd name="connsiteY11" fmla="*/ 79 h 281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4673" h="281145">
                <a:moveTo>
                  <a:pt x="0" y="281145"/>
                </a:moveTo>
                <a:cubicBezTo>
                  <a:pt x="22485" y="279896"/>
                  <a:pt x="45677" y="283128"/>
                  <a:pt x="67455" y="277397"/>
                </a:cubicBezTo>
                <a:cubicBezTo>
                  <a:pt x="72436" y="276086"/>
                  <a:pt x="69174" y="267141"/>
                  <a:pt x="71203" y="262407"/>
                </a:cubicBezTo>
                <a:cubicBezTo>
                  <a:pt x="72977" y="258267"/>
                  <a:pt x="75996" y="254767"/>
                  <a:pt x="78698" y="251164"/>
                </a:cubicBezTo>
                <a:cubicBezTo>
                  <a:pt x="87244" y="239770"/>
                  <a:pt x="96824" y="229146"/>
                  <a:pt x="104931" y="217436"/>
                </a:cubicBezTo>
                <a:cubicBezTo>
                  <a:pt x="112021" y="207196"/>
                  <a:pt x="116230" y="191035"/>
                  <a:pt x="119921" y="179961"/>
                </a:cubicBezTo>
                <a:cubicBezTo>
                  <a:pt x="124550" y="129030"/>
                  <a:pt x="129204" y="103690"/>
                  <a:pt x="116173" y="45049"/>
                </a:cubicBezTo>
                <a:cubicBezTo>
                  <a:pt x="114961" y="39596"/>
                  <a:pt x="106008" y="40369"/>
                  <a:pt x="101183" y="37554"/>
                </a:cubicBezTo>
                <a:cubicBezTo>
                  <a:pt x="91004" y="31616"/>
                  <a:pt x="81008" y="25354"/>
                  <a:pt x="71203" y="18817"/>
                </a:cubicBezTo>
                <a:cubicBezTo>
                  <a:pt x="67455" y="16319"/>
                  <a:pt x="64233" y="12746"/>
                  <a:pt x="59960" y="11322"/>
                </a:cubicBezTo>
                <a:cubicBezTo>
                  <a:pt x="52752" y="8919"/>
                  <a:pt x="44970" y="8823"/>
                  <a:pt x="37475" y="7574"/>
                </a:cubicBezTo>
                <a:cubicBezTo>
                  <a:pt x="15258" y="-1313"/>
                  <a:pt x="25464" y="79"/>
                  <a:pt x="7495" y="79"/>
                </a:cubicBezTo>
              </a:path>
            </a:pathLst>
          </a:custGeom>
          <a:noFill/>
          <a:ln w="12700" cap="flat" cmpd="sng" algn="ctr">
            <a:solidFill>
              <a:srgbClr val="FF9900"/>
            </a:solidFill>
            <a:prstDash val="solid"/>
            <a:round/>
            <a:headEnd type="none" w="med" len="med"/>
            <a:tailEnd type="stealth"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sp>
        <p:nvSpPr>
          <p:cNvPr id="15" name="Freeform: Shape 14">
            <a:extLst>
              <a:ext uri="{FF2B5EF4-FFF2-40B4-BE49-F238E27FC236}">
                <a16:creationId xmlns:a16="http://schemas.microsoft.com/office/drawing/2014/main" id="{4B224D66-66B9-0E16-CFA0-8A6D6EBA0BD8}"/>
              </a:ext>
            </a:extLst>
          </p:cNvPr>
          <p:cNvSpPr/>
          <p:nvPr/>
        </p:nvSpPr>
        <p:spPr bwMode="auto">
          <a:xfrm>
            <a:off x="3641604" y="3756836"/>
            <a:ext cx="124673" cy="281145"/>
          </a:xfrm>
          <a:custGeom>
            <a:avLst/>
            <a:gdLst>
              <a:gd name="connsiteX0" fmla="*/ 0 w 124673"/>
              <a:gd name="connsiteY0" fmla="*/ 281145 h 281145"/>
              <a:gd name="connsiteX1" fmla="*/ 67455 w 124673"/>
              <a:gd name="connsiteY1" fmla="*/ 277397 h 281145"/>
              <a:gd name="connsiteX2" fmla="*/ 71203 w 124673"/>
              <a:gd name="connsiteY2" fmla="*/ 262407 h 281145"/>
              <a:gd name="connsiteX3" fmla="*/ 78698 w 124673"/>
              <a:gd name="connsiteY3" fmla="*/ 251164 h 281145"/>
              <a:gd name="connsiteX4" fmla="*/ 104931 w 124673"/>
              <a:gd name="connsiteY4" fmla="*/ 217436 h 281145"/>
              <a:gd name="connsiteX5" fmla="*/ 119921 w 124673"/>
              <a:gd name="connsiteY5" fmla="*/ 179961 h 281145"/>
              <a:gd name="connsiteX6" fmla="*/ 116173 w 124673"/>
              <a:gd name="connsiteY6" fmla="*/ 45049 h 281145"/>
              <a:gd name="connsiteX7" fmla="*/ 101183 w 124673"/>
              <a:gd name="connsiteY7" fmla="*/ 37554 h 281145"/>
              <a:gd name="connsiteX8" fmla="*/ 71203 w 124673"/>
              <a:gd name="connsiteY8" fmla="*/ 18817 h 281145"/>
              <a:gd name="connsiteX9" fmla="*/ 59960 w 124673"/>
              <a:gd name="connsiteY9" fmla="*/ 11322 h 281145"/>
              <a:gd name="connsiteX10" fmla="*/ 37475 w 124673"/>
              <a:gd name="connsiteY10" fmla="*/ 7574 h 281145"/>
              <a:gd name="connsiteX11" fmla="*/ 7495 w 124673"/>
              <a:gd name="connsiteY11" fmla="*/ 79 h 281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4673" h="281145">
                <a:moveTo>
                  <a:pt x="0" y="281145"/>
                </a:moveTo>
                <a:cubicBezTo>
                  <a:pt x="22485" y="279896"/>
                  <a:pt x="45677" y="283128"/>
                  <a:pt x="67455" y="277397"/>
                </a:cubicBezTo>
                <a:cubicBezTo>
                  <a:pt x="72436" y="276086"/>
                  <a:pt x="69174" y="267141"/>
                  <a:pt x="71203" y="262407"/>
                </a:cubicBezTo>
                <a:cubicBezTo>
                  <a:pt x="72977" y="258267"/>
                  <a:pt x="75996" y="254767"/>
                  <a:pt x="78698" y="251164"/>
                </a:cubicBezTo>
                <a:cubicBezTo>
                  <a:pt x="87244" y="239770"/>
                  <a:pt x="96824" y="229146"/>
                  <a:pt x="104931" y="217436"/>
                </a:cubicBezTo>
                <a:cubicBezTo>
                  <a:pt x="112021" y="207196"/>
                  <a:pt x="116230" y="191035"/>
                  <a:pt x="119921" y="179961"/>
                </a:cubicBezTo>
                <a:cubicBezTo>
                  <a:pt x="124550" y="129030"/>
                  <a:pt x="129204" y="103690"/>
                  <a:pt x="116173" y="45049"/>
                </a:cubicBezTo>
                <a:cubicBezTo>
                  <a:pt x="114961" y="39596"/>
                  <a:pt x="106008" y="40369"/>
                  <a:pt x="101183" y="37554"/>
                </a:cubicBezTo>
                <a:cubicBezTo>
                  <a:pt x="91004" y="31616"/>
                  <a:pt x="81008" y="25354"/>
                  <a:pt x="71203" y="18817"/>
                </a:cubicBezTo>
                <a:cubicBezTo>
                  <a:pt x="67455" y="16319"/>
                  <a:pt x="64233" y="12746"/>
                  <a:pt x="59960" y="11322"/>
                </a:cubicBezTo>
                <a:cubicBezTo>
                  <a:pt x="52752" y="8919"/>
                  <a:pt x="44970" y="8823"/>
                  <a:pt x="37475" y="7574"/>
                </a:cubicBezTo>
                <a:cubicBezTo>
                  <a:pt x="15258" y="-1313"/>
                  <a:pt x="25464" y="79"/>
                  <a:pt x="7495" y="79"/>
                </a:cubicBezTo>
              </a:path>
            </a:pathLst>
          </a:custGeom>
          <a:noFill/>
          <a:ln w="12700" cap="flat" cmpd="sng" algn="ctr">
            <a:solidFill>
              <a:srgbClr val="FF9900"/>
            </a:solidFill>
            <a:prstDash val="solid"/>
            <a:round/>
            <a:headEnd type="none" w="med" len="med"/>
            <a:tailEnd type="stealth"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sp>
        <p:nvSpPr>
          <p:cNvPr id="16" name="Freeform: Shape 15">
            <a:extLst>
              <a:ext uri="{FF2B5EF4-FFF2-40B4-BE49-F238E27FC236}">
                <a16:creationId xmlns:a16="http://schemas.microsoft.com/office/drawing/2014/main" id="{2C27EF02-8C75-65D5-C152-1F77232E146D}"/>
              </a:ext>
            </a:extLst>
          </p:cNvPr>
          <p:cNvSpPr/>
          <p:nvPr/>
        </p:nvSpPr>
        <p:spPr bwMode="auto">
          <a:xfrm>
            <a:off x="1231690" y="3733183"/>
            <a:ext cx="119921" cy="254833"/>
          </a:xfrm>
          <a:custGeom>
            <a:avLst/>
            <a:gdLst>
              <a:gd name="connsiteX0" fmla="*/ 82446 w 119921"/>
              <a:gd name="connsiteY0" fmla="*/ 0 h 254833"/>
              <a:gd name="connsiteX1" fmla="*/ 14990 w 119921"/>
              <a:gd name="connsiteY1" fmla="*/ 11243 h 254833"/>
              <a:gd name="connsiteX2" fmla="*/ 0 w 119921"/>
              <a:gd name="connsiteY2" fmla="*/ 37475 h 254833"/>
              <a:gd name="connsiteX3" fmla="*/ 3748 w 119921"/>
              <a:gd name="connsiteY3" fmla="*/ 123669 h 254833"/>
              <a:gd name="connsiteX4" fmla="*/ 11243 w 119921"/>
              <a:gd name="connsiteY4" fmla="*/ 138659 h 254833"/>
              <a:gd name="connsiteX5" fmla="*/ 22485 w 119921"/>
              <a:gd name="connsiteY5" fmla="*/ 157397 h 254833"/>
              <a:gd name="connsiteX6" fmla="*/ 29980 w 119921"/>
              <a:gd name="connsiteY6" fmla="*/ 168639 h 254833"/>
              <a:gd name="connsiteX7" fmla="*/ 41223 w 119921"/>
              <a:gd name="connsiteY7" fmla="*/ 176134 h 254833"/>
              <a:gd name="connsiteX8" fmla="*/ 48718 w 119921"/>
              <a:gd name="connsiteY8" fmla="*/ 191125 h 254833"/>
              <a:gd name="connsiteX9" fmla="*/ 74951 w 119921"/>
              <a:gd name="connsiteY9" fmla="*/ 221105 h 254833"/>
              <a:gd name="connsiteX10" fmla="*/ 93689 w 119921"/>
              <a:gd name="connsiteY10" fmla="*/ 236095 h 254833"/>
              <a:gd name="connsiteX11" fmla="*/ 119921 w 119921"/>
              <a:gd name="connsiteY11" fmla="*/ 254833 h 254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9921" h="254833">
                <a:moveTo>
                  <a:pt x="82446" y="0"/>
                </a:moveTo>
                <a:cubicBezTo>
                  <a:pt x="67439" y="1154"/>
                  <a:pt x="32156" y="-1019"/>
                  <a:pt x="14990" y="11243"/>
                </a:cubicBezTo>
                <a:cubicBezTo>
                  <a:pt x="10870" y="14186"/>
                  <a:pt x="1480" y="34516"/>
                  <a:pt x="0" y="37475"/>
                </a:cubicBezTo>
                <a:cubicBezTo>
                  <a:pt x="1249" y="66206"/>
                  <a:pt x="572" y="95086"/>
                  <a:pt x="3748" y="123669"/>
                </a:cubicBezTo>
                <a:cubicBezTo>
                  <a:pt x="4365" y="129221"/>
                  <a:pt x="8530" y="133776"/>
                  <a:pt x="11243" y="138659"/>
                </a:cubicBezTo>
                <a:cubicBezTo>
                  <a:pt x="14780" y="145026"/>
                  <a:pt x="18625" y="151220"/>
                  <a:pt x="22485" y="157397"/>
                </a:cubicBezTo>
                <a:cubicBezTo>
                  <a:pt x="24872" y="161216"/>
                  <a:pt x="26795" y="165454"/>
                  <a:pt x="29980" y="168639"/>
                </a:cubicBezTo>
                <a:cubicBezTo>
                  <a:pt x="33165" y="171824"/>
                  <a:pt x="37475" y="173636"/>
                  <a:pt x="41223" y="176134"/>
                </a:cubicBezTo>
                <a:cubicBezTo>
                  <a:pt x="43721" y="181131"/>
                  <a:pt x="45619" y="186477"/>
                  <a:pt x="48718" y="191125"/>
                </a:cubicBezTo>
                <a:cubicBezTo>
                  <a:pt x="54597" y="199943"/>
                  <a:pt x="66284" y="213521"/>
                  <a:pt x="74951" y="221105"/>
                </a:cubicBezTo>
                <a:cubicBezTo>
                  <a:pt x="80971" y="226372"/>
                  <a:pt x="86697" y="232210"/>
                  <a:pt x="93689" y="236095"/>
                </a:cubicBezTo>
                <a:cubicBezTo>
                  <a:pt x="123006" y="252383"/>
                  <a:pt x="95563" y="222354"/>
                  <a:pt x="119921" y="254833"/>
                </a:cubicBezTo>
              </a:path>
            </a:pathLst>
          </a:custGeom>
          <a:noFill/>
          <a:ln w="12700" cap="flat" cmpd="sng" algn="ctr">
            <a:solidFill>
              <a:srgbClr val="FF9900"/>
            </a:solidFill>
            <a:prstDash val="solid"/>
            <a:round/>
            <a:headEnd type="none" w="med" len="med"/>
            <a:tailEnd type="stealth"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sp>
        <p:nvSpPr>
          <p:cNvPr id="17" name="Freeform: Shape 16">
            <a:extLst>
              <a:ext uri="{FF2B5EF4-FFF2-40B4-BE49-F238E27FC236}">
                <a16:creationId xmlns:a16="http://schemas.microsoft.com/office/drawing/2014/main" id="{33B3EBF5-80DB-87E8-5206-7BBC9F0E989B}"/>
              </a:ext>
            </a:extLst>
          </p:cNvPr>
          <p:cNvSpPr/>
          <p:nvPr/>
        </p:nvSpPr>
        <p:spPr bwMode="auto">
          <a:xfrm>
            <a:off x="1219200" y="3941802"/>
            <a:ext cx="119921" cy="254833"/>
          </a:xfrm>
          <a:custGeom>
            <a:avLst/>
            <a:gdLst>
              <a:gd name="connsiteX0" fmla="*/ 82446 w 119921"/>
              <a:gd name="connsiteY0" fmla="*/ 0 h 254833"/>
              <a:gd name="connsiteX1" fmla="*/ 14990 w 119921"/>
              <a:gd name="connsiteY1" fmla="*/ 11243 h 254833"/>
              <a:gd name="connsiteX2" fmla="*/ 0 w 119921"/>
              <a:gd name="connsiteY2" fmla="*/ 37475 h 254833"/>
              <a:gd name="connsiteX3" fmla="*/ 3748 w 119921"/>
              <a:gd name="connsiteY3" fmla="*/ 123669 h 254833"/>
              <a:gd name="connsiteX4" fmla="*/ 11243 w 119921"/>
              <a:gd name="connsiteY4" fmla="*/ 138659 h 254833"/>
              <a:gd name="connsiteX5" fmla="*/ 22485 w 119921"/>
              <a:gd name="connsiteY5" fmla="*/ 157397 h 254833"/>
              <a:gd name="connsiteX6" fmla="*/ 29980 w 119921"/>
              <a:gd name="connsiteY6" fmla="*/ 168639 h 254833"/>
              <a:gd name="connsiteX7" fmla="*/ 41223 w 119921"/>
              <a:gd name="connsiteY7" fmla="*/ 176134 h 254833"/>
              <a:gd name="connsiteX8" fmla="*/ 48718 w 119921"/>
              <a:gd name="connsiteY8" fmla="*/ 191125 h 254833"/>
              <a:gd name="connsiteX9" fmla="*/ 74951 w 119921"/>
              <a:gd name="connsiteY9" fmla="*/ 221105 h 254833"/>
              <a:gd name="connsiteX10" fmla="*/ 93689 w 119921"/>
              <a:gd name="connsiteY10" fmla="*/ 236095 h 254833"/>
              <a:gd name="connsiteX11" fmla="*/ 119921 w 119921"/>
              <a:gd name="connsiteY11" fmla="*/ 254833 h 254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9921" h="254833">
                <a:moveTo>
                  <a:pt x="82446" y="0"/>
                </a:moveTo>
                <a:cubicBezTo>
                  <a:pt x="67439" y="1154"/>
                  <a:pt x="32156" y="-1019"/>
                  <a:pt x="14990" y="11243"/>
                </a:cubicBezTo>
                <a:cubicBezTo>
                  <a:pt x="10870" y="14186"/>
                  <a:pt x="1480" y="34516"/>
                  <a:pt x="0" y="37475"/>
                </a:cubicBezTo>
                <a:cubicBezTo>
                  <a:pt x="1249" y="66206"/>
                  <a:pt x="572" y="95086"/>
                  <a:pt x="3748" y="123669"/>
                </a:cubicBezTo>
                <a:cubicBezTo>
                  <a:pt x="4365" y="129221"/>
                  <a:pt x="8530" y="133776"/>
                  <a:pt x="11243" y="138659"/>
                </a:cubicBezTo>
                <a:cubicBezTo>
                  <a:pt x="14780" y="145026"/>
                  <a:pt x="18625" y="151220"/>
                  <a:pt x="22485" y="157397"/>
                </a:cubicBezTo>
                <a:cubicBezTo>
                  <a:pt x="24872" y="161216"/>
                  <a:pt x="26795" y="165454"/>
                  <a:pt x="29980" y="168639"/>
                </a:cubicBezTo>
                <a:cubicBezTo>
                  <a:pt x="33165" y="171824"/>
                  <a:pt x="37475" y="173636"/>
                  <a:pt x="41223" y="176134"/>
                </a:cubicBezTo>
                <a:cubicBezTo>
                  <a:pt x="43721" y="181131"/>
                  <a:pt x="45619" y="186477"/>
                  <a:pt x="48718" y="191125"/>
                </a:cubicBezTo>
                <a:cubicBezTo>
                  <a:pt x="54597" y="199943"/>
                  <a:pt x="66284" y="213521"/>
                  <a:pt x="74951" y="221105"/>
                </a:cubicBezTo>
                <a:cubicBezTo>
                  <a:pt x="80971" y="226372"/>
                  <a:pt x="86697" y="232210"/>
                  <a:pt x="93689" y="236095"/>
                </a:cubicBezTo>
                <a:cubicBezTo>
                  <a:pt x="123006" y="252383"/>
                  <a:pt x="95563" y="222354"/>
                  <a:pt x="119921" y="254833"/>
                </a:cubicBezTo>
              </a:path>
            </a:pathLst>
          </a:custGeom>
          <a:noFill/>
          <a:ln w="12700" cap="flat" cmpd="sng" algn="ctr">
            <a:solidFill>
              <a:srgbClr val="FF9900"/>
            </a:solidFill>
            <a:prstDash val="solid"/>
            <a:round/>
            <a:headEnd type="none" w="med" len="med"/>
            <a:tailEnd type="stealth"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sp>
        <p:nvSpPr>
          <p:cNvPr id="18" name="TextBox 17">
            <a:extLst>
              <a:ext uri="{FF2B5EF4-FFF2-40B4-BE49-F238E27FC236}">
                <a16:creationId xmlns:a16="http://schemas.microsoft.com/office/drawing/2014/main" id="{630EEB1D-6F51-661F-D78D-25FEB210D2A3}"/>
              </a:ext>
            </a:extLst>
          </p:cNvPr>
          <p:cNvSpPr txBox="1"/>
          <p:nvPr/>
        </p:nvSpPr>
        <p:spPr>
          <a:xfrm>
            <a:off x="2057400" y="6488668"/>
            <a:ext cx="1069524" cy="369332"/>
          </a:xfrm>
          <a:prstGeom prst="rect">
            <a:avLst/>
          </a:prstGeom>
          <a:noFill/>
        </p:spPr>
        <p:txBody>
          <a:bodyPr wrap="none" rtlCol="0">
            <a:spAutoFit/>
          </a:bodyPr>
          <a:lstStyle/>
          <a:p>
            <a:r>
              <a:rPr lang="en-US" dirty="0">
                <a:solidFill>
                  <a:schemeClr val="bg1"/>
                </a:solidFill>
              </a:rPr>
              <a:t>payment</a:t>
            </a:r>
          </a:p>
        </p:txBody>
      </p:sp>
      <p:sp>
        <p:nvSpPr>
          <p:cNvPr id="19" name="TextBox 18">
            <a:extLst>
              <a:ext uri="{FF2B5EF4-FFF2-40B4-BE49-F238E27FC236}">
                <a16:creationId xmlns:a16="http://schemas.microsoft.com/office/drawing/2014/main" id="{490F482C-189B-3C96-D80B-07B067A3E025}"/>
              </a:ext>
            </a:extLst>
          </p:cNvPr>
          <p:cNvSpPr txBox="1"/>
          <p:nvPr/>
        </p:nvSpPr>
        <p:spPr>
          <a:xfrm>
            <a:off x="5374957" y="6474440"/>
            <a:ext cx="492443" cy="369332"/>
          </a:xfrm>
          <a:prstGeom prst="rect">
            <a:avLst/>
          </a:prstGeom>
          <a:noFill/>
        </p:spPr>
        <p:txBody>
          <a:bodyPr wrap="none" rtlCol="0">
            <a:spAutoFit/>
          </a:bodyPr>
          <a:lstStyle/>
          <a:p>
            <a:r>
              <a:rPr lang="en-US" dirty="0">
                <a:solidFill>
                  <a:schemeClr val="bg1"/>
                </a:solidFill>
              </a:rPr>
              <a:t>lag</a:t>
            </a:r>
          </a:p>
        </p:txBody>
      </p:sp>
      <p:sp>
        <p:nvSpPr>
          <p:cNvPr id="20" name="TextBox 19">
            <a:extLst>
              <a:ext uri="{FF2B5EF4-FFF2-40B4-BE49-F238E27FC236}">
                <a16:creationId xmlns:a16="http://schemas.microsoft.com/office/drawing/2014/main" id="{40208CEE-4712-7D9F-CDC8-06F9308B1001}"/>
              </a:ext>
            </a:extLst>
          </p:cNvPr>
          <p:cNvSpPr txBox="1"/>
          <p:nvPr/>
        </p:nvSpPr>
        <p:spPr>
          <a:xfrm>
            <a:off x="9033848" y="6443484"/>
            <a:ext cx="620683" cy="369332"/>
          </a:xfrm>
          <a:prstGeom prst="rect">
            <a:avLst/>
          </a:prstGeom>
          <a:noFill/>
        </p:spPr>
        <p:txBody>
          <a:bodyPr wrap="none" rtlCol="0">
            <a:spAutoFit/>
          </a:bodyPr>
          <a:lstStyle/>
          <a:p>
            <a:r>
              <a:rPr lang="en-US" dirty="0">
                <a:solidFill>
                  <a:schemeClr val="bg1"/>
                </a:solidFill>
              </a:rPr>
              <a:t>lead</a:t>
            </a:r>
          </a:p>
        </p:txBody>
      </p:sp>
    </p:spTree>
    <p:extLst>
      <p:ext uri="{BB962C8B-B14F-4D97-AF65-F5344CB8AC3E}">
        <p14:creationId xmlns:p14="http://schemas.microsoft.com/office/powerpoint/2010/main" val="3487307177"/>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p:sp>
        <p:nvSpPr>
          <p:cNvPr id="3" name="Content Placeholder 2"/>
          <p:cNvSpPr>
            <a:spLocks noGrp="1"/>
          </p:cNvSpPr>
          <p:nvPr>
            <p:ph idx="1"/>
          </p:nvPr>
        </p:nvSpPr>
        <p:spPr/>
        <p:txBody>
          <a:bodyPr/>
          <a:lstStyle/>
          <a:p>
            <a:r>
              <a:rPr lang="en-US" dirty="0">
                <a:solidFill>
                  <a:schemeClr val="tx1">
                    <a:lumMod val="50000"/>
                    <a:lumOff val="50000"/>
                  </a:schemeClr>
                </a:solidFill>
              </a:rPr>
              <a:t>Recursive queries</a:t>
            </a:r>
          </a:p>
          <a:p>
            <a:r>
              <a:rPr lang="en-US" dirty="0">
                <a:solidFill>
                  <a:schemeClr val="tx1">
                    <a:lumMod val="50000"/>
                    <a:lumOff val="50000"/>
                  </a:schemeClr>
                </a:solidFill>
              </a:rPr>
              <a:t>Super groups</a:t>
            </a:r>
          </a:p>
          <a:p>
            <a:r>
              <a:rPr lang="en-US" dirty="0">
                <a:solidFill>
                  <a:schemeClr val="bg2"/>
                </a:solidFill>
              </a:rPr>
              <a:t>Pivoting</a:t>
            </a:r>
            <a:endParaRPr lang="en-US" dirty="0">
              <a:solidFill>
                <a:schemeClr val="tx1">
                  <a:lumMod val="50000"/>
                  <a:lumOff val="50000"/>
                </a:schemeClr>
              </a:solidFill>
            </a:endParaRPr>
          </a:p>
          <a:p>
            <a:r>
              <a:rPr lang="en-US" dirty="0">
                <a:solidFill>
                  <a:schemeClr val="tx1">
                    <a:lumMod val="50000"/>
                    <a:lumOff val="50000"/>
                  </a:schemeClr>
                </a:solidFill>
              </a:rPr>
              <a:t>Aggregate/ statistics functions</a:t>
            </a:r>
          </a:p>
          <a:p>
            <a:r>
              <a:rPr lang="en-US" dirty="0">
                <a:solidFill>
                  <a:schemeClr val="tx1">
                    <a:lumMod val="50000"/>
                    <a:lumOff val="50000"/>
                  </a:schemeClr>
                </a:solidFill>
              </a:rPr>
              <a:t>Ranking</a:t>
            </a:r>
          </a:p>
          <a:p>
            <a:r>
              <a:rPr lang="en-US" dirty="0">
                <a:solidFill>
                  <a:schemeClr val="tx1">
                    <a:lumMod val="50000"/>
                    <a:lumOff val="50000"/>
                  </a:schemeClr>
                </a:solidFill>
              </a:rPr>
              <a:t>Windowing</a:t>
            </a:r>
          </a:p>
          <a:p>
            <a:r>
              <a:rPr lang="en-US" dirty="0"/>
              <a:t>Materialized query tables/materialized views</a:t>
            </a:r>
          </a:p>
        </p:txBody>
      </p:sp>
    </p:spTree>
    <p:extLst>
      <p:ext uri="{BB962C8B-B14F-4D97-AF65-F5344CB8AC3E}">
        <p14:creationId xmlns:p14="http://schemas.microsoft.com/office/powerpoint/2010/main" val="2979836897"/>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91055-6209-F763-656B-5B8FFE34B93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31C52A-52CF-0C0D-94EA-2FEDEFDDBB2B}"/>
              </a:ext>
            </a:extLst>
          </p:cNvPr>
          <p:cNvSpPr>
            <a:spLocks noGrp="1"/>
          </p:cNvSpPr>
          <p:nvPr>
            <p:ph idx="1"/>
          </p:nvPr>
        </p:nvSpPr>
        <p:spPr/>
        <p:txBody>
          <a:bodyPr/>
          <a:lstStyle/>
          <a:p>
            <a:r>
              <a:rPr lang="en-US" dirty="0"/>
              <a:t>Materialized Query Tables/Materialized Views</a:t>
            </a:r>
          </a:p>
        </p:txBody>
      </p:sp>
    </p:spTree>
    <p:extLst>
      <p:ext uri="{BB962C8B-B14F-4D97-AF65-F5344CB8AC3E}">
        <p14:creationId xmlns:p14="http://schemas.microsoft.com/office/powerpoint/2010/main" val="3282542620"/>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Materialized Query Table/Materialized View</a:t>
            </a:r>
          </a:p>
        </p:txBody>
      </p:sp>
      <p:sp>
        <p:nvSpPr>
          <p:cNvPr id="3" name="Content Placeholder 2"/>
          <p:cNvSpPr>
            <a:spLocks noGrp="1"/>
          </p:cNvSpPr>
          <p:nvPr>
            <p:ph idx="1"/>
          </p:nvPr>
        </p:nvSpPr>
        <p:spPr/>
        <p:txBody>
          <a:bodyPr/>
          <a:lstStyle/>
          <a:p>
            <a:r>
              <a:rPr lang="en-US" dirty="0"/>
              <a:t>Materialized view/materialized query </a:t>
            </a:r>
            <a:r>
              <a:rPr lang="en-US" dirty="0" err="1"/>
              <a:t>table(MQT</a:t>
            </a:r>
            <a:r>
              <a:rPr lang="en-US" dirty="0"/>
              <a:t>) is a database object that contains the results of a query</a:t>
            </a:r>
          </a:p>
          <a:p>
            <a:r>
              <a:rPr lang="en-US" dirty="0"/>
              <a:t>Basic idea: </a:t>
            </a:r>
          </a:p>
          <a:p>
            <a:pPr lvl="1">
              <a:spcBef>
                <a:spcPts val="300"/>
              </a:spcBef>
            </a:pPr>
            <a:r>
              <a:rPr lang="en-US" dirty="0"/>
              <a:t>Query results caching - pre-compute and store (in database tables) the results of frequently issued queries</a:t>
            </a:r>
          </a:p>
          <a:p>
            <a:pPr lvl="1">
              <a:spcBef>
                <a:spcPts val="300"/>
              </a:spcBef>
            </a:pPr>
            <a:r>
              <a:rPr lang="en-US" dirty="0"/>
              <a:t>Query optimizer automatically and transparently replace portions of future queries with direct references to the pre-computed (i.e., materialized) results </a:t>
            </a:r>
          </a:p>
          <a:p>
            <a:pPr>
              <a:spcBef>
                <a:spcPts val="300"/>
              </a:spcBef>
            </a:pPr>
            <a:r>
              <a:rPr lang="en-US" dirty="0"/>
              <a:t>Standard technique in data warehousing, also known as </a:t>
            </a:r>
            <a:r>
              <a:rPr lang="en-US" dirty="0">
                <a:solidFill>
                  <a:schemeClr val="accent2"/>
                </a:solidFill>
              </a:rPr>
              <a:t>aggregate tables </a:t>
            </a:r>
            <a:r>
              <a:rPr lang="en-US" dirty="0"/>
              <a:t>and aggregate (re-)routing, or as </a:t>
            </a:r>
            <a:r>
              <a:rPr lang="en-US" dirty="0">
                <a:solidFill>
                  <a:schemeClr val="accent2"/>
                </a:solidFill>
              </a:rPr>
              <a:t>materialized views</a:t>
            </a:r>
          </a:p>
          <a:p>
            <a:endParaRPr lang="en-US" dirty="0"/>
          </a:p>
          <a:p>
            <a:pPr lvl="1"/>
            <a:endParaRPr lang="en-US" dirty="0"/>
          </a:p>
          <a:p>
            <a:endParaRPr lang="en-US" dirty="0"/>
          </a:p>
          <a:p>
            <a:endParaRPr lang="en-US" dirty="0"/>
          </a:p>
        </p:txBody>
      </p:sp>
      <p:sp>
        <p:nvSpPr>
          <p:cNvPr id="4" name="TextBox 3">
            <a:extLst>
              <a:ext uri="{FF2B5EF4-FFF2-40B4-BE49-F238E27FC236}">
                <a16:creationId xmlns:a16="http://schemas.microsoft.com/office/drawing/2014/main" id="{FF7050F0-CAC4-655A-7CE0-6A65BF47EB55}"/>
              </a:ext>
            </a:extLst>
          </p:cNvPr>
          <p:cNvSpPr txBox="1">
            <a:spLocks noChangeArrowheads="1"/>
          </p:cNvSpPr>
          <p:nvPr/>
        </p:nvSpPr>
        <p:spPr bwMode="auto">
          <a:xfrm>
            <a:off x="76200" y="6430064"/>
            <a:ext cx="2066976"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Materialized views</a:t>
            </a:r>
          </a:p>
        </p:txBody>
      </p:sp>
    </p:spTree>
    <p:extLst>
      <p:ext uri="{BB962C8B-B14F-4D97-AF65-F5344CB8AC3E}">
        <p14:creationId xmlns:p14="http://schemas.microsoft.com/office/powerpoint/2010/main" val="1840242994"/>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Usages of MQTs – At a High Level</a:t>
            </a:r>
          </a:p>
        </p:txBody>
      </p:sp>
      <p:sp>
        <p:nvSpPr>
          <p:cNvPr id="3" name="Content Placeholder 2"/>
          <p:cNvSpPr>
            <a:spLocks noGrp="1"/>
          </p:cNvSpPr>
          <p:nvPr>
            <p:ph idx="1"/>
          </p:nvPr>
        </p:nvSpPr>
        <p:spPr/>
        <p:txBody>
          <a:bodyPr/>
          <a:lstStyle/>
          <a:p>
            <a:pPr eaLnBrk="1" hangingPunct="1"/>
            <a:r>
              <a:rPr lang="en-US" dirty="0"/>
              <a:t>Aggregate data over one or more dimensions </a:t>
            </a:r>
          </a:p>
          <a:p>
            <a:pPr eaLnBrk="1" hangingPunct="1"/>
            <a:r>
              <a:rPr lang="en-US" dirty="0"/>
              <a:t>Join and aggregate data over a group of tables </a:t>
            </a:r>
          </a:p>
          <a:p>
            <a:pPr eaLnBrk="1" hangingPunct="1"/>
            <a:r>
              <a:rPr lang="en-US" dirty="0"/>
              <a:t>Data from a </a:t>
            </a:r>
            <a:r>
              <a:rPr lang="en-US" dirty="0">
                <a:solidFill>
                  <a:schemeClr val="accent2"/>
                </a:solidFill>
              </a:rPr>
              <a:t>commonly accessed </a:t>
            </a:r>
            <a:r>
              <a:rPr lang="en-US" dirty="0"/>
              <a:t>subset of data, that is, from a "hot" horizontal or vertical database partition </a:t>
            </a:r>
          </a:p>
        </p:txBody>
      </p:sp>
      <p:sp>
        <p:nvSpPr>
          <p:cNvPr id="4" name="TextBox 3">
            <a:extLst>
              <a:ext uri="{FF2B5EF4-FFF2-40B4-BE49-F238E27FC236}">
                <a16:creationId xmlns:a16="http://schemas.microsoft.com/office/drawing/2014/main" id="{7377599B-D8B1-2DFD-274B-C3156294E568}"/>
              </a:ext>
            </a:extLst>
          </p:cNvPr>
          <p:cNvSpPr txBox="1">
            <a:spLocks noChangeArrowheads="1"/>
          </p:cNvSpPr>
          <p:nvPr/>
        </p:nvSpPr>
        <p:spPr bwMode="auto">
          <a:xfrm>
            <a:off x="76200" y="6430064"/>
            <a:ext cx="2066976"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Materialized views</a:t>
            </a:r>
          </a:p>
        </p:txBody>
      </p:sp>
    </p:spTree>
    <p:extLst>
      <p:ext uri="{BB962C8B-B14F-4D97-AF65-F5344CB8AC3E}">
        <p14:creationId xmlns:p14="http://schemas.microsoft.com/office/powerpoint/2010/main" val="3448436253"/>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Query Can Be Routed to MQT</a:t>
            </a:r>
          </a:p>
        </p:txBody>
      </p:sp>
      <p:sp>
        <p:nvSpPr>
          <p:cNvPr id="3" name="Content Placeholder 2"/>
          <p:cNvSpPr>
            <a:spLocks noGrp="1"/>
          </p:cNvSpPr>
          <p:nvPr>
            <p:ph idx="1"/>
          </p:nvPr>
        </p:nvSpPr>
        <p:spPr/>
        <p:txBody>
          <a:bodyPr/>
          <a:lstStyle/>
          <a:p>
            <a:r>
              <a:rPr lang="en-US" dirty="0"/>
              <a:t>Knowledge of MQTs is integrated into the SQL compiler</a:t>
            </a:r>
          </a:p>
        </p:txBody>
      </p:sp>
      <p:sp>
        <p:nvSpPr>
          <p:cNvPr id="28" name="AutoShape 8"/>
          <p:cNvSpPr>
            <a:spLocks noChangeArrowheads="1"/>
          </p:cNvSpPr>
          <p:nvPr/>
        </p:nvSpPr>
        <p:spPr bwMode="auto">
          <a:xfrm>
            <a:off x="6251575" y="2143539"/>
            <a:ext cx="4264025" cy="408623"/>
          </a:xfrm>
          <a:prstGeom prst="roundRect">
            <a:avLst>
              <a:gd name="adj" fmla="val 16667"/>
            </a:avLst>
          </a:prstGeom>
          <a:solidFill>
            <a:srgbClr val="C0C0C0">
              <a:alpha val="0"/>
            </a:srgbClr>
          </a:solidFill>
          <a:ln w="12700" algn="ctr">
            <a:solidFill>
              <a:srgbClr val="FFC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defRPr/>
            </a:pPr>
            <a:endParaRPr lang="en-US" kern="0">
              <a:solidFill>
                <a:sysClr val="windowText" lastClr="000000"/>
              </a:solidFill>
            </a:endParaRPr>
          </a:p>
        </p:txBody>
      </p:sp>
      <p:sp>
        <p:nvSpPr>
          <p:cNvPr id="29" name="AutoShape 9"/>
          <p:cNvSpPr>
            <a:spLocks noChangeArrowheads="1"/>
          </p:cNvSpPr>
          <p:nvPr/>
        </p:nvSpPr>
        <p:spPr bwMode="auto">
          <a:xfrm>
            <a:off x="738189" y="4262972"/>
            <a:ext cx="3833811" cy="408623"/>
          </a:xfrm>
          <a:prstGeom prst="roundRect">
            <a:avLst>
              <a:gd name="adj" fmla="val 16667"/>
            </a:avLst>
          </a:prstGeom>
          <a:solidFill>
            <a:srgbClr val="C0C0C0">
              <a:alpha val="0"/>
            </a:srgbClr>
          </a:solidFill>
          <a:ln w="12700" algn="ctr">
            <a:solidFill>
              <a:srgbClr val="FFC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defRPr/>
            </a:pPr>
            <a:endParaRPr lang="en-US" kern="0">
              <a:solidFill>
                <a:sysClr val="windowText" lastClr="000000"/>
              </a:solidFill>
            </a:endParaRPr>
          </a:p>
        </p:txBody>
      </p:sp>
      <p:sp>
        <p:nvSpPr>
          <p:cNvPr id="31" name="Rectangle 3"/>
          <p:cNvSpPr txBox="1">
            <a:spLocks noChangeArrowheads="1"/>
          </p:cNvSpPr>
          <p:nvPr/>
        </p:nvSpPr>
        <p:spPr bwMode="auto">
          <a:xfrm>
            <a:off x="5562600" y="1336675"/>
            <a:ext cx="5486400" cy="2641606"/>
          </a:xfrm>
          <a:prstGeom prst="rect">
            <a:avLst/>
          </a:prstGeom>
          <a:noFill/>
          <a:ln w="158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25000"/>
              </a:spcBef>
              <a:spcAft>
                <a:spcPct val="15000"/>
              </a:spcAft>
              <a:buClr>
                <a:schemeClr val="accent1"/>
              </a:buClr>
              <a:buFont typeface="Wingdings" pitchFamily="2" charset="2"/>
              <a:buChar char="§"/>
              <a:defRPr>
                <a:solidFill>
                  <a:schemeClr val="tx1"/>
                </a:solidFill>
                <a:latin typeface="+mn-lt"/>
                <a:ea typeface="+mn-ea"/>
                <a:cs typeface="+mn-cs"/>
              </a:defRPr>
            </a:lvl1pPr>
            <a:lvl2pPr marL="457200" indent="-227013" algn="l" rtl="0" eaLnBrk="0" fontAlgn="base" hangingPunct="0">
              <a:spcBef>
                <a:spcPct val="15000"/>
              </a:spcBef>
              <a:spcAft>
                <a:spcPct val="15000"/>
              </a:spcAft>
              <a:buClr>
                <a:schemeClr val="accent1"/>
              </a:buClr>
              <a:buFont typeface="Webdings" pitchFamily="18" charset="2"/>
              <a:buChar char="4"/>
              <a:defRPr sz="1600">
                <a:solidFill>
                  <a:schemeClr val="tx1"/>
                </a:solidFill>
                <a:latin typeface="+mn-lt"/>
                <a:cs typeface="+mn-cs"/>
              </a:defRPr>
            </a:lvl2pPr>
            <a:lvl3pPr marL="682625" indent="-223838" algn="l" rtl="0" eaLnBrk="0" fontAlgn="base" hangingPunct="0">
              <a:spcBef>
                <a:spcPct val="15000"/>
              </a:spcBef>
              <a:spcAft>
                <a:spcPct val="15000"/>
              </a:spcAft>
              <a:buClr>
                <a:schemeClr val="accent1"/>
              </a:buClr>
              <a:buFont typeface="Wingdings" pitchFamily="2" charset="2"/>
              <a:buChar char="§"/>
              <a:defRPr sz="1600">
                <a:solidFill>
                  <a:schemeClr val="tx1"/>
                </a:solidFill>
                <a:latin typeface="+mn-lt"/>
                <a:cs typeface="+mn-cs"/>
              </a:defRPr>
            </a:lvl3pPr>
            <a:lvl4pPr marL="912813" indent="-228600" algn="l" rtl="0" eaLnBrk="0" fontAlgn="base" hangingPunct="0">
              <a:spcBef>
                <a:spcPct val="15000"/>
              </a:spcBef>
              <a:spcAft>
                <a:spcPct val="15000"/>
              </a:spcAft>
              <a:buClr>
                <a:schemeClr val="accent1"/>
              </a:buClr>
              <a:buFont typeface="Arial" charset="0"/>
              <a:buChar char="–"/>
              <a:defRPr sz="1600">
                <a:solidFill>
                  <a:schemeClr val="tx1"/>
                </a:solidFill>
                <a:latin typeface="+mn-lt"/>
                <a:cs typeface="+mn-cs"/>
              </a:defRPr>
            </a:lvl4pPr>
            <a:lvl5pPr marL="1143000" indent="-228600" algn="l" rtl="0" eaLnBrk="0" fontAlgn="base" hangingPunct="0">
              <a:spcBef>
                <a:spcPct val="15000"/>
              </a:spcBef>
              <a:spcAft>
                <a:spcPct val="15000"/>
              </a:spcAft>
              <a:buClr>
                <a:schemeClr val="accent1"/>
              </a:buClr>
              <a:buFont typeface="Arial" charset="0"/>
              <a:buChar char="–"/>
              <a:defRPr sz="1600">
                <a:solidFill>
                  <a:schemeClr val="tx1"/>
                </a:solidFill>
                <a:latin typeface="+mn-lt"/>
                <a:cs typeface="+mn-cs"/>
              </a:defRPr>
            </a:lvl5pPr>
            <a:lvl6pPr marL="1600200" indent="-228600" algn="l" rtl="0" fontAlgn="base">
              <a:spcBef>
                <a:spcPct val="15000"/>
              </a:spcBef>
              <a:spcAft>
                <a:spcPct val="15000"/>
              </a:spcAft>
              <a:buClr>
                <a:schemeClr val="accent1"/>
              </a:buClr>
              <a:buFont typeface="Arial" charset="0"/>
              <a:buChar char="–"/>
              <a:defRPr sz="1600">
                <a:solidFill>
                  <a:schemeClr val="tx1"/>
                </a:solidFill>
                <a:latin typeface="+mn-lt"/>
                <a:cs typeface="+mn-cs"/>
              </a:defRPr>
            </a:lvl6pPr>
            <a:lvl7pPr marL="2057400" indent="-228600" algn="l" rtl="0" fontAlgn="base">
              <a:spcBef>
                <a:spcPct val="15000"/>
              </a:spcBef>
              <a:spcAft>
                <a:spcPct val="15000"/>
              </a:spcAft>
              <a:buClr>
                <a:schemeClr val="accent1"/>
              </a:buClr>
              <a:buFont typeface="Arial" charset="0"/>
              <a:buChar char="–"/>
              <a:defRPr sz="1600">
                <a:solidFill>
                  <a:schemeClr val="tx1"/>
                </a:solidFill>
                <a:latin typeface="+mn-lt"/>
                <a:cs typeface="+mn-cs"/>
              </a:defRPr>
            </a:lvl7pPr>
            <a:lvl8pPr marL="2514600" indent="-228600" algn="l" rtl="0" fontAlgn="base">
              <a:spcBef>
                <a:spcPct val="15000"/>
              </a:spcBef>
              <a:spcAft>
                <a:spcPct val="15000"/>
              </a:spcAft>
              <a:buClr>
                <a:schemeClr val="accent1"/>
              </a:buClr>
              <a:buFont typeface="Arial" charset="0"/>
              <a:buChar char="–"/>
              <a:defRPr sz="1600">
                <a:solidFill>
                  <a:schemeClr val="tx1"/>
                </a:solidFill>
                <a:latin typeface="+mn-lt"/>
                <a:cs typeface="+mn-cs"/>
              </a:defRPr>
            </a:lvl8pPr>
            <a:lvl9pPr marL="2971800" indent="-228600" algn="l" rtl="0" fontAlgn="base">
              <a:spcBef>
                <a:spcPct val="15000"/>
              </a:spcBef>
              <a:spcAft>
                <a:spcPct val="15000"/>
              </a:spcAft>
              <a:buClr>
                <a:schemeClr val="accent1"/>
              </a:buClr>
              <a:buFont typeface="Arial" charset="0"/>
              <a:buChar char="–"/>
              <a:defRPr sz="1600">
                <a:solidFill>
                  <a:schemeClr val="tx1"/>
                </a:solidFill>
                <a:latin typeface="+mn-lt"/>
                <a:cs typeface="+mn-cs"/>
              </a:defRPr>
            </a:lvl9pPr>
          </a:lstStyle>
          <a:p>
            <a:pPr eaLnBrk="1" hangingPunct="1">
              <a:lnSpc>
                <a:spcPct val="80000"/>
              </a:lnSpc>
              <a:buClr>
                <a:srgbClr val="7889FB"/>
              </a:buClr>
              <a:buNone/>
              <a:defRPr/>
            </a:pPr>
            <a:r>
              <a:rPr lang="en-US" sz="1600" kern="0" dirty="0">
                <a:solidFill>
                  <a:srgbClr val="000000"/>
                </a:solidFill>
                <a:latin typeface="Courier New" pitchFamily="49" charset="0"/>
                <a:cs typeface="Arial"/>
              </a:rPr>
              <a:t>SELECT </a:t>
            </a:r>
            <a:r>
              <a:rPr lang="en-US" sz="1600" kern="0" dirty="0" err="1">
                <a:solidFill>
                  <a:srgbClr val="000000"/>
                </a:solidFill>
                <a:latin typeface="Courier New" pitchFamily="49" charset="0"/>
                <a:cs typeface="Arial"/>
              </a:rPr>
              <a:t>t.month_id</a:t>
            </a:r>
            <a:r>
              <a:rPr lang="en-US" sz="1600" kern="0" dirty="0">
                <a:solidFill>
                  <a:srgbClr val="000000"/>
                </a:solidFill>
                <a:latin typeface="Courier New" pitchFamily="49" charset="0"/>
                <a:cs typeface="Arial"/>
              </a:rPr>
              <a:t>,</a:t>
            </a:r>
          </a:p>
          <a:p>
            <a:pPr eaLnBrk="1" hangingPunct="1">
              <a:lnSpc>
                <a:spcPct val="80000"/>
              </a:lnSpc>
              <a:buClr>
                <a:srgbClr val="7889FB"/>
              </a:buClr>
              <a:buNone/>
              <a:defRPr/>
            </a:pPr>
            <a:r>
              <a:rPr lang="en-US" sz="1600" kern="0" dirty="0">
                <a:solidFill>
                  <a:srgbClr val="000000"/>
                </a:solidFill>
                <a:latin typeface="Courier New" pitchFamily="49" charset="0"/>
                <a:cs typeface="Arial"/>
              </a:rPr>
              <a:t>       </a:t>
            </a:r>
            <a:r>
              <a:rPr lang="en-US" sz="1600" kern="0" dirty="0" err="1">
                <a:solidFill>
                  <a:srgbClr val="000000"/>
                </a:solidFill>
                <a:latin typeface="Courier New" pitchFamily="49" charset="0"/>
                <a:cs typeface="Arial"/>
              </a:rPr>
              <a:t>f.store_id</a:t>
            </a:r>
            <a:r>
              <a:rPr lang="en-US" sz="1600" kern="0" dirty="0">
                <a:solidFill>
                  <a:srgbClr val="000000"/>
                </a:solidFill>
                <a:latin typeface="Courier New" pitchFamily="49" charset="0"/>
                <a:cs typeface="Arial"/>
              </a:rPr>
              <a:t>,</a:t>
            </a:r>
          </a:p>
          <a:p>
            <a:pPr eaLnBrk="1" hangingPunct="1">
              <a:lnSpc>
                <a:spcPct val="80000"/>
              </a:lnSpc>
              <a:buClr>
                <a:srgbClr val="7889FB"/>
              </a:buClr>
              <a:buNone/>
              <a:defRPr/>
            </a:pPr>
            <a:r>
              <a:rPr lang="en-US" sz="1600" kern="0" dirty="0">
                <a:solidFill>
                  <a:srgbClr val="000000"/>
                </a:solidFill>
                <a:latin typeface="Courier New" pitchFamily="49" charset="0"/>
                <a:cs typeface="Arial"/>
              </a:rPr>
              <a:t>       </a:t>
            </a:r>
            <a:r>
              <a:rPr lang="en-US" sz="1600" kern="0" dirty="0" err="1">
                <a:solidFill>
                  <a:srgbClr val="000000"/>
                </a:solidFill>
                <a:latin typeface="Courier New" pitchFamily="49" charset="0"/>
                <a:cs typeface="Arial"/>
              </a:rPr>
              <a:t>p.group_id</a:t>
            </a:r>
            <a:r>
              <a:rPr lang="en-US" sz="1600" kern="0" dirty="0">
                <a:solidFill>
                  <a:srgbClr val="000000"/>
                </a:solidFill>
                <a:latin typeface="Courier New" pitchFamily="49" charset="0"/>
                <a:cs typeface="Arial"/>
              </a:rPr>
              <a:t>, </a:t>
            </a:r>
          </a:p>
          <a:p>
            <a:pPr eaLnBrk="1" hangingPunct="1">
              <a:lnSpc>
                <a:spcPct val="80000"/>
              </a:lnSpc>
              <a:buClr>
                <a:srgbClr val="7889FB"/>
              </a:buClr>
              <a:buNone/>
              <a:defRPr/>
            </a:pPr>
            <a:r>
              <a:rPr lang="en-US" sz="1600" kern="0" dirty="0">
                <a:solidFill>
                  <a:srgbClr val="000000"/>
                </a:solidFill>
                <a:latin typeface="Courier New" pitchFamily="49" charset="0"/>
                <a:cs typeface="Arial"/>
              </a:rPr>
              <a:t>       </a:t>
            </a:r>
            <a:r>
              <a:rPr lang="en-US" sz="1600" b="1" kern="0" dirty="0">
                <a:solidFill>
                  <a:srgbClr val="000000"/>
                </a:solidFill>
                <a:latin typeface="Courier New" pitchFamily="49" charset="0"/>
                <a:cs typeface="Arial"/>
              </a:rPr>
              <a:t>sum</a:t>
            </a:r>
            <a:r>
              <a:rPr lang="en-US" sz="1600" kern="0" dirty="0">
                <a:solidFill>
                  <a:srgbClr val="000000"/>
                </a:solidFill>
                <a:latin typeface="Courier New" pitchFamily="49" charset="0"/>
                <a:cs typeface="Arial"/>
              </a:rPr>
              <a:t>(amount) as </a:t>
            </a:r>
            <a:r>
              <a:rPr lang="en-US" sz="1600" kern="0" dirty="0" err="1">
                <a:solidFill>
                  <a:srgbClr val="000000"/>
                </a:solidFill>
                <a:latin typeface="Courier New" pitchFamily="49" charset="0"/>
                <a:cs typeface="Arial"/>
              </a:rPr>
              <a:t>total_sales</a:t>
            </a:r>
            <a:endParaRPr lang="en-US" sz="1600" kern="0" dirty="0">
              <a:solidFill>
                <a:srgbClr val="000000"/>
              </a:solidFill>
              <a:latin typeface="Courier New" pitchFamily="49" charset="0"/>
              <a:cs typeface="Arial"/>
            </a:endParaRPr>
          </a:p>
          <a:p>
            <a:pPr eaLnBrk="1" hangingPunct="1">
              <a:lnSpc>
                <a:spcPct val="80000"/>
              </a:lnSpc>
              <a:buClr>
                <a:srgbClr val="7889FB"/>
              </a:buClr>
              <a:buNone/>
              <a:defRPr/>
            </a:pPr>
            <a:r>
              <a:rPr lang="en-US" sz="1600" kern="0" dirty="0">
                <a:solidFill>
                  <a:srgbClr val="000000"/>
                </a:solidFill>
                <a:latin typeface="Courier New" pitchFamily="49" charset="0"/>
                <a:cs typeface="Arial"/>
              </a:rPr>
              <a:t> FROM sales f, product p, time t</a:t>
            </a:r>
          </a:p>
          <a:p>
            <a:pPr eaLnBrk="1" hangingPunct="1">
              <a:lnSpc>
                <a:spcPct val="80000"/>
              </a:lnSpc>
              <a:buClr>
                <a:srgbClr val="7889FB"/>
              </a:buClr>
              <a:buNone/>
              <a:defRPr/>
            </a:pPr>
            <a:r>
              <a:rPr lang="en-US" sz="1600" kern="0" dirty="0">
                <a:solidFill>
                  <a:srgbClr val="000000"/>
                </a:solidFill>
                <a:latin typeface="Courier New" pitchFamily="49" charset="0"/>
                <a:cs typeface="Arial"/>
              </a:rPr>
              <a:t> WHERE </a:t>
            </a:r>
            <a:r>
              <a:rPr lang="en-US" sz="1600" kern="0" dirty="0" err="1">
                <a:solidFill>
                  <a:srgbClr val="000000"/>
                </a:solidFill>
                <a:latin typeface="Courier New" pitchFamily="49" charset="0"/>
                <a:cs typeface="Arial"/>
              </a:rPr>
              <a:t>f.date_id</a:t>
            </a:r>
            <a:r>
              <a:rPr lang="en-US" sz="1600" kern="0" dirty="0">
                <a:solidFill>
                  <a:srgbClr val="000000"/>
                </a:solidFill>
                <a:latin typeface="Courier New" pitchFamily="49" charset="0"/>
                <a:cs typeface="Arial"/>
              </a:rPr>
              <a:t> = </a:t>
            </a:r>
            <a:r>
              <a:rPr lang="en-US" sz="1600" kern="0" dirty="0" err="1">
                <a:solidFill>
                  <a:srgbClr val="000000"/>
                </a:solidFill>
                <a:latin typeface="Courier New" pitchFamily="49" charset="0"/>
                <a:cs typeface="Arial"/>
              </a:rPr>
              <a:t>t.date_id</a:t>
            </a:r>
            <a:endParaRPr lang="en-US" sz="1600" kern="0" dirty="0">
              <a:solidFill>
                <a:srgbClr val="000000"/>
              </a:solidFill>
              <a:latin typeface="Courier New" pitchFamily="49" charset="0"/>
              <a:cs typeface="Arial"/>
            </a:endParaRPr>
          </a:p>
          <a:p>
            <a:pPr eaLnBrk="1" hangingPunct="1">
              <a:lnSpc>
                <a:spcPct val="80000"/>
              </a:lnSpc>
              <a:buClr>
                <a:srgbClr val="7889FB"/>
              </a:buClr>
              <a:buNone/>
              <a:defRPr/>
            </a:pPr>
            <a:r>
              <a:rPr lang="en-US" sz="1600" kern="0" dirty="0">
                <a:solidFill>
                  <a:srgbClr val="000000"/>
                </a:solidFill>
                <a:latin typeface="Courier New" pitchFamily="49" charset="0"/>
                <a:cs typeface="Arial"/>
              </a:rPr>
              <a:t> AND   </a:t>
            </a:r>
            <a:r>
              <a:rPr lang="en-US" sz="1600" kern="0" dirty="0" err="1">
                <a:solidFill>
                  <a:srgbClr val="000000"/>
                </a:solidFill>
                <a:latin typeface="Courier New" pitchFamily="49" charset="0"/>
                <a:cs typeface="Arial"/>
              </a:rPr>
              <a:t>f.product_id</a:t>
            </a:r>
            <a:r>
              <a:rPr lang="en-US" sz="1600" kern="0" dirty="0">
                <a:solidFill>
                  <a:srgbClr val="000000"/>
                </a:solidFill>
                <a:latin typeface="Courier New" pitchFamily="49" charset="0"/>
                <a:cs typeface="Arial"/>
              </a:rPr>
              <a:t> = </a:t>
            </a:r>
            <a:r>
              <a:rPr lang="en-US" sz="1600" kern="0" dirty="0" err="1">
                <a:solidFill>
                  <a:srgbClr val="000000"/>
                </a:solidFill>
                <a:latin typeface="Courier New" pitchFamily="49" charset="0"/>
                <a:cs typeface="Arial"/>
              </a:rPr>
              <a:t>p.product_id</a:t>
            </a:r>
            <a:endParaRPr lang="en-US" sz="1600" kern="0" dirty="0">
              <a:solidFill>
                <a:srgbClr val="000000"/>
              </a:solidFill>
              <a:latin typeface="Courier New" pitchFamily="49" charset="0"/>
              <a:cs typeface="Arial"/>
            </a:endParaRPr>
          </a:p>
          <a:p>
            <a:pPr eaLnBrk="1" hangingPunct="1">
              <a:lnSpc>
                <a:spcPct val="80000"/>
              </a:lnSpc>
              <a:buClr>
                <a:srgbClr val="7889FB"/>
              </a:buClr>
              <a:buNone/>
              <a:defRPr/>
            </a:pPr>
            <a:r>
              <a:rPr lang="en-US" sz="1600" kern="0" dirty="0">
                <a:solidFill>
                  <a:srgbClr val="000000"/>
                </a:solidFill>
                <a:latin typeface="Courier New" pitchFamily="49" charset="0"/>
                <a:cs typeface="Arial"/>
              </a:rPr>
              <a:t> GROUP BY </a:t>
            </a:r>
            <a:r>
              <a:rPr lang="en-US" sz="1600" kern="0" dirty="0" err="1">
                <a:solidFill>
                  <a:srgbClr val="000000"/>
                </a:solidFill>
                <a:latin typeface="Courier New" pitchFamily="49" charset="0"/>
                <a:cs typeface="Arial"/>
              </a:rPr>
              <a:t>t.month_id</a:t>
            </a:r>
            <a:r>
              <a:rPr lang="en-US" sz="1600" kern="0" dirty="0">
                <a:solidFill>
                  <a:srgbClr val="000000"/>
                </a:solidFill>
                <a:latin typeface="Courier New" pitchFamily="49" charset="0"/>
                <a:cs typeface="Arial"/>
              </a:rPr>
              <a:t>, </a:t>
            </a:r>
            <a:r>
              <a:rPr lang="en-US" sz="1600" kern="0" dirty="0" err="1">
                <a:solidFill>
                  <a:srgbClr val="000000"/>
                </a:solidFill>
                <a:latin typeface="Courier New" pitchFamily="49" charset="0"/>
                <a:cs typeface="Arial"/>
              </a:rPr>
              <a:t>f.store_id</a:t>
            </a:r>
            <a:r>
              <a:rPr lang="en-US" sz="1600" kern="0" dirty="0">
                <a:solidFill>
                  <a:srgbClr val="000000"/>
                </a:solidFill>
                <a:latin typeface="Courier New" pitchFamily="49" charset="0"/>
                <a:cs typeface="Arial"/>
              </a:rPr>
              <a:t>,</a:t>
            </a:r>
          </a:p>
          <a:p>
            <a:pPr eaLnBrk="1" hangingPunct="1">
              <a:lnSpc>
                <a:spcPct val="80000"/>
              </a:lnSpc>
              <a:buClr>
                <a:srgbClr val="7889FB"/>
              </a:buClr>
              <a:buNone/>
              <a:defRPr/>
            </a:pPr>
            <a:r>
              <a:rPr lang="en-US" sz="1600" kern="0" dirty="0">
                <a:solidFill>
                  <a:srgbClr val="000000"/>
                </a:solidFill>
                <a:latin typeface="Courier New" pitchFamily="49" charset="0"/>
                <a:cs typeface="Arial"/>
              </a:rPr>
              <a:t>          </a:t>
            </a:r>
            <a:r>
              <a:rPr lang="en-US" sz="1600" kern="0" dirty="0" err="1">
                <a:solidFill>
                  <a:srgbClr val="000000"/>
                </a:solidFill>
                <a:latin typeface="Courier New" pitchFamily="49" charset="0"/>
                <a:cs typeface="Arial"/>
              </a:rPr>
              <a:t>p.group_id</a:t>
            </a:r>
            <a:endParaRPr lang="en-US" sz="1600" kern="0" dirty="0">
              <a:solidFill>
                <a:srgbClr val="000000"/>
              </a:solidFill>
              <a:latin typeface="Arial"/>
              <a:cs typeface="Arial"/>
            </a:endParaRPr>
          </a:p>
        </p:txBody>
      </p:sp>
      <p:sp>
        <p:nvSpPr>
          <p:cNvPr id="32" name="Rectangle 4"/>
          <p:cNvSpPr>
            <a:spLocks noChangeArrowheads="1"/>
          </p:cNvSpPr>
          <p:nvPr/>
        </p:nvSpPr>
        <p:spPr bwMode="auto">
          <a:xfrm>
            <a:off x="-31747" y="3044250"/>
            <a:ext cx="4832347" cy="3148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28600" indent="-228600">
              <a:spcBef>
                <a:spcPts val="200"/>
              </a:spcBef>
              <a:spcAft>
                <a:spcPct val="15000"/>
              </a:spcAft>
              <a:buClr>
                <a:srgbClr val="7889FB"/>
              </a:buClr>
              <a:defRPr/>
            </a:pPr>
            <a:r>
              <a:rPr lang="en-US" b="1" kern="0" dirty="0">
                <a:solidFill>
                  <a:sysClr val="windowText" lastClr="000000"/>
                </a:solidFill>
              </a:rPr>
              <a:t>Original Query</a:t>
            </a:r>
          </a:p>
          <a:p>
            <a:pPr marL="228600" indent="-228600">
              <a:spcBef>
                <a:spcPts val="200"/>
              </a:spcBef>
              <a:spcAft>
                <a:spcPct val="15000"/>
              </a:spcAft>
              <a:buClr>
                <a:srgbClr val="7889FB"/>
              </a:buClr>
              <a:defRPr/>
            </a:pPr>
            <a:r>
              <a:rPr lang="en-US" sz="1600" kern="0" dirty="0">
                <a:solidFill>
                  <a:sysClr val="windowText" lastClr="000000"/>
                </a:solidFill>
                <a:latin typeface="Courier New" pitchFamily="49" charset="0"/>
              </a:rPr>
              <a:t>SELECT </a:t>
            </a:r>
            <a:r>
              <a:rPr lang="en-US" sz="1600" kern="0" dirty="0" err="1">
                <a:solidFill>
                  <a:sysClr val="windowText" lastClr="000000"/>
                </a:solidFill>
                <a:latin typeface="Courier New" pitchFamily="49" charset="0"/>
              </a:rPr>
              <a:t>t.month_id</a:t>
            </a:r>
            <a:r>
              <a:rPr lang="en-US" sz="1600" kern="0" dirty="0">
                <a:solidFill>
                  <a:sysClr val="windowText" lastClr="000000"/>
                </a:solidFill>
                <a:latin typeface="Courier New" pitchFamily="49" charset="0"/>
              </a:rPr>
              <a:t>, </a:t>
            </a:r>
          </a:p>
          <a:p>
            <a:pPr marL="228600" indent="-228600">
              <a:spcBef>
                <a:spcPts val="200"/>
              </a:spcBef>
              <a:spcAft>
                <a:spcPct val="15000"/>
              </a:spcAft>
              <a:buClr>
                <a:srgbClr val="7889FB"/>
              </a:buClr>
              <a:defRPr/>
            </a:pPr>
            <a:r>
              <a:rPr lang="en-US" sz="1600" kern="0" dirty="0">
                <a:solidFill>
                  <a:sysClr val="windowText" lastClr="000000"/>
                </a:solidFill>
                <a:latin typeface="Courier New" pitchFamily="49" charset="0"/>
              </a:rPr>
              <a:t>       </a:t>
            </a:r>
            <a:r>
              <a:rPr lang="en-US" sz="1600" kern="0" dirty="0" err="1">
                <a:solidFill>
                  <a:sysClr val="windowText" lastClr="000000"/>
                </a:solidFill>
                <a:latin typeface="Courier New" pitchFamily="49" charset="0"/>
              </a:rPr>
              <a:t>f.store_id</a:t>
            </a:r>
            <a:r>
              <a:rPr lang="en-US" sz="1600" kern="0" dirty="0">
                <a:solidFill>
                  <a:sysClr val="windowText" lastClr="000000"/>
                </a:solidFill>
                <a:latin typeface="Courier New" pitchFamily="49" charset="0"/>
              </a:rPr>
              <a:t>, </a:t>
            </a:r>
          </a:p>
          <a:p>
            <a:pPr marL="228600" indent="-228600">
              <a:spcBef>
                <a:spcPts val="200"/>
              </a:spcBef>
              <a:spcAft>
                <a:spcPct val="15000"/>
              </a:spcAft>
              <a:buClr>
                <a:srgbClr val="7889FB"/>
              </a:buClr>
              <a:defRPr/>
            </a:pPr>
            <a:r>
              <a:rPr lang="en-US" sz="1600" kern="0" dirty="0">
                <a:solidFill>
                  <a:sysClr val="windowText" lastClr="000000"/>
                </a:solidFill>
                <a:latin typeface="Courier New" pitchFamily="49" charset="0"/>
              </a:rPr>
              <a:t>       </a:t>
            </a:r>
            <a:r>
              <a:rPr lang="en-US" sz="1600" kern="0" dirty="0" err="1">
                <a:solidFill>
                  <a:sysClr val="windowText" lastClr="000000"/>
                </a:solidFill>
                <a:latin typeface="Courier New" pitchFamily="49" charset="0"/>
              </a:rPr>
              <a:t>p.group_id</a:t>
            </a:r>
            <a:r>
              <a:rPr lang="en-US" sz="1600" kern="0" dirty="0">
                <a:solidFill>
                  <a:sysClr val="windowText" lastClr="000000"/>
                </a:solidFill>
                <a:latin typeface="Courier New" pitchFamily="49" charset="0"/>
              </a:rPr>
              <a:t>,</a:t>
            </a:r>
          </a:p>
          <a:p>
            <a:pPr marL="228600" indent="-228600">
              <a:buClr>
                <a:srgbClr val="7889FB"/>
              </a:buClr>
              <a:defRPr/>
            </a:pPr>
            <a:r>
              <a:rPr lang="en-US" sz="1600" kern="0" dirty="0">
                <a:solidFill>
                  <a:sysClr val="windowText" lastClr="000000"/>
                </a:solidFill>
                <a:latin typeface="Courier New" pitchFamily="49" charset="0"/>
              </a:rPr>
              <a:t>	     </a:t>
            </a:r>
            <a:r>
              <a:rPr lang="en-US" sz="1600" b="1" kern="0" dirty="0">
                <a:solidFill>
                  <a:sysClr val="windowText" lastClr="000000"/>
                </a:solidFill>
                <a:latin typeface="Courier New" pitchFamily="49" charset="0"/>
              </a:rPr>
              <a:t>sum</a:t>
            </a:r>
            <a:r>
              <a:rPr lang="en-US" sz="1600" kern="0" dirty="0">
                <a:solidFill>
                  <a:sysClr val="windowText" lastClr="000000"/>
                </a:solidFill>
                <a:latin typeface="Courier New" pitchFamily="49" charset="0"/>
              </a:rPr>
              <a:t>(amount) as </a:t>
            </a:r>
            <a:r>
              <a:rPr lang="en-US" sz="1600" kern="0" dirty="0" err="1">
                <a:solidFill>
                  <a:sysClr val="windowText" lastClr="000000"/>
                </a:solidFill>
                <a:latin typeface="Courier New" pitchFamily="49" charset="0"/>
              </a:rPr>
              <a:t>total_sales</a:t>
            </a:r>
            <a:endParaRPr lang="en-US" sz="1600" kern="0" dirty="0">
              <a:solidFill>
                <a:sysClr val="windowText" lastClr="000000"/>
              </a:solidFill>
              <a:latin typeface="Courier New" pitchFamily="49" charset="0"/>
            </a:endParaRPr>
          </a:p>
          <a:p>
            <a:pPr marL="228600" indent="-228600">
              <a:spcBef>
                <a:spcPts val="200"/>
              </a:spcBef>
              <a:spcAft>
                <a:spcPct val="15000"/>
              </a:spcAft>
              <a:buClr>
                <a:srgbClr val="7889FB"/>
              </a:buClr>
              <a:defRPr/>
            </a:pPr>
            <a:r>
              <a:rPr lang="en-US" sz="1600" kern="0" dirty="0">
                <a:solidFill>
                  <a:sysClr val="windowText" lastClr="000000"/>
                </a:solidFill>
                <a:latin typeface="Courier New" pitchFamily="49" charset="0"/>
              </a:rPr>
              <a:t> FROM sales f, product p, time t</a:t>
            </a:r>
          </a:p>
          <a:p>
            <a:pPr marL="228600" indent="-228600">
              <a:spcBef>
                <a:spcPts val="200"/>
              </a:spcBef>
              <a:spcAft>
                <a:spcPct val="15000"/>
              </a:spcAft>
              <a:buClr>
                <a:srgbClr val="7889FB"/>
              </a:buClr>
              <a:defRPr/>
            </a:pPr>
            <a:r>
              <a:rPr lang="en-US" sz="1600" kern="0" dirty="0">
                <a:solidFill>
                  <a:sysClr val="windowText" lastClr="000000"/>
                </a:solidFill>
                <a:latin typeface="Courier New" pitchFamily="49" charset="0"/>
              </a:rPr>
              <a:t> WHERE </a:t>
            </a:r>
            <a:r>
              <a:rPr lang="en-US" sz="1600" kern="0" dirty="0" err="1">
                <a:solidFill>
                  <a:sysClr val="windowText" lastClr="000000"/>
                </a:solidFill>
                <a:latin typeface="Courier New" pitchFamily="49" charset="0"/>
              </a:rPr>
              <a:t>f.date_id</a:t>
            </a:r>
            <a:r>
              <a:rPr lang="en-US" sz="1600" kern="0" dirty="0">
                <a:solidFill>
                  <a:sysClr val="windowText" lastClr="000000"/>
                </a:solidFill>
                <a:latin typeface="Courier New" pitchFamily="49" charset="0"/>
              </a:rPr>
              <a:t> = </a:t>
            </a:r>
            <a:r>
              <a:rPr lang="en-US" sz="1600" kern="0" dirty="0" err="1">
                <a:solidFill>
                  <a:sysClr val="windowText" lastClr="000000"/>
                </a:solidFill>
                <a:latin typeface="Courier New" pitchFamily="49" charset="0"/>
              </a:rPr>
              <a:t>t.date_id</a:t>
            </a:r>
            <a:r>
              <a:rPr lang="en-US" sz="1600" kern="0" dirty="0">
                <a:solidFill>
                  <a:sysClr val="windowText" lastClr="000000"/>
                </a:solidFill>
                <a:latin typeface="Courier New" pitchFamily="49" charset="0"/>
              </a:rPr>
              <a:t> AND</a:t>
            </a:r>
          </a:p>
          <a:p>
            <a:pPr marL="228600" indent="-228600">
              <a:spcBef>
                <a:spcPts val="200"/>
              </a:spcBef>
              <a:spcAft>
                <a:spcPct val="15000"/>
              </a:spcAft>
              <a:buClr>
                <a:srgbClr val="7889FB"/>
              </a:buClr>
              <a:defRPr/>
            </a:pPr>
            <a:r>
              <a:rPr lang="en-US" sz="1600" kern="0" dirty="0">
                <a:solidFill>
                  <a:sysClr val="windowText" lastClr="000000"/>
                </a:solidFill>
                <a:latin typeface="Courier New" pitchFamily="49" charset="0"/>
              </a:rPr>
              <a:t>       </a:t>
            </a:r>
            <a:r>
              <a:rPr lang="en-US" sz="1600" kern="0" dirty="0" err="1">
                <a:solidFill>
                  <a:sysClr val="windowText" lastClr="000000"/>
                </a:solidFill>
                <a:latin typeface="Courier New" pitchFamily="49" charset="0"/>
              </a:rPr>
              <a:t>f.product_id</a:t>
            </a:r>
            <a:r>
              <a:rPr lang="en-US" sz="1600" kern="0" dirty="0">
                <a:solidFill>
                  <a:sysClr val="windowText" lastClr="000000"/>
                </a:solidFill>
                <a:latin typeface="Courier New" pitchFamily="49" charset="0"/>
              </a:rPr>
              <a:t> = </a:t>
            </a:r>
            <a:r>
              <a:rPr lang="en-US" sz="1600" kern="0" dirty="0" err="1">
                <a:solidFill>
                  <a:sysClr val="windowText" lastClr="000000"/>
                </a:solidFill>
                <a:latin typeface="Courier New" pitchFamily="49" charset="0"/>
              </a:rPr>
              <a:t>p.product_id</a:t>
            </a:r>
            <a:endParaRPr lang="en-US" sz="1600" kern="0" dirty="0">
              <a:solidFill>
                <a:sysClr val="windowText" lastClr="000000"/>
              </a:solidFill>
              <a:latin typeface="Courier New" pitchFamily="49" charset="0"/>
            </a:endParaRPr>
          </a:p>
          <a:p>
            <a:pPr marL="228600" indent="-228600">
              <a:spcBef>
                <a:spcPts val="200"/>
              </a:spcBef>
              <a:spcAft>
                <a:spcPct val="15000"/>
              </a:spcAft>
              <a:buClr>
                <a:srgbClr val="7889FB"/>
              </a:buClr>
              <a:defRPr/>
            </a:pPr>
            <a:r>
              <a:rPr lang="en-US" sz="1600" kern="0" dirty="0">
                <a:solidFill>
                  <a:sysClr val="windowText" lastClr="000000"/>
                </a:solidFill>
                <a:latin typeface="Courier New" pitchFamily="49" charset="0"/>
              </a:rPr>
              <a:t>  AND  </a:t>
            </a:r>
            <a:r>
              <a:rPr lang="en-US" sz="1600" kern="0" dirty="0" err="1">
                <a:solidFill>
                  <a:sysClr val="windowText" lastClr="000000"/>
                </a:solidFill>
                <a:latin typeface="Courier New" pitchFamily="49" charset="0"/>
              </a:rPr>
              <a:t>t.month_id</a:t>
            </a:r>
            <a:r>
              <a:rPr lang="en-US" sz="1600" kern="0" dirty="0">
                <a:solidFill>
                  <a:sysClr val="windowText" lastClr="000000"/>
                </a:solidFill>
                <a:latin typeface="Courier New" pitchFamily="49" charset="0"/>
              </a:rPr>
              <a:t> </a:t>
            </a:r>
            <a:r>
              <a:rPr lang="en-US" sz="1600" kern="0" dirty="0">
                <a:solidFill>
                  <a:srgbClr val="D18213"/>
                </a:solidFill>
                <a:latin typeface="Courier New" pitchFamily="49" charset="0"/>
              </a:rPr>
              <a:t>= </a:t>
            </a:r>
            <a:r>
              <a:rPr lang="en-US" sz="1600" kern="0" dirty="0">
                <a:solidFill>
                  <a:srgbClr val="FF0000"/>
                </a:solidFill>
                <a:latin typeface="Courier New" pitchFamily="49" charset="0"/>
              </a:rPr>
              <a:t>200812</a:t>
            </a:r>
          </a:p>
          <a:p>
            <a:pPr marL="228600" indent="-228600">
              <a:spcBef>
                <a:spcPts val="200"/>
              </a:spcBef>
              <a:spcAft>
                <a:spcPct val="15000"/>
              </a:spcAft>
              <a:buClr>
                <a:srgbClr val="7889FB"/>
              </a:buClr>
              <a:defRPr/>
            </a:pPr>
            <a:r>
              <a:rPr lang="en-US" sz="1600" kern="0" dirty="0">
                <a:solidFill>
                  <a:sysClr val="windowText" lastClr="000000"/>
                </a:solidFill>
                <a:latin typeface="Courier New" pitchFamily="49" charset="0"/>
              </a:rPr>
              <a:t> GROUP BY </a:t>
            </a:r>
            <a:r>
              <a:rPr lang="en-US" sz="1600" kern="0" dirty="0" err="1">
                <a:solidFill>
                  <a:sysClr val="windowText" lastClr="000000"/>
                </a:solidFill>
                <a:latin typeface="Courier New" pitchFamily="49" charset="0"/>
              </a:rPr>
              <a:t>t.month_id</a:t>
            </a:r>
            <a:r>
              <a:rPr lang="en-US" sz="1600" kern="0" dirty="0">
                <a:solidFill>
                  <a:sysClr val="windowText" lastClr="000000"/>
                </a:solidFill>
                <a:latin typeface="Courier New" pitchFamily="49" charset="0"/>
              </a:rPr>
              <a:t>, </a:t>
            </a:r>
            <a:r>
              <a:rPr lang="en-US" sz="1600" kern="0" dirty="0" err="1">
                <a:solidFill>
                  <a:sysClr val="windowText" lastClr="000000"/>
                </a:solidFill>
                <a:latin typeface="Courier New" pitchFamily="49" charset="0"/>
              </a:rPr>
              <a:t>f.store_id</a:t>
            </a:r>
            <a:r>
              <a:rPr lang="en-US" sz="1600" kern="0" dirty="0">
                <a:solidFill>
                  <a:sysClr val="windowText" lastClr="000000"/>
                </a:solidFill>
                <a:latin typeface="Courier New" pitchFamily="49" charset="0"/>
              </a:rPr>
              <a:t>, </a:t>
            </a:r>
            <a:r>
              <a:rPr lang="en-US" sz="1600" kern="0" dirty="0" err="1">
                <a:solidFill>
                  <a:sysClr val="windowText" lastClr="000000"/>
                </a:solidFill>
                <a:latin typeface="Courier New" pitchFamily="49" charset="0"/>
              </a:rPr>
              <a:t>p.group_id</a:t>
            </a:r>
            <a:endParaRPr lang="en-US" sz="1600" kern="0" dirty="0">
              <a:solidFill>
                <a:sysClr val="windowText" lastClr="000000"/>
              </a:solidFill>
            </a:endParaRPr>
          </a:p>
        </p:txBody>
      </p:sp>
      <p:sp>
        <p:nvSpPr>
          <p:cNvPr id="33" name="Rectangle 5"/>
          <p:cNvSpPr>
            <a:spLocks noChangeArrowheads="1"/>
          </p:cNvSpPr>
          <p:nvPr/>
        </p:nvSpPr>
        <p:spPr bwMode="auto">
          <a:xfrm>
            <a:off x="7746211" y="4078174"/>
            <a:ext cx="4340644" cy="2060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28600" indent="-228600">
              <a:spcBef>
                <a:spcPts val="200"/>
              </a:spcBef>
              <a:spcAft>
                <a:spcPts val="200"/>
              </a:spcAft>
              <a:buClr>
                <a:srgbClr val="7889FB"/>
              </a:buClr>
              <a:defRPr/>
            </a:pPr>
            <a:r>
              <a:rPr lang="en-US" b="1" kern="0" dirty="0">
                <a:solidFill>
                  <a:sysClr val="windowText" lastClr="000000"/>
                </a:solidFill>
              </a:rPr>
              <a:t>Rewritten Query</a:t>
            </a:r>
          </a:p>
          <a:p>
            <a:pPr marL="228600" indent="-228600">
              <a:spcBef>
                <a:spcPts val="200"/>
              </a:spcBef>
              <a:spcAft>
                <a:spcPts val="200"/>
              </a:spcAft>
              <a:buClr>
                <a:srgbClr val="7889FB"/>
              </a:buClr>
              <a:defRPr/>
            </a:pPr>
            <a:r>
              <a:rPr lang="en-US" sz="1600" kern="0" dirty="0">
                <a:solidFill>
                  <a:sysClr val="windowText" lastClr="000000"/>
                </a:solidFill>
                <a:latin typeface="Courier New" pitchFamily="49" charset="0"/>
              </a:rPr>
              <a:t>SELECT </a:t>
            </a:r>
            <a:r>
              <a:rPr lang="en-US" sz="1600" kern="0" dirty="0" err="1">
                <a:solidFill>
                  <a:sysClr val="windowText" lastClr="000000"/>
                </a:solidFill>
                <a:latin typeface="Courier New" pitchFamily="49" charset="0"/>
              </a:rPr>
              <a:t>m.month_id</a:t>
            </a:r>
            <a:r>
              <a:rPr lang="en-US" sz="1600" kern="0" dirty="0">
                <a:solidFill>
                  <a:sysClr val="windowText" lastClr="000000"/>
                </a:solidFill>
                <a:latin typeface="Courier New" pitchFamily="49" charset="0"/>
              </a:rPr>
              <a:t>,</a:t>
            </a:r>
          </a:p>
          <a:p>
            <a:pPr marL="228600" indent="-228600">
              <a:spcBef>
                <a:spcPts val="200"/>
              </a:spcBef>
              <a:spcAft>
                <a:spcPts val="200"/>
              </a:spcAft>
              <a:buClr>
                <a:srgbClr val="7889FB"/>
              </a:buClr>
              <a:defRPr/>
            </a:pPr>
            <a:r>
              <a:rPr lang="en-US" sz="1600" kern="0" dirty="0">
                <a:solidFill>
                  <a:sysClr val="windowText" lastClr="000000"/>
                </a:solidFill>
                <a:latin typeface="Courier New" pitchFamily="49" charset="0"/>
              </a:rPr>
              <a:t>       </a:t>
            </a:r>
            <a:r>
              <a:rPr lang="en-US" sz="1600" kern="0" dirty="0" err="1">
                <a:solidFill>
                  <a:sysClr val="windowText" lastClr="000000"/>
                </a:solidFill>
                <a:latin typeface="Courier New" pitchFamily="49" charset="0"/>
              </a:rPr>
              <a:t>m.store_id</a:t>
            </a:r>
            <a:r>
              <a:rPr lang="en-US" sz="1600" kern="0" dirty="0">
                <a:solidFill>
                  <a:sysClr val="windowText" lastClr="000000"/>
                </a:solidFill>
                <a:latin typeface="Courier New" pitchFamily="49" charset="0"/>
              </a:rPr>
              <a:t>,</a:t>
            </a:r>
          </a:p>
          <a:p>
            <a:pPr marL="228600" indent="-228600">
              <a:spcBef>
                <a:spcPts val="200"/>
              </a:spcBef>
              <a:spcAft>
                <a:spcPts val="200"/>
              </a:spcAft>
              <a:buClr>
                <a:srgbClr val="7889FB"/>
              </a:buClr>
              <a:defRPr/>
            </a:pPr>
            <a:r>
              <a:rPr lang="en-US" sz="1600" kern="0" dirty="0">
                <a:solidFill>
                  <a:sysClr val="windowText" lastClr="000000"/>
                </a:solidFill>
                <a:latin typeface="Courier New" pitchFamily="49" charset="0"/>
              </a:rPr>
              <a:t>       </a:t>
            </a:r>
            <a:r>
              <a:rPr lang="en-US" sz="1600" kern="0" dirty="0" err="1">
                <a:solidFill>
                  <a:sysClr val="windowText" lastClr="000000"/>
                </a:solidFill>
                <a:latin typeface="Courier New" pitchFamily="49" charset="0"/>
              </a:rPr>
              <a:t>m.group_id</a:t>
            </a:r>
            <a:r>
              <a:rPr lang="en-US" sz="1600" kern="0" dirty="0">
                <a:solidFill>
                  <a:sysClr val="windowText" lastClr="000000"/>
                </a:solidFill>
                <a:latin typeface="Courier New" pitchFamily="49" charset="0"/>
              </a:rPr>
              <a:t>,</a:t>
            </a:r>
          </a:p>
          <a:p>
            <a:pPr marL="228600" indent="-228600">
              <a:spcBef>
                <a:spcPts val="200"/>
              </a:spcBef>
              <a:spcAft>
                <a:spcPts val="200"/>
              </a:spcAft>
              <a:buClr>
                <a:srgbClr val="7889FB"/>
              </a:buClr>
              <a:defRPr/>
            </a:pPr>
            <a:r>
              <a:rPr lang="en-US" sz="1600" kern="0" dirty="0">
                <a:solidFill>
                  <a:sysClr val="windowText" lastClr="000000"/>
                </a:solidFill>
                <a:latin typeface="Courier New" pitchFamily="49" charset="0"/>
              </a:rPr>
              <a:t>       </a:t>
            </a:r>
            <a:r>
              <a:rPr lang="en-US" sz="1600" kern="0" dirty="0" err="1">
                <a:solidFill>
                  <a:sysClr val="windowText" lastClr="000000"/>
                </a:solidFill>
                <a:latin typeface="Courier New" pitchFamily="49" charset="0"/>
              </a:rPr>
              <a:t>m.total_sales</a:t>
            </a:r>
            <a:endParaRPr lang="en-US" sz="1600" kern="0" dirty="0">
              <a:solidFill>
                <a:sysClr val="windowText" lastClr="000000"/>
              </a:solidFill>
              <a:latin typeface="Courier New" pitchFamily="49" charset="0"/>
            </a:endParaRPr>
          </a:p>
          <a:p>
            <a:pPr marL="228600" indent="-228600">
              <a:spcBef>
                <a:spcPts val="200"/>
              </a:spcBef>
              <a:spcAft>
                <a:spcPts val="200"/>
              </a:spcAft>
              <a:buClr>
                <a:srgbClr val="7889FB"/>
              </a:buClr>
              <a:defRPr/>
            </a:pPr>
            <a:r>
              <a:rPr lang="en-US" sz="1600" kern="0" dirty="0">
                <a:solidFill>
                  <a:sysClr val="windowText" lastClr="000000"/>
                </a:solidFill>
                <a:latin typeface="Courier New" pitchFamily="49" charset="0"/>
              </a:rPr>
              <a:t> FROM </a:t>
            </a:r>
            <a:r>
              <a:rPr lang="en-US" sz="1600" b="1" kern="0" dirty="0" err="1">
                <a:solidFill>
                  <a:schemeClr val="accent2"/>
                </a:solidFill>
                <a:latin typeface="Courier New" pitchFamily="49" charset="0"/>
              </a:rPr>
              <a:t>MQT_SalesByMthStrGrp</a:t>
            </a:r>
            <a:r>
              <a:rPr lang="en-US" sz="1600" b="1" kern="0" dirty="0">
                <a:solidFill>
                  <a:schemeClr val="accent2"/>
                </a:solidFill>
                <a:latin typeface="Courier New" pitchFamily="49" charset="0"/>
              </a:rPr>
              <a:t> </a:t>
            </a:r>
            <a:r>
              <a:rPr lang="en-US" sz="1600" kern="0" dirty="0">
                <a:solidFill>
                  <a:schemeClr val="accent2"/>
                </a:solidFill>
                <a:latin typeface="Courier New" pitchFamily="49" charset="0"/>
              </a:rPr>
              <a:t>m </a:t>
            </a:r>
          </a:p>
          <a:p>
            <a:pPr marL="228600" indent="-228600">
              <a:spcBef>
                <a:spcPts val="200"/>
              </a:spcBef>
              <a:spcAft>
                <a:spcPts val="200"/>
              </a:spcAft>
              <a:buClr>
                <a:srgbClr val="7889FB"/>
              </a:buClr>
              <a:defRPr/>
            </a:pPr>
            <a:r>
              <a:rPr lang="en-US" sz="1600" kern="0" dirty="0">
                <a:solidFill>
                  <a:sysClr val="windowText" lastClr="000000"/>
                </a:solidFill>
                <a:latin typeface="Courier New" pitchFamily="49" charset="0"/>
              </a:rPr>
              <a:t>WHERE </a:t>
            </a:r>
            <a:r>
              <a:rPr lang="en-US" sz="1600" kern="0" dirty="0" err="1">
                <a:solidFill>
                  <a:sysClr val="windowText" lastClr="000000"/>
                </a:solidFill>
                <a:latin typeface="Courier New" pitchFamily="49" charset="0"/>
              </a:rPr>
              <a:t>m.month_id</a:t>
            </a:r>
            <a:r>
              <a:rPr lang="en-US" sz="1600" kern="0" dirty="0">
                <a:solidFill>
                  <a:sysClr val="windowText" lastClr="000000"/>
                </a:solidFill>
                <a:latin typeface="Courier New" pitchFamily="49" charset="0"/>
              </a:rPr>
              <a:t> </a:t>
            </a:r>
            <a:r>
              <a:rPr lang="en-US" sz="1600" kern="0" dirty="0">
                <a:solidFill>
                  <a:srgbClr val="D18213"/>
                </a:solidFill>
                <a:latin typeface="Courier New" pitchFamily="49" charset="0"/>
              </a:rPr>
              <a:t>= </a:t>
            </a:r>
            <a:r>
              <a:rPr lang="en-US" sz="1600" kern="0" dirty="0">
                <a:solidFill>
                  <a:srgbClr val="FF0000"/>
                </a:solidFill>
                <a:latin typeface="Courier New" pitchFamily="49" charset="0"/>
              </a:rPr>
              <a:t>200812</a:t>
            </a:r>
          </a:p>
          <a:p>
            <a:pPr marL="228600" indent="-228600">
              <a:spcBef>
                <a:spcPts val="200"/>
              </a:spcBef>
              <a:spcAft>
                <a:spcPts val="200"/>
              </a:spcAft>
              <a:buClr>
                <a:srgbClr val="7889FB"/>
              </a:buClr>
              <a:defRPr/>
            </a:pPr>
            <a:r>
              <a:rPr lang="en-US" sz="1600" kern="0" dirty="0">
                <a:solidFill>
                  <a:sysClr val="windowText" lastClr="000000"/>
                </a:solidFill>
                <a:latin typeface="Courier New" pitchFamily="49" charset="0"/>
              </a:rPr>
              <a:t> </a:t>
            </a:r>
          </a:p>
        </p:txBody>
      </p:sp>
      <p:sp>
        <p:nvSpPr>
          <p:cNvPr id="34" name="AutoShape 7"/>
          <p:cNvSpPr>
            <a:spLocks noChangeArrowheads="1"/>
          </p:cNvSpPr>
          <p:nvPr/>
        </p:nvSpPr>
        <p:spPr bwMode="auto">
          <a:xfrm>
            <a:off x="4933948" y="4618256"/>
            <a:ext cx="2887663" cy="733663"/>
          </a:xfrm>
          <a:prstGeom prst="rightArrow">
            <a:avLst>
              <a:gd name="adj1" fmla="val 50000"/>
              <a:gd name="adj2" fmla="val 39727"/>
            </a:avLst>
          </a:prstGeom>
          <a:solidFill>
            <a:srgbClr val="FFD757"/>
          </a:solidFill>
          <a:ln w="12700" algn="ctr">
            <a:noFill/>
            <a:miter lim="800000"/>
            <a:headEnd/>
            <a:tailEnd/>
          </a:ln>
          <a:effectLst/>
        </p:spPr>
        <p:txBody>
          <a:bodyPr wrap="square" anchor="ctr">
            <a:spAutoFit/>
          </a:bodyPr>
          <a:lstStyle/>
          <a:p>
            <a:pPr>
              <a:defRPr/>
            </a:pPr>
            <a:endParaRPr lang="en-US" kern="0">
              <a:solidFill>
                <a:sysClr val="windowText" lastClr="000000"/>
              </a:solidFill>
            </a:endParaRPr>
          </a:p>
        </p:txBody>
      </p:sp>
      <p:sp>
        <p:nvSpPr>
          <p:cNvPr id="35" name="Text Box 11"/>
          <p:cNvSpPr txBox="1">
            <a:spLocks noChangeArrowheads="1"/>
          </p:cNvSpPr>
          <p:nvPr/>
        </p:nvSpPr>
        <p:spPr bwMode="auto">
          <a:xfrm>
            <a:off x="4800600" y="5451812"/>
            <a:ext cx="2438400" cy="369332"/>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algn="ctr" eaLnBrk="0" fontAlgn="base" hangingPunct="0">
              <a:lnSpc>
                <a:spcPct val="90000"/>
              </a:lnSpc>
              <a:spcBef>
                <a:spcPct val="0"/>
              </a:spcBef>
              <a:spcAft>
                <a:spcPct val="0"/>
              </a:spcAft>
              <a:buClr>
                <a:schemeClr val="accent2"/>
              </a:buClr>
              <a:buFont typeface="Wingdings" pitchFamily="2" charset="2"/>
              <a:defRPr>
                <a:solidFill>
                  <a:schemeClr val="tx1"/>
                </a:solidFill>
                <a:latin typeface="Arial" charset="0"/>
                <a:cs typeface="Arial" charset="0"/>
              </a:defRPr>
            </a:lvl6pPr>
            <a:lvl7pPr marL="2971800" indent="-228600" algn="ctr" eaLnBrk="0" fontAlgn="base" hangingPunct="0">
              <a:lnSpc>
                <a:spcPct val="90000"/>
              </a:lnSpc>
              <a:spcBef>
                <a:spcPct val="0"/>
              </a:spcBef>
              <a:spcAft>
                <a:spcPct val="0"/>
              </a:spcAft>
              <a:buClr>
                <a:schemeClr val="accent2"/>
              </a:buClr>
              <a:buFont typeface="Wingdings" pitchFamily="2" charset="2"/>
              <a:defRPr>
                <a:solidFill>
                  <a:schemeClr val="tx1"/>
                </a:solidFill>
                <a:latin typeface="Arial" charset="0"/>
                <a:cs typeface="Arial" charset="0"/>
              </a:defRPr>
            </a:lvl7pPr>
            <a:lvl8pPr marL="3429000" indent="-228600" algn="ctr" eaLnBrk="0" fontAlgn="base" hangingPunct="0">
              <a:lnSpc>
                <a:spcPct val="90000"/>
              </a:lnSpc>
              <a:spcBef>
                <a:spcPct val="0"/>
              </a:spcBef>
              <a:spcAft>
                <a:spcPct val="0"/>
              </a:spcAft>
              <a:buClr>
                <a:schemeClr val="accent2"/>
              </a:buClr>
              <a:buFont typeface="Wingdings" pitchFamily="2" charset="2"/>
              <a:defRPr>
                <a:solidFill>
                  <a:schemeClr val="tx1"/>
                </a:solidFill>
                <a:latin typeface="Arial" charset="0"/>
                <a:cs typeface="Arial" charset="0"/>
              </a:defRPr>
            </a:lvl8pPr>
            <a:lvl9pPr marL="3886200" indent="-228600" algn="ctr" eaLnBrk="0" fontAlgn="base" hangingPunct="0">
              <a:lnSpc>
                <a:spcPct val="90000"/>
              </a:lnSpc>
              <a:spcBef>
                <a:spcPct val="0"/>
              </a:spcBef>
              <a:spcAft>
                <a:spcPct val="0"/>
              </a:spcAft>
              <a:buClr>
                <a:schemeClr val="accent2"/>
              </a:buClr>
              <a:buFont typeface="Wingdings" pitchFamily="2" charset="2"/>
              <a:defRPr>
                <a:solidFill>
                  <a:schemeClr val="tx1"/>
                </a:solidFill>
                <a:latin typeface="Arial" charset="0"/>
                <a:cs typeface="Arial" charset="0"/>
              </a:defRPr>
            </a:lvl9pPr>
          </a:lstStyle>
          <a:p>
            <a:pPr eaLnBrk="1" hangingPunct="1">
              <a:spcBef>
                <a:spcPct val="50000"/>
              </a:spcBef>
              <a:defRPr/>
            </a:pPr>
            <a:r>
              <a:rPr lang="en-US" kern="0" dirty="0">
                <a:solidFill>
                  <a:srgbClr val="000000"/>
                </a:solidFill>
              </a:rPr>
              <a:t>Route Query to MQT</a:t>
            </a:r>
          </a:p>
        </p:txBody>
      </p:sp>
      <p:sp>
        <p:nvSpPr>
          <p:cNvPr id="4" name="TextBox 3">
            <a:extLst>
              <a:ext uri="{FF2B5EF4-FFF2-40B4-BE49-F238E27FC236}">
                <a16:creationId xmlns:a16="http://schemas.microsoft.com/office/drawing/2014/main" id="{57F109CE-5667-323F-7546-CA41F8DB5DD3}"/>
              </a:ext>
            </a:extLst>
          </p:cNvPr>
          <p:cNvSpPr txBox="1">
            <a:spLocks noChangeArrowheads="1"/>
          </p:cNvSpPr>
          <p:nvPr/>
        </p:nvSpPr>
        <p:spPr bwMode="auto">
          <a:xfrm>
            <a:off x="76200" y="6430064"/>
            <a:ext cx="2066976"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Materialized views</a:t>
            </a:r>
          </a:p>
        </p:txBody>
      </p:sp>
      <p:sp>
        <p:nvSpPr>
          <p:cNvPr id="6" name="TextBox 5">
            <a:extLst>
              <a:ext uri="{FF2B5EF4-FFF2-40B4-BE49-F238E27FC236}">
                <a16:creationId xmlns:a16="http://schemas.microsoft.com/office/drawing/2014/main" id="{ABC8BD86-DD8C-A9F1-64D3-90FA70F82681}"/>
              </a:ext>
            </a:extLst>
          </p:cNvPr>
          <p:cNvSpPr txBox="1"/>
          <p:nvPr/>
        </p:nvSpPr>
        <p:spPr>
          <a:xfrm>
            <a:off x="7946660" y="1447589"/>
            <a:ext cx="2887663" cy="326821"/>
          </a:xfrm>
          <a:prstGeom prst="rect">
            <a:avLst/>
          </a:prstGeom>
          <a:noFill/>
        </p:spPr>
        <p:txBody>
          <a:bodyPr wrap="square">
            <a:spAutoFit/>
          </a:bodyPr>
          <a:lstStyle/>
          <a:p>
            <a:pPr eaLnBrk="1" hangingPunct="1">
              <a:lnSpc>
                <a:spcPct val="80000"/>
              </a:lnSpc>
              <a:buClr>
                <a:srgbClr val="7889FB"/>
              </a:buClr>
              <a:buNone/>
              <a:defRPr/>
            </a:pPr>
            <a:r>
              <a:rPr lang="en-US" b="1" kern="0" dirty="0" err="1">
                <a:solidFill>
                  <a:srgbClr val="FF0000"/>
                </a:solidFill>
                <a:latin typeface="Arial"/>
                <a:cs typeface="Arial"/>
              </a:rPr>
              <a:t>MQT_SalesByMthStrGrp</a:t>
            </a:r>
            <a:endParaRPr lang="en-US" b="1" kern="0" dirty="0">
              <a:solidFill>
                <a:srgbClr val="FF0000"/>
              </a:solidFill>
              <a:latin typeface="Courier New" pitchFamily="49" charset="0"/>
              <a:cs typeface="Arial"/>
            </a:endParaRPr>
          </a:p>
        </p:txBody>
      </p:sp>
    </p:spTree>
    <p:extLst>
      <p:ext uri="{BB962C8B-B14F-4D97-AF65-F5344CB8AC3E}">
        <p14:creationId xmlns:p14="http://schemas.microsoft.com/office/powerpoint/2010/main" val="12841832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linds(horizontal)">
                                      <p:cBhvr>
                                        <p:cTn id="7" dur="500"/>
                                        <p:tgtEl>
                                          <p:spTgt spid="3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blinds(horizontal)">
                                      <p:cBhvr>
                                        <p:cTn id="10" dur="500"/>
                                        <p:tgtEl>
                                          <p:spTgt spid="34"/>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blinds(horizontal)">
                                      <p:cBhvr>
                                        <p:cTn id="1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animBg="1"/>
      <p:bldP spid="35"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MQT Creation</a:t>
            </a:r>
          </a:p>
        </p:txBody>
      </p:sp>
      <p:sp>
        <p:nvSpPr>
          <p:cNvPr id="9" name="Rectangle 3"/>
          <p:cNvSpPr txBox="1">
            <a:spLocks noChangeArrowheads="1"/>
          </p:cNvSpPr>
          <p:nvPr/>
        </p:nvSpPr>
        <p:spPr bwMode="auto">
          <a:xfrm>
            <a:off x="101601" y="1120677"/>
            <a:ext cx="5232399" cy="4903888"/>
          </a:xfrm>
          <a:prstGeom prst="rect">
            <a:avLst/>
          </a:prstGeom>
          <a:noFill/>
          <a:ln w="9525">
            <a:noFill/>
            <a:miter lim="800000"/>
            <a:headEnd/>
            <a:tailEnd/>
          </a:ln>
        </p:spPr>
        <p:txBody>
          <a:bodyPr vert="horz" wrap="square" lIns="0" tIns="0" rIns="91440" bIns="45720" numCol="1" anchor="t" anchorCtr="0" compatLnSpc="1">
            <a:prstTxWarp prst="textNoShape">
              <a:avLst/>
            </a:prstTxWarp>
          </a:bodyPr>
          <a:lstStyle>
            <a:lvl1pPr marL="342900" indent="-342900" algn="l" rtl="0" eaLnBrk="1" fontAlgn="base" hangingPunct="1">
              <a:spcBef>
                <a:spcPct val="20000"/>
              </a:spcBef>
              <a:spcAft>
                <a:spcPts val="300"/>
              </a:spcAft>
              <a:buChar char="•"/>
              <a:defRPr sz="2400">
                <a:solidFill>
                  <a:schemeClr val="tx1"/>
                </a:solidFill>
                <a:latin typeface="Verdana" pitchFamily="34" charset="0"/>
                <a:ea typeface="+mn-ea"/>
                <a:cs typeface="+mn-cs"/>
              </a:defRPr>
            </a:lvl1pPr>
            <a:lvl2pPr marL="742950" indent="-285750" algn="l" rtl="0" eaLnBrk="1" fontAlgn="base" hangingPunct="1">
              <a:spcBef>
                <a:spcPct val="20000"/>
              </a:spcBef>
              <a:spcAft>
                <a:spcPts val="300"/>
              </a:spcAft>
              <a:buChar char="–"/>
              <a:defRPr sz="2200">
                <a:solidFill>
                  <a:schemeClr val="tx1"/>
                </a:solidFill>
                <a:latin typeface="Verdana" pitchFamily="34" charset="0"/>
              </a:defRPr>
            </a:lvl2pPr>
            <a:lvl3pPr marL="1143000" indent="-228600" algn="l" rtl="0" eaLnBrk="1" fontAlgn="base" hangingPunct="1">
              <a:spcBef>
                <a:spcPct val="20000"/>
              </a:spcBef>
              <a:spcAft>
                <a:spcPts val="300"/>
              </a:spcAft>
              <a:buChar char="•"/>
              <a:defRPr>
                <a:solidFill>
                  <a:schemeClr val="tx1"/>
                </a:solidFill>
                <a:latin typeface="Verdana" pitchFamily="34" charset="0"/>
              </a:defRPr>
            </a:lvl3pPr>
            <a:lvl4pPr marL="1600200" indent="-228600" algn="l" rtl="0" eaLnBrk="1" fontAlgn="base" hangingPunct="1">
              <a:spcBef>
                <a:spcPct val="20000"/>
              </a:spcBef>
              <a:spcAft>
                <a:spcPts val="300"/>
              </a:spcAft>
              <a:buChar char="–"/>
              <a:defRPr sz="1600">
                <a:solidFill>
                  <a:schemeClr val="tx1"/>
                </a:solidFill>
                <a:latin typeface="Verdana" pitchFamily="34" charset="0"/>
              </a:defRPr>
            </a:lvl4pPr>
            <a:lvl5pPr marL="2057400" indent="-228600" algn="l" rtl="0" eaLnBrk="1" fontAlgn="base" hangingPunct="1">
              <a:spcBef>
                <a:spcPct val="20000"/>
              </a:spcBef>
              <a:spcAft>
                <a:spcPts val="300"/>
              </a:spcAft>
              <a:buChar char="»"/>
              <a:defRPr sz="1500">
                <a:solidFill>
                  <a:srgbClr val="003399"/>
                </a:solidFill>
                <a:latin typeface="Verdana" pitchFamily="34" charset="0"/>
              </a:defRPr>
            </a:lvl5pPr>
            <a:lvl6pPr marL="2514600" indent="-228600" algn="l" rtl="0" eaLnBrk="1" fontAlgn="base" hangingPunct="1">
              <a:spcBef>
                <a:spcPct val="20000"/>
              </a:spcBef>
              <a:spcAft>
                <a:spcPct val="0"/>
              </a:spcAft>
              <a:buChar char="»"/>
              <a:defRPr sz="1500">
                <a:solidFill>
                  <a:srgbClr val="003399"/>
                </a:solidFill>
                <a:latin typeface="Siemens Sans" pitchFamily="2" charset="0"/>
              </a:defRPr>
            </a:lvl6pPr>
            <a:lvl7pPr marL="2971800" indent="-228600" algn="l" rtl="0" eaLnBrk="1" fontAlgn="base" hangingPunct="1">
              <a:spcBef>
                <a:spcPct val="20000"/>
              </a:spcBef>
              <a:spcAft>
                <a:spcPct val="0"/>
              </a:spcAft>
              <a:buChar char="»"/>
              <a:defRPr sz="1500">
                <a:solidFill>
                  <a:srgbClr val="003399"/>
                </a:solidFill>
                <a:latin typeface="Siemens Sans" pitchFamily="2" charset="0"/>
              </a:defRPr>
            </a:lvl7pPr>
            <a:lvl8pPr marL="3429000" indent="-228600" algn="l" rtl="0" eaLnBrk="1" fontAlgn="base" hangingPunct="1">
              <a:spcBef>
                <a:spcPct val="20000"/>
              </a:spcBef>
              <a:spcAft>
                <a:spcPct val="0"/>
              </a:spcAft>
              <a:buChar char="»"/>
              <a:defRPr sz="1500">
                <a:solidFill>
                  <a:srgbClr val="003399"/>
                </a:solidFill>
                <a:latin typeface="Siemens Sans" pitchFamily="2" charset="0"/>
              </a:defRPr>
            </a:lvl8pPr>
            <a:lvl9pPr marL="3886200" indent="-228600" algn="l" rtl="0" eaLnBrk="1" fontAlgn="base" hangingPunct="1">
              <a:spcBef>
                <a:spcPct val="20000"/>
              </a:spcBef>
              <a:spcAft>
                <a:spcPct val="0"/>
              </a:spcAft>
              <a:buChar char="»"/>
              <a:defRPr sz="1500">
                <a:solidFill>
                  <a:srgbClr val="003399"/>
                </a:solidFill>
                <a:latin typeface="Siemens Sans" pitchFamily="2" charset="0"/>
              </a:defRPr>
            </a:lvl9pPr>
          </a:lstStyle>
          <a:p>
            <a:r>
              <a:rPr lang="en-US" sz="2200" kern="0" dirty="0"/>
              <a:t>MQTs are created using the CREATE TABLE statement</a:t>
            </a:r>
          </a:p>
          <a:p>
            <a:r>
              <a:rPr lang="en-US" sz="2200" kern="0" dirty="0"/>
              <a:t>Immediately after creation, the MQT is </a:t>
            </a:r>
            <a:r>
              <a:rPr lang="en-US" sz="2200" kern="0" dirty="0">
                <a:solidFill>
                  <a:schemeClr val="accent6"/>
                </a:solidFill>
              </a:rPr>
              <a:t>empty</a:t>
            </a:r>
            <a:r>
              <a:rPr lang="en-US" sz="2200" kern="0" dirty="0"/>
              <a:t> and not accessible. It is populated using the REFRESH TABLE statement</a:t>
            </a:r>
          </a:p>
          <a:p>
            <a:r>
              <a:rPr lang="en-US" sz="2200" kern="0" dirty="0"/>
              <a:t>After running the REFRESH, the MQT becomes accessible</a:t>
            </a:r>
          </a:p>
        </p:txBody>
      </p:sp>
      <p:sp>
        <p:nvSpPr>
          <p:cNvPr id="10" name="Text Box 4"/>
          <p:cNvSpPr txBox="1">
            <a:spLocks noChangeArrowheads="1"/>
          </p:cNvSpPr>
          <p:nvPr/>
        </p:nvSpPr>
        <p:spPr bwMode="auto">
          <a:xfrm>
            <a:off x="5427868" y="1064242"/>
            <a:ext cx="6629401" cy="5016758"/>
          </a:xfrm>
          <a:prstGeom prst="rect">
            <a:avLst/>
          </a:prstGeom>
          <a:noFill/>
          <a:ln w="9525">
            <a:solidFill>
              <a:schemeClr val="tx1"/>
            </a:solidFill>
            <a:miter lim="800000"/>
            <a:headEnd/>
            <a:tailEnd/>
          </a:ln>
          <a:effectLst/>
        </p:spPr>
        <p:txBody>
          <a:bodyPr wrap="square" lIns="45720" rIns="45720">
            <a:prstTxWarp prst="textNoShape">
              <a:avLst/>
            </a:prstTxWarp>
            <a:spAutoFit/>
          </a:bodyPr>
          <a:lstStyle/>
          <a:p>
            <a:pPr algn="l"/>
            <a:r>
              <a:rPr lang="en-US" sz="2000" dirty="0">
                <a:solidFill>
                  <a:srgbClr val="800000"/>
                </a:solidFill>
                <a:latin typeface="Consolas" panose="020B0609020204030204" pitchFamily="49" charset="0"/>
              </a:rPr>
              <a:t>CREATE</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TABLE</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MQT_SalesByMthStrGrp</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AS</a:t>
            </a:r>
          </a:p>
          <a:p>
            <a:pPr algn="l"/>
            <a:r>
              <a:rPr lang="en-US" sz="2000" dirty="0">
                <a:solidFill>
                  <a:srgbClr val="000000"/>
                </a:solidFill>
                <a:latin typeface="Consolas" panose="020B0609020204030204" pitchFamily="49" charset="0"/>
              </a:rPr>
              <a:t>(</a:t>
            </a:r>
            <a:r>
              <a:rPr lang="en-US" sz="2000" dirty="0">
                <a:solidFill>
                  <a:srgbClr val="800000"/>
                </a:solidFill>
                <a:latin typeface="Consolas" panose="020B0609020204030204" pitchFamily="49" charset="0"/>
              </a:rPr>
              <a:t>SELECT</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t.month_id</a:t>
            </a:r>
            <a:r>
              <a:rPr lang="en-US" sz="2000" dirty="0">
                <a:solidFill>
                  <a:srgbClr val="000000"/>
                </a:solidFill>
                <a:latin typeface="Consolas" panose="020B0609020204030204" pitchFamily="49" charset="0"/>
              </a:rPr>
              <a:t>, </a:t>
            </a:r>
          </a:p>
          <a:p>
            <a:pPr algn="l"/>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f.store_id</a:t>
            </a:r>
            <a:r>
              <a:rPr lang="en-US" sz="2000" dirty="0">
                <a:solidFill>
                  <a:srgbClr val="000000"/>
                </a:solidFill>
                <a:latin typeface="Consolas" panose="020B0609020204030204" pitchFamily="49" charset="0"/>
              </a:rPr>
              <a:t>, </a:t>
            </a:r>
          </a:p>
          <a:p>
            <a:pPr algn="l"/>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p.group_id</a:t>
            </a:r>
            <a:r>
              <a:rPr lang="en-US" sz="2000" dirty="0">
                <a:solidFill>
                  <a:srgbClr val="000000"/>
                </a:solidFill>
                <a:latin typeface="Consolas" panose="020B0609020204030204" pitchFamily="49" charset="0"/>
              </a:rPr>
              <a:t>, </a:t>
            </a:r>
          </a:p>
          <a:p>
            <a:pPr algn="l"/>
            <a:r>
              <a:rPr lang="en-US" sz="2000" dirty="0">
                <a:solidFill>
                  <a:srgbClr val="000000"/>
                </a:solidFill>
                <a:latin typeface="Consolas" panose="020B0609020204030204" pitchFamily="49" charset="0"/>
              </a:rPr>
              <a:t>        </a:t>
            </a:r>
            <a:r>
              <a:rPr lang="en-US" sz="2000" dirty="0">
                <a:solidFill>
                  <a:srgbClr val="000080"/>
                </a:solidFill>
                <a:latin typeface="Consolas" panose="020B0609020204030204" pitchFamily="49" charset="0"/>
              </a:rPr>
              <a:t>sum</a:t>
            </a:r>
            <a:r>
              <a:rPr lang="en-US" sz="2000" dirty="0">
                <a:solidFill>
                  <a:srgbClr val="000000"/>
                </a:solidFill>
                <a:latin typeface="Consolas" panose="020B0609020204030204" pitchFamily="49" charset="0"/>
              </a:rPr>
              <a:t>(amount) </a:t>
            </a:r>
            <a:r>
              <a:rPr lang="en-US" sz="2000" dirty="0">
                <a:solidFill>
                  <a:srgbClr val="800000"/>
                </a:solidFill>
                <a:latin typeface="Consolas" panose="020B0609020204030204" pitchFamily="49" charset="0"/>
              </a:rPr>
              <a:t>as</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total_sales</a:t>
            </a:r>
            <a:endParaRPr lang="en-US" sz="2000" dirty="0">
              <a:solidFill>
                <a:srgbClr val="000000"/>
              </a:solidFill>
              <a:latin typeface="Consolas" panose="020B0609020204030204" pitchFamily="49" charset="0"/>
            </a:endParaRPr>
          </a:p>
          <a:p>
            <a:pPr algn="l"/>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FROM</a:t>
            </a:r>
            <a:r>
              <a:rPr lang="en-US" sz="2000" dirty="0">
                <a:solidFill>
                  <a:srgbClr val="000000"/>
                </a:solidFill>
                <a:latin typeface="Consolas" panose="020B0609020204030204" pitchFamily="49" charset="0"/>
              </a:rPr>
              <a:t> sales f, product p, </a:t>
            </a:r>
            <a:r>
              <a:rPr lang="en-US" sz="2000" dirty="0">
                <a:solidFill>
                  <a:srgbClr val="000080"/>
                </a:solidFill>
                <a:latin typeface="Consolas" panose="020B0609020204030204" pitchFamily="49" charset="0"/>
              </a:rPr>
              <a:t>time</a:t>
            </a:r>
            <a:r>
              <a:rPr lang="en-US" sz="2000" dirty="0">
                <a:solidFill>
                  <a:srgbClr val="000000"/>
                </a:solidFill>
                <a:latin typeface="Consolas" panose="020B0609020204030204" pitchFamily="49" charset="0"/>
              </a:rPr>
              <a:t> t</a:t>
            </a:r>
          </a:p>
          <a:p>
            <a:pPr algn="l"/>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WHERE</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f.date_id</a:t>
            </a:r>
            <a:r>
              <a:rPr lang="en-US" sz="2000" dirty="0">
                <a:solidFill>
                  <a:srgbClr val="000000"/>
                </a:solidFill>
                <a:latin typeface="Consolas" panose="020B0609020204030204" pitchFamily="49" charset="0"/>
              </a:rPr>
              <a:t> = </a:t>
            </a:r>
            <a:r>
              <a:rPr lang="en-US" sz="2000" dirty="0" err="1">
                <a:solidFill>
                  <a:srgbClr val="000000"/>
                </a:solidFill>
                <a:latin typeface="Consolas" panose="020B0609020204030204" pitchFamily="49" charset="0"/>
              </a:rPr>
              <a:t>t.date_id</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AND</a:t>
            </a:r>
          </a:p>
          <a:p>
            <a:pPr algn="l"/>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f.product_id</a:t>
            </a:r>
            <a:r>
              <a:rPr lang="en-US" sz="2000" dirty="0">
                <a:solidFill>
                  <a:srgbClr val="000000"/>
                </a:solidFill>
                <a:latin typeface="Consolas" panose="020B0609020204030204" pitchFamily="49" charset="0"/>
              </a:rPr>
              <a:t> = </a:t>
            </a:r>
            <a:r>
              <a:rPr lang="en-US" sz="2000" dirty="0" err="1">
                <a:solidFill>
                  <a:srgbClr val="000000"/>
                </a:solidFill>
                <a:latin typeface="Consolas" panose="020B0609020204030204" pitchFamily="49" charset="0"/>
              </a:rPr>
              <a:t>p.product_id</a:t>
            </a:r>
            <a:endParaRPr lang="en-US" sz="2000" dirty="0">
              <a:solidFill>
                <a:srgbClr val="000000"/>
              </a:solidFill>
              <a:latin typeface="Consolas" panose="020B0609020204030204" pitchFamily="49" charset="0"/>
            </a:endParaRPr>
          </a:p>
          <a:p>
            <a:pPr algn="l"/>
            <a:r>
              <a:rPr lang="en-US" sz="2000" dirty="0">
                <a:solidFill>
                  <a:srgbClr val="800000"/>
                </a:solidFill>
                <a:latin typeface="Consolas" panose="020B0609020204030204" pitchFamily="49" charset="0"/>
              </a:rPr>
              <a:t>GROUP</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BY</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t.month_id</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f.store_id</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p.group_id</a:t>
            </a:r>
            <a:r>
              <a:rPr lang="en-US" sz="2000" dirty="0">
                <a:solidFill>
                  <a:srgbClr val="000000"/>
                </a:solidFill>
                <a:latin typeface="Consolas" panose="020B0609020204030204" pitchFamily="49" charset="0"/>
              </a:rPr>
              <a:t>)</a:t>
            </a:r>
          </a:p>
          <a:p>
            <a:pPr algn="l"/>
            <a:r>
              <a:rPr lang="en-US" sz="2000" dirty="0">
                <a:solidFill>
                  <a:srgbClr val="800000"/>
                </a:solidFill>
                <a:latin typeface="Consolas" panose="020B0609020204030204" pitchFamily="49" charset="0"/>
              </a:rPr>
              <a:t>DATA</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INITIALLY</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DEFERRED</a:t>
            </a:r>
          </a:p>
          <a:p>
            <a:pPr algn="l"/>
            <a:r>
              <a:rPr lang="en-US" sz="2000" dirty="0">
                <a:solidFill>
                  <a:srgbClr val="000000"/>
                </a:solidFill>
                <a:latin typeface="Consolas" panose="020B0609020204030204" pitchFamily="49" charset="0"/>
              </a:rPr>
              <a:t>REFRESH </a:t>
            </a:r>
            <a:r>
              <a:rPr lang="en-US" sz="2000" dirty="0">
                <a:solidFill>
                  <a:srgbClr val="800000"/>
                </a:solidFill>
                <a:latin typeface="Consolas" panose="020B0609020204030204" pitchFamily="49" charset="0"/>
              </a:rPr>
              <a:t>DEFERRED</a:t>
            </a:r>
            <a:r>
              <a:rPr lang="en-US" sz="2000" dirty="0">
                <a:solidFill>
                  <a:srgbClr val="FF0000"/>
                </a:solidFill>
                <a:latin typeface="Consolas" panose="020B0609020204030204" pitchFamily="49" charset="0"/>
              </a:rPr>
              <a:t>;</a:t>
            </a:r>
          </a:p>
          <a:p>
            <a:pPr algn="l"/>
            <a:endParaRPr lang="en-US" sz="2000" dirty="0">
              <a:latin typeface="Consolas" panose="020B0609020204030204" pitchFamily="49" charset="0"/>
            </a:endParaRPr>
          </a:p>
          <a:p>
            <a:pPr algn="l"/>
            <a:r>
              <a:rPr lang="en-US" sz="2000" dirty="0">
                <a:solidFill>
                  <a:srgbClr val="000000"/>
                </a:solidFill>
                <a:latin typeface="Consolas" panose="020B0609020204030204" pitchFamily="49" charset="0"/>
              </a:rPr>
              <a:t>REFRESH </a:t>
            </a:r>
            <a:r>
              <a:rPr lang="en-US" sz="2000" dirty="0">
                <a:solidFill>
                  <a:srgbClr val="800000"/>
                </a:solidFill>
                <a:latin typeface="Consolas" panose="020B0609020204030204" pitchFamily="49" charset="0"/>
              </a:rPr>
              <a:t>TABLE</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MQT_SalesByMthStrGrp</a:t>
            </a:r>
            <a:r>
              <a:rPr lang="en-US" sz="2000" dirty="0">
                <a:solidFill>
                  <a:srgbClr val="FF0000"/>
                </a:solidFill>
                <a:latin typeface="Consolas" panose="020B0609020204030204" pitchFamily="49" charset="0"/>
              </a:rPr>
              <a:t>;</a:t>
            </a:r>
          </a:p>
          <a:p>
            <a:pPr algn="l"/>
            <a:endParaRPr lang="en-US" sz="2000" dirty="0">
              <a:latin typeface="Consolas" panose="020B0609020204030204" pitchFamily="49" charset="0"/>
            </a:endParaRPr>
          </a:p>
          <a:p>
            <a:pPr algn="l"/>
            <a:r>
              <a:rPr lang="en-US" sz="2000" dirty="0">
                <a:solidFill>
                  <a:srgbClr val="000000"/>
                </a:solidFill>
                <a:latin typeface="Consolas" panose="020B0609020204030204" pitchFamily="49" charset="0"/>
              </a:rPr>
              <a:t>RUNSTATS </a:t>
            </a:r>
            <a:r>
              <a:rPr lang="en-US" sz="2000" dirty="0">
                <a:solidFill>
                  <a:srgbClr val="800000"/>
                </a:solidFill>
                <a:latin typeface="Consolas" panose="020B0609020204030204" pitchFamily="49" charset="0"/>
              </a:rPr>
              <a:t>ON</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TABLE</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petrus.MQT_SalesByMthStrGrp</a:t>
            </a:r>
            <a:endParaRPr lang="en-US" sz="2000" dirty="0">
              <a:solidFill>
                <a:srgbClr val="000000"/>
              </a:solidFill>
              <a:latin typeface="Consolas" panose="020B0609020204030204" pitchFamily="49" charset="0"/>
            </a:endParaRPr>
          </a:p>
          <a:p>
            <a:pPr algn="l"/>
            <a:r>
              <a:rPr lang="en-US" sz="2000" dirty="0">
                <a:solidFill>
                  <a:srgbClr val="800000"/>
                </a:solidFill>
                <a:latin typeface="Consolas" panose="020B0609020204030204" pitchFamily="49" charset="0"/>
              </a:rPr>
              <a:t>WITH</a:t>
            </a:r>
            <a:r>
              <a:rPr lang="en-US" sz="2000" dirty="0">
                <a:solidFill>
                  <a:srgbClr val="000000"/>
                </a:solidFill>
                <a:latin typeface="Consolas" panose="020B0609020204030204" pitchFamily="49" charset="0"/>
              </a:rPr>
              <a:t> DISTRIBUTION </a:t>
            </a:r>
            <a:r>
              <a:rPr lang="en-US" sz="2000" dirty="0">
                <a:solidFill>
                  <a:srgbClr val="800000"/>
                </a:solidFill>
                <a:latin typeface="Consolas" panose="020B0609020204030204" pitchFamily="49" charset="0"/>
              </a:rPr>
              <a:t>AND</a:t>
            </a:r>
            <a:r>
              <a:rPr lang="en-US" sz="2000" dirty="0">
                <a:solidFill>
                  <a:srgbClr val="000000"/>
                </a:solidFill>
                <a:latin typeface="Consolas" panose="020B0609020204030204" pitchFamily="49" charset="0"/>
              </a:rPr>
              <a:t> DETAILED INDEXES </a:t>
            </a:r>
            <a:r>
              <a:rPr lang="en-US" sz="2000" dirty="0">
                <a:solidFill>
                  <a:srgbClr val="800000"/>
                </a:solidFill>
                <a:latin typeface="Consolas" panose="020B0609020204030204" pitchFamily="49" charset="0"/>
              </a:rPr>
              <a:t>ALL</a:t>
            </a:r>
            <a:r>
              <a:rPr lang="en-US" sz="2000" dirty="0">
                <a:solidFill>
                  <a:srgbClr val="FF0000"/>
                </a:solidFill>
                <a:latin typeface="Consolas" panose="020B0609020204030204" pitchFamily="49" charset="0"/>
              </a:rPr>
              <a:t>;</a:t>
            </a:r>
            <a:endParaRPr lang="en-US" sz="2000" dirty="0">
              <a:latin typeface="Consolas" panose="020B0609020204030204" pitchFamily="49" charset="0"/>
            </a:endParaRPr>
          </a:p>
        </p:txBody>
      </p:sp>
      <p:sp>
        <p:nvSpPr>
          <p:cNvPr id="2" name="TextBox 1">
            <a:extLst>
              <a:ext uri="{FF2B5EF4-FFF2-40B4-BE49-F238E27FC236}">
                <a16:creationId xmlns:a16="http://schemas.microsoft.com/office/drawing/2014/main" id="{B58C1F66-921B-71B0-1630-7E8C422B7811}"/>
              </a:ext>
            </a:extLst>
          </p:cNvPr>
          <p:cNvSpPr txBox="1">
            <a:spLocks noChangeArrowheads="1"/>
          </p:cNvSpPr>
          <p:nvPr/>
        </p:nvSpPr>
        <p:spPr bwMode="auto">
          <a:xfrm>
            <a:off x="76200" y="6430064"/>
            <a:ext cx="2066976"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Materialized views</a:t>
            </a:r>
          </a:p>
        </p:txBody>
      </p:sp>
    </p:spTree>
    <p:extLst>
      <p:ext uri="{BB962C8B-B14F-4D97-AF65-F5344CB8AC3E}">
        <p14:creationId xmlns:p14="http://schemas.microsoft.com/office/powerpoint/2010/main" val="10869213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MQTs</a:t>
            </a:r>
          </a:p>
        </p:txBody>
      </p:sp>
      <p:sp>
        <p:nvSpPr>
          <p:cNvPr id="4" name="Content Placeholder 3">
            <a:extLst>
              <a:ext uri="{FF2B5EF4-FFF2-40B4-BE49-F238E27FC236}">
                <a16:creationId xmlns:a16="http://schemas.microsoft.com/office/drawing/2014/main" id="{37B439A6-7C7C-879A-1634-FF61C91B905C}"/>
              </a:ext>
            </a:extLst>
          </p:cNvPr>
          <p:cNvSpPr>
            <a:spLocks noGrp="1"/>
          </p:cNvSpPr>
          <p:nvPr>
            <p:ph idx="1"/>
          </p:nvPr>
        </p:nvSpPr>
        <p:spPr/>
        <p:txBody>
          <a:bodyPr/>
          <a:lstStyle/>
          <a:p>
            <a:endParaRPr lang="en-US"/>
          </a:p>
        </p:txBody>
      </p:sp>
      <p:pic>
        <p:nvPicPr>
          <p:cNvPr id="5" name="Picture 4"/>
          <p:cNvPicPr>
            <a:picLocks noChangeAspect="1"/>
          </p:cNvPicPr>
          <p:nvPr/>
        </p:nvPicPr>
        <p:blipFill>
          <a:blip r:embed="rId3"/>
          <a:stretch>
            <a:fillRect/>
          </a:stretch>
        </p:blipFill>
        <p:spPr>
          <a:xfrm>
            <a:off x="1447800" y="491749"/>
            <a:ext cx="8385425" cy="5874502"/>
          </a:xfrm>
          <a:prstGeom prst="rect">
            <a:avLst/>
          </a:prstGeom>
        </p:spPr>
      </p:pic>
      <p:sp>
        <p:nvSpPr>
          <p:cNvPr id="3" name="TextBox 2">
            <a:extLst>
              <a:ext uri="{FF2B5EF4-FFF2-40B4-BE49-F238E27FC236}">
                <a16:creationId xmlns:a16="http://schemas.microsoft.com/office/drawing/2014/main" id="{1F18E9BD-B28E-8CB0-BCED-0779CEF4E333}"/>
              </a:ext>
            </a:extLst>
          </p:cNvPr>
          <p:cNvSpPr txBox="1">
            <a:spLocks noChangeArrowheads="1"/>
          </p:cNvSpPr>
          <p:nvPr/>
        </p:nvSpPr>
        <p:spPr bwMode="auto">
          <a:xfrm>
            <a:off x="76200" y="6430064"/>
            <a:ext cx="2066976"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Materialized views</a:t>
            </a:r>
          </a:p>
        </p:txBody>
      </p:sp>
      <p:sp>
        <p:nvSpPr>
          <p:cNvPr id="6" name="TextBox 5">
            <a:extLst>
              <a:ext uri="{FF2B5EF4-FFF2-40B4-BE49-F238E27FC236}">
                <a16:creationId xmlns:a16="http://schemas.microsoft.com/office/drawing/2014/main" id="{478622B2-7956-38EE-885F-9588109387A2}"/>
              </a:ext>
            </a:extLst>
          </p:cNvPr>
          <p:cNvSpPr txBox="1"/>
          <p:nvPr/>
        </p:nvSpPr>
        <p:spPr>
          <a:xfrm>
            <a:off x="4572001" y="5867400"/>
            <a:ext cx="7543800" cy="369332"/>
          </a:xfrm>
          <a:prstGeom prst="rect">
            <a:avLst/>
          </a:prstGeom>
          <a:noFill/>
        </p:spPr>
        <p:txBody>
          <a:bodyPr wrap="square">
            <a:spAutoFit/>
          </a:bodyPr>
          <a:lstStyle/>
          <a:p>
            <a:r>
              <a:rPr lang="en-US" dirty="0">
                <a:hlinkClick r:id="rId4"/>
              </a:rPr>
              <a:t>https://www.ibm.com/docs/en/db2/12.1?topic=tables-materialized-query</a:t>
            </a:r>
            <a:endParaRPr lang="en-US" dirty="0"/>
          </a:p>
        </p:txBody>
      </p:sp>
    </p:spTree>
    <p:extLst>
      <p:ext uri="{BB962C8B-B14F-4D97-AF65-F5344CB8AC3E}">
        <p14:creationId xmlns:p14="http://schemas.microsoft.com/office/powerpoint/2010/main" val="4210833759"/>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Incremental Maintenance: Apply Changes Immediately</a:t>
            </a:r>
          </a:p>
        </p:txBody>
      </p:sp>
      <p:pic>
        <p:nvPicPr>
          <p:cNvPr id="5" name="Picture 4"/>
          <p:cNvPicPr>
            <a:picLocks noChangeAspect="1"/>
          </p:cNvPicPr>
          <p:nvPr/>
        </p:nvPicPr>
        <p:blipFill>
          <a:blip r:embed="rId2"/>
          <a:stretch>
            <a:fillRect/>
          </a:stretch>
        </p:blipFill>
        <p:spPr>
          <a:xfrm>
            <a:off x="1447800" y="887270"/>
            <a:ext cx="8809484" cy="5468586"/>
          </a:xfrm>
          <a:prstGeom prst="rect">
            <a:avLst/>
          </a:prstGeom>
        </p:spPr>
      </p:pic>
      <p:sp>
        <p:nvSpPr>
          <p:cNvPr id="3" name="TextBox 2">
            <a:extLst>
              <a:ext uri="{FF2B5EF4-FFF2-40B4-BE49-F238E27FC236}">
                <a16:creationId xmlns:a16="http://schemas.microsoft.com/office/drawing/2014/main" id="{0489C16B-8107-8817-0FF7-47262B563EC2}"/>
              </a:ext>
            </a:extLst>
          </p:cNvPr>
          <p:cNvSpPr txBox="1">
            <a:spLocks noChangeArrowheads="1"/>
          </p:cNvSpPr>
          <p:nvPr/>
        </p:nvSpPr>
        <p:spPr bwMode="auto">
          <a:xfrm>
            <a:off x="76200" y="6430064"/>
            <a:ext cx="2066976"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Materialized views</a:t>
            </a:r>
          </a:p>
        </p:txBody>
      </p:sp>
    </p:spTree>
    <p:extLst>
      <p:ext uri="{BB962C8B-B14F-4D97-AF65-F5344CB8AC3E}">
        <p14:creationId xmlns:p14="http://schemas.microsoft.com/office/powerpoint/2010/main" val="4045837485"/>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Maintenance: </a:t>
            </a:r>
            <a:r>
              <a:rPr lang="en-US" kern="0" dirty="0"/>
              <a:t>Fully Rebuilt by Re-evaluating Query</a:t>
            </a:r>
            <a:endParaRPr lang="en-US" dirty="0"/>
          </a:p>
        </p:txBody>
      </p:sp>
      <p:sp>
        <p:nvSpPr>
          <p:cNvPr id="103" name="Content Placeholder 2"/>
          <p:cNvSpPr txBox="1">
            <a:spLocks/>
          </p:cNvSpPr>
          <p:nvPr/>
        </p:nvSpPr>
        <p:spPr bwMode="auto">
          <a:xfrm>
            <a:off x="180547" y="887270"/>
            <a:ext cx="7065812" cy="5816744"/>
          </a:xfrm>
          <a:prstGeom prst="rect">
            <a:avLst/>
          </a:prstGeom>
          <a:noFill/>
          <a:ln w="9525">
            <a:noFill/>
            <a:miter lim="800000"/>
            <a:headEnd/>
            <a:tailEnd/>
          </a:ln>
        </p:spPr>
        <p:txBody>
          <a:bodyPr vert="horz" wrap="square" lIns="0" tIns="0" rIns="91440" bIns="45720" numCol="1" anchor="t" anchorCtr="0" compatLnSpc="1">
            <a:prstTxWarp prst="textNoShape">
              <a:avLst/>
            </a:prstTxWarp>
          </a:bodyPr>
          <a:lstStyle>
            <a:lvl1pPr marL="342900" indent="-342900" algn="l" rtl="0" eaLnBrk="1" fontAlgn="base" hangingPunct="1">
              <a:spcBef>
                <a:spcPct val="20000"/>
              </a:spcBef>
              <a:spcAft>
                <a:spcPts val="300"/>
              </a:spcAft>
              <a:buChar char="•"/>
              <a:defRPr sz="2400">
                <a:solidFill>
                  <a:schemeClr val="tx1"/>
                </a:solidFill>
                <a:latin typeface="Verdana" pitchFamily="34" charset="0"/>
                <a:ea typeface="+mn-ea"/>
                <a:cs typeface="+mn-cs"/>
              </a:defRPr>
            </a:lvl1pPr>
            <a:lvl2pPr marL="742950" indent="-285750" algn="l" rtl="0" eaLnBrk="1" fontAlgn="base" hangingPunct="1">
              <a:spcBef>
                <a:spcPct val="20000"/>
              </a:spcBef>
              <a:spcAft>
                <a:spcPts val="300"/>
              </a:spcAft>
              <a:buChar char="–"/>
              <a:defRPr sz="2200">
                <a:solidFill>
                  <a:schemeClr val="tx1"/>
                </a:solidFill>
                <a:latin typeface="Verdana" pitchFamily="34" charset="0"/>
              </a:defRPr>
            </a:lvl2pPr>
            <a:lvl3pPr marL="1143000" indent="-228600" algn="l" rtl="0" eaLnBrk="1" fontAlgn="base" hangingPunct="1">
              <a:spcBef>
                <a:spcPct val="20000"/>
              </a:spcBef>
              <a:spcAft>
                <a:spcPts val="300"/>
              </a:spcAft>
              <a:buChar char="•"/>
              <a:defRPr>
                <a:solidFill>
                  <a:schemeClr val="tx1"/>
                </a:solidFill>
                <a:latin typeface="Verdana" pitchFamily="34" charset="0"/>
              </a:defRPr>
            </a:lvl3pPr>
            <a:lvl4pPr marL="1600200" indent="-228600" algn="l" rtl="0" eaLnBrk="1" fontAlgn="base" hangingPunct="1">
              <a:spcBef>
                <a:spcPct val="20000"/>
              </a:spcBef>
              <a:spcAft>
                <a:spcPts val="300"/>
              </a:spcAft>
              <a:buChar char="–"/>
              <a:defRPr sz="1600">
                <a:solidFill>
                  <a:schemeClr val="tx1"/>
                </a:solidFill>
                <a:latin typeface="Verdana" pitchFamily="34" charset="0"/>
              </a:defRPr>
            </a:lvl4pPr>
            <a:lvl5pPr marL="2057400" indent="-228600" algn="l" rtl="0" eaLnBrk="1" fontAlgn="base" hangingPunct="1">
              <a:spcBef>
                <a:spcPct val="20000"/>
              </a:spcBef>
              <a:spcAft>
                <a:spcPts val="300"/>
              </a:spcAft>
              <a:buChar char="»"/>
              <a:defRPr sz="1500">
                <a:solidFill>
                  <a:srgbClr val="003399"/>
                </a:solidFill>
                <a:latin typeface="Verdana" pitchFamily="34" charset="0"/>
              </a:defRPr>
            </a:lvl5pPr>
            <a:lvl6pPr marL="2514600" indent="-228600" algn="l" rtl="0" eaLnBrk="1" fontAlgn="base" hangingPunct="1">
              <a:spcBef>
                <a:spcPct val="20000"/>
              </a:spcBef>
              <a:spcAft>
                <a:spcPct val="0"/>
              </a:spcAft>
              <a:buChar char="»"/>
              <a:defRPr sz="1500">
                <a:solidFill>
                  <a:srgbClr val="003399"/>
                </a:solidFill>
                <a:latin typeface="Siemens Sans" pitchFamily="2" charset="0"/>
              </a:defRPr>
            </a:lvl6pPr>
            <a:lvl7pPr marL="2971800" indent="-228600" algn="l" rtl="0" eaLnBrk="1" fontAlgn="base" hangingPunct="1">
              <a:spcBef>
                <a:spcPct val="20000"/>
              </a:spcBef>
              <a:spcAft>
                <a:spcPct val="0"/>
              </a:spcAft>
              <a:buChar char="»"/>
              <a:defRPr sz="1500">
                <a:solidFill>
                  <a:srgbClr val="003399"/>
                </a:solidFill>
                <a:latin typeface="Siemens Sans" pitchFamily="2" charset="0"/>
              </a:defRPr>
            </a:lvl7pPr>
            <a:lvl8pPr marL="3429000" indent="-228600" algn="l" rtl="0" eaLnBrk="1" fontAlgn="base" hangingPunct="1">
              <a:spcBef>
                <a:spcPct val="20000"/>
              </a:spcBef>
              <a:spcAft>
                <a:spcPct val="0"/>
              </a:spcAft>
              <a:buChar char="»"/>
              <a:defRPr sz="1500">
                <a:solidFill>
                  <a:srgbClr val="003399"/>
                </a:solidFill>
                <a:latin typeface="Siemens Sans" pitchFamily="2" charset="0"/>
              </a:defRPr>
            </a:lvl8pPr>
            <a:lvl9pPr marL="3886200" indent="-228600" algn="l" rtl="0" eaLnBrk="1" fontAlgn="base" hangingPunct="1">
              <a:spcBef>
                <a:spcPct val="20000"/>
              </a:spcBef>
              <a:spcAft>
                <a:spcPct val="0"/>
              </a:spcAft>
              <a:buChar char="»"/>
              <a:defRPr sz="1500">
                <a:solidFill>
                  <a:srgbClr val="003399"/>
                </a:solidFill>
                <a:latin typeface="Siemens Sans" pitchFamily="2" charset="0"/>
              </a:defRPr>
            </a:lvl9pPr>
          </a:lstStyle>
          <a:p>
            <a:pPr>
              <a:spcAft>
                <a:spcPct val="40000"/>
              </a:spcAft>
            </a:pPr>
            <a:r>
              <a:rPr lang="en-US" kern="0" dirty="0"/>
              <a:t>MQTs are fully rebuilt by re-evaluating the query in the MQT definition</a:t>
            </a:r>
          </a:p>
          <a:p>
            <a:pPr>
              <a:spcAft>
                <a:spcPct val="40000"/>
              </a:spcAft>
            </a:pPr>
            <a:r>
              <a:rPr lang="en-US" kern="0" dirty="0"/>
              <a:t>REFRESH DEFERRED MQTs (without staging table):</a:t>
            </a:r>
          </a:p>
          <a:p>
            <a:pPr lvl="1">
              <a:spcAft>
                <a:spcPct val="40000"/>
              </a:spcAft>
            </a:pPr>
            <a:r>
              <a:rPr lang="en-US" kern="0" dirty="0"/>
              <a:t>not maintained during INSERT/UPDATE/DELETE operations on the base table. </a:t>
            </a:r>
          </a:p>
          <a:p>
            <a:pPr lvl="1">
              <a:spcAft>
                <a:spcPct val="40000"/>
              </a:spcAft>
            </a:pPr>
            <a:r>
              <a:rPr lang="en-US" kern="0" dirty="0"/>
              <a:t>synchronized with base table using the </a:t>
            </a:r>
            <a:r>
              <a:rPr lang="en-US" b="1" kern="0" dirty="0"/>
              <a:t>REFRESH TABLE</a:t>
            </a:r>
            <a:r>
              <a:rPr lang="en-US" kern="0" dirty="0"/>
              <a:t> statement</a:t>
            </a:r>
            <a:endParaRPr lang="en-US" sz="1800" kern="0" dirty="0"/>
          </a:p>
          <a:p>
            <a:endParaRPr lang="en-US" kern="0" dirty="0"/>
          </a:p>
        </p:txBody>
      </p:sp>
      <p:sp>
        <p:nvSpPr>
          <p:cNvPr id="104" name="Freeform 4"/>
          <p:cNvSpPr>
            <a:spLocks/>
          </p:cNvSpPr>
          <p:nvPr/>
        </p:nvSpPr>
        <p:spPr bwMode="auto">
          <a:xfrm>
            <a:off x="8602662" y="4140201"/>
            <a:ext cx="460375" cy="593725"/>
          </a:xfrm>
          <a:custGeom>
            <a:avLst/>
            <a:gdLst>
              <a:gd name="T0" fmla="*/ 0 w 548"/>
              <a:gd name="T1" fmla="*/ 149082 h 912"/>
              <a:gd name="T2" fmla="*/ 114254 w 548"/>
              <a:gd name="T3" fmla="*/ 149082 h 912"/>
              <a:gd name="T4" fmla="*/ 114254 w 548"/>
              <a:gd name="T5" fmla="*/ 593725 h 912"/>
              <a:gd name="T6" fmla="*/ 344441 w 548"/>
              <a:gd name="T7" fmla="*/ 593725 h 912"/>
              <a:gd name="T8" fmla="*/ 344441 w 548"/>
              <a:gd name="T9" fmla="*/ 149082 h 912"/>
              <a:gd name="T10" fmla="*/ 460375 w 548"/>
              <a:gd name="T11" fmla="*/ 149082 h 912"/>
              <a:gd name="T12" fmla="*/ 230188 w 548"/>
              <a:gd name="T13" fmla="*/ 0 h 912"/>
              <a:gd name="T14" fmla="*/ 0 w 548"/>
              <a:gd name="T15" fmla="*/ 149082 h 91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48" h="912">
                <a:moveTo>
                  <a:pt x="0" y="229"/>
                </a:moveTo>
                <a:lnTo>
                  <a:pt x="136" y="229"/>
                </a:lnTo>
                <a:lnTo>
                  <a:pt x="136" y="912"/>
                </a:lnTo>
                <a:lnTo>
                  <a:pt x="410" y="912"/>
                </a:lnTo>
                <a:lnTo>
                  <a:pt x="410" y="229"/>
                </a:lnTo>
                <a:lnTo>
                  <a:pt x="548" y="229"/>
                </a:lnTo>
                <a:lnTo>
                  <a:pt x="274" y="0"/>
                </a:lnTo>
                <a:lnTo>
                  <a:pt x="0" y="229"/>
                </a:lnTo>
                <a:close/>
              </a:path>
            </a:pathLst>
          </a:custGeom>
          <a:solidFill>
            <a:srgbClr val="CC3300"/>
          </a:solidFill>
          <a:ln w="7938">
            <a:solidFill>
              <a:srgbClr val="000000"/>
            </a:solidFill>
            <a:prstDash val="solid"/>
            <a:round/>
            <a:headEnd/>
            <a:tailEnd/>
          </a:ln>
        </p:spPr>
        <p:txBody>
          <a:bodyPr/>
          <a:lstStyle/>
          <a:p>
            <a:endParaRPr lang="en-US" sz="2800"/>
          </a:p>
        </p:txBody>
      </p:sp>
      <p:sp>
        <p:nvSpPr>
          <p:cNvPr id="105" name="Freeform 7"/>
          <p:cNvSpPr>
            <a:spLocks/>
          </p:cNvSpPr>
          <p:nvPr/>
        </p:nvSpPr>
        <p:spPr bwMode="auto">
          <a:xfrm>
            <a:off x="8448675" y="1625601"/>
            <a:ext cx="820737" cy="461963"/>
          </a:xfrm>
          <a:custGeom>
            <a:avLst/>
            <a:gdLst>
              <a:gd name="T0" fmla="*/ 410369 w 688"/>
              <a:gd name="T1" fmla="*/ 0 h 707"/>
              <a:gd name="T2" fmla="*/ 326863 w 688"/>
              <a:gd name="T3" fmla="*/ 1307 h 707"/>
              <a:gd name="T4" fmla="*/ 250516 w 688"/>
              <a:gd name="T5" fmla="*/ 5227 h 707"/>
              <a:gd name="T6" fmla="*/ 215921 w 688"/>
              <a:gd name="T7" fmla="*/ 7188 h 707"/>
              <a:gd name="T8" fmla="*/ 182519 w 688"/>
              <a:gd name="T9" fmla="*/ 9801 h 707"/>
              <a:gd name="T10" fmla="*/ 150309 w 688"/>
              <a:gd name="T11" fmla="*/ 13722 h 707"/>
              <a:gd name="T12" fmla="*/ 120486 w 688"/>
              <a:gd name="T13" fmla="*/ 17642 h 707"/>
              <a:gd name="T14" fmla="*/ 94242 w 688"/>
              <a:gd name="T15" fmla="*/ 21563 h 707"/>
              <a:gd name="T16" fmla="*/ 70383 w 688"/>
              <a:gd name="T17" fmla="*/ 26137 h 707"/>
              <a:gd name="T18" fmla="*/ 50103 w 688"/>
              <a:gd name="T19" fmla="*/ 30057 h 707"/>
              <a:gd name="T20" fmla="*/ 32209 w 688"/>
              <a:gd name="T21" fmla="*/ 35938 h 707"/>
              <a:gd name="T22" fmla="*/ 19087 w 688"/>
              <a:gd name="T23" fmla="*/ 41165 h 707"/>
              <a:gd name="T24" fmla="*/ 9543 w 688"/>
              <a:gd name="T25" fmla="*/ 47046 h 707"/>
              <a:gd name="T26" fmla="*/ 2386 w 688"/>
              <a:gd name="T27" fmla="*/ 52273 h 707"/>
              <a:gd name="T28" fmla="*/ 0 w 688"/>
              <a:gd name="T29" fmla="*/ 58154 h 707"/>
              <a:gd name="T30" fmla="*/ 0 w 688"/>
              <a:gd name="T31" fmla="*/ 403809 h 707"/>
              <a:gd name="T32" fmla="*/ 2386 w 688"/>
              <a:gd name="T33" fmla="*/ 409690 h 707"/>
              <a:gd name="T34" fmla="*/ 9543 w 688"/>
              <a:gd name="T35" fmla="*/ 415571 h 707"/>
              <a:gd name="T36" fmla="*/ 19087 w 688"/>
              <a:gd name="T37" fmla="*/ 421451 h 707"/>
              <a:gd name="T38" fmla="*/ 32209 w 688"/>
              <a:gd name="T39" fmla="*/ 426025 h 707"/>
              <a:gd name="T40" fmla="*/ 50103 w 688"/>
              <a:gd name="T41" fmla="*/ 431906 h 707"/>
              <a:gd name="T42" fmla="*/ 70383 w 688"/>
              <a:gd name="T43" fmla="*/ 437133 h 707"/>
              <a:gd name="T44" fmla="*/ 94242 w 688"/>
              <a:gd name="T45" fmla="*/ 441054 h 707"/>
              <a:gd name="T46" fmla="*/ 120486 w 688"/>
              <a:gd name="T47" fmla="*/ 444974 h 707"/>
              <a:gd name="T48" fmla="*/ 150309 w 688"/>
              <a:gd name="T49" fmla="*/ 448895 h 707"/>
              <a:gd name="T50" fmla="*/ 182519 w 688"/>
              <a:gd name="T51" fmla="*/ 452815 h 707"/>
              <a:gd name="T52" fmla="*/ 215921 w 688"/>
              <a:gd name="T53" fmla="*/ 455429 h 707"/>
              <a:gd name="T54" fmla="*/ 250516 w 688"/>
              <a:gd name="T55" fmla="*/ 457389 h 707"/>
              <a:gd name="T56" fmla="*/ 326863 w 688"/>
              <a:gd name="T57" fmla="*/ 461310 h 707"/>
              <a:gd name="T58" fmla="*/ 410369 w 688"/>
              <a:gd name="T59" fmla="*/ 461963 h 707"/>
              <a:gd name="T60" fmla="*/ 493874 w 688"/>
              <a:gd name="T61" fmla="*/ 461310 h 707"/>
              <a:gd name="T62" fmla="*/ 571414 w 688"/>
              <a:gd name="T63" fmla="*/ 457389 h 707"/>
              <a:gd name="T64" fmla="*/ 607202 w 688"/>
              <a:gd name="T65" fmla="*/ 455429 h 707"/>
              <a:gd name="T66" fmla="*/ 639411 w 688"/>
              <a:gd name="T67" fmla="*/ 452815 h 707"/>
              <a:gd name="T68" fmla="*/ 671621 w 688"/>
              <a:gd name="T69" fmla="*/ 448895 h 707"/>
              <a:gd name="T70" fmla="*/ 701444 w 688"/>
              <a:gd name="T71" fmla="*/ 444974 h 707"/>
              <a:gd name="T72" fmla="*/ 726495 w 688"/>
              <a:gd name="T73" fmla="*/ 441054 h 707"/>
              <a:gd name="T74" fmla="*/ 750354 w 688"/>
              <a:gd name="T75" fmla="*/ 437133 h 707"/>
              <a:gd name="T76" fmla="*/ 771827 w 688"/>
              <a:gd name="T77" fmla="*/ 431906 h 707"/>
              <a:gd name="T78" fmla="*/ 788528 w 688"/>
              <a:gd name="T79" fmla="*/ 426025 h 707"/>
              <a:gd name="T80" fmla="*/ 801650 w 688"/>
              <a:gd name="T81" fmla="*/ 421451 h 707"/>
              <a:gd name="T82" fmla="*/ 812386 w 688"/>
              <a:gd name="T83" fmla="*/ 415571 h 707"/>
              <a:gd name="T84" fmla="*/ 819544 w 688"/>
              <a:gd name="T85" fmla="*/ 409690 h 707"/>
              <a:gd name="T86" fmla="*/ 820737 w 688"/>
              <a:gd name="T87" fmla="*/ 403809 h 707"/>
              <a:gd name="T88" fmla="*/ 820737 w 688"/>
              <a:gd name="T89" fmla="*/ 58154 h 707"/>
              <a:gd name="T90" fmla="*/ 819544 w 688"/>
              <a:gd name="T91" fmla="*/ 52273 h 707"/>
              <a:gd name="T92" fmla="*/ 812386 w 688"/>
              <a:gd name="T93" fmla="*/ 47046 h 707"/>
              <a:gd name="T94" fmla="*/ 801650 w 688"/>
              <a:gd name="T95" fmla="*/ 41165 h 707"/>
              <a:gd name="T96" fmla="*/ 788528 w 688"/>
              <a:gd name="T97" fmla="*/ 35938 h 707"/>
              <a:gd name="T98" fmla="*/ 771827 w 688"/>
              <a:gd name="T99" fmla="*/ 30057 h 707"/>
              <a:gd name="T100" fmla="*/ 750354 w 688"/>
              <a:gd name="T101" fmla="*/ 26137 h 707"/>
              <a:gd name="T102" fmla="*/ 726495 w 688"/>
              <a:gd name="T103" fmla="*/ 21563 h 707"/>
              <a:gd name="T104" fmla="*/ 701444 w 688"/>
              <a:gd name="T105" fmla="*/ 17642 h 707"/>
              <a:gd name="T106" fmla="*/ 671621 w 688"/>
              <a:gd name="T107" fmla="*/ 13722 h 707"/>
              <a:gd name="T108" fmla="*/ 639411 w 688"/>
              <a:gd name="T109" fmla="*/ 9801 h 707"/>
              <a:gd name="T110" fmla="*/ 607202 w 688"/>
              <a:gd name="T111" fmla="*/ 7188 h 707"/>
              <a:gd name="T112" fmla="*/ 571414 w 688"/>
              <a:gd name="T113" fmla="*/ 5227 h 707"/>
              <a:gd name="T114" fmla="*/ 493874 w 688"/>
              <a:gd name="T115" fmla="*/ 1307 h 707"/>
              <a:gd name="T116" fmla="*/ 410369 w 688"/>
              <a:gd name="T117" fmla="*/ 0 h 70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688" h="707">
                <a:moveTo>
                  <a:pt x="344" y="0"/>
                </a:moveTo>
                <a:lnTo>
                  <a:pt x="274" y="2"/>
                </a:lnTo>
                <a:lnTo>
                  <a:pt x="210" y="8"/>
                </a:lnTo>
                <a:lnTo>
                  <a:pt x="181" y="11"/>
                </a:lnTo>
                <a:lnTo>
                  <a:pt x="153" y="15"/>
                </a:lnTo>
                <a:lnTo>
                  <a:pt x="126" y="21"/>
                </a:lnTo>
                <a:lnTo>
                  <a:pt x="101" y="27"/>
                </a:lnTo>
                <a:lnTo>
                  <a:pt x="79" y="33"/>
                </a:lnTo>
                <a:lnTo>
                  <a:pt x="59" y="40"/>
                </a:lnTo>
                <a:lnTo>
                  <a:pt x="42" y="46"/>
                </a:lnTo>
                <a:lnTo>
                  <a:pt x="27" y="55"/>
                </a:lnTo>
                <a:lnTo>
                  <a:pt x="16" y="63"/>
                </a:lnTo>
                <a:lnTo>
                  <a:pt x="8" y="72"/>
                </a:lnTo>
                <a:lnTo>
                  <a:pt x="2" y="80"/>
                </a:lnTo>
                <a:lnTo>
                  <a:pt x="0" y="89"/>
                </a:lnTo>
                <a:lnTo>
                  <a:pt x="0" y="618"/>
                </a:lnTo>
                <a:lnTo>
                  <a:pt x="2" y="627"/>
                </a:lnTo>
                <a:lnTo>
                  <a:pt x="8" y="636"/>
                </a:lnTo>
                <a:lnTo>
                  <a:pt x="16" y="645"/>
                </a:lnTo>
                <a:lnTo>
                  <a:pt x="27" y="652"/>
                </a:lnTo>
                <a:lnTo>
                  <a:pt x="42" y="661"/>
                </a:lnTo>
                <a:lnTo>
                  <a:pt x="59" y="669"/>
                </a:lnTo>
                <a:lnTo>
                  <a:pt x="79" y="675"/>
                </a:lnTo>
                <a:lnTo>
                  <a:pt x="101" y="681"/>
                </a:lnTo>
                <a:lnTo>
                  <a:pt x="126" y="687"/>
                </a:lnTo>
                <a:lnTo>
                  <a:pt x="153" y="693"/>
                </a:lnTo>
                <a:lnTo>
                  <a:pt x="181" y="697"/>
                </a:lnTo>
                <a:lnTo>
                  <a:pt x="210" y="700"/>
                </a:lnTo>
                <a:lnTo>
                  <a:pt x="274" y="706"/>
                </a:lnTo>
                <a:lnTo>
                  <a:pt x="344" y="707"/>
                </a:lnTo>
                <a:lnTo>
                  <a:pt x="414" y="706"/>
                </a:lnTo>
                <a:lnTo>
                  <a:pt x="479" y="700"/>
                </a:lnTo>
                <a:lnTo>
                  <a:pt x="509" y="697"/>
                </a:lnTo>
                <a:lnTo>
                  <a:pt x="536" y="693"/>
                </a:lnTo>
                <a:lnTo>
                  <a:pt x="563" y="687"/>
                </a:lnTo>
                <a:lnTo>
                  <a:pt x="588" y="681"/>
                </a:lnTo>
                <a:lnTo>
                  <a:pt x="609" y="675"/>
                </a:lnTo>
                <a:lnTo>
                  <a:pt x="629" y="669"/>
                </a:lnTo>
                <a:lnTo>
                  <a:pt x="647" y="661"/>
                </a:lnTo>
                <a:lnTo>
                  <a:pt x="661" y="652"/>
                </a:lnTo>
                <a:lnTo>
                  <a:pt x="672" y="645"/>
                </a:lnTo>
                <a:lnTo>
                  <a:pt x="681" y="636"/>
                </a:lnTo>
                <a:lnTo>
                  <a:pt x="687" y="627"/>
                </a:lnTo>
                <a:lnTo>
                  <a:pt x="688" y="618"/>
                </a:lnTo>
                <a:lnTo>
                  <a:pt x="688" y="89"/>
                </a:lnTo>
                <a:lnTo>
                  <a:pt x="687" y="80"/>
                </a:lnTo>
                <a:lnTo>
                  <a:pt x="681" y="72"/>
                </a:lnTo>
                <a:lnTo>
                  <a:pt x="672" y="63"/>
                </a:lnTo>
                <a:lnTo>
                  <a:pt x="661" y="55"/>
                </a:lnTo>
                <a:lnTo>
                  <a:pt x="647" y="46"/>
                </a:lnTo>
                <a:lnTo>
                  <a:pt x="629" y="40"/>
                </a:lnTo>
                <a:lnTo>
                  <a:pt x="609" y="33"/>
                </a:lnTo>
                <a:lnTo>
                  <a:pt x="588" y="27"/>
                </a:lnTo>
                <a:lnTo>
                  <a:pt x="563" y="21"/>
                </a:lnTo>
                <a:lnTo>
                  <a:pt x="536" y="15"/>
                </a:lnTo>
                <a:lnTo>
                  <a:pt x="509" y="11"/>
                </a:lnTo>
                <a:lnTo>
                  <a:pt x="479" y="8"/>
                </a:lnTo>
                <a:lnTo>
                  <a:pt x="414" y="2"/>
                </a:lnTo>
                <a:lnTo>
                  <a:pt x="344" y="0"/>
                </a:lnTo>
                <a:close/>
              </a:path>
            </a:pathLst>
          </a:custGeom>
          <a:solidFill>
            <a:srgbClr val="0000FF"/>
          </a:solidFill>
          <a:ln w="7938">
            <a:solidFill>
              <a:srgbClr val="000000"/>
            </a:solidFill>
            <a:prstDash val="solid"/>
            <a:round/>
            <a:headEnd/>
            <a:tailEnd/>
          </a:ln>
        </p:spPr>
        <p:txBody>
          <a:bodyPr/>
          <a:lstStyle/>
          <a:p>
            <a:endParaRPr lang="en-US" sz="2800"/>
          </a:p>
        </p:txBody>
      </p:sp>
      <p:sp>
        <p:nvSpPr>
          <p:cNvPr id="106" name="Rectangle 9"/>
          <p:cNvSpPr>
            <a:spLocks noChangeArrowheads="1"/>
          </p:cNvSpPr>
          <p:nvPr/>
        </p:nvSpPr>
        <p:spPr bwMode="auto">
          <a:xfrm>
            <a:off x="8636000" y="1757364"/>
            <a:ext cx="45525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buClrTx/>
              <a:buFontTx/>
              <a:buNone/>
            </a:pPr>
            <a:r>
              <a:rPr lang="en-US" sz="1600">
                <a:solidFill>
                  <a:schemeClr val="bg1"/>
                </a:solidFill>
                <a:latin typeface="Times New Roman" pitchFamily="18" charset="0"/>
                <a:cs typeface="Times New Roman" pitchFamily="18" charset="0"/>
              </a:rPr>
              <a:t>MQT</a:t>
            </a:r>
            <a:endParaRPr lang="en-US" sz="2800">
              <a:solidFill>
                <a:schemeClr val="bg1"/>
              </a:solidFill>
              <a:latin typeface="Times New Roman" pitchFamily="18" charset="0"/>
              <a:cs typeface="Times New Roman" pitchFamily="18" charset="0"/>
            </a:endParaRPr>
          </a:p>
        </p:txBody>
      </p:sp>
      <p:grpSp>
        <p:nvGrpSpPr>
          <p:cNvPr id="107" name="Group 87"/>
          <p:cNvGrpSpPr>
            <a:grpSpLocks/>
          </p:cNvGrpSpPr>
          <p:nvPr/>
        </p:nvGrpSpPr>
        <p:grpSpPr bwMode="auto">
          <a:xfrm>
            <a:off x="8435974" y="4808537"/>
            <a:ext cx="812834" cy="667665"/>
            <a:chOff x="867" y="2813"/>
            <a:chExt cx="483" cy="513"/>
          </a:xfrm>
        </p:grpSpPr>
        <p:grpSp>
          <p:nvGrpSpPr>
            <p:cNvPr id="108" name="Group 88"/>
            <p:cNvGrpSpPr>
              <a:grpSpLocks/>
            </p:cNvGrpSpPr>
            <p:nvPr/>
          </p:nvGrpSpPr>
          <p:grpSpPr bwMode="auto">
            <a:xfrm>
              <a:off x="867" y="2813"/>
              <a:ext cx="482" cy="508"/>
              <a:chOff x="867" y="2813"/>
              <a:chExt cx="482" cy="508"/>
            </a:xfrm>
          </p:grpSpPr>
          <p:grpSp>
            <p:nvGrpSpPr>
              <p:cNvPr id="175" name="Group 89"/>
              <p:cNvGrpSpPr>
                <a:grpSpLocks/>
              </p:cNvGrpSpPr>
              <p:nvPr/>
            </p:nvGrpSpPr>
            <p:grpSpPr bwMode="auto">
              <a:xfrm>
                <a:off x="867" y="2813"/>
                <a:ext cx="311" cy="359"/>
                <a:chOff x="867" y="2813"/>
                <a:chExt cx="311" cy="359"/>
              </a:xfrm>
            </p:grpSpPr>
            <p:sp>
              <p:nvSpPr>
                <p:cNvPr id="193" name="Freeform 90"/>
                <p:cNvSpPr>
                  <a:spLocks/>
                </p:cNvSpPr>
                <p:nvPr/>
              </p:nvSpPr>
              <p:spPr bwMode="auto">
                <a:xfrm>
                  <a:off x="867" y="2813"/>
                  <a:ext cx="311" cy="359"/>
                </a:xfrm>
                <a:custGeom>
                  <a:avLst/>
                  <a:gdLst>
                    <a:gd name="T0" fmla="*/ 155 w 622"/>
                    <a:gd name="T1" fmla="*/ 0 h 717"/>
                    <a:gd name="T2" fmla="*/ 124 w 622"/>
                    <a:gd name="T3" fmla="*/ 1 h 717"/>
                    <a:gd name="T4" fmla="*/ 95 w 622"/>
                    <a:gd name="T5" fmla="*/ 4 h 717"/>
                    <a:gd name="T6" fmla="*/ 69 w 622"/>
                    <a:gd name="T7" fmla="*/ 8 h 717"/>
                    <a:gd name="T8" fmla="*/ 57 w 622"/>
                    <a:gd name="T9" fmla="*/ 11 h 717"/>
                    <a:gd name="T10" fmla="*/ 46 w 622"/>
                    <a:gd name="T11" fmla="*/ 14 h 717"/>
                    <a:gd name="T12" fmla="*/ 36 w 622"/>
                    <a:gd name="T13" fmla="*/ 17 h 717"/>
                    <a:gd name="T14" fmla="*/ 27 w 622"/>
                    <a:gd name="T15" fmla="*/ 20 h 717"/>
                    <a:gd name="T16" fmla="*/ 19 w 622"/>
                    <a:gd name="T17" fmla="*/ 23 h 717"/>
                    <a:gd name="T18" fmla="*/ 13 w 622"/>
                    <a:gd name="T19" fmla="*/ 28 h 717"/>
                    <a:gd name="T20" fmla="*/ 8 w 622"/>
                    <a:gd name="T21" fmla="*/ 31 h 717"/>
                    <a:gd name="T22" fmla="*/ 4 w 622"/>
                    <a:gd name="T23" fmla="*/ 36 h 717"/>
                    <a:gd name="T24" fmla="*/ 1 w 622"/>
                    <a:gd name="T25" fmla="*/ 40 h 717"/>
                    <a:gd name="T26" fmla="*/ 0 w 622"/>
                    <a:gd name="T27" fmla="*/ 45 h 717"/>
                    <a:gd name="T28" fmla="*/ 0 w 622"/>
                    <a:gd name="T29" fmla="*/ 314 h 717"/>
                    <a:gd name="T30" fmla="*/ 1 w 622"/>
                    <a:gd name="T31" fmla="*/ 318 h 717"/>
                    <a:gd name="T32" fmla="*/ 4 w 622"/>
                    <a:gd name="T33" fmla="*/ 323 h 717"/>
                    <a:gd name="T34" fmla="*/ 8 w 622"/>
                    <a:gd name="T35" fmla="*/ 327 h 717"/>
                    <a:gd name="T36" fmla="*/ 13 w 622"/>
                    <a:gd name="T37" fmla="*/ 332 h 717"/>
                    <a:gd name="T38" fmla="*/ 19 w 622"/>
                    <a:gd name="T39" fmla="*/ 335 h 717"/>
                    <a:gd name="T40" fmla="*/ 27 w 622"/>
                    <a:gd name="T41" fmla="*/ 339 h 717"/>
                    <a:gd name="T42" fmla="*/ 36 w 622"/>
                    <a:gd name="T43" fmla="*/ 343 h 717"/>
                    <a:gd name="T44" fmla="*/ 46 w 622"/>
                    <a:gd name="T45" fmla="*/ 346 h 717"/>
                    <a:gd name="T46" fmla="*/ 57 w 622"/>
                    <a:gd name="T47" fmla="*/ 349 h 717"/>
                    <a:gd name="T48" fmla="*/ 69 w 622"/>
                    <a:gd name="T49" fmla="*/ 352 h 717"/>
                    <a:gd name="T50" fmla="*/ 95 w 622"/>
                    <a:gd name="T51" fmla="*/ 355 h 717"/>
                    <a:gd name="T52" fmla="*/ 124 w 622"/>
                    <a:gd name="T53" fmla="*/ 358 h 717"/>
                    <a:gd name="T54" fmla="*/ 155 w 622"/>
                    <a:gd name="T55" fmla="*/ 359 h 717"/>
                    <a:gd name="T56" fmla="*/ 187 w 622"/>
                    <a:gd name="T57" fmla="*/ 358 h 717"/>
                    <a:gd name="T58" fmla="*/ 216 w 622"/>
                    <a:gd name="T59" fmla="*/ 355 h 717"/>
                    <a:gd name="T60" fmla="*/ 242 w 622"/>
                    <a:gd name="T61" fmla="*/ 352 h 717"/>
                    <a:gd name="T62" fmla="*/ 255 w 622"/>
                    <a:gd name="T63" fmla="*/ 349 h 717"/>
                    <a:gd name="T64" fmla="*/ 266 w 622"/>
                    <a:gd name="T65" fmla="*/ 346 h 717"/>
                    <a:gd name="T66" fmla="*/ 275 w 622"/>
                    <a:gd name="T67" fmla="*/ 343 h 717"/>
                    <a:gd name="T68" fmla="*/ 284 w 622"/>
                    <a:gd name="T69" fmla="*/ 339 h 717"/>
                    <a:gd name="T70" fmla="*/ 292 w 622"/>
                    <a:gd name="T71" fmla="*/ 335 h 717"/>
                    <a:gd name="T72" fmla="*/ 299 w 622"/>
                    <a:gd name="T73" fmla="*/ 332 h 717"/>
                    <a:gd name="T74" fmla="*/ 304 w 622"/>
                    <a:gd name="T75" fmla="*/ 327 h 717"/>
                    <a:gd name="T76" fmla="*/ 308 w 622"/>
                    <a:gd name="T77" fmla="*/ 323 h 717"/>
                    <a:gd name="T78" fmla="*/ 310 w 622"/>
                    <a:gd name="T79" fmla="*/ 318 h 717"/>
                    <a:gd name="T80" fmla="*/ 311 w 622"/>
                    <a:gd name="T81" fmla="*/ 314 h 717"/>
                    <a:gd name="T82" fmla="*/ 311 w 622"/>
                    <a:gd name="T83" fmla="*/ 45 h 717"/>
                    <a:gd name="T84" fmla="*/ 310 w 622"/>
                    <a:gd name="T85" fmla="*/ 40 h 717"/>
                    <a:gd name="T86" fmla="*/ 308 w 622"/>
                    <a:gd name="T87" fmla="*/ 36 h 717"/>
                    <a:gd name="T88" fmla="*/ 304 w 622"/>
                    <a:gd name="T89" fmla="*/ 31 h 717"/>
                    <a:gd name="T90" fmla="*/ 299 w 622"/>
                    <a:gd name="T91" fmla="*/ 28 h 717"/>
                    <a:gd name="T92" fmla="*/ 292 w 622"/>
                    <a:gd name="T93" fmla="*/ 23 h 717"/>
                    <a:gd name="T94" fmla="*/ 284 w 622"/>
                    <a:gd name="T95" fmla="*/ 20 h 717"/>
                    <a:gd name="T96" fmla="*/ 275 w 622"/>
                    <a:gd name="T97" fmla="*/ 17 h 717"/>
                    <a:gd name="T98" fmla="*/ 266 w 622"/>
                    <a:gd name="T99" fmla="*/ 14 h 717"/>
                    <a:gd name="T100" fmla="*/ 255 w 622"/>
                    <a:gd name="T101" fmla="*/ 11 h 717"/>
                    <a:gd name="T102" fmla="*/ 242 w 622"/>
                    <a:gd name="T103" fmla="*/ 8 h 717"/>
                    <a:gd name="T104" fmla="*/ 216 w 622"/>
                    <a:gd name="T105" fmla="*/ 4 h 717"/>
                    <a:gd name="T106" fmla="*/ 187 w 622"/>
                    <a:gd name="T107" fmla="*/ 1 h 717"/>
                    <a:gd name="T108" fmla="*/ 155 w 622"/>
                    <a:gd name="T109" fmla="*/ 0 h 71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7">
                      <a:moveTo>
                        <a:pt x="310" y="0"/>
                      </a:moveTo>
                      <a:lnTo>
                        <a:pt x="248" y="2"/>
                      </a:lnTo>
                      <a:lnTo>
                        <a:pt x="190" y="7"/>
                      </a:lnTo>
                      <a:lnTo>
                        <a:pt x="138" y="15"/>
                      </a:lnTo>
                      <a:lnTo>
                        <a:pt x="113" y="21"/>
                      </a:lnTo>
                      <a:lnTo>
                        <a:pt x="92" y="27"/>
                      </a:lnTo>
                      <a:lnTo>
                        <a:pt x="72" y="33"/>
                      </a:lnTo>
                      <a:lnTo>
                        <a:pt x="54" y="40"/>
                      </a:lnTo>
                      <a:lnTo>
                        <a:pt x="38" y="46"/>
                      </a:lnTo>
                      <a:lnTo>
                        <a:pt x="25" y="55"/>
                      </a:lnTo>
                      <a:lnTo>
                        <a:pt x="15" y="62"/>
                      </a:lnTo>
                      <a:lnTo>
                        <a:pt x="8" y="71"/>
                      </a:lnTo>
                      <a:lnTo>
                        <a:pt x="2" y="80"/>
                      </a:lnTo>
                      <a:lnTo>
                        <a:pt x="0" y="89"/>
                      </a:lnTo>
                      <a:lnTo>
                        <a:pt x="0" y="627"/>
                      </a:lnTo>
                      <a:lnTo>
                        <a:pt x="2" y="636"/>
                      </a:lnTo>
                      <a:lnTo>
                        <a:pt x="8" y="645"/>
                      </a:lnTo>
                      <a:lnTo>
                        <a:pt x="15" y="654"/>
                      </a:lnTo>
                      <a:lnTo>
                        <a:pt x="25" y="663"/>
                      </a:lnTo>
                      <a:lnTo>
                        <a:pt x="38" y="670"/>
                      </a:lnTo>
                      <a:lnTo>
                        <a:pt x="54" y="677"/>
                      </a:lnTo>
                      <a:lnTo>
                        <a:pt x="72" y="685"/>
                      </a:lnTo>
                      <a:lnTo>
                        <a:pt x="92" y="691"/>
                      </a:lnTo>
                      <a:lnTo>
                        <a:pt x="113" y="697"/>
                      </a:lnTo>
                      <a:lnTo>
                        <a:pt x="138" y="703"/>
                      </a:lnTo>
                      <a:lnTo>
                        <a:pt x="190" y="710"/>
                      </a:lnTo>
                      <a:lnTo>
                        <a:pt x="248" y="716"/>
                      </a:lnTo>
                      <a:lnTo>
                        <a:pt x="310" y="717"/>
                      </a:lnTo>
                      <a:lnTo>
                        <a:pt x="373" y="716"/>
                      </a:lnTo>
                      <a:lnTo>
                        <a:pt x="432" y="710"/>
                      </a:lnTo>
                      <a:lnTo>
                        <a:pt x="484" y="703"/>
                      </a:lnTo>
                      <a:lnTo>
                        <a:pt x="509" y="697"/>
                      </a:lnTo>
                      <a:lnTo>
                        <a:pt x="531" y="691"/>
                      </a:lnTo>
                      <a:lnTo>
                        <a:pt x="550" y="685"/>
                      </a:lnTo>
                      <a:lnTo>
                        <a:pt x="568" y="677"/>
                      </a:lnTo>
                      <a:lnTo>
                        <a:pt x="584" y="670"/>
                      </a:lnTo>
                      <a:lnTo>
                        <a:pt x="597" y="663"/>
                      </a:lnTo>
                      <a:lnTo>
                        <a:pt x="608" y="654"/>
                      </a:lnTo>
                      <a:lnTo>
                        <a:pt x="615" y="645"/>
                      </a:lnTo>
                      <a:lnTo>
                        <a:pt x="620" y="636"/>
                      </a:lnTo>
                      <a:lnTo>
                        <a:pt x="622" y="627"/>
                      </a:lnTo>
                      <a:lnTo>
                        <a:pt x="622" y="89"/>
                      </a:lnTo>
                      <a:lnTo>
                        <a:pt x="620" y="80"/>
                      </a:lnTo>
                      <a:lnTo>
                        <a:pt x="615" y="71"/>
                      </a:lnTo>
                      <a:lnTo>
                        <a:pt x="608" y="62"/>
                      </a:lnTo>
                      <a:lnTo>
                        <a:pt x="597" y="55"/>
                      </a:lnTo>
                      <a:lnTo>
                        <a:pt x="584" y="46"/>
                      </a:lnTo>
                      <a:lnTo>
                        <a:pt x="568" y="40"/>
                      </a:lnTo>
                      <a:lnTo>
                        <a:pt x="550" y="33"/>
                      </a:lnTo>
                      <a:lnTo>
                        <a:pt x="531" y="27"/>
                      </a:lnTo>
                      <a:lnTo>
                        <a:pt x="509" y="21"/>
                      </a:lnTo>
                      <a:lnTo>
                        <a:pt x="484" y="15"/>
                      </a:lnTo>
                      <a:lnTo>
                        <a:pt x="432" y="7"/>
                      </a:lnTo>
                      <a:lnTo>
                        <a:pt x="373" y="2"/>
                      </a:lnTo>
                      <a:lnTo>
                        <a:pt x="310" y="0"/>
                      </a:lnTo>
                      <a:close/>
                    </a:path>
                  </a:pathLst>
                </a:custGeom>
                <a:solidFill>
                  <a:srgbClr val="00A0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94" name="Freeform 91"/>
                <p:cNvSpPr>
                  <a:spLocks/>
                </p:cNvSpPr>
                <p:nvPr/>
              </p:nvSpPr>
              <p:spPr bwMode="auto">
                <a:xfrm>
                  <a:off x="867" y="2813"/>
                  <a:ext cx="311" cy="90"/>
                </a:xfrm>
                <a:custGeom>
                  <a:avLst/>
                  <a:gdLst>
                    <a:gd name="T0" fmla="*/ 0 w 622"/>
                    <a:gd name="T1" fmla="*/ 45 h 179"/>
                    <a:gd name="T2" fmla="*/ 1 w 622"/>
                    <a:gd name="T3" fmla="*/ 49 h 179"/>
                    <a:gd name="T4" fmla="*/ 4 w 622"/>
                    <a:gd name="T5" fmla="*/ 54 h 179"/>
                    <a:gd name="T6" fmla="*/ 8 w 622"/>
                    <a:gd name="T7" fmla="*/ 58 h 179"/>
                    <a:gd name="T8" fmla="*/ 13 w 622"/>
                    <a:gd name="T9" fmla="*/ 63 h 179"/>
                    <a:gd name="T10" fmla="*/ 19 w 622"/>
                    <a:gd name="T11" fmla="*/ 66 h 179"/>
                    <a:gd name="T12" fmla="*/ 27 w 622"/>
                    <a:gd name="T13" fmla="*/ 70 h 179"/>
                    <a:gd name="T14" fmla="*/ 36 w 622"/>
                    <a:gd name="T15" fmla="*/ 74 h 179"/>
                    <a:gd name="T16" fmla="*/ 46 w 622"/>
                    <a:gd name="T17" fmla="*/ 77 h 179"/>
                    <a:gd name="T18" fmla="*/ 57 w 622"/>
                    <a:gd name="T19" fmla="*/ 80 h 179"/>
                    <a:gd name="T20" fmla="*/ 69 w 622"/>
                    <a:gd name="T21" fmla="*/ 83 h 179"/>
                    <a:gd name="T22" fmla="*/ 95 w 622"/>
                    <a:gd name="T23" fmla="*/ 86 h 179"/>
                    <a:gd name="T24" fmla="*/ 124 w 622"/>
                    <a:gd name="T25" fmla="*/ 89 h 179"/>
                    <a:gd name="T26" fmla="*/ 155 w 622"/>
                    <a:gd name="T27" fmla="*/ 90 h 179"/>
                    <a:gd name="T28" fmla="*/ 187 w 622"/>
                    <a:gd name="T29" fmla="*/ 89 h 179"/>
                    <a:gd name="T30" fmla="*/ 216 w 622"/>
                    <a:gd name="T31" fmla="*/ 86 h 179"/>
                    <a:gd name="T32" fmla="*/ 242 w 622"/>
                    <a:gd name="T33" fmla="*/ 83 h 179"/>
                    <a:gd name="T34" fmla="*/ 255 w 622"/>
                    <a:gd name="T35" fmla="*/ 80 h 179"/>
                    <a:gd name="T36" fmla="*/ 266 w 622"/>
                    <a:gd name="T37" fmla="*/ 77 h 179"/>
                    <a:gd name="T38" fmla="*/ 275 w 622"/>
                    <a:gd name="T39" fmla="*/ 74 h 179"/>
                    <a:gd name="T40" fmla="*/ 284 w 622"/>
                    <a:gd name="T41" fmla="*/ 70 h 179"/>
                    <a:gd name="T42" fmla="*/ 292 w 622"/>
                    <a:gd name="T43" fmla="*/ 66 h 179"/>
                    <a:gd name="T44" fmla="*/ 299 w 622"/>
                    <a:gd name="T45" fmla="*/ 63 h 179"/>
                    <a:gd name="T46" fmla="*/ 304 w 622"/>
                    <a:gd name="T47" fmla="*/ 58 h 179"/>
                    <a:gd name="T48" fmla="*/ 308 w 622"/>
                    <a:gd name="T49" fmla="*/ 54 h 179"/>
                    <a:gd name="T50" fmla="*/ 310 w 622"/>
                    <a:gd name="T51" fmla="*/ 49 h 179"/>
                    <a:gd name="T52" fmla="*/ 311 w 622"/>
                    <a:gd name="T53" fmla="*/ 45 h 179"/>
                    <a:gd name="T54" fmla="*/ 310 w 622"/>
                    <a:gd name="T55" fmla="*/ 40 h 179"/>
                    <a:gd name="T56" fmla="*/ 308 w 622"/>
                    <a:gd name="T57" fmla="*/ 36 h 179"/>
                    <a:gd name="T58" fmla="*/ 304 w 622"/>
                    <a:gd name="T59" fmla="*/ 31 h 179"/>
                    <a:gd name="T60" fmla="*/ 299 w 622"/>
                    <a:gd name="T61" fmla="*/ 28 h 179"/>
                    <a:gd name="T62" fmla="*/ 292 w 622"/>
                    <a:gd name="T63" fmla="*/ 23 h 179"/>
                    <a:gd name="T64" fmla="*/ 284 w 622"/>
                    <a:gd name="T65" fmla="*/ 20 h 179"/>
                    <a:gd name="T66" fmla="*/ 275 w 622"/>
                    <a:gd name="T67" fmla="*/ 17 h 179"/>
                    <a:gd name="T68" fmla="*/ 266 w 622"/>
                    <a:gd name="T69" fmla="*/ 14 h 179"/>
                    <a:gd name="T70" fmla="*/ 255 w 622"/>
                    <a:gd name="T71" fmla="*/ 11 h 179"/>
                    <a:gd name="T72" fmla="*/ 242 w 622"/>
                    <a:gd name="T73" fmla="*/ 8 h 179"/>
                    <a:gd name="T74" fmla="*/ 216 w 622"/>
                    <a:gd name="T75" fmla="*/ 4 h 179"/>
                    <a:gd name="T76" fmla="*/ 187 w 622"/>
                    <a:gd name="T77" fmla="*/ 1 h 179"/>
                    <a:gd name="T78" fmla="*/ 155 w 622"/>
                    <a:gd name="T79" fmla="*/ 0 h 179"/>
                    <a:gd name="T80" fmla="*/ 124 w 622"/>
                    <a:gd name="T81" fmla="*/ 1 h 179"/>
                    <a:gd name="T82" fmla="*/ 95 w 622"/>
                    <a:gd name="T83" fmla="*/ 4 h 179"/>
                    <a:gd name="T84" fmla="*/ 69 w 622"/>
                    <a:gd name="T85" fmla="*/ 8 h 179"/>
                    <a:gd name="T86" fmla="*/ 57 w 622"/>
                    <a:gd name="T87" fmla="*/ 11 h 179"/>
                    <a:gd name="T88" fmla="*/ 46 w 622"/>
                    <a:gd name="T89" fmla="*/ 14 h 179"/>
                    <a:gd name="T90" fmla="*/ 36 w 622"/>
                    <a:gd name="T91" fmla="*/ 17 h 179"/>
                    <a:gd name="T92" fmla="*/ 27 w 622"/>
                    <a:gd name="T93" fmla="*/ 20 h 179"/>
                    <a:gd name="T94" fmla="*/ 19 w 622"/>
                    <a:gd name="T95" fmla="*/ 23 h 179"/>
                    <a:gd name="T96" fmla="*/ 13 w 622"/>
                    <a:gd name="T97" fmla="*/ 28 h 179"/>
                    <a:gd name="T98" fmla="*/ 8 w 622"/>
                    <a:gd name="T99" fmla="*/ 31 h 179"/>
                    <a:gd name="T100" fmla="*/ 4 w 622"/>
                    <a:gd name="T101" fmla="*/ 36 h 179"/>
                    <a:gd name="T102" fmla="*/ 1 w 622"/>
                    <a:gd name="T103" fmla="*/ 40 h 179"/>
                    <a:gd name="T104" fmla="*/ 0 w 622"/>
                    <a:gd name="T105" fmla="*/ 45 h 17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22" h="179">
                      <a:moveTo>
                        <a:pt x="0" y="89"/>
                      </a:moveTo>
                      <a:lnTo>
                        <a:pt x="2" y="98"/>
                      </a:lnTo>
                      <a:lnTo>
                        <a:pt x="8" y="107"/>
                      </a:lnTo>
                      <a:lnTo>
                        <a:pt x="15" y="116"/>
                      </a:lnTo>
                      <a:lnTo>
                        <a:pt x="25" y="125"/>
                      </a:lnTo>
                      <a:lnTo>
                        <a:pt x="38" y="132"/>
                      </a:lnTo>
                      <a:lnTo>
                        <a:pt x="54" y="139"/>
                      </a:lnTo>
                      <a:lnTo>
                        <a:pt x="72" y="147"/>
                      </a:lnTo>
                      <a:lnTo>
                        <a:pt x="92" y="153"/>
                      </a:lnTo>
                      <a:lnTo>
                        <a:pt x="113" y="159"/>
                      </a:lnTo>
                      <a:lnTo>
                        <a:pt x="138" y="165"/>
                      </a:lnTo>
                      <a:lnTo>
                        <a:pt x="190" y="172"/>
                      </a:lnTo>
                      <a:lnTo>
                        <a:pt x="248" y="178"/>
                      </a:lnTo>
                      <a:lnTo>
                        <a:pt x="310" y="179"/>
                      </a:lnTo>
                      <a:lnTo>
                        <a:pt x="373" y="178"/>
                      </a:lnTo>
                      <a:lnTo>
                        <a:pt x="432" y="172"/>
                      </a:lnTo>
                      <a:lnTo>
                        <a:pt x="484" y="165"/>
                      </a:lnTo>
                      <a:lnTo>
                        <a:pt x="509" y="159"/>
                      </a:lnTo>
                      <a:lnTo>
                        <a:pt x="531" y="153"/>
                      </a:lnTo>
                      <a:lnTo>
                        <a:pt x="550" y="147"/>
                      </a:lnTo>
                      <a:lnTo>
                        <a:pt x="568" y="139"/>
                      </a:lnTo>
                      <a:lnTo>
                        <a:pt x="584" y="132"/>
                      </a:lnTo>
                      <a:lnTo>
                        <a:pt x="597" y="125"/>
                      </a:lnTo>
                      <a:lnTo>
                        <a:pt x="608" y="116"/>
                      </a:lnTo>
                      <a:lnTo>
                        <a:pt x="615" y="107"/>
                      </a:lnTo>
                      <a:lnTo>
                        <a:pt x="620" y="98"/>
                      </a:lnTo>
                      <a:lnTo>
                        <a:pt x="622" y="89"/>
                      </a:lnTo>
                      <a:lnTo>
                        <a:pt x="620" y="80"/>
                      </a:lnTo>
                      <a:lnTo>
                        <a:pt x="615" y="71"/>
                      </a:lnTo>
                      <a:lnTo>
                        <a:pt x="608" y="62"/>
                      </a:lnTo>
                      <a:lnTo>
                        <a:pt x="597" y="55"/>
                      </a:lnTo>
                      <a:lnTo>
                        <a:pt x="584" y="46"/>
                      </a:lnTo>
                      <a:lnTo>
                        <a:pt x="568" y="40"/>
                      </a:lnTo>
                      <a:lnTo>
                        <a:pt x="550" y="33"/>
                      </a:lnTo>
                      <a:lnTo>
                        <a:pt x="531" y="27"/>
                      </a:lnTo>
                      <a:lnTo>
                        <a:pt x="509" y="21"/>
                      </a:lnTo>
                      <a:lnTo>
                        <a:pt x="484" y="15"/>
                      </a:lnTo>
                      <a:lnTo>
                        <a:pt x="432" y="7"/>
                      </a:lnTo>
                      <a:lnTo>
                        <a:pt x="373" y="2"/>
                      </a:lnTo>
                      <a:lnTo>
                        <a:pt x="310" y="0"/>
                      </a:lnTo>
                      <a:lnTo>
                        <a:pt x="248" y="2"/>
                      </a:lnTo>
                      <a:lnTo>
                        <a:pt x="190" y="7"/>
                      </a:lnTo>
                      <a:lnTo>
                        <a:pt x="138" y="15"/>
                      </a:lnTo>
                      <a:lnTo>
                        <a:pt x="113" y="21"/>
                      </a:lnTo>
                      <a:lnTo>
                        <a:pt x="92" y="27"/>
                      </a:lnTo>
                      <a:lnTo>
                        <a:pt x="72" y="33"/>
                      </a:lnTo>
                      <a:lnTo>
                        <a:pt x="54" y="40"/>
                      </a:lnTo>
                      <a:lnTo>
                        <a:pt x="38" y="46"/>
                      </a:lnTo>
                      <a:lnTo>
                        <a:pt x="25" y="55"/>
                      </a:lnTo>
                      <a:lnTo>
                        <a:pt x="15" y="62"/>
                      </a:lnTo>
                      <a:lnTo>
                        <a:pt x="8" y="71"/>
                      </a:lnTo>
                      <a:lnTo>
                        <a:pt x="2" y="80"/>
                      </a:lnTo>
                      <a:lnTo>
                        <a:pt x="0" y="89"/>
                      </a:lnTo>
                      <a:close/>
                    </a:path>
                  </a:pathLst>
                </a:custGeom>
                <a:solidFill>
                  <a:srgbClr val="32B3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95" name="Freeform 92"/>
                <p:cNvSpPr>
                  <a:spLocks/>
                </p:cNvSpPr>
                <p:nvPr/>
              </p:nvSpPr>
              <p:spPr bwMode="auto">
                <a:xfrm>
                  <a:off x="867" y="2813"/>
                  <a:ext cx="311" cy="359"/>
                </a:xfrm>
                <a:custGeom>
                  <a:avLst/>
                  <a:gdLst>
                    <a:gd name="T0" fmla="*/ 155 w 622"/>
                    <a:gd name="T1" fmla="*/ 0 h 717"/>
                    <a:gd name="T2" fmla="*/ 124 w 622"/>
                    <a:gd name="T3" fmla="*/ 1 h 717"/>
                    <a:gd name="T4" fmla="*/ 95 w 622"/>
                    <a:gd name="T5" fmla="*/ 4 h 717"/>
                    <a:gd name="T6" fmla="*/ 69 w 622"/>
                    <a:gd name="T7" fmla="*/ 8 h 717"/>
                    <a:gd name="T8" fmla="*/ 57 w 622"/>
                    <a:gd name="T9" fmla="*/ 11 h 717"/>
                    <a:gd name="T10" fmla="*/ 46 w 622"/>
                    <a:gd name="T11" fmla="*/ 14 h 717"/>
                    <a:gd name="T12" fmla="*/ 36 w 622"/>
                    <a:gd name="T13" fmla="*/ 17 h 717"/>
                    <a:gd name="T14" fmla="*/ 27 w 622"/>
                    <a:gd name="T15" fmla="*/ 20 h 717"/>
                    <a:gd name="T16" fmla="*/ 19 w 622"/>
                    <a:gd name="T17" fmla="*/ 23 h 717"/>
                    <a:gd name="T18" fmla="*/ 13 w 622"/>
                    <a:gd name="T19" fmla="*/ 28 h 717"/>
                    <a:gd name="T20" fmla="*/ 8 w 622"/>
                    <a:gd name="T21" fmla="*/ 31 h 717"/>
                    <a:gd name="T22" fmla="*/ 4 w 622"/>
                    <a:gd name="T23" fmla="*/ 36 h 717"/>
                    <a:gd name="T24" fmla="*/ 1 w 622"/>
                    <a:gd name="T25" fmla="*/ 40 h 717"/>
                    <a:gd name="T26" fmla="*/ 0 w 622"/>
                    <a:gd name="T27" fmla="*/ 45 h 717"/>
                    <a:gd name="T28" fmla="*/ 0 w 622"/>
                    <a:gd name="T29" fmla="*/ 314 h 717"/>
                    <a:gd name="T30" fmla="*/ 1 w 622"/>
                    <a:gd name="T31" fmla="*/ 318 h 717"/>
                    <a:gd name="T32" fmla="*/ 4 w 622"/>
                    <a:gd name="T33" fmla="*/ 323 h 717"/>
                    <a:gd name="T34" fmla="*/ 8 w 622"/>
                    <a:gd name="T35" fmla="*/ 327 h 717"/>
                    <a:gd name="T36" fmla="*/ 13 w 622"/>
                    <a:gd name="T37" fmla="*/ 332 h 717"/>
                    <a:gd name="T38" fmla="*/ 19 w 622"/>
                    <a:gd name="T39" fmla="*/ 335 h 717"/>
                    <a:gd name="T40" fmla="*/ 27 w 622"/>
                    <a:gd name="T41" fmla="*/ 339 h 717"/>
                    <a:gd name="T42" fmla="*/ 36 w 622"/>
                    <a:gd name="T43" fmla="*/ 343 h 717"/>
                    <a:gd name="T44" fmla="*/ 46 w 622"/>
                    <a:gd name="T45" fmla="*/ 346 h 717"/>
                    <a:gd name="T46" fmla="*/ 57 w 622"/>
                    <a:gd name="T47" fmla="*/ 349 h 717"/>
                    <a:gd name="T48" fmla="*/ 69 w 622"/>
                    <a:gd name="T49" fmla="*/ 352 h 717"/>
                    <a:gd name="T50" fmla="*/ 95 w 622"/>
                    <a:gd name="T51" fmla="*/ 355 h 717"/>
                    <a:gd name="T52" fmla="*/ 124 w 622"/>
                    <a:gd name="T53" fmla="*/ 358 h 717"/>
                    <a:gd name="T54" fmla="*/ 155 w 622"/>
                    <a:gd name="T55" fmla="*/ 359 h 717"/>
                    <a:gd name="T56" fmla="*/ 187 w 622"/>
                    <a:gd name="T57" fmla="*/ 358 h 717"/>
                    <a:gd name="T58" fmla="*/ 216 w 622"/>
                    <a:gd name="T59" fmla="*/ 355 h 717"/>
                    <a:gd name="T60" fmla="*/ 242 w 622"/>
                    <a:gd name="T61" fmla="*/ 352 h 717"/>
                    <a:gd name="T62" fmla="*/ 255 w 622"/>
                    <a:gd name="T63" fmla="*/ 349 h 717"/>
                    <a:gd name="T64" fmla="*/ 266 w 622"/>
                    <a:gd name="T65" fmla="*/ 346 h 717"/>
                    <a:gd name="T66" fmla="*/ 275 w 622"/>
                    <a:gd name="T67" fmla="*/ 343 h 717"/>
                    <a:gd name="T68" fmla="*/ 284 w 622"/>
                    <a:gd name="T69" fmla="*/ 339 h 717"/>
                    <a:gd name="T70" fmla="*/ 292 w 622"/>
                    <a:gd name="T71" fmla="*/ 335 h 717"/>
                    <a:gd name="T72" fmla="*/ 299 w 622"/>
                    <a:gd name="T73" fmla="*/ 332 h 717"/>
                    <a:gd name="T74" fmla="*/ 304 w 622"/>
                    <a:gd name="T75" fmla="*/ 327 h 717"/>
                    <a:gd name="T76" fmla="*/ 308 w 622"/>
                    <a:gd name="T77" fmla="*/ 323 h 717"/>
                    <a:gd name="T78" fmla="*/ 310 w 622"/>
                    <a:gd name="T79" fmla="*/ 318 h 717"/>
                    <a:gd name="T80" fmla="*/ 311 w 622"/>
                    <a:gd name="T81" fmla="*/ 314 h 717"/>
                    <a:gd name="T82" fmla="*/ 311 w 622"/>
                    <a:gd name="T83" fmla="*/ 45 h 717"/>
                    <a:gd name="T84" fmla="*/ 310 w 622"/>
                    <a:gd name="T85" fmla="*/ 40 h 717"/>
                    <a:gd name="T86" fmla="*/ 308 w 622"/>
                    <a:gd name="T87" fmla="*/ 36 h 717"/>
                    <a:gd name="T88" fmla="*/ 304 w 622"/>
                    <a:gd name="T89" fmla="*/ 31 h 717"/>
                    <a:gd name="T90" fmla="*/ 299 w 622"/>
                    <a:gd name="T91" fmla="*/ 28 h 717"/>
                    <a:gd name="T92" fmla="*/ 292 w 622"/>
                    <a:gd name="T93" fmla="*/ 23 h 717"/>
                    <a:gd name="T94" fmla="*/ 284 w 622"/>
                    <a:gd name="T95" fmla="*/ 20 h 717"/>
                    <a:gd name="T96" fmla="*/ 275 w 622"/>
                    <a:gd name="T97" fmla="*/ 17 h 717"/>
                    <a:gd name="T98" fmla="*/ 266 w 622"/>
                    <a:gd name="T99" fmla="*/ 14 h 717"/>
                    <a:gd name="T100" fmla="*/ 255 w 622"/>
                    <a:gd name="T101" fmla="*/ 11 h 717"/>
                    <a:gd name="T102" fmla="*/ 242 w 622"/>
                    <a:gd name="T103" fmla="*/ 8 h 717"/>
                    <a:gd name="T104" fmla="*/ 216 w 622"/>
                    <a:gd name="T105" fmla="*/ 4 h 717"/>
                    <a:gd name="T106" fmla="*/ 187 w 622"/>
                    <a:gd name="T107" fmla="*/ 1 h 717"/>
                    <a:gd name="T108" fmla="*/ 155 w 622"/>
                    <a:gd name="T109" fmla="*/ 0 h 71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7">
                      <a:moveTo>
                        <a:pt x="310" y="0"/>
                      </a:moveTo>
                      <a:lnTo>
                        <a:pt x="248" y="2"/>
                      </a:lnTo>
                      <a:lnTo>
                        <a:pt x="190" y="7"/>
                      </a:lnTo>
                      <a:lnTo>
                        <a:pt x="138" y="15"/>
                      </a:lnTo>
                      <a:lnTo>
                        <a:pt x="113" y="21"/>
                      </a:lnTo>
                      <a:lnTo>
                        <a:pt x="92" y="27"/>
                      </a:lnTo>
                      <a:lnTo>
                        <a:pt x="72" y="33"/>
                      </a:lnTo>
                      <a:lnTo>
                        <a:pt x="54" y="40"/>
                      </a:lnTo>
                      <a:lnTo>
                        <a:pt x="38" y="46"/>
                      </a:lnTo>
                      <a:lnTo>
                        <a:pt x="25" y="55"/>
                      </a:lnTo>
                      <a:lnTo>
                        <a:pt x="15" y="62"/>
                      </a:lnTo>
                      <a:lnTo>
                        <a:pt x="8" y="71"/>
                      </a:lnTo>
                      <a:lnTo>
                        <a:pt x="2" y="80"/>
                      </a:lnTo>
                      <a:lnTo>
                        <a:pt x="0" y="89"/>
                      </a:lnTo>
                      <a:lnTo>
                        <a:pt x="0" y="627"/>
                      </a:lnTo>
                      <a:lnTo>
                        <a:pt x="2" y="636"/>
                      </a:lnTo>
                      <a:lnTo>
                        <a:pt x="8" y="645"/>
                      </a:lnTo>
                      <a:lnTo>
                        <a:pt x="15" y="654"/>
                      </a:lnTo>
                      <a:lnTo>
                        <a:pt x="25" y="663"/>
                      </a:lnTo>
                      <a:lnTo>
                        <a:pt x="38" y="670"/>
                      </a:lnTo>
                      <a:lnTo>
                        <a:pt x="54" y="677"/>
                      </a:lnTo>
                      <a:lnTo>
                        <a:pt x="72" y="685"/>
                      </a:lnTo>
                      <a:lnTo>
                        <a:pt x="92" y="691"/>
                      </a:lnTo>
                      <a:lnTo>
                        <a:pt x="113" y="697"/>
                      </a:lnTo>
                      <a:lnTo>
                        <a:pt x="138" y="703"/>
                      </a:lnTo>
                      <a:lnTo>
                        <a:pt x="190" y="710"/>
                      </a:lnTo>
                      <a:lnTo>
                        <a:pt x="248" y="716"/>
                      </a:lnTo>
                      <a:lnTo>
                        <a:pt x="310" y="717"/>
                      </a:lnTo>
                      <a:lnTo>
                        <a:pt x="373" y="716"/>
                      </a:lnTo>
                      <a:lnTo>
                        <a:pt x="432" y="710"/>
                      </a:lnTo>
                      <a:lnTo>
                        <a:pt x="484" y="703"/>
                      </a:lnTo>
                      <a:lnTo>
                        <a:pt x="509" y="697"/>
                      </a:lnTo>
                      <a:lnTo>
                        <a:pt x="531" y="691"/>
                      </a:lnTo>
                      <a:lnTo>
                        <a:pt x="550" y="685"/>
                      </a:lnTo>
                      <a:lnTo>
                        <a:pt x="568" y="677"/>
                      </a:lnTo>
                      <a:lnTo>
                        <a:pt x="584" y="670"/>
                      </a:lnTo>
                      <a:lnTo>
                        <a:pt x="597" y="663"/>
                      </a:lnTo>
                      <a:lnTo>
                        <a:pt x="608" y="654"/>
                      </a:lnTo>
                      <a:lnTo>
                        <a:pt x="615" y="645"/>
                      </a:lnTo>
                      <a:lnTo>
                        <a:pt x="620" y="636"/>
                      </a:lnTo>
                      <a:lnTo>
                        <a:pt x="622" y="627"/>
                      </a:lnTo>
                      <a:lnTo>
                        <a:pt x="622" y="89"/>
                      </a:lnTo>
                      <a:lnTo>
                        <a:pt x="620" y="80"/>
                      </a:lnTo>
                      <a:lnTo>
                        <a:pt x="615" y="71"/>
                      </a:lnTo>
                      <a:lnTo>
                        <a:pt x="608" y="62"/>
                      </a:lnTo>
                      <a:lnTo>
                        <a:pt x="597" y="55"/>
                      </a:lnTo>
                      <a:lnTo>
                        <a:pt x="584" y="46"/>
                      </a:lnTo>
                      <a:lnTo>
                        <a:pt x="568" y="40"/>
                      </a:lnTo>
                      <a:lnTo>
                        <a:pt x="550" y="33"/>
                      </a:lnTo>
                      <a:lnTo>
                        <a:pt x="531" y="27"/>
                      </a:lnTo>
                      <a:lnTo>
                        <a:pt x="509" y="21"/>
                      </a:lnTo>
                      <a:lnTo>
                        <a:pt x="484" y="15"/>
                      </a:lnTo>
                      <a:lnTo>
                        <a:pt x="432" y="7"/>
                      </a:lnTo>
                      <a:lnTo>
                        <a:pt x="373" y="2"/>
                      </a:lnTo>
                      <a:lnTo>
                        <a:pt x="310" y="0"/>
                      </a:lnTo>
                      <a:close/>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sp>
              <p:nvSpPr>
                <p:cNvPr id="196" name="Freeform 93"/>
                <p:cNvSpPr>
                  <a:spLocks/>
                </p:cNvSpPr>
                <p:nvPr/>
              </p:nvSpPr>
              <p:spPr bwMode="auto">
                <a:xfrm>
                  <a:off x="867" y="2857"/>
                  <a:ext cx="311" cy="46"/>
                </a:xfrm>
                <a:custGeom>
                  <a:avLst/>
                  <a:gdLst>
                    <a:gd name="T0" fmla="*/ 0 w 622"/>
                    <a:gd name="T1" fmla="*/ 0 h 90"/>
                    <a:gd name="T2" fmla="*/ 1 w 622"/>
                    <a:gd name="T3" fmla="*/ 5 h 90"/>
                    <a:gd name="T4" fmla="*/ 4 w 622"/>
                    <a:gd name="T5" fmla="*/ 9 h 90"/>
                    <a:gd name="T6" fmla="*/ 8 w 622"/>
                    <a:gd name="T7" fmla="*/ 14 h 90"/>
                    <a:gd name="T8" fmla="*/ 13 w 622"/>
                    <a:gd name="T9" fmla="*/ 18 h 90"/>
                    <a:gd name="T10" fmla="*/ 19 w 622"/>
                    <a:gd name="T11" fmla="*/ 22 h 90"/>
                    <a:gd name="T12" fmla="*/ 27 w 622"/>
                    <a:gd name="T13" fmla="*/ 26 h 90"/>
                    <a:gd name="T14" fmla="*/ 36 w 622"/>
                    <a:gd name="T15" fmla="*/ 30 h 90"/>
                    <a:gd name="T16" fmla="*/ 46 w 622"/>
                    <a:gd name="T17" fmla="*/ 33 h 90"/>
                    <a:gd name="T18" fmla="*/ 57 w 622"/>
                    <a:gd name="T19" fmla="*/ 36 h 90"/>
                    <a:gd name="T20" fmla="*/ 69 w 622"/>
                    <a:gd name="T21" fmla="*/ 39 h 90"/>
                    <a:gd name="T22" fmla="*/ 95 w 622"/>
                    <a:gd name="T23" fmla="*/ 42 h 90"/>
                    <a:gd name="T24" fmla="*/ 124 w 622"/>
                    <a:gd name="T25" fmla="*/ 45 h 90"/>
                    <a:gd name="T26" fmla="*/ 155 w 622"/>
                    <a:gd name="T27" fmla="*/ 46 h 90"/>
                    <a:gd name="T28" fmla="*/ 187 w 622"/>
                    <a:gd name="T29" fmla="*/ 45 h 90"/>
                    <a:gd name="T30" fmla="*/ 216 w 622"/>
                    <a:gd name="T31" fmla="*/ 42 h 90"/>
                    <a:gd name="T32" fmla="*/ 242 w 622"/>
                    <a:gd name="T33" fmla="*/ 39 h 90"/>
                    <a:gd name="T34" fmla="*/ 255 w 622"/>
                    <a:gd name="T35" fmla="*/ 36 h 90"/>
                    <a:gd name="T36" fmla="*/ 266 w 622"/>
                    <a:gd name="T37" fmla="*/ 33 h 90"/>
                    <a:gd name="T38" fmla="*/ 275 w 622"/>
                    <a:gd name="T39" fmla="*/ 30 h 90"/>
                    <a:gd name="T40" fmla="*/ 284 w 622"/>
                    <a:gd name="T41" fmla="*/ 26 h 90"/>
                    <a:gd name="T42" fmla="*/ 292 w 622"/>
                    <a:gd name="T43" fmla="*/ 22 h 90"/>
                    <a:gd name="T44" fmla="*/ 299 w 622"/>
                    <a:gd name="T45" fmla="*/ 18 h 90"/>
                    <a:gd name="T46" fmla="*/ 304 w 622"/>
                    <a:gd name="T47" fmla="*/ 14 h 90"/>
                    <a:gd name="T48" fmla="*/ 308 w 622"/>
                    <a:gd name="T49" fmla="*/ 9 h 90"/>
                    <a:gd name="T50" fmla="*/ 310 w 622"/>
                    <a:gd name="T51" fmla="*/ 5 h 90"/>
                    <a:gd name="T52" fmla="*/ 311 w 622"/>
                    <a:gd name="T53" fmla="*/ 0 h 9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22" h="90">
                      <a:moveTo>
                        <a:pt x="0" y="0"/>
                      </a:moveTo>
                      <a:lnTo>
                        <a:pt x="2" y="9"/>
                      </a:lnTo>
                      <a:lnTo>
                        <a:pt x="8" y="18"/>
                      </a:lnTo>
                      <a:lnTo>
                        <a:pt x="15" y="27"/>
                      </a:lnTo>
                      <a:lnTo>
                        <a:pt x="25" y="36"/>
                      </a:lnTo>
                      <a:lnTo>
                        <a:pt x="38" y="43"/>
                      </a:lnTo>
                      <a:lnTo>
                        <a:pt x="54" y="50"/>
                      </a:lnTo>
                      <a:lnTo>
                        <a:pt x="72" y="58"/>
                      </a:lnTo>
                      <a:lnTo>
                        <a:pt x="92" y="64"/>
                      </a:lnTo>
                      <a:lnTo>
                        <a:pt x="113" y="70"/>
                      </a:lnTo>
                      <a:lnTo>
                        <a:pt x="138" y="76"/>
                      </a:lnTo>
                      <a:lnTo>
                        <a:pt x="190" y="83"/>
                      </a:lnTo>
                      <a:lnTo>
                        <a:pt x="248" y="89"/>
                      </a:lnTo>
                      <a:lnTo>
                        <a:pt x="310" y="90"/>
                      </a:lnTo>
                      <a:lnTo>
                        <a:pt x="373" y="89"/>
                      </a:lnTo>
                      <a:lnTo>
                        <a:pt x="432" y="83"/>
                      </a:lnTo>
                      <a:lnTo>
                        <a:pt x="484" y="76"/>
                      </a:lnTo>
                      <a:lnTo>
                        <a:pt x="509" y="70"/>
                      </a:lnTo>
                      <a:lnTo>
                        <a:pt x="531" y="64"/>
                      </a:lnTo>
                      <a:lnTo>
                        <a:pt x="550" y="58"/>
                      </a:lnTo>
                      <a:lnTo>
                        <a:pt x="568" y="50"/>
                      </a:lnTo>
                      <a:lnTo>
                        <a:pt x="584" y="43"/>
                      </a:lnTo>
                      <a:lnTo>
                        <a:pt x="597" y="36"/>
                      </a:lnTo>
                      <a:lnTo>
                        <a:pt x="608" y="27"/>
                      </a:lnTo>
                      <a:lnTo>
                        <a:pt x="615" y="18"/>
                      </a:lnTo>
                      <a:lnTo>
                        <a:pt x="620" y="9"/>
                      </a:lnTo>
                      <a:lnTo>
                        <a:pt x="622"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grpSp>
          <p:grpSp>
            <p:nvGrpSpPr>
              <p:cNvPr id="176" name="Group 94"/>
              <p:cNvGrpSpPr>
                <a:grpSpLocks/>
              </p:cNvGrpSpPr>
              <p:nvPr/>
            </p:nvGrpSpPr>
            <p:grpSpPr bwMode="auto">
              <a:xfrm>
                <a:off x="919" y="2858"/>
                <a:ext cx="310" cy="358"/>
                <a:chOff x="919" y="2858"/>
                <a:chExt cx="310" cy="358"/>
              </a:xfrm>
            </p:grpSpPr>
            <p:sp>
              <p:nvSpPr>
                <p:cNvPr id="189" name="Freeform 95"/>
                <p:cNvSpPr>
                  <a:spLocks/>
                </p:cNvSpPr>
                <p:nvPr/>
              </p:nvSpPr>
              <p:spPr bwMode="auto">
                <a:xfrm>
                  <a:off x="919" y="2858"/>
                  <a:ext cx="310" cy="358"/>
                </a:xfrm>
                <a:custGeom>
                  <a:avLst/>
                  <a:gdLst>
                    <a:gd name="T0" fmla="*/ 155 w 622"/>
                    <a:gd name="T1" fmla="*/ 0 h 716"/>
                    <a:gd name="T2" fmla="*/ 124 w 622"/>
                    <a:gd name="T3" fmla="*/ 1 h 716"/>
                    <a:gd name="T4" fmla="*/ 95 w 622"/>
                    <a:gd name="T5" fmla="*/ 4 h 716"/>
                    <a:gd name="T6" fmla="*/ 69 w 622"/>
                    <a:gd name="T7" fmla="*/ 8 h 716"/>
                    <a:gd name="T8" fmla="*/ 56 w 622"/>
                    <a:gd name="T9" fmla="*/ 11 h 716"/>
                    <a:gd name="T10" fmla="*/ 46 w 622"/>
                    <a:gd name="T11" fmla="*/ 14 h 716"/>
                    <a:gd name="T12" fmla="*/ 36 w 622"/>
                    <a:gd name="T13" fmla="*/ 17 h 716"/>
                    <a:gd name="T14" fmla="*/ 27 w 622"/>
                    <a:gd name="T15" fmla="*/ 20 h 716"/>
                    <a:gd name="T16" fmla="*/ 19 w 622"/>
                    <a:gd name="T17" fmla="*/ 23 h 716"/>
                    <a:gd name="T18" fmla="*/ 12 w 622"/>
                    <a:gd name="T19" fmla="*/ 28 h 716"/>
                    <a:gd name="T20" fmla="*/ 7 w 622"/>
                    <a:gd name="T21" fmla="*/ 32 h 716"/>
                    <a:gd name="T22" fmla="*/ 3 w 622"/>
                    <a:gd name="T23" fmla="*/ 36 h 716"/>
                    <a:gd name="T24" fmla="*/ 1 w 622"/>
                    <a:gd name="T25" fmla="*/ 40 h 716"/>
                    <a:gd name="T26" fmla="*/ 0 w 622"/>
                    <a:gd name="T27" fmla="*/ 45 h 716"/>
                    <a:gd name="T28" fmla="*/ 0 w 622"/>
                    <a:gd name="T29" fmla="*/ 314 h 716"/>
                    <a:gd name="T30" fmla="*/ 1 w 622"/>
                    <a:gd name="T31" fmla="*/ 318 h 716"/>
                    <a:gd name="T32" fmla="*/ 3 w 622"/>
                    <a:gd name="T33" fmla="*/ 323 h 716"/>
                    <a:gd name="T34" fmla="*/ 7 w 622"/>
                    <a:gd name="T35" fmla="*/ 327 h 716"/>
                    <a:gd name="T36" fmla="*/ 12 w 622"/>
                    <a:gd name="T37" fmla="*/ 331 h 716"/>
                    <a:gd name="T38" fmla="*/ 19 w 622"/>
                    <a:gd name="T39" fmla="*/ 335 h 716"/>
                    <a:gd name="T40" fmla="*/ 27 w 622"/>
                    <a:gd name="T41" fmla="*/ 339 h 716"/>
                    <a:gd name="T42" fmla="*/ 36 w 622"/>
                    <a:gd name="T43" fmla="*/ 342 h 716"/>
                    <a:gd name="T44" fmla="*/ 46 w 622"/>
                    <a:gd name="T45" fmla="*/ 345 h 716"/>
                    <a:gd name="T46" fmla="*/ 56 w 622"/>
                    <a:gd name="T47" fmla="*/ 348 h 716"/>
                    <a:gd name="T48" fmla="*/ 69 w 622"/>
                    <a:gd name="T49" fmla="*/ 351 h 716"/>
                    <a:gd name="T50" fmla="*/ 95 w 622"/>
                    <a:gd name="T51" fmla="*/ 355 h 716"/>
                    <a:gd name="T52" fmla="*/ 124 w 622"/>
                    <a:gd name="T53" fmla="*/ 358 h 716"/>
                    <a:gd name="T54" fmla="*/ 155 w 622"/>
                    <a:gd name="T55" fmla="*/ 358 h 716"/>
                    <a:gd name="T56" fmla="*/ 186 w 622"/>
                    <a:gd name="T57" fmla="*/ 358 h 716"/>
                    <a:gd name="T58" fmla="*/ 215 w 622"/>
                    <a:gd name="T59" fmla="*/ 355 h 716"/>
                    <a:gd name="T60" fmla="*/ 241 w 622"/>
                    <a:gd name="T61" fmla="*/ 351 h 716"/>
                    <a:gd name="T62" fmla="*/ 254 w 622"/>
                    <a:gd name="T63" fmla="*/ 348 h 716"/>
                    <a:gd name="T64" fmla="*/ 265 w 622"/>
                    <a:gd name="T65" fmla="*/ 345 h 716"/>
                    <a:gd name="T66" fmla="*/ 274 w 622"/>
                    <a:gd name="T67" fmla="*/ 342 h 716"/>
                    <a:gd name="T68" fmla="*/ 283 w 622"/>
                    <a:gd name="T69" fmla="*/ 339 h 716"/>
                    <a:gd name="T70" fmla="*/ 291 w 622"/>
                    <a:gd name="T71" fmla="*/ 335 h 716"/>
                    <a:gd name="T72" fmla="*/ 298 w 622"/>
                    <a:gd name="T73" fmla="*/ 331 h 716"/>
                    <a:gd name="T74" fmla="*/ 303 w 622"/>
                    <a:gd name="T75" fmla="*/ 327 h 716"/>
                    <a:gd name="T76" fmla="*/ 307 w 622"/>
                    <a:gd name="T77" fmla="*/ 323 h 716"/>
                    <a:gd name="T78" fmla="*/ 309 w 622"/>
                    <a:gd name="T79" fmla="*/ 318 h 716"/>
                    <a:gd name="T80" fmla="*/ 310 w 622"/>
                    <a:gd name="T81" fmla="*/ 314 h 716"/>
                    <a:gd name="T82" fmla="*/ 310 w 622"/>
                    <a:gd name="T83" fmla="*/ 45 h 716"/>
                    <a:gd name="T84" fmla="*/ 309 w 622"/>
                    <a:gd name="T85" fmla="*/ 40 h 716"/>
                    <a:gd name="T86" fmla="*/ 307 w 622"/>
                    <a:gd name="T87" fmla="*/ 36 h 716"/>
                    <a:gd name="T88" fmla="*/ 303 w 622"/>
                    <a:gd name="T89" fmla="*/ 32 h 716"/>
                    <a:gd name="T90" fmla="*/ 298 w 622"/>
                    <a:gd name="T91" fmla="*/ 28 h 716"/>
                    <a:gd name="T92" fmla="*/ 291 w 622"/>
                    <a:gd name="T93" fmla="*/ 23 h 716"/>
                    <a:gd name="T94" fmla="*/ 283 w 622"/>
                    <a:gd name="T95" fmla="*/ 20 h 716"/>
                    <a:gd name="T96" fmla="*/ 274 w 622"/>
                    <a:gd name="T97" fmla="*/ 17 h 716"/>
                    <a:gd name="T98" fmla="*/ 265 w 622"/>
                    <a:gd name="T99" fmla="*/ 14 h 716"/>
                    <a:gd name="T100" fmla="*/ 254 w 622"/>
                    <a:gd name="T101" fmla="*/ 11 h 716"/>
                    <a:gd name="T102" fmla="*/ 241 w 622"/>
                    <a:gd name="T103" fmla="*/ 8 h 716"/>
                    <a:gd name="T104" fmla="*/ 215 w 622"/>
                    <a:gd name="T105" fmla="*/ 4 h 716"/>
                    <a:gd name="T106" fmla="*/ 186 w 622"/>
                    <a:gd name="T107" fmla="*/ 1 h 716"/>
                    <a:gd name="T108" fmla="*/ 155 w 622"/>
                    <a:gd name="T109" fmla="*/ 0 h 71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6">
                      <a:moveTo>
                        <a:pt x="310" y="0"/>
                      </a:moveTo>
                      <a:lnTo>
                        <a:pt x="248" y="2"/>
                      </a:lnTo>
                      <a:lnTo>
                        <a:pt x="190" y="8"/>
                      </a:lnTo>
                      <a:lnTo>
                        <a:pt x="138" y="15"/>
                      </a:lnTo>
                      <a:lnTo>
                        <a:pt x="113" y="21"/>
                      </a:lnTo>
                      <a:lnTo>
                        <a:pt x="92" y="27"/>
                      </a:lnTo>
                      <a:lnTo>
                        <a:pt x="72" y="33"/>
                      </a:lnTo>
                      <a:lnTo>
                        <a:pt x="54" y="40"/>
                      </a:lnTo>
                      <a:lnTo>
                        <a:pt x="38" y="46"/>
                      </a:lnTo>
                      <a:lnTo>
                        <a:pt x="25" y="55"/>
                      </a:lnTo>
                      <a:lnTo>
                        <a:pt x="15" y="63"/>
                      </a:lnTo>
                      <a:lnTo>
                        <a:pt x="7" y="72"/>
                      </a:lnTo>
                      <a:lnTo>
                        <a:pt x="2" y="80"/>
                      </a:lnTo>
                      <a:lnTo>
                        <a:pt x="0" y="89"/>
                      </a:lnTo>
                      <a:lnTo>
                        <a:pt x="0" y="627"/>
                      </a:lnTo>
                      <a:lnTo>
                        <a:pt x="2" y="636"/>
                      </a:lnTo>
                      <a:lnTo>
                        <a:pt x="7" y="645"/>
                      </a:lnTo>
                      <a:lnTo>
                        <a:pt x="15" y="654"/>
                      </a:lnTo>
                      <a:lnTo>
                        <a:pt x="25" y="661"/>
                      </a:lnTo>
                      <a:lnTo>
                        <a:pt x="38" y="670"/>
                      </a:lnTo>
                      <a:lnTo>
                        <a:pt x="54" y="678"/>
                      </a:lnTo>
                      <a:lnTo>
                        <a:pt x="72" y="684"/>
                      </a:lnTo>
                      <a:lnTo>
                        <a:pt x="92" y="690"/>
                      </a:lnTo>
                      <a:lnTo>
                        <a:pt x="113" y="696"/>
                      </a:lnTo>
                      <a:lnTo>
                        <a:pt x="138" y="701"/>
                      </a:lnTo>
                      <a:lnTo>
                        <a:pt x="190" y="709"/>
                      </a:lnTo>
                      <a:lnTo>
                        <a:pt x="248" y="715"/>
                      </a:lnTo>
                      <a:lnTo>
                        <a:pt x="310" y="716"/>
                      </a:lnTo>
                      <a:lnTo>
                        <a:pt x="373" y="715"/>
                      </a:lnTo>
                      <a:lnTo>
                        <a:pt x="432" y="709"/>
                      </a:lnTo>
                      <a:lnTo>
                        <a:pt x="484" y="701"/>
                      </a:lnTo>
                      <a:lnTo>
                        <a:pt x="509" y="696"/>
                      </a:lnTo>
                      <a:lnTo>
                        <a:pt x="531" y="690"/>
                      </a:lnTo>
                      <a:lnTo>
                        <a:pt x="550" y="684"/>
                      </a:lnTo>
                      <a:lnTo>
                        <a:pt x="568" y="678"/>
                      </a:lnTo>
                      <a:lnTo>
                        <a:pt x="584" y="670"/>
                      </a:lnTo>
                      <a:lnTo>
                        <a:pt x="597" y="661"/>
                      </a:lnTo>
                      <a:lnTo>
                        <a:pt x="608" y="654"/>
                      </a:lnTo>
                      <a:lnTo>
                        <a:pt x="615" y="645"/>
                      </a:lnTo>
                      <a:lnTo>
                        <a:pt x="620" y="636"/>
                      </a:lnTo>
                      <a:lnTo>
                        <a:pt x="622" y="627"/>
                      </a:lnTo>
                      <a:lnTo>
                        <a:pt x="622" y="89"/>
                      </a:lnTo>
                      <a:lnTo>
                        <a:pt x="620" y="80"/>
                      </a:lnTo>
                      <a:lnTo>
                        <a:pt x="615" y="72"/>
                      </a:lnTo>
                      <a:lnTo>
                        <a:pt x="608" y="63"/>
                      </a:lnTo>
                      <a:lnTo>
                        <a:pt x="597" y="55"/>
                      </a:lnTo>
                      <a:lnTo>
                        <a:pt x="584" y="46"/>
                      </a:lnTo>
                      <a:lnTo>
                        <a:pt x="568" y="40"/>
                      </a:lnTo>
                      <a:lnTo>
                        <a:pt x="550" y="33"/>
                      </a:lnTo>
                      <a:lnTo>
                        <a:pt x="531" y="27"/>
                      </a:lnTo>
                      <a:lnTo>
                        <a:pt x="509" y="21"/>
                      </a:lnTo>
                      <a:lnTo>
                        <a:pt x="484" y="15"/>
                      </a:lnTo>
                      <a:lnTo>
                        <a:pt x="432" y="8"/>
                      </a:lnTo>
                      <a:lnTo>
                        <a:pt x="373" y="2"/>
                      </a:lnTo>
                      <a:lnTo>
                        <a:pt x="310" y="0"/>
                      </a:lnTo>
                      <a:close/>
                    </a:path>
                  </a:pathLst>
                </a:custGeom>
                <a:solidFill>
                  <a:srgbClr val="00A0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90" name="Freeform 96"/>
                <p:cNvSpPr>
                  <a:spLocks/>
                </p:cNvSpPr>
                <p:nvPr/>
              </p:nvSpPr>
              <p:spPr bwMode="auto">
                <a:xfrm>
                  <a:off x="919" y="2858"/>
                  <a:ext cx="310" cy="90"/>
                </a:xfrm>
                <a:custGeom>
                  <a:avLst/>
                  <a:gdLst>
                    <a:gd name="T0" fmla="*/ 0 w 622"/>
                    <a:gd name="T1" fmla="*/ 45 h 180"/>
                    <a:gd name="T2" fmla="*/ 1 w 622"/>
                    <a:gd name="T3" fmla="*/ 49 h 180"/>
                    <a:gd name="T4" fmla="*/ 3 w 622"/>
                    <a:gd name="T5" fmla="*/ 54 h 180"/>
                    <a:gd name="T6" fmla="*/ 7 w 622"/>
                    <a:gd name="T7" fmla="*/ 58 h 180"/>
                    <a:gd name="T8" fmla="*/ 12 w 622"/>
                    <a:gd name="T9" fmla="*/ 63 h 180"/>
                    <a:gd name="T10" fmla="*/ 19 w 622"/>
                    <a:gd name="T11" fmla="*/ 66 h 180"/>
                    <a:gd name="T12" fmla="*/ 27 w 622"/>
                    <a:gd name="T13" fmla="*/ 70 h 180"/>
                    <a:gd name="T14" fmla="*/ 36 w 622"/>
                    <a:gd name="T15" fmla="*/ 74 h 180"/>
                    <a:gd name="T16" fmla="*/ 46 w 622"/>
                    <a:gd name="T17" fmla="*/ 77 h 180"/>
                    <a:gd name="T18" fmla="*/ 56 w 622"/>
                    <a:gd name="T19" fmla="*/ 80 h 180"/>
                    <a:gd name="T20" fmla="*/ 69 w 622"/>
                    <a:gd name="T21" fmla="*/ 83 h 180"/>
                    <a:gd name="T22" fmla="*/ 95 w 622"/>
                    <a:gd name="T23" fmla="*/ 86 h 180"/>
                    <a:gd name="T24" fmla="*/ 124 w 622"/>
                    <a:gd name="T25" fmla="*/ 89 h 180"/>
                    <a:gd name="T26" fmla="*/ 155 w 622"/>
                    <a:gd name="T27" fmla="*/ 90 h 180"/>
                    <a:gd name="T28" fmla="*/ 186 w 622"/>
                    <a:gd name="T29" fmla="*/ 89 h 180"/>
                    <a:gd name="T30" fmla="*/ 215 w 622"/>
                    <a:gd name="T31" fmla="*/ 86 h 180"/>
                    <a:gd name="T32" fmla="*/ 241 w 622"/>
                    <a:gd name="T33" fmla="*/ 83 h 180"/>
                    <a:gd name="T34" fmla="*/ 254 w 622"/>
                    <a:gd name="T35" fmla="*/ 80 h 180"/>
                    <a:gd name="T36" fmla="*/ 265 w 622"/>
                    <a:gd name="T37" fmla="*/ 77 h 180"/>
                    <a:gd name="T38" fmla="*/ 274 w 622"/>
                    <a:gd name="T39" fmla="*/ 74 h 180"/>
                    <a:gd name="T40" fmla="*/ 283 w 622"/>
                    <a:gd name="T41" fmla="*/ 70 h 180"/>
                    <a:gd name="T42" fmla="*/ 291 w 622"/>
                    <a:gd name="T43" fmla="*/ 66 h 180"/>
                    <a:gd name="T44" fmla="*/ 298 w 622"/>
                    <a:gd name="T45" fmla="*/ 63 h 180"/>
                    <a:gd name="T46" fmla="*/ 303 w 622"/>
                    <a:gd name="T47" fmla="*/ 58 h 180"/>
                    <a:gd name="T48" fmla="*/ 307 w 622"/>
                    <a:gd name="T49" fmla="*/ 54 h 180"/>
                    <a:gd name="T50" fmla="*/ 309 w 622"/>
                    <a:gd name="T51" fmla="*/ 49 h 180"/>
                    <a:gd name="T52" fmla="*/ 310 w 622"/>
                    <a:gd name="T53" fmla="*/ 45 h 180"/>
                    <a:gd name="T54" fmla="*/ 309 w 622"/>
                    <a:gd name="T55" fmla="*/ 40 h 180"/>
                    <a:gd name="T56" fmla="*/ 307 w 622"/>
                    <a:gd name="T57" fmla="*/ 36 h 180"/>
                    <a:gd name="T58" fmla="*/ 303 w 622"/>
                    <a:gd name="T59" fmla="*/ 32 h 180"/>
                    <a:gd name="T60" fmla="*/ 298 w 622"/>
                    <a:gd name="T61" fmla="*/ 28 h 180"/>
                    <a:gd name="T62" fmla="*/ 291 w 622"/>
                    <a:gd name="T63" fmla="*/ 23 h 180"/>
                    <a:gd name="T64" fmla="*/ 283 w 622"/>
                    <a:gd name="T65" fmla="*/ 20 h 180"/>
                    <a:gd name="T66" fmla="*/ 274 w 622"/>
                    <a:gd name="T67" fmla="*/ 17 h 180"/>
                    <a:gd name="T68" fmla="*/ 265 w 622"/>
                    <a:gd name="T69" fmla="*/ 14 h 180"/>
                    <a:gd name="T70" fmla="*/ 254 w 622"/>
                    <a:gd name="T71" fmla="*/ 11 h 180"/>
                    <a:gd name="T72" fmla="*/ 241 w 622"/>
                    <a:gd name="T73" fmla="*/ 8 h 180"/>
                    <a:gd name="T74" fmla="*/ 215 w 622"/>
                    <a:gd name="T75" fmla="*/ 4 h 180"/>
                    <a:gd name="T76" fmla="*/ 186 w 622"/>
                    <a:gd name="T77" fmla="*/ 1 h 180"/>
                    <a:gd name="T78" fmla="*/ 155 w 622"/>
                    <a:gd name="T79" fmla="*/ 0 h 180"/>
                    <a:gd name="T80" fmla="*/ 124 w 622"/>
                    <a:gd name="T81" fmla="*/ 1 h 180"/>
                    <a:gd name="T82" fmla="*/ 95 w 622"/>
                    <a:gd name="T83" fmla="*/ 4 h 180"/>
                    <a:gd name="T84" fmla="*/ 69 w 622"/>
                    <a:gd name="T85" fmla="*/ 8 h 180"/>
                    <a:gd name="T86" fmla="*/ 56 w 622"/>
                    <a:gd name="T87" fmla="*/ 11 h 180"/>
                    <a:gd name="T88" fmla="*/ 46 w 622"/>
                    <a:gd name="T89" fmla="*/ 14 h 180"/>
                    <a:gd name="T90" fmla="*/ 36 w 622"/>
                    <a:gd name="T91" fmla="*/ 17 h 180"/>
                    <a:gd name="T92" fmla="*/ 27 w 622"/>
                    <a:gd name="T93" fmla="*/ 20 h 180"/>
                    <a:gd name="T94" fmla="*/ 19 w 622"/>
                    <a:gd name="T95" fmla="*/ 23 h 180"/>
                    <a:gd name="T96" fmla="*/ 12 w 622"/>
                    <a:gd name="T97" fmla="*/ 28 h 180"/>
                    <a:gd name="T98" fmla="*/ 7 w 622"/>
                    <a:gd name="T99" fmla="*/ 32 h 180"/>
                    <a:gd name="T100" fmla="*/ 3 w 622"/>
                    <a:gd name="T101" fmla="*/ 36 h 180"/>
                    <a:gd name="T102" fmla="*/ 1 w 622"/>
                    <a:gd name="T103" fmla="*/ 40 h 180"/>
                    <a:gd name="T104" fmla="*/ 0 w 622"/>
                    <a:gd name="T105" fmla="*/ 45 h 18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22" h="180">
                      <a:moveTo>
                        <a:pt x="0" y="89"/>
                      </a:moveTo>
                      <a:lnTo>
                        <a:pt x="2" y="98"/>
                      </a:lnTo>
                      <a:lnTo>
                        <a:pt x="7" y="107"/>
                      </a:lnTo>
                      <a:lnTo>
                        <a:pt x="15" y="116"/>
                      </a:lnTo>
                      <a:lnTo>
                        <a:pt x="25" y="125"/>
                      </a:lnTo>
                      <a:lnTo>
                        <a:pt x="38" y="132"/>
                      </a:lnTo>
                      <a:lnTo>
                        <a:pt x="54" y="140"/>
                      </a:lnTo>
                      <a:lnTo>
                        <a:pt x="72" y="147"/>
                      </a:lnTo>
                      <a:lnTo>
                        <a:pt x="92" y="153"/>
                      </a:lnTo>
                      <a:lnTo>
                        <a:pt x="113" y="159"/>
                      </a:lnTo>
                      <a:lnTo>
                        <a:pt x="138" y="165"/>
                      </a:lnTo>
                      <a:lnTo>
                        <a:pt x="190" y="172"/>
                      </a:lnTo>
                      <a:lnTo>
                        <a:pt x="248" y="178"/>
                      </a:lnTo>
                      <a:lnTo>
                        <a:pt x="310" y="180"/>
                      </a:lnTo>
                      <a:lnTo>
                        <a:pt x="373" y="178"/>
                      </a:lnTo>
                      <a:lnTo>
                        <a:pt x="432" y="172"/>
                      </a:lnTo>
                      <a:lnTo>
                        <a:pt x="484" y="165"/>
                      </a:lnTo>
                      <a:lnTo>
                        <a:pt x="509" y="159"/>
                      </a:lnTo>
                      <a:lnTo>
                        <a:pt x="531" y="153"/>
                      </a:lnTo>
                      <a:lnTo>
                        <a:pt x="550" y="147"/>
                      </a:lnTo>
                      <a:lnTo>
                        <a:pt x="568" y="140"/>
                      </a:lnTo>
                      <a:lnTo>
                        <a:pt x="584" y="132"/>
                      </a:lnTo>
                      <a:lnTo>
                        <a:pt x="597" y="125"/>
                      </a:lnTo>
                      <a:lnTo>
                        <a:pt x="608" y="116"/>
                      </a:lnTo>
                      <a:lnTo>
                        <a:pt x="615" y="107"/>
                      </a:lnTo>
                      <a:lnTo>
                        <a:pt x="620" y="98"/>
                      </a:lnTo>
                      <a:lnTo>
                        <a:pt x="622" y="89"/>
                      </a:lnTo>
                      <a:lnTo>
                        <a:pt x="620" y="80"/>
                      </a:lnTo>
                      <a:lnTo>
                        <a:pt x="615" y="72"/>
                      </a:lnTo>
                      <a:lnTo>
                        <a:pt x="608" y="63"/>
                      </a:lnTo>
                      <a:lnTo>
                        <a:pt x="597" y="55"/>
                      </a:lnTo>
                      <a:lnTo>
                        <a:pt x="584" y="46"/>
                      </a:lnTo>
                      <a:lnTo>
                        <a:pt x="568" y="40"/>
                      </a:lnTo>
                      <a:lnTo>
                        <a:pt x="550" y="33"/>
                      </a:lnTo>
                      <a:lnTo>
                        <a:pt x="531" y="27"/>
                      </a:lnTo>
                      <a:lnTo>
                        <a:pt x="509" y="21"/>
                      </a:lnTo>
                      <a:lnTo>
                        <a:pt x="484" y="15"/>
                      </a:lnTo>
                      <a:lnTo>
                        <a:pt x="432" y="8"/>
                      </a:lnTo>
                      <a:lnTo>
                        <a:pt x="373" y="2"/>
                      </a:lnTo>
                      <a:lnTo>
                        <a:pt x="310" y="0"/>
                      </a:lnTo>
                      <a:lnTo>
                        <a:pt x="248" y="2"/>
                      </a:lnTo>
                      <a:lnTo>
                        <a:pt x="190" y="8"/>
                      </a:lnTo>
                      <a:lnTo>
                        <a:pt x="138" y="15"/>
                      </a:lnTo>
                      <a:lnTo>
                        <a:pt x="113" y="21"/>
                      </a:lnTo>
                      <a:lnTo>
                        <a:pt x="92" y="27"/>
                      </a:lnTo>
                      <a:lnTo>
                        <a:pt x="72" y="33"/>
                      </a:lnTo>
                      <a:lnTo>
                        <a:pt x="54" y="40"/>
                      </a:lnTo>
                      <a:lnTo>
                        <a:pt x="38" y="46"/>
                      </a:lnTo>
                      <a:lnTo>
                        <a:pt x="25" y="55"/>
                      </a:lnTo>
                      <a:lnTo>
                        <a:pt x="15" y="63"/>
                      </a:lnTo>
                      <a:lnTo>
                        <a:pt x="7" y="72"/>
                      </a:lnTo>
                      <a:lnTo>
                        <a:pt x="2" y="80"/>
                      </a:lnTo>
                      <a:lnTo>
                        <a:pt x="0" y="89"/>
                      </a:lnTo>
                      <a:close/>
                    </a:path>
                  </a:pathLst>
                </a:custGeom>
                <a:solidFill>
                  <a:srgbClr val="32B3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91" name="Freeform 97"/>
                <p:cNvSpPr>
                  <a:spLocks/>
                </p:cNvSpPr>
                <p:nvPr/>
              </p:nvSpPr>
              <p:spPr bwMode="auto">
                <a:xfrm>
                  <a:off x="919" y="2858"/>
                  <a:ext cx="310" cy="358"/>
                </a:xfrm>
                <a:custGeom>
                  <a:avLst/>
                  <a:gdLst>
                    <a:gd name="T0" fmla="*/ 155 w 622"/>
                    <a:gd name="T1" fmla="*/ 0 h 716"/>
                    <a:gd name="T2" fmla="*/ 124 w 622"/>
                    <a:gd name="T3" fmla="*/ 1 h 716"/>
                    <a:gd name="T4" fmla="*/ 95 w 622"/>
                    <a:gd name="T5" fmla="*/ 4 h 716"/>
                    <a:gd name="T6" fmla="*/ 69 w 622"/>
                    <a:gd name="T7" fmla="*/ 8 h 716"/>
                    <a:gd name="T8" fmla="*/ 56 w 622"/>
                    <a:gd name="T9" fmla="*/ 11 h 716"/>
                    <a:gd name="T10" fmla="*/ 46 w 622"/>
                    <a:gd name="T11" fmla="*/ 14 h 716"/>
                    <a:gd name="T12" fmla="*/ 36 w 622"/>
                    <a:gd name="T13" fmla="*/ 17 h 716"/>
                    <a:gd name="T14" fmla="*/ 27 w 622"/>
                    <a:gd name="T15" fmla="*/ 20 h 716"/>
                    <a:gd name="T16" fmla="*/ 19 w 622"/>
                    <a:gd name="T17" fmla="*/ 23 h 716"/>
                    <a:gd name="T18" fmla="*/ 12 w 622"/>
                    <a:gd name="T19" fmla="*/ 28 h 716"/>
                    <a:gd name="T20" fmla="*/ 7 w 622"/>
                    <a:gd name="T21" fmla="*/ 32 h 716"/>
                    <a:gd name="T22" fmla="*/ 3 w 622"/>
                    <a:gd name="T23" fmla="*/ 36 h 716"/>
                    <a:gd name="T24" fmla="*/ 1 w 622"/>
                    <a:gd name="T25" fmla="*/ 40 h 716"/>
                    <a:gd name="T26" fmla="*/ 0 w 622"/>
                    <a:gd name="T27" fmla="*/ 45 h 716"/>
                    <a:gd name="T28" fmla="*/ 0 w 622"/>
                    <a:gd name="T29" fmla="*/ 314 h 716"/>
                    <a:gd name="T30" fmla="*/ 1 w 622"/>
                    <a:gd name="T31" fmla="*/ 318 h 716"/>
                    <a:gd name="T32" fmla="*/ 3 w 622"/>
                    <a:gd name="T33" fmla="*/ 323 h 716"/>
                    <a:gd name="T34" fmla="*/ 7 w 622"/>
                    <a:gd name="T35" fmla="*/ 327 h 716"/>
                    <a:gd name="T36" fmla="*/ 12 w 622"/>
                    <a:gd name="T37" fmla="*/ 331 h 716"/>
                    <a:gd name="T38" fmla="*/ 19 w 622"/>
                    <a:gd name="T39" fmla="*/ 335 h 716"/>
                    <a:gd name="T40" fmla="*/ 27 w 622"/>
                    <a:gd name="T41" fmla="*/ 339 h 716"/>
                    <a:gd name="T42" fmla="*/ 36 w 622"/>
                    <a:gd name="T43" fmla="*/ 342 h 716"/>
                    <a:gd name="T44" fmla="*/ 46 w 622"/>
                    <a:gd name="T45" fmla="*/ 345 h 716"/>
                    <a:gd name="T46" fmla="*/ 56 w 622"/>
                    <a:gd name="T47" fmla="*/ 348 h 716"/>
                    <a:gd name="T48" fmla="*/ 69 w 622"/>
                    <a:gd name="T49" fmla="*/ 351 h 716"/>
                    <a:gd name="T50" fmla="*/ 95 w 622"/>
                    <a:gd name="T51" fmla="*/ 355 h 716"/>
                    <a:gd name="T52" fmla="*/ 124 w 622"/>
                    <a:gd name="T53" fmla="*/ 358 h 716"/>
                    <a:gd name="T54" fmla="*/ 155 w 622"/>
                    <a:gd name="T55" fmla="*/ 358 h 716"/>
                    <a:gd name="T56" fmla="*/ 186 w 622"/>
                    <a:gd name="T57" fmla="*/ 358 h 716"/>
                    <a:gd name="T58" fmla="*/ 215 w 622"/>
                    <a:gd name="T59" fmla="*/ 355 h 716"/>
                    <a:gd name="T60" fmla="*/ 241 w 622"/>
                    <a:gd name="T61" fmla="*/ 351 h 716"/>
                    <a:gd name="T62" fmla="*/ 254 w 622"/>
                    <a:gd name="T63" fmla="*/ 348 h 716"/>
                    <a:gd name="T64" fmla="*/ 265 w 622"/>
                    <a:gd name="T65" fmla="*/ 345 h 716"/>
                    <a:gd name="T66" fmla="*/ 274 w 622"/>
                    <a:gd name="T67" fmla="*/ 342 h 716"/>
                    <a:gd name="T68" fmla="*/ 283 w 622"/>
                    <a:gd name="T69" fmla="*/ 339 h 716"/>
                    <a:gd name="T70" fmla="*/ 291 w 622"/>
                    <a:gd name="T71" fmla="*/ 335 h 716"/>
                    <a:gd name="T72" fmla="*/ 298 w 622"/>
                    <a:gd name="T73" fmla="*/ 331 h 716"/>
                    <a:gd name="T74" fmla="*/ 303 w 622"/>
                    <a:gd name="T75" fmla="*/ 327 h 716"/>
                    <a:gd name="T76" fmla="*/ 307 w 622"/>
                    <a:gd name="T77" fmla="*/ 323 h 716"/>
                    <a:gd name="T78" fmla="*/ 309 w 622"/>
                    <a:gd name="T79" fmla="*/ 318 h 716"/>
                    <a:gd name="T80" fmla="*/ 310 w 622"/>
                    <a:gd name="T81" fmla="*/ 314 h 716"/>
                    <a:gd name="T82" fmla="*/ 310 w 622"/>
                    <a:gd name="T83" fmla="*/ 45 h 716"/>
                    <a:gd name="T84" fmla="*/ 309 w 622"/>
                    <a:gd name="T85" fmla="*/ 40 h 716"/>
                    <a:gd name="T86" fmla="*/ 307 w 622"/>
                    <a:gd name="T87" fmla="*/ 36 h 716"/>
                    <a:gd name="T88" fmla="*/ 303 w 622"/>
                    <a:gd name="T89" fmla="*/ 32 h 716"/>
                    <a:gd name="T90" fmla="*/ 298 w 622"/>
                    <a:gd name="T91" fmla="*/ 28 h 716"/>
                    <a:gd name="T92" fmla="*/ 291 w 622"/>
                    <a:gd name="T93" fmla="*/ 23 h 716"/>
                    <a:gd name="T94" fmla="*/ 283 w 622"/>
                    <a:gd name="T95" fmla="*/ 20 h 716"/>
                    <a:gd name="T96" fmla="*/ 274 w 622"/>
                    <a:gd name="T97" fmla="*/ 17 h 716"/>
                    <a:gd name="T98" fmla="*/ 265 w 622"/>
                    <a:gd name="T99" fmla="*/ 14 h 716"/>
                    <a:gd name="T100" fmla="*/ 254 w 622"/>
                    <a:gd name="T101" fmla="*/ 11 h 716"/>
                    <a:gd name="T102" fmla="*/ 241 w 622"/>
                    <a:gd name="T103" fmla="*/ 8 h 716"/>
                    <a:gd name="T104" fmla="*/ 215 w 622"/>
                    <a:gd name="T105" fmla="*/ 4 h 716"/>
                    <a:gd name="T106" fmla="*/ 186 w 622"/>
                    <a:gd name="T107" fmla="*/ 1 h 716"/>
                    <a:gd name="T108" fmla="*/ 155 w 622"/>
                    <a:gd name="T109" fmla="*/ 0 h 71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6">
                      <a:moveTo>
                        <a:pt x="310" y="0"/>
                      </a:moveTo>
                      <a:lnTo>
                        <a:pt x="248" y="2"/>
                      </a:lnTo>
                      <a:lnTo>
                        <a:pt x="190" y="8"/>
                      </a:lnTo>
                      <a:lnTo>
                        <a:pt x="138" y="15"/>
                      </a:lnTo>
                      <a:lnTo>
                        <a:pt x="113" y="21"/>
                      </a:lnTo>
                      <a:lnTo>
                        <a:pt x="92" y="27"/>
                      </a:lnTo>
                      <a:lnTo>
                        <a:pt x="72" y="33"/>
                      </a:lnTo>
                      <a:lnTo>
                        <a:pt x="54" y="40"/>
                      </a:lnTo>
                      <a:lnTo>
                        <a:pt x="38" y="46"/>
                      </a:lnTo>
                      <a:lnTo>
                        <a:pt x="25" y="55"/>
                      </a:lnTo>
                      <a:lnTo>
                        <a:pt x="15" y="63"/>
                      </a:lnTo>
                      <a:lnTo>
                        <a:pt x="7" y="72"/>
                      </a:lnTo>
                      <a:lnTo>
                        <a:pt x="2" y="80"/>
                      </a:lnTo>
                      <a:lnTo>
                        <a:pt x="0" y="89"/>
                      </a:lnTo>
                      <a:lnTo>
                        <a:pt x="0" y="627"/>
                      </a:lnTo>
                      <a:lnTo>
                        <a:pt x="2" y="636"/>
                      </a:lnTo>
                      <a:lnTo>
                        <a:pt x="7" y="645"/>
                      </a:lnTo>
                      <a:lnTo>
                        <a:pt x="15" y="654"/>
                      </a:lnTo>
                      <a:lnTo>
                        <a:pt x="25" y="661"/>
                      </a:lnTo>
                      <a:lnTo>
                        <a:pt x="38" y="670"/>
                      </a:lnTo>
                      <a:lnTo>
                        <a:pt x="54" y="678"/>
                      </a:lnTo>
                      <a:lnTo>
                        <a:pt x="72" y="684"/>
                      </a:lnTo>
                      <a:lnTo>
                        <a:pt x="92" y="690"/>
                      </a:lnTo>
                      <a:lnTo>
                        <a:pt x="113" y="696"/>
                      </a:lnTo>
                      <a:lnTo>
                        <a:pt x="138" y="701"/>
                      </a:lnTo>
                      <a:lnTo>
                        <a:pt x="190" y="709"/>
                      </a:lnTo>
                      <a:lnTo>
                        <a:pt x="248" y="715"/>
                      </a:lnTo>
                      <a:lnTo>
                        <a:pt x="310" y="716"/>
                      </a:lnTo>
                      <a:lnTo>
                        <a:pt x="373" y="715"/>
                      </a:lnTo>
                      <a:lnTo>
                        <a:pt x="432" y="709"/>
                      </a:lnTo>
                      <a:lnTo>
                        <a:pt x="484" y="701"/>
                      </a:lnTo>
                      <a:lnTo>
                        <a:pt x="509" y="696"/>
                      </a:lnTo>
                      <a:lnTo>
                        <a:pt x="531" y="690"/>
                      </a:lnTo>
                      <a:lnTo>
                        <a:pt x="550" y="684"/>
                      </a:lnTo>
                      <a:lnTo>
                        <a:pt x="568" y="678"/>
                      </a:lnTo>
                      <a:lnTo>
                        <a:pt x="584" y="670"/>
                      </a:lnTo>
                      <a:lnTo>
                        <a:pt x="597" y="661"/>
                      </a:lnTo>
                      <a:lnTo>
                        <a:pt x="608" y="654"/>
                      </a:lnTo>
                      <a:lnTo>
                        <a:pt x="615" y="645"/>
                      </a:lnTo>
                      <a:lnTo>
                        <a:pt x="620" y="636"/>
                      </a:lnTo>
                      <a:lnTo>
                        <a:pt x="622" y="627"/>
                      </a:lnTo>
                      <a:lnTo>
                        <a:pt x="622" y="89"/>
                      </a:lnTo>
                      <a:lnTo>
                        <a:pt x="620" y="80"/>
                      </a:lnTo>
                      <a:lnTo>
                        <a:pt x="615" y="72"/>
                      </a:lnTo>
                      <a:lnTo>
                        <a:pt x="608" y="63"/>
                      </a:lnTo>
                      <a:lnTo>
                        <a:pt x="597" y="55"/>
                      </a:lnTo>
                      <a:lnTo>
                        <a:pt x="584" y="46"/>
                      </a:lnTo>
                      <a:lnTo>
                        <a:pt x="568" y="40"/>
                      </a:lnTo>
                      <a:lnTo>
                        <a:pt x="550" y="33"/>
                      </a:lnTo>
                      <a:lnTo>
                        <a:pt x="531" y="27"/>
                      </a:lnTo>
                      <a:lnTo>
                        <a:pt x="509" y="21"/>
                      </a:lnTo>
                      <a:lnTo>
                        <a:pt x="484" y="15"/>
                      </a:lnTo>
                      <a:lnTo>
                        <a:pt x="432" y="8"/>
                      </a:lnTo>
                      <a:lnTo>
                        <a:pt x="373" y="2"/>
                      </a:lnTo>
                      <a:lnTo>
                        <a:pt x="310" y="0"/>
                      </a:lnTo>
                      <a:close/>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sp>
              <p:nvSpPr>
                <p:cNvPr id="192" name="Freeform 98"/>
                <p:cNvSpPr>
                  <a:spLocks/>
                </p:cNvSpPr>
                <p:nvPr/>
              </p:nvSpPr>
              <p:spPr bwMode="auto">
                <a:xfrm>
                  <a:off x="919" y="2903"/>
                  <a:ext cx="310" cy="45"/>
                </a:xfrm>
                <a:custGeom>
                  <a:avLst/>
                  <a:gdLst>
                    <a:gd name="T0" fmla="*/ 0 w 622"/>
                    <a:gd name="T1" fmla="*/ 0 h 91"/>
                    <a:gd name="T2" fmla="*/ 1 w 622"/>
                    <a:gd name="T3" fmla="*/ 4 h 91"/>
                    <a:gd name="T4" fmla="*/ 3 w 622"/>
                    <a:gd name="T5" fmla="*/ 9 h 91"/>
                    <a:gd name="T6" fmla="*/ 7 w 622"/>
                    <a:gd name="T7" fmla="*/ 13 h 91"/>
                    <a:gd name="T8" fmla="*/ 12 w 622"/>
                    <a:gd name="T9" fmla="*/ 18 h 91"/>
                    <a:gd name="T10" fmla="*/ 19 w 622"/>
                    <a:gd name="T11" fmla="*/ 21 h 91"/>
                    <a:gd name="T12" fmla="*/ 27 w 622"/>
                    <a:gd name="T13" fmla="*/ 25 h 91"/>
                    <a:gd name="T14" fmla="*/ 36 w 622"/>
                    <a:gd name="T15" fmla="*/ 29 h 91"/>
                    <a:gd name="T16" fmla="*/ 46 w 622"/>
                    <a:gd name="T17" fmla="*/ 32 h 91"/>
                    <a:gd name="T18" fmla="*/ 56 w 622"/>
                    <a:gd name="T19" fmla="*/ 35 h 91"/>
                    <a:gd name="T20" fmla="*/ 69 w 622"/>
                    <a:gd name="T21" fmla="*/ 38 h 91"/>
                    <a:gd name="T22" fmla="*/ 95 w 622"/>
                    <a:gd name="T23" fmla="*/ 41 h 91"/>
                    <a:gd name="T24" fmla="*/ 124 w 622"/>
                    <a:gd name="T25" fmla="*/ 44 h 91"/>
                    <a:gd name="T26" fmla="*/ 155 w 622"/>
                    <a:gd name="T27" fmla="*/ 45 h 91"/>
                    <a:gd name="T28" fmla="*/ 186 w 622"/>
                    <a:gd name="T29" fmla="*/ 44 h 91"/>
                    <a:gd name="T30" fmla="*/ 215 w 622"/>
                    <a:gd name="T31" fmla="*/ 41 h 91"/>
                    <a:gd name="T32" fmla="*/ 241 w 622"/>
                    <a:gd name="T33" fmla="*/ 38 h 91"/>
                    <a:gd name="T34" fmla="*/ 254 w 622"/>
                    <a:gd name="T35" fmla="*/ 35 h 91"/>
                    <a:gd name="T36" fmla="*/ 265 w 622"/>
                    <a:gd name="T37" fmla="*/ 32 h 91"/>
                    <a:gd name="T38" fmla="*/ 274 w 622"/>
                    <a:gd name="T39" fmla="*/ 29 h 91"/>
                    <a:gd name="T40" fmla="*/ 283 w 622"/>
                    <a:gd name="T41" fmla="*/ 25 h 91"/>
                    <a:gd name="T42" fmla="*/ 291 w 622"/>
                    <a:gd name="T43" fmla="*/ 21 h 91"/>
                    <a:gd name="T44" fmla="*/ 298 w 622"/>
                    <a:gd name="T45" fmla="*/ 18 h 91"/>
                    <a:gd name="T46" fmla="*/ 303 w 622"/>
                    <a:gd name="T47" fmla="*/ 13 h 91"/>
                    <a:gd name="T48" fmla="*/ 307 w 622"/>
                    <a:gd name="T49" fmla="*/ 9 h 91"/>
                    <a:gd name="T50" fmla="*/ 309 w 622"/>
                    <a:gd name="T51" fmla="*/ 4 h 91"/>
                    <a:gd name="T52" fmla="*/ 310 w 622"/>
                    <a:gd name="T53" fmla="*/ 0 h 9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22" h="91">
                      <a:moveTo>
                        <a:pt x="0" y="0"/>
                      </a:moveTo>
                      <a:lnTo>
                        <a:pt x="2" y="9"/>
                      </a:lnTo>
                      <a:lnTo>
                        <a:pt x="7" y="18"/>
                      </a:lnTo>
                      <a:lnTo>
                        <a:pt x="15" y="27"/>
                      </a:lnTo>
                      <a:lnTo>
                        <a:pt x="25" y="36"/>
                      </a:lnTo>
                      <a:lnTo>
                        <a:pt x="38" y="43"/>
                      </a:lnTo>
                      <a:lnTo>
                        <a:pt x="54" y="51"/>
                      </a:lnTo>
                      <a:lnTo>
                        <a:pt x="72" y="58"/>
                      </a:lnTo>
                      <a:lnTo>
                        <a:pt x="92" y="64"/>
                      </a:lnTo>
                      <a:lnTo>
                        <a:pt x="113" y="70"/>
                      </a:lnTo>
                      <a:lnTo>
                        <a:pt x="138" y="76"/>
                      </a:lnTo>
                      <a:lnTo>
                        <a:pt x="190" y="83"/>
                      </a:lnTo>
                      <a:lnTo>
                        <a:pt x="248" y="89"/>
                      </a:lnTo>
                      <a:lnTo>
                        <a:pt x="310" y="91"/>
                      </a:lnTo>
                      <a:lnTo>
                        <a:pt x="373" y="89"/>
                      </a:lnTo>
                      <a:lnTo>
                        <a:pt x="432" y="83"/>
                      </a:lnTo>
                      <a:lnTo>
                        <a:pt x="484" y="76"/>
                      </a:lnTo>
                      <a:lnTo>
                        <a:pt x="509" y="70"/>
                      </a:lnTo>
                      <a:lnTo>
                        <a:pt x="531" y="64"/>
                      </a:lnTo>
                      <a:lnTo>
                        <a:pt x="550" y="58"/>
                      </a:lnTo>
                      <a:lnTo>
                        <a:pt x="568" y="51"/>
                      </a:lnTo>
                      <a:lnTo>
                        <a:pt x="584" y="43"/>
                      </a:lnTo>
                      <a:lnTo>
                        <a:pt x="597" y="36"/>
                      </a:lnTo>
                      <a:lnTo>
                        <a:pt x="608" y="27"/>
                      </a:lnTo>
                      <a:lnTo>
                        <a:pt x="615" y="18"/>
                      </a:lnTo>
                      <a:lnTo>
                        <a:pt x="620" y="9"/>
                      </a:lnTo>
                      <a:lnTo>
                        <a:pt x="622"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grpSp>
          <p:grpSp>
            <p:nvGrpSpPr>
              <p:cNvPr id="177" name="Group 99"/>
              <p:cNvGrpSpPr>
                <a:grpSpLocks/>
              </p:cNvGrpSpPr>
              <p:nvPr/>
            </p:nvGrpSpPr>
            <p:grpSpPr bwMode="auto">
              <a:xfrm>
                <a:off x="971" y="2903"/>
                <a:ext cx="310" cy="358"/>
                <a:chOff x="971" y="2903"/>
                <a:chExt cx="310" cy="358"/>
              </a:xfrm>
            </p:grpSpPr>
            <p:sp>
              <p:nvSpPr>
                <p:cNvPr id="185" name="Freeform 100"/>
                <p:cNvSpPr>
                  <a:spLocks/>
                </p:cNvSpPr>
                <p:nvPr/>
              </p:nvSpPr>
              <p:spPr bwMode="auto">
                <a:xfrm>
                  <a:off x="971" y="2903"/>
                  <a:ext cx="310" cy="358"/>
                </a:xfrm>
                <a:custGeom>
                  <a:avLst/>
                  <a:gdLst>
                    <a:gd name="T0" fmla="*/ 155 w 622"/>
                    <a:gd name="T1" fmla="*/ 0 h 716"/>
                    <a:gd name="T2" fmla="*/ 123 w 622"/>
                    <a:gd name="T3" fmla="*/ 1 h 716"/>
                    <a:gd name="T4" fmla="*/ 95 w 622"/>
                    <a:gd name="T5" fmla="*/ 4 h 716"/>
                    <a:gd name="T6" fmla="*/ 69 w 622"/>
                    <a:gd name="T7" fmla="*/ 8 h 716"/>
                    <a:gd name="T8" fmla="*/ 56 w 622"/>
                    <a:gd name="T9" fmla="*/ 11 h 716"/>
                    <a:gd name="T10" fmla="*/ 46 w 622"/>
                    <a:gd name="T11" fmla="*/ 14 h 716"/>
                    <a:gd name="T12" fmla="*/ 36 w 622"/>
                    <a:gd name="T13" fmla="*/ 16 h 716"/>
                    <a:gd name="T14" fmla="*/ 27 w 622"/>
                    <a:gd name="T15" fmla="*/ 20 h 716"/>
                    <a:gd name="T16" fmla="*/ 19 w 622"/>
                    <a:gd name="T17" fmla="*/ 23 h 716"/>
                    <a:gd name="T18" fmla="*/ 12 w 622"/>
                    <a:gd name="T19" fmla="*/ 28 h 716"/>
                    <a:gd name="T20" fmla="*/ 7 w 622"/>
                    <a:gd name="T21" fmla="*/ 31 h 716"/>
                    <a:gd name="T22" fmla="*/ 3 w 622"/>
                    <a:gd name="T23" fmla="*/ 36 h 716"/>
                    <a:gd name="T24" fmla="*/ 1 w 622"/>
                    <a:gd name="T25" fmla="*/ 40 h 716"/>
                    <a:gd name="T26" fmla="*/ 0 w 622"/>
                    <a:gd name="T27" fmla="*/ 45 h 716"/>
                    <a:gd name="T28" fmla="*/ 0 w 622"/>
                    <a:gd name="T29" fmla="*/ 314 h 716"/>
                    <a:gd name="T30" fmla="*/ 1 w 622"/>
                    <a:gd name="T31" fmla="*/ 318 h 716"/>
                    <a:gd name="T32" fmla="*/ 3 w 622"/>
                    <a:gd name="T33" fmla="*/ 323 h 716"/>
                    <a:gd name="T34" fmla="*/ 7 w 622"/>
                    <a:gd name="T35" fmla="*/ 327 h 716"/>
                    <a:gd name="T36" fmla="*/ 12 w 622"/>
                    <a:gd name="T37" fmla="*/ 331 h 716"/>
                    <a:gd name="T38" fmla="*/ 19 w 622"/>
                    <a:gd name="T39" fmla="*/ 335 h 716"/>
                    <a:gd name="T40" fmla="*/ 27 w 622"/>
                    <a:gd name="T41" fmla="*/ 339 h 716"/>
                    <a:gd name="T42" fmla="*/ 36 w 622"/>
                    <a:gd name="T43" fmla="*/ 342 h 716"/>
                    <a:gd name="T44" fmla="*/ 46 w 622"/>
                    <a:gd name="T45" fmla="*/ 345 h 716"/>
                    <a:gd name="T46" fmla="*/ 56 w 622"/>
                    <a:gd name="T47" fmla="*/ 348 h 716"/>
                    <a:gd name="T48" fmla="*/ 69 w 622"/>
                    <a:gd name="T49" fmla="*/ 351 h 716"/>
                    <a:gd name="T50" fmla="*/ 95 w 622"/>
                    <a:gd name="T51" fmla="*/ 354 h 716"/>
                    <a:gd name="T52" fmla="*/ 123 w 622"/>
                    <a:gd name="T53" fmla="*/ 357 h 716"/>
                    <a:gd name="T54" fmla="*/ 155 w 622"/>
                    <a:gd name="T55" fmla="*/ 358 h 716"/>
                    <a:gd name="T56" fmla="*/ 186 w 622"/>
                    <a:gd name="T57" fmla="*/ 357 h 716"/>
                    <a:gd name="T58" fmla="*/ 215 w 622"/>
                    <a:gd name="T59" fmla="*/ 354 h 716"/>
                    <a:gd name="T60" fmla="*/ 241 w 622"/>
                    <a:gd name="T61" fmla="*/ 351 h 716"/>
                    <a:gd name="T62" fmla="*/ 254 w 622"/>
                    <a:gd name="T63" fmla="*/ 348 h 716"/>
                    <a:gd name="T64" fmla="*/ 264 w 622"/>
                    <a:gd name="T65" fmla="*/ 345 h 716"/>
                    <a:gd name="T66" fmla="*/ 274 w 622"/>
                    <a:gd name="T67" fmla="*/ 342 h 716"/>
                    <a:gd name="T68" fmla="*/ 283 w 622"/>
                    <a:gd name="T69" fmla="*/ 339 h 716"/>
                    <a:gd name="T70" fmla="*/ 291 w 622"/>
                    <a:gd name="T71" fmla="*/ 335 h 716"/>
                    <a:gd name="T72" fmla="*/ 298 w 622"/>
                    <a:gd name="T73" fmla="*/ 331 h 716"/>
                    <a:gd name="T74" fmla="*/ 303 w 622"/>
                    <a:gd name="T75" fmla="*/ 327 h 716"/>
                    <a:gd name="T76" fmla="*/ 307 w 622"/>
                    <a:gd name="T77" fmla="*/ 323 h 716"/>
                    <a:gd name="T78" fmla="*/ 309 w 622"/>
                    <a:gd name="T79" fmla="*/ 318 h 716"/>
                    <a:gd name="T80" fmla="*/ 310 w 622"/>
                    <a:gd name="T81" fmla="*/ 314 h 716"/>
                    <a:gd name="T82" fmla="*/ 310 w 622"/>
                    <a:gd name="T83" fmla="*/ 45 h 716"/>
                    <a:gd name="T84" fmla="*/ 309 w 622"/>
                    <a:gd name="T85" fmla="*/ 40 h 716"/>
                    <a:gd name="T86" fmla="*/ 307 w 622"/>
                    <a:gd name="T87" fmla="*/ 36 h 716"/>
                    <a:gd name="T88" fmla="*/ 303 w 622"/>
                    <a:gd name="T89" fmla="*/ 31 h 716"/>
                    <a:gd name="T90" fmla="*/ 298 w 622"/>
                    <a:gd name="T91" fmla="*/ 28 h 716"/>
                    <a:gd name="T92" fmla="*/ 291 w 622"/>
                    <a:gd name="T93" fmla="*/ 23 h 716"/>
                    <a:gd name="T94" fmla="*/ 283 w 622"/>
                    <a:gd name="T95" fmla="*/ 20 h 716"/>
                    <a:gd name="T96" fmla="*/ 274 w 622"/>
                    <a:gd name="T97" fmla="*/ 16 h 716"/>
                    <a:gd name="T98" fmla="*/ 264 w 622"/>
                    <a:gd name="T99" fmla="*/ 14 h 716"/>
                    <a:gd name="T100" fmla="*/ 254 w 622"/>
                    <a:gd name="T101" fmla="*/ 11 h 716"/>
                    <a:gd name="T102" fmla="*/ 241 w 622"/>
                    <a:gd name="T103" fmla="*/ 8 h 716"/>
                    <a:gd name="T104" fmla="*/ 215 w 622"/>
                    <a:gd name="T105" fmla="*/ 4 h 716"/>
                    <a:gd name="T106" fmla="*/ 186 w 622"/>
                    <a:gd name="T107" fmla="*/ 1 h 716"/>
                    <a:gd name="T108" fmla="*/ 155 w 622"/>
                    <a:gd name="T109" fmla="*/ 0 h 71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6">
                      <a:moveTo>
                        <a:pt x="310" y="0"/>
                      </a:moveTo>
                      <a:lnTo>
                        <a:pt x="247" y="1"/>
                      </a:lnTo>
                      <a:lnTo>
                        <a:pt x="190" y="7"/>
                      </a:lnTo>
                      <a:lnTo>
                        <a:pt x="138" y="15"/>
                      </a:lnTo>
                      <a:lnTo>
                        <a:pt x="113" y="21"/>
                      </a:lnTo>
                      <a:lnTo>
                        <a:pt x="92" y="27"/>
                      </a:lnTo>
                      <a:lnTo>
                        <a:pt x="72" y="32"/>
                      </a:lnTo>
                      <a:lnTo>
                        <a:pt x="54" y="40"/>
                      </a:lnTo>
                      <a:lnTo>
                        <a:pt x="38" y="46"/>
                      </a:lnTo>
                      <a:lnTo>
                        <a:pt x="25" y="55"/>
                      </a:lnTo>
                      <a:lnTo>
                        <a:pt x="15" y="62"/>
                      </a:lnTo>
                      <a:lnTo>
                        <a:pt x="7" y="71"/>
                      </a:lnTo>
                      <a:lnTo>
                        <a:pt x="2" y="80"/>
                      </a:lnTo>
                      <a:lnTo>
                        <a:pt x="0" y="89"/>
                      </a:lnTo>
                      <a:lnTo>
                        <a:pt x="0" y="627"/>
                      </a:lnTo>
                      <a:lnTo>
                        <a:pt x="2" y="636"/>
                      </a:lnTo>
                      <a:lnTo>
                        <a:pt x="7" y="645"/>
                      </a:lnTo>
                      <a:lnTo>
                        <a:pt x="15" y="653"/>
                      </a:lnTo>
                      <a:lnTo>
                        <a:pt x="25" y="661"/>
                      </a:lnTo>
                      <a:lnTo>
                        <a:pt x="38" y="670"/>
                      </a:lnTo>
                      <a:lnTo>
                        <a:pt x="54" y="677"/>
                      </a:lnTo>
                      <a:lnTo>
                        <a:pt x="72" y="683"/>
                      </a:lnTo>
                      <a:lnTo>
                        <a:pt x="92" y="689"/>
                      </a:lnTo>
                      <a:lnTo>
                        <a:pt x="113" y="695"/>
                      </a:lnTo>
                      <a:lnTo>
                        <a:pt x="138" y="701"/>
                      </a:lnTo>
                      <a:lnTo>
                        <a:pt x="190" y="708"/>
                      </a:lnTo>
                      <a:lnTo>
                        <a:pt x="247" y="714"/>
                      </a:lnTo>
                      <a:lnTo>
                        <a:pt x="310" y="716"/>
                      </a:lnTo>
                      <a:lnTo>
                        <a:pt x="373" y="714"/>
                      </a:lnTo>
                      <a:lnTo>
                        <a:pt x="432" y="708"/>
                      </a:lnTo>
                      <a:lnTo>
                        <a:pt x="484" y="701"/>
                      </a:lnTo>
                      <a:lnTo>
                        <a:pt x="509" y="695"/>
                      </a:lnTo>
                      <a:lnTo>
                        <a:pt x="530" y="689"/>
                      </a:lnTo>
                      <a:lnTo>
                        <a:pt x="550" y="683"/>
                      </a:lnTo>
                      <a:lnTo>
                        <a:pt x="568" y="677"/>
                      </a:lnTo>
                      <a:lnTo>
                        <a:pt x="584" y="670"/>
                      </a:lnTo>
                      <a:lnTo>
                        <a:pt x="597" y="661"/>
                      </a:lnTo>
                      <a:lnTo>
                        <a:pt x="607" y="653"/>
                      </a:lnTo>
                      <a:lnTo>
                        <a:pt x="615" y="645"/>
                      </a:lnTo>
                      <a:lnTo>
                        <a:pt x="620" y="636"/>
                      </a:lnTo>
                      <a:lnTo>
                        <a:pt x="622" y="627"/>
                      </a:lnTo>
                      <a:lnTo>
                        <a:pt x="622" y="89"/>
                      </a:lnTo>
                      <a:lnTo>
                        <a:pt x="620" y="80"/>
                      </a:lnTo>
                      <a:lnTo>
                        <a:pt x="615" y="71"/>
                      </a:lnTo>
                      <a:lnTo>
                        <a:pt x="607" y="62"/>
                      </a:lnTo>
                      <a:lnTo>
                        <a:pt x="597" y="55"/>
                      </a:lnTo>
                      <a:lnTo>
                        <a:pt x="584" y="46"/>
                      </a:lnTo>
                      <a:lnTo>
                        <a:pt x="568" y="40"/>
                      </a:lnTo>
                      <a:lnTo>
                        <a:pt x="550" y="32"/>
                      </a:lnTo>
                      <a:lnTo>
                        <a:pt x="530" y="27"/>
                      </a:lnTo>
                      <a:lnTo>
                        <a:pt x="509" y="21"/>
                      </a:lnTo>
                      <a:lnTo>
                        <a:pt x="484" y="15"/>
                      </a:lnTo>
                      <a:lnTo>
                        <a:pt x="432" y="7"/>
                      </a:lnTo>
                      <a:lnTo>
                        <a:pt x="373" y="1"/>
                      </a:lnTo>
                      <a:lnTo>
                        <a:pt x="310" y="0"/>
                      </a:lnTo>
                      <a:close/>
                    </a:path>
                  </a:pathLst>
                </a:custGeom>
                <a:solidFill>
                  <a:srgbClr val="00A0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86" name="Freeform 101"/>
                <p:cNvSpPr>
                  <a:spLocks/>
                </p:cNvSpPr>
                <p:nvPr/>
              </p:nvSpPr>
              <p:spPr bwMode="auto">
                <a:xfrm>
                  <a:off x="971" y="2903"/>
                  <a:ext cx="310" cy="90"/>
                </a:xfrm>
                <a:custGeom>
                  <a:avLst/>
                  <a:gdLst>
                    <a:gd name="T0" fmla="*/ 0 w 622"/>
                    <a:gd name="T1" fmla="*/ 45 h 179"/>
                    <a:gd name="T2" fmla="*/ 1 w 622"/>
                    <a:gd name="T3" fmla="*/ 49 h 179"/>
                    <a:gd name="T4" fmla="*/ 3 w 622"/>
                    <a:gd name="T5" fmla="*/ 54 h 179"/>
                    <a:gd name="T6" fmla="*/ 7 w 622"/>
                    <a:gd name="T7" fmla="*/ 58 h 179"/>
                    <a:gd name="T8" fmla="*/ 12 w 622"/>
                    <a:gd name="T9" fmla="*/ 62 h 179"/>
                    <a:gd name="T10" fmla="*/ 19 w 622"/>
                    <a:gd name="T11" fmla="*/ 66 h 179"/>
                    <a:gd name="T12" fmla="*/ 27 w 622"/>
                    <a:gd name="T13" fmla="*/ 70 h 179"/>
                    <a:gd name="T14" fmla="*/ 36 w 622"/>
                    <a:gd name="T15" fmla="*/ 74 h 179"/>
                    <a:gd name="T16" fmla="*/ 46 w 622"/>
                    <a:gd name="T17" fmla="*/ 77 h 179"/>
                    <a:gd name="T18" fmla="*/ 56 w 622"/>
                    <a:gd name="T19" fmla="*/ 79 h 179"/>
                    <a:gd name="T20" fmla="*/ 69 w 622"/>
                    <a:gd name="T21" fmla="*/ 82 h 179"/>
                    <a:gd name="T22" fmla="*/ 95 w 622"/>
                    <a:gd name="T23" fmla="*/ 86 h 179"/>
                    <a:gd name="T24" fmla="*/ 123 w 622"/>
                    <a:gd name="T25" fmla="*/ 89 h 179"/>
                    <a:gd name="T26" fmla="*/ 155 w 622"/>
                    <a:gd name="T27" fmla="*/ 90 h 179"/>
                    <a:gd name="T28" fmla="*/ 186 w 622"/>
                    <a:gd name="T29" fmla="*/ 89 h 179"/>
                    <a:gd name="T30" fmla="*/ 215 w 622"/>
                    <a:gd name="T31" fmla="*/ 86 h 179"/>
                    <a:gd name="T32" fmla="*/ 241 w 622"/>
                    <a:gd name="T33" fmla="*/ 82 h 179"/>
                    <a:gd name="T34" fmla="*/ 254 w 622"/>
                    <a:gd name="T35" fmla="*/ 79 h 179"/>
                    <a:gd name="T36" fmla="*/ 264 w 622"/>
                    <a:gd name="T37" fmla="*/ 77 h 179"/>
                    <a:gd name="T38" fmla="*/ 274 w 622"/>
                    <a:gd name="T39" fmla="*/ 74 h 179"/>
                    <a:gd name="T40" fmla="*/ 283 w 622"/>
                    <a:gd name="T41" fmla="*/ 70 h 179"/>
                    <a:gd name="T42" fmla="*/ 291 w 622"/>
                    <a:gd name="T43" fmla="*/ 66 h 179"/>
                    <a:gd name="T44" fmla="*/ 298 w 622"/>
                    <a:gd name="T45" fmla="*/ 62 h 179"/>
                    <a:gd name="T46" fmla="*/ 303 w 622"/>
                    <a:gd name="T47" fmla="*/ 58 h 179"/>
                    <a:gd name="T48" fmla="*/ 307 w 622"/>
                    <a:gd name="T49" fmla="*/ 54 h 179"/>
                    <a:gd name="T50" fmla="*/ 309 w 622"/>
                    <a:gd name="T51" fmla="*/ 49 h 179"/>
                    <a:gd name="T52" fmla="*/ 310 w 622"/>
                    <a:gd name="T53" fmla="*/ 45 h 179"/>
                    <a:gd name="T54" fmla="*/ 309 w 622"/>
                    <a:gd name="T55" fmla="*/ 40 h 179"/>
                    <a:gd name="T56" fmla="*/ 307 w 622"/>
                    <a:gd name="T57" fmla="*/ 36 h 179"/>
                    <a:gd name="T58" fmla="*/ 303 w 622"/>
                    <a:gd name="T59" fmla="*/ 31 h 179"/>
                    <a:gd name="T60" fmla="*/ 298 w 622"/>
                    <a:gd name="T61" fmla="*/ 28 h 179"/>
                    <a:gd name="T62" fmla="*/ 291 w 622"/>
                    <a:gd name="T63" fmla="*/ 23 h 179"/>
                    <a:gd name="T64" fmla="*/ 283 w 622"/>
                    <a:gd name="T65" fmla="*/ 20 h 179"/>
                    <a:gd name="T66" fmla="*/ 274 w 622"/>
                    <a:gd name="T67" fmla="*/ 16 h 179"/>
                    <a:gd name="T68" fmla="*/ 264 w 622"/>
                    <a:gd name="T69" fmla="*/ 14 h 179"/>
                    <a:gd name="T70" fmla="*/ 254 w 622"/>
                    <a:gd name="T71" fmla="*/ 11 h 179"/>
                    <a:gd name="T72" fmla="*/ 241 w 622"/>
                    <a:gd name="T73" fmla="*/ 8 h 179"/>
                    <a:gd name="T74" fmla="*/ 215 w 622"/>
                    <a:gd name="T75" fmla="*/ 4 h 179"/>
                    <a:gd name="T76" fmla="*/ 186 w 622"/>
                    <a:gd name="T77" fmla="*/ 1 h 179"/>
                    <a:gd name="T78" fmla="*/ 155 w 622"/>
                    <a:gd name="T79" fmla="*/ 0 h 179"/>
                    <a:gd name="T80" fmla="*/ 123 w 622"/>
                    <a:gd name="T81" fmla="*/ 1 h 179"/>
                    <a:gd name="T82" fmla="*/ 95 w 622"/>
                    <a:gd name="T83" fmla="*/ 4 h 179"/>
                    <a:gd name="T84" fmla="*/ 69 w 622"/>
                    <a:gd name="T85" fmla="*/ 8 h 179"/>
                    <a:gd name="T86" fmla="*/ 56 w 622"/>
                    <a:gd name="T87" fmla="*/ 11 h 179"/>
                    <a:gd name="T88" fmla="*/ 46 w 622"/>
                    <a:gd name="T89" fmla="*/ 14 h 179"/>
                    <a:gd name="T90" fmla="*/ 36 w 622"/>
                    <a:gd name="T91" fmla="*/ 16 h 179"/>
                    <a:gd name="T92" fmla="*/ 27 w 622"/>
                    <a:gd name="T93" fmla="*/ 20 h 179"/>
                    <a:gd name="T94" fmla="*/ 19 w 622"/>
                    <a:gd name="T95" fmla="*/ 23 h 179"/>
                    <a:gd name="T96" fmla="*/ 12 w 622"/>
                    <a:gd name="T97" fmla="*/ 28 h 179"/>
                    <a:gd name="T98" fmla="*/ 7 w 622"/>
                    <a:gd name="T99" fmla="*/ 31 h 179"/>
                    <a:gd name="T100" fmla="*/ 3 w 622"/>
                    <a:gd name="T101" fmla="*/ 36 h 179"/>
                    <a:gd name="T102" fmla="*/ 1 w 622"/>
                    <a:gd name="T103" fmla="*/ 40 h 179"/>
                    <a:gd name="T104" fmla="*/ 0 w 622"/>
                    <a:gd name="T105" fmla="*/ 45 h 17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22" h="179">
                      <a:moveTo>
                        <a:pt x="0" y="89"/>
                      </a:moveTo>
                      <a:lnTo>
                        <a:pt x="2" y="98"/>
                      </a:lnTo>
                      <a:lnTo>
                        <a:pt x="7" y="107"/>
                      </a:lnTo>
                      <a:lnTo>
                        <a:pt x="15" y="115"/>
                      </a:lnTo>
                      <a:lnTo>
                        <a:pt x="25" y="124"/>
                      </a:lnTo>
                      <a:lnTo>
                        <a:pt x="38" y="132"/>
                      </a:lnTo>
                      <a:lnTo>
                        <a:pt x="54" y="139"/>
                      </a:lnTo>
                      <a:lnTo>
                        <a:pt x="72" y="147"/>
                      </a:lnTo>
                      <a:lnTo>
                        <a:pt x="92" y="153"/>
                      </a:lnTo>
                      <a:lnTo>
                        <a:pt x="113" y="158"/>
                      </a:lnTo>
                      <a:lnTo>
                        <a:pt x="138" y="164"/>
                      </a:lnTo>
                      <a:lnTo>
                        <a:pt x="190" y="172"/>
                      </a:lnTo>
                      <a:lnTo>
                        <a:pt x="247" y="178"/>
                      </a:lnTo>
                      <a:lnTo>
                        <a:pt x="310" y="179"/>
                      </a:lnTo>
                      <a:lnTo>
                        <a:pt x="373" y="178"/>
                      </a:lnTo>
                      <a:lnTo>
                        <a:pt x="432" y="172"/>
                      </a:lnTo>
                      <a:lnTo>
                        <a:pt x="484" y="164"/>
                      </a:lnTo>
                      <a:lnTo>
                        <a:pt x="509" y="158"/>
                      </a:lnTo>
                      <a:lnTo>
                        <a:pt x="530" y="153"/>
                      </a:lnTo>
                      <a:lnTo>
                        <a:pt x="550" y="147"/>
                      </a:lnTo>
                      <a:lnTo>
                        <a:pt x="568" y="139"/>
                      </a:lnTo>
                      <a:lnTo>
                        <a:pt x="584" y="132"/>
                      </a:lnTo>
                      <a:lnTo>
                        <a:pt x="597" y="124"/>
                      </a:lnTo>
                      <a:lnTo>
                        <a:pt x="607" y="115"/>
                      </a:lnTo>
                      <a:lnTo>
                        <a:pt x="615" y="107"/>
                      </a:lnTo>
                      <a:lnTo>
                        <a:pt x="620" y="98"/>
                      </a:lnTo>
                      <a:lnTo>
                        <a:pt x="622" y="89"/>
                      </a:lnTo>
                      <a:lnTo>
                        <a:pt x="620" y="80"/>
                      </a:lnTo>
                      <a:lnTo>
                        <a:pt x="615" y="71"/>
                      </a:lnTo>
                      <a:lnTo>
                        <a:pt x="607" y="62"/>
                      </a:lnTo>
                      <a:lnTo>
                        <a:pt x="597" y="55"/>
                      </a:lnTo>
                      <a:lnTo>
                        <a:pt x="584" y="46"/>
                      </a:lnTo>
                      <a:lnTo>
                        <a:pt x="568" y="40"/>
                      </a:lnTo>
                      <a:lnTo>
                        <a:pt x="550" y="32"/>
                      </a:lnTo>
                      <a:lnTo>
                        <a:pt x="530" y="27"/>
                      </a:lnTo>
                      <a:lnTo>
                        <a:pt x="509" y="21"/>
                      </a:lnTo>
                      <a:lnTo>
                        <a:pt x="484" y="15"/>
                      </a:lnTo>
                      <a:lnTo>
                        <a:pt x="432" y="7"/>
                      </a:lnTo>
                      <a:lnTo>
                        <a:pt x="373" y="1"/>
                      </a:lnTo>
                      <a:lnTo>
                        <a:pt x="310" y="0"/>
                      </a:lnTo>
                      <a:lnTo>
                        <a:pt x="247" y="1"/>
                      </a:lnTo>
                      <a:lnTo>
                        <a:pt x="190" y="7"/>
                      </a:lnTo>
                      <a:lnTo>
                        <a:pt x="138" y="15"/>
                      </a:lnTo>
                      <a:lnTo>
                        <a:pt x="113" y="21"/>
                      </a:lnTo>
                      <a:lnTo>
                        <a:pt x="92" y="27"/>
                      </a:lnTo>
                      <a:lnTo>
                        <a:pt x="72" y="32"/>
                      </a:lnTo>
                      <a:lnTo>
                        <a:pt x="54" y="40"/>
                      </a:lnTo>
                      <a:lnTo>
                        <a:pt x="38" y="46"/>
                      </a:lnTo>
                      <a:lnTo>
                        <a:pt x="25" y="55"/>
                      </a:lnTo>
                      <a:lnTo>
                        <a:pt x="15" y="62"/>
                      </a:lnTo>
                      <a:lnTo>
                        <a:pt x="7" y="71"/>
                      </a:lnTo>
                      <a:lnTo>
                        <a:pt x="2" y="80"/>
                      </a:lnTo>
                      <a:lnTo>
                        <a:pt x="0" y="89"/>
                      </a:lnTo>
                      <a:close/>
                    </a:path>
                  </a:pathLst>
                </a:custGeom>
                <a:solidFill>
                  <a:srgbClr val="32B3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87" name="Freeform 102"/>
                <p:cNvSpPr>
                  <a:spLocks/>
                </p:cNvSpPr>
                <p:nvPr/>
              </p:nvSpPr>
              <p:spPr bwMode="auto">
                <a:xfrm>
                  <a:off x="971" y="2903"/>
                  <a:ext cx="310" cy="358"/>
                </a:xfrm>
                <a:custGeom>
                  <a:avLst/>
                  <a:gdLst>
                    <a:gd name="T0" fmla="*/ 155 w 622"/>
                    <a:gd name="T1" fmla="*/ 0 h 716"/>
                    <a:gd name="T2" fmla="*/ 123 w 622"/>
                    <a:gd name="T3" fmla="*/ 1 h 716"/>
                    <a:gd name="T4" fmla="*/ 95 w 622"/>
                    <a:gd name="T5" fmla="*/ 4 h 716"/>
                    <a:gd name="T6" fmla="*/ 69 w 622"/>
                    <a:gd name="T7" fmla="*/ 8 h 716"/>
                    <a:gd name="T8" fmla="*/ 56 w 622"/>
                    <a:gd name="T9" fmla="*/ 11 h 716"/>
                    <a:gd name="T10" fmla="*/ 46 w 622"/>
                    <a:gd name="T11" fmla="*/ 14 h 716"/>
                    <a:gd name="T12" fmla="*/ 36 w 622"/>
                    <a:gd name="T13" fmla="*/ 16 h 716"/>
                    <a:gd name="T14" fmla="*/ 27 w 622"/>
                    <a:gd name="T15" fmla="*/ 20 h 716"/>
                    <a:gd name="T16" fmla="*/ 19 w 622"/>
                    <a:gd name="T17" fmla="*/ 23 h 716"/>
                    <a:gd name="T18" fmla="*/ 12 w 622"/>
                    <a:gd name="T19" fmla="*/ 28 h 716"/>
                    <a:gd name="T20" fmla="*/ 7 w 622"/>
                    <a:gd name="T21" fmla="*/ 31 h 716"/>
                    <a:gd name="T22" fmla="*/ 3 w 622"/>
                    <a:gd name="T23" fmla="*/ 36 h 716"/>
                    <a:gd name="T24" fmla="*/ 1 w 622"/>
                    <a:gd name="T25" fmla="*/ 40 h 716"/>
                    <a:gd name="T26" fmla="*/ 0 w 622"/>
                    <a:gd name="T27" fmla="*/ 45 h 716"/>
                    <a:gd name="T28" fmla="*/ 0 w 622"/>
                    <a:gd name="T29" fmla="*/ 314 h 716"/>
                    <a:gd name="T30" fmla="*/ 1 w 622"/>
                    <a:gd name="T31" fmla="*/ 318 h 716"/>
                    <a:gd name="T32" fmla="*/ 3 w 622"/>
                    <a:gd name="T33" fmla="*/ 323 h 716"/>
                    <a:gd name="T34" fmla="*/ 7 w 622"/>
                    <a:gd name="T35" fmla="*/ 327 h 716"/>
                    <a:gd name="T36" fmla="*/ 12 w 622"/>
                    <a:gd name="T37" fmla="*/ 331 h 716"/>
                    <a:gd name="T38" fmla="*/ 19 w 622"/>
                    <a:gd name="T39" fmla="*/ 335 h 716"/>
                    <a:gd name="T40" fmla="*/ 27 w 622"/>
                    <a:gd name="T41" fmla="*/ 339 h 716"/>
                    <a:gd name="T42" fmla="*/ 36 w 622"/>
                    <a:gd name="T43" fmla="*/ 342 h 716"/>
                    <a:gd name="T44" fmla="*/ 46 w 622"/>
                    <a:gd name="T45" fmla="*/ 345 h 716"/>
                    <a:gd name="T46" fmla="*/ 56 w 622"/>
                    <a:gd name="T47" fmla="*/ 348 h 716"/>
                    <a:gd name="T48" fmla="*/ 69 w 622"/>
                    <a:gd name="T49" fmla="*/ 351 h 716"/>
                    <a:gd name="T50" fmla="*/ 95 w 622"/>
                    <a:gd name="T51" fmla="*/ 354 h 716"/>
                    <a:gd name="T52" fmla="*/ 123 w 622"/>
                    <a:gd name="T53" fmla="*/ 357 h 716"/>
                    <a:gd name="T54" fmla="*/ 155 w 622"/>
                    <a:gd name="T55" fmla="*/ 358 h 716"/>
                    <a:gd name="T56" fmla="*/ 186 w 622"/>
                    <a:gd name="T57" fmla="*/ 357 h 716"/>
                    <a:gd name="T58" fmla="*/ 215 w 622"/>
                    <a:gd name="T59" fmla="*/ 354 h 716"/>
                    <a:gd name="T60" fmla="*/ 241 w 622"/>
                    <a:gd name="T61" fmla="*/ 351 h 716"/>
                    <a:gd name="T62" fmla="*/ 254 w 622"/>
                    <a:gd name="T63" fmla="*/ 348 h 716"/>
                    <a:gd name="T64" fmla="*/ 264 w 622"/>
                    <a:gd name="T65" fmla="*/ 345 h 716"/>
                    <a:gd name="T66" fmla="*/ 274 w 622"/>
                    <a:gd name="T67" fmla="*/ 342 h 716"/>
                    <a:gd name="T68" fmla="*/ 283 w 622"/>
                    <a:gd name="T69" fmla="*/ 339 h 716"/>
                    <a:gd name="T70" fmla="*/ 291 w 622"/>
                    <a:gd name="T71" fmla="*/ 335 h 716"/>
                    <a:gd name="T72" fmla="*/ 298 w 622"/>
                    <a:gd name="T73" fmla="*/ 331 h 716"/>
                    <a:gd name="T74" fmla="*/ 303 w 622"/>
                    <a:gd name="T75" fmla="*/ 327 h 716"/>
                    <a:gd name="T76" fmla="*/ 307 w 622"/>
                    <a:gd name="T77" fmla="*/ 323 h 716"/>
                    <a:gd name="T78" fmla="*/ 309 w 622"/>
                    <a:gd name="T79" fmla="*/ 318 h 716"/>
                    <a:gd name="T80" fmla="*/ 310 w 622"/>
                    <a:gd name="T81" fmla="*/ 314 h 716"/>
                    <a:gd name="T82" fmla="*/ 310 w 622"/>
                    <a:gd name="T83" fmla="*/ 45 h 716"/>
                    <a:gd name="T84" fmla="*/ 309 w 622"/>
                    <a:gd name="T85" fmla="*/ 40 h 716"/>
                    <a:gd name="T86" fmla="*/ 307 w 622"/>
                    <a:gd name="T87" fmla="*/ 36 h 716"/>
                    <a:gd name="T88" fmla="*/ 303 w 622"/>
                    <a:gd name="T89" fmla="*/ 31 h 716"/>
                    <a:gd name="T90" fmla="*/ 298 w 622"/>
                    <a:gd name="T91" fmla="*/ 28 h 716"/>
                    <a:gd name="T92" fmla="*/ 291 w 622"/>
                    <a:gd name="T93" fmla="*/ 23 h 716"/>
                    <a:gd name="T94" fmla="*/ 283 w 622"/>
                    <a:gd name="T95" fmla="*/ 20 h 716"/>
                    <a:gd name="T96" fmla="*/ 274 w 622"/>
                    <a:gd name="T97" fmla="*/ 16 h 716"/>
                    <a:gd name="T98" fmla="*/ 264 w 622"/>
                    <a:gd name="T99" fmla="*/ 14 h 716"/>
                    <a:gd name="T100" fmla="*/ 254 w 622"/>
                    <a:gd name="T101" fmla="*/ 11 h 716"/>
                    <a:gd name="T102" fmla="*/ 241 w 622"/>
                    <a:gd name="T103" fmla="*/ 8 h 716"/>
                    <a:gd name="T104" fmla="*/ 215 w 622"/>
                    <a:gd name="T105" fmla="*/ 4 h 716"/>
                    <a:gd name="T106" fmla="*/ 186 w 622"/>
                    <a:gd name="T107" fmla="*/ 1 h 716"/>
                    <a:gd name="T108" fmla="*/ 155 w 622"/>
                    <a:gd name="T109" fmla="*/ 0 h 71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6">
                      <a:moveTo>
                        <a:pt x="310" y="0"/>
                      </a:moveTo>
                      <a:lnTo>
                        <a:pt x="247" y="1"/>
                      </a:lnTo>
                      <a:lnTo>
                        <a:pt x="190" y="7"/>
                      </a:lnTo>
                      <a:lnTo>
                        <a:pt x="138" y="15"/>
                      </a:lnTo>
                      <a:lnTo>
                        <a:pt x="113" y="21"/>
                      </a:lnTo>
                      <a:lnTo>
                        <a:pt x="92" y="27"/>
                      </a:lnTo>
                      <a:lnTo>
                        <a:pt x="72" y="32"/>
                      </a:lnTo>
                      <a:lnTo>
                        <a:pt x="54" y="40"/>
                      </a:lnTo>
                      <a:lnTo>
                        <a:pt x="38" y="46"/>
                      </a:lnTo>
                      <a:lnTo>
                        <a:pt x="25" y="55"/>
                      </a:lnTo>
                      <a:lnTo>
                        <a:pt x="15" y="62"/>
                      </a:lnTo>
                      <a:lnTo>
                        <a:pt x="7" y="71"/>
                      </a:lnTo>
                      <a:lnTo>
                        <a:pt x="2" y="80"/>
                      </a:lnTo>
                      <a:lnTo>
                        <a:pt x="0" y="89"/>
                      </a:lnTo>
                      <a:lnTo>
                        <a:pt x="0" y="627"/>
                      </a:lnTo>
                      <a:lnTo>
                        <a:pt x="2" y="636"/>
                      </a:lnTo>
                      <a:lnTo>
                        <a:pt x="7" y="645"/>
                      </a:lnTo>
                      <a:lnTo>
                        <a:pt x="15" y="653"/>
                      </a:lnTo>
                      <a:lnTo>
                        <a:pt x="25" y="661"/>
                      </a:lnTo>
                      <a:lnTo>
                        <a:pt x="38" y="670"/>
                      </a:lnTo>
                      <a:lnTo>
                        <a:pt x="54" y="677"/>
                      </a:lnTo>
                      <a:lnTo>
                        <a:pt x="72" y="683"/>
                      </a:lnTo>
                      <a:lnTo>
                        <a:pt x="92" y="689"/>
                      </a:lnTo>
                      <a:lnTo>
                        <a:pt x="113" y="695"/>
                      </a:lnTo>
                      <a:lnTo>
                        <a:pt x="138" y="701"/>
                      </a:lnTo>
                      <a:lnTo>
                        <a:pt x="190" y="708"/>
                      </a:lnTo>
                      <a:lnTo>
                        <a:pt x="247" y="714"/>
                      </a:lnTo>
                      <a:lnTo>
                        <a:pt x="310" y="716"/>
                      </a:lnTo>
                      <a:lnTo>
                        <a:pt x="373" y="714"/>
                      </a:lnTo>
                      <a:lnTo>
                        <a:pt x="432" y="708"/>
                      </a:lnTo>
                      <a:lnTo>
                        <a:pt x="484" y="701"/>
                      </a:lnTo>
                      <a:lnTo>
                        <a:pt x="509" y="695"/>
                      </a:lnTo>
                      <a:lnTo>
                        <a:pt x="530" y="689"/>
                      </a:lnTo>
                      <a:lnTo>
                        <a:pt x="550" y="683"/>
                      </a:lnTo>
                      <a:lnTo>
                        <a:pt x="568" y="677"/>
                      </a:lnTo>
                      <a:lnTo>
                        <a:pt x="584" y="670"/>
                      </a:lnTo>
                      <a:lnTo>
                        <a:pt x="597" y="661"/>
                      </a:lnTo>
                      <a:lnTo>
                        <a:pt x="607" y="653"/>
                      </a:lnTo>
                      <a:lnTo>
                        <a:pt x="615" y="645"/>
                      </a:lnTo>
                      <a:lnTo>
                        <a:pt x="620" y="636"/>
                      </a:lnTo>
                      <a:lnTo>
                        <a:pt x="622" y="627"/>
                      </a:lnTo>
                      <a:lnTo>
                        <a:pt x="622" y="89"/>
                      </a:lnTo>
                      <a:lnTo>
                        <a:pt x="620" y="80"/>
                      </a:lnTo>
                      <a:lnTo>
                        <a:pt x="615" y="71"/>
                      </a:lnTo>
                      <a:lnTo>
                        <a:pt x="607" y="62"/>
                      </a:lnTo>
                      <a:lnTo>
                        <a:pt x="597" y="55"/>
                      </a:lnTo>
                      <a:lnTo>
                        <a:pt x="584" y="46"/>
                      </a:lnTo>
                      <a:lnTo>
                        <a:pt x="568" y="40"/>
                      </a:lnTo>
                      <a:lnTo>
                        <a:pt x="550" y="32"/>
                      </a:lnTo>
                      <a:lnTo>
                        <a:pt x="530" y="27"/>
                      </a:lnTo>
                      <a:lnTo>
                        <a:pt x="509" y="21"/>
                      </a:lnTo>
                      <a:lnTo>
                        <a:pt x="484" y="15"/>
                      </a:lnTo>
                      <a:lnTo>
                        <a:pt x="432" y="7"/>
                      </a:lnTo>
                      <a:lnTo>
                        <a:pt x="373" y="1"/>
                      </a:lnTo>
                      <a:lnTo>
                        <a:pt x="310" y="0"/>
                      </a:lnTo>
                      <a:close/>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sp>
              <p:nvSpPr>
                <p:cNvPr id="188" name="Freeform 103"/>
                <p:cNvSpPr>
                  <a:spLocks/>
                </p:cNvSpPr>
                <p:nvPr/>
              </p:nvSpPr>
              <p:spPr bwMode="auto">
                <a:xfrm>
                  <a:off x="971" y="2948"/>
                  <a:ext cx="310" cy="45"/>
                </a:xfrm>
                <a:custGeom>
                  <a:avLst/>
                  <a:gdLst>
                    <a:gd name="T0" fmla="*/ 0 w 622"/>
                    <a:gd name="T1" fmla="*/ 0 h 90"/>
                    <a:gd name="T2" fmla="*/ 1 w 622"/>
                    <a:gd name="T3" fmla="*/ 5 h 90"/>
                    <a:gd name="T4" fmla="*/ 3 w 622"/>
                    <a:gd name="T5" fmla="*/ 9 h 90"/>
                    <a:gd name="T6" fmla="*/ 7 w 622"/>
                    <a:gd name="T7" fmla="*/ 13 h 90"/>
                    <a:gd name="T8" fmla="*/ 12 w 622"/>
                    <a:gd name="T9" fmla="*/ 18 h 90"/>
                    <a:gd name="T10" fmla="*/ 19 w 622"/>
                    <a:gd name="T11" fmla="*/ 22 h 90"/>
                    <a:gd name="T12" fmla="*/ 27 w 622"/>
                    <a:gd name="T13" fmla="*/ 25 h 90"/>
                    <a:gd name="T14" fmla="*/ 36 w 622"/>
                    <a:gd name="T15" fmla="*/ 29 h 90"/>
                    <a:gd name="T16" fmla="*/ 46 w 622"/>
                    <a:gd name="T17" fmla="*/ 32 h 90"/>
                    <a:gd name="T18" fmla="*/ 56 w 622"/>
                    <a:gd name="T19" fmla="*/ 35 h 90"/>
                    <a:gd name="T20" fmla="*/ 69 w 622"/>
                    <a:gd name="T21" fmla="*/ 38 h 90"/>
                    <a:gd name="T22" fmla="*/ 95 w 622"/>
                    <a:gd name="T23" fmla="*/ 42 h 90"/>
                    <a:gd name="T24" fmla="*/ 123 w 622"/>
                    <a:gd name="T25" fmla="*/ 45 h 90"/>
                    <a:gd name="T26" fmla="*/ 155 w 622"/>
                    <a:gd name="T27" fmla="*/ 45 h 90"/>
                    <a:gd name="T28" fmla="*/ 186 w 622"/>
                    <a:gd name="T29" fmla="*/ 45 h 90"/>
                    <a:gd name="T30" fmla="*/ 215 w 622"/>
                    <a:gd name="T31" fmla="*/ 42 h 90"/>
                    <a:gd name="T32" fmla="*/ 241 w 622"/>
                    <a:gd name="T33" fmla="*/ 38 h 90"/>
                    <a:gd name="T34" fmla="*/ 254 w 622"/>
                    <a:gd name="T35" fmla="*/ 35 h 90"/>
                    <a:gd name="T36" fmla="*/ 264 w 622"/>
                    <a:gd name="T37" fmla="*/ 32 h 90"/>
                    <a:gd name="T38" fmla="*/ 274 w 622"/>
                    <a:gd name="T39" fmla="*/ 29 h 90"/>
                    <a:gd name="T40" fmla="*/ 283 w 622"/>
                    <a:gd name="T41" fmla="*/ 25 h 90"/>
                    <a:gd name="T42" fmla="*/ 291 w 622"/>
                    <a:gd name="T43" fmla="*/ 22 h 90"/>
                    <a:gd name="T44" fmla="*/ 298 w 622"/>
                    <a:gd name="T45" fmla="*/ 18 h 90"/>
                    <a:gd name="T46" fmla="*/ 303 w 622"/>
                    <a:gd name="T47" fmla="*/ 13 h 90"/>
                    <a:gd name="T48" fmla="*/ 307 w 622"/>
                    <a:gd name="T49" fmla="*/ 9 h 90"/>
                    <a:gd name="T50" fmla="*/ 309 w 622"/>
                    <a:gd name="T51" fmla="*/ 5 h 90"/>
                    <a:gd name="T52" fmla="*/ 310 w 622"/>
                    <a:gd name="T53" fmla="*/ 0 h 9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22" h="90">
                      <a:moveTo>
                        <a:pt x="0" y="0"/>
                      </a:moveTo>
                      <a:lnTo>
                        <a:pt x="2" y="9"/>
                      </a:lnTo>
                      <a:lnTo>
                        <a:pt x="7" y="18"/>
                      </a:lnTo>
                      <a:lnTo>
                        <a:pt x="15" y="26"/>
                      </a:lnTo>
                      <a:lnTo>
                        <a:pt x="25" y="35"/>
                      </a:lnTo>
                      <a:lnTo>
                        <a:pt x="38" y="43"/>
                      </a:lnTo>
                      <a:lnTo>
                        <a:pt x="54" y="50"/>
                      </a:lnTo>
                      <a:lnTo>
                        <a:pt x="72" y="58"/>
                      </a:lnTo>
                      <a:lnTo>
                        <a:pt x="92" y="64"/>
                      </a:lnTo>
                      <a:lnTo>
                        <a:pt x="113" y="69"/>
                      </a:lnTo>
                      <a:lnTo>
                        <a:pt x="138" y="75"/>
                      </a:lnTo>
                      <a:lnTo>
                        <a:pt x="190" y="83"/>
                      </a:lnTo>
                      <a:lnTo>
                        <a:pt x="247" y="89"/>
                      </a:lnTo>
                      <a:lnTo>
                        <a:pt x="310" y="90"/>
                      </a:lnTo>
                      <a:lnTo>
                        <a:pt x="373" y="89"/>
                      </a:lnTo>
                      <a:lnTo>
                        <a:pt x="432" y="83"/>
                      </a:lnTo>
                      <a:lnTo>
                        <a:pt x="484" y="75"/>
                      </a:lnTo>
                      <a:lnTo>
                        <a:pt x="509" y="69"/>
                      </a:lnTo>
                      <a:lnTo>
                        <a:pt x="530" y="64"/>
                      </a:lnTo>
                      <a:lnTo>
                        <a:pt x="550" y="58"/>
                      </a:lnTo>
                      <a:lnTo>
                        <a:pt x="568" y="50"/>
                      </a:lnTo>
                      <a:lnTo>
                        <a:pt x="584" y="43"/>
                      </a:lnTo>
                      <a:lnTo>
                        <a:pt x="597" y="35"/>
                      </a:lnTo>
                      <a:lnTo>
                        <a:pt x="607" y="26"/>
                      </a:lnTo>
                      <a:lnTo>
                        <a:pt x="615" y="18"/>
                      </a:lnTo>
                      <a:lnTo>
                        <a:pt x="620" y="9"/>
                      </a:lnTo>
                      <a:lnTo>
                        <a:pt x="622"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grpSp>
          <p:grpSp>
            <p:nvGrpSpPr>
              <p:cNvPr id="178" name="Group 104"/>
              <p:cNvGrpSpPr>
                <a:grpSpLocks/>
              </p:cNvGrpSpPr>
              <p:nvPr/>
            </p:nvGrpSpPr>
            <p:grpSpPr bwMode="auto">
              <a:xfrm>
                <a:off x="1023" y="2948"/>
                <a:ext cx="310" cy="359"/>
                <a:chOff x="1023" y="2948"/>
                <a:chExt cx="310" cy="359"/>
              </a:xfrm>
            </p:grpSpPr>
            <p:sp>
              <p:nvSpPr>
                <p:cNvPr id="181" name="Freeform 105"/>
                <p:cNvSpPr>
                  <a:spLocks/>
                </p:cNvSpPr>
                <p:nvPr/>
              </p:nvSpPr>
              <p:spPr bwMode="auto">
                <a:xfrm>
                  <a:off x="1023" y="2948"/>
                  <a:ext cx="310" cy="359"/>
                </a:xfrm>
                <a:custGeom>
                  <a:avLst/>
                  <a:gdLst>
                    <a:gd name="T0" fmla="*/ 155 w 622"/>
                    <a:gd name="T1" fmla="*/ 0 h 717"/>
                    <a:gd name="T2" fmla="*/ 123 w 622"/>
                    <a:gd name="T3" fmla="*/ 1 h 717"/>
                    <a:gd name="T4" fmla="*/ 95 w 622"/>
                    <a:gd name="T5" fmla="*/ 4 h 717"/>
                    <a:gd name="T6" fmla="*/ 69 w 622"/>
                    <a:gd name="T7" fmla="*/ 8 h 717"/>
                    <a:gd name="T8" fmla="*/ 56 w 622"/>
                    <a:gd name="T9" fmla="*/ 11 h 717"/>
                    <a:gd name="T10" fmla="*/ 45 w 622"/>
                    <a:gd name="T11" fmla="*/ 13 h 717"/>
                    <a:gd name="T12" fmla="*/ 36 w 622"/>
                    <a:gd name="T13" fmla="*/ 16 h 717"/>
                    <a:gd name="T14" fmla="*/ 27 w 622"/>
                    <a:gd name="T15" fmla="*/ 20 h 717"/>
                    <a:gd name="T16" fmla="*/ 19 w 622"/>
                    <a:gd name="T17" fmla="*/ 23 h 717"/>
                    <a:gd name="T18" fmla="*/ 12 w 622"/>
                    <a:gd name="T19" fmla="*/ 28 h 717"/>
                    <a:gd name="T20" fmla="*/ 7 w 622"/>
                    <a:gd name="T21" fmla="*/ 31 h 717"/>
                    <a:gd name="T22" fmla="*/ 3 w 622"/>
                    <a:gd name="T23" fmla="*/ 36 h 717"/>
                    <a:gd name="T24" fmla="*/ 1 w 622"/>
                    <a:gd name="T25" fmla="*/ 40 h 717"/>
                    <a:gd name="T26" fmla="*/ 0 w 622"/>
                    <a:gd name="T27" fmla="*/ 45 h 717"/>
                    <a:gd name="T28" fmla="*/ 0 w 622"/>
                    <a:gd name="T29" fmla="*/ 314 h 717"/>
                    <a:gd name="T30" fmla="*/ 1 w 622"/>
                    <a:gd name="T31" fmla="*/ 318 h 717"/>
                    <a:gd name="T32" fmla="*/ 3 w 622"/>
                    <a:gd name="T33" fmla="*/ 322 h 717"/>
                    <a:gd name="T34" fmla="*/ 7 w 622"/>
                    <a:gd name="T35" fmla="*/ 327 h 717"/>
                    <a:gd name="T36" fmla="*/ 12 w 622"/>
                    <a:gd name="T37" fmla="*/ 331 h 717"/>
                    <a:gd name="T38" fmla="*/ 19 w 622"/>
                    <a:gd name="T39" fmla="*/ 335 h 717"/>
                    <a:gd name="T40" fmla="*/ 27 w 622"/>
                    <a:gd name="T41" fmla="*/ 339 h 717"/>
                    <a:gd name="T42" fmla="*/ 36 w 622"/>
                    <a:gd name="T43" fmla="*/ 342 h 717"/>
                    <a:gd name="T44" fmla="*/ 45 w 622"/>
                    <a:gd name="T45" fmla="*/ 345 h 717"/>
                    <a:gd name="T46" fmla="*/ 56 w 622"/>
                    <a:gd name="T47" fmla="*/ 348 h 717"/>
                    <a:gd name="T48" fmla="*/ 69 w 622"/>
                    <a:gd name="T49" fmla="*/ 351 h 717"/>
                    <a:gd name="T50" fmla="*/ 95 w 622"/>
                    <a:gd name="T51" fmla="*/ 355 h 717"/>
                    <a:gd name="T52" fmla="*/ 123 w 622"/>
                    <a:gd name="T53" fmla="*/ 358 h 717"/>
                    <a:gd name="T54" fmla="*/ 155 w 622"/>
                    <a:gd name="T55" fmla="*/ 359 h 717"/>
                    <a:gd name="T56" fmla="*/ 186 w 622"/>
                    <a:gd name="T57" fmla="*/ 358 h 717"/>
                    <a:gd name="T58" fmla="*/ 215 w 622"/>
                    <a:gd name="T59" fmla="*/ 355 h 717"/>
                    <a:gd name="T60" fmla="*/ 241 w 622"/>
                    <a:gd name="T61" fmla="*/ 351 h 717"/>
                    <a:gd name="T62" fmla="*/ 254 w 622"/>
                    <a:gd name="T63" fmla="*/ 348 h 717"/>
                    <a:gd name="T64" fmla="*/ 264 w 622"/>
                    <a:gd name="T65" fmla="*/ 345 h 717"/>
                    <a:gd name="T66" fmla="*/ 274 w 622"/>
                    <a:gd name="T67" fmla="*/ 342 h 717"/>
                    <a:gd name="T68" fmla="*/ 283 w 622"/>
                    <a:gd name="T69" fmla="*/ 339 h 717"/>
                    <a:gd name="T70" fmla="*/ 291 w 622"/>
                    <a:gd name="T71" fmla="*/ 335 h 717"/>
                    <a:gd name="T72" fmla="*/ 298 w 622"/>
                    <a:gd name="T73" fmla="*/ 331 h 717"/>
                    <a:gd name="T74" fmla="*/ 303 w 622"/>
                    <a:gd name="T75" fmla="*/ 327 h 717"/>
                    <a:gd name="T76" fmla="*/ 307 w 622"/>
                    <a:gd name="T77" fmla="*/ 322 h 717"/>
                    <a:gd name="T78" fmla="*/ 309 w 622"/>
                    <a:gd name="T79" fmla="*/ 318 h 717"/>
                    <a:gd name="T80" fmla="*/ 310 w 622"/>
                    <a:gd name="T81" fmla="*/ 314 h 717"/>
                    <a:gd name="T82" fmla="*/ 310 w 622"/>
                    <a:gd name="T83" fmla="*/ 45 h 717"/>
                    <a:gd name="T84" fmla="*/ 309 w 622"/>
                    <a:gd name="T85" fmla="*/ 40 h 717"/>
                    <a:gd name="T86" fmla="*/ 307 w 622"/>
                    <a:gd name="T87" fmla="*/ 36 h 717"/>
                    <a:gd name="T88" fmla="*/ 303 w 622"/>
                    <a:gd name="T89" fmla="*/ 31 h 717"/>
                    <a:gd name="T90" fmla="*/ 298 w 622"/>
                    <a:gd name="T91" fmla="*/ 28 h 717"/>
                    <a:gd name="T92" fmla="*/ 291 w 622"/>
                    <a:gd name="T93" fmla="*/ 23 h 717"/>
                    <a:gd name="T94" fmla="*/ 283 w 622"/>
                    <a:gd name="T95" fmla="*/ 20 h 717"/>
                    <a:gd name="T96" fmla="*/ 274 w 622"/>
                    <a:gd name="T97" fmla="*/ 16 h 717"/>
                    <a:gd name="T98" fmla="*/ 264 w 622"/>
                    <a:gd name="T99" fmla="*/ 13 h 717"/>
                    <a:gd name="T100" fmla="*/ 254 w 622"/>
                    <a:gd name="T101" fmla="*/ 11 h 717"/>
                    <a:gd name="T102" fmla="*/ 241 w 622"/>
                    <a:gd name="T103" fmla="*/ 8 h 717"/>
                    <a:gd name="T104" fmla="*/ 215 w 622"/>
                    <a:gd name="T105" fmla="*/ 4 h 717"/>
                    <a:gd name="T106" fmla="*/ 186 w 622"/>
                    <a:gd name="T107" fmla="*/ 1 h 717"/>
                    <a:gd name="T108" fmla="*/ 155 w 622"/>
                    <a:gd name="T109" fmla="*/ 0 h 71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7">
                      <a:moveTo>
                        <a:pt x="310" y="0"/>
                      </a:moveTo>
                      <a:lnTo>
                        <a:pt x="247" y="1"/>
                      </a:lnTo>
                      <a:lnTo>
                        <a:pt x="190" y="7"/>
                      </a:lnTo>
                      <a:lnTo>
                        <a:pt x="138" y="15"/>
                      </a:lnTo>
                      <a:lnTo>
                        <a:pt x="113" y="21"/>
                      </a:lnTo>
                      <a:lnTo>
                        <a:pt x="91" y="26"/>
                      </a:lnTo>
                      <a:lnTo>
                        <a:pt x="72" y="32"/>
                      </a:lnTo>
                      <a:lnTo>
                        <a:pt x="54" y="40"/>
                      </a:lnTo>
                      <a:lnTo>
                        <a:pt x="38" y="46"/>
                      </a:lnTo>
                      <a:lnTo>
                        <a:pt x="25" y="55"/>
                      </a:lnTo>
                      <a:lnTo>
                        <a:pt x="14" y="62"/>
                      </a:lnTo>
                      <a:lnTo>
                        <a:pt x="7" y="71"/>
                      </a:lnTo>
                      <a:lnTo>
                        <a:pt x="2" y="80"/>
                      </a:lnTo>
                      <a:lnTo>
                        <a:pt x="0" y="89"/>
                      </a:lnTo>
                      <a:lnTo>
                        <a:pt x="0" y="627"/>
                      </a:lnTo>
                      <a:lnTo>
                        <a:pt x="2" y="636"/>
                      </a:lnTo>
                      <a:lnTo>
                        <a:pt x="7" y="644"/>
                      </a:lnTo>
                      <a:lnTo>
                        <a:pt x="14" y="653"/>
                      </a:lnTo>
                      <a:lnTo>
                        <a:pt x="25" y="662"/>
                      </a:lnTo>
                      <a:lnTo>
                        <a:pt x="38" y="670"/>
                      </a:lnTo>
                      <a:lnTo>
                        <a:pt x="54" y="677"/>
                      </a:lnTo>
                      <a:lnTo>
                        <a:pt x="72" y="684"/>
                      </a:lnTo>
                      <a:lnTo>
                        <a:pt x="91" y="690"/>
                      </a:lnTo>
                      <a:lnTo>
                        <a:pt x="113" y="696"/>
                      </a:lnTo>
                      <a:lnTo>
                        <a:pt x="138" y="702"/>
                      </a:lnTo>
                      <a:lnTo>
                        <a:pt x="190" y="710"/>
                      </a:lnTo>
                      <a:lnTo>
                        <a:pt x="247" y="716"/>
                      </a:lnTo>
                      <a:lnTo>
                        <a:pt x="310" y="717"/>
                      </a:lnTo>
                      <a:lnTo>
                        <a:pt x="373" y="716"/>
                      </a:lnTo>
                      <a:lnTo>
                        <a:pt x="432" y="710"/>
                      </a:lnTo>
                      <a:lnTo>
                        <a:pt x="484" y="702"/>
                      </a:lnTo>
                      <a:lnTo>
                        <a:pt x="509" y="696"/>
                      </a:lnTo>
                      <a:lnTo>
                        <a:pt x="530" y="690"/>
                      </a:lnTo>
                      <a:lnTo>
                        <a:pt x="550" y="684"/>
                      </a:lnTo>
                      <a:lnTo>
                        <a:pt x="568" y="677"/>
                      </a:lnTo>
                      <a:lnTo>
                        <a:pt x="584" y="670"/>
                      </a:lnTo>
                      <a:lnTo>
                        <a:pt x="597" y="662"/>
                      </a:lnTo>
                      <a:lnTo>
                        <a:pt x="607" y="653"/>
                      </a:lnTo>
                      <a:lnTo>
                        <a:pt x="615" y="644"/>
                      </a:lnTo>
                      <a:lnTo>
                        <a:pt x="620" y="636"/>
                      </a:lnTo>
                      <a:lnTo>
                        <a:pt x="622" y="627"/>
                      </a:lnTo>
                      <a:lnTo>
                        <a:pt x="622" y="89"/>
                      </a:lnTo>
                      <a:lnTo>
                        <a:pt x="620" y="80"/>
                      </a:lnTo>
                      <a:lnTo>
                        <a:pt x="615" y="71"/>
                      </a:lnTo>
                      <a:lnTo>
                        <a:pt x="607" y="62"/>
                      </a:lnTo>
                      <a:lnTo>
                        <a:pt x="597" y="55"/>
                      </a:lnTo>
                      <a:lnTo>
                        <a:pt x="584" y="46"/>
                      </a:lnTo>
                      <a:lnTo>
                        <a:pt x="568" y="40"/>
                      </a:lnTo>
                      <a:lnTo>
                        <a:pt x="550" y="32"/>
                      </a:lnTo>
                      <a:lnTo>
                        <a:pt x="530" y="26"/>
                      </a:lnTo>
                      <a:lnTo>
                        <a:pt x="509" y="21"/>
                      </a:lnTo>
                      <a:lnTo>
                        <a:pt x="484" y="15"/>
                      </a:lnTo>
                      <a:lnTo>
                        <a:pt x="432" y="7"/>
                      </a:lnTo>
                      <a:lnTo>
                        <a:pt x="373" y="1"/>
                      </a:lnTo>
                      <a:lnTo>
                        <a:pt x="310" y="0"/>
                      </a:lnTo>
                      <a:close/>
                    </a:path>
                  </a:pathLst>
                </a:custGeom>
                <a:solidFill>
                  <a:srgbClr val="00A0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82" name="Freeform 106"/>
                <p:cNvSpPr>
                  <a:spLocks/>
                </p:cNvSpPr>
                <p:nvPr/>
              </p:nvSpPr>
              <p:spPr bwMode="auto">
                <a:xfrm>
                  <a:off x="1023" y="2948"/>
                  <a:ext cx="310" cy="90"/>
                </a:xfrm>
                <a:custGeom>
                  <a:avLst/>
                  <a:gdLst>
                    <a:gd name="T0" fmla="*/ 0 w 622"/>
                    <a:gd name="T1" fmla="*/ 45 h 179"/>
                    <a:gd name="T2" fmla="*/ 1 w 622"/>
                    <a:gd name="T3" fmla="*/ 49 h 179"/>
                    <a:gd name="T4" fmla="*/ 3 w 622"/>
                    <a:gd name="T5" fmla="*/ 53 h 179"/>
                    <a:gd name="T6" fmla="*/ 7 w 622"/>
                    <a:gd name="T7" fmla="*/ 58 h 179"/>
                    <a:gd name="T8" fmla="*/ 12 w 622"/>
                    <a:gd name="T9" fmla="*/ 62 h 179"/>
                    <a:gd name="T10" fmla="*/ 19 w 622"/>
                    <a:gd name="T11" fmla="*/ 66 h 179"/>
                    <a:gd name="T12" fmla="*/ 27 w 622"/>
                    <a:gd name="T13" fmla="*/ 70 h 179"/>
                    <a:gd name="T14" fmla="*/ 36 w 622"/>
                    <a:gd name="T15" fmla="*/ 74 h 179"/>
                    <a:gd name="T16" fmla="*/ 45 w 622"/>
                    <a:gd name="T17" fmla="*/ 76 h 179"/>
                    <a:gd name="T18" fmla="*/ 56 w 622"/>
                    <a:gd name="T19" fmla="*/ 79 h 179"/>
                    <a:gd name="T20" fmla="*/ 69 w 622"/>
                    <a:gd name="T21" fmla="*/ 82 h 179"/>
                    <a:gd name="T22" fmla="*/ 95 w 622"/>
                    <a:gd name="T23" fmla="*/ 86 h 179"/>
                    <a:gd name="T24" fmla="*/ 123 w 622"/>
                    <a:gd name="T25" fmla="*/ 89 h 179"/>
                    <a:gd name="T26" fmla="*/ 155 w 622"/>
                    <a:gd name="T27" fmla="*/ 90 h 179"/>
                    <a:gd name="T28" fmla="*/ 186 w 622"/>
                    <a:gd name="T29" fmla="*/ 89 h 179"/>
                    <a:gd name="T30" fmla="*/ 215 w 622"/>
                    <a:gd name="T31" fmla="*/ 86 h 179"/>
                    <a:gd name="T32" fmla="*/ 241 w 622"/>
                    <a:gd name="T33" fmla="*/ 82 h 179"/>
                    <a:gd name="T34" fmla="*/ 254 w 622"/>
                    <a:gd name="T35" fmla="*/ 79 h 179"/>
                    <a:gd name="T36" fmla="*/ 264 w 622"/>
                    <a:gd name="T37" fmla="*/ 76 h 179"/>
                    <a:gd name="T38" fmla="*/ 274 w 622"/>
                    <a:gd name="T39" fmla="*/ 74 h 179"/>
                    <a:gd name="T40" fmla="*/ 283 w 622"/>
                    <a:gd name="T41" fmla="*/ 70 h 179"/>
                    <a:gd name="T42" fmla="*/ 291 w 622"/>
                    <a:gd name="T43" fmla="*/ 66 h 179"/>
                    <a:gd name="T44" fmla="*/ 298 w 622"/>
                    <a:gd name="T45" fmla="*/ 62 h 179"/>
                    <a:gd name="T46" fmla="*/ 303 w 622"/>
                    <a:gd name="T47" fmla="*/ 58 h 179"/>
                    <a:gd name="T48" fmla="*/ 307 w 622"/>
                    <a:gd name="T49" fmla="*/ 53 h 179"/>
                    <a:gd name="T50" fmla="*/ 309 w 622"/>
                    <a:gd name="T51" fmla="*/ 49 h 179"/>
                    <a:gd name="T52" fmla="*/ 310 w 622"/>
                    <a:gd name="T53" fmla="*/ 45 h 179"/>
                    <a:gd name="T54" fmla="*/ 309 w 622"/>
                    <a:gd name="T55" fmla="*/ 40 h 179"/>
                    <a:gd name="T56" fmla="*/ 307 w 622"/>
                    <a:gd name="T57" fmla="*/ 36 h 179"/>
                    <a:gd name="T58" fmla="*/ 303 w 622"/>
                    <a:gd name="T59" fmla="*/ 31 h 179"/>
                    <a:gd name="T60" fmla="*/ 298 w 622"/>
                    <a:gd name="T61" fmla="*/ 28 h 179"/>
                    <a:gd name="T62" fmla="*/ 291 w 622"/>
                    <a:gd name="T63" fmla="*/ 23 h 179"/>
                    <a:gd name="T64" fmla="*/ 283 w 622"/>
                    <a:gd name="T65" fmla="*/ 20 h 179"/>
                    <a:gd name="T66" fmla="*/ 274 w 622"/>
                    <a:gd name="T67" fmla="*/ 16 h 179"/>
                    <a:gd name="T68" fmla="*/ 264 w 622"/>
                    <a:gd name="T69" fmla="*/ 13 h 179"/>
                    <a:gd name="T70" fmla="*/ 254 w 622"/>
                    <a:gd name="T71" fmla="*/ 11 h 179"/>
                    <a:gd name="T72" fmla="*/ 241 w 622"/>
                    <a:gd name="T73" fmla="*/ 8 h 179"/>
                    <a:gd name="T74" fmla="*/ 215 w 622"/>
                    <a:gd name="T75" fmla="*/ 4 h 179"/>
                    <a:gd name="T76" fmla="*/ 186 w 622"/>
                    <a:gd name="T77" fmla="*/ 1 h 179"/>
                    <a:gd name="T78" fmla="*/ 155 w 622"/>
                    <a:gd name="T79" fmla="*/ 0 h 179"/>
                    <a:gd name="T80" fmla="*/ 123 w 622"/>
                    <a:gd name="T81" fmla="*/ 1 h 179"/>
                    <a:gd name="T82" fmla="*/ 95 w 622"/>
                    <a:gd name="T83" fmla="*/ 4 h 179"/>
                    <a:gd name="T84" fmla="*/ 69 w 622"/>
                    <a:gd name="T85" fmla="*/ 8 h 179"/>
                    <a:gd name="T86" fmla="*/ 56 w 622"/>
                    <a:gd name="T87" fmla="*/ 11 h 179"/>
                    <a:gd name="T88" fmla="*/ 45 w 622"/>
                    <a:gd name="T89" fmla="*/ 13 h 179"/>
                    <a:gd name="T90" fmla="*/ 36 w 622"/>
                    <a:gd name="T91" fmla="*/ 16 h 179"/>
                    <a:gd name="T92" fmla="*/ 27 w 622"/>
                    <a:gd name="T93" fmla="*/ 20 h 179"/>
                    <a:gd name="T94" fmla="*/ 19 w 622"/>
                    <a:gd name="T95" fmla="*/ 23 h 179"/>
                    <a:gd name="T96" fmla="*/ 12 w 622"/>
                    <a:gd name="T97" fmla="*/ 28 h 179"/>
                    <a:gd name="T98" fmla="*/ 7 w 622"/>
                    <a:gd name="T99" fmla="*/ 31 h 179"/>
                    <a:gd name="T100" fmla="*/ 3 w 622"/>
                    <a:gd name="T101" fmla="*/ 36 h 179"/>
                    <a:gd name="T102" fmla="*/ 1 w 622"/>
                    <a:gd name="T103" fmla="*/ 40 h 179"/>
                    <a:gd name="T104" fmla="*/ 0 w 622"/>
                    <a:gd name="T105" fmla="*/ 45 h 17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22" h="179">
                      <a:moveTo>
                        <a:pt x="0" y="89"/>
                      </a:moveTo>
                      <a:lnTo>
                        <a:pt x="2" y="98"/>
                      </a:lnTo>
                      <a:lnTo>
                        <a:pt x="7" y="106"/>
                      </a:lnTo>
                      <a:lnTo>
                        <a:pt x="14" y="115"/>
                      </a:lnTo>
                      <a:lnTo>
                        <a:pt x="25" y="124"/>
                      </a:lnTo>
                      <a:lnTo>
                        <a:pt x="38" y="132"/>
                      </a:lnTo>
                      <a:lnTo>
                        <a:pt x="54" y="139"/>
                      </a:lnTo>
                      <a:lnTo>
                        <a:pt x="72" y="147"/>
                      </a:lnTo>
                      <a:lnTo>
                        <a:pt x="91" y="152"/>
                      </a:lnTo>
                      <a:lnTo>
                        <a:pt x="113" y="158"/>
                      </a:lnTo>
                      <a:lnTo>
                        <a:pt x="138" y="164"/>
                      </a:lnTo>
                      <a:lnTo>
                        <a:pt x="190" y="172"/>
                      </a:lnTo>
                      <a:lnTo>
                        <a:pt x="247" y="178"/>
                      </a:lnTo>
                      <a:lnTo>
                        <a:pt x="310" y="179"/>
                      </a:lnTo>
                      <a:lnTo>
                        <a:pt x="373" y="178"/>
                      </a:lnTo>
                      <a:lnTo>
                        <a:pt x="432" y="172"/>
                      </a:lnTo>
                      <a:lnTo>
                        <a:pt x="484" y="164"/>
                      </a:lnTo>
                      <a:lnTo>
                        <a:pt x="509" y="158"/>
                      </a:lnTo>
                      <a:lnTo>
                        <a:pt x="530" y="152"/>
                      </a:lnTo>
                      <a:lnTo>
                        <a:pt x="550" y="147"/>
                      </a:lnTo>
                      <a:lnTo>
                        <a:pt x="568" y="139"/>
                      </a:lnTo>
                      <a:lnTo>
                        <a:pt x="584" y="132"/>
                      </a:lnTo>
                      <a:lnTo>
                        <a:pt x="597" y="124"/>
                      </a:lnTo>
                      <a:lnTo>
                        <a:pt x="607" y="115"/>
                      </a:lnTo>
                      <a:lnTo>
                        <a:pt x="615" y="106"/>
                      </a:lnTo>
                      <a:lnTo>
                        <a:pt x="620" y="98"/>
                      </a:lnTo>
                      <a:lnTo>
                        <a:pt x="622" y="89"/>
                      </a:lnTo>
                      <a:lnTo>
                        <a:pt x="620" y="80"/>
                      </a:lnTo>
                      <a:lnTo>
                        <a:pt x="615" y="71"/>
                      </a:lnTo>
                      <a:lnTo>
                        <a:pt x="607" y="62"/>
                      </a:lnTo>
                      <a:lnTo>
                        <a:pt x="597" y="55"/>
                      </a:lnTo>
                      <a:lnTo>
                        <a:pt x="584" y="46"/>
                      </a:lnTo>
                      <a:lnTo>
                        <a:pt x="568" y="40"/>
                      </a:lnTo>
                      <a:lnTo>
                        <a:pt x="550" y="32"/>
                      </a:lnTo>
                      <a:lnTo>
                        <a:pt x="530" y="26"/>
                      </a:lnTo>
                      <a:lnTo>
                        <a:pt x="509" y="21"/>
                      </a:lnTo>
                      <a:lnTo>
                        <a:pt x="484" y="15"/>
                      </a:lnTo>
                      <a:lnTo>
                        <a:pt x="432" y="7"/>
                      </a:lnTo>
                      <a:lnTo>
                        <a:pt x="373" y="1"/>
                      </a:lnTo>
                      <a:lnTo>
                        <a:pt x="310" y="0"/>
                      </a:lnTo>
                      <a:lnTo>
                        <a:pt x="247" y="1"/>
                      </a:lnTo>
                      <a:lnTo>
                        <a:pt x="190" y="7"/>
                      </a:lnTo>
                      <a:lnTo>
                        <a:pt x="138" y="15"/>
                      </a:lnTo>
                      <a:lnTo>
                        <a:pt x="113" y="21"/>
                      </a:lnTo>
                      <a:lnTo>
                        <a:pt x="91" y="26"/>
                      </a:lnTo>
                      <a:lnTo>
                        <a:pt x="72" y="32"/>
                      </a:lnTo>
                      <a:lnTo>
                        <a:pt x="54" y="40"/>
                      </a:lnTo>
                      <a:lnTo>
                        <a:pt x="38" y="46"/>
                      </a:lnTo>
                      <a:lnTo>
                        <a:pt x="25" y="55"/>
                      </a:lnTo>
                      <a:lnTo>
                        <a:pt x="14" y="62"/>
                      </a:lnTo>
                      <a:lnTo>
                        <a:pt x="7" y="71"/>
                      </a:lnTo>
                      <a:lnTo>
                        <a:pt x="2" y="80"/>
                      </a:lnTo>
                      <a:lnTo>
                        <a:pt x="0" y="89"/>
                      </a:lnTo>
                      <a:close/>
                    </a:path>
                  </a:pathLst>
                </a:custGeom>
                <a:solidFill>
                  <a:srgbClr val="32B3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83" name="Freeform 107"/>
                <p:cNvSpPr>
                  <a:spLocks/>
                </p:cNvSpPr>
                <p:nvPr/>
              </p:nvSpPr>
              <p:spPr bwMode="auto">
                <a:xfrm>
                  <a:off x="1023" y="2948"/>
                  <a:ext cx="310" cy="359"/>
                </a:xfrm>
                <a:custGeom>
                  <a:avLst/>
                  <a:gdLst>
                    <a:gd name="T0" fmla="*/ 155 w 622"/>
                    <a:gd name="T1" fmla="*/ 0 h 717"/>
                    <a:gd name="T2" fmla="*/ 123 w 622"/>
                    <a:gd name="T3" fmla="*/ 1 h 717"/>
                    <a:gd name="T4" fmla="*/ 95 w 622"/>
                    <a:gd name="T5" fmla="*/ 4 h 717"/>
                    <a:gd name="T6" fmla="*/ 69 w 622"/>
                    <a:gd name="T7" fmla="*/ 8 h 717"/>
                    <a:gd name="T8" fmla="*/ 56 w 622"/>
                    <a:gd name="T9" fmla="*/ 11 h 717"/>
                    <a:gd name="T10" fmla="*/ 45 w 622"/>
                    <a:gd name="T11" fmla="*/ 13 h 717"/>
                    <a:gd name="T12" fmla="*/ 36 w 622"/>
                    <a:gd name="T13" fmla="*/ 16 h 717"/>
                    <a:gd name="T14" fmla="*/ 27 w 622"/>
                    <a:gd name="T15" fmla="*/ 20 h 717"/>
                    <a:gd name="T16" fmla="*/ 19 w 622"/>
                    <a:gd name="T17" fmla="*/ 23 h 717"/>
                    <a:gd name="T18" fmla="*/ 12 w 622"/>
                    <a:gd name="T19" fmla="*/ 28 h 717"/>
                    <a:gd name="T20" fmla="*/ 7 w 622"/>
                    <a:gd name="T21" fmla="*/ 31 h 717"/>
                    <a:gd name="T22" fmla="*/ 3 w 622"/>
                    <a:gd name="T23" fmla="*/ 36 h 717"/>
                    <a:gd name="T24" fmla="*/ 1 w 622"/>
                    <a:gd name="T25" fmla="*/ 40 h 717"/>
                    <a:gd name="T26" fmla="*/ 0 w 622"/>
                    <a:gd name="T27" fmla="*/ 45 h 717"/>
                    <a:gd name="T28" fmla="*/ 0 w 622"/>
                    <a:gd name="T29" fmla="*/ 314 h 717"/>
                    <a:gd name="T30" fmla="*/ 1 w 622"/>
                    <a:gd name="T31" fmla="*/ 318 h 717"/>
                    <a:gd name="T32" fmla="*/ 3 w 622"/>
                    <a:gd name="T33" fmla="*/ 322 h 717"/>
                    <a:gd name="T34" fmla="*/ 7 w 622"/>
                    <a:gd name="T35" fmla="*/ 327 h 717"/>
                    <a:gd name="T36" fmla="*/ 12 w 622"/>
                    <a:gd name="T37" fmla="*/ 331 h 717"/>
                    <a:gd name="T38" fmla="*/ 19 w 622"/>
                    <a:gd name="T39" fmla="*/ 335 h 717"/>
                    <a:gd name="T40" fmla="*/ 27 w 622"/>
                    <a:gd name="T41" fmla="*/ 339 h 717"/>
                    <a:gd name="T42" fmla="*/ 36 w 622"/>
                    <a:gd name="T43" fmla="*/ 342 h 717"/>
                    <a:gd name="T44" fmla="*/ 45 w 622"/>
                    <a:gd name="T45" fmla="*/ 345 h 717"/>
                    <a:gd name="T46" fmla="*/ 56 w 622"/>
                    <a:gd name="T47" fmla="*/ 348 h 717"/>
                    <a:gd name="T48" fmla="*/ 69 w 622"/>
                    <a:gd name="T49" fmla="*/ 351 h 717"/>
                    <a:gd name="T50" fmla="*/ 95 w 622"/>
                    <a:gd name="T51" fmla="*/ 355 h 717"/>
                    <a:gd name="T52" fmla="*/ 123 w 622"/>
                    <a:gd name="T53" fmla="*/ 358 h 717"/>
                    <a:gd name="T54" fmla="*/ 155 w 622"/>
                    <a:gd name="T55" fmla="*/ 359 h 717"/>
                    <a:gd name="T56" fmla="*/ 186 w 622"/>
                    <a:gd name="T57" fmla="*/ 358 h 717"/>
                    <a:gd name="T58" fmla="*/ 215 w 622"/>
                    <a:gd name="T59" fmla="*/ 355 h 717"/>
                    <a:gd name="T60" fmla="*/ 241 w 622"/>
                    <a:gd name="T61" fmla="*/ 351 h 717"/>
                    <a:gd name="T62" fmla="*/ 254 w 622"/>
                    <a:gd name="T63" fmla="*/ 348 h 717"/>
                    <a:gd name="T64" fmla="*/ 264 w 622"/>
                    <a:gd name="T65" fmla="*/ 345 h 717"/>
                    <a:gd name="T66" fmla="*/ 274 w 622"/>
                    <a:gd name="T67" fmla="*/ 342 h 717"/>
                    <a:gd name="T68" fmla="*/ 283 w 622"/>
                    <a:gd name="T69" fmla="*/ 339 h 717"/>
                    <a:gd name="T70" fmla="*/ 291 w 622"/>
                    <a:gd name="T71" fmla="*/ 335 h 717"/>
                    <a:gd name="T72" fmla="*/ 298 w 622"/>
                    <a:gd name="T73" fmla="*/ 331 h 717"/>
                    <a:gd name="T74" fmla="*/ 303 w 622"/>
                    <a:gd name="T75" fmla="*/ 327 h 717"/>
                    <a:gd name="T76" fmla="*/ 307 w 622"/>
                    <a:gd name="T77" fmla="*/ 322 h 717"/>
                    <a:gd name="T78" fmla="*/ 309 w 622"/>
                    <a:gd name="T79" fmla="*/ 318 h 717"/>
                    <a:gd name="T80" fmla="*/ 310 w 622"/>
                    <a:gd name="T81" fmla="*/ 314 h 717"/>
                    <a:gd name="T82" fmla="*/ 310 w 622"/>
                    <a:gd name="T83" fmla="*/ 45 h 717"/>
                    <a:gd name="T84" fmla="*/ 309 w 622"/>
                    <a:gd name="T85" fmla="*/ 40 h 717"/>
                    <a:gd name="T86" fmla="*/ 307 w 622"/>
                    <a:gd name="T87" fmla="*/ 36 h 717"/>
                    <a:gd name="T88" fmla="*/ 303 w 622"/>
                    <a:gd name="T89" fmla="*/ 31 h 717"/>
                    <a:gd name="T90" fmla="*/ 298 w 622"/>
                    <a:gd name="T91" fmla="*/ 28 h 717"/>
                    <a:gd name="T92" fmla="*/ 291 w 622"/>
                    <a:gd name="T93" fmla="*/ 23 h 717"/>
                    <a:gd name="T94" fmla="*/ 283 w 622"/>
                    <a:gd name="T95" fmla="*/ 20 h 717"/>
                    <a:gd name="T96" fmla="*/ 274 w 622"/>
                    <a:gd name="T97" fmla="*/ 16 h 717"/>
                    <a:gd name="T98" fmla="*/ 264 w 622"/>
                    <a:gd name="T99" fmla="*/ 13 h 717"/>
                    <a:gd name="T100" fmla="*/ 254 w 622"/>
                    <a:gd name="T101" fmla="*/ 11 h 717"/>
                    <a:gd name="T102" fmla="*/ 241 w 622"/>
                    <a:gd name="T103" fmla="*/ 8 h 717"/>
                    <a:gd name="T104" fmla="*/ 215 w 622"/>
                    <a:gd name="T105" fmla="*/ 4 h 717"/>
                    <a:gd name="T106" fmla="*/ 186 w 622"/>
                    <a:gd name="T107" fmla="*/ 1 h 717"/>
                    <a:gd name="T108" fmla="*/ 155 w 622"/>
                    <a:gd name="T109" fmla="*/ 0 h 71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7">
                      <a:moveTo>
                        <a:pt x="310" y="0"/>
                      </a:moveTo>
                      <a:lnTo>
                        <a:pt x="247" y="1"/>
                      </a:lnTo>
                      <a:lnTo>
                        <a:pt x="190" y="7"/>
                      </a:lnTo>
                      <a:lnTo>
                        <a:pt x="138" y="15"/>
                      </a:lnTo>
                      <a:lnTo>
                        <a:pt x="113" y="21"/>
                      </a:lnTo>
                      <a:lnTo>
                        <a:pt x="91" y="26"/>
                      </a:lnTo>
                      <a:lnTo>
                        <a:pt x="72" y="32"/>
                      </a:lnTo>
                      <a:lnTo>
                        <a:pt x="54" y="40"/>
                      </a:lnTo>
                      <a:lnTo>
                        <a:pt x="38" y="46"/>
                      </a:lnTo>
                      <a:lnTo>
                        <a:pt x="25" y="55"/>
                      </a:lnTo>
                      <a:lnTo>
                        <a:pt x="14" y="62"/>
                      </a:lnTo>
                      <a:lnTo>
                        <a:pt x="7" y="71"/>
                      </a:lnTo>
                      <a:lnTo>
                        <a:pt x="2" y="80"/>
                      </a:lnTo>
                      <a:lnTo>
                        <a:pt x="0" y="89"/>
                      </a:lnTo>
                      <a:lnTo>
                        <a:pt x="0" y="627"/>
                      </a:lnTo>
                      <a:lnTo>
                        <a:pt x="2" y="636"/>
                      </a:lnTo>
                      <a:lnTo>
                        <a:pt x="7" y="644"/>
                      </a:lnTo>
                      <a:lnTo>
                        <a:pt x="14" y="653"/>
                      </a:lnTo>
                      <a:lnTo>
                        <a:pt x="25" y="662"/>
                      </a:lnTo>
                      <a:lnTo>
                        <a:pt x="38" y="670"/>
                      </a:lnTo>
                      <a:lnTo>
                        <a:pt x="54" y="677"/>
                      </a:lnTo>
                      <a:lnTo>
                        <a:pt x="72" y="684"/>
                      </a:lnTo>
                      <a:lnTo>
                        <a:pt x="91" y="690"/>
                      </a:lnTo>
                      <a:lnTo>
                        <a:pt x="113" y="696"/>
                      </a:lnTo>
                      <a:lnTo>
                        <a:pt x="138" y="702"/>
                      </a:lnTo>
                      <a:lnTo>
                        <a:pt x="190" y="710"/>
                      </a:lnTo>
                      <a:lnTo>
                        <a:pt x="247" y="716"/>
                      </a:lnTo>
                      <a:lnTo>
                        <a:pt x="310" y="717"/>
                      </a:lnTo>
                      <a:lnTo>
                        <a:pt x="373" y="716"/>
                      </a:lnTo>
                      <a:lnTo>
                        <a:pt x="432" y="710"/>
                      </a:lnTo>
                      <a:lnTo>
                        <a:pt x="484" y="702"/>
                      </a:lnTo>
                      <a:lnTo>
                        <a:pt x="509" y="696"/>
                      </a:lnTo>
                      <a:lnTo>
                        <a:pt x="530" y="690"/>
                      </a:lnTo>
                      <a:lnTo>
                        <a:pt x="550" y="684"/>
                      </a:lnTo>
                      <a:lnTo>
                        <a:pt x="568" y="677"/>
                      </a:lnTo>
                      <a:lnTo>
                        <a:pt x="584" y="670"/>
                      </a:lnTo>
                      <a:lnTo>
                        <a:pt x="597" y="662"/>
                      </a:lnTo>
                      <a:lnTo>
                        <a:pt x="607" y="653"/>
                      </a:lnTo>
                      <a:lnTo>
                        <a:pt x="615" y="644"/>
                      </a:lnTo>
                      <a:lnTo>
                        <a:pt x="620" y="636"/>
                      </a:lnTo>
                      <a:lnTo>
                        <a:pt x="622" y="627"/>
                      </a:lnTo>
                      <a:lnTo>
                        <a:pt x="622" y="89"/>
                      </a:lnTo>
                      <a:lnTo>
                        <a:pt x="620" y="80"/>
                      </a:lnTo>
                      <a:lnTo>
                        <a:pt x="615" y="71"/>
                      </a:lnTo>
                      <a:lnTo>
                        <a:pt x="607" y="62"/>
                      </a:lnTo>
                      <a:lnTo>
                        <a:pt x="597" y="55"/>
                      </a:lnTo>
                      <a:lnTo>
                        <a:pt x="584" y="46"/>
                      </a:lnTo>
                      <a:lnTo>
                        <a:pt x="568" y="40"/>
                      </a:lnTo>
                      <a:lnTo>
                        <a:pt x="550" y="32"/>
                      </a:lnTo>
                      <a:lnTo>
                        <a:pt x="530" y="26"/>
                      </a:lnTo>
                      <a:lnTo>
                        <a:pt x="509" y="21"/>
                      </a:lnTo>
                      <a:lnTo>
                        <a:pt x="484" y="15"/>
                      </a:lnTo>
                      <a:lnTo>
                        <a:pt x="432" y="7"/>
                      </a:lnTo>
                      <a:lnTo>
                        <a:pt x="373" y="1"/>
                      </a:lnTo>
                      <a:lnTo>
                        <a:pt x="310" y="0"/>
                      </a:lnTo>
                      <a:close/>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sp>
              <p:nvSpPr>
                <p:cNvPr id="184" name="Freeform 108"/>
                <p:cNvSpPr>
                  <a:spLocks/>
                </p:cNvSpPr>
                <p:nvPr/>
              </p:nvSpPr>
              <p:spPr bwMode="auto">
                <a:xfrm>
                  <a:off x="1023" y="2992"/>
                  <a:ext cx="310" cy="46"/>
                </a:xfrm>
                <a:custGeom>
                  <a:avLst/>
                  <a:gdLst>
                    <a:gd name="T0" fmla="*/ 0 w 622"/>
                    <a:gd name="T1" fmla="*/ 0 h 90"/>
                    <a:gd name="T2" fmla="*/ 1 w 622"/>
                    <a:gd name="T3" fmla="*/ 5 h 90"/>
                    <a:gd name="T4" fmla="*/ 3 w 622"/>
                    <a:gd name="T5" fmla="*/ 9 h 90"/>
                    <a:gd name="T6" fmla="*/ 7 w 622"/>
                    <a:gd name="T7" fmla="*/ 13 h 90"/>
                    <a:gd name="T8" fmla="*/ 12 w 622"/>
                    <a:gd name="T9" fmla="*/ 18 h 90"/>
                    <a:gd name="T10" fmla="*/ 19 w 622"/>
                    <a:gd name="T11" fmla="*/ 22 h 90"/>
                    <a:gd name="T12" fmla="*/ 27 w 622"/>
                    <a:gd name="T13" fmla="*/ 26 h 90"/>
                    <a:gd name="T14" fmla="*/ 36 w 622"/>
                    <a:gd name="T15" fmla="*/ 30 h 90"/>
                    <a:gd name="T16" fmla="*/ 45 w 622"/>
                    <a:gd name="T17" fmla="*/ 32 h 90"/>
                    <a:gd name="T18" fmla="*/ 56 w 622"/>
                    <a:gd name="T19" fmla="*/ 35 h 90"/>
                    <a:gd name="T20" fmla="*/ 69 w 622"/>
                    <a:gd name="T21" fmla="*/ 38 h 90"/>
                    <a:gd name="T22" fmla="*/ 95 w 622"/>
                    <a:gd name="T23" fmla="*/ 42 h 90"/>
                    <a:gd name="T24" fmla="*/ 123 w 622"/>
                    <a:gd name="T25" fmla="*/ 45 h 90"/>
                    <a:gd name="T26" fmla="*/ 155 w 622"/>
                    <a:gd name="T27" fmla="*/ 46 h 90"/>
                    <a:gd name="T28" fmla="*/ 186 w 622"/>
                    <a:gd name="T29" fmla="*/ 45 h 90"/>
                    <a:gd name="T30" fmla="*/ 215 w 622"/>
                    <a:gd name="T31" fmla="*/ 42 h 90"/>
                    <a:gd name="T32" fmla="*/ 241 w 622"/>
                    <a:gd name="T33" fmla="*/ 38 h 90"/>
                    <a:gd name="T34" fmla="*/ 254 w 622"/>
                    <a:gd name="T35" fmla="*/ 35 h 90"/>
                    <a:gd name="T36" fmla="*/ 264 w 622"/>
                    <a:gd name="T37" fmla="*/ 32 h 90"/>
                    <a:gd name="T38" fmla="*/ 274 w 622"/>
                    <a:gd name="T39" fmla="*/ 30 h 90"/>
                    <a:gd name="T40" fmla="*/ 283 w 622"/>
                    <a:gd name="T41" fmla="*/ 26 h 90"/>
                    <a:gd name="T42" fmla="*/ 291 w 622"/>
                    <a:gd name="T43" fmla="*/ 22 h 90"/>
                    <a:gd name="T44" fmla="*/ 298 w 622"/>
                    <a:gd name="T45" fmla="*/ 18 h 90"/>
                    <a:gd name="T46" fmla="*/ 303 w 622"/>
                    <a:gd name="T47" fmla="*/ 13 h 90"/>
                    <a:gd name="T48" fmla="*/ 307 w 622"/>
                    <a:gd name="T49" fmla="*/ 9 h 90"/>
                    <a:gd name="T50" fmla="*/ 309 w 622"/>
                    <a:gd name="T51" fmla="*/ 5 h 90"/>
                    <a:gd name="T52" fmla="*/ 310 w 622"/>
                    <a:gd name="T53" fmla="*/ 0 h 9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22" h="90">
                      <a:moveTo>
                        <a:pt x="0" y="0"/>
                      </a:moveTo>
                      <a:lnTo>
                        <a:pt x="2" y="9"/>
                      </a:lnTo>
                      <a:lnTo>
                        <a:pt x="7" y="17"/>
                      </a:lnTo>
                      <a:lnTo>
                        <a:pt x="14" y="26"/>
                      </a:lnTo>
                      <a:lnTo>
                        <a:pt x="25" y="35"/>
                      </a:lnTo>
                      <a:lnTo>
                        <a:pt x="38" y="43"/>
                      </a:lnTo>
                      <a:lnTo>
                        <a:pt x="54" y="50"/>
                      </a:lnTo>
                      <a:lnTo>
                        <a:pt x="72" y="58"/>
                      </a:lnTo>
                      <a:lnTo>
                        <a:pt x="91" y="63"/>
                      </a:lnTo>
                      <a:lnTo>
                        <a:pt x="113" y="69"/>
                      </a:lnTo>
                      <a:lnTo>
                        <a:pt x="138" y="75"/>
                      </a:lnTo>
                      <a:lnTo>
                        <a:pt x="190" y="83"/>
                      </a:lnTo>
                      <a:lnTo>
                        <a:pt x="247" y="89"/>
                      </a:lnTo>
                      <a:lnTo>
                        <a:pt x="310" y="90"/>
                      </a:lnTo>
                      <a:lnTo>
                        <a:pt x="373" y="89"/>
                      </a:lnTo>
                      <a:lnTo>
                        <a:pt x="432" y="83"/>
                      </a:lnTo>
                      <a:lnTo>
                        <a:pt x="484" y="75"/>
                      </a:lnTo>
                      <a:lnTo>
                        <a:pt x="509" y="69"/>
                      </a:lnTo>
                      <a:lnTo>
                        <a:pt x="530" y="63"/>
                      </a:lnTo>
                      <a:lnTo>
                        <a:pt x="550" y="58"/>
                      </a:lnTo>
                      <a:lnTo>
                        <a:pt x="568" y="50"/>
                      </a:lnTo>
                      <a:lnTo>
                        <a:pt x="584" y="43"/>
                      </a:lnTo>
                      <a:lnTo>
                        <a:pt x="597" y="35"/>
                      </a:lnTo>
                      <a:lnTo>
                        <a:pt x="607" y="26"/>
                      </a:lnTo>
                      <a:lnTo>
                        <a:pt x="615" y="17"/>
                      </a:lnTo>
                      <a:lnTo>
                        <a:pt x="620" y="9"/>
                      </a:lnTo>
                      <a:lnTo>
                        <a:pt x="622"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grpSp>
          <p:sp>
            <p:nvSpPr>
              <p:cNvPr id="179" name="Rectangle 109"/>
              <p:cNvSpPr>
                <a:spLocks noChangeArrowheads="1"/>
              </p:cNvSpPr>
              <p:nvPr/>
            </p:nvSpPr>
            <p:spPr bwMode="auto">
              <a:xfrm>
                <a:off x="1127" y="3025"/>
                <a:ext cx="191"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buClrTx/>
                  <a:buFontTx/>
                  <a:buNone/>
                </a:pPr>
                <a:r>
                  <a:rPr lang="en-US" sz="1400">
                    <a:solidFill>
                      <a:srgbClr val="000000"/>
                    </a:solidFill>
                    <a:latin typeface="Times New Roman" pitchFamily="18" charset="0"/>
                    <a:cs typeface="Times New Roman" pitchFamily="18" charset="0"/>
                  </a:rPr>
                  <a:t>base</a:t>
                </a:r>
                <a:endParaRPr lang="en-US" sz="2800">
                  <a:latin typeface="Times New Roman" pitchFamily="18" charset="0"/>
                  <a:cs typeface="Times New Roman" pitchFamily="18" charset="0"/>
                </a:endParaRPr>
              </a:p>
            </p:txBody>
          </p:sp>
          <p:sp>
            <p:nvSpPr>
              <p:cNvPr id="180" name="Rectangle 110"/>
              <p:cNvSpPr>
                <a:spLocks noChangeArrowheads="1"/>
              </p:cNvSpPr>
              <p:nvPr/>
            </p:nvSpPr>
            <p:spPr bwMode="auto">
              <a:xfrm>
                <a:off x="1099" y="3155"/>
                <a:ext cx="250"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buClrTx/>
                  <a:buFontTx/>
                  <a:buNone/>
                </a:pPr>
                <a:r>
                  <a:rPr lang="en-US" sz="1400">
                    <a:solidFill>
                      <a:srgbClr val="000000"/>
                    </a:solidFill>
                    <a:latin typeface="Times New Roman" pitchFamily="18" charset="0"/>
                    <a:cs typeface="Times New Roman" pitchFamily="18" charset="0"/>
                  </a:rPr>
                  <a:t>tables</a:t>
                </a:r>
                <a:endParaRPr lang="en-US" sz="2800">
                  <a:latin typeface="Times New Roman" pitchFamily="18" charset="0"/>
                  <a:cs typeface="Times New Roman" pitchFamily="18" charset="0"/>
                </a:endParaRPr>
              </a:p>
            </p:txBody>
          </p:sp>
        </p:grpSp>
        <p:grpSp>
          <p:nvGrpSpPr>
            <p:cNvPr id="109" name="Group 111"/>
            <p:cNvGrpSpPr>
              <a:grpSpLocks/>
            </p:cNvGrpSpPr>
            <p:nvPr/>
          </p:nvGrpSpPr>
          <p:grpSpPr bwMode="auto">
            <a:xfrm>
              <a:off x="867" y="2813"/>
              <a:ext cx="482" cy="508"/>
              <a:chOff x="867" y="2813"/>
              <a:chExt cx="482" cy="508"/>
            </a:xfrm>
          </p:grpSpPr>
          <p:grpSp>
            <p:nvGrpSpPr>
              <p:cNvPr id="153" name="Group 112"/>
              <p:cNvGrpSpPr>
                <a:grpSpLocks/>
              </p:cNvGrpSpPr>
              <p:nvPr/>
            </p:nvGrpSpPr>
            <p:grpSpPr bwMode="auto">
              <a:xfrm>
                <a:off x="867" y="2813"/>
                <a:ext cx="311" cy="359"/>
                <a:chOff x="867" y="2813"/>
                <a:chExt cx="311" cy="359"/>
              </a:xfrm>
            </p:grpSpPr>
            <p:sp>
              <p:nvSpPr>
                <p:cNvPr id="171" name="Freeform 113"/>
                <p:cNvSpPr>
                  <a:spLocks/>
                </p:cNvSpPr>
                <p:nvPr/>
              </p:nvSpPr>
              <p:spPr bwMode="auto">
                <a:xfrm>
                  <a:off x="867" y="2813"/>
                  <a:ext cx="311" cy="359"/>
                </a:xfrm>
                <a:custGeom>
                  <a:avLst/>
                  <a:gdLst>
                    <a:gd name="T0" fmla="*/ 155 w 622"/>
                    <a:gd name="T1" fmla="*/ 0 h 717"/>
                    <a:gd name="T2" fmla="*/ 124 w 622"/>
                    <a:gd name="T3" fmla="*/ 1 h 717"/>
                    <a:gd name="T4" fmla="*/ 95 w 622"/>
                    <a:gd name="T5" fmla="*/ 4 h 717"/>
                    <a:gd name="T6" fmla="*/ 69 w 622"/>
                    <a:gd name="T7" fmla="*/ 8 h 717"/>
                    <a:gd name="T8" fmla="*/ 57 w 622"/>
                    <a:gd name="T9" fmla="*/ 11 h 717"/>
                    <a:gd name="T10" fmla="*/ 46 w 622"/>
                    <a:gd name="T11" fmla="*/ 14 h 717"/>
                    <a:gd name="T12" fmla="*/ 36 w 622"/>
                    <a:gd name="T13" fmla="*/ 17 h 717"/>
                    <a:gd name="T14" fmla="*/ 27 w 622"/>
                    <a:gd name="T15" fmla="*/ 20 h 717"/>
                    <a:gd name="T16" fmla="*/ 19 w 622"/>
                    <a:gd name="T17" fmla="*/ 23 h 717"/>
                    <a:gd name="T18" fmla="*/ 13 w 622"/>
                    <a:gd name="T19" fmla="*/ 28 h 717"/>
                    <a:gd name="T20" fmla="*/ 8 w 622"/>
                    <a:gd name="T21" fmla="*/ 31 h 717"/>
                    <a:gd name="T22" fmla="*/ 4 w 622"/>
                    <a:gd name="T23" fmla="*/ 36 h 717"/>
                    <a:gd name="T24" fmla="*/ 1 w 622"/>
                    <a:gd name="T25" fmla="*/ 40 h 717"/>
                    <a:gd name="T26" fmla="*/ 0 w 622"/>
                    <a:gd name="T27" fmla="*/ 45 h 717"/>
                    <a:gd name="T28" fmla="*/ 0 w 622"/>
                    <a:gd name="T29" fmla="*/ 314 h 717"/>
                    <a:gd name="T30" fmla="*/ 1 w 622"/>
                    <a:gd name="T31" fmla="*/ 318 h 717"/>
                    <a:gd name="T32" fmla="*/ 4 w 622"/>
                    <a:gd name="T33" fmla="*/ 323 h 717"/>
                    <a:gd name="T34" fmla="*/ 8 w 622"/>
                    <a:gd name="T35" fmla="*/ 327 h 717"/>
                    <a:gd name="T36" fmla="*/ 13 w 622"/>
                    <a:gd name="T37" fmla="*/ 332 h 717"/>
                    <a:gd name="T38" fmla="*/ 19 w 622"/>
                    <a:gd name="T39" fmla="*/ 335 h 717"/>
                    <a:gd name="T40" fmla="*/ 27 w 622"/>
                    <a:gd name="T41" fmla="*/ 339 h 717"/>
                    <a:gd name="T42" fmla="*/ 36 w 622"/>
                    <a:gd name="T43" fmla="*/ 343 h 717"/>
                    <a:gd name="T44" fmla="*/ 46 w 622"/>
                    <a:gd name="T45" fmla="*/ 346 h 717"/>
                    <a:gd name="T46" fmla="*/ 57 w 622"/>
                    <a:gd name="T47" fmla="*/ 349 h 717"/>
                    <a:gd name="T48" fmla="*/ 69 w 622"/>
                    <a:gd name="T49" fmla="*/ 352 h 717"/>
                    <a:gd name="T50" fmla="*/ 95 w 622"/>
                    <a:gd name="T51" fmla="*/ 355 h 717"/>
                    <a:gd name="T52" fmla="*/ 124 w 622"/>
                    <a:gd name="T53" fmla="*/ 358 h 717"/>
                    <a:gd name="T54" fmla="*/ 155 w 622"/>
                    <a:gd name="T55" fmla="*/ 359 h 717"/>
                    <a:gd name="T56" fmla="*/ 187 w 622"/>
                    <a:gd name="T57" fmla="*/ 358 h 717"/>
                    <a:gd name="T58" fmla="*/ 216 w 622"/>
                    <a:gd name="T59" fmla="*/ 355 h 717"/>
                    <a:gd name="T60" fmla="*/ 242 w 622"/>
                    <a:gd name="T61" fmla="*/ 352 h 717"/>
                    <a:gd name="T62" fmla="*/ 255 w 622"/>
                    <a:gd name="T63" fmla="*/ 349 h 717"/>
                    <a:gd name="T64" fmla="*/ 266 w 622"/>
                    <a:gd name="T65" fmla="*/ 346 h 717"/>
                    <a:gd name="T66" fmla="*/ 275 w 622"/>
                    <a:gd name="T67" fmla="*/ 343 h 717"/>
                    <a:gd name="T68" fmla="*/ 284 w 622"/>
                    <a:gd name="T69" fmla="*/ 339 h 717"/>
                    <a:gd name="T70" fmla="*/ 292 w 622"/>
                    <a:gd name="T71" fmla="*/ 335 h 717"/>
                    <a:gd name="T72" fmla="*/ 299 w 622"/>
                    <a:gd name="T73" fmla="*/ 332 h 717"/>
                    <a:gd name="T74" fmla="*/ 304 w 622"/>
                    <a:gd name="T75" fmla="*/ 327 h 717"/>
                    <a:gd name="T76" fmla="*/ 308 w 622"/>
                    <a:gd name="T77" fmla="*/ 323 h 717"/>
                    <a:gd name="T78" fmla="*/ 310 w 622"/>
                    <a:gd name="T79" fmla="*/ 318 h 717"/>
                    <a:gd name="T80" fmla="*/ 311 w 622"/>
                    <a:gd name="T81" fmla="*/ 314 h 717"/>
                    <a:gd name="T82" fmla="*/ 311 w 622"/>
                    <a:gd name="T83" fmla="*/ 45 h 717"/>
                    <a:gd name="T84" fmla="*/ 310 w 622"/>
                    <a:gd name="T85" fmla="*/ 40 h 717"/>
                    <a:gd name="T86" fmla="*/ 308 w 622"/>
                    <a:gd name="T87" fmla="*/ 36 h 717"/>
                    <a:gd name="T88" fmla="*/ 304 w 622"/>
                    <a:gd name="T89" fmla="*/ 31 h 717"/>
                    <a:gd name="T90" fmla="*/ 299 w 622"/>
                    <a:gd name="T91" fmla="*/ 28 h 717"/>
                    <a:gd name="T92" fmla="*/ 292 w 622"/>
                    <a:gd name="T93" fmla="*/ 23 h 717"/>
                    <a:gd name="T94" fmla="*/ 284 w 622"/>
                    <a:gd name="T95" fmla="*/ 20 h 717"/>
                    <a:gd name="T96" fmla="*/ 275 w 622"/>
                    <a:gd name="T97" fmla="*/ 17 h 717"/>
                    <a:gd name="T98" fmla="*/ 266 w 622"/>
                    <a:gd name="T99" fmla="*/ 14 h 717"/>
                    <a:gd name="T100" fmla="*/ 255 w 622"/>
                    <a:gd name="T101" fmla="*/ 11 h 717"/>
                    <a:gd name="T102" fmla="*/ 242 w 622"/>
                    <a:gd name="T103" fmla="*/ 8 h 717"/>
                    <a:gd name="T104" fmla="*/ 216 w 622"/>
                    <a:gd name="T105" fmla="*/ 4 h 717"/>
                    <a:gd name="T106" fmla="*/ 187 w 622"/>
                    <a:gd name="T107" fmla="*/ 1 h 717"/>
                    <a:gd name="T108" fmla="*/ 155 w 622"/>
                    <a:gd name="T109" fmla="*/ 0 h 71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7">
                      <a:moveTo>
                        <a:pt x="310" y="0"/>
                      </a:moveTo>
                      <a:lnTo>
                        <a:pt x="248" y="2"/>
                      </a:lnTo>
                      <a:lnTo>
                        <a:pt x="190" y="7"/>
                      </a:lnTo>
                      <a:lnTo>
                        <a:pt x="138" y="15"/>
                      </a:lnTo>
                      <a:lnTo>
                        <a:pt x="113" y="21"/>
                      </a:lnTo>
                      <a:lnTo>
                        <a:pt x="92" y="27"/>
                      </a:lnTo>
                      <a:lnTo>
                        <a:pt x="72" y="33"/>
                      </a:lnTo>
                      <a:lnTo>
                        <a:pt x="54" y="40"/>
                      </a:lnTo>
                      <a:lnTo>
                        <a:pt x="38" y="46"/>
                      </a:lnTo>
                      <a:lnTo>
                        <a:pt x="25" y="55"/>
                      </a:lnTo>
                      <a:lnTo>
                        <a:pt x="15" y="62"/>
                      </a:lnTo>
                      <a:lnTo>
                        <a:pt x="8" y="71"/>
                      </a:lnTo>
                      <a:lnTo>
                        <a:pt x="2" y="80"/>
                      </a:lnTo>
                      <a:lnTo>
                        <a:pt x="0" y="89"/>
                      </a:lnTo>
                      <a:lnTo>
                        <a:pt x="0" y="627"/>
                      </a:lnTo>
                      <a:lnTo>
                        <a:pt x="2" y="636"/>
                      </a:lnTo>
                      <a:lnTo>
                        <a:pt x="8" y="645"/>
                      </a:lnTo>
                      <a:lnTo>
                        <a:pt x="15" y="654"/>
                      </a:lnTo>
                      <a:lnTo>
                        <a:pt x="25" y="663"/>
                      </a:lnTo>
                      <a:lnTo>
                        <a:pt x="38" y="670"/>
                      </a:lnTo>
                      <a:lnTo>
                        <a:pt x="54" y="677"/>
                      </a:lnTo>
                      <a:lnTo>
                        <a:pt x="72" y="685"/>
                      </a:lnTo>
                      <a:lnTo>
                        <a:pt x="92" y="691"/>
                      </a:lnTo>
                      <a:lnTo>
                        <a:pt x="113" y="697"/>
                      </a:lnTo>
                      <a:lnTo>
                        <a:pt x="138" y="703"/>
                      </a:lnTo>
                      <a:lnTo>
                        <a:pt x="190" y="710"/>
                      </a:lnTo>
                      <a:lnTo>
                        <a:pt x="248" y="716"/>
                      </a:lnTo>
                      <a:lnTo>
                        <a:pt x="310" y="717"/>
                      </a:lnTo>
                      <a:lnTo>
                        <a:pt x="373" y="716"/>
                      </a:lnTo>
                      <a:lnTo>
                        <a:pt x="432" y="710"/>
                      </a:lnTo>
                      <a:lnTo>
                        <a:pt x="484" y="703"/>
                      </a:lnTo>
                      <a:lnTo>
                        <a:pt x="509" y="697"/>
                      </a:lnTo>
                      <a:lnTo>
                        <a:pt x="531" y="691"/>
                      </a:lnTo>
                      <a:lnTo>
                        <a:pt x="550" y="685"/>
                      </a:lnTo>
                      <a:lnTo>
                        <a:pt x="568" y="677"/>
                      </a:lnTo>
                      <a:lnTo>
                        <a:pt x="584" y="670"/>
                      </a:lnTo>
                      <a:lnTo>
                        <a:pt x="597" y="663"/>
                      </a:lnTo>
                      <a:lnTo>
                        <a:pt x="608" y="654"/>
                      </a:lnTo>
                      <a:lnTo>
                        <a:pt x="615" y="645"/>
                      </a:lnTo>
                      <a:lnTo>
                        <a:pt x="620" y="636"/>
                      </a:lnTo>
                      <a:lnTo>
                        <a:pt x="622" y="627"/>
                      </a:lnTo>
                      <a:lnTo>
                        <a:pt x="622" y="89"/>
                      </a:lnTo>
                      <a:lnTo>
                        <a:pt x="620" y="80"/>
                      </a:lnTo>
                      <a:lnTo>
                        <a:pt x="615" y="71"/>
                      </a:lnTo>
                      <a:lnTo>
                        <a:pt x="608" y="62"/>
                      </a:lnTo>
                      <a:lnTo>
                        <a:pt x="597" y="55"/>
                      </a:lnTo>
                      <a:lnTo>
                        <a:pt x="584" y="46"/>
                      </a:lnTo>
                      <a:lnTo>
                        <a:pt x="568" y="40"/>
                      </a:lnTo>
                      <a:lnTo>
                        <a:pt x="550" y="33"/>
                      </a:lnTo>
                      <a:lnTo>
                        <a:pt x="531" y="27"/>
                      </a:lnTo>
                      <a:lnTo>
                        <a:pt x="509" y="21"/>
                      </a:lnTo>
                      <a:lnTo>
                        <a:pt x="484" y="15"/>
                      </a:lnTo>
                      <a:lnTo>
                        <a:pt x="432" y="7"/>
                      </a:lnTo>
                      <a:lnTo>
                        <a:pt x="373" y="2"/>
                      </a:lnTo>
                      <a:lnTo>
                        <a:pt x="310" y="0"/>
                      </a:lnTo>
                      <a:close/>
                    </a:path>
                  </a:pathLst>
                </a:custGeom>
                <a:solidFill>
                  <a:srgbClr val="00A0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72" name="Freeform 114"/>
                <p:cNvSpPr>
                  <a:spLocks/>
                </p:cNvSpPr>
                <p:nvPr/>
              </p:nvSpPr>
              <p:spPr bwMode="auto">
                <a:xfrm>
                  <a:off x="867" y="2813"/>
                  <a:ext cx="311" cy="90"/>
                </a:xfrm>
                <a:custGeom>
                  <a:avLst/>
                  <a:gdLst>
                    <a:gd name="T0" fmla="*/ 0 w 622"/>
                    <a:gd name="T1" fmla="*/ 45 h 179"/>
                    <a:gd name="T2" fmla="*/ 1 w 622"/>
                    <a:gd name="T3" fmla="*/ 49 h 179"/>
                    <a:gd name="T4" fmla="*/ 4 w 622"/>
                    <a:gd name="T5" fmla="*/ 54 h 179"/>
                    <a:gd name="T6" fmla="*/ 8 w 622"/>
                    <a:gd name="T7" fmla="*/ 58 h 179"/>
                    <a:gd name="T8" fmla="*/ 13 w 622"/>
                    <a:gd name="T9" fmla="*/ 63 h 179"/>
                    <a:gd name="T10" fmla="*/ 19 w 622"/>
                    <a:gd name="T11" fmla="*/ 66 h 179"/>
                    <a:gd name="T12" fmla="*/ 27 w 622"/>
                    <a:gd name="T13" fmla="*/ 70 h 179"/>
                    <a:gd name="T14" fmla="*/ 36 w 622"/>
                    <a:gd name="T15" fmla="*/ 74 h 179"/>
                    <a:gd name="T16" fmla="*/ 46 w 622"/>
                    <a:gd name="T17" fmla="*/ 77 h 179"/>
                    <a:gd name="T18" fmla="*/ 57 w 622"/>
                    <a:gd name="T19" fmla="*/ 80 h 179"/>
                    <a:gd name="T20" fmla="*/ 69 w 622"/>
                    <a:gd name="T21" fmla="*/ 83 h 179"/>
                    <a:gd name="T22" fmla="*/ 95 w 622"/>
                    <a:gd name="T23" fmla="*/ 86 h 179"/>
                    <a:gd name="T24" fmla="*/ 124 w 622"/>
                    <a:gd name="T25" fmla="*/ 89 h 179"/>
                    <a:gd name="T26" fmla="*/ 155 w 622"/>
                    <a:gd name="T27" fmla="*/ 90 h 179"/>
                    <a:gd name="T28" fmla="*/ 187 w 622"/>
                    <a:gd name="T29" fmla="*/ 89 h 179"/>
                    <a:gd name="T30" fmla="*/ 216 w 622"/>
                    <a:gd name="T31" fmla="*/ 86 h 179"/>
                    <a:gd name="T32" fmla="*/ 242 w 622"/>
                    <a:gd name="T33" fmla="*/ 83 h 179"/>
                    <a:gd name="T34" fmla="*/ 255 w 622"/>
                    <a:gd name="T35" fmla="*/ 80 h 179"/>
                    <a:gd name="T36" fmla="*/ 266 w 622"/>
                    <a:gd name="T37" fmla="*/ 77 h 179"/>
                    <a:gd name="T38" fmla="*/ 275 w 622"/>
                    <a:gd name="T39" fmla="*/ 74 h 179"/>
                    <a:gd name="T40" fmla="*/ 284 w 622"/>
                    <a:gd name="T41" fmla="*/ 70 h 179"/>
                    <a:gd name="T42" fmla="*/ 292 w 622"/>
                    <a:gd name="T43" fmla="*/ 66 h 179"/>
                    <a:gd name="T44" fmla="*/ 299 w 622"/>
                    <a:gd name="T45" fmla="*/ 63 h 179"/>
                    <a:gd name="T46" fmla="*/ 304 w 622"/>
                    <a:gd name="T47" fmla="*/ 58 h 179"/>
                    <a:gd name="T48" fmla="*/ 308 w 622"/>
                    <a:gd name="T49" fmla="*/ 54 h 179"/>
                    <a:gd name="T50" fmla="*/ 310 w 622"/>
                    <a:gd name="T51" fmla="*/ 49 h 179"/>
                    <a:gd name="T52" fmla="*/ 311 w 622"/>
                    <a:gd name="T53" fmla="*/ 45 h 179"/>
                    <a:gd name="T54" fmla="*/ 310 w 622"/>
                    <a:gd name="T55" fmla="*/ 40 h 179"/>
                    <a:gd name="T56" fmla="*/ 308 w 622"/>
                    <a:gd name="T57" fmla="*/ 36 h 179"/>
                    <a:gd name="T58" fmla="*/ 304 w 622"/>
                    <a:gd name="T59" fmla="*/ 31 h 179"/>
                    <a:gd name="T60" fmla="*/ 299 w 622"/>
                    <a:gd name="T61" fmla="*/ 28 h 179"/>
                    <a:gd name="T62" fmla="*/ 292 w 622"/>
                    <a:gd name="T63" fmla="*/ 23 h 179"/>
                    <a:gd name="T64" fmla="*/ 284 w 622"/>
                    <a:gd name="T65" fmla="*/ 20 h 179"/>
                    <a:gd name="T66" fmla="*/ 275 w 622"/>
                    <a:gd name="T67" fmla="*/ 17 h 179"/>
                    <a:gd name="T68" fmla="*/ 266 w 622"/>
                    <a:gd name="T69" fmla="*/ 14 h 179"/>
                    <a:gd name="T70" fmla="*/ 255 w 622"/>
                    <a:gd name="T71" fmla="*/ 11 h 179"/>
                    <a:gd name="T72" fmla="*/ 242 w 622"/>
                    <a:gd name="T73" fmla="*/ 8 h 179"/>
                    <a:gd name="T74" fmla="*/ 216 w 622"/>
                    <a:gd name="T75" fmla="*/ 4 h 179"/>
                    <a:gd name="T76" fmla="*/ 187 w 622"/>
                    <a:gd name="T77" fmla="*/ 1 h 179"/>
                    <a:gd name="T78" fmla="*/ 155 w 622"/>
                    <a:gd name="T79" fmla="*/ 0 h 179"/>
                    <a:gd name="T80" fmla="*/ 124 w 622"/>
                    <a:gd name="T81" fmla="*/ 1 h 179"/>
                    <a:gd name="T82" fmla="*/ 95 w 622"/>
                    <a:gd name="T83" fmla="*/ 4 h 179"/>
                    <a:gd name="T84" fmla="*/ 69 w 622"/>
                    <a:gd name="T85" fmla="*/ 8 h 179"/>
                    <a:gd name="T86" fmla="*/ 57 w 622"/>
                    <a:gd name="T87" fmla="*/ 11 h 179"/>
                    <a:gd name="T88" fmla="*/ 46 w 622"/>
                    <a:gd name="T89" fmla="*/ 14 h 179"/>
                    <a:gd name="T90" fmla="*/ 36 w 622"/>
                    <a:gd name="T91" fmla="*/ 17 h 179"/>
                    <a:gd name="T92" fmla="*/ 27 w 622"/>
                    <a:gd name="T93" fmla="*/ 20 h 179"/>
                    <a:gd name="T94" fmla="*/ 19 w 622"/>
                    <a:gd name="T95" fmla="*/ 23 h 179"/>
                    <a:gd name="T96" fmla="*/ 13 w 622"/>
                    <a:gd name="T97" fmla="*/ 28 h 179"/>
                    <a:gd name="T98" fmla="*/ 8 w 622"/>
                    <a:gd name="T99" fmla="*/ 31 h 179"/>
                    <a:gd name="T100" fmla="*/ 4 w 622"/>
                    <a:gd name="T101" fmla="*/ 36 h 179"/>
                    <a:gd name="T102" fmla="*/ 1 w 622"/>
                    <a:gd name="T103" fmla="*/ 40 h 179"/>
                    <a:gd name="T104" fmla="*/ 0 w 622"/>
                    <a:gd name="T105" fmla="*/ 45 h 17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22" h="179">
                      <a:moveTo>
                        <a:pt x="0" y="89"/>
                      </a:moveTo>
                      <a:lnTo>
                        <a:pt x="2" y="98"/>
                      </a:lnTo>
                      <a:lnTo>
                        <a:pt x="8" y="107"/>
                      </a:lnTo>
                      <a:lnTo>
                        <a:pt x="15" y="116"/>
                      </a:lnTo>
                      <a:lnTo>
                        <a:pt x="25" y="125"/>
                      </a:lnTo>
                      <a:lnTo>
                        <a:pt x="38" y="132"/>
                      </a:lnTo>
                      <a:lnTo>
                        <a:pt x="54" y="139"/>
                      </a:lnTo>
                      <a:lnTo>
                        <a:pt x="72" y="147"/>
                      </a:lnTo>
                      <a:lnTo>
                        <a:pt x="92" y="153"/>
                      </a:lnTo>
                      <a:lnTo>
                        <a:pt x="113" y="159"/>
                      </a:lnTo>
                      <a:lnTo>
                        <a:pt x="138" y="165"/>
                      </a:lnTo>
                      <a:lnTo>
                        <a:pt x="190" y="172"/>
                      </a:lnTo>
                      <a:lnTo>
                        <a:pt x="248" y="178"/>
                      </a:lnTo>
                      <a:lnTo>
                        <a:pt x="310" y="179"/>
                      </a:lnTo>
                      <a:lnTo>
                        <a:pt x="373" y="178"/>
                      </a:lnTo>
                      <a:lnTo>
                        <a:pt x="432" y="172"/>
                      </a:lnTo>
                      <a:lnTo>
                        <a:pt x="484" y="165"/>
                      </a:lnTo>
                      <a:lnTo>
                        <a:pt x="509" y="159"/>
                      </a:lnTo>
                      <a:lnTo>
                        <a:pt x="531" y="153"/>
                      </a:lnTo>
                      <a:lnTo>
                        <a:pt x="550" y="147"/>
                      </a:lnTo>
                      <a:lnTo>
                        <a:pt x="568" y="139"/>
                      </a:lnTo>
                      <a:lnTo>
                        <a:pt x="584" y="132"/>
                      </a:lnTo>
                      <a:lnTo>
                        <a:pt x="597" y="125"/>
                      </a:lnTo>
                      <a:lnTo>
                        <a:pt x="608" y="116"/>
                      </a:lnTo>
                      <a:lnTo>
                        <a:pt x="615" y="107"/>
                      </a:lnTo>
                      <a:lnTo>
                        <a:pt x="620" y="98"/>
                      </a:lnTo>
                      <a:lnTo>
                        <a:pt x="622" y="89"/>
                      </a:lnTo>
                      <a:lnTo>
                        <a:pt x="620" y="80"/>
                      </a:lnTo>
                      <a:lnTo>
                        <a:pt x="615" y="71"/>
                      </a:lnTo>
                      <a:lnTo>
                        <a:pt x="608" y="62"/>
                      </a:lnTo>
                      <a:lnTo>
                        <a:pt x="597" y="55"/>
                      </a:lnTo>
                      <a:lnTo>
                        <a:pt x="584" y="46"/>
                      </a:lnTo>
                      <a:lnTo>
                        <a:pt x="568" y="40"/>
                      </a:lnTo>
                      <a:lnTo>
                        <a:pt x="550" y="33"/>
                      </a:lnTo>
                      <a:lnTo>
                        <a:pt x="531" y="27"/>
                      </a:lnTo>
                      <a:lnTo>
                        <a:pt x="509" y="21"/>
                      </a:lnTo>
                      <a:lnTo>
                        <a:pt x="484" y="15"/>
                      </a:lnTo>
                      <a:lnTo>
                        <a:pt x="432" y="7"/>
                      </a:lnTo>
                      <a:lnTo>
                        <a:pt x="373" y="2"/>
                      </a:lnTo>
                      <a:lnTo>
                        <a:pt x="310" y="0"/>
                      </a:lnTo>
                      <a:lnTo>
                        <a:pt x="248" y="2"/>
                      </a:lnTo>
                      <a:lnTo>
                        <a:pt x="190" y="7"/>
                      </a:lnTo>
                      <a:lnTo>
                        <a:pt x="138" y="15"/>
                      </a:lnTo>
                      <a:lnTo>
                        <a:pt x="113" y="21"/>
                      </a:lnTo>
                      <a:lnTo>
                        <a:pt x="92" y="27"/>
                      </a:lnTo>
                      <a:lnTo>
                        <a:pt x="72" y="33"/>
                      </a:lnTo>
                      <a:lnTo>
                        <a:pt x="54" y="40"/>
                      </a:lnTo>
                      <a:lnTo>
                        <a:pt x="38" y="46"/>
                      </a:lnTo>
                      <a:lnTo>
                        <a:pt x="25" y="55"/>
                      </a:lnTo>
                      <a:lnTo>
                        <a:pt x="15" y="62"/>
                      </a:lnTo>
                      <a:lnTo>
                        <a:pt x="8" y="71"/>
                      </a:lnTo>
                      <a:lnTo>
                        <a:pt x="2" y="80"/>
                      </a:lnTo>
                      <a:lnTo>
                        <a:pt x="0" y="89"/>
                      </a:lnTo>
                      <a:close/>
                    </a:path>
                  </a:pathLst>
                </a:custGeom>
                <a:solidFill>
                  <a:srgbClr val="32B3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73" name="Freeform 115"/>
                <p:cNvSpPr>
                  <a:spLocks/>
                </p:cNvSpPr>
                <p:nvPr/>
              </p:nvSpPr>
              <p:spPr bwMode="auto">
                <a:xfrm>
                  <a:off x="867" y="2813"/>
                  <a:ext cx="311" cy="359"/>
                </a:xfrm>
                <a:custGeom>
                  <a:avLst/>
                  <a:gdLst>
                    <a:gd name="T0" fmla="*/ 155 w 622"/>
                    <a:gd name="T1" fmla="*/ 0 h 717"/>
                    <a:gd name="T2" fmla="*/ 124 w 622"/>
                    <a:gd name="T3" fmla="*/ 1 h 717"/>
                    <a:gd name="T4" fmla="*/ 95 w 622"/>
                    <a:gd name="T5" fmla="*/ 4 h 717"/>
                    <a:gd name="T6" fmla="*/ 69 w 622"/>
                    <a:gd name="T7" fmla="*/ 8 h 717"/>
                    <a:gd name="T8" fmla="*/ 57 w 622"/>
                    <a:gd name="T9" fmla="*/ 11 h 717"/>
                    <a:gd name="T10" fmla="*/ 46 w 622"/>
                    <a:gd name="T11" fmla="*/ 14 h 717"/>
                    <a:gd name="T12" fmla="*/ 36 w 622"/>
                    <a:gd name="T13" fmla="*/ 17 h 717"/>
                    <a:gd name="T14" fmla="*/ 27 w 622"/>
                    <a:gd name="T15" fmla="*/ 20 h 717"/>
                    <a:gd name="T16" fmla="*/ 19 w 622"/>
                    <a:gd name="T17" fmla="*/ 23 h 717"/>
                    <a:gd name="T18" fmla="*/ 13 w 622"/>
                    <a:gd name="T19" fmla="*/ 28 h 717"/>
                    <a:gd name="T20" fmla="*/ 8 w 622"/>
                    <a:gd name="T21" fmla="*/ 31 h 717"/>
                    <a:gd name="T22" fmla="*/ 4 w 622"/>
                    <a:gd name="T23" fmla="*/ 36 h 717"/>
                    <a:gd name="T24" fmla="*/ 1 w 622"/>
                    <a:gd name="T25" fmla="*/ 40 h 717"/>
                    <a:gd name="T26" fmla="*/ 0 w 622"/>
                    <a:gd name="T27" fmla="*/ 45 h 717"/>
                    <a:gd name="T28" fmla="*/ 0 w 622"/>
                    <a:gd name="T29" fmla="*/ 314 h 717"/>
                    <a:gd name="T30" fmla="*/ 1 w 622"/>
                    <a:gd name="T31" fmla="*/ 318 h 717"/>
                    <a:gd name="T32" fmla="*/ 4 w 622"/>
                    <a:gd name="T33" fmla="*/ 323 h 717"/>
                    <a:gd name="T34" fmla="*/ 8 w 622"/>
                    <a:gd name="T35" fmla="*/ 327 h 717"/>
                    <a:gd name="T36" fmla="*/ 13 w 622"/>
                    <a:gd name="T37" fmla="*/ 332 h 717"/>
                    <a:gd name="T38" fmla="*/ 19 w 622"/>
                    <a:gd name="T39" fmla="*/ 335 h 717"/>
                    <a:gd name="T40" fmla="*/ 27 w 622"/>
                    <a:gd name="T41" fmla="*/ 339 h 717"/>
                    <a:gd name="T42" fmla="*/ 36 w 622"/>
                    <a:gd name="T43" fmla="*/ 343 h 717"/>
                    <a:gd name="T44" fmla="*/ 46 w 622"/>
                    <a:gd name="T45" fmla="*/ 346 h 717"/>
                    <a:gd name="T46" fmla="*/ 57 w 622"/>
                    <a:gd name="T47" fmla="*/ 349 h 717"/>
                    <a:gd name="T48" fmla="*/ 69 w 622"/>
                    <a:gd name="T49" fmla="*/ 352 h 717"/>
                    <a:gd name="T50" fmla="*/ 95 w 622"/>
                    <a:gd name="T51" fmla="*/ 355 h 717"/>
                    <a:gd name="T52" fmla="*/ 124 w 622"/>
                    <a:gd name="T53" fmla="*/ 358 h 717"/>
                    <a:gd name="T54" fmla="*/ 155 w 622"/>
                    <a:gd name="T55" fmla="*/ 359 h 717"/>
                    <a:gd name="T56" fmla="*/ 187 w 622"/>
                    <a:gd name="T57" fmla="*/ 358 h 717"/>
                    <a:gd name="T58" fmla="*/ 216 w 622"/>
                    <a:gd name="T59" fmla="*/ 355 h 717"/>
                    <a:gd name="T60" fmla="*/ 242 w 622"/>
                    <a:gd name="T61" fmla="*/ 352 h 717"/>
                    <a:gd name="T62" fmla="*/ 255 w 622"/>
                    <a:gd name="T63" fmla="*/ 349 h 717"/>
                    <a:gd name="T64" fmla="*/ 266 w 622"/>
                    <a:gd name="T65" fmla="*/ 346 h 717"/>
                    <a:gd name="T66" fmla="*/ 275 w 622"/>
                    <a:gd name="T67" fmla="*/ 343 h 717"/>
                    <a:gd name="T68" fmla="*/ 284 w 622"/>
                    <a:gd name="T69" fmla="*/ 339 h 717"/>
                    <a:gd name="T70" fmla="*/ 292 w 622"/>
                    <a:gd name="T71" fmla="*/ 335 h 717"/>
                    <a:gd name="T72" fmla="*/ 299 w 622"/>
                    <a:gd name="T73" fmla="*/ 332 h 717"/>
                    <a:gd name="T74" fmla="*/ 304 w 622"/>
                    <a:gd name="T75" fmla="*/ 327 h 717"/>
                    <a:gd name="T76" fmla="*/ 308 w 622"/>
                    <a:gd name="T77" fmla="*/ 323 h 717"/>
                    <a:gd name="T78" fmla="*/ 310 w 622"/>
                    <a:gd name="T79" fmla="*/ 318 h 717"/>
                    <a:gd name="T80" fmla="*/ 311 w 622"/>
                    <a:gd name="T81" fmla="*/ 314 h 717"/>
                    <a:gd name="T82" fmla="*/ 311 w 622"/>
                    <a:gd name="T83" fmla="*/ 45 h 717"/>
                    <a:gd name="T84" fmla="*/ 310 w 622"/>
                    <a:gd name="T85" fmla="*/ 40 h 717"/>
                    <a:gd name="T86" fmla="*/ 308 w 622"/>
                    <a:gd name="T87" fmla="*/ 36 h 717"/>
                    <a:gd name="T88" fmla="*/ 304 w 622"/>
                    <a:gd name="T89" fmla="*/ 31 h 717"/>
                    <a:gd name="T90" fmla="*/ 299 w 622"/>
                    <a:gd name="T91" fmla="*/ 28 h 717"/>
                    <a:gd name="T92" fmla="*/ 292 w 622"/>
                    <a:gd name="T93" fmla="*/ 23 h 717"/>
                    <a:gd name="T94" fmla="*/ 284 w 622"/>
                    <a:gd name="T95" fmla="*/ 20 h 717"/>
                    <a:gd name="T96" fmla="*/ 275 w 622"/>
                    <a:gd name="T97" fmla="*/ 17 h 717"/>
                    <a:gd name="T98" fmla="*/ 266 w 622"/>
                    <a:gd name="T99" fmla="*/ 14 h 717"/>
                    <a:gd name="T100" fmla="*/ 255 w 622"/>
                    <a:gd name="T101" fmla="*/ 11 h 717"/>
                    <a:gd name="T102" fmla="*/ 242 w 622"/>
                    <a:gd name="T103" fmla="*/ 8 h 717"/>
                    <a:gd name="T104" fmla="*/ 216 w 622"/>
                    <a:gd name="T105" fmla="*/ 4 h 717"/>
                    <a:gd name="T106" fmla="*/ 187 w 622"/>
                    <a:gd name="T107" fmla="*/ 1 h 717"/>
                    <a:gd name="T108" fmla="*/ 155 w 622"/>
                    <a:gd name="T109" fmla="*/ 0 h 71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7">
                      <a:moveTo>
                        <a:pt x="310" y="0"/>
                      </a:moveTo>
                      <a:lnTo>
                        <a:pt x="248" y="2"/>
                      </a:lnTo>
                      <a:lnTo>
                        <a:pt x="190" y="7"/>
                      </a:lnTo>
                      <a:lnTo>
                        <a:pt x="138" y="15"/>
                      </a:lnTo>
                      <a:lnTo>
                        <a:pt x="113" y="21"/>
                      </a:lnTo>
                      <a:lnTo>
                        <a:pt x="92" y="27"/>
                      </a:lnTo>
                      <a:lnTo>
                        <a:pt x="72" y="33"/>
                      </a:lnTo>
                      <a:lnTo>
                        <a:pt x="54" y="40"/>
                      </a:lnTo>
                      <a:lnTo>
                        <a:pt x="38" y="46"/>
                      </a:lnTo>
                      <a:lnTo>
                        <a:pt x="25" y="55"/>
                      </a:lnTo>
                      <a:lnTo>
                        <a:pt x="15" y="62"/>
                      </a:lnTo>
                      <a:lnTo>
                        <a:pt x="8" y="71"/>
                      </a:lnTo>
                      <a:lnTo>
                        <a:pt x="2" y="80"/>
                      </a:lnTo>
                      <a:lnTo>
                        <a:pt x="0" y="89"/>
                      </a:lnTo>
                      <a:lnTo>
                        <a:pt x="0" y="627"/>
                      </a:lnTo>
                      <a:lnTo>
                        <a:pt x="2" y="636"/>
                      </a:lnTo>
                      <a:lnTo>
                        <a:pt x="8" y="645"/>
                      </a:lnTo>
                      <a:lnTo>
                        <a:pt x="15" y="654"/>
                      </a:lnTo>
                      <a:lnTo>
                        <a:pt x="25" y="663"/>
                      </a:lnTo>
                      <a:lnTo>
                        <a:pt x="38" y="670"/>
                      </a:lnTo>
                      <a:lnTo>
                        <a:pt x="54" y="677"/>
                      </a:lnTo>
                      <a:lnTo>
                        <a:pt x="72" y="685"/>
                      </a:lnTo>
                      <a:lnTo>
                        <a:pt x="92" y="691"/>
                      </a:lnTo>
                      <a:lnTo>
                        <a:pt x="113" y="697"/>
                      </a:lnTo>
                      <a:lnTo>
                        <a:pt x="138" y="703"/>
                      </a:lnTo>
                      <a:lnTo>
                        <a:pt x="190" y="710"/>
                      </a:lnTo>
                      <a:lnTo>
                        <a:pt x="248" y="716"/>
                      </a:lnTo>
                      <a:lnTo>
                        <a:pt x="310" y="717"/>
                      </a:lnTo>
                      <a:lnTo>
                        <a:pt x="373" y="716"/>
                      </a:lnTo>
                      <a:lnTo>
                        <a:pt x="432" y="710"/>
                      </a:lnTo>
                      <a:lnTo>
                        <a:pt x="484" y="703"/>
                      </a:lnTo>
                      <a:lnTo>
                        <a:pt x="509" y="697"/>
                      </a:lnTo>
                      <a:lnTo>
                        <a:pt x="531" y="691"/>
                      </a:lnTo>
                      <a:lnTo>
                        <a:pt x="550" y="685"/>
                      </a:lnTo>
                      <a:lnTo>
                        <a:pt x="568" y="677"/>
                      </a:lnTo>
                      <a:lnTo>
                        <a:pt x="584" y="670"/>
                      </a:lnTo>
                      <a:lnTo>
                        <a:pt x="597" y="663"/>
                      </a:lnTo>
                      <a:lnTo>
                        <a:pt x="608" y="654"/>
                      </a:lnTo>
                      <a:lnTo>
                        <a:pt x="615" y="645"/>
                      </a:lnTo>
                      <a:lnTo>
                        <a:pt x="620" y="636"/>
                      </a:lnTo>
                      <a:lnTo>
                        <a:pt x="622" y="627"/>
                      </a:lnTo>
                      <a:lnTo>
                        <a:pt x="622" y="89"/>
                      </a:lnTo>
                      <a:lnTo>
                        <a:pt x="620" y="80"/>
                      </a:lnTo>
                      <a:lnTo>
                        <a:pt x="615" y="71"/>
                      </a:lnTo>
                      <a:lnTo>
                        <a:pt x="608" y="62"/>
                      </a:lnTo>
                      <a:lnTo>
                        <a:pt x="597" y="55"/>
                      </a:lnTo>
                      <a:lnTo>
                        <a:pt x="584" y="46"/>
                      </a:lnTo>
                      <a:lnTo>
                        <a:pt x="568" y="40"/>
                      </a:lnTo>
                      <a:lnTo>
                        <a:pt x="550" y="33"/>
                      </a:lnTo>
                      <a:lnTo>
                        <a:pt x="531" y="27"/>
                      </a:lnTo>
                      <a:lnTo>
                        <a:pt x="509" y="21"/>
                      </a:lnTo>
                      <a:lnTo>
                        <a:pt x="484" y="15"/>
                      </a:lnTo>
                      <a:lnTo>
                        <a:pt x="432" y="7"/>
                      </a:lnTo>
                      <a:lnTo>
                        <a:pt x="373" y="2"/>
                      </a:lnTo>
                      <a:lnTo>
                        <a:pt x="310" y="0"/>
                      </a:lnTo>
                      <a:close/>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sp>
              <p:nvSpPr>
                <p:cNvPr id="174" name="Freeform 116"/>
                <p:cNvSpPr>
                  <a:spLocks/>
                </p:cNvSpPr>
                <p:nvPr/>
              </p:nvSpPr>
              <p:spPr bwMode="auto">
                <a:xfrm>
                  <a:off x="867" y="2857"/>
                  <a:ext cx="311" cy="46"/>
                </a:xfrm>
                <a:custGeom>
                  <a:avLst/>
                  <a:gdLst>
                    <a:gd name="T0" fmla="*/ 0 w 622"/>
                    <a:gd name="T1" fmla="*/ 0 h 90"/>
                    <a:gd name="T2" fmla="*/ 1 w 622"/>
                    <a:gd name="T3" fmla="*/ 5 h 90"/>
                    <a:gd name="T4" fmla="*/ 4 w 622"/>
                    <a:gd name="T5" fmla="*/ 9 h 90"/>
                    <a:gd name="T6" fmla="*/ 8 w 622"/>
                    <a:gd name="T7" fmla="*/ 14 h 90"/>
                    <a:gd name="T8" fmla="*/ 13 w 622"/>
                    <a:gd name="T9" fmla="*/ 18 h 90"/>
                    <a:gd name="T10" fmla="*/ 19 w 622"/>
                    <a:gd name="T11" fmla="*/ 22 h 90"/>
                    <a:gd name="T12" fmla="*/ 27 w 622"/>
                    <a:gd name="T13" fmla="*/ 26 h 90"/>
                    <a:gd name="T14" fmla="*/ 36 w 622"/>
                    <a:gd name="T15" fmla="*/ 30 h 90"/>
                    <a:gd name="T16" fmla="*/ 46 w 622"/>
                    <a:gd name="T17" fmla="*/ 33 h 90"/>
                    <a:gd name="T18" fmla="*/ 57 w 622"/>
                    <a:gd name="T19" fmla="*/ 36 h 90"/>
                    <a:gd name="T20" fmla="*/ 69 w 622"/>
                    <a:gd name="T21" fmla="*/ 39 h 90"/>
                    <a:gd name="T22" fmla="*/ 95 w 622"/>
                    <a:gd name="T23" fmla="*/ 42 h 90"/>
                    <a:gd name="T24" fmla="*/ 124 w 622"/>
                    <a:gd name="T25" fmla="*/ 45 h 90"/>
                    <a:gd name="T26" fmla="*/ 155 w 622"/>
                    <a:gd name="T27" fmla="*/ 46 h 90"/>
                    <a:gd name="T28" fmla="*/ 187 w 622"/>
                    <a:gd name="T29" fmla="*/ 45 h 90"/>
                    <a:gd name="T30" fmla="*/ 216 w 622"/>
                    <a:gd name="T31" fmla="*/ 42 h 90"/>
                    <a:gd name="T32" fmla="*/ 242 w 622"/>
                    <a:gd name="T33" fmla="*/ 39 h 90"/>
                    <a:gd name="T34" fmla="*/ 255 w 622"/>
                    <a:gd name="T35" fmla="*/ 36 h 90"/>
                    <a:gd name="T36" fmla="*/ 266 w 622"/>
                    <a:gd name="T37" fmla="*/ 33 h 90"/>
                    <a:gd name="T38" fmla="*/ 275 w 622"/>
                    <a:gd name="T39" fmla="*/ 30 h 90"/>
                    <a:gd name="T40" fmla="*/ 284 w 622"/>
                    <a:gd name="T41" fmla="*/ 26 h 90"/>
                    <a:gd name="T42" fmla="*/ 292 w 622"/>
                    <a:gd name="T43" fmla="*/ 22 h 90"/>
                    <a:gd name="T44" fmla="*/ 299 w 622"/>
                    <a:gd name="T45" fmla="*/ 18 h 90"/>
                    <a:gd name="T46" fmla="*/ 304 w 622"/>
                    <a:gd name="T47" fmla="*/ 14 h 90"/>
                    <a:gd name="T48" fmla="*/ 308 w 622"/>
                    <a:gd name="T49" fmla="*/ 9 h 90"/>
                    <a:gd name="T50" fmla="*/ 310 w 622"/>
                    <a:gd name="T51" fmla="*/ 5 h 90"/>
                    <a:gd name="T52" fmla="*/ 311 w 622"/>
                    <a:gd name="T53" fmla="*/ 0 h 9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22" h="90">
                      <a:moveTo>
                        <a:pt x="0" y="0"/>
                      </a:moveTo>
                      <a:lnTo>
                        <a:pt x="2" y="9"/>
                      </a:lnTo>
                      <a:lnTo>
                        <a:pt x="8" y="18"/>
                      </a:lnTo>
                      <a:lnTo>
                        <a:pt x="15" y="27"/>
                      </a:lnTo>
                      <a:lnTo>
                        <a:pt x="25" y="36"/>
                      </a:lnTo>
                      <a:lnTo>
                        <a:pt x="38" y="43"/>
                      </a:lnTo>
                      <a:lnTo>
                        <a:pt x="54" y="50"/>
                      </a:lnTo>
                      <a:lnTo>
                        <a:pt x="72" y="58"/>
                      </a:lnTo>
                      <a:lnTo>
                        <a:pt x="92" y="64"/>
                      </a:lnTo>
                      <a:lnTo>
                        <a:pt x="113" y="70"/>
                      </a:lnTo>
                      <a:lnTo>
                        <a:pt x="138" y="76"/>
                      </a:lnTo>
                      <a:lnTo>
                        <a:pt x="190" y="83"/>
                      </a:lnTo>
                      <a:lnTo>
                        <a:pt x="248" y="89"/>
                      </a:lnTo>
                      <a:lnTo>
                        <a:pt x="310" y="90"/>
                      </a:lnTo>
                      <a:lnTo>
                        <a:pt x="373" y="89"/>
                      </a:lnTo>
                      <a:lnTo>
                        <a:pt x="432" y="83"/>
                      </a:lnTo>
                      <a:lnTo>
                        <a:pt x="484" y="76"/>
                      </a:lnTo>
                      <a:lnTo>
                        <a:pt x="509" y="70"/>
                      </a:lnTo>
                      <a:lnTo>
                        <a:pt x="531" y="64"/>
                      </a:lnTo>
                      <a:lnTo>
                        <a:pt x="550" y="58"/>
                      </a:lnTo>
                      <a:lnTo>
                        <a:pt x="568" y="50"/>
                      </a:lnTo>
                      <a:lnTo>
                        <a:pt x="584" y="43"/>
                      </a:lnTo>
                      <a:lnTo>
                        <a:pt x="597" y="36"/>
                      </a:lnTo>
                      <a:lnTo>
                        <a:pt x="608" y="27"/>
                      </a:lnTo>
                      <a:lnTo>
                        <a:pt x="615" y="18"/>
                      </a:lnTo>
                      <a:lnTo>
                        <a:pt x="620" y="9"/>
                      </a:lnTo>
                      <a:lnTo>
                        <a:pt x="622"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grpSp>
          <p:grpSp>
            <p:nvGrpSpPr>
              <p:cNvPr id="154" name="Group 117"/>
              <p:cNvGrpSpPr>
                <a:grpSpLocks/>
              </p:cNvGrpSpPr>
              <p:nvPr/>
            </p:nvGrpSpPr>
            <p:grpSpPr bwMode="auto">
              <a:xfrm>
                <a:off x="919" y="2858"/>
                <a:ext cx="310" cy="358"/>
                <a:chOff x="919" y="2858"/>
                <a:chExt cx="310" cy="358"/>
              </a:xfrm>
            </p:grpSpPr>
            <p:sp>
              <p:nvSpPr>
                <p:cNvPr id="167" name="Freeform 118"/>
                <p:cNvSpPr>
                  <a:spLocks/>
                </p:cNvSpPr>
                <p:nvPr/>
              </p:nvSpPr>
              <p:spPr bwMode="auto">
                <a:xfrm>
                  <a:off x="919" y="2858"/>
                  <a:ext cx="310" cy="358"/>
                </a:xfrm>
                <a:custGeom>
                  <a:avLst/>
                  <a:gdLst>
                    <a:gd name="T0" fmla="*/ 155 w 622"/>
                    <a:gd name="T1" fmla="*/ 0 h 716"/>
                    <a:gd name="T2" fmla="*/ 124 w 622"/>
                    <a:gd name="T3" fmla="*/ 1 h 716"/>
                    <a:gd name="T4" fmla="*/ 95 w 622"/>
                    <a:gd name="T5" fmla="*/ 4 h 716"/>
                    <a:gd name="T6" fmla="*/ 69 w 622"/>
                    <a:gd name="T7" fmla="*/ 8 h 716"/>
                    <a:gd name="T8" fmla="*/ 56 w 622"/>
                    <a:gd name="T9" fmla="*/ 11 h 716"/>
                    <a:gd name="T10" fmla="*/ 46 w 622"/>
                    <a:gd name="T11" fmla="*/ 14 h 716"/>
                    <a:gd name="T12" fmla="*/ 36 w 622"/>
                    <a:gd name="T13" fmla="*/ 17 h 716"/>
                    <a:gd name="T14" fmla="*/ 27 w 622"/>
                    <a:gd name="T15" fmla="*/ 20 h 716"/>
                    <a:gd name="T16" fmla="*/ 19 w 622"/>
                    <a:gd name="T17" fmla="*/ 23 h 716"/>
                    <a:gd name="T18" fmla="*/ 12 w 622"/>
                    <a:gd name="T19" fmla="*/ 28 h 716"/>
                    <a:gd name="T20" fmla="*/ 7 w 622"/>
                    <a:gd name="T21" fmla="*/ 32 h 716"/>
                    <a:gd name="T22" fmla="*/ 3 w 622"/>
                    <a:gd name="T23" fmla="*/ 36 h 716"/>
                    <a:gd name="T24" fmla="*/ 1 w 622"/>
                    <a:gd name="T25" fmla="*/ 40 h 716"/>
                    <a:gd name="T26" fmla="*/ 0 w 622"/>
                    <a:gd name="T27" fmla="*/ 45 h 716"/>
                    <a:gd name="T28" fmla="*/ 0 w 622"/>
                    <a:gd name="T29" fmla="*/ 314 h 716"/>
                    <a:gd name="T30" fmla="*/ 1 w 622"/>
                    <a:gd name="T31" fmla="*/ 318 h 716"/>
                    <a:gd name="T32" fmla="*/ 3 w 622"/>
                    <a:gd name="T33" fmla="*/ 323 h 716"/>
                    <a:gd name="T34" fmla="*/ 7 w 622"/>
                    <a:gd name="T35" fmla="*/ 327 h 716"/>
                    <a:gd name="T36" fmla="*/ 12 w 622"/>
                    <a:gd name="T37" fmla="*/ 331 h 716"/>
                    <a:gd name="T38" fmla="*/ 19 w 622"/>
                    <a:gd name="T39" fmla="*/ 335 h 716"/>
                    <a:gd name="T40" fmla="*/ 27 w 622"/>
                    <a:gd name="T41" fmla="*/ 339 h 716"/>
                    <a:gd name="T42" fmla="*/ 36 w 622"/>
                    <a:gd name="T43" fmla="*/ 342 h 716"/>
                    <a:gd name="T44" fmla="*/ 46 w 622"/>
                    <a:gd name="T45" fmla="*/ 345 h 716"/>
                    <a:gd name="T46" fmla="*/ 56 w 622"/>
                    <a:gd name="T47" fmla="*/ 348 h 716"/>
                    <a:gd name="T48" fmla="*/ 69 w 622"/>
                    <a:gd name="T49" fmla="*/ 351 h 716"/>
                    <a:gd name="T50" fmla="*/ 95 w 622"/>
                    <a:gd name="T51" fmla="*/ 355 h 716"/>
                    <a:gd name="T52" fmla="*/ 124 w 622"/>
                    <a:gd name="T53" fmla="*/ 358 h 716"/>
                    <a:gd name="T54" fmla="*/ 155 w 622"/>
                    <a:gd name="T55" fmla="*/ 358 h 716"/>
                    <a:gd name="T56" fmla="*/ 186 w 622"/>
                    <a:gd name="T57" fmla="*/ 358 h 716"/>
                    <a:gd name="T58" fmla="*/ 215 w 622"/>
                    <a:gd name="T59" fmla="*/ 355 h 716"/>
                    <a:gd name="T60" fmla="*/ 241 w 622"/>
                    <a:gd name="T61" fmla="*/ 351 h 716"/>
                    <a:gd name="T62" fmla="*/ 254 w 622"/>
                    <a:gd name="T63" fmla="*/ 348 h 716"/>
                    <a:gd name="T64" fmla="*/ 265 w 622"/>
                    <a:gd name="T65" fmla="*/ 345 h 716"/>
                    <a:gd name="T66" fmla="*/ 274 w 622"/>
                    <a:gd name="T67" fmla="*/ 342 h 716"/>
                    <a:gd name="T68" fmla="*/ 283 w 622"/>
                    <a:gd name="T69" fmla="*/ 339 h 716"/>
                    <a:gd name="T70" fmla="*/ 291 w 622"/>
                    <a:gd name="T71" fmla="*/ 335 h 716"/>
                    <a:gd name="T72" fmla="*/ 298 w 622"/>
                    <a:gd name="T73" fmla="*/ 331 h 716"/>
                    <a:gd name="T74" fmla="*/ 303 w 622"/>
                    <a:gd name="T75" fmla="*/ 327 h 716"/>
                    <a:gd name="T76" fmla="*/ 307 w 622"/>
                    <a:gd name="T77" fmla="*/ 323 h 716"/>
                    <a:gd name="T78" fmla="*/ 309 w 622"/>
                    <a:gd name="T79" fmla="*/ 318 h 716"/>
                    <a:gd name="T80" fmla="*/ 310 w 622"/>
                    <a:gd name="T81" fmla="*/ 314 h 716"/>
                    <a:gd name="T82" fmla="*/ 310 w 622"/>
                    <a:gd name="T83" fmla="*/ 45 h 716"/>
                    <a:gd name="T84" fmla="*/ 309 w 622"/>
                    <a:gd name="T85" fmla="*/ 40 h 716"/>
                    <a:gd name="T86" fmla="*/ 307 w 622"/>
                    <a:gd name="T87" fmla="*/ 36 h 716"/>
                    <a:gd name="T88" fmla="*/ 303 w 622"/>
                    <a:gd name="T89" fmla="*/ 32 h 716"/>
                    <a:gd name="T90" fmla="*/ 298 w 622"/>
                    <a:gd name="T91" fmla="*/ 28 h 716"/>
                    <a:gd name="T92" fmla="*/ 291 w 622"/>
                    <a:gd name="T93" fmla="*/ 23 h 716"/>
                    <a:gd name="T94" fmla="*/ 283 w 622"/>
                    <a:gd name="T95" fmla="*/ 20 h 716"/>
                    <a:gd name="T96" fmla="*/ 274 w 622"/>
                    <a:gd name="T97" fmla="*/ 17 h 716"/>
                    <a:gd name="T98" fmla="*/ 265 w 622"/>
                    <a:gd name="T99" fmla="*/ 14 h 716"/>
                    <a:gd name="T100" fmla="*/ 254 w 622"/>
                    <a:gd name="T101" fmla="*/ 11 h 716"/>
                    <a:gd name="T102" fmla="*/ 241 w 622"/>
                    <a:gd name="T103" fmla="*/ 8 h 716"/>
                    <a:gd name="T104" fmla="*/ 215 w 622"/>
                    <a:gd name="T105" fmla="*/ 4 h 716"/>
                    <a:gd name="T106" fmla="*/ 186 w 622"/>
                    <a:gd name="T107" fmla="*/ 1 h 716"/>
                    <a:gd name="T108" fmla="*/ 155 w 622"/>
                    <a:gd name="T109" fmla="*/ 0 h 71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6">
                      <a:moveTo>
                        <a:pt x="310" y="0"/>
                      </a:moveTo>
                      <a:lnTo>
                        <a:pt x="248" y="2"/>
                      </a:lnTo>
                      <a:lnTo>
                        <a:pt x="190" y="8"/>
                      </a:lnTo>
                      <a:lnTo>
                        <a:pt x="138" y="15"/>
                      </a:lnTo>
                      <a:lnTo>
                        <a:pt x="113" y="21"/>
                      </a:lnTo>
                      <a:lnTo>
                        <a:pt x="92" y="27"/>
                      </a:lnTo>
                      <a:lnTo>
                        <a:pt x="72" y="33"/>
                      </a:lnTo>
                      <a:lnTo>
                        <a:pt x="54" y="40"/>
                      </a:lnTo>
                      <a:lnTo>
                        <a:pt x="38" y="46"/>
                      </a:lnTo>
                      <a:lnTo>
                        <a:pt x="25" y="55"/>
                      </a:lnTo>
                      <a:lnTo>
                        <a:pt x="15" y="63"/>
                      </a:lnTo>
                      <a:lnTo>
                        <a:pt x="7" y="72"/>
                      </a:lnTo>
                      <a:lnTo>
                        <a:pt x="2" y="80"/>
                      </a:lnTo>
                      <a:lnTo>
                        <a:pt x="0" y="89"/>
                      </a:lnTo>
                      <a:lnTo>
                        <a:pt x="0" y="627"/>
                      </a:lnTo>
                      <a:lnTo>
                        <a:pt x="2" y="636"/>
                      </a:lnTo>
                      <a:lnTo>
                        <a:pt x="7" y="645"/>
                      </a:lnTo>
                      <a:lnTo>
                        <a:pt x="15" y="654"/>
                      </a:lnTo>
                      <a:lnTo>
                        <a:pt x="25" y="661"/>
                      </a:lnTo>
                      <a:lnTo>
                        <a:pt x="38" y="670"/>
                      </a:lnTo>
                      <a:lnTo>
                        <a:pt x="54" y="678"/>
                      </a:lnTo>
                      <a:lnTo>
                        <a:pt x="72" y="684"/>
                      </a:lnTo>
                      <a:lnTo>
                        <a:pt x="92" y="690"/>
                      </a:lnTo>
                      <a:lnTo>
                        <a:pt x="113" y="696"/>
                      </a:lnTo>
                      <a:lnTo>
                        <a:pt x="138" y="701"/>
                      </a:lnTo>
                      <a:lnTo>
                        <a:pt x="190" y="709"/>
                      </a:lnTo>
                      <a:lnTo>
                        <a:pt x="248" y="715"/>
                      </a:lnTo>
                      <a:lnTo>
                        <a:pt x="310" y="716"/>
                      </a:lnTo>
                      <a:lnTo>
                        <a:pt x="373" y="715"/>
                      </a:lnTo>
                      <a:lnTo>
                        <a:pt x="432" y="709"/>
                      </a:lnTo>
                      <a:lnTo>
                        <a:pt x="484" y="701"/>
                      </a:lnTo>
                      <a:lnTo>
                        <a:pt x="509" y="696"/>
                      </a:lnTo>
                      <a:lnTo>
                        <a:pt x="531" y="690"/>
                      </a:lnTo>
                      <a:lnTo>
                        <a:pt x="550" y="684"/>
                      </a:lnTo>
                      <a:lnTo>
                        <a:pt x="568" y="678"/>
                      </a:lnTo>
                      <a:lnTo>
                        <a:pt x="584" y="670"/>
                      </a:lnTo>
                      <a:lnTo>
                        <a:pt x="597" y="661"/>
                      </a:lnTo>
                      <a:lnTo>
                        <a:pt x="608" y="654"/>
                      </a:lnTo>
                      <a:lnTo>
                        <a:pt x="615" y="645"/>
                      </a:lnTo>
                      <a:lnTo>
                        <a:pt x="620" y="636"/>
                      </a:lnTo>
                      <a:lnTo>
                        <a:pt x="622" y="627"/>
                      </a:lnTo>
                      <a:lnTo>
                        <a:pt x="622" y="89"/>
                      </a:lnTo>
                      <a:lnTo>
                        <a:pt x="620" y="80"/>
                      </a:lnTo>
                      <a:lnTo>
                        <a:pt x="615" y="72"/>
                      </a:lnTo>
                      <a:lnTo>
                        <a:pt x="608" y="63"/>
                      </a:lnTo>
                      <a:lnTo>
                        <a:pt x="597" y="55"/>
                      </a:lnTo>
                      <a:lnTo>
                        <a:pt x="584" y="46"/>
                      </a:lnTo>
                      <a:lnTo>
                        <a:pt x="568" y="40"/>
                      </a:lnTo>
                      <a:lnTo>
                        <a:pt x="550" y="33"/>
                      </a:lnTo>
                      <a:lnTo>
                        <a:pt x="531" y="27"/>
                      </a:lnTo>
                      <a:lnTo>
                        <a:pt x="509" y="21"/>
                      </a:lnTo>
                      <a:lnTo>
                        <a:pt x="484" y="15"/>
                      </a:lnTo>
                      <a:lnTo>
                        <a:pt x="432" y="8"/>
                      </a:lnTo>
                      <a:lnTo>
                        <a:pt x="373" y="2"/>
                      </a:lnTo>
                      <a:lnTo>
                        <a:pt x="310" y="0"/>
                      </a:lnTo>
                      <a:close/>
                    </a:path>
                  </a:pathLst>
                </a:custGeom>
                <a:solidFill>
                  <a:srgbClr val="00A0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68" name="Freeform 119"/>
                <p:cNvSpPr>
                  <a:spLocks/>
                </p:cNvSpPr>
                <p:nvPr/>
              </p:nvSpPr>
              <p:spPr bwMode="auto">
                <a:xfrm>
                  <a:off x="919" y="2858"/>
                  <a:ext cx="310" cy="90"/>
                </a:xfrm>
                <a:custGeom>
                  <a:avLst/>
                  <a:gdLst>
                    <a:gd name="T0" fmla="*/ 0 w 622"/>
                    <a:gd name="T1" fmla="*/ 45 h 180"/>
                    <a:gd name="T2" fmla="*/ 1 w 622"/>
                    <a:gd name="T3" fmla="*/ 49 h 180"/>
                    <a:gd name="T4" fmla="*/ 3 w 622"/>
                    <a:gd name="T5" fmla="*/ 54 h 180"/>
                    <a:gd name="T6" fmla="*/ 7 w 622"/>
                    <a:gd name="T7" fmla="*/ 58 h 180"/>
                    <a:gd name="T8" fmla="*/ 12 w 622"/>
                    <a:gd name="T9" fmla="*/ 63 h 180"/>
                    <a:gd name="T10" fmla="*/ 19 w 622"/>
                    <a:gd name="T11" fmla="*/ 66 h 180"/>
                    <a:gd name="T12" fmla="*/ 27 w 622"/>
                    <a:gd name="T13" fmla="*/ 70 h 180"/>
                    <a:gd name="T14" fmla="*/ 36 w 622"/>
                    <a:gd name="T15" fmla="*/ 74 h 180"/>
                    <a:gd name="T16" fmla="*/ 46 w 622"/>
                    <a:gd name="T17" fmla="*/ 77 h 180"/>
                    <a:gd name="T18" fmla="*/ 56 w 622"/>
                    <a:gd name="T19" fmla="*/ 80 h 180"/>
                    <a:gd name="T20" fmla="*/ 69 w 622"/>
                    <a:gd name="T21" fmla="*/ 83 h 180"/>
                    <a:gd name="T22" fmla="*/ 95 w 622"/>
                    <a:gd name="T23" fmla="*/ 86 h 180"/>
                    <a:gd name="T24" fmla="*/ 124 w 622"/>
                    <a:gd name="T25" fmla="*/ 89 h 180"/>
                    <a:gd name="T26" fmla="*/ 155 w 622"/>
                    <a:gd name="T27" fmla="*/ 90 h 180"/>
                    <a:gd name="T28" fmla="*/ 186 w 622"/>
                    <a:gd name="T29" fmla="*/ 89 h 180"/>
                    <a:gd name="T30" fmla="*/ 215 w 622"/>
                    <a:gd name="T31" fmla="*/ 86 h 180"/>
                    <a:gd name="T32" fmla="*/ 241 w 622"/>
                    <a:gd name="T33" fmla="*/ 83 h 180"/>
                    <a:gd name="T34" fmla="*/ 254 w 622"/>
                    <a:gd name="T35" fmla="*/ 80 h 180"/>
                    <a:gd name="T36" fmla="*/ 265 w 622"/>
                    <a:gd name="T37" fmla="*/ 77 h 180"/>
                    <a:gd name="T38" fmla="*/ 274 w 622"/>
                    <a:gd name="T39" fmla="*/ 74 h 180"/>
                    <a:gd name="T40" fmla="*/ 283 w 622"/>
                    <a:gd name="T41" fmla="*/ 70 h 180"/>
                    <a:gd name="T42" fmla="*/ 291 w 622"/>
                    <a:gd name="T43" fmla="*/ 66 h 180"/>
                    <a:gd name="T44" fmla="*/ 298 w 622"/>
                    <a:gd name="T45" fmla="*/ 63 h 180"/>
                    <a:gd name="T46" fmla="*/ 303 w 622"/>
                    <a:gd name="T47" fmla="*/ 58 h 180"/>
                    <a:gd name="T48" fmla="*/ 307 w 622"/>
                    <a:gd name="T49" fmla="*/ 54 h 180"/>
                    <a:gd name="T50" fmla="*/ 309 w 622"/>
                    <a:gd name="T51" fmla="*/ 49 h 180"/>
                    <a:gd name="T52" fmla="*/ 310 w 622"/>
                    <a:gd name="T53" fmla="*/ 45 h 180"/>
                    <a:gd name="T54" fmla="*/ 309 w 622"/>
                    <a:gd name="T55" fmla="*/ 40 h 180"/>
                    <a:gd name="T56" fmla="*/ 307 w 622"/>
                    <a:gd name="T57" fmla="*/ 36 h 180"/>
                    <a:gd name="T58" fmla="*/ 303 w 622"/>
                    <a:gd name="T59" fmla="*/ 32 h 180"/>
                    <a:gd name="T60" fmla="*/ 298 w 622"/>
                    <a:gd name="T61" fmla="*/ 28 h 180"/>
                    <a:gd name="T62" fmla="*/ 291 w 622"/>
                    <a:gd name="T63" fmla="*/ 23 h 180"/>
                    <a:gd name="T64" fmla="*/ 283 w 622"/>
                    <a:gd name="T65" fmla="*/ 20 h 180"/>
                    <a:gd name="T66" fmla="*/ 274 w 622"/>
                    <a:gd name="T67" fmla="*/ 17 h 180"/>
                    <a:gd name="T68" fmla="*/ 265 w 622"/>
                    <a:gd name="T69" fmla="*/ 14 h 180"/>
                    <a:gd name="T70" fmla="*/ 254 w 622"/>
                    <a:gd name="T71" fmla="*/ 11 h 180"/>
                    <a:gd name="T72" fmla="*/ 241 w 622"/>
                    <a:gd name="T73" fmla="*/ 8 h 180"/>
                    <a:gd name="T74" fmla="*/ 215 w 622"/>
                    <a:gd name="T75" fmla="*/ 4 h 180"/>
                    <a:gd name="T76" fmla="*/ 186 w 622"/>
                    <a:gd name="T77" fmla="*/ 1 h 180"/>
                    <a:gd name="T78" fmla="*/ 155 w 622"/>
                    <a:gd name="T79" fmla="*/ 0 h 180"/>
                    <a:gd name="T80" fmla="*/ 124 w 622"/>
                    <a:gd name="T81" fmla="*/ 1 h 180"/>
                    <a:gd name="T82" fmla="*/ 95 w 622"/>
                    <a:gd name="T83" fmla="*/ 4 h 180"/>
                    <a:gd name="T84" fmla="*/ 69 w 622"/>
                    <a:gd name="T85" fmla="*/ 8 h 180"/>
                    <a:gd name="T86" fmla="*/ 56 w 622"/>
                    <a:gd name="T87" fmla="*/ 11 h 180"/>
                    <a:gd name="T88" fmla="*/ 46 w 622"/>
                    <a:gd name="T89" fmla="*/ 14 h 180"/>
                    <a:gd name="T90" fmla="*/ 36 w 622"/>
                    <a:gd name="T91" fmla="*/ 17 h 180"/>
                    <a:gd name="T92" fmla="*/ 27 w 622"/>
                    <a:gd name="T93" fmla="*/ 20 h 180"/>
                    <a:gd name="T94" fmla="*/ 19 w 622"/>
                    <a:gd name="T95" fmla="*/ 23 h 180"/>
                    <a:gd name="T96" fmla="*/ 12 w 622"/>
                    <a:gd name="T97" fmla="*/ 28 h 180"/>
                    <a:gd name="T98" fmla="*/ 7 w 622"/>
                    <a:gd name="T99" fmla="*/ 32 h 180"/>
                    <a:gd name="T100" fmla="*/ 3 w 622"/>
                    <a:gd name="T101" fmla="*/ 36 h 180"/>
                    <a:gd name="T102" fmla="*/ 1 w 622"/>
                    <a:gd name="T103" fmla="*/ 40 h 180"/>
                    <a:gd name="T104" fmla="*/ 0 w 622"/>
                    <a:gd name="T105" fmla="*/ 45 h 18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22" h="180">
                      <a:moveTo>
                        <a:pt x="0" y="89"/>
                      </a:moveTo>
                      <a:lnTo>
                        <a:pt x="2" y="98"/>
                      </a:lnTo>
                      <a:lnTo>
                        <a:pt x="7" y="107"/>
                      </a:lnTo>
                      <a:lnTo>
                        <a:pt x="15" y="116"/>
                      </a:lnTo>
                      <a:lnTo>
                        <a:pt x="25" y="125"/>
                      </a:lnTo>
                      <a:lnTo>
                        <a:pt x="38" y="132"/>
                      </a:lnTo>
                      <a:lnTo>
                        <a:pt x="54" y="140"/>
                      </a:lnTo>
                      <a:lnTo>
                        <a:pt x="72" y="147"/>
                      </a:lnTo>
                      <a:lnTo>
                        <a:pt x="92" y="153"/>
                      </a:lnTo>
                      <a:lnTo>
                        <a:pt x="113" y="159"/>
                      </a:lnTo>
                      <a:lnTo>
                        <a:pt x="138" y="165"/>
                      </a:lnTo>
                      <a:lnTo>
                        <a:pt x="190" y="172"/>
                      </a:lnTo>
                      <a:lnTo>
                        <a:pt x="248" y="178"/>
                      </a:lnTo>
                      <a:lnTo>
                        <a:pt x="310" y="180"/>
                      </a:lnTo>
                      <a:lnTo>
                        <a:pt x="373" y="178"/>
                      </a:lnTo>
                      <a:lnTo>
                        <a:pt x="432" y="172"/>
                      </a:lnTo>
                      <a:lnTo>
                        <a:pt x="484" y="165"/>
                      </a:lnTo>
                      <a:lnTo>
                        <a:pt x="509" y="159"/>
                      </a:lnTo>
                      <a:lnTo>
                        <a:pt x="531" y="153"/>
                      </a:lnTo>
                      <a:lnTo>
                        <a:pt x="550" y="147"/>
                      </a:lnTo>
                      <a:lnTo>
                        <a:pt x="568" y="140"/>
                      </a:lnTo>
                      <a:lnTo>
                        <a:pt x="584" y="132"/>
                      </a:lnTo>
                      <a:lnTo>
                        <a:pt x="597" y="125"/>
                      </a:lnTo>
                      <a:lnTo>
                        <a:pt x="608" y="116"/>
                      </a:lnTo>
                      <a:lnTo>
                        <a:pt x="615" y="107"/>
                      </a:lnTo>
                      <a:lnTo>
                        <a:pt x="620" y="98"/>
                      </a:lnTo>
                      <a:lnTo>
                        <a:pt x="622" y="89"/>
                      </a:lnTo>
                      <a:lnTo>
                        <a:pt x="620" y="80"/>
                      </a:lnTo>
                      <a:lnTo>
                        <a:pt x="615" y="72"/>
                      </a:lnTo>
                      <a:lnTo>
                        <a:pt x="608" y="63"/>
                      </a:lnTo>
                      <a:lnTo>
                        <a:pt x="597" y="55"/>
                      </a:lnTo>
                      <a:lnTo>
                        <a:pt x="584" y="46"/>
                      </a:lnTo>
                      <a:lnTo>
                        <a:pt x="568" y="40"/>
                      </a:lnTo>
                      <a:lnTo>
                        <a:pt x="550" y="33"/>
                      </a:lnTo>
                      <a:lnTo>
                        <a:pt x="531" y="27"/>
                      </a:lnTo>
                      <a:lnTo>
                        <a:pt x="509" y="21"/>
                      </a:lnTo>
                      <a:lnTo>
                        <a:pt x="484" y="15"/>
                      </a:lnTo>
                      <a:lnTo>
                        <a:pt x="432" y="8"/>
                      </a:lnTo>
                      <a:lnTo>
                        <a:pt x="373" y="2"/>
                      </a:lnTo>
                      <a:lnTo>
                        <a:pt x="310" y="0"/>
                      </a:lnTo>
                      <a:lnTo>
                        <a:pt x="248" y="2"/>
                      </a:lnTo>
                      <a:lnTo>
                        <a:pt x="190" y="8"/>
                      </a:lnTo>
                      <a:lnTo>
                        <a:pt x="138" y="15"/>
                      </a:lnTo>
                      <a:lnTo>
                        <a:pt x="113" y="21"/>
                      </a:lnTo>
                      <a:lnTo>
                        <a:pt x="92" y="27"/>
                      </a:lnTo>
                      <a:lnTo>
                        <a:pt x="72" y="33"/>
                      </a:lnTo>
                      <a:lnTo>
                        <a:pt x="54" y="40"/>
                      </a:lnTo>
                      <a:lnTo>
                        <a:pt x="38" y="46"/>
                      </a:lnTo>
                      <a:lnTo>
                        <a:pt x="25" y="55"/>
                      </a:lnTo>
                      <a:lnTo>
                        <a:pt x="15" y="63"/>
                      </a:lnTo>
                      <a:lnTo>
                        <a:pt x="7" y="72"/>
                      </a:lnTo>
                      <a:lnTo>
                        <a:pt x="2" y="80"/>
                      </a:lnTo>
                      <a:lnTo>
                        <a:pt x="0" y="89"/>
                      </a:lnTo>
                      <a:close/>
                    </a:path>
                  </a:pathLst>
                </a:custGeom>
                <a:solidFill>
                  <a:srgbClr val="32B3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69" name="Freeform 120"/>
                <p:cNvSpPr>
                  <a:spLocks/>
                </p:cNvSpPr>
                <p:nvPr/>
              </p:nvSpPr>
              <p:spPr bwMode="auto">
                <a:xfrm>
                  <a:off x="919" y="2858"/>
                  <a:ext cx="310" cy="358"/>
                </a:xfrm>
                <a:custGeom>
                  <a:avLst/>
                  <a:gdLst>
                    <a:gd name="T0" fmla="*/ 155 w 622"/>
                    <a:gd name="T1" fmla="*/ 0 h 716"/>
                    <a:gd name="T2" fmla="*/ 124 w 622"/>
                    <a:gd name="T3" fmla="*/ 1 h 716"/>
                    <a:gd name="T4" fmla="*/ 95 w 622"/>
                    <a:gd name="T5" fmla="*/ 4 h 716"/>
                    <a:gd name="T6" fmla="*/ 69 w 622"/>
                    <a:gd name="T7" fmla="*/ 8 h 716"/>
                    <a:gd name="T8" fmla="*/ 56 w 622"/>
                    <a:gd name="T9" fmla="*/ 11 h 716"/>
                    <a:gd name="T10" fmla="*/ 46 w 622"/>
                    <a:gd name="T11" fmla="*/ 14 h 716"/>
                    <a:gd name="T12" fmla="*/ 36 w 622"/>
                    <a:gd name="T13" fmla="*/ 17 h 716"/>
                    <a:gd name="T14" fmla="*/ 27 w 622"/>
                    <a:gd name="T15" fmla="*/ 20 h 716"/>
                    <a:gd name="T16" fmla="*/ 19 w 622"/>
                    <a:gd name="T17" fmla="*/ 23 h 716"/>
                    <a:gd name="T18" fmla="*/ 12 w 622"/>
                    <a:gd name="T19" fmla="*/ 28 h 716"/>
                    <a:gd name="T20" fmla="*/ 7 w 622"/>
                    <a:gd name="T21" fmla="*/ 32 h 716"/>
                    <a:gd name="T22" fmla="*/ 3 w 622"/>
                    <a:gd name="T23" fmla="*/ 36 h 716"/>
                    <a:gd name="T24" fmla="*/ 1 w 622"/>
                    <a:gd name="T25" fmla="*/ 40 h 716"/>
                    <a:gd name="T26" fmla="*/ 0 w 622"/>
                    <a:gd name="T27" fmla="*/ 45 h 716"/>
                    <a:gd name="T28" fmla="*/ 0 w 622"/>
                    <a:gd name="T29" fmla="*/ 314 h 716"/>
                    <a:gd name="T30" fmla="*/ 1 w 622"/>
                    <a:gd name="T31" fmla="*/ 318 h 716"/>
                    <a:gd name="T32" fmla="*/ 3 w 622"/>
                    <a:gd name="T33" fmla="*/ 323 h 716"/>
                    <a:gd name="T34" fmla="*/ 7 w 622"/>
                    <a:gd name="T35" fmla="*/ 327 h 716"/>
                    <a:gd name="T36" fmla="*/ 12 w 622"/>
                    <a:gd name="T37" fmla="*/ 331 h 716"/>
                    <a:gd name="T38" fmla="*/ 19 w 622"/>
                    <a:gd name="T39" fmla="*/ 335 h 716"/>
                    <a:gd name="T40" fmla="*/ 27 w 622"/>
                    <a:gd name="T41" fmla="*/ 339 h 716"/>
                    <a:gd name="T42" fmla="*/ 36 w 622"/>
                    <a:gd name="T43" fmla="*/ 342 h 716"/>
                    <a:gd name="T44" fmla="*/ 46 w 622"/>
                    <a:gd name="T45" fmla="*/ 345 h 716"/>
                    <a:gd name="T46" fmla="*/ 56 w 622"/>
                    <a:gd name="T47" fmla="*/ 348 h 716"/>
                    <a:gd name="T48" fmla="*/ 69 w 622"/>
                    <a:gd name="T49" fmla="*/ 351 h 716"/>
                    <a:gd name="T50" fmla="*/ 95 w 622"/>
                    <a:gd name="T51" fmla="*/ 355 h 716"/>
                    <a:gd name="T52" fmla="*/ 124 w 622"/>
                    <a:gd name="T53" fmla="*/ 358 h 716"/>
                    <a:gd name="T54" fmla="*/ 155 w 622"/>
                    <a:gd name="T55" fmla="*/ 358 h 716"/>
                    <a:gd name="T56" fmla="*/ 186 w 622"/>
                    <a:gd name="T57" fmla="*/ 358 h 716"/>
                    <a:gd name="T58" fmla="*/ 215 w 622"/>
                    <a:gd name="T59" fmla="*/ 355 h 716"/>
                    <a:gd name="T60" fmla="*/ 241 w 622"/>
                    <a:gd name="T61" fmla="*/ 351 h 716"/>
                    <a:gd name="T62" fmla="*/ 254 w 622"/>
                    <a:gd name="T63" fmla="*/ 348 h 716"/>
                    <a:gd name="T64" fmla="*/ 265 w 622"/>
                    <a:gd name="T65" fmla="*/ 345 h 716"/>
                    <a:gd name="T66" fmla="*/ 274 w 622"/>
                    <a:gd name="T67" fmla="*/ 342 h 716"/>
                    <a:gd name="T68" fmla="*/ 283 w 622"/>
                    <a:gd name="T69" fmla="*/ 339 h 716"/>
                    <a:gd name="T70" fmla="*/ 291 w 622"/>
                    <a:gd name="T71" fmla="*/ 335 h 716"/>
                    <a:gd name="T72" fmla="*/ 298 w 622"/>
                    <a:gd name="T73" fmla="*/ 331 h 716"/>
                    <a:gd name="T74" fmla="*/ 303 w 622"/>
                    <a:gd name="T75" fmla="*/ 327 h 716"/>
                    <a:gd name="T76" fmla="*/ 307 w 622"/>
                    <a:gd name="T77" fmla="*/ 323 h 716"/>
                    <a:gd name="T78" fmla="*/ 309 w 622"/>
                    <a:gd name="T79" fmla="*/ 318 h 716"/>
                    <a:gd name="T80" fmla="*/ 310 w 622"/>
                    <a:gd name="T81" fmla="*/ 314 h 716"/>
                    <a:gd name="T82" fmla="*/ 310 w 622"/>
                    <a:gd name="T83" fmla="*/ 45 h 716"/>
                    <a:gd name="T84" fmla="*/ 309 w 622"/>
                    <a:gd name="T85" fmla="*/ 40 h 716"/>
                    <a:gd name="T86" fmla="*/ 307 w 622"/>
                    <a:gd name="T87" fmla="*/ 36 h 716"/>
                    <a:gd name="T88" fmla="*/ 303 w 622"/>
                    <a:gd name="T89" fmla="*/ 32 h 716"/>
                    <a:gd name="T90" fmla="*/ 298 w 622"/>
                    <a:gd name="T91" fmla="*/ 28 h 716"/>
                    <a:gd name="T92" fmla="*/ 291 w 622"/>
                    <a:gd name="T93" fmla="*/ 23 h 716"/>
                    <a:gd name="T94" fmla="*/ 283 w 622"/>
                    <a:gd name="T95" fmla="*/ 20 h 716"/>
                    <a:gd name="T96" fmla="*/ 274 w 622"/>
                    <a:gd name="T97" fmla="*/ 17 h 716"/>
                    <a:gd name="T98" fmla="*/ 265 w 622"/>
                    <a:gd name="T99" fmla="*/ 14 h 716"/>
                    <a:gd name="T100" fmla="*/ 254 w 622"/>
                    <a:gd name="T101" fmla="*/ 11 h 716"/>
                    <a:gd name="T102" fmla="*/ 241 w 622"/>
                    <a:gd name="T103" fmla="*/ 8 h 716"/>
                    <a:gd name="T104" fmla="*/ 215 w 622"/>
                    <a:gd name="T105" fmla="*/ 4 h 716"/>
                    <a:gd name="T106" fmla="*/ 186 w 622"/>
                    <a:gd name="T107" fmla="*/ 1 h 716"/>
                    <a:gd name="T108" fmla="*/ 155 w 622"/>
                    <a:gd name="T109" fmla="*/ 0 h 71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6">
                      <a:moveTo>
                        <a:pt x="310" y="0"/>
                      </a:moveTo>
                      <a:lnTo>
                        <a:pt x="248" y="2"/>
                      </a:lnTo>
                      <a:lnTo>
                        <a:pt x="190" y="8"/>
                      </a:lnTo>
                      <a:lnTo>
                        <a:pt x="138" y="15"/>
                      </a:lnTo>
                      <a:lnTo>
                        <a:pt x="113" y="21"/>
                      </a:lnTo>
                      <a:lnTo>
                        <a:pt x="92" y="27"/>
                      </a:lnTo>
                      <a:lnTo>
                        <a:pt x="72" y="33"/>
                      </a:lnTo>
                      <a:lnTo>
                        <a:pt x="54" y="40"/>
                      </a:lnTo>
                      <a:lnTo>
                        <a:pt x="38" y="46"/>
                      </a:lnTo>
                      <a:lnTo>
                        <a:pt x="25" y="55"/>
                      </a:lnTo>
                      <a:lnTo>
                        <a:pt x="15" y="63"/>
                      </a:lnTo>
                      <a:lnTo>
                        <a:pt x="7" y="72"/>
                      </a:lnTo>
                      <a:lnTo>
                        <a:pt x="2" y="80"/>
                      </a:lnTo>
                      <a:lnTo>
                        <a:pt x="0" y="89"/>
                      </a:lnTo>
                      <a:lnTo>
                        <a:pt x="0" y="627"/>
                      </a:lnTo>
                      <a:lnTo>
                        <a:pt x="2" y="636"/>
                      </a:lnTo>
                      <a:lnTo>
                        <a:pt x="7" y="645"/>
                      </a:lnTo>
                      <a:lnTo>
                        <a:pt x="15" y="654"/>
                      </a:lnTo>
                      <a:lnTo>
                        <a:pt x="25" y="661"/>
                      </a:lnTo>
                      <a:lnTo>
                        <a:pt x="38" y="670"/>
                      </a:lnTo>
                      <a:lnTo>
                        <a:pt x="54" y="678"/>
                      </a:lnTo>
                      <a:lnTo>
                        <a:pt x="72" y="684"/>
                      </a:lnTo>
                      <a:lnTo>
                        <a:pt x="92" y="690"/>
                      </a:lnTo>
                      <a:lnTo>
                        <a:pt x="113" y="696"/>
                      </a:lnTo>
                      <a:lnTo>
                        <a:pt x="138" y="701"/>
                      </a:lnTo>
                      <a:lnTo>
                        <a:pt x="190" y="709"/>
                      </a:lnTo>
                      <a:lnTo>
                        <a:pt x="248" y="715"/>
                      </a:lnTo>
                      <a:lnTo>
                        <a:pt x="310" y="716"/>
                      </a:lnTo>
                      <a:lnTo>
                        <a:pt x="373" y="715"/>
                      </a:lnTo>
                      <a:lnTo>
                        <a:pt x="432" y="709"/>
                      </a:lnTo>
                      <a:lnTo>
                        <a:pt x="484" y="701"/>
                      </a:lnTo>
                      <a:lnTo>
                        <a:pt x="509" y="696"/>
                      </a:lnTo>
                      <a:lnTo>
                        <a:pt x="531" y="690"/>
                      </a:lnTo>
                      <a:lnTo>
                        <a:pt x="550" y="684"/>
                      </a:lnTo>
                      <a:lnTo>
                        <a:pt x="568" y="678"/>
                      </a:lnTo>
                      <a:lnTo>
                        <a:pt x="584" y="670"/>
                      </a:lnTo>
                      <a:lnTo>
                        <a:pt x="597" y="661"/>
                      </a:lnTo>
                      <a:lnTo>
                        <a:pt x="608" y="654"/>
                      </a:lnTo>
                      <a:lnTo>
                        <a:pt x="615" y="645"/>
                      </a:lnTo>
                      <a:lnTo>
                        <a:pt x="620" y="636"/>
                      </a:lnTo>
                      <a:lnTo>
                        <a:pt x="622" y="627"/>
                      </a:lnTo>
                      <a:lnTo>
                        <a:pt x="622" y="89"/>
                      </a:lnTo>
                      <a:lnTo>
                        <a:pt x="620" y="80"/>
                      </a:lnTo>
                      <a:lnTo>
                        <a:pt x="615" y="72"/>
                      </a:lnTo>
                      <a:lnTo>
                        <a:pt x="608" y="63"/>
                      </a:lnTo>
                      <a:lnTo>
                        <a:pt x="597" y="55"/>
                      </a:lnTo>
                      <a:lnTo>
                        <a:pt x="584" y="46"/>
                      </a:lnTo>
                      <a:lnTo>
                        <a:pt x="568" y="40"/>
                      </a:lnTo>
                      <a:lnTo>
                        <a:pt x="550" y="33"/>
                      </a:lnTo>
                      <a:lnTo>
                        <a:pt x="531" y="27"/>
                      </a:lnTo>
                      <a:lnTo>
                        <a:pt x="509" y="21"/>
                      </a:lnTo>
                      <a:lnTo>
                        <a:pt x="484" y="15"/>
                      </a:lnTo>
                      <a:lnTo>
                        <a:pt x="432" y="8"/>
                      </a:lnTo>
                      <a:lnTo>
                        <a:pt x="373" y="2"/>
                      </a:lnTo>
                      <a:lnTo>
                        <a:pt x="310" y="0"/>
                      </a:lnTo>
                      <a:close/>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sp>
              <p:nvSpPr>
                <p:cNvPr id="170" name="Freeform 121"/>
                <p:cNvSpPr>
                  <a:spLocks/>
                </p:cNvSpPr>
                <p:nvPr/>
              </p:nvSpPr>
              <p:spPr bwMode="auto">
                <a:xfrm>
                  <a:off x="919" y="2903"/>
                  <a:ext cx="310" cy="45"/>
                </a:xfrm>
                <a:custGeom>
                  <a:avLst/>
                  <a:gdLst>
                    <a:gd name="T0" fmla="*/ 0 w 622"/>
                    <a:gd name="T1" fmla="*/ 0 h 91"/>
                    <a:gd name="T2" fmla="*/ 1 w 622"/>
                    <a:gd name="T3" fmla="*/ 4 h 91"/>
                    <a:gd name="T4" fmla="*/ 3 w 622"/>
                    <a:gd name="T5" fmla="*/ 9 h 91"/>
                    <a:gd name="T6" fmla="*/ 7 w 622"/>
                    <a:gd name="T7" fmla="*/ 13 h 91"/>
                    <a:gd name="T8" fmla="*/ 12 w 622"/>
                    <a:gd name="T9" fmla="*/ 18 h 91"/>
                    <a:gd name="T10" fmla="*/ 19 w 622"/>
                    <a:gd name="T11" fmla="*/ 21 h 91"/>
                    <a:gd name="T12" fmla="*/ 27 w 622"/>
                    <a:gd name="T13" fmla="*/ 25 h 91"/>
                    <a:gd name="T14" fmla="*/ 36 w 622"/>
                    <a:gd name="T15" fmla="*/ 29 h 91"/>
                    <a:gd name="T16" fmla="*/ 46 w 622"/>
                    <a:gd name="T17" fmla="*/ 32 h 91"/>
                    <a:gd name="T18" fmla="*/ 56 w 622"/>
                    <a:gd name="T19" fmla="*/ 35 h 91"/>
                    <a:gd name="T20" fmla="*/ 69 w 622"/>
                    <a:gd name="T21" fmla="*/ 38 h 91"/>
                    <a:gd name="T22" fmla="*/ 95 w 622"/>
                    <a:gd name="T23" fmla="*/ 41 h 91"/>
                    <a:gd name="T24" fmla="*/ 124 w 622"/>
                    <a:gd name="T25" fmla="*/ 44 h 91"/>
                    <a:gd name="T26" fmla="*/ 155 w 622"/>
                    <a:gd name="T27" fmla="*/ 45 h 91"/>
                    <a:gd name="T28" fmla="*/ 186 w 622"/>
                    <a:gd name="T29" fmla="*/ 44 h 91"/>
                    <a:gd name="T30" fmla="*/ 215 w 622"/>
                    <a:gd name="T31" fmla="*/ 41 h 91"/>
                    <a:gd name="T32" fmla="*/ 241 w 622"/>
                    <a:gd name="T33" fmla="*/ 38 h 91"/>
                    <a:gd name="T34" fmla="*/ 254 w 622"/>
                    <a:gd name="T35" fmla="*/ 35 h 91"/>
                    <a:gd name="T36" fmla="*/ 265 w 622"/>
                    <a:gd name="T37" fmla="*/ 32 h 91"/>
                    <a:gd name="T38" fmla="*/ 274 w 622"/>
                    <a:gd name="T39" fmla="*/ 29 h 91"/>
                    <a:gd name="T40" fmla="*/ 283 w 622"/>
                    <a:gd name="T41" fmla="*/ 25 h 91"/>
                    <a:gd name="T42" fmla="*/ 291 w 622"/>
                    <a:gd name="T43" fmla="*/ 21 h 91"/>
                    <a:gd name="T44" fmla="*/ 298 w 622"/>
                    <a:gd name="T45" fmla="*/ 18 h 91"/>
                    <a:gd name="T46" fmla="*/ 303 w 622"/>
                    <a:gd name="T47" fmla="*/ 13 h 91"/>
                    <a:gd name="T48" fmla="*/ 307 w 622"/>
                    <a:gd name="T49" fmla="*/ 9 h 91"/>
                    <a:gd name="T50" fmla="*/ 309 w 622"/>
                    <a:gd name="T51" fmla="*/ 4 h 91"/>
                    <a:gd name="T52" fmla="*/ 310 w 622"/>
                    <a:gd name="T53" fmla="*/ 0 h 9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22" h="91">
                      <a:moveTo>
                        <a:pt x="0" y="0"/>
                      </a:moveTo>
                      <a:lnTo>
                        <a:pt x="2" y="9"/>
                      </a:lnTo>
                      <a:lnTo>
                        <a:pt x="7" y="18"/>
                      </a:lnTo>
                      <a:lnTo>
                        <a:pt x="15" y="27"/>
                      </a:lnTo>
                      <a:lnTo>
                        <a:pt x="25" y="36"/>
                      </a:lnTo>
                      <a:lnTo>
                        <a:pt x="38" y="43"/>
                      </a:lnTo>
                      <a:lnTo>
                        <a:pt x="54" y="51"/>
                      </a:lnTo>
                      <a:lnTo>
                        <a:pt x="72" y="58"/>
                      </a:lnTo>
                      <a:lnTo>
                        <a:pt x="92" y="64"/>
                      </a:lnTo>
                      <a:lnTo>
                        <a:pt x="113" y="70"/>
                      </a:lnTo>
                      <a:lnTo>
                        <a:pt x="138" y="76"/>
                      </a:lnTo>
                      <a:lnTo>
                        <a:pt x="190" y="83"/>
                      </a:lnTo>
                      <a:lnTo>
                        <a:pt x="248" y="89"/>
                      </a:lnTo>
                      <a:lnTo>
                        <a:pt x="310" y="91"/>
                      </a:lnTo>
                      <a:lnTo>
                        <a:pt x="373" y="89"/>
                      </a:lnTo>
                      <a:lnTo>
                        <a:pt x="432" y="83"/>
                      </a:lnTo>
                      <a:lnTo>
                        <a:pt x="484" y="76"/>
                      </a:lnTo>
                      <a:lnTo>
                        <a:pt x="509" y="70"/>
                      </a:lnTo>
                      <a:lnTo>
                        <a:pt x="531" y="64"/>
                      </a:lnTo>
                      <a:lnTo>
                        <a:pt x="550" y="58"/>
                      </a:lnTo>
                      <a:lnTo>
                        <a:pt x="568" y="51"/>
                      </a:lnTo>
                      <a:lnTo>
                        <a:pt x="584" y="43"/>
                      </a:lnTo>
                      <a:lnTo>
                        <a:pt x="597" y="36"/>
                      </a:lnTo>
                      <a:lnTo>
                        <a:pt x="608" y="27"/>
                      </a:lnTo>
                      <a:lnTo>
                        <a:pt x="615" y="18"/>
                      </a:lnTo>
                      <a:lnTo>
                        <a:pt x="620" y="9"/>
                      </a:lnTo>
                      <a:lnTo>
                        <a:pt x="622"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grpSp>
          <p:grpSp>
            <p:nvGrpSpPr>
              <p:cNvPr id="155" name="Group 122"/>
              <p:cNvGrpSpPr>
                <a:grpSpLocks/>
              </p:cNvGrpSpPr>
              <p:nvPr/>
            </p:nvGrpSpPr>
            <p:grpSpPr bwMode="auto">
              <a:xfrm>
                <a:off x="971" y="2903"/>
                <a:ext cx="310" cy="358"/>
                <a:chOff x="971" y="2903"/>
                <a:chExt cx="310" cy="358"/>
              </a:xfrm>
            </p:grpSpPr>
            <p:sp>
              <p:nvSpPr>
                <p:cNvPr id="163" name="Freeform 123"/>
                <p:cNvSpPr>
                  <a:spLocks/>
                </p:cNvSpPr>
                <p:nvPr/>
              </p:nvSpPr>
              <p:spPr bwMode="auto">
                <a:xfrm>
                  <a:off x="971" y="2903"/>
                  <a:ext cx="310" cy="358"/>
                </a:xfrm>
                <a:custGeom>
                  <a:avLst/>
                  <a:gdLst>
                    <a:gd name="T0" fmla="*/ 155 w 622"/>
                    <a:gd name="T1" fmla="*/ 0 h 716"/>
                    <a:gd name="T2" fmla="*/ 123 w 622"/>
                    <a:gd name="T3" fmla="*/ 1 h 716"/>
                    <a:gd name="T4" fmla="*/ 95 w 622"/>
                    <a:gd name="T5" fmla="*/ 4 h 716"/>
                    <a:gd name="T6" fmla="*/ 69 w 622"/>
                    <a:gd name="T7" fmla="*/ 8 h 716"/>
                    <a:gd name="T8" fmla="*/ 56 w 622"/>
                    <a:gd name="T9" fmla="*/ 11 h 716"/>
                    <a:gd name="T10" fmla="*/ 46 w 622"/>
                    <a:gd name="T11" fmla="*/ 14 h 716"/>
                    <a:gd name="T12" fmla="*/ 36 w 622"/>
                    <a:gd name="T13" fmla="*/ 16 h 716"/>
                    <a:gd name="T14" fmla="*/ 27 w 622"/>
                    <a:gd name="T15" fmla="*/ 20 h 716"/>
                    <a:gd name="T16" fmla="*/ 19 w 622"/>
                    <a:gd name="T17" fmla="*/ 23 h 716"/>
                    <a:gd name="T18" fmla="*/ 12 w 622"/>
                    <a:gd name="T19" fmla="*/ 28 h 716"/>
                    <a:gd name="T20" fmla="*/ 7 w 622"/>
                    <a:gd name="T21" fmla="*/ 31 h 716"/>
                    <a:gd name="T22" fmla="*/ 3 w 622"/>
                    <a:gd name="T23" fmla="*/ 36 h 716"/>
                    <a:gd name="T24" fmla="*/ 1 w 622"/>
                    <a:gd name="T25" fmla="*/ 40 h 716"/>
                    <a:gd name="T26" fmla="*/ 0 w 622"/>
                    <a:gd name="T27" fmla="*/ 45 h 716"/>
                    <a:gd name="T28" fmla="*/ 0 w 622"/>
                    <a:gd name="T29" fmla="*/ 314 h 716"/>
                    <a:gd name="T30" fmla="*/ 1 w 622"/>
                    <a:gd name="T31" fmla="*/ 318 h 716"/>
                    <a:gd name="T32" fmla="*/ 3 w 622"/>
                    <a:gd name="T33" fmla="*/ 323 h 716"/>
                    <a:gd name="T34" fmla="*/ 7 w 622"/>
                    <a:gd name="T35" fmla="*/ 327 h 716"/>
                    <a:gd name="T36" fmla="*/ 12 w 622"/>
                    <a:gd name="T37" fmla="*/ 331 h 716"/>
                    <a:gd name="T38" fmla="*/ 19 w 622"/>
                    <a:gd name="T39" fmla="*/ 335 h 716"/>
                    <a:gd name="T40" fmla="*/ 27 w 622"/>
                    <a:gd name="T41" fmla="*/ 339 h 716"/>
                    <a:gd name="T42" fmla="*/ 36 w 622"/>
                    <a:gd name="T43" fmla="*/ 342 h 716"/>
                    <a:gd name="T44" fmla="*/ 46 w 622"/>
                    <a:gd name="T45" fmla="*/ 345 h 716"/>
                    <a:gd name="T46" fmla="*/ 56 w 622"/>
                    <a:gd name="T47" fmla="*/ 348 h 716"/>
                    <a:gd name="T48" fmla="*/ 69 w 622"/>
                    <a:gd name="T49" fmla="*/ 351 h 716"/>
                    <a:gd name="T50" fmla="*/ 95 w 622"/>
                    <a:gd name="T51" fmla="*/ 354 h 716"/>
                    <a:gd name="T52" fmla="*/ 123 w 622"/>
                    <a:gd name="T53" fmla="*/ 357 h 716"/>
                    <a:gd name="T54" fmla="*/ 155 w 622"/>
                    <a:gd name="T55" fmla="*/ 358 h 716"/>
                    <a:gd name="T56" fmla="*/ 186 w 622"/>
                    <a:gd name="T57" fmla="*/ 357 h 716"/>
                    <a:gd name="T58" fmla="*/ 215 w 622"/>
                    <a:gd name="T59" fmla="*/ 354 h 716"/>
                    <a:gd name="T60" fmla="*/ 241 w 622"/>
                    <a:gd name="T61" fmla="*/ 351 h 716"/>
                    <a:gd name="T62" fmla="*/ 254 w 622"/>
                    <a:gd name="T63" fmla="*/ 348 h 716"/>
                    <a:gd name="T64" fmla="*/ 264 w 622"/>
                    <a:gd name="T65" fmla="*/ 345 h 716"/>
                    <a:gd name="T66" fmla="*/ 274 w 622"/>
                    <a:gd name="T67" fmla="*/ 342 h 716"/>
                    <a:gd name="T68" fmla="*/ 283 w 622"/>
                    <a:gd name="T69" fmla="*/ 339 h 716"/>
                    <a:gd name="T70" fmla="*/ 291 w 622"/>
                    <a:gd name="T71" fmla="*/ 335 h 716"/>
                    <a:gd name="T72" fmla="*/ 298 w 622"/>
                    <a:gd name="T73" fmla="*/ 331 h 716"/>
                    <a:gd name="T74" fmla="*/ 303 w 622"/>
                    <a:gd name="T75" fmla="*/ 327 h 716"/>
                    <a:gd name="T76" fmla="*/ 307 w 622"/>
                    <a:gd name="T77" fmla="*/ 323 h 716"/>
                    <a:gd name="T78" fmla="*/ 309 w 622"/>
                    <a:gd name="T79" fmla="*/ 318 h 716"/>
                    <a:gd name="T80" fmla="*/ 310 w 622"/>
                    <a:gd name="T81" fmla="*/ 314 h 716"/>
                    <a:gd name="T82" fmla="*/ 310 w 622"/>
                    <a:gd name="T83" fmla="*/ 45 h 716"/>
                    <a:gd name="T84" fmla="*/ 309 w 622"/>
                    <a:gd name="T85" fmla="*/ 40 h 716"/>
                    <a:gd name="T86" fmla="*/ 307 w 622"/>
                    <a:gd name="T87" fmla="*/ 36 h 716"/>
                    <a:gd name="T88" fmla="*/ 303 w 622"/>
                    <a:gd name="T89" fmla="*/ 31 h 716"/>
                    <a:gd name="T90" fmla="*/ 298 w 622"/>
                    <a:gd name="T91" fmla="*/ 28 h 716"/>
                    <a:gd name="T92" fmla="*/ 291 w 622"/>
                    <a:gd name="T93" fmla="*/ 23 h 716"/>
                    <a:gd name="T94" fmla="*/ 283 w 622"/>
                    <a:gd name="T95" fmla="*/ 20 h 716"/>
                    <a:gd name="T96" fmla="*/ 274 w 622"/>
                    <a:gd name="T97" fmla="*/ 16 h 716"/>
                    <a:gd name="T98" fmla="*/ 264 w 622"/>
                    <a:gd name="T99" fmla="*/ 14 h 716"/>
                    <a:gd name="T100" fmla="*/ 254 w 622"/>
                    <a:gd name="T101" fmla="*/ 11 h 716"/>
                    <a:gd name="T102" fmla="*/ 241 w 622"/>
                    <a:gd name="T103" fmla="*/ 8 h 716"/>
                    <a:gd name="T104" fmla="*/ 215 w 622"/>
                    <a:gd name="T105" fmla="*/ 4 h 716"/>
                    <a:gd name="T106" fmla="*/ 186 w 622"/>
                    <a:gd name="T107" fmla="*/ 1 h 716"/>
                    <a:gd name="T108" fmla="*/ 155 w 622"/>
                    <a:gd name="T109" fmla="*/ 0 h 71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6">
                      <a:moveTo>
                        <a:pt x="310" y="0"/>
                      </a:moveTo>
                      <a:lnTo>
                        <a:pt x="247" y="1"/>
                      </a:lnTo>
                      <a:lnTo>
                        <a:pt x="190" y="7"/>
                      </a:lnTo>
                      <a:lnTo>
                        <a:pt x="138" y="15"/>
                      </a:lnTo>
                      <a:lnTo>
                        <a:pt x="113" y="21"/>
                      </a:lnTo>
                      <a:lnTo>
                        <a:pt x="92" y="27"/>
                      </a:lnTo>
                      <a:lnTo>
                        <a:pt x="72" y="32"/>
                      </a:lnTo>
                      <a:lnTo>
                        <a:pt x="54" y="40"/>
                      </a:lnTo>
                      <a:lnTo>
                        <a:pt x="38" y="46"/>
                      </a:lnTo>
                      <a:lnTo>
                        <a:pt x="25" y="55"/>
                      </a:lnTo>
                      <a:lnTo>
                        <a:pt x="15" y="62"/>
                      </a:lnTo>
                      <a:lnTo>
                        <a:pt x="7" y="71"/>
                      </a:lnTo>
                      <a:lnTo>
                        <a:pt x="2" y="80"/>
                      </a:lnTo>
                      <a:lnTo>
                        <a:pt x="0" y="89"/>
                      </a:lnTo>
                      <a:lnTo>
                        <a:pt x="0" y="627"/>
                      </a:lnTo>
                      <a:lnTo>
                        <a:pt x="2" y="636"/>
                      </a:lnTo>
                      <a:lnTo>
                        <a:pt x="7" y="645"/>
                      </a:lnTo>
                      <a:lnTo>
                        <a:pt x="15" y="653"/>
                      </a:lnTo>
                      <a:lnTo>
                        <a:pt x="25" y="661"/>
                      </a:lnTo>
                      <a:lnTo>
                        <a:pt x="38" y="670"/>
                      </a:lnTo>
                      <a:lnTo>
                        <a:pt x="54" y="677"/>
                      </a:lnTo>
                      <a:lnTo>
                        <a:pt x="72" y="683"/>
                      </a:lnTo>
                      <a:lnTo>
                        <a:pt x="92" y="689"/>
                      </a:lnTo>
                      <a:lnTo>
                        <a:pt x="113" y="695"/>
                      </a:lnTo>
                      <a:lnTo>
                        <a:pt x="138" y="701"/>
                      </a:lnTo>
                      <a:lnTo>
                        <a:pt x="190" y="708"/>
                      </a:lnTo>
                      <a:lnTo>
                        <a:pt x="247" y="714"/>
                      </a:lnTo>
                      <a:lnTo>
                        <a:pt x="310" y="716"/>
                      </a:lnTo>
                      <a:lnTo>
                        <a:pt x="373" y="714"/>
                      </a:lnTo>
                      <a:lnTo>
                        <a:pt x="432" y="708"/>
                      </a:lnTo>
                      <a:lnTo>
                        <a:pt x="484" y="701"/>
                      </a:lnTo>
                      <a:lnTo>
                        <a:pt x="509" y="695"/>
                      </a:lnTo>
                      <a:lnTo>
                        <a:pt x="530" y="689"/>
                      </a:lnTo>
                      <a:lnTo>
                        <a:pt x="550" y="683"/>
                      </a:lnTo>
                      <a:lnTo>
                        <a:pt x="568" y="677"/>
                      </a:lnTo>
                      <a:lnTo>
                        <a:pt x="584" y="670"/>
                      </a:lnTo>
                      <a:lnTo>
                        <a:pt x="597" y="661"/>
                      </a:lnTo>
                      <a:lnTo>
                        <a:pt x="607" y="653"/>
                      </a:lnTo>
                      <a:lnTo>
                        <a:pt x="615" y="645"/>
                      </a:lnTo>
                      <a:lnTo>
                        <a:pt x="620" y="636"/>
                      </a:lnTo>
                      <a:lnTo>
                        <a:pt x="622" y="627"/>
                      </a:lnTo>
                      <a:lnTo>
                        <a:pt x="622" y="89"/>
                      </a:lnTo>
                      <a:lnTo>
                        <a:pt x="620" y="80"/>
                      </a:lnTo>
                      <a:lnTo>
                        <a:pt x="615" y="71"/>
                      </a:lnTo>
                      <a:lnTo>
                        <a:pt x="607" y="62"/>
                      </a:lnTo>
                      <a:lnTo>
                        <a:pt x="597" y="55"/>
                      </a:lnTo>
                      <a:lnTo>
                        <a:pt x="584" y="46"/>
                      </a:lnTo>
                      <a:lnTo>
                        <a:pt x="568" y="40"/>
                      </a:lnTo>
                      <a:lnTo>
                        <a:pt x="550" y="32"/>
                      </a:lnTo>
                      <a:lnTo>
                        <a:pt x="530" y="27"/>
                      </a:lnTo>
                      <a:lnTo>
                        <a:pt x="509" y="21"/>
                      </a:lnTo>
                      <a:lnTo>
                        <a:pt x="484" y="15"/>
                      </a:lnTo>
                      <a:lnTo>
                        <a:pt x="432" y="7"/>
                      </a:lnTo>
                      <a:lnTo>
                        <a:pt x="373" y="1"/>
                      </a:lnTo>
                      <a:lnTo>
                        <a:pt x="310" y="0"/>
                      </a:lnTo>
                      <a:close/>
                    </a:path>
                  </a:pathLst>
                </a:custGeom>
                <a:solidFill>
                  <a:srgbClr val="00A0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64" name="Freeform 124"/>
                <p:cNvSpPr>
                  <a:spLocks/>
                </p:cNvSpPr>
                <p:nvPr/>
              </p:nvSpPr>
              <p:spPr bwMode="auto">
                <a:xfrm>
                  <a:off x="971" y="2903"/>
                  <a:ext cx="310" cy="90"/>
                </a:xfrm>
                <a:custGeom>
                  <a:avLst/>
                  <a:gdLst>
                    <a:gd name="T0" fmla="*/ 0 w 622"/>
                    <a:gd name="T1" fmla="*/ 45 h 179"/>
                    <a:gd name="T2" fmla="*/ 1 w 622"/>
                    <a:gd name="T3" fmla="*/ 49 h 179"/>
                    <a:gd name="T4" fmla="*/ 3 w 622"/>
                    <a:gd name="T5" fmla="*/ 54 h 179"/>
                    <a:gd name="T6" fmla="*/ 7 w 622"/>
                    <a:gd name="T7" fmla="*/ 58 h 179"/>
                    <a:gd name="T8" fmla="*/ 12 w 622"/>
                    <a:gd name="T9" fmla="*/ 62 h 179"/>
                    <a:gd name="T10" fmla="*/ 19 w 622"/>
                    <a:gd name="T11" fmla="*/ 66 h 179"/>
                    <a:gd name="T12" fmla="*/ 27 w 622"/>
                    <a:gd name="T13" fmla="*/ 70 h 179"/>
                    <a:gd name="T14" fmla="*/ 36 w 622"/>
                    <a:gd name="T15" fmla="*/ 74 h 179"/>
                    <a:gd name="T16" fmla="*/ 46 w 622"/>
                    <a:gd name="T17" fmla="*/ 77 h 179"/>
                    <a:gd name="T18" fmla="*/ 56 w 622"/>
                    <a:gd name="T19" fmla="*/ 79 h 179"/>
                    <a:gd name="T20" fmla="*/ 69 w 622"/>
                    <a:gd name="T21" fmla="*/ 82 h 179"/>
                    <a:gd name="T22" fmla="*/ 95 w 622"/>
                    <a:gd name="T23" fmla="*/ 86 h 179"/>
                    <a:gd name="T24" fmla="*/ 123 w 622"/>
                    <a:gd name="T25" fmla="*/ 89 h 179"/>
                    <a:gd name="T26" fmla="*/ 155 w 622"/>
                    <a:gd name="T27" fmla="*/ 90 h 179"/>
                    <a:gd name="T28" fmla="*/ 186 w 622"/>
                    <a:gd name="T29" fmla="*/ 89 h 179"/>
                    <a:gd name="T30" fmla="*/ 215 w 622"/>
                    <a:gd name="T31" fmla="*/ 86 h 179"/>
                    <a:gd name="T32" fmla="*/ 241 w 622"/>
                    <a:gd name="T33" fmla="*/ 82 h 179"/>
                    <a:gd name="T34" fmla="*/ 254 w 622"/>
                    <a:gd name="T35" fmla="*/ 79 h 179"/>
                    <a:gd name="T36" fmla="*/ 264 w 622"/>
                    <a:gd name="T37" fmla="*/ 77 h 179"/>
                    <a:gd name="T38" fmla="*/ 274 w 622"/>
                    <a:gd name="T39" fmla="*/ 74 h 179"/>
                    <a:gd name="T40" fmla="*/ 283 w 622"/>
                    <a:gd name="T41" fmla="*/ 70 h 179"/>
                    <a:gd name="T42" fmla="*/ 291 w 622"/>
                    <a:gd name="T43" fmla="*/ 66 h 179"/>
                    <a:gd name="T44" fmla="*/ 298 w 622"/>
                    <a:gd name="T45" fmla="*/ 62 h 179"/>
                    <a:gd name="T46" fmla="*/ 303 w 622"/>
                    <a:gd name="T47" fmla="*/ 58 h 179"/>
                    <a:gd name="T48" fmla="*/ 307 w 622"/>
                    <a:gd name="T49" fmla="*/ 54 h 179"/>
                    <a:gd name="T50" fmla="*/ 309 w 622"/>
                    <a:gd name="T51" fmla="*/ 49 h 179"/>
                    <a:gd name="T52" fmla="*/ 310 w 622"/>
                    <a:gd name="T53" fmla="*/ 45 h 179"/>
                    <a:gd name="T54" fmla="*/ 309 w 622"/>
                    <a:gd name="T55" fmla="*/ 40 h 179"/>
                    <a:gd name="T56" fmla="*/ 307 w 622"/>
                    <a:gd name="T57" fmla="*/ 36 h 179"/>
                    <a:gd name="T58" fmla="*/ 303 w 622"/>
                    <a:gd name="T59" fmla="*/ 31 h 179"/>
                    <a:gd name="T60" fmla="*/ 298 w 622"/>
                    <a:gd name="T61" fmla="*/ 28 h 179"/>
                    <a:gd name="T62" fmla="*/ 291 w 622"/>
                    <a:gd name="T63" fmla="*/ 23 h 179"/>
                    <a:gd name="T64" fmla="*/ 283 w 622"/>
                    <a:gd name="T65" fmla="*/ 20 h 179"/>
                    <a:gd name="T66" fmla="*/ 274 w 622"/>
                    <a:gd name="T67" fmla="*/ 16 h 179"/>
                    <a:gd name="T68" fmla="*/ 264 w 622"/>
                    <a:gd name="T69" fmla="*/ 14 h 179"/>
                    <a:gd name="T70" fmla="*/ 254 w 622"/>
                    <a:gd name="T71" fmla="*/ 11 h 179"/>
                    <a:gd name="T72" fmla="*/ 241 w 622"/>
                    <a:gd name="T73" fmla="*/ 8 h 179"/>
                    <a:gd name="T74" fmla="*/ 215 w 622"/>
                    <a:gd name="T75" fmla="*/ 4 h 179"/>
                    <a:gd name="T76" fmla="*/ 186 w 622"/>
                    <a:gd name="T77" fmla="*/ 1 h 179"/>
                    <a:gd name="T78" fmla="*/ 155 w 622"/>
                    <a:gd name="T79" fmla="*/ 0 h 179"/>
                    <a:gd name="T80" fmla="*/ 123 w 622"/>
                    <a:gd name="T81" fmla="*/ 1 h 179"/>
                    <a:gd name="T82" fmla="*/ 95 w 622"/>
                    <a:gd name="T83" fmla="*/ 4 h 179"/>
                    <a:gd name="T84" fmla="*/ 69 w 622"/>
                    <a:gd name="T85" fmla="*/ 8 h 179"/>
                    <a:gd name="T86" fmla="*/ 56 w 622"/>
                    <a:gd name="T87" fmla="*/ 11 h 179"/>
                    <a:gd name="T88" fmla="*/ 46 w 622"/>
                    <a:gd name="T89" fmla="*/ 14 h 179"/>
                    <a:gd name="T90" fmla="*/ 36 w 622"/>
                    <a:gd name="T91" fmla="*/ 16 h 179"/>
                    <a:gd name="T92" fmla="*/ 27 w 622"/>
                    <a:gd name="T93" fmla="*/ 20 h 179"/>
                    <a:gd name="T94" fmla="*/ 19 w 622"/>
                    <a:gd name="T95" fmla="*/ 23 h 179"/>
                    <a:gd name="T96" fmla="*/ 12 w 622"/>
                    <a:gd name="T97" fmla="*/ 28 h 179"/>
                    <a:gd name="T98" fmla="*/ 7 w 622"/>
                    <a:gd name="T99" fmla="*/ 31 h 179"/>
                    <a:gd name="T100" fmla="*/ 3 w 622"/>
                    <a:gd name="T101" fmla="*/ 36 h 179"/>
                    <a:gd name="T102" fmla="*/ 1 w 622"/>
                    <a:gd name="T103" fmla="*/ 40 h 179"/>
                    <a:gd name="T104" fmla="*/ 0 w 622"/>
                    <a:gd name="T105" fmla="*/ 45 h 17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22" h="179">
                      <a:moveTo>
                        <a:pt x="0" y="89"/>
                      </a:moveTo>
                      <a:lnTo>
                        <a:pt x="2" y="98"/>
                      </a:lnTo>
                      <a:lnTo>
                        <a:pt x="7" y="107"/>
                      </a:lnTo>
                      <a:lnTo>
                        <a:pt x="15" y="115"/>
                      </a:lnTo>
                      <a:lnTo>
                        <a:pt x="25" y="124"/>
                      </a:lnTo>
                      <a:lnTo>
                        <a:pt x="38" y="132"/>
                      </a:lnTo>
                      <a:lnTo>
                        <a:pt x="54" y="139"/>
                      </a:lnTo>
                      <a:lnTo>
                        <a:pt x="72" y="147"/>
                      </a:lnTo>
                      <a:lnTo>
                        <a:pt x="92" y="153"/>
                      </a:lnTo>
                      <a:lnTo>
                        <a:pt x="113" y="158"/>
                      </a:lnTo>
                      <a:lnTo>
                        <a:pt x="138" y="164"/>
                      </a:lnTo>
                      <a:lnTo>
                        <a:pt x="190" y="172"/>
                      </a:lnTo>
                      <a:lnTo>
                        <a:pt x="247" y="178"/>
                      </a:lnTo>
                      <a:lnTo>
                        <a:pt x="310" y="179"/>
                      </a:lnTo>
                      <a:lnTo>
                        <a:pt x="373" y="178"/>
                      </a:lnTo>
                      <a:lnTo>
                        <a:pt x="432" y="172"/>
                      </a:lnTo>
                      <a:lnTo>
                        <a:pt x="484" y="164"/>
                      </a:lnTo>
                      <a:lnTo>
                        <a:pt x="509" y="158"/>
                      </a:lnTo>
                      <a:lnTo>
                        <a:pt x="530" y="153"/>
                      </a:lnTo>
                      <a:lnTo>
                        <a:pt x="550" y="147"/>
                      </a:lnTo>
                      <a:lnTo>
                        <a:pt x="568" y="139"/>
                      </a:lnTo>
                      <a:lnTo>
                        <a:pt x="584" y="132"/>
                      </a:lnTo>
                      <a:lnTo>
                        <a:pt x="597" y="124"/>
                      </a:lnTo>
                      <a:lnTo>
                        <a:pt x="607" y="115"/>
                      </a:lnTo>
                      <a:lnTo>
                        <a:pt x="615" y="107"/>
                      </a:lnTo>
                      <a:lnTo>
                        <a:pt x="620" y="98"/>
                      </a:lnTo>
                      <a:lnTo>
                        <a:pt x="622" y="89"/>
                      </a:lnTo>
                      <a:lnTo>
                        <a:pt x="620" y="80"/>
                      </a:lnTo>
                      <a:lnTo>
                        <a:pt x="615" y="71"/>
                      </a:lnTo>
                      <a:lnTo>
                        <a:pt x="607" y="62"/>
                      </a:lnTo>
                      <a:lnTo>
                        <a:pt x="597" y="55"/>
                      </a:lnTo>
                      <a:lnTo>
                        <a:pt x="584" y="46"/>
                      </a:lnTo>
                      <a:lnTo>
                        <a:pt x="568" y="40"/>
                      </a:lnTo>
                      <a:lnTo>
                        <a:pt x="550" y="32"/>
                      </a:lnTo>
                      <a:lnTo>
                        <a:pt x="530" y="27"/>
                      </a:lnTo>
                      <a:lnTo>
                        <a:pt x="509" y="21"/>
                      </a:lnTo>
                      <a:lnTo>
                        <a:pt x="484" y="15"/>
                      </a:lnTo>
                      <a:lnTo>
                        <a:pt x="432" y="7"/>
                      </a:lnTo>
                      <a:lnTo>
                        <a:pt x="373" y="1"/>
                      </a:lnTo>
                      <a:lnTo>
                        <a:pt x="310" y="0"/>
                      </a:lnTo>
                      <a:lnTo>
                        <a:pt x="247" y="1"/>
                      </a:lnTo>
                      <a:lnTo>
                        <a:pt x="190" y="7"/>
                      </a:lnTo>
                      <a:lnTo>
                        <a:pt x="138" y="15"/>
                      </a:lnTo>
                      <a:lnTo>
                        <a:pt x="113" y="21"/>
                      </a:lnTo>
                      <a:lnTo>
                        <a:pt x="92" y="27"/>
                      </a:lnTo>
                      <a:lnTo>
                        <a:pt x="72" y="32"/>
                      </a:lnTo>
                      <a:lnTo>
                        <a:pt x="54" y="40"/>
                      </a:lnTo>
                      <a:lnTo>
                        <a:pt x="38" y="46"/>
                      </a:lnTo>
                      <a:lnTo>
                        <a:pt x="25" y="55"/>
                      </a:lnTo>
                      <a:lnTo>
                        <a:pt x="15" y="62"/>
                      </a:lnTo>
                      <a:lnTo>
                        <a:pt x="7" y="71"/>
                      </a:lnTo>
                      <a:lnTo>
                        <a:pt x="2" y="80"/>
                      </a:lnTo>
                      <a:lnTo>
                        <a:pt x="0" y="89"/>
                      </a:lnTo>
                      <a:close/>
                    </a:path>
                  </a:pathLst>
                </a:custGeom>
                <a:solidFill>
                  <a:srgbClr val="32B3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65" name="Freeform 125"/>
                <p:cNvSpPr>
                  <a:spLocks/>
                </p:cNvSpPr>
                <p:nvPr/>
              </p:nvSpPr>
              <p:spPr bwMode="auto">
                <a:xfrm>
                  <a:off x="971" y="2903"/>
                  <a:ext cx="310" cy="358"/>
                </a:xfrm>
                <a:custGeom>
                  <a:avLst/>
                  <a:gdLst>
                    <a:gd name="T0" fmla="*/ 155 w 622"/>
                    <a:gd name="T1" fmla="*/ 0 h 716"/>
                    <a:gd name="T2" fmla="*/ 123 w 622"/>
                    <a:gd name="T3" fmla="*/ 1 h 716"/>
                    <a:gd name="T4" fmla="*/ 95 w 622"/>
                    <a:gd name="T5" fmla="*/ 4 h 716"/>
                    <a:gd name="T6" fmla="*/ 69 w 622"/>
                    <a:gd name="T7" fmla="*/ 8 h 716"/>
                    <a:gd name="T8" fmla="*/ 56 w 622"/>
                    <a:gd name="T9" fmla="*/ 11 h 716"/>
                    <a:gd name="T10" fmla="*/ 46 w 622"/>
                    <a:gd name="T11" fmla="*/ 14 h 716"/>
                    <a:gd name="T12" fmla="*/ 36 w 622"/>
                    <a:gd name="T13" fmla="*/ 16 h 716"/>
                    <a:gd name="T14" fmla="*/ 27 w 622"/>
                    <a:gd name="T15" fmla="*/ 20 h 716"/>
                    <a:gd name="T16" fmla="*/ 19 w 622"/>
                    <a:gd name="T17" fmla="*/ 23 h 716"/>
                    <a:gd name="T18" fmla="*/ 12 w 622"/>
                    <a:gd name="T19" fmla="*/ 28 h 716"/>
                    <a:gd name="T20" fmla="*/ 7 w 622"/>
                    <a:gd name="T21" fmla="*/ 31 h 716"/>
                    <a:gd name="T22" fmla="*/ 3 w 622"/>
                    <a:gd name="T23" fmla="*/ 36 h 716"/>
                    <a:gd name="T24" fmla="*/ 1 w 622"/>
                    <a:gd name="T25" fmla="*/ 40 h 716"/>
                    <a:gd name="T26" fmla="*/ 0 w 622"/>
                    <a:gd name="T27" fmla="*/ 45 h 716"/>
                    <a:gd name="T28" fmla="*/ 0 w 622"/>
                    <a:gd name="T29" fmla="*/ 314 h 716"/>
                    <a:gd name="T30" fmla="*/ 1 w 622"/>
                    <a:gd name="T31" fmla="*/ 318 h 716"/>
                    <a:gd name="T32" fmla="*/ 3 w 622"/>
                    <a:gd name="T33" fmla="*/ 323 h 716"/>
                    <a:gd name="T34" fmla="*/ 7 w 622"/>
                    <a:gd name="T35" fmla="*/ 327 h 716"/>
                    <a:gd name="T36" fmla="*/ 12 w 622"/>
                    <a:gd name="T37" fmla="*/ 331 h 716"/>
                    <a:gd name="T38" fmla="*/ 19 w 622"/>
                    <a:gd name="T39" fmla="*/ 335 h 716"/>
                    <a:gd name="T40" fmla="*/ 27 w 622"/>
                    <a:gd name="T41" fmla="*/ 339 h 716"/>
                    <a:gd name="T42" fmla="*/ 36 w 622"/>
                    <a:gd name="T43" fmla="*/ 342 h 716"/>
                    <a:gd name="T44" fmla="*/ 46 w 622"/>
                    <a:gd name="T45" fmla="*/ 345 h 716"/>
                    <a:gd name="T46" fmla="*/ 56 w 622"/>
                    <a:gd name="T47" fmla="*/ 348 h 716"/>
                    <a:gd name="T48" fmla="*/ 69 w 622"/>
                    <a:gd name="T49" fmla="*/ 351 h 716"/>
                    <a:gd name="T50" fmla="*/ 95 w 622"/>
                    <a:gd name="T51" fmla="*/ 354 h 716"/>
                    <a:gd name="T52" fmla="*/ 123 w 622"/>
                    <a:gd name="T53" fmla="*/ 357 h 716"/>
                    <a:gd name="T54" fmla="*/ 155 w 622"/>
                    <a:gd name="T55" fmla="*/ 358 h 716"/>
                    <a:gd name="T56" fmla="*/ 186 w 622"/>
                    <a:gd name="T57" fmla="*/ 357 h 716"/>
                    <a:gd name="T58" fmla="*/ 215 w 622"/>
                    <a:gd name="T59" fmla="*/ 354 h 716"/>
                    <a:gd name="T60" fmla="*/ 241 w 622"/>
                    <a:gd name="T61" fmla="*/ 351 h 716"/>
                    <a:gd name="T62" fmla="*/ 254 w 622"/>
                    <a:gd name="T63" fmla="*/ 348 h 716"/>
                    <a:gd name="T64" fmla="*/ 264 w 622"/>
                    <a:gd name="T65" fmla="*/ 345 h 716"/>
                    <a:gd name="T66" fmla="*/ 274 w 622"/>
                    <a:gd name="T67" fmla="*/ 342 h 716"/>
                    <a:gd name="T68" fmla="*/ 283 w 622"/>
                    <a:gd name="T69" fmla="*/ 339 h 716"/>
                    <a:gd name="T70" fmla="*/ 291 w 622"/>
                    <a:gd name="T71" fmla="*/ 335 h 716"/>
                    <a:gd name="T72" fmla="*/ 298 w 622"/>
                    <a:gd name="T73" fmla="*/ 331 h 716"/>
                    <a:gd name="T74" fmla="*/ 303 w 622"/>
                    <a:gd name="T75" fmla="*/ 327 h 716"/>
                    <a:gd name="T76" fmla="*/ 307 w 622"/>
                    <a:gd name="T77" fmla="*/ 323 h 716"/>
                    <a:gd name="T78" fmla="*/ 309 w 622"/>
                    <a:gd name="T79" fmla="*/ 318 h 716"/>
                    <a:gd name="T80" fmla="*/ 310 w 622"/>
                    <a:gd name="T81" fmla="*/ 314 h 716"/>
                    <a:gd name="T82" fmla="*/ 310 w 622"/>
                    <a:gd name="T83" fmla="*/ 45 h 716"/>
                    <a:gd name="T84" fmla="*/ 309 w 622"/>
                    <a:gd name="T85" fmla="*/ 40 h 716"/>
                    <a:gd name="T86" fmla="*/ 307 w 622"/>
                    <a:gd name="T87" fmla="*/ 36 h 716"/>
                    <a:gd name="T88" fmla="*/ 303 w 622"/>
                    <a:gd name="T89" fmla="*/ 31 h 716"/>
                    <a:gd name="T90" fmla="*/ 298 w 622"/>
                    <a:gd name="T91" fmla="*/ 28 h 716"/>
                    <a:gd name="T92" fmla="*/ 291 w 622"/>
                    <a:gd name="T93" fmla="*/ 23 h 716"/>
                    <a:gd name="T94" fmla="*/ 283 w 622"/>
                    <a:gd name="T95" fmla="*/ 20 h 716"/>
                    <a:gd name="T96" fmla="*/ 274 w 622"/>
                    <a:gd name="T97" fmla="*/ 16 h 716"/>
                    <a:gd name="T98" fmla="*/ 264 w 622"/>
                    <a:gd name="T99" fmla="*/ 14 h 716"/>
                    <a:gd name="T100" fmla="*/ 254 w 622"/>
                    <a:gd name="T101" fmla="*/ 11 h 716"/>
                    <a:gd name="T102" fmla="*/ 241 w 622"/>
                    <a:gd name="T103" fmla="*/ 8 h 716"/>
                    <a:gd name="T104" fmla="*/ 215 w 622"/>
                    <a:gd name="T105" fmla="*/ 4 h 716"/>
                    <a:gd name="T106" fmla="*/ 186 w 622"/>
                    <a:gd name="T107" fmla="*/ 1 h 716"/>
                    <a:gd name="T108" fmla="*/ 155 w 622"/>
                    <a:gd name="T109" fmla="*/ 0 h 71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6">
                      <a:moveTo>
                        <a:pt x="310" y="0"/>
                      </a:moveTo>
                      <a:lnTo>
                        <a:pt x="247" y="1"/>
                      </a:lnTo>
                      <a:lnTo>
                        <a:pt x="190" y="7"/>
                      </a:lnTo>
                      <a:lnTo>
                        <a:pt x="138" y="15"/>
                      </a:lnTo>
                      <a:lnTo>
                        <a:pt x="113" y="21"/>
                      </a:lnTo>
                      <a:lnTo>
                        <a:pt x="92" y="27"/>
                      </a:lnTo>
                      <a:lnTo>
                        <a:pt x="72" y="32"/>
                      </a:lnTo>
                      <a:lnTo>
                        <a:pt x="54" y="40"/>
                      </a:lnTo>
                      <a:lnTo>
                        <a:pt x="38" y="46"/>
                      </a:lnTo>
                      <a:lnTo>
                        <a:pt x="25" y="55"/>
                      </a:lnTo>
                      <a:lnTo>
                        <a:pt x="15" y="62"/>
                      </a:lnTo>
                      <a:lnTo>
                        <a:pt x="7" y="71"/>
                      </a:lnTo>
                      <a:lnTo>
                        <a:pt x="2" y="80"/>
                      </a:lnTo>
                      <a:lnTo>
                        <a:pt x="0" y="89"/>
                      </a:lnTo>
                      <a:lnTo>
                        <a:pt x="0" y="627"/>
                      </a:lnTo>
                      <a:lnTo>
                        <a:pt x="2" y="636"/>
                      </a:lnTo>
                      <a:lnTo>
                        <a:pt x="7" y="645"/>
                      </a:lnTo>
                      <a:lnTo>
                        <a:pt x="15" y="653"/>
                      </a:lnTo>
                      <a:lnTo>
                        <a:pt x="25" y="661"/>
                      </a:lnTo>
                      <a:lnTo>
                        <a:pt x="38" y="670"/>
                      </a:lnTo>
                      <a:lnTo>
                        <a:pt x="54" y="677"/>
                      </a:lnTo>
                      <a:lnTo>
                        <a:pt x="72" y="683"/>
                      </a:lnTo>
                      <a:lnTo>
                        <a:pt x="92" y="689"/>
                      </a:lnTo>
                      <a:lnTo>
                        <a:pt x="113" y="695"/>
                      </a:lnTo>
                      <a:lnTo>
                        <a:pt x="138" y="701"/>
                      </a:lnTo>
                      <a:lnTo>
                        <a:pt x="190" y="708"/>
                      </a:lnTo>
                      <a:lnTo>
                        <a:pt x="247" y="714"/>
                      </a:lnTo>
                      <a:lnTo>
                        <a:pt x="310" y="716"/>
                      </a:lnTo>
                      <a:lnTo>
                        <a:pt x="373" y="714"/>
                      </a:lnTo>
                      <a:lnTo>
                        <a:pt x="432" y="708"/>
                      </a:lnTo>
                      <a:lnTo>
                        <a:pt x="484" y="701"/>
                      </a:lnTo>
                      <a:lnTo>
                        <a:pt x="509" y="695"/>
                      </a:lnTo>
                      <a:lnTo>
                        <a:pt x="530" y="689"/>
                      </a:lnTo>
                      <a:lnTo>
                        <a:pt x="550" y="683"/>
                      </a:lnTo>
                      <a:lnTo>
                        <a:pt x="568" y="677"/>
                      </a:lnTo>
                      <a:lnTo>
                        <a:pt x="584" y="670"/>
                      </a:lnTo>
                      <a:lnTo>
                        <a:pt x="597" y="661"/>
                      </a:lnTo>
                      <a:lnTo>
                        <a:pt x="607" y="653"/>
                      </a:lnTo>
                      <a:lnTo>
                        <a:pt x="615" y="645"/>
                      </a:lnTo>
                      <a:lnTo>
                        <a:pt x="620" y="636"/>
                      </a:lnTo>
                      <a:lnTo>
                        <a:pt x="622" y="627"/>
                      </a:lnTo>
                      <a:lnTo>
                        <a:pt x="622" y="89"/>
                      </a:lnTo>
                      <a:lnTo>
                        <a:pt x="620" y="80"/>
                      </a:lnTo>
                      <a:lnTo>
                        <a:pt x="615" y="71"/>
                      </a:lnTo>
                      <a:lnTo>
                        <a:pt x="607" y="62"/>
                      </a:lnTo>
                      <a:lnTo>
                        <a:pt x="597" y="55"/>
                      </a:lnTo>
                      <a:lnTo>
                        <a:pt x="584" y="46"/>
                      </a:lnTo>
                      <a:lnTo>
                        <a:pt x="568" y="40"/>
                      </a:lnTo>
                      <a:lnTo>
                        <a:pt x="550" y="32"/>
                      </a:lnTo>
                      <a:lnTo>
                        <a:pt x="530" y="27"/>
                      </a:lnTo>
                      <a:lnTo>
                        <a:pt x="509" y="21"/>
                      </a:lnTo>
                      <a:lnTo>
                        <a:pt x="484" y="15"/>
                      </a:lnTo>
                      <a:lnTo>
                        <a:pt x="432" y="7"/>
                      </a:lnTo>
                      <a:lnTo>
                        <a:pt x="373" y="1"/>
                      </a:lnTo>
                      <a:lnTo>
                        <a:pt x="310" y="0"/>
                      </a:lnTo>
                      <a:close/>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sp>
              <p:nvSpPr>
                <p:cNvPr id="166" name="Freeform 126"/>
                <p:cNvSpPr>
                  <a:spLocks/>
                </p:cNvSpPr>
                <p:nvPr/>
              </p:nvSpPr>
              <p:spPr bwMode="auto">
                <a:xfrm>
                  <a:off x="971" y="2948"/>
                  <a:ext cx="310" cy="45"/>
                </a:xfrm>
                <a:custGeom>
                  <a:avLst/>
                  <a:gdLst>
                    <a:gd name="T0" fmla="*/ 0 w 622"/>
                    <a:gd name="T1" fmla="*/ 0 h 90"/>
                    <a:gd name="T2" fmla="*/ 1 w 622"/>
                    <a:gd name="T3" fmla="*/ 5 h 90"/>
                    <a:gd name="T4" fmla="*/ 3 w 622"/>
                    <a:gd name="T5" fmla="*/ 9 h 90"/>
                    <a:gd name="T6" fmla="*/ 7 w 622"/>
                    <a:gd name="T7" fmla="*/ 13 h 90"/>
                    <a:gd name="T8" fmla="*/ 12 w 622"/>
                    <a:gd name="T9" fmla="*/ 18 h 90"/>
                    <a:gd name="T10" fmla="*/ 19 w 622"/>
                    <a:gd name="T11" fmla="*/ 22 h 90"/>
                    <a:gd name="T12" fmla="*/ 27 w 622"/>
                    <a:gd name="T13" fmla="*/ 25 h 90"/>
                    <a:gd name="T14" fmla="*/ 36 w 622"/>
                    <a:gd name="T15" fmla="*/ 29 h 90"/>
                    <a:gd name="T16" fmla="*/ 46 w 622"/>
                    <a:gd name="T17" fmla="*/ 32 h 90"/>
                    <a:gd name="T18" fmla="*/ 56 w 622"/>
                    <a:gd name="T19" fmla="*/ 35 h 90"/>
                    <a:gd name="T20" fmla="*/ 69 w 622"/>
                    <a:gd name="T21" fmla="*/ 38 h 90"/>
                    <a:gd name="T22" fmla="*/ 95 w 622"/>
                    <a:gd name="T23" fmla="*/ 42 h 90"/>
                    <a:gd name="T24" fmla="*/ 123 w 622"/>
                    <a:gd name="T25" fmla="*/ 45 h 90"/>
                    <a:gd name="T26" fmla="*/ 155 w 622"/>
                    <a:gd name="T27" fmla="*/ 45 h 90"/>
                    <a:gd name="T28" fmla="*/ 186 w 622"/>
                    <a:gd name="T29" fmla="*/ 45 h 90"/>
                    <a:gd name="T30" fmla="*/ 215 w 622"/>
                    <a:gd name="T31" fmla="*/ 42 h 90"/>
                    <a:gd name="T32" fmla="*/ 241 w 622"/>
                    <a:gd name="T33" fmla="*/ 38 h 90"/>
                    <a:gd name="T34" fmla="*/ 254 w 622"/>
                    <a:gd name="T35" fmla="*/ 35 h 90"/>
                    <a:gd name="T36" fmla="*/ 264 w 622"/>
                    <a:gd name="T37" fmla="*/ 32 h 90"/>
                    <a:gd name="T38" fmla="*/ 274 w 622"/>
                    <a:gd name="T39" fmla="*/ 29 h 90"/>
                    <a:gd name="T40" fmla="*/ 283 w 622"/>
                    <a:gd name="T41" fmla="*/ 25 h 90"/>
                    <a:gd name="T42" fmla="*/ 291 w 622"/>
                    <a:gd name="T43" fmla="*/ 22 h 90"/>
                    <a:gd name="T44" fmla="*/ 298 w 622"/>
                    <a:gd name="T45" fmla="*/ 18 h 90"/>
                    <a:gd name="T46" fmla="*/ 303 w 622"/>
                    <a:gd name="T47" fmla="*/ 13 h 90"/>
                    <a:gd name="T48" fmla="*/ 307 w 622"/>
                    <a:gd name="T49" fmla="*/ 9 h 90"/>
                    <a:gd name="T50" fmla="*/ 309 w 622"/>
                    <a:gd name="T51" fmla="*/ 5 h 90"/>
                    <a:gd name="T52" fmla="*/ 310 w 622"/>
                    <a:gd name="T53" fmla="*/ 0 h 9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22" h="90">
                      <a:moveTo>
                        <a:pt x="0" y="0"/>
                      </a:moveTo>
                      <a:lnTo>
                        <a:pt x="2" y="9"/>
                      </a:lnTo>
                      <a:lnTo>
                        <a:pt x="7" y="18"/>
                      </a:lnTo>
                      <a:lnTo>
                        <a:pt x="15" y="26"/>
                      </a:lnTo>
                      <a:lnTo>
                        <a:pt x="25" y="35"/>
                      </a:lnTo>
                      <a:lnTo>
                        <a:pt x="38" y="43"/>
                      </a:lnTo>
                      <a:lnTo>
                        <a:pt x="54" y="50"/>
                      </a:lnTo>
                      <a:lnTo>
                        <a:pt x="72" y="58"/>
                      </a:lnTo>
                      <a:lnTo>
                        <a:pt x="92" y="64"/>
                      </a:lnTo>
                      <a:lnTo>
                        <a:pt x="113" y="69"/>
                      </a:lnTo>
                      <a:lnTo>
                        <a:pt x="138" y="75"/>
                      </a:lnTo>
                      <a:lnTo>
                        <a:pt x="190" y="83"/>
                      </a:lnTo>
                      <a:lnTo>
                        <a:pt x="247" y="89"/>
                      </a:lnTo>
                      <a:lnTo>
                        <a:pt x="310" y="90"/>
                      </a:lnTo>
                      <a:lnTo>
                        <a:pt x="373" y="89"/>
                      </a:lnTo>
                      <a:lnTo>
                        <a:pt x="432" y="83"/>
                      </a:lnTo>
                      <a:lnTo>
                        <a:pt x="484" y="75"/>
                      </a:lnTo>
                      <a:lnTo>
                        <a:pt x="509" y="69"/>
                      </a:lnTo>
                      <a:lnTo>
                        <a:pt x="530" y="64"/>
                      </a:lnTo>
                      <a:lnTo>
                        <a:pt x="550" y="58"/>
                      </a:lnTo>
                      <a:lnTo>
                        <a:pt x="568" y="50"/>
                      </a:lnTo>
                      <a:lnTo>
                        <a:pt x="584" y="43"/>
                      </a:lnTo>
                      <a:lnTo>
                        <a:pt x="597" y="35"/>
                      </a:lnTo>
                      <a:lnTo>
                        <a:pt x="607" y="26"/>
                      </a:lnTo>
                      <a:lnTo>
                        <a:pt x="615" y="18"/>
                      </a:lnTo>
                      <a:lnTo>
                        <a:pt x="620" y="9"/>
                      </a:lnTo>
                      <a:lnTo>
                        <a:pt x="622"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grpSp>
          <p:grpSp>
            <p:nvGrpSpPr>
              <p:cNvPr id="156" name="Group 127"/>
              <p:cNvGrpSpPr>
                <a:grpSpLocks/>
              </p:cNvGrpSpPr>
              <p:nvPr/>
            </p:nvGrpSpPr>
            <p:grpSpPr bwMode="auto">
              <a:xfrm>
                <a:off x="1023" y="2948"/>
                <a:ext cx="310" cy="359"/>
                <a:chOff x="1023" y="2948"/>
                <a:chExt cx="310" cy="359"/>
              </a:xfrm>
            </p:grpSpPr>
            <p:sp>
              <p:nvSpPr>
                <p:cNvPr id="159" name="Freeform 128"/>
                <p:cNvSpPr>
                  <a:spLocks/>
                </p:cNvSpPr>
                <p:nvPr/>
              </p:nvSpPr>
              <p:spPr bwMode="auto">
                <a:xfrm>
                  <a:off x="1023" y="2948"/>
                  <a:ext cx="310" cy="359"/>
                </a:xfrm>
                <a:custGeom>
                  <a:avLst/>
                  <a:gdLst>
                    <a:gd name="T0" fmla="*/ 155 w 622"/>
                    <a:gd name="T1" fmla="*/ 0 h 717"/>
                    <a:gd name="T2" fmla="*/ 123 w 622"/>
                    <a:gd name="T3" fmla="*/ 1 h 717"/>
                    <a:gd name="T4" fmla="*/ 95 w 622"/>
                    <a:gd name="T5" fmla="*/ 4 h 717"/>
                    <a:gd name="T6" fmla="*/ 69 w 622"/>
                    <a:gd name="T7" fmla="*/ 8 h 717"/>
                    <a:gd name="T8" fmla="*/ 56 w 622"/>
                    <a:gd name="T9" fmla="*/ 11 h 717"/>
                    <a:gd name="T10" fmla="*/ 45 w 622"/>
                    <a:gd name="T11" fmla="*/ 13 h 717"/>
                    <a:gd name="T12" fmla="*/ 36 w 622"/>
                    <a:gd name="T13" fmla="*/ 16 h 717"/>
                    <a:gd name="T14" fmla="*/ 27 w 622"/>
                    <a:gd name="T15" fmla="*/ 20 h 717"/>
                    <a:gd name="T16" fmla="*/ 19 w 622"/>
                    <a:gd name="T17" fmla="*/ 23 h 717"/>
                    <a:gd name="T18" fmla="*/ 12 w 622"/>
                    <a:gd name="T19" fmla="*/ 28 h 717"/>
                    <a:gd name="T20" fmla="*/ 7 w 622"/>
                    <a:gd name="T21" fmla="*/ 31 h 717"/>
                    <a:gd name="T22" fmla="*/ 3 w 622"/>
                    <a:gd name="T23" fmla="*/ 36 h 717"/>
                    <a:gd name="T24" fmla="*/ 1 w 622"/>
                    <a:gd name="T25" fmla="*/ 40 h 717"/>
                    <a:gd name="T26" fmla="*/ 0 w 622"/>
                    <a:gd name="T27" fmla="*/ 45 h 717"/>
                    <a:gd name="T28" fmla="*/ 0 w 622"/>
                    <a:gd name="T29" fmla="*/ 314 h 717"/>
                    <a:gd name="T30" fmla="*/ 1 w 622"/>
                    <a:gd name="T31" fmla="*/ 318 h 717"/>
                    <a:gd name="T32" fmla="*/ 3 w 622"/>
                    <a:gd name="T33" fmla="*/ 322 h 717"/>
                    <a:gd name="T34" fmla="*/ 7 w 622"/>
                    <a:gd name="T35" fmla="*/ 327 h 717"/>
                    <a:gd name="T36" fmla="*/ 12 w 622"/>
                    <a:gd name="T37" fmla="*/ 331 h 717"/>
                    <a:gd name="T38" fmla="*/ 19 w 622"/>
                    <a:gd name="T39" fmla="*/ 335 h 717"/>
                    <a:gd name="T40" fmla="*/ 27 w 622"/>
                    <a:gd name="T41" fmla="*/ 339 h 717"/>
                    <a:gd name="T42" fmla="*/ 36 w 622"/>
                    <a:gd name="T43" fmla="*/ 342 h 717"/>
                    <a:gd name="T44" fmla="*/ 45 w 622"/>
                    <a:gd name="T45" fmla="*/ 345 h 717"/>
                    <a:gd name="T46" fmla="*/ 56 w 622"/>
                    <a:gd name="T47" fmla="*/ 348 h 717"/>
                    <a:gd name="T48" fmla="*/ 69 w 622"/>
                    <a:gd name="T49" fmla="*/ 351 h 717"/>
                    <a:gd name="T50" fmla="*/ 95 w 622"/>
                    <a:gd name="T51" fmla="*/ 355 h 717"/>
                    <a:gd name="T52" fmla="*/ 123 w 622"/>
                    <a:gd name="T53" fmla="*/ 358 h 717"/>
                    <a:gd name="T54" fmla="*/ 155 w 622"/>
                    <a:gd name="T55" fmla="*/ 359 h 717"/>
                    <a:gd name="T56" fmla="*/ 186 w 622"/>
                    <a:gd name="T57" fmla="*/ 358 h 717"/>
                    <a:gd name="T58" fmla="*/ 215 w 622"/>
                    <a:gd name="T59" fmla="*/ 355 h 717"/>
                    <a:gd name="T60" fmla="*/ 241 w 622"/>
                    <a:gd name="T61" fmla="*/ 351 h 717"/>
                    <a:gd name="T62" fmla="*/ 254 w 622"/>
                    <a:gd name="T63" fmla="*/ 348 h 717"/>
                    <a:gd name="T64" fmla="*/ 264 w 622"/>
                    <a:gd name="T65" fmla="*/ 345 h 717"/>
                    <a:gd name="T66" fmla="*/ 274 w 622"/>
                    <a:gd name="T67" fmla="*/ 342 h 717"/>
                    <a:gd name="T68" fmla="*/ 283 w 622"/>
                    <a:gd name="T69" fmla="*/ 339 h 717"/>
                    <a:gd name="T70" fmla="*/ 291 w 622"/>
                    <a:gd name="T71" fmla="*/ 335 h 717"/>
                    <a:gd name="T72" fmla="*/ 298 w 622"/>
                    <a:gd name="T73" fmla="*/ 331 h 717"/>
                    <a:gd name="T74" fmla="*/ 303 w 622"/>
                    <a:gd name="T75" fmla="*/ 327 h 717"/>
                    <a:gd name="T76" fmla="*/ 307 w 622"/>
                    <a:gd name="T77" fmla="*/ 322 h 717"/>
                    <a:gd name="T78" fmla="*/ 309 w 622"/>
                    <a:gd name="T79" fmla="*/ 318 h 717"/>
                    <a:gd name="T80" fmla="*/ 310 w 622"/>
                    <a:gd name="T81" fmla="*/ 314 h 717"/>
                    <a:gd name="T82" fmla="*/ 310 w 622"/>
                    <a:gd name="T83" fmla="*/ 45 h 717"/>
                    <a:gd name="T84" fmla="*/ 309 w 622"/>
                    <a:gd name="T85" fmla="*/ 40 h 717"/>
                    <a:gd name="T86" fmla="*/ 307 w 622"/>
                    <a:gd name="T87" fmla="*/ 36 h 717"/>
                    <a:gd name="T88" fmla="*/ 303 w 622"/>
                    <a:gd name="T89" fmla="*/ 31 h 717"/>
                    <a:gd name="T90" fmla="*/ 298 w 622"/>
                    <a:gd name="T91" fmla="*/ 28 h 717"/>
                    <a:gd name="T92" fmla="*/ 291 w 622"/>
                    <a:gd name="T93" fmla="*/ 23 h 717"/>
                    <a:gd name="T94" fmla="*/ 283 w 622"/>
                    <a:gd name="T95" fmla="*/ 20 h 717"/>
                    <a:gd name="T96" fmla="*/ 274 w 622"/>
                    <a:gd name="T97" fmla="*/ 16 h 717"/>
                    <a:gd name="T98" fmla="*/ 264 w 622"/>
                    <a:gd name="T99" fmla="*/ 13 h 717"/>
                    <a:gd name="T100" fmla="*/ 254 w 622"/>
                    <a:gd name="T101" fmla="*/ 11 h 717"/>
                    <a:gd name="T102" fmla="*/ 241 w 622"/>
                    <a:gd name="T103" fmla="*/ 8 h 717"/>
                    <a:gd name="T104" fmla="*/ 215 w 622"/>
                    <a:gd name="T105" fmla="*/ 4 h 717"/>
                    <a:gd name="T106" fmla="*/ 186 w 622"/>
                    <a:gd name="T107" fmla="*/ 1 h 717"/>
                    <a:gd name="T108" fmla="*/ 155 w 622"/>
                    <a:gd name="T109" fmla="*/ 0 h 71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7">
                      <a:moveTo>
                        <a:pt x="310" y="0"/>
                      </a:moveTo>
                      <a:lnTo>
                        <a:pt x="247" y="1"/>
                      </a:lnTo>
                      <a:lnTo>
                        <a:pt x="190" y="7"/>
                      </a:lnTo>
                      <a:lnTo>
                        <a:pt x="138" y="15"/>
                      </a:lnTo>
                      <a:lnTo>
                        <a:pt x="113" y="21"/>
                      </a:lnTo>
                      <a:lnTo>
                        <a:pt x="91" y="26"/>
                      </a:lnTo>
                      <a:lnTo>
                        <a:pt x="72" y="32"/>
                      </a:lnTo>
                      <a:lnTo>
                        <a:pt x="54" y="40"/>
                      </a:lnTo>
                      <a:lnTo>
                        <a:pt x="38" y="46"/>
                      </a:lnTo>
                      <a:lnTo>
                        <a:pt x="25" y="55"/>
                      </a:lnTo>
                      <a:lnTo>
                        <a:pt x="14" y="62"/>
                      </a:lnTo>
                      <a:lnTo>
                        <a:pt x="7" y="71"/>
                      </a:lnTo>
                      <a:lnTo>
                        <a:pt x="2" y="80"/>
                      </a:lnTo>
                      <a:lnTo>
                        <a:pt x="0" y="89"/>
                      </a:lnTo>
                      <a:lnTo>
                        <a:pt x="0" y="627"/>
                      </a:lnTo>
                      <a:lnTo>
                        <a:pt x="2" y="636"/>
                      </a:lnTo>
                      <a:lnTo>
                        <a:pt x="7" y="644"/>
                      </a:lnTo>
                      <a:lnTo>
                        <a:pt x="14" y="653"/>
                      </a:lnTo>
                      <a:lnTo>
                        <a:pt x="25" y="662"/>
                      </a:lnTo>
                      <a:lnTo>
                        <a:pt x="38" y="670"/>
                      </a:lnTo>
                      <a:lnTo>
                        <a:pt x="54" y="677"/>
                      </a:lnTo>
                      <a:lnTo>
                        <a:pt x="72" y="684"/>
                      </a:lnTo>
                      <a:lnTo>
                        <a:pt x="91" y="690"/>
                      </a:lnTo>
                      <a:lnTo>
                        <a:pt x="113" y="696"/>
                      </a:lnTo>
                      <a:lnTo>
                        <a:pt x="138" y="702"/>
                      </a:lnTo>
                      <a:lnTo>
                        <a:pt x="190" y="710"/>
                      </a:lnTo>
                      <a:lnTo>
                        <a:pt x="247" y="716"/>
                      </a:lnTo>
                      <a:lnTo>
                        <a:pt x="310" y="717"/>
                      </a:lnTo>
                      <a:lnTo>
                        <a:pt x="373" y="716"/>
                      </a:lnTo>
                      <a:lnTo>
                        <a:pt x="432" y="710"/>
                      </a:lnTo>
                      <a:lnTo>
                        <a:pt x="484" y="702"/>
                      </a:lnTo>
                      <a:lnTo>
                        <a:pt x="509" y="696"/>
                      </a:lnTo>
                      <a:lnTo>
                        <a:pt x="530" y="690"/>
                      </a:lnTo>
                      <a:lnTo>
                        <a:pt x="550" y="684"/>
                      </a:lnTo>
                      <a:lnTo>
                        <a:pt x="568" y="677"/>
                      </a:lnTo>
                      <a:lnTo>
                        <a:pt x="584" y="670"/>
                      </a:lnTo>
                      <a:lnTo>
                        <a:pt x="597" y="662"/>
                      </a:lnTo>
                      <a:lnTo>
                        <a:pt x="607" y="653"/>
                      </a:lnTo>
                      <a:lnTo>
                        <a:pt x="615" y="644"/>
                      </a:lnTo>
                      <a:lnTo>
                        <a:pt x="620" y="636"/>
                      </a:lnTo>
                      <a:lnTo>
                        <a:pt x="622" y="627"/>
                      </a:lnTo>
                      <a:lnTo>
                        <a:pt x="622" y="89"/>
                      </a:lnTo>
                      <a:lnTo>
                        <a:pt x="620" y="80"/>
                      </a:lnTo>
                      <a:lnTo>
                        <a:pt x="615" y="71"/>
                      </a:lnTo>
                      <a:lnTo>
                        <a:pt x="607" y="62"/>
                      </a:lnTo>
                      <a:lnTo>
                        <a:pt x="597" y="55"/>
                      </a:lnTo>
                      <a:lnTo>
                        <a:pt x="584" y="46"/>
                      </a:lnTo>
                      <a:lnTo>
                        <a:pt x="568" y="40"/>
                      </a:lnTo>
                      <a:lnTo>
                        <a:pt x="550" y="32"/>
                      </a:lnTo>
                      <a:lnTo>
                        <a:pt x="530" y="26"/>
                      </a:lnTo>
                      <a:lnTo>
                        <a:pt x="509" y="21"/>
                      </a:lnTo>
                      <a:lnTo>
                        <a:pt x="484" y="15"/>
                      </a:lnTo>
                      <a:lnTo>
                        <a:pt x="432" y="7"/>
                      </a:lnTo>
                      <a:lnTo>
                        <a:pt x="373" y="1"/>
                      </a:lnTo>
                      <a:lnTo>
                        <a:pt x="310" y="0"/>
                      </a:lnTo>
                      <a:close/>
                    </a:path>
                  </a:pathLst>
                </a:custGeom>
                <a:solidFill>
                  <a:srgbClr val="00A0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60" name="Freeform 129"/>
                <p:cNvSpPr>
                  <a:spLocks/>
                </p:cNvSpPr>
                <p:nvPr/>
              </p:nvSpPr>
              <p:spPr bwMode="auto">
                <a:xfrm>
                  <a:off x="1023" y="2948"/>
                  <a:ext cx="310" cy="90"/>
                </a:xfrm>
                <a:custGeom>
                  <a:avLst/>
                  <a:gdLst>
                    <a:gd name="T0" fmla="*/ 0 w 622"/>
                    <a:gd name="T1" fmla="*/ 45 h 179"/>
                    <a:gd name="T2" fmla="*/ 1 w 622"/>
                    <a:gd name="T3" fmla="*/ 49 h 179"/>
                    <a:gd name="T4" fmla="*/ 3 w 622"/>
                    <a:gd name="T5" fmla="*/ 53 h 179"/>
                    <a:gd name="T6" fmla="*/ 7 w 622"/>
                    <a:gd name="T7" fmla="*/ 58 h 179"/>
                    <a:gd name="T8" fmla="*/ 12 w 622"/>
                    <a:gd name="T9" fmla="*/ 62 h 179"/>
                    <a:gd name="T10" fmla="*/ 19 w 622"/>
                    <a:gd name="T11" fmla="*/ 66 h 179"/>
                    <a:gd name="T12" fmla="*/ 27 w 622"/>
                    <a:gd name="T13" fmla="*/ 70 h 179"/>
                    <a:gd name="T14" fmla="*/ 36 w 622"/>
                    <a:gd name="T15" fmla="*/ 74 h 179"/>
                    <a:gd name="T16" fmla="*/ 45 w 622"/>
                    <a:gd name="T17" fmla="*/ 76 h 179"/>
                    <a:gd name="T18" fmla="*/ 56 w 622"/>
                    <a:gd name="T19" fmla="*/ 79 h 179"/>
                    <a:gd name="T20" fmla="*/ 69 w 622"/>
                    <a:gd name="T21" fmla="*/ 82 h 179"/>
                    <a:gd name="T22" fmla="*/ 95 w 622"/>
                    <a:gd name="T23" fmla="*/ 86 h 179"/>
                    <a:gd name="T24" fmla="*/ 123 w 622"/>
                    <a:gd name="T25" fmla="*/ 89 h 179"/>
                    <a:gd name="T26" fmla="*/ 155 w 622"/>
                    <a:gd name="T27" fmla="*/ 90 h 179"/>
                    <a:gd name="T28" fmla="*/ 186 w 622"/>
                    <a:gd name="T29" fmla="*/ 89 h 179"/>
                    <a:gd name="T30" fmla="*/ 215 w 622"/>
                    <a:gd name="T31" fmla="*/ 86 h 179"/>
                    <a:gd name="T32" fmla="*/ 241 w 622"/>
                    <a:gd name="T33" fmla="*/ 82 h 179"/>
                    <a:gd name="T34" fmla="*/ 254 w 622"/>
                    <a:gd name="T35" fmla="*/ 79 h 179"/>
                    <a:gd name="T36" fmla="*/ 264 w 622"/>
                    <a:gd name="T37" fmla="*/ 76 h 179"/>
                    <a:gd name="T38" fmla="*/ 274 w 622"/>
                    <a:gd name="T39" fmla="*/ 74 h 179"/>
                    <a:gd name="T40" fmla="*/ 283 w 622"/>
                    <a:gd name="T41" fmla="*/ 70 h 179"/>
                    <a:gd name="T42" fmla="*/ 291 w 622"/>
                    <a:gd name="T43" fmla="*/ 66 h 179"/>
                    <a:gd name="T44" fmla="*/ 298 w 622"/>
                    <a:gd name="T45" fmla="*/ 62 h 179"/>
                    <a:gd name="T46" fmla="*/ 303 w 622"/>
                    <a:gd name="T47" fmla="*/ 58 h 179"/>
                    <a:gd name="T48" fmla="*/ 307 w 622"/>
                    <a:gd name="T49" fmla="*/ 53 h 179"/>
                    <a:gd name="T50" fmla="*/ 309 w 622"/>
                    <a:gd name="T51" fmla="*/ 49 h 179"/>
                    <a:gd name="T52" fmla="*/ 310 w 622"/>
                    <a:gd name="T53" fmla="*/ 45 h 179"/>
                    <a:gd name="T54" fmla="*/ 309 w 622"/>
                    <a:gd name="T55" fmla="*/ 40 h 179"/>
                    <a:gd name="T56" fmla="*/ 307 w 622"/>
                    <a:gd name="T57" fmla="*/ 36 h 179"/>
                    <a:gd name="T58" fmla="*/ 303 w 622"/>
                    <a:gd name="T59" fmla="*/ 31 h 179"/>
                    <a:gd name="T60" fmla="*/ 298 w 622"/>
                    <a:gd name="T61" fmla="*/ 28 h 179"/>
                    <a:gd name="T62" fmla="*/ 291 w 622"/>
                    <a:gd name="T63" fmla="*/ 23 h 179"/>
                    <a:gd name="T64" fmla="*/ 283 w 622"/>
                    <a:gd name="T65" fmla="*/ 20 h 179"/>
                    <a:gd name="T66" fmla="*/ 274 w 622"/>
                    <a:gd name="T67" fmla="*/ 16 h 179"/>
                    <a:gd name="T68" fmla="*/ 264 w 622"/>
                    <a:gd name="T69" fmla="*/ 13 h 179"/>
                    <a:gd name="T70" fmla="*/ 254 w 622"/>
                    <a:gd name="T71" fmla="*/ 11 h 179"/>
                    <a:gd name="T72" fmla="*/ 241 w 622"/>
                    <a:gd name="T73" fmla="*/ 8 h 179"/>
                    <a:gd name="T74" fmla="*/ 215 w 622"/>
                    <a:gd name="T75" fmla="*/ 4 h 179"/>
                    <a:gd name="T76" fmla="*/ 186 w 622"/>
                    <a:gd name="T77" fmla="*/ 1 h 179"/>
                    <a:gd name="T78" fmla="*/ 155 w 622"/>
                    <a:gd name="T79" fmla="*/ 0 h 179"/>
                    <a:gd name="T80" fmla="*/ 123 w 622"/>
                    <a:gd name="T81" fmla="*/ 1 h 179"/>
                    <a:gd name="T82" fmla="*/ 95 w 622"/>
                    <a:gd name="T83" fmla="*/ 4 h 179"/>
                    <a:gd name="T84" fmla="*/ 69 w 622"/>
                    <a:gd name="T85" fmla="*/ 8 h 179"/>
                    <a:gd name="T86" fmla="*/ 56 w 622"/>
                    <a:gd name="T87" fmla="*/ 11 h 179"/>
                    <a:gd name="T88" fmla="*/ 45 w 622"/>
                    <a:gd name="T89" fmla="*/ 13 h 179"/>
                    <a:gd name="T90" fmla="*/ 36 w 622"/>
                    <a:gd name="T91" fmla="*/ 16 h 179"/>
                    <a:gd name="T92" fmla="*/ 27 w 622"/>
                    <a:gd name="T93" fmla="*/ 20 h 179"/>
                    <a:gd name="T94" fmla="*/ 19 w 622"/>
                    <a:gd name="T95" fmla="*/ 23 h 179"/>
                    <a:gd name="T96" fmla="*/ 12 w 622"/>
                    <a:gd name="T97" fmla="*/ 28 h 179"/>
                    <a:gd name="T98" fmla="*/ 7 w 622"/>
                    <a:gd name="T99" fmla="*/ 31 h 179"/>
                    <a:gd name="T100" fmla="*/ 3 w 622"/>
                    <a:gd name="T101" fmla="*/ 36 h 179"/>
                    <a:gd name="T102" fmla="*/ 1 w 622"/>
                    <a:gd name="T103" fmla="*/ 40 h 179"/>
                    <a:gd name="T104" fmla="*/ 0 w 622"/>
                    <a:gd name="T105" fmla="*/ 45 h 17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22" h="179">
                      <a:moveTo>
                        <a:pt x="0" y="89"/>
                      </a:moveTo>
                      <a:lnTo>
                        <a:pt x="2" y="98"/>
                      </a:lnTo>
                      <a:lnTo>
                        <a:pt x="7" y="106"/>
                      </a:lnTo>
                      <a:lnTo>
                        <a:pt x="14" y="115"/>
                      </a:lnTo>
                      <a:lnTo>
                        <a:pt x="25" y="124"/>
                      </a:lnTo>
                      <a:lnTo>
                        <a:pt x="38" y="132"/>
                      </a:lnTo>
                      <a:lnTo>
                        <a:pt x="54" y="139"/>
                      </a:lnTo>
                      <a:lnTo>
                        <a:pt x="72" y="147"/>
                      </a:lnTo>
                      <a:lnTo>
                        <a:pt x="91" y="152"/>
                      </a:lnTo>
                      <a:lnTo>
                        <a:pt x="113" y="158"/>
                      </a:lnTo>
                      <a:lnTo>
                        <a:pt x="138" y="164"/>
                      </a:lnTo>
                      <a:lnTo>
                        <a:pt x="190" y="172"/>
                      </a:lnTo>
                      <a:lnTo>
                        <a:pt x="247" y="178"/>
                      </a:lnTo>
                      <a:lnTo>
                        <a:pt x="310" y="179"/>
                      </a:lnTo>
                      <a:lnTo>
                        <a:pt x="373" y="178"/>
                      </a:lnTo>
                      <a:lnTo>
                        <a:pt x="432" y="172"/>
                      </a:lnTo>
                      <a:lnTo>
                        <a:pt x="484" y="164"/>
                      </a:lnTo>
                      <a:lnTo>
                        <a:pt x="509" y="158"/>
                      </a:lnTo>
                      <a:lnTo>
                        <a:pt x="530" y="152"/>
                      </a:lnTo>
                      <a:lnTo>
                        <a:pt x="550" y="147"/>
                      </a:lnTo>
                      <a:lnTo>
                        <a:pt x="568" y="139"/>
                      </a:lnTo>
                      <a:lnTo>
                        <a:pt x="584" y="132"/>
                      </a:lnTo>
                      <a:lnTo>
                        <a:pt x="597" y="124"/>
                      </a:lnTo>
                      <a:lnTo>
                        <a:pt x="607" y="115"/>
                      </a:lnTo>
                      <a:lnTo>
                        <a:pt x="615" y="106"/>
                      </a:lnTo>
                      <a:lnTo>
                        <a:pt x="620" y="98"/>
                      </a:lnTo>
                      <a:lnTo>
                        <a:pt x="622" y="89"/>
                      </a:lnTo>
                      <a:lnTo>
                        <a:pt x="620" y="80"/>
                      </a:lnTo>
                      <a:lnTo>
                        <a:pt x="615" y="71"/>
                      </a:lnTo>
                      <a:lnTo>
                        <a:pt x="607" y="62"/>
                      </a:lnTo>
                      <a:lnTo>
                        <a:pt x="597" y="55"/>
                      </a:lnTo>
                      <a:lnTo>
                        <a:pt x="584" y="46"/>
                      </a:lnTo>
                      <a:lnTo>
                        <a:pt x="568" y="40"/>
                      </a:lnTo>
                      <a:lnTo>
                        <a:pt x="550" y="32"/>
                      </a:lnTo>
                      <a:lnTo>
                        <a:pt x="530" y="26"/>
                      </a:lnTo>
                      <a:lnTo>
                        <a:pt x="509" y="21"/>
                      </a:lnTo>
                      <a:lnTo>
                        <a:pt x="484" y="15"/>
                      </a:lnTo>
                      <a:lnTo>
                        <a:pt x="432" y="7"/>
                      </a:lnTo>
                      <a:lnTo>
                        <a:pt x="373" y="1"/>
                      </a:lnTo>
                      <a:lnTo>
                        <a:pt x="310" y="0"/>
                      </a:lnTo>
                      <a:lnTo>
                        <a:pt x="247" y="1"/>
                      </a:lnTo>
                      <a:lnTo>
                        <a:pt x="190" y="7"/>
                      </a:lnTo>
                      <a:lnTo>
                        <a:pt x="138" y="15"/>
                      </a:lnTo>
                      <a:lnTo>
                        <a:pt x="113" y="21"/>
                      </a:lnTo>
                      <a:lnTo>
                        <a:pt x="91" y="26"/>
                      </a:lnTo>
                      <a:lnTo>
                        <a:pt x="72" y="32"/>
                      </a:lnTo>
                      <a:lnTo>
                        <a:pt x="54" y="40"/>
                      </a:lnTo>
                      <a:lnTo>
                        <a:pt x="38" y="46"/>
                      </a:lnTo>
                      <a:lnTo>
                        <a:pt x="25" y="55"/>
                      </a:lnTo>
                      <a:lnTo>
                        <a:pt x="14" y="62"/>
                      </a:lnTo>
                      <a:lnTo>
                        <a:pt x="7" y="71"/>
                      </a:lnTo>
                      <a:lnTo>
                        <a:pt x="2" y="80"/>
                      </a:lnTo>
                      <a:lnTo>
                        <a:pt x="0" y="89"/>
                      </a:lnTo>
                      <a:close/>
                    </a:path>
                  </a:pathLst>
                </a:custGeom>
                <a:solidFill>
                  <a:srgbClr val="32B3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61" name="Freeform 130"/>
                <p:cNvSpPr>
                  <a:spLocks/>
                </p:cNvSpPr>
                <p:nvPr/>
              </p:nvSpPr>
              <p:spPr bwMode="auto">
                <a:xfrm>
                  <a:off x="1023" y="2948"/>
                  <a:ext cx="310" cy="359"/>
                </a:xfrm>
                <a:custGeom>
                  <a:avLst/>
                  <a:gdLst>
                    <a:gd name="T0" fmla="*/ 155 w 622"/>
                    <a:gd name="T1" fmla="*/ 0 h 717"/>
                    <a:gd name="T2" fmla="*/ 123 w 622"/>
                    <a:gd name="T3" fmla="*/ 1 h 717"/>
                    <a:gd name="T4" fmla="*/ 95 w 622"/>
                    <a:gd name="T5" fmla="*/ 4 h 717"/>
                    <a:gd name="T6" fmla="*/ 69 w 622"/>
                    <a:gd name="T7" fmla="*/ 8 h 717"/>
                    <a:gd name="T8" fmla="*/ 56 w 622"/>
                    <a:gd name="T9" fmla="*/ 11 h 717"/>
                    <a:gd name="T10" fmla="*/ 45 w 622"/>
                    <a:gd name="T11" fmla="*/ 13 h 717"/>
                    <a:gd name="T12" fmla="*/ 36 w 622"/>
                    <a:gd name="T13" fmla="*/ 16 h 717"/>
                    <a:gd name="T14" fmla="*/ 27 w 622"/>
                    <a:gd name="T15" fmla="*/ 20 h 717"/>
                    <a:gd name="T16" fmla="*/ 19 w 622"/>
                    <a:gd name="T17" fmla="*/ 23 h 717"/>
                    <a:gd name="T18" fmla="*/ 12 w 622"/>
                    <a:gd name="T19" fmla="*/ 28 h 717"/>
                    <a:gd name="T20" fmla="*/ 7 w 622"/>
                    <a:gd name="T21" fmla="*/ 31 h 717"/>
                    <a:gd name="T22" fmla="*/ 3 w 622"/>
                    <a:gd name="T23" fmla="*/ 36 h 717"/>
                    <a:gd name="T24" fmla="*/ 1 w 622"/>
                    <a:gd name="T25" fmla="*/ 40 h 717"/>
                    <a:gd name="T26" fmla="*/ 0 w 622"/>
                    <a:gd name="T27" fmla="*/ 45 h 717"/>
                    <a:gd name="T28" fmla="*/ 0 w 622"/>
                    <a:gd name="T29" fmla="*/ 314 h 717"/>
                    <a:gd name="T30" fmla="*/ 1 w 622"/>
                    <a:gd name="T31" fmla="*/ 318 h 717"/>
                    <a:gd name="T32" fmla="*/ 3 w 622"/>
                    <a:gd name="T33" fmla="*/ 322 h 717"/>
                    <a:gd name="T34" fmla="*/ 7 w 622"/>
                    <a:gd name="T35" fmla="*/ 327 h 717"/>
                    <a:gd name="T36" fmla="*/ 12 w 622"/>
                    <a:gd name="T37" fmla="*/ 331 h 717"/>
                    <a:gd name="T38" fmla="*/ 19 w 622"/>
                    <a:gd name="T39" fmla="*/ 335 h 717"/>
                    <a:gd name="T40" fmla="*/ 27 w 622"/>
                    <a:gd name="T41" fmla="*/ 339 h 717"/>
                    <a:gd name="T42" fmla="*/ 36 w 622"/>
                    <a:gd name="T43" fmla="*/ 342 h 717"/>
                    <a:gd name="T44" fmla="*/ 45 w 622"/>
                    <a:gd name="T45" fmla="*/ 345 h 717"/>
                    <a:gd name="T46" fmla="*/ 56 w 622"/>
                    <a:gd name="T47" fmla="*/ 348 h 717"/>
                    <a:gd name="T48" fmla="*/ 69 w 622"/>
                    <a:gd name="T49" fmla="*/ 351 h 717"/>
                    <a:gd name="T50" fmla="*/ 95 w 622"/>
                    <a:gd name="T51" fmla="*/ 355 h 717"/>
                    <a:gd name="T52" fmla="*/ 123 w 622"/>
                    <a:gd name="T53" fmla="*/ 358 h 717"/>
                    <a:gd name="T54" fmla="*/ 155 w 622"/>
                    <a:gd name="T55" fmla="*/ 359 h 717"/>
                    <a:gd name="T56" fmla="*/ 186 w 622"/>
                    <a:gd name="T57" fmla="*/ 358 h 717"/>
                    <a:gd name="T58" fmla="*/ 215 w 622"/>
                    <a:gd name="T59" fmla="*/ 355 h 717"/>
                    <a:gd name="T60" fmla="*/ 241 w 622"/>
                    <a:gd name="T61" fmla="*/ 351 h 717"/>
                    <a:gd name="T62" fmla="*/ 254 w 622"/>
                    <a:gd name="T63" fmla="*/ 348 h 717"/>
                    <a:gd name="T64" fmla="*/ 264 w 622"/>
                    <a:gd name="T65" fmla="*/ 345 h 717"/>
                    <a:gd name="T66" fmla="*/ 274 w 622"/>
                    <a:gd name="T67" fmla="*/ 342 h 717"/>
                    <a:gd name="T68" fmla="*/ 283 w 622"/>
                    <a:gd name="T69" fmla="*/ 339 h 717"/>
                    <a:gd name="T70" fmla="*/ 291 w 622"/>
                    <a:gd name="T71" fmla="*/ 335 h 717"/>
                    <a:gd name="T72" fmla="*/ 298 w 622"/>
                    <a:gd name="T73" fmla="*/ 331 h 717"/>
                    <a:gd name="T74" fmla="*/ 303 w 622"/>
                    <a:gd name="T75" fmla="*/ 327 h 717"/>
                    <a:gd name="T76" fmla="*/ 307 w 622"/>
                    <a:gd name="T77" fmla="*/ 322 h 717"/>
                    <a:gd name="T78" fmla="*/ 309 w 622"/>
                    <a:gd name="T79" fmla="*/ 318 h 717"/>
                    <a:gd name="T80" fmla="*/ 310 w 622"/>
                    <a:gd name="T81" fmla="*/ 314 h 717"/>
                    <a:gd name="T82" fmla="*/ 310 w 622"/>
                    <a:gd name="T83" fmla="*/ 45 h 717"/>
                    <a:gd name="T84" fmla="*/ 309 w 622"/>
                    <a:gd name="T85" fmla="*/ 40 h 717"/>
                    <a:gd name="T86" fmla="*/ 307 w 622"/>
                    <a:gd name="T87" fmla="*/ 36 h 717"/>
                    <a:gd name="T88" fmla="*/ 303 w 622"/>
                    <a:gd name="T89" fmla="*/ 31 h 717"/>
                    <a:gd name="T90" fmla="*/ 298 w 622"/>
                    <a:gd name="T91" fmla="*/ 28 h 717"/>
                    <a:gd name="T92" fmla="*/ 291 w 622"/>
                    <a:gd name="T93" fmla="*/ 23 h 717"/>
                    <a:gd name="T94" fmla="*/ 283 w 622"/>
                    <a:gd name="T95" fmla="*/ 20 h 717"/>
                    <a:gd name="T96" fmla="*/ 274 w 622"/>
                    <a:gd name="T97" fmla="*/ 16 h 717"/>
                    <a:gd name="T98" fmla="*/ 264 w 622"/>
                    <a:gd name="T99" fmla="*/ 13 h 717"/>
                    <a:gd name="T100" fmla="*/ 254 w 622"/>
                    <a:gd name="T101" fmla="*/ 11 h 717"/>
                    <a:gd name="T102" fmla="*/ 241 w 622"/>
                    <a:gd name="T103" fmla="*/ 8 h 717"/>
                    <a:gd name="T104" fmla="*/ 215 w 622"/>
                    <a:gd name="T105" fmla="*/ 4 h 717"/>
                    <a:gd name="T106" fmla="*/ 186 w 622"/>
                    <a:gd name="T107" fmla="*/ 1 h 717"/>
                    <a:gd name="T108" fmla="*/ 155 w 622"/>
                    <a:gd name="T109" fmla="*/ 0 h 71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7">
                      <a:moveTo>
                        <a:pt x="310" y="0"/>
                      </a:moveTo>
                      <a:lnTo>
                        <a:pt x="247" y="1"/>
                      </a:lnTo>
                      <a:lnTo>
                        <a:pt x="190" y="7"/>
                      </a:lnTo>
                      <a:lnTo>
                        <a:pt x="138" y="15"/>
                      </a:lnTo>
                      <a:lnTo>
                        <a:pt x="113" y="21"/>
                      </a:lnTo>
                      <a:lnTo>
                        <a:pt x="91" y="26"/>
                      </a:lnTo>
                      <a:lnTo>
                        <a:pt x="72" y="32"/>
                      </a:lnTo>
                      <a:lnTo>
                        <a:pt x="54" y="40"/>
                      </a:lnTo>
                      <a:lnTo>
                        <a:pt x="38" y="46"/>
                      </a:lnTo>
                      <a:lnTo>
                        <a:pt x="25" y="55"/>
                      </a:lnTo>
                      <a:lnTo>
                        <a:pt x="14" y="62"/>
                      </a:lnTo>
                      <a:lnTo>
                        <a:pt x="7" y="71"/>
                      </a:lnTo>
                      <a:lnTo>
                        <a:pt x="2" y="80"/>
                      </a:lnTo>
                      <a:lnTo>
                        <a:pt x="0" y="89"/>
                      </a:lnTo>
                      <a:lnTo>
                        <a:pt x="0" y="627"/>
                      </a:lnTo>
                      <a:lnTo>
                        <a:pt x="2" y="636"/>
                      </a:lnTo>
                      <a:lnTo>
                        <a:pt x="7" y="644"/>
                      </a:lnTo>
                      <a:lnTo>
                        <a:pt x="14" y="653"/>
                      </a:lnTo>
                      <a:lnTo>
                        <a:pt x="25" y="662"/>
                      </a:lnTo>
                      <a:lnTo>
                        <a:pt x="38" y="670"/>
                      </a:lnTo>
                      <a:lnTo>
                        <a:pt x="54" y="677"/>
                      </a:lnTo>
                      <a:lnTo>
                        <a:pt x="72" y="684"/>
                      </a:lnTo>
                      <a:lnTo>
                        <a:pt x="91" y="690"/>
                      </a:lnTo>
                      <a:lnTo>
                        <a:pt x="113" y="696"/>
                      </a:lnTo>
                      <a:lnTo>
                        <a:pt x="138" y="702"/>
                      </a:lnTo>
                      <a:lnTo>
                        <a:pt x="190" y="710"/>
                      </a:lnTo>
                      <a:lnTo>
                        <a:pt x="247" y="716"/>
                      </a:lnTo>
                      <a:lnTo>
                        <a:pt x="310" y="717"/>
                      </a:lnTo>
                      <a:lnTo>
                        <a:pt x="373" y="716"/>
                      </a:lnTo>
                      <a:lnTo>
                        <a:pt x="432" y="710"/>
                      </a:lnTo>
                      <a:lnTo>
                        <a:pt x="484" y="702"/>
                      </a:lnTo>
                      <a:lnTo>
                        <a:pt x="509" y="696"/>
                      </a:lnTo>
                      <a:lnTo>
                        <a:pt x="530" y="690"/>
                      </a:lnTo>
                      <a:lnTo>
                        <a:pt x="550" y="684"/>
                      </a:lnTo>
                      <a:lnTo>
                        <a:pt x="568" y="677"/>
                      </a:lnTo>
                      <a:lnTo>
                        <a:pt x="584" y="670"/>
                      </a:lnTo>
                      <a:lnTo>
                        <a:pt x="597" y="662"/>
                      </a:lnTo>
                      <a:lnTo>
                        <a:pt x="607" y="653"/>
                      </a:lnTo>
                      <a:lnTo>
                        <a:pt x="615" y="644"/>
                      </a:lnTo>
                      <a:lnTo>
                        <a:pt x="620" y="636"/>
                      </a:lnTo>
                      <a:lnTo>
                        <a:pt x="622" y="627"/>
                      </a:lnTo>
                      <a:lnTo>
                        <a:pt x="622" y="89"/>
                      </a:lnTo>
                      <a:lnTo>
                        <a:pt x="620" y="80"/>
                      </a:lnTo>
                      <a:lnTo>
                        <a:pt x="615" y="71"/>
                      </a:lnTo>
                      <a:lnTo>
                        <a:pt x="607" y="62"/>
                      </a:lnTo>
                      <a:lnTo>
                        <a:pt x="597" y="55"/>
                      </a:lnTo>
                      <a:lnTo>
                        <a:pt x="584" y="46"/>
                      </a:lnTo>
                      <a:lnTo>
                        <a:pt x="568" y="40"/>
                      </a:lnTo>
                      <a:lnTo>
                        <a:pt x="550" y="32"/>
                      </a:lnTo>
                      <a:lnTo>
                        <a:pt x="530" y="26"/>
                      </a:lnTo>
                      <a:lnTo>
                        <a:pt x="509" y="21"/>
                      </a:lnTo>
                      <a:lnTo>
                        <a:pt x="484" y="15"/>
                      </a:lnTo>
                      <a:lnTo>
                        <a:pt x="432" y="7"/>
                      </a:lnTo>
                      <a:lnTo>
                        <a:pt x="373" y="1"/>
                      </a:lnTo>
                      <a:lnTo>
                        <a:pt x="310" y="0"/>
                      </a:lnTo>
                      <a:close/>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sp>
              <p:nvSpPr>
                <p:cNvPr id="162" name="Freeform 131"/>
                <p:cNvSpPr>
                  <a:spLocks/>
                </p:cNvSpPr>
                <p:nvPr/>
              </p:nvSpPr>
              <p:spPr bwMode="auto">
                <a:xfrm>
                  <a:off x="1023" y="2992"/>
                  <a:ext cx="310" cy="46"/>
                </a:xfrm>
                <a:custGeom>
                  <a:avLst/>
                  <a:gdLst>
                    <a:gd name="T0" fmla="*/ 0 w 622"/>
                    <a:gd name="T1" fmla="*/ 0 h 90"/>
                    <a:gd name="T2" fmla="*/ 1 w 622"/>
                    <a:gd name="T3" fmla="*/ 5 h 90"/>
                    <a:gd name="T4" fmla="*/ 3 w 622"/>
                    <a:gd name="T5" fmla="*/ 9 h 90"/>
                    <a:gd name="T6" fmla="*/ 7 w 622"/>
                    <a:gd name="T7" fmla="*/ 13 h 90"/>
                    <a:gd name="T8" fmla="*/ 12 w 622"/>
                    <a:gd name="T9" fmla="*/ 18 h 90"/>
                    <a:gd name="T10" fmla="*/ 19 w 622"/>
                    <a:gd name="T11" fmla="*/ 22 h 90"/>
                    <a:gd name="T12" fmla="*/ 27 w 622"/>
                    <a:gd name="T13" fmla="*/ 26 h 90"/>
                    <a:gd name="T14" fmla="*/ 36 w 622"/>
                    <a:gd name="T15" fmla="*/ 30 h 90"/>
                    <a:gd name="T16" fmla="*/ 45 w 622"/>
                    <a:gd name="T17" fmla="*/ 32 h 90"/>
                    <a:gd name="T18" fmla="*/ 56 w 622"/>
                    <a:gd name="T19" fmla="*/ 35 h 90"/>
                    <a:gd name="T20" fmla="*/ 69 w 622"/>
                    <a:gd name="T21" fmla="*/ 38 h 90"/>
                    <a:gd name="T22" fmla="*/ 95 w 622"/>
                    <a:gd name="T23" fmla="*/ 42 h 90"/>
                    <a:gd name="T24" fmla="*/ 123 w 622"/>
                    <a:gd name="T25" fmla="*/ 45 h 90"/>
                    <a:gd name="T26" fmla="*/ 155 w 622"/>
                    <a:gd name="T27" fmla="*/ 46 h 90"/>
                    <a:gd name="T28" fmla="*/ 186 w 622"/>
                    <a:gd name="T29" fmla="*/ 45 h 90"/>
                    <a:gd name="T30" fmla="*/ 215 w 622"/>
                    <a:gd name="T31" fmla="*/ 42 h 90"/>
                    <a:gd name="T32" fmla="*/ 241 w 622"/>
                    <a:gd name="T33" fmla="*/ 38 h 90"/>
                    <a:gd name="T34" fmla="*/ 254 w 622"/>
                    <a:gd name="T35" fmla="*/ 35 h 90"/>
                    <a:gd name="T36" fmla="*/ 264 w 622"/>
                    <a:gd name="T37" fmla="*/ 32 h 90"/>
                    <a:gd name="T38" fmla="*/ 274 w 622"/>
                    <a:gd name="T39" fmla="*/ 30 h 90"/>
                    <a:gd name="T40" fmla="*/ 283 w 622"/>
                    <a:gd name="T41" fmla="*/ 26 h 90"/>
                    <a:gd name="T42" fmla="*/ 291 w 622"/>
                    <a:gd name="T43" fmla="*/ 22 h 90"/>
                    <a:gd name="T44" fmla="*/ 298 w 622"/>
                    <a:gd name="T45" fmla="*/ 18 h 90"/>
                    <a:gd name="T46" fmla="*/ 303 w 622"/>
                    <a:gd name="T47" fmla="*/ 13 h 90"/>
                    <a:gd name="T48" fmla="*/ 307 w 622"/>
                    <a:gd name="T49" fmla="*/ 9 h 90"/>
                    <a:gd name="T50" fmla="*/ 309 w 622"/>
                    <a:gd name="T51" fmla="*/ 5 h 90"/>
                    <a:gd name="T52" fmla="*/ 310 w 622"/>
                    <a:gd name="T53" fmla="*/ 0 h 9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22" h="90">
                      <a:moveTo>
                        <a:pt x="0" y="0"/>
                      </a:moveTo>
                      <a:lnTo>
                        <a:pt x="2" y="9"/>
                      </a:lnTo>
                      <a:lnTo>
                        <a:pt x="7" y="17"/>
                      </a:lnTo>
                      <a:lnTo>
                        <a:pt x="14" y="26"/>
                      </a:lnTo>
                      <a:lnTo>
                        <a:pt x="25" y="35"/>
                      </a:lnTo>
                      <a:lnTo>
                        <a:pt x="38" y="43"/>
                      </a:lnTo>
                      <a:lnTo>
                        <a:pt x="54" y="50"/>
                      </a:lnTo>
                      <a:lnTo>
                        <a:pt x="72" y="58"/>
                      </a:lnTo>
                      <a:lnTo>
                        <a:pt x="91" y="63"/>
                      </a:lnTo>
                      <a:lnTo>
                        <a:pt x="113" y="69"/>
                      </a:lnTo>
                      <a:lnTo>
                        <a:pt x="138" y="75"/>
                      </a:lnTo>
                      <a:lnTo>
                        <a:pt x="190" y="83"/>
                      </a:lnTo>
                      <a:lnTo>
                        <a:pt x="247" y="89"/>
                      </a:lnTo>
                      <a:lnTo>
                        <a:pt x="310" y="90"/>
                      </a:lnTo>
                      <a:lnTo>
                        <a:pt x="373" y="89"/>
                      </a:lnTo>
                      <a:lnTo>
                        <a:pt x="432" y="83"/>
                      </a:lnTo>
                      <a:lnTo>
                        <a:pt x="484" y="75"/>
                      </a:lnTo>
                      <a:lnTo>
                        <a:pt x="509" y="69"/>
                      </a:lnTo>
                      <a:lnTo>
                        <a:pt x="530" y="63"/>
                      </a:lnTo>
                      <a:lnTo>
                        <a:pt x="550" y="58"/>
                      </a:lnTo>
                      <a:lnTo>
                        <a:pt x="568" y="50"/>
                      </a:lnTo>
                      <a:lnTo>
                        <a:pt x="584" y="43"/>
                      </a:lnTo>
                      <a:lnTo>
                        <a:pt x="597" y="35"/>
                      </a:lnTo>
                      <a:lnTo>
                        <a:pt x="607" y="26"/>
                      </a:lnTo>
                      <a:lnTo>
                        <a:pt x="615" y="17"/>
                      </a:lnTo>
                      <a:lnTo>
                        <a:pt x="620" y="9"/>
                      </a:lnTo>
                      <a:lnTo>
                        <a:pt x="622"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grpSp>
          <p:sp>
            <p:nvSpPr>
              <p:cNvPr id="157" name="Rectangle 132"/>
              <p:cNvSpPr>
                <a:spLocks noChangeArrowheads="1"/>
              </p:cNvSpPr>
              <p:nvPr/>
            </p:nvSpPr>
            <p:spPr bwMode="auto">
              <a:xfrm>
                <a:off x="1125" y="3026"/>
                <a:ext cx="191"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buClrTx/>
                  <a:buFontTx/>
                  <a:buNone/>
                </a:pPr>
                <a:r>
                  <a:rPr lang="en-US" sz="1400">
                    <a:solidFill>
                      <a:srgbClr val="000000"/>
                    </a:solidFill>
                    <a:latin typeface="Times New Roman" pitchFamily="18" charset="0"/>
                    <a:cs typeface="Times New Roman" pitchFamily="18" charset="0"/>
                  </a:rPr>
                  <a:t>base</a:t>
                </a:r>
                <a:endParaRPr lang="en-US" sz="2800">
                  <a:latin typeface="Times New Roman" pitchFamily="18" charset="0"/>
                  <a:cs typeface="Times New Roman" pitchFamily="18" charset="0"/>
                </a:endParaRPr>
              </a:p>
            </p:txBody>
          </p:sp>
          <p:sp>
            <p:nvSpPr>
              <p:cNvPr id="158" name="Rectangle 133"/>
              <p:cNvSpPr>
                <a:spLocks noChangeArrowheads="1"/>
              </p:cNvSpPr>
              <p:nvPr/>
            </p:nvSpPr>
            <p:spPr bwMode="auto">
              <a:xfrm>
                <a:off x="1099" y="3155"/>
                <a:ext cx="250"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buClrTx/>
                  <a:buFontTx/>
                  <a:buNone/>
                </a:pPr>
                <a:r>
                  <a:rPr lang="en-US" sz="1400">
                    <a:solidFill>
                      <a:srgbClr val="000000"/>
                    </a:solidFill>
                    <a:latin typeface="Times New Roman" pitchFamily="18" charset="0"/>
                    <a:cs typeface="Times New Roman" pitchFamily="18" charset="0"/>
                  </a:rPr>
                  <a:t>tables</a:t>
                </a:r>
                <a:endParaRPr lang="en-US" sz="2800">
                  <a:latin typeface="Times New Roman" pitchFamily="18" charset="0"/>
                  <a:cs typeface="Times New Roman" pitchFamily="18" charset="0"/>
                </a:endParaRPr>
              </a:p>
            </p:txBody>
          </p:sp>
        </p:grpSp>
        <p:grpSp>
          <p:nvGrpSpPr>
            <p:cNvPr id="110" name="Group 134"/>
            <p:cNvGrpSpPr>
              <a:grpSpLocks/>
            </p:cNvGrpSpPr>
            <p:nvPr/>
          </p:nvGrpSpPr>
          <p:grpSpPr bwMode="auto">
            <a:xfrm>
              <a:off x="867" y="2813"/>
              <a:ext cx="311" cy="359"/>
              <a:chOff x="867" y="2813"/>
              <a:chExt cx="311" cy="359"/>
            </a:xfrm>
          </p:grpSpPr>
          <p:sp>
            <p:nvSpPr>
              <p:cNvPr id="149" name="Freeform 135"/>
              <p:cNvSpPr>
                <a:spLocks/>
              </p:cNvSpPr>
              <p:nvPr/>
            </p:nvSpPr>
            <p:spPr bwMode="auto">
              <a:xfrm>
                <a:off x="867" y="2813"/>
                <a:ext cx="311" cy="359"/>
              </a:xfrm>
              <a:custGeom>
                <a:avLst/>
                <a:gdLst>
                  <a:gd name="T0" fmla="*/ 155 w 622"/>
                  <a:gd name="T1" fmla="*/ 0 h 717"/>
                  <a:gd name="T2" fmla="*/ 124 w 622"/>
                  <a:gd name="T3" fmla="*/ 1 h 717"/>
                  <a:gd name="T4" fmla="*/ 95 w 622"/>
                  <a:gd name="T5" fmla="*/ 4 h 717"/>
                  <a:gd name="T6" fmla="*/ 69 w 622"/>
                  <a:gd name="T7" fmla="*/ 8 h 717"/>
                  <a:gd name="T8" fmla="*/ 57 w 622"/>
                  <a:gd name="T9" fmla="*/ 11 h 717"/>
                  <a:gd name="T10" fmla="*/ 46 w 622"/>
                  <a:gd name="T11" fmla="*/ 14 h 717"/>
                  <a:gd name="T12" fmla="*/ 36 w 622"/>
                  <a:gd name="T13" fmla="*/ 17 h 717"/>
                  <a:gd name="T14" fmla="*/ 27 w 622"/>
                  <a:gd name="T15" fmla="*/ 20 h 717"/>
                  <a:gd name="T16" fmla="*/ 19 w 622"/>
                  <a:gd name="T17" fmla="*/ 23 h 717"/>
                  <a:gd name="T18" fmla="*/ 13 w 622"/>
                  <a:gd name="T19" fmla="*/ 28 h 717"/>
                  <a:gd name="T20" fmla="*/ 8 w 622"/>
                  <a:gd name="T21" fmla="*/ 31 h 717"/>
                  <a:gd name="T22" fmla="*/ 4 w 622"/>
                  <a:gd name="T23" fmla="*/ 36 h 717"/>
                  <a:gd name="T24" fmla="*/ 1 w 622"/>
                  <a:gd name="T25" fmla="*/ 40 h 717"/>
                  <a:gd name="T26" fmla="*/ 0 w 622"/>
                  <a:gd name="T27" fmla="*/ 45 h 717"/>
                  <a:gd name="T28" fmla="*/ 0 w 622"/>
                  <a:gd name="T29" fmla="*/ 314 h 717"/>
                  <a:gd name="T30" fmla="*/ 1 w 622"/>
                  <a:gd name="T31" fmla="*/ 318 h 717"/>
                  <a:gd name="T32" fmla="*/ 4 w 622"/>
                  <a:gd name="T33" fmla="*/ 323 h 717"/>
                  <a:gd name="T34" fmla="*/ 8 w 622"/>
                  <a:gd name="T35" fmla="*/ 327 h 717"/>
                  <a:gd name="T36" fmla="*/ 13 w 622"/>
                  <a:gd name="T37" fmla="*/ 332 h 717"/>
                  <a:gd name="T38" fmla="*/ 19 w 622"/>
                  <a:gd name="T39" fmla="*/ 335 h 717"/>
                  <a:gd name="T40" fmla="*/ 27 w 622"/>
                  <a:gd name="T41" fmla="*/ 339 h 717"/>
                  <a:gd name="T42" fmla="*/ 36 w 622"/>
                  <a:gd name="T43" fmla="*/ 343 h 717"/>
                  <a:gd name="T44" fmla="*/ 46 w 622"/>
                  <a:gd name="T45" fmla="*/ 346 h 717"/>
                  <a:gd name="T46" fmla="*/ 57 w 622"/>
                  <a:gd name="T47" fmla="*/ 349 h 717"/>
                  <a:gd name="T48" fmla="*/ 69 w 622"/>
                  <a:gd name="T49" fmla="*/ 352 h 717"/>
                  <a:gd name="T50" fmla="*/ 95 w 622"/>
                  <a:gd name="T51" fmla="*/ 355 h 717"/>
                  <a:gd name="T52" fmla="*/ 124 w 622"/>
                  <a:gd name="T53" fmla="*/ 358 h 717"/>
                  <a:gd name="T54" fmla="*/ 155 w 622"/>
                  <a:gd name="T55" fmla="*/ 359 h 717"/>
                  <a:gd name="T56" fmla="*/ 187 w 622"/>
                  <a:gd name="T57" fmla="*/ 358 h 717"/>
                  <a:gd name="T58" fmla="*/ 216 w 622"/>
                  <a:gd name="T59" fmla="*/ 355 h 717"/>
                  <a:gd name="T60" fmla="*/ 242 w 622"/>
                  <a:gd name="T61" fmla="*/ 352 h 717"/>
                  <a:gd name="T62" fmla="*/ 255 w 622"/>
                  <a:gd name="T63" fmla="*/ 349 h 717"/>
                  <a:gd name="T64" fmla="*/ 266 w 622"/>
                  <a:gd name="T65" fmla="*/ 346 h 717"/>
                  <a:gd name="T66" fmla="*/ 275 w 622"/>
                  <a:gd name="T67" fmla="*/ 343 h 717"/>
                  <a:gd name="T68" fmla="*/ 284 w 622"/>
                  <a:gd name="T69" fmla="*/ 339 h 717"/>
                  <a:gd name="T70" fmla="*/ 292 w 622"/>
                  <a:gd name="T71" fmla="*/ 335 h 717"/>
                  <a:gd name="T72" fmla="*/ 299 w 622"/>
                  <a:gd name="T73" fmla="*/ 332 h 717"/>
                  <a:gd name="T74" fmla="*/ 304 w 622"/>
                  <a:gd name="T75" fmla="*/ 327 h 717"/>
                  <a:gd name="T76" fmla="*/ 308 w 622"/>
                  <a:gd name="T77" fmla="*/ 323 h 717"/>
                  <a:gd name="T78" fmla="*/ 310 w 622"/>
                  <a:gd name="T79" fmla="*/ 318 h 717"/>
                  <a:gd name="T80" fmla="*/ 311 w 622"/>
                  <a:gd name="T81" fmla="*/ 314 h 717"/>
                  <a:gd name="T82" fmla="*/ 311 w 622"/>
                  <a:gd name="T83" fmla="*/ 45 h 717"/>
                  <a:gd name="T84" fmla="*/ 310 w 622"/>
                  <a:gd name="T85" fmla="*/ 40 h 717"/>
                  <a:gd name="T86" fmla="*/ 308 w 622"/>
                  <a:gd name="T87" fmla="*/ 36 h 717"/>
                  <a:gd name="T88" fmla="*/ 304 w 622"/>
                  <a:gd name="T89" fmla="*/ 31 h 717"/>
                  <a:gd name="T90" fmla="*/ 299 w 622"/>
                  <a:gd name="T91" fmla="*/ 28 h 717"/>
                  <a:gd name="T92" fmla="*/ 292 w 622"/>
                  <a:gd name="T93" fmla="*/ 23 h 717"/>
                  <a:gd name="T94" fmla="*/ 284 w 622"/>
                  <a:gd name="T95" fmla="*/ 20 h 717"/>
                  <a:gd name="T96" fmla="*/ 275 w 622"/>
                  <a:gd name="T97" fmla="*/ 17 h 717"/>
                  <a:gd name="T98" fmla="*/ 266 w 622"/>
                  <a:gd name="T99" fmla="*/ 14 h 717"/>
                  <a:gd name="T100" fmla="*/ 255 w 622"/>
                  <a:gd name="T101" fmla="*/ 11 h 717"/>
                  <a:gd name="T102" fmla="*/ 242 w 622"/>
                  <a:gd name="T103" fmla="*/ 8 h 717"/>
                  <a:gd name="T104" fmla="*/ 216 w 622"/>
                  <a:gd name="T105" fmla="*/ 4 h 717"/>
                  <a:gd name="T106" fmla="*/ 187 w 622"/>
                  <a:gd name="T107" fmla="*/ 1 h 717"/>
                  <a:gd name="T108" fmla="*/ 155 w 622"/>
                  <a:gd name="T109" fmla="*/ 0 h 71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7">
                    <a:moveTo>
                      <a:pt x="310" y="0"/>
                    </a:moveTo>
                    <a:lnTo>
                      <a:pt x="248" y="2"/>
                    </a:lnTo>
                    <a:lnTo>
                      <a:pt x="190" y="7"/>
                    </a:lnTo>
                    <a:lnTo>
                      <a:pt x="138" y="15"/>
                    </a:lnTo>
                    <a:lnTo>
                      <a:pt x="113" y="21"/>
                    </a:lnTo>
                    <a:lnTo>
                      <a:pt x="92" y="27"/>
                    </a:lnTo>
                    <a:lnTo>
                      <a:pt x="72" y="33"/>
                    </a:lnTo>
                    <a:lnTo>
                      <a:pt x="54" y="40"/>
                    </a:lnTo>
                    <a:lnTo>
                      <a:pt x="38" y="46"/>
                    </a:lnTo>
                    <a:lnTo>
                      <a:pt x="25" y="55"/>
                    </a:lnTo>
                    <a:lnTo>
                      <a:pt x="15" y="62"/>
                    </a:lnTo>
                    <a:lnTo>
                      <a:pt x="8" y="71"/>
                    </a:lnTo>
                    <a:lnTo>
                      <a:pt x="2" y="80"/>
                    </a:lnTo>
                    <a:lnTo>
                      <a:pt x="0" y="89"/>
                    </a:lnTo>
                    <a:lnTo>
                      <a:pt x="0" y="627"/>
                    </a:lnTo>
                    <a:lnTo>
                      <a:pt x="2" y="636"/>
                    </a:lnTo>
                    <a:lnTo>
                      <a:pt x="8" y="645"/>
                    </a:lnTo>
                    <a:lnTo>
                      <a:pt x="15" y="654"/>
                    </a:lnTo>
                    <a:lnTo>
                      <a:pt x="25" y="663"/>
                    </a:lnTo>
                    <a:lnTo>
                      <a:pt x="38" y="670"/>
                    </a:lnTo>
                    <a:lnTo>
                      <a:pt x="54" y="677"/>
                    </a:lnTo>
                    <a:lnTo>
                      <a:pt x="72" y="685"/>
                    </a:lnTo>
                    <a:lnTo>
                      <a:pt x="92" y="691"/>
                    </a:lnTo>
                    <a:lnTo>
                      <a:pt x="113" y="697"/>
                    </a:lnTo>
                    <a:lnTo>
                      <a:pt x="138" y="703"/>
                    </a:lnTo>
                    <a:lnTo>
                      <a:pt x="190" y="710"/>
                    </a:lnTo>
                    <a:lnTo>
                      <a:pt x="248" y="716"/>
                    </a:lnTo>
                    <a:lnTo>
                      <a:pt x="310" y="717"/>
                    </a:lnTo>
                    <a:lnTo>
                      <a:pt x="373" y="716"/>
                    </a:lnTo>
                    <a:lnTo>
                      <a:pt x="432" y="710"/>
                    </a:lnTo>
                    <a:lnTo>
                      <a:pt x="484" y="703"/>
                    </a:lnTo>
                    <a:lnTo>
                      <a:pt x="509" y="697"/>
                    </a:lnTo>
                    <a:lnTo>
                      <a:pt x="531" y="691"/>
                    </a:lnTo>
                    <a:lnTo>
                      <a:pt x="550" y="685"/>
                    </a:lnTo>
                    <a:lnTo>
                      <a:pt x="568" y="677"/>
                    </a:lnTo>
                    <a:lnTo>
                      <a:pt x="584" y="670"/>
                    </a:lnTo>
                    <a:lnTo>
                      <a:pt x="597" y="663"/>
                    </a:lnTo>
                    <a:lnTo>
                      <a:pt x="608" y="654"/>
                    </a:lnTo>
                    <a:lnTo>
                      <a:pt x="615" y="645"/>
                    </a:lnTo>
                    <a:lnTo>
                      <a:pt x="620" y="636"/>
                    </a:lnTo>
                    <a:lnTo>
                      <a:pt x="622" y="627"/>
                    </a:lnTo>
                    <a:lnTo>
                      <a:pt x="622" y="89"/>
                    </a:lnTo>
                    <a:lnTo>
                      <a:pt x="620" y="80"/>
                    </a:lnTo>
                    <a:lnTo>
                      <a:pt x="615" y="71"/>
                    </a:lnTo>
                    <a:lnTo>
                      <a:pt x="608" y="62"/>
                    </a:lnTo>
                    <a:lnTo>
                      <a:pt x="597" y="55"/>
                    </a:lnTo>
                    <a:lnTo>
                      <a:pt x="584" y="46"/>
                    </a:lnTo>
                    <a:lnTo>
                      <a:pt x="568" y="40"/>
                    </a:lnTo>
                    <a:lnTo>
                      <a:pt x="550" y="33"/>
                    </a:lnTo>
                    <a:lnTo>
                      <a:pt x="531" y="27"/>
                    </a:lnTo>
                    <a:lnTo>
                      <a:pt x="509" y="21"/>
                    </a:lnTo>
                    <a:lnTo>
                      <a:pt x="484" y="15"/>
                    </a:lnTo>
                    <a:lnTo>
                      <a:pt x="432" y="7"/>
                    </a:lnTo>
                    <a:lnTo>
                      <a:pt x="373" y="2"/>
                    </a:lnTo>
                    <a:lnTo>
                      <a:pt x="310" y="0"/>
                    </a:lnTo>
                    <a:close/>
                  </a:path>
                </a:pathLst>
              </a:custGeom>
              <a:solidFill>
                <a:srgbClr val="00A0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50" name="Freeform 136"/>
              <p:cNvSpPr>
                <a:spLocks/>
              </p:cNvSpPr>
              <p:nvPr/>
            </p:nvSpPr>
            <p:spPr bwMode="auto">
              <a:xfrm>
                <a:off x="867" y="2813"/>
                <a:ext cx="311" cy="90"/>
              </a:xfrm>
              <a:custGeom>
                <a:avLst/>
                <a:gdLst>
                  <a:gd name="T0" fmla="*/ 0 w 622"/>
                  <a:gd name="T1" fmla="*/ 45 h 179"/>
                  <a:gd name="T2" fmla="*/ 1 w 622"/>
                  <a:gd name="T3" fmla="*/ 49 h 179"/>
                  <a:gd name="T4" fmla="*/ 4 w 622"/>
                  <a:gd name="T5" fmla="*/ 54 h 179"/>
                  <a:gd name="T6" fmla="*/ 8 w 622"/>
                  <a:gd name="T7" fmla="*/ 58 h 179"/>
                  <a:gd name="T8" fmla="*/ 13 w 622"/>
                  <a:gd name="T9" fmla="*/ 63 h 179"/>
                  <a:gd name="T10" fmla="*/ 19 w 622"/>
                  <a:gd name="T11" fmla="*/ 66 h 179"/>
                  <a:gd name="T12" fmla="*/ 27 w 622"/>
                  <a:gd name="T13" fmla="*/ 70 h 179"/>
                  <a:gd name="T14" fmla="*/ 36 w 622"/>
                  <a:gd name="T15" fmla="*/ 74 h 179"/>
                  <a:gd name="T16" fmla="*/ 46 w 622"/>
                  <a:gd name="T17" fmla="*/ 77 h 179"/>
                  <a:gd name="T18" fmla="*/ 57 w 622"/>
                  <a:gd name="T19" fmla="*/ 80 h 179"/>
                  <a:gd name="T20" fmla="*/ 69 w 622"/>
                  <a:gd name="T21" fmla="*/ 83 h 179"/>
                  <a:gd name="T22" fmla="*/ 95 w 622"/>
                  <a:gd name="T23" fmla="*/ 86 h 179"/>
                  <a:gd name="T24" fmla="*/ 124 w 622"/>
                  <a:gd name="T25" fmla="*/ 89 h 179"/>
                  <a:gd name="T26" fmla="*/ 155 w 622"/>
                  <a:gd name="T27" fmla="*/ 90 h 179"/>
                  <a:gd name="T28" fmla="*/ 187 w 622"/>
                  <a:gd name="T29" fmla="*/ 89 h 179"/>
                  <a:gd name="T30" fmla="*/ 216 w 622"/>
                  <a:gd name="T31" fmla="*/ 86 h 179"/>
                  <a:gd name="T32" fmla="*/ 242 w 622"/>
                  <a:gd name="T33" fmla="*/ 83 h 179"/>
                  <a:gd name="T34" fmla="*/ 255 w 622"/>
                  <a:gd name="T35" fmla="*/ 80 h 179"/>
                  <a:gd name="T36" fmla="*/ 266 w 622"/>
                  <a:gd name="T37" fmla="*/ 77 h 179"/>
                  <a:gd name="T38" fmla="*/ 275 w 622"/>
                  <a:gd name="T39" fmla="*/ 74 h 179"/>
                  <a:gd name="T40" fmla="*/ 284 w 622"/>
                  <a:gd name="T41" fmla="*/ 70 h 179"/>
                  <a:gd name="T42" fmla="*/ 292 w 622"/>
                  <a:gd name="T43" fmla="*/ 66 h 179"/>
                  <a:gd name="T44" fmla="*/ 299 w 622"/>
                  <a:gd name="T45" fmla="*/ 63 h 179"/>
                  <a:gd name="T46" fmla="*/ 304 w 622"/>
                  <a:gd name="T47" fmla="*/ 58 h 179"/>
                  <a:gd name="T48" fmla="*/ 308 w 622"/>
                  <a:gd name="T49" fmla="*/ 54 h 179"/>
                  <a:gd name="T50" fmla="*/ 310 w 622"/>
                  <a:gd name="T51" fmla="*/ 49 h 179"/>
                  <a:gd name="T52" fmla="*/ 311 w 622"/>
                  <a:gd name="T53" fmla="*/ 45 h 179"/>
                  <a:gd name="T54" fmla="*/ 310 w 622"/>
                  <a:gd name="T55" fmla="*/ 40 h 179"/>
                  <a:gd name="T56" fmla="*/ 308 w 622"/>
                  <a:gd name="T57" fmla="*/ 36 h 179"/>
                  <a:gd name="T58" fmla="*/ 304 w 622"/>
                  <a:gd name="T59" fmla="*/ 31 h 179"/>
                  <a:gd name="T60" fmla="*/ 299 w 622"/>
                  <a:gd name="T61" fmla="*/ 28 h 179"/>
                  <a:gd name="T62" fmla="*/ 292 w 622"/>
                  <a:gd name="T63" fmla="*/ 23 h 179"/>
                  <a:gd name="T64" fmla="*/ 284 w 622"/>
                  <a:gd name="T65" fmla="*/ 20 h 179"/>
                  <a:gd name="T66" fmla="*/ 275 w 622"/>
                  <a:gd name="T67" fmla="*/ 17 h 179"/>
                  <a:gd name="T68" fmla="*/ 266 w 622"/>
                  <a:gd name="T69" fmla="*/ 14 h 179"/>
                  <a:gd name="T70" fmla="*/ 255 w 622"/>
                  <a:gd name="T71" fmla="*/ 11 h 179"/>
                  <a:gd name="T72" fmla="*/ 242 w 622"/>
                  <a:gd name="T73" fmla="*/ 8 h 179"/>
                  <a:gd name="T74" fmla="*/ 216 w 622"/>
                  <a:gd name="T75" fmla="*/ 4 h 179"/>
                  <a:gd name="T76" fmla="*/ 187 w 622"/>
                  <a:gd name="T77" fmla="*/ 1 h 179"/>
                  <a:gd name="T78" fmla="*/ 155 w 622"/>
                  <a:gd name="T79" fmla="*/ 0 h 179"/>
                  <a:gd name="T80" fmla="*/ 124 w 622"/>
                  <a:gd name="T81" fmla="*/ 1 h 179"/>
                  <a:gd name="T82" fmla="*/ 95 w 622"/>
                  <a:gd name="T83" fmla="*/ 4 h 179"/>
                  <a:gd name="T84" fmla="*/ 69 w 622"/>
                  <a:gd name="T85" fmla="*/ 8 h 179"/>
                  <a:gd name="T86" fmla="*/ 57 w 622"/>
                  <a:gd name="T87" fmla="*/ 11 h 179"/>
                  <a:gd name="T88" fmla="*/ 46 w 622"/>
                  <a:gd name="T89" fmla="*/ 14 h 179"/>
                  <a:gd name="T90" fmla="*/ 36 w 622"/>
                  <a:gd name="T91" fmla="*/ 17 h 179"/>
                  <a:gd name="T92" fmla="*/ 27 w 622"/>
                  <a:gd name="T93" fmla="*/ 20 h 179"/>
                  <a:gd name="T94" fmla="*/ 19 w 622"/>
                  <a:gd name="T95" fmla="*/ 23 h 179"/>
                  <a:gd name="T96" fmla="*/ 13 w 622"/>
                  <a:gd name="T97" fmla="*/ 28 h 179"/>
                  <a:gd name="T98" fmla="*/ 8 w 622"/>
                  <a:gd name="T99" fmla="*/ 31 h 179"/>
                  <a:gd name="T100" fmla="*/ 4 w 622"/>
                  <a:gd name="T101" fmla="*/ 36 h 179"/>
                  <a:gd name="T102" fmla="*/ 1 w 622"/>
                  <a:gd name="T103" fmla="*/ 40 h 179"/>
                  <a:gd name="T104" fmla="*/ 0 w 622"/>
                  <a:gd name="T105" fmla="*/ 45 h 17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22" h="179">
                    <a:moveTo>
                      <a:pt x="0" y="89"/>
                    </a:moveTo>
                    <a:lnTo>
                      <a:pt x="2" y="98"/>
                    </a:lnTo>
                    <a:lnTo>
                      <a:pt x="8" y="107"/>
                    </a:lnTo>
                    <a:lnTo>
                      <a:pt x="15" y="116"/>
                    </a:lnTo>
                    <a:lnTo>
                      <a:pt x="25" y="125"/>
                    </a:lnTo>
                    <a:lnTo>
                      <a:pt x="38" y="132"/>
                    </a:lnTo>
                    <a:lnTo>
                      <a:pt x="54" y="139"/>
                    </a:lnTo>
                    <a:lnTo>
                      <a:pt x="72" y="147"/>
                    </a:lnTo>
                    <a:lnTo>
                      <a:pt x="92" y="153"/>
                    </a:lnTo>
                    <a:lnTo>
                      <a:pt x="113" y="159"/>
                    </a:lnTo>
                    <a:lnTo>
                      <a:pt x="138" y="165"/>
                    </a:lnTo>
                    <a:lnTo>
                      <a:pt x="190" y="172"/>
                    </a:lnTo>
                    <a:lnTo>
                      <a:pt x="248" y="178"/>
                    </a:lnTo>
                    <a:lnTo>
                      <a:pt x="310" y="179"/>
                    </a:lnTo>
                    <a:lnTo>
                      <a:pt x="373" y="178"/>
                    </a:lnTo>
                    <a:lnTo>
                      <a:pt x="432" y="172"/>
                    </a:lnTo>
                    <a:lnTo>
                      <a:pt x="484" y="165"/>
                    </a:lnTo>
                    <a:lnTo>
                      <a:pt x="509" y="159"/>
                    </a:lnTo>
                    <a:lnTo>
                      <a:pt x="531" y="153"/>
                    </a:lnTo>
                    <a:lnTo>
                      <a:pt x="550" y="147"/>
                    </a:lnTo>
                    <a:lnTo>
                      <a:pt x="568" y="139"/>
                    </a:lnTo>
                    <a:lnTo>
                      <a:pt x="584" y="132"/>
                    </a:lnTo>
                    <a:lnTo>
                      <a:pt x="597" y="125"/>
                    </a:lnTo>
                    <a:lnTo>
                      <a:pt x="608" y="116"/>
                    </a:lnTo>
                    <a:lnTo>
                      <a:pt x="615" y="107"/>
                    </a:lnTo>
                    <a:lnTo>
                      <a:pt x="620" y="98"/>
                    </a:lnTo>
                    <a:lnTo>
                      <a:pt x="622" y="89"/>
                    </a:lnTo>
                    <a:lnTo>
                      <a:pt x="620" y="80"/>
                    </a:lnTo>
                    <a:lnTo>
                      <a:pt x="615" y="71"/>
                    </a:lnTo>
                    <a:lnTo>
                      <a:pt x="608" y="62"/>
                    </a:lnTo>
                    <a:lnTo>
                      <a:pt x="597" y="55"/>
                    </a:lnTo>
                    <a:lnTo>
                      <a:pt x="584" y="46"/>
                    </a:lnTo>
                    <a:lnTo>
                      <a:pt x="568" y="40"/>
                    </a:lnTo>
                    <a:lnTo>
                      <a:pt x="550" y="33"/>
                    </a:lnTo>
                    <a:lnTo>
                      <a:pt x="531" y="27"/>
                    </a:lnTo>
                    <a:lnTo>
                      <a:pt x="509" y="21"/>
                    </a:lnTo>
                    <a:lnTo>
                      <a:pt x="484" y="15"/>
                    </a:lnTo>
                    <a:lnTo>
                      <a:pt x="432" y="7"/>
                    </a:lnTo>
                    <a:lnTo>
                      <a:pt x="373" y="2"/>
                    </a:lnTo>
                    <a:lnTo>
                      <a:pt x="310" y="0"/>
                    </a:lnTo>
                    <a:lnTo>
                      <a:pt x="248" y="2"/>
                    </a:lnTo>
                    <a:lnTo>
                      <a:pt x="190" y="7"/>
                    </a:lnTo>
                    <a:lnTo>
                      <a:pt x="138" y="15"/>
                    </a:lnTo>
                    <a:lnTo>
                      <a:pt x="113" y="21"/>
                    </a:lnTo>
                    <a:lnTo>
                      <a:pt x="92" y="27"/>
                    </a:lnTo>
                    <a:lnTo>
                      <a:pt x="72" y="33"/>
                    </a:lnTo>
                    <a:lnTo>
                      <a:pt x="54" y="40"/>
                    </a:lnTo>
                    <a:lnTo>
                      <a:pt x="38" y="46"/>
                    </a:lnTo>
                    <a:lnTo>
                      <a:pt x="25" y="55"/>
                    </a:lnTo>
                    <a:lnTo>
                      <a:pt x="15" y="62"/>
                    </a:lnTo>
                    <a:lnTo>
                      <a:pt x="8" y="71"/>
                    </a:lnTo>
                    <a:lnTo>
                      <a:pt x="2" y="80"/>
                    </a:lnTo>
                    <a:lnTo>
                      <a:pt x="0" y="89"/>
                    </a:lnTo>
                    <a:close/>
                  </a:path>
                </a:pathLst>
              </a:custGeom>
              <a:solidFill>
                <a:srgbClr val="32B3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51" name="Freeform 137"/>
              <p:cNvSpPr>
                <a:spLocks/>
              </p:cNvSpPr>
              <p:nvPr/>
            </p:nvSpPr>
            <p:spPr bwMode="auto">
              <a:xfrm>
                <a:off x="867" y="2813"/>
                <a:ext cx="311" cy="359"/>
              </a:xfrm>
              <a:custGeom>
                <a:avLst/>
                <a:gdLst>
                  <a:gd name="T0" fmla="*/ 155 w 622"/>
                  <a:gd name="T1" fmla="*/ 0 h 717"/>
                  <a:gd name="T2" fmla="*/ 124 w 622"/>
                  <a:gd name="T3" fmla="*/ 1 h 717"/>
                  <a:gd name="T4" fmla="*/ 95 w 622"/>
                  <a:gd name="T5" fmla="*/ 4 h 717"/>
                  <a:gd name="T6" fmla="*/ 69 w 622"/>
                  <a:gd name="T7" fmla="*/ 8 h 717"/>
                  <a:gd name="T8" fmla="*/ 57 w 622"/>
                  <a:gd name="T9" fmla="*/ 11 h 717"/>
                  <a:gd name="T10" fmla="*/ 46 w 622"/>
                  <a:gd name="T11" fmla="*/ 14 h 717"/>
                  <a:gd name="T12" fmla="*/ 36 w 622"/>
                  <a:gd name="T13" fmla="*/ 17 h 717"/>
                  <a:gd name="T14" fmla="*/ 27 w 622"/>
                  <a:gd name="T15" fmla="*/ 20 h 717"/>
                  <a:gd name="T16" fmla="*/ 19 w 622"/>
                  <a:gd name="T17" fmla="*/ 23 h 717"/>
                  <a:gd name="T18" fmla="*/ 13 w 622"/>
                  <a:gd name="T19" fmla="*/ 28 h 717"/>
                  <a:gd name="T20" fmla="*/ 8 w 622"/>
                  <a:gd name="T21" fmla="*/ 31 h 717"/>
                  <a:gd name="T22" fmla="*/ 4 w 622"/>
                  <a:gd name="T23" fmla="*/ 36 h 717"/>
                  <a:gd name="T24" fmla="*/ 1 w 622"/>
                  <a:gd name="T25" fmla="*/ 40 h 717"/>
                  <a:gd name="T26" fmla="*/ 0 w 622"/>
                  <a:gd name="T27" fmla="*/ 45 h 717"/>
                  <a:gd name="T28" fmla="*/ 0 w 622"/>
                  <a:gd name="T29" fmla="*/ 314 h 717"/>
                  <a:gd name="T30" fmla="*/ 1 w 622"/>
                  <a:gd name="T31" fmla="*/ 318 h 717"/>
                  <a:gd name="T32" fmla="*/ 4 w 622"/>
                  <a:gd name="T33" fmla="*/ 323 h 717"/>
                  <a:gd name="T34" fmla="*/ 8 w 622"/>
                  <a:gd name="T35" fmla="*/ 327 h 717"/>
                  <a:gd name="T36" fmla="*/ 13 w 622"/>
                  <a:gd name="T37" fmla="*/ 332 h 717"/>
                  <a:gd name="T38" fmla="*/ 19 w 622"/>
                  <a:gd name="T39" fmla="*/ 335 h 717"/>
                  <a:gd name="T40" fmla="*/ 27 w 622"/>
                  <a:gd name="T41" fmla="*/ 339 h 717"/>
                  <a:gd name="T42" fmla="*/ 36 w 622"/>
                  <a:gd name="T43" fmla="*/ 343 h 717"/>
                  <a:gd name="T44" fmla="*/ 46 w 622"/>
                  <a:gd name="T45" fmla="*/ 346 h 717"/>
                  <a:gd name="T46" fmla="*/ 57 w 622"/>
                  <a:gd name="T47" fmla="*/ 349 h 717"/>
                  <a:gd name="T48" fmla="*/ 69 w 622"/>
                  <a:gd name="T49" fmla="*/ 352 h 717"/>
                  <a:gd name="T50" fmla="*/ 95 w 622"/>
                  <a:gd name="T51" fmla="*/ 355 h 717"/>
                  <a:gd name="T52" fmla="*/ 124 w 622"/>
                  <a:gd name="T53" fmla="*/ 358 h 717"/>
                  <a:gd name="T54" fmla="*/ 155 w 622"/>
                  <a:gd name="T55" fmla="*/ 359 h 717"/>
                  <a:gd name="T56" fmla="*/ 187 w 622"/>
                  <a:gd name="T57" fmla="*/ 358 h 717"/>
                  <a:gd name="T58" fmla="*/ 216 w 622"/>
                  <a:gd name="T59" fmla="*/ 355 h 717"/>
                  <a:gd name="T60" fmla="*/ 242 w 622"/>
                  <a:gd name="T61" fmla="*/ 352 h 717"/>
                  <a:gd name="T62" fmla="*/ 255 w 622"/>
                  <a:gd name="T63" fmla="*/ 349 h 717"/>
                  <a:gd name="T64" fmla="*/ 266 w 622"/>
                  <a:gd name="T65" fmla="*/ 346 h 717"/>
                  <a:gd name="T66" fmla="*/ 275 w 622"/>
                  <a:gd name="T67" fmla="*/ 343 h 717"/>
                  <a:gd name="T68" fmla="*/ 284 w 622"/>
                  <a:gd name="T69" fmla="*/ 339 h 717"/>
                  <a:gd name="T70" fmla="*/ 292 w 622"/>
                  <a:gd name="T71" fmla="*/ 335 h 717"/>
                  <a:gd name="T72" fmla="*/ 299 w 622"/>
                  <a:gd name="T73" fmla="*/ 332 h 717"/>
                  <a:gd name="T74" fmla="*/ 304 w 622"/>
                  <a:gd name="T75" fmla="*/ 327 h 717"/>
                  <a:gd name="T76" fmla="*/ 308 w 622"/>
                  <a:gd name="T77" fmla="*/ 323 h 717"/>
                  <a:gd name="T78" fmla="*/ 310 w 622"/>
                  <a:gd name="T79" fmla="*/ 318 h 717"/>
                  <a:gd name="T80" fmla="*/ 311 w 622"/>
                  <a:gd name="T81" fmla="*/ 314 h 717"/>
                  <a:gd name="T82" fmla="*/ 311 w 622"/>
                  <a:gd name="T83" fmla="*/ 45 h 717"/>
                  <a:gd name="T84" fmla="*/ 310 w 622"/>
                  <a:gd name="T85" fmla="*/ 40 h 717"/>
                  <a:gd name="T86" fmla="*/ 308 w 622"/>
                  <a:gd name="T87" fmla="*/ 36 h 717"/>
                  <a:gd name="T88" fmla="*/ 304 w 622"/>
                  <a:gd name="T89" fmla="*/ 31 h 717"/>
                  <a:gd name="T90" fmla="*/ 299 w 622"/>
                  <a:gd name="T91" fmla="*/ 28 h 717"/>
                  <a:gd name="T92" fmla="*/ 292 w 622"/>
                  <a:gd name="T93" fmla="*/ 23 h 717"/>
                  <a:gd name="T94" fmla="*/ 284 w 622"/>
                  <a:gd name="T95" fmla="*/ 20 h 717"/>
                  <a:gd name="T96" fmla="*/ 275 w 622"/>
                  <a:gd name="T97" fmla="*/ 17 h 717"/>
                  <a:gd name="T98" fmla="*/ 266 w 622"/>
                  <a:gd name="T99" fmla="*/ 14 h 717"/>
                  <a:gd name="T100" fmla="*/ 255 w 622"/>
                  <a:gd name="T101" fmla="*/ 11 h 717"/>
                  <a:gd name="T102" fmla="*/ 242 w 622"/>
                  <a:gd name="T103" fmla="*/ 8 h 717"/>
                  <a:gd name="T104" fmla="*/ 216 w 622"/>
                  <a:gd name="T105" fmla="*/ 4 h 717"/>
                  <a:gd name="T106" fmla="*/ 187 w 622"/>
                  <a:gd name="T107" fmla="*/ 1 h 717"/>
                  <a:gd name="T108" fmla="*/ 155 w 622"/>
                  <a:gd name="T109" fmla="*/ 0 h 71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7">
                    <a:moveTo>
                      <a:pt x="310" y="0"/>
                    </a:moveTo>
                    <a:lnTo>
                      <a:pt x="248" y="2"/>
                    </a:lnTo>
                    <a:lnTo>
                      <a:pt x="190" y="7"/>
                    </a:lnTo>
                    <a:lnTo>
                      <a:pt x="138" y="15"/>
                    </a:lnTo>
                    <a:lnTo>
                      <a:pt x="113" y="21"/>
                    </a:lnTo>
                    <a:lnTo>
                      <a:pt x="92" y="27"/>
                    </a:lnTo>
                    <a:lnTo>
                      <a:pt x="72" y="33"/>
                    </a:lnTo>
                    <a:lnTo>
                      <a:pt x="54" y="40"/>
                    </a:lnTo>
                    <a:lnTo>
                      <a:pt x="38" y="46"/>
                    </a:lnTo>
                    <a:lnTo>
                      <a:pt x="25" y="55"/>
                    </a:lnTo>
                    <a:lnTo>
                      <a:pt x="15" y="62"/>
                    </a:lnTo>
                    <a:lnTo>
                      <a:pt x="8" y="71"/>
                    </a:lnTo>
                    <a:lnTo>
                      <a:pt x="2" y="80"/>
                    </a:lnTo>
                    <a:lnTo>
                      <a:pt x="0" y="89"/>
                    </a:lnTo>
                    <a:lnTo>
                      <a:pt x="0" y="627"/>
                    </a:lnTo>
                    <a:lnTo>
                      <a:pt x="2" y="636"/>
                    </a:lnTo>
                    <a:lnTo>
                      <a:pt x="8" y="645"/>
                    </a:lnTo>
                    <a:lnTo>
                      <a:pt x="15" y="654"/>
                    </a:lnTo>
                    <a:lnTo>
                      <a:pt x="25" y="663"/>
                    </a:lnTo>
                    <a:lnTo>
                      <a:pt x="38" y="670"/>
                    </a:lnTo>
                    <a:lnTo>
                      <a:pt x="54" y="677"/>
                    </a:lnTo>
                    <a:lnTo>
                      <a:pt x="72" y="685"/>
                    </a:lnTo>
                    <a:lnTo>
                      <a:pt x="92" y="691"/>
                    </a:lnTo>
                    <a:lnTo>
                      <a:pt x="113" y="697"/>
                    </a:lnTo>
                    <a:lnTo>
                      <a:pt x="138" y="703"/>
                    </a:lnTo>
                    <a:lnTo>
                      <a:pt x="190" y="710"/>
                    </a:lnTo>
                    <a:lnTo>
                      <a:pt x="248" y="716"/>
                    </a:lnTo>
                    <a:lnTo>
                      <a:pt x="310" y="717"/>
                    </a:lnTo>
                    <a:lnTo>
                      <a:pt x="373" y="716"/>
                    </a:lnTo>
                    <a:lnTo>
                      <a:pt x="432" y="710"/>
                    </a:lnTo>
                    <a:lnTo>
                      <a:pt x="484" y="703"/>
                    </a:lnTo>
                    <a:lnTo>
                      <a:pt x="509" y="697"/>
                    </a:lnTo>
                    <a:lnTo>
                      <a:pt x="531" y="691"/>
                    </a:lnTo>
                    <a:lnTo>
                      <a:pt x="550" y="685"/>
                    </a:lnTo>
                    <a:lnTo>
                      <a:pt x="568" y="677"/>
                    </a:lnTo>
                    <a:lnTo>
                      <a:pt x="584" y="670"/>
                    </a:lnTo>
                    <a:lnTo>
                      <a:pt x="597" y="663"/>
                    </a:lnTo>
                    <a:lnTo>
                      <a:pt x="608" y="654"/>
                    </a:lnTo>
                    <a:lnTo>
                      <a:pt x="615" y="645"/>
                    </a:lnTo>
                    <a:lnTo>
                      <a:pt x="620" y="636"/>
                    </a:lnTo>
                    <a:lnTo>
                      <a:pt x="622" y="627"/>
                    </a:lnTo>
                    <a:lnTo>
                      <a:pt x="622" y="89"/>
                    </a:lnTo>
                    <a:lnTo>
                      <a:pt x="620" y="80"/>
                    </a:lnTo>
                    <a:lnTo>
                      <a:pt x="615" y="71"/>
                    </a:lnTo>
                    <a:lnTo>
                      <a:pt x="608" y="62"/>
                    </a:lnTo>
                    <a:lnTo>
                      <a:pt x="597" y="55"/>
                    </a:lnTo>
                    <a:lnTo>
                      <a:pt x="584" y="46"/>
                    </a:lnTo>
                    <a:lnTo>
                      <a:pt x="568" y="40"/>
                    </a:lnTo>
                    <a:lnTo>
                      <a:pt x="550" y="33"/>
                    </a:lnTo>
                    <a:lnTo>
                      <a:pt x="531" y="27"/>
                    </a:lnTo>
                    <a:lnTo>
                      <a:pt x="509" y="21"/>
                    </a:lnTo>
                    <a:lnTo>
                      <a:pt x="484" y="15"/>
                    </a:lnTo>
                    <a:lnTo>
                      <a:pt x="432" y="7"/>
                    </a:lnTo>
                    <a:lnTo>
                      <a:pt x="373" y="2"/>
                    </a:lnTo>
                    <a:lnTo>
                      <a:pt x="310" y="0"/>
                    </a:lnTo>
                    <a:close/>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sp>
            <p:nvSpPr>
              <p:cNvPr id="152" name="Freeform 138"/>
              <p:cNvSpPr>
                <a:spLocks/>
              </p:cNvSpPr>
              <p:nvPr/>
            </p:nvSpPr>
            <p:spPr bwMode="auto">
              <a:xfrm>
                <a:off x="867" y="2857"/>
                <a:ext cx="311" cy="46"/>
              </a:xfrm>
              <a:custGeom>
                <a:avLst/>
                <a:gdLst>
                  <a:gd name="T0" fmla="*/ 0 w 622"/>
                  <a:gd name="T1" fmla="*/ 0 h 90"/>
                  <a:gd name="T2" fmla="*/ 1 w 622"/>
                  <a:gd name="T3" fmla="*/ 5 h 90"/>
                  <a:gd name="T4" fmla="*/ 4 w 622"/>
                  <a:gd name="T5" fmla="*/ 9 h 90"/>
                  <a:gd name="T6" fmla="*/ 8 w 622"/>
                  <a:gd name="T7" fmla="*/ 14 h 90"/>
                  <a:gd name="T8" fmla="*/ 13 w 622"/>
                  <a:gd name="T9" fmla="*/ 18 h 90"/>
                  <a:gd name="T10" fmla="*/ 19 w 622"/>
                  <a:gd name="T11" fmla="*/ 22 h 90"/>
                  <a:gd name="T12" fmla="*/ 27 w 622"/>
                  <a:gd name="T13" fmla="*/ 26 h 90"/>
                  <a:gd name="T14" fmla="*/ 36 w 622"/>
                  <a:gd name="T15" fmla="*/ 30 h 90"/>
                  <a:gd name="T16" fmla="*/ 46 w 622"/>
                  <a:gd name="T17" fmla="*/ 33 h 90"/>
                  <a:gd name="T18" fmla="*/ 57 w 622"/>
                  <a:gd name="T19" fmla="*/ 36 h 90"/>
                  <a:gd name="T20" fmla="*/ 69 w 622"/>
                  <a:gd name="T21" fmla="*/ 39 h 90"/>
                  <a:gd name="T22" fmla="*/ 95 w 622"/>
                  <a:gd name="T23" fmla="*/ 42 h 90"/>
                  <a:gd name="T24" fmla="*/ 124 w 622"/>
                  <a:gd name="T25" fmla="*/ 45 h 90"/>
                  <a:gd name="T26" fmla="*/ 155 w 622"/>
                  <a:gd name="T27" fmla="*/ 46 h 90"/>
                  <a:gd name="T28" fmla="*/ 187 w 622"/>
                  <a:gd name="T29" fmla="*/ 45 h 90"/>
                  <a:gd name="T30" fmla="*/ 216 w 622"/>
                  <a:gd name="T31" fmla="*/ 42 h 90"/>
                  <a:gd name="T32" fmla="*/ 242 w 622"/>
                  <a:gd name="T33" fmla="*/ 39 h 90"/>
                  <a:gd name="T34" fmla="*/ 255 w 622"/>
                  <a:gd name="T35" fmla="*/ 36 h 90"/>
                  <a:gd name="T36" fmla="*/ 266 w 622"/>
                  <a:gd name="T37" fmla="*/ 33 h 90"/>
                  <a:gd name="T38" fmla="*/ 275 w 622"/>
                  <a:gd name="T39" fmla="*/ 30 h 90"/>
                  <a:gd name="T40" fmla="*/ 284 w 622"/>
                  <a:gd name="T41" fmla="*/ 26 h 90"/>
                  <a:gd name="T42" fmla="*/ 292 w 622"/>
                  <a:gd name="T43" fmla="*/ 22 h 90"/>
                  <a:gd name="T44" fmla="*/ 299 w 622"/>
                  <a:gd name="T45" fmla="*/ 18 h 90"/>
                  <a:gd name="T46" fmla="*/ 304 w 622"/>
                  <a:gd name="T47" fmla="*/ 14 h 90"/>
                  <a:gd name="T48" fmla="*/ 308 w 622"/>
                  <a:gd name="T49" fmla="*/ 9 h 90"/>
                  <a:gd name="T50" fmla="*/ 310 w 622"/>
                  <a:gd name="T51" fmla="*/ 5 h 90"/>
                  <a:gd name="T52" fmla="*/ 311 w 622"/>
                  <a:gd name="T53" fmla="*/ 0 h 9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22" h="90">
                    <a:moveTo>
                      <a:pt x="0" y="0"/>
                    </a:moveTo>
                    <a:lnTo>
                      <a:pt x="2" y="9"/>
                    </a:lnTo>
                    <a:lnTo>
                      <a:pt x="8" y="18"/>
                    </a:lnTo>
                    <a:lnTo>
                      <a:pt x="15" y="27"/>
                    </a:lnTo>
                    <a:lnTo>
                      <a:pt x="25" y="36"/>
                    </a:lnTo>
                    <a:lnTo>
                      <a:pt x="38" y="43"/>
                    </a:lnTo>
                    <a:lnTo>
                      <a:pt x="54" y="50"/>
                    </a:lnTo>
                    <a:lnTo>
                      <a:pt x="72" y="58"/>
                    </a:lnTo>
                    <a:lnTo>
                      <a:pt x="92" y="64"/>
                    </a:lnTo>
                    <a:lnTo>
                      <a:pt x="113" y="70"/>
                    </a:lnTo>
                    <a:lnTo>
                      <a:pt x="138" y="76"/>
                    </a:lnTo>
                    <a:lnTo>
                      <a:pt x="190" y="83"/>
                    </a:lnTo>
                    <a:lnTo>
                      <a:pt x="248" y="89"/>
                    </a:lnTo>
                    <a:lnTo>
                      <a:pt x="310" y="90"/>
                    </a:lnTo>
                    <a:lnTo>
                      <a:pt x="373" y="89"/>
                    </a:lnTo>
                    <a:lnTo>
                      <a:pt x="432" y="83"/>
                    </a:lnTo>
                    <a:lnTo>
                      <a:pt x="484" y="76"/>
                    </a:lnTo>
                    <a:lnTo>
                      <a:pt x="509" y="70"/>
                    </a:lnTo>
                    <a:lnTo>
                      <a:pt x="531" y="64"/>
                    </a:lnTo>
                    <a:lnTo>
                      <a:pt x="550" y="58"/>
                    </a:lnTo>
                    <a:lnTo>
                      <a:pt x="568" y="50"/>
                    </a:lnTo>
                    <a:lnTo>
                      <a:pt x="584" y="43"/>
                    </a:lnTo>
                    <a:lnTo>
                      <a:pt x="597" y="36"/>
                    </a:lnTo>
                    <a:lnTo>
                      <a:pt x="608" y="27"/>
                    </a:lnTo>
                    <a:lnTo>
                      <a:pt x="615" y="18"/>
                    </a:lnTo>
                    <a:lnTo>
                      <a:pt x="620" y="9"/>
                    </a:lnTo>
                    <a:lnTo>
                      <a:pt x="622"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grpSp>
        <p:grpSp>
          <p:nvGrpSpPr>
            <p:cNvPr id="111" name="Group 139"/>
            <p:cNvGrpSpPr>
              <a:grpSpLocks/>
            </p:cNvGrpSpPr>
            <p:nvPr/>
          </p:nvGrpSpPr>
          <p:grpSpPr bwMode="auto">
            <a:xfrm>
              <a:off x="919" y="2858"/>
              <a:ext cx="310" cy="358"/>
              <a:chOff x="919" y="2858"/>
              <a:chExt cx="310" cy="358"/>
            </a:xfrm>
          </p:grpSpPr>
          <p:sp>
            <p:nvSpPr>
              <p:cNvPr id="145" name="Freeform 140"/>
              <p:cNvSpPr>
                <a:spLocks/>
              </p:cNvSpPr>
              <p:nvPr/>
            </p:nvSpPr>
            <p:spPr bwMode="auto">
              <a:xfrm>
                <a:off x="919" y="2858"/>
                <a:ext cx="310" cy="358"/>
              </a:xfrm>
              <a:custGeom>
                <a:avLst/>
                <a:gdLst>
                  <a:gd name="T0" fmla="*/ 155 w 622"/>
                  <a:gd name="T1" fmla="*/ 0 h 716"/>
                  <a:gd name="T2" fmla="*/ 124 w 622"/>
                  <a:gd name="T3" fmla="*/ 1 h 716"/>
                  <a:gd name="T4" fmla="*/ 95 w 622"/>
                  <a:gd name="T5" fmla="*/ 4 h 716"/>
                  <a:gd name="T6" fmla="*/ 69 w 622"/>
                  <a:gd name="T7" fmla="*/ 8 h 716"/>
                  <a:gd name="T8" fmla="*/ 56 w 622"/>
                  <a:gd name="T9" fmla="*/ 11 h 716"/>
                  <a:gd name="T10" fmla="*/ 46 w 622"/>
                  <a:gd name="T11" fmla="*/ 14 h 716"/>
                  <a:gd name="T12" fmla="*/ 36 w 622"/>
                  <a:gd name="T13" fmla="*/ 17 h 716"/>
                  <a:gd name="T14" fmla="*/ 27 w 622"/>
                  <a:gd name="T15" fmla="*/ 20 h 716"/>
                  <a:gd name="T16" fmla="*/ 19 w 622"/>
                  <a:gd name="T17" fmla="*/ 23 h 716"/>
                  <a:gd name="T18" fmla="*/ 12 w 622"/>
                  <a:gd name="T19" fmla="*/ 28 h 716"/>
                  <a:gd name="T20" fmla="*/ 7 w 622"/>
                  <a:gd name="T21" fmla="*/ 32 h 716"/>
                  <a:gd name="T22" fmla="*/ 3 w 622"/>
                  <a:gd name="T23" fmla="*/ 36 h 716"/>
                  <a:gd name="T24" fmla="*/ 1 w 622"/>
                  <a:gd name="T25" fmla="*/ 40 h 716"/>
                  <a:gd name="T26" fmla="*/ 0 w 622"/>
                  <a:gd name="T27" fmla="*/ 45 h 716"/>
                  <a:gd name="T28" fmla="*/ 0 w 622"/>
                  <a:gd name="T29" fmla="*/ 314 h 716"/>
                  <a:gd name="T30" fmla="*/ 1 w 622"/>
                  <a:gd name="T31" fmla="*/ 318 h 716"/>
                  <a:gd name="T32" fmla="*/ 3 w 622"/>
                  <a:gd name="T33" fmla="*/ 323 h 716"/>
                  <a:gd name="T34" fmla="*/ 7 w 622"/>
                  <a:gd name="T35" fmla="*/ 327 h 716"/>
                  <a:gd name="T36" fmla="*/ 12 w 622"/>
                  <a:gd name="T37" fmla="*/ 331 h 716"/>
                  <a:gd name="T38" fmla="*/ 19 w 622"/>
                  <a:gd name="T39" fmla="*/ 335 h 716"/>
                  <a:gd name="T40" fmla="*/ 27 w 622"/>
                  <a:gd name="T41" fmla="*/ 339 h 716"/>
                  <a:gd name="T42" fmla="*/ 36 w 622"/>
                  <a:gd name="T43" fmla="*/ 342 h 716"/>
                  <a:gd name="T44" fmla="*/ 46 w 622"/>
                  <a:gd name="T45" fmla="*/ 345 h 716"/>
                  <a:gd name="T46" fmla="*/ 56 w 622"/>
                  <a:gd name="T47" fmla="*/ 348 h 716"/>
                  <a:gd name="T48" fmla="*/ 69 w 622"/>
                  <a:gd name="T49" fmla="*/ 351 h 716"/>
                  <a:gd name="T50" fmla="*/ 95 w 622"/>
                  <a:gd name="T51" fmla="*/ 355 h 716"/>
                  <a:gd name="T52" fmla="*/ 124 w 622"/>
                  <a:gd name="T53" fmla="*/ 358 h 716"/>
                  <a:gd name="T54" fmla="*/ 155 w 622"/>
                  <a:gd name="T55" fmla="*/ 358 h 716"/>
                  <a:gd name="T56" fmla="*/ 186 w 622"/>
                  <a:gd name="T57" fmla="*/ 358 h 716"/>
                  <a:gd name="T58" fmla="*/ 215 w 622"/>
                  <a:gd name="T59" fmla="*/ 355 h 716"/>
                  <a:gd name="T60" fmla="*/ 241 w 622"/>
                  <a:gd name="T61" fmla="*/ 351 h 716"/>
                  <a:gd name="T62" fmla="*/ 254 w 622"/>
                  <a:gd name="T63" fmla="*/ 348 h 716"/>
                  <a:gd name="T64" fmla="*/ 265 w 622"/>
                  <a:gd name="T65" fmla="*/ 345 h 716"/>
                  <a:gd name="T66" fmla="*/ 274 w 622"/>
                  <a:gd name="T67" fmla="*/ 342 h 716"/>
                  <a:gd name="T68" fmla="*/ 283 w 622"/>
                  <a:gd name="T69" fmla="*/ 339 h 716"/>
                  <a:gd name="T70" fmla="*/ 291 w 622"/>
                  <a:gd name="T71" fmla="*/ 335 h 716"/>
                  <a:gd name="T72" fmla="*/ 298 w 622"/>
                  <a:gd name="T73" fmla="*/ 331 h 716"/>
                  <a:gd name="T74" fmla="*/ 303 w 622"/>
                  <a:gd name="T75" fmla="*/ 327 h 716"/>
                  <a:gd name="T76" fmla="*/ 307 w 622"/>
                  <a:gd name="T77" fmla="*/ 323 h 716"/>
                  <a:gd name="T78" fmla="*/ 309 w 622"/>
                  <a:gd name="T79" fmla="*/ 318 h 716"/>
                  <a:gd name="T80" fmla="*/ 310 w 622"/>
                  <a:gd name="T81" fmla="*/ 314 h 716"/>
                  <a:gd name="T82" fmla="*/ 310 w 622"/>
                  <a:gd name="T83" fmla="*/ 45 h 716"/>
                  <a:gd name="T84" fmla="*/ 309 w 622"/>
                  <a:gd name="T85" fmla="*/ 40 h 716"/>
                  <a:gd name="T86" fmla="*/ 307 w 622"/>
                  <a:gd name="T87" fmla="*/ 36 h 716"/>
                  <a:gd name="T88" fmla="*/ 303 w 622"/>
                  <a:gd name="T89" fmla="*/ 32 h 716"/>
                  <a:gd name="T90" fmla="*/ 298 w 622"/>
                  <a:gd name="T91" fmla="*/ 28 h 716"/>
                  <a:gd name="T92" fmla="*/ 291 w 622"/>
                  <a:gd name="T93" fmla="*/ 23 h 716"/>
                  <a:gd name="T94" fmla="*/ 283 w 622"/>
                  <a:gd name="T95" fmla="*/ 20 h 716"/>
                  <a:gd name="T96" fmla="*/ 274 w 622"/>
                  <a:gd name="T97" fmla="*/ 17 h 716"/>
                  <a:gd name="T98" fmla="*/ 265 w 622"/>
                  <a:gd name="T99" fmla="*/ 14 h 716"/>
                  <a:gd name="T100" fmla="*/ 254 w 622"/>
                  <a:gd name="T101" fmla="*/ 11 h 716"/>
                  <a:gd name="T102" fmla="*/ 241 w 622"/>
                  <a:gd name="T103" fmla="*/ 8 h 716"/>
                  <a:gd name="T104" fmla="*/ 215 w 622"/>
                  <a:gd name="T105" fmla="*/ 4 h 716"/>
                  <a:gd name="T106" fmla="*/ 186 w 622"/>
                  <a:gd name="T107" fmla="*/ 1 h 716"/>
                  <a:gd name="T108" fmla="*/ 155 w 622"/>
                  <a:gd name="T109" fmla="*/ 0 h 71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6">
                    <a:moveTo>
                      <a:pt x="310" y="0"/>
                    </a:moveTo>
                    <a:lnTo>
                      <a:pt x="248" y="2"/>
                    </a:lnTo>
                    <a:lnTo>
                      <a:pt x="190" y="8"/>
                    </a:lnTo>
                    <a:lnTo>
                      <a:pt x="138" y="15"/>
                    </a:lnTo>
                    <a:lnTo>
                      <a:pt x="113" y="21"/>
                    </a:lnTo>
                    <a:lnTo>
                      <a:pt x="92" y="27"/>
                    </a:lnTo>
                    <a:lnTo>
                      <a:pt x="72" y="33"/>
                    </a:lnTo>
                    <a:lnTo>
                      <a:pt x="54" y="40"/>
                    </a:lnTo>
                    <a:lnTo>
                      <a:pt x="38" y="46"/>
                    </a:lnTo>
                    <a:lnTo>
                      <a:pt x="25" y="55"/>
                    </a:lnTo>
                    <a:lnTo>
                      <a:pt x="15" y="63"/>
                    </a:lnTo>
                    <a:lnTo>
                      <a:pt x="7" y="72"/>
                    </a:lnTo>
                    <a:lnTo>
                      <a:pt x="2" y="80"/>
                    </a:lnTo>
                    <a:lnTo>
                      <a:pt x="0" y="89"/>
                    </a:lnTo>
                    <a:lnTo>
                      <a:pt x="0" y="627"/>
                    </a:lnTo>
                    <a:lnTo>
                      <a:pt x="2" y="636"/>
                    </a:lnTo>
                    <a:lnTo>
                      <a:pt x="7" y="645"/>
                    </a:lnTo>
                    <a:lnTo>
                      <a:pt x="15" y="654"/>
                    </a:lnTo>
                    <a:lnTo>
                      <a:pt x="25" y="661"/>
                    </a:lnTo>
                    <a:lnTo>
                      <a:pt x="38" y="670"/>
                    </a:lnTo>
                    <a:lnTo>
                      <a:pt x="54" y="678"/>
                    </a:lnTo>
                    <a:lnTo>
                      <a:pt x="72" y="684"/>
                    </a:lnTo>
                    <a:lnTo>
                      <a:pt x="92" y="690"/>
                    </a:lnTo>
                    <a:lnTo>
                      <a:pt x="113" y="696"/>
                    </a:lnTo>
                    <a:lnTo>
                      <a:pt x="138" y="701"/>
                    </a:lnTo>
                    <a:lnTo>
                      <a:pt x="190" y="709"/>
                    </a:lnTo>
                    <a:lnTo>
                      <a:pt x="248" y="715"/>
                    </a:lnTo>
                    <a:lnTo>
                      <a:pt x="310" y="716"/>
                    </a:lnTo>
                    <a:lnTo>
                      <a:pt x="373" y="715"/>
                    </a:lnTo>
                    <a:lnTo>
                      <a:pt x="432" y="709"/>
                    </a:lnTo>
                    <a:lnTo>
                      <a:pt x="484" y="701"/>
                    </a:lnTo>
                    <a:lnTo>
                      <a:pt x="509" y="696"/>
                    </a:lnTo>
                    <a:lnTo>
                      <a:pt x="531" y="690"/>
                    </a:lnTo>
                    <a:lnTo>
                      <a:pt x="550" y="684"/>
                    </a:lnTo>
                    <a:lnTo>
                      <a:pt x="568" y="678"/>
                    </a:lnTo>
                    <a:lnTo>
                      <a:pt x="584" y="670"/>
                    </a:lnTo>
                    <a:lnTo>
                      <a:pt x="597" y="661"/>
                    </a:lnTo>
                    <a:lnTo>
                      <a:pt x="608" y="654"/>
                    </a:lnTo>
                    <a:lnTo>
                      <a:pt x="615" y="645"/>
                    </a:lnTo>
                    <a:lnTo>
                      <a:pt x="620" y="636"/>
                    </a:lnTo>
                    <a:lnTo>
                      <a:pt x="622" y="627"/>
                    </a:lnTo>
                    <a:lnTo>
                      <a:pt x="622" y="89"/>
                    </a:lnTo>
                    <a:lnTo>
                      <a:pt x="620" y="80"/>
                    </a:lnTo>
                    <a:lnTo>
                      <a:pt x="615" y="72"/>
                    </a:lnTo>
                    <a:lnTo>
                      <a:pt x="608" y="63"/>
                    </a:lnTo>
                    <a:lnTo>
                      <a:pt x="597" y="55"/>
                    </a:lnTo>
                    <a:lnTo>
                      <a:pt x="584" y="46"/>
                    </a:lnTo>
                    <a:lnTo>
                      <a:pt x="568" y="40"/>
                    </a:lnTo>
                    <a:lnTo>
                      <a:pt x="550" y="33"/>
                    </a:lnTo>
                    <a:lnTo>
                      <a:pt x="531" y="27"/>
                    </a:lnTo>
                    <a:lnTo>
                      <a:pt x="509" y="21"/>
                    </a:lnTo>
                    <a:lnTo>
                      <a:pt x="484" y="15"/>
                    </a:lnTo>
                    <a:lnTo>
                      <a:pt x="432" y="8"/>
                    </a:lnTo>
                    <a:lnTo>
                      <a:pt x="373" y="2"/>
                    </a:lnTo>
                    <a:lnTo>
                      <a:pt x="310" y="0"/>
                    </a:lnTo>
                    <a:close/>
                  </a:path>
                </a:pathLst>
              </a:custGeom>
              <a:solidFill>
                <a:srgbClr val="00A0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46" name="Freeform 141"/>
              <p:cNvSpPr>
                <a:spLocks/>
              </p:cNvSpPr>
              <p:nvPr/>
            </p:nvSpPr>
            <p:spPr bwMode="auto">
              <a:xfrm>
                <a:off x="919" y="2858"/>
                <a:ext cx="310" cy="90"/>
              </a:xfrm>
              <a:custGeom>
                <a:avLst/>
                <a:gdLst>
                  <a:gd name="T0" fmla="*/ 0 w 622"/>
                  <a:gd name="T1" fmla="*/ 45 h 180"/>
                  <a:gd name="T2" fmla="*/ 1 w 622"/>
                  <a:gd name="T3" fmla="*/ 49 h 180"/>
                  <a:gd name="T4" fmla="*/ 3 w 622"/>
                  <a:gd name="T5" fmla="*/ 54 h 180"/>
                  <a:gd name="T6" fmla="*/ 7 w 622"/>
                  <a:gd name="T7" fmla="*/ 58 h 180"/>
                  <a:gd name="T8" fmla="*/ 12 w 622"/>
                  <a:gd name="T9" fmla="*/ 63 h 180"/>
                  <a:gd name="T10" fmla="*/ 19 w 622"/>
                  <a:gd name="T11" fmla="*/ 66 h 180"/>
                  <a:gd name="T12" fmla="*/ 27 w 622"/>
                  <a:gd name="T13" fmla="*/ 70 h 180"/>
                  <a:gd name="T14" fmla="*/ 36 w 622"/>
                  <a:gd name="T15" fmla="*/ 74 h 180"/>
                  <a:gd name="T16" fmla="*/ 46 w 622"/>
                  <a:gd name="T17" fmla="*/ 77 h 180"/>
                  <a:gd name="T18" fmla="*/ 56 w 622"/>
                  <a:gd name="T19" fmla="*/ 80 h 180"/>
                  <a:gd name="T20" fmla="*/ 69 w 622"/>
                  <a:gd name="T21" fmla="*/ 83 h 180"/>
                  <a:gd name="T22" fmla="*/ 95 w 622"/>
                  <a:gd name="T23" fmla="*/ 86 h 180"/>
                  <a:gd name="T24" fmla="*/ 124 w 622"/>
                  <a:gd name="T25" fmla="*/ 89 h 180"/>
                  <a:gd name="T26" fmla="*/ 155 w 622"/>
                  <a:gd name="T27" fmla="*/ 90 h 180"/>
                  <a:gd name="T28" fmla="*/ 186 w 622"/>
                  <a:gd name="T29" fmla="*/ 89 h 180"/>
                  <a:gd name="T30" fmla="*/ 215 w 622"/>
                  <a:gd name="T31" fmla="*/ 86 h 180"/>
                  <a:gd name="T32" fmla="*/ 241 w 622"/>
                  <a:gd name="T33" fmla="*/ 83 h 180"/>
                  <a:gd name="T34" fmla="*/ 254 w 622"/>
                  <a:gd name="T35" fmla="*/ 80 h 180"/>
                  <a:gd name="T36" fmla="*/ 265 w 622"/>
                  <a:gd name="T37" fmla="*/ 77 h 180"/>
                  <a:gd name="T38" fmla="*/ 274 w 622"/>
                  <a:gd name="T39" fmla="*/ 74 h 180"/>
                  <a:gd name="T40" fmla="*/ 283 w 622"/>
                  <a:gd name="T41" fmla="*/ 70 h 180"/>
                  <a:gd name="T42" fmla="*/ 291 w 622"/>
                  <a:gd name="T43" fmla="*/ 66 h 180"/>
                  <a:gd name="T44" fmla="*/ 298 w 622"/>
                  <a:gd name="T45" fmla="*/ 63 h 180"/>
                  <a:gd name="T46" fmla="*/ 303 w 622"/>
                  <a:gd name="T47" fmla="*/ 58 h 180"/>
                  <a:gd name="T48" fmla="*/ 307 w 622"/>
                  <a:gd name="T49" fmla="*/ 54 h 180"/>
                  <a:gd name="T50" fmla="*/ 309 w 622"/>
                  <a:gd name="T51" fmla="*/ 49 h 180"/>
                  <a:gd name="T52" fmla="*/ 310 w 622"/>
                  <a:gd name="T53" fmla="*/ 45 h 180"/>
                  <a:gd name="T54" fmla="*/ 309 w 622"/>
                  <a:gd name="T55" fmla="*/ 40 h 180"/>
                  <a:gd name="T56" fmla="*/ 307 w 622"/>
                  <a:gd name="T57" fmla="*/ 36 h 180"/>
                  <a:gd name="T58" fmla="*/ 303 w 622"/>
                  <a:gd name="T59" fmla="*/ 32 h 180"/>
                  <a:gd name="T60" fmla="*/ 298 w 622"/>
                  <a:gd name="T61" fmla="*/ 28 h 180"/>
                  <a:gd name="T62" fmla="*/ 291 w 622"/>
                  <a:gd name="T63" fmla="*/ 23 h 180"/>
                  <a:gd name="T64" fmla="*/ 283 w 622"/>
                  <a:gd name="T65" fmla="*/ 20 h 180"/>
                  <a:gd name="T66" fmla="*/ 274 w 622"/>
                  <a:gd name="T67" fmla="*/ 17 h 180"/>
                  <a:gd name="T68" fmla="*/ 265 w 622"/>
                  <a:gd name="T69" fmla="*/ 14 h 180"/>
                  <a:gd name="T70" fmla="*/ 254 w 622"/>
                  <a:gd name="T71" fmla="*/ 11 h 180"/>
                  <a:gd name="T72" fmla="*/ 241 w 622"/>
                  <a:gd name="T73" fmla="*/ 8 h 180"/>
                  <a:gd name="T74" fmla="*/ 215 w 622"/>
                  <a:gd name="T75" fmla="*/ 4 h 180"/>
                  <a:gd name="T76" fmla="*/ 186 w 622"/>
                  <a:gd name="T77" fmla="*/ 1 h 180"/>
                  <a:gd name="T78" fmla="*/ 155 w 622"/>
                  <a:gd name="T79" fmla="*/ 0 h 180"/>
                  <a:gd name="T80" fmla="*/ 124 w 622"/>
                  <a:gd name="T81" fmla="*/ 1 h 180"/>
                  <a:gd name="T82" fmla="*/ 95 w 622"/>
                  <a:gd name="T83" fmla="*/ 4 h 180"/>
                  <a:gd name="T84" fmla="*/ 69 w 622"/>
                  <a:gd name="T85" fmla="*/ 8 h 180"/>
                  <a:gd name="T86" fmla="*/ 56 w 622"/>
                  <a:gd name="T87" fmla="*/ 11 h 180"/>
                  <a:gd name="T88" fmla="*/ 46 w 622"/>
                  <a:gd name="T89" fmla="*/ 14 h 180"/>
                  <a:gd name="T90" fmla="*/ 36 w 622"/>
                  <a:gd name="T91" fmla="*/ 17 h 180"/>
                  <a:gd name="T92" fmla="*/ 27 w 622"/>
                  <a:gd name="T93" fmla="*/ 20 h 180"/>
                  <a:gd name="T94" fmla="*/ 19 w 622"/>
                  <a:gd name="T95" fmla="*/ 23 h 180"/>
                  <a:gd name="T96" fmla="*/ 12 w 622"/>
                  <a:gd name="T97" fmla="*/ 28 h 180"/>
                  <a:gd name="T98" fmla="*/ 7 w 622"/>
                  <a:gd name="T99" fmla="*/ 32 h 180"/>
                  <a:gd name="T100" fmla="*/ 3 w 622"/>
                  <a:gd name="T101" fmla="*/ 36 h 180"/>
                  <a:gd name="T102" fmla="*/ 1 w 622"/>
                  <a:gd name="T103" fmla="*/ 40 h 180"/>
                  <a:gd name="T104" fmla="*/ 0 w 622"/>
                  <a:gd name="T105" fmla="*/ 45 h 18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22" h="180">
                    <a:moveTo>
                      <a:pt x="0" y="89"/>
                    </a:moveTo>
                    <a:lnTo>
                      <a:pt x="2" y="98"/>
                    </a:lnTo>
                    <a:lnTo>
                      <a:pt x="7" y="107"/>
                    </a:lnTo>
                    <a:lnTo>
                      <a:pt x="15" y="116"/>
                    </a:lnTo>
                    <a:lnTo>
                      <a:pt x="25" y="125"/>
                    </a:lnTo>
                    <a:lnTo>
                      <a:pt x="38" y="132"/>
                    </a:lnTo>
                    <a:lnTo>
                      <a:pt x="54" y="140"/>
                    </a:lnTo>
                    <a:lnTo>
                      <a:pt x="72" y="147"/>
                    </a:lnTo>
                    <a:lnTo>
                      <a:pt x="92" y="153"/>
                    </a:lnTo>
                    <a:lnTo>
                      <a:pt x="113" y="159"/>
                    </a:lnTo>
                    <a:lnTo>
                      <a:pt x="138" y="165"/>
                    </a:lnTo>
                    <a:lnTo>
                      <a:pt x="190" y="172"/>
                    </a:lnTo>
                    <a:lnTo>
                      <a:pt x="248" y="178"/>
                    </a:lnTo>
                    <a:lnTo>
                      <a:pt x="310" y="180"/>
                    </a:lnTo>
                    <a:lnTo>
                      <a:pt x="373" y="178"/>
                    </a:lnTo>
                    <a:lnTo>
                      <a:pt x="432" y="172"/>
                    </a:lnTo>
                    <a:lnTo>
                      <a:pt x="484" y="165"/>
                    </a:lnTo>
                    <a:lnTo>
                      <a:pt x="509" y="159"/>
                    </a:lnTo>
                    <a:lnTo>
                      <a:pt x="531" y="153"/>
                    </a:lnTo>
                    <a:lnTo>
                      <a:pt x="550" y="147"/>
                    </a:lnTo>
                    <a:lnTo>
                      <a:pt x="568" y="140"/>
                    </a:lnTo>
                    <a:lnTo>
                      <a:pt x="584" y="132"/>
                    </a:lnTo>
                    <a:lnTo>
                      <a:pt x="597" y="125"/>
                    </a:lnTo>
                    <a:lnTo>
                      <a:pt x="608" y="116"/>
                    </a:lnTo>
                    <a:lnTo>
                      <a:pt x="615" y="107"/>
                    </a:lnTo>
                    <a:lnTo>
                      <a:pt x="620" y="98"/>
                    </a:lnTo>
                    <a:lnTo>
                      <a:pt x="622" y="89"/>
                    </a:lnTo>
                    <a:lnTo>
                      <a:pt x="620" y="80"/>
                    </a:lnTo>
                    <a:lnTo>
                      <a:pt x="615" y="72"/>
                    </a:lnTo>
                    <a:lnTo>
                      <a:pt x="608" y="63"/>
                    </a:lnTo>
                    <a:lnTo>
                      <a:pt x="597" y="55"/>
                    </a:lnTo>
                    <a:lnTo>
                      <a:pt x="584" y="46"/>
                    </a:lnTo>
                    <a:lnTo>
                      <a:pt x="568" y="40"/>
                    </a:lnTo>
                    <a:lnTo>
                      <a:pt x="550" y="33"/>
                    </a:lnTo>
                    <a:lnTo>
                      <a:pt x="531" y="27"/>
                    </a:lnTo>
                    <a:lnTo>
                      <a:pt x="509" y="21"/>
                    </a:lnTo>
                    <a:lnTo>
                      <a:pt x="484" y="15"/>
                    </a:lnTo>
                    <a:lnTo>
                      <a:pt x="432" y="8"/>
                    </a:lnTo>
                    <a:lnTo>
                      <a:pt x="373" y="2"/>
                    </a:lnTo>
                    <a:lnTo>
                      <a:pt x="310" y="0"/>
                    </a:lnTo>
                    <a:lnTo>
                      <a:pt x="248" y="2"/>
                    </a:lnTo>
                    <a:lnTo>
                      <a:pt x="190" y="8"/>
                    </a:lnTo>
                    <a:lnTo>
                      <a:pt x="138" y="15"/>
                    </a:lnTo>
                    <a:lnTo>
                      <a:pt x="113" y="21"/>
                    </a:lnTo>
                    <a:lnTo>
                      <a:pt x="92" y="27"/>
                    </a:lnTo>
                    <a:lnTo>
                      <a:pt x="72" y="33"/>
                    </a:lnTo>
                    <a:lnTo>
                      <a:pt x="54" y="40"/>
                    </a:lnTo>
                    <a:lnTo>
                      <a:pt x="38" y="46"/>
                    </a:lnTo>
                    <a:lnTo>
                      <a:pt x="25" y="55"/>
                    </a:lnTo>
                    <a:lnTo>
                      <a:pt x="15" y="63"/>
                    </a:lnTo>
                    <a:lnTo>
                      <a:pt x="7" y="72"/>
                    </a:lnTo>
                    <a:lnTo>
                      <a:pt x="2" y="80"/>
                    </a:lnTo>
                    <a:lnTo>
                      <a:pt x="0" y="89"/>
                    </a:lnTo>
                    <a:close/>
                  </a:path>
                </a:pathLst>
              </a:custGeom>
              <a:solidFill>
                <a:srgbClr val="32B3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47" name="Freeform 142"/>
              <p:cNvSpPr>
                <a:spLocks/>
              </p:cNvSpPr>
              <p:nvPr/>
            </p:nvSpPr>
            <p:spPr bwMode="auto">
              <a:xfrm>
                <a:off x="919" y="2858"/>
                <a:ext cx="310" cy="358"/>
              </a:xfrm>
              <a:custGeom>
                <a:avLst/>
                <a:gdLst>
                  <a:gd name="T0" fmla="*/ 155 w 622"/>
                  <a:gd name="T1" fmla="*/ 0 h 716"/>
                  <a:gd name="T2" fmla="*/ 124 w 622"/>
                  <a:gd name="T3" fmla="*/ 1 h 716"/>
                  <a:gd name="T4" fmla="*/ 95 w 622"/>
                  <a:gd name="T5" fmla="*/ 4 h 716"/>
                  <a:gd name="T6" fmla="*/ 69 w 622"/>
                  <a:gd name="T7" fmla="*/ 8 h 716"/>
                  <a:gd name="T8" fmla="*/ 56 w 622"/>
                  <a:gd name="T9" fmla="*/ 11 h 716"/>
                  <a:gd name="T10" fmla="*/ 46 w 622"/>
                  <a:gd name="T11" fmla="*/ 14 h 716"/>
                  <a:gd name="T12" fmla="*/ 36 w 622"/>
                  <a:gd name="T13" fmla="*/ 17 h 716"/>
                  <a:gd name="T14" fmla="*/ 27 w 622"/>
                  <a:gd name="T15" fmla="*/ 20 h 716"/>
                  <a:gd name="T16" fmla="*/ 19 w 622"/>
                  <a:gd name="T17" fmla="*/ 23 h 716"/>
                  <a:gd name="T18" fmla="*/ 12 w 622"/>
                  <a:gd name="T19" fmla="*/ 28 h 716"/>
                  <a:gd name="T20" fmla="*/ 7 w 622"/>
                  <a:gd name="T21" fmla="*/ 32 h 716"/>
                  <a:gd name="T22" fmla="*/ 3 w 622"/>
                  <a:gd name="T23" fmla="*/ 36 h 716"/>
                  <a:gd name="T24" fmla="*/ 1 w 622"/>
                  <a:gd name="T25" fmla="*/ 40 h 716"/>
                  <a:gd name="T26" fmla="*/ 0 w 622"/>
                  <a:gd name="T27" fmla="*/ 45 h 716"/>
                  <a:gd name="T28" fmla="*/ 0 w 622"/>
                  <a:gd name="T29" fmla="*/ 314 h 716"/>
                  <a:gd name="T30" fmla="*/ 1 w 622"/>
                  <a:gd name="T31" fmla="*/ 318 h 716"/>
                  <a:gd name="T32" fmla="*/ 3 w 622"/>
                  <a:gd name="T33" fmla="*/ 323 h 716"/>
                  <a:gd name="T34" fmla="*/ 7 w 622"/>
                  <a:gd name="T35" fmla="*/ 327 h 716"/>
                  <a:gd name="T36" fmla="*/ 12 w 622"/>
                  <a:gd name="T37" fmla="*/ 331 h 716"/>
                  <a:gd name="T38" fmla="*/ 19 w 622"/>
                  <a:gd name="T39" fmla="*/ 335 h 716"/>
                  <a:gd name="T40" fmla="*/ 27 w 622"/>
                  <a:gd name="T41" fmla="*/ 339 h 716"/>
                  <a:gd name="T42" fmla="*/ 36 w 622"/>
                  <a:gd name="T43" fmla="*/ 342 h 716"/>
                  <a:gd name="T44" fmla="*/ 46 w 622"/>
                  <a:gd name="T45" fmla="*/ 345 h 716"/>
                  <a:gd name="T46" fmla="*/ 56 w 622"/>
                  <a:gd name="T47" fmla="*/ 348 h 716"/>
                  <a:gd name="T48" fmla="*/ 69 w 622"/>
                  <a:gd name="T49" fmla="*/ 351 h 716"/>
                  <a:gd name="T50" fmla="*/ 95 w 622"/>
                  <a:gd name="T51" fmla="*/ 355 h 716"/>
                  <a:gd name="T52" fmla="*/ 124 w 622"/>
                  <a:gd name="T53" fmla="*/ 358 h 716"/>
                  <a:gd name="T54" fmla="*/ 155 w 622"/>
                  <a:gd name="T55" fmla="*/ 358 h 716"/>
                  <a:gd name="T56" fmla="*/ 186 w 622"/>
                  <a:gd name="T57" fmla="*/ 358 h 716"/>
                  <a:gd name="T58" fmla="*/ 215 w 622"/>
                  <a:gd name="T59" fmla="*/ 355 h 716"/>
                  <a:gd name="T60" fmla="*/ 241 w 622"/>
                  <a:gd name="T61" fmla="*/ 351 h 716"/>
                  <a:gd name="T62" fmla="*/ 254 w 622"/>
                  <a:gd name="T63" fmla="*/ 348 h 716"/>
                  <a:gd name="T64" fmla="*/ 265 w 622"/>
                  <a:gd name="T65" fmla="*/ 345 h 716"/>
                  <a:gd name="T66" fmla="*/ 274 w 622"/>
                  <a:gd name="T67" fmla="*/ 342 h 716"/>
                  <a:gd name="T68" fmla="*/ 283 w 622"/>
                  <a:gd name="T69" fmla="*/ 339 h 716"/>
                  <a:gd name="T70" fmla="*/ 291 w 622"/>
                  <a:gd name="T71" fmla="*/ 335 h 716"/>
                  <a:gd name="T72" fmla="*/ 298 w 622"/>
                  <a:gd name="T73" fmla="*/ 331 h 716"/>
                  <a:gd name="T74" fmla="*/ 303 w 622"/>
                  <a:gd name="T75" fmla="*/ 327 h 716"/>
                  <a:gd name="T76" fmla="*/ 307 w 622"/>
                  <a:gd name="T77" fmla="*/ 323 h 716"/>
                  <a:gd name="T78" fmla="*/ 309 w 622"/>
                  <a:gd name="T79" fmla="*/ 318 h 716"/>
                  <a:gd name="T80" fmla="*/ 310 w 622"/>
                  <a:gd name="T81" fmla="*/ 314 h 716"/>
                  <a:gd name="T82" fmla="*/ 310 w 622"/>
                  <a:gd name="T83" fmla="*/ 45 h 716"/>
                  <a:gd name="T84" fmla="*/ 309 w 622"/>
                  <a:gd name="T85" fmla="*/ 40 h 716"/>
                  <a:gd name="T86" fmla="*/ 307 w 622"/>
                  <a:gd name="T87" fmla="*/ 36 h 716"/>
                  <a:gd name="T88" fmla="*/ 303 w 622"/>
                  <a:gd name="T89" fmla="*/ 32 h 716"/>
                  <a:gd name="T90" fmla="*/ 298 w 622"/>
                  <a:gd name="T91" fmla="*/ 28 h 716"/>
                  <a:gd name="T92" fmla="*/ 291 w 622"/>
                  <a:gd name="T93" fmla="*/ 23 h 716"/>
                  <a:gd name="T94" fmla="*/ 283 w 622"/>
                  <a:gd name="T95" fmla="*/ 20 h 716"/>
                  <a:gd name="T96" fmla="*/ 274 w 622"/>
                  <a:gd name="T97" fmla="*/ 17 h 716"/>
                  <a:gd name="T98" fmla="*/ 265 w 622"/>
                  <a:gd name="T99" fmla="*/ 14 h 716"/>
                  <a:gd name="T100" fmla="*/ 254 w 622"/>
                  <a:gd name="T101" fmla="*/ 11 h 716"/>
                  <a:gd name="T102" fmla="*/ 241 w 622"/>
                  <a:gd name="T103" fmla="*/ 8 h 716"/>
                  <a:gd name="T104" fmla="*/ 215 w 622"/>
                  <a:gd name="T105" fmla="*/ 4 h 716"/>
                  <a:gd name="T106" fmla="*/ 186 w 622"/>
                  <a:gd name="T107" fmla="*/ 1 h 716"/>
                  <a:gd name="T108" fmla="*/ 155 w 622"/>
                  <a:gd name="T109" fmla="*/ 0 h 71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6">
                    <a:moveTo>
                      <a:pt x="310" y="0"/>
                    </a:moveTo>
                    <a:lnTo>
                      <a:pt x="248" y="2"/>
                    </a:lnTo>
                    <a:lnTo>
                      <a:pt x="190" y="8"/>
                    </a:lnTo>
                    <a:lnTo>
                      <a:pt x="138" y="15"/>
                    </a:lnTo>
                    <a:lnTo>
                      <a:pt x="113" y="21"/>
                    </a:lnTo>
                    <a:lnTo>
                      <a:pt x="92" y="27"/>
                    </a:lnTo>
                    <a:lnTo>
                      <a:pt x="72" y="33"/>
                    </a:lnTo>
                    <a:lnTo>
                      <a:pt x="54" y="40"/>
                    </a:lnTo>
                    <a:lnTo>
                      <a:pt x="38" y="46"/>
                    </a:lnTo>
                    <a:lnTo>
                      <a:pt x="25" y="55"/>
                    </a:lnTo>
                    <a:lnTo>
                      <a:pt x="15" y="63"/>
                    </a:lnTo>
                    <a:lnTo>
                      <a:pt x="7" y="72"/>
                    </a:lnTo>
                    <a:lnTo>
                      <a:pt x="2" y="80"/>
                    </a:lnTo>
                    <a:lnTo>
                      <a:pt x="0" y="89"/>
                    </a:lnTo>
                    <a:lnTo>
                      <a:pt x="0" y="627"/>
                    </a:lnTo>
                    <a:lnTo>
                      <a:pt x="2" y="636"/>
                    </a:lnTo>
                    <a:lnTo>
                      <a:pt x="7" y="645"/>
                    </a:lnTo>
                    <a:lnTo>
                      <a:pt x="15" y="654"/>
                    </a:lnTo>
                    <a:lnTo>
                      <a:pt x="25" y="661"/>
                    </a:lnTo>
                    <a:lnTo>
                      <a:pt x="38" y="670"/>
                    </a:lnTo>
                    <a:lnTo>
                      <a:pt x="54" y="678"/>
                    </a:lnTo>
                    <a:lnTo>
                      <a:pt x="72" y="684"/>
                    </a:lnTo>
                    <a:lnTo>
                      <a:pt x="92" y="690"/>
                    </a:lnTo>
                    <a:lnTo>
                      <a:pt x="113" y="696"/>
                    </a:lnTo>
                    <a:lnTo>
                      <a:pt x="138" y="701"/>
                    </a:lnTo>
                    <a:lnTo>
                      <a:pt x="190" y="709"/>
                    </a:lnTo>
                    <a:lnTo>
                      <a:pt x="248" y="715"/>
                    </a:lnTo>
                    <a:lnTo>
                      <a:pt x="310" y="716"/>
                    </a:lnTo>
                    <a:lnTo>
                      <a:pt x="373" y="715"/>
                    </a:lnTo>
                    <a:lnTo>
                      <a:pt x="432" y="709"/>
                    </a:lnTo>
                    <a:lnTo>
                      <a:pt x="484" y="701"/>
                    </a:lnTo>
                    <a:lnTo>
                      <a:pt x="509" y="696"/>
                    </a:lnTo>
                    <a:lnTo>
                      <a:pt x="531" y="690"/>
                    </a:lnTo>
                    <a:lnTo>
                      <a:pt x="550" y="684"/>
                    </a:lnTo>
                    <a:lnTo>
                      <a:pt x="568" y="678"/>
                    </a:lnTo>
                    <a:lnTo>
                      <a:pt x="584" y="670"/>
                    </a:lnTo>
                    <a:lnTo>
                      <a:pt x="597" y="661"/>
                    </a:lnTo>
                    <a:lnTo>
                      <a:pt x="608" y="654"/>
                    </a:lnTo>
                    <a:lnTo>
                      <a:pt x="615" y="645"/>
                    </a:lnTo>
                    <a:lnTo>
                      <a:pt x="620" y="636"/>
                    </a:lnTo>
                    <a:lnTo>
                      <a:pt x="622" y="627"/>
                    </a:lnTo>
                    <a:lnTo>
                      <a:pt x="622" y="89"/>
                    </a:lnTo>
                    <a:lnTo>
                      <a:pt x="620" y="80"/>
                    </a:lnTo>
                    <a:lnTo>
                      <a:pt x="615" y="72"/>
                    </a:lnTo>
                    <a:lnTo>
                      <a:pt x="608" y="63"/>
                    </a:lnTo>
                    <a:lnTo>
                      <a:pt x="597" y="55"/>
                    </a:lnTo>
                    <a:lnTo>
                      <a:pt x="584" y="46"/>
                    </a:lnTo>
                    <a:lnTo>
                      <a:pt x="568" y="40"/>
                    </a:lnTo>
                    <a:lnTo>
                      <a:pt x="550" y="33"/>
                    </a:lnTo>
                    <a:lnTo>
                      <a:pt x="531" y="27"/>
                    </a:lnTo>
                    <a:lnTo>
                      <a:pt x="509" y="21"/>
                    </a:lnTo>
                    <a:lnTo>
                      <a:pt x="484" y="15"/>
                    </a:lnTo>
                    <a:lnTo>
                      <a:pt x="432" y="8"/>
                    </a:lnTo>
                    <a:lnTo>
                      <a:pt x="373" y="2"/>
                    </a:lnTo>
                    <a:lnTo>
                      <a:pt x="310" y="0"/>
                    </a:lnTo>
                    <a:close/>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sp>
            <p:nvSpPr>
              <p:cNvPr id="148" name="Freeform 143"/>
              <p:cNvSpPr>
                <a:spLocks/>
              </p:cNvSpPr>
              <p:nvPr/>
            </p:nvSpPr>
            <p:spPr bwMode="auto">
              <a:xfrm>
                <a:off x="919" y="2903"/>
                <a:ext cx="310" cy="45"/>
              </a:xfrm>
              <a:custGeom>
                <a:avLst/>
                <a:gdLst>
                  <a:gd name="T0" fmla="*/ 0 w 622"/>
                  <a:gd name="T1" fmla="*/ 0 h 91"/>
                  <a:gd name="T2" fmla="*/ 1 w 622"/>
                  <a:gd name="T3" fmla="*/ 4 h 91"/>
                  <a:gd name="T4" fmla="*/ 3 w 622"/>
                  <a:gd name="T5" fmla="*/ 9 h 91"/>
                  <a:gd name="T6" fmla="*/ 7 w 622"/>
                  <a:gd name="T7" fmla="*/ 13 h 91"/>
                  <a:gd name="T8" fmla="*/ 12 w 622"/>
                  <a:gd name="T9" fmla="*/ 18 h 91"/>
                  <a:gd name="T10" fmla="*/ 19 w 622"/>
                  <a:gd name="T11" fmla="*/ 21 h 91"/>
                  <a:gd name="T12" fmla="*/ 27 w 622"/>
                  <a:gd name="T13" fmla="*/ 25 h 91"/>
                  <a:gd name="T14" fmla="*/ 36 w 622"/>
                  <a:gd name="T15" fmla="*/ 29 h 91"/>
                  <a:gd name="T16" fmla="*/ 46 w 622"/>
                  <a:gd name="T17" fmla="*/ 32 h 91"/>
                  <a:gd name="T18" fmla="*/ 56 w 622"/>
                  <a:gd name="T19" fmla="*/ 35 h 91"/>
                  <a:gd name="T20" fmla="*/ 69 w 622"/>
                  <a:gd name="T21" fmla="*/ 38 h 91"/>
                  <a:gd name="T22" fmla="*/ 95 w 622"/>
                  <a:gd name="T23" fmla="*/ 41 h 91"/>
                  <a:gd name="T24" fmla="*/ 124 w 622"/>
                  <a:gd name="T25" fmla="*/ 44 h 91"/>
                  <a:gd name="T26" fmla="*/ 155 w 622"/>
                  <a:gd name="T27" fmla="*/ 45 h 91"/>
                  <a:gd name="T28" fmla="*/ 186 w 622"/>
                  <a:gd name="T29" fmla="*/ 44 h 91"/>
                  <a:gd name="T30" fmla="*/ 215 w 622"/>
                  <a:gd name="T31" fmla="*/ 41 h 91"/>
                  <a:gd name="T32" fmla="*/ 241 w 622"/>
                  <a:gd name="T33" fmla="*/ 38 h 91"/>
                  <a:gd name="T34" fmla="*/ 254 w 622"/>
                  <a:gd name="T35" fmla="*/ 35 h 91"/>
                  <a:gd name="T36" fmla="*/ 265 w 622"/>
                  <a:gd name="T37" fmla="*/ 32 h 91"/>
                  <a:gd name="T38" fmla="*/ 274 w 622"/>
                  <a:gd name="T39" fmla="*/ 29 h 91"/>
                  <a:gd name="T40" fmla="*/ 283 w 622"/>
                  <a:gd name="T41" fmla="*/ 25 h 91"/>
                  <a:gd name="T42" fmla="*/ 291 w 622"/>
                  <a:gd name="T43" fmla="*/ 21 h 91"/>
                  <a:gd name="T44" fmla="*/ 298 w 622"/>
                  <a:gd name="T45" fmla="*/ 18 h 91"/>
                  <a:gd name="T46" fmla="*/ 303 w 622"/>
                  <a:gd name="T47" fmla="*/ 13 h 91"/>
                  <a:gd name="T48" fmla="*/ 307 w 622"/>
                  <a:gd name="T49" fmla="*/ 9 h 91"/>
                  <a:gd name="T50" fmla="*/ 309 w 622"/>
                  <a:gd name="T51" fmla="*/ 4 h 91"/>
                  <a:gd name="T52" fmla="*/ 310 w 622"/>
                  <a:gd name="T53" fmla="*/ 0 h 9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22" h="91">
                    <a:moveTo>
                      <a:pt x="0" y="0"/>
                    </a:moveTo>
                    <a:lnTo>
                      <a:pt x="2" y="9"/>
                    </a:lnTo>
                    <a:lnTo>
                      <a:pt x="7" y="18"/>
                    </a:lnTo>
                    <a:lnTo>
                      <a:pt x="15" y="27"/>
                    </a:lnTo>
                    <a:lnTo>
                      <a:pt x="25" y="36"/>
                    </a:lnTo>
                    <a:lnTo>
                      <a:pt x="38" y="43"/>
                    </a:lnTo>
                    <a:lnTo>
                      <a:pt x="54" y="51"/>
                    </a:lnTo>
                    <a:lnTo>
                      <a:pt x="72" y="58"/>
                    </a:lnTo>
                    <a:lnTo>
                      <a:pt x="92" y="64"/>
                    </a:lnTo>
                    <a:lnTo>
                      <a:pt x="113" y="70"/>
                    </a:lnTo>
                    <a:lnTo>
                      <a:pt x="138" y="76"/>
                    </a:lnTo>
                    <a:lnTo>
                      <a:pt x="190" y="83"/>
                    </a:lnTo>
                    <a:lnTo>
                      <a:pt x="248" y="89"/>
                    </a:lnTo>
                    <a:lnTo>
                      <a:pt x="310" y="91"/>
                    </a:lnTo>
                    <a:lnTo>
                      <a:pt x="373" y="89"/>
                    </a:lnTo>
                    <a:lnTo>
                      <a:pt x="432" y="83"/>
                    </a:lnTo>
                    <a:lnTo>
                      <a:pt x="484" y="76"/>
                    </a:lnTo>
                    <a:lnTo>
                      <a:pt x="509" y="70"/>
                    </a:lnTo>
                    <a:lnTo>
                      <a:pt x="531" y="64"/>
                    </a:lnTo>
                    <a:lnTo>
                      <a:pt x="550" y="58"/>
                    </a:lnTo>
                    <a:lnTo>
                      <a:pt x="568" y="51"/>
                    </a:lnTo>
                    <a:lnTo>
                      <a:pt x="584" y="43"/>
                    </a:lnTo>
                    <a:lnTo>
                      <a:pt x="597" y="36"/>
                    </a:lnTo>
                    <a:lnTo>
                      <a:pt x="608" y="27"/>
                    </a:lnTo>
                    <a:lnTo>
                      <a:pt x="615" y="18"/>
                    </a:lnTo>
                    <a:lnTo>
                      <a:pt x="620" y="9"/>
                    </a:lnTo>
                    <a:lnTo>
                      <a:pt x="622"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grpSp>
        <p:grpSp>
          <p:nvGrpSpPr>
            <p:cNvPr id="112" name="Group 144"/>
            <p:cNvGrpSpPr>
              <a:grpSpLocks/>
            </p:cNvGrpSpPr>
            <p:nvPr/>
          </p:nvGrpSpPr>
          <p:grpSpPr bwMode="auto">
            <a:xfrm>
              <a:off x="971" y="2903"/>
              <a:ext cx="310" cy="358"/>
              <a:chOff x="971" y="2903"/>
              <a:chExt cx="310" cy="358"/>
            </a:xfrm>
          </p:grpSpPr>
          <p:sp>
            <p:nvSpPr>
              <p:cNvPr id="141" name="Freeform 145"/>
              <p:cNvSpPr>
                <a:spLocks/>
              </p:cNvSpPr>
              <p:nvPr/>
            </p:nvSpPr>
            <p:spPr bwMode="auto">
              <a:xfrm>
                <a:off x="971" y="2903"/>
                <a:ext cx="310" cy="358"/>
              </a:xfrm>
              <a:custGeom>
                <a:avLst/>
                <a:gdLst>
                  <a:gd name="T0" fmla="*/ 155 w 622"/>
                  <a:gd name="T1" fmla="*/ 0 h 716"/>
                  <a:gd name="T2" fmla="*/ 123 w 622"/>
                  <a:gd name="T3" fmla="*/ 1 h 716"/>
                  <a:gd name="T4" fmla="*/ 95 w 622"/>
                  <a:gd name="T5" fmla="*/ 4 h 716"/>
                  <a:gd name="T6" fmla="*/ 69 w 622"/>
                  <a:gd name="T7" fmla="*/ 8 h 716"/>
                  <a:gd name="T8" fmla="*/ 56 w 622"/>
                  <a:gd name="T9" fmla="*/ 11 h 716"/>
                  <a:gd name="T10" fmla="*/ 46 w 622"/>
                  <a:gd name="T11" fmla="*/ 14 h 716"/>
                  <a:gd name="T12" fmla="*/ 36 w 622"/>
                  <a:gd name="T13" fmla="*/ 16 h 716"/>
                  <a:gd name="T14" fmla="*/ 27 w 622"/>
                  <a:gd name="T15" fmla="*/ 20 h 716"/>
                  <a:gd name="T16" fmla="*/ 19 w 622"/>
                  <a:gd name="T17" fmla="*/ 23 h 716"/>
                  <a:gd name="T18" fmla="*/ 12 w 622"/>
                  <a:gd name="T19" fmla="*/ 28 h 716"/>
                  <a:gd name="T20" fmla="*/ 7 w 622"/>
                  <a:gd name="T21" fmla="*/ 31 h 716"/>
                  <a:gd name="T22" fmla="*/ 3 w 622"/>
                  <a:gd name="T23" fmla="*/ 36 h 716"/>
                  <a:gd name="T24" fmla="*/ 1 w 622"/>
                  <a:gd name="T25" fmla="*/ 40 h 716"/>
                  <a:gd name="T26" fmla="*/ 0 w 622"/>
                  <a:gd name="T27" fmla="*/ 45 h 716"/>
                  <a:gd name="T28" fmla="*/ 0 w 622"/>
                  <a:gd name="T29" fmla="*/ 314 h 716"/>
                  <a:gd name="T30" fmla="*/ 1 w 622"/>
                  <a:gd name="T31" fmla="*/ 318 h 716"/>
                  <a:gd name="T32" fmla="*/ 3 w 622"/>
                  <a:gd name="T33" fmla="*/ 323 h 716"/>
                  <a:gd name="T34" fmla="*/ 7 w 622"/>
                  <a:gd name="T35" fmla="*/ 327 h 716"/>
                  <a:gd name="T36" fmla="*/ 12 w 622"/>
                  <a:gd name="T37" fmla="*/ 331 h 716"/>
                  <a:gd name="T38" fmla="*/ 19 w 622"/>
                  <a:gd name="T39" fmla="*/ 335 h 716"/>
                  <a:gd name="T40" fmla="*/ 27 w 622"/>
                  <a:gd name="T41" fmla="*/ 339 h 716"/>
                  <a:gd name="T42" fmla="*/ 36 w 622"/>
                  <a:gd name="T43" fmla="*/ 342 h 716"/>
                  <a:gd name="T44" fmla="*/ 46 w 622"/>
                  <a:gd name="T45" fmla="*/ 345 h 716"/>
                  <a:gd name="T46" fmla="*/ 56 w 622"/>
                  <a:gd name="T47" fmla="*/ 348 h 716"/>
                  <a:gd name="T48" fmla="*/ 69 w 622"/>
                  <a:gd name="T49" fmla="*/ 351 h 716"/>
                  <a:gd name="T50" fmla="*/ 95 w 622"/>
                  <a:gd name="T51" fmla="*/ 354 h 716"/>
                  <a:gd name="T52" fmla="*/ 123 w 622"/>
                  <a:gd name="T53" fmla="*/ 357 h 716"/>
                  <a:gd name="T54" fmla="*/ 155 w 622"/>
                  <a:gd name="T55" fmla="*/ 358 h 716"/>
                  <a:gd name="T56" fmla="*/ 186 w 622"/>
                  <a:gd name="T57" fmla="*/ 357 h 716"/>
                  <a:gd name="T58" fmla="*/ 215 w 622"/>
                  <a:gd name="T59" fmla="*/ 354 h 716"/>
                  <a:gd name="T60" fmla="*/ 241 w 622"/>
                  <a:gd name="T61" fmla="*/ 351 h 716"/>
                  <a:gd name="T62" fmla="*/ 254 w 622"/>
                  <a:gd name="T63" fmla="*/ 348 h 716"/>
                  <a:gd name="T64" fmla="*/ 264 w 622"/>
                  <a:gd name="T65" fmla="*/ 345 h 716"/>
                  <a:gd name="T66" fmla="*/ 274 w 622"/>
                  <a:gd name="T67" fmla="*/ 342 h 716"/>
                  <a:gd name="T68" fmla="*/ 283 w 622"/>
                  <a:gd name="T69" fmla="*/ 339 h 716"/>
                  <a:gd name="T70" fmla="*/ 291 w 622"/>
                  <a:gd name="T71" fmla="*/ 335 h 716"/>
                  <a:gd name="T72" fmla="*/ 298 w 622"/>
                  <a:gd name="T73" fmla="*/ 331 h 716"/>
                  <a:gd name="T74" fmla="*/ 303 w 622"/>
                  <a:gd name="T75" fmla="*/ 327 h 716"/>
                  <a:gd name="T76" fmla="*/ 307 w 622"/>
                  <a:gd name="T77" fmla="*/ 323 h 716"/>
                  <a:gd name="T78" fmla="*/ 309 w 622"/>
                  <a:gd name="T79" fmla="*/ 318 h 716"/>
                  <a:gd name="T80" fmla="*/ 310 w 622"/>
                  <a:gd name="T81" fmla="*/ 314 h 716"/>
                  <a:gd name="T82" fmla="*/ 310 w 622"/>
                  <a:gd name="T83" fmla="*/ 45 h 716"/>
                  <a:gd name="T84" fmla="*/ 309 w 622"/>
                  <a:gd name="T85" fmla="*/ 40 h 716"/>
                  <a:gd name="T86" fmla="*/ 307 w 622"/>
                  <a:gd name="T87" fmla="*/ 36 h 716"/>
                  <a:gd name="T88" fmla="*/ 303 w 622"/>
                  <a:gd name="T89" fmla="*/ 31 h 716"/>
                  <a:gd name="T90" fmla="*/ 298 w 622"/>
                  <a:gd name="T91" fmla="*/ 28 h 716"/>
                  <a:gd name="T92" fmla="*/ 291 w 622"/>
                  <a:gd name="T93" fmla="*/ 23 h 716"/>
                  <a:gd name="T94" fmla="*/ 283 w 622"/>
                  <a:gd name="T95" fmla="*/ 20 h 716"/>
                  <a:gd name="T96" fmla="*/ 274 w 622"/>
                  <a:gd name="T97" fmla="*/ 16 h 716"/>
                  <a:gd name="T98" fmla="*/ 264 w 622"/>
                  <a:gd name="T99" fmla="*/ 14 h 716"/>
                  <a:gd name="T100" fmla="*/ 254 w 622"/>
                  <a:gd name="T101" fmla="*/ 11 h 716"/>
                  <a:gd name="T102" fmla="*/ 241 w 622"/>
                  <a:gd name="T103" fmla="*/ 8 h 716"/>
                  <a:gd name="T104" fmla="*/ 215 w 622"/>
                  <a:gd name="T105" fmla="*/ 4 h 716"/>
                  <a:gd name="T106" fmla="*/ 186 w 622"/>
                  <a:gd name="T107" fmla="*/ 1 h 716"/>
                  <a:gd name="T108" fmla="*/ 155 w 622"/>
                  <a:gd name="T109" fmla="*/ 0 h 71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6">
                    <a:moveTo>
                      <a:pt x="310" y="0"/>
                    </a:moveTo>
                    <a:lnTo>
                      <a:pt x="247" y="1"/>
                    </a:lnTo>
                    <a:lnTo>
                      <a:pt x="190" y="7"/>
                    </a:lnTo>
                    <a:lnTo>
                      <a:pt x="138" y="15"/>
                    </a:lnTo>
                    <a:lnTo>
                      <a:pt x="113" y="21"/>
                    </a:lnTo>
                    <a:lnTo>
                      <a:pt x="92" y="27"/>
                    </a:lnTo>
                    <a:lnTo>
                      <a:pt x="72" y="32"/>
                    </a:lnTo>
                    <a:lnTo>
                      <a:pt x="54" y="40"/>
                    </a:lnTo>
                    <a:lnTo>
                      <a:pt x="38" y="46"/>
                    </a:lnTo>
                    <a:lnTo>
                      <a:pt x="25" y="55"/>
                    </a:lnTo>
                    <a:lnTo>
                      <a:pt x="15" y="62"/>
                    </a:lnTo>
                    <a:lnTo>
                      <a:pt x="7" y="71"/>
                    </a:lnTo>
                    <a:lnTo>
                      <a:pt x="2" y="80"/>
                    </a:lnTo>
                    <a:lnTo>
                      <a:pt x="0" y="89"/>
                    </a:lnTo>
                    <a:lnTo>
                      <a:pt x="0" y="627"/>
                    </a:lnTo>
                    <a:lnTo>
                      <a:pt x="2" y="636"/>
                    </a:lnTo>
                    <a:lnTo>
                      <a:pt x="7" y="645"/>
                    </a:lnTo>
                    <a:lnTo>
                      <a:pt x="15" y="653"/>
                    </a:lnTo>
                    <a:lnTo>
                      <a:pt x="25" y="661"/>
                    </a:lnTo>
                    <a:lnTo>
                      <a:pt x="38" y="670"/>
                    </a:lnTo>
                    <a:lnTo>
                      <a:pt x="54" y="677"/>
                    </a:lnTo>
                    <a:lnTo>
                      <a:pt x="72" y="683"/>
                    </a:lnTo>
                    <a:lnTo>
                      <a:pt x="92" y="689"/>
                    </a:lnTo>
                    <a:lnTo>
                      <a:pt x="113" y="695"/>
                    </a:lnTo>
                    <a:lnTo>
                      <a:pt x="138" y="701"/>
                    </a:lnTo>
                    <a:lnTo>
                      <a:pt x="190" y="708"/>
                    </a:lnTo>
                    <a:lnTo>
                      <a:pt x="247" y="714"/>
                    </a:lnTo>
                    <a:lnTo>
                      <a:pt x="310" y="716"/>
                    </a:lnTo>
                    <a:lnTo>
                      <a:pt x="373" y="714"/>
                    </a:lnTo>
                    <a:lnTo>
                      <a:pt x="432" y="708"/>
                    </a:lnTo>
                    <a:lnTo>
                      <a:pt x="484" y="701"/>
                    </a:lnTo>
                    <a:lnTo>
                      <a:pt x="509" y="695"/>
                    </a:lnTo>
                    <a:lnTo>
                      <a:pt x="530" y="689"/>
                    </a:lnTo>
                    <a:lnTo>
                      <a:pt x="550" y="683"/>
                    </a:lnTo>
                    <a:lnTo>
                      <a:pt x="568" y="677"/>
                    </a:lnTo>
                    <a:lnTo>
                      <a:pt x="584" y="670"/>
                    </a:lnTo>
                    <a:lnTo>
                      <a:pt x="597" y="661"/>
                    </a:lnTo>
                    <a:lnTo>
                      <a:pt x="607" y="653"/>
                    </a:lnTo>
                    <a:lnTo>
                      <a:pt x="615" y="645"/>
                    </a:lnTo>
                    <a:lnTo>
                      <a:pt x="620" y="636"/>
                    </a:lnTo>
                    <a:lnTo>
                      <a:pt x="622" y="627"/>
                    </a:lnTo>
                    <a:lnTo>
                      <a:pt x="622" y="89"/>
                    </a:lnTo>
                    <a:lnTo>
                      <a:pt x="620" y="80"/>
                    </a:lnTo>
                    <a:lnTo>
                      <a:pt x="615" y="71"/>
                    </a:lnTo>
                    <a:lnTo>
                      <a:pt x="607" y="62"/>
                    </a:lnTo>
                    <a:lnTo>
                      <a:pt x="597" y="55"/>
                    </a:lnTo>
                    <a:lnTo>
                      <a:pt x="584" y="46"/>
                    </a:lnTo>
                    <a:lnTo>
                      <a:pt x="568" y="40"/>
                    </a:lnTo>
                    <a:lnTo>
                      <a:pt x="550" y="32"/>
                    </a:lnTo>
                    <a:lnTo>
                      <a:pt x="530" y="27"/>
                    </a:lnTo>
                    <a:lnTo>
                      <a:pt x="509" y="21"/>
                    </a:lnTo>
                    <a:lnTo>
                      <a:pt x="484" y="15"/>
                    </a:lnTo>
                    <a:lnTo>
                      <a:pt x="432" y="7"/>
                    </a:lnTo>
                    <a:lnTo>
                      <a:pt x="373" y="1"/>
                    </a:lnTo>
                    <a:lnTo>
                      <a:pt x="310" y="0"/>
                    </a:lnTo>
                    <a:close/>
                  </a:path>
                </a:pathLst>
              </a:custGeom>
              <a:solidFill>
                <a:srgbClr val="00A0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42" name="Freeform 146"/>
              <p:cNvSpPr>
                <a:spLocks/>
              </p:cNvSpPr>
              <p:nvPr/>
            </p:nvSpPr>
            <p:spPr bwMode="auto">
              <a:xfrm>
                <a:off x="971" y="2903"/>
                <a:ext cx="310" cy="90"/>
              </a:xfrm>
              <a:custGeom>
                <a:avLst/>
                <a:gdLst>
                  <a:gd name="T0" fmla="*/ 0 w 622"/>
                  <a:gd name="T1" fmla="*/ 45 h 179"/>
                  <a:gd name="T2" fmla="*/ 1 w 622"/>
                  <a:gd name="T3" fmla="*/ 49 h 179"/>
                  <a:gd name="T4" fmla="*/ 3 w 622"/>
                  <a:gd name="T5" fmla="*/ 54 h 179"/>
                  <a:gd name="T6" fmla="*/ 7 w 622"/>
                  <a:gd name="T7" fmla="*/ 58 h 179"/>
                  <a:gd name="T8" fmla="*/ 12 w 622"/>
                  <a:gd name="T9" fmla="*/ 62 h 179"/>
                  <a:gd name="T10" fmla="*/ 19 w 622"/>
                  <a:gd name="T11" fmla="*/ 66 h 179"/>
                  <a:gd name="T12" fmla="*/ 27 w 622"/>
                  <a:gd name="T13" fmla="*/ 70 h 179"/>
                  <a:gd name="T14" fmla="*/ 36 w 622"/>
                  <a:gd name="T15" fmla="*/ 74 h 179"/>
                  <a:gd name="T16" fmla="*/ 46 w 622"/>
                  <a:gd name="T17" fmla="*/ 77 h 179"/>
                  <a:gd name="T18" fmla="*/ 56 w 622"/>
                  <a:gd name="T19" fmla="*/ 79 h 179"/>
                  <a:gd name="T20" fmla="*/ 69 w 622"/>
                  <a:gd name="T21" fmla="*/ 82 h 179"/>
                  <a:gd name="T22" fmla="*/ 95 w 622"/>
                  <a:gd name="T23" fmla="*/ 86 h 179"/>
                  <a:gd name="T24" fmla="*/ 123 w 622"/>
                  <a:gd name="T25" fmla="*/ 89 h 179"/>
                  <a:gd name="T26" fmla="*/ 155 w 622"/>
                  <a:gd name="T27" fmla="*/ 90 h 179"/>
                  <a:gd name="T28" fmla="*/ 186 w 622"/>
                  <a:gd name="T29" fmla="*/ 89 h 179"/>
                  <a:gd name="T30" fmla="*/ 215 w 622"/>
                  <a:gd name="T31" fmla="*/ 86 h 179"/>
                  <a:gd name="T32" fmla="*/ 241 w 622"/>
                  <a:gd name="T33" fmla="*/ 82 h 179"/>
                  <a:gd name="T34" fmla="*/ 254 w 622"/>
                  <a:gd name="T35" fmla="*/ 79 h 179"/>
                  <a:gd name="T36" fmla="*/ 264 w 622"/>
                  <a:gd name="T37" fmla="*/ 77 h 179"/>
                  <a:gd name="T38" fmla="*/ 274 w 622"/>
                  <a:gd name="T39" fmla="*/ 74 h 179"/>
                  <a:gd name="T40" fmla="*/ 283 w 622"/>
                  <a:gd name="T41" fmla="*/ 70 h 179"/>
                  <a:gd name="T42" fmla="*/ 291 w 622"/>
                  <a:gd name="T43" fmla="*/ 66 h 179"/>
                  <a:gd name="T44" fmla="*/ 298 w 622"/>
                  <a:gd name="T45" fmla="*/ 62 h 179"/>
                  <a:gd name="T46" fmla="*/ 303 w 622"/>
                  <a:gd name="T47" fmla="*/ 58 h 179"/>
                  <a:gd name="T48" fmla="*/ 307 w 622"/>
                  <a:gd name="T49" fmla="*/ 54 h 179"/>
                  <a:gd name="T50" fmla="*/ 309 w 622"/>
                  <a:gd name="T51" fmla="*/ 49 h 179"/>
                  <a:gd name="T52" fmla="*/ 310 w 622"/>
                  <a:gd name="T53" fmla="*/ 45 h 179"/>
                  <a:gd name="T54" fmla="*/ 309 w 622"/>
                  <a:gd name="T55" fmla="*/ 40 h 179"/>
                  <a:gd name="T56" fmla="*/ 307 w 622"/>
                  <a:gd name="T57" fmla="*/ 36 h 179"/>
                  <a:gd name="T58" fmla="*/ 303 w 622"/>
                  <a:gd name="T59" fmla="*/ 31 h 179"/>
                  <a:gd name="T60" fmla="*/ 298 w 622"/>
                  <a:gd name="T61" fmla="*/ 28 h 179"/>
                  <a:gd name="T62" fmla="*/ 291 w 622"/>
                  <a:gd name="T63" fmla="*/ 23 h 179"/>
                  <a:gd name="T64" fmla="*/ 283 w 622"/>
                  <a:gd name="T65" fmla="*/ 20 h 179"/>
                  <a:gd name="T66" fmla="*/ 274 w 622"/>
                  <a:gd name="T67" fmla="*/ 16 h 179"/>
                  <a:gd name="T68" fmla="*/ 264 w 622"/>
                  <a:gd name="T69" fmla="*/ 14 h 179"/>
                  <a:gd name="T70" fmla="*/ 254 w 622"/>
                  <a:gd name="T71" fmla="*/ 11 h 179"/>
                  <a:gd name="T72" fmla="*/ 241 w 622"/>
                  <a:gd name="T73" fmla="*/ 8 h 179"/>
                  <a:gd name="T74" fmla="*/ 215 w 622"/>
                  <a:gd name="T75" fmla="*/ 4 h 179"/>
                  <a:gd name="T76" fmla="*/ 186 w 622"/>
                  <a:gd name="T77" fmla="*/ 1 h 179"/>
                  <a:gd name="T78" fmla="*/ 155 w 622"/>
                  <a:gd name="T79" fmla="*/ 0 h 179"/>
                  <a:gd name="T80" fmla="*/ 123 w 622"/>
                  <a:gd name="T81" fmla="*/ 1 h 179"/>
                  <a:gd name="T82" fmla="*/ 95 w 622"/>
                  <a:gd name="T83" fmla="*/ 4 h 179"/>
                  <a:gd name="T84" fmla="*/ 69 w 622"/>
                  <a:gd name="T85" fmla="*/ 8 h 179"/>
                  <a:gd name="T86" fmla="*/ 56 w 622"/>
                  <a:gd name="T87" fmla="*/ 11 h 179"/>
                  <a:gd name="T88" fmla="*/ 46 w 622"/>
                  <a:gd name="T89" fmla="*/ 14 h 179"/>
                  <a:gd name="T90" fmla="*/ 36 w 622"/>
                  <a:gd name="T91" fmla="*/ 16 h 179"/>
                  <a:gd name="T92" fmla="*/ 27 w 622"/>
                  <a:gd name="T93" fmla="*/ 20 h 179"/>
                  <a:gd name="T94" fmla="*/ 19 w 622"/>
                  <a:gd name="T95" fmla="*/ 23 h 179"/>
                  <a:gd name="T96" fmla="*/ 12 w 622"/>
                  <a:gd name="T97" fmla="*/ 28 h 179"/>
                  <a:gd name="T98" fmla="*/ 7 w 622"/>
                  <a:gd name="T99" fmla="*/ 31 h 179"/>
                  <a:gd name="T100" fmla="*/ 3 w 622"/>
                  <a:gd name="T101" fmla="*/ 36 h 179"/>
                  <a:gd name="T102" fmla="*/ 1 w 622"/>
                  <a:gd name="T103" fmla="*/ 40 h 179"/>
                  <a:gd name="T104" fmla="*/ 0 w 622"/>
                  <a:gd name="T105" fmla="*/ 45 h 17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22" h="179">
                    <a:moveTo>
                      <a:pt x="0" y="89"/>
                    </a:moveTo>
                    <a:lnTo>
                      <a:pt x="2" y="98"/>
                    </a:lnTo>
                    <a:lnTo>
                      <a:pt x="7" y="107"/>
                    </a:lnTo>
                    <a:lnTo>
                      <a:pt x="15" y="115"/>
                    </a:lnTo>
                    <a:lnTo>
                      <a:pt x="25" y="124"/>
                    </a:lnTo>
                    <a:lnTo>
                      <a:pt x="38" y="132"/>
                    </a:lnTo>
                    <a:lnTo>
                      <a:pt x="54" y="139"/>
                    </a:lnTo>
                    <a:lnTo>
                      <a:pt x="72" y="147"/>
                    </a:lnTo>
                    <a:lnTo>
                      <a:pt x="92" y="153"/>
                    </a:lnTo>
                    <a:lnTo>
                      <a:pt x="113" y="158"/>
                    </a:lnTo>
                    <a:lnTo>
                      <a:pt x="138" y="164"/>
                    </a:lnTo>
                    <a:lnTo>
                      <a:pt x="190" y="172"/>
                    </a:lnTo>
                    <a:lnTo>
                      <a:pt x="247" y="178"/>
                    </a:lnTo>
                    <a:lnTo>
                      <a:pt x="310" y="179"/>
                    </a:lnTo>
                    <a:lnTo>
                      <a:pt x="373" y="178"/>
                    </a:lnTo>
                    <a:lnTo>
                      <a:pt x="432" y="172"/>
                    </a:lnTo>
                    <a:lnTo>
                      <a:pt x="484" y="164"/>
                    </a:lnTo>
                    <a:lnTo>
                      <a:pt x="509" y="158"/>
                    </a:lnTo>
                    <a:lnTo>
                      <a:pt x="530" y="153"/>
                    </a:lnTo>
                    <a:lnTo>
                      <a:pt x="550" y="147"/>
                    </a:lnTo>
                    <a:lnTo>
                      <a:pt x="568" y="139"/>
                    </a:lnTo>
                    <a:lnTo>
                      <a:pt x="584" y="132"/>
                    </a:lnTo>
                    <a:lnTo>
                      <a:pt x="597" y="124"/>
                    </a:lnTo>
                    <a:lnTo>
                      <a:pt x="607" y="115"/>
                    </a:lnTo>
                    <a:lnTo>
                      <a:pt x="615" y="107"/>
                    </a:lnTo>
                    <a:lnTo>
                      <a:pt x="620" y="98"/>
                    </a:lnTo>
                    <a:lnTo>
                      <a:pt x="622" y="89"/>
                    </a:lnTo>
                    <a:lnTo>
                      <a:pt x="620" y="80"/>
                    </a:lnTo>
                    <a:lnTo>
                      <a:pt x="615" y="71"/>
                    </a:lnTo>
                    <a:lnTo>
                      <a:pt x="607" y="62"/>
                    </a:lnTo>
                    <a:lnTo>
                      <a:pt x="597" y="55"/>
                    </a:lnTo>
                    <a:lnTo>
                      <a:pt x="584" y="46"/>
                    </a:lnTo>
                    <a:lnTo>
                      <a:pt x="568" y="40"/>
                    </a:lnTo>
                    <a:lnTo>
                      <a:pt x="550" y="32"/>
                    </a:lnTo>
                    <a:lnTo>
                      <a:pt x="530" y="27"/>
                    </a:lnTo>
                    <a:lnTo>
                      <a:pt x="509" y="21"/>
                    </a:lnTo>
                    <a:lnTo>
                      <a:pt x="484" y="15"/>
                    </a:lnTo>
                    <a:lnTo>
                      <a:pt x="432" y="7"/>
                    </a:lnTo>
                    <a:lnTo>
                      <a:pt x="373" y="1"/>
                    </a:lnTo>
                    <a:lnTo>
                      <a:pt x="310" y="0"/>
                    </a:lnTo>
                    <a:lnTo>
                      <a:pt x="247" y="1"/>
                    </a:lnTo>
                    <a:lnTo>
                      <a:pt x="190" y="7"/>
                    </a:lnTo>
                    <a:lnTo>
                      <a:pt x="138" y="15"/>
                    </a:lnTo>
                    <a:lnTo>
                      <a:pt x="113" y="21"/>
                    </a:lnTo>
                    <a:lnTo>
                      <a:pt x="92" y="27"/>
                    </a:lnTo>
                    <a:lnTo>
                      <a:pt x="72" y="32"/>
                    </a:lnTo>
                    <a:lnTo>
                      <a:pt x="54" y="40"/>
                    </a:lnTo>
                    <a:lnTo>
                      <a:pt x="38" y="46"/>
                    </a:lnTo>
                    <a:lnTo>
                      <a:pt x="25" y="55"/>
                    </a:lnTo>
                    <a:lnTo>
                      <a:pt x="15" y="62"/>
                    </a:lnTo>
                    <a:lnTo>
                      <a:pt x="7" y="71"/>
                    </a:lnTo>
                    <a:lnTo>
                      <a:pt x="2" y="80"/>
                    </a:lnTo>
                    <a:lnTo>
                      <a:pt x="0" y="89"/>
                    </a:lnTo>
                    <a:close/>
                  </a:path>
                </a:pathLst>
              </a:custGeom>
              <a:solidFill>
                <a:srgbClr val="32B3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43" name="Freeform 147"/>
              <p:cNvSpPr>
                <a:spLocks/>
              </p:cNvSpPr>
              <p:nvPr/>
            </p:nvSpPr>
            <p:spPr bwMode="auto">
              <a:xfrm>
                <a:off x="971" y="2903"/>
                <a:ext cx="310" cy="358"/>
              </a:xfrm>
              <a:custGeom>
                <a:avLst/>
                <a:gdLst>
                  <a:gd name="T0" fmla="*/ 155 w 622"/>
                  <a:gd name="T1" fmla="*/ 0 h 716"/>
                  <a:gd name="T2" fmla="*/ 123 w 622"/>
                  <a:gd name="T3" fmla="*/ 1 h 716"/>
                  <a:gd name="T4" fmla="*/ 95 w 622"/>
                  <a:gd name="T5" fmla="*/ 4 h 716"/>
                  <a:gd name="T6" fmla="*/ 69 w 622"/>
                  <a:gd name="T7" fmla="*/ 8 h 716"/>
                  <a:gd name="T8" fmla="*/ 56 w 622"/>
                  <a:gd name="T9" fmla="*/ 11 h 716"/>
                  <a:gd name="T10" fmla="*/ 46 w 622"/>
                  <a:gd name="T11" fmla="*/ 14 h 716"/>
                  <a:gd name="T12" fmla="*/ 36 w 622"/>
                  <a:gd name="T13" fmla="*/ 16 h 716"/>
                  <a:gd name="T14" fmla="*/ 27 w 622"/>
                  <a:gd name="T15" fmla="*/ 20 h 716"/>
                  <a:gd name="T16" fmla="*/ 19 w 622"/>
                  <a:gd name="T17" fmla="*/ 23 h 716"/>
                  <a:gd name="T18" fmla="*/ 12 w 622"/>
                  <a:gd name="T19" fmla="*/ 28 h 716"/>
                  <a:gd name="T20" fmla="*/ 7 w 622"/>
                  <a:gd name="T21" fmla="*/ 31 h 716"/>
                  <a:gd name="T22" fmla="*/ 3 w 622"/>
                  <a:gd name="T23" fmla="*/ 36 h 716"/>
                  <a:gd name="T24" fmla="*/ 1 w 622"/>
                  <a:gd name="T25" fmla="*/ 40 h 716"/>
                  <a:gd name="T26" fmla="*/ 0 w 622"/>
                  <a:gd name="T27" fmla="*/ 45 h 716"/>
                  <a:gd name="T28" fmla="*/ 0 w 622"/>
                  <a:gd name="T29" fmla="*/ 314 h 716"/>
                  <a:gd name="T30" fmla="*/ 1 w 622"/>
                  <a:gd name="T31" fmla="*/ 318 h 716"/>
                  <a:gd name="T32" fmla="*/ 3 w 622"/>
                  <a:gd name="T33" fmla="*/ 323 h 716"/>
                  <a:gd name="T34" fmla="*/ 7 w 622"/>
                  <a:gd name="T35" fmla="*/ 327 h 716"/>
                  <a:gd name="T36" fmla="*/ 12 w 622"/>
                  <a:gd name="T37" fmla="*/ 331 h 716"/>
                  <a:gd name="T38" fmla="*/ 19 w 622"/>
                  <a:gd name="T39" fmla="*/ 335 h 716"/>
                  <a:gd name="T40" fmla="*/ 27 w 622"/>
                  <a:gd name="T41" fmla="*/ 339 h 716"/>
                  <a:gd name="T42" fmla="*/ 36 w 622"/>
                  <a:gd name="T43" fmla="*/ 342 h 716"/>
                  <a:gd name="T44" fmla="*/ 46 w 622"/>
                  <a:gd name="T45" fmla="*/ 345 h 716"/>
                  <a:gd name="T46" fmla="*/ 56 w 622"/>
                  <a:gd name="T47" fmla="*/ 348 h 716"/>
                  <a:gd name="T48" fmla="*/ 69 w 622"/>
                  <a:gd name="T49" fmla="*/ 351 h 716"/>
                  <a:gd name="T50" fmla="*/ 95 w 622"/>
                  <a:gd name="T51" fmla="*/ 354 h 716"/>
                  <a:gd name="T52" fmla="*/ 123 w 622"/>
                  <a:gd name="T53" fmla="*/ 357 h 716"/>
                  <a:gd name="T54" fmla="*/ 155 w 622"/>
                  <a:gd name="T55" fmla="*/ 358 h 716"/>
                  <a:gd name="T56" fmla="*/ 186 w 622"/>
                  <a:gd name="T57" fmla="*/ 357 h 716"/>
                  <a:gd name="T58" fmla="*/ 215 w 622"/>
                  <a:gd name="T59" fmla="*/ 354 h 716"/>
                  <a:gd name="T60" fmla="*/ 241 w 622"/>
                  <a:gd name="T61" fmla="*/ 351 h 716"/>
                  <a:gd name="T62" fmla="*/ 254 w 622"/>
                  <a:gd name="T63" fmla="*/ 348 h 716"/>
                  <a:gd name="T64" fmla="*/ 264 w 622"/>
                  <a:gd name="T65" fmla="*/ 345 h 716"/>
                  <a:gd name="T66" fmla="*/ 274 w 622"/>
                  <a:gd name="T67" fmla="*/ 342 h 716"/>
                  <a:gd name="T68" fmla="*/ 283 w 622"/>
                  <a:gd name="T69" fmla="*/ 339 h 716"/>
                  <a:gd name="T70" fmla="*/ 291 w 622"/>
                  <a:gd name="T71" fmla="*/ 335 h 716"/>
                  <a:gd name="T72" fmla="*/ 298 w 622"/>
                  <a:gd name="T73" fmla="*/ 331 h 716"/>
                  <a:gd name="T74" fmla="*/ 303 w 622"/>
                  <a:gd name="T75" fmla="*/ 327 h 716"/>
                  <a:gd name="T76" fmla="*/ 307 w 622"/>
                  <a:gd name="T77" fmla="*/ 323 h 716"/>
                  <a:gd name="T78" fmla="*/ 309 w 622"/>
                  <a:gd name="T79" fmla="*/ 318 h 716"/>
                  <a:gd name="T80" fmla="*/ 310 w 622"/>
                  <a:gd name="T81" fmla="*/ 314 h 716"/>
                  <a:gd name="T82" fmla="*/ 310 w 622"/>
                  <a:gd name="T83" fmla="*/ 45 h 716"/>
                  <a:gd name="T84" fmla="*/ 309 w 622"/>
                  <a:gd name="T85" fmla="*/ 40 h 716"/>
                  <a:gd name="T86" fmla="*/ 307 w 622"/>
                  <a:gd name="T87" fmla="*/ 36 h 716"/>
                  <a:gd name="T88" fmla="*/ 303 w 622"/>
                  <a:gd name="T89" fmla="*/ 31 h 716"/>
                  <a:gd name="T90" fmla="*/ 298 w 622"/>
                  <a:gd name="T91" fmla="*/ 28 h 716"/>
                  <a:gd name="T92" fmla="*/ 291 w 622"/>
                  <a:gd name="T93" fmla="*/ 23 h 716"/>
                  <a:gd name="T94" fmla="*/ 283 w 622"/>
                  <a:gd name="T95" fmla="*/ 20 h 716"/>
                  <a:gd name="T96" fmla="*/ 274 w 622"/>
                  <a:gd name="T97" fmla="*/ 16 h 716"/>
                  <a:gd name="T98" fmla="*/ 264 w 622"/>
                  <a:gd name="T99" fmla="*/ 14 h 716"/>
                  <a:gd name="T100" fmla="*/ 254 w 622"/>
                  <a:gd name="T101" fmla="*/ 11 h 716"/>
                  <a:gd name="T102" fmla="*/ 241 w 622"/>
                  <a:gd name="T103" fmla="*/ 8 h 716"/>
                  <a:gd name="T104" fmla="*/ 215 w 622"/>
                  <a:gd name="T105" fmla="*/ 4 h 716"/>
                  <a:gd name="T106" fmla="*/ 186 w 622"/>
                  <a:gd name="T107" fmla="*/ 1 h 716"/>
                  <a:gd name="T108" fmla="*/ 155 w 622"/>
                  <a:gd name="T109" fmla="*/ 0 h 71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6">
                    <a:moveTo>
                      <a:pt x="310" y="0"/>
                    </a:moveTo>
                    <a:lnTo>
                      <a:pt x="247" y="1"/>
                    </a:lnTo>
                    <a:lnTo>
                      <a:pt x="190" y="7"/>
                    </a:lnTo>
                    <a:lnTo>
                      <a:pt x="138" y="15"/>
                    </a:lnTo>
                    <a:lnTo>
                      <a:pt x="113" y="21"/>
                    </a:lnTo>
                    <a:lnTo>
                      <a:pt x="92" y="27"/>
                    </a:lnTo>
                    <a:lnTo>
                      <a:pt x="72" y="32"/>
                    </a:lnTo>
                    <a:lnTo>
                      <a:pt x="54" y="40"/>
                    </a:lnTo>
                    <a:lnTo>
                      <a:pt x="38" y="46"/>
                    </a:lnTo>
                    <a:lnTo>
                      <a:pt x="25" y="55"/>
                    </a:lnTo>
                    <a:lnTo>
                      <a:pt x="15" y="62"/>
                    </a:lnTo>
                    <a:lnTo>
                      <a:pt x="7" y="71"/>
                    </a:lnTo>
                    <a:lnTo>
                      <a:pt x="2" y="80"/>
                    </a:lnTo>
                    <a:lnTo>
                      <a:pt x="0" y="89"/>
                    </a:lnTo>
                    <a:lnTo>
                      <a:pt x="0" y="627"/>
                    </a:lnTo>
                    <a:lnTo>
                      <a:pt x="2" y="636"/>
                    </a:lnTo>
                    <a:lnTo>
                      <a:pt x="7" y="645"/>
                    </a:lnTo>
                    <a:lnTo>
                      <a:pt x="15" y="653"/>
                    </a:lnTo>
                    <a:lnTo>
                      <a:pt x="25" y="661"/>
                    </a:lnTo>
                    <a:lnTo>
                      <a:pt x="38" y="670"/>
                    </a:lnTo>
                    <a:lnTo>
                      <a:pt x="54" y="677"/>
                    </a:lnTo>
                    <a:lnTo>
                      <a:pt x="72" y="683"/>
                    </a:lnTo>
                    <a:lnTo>
                      <a:pt x="92" y="689"/>
                    </a:lnTo>
                    <a:lnTo>
                      <a:pt x="113" y="695"/>
                    </a:lnTo>
                    <a:lnTo>
                      <a:pt x="138" y="701"/>
                    </a:lnTo>
                    <a:lnTo>
                      <a:pt x="190" y="708"/>
                    </a:lnTo>
                    <a:lnTo>
                      <a:pt x="247" y="714"/>
                    </a:lnTo>
                    <a:lnTo>
                      <a:pt x="310" y="716"/>
                    </a:lnTo>
                    <a:lnTo>
                      <a:pt x="373" y="714"/>
                    </a:lnTo>
                    <a:lnTo>
                      <a:pt x="432" y="708"/>
                    </a:lnTo>
                    <a:lnTo>
                      <a:pt x="484" y="701"/>
                    </a:lnTo>
                    <a:lnTo>
                      <a:pt x="509" y="695"/>
                    </a:lnTo>
                    <a:lnTo>
                      <a:pt x="530" y="689"/>
                    </a:lnTo>
                    <a:lnTo>
                      <a:pt x="550" y="683"/>
                    </a:lnTo>
                    <a:lnTo>
                      <a:pt x="568" y="677"/>
                    </a:lnTo>
                    <a:lnTo>
                      <a:pt x="584" y="670"/>
                    </a:lnTo>
                    <a:lnTo>
                      <a:pt x="597" y="661"/>
                    </a:lnTo>
                    <a:lnTo>
                      <a:pt x="607" y="653"/>
                    </a:lnTo>
                    <a:lnTo>
                      <a:pt x="615" y="645"/>
                    </a:lnTo>
                    <a:lnTo>
                      <a:pt x="620" y="636"/>
                    </a:lnTo>
                    <a:lnTo>
                      <a:pt x="622" y="627"/>
                    </a:lnTo>
                    <a:lnTo>
                      <a:pt x="622" y="89"/>
                    </a:lnTo>
                    <a:lnTo>
                      <a:pt x="620" y="80"/>
                    </a:lnTo>
                    <a:lnTo>
                      <a:pt x="615" y="71"/>
                    </a:lnTo>
                    <a:lnTo>
                      <a:pt x="607" y="62"/>
                    </a:lnTo>
                    <a:lnTo>
                      <a:pt x="597" y="55"/>
                    </a:lnTo>
                    <a:lnTo>
                      <a:pt x="584" y="46"/>
                    </a:lnTo>
                    <a:lnTo>
                      <a:pt x="568" y="40"/>
                    </a:lnTo>
                    <a:lnTo>
                      <a:pt x="550" y="32"/>
                    </a:lnTo>
                    <a:lnTo>
                      <a:pt x="530" y="27"/>
                    </a:lnTo>
                    <a:lnTo>
                      <a:pt x="509" y="21"/>
                    </a:lnTo>
                    <a:lnTo>
                      <a:pt x="484" y="15"/>
                    </a:lnTo>
                    <a:lnTo>
                      <a:pt x="432" y="7"/>
                    </a:lnTo>
                    <a:lnTo>
                      <a:pt x="373" y="1"/>
                    </a:lnTo>
                    <a:lnTo>
                      <a:pt x="310" y="0"/>
                    </a:lnTo>
                    <a:close/>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sp>
            <p:nvSpPr>
              <p:cNvPr id="144" name="Freeform 148"/>
              <p:cNvSpPr>
                <a:spLocks/>
              </p:cNvSpPr>
              <p:nvPr/>
            </p:nvSpPr>
            <p:spPr bwMode="auto">
              <a:xfrm>
                <a:off x="971" y="2948"/>
                <a:ext cx="310" cy="45"/>
              </a:xfrm>
              <a:custGeom>
                <a:avLst/>
                <a:gdLst>
                  <a:gd name="T0" fmla="*/ 0 w 622"/>
                  <a:gd name="T1" fmla="*/ 0 h 90"/>
                  <a:gd name="T2" fmla="*/ 1 w 622"/>
                  <a:gd name="T3" fmla="*/ 5 h 90"/>
                  <a:gd name="T4" fmla="*/ 3 w 622"/>
                  <a:gd name="T5" fmla="*/ 9 h 90"/>
                  <a:gd name="T6" fmla="*/ 7 w 622"/>
                  <a:gd name="T7" fmla="*/ 13 h 90"/>
                  <a:gd name="T8" fmla="*/ 12 w 622"/>
                  <a:gd name="T9" fmla="*/ 18 h 90"/>
                  <a:gd name="T10" fmla="*/ 19 w 622"/>
                  <a:gd name="T11" fmla="*/ 22 h 90"/>
                  <a:gd name="T12" fmla="*/ 27 w 622"/>
                  <a:gd name="T13" fmla="*/ 25 h 90"/>
                  <a:gd name="T14" fmla="*/ 36 w 622"/>
                  <a:gd name="T15" fmla="*/ 29 h 90"/>
                  <a:gd name="T16" fmla="*/ 46 w 622"/>
                  <a:gd name="T17" fmla="*/ 32 h 90"/>
                  <a:gd name="T18" fmla="*/ 56 w 622"/>
                  <a:gd name="T19" fmla="*/ 35 h 90"/>
                  <a:gd name="T20" fmla="*/ 69 w 622"/>
                  <a:gd name="T21" fmla="*/ 38 h 90"/>
                  <a:gd name="T22" fmla="*/ 95 w 622"/>
                  <a:gd name="T23" fmla="*/ 42 h 90"/>
                  <a:gd name="T24" fmla="*/ 123 w 622"/>
                  <a:gd name="T25" fmla="*/ 45 h 90"/>
                  <a:gd name="T26" fmla="*/ 155 w 622"/>
                  <a:gd name="T27" fmla="*/ 45 h 90"/>
                  <a:gd name="T28" fmla="*/ 186 w 622"/>
                  <a:gd name="T29" fmla="*/ 45 h 90"/>
                  <a:gd name="T30" fmla="*/ 215 w 622"/>
                  <a:gd name="T31" fmla="*/ 42 h 90"/>
                  <a:gd name="T32" fmla="*/ 241 w 622"/>
                  <a:gd name="T33" fmla="*/ 38 h 90"/>
                  <a:gd name="T34" fmla="*/ 254 w 622"/>
                  <a:gd name="T35" fmla="*/ 35 h 90"/>
                  <a:gd name="T36" fmla="*/ 264 w 622"/>
                  <a:gd name="T37" fmla="*/ 32 h 90"/>
                  <a:gd name="T38" fmla="*/ 274 w 622"/>
                  <a:gd name="T39" fmla="*/ 29 h 90"/>
                  <a:gd name="T40" fmla="*/ 283 w 622"/>
                  <a:gd name="T41" fmla="*/ 25 h 90"/>
                  <a:gd name="T42" fmla="*/ 291 w 622"/>
                  <a:gd name="T43" fmla="*/ 22 h 90"/>
                  <a:gd name="T44" fmla="*/ 298 w 622"/>
                  <a:gd name="T45" fmla="*/ 18 h 90"/>
                  <a:gd name="T46" fmla="*/ 303 w 622"/>
                  <a:gd name="T47" fmla="*/ 13 h 90"/>
                  <a:gd name="T48" fmla="*/ 307 w 622"/>
                  <a:gd name="T49" fmla="*/ 9 h 90"/>
                  <a:gd name="T50" fmla="*/ 309 w 622"/>
                  <a:gd name="T51" fmla="*/ 5 h 90"/>
                  <a:gd name="T52" fmla="*/ 310 w 622"/>
                  <a:gd name="T53" fmla="*/ 0 h 9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22" h="90">
                    <a:moveTo>
                      <a:pt x="0" y="0"/>
                    </a:moveTo>
                    <a:lnTo>
                      <a:pt x="2" y="9"/>
                    </a:lnTo>
                    <a:lnTo>
                      <a:pt x="7" y="18"/>
                    </a:lnTo>
                    <a:lnTo>
                      <a:pt x="15" y="26"/>
                    </a:lnTo>
                    <a:lnTo>
                      <a:pt x="25" y="35"/>
                    </a:lnTo>
                    <a:lnTo>
                      <a:pt x="38" y="43"/>
                    </a:lnTo>
                    <a:lnTo>
                      <a:pt x="54" y="50"/>
                    </a:lnTo>
                    <a:lnTo>
                      <a:pt x="72" y="58"/>
                    </a:lnTo>
                    <a:lnTo>
                      <a:pt x="92" y="64"/>
                    </a:lnTo>
                    <a:lnTo>
                      <a:pt x="113" y="69"/>
                    </a:lnTo>
                    <a:lnTo>
                      <a:pt x="138" y="75"/>
                    </a:lnTo>
                    <a:lnTo>
                      <a:pt x="190" y="83"/>
                    </a:lnTo>
                    <a:lnTo>
                      <a:pt x="247" y="89"/>
                    </a:lnTo>
                    <a:lnTo>
                      <a:pt x="310" y="90"/>
                    </a:lnTo>
                    <a:lnTo>
                      <a:pt x="373" y="89"/>
                    </a:lnTo>
                    <a:lnTo>
                      <a:pt x="432" y="83"/>
                    </a:lnTo>
                    <a:lnTo>
                      <a:pt x="484" y="75"/>
                    </a:lnTo>
                    <a:lnTo>
                      <a:pt x="509" y="69"/>
                    </a:lnTo>
                    <a:lnTo>
                      <a:pt x="530" y="64"/>
                    </a:lnTo>
                    <a:lnTo>
                      <a:pt x="550" y="58"/>
                    </a:lnTo>
                    <a:lnTo>
                      <a:pt x="568" y="50"/>
                    </a:lnTo>
                    <a:lnTo>
                      <a:pt x="584" y="43"/>
                    </a:lnTo>
                    <a:lnTo>
                      <a:pt x="597" y="35"/>
                    </a:lnTo>
                    <a:lnTo>
                      <a:pt x="607" y="26"/>
                    </a:lnTo>
                    <a:lnTo>
                      <a:pt x="615" y="18"/>
                    </a:lnTo>
                    <a:lnTo>
                      <a:pt x="620" y="9"/>
                    </a:lnTo>
                    <a:lnTo>
                      <a:pt x="622"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grpSp>
        <p:grpSp>
          <p:nvGrpSpPr>
            <p:cNvPr id="113" name="Group 149"/>
            <p:cNvGrpSpPr>
              <a:grpSpLocks/>
            </p:cNvGrpSpPr>
            <p:nvPr/>
          </p:nvGrpSpPr>
          <p:grpSpPr bwMode="auto">
            <a:xfrm>
              <a:off x="1023" y="2948"/>
              <a:ext cx="310" cy="359"/>
              <a:chOff x="1023" y="2948"/>
              <a:chExt cx="310" cy="359"/>
            </a:xfrm>
          </p:grpSpPr>
          <p:sp>
            <p:nvSpPr>
              <p:cNvPr id="137" name="Freeform 150"/>
              <p:cNvSpPr>
                <a:spLocks/>
              </p:cNvSpPr>
              <p:nvPr/>
            </p:nvSpPr>
            <p:spPr bwMode="auto">
              <a:xfrm>
                <a:off x="1023" y="2948"/>
                <a:ext cx="310" cy="359"/>
              </a:xfrm>
              <a:custGeom>
                <a:avLst/>
                <a:gdLst>
                  <a:gd name="T0" fmla="*/ 155 w 622"/>
                  <a:gd name="T1" fmla="*/ 0 h 717"/>
                  <a:gd name="T2" fmla="*/ 123 w 622"/>
                  <a:gd name="T3" fmla="*/ 1 h 717"/>
                  <a:gd name="T4" fmla="*/ 95 w 622"/>
                  <a:gd name="T5" fmla="*/ 4 h 717"/>
                  <a:gd name="T6" fmla="*/ 69 w 622"/>
                  <a:gd name="T7" fmla="*/ 8 h 717"/>
                  <a:gd name="T8" fmla="*/ 56 w 622"/>
                  <a:gd name="T9" fmla="*/ 11 h 717"/>
                  <a:gd name="T10" fmla="*/ 45 w 622"/>
                  <a:gd name="T11" fmla="*/ 13 h 717"/>
                  <a:gd name="T12" fmla="*/ 36 w 622"/>
                  <a:gd name="T13" fmla="*/ 16 h 717"/>
                  <a:gd name="T14" fmla="*/ 27 w 622"/>
                  <a:gd name="T15" fmla="*/ 20 h 717"/>
                  <a:gd name="T16" fmla="*/ 19 w 622"/>
                  <a:gd name="T17" fmla="*/ 23 h 717"/>
                  <a:gd name="T18" fmla="*/ 12 w 622"/>
                  <a:gd name="T19" fmla="*/ 28 h 717"/>
                  <a:gd name="T20" fmla="*/ 7 w 622"/>
                  <a:gd name="T21" fmla="*/ 31 h 717"/>
                  <a:gd name="T22" fmla="*/ 3 w 622"/>
                  <a:gd name="T23" fmla="*/ 36 h 717"/>
                  <a:gd name="T24" fmla="*/ 1 w 622"/>
                  <a:gd name="T25" fmla="*/ 40 h 717"/>
                  <a:gd name="T26" fmla="*/ 0 w 622"/>
                  <a:gd name="T27" fmla="*/ 45 h 717"/>
                  <a:gd name="T28" fmla="*/ 0 w 622"/>
                  <a:gd name="T29" fmla="*/ 314 h 717"/>
                  <a:gd name="T30" fmla="*/ 1 w 622"/>
                  <a:gd name="T31" fmla="*/ 318 h 717"/>
                  <a:gd name="T32" fmla="*/ 3 w 622"/>
                  <a:gd name="T33" fmla="*/ 322 h 717"/>
                  <a:gd name="T34" fmla="*/ 7 w 622"/>
                  <a:gd name="T35" fmla="*/ 327 h 717"/>
                  <a:gd name="T36" fmla="*/ 12 w 622"/>
                  <a:gd name="T37" fmla="*/ 331 h 717"/>
                  <a:gd name="T38" fmla="*/ 19 w 622"/>
                  <a:gd name="T39" fmla="*/ 335 h 717"/>
                  <a:gd name="T40" fmla="*/ 27 w 622"/>
                  <a:gd name="T41" fmla="*/ 339 h 717"/>
                  <a:gd name="T42" fmla="*/ 36 w 622"/>
                  <a:gd name="T43" fmla="*/ 342 h 717"/>
                  <a:gd name="T44" fmla="*/ 45 w 622"/>
                  <a:gd name="T45" fmla="*/ 345 h 717"/>
                  <a:gd name="T46" fmla="*/ 56 w 622"/>
                  <a:gd name="T47" fmla="*/ 348 h 717"/>
                  <a:gd name="T48" fmla="*/ 69 w 622"/>
                  <a:gd name="T49" fmla="*/ 351 h 717"/>
                  <a:gd name="T50" fmla="*/ 95 w 622"/>
                  <a:gd name="T51" fmla="*/ 355 h 717"/>
                  <a:gd name="T52" fmla="*/ 123 w 622"/>
                  <a:gd name="T53" fmla="*/ 358 h 717"/>
                  <a:gd name="T54" fmla="*/ 155 w 622"/>
                  <a:gd name="T55" fmla="*/ 359 h 717"/>
                  <a:gd name="T56" fmla="*/ 186 w 622"/>
                  <a:gd name="T57" fmla="*/ 358 h 717"/>
                  <a:gd name="T58" fmla="*/ 215 w 622"/>
                  <a:gd name="T59" fmla="*/ 355 h 717"/>
                  <a:gd name="T60" fmla="*/ 241 w 622"/>
                  <a:gd name="T61" fmla="*/ 351 h 717"/>
                  <a:gd name="T62" fmla="*/ 254 w 622"/>
                  <a:gd name="T63" fmla="*/ 348 h 717"/>
                  <a:gd name="T64" fmla="*/ 264 w 622"/>
                  <a:gd name="T65" fmla="*/ 345 h 717"/>
                  <a:gd name="T66" fmla="*/ 274 w 622"/>
                  <a:gd name="T67" fmla="*/ 342 h 717"/>
                  <a:gd name="T68" fmla="*/ 283 w 622"/>
                  <a:gd name="T69" fmla="*/ 339 h 717"/>
                  <a:gd name="T70" fmla="*/ 291 w 622"/>
                  <a:gd name="T71" fmla="*/ 335 h 717"/>
                  <a:gd name="T72" fmla="*/ 298 w 622"/>
                  <a:gd name="T73" fmla="*/ 331 h 717"/>
                  <a:gd name="T74" fmla="*/ 303 w 622"/>
                  <a:gd name="T75" fmla="*/ 327 h 717"/>
                  <a:gd name="T76" fmla="*/ 307 w 622"/>
                  <a:gd name="T77" fmla="*/ 322 h 717"/>
                  <a:gd name="T78" fmla="*/ 309 w 622"/>
                  <a:gd name="T79" fmla="*/ 318 h 717"/>
                  <a:gd name="T80" fmla="*/ 310 w 622"/>
                  <a:gd name="T81" fmla="*/ 314 h 717"/>
                  <a:gd name="T82" fmla="*/ 310 w 622"/>
                  <a:gd name="T83" fmla="*/ 45 h 717"/>
                  <a:gd name="T84" fmla="*/ 309 w 622"/>
                  <a:gd name="T85" fmla="*/ 40 h 717"/>
                  <a:gd name="T86" fmla="*/ 307 w 622"/>
                  <a:gd name="T87" fmla="*/ 36 h 717"/>
                  <a:gd name="T88" fmla="*/ 303 w 622"/>
                  <a:gd name="T89" fmla="*/ 31 h 717"/>
                  <a:gd name="T90" fmla="*/ 298 w 622"/>
                  <a:gd name="T91" fmla="*/ 28 h 717"/>
                  <a:gd name="T92" fmla="*/ 291 w 622"/>
                  <a:gd name="T93" fmla="*/ 23 h 717"/>
                  <a:gd name="T94" fmla="*/ 283 w 622"/>
                  <a:gd name="T95" fmla="*/ 20 h 717"/>
                  <a:gd name="T96" fmla="*/ 274 w 622"/>
                  <a:gd name="T97" fmla="*/ 16 h 717"/>
                  <a:gd name="T98" fmla="*/ 264 w 622"/>
                  <a:gd name="T99" fmla="*/ 13 h 717"/>
                  <a:gd name="T100" fmla="*/ 254 w 622"/>
                  <a:gd name="T101" fmla="*/ 11 h 717"/>
                  <a:gd name="T102" fmla="*/ 241 w 622"/>
                  <a:gd name="T103" fmla="*/ 8 h 717"/>
                  <a:gd name="T104" fmla="*/ 215 w 622"/>
                  <a:gd name="T105" fmla="*/ 4 h 717"/>
                  <a:gd name="T106" fmla="*/ 186 w 622"/>
                  <a:gd name="T107" fmla="*/ 1 h 717"/>
                  <a:gd name="T108" fmla="*/ 155 w 622"/>
                  <a:gd name="T109" fmla="*/ 0 h 71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7">
                    <a:moveTo>
                      <a:pt x="310" y="0"/>
                    </a:moveTo>
                    <a:lnTo>
                      <a:pt x="247" y="1"/>
                    </a:lnTo>
                    <a:lnTo>
                      <a:pt x="190" y="7"/>
                    </a:lnTo>
                    <a:lnTo>
                      <a:pt x="138" y="15"/>
                    </a:lnTo>
                    <a:lnTo>
                      <a:pt x="113" y="21"/>
                    </a:lnTo>
                    <a:lnTo>
                      <a:pt x="91" y="26"/>
                    </a:lnTo>
                    <a:lnTo>
                      <a:pt x="72" y="32"/>
                    </a:lnTo>
                    <a:lnTo>
                      <a:pt x="54" y="40"/>
                    </a:lnTo>
                    <a:lnTo>
                      <a:pt x="38" y="46"/>
                    </a:lnTo>
                    <a:lnTo>
                      <a:pt x="25" y="55"/>
                    </a:lnTo>
                    <a:lnTo>
                      <a:pt x="14" y="62"/>
                    </a:lnTo>
                    <a:lnTo>
                      <a:pt x="7" y="71"/>
                    </a:lnTo>
                    <a:lnTo>
                      <a:pt x="2" y="80"/>
                    </a:lnTo>
                    <a:lnTo>
                      <a:pt x="0" y="89"/>
                    </a:lnTo>
                    <a:lnTo>
                      <a:pt x="0" y="627"/>
                    </a:lnTo>
                    <a:lnTo>
                      <a:pt x="2" y="636"/>
                    </a:lnTo>
                    <a:lnTo>
                      <a:pt x="7" y="644"/>
                    </a:lnTo>
                    <a:lnTo>
                      <a:pt x="14" y="653"/>
                    </a:lnTo>
                    <a:lnTo>
                      <a:pt x="25" y="662"/>
                    </a:lnTo>
                    <a:lnTo>
                      <a:pt x="38" y="670"/>
                    </a:lnTo>
                    <a:lnTo>
                      <a:pt x="54" y="677"/>
                    </a:lnTo>
                    <a:lnTo>
                      <a:pt x="72" y="684"/>
                    </a:lnTo>
                    <a:lnTo>
                      <a:pt x="91" y="690"/>
                    </a:lnTo>
                    <a:lnTo>
                      <a:pt x="113" y="696"/>
                    </a:lnTo>
                    <a:lnTo>
                      <a:pt x="138" y="702"/>
                    </a:lnTo>
                    <a:lnTo>
                      <a:pt x="190" y="710"/>
                    </a:lnTo>
                    <a:lnTo>
                      <a:pt x="247" y="716"/>
                    </a:lnTo>
                    <a:lnTo>
                      <a:pt x="310" y="717"/>
                    </a:lnTo>
                    <a:lnTo>
                      <a:pt x="373" y="716"/>
                    </a:lnTo>
                    <a:lnTo>
                      <a:pt x="432" y="710"/>
                    </a:lnTo>
                    <a:lnTo>
                      <a:pt x="484" y="702"/>
                    </a:lnTo>
                    <a:lnTo>
                      <a:pt x="509" y="696"/>
                    </a:lnTo>
                    <a:lnTo>
                      <a:pt x="530" y="690"/>
                    </a:lnTo>
                    <a:lnTo>
                      <a:pt x="550" y="684"/>
                    </a:lnTo>
                    <a:lnTo>
                      <a:pt x="568" y="677"/>
                    </a:lnTo>
                    <a:lnTo>
                      <a:pt x="584" y="670"/>
                    </a:lnTo>
                    <a:lnTo>
                      <a:pt x="597" y="662"/>
                    </a:lnTo>
                    <a:lnTo>
                      <a:pt x="607" y="653"/>
                    </a:lnTo>
                    <a:lnTo>
                      <a:pt x="615" y="644"/>
                    </a:lnTo>
                    <a:lnTo>
                      <a:pt x="620" y="636"/>
                    </a:lnTo>
                    <a:lnTo>
                      <a:pt x="622" y="627"/>
                    </a:lnTo>
                    <a:lnTo>
                      <a:pt x="622" y="89"/>
                    </a:lnTo>
                    <a:lnTo>
                      <a:pt x="620" y="80"/>
                    </a:lnTo>
                    <a:lnTo>
                      <a:pt x="615" y="71"/>
                    </a:lnTo>
                    <a:lnTo>
                      <a:pt x="607" y="62"/>
                    </a:lnTo>
                    <a:lnTo>
                      <a:pt x="597" y="55"/>
                    </a:lnTo>
                    <a:lnTo>
                      <a:pt x="584" y="46"/>
                    </a:lnTo>
                    <a:lnTo>
                      <a:pt x="568" y="40"/>
                    </a:lnTo>
                    <a:lnTo>
                      <a:pt x="550" y="32"/>
                    </a:lnTo>
                    <a:lnTo>
                      <a:pt x="530" y="26"/>
                    </a:lnTo>
                    <a:lnTo>
                      <a:pt x="509" y="21"/>
                    </a:lnTo>
                    <a:lnTo>
                      <a:pt x="484" y="15"/>
                    </a:lnTo>
                    <a:lnTo>
                      <a:pt x="432" y="7"/>
                    </a:lnTo>
                    <a:lnTo>
                      <a:pt x="373" y="1"/>
                    </a:lnTo>
                    <a:lnTo>
                      <a:pt x="310" y="0"/>
                    </a:lnTo>
                    <a:close/>
                  </a:path>
                </a:pathLst>
              </a:custGeom>
              <a:solidFill>
                <a:srgbClr val="00A0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38" name="Freeform 151"/>
              <p:cNvSpPr>
                <a:spLocks/>
              </p:cNvSpPr>
              <p:nvPr/>
            </p:nvSpPr>
            <p:spPr bwMode="auto">
              <a:xfrm>
                <a:off x="1023" y="2948"/>
                <a:ext cx="310" cy="90"/>
              </a:xfrm>
              <a:custGeom>
                <a:avLst/>
                <a:gdLst>
                  <a:gd name="T0" fmla="*/ 0 w 622"/>
                  <a:gd name="T1" fmla="*/ 45 h 179"/>
                  <a:gd name="T2" fmla="*/ 1 w 622"/>
                  <a:gd name="T3" fmla="*/ 49 h 179"/>
                  <a:gd name="T4" fmla="*/ 3 w 622"/>
                  <a:gd name="T5" fmla="*/ 53 h 179"/>
                  <a:gd name="T6" fmla="*/ 7 w 622"/>
                  <a:gd name="T7" fmla="*/ 58 h 179"/>
                  <a:gd name="T8" fmla="*/ 12 w 622"/>
                  <a:gd name="T9" fmla="*/ 62 h 179"/>
                  <a:gd name="T10" fmla="*/ 19 w 622"/>
                  <a:gd name="T11" fmla="*/ 66 h 179"/>
                  <a:gd name="T12" fmla="*/ 27 w 622"/>
                  <a:gd name="T13" fmla="*/ 70 h 179"/>
                  <a:gd name="T14" fmla="*/ 36 w 622"/>
                  <a:gd name="T15" fmla="*/ 74 h 179"/>
                  <a:gd name="T16" fmla="*/ 45 w 622"/>
                  <a:gd name="T17" fmla="*/ 76 h 179"/>
                  <a:gd name="T18" fmla="*/ 56 w 622"/>
                  <a:gd name="T19" fmla="*/ 79 h 179"/>
                  <a:gd name="T20" fmla="*/ 69 w 622"/>
                  <a:gd name="T21" fmla="*/ 82 h 179"/>
                  <a:gd name="T22" fmla="*/ 95 w 622"/>
                  <a:gd name="T23" fmla="*/ 86 h 179"/>
                  <a:gd name="T24" fmla="*/ 123 w 622"/>
                  <a:gd name="T25" fmla="*/ 89 h 179"/>
                  <a:gd name="T26" fmla="*/ 155 w 622"/>
                  <a:gd name="T27" fmla="*/ 90 h 179"/>
                  <a:gd name="T28" fmla="*/ 186 w 622"/>
                  <a:gd name="T29" fmla="*/ 89 h 179"/>
                  <a:gd name="T30" fmla="*/ 215 w 622"/>
                  <a:gd name="T31" fmla="*/ 86 h 179"/>
                  <a:gd name="T32" fmla="*/ 241 w 622"/>
                  <a:gd name="T33" fmla="*/ 82 h 179"/>
                  <a:gd name="T34" fmla="*/ 254 w 622"/>
                  <a:gd name="T35" fmla="*/ 79 h 179"/>
                  <a:gd name="T36" fmla="*/ 264 w 622"/>
                  <a:gd name="T37" fmla="*/ 76 h 179"/>
                  <a:gd name="T38" fmla="*/ 274 w 622"/>
                  <a:gd name="T39" fmla="*/ 74 h 179"/>
                  <a:gd name="T40" fmla="*/ 283 w 622"/>
                  <a:gd name="T41" fmla="*/ 70 h 179"/>
                  <a:gd name="T42" fmla="*/ 291 w 622"/>
                  <a:gd name="T43" fmla="*/ 66 h 179"/>
                  <a:gd name="T44" fmla="*/ 298 w 622"/>
                  <a:gd name="T45" fmla="*/ 62 h 179"/>
                  <a:gd name="T46" fmla="*/ 303 w 622"/>
                  <a:gd name="T47" fmla="*/ 58 h 179"/>
                  <a:gd name="T48" fmla="*/ 307 w 622"/>
                  <a:gd name="T49" fmla="*/ 53 h 179"/>
                  <a:gd name="T50" fmla="*/ 309 w 622"/>
                  <a:gd name="T51" fmla="*/ 49 h 179"/>
                  <a:gd name="T52" fmla="*/ 310 w 622"/>
                  <a:gd name="T53" fmla="*/ 45 h 179"/>
                  <a:gd name="T54" fmla="*/ 309 w 622"/>
                  <a:gd name="T55" fmla="*/ 40 h 179"/>
                  <a:gd name="T56" fmla="*/ 307 w 622"/>
                  <a:gd name="T57" fmla="*/ 36 h 179"/>
                  <a:gd name="T58" fmla="*/ 303 w 622"/>
                  <a:gd name="T59" fmla="*/ 31 h 179"/>
                  <a:gd name="T60" fmla="*/ 298 w 622"/>
                  <a:gd name="T61" fmla="*/ 28 h 179"/>
                  <a:gd name="T62" fmla="*/ 291 w 622"/>
                  <a:gd name="T63" fmla="*/ 23 h 179"/>
                  <a:gd name="T64" fmla="*/ 283 w 622"/>
                  <a:gd name="T65" fmla="*/ 20 h 179"/>
                  <a:gd name="T66" fmla="*/ 274 w 622"/>
                  <a:gd name="T67" fmla="*/ 16 h 179"/>
                  <a:gd name="T68" fmla="*/ 264 w 622"/>
                  <a:gd name="T69" fmla="*/ 13 h 179"/>
                  <a:gd name="T70" fmla="*/ 254 w 622"/>
                  <a:gd name="T71" fmla="*/ 11 h 179"/>
                  <a:gd name="T72" fmla="*/ 241 w 622"/>
                  <a:gd name="T73" fmla="*/ 8 h 179"/>
                  <a:gd name="T74" fmla="*/ 215 w 622"/>
                  <a:gd name="T75" fmla="*/ 4 h 179"/>
                  <a:gd name="T76" fmla="*/ 186 w 622"/>
                  <a:gd name="T77" fmla="*/ 1 h 179"/>
                  <a:gd name="T78" fmla="*/ 155 w 622"/>
                  <a:gd name="T79" fmla="*/ 0 h 179"/>
                  <a:gd name="T80" fmla="*/ 123 w 622"/>
                  <a:gd name="T81" fmla="*/ 1 h 179"/>
                  <a:gd name="T82" fmla="*/ 95 w 622"/>
                  <a:gd name="T83" fmla="*/ 4 h 179"/>
                  <a:gd name="T84" fmla="*/ 69 w 622"/>
                  <a:gd name="T85" fmla="*/ 8 h 179"/>
                  <a:gd name="T86" fmla="*/ 56 w 622"/>
                  <a:gd name="T87" fmla="*/ 11 h 179"/>
                  <a:gd name="T88" fmla="*/ 45 w 622"/>
                  <a:gd name="T89" fmla="*/ 13 h 179"/>
                  <a:gd name="T90" fmla="*/ 36 w 622"/>
                  <a:gd name="T91" fmla="*/ 16 h 179"/>
                  <a:gd name="T92" fmla="*/ 27 w 622"/>
                  <a:gd name="T93" fmla="*/ 20 h 179"/>
                  <a:gd name="T94" fmla="*/ 19 w 622"/>
                  <a:gd name="T95" fmla="*/ 23 h 179"/>
                  <a:gd name="T96" fmla="*/ 12 w 622"/>
                  <a:gd name="T97" fmla="*/ 28 h 179"/>
                  <a:gd name="T98" fmla="*/ 7 w 622"/>
                  <a:gd name="T99" fmla="*/ 31 h 179"/>
                  <a:gd name="T100" fmla="*/ 3 w 622"/>
                  <a:gd name="T101" fmla="*/ 36 h 179"/>
                  <a:gd name="T102" fmla="*/ 1 w 622"/>
                  <a:gd name="T103" fmla="*/ 40 h 179"/>
                  <a:gd name="T104" fmla="*/ 0 w 622"/>
                  <a:gd name="T105" fmla="*/ 45 h 17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22" h="179">
                    <a:moveTo>
                      <a:pt x="0" y="89"/>
                    </a:moveTo>
                    <a:lnTo>
                      <a:pt x="2" y="98"/>
                    </a:lnTo>
                    <a:lnTo>
                      <a:pt x="7" y="106"/>
                    </a:lnTo>
                    <a:lnTo>
                      <a:pt x="14" y="115"/>
                    </a:lnTo>
                    <a:lnTo>
                      <a:pt x="25" y="124"/>
                    </a:lnTo>
                    <a:lnTo>
                      <a:pt x="38" y="132"/>
                    </a:lnTo>
                    <a:lnTo>
                      <a:pt x="54" y="139"/>
                    </a:lnTo>
                    <a:lnTo>
                      <a:pt x="72" y="147"/>
                    </a:lnTo>
                    <a:lnTo>
                      <a:pt x="91" y="152"/>
                    </a:lnTo>
                    <a:lnTo>
                      <a:pt x="113" y="158"/>
                    </a:lnTo>
                    <a:lnTo>
                      <a:pt x="138" y="164"/>
                    </a:lnTo>
                    <a:lnTo>
                      <a:pt x="190" y="172"/>
                    </a:lnTo>
                    <a:lnTo>
                      <a:pt x="247" y="178"/>
                    </a:lnTo>
                    <a:lnTo>
                      <a:pt x="310" y="179"/>
                    </a:lnTo>
                    <a:lnTo>
                      <a:pt x="373" y="178"/>
                    </a:lnTo>
                    <a:lnTo>
                      <a:pt x="432" y="172"/>
                    </a:lnTo>
                    <a:lnTo>
                      <a:pt x="484" y="164"/>
                    </a:lnTo>
                    <a:lnTo>
                      <a:pt x="509" y="158"/>
                    </a:lnTo>
                    <a:lnTo>
                      <a:pt x="530" y="152"/>
                    </a:lnTo>
                    <a:lnTo>
                      <a:pt x="550" y="147"/>
                    </a:lnTo>
                    <a:lnTo>
                      <a:pt x="568" y="139"/>
                    </a:lnTo>
                    <a:lnTo>
                      <a:pt x="584" y="132"/>
                    </a:lnTo>
                    <a:lnTo>
                      <a:pt x="597" y="124"/>
                    </a:lnTo>
                    <a:lnTo>
                      <a:pt x="607" y="115"/>
                    </a:lnTo>
                    <a:lnTo>
                      <a:pt x="615" y="106"/>
                    </a:lnTo>
                    <a:lnTo>
                      <a:pt x="620" y="98"/>
                    </a:lnTo>
                    <a:lnTo>
                      <a:pt x="622" y="89"/>
                    </a:lnTo>
                    <a:lnTo>
                      <a:pt x="620" y="80"/>
                    </a:lnTo>
                    <a:lnTo>
                      <a:pt x="615" y="71"/>
                    </a:lnTo>
                    <a:lnTo>
                      <a:pt x="607" y="62"/>
                    </a:lnTo>
                    <a:lnTo>
                      <a:pt x="597" y="55"/>
                    </a:lnTo>
                    <a:lnTo>
                      <a:pt x="584" y="46"/>
                    </a:lnTo>
                    <a:lnTo>
                      <a:pt x="568" y="40"/>
                    </a:lnTo>
                    <a:lnTo>
                      <a:pt x="550" y="32"/>
                    </a:lnTo>
                    <a:lnTo>
                      <a:pt x="530" y="26"/>
                    </a:lnTo>
                    <a:lnTo>
                      <a:pt x="509" y="21"/>
                    </a:lnTo>
                    <a:lnTo>
                      <a:pt x="484" y="15"/>
                    </a:lnTo>
                    <a:lnTo>
                      <a:pt x="432" y="7"/>
                    </a:lnTo>
                    <a:lnTo>
                      <a:pt x="373" y="1"/>
                    </a:lnTo>
                    <a:lnTo>
                      <a:pt x="310" y="0"/>
                    </a:lnTo>
                    <a:lnTo>
                      <a:pt x="247" y="1"/>
                    </a:lnTo>
                    <a:lnTo>
                      <a:pt x="190" y="7"/>
                    </a:lnTo>
                    <a:lnTo>
                      <a:pt x="138" y="15"/>
                    </a:lnTo>
                    <a:lnTo>
                      <a:pt x="113" y="21"/>
                    </a:lnTo>
                    <a:lnTo>
                      <a:pt x="91" y="26"/>
                    </a:lnTo>
                    <a:lnTo>
                      <a:pt x="72" y="32"/>
                    </a:lnTo>
                    <a:lnTo>
                      <a:pt x="54" y="40"/>
                    </a:lnTo>
                    <a:lnTo>
                      <a:pt x="38" y="46"/>
                    </a:lnTo>
                    <a:lnTo>
                      <a:pt x="25" y="55"/>
                    </a:lnTo>
                    <a:lnTo>
                      <a:pt x="14" y="62"/>
                    </a:lnTo>
                    <a:lnTo>
                      <a:pt x="7" y="71"/>
                    </a:lnTo>
                    <a:lnTo>
                      <a:pt x="2" y="80"/>
                    </a:lnTo>
                    <a:lnTo>
                      <a:pt x="0" y="89"/>
                    </a:lnTo>
                    <a:close/>
                  </a:path>
                </a:pathLst>
              </a:custGeom>
              <a:solidFill>
                <a:srgbClr val="32B3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39" name="Freeform 152"/>
              <p:cNvSpPr>
                <a:spLocks/>
              </p:cNvSpPr>
              <p:nvPr/>
            </p:nvSpPr>
            <p:spPr bwMode="auto">
              <a:xfrm>
                <a:off x="1023" y="2948"/>
                <a:ext cx="310" cy="359"/>
              </a:xfrm>
              <a:custGeom>
                <a:avLst/>
                <a:gdLst>
                  <a:gd name="T0" fmla="*/ 155 w 622"/>
                  <a:gd name="T1" fmla="*/ 0 h 717"/>
                  <a:gd name="T2" fmla="*/ 123 w 622"/>
                  <a:gd name="T3" fmla="*/ 1 h 717"/>
                  <a:gd name="T4" fmla="*/ 95 w 622"/>
                  <a:gd name="T5" fmla="*/ 4 h 717"/>
                  <a:gd name="T6" fmla="*/ 69 w 622"/>
                  <a:gd name="T7" fmla="*/ 8 h 717"/>
                  <a:gd name="T8" fmla="*/ 56 w 622"/>
                  <a:gd name="T9" fmla="*/ 11 h 717"/>
                  <a:gd name="T10" fmla="*/ 45 w 622"/>
                  <a:gd name="T11" fmla="*/ 13 h 717"/>
                  <a:gd name="T12" fmla="*/ 36 w 622"/>
                  <a:gd name="T13" fmla="*/ 16 h 717"/>
                  <a:gd name="T14" fmla="*/ 27 w 622"/>
                  <a:gd name="T15" fmla="*/ 20 h 717"/>
                  <a:gd name="T16" fmla="*/ 19 w 622"/>
                  <a:gd name="T17" fmla="*/ 23 h 717"/>
                  <a:gd name="T18" fmla="*/ 12 w 622"/>
                  <a:gd name="T19" fmla="*/ 28 h 717"/>
                  <a:gd name="T20" fmla="*/ 7 w 622"/>
                  <a:gd name="T21" fmla="*/ 31 h 717"/>
                  <a:gd name="T22" fmla="*/ 3 w 622"/>
                  <a:gd name="T23" fmla="*/ 36 h 717"/>
                  <a:gd name="T24" fmla="*/ 1 w 622"/>
                  <a:gd name="T25" fmla="*/ 40 h 717"/>
                  <a:gd name="T26" fmla="*/ 0 w 622"/>
                  <a:gd name="T27" fmla="*/ 45 h 717"/>
                  <a:gd name="T28" fmla="*/ 0 w 622"/>
                  <a:gd name="T29" fmla="*/ 314 h 717"/>
                  <a:gd name="T30" fmla="*/ 1 w 622"/>
                  <a:gd name="T31" fmla="*/ 318 h 717"/>
                  <a:gd name="T32" fmla="*/ 3 w 622"/>
                  <a:gd name="T33" fmla="*/ 322 h 717"/>
                  <a:gd name="T34" fmla="*/ 7 w 622"/>
                  <a:gd name="T35" fmla="*/ 327 h 717"/>
                  <a:gd name="T36" fmla="*/ 12 w 622"/>
                  <a:gd name="T37" fmla="*/ 331 h 717"/>
                  <a:gd name="T38" fmla="*/ 19 w 622"/>
                  <a:gd name="T39" fmla="*/ 335 h 717"/>
                  <a:gd name="T40" fmla="*/ 27 w 622"/>
                  <a:gd name="T41" fmla="*/ 339 h 717"/>
                  <a:gd name="T42" fmla="*/ 36 w 622"/>
                  <a:gd name="T43" fmla="*/ 342 h 717"/>
                  <a:gd name="T44" fmla="*/ 45 w 622"/>
                  <a:gd name="T45" fmla="*/ 345 h 717"/>
                  <a:gd name="T46" fmla="*/ 56 w 622"/>
                  <a:gd name="T47" fmla="*/ 348 h 717"/>
                  <a:gd name="T48" fmla="*/ 69 w 622"/>
                  <a:gd name="T49" fmla="*/ 351 h 717"/>
                  <a:gd name="T50" fmla="*/ 95 w 622"/>
                  <a:gd name="T51" fmla="*/ 355 h 717"/>
                  <a:gd name="T52" fmla="*/ 123 w 622"/>
                  <a:gd name="T53" fmla="*/ 358 h 717"/>
                  <a:gd name="T54" fmla="*/ 155 w 622"/>
                  <a:gd name="T55" fmla="*/ 359 h 717"/>
                  <a:gd name="T56" fmla="*/ 186 w 622"/>
                  <a:gd name="T57" fmla="*/ 358 h 717"/>
                  <a:gd name="T58" fmla="*/ 215 w 622"/>
                  <a:gd name="T59" fmla="*/ 355 h 717"/>
                  <a:gd name="T60" fmla="*/ 241 w 622"/>
                  <a:gd name="T61" fmla="*/ 351 h 717"/>
                  <a:gd name="T62" fmla="*/ 254 w 622"/>
                  <a:gd name="T63" fmla="*/ 348 h 717"/>
                  <a:gd name="T64" fmla="*/ 264 w 622"/>
                  <a:gd name="T65" fmla="*/ 345 h 717"/>
                  <a:gd name="T66" fmla="*/ 274 w 622"/>
                  <a:gd name="T67" fmla="*/ 342 h 717"/>
                  <a:gd name="T68" fmla="*/ 283 w 622"/>
                  <a:gd name="T69" fmla="*/ 339 h 717"/>
                  <a:gd name="T70" fmla="*/ 291 w 622"/>
                  <a:gd name="T71" fmla="*/ 335 h 717"/>
                  <a:gd name="T72" fmla="*/ 298 w 622"/>
                  <a:gd name="T73" fmla="*/ 331 h 717"/>
                  <a:gd name="T74" fmla="*/ 303 w 622"/>
                  <a:gd name="T75" fmla="*/ 327 h 717"/>
                  <a:gd name="T76" fmla="*/ 307 w 622"/>
                  <a:gd name="T77" fmla="*/ 322 h 717"/>
                  <a:gd name="T78" fmla="*/ 309 w 622"/>
                  <a:gd name="T79" fmla="*/ 318 h 717"/>
                  <a:gd name="T80" fmla="*/ 310 w 622"/>
                  <a:gd name="T81" fmla="*/ 314 h 717"/>
                  <a:gd name="T82" fmla="*/ 310 w 622"/>
                  <a:gd name="T83" fmla="*/ 45 h 717"/>
                  <a:gd name="T84" fmla="*/ 309 w 622"/>
                  <a:gd name="T85" fmla="*/ 40 h 717"/>
                  <a:gd name="T86" fmla="*/ 307 w 622"/>
                  <a:gd name="T87" fmla="*/ 36 h 717"/>
                  <a:gd name="T88" fmla="*/ 303 w 622"/>
                  <a:gd name="T89" fmla="*/ 31 h 717"/>
                  <a:gd name="T90" fmla="*/ 298 w 622"/>
                  <a:gd name="T91" fmla="*/ 28 h 717"/>
                  <a:gd name="T92" fmla="*/ 291 w 622"/>
                  <a:gd name="T93" fmla="*/ 23 h 717"/>
                  <a:gd name="T94" fmla="*/ 283 w 622"/>
                  <a:gd name="T95" fmla="*/ 20 h 717"/>
                  <a:gd name="T96" fmla="*/ 274 w 622"/>
                  <a:gd name="T97" fmla="*/ 16 h 717"/>
                  <a:gd name="T98" fmla="*/ 264 w 622"/>
                  <a:gd name="T99" fmla="*/ 13 h 717"/>
                  <a:gd name="T100" fmla="*/ 254 w 622"/>
                  <a:gd name="T101" fmla="*/ 11 h 717"/>
                  <a:gd name="T102" fmla="*/ 241 w 622"/>
                  <a:gd name="T103" fmla="*/ 8 h 717"/>
                  <a:gd name="T104" fmla="*/ 215 w 622"/>
                  <a:gd name="T105" fmla="*/ 4 h 717"/>
                  <a:gd name="T106" fmla="*/ 186 w 622"/>
                  <a:gd name="T107" fmla="*/ 1 h 717"/>
                  <a:gd name="T108" fmla="*/ 155 w 622"/>
                  <a:gd name="T109" fmla="*/ 0 h 71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7">
                    <a:moveTo>
                      <a:pt x="310" y="0"/>
                    </a:moveTo>
                    <a:lnTo>
                      <a:pt x="247" y="1"/>
                    </a:lnTo>
                    <a:lnTo>
                      <a:pt x="190" y="7"/>
                    </a:lnTo>
                    <a:lnTo>
                      <a:pt x="138" y="15"/>
                    </a:lnTo>
                    <a:lnTo>
                      <a:pt x="113" y="21"/>
                    </a:lnTo>
                    <a:lnTo>
                      <a:pt x="91" y="26"/>
                    </a:lnTo>
                    <a:lnTo>
                      <a:pt x="72" y="32"/>
                    </a:lnTo>
                    <a:lnTo>
                      <a:pt x="54" y="40"/>
                    </a:lnTo>
                    <a:lnTo>
                      <a:pt x="38" y="46"/>
                    </a:lnTo>
                    <a:lnTo>
                      <a:pt x="25" y="55"/>
                    </a:lnTo>
                    <a:lnTo>
                      <a:pt x="14" y="62"/>
                    </a:lnTo>
                    <a:lnTo>
                      <a:pt x="7" y="71"/>
                    </a:lnTo>
                    <a:lnTo>
                      <a:pt x="2" y="80"/>
                    </a:lnTo>
                    <a:lnTo>
                      <a:pt x="0" y="89"/>
                    </a:lnTo>
                    <a:lnTo>
                      <a:pt x="0" y="627"/>
                    </a:lnTo>
                    <a:lnTo>
                      <a:pt x="2" y="636"/>
                    </a:lnTo>
                    <a:lnTo>
                      <a:pt x="7" y="644"/>
                    </a:lnTo>
                    <a:lnTo>
                      <a:pt x="14" y="653"/>
                    </a:lnTo>
                    <a:lnTo>
                      <a:pt x="25" y="662"/>
                    </a:lnTo>
                    <a:lnTo>
                      <a:pt x="38" y="670"/>
                    </a:lnTo>
                    <a:lnTo>
                      <a:pt x="54" y="677"/>
                    </a:lnTo>
                    <a:lnTo>
                      <a:pt x="72" y="684"/>
                    </a:lnTo>
                    <a:lnTo>
                      <a:pt x="91" y="690"/>
                    </a:lnTo>
                    <a:lnTo>
                      <a:pt x="113" y="696"/>
                    </a:lnTo>
                    <a:lnTo>
                      <a:pt x="138" y="702"/>
                    </a:lnTo>
                    <a:lnTo>
                      <a:pt x="190" y="710"/>
                    </a:lnTo>
                    <a:lnTo>
                      <a:pt x="247" y="716"/>
                    </a:lnTo>
                    <a:lnTo>
                      <a:pt x="310" y="717"/>
                    </a:lnTo>
                    <a:lnTo>
                      <a:pt x="373" y="716"/>
                    </a:lnTo>
                    <a:lnTo>
                      <a:pt x="432" y="710"/>
                    </a:lnTo>
                    <a:lnTo>
                      <a:pt x="484" y="702"/>
                    </a:lnTo>
                    <a:lnTo>
                      <a:pt x="509" y="696"/>
                    </a:lnTo>
                    <a:lnTo>
                      <a:pt x="530" y="690"/>
                    </a:lnTo>
                    <a:lnTo>
                      <a:pt x="550" y="684"/>
                    </a:lnTo>
                    <a:lnTo>
                      <a:pt x="568" y="677"/>
                    </a:lnTo>
                    <a:lnTo>
                      <a:pt x="584" y="670"/>
                    </a:lnTo>
                    <a:lnTo>
                      <a:pt x="597" y="662"/>
                    </a:lnTo>
                    <a:lnTo>
                      <a:pt x="607" y="653"/>
                    </a:lnTo>
                    <a:lnTo>
                      <a:pt x="615" y="644"/>
                    </a:lnTo>
                    <a:lnTo>
                      <a:pt x="620" y="636"/>
                    </a:lnTo>
                    <a:lnTo>
                      <a:pt x="622" y="627"/>
                    </a:lnTo>
                    <a:lnTo>
                      <a:pt x="622" y="89"/>
                    </a:lnTo>
                    <a:lnTo>
                      <a:pt x="620" y="80"/>
                    </a:lnTo>
                    <a:lnTo>
                      <a:pt x="615" y="71"/>
                    </a:lnTo>
                    <a:lnTo>
                      <a:pt x="607" y="62"/>
                    </a:lnTo>
                    <a:lnTo>
                      <a:pt x="597" y="55"/>
                    </a:lnTo>
                    <a:lnTo>
                      <a:pt x="584" y="46"/>
                    </a:lnTo>
                    <a:lnTo>
                      <a:pt x="568" y="40"/>
                    </a:lnTo>
                    <a:lnTo>
                      <a:pt x="550" y="32"/>
                    </a:lnTo>
                    <a:lnTo>
                      <a:pt x="530" y="26"/>
                    </a:lnTo>
                    <a:lnTo>
                      <a:pt x="509" y="21"/>
                    </a:lnTo>
                    <a:lnTo>
                      <a:pt x="484" y="15"/>
                    </a:lnTo>
                    <a:lnTo>
                      <a:pt x="432" y="7"/>
                    </a:lnTo>
                    <a:lnTo>
                      <a:pt x="373" y="1"/>
                    </a:lnTo>
                    <a:lnTo>
                      <a:pt x="310" y="0"/>
                    </a:lnTo>
                    <a:close/>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sp>
            <p:nvSpPr>
              <p:cNvPr id="140" name="Freeform 153"/>
              <p:cNvSpPr>
                <a:spLocks/>
              </p:cNvSpPr>
              <p:nvPr/>
            </p:nvSpPr>
            <p:spPr bwMode="auto">
              <a:xfrm>
                <a:off x="1023" y="2992"/>
                <a:ext cx="310" cy="46"/>
              </a:xfrm>
              <a:custGeom>
                <a:avLst/>
                <a:gdLst>
                  <a:gd name="T0" fmla="*/ 0 w 622"/>
                  <a:gd name="T1" fmla="*/ 0 h 90"/>
                  <a:gd name="T2" fmla="*/ 1 w 622"/>
                  <a:gd name="T3" fmla="*/ 5 h 90"/>
                  <a:gd name="T4" fmla="*/ 3 w 622"/>
                  <a:gd name="T5" fmla="*/ 9 h 90"/>
                  <a:gd name="T6" fmla="*/ 7 w 622"/>
                  <a:gd name="T7" fmla="*/ 13 h 90"/>
                  <a:gd name="T8" fmla="*/ 12 w 622"/>
                  <a:gd name="T9" fmla="*/ 18 h 90"/>
                  <a:gd name="T10" fmla="*/ 19 w 622"/>
                  <a:gd name="T11" fmla="*/ 22 h 90"/>
                  <a:gd name="T12" fmla="*/ 27 w 622"/>
                  <a:gd name="T13" fmla="*/ 26 h 90"/>
                  <a:gd name="T14" fmla="*/ 36 w 622"/>
                  <a:gd name="T15" fmla="*/ 30 h 90"/>
                  <a:gd name="T16" fmla="*/ 45 w 622"/>
                  <a:gd name="T17" fmla="*/ 32 h 90"/>
                  <a:gd name="T18" fmla="*/ 56 w 622"/>
                  <a:gd name="T19" fmla="*/ 35 h 90"/>
                  <a:gd name="T20" fmla="*/ 69 w 622"/>
                  <a:gd name="T21" fmla="*/ 38 h 90"/>
                  <a:gd name="T22" fmla="*/ 95 w 622"/>
                  <a:gd name="T23" fmla="*/ 42 h 90"/>
                  <a:gd name="T24" fmla="*/ 123 w 622"/>
                  <a:gd name="T25" fmla="*/ 45 h 90"/>
                  <a:gd name="T26" fmla="*/ 155 w 622"/>
                  <a:gd name="T27" fmla="*/ 46 h 90"/>
                  <a:gd name="T28" fmla="*/ 186 w 622"/>
                  <a:gd name="T29" fmla="*/ 45 h 90"/>
                  <a:gd name="T30" fmla="*/ 215 w 622"/>
                  <a:gd name="T31" fmla="*/ 42 h 90"/>
                  <a:gd name="T32" fmla="*/ 241 w 622"/>
                  <a:gd name="T33" fmla="*/ 38 h 90"/>
                  <a:gd name="T34" fmla="*/ 254 w 622"/>
                  <a:gd name="T35" fmla="*/ 35 h 90"/>
                  <a:gd name="T36" fmla="*/ 264 w 622"/>
                  <a:gd name="T37" fmla="*/ 32 h 90"/>
                  <a:gd name="T38" fmla="*/ 274 w 622"/>
                  <a:gd name="T39" fmla="*/ 30 h 90"/>
                  <a:gd name="T40" fmla="*/ 283 w 622"/>
                  <a:gd name="T41" fmla="*/ 26 h 90"/>
                  <a:gd name="T42" fmla="*/ 291 w 622"/>
                  <a:gd name="T43" fmla="*/ 22 h 90"/>
                  <a:gd name="T44" fmla="*/ 298 w 622"/>
                  <a:gd name="T45" fmla="*/ 18 h 90"/>
                  <a:gd name="T46" fmla="*/ 303 w 622"/>
                  <a:gd name="T47" fmla="*/ 13 h 90"/>
                  <a:gd name="T48" fmla="*/ 307 w 622"/>
                  <a:gd name="T49" fmla="*/ 9 h 90"/>
                  <a:gd name="T50" fmla="*/ 309 w 622"/>
                  <a:gd name="T51" fmla="*/ 5 h 90"/>
                  <a:gd name="T52" fmla="*/ 310 w 622"/>
                  <a:gd name="T53" fmla="*/ 0 h 9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22" h="90">
                    <a:moveTo>
                      <a:pt x="0" y="0"/>
                    </a:moveTo>
                    <a:lnTo>
                      <a:pt x="2" y="9"/>
                    </a:lnTo>
                    <a:lnTo>
                      <a:pt x="7" y="17"/>
                    </a:lnTo>
                    <a:lnTo>
                      <a:pt x="14" y="26"/>
                    </a:lnTo>
                    <a:lnTo>
                      <a:pt x="25" y="35"/>
                    </a:lnTo>
                    <a:lnTo>
                      <a:pt x="38" y="43"/>
                    </a:lnTo>
                    <a:lnTo>
                      <a:pt x="54" y="50"/>
                    </a:lnTo>
                    <a:lnTo>
                      <a:pt x="72" y="58"/>
                    </a:lnTo>
                    <a:lnTo>
                      <a:pt x="91" y="63"/>
                    </a:lnTo>
                    <a:lnTo>
                      <a:pt x="113" y="69"/>
                    </a:lnTo>
                    <a:lnTo>
                      <a:pt x="138" y="75"/>
                    </a:lnTo>
                    <a:lnTo>
                      <a:pt x="190" y="83"/>
                    </a:lnTo>
                    <a:lnTo>
                      <a:pt x="247" y="89"/>
                    </a:lnTo>
                    <a:lnTo>
                      <a:pt x="310" y="90"/>
                    </a:lnTo>
                    <a:lnTo>
                      <a:pt x="373" y="89"/>
                    </a:lnTo>
                    <a:lnTo>
                      <a:pt x="432" y="83"/>
                    </a:lnTo>
                    <a:lnTo>
                      <a:pt x="484" y="75"/>
                    </a:lnTo>
                    <a:lnTo>
                      <a:pt x="509" y="69"/>
                    </a:lnTo>
                    <a:lnTo>
                      <a:pt x="530" y="63"/>
                    </a:lnTo>
                    <a:lnTo>
                      <a:pt x="550" y="58"/>
                    </a:lnTo>
                    <a:lnTo>
                      <a:pt x="568" y="50"/>
                    </a:lnTo>
                    <a:lnTo>
                      <a:pt x="584" y="43"/>
                    </a:lnTo>
                    <a:lnTo>
                      <a:pt x="597" y="35"/>
                    </a:lnTo>
                    <a:lnTo>
                      <a:pt x="607" y="26"/>
                    </a:lnTo>
                    <a:lnTo>
                      <a:pt x="615" y="17"/>
                    </a:lnTo>
                    <a:lnTo>
                      <a:pt x="620" y="9"/>
                    </a:lnTo>
                    <a:lnTo>
                      <a:pt x="622"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grpSp>
        <p:sp>
          <p:nvSpPr>
            <p:cNvPr id="114" name="Rectangle 154"/>
            <p:cNvSpPr>
              <a:spLocks noChangeArrowheads="1"/>
            </p:cNvSpPr>
            <p:nvPr/>
          </p:nvSpPr>
          <p:spPr bwMode="auto">
            <a:xfrm>
              <a:off x="1124" y="3026"/>
              <a:ext cx="191"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buClrTx/>
                <a:buFontTx/>
                <a:buNone/>
              </a:pPr>
              <a:r>
                <a:rPr lang="en-US" sz="1400">
                  <a:solidFill>
                    <a:srgbClr val="000000"/>
                  </a:solidFill>
                  <a:latin typeface="Times New Roman" pitchFamily="18" charset="0"/>
                  <a:cs typeface="Times New Roman" pitchFamily="18" charset="0"/>
                </a:rPr>
                <a:t>base</a:t>
              </a:r>
              <a:endParaRPr lang="en-US" sz="2800">
                <a:latin typeface="Times New Roman" pitchFamily="18" charset="0"/>
                <a:cs typeface="Times New Roman" pitchFamily="18" charset="0"/>
              </a:endParaRPr>
            </a:p>
          </p:txBody>
        </p:sp>
        <p:sp>
          <p:nvSpPr>
            <p:cNvPr id="115" name="Rectangle 155"/>
            <p:cNvSpPr>
              <a:spLocks noChangeArrowheads="1"/>
            </p:cNvSpPr>
            <p:nvPr/>
          </p:nvSpPr>
          <p:spPr bwMode="auto">
            <a:xfrm>
              <a:off x="1100" y="3153"/>
              <a:ext cx="250"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buClrTx/>
                <a:buFontTx/>
                <a:buNone/>
              </a:pPr>
              <a:r>
                <a:rPr lang="en-US" sz="1400">
                  <a:solidFill>
                    <a:srgbClr val="000000"/>
                  </a:solidFill>
                  <a:latin typeface="Times New Roman" pitchFamily="18" charset="0"/>
                  <a:cs typeface="Times New Roman" pitchFamily="18" charset="0"/>
                </a:rPr>
                <a:t>tables</a:t>
              </a:r>
              <a:endParaRPr lang="en-US" sz="2800">
                <a:latin typeface="Times New Roman" pitchFamily="18" charset="0"/>
                <a:cs typeface="Times New Roman" pitchFamily="18" charset="0"/>
              </a:endParaRPr>
            </a:p>
          </p:txBody>
        </p:sp>
        <p:grpSp>
          <p:nvGrpSpPr>
            <p:cNvPr id="116" name="Group 156"/>
            <p:cNvGrpSpPr>
              <a:grpSpLocks/>
            </p:cNvGrpSpPr>
            <p:nvPr/>
          </p:nvGrpSpPr>
          <p:grpSpPr bwMode="auto">
            <a:xfrm>
              <a:off x="867" y="2813"/>
              <a:ext cx="311" cy="359"/>
              <a:chOff x="867" y="2813"/>
              <a:chExt cx="311" cy="359"/>
            </a:xfrm>
          </p:grpSpPr>
          <p:sp>
            <p:nvSpPr>
              <p:cNvPr id="133" name="Freeform 157"/>
              <p:cNvSpPr>
                <a:spLocks/>
              </p:cNvSpPr>
              <p:nvPr/>
            </p:nvSpPr>
            <p:spPr bwMode="auto">
              <a:xfrm>
                <a:off x="867" y="2813"/>
                <a:ext cx="311" cy="359"/>
              </a:xfrm>
              <a:custGeom>
                <a:avLst/>
                <a:gdLst>
                  <a:gd name="T0" fmla="*/ 155 w 622"/>
                  <a:gd name="T1" fmla="*/ 0 h 717"/>
                  <a:gd name="T2" fmla="*/ 124 w 622"/>
                  <a:gd name="T3" fmla="*/ 1 h 717"/>
                  <a:gd name="T4" fmla="*/ 95 w 622"/>
                  <a:gd name="T5" fmla="*/ 4 h 717"/>
                  <a:gd name="T6" fmla="*/ 69 w 622"/>
                  <a:gd name="T7" fmla="*/ 8 h 717"/>
                  <a:gd name="T8" fmla="*/ 57 w 622"/>
                  <a:gd name="T9" fmla="*/ 11 h 717"/>
                  <a:gd name="T10" fmla="*/ 46 w 622"/>
                  <a:gd name="T11" fmla="*/ 14 h 717"/>
                  <a:gd name="T12" fmla="*/ 36 w 622"/>
                  <a:gd name="T13" fmla="*/ 17 h 717"/>
                  <a:gd name="T14" fmla="*/ 27 w 622"/>
                  <a:gd name="T15" fmla="*/ 20 h 717"/>
                  <a:gd name="T16" fmla="*/ 19 w 622"/>
                  <a:gd name="T17" fmla="*/ 23 h 717"/>
                  <a:gd name="T18" fmla="*/ 13 w 622"/>
                  <a:gd name="T19" fmla="*/ 28 h 717"/>
                  <a:gd name="T20" fmla="*/ 8 w 622"/>
                  <a:gd name="T21" fmla="*/ 31 h 717"/>
                  <a:gd name="T22" fmla="*/ 4 w 622"/>
                  <a:gd name="T23" fmla="*/ 36 h 717"/>
                  <a:gd name="T24" fmla="*/ 1 w 622"/>
                  <a:gd name="T25" fmla="*/ 40 h 717"/>
                  <a:gd name="T26" fmla="*/ 0 w 622"/>
                  <a:gd name="T27" fmla="*/ 45 h 717"/>
                  <a:gd name="T28" fmla="*/ 0 w 622"/>
                  <a:gd name="T29" fmla="*/ 314 h 717"/>
                  <a:gd name="T30" fmla="*/ 1 w 622"/>
                  <a:gd name="T31" fmla="*/ 318 h 717"/>
                  <a:gd name="T32" fmla="*/ 4 w 622"/>
                  <a:gd name="T33" fmla="*/ 323 h 717"/>
                  <a:gd name="T34" fmla="*/ 8 w 622"/>
                  <a:gd name="T35" fmla="*/ 327 h 717"/>
                  <a:gd name="T36" fmla="*/ 13 w 622"/>
                  <a:gd name="T37" fmla="*/ 332 h 717"/>
                  <a:gd name="T38" fmla="*/ 19 w 622"/>
                  <a:gd name="T39" fmla="*/ 335 h 717"/>
                  <a:gd name="T40" fmla="*/ 27 w 622"/>
                  <a:gd name="T41" fmla="*/ 339 h 717"/>
                  <a:gd name="T42" fmla="*/ 36 w 622"/>
                  <a:gd name="T43" fmla="*/ 343 h 717"/>
                  <a:gd name="T44" fmla="*/ 46 w 622"/>
                  <a:gd name="T45" fmla="*/ 346 h 717"/>
                  <a:gd name="T46" fmla="*/ 57 w 622"/>
                  <a:gd name="T47" fmla="*/ 349 h 717"/>
                  <a:gd name="T48" fmla="*/ 69 w 622"/>
                  <a:gd name="T49" fmla="*/ 352 h 717"/>
                  <a:gd name="T50" fmla="*/ 95 w 622"/>
                  <a:gd name="T51" fmla="*/ 355 h 717"/>
                  <a:gd name="T52" fmla="*/ 124 w 622"/>
                  <a:gd name="T53" fmla="*/ 358 h 717"/>
                  <a:gd name="T54" fmla="*/ 155 w 622"/>
                  <a:gd name="T55" fmla="*/ 359 h 717"/>
                  <a:gd name="T56" fmla="*/ 187 w 622"/>
                  <a:gd name="T57" fmla="*/ 358 h 717"/>
                  <a:gd name="T58" fmla="*/ 216 w 622"/>
                  <a:gd name="T59" fmla="*/ 355 h 717"/>
                  <a:gd name="T60" fmla="*/ 242 w 622"/>
                  <a:gd name="T61" fmla="*/ 352 h 717"/>
                  <a:gd name="T62" fmla="*/ 255 w 622"/>
                  <a:gd name="T63" fmla="*/ 349 h 717"/>
                  <a:gd name="T64" fmla="*/ 266 w 622"/>
                  <a:gd name="T65" fmla="*/ 346 h 717"/>
                  <a:gd name="T66" fmla="*/ 275 w 622"/>
                  <a:gd name="T67" fmla="*/ 343 h 717"/>
                  <a:gd name="T68" fmla="*/ 284 w 622"/>
                  <a:gd name="T69" fmla="*/ 339 h 717"/>
                  <a:gd name="T70" fmla="*/ 292 w 622"/>
                  <a:gd name="T71" fmla="*/ 335 h 717"/>
                  <a:gd name="T72" fmla="*/ 299 w 622"/>
                  <a:gd name="T73" fmla="*/ 332 h 717"/>
                  <a:gd name="T74" fmla="*/ 304 w 622"/>
                  <a:gd name="T75" fmla="*/ 327 h 717"/>
                  <a:gd name="T76" fmla="*/ 308 w 622"/>
                  <a:gd name="T77" fmla="*/ 323 h 717"/>
                  <a:gd name="T78" fmla="*/ 310 w 622"/>
                  <a:gd name="T79" fmla="*/ 318 h 717"/>
                  <a:gd name="T80" fmla="*/ 311 w 622"/>
                  <a:gd name="T81" fmla="*/ 314 h 717"/>
                  <a:gd name="T82" fmla="*/ 311 w 622"/>
                  <a:gd name="T83" fmla="*/ 45 h 717"/>
                  <a:gd name="T84" fmla="*/ 310 w 622"/>
                  <a:gd name="T85" fmla="*/ 40 h 717"/>
                  <a:gd name="T86" fmla="*/ 308 w 622"/>
                  <a:gd name="T87" fmla="*/ 36 h 717"/>
                  <a:gd name="T88" fmla="*/ 304 w 622"/>
                  <a:gd name="T89" fmla="*/ 31 h 717"/>
                  <a:gd name="T90" fmla="*/ 299 w 622"/>
                  <a:gd name="T91" fmla="*/ 28 h 717"/>
                  <a:gd name="T92" fmla="*/ 292 w 622"/>
                  <a:gd name="T93" fmla="*/ 23 h 717"/>
                  <a:gd name="T94" fmla="*/ 284 w 622"/>
                  <a:gd name="T95" fmla="*/ 20 h 717"/>
                  <a:gd name="T96" fmla="*/ 275 w 622"/>
                  <a:gd name="T97" fmla="*/ 17 h 717"/>
                  <a:gd name="T98" fmla="*/ 266 w 622"/>
                  <a:gd name="T99" fmla="*/ 14 h 717"/>
                  <a:gd name="T100" fmla="*/ 255 w 622"/>
                  <a:gd name="T101" fmla="*/ 11 h 717"/>
                  <a:gd name="T102" fmla="*/ 242 w 622"/>
                  <a:gd name="T103" fmla="*/ 8 h 717"/>
                  <a:gd name="T104" fmla="*/ 216 w 622"/>
                  <a:gd name="T105" fmla="*/ 4 h 717"/>
                  <a:gd name="T106" fmla="*/ 187 w 622"/>
                  <a:gd name="T107" fmla="*/ 1 h 717"/>
                  <a:gd name="T108" fmla="*/ 155 w 622"/>
                  <a:gd name="T109" fmla="*/ 0 h 71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7">
                    <a:moveTo>
                      <a:pt x="310" y="0"/>
                    </a:moveTo>
                    <a:lnTo>
                      <a:pt x="248" y="2"/>
                    </a:lnTo>
                    <a:lnTo>
                      <a:pt x="190" y="7"/>
                    </a:lnTo>
                    <a:lnTo>
                      <a:pt x="138" y="15"/>
                    </a:lnTo>
                    <a:lnTo>
                      <a:pt x="113" y="21"/>
                    </a:lnTo>
                    <a:lnTo>
                      <a:pt x="92" y="27"/>
                    </a:lnTo>
                    <a:lnTo>
                      <a:pt x="72" y="33"/>
                    </a:lnTo>
                    <a:lnTo>
                      <a:pt x="54" y="40"/>
                    </a:lnTo>
                    <a:lnTo>
                      <a:pt x="38" y="46"/>
                    </a:lnTo>
                    <a:lnTo>
                      <a:pt x="25" y="55"/>
                    </a:lnTo>
                    <a:lnTo>
                      <a:pt x="15" y="62"/>
                    </a:lnTo>
                    <a:lnTo>
                      <a:pt x="8" y="71"/>
                    </a:lnTo>
                    <a:lnTo>
                      <a:pt x="2" y="80"/>
                    </a:lnTo>
                    <a:lnTo>
                      <a:pt x="0" y="89"/>
                    </a:lnTo>
                    <a:lnTo>
                      <a:pt x="0" y="627"/>
                    </a:lnTo>
                    <a:lnTo>
                      <a:pt x="2" y="636"/>
                    </a:lnTo>
                    <a:lnTo>
                      <a:pt x="8" y="645"/>
                    </a:lnTo>
                    <a:lnTo>
                      <a:pt x="15" y="654"/>
                    </a:lnTo>
                    <a:lnTo>
                      <a:pt x="25" y="663"/>
                    </a:lnTo>
                    <a:lnTo>
                      <a:pt x="38" y="670"/>
                    </a:lnTo>
                    <a:lnTo>
                      <a:pt x="54" y="677"/>
                    </a:lnTo>
                    <a:lnTo>
                      <a:pt x="72" y="685"/>
                    </a:lnTo>
                    <a:lnTo>
                      <a:pt x="92" y="691"/>
                    </a:lnTo>
                    <a:lnTo>
                      <a:pt x="113" y="697"/>
                    </a:lnTo>
                    <a:lnTo>
                      <a:pt x="138" y="703"/>
                    </a:lnTo>
                    <a:lnTo>
                      <a:pt x="190" y="710"/>
                    </a:lnTo>
                    <a:lnTo>
                      <a:pt x="248" y="716"/>
                    </a:lnTo>
                    <a:lnTo>
                      <a:pt x="310" y="717"/>
                    </a:lnTo>
                    <a:lnTo>
                      <a:pt x="373" y="716"/>
                    </a:lnTo>
                    <a:lnTo>
                      <a:pt x="432" y="710"/>
                    </a:lnTo>
                    <a:lnTo>
                      <a:pt x="484" y="703"/>
                    </a:lnTo>
                    <a:lnTo>
                      <a:pt x="509" y="697"/>
                    </a:lnTo>
                    <a:lnTo>
                      <a:pt x="531" y="691"/>
                    </a:lnTo>
                    <a:lnTo>
                      <a:pt x="550" y="685"/>
                    </a:lnTo>
                    <a:lnTo>
                      <a:pt x="568" y="677"/>
                    </a:lnTo>
                    <a:lnTo>
                      <a:pt x="584" y="670"/>
                    </a:lnTo>
                    <a:lnTo>
                      <a:pt x="597" y="663"/>
                    </a:lnTo>
                    <a:lnTo>
                      <a:pt x="608" y="654"/>
                    </a:lnTo>
                    <a:lnTo>
                      <a:pt x="615" y="645"/>
                    </a:lnTo>
                    <a:lnTo>
                      <a:pt x="620" y="636"/>
                    </a:lnTo>
                    <a:lnTo>
                      <a:pt x="622" y="627"/>
                    </a:lnTo>
                    <a:lnTo>
                      <a:pt x="622" y="89"/>
                    </a:lnTo>
                    <a:lnTo>
                      <a:pt x="620" y="80"/>
                    </a:lnTo>
                    <a:lnTo>
                      <a:pt x="615" y="71"/>
                    </a:lnTo>
                    <a:lnTo>
                      <a:pt x="608" y="62"/>
                    </a:lnTo>
                    <a:lnTo>
                      <a:pt x="597" y="55"/>
                    </a:lnTo>
                    <a:lnTo>
                      <a:pt x="584" y="46"/>
                    </a:lnTo>
                    <a:lnTo>
                      <a:pt x="568" y="40"/>
                    </a:lnTo>
                    <a:lnTo>
                      <a:pt x="550" y="33"/>
                    </a:lnTo>
                    <a:lnTo>
                      <a:pt x="531" y="27"/>
                    </a:lnTo>
                    <a:lnTo>
                      <a:pt x="509" y="21"/>
                    </a:lnTo>
                    <a:lnTo>
                      <a:pt x="484" y="15"/>
                    </a:lnTo>
                    <a:lnTo>
                      <a:pt x="432" y="7"/>
                    </a:lnTo>
                    <a:lnTo>
                      <a:pt x="373" y="2"/>
                    </a:lnTo>
                    <a:lnTo>
                      <a:pt x="310" y="0"/>
                    </a:lnTo>
                    <a:close/>
                  </a:path>
                </a:pathLst>
              </a:custGeom>
              <a:solidFill>
                <a:srgbClr val="00A0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34" name="Freeform 158"/>
              <p:cNvSpPr>
                <a:spLocks/>
              </p:cNvSpPr>
              <p:nvPr/>
            </p:nvSpPr>
            <p:spPr bwMode="auto">
              <a:xfrm>
                <a:off x="867" y="2813"/>
                <a:ext cx="311" cy="90"/>
              </a:xfrm>
              <a:custGeom>
                <a:avLst/>
                <a:gdLst>
                  <a:gd name="T0" fmla="*/ 0 w 622"/>
                  <a:gd name="T1" fmla="*/ 45 h 179"/>
                  <a:gd name="T2" fmla="*/ 1 w 622"/>
                  <a:gd name="T3" fmla="*/ 49 h 179"/>
                  <a:gd name="T4" fmla="*/ 4 w 622"/>
                  <a:gd name="T5" fmla="*/ 54 h 179"/>
                  <a:gd name="T6" fmla="*/ 8 w 622"/>
                  <a:gd name="T7" fmla="*/ 58 h 179"/>
                  <a:gd name="T8" fmla="*/ 13 w 622"/>
                  <a:gd name="T9" fmla="*/ 63 h 179"/>
                  <a:gd name="T10" fmla="*/ 19 w 622"/>
                  <a:gd name="T11" fmla="*/ 66 h 179"/>
                  <a:gd name="T12" fmla="*/ 27 w 622"/>
                  <a:gd name="T13" fmla="*/ 70 h 179"/>
                  <a:gd name="T14" fmla="*/ 36 w 622"/>
                  <a:gd name="T15" fmla="*/ 74 h 179"/>
                  <a:gd name="T16" fmla="*/ 46 w 622"/>
                  <a:gd name="T17" fmla="*/ 77 h 179"/>
                  <a:gd name="T18" fmla="*/ 57 w 622"/>
                  <a:gd name="T19" fmla="*/ 80 h 179"/>
                  <a:gd name="T20" fmla="*/ 69 w 622"/>
                  <a:gd name="T21" fmla="*/ 83 h 179"/>
                  <a:gd name="T22" fmla="*/ 95 w 622"/>
                  <a:gd name="T23" fmla="*/ 86 h 179"/>
                  <a:gd name="T24" fmla="*/ 124 w 622"/>
                  <a:gd name="T25" fmla="*/ 89 h 179"/>
                  <a:gd name="T26" fmla="*/ 155 w 622"/>
                  <a:gd name="T27" fmla="*/ 90 h 179"/>
                  <a:gd name="T28" fmla="*/ 187 w 622"/>
                  <a:gd name="T29" fmla="*/ 89 h 179"/>
                  <a:gd name="T30" fmla="*/ 216 w 622"/>
                  <a:gd name="T31" fmla="*/ 86 h 179"/>
                  <a:gd name="T32" fmla="*/ 242 w 622"/>
                  <a:gd name="T33" fmla="*/ 83 h 179"/>
                  <a:gd name="T34" fmla="*/ 255 w 622"/>
                  <a:gd name="T35" fmla="*/ 80 h 179"/>
                  <a:gd name="T36" fmla="*/ 266 w 622"/>
                  <a:gd name="T37" fmla="*/ 77 h 179"/>
                  <a:gd name="T38" fmla="*/ 275 w 622"/>
                  <a:gd name="T39" fmla="*/ 74 h 179"/>
                  <a:gd name="T40" fmla="*/ 284 w 622"/>
                  <a:gd name="T41" fmla="*/ 70 h 179"/>
                  <a:gd name="T42" fmla="*/ 292 w 622"/>
                  <a:gd name="T43" fmla="*/ 66 h 179"/>
                  <a:gd name="T44" fmla="*/ 299 w 622"/>
                  <a:gd name="T45" fmla="*/ 63 h 179"/>
                  <a:gd name="T46" fmla="*/ 304 w 622"/>
                  <a:gd name="T47" fmla="*/ 58 h 179"/>
                  <a:gd name="T48" fmla="*/ 308 w 622"/>
                  <a:gd name="T49" fmla="*/ 54 h 179"/>
                  <a:gd name="T50" fmla="*/ 310 w 622"/>
                  <a:gd name="T51" fmla="*/ 49 h 179"/>
                  <a:gd name="T52" fmla="*/ 311 w 622"/>
                  <a:gd name="T53" fmla="*/ 45 h 179"/>
                  <a:gd name="T54" fmla="*/ 310 w 622"/>
                  <a:gd name="T55" fmla="*/ 40 h 179"/>
                  <a:gd name="T56" fmla="*/ 308 w 622"/>
                  <a:gd name="T57" fmla="*/ 36 h 179"/>
                  <a:gd name="T58" fmla="*/ 304 w 622"/>
                  <a:gd name="T59" fmla="*/ 31 h 179"/>
                  <a:gd name="T60" fmla="*/ 299 w 622"/>
                  <a:gd name="T61" fmla="*/ 28 h 179"/>
                  <a:gd name="T62" fmla="*/ 292 w 622"/>
                  <a:gd name="T63" fmla="*/ 23 h 179"/>
                  <a:gd name="T64" fmla="*/ 284 w 622"/>
                  <a:gd name="T65" fmla="*/ 20 h 179"/>
                  <a:gd name="T66" fmla="*/ 275 w 622"/>
                  <a:gd name="T67" fmla="*/ 17 h 179"/>
                  <a:gd name="T68" fmla="*/ 266 w 622"/>
                  <a:gd name="T69" fmla="*/ 14 h 179"/>
                  <a:gd name="T70" fmla="*/ 255 w 622"/>
                  <a:gd name="T71" fmla="*/ 11 h 179"/>
                  <a:gd name="T72" fmla="*/ 242 w 622"/>
                  <a:gd name="T73" fmla="*/ 8 h 179"/>
                  <a:gd name="T74" fmla="*/ 216 w 622"/>
                  <a:gd name="T75" fmla="*/ 4 h 179"/>
                  <a:gd name="T76" fmla="*/ 187 w 622"/>
                  <a:gd name="T77" fmla="*/ 1 h 179"/>
                  <a:gd name="T78" fmla="*/ 155 w 622"/>
                  <a:gd name="T79" fmla="*/ 0 h 179"/>
                  <a:gd name="T80" fmla="*/ 124 w 622"/>
                  <a:gd name="T81" fmla="*/ 1 h 179"/>
                  <a:gd name="T82" fmla="*/ 95 w 622"/>
                  <a:gd name="T83" fmla="*/ 4 h 179"/>
                  <a:gd name="T84" fmla="*/ 69 w 622"/>
                  <a:gd name="T85" fmla="*/ 8 h 179"/>
                  <a:gd name="T86" fmla="*/ 57 w 622"/>
                  <a:gd name="T87" fmla="*/ 11 h 179"/>
                  <a:gd name="T88" fmla="*/ 46 w 622"/>
                  <a:gd name="T89" fmla="*/ 14 h 179"/>
                  <a:gd name="T90" fmla="*/ 36 w 622"/>
                  <a:gd name="T91" fmla="*/ 17 h 179"/>
                  <a:gd name="T92" fmla="*/ 27 w 622"/>
                  <a:gd name="T93" fmla="*/ 20 h 179"/>
                  <a:gd name="T94" fmla="*/ 19 w 622"/>
                  <a:gd name="T95" fmla="*/ 23 h 179"/>
                  <a:gd name="T96" fmla="*/ 13 w 622"/>
                  <a:gd name="T97" fmla="*/ 28 h 179"/>
                  <a:gd name="T98" fmla="*/ 8 w 622"/>
                  <a:gd name="T99" fmla="*/ 31 h 179"/>
                  <a:gd name="T100" fmla="*/ 4 w 622"/>
                  <a:gd name="T101" fmla="*/ 36 h 179"/>
                  <a:gd name="T102" fmla="*/ 1 w 622"/>
                  <a:gd name="T103" fmla="*/ 40 h 179"/>
                  <a:gd name="T104" fmla="*/ 0 w 622"/>
                  <a:gd name="T105" fmla="*/ 45 h 17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22" h="179">
                    <a:moveTo>
                      <a:pt x="0" y="89"/>
                    </a:moveTo>
                    <a:lnTo>
                      <a:pt x="2" y="98"/>
                    </a:lnTo>
                    <a:lnTo>
                      <a:pt x="8" y="107"/>
                    </a:lnTo>
                    <a:lnTo>
                      <a:pt x="15" y="116"/>
                    </a:lnTo>
                    <a:lnTo>
                      <a:pt x="25" y="125"/>
                    </a:lnTo>
                    <a:lnTo>
                      <a:pt x="38" y="132"/>
                    </a:lnTo>
                    <a:lnTo>
                      <a:pt x="54" y="139"/>
                    </a:lnTo>
                    <a:lnTo>
                      <a:pt x="72" y="147"/>
                    </a:lnTo>
                    <a:lnTo>
                      <a:pt x="92" y="153"/>
                    </a:lnTo>
                    <a:lnTo>
                      <a:pt x="113" y="159"/>
                    </a:lnTo>
                    <a:lnTo>
                      <a:pt x="138" y="165"/>
                    </a:lnTo>
                    <a:lnTo>
                      <a:pt x="190" y="172"/>
                    </a:lnTo>
                    <a:lnTo>
                      <a:pt x="248" y="178"/>
                    </a:lnTo>
                    <a:lnTo>
                      <a:pt x="310" y="179"/>
                    </a:lnTo>
                    <a:lnTo>
                      <a:pt x="373" y="178"/>
                    </a:lnTo>
                    <a:lnTo>
                      <a:pt x="432" y="172"/>
                    </a:lnTo>
                    <a:lnTo>
                      <a:pt x="484" y="165"/>
                    </a:lnTo>
                    <a:lnTo>
                      <a:pt x="509" y="159"/>
                    </a:lnTo>
                    <a:lnTo>
                      <a:pt x="531" y="153"/>
                    </a:lnTo>
                    <a:lnTo>
                      <a:pt x="550" y="147"/>
                    </a:lnTo>
                    <a:lnTo>
                      <a:pt x="568" y="139"/>
                    </a:lnTo>
                    <a:lnTo>
                      <a:pt x="584" y="132"/>
                    </a:lnTo>
                    <a:lnTo>
                      <a:pt x="597" y="125"/>
                    </a:lnTo>
                    <a:lnTo>
                      <a:pt x="608" y="116"/>
                    </a:lnTo>
                    <a:lnTo>
                      <a:pt x="615" y="107"/>
                    </a:lnTo>
                    <a:lnTo>
                      <a:pt x="620" y="98"/>
                    </a:lnTo>
                    <a:lnTo>
                      <a:pt x="622" y="89"/>
                    </a:lnTo>
                    <a:lnTo>
                      <a:pt x="620" y="80"/>
                    </a:lnTo>
                    <a:lnTo>
                      <a:pt x="615" y="71"/>
                    </a:lnTo>
                    <a:lnTo>
                      <a:pt x="608" y="62"/>
                    </a:lnTo>
                    <a:lnTo>
                      <a:pt x="597" y="55"/>
                    </a:lnTo>
                    <a:lnTo>
                      <a:pt x="584" y="46"/>
                    </a:lnTo>
                    <a:lnTo>
                      <a:pt x="568" y="40"/>
                    </a:lnTo>
                    <a:lnTo>
                      <a:pt x="550" y="33"/>
                    </a:lnTo>
                    <a:lnTo>
                      <a:pt x="531" y="27"/>
                    </a:lnTo>
                    <a:lnTo>
                      <a:pt x="509" y="21"/>
                    </a:lnTo>
                    <a:lnTo>
                      <a:pt x="484" y="15"/>
                    </a:lnTo>
                    <a:lnTo>
                      <a:pt x="432" y="7"/>
                    </a:lnTo>
                    <a:lnTo>
                      <a:pt x="373" y="2"/>
                    </a:lnTo>
                    <a:lnTo>
                      <a:pt x="310" y="0"/>
                    </a:lnTo>
                    <a:lnTo>
                      <a:pt x="248" y="2"/>
                    </a:lnTo>
                    <a:lnTo>
                      <a:pt x="190" y="7"/>
                    </a:lnTo>
                    <a:lnTo>
                      <a:pt x="138" y="15"/>
                    </a:lnTo>
                    <a:lnTo>
                      <a:pt x="113" y="21"/>
                    </a:lnTo>
                    <a:lnTo>
                      <a:pt x="92" y="27"/>
                    </a:lnTo>
                    <a:lnTo>
                      <a:pt x="72" y="33"/>
                    </a:lnTo>
                    <a:lnTo>
                      <a:pt x="54" y="40"/>
                    </a:lnTo>
                    <a:lnTo>
                      <a:pt x="38" y="46"/>
                    </a:lnTo>
                    <a:lnTo>
                      <a:pt x="25" y="55"/>
                    </a:lnTo>
                    <a:lnTo>
                      <a:pt x="15" y="62"/>
                    </a:lnTo>
                    <a:lnTo>
                      <a:pt x="8" y="71"/>
                    </a:lnTo>
                    <a:lnTo>
                      <a:pt x="2" y="80"/>
                    </a:lnTo>
                    <a:lnTo>
                      <a:pt x="0" y="89"/>
                    </a:lnTo>
                    <a:close/>
                  </a:path>
                </a:pathLst>
              </a:custGeom>
              <a:solidFill>
                <a:srgbClr val="32B3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35" name="Freeform 159"/>
              <p:cNvSpPr>
                <a:spLocks/>
              </p:cNvSpPr>
              <p:nvPr/>
            </p:nvSpPr>
            <p:spPr bwMode="auto">
              <a:xfrm>
                <a:off x="867" y="2813"/>
                <a:ext cx="311" cy="359"/>
              </a:xfrm>
              <a:custGeom>
                <a:avLst/>
                <a:gdLst>
                  <a:gd name="T0" fmla="*/ 155 w 622"/>
                  <a:gd name="T1" fmla="*/ 0 h 717"/>
                  <a:gd name="T2" fmla="*/ 124 w 622"/>
                  <a:gd name="T3" fmla="*/ 1 h 717"/>
                  <a:gd name="T4" fmla="*/ 95 w 622"/>
                  <a:gd name="T5" fmla="*/ 4 h 717"/>
                  <a:gd name="T6" fmla="*/ 69 w 622"/>
                  <a:gd name="T7" fmla="*/ 8 h 717"/>
                  <a:gd name="T8" fmla="*/ 57 w 622"/>
                  <a:gd name="T9" fmla="*/ 11 h 717"/>
                  <a:gd name="T10" fmla="*/ 46 w 622"/>
                  <a:gd name="T11" fmla="*/ 14 h 717"/>
                  <a:gd name="T12" fmla="*/ 36 w 622"/>
                  <a:gd name="T13" fmla="*/ 17 h 717"/>
                  <a:gd name="T14" fmla="*/ 27 w 622"/>
                  <a:gd name="T15" fmla="*/ 20 h 717"/>
                  <a:gd name="T16" fmla="*/ 19 w 622"/>
                  <a:gd name="T17" fmla="*/ 23 h 717"/>
                  <a:gd name="T18" fmla="*/ 13 w 622"/>
                  <a:gd name="T19" fmla="*/ 28 h 717"/>
                  <a:gd name="T20" fmla="*/ 8 w 622"/>
                  <a:gd name="T21" fmla="*/ 31 h 717"/>
                  <a:gd name="T22" fmla="*/ 4 w 622"/>
                  <a:gd name="T23" fmla="*/ 36 h 717"/>
                  <a:gd name="T24" fmla="*/ 1 w 622"/>
                  <a:gd name="T25" fmla="*/ 40 h 717"/>
                  <a:gd name="T26" fmla="*/ 0 w 622"/>
                  <a:gd name="T27" fmla="*/ 45 h 717"/>
                  <a:gd name="T28" fmla="*/ 0 w 622"/>
                  <a:gd name="T29" fmla="*/ 314 h 717"/>
                  <a:gd name="T30" fmla="*/ 1 w 622"/>
                  <a:gd name="T31" fmla="*/ 318 h 717"/>
                  <a:gd name="T32" fmla="*/ 4 w 622"/>
                  <a:gd name="T33" fmla="*/ 323 h 717"/>
                  <a:gd name="T34" fmla="*/ 8 w 622"/>
                  <a:gd name="T35" fmla="*/ 327 h 717"/>
                  <a:gd name="T36" fmla="*/ 13 w 622"/>
                  <a:gd name="T37" fmla="*/ 332 h 717"/>
                  <a:gd name="T38" fmla="*/ 19 w 622"/>
                  <a:gd name="T39" fmla="*/ 335 h 717"/>
                  <a:gd name="T40" fmla="*/ 27 w 622"/>
                  <a:gd name="T41" fmla="*/ 339 h 717"/>
                  <a:gd name="T42" fmla="*/ 36 w 622"/>
                  <a:gd name="T43" fmla="*/ 343 h 717"/>
                  <a:gd name="T44" fmla="*/ 46 w 622"/>
                  <a:gd name="T45" fmla="*/ 346 h 717"/>
                  <a:gd name="T46" fmla="*/ 57 w 622"/>
                  <a:gd name="T47" fmla="*/ 349 h 717"/>
                  <a:gd name="T48" fmla="*/ 69 w 622"/>
                  <a:gd name="T49" fmla="*/ 352 h 717"/>
                  <a:gd name="T50" fmla="*/ 95 w 622"/>
                  <a:gd name="T51" fmla="*/ 355 h 717"/>
                  <a:gd name="T52" fmla="*/ 124 w 622"/>
                  <a:gd name="T53" fmla="*/ 358 h 717"/>
                  <a:gd name="T54" fmla="*/ 155 w 622"/>
                  <a:gd name="T55" fmla="*/ 359 h 717"/>
                  <a:gd name="T56" fmla="*/ 187 w 622"/>
                  <a:gd name="T57" fmla="*/ 358 h 717"/>
                  <a:gd name="T58" fmla="*/ 216 w 622"/>
                  <a:gd name="T59" fmla="*/ 355 h 717"/>
                  <a:gd name="T60" fmla="*/ 242 w 622"/>
                  <a:gd name="T61" fmla="*/ 352 h 717"/>
                  <a:gd name="T62" fmla="*/ 255 w 622"/>
                  <a:gd name="T63" fmla="*/ 349 h 717"/>
                  <a:gd name="T64" fmla="*/ 266 w 622"/>
                  <a:gd name="T65" fmla="*/ 346 h 717"/>
                  <a:gd name="T66" fmla="*/ 275 w 622"/>
                  <a:gd name="T67" fmla="*/ 343 h 717"/>
                  <a:gd name="T68" fmla="*/ 284 w 622"/>
                  <a:gd name="T69" fmla="*/ 339 h 717"/>
                  <a:gd name="T70" fmla="*/ 292 w 622"/>
                  <a:gd name="T71" fmla="*/ 335 h 717"/>
                  <a:gd name="T72" fmla="*/ 299 w 622"/>
                  <a:gd name="T73" fmla="*/ 332 h 717"/>
                  <a:gd name="T74" fmla="*/ 304 w 622"/>
                  <a:gd name="T75" fmla="*/ 327 h 717"/>
                  <a:gd name="T76" fmla="*/ 308 w 622"/>
                  <a:gd name="T77" fmla="*/ 323 h 717"/>
                  <a:gd name="T78" fmla="*/ 310 w 622"/>
                  <a:gd name="T79" fmla="*/ 318 h 717"/>
                  <a:gd name="T80" fmla="*/ 311 w 622"/>
                  <a:gd name="T81" fmla="*/ 314 h 717"/>
                  <a:gd name="T82" fmla="*/ 311 w 622"/>
                  <a:gd name="T83" fmla="*/ 45 h 717"/>
                  <a:gd name="T84" fmla="*/ 310 w 622"/>
                  <a:gd name="T85" fmla="*/ 40 h 717"/>
                  <a:gd name="T86" fmla="*/ 308 w 622"/>
                  <a:gd name="T87" fmla="*/ 36 h 717"/>
                  <a:gd name="T88" fmla="*/ 304 w 622"/>
                  <a:gd name="T89" fmla="*/ 31 h 717"/>
                  <a:gd name="T90" fmla="*/ 299 w 622"/>
                  <a:gd name="T91" fmla="*/ 28 h 717"/>
                  <a:gd name="T92" fmla="*/ 292 w 622"/>
                  <a:gd name="T93" fmla="*/ 23 h 717"/>
                  <a:gd name="T94" fmla="*/ 284 w 622"/>
                  <a:gd name="T95" fmla="*/ 20 h 717"/>
                  <a:gd name="T96" fmla="*/ 275 w 622"/>
                  <a:gd name="T97" fmla="*/ 17 h 717"/>
                  <a:gd name="T98" fmla="*/ 266 w 622"/>
                  <a:gd name="T99" fmla="*/ 14 h 717"/>
                  <a:gd name="T100" fmla="*/ 255 w 622"/>
                  <a:gd name="T101" fmla="*/ 11 h 717"/>
                  <a:gd name="T102" fmla="*/ 242 w 622"/>
                  <a:gd name="T103" fmla="*/ 8 h 717"/>
                  <a:gd name="T104" fmla="*/ 216 w 622"/>
                  <a:gd name="T105" fmla="*/ 4 h 717"/>
                  <a:gd name="T106" fmla="*/ 187 w 622"/>
                  <a:gd name="T107" fmla="*/ 1 h 717"/>
                  <a:gd name="T108" fmla="*/ 155 w 622"/>
                  <a:gd name="T109" fmla="*/ 0 h 71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7">
                    <a:moveTo>
                      <a:pt x="310" y="0"/>
                    </a:moveTo>
                    <a:lnTo>
                      <a:pt x="248" y="2"/>
                    </a:lnTo>
                    <a:lnTo>
                      <a:pt x="190" y="7"/>
                    </a:lnTo>
                    <a:lnTo>
                      <a:pt x="138" y="15"/>
                    </a:lnTo>
                    <a:lnTo>
                      <a:pt x="113" y="21"/>
                    </a:lnTo>
                    <a:lnTo>
                      <a:pt x="92" y="27"/>
                    </a:lnTo>
                    <a:lnTo>
                      <a:pt x="72" y="33"/>
                    </a:lnTo>
                    <a:lnTo>
                      <a:pt x="54" y="40"/>
                    </a:lnTo>
                    <a:lnTo>
                      <a:pt x="38" y="46"/>
                    </a:lnTo>
                    <a:lnTo>
                      <a:pt x="25" y="55"/>
                    </a:lnTo>
                    <a:lnTo>
                      <a:pt x="15" y="62"/>
                    </a:lnTo>
                    <a:lnTo>
                      <a:pt x="8" y="71"/>
                    </a:lnTo>
                    <a:lnTo>
                      <a:pt x="2" y="80"/>
                    </a:lnTo>
                    <a:lnTo>
                      <a:pt x="0" y="89"/>
                    </a:lnTo>
                    <a:lnTo>
                      <a:pt x="0" y="627"/>
                    </a:lnTo>
                    <a:lnTo>
                      <a:pt x="2" y="636"/>
                    </a:lnTo>
                    <a:lnTo>
                      <a:pt x="8" y="645"/>
                    </a:lnTo>
                    <a:lnTo>
                      <a:pt x="15" y="654"/>
                    </a:lnTo>
                    <a:lnTo>
                      <a:pt x="25" y="663"/>
                    </a:lnTo>
                    <a:lnTo>
                      <a:pt x="38" y="670"/>
                    </a:lnTo>
                    <a:lnTo>
                      <a:pt x="54" y="677"/>
                    </a:lnTo>
                    <a:lnTo>
                      <a:pt x="72" y="685"/>
                    </a:lnTo>
                    <a:lnTo>
                      <a:pt x="92" y="691"/>
                    </a:lnTo>
                    <a:lnTo>
                      <a:pt x="113" y="697"/>
                    </a:lnTo>
                    <a:lnTo>
                      <a:pt x="138" y="703"/>
                    </a:lnTo>
                    <a:lnTo>
                      <a:pt x="190" y="710"/>
                    </a:lnTo>
                    <a:lnTo>
                      <a:pt x="248" y="716"/>
                    </a:lnTo>
                    <a:lnTo>
                      <a:pt x="310" y="717"/>
                    </a:lnTo>
                    <a:lnTo>
                      <a:pt x="373" y="716"/>
                    </a:lnTo>
                    <a:lnTo>
                      <a:pt x="432" y="710"/>
                    </a:lnTo>
                    <a:lnTo>
                      <a:pt x="484" y="703"/>
                    </a:lnTo>
                    <a:lnTo>
                      <a:pt x="509" y="697"/>
                    </a:lnTo>
                    <a:lnTo>
                      <a:pt x="531" y="691"/>
                    </a:lnTo>
                    <a:lnTo>
                      <a:pt x="550" y="685"/>
                    </a:lnTo>
                    <a:lnTo>
                      <a:pt x="568" y="677"/>
                    </a:lnTo>
                    <a:lnTo>
                      <a:pt x="584" y="670"/>
                    </a:lnTo>
                    <a:lnTo>
                      <a:pt x="597" y="663"/>
                    </a:lnTo>
                    <a:lnTo>
                      <a:pt x="608" y="654"/>
                    </a:lnTo>
                    <a:lnTo>
                      <a:pt x="615" y="645"/>
                    </a:lnTo>
                    <a:lnTo>
                      <a:pt x="620" y="636"/>
                    </a:lnTo>
                    <a:lnTo>
                      <a:pt x="622" y="627"/>
                    </a:lnTo>
                    <a:lnTo>
                      <a:pt x="622" y="89"/>
                    </a:lnTo>
                    <a:lnTo>
                      <a:pt x="620" y="80"/>
                    </a:lnTo>
                    <a:lnTo>
                      <a:pt x="615" y="71"/>
                    </a:lnTo>
                    <a:lnTo>
                      <a:pt x="608" y="62"/>
                    </a:lnTo>
                    <a:lnTo>
                      <a:pt x="597" y="55"/>
                    </a:lnTo>
                    <a:lnTo>
                      <a:pt x="584" y="46"/>
                    </a:lnTo>
                    <a:lnTo>
                      <a:pt x="568" y="40"/>
                    </a:lnTo>
                    <a:lnTo>
                      <a:pt x="550" y="33"/>
                    </a:lnTo>
                    <a:lnTo>
                      <a:pt x="531" y="27"/>
                    </a:lnTo>
                    <a:lnTo>
                      <a:pt x="509" y="21"/>
                    </a:lnTo>
                    <a:lnTo>
                      <a:pt x="484" y="15"/>
                    </a:lnTo>
                    <a:lnTo>
                      <a:pt x="432" y="7"/>
                    </a:lnTo>
                    <a:lnTo>
                      <a:pt x="373" y="2"/>
                    </a:lnTo>
                    <a:lnTo>
                      <a:pt x="310" y="0"/>
                    </a:lnTo>
                    <a:close/>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sp>
            <p:nvSpPr>
              <p:cNvPr id="136" name="Freeform 160"/>
              <p:cNvSpPr>
                <a:spLocks/>
              </p:cNvSpPr>
              <p:nvPr/>
            </p:nvSpPr>
            <p:spPr bwMode="auto">
              <a:xfrm>
                <a:off x="867" y="2857"/>
                <a:ext cx="311" cy="46"/>
              </a:xfrm>
              <a:custGeom>
                <a:avLst/>
                <a:gdLst>
                  <a:gd name="T0" fmla="*/ 0 w 622"/>
                  <a:gd name="T1" fmla="*/ 0 h 90"/>
                  <a:gd name="T2" fmla="*/ 1 w 622"/>
                  <a:gd name="T3" fmla="*/ 5 h 90"/>
                  <a:gd name="T4" fmla="*/ 4 w 622"/>
                  <a:gd name="T5" fmla="*/ 9 h 90"/>
                  <a:gd name="T6" fmla="*/ 8 w 622"/>
                  <a:gd name="T7" fmla="*/ 14 h 90"/>
                  <a:gd name="T8" fmla="*/ 13 w 622"/>
                  <a:gd name="T9" fmla="*/ 18 h 90"/>
                  <a:gd name="T10" fmla="*/ 19 w 622"/>
                  <a:gd name="T11" fmla="*/ 22 h 90"/>
                  <a:gd name="T12" fmla="*/ 27 w 622"/>
                  <a:gd name="T13" fmla="*/ 26 h 90"/>
                  <a:gd name="T14" fmla="*/ 36 w 622"/>
                  <a:gd name="T15" fmla="*/ 30 h 90"/>
                  <a:gd name="T16" fmla="*/ 46 w 622"/>
                  <a:gd name="T17" fmla="*/ 33 h 90"/>
                  <a:gd name="T18" fmla="*/ 57 w 622"/>
                  <a:gd name="T19" fmla="*/ 36 h 90"/>
                  <a:gd name="T20" fmla="*/ 69 w 622"/>
                  <a:gd name="T21" fmla="*/ 39 h 90"/>
                  <a:gd name="T22" fmla="*/ 95 w 622"/>
                  <a:gd name="T23" fmla="*/ 42 h 90"/>
                  <a:gd name="T24" fmla="*/ 124 w 622"/>
                  <a:gd name="T25" fmla="*/ 45 h 90"/>
                  <a:gd name="T26" fmla="*/ 155 w 622"/>
                  <a:gd name="T27" fmla="*/ 46 h 90"/>
                  <a:gd name="T28" fmla="*/ 187 w 622"/>
                  <a:gd name="T29" fmla="*/ 45 h 90"/>
                  <a:gd name="T30" fmla="*/ 216 w 622"/>
                  <a:gd name="T31" fmla="*/ 42 h 90"/>
                  <a:gd name="T32" fmla="*/ 242 w 622"/>
                  <a:gd name="T33" fmla="*/ 39 h 90"/>
                  <a:gd name="T34" fmla="*/ 255 w 622"/>
                  <a:gd name="T35" fmla="*/ 36 h 90"/>
                  <a:gd name="T36" fmla="*/ 266 w 622"/>
                  <a:gd name="T37" fmla="*/ 33 h 90"/>
                  <a:gd name="T38" fmla="*/ 275 w 622"/>
                  <a:gd name="T39" fmla="*/ 30 h 90"/>
                  <a:gd name="T40" fmla="*/ 284 w 622"/>
                  <a:gd name="T41" fmla="*/ 26 h 90"/>
                  <a:gd name="T42" fmla="*/ 292 w 622"/>
                  <a:gd name="T43" fmla="*/ 22 h 90"/>
                  <a:gd name="T44" fmla="*/ 299 w 622"/>
                  <a:gd name="T45" fmla="*/ 18 h 90"/>
                  <a:gd name="T46" fmla="*/ 304 w 622"/>
                  <a:gd name="T47" fmla="*/ 14 h 90"/>
                  <a:gd name="T48" fmla="*/ 308 w 622"/>
                  <a:gd name="T49" fmla="*/ 9 h 90"/>
                  <a:gd name="T50" fmla="*/ 310 w 622"/>
                  <a:gd name="T51" fmla="*/ 5 h 90"/>
                  <a:gd name="T52" fmla="*/ 311 w 622"/>
                  <a:gd name="T53" fmla="*/ 0 h 9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22" h="90">
                    <a:moveTo>
                      <a:pt x="0" y="0"/>
                    </a:moveTo>
                    <a:lnTo>
                      <a:pt x="2" y="9"/>
                    </a:lnTo>
                    <a:lnTo>
                      <a:pt x="8" y="18"/>
                    </a:lnTo>
                    <a:lnTo>
                      <a:pt x="15" y="27"/>
                    </a:lnTo>
                    <a:lnTo>
                      <a:pt x="25" y="36"/>
                    </a:lnTo>
                    <a:lnTo>
                      <a:pt x="38" y="43"/>
                    </a:lnTo>
                    <a:lnTo>
                      <a:pt x="54" y="50"/>
                    </a:lnTo>
                    <a:lnTo>
                      <a:pt x="72" y="58"/>
                    </a:lnTo>
                    <a:lnTo>
                      <a:pt x="92" y="64"/>
                    </a:lnTo>
                    <a:lnTo>
                      <a:pt x="113" y="70"/>
                    </a:lnTo>
                    <a:lnTo>
                      <a:pt x="138" y="76"/>
                    </a:lnTo>
                    <a:lnTo>
                      <a:pt x="190" y="83"/>
                    </a:lnTo>
                    <a:lnTo>
                      <a:pt x="248" y="89"/>
                    </a:lnTo>
                    <a:lnTo>
                      <a:pt x="310" y="90"/>
                    </a:lnTo>
                    <a:lnTo>
                      <a:pt x="373" y="89"/>
                    </a:lnTo>
                    <a:lnTo>
                      <a:pt x="432" y="83"/>
                    </a:lnTo>
                    <a:lnTo>
                      <a:pt x="484" y="76"/>
                    </a:lnTo>
                    <a:lnTo>
                      <a:pt x="509" y="70"/>
                    </a:lnTo>
                    <a:lnTo>
                      <a:pt x="531" y="64"/>
                    </a:lnTo>
                    <a:lnTo>
                      <a:pt x="550" y="58"/>
                    </a:lnTo>
                    <a:lnTo>
                      <a:pt x="568" y="50"/>
                    </a:lnTo>
                    <a:lnTo>
                      <a:pt x="584" y="43"/>
                    </a:lnTo>
                    <a:lnTo>
                      <a:pt x="597" y="36"/>
                    </a:lnTo>
                    <a:lnTo>
                      <a:pt x="608" y="27"/>
                    </a:lnTo>
                    <a:lnTo>
                      <a:pt x="615" y="18"/>
                    </a:lnTo>
                    <a:lnTo>
                      <a:pt x="620" y="9"/>
                    </a:lnTo>
                    <a:lnTo>
                      <a:pt x="622"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grpSp>
        <p:grpSp>
          <p:nvGrpSpPr>
            <p:cNvPr id="117" name="Group 161"/>
            <p:cNvGrpSpPr>
              <a:grpSpLocks/>
            </p:cNvGrpSpPr>
            <p:nvPr/>
          </p:nvGrpSpPr>
          <p:grpSpPr bwMode="auto">
            <a:xfrm>
              <a:off x="919" y="2858"/>
              <a:ext cx="310" cy="358"/>
              <a:chOff x="919" y="2858"/>
              <a:chExt cx="310" cy="358"/>
            </a:xfrm>
          </p:grpSpPr>
          <p:sp>
            <p:nvSpPr>
              <p:cNvPr id="129" name="Freeform 162"/>
              <p:cNvSpPr>
                <a:spLocks/>
              </p:cNvSpPr>
              <p:nvPr/>
            </p:nvSpPr>
            <p:spPr bwMode="auto">
              <a:xfrm>
                <a:off x="919" y="2858"/>
                <a:ext cx="310" cy="358"/>
              </a:xfrm>
              <a:custGeom>
                <a:avLst/>
                <a:gdLst>
                  <a:gd name="T0" fmla="*/ 155 w 622"/>
                  <a:gd name="T1" fmla="*/ 0 h 716"/>
                  <a:gd name="T2" fmla="*/ 124 w 622"/>
                  <a:gd name="T3" fmla="*/ 1 h 716"/>
                  <a:gd name="T4" fmla="*/ 95 w 622"/>
                  <a:gd name="T5" fmla="*/ 4 h 716"/>
                  <a:gd name="T6" fmla="*/ 69 w 622"/>
                  <a:gd name="T7" fmla="*/ 8 h 716"/>
                  <a:gd name="T8" fmla="*/ 56 w 622"/>
                  <a:gd name="T9" fmla="*/ 11 h 716"/>
                  <a:gd name="T10" fmla="*/ 46 w 622"/>
                  <a:gd name="T11" fmla="*/ 14 h 716"/>
                  <a:gd name="T12" fmla="*/ 36 w 622"/>
                  <a:gd name="T13" fmla="*/ 17 h 716"/>
                  <a:gd name="T14" fmla="*/ 27 w 622"/>
                  <a:gd name="T15" fmla="*/ 20 h 716"/>
                  <a:gd name="T16" fmla="*/ 19 w 622"/>
                  <a:gd name="T17" fmla="*/ 23 h 716"/>
                  <a:gd name="T18" fmla="*/ 12 w 622"/>
                  <a:gd name="T19" fmla="*/ 28 h 716"/>
                  <a:gd name="T20" fmla="*/ 7 w 622"/>
                  <a:gd name="T21" fmla="*/ 32 h 716"/>
                  <a:gd name="T22" fmla="*/ 3 w 622"/>
                  <a:gd name="T23" fmla="*/ 36 h 716"/>
                  <a:gd name="T24" fmla="*/ 1 w 622"/>
                  <a:gd name="T25" fmla="*/ 40 h 716"/>
                  <a:gd name="T26" fmla="*/ 0 w 622"/>
                  <a:gd name="T27" fmla="*/ 45 h 716"/>
                  <a:gd name="T28" fmla="*/ 0 w 622"/>
                  <a:gd name="T29" fmla="*/ 314 h 716"/>
                  <a:gd name="T30" fmla="*/ 1 w 622"/>
                  <a:gd name="T31" fmla="*/ 318 h 716"/>
                  <a:gd name="T32" fmla="*/ 3 w 622"/>
                  <a:gd name="T33" fmla="*/ 323 h 716"/>
                  <a:gd name="T34" fmla="*/ 7 w 622"/>
                  <a:gd name="T35" fmla="*/ 327 h 716"/>
                  <a:gd name="T36" fmla="*/ 12 w 622"/>
                  <a:gd name="T37" fmla="*/ 331 h 716"/>
                  <a:gd name="T38" fmla="*/ 19 w 622"/>
                  <a:gd name="T39" fmla="*/ 335 h 716"/>
                  <a:gd name="T40" fmla="*/ 27 w 622"/>
                  <a:gd name="T41" fmla="*/ 339 h 716"/>
                  <a:gd name="T42" fmla="*/ 36 w 622"/>
                  <a:gd name="T43" fmla="*/ 342 h 716"/>
                  <a:gd name="T44" fmla="*/ 46 w 622"/>
                  <a:gd name="T45" fmla="*/ 345 h 716"/>
                  <a:gd name="T46" fmla="*/ 56 w 622"/>
                  <a:gd name="T47" fmla="*/ 348 h 716"/>
                  <a:gd name="T48" fmla="*/ 69 w 622"/>
                  <a:gd name="T49" fmla="*/ 351 h 716"/>
                  <a:gd name="T50" fmla="*/ 95 w 622"/>
                  <a:gd name="T51" fmla="*/ 355 h 716"/>
                  <a:gd name="T52" fmla="*/ 124 w 622"/>
                  <a:gd name="T53" fmla="*/ 358 h 716"/>
                  <a:gd name="T54" fmla="*/ 155 w 622"/>
                  <a:gd name="T55" fmla="*/ 358 h 716"/>
                  <a:gd name="T56" fmla="*/ 186 w 622"/>
                  <a:gd name="T57" fmla="*/ 358 h 716"/>
                  <a:gd name="T58" fmla="*/ 215 w 622"/>
                  <a:gd name="T59" fmla="*/ 355 h 716"/>
                  <a:gd name="T60" fmla="*/ 241 w 622"/>
                  <a:gd name="T61" fmla="*/ 351 h 716"/>
                  <a:gd name="T62" fmla="*/ 254 w 622"/>
                  <a:gd name="T63" fmla="*/ 348 h 716"/>
                  <a:gd name="T64" fmla="*/ 265 w 622"/>
                  <a:gd name="T65" fmla="*/ 345 h 716"/>
                  <a:gd name="T66" fmla="*/ 274 w 622"/>
                  <a:gd name="T67" fmla="*/ 342 h 716"/>
                  <a:gd name="T68" fmla="*/ 283 w 622"/>
                  <a:gd name="T69" fmla="*/ 339 h 716"/>
                  <a:gd name="T70" fmla="*/ 291 w 622"/>
                  <a:gd name="T71" fmla="*/ 335 h 716"/>
                  <a:gd name="T72" fmla="*/ 298 w 622"/>
                  <a:gd name="T73" fmla="*/ 331 h 716"/>
                  <a:gd name="T74" fmla="*/ 303 w 622"/>
                  <a:gd name="T75" fmla="*/ 327 h 716"/>
                  <a:gd name="T76" fmla="*/ 307 w 622"/>
                  <a:gd name="T77" fmla="*/ 323 h 716"/>
                  <a:gd name="T78" fmla="*/ 309 w 622"/>
                  <a:gd name="T79" fmla="*/ 318 h 716"/>
                  <a:gd name="T80" fmla="*/ 310 w 622"/>
                  <a:gd name="T81" fmla="*/ 314 h 716"/>
                  <a:gd name="T82" fmla="*/ 310 w 622"/>
                  <a:gd name="T83" fmla="*/ 45 h 716"/>
                  <a:gd name="T84" fmla="*/ 309 w 622"/>
                  <a:gd name="T85" fmla="*/ 40 h 716"/>
                  <a:gd name="T86" fmla="*/ 307 w 622"/>
                  <a:gd name="T87" fmla="*/ 36 h 716"/>
                  <a:gd name="T88" fmla="*/ 303 w 622"/>
                  <a:gd name="T89" fmla="*/ 32 h 716"/>
                  <a:gd name="T90" fmla="*/ 298 w 622"/>
                  <a:gd name="T91" fmla="*/ 28 h 716"/>
                  <a:gd name="T92" fmla="*/ 291 w 622"/>
                  <a:gd name="T93" fmla="*/ 23 h 716"/>
                  <a:gd name="T94" fmla="*/ 283 w 622"/>
                  <a:gd name="T95" fmla="*/ 20 h 716"/>
                  <a:gd name="T96" fmla="*/ 274 w 622"/>
                  <a:gd name="T97" fmla="*/ 17 h 716"/>
                  <a:gd name="T98" fmla="*/ 265 w 622"/>
                  <a:gd name="T99" fmla="*/ 14 h 716"/>
                  <a:gd name="T100" fmla="*/ 254 w 622"/>
                  <a:gd name="T101" fmla="*/ 11 h 716"/>
                  <a:gd name="T102" fmla="*/ 241 w 622"/>
                  <a:gd name="T103" fmla="*/ 8 h 716"/>
                  <a:gd name="T104" fmla="*/ 215 w 622"/>
                  <a:gd name="T105" fmla="*/ 4 h 716"/>
                  <a:gd name="T106" fmla="*/ 186 w 622"/>
                  <a:gd name="T107" fmla="*/ 1 h 716"/>
                  <a:gd name="T108" fmla="*/ 155 w 622"/>
                  <a:gd name="T109" fmla="*/ 0 h 71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6">
                    <a:moveTo>
                      <a:pt x="310" y="0"/>
                    </a:moveTo>
                    <a:lnTo>
                      <a:pt x="248" y="2"/>
                    </a:lnTo>
                    <a:lnTo>
                      <a:pt x="190" y="8"/>
                    </a:lnTo>
                    <a:lnTo>
                      <a:pt x="138" y="15"/>
                    </a:lnTo>
                    <a:lnTo>
                      <a:pt x="113" y="21"/>
                    </a:lnTo>
                    <a:lnTo>
                      <a:pt x="92" y="27"/>
                    </a:lnTo>
                    <a:lnTo>
                      <a:pt x="72" y="33"/>
                    </a:lnTo>
                    <a:lnTo>
                      <a:pt x="54" y="40"/>
                    </a:lnTo>
                    <a:lnTo>
                      <a:pt x="38" y="46"/>
                    </a:lnTo>
                    <a:lnTo>
                      <a:pt x="25" y="55"/>
                    </a:lnTo>
                    <a:lnTo>
                      <a:pt x="15" y="63"/>
                    </a:lnTo>
                    <a:lnTo>
                      <a:pt x="7" y="72"/>
                    </a:lnTo>
                    <a:lnTo>
                      <a:pt x="2" y="80"/>
                    </a:lnTo>
                    <a:lnTo>
                      <a:pt x="0" y="89"/>
                    </a:lnTo>
                    <a:lnTo>
                      <a:pt x="0" y="627"/>
                    </a:lnTo>
                    <a:lnTo>
                      <a:pt x="2" y="636"/>
                    </a:lnTo>
                    <a:lnTo>
                      <a:pt x="7" y="645"/>
                    </a:lnTo>
                    <a:lnTo>
                      <a:pt x="15" y="654"/>
                    </a:lnTo>
                    <a:lnTo>
                      <a:pt x="25" y="661"/>
                    </a:lnTo>
                    <a:lnTo>
                      <a:pt x="38" y="670"/>
                    </a:lnTo>
                    <a:lnTo>
                      <a:pt x="54" y="678"/>
                    </a:lnTo>
                    <a:lnTo>
                      <a:pt x="72" y="684"/>
                    </a:lnTo>
                    <a:lnTo>
                      <a:pt x="92" y="690"/>
                    </a:lnTo>
                    <a:lnTo>
                      <a:pt x="113" y="696"/>
                    </a:lnTo>
                    <a:lnTo>
                      <a:pt x="138" y="701"/>
                    </a:lnTo>
                    <a:lnTo>
                      <a:pt x="190" y="709"/>
                    </a:lnTo>
                    <a:lnTo>
                      <a:pt x="248" y="715"/>
                    </a:lnTo>
                    <a:lnTo>
                      <a:pt x="310" y="716"/>
                    </a:lnTo>
                    <a:lnTo>
                      <a:pt x="373" y="715"/>
                    </a:lnTo>
                    <a:lnTo>
                      <a:pt x="432" y="709"/>
                    </a:lnTo>
                    <a:lnTo>
                      <a:pt x="484" y="701"/>
                    </a:lnTo>
                    <a:lnTo>
                      <a:pt x="509" y="696"/>
                    </a:lnTo>
                    <a:lnTo>
                      <a:pt x="531" y="690"/>
                    </a:lnTo>
                    <a:lnTo>
                      <a:pt x="550" y="684"/>
                    </a:lnTo>
                    <a:lnTo>
                      <a:pt x="568" y="678"/>
                    </a:lnTo>
                    <a:lnTo>
                      <a:pt x="584" y="670"/>
                    </a:lnTo>
                    <a:lnTo>
                      <a:pt x="597" y="661"/>
                    </a:lnTo>
                    <a:lnTo>
                      <a:pt x="608" y="654"/>
                    </a:lnTo>
                    <a:lnTo>
                      <a:pt x="615" y="645"/>
                    </a:lnTo>
                    <a:lnTo>
                      <a:pt x="620" y="636"/>
                    </a:lnTo>
                    <a:lnTo>
                      <a:pt x="622" y="627"/>
                    </a:lnTo>
                    <a:lnTo>
                      <a:pt x="622" y="89"/>
                    </a:lnTo>
                    <a:lnTo>
                      <a:pt x="620" y="80"/>
                    </a:lnTo>
                    <a:lnTo>
                      <a:pt x="615" y="72"/>
                    </a:lnTo>
                    <a:lnTo>
                      <a:pt x="608" y="63"/>
                    </a:lnTo>
                    <a:lnTo>
                      <a:pt x="597" y="55"/>
                    </a:lnTo>
                    <a:lnTo>
                      <a:pt x="584" y="46"/>
                    </a:lnTo>
                    <a:lnTo>
                      <a:pt x="568" y="40"/>
                    </a:lnTo>
                    <a:lnTo>
                      <a:pt x="550" y="33"/>
                    </a:lnTo>
                    <a:lnTo>
                      <a:pt x="531" y="27"/>
                    </a:lnTo>
                    <a:lnTo>
                      <a:pt x="509" y="21"/>
                    </a:lnTo>
                    <a:lnTo>
                      <a:pt x="484" y="15"/>
                    </a:lnTo>
                    <a:lnTo>
                      <a:pt x="432" y="8"/>
                    </a:lnTo>
                    <a:lnTo>
                      <a:pt x="373" y="2"/>
                    </a:lnTo>
                    <a:lnTo>
                      <a:pt x="310" y="0"/>
                    </a:lnTo>
                    <a:close/>
                  </a:path>
                </a:pathLst>
              </a:custGeom>
              <a:solidFill>
                <a:srgbClr val="00A0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30" name="Freeform 163"/>
              <p:cNvSpPr>
                <a:spLocks/>
              </p:cNvSpPr>
              <p:nvPr/>
            </p:nvSpPr>
            <p:spPr bwMode="auto">
              <a:xfrm>
                <a:off x="919" y="2858"/>
                <a:ext cx="310" cy="90"/>
              </a:xfrm>
              <a:custGeom>
                <a:avLst/>
                <a:gdLst>
                  <a:gd name="T0" fmla="*/ 0 w 622"/>
                  <a:gd name="T1" fmla="*/ 45 h 180"/>
                  <a:gd name="T2" fmla="*/ 1 w 622"/>
                  <a:gd name="T3" fmla="*/ 49 h 180"/>
                  <a:gd name="T4" fmla="*/ 3 w 622"/>
                  <a:gd name="T5" fmla="*/ 54 h 180"/>
                  <a:gd name="T6" fmla="*/ 7 w 622"/>
                  <a:gd name="T7" fmla="*/ 58 h 180"/>
                  <a:gd name="T8" fmla="*/ 12 w 622"/>
                  <a:gd name="T9" fmla="*/ 63 h 180"/>
                  <a:gd name="T10" fmla="*/ 19 w 622"/>
                  <a:gd name="T11" fmla="*/ 66 h 180"/>
                  <a:gd name="T12" fmla="*/ 27 w 622"/>
                  <a:gd name="T13" fmla="*/ 70 h 180"/>
                  <a:gd name="T14" fmla="*/ 36 w 622"/>
                  <a:gd name="T15" fmla="*/ 74 h 180"/>
                  <a:gd name="T16" fmla="*/ 46 w 622"/>
                  <a:gd name="T17" fmla="*/ 77 h 180"/>
                  <a:gd name="T18" fmla="*/ 56 w 622"/>
                  <a:gd name="T19" fmla="*/ 80 h 180"/>
                  <a:gd name="T20" fmla="*/ 69 w 622"/>
                  <a:gd name="T21" fmla="*/ 83 h 180"/>
                  <a:gd name="T22" fmla="*/ 95 w 622"/>
                  <a:gd name="T23" fmla="*/ 86 h 180"/>
                  <a:gd name="T24" fmla="*/ 124 w 622"/>
                  <a:gd name="T25" fmla="*/ 89 h 180"/>
                  <a:gd name="T26" fmla="*/ 155 w 622"/>
                  <a:gd name="T27" fmla="*/ 90 h 180"/>
                  <a:gd name="T28" fmla="*/ 186 w 622"/>
                  <a:gd name="T29" fmla="*/ 89 h 180"/>
                  <a:gd name="T30" fmla="*/ 215 w 622"/>
                  <a:gd name="T31" fmla="*/ 86 h 180"/>
                  <a:gd name="T32" fmla="*/ 241 w 622"/>
                  <a:gd name="T33" fmla="*/ 83 h 180"/>
                  <a:gd name="T34" fmla="*/ 254 w 622"/>
                  <a:gd name="T35" fmla="*/ 80 h 180"/>
                  <a:gd name="T36" fmla="*/ 265 w 622"/>
                  <a:gd name="T37" fmla="*/ 77 h 180"/>
                  <a:gd name="T38" fmla="*/ 274 w 622"/>
                  <a:gd name="T39" fmla="*/ 74 h 180"/>
                  <a:gd name="T40" fmla="*/ 283 w 622"/>
                  <a:gd name="T41" fmla="*/ 70 h 180"/>
                  <a:gd name="T42" fmla="*/ 291 w 622"/>
                  <a:gd name="T43" fmla="*/ 66 h 180"/>
                  <a:gd name="T44" fmla="*/ 298 w 622"/>
                  <a:gd name="T45" fmla="*/ 63 h 180"/>
                  <a:gd name="T46" fmla="*/ 303 w 622"/>
                  <a:gd name="T47" fmla="*/ 58 h 180"/>
                  <a:gd name="T48" fmla="*/ 307 w 622"/>
                  <a:gd name="T49" fmla="*/ 54 h 180"/>
                  <a:gd name="T50" fmla="*/ 309 w 622"/>
                  <a:gd name="T51" fmla="*/ 49 h 180"/>
                  <a:gd name="T52" fmla="*/ 310 w 622"/>
                  <a:gd name="T53" fmla="*/ 45 h 180"/>
                  <a:gd name="T54" fmla="*/ 309 w 622"/>
                  <a:gd name="T55" fmla="*/ 40 h 180"/>
                  <a:gd name="T56" fmla="*/ 307 w 622"/>
                  <a:gd name="T57" fmla="*/ 36 h 180"/>
                  <a:gd name="T58" fmla="*/ 303 w 622"/>
                  <a:gd name="T59" fmla="*/ 32 h 180"/>
                  <a:gd name="T60" fmla="*/ 298 w 622"/>
                  <a:gd name="T61" fmla="*/ 28 h 180"/>
                  <a:gd name="T62" fmla="*/ 291 w 622"/>
                  <a:gd name="T63" fmla="*/ 23 h 180"/>
                  <a:gd name="T64" fmla="*/ 283 w 622"/>
                  <a:gd name="T65" fmla="*/ 20 h 180"/>
                  <a:gd name="T66" fmla="*/ 274 w 622"/>
                  <a:gd name="T67" fmla="*/ 17 h 180"/>
                  <a:gd name="T68" fmla="*/ 265 w 622"/>
                  <a:gd name="T69" fmla="*/ 14 h 180"/>
                  <a:gd name="T70" fmla="*/ 254 w 622"/>
                  <a:gd name="T71" fmla="*/ 11 h 180"/>
                  <a:gd name="T72" fmla="*/ 241 w 622"/>
                  <a:gd name="T73" fmla="*/ 8 h 180"/>
                  <a:gd name="T74" fmla="*/ 215 w 622"/>
                  <a:gd name="T75" fmla="*/ 4 h 180"/>
                  <a:gd name="T76" fmla="*/ 186 w 622"/>
                  <a:gd name="T77" fmla="*/ 1 h 180"/>
                  <a:gd name="T78" fmla="*/ 155 w 622"/>
                  <a:gd name="T79" fmla="*/ 0 h 180"/>
                  <a:gd name="T80" fmla="*/ 124 w 622"/>
                  <a:gd name="T81" fmla="*/ 1 h 180"/>
                  <a:gd name="T82" fmla="*/ 95 w 622"/>
                  <a:gd name="T83" fmla="*/ 4 h 180"/>
                  <a:gd name="T84" fmla="*/ 69 w 622"/>
                  <a:gd name="T85" fmla="*/ 8 h 180"/>
                  <a:gd name="T86" fmla="*/ 56 w 622"/>
                  <a:gd name="T87" fmla="*/ 11 h 180"/>
                  <a:gd name="T88" fmla="*/ 46 w 622"/>
                  <a:gd name="T89" fmla="*/ 14 h 180"/>
                  <a:gd name="T90" fmla="*/ 36 w 622"/>
                  <a:gd name="T91" fmla="*/ 17 h 180"/>
                  <a:gd name="T92" fmla="*/ 27 w 622"/>
                  <a:gd name="T93" fmla="*/ 20 h 180"/>
                  <a:gd name="T94" fmla="*/ 19 w 622"/>
                  <a:gd name="T95" fmla="*/ 23 h 180"/>
                  <a:gd name="T96" fmla="*/ 12 w 622"/>
                  <a:gd name="T97" fmla="*/ 28 h 180"/>
                  <a:gd name="T98" fmla="*/ 7 w 622"/>
                  <a:gd name="T99" fmla="*/ 32 h 180"/>
                  <a:gd name="T100" fmla="*/ 3 w 622"/>
                  <a:gd name="T101" fmla="*/ 36 h 180"/>
                  <a:gd name="T102" fmla="*/ 1 w 622"/>
                  <a:gd name="T103" fmla="*/ 40 h 180"/>
                  <a:gd name="T104" fmla="*/ 0 w 622"/>
                  <a:gd name="T105" fmla="*/ 45 h 18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22" h="180">
                    <a:moveTo>
                      <a:pt x="0" y="89"/>
                    </a:moveTo>
                    <a:lnTo>
                      <a:pt x="2" y="98"/>
                    </a:lnTo>
                    <a:lnTo>
                      <a:pt x="7" y="107"/>
                    </a:lnTo>
                    <a:lnTo>
                      <a:pt x="15" y="116"/>
                    </a:lnTo>
                    <a:lnTo>
                      <a:pt x="25" y="125"/>
                    </a:lnTo>
                    <a:lnTo>
                      <a:pt x="38" y="132"/>
                    </a:lnTo>
                    <a:lnTo>
                      <a:pt x="54" y="140"/>
                    </a:lnTo>
                    <a:lnTo>
                      <a:pt x="72" y="147"/>
                    </a:lnTo>
                    <a:lnTo>
                      <a:pt x="92" y="153"/>
                    </a:lnTo>
                    <a:lnTo>
                      <a:pt x="113" y="159"/>
                    </a:lnTo>
                    <a:lnTo>
                      <a:pt x="138" y="165"/>
                    </a:lnTo>
                    <a:lnTo>
                      <a:pt x="190" y="172"/>
                    </a:lnTo>
                    <a:lnTo>
                      <a:pt x="248" y="178"/>
                    </a:lnTo>
                    <a:lnTo>
                      <a:pt x="310" y="180"/>
                    </a:lnTo>
                    <a:lnTo>
                      <a:pt x="373" y="178"/>
                    </a:lnTo>
                    <a:lnTo>
                      <a:pt x="432" y="172"/>
                    </a:lnTo>
                    <a:lnTo>
                      <a:pt x="484" y="165"/>
                    </a:lnTo>
                    <a:lnTo>
                      <a:pt x="509" y="159"/>
                    </a:lnTo>
                    <a:lnTo>
                      <a:pt x="531" y="153"/>
                    </a:lnTo>
                    <a:lnTo>
                      <a:pt x="550" y="147"/>
                    </a:lnTo>
                    <a:lnTo>
                      <a:pt x="568" y="140"/>
                    </a:lnTo>
                    <a:lnTo>
                      <a:pt x="584" y="132"/>
                    </a:lnTo>
                    <a:lnTo>
                      <a:pt x="597" y="125"/>
                    </a:lnTo>
                    <a:lnTo>
                      <a:pt x="608" y="116"/>
                    </a:lnTo>
                    <a:lnTo>
                      <a:pt x="615" y="107"/>
                    </a:lnTo>
                    <a:lnTo>
                      <a:pt x="620" y="98"/>
                    </a:lnTo>
                    <a:lnTo>
                      <a:pt x="622" y="89"/>
                    </a:lnTo>
                    <a:lnTo>
                      <a:pt x="620" y="80"/>
                    </a:lnTo>
                    <a:lnTo>
                      <a:pt x="615" y="72"/>
                    </a:lnTo>
                    <a:lnTo>
                      <a:pt x="608" y="63"/>
                    </a:lnTo>
                    <a:lnTo>
                      <a:pt x="597" y="55"/>
                    </a:lnTo>
                    <a:lnTo>
                      <a:pt x="584" y="46"/>
                    </a:lnTo>
                    <a:lnTo>
                      <a:pt x="568" y="40"/>
                    </a:lnTo>
                    <a:lnTo>
                      <a:pt x="550" y="33"/>
                    </a:lnTo>
                    <a:lnTo>
                      <a:pt x="531" y="27"/>
                    </a:lnTo>
                    <a:lnTo>
                      <a:pt x="509" y="21"/>
                    </a:lnTo>
                    <a:lnTo>
                      <a:pt x="484" y="15"/>
                    </a:lnTo>
                    <a:lnTo>
                      <a:pt x="432" y="8"/>
                    </a:lnTo>
                    <a:lnTo>
                      <a:pt x="373" y="2"/>
                    </a:lnTo>
                    <a:lnTo>
                      <a:pt x="310" y="0"/>
                    </a:lnTo>
                    <a:lnTo>
                      <a:pt x="248" y="2"/>
                    </a:lnTo>
                    <a:lnTo>
                      <a:pt x="190" y="8"/>
                    </a:lnTo>
                    <a:lnTo>
                      <a:pt x="138" y="15"/>
                    </a:lnTo>
                    <a:lnTo>
                      <a:pt x="113" y="21"/>
                    </a:lnTo>
                    <a:lnTo>
                      <a:pt x="92" y="27"/>
                    </a:lnTo>
                    <a:lnTo>
                      <a:pt x="72" y="33"/>
                    </a:lnTo>
                    <a:lnTo>
                      <a:pt x="54" y="40"/>
                    </a:lnTo>
                    <a:lnTo>
                      <a:pt x="38" y="46"/>
                    </a:lnTo>
                    <a:lnTo>
                      <a:pt x="25" y="55"/>
                    </a:lnTo>
                    <a:lnTo>
                      <a:pt x="15" y="63"/>
                    </a:lnTo>
                    <a:lnTo>
                      <a:pt x="7" y="72"/>
                    </a:lnTo>
                    <a:lnTo>
                      <a:pt x="2" y="80"/>
                    </a:lnTo>
                    <a:lnTo>
                      <a:pt x="0" y="89"/>
                    </a:lnTo>
                    <a:close/>
                  </a:path>
                </a:pathLst>
              </a:custGeom>
              <a:solidFill>
                <a:srgbClr val="32B3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31" name="Freeform 164"/>
              <p:cNvSpPr>
                <a:spLocks/>
              </p:cNvSpPr>
              <p:nvPr/>
            </p:nvSpPr>
            <p:spPr bwMode="auto">
              <a:xfrm>
                <a:off x="919" y="2858"/>
                <a:ext cx="310" cy="358"/>
              </a:xfrm>
              <a:custGeom>
                <a:avLst/>
                <a:gdLst>
                  <a:gd name="T0" fmla="*/ 155 w 622"/>
                  <a:gd name="T1" fmla="*/ 0 h 716"/>
                  <a:gd name="T2" fmla="*/ 124 w 622"/>
                  <a:gd name="T3" fmla="*/ 1 h 716"/>
                  <a:gd name="T4" fmla="*/ 95 w 622"/>
                  <a:gd name="T5" fmla="*/ 4 h 716"/>
                  <a:gd name="T6" fmla="*/ 69 w 622"/>
                  <a:gd name="T7" fmla="*/ 8 h 716"/>
                  <a:gd name="T8" fmla="*/ 56 w 622"/>
                  <a:gd name="T9" fmla="*/ 11 h 716"/>
                  <a:gd name="T10" fmla="*/ 46 w 622"/>
                  <a:gd name="T11" fmla="*/ 14 h 716"/>
                  <a:gd name="T12" fmla="*/ 36 w 622"/>
                  <a:gd name="T13" fmla="*/ 17 h 716"/>
                  <a:gd name="T14" fmla="*/ 27 w 622"/>
                  <a:gd name="T15" fmla="*/ 20 h 716"/>
                  <a:gd name="T16" fmla="*/ 19 w 622"/>
                  <a:gd name="T17" fmla="*/ 23 h 716"/>
                  <a:gd name="T18" fmla="*/ 12 w 622"/>
                  <a:gd name="T19" fmla="*/ 28 h 716"/>
                  <a:gd name="T20" fmla="*/ 7 w 622"/>
                  <a:gd name="T21" fmla="*/ 32 h 716"/>
                  <a:gd name="T22" fmla="*/ 3 w 622"/>
                  <a:gd name="T23" fmla="*/ 36 h 716"/>
                  <a:gd name="T24" fmla="*/ 1 w 622"/>
                  <a:gd name="T25" fmla="*/ 40 h 716"/>
                  <a:gd name="T26" fmla="*/ 0 w 622"/>
                  <a:gd name="T27" fmla="*/ 45 h 716"/>
                  <a:gd name="T28" fmla="*/ 0 w 622"/>
                  <a:gd name="T29" fmla="*/ 314 h 716"/>
                  <a:gd name="T30" fmla="*/ 1 w 622"/>
                  <a:gd name="T31" fmla="*/ 318 h 716"/>
                  <a:gd name="T32" fmla="*/ 3 w 622"/>
                  <a:gd name="T33" fmla="*/ 323 h 716"/>
                  <a:gd name="T34" fmla="*/ 7 w 622"/>
                  <a:gd name="T35" fmla="*/ 327 h 716"/>
                  <a:gd name="T36" fmla="*/ 12 w 622"/>
                  <a:gd name="T37" fmla="*/ 331 h 716"/>
                  <a:gd name="T38" fmla="*/ 19 w 622"/>
                  <a:gd name="T39" fmla="*/ 335 h 716"/>
                  <a:gd name="T40" fmla="*/ 27 w 622"/>
                  <a:gd name="T41" fmla="*/ 339 h 716"/>
                  <a:gd name="T42" fmla="*/ 36 w 622"/>
                  <a:gd name="T43" fmla="*/ 342 h 716"/>
                  <a:gd name="T44" fmla="*/ 46 w 622"/>
                  <a:gd name="T45" fmla="*/ 345 h 716"/>
                  <a:gd name="T46" fmla="*/ 56 w 622"/>
                  <a:gd name="T47" fmla="*/ 348 h 716"/>
                  <a:gd name="T48" fmla="*/ 69 w 622"/>
                  <a:gd name="T49" fmla="*/ 351 h 716"/>
                  <a:gd name="T50" fmla="*/ 95 w 622"/>
                  <a:gd name="T51" fmla="*/ 355 h 716"/>
                  <a:gd name="T52" fmla="*/ 124 w 622"/>
                  <a:gd name="T53" fmla="*/ 358 h 716"/>
                  <a:gd name="T54" fmla="*/ 155 w 622"/>
                  <a:gd name="T55" fmla="*/ 358 h 716"/>
                  <a:gd name="T56" fmla="*/ 186 w 622"/>
                  <a:gd name="T57" fmla="*/ 358 h 716"/>
                  <a:gd name="T58" fmla="*/ 215 w 622"/>
                  <a:gd name="T59" fmla="*/ 355 h 716"/>
                  <a:gd name="T60" fmla="*/ 241 w 622"/>
                  <a:gd name="T61" fmla="*/ 351 h 716"/>
                  <a:gd name="T62" fmla="*/ 254 w 622"/>
                  <a:gd name="T63" fmla="*/ 348 h 716"/>
                  <a:gd name="T64" fmla="*/ 265 w 622"/>
                  <a:gd name="T65" fmla="*/ 345 h 716"/>
                  <a:gd name="T66" fmla="*/ 274 w 622"/>
                  <a:gd name="T67" fmla="*/ 342 h 716"/>
                  <a:gd name="T68" fmla="*/ 283 w 622"/>
                  <a:gd name="T69" fmla="*/ 339 h 716"/>
                  <a:gd name="T70" fmla="*/ 291 w 622"/>
                  <a:gd name="T71" fmla="*/ 335 h 716"/>
                  <a:gd name="T72" fmla="*/ 298 w 622"/>
                  <a:gd name="T73" fmla="*/ 331 h 716"/>
                  <a:gd name="T74" fmla="*/ 303 w 622"/>
                  <a:gd name="T75" fmla="*/ 327 h 716"/>
                  <a:gd name="T76" fmla="*/ 307 w 622"/>
                  <a:gd name="T77" fmla="*/ 323 h 716"/>
                  <a:gd name="T78" fmla="*/ 309 w 622"/>
                  <a:gd name="T79" fmla="*/ 318 h 716"/>
                  <a:gd name="T80" fmla="*/ 310 w 622"/>
                  <a:gd name="T81" fmla="*/ 314 h 716"/>
                  <a:gd name="T82" fmla="*/ 310 w 622"/>
                  <a:gd name="T83" fmla="*/ 45 h 716"/>
                  <a:gd name="T84" fmla="*/ 309 w 622"/>
                  <a:gd name="T85" fmla="*/ 40 h 716"/>
                  <a:gd name="T86" fmla="*/ 307 w 622"/>
                  <a:gd name="T87" fmla="*/ 36 h 716"/>
                  <a:gd name="T88" fmla="*/ 303 w 622"/>
                  <a:gd name="T89" fmla="*/ 32 h 716"/>
                  <a:gd name="T90" fmla="*/ 298 w 622"/>
                  <a:gd name="T91" fmla="*/ 28 h 716"/>
                  <a:gd name="T92" fmla="*/ 291 w 622"/>
                  <a:gd name="T93" fmla="*/ 23 h 716"/>
                  <a:gd name="T94" fmla="*/ 283 w 622"/>
                  <a:gd name="T95" fmla="*/ 20 h 716"/>
                  <a:gd name="T96" fmla="*/ 274 w 622"/>
                  <a:gd name="T97" fmla="*/ 17 h 716"/>
                  <a:gd name="T98" fmla="*/ 265 w 622"/>
                  <a:gd name="T99" fmla="*/ 14 h 716"/>
                  <a:gd name="T100" fmla="*/ 254 w 622"/>
                  <a:gd name="T101" fmla="*/ 11 h 716"/>
                  <a:gd name="T102" fmla="*/ 241 w 622"/>
                  <a:gd name="T103" fmla="*/ 8 h 716"/>
                  <a:gd name="T104" fmla="*/ 215 w 622"/>
                  <a:gd name="T105" fmla="*/ 4 h 716"/>
                  <a:gd name="T106" fmla="*/ 186 w 622"/>
                  <a:gd name="T107" fmla="*/ 1 h 716"/>
                  <a:gd name="T108" fmla="*/ 155 w 622"/>
                  <a:gd name="T109" fmla="*/ 0 h 71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6">
                    <a:moveTo>
                      <a:pt x="310" y="0"/>
                    </a:moveTo>
                    <a:lnTo>
                      <a:pt x="248" y="2"/>
                    </a:lnTo>
                    <a:lnTo>
                      <a:pt x="190" y="8"/>
                    </a:lnTo>
                    <a:lnTo>
                      <a:pt x="138" y="15"/>
                    </a:lnTo>
                    <a:lnTo>
                      <a:pt x="113" y="21"/>
                    </a:lnTo>
                    <a:lnTo>
                      <a:pt x="92" y="27"/>
                    </a:lnTo>
                    <a:lnTo>
                      <a:pt x="72" y="33"/>
                    </a:lnTo>
                    <a:lnTo>
                      <a:pt x="54" y="40"/>
                    </a:lnTo>
                    <a:lnTo>
                      <a:pt x="38" y="46"/>
                    </a:lnTo>
                    <a:lnTo>
                      <a:pt x="25" y="55"/>
                    </a:lnTo>
                    <a:lnTo>
                      <a:pt x="15" y="63"/>
                    </a:lnTo>
                    <a:lnTo>
                      <a:pt x="7" y="72"/>
                    </a:lnTo>
                    <a:lnTo>
                      <a:pt x="2" y="80"/>
                    </a:lnTo>
                    <a:lnTo>
                      <a:pt x="0" y="89"/>
                    </a:lnTo>
                    <a:lnTo>
                      <a:pt x="0" y="627"/>
                    </a:lnTo>
                    <a:lnTo>
                      <a:pt x="2" y="636"/>
                    </a:lnTo>
                    <a:lnTo>
                      <a:pt x="7" y="645"/>
                    </a:lnTo>
                    <a:lnTo>
                      <a:pt x="15" y="654"/>
                    </a:lnTo>
                    <a:lnTo>
                      <a:pt x="25" y="661"/>
                    </a:lnTo>
                    <a:lnTo>
                      <a:pt x="38" y="670"/>
                    </a:lnTo>
                    <a:lnTo>
                      <a:pt x="54" y="678"/>
                    </a:lnTo>
                    <a:lnTo>
                      <a:pt x="72" y="684"/>
                    </a:lnTo>
                    <a:lnTo>
                      <a:pt x="92" y="690"/>
                    </a:lnTo>
                    <a:lnTo>
                      <a:pt x="113" y="696"/>
                    </a:lnTo>
                    <a:lnTo>
                      <a:pt x="138" y="701"/>
                    </a:lnTo>
                    <a:lnTo>
                      <a:pt x="190" y="709"/>
                    </a:lnTo>
                    <a:lnTo>
                      <a:pt x="248" y="715"/>
                    </a:lnTo>
                    <a:lnTo>
                      <a:pt x="310" y="716"/>
                    </a:lnTo>
                    <a:lnTo>
                      <a:pt x="373" y="715"/>
                    </a:lnTo>
                    <a:lnTo>
                      <a:pt x="432" y="709"/>
                    </a:lnTo>
                    <a:lnTo>
                      <a:pt x="484" y="701"/>
                    </a:lnTo>
                    <a:lnTo>
                      <a:pt x="509" y="696"/>
                    </a:lnTo>
                    <a:lnTo>
                      <a:pt x="531" y="690"/>
                    </a:lnTo>
                    <a:lnTo>
                      <a:pt x="550" y="684"/>
                    </a:lnTo>
                    <a:lnTo>
                      <a:pt x="568" y="678"/>
                    </a:lnTo>
                    <a:lnTo>
                      <a:pt x="584" y="670"/>
                    </a:lnTo>
                    <a:lnTo>
                      <a:pt x="597" y="661"/>
                    </a:lnTo>
                    <a:lnTo>
                      <a:pt x="608" y="654"/>
                    </a:lnTo>
                    <a:lnTo>
                      <a:pt x="615" y="645"/>
                    </a:lnTo>
                    <a:lnTo>
                      <a:pt x="620" y="636"/>
                    </a:lnTo>
                    <a:lnTo>
                      <a:pt x="622" y="627"/>
                    </a:lnTo>
                    <a:lnTo>
                      <a:pt x="622" y="89"/>
                    </a:lnTo>
                    <a:lnTo>
                      <a:pt x="620" y="80"/>
                    </a:lnTo>
                    <a:lnTo>
                      <a:pt x="615" y="72"/>
                    </a:lnTo>
                    <a:lnTo>
                      <a:pt x="608" y="63"/>
                    </a:lnTo>
                    <a:lnTo>
                      <a:pt x="597" y="55"/>
                    </a:lnTo>
                    <a:lnTo>
                      <a:pt x="584" y="46"/>
                    </a:lnTo>
                    <a:lnTo>
                      <a:pt x="568" y="40"/>
                    </a:lnTo>
                    <a:lnTo>
                      <a:pt x="550" y="33"/>
                    </a:lnTo>
                    <a:lnTo>
                      <a:pt x="531" y="27"/>
                    </a:lnTo>
                    <a:lnTo>
                      <a:pt x="509" y="21"/>
                    </a:lnTo>
                    <a:lnTo>
                      <a:pt x="484" y="15"/>
                    </a:lnTo>
                    <a:lnTo>
                      <a:pt x="432" y="8"/>
                    </a:lnTo>
                    <a:lnTo>
                      <a:pt x="373" y="2"/>
                    </a:lnTo>
                    <a:lnTo>
                      <a:pt x="310" y="0"/>
                    </a:lnTo>
                    <a:close/>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sp>
            <p:nvSpPr>
              <p:cNvPr id="132" name="Freeform 165"/>
              <p:cNvSpPr>
                <a:spLocks/>
              </p:cNvSpPr>
              <p:nvPr/>
            </p:nvSpPr>
            <p:spPr bwMode="auto">
              <a:xfrm>
                <a:off x="919" y="2903"/>
                <a:ext cx="310" cy="45"/>
              </a:xfrm>
              <a:custGeom>
                <a:avLst/>
                <a:gdLst>
                  <a:gd name="T0" fmla="*/ 0 w 622"/>
                  <a:gd name="T1" fmla="*/ 0 h 91"/>
                  <a:gd name="T2" fmla="*/ 1 w 622"/>
                  <a:gd name="T3" fmla="*/ 4 h 91"/>
                  <a:gd name="T4" fmla="*/ 3 w 622"/>
                  <a:gd name="T5" fmla="*/ 9 h 91"/>
                  <a:gd name="T6" fmla="*/ 7 w 622"/>
                  <a:gd name="T7" fmla="*/ 13 h 91"/>
                  <a:gd name="T8" fmla="*/ 12 w 622"/>
                  <a:gd name="T9" fmla="*/ 18 h 91"/>
                  <a:gd name="T10" fmla="*/ 19 w 622"/>
                  <a:gd name="T11" fmla="*/ 21 h 91"/>
                  <a:gd name="T12" fmla="*/ 27 w 622"/>
                  <a:gd name="T13" fmla="*/ 25 h 91"/>
                  <a:gd name="T14" fmla="*/ 36 w 622"/>
                  <a:gd name="T15" fmla="*/ 29 h 91"/>
                  <a:gd name="T16" fmla="*/ 46 w 622"/>
                  <a:gd name="T17" fmla="*/ 32 h 91"/>
                  <a:gd name="T18" fmla="*/ 56 w 622"/>
                  <a:gd name="T19" fmla="*/ 35 h 91"/>
                  <a:gd name="T20" fmla="*/ 69 w 622"/>
                  <a:gd name="T21" fmla="*/ 38 h 91"/>
                  <a:gd name="T22" fmla="*/ 95 w 622"/>
                  <a:gd name="T23" fmla="*/ 41 h 91"/>
                  <a:gd name="T24" fmla="*/ 124 w 622"/>
                  <a:gd name="T25" fmla="*/ 44 h 91"/>
                  <a:gd name="T26" fmla="*/ 155 w 622"/>
                  <a:gd name="T27" fmla="*/ 45 h 91"/>
                  <a:gd name="T28" fmla="*/ 186 w 622"/>
                  <a:gd name="T29" fmla="*/ 44 h 91"/>
                  <a:gd name="T30" fmla="*/ 215 w 622"/>
                  <a:gd name="T31" fmla="*/ 41 h 91"/>
                  <a:gd name="T32" fmla="*/ 241 w 622"/>
                  <a:gd name="T33" fmla="*/ 38 h 91"/>
                  <a:gd name="T34" fmla="*/ 254 w 622"/>
                  <a:gd name="T35" fmla="*/ 35 h 91"/>
                  <a:gd name="T36" fmla="*/ 265 w 622"/>
                  <a:gd name="T37" fmla="*/ 32 h 91"/>
                  <a:gd name="T38" fmla="*/ 274 w 622"/>
                  <a:gd name="T39" fmla="*/ 29 h 91"/>
                  <a:gd name="T40" fmla="*/ 283 w 622"/>
                  <a:gd name="T41" fmla="*/ 25 h 91"/>
                  <a:gd name="T42" fmla="*/ 291 w 622"/>
                  <a:gd name="T43" fmla="*/ 21 h 91"/>
                  <a:gd name="T44" fmla="*/ 298 w 622"/>
                  <a:gd name="T45" fmla="*/ 18 h 91"/>
                  <a:gd name="T46" fmla="*/ 303 w 622"/>
                  <a:gd name="T47" fmla="*/ 13 h 91"/>
                  <a:gd name="T48" fmla="*/ 307 w 622"/>
                  <a:gd name="T49" fmla="*/ 9 h 91"/>
                  <a:gd name="T50" fmla="*/ 309 w 622"/>
                  <a:gd name="T51" fmla="*/ 4 h 91"/>
                  <a:gd name="T52" fmla="*/ 310 w 622"/>
                  <a:gd name="T53" fmla="*/ 0 h 9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22" h="91">
                    <a:moveTo>
                      <a:pt x="0" y="0"/>
                    </a:moveTo>
                    <a:lnTo>
                      <a:pt x="2" y="9"/>
                    </a:lnTo>
                    <a:lnTo>
                      <a:pt x="7" y="18"/>
                    </a:lnTo>
                    <a:lnTo>
                      <a:pt x="15" y="27"/>
                    </a:lnTo>
                    <a:lnTo>
                      <a:pt x="25" y="36"/>
                    </a:lnTo>
                    <a:lnTo>
                      <a:pt x="38" y="43"/>
                    </a:lnTo>
                    <a:lnTo>
                      <a:pt x="54" y="51"/>
                    </a:lnTo>
                    <a:lnTo>
                      <a:pt x="72" y="58"/>
                    </a:lnTo>
                    <a:lnTo>
                      <a:pt x="92" y="64"/>
                    </a:lnTo>
                    <a:lnTo>
                      <a:pt x="113" y="70"/>
                    </a:lnTo>
                    <a:lnTo>
                      <a:pt x="138" y="76"/>
                    </a:lnTo>
                    <a:lnTo>
                      <a:pt x="190" y="83"/>
                    </a:lnTo>
                    <a:lnTo>
                      <a:pt x="248" y="89"/>
                    </a:lnTo>
                    <a:lnTo>
                      <a:pt x="310" y="91"/>
                    </a:lnTo>
                    <a:lnTo>
                      <a:pt x="373" y="89"/>
                    </a:lnTo>
                    <a:lnTo>
                      <a:pt x="432" y="83"/>
                    </a:lnTo>
                    <a:lnTo>
                      <a:pt x="484" y="76"/>
                    </a:lnTo>
                    <a:lnTo>
                      <a:pt x="509" y="70"/>
                    </a:lnTo>
                    <a:lnTo>
                      <a:pt x="531" y="64"/>
                    </a:lnTo>
                    <a:lnTo>
                      <a:pt x="550" y="58"/>
                    </a:lnTo>
                    <a:lnTo>
                      <a:pt x="568" y="51"/>
                    </a:lnTo>
                    <a:lnTo>
                      <a:pt x="584" y="43"/>
                    </a:lnTo>
                    <a:lnTo>
                      <a:pt x="597" y="36"/>
                    </a:lnTo>
                    <a:lnTo>
                      <a:pt x="608" y="27"/>
                    </a:lnTo>
                    <a:lnTo>
                      <a:pt x="615" y="18"/>
                    </a:lnTo>
                    <a:lnTo>
                      <a:pt x="620" y="9"/>
                    </a:lnTo>
                    <a:lnTo>
                      <a:pt x="622"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grpSp>
        <p:grpSp>
          <p:nvGrpSpPr>
            <p:cNvPr id="118" name="Group 166"/>
            <p:cNvGrpSpPr>
              <a:grpSpLocks/>
            </p:cNvGrpSpPr>
            <p:nvPr/>
          </p:nvGrpSpPr>
          <p:grpSpPr bwMode="auto">
            <a:xfrm>
              <a:off x="971" y="2903"/>
              <a:ext cx="310" cy="358"/>
              <a:chOff x="971" y="2903"/>
              <a:chExt cx="310" cy="358"/>
            </a:xfrm>
          </p:grpSpPr>
          <p:sp>
            <p:nvSpPr>
              <p:cNvPr id="125" name="Freeform 167"/>
              <p:cNvSpPr>
                <a:spLocks/>
              </p:cNvSpPr>
              <p:nvPr/>
            </p:nvSpPr>
            <p:spPr bwMode="auto">
              <a:xfrm>
                <a:off x="971" y="2903"/>
                <a:ext cx="310" cy="358"/>
              </a:xfrm>
              <a:custGeom>
                <a:avLst/>
                <a:gdLst>
                  <a:gd name="T0" fmla="*/ 155 w 622"/>
                  <a:gd name="T1" fmla="*/ 0 h 716"/>
                  <a:gd name="T2" fmla="*/ 123 w 622"/>
                  <a:gd name="T3" fmla="*/ 1 h 716"/>
                  <a:gd name="T4" fmla="*/ 95 w 622"/>
                  <a:gd name="T5" fmla="*/ 4 h 716"/>
                  <a:gd name="T6" fmla="*/ 69 w 622"/>
                  <a:gd name="T7" fmla="*/ 8 h 716"/>
                  <a:gd name="T8" fmla="*/ 56 w 622"/>
                  <a:gd name="T9" fmla="*/ 11 h 716"/>
                  <a:gd name="T10" fmla="*/ 46 w 622"/>
                  <a:gd name="T11" fmla="*/ 14 h 716"/>
                  <a:gd name="T12" fmla="*/ 36 w 622"/>
                  <a:gd name="T13" fmla="*/ 16 h 716"/>
                  <a:gd name="T14" fmla="*/ 27 w 622"/>
                  <a:gd name="T15" fmla="*/ 20 h 716"/>
                  <a:gd name="T16" fmla="*/ 19 w 622"/>
                  <a:gd name="T17" fmla="*/ 23 h 716"/>
                  <a:gd name="T18" fmla="*/ 12 w 622"/>
                  <a:gd name="T19" fmla="*/ 28 h 716"/>
                  <a:gd name="T20" fmla="*/ 7 w 622"/>
                  <a:gd name="T21" fmla="*/ 31 h 716"/>
                  <a:gd name="T22" fmla="*/ 3 w 622"/>
                  <a:gd name="T23" fmla="*/ 36 h 716"/>
                  <a:gd name="T24" fmla="*/ 1 w 622"/>
                  <a:gd name="T25" fmla="*/ 40 h 716"/>
                  <a:gd name="T26" fmla="*/ 0 w 622"/>
                  <a:gd name="T27" fmla="*/ 45 h 716"/>
                  <a:gd name="T28" fmla="*/ 0 w 622"/>
                  <a:gd name="T29" fmla="*/ 314 h 716"/>
                  <a:gd name="T30" fmla="*/ 1 w 622"/>
                  <a:gd name="T31" fmla="*/ 318 h 716"/>
                  <a:gd name="T32" fmla="*/ 3 w 622"/>
                  <a:gd name="T33" fmla="*/ 323 h 716"/>
                  <a:gd name="T34" fmla="*/ 7 w 622"/>
                  <a:gd name="T35" fmla="*/ 327 h 716"/>
                  <a:gd name="T36" fmla="*/ 12 w 622"/>
                  <a:gd name="T37" fmla="*/ 331 h 716"/>
                  <a:gd name="T38" fmla="*/ 19 w 622"/>
                  <a:gd name="T39" fmla="*/ 335 h 716"/>
                  <a:gd name="T40" fmla="*/ 27 w 622"/>
                  <a:gd name="T41" fmla="*/ 339 h 716"/>
                  <a:gd name="T42" fmla="*/ 36 w 622"/>
                  <a:gd name="T43" fmla="*/ 342 h 716"/>
                  <a:gd name="T44" fmla="*/ 46 w 622"/>
                  <a:gd name="T45" fmla="*/ 345 h 716"/>
                  <a:gd name="T46" fmla="*/ 56 w 622"/>
                  <a:gd name="T47" fmla="*/ 348 h 716"/>
                  <a:gd name="T48" fmla="*/ 69 w 622"/>
                  <a:gd name="T49" fmla="*/ 351 h 716"/>
                  <a:gd name="T50" fmla="*/ 95 w 622"/>
                  <a:gd name="T51" fmla="*/ 354 h 716"/>
                  <a:gd name="T52" fmla="*/ 123 w 622"/>
                  <a:gd name="T53" fmla="*/ 357 h 716"/>
                  <a:gd name="T54" fmla="*/ 155 w 622"/>
                  <a:gd name="T55" fmla="*/ 358 h 716"/>
                  <a:gd name="T56" fmla="*/ 186 w 622"/>
                  <a:gd name="T57" fmla="*/ 357 h 716"/>
                  <a:gd name="T58" fmla="*/ 215 w 622"/>
                  <a:gd name="T59" fmla="*/ 354 h 716"/>
                  <a:gd name="T60" fmla="*/ 241 w 622"/>
                  <a:gd name="T61" fmla="*/ 351 h 716"/>
                  <a:gd name="T62" fmla="*/ 254 w 622"/>
                  <a:gd name="T63" fmla="*/ 348 h 716"/>
                  <a:gd name="T64" fmla="*/ 264 w 622"/>
                  <a:gd name="T65" fmla="*/ 345 h 716"/>
                  <a:gd name="T66" fmla="*/ 274 w 622"/>
                  <a:gd name="T67" fmla="*/ 342 h 716"/>
                  <a:gd name="T68" fmla="*/ 283 w 622"/>
                  <a:gd name="T69" fmla="*/ 339 h 716"/>
                  <a:gd name="T70" fmla="*/ 291 w 622"/>
                  <a:gd name="T71" fmla="*/ 335 h 716"/>
                  <a:gd name="T72" fmla="*/ 298 w 622"/>
                  <a:gd name="T73" fmla="*/ 331 h 716"/>
                  <a:gd name="T74" fmla="*/ 303 w 622"/>
                  <a:gd name="T75" fmla="*/ 327 h 716"/>
                  <a:gd name="T76" fmla="*/ 307 w 622"/>
                  <a:gd name="T77" fmla="*/ 323 h 716"/>
                  <a:gd name="T78" fmla="*/ 309 w 622"/>
                  <a:gd name="T79" fmla="*/ 318 h 716"/>
                  <a:gd name="T80" fmla="*/ 310 w 622"/>
                  <a:gd name="T81" fmla="*/ 314 h 716"/>
                  <a:gd name="T82" fmla="*/ 310 w 622"/>
                  <a:gd name="T83" fmla="*/ 45 h 716"/>
                  <a:gd name="T84" fmla="*/ 309 w 622"/>
                  <a:gd name="T85" fmla="*/ 40 h 716"/>
                  <a:gd name="T86" fmla="*/ 307 w 622"/>
                  <a:gd name="T87" fmla="*/ 36 h 716"/>
                  <a:gd name="T88" fmla="*/ 303 w 622"/>
                  <a:gd name="T89" fmla="*/ 31 h 716"/>
                  <a:gd name="T90" fmla="*/ 298 w 622"/>
                  <a:gd name="T91" fmla="*/ 28 h 716"/>
                  <a:gd name="T92" fmla="*/ 291 w 622"/>
                  <a:gd name="T93" fmla="*/ 23 h 716"/>
                  <a:gd name="T94" fmla="*/ 283 w 622"/>
                  <a:gd name="T95" fmla="*/ 20 h 716"/>
                  <a:gd name="T96" fmla="*/ 274 w 622"/>
                  <a:gd name="T97" fmla="*/ 16 h 716"/>
                  <a:gd name="T98" fmla="*/ 264 w 622"/>
                  <a:gd name="T99" fmla="*/ 14 h 716"/>
                  <a:gd name="T100" fmla="*/ 254 w 622"/>
                  <a:gd name="T101" fmla="*/ 11 h 716"/>
                  <a:gd name="T102" fmla="*/ 241 w 622"/>
                  <a:gd name="T103" fmla="*/ 8 h 716"/>
                  <a:gd name="T104" fmla="*/ 215 w 622"/>
                  <a:gd name="T105" fmla="*/ 4 h 716"/>
                  <a:gd name="T106" fmla="*/ 186 w 622"/>
                  <a:gd name="T107" fmla="*/ 1 h 716"/>
                  <a:gd name="T108" fmla="*/ 155 w 622"/>
                  <a:gd name="T109" fmla="*/ 0 h 71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6">
                    <a:moveTo>
                      <a:pt x="310" y="0"/>
                    </a:moveTo>
                    <a:lnTo>
                      <a:pt x="247" y="1"/>
                    </a:lnTo>
                    <a:lnTo>
                      <a:pt x="190" y="7"/>
                    </a:lnTo>
                    <a:lnTo>
                      <a:pt x="138" y="15"/>
                    </a:lnTo>
                    <a:lnTo>
                      <a:pt x="113" y="21"/>
                    </a:lnTo>
                    <a:lnTo>
                      <a:pt x="92" y="27"/>
                    </a:lnTo>
                    <a:lnTo>
                      <a:pt x="72" y="32"/>
                    </a:lnTo>
                    <a:lnTo>
                      <a:pt x="54" y="40"/>
                    </a:lnTo>
                    <a:lnTo>
                      <a:pt x="38" y="46"/>
                    </a:lnTo>
                    <a:lnTo>
                      <a:pt x="25" y="55"/>
                    </a:lnTo>
                    <a:lnTo>
                      <a:pt x="15" y="62"/>
                    </a:lnTo>
                    <a:lnTo>
                      <a:pt x="7" y="71"/>
                    </a:lnTo>
                    <a:lnTo>
                      <a:pt x="2" y="80"/>
                    </a:lnTo>
                    <a:lnTo>
                      <a:pt x="0" y="89"/>
                    </a:lnTo>
                    <a:lnTo>
                      <a:pt x="0" y="627"/>
                    </a:lnTo>
                    <a:lnTo>
                      <a:pt x="2" y="636"/>
                    </a:lnTo>
                    <a:lnTo>
                      <a:pt x="7" y="645"/>
                    </a:lnTo>
                    <a:lnTo>
                      <a:pt x="15" y="653"/>
                    </a:lnTo>
                    <a:lnTo>
                      <a:pt x="25" y="661"/>
                    </a:lnTo>
                    <a:lnTo>
                      <a:pt x="38" y="670"/>
                    </a:lnTo>
                    <a:lnTo>
                      <a:pt x="54" y="677"/>
                    </a:lnTo>
                    <a:lnTo>
                      <a:pt x="72" y="683"/>
                    </a:lnTo>
                    <a:lnTo>
                      <a:pt x="92" y="689"/>
                    </a:lnTo>
                    <a:lnTo>
                      <a:pt x="113" y="695"/>
                    </a:lnTo>
                    <a:lnTo>
                      <a:pt x="138" y="701"/>
                    </a:lnTo>
                    <a:lnTo>
                      <a:pt x="190" y="708"/>
                    </a:lnTo>
                    <a:lnTo>
                      <a:pt x="247" y="714"/>
                    </a:lnTo>
                    <a:lnTo>
                      <a:pt x="310" y="716"/>
                    </a:lnTo>
                    <a:lnTo>
                      <a:pt x="373" y="714"/>
                    </a:lnTo>
                    <a:lnTo>
                      <a:pt x="432" y="708"/>
                    </a:lnTo>
                    <a:lnTo>
                      <a:pt x="484" y="701"/>
                    </a:lnTo>
                    <a:lnTo>
                      <a:pt x="509" y="695"/>
                    </a:lnTo>
                    <a:lnTo>
                      <a:pt x="530" y="689"/>
                    </a:lnTo>
                    <a:lnTo>
                      <a:pt x="550" y="683"/>
                    </a:lnTo>
                    <a:lnTo>
                      <a:pt x="568" y="677"/>
                    </a:lnTo>
                    <a:lnTo>
                      <a:pt x="584" y="670"/>
                    </a:lnTo>
                    <a:lnTo>
                      <a:pt x="597" y="661"/>
                    </a:lnTo>
                    <a:lnTo>
                      <a:pt x="607" y="653"/>
                    </a:lnTo>
                    <a:lnTo>
                      <a:pt x="615" y="645"/>
                    </a:lnTo>
                    <a:lnTo>
                      <a:pt x="620" y="636"/>
                    </a:lnTo>
                    <a:lnTo>
                      <a:pt x="622" y="627"/>
                    </a:lnTo>
                    <a:lnTo>
                      <a:pt x="622" y="89"/>
                    </a:lnTo>
                    <a:lnTo>
                      <a:pt x="620" y="80"/>
                    </a:lnTo>
                    <a:lnTo>
                      <a:pt x="615" y="71"/>
                    </a:lnTo>
                    <a:lnTo>
                      <a:pt x="607" y="62"/>
                    </a:lnTo>
                    <a:lnTo>
                      <a:pt x="597" y="55"/>
                    </a:lnTo>
                    <a:lnTo>
                      <a:pt x="584" y="46"/>
                    </a:lnTo>
                    <a:lnTo>
                      <a:pt x="568" y="40"/>
                    </a:lnTo>
                    <a:lnTo>
                      <a:pt x="550" y="32"/>
                    </a:lnTo>
                    <a:lnTo>
                      <a:pt x="530" y="27"/>
                    </a:lnTo>
                    <a:lnTo>
                      <a:pt x="509" y="21"/>
                    </a:lnTo>
                    <a:lnTo>
                      <a:pt x="484" y="15"/>
                    </a:lnTo>
                    <a:lnTo>
                      <a:pt x="432" y="7"/>
                    </a:lnTo>
                    <a:lnTo>
                      <a:pt x="373" y="1"/>
                    </a:lnTo>
                    <a:lnTo>
                      <a:pt x="310" y="0"/>
                    </a:lnTo>
                    <a:close/>
                  </a:path>
                </a:pathLst>
              </a:custGeom>
              <a:solidFill>
                <a:srgbClr val="00A0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26" name="Freeform 168"/>
              <p:cNvSpPr>
                <a:spLocks/>
              </p:cNvSpPr>
              <p:nvPr/>
            </p:nvSpPr>
            <p:spPr bwMode="auto">
              <a:xfrm>
                <a:off x="971" y="2903"/>
                <a:ext cx="310" cy="90"/>
              </a:xfrm>
              <a:custGeom>
                <a:avLst/>
                <a:gdLst>
                  <a:gd name="T0" fmla="*/ 0 w 622"/>
                  <a:gd name="T1" fmla="*/ 45 h 179"/>
                  <a:gd name="T2" fmla="*/ 1 w 622"/>
                  <a:gd name="T3" fmla="*/ 49 h 179"/>
                  <a:gd name="T4" fmla="*/ 3 w 622"/>
                  <a:gd name="T5" fmla="*/ 54 h 179"/>
                  <a:gd name="T6" fmla="*/ 7 w 622"/>
                  <a:gd name="T7" fmla="*/ 58 h 179"/>
                  <a:gd name="T8" fmla="*/ 12 w 622"/>
                  <a:gd name="T9" fmla="*/ 62 h 179"/>
                  <a:gd name="T10" fmla="*/ 19 w 622"/>
                  <a:gd name="T11" fmla="*/ 66 h 179"/>
                  <a:gd name="T12" fmla="*/ 27 w 622"/>
                  <a:gd name="T13" fmla="*/ 70 h 179"/>
                  <a:gd name="T14" fmla="*/ 36 w 622"/>
                  <a:gd name="T15" fmla="*/ 74 h 179"/>
                  <a:gd name="T16" fmla="*/ 46 w 622"/>
                  <a:gd name="T17" fmla="*/ 77 h 179"/>
                  <a:gd name="T18" fmla="*/ 56 w 622"/>
                  <a:gd name="T19" fmla="*/ 79 h 179"/>
                  <a:gd name="T20" fmla="*/ 69 w 622"/>
                  <a:gd name="T21" fmla="*/ 82 h 179"/>
                  <a:gd name="T22" fmla="*/ 95 w 622"/>
                  <a:gd name="T23" fmla="*/ 86 h 179"/>
                  <a:gd name="T24" fmla="*/ 123 w 622"/>
                  <a:gd name="T25" fmla="*/ 89 h 179"/>
                  <a:gd name="T26" fmla="*/ 155 w 622"/>
                  <a:gd name="T27" fmla="*/ 90 h 179"/>
                  <a:gd name="T28" fmla="*/ 186 w 622"/>
                  <a:gd name="T29" fmla="*/ 89 h 179"/>
                  <a:gd name="T30" fmla="*/ 215 w 622"/>
                  <a:gd name="T31" fmla="*/ 86 h 179"/>
                  <a:gd name="T32" fmla="*/ 241 w 622"/>
                  <a:gd name="T33" fmla="*/ 82 h 179"/>
                  <a:gd name="T34" fmla="*/ 254 w 622"/>
                  <a:gd name="T35" fmla="*/ 79 h 179"/>
                  <a:gd name="T36" fmla="*/ 264 w 622"/>
                  <a:gd name="T37" fmla="*/ 77 h 179"/>
                  <a:gd name="T38" fmla="*/ 274 w 622"/>
                  <a:gd name="T39" fmla="*/ 74 h 179"/>
                  <a:gd name="T40" fmla="*/ 283 w 622"/>
                  <a:gd name="T41" fmla="*/ 70 h 179"/>
                  <a:gd name="T42" fmla="*/ 291 w 622"/>
                  <a:gd name="T43" fmla="*/ 66 h 179"/>
                  <a:gd name="T44" fmla="*/ 298 w 622"/>
                  <a:gd name="T45" fmla="*/ 62 h 179"/>
                  <a:gd name="T46" fmla="*/ 303 w 622"/>
                  <a:gd name="T47" fmla="*/ 58 h 179"/>
                  <a:gd name="T48" fmla="*/ 307 w 622"/>
                  <a:gd name="T49" fmla="*/ 54 h 179"/>
                  <a:gd name="T50" fmla="*/ 309 w 622"/>
                  <a:gd name="T51" fmla="*/ 49 h 179"/>
                  <a:gd name="T52" fmla="*/ 310 w 622"/>
                  <a:gd name="T53" fmla="*/ 45 h 179"/>
                  <a:gd name="T54" fmla="*/ 309 w 622"/>
                  <a:gd name="T55" fmla="*/ 40 h 179"/>
                  <a:gd name="T56" fmla="*/ 307 w 622"/>
                  <a:gd name="T57" fmla="*/ 36 h 179"/>
                  <a:gd name="T58" fmla="*/ 303 w 622"/>
                  <a:gd name="T59" fmla="*/ 31 h 179"/>
                  <a:gd name="T60" fmla="*/ 298 w 622"/>
                  <a:gd name="T61" fmla="*/ 28 h 179"/>
                  <a:gd name="T62" fmla="*/ 291 w 622"/>
                  <a:gd name="T63" fmla="*/ 23 h 179"/>
                  <a:gd name="T64" fmla="*/ 283 w 622"/>
                  <a:gd name="T65" fmla="*/ 20 h 179"/>
                  <a:gd name="T66" fmla="*/ 274 w 622"/>
                  <a:gd name="T67" fmla="*/ 16 h 179"/>
                  <a:gd name="T68" fmla="*/ 264 w 622"/>
                  <a:gd name="T69" fmla="*/ 14 h 179"/>
                  <a:gd name="T70" fmla="*/ 254 w 622"/>
                  <a:gd name="T71" fmla="*/ 11 h 179"/>
                  <a:gd name="T72" fmla="*/ 241 w 622"/>
                  <a:gd name="T73" fmla="*/ 8 h 179"/>
                  <a:gd name="T74" fmla="*/ 215 w 622"/>
                  <a:gd name="T75" fmla="*/ 4 h 179"/>
                  <a:gd name="T76" fmla="*/ 186 w 622"/>
                  <a:gd name="T77" fmla="*/ 1 h 179"/>
                  <a:gd name="T78" fmla="*/ 155 w 622"/>
                  <a:gd name="T79" fmla="*/ 0 h 179"/>
                  <a:gd name="T80" fmla="*/ 123 w 622"/>
                  <a:gd name="T81" fmla="*/ 1 h 179"/>
                  <a:gd name="T82" fmla="*/ 95 w 622"/>
                  <a:gd name="T83" fmla="*/ 4 h 179"/>
                  <a:gd name="T84" fmla="*/ 69 w 622"/>
                  <a:gd name="T85" fmla="*/ 8 h 179"/>
                  <a:gd name="T86" fmla="*/ 56 w 622"/>
                  <a:gd name="T87" fmla="*/ 11 h 179"/>
                  <a:gd name="T88" fmla="*/ 46 w 622"/>
                  <a:gd name="T89" fmla="*/ 14 h 179"/>
                  <a:gd name="T90" fmla="*/ 36 w 622"/>
                  <a:gd name="T91" fmla="*/ 16 h 179"/>
                  <a:gd name="T92" fmla="*/ 27 w 622"/>
                  <a:gd name="T93" fmla="*/ 20 h 179"/>
                  <a:gd name="T94" fmla="*/ 19 w 622"/>
                  <a:gd name="T95" fmla="*/ 23 h 179"/>
                  <a:gd name="T96" fmla="*/ 12 w 622"/>
                  <a:gd name="T97" fmla="*/ 28 h 179"/>
                  <a:gd name="T98" fmla="*/ 7 w 622"/>
                  <a:gd name="T99" fmla="*/ 31 h 179"/>
                  <a:gd name="T100" fmla="*/ 3 w 622"/>
                  <a:gd name="T101" fmla="*/ 36 h 179"/>
                  <a:gd name="T102" fmla="*/ 1 w 622"/>
                  <a:gd name="T103" fmla="*/ 40 h 179"/>
                  <a:gd name="T104" fmla="*/ 0 w 622"/>
                  <a:gd name="T105" fmla="*/ 45 h 17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22" h="179">
                    <a:moveTo>
                      <a:pt x="0" y="89"/>
                    </a:moveTo>
                    <a:lnTo>
                      <a:pt x="2" y="98"/>
                    </a:lnTo>
                    <a:lnTo>
                      <a:pt x="7" y="107"/>
                    </a:lnTo>
                    <a:lnTo>
                      <a:pt x="15" y="115"/>
                    </a:lnTo>
                    <a:lnTo>
                      <a:pt x="25" y="124"/>
                    </a:lnTo>
                    <a:lnTo>
                      <a:pt x="38" y="132"/>
                    </a:lnTo>
                    <a:lnTo>
                      <a:pt x="54" y="139"/>
                    </a:lnTo>
                    <a:lnTo>
                      <a:pt x="72" y="147"/>
                    </a:lnTo>
                    <a:lnTo>
                      <a:pt x="92" y="153"/>
                    </a:lnTo>
                    <a:lnTo>
                      <a:pt x="113" y="158"/>
                    </a:lnTo>
                    <a:lnTo>
                      <a:pt x="138" y="164"/>
                    </a:lnTo>
                    <a:lnTo>
                      <a:pt x="190" y="172"/>
                    </a:lnTo>
                    <a:lnTo>
                      <a:pt x="247" y="178"/>
                    </a:lnTo>
                    <a:lnTo>
                      <a:pt x="310" y="179"/>
                    </a:lnTo>
                    <a:lnTo>
                      <a:pt x="373" y="178"/>
                    </a:lnTo>
                    <a:lnTo>
                      <a:pt x="432" y="172"/>
                    </a:lnTo>
                    <a:lnTo>
                      <a:pt x="484" y="164"/>
                    </a:lnTo>
                    <a:lnTo>
                      <a:pt x="509" y="158"/>
                    </a:lnTo>
                    <a:lnTo>
                      <a:pt x="530" y="153"/>
                    </a:lnTo>
                    <a:lnTo>
                      <a:pt x="550" y="147"/>
                    </a:lnTo>
                    <a:lnTo>
                      <a:pt x="568" y="139"/>
                    </a:lnTo>
                    <a:lnTo>
                      <a:pt x="584" y="132"/>
                    </a:lnTo>
                    <a:lnTo>
                      <a:pt x="597" y="124"/>
                    </a:lnTo>
                    <a:lnTo>
                      <a:pt x="607" y="115"/>
                    </a:lnTo>
                    <a:lnTo>
                      <a:pt x="615" y="107"/>
                    </a:lnTo>
                    <a:lnTo>
                      <a:pt x="620" y="98"/>
                    </a:lnTo>
                    <a:lnTo>
                      <a:pt x="622" y="89"/>
                    </a:lnTo>
                    <a:lnTo>
                      <a:pt x="620" y="80"/>
                    </a:lnTo>
                    <a:lnTo>
                      <a:pt x="615" y="71"/>
                    </a:lnTo>
                    <a:lnTo>
                      <a:pt x="607" y="62"/>
                    </a:lnTo>
                    <a:lnTo>
                      <a:pt x="597" y="55"/>
                    </a:lnTo>
                    <a:lnTo>
                      <a:pt x="584" y="46"/>
                    </a:lnTo>
                    <a:lnTo>
                      <a:pt x="568" y="40"/>
                    </a:lnTo>
                    <a:lnTo>
                      <a:pt x="550" y="32"/>
                    </a:lnTo>
                    <a:lnTo>
                      <a:pt x="530" y="27"/>
                    </a:lnTo>
                    <a:lnTo>
                      <a:pt x="509" y="21"/>
                    </a:lnTo>
                    <a:lnTo>
                      <a:pt x="484" y="15"/>
                    </a:lnTo>
                    <a:lnTo>
                      <a:pt x="432" y="7"/>
                    </a:lnTo>
                    <a:lnTo>
                      <a:pt x="373" y="1"/>
                    </a:lnTo>
                    <a:lnTo>
                      <a:pt x="310" y="0"/>
                    </a:lnTo>
                    <a:lnTo>
                      <a:pt x="247" y="1"/>
                    </a:lnTo>
                    <a:lnTo>
                      <a:pt x="190" y="7"/>
                    </a:lnTo>
                    <a:lnTo>
                      <a:pt x="138" y="15"/>
                    </a:lnTo>
                    <a:lnTo>
                      <a:pt x="113" y="21"/>
                    </a:lnTo>
                    <a:lnTo>
                      <a:pt x="92" y="27"/>
                    </a:lnTo>
                    <a:lnTo>
                      <a:pt x="72" y="32"/>
                    </a:lnTo>
                    <a:lnTo>
                      <a:pt x="54" y="40"/>
                    </a:lnTo>
                    <a:lnTo>
                      <a:pt x="38" y="46"/>
                    </a:lnTo>
                    <a:lnTo>
                      <a:pt x="25" y="55"/>
                    </a:lnTo>
                    <a:lnTo>
                      <a:pt x="15" y="62"/>
                    </a:lnTo>
                    <a:lnTo>
                      <a:pt x="7" y="71"/>
                    </a:lnTo>
                    <a:lnTo>
                      <a:pt x="2" y="80"/>
                    </a:lnTo>
                    <a:lnTo>
                      <a:pt x="0" y="89"/>
                    </a:lnTo>
                    <a:close/>
                  </a:path>
                </a:pathLst>
              </a:custGeom>
              <a:solidFill>
                <a:srgbClr val="32B3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27" name="Freeform 169"/>
              <p:cNvSpPr>
                <a:spLocks/>
              </p:cNvSpPr>
              <p:nvPr/>
            </p:nvSpPr>
            <p:spPr bwMode="auto">
              <a:xfrm>
                <a:off x="971" y="2903"/>
                <a:ext cx="310" cy="358"/>
              </a:xfrm>
              <a:custGeom>
                <a:avLst/>
                <a:gdLst>
                  <a:gd name="T0" fmla="*/ 155 w 622"/>
                  <a:gd name="T1" fmla="*/ 0 h 716"/>
                  <a:gd name="T2" fmla="*/ 123 w 622"/>
                  <a:gd name="T3" fmla="*/ 1 h 716"/>
                  <a:gd name="T4" fmla="*/ 95 w 622"/>
                  <a:gd name="T5" fmla="*/ 4 h 716"/>
                  <a:gd name="T6" fmla="*/ 69 w 622"/>
                  <a:gd name="T7" fmla="*/ 8 h 716"/>
                  <a:gd name="T8" fmla="*/ 56 w 622"/>
                  <a:gd name="T9" fmla="*/ 11 h 716"/>
                  <a:gd name="T10" fmla="*/ 46 w 622"/>
                  <a:gd name="T11" fmla="*/ 14 h 716"/>
                  <a:gd name="T12" fmla="*/ 36 w 622"/>
                  <a:gd name="T13" fmla="*/ 16 h 716"/>
                  <a:gd name="T14" fmla="*/ 27 w 622"/>
                  <a:gd name="T15" fmla="*/ 20 h 716"/>
                  <a:gd name="T16" fmla="*/ 19 w 622"/>
                  <a:gd name="T17" fmla="*/ 23 h 716"/>
                  <a:gd name="T18" fmla="*/ 12 w 622"/>
                  <a:gd name="T19" fmla="*/ 28 h 716"/>
                  <a:gd name="T20" fmla="*/ 7 w 622"/>
                  <a:gd name="T21" fmla="*/ 31 h 716"/>
                  <a:gd name="T22" fmla="*/ 3 w 622"/>
                  <a:gd name="T23" fmla="*/ 36 h 716"/>
                  <a:gd name="T24" fmla="*/ 1 w 622"/>
                  <a:gd name="T25" fmla="*/ 40 h 716"/>
                  <a:gd name="T26" fmla="*/ 0 w 622"/>
                  <a:gd name="T27" fmla="*/ 45 h 716"/>
                  <a:gd name="T28" fmla="*/ 0 w 622"/>
                  <a:gd name="T29" fmla="*/ 314 h 716"/>
                  <a:gd name="T30" fmla="*/ 1 w 622"/>
                  <a:gd name="T31" fmla="*/ 318 h 716"/>
                  <a:gd name="T32" fmla="*/ 3 w 622"/>
                  <a:gd name="T33" fmla="*/ 323 h 716"/>
                  <a:gd name="T34" fmla="*/ 7 w 622"/>
                  <a:gd name="T35" fmla="*/ 327 h 716"/>
                  <a:gd name="T36" fmla="*/ 12 w 622"/>
                  <a:gd name="T37" fmla="*/ 331 h 716"/>
                  <a:gd name="T38" fmla="*/ 19 w 622"/>
                  <a:gd name="T39" fmla="*/ 335 h 716"/>
                  <a:gd name="T40" fmla="*/ 27 w 622"/>
                  <a:gd name="T41" fmla="*/ 339 h 716"/>
                  <a:gd name="T42" fmla="*/ 36 w 622"/>
                  <a:gd name="T43" fmla="*/ 342 h 716"/>
                  <a:gd name="T44" fmla="*/ 46 w 622"/>
                  <a:gd name="T45" fmla="*/ 345 h 716"/>
                  <a:gd name="T46" fmla="*/ 56 w 622"/>
                  <a:gd name="T47" fmla="*/ 348 h 716"/>
                  <a:gd name="T48" fmla="*/ 69 w 622"/>
                  <a:gd name="T49" fmla="*/ 351 h 716"/>
                  <a:gd name="T50" fmla="*/ 95 w 622"/>
                  <a:gd name="T51" fmla="*/ 354 h 716"/>
                  <a:gd name="T52" fmla="*/ 123 w 622"/>
                  <a:gd name="T53" fmla="*/ 357 h 716"/>
                  <a:gd name="T54" fmla="*/ 155 w 622"/>
                  <a:gd name="T55" fmla="*/ 358 h 716"/>
                  <a:gd name="T56" fmla="*/ 186 w 622"/>
                  <a:gd name="T57" fmla="*/ 357 h 716"/>
                  <a:gd name="T58" fmla="*/ 215 w 622"/>
                  <a:gd name="T59" fmla="*/ 354 h 716"/>
                  <a:gd name="T60" fmla="*/ 241 w 622"/>
                  <a:gd name="T61" fmla="*/ 351 h 716"/>
                  <a:gd name="T62" fmla="*/ 254 w 622"/>
                  <a:gd name="T63" fmla="*/ 348 h 716"/>
                  <a:gd name="T64" fmla="*/ 264 w 622"/>
                  <a:gd name="T65" fmla="*/ 345 h 716"/>
                  <a:gd name="T66" fmla="*/ 274 w 622"/>
                  <a:gd name="T67" fmla="*/ 342 h 716"/>
                  <a:gd name="T68" fmla="*/ 283 w 622"/>
                  <a:gd name="T69" fmla="*/ 339 h 716"/>
                  <a:gd name="T70" fmla="*/ 291 w 622"/>
                  <a:gd name="T71" fmla="*/ 335 h 716"/>
                  <a:gd name="T72" fmla="*/ 298 w 622"/>
                  <a:gd name="T73" fmla="*/ 331 h 716"/>
                  <a:gd name="T74" fmla="*/ 303 w 622"/>
                  <a:gd name="T75" fmla="*/ 327 h 716"/>
                  <a:gd name="T76" fmla="*/ 307 w 622"/>
                  <a:gd name="T77" fmla="*/ 323 h 716"/>
                  <a:gd name="T78" fmla="*/ 309 w 622"/>
                  <a:gd name="T79" fmla="*/ 318 h 716"/>
                  <a:gd name="T80" fmla="*/ 310 w 622"/>
                  <a:gd name="T81" fmla="*/ 314 h 716"/>
                  <a:gd name="T82" fmla="*/ 310 w 622"/>
                  <a:gd name="T83" fmla="*/ 45 h 716"/>
                  <a:gd name="T84" fmla="*/ 309 w 622"/>
                  <a:gd name="T85" fmla="*/ 40 h 716"/>
                  <a:gd name="T86" fmla="*/ 307 w 622"/>
                  <a:gd name="T87" fmla="*/ 36 h 716"/>
                  <a:gd name="T88" fmla="*/ 303 w 622"/>
                  <a:gd name="T89" fmla="*/ 31 h 716"/>
                  <a:gd name="T90" fmla="*/ 298 w 622"/>
                  <a:gd name="T91" fmla="*/ 28 h 716"/>
                  <a:gd name="T92" fmla="*/ 291 w 622"/>
                  <a:gd name="T93" fmla="*/ 23 h 716"/>
                  <a:gd name="T94" fmla="*/ 283 w 622"/>
                  <a:gd name="T95" fmla="*/ 20 h 716"/>
                  <a:gd name="T96" fmla="*/ 274 w 622"/>
                  <a:gd name="T97" fmla="*/ 16 h 716"/>
                  <a:gd name="T98" fmla="*/ 264 w 622"/>
                  <a:gd name="T99" fmla="*/ 14 h 716"/>
                  <a:gd name="T100" fmla="*/ 254 w 622"/>
                  <a:gd name="T101" fmla="*/ 11 h 716"/>
                  <a:gd name="T102" fmla="*/ 241 w 622"/>
                  <a:gd name="T103" fmla="*/ 8 h 716"/>
                  <a:gd name="T104" fmla="*/ 215 w 622"/>
                  <a:gd name="T105" fmla="*/ 4 h 716"/>
                  <a:gd name="T106" fmla="*/ 186 w 622"/>
                  <a:gd name="T107" fmla="*/ 1 h 716"/>
                  <a:gd name="T108" fmla="*/ 155 w 622"/>
                  <a:gd name="T109" fmla="*/ 0 h 71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6">
                    <a:moveTo>
                      <a:pt x="310" y="0"/>
                    </a:moveTo>
                    <a:lnTo>
                      <a:pt x="247" y="1"/>
                    </a:lnTo>
                    <a:lnTo>
                      <a:pt x="190" y="7"/>
                    </a:lnTo>
                    <a:lnTo>
                      <a:pt x="138" y="15"/>
                    </a:lnTo>
                    <a:lnTo>
                      <a:pt x="113" y="21"/>
                    </a:lnTo>
                    <a:lnTo>
                      <a:pt x="92" y="27"/>
                    </a:lnTo>
                    <a:lnTo>
                      <a:pt x="72" y="32"/>
                    </a:lnTo>
                    <a:lnTo>
                      <a:pt x="54" y="40"/>
                    </a:lnTo>
                    <a:lnTo>
                      <a:pt x="38" y="46"/>
                    </a:lnTo>
                    <a:lnTo>
                      <a:pt x="25" y="55"/>
                    </a:lnTo>
                    <a:lnTo>
                      <a:pt x="15" y="62"/>
                    </a:lnTo>
                    <a:lnTo>
                      <a:pt x="7" y="71"/>
                    </a:lnTo>
                    <a:lnTo>
                      <a:pt x="2" y="80"/>
                    </a:lnTo>
                    <a:lnTo>
                      <a:pt x="0" y="89"/>
                    </a:lnTo>
                    <a:lnTo>
                      <a:pt x="0" y="627"/>
                    </a:lnTo>
                    <a:lnTo>
                      <a:pt x="2" y="636"/>
                    </a:lnTo>
                    <a:lnTo>
                      <a:pt x="7" y="645"/>
                    </a:lnTo>
                    <a:lnTo>
                      <a:pt x="15" y="653"/>
                    </a:lnTo>
                    <a:lnTo>
                      <a:pt x="25" y="661"/>
                    </a:lnTo>
                    <a:lnTo>
                      <a:pt x="38" y="670"/>
                    </a:lnTo>
                    <a:lnTo>
                      <a:pt x="54" y="677"/>
                    </a:lnTo>
                    <a:lnTo>
                      <a:pt x="72" y="683"/>
                    </a:lnTo>
                    <a:lnTo>
                      <a:pt x="92" y="689"/>
                    </a:lnTo>
                    <a:lnTo>
                      <a:pt x="113" y="695"/>
                    </a:lnTo>
                    <a:lnTo>
                      <a:pt x="138" y="701"/>
                    </a:lnTo>
                    <a:lnTo>
                      <a:pt x="190" y="708"/>
                    </a:lnTo>
                    <a:lnTo>
                      <a:pt x="247" y="714"/>
                    </a:lnTo>
                    <a:lnTo>
                      <a:pt x="310" y="716"/>
                    </a:lnTo>
                    <a:lnTo>
                      <a:pt x="373" y="714"/>
                    </a:lnTo>
                    <a:lnTo>
                      <a:pt x="432" y="708"/>
                    </a:lnTo>
                    <a:lnTo>
                      <a:pt x="484" y="701"/>
                    </a:lnTo>
                    <a:lnTo>
                      <a:pt x="509" y="695"/>
                    </a:lnTo>
                    <a:lnTo>
                      <a:pt x="530" y="689"/>
                    </a:lnTo>
                    <a:lnTo>
                      <a:pt x="550" y="683"/>
                    </a:lnTo>
                    <a:lnTo>
                      <a:pt x="568" y="677"/>
                    </a:lnTo>
                    <a:lnTo>
                      <a:pt x="584" y="670"/>
                    </a:lnTo>
                    <a:lnTo>
                      <a:pt x="597" y="661"/>
                    </a:lnTo>
                    <a:lnTo>
                      <a:pt x="607" y="653"/>
                    </a:lnTo>
                    <a:lnTo>
                      <a:pt x="615" y="645"/>
                    </a:lnTo>
                    <a:lnTo>
                      <a:pt x="620" y="636"/>
                    </a:lnTo>
                    <a:lnTo>
                      <a:pt x="622" y="627"/>
                    </a:lnTo>
                    <a:lnTo>
                      <a:pt x="622" y="89"/>
                    </a:lnTo>
                    <a:lnTo>
                      <a:pt x="620" y="80"/>
                    </a:lnTo>
                    <a:lnTo>
                      <a:pt x="615" y="71"/>
                    </a:lnTo>
                    <a:lnTo>
                      <a:pt x="607" y="62"/>
                    </a:lnTo>
                    <a:lnTo>
                      <a:pt x="597" y="55"/>
                    </a:lnTo>
                    <a:lnTo>
                      <a:pt x="584" y="46"/>
                    </a:lnTo>
                    <a:lnTo>
                      <a:pt x="568" y="40"/>
                    </a:lnTo>
                    <a:lnTo>
                      <a:pt x="550" y="32"/>
                    </a:lnTo>
                    <a:lnTo>
                      <a:pt x="530" y="27"/>
                    </a:lnTo>
                    <a:lnTo>
                      <a:pt x="509" y="21"/>
                    </a:lnTo>
                    <a:lnTo>
                      <a:pt x="484" y="15"/>
                    </a:lnTo>
                    <a:lnTo>
                      <a:pt x="432" y="7"/>
                    </a:lnTo>
                    <a:lnTo>
                      <a:pt x="373" y="1"/>
                    </a:lnTo>
                    <a:lnTo>
                      <a:pt x="310" y="0"/>
                    </a:lnTo>
                    <a:close/>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sp>
            <p:nvSpPr>
              <p:cNvPr id="128" name="Freeform 170"/>
              <p:cNvSpPr>
                <a:spLocks/>
              </p:cNvSpPr>
              <p:nvPr/>
            </p:nvSpPr>
            <p:spPr bwMode="auto">
              <a:xfrm>
                <a:off x="971" y="2948"/>
                <a:ext cx="310" cy="45"/>
              </a:xfrm>
              <a:custGeom>
                <a:avLst/>
                <a:gdLst>
                  <a:gd name="T0" fmla="*/ 0 w 622"/>
                  <a:gd name="T1" fmla="*/ 0 h 90"/>
                  <a:gd name="T2" fmla="*/ 1 w 622"/>
                  <a:gd name="T3" fmla="*/ 5 h 90"/>
                  <a:gd name="T4" fmla="*/ 3 w 622"/>
                  <a:gd name="T5" fmla="*/ 9 h 90"/>
                  <a:gd name="T6" fmla="*/ 7 w 622"/>
                  <a:gd name="T7" fmla="*/ 13 h 90"/>
                  <a:gd name="T8" fmla="*/ 12 w 622"/>
                  <a:gd name="T9" fmla="*/ 18 h 90"/>
                  <a:gd name="T10" fmla="*/ 19 w 622"/>
                  <a:gd name="T11" fmla="*/ 22 h 90"/>
                  <a:gd name="T12" fmla="*/ 27 w 622"/>
                  <a:gd name="T13" fmla="*/ 25 h 90"/>
                  <a:gd name="T14" fmla="*/ 36 w 622"/>
                  <a:gd name="T15" fmla="*/ 29 h 90"/>
                  <a:gd name="T16" fmla="*/ 46 w 622"/>
                  <a:gd name="T17" fmla="*/ 32 h 90"/>
                  <a:gd name="T18" fmla="*/ 56 w 622"/>
                  <a:gd name="T19" fmla="*/ 35 h 90"/>
                  <a:gd name="T20" fmla="*/ 69 w 622"/>
                  <a:gd name="T21" fmla="*/ 38 h 90"/>
                  <a:gd name="T22" fmla="*/ 95 w 622"/>
                  <a:gd name="T23" fmla="*/ 42 h 90"/>
                  <a:gd name="T24" fmla="*/ 123 w 622"/>
                  <a:gd name="T25" fmla="*/ 45 h 90"/>
                  <a:gd name="T26" fmla="*/ 155 w 622"/>
                  <a:gd name="T27" fmla="*/ 45 h 90"/>
                  <a:gd name="T28" fmla="*/ 186 w 622"/>
                  <a:gd name="T29" fmla="*/ 45 h 90"/>
                  <a:gd name="T30" fmla="*/ 215 w 622"/>
                  <a:gd name="T31" fmla="*/ 42 h 90"/>
                  <a:gd name="T32" fmla="*/ 241 w 622"/>
                  <a:gd name="T33" fmla="*/ 38 h 90"/>
                  <a:gd name="T34" fmla="*/ 254 w 622"/>
                  <a:gd name="T35" fmla="*/ 35 h 90"/>
                  <a:gd name="T36" fmla="*/ 264 w 622"/>
                  <a:gd name="T37" fmla="*/ 32 h 90"/>
                  <a:gd name="T38" fmla="*/ 274 w 622"/>
                  <a:gd name="T39" fmla="*/ 29 h 90"/>
                  <a:gd name="T40" fmla="*/ 283 w 622"/>
                  <a:gd name="T41" fmla="*/ 25 h 90"/>
                  <a:gd name="T42" fmla="*/ 291 w 622"/>
                  <a:gd name="T43" fmla="*/ 22 h 90"/>
                  <a:gd name="T44" fmla="*/ 298 w 622"/>
                  <a:gd name="T45" fmla="*/ 18 h 90"/>
                  <a:gd name="T46" fmla="*/ 303 w 622"/>
                  <a:gd name="T47" fmla="*/ 13 h 90"/>
                  <a:gd name="T48" fmla="*/ 307 w 622"/>
                  <a:gd name="T49" fmla="*/ 9 h 90"/>
                  <a:gd name="T50" fmla="*/ 309 w 622"/>
                  <a:gd name="T51" fmla="*/ 5 h 90"/>
                  <a:gd name="T52" fmla="*/ 310 w 622"/>
                  <a:gd name="T53" fmla="*/ 0 h 9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22" h="90">
                    <a:moveTo>
                      <a:pt x="0" y="0"/>
                    </a:moveTo>
                    <a:lnTo>
                      <a:pt x="2" y="9"/>
                    </a:lnTo>
                    <a:lnTo>
                      <a:pt x="7" y="18"/>
                    </a:lnTo>
                    <a:lnTo>
                      <a:pt x="15" y="26"/>
                    </a:lnTo>
                    <a:lnTo>
                      <a:pt x="25" y="35"/>
                    </a:lnTo>
                    <a:lnTo>
                      <a:pt x="38" y="43"/>
                    </a:lnTo>
                    <a:lnTo>
                      <a:pt x="54" y="50"/>
                    </a:lnTo>
                    <a:lnTo>
                      <a:pt x="72" y="58"/>
                    </a:lnTo>
                    <a:lnTo>
                      <a:pt x="92" y="64"/>
                    </a:lnTo>
                    <a:lnTo>
                      <a:pt x="113" y="69"/>
                    </a:lnTo>
                    <a:lnTo>
                      <a:pt x="138" y="75"/>
                    </a:lnTo>
                    <a:lnTo>
                      <a:pt x="190" y="83"/>
                    </a:lnTo>
                    <a:lnTo>
                      <a:pt x="247" y="89"/>
                    </a:lnTo>
                    <a:lnTo>
                      <a:pt x="310" y="90"/>
                    </a:lnTo>
                    <a:lnTo>
                      <a:pt x="373" y="89"/>
                    </a:lnTo>
                    <a:lnTo>
                      <a:pt x="432" y="83"/>
                    </a:lnTo>
                    <a:lnTo>
                      <a:pt x="484" y="75"/>
                    </a:lnTo>
                    <a:lnTo>
                      <a:pt x="509" y="69"/>
                    </a:lnTo>
                    <a:lnTo>
                      <a:pt x="530" y="64"/>
                    </a:lnTo>
                    <a:lnTo>
                      <a:pt x="550" y="58"/>
                    </a:lnTo>
                    <a:lnTo>
                      <a:pt x="568" y="50"/>
                    </a:lnTo>
                    <a:lnTo>
                      <a:pt x="584" y="43"/>
                    </a:lnTo>
                    <a:lnTo>
                      <a:pt x="597" y="35"/>
                    </a:lnTo>
                    <a:lnTo>
                      <a:pt x="607" y="26"/>
                    </a:lnTo>
                    <a:lnTo>
                      <a:pt x="615" y="18"/>
                    </a:lnTo>
                    <a:lnTo>
                      <a:pt x="620" y="9"/>
                    </a:lnTo>
                    <a:lnTo>
                      <a:pt x="622"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grpSp>
        <p:grpSp>
          <p:nvGrpSpPr>
            <p:cNvPr id="119" name="Group 171"/>
            <p:cNvGrpSpPr>
              <a:grpSpLocks/>
            </p:cNvGrpSpPr>
            <p:nvPr/>
          </p:nvGrpSpPr>
          <p:grpSpPr bwMode="auto">
            <a:xfrm>
              <a:off x="1023" y="2948"/>
              <a:ext cx="310" cy="359"/>
              <a:chOff x="1023" y="2948"/>
              <a:chExt cx="310" cy="359"/>
            </a:xfrm>
          </p:grpSpPr>
          <p:sp>
            <p:nvSpPr>
              <p:cNvPr id="121" name="Freeform 172"/>
              <p:cNvSpPr>
                <a:spLocks/>
              </p:cNvSpPr>
              <p:nvPr/>
            </p:nvSpPr>
            <p:spPr bwMode="auto">
              <a:xfrm>
                <a:off x="1023" y="2948"/>
                <a:ext cx="310" cy="359"/>
              </a:xfrm>
              <a:custGeom>
                <a:avLst/>
                <a:gdLst>
                  <a:gd name="T0" fmla="*/ 155 w 622"/>
                  <a:gd name="T1" fmla="*/ 0 h 717"/>
                  <a:gd name="T2" fmla="*/ 123 w 622"/>
                  <a:gd name="T3" fmla="*/ 1 h 717"/>
                  <a:gd name="T4" fmla="*/ 95 w 622"/>
                  <a:gd name="T5" fmla="*/ 4 h 717"/>
                  <a:gd name="T6" fmla="*/ 69 w 622"/>
                  <a:gd name="T7" fmla="*/ 8 h 717"/>
                  <a:gd name="T8" fmla="*/ 56 w 622"/>
                  <a:gd name="T9" fmla="*/ 11 h 717"/>
                  <a:gd name="T10" fmla="*/ 45 w 622"/>
                  <a:gd name="T11" fmla="*/ 13 h 717"/>
                  <a:gd name="T12" fmla="*/ 36 w 622"/>
                  <a:gd name="T13" fmla="*/ 16 h 717"/>
                  <a:gd name="T14" fmla="*/ 27 w 622"/>
                  <a:gd name="T15" fmla="*/ 20 h 717"/>
                  <a:gd name="T16" fmla="*/ 19 w 622"/>
                  <a:gd name="T17" fmla="*/ 23 h 717"/>
                  <a:gd name="T18" fmla="*/ 12 w 622"/>
                  <a:gd name="T19" fmla="*/ 28 h 717"/>
                  <a:gd name="T20" fmla="*/ 7 w 622"/>
                  <a:gd name="T21" fmla="*/ 31 h 717"/>
                  <a:gd name="T22" fmla="*/ 3 w 622"/>
                  <a:gd name="T23" fmla="*/ 36 h 717"/>
                  <a:gd name="T24" fmla="*/ 1 w 622"/>
                  <a:gd name="T25" fmla="*/ 40 h 717"/>
                  <a:gd name="T26" fmla="*/ 0 w 622"/>
                  <a:gd name="T27" fmla="*/ 45 h 717"/>
                  <a:gd name="T28" fmla="*/ 0 w 622"/>
                  <a:gd name="T29" fmla="*/ 314 h 717"/>
                  <a:gd name="T30" fmla="*/ 1 w 622"/>
                  <a:gd name="T31" fmla="*/ 318 h 717"/>
                  <a:gd name="T32" fmla="*/ 3 w 622"/>
                  <a:gd name="T33" fmla="*/ 322 h 717"/>
                  <a:gd name="T34" fmla="*/ 7 w 622"/>
                  <a:gd name="T35" fmla="*/ 327 h 717"/>
                  <a:gd name="T36" fmla="*/ 12 w 622"/>
                  <a:gd name="T37" fmla="*/ 331 h 717"/>
                  <a:gd name="T38" fmla="*/ 19 w 622"/>
                  <a:gd name="T39" fmla="*/ 335 h 717"/>
                  <a:gd name="T40" fmla="*/ 27 w 622"/>
                  <a:gd name="T41" fmla="*/ 339 h 717"/>
                  <a:gd name="T42" fmla="*/ 36 w 622"/>
                  <a:gd name="T43" fmla="*/ 342 h 717"/>
                  <a:gd name="T44" fmla="*/ 45 w 622"/>
                  <a:gd name="T45" fmla="*/ 345 h 717"/>
                  <a:gd name="T46" fmla="*/ 56 w 622"/>
                  <a:gd name="T47" fmla="*/ 348 h 717"/>
                  <a:gd name="T48" fmla="*/ 69 w 622"/>
                  <a:gd name="T49" fmla="*/ 351 h 717"/>
                  <a:gd name="T50" fmla="*/ 95 w 622"/>
                  <a:gd name="T51" fmla="*/ 355 h 717"/>
                  <a:gd name="T52" fmla="*/ 123 w 622"/>
                  <a:gd name="T53" fmla="*/ 358 h 717"/>
                  <a:gd name="T54" fmla="*/ 155 w 622"/>
                  <a:gd name="T55" fmla="*/ 359 h 717"/>
                  <a:gd name="T56" fmla="*/ 186 w 622"/>
                  <a:gd name="T57" fmla="*/ 358 h 717"/>
                  <a:gd name="T58" fmla="*/ 215 w 622"/>
                  <a:gd name="T59" fmla="*/ 355 h 717"/>
                  <a:gd name="T60" fmla="*/ 241 w 622"/>
                  <a:gd name="T61" fmla="*/ 351 h 717"/>
                  <a:gd name="T62" fmla="*/ 254 w 622"/>
                  <a:gd name="T63" fmla="*/ 348 h 717"/>
                  <a:gd name="T64" fmla="*/ 264 w 622"/>
                  <a:gd name="T65" fmla="*/ 345 h 717"/>
                  <a:gd name="T66" fmla="*/ 274 w 622"/>
                  <a:gd name="T67" fmla="*/ 342 h 717"/>
                  <a:gd name="T68" fmla="*/ 283 w 622"/>
                  <a:gd name="T69" fmla="*/ 339 h 717"/>
                  <a:gd name="T70" fmla="*/ 291 w 622"/>
                  <a:gd name="T71" fmla="*/ 335 h 717"/>
                  <a:gd name="T72" fmla="*/ 298 w 622"/>
                  <a:gd name="T73" fmla="*/ 331 h 717"/>
                  <a:gd name="T74" fmla="*/ 303 w 622"/>
                  <a:gd name="T75" fmla="*/ 327 h 717"/>
                  <a:gd name="T76" fmla="*/ 307 w 622"/>
                  <a:gd name="T77" fmla="*/ 322 h 717"/>
                  <a:gd name="T78" fmla="*/ 309 w 622"/>
                  <a:gd name="T79" fmla="*/ 318 h 717"/>
                  <a:gd name="T80" fmla="*/ 310 w 622"/>
                  <a:gd name="T81" fmla="*/ 314 h 717"/>
                  <a:gd name="T82" fmla="*/ 310 w 622"/>
                  <a:gd name="T83" fmla="*/ 45 h 717"/>
                  <a:gd name="T84" fmla="*/ 309 w 622"/>
                  <a:gd name="T85" fmla="*/ 40 h 717"/>
                  <a:gd name="T86" fmla="*/ 307 w 622"/>
                  <a:gd name="T87" fmla="*/ 36 h 717"/>
                  <a:gd name="T88" fmla="*/ 303 w 622"/>
                  <a:gd name="T89" fmla="*/ 31 h 717"/>
                  <a:gd name="T90" fmla="*/ 298 w 622"/>
                  <a:gd name="T91" fmla="*/ 28 h 717"/>
                  <a:gd name="T92" fmla="*/ 291 w 622"/>
                  <a:gd name="T93" fmla="*/ 23 h 717"/>
                  <a:gd name="T94" fmla="*/ 283 w 622"/>
                  <a:gd name="T95" fmla="*/ 20 h 717"/>
                  <a:gd name="T96" fmla="*/ 274 w 622"/>
                  <a:gd name="T97" fmla="*/ 16 h 717"/>
                  <a:gd name="T98" fmla="*/ 264 w 622"/>
                  <a:gd name="T99" fmla="*/ 13 h 717"/>
                  <a:gd name="T100" fmla="*/ 254 w 622"/>
                  <a:gd name="T101" fmla="*/ 11 h 717"/>
                  <a:gd name="T102" fmla="*/ 241 w 622"/>
                  <a:gd name="T103" fmla="*/ 8 h 717"/>
                  <a:gd name="T104" fmla="*/ 215 w 622"/>
                  <a:gd name="T105" fmla="*/ 4 h 717"/>
                  <a:gd name="T106" fmla="*/ 186 w 622"/>
                  <a:gd name="T107" fmla="*/ 1 h 717"/>
                  <a:gd name="T108" fmla="*/ 155 w 622"/>
                  <a:gd name="T109" fmla="*/ 0 h 71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7">
                    <a:moveTo>
                      <a:pt x="310" y="0"/>
                    </a:moveTo>
                    <a:lnTo>
                      <a:pt x="247" y="1"/>
                    </a:lnTo>
                    <a:lnTo>
                      <a:pt x="190" y="7"/>
                    </a:lnTo>
                    <a:lnTo>
                      <a:pt x="138" y="15"/>
                    </a:lnTo>
                    <a:lnTo>
                      <a:pt x="113" y="21"/>
                    </a:lnTo>
                    <a:lnTo>
                      <a:pt x="91" y="26"/>
                    </a:lnTo>
                    <a:lnTo>
                      <a:pt x="72" y="32"/>
                    </a:lnTo>
                    <a:lnTo>
                      <a:pt x="54" y="40"/>
                    </a:lnTo>
                    <a:lnTo>
                      <a:pt x="38" y="46"/>
                    </a:lnTo>
                    <a:lnTo>
                      <a:pt x="25" y="55"/>
                    </a:lnTo>
                    <a:lnTo>
                      <a:pt x="14" y="62"/>
                    </a:lnTo>
                    <a:lnTo>
                      <a:pt x="7" y="71"/>
                    </a:lnTo>
                    <a:lnTo>
                      <a:pt x="2" y="80"/>
                    </a:lnTo>
                    <a:lnTo>
                      <a:pt x="0" y="89"/>
                    </a:lnTo>
                    <a:lnTo>
                      <a:pt x="0" y="627"/>
                    </a:lnTo>
                    <a:lnTo>
                      <a:pt x="2" y="636"/>
                    </a:lnTo>
                    <a:lnTo>
                      <a:pt x="7" y="644"/>
                    </a:lnTo>
                    <a:lnTo>
                      <a:pt x="14" y="653"/>
                    </a:lnTo>
                    <a:lnTo>
                      <a:pt x="25" y="662"/>
                    </a:lnTo>
                    <a:lnTo>
                      <a:pt x="38" y="670"/>
                    </a:lnTo>
                    <a:lnTo>
                      <a:pt x="54" y="677"/>
                    </a:lnTo>
                    <a:lnTo>
                      <a:pt x="72" y="684"/>
                    </a:lnTo>
                    <a:lnTo>
                      <a:pt x="91" y="690"/>
                    </a:lnTo>
                    <a:lnTo>
                      <a:pt x="113" y="696"/>
                    </a:lnTo>
                    <a:lnTo>
                      <a:pt x="138" y="702"/>
                    </a:lnTo>
                    <a:lnTo>
                      <a:pt x="190" y="710"/>
                    </a:lnTo>
                    <a:lnTo>
                      <a:pt x="247" y="716"/>
                    </a:lnTo>
                    <a:lnTo>
                      <a:pt x="310" y="717"/>
                    </a:lnTo>
                    <a:lnTo>
                      <a:pt x="373" y="716"/>
                    </a:lnTo>
                    <a:lnTo>
                      <a:pt x="432" y="710"/>
                    </a:lnTo>
                    <a:lnTo>
                      <a:pt x="484" y="702"/>
                    </a:lnTo>
                    <a:lnTo>
                      <a:pt x="509" y="696"/>
                    </a:lnTo>
                    <a:lnTo>
                      <a:pt x="530" y="690"/>
                    </a:lnTo>
                    <a:lnTo>
                      <a:pt x="550" y="684"/>
                    </a:lnTo>
                    <a:lnTo>
                      <a:pt x="568" y="677"/>
                    </a:lnTo>
                    <a:lnTo>
                      <a:pt x="584" y="670"/>
                    </a:lnTo>
                    <a:lnTo>
                      <a:pt x="597" y="662"/>
                    </a:lnTo>
                    <a:lnTo>
                      <a:pt x="607" y="653"/>
                    </a:lnTo>
                    <a:lnTo>
                      <a:pt x="615" y="644"/>
                    </a:lnTo>
                    <a:lnTo>
                      <a:pt x="620" y="636"/>
                    </a:lnTo>
                    <a:lnTo>
                      <a:pt x="622" y="627"/>
                    </a:lnTo>
                    <a:lnTo>
                      <a:pt x="622" y="89"/>
                    </a:lnTo>
                    <a:lnTo>
                      <a:pt x="620" y="80"/>
                    </a:lnTo>
                    <a:lnTo>
                      <a:pt x="615" y="71"/>
                    </a:lnTo>
                    <a:lnTo>
                      <a:pt x="607" y="62"/>
                    </a:lnTo>
                    <a:lnTo>
                      <a:pt x="597" y="55"/>
                    </a:lnTo>
                    <a:lnTo>
                      <a:pt x="584" y="46"/>
                    </a:lnTo>
                    <a:lnTo>
                      <a:pt x="568" y="40"/>
                    </a:lnTo>
                    <a:lnTo>
                      <a:pt x="550" y="32"/>
                    </a:lnTo>
                    <a:lnTo>
                      <a:pt x="530" y="26"/>
                    </a:lnTo>
                    <a:lnTo>
                      <a:pt x="509" y="21"/>
                    </a:lnTo>
                    <a:lnTo>
                      <a:pt x="484" y="15"/>
                    </a:lnTo>
                    <a:lnTo>
                      <a:pt x="432" y="7"/>
                    </a:lnTo>
                    <a:lnTo>
                      <a:pt x="373" y="1"/>
                    </a:lnTo>
                    <a:lnTo>
                      <a:pt x="310" y="0"/>
                    </a:lnTo>
                    <a:close/>
                  </a:path>
                </a:pathLst>
              </a:custGeom>
              <a:solidFill>
                <a:srgbClr val="00A0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22" name="Freeform 173"/>
              <p:cNvSpPr>
                <a:spLocks/>
              </p:cNvSpPr>
              <p:nvPr/>
            </p:nvSpPr>
            <p:spPr bwMode="auto">
              <a:xfrm>
                <a:off x="1023" y="2948"/>
                <a:ext cx="310" cy="90"/>
              </a:xfrm>
              <a:custGeom>
                <a:avLst/>
                <a:gdLst>
                  <a:gd name="T0" fmla="*/ 0 w 622"/>
                  <a:gd name="T1" fmla="*/ 45 h 179"/>
                  <a:gd name="T2" fmla="*/ 1 w 622"/>
                  <a:gd name="T3" fmla="*/ 49 h 179"/>
                  <a:gd name="T4" fmla="*/ 3 w 622"/>
                  <a:gd name="T5" fmla="*/ 53 h 179"/>
                  <a:gd name="T6" fmla="*/ 7 w 622"/>
                  <a:gd name="T7" fmla="*/ 58 h 179"/>
                  <a:gd name="T8" fmla="*/ 12 w 622"/>
                  <a:gd name="T9" fmla="*/ 62 h 179"/>
                  <a:gd name="T10" fmla="*/ 19 w 622"/>
                  <a:gd name="T11" fmla="*/ 66 h 179"/>
                  <a:gd name="T12" fmla="*/ 27 w 622"/>
                  <a:gd name="T13" fmla="*/ 70 h 179"/>
                  <a:gd name="T14" fmla="*/ 36 w 622"/>
                  <a:gd name="T15" fmla="*/ 74 h 179"/>
                  <a:gd name="T16" fmla="*/ 45 w 622"/>
                  <a:gd name="T17" fmla="*/ 76 h 179"/>
                  <a:gd name="T18" fmla="*/ 56 w 622"/>
                  <a:gd name="T19" fmla="*/ 79 h 179"/>
                  <a:gd name="T20" fmla="*/ 69 w 622"/>
                  <a:gd name="T21" fmla="*/ 82 h 179"/>
                  <a:gd name="T22" fmla="*/ 95 w 622"/>
                  <a:gd name="T23" fmla="*/ 86 h 179"/>
                  <a:gd name="T24" fmla="*/ 123 w 622"/>
                  <a:gd name="T25" fmla="*/ 89 h 179"/>
                  <a:gd name="T26" fmla="*/ 155 w 622"/>
                  <a:gd name="T27" fmla="*/ 90 h 179"/>
                  <a:gd name="T28" fmla="*/ 186 w 622"/>
                  <a:gd name="T29" fmla="*/ 89 h 179"/>
                  <a:gd name="T30" fmla="*/ 215 w 622"/>
                  <a:gd name="T31" fmla="*/ 86 h 179"/>
                  <a:gd name="T32" fmla="*/ 241 w 622"/>
                  <a:gd name="T33" fmla="*/ 82 h 179"/>
                  <a:gd name="T34" fmla="*/ 254 w 622"/>
                  <a:gd name="T35" fmla="*/ 79 h 179"/>
                  <a:gd name="T36" fmla="*/ 264 w 622"/>
                  <a:gd name="T37" fmla="*/ 76 h 179"/>
                  <a:gd name="T38" fmla="*/ 274 w 622"/>
                  <a:gd name="T39" fmla="*/ 74 h 179"/>
                  <a:gd name="T40" fmla="*/ 283 w 622"/>
                  <a:gd name="T41" fmla="*/ 70 h 179"/>
                  <a:gd name="T42" fmla="*/ 291 w 622"/>
                  <a:gd name="T43" fmla="*/ 66 h 179"/>
                  <a:gd name="T44" fmla="*/ 298 w 622"/>
                  <a:gd name="T45" fmla="*/ 62 h 179"/>
                  <a:gd name="T46" fmla="*/ 303 w 622"/>
                  <a:gd name="T47" fmla="*/ 58 h 179"/>
                  <a:gd name="T48" fmla="*/ 307 w 622"/>
                  <a:gd name="T49" fmla="*/ 53 h 179"/>
                  <a:gd name="T50" fmla="*/ 309 w 622"/>
                  <a:gd name="T51" fmla="*/ 49 h 179"/>
                  <a:gd name="T52" fmla="*/ 310 w 622"/>
                  <a:gd name="T53" fmla="*/ 45 h 179"/>
                  <a:gd name="T54" fmla="*/ 309 w 622"/>
                  <a:gd name="T55" fmla="*/ 40 h 179"/>
                  <a:gd name="T56" fmla="*/ 307 w 622"/>
                  <a:gd name="T57" fmla="*/ 36 h 179"/>
                  <a:gd name="T58" fmla="*/ 303 w 622"/>
                  <a:gd name="T59" fmla="*/ 31 h 179"/>
                  <a:gd name="T60" fmla="*/ 298 w 622"/>
                  <a:gd name="T61" fmla="*/ 28 h 179"/>
                  <a:gd name="T62" fmla="*/ 291 w 622"/>
                  <a:gd name="T63" fmla="*/ 23 h 179"/>
                  <a:gd name="T64" fmla="*/ 283 w 622"/>
                  <a:gd name="T65" fmla="*/ 20 h 179"/>
                  <a:gd name="T66" fmla="*/ 274 w 622"/>
                  <a:gd name="T67" fmla="*/ 16 h 179"/>
                  <a:gd name="T68" fmla="*/ 264 w 622"/>
                  <a:gd name="T69" fmla="*/ 13 h 179"/>
                  <a:gd name="T70" fmla="*/ 254 w 622"/>
                  <a:gd name="T71" fmla="*/ 11 h 179"/>
                  <a:gd name="T72" fmla="*/ 241 w 622"/>
                  <a:gd name="T73" fmla="*/ 8 h 179"/>
                  <a:gd name="T74" fmla="*/ 215 w 622"/>
                  <a:gd name="T75" fmla="*/ 4 h 179"/>
                  <a:gd name="T76" fmla="*/ 186 w 622"/>
                  <a:gd name="T77" fmla="*/ 1 h 179"/>
                  <a:gd name="T78" fmla="*/ 155 w 622"/>
                  <a:gd name="T79" fmla="*/ 0 h 179"/>
                  <a:gd name="T80" fmla="*/ 123 w 622"/>
                  <a:gd name="T81" fmla="*/ 1 h 179"/>
                  <a:gd name="T82" fmla="*/ 95 w 622"/>
                  <a:gd name="T83" fmla="*/ 4 h 179"/>
                  <a:gd name="T84" fmla="*/ 69 w 622"/>
                  <a:gd name="T85" fmla="*/ 8 h 179"/>
                  <a:gd name="T86" fmla="*/ 56 w 622"/>
                  <a:gd name="T87" fmla="*/ 11 h 179"/>
                  <a:gd name="T88" fmla="*/ 45 w 622"/>
                  <a:gd name="T89" fmla="*/ 13 h 179"/>
                  <a:gd name="T90" fmla="*/ 36 w 622"/>
                  <a:gd name="T91" fmla="*/ 16 h 179"/>
                  <a:gd name="T92" fmla="*/ 27 w 622"/>
                  <a:gd name="T93" fmla="*/ 20 h 179"/>
                  <a:gd name="T94" fmla="*/ 19 w 622"/>
                  <a:gd name="T95" fmla="*/ 23 h 179"/>
                  <a:gd name="T96" fmla="*/ 12 w 622"/>
                  <a:gd name="T97" fmla="*/ 28 h 179"/>
                  <a:gd name="T98" fmla="*/ 7 w 622"/>
                  <a:gd name="T99" fmla="*/ 31 h 179"/>
                  <a:gd name="T100" fmla="*/ 3 w 622"/>
                  <a:gd name="T101" fmla="*/ 36 h 179"/>
                  <a:gd name="T102" fmla="*/ 1 w 622"/>
                  <a:gd name="T103" fmla="*/ 40 h 179"/>
                  <a:gd name="T104" fmla="*/ 0 w 622"/>
                  <a:gd name="T105" fmla="*/ 45 h 17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22" h="179">
                    <a:moveTo>
                      <a:pt x="0" y="89"/>
                    </a:moveTo>
                    <a:lnTo>
                      <a:pt x="2" y="98"/>
                    </a:lnTo>
                    <a:lnTo>
                      <a:pt x="7" y="106"/>
                    </a:lnTo>
                    <a:lnTo>
                      <a:pt x="14" y="115"/>
                    </a:lnTo>
                    <a:lnTo>
                      <a:pt x="25" y="124"/>
                    </a:lnTo>
                    <a:lnTo>
                      <a:pt x="38" y="132"/>
                    </a:lnTo>
                    <a:lnTo>
                      <a:pt x="54" y="139"/>
                    </a:lnTo>
                    <a:lnTo>
                      <a:pt x="72" y="147"/>
                    </a:lnTo>
                    <a:lnTo>
                      <a:pt x="91" y="152"/>
                    </a:lnTo>
                    <a:lnTo>
                      <a:pt x="113" y="158"/>
                    </a:lnTo>
                    <a:lnTo>
                      <a:pt x="138" y="164"/>
                    </a:lnTo>
                    <a:lnTo>
                      <a:pt x="190" y="172"/>
                    </a:lnTo>
                    <a:lnTo>
                      <a:pt x="247" y="178"/>
                    </a:lnTo>
                    <a:lnTo>
                      <a:pt x="310" y="179"/>
                    </a:lnTo>
                    <a:lnTo>
                      <a:pt x="373" y="178"/>
                    </a:lnTo>
                    <a:lnTo>
                      <a:pt x="432" y="172"/>
                    </a:lnTo>
                    <a:lnTo>
                      <a:pt x="484" y="164"/>
                    </a:lnTo>
                    <a:lnTo>
                      <a:pt x="509" y="158"/>
                    </a:lnTo>
                    <a:lnTo>
                      <a:pt x="530" y="152"/>
                    </a:lnTo>
                    <a:lnTo>
                      <a:pt x="550" y="147"/>
                    </a:lnTo>
                    <a:lnTo>
                      <a:pt x="568" y="139"/>
                    </a:lnTo>
                    <a:lnTo>
                      <a:pt x="584" y="132"/>
                    </a:lnTo>
                    <a:lnTo>
                      <a:pt x="597" y="124"/>
                    </a:lnTo>
                    <a:lnTo>
                      <a:pt x="607" y="115"/>
                    </a:lnTo>
                    <a:lnTo>
                      <a:pt x="615" y="106"/>
                    </a:lnTo>
                    <a:lnTo>
                      <a:pt x="620" y="98"/>
                    </a:lnTo>
                    <a:lnTo>
                      <a:pt x="622" y="89"/>
                    </a:lnTo>
                    <a:lnTo>
                      <a:pt x="620" y="80"/>
                    </a:lnTo>
                    <a:lnTo>
                      <a:pt x="615" y="71"/>
                    </a:lnTo>
                    <a:lnTo>
                      <a:pt x="607" y="62"/>
                    </a:lnTo>
                    <a:lnTo>
                      <a:pt x="597" y="55"/>
                    </a:lnTo>
                    <a:lnTo>
                      <a:pt x="584" y="46"/>
                    </a:lnTo>
                    <a:lnTo>
                      <a:pt x="568" y="40"/>
                    </a:lnTo>
                    <a:lnTo>
                      <a:pt x="550" y="32"/>
                    </a:lnTo>
                    <a:lnTo>
                      <a:pt x="530" y="26"/>
                    </a:lnTo>
                    <a:lnTo>
                      <a:pt x="509" y="21"/>
                    </a:lnTo>
                    <a:lnTo>
                      <a:pt x="484" y="15"/>
                    </a:lnTo>
                    <a:lnTo>
                      <a:pt x="432" y="7"/>
                    </a:lnTo>
                    <a:lnTo>
                      <a:pt x="373" y="1"/>
                    </a:lnTo>
                    <a:lnTo>
                      <a:pt x="310" y="0"/>
                    </a:lnTo>
                    <a:lnTo>
                      <a:pt x="247" y="1"/>
                    </a:lnTo>
                    <a:lnTo>
                      <a:pt x="190" y="7"/>
                    </a:lnTo>
                    <a:lnTo>
                      <a:pt x="138" y="15"/>
                    </a:lnTo>
                    <a:lnTo>
                      <a:pt x="113" y="21"/>
                    </a:lnTo>
                    <a:lnTo>
                      <a:pt x="91" y="26"/>
                    </a:lnTo>
                    <a:lnTo>
                      <a:pt x="72" y="32"/>
                    </a:lnTo>
                    <a:lnTo>
                      <a:pt x="54" y="40"/>
                    </a:lnTo>
                    <a:lnTo>
                      <a:pt x="38" y="46"/>
                    </a:lnTo>
                    <a:lnTo>
                      <a:pt x="25" y="55"/>
                    </a:lnTo>
                    <a:lnTo>
                      <a:pt x="14" y="62"/>
                    </a:lnTo>
                    <a:lnTo>
                      <a:pt x="7" y="71"/>
                    </a:lnTo>
                    <a:lnTo>
                      <a:pt x="2" y="80"/>
                    </a:lnTo>
                    <a:lnTo>
                      <a:pt x="0" y="89"/>
                    </a:lnTo>
                    <a:close/>
                  </a:path>
                </a:pathLst>
              </a:custGeom>
              <a:solidFill>
                <a:srgbClr val="32B3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800"/>
              </a:p>
            </p:txBody>
          </p:sp>
          <p:sp>
            <p:nvSpPr>
              <p:cNvPr id="123" name="Freeform 174"/>
              <p:cNvSpPr>
                <a:spLocks/>
              </p:cNvSpPr>
              <p:nvPr/>
            </p:nvSpPr>
            <p:spPr bwMode="auto">
              <a:xfrm>
                <a:off x="1023" y="2948"/>
                <a:ext cx="310" cy="359"/>
              </a:xfrm>
              <a:custGeom>
                <a:avLst/>
                <a:gdLst>
                  <a:gd name="T0" fmla="*/ 155 w 622"/>
                  <a:gd name="T1" fmla="*/ 0 h 717"/>
                  <a:gd name="T2" fmla="*/ 123 w 622"/>
                  <a:gd name="T3" fmla="*/ 1 h 717"/>
                  <a:gd name="T4" fmla="*/ 95 w 622"/>
                  <a:gd name="T5" fmla="*/ 4 h 717"/>
                  <a:gd name="T6" fmla="*/ 69 w 622"/>
                  <a:gd name="T7" fmla="*/ 8 h 717"/>
                  <a:gd name="T8" fmla="*/ 56 w 622"/>
                  <a:gd name="T9" fmla="*/ 11 h 717"/>
                  <a:gd name="T10" fmla="*/ 45 w 622"/>
                  <a:gd name="T11" fmla="*/ 13 h 717"/>
                  <a:gd name="T12" fmla="*/ 36 w 622"/>
                  <a:gd name="T13" fmla="*/ 16 h 717"/>
                  <a:gd name="T14" fmla="*/ 27 w 622"/>
                  <a:gd name="T15" fmla="*/ 20 h 717"/>
                  <a:gd name="T16" fmla="*/ 19 w 622"/>
                  <a:gd name="T17" fmla="*/ 23 h 717"/>
                  <a:gd name="T18" fmla="*/ 12 w 622"/>
                  <a:gd name="T19" fmla="*/ 28 h 717"/>
                  <a:gd name="T20" fmla="*/ 7 w 622"/>
                  <a:gd name="T21" fmla="*/ 31 h 717"/>
                  <a:gd name="T22" fmla="*/ 3 w 622"/>
                  <a:gd name="T23" fmla="*/ 36 h 717"/>
                  <a:gd name="T24" fmla="*/ 1 w 622"/>
                  <a:gd name="T25" fmla="*/ 40 h 717"/>
                  <a:gd name="T26" fmla="*/ 0 w 622"/>
                  <a:gd name="T27" fmla="*/ 45 h 717"/>
                  <a:gd name="T28" fmla="*/ 0 w 622"/>
                  <a:gd name="T29" fmla="*/ 314 h 717"/>
                  <a:gd name="T30" fmla="*/ 1 w 622"/>
                  <a:gd name="T31" fmla="*/ 318 h 717"/>
                  <a:gd name="T32" fmla="*/ 3 w 622"/>
                  <a:gd name="T33" fmla="*/ 322 h 717"/>
                  <a:gd name="T34" fmla="*/ 7 w 622"/>
                  <a:gd name="T35" fmla="*/ 327 h 717"/>
                  <a:gd name="T36" fmla="*/ 12 w 622"/>
                  <a:gd name="T37" fmla="*/ 331 h 717"/>
                  <a:gd name="T38" fmla="*/ 19 w 622"/>
                  <a:gd name="T39" fmla="*/ 335 h 717"/>
                  <a:gd name="T40" fmla="*/ 27 w 622"/>
                  <a:gd name="T41" fmla="*/ 339 h 717"/>
                  <a:gd name="T42" fmla="*/ 36 w 622"/>
                  <a:gd name="T43" fmla="*/ 342 h 717"/>
                  <a:gd name="T44" fmla="*/ 45 w 622"/>
                  <a:gd name="T45" fmla="*/ 345 h 717"/>
                  <a:gd name="T46" fmla="*/ 56 w 622"/>
                  <a:gd name="T47" fmla="*/ 348 h 717"/>
                  <a:gd name="T48" fmla="*/ 69 w 622"/>
                  <a:gd name="T49" fmla="*/ 351 h 717"/>
                  <a:gd name="T50" fmla="*/ 95 w 622"/>
                  <a:gd name="T51" fmla="*/ 355 h 717"/>
                  <a:gd name="T52" fmla="*/ 123 w 622"/>
                  <a:gd name="T53" fmla="*/ 358 h 717"/>
                  <a:gd name="T54" fmla="*/ 155 w 622"/>
                  <a:gd name="T55" fmla="*/ 359 h 717"/>
                  <a:gd name="T56" fmla="*/ 186 w 622"/>
                  <a:gd name="T57" fmla="*/ 358 h 717"/>
                  <a:gd name="T58" fmla="*/ 215 w 622"/>
                  <a:gd name="T59" fmla="*/ 355 h 717"/>
                  <a:gd name="T60" fmla="*/ 241 w 622"/>
                  <a:gd name="T61" fmla="*/ 351 h 717"/>
                  <a:gd name="T62" fmla="*/ 254 w 622"/>
                  <a:gd name="T63" fmla="*/ 348 h 717"/>
                  <a:gd name="T64" fmla="*/ 264 w 622"/>
                  <a:gd name="T65" fmla="*/ 345 h 717"/>
                  <a:gd name="T66" fmla="*/ 274 w 622"/>
                  <a:gd name="T67" fmla="*/ 342 h 717"/>
                  <a:gd name="T68" fmla="*/ 283 w 622"/>
                  <a:gd name="T69" fmla="*/ 339 h 717"/>
                  <a:gd name="T70" fmla="*/ 291 w 622"/>
                  <a:gd name="T71" fmla="*/ 335 h 717"/>
                  <a:gd name="T72" fmla="*/ 298 w 622"/>
                  <a:gd name="T73" fmla="*/ 331 h 717"/>
                  <a:gd name="T74" fmla="*/ 303 w 622"/>
                  <a:gd name="T75" fmla="*/ 327 h 717"/>
                  <a:gd name="T76" fmla="*/ 307 w 622"/>
                  <a:gd name="T77" fmla="*/ 322 h 717"/>
                  <a:gd name="T78" fmla="*/ 309 w 622"/>
                  <a:gd name="T79" fmla="*/ 318 h 717"/>
                  <a:gd name="T80" fmla="*/ 310 w 622"/>
                  <a:gd name="T81" fmla="*/ 314 h 717"/>
                  <a:gd name="T82" fmla="*/ 310 w 622"/>
                  <a:gd name="T83" fmla="*/ 45 h 717"/>
                  <a:gd name="T84" fmla="*/ 309 w 622"/>
                  <a:gd name="T85" fmla="*/ 40 h 717"/>
                  <a:gd name="T86" fmla="*/ 307 w 622"/>
                  <a:gd name="T87" fmla="*/ 36 h 717"/>
                  <a:gd name="T88" fmla="*/ 303 w 622"/>
                  <a:gd name="T89" fmla="*/ 31 h 717"/>
                  <a:gd name="T90" fmla="*/ 298 w 622"/>
                  <a:gd name="T91" fmla="*/ 28 h 717"/>
                  <a:gd name="T92" fmla="*/ 291 w 622"/>
                  <a:gd name="T93" fmla="*/ 23 h 717"/>
                  <a:gd name="T94" fmla="*/ 283 w 622"/>
                  <a:gd name="T95" fmla="*/ 20 h 717"/>
                  <a:gd name="T96" fmla="*/ 274 w 622"/>
                  <a:gd name="T97" fmla="*/ 16 h 717"/>
                  <a:gd name="T98" fmla="*/ 264 w 622"/>
                  <a:gd name="T99" fmla="*/ 13 h 717"/>
                  <a:gd name="T100" fmla="*/ 254 w 622"/>
                  <a:gd name="T101" fmla="*/ 11 h 717"/>
                  <a:gd name="T102" fmla="*/ 241 w 622"/>
                  <a:gd name="T103" fmla="*/ 8 h 717"/>
                  <a:gd name="T104" fmla="*/ 215 w 622"/>
                  <a:gd name="T105" fmla="*/ 4 h 717"/>
                  <a:gd name="T106" fmla="*/ 186 w 622"/>
                  <a:gd name="T107" fmla="*/ 1 h 717"/>
                  <a:gd name="T108" fmla="*/ 155 w 622"/>
                  <a:gd name="T109" fmla="*/ 0 h 71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22" h="717">
                    <a:moveTo>
                      <a:pt x="310" y="0"/>
                    </a:moveTo>
                    <a:lnTo>
                      <a:pt x="247" y="1"/>
                    </a:lnTo>
                    <a:lnTo>
                      <a:pt x="190" y="7"/>
                    </a:lnTo>
                    <a:lnTo>
                      <a:pt x="138" y="15"/>
                    </a:lnTo>
                    <a:lnTo>
                      <a:pt x="113" y="21"/>
                    </a:lnTo>
                    <a:lnTo>
                      <a:pt x="91" y="26"/>
                    </a:lnTo>
                    <a:lnTo>
                      <a:pt x="72" y="32"/>
                    </a:lnTo>
                    <a:lnTo>
                      <a:pt x="54" y="40"/>
                    </a:lnTo>
                    <a:lnTo>
                      <a:pt x="38" y="46"/>
                    </a:lnTo>
                    <a:lnTo>
                      <a:pt x="25" y="55"/>
                    </a:lnTo>
                    <a:lnTo>
                      <a:pt x="14" y="62"/>
                    </a:lnTo>
                    <a:lnTo>
                      <a:pt x="7" y="71"/>
                    </a:lnTo>
                    <a:lnTo>
                      <a:pt x="2" y="80"/>
                    </a:lnTo>
                    <a:lnTo>
                      <a:pt x="0" y="89"/>
                    </a:lnTo>
                    <a:lnTo>
                      <a:pt x="0" y="627"/>
                    </a:lnTo>
                    <a:lnTo>
                      <a:pt x="2" y="636"/>
                    </a:lnTo>
                    <a:lnTo>
                      <a:pt x="7" y="644"/>
                    </a:lnTo>
                    <a:lnTo>
                      <a:pt x="14" y="653"/>
                    </a:lnTo>
                    <a:lnTo>
                      <a:pt x="25" y="662"/>
                    </a:lnTo>
                    <a:lnTo>
                      <a:pt x="38" y="670"/>
                    </a:lnTo>
                    <a:lnTo>
                      <a:pt x="54" y="677"/>
                    </a:lnTo>
                    <a:lnTo>
                      <a:pt x="72" y="684"/>
                    </a:lnTo>
                    <a:lnTo>
                      <a:pt x="91" y="690"/>
                    </a:lnTo>
                    <a:lnTo>
                      <a:pt x="113" y="696"/>
                    </a:lnTo>
                    <a:lnTo>
                      <a:pt x="138" y="702"/>
                    </a:lnTo>
                    <a:lnTo>
                      <a:pt x="190" y="710"/>
                    </a:lnTo>
                    <a:lnTo>
                      <a:pt x="247" y="716"/>
                    </a:lnTo>
                    <a:lnTo>
                      <a:pt x="310" y="717"/>
                    </a:lnTo>
                    <a:lnTo>
                      <a:pt x="373" y="716"/>
                    </a:lnTo>
                    <a:lnTo>
                      <a:pt x="432" y="710"/>
                    </a:lnTo>
                    <a:lnTo>
                      <a:pt x="484" y="702"/>
                    </a:lnTo>
                    <a:lnTo>
                      <a:pt x="509" y="696"/>
                    </a:lnTo>
                    <a:lnTo>
                      <a:pt x="530" y="690"/>
                    </a:lnTo>
                    <a:lnTo>
                      <a:pt x="550" y="684"/>
                    </a:lnTo>
                    <a:lnTo>
                      <a:pt x="568" y="677"/>
                    </a:lnTo>
                    <a:lnTo>
                      <a:pt x="584" y="670"/>
                    </a:lnTo>
                    <a:lnTo>
                      <a:pt x="597" y="662"/>
                    </a:lnTo>
                    <a:lnTo>
                      <a:pt x="607" y="653"/>
                    </a:lnTo>
                    <a:lnTo>
                      <a:pt x="615" y="644"/>
                    </a:lnTo>
                    <a:lnTo>
                      <a:pt x="620" y="636"/>
                    </a:lnTo>
                    <a:lnTo>
                      <a:pt x="622" y="627"/>
                    </a:lnTo>
                    <a:lnTo>
                      <a:pt x="622" y="89"/>
                    </a:lnTo>
                    <a:lnTo>
                      <a:pt x="620" y="80"/>
                    </a:lnTo>
                    <a:lnTo>
                      <a:pt x="615" y="71"/>
                    </a:lnTo>
                    <a:lnTo>
                      <a:pt x="607" y="62"/>
                    </a:lnTo>
                    <a:lnTo>
                      <a:pt x="597" y="55"/>
                    </a:lnTo>
                    <a:lnTo>
                      <a:pt x="584" y="46"/>
                    </a:lnTo>
                    <a:lnTo>
                      <a:pt x="568" y="40"/>
                    </a:lnTo>
                    <a:lnTo>
                      <a:pt x="550" y="32"/>
                    </a:lnTo>
                    <a:lnTo>
                      <a:pt x="530" y="26"/>
                    </a:lnTo>
                    <a:lnTo>
                      <a:pt x="509" y="21"/>
                    </a:lnTo>
                    <a:lnTo>
                      <a:pt x="484" y="15"/>
                    </a:lnTo>
                    <a:lnTo>
                      <a:pt x="432" y="7"/>
                    </a:lnTo>
                    <a:lnTo>
                      <a:pt x="373" y="1"/>
                    </a:lnTo>
                    <a:lnTo>
                      <a:pt x="310" y="0"/>
                    </a:lnTo>
                    <a:close/>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sp>
            <p:nvSpPr>
              <p:cNvPr id="124" name="Freeform 175"/>
              <p:cNvSpPr>
                <a:spLocks/>
              </p:cNvSpPr>
              <p:nvPr/>
            </p:nvSpPr>
            <p:spPr bwMode="auto">
              <a:xfrm>
                <a:off x="1023" y="2992"/>
                <a:ext cx="310" cy="46"/>
              </a:xfrm>
              <a:custGeom>
                <a:avLst/>
                <a:gdLst>
                  <a:gd name="T0" fmla="*/ 0 w 622"/>
                  <a:gd name="T1" fmla="*/ 0 h 90"/>
                  <a:gd name="T2" fmla="*/ 1 w 622"/>
                  <a:gd name="T3" fmla="*/ 5 h 90"/>
                  <a:gd name="T4" fmla="*/ 3 w 622"/>
                  <a:gd name="T5" fmla="*/ 9 h 90"/>
                  <a:gd name="T6" fmla="*/ 7 w 622"/>
                  <a:gd name="T7" fmla="*/ 13 h 90"/>
                  <a:gd name="T8" fmla="*/ 12 w 622"/>
                  <a:gd name="T9" fmla="*/ 18 h 90"/>
                  <a:gd name="T10" fmla="*/ 19 w 622"/>
                  <a:gd name="T11" fmla="*/ 22 h 90"/>
                  <a:gd name="T12" fmla="*/ 27 w 622"/>
                  <a:gd name="T13" fmla="*/ 26 h 90"/>
                  <a:gd name="T14" fmla="*/ 36 w 622"/>
                  <a:gd name="T15" fmla="*/ 30 h 90"/>
                  <a:gd name="T16" fmla="*/ 45 w 622"/>
                  <a:gd name="T17" fmla="*/ 32 h 90"/>
                  <a:gd name="T18" fmla="*/ 56 w 622"/>
                  <a:gd name="T19" fmla="*/ 35 h 90"/>
                  <a:gd name="T20" fmla="*/ 69 w 622"/>
                  <a:gd name="T21" fmla="*/ 38 h 90"/>
                  <a:gd name="T22" fmla="*/ 95 w 622"/>
                  <a:gd name="T23" fmla="*/ 42 h 90"/>
                  <a:gd name="T24" fmla="*/ 123 w 622"/>
                  <a:gd name="T25" fmla="*/ 45 h 90"/>
                  <a:gd name="T26" fmla="*/ 155 w 622"/>
                  <a:gd name="T27" fmla="*/ 46 h 90"/>
                  <a:gd name="T28" fmla="*/ 186 w 622"/>
                  <a:gd name="T29" fmla="*/ 45 h 90"/>
                  <a:gd name="T30" fmla="*/ 215 w 622"/>
                  <a:gd name="T31" fmla="*/ 42 h 90"/>
                  <a:gd name="T32" fmla="*/ 241 w 622"/>
                  <a:gd name="T33" fmla="*/ 38 h 90"/>
                  <a:gd name="T34" fmla="*/ 254 w 622"/>
                  <a:gd name="T35" fmla="*/ 35 h 90"/>
                  <a:gd name="T36" fmla="*/ 264 w 622"/>
                  <a:gd name="T37" fmla="*/ 32 h 90"/>
                  <a:gd name="T38" fmla="*/ 274 w 622"/>
                  <a:gd name="T39" fmla="*/ 30 h 90"/>
                  <a:gd name="T40" fmla="*/ 283 w 622"/>
                  <a:gd name="T41" fmla="*/ 26 h 90"/>
                  <a:gd name="T42" fmla="*/ 291 w 622"/>
                  <a:gd name="T43" fmla="*/ 22 h 90"/>
                  <a:gd name="T44" fmla="*/ 298 w 622"/>
                  <a:gd name="T45" fmla="*/ 18 h 90"/>
                  <a:gd name="T46" fmla="*/ 303 w 622"/>
                  <a:gd name="T47" fmla="*/ 13 h 90"/>
                  <a:gd name="T48" fmla="*/ 307 w 622"/>
                  <a:gd name="T49" fmla="*/ 9 h 90"/>
                  <a:gd name="T50" fmla="*/ 309 w 622"/>
                  <a:gd name="T51" fmla="*/ 5 h 90"/>
                  <a:gd name="T52" fmla="*/ 310 w 622"/>
                  <a:gd name="T53" fmla="*/ 0 h 9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22" h="90">
                    <a:moveTo>
                      <a:pt x="0" y="0"/>
                    </a:moveTo>
                    <a:lnTo>
                      <a:pt x="2" y="9"/>
                    </a:lnTo>
                    <a:lnTo>
                      <a:pt x="7" y="17"/>
                    </a:lnTo>
                    <a:lnTo>
                      <a:pt x="14" y="26"/>
                    </a:lnTo>
                    <a:lnTo>
                      <a:pt x="25" y="35"/>
                    </a:lnTo>
                    <a:lnTo>
                      <a:pt x="38" y="43"/>
                    </a:lnTo>
                    <a:lnTo>
                      <a:pt x="54" y="50"/>
                    </a:lnTo>
                    <a:lnTo>
                      <a:pt x="72" y="58"/>
                    </a:lnTo>
                    <a:lnTo>
                      <a:pt x="91" y="63"/>
                    </a:lnTo>
                    <a:lnTo>
                      <a:pt x="113" y="69"/>
                    </a:lnTo>
                    <a:lnTo>
                      <a:pt x="138" y="75"/>
                    </a:lnTo>
                    <a:lnTo>
                      <a:pt x="190" y="83"/>
                    </a:lnTo>
                    <a:lnTo>
                      <a:pt x="247" y="89"/>
                    </a:lnTo>
                    <a:lnTo>
                      <a:pt x="310" y="90"/>
                    </a:lnTo>
                    <a:lnTo>
                      <a:pt x="373" y="89"/>
                    </a:lnTo>
                    <a:lnTo>
                      <a:pt x="432" y="83"/>
                    </a:lnTo>
                    <a:lnTo>
                      <a:pt x="484" y="75"/>
                    </a:lnTo>
                    <a:lnTo>
                      <a:pt x="509" y="69"/>
                    </a:lnTo>
                    <a:lnTo>
                      <a:pt x="530" y="63"/>
                    </a:lnTo>
                    <a:lnTo>
                      <a:pt x="550" y="58"/>
                    </a:lnTo>
                    <a:lnTo>
                      <a:pt x="568" y="50"/>
                    </a:lnTo>
                    <a:lnTo>
                      <a:pt x="584" y="43"/>
                    </a:lnTo>
                    <a:lnTo>
                      <a:pt x="597" y="35"/>
                    </a:lnTo>
                    <a:lnTo>
                      <a:pt x="607" y="26"/>
                    </a:lnTo>
                    <a:lnTo>
                      <a:pt x="615" y="17"/>
                    </a:lnTo>
                    <a:lnTo>
                      <a:pt x="620" y="9"/>
                    </a:lnTo>
                    <a:lnTo>
                      <a:pt x="622" y="0"/>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800"/>
              </a:p>
            </p:txBody>
          </p:sp>
        </p:grpSp>
        <p:sp>
          <p:nvSpPr>
            <p:cNvPr id="120" name="Rectangle 176"/>
            <p:cNvSpPr>
              <a:spLocks noChangeArrowheads="1"/>
            </p:cNvSpPr>
            <p:nvPr/>
          </p:nvSpPr>
          <p:spPr bwMode="auto">
            <a:xfrm>
              <a:off x="1082" y="3072"/>
              <a:ext cx="212"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lnSpc>
                  <a:spcPct val="100000"/>
                </a:lnSpc>
                <a:buClrTx/>
                <a:buFontTx/>
                <a:buNone/>
              </a:pPr>
              <a:r>
                <a:rPr lang="en-US" sz="1100" dirty="0">
                  <a:solidFill>
                    <a:schemeClr val="bg1"/>
                  </a:solidFill>
                  <a:latin typeface="Times New Roman" pitchFamily="18" charset="0"/>
                  <a:cs typeface="Times New Roman" pitchFamily="18" charset="0"/>
                </a:rPr>
                <a:t>Base</a:t>
              </a:r>
              <a:br>
                <a:rPr lang="en-US" sz="1050" dirty="0">
                  <a:solidFill>
                    <a:schemeClr val="bg1"/>
                  </a:solidFill>
                  <a:latin typeface="Times New Roman" pitchFamily="18" charset="0"/>
                  <a:cs typeface="Times New Roman" pitchFamily="18" charset="0"/>
                </a:rPr>
              </a:br>
              <a:r>
                <a:rPr lang="en-US" sz="1050" dirty="0">
                  <a:solidFill>
                    <a:schemeClr val="bg1"/>
                  </a:solidFill>
                  <a:latin typeface="Times New Roman" pitchFamily="18" charset="0"/>
                  <a:cs typeface="Times New Roman" pitchFamily="18" charset="0"/>
                </a:rPr>
                <a:t>Tables</a:t>
              </a:r>
            </a:p>
          </p:txBody>
        </p:sp>
      </p:grpSp>
      <p:sp>
        <p:nvSpPr>
          <p:cNvPr id="197" name="Rectangle 177"/>
          <p:cNvSpPr>
            <a:spLocks noChangeArrowheads="1"/>
          </p:cNvSpPr>
          <p:nvPr/>
        </p:nvSpPr>
        <p:spPr bwMode="auto">
          <a:xfrm>
            <a:off x="7812087" y="3819525"/>
            <a:ext cx="2093913" cy="312738"/>
          </a:xfrm>
          <a:prstGeom prst="rect">
            <a:avLst/>
          </a:prstGeom>
          <a:solidFill>
            <a:srgbClr val="E4B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buClrTx/>
              <a:buFontTx/>
              <a:buNone/>
            </a:pPr>
            <a:r>
              <a:rPr lang="en-US" sz="1600" i="1" dirty="0">
                <a:latin typeface="Times New Roman" pitchFamily="18" charset="0"/>
                <a:cs typeface="Times New Roman" pitchFamily="18" charset="0"/>
              </a:rPr>
              <a:t>select/join</a:t>
            </a:r>
          </a:p>
        </p:txBody>
      </p:sp>
      <p:sp>
        <p:nvSpPr>
          <p:cNvPr id="198" name="AutoShape 178"/>
          <p:cNvSpPr>
            <a:spLocks noChangeArrowheads="1"/>
          </p:cNvSpPr>
          <p:nvPr/>
        </p:nvSpPr>
        <p:spPr bwMode="auto">
          <a:xfrm>
            <a:off x="8002586" y="2892425"/>
            <a:ext cx="1695450" cy="812800"/>
          </a:xfrm>
          <a:prstGeom prst="triangle">
            <a:avLst>
              <a:gd name="adj" fmla="val 50000"/>
            </a:avLst>
          </a:prstGeom>
          <a:solidFill>
            <a:srgbClr val="E4B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00000"/>
              </a:lnSpc>
              <a:buClrTx/>
              <a:buFontTx/>
              <a:buNone/>
            </a:pPr>
            <a:r>
              <a:rPr lang="en-US" sz="1600" i="1" dirty="0">
                <a:latin typeface="Times New Roman" pitchFamily="18" charset="0"/>
                <a:cs typeface="Times New Roman" pitchFamily="18" charset="0"/>
              </a:rPr>
              <a:t>Aggregate</a:t>
            </a:r>
          </a:p>
        </p:txBody>
      </p:sp>
      <p:sp>
        <p:nvSpPr>
          <p:cNvPr id="199" name="Freeform 265"/>
          <p:cNvSpPr>
            <a:spLocks/>
          </p:cNvSpPr>
          <p:nvPr/>
        </p:nvSpPr>
        <p:spPr bwMode="auto">
          <a:xfrm>
            <a:off x="8618537" y="2198689"/>
            <a:ext cx="460375" cy="593725"/>
          </a:xfrm>
          <a:custGeom>
            <a:avLst/>
            <a:gdLst>
              <a:gd name="T0" fmla="*/ 0 w 548"/>
              <a:gd name="T1" fmla="*/ 149082 h 912"/>
              <a:gd name="T2" fmla="*/ 114254 w 548"/>
              <a:gd name="T3" fmla="*/ 149082 h 912"/>
              <a:gd name="T4" fmla="*/ 114254 w 548"/>
              <a:gd name="T5" fmla="*/ 593725 h 912"/>
              <a:gd name="T6" fmla="*/ 344441 w 548"/>
              <a:gd name="T7" fmla="*/ 593725 h 912"/>
              <a:gd name="T8" fmla="*/ 344441 w 548"/>
              <a:gd name="T9" fmla="*/ 149082 h 912"/>
              <a:gd name="T10" fmla="*/ 460375 w 548"/>
              <a:gd name="T11" fmla="*/ 149082 h 912"/>
              <a:gd name="T12" fmla="*/ 230188 w 548"/>
              <a:gd name="T13" fmla="*/ 0 h 912"/>
              <a:gd name="T14" fmla="*/ 0 w 548"/>
              <a:gd name="T15" fmla="*/ 149082 h 91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48" h="912">
                <a:moveTo>
                  <a:pt x="0" y="229"/>
                </a:moveTo>
                <a:lnTo>
                  <a:pt x="136" y="229"/>
                </a:lnTo>
                <a:lnTo>
                  <a:pt x="136" y="912"/>
                </a:lnTo>
                <a:lnTo>
                  <a:pt x="410" y="912"/>
                </a:lnTo>
                <a:lnTo>
                  <a:pt x="410" y="229"/>
                </a:lnTo>
                <a:lnTo>
                  <a:pt x="548" y="229"/>
                </a:lnTo>
                <a:lnTo>
                  <a:pt x="274" y="0"/>
                </a:lnTo>
                <a:lnTo>
                  <a:pt x="0" y="229"/>
                </a:lnTo>
                <a:close/>
              </a:path>
            </a:pathLst>
          </a:custGeom>
          <a:solidFill>
            <a:srgbClr val="CC3300"/>
          </a:solidFill>
          <a:ln w="7938">
            <a:solidFill>
              <a:srgbClr val="000000"/>
            </a:solidFill>
            <a:prstDash val="solid"/>
            <a:round/>
            <a:headEnd/>
            <a:tailEnd/>
          </a:ln>
        </p:spPr>
        <p:txBody>
          <a:bodyPr/>
          <a:lstStyle/>
          <a:p>
            <a:endParaRPr lang="en-US" sz="2800"/>
          </a:p>
        </p:txBody>
      </p:sp>
      <p:sp>
        <p:nvSpPr>
          <p:cNvPr id="3" name="TextBox 2">
            <a:extLst>
              <a:ext uri="{FF2B5EF4-FFF2-40B4-BE49-F238E27FC236}">
                <a16:creationId xmlns:a16="http://schemas.microsoft.com/office/drawing/2014/main" id="{F7A523B6-4562-DEDC-2C3A-21B2D36A8DE9}"/>
              </a:ext>
            </a:extLst>
          </p:cNvPr>
          <p:cNvSpPr txBox="1">
            <a:spLocks noChangeArrowheads="1"/>
          </p:cNvSpPr>
          <p:nvPr/>
        </p:nvSpPr>
        <p:spPr bwMode="auto">
          <a:xfrm>
            <a:off x="76200" y="6430064"/>
            <a:ext cx="2066976"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Materialized views</a:t>
            </a:r>
          </a:p>
        </p:txBody>
      </p:sp>
    </p:spTree>
    <p:extLst>
      <p:ext uri="{BB962C8B-B14F-4D97-AF65-F5344CB8AC3E}">
        <p14:creationId xmlns:p14="http://schemas.microsoft.com/office/powerpoint/2010/main" val="150573624"/>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Hybrid - Immediate Propagate, Deferred Applied</a:t>
            </a:r>
          </a:p>
        </p:txBody>
      </p:sp>
      <p:pic>
        <p:nvPicPr>
          <p:cNvPr id="10" name="Picture 9"/>
          <p:cNvPicPr>
            <a:picLocks noChangeAspect="1"/>
          </p:cNvPicPr>
          <p:nvPr/>
        </p:nvPicPr>
        <p:blipFill>
          <a:blip r:embed="rId2"/>
          <a:stretch>
            <a:fillRect/>
          </a:stretch>
        </p:blipFill>
        <p:spPr>
          <a:xfrm>
            <a:off x="228600" y="887270"/>
            <a:ext cx="8766796" cy="5437330"/>
          </a:xfrm>
          <a:prstGeom prst="rect">
            <a:avLst/>
          </a:prstGeom>
        </p:spPr>
      </p:pic>
      <p:sp>
        <p:nvSpPr>
          <p:cNvPr id="3" name="TextBox 2">
            <a:extLst>
              <a:ext uri="{FF2B5EF4-FFF2-40B4-BE49-F238E27FC236}">
                <a16:creationId xmlns:a16="http://schemas.microsoft.com/office/drawing/2014/main" id="{6DE06324-DDEC-A5BF-7308-63E7B860DB21}"/>
              </a:ext>
            </a:extLst>
          </p:cNvPr>
          <p:cNvSpPr txBox="1">
            <a:spLocks noChangeArrowheads="1"/>
          </p:cNvSpPr>
          <p:nvPr/>
        </p:nvSpPr>
        <p:spPr bwMode="auto">
          <a:xfrm>
            <a:off x="76200" y="6430064"/>
            <a:ext cx="2066976"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Materialized views</a:t>
            </a:r>
          </a:p>
        </p:txBody>
      </p:sp>
      <p:sp>
        <p:nvSpPr>
          <p:cNvPr id="4" name="Rectangle 3">
            <a:extLst>
              <a:ext uri="{FF2B5EF4-FFF2-40B4-BE49-F238E27FC236}">
                <a16:creationId xmlns:a16="http://schemas.microsoft.com/office/drawing/2014/main" id="{54C8F947-EF3D-E872-9D43-4F141E4DDDCE}"/>
              </a:ext>
            </a:extLst>
          </p:cNvPr>
          <p:cNvSpPr/>
          <p:nvPr/>
        </p:nvSpPr>
        <p:spPr bwMode="auto">
          <a:xfrm>
            <a:off x="533400" y="5334000"/>
            <a:ext cx="4191000" cy="914400"/>
          </a:xfrm>
          <a:prstGeom prst="rect">
            <a:avLst/>
          </a:prstGeom>
          <a:solidFill>
            <a:schemeClr val="bg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spTree>
    <p:extLst>
      <p:ext uri="{BB962C8B-B14F-4D97-AF65-F5344CB8AC3E}">
        <p14:creationId xmlns:p14="http://schemas.microsoft.com/office/powerpoint/2010/main" val="2231624813"/>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DB2 MQT </a:t>
            </a:r>
            <a:r>
              <a:rPr lang="en-US" dirty="0" err="1"/>
              <a:t>vs</a:t>
            </a:r>
            <a:r>
              <a:rPr lang="en-US" dirty="0"/>
              <a:t> Oracle Materialized Views</a:t>
            </a:r>
          </a:p>
        </p:txBody>
      </p:sp>
      <p:pic>
        <p:nvPicPr>
          <p:cNvPr id="54274" name="Picture 2"/>
          <p:cNvPicPr>
            <a:picLocks noChangeAspect="1" noChangeArrowheads="1"/>
          </p:cNvPicPr>
          <p:nvPr/>
        </p:nvPicPr>
        <p:blipFill>
          <a:blip r:embed="rId2" cstate="print"/>
          <a:srcRect/>
          <a:stretch>
            <a:fillRect/>
          </a:stretch>
        </p:blipFill>
        <p:spPr bwMode="auto">
          <a:xfrm>
            <a:off x="2514600" y="666533"/>
            <a:ext cx="8055665" cy="5658067"/>
          </a:xfrm>
          <a:prstGeom prst="rect">
            <a:avLst/>
          </a:prstGeom>
          <a:noFill/>
          <a:ln w="9525">
            <a:noFill/>
            <a:miter lim="800000"/>
            <a:headEnd/>
            <a:tailEnd/>
          </a:ln>
        </p:spPr>
      </p:pic>
      <p:sp>
        <p:nvSpPr>
          <p:cNvPr id="3" name="TextBox 2">
            <a:extLst>
              <a:ext uri="{FF2B5EF4-FFF2-40B4-BE49-F238E27FC236}">
                <a16:creationId xmlns:a16="http://schemas.microsoft.com/office/drawing/2014/main" id="{5BBF1352-EFC9-9882-3F06-E1F4CE4E203C}"/>
              </a:ext>
            </a:extLst>
          </p:cNvPr>
          <p:cNvSpPr txBox="1">
            <a:spLocks noChangeArrowheads="1"/>
          </p:cNvSpPr>
          <p:nvPr/>
        </p:nvSpPr>
        <p:spPr bwMode="auto">
          <a:xfrm>
            <a:off x="76200" y="6430064"/>
            <a:ext cx="2066976" cy="338554"/>
          </a:xfrm>
          <a:prstGeom prst="rect">
            <a:avLst/>
          </a:prstGeom>
          <a:noFill/>
          <a:ln w="9525">
            <a:noFill/>
            <a:miter lim="800000"/>
            <a:headEnd/>
            <a:tailEnd/>
          </a:ln>
        </p:spPr>
        <p:txBody>
          <a:bodyPr wrap="none">
            <a:spAutoFit/>
          </a:bodyPr>
          <a:lstStyle/>
          <a:p>
            <a:r>
              <a:rPr lang="en-US" sz="1600" dirty="0">
                <a:solidFill>
                  <a:schemeClr val="bg1"/>
                </a:solidFill>
                <a:latin typeface="Verdana" pitchFamily="34" charset="0"/>
              </a:rPr>
              <a:t>Materialized views</a:t>
            </a:r>
          </a:p>
        </p:txBody>
      </p:sp>
      <p:sp>
        <p:nvSpPr>
          <p:cNvPr id="4" name="Rectangle 3">
            <a:extLst>
              <a:ext uri="{FF2B5EF4-FFF2-40B4-BE49-F238E27FC236}">
                <a16:creationId xmlns:a16="http://schemas.microsoft.com/office/drawing/2014/main" id="{5B28D6E0-4051-D0F0-99CA-4BB600A7FD16}"/>
              </a:ext>
            </a:extLst>
          </p:cNvPr>
          <p:cNvSpPr/>
          <p:nvPr/>
        </p:nvSpPr>
        <p:spPr bwMode="auto">
          <a:xfrm>
            <a:off x="2590800" y="1169236"/>
            <a:ext cx="2133600" cy="533400"/>
          </a:xfrm>
          <a:prstGeom prst="rect">
            <a:avLst/>
          </a:prstGeom>
          <a:noFill/>
          <a:ln w="12700" cap="flat" cmpd="sng" algn="ctr">
            <a:solidFill>
              <a:srgbClr val="FF99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sp>
        <p:nvSpPr>
          <p:cNvPr id="5" name="Rectangle 4">
            <a:extLst>
              <a:ext uri="{FF2B5EF4-FFF2-40B4-BE49-F238E27FC236}">
                <a16:creationId xmlns:a16="http://schemas.microsoft.com/office/drawing/2014/main" id="{17FD67D5-0C49-04EC-D361-4D21FB94C721}"/>
              </a:ext>
            </a:extLst>
          </p:cNvPr>
          <p:cNvSpPr/>
          <p:nvPr/>
        </p:nvSpPr>
        <p:spPr bwMode="auto">
          <a:xfrm>
            <a:off x="6629400" y="1143000"/>
            <a:ext cx="2819400" cy="990600"/>
          </a:xfrm>
          <a:prstGeom prst="rect">
            <a:avLst/>
          </a:prstGeom>
          <a:noFill/>
          <a:ln w="12700" cap="flat" cmpd="sng" algn="ctr">
            <a:solidFill>
              <a:srgbClr val="FF99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sp>
        <p:nvSpPr>
          <p:cNvPr id="6" name="Rectangle 5">
            <a:extLst>
              <a:ext uri="{FF2B5EF4-FFF2-40B4-BE49-F238E27FC236}">
                <a16:creationId xmlns:a16="http://schemas.microsoft.com/office/drawing/2014/main" id="{48752DA7-3DC8-74A5-4325-3B14A4A275E7}"/>
              </a:ext>
            </a:extLst>
          </p:cNvPr>
          <p:cNvSpPr/>
          <p:nvPr/>
        </p:nvSpPr>
        <p:spPr bwMode="auto">
          <a:xfrm>
            <a:off x="2590800" y="5430180"/>
            <a:ext cx="3429000" cy="818220"/>
          </a:xfrm>
          <a:prstGeom prst="rect">
            <a:avLst/>
          </a:prstGeom>
          <a:noFill/>
          <a:ln w="12700" cap="flat" cmpd="sng" algn="ctr">
            <a:solidFill>
              <a:srgbClr val="FF99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Siemens Sans Black" pitchFamily="2" charset="0"/>
            </a:endParaRPr>
          </a:p>
        </p:txBody>
      </p:sp>
      <p:sp>
        <p:nvSpPr>
          <p:cNvPr id="7" name="TextBox 6">
            <a:extLst>
              <a:ext uri="{FF2B5EF4-FFF2-40B4-BE49-F238E27FC236}">
                <a16:creationId xmlns:a16="http://schemas.microsoft.com/office/drawing/2014/main" id="{F0AF90E0-F667-1E81-E296-AF8396B9070B}"/>
              </a:ext>
            </a:extLst>
          </p:cNvPr>
          <p:cNvSpPr txBox="1"/>
          <p:nvPr/>
        </p:nvSpPr>
        <p:spPr>
          <a:xfrm>
            <a:off x="7086600" y="5985085"/>
            <a:ext cx="4382354" cy="369332"/>
          </a:xfrm>
          <a:prstGeom prst="rect">
            <a:avLst/>
          </a:prstGeom>
          <a:noFill/>
        </p:spPr>
        <p:txBody>
          <a:bodyPr wrap="none" rtlCol="0">
            <a:spAutoFit/>
          </a:bodyPr>
          <a:lstStyle/>
          <a:p>
            <a:r>
              <a:rPr lang="en-US" dirty="0" err="1"/>
              <a:t>MysQL</a:t>
            </a:r>
            <a:r>
              <a:rPr lang="en-US" dirty="0"/>
              <a:t> doesn’t support materialized view</a:t>
            </a:r>
          </a:p>
        </p:txBody>
      </p:sp>
    </p:spTree>
    <p:extLst>
      <p:ext uri="{BB962C8B-B14F-4D97-AF65-F5344CB8AC3E}">
        <p14:creationId xmlns:p14="http://schemas.microsoft.com/office/powerpoint/2010/main" val="1978878777"/>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4AB0A-CE88-D4C6-8097-D55CF78A72DA}"/>
              </a:ext>
            </a:extLst>
          </p:cNvPr>
          <p:cNvSpPr>
            <a:spLocks noGrp="1"/>
          </p:cNvSpPr>
          <p:nvPr>
            <p:ph type="title"/>
          </p:nvPr>
        </p:nvSpPr>
        <p:spPr/>
        <p:txBody>
          <a:bodyPr/>
          <a:lstStyle/>
          <a:p>
            <a:r>
              <a:rPr lang="en-US" dirty="0"/>
              <a:t>Support of Materialized Views</a:t>
            </a:r>
          </a:p>
        </p:txBody>
      </p:sp>
      <p:sp>
        <p:nvSpPr>
          <p:cNvPr id="3" name="Content Placeholder 2">
            <a:extLst>
              <a:ext uri="{FF2B5EF4-FFF2-40B4-BE49-F238E27FC236}">
                <a16:creationId xmlns:a16="http://schemas.microsoft.com/office/drawing/2014/main" id="{963AFEB5-1B37-2A47-E606-ADC1F392472E}"/>
              </a:ext>
            </a:extLst>
          </p:cNvPr>
          <p:cNvSpPr>
            <a:spLocks noGrp="1"/>
          </p:cNvSpPr>
          <p:nvPr>
            <p:ph idx="1"/>
          </p:nvPr>
        </p:nvSpPr>
        <p:spPr/>
        <p:txBody>
          <a:bodyPr/>
          <a:lstStyle/>
          <a:p>
            <a:r>
              <a:rPr lang="en-US" dirty="0"/>
              <a:t>Oracle Database, Microsoft SQL Server, IBM Db2, SAP HANA, PostgreSQL, Amazon Redshift, Google </a:t>
            </a:r>
            <a:r>
              <a:rPr lang="en-US" dirty="0" err="1"/>
              <a:t>BigQuery</a:t>
            </a:r>
            <a:r>
              <a:rPr lang="en-US" dirty="0"/>
              <a:t>, Snowflake, Azure SQL Database</a:t>
            </a:r>
          </a:p>
          <a:p>
            <a:endParaRPr lang="en-US" dirty="0"/>
          </a:p>
          <a:p>
            <a:pPr marL="0" indent="0">
              <a:buNone/>
            </a:pPr>
            <a:r>
              <a:rPr lang="en-US" dirty="0"/>
              <a:t>(Note: MySQL, MariaDB, and SQLite have partial or workaround solutions but lack native materialized view support.)</a:t>
            </a:r>
          </a:p>
        </p:txBody>
      </p:sp>
    </p:spTree>
    <p:extLst>
      <p:ext uri="{BB962C8B-B14F-4D97-AF65-F5344CB8AC3E}">
        <p14:creationId xmlns:p14="http://schemas.microsoft.com/office/powerpoint/2010/main" val="2124878088"/>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r>
              <a:rPr lang="en-US" dirty="0"/>
              <a:t>OLAP </a:t>
            </a:r>
            <a:r>
              <a:rPr lang="en-US" dirty="0" err="1"/>
              <a:t>supergroups</a:t>
            </a:r>
            <a:r>
              <a:rPr lang="en-US" dirty="0"/>
              <a:t> and analytical functions are highly efficient as often a single table scan is needed</a:t>
            </a:r>
          </a:p>
          <a:p>
            <a:r>
              <a:rPr lang="en-US" dirty="0"/>
              <a:t>Materialized view provides caching and maintenance of summary results for optimizing queries</a:t>
            </a:r>
          </a:p>
          <a:p>
            <a:r>
              <a:rPr lang="en-US" dirty="0"/>
              <a:t>More complex data analysis such as data mining/statistics could be supported by:</a:t>
            </a:r>
          </a:p>
          <a:p>
            <a:pPr lvl="1"/>
            <a:r>
              <a:rPr lang="en-US" dirty="0"/>
              <a:t>User defined aggregate (UDA) (Teradata, MS SQL Server, Oracle, etc, performance varies)</a:t>
            </a:r>
          </a:p>
          <a:p>
            <a:pPr lvl="1"/>
            <a:r>
              <a:rPr lang="en-US" dirty="0"/>
              <a:t>Stored procedures</a:t>
            </a:r>
          </a:p>
          <a:p>
            <a:pPr lvl="1"/>
            <a:r>
              <a:rPr lang="en-US" dirty="0"/>
              <a:t>User defined functions (UDF) could be an alternative solution</a:t>
            </a:r>
          </a:p>
        </p:txBody>
      </p:sp>
    </p:spTree>
    <p:extLst>
      <p:ext uri="{BB962C8B-B14F-4D97-AF65-F5344CB8AC3E}">
        <p14:creationId xmlns:p14="http://schemas.microsoft.com/office/powerpoint/2010/main" val="2869835734"/>
      </p:ext>
    </p:extLst>
  </p:cSld>
  <p:clrMapOvr>
    <a:masterClrMapping/>
  </p:clrMapOvr>
  <p:transition/>
</p:sld>
</file>

<file path=ppt/theme/theme1.xml><?xml version="1.0" encoding="utf-8"?>
<a:theme xmlns:a="http://schemas.openxmlformats.org/drawingml/2006/main" name="1_Stony Brook Universit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2_Standard">
  <a:themeElements>
    <a:clrScheme name="siemens internal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iemens intern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rgbClr val="FF99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Siemens Sans Black" pitchFamily="2" charset="0"/>
          </a:defRPr>
        </a:defPPr>
      </a:lstStyle>
    </a:spDef>
    <a:lnDef>
      <a:spPr bwMode="auto">
        <a:xfrm>
          <a:off x="0" y="0"/>
          <a:ext cx="1" cy="1"/>
        </a:xfrm>
        <a:custGeom>
          <a:avLst/>
          <a:gdLst/>
          <a:ahLst/>
          <a:cxnLst/>
          <a:rect l="0" t="0" r="0" b="0"/>
          <a:pathLst/>
        </a:custGeom>
        <a:noFill/>
        <a:ln w="12700" cap="flat" cmpd="sng" algn="ctr">
          <a:solidFill>
            <a:srgbClr val="FF99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Siemens Sans Black" pitchFamily="2" charset="0"/>
          </a:defRPr>
        </a:defPPr>
      </a:lstStyle>
    </a:lnDef>
  </a:objectDefaults>
  <a:extraClrSchemeLst>
    <a:extraClrScheme>
      <a:clrScheme name="siemens internal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iemens internal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iemens internal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iemens internal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iemens internal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iemens internal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iemens internal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Standard">
  <a:themeElements>
    <a:clrScheme name="siemens internal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iemens intern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rgbClr val="FF99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Siemens Sans Black" pitchFamily="2" charset="0"/>
          </a:defRPr>
        </a:defPPr>
      </a:lstStyle>
    </a:spDef>
    <a:lnDef>
      <a:spPr bwMode="auto">
        <a:xfrm>
          <a:off x="0" y="0"/>
          <a:ext cx="1" cy="1"/>
        </a:xfrm>
        <a:custGeom>
          <a:avLst/>
          <a:gdLst/>
          <a:ahLst/>
          <a:cxnLst/>
          <a:rect l="0" t="0" r="0" b="0"/>
          <a:pathLst/>
        </a:custGeom>
        <a:noFill/>
        <a:ln w="12700" cap="flat" cmpd="sng" algn="ctr">
          <a:solidFill>
            <a:srgbClr val="FF99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Siemens Sans Black" pitchFamily="2" charset="0"/>
          </a:defRPr>
        </a:defPPr>
      </a:lstStyle>
    </a:lnDef>
  </a:objectDefaults>
  <a:extraClrSchemeLst>
    <a:extraClrScheme>
      <a:clrScheme name="siemens internal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iemens internal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iemens internal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iemens internal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iemens internal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iemens internal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iemens internal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siemens internal">
  <a:themeElements>
    <a:clrScheme name="siemens internal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iemens intern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rgbClr val="FF99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Siemens Sans Black" pitchFamily="2" charset="0"/>
          </a:defRPr>
        </a:defPPr>
      </a:lstStyle>
    </a:spDef>
    <a:lnDef>
      <a:spPr bwMode="auto">
        <a:xfrm>
          <a:off x="0" y="0"/>
          <a:ext cx="1" cy="1"/>
        </a:xfrm>
        <a:custGeom>
          <a:avLst/>
          <a:gdLst/>
          <a:ahLst/>
          <a:cxnLst/>
          <a:rect l="0" t="0" r="0" b="0"/>
          <a:pathLst/>
        </a:custGeom>
        <a:noFill/>
        <a:ln w="12700" cap="flat" cmpd="sng" algn="ctr">
          <a:solidFill>
            <a:srgbClr val="FF99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Siemens Sans Black" pitchFamily="2" charset="0"/>
          </a:defRPr>
        </a:defPPr>
      </a:lstStyle>
    </a:lnDef>
  </a:objectDefaults>
  <a:extraClrSchemeLst>
    <a:extraClrScheme>
      <a:clrScheme name="siemens internal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iemens internal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iemens internal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iemens internal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iemens internal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iemens internal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iemens internal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2_siemens internal">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siemens intern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rgbClr val="FF99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Siemens Sans Black" pitchFamily="2" charset="0"/>
          </a:defRPr>
        </a:defPPr>
      </a:lstStyle>
    </a:spDef>
    <a:lnDef>
      <a:spPr bwMode="auto">
        <a:xfrm>
          <a:off x="0" y="0"/>
          <a:ext cx="1" cy="1"/>
        </a:xfrm>
        <a:custGeom>
          <a:avLst/>
          <a:gdLst/>
          <a:ahLst/>
          <a:cxnLst/>
          <a:rect l="0" t="0" r="0" b="0"/>
          <a:pathLst/>
        </a:custGeom>
        <a:noFill/>
        <a:ln w="12700" cap="flat" cmpd="sng" algn="ctr">
          <a:solidFill>
            <a:srgbClr val="FF99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Siemens Sans Black" pitchFamily="2" charset="0"/>
          </a:defRPr>
        </a:defPPr>
      </a:lstStyle>
    </a:lnDef>
  </a:objectDefaults>
  <a:extraClrSchemeLst>
    <a:extraClrScheme>
      <a:clrScheme name="siemens internal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iemens internal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iemens internal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iemens internal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iemens internal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iemens internal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iemens internal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Stony Brook Universit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0.xml><?xml version="1.0" encoding="utf-8"?>
<a:theme xmlns:a="http://schemas.openxmlformats.org/drawingml/2006/main" name="1_Standard">
  <a:themeElements>
    <a:clrScheme name="siemens internal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iemens intern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rgbClr val="FF99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Siemens Sans Black" pitchFamily="2" charset="0"/>
          </a:defRPr>
        </a:defPPr>
      </a:lstStyle>
    </a:spDef>
    <a:lnDef>
      <a:spPr bwMode="auto">
        <a:xfrm>
          <a:off x="0" y="0"/>
          <a:ext cx="1" cy="1"/>
        </a:xfrm>
        <a:custGeom>
          <a:avLst/>
          <a:gdLst/>
          <a:ahLst/>
          <a:cxnLst/>
          <a:rect l="0" t="0" r="0" b="0"/>
          <a:pathLst/>
        </a:custGeom>
        <a:noFill/>
        <a:ln w="12700" cap="flat" cmpd="sng" algn="ctr">
          <a:solidFill>
            <a:srgbClr val="FF99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Siemens Sans Black" pitchFamily="2" charset="0"/>
          </a:defRPr>
        </a:defPPr>
      </a:lstStyle>
    </a:lnDef>
  </a:objectDefaults>
  <a:extraClrSchemeLst>
    <a:extraClrScheme>
      <a:clrScheme name="siemens internal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iemens internal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iemens internal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iemens internal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iemens internal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iemens internal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iemens internal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EmoryTheme</Template>
  <TotalTime>14058</TotalTime>
  <Words>8012</Words>
  <Application>Microsoft Office PowerPoint</Application>
  <PresentationFormat>Widescreen</PresentationFormat>
  <Paragraphs>1236</Paragraphs>
  <Slides>88</Slides>
  <Notes>34</Notes>
  <HiddenSlides>5</HiddenSlides>
  <MMClips>0</MMClips>
  <ScaleCrop>false</ScaleCrop>
  <HeadingPairs>
    <vt:vector size="8" baseType="variant">
      <vt:variant>
        <vt:lpstr>Fonts Used</vt:lpstr>
      </vt:variant>
      <vt:variant>
        <vt:i4>19</vt:i4>
      </vt:variant>
      <vt:variant>
        <vt:lpstr>Theme</vt:lpstr>
      </vt:variant>
      <vt:variant>
        <vt:i4>10</vt:i4>
      </vt:variant>
      <vt:variant>
        <vt:lpstr>Embedded OLE Servers</vt:lpstr>
      </vt:variant>
      <vt:variant>
        <vt:i4>1</vt:i4>
      </vt:variant>
      <vt:variant>
        <vt:lpstr>Slide Titles</vt:lpstr>
      </vt:variant>
      <vt:variant>
        <vt:i4>88</vt:i4>
      </vt:variant>
    </vt:vector>
  </HeadingPairs>
  <TitlesOfParts>
    <vt:vector size="118" baseType="lpstr">
      <vt:lpstr>Arial Unicode MS</vt:lpstr>
      <vt:lpstr>Lucida Grande</vt:lpstr>
      <vt:lpstr>Monaco</vt:lpstr>
      <vt:lpstr>ＭＳ Ｐゴシック</vt:lpstr>
      <vt:lpstr>quote-cjk-patch</vt:lpstr>
      <vt:lpstr>Siemens Sans</vt:lpstr>
      <vt:lpstr>Siemens Sans Black</vt:lpstr>
      <vt:lpstr>Aptos</vt:lpstr>
      <vt:lpstr>Arial</vt:lpstr>
      <vt:lpstr>Arial Narrow</vt:lpstr>
      <vt:lpstr>Calibri</vt:lpstr>
      <vt:lpstr>Consolas</vt:lpstr>
      <vt:lpstr>Courier New</vt:lpstr>
      <vt:lpstr>Helvetica</vt:lpstr>
      <vt:lpstr>Open Sans</vt:lpstr>
      <vt:lpstr>Roboto</vt:lpstr>
      <vt:lpstr>Times New Roman</vt:lpstr>
      <vt:lpstr>Verdana</vt:lpstr>
      <vt:lpstr>Wingdings</vt:lpstr>
      <vt:lpstr>1_Stony Brook University</vt:lpstr>
      <vt:lpstr>2_Standard</vt:lpstr>
      <vt:lpstr>Standard</vt:lpstr>
      <vt:lpstr>1_siemens internal</vt:lpstr>
      <vt:lpstr>2_siemens internal</vt:lpstr>
      <vt:lpstr>Office Theme</vt:lpstr>
      <vt:lpstr>1_Office Theme</vt:lpstr>
      <vt:lpstr>2_Office Theme</vt:lpstr>
      <vt:lpstr>Stony Brook University</vt:lpstr>
      <vt:lpstr>1_Standard</vt:lpstr>
      <vt:lpstr>Image</vt:lpstr>
      <vt:lpstr>PowerPoint Presentation</vt:lpstr>
      <vt:lpstr>PowerPoint Presentation</vt:lpstr>
      <vt:lpstr>Table Expressions</vt:lpstr>
      <vt:lpstr>Common Table Expressions</vt:lpstr>
      <vt:lpstr>Common Table Expressions</vt:lpstr>
      <vt:lpstr>Common Table Expressions</vt:lpstr>
      <vt:lpstr>Recursive Queries</vt:lpstr>
      <vt:lpstr>Examples for Problems Requiring Recursion</vt:lpstr>
      <vt:lpstr>Recursive queries in SQL:1999</vt:lpstr>
      <vt:lpstr>Example</vt:lpstr>
      <vt:lpstr>Example Recursive Queries </vt:lpstr>
      <vt:lpstr>Example Recursive Queries  with IBM Db2 Syntax </vt:lpstr>
      <vt:lpstr>Example</vt:lpstr>
      <vt:lpstr>Execution of Recursive Queries</vt:lpstr>
      <vt:lpstr>Recursive Query Discussion</vt:lpstr>
      <vt:lpstr>Alternative Oracle Recursive Query Example (Hierarchical Query; Non-Standard)</vt:lpstr>
      <vt:lpstr>PowerPoint Presentation</vt:lpstr>
      <vt:lpstr>Introduction of Decision Support</vt:lpstr>
      <vt:lpstr>Concepts</vt:lpstr>
      <vt:lpstr>OLAP Introduction</vt:lpstr>
      <vt:lpstr>The Star Schema</vt:lpstr>
      <vt:lpstr>Snowflake Schema</vt:lpstr>
      <vt:lpstr>Cross Tabulation</vt:lpstr>
      <vt:lpstr>Cross Tabulation and its Relational Representation</vt:lpstr>
      <vt:lpstr>OLAP Terminology</vt:lpstr>
      <vt:lpstr>OLAP Terminology (2)</vt:lpstr>
      <vt:lpstr>Extended Aggregation</vt:lpstr>
      <vt:lpstr>Example Census Database</vt:lpstr>
      <vt:lpstr>ROLLUP</vt:lpstr>
      <vt:lpstr>ROLLUP (MySQL Alternative)</vt:lpstr>
      <vt:lpstr>UNION (Multiple Table Scans!)</vt:lpstr>
      <vt:lpstr>Example ROLLUP Query Result</vt:lpstr>
      <vt:lpstr>Getting Rid of NULLs</vt:lpstr>
      <vt:lpstr>Getting Rid of NULLs: Result</vt:lpstr>
      <vt:lpstr>How about Changing the Order of Columns?</vt:lpstr>
      <vt:lpstr>CUBE</vt:lpstr>
      <vt:lpstr>Example Cube Query Result</vt:lpstr>
      <vt:lpstr>Grouping Sets</vt:lpstr>
      <vt:lpstr>Grouping Sets</vt:lpstr>
      <vt:lpstr>Grouping Sets</vt:lpstr>
      <vt:lpstr>Overview</vt:lpstr>
      <vt:lpstr>PowerPoint Presentation</vt:lpstr>
      <vt:lpstr>Pivoting a Table (Transpose)</vt:lpstr>
      <vt:lpstr>Pivoting in SQL: FILTER for GROUP BY</vt:lpstr>
      <vt:lpstr>FILTER for GROUP BY</vt:lpstr>
      <vt:lpstr>DBMS with FILTER Support</vt:lpstr>
      <vt:lpstr>Pivoting in SQL: Case</vt:lpstr>
      <vt:lpstr>Pivoting in SQL: PIVOT Clause</vt:lpstr>
      <vt:lpstr>PowerPoint Presentation</vt:lpstr>
      <vt:lpstr>Aggregations: Number-Based</vt:lpstr>
      <vt:lpstr>Aggregations: Statistics-Based</vt:lpstr>
      <vt:lpstr>Aggregations: Statistics-Based: Percentile</vt:lpstr>
      <vt:lpstr>Aggregate Functions: String Based</vt:lpstr>
      <vt:lpstr>JSON_ARRAYAGG Example</vt:lpstr>
      <vt:lpstr>Aggregations: Regression</vt:lpstr>
      <vt:lpstr>Regression Example</vt:lpstr>
      <vt:lpstr>PowerPoint Presentation</vt:lpstr>
      <vt:lpstr>Traditional GROUP BY </vt:lpstr>
      <vt:lpstr>OVER Clause</vt:lpstr>
      <vt:lpstr>Grouping versus OVER</vt:lpstr>
      <vt:lpstr>OVER vs GROUP BY</vt:lpstr>
      <vt:lpstr>PowerPoint Presentation</vt:lpstr>
      <vt:lpstr>Ranking</vt:lpstr>
      <vt:lpstr>Example RANK Query</vt:lpstr>
      <vt:lpstr>RANKING with PARITION</vt:lpstr>
      <vt:lpstr>Top N Queries</vt:lpstr>
      <vt:lpstr>OVER with Aggregates</vt:lpstr>
      <vt:lpstr>Alternative Approach: Using Common Table Expression</vt:lpstr>
      <vt:lpstr>Summary of Partitioning (OVER) Based Operations</vt:lpstr>
      <vt:lpstr>PowerPoint Presentation</vt:lpstr>
      <vt:lpstr>Windowing</vt:lpstr>
      <vt:lpstr>Windowing Relationships</vt:lpstr>
      <vt:lpstr>A Window Example: Moving Average</vt:lpstr>
      <vt:lpstr>Rows versus Range</vt:lpstr>
      <vt:lpstr>LAG/LEAD</vt:lpstr>
      <vt:lpstr>Overview</vt:lpstr>
      <vt:lpstr>PowerPoint Presentation</vt:lpstr>
      <vt:lpstr>Materialized Query Table/Materialized View</vt:lpstr>
      <vt:lpstr>Usages of MQTs – At a High Level</vt:lpstr>
      <vt:lpstr>How Query Can Be Routed to MQT</vt:lpstr>
      <vt:lpstr>MQT Creation</vt:lpstr>
      <vt:lpstr>Types of MQTs</vt:lpstr>
      <vt:lpstr>Incremental Maintenance: Apply Changes Immediately</vt:lpstr>
      <vt:lpstr>Full Maintenance: Fully Rebuilt by Re-evaluating Query</vt:lpstr>
      <vt:lpstr>Hybrid - Immediate Propagate, Deferred Applied</vt:lpstr>
      <vt:lpstr>DB2 MQT vs Oracle Materialized Views</vt:lpstr>
      <vt:lpstr>Support of Materialized Views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SATO: A Spatial Data Partitioning Framework for Scalable Query Processing</dc:title>
  <dc:creator>Hoang Vo</dc:creator>
  <cp:lastModifiedBy>Fusheng Wang</cp:lastModifiedBy>
  <cp:revision>1685</cp:revision>
  <cp:lastPrinted>2015-08-17T21:47:31Z</cp:lastPrinted>
  <dcterms:created xsi:type="dcterms:W3CDTF">2014-10-10T03:49:09Z</dcterms:created>
  <dcterms:modified xsi:type="dcterms:W3CDTF">2025-06-17T03:40:30Z</dcterms:modified>
</cp:coreProperties>
</file>