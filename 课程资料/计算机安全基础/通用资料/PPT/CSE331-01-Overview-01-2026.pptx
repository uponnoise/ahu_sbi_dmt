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35"/>
  </p:normalViewPr>
  <p:slideViewPr>
    <p:cSldViewPr snapToGrid="0">
      <p:cViewPr varScale="1">
        <p:scale>
          <a:sx n="57" d="100"/>
          <a:sy n="57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" name="Shape 1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Xinrui Yu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4" name="Shape 2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Multidisciplinary by nature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8" name="Shape 23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Xinrui Yu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32241774_2880x1920.jpg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532204087_1355x1355.jpg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532205080_1647x1098.jpg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 b="1"/>
            </a:lvl1pPr>
            <a:lvl2pPr marL="1117600" indent="-558800">
              <a:spcBef>
                <a:spcPts val="4500"/>
              </a:spcBef>
              <a:defRPr sz="3800" b="1"/>
            </a:lvl2pPr>
            <a:lvl3pPr marL="1676400" indent="-558800">
              <a:spcBef>
                <a:spcPts val="4500"/>
              </a:spcBef>
              <a:defRPr sz="3800" b="1"/>
            </a:lvl3pPr>
            <a:lvl4pPr marL="2235200" indent="-558800">
              <a:spcBef>
                <a:spcPts val="4500"/>
              </a:spcBef>
              <a:defRPr sz="3800" b="1"/>
            </a:lvl4pPr>
            <a:lvl5pPr marL="2794000" indent="-558800">
              <a:spcBef>
                <a:spcPts val="4500"/>
              </a:spcBef>
              <a:defRPr sz="3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532205080_1647x1098.jpg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532204087_1355x1355.jpg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532241774_2880x1920.jpg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532241774_2880x1920.jpg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 sz="8000" b="1">
                <a:solidFill>
                  <a:srgbClr val="009AC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</p:spPr>
        <p:txBody>
          <a:bodyPr lIns="71437" tIns="71437" rIns="71437" bIns="71437"/>
          <a:lstStyle>
            <a:lvl1pPr marL="617361" indent="-617361" defTabSz="821531">
              <a:spcBef>
                <a:spcPts val="0"/>
              </a:spcBef>
              <a:buSzPct val="75000"/>
              <a:defRPr sz="5000">
                <a:latin typeface="Helvetica"/>
                <a:ea typeface="Helvetica"/>
                <a:cs typeface="Helvetica"/>
                <a:sym typeface="Helvetica"/>
              </a:defRPr>
            </a:lvl1pPr>
            <a:lvl2pPr marL="1061861" indent="-617361" defTabSz="821531">
              <a:spcBef>
                <a:spcPts val="0"/>
              </a:spcBef>
              <a:buSzPct val="75000"/>
              <a:defRPr sz="5000">
                <a:latin typeface="Helvetica"/>
                <a:ea typeface="Helvetica"/>
                <a:cs typeface="Helvetica"/>
                <a:sym typeface="Helvetica"/>
              </a:defRPr>
            </a:lvl2pPr>
            <a:lvl3pPr marL="1506361" indent="-617361" defTabSz="821531">
              <a:spcBef>
                <a:spcPts val="0"/>
              </a:spcBef>
              <a:buSzPct val="75000"/>
              <a:defRPr sz="5000">
                <a:latin typeface="Helvetica"/>
                <a:ea typeface="Helvetica"/>
                <a:cs typeface="Helvetica"/>
                <a:sym typeface="Helvetica"/>
              </a:defRPr>
            </a:lvl3pPr>
            <a:lvl4pPr marL="1950861" indent="-617361" defTabSz="821531">
              <a:spcBef>
                <a:spcPts val="0"/>
              </a:spcBef>
              <a:buSzPct val="75000"/>
              <a:defRPr sz="5000">
                <a:latin typeface="Helvetica"/>
                <a:ea typeface="Helvetica"/>
                <a:cs typeface="Helvetica"/>
                <a:sym typeface="Helvetica"/>
              </a:defRPr>
            </a:lvl4pPr>
            <a:lvl5pPr marL="2395361" indent="-617361" defTabSz="821531">
              <a:spcBef>
                <a:spcPts val="0"/>
              </a:spcBef>
              <a:buSzPct val="75000"/>
              <a:defRPr sz="5000"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 sz="8000" b="1">
                <a:solidFill>
                  <a:srgbClr val="009AC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</p:spPr>
        <p:txBody>
          <a:bodyPr lIns="71437" tIns="71437" rIns="71437" bIns="71437"/>
          <a:lstStyle>
            <a:lvl1pPr defTabSz="821531"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4800"/>
              </a:spcBef>
              <a:defRPr sz="4800"/>
            </a:lvl1pPr>
            <a:lvl2pPr>
              <a:spcBef>
                <a:spcPts val="4800"/>
              </a:spcBef>
              <a:defRPr sz="4800"/>
            </a:lvl2pPr>
            <a:lvl3pPr>
              <a:spcBef>
                <a:spcPts val="4800"/>
              </a:spcBef>
              <a:defRPr sz="4800"/>
            </a:lvl3pPr>
            <a:lvl4pPr>
              <a:spcBef>
                <a:spcPts val="4800"/>
              </a:spcBef>
              <a:defRPr sz="4800"/>
            </a:lvl4pPr>
            <a:lvl5pPr>
              <a:spcBef>
                <a:spcPts val="4800"/>
              </a:spcBef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3" r:id="rId13"/>
    <p:sldLayoutId id="2147483664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eorgi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7" Type="http://schemas.openxmlformats.org/officeDocument/2006/relationships/image" Target="../media/image8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tif"/><Relationship Id="rId4" Type="http://schemas.openxmlformats.org/officeDocument/2006/relationships/image" Target="../media/image5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mir.rahmati.com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.com/rahmati/office-hour" TargetMode="External"/><Relationship Id="rId2" Type="http://schemas.openxmlformats.org/officeDocument/2006/relationships/hyperlink" Target="mailto:amir.rahmati@stonybrook.edu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ISE 331: Computer Security Fundamentals…"/>
          <p:cNvSpPr txBox="1">
            <a:spLocks noGrp="1"/>
          </p:cNvSpPr>
          <p:nvPr>
            <p:ph type="ctrTitle"/>
          </p:nvPr>
        </p:nvSpPr>
        <p:spPr>
          <a:xfrm>
            <a:off x="1778000" y="859135"/>
            <a:ext cx="20828000" cy="4648201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ISE 331: Computer Security Fundamentals </a:t>
            </a:r>
          </a:p>
          <a:p>
            <a:pPr>
              <a:defRPr sz="8400"/>
            </a:pPr>
            <a:r>
              <a:t>Spring 2026</a:t>
            </a:r>
          </a:p>
        </p:txBody>
      </p:sp>
      <p:sp>
        <p:nvSpPr>
          <p:cNvPr id="155" name="Class Overview"/>
          <p:cNvSpPr txBox="1">
            <a:spLocks noGrp="1"/>
          </p:cNvSpPr>
          <p:nvPr>
            <p:ph type="subTitle" sz="quarter" idx="1"/>
          </p:nvPr>
        </p:nvSpPr>
        <p:spPr>
          <a:xfrm>
            <a:off x="1778000" y="6064250"/>
            <a:ext cx="20828000" cy="1587500"/>
          </a:xfrm>
          <a:prstGeom prst="rect">
            <a:avLst/>
          </a:prstGeom>
        </p:spPr>
        <p:txBody>
          <a:bodyPr/>
          <a:lstStyle/>
          <a:p>
            <a:r>
              <a:t>Class Overview</a:t>
            </a:r>
          </a:p>
        </p:txBody>
      </p:sp>
      <p:grpSp>
        <p:nvGrpSpPr>
          <p:cNvPr id="159" name="Group"/>
          <p:cNvGrpSpPr/>
          <p:nvPr/>
        </p:nvGrpSpPr>
        <p:grpSpPr>
          <a:xfrm>
            <a:off x="6203118" y="7426262"/>
            <a:ext cx="11977763" cy="5552671"/>
            <a:chOff x="0" y="0"/>
            <a:chExt cx="11977761" cy="5552669"/>
          </a:xfrm>
        </p:grpSpPr>
        <p:pic>
          <p:nvPicPr>
            <p:cNvPr id="156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3182" y="0"/>
              <a:ext cx="3855030" cy="3855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7" name="Amir Rahmati, Xinrui Yu"/>
            <p:cNvSpPr txBox="1"/>
            <p:nvPr/>
          </p:nvSpPr>
          <p:spPr>
            <a:xfrm>
              <a:off x="-1" y="4244569"/>
              <a:ext cx="11977763" cy="1308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400" b="0">
                  <a:latin typeface="+mn-lt"/>
                  <a:ea typeface="+mn-ea"/>
                  <a:cs typeface="+mn-cs"/>
                  <a:sym typeface="Georgia"/>
                </a:defRPr>
              </a:lvl1pPr>
            </a:lstStyle>
            <a:p>
              <a:r>
                <a:t>Amir Rahmati, Xinrui Yu</a:t>
              </a:r>
            </a:p>
          </p:txBody>
        </p:sp>
        <p:pic>
          <p:nvPicPr>
            <p:cNvPr id="158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0894" y="0"/>
              <a:ext cx="3855031" cy="38550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whoam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whoami</a:t>
            </a:r>
          </a:p>
        </p:txBody>
      </p:sp>
      <p:sp>
        <p:nvSpPr>
          <p:cNvPr id="162" name="Line"/>
          <p:cNvSpPr/>
          <p:nvPr/>
        </p:nvSpPr>
        <p:spPr>
          <a:xfrm flipH="1">
            <a:off x="1195757" y="8526175"/>
            <a:ext cx="21992486" cy="2"/>
          </a:xfrm>
          <a:prstGeom prst="line">
            <a:avLst/>
          </a:prstGeom>
          <a:ln w="139700">
            <a:solidFill>
              <a:srgbClr val="000000"/>
            </a:solidFill>
            <a:miter lim="400000"/>
            <a:headEnd type="stealth"/>
          </a:ln>
        </p:spPr>
        <p:txBody>
          <a:bodyPr lIns="50800" tIns="50800" rIns="50800" bIns="50800" anchor="ctr"/>
          <a:lstStyle/>
          <a:p>
            <a:pPr algn="l" defTabSz="457200">
              <a:defRPr sz="1200" b="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166" name="Group"/>
          <p:cNvGrpSpPr/>
          <p:nvPr/>
        </p:nvGrpSpPr>
        <p:grpSpPr>
          <a:xfrm>
            <a:off x="15388721" y="5515341"/>
            <a:ext cx="3517001" cy="3709501"/>
            <a:chOff x="0" y="-347000"/>
            <a:chExt cx="3517000" cy="3709500"/>
          </a:xfrm>
        </p:grpSpPr>
        <p:pic>
          <p:nvPicPr>
            <p:cNvPr id="163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3812" y="-347001"/>
              <a:ext cx="2843189" cy="2843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" name="2017"/>
            <p:cNvSpPr txBox="1"/>
            <p:nvPr/>
          </p:nvSpPr>
          <p:spPr>
            <a:xfrm>
              <a:off x="0" y="2714799"/>
              <a:ext cx="1258826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500"/>
                </a:spcBef>
                <a:defRPr sz="3800">
                  <a:latin typeface="+mn-lt"/>
                  <a:ea typeface="+mn-ea"/>
                  <a:cs typeface="+mn-cs"/>
                  <a:sym typeface="Georgia"/>
                </a:defRPr>
              </a:lvl1pPr>
            </a:lstStyle>
            <a:p>
              <a:r>
                <a:t>2017</a:t>
              </a:r>
            </a:p>
          </p:txBody>
        </p:sp>
        <p:sp>
          <p:nvSpPr>
            <p:cNvPr id="165" name="Line"/>
            <p:cNvSpPr/>
            <p:nvPr/>
          </p:nvSpPr>
          <p:spPr>
            <a:xfrm>
              <a:off x="625093" y="2328885"/>
              <a:ext cx="2" cy="381001"/>
            </a:xfrm>
            <a:prstGeom prst="line">
              <a:avLst/>
            </a:prstGeom>
            <a:noFill/>
            <a:ln w="139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 b="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70" name="Group"/>
          <p:cNvGrpSpPr/>
          <p:nvPr/>
        </p:nvGrpSpPr>
        <p:grpSpPr>
          <a:xfrm>
            <a:off x="18289564" y="6005747"/>
            <a:ext cx="4054961" cy="3245994"/>
            <a:chOff x="0" y="-161393"/>
            <a:chExt cx="4054960" cy="3245992"/>
          </a:xfrm>
        </p:grpSpPr>
        <p:pic>
          <p:nvPicPr>
            <p:cNvPr id="167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8606" y="-161394"/>
              <a:ext cx="2526355" cy="20852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8" name="Line"/>
            <p:cNvSpPr/>
            <p:nvPr/>
          </p:nvSpPr>
          <p:spPr>
            <a:xfrm>
              <a:off x="627824" y="2041589"/>
              <a:ext cx="1" cy="381001"/>
            </a:xfrm>
            <a:prstGeom prst="line">
              <a:avLst/>
            </a:prstGeom>
            <a:noFill/>
            <a:ln w="139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 b="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9" name="2018"/>
            <p:cNvSpPr txBox="1"/>
            <p:nvPr/>
          </p:nvSpPr>
          <p:spPr>
            <a:xfrm>
              <a:off x="0" y="2436899"/>
              <a:ext cx="1317737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500"/>
                </a:spcBef>
                <a:defRPr sz="3800">
                  <a:latin typeface="+mn-lt"/>
                  <a:ea typeface="+mn-ea"/>
                  <a:cs typeface="+mn-cs"/>
                  <a:sym typeface="Georgia"/>
                </a:defRPr>
              </a:lvl1pPr>
            </a:lstStyle>
            <a:p>
              <a:r>
                <a:t>2018</a:t>
              </a:r>
            </a:p>
          </p:txBody>
        </p:sp>
      </p:grpSp>
      <p:grpSp>
        <p:nvGrpSpPr>
          <p:cNvPr id="174" name="Group"/>
          <p:cNvGrpSpPr/>
          <p:nvPr/>
        </p:nvGrpSpPr>
        <p:grpSpPr>
          <a:xfrm>
            <a:off x="7372129" y="6191344"/>
            <a:ext cx="3557520" cy="3052599"/>
            <a:chOff x="0" y="-304184"/>
            <a:chExt cx="3557519" cy="3052598"/>
          </a:xfrm>
        </p:grpSpPr>
        <p:sp>
          <p:nvSpPr>
            <p:cNvPr id="171" name="Line"/>
            <p:cNvSpPr/>
            <p:nvPr/>
          </p:nvSpPr>
          <p:spPr>
            <a:xfrm>
              <a:off x="625093" y="1714799"/>
              <a:ext cx="2" cy="381001"/>
            </a:xfrm>
            <a:prstGeom prst="line">
              <a:avLst/>
            </a:prstGeom>
            <a:noFill/>
            <a:ln w="139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 b="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2" name="2011"/>
            <p:cNvSpPr txBox="1"/>
            <p:nvPr/>
          </p:nvSpPr>
          <p:spPr>
            <a:xfrm>
              <a:off x="0" y="2100713"/>
              <a:ext cx="1227721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500"/>
                </a:spcBef>
                <a:defRPr sz="3800">
                  <a:latin typeface="+mn-lt"/>
                  <a:ea typeface="+mn-ea"/>
                  <a:cs typeface="+mn-cs"/>
                  <a:sym typeface="Georgia"/>
                </a:defRPr>
              </a:lvl1pPr>
            </a:lstStyle>
            <a:p>
              <a:r>
                <a:t>2011</a:t>
              </a:r>
            </a:p>
          </p:txBody>
        </p:sp>
        <p:pic>
          <p:nvPicPr>
            <p:cNvPr id="173" name="Image" descr="Image"/>
            <p:cNvPicPr>
              <a:picLocks noChangeAspect="1"/>
            </p:cNvPicPr>
            <p:nvPr/>
          </p:nvPicPr>
          <p:blipFill>
            <a:blip r:embed="rId4"/>
            <a:srcRect t="21641" b="21641"/>
            <a:stretch>
              <a:fillRect/>
            </a:stretch>
          </p:blipFill>
          <p:spPr>
            <a:xfrm>
              <a:off x="704829" y="-304185"/>
              <a:ext cx="2852691" cy="16179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78" name="Group"/>
          <p:cNvGrpSpPr/>
          <p:nvPr/>
        </p:nvGrpSpPr>
        <p:grpSpPr>
          <a:xfrm>
            <a:off x="10343808" y="5823878"/>
            <a:ext cx="4320478" cy="3419373"/>
            <a:chOff x="0" y="-449561"/>
            <a:chExt cx="4320476" cy="3419371"/>
          </a:xfrm>
        </p:grpSpPr>
        <p:pic>
          <p:nvPicPr>
            <p:cNvPr id="175" name="Image" descr="Image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101839" y="-449562"/>
              <a:ext cx="2218638" cy="22186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6" name="Line"/>
            <p:cNvSpPr/>
            <p:nvPr/>
          </p:nvSpPr>
          <p:spPr>
            <a:xfrm>
              <a:off x="617448" y="1936196"/>
              <a:ext cx="1" cy="381001"/>
            </a:xfrm>
            <a:prstGeom prst="line">
              <a:avLst/>
            </a:prstGeom>
            <a:noFill/>
            <a:ln w="139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 b="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7" name="2013"/>
            <p:cNvSpPr txBox="1"/>
            <p:nvPr/>
          </p:nvSpPr>
          <p:spPr>
            <a:xfrm>
              <a:off x="0" y="2322110"/>
              <a:ext cx="1292759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500"/>
                </a:spcBef>
                <a:defRPr sz="3800">
                  <a:latin typeface="+mn-lt"/>
                  <a:ea typeface="+mn-ea"/>
                  <a:cs typeface="+mn-cs"/>
                  <a:sym typeface="Georgia"/>
                </a:defRPr>
              </a:lvl1pPr>
            </a:lstStyle>
            <a:p>
              <a:r>
                <a:t>2013</a:t>
              </a:r>
            </a:p>
          </p:txBody>
        </p:sp>
      </p:grpSp>
      <p:grpSp>
        <p:nvGrpSpPr>
          <p:cNvPr id="182" name="Group"/>
          <p:cNvGrpSpPr/>
          <p:nvPr/>
        </p:nvGrpSpPr>
        <p:grpSpPr>
          <a:xfrm>
            <a:off x="2294551" y="5715889"/>
            <a:ext cx="4354556" cy="3528054"/>
            <a:chOff x="0" y="-779639"/>
            <a:chExt cx="4354554" cy="3528053"/>
          </a:xfrm>
        </p:grpSpPr>
        <p:sp>
          <p:nvSpPr>
            <p:cNvPr id="179" name="Line"/>
            <p:cNvSpPr/>
            <p:nvPr/>
          </p:nvSpPr>
          <p:spPr>
            <a:xfrm>
              <a:off x="625093" y="1714799"/>
              <a:ext cx="2" cy="381001"/>
            </a:xfrm>
            <a:prstGeom prst="line">
              <a:avLst/>
            </a:prstGeom>
            <a:noFill/>
            <a:ln w="139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 b="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0" name="2007"/>
            <p:cNvSpPr txBox="1"/>
            <p:nvPr/>
          </p:nvSpPr>
          <p:spPr>
            <a:xfrm>
              <a:off x="0" y="2100713"/>
              <a:ext cx="1360860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spcBef>
                  <a:spcPts val="4500"/>
                </a:spcBef>
                <a:defRPr sz="3800">
                  <a:latin typeface="+mn-lt"/>
                  <a:ea typeface="+mn-ea"/>
                  <a:cs typeface="+mn-cs"/>
                  <a:sym typeface="Georgia"/>
                </a:defRPr>
              </a:lvl1pPr>
            </a:lstStyle>
            <a:p>
              <a:r>
                <a:t>2007</a:t>
              </a:r>
            </a:p>
          </p:txBody>
        </p:sp>
        <p:pic>
          <p:nvPicPr>
            <p:cNvPr id="181" name="pngwing.com.png" descr="pngwing.com.png"/>
            <p:cNvPicPr>
              <a:picLocks noChangeAspect="1"/>
            </p:cNvPicPr>
            <p:nvPr/>
          </p:nvPicPr>
          <p:blipFill>
            <a:blip r:embed="rId6"/>
            <a:srcRect b="2117"/>
            <a:stretch>
              <a:fillRect/>
            </a:stretch>
          </p:blipFill>
          <p:spPr>
            <a:xfrm>
              <a:off x="1768153" y="-779640"/>
              <a:ext cx="2586402" cy="2471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83" name="avatar_hu3d0039a14b59906956c0563d0e0e0b67_319215_250x250_fill_q90_lanczos_center.jpg" descr="avatar_hu3d0039a14b59906956c0563d0e0e0b67_319215_250x250_fill_q90_lanczos_cent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43339" y="461196"/>
            <a:ext cx="3947410" cy="3947411"/>
          </a:xfrm>
          <a:prstGeom prst="rect">
            <a:avLst/>
          </a:prstGeom>
          <a:ln w="25400">
            <a:solidFill>
              <a:srgbClr val="F3F7F5"/>
            </a:solidFill>
            <a:miter lim="400000"/>
          </a:ln>
          <a:effectLst>
            <a:outerShdw blurRad="50800" dist="25400" dir="3600000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ethos final 2.pdf" descr="ethos final 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533" y="1145747"/>
            <a:ext cx="7536355" cy="3687142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ackling Security Challenges of Emerging Technologies…"/>
          <p:cNvSpPr/>
          <p:nvPr/>
        </p:nvSpPr>
        <p:spPr>
          <a:xfrm>
            <a:off x="302927" y="6613354"/>
            <a:ext cx="11219567" cy="6455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/>
          <a:p>
            <a:pPr>
              <a:defRPr sz="8400" b="0">
                <a:latin typeface="+mn-lt"/>
                <a:ea typeface="+mn-ea"/>
                <a:cs typeface="+mn-cs"/>
                <a:sym typeface="Georgia"/>
              </a:defRPr>
            </a:pPr>
            <a:r>
              <a:t>Tackling Security Challenges of </a:t>
            </a:r>
            <a:r>
              <a:rPr>
                <a:solidFill>
                  <a:srgbClr val="C82506"/>
                </a:solidFill>
              </a:rPr>
              <a:t>Emerging Technologies</a:t>
            </a:r>
          </a:p>
          <a:p>
            <a:pPr>
              <a:defRPr sz="8400" b="0">
                <a:latin typeface="+mn-lt"/>
                <a:ea typeface="+mn-ea"/>
                <a:cs typeface="+mn-cs"/>
                <a:sym typeface="Georgia"/>
              </a:defRPr>
            </a:pPr>
            <a:r>
              <a:t>Before They Become Main-Stream</a:t>
            </a:r>
          </a:p>
        </p:txBody>
      </p:sp>
      <p:grpSp>
        <p:nvGrpSpPr>
          <p:cNvPr id="189" name="A1FC1F93-AF62-4FAA-8381-1038FF425643.JPG"/>
          <p:cNvGrpSpPr/>
          <p:nvPr/>
        </p:nvGrpSpPr>
        <p:grpSpPr>
          <a:xfrm>
            <a:off x="12332370" y="719885"/>
            <a:ext cx="8574592" cy="5885006"/>
            <a:chOff x="0" y="0"/>
            <a:chExt cx="8574590" cy="5885004"/>
          </a:xfrm>
        </p:grpSpPr>
        <p:pic>
          <p:nvPicPr>
            <p:cNvPr id="188" name="A1FC1F93-AF62-4FAA-8381-1038FF425643.JPG" descr="A1FC1F93-AF62-4FAA-8381-1038FF425643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000" y="88900"/>
              <a:ext cx="8320591" cy="555480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7" name="A1FC1F93-AF62-4FAA-8381-1038FF425643.JPG" descr="A1FC1F93-AF62-4FAA-8381-1038FF425643.JP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8574591" cy="5885005"/>
            </a:xfrm>
            <a:prstGeom prst="rect">
              <a:avLst/>
            </a:prstGeom>
            <a:effectLst/>
          </p:spPr>
        </p:pic>
      </p:grpSp>
      <p:sp>
        <p:nvSpPr>
          <p:cNvPr id="190" name="Internet of Things…"/>
          <p:cNvSpPr/>
          <p:nvPr/>
        </p:nvSpPr>
        <p:spPr>
          <a:xfrm>
            <a:off x="12947957" y="6612792"/>
            <a:ext cx="10099926" cy="7194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/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>
                <a:latin typeface="+mn-lt"/>
                <a:ea typeface="+mn-ea"/>
                <a:cs typeface="+mn-cs"/>
                <a:sym typeface="Georgia"/>
              </a:defRPr>
            </a:pPr>
            <a:r>
              <a:t>Internet of Things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>
                <a:latin typeface="+mn-lt"/>
                <a:ea typeface="+mn-ea"/>
                <a:cs typeface="+mn-cs"/>
                <a:sym typeface="Georgia"/>
              </a:defRPr>
            </a:pPr>
            <a:r>
              <a:t>Machine Learning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>
                <a:latin typeface="+mn-lt"/>
                <a:ea typeface="+mn-ea"/>
                <a:cs typeface="+mn-cs"/>
                <a:sym typeface="Georgia"/>
              </a:defRPr>
            </a:pPr>
            <a:r>
              <a:t>Augmented Reality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>
                <a:latin typeface="+mn-lt"/>
                <a:ea typeface="+mn-ea"/>
                <a:cs typeface="+mn-cs"/>
                <a:sym typeface="Georgia"/>
              </a:defRPr>
            </a:pPr>
            <a:r>
              <a:t>…</a:t>
            </a:r>
          </a:p>
        </p:txBody>
      </p:sp>
      <p:sp>
        <p:nvSpPr>
          <p:cNvPr id="191" name="https://amir.rahmati.com"/>
          <p:cNvSpPr txBox="1"/>
          <p:nvPr/>
        </p:nvSpPr>
        <p:spPr>
          <a:xfrm>
            <a:off x="1163704" y="4854695"/>
            <a:ext cx="9498013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 b="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Georgia"/>
                <a:hlinkClick r:id="rId5"/>
              </a:defRPr>
            </a:lvl1pPr>
          </a:lstStyle>
          <a:p>
            <a:pPr>
              <a:defRPr u="none"/>
            </a:pPr>
            <a:r>
              <a:rPr u="sng">
                <a:hlinkClick r:id="rId5"/>
              </a:rPr>
              <a:t>https://amir.rahmati.com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1" animBg="1" advAuto="0"/>
      <p:bldP spid="190" grpId="2" animBg="1" advAuto="0"/>
      <p:bldP spid="191" grpId="3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What are we going to do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00735">
              <a:defRPr sz="10864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What are we going to do?</a:t>
            </a:r>
          </a:p>
        </p:txBody>
      </p:sp>
      <p:sp>
        <p:nvSpPr>
          <p:cNvPr id="194" name="Learn how to secure Computer Systems…"/>
          <p:cNvSpPr txBox="1">
            <a:spLocks noGrp="1"/>
          </p:cNvSpPr>
          <p:nvPr>
            <p:ph type="body" idx="1"/>
          </p:nvPr>
        </p:nvSpPr>
        <p:spPr>
          <a:xfrm>
            <a:off x="4547278" y="2842866"/>
            <a:ext cx="19389508" cy="9548060"/>
          </a:xfrm>
          <a:prstGeom prst="rect">
            <a:avLst/>
          </a:prstGeom>
        </p:spPr>
        <p:txBody>
          <a:bodyPr/>
          <a:lstStyle/>
          <a:p>
            <a:pPr marL="790222" indent="-790222" defTabSz="825500"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Learn how to secure Computer Systems</a:t>
            </a:r>
          </a:p>
          <a:p>
            <a:pPr lvl="1">
              <a:spcBef>
                <a:spcPts val="1100"/>
              </a:spcBef>
              <a:defRPr>
                <a:latin typeface="+mn-lt"/>
                <a:ea typeface="+mn-ea"/>
                <a:cs typeface="+mn-cs"/>
                <a:sym typeface="Georgia"/>
              </a:defRPr>
            </a:pPr>
            <a:r>
              <a:t>Current state of the art</a:t>
            </a:r>
          </a:p>
          <a:p>
            <a:pPr lvl="1">
              <a:spcBef>
                <a:spcPts val="1100"/>
              </a:spcBef>
              <a:defRPr>
                <a:latin typeface="+mn-lt"/>
                <a:ea typeface="+mn-ea"/>
                <a:cs typeface="+mn-cs"/>
                <a:sym typeface="Georgia"/>
              </a:defRPr>
            </a:pPr>
            <a:r>
              <a:t>How we got here</a:t>
            </a:r>
          </a:p>
          <a:p>
            <a:pPr lvl="1">
              <a:spcBef>
                <a:spcPts val="1100"/>
              </a:spcBef>
              <a:defRPr>
                <a:latin typeface="+mn-lt"/>
                <a:ea typeface="+mn-ea"/>
                <a:cs typeface="+mn-cs"/>
                <a:sym typeface="Georgia"/>
              </a:defRPr>
            </a:pPr>
            <a:r>
              <a:t>Future directions</a:t>
            </a:r>
          </a:p>
          <a:p>
            <a:pPr lvl="1">
              <a:spcBef>
                <a:spcPts val="1100"/>
              </a:spcBef>
              <a:defRPr>
                <a:latin typeface="+mn-lt"/>
                <a:ea typeface="+mn-ea"/>
                <a:cs typeface="+mn-cs"/>
                <a:sym typeface="Georgia"/>
              </a:defRPr>
            </a:pPr>
            <a:endParaRPr/>
          </a:p>
          <a:p>
            <a:pPr marL="790222" indent="-790222" defTabSz="825500">
              <a:defRPr sz="6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Learn skills that you need as an engineer</a:t>
            </a:r>
          </a:p>
          <a:p>
            <a:pPr lvl="1">
              <a:spcBef>
                <a:spcPts val="1100"/>
              </a:spcBef>
              <a:defRPr>
                <a:latin typeface="+mn-lt"/>
                <a:ea typeface="+mn-ea"/>
                <a:cs typeface="+mn-cs"/>
                <a:sym typeface="Georgia"/>
              </a:defRPr>
            </a:pPr>
            <a:r>
              <a:t>Evaluating the security of real systems</a:t>
            </a:r>
          </a:p>
          <a:p>
            <a:pPr lvl="1">
              <a:spcBef>
                <a:spcPts val="1100"/>
              </a:spcBef>
              <a:defRPr>
                <a:latin typeface="+mn-lt"/>
                <a:ea typeface="+mn-ea"/>
                <a:cs typeface="+mn-cs"/>
                <a:sym typeface="Georgia"/>
              </a:defRPr>
            </a:pPr>
            <a:r>
              <a:t>Building defense</a:t>
            </a:r>
          </a:p>
        </p:txBody>
      </p:sp>
      <p:pic>
        <p:nvPicPr>
          <p:cNvPr id="19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75925" y="3339102"/>
            <a:ext cx="3571876" cy="3571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63" y="8269096"/>
            <a:ext cx="2887401" cy="2887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2" build="p" animBg="1" advAuto="0"/>
      <p:bldP spid="195" grpId="1" animBg="1" advAuto="0"/>
      <p:bldP spid="196" grpId="3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lass Top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 Topics</a:t>
            </a:r>
          </a:p>
        </p:txBody>
      </p:sp>
      <p:sp>
        <p:nvSpPr>
          <p:cNvPr id="199" name="The Basics…"/>
          <p:cNvSpPr txBox="1">
            <a:spLocks noGrp="1"/>
          </p:cNvSpPr>
          <p:nvPr>
            <p:ph type="body" sz="half" idx="1"/>
          </p:nvPr>
        </p:nvSpPr>
        <p:spPr>
          <a:xfrm>
            <a:off x="3861327" y="3098800"/>
            <a:ext cx="8560926" cy="9296400"/>
          </a:xfrm>
          <a:prstGeom prst="rect">
            <a:avLst/>
          </a:prstGeom>
        </p:spPr>
        <p:txBody>
          <a:bodyPr/>
          <a:lstStyle/>
          <a:p>
            <a:pPr marL="444500" indent="-444500" defTabSz="577850">
              <a:spcBef>
                <a:spcPts val="4100"/>
              </a:spcBef>
              <a:defRPr sz="3359"/>
            </a:pPr>
            <a:r>
              <a:t>The Basics</a:t>
            </a:r>
          </a:p>
          <a:p>
            <a:pPr marL="1333500" lvl="2" indent="-444500" defTabSz="577850">
              <a:spcBef>
                <a:spcPts val="4100"/>
              </a:spcBef>
              <a:defRPr sz="3359">
                <a:solidFill>
                  <a:schemeClr val="accent5">
                    <a:lumOff val="-29866"/>
                  </a:schemeClr>
                </a:solidFill>
              </a:defRPr>
            </a:pPr>
            <a:r>
              <a:t>Symmetric/Asymmetric Encryption</a:t>
            </a:r>
          </a:p>
          <a:p>
            <a:pPr marL="1333500" lvl="2" indent="-444500" defTabSz="577850">
              <a:spcBef>
                <a:spcPts val="4100"/>
              </a:spcBef>
              <a:defRPr sz="3359">
                <a:solidFill>
                  <a:schemeClr val="accent5">
                    <a:lumOff val="-29866"/>
                  </a:schemeClr>
                </a:solidFill>
              </a:defRPr>
            </a:pPr>
            <a:r>
              <a:t>MACs &amp; Hashes</a:t>
            </a:r>
          </a:p>
          <a:p>
            <a:pPr marL="1333500" lvl="2" indent="-444500" defTabSz="577850">
              <a:spcBef>
                <a:spcPts val="4100"/>
              </a:spcBef>
              <a:defRPr sz="3359">
                <a:solidFill>
                  <a:schemeClr val="accent5">
                    <a:lumOff val="-29866"/>
                  </a:schemeClr>
                </a:solidFill>
              </a:defRPr>
            </a:pPr>
            <a:r>
              <a:t>PKI &amp; SSL/TLS</a:t>
            </a:r>
          </a:p>
          <a:p>
            <a:pPr marL="1333500" lvl="2" indent="-444500" defTabSz="577850">
              <a:spcBef>
                <a:spcPts val="4100"/>
              </a:spcBef>
              <a:defRPr sz="3359">
                <a:solidFill>
                  <a:schemeClr val="accent5">
                    <a:lumOff val="-29866"/>
                  </a:schemeClr>
                </a:solidFill>
              </a:defRPr>
            </a:pPr>
            <a:r>
              <a:t>Authentication &amp; Access Control</a:t>
            </a:r>
          </a:p>
          <a:p>
            <a:pPr marL="444500" indent="-444500" defTabSz="577850">
              <a:spcBef>
                <a:spcPts val="4100"/>
              </a:spcBef>
              <a:defRPr sz="3359"/>
            </a:pPr>
            <a:r>
              <a:t>Web Security</a:t>
            </a:r>
          </a:p>
          <a:p>
            <a:pPr marL="1333500" lvl="2" indent="-444500" defTabSz="577850">
              <a:spcBef>
                <a:spcPts val="4100"/>
              </a:spcBef>
              <a:defRPr sz="3359">
                <a:solidFill>
                  <a:schemeClr val="accent5">
                    <a:lumOff val="-29866"/>
                  </a:schemeClr>
                </a:solidFill>
              </a:defRPr>
            </a:pPr>
            <a:r>
              <a:t>Browser, Web Apps, Web Tracking</a:t>
            </a:r>
          </a:p>
          <a:p>
            <a:pPr marL="444500" indent="-444500" defTabSz="577850">
              <a:spcBef>
                <a:spcPts val="4100"/>
              </a:spcBef>
              <a:defRPr sz="3359"/>
            </a:pPr>
            <a:r>
              <a:t>Network Security</a:t>
            </a:r>
          </a:p>
          <a:p>
            <a:pPr marL="1333500" lvl="2" indent="-444500" defTabSz="577850">
              <a:spcBef>
                <a:spcPts val="4100"/>
              </a:spcBef>
              <a:defRPr sz="3359">
                <a:solidFill>
                  <a:schemeClr val="accent5">
                    <a:lumOff val="-29866"/>
                  </a:schemeClr>
                </a:solidFill>
              </a:defRPr>
            </a:pPr>
            <a:r>
              <a:t>DNS, BGP, Firewalls, IDS, Internet Censorship</a:t>
            </a:r>
          </a:p>
        </p:txBody>
      </p:sp>
      <p:sp>
        <p:nvSpPr>
          <p:cNvPr id="200" name="Software Security…"/>
          <p:cNvSpPr txBox="1"/>
          <p:nvPr/>
        </p:nvSpPr>
        <p:spPr>
          <a:xfrm>
            <a:off x="13493594" y="4980303"/>
            <a:ext cx="8560926" cy="5864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marL="463550" indent="-463550" algn="l" defTabSz="602615">
              <a:spcBef>
                <a:spcPts val="4300"/>
              </a:spcBef>
              <a:buSzPct val="125000"/>
              <a:buChar char="•"/>
              <a:defRPr sz="3504" b="0">
                <a:latin typeface="+mn-lt"/>
                <a:ea typeface="+mn-ea"/>
                <a:cs typeface="+mn-cs"/>
                <a:sym typeface="Georgia"/>
              </a:defRPr>
            </a:pPr>
            <a:r>
              <a:t>Software Security</a:t>
            </a:r>
          </a:p>
          <a:p>
            <a:pPr marL="1390650" lvl="2" indent="-463550" algn="l" defTabSz="602615">
              <a:spcBef>
                <a:spcPts val="4300"/>
              </a:spcBef>
              <a:buSzPct val="125000"/>
              <a:buChar char="•"/>
              <a:defRPr sz="3504" b="0">
                <a:solidFill>
                  <a:schemeClr val="accent5">
                    <a:lumOff val="-29866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Shellcode, Memory Errors, ROP</a:t>
            </a:r>
          </a:p>
          <a:p>
            <a:pPr marL="1390650" lvl="2" indent="-463550" algn="l" defTabSz="602615">
              <a:spcBef>
                <a:spcPts val="4300"/>
              </a:spcBef>
              <a:buSzPct val="125000"/>
              <a:buChar char="•"/>
              <a:defRPr sz="3504" b="0">
                <a:solidFill>
                  <a:schemeClr val="accent5">
                    <a:lumOff val="-29866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Reverse Engineering, Program Analysis, Symbolic Execution</a:t>
            </a:r>
          </a:p>
          <a:p>
            <a:pPr marL="463550" indent="-463550" algn="l" defTabSz="602615">
              <a:spcBef>
                <a:spcPts val="4300"/>
              </a:spcBef>
              <a:buSzPct val="125000"/>
              <a:buChar char="•"/>
              <a:defRPr sz="3504" b="0">
                <a:latin typeface="+mn-lt"/>
                <a:ea typeface="+mn-ea"/>
                <a:cs typeface="+mn-cs"/>
                <a:sym typeface="Georgia"/>
              </a:defRPr>
            </a:pPr>
            <a:r>
              <a:t>System Security</a:t>
            </a:r>
          </a:p>
          <a:p>
            <a:pPr marL="1390650" lvl="2" indent="-463550" algn="l" defTabSz="602615">
              <a:spcBef>
                <a:spcPts val="4300"/>
              </a:spcBef>
              <a:buSzPct val="125000"/>
              <a:buChar char="•"/>
              <a:defRPr sz="3504" b="0">
                <a:solidFill>
                  <a:schemeClr val="accent5">
                    <a:lumOff val="-29866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Side Channels, HW Security, ML Security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1" build="p" animBg="1" advAuto="0"/>
      <p:bldP spid="200" grpId="2" build="p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ra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Grading</a:t>
            </a:r>
          </a:p>
        </p:txBody>
      </p:sp>
      <p:graphicFrame>
        <p:nvGraphicFramePr>
          <p:cNvPr id="203" name="Table 1-1"/>
          <p:cNvGraphicFramePr/>
          <p:nvPr/>
        </p:nvGraphicFramePr>
        <p:xfrm>
          <a:off x="4897537" y="4237061"/>
          <a:ext cx="14588926" cy="572785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7272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0376">
                <a:tc>
                  <a:txBody>
                    <a:bodyPr/>
                    <a:lstStyle/>
                    <a:p>
                      <a:pPr defTabSz="642937">
                        <a:lnSpc>
                          <a:spcPts val="7900"/>
                        </a:lnSpc>
                        <a:defRPr sz="1800"/>
                      </a:pPr>
                      <a:r>
                        <a:rPr sz="4400" b="1">
                          <a:solidFill>
                            <a:srgbClr val="C82605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Homework Assignments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42937">
                        <a:lnSpc>
                          <a:spcPts val="7300"/>
                        </a:lnSpc>
                        <a:defRPr sz="1800"/>
                      </a:pPr>
                      <a:r>
                        <a:rPr sz="4400">
                          <a:solidFill>
                            <a:srgbClr val="000000">
                              <a:alpha val="80000"/>
                            </a:srgb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30%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0376">
                <a:tc>
                  <a:txBody>
                    <a:bodyPr/>
                    <a:lstStyle/>
                    <a:p>
                      <a:pPr defTabSz="642937">
                        <a:lnSpc>
                          <a:spcPts val="7900"/>
                        </a:lnSpc>
                        <a:defRPr sz="1800"/>
                      </a:pPr>
                      <a:r>
                        <a:rPr sz="4400" b="1">
                          <a:solidFill>
                            <a:srgbClr val="C82605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Quizes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42937">
                        <a:lnSpc>
                          <a:spcPts val="7300"/>
                        </a:lnSpc>
                        <a:defRPr sz="1800"/>
                      </a:pPr>
                      <a:r>
                        <a:rPr sz="4400">
                          <a:solidFill>
                            <a:srgbClr val="000000">
                              <a:alpha val="80000"/>
                            </a:srgb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20%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0376">
                <a:tc>
                  <a:txBody>
                    <a:bodyPr/>
                    <a:lstStyle/>
                    <a:p>
                      <a:pPr defTabSz="642937">
                        <a:lnSpc>
                          <a:spcPts val="7900"/>
                        </a:lnSpc>
                        <a:defRPr sz="1800"/>
                      </a:pPr>
                      <a:r>
                        <a:rPr sz="4400" b="1">
                          <a:solidFill>
                            <a:srgbClr val="C82605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Midterm Exam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42937">
                        <a:lnSpc>
                          <a:spcPts val="7300"/>
                        </a:lnSpc>
                        <a:defRPr sz="1800"/>
                      </a:pPr>
                      <a:r>
                        <a:rPr sz="4400">
                          <a:solidFill>
                            <a:srgbClr val="000000">
                              <a:alpha val="80000"/>
                            </a:srgb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20%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0376">
                <a:tc>
                  <a:txBody>
                    <a:bodyPr/>
                    <a:lstStyle/>
                    <a:p>
                      <a:pPr defTabSz="642937">
                        <a:lnSpc>
                          <a:spcPts val="7900"/>
                        </a:lnSpc>
                        <a:defRPr sz="1800"/>
                      </a:pPr>
                      <a:r>
                        <a:rPr sz="4400" b="1">
                          <a:solidFill>
                            <a:srgbClr val="C82605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Final Exam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defTabSz="642937">
                        <a:lnSpc>
                          <a:spcPts val="7300"/>
                        </a:lnSpc>
                        <a:defRPr sz="1800"/>
                      </a:pPr>
                      <a:r>
                        <a:rPr sz="4400">
                          <a:solidFill>
                            <a:srgbClr val="000000">
                              <a:alpha val="80000"/>
                            </a:srgb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30%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Homework - 30%"/>
          <p:cNvSpPr txBox="1">
            <a:spLocks noGrp="1"/>
          </p:cNvSpPr>
          <p:nvPr>
            <p:ph type="title"/>
          </p:nvPr>
        </p:nvSpPr>
        <p:spPr>
          <a:xfrm>
            <a:off x="4387453" y="1183238"/>
            <a:ext cx="15609094" cy="3036095"/>
          </a:xfrm>
          <a:prstGeom prst="rect">
            <a:avLst/>
          </a:prstGeom>
        </p:spPr>
        <p:txBody>
          <a:bodyPr/>
          <a:lstStyle>
            <a:lvl1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Homework - 30%</a:t>
            </a:r>
          </a:p>
        </p:txBody>
      </p:sp>
      <p:pic>
        <p:nvPicPr>
          <p:cNvPr id="2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33" y="6308986"/>
            <a:ext cx="3047275" cy="3047275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7 Lab-Style Homeworks…"/>
          <p:cNvSpPr txBox="1"/>
          <p:nvPr/>
        </p:nvSpPr>
        <p:spPr>
          <a:xfrm>
            <a:off x="9762785" y="5159273"/>
            <a:ext cx="9492898" cy="534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790222" indent="-790222" algn="l">
              <a:buSzPct val="75000"/>
              <a:buChar char="•"/>
              <a:defRPr sz="6400"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7 Lab-Style Homeworks</a:t>
            </a:r>
          </a:p>
          <a:p>
            <a:pPr marL="1950861" lvl="3" indent="-617361" algn="l" defTabSz="821531">
              <a:spcBef>
                <a:spcPts val="1100"/>
              </a:spcBef>
              <a:buSzPct val="75000"/>
              <a:buChar char="•"/>
              <a:defRPr sz="5000" b="0">
                <a:latin typeface="+mn-lt"/>
                <a:ea typeface="+mn-ea"/>
                <a:cs typeface="+mn-cs"/>
                <a:sym typeface="Georgia"/>
              </a:defRPr>
            </a:pPr>
            <a:r>
              <a:t>Cryptography</a:t>
            </a:r>
          </a:p>
          <a:p>
            <a:pPr marL="1950861" lvl="3" indent="-617361" algn="l" defTabSz="821531">
              <a:spcBef>
                <a:spcPts val="1100"/>
              </a:spcBef>
              <a:buSzPct val="75000"/>
              <a:buChar char="•"/>
              <a:defRPr sz="5000" b="0">
                <a:latin typeface="+mn-lt"/>
                <a:ea typeface="+mn-ea"/>
                <a:cs typeface="+mn-cs"/>
                <a:sym typeface="Georgia"/>
              </a:defRPr>
            </a:pPr>
            <a:r>
              <a:t>Web Security</a:t>
            </a:r>
          </a:p>
          <a:p>
            <a:pPr marL="1950861" lvl="3" indent="-617361" algn="l" defTabSz="821531">
              <a:spcBef>
                <a:spcPts val="1100"/>
              </a:spcBef>
              <a:buSzPct val="75000"/>
              <a:buChar char="•"/>
              <a:defRPr sz="5000" b="0">
                <a:latin typeface="+mn-lt"/>
                <a:ea typeface="+mn-ea"/>
                <a:cs typeface="+mn-cs"/>
                <a:sym typeface="Georgia"/>
              </a:defRPr>
            </a:pPr>
            <a:r>
              <a:t>Network Security</a:t>
            </a:r>
          </a:p>
          <a:p>
            <a:pPr marL="1950861" lvl="3" indent="-617361" algn="l" defTabSz="821531">
              <a:spcBef>
                <a:spcPts val="1100"/>
              </a:spcBef>
              <a:buSzPct val="75000"/>
              <a:buChar char="•"/>
              <a:defRPr sz="5000" b="0">
                <a:latin typeface="+mn-lt"/>
                <a:ea typeface="+mn-ea"/>
                <a:cs typeface="+mn-cs"/>
                <a:sym typeface="Georgia"/>
              </a:defRPr>
            </a:pPr>
            <a:r>
              <a:t>Software Security</a:t>
            </a:r>
          </a:p>
          <a:p>
            <a:pPr marL="1950861" lvl="3" indent="-617361" algn="l" defTabSz="821531">
              <a:spcBef>
                <a:spcPts val="1100"/>
              </a:spcBef>
              <a:buSzPct val="75000"/>
              <a:buChar char="•"/>
              <a:defRPr sz="5000" b="0">
                <a:latin typeface="+mn-lt"/>
                <a:ea typeface="+mn-ea"/>
                <a:cs typeface="+mn-cs"/>
                <a:sym typeface="Georgia"/>
              </a:defRPr>
            </a:pPr>
            <a:r>
              <a:t>System Security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Quizes - 20%"/>
          <p:cNvSpPr txBox="1">
            <a:spLocks noGrp="1"/>
          </p:cNvSpPr>
          <p:nvPr>
            <p:ph type="title"/>
          </p:nvPr>
        </p:nvSpPr>
        <p:spPr>
          <a:xfrm>
            <a:off x="4387453" y="1523207"/>
            <a:ext cx="15609094" cy="3036094"/>
          </a:xfrm>
          <a:prstGeom prst="rect">
            <a:avLst/>
          </a:prstGeom>
        </p:spPr>
        <p:txBody>
          <a:bodyPr/>
          <a:lstStyle>
            <a:lvl1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Quizes - 20%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820" y="5025997"/>
            <a:ext cx="4018360" cy="4018360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Every two weeks"/>
          <p:cNvSpPr txBox="1"/>
          <p:nvPr/>
        </p:nvSpPr>
        <p:spPr>
          <a:xfrm>
            <a:off x="9163645" y="9706554"/>
            <a:ext cx="6056710" cy="1028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Every two weeks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1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Midterm Exam - 20%"/>
          <p:cNvSpPr txBox="1">
            <a:spLocks noGrp="1"/>
          </p:cNvSpPr>
          <p:nvPr>
            <p:ph type="title"/>
          </p:nvPr>
        </p:nvSpPr>
        <p:spPr>
          <a:xfrm>
            <a:off x="4387453" y="1747315"/>
            <a:ext cx="15609094" cy="3036095"/>
          </a:xfrm>
          <a:prstGeom prst="rect">
            <a:avLst/>
          </a:prstGeom>
        </p:spPr>
        <p:txBody>
          <a:bodyPr/>
          <a:lstStyle>
            <a:lvl1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Midterm Exam - 20%</a:t>
            </a:r>
          </a:p>
        </p:txBody>
      </p:sp>
      <p:pic>
        <p:nvPicPr>
          <p:cNvPr id="21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701" y="5073701"/>
            <a:ext cx="3568598" cy="35685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Final Exam - 30%"/>
          <p:cNvSpPr txBox="1">
            <a:spLocks noGrp="1"/>
          </p:cNvSpPr>
          <p:nvPr>
            <p:ph type="title"/>
          </p:nvPr>
        </p:nvSpPr>
        <p:spPr>
          <a:xfrm>
            <a:off x="4387453" y="1747315"/>
            <a:ext cx="15609094" cy="3036095"/>
          </a:xfrm>
          <a:prstGeom prst="rect">
            <a:avLst/>
          </a:prstGeom>
        </p:spPr>
        <p:txBody>
          <a:bodyPr/>
          <a:lstStyle>
            <a:lvl1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Final Exam - 30%</a:t>
            </a:r>
          </a:p>
        </p:txBody>
      </p:sp>
      <p:pic>
        <p:nvPicPr>
          <p:cNvPr id="21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701" y="5073701"/>
            <a:ext cx="3568598" cy="35685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lass Schedule"/>
          <p:cNvSpPr txBox="1">
            <a:spLocks noGrp="1"/>
          </p:cNvSpPr>
          <p:nvPr>
            <p:ph type="title"/>
          </p:nvPr>
        </p:nvSpPr>
        <p:spPr>
          <a:xfrm>
            <a:off x="4911510" y="179189"/>
            <a:ext cx="14560980" cy="2689622"/>
          </a:xfrm>
          <a:prstGeom prst="rect">
            <a:avLst/>
          </a:prstGeom>
        </p:spPr>
        <p:txBody>
          <a:bodyPr/>
          <a:lstStyle>
            <a:lvl1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Class Schedule</a:t>
            </a:r>
          </a:p>
        </p:txBody>
      </p:sp>
      <p:pic>
        <p:nvPicPr>
          <p:cNvPr id="220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010" y="2857222"/>
            <a:ext cx="8075980" cy="98526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If you need to reach me"/>
          <p:cNvSpPr txBox="1">
            <a:spLocks noGrp="1"/>
          </p:cNvSpPr>
          <p:nvPr>
            <p:ph type="title"/>
          </p:nvPr>
        </p:nvSpPr>
        <p:spPr>
          <a:xfrm>
            <a:off x="3126704" y="379297"/>
            <a:ext cx="18130592" cy="3036095"/>
          </a:xfrm>
          <a:prstGeom prst="rect">
            <a:avLst/>
          </a:prstGeom>
        </p:spPr>
        <p:txBody>
          <a:bodyPr/>
          <a:lstStyle>
            <a:lvl1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If you need to reach me</a:t>
            </a:r>
          </a:p>
        </p:txBody>
      </p:sp>
      <p:graphicFrame>
        <p:nvGraphicFramePr>
          <p:cNvPr id="225" name="Table 1"/>
          <p:cNvGraphicFramePr/>
          <p:nvPr/>
        </p:nvGraphicFramePr>
        <p:xfrm>
          <a:off x="3348582" y="3485449"/>
          <a:ext cx="17686836" cy="1425787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6136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18">
                <a:tc>
                  <a:txBody>
                    <a:bodyPr/>
                    <a:lstStyle/>
                    <a:p>
                      <a:pPr defTabSz="642937">
                        <a:lnSpc>
                          <a:spcPts val="7200"/>
                        </a:lnSpc>
                        <a:defRPr sz="1800"/>
                      </a:pPr>
                      <a:r>
                        <a:rPr sz="3800" b="1">
                          <a:solidFill>
                            <a:srgbClr val="C82605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Email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642937">
                        <a:lnSpc>
                          <a:spcPts val="6600"/>
                        </a:lnSpc>
                        <a:defRPr sz="3800">
                          <a:solidFill>
                            <a:srgbClr val="000000">
                              <a:alpha val="80000"/>
                            </a:srgb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u="sng">
                          <a:hlinkClick r:id="rId2"/>
                        </a:rPr>
                        <a:t>amir.rahmati@stonybrook.edu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lnB w="12700">
                      <a:solidFill>
                        <a:srgbClr val="DDDDDD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718">
                <a:tc>
                  <a:txBody>
                    <a:bodyPr/>
                    <a:lstStyle/>
                    <a:p>
                      <a:pPr defTabSz="642937">
                        <a:lnSpc>
                          <a:spcPts val="7200"/>
                        </a:lnSpc>
                        <a:defRPr sz="1800"/>
                      </a:pPr>
                      <a:r>
                        <a:rPr sz="3800" b="1">
                          <a:solidFill>
                            <a:srgbClr val="C82605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My Office Hours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defTabSz="642937">
                        <a:lnSpc>
                          <a:spcPts val="6600"/>
                        </a:lnSpc>
                        <a:defRPr sz="3800">
                          <a:solidFill>
                            <a:srgbClr val="000000">
                              <a:alpha val="80000"/>
                            </a:srgbClr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u="sng">
                          <a:hlinkClick r:id="rId3"/>
                        </a:rPr>
                        <a:t>https://cal.com/rahmati/office-hour</a:t>
                      </a:r>
                    </a:p>
                  </a:txBody>
                  <a:tcPr marL="101600" marR="101600" marT="101600" marB="101600" anchor="ctr" horzOverflow="overflow">
                    <a:lnT w="12700">
                      <a:solidFill>
                        <a:srgbClr val="DDDDDD"/>
                      </a:solidFill>
                      <a:miter lim="400000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6" name="pasted-movie.png" descr="pasted-movie.png"/>
          <p:cNvPicPr>
            <a:picLocks noChangeAspect="1"/>
          </p:cNvPicPr>
          <p:nvPr/>
        </p:nvPicPr>
        <p:blipFill>
          <a:blip r:embed="rId4"/>
          <a:srcRect l="883" t="3157" r="4924" b="3157"/>
          <a:stretch>
            <a:fillRect/>
          </a:stretch>
        </p:blipFill>
        <p:spPr>
          <a:xfrm>
            <a:off x="5516959" y="5464299"/>
            <a:ext cx="13349941" cy="63773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Develop a Security Mindset"/>
          <p:cNvSpPr txBox="1">
            <a:spLocks noGrp="1"/>
          </p:cNvSpPr>
          <p:nvPr>
            <p:ph type="title"/>
          </p:nvPr>
        </p:nvSpPr>
        <p:spPr>
          <a:xfrm>
            <a:off x="4911510" y="7277889"/>
            <a:ext cx="14560980" cy="2211691"/>
          </a:xfrm>
          <a:prstGeom prst="rect">
            <a:avLst/>
          </a:prstGeom>
        </p:spPr>
        <p:txBody>
          <a:bodyPr/>
          <a:lstStyle>
            <a:lvl1pPr defTabSz="685165">
              <a:defRPr sz="9296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Develop a Security Mindset</a:t>
            </a:r>
          </a:p>
        </p:txBody>
      </p:sp>
      <p:sp>
        <p:nvSpPr>
          <p:cNvPr id="229" name="Computer Security is unlike any other field"/>
          <p:cNvSpPr txBox="1"/>
          <p:nvPr/>
        </p:nvSpPr>
        <p:spPr>
          <a:xfrm>
            <a:off x="2530970" y="1446502"/>
            <a:ext cx="19322059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 b="0"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Computer Security is unlike any other field</a:t>
            </a:r>
          </a:p>
        </p:txBody>
      </p:sp>
      <p:sp>
        <p:nvSpPr>
          <p:cNvPr id="230" name="Security of …"/>
          <p:cNvSpPr txBox="1"/>
          <p:nvPr/>
        </p:nvSpPr>
        <p:spPr>
          <a:xfrm>
            <a:off x="4327652" y="4362196"/>
            <a:ext cx="5974161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000" b="0"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Security of …</a:t>
            </a:r>
          </a:p>
        </p:txBody>
      </p:sp>
      <p:sp>
        <p:nvSpPr>
          <p:cNvPr id="231" name="Rational paranoia"/>
          <p:cNvSpPr txBox="1"/>
          <p:nvPr/>
        </p:nvSpPr>
        <p:spPr>
          <a:xfrm>
            <a:off x="4911510" y="9883418"/>
            <a:ext cx="14560980" cy="2211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11200" b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Rational paranoia</a:t>
            </a:r>
          </a:p>
        </p:txBody>
      </p:sp>
      <p:sp>
        <p:nvSpPr>
          <p:cNvPr id="232" name="Adversarial Relationships"/>
          <p:cNvSpPr txBox="1"/>
          <p:nvPr/>
        </p:nvSpPr>
        <p:spPr>
          <a:xfrm>
            <a:off x="12000730" y="3784346"/>
            <a:ext cx="10807142" cy="241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000" b="0">
                <a:latin typeface="+mn-lt"/>
                <a:ea typeface="+mn-ea"/>
                <a:cs typeface="+mn-cs"/>
                <a:sym typeface="Georgia"/>
              </a:defRPr>
            </a:lvl1pPr>
          </a:lstStyle>
          <a:p>
            <a:r>
              <a:t>Adversarial Relationships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3" animBg="1" advAuto="0"/>
      <p:bldP spid="230" grpId="1" animBg="1" advAuto="0"/>
      <p:bldP spid="231" grpId="4" animBg="1" advAuto="0"/>
      <p:bldP spid="232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d Luck!…"/>
          <p:cNvSpPr txBox="1">
            <a:spLocks noGrp="1"/>
          </p:cNvSpPr>
          <p:nvPr>
            <p:ph type="title"/>
          </p:nvPr>
        </p:nvSpPr>
        <p:spPr>
          <a:xfrm>
            <a:off x="4911510" y="3998818"/>
            <a:ext cx="14560980" cy="6057283"/>
          </a:xfrm>
          <a:prstGeom prst="rect">
            <a:avLst/>
          </a:prstGeom>
        </p:spPr>
        <p:txBody>
          <a:bodyPr/>
          <a:lstStyle/>
          <a:p>
            <a:pPr defTabSz="825500">
              <a:defRPr sz="11200"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Good Luck!</a:t>
            </a:r>
          </a:p>
          <a:p>
            <a:pPr defTabSz="825500"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Georgia"/>
              </a:defRPr>
            </a:pPr>
            <a:r>
              <a:t>See you in person soon!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eorgia"/>
        <a:ea typeface="Georgia"/>
        <a:cs typeface="Georgia"/>
      </a:majorFont>
      <a:minorFont>
        <a:latin typeface="Georgia"/>
        <a:ea typeface="Georgia"/>
        <a:cs typeface="Georgi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eorgia"/>
        <a:ea typeface="Georgia"/>
        <a:cs typeface="Georgia"/>
      </a:majorFont>
      <a:minorFont>
        <a:latin typeface="Georgia"/>
        <a:ea typeface="Georgia"/>
        <a:cs typeface="Georgi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BA28DED8D9F2D14B8E27CB18C307E003" ma:contentTypeVersion="7" ma:contentTypeDescription="新建文档。" ma:contentTypeScope="" ma:versionID="8e87291d25d8265b33d35bde67425d18">
  <xsd:schema xmlns:xsd="http://www.w3.org/2001/XMLSchema" xmlns:xs="http://www.w3.org/2001/XMLSchema" xmlns:p="http://schemas.microsoft.com/office/2006/metadata/properties" xmlns:ns2="59278939-d8ab-4e38-b034-f411ac5ce45e" targetNamespace="http://schemas.microsoft.com/office/2006/metadata/properties" ma:root="true" ma:fieldsID="a2b22be353407fad8a8e10cfed4202f2" ns2:_="">
    <xsd:import namespace="59278939-d8ab-4e38-b034-f411ac5ce4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278939-d8ab-4e38-b034-f411ac5ce4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70373F-607F-4CAC-B81E-ECE4697B0579}"/>
</file>

<file path=customXml/itemProps2.xml><?xml version="1.0" encoding="utf-8"?>
<ds:datastoreItem xmlns:ds="http://schemas.openxmlformats.org/officeDocument/2006/customXml" ds:itemID="{591D19BE-434B-43FF-9283-A7D57907FB6F}"/>
</file>

<file path=customXml/itemProps3.xml><?xml version="1.0" encoding="utf-8"?>
<ds:datastoreItem xmlns:ds="http://schemas.openxmlformats.org/officeDocument/2006/customXml" ds:itemID="{B787C295-B0DC-4932-AD61-961AAA90A96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Macintosh PowerPoint</Application>
  <PresentationFormat>Custom</PresentationFormat>
  <Paragraphs>77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Courier</vt:lpstr>
      <vt:lpstr>Georgia</vt:lpstr>
      <vt:lpstr>Helvetica</vt:lpstr>
      <vt:lpstr>Helvetica Light</vt:lpstr>
      <vt:lpstr>Helvetica Neue</vt:lpstr>
      <vt:lpstr>Helvetica Neue Light</vt:lpstr>
      <vt:lpstr>Helvetica Neue Medium</vt:lpstr>
      <vt:lpstr>White</vt:lpstr>
      <vt:lpstr>ISE 331: Computer Security Fundamentals  Spring 2026</vt:lpstr>
      <vt:lpstr>whoami</vt:lpstr>
      <vt:lpstr>PowerPoint Presentation</vt:lpstr>
      <vt:lpstr>What are we going to do?</vt:lpstr>
      <vt:lpstr>Class Topics</vt:lpstr>
      <vt:lpstr>Grading</vt:lpstr>
      <vt:lpstr>Homework - 30%</vt:lpstr>
      <vt:lpstr>Quizes - 20%</vt:lpstr>
      <vt:lpstr>Midterm Exam - 20%</vt:lpstr>
      <vt:lpstr>Final Exam - 30%</vt:lpstr>
      <vt:lpstr>Class Schedule</vt:lpstr>
      <vt:lpstr>If you need to reach me</vt:lpstr>
      <vt:lpstr>Develop a Security Mindset</vt:lpstr>
      <vt:lpstr>Good Luck! See you in person soon!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Amir Rahmati</cp:lastModifiedBy>
  <cp:revision>1</cp:revision>
  <dcterms:modified xsi:type="dcterms:W3CDTF">2026-03-03T02:29:56Z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0x010100BA28DED8D9F2D14B8E27CB18C307E003</vt:lpwstr>
  </property>
</Properties>
</file>