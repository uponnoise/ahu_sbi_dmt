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51" r:id="rId1"/>
    <p:sldMasterId id="2147483660" r:id="rId2"/>
    <p:sldMasterId id="2147483762" r:id="rId3"/>
  </p:sldMasterIdLst>
  <p:notesMasterIdLst>
    <p:notesMasterId r:id="rId59"/>
  </p:notesMasterIdLst>
  <p:handoutMasterIdLst>
    <p:handoutMasterId r:id="rId60"/>
  </p:handoutMasterIdLst>
  <p:sldIdLst>
    <p:sldId id="289" r:id="rId4"/>
    <p:sldId id="399" r:id="rId5"/>
    <p:sldId id="384" r:id="rId6"/>
    <p:sldId id="322" r:id="rId7"/>
    <p:sldId id="385" r:id="rId8"/>
    <p:sldId id="386" r:id="rId9"/>
    <p:sldId id="388" r:id="rId10"/>
    <p:sldId id="389" r:id="rId11"/>
    <p:sldId id="390" r:id="rId12"/>
    <p:sldId id="391" r:id="rId13"/>
    <p:sldId id="392" r:id="rId14"/>
    <p:sldId id="393" r:id="rId15"/>
    <p:sldId id="400" r:id="rId16"/>
    <p:sldId id="394" r:id="rId17"/>
    <p:sldId id="323" r:id="rId18"/>
    <p:sldId id="396" r:id="rId19"/>
    <p:sldId id="324" r:id="rId20"/>
    <p:sldId id="325" r:id="rId21"/>
    <p:sldId id="326" r:id="rId22"/>
    <p:sldId id="327" r:id="rId23"/>
    <p:sldId id="376" r:id="rId24"/>
    <p:sldId id="377" r:id="rId25"/>
    <p:sldId id="401" r:id="rId26"/>
    <p:sldId id="374" r:id="rId27"/>
    <p:sldId id="375" r:id="rId28"/>
    <p:sldId id="328" r:id="rId29"/>
    <p:sldId id="378" r:id="rId30"/>
    <p:sldId id="379" r:id="rId31"/>
    <p:sldId id="382" r:id="rId32"/>
    <p:sldId id="380" r:id="rId33"/>
    <p:sldId id="383" r:id="rId34"/>
    <p:sldId id="359" r:id="rId35"/>
    <p:sldId id="398" r:id="rId36"/>
    <p:sldId id="266" r:id="rId37"/>
    <p:sldId id="267" r:id="rId38"/>
    <p:sldId id="270" r:id="rId39"/>
    <p:sldId id="284" r:id="rId40"/>
    <p:sldId id="268" r:id="rId41"/>
    <p:sldId id="274" r:id="rId42"/>
    <p:sldId id="272" r:id="rId43"/>
    <p:sldId id="285" r:id="rId44"/>
    <p:sldId id="286" r:id="rId45"/>
    <p:sldId id="275" r:id="rId46"/>
    <p:sldId id="276" r:id="rId47"/>
    <p:sldId id="278" r:id="rId48"/>
    <p:sldId id="277" r:id="rId49"/>
    <p:sldId id="288" r:id="rId50"/>
    <p:sldId id="279" r:id="rId51"/>
    <p:sldId id="280" r:id="rId52"/>
    <p:sldId id="282" r:id="rId53"/>
    <p:sldId id="283" r:id="rId54"/>
    <p:sldId id="269" r:id="rId55"/>
    <p:sldId id="273" r:id="rId56"/>
    <p:sldId id="281" r:id="rId57"/>
    <p:sldId id="402" r:id="rId58"/>
  </p:sldIdLst>
  <p:sldSz cx="12192000" cy="6858000"/>
  <p:notesSz cx="9296400" cy="7010400"/>
  <p:custDataLst>
    <p:tags r:id="rId6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1A11"/>
    <a:srgbClr val="FF9933"/>
    <a:srgbClr val="CC6600"/>
    <a:srgbClr val="F0F0F0"/>
    <a:srgbClr val="CCCC00"/>
    <a:srgbClr val="800000"/>
    <a:srgbClr val="2BD426"/>
    <a:srgbClr val="0100FF"/>
    <a:srgbClr val="19FF19"/>
    <a:srgbClr val="9EF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14" autoAdjust="0"/>
    <p:restoredTop sz="91971" autoAdjust="0"/>
  </p:normalViewPr>
  <p:slideViewPr>
    <p:cSldViewPr>
      <p:cViewPr varScale="1">
        <p:scale>
          <a:sx n="68" d="100"/>
          <a:sy n="68" d="100"/>
        </p:scale>
        <p:origin x="84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9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tags" Target="tags/tag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6111496-B189-429B-AFC5-24D1D34733DC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C90CB45-27BB-4BD8-9A38-71B07E440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60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628FCE6-EDDF-4DAD-B7E1-744EFADB451A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11400" y="525463"/>
            <a:ext cx="46736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2938DFF-218C-4948-B31E-06D658EB2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360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32306-F963-EA6C-F14A-605B12F54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F81D4A-67A8-ACDC-66FE-0738057CA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AC92D-138D-5FD3-0495-CC918EED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56D95-8E9A-1430-3266-08BB379A0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938DFF-218C-4948-B31E-06D658EB2B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34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Roles in a relationship: an entity set can appear two or more times in a relationship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938DFF-218C-4948-B31E-06D658EB2B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2568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DFF-218C-4948-B31E-06D658EB2B3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58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38DFF-218C-4948-B31E-06D658EB2B3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00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938DFF-218C-4948-B31E-06D658EB2B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5262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1" y="169333"/>
            <a:ext cx="11909852" cy="7179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226" y="931863"/>
            <a:ext cx="11813228" cy="5316538"/>
          </a:xfrm>
        </p:spPr>
        <p:txBody>
          <a:bodyPr/>
          <a:lstStyle>
            <a:lvl1pPr>
              <a:spcAft>
                <a:spcPts val="300"/>
              </a:spcAft>
              <a:defRPr>
                <a:latin typeface="Verdana" pitchFamily="34" charset="0"/>
              </a:defRPr>
            </a:lvl1pPr>
            <a:lvl2pPr>
              <a:spcAft>
                <a:spcPts val="300"/>
              </a:spcAft>
              <a:defRPr>
                <a:latin typeface="Verdana" pitchFamily="34" charset="0"/>
              </a:defRPr>
            </a:lvl2pPr>
            <a:lvl3pPr>
              <a:spcAft>
                <a:spcPts val="300"/>
              </a:spcAft>
              <a:defRPr>
                <a:latin typeface="Verdana" pitchFamily="34" charset="0"/>
              </a:defRPr>
            </a:lvl3pPr>
            <a:lvl4pPr>
              <a:spcAft>
                <a:spcPts val="300"/>
              </a:spcAft>
              <a:defRPr>
                <a:latin typeface="Verdana" pitchFamily="34" charset="0"/>
              </a:defRPr>
            </a:lvl4pPr>
            <a:lvl5pPr>
              <a:spcAft>
                <a:spcPts val="300"/>
              </a:spcAft>
              <a:defRPr>
                <a:latin typeface="Verdana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893605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577973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1" y="1295401"/>
            <a:ext cx="5568951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4151" y="1295401"/>
            <a:ext cx="5568949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902448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520457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100001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34226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419742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419600"/>
            <a:ext cx="11506200" cy="72770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612775"/>
            <a:ext cx="11506200" cy="449262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5367338"/>
            <a:ext cx="11506200" cy="10334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243448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264808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1" y="515939"/>
            <a:ext cx="2851149" cy="6188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3900" y="515939"/>
            <a:ext cx="8350251" cy="6188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942059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8DA987-F755-88BE-C273-E55F3DB81491}"/>
              </a:ext>
            </a:extLst>
          </p:cNvPr>
          <p:cNvSpPr/>
          <p:nvPr userDrawn="1"/>
        </p:nvSpPr>
        <p:spPr bwMode="auto">
          <a:xfrm>
            <a:off x="1" y="2282757"/>
            <a:ext cx="12192000" cy="2441643"/>
          </a:xfrm>
          <a:prstGeom prst="rect">
            <a:avLst/>
          </a:prstGeom>
          <a:solidFill>
            <a:srgbClr val="8D1A1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5899" y="2590801"/>
            <a:ext cx="11813228" cy="1905000"/>
          </a:xfrm>
        </p:spPr>
        <p:txBody>
          <a:bodyPr anchor="ctr" anchorCtr="0"/>
          <a:lstStyle>
            <a:lvl1pPr marL="0" indent="0" algn="ctr">
              <a:spcAft>
                <a:spcPts val="300"/>
              </a:spcAft>
              <a:buNone/>
              <a:defRPr sz="3400">
                <a:solidFill>
                  <a:schemeClr val="bg1"/>
                </a:solidFill>
                <a:latin typeface="Verdana" pitchFamily="34" charset="0"/>
              </a:defRPr>
            </a:lvl1pPr>
            <a:lvl2pPr>
              <a:spcAft>
                <a:spcPts val="300"/>
              </a:spcAft>
              <a:defRPr>
                <a:latin typeface="Verdana" pitchFamily="34" charset="0"/>
              </a:defRPr>
            </a:lvl2pPr>
            <a:lvl3pPr>
              <a:spcAft>
                <a:spcPts val="300"/>
              </a:spcAft>
              <a:defRPr>
                <a:latin typeface="Verdana" pitchFamily="34" charset="0"/>
              </a:defRPr>
            </a:lvl3pPr>
            <a:lvl4pPr>
              <a:spcAft>
                <a:spcPts val="300"/>
              </a:spcAft>
              <a:defRPr>
                <a:latin typeface="Verdana" pitchFamily="34" charset="0"/>
              </a:defRPr>
            </a:lvl4pPr>
            <a:lvl5pPr>
              <a:spcAft>
                <a:spcPts val="300"/>
              </a:spcAft>
              <a:defRPr>
                <a:latin typeface="Verdana" pitchFamily="34" charset="0"/>
              </a:defRPr>
            </a:lvl5pPr>
          </a:lstStyle>
          <a:p>
            <a:pPr lvl="0"/>
            <a:r>
              <a:rPr lang="en-US" dirty="0"/>
              <a:t>Common Tabe Expressions </a:t>
            </a:r>
          </a:p>
          <a:p>
            <a:pPr lvl="0"/>
            <a:r>
              <a:rPr lang="en-US" dirty="0"/>
              <a:t>and Recursive Queries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C57061-B223-29B6-C8FE-305EDC1AD3FD}"/>
              </a:ext>
            </a:extLst>
          </p:cNvPr>
          <p:cNvSpPr/>
          <p:nvPr userDrawn="1"/>
        </p:nvSpPr>
        <p:spPr bwMode="auto">
          <a:xfrm>
            <a:off x="0" y="4876800"/>
            <a:ext cx="12192000" cy="19812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37A6CC-31BA-59FE-B641-46A1E17BF830}"/>
              </a:ext>
            </a:extLst>
          </p:cNvPr>
          <p:cNvCxnSpPr/>
          <p:nvPr userDrawn="1"/>
        </p:nvCxnSpPr>
        <p:spPr bwMode="auto">
          <a:xfrm>
            <a:off x="0" y="4330439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ADC6BC-4043-8EA5-9FDD-134773F612DB}"/>
              </a:ext>
            </a:extLst>
          </p:cNvPr>
          <p:cNvCxnSpPr/>
          <p:nvPr userDrawn="1"/>
        </p:nvCxnSpPr>
        <p:spPr bwMode="auto">
          <a:xfrm>
            <a:off x="0" y="4343401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A22648-D334-3753-E71E-73FC38FC9F50}"/>
              </a:ext>
            </a:extLst>
          </p:cNvPr>
          <p:cNvCxnSpPr/>
          <p:nvPr userDrawn="1"/>
        </p:nvCxnSpPr>
        <p:spPr bwMode="auto">
          <a:xfrm>
            <a:off x="0" y="2688083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BE8D5CE-DBAB-0295-774E-CFA11CEB30D8}"/>
              </a:ext>
            </a:extLst>
          </p:cNvPr>
          <p:cNvCxnSpPr/>
          <p:nvPr userDrawn="1"/>
        </p:nvCxnSpPr>
        <p:spPr bwMode="auto">
          <a:xfrm>
            <a:off x="0" y="2701045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80A516C-91FA-B4EC-0709-8FB583F970D7}"/>
              </a:ext>
            </a:extLst>
          </p:cNvPr>
          <p:cNvSpPr/>
          <p:nvPr userDrawn="1"/>
        </p:nvSpPr>
        <p:spPr bwMode="auto">
          <a:xfrm>
            <a:off x="0" y="-3243"/>
            <a:ext cx="12192000" cy="19812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03325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1" y="169333"/>
            <a:ext cx="11909852" cy="717937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226" y="931863"/>
            <a:ext cx="11813228" cy="5316538"/>
          </a:xfrm>
        </p:spPr>
        <p:txBody>
          <a:bodyPr/>
          <a:lstStyle>
            <a:lvl1pPr>
              <a:spcAft>
                <a:spcPts val="300"/>
              </a:spcAft>
              <a:defRPr>
                <a:latin typeface="Verdana" pitchFamily="34" charset="0"/>
              </a:defRPr>
            </a:lvl1pPr>
            <a:lvl2pPr>
              <a:spcAft>
                <a:spcPts val="300"/>
              </a:spcAft>
              <a:defRPr>
                <a:latin typeface="Verdana" pitchFamily="34" charset="0"/>
              </a:defRPr>
            </a:lvl2pPr>
            <a:lvl3pPr>
              <a:spcAft>
                <a:spcPts val="300"/>
              </a:spcAft>
              <a:defRPr>
                <a:latin typeface="Verdana" pitchFamily="34" charset="0"/>
              </a:defRPr>
            </a:lvl3pPr>
            <a:lvl4pPr>
              <a:spcAft>
                <a:spcPts val="300"/>
              </a:spcAft>
              <a:defRPr>
                <a:latin typeface="Verdana" pitchFamily="34" charset="0"/>
              </a:defRPr>
            </a:lvl4pPr>
            <a:lvl5pPr>
              <a:spcAft>
                <a:spcPts val="300"/>
              </a:spcAft>
              <a:defRPr>
                <a:latin typeface="Verdana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1" y="1295401"/>
            <a:ext cx="5568951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4151" y="1295401"/>
            <a:ext cx="5568949" cy="5408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1" y="515939"/>
            <a:ext cx="2851149" cy="6188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3900" y="515939"/>
            <a:ext cx="8350251" cy="6188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0" y="1082675"/>
            <a:ext cx="12192000" cy="1588"/>
          </a:xfrm>
          <a:prstGeom prst="line">
            <a:avLst/>
          </a:prstGeom>
          <a:ln w="12700">
            <a:solidFill>
              <a:srgbClr val="B602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0" y="6288062"/>
            <a:ext cx="12192000" cy="467416"/>
          </a:xfrm>
          <a:prstGeom prst="rect">
            <a:avLst/>
          </a:prstGeom>
        </p:spPr>
        <p:txBody>
          <a:bodyPr anchor="ctr"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1091260"/>
            <a:ext cx="12192000" cy="5205623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65635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609600" y="1066801"/>
            <a:ext cx="10972800" cy="5211917"/>
          </a:xfrm>
        </p:spPr>
        <p:txBody>
          <a:bodyPr tIns="0" rIns="0" bIns="0" anchor="ctr"/>
          <a:lstStyle>
            <a:lvl1pPr algn="ctr">
              <a:buFontTx/>
              <a:buNone/>
              <a:defRPr sz="4400">
                <a:solidFill>
                  <a:srgbClr val="B60225"/>
                </a:solidFill>
              </a:defRPr>
            </a:lvl1pPr>
            <a:lvl2pPr marL="228600" indent="-228600" algn="ctr">
              <a:buClr>
                <a:srgbClr val="C03137"/>
              </a:buClr>
              <a:buFontTx/>
              <a:buNone/>
              <a:defRPr sz="2400"/>
            </a:lvl2pPr>
            <a:lvl3pPr marL="458788" indent="-230188" algn="ctr">
              <a:buFontTx/>
              <a:buNone/>
              <a:defRPr/>
            </a:lvl3pPr>
            <a:lvl4pPr marL="458788" indent="-230188" algn="ctr">
              <a:buFontTx/>
              <a:buNone/>
              <a:defRPr/>
            </a:lvl4pPr>
            <a:lvl5pPr marL="458788" indent="-230188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57581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Left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609600" y="1367658"/>
            <a:ext cx="10972800" cy="4804543"/>
          </a:xfrm>
        </p:spPr>
        <p:txBody>
          <a:bodyPr tIns="0" rIns="0" bIns="0"/>
          <a:lstStyle>
            <a:lvl1pPr>
              <a:buFontTx/>
              <a:buNone/>
              <a:defRPr>
                <a:solidFill>
                  <a:srgbClr val="B60225"/>
                </a:solidFill>
              </a:defRPr>
            </a:lvl1pPr>
            <a:lvl2pPr marL="228600" indent="-228600">
              <a:buClr>
                <a:srgbClr val="C03137"/>
              </a:buClr>
              <a:buFont typeface="Arial"/>
              <a:buChar char="•"/>
              <a:defRPr sz="2400"/>
            </a:lvl2pPr>
            <a:lvl3pPr marL="458788" indent="-230188">
              <a:defRPr/>
            </a:lvl3pPr>
            <a:lvl4pPr marL="458788" indent="-230188">
              <a:defRPr/>
            </a:lvl4pPr>
            <a:lvl5pPr marL="458788" indent="-230188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2565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Bulleted Text 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2"/>
          </p:nvPr>
        </p:nvSpPr>
        <p:spPr>
          <a:xfrm>
            <a:off x="609599" y="1384048"/>
            <a:ext cx="7034288" cy="4788153"/>
          </a:xfrm>
        </p:spPr>
        <p:txBody>
          <a:bodyPr tIns="0"/>
          <a:lstStyle>
            <a:lvl1pPr marL="0" indent="0">
              <a:buNone/>
              <a:defRPr sz="2600">
                <a:solidFill>
                  <a:srgbClr val="B60225"/>
                </a:solidFill>
              </a:defRPr>
            </a:lvl1pPr>
            <a:lvl2pPr marL="228600" indent="-228600" algn="l">
              <a:buClr>
                <a:srgbClr val="B60225"/>
              </a:buClr>
              <a:buFont typeface="Arial"/>
              <a:buChar char="•"/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17"/>
          </p:nvPr>
        </p:nvSpPr>
        <p:spPr>
          <a:xfrm>
            <a:off x="8116291" y="1094980"/>
            <a:ext cx="4075709" cy="1661390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21"/>
          </p:nvPr>
        </p:nvSpPr>
        <p:spPr>
          <a:xfrm>
            <a:off x="8116291" y="4619039"/>
            <a:ext cx="4075709" cy="1655702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22"/>
          </p:nvPr>
        </p:nvSpPr>
        <p:spPr>
          <a:xfrm>
            <a:off x="8116291" y="2850446"/>
            <a:ext cx="4075709" cy="1655702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7130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BU Bulleted Tex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714862" y="1094981"/>
            <a:ext cx="5477137" cy="5173084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0" y="6362700"/>
            <a:ext cx="12192000" cy="4953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20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2"/>
          </p:nvPr>
        </p:nvSpPr>
        <p:spPr>
          <a:xfrm>
            <a:off x="609600" y="1392240"/>
            <a:ext cx="5638801" cy="4805361"/>
          </a:xfrm>
        </p:spPr>
        <p:txBody>
          <a:bodyPr tIns="0"/>
          <a:lstStyle>
            <a:lvl1pPr marL="0" indent="0">
              <a:buNone/>
              <a:defRPr sz="2600">
                <a:solidFill>
                  <a:srgbClr val="B60225"/>
                </a:solidFill>
              </a:defRPr>
            </a:lvl1pPr>
            <a:lvl2pPr marL="228600" indent="-228600" algn="l">
              <a:buClr>
                <a:srgbClr val="B60225"/>
              </a:buClr>
              <a:buFont typeface="Arial"/>
              <a:buChar char="•"/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073411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8DA987-F755-88BE-C273-E55F3DB81491}"/>
              </a:ext>
            </a:extLst>
          </p:cNvPr>
          <p:cNvSpPr/>
          <p:nvPr userDrawn="1"/>
        </p:nvSpPr>
        <p:spPr bwMode="auto">
          <a:xfrm>
            <a:off x="1" y="2282757"/>
            <a:ext cx="12192000" cy="2441643"/>
          </a:xfrm>
          <a:prstGeom prst="rect">
            <a:avLst/>
          </a:prstGeom>
          <a:solidFill>
            <a:srgbClr val="8D1A1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5899" y="2590801"/>
            <a:ext cx="11813228" cy="1905000"/>
          </a:xfrm>
        </p:spPr>
        <p:txBody>
          <a:bodyPr anchor="ctr" anchorCtr="0"/>
          <a:lstStyle>
            <a:lvl1pPr marL="0" indent="0" algn="ctr">
              <a:spcAft>
                <a:spcPts val="300"/>
              </a:spcAft>
              <a:buNone/>
              <a:defRPr sz="3400">
                <a:solidFill>
                  <a:schemeClr val="bg1"/>
                </a:solidFill>
                <a:latin typeface="Verdana" pitchFamily="34" charset="0"/>
              </a:defRPr>
            </a:lvl1pPr>
            <a:lvl2pPr>
              <a:spcAft>
                <a:spcPts val="300"/>
              </a:spcAft>
              <a:defRPr>
                <a:latin typeface="Verdana" pitchFamily="34" charset="0"/>
              </a:defRPr>
            </a:lvl2pPr>
            <a:lvl3pPr>
              <a:spcAft>
                <a:spcPts val="300"/>
              </a:spcAft>
              <a:defRPr>
                <a:latin typeface="Verdana" pitchFamily="34" charset="0"/>
              </a:defRPr>
            </a:lvl3pPr>
            <a:lvl4pPr>
              <a:spcAft>
                <a:spcPts val="300"/>
              </a:spcAft>
              <a:defRPr>
                <a:latin typeface="Verdana" pitchFamily="34" charset="0"/>
              </a:defRPr>
            </a:lvl4pPr>
            <a:lvl5pPr>
              <a:spcAft>
                <a:spcPts val="300"/>
              </a:spcAft>
              <a:defRPr>
                <a:latin typeface="Verdana" pitchFamily="34" charset="0"/>
              </a:defRPr>
            </a:lvl5pPr>
          </a:lstStyle>
          <a:p>
            <a:pPr lvl="0"/>
            <a:r>
              <a:rPr lang="en-US" dirty="0"/>
              <a:t>Common Tabe Expressions </a:t>
            </a:r>
          </a:p>
          <a:p>
            <a:pPr lvl="0"/>
            <a:r>
              <a:rPr lang="en-US" dirty="0"/>
              <a:t>and Recursive Queries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C57061-B223-29B6-C8FE-305EDC1AD3FD}"/>
              </a:ext>
            </a:extLst>
          </p:cNvPr>
          <p:cNvSpPr/>
          <p:nvPr userDrawn="1"/>
        </p:nvSpPr>
        <p:spPr bwMode="auto">
          <a:xfrm>
            <a:off x="0" y="4876800"/>
            <a:ext cx="12192000" cy="19812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37A6CC-31BA-59FE-B641-46A1E17BF830}"/>
              </a:ext>
            </a:extLst>
          </p:cNvPr>
          <p:cNvCxnSpPr/>
          <p:nvPr userDrawn="1"/>
        </p:nvCxnSpPr>
        <p:spPr bwMode="auto">
          <a:xfrm>
            <a:off x="0" y="4330439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ADC6BC-4043-8EA5-9FDD-134773F612DB}"/>
              </a:ext>
            </a:extLst>
          </p:cNvPr>
          <p:cNvCxnSpPr/>
          <p:nvPr userDrawn="1"/>
        </p:nvCxnSpPr>
        <p:spPr bwMode="auto">
          <a:xfrm>
            <a:off x="0" y="4343401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A22648-D334-3753-E71E-73FC38FC9F50}"/>
              </a:ext>
            </a:extLst>
          </p:cNvPr>
          <p:cNvCxnSpPr/>
          <p:nvPr userDrawn="1"/>
        </p:nvCxnSpPr>
        <p:spPr bwMode="auto">
          <a:xfrm>
            <a:off x="0" y="2688083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BE8D5CE-DBAB-0295-774E-CFA11CEB30D8}"/>
              </a:ext>
            </a:extLst>
          </p:cNvPr>
          <p:cNvCxnSpPr/>
          <p:nvPr userDrawn="1"/>
        </p:nvCxnSpPr>
        <p:spPr bwMode="auto">
          <a:xfrm>
            <a:off x="0" y="2701045"/>
            <a:ext cx="12192000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80A516C-91FA-B4EC-0709-8FB583F970D7}"/>
              </a:ext>
            </a:extLst>
          </p:cNvPr>
          <p:cNvSpPr/>
          <p:nvPr userDrawn="1"/>
        </p:nvSpPr>
        <p:spPr bwMode="auto">
          <a:xfrm>
            <a:off x="0" y="-3243"/>
            <a:ext cx="12192000" cy="19812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553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89872" y="152400"/>
            <a:ext cx="11673527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Click to add title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9873" y="946942"/>
            <a:ext cx="11673527" cy="5301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</p:txBody>
      </p:sp>
      <p:pic>
        <p:nvPicPr>
          <p:cNvPr id="9" name="Picture 7" descr="PPTbackground_Red.jpg"/>
          <p:cNvPicPr>
            <a:picLocks noChangeAspect="1"/>
          </p:cNvPicPr>
          <p:nvPr userDrawn="1"/>
        </p:nvPicPr>
        <p:blipFill>
          <a:blip r:embed="rId13"/>
          <a:srcRect b="97814"/>
          <a:stretch>
            <a:fillRect/>
          </a:stretch>
        </p:blipFill>
        <p:spPr bwMode="auto">
          <a:xfrm flipH="1">
            <a:off x="0" y="-11905"/>
            <a:ext cx="12192000" cy="14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36525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 10"/>
          <p:cNvSpPr/>
          <p:nvPr userDrawn="1"/>
        </p:nvSpPr>
        <p:spPr>
          <a:xfrm>
            <a:off x="0" y="6324601"/>
            <a:ext cx="12192000" cy="544290"/>
          </a:xfrm>
          <a:prstGeom prst="rect">
            <a:avLst/>
          </a:prstGeom>
          <a:solidFill>
            <a:srgbClr val="8D1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8D1A1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B0E251-CC22-766A-8CA5-85DFC9747F54}"/>
              </a:ext>
            </a:extLst>
          </p:cNvPr>
          <p:cNvSpPr/>
          <p:nvPr userDrawn="1"/>
        </p:nvSpPr>
        <p:spPr bwMode="auto">
          <a:xfrm>
            <a:off x="-3243" y="0"/>
            <a:ext cx="12191999" cy="137320"/>
          </a:xfrm>
          <a:prstGeom prst="rect">
            <a:avLst/>
          </a:prstGeom>
          <a:solidFill>
            <a:srgbClr val="8D1A1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pic>
        <p:nvPicPr>
          <p:cNvPr id="5" name="Picture 4" descr="A logo with text on it&#10;&#10;AI-generated content may be incorrect.">
            <a:extLst>
              <a:ext uri="{FF2B5EF4-FFF2-40B4-BE49-F238E27FC236}">
                <a16:creationId xmlns:a16="http://schemas.microsoft.com/office/drawing/2014/main" id="{520735B3-D6D0-5F46-233B-DAB85DBEF77C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155847"/>
            <a:ext cx="609362" cy="60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78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8" r:id="rId11"/>
  </p:sldLayoutIdLst>
  <p:transition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rgbClr val="003399"/>
          </a:solidFill>
          <a:latin typeface="Verdana" pitchFamily="34" charset="0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Verdan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Verdan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Verdan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89872" y="152400"/>
            <a:ext cx="11684000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Click to add title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9873" y="946943"/>
            <a:ext cx="11684000" cy="5342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F9850F-6404-5DB0-E9EC-8C2C8C0133FE}"/>
              </a:ext>
            </a:extLst>
          </p:cNvPr>
          <p:cNvSpPr/>
          <p:nvPr userDrawn="1"/>
        </p:nvSpPr>
        <p:spPr>
          <a:xfrm>
            <a:off x="0" y="6324601"/>
            <a:ext cx="12192000" cy="544290"/>
          </a:xfrm>
          <a:prstGeom prst="rect">
            <a:avLst/>
          </a:prstGeom>
          <a:solidFill>
            <a:srgbClr val="8D1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8D1A1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C76EC1-DB2C-D892-AE61-72A1EDABF029}"/>
              </a:ext>
            </a:extLst>
          </p:cNvPr>
          <p:cNvSpPr/>
          <p:nvPr userDrawn="1"/>
        </p:nvSpPr>
        <p:spPr bwMode="auto">
          <a:xfrm>
            <a:off x="-3243" y="0"/>
            <a:ext cx="12191999" cy="137320"/>
          </a:xfrm>
          <a:prstGeom prst="rect">
            <a:avLst/>
          </a:prstGeom>
          <a:solidFill>
            <a:srgbClr val="8D1A1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ransition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 b="1">
          <a:solidFill>
            <a:srgbClr val="003399"/>
          </a:solidFill>
          <a:latin typeface="Verdana" pitchFamily="34" charset="0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Verdana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600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Verdan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Verdan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Verdan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3399"/>
          </a:solidFill>
          <a:latin typeface="Siemens Sans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EE2E6FD-974C-B638-4D91-11E757995767}"/>
              </a:ext>
            </a:extLst>
          </p:cNvPr>
          <p:cNvSpPr/>
          <p:nvPr userDrawn="1"/>
        </p:nvSpPr>
        <p:spPr>
          <a:xfrm>
            <a:off x="0" y="0"/>
            <a:ext cx="12192000" cy="1081087"/>
          </a:xfrm>
          <a:prstGeom prst="rect">
            <a:avLst/>
          </a:prstGeom>
          <a:solidFill>
            <a:srgbClr val="8D1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30326"/>
            <a:ext cx="11658600" cy="4868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8564"/>
            <a:ext cx="12192000" cy="579437"/>
          </a:xfrm>
          <a:prstGeom prst="rect">
            <a:avLst/>
          </a:prstGeom>
          <a:solidFill>
            <a:srgbClr val="8D1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082675"/>
            <a:ext cx="12192000" cy="1588"/>
          </a:xfrm>
          <a:prstGeom prst="line">
            <a:avLst/>
          </a:prstGeom>
          <a:ln w="12700">
            <a:solidFill>
              <a:srgbClr val="B602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930A759-D337-62C7-B0C6-99A2684EBDF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448800" y="85877"/>
            <a:ext cx="2606546" cy="88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0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9" r:id="rId6"/>
  </p:sldLayoutIdLst>
  <p:txStyles>
    <p:titleStyle>
      <a:lvl1pPr algn="r" defTabSz="457200" rtl="0" eaLnBrk="0" fontAlgn="base" hangingPunct="0">
        <a:spcBef>
          <a:spcPct val="0"/>
        </a:spcBef>
        <a:spcAft>
          <a:spcPct val="0"/>
        </a:spcAft>
        <a:defRPr sz="5400" kern="1200" baseline="6000">
          <a:solidFill>
            <a:schemeClr val="bg1"/>
          </a:solidFill>
          <a:latin typeface="Helvetica"/>
          <a:ea typeface="ＭＳ Ｐゴシック" pitchFamily="-112" charset="-128"/>
          <a:cs typeface="Helvetica"/>
        </a:defRPr>
      </a:lvl1pPr>
      <a:lvl2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2pPr>
      <a:lvl3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3pPr>
      <a:lvl4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4pPr>
      <a:lvl5pPr algn="r" defTabSz="457200" rtl="0" eaLnBrk="0" fontAlgn="base" hangingPunct="0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5pPr>
      <a:lvl6pPr marL="4572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6pPr>
      <a:lvl7pPr marL="9144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7pPr>
      <a:lvl8pPr marL="13716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8pPr>
      <a:lvl9pPr marL="1828800" algn="r" defTabSz="457200" rtl="0" fontAlgn="base">
        <a:spcBef>
          <a:spcPct val="0"/>
        </a:spcBef>
        <a:spcAft>
          <a:spcPct val="0"/>
        </a:spcAft>
        <a:defRPr sz="5400" baseline="6000">
          <a:solidFill>
            <a:schemeClr val="bg1"/>
          </a:solidFill>
          <a:latin typeface="Helvetica" pitchFamily="-112" charset="0"/>
          <a:ea typeface="ＭＳ Ｐゴシック" pitchFamily="-112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Lucida Grande" charset="0"/>
        <a:buChar char="–"/>
        <a:defRPr sz="28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"/>
          <a:ea typeface="ＭＳ Ｐゴシック" pitchFamily="-112" charset="-128"/>
          <a:cs typeface="Helvetic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85843-CE86-6698-B21E-147A43D6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BC622-D2E1-8F57-EFC8-0C7880DF7D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2438400"/>
            <a:ext cx="11430000" cy="6858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ISE305: Database Design and Practice</a:t>
            </a:r>
          </a:p>
          <a:p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4000" b="1" dirty="0">
                <a:solidFill>
                  <a:schemeClr val="tx1"/>
                </a:solidFill>
              </a:rPr>
              <a:t>Logical Database Design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41A1FF6-0DAE-4C54-6271-557B1DDC8225}"/>
              </a:ext>
            </a:extLst>
          </p:cNvPr>
          <p:cNvSpPr txBox="1">
            <a:spLocks/>
          </p:cNvSpPr>
          <p:nvPr/>
        </p:nvSpPr>
        <p:spPr bwMode="auto">
          <a:xfrm>
            <a:off x="2590800" y="4038600"/>
            <a:ext cx="65532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342900" indent="-34290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4400" kern="1200">
                <a:solidFill>
                  <a:srgbClr val="B60225"/>
                </a:solidFill>
                <a:latin typeface="Helvetica"/>
                <a:ea typeface="ＭＳ Ｐゴシック" pitchFamily="-112" charset="-128"/>
                <a:cs typeface="Helvetica"/>
              </a:defRPr>
            </a:lvl1pPr>
            <a:lvl2pPr marL="228600" indent="-22860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3137"/>
              </a:buClr>
              <a:buFontTx/>
              <a:buNone/>
              <a:defRPr sz="2400" kern="1200">
                <a:solidFill>
                  <a:schemeClr val="tx1"/>
                </a:solidFill>
                <a:latin typeface="Helvetica"/>
                <a:ea typeface="ＭＳ Ｐゴシック" pitchFamily="-112" charset="-128"/>
                <a:cs typeface="Helvetica"/>
              </a:defRPr>
            </a:lvl2pPr>
            <a:lvl3pPr marL="458788" indent="-230188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 kern="1200">
                <a:solidFill>
                  <a:schemeClr val="tx1"/>
                </a:solidFill>
                <a:latin typeface="Helvetica"/>
                <a:ea typeface="ＭＳ Ｐゴシック" pitchFamily="-112" charset="-128"/>
                <a:cs typeface="Helvetica"/>
              </a:defRPr>
            </a:lvl3pPr>
            <a:lvl4pPr marL="458788" indent="-230188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 kern="1200">
                <a:solidFill>
                  <a:schemeClr val="tx1"/>
                </a:solidFill>
                <a:latin typeface="Helvetica"/>
                <a:ea typeface="ＭＳ Ｐゴシック" pitchFamily="-112" charset="-128"/>
                <a:cs typeface="Helvetica"/>
              </a:defRPr>
            </a:lvl4pPr>
            <a:lvl5pPr marL="458788" indent="-230188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 kern="1200">
                <a:solidFill>
                  <a:schemeClr val="tx1"/>
                </a:solidFill>
                <a:latin typeface="Helvetica"/>
                <a:ea typeface="ＭＳ Ｐゴシック" pitchFamily="-112" charset="-128"/>
                <a:cs typeface="Helvetic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ＭＳ Ｐゴシック" pitchFamily="-112" charset="-128"/>
            </a:endParaRPr>
          </a:p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ＭＳ Ｐゴシック" pitchFamily="-112" charset="-128"/>
              </a:rPr>
              <a:t>Fusheng Wang</a:t>
            </a:r>
          </a:p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ＭＳ Ｐゴシック" pitchFamily="-112" charset="-128"/>
              </a:rPr>
              <a:t>Department of Computer Science</a:t>
            </a:r>
          </a:p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ＭＳ Ｐゴシック" pitchFamily="-112" charset="-128"/>
              </a:rPr>
              <a:t>Department of Biomedical Informatics</a:t>
            </a:r>
          </a:p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</a:rPr>
              <a:t>Stony Brook University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ＭＳ Ｐゴシック" pitchFamily="-112" charset="-128"/>
            </a:endParaRPr>
          </a:p>
          <a:p>
            <a:pPr marL="342900" marR="0" lvl="0" indent="-34290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4710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4C76C-F0FA-D4A0-FFC2-76BA3E172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4307AF-501C-07EE-CC50-CAA36903C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 of Database Design</a:t>
            </a:r>
          </a:p>
        </p:txBody>
      </p:sp>
    </p:spTree>
    <p:extLst>
      <p:ext uri="{BB962C8B-B14F-4D97-AF65-F5344CB8AC3E}">
        <p14:creationId xmlns:p14="http://schemas.microsoft.com/office/powerpoint/2010/main" val="131149489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EAD2F-4456-D9E2-7FE2-FD54483EC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of Database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0E7CA-B081-FFCD-3AF9-1718A313A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availability—make an integrated collection of data available to a wide variety of users</a:t>
            </a:r>
          </a:p>
          <a:p>
            <a:r>
              <a:rPr lang="en-US" dirty="0"/>
              <a:t>Data integrity—insure correctness and validity</a:t>
            </a:r>
          </a:p>
          <a:p>
            <a:r>
              <a:rPr lang="en-US" dirty="0"/>
              <a:t>Privacy (the goal) and security (the means)</a:t>
            </a:r>
          </a:p>
          <a:p>
            <a:r>
              <a:rPr lang="en-US" dirty="0"/>
              <a:t>Management control—DBA: lifecycle control, training, maintenance</a:t>
            </a:r>
          </a:p>
          <a:p>
            <a:r>
              <a:rPr lang="en-US" dirty="0"/>
              <a:t>Data independence (a relative term) -- avoids reprogramming of applications, allows easier conversion and reorganization</a:t>
            </a:r>
          </a:p>
          <a:p>
            <a:pPr lvl="1"/>
            <a:r>
              <a:rPr lang="en-US" dirty="0"/>
              <a:t>Physical data independence—program unaffected by changes in the storage structure or access methods</a:t>
            </a:r>
          </a:p>
          <a:p>
            <a:pPr lvl="1"/>
            <a:r>
              <a:rPr lang="en-US" dirty="0"/>
              <a:t>Logical data independence—program unaffected by changes in the schema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72019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Database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226" y="931863"/>
            <a:ext cx="9707774" cy="5316538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dirty="0">
                <a:solidFill>
                  <a:schemeClr val="accent6"/>
                </a:solidFill>
              </a:rPr>
              <a:t>Requirements analysis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data required for processing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natural data relationships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software platform (OS, DBMS)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accent6"/>
                </a:solidFill>
              </a:rPr>
              <a:t>Logical database design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conceptual modeling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view integration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transformation of conceptual data model to tables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normalization of tables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accent6"/>
                </a:solidFill>
              </a:rPr>
              <a:t>Physical database design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selection of indexes (access methods)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partitioning and clustering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accent6"/>
                </a:solidFill>
              </a:rPr>
              <a:t>Database implementation</a:t>
            </a:r>
            <a:r>
              <a:rPr lang="en-US" dirty="0"/>
              <a:t>, monitoring, &amp; modification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1375307A-68ED-4594-AB4F-34BE0C8E9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502" y="581245"/>
            <a:ext cx="4733925" cy="4562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E1FCEF-C917-4C19-BD7E-28F28BF84183}"/>
              </a:ext>
            </a:extLst>
          </p:cNvPr>
          <p:cNvSpPr txBox="1"/>
          <p:nvPr/>
        </p:nvSpPr>
        <p:spPr>
          <a:xfrm>
            <a:off x="205689" y="6397937"/>
            <a:ext cx="1451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88562200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98532-08AD-1B0F-51E1-D0817A15D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1C4C7-EF54-47AB-D452-BAD7B249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Life 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17B0A-D16C-CE60-978A-EBF754A57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316635"/>
            <a:ext cx="4756547" cy="6342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6770888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000EF-DB7A-46FB-1379-D9D456199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7F79B-A6FE-1179-6F54-472D77C63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A6E96-B579-29DB-9191-637EAFC8A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 identify the real-world situation in enough detail to be able to define database components. Collect two types of data</a:t>
            </a:r>
          </a:p>
          <a:p>
            <a:pPr lvl="1"/>
            <a:r>
              <a:rPr lang="en-US" dirty="0"/>
              <a:t>natural data: input to the database</a:t>
            </a:r>
          </a:p>
          <a:p>
            <a:pPr lvl="1"/>
            <a:r>
              <a:rPr lang="en-US" dirty="0"/>
              <a:t>processing data: output from the database</a:t>
            </a:r>
          </a:p>
          <a:p>
            <a:r>
              <a:rPr lang="en-US" dirty="0"/>
              <a:t>Data and process dictionary entries</a:t>
            </a:r>
          </a:p>
          <a:p>
            <a:pPr lvl="1"/>
            <a:r>
              <a:rPr lang="en-US" dirty="0"/>
              <a:t>entity description</a:t>
            </a:r>
          </a:p>
          <a:p>
            <a:pPr lvl="1"/>
            <a:r>
              <a:rPr lang="en-US" dirty="0"/>
              <a:t>attribute description</a:t>
            </a:r>
          </a:p>
          <a:p>
            <a:pPr lvl="1"/>
            <a:r>
              <a:rPr lang="en-US" dirty="0"/>
              <a:t>relationship description</a:t>
            </a:r>
          </a:p>
          <a:p>
            <a:pPr lvl="1"/>
            <a:r>
              <a:rPr lang="en-US" dirty="0"/>
              <a:t>Process (application) description</a:t>
            </a:r>
          </a:p>
          <a:p>
            <a:r>
              <a:rPr lang="en-US" dirty="0"/>
              <a:t>Interviews</a:t>
            </a:r>
          </a:p>
          <a:p>
            <a:pPr lvl="1"/>
            <a:r>
              <a:rPr lang="en-US" dirty="0"/>
              <a:t>interviews at different levels: management, employee, end user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B2EA504-BFDE-4740-BC94-712238845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2522092"/>
            <a:ext cx="5414963" cy="2136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9750593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3A457-1F4C-2B2D-6D37-D177C324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33B0-5CBA-B351-EBBC-25ED3403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Data Modeling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19205-22B6-63F4-3173-FFC192D55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 requirements are analyzed and modeled by using an ER or UML diagram</a:t>
            </a:r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93E2C46-66F4-00CF-C782-776F48B45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286000"/>
            <a:ext cx="8440138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4815782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D87CD-F3C6-93FA-1294-C56338BD8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9591-E120-6468-140B-1EACCB0A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287D6-0199-5F8E-98B8-FDF3F1119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views of the model are consolidated into a single model</a:t>
            </a:r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058A3BE-1743-DDE3-2542-A73841CCB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9017" y="2057400"/>
            <a:ext cx="9073966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6405207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7411B-F208-8A2A-99EC-4C34734BB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465B-3A3D-7447-BAD5-03A0D624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of the Conceptual Data Model to SQL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FB7FE-664F-20DE-2129-61AB51578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data modeling constructs and mapping rules, each relationship and its associated entities are transformed into a set of DBMS-specific candidate relational tables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3385AF-9F05-DFBA-A4D7-179B9D103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1" y="2083349"/>
            <a:ext cx="7010399" cy="4774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9907927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4A9E4-6AC0-A02E-84B1-C4F7828E1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12A07-4EF8-2D67-2B03-03EB4A4A2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of SQL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423D9-BE46-D536-043A-7CCE3CC45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Decomposition of tables and removal of update anomalies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EEDA07-DADE-3B12-2207-DF4502DBA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4173452"/>
            <a:ext cx="8543925" cy="1465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0ED72F8-5751-62BA-17B8-2FEA2E8EF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828800"/>
            <a:ext cx="7419975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349069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9410A-F649-5566-1B4F-19B2C659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413AC-29E4-2A91-14E0-C601BF74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72949-40F1-D0CF-1E69-A9DDEBD72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purpose of physical design is to then optimize performance</a:t>
            </a:r>
          </a:p>
          <a:p>
            <a:pPr lvl="1"/>
            <a:r>
              <a:rPr lang="en-US" dirty="0"/>
              <a:t>Indexing</a:t>
            </a:r>
          </a:p>
          <a:p>
            <a:pPr lvl="1"/>
            <a:r>
              <a:rPr lang="en-US" dirty="0"/>
              <a:t>Clustering</a:t>
            </a:r>
          </a:p>
          <a:p>
            <a:pPr lvl="1"/>
            <a:r>
              <a:rPr lang="en-US" dirty="0"/>
              <a:t>Partitioning</a:t>
            </a:r>
          </a:p>
          <a:p>
            <a:pPr lvl="1"/>
            <a:r>
              <a:rPr lang="en-US" dirty="0"/>
              <a:t>Materialized views</a:t>
            </a:r>
          </a:p>
          <a:p>
            <a:pPr lvl="1"/>
            <a:r>
              <a:rPr lang="en-US" dirty="0"/>
              <a:t>Denormalization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12171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7D440-8A88-F743-33ED-02665FB2E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Implementation, Monitoring, and Modification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B4440-FAC5-9C15-9D5A-33102B0CA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created with the data definition language (DDL)</a:t>
            </a:r>
          </a:p>
          <a:p>
            <a:r>
              <a:rPr lang="en-US" dirty="0"/>
              <a:t>The data manipulation language (DML) can be used to query and update the database, as well as to set up indexes and establish constraints</a:t>
            </a:r>
          </a:p>
          <a:p>
            <a:r>
              <a:rPr lang="en-US" dirty="0"/>
              <a:t>Monitoring indicates whether performance requirements are being met; If not, modifications should be made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5536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D04F-ADAC-5C71-8410-4D574AA8E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06CD8F-15A9-EA87-CC9F-F261E8E4B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Conceptual Modeling and ER Model</a:t>
            </a:r>
          </a:p>
        </p:txBody>
      </p:sp>
    </p:spTree>
    <p:extLst>
      <p:ext uri="{BB962C8B-B14F-4D97-AF65-F5344CB8AC3E}">
        <p14:creationId xmlns:p14="http://schemas.microsoft.com/office/powerpoint/2010/main" val="408296010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C8F2-86D4-BDFD-024B-10E55BFDD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Data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54C1A-2A98-A86E-C42D-6F8AB2F45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Driving component of logical database design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goal is to capture real-world data requirements in a simple and meaningful way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Schema diagrams were formalized in the 1960s by Charles Bachman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</a:t>
            </a:r>
            <a:r>
              <a:rPr lang="en-US" dirty="0">
                <a:solidFill>
                  <a:schemeClr val="accent2"/>
                </a:solidFill>
              </a:rPr>
              <a:t>entity-relationship (ER) </a:t>
            </a:r>
            <a:r>
              <a:rPr lang="en-US" dirty="0"/>
              <a:t>approach was first presented in 1976 by Peter Chen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</a:t>
            </a:r>
            <a:r>
              <a:rPr lang="en-US" dirty="0">
                <a:solidFill>
                  <a:schemeClr val="accent2"/>
                </a:solidFill>
              </a:rPr>
              <a:t>Unified Modeling Language (UML) </a:t>
            </a:r>
            <a:r>
              <a:rPr lang="en-US" dirty="0"/>
              <a:t>was introduced in 1997 by Grady Booch and James Rumbaugh, now a standard for specifying and documenting large-scale software systems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data modeling component has many similarities with ER model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68758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ER Modeling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Entity - a class of real world objects having common characteristics and properties about which we wish to record information</a:t>
            </a:r>
          </a:p>
          <a:p>
            <a:r>
              <a:rPr lang="en-US" sz="2000" dirty="0"/>
              <a:t>Relationship - an association among two or more entities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degree </a:t>
            </a:r>
            <a:r>
              <a:rPr lang="en-US" sz="2000" dirty="0"/>
              <a:t>- number of entities associated in the relationship (binary, ternary, other n-</a:t>
            </a:r>
            <a:r>
              <a:rPr lang="en-US" sz="2000" dirty="0" err="1"/>
              <a:t>ary</a:t>
            </a:r>
            <a:r>
              <a:rPr lang="en-US" sz="2000" dirty="0"/>
              <a:t>)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connectivity</a:t>
            </a:r>
            <a:r>
              <a:rPr lang="en-US" sz="2000" dirty="0"/>
              <a:t> - one-to-one, one-to-many, many to one, many-to-many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existence dependency </a:t>
            </a:r>
            <a:r>
              <a:rPr lang="en-US" sz="2000" dirty="0"/>
              <a:t>(constraint) -optional/mandatory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808948-974A-E262-7F72-E96149FBBC2A}"/>
              </a:ext>
            </a:extLst>
          </p:cNvPr>
          <p:cNvSpPr txBox="1"/>
          <p:nvPr/>
        </p:nvSpPr>
        <p:spPr>
          <a:xfrm>
            <a:off x="205689" y="6397937"/>
            <a:ext cx="1451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Introduction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F3A5B7-26FC-888C-F3C4-F86E66A895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0" t="13257" r="2824" b="11988"/>
          <a:stretch/>
        </p:blipFill>
        <p:spPr>
          <a:xfrm>
            <a:off x="2121878" y="3657600"/>
            <a:ext cx="7631722" cy="26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12355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AFCC-60E0-2178-A6EE-8E7F545B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ER Modeling Concepts </a:t>
            </a:r>
            <a:r>
              <a:rPr lang="en-US" b="0" dirty="0"/>
              <a:t>(cont’d)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546A-B9D0-3FDD-6B92-3BE49628D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Attribute: </a:t>
            </a:r>
            <a:r>
              <a:rPr lang="en-US" sz="2350" dirty="0"/>
              <a:t>a characteristic of an entity or relationship</a:t>
            </a:r>
          </a:p>
          <a:p>
            <a:pPr lvl="1"/>
            <a:r>
              <a:rPr lang="en-US" sz="2000" dirty="0"/>
              <a:t>Identifier - uniquely determines an instance of an entity</a:t>
            </a:r>
          </a:p>
          <a:p>
            <a:pPr lvl="1"/>
            <a:r>
              <a:rPr lang="en-US" sz="2000" dirty="0"/>
              <a:t>Identity dependence - when a portion of an identifier is inherited from another entity</a:t>
            </a:r>
          </a:p>
          <a:p>
            <a:pPr lvl="1"/>
            <a:r>
              <a:rPr lang="en-US" sz="2000" dirty="0"/>
              <a:t>Multi-valued - same attribute having many values for one entity</a:t>
            </a:r>
          </a:p>
          <a:p>
            <a:pPr lvl="1"/>
            <a:r>
              <a:rPr lang="en-US" sz="2000" dirty="0"/>
              <a:t>Surrogate - system created and controlled unique key (e.g. Oracle’s “create sequence”)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diagram of a workflow&#10;&#10;AI-generated content may be incorrect.">
            <a:extLst>
              <a:ext uri="{FF2B5EF4-FFF2-40B4-BE49-F238E27FC236}">
                <a16:creationId xmlns:a16="http://schemas.microsoft.com/office/drawing/2014/main" id="{FD8D072F-0FF7-6161-AF45-F9B49087D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3023178"/>
            <a:ext cx="5638968" cy="329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7638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ER Modeling Concepts </a:t>
            </a:r>
            <a:r>
              <a:rPr lang="en-US" b="0" dirty="0"/>
              <a:t>(cont’d)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431059-CD3A-4536-A89E-694C9AB13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838200"/>
            <a:ext cx="4816822" cy="53727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BD4B25-844F-4C23-85B3-23DAAB34D143}"/>
              </a:ext>
            </a:extLst>
          </p:cNvPr>
          <p:cNvSpPr txBox="1"/>
          <p:nvPr/>
        </p:nvSpPr>
        <p:spPr>
          <a:xfrm>
            <a:off x="205689" y="6397937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EB07F-70EB-CCA8-A380-426324D535DB}"/>
              </a:ext>
            </a:extLst>
          </p:cNvPr>
          <p:cNvSpPr txBox="1"/>
          <p:nvPr/>
        </p:nvSpPr>
        <p:spPr>
          <a:xfrm>
            <a:off x="609600" y="2786732"/>
            <a:ext cx="35794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by Peter Chen’ Notation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(first - original)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452899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number of entities that have taken part in the relationship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DE5028-6E16-2A51-2169-0BFEC79B0ABD}"/>
              </a:ext>
            </a:extLst>
          </p:cNvPr>
          <p:cNvGrpSpPr/>
          <p:nvPr/>
        </p:nvGrpSpPr>
        <p:grpSpPr>
          <a:xfrm>
            <a:off x="2209801" y="1832878"/>
            <a:ext cx="7696200" cy="4415523"/>
            <a:chOff x="2133600" y="1447800"/>
            <a:chExt cx="8296275" cy="4734336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33600" y="1447800"/>
              <a:ext cx="8296275" cy="4734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AF5E02A-1609-4D11-A6E7-9FFADE64883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177144" y="1485899"/>
              <a:ext cx="8195576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404BB89-3B93-44E3-826C-3EAE0F78142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171877" y="6177883"/>
              <a:ext cx="8195576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120E615-00F9-4BDB-81D0-11B471A3A094}"/>
              </a:ext>
            </a:extLst>
          </p:cNvPr>
          <p:cNvSpPr txBox="1"/>
          <p:nvPr/>
        </p:nvSpPr>
        <p:spPr>
          <a:xfrm>
            <a:off x="205689" y="6397937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 Model</a:t>
            </a:r>
          </a:p>
        </p:txBody>
      </p:sp>
    </p:spTree>
    <p:extLst>
      <p:ext uri="{BB962C8B-B14F-4D97-AF65-F5344CB8AC3E}">
        <p14:creationId xmlns:p14="http://schemas.microsoft.com/office/powerpoint/2010/main" val="335184523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Connectivity and Existence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26DAEF-7E82-41EA-9393-479C9FADD043}"/>
              </a:ext>
            </a:extLst>
          </p:cNvPr>
          <p:cNvSpPr txBox="1"/>
          <p:nvPr/>
        </p:nvSpPr>
        <p:spPr>
          <a:xfrm>
            <a:off x="205689" y="6397937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 Model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 r="6754"/>
          <a:stretch/>
        </p:blipFill>
        <p:spPr bwMode="auto">
          <a:xfrm>
            <a:off x="0" y="1219200"/>
            <a:ext cx="7902935" cy="4589673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7952813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Generalization: </a:t>
            </a:r>
            <a:r>
              <a:rPr lang="en-US" dirty="0" err="1"/>
              <a:t>Supertypes</a:t>
            </a:r>
            <a:r>
              <a:rPr lang="en-US" dirty="0"/>
              <a:t> and Subtypes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Similarities are generalized to a super-class entity, differences are specialized to a subclass entity</a:t>
            </a:r>
          </a:p>
          <a:p>
            <a:r>
              <a:rPr lang="en-US" dirty="0"/>
              <a:t>Subclass inherits the primary key of the super-class, super-class has common </a:t>
            </a:r>
            <a:r>
              <a:rPr lang="en-US" dirty="0" err="1"/>
              <a:t>nonkey</a:t>
            </a:r>
            <a:r>
              <a:rPr lang="en-US" dirty="0"/>
              <a:t> attributes, each subclass has specialized non-key attributes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277350" y="2971800"/>
            <a:ext cx="1662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Overlapping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subtypes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143000" y="3200400"/>
            <a:ext cx="6305873" cy="2362200"/>
            <a:chOff x="446049" y="3352800"/>
            <a:chExt cx="6305873" cy="2362200"/>
          </a:xfrm>
        </p:grpSpPr>
        <p:pic>
          <p:nvPicPr>
            <p:cNvPr id="1126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46049" y="3352800"/>
              <a:ext cx="6305873" cy="2362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Box 5"/>
            <p:cNvSpPr txBox="1"/>
            <p:nvPr/>
          </p:nvSpPr>
          <p:spPr>
            <a:xfrm>
              <a:off x="609600" y="3886200"/>
              <a:ext cx="21888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D2DB9">
                      <a:lumMod val="75000"/>
                    </a:srgbClr>
                  </a:solidFill>
                  <a:effectLst/>
                  <a:uLnTx/>
                  <a:uFillTx/>
                  <a:latin typeface="Verdana" pitchFamily="34" charset="0"/>
                  <a:ea typeface="Verdana" pitchFamily="34" charset="0"/>
                  <a:cs typeface="Verdana" pitchFamily="34" charset="0"/>
                </a:rPr>
                <a:t>Disjoint subtypes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BF83D29-9261-4933-BC9C-BD18CEFEB533}"/>
              </a:ext>
            </a:extLst>
          </p:cNvPr>
          <p:cNvSpPr txBox="1"/>
          <p:nvPr/>
        </p:nvSpPr>
        <p:spPr>
          <a:xfrm>
            <a:off x="205689" y="6397937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 Model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E02C69A-77CF-E3F3-493E-D2D58FF93C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63000" y="3590132"/>
          <a:ext cx="2962275" cy="216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962385" imgH="2162825" progId="Photoshop.Image.18">
                  <p:embed/>
                </p:oleObj>
              </mc:Choice>
              <mc:Fallback>
                <p:oleObj name="Image" r:id="rId3" imgW="2962385" imgH="2162825" progId="Photoshop.Image.18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DE02C69A-77CF-E3F3-493E-D2D58FF93C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63000" y="3590132"/>
                        <a:ext cx="2962275" cy="216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96084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84EB2-4DE7-C227-E138-93F63627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Verdana" panose="020B0604030504040204" pitchFamily="34" charset="0"/>
              </a:rPr>
              <a:t>Crow’s Foot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8F788-6277-8107-4CD3-B70FFE66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Known as IE notation (most popular)</a:t>
            </a:r>
          </a:p>
          <a:p>
            <a:pPr>
              <a:defRPr/>
            </a:pPr>
            <a:r>
              <a:rPr lang="en-US" sz="2800" dirty="0"/>
              <a:t>Entity: </a:t>
            </a:r>
            <a:r>
              <a:rPr lang="en-US" sz="2400" dirty="0"/>
              <a:t>represented by a rectangle, with its name on the top. The name is singular (entity) rather than plural (entities)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50E1C1-0DF8-BACA-B2D0-F52EF2E78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667000"/>
            <a:ext cx="6698858" cy="31829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263FB1-121B-482F-766D-A1548F0CF472}"/>
              </a:ext>
            </a:extLst>
          </p:cNvPr>
          <p:cNvSpPr txBox="1"/>
          <p:nvPr/>
        </p:nvSpPr>
        <p:spPr>
          <a:xfrm>
            <a:off x="205689" y="6397937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 Model</a:t>
            </a:r>
          </a:p>
        </p:txBody>
      </p:sp>
    </p:spTree>
    <p:extLst>
      <p:ext uri="{BB962C8B-B14F-4D97-AF65-F5344CB8AC3E}">
        <p14:creationId xmlns:p14="http://schemas.microsoft.com/office/powerpoint/2010/main" val="316539684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590A3-1115-7704-E8BF-B5A15C2E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5439C-B4E1-1B21-7803-54C032F1C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1863"/>
            <a:ext cx="11173254" cy="53165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1-to-1 relationship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1-to-M relationship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M-to-N relationship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703FE45C-9949-89F3-0136-F24506BEEE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064834"/>
              </p:ext>
            </p:extLst>
          </p:nvPr>
        </p:nvGraphicFramePr>
        <p:xfrm>
          <a:off x="966787" y="1966913"/>
          <a:ext cx="35814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Drawing" r:id="rId2" imgW="2692400" imgH="330200" progId="MSDraw">
                  <p:embed/>
                </p:oleObj>
              </mc:Choice>
              <mc:Fallback>
                <p:oleObj name="Microsoft Drawing" r:id="rId2" imgW="2692400" imgH="330200" progId="MSDraw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703FE45C-9949-89F3-0136-F24506BEEE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7" y="1966913"/>
                        <a:ext cx="35814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CD211258-FFCE-23D5-9B0E-7A98495D9B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183526"/>
              </p:ext>
            </p:extLst>
          </p:nvPr>
        </p:nvGraphicFramePr>
        <p:xfrm>
          <a:off x="914400" y="3281362"/>
          <a:ext cx="36576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692400" imgH="330200" progId="MSDraw">
                  <p:embed/>
                </p:oleObj>
              </mc:Choice>
              <mc:Fallback>
                <p:oleObj r:id="rId4" imgW="2692400" imgH="330200" progId="MSDraw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CD211258-FFCE-23D5-9B0E-7A98495D9B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281362"/>
                        <a:ext cx="36576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DED87318-6D9B-B000-63F0-C08ED784C1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351416"/>
              </p:ext>
            </p:extLst>
          </p:nvPr>
        </p:nvGraphicFramePr>
        <p:xfrm>
          <a:off x="1004887" y="4675302"/>
          <a:ext cx="35052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692400" imgH="330200" progId="MSDraw">
                  <p:embed/>
                </p:oleObj>
              </mc:Choice>
              <mc:Fallback>
                <p:oleObj r:id="rId6" imgW="2692400" imgH="330200" progId="MSDraw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DED87318-6D9B-B000-63F0-C08ED784C1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887" y="4675302"/>
                        <a:ext cx="35052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E217733-FFD6-7EBC-C2C8-23E85B0670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6" r="10607"/>
          <a:stretch/>
        </p:blipFill>
        <p:spPr bwMode="auto">
          <a:xfrm>
            <a:off x="6248400" y="820421"/>
            <a:ext cx="4114800" cy="5439811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A34DDB-F4AE-62BA-AF5F-247DFB4ED63E}"/>
              </a:ext>
            </a:extLst>
          </p:cNvPr>
          <p:cNvSpPr txBox="1"/>
          <p:nvPr/>
        </p:nvSpPr>
        <p:spPr>
          <a:xfrm>
            <a:off x="205689" y="6397937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 Model</a:t>
            </a:r>
          </a:p>
        </p:txBody>
      </p:sp>
    </p:spTree>
    <p:extLst>
      <p:ext uri="{BB962C8B-B14F-4D97-AF65-F5344CB8AC3E}">
        <p14:creationId xmlns:p14="http://schemas.microsoft.com/office/powerpoint/2010/main" val="377120724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153E-80E0-D76A-355D-3CA281FB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292161-F58E-2B72-ADED-BC5867EEA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Logical Model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35580407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73BF9-1C1E-4152-0620-8D3EEB430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Modeling Tools (CASE Tools)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0AF494-0421-DCF0-6CE1-4BC69F03D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786" y="887270"/>
            <a:ext cx="6716584" cy="5358106"/>
          </a:xfrm>
          <a:prstGeom prst="rect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0697C7-00BB-D50E-CDDB-55A67E712FCD}"/>
              </a:ext>
            </a:extLst>
          </p:cNvPr>
          <p:cNvSpPr txBox="1"/>
          <p:nvPr/>
        </p:nvSpPr>
        <p:spPr>
          <a:xfrm>
            <a:off x="205689" y="6397937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F56E5A-F74F-9C79-0744-C02BF7E0C335}"/>
              </a:ext>
            </a:extLst>
          </p:cNvPr>
          <p:cNvSpPr txBox="1"/>
          <p:nvPr/>
        </p:nvSpPr>
        <p:spPr>
          <a:xfrm>
            <a:off x="93630" y="1447800"/>
            <a:ext cx="5158041" cy="3618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Oracle SQL Developer Data Modeler (free)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it-IT" sz="2000" dirty="0">
                <a:latin typeface="Verdana" panose="020B0604030504040204" pitchFamily="34" charset="0"/>
                <a:ea typeface="Verdana" panose="020B0604030504040204" pitchFamily="34" charset="0"/>
              </a:rPr>
              <a:t>ERWin Data Modeler (by Quest)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ER/Studio (by IDERA)</a:t>
            </a:r>
            <a:endParaRPr lang="it-IT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IBM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InfoSphere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Data Architect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Visual Paradigm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MySQL Workbench (free)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dbdiagram.io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Lucidchart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(free with limited features)</a:t>
            </a:r>
          </a:p>
        </p:txBody>
      </p:sp>
    </p:spTree>
    <p:extLst>
      <p:ext uri="{BB962C8B-B14F-4D97-AF65-F5344CB8AC3E}">
        <p14:creationId xmlns:p14="http://schemas.microsoft.com/office/powerpoint/2010/main" val="2940091535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E53C-5EE9-DF54-1C9F-2571F0E5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Model – from ER to Relational Model (Using Oracle Data Modeler)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519816-9428-0AF9-C9F6-F0A866189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43436"/>
            <a:ext cx="2224974" cy="42143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8EFDBC-91D1-85F0-73C0-73434983B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740" y="1055118"/>
            <a:ext cx="3123229" cy="4191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535DC0-3D49-933E-2009-FDC67591B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1360" y="1968740"/>
            <a:ext cx="5240093" cy="2362200"/>
          </a:xfrm>
          <a:prstGeom prst="rect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806F6FC-635E-BD3F-49C7-66F199816EA1}"/>
              </a:ext>
            </a:extLst>
          </p:cNvPr>
          <p:cNvSpPr txBox="1">
            <a:spLocks/>
          </p:cNvSpPr>
          <p:nvPr/>
        </p:nvSpPr>
        <p:spPr bwMode="auto">
          <a:xfrm>
            <a:off x="3352800" y="5410200"/>
            <a:ext cx="2895600" cy="452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ts val="300"/>
              </a:spcAft>
              <a:buChar char="•"/>
              <a:defRPr sz="24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ts val="300"/>
              </a:spcAft>
              <a:buChar char="–"/>
              <a:defRPr sz="2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•"/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–"/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»"/>
              <a:defRPr sz="1500">
                <a:solidFill>
                  <a:srgbClr val="003399"/>
                </a:solidFill>
                <a:latin typeface="Verdana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kern="0" dirty="0">
                <a:solidFill>
                  <a:srgbClr val="000000"/>
                </a:solidFill>
              </a:rPr>
              <a:t>R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elational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model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CBCC7D-7865-8B0C-A84D-9AEAA14A9CFA}"/>
              </a:ext>
            </a:extLst>
          </p:cNvPr>
          <p:cNvSpPr txBox="1">
            <a:spLocks/>
          </p:cNvSpPr>
          <p:nvPr/>
        </p:nvSpPr>
        <p:spPr bwMode="auto">
          <a:xfrm>
            <a:off x="7973572" y="5416690"/>
            <a:ext cx="2895600" cy="452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ts val="300"/>
              </a:spcAft>
              <a:buChar char="•"/>
              <a:defRPr sz="24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ts val="300"/>
              </a:spcAft>
              <a:buChar char="–"/>
              <a:defRPr sz="2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•"/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–"/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»"/>
              <a:defRPr sz="1500">
                <a:solidFill>
                  <a:srgbClr val="003399"/>
                </a:solidFill>
                <a:latin typeface="Verdana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SQL DDL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E114D-FD25-E17F-78FA-3928E7D77A31}"/>
              </a:ext>
            </a:extLst>
          </p:cNvPr>
          <p:cNvSpPr txBox="1"/>
          <p:nvPr/>
        </p:nvSpPr>
        <p:spPr>
          <a:xfrm>
            <a:off x="205689" y="6397937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 Model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75E213-20A6-A91D-FCDA-370B1955BE8F}"/>
              </a:ext>
            </a:extLst>
          </p:cNvPr>
          <p:cNvSpPr txBox="1">
            <a:spLocks/>
          </p:cNvSpPr>
          <p:nvPr/>
        </p:nvSpPr>
        <p:spPr bwMode="auto">
          <a:xfrm>
            <a:off x="152400" y="5452773"/>
            <a:ext cx="2895600" cy="452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ts val="300"/>
              </a:spcAft>
              <a:buChar char="•"/>
              <a:defRPr sz="24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ts val="300"/>
              </a:spcAft>
              <a:buChar char="–"/>
              <a:defRPr sz="2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•"/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–"/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ts val="300"/>
              </a:spcAft>
              <a:buChar char="»"/>
              <a:defRPr sz="1500">
                <a:solidFill>
                  <a:srgbClr val="003399"/>
                </a:solidFill>
                <a:latin typeface="Verdana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rgbClr val="003399"/>
                </a:solidFill>
                <a:latin typeface="Siemens Sans" pitchFamily="2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Logical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88B748-5584-EA9C-A7EE-A539764468FC}"/>
              </a:ext>
            </a:extLst>
          </p:cNvPr>
          <p:cNvSpPr txBox="1"/>
          <p:nvPr/>
        </p:nvSpPr>
        <p:spPr>
          <a:xfrm>
            <a:off x="1523053" y="5955268"/>
            <a:ext cx="4514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File &gt; Engineer to Relational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4173F2-894E-447D-36CE-0F72FE651301}"/>
              </a:ext>
            </a:extLst>
          </p:cNvPr>
          <p:cNvSpPr txBox="1"/>
          <p:nvPr/>
        </p:nvSpPr>
        <p:spPr>
          <a:xfrm>
            <a:off x="6435621" y="5955268"/>
            <a:ext cx="4310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File &gt; Export &gt; DDL File...</a:t>
            </a:r>
          </a:p>
        </p:txBody>
      </p:sp>
    </p:spTree>
    <p:extLst>
      <p:ext uri="{BB962C8B-B14F-4D97-AF65-F5344CB8AC3E}">
        <p14:creationId xmlns:p14="http://schemas.microsoft.com/office/powerpoint/2010/main" val="407628749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Logical Model into Physical Model -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226" y="1312863"/>
            <a:ext cx="5364374" cy="196373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chemeClr val="accent6"/>
                </a:solidFill>
              </a:rPr>
              <a:t>Entity</a:t>
            </a:r>
            <a:r>
              <a:rPr lang="en-US" dirty="0"/>
              <a:t>: copy everything (name, attributes, primary key)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69814-0D70-4E9D-840B-73564063338B}"/>
              </a:ext>
            </a:extLst>
          </p:cNvPr>
          <p:cNvSpPr txBox="1"/>
          <p:nvPr/>
        </p:nvSpPr>
        <p:spPr>
          <a:xfrm>
            <a:off x="205689" y="6397937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C5A58E-E7D3-2482-1D41-F3847FA0DF36}"/>
              </a:ext>
            </a:extLst>
          </p:cNvPr>
          <p:cNvSpPr txBox="1"/>
          <p:nvPr/>
        </p:nvSpPr>
        <p:spPr>
          <a:xfrm>
            <a:off x="5867400" y="1440908"/>
            <a:ext cx="6236284" cy="175432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TABLE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employee (</a:t>
            </a:r>
          </a:p>
          <a:p>
            <a:pPr marL="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empno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CHAR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6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NOT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NULL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 p</a:t>
            </a:r>
            <a:r>
              <a:rPr kumimoji="0" lang="en-US" b="1" i="0" u="none" strike="noStrike" kern="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rimary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key</a:t>
            </a:r>
          </a:p>
          <a:p>
            <a:pPr marL="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kumimoji="0" lang="en-US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firstnme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VARCHAR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12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NOT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NULL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</a:p>
          <a:p>
            <a:pPr marL="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kumimoji="0" lang="en-US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lastname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VARCHAR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15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NOT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NULL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</a:p>
          <a:p>
            <a:pPr marL="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kumimoji="0" lang="en-US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workdept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CHAR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3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),</a:t>
            </a:r>
          </a:p>
          <a:p>
            <a:pPr marL="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...)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2F4B3D-E5D8-DBD2-ADCC-A975A1F019B5}"/>
              </a:ext>
            </a:extLst>
          </p:cNvPr>
          <p:cNvSpPr txBox="1"/>
          <p:nvPr/>
        </p:nvSpPr>
        <p:spPr>
          <a:xfrm>
            <a:off x="6929736" y="1000027"/>
            <a:ext cx="426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Example: entity table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3E28E2C-6F15-1ABB-D95E-493BEC64A0ED}"/>
              </a:ext>
            </a:extLst>
          </p:cNvPr>
          <p:cNvGrpSpPr/>
          <p:nvPr/>
        </p:nvGrpSpPr>
        <p:grpSpPr>
          <a:xfrm>
            <a:off x="-292230" y="3511779"/>
            <a:ext cx="12408030" cy="2721317"/>
            <a:chOff x="-292230" y="3511779"/>
            <a:chExt cx="12408030" cy="272131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7986F9-A425-9435-4BFE-C46B7AEAECE7}"/>
                </a:ext>
              </a:extLst>
            </p:cNvPr>
            <p:cNvSpPr txBox="1"/>
            <p:nvPr/>
          </p:nvSpPr>
          <p:spPr>
            <a:xfrm>
              <a:off x="4724400" y="3924772"/>
              <a:ext cx="7391400" cy="230832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</a:ln>
            <a:effectLst>
              <a:outerShdw blurRad="762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CREATE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TABLE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dependent (</a:t>
              </a:r>
            </a:p>
            <a:p>
              <a:pPr marL="40005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empno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CHAR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6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NOT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NULL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-- FK from employee</a:t>
              </a:r>
            </a:p>
            <a:p>
              <a:pPr marL="40005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dependent_name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VARCHAR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15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NOT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NULL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</a:t>
              </a:r>
            </a:p>
            <a:p>
              <a:pPr marL="40005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birthdate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DATE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</a:t>
              </a:r>
            </a:p>
            <a:p>
              <a:pPr marL="40005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relationship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VARCHAR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10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),</a:t>
              </a:r>
            </a:p>
            <a:p>
              <a:pPr marL="40005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PRIMARY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KEY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(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empno, </a:t>
              </a:r>
              <a:r>
                <a:rPr kumimoji="0" lang="en-US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dependent_name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),</a:t>
              </a:r>
            </a:p>
            <a:p>
              <a:pPr marL="40005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FOREIGN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KEY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(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empno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REFERENCES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employee(empno)</a:t>
              </a:r>
            </a:p>
            <a:p>
              <a:pPr marL="40005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;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EE8CC1-197E-67CE-9611-60E9BCAC1613}"/>
                </a:ext>
              </a:extLst>
            </p:cNvPr>
            <p:cNvSpPr txBox="1"/>
            <p:nvPr/>
          </p:nvSpPr>
          <p:spPr>
            <a:xfrm>
              <a:off x="5193716" y="3511779"/>
              <a:ext cx="623628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+mn-ea"/>
                  <a:cs typeface="+mn-cs"/>
                </a:rPr>
                <a:t>Example: weak entity → copy parent PK as FK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12F3A92-0758-F364-A9F4-07EEA292A8AF}"/>
                </a:ext>
              </a:extLst>
            </p:cNvPr>
            <p:cNvSpPr txBox="1"/>
            <p:nvPr/>
          </p:nvSpPr>
          <p:spPr>
            <a:xfrm>
              <a:off x="-292230" y="4114800"/>
              <a:ext cx="494043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marR="0" lvl="1" indent="-28575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Char char="–"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Verdana" pitchFamily="34" charset="0"/>
                </a:rPr>
                <a:t>Weak entity</a:t>
              </a:r>
              <a:r>
                <a:rPr kumimoji="0" 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</a:rPr>
                <a:t>: copy parent PK as FK)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03097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2E87B-6E25-4C37-9DA3-3E069EA0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9331-C827-0356-B3C4-99AE5B1ED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Logical Model into Physical Model (SQL Tables)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CED85-3EFE-A702-8B43-7B222ECEC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26" y="1440907"/>
            <a:ext cx="5516774" cy="1149893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accent6"/>
                </a:solidFill>
              </a:rPr>
              <a:t>Relationship: one-to-many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/>
              <a:t>(add FK to many side or child side)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B90356-6019-B145-484F-C000BE2492DA}"/>
              </a:ext>
            </a:extLst>
          </p:cNvPr>
          <p:cNvSpPr txBox="1"/>
          <p:nvPr/>
        </p:nvSpPr>
        <p:spPr>
          <a:xfrm>
            <a:off x="205689" y="6397937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4270B-1C33-3B97-BC27-E25CFE916A9E}"/>
              </a:ext>
            </a:extLst>
          </p:cNvPr>
          <p:cNvSpPr txBox="1"/>
          <p:nvPr/>
        </p:nvSpPr>
        <p:spPr>
          <a:xfrm>
            <a:off x="5867400" y="1440908"/>
            <a:ext cx="6236284" cy="255454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TABLE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employee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empno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NOT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NULL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--primary key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firstnme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VARCHAR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NOT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NULL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lastname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VARCHAR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15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NOT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NULL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workdept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...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FOREIGN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KEY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workdept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REFERENCES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department(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deptno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27C678-AF6B-D273-83B3-AFB1F4156EC8}"/>
              </a:ext>
            </a:extLst>
          </p:cNvPr>
          <p:cNvGrpSpPr/>
          <p:nvPr/>
        </p:nvGrpSpPr>
        <p:grpSpPr>
          <a:xfrm>
            <a:off x="198226" y="4191000"/>
            <a:ext cx="11905458" cy="2057400"/>
            <a:chOff x="198226" y="4191000"/>
            <a:chExt cx="11905458" cy="20574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BDD5AF1-391A-88A8-0B70-AAEE95FFBA48}"/>
                </a:ext>
              </a:extLst>
            </p:cNvPr>
            <p:cNvSpPr txBox="1"/>
            <p:nvPr/>
          </p:nvSpPr>
          <p:spPr>
            <a:xfrm>
              <a:off x="5867400" y="4494074"/>
              <a:ext cx="6236284" cy="16312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</a:ln>
            <a:effectLst>
              <a:outerShdw blurRad="762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CREATE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TABLE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parking_spot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(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spot_id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CHAR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4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PRIMARY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KEY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empno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CHAR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6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UNIQUE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FOREIGN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KEY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(empno)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REFERENCES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employee(empno)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;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13CB201B-2EF7-3F68-3D0C-F7C0F9BE982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98226" y="4191000"/>
              <a:ext cx="11813228" cy="2057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ts val="300"/>
                </a:spcAft>
                <a:buChar char="•"/>
                <a:defRPr sz="24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742950" indent="-285750" algn="l" rtl="0" eaLnBrk="1" fontAlgn="base" hangingPunct="1">
                <a:spcBef>
                  <a:spcPct val="20000"/>
                </a:spcBef>
                <a:spcAft>
                  <a:spcPts val="300"/>
                </a:spcAft>
                <a:buChar char="–"/>
                <a:defRPr sz="22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algn="l" rtl="0" eaLnBrk="1" fontAlgn="base" hangingPunct="1">
                <a:spcBef>
                  <a:spcPct val="20000"/>
                </a:spcBef>
                <a:spcAft>
                  <a:spcPts val="300"/>
                </a:spcAft>
                <a:buChar char="•"/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algn="l" rtl="0" eaLnBrk="1" fontAlgn="base" hangingPunct="1">
                <a:spcBef>
                  <a:spcPct val="20000"/>
                </a:spcBef>
                <a:spcAft>
                  <a:spcPts val="300"/>
                </a:spcAft>
                <a:buChar char="–"/>
                <a:defRPr sz="16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algn="l" rtl="0" eaLnBrk="1" fontAlgn="base" hangingPunct="1">
                <a:spcBef>
                  <a:spcPct val="20000"/>
                </a:spcBef>
                <a:spcAft>
                  <a:spcPts val="300"/>
                </a:spcAft>
                <a:buChar char="»"/>
                <a:defRPr sz="1500">
                  <a:solidFill>
                    <a:srgbClr val="003399"/>
                  </a:solidFill>
                  <a:latin typeface="Verdana" pitchFamily="34" charset="0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1500">
                  <a:solidFill>
                    <a:srgbClr val="003399"/>
                  </a:solidFill>
                  <a:latin typeface="Siemens Sans" pitchFamily="2" charset="0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1500">
                  <a:solidFill>
                    <a:srgbClr val="003399"/>
                  </a:solidFill>
                  <a:latin typeface="Siemens Sans" pitchFamily="2" charset="0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1500">
                  <a:solidFill>
                    <a:srgbClr val="003399"/>
                  </a:solidFill>
                  <a:latin typeface="Siemens Sans" pitchFamily="2" charset="0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1500">
                  <a:solidFill>
                    <a:srgbClr val="003399"/>
                  </a:solidFill>
                  <a:latin typeface="Siemens Sans" pitchFamily="2" charset="0"/>
                </a:defRPr>
              </a:lvl9pPr>
            </a:lstStyle>
            <a:p>
              <a:pPr marL="0" indent="0">
                <a:spcBef>
                  <a:spcPts val="300"/>
                </a:spcBef>
                <a:buFontTx/>
                <a:buNone/>
              </a:pPr>
              <a:endParaRPr lang="en-US" kern="0" dirty="0"/>
            </a:p>
            <a:p>
              <a:pPr marL="0" indent="0">
                <a:spcBef>
                  <a:spcPts val="300"/>
                </a:spcBef>
                <a:buFontTx/>
                <a:buNone/>
              </a:pPr>
              <a:r>
                <a:rPr lang="en-US" kern="0" dirty="0">
                  <a:solidFill>
                    <a:schemeClr val="accent6"/>
                  </a:solidFill>
                </a:rPr>
                <a:t>Relationship: one-to-one </a:t>
              </a:r>
            </a:p>
            <a:p>
              <a:pPr marL="0" indent="0">
                <a:spcBef>
                  <a:spcPts val="300"/>
                </a:spcBef>
                <a:buFontTx/>
                <a:buNone/>
              </a:pPr>
              <a:r>
                <a:rPr lang="en-US" kern="0" dirty="0"/>
                <a:t>(add FK to either side)</a:t>
              </a:r>
            </a:p>
            <a:p>
              <a:pPr marL="0" indent="0">
                <a:spcBef>
                  <a:spcPts val="300"/>
                </a:spcBef>
                <a:buFontTx/>
                <a:buNone/>
              </a:pPr>
              <a:endParaRPr lang="en-US" kern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7740577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C7A28-EAC2-EED7-5FAC-1773BDE8F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EB94-5C62-585C-13A5-8C3B7BFFE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ER into Physical Model: Relationship M:N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5A625-0A84-B483-9DFA-5B305014F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en-US" dirty="0">
                <a:solidFill>
                  <a:schemeClr val="accent6"/>
                </a:solidFill>
              </a:rPr>
              <a:t>Many-to-Many Relationship </a:t>
            </a:r>
            <a:r>
              <a:rPr lang="en-US" dirty="0"/>
              <a:t>→ Create Junction Table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/>
              <a:t>   </a:t>
            </a:r>
            <a:r>
              <a:rPr lang="en-US" sz="2200" dirty="0"/>
              <a:t>Create a new table for relationship: both PKs will be FKs</a:t>
            </a:r>
          </a:p>
          <a:p>
            <a:pPr algn="l"/>
            <a:r>
              <a:rPr lang="en-US" sz="2200" dirty="0"/>
              <a:t>e.g.,: </a:t>
            </a:r>
            <a:r>
              <a:rPr lang="en-US" dirty="0">
                <a:solidFill>
                  <a:schemeClr val="tx2">
                    <a:lumMod val="65000"/>
                    <a:lumOff val="35000"/>
                  </a:schemeClr>
                </a:solidFill>
                <a:ea typeface="Verdana" panose="020B0604030504040204" pitchFamily="34" charset="0"/>
                <a:cs typeface="Courier New" panose="02070309020205020404" pitchFamily="49" charset="0"/>
              </a:rPr>
              <a:t>--employees can work on many projects, and each project can have many employees</a:t>
            </a:r>
          </a:p>
          <a:p>
            <a:pPr algn="l"/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E5EC90-1ADD-CD94-1DE5-B1B3485BDD1C}"/>
              </a:ext>
            </a:extLst>
          </p:cNvPr>
          <p:cNvSpPr txBox="1"/>
          <p:nvPr/>
        </p:nvSpPr>
        <p:spPr>
          <a:xfrm>
            <a:off x="205689" y="6397937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8FD01-6BE9-72E3-0455-2C35252DE660}"/>
              </a:ext>
            </a:extLst>
          </p:cNvPr>
          <p:cNvSpPr txBox="1"/>
          <p:nvPr/>
        </p:nvSpPr>
        <p:spPr>
          <a:xfrm>
            <a:off x="1447800" y="3066633"/>
            <a:ext cx="8991600" cy="280076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TABLE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works_on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empno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CHAR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6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NOT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NULL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projno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CHAR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6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NOT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NULL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hours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DECIMAL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5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PRIMARY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KEY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(empno,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projno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FOREIGN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KEY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(empno)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REFERENCES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employee(empno),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FOREIGN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KEY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projno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REFERENCES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project(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projno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4678273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64E55-7273-B81A-D835-38808B00F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76BE3-0DB1-767D-4CEB-82C3D4FCD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ER into Physical Model: Self-Referencing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60FD1-8185-4A06-FB66-FA8AD00EA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en-US" dirty="0"/>
              <a:t>Recursive Relationship → Self-referencing FK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/>
              <a:t>   Rule: Table has a foreign key pointing to itself</a:t>
            </a:r>
            <a:endParaRPr lang="en-US" sz="2200" dirty="0"/>
          </a:p>
          <a:p>
            <a:pPr algn="l"/>
            <a:r>
              <a:rPr lang="en-US" sz="2200" dirty="0"/>
              <a:t>e.g.,: </a:t>
            </a:r>
            <a:r>
              <a:rPr lang="en-US" dirty="0">
                <a:solidFill>
                  <a:srgbClr val="808080"/>
                </a:solidFill>
                <a:ea typeface="Verdana" panose="020B0604030504040204" pitchFamily="34" charset="0"/>
                <a:cs typeface="Courier New" panose="02070309020205020404" pitchFamily="49" charset="0"/>
              </a:rPr>
              <a:t>--an employee may be supervised by another employee:</a:t>
            </a:r>
          </a:p>
          <a:p>
            <a:pPr algn="l"/>
            <a:endParaRPr lang="en-US" sz="1800" dirty="0">
              <a:solidFill>
                <a:srgbClr val="808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F52C8D-354B-F89B-8C47-244F04EE3A25}"/>
              </a:ext>
            </a:extLst>
          </p:cNvPr>
          <p:cNvSpPr txBox="1"/>
          <p:nvPr/>
        </p:nvSpPr>
        <p:spPr>
          <a:xfrm>
            <a:off x="205689" y="6397937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B08B5-E8D8-5726-B797-03A3692A8C3D}"/>
              </a:ext>
            </a:extLst>
          </p:cNvPr>
          <p:cNvSpPr txBox="1"/>
          <p:nvPr/>
        </p:nvSpPr>
        <p:spPr>
          <a:xfrm>
            <a:off x="1339333" y="3048000"/>
            <a:ext cx="9296400" cy="212365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CREATE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TABLE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employee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empno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CHAR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6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PRIMARY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KEY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...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supervisor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CHAR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6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FOREIGN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KEY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(supervisor)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REFERENCES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employee(empno)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7007527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6AC85-990E-14DC-7186-DEEA37B86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3065-563F-4E04-2174-FC945A9B7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ER into Physical Model: Subtyping: Roll-Down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9E21D-9F8C-B7DD-7CC1-1855234D4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dirty="0"/>
              <a:t>Super-subtype: three options: roll-up, roll-down, separate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7C1F10-C933-6097-5D14-747A2C04FB60}"/>
              </a:ext>
            </a:extLst>
          </p:cNvPr>
          <p:cNvSpPr txBox="1"/>
          <p:nvPr/>
        </p:nvSpPr>
        <p:spPr>
          <a:xfrm>
            <a:off x="205689" y="6397937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 Model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917801E-E7FA-C382-1945-6E2A1E55B491}"/>
              </a:ext>
            </a:extLst>
          </p:cNvPr>
          <p:cNvGrpSpPr/>
          <p:nvPr/>
        </p:nvGrpSpPr>
        <p:grpSpPr>
          <a:xfrm>
            <a:off x="152400" y="1295399"/>
            <a:ext cx="3810000" cy="2241407"/>
            <a:chOff x="152400" y="1295399"/>
            <a:chExt cx="3810000" cy="224140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4382DB4-669D-9E99-46F9-DAED280ED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" y="1295399"/>
              <a:ext cx="1992608" cy="224140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37ED33-2531-7351-02C0-528C55302298}"/>
                </a:ext>
              </a:extLst>
            </p:cNvPr>
            <p:cNvSpPr txBox="1"/>
            <p:nvPr/>
          </p:nvSpPr>
          <p:spPr>
            <a:xfrm>
              <a:off x="2056109" y="2156812"/>
              <a:ext cx="19062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CC66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logical model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2309F75-7E87-49AB-8769-717D431CC7CB}"/>
              </a:ext>
            </a:extLst>
          </p:cNvPr>
          <p:cNvGrpSpPr/>
          <p:nvPr/>
        </p:nvGrpSpPr>
        <p:grpSpPr>
          <a:xfrm>
            <a:off x="-58133" y="3581400"/>
            <a:ext cx="4995445" cy="2667000"/>
            <a:chOff x="-58133" y="3581400"/>
            <a:chExt cx="4995445" cy="26670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F6EE0B8-2B36-3595-4C15-DBF48E5C8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" y="3581400"/>
              <a:ext cx="4784912" cy="2667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25DD26-062B-1707-4FF6-D7F66B614474}"/>
                </a:ext>
              </a:extLst>
            </p:cNvPr>
            <p:cNvSpPr txBox="1"/>
            <p:nvPr/>
          </p:nvSpPr>
          <p:spPr>
            <a:xfrm>
              <a:off x="-58133" y="5169334"/>
              <a:ext cx="150554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CC66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relational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CC66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model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5DDDF14-A9BE-8A5F-F73F-CE40870A8B8A}"/>
              </a:ext>
            </a:extLst>
          </p:cNvPr>
          <p:cNvGrpSpPr/>
          <p:nvPr/>
        </p:nvGrpSpPr>
        <p:grpSpPr>
          <a:xfrm>
            <a:off x="4957717" y="1905000"/>
            <a:ext cx="7162800" cy="4308872"/>
            <a:chOff x="4957717" y="1905000"/>
            <a:chExt cx="7162800" cy="392924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01691C-FE51-81A4-F0FB-D722BC3E7E91}"/>
                </a:ext>
              </a:extLst>
            </p:cNvPr>
            <p:cNvSpPr txBox="1"/>
            <p:nvPr/>
          </p:nvSpPr>
          <p:spPr>
            <a:xfrm>
              <a:off x="4957717" y="1905000"/>
              <a:ext cx="7162800" cy="39292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</a:ln>
            <a:effectLst>
              <a:outerShdw blurRad="762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CREATE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TABLE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person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person_id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VARCHAR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16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NOT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NULL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PRIMARY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KEY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8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"name"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VARCHAR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32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emp_salary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DECIMAL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10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2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 )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CREATE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TABLE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customer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(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person_id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VARCHAR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16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NOT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NULL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PRIMARY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KEY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balance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DECIMAL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10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2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FOREIGN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KEY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(</a:t>
              </a:r>
              <a:r>
                <a:rPr kumimoji="0" lang="en-US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person_id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REFERENCES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person(</a:t>
              </a:r>
              <a:r>
                <a:rPr kumimoji="0" lang="en-US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person_id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CREATE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TABLE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employee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person_id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VARCHAR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16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NOT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NULL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PRIMARY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KEY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salary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DECIMAL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10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2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FOREIGN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KEY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(</a:t>
              </a:r>
              <a:r>
                <a:rPr kumimoji="0" lang="en-US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person_id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REFERENCES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person(</a:t>
              </a:r>
              <a:r>
                <a:rPr kumimoji="0" lang="en-US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person_id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 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;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857CA4-6AFF-3E91-5899-BD9C38F47BD1}"/>
                </a:ext>
              </a:extLst>
            </p:cNvPr>
            <p:cNvSpPr txBox="1"/>
            <p:nvPr/>
          </p:nvSpPr>
          <p:spPr>
            <a:xfrm>
              <a:off x="10585241" y="5426915"/>
              <a:ext cx="13019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C66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SQL DDL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8397964-355A-ECCE-5214-A4ACBA3DC5B5}"/>
              </a:ext>
            </a:extLst>
          </p:cNvPr>
          <p:cNvSpPr txBox="1"/>
          <p:nvPr/>
        </p:nvSpPr>
        <p:spPr>
          <a:xfrm>
            <a:off x="2895600" y="1394874"/>
            <a:ext cx="6400800" cy="369332"/>
          </a:xfrm>
          <a:prstGeom prst="rect">
            <a:avLst/>
          </a:prstGeom>
          <a:solidFill>
            <a:srgbClr val="FF9933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Roll-Down (Separate Tables for Each Subtype)</a:t>
            </a:r>
          </a:p>
        </p:txBody>
      </p:sp>
    </p:spTree>
    <p:extLst>
      <p:ext uri="{BB962C8B-B14F-4D97-AF65-F5344CB8AC3E}">
        <p14:creationId xmlns:p14="http://schemas.microsoft.com/office/powerpoint/2010/main" val="3013253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565E-61FE-9438-02AD-15294A774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D3E34-64F5-D592-9346-50AC5A529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ER into Physical Model: Subtyping: Roll-Up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408301-BE5C-947F-EBD9-092FDA0BD1D5}"/>
              </a:ext>
            </a:extLst>
          </p:cNvPr>
          <p:cNvSpPr txBox="1"/>
          <p:nvPr/>
        </p:nvSpPr>
        <p:spPr>
          <a:xfrm>
            <a:off x="205689" y="6397937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8FDB38-A39C-8C65-D17D-E831131F2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05097"/>
            <a:ext cx="2235476" cy="2514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87B028-9904-3BB8-629A-D7CE7D65FFCF}"/>
              </a:ext>
            </a:extLst>
          </p:cNvPr>
          <p:cNvSpPr txBox="1"/>
          <p:nvPr/>
        </p:nvSpPr>
        <p:spPr>
          <a:xfrm>
            <a:off x="386187" y="1747897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logical model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E8BDF13-5C76-2576-DE21-DF6D58B84C20}"/>
              </a:ext>
            </a:extLst>
          </p:cNvPr>
          <p:cNvGrpSpPr/>
          <p:nvPr/>
        </p:nvGrpSpPr>
        <p:grpSpPr>
          <a:xfrm>
            <a:off x="3581401" y="2509897"/>
            <a:ext cx="7924800" cy="2671703"/>
            <a:chOff x="3581401" y="1905000"/>
            <a:chExt cx="7924800" cy="267170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78B8E6-7671-8546-6DBB-E3E67B5E6714}"/>
                </a:ext>
              </a:extLst>
            </p:cNvPr>
            <p:cNvSpPr txBox="1"/>
            <p:nvPr/>
          </p:nvSpPr>
          <p:spPr>
            <a:xfrm>
              <a:off x="3581401" y="1905000"/>
              <a:ext cx="7924800" cy="20313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</a:ln>
            <a:effectLst>
              <a:outerShdw blurRad="762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CREATE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TABLE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person (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person_id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INT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PRIMARY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KEY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name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VARCHAR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50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type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CHAR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1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), 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-- 'E' for employee, 'C' for customer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emp_salary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DECIMAL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10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2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cust_balance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DECIMAL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(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10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2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)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;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BCF5CA-D360-1703-3068-D6BE71E45979}"/>
                </a:ext>
              </a:extLst>
            </p:cNvPr>
            <p:cNvSpPr txBox="1"/>
            <p:nvPr/>
          </p:nvSpPr>
          <p:spPr>
            <a:xfrm>
              <a:off x="6400800" y="4176593"/>
              <a:ext cx="14269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66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SQL DDL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5210C5D-8F9B-626E-9EC1-13F873946675}"/>
              </a:ext>
            </a:extLst>
          </p:cNvPr>
          <p:cNvSpPr txBox="1"/>
          <p:nvPr/>
        </p:nvSpPr>
        <p:spPr>
          <a:xfrm>
            <a:off x="2743200" y="1094380"/>
            <a:ext cx="6400800" cy="369332"/>
          </a:xfrm>
          <a:prstGeom prst="rect">
            <a:avLst/>
          </a:prstGeom>
          <a:solidFill>
            <a:srgbClr val="FF9933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Roll-Up (Single Table with Type Column)</a:t>
            </a:r>
          </a:p>
        </p:txBody>
      </p:sp>
    </p:spTree>
    <p:extLst>
      <p:ext uri="{BB962C8B-B14F-4D97-AF65-F5344CB8AC3E}">
        <p14:creationId xmlns:p14="http://schemas.microsoft.com/office/powerpoint/2010/main" val="2488175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1FC66-4838-9270-7898-BE745B14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Engineering: Generate ER Diagram for a Database Schema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D32D8F-24F6-7F5A-16D7-43F5239E0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35" y="1066800"/>
            <a:ext cx="7467984" cy="50961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6F2A0D-1E2C-EF27-5796-1DE0CA05E0A9}"/>
              </a:ext>
            </a:extLst>
          </p:cNvPr>
          <p:cNvSpPr txBox="1"/>
          <p:nvPr/>
        </p:nvSpPr>
        <p:spPr>
          <a:xfrm>
            <a:off x="304800" y="3352800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(DBeaver)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110EF0-61B3-AF7E-A89D-D9CA701E9B65}"/>
              </a:ext>
            </a:extLst>
          </p:cNvPr>
          <p:cNvSpPr txBox="1"/>
          <p:nvPr/>
        </p:nvSpPr>
        <p:spPr>
          <a:xfrm>
            <a:off x="205689" y="6397937"/>
            <a:ext cx="1133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 Model</a:t>
            </a:r>
          </a:p>
        </p:txBody>
      </p:sp>
    </p:spTree>
    <p:extLst>
      <p:ext uri="{BB962C8B-B14F-4D97-AF65-F5344CB8AC3E}">
        <p14:creationId xmlns:p14="http://schemas.microsoft.com/office/powerpoint/2010/main" val="185088720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3F714-9876-B42D-41EA-6985AD9B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BA2FBC-E713-CEF5-070A-3C319C2B7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Logical Database Design Use Case: </a:t>
            </a:r>
          </a:p>
          <a:p>
            <a:r>
              <a:rPr lang="en-US" dirty="0"/>
              <a:t>Managing and Querying Whole Slide Images</a:t>
            </a:r>
          </a:p>
        </p:txBody>
      </p:sp>
    </p:spTree>
    <p:extLst>
      <p:ext uri="{BB962C8B-B14F-4D97-AF65-F5344CB8AC3E}">
        <p14:creationId xmlns:p14="http://schemas.microsoft.com/office/powerpoint/2010/main" val="88620932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B2E4D-64BE-6E5C-F30C-0BF6771A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98FC4-DD3B-E44F-E5D8-55B9F4D16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High-resolution whole slide images provide rich information about morphological and functional characteristics of biological systems</a:t>
            </a:r>
          </a:p>
          <a:p>
            <a:pPr lvl="1"/>
            <a:r>
              <a:rPr lang="en-US" dirty="0"/>
              <a:t>Large dimension: 100k x 100k</a:t>
            </a:r>
          </a:p>
          <a:p>
            <a:pPr lvl="1"/>
            <a:r>
              <a:rPr lang="en-US" dirty="0"/>
              <a:t>Rich information of micro-anatomic objects</a:t>
            </a:r>
          </a:p>
          <a:p>
            <a:r>
              <a:rPr lang="en-US" dirty="0"/>
              <a:t>Use of whole slide images</a:t>
            </a:r>
          </a:p>
          <a:p>
            <a:pPr lvl="1"/>
            <a:r>
              <a:rPr lang="en-US" dirty="0"/>
              <a:t>Image analysis: quantitative and reproducible measurements of micro-anatomical objects</a:t>
            </a:r>
          </a:p>
          <a:p>
            <a:pPr lvl="1"/>
            <a:r>
              <a:rPr lang="en-US" dirty="0"/>
              <a:t>Human assessment: markups and annotations</a:t>
            </a:r>
          </a:p>
          <a:p>
            <a:pPr lvl="1"/>
            <a:r>
              <a:rPr lang="en-US" dirty="0"/>
              <a:t>Algorithm evaluation: algorithm validation and algorithm comparison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BE03F4-445B-C508-EF50-90B42E790213}"/>
              </a:ext>
            </a:extLst>
          </p:cNvPr>
          <p:cNvSpPr txBox="1"/>
          <p:nvPr/>
        </p:nvSpPr>
        <p:spPr>
          <a:xfrm>
            <a:off x="381000" y="510540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Example: https://cancer.digitalslidearchive.org/#!/CDSA/brca/TCGA-A1-A0SE</a:t>
            </a:r>
          </a:p>
        </p:txBody>
      </p:sp>
    </p:spTree>
    <p:extLst>
      <p:ext uri="{BB962C8B-B14F-4D97-AF65-F5344CB8AC3E}">
        <p14:creationId xmlns:p14="http://schemas.microsoft.com/office/powerpoint/2010/main" val="1832037950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FDDD2-FA8E-720E-9229-39E93CDD8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13235-1A5F-75E1-69D2-69AAC73E3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DED9C-F726-8605-ED20-B5AE7AD2D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Archive and share digital pathology images</a:t>
            </a:r>
          </a:p>
          <a:p>
            <a:pPr>
              <a:spcAft>
                <a:spcPts val="600"/>
              </a:spcAft>
            </a:pPr>
            <a:r>
              <a:rPr lang="en-US" dirty="0"/>
              <a:t>Search images at multi-granularities: patient, study, image, tile, and region</a:t>
            </a:r>
          </a:p>
          <a:p>
            <a:pPr>
              <a:spcAft>
                <a:spcPts val="600"/>
              </a:spcAft>
            </a:pPr>
            <a:r>
              <a:rPr lang="en-US" dirty="0"/>
              <a:t>Search images based on image characteristics or annotations</a:t>
            </a:r>
          </a:p>
          <a:p>
            <a:pPr>
              <a:spcAft>
                <a:spcPts val="600"/>
              </a:spcAft>
            </a:pPr>
            <a:r>
              <a:rPr lang="en-US" dirty="0"/>
              <a:t>Convenient query interfaces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60437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7D0B8-3C97-D4B9-C471-E07ED7455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B18B-E795-81F2-BA6D-B55D87D0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of Multiple Granularities in WSI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CF2A38-B76D-6EB3-0614-5BC92B7B0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752600"/>
            <a:ext cx="3768223" cy="393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645A4B7-30B8-37E2-30C6-08683E46F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5450" y="2413010"/>
            <a:ext cx="4476750" cy="3149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33F905-3664-3286-745D-D779DCEFFD76}"/>
              </a:ext>
            </a:extLst>
          </p:cNvPr>
          <p:cNvSpPr txBox="1"/>
          <p:nvPr/>
        </p:nvSpPr>
        <p:spPr>
          <a:xfrm>
            <a:off x="3429000" y="6004543"/>
            <a:ext cx="4476750" cy="406265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Whole slide baseline image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8A1F2D-6F30-ED76-467A-90EAE2461C00}"/>
              </a:ext>
            </a:extLst>
          </p:cNvPr>
          <p:cNvCxnSpPr/>
          <p:nvPr/>
        </p:nvCxnSpPr>
        <p:spPr bwMode="auto">
          <a:xfrm flipV="1">
            <a:off x="4038600" y="5562600"/>
            <a:ext cx="0" cy="457200"/>
          </a:xfrm>
          <a:prstGeom prst="straightConnector1">
            <a:avLst/>
          </a:prstGeom>
          <a:noFill/>
          <a:ln w="3175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5A7969-CEE6-630F-9C36-7A8A8FEE79E4}"/>
              </a:ext>
            </a:extLst>
          </p:cNvPr>
          <p:cNvSpPr txBox="1"/>
          <p:nvPr/>
        </p:nvSpPr>
        <p:spPr>
          <a:xfrm>
            <a:off x="8305800" y="1362468"/>
            <a:ext cx="1981200" cy="375487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Tiled image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AC7BD0-CE1B-6BF9-B280-C1FD5BF587B6}"/>
              </a:ext>
            </a:extLst>
          </p:cNvPr>
          <p:cNvSpPr txBox="1"/>
          <p:nvPr/>
        </p:nvSpPr>
        <p:spPr>
          <a:xfrm>
            <a:off x="5595013" y="1371600"/>
            <a:ext cx="1003544" cy="375487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Region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C5C344-05B3-A1E4-9CA7-DDA1510879D9}"/>
              </a:ext>
            </a:extLst>
          </p:cNvPr>
          <p:cNvCxnSpPr/>
          <p:nvPr/>
        </p:nvCxnSpPr>
        <p:spPr bwMode="auto">
          <a:xfrm>
            <a:off x="9700550" y="1706300"/>
            <a:ext cx="0" cy="1219200"/>
          </a:xfrm>
          <a:prstGeom prst="straightConnector1">
            <a:avLst/>
          </a:prstGeom>
          <a:noFill/>
          <a:ln w="3175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D650F9-C98B-B7E9-BE53-0B59E8EF80BF}"/>
              </a:ext>
            </a:extLst>
          </p:cNvPr>
          <p:cNvCxnSpPr/>
          <p:nvPr/>
        </p:nvCxnSpPr>
        <p:spPr bwMode="auto">
          <a:xfrm>
            <a:off x="6273917" y="1752600"/>
            <a:ext cx="2793883" cy="2286000"/>
          </a:xfrm>
          <a:prstGeom prst="straightConnector1">
            <a:avLst/>
          </a:prstGeom>
          <a:noFill/>
          <a:ln w="3175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506A47-BBE0-2E36-DBDE-45F941E5F506}"/>
              </a:ext>
            </a:extLst>
          </p:cNvPr>
          <p:cNvCxnSpPr/>
          <p:nvPr/>
        </p:nvCxnSpPr>
        <p:spPr bwMode="auto">
          <a:xfrm flipV="1">
            <a:off x="6629400" y="5562600"/>
            <a:ext cx="0" cy="457200"/>
          </a:xfrm>
          <a:prstGeom prst="straightConnector1">
            <a:avLst/>
          </a:prstGeom>
          <a:noFill/>
          <a:ln w="3175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A7C7E2-3204-C338-CD9F-56A0BF423C66}"/>
              </a:ext>
            </a:extLst>
          </p:cNvPr>
          <p:cNvSpPr txBox="1"/>
          <p:nvPr/>
        </p:nvSpPr>
        <p:spPr>
          <a:xfrm>
            <a:off x="2286000" y="1143000"/>
            <a:ext cx="2209800" cy="714042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Low resolution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image tiles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FFB0F5-5E05-32F4-B0B8-E08D73E46B3F}"/>
              </a:ext>
            </a:extLst>
          </p:cNvPr>
          <p:cNvCxnSpPr/>
          <p:nvPr/>
        </p:nvCxnSpPr>
        <p:spPr bwMode="auto">
          <a:xfrm>
            <a:off x="2895600" y="1857042"/>
            <a:ext cx="0" cy="1419558"/>
          </a:xfrm>
          <a:prstGeom prst="straightConnector1">
            <a:avLst/>
          </a:prstGeom>
          <a:noFill/>
          <a:ln w="3175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02148C1-3F81-75B8-0D1F-4596D2AF9500}"/>
              </a:ext>
            </a:extLst>
          </p:cNvPr>
          <p:cNvCxnSpPr/>
          <p:nvPr/>
        </p:nvCxnSpPr>
        <p:spPr bwMode="auto">
          <a:xfrm>
            <a:off x="3657600" y="1857042"/>
            <a:ext cx="0" cy="781716"/>
          </a:xfrm>
          <a:prstGeom prst="straightConnector1">
            <a:avLst/>
          </a:prstGeom>
          <a:noFill/>
          <a:ln w="3175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DC6224-1098-BF07-32A2-FCF5E387044B}"/>
              </a:ext>
            </a:extLst>
          </p:cNvPr>
          <p:cNvCxnSpPr/>
          <p:nvPr/>
        </p:nvCxnSpPr>
        <p:spPr bwMode="auto">
          <a:xfrm>
            <a:off x="4595853" y="5334000"/>
            <a:ext cx="933450" cy="0"/>
          </a:xfrm>
          <a:prstGeom prst="straightConnector1">
            <a:avLst/>
          </a:prstGeom>
          <a:noFill/>
          <a:ln w="3175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15425241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CB1B-7A78-1EA9-F282-A53B289E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AAC265-E9E0-4F3A-FF47-1A65B2940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1999"/>
            <a:ext cx="4572000" cy="5519039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F68F3D-53E9-042E-B70F-D0D699240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911" y="1066800"/>
            <a:ext cx="4297016" cy="5519039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8A7317-FDCB-698E-E9AC-D69AE0C99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1524000"/>
            <a:ext cx="4339673" cy="5486401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7702483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1BD9C-BC0B-28F4-6A50-C38B519B9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7DF9-4B67-7280-5319-2C5FA45BE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Model: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CE5B1-3592-882D-C3DC-88D488ADE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Represent metadata and provenance information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Study/experiment, acquisition, image metadata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Harmonization with related standards or open models: compatible with DICOM “pyramid” model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Manage original whole slide images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Model pyramid tiled images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Integrate images with analytical results: PAIS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00087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67DB8-984B-313A-407C-68561859B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BF44E-2260-5BA5-5EF5-2C49EC48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EB1632-92AE-3FD0-CE6E-2AC1CB1B1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399" y="1066800"/>
            <a:ext cx="9565259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22710075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068FD-BE61-F804-7510-E1308401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Model: Image Related Entities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90809F-183C-B0F8-4A1C-F242CCBE16A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7800" y="762000"/>
            <a:ext cx="5277476" cy="4876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4EFF716-1C4E-5A5A-BB6B-CEAF4106F8DA}"/>
              </a:ext>
            </a:extLst>
          </p:cNvPr>
          <p:cNvGrpSpPr/>
          <p:nvPr/>
        </p:nvGrpSpPr>
        <p:grpSpPr>
          <a:xfrm>
            <a:off x="2197207" y="3678740"/>
            <a:ext cx="7926387" cy="2798259"/>
            <a:chOff x="1217613" y="4059740"/>
            <a:chExt cx="7926387" cy="279825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116A63-252A-ECBA-1466-44CEBAEF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0" y="4059740"/>
              <a:ext cx="4191000" cy="2798259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CC11196-C963-63F6-1B12-6FF14DEAC38B}"/>
                </a:ext>
              </a:extLst>
            </p:cNvPr>
            <p:cNvGrpSpPr/>
            <p:nvPr/>
          </p:nvGrpSpPr>
          <p:grpSpPr>
            <a:xfrm>
              <a:off x="1217613" y="5867401"/>
              <a:ext cx="4528069" cy="610390"/>
              <a:chOff x="1217613" y="5867401"/>
              <a:chExt cx="4528069" cy="610390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1F4DEED-4DF7-D911-BA21-23793925B13F}"/>
                  </a:ext>
                </a:extLst>
              </p:cNvPr>
              <p:cNvCxnSpPr/>
              <p:nvPr/>
            </p:nvCxnSpPr>
            <p:spPr bwMode="auto">
              <a:xfrm>
                <a:off x="1219200" y="6475412"/>
                <a:ext cx="4526482" cy="1588"/>
              </a:xfrm>
              <a:prstGeom prst="line">
                <a:avLst/>
              </a:prstGeom>
              <a:noFill/>
              <a:ln w="25400" cap="flat" cmpd="sng" algn="ctr">
                <a:solidFill>
                  <a:srgbClr val="CC6600"/>
                </a:solidFill>
                <a:prstDash val="solid"/>
                <a:round/>
                <a:headEnd type="none" w="med" len="med"/>
                <a:tailEnd type="triangle" w="lg"/>
              </a:ln>
              <a:effectLst/>
            </p:spPr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79B2E14-1F34-249B-AB9D-7A75AEF5BDB6}"/>
                  </a:ext>
                </a:extLst>
              </p:cNvPr>
              <p:cNvCxnSpPr/>
              <p:nvPr/>
            </p:nvCxnSpPr>
            <p:spPr bwMode="auto">
              <a:xfrm rot="5400000">
                <a:off x="913212" y="6171802"/>
                <a:ext cx="610390" cy="1587"/>
              </a:xfrm>
              <a:prstGeom prst="line">
                <a:avLst/>
              </a:prstGeom>
              <a:noFill/>
              <a:ln w="25400" cap="flat" cmpd="sng" algn="ctr">
                <a:solidFill>
                  <a:srgbClr val="CC66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9A08EF3-AC22-353A-EBA7-BEC602C6A9F5}"/>
                </a:ext>
              </a:extLst>
            </p:cNvPr>
            <p:cNvGrpSpPr/>
            <p:nvPr/>
          </p:nvGrpSpPr>
          <p:grpSpPr>
            <a:xfrm>
              <a:off x="3625331" y="4993775"/>
              <a:ext cx="4528069" cy="610390"/>
              <a:chOff x="1217613" y="5867401"/>
              <a:chExt cx="4528069" cy="610390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DF448E4-7AC0-812C-20DB-684440F5257F}"/>
                  </a:ext>
                </a:extLst>
              </p:cNvPr>
              <p:cNvCxnSpPr/>
              <p:nvPr/>
            </p:nvCxnSpPr>
            <p:spPr bwMode="auto">
              <a:xfrm>
                <a:off x="1219200" y="6475412"/>
                <a:ext cx="4526482" cy="1588"/>
              </a:xfrm>
              <a:prstGeom prst="line">
                <a:avLst/>
              </a:prstGeom>
              <a:noFill/>
              <a:ln w="25400" cap="flat" cmpd="sng" algn="ctr">
                <a:solidFill>
                  <a:srgbClr val="CC6600"/>
                </a:solidFill>
                <a:prstDash val="solid"/>
                <a:round/>
                <a:headEnd type="none" w="med" len="med"/>
                <a:tailEnd type="triangle" w="lg"/>
              </a:ln>
              <a:effectLst/>
            </p:spPr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FEECDF-735B-277E-9BF0-BFA2CE8569B9}"/>
                  </a:ext>
                </a:extLst>
              </p:cNvPr>
              <p:cNvCxnSpPr/>
              <p:nvPr/>
            </p:nvCxnSpPr>
            <p:spPr bwMode="auto">
              <a:xfrm rot="5400000">
                <a:off x="913212" y="6171802"/>
                <a:ext cx="610390" cy="1587"/>
              </a:xfrm>
              <a:prstGeom prst="line">
                <a:avLst/>
              </a:prstGeom>
              <a:noFill/>
              <a:ln w="25400" cap="flat" cmpd="sng" algn="ctr">
                <a:solidFill>
                  <a:srgbClr val="CC66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7941223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4C7E-4FB1-FEAA-602D-93FE5AAD4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3073-CF10-1400-47E2-7055DD529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26" y="762000"/>
            <a:ext cx="11813228" cy="5486401"/>
          </a:xfrm>
        </p:spPr>
        <p:txBody>
          <a:bodyPr/>
          <a:lstStyle/>
          <a:p>
            <a:r>
              <a:rPr lang="en-US" dirty="0"/>
              <a:t>Physical model derived from logical model, by considering database schema normalization</a:t>
            </a:r>
          </a:p>
          <a:p>
            <a:r>
              <a:rPr lang="en-US" dirty="0"/>
              <a:t>Image file representation</a:t>
            </a:r>
          </a:p>
          <a:p>
            <a:pPr lvl="1"/>
            <a:r>
              <a:rPr lang="en-US" dirty="0"/>
              <a:t>Large images: file references</a:t>
            </a:r>
          </a:p>
          <a:p>
            <a:pPr lvl="1"/>
            <a:r>
              <a:rPr lang="en-US" dirty="0"/>
              <a:t>Thumbnails: BLOB data type in </a:t>
            </a:r>
          </a:p>
          <a:p>
            <a:pPr marL="457200" lvl="1" indent="0">
              <a:buNone/>
            </a:pPr>
            <a:r>
              <a:rPr lang="en-US" dirty="0"/>
              <a:t>   DBMS</a:t>
            </a:r>
          </a:p>
          <a:p>
            <a:pPr marL="342900" lvl="0" indent="-342900" eaLnBrk="0" hangingPunct="0">
              <a:spcBef>
                <a:spcPct val="20000"/>
              </a:spcBef>
              <a:spcAft>
                <a:spcPts val="300"/>
              </a:spcAft>
              <a:buFontTx/>
              <a:buChar char="•"/>
            </a:pPr>
            <a:r>
              <a:rPr lang="en-US" b="0" kern="0" dirty="0">
                <a:solidFill>
                  <a:srgbClr val="000000"/>
                </a:solidFill>
                <a:latin typeface="Verdana" pitchFamily="34" charset="0"/>
                <a:cs typeface="+mn-cs"/>
              </a:rPr>
              <a:t>17 relations (tables)</a:t>
            </a:r>
          </a:p>
          <a:p>
            <a:pPr marL="342900" lvl="0" indent="-342900" eaLnBrk="0" hangingPunct="0">
              <a:spcBef>
                <a:spcPct val="20000"/>
              </a:spcBef>
              <a:spcAft>
                <a:spcPts val="300"/>
              </a:spcAft>
              <a:buFontTx/>
              <a:buChar char="•"/>
            </a:pPr>
            <a:r>
              <a:rPr lang="en-US" b="0" kern="0" dirty="0">
                <a:solidFill>
                  <a:srgbClr val="000000"/>
                </a:solidFill>
                <a:latin typeface="Verdana" pitchFamily="34" charset="0"/>
                <a:cs typeface="+mn-cs"/>
              </a:rPr>
              <a:t>SQL scripts</a:t>
            </a:r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0B3494C-0E80-E7A3-978E-D52AC4B55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7615" y="1295627"/>
            <a:ext cx="6164791" cy="539303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492919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F991-0C0C-5D52-1563-15CDBE350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Tables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50D39C3-36D7-32BF-221B-AEDECE489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295400"/>
            <a:ext cx="8386579" cy="2272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FE7FC93-4BD1-172F-21FA-047E98BBA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4419" y="3789144"/>
            <a:ext cx="8378960" cy="2241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1FABAF-DF30-53AA-6982-D8D1A31D5577}"/>
              </a:ext>
            </a:extLst>
          </p:cNvPr>
          <p:cNvSpPr txBox="1"/>
          <p:nvPr/>
        </p:nvSpPr>
        <p:spPr>
          <a:xfrm>
            <a:off x="4572000" y="2209800"/>
            <a:ext cx="1361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C6600"/>
                </a:solidFill>
                <a:latin typeface="+mn-lt"/>
              </a:rPr>
              <a:t>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80711-960F-B029-5F11-F7712E6905A3}"/>
              </a:ext>
            </a:extLst>
          </p:cNvPr>
          <p:cNvSpPr txBox="1"/>
          <p:nvPr/>
        </p:nvSpPr>
        <p:spPr>
          <a:xfrm>
            <a:off x="3962400" y="4724400"/>
            <a:ext cx="2398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C6600"/>
                </a:solidFill>
                <a:latin typeface="+mn-lt"/>
              </a:rPr>
              <a:t>TILEDIMAGE</a:t>
            </a:r>
          </a:p>
        </p:txBody>
      </p:sp>
    </p:spTree>
    <p:extLst>
      <p:ext uri="{BB962C8B-B14F-4D97-AF65-F5344CB8AC3E}">
        <p14:creationId xmlns:p14="http://schemas.microsoft.com/office/powerpoint/2010/main" val="86553185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7C273-0057-5AEE-5034-CDD0F9B2C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Architecture of Pathology Image Database</a:t>
            </a:r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2666E27-8937-9DA3-A82D-818707D8027E}"/>
              </a:ext>
            </a:extLst>
          </p:cNvPr>
          <p:cNvSpPr/>
          <p:nvPr/>
        </p:nvSpPr>
        <p:spPr bwMode="auto">
          <a:xfrm>
            <a:off x="2138362" y="838200"/>
            <a:ext cx="7915275" cy="541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76200" dist="635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730D8F0-CF24-E825-7BDF-F18E45DE3147}"/>
              </a:ext>
            </a:extLst>
          </p:cNvPr>
          <p:cNvCxnSpPr/>
          <p:nvPr/>
        </p:nvCxnSpPr>
        <p:spPr bwMode="auto">
          <a:xfrm>
            <a:off x="8377237" y="4879388"/>
            <a:ext cx="304800" cy="1589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25F2B59-9CFE-931E-CC64-F1E8BF2B3B4B}"/>
              </a:ext>
            </a:extLst>
          </p:cNvPr>
          <p:cNvCxnSpPr/>
          <p:nvPr/>
        </p:nvCxnSpPr>
        <p:spPr bwMode="auto">
          <a:xfrm>
            <a:off x="8377237" y="5627075"/>
            <a:ext cx="304800" cy="1589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EAFD910-15D4-E2CE-B76B-8FC576A06380}"/>
              </a:ext>
            </a:extLst>
          </p:cNvPr>
          <p:cNvCxnSpPr/>
          <p:nvPr/>
        </p:nvCxnSpPr>
        <p:spPr bwMode="auto">
          <a:xfrm rot="5400000">
            <a:off x="6272150" y="2342525"/>
            <a:ext cx="1219201" cy="1588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6BF8110-432A-763B-F9D6-C83408CD8C24}"/>
              </a:ext>
            </a:extLst>
          </p:cNvPr>
          <p:cNvCxnSpPr/>
          <p:nvPr/>
        </p:nvCxnSpPr>
        <p:spPr bwMode="auto">
          <a:xfrm rot="16200000" flipH="1">
            <a:off x="5173526" y="1881554"/>
            <a:ext cx="304802" cy="4"/>
          </a:xfrm>
          <a:prstGeom prst="line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7BA722F-3462-E7C9-DACC-FDF60CCBE3C5}"/>
              </a:ext>
            </a:extLst>
          </p:cNvPr>
          <p:cNvCxnSpPr/>
          <p:nvPr/>
        </p:nvCxnSpPr>
        <p:spPr bwMode="auto">
          <a:xfrm>
            <a:off x="7165988" y="4941275"/>
            <a:ext cx="533400" cy="1588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A682010-8539-5821-81F1-0A4EB775647A}"/>
              </a:ext>
            </a:extLst>
          </p:cNvPr>
          <p:cNvCxnSpPr/>
          <p:nvPr/>
        </p:nvCxnSpPr>
        <p:spPr bwMode="auto">
          <a:xfrm rot="10800000" flipV="1">
            <a:off x="4262437" y="1546603"/>
            <a:ext cx="457200" cy="1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582A1ED4-4900-B1E3-2A0C-9E53A33F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037" y="3722076"/>
            <a:ext cx="4800600" cy="2286000"/>
          </a:xfrm>
          <a:prstGeom prst="rect">
            <a:avLst/>
          </a:prstGeom>
          <a:solidFill>
            <a:srgbClr val="E7FFE8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81382" tIns="109728" rIns="81382" bIns="109728" anchor="ctr"/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Calibri"/>
              <a:ea typeface="宋体" pitchFamily="2" charset="-122"/>
              <a:cs typeface="Arial" charset="0"/>
            </a:endParaRPr>
          </a:p>
        </p:txBody>
      </p:sp>
      <p:sp>
        <p:nvSpPr>
          <p:cNvPr id="70" name="Line 36">
            <a:extLst>
              <a:ext uri="{FF2B5EF4-FFF2-40B4-BE49-F238E27FC236}">
                <a16:creationId xmlns:a16="http://schemas.microsoft.com/office/drawing/2014/main" id="{42EF1FD2-76E8-7C8B-2171-398A7C97BA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57837" y="4865075"/>
            <a:ext cx="228600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 b="0" kern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71" name="Oval 81">
            <a:extLst>
              <a:ext uri="{FF2B5EF4-FFF2-40B4-BE49-F238E27FC236}">
                <a16:creationId xmlns:a16="http://schemas.microsoft.com/office/drawing/2014/main" id="{D5BB875C-0E2F-9361-FC2A-3782E1D5F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33" y="5075418"/>
            <a:ext cx="1403404" cy="399258"/>
          </a:xfrm>
          <a:prstGeom prst="ellipse">
            <a:avLst/>
          </a:prstGeom>
          <a:gradFill rotWithShape="1">
            <a:gsLst>
              <a:gs pos="0">
                <a:srgbClr val="FFFFCC">
                  <a:gamma/>
                  <a:shade val="46275"/>
                  <a:invGamma/>
                </a:srgbClr>
              </a:gs>
              <a:gs pos="50000">
                <a:srgbClr val="FFFFCC"/>
              </a:gs>
              <a:gs pos="100000">
                <a:srgbClr val="FFFFCC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2" name="Rectangle 84">
            <a:extLst>
              <a:ext uri="{FF2B5EF4-FFF2-40B4-BE49-F238E27FC236}">
                <a16:creationId xmlns:a16="http://schemas.microsoft.com/office/drawing/2014/main" id="{BC137D02-A678-4029-1B84-6E21FF24F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33" y="3957017"/>
            <a:ext cx="1403404" cy="1358918"/>
          </a:xfrm>
          <a:prstGeom prst="rect">
            <a:avLst/>
          </a:prstGeom>
          <a:gradFill rotWithShape="1">
            <a:gsLst>
              <a:gs pos="0">
                <a:srgbClr val="FFFFCC">
                  <a:gamma/>
                  <a:shade val="46275"/>
                  <a:invGamma/>
                </a:srgbClr>
              </a:gs>
              <a:gs pos="50000">
                <a:srgbClr val="FFFFCC"/>
              </a:gs>
              <a:gs pos="100000">
                <a:srgbClr val="FFFFCC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lIns="81382" tIns="40691" rIns="81382" bIns="40691" anchor="ctr"/>
          <a:lstStyle/>
          <a:p>
            <a:pPr algn="ctr" defTabSz="76200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lang="en-US" sz="1600" b="0" dirty="0">
              <a:solidFill>
                <a:srgbClr val="000000"/>
              </a:solidFill>
              <a:latin typeface="Calibri"/>
              <a:ea typeface="宋体" pitchFamily="2" charset="-122"/>
              <a:cs typeface="Arial" charset="0"/>
            </a:endParaRPr>
          </a:p>
        </p:txBody>
      </p:sp>
      <p:sp>
        <p:nvSpPr>
          <p:cNvPr id="73" name="Oval 85">
            <a:extLst>
              <a:ext uri="{FF2B5EF4-FFF2-40B4-BE49-F238E27FC236}">
                <a16:creationId xmlns:a16="http://schemas.microsoft.com/office/drawing/2014/main" id="{1C8C8334-7AD4-4C50-5E7A-C32B5D0C8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33" y="3798276"/>
            <a:ext cx="1403404" cy="39925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b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687A01-B1CD-06D7-BD06-1C5D88B3C5C4}"/>
              </a:ext>
            </a:extLst>
          </p:cNvPr>
          <p:cNvSpPr txBox="1"/>
          <p:nvPr/>
        </p:nvSpPr>
        <p:spPr>
          <a:xfrm>
            <a:off x="5969218" y="3798276"/>
            <a:ext cx="96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prstClr val="black"/>
                </a:solidFill>
                <a:latin typeface="Calibri"/>
              </a:rPr>
              <a:t>Database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8C098A8-C238-009E-4F13-32CCB7EE0F41}"/>
              </a:ext>
            </a:extLst>
          </p:cNvPr>
          <p:cNvSpPr/>
          <p:nvPr/>
        </p:nvSpPr>
        <p:spPr>
          <a:xfrm>
            <a:off x="5444823" y="5512359"/>
            <a:ext cx="1907230" cy="486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2060"/>
                </a:solidFill>
                <a:latin typeface="Calibri"/>
                <a:ea typeface="宋体" pitchFamily="2" charset="-122"/>
                <a:cs typeface="Arial" charset="0"/>
              </a:rPr>
              <a:t>Image Database (PIDB)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82250BC-FDF3-6AE1-F314-9B490DDDB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7" y="3734489"/>
            <a:ext cx="990600" cy="685800"/>
          </a:xfrm>
          <a:prstGeom prst="rect">
            <a:avLst/>
          </a:prstGeom>
          <a:solidFill>
            <a:srgbClr val="C3FFC4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81382" tIns="109728" rIns="81382" bIns="109728" anchor="ctr"/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Image Viewer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80A6BDD-CD69-7C3F-D558-B83D7950C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7" y="4528248"/>
            <a:ext cx="990600" cy="692141"/>
          </a:xfrm>
          <a:prstGeom prst="rect">
            <a:avLst/>
          </a:prstGeom>
          <a:solidFill>
            <a:srgbClr val="C3FFC4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81382" tIns="109728" rIns="81382" bIns="109728" anchor="ctr"/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Image Analysis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FA992AA-5E26-DD3B-6581-B534DE742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7" y="5315934"/>
            <a:ext cx="990600" cy="685800"/>
          </a:xfrm>
          <a:prstGeom prst="rect">
            <a:avLst/>
          </a:prstGeom>
          <a:solidFill>
            <a:srgbClr val="C3FFC4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81382" tIns="109728" rIns="81382" bIns="109728" anchor="ctr"/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Data Sharing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13C21D9-DE73-5062-D1AA-605A54C752F1}"/>
              </a:ext>
            </a:extLst>
          </p:cNvPr>
          <p:cNvCxnSpPr/>
          <p:nvPr/>
        </p:nvCxnSpPr>
        <p:spPr bwMode="auto">
          <a:xfrm rot="5400000">
            <a:off x="6295983" y="3645875"/>
            <a:ext cx="304799" cy="2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BBABB3B-9BBE-74F1-CE72-715045900A23}"/>
              </a:ext>
            </a:extLst>
          </p:cNvPr>
          <p:cNvCxnSpPr/>
          <p:nvPr/>
        </p:nvCxnSpPr>
        <p:spPr bwMode="auto">
          <a:xfrm>
            <a:off x="8377237" y="4087173"/>
            <a:ext cx="304800" cy="1589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460899BC-50A4-2DC0-1C63-6483223DC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7" y="2113923"/>
            <a:ext cx="1371600" cy="5334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lIns="0" tIns="109728" rIns="0" bIns="109728" anchor="ctr"/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PAIS Document Generator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485E9A1-A50D-1064-F2D1-9700BC1EC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777" y="2121875"/>
            <a:ext cx="1219199" cy="533401"/>
          </a:xfrm>
          <a:prstGeom prst="rect">
            <a:avLst/>
          </a:prstGeom>
          <a:solidFill>
            <a:srgbClr val="BAFCAA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0" tIns="109728" rIns="0" bIns="109728" anchor="ctr"/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Metadata Configuration</a:t>
            </a:r>
          </a:p>
        </p:txBody>
      </p:sp>
      <p:sp>
        <p:nvSpPr>
          <p:cNvPr id="83" name="Oval 81">
            <a:extLst>
              <a:ext uri="{FF2B5EF4-FFF2-40B4-BE49-F238E27FC236}">
                <a16:creationId xmlns:a16="http://schemas.microsoft.com/office/drawing/2014/main" id="{D81DBC94-B3F8-BA24-CFD6-9DFAAC624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1263" y="5075417"/>
            <a:ext cx="1403404" cy="399258"/>
          </a:xfrm>
          <a:prstGeom prst="ellipse">
            <a:avLst/>
          </a:prstGeom>
          <a:gradFill rotWithShape="1">
            <a:gsLst>
              <a:gs pos="0">
                <a:srgbClr val="FFFFCC">
                  <a:gamma/>
                  <a:shade val="46275"/>
                  <a:invGamma/>
                </a:srgbClr>
              </a:gs>
              <a:gs pos="50000">
                <a:srgbClr val="FFFFCC"/>
              </a:gs>
              <a:gs pos="100000">
                <a:srgbClr val="FFFFCC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4" name="Rectangle 84">
            <a:extLst>
              <a:ext uri="{FF2B5EF4-FFF2-40B4-BE49-F238E27FC236}">
                <a16:creationId xmlns:a16="http://schemas.microsoft.com/office/drawing/2014/main" id="{BC952D85-FC8C-19BC-9473-D6ECEE9BF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1263" y="3957016"/>
            <a:ext cx="1403404" cy="1358918"/>
          </a:xfrm>
          <a:prstGeom prst="rect">
            <a:avLst/>
          </a:prstGeom>
          <a:gradFill rotWithShape="1">
            <a:gsLst>
              <a:gs pos="0">
                <a:srgbClr val="FFFFCC">
                  <a:gamma/>
                  <a:shade val="46275"/>
                  <a:invGamma/>
                </a:srgbClr>
              </a:gs>
              <a:gs pos="50000">
                <a:srgbClr val="FFFFCC"/>
              </a:gs>
              <a:gs pos="100000">
                <a:srgbClr val="FFFFCC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lIns="81382" tIns="40691" rIns="81382" bIns="40691" anchor="ctr"/>
          <a:lstStyle/>
          <a:p>
            <a:pPr algn="ctr" defTabSz="76200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lang="en-US" sz="1600" b="0" dirty="0">
              <a:solidFill>
                <a:srgbClr val="000000"/>
              </a:solidFill>
              <a:latin typeface="Calibri"/>
              <a:ea typeface="宋体" pitchFamily="2" charset="-122"/>
              <a:cs typeface="Arial" charset="0"/>
            </a:endParaRPr>
          </a:p>
        </p:txBody>
      </p:sp>
      <p:sp>
        <p:nvSpPr>
          <p:cNvPr id="85" name="Oval 85">
            <a:extLst>
              <a:ext uri="{FF2B5EF4-FFF2-40B4-BE49-F238E27FC236}">
                <a16:creationId xmlns:a16="http://schemas.microsoft.com/office/drawing/2014/main" id="{FCD92353-9010-D880-2825-BDD5842F5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1263" y="3798275"/>
            <a:ext cx="1403404" cy="39925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800" b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FE476FA-E272-4312-F937-18EA041387DC}"/>
              </a:ext>
            </a:extLst>
          </p:cNvPr>
          <p:cNvSpPr txBox="1"/>
          <p:nvPr/>
        </p:nvSpPr>
        <p:spPr>
          <a:xfrm>
            <a:off x="3075848" y="3798275"/>
            <a:ext cx="96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prstClr val="black"/>
                </a:solidFill>
                <a:latin typeface="Calibri"/>
              </a:rPr>
              <a:t>Database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205B309-CDAA-90F3-8AC7-13698286DF8C}"/>
              </a:ext>
            </a:extLst>
          </p:cNvPr>
          <p:cNvSpPr/>
          <p:nvPr/>
        </p:nvSpPr>
        <p:spPr>
          <a:xfrm>
            <a:off x="2806686" y="5628331"/>
            <a:ext cx="1524000" cy="294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2060"/>
                </a:solidFill>
                <a:latin typeface="Calibri"/>
                <a:ea typeface="宋体" pitchFamily="2" charset="-122"/>
                <a:cs typeface="Arial" charset="0"/>
              </a:rPr>
              <a:t>PAIS Database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79CEF59-5757-CC33-0BA3-7AC9E8732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9015" y="4291025"/>
            <a:ext cx="1248773" cy="526780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lIns="0" tIns="109728" rIns="0" bIns="109728" anchor="ctr"/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Structured Data Management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4D61907-FA09-4C74-6481-5711586E9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9015" y="4821115"/>
            <a:ext cx="1248773" cy="526780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lIns="81382" tIns="109728" rIns="81382" bIns="109728" anchor="ctr"/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Spatial Data Management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BE81BAA-ECC3-890E-FFC3-576C7BD8F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7" y="2960074"/>
            <a:ext cx="1371600" cy="5334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lIns="0" tIns="109728" rIns="0" bIns="109728" anchor="ctr"/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PAIS Data Loading Tool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3722B8C-72A3-20F9-8AC3-34DF548B9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9784" y="1271954"/>
            <a:ext cx="1439849" cy="533398"/>
          </a:xfrm>
          <a:prstGeom prst="rect">
            <a:avLst/>
          </a:prstGeom>
          <a:solidFill>
            <a:srgbClr val="FFF1C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81382" tIns="182880" rIns="81382" bIns="182880" anchor="ctr"/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Whole Slide Images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B679EDC-9488-1977-45C8-FF0E3A291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5784" y="1271954"/>
            <a:ext cx="1295400" cy="533398"/>
          </a:xfrm>
          <a:prstGeom prst="rect">
            <a:avLst/>
          </a:prstGeom>
          <a:solidFill>
            <a:srgbClr val="FFF1C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81382" tIns="182880" rIns="81382" bIns="182880" anchor="ctr"/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Tiled </a:t>
            </a:r>
          </a:p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Images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F0B3A27-AF35-E0D3-A0D5-3301D1AF60B2}"/>
              </a:ext>
            </a:extLst>
          </p:cNvPr>
          <p:cNvCxnSpPr/>
          <p:nvPr/>
        </p:nvCxnSpPr>
        <p:spPr bwMode="auto">
          <a:xfrm rot="5400000">
            <a:off x="3398064" y="1927399"/>
            <a:ext cx="373048" cy="1588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DCA7427-3E6B-B06D-B66A-5854D2CD36FF}"/>
              </a:ext>
            </a:extLst>
          </p:cNvPr>
          <p:cNvCxnSpPr/>
          <p:nvPr/>
        </p:nvCxnSpPr>
        <p:spPr bwMode="auto">
          <a:xfrm rot="10800000">
            <a:off x="5991184" y="1560852"/>
            <a:ext cx="228600" cy="1588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72C8A94-C25F-C03C-692C-3DE912AD13AB}"/>
              </a:ext>
            </a:extLst>
          </p:cNvPr>
          <p:cNvCxnSpPr/>
          <p:nvPr/>
        </p:nvCxnSpPr>
        <p:spPr bwMode="auto">
          <a:xfrm rot="5400000">
            <a:off x="3428213" y="2803699"/>
            <a:ext cx="312750" cy="1588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78213F6-1FCB-8499-978E-88A93FA8DFA8}"/>
              </a:ext>
            </a:extLst>
          </p:cNvPr>
          <p:cNvCxnSpPr/>
          <p:nvPr/>
        </p:nvCxnSpPr>
        <p:spPr bwMode="auto">
          <a:xfrm rot="5400000">
            <a:off x="3424236" y="3645874"/>
            <a:ext cx="304799" cy="2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0FC49628-4FE8-B8B7-1D94-5469CAF56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584" y="2960075"/>
            <a:ext cx="1371600" cy="5334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lIns="0" tIns="109728" rIns="0" bIns="109728" anchor="ctr"/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Image </a:t>
            </a:r>
          </a:p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Loading Tool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3BF3201-FE26-FC49-60FB-016D3E616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7031" y="4305299"/>
            <a:ext cx="1271547" cy="457200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lIns="0" tIns="109728" rIns="0" bIns="109728" anchor="ctr"/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Image Metadata Management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07259FB-C62E-2011-206D-266F02498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7031" y="4835389"/>
            <a:ext cx="1271547" cy="457200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lIns="81382" tIns="109728" rIns="81382" bIns="109728" anchor="ctr"/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User Defined Functions</a:t>
            </a:r>
          </a:p>
        </p:txBody>
      </p:sp>
      <p:grpSp>
        <p:nvGrpSpPr>
          <p:cNvPr id="100" name="Group 101">
            <a:extLst>
              <a:ext uri="{FF2B5EF4-FFF2-40B4-BE49-F238E27FC236}">
                <a16:creationId xmlns:a16="http://schemas.microsoft.com/office/drawing/2014/main" id="{5189E748-2F2A-D486-32BD-3E0C4782F440}"/>
              </a:ext>
            </a:extLst>
          </p:cNvPr>
          <p:cNvGrpSpPr/>
          <p:nvPr/>
        </p:nvGrpSpPr>
        <p:grpSpPr>
          <a:xfrm>
            <a:off x="4614943" y="4484075"/>
            <a:ext cx="935038" cy="609600"/>
            <a:chOff x="4038600" y="4572000"/>
            <a:chExt cx="935038" cy="609600"/>
          </a:xfrm>
        </p:grpSpPr>
        <p:sp>
          <p:nvSpPr>
            <p:cNvPr id="101" name="File">
              <a:extLst>
                <a:ext uri="{FF2B5EF4-FFF2-40B4-BE49-F238E27FC236}">
                  <a16:creationId xmlns:a16="http://schemas.microsoft.com/office/drawing/2014/main" id="{C84699A4-BD9A-F120-8846-92EFC6288889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038600" y="4572000"/>
              <a:ext cx="935038" cy="609600"/>
            </a:xfrm>
            <a:custGeom>
              <a:avLst/>
              <a:gdLst>
                <a:gd name="T0" fmla="*/ 10981 w 21600"/>
                <a:gd name="T1" fmla="*/ 3240 h 21600"/>
                <a:gd name="T2" fmla="*/ 0 w 21600"/>
                <a:gd name="T3" fmla="*/ 10800 h 21600"/>
                <a:gd name="T4" fmla="*/ 10800 w 21600"/>
                <a:gd name="T5" fmla="*/ 21600 h 21600"/>
                <a:gd name="T6" fmla="*/ 21600 w 21600"/>
                <a:gd name="T7" fmla="*/ 10800 h 21600"/>
                <a:gd name="T8" fmla="*/ 0 w 21600"/>
                <a:gd name="T9" fmla="*/ 21600 h 21600"/>
                <a:gd name="T10" fmla="*/ 21600 w 21600"/>
                <a:gd name="T11" fmla="*/ 21600 h 21600"/>
                <a:gd name="T12" fmla="*/ 1086 w 21600"/>
                <a:gd name="T13" fmla="*/ 4628 h 21600"/>
                <a:gd name="T14" fmla="*/ 20635 w 21600"/>
                <a:gd name="T15" fmla="*/ 2028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T12" t="T13" r="T14" b="T15"/>
              <a:pathLst>
                <a:path w="21600" h="21600">
                  <a:moveTo>
                    <a:pt x="19790" y="3240"/>
                  </a:moveTo>
                  <a:cubicBezTo>
                    <a:pt x="10981" y="3240"/>
                    <a:pt x="9171" y="3240"/>
                    <a:pt x="9050" y="3086"/>
                  </a:cubicBezTo>
                  <a:cubicBezTo>
                    <a:pt x="9050" y="2931"/>
                    <a:pt x="8930" y="2777"/>
                    <a:pt x="8930" y="2469"/>
                  </a:cubicBezTo>
                  <a:cubicBezTo>
                    <a:pt x="8930" y="2160"/>
                    <a:pt x="8809" y="1851"/>
                    <a:pt x="8688" y="1389"/>
                  </a:cubicBezTo>
                  <a:cubicBezTo>
                    <a:pt x="8568" y="1080"/>
                    <a:pt x="8326" y="771"/>
                    <a:pt x="8085" y="463"/>
                  </a:cubicBezTo>
                  <a:cubicBezTo>
                    <a:pt x="7723" y="154"/>
                    <a:pt x="7361" y="0"/>
                    <a:pt x="7361" y="0"/>
                  </a:cubicBezTo>
                  <a:cubicBezTo>
                    <a:pt x="7361" y="0"/>
                    <a:pt x="2293" y="0"/>
                    <a:pt x="2051" y="154"/>
                  </a:cubicBezTo>
                  <a:cubicBezTo>
                    <a:pt x="1689" y="309"/>
                    <a:pt x="1448" y="463"/>
                    <a:pt x="1327" y="771"/>
                  </a:cubicBezTo>
                  <a:cubicBezTo>
                    <a:pt x="1207" y="1080"/>
                    <a:pt x="1086" y="1389"/>
                    <a:pt x="965" y="1697"/>
                  </a:cubicBezTo>
                  <a:cubicBezTo>
                    <a:pt x="845" y="2160"/>
                    <a:pt x="724" y="2314"/>
                    <a:pt x="724" y="2469"/>
                  </a:cubicBezTo>
                  <a:cubicBezTo>
                    <a:pt x="603" y="2623"/>
                    <a:pt x="603" y="2777"/>
                    <a:pt x="483" y="2931"/>
                  </a:cubicBezTo>
                  <a:cubicBezTo>
                    <a:pt x="483" y="3086"/>
                    <a:pt x="362" y="3240"/>
                    <a:pt x="241" y="3240"/>
                  </a:cubicBezTo>
                  <a:lnTo>
                    <a:pt x="0" y="3394"/>
                  </a:lnTo>
                  <a:lnTo>
                    <a:pt x="0" y="3703"/>
                  </a:lnTo>
                  <a:lnTo>
                    <a:pt x="0" y="10800"/>
                  </a:lnTo>
                  <a:lnTo>
                    <a:pt x="0" y="21600"/>
                  </a:lnTo>
                  <a:lnTo>
                    <a:pt x="10981" y="21600"/>
                  </a:lnTo>
                  <a:lnTo>
                    <a:pt x="21600" y="21600"/>
                  </a:lnTo>
                  <a:lnTo>
                    <a:pt x="21600" y="10800"/>
                  </a:lnTo>
                  <a:lnTo>
                    <a:pt x="21600" y="5246"/>
                  </a:lnTo>
                  <a:lnTo>
                    <a:pt x="21600" y="4783"/>
                  </a:lnTo>
                  <a:cubicBezTo>
                    <a:pt x="21479" y="4320"/>
                    <a:pt x="21359" y="4011"/>
                    <a:pt x="21117" y="3703"/>
                  </a:cubicBezTo>
                  <a:cubicBezTo>
                    <a:pt x="20876" y="3549"/>
                    <a:pt x="20514" y="3394"/>
                    <a:pt x="20152" y="3240"/>
                  </a:cubicBez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sz="1800" b="0">
                <a:solidFill>
                  <a:srgbClr val="000000"/>
                </a:solidFill>
                <a:latin typeface="Arial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9EFE7FB4-3A89-CD31-A49F-9FF15C734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5098" y="4772106"/>
              <a:ext cx="76200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81382" tIns="109728" rIns="81382" bIns="109728" anchor="ctr"/>
            <a:lstStyle/>
            <a:p>
              <a:pPr algn="ctr" defTabSz="762000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500" dirty="0">
                  <a:solidFill>
                    <a:srgbClr val="002060"/>
                  </a:solidFill>
                  <a:latin typeface="Calibri"/>
                  <a:ea typeface="宋体" pitchFamily="2" charset="-122"/>
                  <a:cs typeface="Arial" charset="0"/>
                </a:rPr>
                <a:t>Image Files</a:t>
              </a:r>
            </a:p>
          </p:txBody>
        </p:sp>
      </p:grp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E041530-CEE3-5D1F-083B-35D2068E83D7}"/>
              </a:ext>
            </a:extLst>
          </p:cNvPr>
          <p:cNvCxnSpPr/>
          <p:nvPr/>
        </p:nvCxnSpPr>
        <p:spPr bwMode="auto">
          <a:xfrm>
            <a:off x="5024437" y="3264875"/>
            <a:ext cx="746098" cy="1588"/>
          </a:xfrm>
          <a:prstGeom prst="straightConnector1">
            <a:avLst/>
          </a:prstGeom>
          <a:noFill/>
          <a:ln w="25400" cap="flat" cmpd="sng" algn="ctr">
            <a:solidFill>
              <a:srgbClr val="BAE18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D0D2F58-E426-59A0-4EE0-5FFF6844478D}"/>
              </a:ext>
            </a:extLst>
          </p:cNvPr>
          <p:cNvCxnSpPr/>
          <p:nvPr/>
        </p:nvCxnSpPr>
        <p:spPr bwMode="auto">
          <a:xfrm rot="16200000" flipH="1">
            <a:off x="4727591" y="2952125"/>
            <a:ext cx="601646" cy="7950"/>
          </a:xfrm>
          <a:prstGeom prst="line">
            <a:avLst/>
          </a:prstGeom>
          <a:noFill/>
          <a:ln w="25400" cap="flat" cmpd="sng" algn="ctr">
            <a:solidFill>
              <a:srgbClr val="BAE18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619BBA-1697-A981-05AF-BADC677CAC70}"/>
              </a:ext>
            </a:extLst>
          </p:cNvPr>
          <p:cNvCxnSpPr/>
          <p:nvPr/>
        </p:nvCxnSpPr>
        <p:spPr bwMode="auto">
          <a:xfrm flipH="1">
            <a:off x="5999136" y="2018052"/>
            <a:ext cx="11260" cy="934070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11C3554-B242-5659-7A39-5949C28A56ED}"/>
              </a:ext>
            </a:extLst>
          </p:cNvPr>
          <p:cNvCxnSpPr/>
          <p:nvPr/>
        </p:nvCxnSpPr>
        <p:spPr bwMode="auto">
          <a:xfrm>
            <a:off x="5329237" y="2018052"/>
            <a:ext cx="681159" cy="1588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09F0E9A8-5092-2D36-4C67-E99A4025EC54}"/>
              </a:ext>
            </a:extLst>
          </p:cNvPr>
          <p:cNvCxnSpPr/>
          <p:nvPr/>
        </p:nvCxnSpPr>
        <p:spPr bwMode="auto">
          <a:xfrm rot="10800000">
            <a:off x="4262438" y="2388576"/>
            <a:ext cx="304801" cy="1588"/>
          </a:xfrm>
          <a:prstGeom prst="straightConnector1">
            <a:avLst/>
          </a:prstGeom>
          <a:noFill/>
          <a:ln w="25400" cap="flat" cmpd="sng" algn="ctr">
            <a:solidFill>
              <a:srgbClr val="BAE18F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BDA389B-EEBB-3A1F-C0FF-9C1809DDFF94}"/>
              </a:ext>
            </a:extLst>
          </p:cNvPr>
          <p:cNvGrpSpPr/>
          <p:nvPr/>
        </p:nvGrpSpPr>
        <p:grpSpPr>
          <a:xfrm>
            <a:off x="7691437" y="3722075"/>
            <a:ext cx="762001" cy="2285999"/>
            <a:chOff x="6361414" y="4108806"/>
            <a:chExt cx="762001" cy="2285999"/>
          </a:xfrm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1ABF7DD-07D1-EBFB-AAED-210FC6191C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39671" y="5392549"/>
              <a:ext cx="1517659" cy="47417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81382" tIns="109728" rIns="81382" bIns="109728" anchor="ctr"/>
            <a:lstStyle/>
            <a:p>
              <a:pPr algn="ctr" defTabSz="762000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dirty="0">
                  <a:solidFill>
                    <a:srgbClr val="002060"/>
                  </a:solidFill>
                  <a:latin typeface="Calibri"/>
                  <a:ea typeface="宋体" pitchFamily="2" charset="-122"/>
                  <a:cs typeface="Arial" charset="0"/>
                </a:rPr>
                <a:t>Application Server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58DF496-51CE-DE62-A582-29B504989B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217501" y="4252719"/>
              <a:ext cx="762000" cy="47417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81382" tIns="109728" rIns="81382" bIns="109728" anchor="ctr"/>
            <a:lstStyle/>
            <a:p>
              <a:pPr algn="ctr" defTabSz="762000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dirty="0">
                  <a:solidFill>
                    <a:srgbClr val="002060"/>
                  </a:solidFill>
                  <a:latin typeface="Calibri"/>
                  <a:ea typeface="宋体" pitchFamily="2" charset="-122"/>
                  <a:cs typeface="Arial" charset="0"/>
                </a:rPr>
                <a:t>SQL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6E413ACF-980A-8EFC-65CB-0F10B27FC71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28015" y="5099405"/>
              <a:ext cx="2285999" cy="3048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81382" tIns="109728" rIns="81382" bIns="109728" anchor="ctr"/>
            <a:lstStyle/>
            <a:p>
              <a:pPr algn="ctr" defTabSz="762000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0" dirty="0">
                  <a:solidFill>
                    <a:srgbClr val="002060"/>
                  </a:solidFill>
                  <a:latin typeface="Calibri"/>
                  <a:ea typeface="宋体" pitchFamily="2" charset="-122"/>
                  <a:cs typeface="Arial" charset="0"/>
                </a:rPr>
                <a:t>Query Interfaces</a:t>
              </a:r>
            </a:p>
          </p:txBody>
        </p:sp>
      </p:grp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A888E3F-13C8-042A-30F2-5BE570B78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4833" y="1740875"/>
            <a:ext cx="142394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1382" tIns="109728" rIns="81382" bIns="109728" anchor="ctr"/>
          <a:lstStyle/>
          <a:p>
            <a:pPr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 dirty="0">
                <a:solidFill>
                  <a:srgbClr val="002060"/>
                </a:solidFill>
                <a:latin typeface="Calibri"/>
                <a:ea typeface="宋体" pitchFamily="2" charset="-122"/>
                <a:cs typeface="Arial" charset="0"/>
              </a:rPr>
              <a:t>Analytical results</a:t>
            </a:r>
          </a:p>
        </p:txBody>
      </p:sp>
      <p:sp>
        <p:nvSpPr>
          <p:cNvPr id="113" name="Line 36">
            <a:extLst>
              <a:ext uri="{FF2B5EF4-FFF2-40B4-BE49-F238E27FC236}">
                <a16:creationId xmlns:a16="http://schemas.microsoft.com/office/drawing/2014/main" id="{DE918DBC-E473-C878-DE34-E6074C9CCB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54486" y="4331675"/>
            <a:ext cx="1495506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 b="0" kern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F35FEF2-8F26-200C-D266-B1065A142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948" y="2634732"/>
            <a:ext cx="127949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1382" tIns="109728" rIns="81382" bIns="109728" anchor="ctr"/>
          <a:lstStyle/>
          <a:p>
            <a:pPr defTabSz="762000" fontAlgn="auto"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 dirty="0">
                <a:solidFill>
                  <a:srgbClr val="002060"/>
                </a:solidFill>
                <a:latin typeface="Calibri"/>
                <a:ea typeface="宋体" pitchFamily="2" charset="-122"/>
                <a:cs typeface="Arial" charset="0"/>
              </a:rPr>
              <a:t>PAIS Documents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2B7E400-F2F3-B8C9-DC62-C56CCE71AC7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285918" y="4483410"/>
            <a:ext cx="50954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1382" tIns="109728" rIns="81382" bIns="109728" anchor="ctr"/>
          <a:lstStyle/>
          <a:p>
            <a:pPr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 dirty="0">
                <a:solidFill>
                  <a:srgbClr val="002060"/>
                </a:solidFill>
                <a:latin typeface="Calibri"/>
                <a:ea typeface="宋体" pitchFamily="2" charset="-122"/>
                <a:cs typeface="Arial" charset="0"/>
              </a:rPr>
              <a:t>JDBC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DE43107-C533-AC07-6FBB-74712B1BC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925" y="1702097"/>
            <a:ext cx="577796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1382" tIns="109728" rIns="81382" bIns="109728" anchor="ctr"/>
          <a:lstStyle/>
          <a:p>
            <a:pPr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 dirty="0">
                <a:solidFill>
                  <a:srgbClr val="002060"/>
                </a:solidFill>
                <a:latin typeface="Calibri"/>
                <a:ea typeface="宋体" pitchFamily="2" charset="-122"/>
                <a:cs typeface="Arial" charset="0"/>
              </a:rPr>
              <a:t>Tiling</a:t>
            </a:r>
          </a:p>
        </p:txBody>
      </p:sp>
      <p:cxnSp>
        <p:nvCxnSpPr>
          <p:cNvPr id="117" name="Shape 62">
            <a:extLst>
              <a:ext uri="{FF2B5EF4-FFF2-40B4-BE49-F238E27FC236}">
                <a16:creationId xmlns:a16="http://schemas.microsoft.com/office/drawing/2014/main" id="{561EBF52-18D0-3AA3-4D76-29D3E5F2C3EF}"/>
              </a:ext>
            </a:extLst>
          </p:cNvPr>
          <p:cNvCxnSpPr/>
          <p:nvPr/>
        </p:nvCxnSpPr>
        <p:spPr bwMode="auto">
          <a:xfrm rot="16200000" flipH="1" flipV="1">
            <a:off x="4304064" y="-118672"/>
            <a:ext cx="1181101" cy="4000694"/>
          </a:xfrm>
          <a:prstGeom prst="bentConnector4">
            <a:avLst>
              <a:gd name="adj1" fmla="val -19355"/>
              <a:gd name="adj2" fmla="val 111449"/>
            </a:avLst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A434040-5431-E95B-7BD8-AC8DE03F7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7" y="1271954"/>
            <a:ext cx="1371600" cy="533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81382" tIns="109728" rIns="81382" bIns="109728" anchor="ctr"/>
          <a:lstStyle/>
          <a:p>
            <a:pPr algn="ctr"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000000"/>
                </a:solidFill>
                <a:latin typeface="Calibri"/>
                <a:ea typeface="宋体" pitchFamily="2" charset="-122"/>
                <a:cs typeface="Arial" charset="0"/>
              </a:rPr>
              <a:t>Image Analysis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56FAD9B-5B2A-7A0D-7AEB-7812590DA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823" y="978877"/>
            <a:ext cx="178941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1382" tIns="109728" rIns="81382" bIns="109728" anchor="ctr"/>
          <a:lstStyle/>
          <a:p>
            <a:pPr defTabSz="7620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 dirty="0">
                <a:solidFill>
                  <a:srgbClr val="002060"/>
                </a:solidFill>
                <a:latin typeface="Calibri"/>
                <a:ea typeface="宋体" pitchFamily="2" charset="-122"/>
                <a:cs typeface="Arial" charset="0"/>
              </a:rPr>
              <a:t>Human annotations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1649C1E-2CFC-0237-5A70-E60260564B1F}"/>
              </a:ext>
            </a:extLst>
          </p:cNvPr>
          <p:cNvSpPr/>
          <p:nvPr/>
        </p:nvSpPr>
        <p:spPr bwMode="auto">
          <a:xfrm>
            <a:off x="4487159" y="829559"/>
            <a:ext cx="5741852" cy="5410985"/>
          </a:xfrm>
          <a:custGeom>
            <a:avLst/>
            <a:gdLst>
              <a:gd name="connsiteX0" fmla="*/ 1112363 w 5741852"/>
              <a:gd name="connsiteY0" fmla="*/ 9427 h 5410985"/>
              <a:gd name="connsiteX1" fmla="*/ 1112363 w 5741852"/>
              <a:gd name="connsiteY1" fmla="*/ 9427 h 5410985"/>
              <a:gd name="connsiteX2" fmla="*/ 914400 w 5741852"/>
              <a:gd name="connsiteY2" fmla="*/ 47134 h 5410985"/>
              <a:gd name="connsiteX3" fmla="*/ 678730 w 5741852"/>
              <a:gd name="connsiteY3" fmla="*/ 179109 h 5410985"/>
              <a:gd name="connsiteX4" fmla="*/ 556181 w 5741852"/>
              <a:gd name="connsiteY4" fmla="*/ 263950 h 5410985"/>
              <a:gd name="connsiteX5" fmla="*/ 499620 w 5741852"/>
              <a:gd name="connsiteY5" fmla="*/ 282804 h 5410985"/>
              <a:gd name="connsiteX6" fmla="*/ 386499 w 5741852"/>
              <a:gd name="connsiteY6" fmla="*/ 339365 h 5410985"/>
              <a:gd name="connsiteX7" fmla="*/ 273377 w 5741852"/>
              <a:gd name="connsiteY7" fmla="*/ 443060 h 5410985"/>
              <a:gd name="connsiteX8" fmla="*/ 160255 w 5741852"/>
              <a:gd name="connsiteY8" fmla="*/ 546754 h 5410985"/>
              <a:gd name="connsiteX9" fmla="*/ 141402 w 5741852"/>
              <a:gd name="connsiteY9" fmla="*/ 593888 h 5410985"/>
              <a:gd name="connsiteX10" fmla="*/ 113121 w 5741852"/>
              <a:gd name="connsiteY10" fmla="*/ 650449 h 5410985"/>
              <a:gd name="connsiteX11" fmla="*/ 122548 w 5741852"/>
              <a:gd name="connsiteY11" fmla="*/ 933253 h 5410985"/>
              <a:gd name="connsiteX12" fmla="*/ 131975 w 5741852"/>
              <a:gd name="connsiteY12" fmla="*/ 970961 h 5410985"/>
              <a:gd name="connsiteX13" fmla="*/ 150829 w 5741852"/>
              <a:gd name="connsiteY13" fmla="*/ 999241 h 5410985"/>
              <a:gd name="connsiteX14" fmla="*/ 160255 w 5741852"/>
              <a:gd name="connsiteY14" fmla="*/ 1036948 h 5410985"/>
              <a:gd name="connsiteX15" fmla="*/ 150829 w 5741852"/>
              <a:gd name="connsiteY15" fmla="*/ 1197204 h 5410985"/>
              <a:gd name="connsiteX16" fmla="*/ 131975 w 5741852"/>
              <a:gd name="connsiteY16" fmla="*/ 1263192 h 5410985"/>
              <a:gd name="connsiteX17" fmla="*/ 113121 w 5741852"/>
              <a:gd name="connsiteY17" fmla="*/ 1300899 h 5410985"/>
              <a:gd name="connsiteX18" fmla="*/ 94268 w 5741852"/>
              <a:gd name="connsiteY18" fmla="*/ 1366886 h 5410985"/>
              <a:gd name="connsiteX19" fmla="*/ 65987 w 5741852"/>
              <a:gd name="connsiteY19" fmla="*/ 1696825 h 5410985"/>
              <a:gd name="connsiteX20" fmla="*/ 94268 w 5741852"/>
              <a:gd name="connsiteY20" fmla="*/ 1894787 h 5410985"/>
              <a:gd name="connsiteX21" fmla="*/ 103695 w 5741852"/>
              <a:gd name="connsiteY21" fmla="*/ 2017336 h 5410985"/>
              <a:gd name="connsiteX22" fmla="*/ 37707 w 5741852"/>
              <a:gd name="connsiteY22" fmla="*/ 2733773 h 5410985"/>
              <a:gd name="connsiteX23" fmla="*/ 28280 w 5741852"/>
              <a:gd name="connsiteY23" fmla="*/ 2884602 h 5410985"/>
              <a:gd name="connsiteX24" fmla="*/ 18853 w 5741852"/>
              <a:gd name="connsiteY24" fmla="*/ 3091992 h 5410985"/>
              <a:gd name="connsiteX25" fmla="*/ 0 w 5741852"/>
              <a:gd name="connsiteY25" fmla="*/ 3205113 h 5410985"/>
              <a:gd name="connsiteX26" fmla="*/ 9427 w 5741852"/>
              <a:gd name="connsiteY26" fmla="*/ 3714161 h 5410985"/>
              <a:gd name="connsiteX27" fmla="*/ 18853 w 5741852"/>
              <a:gd name="connsiteY27" fmla="*/ 3864989 h 5410985"/>
              <a:gd name="connsiteX28" fmla="*/ 37707 w 5741852"/>
              <a:gd name="connsiteY28" fmla="*/ 3912123 h 5410985"/>
              <a:gd name="connsiteX29" fmla="*/ 94268 w 5741852"/>
              <a:gd name="connsiteY29" fmla="*/ 4138367 h 5410985"/>
              <a:gd name="connsiteX30" fmla="*/ 122548 w 5741852"/>
              <a:gd name="connsiteY30" fmla="*/ 4223208 h 5410985"/>
              <a:gd name="connsiteX31" fmla="*/ 160255 w 5741852"/>
              <a:gd name="connsiteY31" fmla="*/ 4298622 h 5410985"/>
              <a:gd name="connsiteX32" fmla="*/ 179109 w 5741852"/>
              <a:gd name="connsiteY32" fmla="*/ 4364610 h 5410985"/>
              <a:gd name="connsiteX33" fmla="*/ 226243 w 5741852"/>
              <a:gd name="connsiteY33" fmla="*/ 4449451 h 5410985"/>
              <a:gd name="connsiteX34" fmla="*/ 301657 w 5741852"/>
              <a:gd name="connsiteY34" fmla="*/ 4619134 h 5410985"/>
              <a:gd name="connsiteX35" fmla="*/ 339365 w 5741852"/>
              <a:gd name="connsiteY35" fmla="*/ 4675695 h 5410985"/>
              <a:gd name="connsiteX36" fmla="*/ 499620 w 5741852"/>
              <a:gd name="connsiteY36" fmla="*/ 4920792 h 5410985"/>
              <a:gd name="connsiteX37" fmla="*/ 565608 w 5741852"/>
              <a:gd name="connsiteY37" fmla="*/ 4986779 h 5410985"/>
              <a:gd name="connsiteX38" fmla="*/ 593888 w 5741852"/>
              <a:gd name="connsiteY38" fmla="*/ 5005633 h 5410985"/>
              <a:gd name="connsiteX39" fmla="*/ 622169 w 5741852"/>
              <a:gd name="connsiteY39" fmla="*/ 5043340 h 5410985"/>
              <a:gd name="connsiteX40" fmla="*/ 782425 w 5741852"/>
              <a:gd name="connsiteY40" fmla="*/ 5118754 h 5410985"/>
              <a:gd name="connsiteX41" fmla="*/ 829559 w 5741852"/>
              <a:gd name="connsiteY41" fmla="*/ 5147035 h 5410985"/>
              <a:gd name="connsiteX42" fmla="*/ 904973 w 5741852"/>
              <a:gd name="connsiteY42" fmla="*/ 5165888 h 5410985"/>
              <a:gd name="connsiteX43" fmla="*/ 989814 w 5741852"/>
              <a:gd name="connsiteY43" fmla="*/ 5184742 h 5410985"/>
              <a:gd name="connsiteX44" fmla="*/ 1084082 w 5741852"/>
              <a:gd name="connsiteY44" fmla="*/ 5203596 h 5410985"/>
              <a:gd name="connsiteX45" fmla="*/ 1150070 w 5741852"/>
              <a:gd name="connsiteY45" fmla="*/ 5222449 h 5410985"/>
              <a:gd name="connsiteX46" fmla="*/ 1197204 w 5741852"/>
              <a:gd name="connsiteY46" fmla="*/ 5231876 h 5410985"/>
              <a:gd name="connsiteX47" fmla="*/ 1414020 w 5741852"/>
              <a:gd name="connsiteY47" fmla="*/ 5279010 h 5410985"/>
              <a:gd name="connsiteX48" fmla="*/ 1498862 w 5741852"/>
              <a:gd name="connsiteY48" fmla="*/ 5297864 h 5410985"/>
              <a:gd name="connsiteX49" fmla="*/ 1611983 w 5741852"/>
              <a:gd name="connsiteY49" fmla="*/ 5307290 h 5410985"/>
              <a:gd name="connsiteX50" fmla="*/ 2667785 w 5741852"/>
              <a:gd name="connsiteY50" fmla="*/ 5307290 h 5410985"/>
              <a:gd name="connsiteX51" fmla="*/ 2903455 w 5741852"/>
              <a:gd name="connsiteY51" fmla="*/ 5344998 h 5410985"/>
              <a:gd name="connsiteX52" fmla="*/ 3148552 w 5741852"/>
              <a:gd name="connsiteY52" fmla="*/ 5373278 h 5410985"/>
              <a:gd name="connsiteX53" fmla="*/ 3308808 w 5741852"/>
              <a:gd name="connsiteY53" fmla="*/ 5401559 h 5410985"/>
              <a:gd name="connsiteX54" fmla="*/ 3487917 w 5741852"/>
              <a:gd name="connsiteY54" fmla="*/ 5410985 h 5410985"/>
              <a:gd name="connsiteX55" fmla="*/ 3836709 w 5741852"/>
              <a:gd name="connsiteY55" fmla="*/ 5392132 h 5410985"/>
              <a:gd name="connsiteX56" fmla="*/ 4204354 w 5741852"/>
              <a:gd name="connsiteY56" fmla="*/ 5307290 h 5410985"/>
              <a:gd name="connsiteX57" fmla="*/ 4741682 w 5741852"/>
              <a:gd name="connsiteY57" fmla="*/ 5203596 h 5410985"/>
              <a:gd name="connsiteX58" fmla="*/ 4817097 w 5741852"/>
              <a:gd name="connsiteY58" fmla="*/ 5194169 h 5410985"/>
              <a:gd name="connsiteX59" fmla="*/ 5043340 w 5741852"/>
              <a:gd name="connsiteY59" fmla="*/ 5184742 h 5410985"/>
              <a:gd name="connsiteX60" fmla="*/ 5175315 w 5741852"/>
              <a:gd name="connsiteY60" fmla="*/ 5165888 h 5410985"/>
              <a:gd name="connsiteX61" fmla="*/ 5363851 w 5741852"/>
              <a:gd name="connsiteY61" fmla="*/ 5147035 h 5410985"/>
              <a:gd name="connsiteX62" fmla="*/ 5467546 w 5741852"/>
              <a:gd name="connsiteY62" fmla="*/ 5118754 h 5410985"/>
              <a:gd name="connsiteX63" fmla="*/ 5608948 w 5741852"/>
              <a:gd name="connsiteY63" fmla="*/ 4939645 h 5410985"/>
              <a:gd name="connsiteX64" fmla="*/ 5703216 w 5741852"/>
              <a:gd name="connsiteY64" fmla="*/ 4769963 h 5410985"/>
              <a:gd name="connsiteX65" fmla="*/ 5722070 w 5741852"/>
              <a:gd name="connsiteY65" fmla="*/ 4562573 h 5410985"/>
              <a:gd name="connsiteX66" fmla="*/ 5740923 w 5741852"/>
              <a:gd name="connsiteY66" fmla="*/ 4392890 h 5410985"/>
              <a:gd name="connsiteX67" fmla="*/ 5674936 w 5741852"/>
              <a:gd name="connsiteY67" fmla="*/ 4053526 h 5410985"/>
              <a:gd name="connsiteX68" fmla="*/ 5665509 w 5741852"/>
              <a:gd name="connsiteY68" fmla="*/ 3883843 h 5410985"/>
              <a:gd name="connsiteX69" fmla="*/ 5618375 w 5741852"/>
              <a:gd name="connsiteY69" fmla="*/ 3553905 h 5410985"/>
              <a:gd name="connsiteX70" fmla="*/ 5608948 w 5741852"/>
              <a:gd name="connsiteY70" fmla="*/ 3233394 h 5410985"/>
              <a:gd name="connsiteX71" fmla="*/ 5599521 w 5741852"/>
              <a:gd name="connsiteY71" fmla="*/ 3063711 h 5410985"/>
              <a:gd name="connsiteX72" fmla="*/ 5552387 w 5741852"/>
              <a:gd name="connsiteY72" fmla="*/ 2894029 h 5410985"/>
              <a:gd name="connsiteX73" fmla="*/ 5505253 w 5741852"/>
              <a:gd name="connsiteY73" fmla="*/ 2450969 h 5410985"/>
              <a:gd name="connsiteX74" fmla="*/ 5373278 w 5741852"/>
              <a:gd name="connsiteY74" fmla="*/ 2036189 h 5410985"/>
              <a:gd name="connsiteX75" fmla="*/ 5316717 w 5741852"/>
              <a:gd name="connsiteY75" fmla="*/ 1885361 h 5410985"/>
              <a:gd name="connsiteX76" fmla="*/ 5052767 w 5741852"/>
              <a:gd name="connsiteY76" fmla="*/ 1442301 h 5410985"/>
              <a:gd name="connsiteX77" fmla="*/ 4835950 w 5741852"/>
              <a:gd name="connsiteY77" fmla="*/ 1102936 h 5410985"/>
              <a:gd name="connsiteX78" fmla="*/ 4553146 w 5741852"/>
              <a:gd name="connsiteY78" fmla="*/ 848412 h 5410985"/>
              <a:gd name="connsiteX79" fmla="*/ 4430598 w 5741852"/>
              <a:gd name="connsiteY79" fmla="*/ 763571 h 5410985"/>
              <a:gd name="connsiteX80" fmla="*/ 3827282 w 5741852"/>
              <a:gd name="connsiteY80" fmla="*/ 527901 h 5410985"/>
              <a:gd name="connsiteX81" fmla="*/ 3327662 w 5741852"/>
              <a:gd name="connsiteY81" fmla="*/ 311084 h 5410985"/>
              <a:gd name="connsiteX82" fmla="*/ 3214540 w 5741852"/>
              <a:gd name="connsiteY82" fmla="*/ 273377 h 5410985"/>
              <a:gd name="connsiteX83" fmla="*/ 2988297 w 5741852"/>
              <a:gd name="connsiteY83" fmla="*/ 226243 h 5410985"/>
              <a:gd name="connsiteX84" fmla="*/ 2696066 w 5741852"/>
              <a:gd name="connsiteY84" fmla="*/ 141402 h 5410985"/>
              <a:gd name="connsiteX85" fmla="*/ 2205872 w 5741852"/>
              <a:gd name="connsiteY85" fmla="*/ 18853 h 5410985"/>
              <a:gd name="connsiteX86" fmla="*/ 2111604 w 5741852"/>
              <a:gd name="connsiteY86" fmla="*/ 0 h 5410985"/>
              <a:gd name="connsiteX87" fmla="*/ 1112363 w 5741852"/>
              <a:gd name="connsiteY87" fmla="*/ 9427 h 5410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741852" h="5410985">
                <a:moveTo>
                  <a:pt x="1112363" y="9427"/>
                </a:moveTo>
                <a:lnTo>
                  <a:pt x="1112363" y="9427"/>
                </a:lnTo>
                <a:cubicBezTo>
                  <a:pt x="1038139" y="19323"/>
                  <a:pt x="979762" y="18084"/>
                  <a:pt x="914400" y="47134"/>
                </a:cubicBezTo>
                <a:cubicBezTo>
                  <a:pt x="825350" y="86712"/>
                  <a:pt x="760985" y="125327"/>
                  <a:pt x="678730" y="179109"/>
                </a:cubicBezTo>
                <a:cubicBezTo>
                  <a:pt x="637146" y="206298"/>
                  <a:pt x="599179" y="239057"/>
                  <a:pt x="556181" y="263950"/>
                </a:cubicBezTo>
                <a:cubicBezTo>
                  <a:pt x="538982" y="273907"/>
                  <a:pt x="517664" y="274476"/>
                  <a:pt x="499620" y="282804"/>
                </a:cubicBezTo>
                <a:cubicBezTo>
                  <a:pt x="274860" y="386540"/>
                  <a:pt x="553394" y="272605"/>
                  <a:pt x="386499" y="339365"/>
                </a:cubicBezTo>
                <a:cubicBezTo>
                  <a:pt x="255344" y="470520"/>
                  <a:pt x="439076" y="289198"/>
                  <a:pt x="273377" y="443060"/>
                </a:cubicBezTo>
                <a:cubicBezTo>
                  <a:pt x="148600" y="558923"/>
                  <a:pt x="260502" y="466557"/>
                  <a:pt x="160255" y="546754"/>
                </a:cubicBezTo>
                <a:cubicBezTo>
                  <a:pt x="153971" y="562465"/>
                  <a:pt x="148404" y="578483"/>
                  <a:pt x="141402" y="593888"/>
                </a:cubicBezTo>
                <a:cubicBezTo>
                  <a:pt x="132679" y="613078"/>
                  <a:pt x="114290" y="629402"/>
                  <a:pt x="113121" y="650449"/>
                </a:cubicBezTo>
                <a:cubicBezTo>
                  <a:pt x="107889" y="744624"/>
                  <a:pt x="117009" y="839095"/>
                  <a:pt x="122548" y="933253"/>
                </a:cubicBezTo>
                <a:cubicBezTo>
                  <a:pt x="123309" y="946187"/>
                  <a:pt x="126871" y="959052"/>
                  <a:pt x="131975" y="970961"/>
                </a:cubicBezTo>
                <a:cubicBezTo>
                  <a:pt x="136438" y="981374"/>
                  <a:pt x="144544" y="989814"/>
                  <a:pt x="150829" y="999241"/>
                </a:cubicBezTo>
                <a:cubicBezTo>
                  <a:pt x="153971" y="1011810"/>
                  <a:pt x="160255" y="1023992"/>
                  <a:pt x="160255" y="1036948"/>
                </a:cubicBezTo>
                <a:cubicBezTo>
                  <a:pt x="160255" y="1090459"/>
                  <a:pt x="155902" y="1143934"/>
                  <a:pt x="150829" y="1197204"/>
                </a:cubicBezTo>
                <a:cubicBezTo>
                  <a:pt x="149853" y="1207453"/>
                  <a:pt x="137169" y="1251073"/>
                  <a:pt x="131975" y="1263192"/>
                </a:cubicBezTo>
                <a:cubicBezTo>
                  <a:pt x="126439" y="1276108"/>
                  <a:pt x="117923" y="1287692"/>
                  <a:pt x="113121" y="1300899"/>
                </a:cubicBezTo>
                <a:cubicBezTo>
                  <a:pt x="105303" y="1322398"/>
                  <a:pt x="100552" y="1344890"/>
                  <a:pt x="94268" y="1366886"/>
                </a:cubicBezTo>
                <a:cubicBezTo>
                  <a:pt x="84577" y="1449259"/>
                  <a:pt x="61776" y="1614717"/>
                  <a:pt x="65987" y="1696825"/>
                </a:cubicBezTo>
                <a:cubicBezTo>
                  <a:pt x="69401" y="1763395"/>
                  <a:pt x="86480" y="1828586"/>
                  <a:pt x="94268" y="1894787"/>
                </a:cubicBezTo>
                <a:cubicBezTo>
                  <a:pt x="99055" y="1935477"/>
                  <a:pt x="100553" y="1976486"/>
                  <a:pt x="103695" y="2017336"/>
                </a:cubicBezTo>
                <a:cubicBezTo>
                  <a:pt x="71268" y="2590196"/>
                  <a:pt x="103995" y="2352616"/>
                  <a:pt x="37707" y="2733773"/>
                </a:cubicBezTo>
                <a:cubicBezTo>
                  <a:pt x="34565" y="2784049"/>
                  <a:pt x="30928" y="2834297"/>
                  <a:pt x="28280" y="2884602"/>
                </a:cubicBezTo>
                <a:cubicBezTo>
                  <a:pt x="24643" y="2953708"/>
                  <a:pt x="24935" y="3023058"/>
                  <a:pt x="18853" y="3091992"/>
                </a:cubicBezTo>
                <a:cubicBezTo>
                  <a:pt x="15493" y="3130071"/>
                  <a:pt x="6284" y="3167406"/>
                  <a:pt x="0" y="3205113"/>
                </a:cubicBezTo>
                <a:cubicBezTo>
                  <a:pt x="3142" y="3374796"/>
                  <a:pt x="4580" y="3544518"/>
                  <a:pt x="9427" y="3714161"/>
                </a:cubicBezTo>
                <a:cubicBezTo>
                  <a:pt x="10866" y="3764515"/>
                  <a:pt x="11729" y="3815121"/>
                  <a:pt x="18853" y="3864989"/>
                </a:cubicBezTo>
                <a:cubicBezTo>
                  <a:pt x="21246" y="3881741"/>
                  <a:pt x="31422" y="3896412"/>
                  <a:pt x="37707" y="3912123"/>
                </a:cubicBezTo>
                <a:cubicBezTo>
                  <a:pt x="57390" y="4010535"/>
                  <a:pt x="59385" y="4033717"/>
                  <a:pt x="94268" y="4138367"/>
                </a:cubicBezTo>
                <a:cubicBezTo>
                  <a:pt x="103695" y="4166647"/>
                  <a:pt x="111198" y="4195643"/>
                  <a:pt x="122548" y="4223208"/>
                </a:cubicBezTo>
                <a:cubicBezTo>
                  <a:pt x="133249" y="4249196"/>
                  <a:pt x="149817" y="4272527"/>
                  <a:pt x="160255" y="4298622"/>
                </a:cubicBezTo>
                <a:cubicBezTo>
                  <a:pt x="168751" y="4319862"/>
                  <a:pt x="169940" y="4343652"/>
                  <a:pt x="179109" y="4364610"/>
                </a:cubicBezTo>
                <a:cubicBezTo>
                  <a:pt x="192076" y="4394249"/>
                  <a:pt x="212468" y="4420179"/>
                  <a:pt x="226243" y="4449451"/>
                </a:cubicBezTo>
                <a:cubicBezTo>
                  <a:pt x="301293" y="4608934"/>
                  <a:pt x="197457" y="4433890"/>
                  <a:pt x="301657" y="4619134"/>
                </a:cubicBezTo>
                <a:cubicBezTo>
                  <a:pt x="312766" y="4638883"/>
                  <a:pt x="328514" y="4655802"/>
                  <a:pt x="339365" y="4675695"/>
                </a:cubicBezTo>
                <a:cubicBezTo>
                  <a:pt x="412365" y="4809528"/>
                  <a:pt x="233220" y="4654396"/>
                  <a:pt x="499620" y="4920792"/>
                </a:cubicBezTo>
                <a:cubicBezTo>
                  <a:pt x="521616" y="4942788"/>
                  <a:pt x="539726" y="4969524"/>
                  <a:pt x="565608" y="4986779"/>
                </a:cubicBezTo>
                <a:cubicBezTo>
                  <a:pt x="575035" y="4993064"/>
                  <a:pt x="585877" y="4997622"/>
                  <a:pt x="593888" y="5005633"/>
                </a:cubicBezTo>
                <a:cubicBezTo>
                  <a:pt x="604998" y="5016743"/>
                  <a:pt x="609096" y="5034625"/>
                  <a:pt x="622169" y="5043340"/>
                </a:cubicBezTo>
                <a:cubicBezTo>
                  <a:pt x="751160" y="5129334"/>
                  <a:pt x="695852" y="5075468"/>
                  <a:pt x="782425" y="5118754"/>
                </a:cubicBezTo>
                <a:cubicBezTo>
                  <a:pt x="798813" y="5126948"/>
                  <a:pt x="812458" y="5140458"/>
                  <a:pt x="829559" y="5147035"/>
                </a:cubicBezTo>
                <a:cubicBezTo>
                  <a:pt x="853743" y="5156337"/>
                  <a:pt x="879750" y="5159953"/>
                  <a:pt x="904973" y="5165888"/>
                </a:cubicBezTo>
                <a:cubicBezTo>
                  <a:pt x="933173" y="5172523"/>
                  <a:pt x="961465" y="5178774"/>
                  <a:pt x="989814" y="5184742"/>
                </a:cubicBezTo>
                <a:cubicBezTo>
                  <a:pt x="1021172" y="5191344"/>
                  <a:pt x="1052889" y="5196256"/>
                  <a:pt x="1084082" y="5203596"/>
                </a:cubicBezTo>
                <a:cubicBezTo>
                  <a:pt x="1106350" y="5208835"/>
                  <a:pt x="1127877" y="5216901"/>
                  <a:pt x="1150070" y="5222449"/>
                </a:cubicBezTo>
                <a:cubicBezTo>
                  <a:pt x="1165614" y="5226335"/>
                  <a:pt x="1181537" y="5228519"/>
                  <a:pt x="1197204" y="5231876"/>
                </a:cubicBezTo>
                <a:lnTo>
                  <a:pt x="1414020" y="5279010"/>
                </a:lnTo>
                <a:cubicBezTo>
                  <a:pt x="1442321" y="5285201"/>
                  <a:pt x="1469991" y="5295458"/>
                  <a:pt x="1498862" y="5297864"/>
                </a:cubicBezTo>
                <a:lnTo>
                  <a:pt x="1611983" y="5307290"/>
                </a:lnTo>
                <a:cubicBezTo>
                  <a:pt x="2028754" y="5296026"/>
                  <a:pt x="2283065" y="5270650"/>
                  <a:pt x="2667785" y="5307290"/>
                </a:cubicBezTo>
                <a:cubicBezTo>
                  <a:pt x="2746983" y="5314833"/>
                  <a:pt x="2824294" y="5337082"/>
                  <a:pt x="2903455" y="5344998"/>
                </a:cubicBezTo>
                <a:cubicBezTo>
                  <a:pt x="2989690" y="5353622"/>
                  <a:pt x="3060167" y="5359886"/>
                  <a:pt x="3148552" y="5373278"/>
                </a:cubicBezTo>
                <a:cubicBezTo>
                  <a:pt x="3202184" y="5381404"/>
                  <a:pt x="3254896" y="5395569"/>
                  <a:pt x="3308808" y="5401559"/>
                </a:cubicBezTo>
                <a:cubicBezTo>
                  <a:pt x="3368228" y="5408161"/>
                  <a:pt x="3428214" y="5407843"/>
                  <a:pt x="3487917" y="5410985"/>
                </a:cubicBezTo>
                <a:cubicBezTo>
                  <a:pt x="3604181" y="5404701"/>
                  <a:pt x="3720915" y="5404321"/>
                  <a:pt x="3836709" y="5392132"/>
                </a:cubicBezTo>
                <a:cubicBezTo>
                  <a:pt x="3967595" y="5378355"/>
                  <a:pt x="4077111" y="5336022"/>
                  <a:pt x="4204354" y="5307290"/>
                </a:cubicBezTo>
                <a:cubicBezTo>
                  <a:pt x="4509812" y="5238315"/>
                  <a:pt x="4519208" y="5233933"/>
                  <a:pt x="4741682" y="5203596"/>
                </a:cubicBezTo>
                <a:cubicBezTo>
                  <a:pt x="4766784" y="5200173"/>
                  <a:pt x="4791812" y="5195749"/>
                  <a:pt x="4817097" y="5194169"/>
                </a:cubicBezTo>
                <a:cubicBezTo>
                  <a:pt x="4892430" y="5189461"/>
                  <a:pt x="4967926" y="5187884"/>
                  <a:pt x="5043340" y="5184742"/>
                </a:cubicBezTo>
                <a:cubicBezTo>
                  <a:pt x="5087332" y="5178457"/>
                  <a:pt x="5131181" y="5171080"/>
                  <a:pt x="5175315" y="5165888"/>
                </a:cubicBezTo>
                <a:cubicBezTo>
                  <a:pt x="5238041" y="5158508"/>
                  <a:pt x="5301498" y="5157092"/>
                  <a:pt x="5363851" y="5147035"/>
                </a:cubicBezTo>
                <a:cubicBezTo>
                  <a:pt x="5399221" y="5141330"/>
                  <a:pt x="5432981" y="5128181"/>
                  <a:pt x="5467546" y="5118754"/>
                </a:cubicBezTo>
                <a:cubicBezTo>
                  <a:pt x="5530275" y="5056027"/>
                  <a:pt x="5534926" y="5054043"/>
                  <a:pt x="5608948" y="4939645"/>
                </a:cubicBezTo>
                <a:cubicBezTo>
                  <a:pt x="5644098" y="4885322"/>
                  <a:pt x="5671793" y="4826524"/>
                  <a:pt x="5703216" y="4769963"/>
                </a:cubicBezTo>
                <a:cubicBezTo>
                  <a:pt x="5709501" y="4700833"/>
                  <a:pt x="5715163" y="4631644"/>
                  <a:pt x="5722070" y="4562573"/>
                </a:cubicBezTo>
                <a:cubicBezTo>
                  <a:pt x="5727733" y="4505946"/>
                  <a:pt x="5746170" y="4449557"/>
                  <a:pt x="5740923" y="4392890"/>
                </a:cubicBezTo>
                <a:cubicBezTo>
                  <a:pt x="5730298" y="4278141"/>
                  <a:pt x="5696932" y="4166647"/>
                  <a:pt x="5674936" y="4053526"/>
                </a:cubicBezTo>
                <a:cubicBezTo>
                  <a:pt x="5671794" y="3996965"/>
                  <a:pt x="5671881" y="3940132"/>
                  <a:pt x="5665509" y="3883843"/>
                </a:cubicBezTo>
                <a:cubicBezTo>
                  <a:pt x="5653012" y="3773452"/>
                  <a:pt x="5627999" y="3664583"/>
                  <a:pt x="5618375" y="3553905"/>
                </a:cubicBezTo>
                <a:cubicBezTo>
                  <a:pt x="5609116" y="3447424"/>
                  <a:pt x="5613056" y="3340198"/>
                  <a:pt x="5608948" y="3233394"/>
                </a:cubicBezTo>
                <a:cubicBezTo>
                  <a:pt x="5606771" y="3176788"/>
                  <a:pt x="5608834" y="3119588"/>
                  <a:pt x="5599521" y="3063711"/>
                </a:cubicBezTo>
                <a:cubicBezTo>
                  <a:pt x="5589870" y="3005807"/>
                  <a:pt x="5568098" y="2950590"/>
                  <a:pt x="5552387" y="2894029"/>
                </a:cubicBezTo>
                <a:cubicBezTo>
                  <a:pt x="5543213" y="2692186"/>
                  <a:pt x="5549452" y="2657229"/>
                  <a:pt x="5505253" y="2450969"/>
                </a:cubicBezTo>
                <a:cubicBezTo>
                  <a:pt x="5488535" y="2372953"/>
                  <a:pt x="5386346" y="2073650"/>
                  <a:pt x="5373278" y="2036189"/>
                </a:cubicBezTo>
                <a:cubicBezTo>
                  <a:pt x="5355592" y="1985490"/>
                  <a:pt x="5339845" y="1933820"/>
                  <a:pt x="5316717" y="1885361"/>
                </a:cubicBezTo>
                <a:cubicBezTo>
                  <a:pt x="5153164" y="1542680"/>
                  <a:pt x="5222974" y="1714632"/>
                  <a:pt x="5052767" y="1442301"/>
                </a:cubicBezTo>
                <a:cubicBezTo>
                  <a:pt x="4967975" y="1306634"/>
                  <a:pt x="4940500" y="1218688"/>
                  <a:pt x="4835950" y="1102936"/>
                </a:cubicBezTo>
                <a:cubicBezTo>
                  <a:pt x="4790292" y="1052386"/>
                  <a:pt x="4619676" y="899589"/>
                  <a:pt x="4553146" y="848412"/>
                </a:cubicBezTo>
                <a:cubicBezTo>
                  <a:pt x="4513766" y="818119"/>
                  <a:pt x="4473901" y="787929"/>
                  <a:pt x="4430598" y="763571"/>
                </a:cubicBezTo>
                <a:cubicBezTo>
                  <a:pt x="4245701" y="659567"/>
                  <a:pt x="4018774" y="598451"/>
                  <a:pt x="3827282" y="527901"/>
                </a:cubicBezTo>
                <a:cubicBezTo>
                  <a:pt x="3227784" y="307033"/>
                  <a:pt x="3802503" y="520573"/>
                  <a:pt x="3327662" y="311084"/>
                </a:cubicBezTo>
                <a:cubicBezTo>
                  <a:pt x="3291297" y="295041"/>
                  <a:pt x="3253100" y="283017"/>
                  <a:pt x="3214540" y="273377"/>
                </a:cubicBezTo>
                <a:cubicBezTo>
                  <a:pt x="3006258" y="221307"/>
                  <a:pt x="3330310" y="344178"/>
                  <a:pt x="2988297" y="226243"/>
                </a:cubicBezTo>
                <a:cubicBezTo>
                  <a:pt x="2527580" y="67376"/>
                  <a:pt x="3274768" y="276843"/>
                  <a:pt x="2696066" y="141402"/>
                </a:cubicBezTo>
                <a:cubicBezTo>
                  <a:pt x="2129971" y="8912"/>
                  <a:pt x="2688299" y="115335"/>
                  <a:pt x="2205872" y="18853"/>
                </a:cubicBezTo>
                <a:cubicBezTo>
                  <a:pt x="2174449" y="12569"/>
                  <a:pt x="2143644" y="534"/>
                  <a:pt x="2111604" y="0"/>
                </a:cubicBezTo>
                <a:lnTo>
                  <a:pt x="1112363" y="9427"/>
                </a:lnTo>
                <a:close/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emens Sans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999474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B5C59-91C6-5F18-9379-C6E46712F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F49D6-294D-4396-68C0-A2A24533D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Loading Tool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E4B20-05E3-EB8F-17AB-1F1E59D11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/>
              <a:t>Collect </a:t>
            </a:r>
            <a:r>
              <a:rPr lang="en-US" dirty="0">
                <a:solidFill>
                  <a:srgbClr val="002878"/>
                </a:solidFill>
              </a:rPr>
              <a:t>image</a:t>
            </a:r>
            <a:r>
              <a:rPr lang="en-US" dirty="0"/>
              <a:t> files and </a:t>
            </a:r>
            <a:r>
              <a:rPr lang="en-US" dirty="0">
                <a:solidFill>
                  <a:srgbClr val="002878"/>
                </a:solidFill>
              </a:rPr>
              <a:t>tiled image </a:t>
            </a:r>
            <a:r>
              <a:rPr lang="en-US" dirty="0"/>
              <a:t>files from folders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/>
              <a:t>Generate </a:t>
            </a:r>
            <a:r>
              <a:rPr lang="en-US" dirty="0">
                <a:solidFill>
                  <a:srgbClr val="002878"/>
                </a:solidFill>
              </a:rPr>
              <a:t>provenance metadata </a:t>
            </a:r>
            <a:r>
              <a:rPr lang="en-US" dirty="0"/>
              <a:t>from configuration or naming conventions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/>
              <a:t>Extract </a:t>
            </a:r>
            <a:r>
              <a:rPr lang="en-US" dirty="0">
                <a:solidFill>
                  <a:srgbClr val="002878"/>
                </a:solidFill>
              </a:rPr>
              <a:t>image metadata </a:t>
            </a:r>
            <a:r>
              <a:rPr lang="en-US" dirty="0"/>
              <a:t>by parsing images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2000" dirty="0" err="1"/>
              <a:t>OpenSlide</a:t>
            </a:r>
            <a:r>
              <a:rPr lang="en-US" sz="2000" dirty="0"/>
              <a:t> for original whole slide images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2000" dirty="0"/>
              <a:t>Java Advanced Imaging for tiled images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/>
              <a:t>Process images to generate </a:t>
            </a:r>
            <a:r>
              <a:rPr lang="en-US" dirty="0">
                <a:solidFill>
                  <a:srgbClr val="002878"/>
                </a:solidFill>
              </a:rPr>
              <a:t>thumbnails</a:t>
            </a:r>
            <a:r>
              <a:rPr lang="en-US" dirty="0"/>
              <a:t> to be loaded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256558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B574F-A2F6-B52B-C2F4-B93358F74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2654-733B-6F19-E075-680CE22EB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Support of Powerful Queries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651B0-3986-6770-7B3F-F2F9134E7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Support of comprehensive queries on images, analytical results and metadata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Query types:</a:t>
            </a:r>
          </a:p>
          <a:p>
            <a:pPr lvl="1"/>
            <a:r>
              <a:rPr lang="en-US" dirty="0"/>
              <a:t>Study/patient level</a:t>
            </a:r>
          </a:p>
          <a:p>
            <a:pPr lvl="1"/>
            <a:r>
              <a:rPr lang="en-US" dirty="0"/>
              <a:t>Image level</a:t>
            </a:r>
          </a:p>
          <a:p>
            <a:pPr lvl="1"/>
            <a:r>
              <a:rPr lang="en-US" dirty="0"/>
              <a:t>Tile level</a:t>
            </a:r>
          </a:p>
          <a:p>
            <a:pPr lvl="1"/>
            <a:r>
              <a:rPr lang="en-US" dirty="0"/>
              <a:t>Region level</a:t>
            </a:r>
          </a:p>
          <a:p>
            <a:pPr lvl="1"/>
            <a:r>
              <a:rPr lang="en-US" dirty="0"/>
              <a:t>Integrated queries of analytical results and images</a:t>
            </a:r>
          </a:p>
          <a:p>
            <a:r>
              <a:rPr lang="en-US" dirty="0"/>
              <a:t>Return: structured data or binary objects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267372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1D069-3BBD-BC9E-7432-D3178F8A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B1A5-4739-A53E-1758-2FD3C654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Defined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A1C15-6593-37B9-4E31-6B1B6C642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Integrate image manipulation into DBMS as user defined functions (UDF) for expressive queries through SQL</a:t>
            </a:r>
          </a:p>
          <a:p>
            <a:r>
              <a:rPr lang="en-US" dirty="0"/>
              <a:t>Implemented in C++ or Java</a:t>
            </a:r>
          </a:p>
          <a:p>
            <a:r>
              <a:rPr lang="en-US" dirty="0"/>
              <a:t>Example UDF: given a window, extract the region as an image from a whole slide image</a:t>
            </a:r>
          </a:p>
          <a:p>
            <a:pPr>
              <a:buNone/>
            </a:pPr>
            <a:r>
              <a:rPr lang="en-US" sz="2000" b="1" i="1" kern="12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5F2EF5-0DA2-31F1-BEA5-926594745C87}"/>
              </a:ext>
            </a:extLst>
          </p:cNvPr>
          <p:cNvSpPr/>
          <p:nvPr/>
        </p:nvSpPr>
        <p:spPr>
          <a:xfrm>
            <a:off x="1219199" y="3268589"/>
            <a:ext cx="8391525" cy="537391"/>
          </a:xfrm>
          <a:prstGeom prst="rect">
            <a:avLst/>
          </a:prstGeom>
        </p:spPr>
        <p:txBody>
          <a:bodyPr wrap="square" lIns="27432" rIns="27432">
            <a:spAutoFit/>
          </a:bodyPr>
          <a:lstStyle/>
          <a:p>
            <a:pPr marL="342900" lvl="0" indent="-342900" eaLnBrk="0" hangingPunct="0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Font typeface="Symbol" pitchFamily="18" charset="2"/>
              <a:buChar char="-"/>
            </a:pPr>
            <a:r>
              <a:rPr lang="en-US" sz="2200" i="1" dirty="0">
                <a:solidFill>
                  <a:srgbClr val="2D2DB9">
                    <a:lumMod val="75000"/>
                  </a:srgbClr>
                </a:solidFill>
                <a:latin typeface="Arial" pitchFamily="34" charset="0"/>
                <a:ea typeface="ＭＳ Ｐゴシック" charset="-128"/>
              </a:rPr>
              <a:t>getRegionImage</a:t>
            </a:r>
            <a:r>
              <a:rPr lang="en-US" sz="2200" b="0" i="1" dirty="0">
                <a:solidFill>
                  <a:srgbClr val="2D2DB9">
                    <a:lumMod val="75000"/>
                  </a:srgbClr>
                </a:solidFill>
                <a:latin typeface="Arial" pitchFamily="34" charset="0"/>
                <a:ea typeface="ＭＳ Ｐゴシック" charset="-128"/>
              </a:rPr>
              <a:t>(imageuid,format,x0,y0,width,height)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6CF7632-74BA-6A18-0D78-0BD3588ED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V="1">
            <a:off x="3124200" y="3886200"/>
            <a:ext cx="1924050" cy="1826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1332E56A-34E4-74F6-1BE8-90CAB3F24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0911" y="4798542"/>
            <a:ext cx="641889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2494F8-0B9D-1A5C-F9D7-E017E2CB3445}"/>
              </a:ext>
            </a:extLst>
          </p:cNvPr>
          <p:cNvCxnSpPr>
            <a:endCxn id="6" idx="1"/>
          </p:cNvCxnSpPr>
          <p:nvPr/>
        </p:nvCxnSpPr>
        <p:spPr bwMode="auto">
          <a:xfrm>
            <a:off x="4343400" y="5065242"/>
            <a:ext cx="2177511" cy="0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599145169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82337-6E80-5884-4C03-D4CF12EA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of Queries: </a:t>
            </a:r>
            <a:r>
              <a:rPr lang="en-US" sz="2800" dirty="0"/>
              <a:t>Overlay Query Example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F85C8D-06EC-AEB9-E242-25130C1374A8}"/>
              </a:ext>
            </a:extLst>
          </p:cNvPr>
          <p:cNvSpPr/>
          <p:nvPr/>
        </p:nvSpPr>
        <p:spPr>
          <a:xfrm>
            <a:off x="3200401" y="2667000"/>
            <a:ext cx="52003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PIDB: extract a region as an image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8D6941-CC30-2FAD-A2F1-E2A476F6187C}"/>
              </a:ext>
            </a:extLst>
          </p:cNvPr>
          <p:cNvSpPr/>
          <p:nvPr/>
        </p:nvSpPr>
        <p:spPr>
          <a:xfrm>
            <a:off x="1981201" y="5817513"/>
            <a:ext cx="703455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PAIS: retrieve boundaries of nuclei in the region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2DE124-712D-9462-9844-E759249B66A4}"/>
              </a:ext>
            </a:extLst>
          </p:cNvPr>
          <p:cNvSpPr txBox="1"/>
          <p:nvPr/>
        </p:nvSpPr>
        <p:spPr>
          <a:xfrm>
            <a:off x="1524000" y="1143000"/>
            <a:ext cx="8153401" cy="1415772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>
                <a:lumMod val="50000"/>
                <a:lumOff val="50000"/>
              </a:sysClr>
            </a:solidFill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2880" tIns="91440" rIns="182880" bIns="9144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SELECT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PI.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GETREGIONIMAGE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(‘TCGA-27-1836-01Z-DX2_20x’, ‘JPG’,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                  4096, 16384, 800, 800)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FROM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  PAIS.WHOLESLIDEIMAGEREFERENCE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WHERE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pais_uid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= ‘TCGA-27-1836-01Z-DX2_20x_20x_NS-MORPH_1’;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443941-2E74-B382-EB27-4DB6FAE49802}"/>
              </a:ext>
            </a:extLst>
          </p:cNvPr>
          <p:cNvSpPr txBox="1"/>
          <p:nvPr/>
        </p:nvSpPr>
        <p:spPr>
          <a:xfrm>
            <a:off x="1524000" y="3375898"/>
            <a:ext cx="8153401" cy="2339102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>
                <a:lumMod val="50000"/>
                <a:lumOff val="50000"/>
              </a:sysClr>
            </a:solidFill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2880" tIns="91440" rIns="182880" bIns="9144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SELECT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pais.plgn2str(polygon) AS boundary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FROM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 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pais.markup_polygon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WHERE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pais_uid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= ‘TCGA-27-1836-01Z-DX2_20x_20x_NS-MORPH_1’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    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AND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tilename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= ‘TCGA-27-1836-01Z-DX2_0000004096-0000016384’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    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AND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DB2GSE.ST_Contains( DB2GSE.ST_Polygon(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         CAST(‘polygon( (4096 16384, 4896 16384, 4896 17184, 4096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            17184, 4096 16384))’ AS VARCHAR(30000) ), 100), polygon) = 1; </a:t>
            </a:r>
          </a:p>
        </p:txBody>
      </p:sp>
    </p:spTree>
    <p:extLst>
      <p:ext uri="{BB962C8B-B14F-4D97-AF65-F5344CB8AC3E}">
        <p14:creationId xmlns:p14="http://schemas.microsoft.com/office/powerpoint/2010/main" val="2255110239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30134-F68E-7443-B966-9BF2557F5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B9711-C090-5026-413B-AEA36D1D6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sz="2800" dirty="0"/>
              <a:t>Overlay Markups on a Region Image</a:t>
            </a:r>
            <a:endParaRPr lang="en-US" dirty="0"/>
          </a:p>
        </p:txBody>
      </p:sp>
      <p:pic>
        <p:nvPicPr>
          <p:cNvPr id="4" name="Picture 2" descr="C:\Users\wangfsh\Dropbox\Papers\SPIE2012\Final\figures\examplewebqueryoverlay.png">
            <a:extLst>
              <a:ext uri="{FF2B5EF4-FFF2-40B4-BE49-F238E27FC236}">
                <a16:creationId xmlns:a16="http://schemas.microsoft.com/office/drawing/2014/main" id="{026E422C-817D-AAA5-7499-9D9EF97C6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887270"/>
            <a:ext cx="7696200" cy="542569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845987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5A09-0289-D5DD-D1D9-B5D3F0FB1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sz="2800" dirty="0"/>
              <a:t>Similarity Query Based on Clustering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3141367-7F07-E315-ABE9-1069A20A2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905000"/>
            <a:ext cx="7878763" cy="3190963"/>
          </a:xfrm>
          <a:prstGeom prst="rect">
            <a:avLst/>
          </a:prstGeom>
          <a:noFill/>
          <a:ln w="3175">
            <a:solidFill>
              <a:schemeClr val="tx2">
                <a:lumMod val="65000"/>
                <a:lumOff val="35000"/>
              </a:schemeClr>
            </a:solidFill>
            <a:miter lim="800000"/>
            <a:headEnd/>
            <a:tailEnd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8604618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B4ACF-61A4-469B-FF2C-AC696CDE3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AF445-ADF0-0A26-DADF-2A0A22CC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RESTful Web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1BC28-AAAD-6F6F-ACEF-2DE43909B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4000"/>
              </a:lnSpc>
              <a:spcBef>
                <a:spcPts val="200"/>
              </a:spcBef>
            </a:pPr>
            <a:r>
              <a:rPr lang="en-US" dirty="0"/>
              <a:t>Complexity of queries: queries may need multiple SQL queries with additional programming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PIDB and PAIS provide a set of RESTful Web APIs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lang="en-US" dirty="0"/>
              <a:t>Expressive: data viewed as resources by URIs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lang="en-US" dirty="0"/>
              <a:t>Efficient: implemented with HTTP</a:t>
            </a:r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F1DBE0E-116C-2FB9-E90B-50AB70D9D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3595760"/>
            <a:ext cx="7400925" cy="3262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05618172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545EB-181D-5D1F-D2CD-A41F0B3E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A61F1-F538-1D29-277C-881F85F3A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B53A4-6003-23E7-22FC-1DEB0309B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DBMS: IBM DB2</a:t>
            </a: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400" b="0" kern="0" dirty="0">
                <a:latin typeface="Verdana" pitchFamily="34" charset="0"/>
                <a:cs typeface="+mn-cs"/>
              </a:rPr>
              <a:t>Web APIs: Apache Tomcat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Image manipulation: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OpenSlide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, JAI</a:t>
            </a:r>
          </a:p>
          <a:p>
            <a:r>
              <a:rPr lang="en-US" sz="2400" b="0" kern="0" dirty="0">
                <a:solidFill>
                  <a:srgbClr val="000000"/>
                </a:solidFill>
                <a:latin typeface="Verdana" pitchFamily="34" charset="0"/>
              </a:rPr>
              <a:t>Deployment for In Silico brain 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 </a:t>
            </a:r>
            <a:r>
              <a:rPr lang="en-US" sz="2400" b="0" kern="0" dirty="0">
                <a:solidFill>
                  <a:srgbClr val="000000"/>
                </a:solidFill>
                <a:latin typeface="Verdana" pitchFamily="34" charset="0"/>
              </a:rPr>
              <a:t>tumor study at Emory University</a:t>
            </a:r>
          </a:p>
          <a:p>
            <a:endParaRPr 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944605F7-ED70-1F63-8D4F-C1A9CF1D0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2419075"/>
            <a:ext cx="5562600" cy="3829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62511880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FCFFA-9A0A-78BA-C0EC-3CFF2BA49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6B12-0141-4830-FFD5-25023D051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PAIS </a:t>
            </a:r>
            <a:r>
              <a:rPr lang="en-US" sz="2800" dirty="0"/>
              <a:t>(</a:t>
            </a:r>
            <a:r>
              <a:rPr lang="en-US" sz="2800" u="sng" dirty="0"/>
              <a:t>P</a:t>
            </a:r>
            <a:r>
              <a:rPr lang="en-US" sz="2800" dirty="0"/>
              <a:t>athology </a:t>
            </a:r>
            <a:r>
              <a:rPr lang="en-US" sz="2800" u="sng" dirty="0"/>
              <a:t>A</a:t>
            </a:r>
            <a:r>
              <a:rPr lang="en-US" sz="2800" dirty="0"/>
              <a:t>nalytical </a:t>
            </a:r>
            <a:r>
              <a:rPr lang="en-US" sz="2800" u="sng" dirty="0"/>
              <a:t>I</a:t>
            </a:r>
            <a:r>
              <a:rPr lang="en-US" sz="2800" dirty="0"/>
              <a:t>maging </a:t>
            </a:r>
            <a:r>
              <a:rPr lang="en-US" sz="2800" u="sng" dirty="0"/>
              <a:t>S</a:t>
            </a:r>
            <a:r>
              <a:rPr lang="en-US" sz="2800" dirty="0"/>
              <a:t>tandards): V1.0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EA43B0-8B24-D387-0564-05604CAF2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82437" y="887270"/>
            <a:ext cx="4724867" cy="5257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5C7BC-E2BD-3F11-6AF7-E31F6B374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26" y="931863"/>
            <a:ext cx="7802774" cy="5316538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PAIS Logical Model</a:t>
            </a: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62 UML classes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markups, annotations, </a:t>
            </a:r>
            <a:r>
              <a:rPr kumimoji="0" lang="en-US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imageReferences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, provenance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Semantic enabled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PAIS Data Representation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XML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PAIS Data Management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Loading, managing and querying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  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sharing data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RDBMS + SDBMS + parallel DBMS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98139183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7980-E523-3040-5E6C-D9CA4A449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F0386-41BC-A61A-A0EB-F81B1310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PAIS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72D0D-8BC3-2EAD-B440-71991F589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Markup queries</a:t>
            </a:r>
          </a:p>
          <a:p>
            <a:pPr lvl="1"/>
            <a:r>
              <a:rPr lang="en-US" dirty="0"/>
              <a:t>Density, centroids, boundaries, etc.</a:t>
            </a:r>
          </a:p>
          <a:p>
            <a:r>
              <a:rPr lang="en-US" dirty="0"/>
              <a:t>Feature queries</a:t>
            </a:r>
          </a:p>
          <a:p>
            <a:pPr lvl="1"/>
            <a:r>
              <a:rPr lang="en-US" dirty="0"/>
              <a:t>Mean features, histogram, covariance,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Spatial queries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BC067-8D26-489C-4860-A4AF7FBBC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404131"/>
            <a:ext cx="2383113" cy="2159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42C237C-C47F-10F6-19D8-A2DE55C94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6277" y="3509142"/>
            <a:ext cx="2236324" cy="2041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0E64C2F8-2AB6-CC51-035D-0D53E6FD5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89892" y="3509142"/>
            <a:ext cx="2041935" cy="2041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1D76706C-C659-7518-4E38-D6FA34963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6278" y="3504273"/>
            <a:ext cx="2236324" cy="2046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C23F5E3-C3AA-5B02-301E-D49AF2FE45F4}"/>
              </a:ext>
            </a:extLst>
          </p:cNvPr>
          <p:cNvSpPr/>
          <p:nvPr/>
        </p:nvSpPr>
        <p:spPr>
          <a:xfrm>
            <a:off x="1340563" y="5539963"/>
            <a:ext cx="89159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200" b="0" kern="0" dirty="0">
                <a:solidFill>
                  <a:srgbClr val="002878"/>
                </a:solidFill>
                <a:latin typeface="Verdana" pitchFamily="34" charset="0"/>
                <a:cs typeface="+mn-cs"/>
              </a:rPr>
              <a:t>Point</a:t>
            </a:r>
            <a:endParaRPr lang="en-US" sz="2200" dirty="0">
              <a:solidFill>
                <a:srgbClr val="002878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87BE13-D660-E54B-C88E-0F66856E83B2}"/>
              </a:ext>
            </a:extLst>
          </p:cNvPr>
          <p:cNvSpPr/>
          <p:nvPr/>
        </p:nvSpPr>
        <p:spPr>
          <a:xfrm>
            <a:off x="3192517" y="5537731"/>
            <a:ext cx="129715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200" b="0" kern="0" dirty="0">
                <a:solidFill>
                  <a:srgbClr val="002878"/>
                </a:solidFill>
                <a:latin typeface="Verdana" pitchFamily="34" charset="0"/>
                <a:cs typeface="+mn-cs"/>
              </a:rPr>
              <a:t>Window</a:t>
            </a:r>
            <a:endParaRPr lang="en-US" sz="2200" dirty="0">
              <a:solidFill>
                <a:srgbClr val="002878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D4EEF3-D433-50BA-79E6-928183A0A232}"/>
              </a:ext>
            </a:extLst>
          </p:cNvPr>
          <p:cNvSpPr/>
          <p:nvPr/>
        </p:nvSpPr>
        <p:spPr>
          <a:xfrm>
            <a:off x="4940882" y="5542196"/>
            <a:ext cx="199766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200" b="0" kern="0" dirty="0">
                <a:solidFill>
                  <a:srgbClr val="002878"/>
                </a:solidFill>
                <a:latin typeface="Verdana" pitchFamily="34" charset="0"/>
                <a:cs typeface="+mn-cs"/>
              </a:rPr>
              <a:t>Containment</a:t>
            </a:r>
            <a:endParaRPr lang="en-US" sz="2200" dirty="0">
              <a:solidFill>
                <a:srgbClr val="002878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65F5FB-E453-108D-2A1C-8CC7426C6FB2}"/>
              </a:ext>
            </a:extLst>
          </p:cNvPr>
          <p:cNvSpPr/>
          <p:nvPr/>
        </p:nvSpPr>
        <p:spPr>
          <a:xfrm>
            <a:off x="6979363" y="5563827"/>
            <a:ext cx="24080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200" b="0" kern="0" dirty="0">
                <a:solidFill>
                  <a:srgbClr val="002878"/>
                </a:solidFill>
                <a:latin typeface="Verdana" pitchFamily="34" charset="0"/>
                <a:cs typeface="+mn-cs"/>
              </a:rPr>
              <a:t>Cross-matching</a:t>
            </a:r>
            <a:endParaRPr lang="en-US" sz="2200" dirty="0">
              <a:solidFill>
                <a:srgbClr val="002878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7C050E4-4116-F4C9-9588-AB8DF3268984}"/>
              </a:ext>
            </a:extLst>
          </p:cNvPr>
          <p:cNvGrpSpPr/>
          <p:nvPr/>
        </p:nvGrpSpPr>
        <p:grpSpPr>
          <a:xfrm>
            <a:off x="2835936" y="3504273"/>
            <a:ext cx="2087655" cy="2046805"/>
            <a:chOff x="2638373" y="4062542"/>
            <a:chExt cx="2087655" cy="2046805"/>
          </a:xfrm>
        </p:grpSpPr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457B4EB2-CD20-0DC1-E394-30C91B1A7A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684092" y="4067411"/>
              <a:ext cx="2041936" cy="20419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0FA3DD9-8867-4F4A-645D-58B14AD44E6A}"/>
                </a:ext>
              </a:extLst>
            </p:cNvPr>
            <p:cNvSpPr/>
            <p:nvPr/>
          </p:nvSpPr>
          <p:spPr bwMode="auto">
            <a:xfrm>
              <a:off x="2638373" y="4062542"/>
              <a:ext cx="45719" cy="2033458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0867275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7AF89-4358-3DB9-57A8-1C23B02E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PAIS 2.0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2B8FB0-70D6-9099-4497-8977C4311B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887270"/>
            <a:ext cx="4282470" cy="5316537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3661B7-805D-42F6-CC45-B1A684A7D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0"/>
            <a:ext cx="6921988" cy="6858000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53805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08923-E1DB-67CF-435A-5484EE8F7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136284-41BC-1687-DB9D-753D3B772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7150467" cy="1511378"/>
          </a:xfrm>
          <a:prstGeom prst="rect">
            <a:avLst/>
          </a:prstGeom>
          <a:ln w="25400">
            <a:solidFill>
              <a:schemeClr val="bg2"/>
            </a:solidFill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248C0C-EECA-32AA-81D3-1925EFB28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40" y="2895600"/>
            <a:ext cx="10373552" cy="1511378"/>
          </a:xfrm>
          <a:prstGeom prst="rect">
            <a:avLst/>
          </a:prstGeom>
          <a:ln w="25400">
            <a:solidFill>
              <a:schemeClr val="bg2"/>
            </a:solidFill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86422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5e5d3efa-4bc7-49a4-b707-0341336e2025"/>
  <p:tag name="SLIDO_EVENT_SECTION_UUID" val="4f8030f4-96f7-4970-b8be-ab5d37cc6741"/>
</p:tagLst>
</file>

<file path=ppt/theme/theme1.xml><?xml version="1.0" encoding="utf-8"?>
<a:theme xmlns:a="http://schemas.openxmlformats.org/drawingml/2006/main" name="2_Standard">
  <a:themeElements>
    <a:clrScheme name="siemens internal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iemens inter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lnDef>
  </a:objectDefaults>
  <a:extraClrSchemeLst>
    <a:extraClrScheme>
      <a:clrScheme name="siemens internal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emens internal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tandard">
  <a:themeElements>
    <a:clrScheme name="siemens internal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iemens inter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99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iemens Sans Black" pitchFamily="2" charset="0"/>
          </a:defRPr>
        </a:defPPr>
      </a:lstStyle>
    </a:lnDef>
  </a:objectDefaults>
  <a:extraClrSchemeLst>
    <a:extraClrScheme>
      <a:clrScheme name="siemens internal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emens internal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emens interna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Stony Brook Univers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EmoryTheme</Template>
  <TotalTime>4918</TotalTime>
  <Words>2322</Words>
  <Application>Microsoft Office PowerPoint</Application>
  <PresentationFormat>Widescreen</PresentationFormat>
  <Paragraphs>392</Paragraphs>
  <Slides>55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55</vt:i4>
      </vt:variant>
    </vt:vector>
  </HeadingPairs>
  <TitlesOfParts>
    <vt:vector size="70" baseType="lpstr">
      <vt:lpstr>Lucida Grande</vt:lpstr>
      <vt:lpstr>Siemens Sans</vt:lpstr>
      <vt:lpstr>Siemens Sans Black</vt:lpstr>
      <vt:lpstr>Arial</vt:lpstr>
      <vt:lpstr>Calibri</vt:lpstr>
      <vt:lpstr>Courier New</vt:lpstr>
      <vt:lpstr>Helvetica</vt:lpstr>
      <vt:lpstr>Symbol</vt:lpstr>
      <vt:lpstr>Verdana</vt:lpstr>
      <vt:lpstr>2_Standard</vt:lpstr>
      <vt:lpstr>Standard</vt:lpstr>
      <vt:lpstr>1_Stony Brook University</vt:lpstr>
      <vt:lpstr>Image</vt:lpstr>
      <vt:lpstr>Microsoft Drawing</vt:lpstr>
      <vt:lpstr>MSDraw</vt:lpstr>
      <vt:lpstr>PowerPoint Presentation</vt:lpstr>
      <vt:lpstr>PowerPoint Presentation</vt:lpstr>
      <vt:lpstr>Objectives of Database Management</vt:lpstr>
      <vt:lpstr>Database Life Cycle</vt:lpstr>
      <vt:lpstr>Database Life Cycle</vt:lpstr>
      <vt:lpstr>Requirements Analysis</vt:lpstr>
      <vt:lpstr>Conceptual Data Modeling </vt:lpstr>
      <vt:lpstr>View Integration</vt:lpstr>
      <vt:lpstr>Transformation of the Conceptual Data Model to SQL Tables</vt:lpstr>
      <vt:lpstr>Normalization of SQL Tables</vt:lpstr>
      <vt:lpstr>Physical Design</vt:lpstr>
      <vt:lpstr>Database Implementation, Monitoring, and Modification</vt:lpstr>
      <vt:lpstr>PowerPoint Presentation</vt:lpstr>
      <vt:lpstr>Conceptual Data Modeling</vt:lpstr>
      <vt:lpstr>Basic ER Modeling Concepts</vt:lpstr>
      <vt:lpstr>Basic ER Modeling Concepts (cont’d)</vt:lpstr>
      <vt:lpstr>Basic ER Modeling Concepts (cont’d)</vt:lpstr>
      <vt:lpstr>Degree of Relationship</vt:lpstr>
      <vt:lpstr>Connectivity and Existence</vt:lpstr>
      <vt:lpstr>Generalization: Supertypes and Subtypes</vt:lpstr>
      <vt:lpstr>Crow’s Foot Notation</vt:lpstr>
      <vt:lpstr>Cardinality</vt:lpstr>
      <vt:lpstr>PowerPoint Presentation</vt:lpstr>
      <vt:lpstr>Data Modeling Tools (CASE Tools)</vt:lpstr>
      <vt:lpstr>Example Model – from ER to Relational Model (Using Oracle Data Modeler)</vt:lpstr>
      <vt:lpstr>Transforming Logical Model into Physical Model - Entity</vt:lpstr>
      <vt:lpstr>Transforming Logical Model into Physical Model (SQL Tables)</vt:lpstr>
      <vt:lpstr>Transforming ER into Physical Model: Relationship M:N</vt:lpstr>
      <vt:lpstr>Transforming ER into Physical Model: Self-Referencing</vt:lpstr>
      <vt:lpstr>Transforming ER into Physical Model: Subtyping: Roll-Down</vt:lpstr>
      <vt:lpstr>Transforming ER into Physical Model: Subtyping: Roll-Up</vt:lpstr>
      <vt:lpstr>Reverse Engineering: Generate ER Diagram for a Database Schema</vt:lpstr>
      <vt:lpstr>PowerPoint Presentation</vt:lpstr>
      <vt:lpstr>Background</vt:lpstr>
      <vt:lpstr>Requirements</vt:lpstr>
      <vt:lpstr>Support of Multiple Granularities in WSI</vt:lpstr>
      <vt:lpstr>Requirement Analysis</vt:lpstr>
      <vt:lpstr>Data Model: Goals</vt:lpstr>
      <vt:lpstr>Logical Model</vt:lpstr>
      <vt:lpstr>Logical Model: Image Related Entities</vt:lpstr>
      <vt:lpstr>Physical Model</vt:lpstr>
      <vt:lpstr>Example Tables</vt:lpstr>
      <vt:lpstr>Architecture of Pathology Image Database</vt:lpstr>
      <vt:lpstr>Image Loading Tool</vt:lpstr>
      <vt:lpstr>Support of Powerful Queries</vt:lpstr>
      <vt:lpstr>User Defined Functions</vt:lpstr>
      <vt:lpstr>Complexity of Queries: Overlay Query Example</vt:lpstr>
      <vt:lpstr>Example: Overlay Markups on a Region Image</vt:lpstr>
      <vt:lpstr>Example: Similarity Query Based on Clustering</vt:lpstr>
      <vt:lpstr>RESTful Web APIs</vt:lpstr>
      <vt:lpstr>Implementation and Evaluation</vt:lpstr>
      <vt:lpstr>PAIS (Pathology Analytical Imaging Standards): V1.0</vt:lpstr>
      <vt:lpstr>PAIS Queries</vt:lpstr>
      <vt:lpstr>PAIS 2.0</vt:lpstr>
      <vt:lpstr>More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SATO: A Spatial Data Partitioning Framework for Scalable Query Processing</dc:title>
  <dc:creator>Hoang Vo</dc:creator>
  <cp:lastModifiedBy>Fusheng Wang</cp:lastModifiedBy>
  <cp:revision>1639</cp:revision>
  <cp:lastPrinted>2015-08-17T21:47:31Z</cp:lastPrinted>
  <dcterms:created xsi:type="dcterms:W3CDTF">2014-10-10T03:49:09Z</dcterms:created>
  <dcterms:modified xsi:type="dcterms:W3CDTF">2025-06-11T16:32:00Z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1.5.3.3511</vt:lpwstr>
  </property>
</Properties>
</file>