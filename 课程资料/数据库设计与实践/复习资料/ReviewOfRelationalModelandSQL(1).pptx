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51" r:id="rId1"/>
    <p:sldMasterId id="2147483660" r:id="rId2"/>
    <p:sldMasterId id="2147483762" r:id="rId3"/>
  </p:sldMasterIdLst>
  <p:notesMasterIdLst>
    <p:notesMasterId r:id="rId42"/>
  </p:notesMasterIdLst>
  <p:handoutMasterIdLst>
    <p:handoutMasterId r:id="rId43"/>
  </p:handoutMasterIdLst>
  <p:sldIdLst>
    <p:sldId id="265" r:id="rId4"/>
    <p:sldId id="355" r:id="rId5"/>
    <p:sldId id="303" r:id="rId6"/>
    <p:sldId id="364" r:id="rId7"/>
    <p:sldId id="350" r:id="rId8"/>
    <p:sldId id="398" r:id="rId9"/>
    <p:sldId id="354" r:id="rId10"/>
    <p:sldId id="306" r:id="rId11"/>
    <p:sldId id="307" r:id="rId12"/>
    <p:sldId id="356" r:id="rId13"/>
    <p:sldId id="358" r:id="rId14"/>
    <p:sldId id="311" r:id="rId15"/>
    <p:sldId id="312" r:id="rId16"/>
    <p:sldId id="399" r:id="rId17"/>
    <p:sldId id="351" r:id="rId18"/>
    <p:sldId id="357" r:id="rId19"/>
    <p:sldId id="362" r:id="rId20"/>
    <p:sldId id="363" r:id="rId21"/>
    <p:sldId id="365" r:id="rId22"/>
    <p:sldId id="400" r:id="rId23"/>
    <p:sldId id="384" r:id="rId24"/>
    <p:sldId id="385" r:id="rId25"/>
    <p:sldId id="401" r:id="rId26"/>
    <p:sldId id="314" r:id="rId27"/>
    <p:sldId id="315" r:id="rId28"/>
    <p:sldId id="316" r:id="rId29"/>
    <p:sldId id="366" r:id="rId30"/>
    <p:sldId id="367" r:id="rId31"/>
    <p:sldId id="402" r:id="rId32"/>
    <p:sldId id="372" r:id="rId33"/>
    <p:sldId id="318" r:id="rId34"/>
    <p:sldId id="319" r:id="rId35"/>
    <p:sldId id="403" r:id="rId36"/>
    <p:sldId id="369" r:id="rId37"/>
    <p:sldId id="320" r:id="rId38"/>
    <p:sldId id="370" r:id="rId39"/>
    <p:sldId id="368" r:id="rId40"/>
    <p:sldId id="386" r:id="rId41"/>
  </p:sldIdLst>
  <p:sldSz cx="12192000" cy="6858000"/>
  <p:notesSz cx="9296400" cy="7010400"/>
  <p:custDataLst>
    <p:tags r:id="rId4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1A11"/>
    <a:srgbClr val="FF9933"/>
    <a:srgbClr val="CC6600"/>
    <a:srgbClr val="F0F0F0"/>
    <a:srgbClr val="CCCC00"/>
    <a:srgbClr val="800000"/>
    <a:srgbClr val="2BD426"/>
    <a:srgbClr val="0100FF"/>
    <a:srgbClr val="19FF19"/>
    <a:srgbClr val="9EFF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69" autoAdjust="0"/>
    <p:restoredTop sz="84550" autoAdjust="0"/>
  </p:normalViewPr>
  <p:slideViewPr>
    <p:cSldViewPr>
      <p:cViewPr varScale="1">
        <p:scale>
          <a:sx n="59" d="100"/>
          <a:sy n="59" d="100"/>
        </p:scale>
        <p:origin x="840" y="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9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gs" Target="tags/tag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496B1F-6245-45A3-B4AC-CF05FB5FD0E2}" type="doc">
      <dgm:prSet loTypeId="urn:microsoft.com/office/officeart/2005/8/layout/process1" loCatId="process" qsTypeId="urn:microsoft.com/office/officeart/2005/8/quickstyle/simple3" qsCatId="simple" csTypeId="urn:microsoft.com/office/officeart/2005/8/colors/accent1_2" csCatId="accent1" phldr="1"/>
      <dgm:spPr/>
    </dgm:pt>
    <dgm:pt modelId="{8168E804-CD68-4B0E-9D1F-09C9BDB9CAD1}">
      <dgm:prSet phldrT="[Text]" custT="1"/>
      <dgm:spPr>
        <a:gradFill flip="none" rotWithShape="1">
          <a:gsLst>
            <a:gs pos="0">
              <a:srgbClr val="3333CC">
                <a:lumMod val="5000"/>
                <a:lumOff val="95000"/>
              </a:srgbClr>
            </a:gs>
            <a:gs pos="74000">
              <a:srgbClr val="3333CC">
                <a:lumMod val="45000"/>
                <a:lumOff val="55000"/>
              </a:srgbClr>
            </a:gs>
            <a:gs pos="83000">
              <a:srgbClr val="3333CC">
                <a:lumMod val="45000"/>
                <a:lumOff val="55000"/>
              </a:srgbClr>
            </a:gs>
            <a:gs pos="100000">
              <a:srgbClr val="3333CC">
                <a:lumMod val="30000"/>
                <a:lumOff val="70000"/>
              </a:srgbClr>
            </a:gs>
          </a:gsLst>
          <a:lin ang="5400000" scaled="1"/>
          <a:tileRect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rPr>
            <a:t>Data Model</a:t>
          </a:r>
        </a:p>
      </dgm:t>
    </dgm:pt>
    <dgm:pt modelId="{3EA6D00B-829A-477C-8E64-0E253FB34363}" type="parTrans" cxnId="{0B4BD6E0-C9CC-45A4-A138-D56635B1F5C1}">
      <dgm:prSet/>
      <dgm:spPr/>
      <dgm:t>
        <a:bodyPr/>
        <a:lstStyle/>
        <a:p>
          <a:endParaRPr lang="en-US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0B197D0-C023-4783-8F2C-C91BAA4AEEFA}" type="sibTrans" cxnId="{0B4BD6E0-C9CC-45A4-A138-D56635B1F5C1}">
      <dgm:prSet/>
      <dgm:spPr>
        <a:solidFill>
          <a:srgbClr val="FFC000"/>
        </a:solidFill>
      </dgm:spPr>
      <dgm:t>
        <a:bodyPr/>
        <a:lstStyle/>
        <a:p>
          <a:endParaRPr lang="en-US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2102A7CF-1A8D-43D3-836A-25C7FF7A2310}">
      <dgm:prSet phldrT="[Text]" custT="1"/>
      <dgm:spPr>
        <a:gradFill flip="none" rotWithShape="1">
          <a:gsLst>
            <a:gs pos="0">
              <a:srgbClr val="3333CC">
                <a:lumMod val="5000"/>
                <a:lumOff val="95000"/>
              </a:srgbClr>
            </a:gs>
            <a:gs pos="74000">
              <a:srgbClr val="3333CC">
                <a:lumMod val="45000"/>
                <a:lumOff val="55000"/>
              </a:srgbClr>
            </a:gs>
            <a:gs pos="83000">
              <a:srgbClr val="3333CC">
                <a:lumMod val="45000"/>
                <a:lumOff val="55000"/>
              </a:srgbClr>
            </a:gs>
            <a:gs pos="100000">
              <a:srgbClr val="3333CC">
                <a:lumMod val="30000"/>
                <a:lumOff val="70000"/>
              </a:srgbClr>
            </a:gs>
          </a:gsLst>
          <a:lin ang="5400000" scaled="1"/>
          <a:tileRect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rPr>
            <a:t>Query Language</a:t>
          </a:r>
        </a:p>
      </dgm:t>
    </dgm:pt>
    <dgm:pt modelId="{348121AB-6F24-4577-8F74-982A8FC4E95F}" type="parTrans" cxnId="{3906431F-3F92-4E6B-A3FA-ED9B947F8BED}">
      <dgm:prSet/>
      <dgm:spPr/>
      <dgm:t>
        <a:bodyPr/>
        <a:lstStyle/>
        <a:p>
          <a:endParaRPr lang="en-US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E6EDC9D-4E66-43E9-9CC3-B4A495BA9503}" type="sibTrans" cxnId="{3906431F-3F92-4E6B-A3FA-ED9B947F8BED}">
      <dgm:prSet/>
      <dgm:spPr>
        <a:solidFill>
          <a:srgbClr val="FFC000"/>
        </a:solidFill>
      </dgm:spPr>
      <dgm:t>
        <a:bodyPr/>
        <a:lstStyle/>
        <a:p>
          <a:endParaRPr lang="en-US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EFF27C83-67BC-4C70-B2FF-FE5C21823621}">
      <dgm:prSet phldrT="[Text]" custT="1"/>
      <dgm:sp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</dgm:spPr>
      <dgm:t>
        <a:bodyPr/>
        <a:lstStyle/>
        <a:p>
          <a:r>
            <a:rPr lang="en-US" sz="2400" b="0" dirty="0">
              <a:latin typeface="Verdana" panose="020B0604030504040204" pitchFamily="34" charset="0"/>
              <a:ea typeface="Verdana" panose="020B0604030504040204" pitchFamily="34" charset="0"/>
            </a:rPr>
            <a:t>Storage and Indexing</a:t>
          </a:r>
        </a:p>
      </dgm:t>
    </dgm:pt>
    <dgm:pt modelId="{B5485C7D-FFD0-4C68-A77A-0EAF513B7D03}" type="parTrans" cxnId="{06B4562B-BB0E-4542-BE95-E8D5F7CAA448}">
      <dgm:prSet/>
      <dgm:spPr/>
      <dgm:t>
        <a:bodyPr/>
        <a:lstStyle/>
        <a:p>
          <a:endParaRPr lang="en-US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6360B288-B851-43ED-A65F-6E4DD2786EBC}" type="sibTrans" cxnId="{06B4562B-BB0E-4542-BE95-E8D5F7CAA448}">
      <dgm:prSet/>
      <dgm:spPr/>
      <dgm:t>
        <a:bodyPr/>
        <a:lstStyle/>
        <a:p>
          <a:endParaRPr lang="en-US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904F696D-524C-4B83-A9F1-45F9072038D6}" type="pres">
      <dgm:prSet presAssocID="{AD496B1F-6245-45A3-B4AC-CF05FB5FD0E2}" presName="Name0" presStyleCnt="0">
        <dgm:presLayoutVars>
          <dgm:dir/>
          <dgm:resizeHandles val="exact"/>
        </dgm:presLayoutVars>
      </dgm:prSet>
      <dgm:spPr/>
    </dgm:pt>
    <dgm:pt modelId="{B41202E8-EF18-4FDF-8B96-6406D12CAEDC}" type="pres">
      <dgm:prSet presAssocID="{8168E804-CD68-4B0E-9D1F-09C9BDB9CAD1}" presName="node" presStyleLbl="node1" presStyleIdx="0" presStyleCnt="3" custScaleX="109580">
        <dgm:presLayoutVars>
          <dgm:bulletEnabled val="1"/>
        </dgm:presLayoutVars>
      </dgm:prSet>
      <dgm:spPr>
        <a:xfrm>
          <a:off x="7099" y="1954247"/>
          <a:ext cx="2121842" cy="1273105"/>
        </a:xfrm>
        <a:prstGeom prst="ellipse">
          <a:avLst/>
        </a:prstGeom>
      </dgm:spPr>
    </dgm:pt>
    <dgm:pt modelId="{2C534424-AB3D-4DC0-8240-3B18F9426558}" type="pres">
      <dgm:prSet presAssocID="{70B197D0-C023-4783-8F2C-C91BAA4AEEFA}" presName="sibTrans" presStyleLbl="sibTrans2D1" presStyleIdx="0" presStyleCnt="2"/>
      <dgm:spPr/>
    </dgm:pt>
    <dgm:pt modelId="{B2C66ADF-380F-4376-8E16-8D1DA85C98A9}" type="pres">
      <dgm:prSet presAssocID="{70B197D0-C023-4783-8F2C-C91BAA4AEEFA}" presName="connectorText" presStyleLbl="sibTrans2D1" presStyleIdx="0" presStyleCnt="2"/>
      <dgm:spPr/>
    </dgm:pt>
    <dgm:pt modelId="{4C08DADA-BFB7-46C7-9313-AD995DD428A3}" type="pres">
      <dgm:prSet presAssocID="{2102A7CF-1A8D-43D3-836A-25C7FF7A2310}" presName="node" presStyleLbl="node1" presStyleIdx="1" presStyleCnt="3" custScaleX="109580">
        <dgm:presLayoutVars>
          <dgm:bulletEnabled val="1"/>
        </dgm:presLayoutVars>
      </dgm:prSet>
      <dgm:spPr>
        <a:xfrm>
          <a:off x="2977678" y="1954247"/>
          <a:ext cx="2121842" cy="1273105"/>
        </a:xfrm>
        <a:prstGeom prst="ellipse">
          <a:avLst/>
        </a:prstGeom>
      </dgm:spPr>
    </dgm:pt>
    <dgm:pt modelId="{0B7FE47A-29B5-465D-8E01-E019757D8D29}" type="pres">
      <dgm:prSet presAssocID="{7E6EDC9D-4E66-43E9-9CC3-B4A495BA9503}" presName="sibTrans" presStyleLbl="sibTrans2D1" presStyleIdx="1" presStyleCnt="2"/>
      <dgm:spPr/>
    </dgm:pt>
    <dgm:pt modelId="{97847182-E800-41CA-BB8A-7B016D36BEA4}" type="pres">
      <dgm:prSet presAssocID="{7E6EDC9D-4E66-43E9-9CC3-B4A495BA9503}" presName="connectorText" presStyleLbl="sibTrans2D1" presStyleIdx="1" presStyleCnt="2"/>
      <dgm:spPr/>
    </dgm:pt>
    <dgm:pt modelId="{9608D184-AAF5-4D5A-8330-CEF529006AEA}" type="pres">
      <dgm:prSet presAssocID="{EFF27C83-67BC-4C70-B2FF-FE5C21823621}" presName="node" presStyleLbl="node1" presStyleIdx="2" presStyleCnt="3" custScaleX="130629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A2639B09-E28B-4ED0-8180-DE785B0B4DBC}" type="presOf" srcId="{7E6EDC9D-4E66-43E9-9CC3-B4A495BA9503}" destId="{97847182-E800-41CA-BB8A-7B016D36BEA4}" srcOrd="1" destOrd="0" presId="urn:microsoft.com/office/officeart/2005/8/layout/process1"/>
    <dgm:cxn modelId="{6C8C8E1A-B4FD-495A-9273-EB58729D1BEF}" type="presOf" srcId="{70B197D0-C023-4783-8F2C-C91BAA4AEEFA}" destId="{B2C66ADF-380F-4376-8E16-8D1DA85C98A9}" srcOrd="1" destOrd="0" presId="urn:microsoft.com/office/officeart/2005/8/layout/process1"/>
    <dgm:cxn modelId="{3906431F-3F92-4E6B-A3FA-ED9B947F8BED}" srcId="{AD496B1F-6245-45A3-B4AC-CF05FB5FD0E2}" destId="{2102A7CF-1A8D-43D3-836A-25C7FF7A2310}" srcOrd="1" destOrd="0" parTransId="{348121AB-6F24-4577-8F74-982A8FC4E95F}" sibTransId="{7E6EDC9D-4E66-43E9-9CC3-B4A495BA9503}"/>
    <dgm:cxn modelId="{06B4562B-BB0E-4542-BE95-E8D5F7CAA448}" srcId="{AD496B1F-6245-45A3-B4AC-CF05FB5FD0E2}" destId="{EFF27C83-67BC-4C70-B2FF-FE5C21823621}" srcOrd="2" destOrd="0" parTransId="{B5485C7D-FFD0-4C68-A77A-0EAF513B7D03}" sibTransId="{6360B288-B851-43ED-A65F-6E4DD2786EBC}"/>
    <dgm:cxn modelId="{53249862-406A-4FED-8FAA-CC9B956DB500}" type="presOf" srcId="{AD496B1F-6245-45A3-B4AC-CF05FB5FD0E2}" destId="{904F696D-524C-4B83-A9F1-45F9072038D6}" srcOrd="0" destOrd="0" presId="urn:microsoft.com/office/officeart/2005/8/layout/process1"/>
    <dgm:cxn modelId="{22094A43-BFC5-4D90-B867-07B58143C187}" type="presOf" srcId="{8168E804-CD68-4B0E-9D1F-09C9BDB9CAD1}" destId="{B41202E8-EF18-4FDF-8B96-6406D12CAEDC}" srcOrd="0" destOrd="0" presId="urn:microsoft.com/office/officeart/2005/8/layout/process1"/>
    <dgm:cxn modelId="{AA6E1967-68D8-460D-97B1-E97EB84A0659}" type="presOf" srcId="{70B197D0-C023-4783-8F2C-C91BAA4AEEFA}" destId="{2C534424-AB3D-4DC0-8240-3B18F9426558}" srcOrd="0" destOrd="0" presId="urn:microsoft.com/office/officeart/2005/8/layout/process1"/>
    <dgm:cxn modelId="{D903CD4E-DE76-4814-A462-E3F9926FC7D7}" type="presOf" srcId="{EFF27C83-67BC-4C70-B2FF-FE5C21823621}" destId="{9608D184-AAF5-4D5A-8330-CEF529006AEA}" srcOrd="0" destOrd="0" presId="urn:microsoft.com/office/officeart/2005/8/layout/process1"/>
    <dgm:cxn modelId="{9AC9C152-0F1A-4547-ADFC-B621B2407F00}" type="presOf" srcId="{2102A7CF-1A8D-43D3-836A-25C7FF7A2310}" destId="{4C08DADA-BFB7-46C7-9313-AD995DD428A3}" srcOrd="0" destOrd="0" presId="urn:microsoft.com/office/officeart/2005/8/layout/process1"/>
    <dgm:cxn modelId="{CE2F6595-AEB6-40CA-8590-348630B9DC38}" type="presOf" srcId="{7E6EDC9D-4E66-43E9-9CC3-B4A495BA9503}" destId="{0B7FE47A-29B5-465D-8E01-E019757D8D29}" srcOrd="0" destOrd="0" presId="urn:microsoft.com/office/officeart/2005/8/layout/process1"/>
    <dgm:cxn modelId="{0B4BD6E0-C9CC-45A4-A138-D56635B1F5C1}" srcId="{AD496B1F-6245-45A3-B4AC-CF05FB5FD0E2}" destId="{8168E804-CD68-4B0E-9D1F-09C9BDB9CAD1}" srcOrd="0" destOrd="0" parTransId="{3EA6D00B-829A-477C-8E64-0E253FB34363}" sibTransId="{70B197D0-C023-4783-8F2C-C91BAA4AEEFA}"/>
    <dgm:cxn modelId="{1F091A80-8A3B-4DA2-82B2-B555FF6A9B7D}" type="presParOf" srcId="{904F696D-524C-4B83-A9F1-45F9072038D6}" destId="{B41202E8-EF18-4FDF-8B96-6406D12CAEDC}" srcOrd="0" destOrd="0" presId="urn:microsoft.com/office/officeart/2005/8/layout/process1"/>
    <dgm:cxn modelId="{298C83E7-94B5-44F9-A151-6056F574E4B3}" type="presParOf" srcId="{904F696D-524C-4B83-A9F1-45F9072038D6}" destId="{2C534424-AB3D-4DC0-8240-3B18F9426558}" srcOrd="1" destOrd="0" presId="urn:microsoft.com/office/officeart/2005/8/layout/process1"/>
    <dgm:cxn modelId="{6BC8AC03-EFBC-49F5-B1A2-489C069F4FC3}" type="presParOf" srcId="{2C534424-AB3D-4DC0-8240-3B18F9426558}" destId="{B2C66ADF-380F-4376-8E16-8D1DA85C98A9}" srcOrd="0" destOrd="0" presId="urn:microsoft.com/office/officeart/2005/8/layout/process1"/>
    <dgm:cxn modelId="{02B09E09-934B-46D5-B265-609264D4B64B}" type="presParOf" srcId="{904F696D-524C-4B83-A9F1-45F9072038D6}" destId="{4C08DADA-BFB7-46C7-9313-AD995DD428A3}" srcOrd="2" destOrd="0" presId="urn:microsoft.com/office/officeart/2005/8/layout/process1"/>
    <dgm:cxn modelId="{DA0FC0FA-6870-4D90-8FA7-7AB0C06F9FAB}" type="presParOf" srcId="{904F696D-524C-4B83-A9F1-45F9072038D6}" destId="{0B7FE47A-29B5-465D-8E01-E019757D8D29}" srcOrd="3" destOrd="0" presId="urn:microsoft.com/office/officeart/2005/8/layout/process1"/>
    <dgm:cxn modelId="{5556A7A2-CA99-4110-AF71-4C292B69E681}" type="presParOf" srcId="{0B7FE47A-29B5-465D-8E01-E019757D8D29}" destId="{97847182-E800-41CA-BB8A-7B016D36BEA4}" srcOrd="0" destOrd="0" presId="urn:microsoft.com/office/officeart/2005/8/layout/process1"/>
    <dgm:cxn modelId="{04257AA6-C330-4FF5-BD33-9D6892DCD5EF}" type="presParOf" srcId="{904F696D-524C-4B83-A9F1-45F9072038D6}" destId="{9608D184-AAF5-4D5A-8330-CEF529006AEA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1202E8-EF18-4FDF-8B96-6406D12CAEDC}">
      <dsp:nvSpPr>
        <dsp:cNvPr id="0" name=""/>
        <dsp:cNvSpPr/>
      </dsp:nvSpPr>
      <dsp:spPr>
        <a:xfrm>
          <a:off x="5429" y="1683138"/>
          <a:ext cx="2756025" cy="1510523"/>
        </a:xfrm>
        <a:prstGeom prst="ellipse">
          <a:avLst/>
        </a:prstGeom>
        <a:gradFill flip="none" rotWithShape="1">
          <a:gsLst>
            <a:gs pos="0">
              <a:srgbClr val="3333CC">
                <a:lumMod val="5000"/>
                <a:lumOff val="95000"/>
              </a:srgbClr>
            </a:gs>
            <a:gs pos="74000">
              <a:srgbClr val="3333CC">
                <a:lumMod val="45000"/>
                <a:lumOff val="55000"/>
              </a:srgbClr>
            </a:gs>
            <a:gs pos="83000">
              <a:srgbClr val="3333CC">
                <a:lumMod val="45000"/>
                <a:lumOff val="55000"/>
              </a:srgbClr>
            </a:gs>
            <a:gs pos="100000">
              <a:srgbClr val="3333CC">
                <a:lumMod val="30000"/>
                <a:lumOff val="70000"/>
              </a:srgbClr>
            </a:gs>
          </a:gsLst>
          <a:lin ang="5400000" scaled="1"/>
          <a:tileRect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rPr>
            <a:t>Data Model</a:t>
          </a:r>
        </a:p>
      </dsp:txBody>
      <dsp:txXfrm>
        <a:off x="409040" y="1904349"/>
        <a:ext cx="1948803" cy="1068101"/>
      </dsp:txXfrm>
    </dsp:sp>
    <dsp:sp modelId="{2C534424-AB3D-4DC0-8240-3B18F9426558}">
      <dsp:nvSpPr>
        <dsp:cNvPr id="0" name=""/>
        <dsp:cNvSpPr/>
      </dsp:nvSpPr>
      <dsp:spPr>
        <a:xfrm>
          <a:off x="3012963" y="2126529"/>
          <a:ext cx="533197" cy="623740"/>
        </a:xfrm>
        <a:prstGeom prst="rightArrow">
          <a:avLst>
            <a:gd name="adj1" fmla="val 60000"/>
            <a:gd name="adj2" fmla="val 50000"/>
          </a:avLst>
        </a:prstGeom>
        <a:solidFill>
          <a:srgbClr val="FFC00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3012963" y="2251277"/>
        <a:ext cx="373238" cy="374244"/>
      </dsp:txXfrm>
    </dsp:sp>
    <dsp:sp modelId="{4C08DADA-BFB7-46C7-9313-AD995DD428A3}">
      <dsp:nvSpPr>
        <dsp:cNvPr id="0" name=""/>
        <dsp:cNvSpPr/>
      </dsp:nvSpPr>
      <dsp:spPr>
        <a:xfrm>
          <a:off x="3767487" y="1683138"/>
          <a:ext cx="2756025" cy="1510523"/>
        </a:xfrm>
        <a:prstGeom prst="ellipse">
          <a:avLst/>
        </a:prstGeom>
        <a:gradFill flip="none" rotWithShape="1">
          <a:gsLst>
            <a:gs pos="0">
              <a:srgbClr val="3333CC">
                <a:lumMod val="5000"/>
                <a:lumOff val="95000"/>
              </a:srgbClr>
            </a:gs>
            <a:gs pos="74000">
              <a:srgbClr val="3333CC">
                <a:lumMod val="45000"/>
                <a:lumOff val="55000"/>
              </a:srgbClr>
            </a:gs>
            <a:gs pos="83000">
              <a:srgbClr val="3333CC">
                <a:lumMod val="45000"/>
                <a:lumOff val="55000"/>
              </a:srgbClr>
            </a:gs>
            <a:gs pos="100000">
              <a:srgbClr val="3333CC">
                <a:lumMod val="30000"/>
                <a:lumOff val="70000"/>
              </a:srgbClr>
            </a:gs>
          </a:gsLst>
          <a:lin ang="5400000" scaled="1"/>
          <a:tileRect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rPr>
            <a:t>Query Language</a:t>
          </a:r>
        </a:p>
      </dsp:txBody>
      <dsp:txXfrm>
        <a:off x="4171098" y="1904349"/>
        <a:ext cx="1948803" cy="1068101"/>
      </dsp:txXfrm>
    </dsp:sp>
    <dsp:sp modelId="{0B7FE47A-29B5-465D-8E01-E019757D8D29}">
      <dsp:nvSpPr>
        <dsp:cNvPr id="0" name=""/>
        <dsp:cNvSpPr/>
      </dsp:nvSpPr>
      <dsp:spPr>
        <a:xfrm>
          <a:off x="6775021" y="2126529"/>
          <a:ext cx="533197" cy="623740"/>
        </a:xfrm>
        <a:prstGeom prst="rightArrow">
          <a:avLst>
            <a:gd name="adj1" fmla="val 60000"/>
            <a:gd name="adj2" fmla="val 50000"/>
          </a:avLst>
        </a:prstGeom>
        <a:solidFill>
          <a:srgbClr val="FFC00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6775021" y="2251277"/>
        <a:ext cx="373238" cy="374244"/>
      </dsp:txXfrm>
    </dsp:sp>
    <dsp:sp modelId="{9608D184-AAF5-4D5A-8330-CEF529006AEA}">
      <dsp:nvSpPr>
        <dsp:cNvPr id="0" name=""/>
        <dsp:cNvSpPr/>
      </dsp:nvSpPr>
      <dsp:spPr>
        <a:xfrm>
          <a:off x="7529545" y="1683138"/>
          <a:ext cx="3285424" cy="1510523"/>
        </a:xfrm>
        <a:prstGeom prst="ellipse">
          <a:avLst/>
        </a:prstGeom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latin typeface="Verdana" panose="020B0604030504040204" pitchFamily="34" charset="0"/>
              <a:ea typeface="Verdana" panose="020B0604030504040204" pitchFamily="34" charset="0"/>
            </a:rPr>
            <a:t>Storage and Indexing</a:t>
          </a:r>
        </a:p>
      </dsp:txBody>
      <dsp:txXfrm>
        <a:off x="8010684" y="1904349"/>
        <a:ext cx="2323146" cy="10681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809" y="0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6111496-B189-429B-AFC5-24D1D34733D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C90CB45-27BB-4BD8-9A38-71B07E440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60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628FCE6-EDDF-4DAD-B7E1-744EFADB451A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11400" y="525463"/>
            <a:ext cx="46736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0"/>
            <a:ext cx="7437120" cy="31546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2938DFF-218C-4948-B31E-06D658EB2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360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938DFF-218C-4948-B31E-06D658EB2B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8769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“First-order predicate logic” is a formal way to describe and reason about things and their relationships using logic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38DFF-218C-4948-B31E-06D658EB2B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17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38DFF-218C-4948-B31E-06D658EB2B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75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292929"/>
                </a:solidFill>
                <a:effectLst/>
                <a:latin typeface="source-serif-pro"/>
              </a:rPr>
              <a:t>Relational model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: a collection of relations.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292929"/>
                </a:solidFill>
                <a:effectLst/>
                <a:latin typeface="source-serif-pro"/>
              </a:rPr>
              <a:t>Relation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: table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292929"/>
                </a:solidFill>
                <a:effectLst/>
                <a:latin typeface="source-serif-pro"/>
              </a:rPr>
              <a:t>Tuple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: row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Attribute: column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Domain: a set of atomic values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Atomic values: single values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Degree of a relation: number of attributes in a relation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Cardinality: number of tuples in a relation.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Relation schema: describes the relation by specifying relation name, list of attributes, and degree of the relation.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solidFill>
                <a:srgbClr val="292929"/>
              </a:solidFill>
              <a:effectLst/>
              <a:latin typeface="source-serif-pro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38DFF-218C-4948-B31E-06D658EB2B3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31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ON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DELETE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SET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</a:p>
          <a:p>
            <a:pPr algn="l"/>
            <a:r>
              <a:rPr lang="en-US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ON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DELETE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CASCADE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ON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UPDATE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RESTRICT</a:t>
            </a:r>
          </a:p>
          <a:p>
            <a:pPr algn="l"/>
            <a:endParaRPr lang="en-US" sz="18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--UPDATE STATE SET state = 'CA' WHERE state ='FL';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--DELETE FROM STATE WHERE state = 'FL';</a:t>
            </a:r>
          </a:p>
          <a:p>
            <a:pPr algn="l"/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--SELECT * FROM STATE;</a:t>
            </a:r>
          </a:p>
          <a:p>
            <a:pPr algn="l"/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--SELECT * FROM CITY;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38DFF-218C-4948-B31E-06D658EB2B3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24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spcAft>
                <a:spcPts val="1125"/>
              </a:spcAft>
              <a:buFont typeface="Arial" panose="020B0604020202020204" pitchFamily="34" charset="0"/>
              <a:buNone/>
            </a:pPr>
            <a:r>
              <a:rPr lang="en-US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https://dev.mysql.com/doc/refman/8.4/en/example-foreign-keys.html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38DFF-218C-4948-B31E-06D658EB2B3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59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(F, false; U, unknown; T, true)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38DFF-218C-4948-B31E-06D658EB2B3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859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38DFF-218C-4948-B31E-06D658EB2B3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86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1" y="169333"/>
            <a:ext cx="11909852" cy="7179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226" y="931863"/>
            <a:ext cx="11813228" cy="5316538"/>
          </a:xfrm>
        </p:spPr>
        <p:txBody>
          <a:bodyPr/>
          <a:lstStyle>
            <a:lvl1pPr>
              <a:spcAft>
                <a:spcPts val="300"/>
              </a:spcAft>
              <a:defRPr>
                <a:latin typeface="Verdana" pitchFamily="34" charset="0"/>
              </a:defRPr>
            </a:lvl1pPr>
            <a:lvl2pPr>
              <a:spcAft>
                <a:spcPts val="300"/>
              </a:spcAft>
              <a:defRPr>
                <a:latin typeface="Verdana" pitchFamily="34" charset="0"/>
              </a:defRPr>
            </a:lvl2pPr>
            <a:lvl3pPr>
              <a:spcAft>
                <a:spcPts val="300"/>
              </a:spcAft>
              <a:defRPr>
                <a:latin typeface="Verdana" pitchFamily="34" charset="0"/>
              </a:defRPr>
            </a:lvl3pPr>
            <a:lvl4pPr>
              <a:spcAft>
                <a:spcPts val="300"/>
              </a:spcAft>
              <a:defRPr>
                <a:latin typeface="Verdana" pitchFamily="34" charset="0"/>
              </a:defRPr>
            </a:lvl4pPr>
            <a:lvl5pPr>
              <a:spcAft>
                <a:spcPts val="300"/>
              </a:spcAft>
              <a:defRPr>
                <a:latin typeface="Verdana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893605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577973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1" y="1295401"/>
            <a:ext cx="5568951" cy="5408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4151" y="1295401"/>
            <a:ext cx="5568949" cy="5408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902448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520457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100001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034226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419742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419600"/>
            <a:ext cx="11506200" cy="72770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612775"/>
            <a:ext cx="11506200" cy="449262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5367338"/>
            <a:ext cx="11506200" cy="10334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243448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264808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1" y="515939"/>
            <a:ext cx="2851149" cy="6188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3900" y="515939"/>
            <a:ext cx="8350251" cy="6188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942059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8DA987-F755-88BE-C273-E55F3DB81491}"/>
              </a:ext>
            </a:extLst>
          </p:cNvPr>
          <p:cNvSpPr/>
          <p:nvPr userDrawn="1"/>
        </p:nvSpPr>
        <p:spPr bwMode="auto">
          <a:xfrm>
            <a:off x="1" y="2282757"/>
            <a:ext cx="12192000" cy="2441643"/>
          </a:xfrm>
          <a:prstGeom prst="rect">
            <a:avLst/>
          </a:prstGeom>
          <a:solidFill>
            <a:srgbClr val="8D1A1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05899" y="2590801"/>
            <a:ext cx="11813228" cy="1905000"/>
          </a:xfrm>
        </p:spPr>
        <p:txBody>
          <a:bodyPr anchor="ctr" anchorCtr="0"/>
          <a:lstStyle>
            <a:lvl1pPr marL="0" indent="0" algn="ctr">
              <a:spcAft>
                <a:spcPts val="300"/>
              </a:spcAft>
              <a:buNone/>
              <a:defRPr sz="3400">
                <a:solidFill>
                  <a:schemeClr val="bg1"/>
                </a:solidFill>
                <a:latin typeface="Verdana" pitchFamily="34" charset="0"/>
              </a:defRPr>
            </a:lvl1pPr>
            <a:lvl2pPr>
              <a:spcAft>
                <a:spcPts val="300"/>
              </a:spcAft>
              <a:defRPr>
                <a:latin typeface="Verdana" pitchFamily="34" charset="0"/>
              </a:defRPr>
            </a:lvl2pPr>
            <a:lvl3pPr>
              <a:spcAft>
                <a:spcPts val="300"/>
              </a:spcAft>
              <a:defRPr>
                <a:latin typeface="Verdana" pitchFamily="34" charset="0"/>
              </a:defRPr>
            </a:lvl3pPr>
            <a:lvl4pPr>
              <a:spcAft>
                <a:spcPts val="300"/>
              </a:spcAft>
              <a:defRPr>
                <a:latin typeface="Verdana" pitchFamily="34" charset="0"/>
              </a:defRPr>
            </a:lvl4pPr>
            <a:lvl5pPr>
              <a:spcAft>
                <a:spcPts val="300"/>
              </a:spcAft>
              <a:defRPr>
                <a:latin typeface="Verdana" pitchFamily="34" charset="0"/>
              </a:defRPr>
            </a:lvl5pPr>
          </a:lstStyle>
          <a:p>
            <a:pPr lvl="0"/>
            <a:r>
              <a:rPr lang="en-US" dirty="0"/>
              <a:t>Common Tabe Expressions </a:t>
            </a:r>
          </a:p>
          <a:p>
            <a:pPr lvl="0"/>
            <a:r>
              <a:rPr lang="en-US" dirty="0"/>
              <a:t>and Recursive Queries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C57061-B223-29B6-C8FE-305EDC1AD3FD}"/>
              </a:ext>
            </a:extLst>
          </p:cNvPr>
          <p:cNvSpPr/>
          <p:nvPr userDrawn="1"/>
        </p:nvSpPr>
        <p:spPr bwMode="auto">
          <a:xfrm>
            <a:off x="0" y="4876800"/>
            <a:ext cx="12192000" cy="19812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37A6CC-31BA-59FE-B641-46A1E17BF830}"/>
              </a:ext>
            </a:extLst>
          </p:cNvPr>
          <p:cNvCxnSpPr/>
          <p:nvPr userDrawn="1"/>
        </p:nvCxnSpPr>
        <p:spPr bwMode="auto">
          <a:xfrm>
            <a:off x="0" y="4330439"/>
            <a:ext cx="1219200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ADC6BC-4043-8EA5-9FDD-134773F612DB}"/>
              </a:ext>
            </a:extLst>
          </p:cNvPr>
          <p:cNvCxnSpPr/>
          <p:nvPr userDrawn="1"/>
        </p:nvCxnSpPr>
        <p:spPr bwMode="auto">
          <a:xfrm>
            <a:off x="0" y="4343401"/>
            <a:ext cx="12192000" cy="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7A22648-D334-3753-E71E-73FC38FC9F50}"/>
              </a:ext>
            </a:extLst>
          </p:cNvPr>
          <p:cNvCxnSpPr/>
          <p:nvPr userDrawn="1"/>
        </p:nvCxnSpPr>
        <p:spPr bwMode="auto">
          <a:xfrm>
            <a:off x="0" y="2688083"/>
            <a:ext cx="1219200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BE8D5CE-DBAB-0295-774E-CFA11CEB30D8}"/>
              </a:ext>
            </a:extLst>
          </p:cNvPr>
          <p:cNvCxnSpPr/>
          <p:nvPr userDrawn="1"/>
        </p:nvCxnSpPr>
        <p:spPr bwMode="auto">
          <a:xfrm>
            <a:off x="0" y="2701045"/>
            <a:ext cx="12192000" cy="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80A516C-91FA-B4EC-0709-8FB583F970D7}"/>
              </a:ext>
            </a:extLst>
          </p:cNvPr>
          <p:cNvSpPr/>
          <p:nvPr userDrawn="1"/>
        </p:nvSpPr>
        <p:spPr bwMode="auto">
          <a:xfrm>
            <a:off x="0" y="-3243"/>
            <a:ext cx="12192000" cy="19812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95030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1" y="169333"/>
            <a:ext cx="11909852" cy="717937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226" y="931863"/>
            <a:ext cx="11813228" cy="5316538"/>
          </a:xfrm>
        </p:spPr>
        <p:txBody>
          <a:bodyPr/>
          <a:lstStyle>
            <a:lvl1pPr>
              <a:spcAft>
                <a:spcPts val="300"/>
              </a:spcAft>
              <a:defRPr>
                <a:latin typeface="Verdana" pitchFamily="34" charset="0"/>
              </a:defRPr>
            </a:lvl1pPr>
            <a:lvl2pPr>
              <a:spcAft>
                <a:spcPts val="300"/>
              </a:spcAft>
              <a:defRPr>
                <a:latin typeface="Verdana" pitchFamily="34" charset="0"/>
              </a:defRPr>
            </a:lvl2pPr>
            <a:lvl3pPr>
              <a:spcAft>
                <a:spcPts val="300"/>
              </a:spcAft>
              <a:defRPr>
                <a:latin typeface="Verdana" pitchFamily="34" charset="0"/>
              </a:defRPr>
            </a:lvl3pPr>
            <a:lvl4pPr>
              <a:spcAft>
                <a:spcPts val="300"/>
              </a:spcAft>
              <a:defRPr>
                <a:latin typeface="Verdana" pitchFamily="34" charset="0"/>
              </a:defRPr>
            </a:lvl4pPr>
            <a:lvl5pPr>
              <a:spcAft>
                <a:spcPts val="300"/>
              </a:spcAft>
              <a:defRPr>
                <a:latin typeface="Verdana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1" y="1295401"/>
            <a:ext cx="5568951" cy="5408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4151" y="1295401"/>
            <a:ext cx="5568949" cy="5408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1" y="515939"/>
            <a:ext cx="2851149" cy="6188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3900" y="515939"/>
            <a:ext cx="8350251" cy="6188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0" y="1082675"/>
            <a:ext cx="12192000" cy="1588"/>
          </a:xfrm>
          <a:prstGeom prst="line">
            <a:avLst/>
          </a:prstGeom>
          <a:ln w="12700">
            <a:solidFill>
              <a:srgbClr val="B602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0" y="6288062"/>
            <a:ext cx="12192000" cy="467416"/>
          </a:xfrm>
          <a:prstGeom prst="rect">
            <a:avLst/>
          </a:prstGeom>
        </p:spPr>
        <p:txBody>
          <a:bodyPr anchor="ctr"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1091260"/>
            <a:ext cx="12192000" cy="5205623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65635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0" y="6362700"/>
            <a:ext cx="12192000" cy="4953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609600" y="1066801"/>
            <a:ext cx="10972800" cy="5211917"/>
          </a:xfrm>
        </p:spPr>
        <p:txBody>
          <a:bodyPr tIns="0" rIns="0" bIns="0" anchor="ctr"/>
          <a:lstStyle>
            <a:lvl1pPr algn="ctr">
              <a:buFontTx/>
              <a:buNone/>
              <a:defRPr sz="4400">
                <a:solidFill>
                  <a:srgbClr val="B60225"/>
                </a:solidFill>
              </a:defRPr>
            </a:lvl1pPr>
            <a:lvl2pPr marL="228600" indent="-228600" algn="ctr">
              <a:buClr>
                <a:srgbClr val="C03137"/>
              </a:buClr>
              <a:buFontTx/>
              <a:buNone/>
              <a:defRPr sz="2400"/>
            </a:lvl2pPr>
            <a:lvl3pPr marL="458788" indent="-230188" algn="ctr">
              <a:buFontTx/>
              <a:buNone/>
              <a:defRPr/>
            </a:lvl3pPr>
            <a:lvl4pPr marL="458788" indent="-230188" algn="ctr">
              <a:buFontTx/>
              <a:buNone/>
              <a:defRPr/>
            </a:lvl4pPr>
            <a:lvl5pPr marL="458788" indent="-230188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575815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Left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0" y="6362700"/>
            <a:ext cx="12192000" cy="4953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609600" y="1367658"/>
            <a:ext cx="10972800" cy="4804543"/>
          </a:xfrm>
        </p:spPr>
        <p:txBody>
          <a:bodyPr tIns="0" rIns="0" bIns="0"/>
          <a:lstStyle>
            <a:lvl1pPr>
              <a:buFontTx/>
              <a:buNone/>
              <a:defRPr>
                <a:solidFill>
                  <a:srgbClr val="B60225"/>
                </a:solidFill>
              </a:defRPr>
            </a:lvl1pPr>
            <a:lvl2pPr marL="228600" indent="-228600">
              <a:buClr>
                <a:srgbClr val="C03137"/>
              </a:buClr>
              <a:buFont typeface="Arial"/>
              <a:buChar char="•"/>
              <a:defRPr sz="2400"/>
            </a:lvl2pPr>
            <a:lvl3pPr marL="458788" indent="-230188">
              <a:defRPr/>
            </a:lvl3pPr>
            <a:lvl4pPr marL="458788" indent="-230188">
              <a:defRPr/>
            </a:lvl4pPr>
            <a:lvl5pPr marL="458788" indent="-230188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25652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Bulleted Text 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2"/>
          </p:nvPr>
        </p:nvSpPr>
        <p:spPr>
          <a:xfrm>
            <a:off x="609599" y="1384048"/>
            <a:ext cx="7034288" cy="4788153"/>
          </a:xfrm>
        </p:spPr>
        <p:txBody>
          <a:bodyPr tIns="0"/>
          <a:lstStyle>
            <a:lvl1pPr marL="0" indent="0">
              <a:buNone/>
              <a:defRPr sz="2600">
                <a:solidFill>
                  <a:srgbClr val="B60225"/>
                </a:solidFill>
              </a:defRPr>
            </a:lvl1pPr>
            <a:lvl2pPr marL="228600" indent="-228600" algn="l">
              <a:buClr>
                <a:srgbClr val="B60225"/>
              </a:buClr>
              <a:buFont typeface="Arial"/>
              <a:buChar char="•"/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0" y="6362700"/>
            <a:ext cx="12192000" cy="4953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17"/>
          </p:nvPr>
        </p:nvSpPr>
        <p:spPr>
          <a:xfrm>
            <a:off x="8116291" y="1094980"/>
            <a:ext cx="4075709" cy="1661390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21"/>
          </p:nvPr>
        </p:nvSpPr>
        <p:spPr>
          <a:xfrm>
            <a:off x="8116291" y="4619039"/>
            <a:ext cx="4075709" cy="1655702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22"/>
          </p:nvPr>
        </p:nvSpPr>
        <p:spPr>
          <a:xfrm>
            <a:off x="8116291" y="2850446"/>
            <a:ext cx="4075709" cy="1655702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7130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Bulleted Text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714862" y="1094981"/>
            <a:ext cx="5477137" cy="5173084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0" y="6362700"/>
            <a:ext cx="12192000" cy="4953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2"/>
          </p:nvPr>
        </p:nvSpPr>
        <p:spPr>
          <a:xfrm>
            <a:off x="609600" y="1392240"/>
            <a:ext cx="5638801" cy="4805361"/>
          </a:xfrm>
        </p:spPr>
        <p:txBody>
          <a:bodyPr tIns="0"/>
          <a:lstStyle>
            <a:lvl1pPr marL="0" indent="0">
              <a:buNone/>
              <a:defRPr sz="2600">
                <a:solidFill>
                  <a:srgbClr val="B60225"/>
                </a:solidFill>
              </a:defRPr>
            </a:lvl1pPr>
            <a:lvl2pPr marL="228600" indent="-228600" algn="l">
              <a:buClr>
                <a:srgbClr val="B60225"/>
              </a:buClr>
              <a:buFont typeface="Arial"/>
              <a:buChar char="•"/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07341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89872" y="152400"/>
            <a:ext cx="11673527" cy="77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Click to add title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9873" y="946942"/>
            <a:ext cx="11673527" cy="5301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die Formate des Vorlagentextes zu bearbeiten</a:t>
            </a:r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</p:txBody>
      </p:sp>
      <p:pic>
        <p:nvPicPr>
          <p:cNvPr id="9" name="Picture 7" descr="PPTbackground_Red.jpg"/>
          <p:cNvPicPr>
            <a:picLocks noChangeAspect="1"/>
          </p:cNvPicPr>
          <p:nvPr userDrawn="1"/>
        </p:nvPicPr>
        <p:blipFill>
          <a:blip r:embed="rId13"/>
          <a:srcRect b="97814"/>
          <a:stretch>
            <a:fillRect/>
          </a:stretch>
        </p:blipFill>
        <p:spPr bwMode="auto">
          <a:xfrm flipH="1">
            <a:off x="0" y="-11905"/>
            <a:ext cx="12192000" cy="14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36525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angle 10"/>
          <p:cNvSpPr/>
          <p:nvPr userDrawn="1"/>
        </p:nvSpPr>
        <p:spPr>
          <a:xfrm>
            <a:off x="0" y="6324601"/>
            <a:ext cx="12192000" cy="544290"/>
          </a:xfrm>
          <a:prstGeom prst="rect">
            <a:avLst/>
          </a:prstGeom>
          <a:solidFill>
            <a:srgbClr val="8D1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8D1A1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B0E251-CC22-766A-8CA5-85DFC9747F54}"/>
              </a:ext>
            </a:extLst>
          </p:cNvPr>
          <p:cNvSpPr/>
          <p:nvPr userDrawn="1"/>
        </p:nvSpPr>
        <p:spPr bwMode="auto">
          <a:xfrm>
            <a:off x="-3243" y="0"/>
            <a:ext cx="12191999" cy="137320"/>
          </a:xfrm>
          <a:prstGeom prst="rect">
            <a:avLst/>
          </a:prstGeom>
          <a:solidFill>
            <a:srgbClr val="8D1A1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  <p:pic>
        <p:nvPicPr>
          <p:cNvPr id="5" name="Picture 4" descr="A logo with text on it&#10;&#10;AI-generated content may be incorrect.">
            <a:extLst>
              <a:ext uri="{FF2B5EF4-FFF2-40B4-BE49-F238E27FC236}">
                <a16:creationId xmlns:a16="http://schemas.microsoft.com/office/drawing/2014/main" id="{520735B3-D6D0-5F46-233B-DAB85DBEF77C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0" y="155847"/>
            <a:ext cx="609362" cy="60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78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8" r:id="rId11"/>
  </p:sldLayoutIdLst>
  <p:transition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 b="1">
          <a:solidFill>
            <a:srgbClr val="003399"/>
          </a:solidFill>
          <a:latin typeface="Verdana" pitchFamily="34" charset="0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Verdan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Verdan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Verdan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89872" y="152400"/>
            <a:ext cx="11684000" cy="77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Click to add title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9873" y="946943"/>
            <a:ext cx="11684000" cy="5342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die Formate des Vorlagentextes zu bearbeiten</a:t>
            </a:r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F9850F-6404-5DB0-E9EC-8C2C8C0133FE}"/>
              </a:ext>
            </a:extLst>
          </p:cNvPr>
          <p:cNvSpPr/>
          <p:nvPr userDrawn="1"/>
        </p:nvSpPr>
        <p:spPr>
          <a:xfrm>
            <a:off x="0" y="6324601"/>
            <a:ext cx="12192000" cy="544290"/>
          </a:xfrm>
          <a:prstGeom prst="rect">
            <a:avLst/>
          </a:prstGeom>
          <a:solidFill>
            <a:srgbClr val="8D1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8D1A1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C76EC1-DB2C-D892-AE61-72A1EDABF029}"/>
              </a:ext>
            </a:extLst>
          </p:cNvPr>
          <p:cNvSpPr/>
          <p:nvPr userDrawn="1"/>
        </p:nvSpPr>
        <p:spPr bwMode="auto">
          <a:xfrm>
            <a:off x="-3243" y="0"/>
            <a:ext cx="12191999" cy="137320"/>
          </a:xfrm>
          <a:prstGeom prst="rect">
            <a:avLst/>
          </a:prstGeom>
          <a:solidFill>
            <a:srgbClr val="8D1A1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ransition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 b="1">
          <a:solidFill>
            <a:srgbClr val="003399"/>
          </a:solidFill>
          <a:latin typeface="Verdana" pitchFamily="34" charset="0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Verdan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Verdan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Verdan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EE2E6FD-974C-B638-4D91-11E757995767}"/>
              </a:ext>
            </a:extLst>
          </p:cNvPr>
          <p:cNvSpPr/>
          <p:nvPr userDrawn="1"/>
        </p:nvSpPr>
        <p:spPr>
          <a:xfrm>
            <a:off x="0" y="0"/>
            <a:ext cx="12192000" cy="1081087"/>
          </a:xfrm>
          <a:prstGeom prst="rect">
            <a:avLst/>
          </a:prstGeom>
          <a:solidFill>
            <a:srgbClr val="8D1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30326"/>
            <a:ext cx="11658600" cy="4868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78564"/>
            <a:ext cx="12192000" cy="579437"/>
          </a:xfrm>
          <a:prstGeom prst="rect">
            <a:avLst/>
          </a:prstGeom>
          <a:solidFill>
            <a:srgbClr val="8D1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082675"/>
            <a:ext cx="12192000" cy="1588"/>
          </a:xfrm>
          <a:prstGeom prst="line">
            <a:avLst/>
          </a:prstGeom>
          <a:ln w="12700">
            <a:solidFill>
              <a:srgbClr val="B602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930A759-D337-62C7-B0C6-99A2684EBDF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448800" y="85877"/>
            <a:ext cx="2606546" cy="88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90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</p:sldLayoutIdLst>
  <p:txStyles>
    <p:titleStyle>
      <a:lvl1pPr algn="r" defTabSz="457200" rtl="0" eaLnBrk="0" fontAlgn="base" hangingPunct="0">
        <a:spcBef>
          <a:spcPct val="0"/>
        </a:spcBef>
        <a:spcAft>
          <a:spcPct val="0"/>
        </a:spcAft>
        <a:defRPr sz="5400" kern="1200" baseline="6000">
          <a:solidFill>
            <a:schemeClr val="bg1"/>
          </a:solidFill>
          <a:latin typeface="Helvetica"/>
          <a:ea typeface="ＭＳ Ｐゴシック" pitchFamily="-112" charset="-128"/>
          <a:cs typeface="Helvetica"/>
        </a:defRPr>
      </a:lvl1pPr>
      <a:lvl2pPr algn="r" defTabSz="457200" rtl="0" eaLnBrk="0" fontAlgn="base" hangingPunct="0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2pPr>
      <a:lvl3pPr algn="r" defTabSz="457200" rtl="0" eaLnBrk="0" fontAlgn="base" hangingPunct="0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3pPr>
      <a:lvl4pPr algn="r" defTabSz="457200" rtl="0" eaLnBrk="0" fontAlgn="base" hangingPunct="0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4pPr>
      <a:lvl5pPr algn="r" defTabSz="457200" rtl="0" eaLnBrk="0" fontAlgn="base" hangingPunct="0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5pPr>
      <a:lvl6pPr marL="457200" algn="r" defTabSz="457200" rtl="0" fontAlgn="base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6pPr>
      <a:lvl7pPr marL="914400" algn="r" defTabSz="457200" rtl="0" fontAlgn="base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7pPr>
      <a:lvl8pPr marL="1371600" algn="r" defTabSz="457200" rtl="0" fontAlgn="base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8pPr>
      <a:lvl9pPr marL="1828800" algn="r" defTabSz="457200" rtl="0" fontAlgn="base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Lucida Grande" charset="0"/>
        <a:buChar char="–"/>
        <a:defRPr sz="28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28600" y="2209800"/>
            <a:ext cx="11430000" cy="685800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ISE305: Database Design and Practice</a:t>
            </a:r>
          </a:p>
          <a:p>
            <a:endParaRPr lang="en-US" sz="1400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rgbClr val="8D1A11"/>
                </a:solidFill>
              </a:rPr>
              <a:t>Review of Relational Model and SQL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5816512-A6A4-265D-4371-B67C1D6CAAC6}"/>
              </a:ext>
            </a:extLst>
          </p:cNvPr>
          <p:cNvSpPr txBox="1">
            <a:spLocks/>
          </p:cNvSpPr>
          <p:nvPr/>
        </p:nvSpPr>
        <p:spPr bwMode="auto">
          <a:xfrm>
            <a:off x="2590800" y="3505200"/>
            <a:ext cx="65532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marL="342900" indent="-34290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4400" kern="1200">
                <a:solidFill>
                  <a:srgbClr val="B60225"/>
                </a:solidFill>
                <a:latin typeface="Helvetica"/>
                <a:ea typeface="ＭＳ Ｐゴシック" pitchFamily="-112" charset="-128"/>
                <a:cs typeface="Helvetica"/>
              </a:defRPr>
            </a:lvl1pPr>
            <a:lvl2pPr marL="228600" indent="-22860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3137"/>
              </a:buClr>
              <a:buFontTx/>
              <a:buNone/>
              <a:defRPr sz="2400" kern="1200">
                <a:solidFill>
                  <a:schemeClr val="tx1"/>
                </a:solidFill>
                <a:latin typeface="Helvetica"/>
                <a:ea typeface="ＭＳ Ｐゴシック" pitchFamily="-112" charset="-128"/>
                <a:cs typeface="Helvetica"/>
              </a:defRPr>
            </a:lvl2pPr>
            <a:lvl3pPr marL="458788" indent="-230188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 kern="1200">
                <a:solidFill>
                  <a:schemeClr val="tx1"/>
                </a:solidFill>
                <a:latin typeface="Helvetica"/>
                <a:ea typeface="ＭＳ Ｐゴシック" pitchFamily="-112" charset="-128"/>
                <a:cs typeface="Helvetica"/>
              </a:defRPr>
            </a:lvl3pPr>
            <a:lvl4pPr marL="458788" indent="-230188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000" kern="1200">
                <a:solidFill>
                  <a:schemeClr val="tx1"/>
                </a:solidFill>
                <a:latin typeface="Helvetica"/>
                <a:ea typeface="ＭＳ Ｐゴシック" pitchFamily="-112" charset="-128"/>
                <a:cs typeface="Helvetica"/>
              </a:defRPr>
            </a:lvl4pPr>
            <a:lvl5pPr marL="458788" indent="-230188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000" kern="1200">
                <a:solidFill>
                  <a:schemeClr val="tx1"/>
                </a:solidFill>
                <a:latin typeface="Helvetica"/>
                <a:ea typeface="ＭＳ Ｐゴシック" pitchFamily="-112" charset="-128"/>
                <a:cs typeface="Helvetic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ＭＳ Ｐゴシック" pitchFamily="-112" charset="-128"/>
            </a:endParaRPr>
          </a:p>
          <a:p>
            <a:pPr marL="342900" marR="0" lvl="0" indent="-34290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ＭＳ Ｐゴシック" pitchFamily="-112" charset="-128"/>
              </a:rPr>
              <a:t>Fusheng Wang</a:t>
            </a:r>
          </a:p>
          <a:p>
            <a:pPr marL="342900" marR="0" lvl="0" indent="-34290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ＭＳ Ｐゴシック" pitchFamily="-112" charset="-128"/>
              </a:rPr>
              <a:t>Department of Computer Science</a:t>
            </a:r>
          </a:p>
          <a:p>
            <a:pPr marL="342900" marR="0" lvl="0" indent="-34290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ＭＳ Ｐゴシック" pitchFamily="-112" charset="-128"/>
              </a:rPr>
              <a:t>Department of Biomedical Informatics</a:t>
            </a:r>
          </a:p>
          <a:p>
            <a:pPr marL="342900" marR="0" lvl="0" indent="-34290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8664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B4E7C-5B46-4511-A99A-001740B51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Model and Relational Tables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B6EA5-9118-487E-BF68-7C3045E2B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</a:t>
            </a:r>
            <a:r>
              <a:rPr lang="en-US" dirty="0">
                <a:solidFill>
                  <a:schemeClr val="accent6"/>
                </a:solidFill>
              </a:rPr>
              <a:t>relational model</a:t>
            </a:r>
            <a:r>
              <a:rPr lang="en-US" dirty="0"/>
              <a:t>, all data is represented in terms of tuples, grouped into relations, using a structure and language consistent with “first-order predicate logic” </a:t>
            </a:r>
          </a:p>
          <a:p>
            <a:pPr lvl="2"/>
            <a:r>
              <a:rPr lang="en-US" sz="2000" dirty="0"/>
              <a:t>Every row in a table can be thought of as a logical fact</a:t>
            </a:r>
          </a:p>
          <a:p>
            <a:pPr lvl="2"/>
            <a:r>
              <a:rPr lang="en-US" sz="2000" dirty="0"/>
              <a:t>Queries (like SQL SELECT) can be thought of as logical expressions</a:t>
            </a:r>
          </a:p>
          <a:p>
            <a:pPr lvl="2"/>
            <a:r>
              <a:rPr lang="en-US" sz="2000" dirty="0"/>
              <a:t>Provide theoretical foundation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chemeClr val="accent2"/>
                </a:solidFill>
              </a:rPr>
              <a:t>relational table </a:t>
            </a:r>
            <a:r>
              <a:rPr lang="en-US" dirty="0"/>
              <a:t>is a fundamental structure in a relational database that stores data in a structured format consisting of rows (tuples) and columns (attributes)</a:t>
            </a:r>
          </a:p>
          <a:p>
            <a:pPr lvl="1"/>
            <a:r>
              <a:rPr lang="en-US" dirty="0"/>
              <a:t>Provide implementation for relational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9C0949-161F-4E78-B6A5-D04E7E9C399C}"/>
              </a:ext>
            </a:extLst>
          </p:cNvPr>
          <p:cNvSpPr txBox="1"/>
          <p:nvPr/>
        </p:nvSpPr>
        <p:spPr>
          <a:xfrm>
            <a:off x="205689" y="6397937"/>
            <a:ext cx="24511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 Model Overview </a:t>
            </a:r>
          </a:p>
        </p:txBody>
      </p:sp>
    </p:spTree>
    <p:extLst>
      <p:ext uri="{BB962C8B-B14F-4D97-AF65-F5344CB8AC3E}">
        <p14:creationId xmlns:p14="http://schemas.microsoft.com/office/powerpoint/2010/main" val="62134668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Bags versus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Sets</a:t>
            </a:r>
            <a:r>
              <a:rPr lang="en-US" dirty="0"/>
              <a:t> = conceptually </a:t>
            </a:r>
            <a:r>
              <a:rPr lang="en-US" dirty="0">
                <a:solidFill>
                  <a:srgbClr val="A71930"/>
                </a:solidFill>
              </a:rPr>
              <a:t>unordered</a:t>
            </a:r>
            <a:r>
              <a:rPr lang="en-US" dirty="0"/>
              <a:t> collections of elements </a:t>
            </a:r>
            <a:r>
              <a:rPr lang="en-US" i="1" dirty="0"/>
              <a:t>without duplicates </a:t>
            </a:r>
            <a:r>
              <a:rPr lang="en-US" dirty="0"/>
              <a:t>e.g., {1,2,3} </a:t>
            </a:r>
            <a:endParaRPr lang="en-US" b="1" dirty="0"/>
          </a:p>
          <a:p>
            <a:r>
              <a:rPr lang="en-US" dirty="0">
                <a:solidFill>
                  <a:schemeClr val="accent6"/>
                </a:solidFill>
              </a:rPr>
              <a:t>Bags</a:t>
            </a:r>
            <a:r>
              <a:rPr lang="en-US" dirty="0"/>
              <a:t> = conceptually </a:t>
            </a:r>
            <a:r>
              <a:rPr lang="en-US" dirty="0">
                <a:solidFill>
                  <a:srgbClr val="A71930"/>
                </a:solidFill>
              </a:rPr>
              <a:t>unordered</a:t>
            </a:r>
            <a:r>
              <a:rPr lang="en-US" dirty="0"/>
              <a:t> collections of elements </a:t>
            </a:r>
            <a:r>
              <a:rPr lang="en-US" i="1" dirty="0"/>
              <a:t>with duplicates </a:t>
            </a:r>
            <a:r>
              <a:rPr lang="en-US" dirty="0"/>
              <a:t>e.g.: {1,2,3,3}  {3,2,1} 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SQL table: bag</a:t>
            </a:r>
          </a:p>
          <a:p>
            <a:pPr lvl="1"/>
            <a:r>
              <a:rPr lang="en-US" dirty="0"/>
              <a:t>Unordered set of rows, not sequences</a:t>
            </a:r>
          </a:p>
          <a:p>
            <a:pPr marL="0" indent="0">
              <a:buNone/>
            </a:pPr>
            <a:endParaRPr lang="en-US" dirty="0">
              <a:solidFill>
                <a:srgbClr val="383A42"/>
              </a:solidFill>
              <a:effectLst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F9F7D0-04AC-4826-83A1-A98D057EC47C}"/>
              </a:ext>
            </a:extLst>
          </p:cNvPr>
          <p:cNvSpPr txBox="1"/>
          <p:nvPr/>
        </p:nvSpPr>
        <p:spPr>
          <a:xfrm>
            <a:off x="205689" y="6397937"/>
            <a:ext cx="24511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 Model Overview </a:t>
            </a:r>
          </a:p>
        </p:txBody>
      </p:sp>
    </p:spTree>
    <p:extLst>
      <p:ext uri="{BB962C8B-B14F-4D97-AF65-F5344CB8AC3E}">
        <p14:creationId xmlns:p14="http://schemas.microsoft.com/office/powerpoint/2010/main" val="76243720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A6CF5-69FB-5CD0-C7B7-B7A41ADBE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in SQL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14C91-D118-89C0-394E-D71908875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default, there is no order for the records in a SQL table</a:t>
            </a:r>
          </a:p>
          <a:p>
            <a:r>
              <a:rPr lang="en-US" dirty="0"/>
              <a:t>Without ORDER BY, the database may return rows in any order (e.g., storage order, index order, …)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A626A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SELECT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4078F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A626A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employee </a:t>
            </a:r>
            <a:r>
              <a:rPr lang="en-US" sz="2400" dirty="0">
                <a:solidFill>
                  <a:srgbClr val="A626A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LIMIT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B76B0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383A4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dirty="0">
                <a:solidFill>
                  <a:srgbClr val="383A4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(no semantic meaning!)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the “</a:t>
            </a:r>
            <a:r>
              <a:rPr lang="en-US" dirty="0">
                <a:solidFill>
                  <a:srgbClr val="FF0000"/>
                </a:solidFill>
              </a:rPr>
              <a:t>first</a:t>
            </a:r>
            <a:r>
              <a:rPr lang="en-US" dirty="0"/>
              <a:t>” employee in your table in SQL based on highest salary</a:t>
            </a:r>
          </a:p>
          <a:p>
            <a:pPr marL="0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urier New" panose="02070309020205020404" pitchFamily="49" charset="0"/>
                <a:ea typeface="Menlo"/>
                <a:cs typeface="Courier New" panose="02070309020205020404" pitchFamily="49" charset="0"/>
              </a:rPr>
              <a:t>   SELECT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Courier New" panose="02070309020205020404" pitchFamily="49" charset="0"/>
                <a:ea typeface="Menlo"/>
                <a:cs typeface="Courier New" panose="020703090202050204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urier New" panose="02070309020205020404" pitchFamily="49" charset="0"/>
                <a:ea typeface="Menlo"/>
                <a:cs typeface="Courier New" panose="02070309020205020404" pitchFamily="49" charset="0"/>
              </a:rPr>
              <a:t>*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Courier New" panose="02070309020205020404" pitchFamily="49" charset="0"/>
                <a:ea typeface="Menlo"/>
                <a:cs typeface="Courier New" panose="020703090202050204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urier New" panose="02070309020205020404" pitchFamily="49" charset="0"/>
                <a:ea typeface="Menlo"/>
                <a:cs typeface="Courier New" panose="02070309020205020404" pitchFamily="49" charset="0"/>
              </a:rPr>
              <a:t>FROM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Courier New" panose="02070309020205020404" pitchFamily="49" charset="0"/>
                <a:ea typeface="Menlo"/>
                <a:cs typeface="Courier New" panose="02070309020205020404" pitchFamily="49" charset="0"/>
              </a:rPr>
              <a:t> employee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494949"/>
                </a:solidFill>
                <a:latin typeface="Courier New" panose="02070309020205020404" pitchFamily="49" charset="0"/>
                <a:ea typeface="Menlo"/>
                <a:cs typeface="Courier New" panose="02070309020205020404" pitchFamily="49" charset="0"/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urier New" panose="02070309020205020404" pitchFamily="49" charset="0"/>
                <a:ea typeface="Menlo"/>
                <a:cs typeface="Courier New" panose="02070309020205020404" pitchFamily="49" charset="0"/>
              </a:rPr>
              <a:t>ORDER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Courier New" panose="02070309020205020404" pitchFamily="49" charset="0"/>
                <a:ea typeface="Menlo"/>
                <a:cs typeface="Courier New" panose="020703090202050204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urier New" panose="02070309020205020404" pitchFamily="49" charset="0"/>
                <a:ea typeface="Menlo"/>
                <a:cs typeface="Courier New" panose="02070309020205020404" pitchFamily="49" charset="0"/>
              </a:rPr>
              <a:t>BY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Courier New" panose="02070309020205020404" pitchFamily="49" charset="0"/>
                <a:ea typeface="Menlo"/>
                <a:cs typeface="Courier New" panose="02070309020205020404" pitchFamily="49" charset="0"/>
              </a:rPr>
              <a:t> salary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urier New" panose="02070309020205020404" pitchFamily="49" charset="0"/>
                <a:ea typeface="Menlo"/>
                <a:cs typeface="Courier New" panose="02070309020205020404" pitchFamily="49" charset="0"/>
              </a:rPr>
              <a:t>DESC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Courier New" panose="02070309020205020404" pitchFamily="49" charset="0"/>
                <a:ea typeface="Menlo"/>
                <a:cs typeface="Courier New" panose="020703090202050204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urier New" panose="02070309020205020404" pitchFamily="49" charset="0"/>
                <a:ea typeface="Menlo"/>
                <a:cs typeface="Courier New" panose="02070309020205020404" pitchFamily="49" charset="0"/>
              </a:rPr>
              <a:t>LIMIT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Courier New" panose="02070309020205020404" pitchFamily="49" charset="0"/>
                <a:ea typeface="Menlo"/>
                <a:cs typeface="Courier New" panose="020703090202050204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Courier New" panose="02070309020205020404" pitchFamily="49" charset="0"/>
                <a:ea typeface="Menlo"/>
                <a:cs typeface="Courier New" panose="02070309020205020404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urier New" panose="02070309020205020404" pitchFamily="49" charset="0"/>
                <a:ea typeface="Menlo"/>
                <a:cs typeface="Courier New" panose="02070309020205020404" pitchFamily="49" charset="0"/>
              </a:rPr>
              <a:t>;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383A42"/>
                </a:solidFill>
                <a:latin typeface="Courier New" panose="02070309020205020404" pitchFamily="49" charset="0"/>
                <a:ea typeface="Menlo"/>
                <a:cs typeface="Courier New" panose="02070309020205020404" pitchFamily="49" charset="0"/>
              </a:rPr>
              <a:t>  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urier New" panose="02070309020205020404" pitchFamily="49" charset="0"/>
                <a:ea typeface="Menlo"/>
                <a:cs typeface="Courier New" panose="02070309020205020404" pitchFamily="49" charset="0"/>
              </a:rPr>
              <a:t>not standard SQL!)</a:t>
            </a:r>
            <a:endParaRPr lang="en-US" altLang="en-US" sz="2000" dirty="0">
              <a:solidFill>
                <a:srgbClr val="383A4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800"/>
              </a:spcBef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ea typeface="Verdana" panose="020B0604030504040204" pitchFamily="34" charset="0"/>
                <a:cs typeface="Courier New" panose="02070309020205020404" pitchFamily="49" charset="0"/>
              </a:rPr>
              <a:t>What if there is a tie?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774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of DBMS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53DB8AF-FCFF-4533-80E9-C2E8AF89CB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2754046"/>
              </p:ext>
            </p:extLst>
          </p:nvPr>
        </p:nvGraphicFramePr>
        <p:xfrm>
          <a:off x="533400" y="1143000"/>
          <a:ext cx="108204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7861522-0876-42B6-99B9-116B4B51207D}"/>
              </a:ext>
            </a:extLst>
          </p:cNvPr>
          <p:cNvSpPr txBox="1"/>
          <p:nvPr/>
        </p:nvSpPr>
        <p:spPr>
          <a:xfrm>
            <a:off x="205689" y="6397937"/>
            <a:ext cx="24511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 Model Overview 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3F714-9876-B42D-41EA-6985AD9B2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BA2FBC-E713-CEF5-070A-3C319C2B7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Relational Data Model</a:t>
            </a:r>
          </a:p>
        </p:txBody>
      </p:sp>
    </p:spTree>
    <p:extLst>
      <p:ext uri="{BB962C8B-B14F-4D97-AF65-F5344CB8AC3E}">
        <p14:creationId xmlns:p14="http://schemas.microsoft.com/office/powerpoint/2010/main" val="88620932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F887C-7F77-4FE0-BFE3-FC0F0AE1A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9F1E8-CA20-4EAB-9E03-F5C9C1B36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A Data Model is a notation for describing data or information</a:t>
            </a:r>
          </a:p>
          <a:p>
            <a:pPr lvl="1"/>
            <a:r>
              <a:rPr lang="en-US" sz="2400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﻿﻿</a:t>
            </a:r>
            <a:r>
              <a:rPr lang="en-US" sz="2400" i="0" dirty="0">
                <a:solidFill>
                  <a:schemeClr val="accent6"/>
                </a:solidFill>
                <a:effectLst/>
                <a:ea typeface="Verdana" panose="020B0604030504040204" pitchFamily="34" charset="0"/>
              </a:rPr>
              <a:t>Structure of data </a:t>
            </a:r>
            <a:r>
              <a:rPr lang="en-US" sz="2400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(e.g., arrays, structs)</a:t>
            </a:r>
          </a:p>
          <a:p>
            <a:pPr marL="457200" lvl="1" indent="0">
              <a:buNone/>
            </a:pPr>
            <a:r>
              <a:rPr lang="en-US" sz="2400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   Conceptual model: in databases, structures are at a higher level</a:t>
            </a:r>
          </a:p>
          <a:p>
            <a:pPr lvl="1"/>
            <a:r>
              <a:rPr lang="en-US" sz="2400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﻿﻿</a:t>
            </a:r>
            <a:r>
              <a:rPr lang="en-US" sz="2400" i="0" dirty="0">
                <a:solidFill>
                  <a:schemeClr val="accent6"/>
                </a:solidFill>
                <a:effectLst/>
                <a:ea typeface="Verdana" panose="020B0604030504040204" pitchFamily="34" charset="0"/>
              </a:rPr>
              <a:t>Operations on data </a:t>
            </a:r>
            <a:r>
              <a:rPr lang="en-US" sz="2400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(queries and modifications)</a:t>
            </a:r>
          </a:p>
          <a:p>
            <a:pPr marL="457200" lvl="1" indent="0">
              <a:buNone/>
            </a:pPr>
            <a:r>
              <a:rPr lang="en-US" sz="2400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   ﻿﻿Limited operations: ease of programmers and efficiency of database</a:t>
            </a:r>
          </a:p>
          <a:p>
            <a:pPr lvl="1"/>
            <a:r>
              <a:rPr lang="en-US" sz="2400" i="0" dirty="0">
                <a:solidFill>
                  <a:schemeClr val="accent6"/>
                </a:solidFill>
                <a:effectLst/>
                <a:ea typeface="Verdana" panose="020B0604030504040204" pitchFamily="34" charset="0"/>
              </a:rPr>
              <a:t>Constraints on data </a:t>
            </a:r>
            <a:r>
              <a:rPr lang="en-US" sz="2400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(what the data can be)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222222"/>
                </a:solidFill>
                <a:ea typeface="Verdana" panose="020B0604030504040204" pitchFamily="34" charset="0"/>
              </a:rPr>
              <a:t>    </a:t>
            </a:r>
            <a:endParaRPr lang="en-US" dirty="0"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0AC688-B5A4-44E6-85D7-0FF551638BCA}"/>
              </a:ext>
            </a:extLst>
          </p:cNvPr>
          <p:cNvSpPr txBox="1"/>
          <p:nvPr/>
        </p:nvSpPr>
        <p:spPr>
          <a:xfrm>
            <a:off x="205689" y="6397937"/>
            <a:ext cx="24511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 Model Overview </a:t>
            </a:r>
          </a:p>
        </p:txBody>
      </p:sp>
    </p:spTree>
    <p:extLst>
      <p:ext uri="{BB962C8B-B14F-4D97-AF65-F5344CB8AC3E}">
        <p14:creationId xmlns:p14="http://schemas.microsoft.com/office/powerpoint/2010/main" val="130173711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90" y="931863"/>
            <a:ext cx="11813228" cy="5316538"/>
          </a:xfrm>
        </p:spPr>
        <p:txBody>
          <a:bodyPr rIns="0" bIns="0"/>
          <a:lstStyle/>
          <a:p>
            <a:pPr>
              <a:spcBef>
                <a:spcPts val="0"/>
              </a:spcBef>
            </a:pPr>
            <a:r>
              <a:rPr lang="en-US" dirty="0"/>
              <a:t>Structures: table, tuples, attributes</a:t>
            </a:r>
          </a:p>
          <a:p>
            <a:pPr marL="342900" lvl="1" indent="-342900">
              <a:spcBef>
                <a:spcPts val="0"/>
              </a:spcBef>
              <a:buFontTx/>
              <a:buChar char="•"/>
            </a:pPr>
            <a:r>
              <a:rPr lang="en-US" altLang="en-US" dirty="0"/>
              <a:t>A relation schema: </a:t>
            </a:r>
            <a:r>
              <a:rPr lang="en-US" altLang="en-US" i="1" dirty="0"/>
              <a:t>R</a:t>
            </a:r>
            <a:r>
              <a:rPr lang="en-US" altLang="en-US" dirty="0"/>
              <a:t>(</a:t>
            </a:r>
            <a:r>
              <a:rPr lang="en-US" altLang="en-US" i="1" dirty="0"/>
              <a:t>A</a:t>
            </a:r>
            <a:r>
              <a:rPr lang="en-US" altLang="en-US" baseline="-25000" dirty="0"/>
              <a:t>1</a:t>
            </a:r>
            <a:r>
              <a:rPr lang="en-US" altLang="en-US" dirty="0"/>
              <a:t>,</a:t>
            </a:r>
            <a:r>
              <a:rPr lang="en-US" altLang="en-US" i="1" dirty="0"/>
              <a:t> A</a:t>
            </a:r>
            <a:r>
              <a:rPr lang="en-US" altLang="en-US" baseline="-25000" dirty="0"/>
              <a:t>2</a:t>
            </a:r>
            <a:r>
              <a:rPr lang="en-US" altLang="en-US" dirty="0"/>
              <a:t>, ...,</a:t>
            </a:r>
            <a:r>
              <a:rPr lang="en-US" altLang="en-US" i="1" dirty="0"/>
              <a:t>A</a:t>
            </a:r>
            <a:r>
              <a:rPr lang="en-US" altLang="en-US" i="1" baseline="-25000" dirty="0"/>
              <a:t>n</a:t>
            </a:r>
            <a:r>
              <a:rPr lang="en-US" altLang="en-US" dirty="0"/>
              <a:t>)</a:t>
            </a:r>
          </a:p>
          <a:p>
            <a:pPr>
              <a:spcBef>
                <a:spcPts val="0"/>
              </a:spcBef>
            </a:pPr>
            <a:r>
              <a:rPr lang="en-US" altLang="en-US" dirty="0"/>
              <a:t>A relation: a set of </a:t>
            </a:r>
            <a:r>
              <a:rPr lang="en-US" altLang="en-US" b="1" dirty="0"/>
              <a:t>tuples</a:t>
            </a:r>
            <a:r>
              <a:rPr lang="en-US" altLang="en-US" dirty="0"/>
              <a:t> </a:t>
            </a:r>
            <a:r>
              <a:rPr lang="en-US" altLang="en-US" i="1" dirty="0"/>
              <a:t>r = </a:t>
            </a:r>
            <a:r>
              <a:rPr lang="en-US" altLang="en-US" dirty="0"/>
              <a:t>{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</a:t>
            </a:r>
            <a:r>
              <a:rPr lang="en-US" altLang="en-US" i="1" dirty="0"/>
              <a:t> t</a:t>
            </a:r>
            <a:r>
              <a:rPr lang="en-US" altLang="en-US" i="1" baseline="-25000" dirty="0"/>
              <a:t>2</a:t>
            </a:r>
            <a:r>
              <a:rPr lang="en-US" altLang="en-US" dirty="0"/>
              <a:t>, ...,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m</a:t>
            </a:r>
            <a:r>
              <a:rPr lang="en-US" altLang="en-US" dirty="0"/>
              <a:t>} 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each tuple </a:t>
            </a:r>
            <a:r>
              <a:rPr lang="en-US" altLang="en-US" i="1" dirty="0">
                <a:solidFill>
                  <a:schemeClr val="accent2"/>
                </a:solidFill>
              </a:rPr>
              <a:t>t</a:t>
            </a:r>
            <a:r>
              <a:rPr lang="en-US" altLang="en-US" dirty="0"/>
              <a:t>  is an ordered list of </a:t>
            </a:r>
            <a:r>
              <a:rPr lang="en-US" altLang="en-US" i="1" dirty="0"/>
              <a:t>n</a:t>
            </a:r>
            <a:r>
              <a:rPr lang="en-US" altLang="en-US" dirty="0"/>
              <a:t> values </a:t>
            </a:r>
            <a:r>
              <a:rPr lang="en-US" altLang="en-US" i="1" dirty="0"/>
              <a:t>t =&lt;v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v</a:t>
            </a:r>
            <a:r>
              <a:rPr lang="en-US" altLang="en-US" baseline="-25000" dirty="0"/>
              <a:t>2</a:t>
            </a:r>
            <a:r>
              <a:rPr lang="en-US" altLang="en-US" dirty="0"/>
              <a:t>, ..., </a:t>
            </a:r>
            <a:r>
              <a:rPr lang="en-US" altLang="en-US" i="1" dirty="0" err="1"/>
              <a:t>v</a:t>
            </a:r>
            <a:r>
              <a:rPr lang="en-US" altLang="en-US" i="1" baseline="-25000" dirty="0" err="1"/>
              <a:t>n</a:t>
            </a:r>
            <a:r>
              <a:rPr lang="en-US" altLang="en-US" i="1" dirty="0"/>
              <a:t>&gt;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Value </a:t>
            </a:r>
            <a:r>
              <a:rPr lang="en-US" altLang="en-US" i="1" dirty="0"/>
              <a:t>v</a:t>
            </a:r>
            <a:r>
              <a:rPr lang="en-US" altLang="en-US" i="1" baseline="-25000" dirty="0"/>
              <a:t>i </a:t>
            </a:r>
            <a:r>
              <a:rPr lang="en-US" altLang="en-US" dirty="0"/>
              <a:t>comes from its domain value or NULL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584FD87-2A78-465C-98D4-EB485F773DF6}"/>
              </a:ext>
            </a:extLst>
          </p:cNvPr>
          <p:cNvSpPr txBox="1">
            <a:spLocks/>
          </p:cNvSpPr>
          <p:nvPr/>
        </p:nvSpPr>
        <p:spPr bwMode="auto">
          <a:xfrm>
            <a:off x="76200" y="4148959"/>
            <a:ext cx="11430000" cy="1794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ts val="300"/>
              </a:spcAft>
              <a:buChar char="•"/>
              <a:defRPr sz="24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ts val="300"/>
              </a:spcAft>
              <a:buChar char="–"/>
              <a:defRPr sz="2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ts val="300"/>
              </a:spcAft>
              <a:buChar char="•"/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300"/>
              </a:spcAft>
              <a:buChar char="–"/>
              <a:defRPr sz="16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300"/>
              </a:spcAft>
              <a:buChar char="»"/>
              <a:defRPr sz="1500">
                <a:solidFill>
                  <a:srgbClr val="003399"/>
                </a:solidFill>
                <a:latin typeface="Verdana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9pPr>
          </a:lstStyle>
          <a:p>
            <a:pPr>
              <a:spcBef>
                <a:spcPts val="300"/>
              </a:spcBef>
            </a:pPr>
            <a:r>
              <a:rPr lang="en-US" altLang="en-US" kern="0" dirty="0"/>
              <a:t>Operations: selection, projection, join..</a:t>
            </a:r>
          </a:p>
          <a:p>
            <a:pPr>
              <a:spcBef>
                <a:spcPts val="300"/>
              </a:spcBef>
            </a:pPr>
            <a:r>
              <a:rPr lang="en-US" altLang="en-US" kern="0" dirty="0"/>
              <a:t>Constraints: e.g., grades can be only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en-US" kern="0" dirty="0"/>
              <a:t>   {A,B,C,D,F}</a:t>
            </a:r>
          </a:p>
          <a:p>
            <a:pPr>
              <a:spcBef>
                <a:spcPts val="300"/>
              </a:spcBef>
            </a:pPr>
            <a:r>
              <a:rPr lang="en-US" altLang="en-US" kern="0" dirty="0"/>
              <a:t>Degree: number of attributes in schema</a:t>
            </a:r>
          </a:p>
          <a:p>
            <a:pPr>
              <a:spcBef>
                <a:spcPts val="300"/>
              </a:spcBef>
            </a:pPr>
            <a:r>
              <a:rPr lang="en-US" altLang="en-US" kern="0" dirty="0"/>
              <a:t>Cardinality: number of tuples in relation</a:t>
            </a:r>
            <a:endParaRPr lang="en-US" kern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836F6C-3723-4FB6-BED4-8192E861172E}"/>
              </a:ext>
            </a:extLst>
          </p:cNvPr>
          <p:cNvGrpSpPr/>
          <p:nvPr/>
        </p:nvGrpSpPr>
        <p:grpSpPr>
          <a:xfrm>
            <a:off x="6717697" y="3048000"/>
            <a:ext cx="5124236" cy="2296306"/>
            <a:chOff x="6781800" y="872361"/>
            <a:chExt cx="5380620" cy="245232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DFD864D-FC44-424F-8C5A-0BBDEE6F6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1800" y="872361"/>
              <a:ext cx="5380620" cy="245232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1977ABB-D4EE-4C42-A78B-98F39DB4D766}"/>
                </a:ext>
              </a:extLst>
            </p:cNvPr>
            <p:cNvSpPr txBox="1"/>
            <p:nvPr/>
          </p:nvSpPr>
          <p:spPr>
            <a:xfrm>
              <a:off x="8636118" y="1672147"/>
              <a:ext cx="4555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A1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737DFF1-AFBC-4DA5-AB26-6D7F20A6617D}"/>
                </a:ext>
              </a:extLst>
            </p:cNvPr>
            <p:cNvSpPr txBox="1"/>
            <p:nvPr/>
          </p:nvSpPr>
          <p:spPr>
            <a:xfrm>
              <a:off x="11368193" y="1672147"/>
              <a:ext cx="4555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An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3EACB5A-C5A7-4FD6-A226-89153F51286C}"/>
                </a:ext>
              </a:extLst>
            </p:cNvPr>
            <p:cNvSpPr txBox="1"/>
            <p:nvPr/>
          </p:nvSpPr>
          <p:spPr>
            <a:xfrm>
              <a:off x="7848600" y="2373868"/>
              <a:ext cx="3946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t1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C9F175B-DAA0-4A39-92EB-A4D81C9F9AFB}"/>
                </a:ext>
              </a:extLst>
            </p:cNvPr>
            <p:cNvSpPr txBox="1"/>
            <p:nvPr/>
          </p:nvSpPr>
          <p:spPr>
            <a:xfrm>
              <a:off x="7844347" y="2831068"/>
              <a:ext cx="3946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t2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66CECFE-C390-4D9C-B093-029AB1FE8EB2}"/>
              </a:ext>
            </a:extLst>
          </p:cNvPr>
          <p:cNvSpPr txBox="1"/>
          <p:nvPr/>
        </p:nvSpPr>
        <p:spPr>
          <a:xfrm>
            <a:off x="205689" y="6397937"/>
            <a:ext cx="18708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Relational Model</a:t>
            </a:r>
          </a:p>
        </p:txBody>
      </p:sp>
    </p:spTree>
    <p:extLst>
      <p:ext uri="{BB962C8B-B14F-4D97-AF65-F5344CB8AC3E}">
        <p14:creationId xmlns:p14="http://schemas.microsoft.com/office/powerpoint/2010/main" val="49836881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Model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Domain constraints</a:t>
            </a:r>
            <a:r>
              <a:rPr lang="en-US" dirty="0"/>
              <a:t>: data types</a:t>
            </a:r>
          </a:p>
          <a:p>
            <a:r>
              <a:rPr lang="en-US" dirty="0">
                <a:solidFill>
                  <a:schemeClr val="accent6"/>
                </a:solidFill>
              </a:rPr>
              <a:t>Keys</a:t>
            </a:r>
            <a:r>
              <a:rPr lang="en-US" dirty="0"/>
              <a:t>: no pair of tuples should have identical keys</a:t>
            </a:r>
          </a:p>
          <a:p>
            <a:r>
              <a:rPr lang="en-US" dirty="0">
                <a:solidFill>
                  <a:schemeClr val="accent6"/>
                </a:solidFill>
              </a:rPr>
              <a:t>Primary key</a:t>
            </a:r>
            <a:r>
              <a:rPr lang="en-US" dirty="0"/>
              <a:t>: the primary key of a relational table uniquely “identifies” each record in the table</a:t>
            </a:r>
          </a:p>
          <a:p>
            <a:r>
              <a:rPr lang="en-US" dirty="0">
                <a:solidFill>
                  <a:schemeClr val="accent6"/>
                </a:solidFill>
              </a:rPr>
              <a:t>Unique keys</a:t>
            </a:r>
            <a:r>
              <a:rPr lang="en-US" dirty="0"/>
              <a:t>: all other keys</a:t>
            </a:r>
          </a:p>
          <a:p>
            <a:r>
              <a:rPr lang="en-US" dirty="0">
                <a:solidFill>
                  <a:schemeClr val="accent6"/>
                </a:solidFill>
              </a:rPr>
              <a:t>Referential integrity </a:t>
            </a:r>
            <a:r>
              <a:rPr lang="en-US" dirty="0"/>
              <a:t>constraints</a:t>
            </a:r>
          </a:p>
          <a:p>
            <a:pPr lvl="1"/>
            <a:r>
              <a:rPr lang="en-US" altLang="en-US" dirty="0"/>
              <a:t>Specified between two relations </a:t>
            </a:r>
          </a:p>
          <a:p>
            <a:pPr lvl="1"/>
            <a:r>
              <a:rPr lang="en-US" altLang="en-US" dirty="0"/>
              <a:t>Maintains consistency among tuples in two relations</a:t>
            </a:r>
          </a:p>
          <a:p>
            <a:r>
              <a:rPr lang="en-US" altLang="en-US" dirty="0"/>
              <a:t>A </a:t>
            </a:r>
            <a:r>
              <a:rPr lang="en-US" altLang="en-US" dirty="0">
                <a:solidFill>
                  <a:schemeClr val="accent6"/>
                </a:solidFill>
              </a:rPr>
              <a:t>foreign key </a:t>
            </a:r>
            <a:r>
              <a:rPr lang="en-US" altLang="en-US" dirty="0"/>
              <a:t>is an attribute (or collection of attributes) in one relation that uniquely identifies a tuple of another relation </a:t>
            </a:r>
            <a:r>
              <a:rPr lang="en-US" altLang="en-US" i="1" dirty="0"/>
              <a:t>(a primary key in another relation)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37DB77-336D-4289-B098-C95CB14ABC82}"/>
              </a:ext>
            </a:extLst>
          </p:cNvPr>
          <p:cNvSpPr txBox="1"/>
          <p:nvPr/>
        </p:nvSpPr>
        <p:spPr>
          <a:xfrm>
            <a:off x="205689" y="6397937"/>
            <a:ext cx="18708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Relational Model</a:t>
            </a:r>
          </a:p>
        </p:txBody>
      </p:sp>
    </p:spTree>
    <p:extLst>
      <p:ext uri="{BB962C8B-B14F-4D97-AF65-F5344CB8AC3E}">
        <p14:creationId xmlns:p14="http://schemas.microsoft.com/office/powerpoint/2010/main" val="407700302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57CAC-D1C0-4577-B030-6ADEC5F7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F3604-D015-48AD-AD11-C0C664B04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Standard language of relational database access is SQL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(Structured Query Language)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﻿﻿</a:t>
            </a:r>
            <a:r>
              <a:rPr lang="en-US" b="0" i="0" dirty="0">
                <a:solidFill>
                  <a:schemeClr val="accent6"/>
                </a:solidFill>
                <a:effectLst/>
                <a:ea typeface="Verdana" panose="020B0604030504040204" pitchFamily="34" charset="0"/>
              </a:rPr>
              <a:t>Data Definition Language (DDL): </a:t>
            </a: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defines properties of data objects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sz="2000" i="1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CREATE, ALTER, DROP, TRANSFER OWNERSHIP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﻿﻿</a:t>
            </a:r>
            <a:r>
              <a:rPr lang="en-US" b="0" i="0" dirty="0">
                <a:solidFill>
                  <a:schemeClr val="accent6"/>
                </a:solidFill>
                <a:effectLst/>
                <a:ea typeface="Verdana" panose="020B0604030504040204" pitchFamily="34" charset="0"/>
              </a:rPr>
              <a:t>Data Manipulation Language (DML): </a:t>
            </a: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used to retrieve, add, edit and delete data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sz="2000" b="0" i="1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SELECT, INSERT, UPDATE, DELETE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﻿﻿</a:t>
            </a:r>
            <a:r>
              <a:rPr lang="en-US" b="0" i="0" dirty="0">
                <a:solidFill>
                  <a:schemeClr val="accent6"/>
                </a:solidFill>
                <a:effectLst/>
                <a:ea typeface="Verdana" panose="020B0604030504040204" pitchFamily="34" charset="0"/>
              </a:rPr>
              <a:t>Data Control Language (DCL): ﻿</a:t>
            </a: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controls access to databases and data objects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sz="2000" b="0" i="1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GRANT, REVOKE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﻿﻿</a:t>
            </a:r>
            <a:r>
              <a:rPr lang="en-US" b="0" i="0" dirty="0">
                <a:solidFill>
                  <a:schemeClr val="accent6"/>
                </a:solidFill>
                <a:effectLst/>
                <a:ea typeface="Verdana" panose="020B0604030504040204" pitchFamily="34" charset="0"/>
              </a:rPr>
              <a:t>Transaction Control Languages (TCL):</a:t>
            </a:r>
            <a:r>
              <a:rPr lang="en-US" dirty="0">
                <a:solidFill>
                  <a:schemeClr val="accent6"/>
                </a:solidFill>
                <a:ea typeface="Verdana" panose="020B0604030504040204" pitchFamily="34" charset="0"/>
              </a:rPr>
              <a:t> </a:t>
            </a: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groups DML statements into transactions that can collectively be applied to a database or undone in the event of a failure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sz="2000" b="0" i="1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COMMIT, ROLLBACK, SAVEPOINT</a:t>
            </a:r>
            <a:endParaRPr lang="en-US" b="0" i="1" dirty="0">
              <a:solidFill>
                <a:srgbClr val="222222"/>
              </a:solidFill>
              <a:effectLst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A44B2-A612-43A4-92D2-BFB1674F40EA}"/>
              </a:ext>
            </a:extLst>
          </p:cNvPr>
          <p:cNvSpPr txBox="1"/>
          <p:nvPr/>
        </p:nvSpPr>
        <p:spPr>
          <a:xfrm>
            <a:off x="205689" y="6397937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339990700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5AF0-9DFB-4F02-9166-13D81E845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C1D10-7C22-426D-9C79-9DDE67270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city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state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STATE (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state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(state) 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CITY (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city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VARCHAR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statename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(city),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FOREIGN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(statename)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REFERENCES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STATE(state)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CASCADE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100" b="1" dirty="0">
              <a:solidFill>
                <a:srgbClr val="8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state (state)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'FL'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city (city, statename)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'Miami'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'FL’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city (city, statename)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‘Orlando'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'FL’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--What if we change the order on insertion?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318A6E-7C72-44C2-B962-38B22B4BA74F}"/>
              </a:ext>
            </a:extLst>
          </p:cNvPr>
          <p:cNvSpPr txBox="1"/>
          <p:nvPr/>
        </p:nvSpPr>
        <p:spPr>
          <a:xfrm>
            <a:off x="3888149" y="4308296"/>
            <a:ext cx="4415701" cy="400110"/>
          </a:xfrm>
          <a:prstGeom prst="rect">
            <a:avLst/>
          </a:prstGeom>
          <a:solidFill>
            <a:srgbClr val="FFC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Referential Integrity Constraints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8ADD69-6725-4927-AD60-FB12A55FBA00}"/>
              </a:ext>
            </a:extLst>
          </p:cNvPr>
          <p:cNvCxnSpPr>
            <a:cxnSpLocks/>
          </p:cNvCxnSpPr>
          <p:nvPr/>
        </p:nvCxnSpPr>
        <p:spPr bwMode="auto">
          <a:xfrm>
            <a:off x="914400" y="4581884"/>
            <a:ext cx="2351744" cy="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E26D61D-F8FF-4516-AD51-9E91778DCCE6}"/>
              </a:ext>
            </a:extLst>
          </p:cNvPr>
          <p:cNvSpPr txBox="1"/>
          <p:nvPr/>
        </p:nvSpPr>
        <p:spPr>
          <a:xfrm>
            <a:off x="6096000" y="2743200"/>
            <a:ext cx="5943600" cy="400110"/>
          </a:xfrm>
          <a:prstGeom prst="rect">
            <a:avLst/>
          </a:prstGeom>
          <a:noFill/>
          <a:ln w="15875">
            <a:solidFill>
              <a:srgbClr val="FF9933"/>
            </a:solidFill>
          </a:ln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STATE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state = 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'FL'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F29CCB-7F80-D704-8115-08ED845FCBE4}"/>
              </a:ext>
            </a:extLst>
          </p:cNvPr>
          <p:cNvCxnSpPr/>
          <p:nvPr/>
        </p:nvCxnSpPr>
        <p:spPr bwMode="auto">
          <a:xfrm>
            <a:off x="2895600" y="2286000"/>
            <a:ext cx="990600" cy="0"/>
          </a:xfrm>
          <a:prstGeom prst="line">
            <a:avLst/>
          </a:prstGeom>
          <a:noFill/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43A3B8-9ADA-8B85-6DD6-5F68784AC06D}"/>
              </a:ext>
            </a:extLst>
          </p:cNvPr>
          <p:cNvCxnSpPr>
            <a:cxnSpLocks/>
          </p:cNvCxnSpPr>
          <p:nvPr/>
        </p:nvCxnSpPr>
        <p:spPr bwMode="auto">
          <a:xfrm>
            <a:off x="789902" y="2590800"/>
            <a:ext cx="2362200" cy="0"/>
          </a:xfrm>
          <a:prstGeom prst="line">
            <a:avLst/>
          </a:prstGeom>
          <a:noFill/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02230181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Referential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226" y="931863"/>
            <a:ext cx="9996699" cy="53165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DBMS ensures data integrity if rows in a referenced table are to be </a:t>
            </a:r>
            <a:r>
              <a:rPr lang="en-US" dirty="0">
                <a:solidFill>
                  <a:srgbClr val="C00000"/>
                </a:solidFill>
              </a:rPr>
              <a:t>deleted</a:t>
            </a:r>
            <a:r>
              <a:rPr lang="en-US" dirty="0"/>
              <a:t> (or </a:t>
            </a:r>
            <a:r>
              <a:rPr lang="en-US" dirty="0">
                <a:solidFill>
                  <a:srgbClr val="D6A300"/>
                </a:solidFill>
              </a:rPr>
              <a:t>updated</a:t>
            </a:r>
            <a:r>
              <a:rPr lang="en-US" dirty="0"/>
              <a:t>)</a:t>
            </a:r>
          </a:p>
          <a:p>
            <a:r>
              <a:rPr lang="en-US" b="1" dirty="0"/>
              <a:t>SET NULL</a:t>
            </a:r>
            <a:r>
              <a:rPr lang="en-US" dirty="0"/>
              <a:t>: delete or update the row from the parent table and set the foreign key column or columns in the child table to NULL</a:t>
            </a:r>
          </a:p>
          <a:p>
            <a:r>
              <a:rPr lang="en-US" b="1" dirty="0"/>
              <a:t>RESTRICT</a:t>
            </a:r>
            <a:r>
              <a:rPr lang="en-US" dirty="0"/>
              <a:t>: rejects the delete or update operation for the parent table (immediate check). Specifying RESTRICT, like omitting the ON DELETE or ON UPDATE clause</a:t>
            </a:r>
          </a:p>
          <a:p>
            <a:r>
              <a:rPr lang="en-US" b="1" dirty="0"/>
              <a:t>NO ACTION</a:t>
            </a:r>
            <a:r>
              <a:rPr lang="en-US" dirty="0"/>
              <a:t>: same as RESTRICT, except that the referential integrity check is delayed AFTER trying to alter the table</a:t>
            </a:r>
          </a:p>
          <a:p>
            <a:r>
              <a:rPr lang="en-US" sz="2200" b="1" dirty="0"/>
              <a:t>CASCADE: </a:t>
            </a:r>
            <a:r>
              <a:rPr lang="en-US" sz="2200" dirty="0"/>
              <a:t>Delete or update the row from the parent table and automatically delete or update the matching rows in the child table</a:t>
            </a:r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CA76FC-865D-4338-B596-AF85FA0C78D4}"/>
              </a:ext>
            </a:extLst>
          </p:cNvPr>
          <p:cNvSpPr txBox="1"/>
          <p:nvPr/>
        </p:nvSpPr>
        <p:spPr>
          <a:xfrm>
            <a:off x="205689" y="6397937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SQL</a:t>
            </a:r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7DF44B50-B439-38DD-82CC-94CEE1443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1094430"/>
            <a:ext cx="1997075" cy="493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6B39EF-630C-63AD-E73C-8141732264ED}"/>
              </a:ext>
            </a:extLst>
          </p:cNvPr>
          <p:cNvSpPr txBox="1"/>
          <p:nvPr/>
        </p:nvSpPr>
        <p:spPr>
          <a:xfrm>
            <a:off x="10591800" y="1161810"/>
            <a:ext cx="1143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6E318A-FC36-EE3C-1E2F-02B793C31429}"/>
              </a:ext>
            </a:extLst>
          </p:cNvPr>
          <p:cNvSpPr txBox="1"/>
          <p:nvPr/>
        </p:nvSpPr>
        <p:spPr>
          <a:xfrm>
            <a:off x="10744200" y="4233086"/>
            <a:ext cx="838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city</a:t>
            </a:r>
          </a:p>
        </p:txBody>
      </p:sp>
    </p:spTree>
    <p:extLst>
      <p:ext uri="{BB962C8B-B14F-4D97-AF65-F5344CB8AC3E}">
        <p14:creationId xmlns:p14="http://schemas.microsoft.com/office/powerpoint/2010/main" val="407490634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SELECT Statement - Six Clauses</a:t>
            </a:r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A654F-05AD-4ECE-973E-DD8613BC3D60}"/>
              </a:ext>
            </a:extLst>
          </p:cNvPr>
          <p:cNvSpPr txBox="1"/>
          <p:nvPr/>
        </p:nvSpPr>
        <p:spPr>
          <a:xfrm>
            <a:off x="152400" y="1076980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employee ( </a:t>
            </a:r>
            <a:r>
              <a:rPr lang="en-US" sz="2400" u="sng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empno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 workdept, salary, … );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1486AE-6EBB-41AA-8B52-AAD3C7FFEAFE}"/>
              </a:ext>
            </a:extLst>
          </p:cNvPr>
          <p:cNvSpPr txBox="1"/>
          <p:nvPr/>
        </p:nvSpPr>
        <p:spPr>
          <a:xfrm>
            <a:off x="205689" y="6397937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SQL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193256-69C4-835D-2D6B-474B56F73C15}"/>
              </a:ext>
            </a:extLst>
          </p:cNvPr>
          <p:cNvSpPr txBox="1"/>
          <p:nvPr/>
        </p:nvSpPr>
        <p:spPr>
          <a:xfrm>
            <a:off x="205690" y="5715000"/>
            <a:ext cx="117027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Columns appearing in </a:t>
            </a:r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</a:rPr>
              <a:t>ORDER BY 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and </a:t>
            </a:r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</a:rPr>
              <a:t>GROUP BY </a:t>
            </a:r>
            <a:r>
              <a:rPr lang="en-US" sz="22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MUST 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appear in SELECT!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52B0-E099-65EB-CC75-43D33BF734D2}"/>
              </a:ext>
            </a:extLst>
          </p:cNvPr>
          <p:cNvCxnSpPr/>
          <p:nvPr/>
        </p:nvCxnSpPr>
        <p:spPr bwMode="auto">
          <a:xfrm>
            <a:off x="2819400" y="3276600"/>
            <a:ext cx="1447800" cy="0"/>
          </a:xfrm>
          <a:prstGeom prst="line">
            <a:avLst/>
          </a:prstGeom>
          <a:noFill/>
          <a:ln w="19050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F6084DD-2BF2-1742-A277-B237A1DA8182}"/>
              </a:ext>
            </a:extLst>
          </p:cNvPr>
          <p:cNvSpPr txBox="1"/>
          <p:nvPr/>
        </p:nvSpPr>
        <p:spPr>
          <a:xfrm>
            <a:off x="1021845" y="1804179"/>
            <a:ext cx="82745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workdept, 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(salary) </a:t>
            </a:r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avgsal </a:t>
            </a:r>
          </a:p>
          <a:p>
            <a:pPr algn="l"/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employee</a:t>
            </a:r>
          </a:p>
          <a:p>
            <a:pPr algn="l"/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hiredate &gt;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'2000-01-01'</a:t>
            </a:r>
          </a:p>
          <a:p>
            <a:pPr algn="l"/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workdept</a:t>
            </a:r>
          </a:p>
          <a:p>
            <a:pPr algn="l"/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(empno) &gt;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pPr algn="l"/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avgsal </a:t>
            </a:r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F1B0E0-023F-A752-15E5-204012F67A14}"/>
              </a:ext>
            </a:extLst>
          </p:cNvPr>
          <p:cNvCxnSpPr>
            <a:cxnSpLocks/>
          </p:cNvCxnSpPr>
          <p:nvPr/>
        </p:nvCxnSpPr>
        <p:spPr bwMode="auto">
          <a:xfrm>
            <a:off x="2438400" y="2190670"/>
            <a:ext cx="1447800" cy="0"/>
          </a:xfrm>
          <a:prstGeom prst="line">
            <a:avLst/>
          </a:prstGeom>
          <a:noFill/>
          <a:ln w="19050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F7BED22E-EE59-25E9-CC62-0D5EB5124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97" y="4149096"/>
            <a:ext cx="2606806" cy="1460004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56110425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8352C-951F-D223-630E-37D64EA5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F5E64D-F732-D2A9-286E-1E78C11C7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383791190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9611-3A06-4E18-9AFB-7FD4D02C1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Comparisons Involving NULL and Three-Valued Logic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5BA19-F069-4B19-8118-FACCD9D77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Meanings of NULL (case </a:t>
            </a:r>
            <a:r>
              <a:rPr lang="en-US" dirty="0">
                <a:solidFill>
                  <a:schemeClr val="accent6"/>
                </a:solidFill>
              </a:rPr>
              <a:t>insensitive</a:t>
            </a:r>
            <a:r>
              <a:rPr lang="en-US" dirty="0"/>
              <a:t>: null, Null, …)</a:t>
            </a:r>
          </a:p>
          <a:p>
            <a:pPr lvl="1"/>
            <a:r>
              <a:rPr lang="en-US" dirty="0"/>
              <a:t>Unknown value</a:t>
            </a:r>
          </a:p>
          <a:p>
            <a:pPr lvl="1"/>
            <a:r>
              <a:rPr lang="en-US" dirty="0"/>
              <a:t>Unavailable or withheld value</a:t>
            </a:r>
          </a:p>
          <a:p>
            <a:pPr lvl="1"/>
            <a:r>
              <a:rPr lang="en-US" dirty="0"/>
              <a:t>Not applicable attribute</a:t>
            </a:r>
          </a:p>
          <a:p>
            <a:r>
              <a:rPr lang="en-US" dirty="0"/>
              <a:t>Each individual NULL value considered to be different from every other NULL value</a:t>
            </a:r>
          </a:p>
          <a:p>
            <a:r>
              <a:rPr lang="en-US" dirty="0"/>
              <a:t>SQL uses a three-value logic: </a:t>
            </a:r>
          </a:p>
          <a:p>
            <a:pPr lvl="1"/>
            <a:r>
              <a:rPr lang="en-US" dirty="0"/>
              <a:t>TRUE, FALSE, and UNKNOWN </a:t>
            </a:r>
          </a:p>
          <a:p>
            <a:pPr lvl="1"/>
            <a:r>
              <a:rPr lang="en-US" dirty="0"/>
              <a:t>“NULL = 5” evaluates to UNKNOWN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C8F31D-EA3E-41F7-B9AF-B6A250C0B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104" y="3657600"/>
            <a:ext cx="4432368" cy="3167907"/>
          </a:xfrm>
          <a:prstGeom prst="rect">
            <a:avLst/>
          </a:prstGeom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D3A19C-F6F8-443E-9769-03F09A3E128F}"/>
              </a:ext>
            </a:extLst>
          </p:cNvPr>
          <p:cNvSpPr txBox="1"/>
          <p:nvPr/>
        </p:nvSpPr>
        <p:spPr>
          <a:xfrm>
            <a:off x="205689" y="6397937"/>
            <a:ext cx="716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63951590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3DFF3-2D02-4F45-BBCF-4CD6D14A5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Comparisons Involving NULL and Three-Valued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E32D1-24DC-4241-9AD7-0DD8A3122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/>
              </a:rPr>
              <a:t>(</a:t>
            </a:r>
            <a:r>
              <a:rPr lang="en-US" b="1" dirty="0">
                <a:solidFill>
                  <a:srgbClr val="FFA7A7"/>
                </a:solidFill>
                <a:effectLst/>
              </a:rPr>
              <a:t>F, false;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U, unknown/NULL</a:t>
            </a:r>
            <a:r>
              <a:rPr lang="en-US" dirty="0">
                <a:effectLst/>
              </a:rPr>
              <a:t>; </a:t>
            </a:r>
            <a:r>
              <a:rPr lang="en-US" b="1" dirty="0">
                <a:solidFill>
                  <a:srgbClr val="19FF19"/>
                </a:solidFill>
                <a:effectLst/>
              </a:rPr>
              <a:t>T, true</a:t>
            </a:r>
            <a:r>
              <a:rPr lang="en-US" dirty="0">
                <a:effectLst/>
              </a:rPr>
              <a:t>)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B26BA-EF52-4CFE-BF92-D13CD1F05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16" y="1694393"/>
            <a:ext cx="12016102" cy="42906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5FF3DE-DEFB-4766-B3D3-893A72A42756}"/>
              </a:ext>
            </a:extLst>
          </p:cNvPr>
          <p:cNvSpPr txBox="1"/>
          <p:nvPr/>
        </p:nvSpPr>
        <p:spPr>
          <a:xfrm>
            <a:off x="205689" y="6397937"/>
            <a:ext cx="716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NULL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B49EA9-ED16-63E6-0960-2BFBBFBB92E2}"/>
              </a:ext>
            </a:extLst>
          </p:cNvPr>
          <p:cNvSpPr/>
          <p:nvPr/>
        </p:nvSpPr>
        <p:spPr bwMode="auto">
          <a:xfrm>
            <a:off x="274192" y="2945018"/>
            <a:ext cx="1847930" cy="685800"/>
          </a:xfrm>
          <a:prstGeom prst="rect">
            <a:avLst/>
          </a:prstGeom>
          <a:solidFill>
            <a:srgbClr val="FFFF00">
              <a:alpha val="32000"/>
            </a:srgbClr>
          </a:solidFill>
          <a:ln w="12700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CBC46A-CDA0-7089-6DBB-9A058F0830CF}"/>
              </a:ext>
            </a:extLst>
          </p:cNvPr>
          <p:cNvSpPr/>
          <p:nvPr/>
        </p:nvSpPr>
        <p:spPr bwMode="auto">
          <a:xfrm>
            <a:off x="2438400" y="2232118"/>
            <a:ext cx="1828800" cy="1398700"/>
          </a:xfrm>
          <a:prstGeom prst="rect">
            <a:avLst/>
          </a:prstGeom>
          <a:solidFill>
            <a:srgbClr val="FFFF00">
              <a:alpha val="32000"/>
            </a:srgbClr>
          </a:solidFill>
          <a:ln w="12700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359167-BE81-3965-7395-DD1A6126E5C0}"/>
              </a:ext>
            </a:extLst>
          </p:cNvPr>
          <p:cNvSpPr/>
          <p:nvPr/>
        </p:nvSpPr>
        <p:spPr bwMode="auto">
          <a:xfrm>
            <a:off x="7391400" y="2229417"/>
            <a:ext cx="1828800" cy="1398700"/>
          </a:xfrm>
          <a:prstGeom prst="rect">
            <a:avLst/>
          </a:prstGeom>
          <a:solidFill>
            <a:srgbClr val="FFFF00">
              <a:alpha val="32000"/>
            </a:srgbClr>
          </a:solidFill>
          <a:ln w="12700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0989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F28AA-ED83-D98B-C6DF-4695A531A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NULL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FA005-A6AE-988C-E919-74907EAFA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26" y="931863"/>
            <a:ext cx="9021974" cy="5316538"/>
          </a:xfrm>
          <a:noFill/>
          <a:ln w="12700">
            <a:noFill/>
          </a:ln>
        </p:spPr>
        <p:txBody>
          <a:bodyPr lIns="91440"/>
          <a:lstStyle/>
          <a:p>
            <a:pPr marL="0" indent="0">
              <a:buNone/>
            </a:pP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emp(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empno </a:t>
            </a:r>
            <a:r>
              <a:rPr lang="en-US" sz="19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9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 </a:t>
            </a:r>
            <a:r>
              <a:rPr lang="en-US" sz="19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VARCHAR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9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dept  </a:t>
            </a:r>
            <a:r>
              <a:rPr lang="en-US" sz="19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VARCHAR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9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salary </a:t>
            </a:r>
            <a:r>
              <a:rPr lang="en-US" sz="19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DECIMAL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9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9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9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 </a:t>
            </a: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9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'111111111'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9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'Joe'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9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''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9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90000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 </a:t>
            </a: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9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'222222222'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9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'Bob'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9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'CS'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9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100000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 </a:t>
            </a: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9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'333333'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9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'Alice'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 </a:t>
            </a: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9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'4444'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9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'Mary'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9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80000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</a:t>
            </a:r>
            <a:r>
              <a:rPr lang="en-US" sz="1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19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9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295D29-631D-FF18-6E5C-A304F40183F0}"/>
              </a:ext>
            </a:extLst>
          </p:cNvPr>
          <p:cNvSpPr txBox="1"/>
          <p:nvPr/>
        </p:nvSpPr>
        <p:spPr>
          <a:xfrm>
            <a:off x="213572" y="5221875"/>
            <a:ext cx="822960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</a:bodyPr>
          <a:lstStyle>
            <a:lvl1pPr indent="0" fontAlgn="base">
              <a:spcBef>
                <a:spcPts val="300"/>
              </a:spcBef>
              <a:spcAft>
                <a:spcPts val="300"/>
              </a:spcAft>
              <a:buNone/>
              <a:defRPr b="1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742950" indent="-285750" fontAlgn="base">
              <a:spcBef>
                <a:spcPct val="20000"/>
              </a:spcBef>
              <a:spcAft>
                <a:spcPts val="300"/>
              </a:spcAft>
              <a:buChar char="–"/>
              <a:defRPr sz="2200">
                <a:latin typeface="Verdana" pitchFamily="34" charset="0"/>
              </a:defRPr>
            </a:lvl2pPr>
            <a:lvl3pPr marL="1143000" indent="-228600" fontAlgn="base">
              <a:spcBef>
                <a:spcPct val="20000"/>
              </a:spcBef>
              <a:spcAft>
                <a:spcPts val="300"/>
              </a:spcAft>
              <a:buChar char="•"/>
              <a:defRPr>
                <a:latin typeface="Verdana" pitchFamily="34" charset="0"/>
              </a:defRPr>
            </a:lvl3pPr>
            <a:lvl4pPr marL="1600200" indent="-228600" fontAlgn="base">
              <a:spcBef>
                <a:spcPct val="20000"/>
              </a:spcBef>
              <a:spcAft>
                <a:spcPts val="300"/>
              </a:spcAft>
              <a:buChar char="–"/>
              <a:defRPr sz="1600">
                <a:latin typeface="Verdana" pitchFamily="34" charset="0"/>
              </a:defRPr>
            </a:lvl4pPr>
            <a:lvl5pPr marL="2057400" indent="-228600" fontAlgn="base">
              <a:spcBef>
                <a:spcPct val="20000"/>
              </a:spcBef>
              <a:spcAft>
                <a:spcPts val="300"/>
              </a:spcAft>
              <a:buChar char="»"/>
              <a:defRPr sz="1500">
                <a:solidFill>
                  <a:srgbClr val="003399"/>
                </a:solidFill>
                <a:latin typeface="Verdana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9pPr>
          </a:lstStyle>
          <a:p>
            <a:r>
              <a:rPr lang="en-US" sz="1900" dirty="0"/>
              <a:t>SELECT * FROM emp WHERE dept IS NULL;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FE79CEB-B086-B704-DAA7-C740178B7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766" y="937356"/>
            <a:ext cx="3689300" cy="1503349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3ECC9D-226F-2BBA-1642-DA04C8DDC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518" y="4326474"/>
            <a:ext cx="3666982" cy="919785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F974C3C-0694-690F-513E-1E5D1103EEE2}"/>
              </a:ext>
            </a:extLst>
          </p:cNvPr>
          <p:cNvSpPr txBox="1"/>
          <p:nvPr/>
        </p:nvSpPr>
        <p:spPr>
          <a:xfrm>
            <a:off x="205689" y="6397937"/>
            <a:ext cx="716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17836297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5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25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A4001-DDE6-4391-D80B-D8D908738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42C1B-2654-914E-8F97-1C81DCD6A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00"/>
              </a:spcBef>
            </a:pPr>
            <a:r>
              <a:rPr lang="en-US" dirty="0">
                <a:ea typeface="Verdana" panose="020B0604030504040204" pitchFamily="34" charset="0"/>
              </a:rPr>
              <a:t>Primary key cannot be null: 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22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empno </a:t>
            </a:r>
            <a:r>
              <a:rPr lang="en-US" b="1" dirty="0">
                <a:solidFill>
                  <a:srgbClr val="80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VARCHAR(8) </a:t>
            </a:r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NOT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NULL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PRIMARY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KEY</a:t>
            </a:r>
            <a:endParaRPr lang="en-US" sz="2200" b="1" dirty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>
              <a:spcBef>
                <a:spcPts val="500"/>
              </a:spcBef>
            </a:pPr>
            <a:r>
              <a:rPr lang="en-US" dirty="0">
                <a:ea typeface="Verdana" panose="020B0604030504040204" pitchFamily="34" charset="0"/>
              </a:rPr>
              <a:t>Nulls are considered to be equal when duplicates 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dirty="0">
                <a:ea typeface="Verdana" panose="020B0604030504040204" pitchFamily="34" charset="0"/>
              </a:rPr>
              <a:t> are eliminated by SELECT DISTINCT or COUNT (DISTINCT column)</a:t>
            </a:r>
          </a:p>
          <a:p>
            <a:pPr algn="l">
              <a:spcBef>
                <a:spcPts val="100"/>
              </a:spcBef>
            </a:pPr>
            <a:endParaRPr lang="en-US" sz="1800" dirty="0">
              <a:ea typeface="Verdana" panose="020B0604030504040204" pitchFamily="34" charset="0"/>
            </a:endParaRPr>
          </a:p>
          <a:p>
            <a:pPr algn="l">
              <a:spcBef>
                <a:spcPts val="100"/>
              </a:spcBef>
            </a:pPr>
            <a:endParaRPr lang="en-US" sz="2200" dirty="0">
              <a:ea typeface="Verdana" panose="020B0604030504040204" pitchFamily="34" charset="0"/>
            </a:endParaRPr>
          </a:p>
          <a:p>
            <a:pPr marL="0" indent="0" algn="l">
              <a:spcBef>
                <a:spcPts val="100"/>
              </a:spcBef>
              <a:buNone/>
            </a:pPr>
            <a:endParaRPr lang="en-US" sz="1200" dirty="0">
              <a:ea typeface="Verdana" panose="020B0604030504040204" pitchFamily="34" charset="0"/>
            </a:endParaRPr>
          </a:p>
          <a:p>
            <a:pPr marL="0" indent="0" algn="l">
              <a:spcBef>
                <a:spcPts val="100"/>
              </a:spcBef>
              <a:buNone/>
            </a:pPr>
            <a:endParaRPr lang="en-US" sz="100" dirty="0">
              <a:ea typeface="Verdana" panose="020B0604030504040204" pitchFamily="34" charset="0"/>
            </a:endParaRPr>
          </a:p>
          <a:p>
            <a:pPr algn="l">
              <a:spcBef>
                <a:spcPts val="500"/>
              </a:spcBef>
            </a:pPr>
            <a:r>
              <a:rPr lang="en-US" sz="2200" dirty="0">
                <a:ea typeface="Verdana" panose="020B0604030504040204" pitchFamily="34" charset="0"/>
              </a:rPr>
              <a:t>The AVG, COUNT DISTINCT, SUM, MAX, and MIN functions omit column occurrences set to null</a:t>
            </a:r>
          </a:p>
          <a:p>
            <a:pPr marL="0" indent="0" algn="l">
              <a:spcBef>
                <a:spcPts val="100"/>
              </a:spcBef>
              <a:buNone/>
            </a:pPr>
            <a:endParaRPr lang="en-US" dirty="0"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C80836-09D5-2A39-4C2C-019AA25F3009}"/>
              </a:ext>
            </a:extLst>
          </p:cNvPr>
          <p:cNvSpPr txBox="1"/>
          <p:nvPr/>
        </p:nvSpPr>
        <p:spPr>
          <a:xfrm>
            <a:off x="590150" y="4473714"/>
            <a:ext cx="7182250" cy="707886"/>
          </a:xfrm>
          <a:prstGeom prst="rect">
            <a:avLst/>
          </a:prstGeom>
          <a:noFill/>
          <a:ln w="15875">
            <a:solidFill>
              <a:schemeClr val="bg2"/>
            </a:solidFill>
          </a:ln>
        </p:spPr>
        <p:txBody>
          <a:bodyPr wrap="square" rIns="0" rtlCol="0">
            <a:spAutoFit/>
          </a:bodyPr>
          <a:lstStyle/>
          <a:p>
            <a:pPr algn="l"/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(salary)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avgsal</a:t>
            </a:r>
            <a:endParaRPr lang="en-US" sz="20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69651-F7E5-22AA-1AAD-6C5BAB31A70B}"/>
              </a:ext>
            </a:extLst>
          </p:cNvPr>
          <p:cNvSpPr txBox="1"/>
          <p:nvPr/>
        </p:nvSpPr>
        <p:spPr>
          <a:xfrm>
            <a:off x="572296" y="2721114"/>
            <a:ext cx="7182250" cy="707886"/>
          </a:xfrm>
          <a:prstGeom prst="rect">
            <a:avLst/>
          </a:prstGeom>
          <a:noFill/>
          <a:ln w="15875"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DISTINCT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dept </a:t>
            </a:r>
          </a:p>
          <a:p>
            <a:pPr algn="l"/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9AB572-B295-AC8A-F09B-3A2A50475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665" y="2758786"/>
            <a:ext cx="1464733" cy="838200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42F56F-6B18-A12F-064C-C07A431C97DF}"/>
              </a:ext>
            </a:extLst>
          </p:cNvPr>
          <p:cNvSpPr txBox="1"/>
          <p:nvPr/>
        </p:nvSpPr>
        <p:spPr>
          <a:xfrm>
            <a:off x="590150" y="5334000"/>
            <a:ext cx="7182250" cy="707886"/>
          </a:xfrm>
          <a:prstGeom prst="rect">
            <a:avLst/>
          </a:prstGeom>
          <a:noFill/>
          <a:ln w="15875">
            <a:solidFill>
              <a:schemeClr val="bg2"/>
            </a:solidFill>
          </a:ln>
        </p:spPr>
        <p:txBody>
          <a:bodyPr wrap="square" rIns="0" rtlCol="0">
            <a:spAutoFit/>
          </a:bodyPr>
          <a:lstStyle/>
          <a:p>
            <a:pPr algn="l"/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DISTINCT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dept)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deptcount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l"/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0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FE361B-A802-693F-EDC2-EE21AB801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5337826"/>
            <a:ext cx="1379767" cy="677108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2850D0-77EE-A47E-4974-F70FDA0B630E}"/>
              </a:ext>
            </a:extLst>
          </p:cNvPr>
          <p:cNvSpPr txBox="1"/>
          <p:nvPr/>
        </p:nvSpPr>
        <p:spPr>
          <a:xfrm>
            <a:off x="7786979" y="679885"/>
            <a:ext cx="6832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9933"/>
                </a:solidFill>
              </a:rPr>
              <a:t>emp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EB3340-5B87-DBAD-1880-669767192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1049" y="228600"/>
            <a:ext cx="3689300" cy="1503349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A7AA3C-89D4-B5B6-378D-2054089BBD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4452877"/>
            <a:ext cx="1019301" cy="652523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1E2A43C-66B6-4ED8-884D-7BBB9F37C22E}"/>
              </a:ext>
            </a:extLst>
          </p:cNvPr>
          <p:cNvSpPr txBox="1"/>
          <p:nvPr/>
        </p:nvSpPr>
        <p:spPr>
          <a:xfrm>
            <a:off x="205689" y="6397937"/>
            <a:ext cx="716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139282102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81F71-2D59-4C17-37C4-647E2E13A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9861E-54F3-65B3-ECFD-82AABFB4F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27E06-E90E-9167-990C-E1F27B405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</a:pPr>
            <a:r>
              <a:rPr lang="en-US" dirty="0">
                <a:ea typeface="Verdana" panose="020B0604030504040204" pitchFamily="34" charset="0"/>
              </a:rPr>
              <a:t>For comparison in a SELECT statement, two null columns are not considered equal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X: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dept = NULL  </a:t>
            </a:r>
          </a:p>
          <a:p>
            <a:pPr marL="0" indent="0">
              <a:spcBef>
                <a:spcPts val="300"/>
              </a:spcBef>
              <a:buNone/>
            </a:pPr>
            <a:endParaRPr lang="en-US" sz="1800" dirty="0">
              <a:solidFill>
                <a:srgbClr val="FF0000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</a:pPr>
            <a:r>
              <a:rPr lang="en-US" dirty="0">
                <a:ea typeface="Verdana" panose="020B0604030504040204" pitchFamily="34" charset="0"/>
              </a:rPr>
              <a:t>When a nullable column participates in a calculation, the result is null: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DUAL</a:t>
            </a:r>
            <a:r>
              <a:rPr lang="en-US" sz="22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dirty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</a:pPr>
            <a:r>
              <a:rPr lang="en-US" dirty="0">
                <a:ea typeface="Verdana" panose="020B0604030504040204" pitchFamily="34" charset="0"/>
              </a:rPr>
              <a:t>Invalid to test if a column is &lt;&gt; NULL, or &gt;= NULL (only logic operation allowed)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800" dirty="0">
                <a:solidFill>
                  <a:srgbClr val="FF0000"/>
                </a:solidFill>
                <a:ea typeface="Verdana" panose="020B0604030504040204" pitchFamily="34" charset="0"/>
              </a:rPr>
              <a:t>   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X: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dept &lt;&gt; NULL      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  <a:sym typeface="Wingdings" panose="05000000000000000000" pitchFamily="2" charset="2"/>
              </a:rPr>
              <a:t>   : </a:t>
            </a: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  <a:sym typeface="Wingdings" panose="05000000000000000000" pitchFamily="2" charset="2"/>
              </a:rPr>
              <a:t>IS NOT NULL</a:t>
            </a:r>
            <a:endParaRPr lang="en-US" dirty="0">
              <a:solidFill>
                <a:srgbClr val="008000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0" indent="0" algn="l">
              <a:spcBef>
                <a:spcPts val="300"/>
              </a:spcBef>
              <a:buNone/>
            </a:pPr>
            <a:endParaRPr lang="en-US" dirty="0"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7659B-200B-A272-3286-D41E616C33DA}"/>
              </a:ext>
            </a:extLst>
          </p:cNvPr>
          <p:cNvSpPr txBox="1"/>
          <p:nvPr/>
        </p:nvSpPr>
        <p:spPr>
          <a:xfrm>
            <a:off x="205689" y="6397937"/>
            <a:ext cx="716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17434806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A0494-7A68-74BA-6062-D966A6F8F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E13B7A-6587-0DFE-8250-84C46F6E3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Operations</a:t>
            </a:r>
          </a:p>
        </p:txBody>
      </p:sp>
    </p:spTree>
    <p:extLst>
      <p:ext uri="{BB962C8B-B14F-4D97-AF65-F5344CB8AC3E}">
        <p14:creationId xmlns:p14="http://schemas.microsoft.com/office/powerpoint/2010/main" val="142266233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703BB-EE0F-1BD9-F275-E073C1FF0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9B283-0B23-52D0-0326-543B2B4C2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25" y="931863"/>
            <a:ext cx="11908475" cy="820737"/>
          </a:xfrm>
        </p:spPr>
        <p:txBody>
          <a:bodyPr/>
          <a:lstStyle/>
          <a:p>
            <a:r>
              <a:rPr lang="en-US" dirty="0"/>
              <a:t>SQL set operations combine the results of multiple query blocks into a single result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07C69B20-599C-280D-45C2-E0CC2FF4F5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69" b="3155"/>
          <a:stretch/>
        </p:blipFill>
        <p:spPr bwMode="auto">
          <a:xfrm>
            <a:off x="6945471" y="1981200"/>
            <a:ext cx="5059410" cy="3502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3730FC3-D562-902D-A597-B9A000407555}"/>
              </a:ext>
            </a:extLst>
          </p:cNvPr>
          <p:cNvSpPr txBox="1">
            <a:spLocks/>
          </p:cNvSpPr>
          <p:nvPr/>
        </p:nvSpPr>
        <p:spPr bwMode="auto">
          <a:xfrm>
            <a:off x="198226" y="1752601"/>
            <a:ext cx="6583574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ts val="300"/>
              </a:spcAft>
              <a:buChar char="•"/>
              <a:defRPr sz="24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ts val="300"/>
              </a:spcAft>
              <a:buChar char="–"/>
              <a:defRPr sz="2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ts val="300"/>
              </a:spcAft>
              <a:buChar char="•"/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300"/>
              </a:spcAft>
              <a:buChar char="–"/>
              <a:defRPr sz="16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300"/>
              </a:spcAft>
              <a:buChar char="»"/>
              <a:defRPr sz="1500">
                <a:solidFill>
                  <a:srgbClr val="003399"/>
                </a:solidFill>
                <a:latin typeface="Verdana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9pPr>
          </a:lstStyle>
          <a:p>
            <a:pPr lvl="1"/>
            <a:r>
              <a:rPr lang="en-US" sz="2000" kern="0" dirty="0"/>
              <a:t>UNION: combine the result sets of two or more SELECT statements while </a:t>
            </a:r>
            <a:r>
              <a:rPr lang="en-US" sz="2000" kern="0" dirty="0">
                <a:solidFill>
                  <a:schemeClr val="accent2"/>
                </a:solidFill>
              </a:rPr>
              <a:t>eliminating duplicate rows</a:t>
            </a:r>
          </a:p>
          <a:p>
            <a:pPr lvl="1"/>
            <a:r>
              <a:rPr lang="en-US" sz="2000" kern="0" dirty="0"/>
              <a:t>UNION ALL: similar to UNION, but it does not eliminate duplicate rows</a:t>
            </a:r>
          </a:p>
          <a:p>
            <a:pPr lvl="1"/>
            <a:r>
              <a:rPr lang="en-US" sz="2000" kern="0" dirty="0"/>
              <a:t>INTERSECT: combine only those rows which the results of two query blocks have in common, omitting any duplicates</a:t>
            </a:r>
          </a:p>
          <a:p>
            <a:pPr lvl="1"/>
            <a:r>
              <a:rPr lang="en-US" sz="2000" kern="0" dirty="0"/>
              <a:t>EXCEPT </a:t>
            </a:r>
            <a:r>
              <a:rPr lang="en-US" sz="1800" kern="0" dirty="0"/>
              <a:t>(or MINUS in Oracle; or NOT IN)</a:t>
            </a:r>
            <a:r>
              <a:rPr lang="en-US" sz="2000" kern="0" dirty="0"/>
              <a:t>: For two query blocks A and B, return all results from A which are not also present in B, omitting any duplicates</a:t>
            </a:r>
          </a:p>
          <a:p>
            <a:endParaRPr lang="en-US" kern="0" dirty="0"/>
          </a:p>
          <a:p>
            <a:endParaRPr lang="en-US" kern="0" dirty="0"/>
          </a:p>
          <a:p>
            <a:endParaRPr lang="en-US" kern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0B5418-C80C-FC34-492D-E2DAC7E387F1}"/>
              </a:ext>
            </a:extLst>
          </p:cNvPr>
          <p:cNvSpPr txBox="1"/>
          <p:nvPr/>
        </p:nvSpPr>
        <p:spPr>
          <a:xfrm>
            <a:off x="205689" y="6397937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</a:t>
            </a:r>
          </a:p>
        </p:txBody>
      </p:sp>
    </p:spTree>
    <p:extLst>
      <p:ext uri="{BB962C8B-B14F-4D97-AF65-F5344CB8AC3E}">
        <p14:creationId xmlns:p14="http://schemas.microsoft.com/office/powerpoint/2010/main" val="287024121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0A4E-79C5-DF23-9A28-011E9C547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Operations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5CA39-7A56-ACE5-45A3-BC431AB6660A}"/>
              </a:ext>
            </a:extLst>
          </p:cNvPr>
          <p:cNvSpPr txBox="1"/>
          <p:nvPr/>
        </p:nvSpPr>
        <p:spPr>
          <a:xfrm>
            <a:off x="457200" y="1066800"/>
            <a:ext cx="7010400" cy="492442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defRPr>
                <a:solidFill>
                  <a:srgbClr val="800000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b="1" dirty="0"/>
              <a:t>CREATE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/>
              <a:t>TABLE</a:t>
            </a:r>
            <a:r>
              <a:rPr lang="en-US" b="1" dirty="0">
                <a:solidFill>
                  <a:srgbClr val="000000"/>
                </a:solidFill>
              </a:rPr>
              <a:t> t1 (x </a:t>
            </a:r>
            <a:r>
              <a:rPr lang="en-US" b="1" dirty="0">
                <a:solidFill>
                  <a:srgbClr val="000080"/>
                </a:solidFill>
              </a:rPr>
              <a:t>INT</a:t>
            </a:r>
            <a:r>
              <a:rPr lang="en-US" b="1" dirty="0">
                <a:solidFill>
                  <a:srgbClr val="000000"/>
                </a:solidFill>
              </a:rPr>
              <a:t>, y </a:t>
            </a:r>
            <a:r>
              <a:rPr lang="en-US" b="1" dirty="0">
                <a:solidFill>
                  <a:srgbClr val="000080"/>
                </a:solidFill>
              </a:rPr>
              <a:t>INT</a:t>
            </a:r>
            <a:r>
              <a:rPr lang="en-US" b="1" dirty="0">
                <a:solidFill>
                  <a:srgbClr val="000000"/>
                </a:solidFill>
              </a:rPr>
              <a:t>)</a:t>
            </a:r>
            <a:r>
              <a:rPr lang="en-US" b="1" dirty="0">
                <a:solidFill>
                  <a:srgbClr val="FF0000"/>
                </a:solidFill>
              </a:rPr>
              <a:t>;</a:t>
            </a:r>
          </a:p>
          <a:p>
            <a:r>
              <a:rPr lang="en-US" b="1" dirty="0"/>
              <a:t>INSERT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/>
              <a:t>INTO</a:t>
            </a:r>
            <a:r>
              <a:rPr lang="en-US" b="1" dirty="0">
                <a:solidFill>
                  <a:srgbClr val="000000"/>
                </a:solidFill>
              </a:rPr>
              <a:t> t1 </a:t>
            </a:r>
            <a:r>
              <a:rPr lang="en-US" b="1" dirty="0"/>
              <a:t>VALUES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/>
              <a:t>ROW</a:t>
            </a:r>
            <a:r>
              <a:rPr lang="en-US" b="1" dirty="0">
                <a:solidFill>
                  <a:srgbClr val="000000"/>
                </a:solidFill>
              </a:rPr>
              <a:t>(</a:t>
            </a:r>
            <a:r>
              <a:rPr lang="en-US" b="1" dirty="0">
                <a:solidFill>
                  <a:srgbClr val="0000FF"/>
                </a:solidFill>
              </a:rPr>
              <a:t>4</a:t>
            </a:r>
            <a:r>
              <a:rPr lang="en-US" b="1" dirty="0">
                <a:solidFill>
                  <a:srgbClr val="000000"/>
                </a:solidFill>
              </a:rPr>
              <a:t>,-</a:t>
            </a:r>
            <a:r>
              <a:rPr lang="en-US" b="1" dirty="0">
                <a:solidFill>
                  <a:srgbClr val="0000FF"/>
                </a:solidFill>
              </a:rPr>
              <a:t>2</a:t>
            </a:r>
            <a:r>
              <a:rPr lang="en-US" b="1" dirty="0">
                <a:solidFill>
                  <a:srgbClr val="000000"/>
                </a:solidFill>
              </a:rPr>
              <a:t>), </a:t>
            </a:r>
            <a:r>
              <a:rPr lang="en-US" b="1" dirty="0"/>
              <a:t>ROW</a:t>
            </a:r>
            <a:r>
              <a:rPr lang="en-US" b="1" dirty="0">
                <a:solidFill>
                  <a:srgbClr val="000000"/>
                </a:solidFill>
              </a:rPr>
              <a:t>(</a:t>
            </a:r>
            <a:r>
              <a:rPr lang="en-US" b="1" dirty="0">
                <a:solidFill>
                  <a:srgbClr val="0000FF"/>
                </a:solidFill>
              </a:rPr>
              <a:t>5</a:t>
            </a:r>
            <a:r>
              <a:rPr lang="en-US" b="1" dirty="0">
                <a:solidFill>
                  <a:srgbClr val="000000"/>
                </a:solidFill>
              </a:rPr>
              <a:t>,</a:t>
            </a:r>
            <a:r>
              <a:rPr lang="en-US" b="1" dirty="0">
                <a:solidFill>
                  <a:srgbClr val="0000FF"/>
                </a:solidFill>
              </a:rPr>
              <a:t>9</a:t>
            </a:r>
            <a:r>
              <a:rPr lang="en-US" b="1" dirty="0">
                <a:solidFill>
                  <a:srgbClr val="000000"/>
                </a:solidFill>
              </a:rPr>
              <a:t>), </a:t>
            </a:r>
            <a:r>
              <a:rPr lang="en-US" b="1" dirty="0"/>
              <a:t>ROW</a:t>
            </a:r>
            <a:r>
              <a:rPr lang="en-US" b="1" dirty="0">
                <a:solidFill>
                  <a:srgbClr val="000000"/>
                </a:solidFill>
              </a:rPr>
              <a:t>(</a:t>
            </a:r>
            <a:r>
              <a:rPr lang="en-US" b="1" dirty="0">
                <a:solidFill>
                  <a:srgbClr val="0000FF"/>
                </a:solidFill>
              </a:rPr>
              <a:t>1</a:t>
            </a:r>
            <a:r>
              <a:rPr lang="en-US" b="1" dirty="0">
                <a:solidFill>
                  <a:srgbClr val="000000"/>
                </a:solidFill>
              </a:rPr>
              <a:t>,</a:t>
            </a:r>
            <a:r>
              <a:rPr lang="en-US" b="1" dirty="0">
                <a:solidFill>
                  <a:srgbClr val="0000FF"/>
                </a:solidFill>
              </a:rPr>
              <a:t>2</a:t>
            </a:r>
            <a:r>
              <a:rPr lang="en-US" b="1" dirty="0">
                <a:solidFill>
                  <a:srgbClr val="000000"/>
                </a:solidFill>
              </a:rPr>
              <a:t>)</a:t>
            </a:r>
            <a:r>
              <a:rPr lang="en-US" b="1" dirty="0">
                <a:solidFill>
                  <a:srgbClr val="FF0000"/>
                </a:solidFill>
              </a:rPr>
              <a:t>;</a:t>
            </a:r>
          </a:p>
          <a:p>
            <a:endParaRPr lang="en-US" sz="1100" dirty="0"/>
          </a:p>
          <a:p>
            <a:r>
              <a:rPr lang="en-US" b="1" dirty="0"/>
              <a:t>CREATE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/>
              <a:t>TABLE</a:t>
            </a:r>
            <a:r>
              <a:rPr lang="en-US" b="1" dirty="0">
                <a:solidFill>
                  <a:srgbClr val="000000"/>
                </a:solidFill>
              </a:rPr>
              <a:t> t2 (a </a:t>
            </a:r>
            <a:r>
              <a:rPr lang="en-US" b="1" dirty="0">
                <a:solidFill>
                  <a:srgbClr val="000080"/>
                </a:solidFill>
              </a:rPr>
              <a:t>INT</a:t>
            </a:r>
            <a:r>
              <a:rPr lang="en-US" b="1" dirty="0">
                <a:solidFill>
                  <a:srgbClr val="000000"/>
                </a:solidFill>
              </a:rPr>
              <a:t>, b </a:t>
            </a:r>
            <a:r>
              <a:rPr lang="en-US" b="1" dirty="0">
                <a:solidFill>
                  <a:srgbClr val="000080"/>
                </a:solidFill>
              </a:rPr>
              <a:t>INT</a:t>
            </a:r>
            <a:r>
              <a:rPr lang="en-US" b="1" dirty="0">
                <a:solidFill>
                  <a:srgbClr val="000000"/>
                </a:solidFill>
              </a:rPr>
              <a:t>)</a:t>
            </a:r>
            <a:r>
              <a:rPr lang="en-US" b="1" dirty="0">
                <a:solidFill>
                  <a:srgbClr val="FF0000"/>
                </a:solidFill>
              </a:rPr>
              <a:t>;</a:t>
            </a:r>
          </a:p>
          <a:p>
            <a:r>
              <a:rPr lang="en-US" b="1" dirty="0"/>
              <a:t>INSERT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/>
              <a:t>INTO</a:t>
            </a:r>
            <a:r>
              <a:rPr lang="en-US" b="1" dirty="0">
                <a:solidFill>
                  <a:srgbClr val="000000"/>
                </a:solidFill>
              </a:rPr>
              <a:t> t2 </a:t>
            </a:r>
            <a:r>
              <a:rPr lang="en-US" b="1" dirty="0"/>
              <a:t>VALUES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/>
              <a:t>ROW</a:t>
            </a:r>
            <a:r>
              <a:rPr lang="en-US" b="1" dirty="0">
                <a:solidFill>
                  <a:srgbClr val="000000"/>
                </a:solidFill>
              </a:rPr>
              <a:t>(</a:t>
            </a:r>
            <a:r>
              <a:rPr lang="en-US" b="1" dirty="0">
                <a:solidFill>
                  <a:srgbClr val="0000FF"/>
                </a:solidFill>
              </a:rPr>
              <a:t>1</a:t>
            </a:r>
            <a:r>
              <a:rPr lang="en-US" b="1" dirty="0">
                <a:solidFill>
                  <a:srgbClr val="000000"/>
                </a:solidFill>
              </a:rPr>
              <a:t>,</a:t>
            </a:r>
            <a:r>
              <a:rPr lang="en-US" b="1" dirty="0">
                <a:solidFill>
                  <a:srgbClr val="0000FF"/>
                </a:solidFill>
              </a:rPr>
              <a:t>2</a:t>
            </a:r>
            <a:r>
              <a:rPr lang="en-US" b="1" dirty="0">
                <a:solidFill>
                  <a:srgbClr val="000000"/>
                </a:solidFill>
              </a:rPr>
              <a:t>), </a:t>
            </a:r>
            <a:r>
              <a:rPr lang="en-US" b="1" dirty="0"/>
              <a:t>ROW</a:t>
            </a:r>
            <a:r>
              <a:rPr lang="en-US" b="1" dirty="0">
                <a:solidFill>
                  <a:srgbClr val="000000"/>
                </a:solidFill>
              </a:rPr>
              <a:t>(</a:t>
            </a:r>
            <a:r>
              <a:rPr lang="en-US" b="1" dirty="0">
                <a:solidFill>
                  <a:srgbClr val="0000FF"/>
                </a:solidFill>
              </a:rPr>
              <a:t>3</a:t>
            </a:r>
            <a:r>
              <a:rPr lang="en-US" b="1" dirty="0">
                <a:solidFill>
                  <a:srgbClr val="000000"/>
                </a:solidFill>
              </a:rPr>
              <a:t>,</a:t>
            </a:r>
            <a:r>
              <a:rPr lang="en-US" b="1" dirty="0">
                <a:solidFill>
                  <a:srgbClr val="0000FF"/>
                </a:solidFill>
              </a:rPr>
              <a:t>4</a:t>
            </a:r>
            <a:r>
              <a:rPr lang="en-US" b="1" dirty="0">
                <a:solidFill>
                  <a:srgbClr val="000000"/>
                </a:solidFill>
              </a:rPr>
              <a:t>)</a:t>
            </a:r>
            <a:r>
              <a:rPr lang="en-US" b="1" dirty="0">
                <a:solidFill>
                  <a:srgbClr val="FF0000"/>
                </a:solidFill>
              </a:rPr>
              <a:t>;</a:t>
            </a:r>
          </a:p>
          <a:p>
            <a:endParaRPr lang="en-US" sz="1100" dirty="0"/>
          </a:p>
          <a:p>
            <a:r>
              <a:rPr lang="en-US" b="1" dirty="0"/>
              <a:t>SELECT</a:t>
            </a:r>
            <a:r>
              <a:rPr lang="en-US" b="1" dirty="0">
                <a:solidFill>
                  <a:srgbClr val="000000"/>
                </a:solidFill>
              </a:rPr>
              <a:t> * </a:t>
            </a:r>
            <a:r>
              <a:rPr lang="en-US" b="1" dirty="0"/>
              <a:t>FROM</a:t>
            </a:r>
            <a:r>
              <a:rPr lang="en-US" b="1" dirty="0">
                <a:solidFill>
                  <a:srgbClr val="000000"/>
                </a:solidFill>
              </a:rPr>
              <a:t> t1</a:t>
            </a:r>
            <a:r>
              <a:rPr lang="en-US" b="1" dirty="0">
                <a:solidFill>
                  <a:srgbClr val="FF0000"/>
                </a:solidFill>
              </a:rPr>
              <a:t>;</a:t>
            </a:r>
          </a:p>
          <a:p>
            <a:r>
              <a:rPr lang="en-US" b="1" dirty="0"/>
              <a:t>SELECT</a:t>
            </a:r>
            <a:r>
              <a:rPr lang="en-US" b="1" dirty="0">
                <a:solidFill>
                  <a:srgbClr val="000000"/>
                </a:solidFill>
              </a:rPr>
              <a:t> * </a:t>
            </a:r>
            <a:r>
              <a:rPr lang="en-US" b="1" dirty="0"/>
              <a:t>FROM</a:t>
            </a:r>
            <a:r>
              <a:rPr lang="en-US" b="1" dirty="0">
                <a:solidFill>
                  <a:srgbClr val="000000"/>
                </a:solidFill>
              </a:rPr>
              <a:t> t2</a:t>
            </a:r>
            <a:r>
              <a:rPr lang="en-US" b="1" dirty="0">
                <a:solidFill>
                  <a:srgbClr val="FF0000"/>
                </a:solidFill>
              </a:rPr>
              <a:t>;</a:t>
            </a:r>
          </a:p>
          <a:p>
            <a:endParaRPr lang="en-US" sz="1100" dirty="0"/>
          </a:p>
          <a:p>
            <a:r>
              <a:rPr lang="fr-FR" b="1" dirty="0"/>
              <a:t>TABLE</a:t>
            </a:r>
            <a:r>
              <a:rPr lang="fr-FR" b="1" dirty="0">
                <a:solidFill>
                  <a:srgbClr val="000000"/>
                </a:solidFill>
              </a:rPr>
              <a:t> t1 </a:t>
            </a:r>
            <a:r>
              <a:rPr lang="fr-FR" b="1" dirty="0"/>
              <a:t>UNION</a:t>
            </a:r>
            <a:r>
              <a:rPr lang="fr-FR" b="1" dirty="0">
                <a:solidFill>
                  <a:srgbClr val="000000"/>
                </a:solidFill>
              </a:rPr>
              <a:t> </a:t>
            </a:r>
            <a:r>
              <a:rPr lang="fr-FR" b="1" dirty="0"/>
              <a:t>TABLE</a:t>
            </a:r>
            <a:r>
              <a:rPr lang="fr-FR" b="1" dirty="0">
                <a:solidFill>
                  <a:srgbClr val="000000"/>
                </a:solidFill>
              </a:rPr>
              <a:t> t2</a:t>
            </a:r>
            <a:r>
              <a:rPr lang="fr-FR" b="1" dirty="0">
                <a:solidFill>
                  <a:srgbClr val="FF0000"/>
                </a:solidFill>
              </a:rPr>
              <a:t>;</a:t>
            </a:r>
          </a:p>
          <a:p>
            <a:r>
              <a:rPr lang="en-US" b="1" dirty="0"/>
              <a:t>TABLE</a:t>
            </a:r>
            <a:r>
              <a:rPr lang="en-US" b="1" dirty="0">
                <a:solidFill>
                  <a:srgbClr val="000000"/>
                </a:solidFill>
              </a:rPr>
              <a:t> t1 </a:t>
            </a:r>
            <a:r>
              <a:rPr lang="en-US" b="1" dirty="0"/>
              <a:t>UNION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/>
              <a:t>ALL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/>
              <a:t>TABLE</a:t>
            </a:r>
            <a:r>
              <a:rPr lang="en-US" b="1" dirty="0">
                <a:solidFill>
                  <a:srgbClr val="000000"/>
                </a:solidFill>
              </a:rPr>
              <a:t> t2</a:t>
            </a:r>
            <a:r>
              <a:rPr lang="en-US" b="1" dirty="0">
                <a:solidFill>
                  <a:srgbClr val="FF0000"/>
                </a:solidFill>
              </a:rPr>
              <a:t>;</a:t>
            </a:r>
          </a:p>
          <a:p>
            <a:r>
              <a:rPr lang="en-US" sz="1100" dirty="0">
                <a:solidFill>
                  <a:schemeClr val="bg2"/>
                </a:solidFill>
              </a:rPr>
              <a:t>== </a:t>
            </a:r>
            <a:r>
              <a:rPr lang="en-US" sz="1400" dirty="0">
                <a:solidFill>
                  <a:schemeClr val="bg2"/>
                </a:solidFill>
              </a:rPr>
              <a:t>equals to:</a:t>
            </a:r>
            <a:endParaRPr lang="en-US" sz="1400" dirty="0"/>
          </a:p>
          <a:p>
            <a:r>
              <a:rPr lang="en-US" b="1" dirty="0"/>
              <a:t>SELECT</a:t>
            </a:r>
            <a:r>
              <a:rPr lang="en-US" b="1" dirty="0">
                <a:solidFill>
                  <a:srgbClr val="000000"/>
                </a:solidFill>
              </a:rPr>
              <a:t> * </a:t>
            </a:r>
            <a:r>
              <a:rPr lang="en-US" b="1" dirty="0"/>
              <a:t>FROM</a:t>
            </a:r>
            <a:r>
              <a:rPr lang="en-US" b="1" dirty="0">
                <a:solidFill>
                  <a:srgbClr val="000000"/>
                </a:solidFill>
              </a:rPr>
              <a:t> t1 </a:t>
            </a:r>
            <a:r>
              <a:rPr lang="en-US" b="1" dirty="0"/>
              <a:t>UNION ALL SELECT</a:t>
            </a:r>
            <a:r>
              <a:rPr lang="en-US" b="1" dirty="0">
                <a:solidFill>
                  <a:srgbClr val="000000"/>
                </a:solidFill>
              </a:rPr>
              <a:t> * </a:t>
            </a:r>
            <a:r>
              <a:rPr lang="en-US" b="1" dirty="0"/>
              <a:t>FROM</a:t>
            </a:r>
            <a:r>
              <a:rPr lang="en-US" b="1" dirty="0">
                <a:solidFill>
                  <a:srgbClr val="000000"/>
                </a:solidFill>
              </a:rPr>
              <a:t> t2</a:t>
            </a:r>
            <a:r>
              <a:rPr lang="en-US" b="1" dirty="0">
                <a:solidFill>
                  <a:srgbClr val="FF0000"/>
                </a:solidFill>
              </a:rPr>
              <a:t>;</a:t>
            </a:r>
          </a:p>
          <a:p>
            <a:endParaRPr lang="en-US" sz="1100" dirty="0"/>
          </a:p>
          <a:p>
            <a:r>
              <a:rPr lang="fr-FR" b="1" dirty="0"/>
              <a:t>TABLE</a:t>
            </a:r>
            <a:r>
              <a:rPr lang="fr-FR" b="1" dirty="0">
                <a:solidFill>
                  <a:srgbClr val="000000"/>
                </a:solidFill>
              </a:rPr>
              <a:t> t1 </a:t>
            </a:r>
            <a:r>
              <a:rPr lang="fr-FR" b="1" dirty="0"/>
              <a:t>INTERSECT</a:t>
            </a:r>
            <a:r>
              <a:rPr lang="fr-FR" b="1" dirty="0">
                <a:solidFill>
                  <a:srgbClr val="000000"/>
                </a:solidFill>
              </a:rPr>
              <a:t> </a:t>
            </a:r>
            <a:r>
              <a:rPr lang="fr-FR" b="1" dirty="0"/>
              <a:t>TABLE</a:t>
            </a:r>
            <a:r>
              <a:rPr lang="fr-FR" b="1" dirty="0">
                <a:solidFill>
                  <a:srgbClr val="000000"/>
                </a:solidFill>
              </a:rPr>
              <a:t> t2</a:t>
            </a:r>
            <a:r>
              <a:rPr lang="fr-FR" b="1" dirty="0">
                <a:solidFill>
                  <a:srgbClr val="FF0000"/>
                </a:solidFill>
              </a:rPr>
              <a:t>;</a:t>
            </a:r>
          </a:p>
          <a:p>
            <a:endParaRPr lang="en-US" sz="1100" dirty="0"/>
          </a:p>
          <a:p>
            <a:r>
              <a:rPr lang="fr-FR" b="1" dirty="0"/>
              <a:t>TABLE</a:t>
            </a:r>
            <a:r>
              <a:rPr lang="fr-FR" b="1" dirty="0">
                <a:solidFill>
                  <a:srgbClr val="000000"/>
                </a:solidFill>
              </a:rPr>
              <a:t> t1 </a:t>
            </a:r>
            <a:r>
              <a:rPr lang="fr-FR" b="1" dirty="0"/>
              <a:t>EXCEPT</a:t>
            </a:r>
            <a:r>
              <a:rPr lang="fr-FR" b="1" dirty="0">
                <a:solidFill>
                  <a:srgbClr val="000000"/>
                </a:solidFill>
              </a:rPr>
              <a:t> </a:t>
            </a:r>
            <a:r>
              <a:rPr lang="fr-FR" b="1" dirty="0"/>
              <a:t>TABLE</a:t>
            </a:r>
            <a:r>
              <a:rPr lang="fr-FR" b="1" dirty="0">
                <a:solidFill>
                  <a:srgbClr val="000000"/>
                </a:solidFill>
              </a:rPr>
              <a:t> t2</a:t>
            </a:r>
            <a:r>
              <a:rPr lang="fr-FR" b="1" dirty="0">
                <a:solidFill>
                  <a:srgbClr val="FF0000"/>
                </a:solidFill>
              </a:rPr>
              <a:t>;</a:t>
            </a:r>
          </a:p>
          <a:p>
            <a:r>
              <a:rPr lang="en-US" sz="1100" dirty="0">
                <a:solidFill>
                  <a:schemeClr val="bg2"/>
                </a:solidFill>
              </a:rPr>
              <a:t>== </a:t>
            </a:r>
            <a:r>
              <a:rPr lang="en-US" sz="1400" dirty="0">
                <a:solidFill>
                  <a:schemeClr val="bg2"/>
                </a:solidFill>
              </a:rPr>
              <a:t>equals to:</a:t>
            </a:r>
          </a:p>
          <a:p>
            <a:r>
              <a:rPr lang="en-US" b="1" dirty="0"/>
              <a:t>SELECT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 err="1">
                <a:solidFill>
                  <a:srgbClr val="000000"/>
                </a:solidFill>
              </a:rPr>
              <a:t>x,y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/>
              <a:t>FROM</a:t>
            </a:r>
            <a:r>
              <a:rPr lang="en-US" b="1" dirty="0">
                <a:solidFill>
                  <a:srgbClr val="000000"/>
                </a:solidFill>
              </a:rPr>
              <a:t> t1 </a:t>
            </a:r>
          </a:p>
          <a:p>
            <a:r>
              <a:rPr lang="en-US" b="1" dirty="0"/>
              <a:t>WHERE</a:t>
            </a:r>
            <a:r>
              <a:rPr lang="en-US" b="1" dirty="0">
                <a:solidFill>
                  <a:srgbClr val="000000"/>
                </a:solidFill>
              </a:rPr>
              <a:t> (</a:t>
            </a:r>
            <a:r>
              <a:rPr lang="en-US" b="1" dirty="0" err="1">
                <a:solidFill>
                  <a:srgbClr val="000000"/>
                </a:solidFill>
              </a:rPr>
              <a:t>x,y</a:t>
            </a:r>
            <a:r>
              <a:rPr lang="en-US" b="1" dirty="0">
                <a:solidFill>
                  <a:srgbClr val="000000"/>
                </a:solidFill>
              </a:rPr>
              <a:t>) </a:t>
            </a:r>
            <a:r>
              <a:rPr lang="en-US" b="1" dirty="0"/>
              <a:t>NOT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/>
              <a:t>IN</a:t>
            </a:r>
            <a:r>
              <a:rPr lang="en-US" b="1" dirty="0">
                <a:solidFill>
                  <a:srgbClr val="000000"/>
                </a:solidFill>
              </a:rPr>
              <a:t> (</a:t>
            </a:r>
            <a:r>
              <a:rPr lang="en-US" b="1" dirty="0"/>
              <a:t>SELECT</a:t>
            </a:r>
            <a:r>
              <a:rPr lang="en-US" b="1" dirty="0">
                <a:solidFill>
                  <a:srgbClr val="000000"/>
                </a:solidFill>
              </a:rPr>
              <a:t> * </a:t>
            </a:r>
            <a:r>
              <a:rPr lang="en-US" b="1" dirty="0"/>
              <a:t>FROM</a:t>
            </a:r>
            <a:r>
              <a:rPr lang="en-US" b="1" dirty="0">
                <a:solidFill>
                  <a:srgbClr val="000000"/>
                </a:solidFill>
              </a:rPr>
              <a:t> t2)</a:t>
            </a:r>
            <a:r>
              <a:rPr lang="en-US" b="1" dirty="0">
                <a:solidFill>
                  <a:srgbClr val="FF0000"/>
                </a:solidFill>
              </a:rPr>
              <a:t>;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5EE5F1-CFBF-A462-54D1-63461CA1C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676400"/>
            <a:ext cx="1219199" cy="1306613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03C754-FF4D-B9F0-B66D-2DFA33980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1676400"/>
            <a:ext cx="1198092" cy="938212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D921088-8419-F56F-B65D-70E4E5609716}"/>
              </a:ext>
            </a:extLst>
          </p:cNvPr>
          <p:cNvSpPr txBox="1"/>
          <p:nvPr/>
        </p:nvSpPr>
        <p:spPr>
          <a:xfrm>
            <a:off x="8441334" y="1281072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9933"/>
                </a:solidFill>
              </a:rPr>
              <a:t>t1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A777B3-42C5-51CF-C853-95623D0DABB0}"/>
              </a:ext>
            </a:extLst>
          </p:cNvPr>
          <p:cNvSpPr txBox="1"/>
          <p:nvPr/>
        </p:nvSpPr>
        <p:spPr>
          <a:xfrm>
            <a:off x="10498734" y="1272444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9933"/>
                </a:solidFill>
              </a:rPr>
              <a:t>t2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C2924F-805A-BEAE-660C-87E38C89A462}"/>
              </a:ext>
            </a:extLst>
          </p:cNvPr>
          <p:cNvSpPr txBox="1"/>
          <p:nvPr/>
        </p:nvSpPr>
        <p:spPr>
          <a:xfrm>
            <a:off x="205689" y="6397937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</a:t>
            </a:r>
          </a:p>
        </p:txBody>
      </p:sp>
    </p:spTree>
    <p:extLst>
      <p:ext uri="{BB962C8B-B14F-4D97-AF65-F5344CB8AC3E}">
        <p14:creationId xmlns:p14="http://schemas.microsoft.com/office/powerpoint/2010/main" val="19658625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4A6B2-A936-13AA-7403-99B6D8AF2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70B147-ACBA-4469-5600-02161D42B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</p:spTree>
    <p:extLst>
      <p:ext uri="{BB962C8B-B14F-4D97-AF65-F5344CB8AC3E}">
        <p14:creationId xmlns:p14="http://schemas.microsoft.com/office/powerpoint/2010/main" val="161866037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226" y="931863"/>
            <a:ext cx="9783974" cy="5316538"/>
          </a:xfrm>
        </p:spPr>
        <p:txBody>
          <a:bodyPr/>
          <a:lstStyle/>
          <a:p>
            <a:r>
              <a:rPr lang="en-US" b="1" dirty="0"/>
              <a:t>Cross Join (Cartesian Product)</a:t>
            </a:r>
            <a:r>
              <a:rPr lang="en-US" dirty="0"/>
              <a:t>: returns all the rows in all the tables listed in a query: rows from both tables paired</a:t>
            </a:r>
          </a:p>
          <a:p>
            <a:endParaRPr lang="en-US" sz="1000" dirty="0"/>
          </a:p>
          <a:p>
            <a:r>
              <a:rPr lang="en-US" b="1" dirty="0"/>
              <a:t>Inner Join</a:t>
            </a:r>
            <a:r>
              <a:rPr lang="en-US" dirty="0"/>
              <a:t>: selects records that have </a:t>
            </a:r>
            <a:r>
              <a:rPr lang="en-US" dirty="0">
                <a:solidFill>
                  <a:schemeClr val="accent6"/>
                </a:solidFill>
              </a:rPr>
              <a:t>matching values </a:t>
            </a:r>
            <a:r>
              <a:rPr lang="en-US" dirty="0"/>
              <a:t>in both tables</a:t>
            </a:r>
          </a:p>
          <a:p>
            <a:endParaRPr lang="en-US" sz="1200" dirty="0"/>
          </a:p>
          <a:p>
            <a:r>
              <a:rPr lang="en-US" b="1" dirty="0"/>
              <a:t>Outer Join </a:t>
            </a:r>
            <a:r>
              <a:rPr lang="en-US" dirty="0"/>
              <a:t>(left, right, full): joins that return matched values </a:t>
            </a:r>
            <a:r>
              <a:rPr lang="en-US" dirty="0">
                <a:solidFill>
                  <a:schemeClr val="accent6"/>
                </a:solidFill>
              </a:rPr>
              <a:t>and unmatched values </a:t>
            </a:r>
            <a:r>
              <a:rPr lang="en-US" dirty="0"/>
              <a:t>from either or both tables </a:t>
            </a:r>
          </a:p>
          <a:p>
            <a:pPr lvl="1"/>
            <a:r>
              <a:rPr lang="en-US" dirty="0">
                <a:ea typeface="Verdana" panose="020B0604030504040204" pitchFamily="34" charset="0"/>
              </a:rPr>
              <a:t>Left outer join</a:t>
            </a:r>
          </a:p>
          <a:p>
            <a:pPr lvl="1"/>
            <a:r>
              <a:rPr lang="en-US" dirty="0">
                <a:ea typeface="Verdana" panose="020B0604030504040204" pitchFamily="34" charset="0"/>
              </a:rPr>
              <a:t>Right outer join</a:t>
            </a:r>
          </a:p>
          <a:p>
            <a:pPr lvl="1"/>
            <a:r>
              <a:rPr lang="en-US" dirty="0">
                <a:solidFill>
                  <a:srgbClr val="040C28"/>
                </a:solidFill>
                <a:ea typeface="Verdana" panose="020B0604030504040204" pitchFamily="34" charset="0"/>
              </a:rPr>
              <a:t>Full join: </a:t>
            </a:r>
            <a:r>
              <a:rPr lang="en-US" b="0" i="0" dirty="0">
                <a:solidFill>
                  <a:srgbClr val="040C28"/>
                </a:solidFill>
                <a:effectLst/>
                <a:ea typeface="Verdana" panose="020B0604030504040204" pitchFamily="34" charset="0"/>
              </a:rPr>
              <a:t>a combination of a left outer join and right outer join</a:t>
            </a:r>
            <a:endParaRPr lang="en-US" dirty="0">
              <a:ea typeface="Verdana" panose="020B0604030504040204" pitchFamily="34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62492D-DB3F-4E1A-A6AF-2E7D2B14011A}"/>
              </a:ext>
            </a:extLst>
          </p:cNvPr>
          <p:cNvSpPr txBox="1"/>
          <p:nvPr/>
        </p:nvSpPr>
        <p:spPr>
          <a:xfrm>
            <a:off x="205689" y="6397937"/>
            <a:ext cx="5886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Join</a:t>
            </a:r>
          </a:p>
        </p:txBody>
      </p:sp>
      <p:pic>
        <p:nvPicPr>
          <p:cNvPr id="1026" name="Picture 2" descr="MySQL CROSS JOIN">
            <a:extLst>
              <a:ext uri="{FF2B5EF4-FFF2-40B4-BE49-F238E27FC236}">
                <a16:creationId xmlns:a16="http://schemas.microsoft.com/office/drawing/2014/main" id="{5CD091DA-5122-E55A-283F-DAF1AB99A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2251" y="560167"/>
            <a:ext cx="1872463" cy="1280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ySQL INNER JOIN">
            <a:extLst>
              <a:ext uri="{FF2B5EF4-FFF2-40B4-BE49-F238E27FC236}">
                <a16:creationId xmlns:a16="http://schemas.microsoft.com/office/drawing/2014/main" id="{C5FFE3B8-47C2-E8E5-EC52-3C0645099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2889" y="2170328"/>
            <a:ext cx="1857899" cy="127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ySQL LEFT JOIN">
            <a:extLst>
              <a:ext uri="{FF2B5EF4-FFF2-40B4-BE49-F238E27FC236}">
                <a16:creationId xmlns:a16="http://schemas.microsoft.com/office/drawing/2014/main" id="{F62ACF0C-0CED-00F6-7294-A77F37E9C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3505200"/>
            <a:ext cx="1819275" cy="1244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ySQL RIGHT JOIN">
            <a:extLst>
              <a:ext uri="{FF2B5EF4-FFF2-40B4-BE49-F238E27FC236}">
                <a16:creationId xmlns:a16="http://schemas.microsoft.com/office/drawing/2014/main" id="{3444DB61-660A-2AC0-8DF3-588E543DC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776" y="4888899"/>
            <a:ext cx="1785938" cy="1221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757128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Join: Cross Join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E24B7A-9F47-4A7C-ACFE-B6BD8D62A45F}"/>
              </a:ext>
            </a:extLst>
          </p:cNvPr>
          <p:cNvSpPr txBox="1"/>
          <p:nvPr/>
        </p:nvSpPr>
        <p:spPr>
          <a:xfrm>
            <a:off x="205689" y="6397937"/>
            <a:ext cx="5886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Join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63B9A8-B427-4099-01E2-432DCBE3667D}"/>
              </a:ext>
            </a:extLst>
          </p:cNvPr>
          <p:cNvSpPr txBox="1"/>
          <p:nvPr/>
        </p:nvSpPr>
        <p:spPr>
          <a:xfrm>
            <a:off x="609600" y="2819400"/>
            <a:ext cx="876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SELECT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 </a:t>
            </a:r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CROSS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detail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OR: 	</a:t>
            </a:r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emp, detail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0E449F-2CAB-3F8D-5DE9-2B81E9AF0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175718"/>
            <a:ext cx="3689300" cy="1503349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DFD841-00D0-2F03-070F-FD8C82D20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1226075"/>
            <a:ext cx="3810000" cy="1059925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43F2B8-24DA-49A9-3A14-CFF0C0CFBBEC}"/>
              </a:ext>
            </a:extLst>
          </p:cNvPr>
          <p:cNvSpPr txBox="1"/>
          <p:nvPr/>
        </p:nvSpPr>
        <p:spPr>
          <a:xfrm>
            <a:off x="2225550" y="695882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C6600"/>
                </a:solidFill>
              </a:rPr>
              <a:t>emp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D6075C-98DD-C8D7-2B0C-F0BD33B646D2}"/>
              </a:ext>
            </a:extLst>
          </p:cNvPr>
          <p:cNvSpPr txBox="1"/>
          <p:nvPr/>
        </p:nvSpPr>
        <p:spPr>
          <a:xfrm>
            <a:off x="8523305" y="719474"/>
            <a:ext cx="922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C6600"/>
                </a:solidFill>
              </a:rPr>
              <a:t>detail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7A6B62-13BE-E027-C23D-EA76A3FE02FC}"/>
              </a:ext>
            </a:extLst>
          </p:cNvPr>
          <p:cNvGrpSpPr/>
          <p:nvPr/>
        </p:nvGrpSpPr>
        <p:grpSpPr>
          <a:xfrm>
            <a:off x="2438400" y="3759804"/>
            <a:ext cx="6191711" cy="2383266"/>
            <a:chOff x="2438400" y="3759804"/>
            <a:chExt cx="6191711" cy="238326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0F9F52A-673F-6ABC-FA00-46A87E86C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54025" y="3798064"/>
              <a:ext cx="6176086" cy="2306907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84F72C6-5B67-38CD-E7F9-0D3A7CAA4B98}"/>
                </a:ext>
              </a:extLst>
            </p:cNvPr>
            <p:cNvSpPr/>
            <p:nvPr/>
          </p:nvSpPr>
          <p:spPr bwMode="auto">
            <a:xfrm>
              <a:off x="2438400" y="3759804"/>
              <a:ext cx="3276601" cy="2383107"/>
            </a:xfrm>
            <a:prstGeom prst="rect">
              <a:avLst/>
            </a:prstGeom>
            <a:solidFill>
              <a:srgbClr val="FFFF00">
                <a:alpha val="14000"/>
              </a:srgbClr>
            </a:solidFill>
            <a:ln w="1270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iemens Sans Black" pitchFamily="2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5D74F6-1DD0-52DC-A161-E876BF25A2DF}"/>
                </a:ext>
              </a:extLst>
            </p:cNvPr>
            <p:cNvSpPr/>
            <p:nvPr/>
          </p:nvSpPr>
          <p:spPr bwMode="auto">
            <a:xfrm>
              <a:off x="5730626" y="3759963"/>
              <a:ext cx="2895599" cy="2383107"/>
            </a:xfrm>
            <a:prstGeom prst="rect">
              <a:avLst/>
            </a:prstGeom>
            <a:noFill/>
            <a:ln w="1270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iemens Sans Black" pitchFamily="2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F56216F-210E-5B39-6E29-4B30F54C8865}"/>
              </a:ext>
            </a:extLst>
          </p:cNvPr>
          <p:cNvSpPr/>
          <p:nvPr/>
        </p:nvSpPr>
        <p:spPr bwMode="auto">
          <a:xfrm>
            <a:off x="685799" y="1143000"/>
            <a:ext cx="3733801" cy="1566993"/>
          </a:xfrm>
          <a:prstGeom prst="rect">
            <a:avLst/>
          </a:prstGeom>
          <a:solidFill>
            <a:srgbClr val="FFFF00">
              <a:alpha val="14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3B0CBF-E24A-AA26-1B35-9B1440DA3D73}"/>
              </a:ext>
            </a:extLst>
          </p:cNvPr>
          <p:cNvSpPr txBox="1"/>
          <p:nvPr/>
        </p:nvSpPr>
        <p:spPr>
          <a:xfrm>
            <a:off x="4682505" y="1524000"/>
            <a:ext cx="2064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800000"/>
                </a:solidFill>
              </a:rPr>
              <a:t>CROSS JOIN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918FBD1-FA31-64F6-C476-6A72E50C4602}"/>
              </a:ext>
            </a:extLst>
          </p:cNvPr>
          <p:cNvSpPr/>
          <p:nvPr/>
        </p:nvSpPr>
        <p:spPr bwMode="auto">
          <a:xfrm>
            <a:off x="914400" y="4572000"/>
            <a:ext cx="1219200" cy="609600"/>
          </a:xfrm>
          <a:prstGeom prst="rightArrow">
            <a:avLst/>
          </a:prstGeom>
          <a:noFill/>
          <a:ln w="12700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9851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Inner Join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</a:pPr>
            <a:r>
              <a:rPr lang="en-US" altLang="en-US" dirty="0"/>
              <a:t>Default type of join in a joined table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Tuple is included in the result only if a matching tuple exists in the other relation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en-US" dirty="0"/>
              <a:t>Two notations:</a:t>
            </a:r>
          </a:p>
          <a:p>
            <a:pPr marL="0" indent="0">
              <a:buNone/>
            </a:pPr>
            <a:r>
              <a:rPr lang="en-US" altLang="en-US" dirty="0"/>
              <a:t>    </a:t>
            </a:r>
            <a:r>
              <a:rPr lang="en-US" altLang="en-US" sz="2200" dirty="0"/>
              <a:t>Explicit: </a:t>
            </a:r>
          </a:p>
          <a:p>
            <a:endParaRPr lang="en-US" altLang="en-US" sz="700" dirty="0"/>
          </a:p>
          <a:p>
            <a:pPr marL="457200" lvl="1" indent="0">
              <a:buNone/>
            </a:pPr>
            <a:endParaRPr lang="en-US" altLang="en-US" sz="24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altLang="en-US" dirty="0"/>
              <a:t>    </a:t>
            </a:r>
            <a:r>
              <a:rPr lang="en-US" altLang="en-US" sz="2200" dirty="0"/>
              <a:t>Implicit: </a:t>
            </a:r>
          </a:p>
          <a:p>
            <a:endParaRPr lang="en-US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B7D38C-243A-4534-A473-65F329E86015}"/>
              </a:ext>
            </a:extLst>
          </p:cNvPr>
          <p:cNvSpPr txBox="1"/>
          <p:nvPr/>
        </p:nvSpPr>
        <p:spPr>
          <a:xfrm>
            <a:off x="205689" y="6397937"/>
            <a:ext cx="5886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Join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1F1091-F8FF-9A68-2B9A-AA54EBB21D83}"/>
              </a:ext>
            </a:extLst>
          </p:cNvPr>
          <p:cNvSpPr txBox="1"/>
          <p:nvPr/>
        </p:nvSpPr>
        <p:spPr>
          <a:xfrm>
            <a:off x="2057400" y="2716418"/>
            <a:ext cx="4953000" cy="931024"/>
          </a:xfrm>
          <a:prstGeom prst="rect">
            <a:avLst/>
          </a:prstGeom>
          <a:noFill/>
          <a:ln w="15875"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</a:t>
            </a:r>
          </a:p>
          <a:p>
            <a:pPr>
              <a:lnSpc>
                <a:spcPct val="90000"/>
              </a:lnSpc>
            </a:pP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emp e INNER JOIN detail d </a:t>
            </a:r>
          </a:p>
          <a:p>
            <a:pPr>
              <a:lnSpc>
                <a:spcPct val="90000"/>
              </a:lnSpc>
            </a:pP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</a:t>
            </a:r>
            <a:r>
              <a:rPr lang="en-US" sz="2000" b="1" dirty="0" err="1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e.empno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= </a:t>
            </a:r>
            <a:r>
              <a:rPr lang="en-US" sz="2000" b="1" dirty="0" err="1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d.empno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301AC0-547E-3475-2B1B-DF9A8F4509C4}"/>
              </a:ext>
            </a:extLst>
          </p:cNvPr>
          <p:cNvSpPr txBox="1"/>
          <p:nvPr/>
        </p:nvSpPr>
        <p:spPr>
          <a:xfrm>
            <a:off x="2057400" y="3744977"/>
            <a:ext cx="4953000" cy="1208023"/>
          </a:xfrm>
          <a:prstGeom prst="rect">
            <a:avLst/>
          </a:prstGeom>
          <a:noFill/>
          <a:ln w="15875"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</a:p>
          <a:p>
            <a:pPr algn="l">
              <a:lnSpc>
                <a:spcPct val="90000"/>
              </a:lnSpc>
            </a:pP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 e, detail d </a:t>
            </a:r>
          </a:p>
          <a:p>
            <a:pPr algn="l">
              <a:lnSpc>
                <a:spcPct val="90000"/>
              </a:lnSpc>
            </a:pP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e.empno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=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d.empno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>
              <a:lnSpc>
                <a:spcPct val="90000"/>
              </a:lnSpc>
            </a:pP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e.empno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=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d.empno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BE0B8B-25AB-B396-8B11-75AE1DAC2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150625"/>
            <a:ext cx="7924800" cy="1059516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4E0279D4-A4D4-3A36-58E4-104E97ABB6E8}"/>
              </a:ext>
            </a:extLst>
          </p:cNvPr>
          <p:cNvSpPr/>
          <p:nvPr/>
        </p:nvSpPr>
        <p:spPr bwMode="auto">
          <a:xfrm>
            <a:off x="214486" y="5375583"/>
            <a:ext cx="1219200" cy="609600"/>
          </a:xfrm>
          <a:prstGeom prst="rightArrow">
            <a:avLst/>
          </a:prstGeom>
          <a:noFill/>
          <a:ln w="12700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ACE500-47FC-8A4E-FCF1-7E7383415562}"/>
              </a:ext>
            </a:extLst>
          </p:cNvPr>
          <p:cNvSpPr/>
          <p:nvPr/>
        </p:nvSpPr>
        <p:spPr bwMode="auto">
          <a:xfrm>
            <a:off x="1512437" y="5128577"/>
            <a:ext cx="4294067" cy="1085390"/>
          </a:xfrm>
          <a:prstGeom prst="rect">
            <a:avLst/>
          </a:prstGeom>
          <a:solidFill>
            <a:srgbClr val="FFFF00">
              <a:alpha val="14000"/>
            </a:srgbClr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3620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CC60B-3B5A-568E-8DC2-0B82AB2CC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AC8B3206-E0AB-A830-9D9C-BC745596B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Left Outer Join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025B0-5285-D9F3-8F03-BDBF83C1BA1D}"/>
              </a:ext>
            </a:extLst>
          </p:cNvPr>
          <p:cNvSpPr txBox="1"/>
          <p:nvPr/>
        </p:nvSpPr>
        <p:spPr>
          <a:xfrm>
            <a:off x="205689" y="6397937"/>
            <a:ext cx="5886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Join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1EC6A-612A-BBE0-67F0-1157F2F2139B}"/>
              </a:ext>
            </a:extLst>
          </p:cNvPr>
          <p:cNvSpPr txBox="1"/>
          <p:nvPr/>
        </p:nvSpPr>
        <p:spPr>
          <a:xfrm>
            <a:off x="914400" y="1066800"/>
            <a:ext cx="6934200" cy="1323439"/>
          </a:xfrm>
          <a:prstGeom prst="rect">
            <a:avLst/>
          </a:prstGeom>
          <a:noFill/>
          <a:ln w="15875"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</a:p>
          <a:p>
            <a:pPr algn="l"/>
            <a:endParaRPr lang="en-US" sz="1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 e </a:t>
            </a:r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OUTER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detail d </a:t>
            </a:r>
          </a:p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e.empno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= </a:t>
            </a:r>
            <a:r>
              <a:rPr lang="en-US" sz="2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d.empno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B79D2AB-C1F4-4385-60B6-2BDB5D178A0E}"/>
              </a:ext>
            </a:extLst>
          </p:cNvPr>
          <p:cNvGrpSpPr/>
          <p:nvPr/>
        </p:nvGrpSpPr>
        <p:grpSpPr>
          <a:xfrm>
            <a:off x="914400" y="4752792"/>
            <a:ext cx="6934200" cy="1469146"/>
            <a:chOff x="914400" y="2493254"/>
            <a:chExt cx="6934200" cy="146914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BE64C21-6D41-19A5-57EA-8A0837EAA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493255"/>
              <a:ext cx="6934200" cy="1469145"/>
            </a:xfrm>
            <a:prstGeom prst="rect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292FEB-5934-4C95-1CA1-5621A9BBA609}"/>
                </a:ext>
              </a:extLst>
            </p:cNvPr>
            <p:cNvSpPr/>
            <p:nvPr/>
          </p:nvSpPr>
          <p:spPr bwMode="auto">
            <a:xfrm>
              <a:off x="918227" y="2493254"/>
              <a:ext cx="3657600" cy="1469145"/>
            </a:xfrm>
            <a:prstGeom prst="rect">
              <a:avLst/>
            </a:prstGeom>
            <a:solidFill>
              <a:srgbClr val="FFFF00">
                <a:alpha val="14000"/>
              </a:srgbClr>
            </a:solidFill>
            <a:ln w="1270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iemens Sans Black" pitchFamily="2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95CFE03-4355-61C9-FF58-D1E7E5950F0F}"/>
              </a:ext>
            </a:extLst>
          </p:cNvPr>
          <p:cNvSpPr txBox="1"/>
          <p:nvPr/>
        </p:nvSpPr>
        <p:spPr>
          <a:xfrm>
            <a:off x="5486401" y="13716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(Right)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ECEA0C-E244-960B-D583-7E7FA04FAAAC}"/>
              </a:ext>
            </a:extLst>
          </p:cNvPr>
          <p:cNvSpPr txBox="1"/>
          <p:nvPr/>
        </p:nvSpPr>
        <p:spPr>
          <a:xfrm>
            <a:off x="1783208" y="1383268"/>
            <a:ext cx="21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CCC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(Left)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5DF575B-B1BA-F1B0-39B7-03E96B940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06" y="2782813"/>
            <a:ext cx="3689300" cy="1503349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FF9C4D8-604A-87D1-D254-AD932D8CA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607" y="2833170"/>
            <a:ext cx="3810000" cy="1059925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A718FC1-4C0E-CF93-7151-A8B9D8408512}"/>
              </a:ext>
            </a:extLst>
          </p:cNvPr>
          <p:cNvSpPr/>
          <p:nvPr/>
        </p:nvSpPr>
        <p:spPr bwMode="auto">
          <a:xfrm>
            <a:off x="788006" y="2750095"/>
            <a:ext cx="3733801" cy="1566993"/>
          </a:xfrm>
          <a:prstGeom prst="rect">
            <a:avLst/>
          </a:prstGeom>
          <a:solidFill>
            <a:srgbClr val="FFFF00">
              <a:alpha val="14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59EC4C-9791-E501-C407-E12E90B720F3}"/>
              </a:ext>
            </a:extLst>
          </p:cNvPr>
          <p:cNvSpPr txBox="1"/>
          <p:nvPr/>
        </p:nvSpPr>
        <p:spPr>
          <a:xfrm>
            <a:off x="4784712" y="3131095"/>
            <a:ext cx="2202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800000"/>
                </a:solidFill>
              </a:rPr>
              <a:t>Left Outer Join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F8369-8F03-01FB-E911-F76CBE40F457}"/>
              </a:ext>
            </a:extLst>
          </p:cNvPr>
          <p:cNvSpPr txBox="1"/>
          <p:nvPr/>
        </p:nvSpPr>
        <p:spPr>
          <a:xfrm>
            <a:off x="2312845" y="2376427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6600"/>
                </a:solidFill>
              </a:rPr>
              <a:t>emp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390C77-CC94-1BA7-1496-91C8E9934B7D}"/>
              </a:ext>
            </a:extLst>
          </p:cNvPr>
          <p:cNvSpPr txBox="1"/>
          <p:nvPr/>
        </p:nvSpPr>
        <p:spPr>
          <a:xfrm>
            <a:off x="8610600" y="2400019"/>
            <a:ext cx="922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C6600"/>
                </a:solidFill>
              </a:rPr>
              <a:t>detail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00195D2-0F07-D916-8233-03692D5C60A5}"/>
              </a:ext>
            </a:extLst>
          </p:cNvPr>
          <p:cNvSpPr/>
          <p:nvPr/>
        </p:nvSpPr>
        <p:spPr bwMode="auto">
          <a:xfrm>
            <a:off x="1427076" y="4492947"/>
            <a:ext cx="3890983" cy="707799"/>
          </a:xfrm>
          <a:custGeom>
            <a:avLst/>
            <a:gdLst>
              <a:gd name="connsiteX0" fmla="*/ 0 w 3890983"/>
              <a:gd name="connsiteY0" fmla="*/ 658062 h 707799"/>
              <a:gd name="connsiteX1" fmla="*/ 45911 w 3890983"/>
              <a:gd name="connsiteY1" fmla="*/ 612150 h 707799"/>
              <a:gd name="connsiteX2" fmla="*/ 160690 w 3890983"/>
              <a:gd name="connsiteY2" fmla="*/ 497372 h 707799"/>
              <a:gd name="connsiteX3" fmla="*/ 260164 w 3890983"/>
              <a:gd name="connsiteY3" fmla="*/ 417027 h 707799"/>
              <a:gd name="connsiteX4" fmla="*/ 279294 w 3890983"/>
              <a:gd name="connsiteY4" fmla="*/ 394072 h 707799"/>
              <a:gd name="connsiteX5" fmla="*/ 306075 w 3890983"/>
              <a:gd name="connsiteY5" fmla="*/ 371116 h 707799"/>
              <a:gd name="connsiteX6" fmla="*/ 489721 w 3890983"/>
              <a:gd name="connsiteY6" fmla="*/ 191297 h 707799"/>
              <a:gd name="connsiteX7" fmla="*/ 535632 w 3890983"/>
              <a:gd name="connsiteY7" fmla="*/ 164515 h 707799"/>
              <a:gd name="connsiteX8" fmla="*/ 696321 w 3890983"/>
              <a:gd name="connsiteY8" fmla="*/ 118604 h 707799"/>
              <a:gd name="connsiteX9" fmla="*/ 795796 w 3890983"/>
              <a:gd name="connsiteY9" fmla="*/ 87996 h 707799"/>
              <a:gd name="connsiteX10" fmla="*/ 887619 w 3890983"/>
              <a:gd name="connsiteY10" fmla="*/ 65041 h 707799"/>
              <a:gd name="connsiteX11" fmla="*/ 990919 w 3890983"/>
              <a:gd name="connsiteY11" fmla="*/ 30607 h 707799"/>
              <a:gd name="connsiteX12" fmla="*/ 1109523 w 3890983"/>
              <a:gd name="connsiteY12" fmla="*/ 7652 h 707799"/>
              <a:gd name="connsiteX13" fmla="*/ 1254909 w 3890983"/>
              <a:gd name="connsiteY13" fmla="*/ 0 h 707799"/>
              <a:gd name="connsiteX14" fmla="*/ 2326173 w 3890983"/>
              <a:gd name="connsiteY14" fmla="*/ 7652 h 707799"/>
              <a:gd name="connsiteX15" fmla="*/ 2593988 w 3890983"/>
              <a:gd name="connsiteY15" fmla="*/ 30607 h 707799"/>
              <a:gd name="connsiteX16" fmla="*/ 2651378 w 3890983"/>
              <a:gd name="connsiteY16" fmla="*/ 38259 h 707799"/>
              <a:gd name="connsiteX17" fmla="*/ 2716419 w 3890983"/>
              <a:gd name="connsiteY17" fmla="*/ 45911 h 707799"/>
              <a:gd name="connsiteX18" fmla="*/ 2781460 w 3890983"/>
              <a:gd name="connsiteY18" fmla="*/ 61215 h 707799"/>
              <a:gd name="connsiteX19" fmla="*/ 3079883 w 3890983"/>
              <a:gd name="connsiteY19" fmla="*/ 130082 h 707799"/>
              <a:gd name="connsiteX20" fmla="*/ 3206139 w 3890983"/>
              <a:gd name="connsiteY20" fmla="*/ 175993 h 707799"/>
              <a:gd name="connsiteX21" fmla="*/ 3267354 w 3890983"/>
              <a:gd name="connsiteY21" fmla="*/ 187471 h 707799"/>
              <a:gd name="connsiteX22" fmla="*/ 3393610 w 3890983"/>
              <a:gd name="connsiteY22" fmla="*/ 237208 h 707799"/>
              <a:gd name="connsiteX23" fmla="*/ 3431870 w 3890983"/>
              <a:gd name="connsiteY23" fmla="*/ 256338 h 707799"/>
              <a:gd name="connsiteX24" fmla="*/ 3473955 w 3890983"/>
              <a:gd name="connsiteY24" fmla="*/ 271642 h 707799"/>
              <a:gd name="connsiteX25" fmla="*/ 3554300 w 3890983"/>
              <a:gd name="connsiteY25" fmla="*/ 309901 h 707799"/>
              <a:gd name="connsiteX26" fmla="*/ 3634645 w 3890983"/>
              <a:gd name="connsiteY26" fmla="*/ 348160 h 707799"/>
              <a:gd name="connsiteX27" fmla="*/ 3680556 w 3890983"/>
              <a:gd name="connsiteY27" fmla="*/ 371116 h 707799"/>
              <a:gd name="connsiteX28" fmla="*/ 3753249 w 3890983"/>
              <a:gd name="connsiteY28" fmla="*/ 436157 h 707799"/>
              <a:gd name="connsiteX29" fmla="*/ 3772378 w 3890983"/>
              <a:gd name="connsiteY29" fmla="*/ 470591 h 707799"/>
              <a:gd name="connsiteX30" fmla="*/ 3806812 w 3890983"/>
              <a:gd name="connsiteY30" fmla="*/ 516502 h 707799"/>
              <a:gd name="connsiteX31" fmla="*/ 3860375 w 3890983"/>
              <a:gd name="connsiteY31" fmla="*/ 635106 h 707799"/>
              <a:gd name="connsiteX32" fmla="*/ 3868027 w 3890983"/>
              <a:gd name="connsiteY32" fmla="*/ 650410 h 707799"/>
              <a:gd name="connsiteX33" fmla="*/ 3871853 w 3890983"/>
              <a:gd name="connsiteY33" fmla="*/ 673366 h 707799"/>
              <a:gd name="connsiteX34" fmla="*/ 3890983 w 3890983"/>
              <a:gd name="connsiteY34" fmla="*/ 707799 h 70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890983" h="707799">
                <a:moveTo>
                  <a:pt x="0" y="658062"/>
                </a:moveTo>
                <a:cubicBezTo>
                  <a:pt x="31677" y="618466"/>
                  <a:pt x="-3964" y="660712"/>
                  <a:pt x="45911" y="612150"/>
                </a:cubicBezTo>
                <a:cubicBezTo>
                  <a:pt x="84677" y="574404"/>
                  <a:pt x="120769" y="533895"/>
                  <a:pt x="160690" y="497372"/>
                </a:cubicBezTo>
                <a:cubicBezTo>
                  <a:pt x="247036" y="418375"/>
                  <a:pt x="200209" y="476982"/>
                  <a:pt x="260164" y="417027"/>
                </a:cubicBezTo>
                <a:cubicBezTo>
                  <a:pt x="267207" y="409984"/>
                  <a:pt x="272251" y="401115"/>
                  <a:pt x="279294" y="394072"/>
                </a:cubicBezTo>
                <a:cubicBezTo>
                  <a:pt x="287608" y="385758"/>
                  <a:pt x="298074" y="379732"/>
                  <a:pt x="306075" y="371116"/>
                </a:cubicBezTo>
                <a:cubicBezTo>
                  <a:pt x="368240" y="304168"/>
                  <a:pt x="406595" y="239788"/>
                  <a:pt x="489721" y="191297"/>
                </a:cubicBezTo>
                <a:cubicBezTo>
                  <a:pt x="505025" y="182370"/>
                  <a:pt x="519293" y="171367"/>
                  <a:pt x="535632" y="164515"/>
                </a:cubicBezTo>
                <a:cubicBezTo>
                  <a:pt x="576031" y="147573"/>
                  <a:pt x="656747" y="129911"/>
                  <a:pt x="696321" y="118604"/>
                </a:cubicBezTo>
                <a:cubicBezTo>
                  <a:pt x="729679" y="109073"/>
                  <a:pt x="762388" y="97350"/>
                  <a:pt x="795796" y="87996"/>
                </a:cubicBezTo>
                <a:cubicBezTo>
                  <a:pt x="826177" y="79489"/>
                  <a:pt x="857762" y="75236"/>
                  <a:pt x="887619" y="65041"/>
                </a:cubicBezTo>
                <a:cubicBezTo>
                  <a:pt x="1005243" y="24877"/>
                  <a:pt x="906894" y="39010"/>
                  <a:pt x="990919" y="30607"/>
                </a:cubicBezTo>
                <a:cubicBezTo>
                  <a:pt x="1036360" y="17624"/>
                  <a:pt x="1045894" y="13809"/>
                  <a:pt x="1109523" y="7652"/>
                </a:cubicBezTo>
                <a:cubicBezTo>
                  <a:pt x="1157826" y="2978"/>
                  <a:pt x="1206447" y="2551"/>
                  <a:pt x="1254909" y="0"/>
                </a:cubicBezTo>
                <a:lnTo>
                  <a:pt x="2326173" y="7652"/>
                </a:lnTo>
                <a:cubicBezTo>
                  <a:pt x="2401891" y="9016"/>
                  <a:pt x="2509557" y="20053"/>
                  <a:pt x="2593988" y="30607"/>
                </a:cubicBezTo>
                <a:lnTo>
                  <a:pt x="2651378" y="38259"/>
                </a:lnTo>
                <a:cubicBezTo>
                  <a:pt x="2673039" y="40967"/>
                  <a:pt x="2694921" y="42117"/>
                  <a:pt x="2716419" y="45911"/>
                </a:cubicBezTo>
                <a:cubicBezTo>
                  <a:pt x="2738352" y="49782"/>
                  <a:pt x="2759634" y="56776"/>
                  <a:pt x="2781460" y="61215"/>
                </a:cubicBezTo>
                <a:cubicBezTo>
                  <a:pt x="2859736" y="77135"/>
                  <a:pt x="3002538" y="97854"/>
                  <a:pt x="3079883" y="130082"/>
                </a:cubicBezTo>
                <a:cubicBezTo>
                  <a:pt x="3115952" y="145111"/>
                  <a:pt x="3171197" y="169441"/>
                  <a:pt x="3206139" y="175993"/>
                </a:cubicBezTo>
                <a:lnTo>
                  <a:pt x="3267354" y="187471"/>
                </a:lnTo>
                <a:cubicBezTo>
                  <a:pt x="3430801" y="264386"/>
                  <a:pt x="3238984" y="177736"/>
                  <a:pt x="3393610" y="237208"/>
                </a:cubicBezTo>
                <a:cubicBezTo>
                  <a:pt x="3406918" y="242327"/>
                  <a:pt x="3418764" y="250721"/>
                  <a:pt x="3431870" y="256338"/>
                </a:cubicBezTo>
                <a:cubicBezTo>
                  <a:pt x="3445590" y="262218"/>
                  <a:pt x="3460279" y="265659"/>
                  <a:pt x="3473955" y="271642"/>
                </a:cubicBezTo>
                <a:cubicBezTo>
                  <a:pt x="3501131" y="283531"/>
                  <a:pt x="3527518" y="297148"/>
                  <a:pt x="3554300" y="309901"/>
                </a:cubicBezTo>
                <a:cubicBezTo>
                  <a:pt x="3581082" y="322654"/>
                  <a:pt x="3608114" y="334894"/>
                  <a:pt x="3634645" y="348160"/>
                </a:cubicBezTo>
                <a:cubicBezTo>
                  <a:pt x="3649949" y="355812"/>
                  <a:pt x="3666815" y="360921"/>
                  <a:pt x="3680556" y="371116"/>
                </a:cubicBezTo>
                <a:cubicBezTo>
                  <a:pt x="3706668" y="390490"/>
                  <a:pt x="3753249" y="436157"/>
                  <a:pt x="3753249" y="436157"/>
                </a:cubicBezTo>
                <a:cubicBezTo>
                  <a:pt x="3759625" y="447635"/>
                  <a:pt x="3765095" y="459666"/>
                  <a:pt x="3772378" y="470591"/>
                </a:cubicBezTo>
                <a:cubicBezTo>
                  <a:pt x="3782989" y="486508"/>
                  <a:pt x="3797206" y="499959"/>
                  <a:pt x="3806812" y="516502"/>
                </a:cubicBezTo>
                <a:cubicBezTo>
                  <a:pt x="3858751" y="605952"/>
                  <a:pt x="3824496" y="563349"/>
                  <a:pt x="3860375" y="635106"/>
                </a:cubicBezTo>
                <a:lnTo>
                  <a:pt x="3868027" y="650410"/>
                </a:lnTo>
                <a:cubicBezTo>
                  <a:pt x="3869302" y="658062"/>
                  <a:pt x="3868384" y="666427"/>
                  <a:pt x="3871853" y="673366"/>
                </a:cubicBezTo>
                <a:cubicBezTo>
                  <a:pt x="3898390" y="726438"/>
                  <a:pt x="3879762" y="651694"/>
                  <a:pt x="3890983" y="707799"/>
                </a:cubicBezTo>
              </a:path>
            </a:pathLst>
          </a:custGeom>
          <a:noFill/>
          <a:ln w="12700" cap="flat" cmpd="sng" algn="ctr">
            <a:solidFill>
              <a:srgbClr val="FF9900"/>
            </a:solidFill>
            <a:prstDash val="solid"/>
            <a:round/>
            <a:headEnd type="arrow" w="med" len="med"/>
            <a:tailEnd type="stealth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836274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05F79-3B27-91FF-0468-F94DE4333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9D8B687D-0983-80D8-C45A-C301B4D7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Right Outer Join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577C2-7F23-7AC4-C6CB-9289778ADEA8}"/>
              </a:ext>
            </a:extLst>
          </p:cNvPr>
          <p:cNvSpPr txBox="1"/>
          <p:nvPr/>
        </p:nvSpPr>
        <p:spPr>
          <a:xfrm>
            <a:off x="205689" y="6397937"/>
            <a:ext cx="5886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Join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692C57-C607-29BA-8DBD-502FC8F59D8F}"/>
              </a:ext>
            </a:extLst>
          </p:cNvPr>
          <p:cNvSpPr txBox="1"/>
          <p:nvPr/>
        </p:nvSpPr>
        <p:spPr>
          <a:xfrm>
            <a:off x="914400" y="1066800"/>
            <a:ext cx="6934200" cy="1323439"/>
          </a:xfrm>
          <a:prstGeom prst="rect">
            <a:avLst/>
          </a:prstGeom>
          <a:noFill/>
          <a:ln w="15875"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</a:p>
          <a:p>
            <a:pPr algn="l"/>
            <a:endParaRPr lang="en-US" sz="1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 e </a:t>
            </a:r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OUTER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detail d </a:t>
            </a:r>
          </a:p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e.empno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= </a:t>
            </a:r>
            <a:r>
              <a:rPr lang="en-US" sz="2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d.empno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EA6196-C259-4804-636F-21249FD0981C}"/>
              </a:ext>
            </a:extLst>
          </p:cNvPr>
          <p:cNvSpPr txBox="1"/>
          <p:nvPr/>
        </p:nvSpPr>
        <p:spPr>
          <a:xfrm>
            <a:off x="5867400" y="137135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(Right)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5C12B6-8DD5-68E6-C225-CFBBCF9956BC}"/>
              </a:ext>
            </a:extLst>
          </p:cNvPr>
          <p:cNvSpPr txBox="1"/>
          <p:nvPr/>
        </p:nvSpPr>
        <p:spPr>
          <a:xfrm>
            <a:off x="1794686" y="1363888"/>
            <a:ext cx="21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CCC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(Left)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0071A6-CF01-FC53-2A81-3F37DA28E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06" y="2772311"/>
            <a:ext cx="3689300" cy="1503349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74145E3-AA4A-5345-39E5-D2810760E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607" y="2822668"/>
            <a:ext cx="3810000" cy="1059925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7016ADF-76A6-0C96-92A0-40B35C17266B}"/>
              </a:ext>
            </a:extLst>
          </p:cNvPr>
          <p:cNvSpPr/>
          <p:nvPr/>
        </p:nvSpPr>
        <p:spPr bwMode="auto">
          <a:xfrm>
            <a:off x="788006" y="2739593"/>
            <a:ext cx="3733801" cy="1566993"/>
          </a:xfrm>
          <a:prstGeom prst="rect">
            <a:avLst/>
          </a:prstGeom>
          <a:solidFill>
            <a:srgbClr val="FFFF00">
              <a:alpha val="14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559990-7DAE-CF0D-EEE3-BF2DB460AFC1}"/>
              </a:ext>
            </a:extLst>
          </p:cNvPr>
          <p:cNvSpPr txBox="1"/>
          <p:nvPr/>
        </p:nvSpPr>
        <p:spPr>
          <a:xfrm>
            <a:off x="4572000" y="3120593"/>
            <a:ext cx="2409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800000"/>
                </a:solidFill>
              </a:rPr>
              <a:t>Right Outer Join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2FEC8B-47E9-254F-A0B9-AD42AFE6402C}"/>
              </a:ext>
            </a:extLst>
          </p:cNvPr>
          <p:cNvSpPr txBox="1"/>
          <p:nvPr/>
        </p:nvSpPr>
        <p:spPr>
          <a:xfrm>
            <a:off x="2312845" y="2367485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C6600"/>
                </a:solidFill>
              </a:rPr>
              <a:t>emp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44D7FA-E101-8390-8DAC-B061C742C2D9}"/>
              </a:ext>
            </a:extLst>
          </p:cNvPr>
          <p:cNvSpPr txBox="1"/>
          <p:nvPr/>
        </p:nvSpPr>
        <p:spPr>
          <a:xfrm>
            <a:off x="8610600" y="2391077"/>
            <a:ext cx="987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6600"/>
                </a:solidFill>
              </a:rPr>
              <a:t>detail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D954EA8-457B-764B-0BED-8B2CCBBB7B49}"/>
              </a:ext>
            </a:extLst>
          </p:cNvPr>
          <p:cNvSpPr/>
          <p:nvPr/>
        </p:nvSpPr>
        <p:spPr bwMode="auto">
          <a:xfrm>
            <a:off x="1427076" y="4482445"/>
            <a:ext cx="3890983" cy="707799"/>
          </a:xfrm>
          <a:custGeom>
            <a:avLst/>
            <a:gdLst>
              <a:gd name="connsiteX0" fmla="*/ 0 w 3890983"/>
              <a:gd name="connsiteY0" fmla="*/ 658062 h 707799"/>
              <a:gd name="connsiteX1" fmla="*/ 45911 w 3890983"/>
              <a:gd name="connsiteY1" fmla="*/ 612150 h 707799"/>
              <a:gd name="connsiteX2" fmla="*/ 160690 w 3890983"/>
              <a:gd name="connsiteY2" fmla="*/ 497372 h 707799"/>
              <a:gd name="connsiteX3" fmla="*/ 260164 w 3890983"/>
              <a:gd name="connsiteY3" fmla="*/ 417027 h 707799"/>
              <a:gd name="connsiteX4" fmla="*/ 279294 w 3890983"/>
              <a:gd name="connsiteY4" fmla="*/ 394072 h 707799"/>
              <a:gd name="connsiteX5" fmla="*/ 306075 w 3890983"/>
              <a:gd name="connsiteY5" fmla="*/ 371116 h 707799"/>
              <a:gd name="connsiteX6" fmla="*/ 489721 w 3890983"/>
              <a:gd name="connsiteY6" fmla="*/ 191297 h 707799"/>
              <a:gd name="connsiteX7" fmla="*/ 535632 w 3890983"/>
              <a:gd name="connsiteY7" fmla="*/ 164515 h 707799"/>
              <a:gd name="connsiteX8" fmla="*/ 696321 w 3890983"/>
              <a:gd name="connsiteY8" fmla="*/ 118604 h 707799"/>
              <a:gd name="connsiteX9" fmla="*/ 795796 w 3890983"/>
              <a:gd name="connsiteY9" fmla="*/ 87996 h 707799"/>
              <a:gd name="connsiteX10" fmla="*/ 887619 w 3890983"/>
              <a:gd name="connsiteY10" fmla="*/ 65041 h 707799"/>
              <a:gd name="connsiteX11" fmla="*/ 990919 w 3890983"/>
              <a:gd name="connsiteY11" fmla="*/ 30607 h 707799"/>
              <a:gd name="connsiteX12" fmla="*/ 1109523 w 3890983"/>
              <a:gd name="connsiteY12" fmla="*/ 7652 h 707799"/>
              <a:gd name="connsiteX13" fmla="*/ 1254909 w 3890983"/>
              <a:gd name="connsiteY13" fmla="*/ 0 h 707799"/>
              <a:gd name="connsiteX14" fmla="*/ 2326173 w 3890983"/>
              <a:gd name="connsiteY14" fmla="*/ 7652 h 707799"/>
              <a:gd name="connsiteX15" fmla="*/ 2593988 w 3890983"/>
              <a:gd name="connsiteY15" fmla="*/ 30607 h 707799"/>
              <a:gd name="connsiteX16" fmla="*/ 2651378 w 3890983"/>
              <a:gd name="connsiteY16" fmla="*/ 38259 h 707799"/>
              <a:gd name="connsiteX17" fmla="*/ 2716419 w 3890983"/>
              <a:gd name="connsiteY17" fmla="*/ 45911 h 707799"/>
              <a:gd name="connsiteX18" fmla="*/ 2781460 w 3890983"/>
              <a:gd name="connsiteY18" fmla="*/ 61215 h 707799"/>
              <a:gd name="connsiteX19" fmla="*/ 3079883 w 3890983"/>
              <a:gd name="connsiteY19" fmla="*/ 130082 h 707799"/>
              <a:gd name="connsiteX20" fmla="*/ 3206139 w 3890983"/>
              <a:gd name="connsiteY20" fmla="*/ 175993 h 707799"/>
              <a:gd name="connsiteX21" fmla="*/ 3267354 w 3890983"/>
              <a:gd name="connsiteY21" fmla="*/ 187471 h 707799"/>
              <a:gd name="connsiteX22" fmla="*/ 3393610 w 3890983"/>
              <a:gd name="connsiteY22" fmla="*/ 237208 h 707799"/>
              <a:gd name="connsiteX23" fmla="*/ 3431870 w 3890983"/>
              <a:gd name="connsiteY23" fmla="*/ 256338 h 707799"/>
              <a:gd name="connsiteX24" fmla="*/ 3473955 w 3890983"/>
              <a:gd name="connsiteY24" fmla="*/ 271642 h 707799"/>
              <a:gd name="connsiteX25" fmla="*/ 3554300 w 3890983"/>
              <a:gd name="connsiteY25" fmla="*/ 309901 h 707799"/>
              <a:gd name="connsiteX26" fmla="*/ 3634645 w 3890983"/>
              <a:gd name="connsiteY26" fmla="*/ 348160 h 707799"/>
              <a:gd name="connsiteX27" fmla="*/ 3680556 w 3890983"/>
              <a:gd name="connsiteY27" fmla="*/ 371116 h 707799"/>
              <a:gd name="connsiteX28" fmla="*/ 3753249 w 3890983"/>
              <a:gd name="connsiteY28" fmla="*/ 436157 h 707799"/>
              <a:gd name="connsiteX29" fmla="*/ 3772378 w 3890983"/>
              <a:gd name="connsiteY29" fmla="*/ 470591 h 707799"/>
              <a:gd name="connsiteX30" fmla="*/ 3806812 w 3890983"/>
              <a:gd name="connsiteY30" fmla="*/ 516502 h 707799"/>
              <a:gd name="connsiteX31" fmla="*/ 3860375 w 3890983"/>
              <a:gd name="connsiteY31" fmla="*/ 635106 h 707799"/>
              <a:gd name="connsiteX32" fmla="*/ 3868027 w 3890983"/>
              <a:gd name="connsiteY32" fmla="*/ 650410 h 707799"/>
              <a:gd name="connsiteX33" fmla="*/ 3871853 w 3890983"/>
              <a:gd name="connsiteY33" fmla="*/ 673366 h 707799"/>
              <a:gd name="connsiteX34" fmla="*/ 3890983 w 3890983"/>
              <a:gd name="connsiteY34" fmla="*/ 707799 h 70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890983" h="707799">
                <a:moveTo>
                  <a:pt x="0" y="658062"/>
                </a:moveTo>
                <a:cubicBezTo>
                  <a:pt x="31677" y="618466"/>
                  <a:pt x="-3964" y="660712"/>
                  <a:pt x="45911" y="612150"/>
                </a:cubicBezTo>
                <a:cubicBezTo>
                  <a:pt x="84677" y="574404"/>
                  <a:pt x="120769" y="533895"/>
                  <a:pt x="160690" y="497372"/>
                </a:cubicBezTo>
                <a:cubicBezTo>
                  <a:pt x="247036" y="418375"/>
                  <a:pt x="200209" y="476982"/>
                  <a:pt x="260164" y="417027"/>
                </a:cubicBezTo>
                <a:cubicBezTo>
                  <a:pt x="267207" y="409984"/>
                  <a:pt x="272251" y="401115"/>
                  <a:pt x="279294" y="394072"/>
                </a:cubicBezTo>
                <a:cubicBezTo>
                  <a:pt x="287608" y="385758"/>
                  <a:pt x="298074" y="379732"/>
                  <a:pt x="306075" y="371116"/>
                </a:cubicBezTo>
                <a:cubicBezTo>
                  <a:pt x="368240" y="304168"/>
                  <a:pt x="406595" y="239788"/>
                  <a:pt x="489721" y="191297"/>
                </a:cubicBezTo>
                <a:cubicBezTo>
                  <a:pt x="505025" y="182370"/>
                  <a:pt x="519293" y="171367"/>
                  <a:pt x="535632" y="164515"/>
                </a:cubicBezTo>
                <a:cubicBezTo>
                  <a:pt x="576031" y="147573"/>
                  <a:pt x="656747" y="129911"/>
                  <a:pt x="696321" y="118604"/>
                </a:cubicBezTo>
                <a:cubicBezTo>
                  <a:pt x="729679" y="109073"/>
                  <a:pt x="762388" y="97350"/>
                  <a:pt x="795796" y="87996"/>
                </a:cubicBezTo>
                <a:cubicBezTo>
                  <a:pt x="826177" y="79489"/>
                  <a:pt x="857762" y="75236"/>
                  <a:pt x="887619" y="65041"/>
                </a:cubicBezTo>
                <a:cubicBezTo>
                  <a:pt x="1005243" y="24877"/>
                  <a:pt x="906894" y="39010"/>
                  <a:pt x="990919" y="30607"/>
                </a:cubicBezTo>
                <a:cubicBezTo>
                  <a:pt x="1036360" y="17624"/>
                  <a:pt x="1045894" y="13809"/>
                  <a:pt x="1109523" y="7652"/>
                </a:cubicBezTo>
                <a:cubicBezTo>
                  <a:pt x="1157826" y="2978"/>
                  <a:pt x="1206447" y="2551"/>
                  <a:pt x="1254909" y="0"/>
                </a:cubicBezTo>
                <a:lnTo>
                  <a:pt x="2326173" y="7652"/>
                </a:lnTo>
                <a:cubicBezTo>
                  <a:pt x="2401891" y="9016"/>
                  <a:pt x="2509557" y="20053"/>
                  <a:pt x="2593988" y="30607"/>
                </a:cubicBezTo>
                <a:lnTo>
                  <a:pt x="2651378" y="38259"/>
                </a:lnTo>
                <a:cubicBezTo>
                  <a:pt x="2673039" y="40967"/>
                  <a:pt x="2694921" y="42117"/>
                  <a:pt x="2716419" y="45911"/>
                </a:cubicBezTo>
                <a:cubicBezTo>
                  <a:pt x="2738352" y="49782"/>
                  <a:pt x="2759634" y="56776"/>
                  <a:pt x="2781460" y="61215"/>
                </a:cubicBezTo>
                <a:cubicBezTo>
                  <a:pt x="2859736" y="77135"/>
                  <a:pt x="3002538" y="97854"/>
                  <a:pt x="3079883" y="130082"/>
                </a:cubicBezTo>
                <a:cubicBezTo>
                  <a:pt x="3115952" y="145111"/>
                  <a:pt x="3171197" y="169441"/>
                  <a:pt x="3206139" y="175993"/>
                </a:cubicBezTo>
                <a:lnTo>
                  <a:pt x="3267354" y="187471"/>
                </a:lnTo>
                <a:cubicBezTo>
                  <a:pt x="3430801" y="264386"/>
                  <a:pt x="3238984" y="177736"/>
                  <a:pt x="3393610" y="237208"/>
                </a:cubicBezTo>
                <a:cubicBezTo>
                  <a:pt x="3406918" y="242327"/>
                  <a:pt x="3418764" y="250721"/>
                  <a:pt x="3431870" y="256338"/>
                </a:cubicBezTo>
                <a:cubicBezTo>
                  <a:pt x="3445590" y="262218"/>
                  <a:pt x="3460279" y="265659"/>
                  <a:pt x="3473955" y="271642"/>
                </a:cubicBezTo>
                <a:cubicBezTo>
                  <a:pt x="3501131" y="283531"/>
                  <a:pt x="3527518" y="297148"/>
                  <a:pt x="3554300" y="309901"/>
                </a:cubicBezTo>
                <a:cubicBezTo>
                  <a:pt x="3581082" y="322654"/>
                  <a:pt x="3608114" y="334894"/>
                  <a:pt x="3634645" y="348160"/>
                </a:cubicBezTo>
                <a:cubicBezTo>
                  <a:pt x="3649949" y="355812"/>
                  <a:pt x="3666815" y="360921"/>
                  <a:pt x="3680556" y="371116"/>
                </a:cubicBezTo>
                <a:cubicBezTo>
                  <a:pt x="3706668" y="390490"/>
                  <a:pt x="3753249" y="436157"/>
                  <a:pt x="3753249" y="436157"/>
                </a:cubicBezTo>
                <a:cubicBezTo>
                  <a:pt x="3759625" y="447635"/>
                  <a:pt x="3765095" y="459666"/>
                  <a:pt x="3772378" y="470591"/>
                </a:cubicBezTo>
                <a:cubicBezTo>
                  <a:pt x="3782989" y="486508"/>
                  <a:pt x="3797206" y="499959"/>
                  <a:pt x="3806812" y="516502"/>
                </a:cubicBezTo>
                <a:cubicBezTo>
                  <a:pt x="3858751" y="605952"/>
                  <a:pt x="3824496" y="563349"/>
                  <a:pt x="3860375" y="635106"/>
                </a:cubicBezTo>
                <a:lnTo>
                  <a:pt x="3868027" y="650410"/>
                </a:lnTo>
                <a:cubicBezTo>
                  <a:pt x="3869302" y="658062"/>
                  <a:pt x="3868384" y="666427"/>
                  <a:pt x="3871853" y="673366"/>
                </a:cubicBezTo>
                <a:cubicBezTo>
                  <a:pt x="3898390" y="726438"/>
                  <a:pt x="3879762" y="651694"/>
                  <a:pt x="3890983" y="707799"/>
                </a:cubicBezTo>
              </a:path>
            </a:pathLst>
          </a:custGeom>
          <a:noFill/>
          <a:ln w="12700" cap="flat" cmpd="sng" algn="ctr">
            <a:solidFill>
              <a:srgbClr val="FF9900"/>
            </a:solidFill>
            <a:prstDash val="solid"/>
            <a:round/>
            <a:headEnd type="arrow" w="med" len="med"/>
            <a:tailEnd type="stealth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FBCFD4-BB56-62F1-05ED-F2232919E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732" y="5190244"/>
            <a:ext cx="7714694" cy="981956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1B87051-F63E-7FB4-F011-8705F677A119}"/>
              </a:ext>
            </a:extLst>
          </p:cNvPr>
          <p:cNvSpPr/>
          <p:nvPr/>
        </p:nvSpPr>
        <p:spPr bwMode="auto">
          <a:xfrm>
            <a:off x="764732" y="5199121"/>
            <a:ext cx="4188268" cy="965427"/>
          </a:xfrm>
          <a:prstGeom prst="rect">
            <a:avLst/>
          </a:prstGeom>
          <a:solidFill>
            <a:srgbClr val="FFFF00">
              <a:alpha val="14000"/>
            </a:srgbClr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063809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405D2-FCEC-A258-7727-4FD3D32F9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CA2933-1500-8AFC-81F3-D01DA7C2E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 By</a:t>
            </a:r>
          </a:p>
        </p:txBody>
      </p:sp>
    </p:spTree>
    <p:extLst>
      <p:ext uri="{BB962C8B-B14F-4D97-AF65-F5344CB8AC3E}">
        <p14:creationId xmlns:p14="http://schemas.microsoft.com/office/powerpoint/2010/main" val="291031548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BA0B7-E085-5441-42DB-F0C65C0C0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14B84727-2D41-74B0-0225-932958C67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Group By Single Column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4400C1-6EA6-5140-A233-2F3F0606DBF5}"/>
              </a:ext>
            </a:extLst>
          </p:cNvPr>
          <p:cNvSpPr txBox="1"/>
          <p:nvPr/>
        </p:nvSpPr>
        <p:spPr>
          <a:xfrm>
            <a:off x="152400" y="1076980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employee ( </a:t>
            </a:r>
            <a:r>
              <a:rPr lang="en-US" sz="2400" u="sng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empno</a:t>
            </a:r>
            <a:r>
              <a:rPr lang="en-US" sz="24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, workdept, salary, … );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8ABCE6-F6C5-E7E6-465F-5DD602A0D8B8}"/>
              </a:ext>
            </a:extLst>
          </p:cNvPr>
          <p:cNvCxnSpPr/>
          <p:nvPr/>
        </p:nvCxnSpPr>
        <p:spPr bwMode="auto">
          <a:xfrm>
            <a:off x="2743200" y="2933540"/>
            <a:ext cx="1447800" cy="0"/>
          </a:xfrm>
          <a:prstGeom prst="line">
            <a:avLst/>
          </a:prstGeom>
          <a:noFill/>
          <a:ln w="19050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5A08850-8CB1-34B0-0666-E10BE64D2DBC}"/>
              </a:ext>
            </a:extLst>
          </p:cNvPr>
          <p:cNvSpPr txBox="1"/>
          <p:nvPr/>
        </p:nvSpPr>
        <p:spPr>
          <a:xfrm>
            <a:off x="1021845" y="1804179"/>
            <a:ext cx="7512555" cy="1200329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workdept, 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(salary) </a:t>
            </a:r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avgsal </a:t>
            </a:r>
          </a:p>
          <a:p>
            <a:pPr algn="l"/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employee</a:t>
            </a:r>
            <a:endParaRPr lang="en-US" sz="24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workdept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4BA99C2-CD72-2A2B-E414-B30F24845D7A}"/>
              </a:ext>
            </a:extLst>
          </p:cNvPr>
          <p:cNvCxnSpPr>
            <a:cxnSpLocks/>
          </p:cNvCxnSpPr>
          <p:nvPr/>
        </p:nvCxnSpPr>
        <p:spPr bwMode="auto">
          <a:xfrm>
            <a:off x="2438400" y="2190670"/>
            <a:ext cx="1447800" cy="0"/>
          </a:xfrm>
          <a:prstGeom prst="line">
            <a:avLst/>
          </a:prstGeom>
          <a:noFill/>
          <a:ln w="19050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26D70436-EAE8-65BD-CD1D-853D30315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804179"/>
            <a:ext cx="2606806" cy="2678864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F29E16-CD95-0D7B-804B-99A7ECFA5264}"/>
              </a:ext>
            </a:extLst>
          </p:cNvPr>
          <p:cNvSpPr txBox="1"/>
          <p:nvPr/>
        </p:nvSpPr>
        <p:spPr>
          <a:xfrm>
            <a:off x="205689" y="6397937"/>
            <a:ext cx="12618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GROUP BY</a:t>
            </a:r>
          </a:p>
        </p:txBody>
      </p:sp>
    </p:spTree>
    <p:extLst>
      <p:ext uri="{BB962C8B-B14F-4D97-AF65-F5344CB8AC3E}">
        <p14:creationId xmlns:p14="http://schemas.microsoft.com/office/powerpoint/2010/main" val="64822058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Group By Multiple Columns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88864" y="887270"/>
            <a:ext cx="8001000" cy="1447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</p:spPr>
        <p:txBody>
          <a:bodyPr tIns="91440" bIns="91440"/>
          <a:lstStyle/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workdept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sex, </a:t>
            </a:r>
            <a:r>
              <a:rPr lang="en-US" sz="2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(salary) </a:t>
            </a:r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avgsal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employee</a:t>
            </a:r>
          </a:p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workdept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sex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2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39A4AD-12F9-410D-A00F-1E119D31C462}"/>
              </a:ext>
            </a:extLst>
          </p:cNvPr>
          <p:cNvSpPr txBox="1"/>
          <p:nvPr/>
        </p:nvSpPr>
        <p:spPr>
          <a:xfrm>
            <a:off x="205689" y="6397937"/>
            <a:ext cx="12618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GROUP BY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EA8569-107C-33E6-D4EF-F1B9864A2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47" y="2590800"/>
            <a:ext cx="3771505" cy="3503139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54A7A45-E387-0205-15A9-A2B68884888B}"/>
              </a:ext>
            </a:extLst>
          </p:cNvPr>
          <p:cNvSpPr txBox="1">
            <a:spLocks/>
          </p:cNvSpPr>
          <p:nvPr/>
        </p:nvSpPr>
        <p:spPr bwMode="auto">
          <a:xfrm>
            <a:off x="4267200" y="2590800"/>
            <a:ext cx="6934200" cy="1447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</p:spPr>
        <p:txBody>
          <a:bodyPr tIns="91440" bIns="91440"/>
          <a:lstStyle/>
          <a:p>
            <a:pPr algn="l"/>
            <a:r>
              <a:rPr lang="en-US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workdept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sex, </a:t>
            </a:r>
          </a:p>
          <a:p>
            <a:pPr algn="l"/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(salary)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DECIMAL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 </a:t>
            </a:r>
            <a:r>
              <a:rPr lang="en-US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avgsal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algn="l"/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(empno) </a:t>
            </a:r>
            <a:r>
              <a:rPr lang="en-US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empcount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algn="l"/>
            <a:r>
              <a:rPr lang="en-US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employee</a:t>
            </a:r>
          </a:p>
          <a:p>
            <a:pPr algn="l"/>
            <a:r>
              <a:rPr lang="en-US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workdept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sex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2C71B5-97BF-4F48-5568-E896C2545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9931" y="3737307"/>
            <a:ext cx="2562069" cy="2587293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830869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GROUP BY, HAVING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Return the average of salaries of managers for department where the average is large than 80K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sz="4000" dirty="0"/>
          </a:p>
          <a:p>
            <a:pPr>
              <a:spcBef>
                <a:spcPts val="300"/>
              </a:spcBef>
            </a:pPr>
            <a:r>
              <a:rPr lang="en-US" altLang="en-US" dirty="0"/>
              <a:t>HAVING vs WHERE:</a:t>
            </a:r>
          </a:p>
          <a:p>
            <a:pPr lvl="1">
              <a:spcBef>
                <a:spcPts val="300"/>
              </a:spcBef>
            </a:pPr>
            <a:r>
              <a:rPr lang="en-US" altLang="en-US" sz="2000" dirty="0"/>
              <a:t>The WHERE clause applies the condition to </a:t>
            </a:r>
            <a:r>
              <a:rPr lang="en-US" altLang="en-US" sz="2000" dirty="0">
                <a:solidFill>
                  <a:schemeClr val="accent6"/>
                </a:solidFill>
              </a:rPr>
              <a:t>individual rows </a:t>
            </a:r>
            <a:r>
              <a:rPr lang="en-US" altLang="en-US" sz="2000" dirty="0"/>
              <a:t>before the rows are summarized</a:t>
            </a:r>
          </a:p>
          <a:p>
            <a:pPr lvl="1">
              <a:spcBef>
                <a:spcPts val="300"/>
              </a:spcBef>
            </a:pPr>
            <a:r>
              <a:rPr lang="en-US" altLang="en-US" sz="2000" dirty="0"/>
              <a:t>HAVING clause applies only to </a:t>
            </a:r>
            <a:r>
              <a:rPr lang="en-US" altLang="en-US" sz="2000" dirty="0">
                <a:solidFill>
                  <a:schemeClr val="accent6"/>
                </a:solidFill>
              </a:rPr>
              <a:t>groups</a:t>
            </a:r>
            <a:r>
              <a:rPr lang="en-US" altLang="en-US" sz="2000" dirty="0"/>
              <a:t> as a whole, i.e., to the rows in the result set representing groups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09600" y="1752600"/>
            <a:ext cx="5257800" cy="160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</p:spPr>
        <p:txBody>
          <a:bodyPr tIns="91440" bIns="91440"/>
          <a:lstStyle/>
          <a:p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workdept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(salary)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avgsal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employee</a:t>
            </a:r>
          </a:p>
          <a:p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workdept</a:t>
            </a:r>
            <a:endParaRPr lang="en-US" sz="20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avgsal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80000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0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C670E0-F895-4804-9C85-5CFCE5DDB9B3}"/>
              </a:ext>
            </a:extLst>
          </p:cNvPr>
          <p:cNvSpPr txBox="1"/>
          <p:nvPr/>
        </p:nvSpPr>
        <p:spPr>
          <a:xfrm>
            <a:off x="205689" y="6397937"/>
            <a:ext cx="12618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GROUP BY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8F8491-1CB1-D26D-44DB-C616A9450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484652"/>
            <a:ext cx="2133600" cy="798804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44EF9E5-1857-BE1F-BD26-B467D3A5DC5A}"/>
              </a:ext>
            </a:extLst>
          </p:cNvPr>
          <p:cNvGrpSpPr/>
          <p:nvPr/>
        </p:nvGrpSpPr>
        <p:grpSpPr>
          <a:xfrm>
            <a:off x="6293310" y="1732052"/>
            <a:ext cx="5257800" cy="2514600"/>
            <a:chOff x="6293310" y="1752600"/>
            <a:chExt cx="5257800" cy="2514600"/>
          </a:xfrm>
        </p:grpSpPr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5240650E-1063-D482-CA65-8648781178E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293310" y="1752600"/>
              <a:ext cx="5257800" cy="1752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>
              <a:outerShdw blurRad="889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tIns="91440" bIns="91440"/>
            <a:lstStyle/>
            <a:p>
              <a:pPr algn="l"/>
              <a:r>
                <a:rPr lang="en-US" sz="1800" b="1" dirty="0">
                  <a:solidFill>
                    <a:srgbClr val="8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SELECT</a:t>
              </a:r>
              <a:r>
                <a:rPr lang="en-US" sz="18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8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workdept</a:t>
              </a:r>
              <a:r>
                <a:rPr lang="en-US" sz="18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en-US" sz="18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AVG</a:t>
              </a:r>
              <a:r>
                <a:rPr lang="en-US" sz="18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(salary) </a:t>
              </a:r>
              <a:r>
                <a:rPr lang="en-US" sz="1800" b="1" dirty="0">
                  <a:solidFill>
                    <a:srgbClr val="8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AS</a:t>
              </a:r>
              <a:r>
                <a:rPr lang="en-US" sz="18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8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avgsal</a:t>
              </a:r>
              <a:r>
                <a:rPr lang="en-US" sz="18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</a:p>
            <a:p>
              <a:pPr algn="l"/>
              <a:r>
                <a:rPr lang="en-US" sz="1800" b="1" dirty="0">
                  <a:solidFill>
                    <a:srgbClr val="8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FROM</a:t>
              </a:r>
              <a:r>
                <a:rPr lang="en-US" sz="18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employee</a:t>
              </a:r>
            </a:p>
            <a:p>
              <a:pPr algn="l"/>
              <a:r>
                <a:rPr lang="en-US" sz="1800" b="1" dirty="0">
                  <a:solidFill>
                    <a:srgbClr val="8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WHERE</a:t>
              </a:r>
              <a:r>
                <a:rPr lang="en-US" sz="18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sex = </a:t>
              </a:r>
              <a:r>
                <a:rPr lang="en-US" sz="1800" b="1" dirty="0">
                  <a:solidFill>
                    <a:srgbClr val="00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'F'</a:t>
              </a:r>
            </a:p>
            <a:p>
              <a:pPr algn="l"/>
              <a:r>
                <a:rPr lang="en-US" sz="1800" b="1" dirty="0">
                  <a:solidFill>
                    <a:srgbClr val="8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GROUP</a:t>
              </a:r>
              <a:r>
                <a:rPr lang="en-US" sz="18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800" b="1" dirty="0">
                  <a:solidFill>
                    <a:srgbClr val="8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BY</a:t>
              </a:r>
              <a:r>
                <a:rPr lang="en-US" sz="18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8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workdept</a:t>
              </a:r>
              <a:endPara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l"/>
              <a:r>
                <a:rPr lang="en-US" sz="1800" b="1" dirty="0">
                  <a:solidFill>
                    <a:srgbClr val="8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HAVING</a:t>
              </a:r>
              <a:r>
                <a:rPr lang="en-US" sz="18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8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avgsal</a:t>
              </a:r>
              <a:r>
                <a:rPr lang="en-US" sz="18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&gt; </a:t>
              </a:r>
              <a:r>
                <a:rPr lang="en-US" sz="1800" b="1" dirty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80000</a:t>
              </a:r>
              <a:r>
                <a:rPr lang="en-US" sz="18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  <a:endPara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FCA66B9-2991-D1C0-E7B1-5D1A2D2D3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72399" y="3657600"/>
              <a:ext cx="2127991" cy="609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>
              <a:outerShdw blurRad="889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7966102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A3436-6766-C2F0-B7CD-65FEDD7C7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CBD105-580C-7358-61E9-8D8D89EB8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Nested Queries</a:t>
            </a:r>
          </a:p>
        </p:txBody>
      </p:sp>
    </p:spTree>
    <p:extLst>
      <p:ext uri="{BB962C8B-B14F-4D97-AF65-F5344CB8AC3E}">
        <p14:creationId xmlns:p14="http://schemas.microsoft.com/office/powerpoint/2010/main" val="155264194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F6592-EF2F-8A57-E812-87B62F904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F394D-049F-5CFA-3691-9FA6BAD8C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Queries (Subqueries)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25129-AFAA-EB0B-A334-159FFAA48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subquery can return:</a:t>
            </a:r>
          </a:p>
          <a:p>
            <a:pPr lvl="1"/>
            <a:r>
              <a:rPr lang="en-US" dirty="0"/>
              <a:t>a scalar value (single value)</a:t>
            </a:r>
          </a:p>
          <a:p>
            <a:pPr lvl="1"/>
            <a:r>
              <a:rPr lang="en-US" dirty="0"/>
              <a:t>a logical condition</a:t>
            </a:r>
          </a:p>
          <a:p>
            <a:pPr lvl="1"/>
            <a:r>
              <a:rPr lang="en-US" dirty="0"/>
              <a:t>a set (table)</a:t>
            </a:r>
          </a:p>
          <a:p>
            <a:r>
              <a:rPr lang="en-US" dirty="0"/>
              <a:t>There are three subquery/nested query cases:</a:t>
            </a:r>
          </a:p>
          <a:p>
            <a:pPr marL="400050" lvl="1" indent="0">
              <a:buNone/>
            </a:pPr>
            <a:r>
              <a:rPr lang="en-US" dirty="0"/>
              <a:t>=, &gt; (</a:t>
            </a:r>
            <a:r>
              <a:rPr lang="en-US" dirty="0">
                <a:solidFill>
                  <a:schemeClr val="accent2"/>
                </a:solidFill>
              </a:rPr>
              <a:t>single value</a:t>
            </a:r>
            <a:r>
              <a:rPr lang="en-US" dirty="0"/>
              <a:t>)</a:t>
            </a:r>
          </a:p>
          <a:p>
            <a:pPr marL="400050" lvl="1" indent="0">
              <a:buNone/>
            </a:pPr>
            <a:r>
              <a:rPr lang="en-US" dirty="0"/>
              <a:t>IN, </a:t>
            </a:r>
            <a:r>
              <a:rPr lang="en-US" b="0" i="0" dirty="0">
                <a:effectLst/>
                <a:latin typeface="Helvetica" panose="020B0604020202030204" pitchFamily="34" charset="0"/>
              </a:rPr>
              <a:t>ALL, ANY, or SOME</a:t>
            </a:r>
            <a:r>
              <a:rPr lang="en-US" dirty="0"/>
              <a:t> (</a:t>
            </a:r>
            <a:r>
              <a:rPr lang="en-US" dirty="0">
                <a:solidFill>
                  <a:schemeClr val="accent2"/>
                </a:solidFill>
              </a:rPr>
              <a:t>set</a:t>
            </a:r>
            <a:r>
              <a:rPr lang="en-US" dirty="0"/>
              <a:t>)</a:t>
            </a:r>
          </a:p>
          <a:p>
            <a:pPr marL="400050" lvl="1" indent="0">
              <a:buNone/>
            </a:pPr>
            <a:r>
              <a:rPr lang="en-US" dirty="0"/>
              <a:t>EXISITS/NOT EXISTS (</a:t>
            </a:r>
            <a:r>
              <a:rPr lang="en-US" dirty="0">
                <a:solidFill>
                  <a:schemeClr val="accent2"/>
                </a:solidFill>
              </a:rPr>
              <a:t>logic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2AE066-FC61-4267-807A-C525585F8310}"/>
              </a:ext>
            </a:extLst>
          </p:cNvPr>
          <p:cNvSpPr txBox="1"/>
          <p:nvPr/>
        </p:nvSpPr>
        <p:spPr>
          <a:xfrm>
            <a:off x="205689" y="6397937"/>
            <a:ext cx="17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Nested Queries</a:t>
            </a:r>
          </a:p>
        </p:txBody>
      </p:sp>
    </p:spTree>
    <p:extLst>
      <p:ext uri="{BB962C8B-B14F-4D97-AF65-F5344CB8AC3E}">
        <p14:creationId xmlns:p14="http://schemas.microsoft.com/office/powerpoint/2010/main" val="1263091260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Queries (Single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=, &gt; (</a:t>
            </a:r>
            <a:r>
              <a:rPr lang="en-US" dirty="0">
                <a:solidFill>
                  <a:schemeClr val="accent2"/>
                </a:solidFill>
              </a:rPr>
              <a:t>single value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9F5237-C11D-4C7B-A007-BD3FF7DD0637}"/>
              </a:ext>
            </a:extLst>
          </p:cNvPr>
          <p:cNvSpPr txBox="1"/>
          <p:nvPr/>
        </p:nvSpPr>
        <p:spPr>
          <a:xfrm>
            <a:off x="376855" y="1325304"/>
            <a:ext cx="662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C6600"/>
                </a:solidFill>
              </a:rPr>
              <a:t>Find employee(s) who earn the highest salary: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DDC931-2C8C-453B-AA2E-2EBCBCDA7C5A}"/>
              </a:ext>
            </a:extLst>
          </p:cNvPr>
          <p:cNvSpPr txBox="1"/>
          <p:nvPr/>
        </p:nvSpPr>
        <p:spPr>
          <a:xfrm>
            <a:off x="205689" y="6397937"/>
            <a:ext cx="17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Nested Queries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54D9A1-A491-715C-E604-C15CB346727C}"/>
              </a:ext>
            </a:extLst>
          </p:cNvPr>
          <p:cNvSpPr txBox="1"/>
          <p:nvPr/>
        </p:nvSpPr>
        <p:spPr>
          <a:xfrm>
            <a:off x="685800" y="2133600"/>
            <a:ext cx="5867400" cy="1785104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empno, </a:t>
            </a:r>
            <a:r>
              <a:rPr lang="en-US" sz="2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salary </a:t>
            </a:r>
          </a:p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employee </a:t>
            </a:r>
          </a:p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salary = (</a:t>
            </a:r>
          </a:p>
          <a:p>
            <a:pPr lvl="1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(salary)</a:t>
            </a:r>
          </a:p>
          <a:p>
            <a:pPr lvl="1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employee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4D1FD8-8B12-7BA5-AB62-FB29FB1EF477}"/>
              </a:ext>
            </a:extLst>
          </p:cNvPr>
          <p:cNvSpPr txBox="1"/>
          <p:nvPr/>
        </p:nvSpPr>
        <p:spPr>
          <a:xfrm>
            <a:off x="649613" y="4587571"/>
            <a:ext cx="5903587" cy="1107996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empno, </a:t>
            </a:r>
            <a:r>
              <a:rPr lang="en-US" sz="2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salary  </a:t>
            </a:r>
          </a:p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employee </a:t>
            </a:r>
          </a:p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salary </a:t>
            </a:r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LIMIT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E99A4B-9DD3-B416-2E3A-F5E69F2151E7}"/>
              </a:ext>
            </a:extLst>
          </p:cNvPr>
          <p:cNvSpPr txBox="1"/>
          <p:nvPr/>
        </p:nvSpPr>
        <p:spPr>
          <a:xfrm>
            <a:off x="6864309" y="4800600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520127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046FA-976C-F303-CFD9-654CB29F6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6A25C-9057-8415-F014-6AB7D7C3D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Queries (Set)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466888-4ACC-46E5-D57B-A137D610F472}"/>
              </a:ext>
            </a:extLst>
          </p:cNvPr>
          <p:cNvSpPr txBox="1"/>
          <p:nvPr/>
        </p:nvSpPr>
        <p:spPr>
          <a:xfrm>
            <a:off x="152400" y="1295400"/>
            <a:ext cx="1112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C66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 employees whose departments must be in the dept table.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21550A-9090-383B-6D3E-432E33D92703}"/>
              </a:ext>
            </a:extLst>
          </p:cNvPr>
          <p:cNvSpPr txBox="1"/>
          <p:nvPr/>
        </p:nvSpPr>
        <p:spPr>
          <a:xfrm>
            <a:off x="205689" y="6397937"/>
            <a:ext cx="17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Nested Queries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7153F4-F5B1-4660-0861-5852A9F67962}"/>
              </a:ext>
            </a:extLst>
          </p:cNvPr>
          <p:cNvSpPr txBox="1"/>
          <p:nvPr/>
        </p:nvSpPr>
        <p:spPr>
          <a:xfrm>
            <a:off x="685800" y="2057400"/>
            <a:ext cx="5943600" cy="1785104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</a:p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employee</a:t>
            </a:r>
          </a:p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workdept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pPr algn="l"/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deptno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department</a:t>
            </a:r>
          </a:p>
          <a:p>
            <a:pPr algn="l"/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12371056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C7EB1-5607-8FB8-54E5-58C41586F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B4A86-5B66-3411-5CB6-422836860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Queries (Logic)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D6D4A-9DDA-EE3A-8704-7688CEAB7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EXISITS/NOT EXISTS (</a:t>
            </a:r>
            <a:r>
              <a:rPr lang="en-US" dirty="0">
                <a:solidFill>
                  <a:schemeClr val="accent2"/>
                </a:solidFill>
              </a:rPr>
              <a:t>logic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7D2AD-25A9-0C67-1119-11D9F6D6A0CA}"/>
              </a:ext>
            </a:extLst>
          </p:cNvPr>
          <p:cNvSpPr txBox="1"/>
          <p:nvPr/>
        </p:nvSpPr>
        <p:spPr>
          <a:xfrm>
            <a:off x="304800" y="1441134"/>
            <a:ext cx="1112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C66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 dept which doesn’t have anybody who earns less than 90K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06A454-BFA6-EB0C-8222-645751411393}"/>
              </a:ext>
            </a:extLst>
          </p:cNvPr>
          <p:cNvSpPr txBox="1"/>
          <p:nvPr/>
        </p:nvSpPr>
        <p:spPr>
          <a:xfrm>
            <a:off x="205689" y="6397937"/>
            <a:ext cx="17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Nested Queries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671D60-2DF7-CE17-70AF-7B1ACB2C66C8}"/>
              </a:ext>
            </a:extLst>
          </p:cNvPr>
          <p:cNvSpPr txBox="1"/>
          <p:nvPr/>
        </p:nvSpPr>
        <p:spPr>
          <a:xfrm>
            <a:off x="421810" y="2075187"/>
            <a:ext cx="6359990" cy="28007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workdept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employee 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e1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l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EXISTS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pPr lvl="1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empno </a:t>
            </a:r>
          </a:p>
          <a:p>
            <a:pPr lvl="1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employee e2</a:t>
            </a:r>
          </a:p>
          <a:p>
            <a:pPr lvl="1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e2.salary &lt; </a:t>
            </a:r>
            <a:r>
              <a:rPr lang="en-US" sz="2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90000</a:t>
            </a:r>
          </a:p>
          <a:p>
            <a:pPr lvl="1"/>
            <a:r>
              <a:rPr lang="en-US" sz="22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e2.WORKDEPT = 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e1</a:t>
            </a: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.WORKDEPT </a:t>
            </a:r>
          </a:p>
          <a:p>
            <a:pPr algn="l"/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B5E6B6-9B1B-C3D5-E101-35615810E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3185971"/>
            <a:ext cx="1584883" cy="842797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2491107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E62AF-9272-6879-D389-452EE5E50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1611A-19CF-C7C8-917C-EAA988AEF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856" y="931863"/>
            <a:ext cx="4481324" cy="5316538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CASE</a:t>
            </a:r>
          </a:p>
          <a:p>
            <a:pPr marL="0" indent="0">
              <a:buNone/>
            </a:pPr>
            <a:r>
              <a:rPr lang="en-US" sz="2000" dirty="0"/>
              <a:t>    WHEN condition1 THEN result1</a:t>
            </a:r>
          </a:p>
          <a:p>
            <a:pPr marL="0" indent="0">
              <a:buNone/>
            </a:pPr>
            <a:r>
              <a:rPr lang="en-US" sz="2000" dirty="0"/>
              <a:t>    WHEN condition2 THEN result2</a:t>
            </a:r>
          </a:p>
          <a:p>
            <a:pPr marL="0" indent="0">
              <a:buNone/>
            </a:pPr>
            <a:r>
              <a:rPr lang="en-US" sz="2000" dirty="0"/>
              <a:t>    ...</a:t>
            </a:r>
          </a:p>
          <a:p>
            <a:pPr marL="0" indent="0">
              <a:buNone/>
            </a:pPr>
            <a:r>
              <a:rPr lang="en-US" sz="2000" dirty="0"/>
              <a:t>    ELSE </a:t>
            </a:r>
            <a:r>
              <a:rPr lang="en-US" sz="2000" dirty="0" err="1"/>
              <a:t>default_result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END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ED10026A-F3DE-6203-D29D-9351FE75D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9550" y="838200"/>
            <a:ext cx="7391400" cy="2862322"/>
          </a:xfrm>
          <a:prstGeom prst="rect">
            <a:avLst/>
          </a:prstGeom>
          <a:solidFill>
            <a:schemeClr val="lt1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empno,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firstnme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salary,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CASE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WHEN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salary &gt;=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90000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THEN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'High'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WHEN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salary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BETWEEN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60000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AND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89999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THEN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'Medium'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'Low'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END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salary_level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FROM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employee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1919FB-C864-5B90-ECA5-4088FE70B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1" y="3915792"/>
            <a:ext cx="5046518" cy="2209800"/>
          </a:xfrm>
          <a:prstGeom prst="rect">
            <a:avLst/>
          </a:prstGeom>
          <a:solidFill>
            <a:schemeClr val="lt1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 Box 4">
            <a:extLst>
              <a:ext uri="{FF2B5EF4-FFF2-40B4-BE49-F238E27FC236}">
                <a16:creationId xmlns:a16="http://schemas.microsoft.com/office/drawing/2014/main" id="{8992B157-0D73-44A6-5B7B-D7DCB95ED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857" y="4051196"/>
            <a:ext cx="4882344" cy="1938992"/>
          </a:xfrm>
          <a:prstGeom prst="rect">
            <a:avLst/>
          </a:prstGeom>
          <a:solidFill>
            <a:schemeClr val="lt1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FROM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census</a:t>
            </a:r>
          </a:p>
          <a:p>
            <a:pPr algn="l"/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ORDER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BY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CASE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WHEN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city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IS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THEN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state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city</a:t>
            </a:r>
          </a:p>
          <a:p>
            <a:pPr algn="l"/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END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8223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5e5d3efa-4bc7-49a4-b707-0341336e2025"/>
  <p:tag name="SLIDO_EVENT_SECTION_UUID" val="4f8030f4-96f7-4970-b8be-ab5d37cc6741"/>
</p:tagLst>
</file>

<file path=ppt/theme/theme1.xml><?xml version="1.0" encoding="utf-8"?>
<a:theme xmlns:a="http://schemas.openxmlformats.org/drawingml/2006/main" name="2_Standard">
  <a:themeElements>
    <a:clrScheme name="siemens internal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iemens intern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iemens Sans Black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iemens Sans Black" pitchFamily="2" charset="0"/>
          </a:defRPr>
        </a:defPPr>
      </a:lstStyle>
    </a:lnDef>
  </a:objectDefaults>
  <a:extraClrSchemeLst>
    <a:extraClrScheme>
      <a:clrScheme name="siemens internal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emens internal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tandard">
  <a:themeElements>
    <a:clrScheme name="siemens internal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iemens intern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iemens Sans Black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iemens Sans Black" pitchFamily="2" charset="0"/>
          </a:defRPr>
        </a:defPPr>
      </a:lstStyle>
    </a:lnDef>
  </a:objectDefaults>
  <a:extraClrSchemeLst>
    <a:extraClrScheme>
      <a:clrScheme name="siemens internal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emens internal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Stony Brook Univers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EmoryTheme</Template>
  <TotalTime>4682</TotalTime>
  <Words>2495</Words>
  <Application>Microsoft Office PowerPoint</Application>
  <PresentationFormat>Widescreen</PresentationFormat>
  <Paragraphs>408</Paragraphs>
  <Slides>38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38</vt:i4>
      </vt:variant>
    </vt:vector>
  </HeadingPairs>
  <TitlesOfParts>
    <vt:vector size="53" baseType="lpstr">
      <vt:lpstr>Helvetica</vt:lpstr>
      <vt:lpstr>Lucida Grande</vt:lpstr>
      <vt:lpstr>Siemens Sans</vt:lpstr>
      <vt:lpstr>Siemens Sans Black</vt:lpstr>
      <vt:lpstr>source-serif-pro</vt:lpstr>
      <vt:lpstr>Arial</vt:lpstr>
      <vt:lpstr>Calibri</vt:lpstr>
      <vt:lpstr>Consolas</vt:lpstr>
      <vt:lpstr>Courier New</vt:lpstr>
      <vt:lpstr>Open Sans</vt:lpstr>
      <vt:lpstr>Verdana</vt:lpstr>
      <vt:lpstr>Wingdings</vt:lpstr>
      <vt:lpstr>2_Standard</vt:lpstr>
      <vt:lpstr>Standard</vt:lpstr>
      <vt:lpstr>1_Stony Brook University</vt:lpstr>
      <vt:lpstr>PowerPoint Presentation</vt:lpstr>
      <vt:lpstr>Relational Model and Relational Tables  </vt:lpstr>
      <vt:lpstr>Bags versus Sets</vt:lpstr>
      <vt:lpstr>Order in SQL Tables</vt:lpstr>
      <vt:lpstr>Core of DBMS </vt:lpstr>
      <vt:lpstr>PowerPoint Presentation</vt:lpstr>
      <vt:lpstr>Data Model</vt:lpstr>
      <vt:lpstr>Relational Model</vt:lpstr>
      <vt:lpstr>Relational Model Constraints</vt:lpstr>
      <vt:lpstr>SQL</vt:lpstr>
      <vt:lpstr>SQL</vt:lpstr>
      <vt:lpstr>Referential Actions</vt:lpstr>
      <vt:lpstr>SELECT Statement - Six Clauses</vt:lpstr>
      <vt:lpstr>PowerPoint Presentation</vt:lpstr>
      <vt:lpstr>Comparisons Involving NULL and Three-Valued Logic</vt:lpstr>
      <vt:lpstr>Comparisons Involving NULL and Three-Valued Logic</vt:lpstr>
      <vt:lpstr>Example NULL Queries</vt:lpstr>
      <vt:lpstr>NULLs</vt:lpstr>
      <vt:lpstr>NULLs</vt:lpstr>
      <vt:lpstr>PowerPoint Presentation</vt:lpstr>
      <vt:lpstr>Set Operations</vt:lpstr>
      <vt:lpstr>Set Operations</vt:lpstr>
      <vt:lpstr>PowerPoint Presentation</vt:lpstr>
      <vt:lpstr>Joins</vt:lpstr>
      <vt:lpstr>Join: Cross Join Example</vt:lpstr>
      <vt:lpstr>Inner Join</vt:lpstr>
      <vt:lpstr>Left Outer Join Example</vt:lpstr>
      <vt:lpstr>Right Outer Join Example</vt:lpstr>
      <vt:lpstr>PowerPoint Presentation</vt:lpstr>
      <vt:lpstr>Group By Single Column</vt:lpstr>
      <vt:lpstr>Group By Multiple Columns</vt:lpstr>
      <vt:lpstr>GROUP BY, HAVING</vt:lpstr>
      <vt:lpstr>PowerPoint Presentation</vt:lpstr>
      <vt:lpstr>Nested Queries (Subqueries)</vt:lpstr>
      <vt:lpstr>Nested Queries (Single Value)</vt:lpstr>
      <vt:lpstr>Nested Queries (Set)</vt:lpstr>
      <vt:lpstr>Nested Queries (Logic)</vt:lpstr>
      <vt:lpstr>CASE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SATO: A Spatial Data Partitioning Framework for Scalable Query Processing</dc:title>
  <dc:creator>Hoang Vo</dc:creator>
  <cp:lastModifiedBy>Fusheng Wang</cp:lastModifiedBy>
  <cp:revision>1496</cp:revision>
  <cp:lastPrinted>2015-08-17T21:47:31Z</cp:lastPrinted>
  <dcterms:created xsi:type="dcterms:W3CDTF">2014-10-10T03:49:09Z</dcterms:created>
  <dcterms:modified xsi:type="dcterms:W3CDTF">2025-06-10T06:47:27Z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1.5.3.3511</vt:lpwstr>
  </property>
</Properties>
</file>