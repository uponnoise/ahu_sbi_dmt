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3" r:id="rId3"/>
    <p:sldId id="264" r:id="rId4"/>
    <p:sldId id="272" r:id="rId5"/>
    <p:sldId id="271" r:id="rId6"/>
    <p:sldId id="269" r:id="rId7"/>
    <p:sldId id="270" r:id="rId8"/>
    <p:sldId id="286" r:id="rId9"/>
    <p:sldId id="268" r:id="rId10"/>
    <p:sldId id="267" r:id="rId11"/>
    <p:sldId id="283" r:id="rId12"/>
    <p:sldId id="285" r:id="rId13"/>
    <p:sldId id="284" r:id="rId14"/>
    <p:sldId id="287" r:id="rId15"/>
    <p:sldId id="277" r:id="rId16"/>
    <p:sldId id="290" r:id="rId17"/>
    <p:sldId id="278" r:id="rId18"/>
    <p:sldId id="275" r:id="rId19"/>
    <p:sldId id="295" r:id="rId20"/>
    <p:sldId id="294" r:id="rId21"/>
    <p:sldId id="293" r:id="rId22"/>
    <p:sldId id="292" r:id="rId23"/>
    <p:sldId id="291" r:id="rId24"/>
    <p:sldId id="279" r:id="rId25"/>
    <p:sldId id="274" r:id="rId26"/>
    <p:sldId id="297" r:id="rId27"/>
    <p:sldId id="266" r:id="rId28"/>
    <p:sldId id="296" r:id="rId29"/>
    <p:sldId id="280" r:id="rId30"/>
    <p:sldId id="265" r:id="rId31"/>
    <p:sldId id="28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32E5EE9-A338-43D1-8AC4-8C0D6DF2E118}">
          <p14:sldIdLst>
            <p14:sldId id="256"/>
            <p14:sldId id="263"/>
            <p14:sldId id="264"/>
            <p14:sldId id="272"/>
            <p14:sldId id="271"/>
            <p14:sldId id="269"/>
            <p14:sldId id="270"/>
            <p14:sldId id="286"/>
            <p14:sldId id="268"/>
            <p14:sldId id="267"/>
            <p14:sldId id="283"/>
            <p14:sldId id="285"/>
            <p14:sldId id="284"/>
            <p14:sldId id="287"/>
            <p14:sldId id="277"/>
            <p14:sldId id="290"/>
            <p14:sldId id="278"/>
            <p14:sldId id="275"/>
            <p14:sldId id="295"/>
            <p14:sldId id="294"/>
            <p14:sldId id="293"/>
            <p14:sldId id="292"/>
            <p14:sldId id="291"/>
            <p14:sldId id="279"/>
            <p14:sldId id="274"/>
            <p14:sldId id="297"/>
            <p14:sldId id="266"/>
            <p14:sldId id="296"/>
            <p14:sldId id="280"/>
            <p14:sldId id="265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388445706" name="Lucky小松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837"/>
    <a:srgbClr val="1B1F27"/>
    <a:srgbClr val="181D24"/>
    <a:srgbClr val="515455"/>
    <a:srgbClr val="1E3C4C"/>
    <a:srgbClr val="11E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2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88445706" dt="2025-06-04T12:08:44.230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2680" y="7738"/>
            <a:ext cx="8201320" cy="2409918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</a:rPr>
              <a:t>Steam Games </a:t>
            </a:r>
            <a:br>
              <a:rPr lang="en-US" altLang="zh-CN" sz="7200" b="1" dirty="0">
                <a:solidFill>
                  <a:schemeClr val="bg1"/>
                </a:solidFill>
              </a:rPr>
            </a:br>
            <a:r>
              <a:rPr lang="en-US" altLang="zh-CN" sz="7200" b="1" dirty="0">
                <a:solidFill>
                  <a:schemeClr val="bg1"/>
                </a:solidFill>
              </a:rPr>
              <a:t>Database</a:t>
            </a:r>
            <a:endParaRPr lang="zh-CN" altLang="en-US" sz="7200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52047" y="3429000"/>
            <a:ext cx="6858000" cy="1655762"/>
          </a:xfrm>
        </p:spPr>
        <p:txBody>
          <a:bodyPr/>
          <a:lstStyle/>
          <a:p>
            <a:pPr algn="r"/>
            <a:r>
              <a:rPr lang="en-US" altLang="zh-CN" dirty="0" err="1">
                <a:solidFill>
                  <a:schemeClr val="bg1"/>
                </a:solidFill>
              </a:rPr>
              <a:t>Qiyun</a:t>
            </a:r>
            <a:r>
              <a:rPr lang="en-US" altLang="zh-CN" dirty="0">
                <a:solidFill>
                  <a:schemeClr val="bg1"/>
                </a:solidFill>
              </a:rPr>
              <a:t> Zhou</a:t>
            </a:r>
          </a:p>
          <a:p>
            <a:pPr algn="r"/>
            <a:r>
              <a:rPr lang="en-US" altLang="zh-CN" dirty="0" err="1">
                <a:solidFill>
                  <a:schemeClr val="bg1"/>
                </a:solidFill>
              </a:rPr>
              <a:t>Jisong</a:t>
            </a:r>
            <a:r>
              <a:rPr lang="en-US" altLang="zh-CN" dirty="0">
                <a:solidFill>
                  <a:schemeClr val="bg1"/>
                </a:solidFill>
              </a:rPr>
              <a:t> Liao</a:t>
            </a:r>
          </a:p>
          <a:p>
            <a:pPr algn="r"/>
            <a:r>
              <a:rPr lang="en-US" altLang="zh-CN" dirty="0" err="1">
                <a:solidFill>
                  <a:schemeClr val="bg1"/>
                </a:solidFill>
              </a:rPr>
              <a:t>Shengxuan</a:t>
            </a:r>
            <a:r>
              <a:rPr lang="en-US" altLang="zh-CN" dirty="0">
                <a:solidFill>
                  <a:schemeClr val="bg1"/>
                </a:solidFill>
              </a:rPr>
              <a:t> You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7738"/>
            <a:ext cx="942680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 descr="图标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101419"/>
            <a:ext cx="2345702" cy="23631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8602" y="169681"/>
            <a:ext cx="6702398" cy="744399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OUTLINE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8989" y="1257139"/>
            <a:ext cx="6374875" cy="5195507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Topic 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Entities and Attributes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RDM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Tables</a:t>
            </a:r>
            <a:endParaRPr lang="en-US" altLang="zh-CN" sz="36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Constraints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Queries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Forms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bg1"/>
                </a:solidFill>
              </a:rPr>
              <a:t>Report</a:t>
            </a: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88904" y="2969603"/>
            <a:ext cx="8302229" cy="918793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Topic   Introduction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7819534" y="5158978"/>
            <a:ext cx="181466" cy="98822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10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ffectLst>
                <a:outerShdw blurRad="50800" dist="50800" dir="5400000" sx="200000" sy="200000" algn="ctr" rotWithShape="0">
                  <a:srgbClr val="000000"/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0919" y="0"/>
            <a:ext cx="6702398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Introduction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4634" y="895910"/>
            <a:ext cx="8646459" cy="576878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zh-CN" altLang="zh-CN" sz="2600" b="1" u="sng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What is the Personal Steam Library Database?</a:t>
            </a:r>
            <a:endParaRPr lang="en-US" altLang="zh-CN" sz="2600" b="1" u="sng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A collection of all games in the Steam game library of the three members of the group.</a:t>
            </a:r>
            <a:endParaRPr lang="en-US" altLang="zh-CN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Contains information on the type of game, developer, developercountry,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release date,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system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 requirements,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price,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applause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rate,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owners estimation,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 DLC quantiy,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 achievement quantity, and whether the controller is supported.</a:t>
            </a:r>
            <a:b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algn="l"/>
            <a:r>
              <a:rPr lang="zh-CN" altLang="zh-CN" sz="2600" b="1" u="sng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What is the purpose of this database?</a:t>
            </a:r>
            <a:endParaRPr lang="en-US" altLang="zh-CN" sz="2600" b="1" u="sng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To better manage owned games, categorize the games, and establish rankings based on various criteria.</a:t>
            </a:r>
            <a:endParaRPr lang="en-US" altLang="zh-CN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To facilitate users to choose suitable games to play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based on</a:t>
            </a:r>
            <a:r>
              <a:rPr lang="en-US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different situation.</a:t>
            </a:r>
            <a:b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algn="l"/>
            <a:r>
              <a:rPr lang="zh-CN" altLang="zh-CN" sz="2600" b="1" u="sng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How did we populate the Database?</a:t>
            </a:r>
            <a:endParaRPr lang="en-US" altLang="zh-CN" sz="2600" b="1" u="sng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We get the game list from the steam library of the group members.</a:t>
            </a:r>
            <a:endParaRPr lang="en-US" altLang="zh-CN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Arial" panose="020B0604020202020204" pitchFamily="34" charset="0"/>
              </a:rPr>
              <a:t>We obtain detailed information about the game from the website         www.steamdb.info</a:t>
            </a:r>
            <a:endParaRPr lang="zh-CN" alt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69000"/>
                  </a:prstClr>
                </a:outerShdw>
              </a:effectLst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 flipV="1">
            <a:off x="519953" y="4572448"/>
            <a:ext cx="457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7738"/>
            <a:ext cx="8302228" cy="947664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Entities  and  Attributes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55280" y="5076334"/>
            <a:ext cx="45719" cy="181466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10" name="图片 9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06" y="895303"/>
            <a:ext cx="8262594" cy="6104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>
            <a:off x="8000999" y="5052766"/>
            <a:ext cx="233313" cy="205033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841771" y="7738"/>
            <a:ext cx="8302230" cy="915997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RDM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1" name="图片 10" descr="电脑屏幕截图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71" y="841771"/>
            <a:ext cx="8302230" cy="6116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Tables</a:t>
            </a:r>
            <a:br>
              <a:rPr lang="en-US" altLang="zh-CN" sz="5400" dirty="0">
                <a:solidFill>
                  <a:schemeClr val="bg1"/>
                </a:solidFill>
              </a:rPr>
            </a:br>
            <a:r>
              <a:rPr lang="en-US" altLang="zh-CN" sz="2000" dirty="0">
                <a:solidFill>
                  <a:schemeClr val="bg1"/>
                </a:solidFill>
              </a:rPr>
              <a:t>Refer to the Database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TotalGameList</a:t>
            </a:r>
            <a:r>
              <a:rPr lang="en-US" altLang="zh-CN" sz="5400" dirty="0">
                <a:solidFill>
                  <a:schemeClr val="bg1"/>
                </a:solidFill>
              </a:rPr>
              <a:t>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3" y="1666186"/>
            <a:ext cx="7566212" cy="4911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3852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Game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806048" y="6254684"/>
            <a:ext cx="45719" cy="98981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9" y="1715624"/>
            <a:ext cx="8504088" cy="4865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Country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628" y="1860752"/>
            <a:ext cx="3162741" cy="3781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Developers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25" y="1917015"/>
            <a:ext cx="7325747" cy="44583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ExtraInformation</a:t>
            </a:r>
            <a:r>
              <a:rPr lang="en-US" altLang="zh-CN" sz="5400" dirty="0">
                <a:solidFill>
                  <a:schemeClr val="bg1"/>
                </a:solidFill>
              </a:rPr>
              <a:t>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650" y="2180704"/>
            <a:ext cx="5342697" cy="39279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SystemRequirement</a:t>
            </a:r>
            <a:r>
              <a:rPr lang="en-US" altLang="zh-CN" sz="5400" dirty="0">
                <a:solidFill>
                  <a:schemeClr val="bg1"/>
                </a:solidFill>
              </a:rPr>
              <a:t>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620" y="2121919"/>
            <a:ext cx="4650758" cy="2165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72730"/>
            <a:ext cx="9143999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Type Table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 flipV="1">
            <a:off x="8529918" y="6409764"/>
            <a:ext cx="744070" cy="3361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565" y="2277035"/>
            <a:ext cx="2886620" cy="45654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Constraints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0"/>
            <a:ext cx="8302228" cy="857251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CONSTRAINTS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05347" y="5589201"/>
            <a:ext cx="70340" cy="10821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1771" y="872730"/>
            <a:ext cx="7463576" cy="522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i="0" kern="10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i="0" kern="100" spc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GameName</a:t>
            </a:r>
            <a:r>
              <a:rPr lang="en-US" altLang="zh-CN" sz="1600" b="0" i="0" kern="10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Franklin Gothic Medium" panose="020B0603020102020204" pitchFamily="34" charset="0"/>
                <a:cs typeface="Times New Roman" panose="02020603050405020304" pitchFamily="18" charset="0"/>
              </a:rPr>
              <a:t>The game name cannot be null.</a:t>
            </a:r>
            <a:endParaRPr lang="en-US" altLang="zh-CN" sz="1600" kern="10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ReleaseYear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is &gt;1950.</a:t>
            </a:r>
            <a:endParaRPr lang="en-US" altLang="zh-CN" sz="160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ReleaseMonthAndDay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format is MM/DD.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Price: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RMB.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ApplauseRate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percentage form, greater than or equal to 0, less than or equal to 1.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OwnersEstimation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is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natural number.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DeveloperName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content is accurate.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CountryName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content is accurate.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TypeName: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Abbreviations for the genre of the game.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SystemRequirementDegree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There are five categories, which are: very low, low, medium, high, and very high.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DLCnumber:</a:t>
            </a:r>
            <a:r>
              <a:rPr lang="en-US" altLang="zh-CN" sz="1600" b="0" i="0" kern="0" spc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content is accurate.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isControllerSupported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Must be Yes or NO.</a:t>
            </a:r>
            <a:endParaRPr lang="en-US" altLang="zh-CN" sz="1600" i="0" spc="0" dirty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b="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AchievementsNumber</a:t>
            </a:r>
            <a:r>
              <a:rPr lang="en-US" altLang="zh-CN" sz="1600" b="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is </a:t>
            </a:r>
            <a:r>
              <a:rPr lang="en-US" altLang="zh-CN" sz="1600" b="0" i="0" kern="0" spc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natural number.</a:t>
            </a:r>
            <a:endParaRPr lang="en-US" altLang="zh-CN" sz="1600" dirty="0">
              <a:solidFill>
                <a:schemeClr val="bg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Queries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74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8601" y="1"/>
            <a:ext cx="7394955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ControllerFriendlyQuery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85505" y="1969401"/>
            <a:ext cx="3797238" cy="382780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SELECT </a:t>
            </a:r>
            <a:r>
              <a:rPr lang="en-US" altLang="zh-CN" dirty="0" err="1">
                <a:solidFill>
                  <a:schemeClr val="bg1"/>
                </a:solidFill>
              </a:rPr>
              <a:t>Game.gameName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Type.gameType</a:t>
            </a:r>
            <a:r>
              <a:rPr lang="en-US" altLang="zh-CN" dirty="0">
                <a:solidFill>
                  <a:schemeClr val="bg1"/>
                </a:solidFill>
              </a:rPr>
              <a:t>, FORMATPERCENT(</a:t>
            </a:r>
            <a:r>
              <a:rPr lang="en-US" altLang="zh-CN" dirty="0" err="1">
                <a:solidFill>
                  <a:schemeClr val="bg1"/>
                </a:solidFill>
              </a:rPr>
              <a:t>Game.applauseRate</a:t>
            </a:r>
            <a:r>
              <a:rPr lang="en-US" altLang="zh-CN" dirty="0">
                <a:solidFill>
                  <a:schemeClr val="bg1"/>
                </a:solidFill>
              </a:rPr>
              <a:t>) AS </a:t>
            </a:r>
            <a:r>
              <a:rPr lang="en-US" altLang="zh-CN" dirty="0" err="1">
                <a:solidFill>
                  <a:schemeClr val="bg1"/>
                </a:solidFill>
              </a:rPr>
              <a:t>applauseRate</a:t>
            </a:r>
            <a:endParaRPr lang="en-US" altLang="zh-CN" dirty="0">
              <a:solidFill>
                <a:schemeClr val="bg1"/>
              </a:solidFill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</a:rPr>
              <a:t>FROM Country INNER JOIN (Developer INNER JOIN (Type INNER JOIN (Game INNER JOIN </a:t>
            </a:r>
            <a:r>
              <a:rPr lang="en-US" altLang="zh-CN" dirty="0" err="1">
                <a:solidFill>
                  <a:schemeClr val="bg1"/>
                </a:solidFill>
              </a:rPr>
              <a:t>ExtraInformation</a:t>
            </a:r>
            <a:r>
              <a:rPr lang="en-US" altLang="zh-CN" dirty="0">
                <a:solidFill>
                  <a:schemeClr val="bg1"/>
                </a:solidFill>
              </a:rPr>
              <a:t> ON Game.[</a:t>
            </a:r>
            <a:r>
              <a:rPr lang="en-US" altLang="zh-CN" dirty="0" err="1">
                <a:solidFill>
                  <a:schemeClr val="bg1"/>
                </a:solidFill>
              </a:rPr>
              <a:t>lookUpToExtraInformation</a:t>
            </a:r>
            <a:r>
              <a:rPr lang="en-US" altLang="zh-CN" dirty="0">
                <a:solidFill>
                  <a:schemeClr val="bg1"/>
                </a:solidFill>
              </a:rPr>
              <a:t>]=ExtraInformation.ID) ON Type.ID=Game.[</a:t>
            </a:r>
            <a:r>
              <a:rPr lang="en-US" altLang="zh-CN" dirty="0" err="1">
                <a:solidFill>
                  <a:schemeClr val="bg1"/>
                </a:solidFill>
              </a:rPr>
              <a:t>lookUpToType</a:t>
            </a:r>
            <a:r>
              <a:rPr lang="en-US" altLang="zh-CN" dirty="0">
                <a:solidFill>
                  <a:schemeClr val="bg1"/>
                </a:solidFill>
              </a:rPr>
              <a:t>]) ON Developer.ID=Game.[</a:t>
            </a:r>
            <a:r>
              <a:rPr lang="en-US" altLang="zh-CN" dirty="0" err="1">
                <a:solidFill>
                  <a:schemeClr val="bg1"/>
                </a:solidFill>
              </a:rPr>
              <a:t>lookUpToDeveloper</a:t>
            </a:r>
            <a:r>
              <a:rPr lang="en-US" altLang="zh-CN" dirty="0">
                <a:solidFill>
                  <a:schemeClr val="bg1"/>
                </a:solidFill>
              </a:rPr>
              <a:t>]) ON Country.ID=Developer.[</a:t>
            </a:r>
            <a:r>
              <a:rPr lang="en-US" altLang="zh-CN" dirty="0" err="1">
                <a:solidFill>
                  <a:schemeClr val="bg1"/>
                </a:solidFill>
              </a:rPr>
              <a:t>lookUpToCountry</a:t>
            </a:r>
            <a:r>
              <a:rPr lang="en-US" altLang="zh-CN" dirty="0">
                <a:solidFill>
                  <a:schemeClr val="bg1"/>
                </a:solidFill>
              </a:rPr>
              <a:t>]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</a:rPr>
              <a:t>WHERE (</a:t>
            </a:r>
            <a:r>
              <a:rPr lang="en-US" altLang="zh-CN" dirty="0" err="1">
                <a:solidFill>
                  <a:schemeClr val="bg1"/>
                </a:solidFill>
              </a:rPr>
              <a:t>ExtraInformation.AchievementsNumber</a:t>
            </a:r>
            <a:r>
              <a:rPr lang="en-US" altLang="zh-CN" dirty="0">
                <a:solidFill>
                  <a:schemeClr val="bg1"/>
                </a:solidFill>
              </a:rPr>
              <a:t> &gt; 0)      AND (</a:t>
            </a:r>
            <a:r>
              <a:rPr lang="en-US" altLang="zh-CN" dirty="0" err="1">
                <a:solidFill>
                  <a:schemeClr val="bg1"/>
                </a:solidFill>
              </a:rPr>
              <a:t>ExtraInformation.controllerSupported</a:t>
            </a:r>
            <a:r>
              <a:rPr lang="en-US" altLang="zh-CN" dirty="0">
                <a:solidFill>
                  <a:schemeClr val="bg1"/>
                </a:solidFill>
              </a:rPr>
              <a:t> = 'Yes')     AND </a:t>
            </a:r>
            <a:r>
              <a:rPr lang="en-US" altLang="zh-CN" dirty="0" err="1">
                <a:solidFill>
                  <a:schemeClr val="bg1"/>
                </a:solidFill>
              </a:rPr>
              <a:t>Type.gameType</a:t>
            </a:r>
            <a:r>
              <a:rPr lang="en-US" altLang="zh-CN" dirty="0">
                <a:solidFill>
                  <a:schemeClr val="bg1"/>
                </a:solidFill>
              </a:rPr>
              <a:t> IN ('ACT', 'RPG', 'AVG')</a:t>
            </a:r>
          </a:p>
          <a:p>
            <a:pPr algn="l"/>
            <a:r>
              <a:rPr lang="en-US" altLang="zh-CN" dirty="0">
                <a:solidFill>
                  <a:schemeClr val="bg1"/>
                </a:solidFill>
              </a:rPr>
              <a:t>GROUP BY </a:t>
            </a:r>
            <a:r>
              <a:rPr lang="en-US" altLang="zh-CN" dirty="0" err="1">
                <a:solidFill>
                  <a:schemeClr val="bg1"/>
                </a:solidFill>
              </a:rPr>
              <a:t>Game.gameName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Game.applauseRate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en-US" altLang="zh-CN" dirty="0" err="1">
                <a:solidFill>
                  <a:schemeClr val="bg1"/>
                </a:solidFill>
              </a:rPr>
              <a:t>Type.gameType</a:t>
            </a:r>
            <a:endParaRPr lang="en-US" altLang="zh-CN" dirty="0">
              <a:solidFill>
                <a:schemeClr val="bg1"/>
              </a:solidFill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</a:rPr>
              <a:t>ORDER BY </a:t>
            </a:r>
            <a:r>
              <a:rPr lang="en-US" altLang="zh-CN" dirty="0" err="1">
                <a:solidFill>
                  <a:schemeClr val="bg1"/>
                </a:solidFill>
              </a:rPr>
              <a:t>Game.applauseRate</a:t>
            </a:r>
            <a:r>
              <a:rPr lang="en-US" altLang="zh-CN" dirty="0">
                <a:solidFill>
                  <a:schemeClr val="bg1"/>
                </a:solidFill>
              </a:rPr>
              <a:t> DESC;</a:t>
            </a:r>
          </a:p>
          <a:p>
            <a:pPr algn="l"/>
            <a:br>
              <a:rPr lang="en-US" altLang="zh-CN" dirty="0"/>
            </a:br>
            <a:endParaRPr lang="en-US" altLang="zh-CN" dirty="0"/>
          </a:p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13" y="1969401"/>
            <a:ext cx="4385833" cy="34539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1878" y="0"/>
            <a:ext cx="8252122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OrderedAVGRateQuery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099034" y="2228184"/>
            <a:ext cx="4927851" cy="2747705"/>
          </a:xfrm>
        </p:spPr>
        <p:txBody>
          <a:bodyPr>
            <a:normAutofit/>
          </a:bodyPr>
          <a:lstStyle/>
          <a:p>
            <a:pPr algn="l"/>
            <a:r>
              <a:rPr lang="en-US" altLang="zh-CN" sz="1500" dirty="0">
                <a:solidFill>
                  <a:schemeClr val="bg1"/>
                </a:solidFill>
              </a:rPr>
              <a:t>SELECT </a:t>
            </a:r>
            <a:r>
              <a:rPr lang="en-US" altLang="zh-CN" sz="15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1500" dirty="0">
                <a:solidFill>
                  <a:schemeClr val="bg1"/>
                </a:solidFill>
              </a:rPr>
              <a:t>, FORMATPERCENT(Round(AVG(</a:t>
            </a:r>
            <a:r>
              <a:rPr lang="en-US" altLang="zh-CN" sz="15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1500" dirty="0">
                <a:solidFill>
                  <a:schemeClr val="bg1"/>
                </a:solidFill>
              </a:rPr>
              <a:t>),4)) AS </a:t>
            </a:r>
            <a:r>
              <a:rPr lang="en-US" altLang="zh-CN" sz="1500" dirty="0" err="1">
                <a:solidFill>
                  <a:schemeClr val="bg1"/>
                </a:solidFill>
              </a:rPr>
              <a:t>AvgRating</a:t>
            </a:r>
            <a:r>
              <a:rPr lang="en-US" altLang="zh-CN" sz="1500" dirty="0">
                <a:solidFill>
                  <a:schemeClr val="bg1"/>
                </a:solidFill>
              </a:rPr>
              <a:t>, COUNT(*) AS </a:t>
            </a:r>
            <a:r>
              <a:rPr lang="en-US" altLang="zh-CN" sz="1500" dirty="0" err="1">
                <a:solidFill>
                  <a:schemeClr val="bg1"/>
                </a:solidFill>
              </a:rPr>
              <a:t>GameCount</a:t>
            </a:r>
            <a:endParaRPr lang="en-US" altLang="zh-CN" sz="1500" dirty="0">
              <a:solidFill>
                <a:schemeClr val="bg1"/>
              </a:solidFill>
            </a:endParaRPr>
          </a:p>
          <a:p>
            <a:pPr algn="l"/>
            <a:r>
              <a:rPr lang="en-US" altLang="zh-CN" sz="1500" dirty="0">
                <a:solidFill>
                  <a:schemeClr val="bg1"/>
                </a:solidFill>
              </a:rPr>
              <a:t>FROM Country INNER JOIN (Developer INNER JOIN (Type INNER JOIN Game ON Type.ID=Game.[</a:t>
            </a:r>
            <a:r>
              <a:rPr lang="en-US" altLang="zh-CN" sz="1500" dirty="0" err="1">
                <a:solidFill>
                  <a:schemeClr val="bg1"/>
                </a:solidFill>
              </a:rPr>
              <a:t>lookUpToType</a:t>
            </a:r>
            <a:r>
              <a:rPr lang="en-US" altLang="zh-CN" sz="1500" dirty="0">
                <a:solidFill>
                  <a:schemeClr val="bg1"/>
                </a:solidFill>
              </a:rPr>
              <a:t>]) ON Developer.ID=Game.[</a:t>
            </a:r>
            <a:r>
              <a:rPr lang="en-US" altLang="zh-CN" sz="1500" dirty="0" err="1">
                <a:solidFill>
                  <a:schemeClr val="bg1"/>
                </a:solidFill>
              </a:rPr>
              <a:t>lookUpToDeveloper</a:t>
            </a:r>
            <a:r>
              <a:rPr lang="en-US" altLang="zh-CN" sz="1500" dirty="0">
                <a:solidFill>
                  <a:schemeClr val="bg1"/>
                </a:solidFill>
              </a:rPr>
              <a:t>]) ON Country.ID=Developer.[</a:t>
            </a:r>
            <a:r>
              <a:rPr lang="en-US" altLang="zh-CN" sz="1500" dirty="0" err="1">
                <a:solidFill>
                  <a:schemeClr val="bg1"/>
                </a:solidFill>
              </a:rPr>
              <a:t>lookUpToCountry</a:t>
            </a:r>
            <a:r>
              <a:rPr lang="en-US" altLang="zh-CN" sz="1500" dirty="0">
                <a:solidFill>
                  <a:schemeClr val="bg1"/>
                </a:solidFill>
              </a:rPr>
              <a:t>]</a:t>
            </a:r>
          </a:p>
          <a:p>
            <a:pPr algn="l"/>
            <a:r>
              <a:rPr lang="en-US" altLang="zh-CN" sz="1500" dirty="0">
                <a:solidFill>
                  <a:schemeClr val="bg1"/>
                </a:solidFill>
              </a:rPr>
              <a:t>GROUP BY </a:t>
            </a:r>
            <a:r>
              <a:rPr lang="en-US" altLang="zh-CN" sz="1500" dirty="0" err="1">
                <a:solidFill>
                  <a:schemeClr val="bg1"/>
                </a:solidFill>
              </a:rPr>
              <a:t>Country.developerCountry</a:t>
            </a:r>
            <a:endParaRPr lang="en-US" altLang="zh-CN" sz="1500" dirty="0">
              <a:solidFill>
                <a:schemeClr val="bg1"/>
              </a:solidFill>
            </a:endParaRPr>
          </a:p>
          <a:p>
            <a:pPr algn="l"/>
            <a:r>
              <a:rPr lang="en-US" altLang="zh-CN" sz="1500" dirty="0">
                <a:solidFill>
                  <a:schemeClr val="bg1"/>
                </a:solidFill>
              </a:rPr>
              <a:t>ORDER BY AVG(</a:t>
            </a:r>
            <a:r>
              <a:rPr lang="en-US" altLang="zh-CN" sz="15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1500" dirty="0">
                <a:solidFill>
                  <a:schemeClr val="bg1"/>
                </a:solidFill>
              </a:rPr>
              <a:t>) DESC;</a:t>
            </a: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71" y="1684982"/>
            <a:ext cx="3123835" cy="38341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5391" y="15479"/>
            <a:ext cx="8238607" cy="826293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FindSuitableGameQuery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2999" y="1393604"/>
            <a:ext cx="6858000" cy="257694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sz="6400" dirty="0">
                <a:solidFill>
                  <a:schemeClr val="bg1"/>
                </a:solidFill>
              </a:rPr>
              <a:t>SELECT </a:t>
            </a:r>
            <a:r>
              <a:rPr lang="en-US" altLang="zh-CN" sz="6400" dirty="0" err="1">
                <a:solidFill>
                  <a:schemeClr val="bg1"/>
                </a:solidFill>
              </a:rPr>
              <a:t>Game.gameName</a:t>
            </a:r>
            <a:r>
              <a:rPr lang="en-US" altLang="zh-CN" sz="6400" dirty="0">
                <a:solidFill>
                  <a:schemeClr val="bg1"/>
                </a:solidFill>
              </a:rPr>
              <a:t>, </a:t>
            </a:r>
            <a:r>
              <a:rPr lang="en-US" altLang="zh-CN" sz="6400" dirty="0" err="1">
                <a:solidFill>
                  <a:schemeClr val="bg1"/>
                </a:solidFill>
              </a:rPr>
              <a:t>Game.year</a:t>
            </a:r>
            <a:r>
              <a:rPr lang="en-US" altLang="zh-CN" sz="6400" dirty="0">
                <a:solidFill>
                  <a:schemeClr val="bg1"/>
                </a:solidFill>
              </a:rPr>
              <a:t>, </a:t>
            </a:r>
            <a:r>
              <a:rPr lang="en-US" altLang="zh-CN" sz="64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6400" dirty="0">
                <a:solidFill>
                  <a:schemeClr val="bg1"/>
                </a:solidFill>
              </a:rPr>
              <a:t>, </a:t>
            </a:r>
            <a:r>
              <a:rPr lang="en-US" altLang="zh-CN" sz="6400" dirty="0" err="1">
                <a:solidFill>
                  <a:schemeClr val="bg1"/>
                </a:solidFill>
              </a:rPr>
              <a:t>Type.gameType</a:t>
            </a:r>
            <a:r>
              <a:rPr lang="en-US" altLang="zh-CN" sz="6400" dirty="0">
                <a:solidFill>
                  <a:schemeClr val="bg1"/>
                </a:solidFill>
              </a:rPr>
              <a:t>, FORMATPERCENT(</a:t>
            </a:r>
            <a:r>
              <a:rPr lang="en-US" altLang="zh-CN" sz="64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6400" dirty="0">
                <a:solidFill>
                  <a:schemeClr val="bg1"/>
                </a:solidFill>
              </a:rPr>
              <a:t>), </a:t>
            </a:r>
            <a:r>
              <a:rPr lang="en-US" altLang="zh-CN" sz="6400" dirty="0" err="1">
                <a:solidFill>
                  <a:schemeClr val="bg1"/>
                </a:solidFill>
              </a:rPr>
              <a:t>SystemRequirement.systemRequirment</a:t>
            </a:r>
            <a:endParaRPr lang="en-US" altLang="zh-CN" sz="6400" dirty="0">
              <a:solidFill>
                <a:schemeClr val="bg1"/>
              </a:solidFill>
            </a:endParaRPr>
          </a:p>
          <a:p>
            <a:pPr algn="l"/>
            <a:r>
              <a:rPr lang="en-US" altLang="zh-CN" sz="6400" dirty="0">
                <a:solidFill>
                  <a:schemeClr val="bg1"/>
                </a:solidFill>
              </a:rPr>
              <a:t>FROM Country INNER JOIN (Developer INNER JOIN (Type INNER JOIN (Game INNER JOIN </a:t>
            </a:r>
            <a:r>
              <a:rPr lang="en-US" altLang="zh-CN" sz="6400" dirty="0" err="1">
                <a:solidFill>
                  <a:schemeClr val="bg1"/>
                </a:solidFill>
              </a:rPr>
              <a:t>SystemRequirement</a:t>
            </a:r>
            <a:r>
              <a:rPr lang="en-US" altLang="zh-CN" sz="6400" dirty="0">
                <a:solidFill>
                  <a:schemeClr val="bg1"/>
                </a:solidFill>
              </a:rPr>
              <a:t> ON Game.[</a:t>
            </a:r>
            <a:r>
              <a:rPr lang="en-US" altLang="zh-CN" sz="6400" dirty="0" err="1">
                <a:solidFill>
                  <a:schemeClr val="bg1"/>
                </a:solidFill>
              </a:rPr>
              <a:t>lookUpToSystemRequirement</a:t>
            </a:r>
            <a:r>
              <a:rPr lang="en-US" altLang="zh-CN" sz="6400" dirty="0">
                <a:solidFill>
                  <a:schemeClr val="bg1"/>
                </a:solidFill>
              </a:rPr>
              <a:t>]=SystemRequirement.ID) ON Type.ID=Game.[</a:t>
            </a:r>
            <a:r>
              <a:rPr lang="en-US" altLang="zh-CN" sz="6400" dirty="0" err="1">
                <a:solidFill>
                  <a:schemeClr val="bg1"/>
                </a:solidFill>
              </a:rPr>
              <a:t>lookUpToType</a:t>
            </a:r>
            <a:r>
              <a:rPr lang="en-US" altLang="zh-CN" sz="6400" dirty="0">
                <a:solidFill>
                  <a:schemeClr val="bg1"/>
                </a:solidFill>
              </a:rPr>
              <a:t>]) ON Developer.ID=Game.[</a:t>
            </a:r>
            <a:r>
              <a:rPr lang="en-US" altLang="zh-CN" sz="6400" dirty="0" err="1">
                <a:solidFill>
                  <a:schemeClr val="bg1"/>
                </a:solidFill>
              </a:rPr>
              <a:t>lookUpToDeveloper</a:t>
            </a:r>
            <a:r>
              <a:rPr lang="en-US" altLang="zh-CN" sz="6400" dirty="0">
                <a:solidFill>
                  <a:schemeClr val="bg1"/>
                </a:solidFill>
              </a:rPr>
              <a:t>]) ON Country.ID=Developer.[</a:t>
            </a:r>
            <a:r>
              <a:rPr lang="en-US" altLang="zh-CN" sz="6400" dirty="0" err="1">
                <a:solidFill>
                  <a:schemeClr val="bg1"/>
                </a:solidFill>
              </a:rPr>
              <a:t>lookUpToCountry</a:t>
            </a:r>
            <a:r>
              <a:rPr lang="en-US" altLang="zh-CN" sz="6400" dirty="0">
                <a:solidFill>
                  <a:schemeClr val="bg1"/>
                </a:solidFill>
              </a:rPr>
              <a:t>]</a:t>
            </a:r>
          </a:p>
          <a:p>
            <a:pPr algn="l"/>
            <a:r>
              <a:rPr lang="en-US" altLang="zh-CN" sz="6400" dirty="0">
                <a:solidFill>
                  <a:schemeClr val="bg1"/>
                </a:solidFill>
              </a:rPr>
              <a:t>WHERE </a:t>
            </a:r>
            <a:r>
              <a:rPr lang="en-US" altLang="zh-CN" sz="6400" dirty="0" err="1">
                <a:solidFill>
                  <a:schemeClr val="bg1"/>
                </a:solidFill>
              </a:rPr>
              <a:t>Type.gameType</a:t>
            </a:r>
            <a:r>
              <a:rPr lang="en-US" altLang="zh-CN" sz="6400" dirty="0">
                <a:solidFill>
                  <a:schemeClr val="bg1"/>
                </a:solidFill>
              </a:rPr>
              <a:t> IN ('ACT', 'FPS')     AND </a:t>
            </a:r>
            <a:r>
              <a:rPr lang="en-US" altLang="zh-CN" sz="6400" dirty="0" err="1">
                <a:solidFill>
                  <a:schemeClr val="bg1"/>
                </a:solidFill>
              </a:rPr>
              <a:t>Game.year</a:t>
            </a:r>
            <a:r>
              <a:rPr lang="en-US" altLang="zh-CN" sz="6400" dirty="0">
                <a:solidFill>
                  <a:schemeClr val="bg1"/>
                </a:solidFill>
              </a:rPr>
              <a:t> &gt;= 2015     AND </a:t>
            </a:r>
            <a:r>
              <a:rPr lang="en-US" altLang="zh-CN" sz="64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6400" dirty="0">
                <a:solidFill>
                  <a:schemeClr val="bg1"/>
                </a:solidFill>
              </a:rPr>
              <a:t> &gt;= 0.90     AND </a:t>
            </a:r>
            <a:r>
              <a:rPr lang="en-US" altLang="zh-CN" sz="64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6400" dirty="0">
                <a:solidFill>
                  <a:schemeClr val="bg1"/>
                </a:solidFill>
              </a:rPr>
              <a:t> = 'USA'     AND </a:t>
            </a:r>
            <a:r>
              <a:rPr lang="en-US" altLang="zh-CN" sz="6400" dirty="0" err="1">
                <a:solidFill>
                  <a:schemeClr val="bg1"/>
                </a:solidFill>
              </a:rPr>
              <a:t>SystemRequirement.systemRequirment</a:t>
            </a:r>
            <a:r>
              <a:rPr lang="en-US" altLang="zh-CN" sz="6400" dirty="0">
                <a:solidFill>
                  <a:schemeClr val="bg1"/>
                </a:solidFill>
              </a:rPr>
              <a:t> IN ('High', 'Very High')</a:t>
            </a:r>
          </a:p>
          <a:p>
            <a:pPr algn="l"/>
            <a:r>
              <a:rPr lang="en-US" altLang="zh-CN" sz="6400" dirty="0">
                <a:solidFill>
                  <a:schemeClr val="bg1"/>
                </a:solidFill>
              </a:rPr>
              <a:t>ORDER BY </a:t>
            </a:r>
            <a:r>
              <a:rPr lang="en-US" altLang="zh-CN" sz="64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6400" dirty="0">
                <a:solidFill>
                  <a:schemeClr val="bg1"/>
                </a:solidFill>
              </a:rPr>
              <a:t> DESC;</a:t>
            </a:r>
          </a:p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4564308"/>
            <a:ext cx="7280971" cy="16142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92638" y="30959"/>
            <a:ext cx="7922762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OrderedQuantityQuery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67381" y="2327563"/>
            <a:ext cx="5295696" cy="3002362"/>
          </a:xfrm>
        </p:spPr>
        <p:txBody>
          <a:bodyPr>
            <a:no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SELECT </a:t>
            </a:r>
            <a:r>
              <a:rPr lang="en-US" altLang="zh-CN" sz="16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1600" dirty="0">
                <a:solidFill>
                  <a:schemeClr val="bg1"/>
                </a:solidFill>
              </a:rPr>
              <a:t>, </a:t>
            </a:r>
            <a:r>
              <a:rPr lang="en-US" altLang="zh-CN" sz="1600" dirty="0" err="1">
                <a:solidFill>
                  <a:schemeClr val="bg1"/>
                </a:solidFill>
              </a:rPr>
              <a:t>Type.gameType</a:t>
            </a:r>
            <a:r>
              <a:rPr lang="en-US" altLang="zh-CN" sz="1600" dirty="0">
                <a:solidFill>
                  <a:schemeClr val="bg1"/>
                </a:solidFill>
              </a:rPr>
              <a:t>, Count([Game].[</a:t>
            </a:r>
            <a:r>
              <a:rPr lang="en-US" altLang="zh-CN" sz="1600" dirty="0" err="1">
                <a:solidFill>
                  <a:schemeClr val="bg1"/>
                </a:solidFill>
              </a:rPr>
              <a:t>gameName</a:t>
            </a:r>
            <a:r>
              <a:rPr lang="en-US" altLang="zh-CN" sz="1600" dirty="0">
                <a:solidFill>
                  <a:schemeClr val="bg1"/>
                </a:solidFill>
              </a:rPr>
              <a:t>]) AS quantity</a:t>
            </a: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FROM Country INNER JOIN (Developer INNER JOIN (Type INNER JOIN Game ON Type.ID=Game.[</a:t>
            </a:r>
            <a:r>
              <a:rPr lang="en-US" altLang="zh-CN" sz="1600" dirty="0" err="1">
                <a:solidFill>
                  <a:schemeClr val="bg1"/>
                </a:solidFill>
              </a:rPr>
              <a:t>lookUpToType</a:t>
            </a:r>
            <a:r>
              <a:rPr lang="en-US" altLang="zh-CN" sz="1600" dirty="0">
                <a:solidFill>
                  <a:schemeClr val="bg1"/>
                </a:solidFill>
              </a:rPr>
              <a:t>]) ON Developer.ID=Game.[</a:t>
            </a:r>
            <a:r>
              <a:rPr lang="en-US" altLang="zh-CN" sz="1600" dirty="0" err="1">
                <a:solidFill>
                  <a:schemeClr val="bg1"/>
                </a:solidFill>
              </a:rPr>
              <a:t>lookUpToDeveloper</a:t>
            </a:r>
            <a:r>
              <a:rPr lang="en-US" altLang="zh-CN" sz="1600" dirty="0">
                <a:solidFill>
                  <a:schemeClr val="bg1"/>
                </a:solidFill>
              </a:rPr>
              <a:t>]) ON Country.ID=Developer.[</a:t>
            </a:r>
            <a:r>
              <a:rPr lang="en-US" altLang="zh-CN" sz="1600" dirty="0" err="1">
                <a:solidFill>
                  <a:schemeClr val="bg1"/>
                </a:solidFill>
              </a:rPr>
              <a:t>lookUpToCountry</a:t>
            </a:r>
            <a:r>
              <a:rPr lang="en-US" altLang="zh-CN" sz="1600" dirty="0">
                <a:solidFill>
                  <a:schemeClr val="bg1"/>
                </a:solidFill>
              </a:rPr>
              <a:t>]</a:t>
            </a:r>
          </a:p>
          <a:p>
            <a:pPr algn="l"/>
            <a:endParaRPr lang="en-US" altLang="zh-CN" sz="1600" dirty="0">
              <a:solidFill>
                <a:schemeClr val="bg1"/>
              </a:solidFill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GROUP BY </a:t>
            </a:r>
            <a:r>
              <a:rPr lang="en-US" altLang="zh-CN" sz="16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1600" dirty="0">
                <a:solidFill>
                  <a:schemeClr val="bg1"/>
                </a:solidFill>
              </a:rPr>
              <a:t>, </a:t>
            </a:r>
            <a:r>
              <a:rPr lang="en-US" altLang="zh-CN" sz="1600" dirty="0" err="1">
                <a:solidFill>
                  <a:schemeClr val="bg1"/>
                </a:solidFill>
              </a:rPr>
              <a:t>Type.gameType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ORDER BY </a:t>
            </a:r>
            <a:r>
              <a:rPr lang="en-US" altLang="zh-CN" sz="16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1600" dirty="0">
                <a:solidFill>
                  <a:schemeClr val="bg1"/>
                </a:solidFill>
              </a:rPr>
              <a:t>, Count([Game].[</a:t>
            </a:r>
            <a:r>
              <a:rPr lang="en-US" altLang="zh-CN" sz="1600" dirty="0" err="1">
                <a:solidFill>
                  <a:schemeClr val="bg1"/>
                </a:solidFill>
              </a:rPr>
              <a:t>gameName</a:t>
            </a:r>
            <a:r>
              <a:rPr lang="en-US" altLang="zh-CN" sz="1600" dirty="0">
                <a:solidFill>
                  <a:schemeClr val="bg1"/>
                </a:solidFill>
              </a:rPr>
              <a:t>]) DESC;</a:t>
            </a:r>
          </a:p>
          <a:p>
            <a:pPr algn="l"/>
            <a:br>
              <a:rPr lang="en-US" altLang="zh-CN" sz="1600" dirty="0">
                <a:solidFill>
                  <a:schemeClr val="bg1"/>
                </a:solidFill>
              </a:rPr>
            </a:br>
            <a:endParaRPr lang="en-US" altLang="zh-CN" sz="1600" dirty="0">
              <a:solidFill>
                <a:schemeClr val="bg1"/>
              </a:solidFill>
            </a:endParaRPr>
          </a:p>
          <a:p>
            <a:pPr algn="l"/>
            <a:endParaRPr lang="zh-CN" altLang="en-US" sz="1600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2" y="1554968"/>
            <a:ext cx="2651829" cy="4388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3989" y="0"/>
            <a:ext cx="8250011" cy="857251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Top5CostPerformanceQuery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9882" y="1118508"/>
            <a:ext cx="7364186" cy="33228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altLang="zh-CN" sz="2300" dirty="0">
                <a:solidFill>
                  <a:schemeClr val="bg1"/>
                </a:solidFill>
              </a:rPr>
              <a:t>SELECT TOP 5 </a:t>
            </a:r>
            <a:r>
              <a:rPr lang="en-US" altLang="zh-CN" sz="2300" dirty="0" err="1">
                <a:solidFill>
                  <a:schemeClr val="bg1"/>
                </a:solidFill>
              </a:rPr>
              <a:t>Game.gameName</a:t>
            </a:r>
            <a:r>
              <a:rPr lang="en-US" altLang="zh-CN" sz="2300" dirty="0">
                <a:solidFill>
                  <a:schemeClr val="bg1"/>
                </a:solidFill>
              </a:rPr>
              <a:t>, </a:t>
            </a:r>
            <a:r>
              <a:rPr lang="en-US" altLang="zh-CN" sz="2300" dirty="0" err="1">
                <a:solidFill>
                  <a:schemeClr val="bg1"/>
                </a:solidFill>
              </a:rPr>
              <a:t>Game.year</a:t>
            </a:r>
            <a:r>
              <a:rPr lang="en-US" altLang="zh-CN" sz="2300" dirty="0">
                <a:solidFill>
                  <a:schemeClr val="bg1"/>
                </a:solidFill>
              </a:rPr>
              <a:t>, </a:t>
            </a:r>
            <a:r>
              <a:rPr lang="en-US" altLang="zh-CN" sz="2300" dirty="0" err="1">
                <a:solidFill>
                  <a:schemeClr val="bg1"/>
                </a:solidFill>
              </a:rPr>
              <a:t>Country.developerCountry</a:t>
            </a:r>
            <a:r>
              <a:rPr lang="en-US" altLang="zh-CN" sz="2300" dirty="0">
                <a:solidFill>
                  <a:schemeClr val="bg1"/>
                </a:solidFill>
              </a:rPr>
              <a:t>, </a:t>
            </a:r>
            <a:r>
              <a:rPr lang="en-US" altLang="zh-CN" sz="2300" dirty="0" err="1">
                <a:solidFill>
                  <a:schemeClr val="bg1"/>
                </a:solidFill>
              </a:rPr>
              <a:t>Type.gameType</a:t>
            </a:r>
            <a:r>
              <a:rPr lang="en-US" altLang="zh-CN" sz="2300" dirty="0">
                <a:solidFill>
                  <a:schemeClr val="bg1"/>
                </a:solidFill>
              </a:rPr>
              <a:t>, </a:t>
            </a:r>
            <a:r>
              <a:rPr lang="en-US" altLang="zh-CN" sz="23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2300" dirty="0">
                <a:solidFill>
                  <a:schemeClr val="bg1"/>
                </a:solidFill>
              </a:rPr>
              <a:t>, </a:t>
            </a:r>
            <a:r>
              <a:rPr lang="en-US" altLang="zh-CN" sz="2300" dirty="0" err="1">
                <a:solidFill>
                  <a:schemeClr val="bg1"/>
                </a:solidFill>
              </a:rPr>
              <a:t>SystemRequirement.systemRequirment</a:t>
            </a:r>
            <a:endParaRPr lang="en-US" altLang="zh-CN" sz="2300" dirty="0">
              <a:solidFill>
                <a:schemeClr val="bg1"/>
              </a:solidFill>
            </a:endParaRPr>
          </a:p>
          <a:p>
            <a:pPr algn="l"/>
            <a:r>
              <a:rPr lang="en-US" altLang="zh-CN" sz="2300" dirty="0">
                <a:solidFill>
                  <a:schemeClr val="bg1"/>
                </a:solidFill>
              </a:rPr>
              <a:t>FROM Country INNER JOIN (Developer INNER JOIN (Type INNER JOIN (Game INNER JOIN </a:t>
            </a:r>
            <a:r>
              <a:rPr lang="en-US" altLang="zh-CN" sz="2300" dirty="0" err="1">
                <a:solidFill>
                  <a:schemeClr val="bg1"/>
                </a:solidFill>
              </a:rPr>
              <a:t>SystemRequirement</a:t>
            </a:r>
            <a:r>
              <a:rPr lang="en-US" altLang="zh-CN" sz="2300" dirty="0">
                <a:solidFill>
                  <a:schemeClr val="bg1"/>
                </a:solidFill>
              </a:rPr>
              <a:t> ON Game.[</a:t>
            </a:r>
            <a:r>
              <a:rPr lang="en-US" altLang="zh-CN" sz="2300" dirty="0" err="1">
                <a:solidFill>
                  <a:schemeClr val="bg1"/>
                </a:solidFill>
              </a:rPr>
              <a:t>lookUpToSystemRequirement</a:t>
            </a:r>
            <a:r>
              <a:rPr lang="en-US" altLang="zh-CN" sz="2300" dirty="0">
                <a:solidFill>
                  <a:schemeClr val="bg1"/>
                </a:solidFill>
              </a:rPr>
              <a:t>]=SystemRequirement.ID) ON Type.ID=Game.[</a:t>
            </a:r>
            <a:r>
              <a:rPr lang="en-US" altLang="zh-CN" sz="2300" dirty="0" err="1">
                <a:solidFill>
                  <a:schemeClr val="bg1"/>
                </a:solidFill>
              </a:rPr>
              <a:t>lookUpToType</a:t>
            </a:r>
            <a:r>
              <a:rPr lang="en-US" altLang="zh-CN" sz="2300" dirty="0">
                <a:solidFill>
                  <a:schemeClr val="bg1"/>
                </a:solidFill>
              </a:rPr>
              <a:t>]) ON Developer.ID=Game.[</a:t>
            </a:r>
            <a:r>
              <a:rPr lang="en-US" altLang="zh-CN" sz="2300" dirty="0" err="1">
                <a:solidFill>
                  <a:schemeClr val="bg1"/>
                </a:solidFill>
              </a:rPr>
              <a:t>lookUpToDeveloper</a:t>
            </a:r>
            <a:r>
              <a:rPr lang="en-US" altLang="zh-CN" sz="2300" dirty="0">
                <a:solidFill>
                  <a:schemeClr val="bg1"/>
                </a:solidFill>
              </a:rPr>
              <a:t>]) ON Country.ID=Developer.[</a:t>
            </a:r>
            <a:r>
              <a:rPr lang="en-US" altLang="zh-CN" sz="2300" dirty="0" err="1">
                <a:solidFill>
                  <a:schemeClr val="bg1"/>
                </a:solidFill>
              </a:rPr>
              <a:t>lookUpToCountry</a:t>
            </a:r>
            <a:r>
              <a:rPr lang="en-US" altLang="zh-CN" sz="2300" dirty="0">
                <a:solidFill>
                  <a:schemeClr val="bg1"/>
                </a:solidFill>
              </a:rPr>
              <a:t>]</a:t>
            </a:r>
          </a:p>
          <a:p>
            <a:pPr algn="l"/>
            <a:r>
              <a:rPr lang="en-US" altLang="zh-CN" sz="2300" dirty="0">
                <a:solidFill>
                  <a:schemeClr val="bg1"/>
                </a:solidFill>
              </a:rPr>
              <a:t>WHERE </a:t>
            </a:r>
            <a:r>
              <a:rPr lang="en-US" altLang="zh-CN" sz="2300" dirty="0" err="1">
                <a:solidFill>
                  <a:schemeClr val="bg1"/>
                </a:solidFill>
              </a:rPr>
              <a:t>Game.price</a:t>
            </a:r>
            <a:r>
              <a:rPr lang="en-US" altLang="zh-CN" sz="2300" dirty="0">
                <a:solidFill>
                  <a:schemeClr val="bg1"/>
                </a:solidFill>
              </a:rPr>
              <a:t> &lt;=50     AND </a:t>
            </a:r>
            <a:r>
              <a:rPr lang="en-US" altLang="zh-CN" sz="23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2300" dirty="0">
                <a:solidFill>
                  <a:schemeClr val="bg1"/>
                </a:solidFill>
              </a:rPr>
              <a:t> &gt;= 0.90     AND </a:t>
            </a:r>
            <a:r>
              <a:rPr lang="en-US" altLang="zh-CN" sz="2300" dirty="0" err="1">
                <a:solidFill>
                  <a:schemeClr val="bg1"/>
                </a:solidFill>
              </a:rPr>
              <a:t>Game.ownersEstimation</a:t>
            </a:r>
            <a:r>
              <a:rPr lang="en-US" altLang="zh-CN" sz="2300" dirty="0">
                <a:solidFill>
                  <a:schemeClr val="bg1"/>
                </a:solidFill>
              </a:rPr>
              <a:t>&gt;10000000</a:t>
            </a:r>
          </a:p>
          <a:p>
            <a:pPr algn="l"/>
            <a:r>
              <a:rPr lang="en-US" altLang="zh-CN" sz="2300" dirty="0">
                <a:solidFill>
                  <a:schemeClr val="bg1"/>
                </a:solidFill>
              </a:rPr>
              <a:t>ORDER BY </a:t>
            </a:r>
            <a:r>
              <a:rPr lang="en-US" altLang="zh-CN" sz="2300" dirty="0" err="1">
                <a:solidFill>
                  <a:schemeClr val="bg1"/>
                </a:solidFill>
              </a:rPr>
              <a:t>Game.applauseRate</a:t>
            </a:r>
            <a:r>
              <a:rPr lang="en-US" altLang="zh-CN" sz="2300" dirty="0">
                <a:solidFill>
                  <a:schemeClr val="bg1"/>
                </a:solidFill>
              </a:rPr>
              <a:t> DESC;</a:t>
            </a:r>
          </a:p>
          <a:p>
            <a:br>
              <a:rPr lang="en-US" altLang="zh-CN" dirty="0"/>
            </a:br>
            <a:endParaRPr lang="en-US" altLang="zh-CN" dirty="0"/>
          </a:p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82" y="4332779"/>
            <a:ext cx="7915275" cy="1229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0166" y="0"/>
            <a:ext cx="8233833" cy="857251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 err="1">
                <a:solidFill>
                  <a:schemeClr val="bg1"/>
                </a:solidFill>
              </a:rPr>
              <a:t>RankOfCompositeScore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80567" y="1904999"/>
            <a:ext cx="3424765" cy="3738035"/>
          </a:xfrm>
        </p:spPr>
        <p:txBody>
          <a:bodyPr>
            <a:norm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SELECT CompositeScores.ID,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CompositeScores.gameName</a:t>
            </a:r>
            <a:r>
              <a:rPr lang="en-US" altLang="zh-CN" sz="1600" dirty="0">
                <a:solidFill>
                  <a:schemeClr val="bg1"/>
                </a:solidFill>
              </a:rPr>
              <a:t>,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CompositeScores.compositeScore</a:t>
            </a:r>
            <a:r>
              <a:rPr lang="en-US" altLang="zh-CN" sz="1600" dirty="0">
                <a:solidFill>
                  <a:schemeClr val="bg1"/>
                </a:solidFill>
              </a:rPr>
              <a:t>, (SELECT COUNT(*) + 1 </a:t>
            </a: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 FROM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CompositeScores</a:t>
            </a:r>
            <a:r>
              <a:rPr lang="en-US" altLang="zh-CN" sz="1600" dirty="0">
                <a:solidFill>
                  <a:schemeClr val="bg1"/>
                </a:solidFill>
              </a:rPr>
              <a:t> AS t2 </a:t>
            </a: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 WHERE t2.compositeScore &gt;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CompositeScores.compositeScore</a:t>
            </a:r>
            <a:r>
              <a:rPr lang="en-US" altLang="zh-CN" sz="1600" dirty="0">
                <a:solidFill>
                  <a:schemeClr val="bg1"/>
                </a:solidFill>
              </a:rPr>
              <a:t>) AS </a:t>
            </a:r>
            <a:r>
              <a:rPr lang="en-US" altLang="zh-CN" sz="1600" dirty="0" err="1">
                <a:solidFill>
                  <a:schemeClr val="bg1"/>
                </a:solidFill>
              </a:rPr>
              <a:t>rankOfCompositeScore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FROM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CompositeScores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ORDER BY </a:t>
            </a:r>
            <a:r>
              <a:rPr lang="en-US" altLang="zh-CN" sz="1600" dirty="0" err="1">
                <a:solidFill>
                  <a:schemeClr val="bg1"/>
                </a:solidFill>
              </a:rPr>
              <a:t>compositeScore</a:t>
            </a:r>
            <a:r>
              <a:rPr lang="en-US" altLang="zh-CN" sz="1600" dirty="0">
                <a:solidFill>
                  <a:schemeClr val="bg1"/>
                </a:solidFill>
              </a:rPr>
              <a:t> DESC;</a:t>
            </a:r>
          </a:p>
          <a:p>
            <a:br>
              <a:rPr lang="en-US" altLang="zh-CN" sz="1600" dirty="0"/>
            </a:br>
            <a:endParaRPr lang="en-US" altLang="zh-CN" sz="1600" dirty="0"/>
          </a:p>
          <a:p>
            <a:pPr algn="l"/>
            <a:endParaRPr lang="zh-CN" altLang="en-US" sz="1600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" y="1668596"/>
            <a:ext cx="5116957" cy="35892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566" y="4873415"/>
            <a:ext cx="2772833" cy="1520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Forms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8602" y="1073836"/>
            <a:ext cx="6702398" cy="84177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 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478"/>
            <a:ext cx="9346884" cy="68425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1" y="1699022"/>
            <a:ext cx="6702398" cy="1241822"/>
          </a:xfrm>
          <a:noFill/>
        </p:spPr>
        <p:txBody>
          <a:bodyPr>
            <a:noAutofit/>
          </a:bodyPr>
          <a:lstStyle/>
          <a:p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79"/>
            <a:ext cx="9657056" cy="68270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1" y="1699022"/>
            <a:ext cx="6702398" cy="1241822"/>
          </a:xfrm>
          <a:noFill/>
        </p:spPr>
        <p:txBody>
          <a:bodyPr>
            <a:noAutofit/>
          </a:bodyPr>
          <a:lstStyle/>
          <a:p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296400" cy="687483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1" y="1699022"/>
            <a:ext cx="6702398" cy="1241822"/>
          </a:xfrm>
          <a:noFill/>
        </p:spPr>
        <p:txBody>
          <a:bodyPr>
            <a:noAutofit/>
          </a:bodyPr>
          <a:lstStyle/>
          <a:p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140"/>
            <a:ext cx="9275619" cy="690676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Report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1" y="1699022"/>
            <a:ext cx="6702398" cy="1241822"/>
          </a:xfrm>
          <a:noFill/>
        </p:spPr>
        <p:txBody>
          <a:bodyPr>
            <a:no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 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15479"/>
            <a:ext cx="9144000" cy="841772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005" y="15479"/>
            <a:ext cx="51955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38"/>
            <a:ext cx="841771" cy="6850261"/>
          </a:xfrm>
          <a:prstGeom prst="rect">
            <a:avLst/>
          </a:prstGeom>
          <a:solidFill>
            <a:srgbClr val="181D24"/>
          </a:solidFill>
          <a:ln>
            <a:solidFill>
              <a:srgbClr val="1B1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1771" y="2506432"/>
            <a:ext cx="8302229" cy="1241822"/>
          </a:xfrm>
          <a:noFill/>
        </p:spPr>
        <p:txBody>
          <a:bodyPr>
            <a:noAutofit/>
          </a:bodyPr>
          <a:lstStyle/>
          <a:p>
            <a:r>
              <a:rPr lang="en-US" altLang="zh-CN" sz="8000" dirty="0">
                <a:solidFill>
                  <a:schemeClr val="bg1"/>
                </a:solidFill>
              </a:rPr>
              <a:t>Thank You!</a:t>
            </a:r>
            <a:endParaRPr lang="zh-CN" altLang="en-US" sz="80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27942" y="5123468"/>
            <a:ext cx="73058" cy="1343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图标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41772" cy="841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915</Words>
  <Application>Microsoft Office PowerPoint</Application>
  <PresentationFormat>全屏显示(4:3)</PresentationFormat>
  <Paragraphs>112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Office 2013 - 2022 主题</vt:lpstr>
      <vt:lpstr>Steam Games  Database</vt:lpstr>
      <vt:lpstr>OUTLINE</vt:lpstr>
      <vt:lpstr>Topic   Introduction</vt:lpstr>
      <vt:lpstr>Introduction</vt:lpstr>
      <vt:lpstr>Entities  and  Attributes</vt:lpstr>
      <vt:lpstr>RDM</vt:lpstr>
      <vt:lpstr>Tables Refer to the Database</vt:lpstr>
      <vt:lpstr>TotalGameList Table</vt:lpstr>
      <vt:lpstr>Game Table</vt:lpstr>
      <vt:lpstr>Country Table</vt:lpstr>
      <vt:lpstr>Developers Table</vt:lpstr>
      <vt:lpstr>ExtraInformation Table</vt:lpstr>
      <vt:lpstr>SystemRequirement Table</vt:lpstr>
      <vt:lpstr>Type Table</vt:lpstr>
      <vt:lpstr>Constraints</vt:lpstr>
      <vt:lpstr>CONSTRAINTS</vt:lpstr>
      <vt:lpstr>Queries</vt:lpstr>
      <vt:lpstr>ControllerFriendlyQuery</vt:lpstr>
      <vt:lpstr>OrderedAVGRateQuery</vt:lpstr>
      <vt:lpstr>FindSuitableGameQuery</vt:lpstr>
      <vt:lpstr>OrderedQuantityQuery</vt:lpstr>
      <vt:lpstr>Top5CostPerformanceQuery</vt:lpstr>
      <vt:lpstr>RankOfCompositeScore</vt:lpstr>
      <vt:lpstr>Forms</vt:lpstr>
      <vt:lpstr> </vt:lpstr>
      <vt:lpstr>PowerPoint 演示文稿</vt:lpstr>
      <vt:lpstr>PowerPoint 演示文稿</vt:lpstr>
      <vt:lpstr>PowerPoint 演示文稿</vt:lpstr>
      <vt:lpstr>Report</vt:lpstr>
      <vt:lpstr>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You</dc:creator>
  <cp:lastModifiedBy>廖霁松</cp:lastModifiedBy>
  <cp:revision>6</cp:revision>
  <dcterms:created xsi:type="dcterms:W3CDTF">2023-08-09T12:44:00Z</dcterms:created>
  <dcterms:modified xsi:type="dcterms:W3CDTF">2025-06-04T05:26:27Z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