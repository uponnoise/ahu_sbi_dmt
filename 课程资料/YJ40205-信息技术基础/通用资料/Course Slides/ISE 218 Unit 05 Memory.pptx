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2"/>
  </p:notesMasterIdLst>
  <p:sldIdLst>
    <p:sldId id="550" r:id="rId2"/>
    <p:sldId id="262" r:id="rId3"/>
    <p:sldId id="265" r:id="rId4"/>
    <p:sldId id="266" r:id="rId5"/>
    <p:sldId id="267" r:id="rId6"/>
    <p:sldId id="268" r:id="rId7"/>
    <p:sldId id="269" r:id="rId8"/>
    <p:sldId id="270" r:id="rId9"/>
    <p:sldId id="271" r:id="rId10"/>
    <p:sldId id="272" r:id="rId11"/>
    <p:sldId id="273" r:id="rId12"/>
    <p:sldId id="277" r:id="rId13"/>
    <p:sldId id="275" r:id="rId14"/>
    <p:sldId id="278" r:id="rId15"/>
    <p:sldId id="279" r:id="rId16"/>
    <p:sldId id="280" r:id="rId17"/>
    <p:sldId id="281" r:id="rId18"/>
    <p:sldId id="276" r:id="rId19"/>
    <p:sldId id="282" r:id="rId20"/>
    <p:sldId id="284" r:id="rId21"/>
    <p:sldId id="283" r:id="rId22"/>
    <p:sldId id="274" r:id="rId23"/>
    <p:sldId id="285" r:id="rId24"/>
    <p:sldId id="286" r:id="rId25"/>
    <p:sldId id="263" r:id="rId26"/>
    <p:sldId id="287" r:id="rId27"/>
    <p:sldId id="288" r:id="rId28"/>
    <p:sldId id="289" r:id="rId29"/>
    <p:sldId id="293" r:id="rId30"/>
    <p:sldId id="290" r:id="rId31"/>
    <p:sldId id="291" r:id="rId32"/>
    <p:sldId id="297" r:id="rId33"/>
    <p:sldId id="298" r:id="rId34"/>
    <p:sldId id="299" r:id="rId35"/>
    <p:sldId id="294" r:id="rId36"/>
    <p:sldId id="300" r:id="rId37"/>
    <p:sldId id="295" r:id="rId38"/>
    <p:sldId id="301" r:id="rId39"/>
    <p:sldId id="302" r:id="rId40"/>
    <p:sldId id="303" r:id="rId41"/>
    <p:sldId id="304" r:id="rId42"/>
    <p:sldId id="305" r:id="rId43"/>
    <p:sldId id="306" r:id="rId44"/>
    <p:sldId id="307" r:id="rId45"/>
    <p:sldId id="308" r:id="rId46"/>
    <p:sldId id="309" r:id="rId47"/>
    <p:sldId id="310" r:id="rId48"/>
    <p:sldId id="311" r:id="rId49"/>
    <p:sldId id="315" r:id="rId50"/>
    <p:sldId id="314" r:id="rId51"/>
    <p:sldId id="296" r:id="rId52"/>
    <p:sldId id="312" r:id="rId53"/>
    <p:sldId id="313" r:id="rId54"/>
    <p:sldId id="292" r:id="rId55"/>
    <p:sldId id="316" r:id="rId56"/>
    <p:sldId id="317" r:id="rId57"/>
    <p:sldId id="321" r:id="rId58"/>
    <p:sldId id="318" r:id="rId59"/>
    <p:sldId id="319" r:id="rId60"/>
    <p:sldId id="322" r:id="rId61"/>
    <p:sldId id="323" r:id="rId62"/>
    <p:sldId id="324" r:id="rId63"/>
    <p:sldId id="320" r:id="rId64"/>
    <p:sldId id="325" r:id="rId65"/>
    <p:sldId id="326" r:id="rId66"/>
    <p:sldId id="327" r:id="rId67"/>
    <p:sldId id="328" r:id="rId68"/>
    <p:sldId id="329" r:id="rId69"/>
    <p:sldId id="330" r:id="rId70"/>
    <p:sldId id="264" r:id="rId71"/>
    <p:sldId id="331" r:id="rId72"/>
    <p:sldId id="332" r:id="rId73"/>
    <p:sldId id="333" r:id="rId74"/>
    <p:sldId id="335" r:id="rId75"/>
    <p:sldId id="334" r:id="rId76"/>
    <p:sldId id="339" r:id="rId77"/>
    <p:sldId id="340" r:id="rId78"/>
    <p:sldId id="336" r:id="rId79"/>
    <p:sldId id="337" r:id="rId80"/>
    <p:sldId id="338" r:id="rId81"/>
    <p:sldId id="341" r:id="rId82"/>
    <p:sldId id="342" r:id="rId83"/>
    <p:sldId id="343" r:id="rId84"/>
    <p:sldId id="344" r:id="rId85"/>
    <p:sldId id="345" r:id="rId86"/>
    <p:sldId id="347" r:id="rId87"/>
    <p:sldId id="348" r:id="rId88"/>
    <p:sldId id="349" r:id="rId89"/>
    <p:sldId id="360" r:id="rId90"/>
    <p:sldId id="350" r:id="rId91"/>
    <p:sldId id="351" r:id="rId92"/>
    <p:sldId id="352" r:id="rId93"/>
    <p:sldId id="355" r:id="rId94"/>
    <p:sldId id="353" r:id="rId95"/>
    <p:sldId id="356" r:id="rId96"/>
    <p:sldId id="357" r:id="rId97"/>
    <p:sldId id="359" r:id="rId98"/>
    <p:sldId id="358" r:id="rId99"/>
    <p:sldId id="354" r:id="rId100"/>
    <p:sldId id="346" r:id="rId10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8ABFB5-8019-4749-B990-514C9695B3DD}" v="1" dt="2025-04-02T09:51:16.7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770" autoAdjust="0"/>
  </p:normalViewPr>
  <p:slideViewPr>
    <p:cSldViewPr snapToGrid="0">
      <p:cViewPr varScale="1">
        <p:scale>
          <a:sx n="120" d="100"/>
          <a:sy n="120" d="100"/>
        </p:scale>
        <p:origin x="186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microsoft.com/office/2016/11/relationships/changesInfo" Target="changesInfos/changesInfo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108" Type="http://schemas.microsoft.com/office/2015/10/relationships/revisionInfo" Target="revisionInfo.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customXml" Target="../customXml/item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customXml" Target="../customXml/item2.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于 心瑞 Xinrui YU" userId="e6fcc6d4-2b88-4beb-95d7-57ae4d33a768" providerId="ADAL" clId="{988ABFB5-8019-4749-B990-514C9695B3DD}"/>
    <pc:docChg chg="custSel modSld">
      <pc:chgData name="于 心瑞 Xinrui YU" userId="e6fcc6d4-2b88-4beb-95d7-57ae4d33a768" providerId="ADAL" clId="{988ABFB5-8019-4749-B990-514C9695B3DD}" dt="2025-04-02T09:51:22.248" v="2" actId="478"/>
      <pc:docMkLst>
        <pc:docMk/>
      </pc:docMkLst>
      <pc:sldChg chg="addSp delSp modSp mod">
        <pc:chgData name="于 心瑞 Xinrui YU" userId="e6fcc6d4-2b88-4beb-95d7-57ae4d33a768" providerId="ADAL" clId="{988ABFB5-8019-4749-B990-514C9695B3DD}" dt="2025-04-02T09:51:22.248" v="2" actId="478"/>
        <pc:sldMkLst>
          <pc:docMk/>
          <pc:sldMk cId="3252378307" sldId="550"/>
        </pc:sldMkLst>
        <pc:spChg chg="del">
          <ac:chgData name="于 心瑞 Xinrui YU" userId="e6fcc6d4-2b88-4beb-95d7-57ae4d33a768" providerId="ADAL" clId="{988ABFB5-8019-4749-B990-514C9695B3DD}" dt="2025-04-02T09:51:16.308" v="0" actId="478"/>
          <ac:spMkLst>
            <pc:docMk/>
            <pc:sldMk cId="3252378307" sldId="550"/>
            <ac:spMk id="3" creationId="{4DCD6985-364C-407E-B0BD-DB3847671993}"/>
          </ac:spMkLst>
        </pc:spChg>
        <pc:spChg chg="add del mod">
          <ac:chgData name="于 心瑞 Xinrui YU" userId="e6fcc6d4-2b88-4beb-95d7-57ae4d33a768" providerId="ADAL" clId="{988ABFB5-8019-4749-B990-514C9695B3DD}" dt="2025-04-02T09:51:22.248" v="2" actId="478"/>
          <ac:spMkLst>
            <pc:docMk/>
            <pc:sldMk cId="3252378307" sldId="550"/>
            <ac:spMk id="6" creationId="{25800EBC-2288-8F2F-6407-97EE880E9332}"/>
          </ac:spMkLst>
        </pc:spChg>
        <pc:spChg chg="add mod">
          <ac:chgData name="于 心瑞 Xinrui YU" userId="e6fcc6d4-2b88-4beb-95d7-57ae4d33a768" providerId="ADAL" clId="{988ABFB5-8019-4749-B990-514C9695B3DD}" dt="2025-04-02T09:51:16.743" v="1"/>
          <ac:spMkLst>
            <pc:docMk/>
            <pc:sldMk cId="3252378307" sldId="550"/>
            <ac:spMk id="7" creationId="{377029C2-6FA0-9CB2-AC9A-1DF49179E5B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B4D0BB-5522-4C10-8135-53B21677EA29}" type="datetimeFigureOut">
              <a:rPr lang="en-US" smtClean="0"/>
              <a:t>4/2/2025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299D46-16F3-4057-B356-6BA1F3AC74E9}" type="slidenum">
              <a:rPr lang="en-US" smtClean="0"/>
              <a:t>‹#›</a:t>
            </a:fld>
            <a:endParaRPr lang="en-US"/>
          </a:p>
        </p:txBody>
      </p:sp>
    </p:spTree>
    <p:extLst>
      <p:ext uri="{BB962C8B-B14F-4D97-AF65-F5344CB8AC3E}">
        <p14:creationId xmlns:p14="http://schemas.microsoft.com/office/powerpoint/2010/main" val="3516992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DRAM made a capacitors, it refresh every millisecond</a:t>
            </a:r>
          </a:p>
          <a:p>
            <a:endParaRPr lang="en-US" dirty="0"/>
          </a:p>
          <a:p>
            <a:r>
              <a:rPr lang="en-US" dirty="0"/>
              <a:t>SRAM for cache memory very fast and doesn’t need to be refreshed</a:t>
            </a:r>
          </a:p>
          <a:p>
            <a:endParaRPr lang="en-US" dirty="0"/>
          </a:p>
        </p:txBody>
      </p:sp>
      <p:sp>
        <p:nvSpPr>
          <p:cNvPr id="4" name="Slide Number Placeholder 3"/>
          <p:cNvSpPr>
            <a:spLocks noGrp="1"/>
          </p:cNvSpPr>
          <p:nvPr>
            <p:ph type="sldNum" sz="quarter" idx="5"/>
          </p:nvPr>
        </p:nvSpPr>
        <p:spPr/>
        <p:txBody>
          <a:bodyPr/>
          <a:lstStyle/>
          <a:p>
            <a:fld id="{20299D46-16F3-4057-B356-6BA1F3AC74E9}" type="slidenum">
              <a:rPr lang="en-US" smtClean="0"/>
              <a:t>3</a:t>
            </a:fld>
            <a:endParaRPr lang="en-US"/>
          </a:p>
        </p:txBody>
      </p:sp>
    </p:spTree>
    <p:extLst>
      <p:ext uri="{BB962C8B-B14F-4D97-AF65-F5344CB8AC3E}">
        <p14:creationId xmlns:p14="http://schemas.microsoft.com/office/powerpoint/2010/main" val="2937873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299D46-16F3-4057-B356-6BA1F3AC74E9}" type="slidenum">
              <a:rPr lang="en-US" smtClean="0"/>
              <a:t>6</a:t>
            </a:fld>
            <a:endParaRPr lang="en-US"/>
          </a:p>
        </p:txBody>
      </p:sp>
    </p:spTree>
    <p:extLst>
      <p:ext uri="{BB962C8B-B14F-4D97-AF65-F5344CB8AC3E}">
        <p14:creationId xmlns:p14="http://schemas.microsoft.com/office/powerpoint/2010/main" val="4194821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299D46-16F3-4057-B356-6BA1F3AC74E9}" type="slidenum">
              <a:rPr lang="en-US" smtClean="0"/>
              <a:t>14</a:t>
            </a:fld>
            <a:endParaRPr lang="en-US"/>
          </a:p>
        </p:txBody>
      </p:sp>
    </p:spTree>
    <p:extLst>
      <p:ext uri="{BB962C8B-B14F-4D97-AF65-F5344CB8AC3E}">
        <p14:creationId xmlns:p14="http://schemas.microsoft.com/office/powerpoint/2010/main" val="105991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299D46-16F3-4057-B356-6BA1F3AC74E9}" type="slidenum">
              <a:rPr lang="en-US" smtClean="0"/>
              <a:t>16</a:t>
            </a:fld>
            <a:endParaRPr lang="en-US"/>
          </a:p>
        </p:txBody>
      </p:sp>
    </p:spTree>
    <p:extLst>
      <p:ext uri="{BB962C8B-B14F-4D97-AF65-F5344CB8AC3E}">
        <p14:creationId xmlns:p14="http://schemas.microsoft.com/office/powerpoint/2010/main" val="39496838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299D46-16F3-4057-B356-6BA1F3AC74E9}" type="slidenum">
              <a:rPr lang="en-US" smtClean="0"/>
              <a:t>22</a:t>
            </a:fld>
            <a:endParaRPr lang="en-US"/>
          </a:p>
        </p:txBody>
      </p:sp>
    </p:spTree>
    <p:extLst>
      <p:ext uri="{BB962C8B-B14F-4D97-AF65-F5344CB8AC3E}">
        <p14:creationId xmlns:p14="http://schemas.microsoft.com/office/powerpoint/2010/main" val="30370489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299D46-16F3-4057-B356-6BA1F3AC74E9}" type="slidenum">
              <a:rPr lang="en-US" smtClean="0"/>
              <a:t>37</a:t>
            </a:fld>
            <a:endParaRPr lang="en-US"/>
          </a:p>
        </p:txBody>
      </p:sp>
    </p:spTree>
    <p:extLst>
      <p:ext uri="{BB962C8B-B14F-4D97-AF65-F5344CB8AC3E}">
        <p14:creationId xmlns:p14="http://schemas.microsoft.com/office/powerpoint/2010/main" val="31608418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23B165-5D6B-4219-8D0B-E4E7E0CDDBAA}" type="slidenum">
              <a:rPr lang="en-US" smtClean="0"/>
              <a:t>59</a:t>
            </a:fld>
            <a:endParaRPr lang="en-US"/>
          </a:p>
        </p:txBody>
      </p:sp>
    </p:spTree>
    <p:extLst>
      <p:ext uri="{BB962C8B-B14F-4D97-AF65-F5344CB8AC3E}">
        <p14:creationId xmlns:p14="http://schemas.microsoft.com/office/powerpoint/2010/main" val="28783624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23B165-5D6B-4219-8D0B-E4E7E0CDDBAA}" type="slidenum">
              <a:rPr lang="en-US" smtClean="0"/>
              <a:t>60</a:t>
            </a:fld>
            <a:endParaRPr lang="en-US"/>
          </a:p>
        </p:txBody>
      </p:sp>
    </p:spTree>
    <p:extLst>
      <p:ext uri="{BB962C8B-B14F-4D97-AF65-F5344CB8AC3E}">
        <p14:creationId xmlns:p14="http://schemas.microsoft.com/office/powerpoint/2010/main" val="16550771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23B165-5D6B-4219-8D0B-E4E7E0CDDBAA}" type="slidenum">
              <a:rPr lang="en-US" smtClean="0"/>
              <a:t>61</a:t>
            </a:fld>
            <a:endParaRPr lang="en-US"/>
          </a:p>
        </p:txBody>
      </p:sp>
    </p:spTree>
    <p:extLst>
      <p:ext uri="{BB962C8B-B14F-4D97-AF65-F5344CB8AC3E}">
        <p14:creationId xmlns:p14="http://schemas.microsoft.com/office/powerpoint/2010/main" val="41373927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23B165-5D6B-4219-8D0B-E4E7E0CDDBAA}" type="slidenum">
              <a:rPr lang="en-US" smtClean="0"/>
              <a:t>62</a:t>
            </a:fld>
            <a:endParaRPr lang="en-US"/>
          </a:p>
        </p:txBody>
      </p:sp>
    </p:spTree>
    <p:extLst>
      <p:ext uri="{BB962C8B-B14F-4D97-AF65-F5344CB8AC3E}">
        <p14:creationId xmlns:p14="http://schemas.microsoft.com/office/powerpoint/2010/main" val="13506961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tst</a:t>
            </a:r>
            <a:endParaRPr lang="en-US" dirty="0"/>
          </a:p>
        </p:txBody>
      </p:sp>
      <p:sp>
        <p:nvSpPr>
          <p:cNvPr id="4" name="Slide Number Placeholder 3"/>
          <p:cNvSpPr>
            <a:spLocks noGrp="1"/>
          </p:cNvSpPr>
          <p:nvPr>
            <p:ph type="sldNum" sz="quarter" idx="5"/>
          </p:nvPr>
        </p:nvSpPr>
        <p:spPr/>
        <p:txBody>
          <a:bodyPr/>
          <a:lstStyle/>
          <a:p>
            <a:fld id="{20299D46-16F3-4057-B356-6BA1F3AC74E9}" type="slidenum">
              <a:rPr lang="en-US" smtClean="0"/>
              <a:t>64</a:t>
            </a:fld>
            <a:endParaRPr lang="en-US"/>
          </a:p>
        </p:txBody>
      </p:sp>
    </p:spTree>
    <p:extLst>
      <p:ext uri="{BB962C8B-B14F-4D97-AF65-F5344CB8AC3E}">
        <p14:creationId xmlns:p14="http://schemas.microsoft.com/office/powerpoint/2010/main" val="3832615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Strictly cache is design to protect the data by having the redundancy.  And the data will be available on all the level of cache.</a:t>
            </a:r>
          </a:p>
          <a:p>
            <a:endParaRPr lang="en-US" dirty="0"/>
          </a:p>
          <a:p>
            <a:r>
              <a:rPr lang="en-US" dirty="0"/>
              <a:t>Exclusive caches is going to have the one copy of data (</a:t>
            </a:r>
            <a:r>
              <a:rPr lang="en-US" dirty="0" err="1"/>
              <a:t>Slighty</a:t>
            </a:r>
            <a:r>
              <a:rPr lang="en-US" dirty="0"/>
              <a:t> chance to loose the data.</a:t>
            </a:r>
          </a:p>
          <a:p>
            <a:endParaRPr lang="en-US" dirty="0"/>
          </a:p>
        </p:txBody>
      </p:sp>
      <p:sp>
        <p:nvSpPr>
          <p:cNvPr id="4" name="Slide Number Placeholder 3"/>
          <p:cNvSpPr>
            <a:spLocks noGrp="1"/>
          </p:cNvSpPr>
          <p:nvPr>
            <p:ph type="sldNum" sz="quarter" idx="5"/>
          </p:nvPr>
        </p:nvSpPr>
        <p:spPr/>
        <p:txBody>
          <a:bodyPr/>
          <a:lstStyle/>
          <a:p>
            <a:fld id="{20299D46-16F3-4057-B356-6BA1F3AC74E9}" type="slidenum">
              <a:rPr lang="en-US" smtClean="0"/>
              <a:t>71</a:t>
            </a:fld>
            <a:endParaRPr lang="en-US"/>
          </a:p>
        </p:txBody>
      </p:sp>
    </p:spTree>
    <p:extLst>
      <p:ext uri="{BB962C8B-B14F-4D97-AF65-F5344CB8AC3E}">
        <p14:creationId xmlns:p14="http://schemas.microsoft.com/office/powerpoint/2010/main" val="681163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Defining page which is dividing up data into pre-defined page size which is bigger </a:t>
            </a:r>
            <a:r>
              <a:rPr lang="en-US"/>
              <a:t>than block</a:t>
            </a:r>
          </a:p>
        </p:txBody>
      </p:sp>
      <p:sp>
        <p:nvSpPr>
          <p:cNvPr id="4" name="Slide Number Placeholder 3"/>
          <p:cNvSpPr>
            <a:spLocks noGrp="1"/>
          </p:cNvSpPr>
          <p:nvPr>
            <p:ph type="sldNum" sz="quarter" idx="5"/>
          </p:nvPr>
        </p:nvSpPr>
        <p:spPr/>
        <p:txBody>
          <a:bodyPr/>
          <a:lstStyle/>
          <a:p>
            <a:fld id="{20299D46-16F3-4057-B356-6BA1F3AC74E9}" type="slidenum">
              <a:rPr lang="en-US" smtClean="0"/>
              <a:t>72</a:t>
            </a:fld>
            <a:endParaRPr lang="en-US"/>
          </a:p>
        </p:txBody>
      </p:sp>
    </p:spTree>
    <p:extLst>
      <p:ext uri="{BB962C8B-B14F-4D97-AF65-F5344CB8AC3E}">
        <p14:creationId xmlns:p14="http://schemas.microsoft.com/office/powerpoint/2010/main" val="985824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D552B-82FF-4AB4-9609-C7A7D3BD15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AACFFC-15DD-45C9-8591-64FB971AF4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250A81-BD6A-4705-B1A1-53C59C7A7855}"/>
              </a:ext>
            </a:extLst>
          </p:cNvPr>
          <p:cNvSpPr>
            <a:spLocks noGrp="1"/>
          </p:cNvSpPr>
          <p:nvPr>
            <p:ph type="dt" sz="half" idx="10"/>
          </p:nvPr>
        </p:nvSpPr>
        <p:spPr/>
        <p:txBody>
          <a:bodyPr/>
          <a:lstStyle/>
          <a:p>
            <a:fld id="{92CC8182-8A53-4BCE-8F74-6947BE705CD4}" type="datetimeFigureOut">
              <a:rPr lang="en-US" smtClean="0"/>
              <a:t>4/2/2025</a:t>
            </a:fld>
            <a:endParaRPr lang="en-US"/>
          </a:p>
        </p:txBody>
      </p:sp>
      <p:sp>
        <p:nvSpPr>
          <p:cNvPr id="5" name="Footer Placeholder 4">
            <a:extLst>
              <a:ext uri="{FF2B5EF4-FFF2-40B4-BE49-F238E27FC236}">
                <a16:creationId xmlns:a16="http://schemas.microsoft.com/office/drawing/2014/main" id="{9AC757A9-5704-449B-95E2-D0CCC051EC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D94D6D-FCEB-4AB3-A5AF-D02DB65DB745}"/>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3476077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FBB47-85D7-4C03-AFE8-AE56293CEB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2069EB-CBF3-4983-BD1A-BE58482CA1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77482-8B8C-4ECB-BD8F-227C120E4857}"/>
              </a:ext>
            </a:extLst>
          </p:cNvPr>
          <p:cNvSpPr>
            <a:spLocks noGrp="1"/>
          </p:cNvSpPr>
          <p:nvPr>
            <p:ph type="dt" sz="half" idx="10"/>
          </p:nvPr>
        </p:nvSpPr>
        <p:spPr/>
        <p:txBody>
          <a:bodyPr/>
          <a:lstStyle/>
          <a:p>
            <a:fld id="{92CC8182-8A53-4BCE-8F74-6947BE705CD4}" type="datetimeFigureOut">
              <a:rPr lang="en-US" smtClean="0"/>
              <a:t>4/2/2025</a:t>
            </a:fld>
            <a:endParaRPr lang="en-US"/>
          </a:p>
        </p:txBody>
      </p:sp>
      <p:sp>
        <p:nvSpPr>
          <p:cNvPr id="5" name="Footer Placeholder 4">
            <a:extLst>
              <a:ext uri="{FF2B5EF4-FFF2-40B4-BE49-F238E27FC236}">
                <a16:creationId xmlns:a16="http://schemas.microsoft.com/office/drawing/2014/main" id="{8F589392-4818-4C89-9DFA-A27DAB7600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A93950-D55E-4C81-B644-450FE394640D}"/>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3111142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1DB90-BB39-4756-8952-3A1C2DB83A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B32473-D10D-42DD-BA3D-583595F89D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CA9556-2CB1-48A8-B892-A9C6196400E4}"/>
              </a:ext>
            </a:extLst>
          </p:cNvPr>
          <p:cNvSpPr>
            <a:spLocks noGrp="1"/>
          </p:cNvSpPr>
          <p:nvPr>
            <p:ph type="dt" sz="half" idx="10"/>
          </p:nvPr>
        </p:nvSpPr>
        <p:spPr/>
        <p:txBody>
          <a:bodyPr/>
          <a:lstStyle/>
          <a:p>
            <a:fld id="{92CC8182-8A53-4BCE-8F74-6947BE705CD4}" type="datetimeFigureOut">
              <a:rPr lang="en-US" smtClean="0"/>
              <a:t>4/2/2025</a:t>
            </a:fld>
            <a:endParaRPr lang="en-US"/>
          </a:p>
        </p:txBody>
      </p:sp>
      <p:sp>
        <p:nvSpPr>
          <p:cNvPr id="5" name="Footer Placeholder 4">
            <a:extLst>
              <a:ext uri="{FF2B5EF4-FFF2-40B4-BE49-F238E27FC236}">
                <a16:creationId xmlns:a16="http://schemas.microsoft.com/office/drawing/2014/main" id="{E24C7B00-C4F2-4A0E-94EE-D6A849306D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E89A8A-E754-4481-87DD-5324EE60DAB8}"/>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297071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AC46B-657D-4B96-AF11-2F595FCF31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6E23D2-5632-40CB-8093-37AFF79E26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FF951-8D8F-459D-8863-B8A35EF88E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E4D493-34D8-43AD-8A01-CE212CE9D558}"/>
              </a:ext>
            </a:extLst>
          </p:cNvPr>
          <p:cNvSpPr>
            <a:spLocks noGrp="1"/>
          </p:cNvSpPr>
          <p:nvPr>
            <p:ph type="dt" sz="half" idx="10"/>
          </p:nvPr>
        </p:nvSpPr>
        <p:spPr/>
        <p:txBody>
          <a:bodyPr/>
          <a:lstStyle/>
          <a:p>
            <a:fld id="{92CC8182-8A53-4BCE-8F74-6947BE705CD4}" type="datetimeFigureOut">
              <a:rPr lang="en-US" smtClean="0"/>
              <a:t>4/2/2025</a:t>
            </a:fld>
            <a:endParaRPr lang="en-US"/>
          </a:p>
        </p:txBody>
      </p:sp>
      <p:sp>
        <p:nvSpPr>
          <p:cNvPr id="6" name="Footer Placeholder 5">
            <a:extLst>
              <a:ext uri="{FF2B5EF4-FFF2-40B4-BE49-F238E27FC236}">
                <a16:creationId xmlns:a16="http://schemas.microsoft.com/office/drawing/2014/main" id="{30BFC614-C652-4266-8E09-E7370A0CC2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7BA22F-6DAB-4A37-91AA-96D2E04F1B17}"/>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3760558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51189-EB22-47FF-B37D-14AADFFD0AA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C39329-89A8-40CC-B8D1-C0D2D34634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947A9D-9C23-42EF-8B31-98A681808C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596BC8-4529-4594-A62A-B0490D8B91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69B1F9-831C-4959-9FAC-00D6420CAC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17478D-9499-493E-87D6-4D06F7A00298}"/>
              </a:ext>
            </a:extLst>
          </p:cNvPr>
          <p:cNvSpPr>
            <a:spLocks noGrp="1"/>
          </p:cNvSpPr>
          <p:nvPr>
            <p:ph type="dt" sz="half" idx="10"/>
          </p:nvPr>
        </p:nvSpPr>
        <p:spPr/>
        <p:txBody>
          <a:bodyPr/>
          <a:lstStyle/>
          <a:p>
            <a:fld id="{92CC8182-8A53-4BCE-8F74-6947BE705CD4}" type="datetimeFigureOut">
              <a:rPr lang="en-US" smtClean="0"/>
              <a:t>4/2/2025</a:t>
            </a:fld>
            <a:endParaRPr lang="en-US"/>
          </a:p>
        </p:txBody>
      </p:sp>
      <p:sp>
        <p:nvSpPr>
          <p:cNvPr id="8" name="Footer Placeholder 7">
            <a:extLst>
              <a:ext uri="{FF2B5EF4-FFF2-40B4-BE49-F238E27FC236}">
                <a16:creationId xmlns:a16="http://schemas.microsoft.com/office/drawing/2014/main" id="{55F3CEA6-3C43-4928-97C7-2D92EACADA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304DCCD-B828-4CFA-B830-C481107BEDB8}"/>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2343412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7E580-3584-400F-82B4-86B1D3BA118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F27705-C5F9-457F-BFEC-F13A44823CB5}"/>
              </a:ext>
            </a:extLst>
          </p:cNvPr>
          <p:cNvSpPr>
            <a:spLocks noGrp="1"/>
          </p:cNvSpPr>
          <p:nvPr>
            <p:ph type="dt" sz="half" idx="10"/>
          </p:nvPr>
        </p:nvSpPr>
        <p:spPr/>
        <p:txBody>
          <a:bodyPr/>
          <a:lstStyle/>
          <a:p>
            <a:fld id="{92CC8182-8A53-4BCE-8F74-6947BE705CD4}" type="datetimeFigureOut">
              <a:rPr lang="en-US" smtClean="0"/>
              <a:t>4/2/2025</a:t>
            </a:fld>
            <a:endParaRPr lang="en-US"/>
          </a:p>
        </p:txBody>
      </p:sp>
      <p:sp>
        <p:nvSpPr>
          <p:cNvPr id="4" name="Footer Placeholder 3">
            <a:extLst>
              <a:ext uri="{FF2B5EF4-FFF2-40B4-BE49-F238E27FC236}">
                <a16:creationId xmlns:a16="http://schemas.microsoft.com/office/drawing/2014/main" id="{B7D4B83A-7635-4D97-B096-219D7DB7CD3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472993-E0E3-4A12-8240-710606F6CCDF}"/>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2552738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34D6E1-7F80-40E1-BF2F-B05F1E975988}"/>
              </a:ext>
            </a:extLst>
          </p:cNvPr>
          <p:cNvSpPr>
            <a:spLocks noGrp="1"/>
          </p:cNvSpPr>
          <p:nvPr>
            <p:ph type="dt" sz="half" idx="10"/>
          </p:nvPr>
        </p:nvSpPr>
        <p:spPr/>
        <p:txBody>
          <a:bodyPr/>
          <a:lstStyle/>
          <a:p>
            <a:fld id="{92CC8182-8A53-4BCE-8F74-6947BE705CD4}" type="datetimeFigureOut">
              <a:rPr lang="en-US" smtClean="0"/>
              <a:t>4/2/2025</a:t>
            </a:fld>
            <a:endParaRPr lang="en-US"/>
          </a:p>
        </p:txBody>
      </p:sp>
      <p:sp>
        <p:nvSpPr>
          <p:cNvPr id="3" name="Footer Placeholder 2">
            <a:extLst>
              <a:ext uri="{FF2B5EF4-FFF2-40B4-BE49-F238E27FC236}">
                <a16:creationId xmlns:a16="http://schemas.microsoft.com/office/drawing/2014/main" id="{6F612BDF-9915-4950-ACA4-33E3BB3BB3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86EA4C-F843-4446-A7B6-4A4B85783716}"/>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688443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0D886-60B2-4DD3-8E28-4E27ADA5EC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7BCEA3-FD12-4E89-8543-AD44DB0432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91A5EA-5B38-48D1-878E-F4B7E54CD0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9C3C98-0E0F-4D52-B760-26791C9289AF}"/>
              </a:ext>
            </a:extLst>
          </p:cNvPr>
          <p:cNvSpPr>
            <a:spLocks noGrp="1"/>
          </p:cNvSpPr>
          <p:nvPr>
            <p:ph type="dt" sz="half" idx="10"/>
          </p:nvPr>
        </p:nvSpPr>
        <p:spPr/>
        <p:txBody>
          <a:bodyPr/>
          <a:lstStyle/>
          <a:p>
            <a:fld id="{92CC8182-8A53-4BCE-8F74-6947BE705CD4}" type="datetimeFigureOut">
              <a:rPr lang="en-US" smtClean="0"/>
              <a:t>4/2/2025</a:t>
            </a:fld>
            <a:endParaRPr lang="en-US"/>
          </a:p>
        </p:txBody>
      </p:sp>
      <p:sp>
        <p:nvSpPr>
          <p:cNvPr id="6" name="Footer Placeholder 5">
            <a:extLst>
              <a:ext uri="{FF2B5EF4-FFF2-40B4-BE49-F238E27FC236}">
                <a16:creationId xmlns:a16="http://schemas.microsoft.com/office/drawing/2014/main" id="{ED522735-0599-4C70-AF7B-5A867BE6A3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CA1B80-CA4F-418D-B784-E06AD1677909}"/>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2184477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3E478-4348-499F-93A8-209D59372F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211465-A55C-43F8-BC8B-65C908BBC1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54AA8CF-35C7-4E7A-8CF2-DD1B31289F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EA830D-05B3-4113-A934-CE046200FF41}"/>
              </a:ext>
            </a:extLst>
          </p:cNvPr>
          <p:cNvSpPr>
            <a:spLocks noGrp="1"/>
          </p:cNvSpPr>
          <p:nvPr>
            <p:ph type="dt" sz="half" idx="10"/>
          </p:nvPr>
        </p:nvSpPr>
        <p:spPr/>
        <p:txBody>
          <a:bodyPr/>
          <a:lstStyle/>
          <a:p>
            <a:fld id="{92CC8182-8A53-4BCE-8F74-6947BE705CD4}" type="datetimeFigureOut">
              <a:rPr lang="en-US" smtClean="0"/>
              <a:t>4/2/2025</a:t>
            </a:fld>
            <a:endParaRPr lang="en-US"/>
          </a:p>
        </p:txBody>
      </p:sp>
      <p:sp>
        <p:nvSpPr>
          <p:cNvPr id="6" name="Footer Placeholder 5">
            <a:extLst>
              <a:ext uri="{FF2B5EF4-FFF2-40B4-BE49-F238E27FC236}">
                <a16:creationId xmlns:a16="http://schemas.microsoft.com/office/drawing/2014/main" id="{1AFE2548-ED48-4FDD-9329-54769D0AB9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DCEB7C-F788-43DF-85B5-0DBA7C07CE44}"/>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3607691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2F941-46EF-4311-AED7-D0BB6636913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5FD0C78-72E8-42D8-A8A3-0BD58C4C3B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C4E8BB-B3FA-45D6-98E9-9C11F14E2DF8}"/>
              </a:ext>
            </a:extLst>
          </p:cNvPr>
          <p:cNvSpPr>
            <a:spLocks noGrp="1"/>
          </p:cNvSpPr>
          <p:nvPr>
            <p:ph type="dt" sz="half" idx="10"/>
          </p:nvPr>
        </p:nvSpPr>
        <p:spPr/>
        <p:txBody>
          <a:bodyPr/>
          <a:lstStyle/>
          <a:p>
            <a:fld id="{92CC8182-8A53-4BCE-8F74-6947BE705CD4}" type="datetimeFigureOut">
              <a:rPr lang="en-US" smtClean="0"/>
              <a:t>4/2/2025</a:t>
            </a:fld>
            <a:endParaRPr lang="en-US"/>
          </a:p>
        </p:txBody>
      </p:sp>
      <p:sp>
        <p:nvSpPr>
          <p:cNvPr id="5" name="Footer Placeholder 4">
            <a:extLst>
              <a:ext uri="{FF2B5EF4-FFF2-40B4-BE49-F238E27FC236}">
                <a16:creationId xmlns:a16="http://schemas.microsoft.com/office/drawing/2014/main" id="{DA8EC78D-3294-4990-8C81-80D15BB97E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A4B28C-5C64-478B-A901-757A858E5D35}"/>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1498725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86A487-2590-4615-B417-E2168DE65D0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C70FE8-B807-4A10-88EE-5557BDB62C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ABCCCA-6C6B-4B0E-BBAD-24322C9E264F}"/>
              </a:ext>
            </a:extLst>
          </p:cNvPr>
          <p:cNvSpPr>
            <a:spLocks noGrp="1"/>
          </p:cNvSpPr>
          <p:nvPr>
            <p:ph type="dt" sz="half" idx="10"/>
          </p:nvPr>
        </p:nvSpPr>
        <p:spPr/>
        <p:txBody>
          <a:bodyPr/>
          <a:lstStyle/>
          <a:p>
            <a:fld id="{92CC8182-8A53-4BCE-8F74-6947BE705CD4}" type="datetimeFigureOut">
              <a:rPr lang="en-US" smtClean="0"/>
              <a:t>4/2/2025</a:t>
            </a:fld>
            <a:endParaRPr lang="en-US"/>
          </a:p>
        </p:txBody>
      </p:sp>
      <p:sp>
        <p:nvSpPr>
          <p:cNvPr id="5" name="Footer Placeholder 4">
            <a:extLst>
              <a:ext uri="{FF2B5EF4-FFF2-40B4-BE49-F238E27FC236}">
                <a16:creationId xmlns:a16="http://schemas.microsoft.com/office/drawing/2014/main" id="{777A20AF-9B80-4FBF-9840-ACF1BF231D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992727-D5B7-4EF1-B44C-581A9DA0903B}"/>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863292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35B331-D111-4B58-8269-2659FD6786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A94232-12F2-4F6F-8D85-CA6F567087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DCF1BF-9115-4CA0-9F58-D0A6743476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CC8182-8A53-4BCE-8F74-6947BE705CD4}" type="datetimeFigureOut">
              <a:rPr lang="en-US" smtClean="0"/>
              <a:t>4/2/2025</a:t>
            </a:fld>
            <a:endParaRPr lang="en-US"/>
          </a:p>
        </p:txBody>
      </p:sp>
      <p:sp>
        <p:nvSpPr>
          <p:cNvPr id="5" name="Footer Placeholder 4">
            <a:extLst>
              <a:ext uri="{FF2B5EF4-FFF2-40B4-BE49-F238E27FC236}">
                <a16:creationId xmlns:a16="http://schemas.microsoft.com/office/drawing/2014/main" id="{BFF3B8B1-D0DD-4F6A-9A0C-E4BAD55617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8C3B089-E9D4-4D61-92EB-9C11EA5008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023CDD-6085-4522-82B4-4228FE4EDFFA}" type="slidenum">
              <a:rPr lang="en-US" smtClean="0"/>
              <a:t>‹#›</a:t>
            </a:fld>
            <a:endParaRPr lang="en-US"/>
          </a:p>
        </p:txBody>
      </p:sp>
    </p:spTree>
    <p:extLst>
      <p:ext uri="{BB962C8B-B14F-4D97-AF65-F5344CB8AC3E}">
        <p14:creationId xmlns:p14="http://schemas.microsoft.com/office/powerpoint/2010/main" val="17421870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9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1" descr="Text, letter&#10;&#10;Description automatically generated">
            <a:extLst>
              <a:ext uri="{FF2B5EF4-FFF2-40B4-BE49-F238E27FC236}">
                <a16:creationId xmlns:a16="http://schemas.microsoft.com/office/drawing/2014/main" id="{E00B5315-1DCF-0FCD-0AF4-436BC7B08E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9303" y="1122232"/>
            <a:ext cx="5982803" cy="2213635"/>
          </a:xfrm>
          <a:prstGeom prst="rect">
            <a:avLst/>
          </a:prstGeom>
        </p:spPr>
      </p:pic>
      <p:sp>
        <p:nvSpPr>
          <p:cNvPr id="2" name="Title 1">
            <a:extLst>
              <a:ext uri="{FF2B5EF4-FFF2-40B4-BE49-F238E27FC236}">
                <a16:creationId xmlns:a16="http://schemas.microsoft.com/office/drawing/2014/main" id="{F472E598-3A9F-494B-94CA-04DD070C9E1E}"/>
              </a:ext>
            </a:extLst>
          </p:cNvPr>
          <p:cNvSpPr>
            <a:spLocks noGrp="1"/>
          </p:cNvSpPr>
          <p:nvPr>
            <p:ph type="ctrTitle"/>
          </p:nvPr>
        </p:nvSpPr>
        <p:spPr>
          <a:xfrm>
            <a:off x="1289303" y="3429000"/>
            <a:ext cx="10080312" cy="1713305"/>
          </a:xfrm>
        </p:spPr>
        <p:txBody>
          <a:bodyPr anchor="b">
            <a:normAutofit/>
          </a:bodyPr>
          <a:lstStyle/>
          <a:p>
            <a:pPr algn="l"/>
            <a:r>
              <a:rPr lang="en-US" sz="3800" dirty="0"/>
              <a:t>ISE 218: Fundamentals of Information Technology</a:t>
            </a:r>
            <a:br>
              <a:rPr lang="en-US" sz="3800" dirty="0"/>
            </a:br>
            <a:r>
              <a:rPr lang="en-US" sz="3800" dirty="0"/>
              <a:t>Unit 5</a:t>
            </a:r>
            <a:r>
              <a:rPr lang="en-US" sz="3800"/>
              <a:t>: Memory</a:t>
            </a:r>
            <a:endParaRPr lang="en-US" sz="3800" dirty="0"/>
          </a:p>
        </p:txBody>
      </p:sp>
      <p:sp>
        <p:nvSpPr>
          <p:cNvPr id="7" name="Google Shape;90;p1">
            <a:extLst>
              <a:ext uri="{FF2B5EF4-FFF2-40B4-BE49-F238E27FC236}">
                <a16:creationId xmlns:a16="http://schemas.microsoft.com/office/drawing/2014/main" id="{377029C2-6FA0-9CB2-AC9A-1DF49179E5B5}"/>
              </a:ext>
            </a:extLst>
          </p:cNvPr>
          <p:cNvSpPr txBox="1">
            <a:spLocks/>
          </p:cNvSpPr>
          <p:nvPr/>
        </p:nvSpPr>
        <p:spPr>
          <a:xfrm>
            <a:off x="1289303" y="5142305"/>
            <a:ext cx="7321200" cy="1096800"/>
          </a:xfrm>
          <a:prstGeom prst="rect">
            <a:avLst/>
          </a:prstGeom>
          <a:noFill/>
          <a:ln>
            <a:noFill/>
          </a:ln>
        </p:spPr>
        <p:txBody>
          <a:bodyPr spcFirstLastPara="1" vert="horz" wrap="square" lIns="91425" tIns="45700" rIns="91425" bIns="45700" rtlCol="0" anchor="t" anchorCtr="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buClr>
                <a:schemeClr val="dk1"/>
              </a:buClr>
              <a:buSzPts val="1900"/>
            </a:pPr>
            <a:r>
              <a:rPr lang="en-US" sz="1800" dirty="0"/>
              <a:t>Spring 2025</a:t>
            </a:r>
          </a:p>
          <a:p>
            <a:pPr algn="l">
              <a:buClr>
                <a:schemeClr val="dk1"/>
              </a:buClr>
              <a:buSzPts val="1900"/>
            </a:pPr>
            <a:r>
              <a:rPr lang="en-US" sz="1800" dirty="0"/>
              <a:t>Instructor: Abid Malik</a:t>
            </a:r>
          </a:p>
          <a:p>
            <a:pPr algn="l">
              <a:buClr>
                <a:schemeClr val="dk1"/>
              </a:buClr>
              <a:buSzPts val="1900"/>
            </a:pPr>
            <a:r>
              <a:rPr lang="en-US" sz="1800" dirty="0"/>
              <a:t>co-Instructor: Xinrui Yu</a:t>
            </a:r>
          </a:p>
        </p:txBody>
      </p:sp>
    </p:spTree>
    <p:extLst>
      <p:ext uri="{BB962C8B-B14F-4D97-AF65-F5344CB8AC3E}">
        <p14:creationId xmlns:p14="http://schemas.microsoft.com/office/powerpoint/2010/main" val="3252378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Memory lies at the heart of the stored-program (von Neumann-style) computer.</a:t>
            </a:r>
          </a:p>
          <a:p>
            <a:r>
              <a:rPr lang="en-US" dirty="0"/>
              <a:t>In previous Units, we studied the components from which memory is built and the ways in which memory is accessed by various ISAs.</a:t>
            </a:r>
          </a:p>
          <a:p>
            <a:r>
              <a:rPr lang="en-US" dirty="0"/>
              <a:t>In this Unit, we focus on memory organization. A clear understanding of these ideas is essential for the analysis of system performance.</a:t>
            </a:r>
          </a:p>
          <a:p>
            <a:endParaRPr lang="en-US" dirty="0"/>
          </a:p>
        </p:txBody>
      </p:sp>
    </p:spTree>
    <p:extLst>
      <p:ext uri="{BB962C8B-B14F-4D97-AF65-F5344CB8AC3E}">
        <p14:creationId xmlns:p14="http://schemas.microsoft.com/office/powerpoint/2010/main" val="782218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Types of Memory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a:bodyPr>
          <a:lstStyle/>
          <a:p>
            <a:r>
              <a:rPr lang="en-US" sz="1800" dirty="0"/>
              <a:t>There are two kinds of main memory: </a:t>
            </a:r>
            <a:r>
              <a:rPr lang="en-US" sz="1800" b="1" dirty="0"/>
              <a:t>random access memory</a:t>
            </a:r>
            <a:r>
              <a:rPr lang="en-US" sz="1800" dirty="0"/>
              <a:t>, </a:t>
            </a:r>
            <a:r>
              <a:rPr lang="en-US" sz="1800" b="1" dirty="0"/>
              <a:t>RAM</a:t>
            </a:r>
            <a:r>
              <a:rPr lang="en-US" sz="1800" dirty="0"/>
              <a:t>, and </a:t>
            </a:r>
            <a:r>
              <a:rPr lang="en-US" sz="1800" b="1" dirty="0"/>
              <a:t>read-only-memory</a:t>
            </a:r>
            <a:r>
              <a:rPr lang="en-US" sz="1800" dirty="0"/>
              <a:t>, </a:t>
            </a:r>
            <a:r>
              <a:rPr lang="en-US" sz="1800" b="1" dirty="0"/>
              <a:t>ROM</a:t>
            </a:r>
            <a:r>
              <a:rPr lang="en-US" sz="1800" dirty="0"/>
              <a:t>.</a:t>
            </a:r>
          </a:p>
          <a:p>
            <a:r>
              <a:rPr lang="en-US" sz="1800" dirty="0"/>
              <a:t>There are two types of RAM, </a:t>
            </a:r>
            <a:r>
              <a:rPr lang="en-US" sz="1800" b="1" dirty="0"/>
              <a:t>dynamic RAM (DRAM)</a:t>
            </a:r>
            <a:r>
              <a:rPr lang="en-US" sz="1800" dirty="0"/>
              <a:t> and </a:t>
            </a:r>
            <a:r>
              <a:rPr lang="en-US" sz="1800" b="1" dirty="0"/>
              <a:t>static RAM (SRAM)</a:t>
            </a:r>
            <a:r>
              <a:rPr lang="en-US" sz="1800" dirty="0"/>
              <a:t>.</a:t>
            </a:r>
          </a:p>
          <a:p>
            <a:r>
              <a:rPr lang="en-US" sz="1800" dirty="0"/>
              <a:t>DRAM consists of capacitors that slowly leak their charge over time. </a:t>
            </a:r>
          </a:p>
          <a:p>
            <a:pPr lvl="1"/>
            <a:r>
              <a:rPr lang="en-US" sz="1800" dirty="0"/>
              <a:t>Thus, they must be refreshed every few milliseconds to prevent data loss.</a:t>
            </a:r>
          </a:p>
          <a:p>
            <a:r>
              <a:rPr lang="en-US" sz="1800" dirty="0"/>
              <a:t>DRAM is “cheap” memory, owing to its simple design.</a:t>
            </a:r>
          </a:p>
          <a:p>
            <a:r>
              <a:rPr lang="en-US" sz="1800" dirty="0"/>
              <a:t>Desktop RAM vs. laptop RAM:</a:t>
            </a:r>
          </a:p>
          <a:p>
            <a:endParaRPr lang="en-US" dirty="0"/>
          </a:p>
        </p:txBody>
      </p:sp>
      <p:pic>
        <p:nvPicPr>
          <p:cNvPr id="4" name="Picture 4" descr="https://static.bhphoto.com/images/images500x500/crucial_ct2k16g4sfd824a_32gb_ddr4_2400_mhz_1453236350000_1208371.jpg"/>
          <p:cNvPicPr>
            <a:picLocks noChangeAspect="1" noChangeArrowheads="1"/>
          </p:cNvPicPr>
          <p:nvPr/>
        </p:nvPicPr>
        <p:blipFill rotWithShape="1">
          <a:blip r:embed="rId3">
            <a:extLst>
              <a:ext uri="{28A0092B-C50C-407E-A947-70E740481C1C}">
                <a14:useLocalDpi xmlns:a14="http://schemas.microsoft.com/office/drawing/2010/main" val="0"/>
              </a:ext>
            </a:extLst>
          </a:blip>
          <a:srcRect t="4800" b="24800"/>
          <a:stretch/>
        </p:blipFill>
        <p:spPr bwMode="auto">
          <a:xfrm>
            <a:off x="5759854" y="4490436"/>
            <a:ext cx="2705966" cy="1905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descr="https://static.bhphoto.com/images/images500x500/crucial_ct2k8g4dfd824a_16gb_2_x_8gb_1453237567000_1208365.jpg"/>
          <p:cNvPicPr>
            <a:picLocks noChangeAspect="1" noChangeArrowheads="1"/>
          </p:cNvPicPr>
          <p:nvPr/>
        </p:nvPicPr>
        <p:blipFill rotWithShape="1">
          <a:blip r:embed="rId4">
            <a:extLst>
              <a:ext uri="{28A0092B-C50C-407E-A947-70E740481C1C}">
                <a14:useLocalDpi xmlns:a14="http://schemas.microsoft.com/office/drawing/2010/main" val="0"/>
              </a:ext>
            </a:extLst>
          </a:blip>
          <a:srcRect t="12800" b="34400"/>
          <a:stretch/>
        </p:blipFill>
        <p:spPr bwMode="auto">
          <a:xfrm>
            <a:off x="914400" y="4114800"/>
            <a:ext cx="4434840" cy="23415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3075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Types of Memory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SRAM is very fast memory and it doesn’t need to be refreshed like DRAM does, but does need a constant supply of power.  It is used to build </a:t>
            </a:r>
            <a:r>
              <a:rPr lang="en-US" b="1" dirty="0"/>
              <a:t>cache memory</a:t>
            </a:r>
            <a:r>
              <a:rPr lang="en-US" dirty="0"/>
              <a:t>, which we will explore later.</a:t>
            </a:r>
          </a:p>
          <a:p>
            <a:pPr lvl="1"/>
            <a:r>
              <a:rPr lang="en-US" dirty="0"/>
              <a:t>Briefly, cache memory is very high-speed memory that helps to make modern computers so fast</a:t>
            </a:r>
          </a:p>
          <a:p>
            <a:r>
              <a:rPr lang="en-US" dirty="0"/>
              <a:t>ROM also does not need to be refreshed, either. </a:t>
            </a:r>
          </a:p>
          <a:p>
            <a:r>
              <a:rPr lang="en-US" dirty="0"/>
              <a:t>ROM is used to store permanent or semi-permanent data that persists even while the system is turned off.</a:t>
            </a:r>
          </a:p>
          <a:p>
            <a:r>
              <a:rPr lang="en-US" dirty="0"/>
              <a:t>For example, the program that boots the computer when the computer is turned on is stored in a ROM chip.</a:t>
            </a:r>
          </a:p>
          <a:p>
            <a:endParaRPr lang="en-US" dirty="0"/>
          </a:p>
        </p:txBody>
      </p:sp>
    </p:spTree>
    <p:extLst>
      <p:ext uri="{BB962C8B-B14F-4D97-AF65-F5344CB8AC3E}">
        <p14:creationId xmlns:p14="http://schemas.microsoft.com/office/powerpoint/2010/main" val="2579732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The Memory Hierarchy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Generally speaking, faster memory is more expensive than slower memory.</a:t>
            </a:r>
          </a:p>
          <a:p>
            <a:r>
              <a:rPr lang="en-US" dirty="0"/>
              <a:t>To provide the best performance at the lowest cost, memory is organized in a hierarchical fashion.</a:t>
            </a:r>
          </a:p>
          <a:p>
            <a:r>
              <a:rPr lang="en-US" dirty="0"/>
              <a:t>Small, fast storage elements are kept in the CPU, while larger, slower main memory is accessed through the data bus.</a:t>
            </a:r>
          </a:p>
          <a:p>
            <a:r>
              <a:rPr lang="en-US" dirty="0"/>
              <a:t>Larger, (almost) permanent storage in the form of disk and tape drives </a:t>
            </a:r>
            <a:r>
              <a:rPr lang="en-US"/>
              <a:t>is yet further </a:t>
            </a:r>
            <a:r>
              <a:rPr lang="en-US" dirty="0"/>
              <a:t>from the CPU.</a:t>
            </a:r>
          </a:p>
          <a:p>
            <a:endParaRPr lang="en-US" dirty="0"/>
          </a:p>
          <a:p>
            <a:endParaRPr lang="en-US" dirty="0"/>
          </a:p>
        </p:txBody>
      </p:sp>
    </p:spTree>
    <p:extLst>
      <p:ext uri="{BB962C8B-B14F-4D97-AF65-F5344CB8AC3E}">
        <p14:creationId xmlns:p14="http://schemas.microsoft.com/office/powerpoint/2010/main" val="332137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The Memory Hierarchy</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143000"/>
            <a:ext cx="8382000" cy="5004829"/>
          </a:xfrm>
          <a:prstGeom prst="rect">
            <a:avLst/>
          </a:prstGeom>
        </p:spPr>
      </p:pic>
    </p:spTree>
    <p:extLst>
      <p:ext uri="{BB962C8B-B14F-4D97-AF65-F5344CB8AC3E}">
        <p14:creationId xmlns:p14="http://schemas.microsoft.com/office/powerpoint/2010/main" val="3423940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The Memory Hierarchy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We are most interested in the memory hierarchy that involves registers, cache, main memory, and virtual memory.</a:t>
            </a:r>
          </a:p>
          <a:p>
            <a:r>
              <a:rPr lang="en-US" dirty="0"/>
              <a:t>Registers are storage locations available on the processor itself.</a:t>
            </a:r>
          </a:p>
          <a:p>
            <a:r>
              <a:rPr lang="en-US" b="1" dirty="0"/>
              <a:t>Virtual memory</a:t>
            </a:r>
            <a:r>
              <a:rPr lang="en-US" dirty="0"/>
              <a:t> is typically implemented using a hard drive; it extends the address space from RAM to the hard drive.</a:t>
            </a:r>
          </a:p>
          <a:p>
            <a:r>
              <a:rPr lang="en-US" dirty="0"/>
              <a:t>Virtual memory provides more space, whereas cache memory provides speed.</a:t>
            </a:r>
          </a:p>
          <a:p>
            <a:r>
              <a:rPr lang="en-US" dirty="0"/>
              <a:t>More on virtual memory a little later.</a:t>
            </a:r>
          </a:p>
          <a:p>
            <a:endParaRPr lang="en-US" dirty="0"/>
          </a:p>
        </p:txBody>
      </p:sp>
    </p:spTree>
    <p:extLst>
      <p:ext uri="{BB962C8B-B14F-4D97-AF65-F5344CB8AC3E}">
        <p14:creationId xmlns:p14="http://schemas.microsoft.com/office/powerpoint/2010/main" val="3567200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The Memory Hierarchy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4876800" cy="5257800"/>
          </a:xfrm>
        </p:spPr>
        <p:txBody>
          <a:bodyPr/>
          <a:lstStyle/>
          <a:p>
            <a:r>
              <a:rPr lang="en-US" dirty="0"/>
              <a:t>In enterprise systems (e.g., the software that runs large corporations), backups are held in tertiary storage</a:t>
            </a:r>
          </a:p>
          <a:p>
            <a:r>
              <a:rPr lang="en-US" dirty="0"/>
              <a:t>These backup systems can consist of many tapes and optical disks that are retrieved using robotic systems</a:t>
            </a:r>
          </a:p>
          <a:p>
            <a:endParaRPr lang="en-US" dirty="0"/>
          </a:p>
        </p:txBody>
      </p:sp>
      <p:pic>
        <p:nvPicPr>
          <p:cNvPr id="4" name="Picture 2" descr="http://inapcache.boston.com/universal/site_graphics/blogs/bigpicture/lhc_11_20/l12_0080901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1308" y="1219200"/>
            <a:ext cx="5871091" cy="40386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886200" y="5301734"/>
            <a:ext cx="8458200" cy="369332"/>
          </a:xfrm>
          <a:prstGeom prst="rect">
            <a:avLst/>
          </a:prstGeom>
        </p:spPr>
        <p:txBody>
          <a:bodyPr wrap="square">
            <a:spAutoFit/>
          </a:bodyPr>
          <a:lstStyle/>
          <a:p>
            <a:r>
              <a:rPr lang="en-US" dirty="0">
                <a:latin typeface="+mj-lt"/>
              </a:rPr>
              <a:t>archive.boston.com/</a:t>
            </a:r>
            <a:r>
              <a:rPr lang="en-US" dirty="0" err="1">
                <a:latin typeface="+mj-lt"/>
              </a:rPr>
              <a:t>bigpicture</a:t>
            </a:r>
            <a:r>
              <a:rPr lang="en-US" dirty="0">
                <a:latin typeface="+mj-lt"/>
              </a:rPr>
              <a:t>/2009/11/large_hadron_collider_ready_to.html</a:t>
            </a:r>
          </a:p>
        </p:txBody>
      </p:sp>
    </p:spTree>
    <p:extLst>
      <p:ext uri="{BB962C8B-B14F-4D97-AF65-F5344CB8AC3E}">
        <p14:creationId xmlns:p14="http://schemas.microsoft.com/office/powerpoint/2010/main" val="3824772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The Memory Hierarchy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pPr>
              <a:spcBef>
                <a:spcPts val="576"/>
              </a:spcBef>
            </a:pPr>
            <a:r>
              <a:rPr lang="en-US" dirty="0"/>
              <a:t>While a computer is running, for the CPU to access a particular piece of data, it first sends a request to its nearest memory, usually cache.  </a:t>
            </a:r>
          </a:p>
          <a:p>
            <a:pPr>
              <a:spcBef>
                <a:spcPts val="576"/>
              </a:spcBef>
            </a:pPr>
            <a:r>
              <a:rPr lang="en-US" dirty="0"/>
              <a:t>If the data is not in cache, then main memory is checked.  If the data is not in main memory, then the request goes to disk.</a:t>
            </a:r>
          </a:p>
          <a:p>
            <a:pPr lvl="1">
              <a:spcBef>
                <a:spcPts val="576"/>
              </a:spcBef>
            </a:pPr>
            <a:r>
              <a:rPr lang="en-US" dirty="0"/>
              <a:t>Disk is a form of </a:t>
            </a:r>
            <a:r>
              <a:rPr lang="en-US" b="1" dirty="0"/>
              <a:t>secondary storage</a:t>
            </a:r>
          </a:p>
          <a:p>
            <a:pPr>
              <a:spcBef>
                <a:spcPts val="576"/>
              </a:spcBef>
            </a:pPr>
            <a:r>
              <a:rPr lang="en-US" dirty="0"/>
              <a:t>Once the data is located, then the data, and a number of its nearby data elements are fetched into cache memory.</a:t>
            </a:r>
          </a:p>
          <a:p>
            <a:pPr>
              <a:spcBef>
                <a:spcPts val="576"/>
              </a:spcBef>
            </a:pPr>
            <a:r>
              <a:rPr lang="en-US" altLang="en-US" dirty="0"/>
              <a:t>This leads us to some definitions:</a:t>
            </a:r>
          </a:p>
          <a:p>
            <a:pPr lvl="1">
              <a:spcBef>
                <a:spcPts val="576"/>
              </a:spcBef>
            </a:pPr>
            <a:r>
              <a:rPr lang="en-US" altLang="en-US" dirty="0"/>
              <a:t>A </a:t>
            </a:r>
            <a:r>
              <a:rPr lang="en-US" altLang="en-US" b="1" dirty="0"/>
              <a:t>hit</a:t>
            </a:r>
            <a:r>
              <a:rPr lang="en-US" altLang="en-US" dirty="0"/>
              <a:t> is when data is found at a given memory level.</a:t>
            </a:r>
          </a:p>
          <a:p>
            <a:pPr lvl="1">
              <a:spcBef>
                <a:spcPts val="576"/>
              </a:spcBef>
            </a:pPr>
            <a:r>
              <a:rPr lang="en-US" altLang="en-US" dirty="0"/>
              <a:t>A </a:t>
            </a:r>
            <a:r>
              <a:rPr lang="en-US" altLang="en-US" b="1" dirty="0"/>
              <a:t>miss</a:t>
            </a:r>
            <a:r>
              <a:rPr lang="en-US" altLang="en-US" dirty="0"/>
              <a:t> is when it is not found.</a:t>
            </a:r>
          </a:p>
          <a:p>
            <a:pPr lvl="1">
              <a:spcBef>
                <a:spcPts val="576"/>
              </a:spcBef>
            </a:pPr>
            <a:r>
              <a:rPr lang="en-US" altLang="en-US" dirty="0"/>
              <a:t>The </a:t>
            </a:r>
            <a:r>
              <a:rPr lang="en-US" altLang="en-US" b="1" dirty="0"/>
              <a:t>hit rate </a:t>
            </a:r>
            <a:r>
              <a:rPr lang="en-US" altLang="en-US" dirty="0"/>
              <a:t>is the percentage of time data is found at a given memory level.</a:t>
            </a:r>
          </a:p>
          <a:p>
            <a:pPr lvl="1">
              <a:spcBef>
                <a:spcPts val="576"/>
              </a:spcBef>
            </a:pPr>
            <a:r>
              <a:rPr lang="en-US" altLang="en-US" dirty="0"/>
              <a:t>The </a:t>
            </a:r>
            <a:r>
              <a:rPr lang="en-US" altLang="en-US" b="1" dirty="0"/>
              <a:t>miss rate </a:t>
            </a:r>
            <a:r>
              <a:rPr lang="en-US" altLang="en-US" dirty="0"/>
              <a:t>is the percentage of time it is not. (miss rate = 1 – hit rate.)</a:t>
            </a:r>
          </a:p>
          <a:p>
            <a:pPr>
              <a:spcBef>
                <a:spcPts val="576"/>
              </a:spcBef>
            </a:pPr>
            <a:endParaRPr lang="en-US" dirty="0"/>
          </a:p>
        </p:txBody>
      </p:sp>
    </p:spTree>
    <p:extLst>
      <p:ext uri="{BB962C8B-B14F-4D97-AF65-F5344CB8AC3E}">
        <p14:creationId xmlns:p14="http://schemas.microsoft.com/office/powerpoint/2010/main" val="988730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The Memory Hierarchy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spcBef>
                <a:spcPts val="600"/>
              </a:spcBef>
            </a:pPr>
            <a:r>
              <a:rPr lang="en-US" altLang="en-US" dirty="0"/>
              <a:t>Some additional definitions:</a:t>
            </a:r>
          </a:p>
          <a:p>
            <a:pPr lvl="1">
              <a:spcBef>
                <a:spcPts val="600"/>
              </a:spcBef>
            </a:pPr>
            <a:r>
              <a:rPr lang="en-US" altLang="en-US" dirty="0"/>
              <a:t>The </a:t>
            </a:r>
            <a:r>
              <a:rPr lang="en-US" altLang="en-US" b="1" dirty="0"/>
              <a:t>hit time </a:t>
            </a:r>
            <a:r>
              <a:rPr lang="en-US" altLang="en-US" dirty="0"/>
              <a:t>is the time required to access data at a given memory level.</a:t>
            </a:r>
          </a:p>
          <a:p>
            <a:pPr lvl="1">
              <a:spcBef>
                <a:spcPts val="600"/>
              </a:spcBef>
            </a:pPr>
            <a:r>
              <a:rPr lang="en-US" altLang="en-US" dirty="0"/>
              <a:t>The </a:t>
            </a:r>
            <a:r>
              <a:rPr lang="en-US" altLang="en-US" b="1" dirty="0"/>
              <a:t>miss penalty </a:t>
            </a:r>
            <a:r>
              <a:rPr lang="en-US" altLang="en-US" dirty="0"/>
              <a:t>is the time required to process a miss, including the time that it takes to replace a block of memory plus the time it takes to deliver the data to the processor.</a:t>
            </a:r>
          </a:p>
          <a:p>
            <a:r>
              <a:rPr lang="en-US" dirty="0"/>
              <a:t>We want the hit rate to be as high as possible and the hit time (and miss penalty) to be as low as possible</a:t>
            </a:r>
          </a:p>
          <a:p>
            <a:r>
              <a:rPr lang="en-US" dirty="0"/>
              <a:t>We’ll do some calculations involving these values towards the end of the Unit</a:t>
            </a:r>
          </a:p>
        </p:txBody>
      </p:sp>
    </p:spTree>
    <p:extLst>
      <p:ext uri="{BB962C8B-B14F-4D97-AF65-F5344CB8AC3E}">
        <p14:creationId xmlns:p14="http://schemas.microsoft.com/office/powerpoint/2010/main" val="1307077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The Memory Hierarchy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spcBef>
                <a:spcPts val="600"/>
              </a:spcBef>
            </a:pPr>
            <a:r>
              <a:rPr lang="en-US" altLang="en-US" dirty="0"/>
              <a:t>An entire </a:t>
            </a:r>
            <a:r>
              <a:rPr lang="en-US" altLang="en-US" b="1" dirty="0"/>
              <a:t>block</a:t>
            </a:r>
            <a:r>
              <a:rPr lang="en-US" altLang="en-US" dirty="0"/>
              <a:t> of data is copied after a hit because the </a:t>
            </a:r>
            <a:r>
              <a:rPr lang="en-US" altLang="en-US" b="1" dirty="0"/>
              <a:t>principle of locality</a:t>
            </a:r>
            <a:r>
              <a:rPr lang="en-US" altLang="en-US" dirty="0"/>
              <a:t> tells us that once a byte is accessed, it is likely that nearby data elements will be needed soon also</a:t>
            </a:r>
          </a:p>
          <a:p>
            <a:pPr lvl="1">
              <a:spcBef>
                <a:spcPts val="600"/>
              </a:spcBef>
            </a:pPr>
            <a:r>
              <a:rPr lang="en-US" dirty="0"/>
              <a:t>This clustering of memory references into groups is an example of </a:t>
            </a:r>
            <a:r>
              <a:rPr lang="en-US" b="1" dirty="0"/>
              <a:t>locality of reference</a:t>
            </a:r>
            <a:endParaRPr lang="en-US" altLang="en-US" b="1" dirty="0"/>
          </a:p>
          <a:p>
            <a:pPr>
              <a:spcBef>
                <a:spcPts val="600"/>
              </a:spcBef>
            </a:pPr>
            <a:r>
              <a:rPr lang="en-US" altLang="en-US" dirty="0"/>
              <a:t>There are three forms of locality:</a:t>
            </a:r>
          </a:p>
          <a:p>
            <a:pPr lvl="1">
              <a:spcBef>
                <a:spcPts val="600"/>
              </a:spcBef>
            </a:pPr>
            <a:r>
              <a:rPr lang="en-US" altLang="en-US" b="1" dirty="0"/>
              <a:t>Temporal locality</a:t>
            </a:r>
            <a:r>
              <a:rPr lang="en-US" altLang="en-US" dirty="0"/>
              <a:t>: recently-accessed data elements tend to be accessed again.</a:t>
            </a:r>
          </a:p>
          <a:p>
            <a:pPr lvl="1">
              <a:spcBef>
                <a:spcPts val="600"/>
              </a:spcBef>
            </a:pPr>
            <a:r>
              <a:rPr lang="en-US" altLang="en-US" b="1" dirty="0"/>
              <a:t>Spatial locality</a:t>
            </a:r>
            <a:r>
              <a:rPr lang="en-US" altLang="en-US" dirty="0"/>
              <a:t>: accesses tend to cluster in memory.</a:t>
            </a:r>
          </a:p>
          <a:p>
            <a:pPr lvl="1">
              <a:spcBef>
                <a:spcPts val="600"/>
              </a:spcBef>
            </a:pPr>
            <a:r>
              <a:rPr lang="en-US" altLang="en-US" b="1" dirty="0"/>
              <a:t>Sequential locality</a:t>
            </a:r>
            <a:r>
              <a:rPr lang="en-US" altLang="en-US" dirty="0"/>
              <a:t>: instructions tend to be accessed sequentially.</a:t>
            </a:r>
          </a:p>
          <a:p>
            <a:endParaRPr lang="en-US" dirty="0"/>
          </a:p>
        </p:txBody>
      </p:sp>
    </p:spTree>
    <p:extLst>
      <p:ext uri="{BB962C8B-B14F-4D97-AF65-F5344CB8AC3E}">
        <p14:creationId xmlns:p14="http://schemas.microsoft.com/office/powerpoint/2010/main" val="479984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The Memory Hierarchy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spcBef>
                <a:spcPts val="600"/>
              </a:spcBef>
            </a:pPr>
            <a:r>
              <a:rPr lang="en-US" altLang="en-US" dirty="0"/>
              <a:t>Locality of reference suggests that we should retrieve blocks of data at once, not individual bytes or words</a:t>
            </a:r>
          </a:p>
          <a:p>
            <a:pPr>
              <a:spcBef>
                <a:spcPts val="600"/>
              </a:spcBef>
            </a:pPr>
            <a:r>
              <a:rPr lang="en-US" altLang="en-US" dirty="0"/>
              <a:t>It will generally require less time to retrieve a single block of data from memory (a few words, let’s say) than to make several, independent retrievals of single words from memory</a:t>
            </a:r>
          </a:p>
          <a:p>
            <a:pPr>
              <a:spcBef>
                <a:spcPts val="600"/>
              </a:spcBef>
            </a:pPr>
            <a:r>
              <a:rPr lang="en-US" altLang="en-US" dirty="0"/>
              <a:t>We make one round-trip across the system bus between the CPU and main memory rather than several</a:t>
            </a:r>
          </a:p>
          <a:p>
            <a:endParaRPr lang="en-US" dirty="0"/>
          </a:p>
        </p:txBody>
      </p:sp>
    </p:spTree>
    <p:extLst>
      <p:ext uri="{BB962C8B-B14F-4D97-AF65-F5344CB8AC3E}">
        <p14:creationId xmlns:p14="http://schemas.microsoft.com/office/powerpoint/2010/main" val="874209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Cache Memory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a:bodyPr>
          <a:lstStyle/>
          <a:p>
            <a:pPr>
              <a:spcBef>
                <a:spcPts val="576"/>
              </a:spcBef>
            </a:pPr>
            <a:r>
              <a:rPr lang="en-US" altLang="en-US" dirty="0"/>
              <a:t>The purpose of cache memory is to speed up accesses by storing recently used data closer to the CPU, instead of storing it in main memory, which is about one order of magnitude slower (~10x slower).</a:t>
            </a:r>
          </a:p>
          <a:p>
            <a:pPr>
              <a:spcBef>
                <a:spcPts val="576"/>
              </a:spcBef>
            </a:pPr>
            <a:r>
              <a:rPr lang="en-US" altLang="en-US" dirty="0"/>
              <a:t>Although cache is much smaller than main memory, its access time is a fraction of that of main memory.</a:t>
            </a:r>
          </a:p>
          <a:p>
            <a:pPr>
              <a:spcBef>
                <a:spcPts val="576"/>
              </a:spcBef>
            </a:pPr>
            <a:r>
              <a:rPr lang="en-US" altLang="en-US" dirty="0"/>
              <a:t>A typical computer has several levels of cache: L1, L2 and L3</a:t>
            </a:r>
          </a:p>
          <a:p>
            <a:pPr lvl="1">
              <a:spcBef>
                <a:spcPts val="576"/>
              </a:spcBef>
            </a:pPr>
            <a:r>
              <a:rPr lang="en-US" altLang="en-US" dirty="0"/>
              <a:t>L1 (~8K – 64K) is the smallest and fastest cache. It is “closest” to the CPU. Next come L2 and then L3, which are progressively slower, but larger in size.</a:t>
            </a:r>
          </a:p>
          <a:p>
            <a:pPr>
              <a:spcBef>
                <a:spcPts val="576"/>
              </a:spcBef>
            </a:pPr>
            <a:endParaRPr lang="en-US" dirty="0"/>
          </a:p>
        </p:txBody>
      </p:sp>
    </p:spTree>
    <p:extLst>
      <p:ext uri="{BB962C8B-B14F-4D97-AF65-F5344CB8AC3E}">
        <p14:creationId xmlns:p14="http://schemas.microsoft.com/office/powerpoint/2010/main" val="3438349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Cache Memory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a:bodyPr>
          <a:lstStyle/>
          <a:p>
            <a:r>
              <a:rPr lang="en-US" dirty="0"/>
              <a:t>When the CPU generates a memory address, cache is checked first to see if the data value is available there</a:t>
            </a:r>
          </a:p>
          <a:p>
            <a:r>
              <a:rPr lang="en-US" dirty="0"/>
              <a:t>If the value is not in the cache, then the </a:t>
            </a:r>
            <a:r>
              <a:rPr lang="en-US" b="1" dirty="0"/>
              <a:t>block</a:t>
            </a:r>
            <a:r>
              <a:rPr lang="en-US" dirty="0"/>
              <a:t> of memory containing that value is copied into a </a:t>
            </a:r>
            <a:r>
              <a:rPr lang="en-US" b="1" dirty="0"/>
              <a:t>block</a:t>
            </a:r>
            <a:r>
              <a:rPr lang="en-US" dirty="0"/>
              <a:t> of cache (the memory/cache block sizes are equal)</a:t>
            </a:r>
          </a:p>
          <a:p>
            <a:r>
              <a:rPr lang="en-US" dirty="0"/>
              <a:t>The address of the data in memory is generally not the address of the data in the cache</a:t>
            </a:r>
          </a:p>
          <a:p>
            <a:r>
              <a:rPr lang="en-US" dirty="0"/>
              <a:t>The main memory address must be </a:t>
            </a:r>
            <a:r>
              <a:rPr lang="en-US" b="1" dirty="0"/>
              <a:t>mapped</a:t>
            </a:r>
            <a:r>
              <a:rPr lang="en-US" dirty="0"/>
              <a:t> to an address in the cache</a:t>
            </a:r>
          </a:p>
          <a:p>
            <a:r>
              <a:rPr lang="en-US" dirty="0"/>
              <a:t>There are several ways of performing this mapping, but we will look at only two</a:t>
            </a:r>
          </a:p>
          <a:p>
            <a:endParaRPr lang="en-US" dirty="0"/>
          </a:p>
        </p:txBody>
      </p:sp>
    </p:spTree>
    <p:extLst>
      <p:ext uri="{BB962C8B-B14F-4D97-AF65-F5344CB8AC3E}">
        <p14:creationId xmlns:p14="http://schemas.microsoft.com/office/powerpoint/2010/main" val="755618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Cache Memory: Direct Mapped Cache</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a:bodyPr>
          <a:lstStyle/>
          <a:p>
            <a:pPr>
              <a:spcBef>
                <a:spcPts val="576"/>
              </a:spcBef>
            </a:pPr>
            <a:r>
              <a:rPr lang="en-US" altLang="en-US" dirty="0"/>
              <a:t>The simplest cache mapping scheme is </a:t>
            </a:r>
            <a:r>
              <a:rPr lang="en-US" altLang="en-US" b="1" dirty="0"/>
              <a:t>direct mapped cache</a:t>
            </a:r>
            <a:r>
              <a:rPr lang="en-US" altLang="en-US" dirty="0"/>
              <a:t>.</a:t>
            </a:r>
          </a:p>
          <a:p>
            <a:pPr>
              <a:spcBef>
                <a:spcPts val="576"/>
              </a:spcBef>
            </a:pPr>
            <a:r>
              <a:rPr lang="en-US" altLang="en-US" dirty="0"/>
              <a:t>In a direct mapped cache consisting of </a:t>
            </a:r>
            <a:r>
              <a:rPr lang="en-US" altLang="en-US" i="1" dirty="0"/>
              <a:t>N</a:t>
            </a:r>
            <a:r>
              <a:rPr lang="en-US" altLang="en-US" dirty="0"/>
              <a:t> blocks of cache, block </a:t>
            </a:r>
            <a:r>
              <a:rPr lang="en-US" altLang="en-US" i="1" dirty="0"/>
              <a:t>X</a:t>
            </a:r>
            <a:r>
              <a:rPr lang="en-US" altLang="en-US" dirty="0"/>
              <a:t> of main memory maps to cache block </a:t>
            </a:r>
            <a:r>
              <a:rPr lang="en-US" altLang="en-US" i="1" dirty="0"/>
              <a:t>Y</a:t>
            </a:r>
            <a:r>
              <a:rPr lang="en-US" altLang="en-US" dirty="0"/>
              <a:t> = </a:t>
            </a:r>
            <a:r>
              <a:rPr lang="en-US" altLang="en-US" i="1" dirty="0"/>
              <a:t>X </a:t>
            </a:r>
            <a:r>
              <a:rPr lang="en-US" altLang="en-US" dirty="0"/>
              <a:t>mod</a:t>
            </a:r>
            <a:r>
              <a:rPr lang="en-US" altLang="en-US" i="1" dirty="0"/>
              <a:t> N</a:t>
            </a:r>
            <a:r>
              <a:rPr lang="en-US" altLang="en-US" dirty="0"/>
              <a:t>.</a:t>
            </a:r>
          </a:p>
          <a:p>
            <a:pPr>
              <a:spcBef>
                <a:spcPts val="576"/>
              </a:spcBef>
            </a:pPr>
            <a:r>
              <a:rPr lang="en-US" altLang="en-US" b="1" dirty="0"/>
              <a:t>mod</a:t>
            </a:r>
            <a:r>
              <a:rPr lang="en-US" altLang="en-US" dirty="0"/>
              <a:t> stands for </a:t>
            </a:r>
            <a:r>
              <a:rPr lang="en-US" altLang="en-US" b="1" dirty="0"/>
              <a:t>modulo</a:t>
            </a:r>
            <a:r>
              <a:rPr lang="en-US" altLang="en-US" dirty="0"/>
              <a:t> or </a:t>
            </a:r>
            <a:r>
              <a:rPr lang="en-US" altLang="en-US" b="1" dirty="0"/>
              <a:t>modulus</a:t>
            </a:r>
          </a:p>
          <a:p>
            <a:pPr lvl="1">
              <a:spcBef>
                <a:spcPts val="576"/>
              </a:spcBef>
            </a:pPr>
            <a:r>
              <a:rPr lang="en-US" altLang="en-US" dirty="0"/>
              <a:t>The notation </a:t>
            </a:r>
            <a:r>
              <a:rPr lang="en-US" altLang="en-US" i="1" dirty="0"/>
              <a:t>X </a:t>
            </a:r>
            <a:r>
              <a:rPr lang="en-US" altLang="en-US" dirty="0"/>
              <a:t>mod</a:t>
            </a:r>
            <a:r>
              <a:rPr lang="en-US" altLang="en-US" i="1" dirty="0"/>
              <a:t> N</a:t>
            </a:r>
            <a:r>
              <a:rPr lang="en-US" altLang="en-US" dirty="0"/>
              <a:t> means “give me the remainder of </a:t>
            </a:r>
            <a:r>
              <a:rPr lang="en-US" altLang="en-US" i="1" dirty="0"/>
              <a:t>X divided by N</a:t>
            </a:r>
            <a:r>
              <a:rPr lang="en-US" altLang="en-US" dirty="0"/>
              <a:t>”.</a:t>
            </a:r>
          </a:p>
          <a:p>
            <a:pPr>
              <a:spcBef>
                <a:spcPts val="576"/>
              </a:spcBef>
            </a:pPr>
            <a:r>
              <a:rPr lang="en-US" altLang="en-US" dirty="0"/>
              <a:t>Thus, if we have 10 blocks of cache, block 7 of cache could hold blocks 7, 17, 27, 37, ... of main memory.</a:t>
            </a:r>
          </a:p>
          <a:p>
            <a:pPr>
              <a:spcBef>
                <a:spcPts val="576"/>
              </a:spcBef>
            </a:pPr>
            <a:r>
              <a:rPr lang="en-US" altLang="en-US" dirty="0"/>
              <a:t>With direct mapped cache</a:t>
            </a:r>
            <a:r>
              <a:rPr lang="en-US" altLang="en-US" i="1" dirty="0"/>
              <a:t> </a:t>
            </a:r>
            <a:r>
              <a:rPr lang="en-US" altLang="en-US" dirty="0"/>
              <a:t>consisting of </a:t>
            </a:r>
            <a:r>
              <a:rPr lang="en-US" altLang="en-US" i="1" dirty="0"/>
              <a:t>N</a:t>
            </a:r>
            <a:r>
              <a:rPr lang="en-US" altLang="en-US" dirty="0"/>
              <a:t> blocks of cache, block </a:t>
            </a:r>
            <a:r>
              <a:rPr lang="en-US" altLang="en-US" i="1" dirty="0"/>
              <a:t>X</a:t>
            </a:r>
            <a:r>
              <a:rPr lang="en-US" altLang="en-US" dirty="0"/>
              <a:t> of main memory maps to cache block </a:t>
            </a:r>
            <a:r>
              <a:rPr lang="en-US" altLang="en-US" i="1" dirty="0"/>
              <a:t>Y</a:t>
            </a:r>
            <a:r>
              <a:rPr lang="en-US" altLang="en-US" dirty="0"/>
              <a:t> = </a:t>
            </a:r>
            <a:r>
              <a:rPr lang="en-US" altLang="en-US" i="1" dirty="0"/>
              <a:t>X </a:t>
            </a:r>
            <a:r>
              <a:rPr lang="en-US" altLang="en-US" dirty="0"/>
              <a:t>mod</a:t>
            </a:r>
            <a:r>
              <a:rPr lang="en-US" altLang="en-US" i="1" dirty="0"/>
              <a:t> N</a:t>
            </a:r>
            <a:r>
              <a:rPr lang="en-US" altLang="en-US" dirty="0"/>
              <a:t>.</a:t>
            </a:r>
          </a:p>
          <a:p>
            <a:pPr>
              <a:spcBef>
                <a:spcPts val="576"/>
              </a:spcBef>
            </a:pPr>
            <a:endParaRPr lang="en-US" dirty="0"/>
          </a:p>
        </p:txBody>
      </p:sp>
    </p:spTree>
    <p:extLst>
      <p:ext uri="{BB962C8B-B14F-4D97-AF65-F5344CB8AC3E}">
        <p14:creationId xmlns:p14="http://schemas.microsoft.com/office/powerpoint/2010/main" val="1869972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#1</a:t>
            </a:r>
            <a:endParaRPr lang="en-US" dirty="0"/>
          </a:p>
        </p:txBody>
      </p:sp>
      <p:pic>
        <p:nvPicPr>
          <p:cNvPr id="4" name="Picture 3" descr="9781284033144_CH06_FIG02.jpg">
            <a:extLst>
              <a:ext uri="{FF2B5EF4-FFF2-40B4-BE49-F238E27FC236}">
                <a16:creationId xmlns:a16="http://schemas.microsoft.com/office/drawing/2014/main" id="{A2BA92FB-1CBF-49DA-9C20-A088644B7B4D}"/>
              </a:ext>
            </a:extLst>
          </p:cNvPr>
          <p:cNvPicPr>
            <a:picLocks noChangeAspect="1"/>
          </p:cNvPicPr>
          <p:nvPr/>
        </p:nvPicPr>
        <p:blipFill rotWithShape="1">
          <a:blip r:embed="rId3">
            <a:extLst>
              <a:ext uri="{28A0092B-C50C-407E-A947-70E740481C1C}">
                <a14:useLocalDpi xmlns:a14="http://schemas.microsoft.com/office/drawing/2010/main" val="0"/>
              </a:ext>
            </a:extLst>
          </a:blip>
          <a:srcRect r="46526" b="50000"/>
          <a:stretch/>
        </p:blipFill>
        <p:spPr bwMode="auto">
          <a:xfrm>
            <a:off x="762000" y="1219200"/>
            <a:ext cx="5405120" cy="469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871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609600" y="274638"/>
            <a:ext cx="10972800" cy="1401762"/>
          </a:xfrm>
        </p:spPr>
        <p:txBody>
          <a:bodyPr/>
          <a:lstStyle/>
          <a:p>
            <a:r>
              <a:rPr lang="en-US" altLang="en-US" dirty="0"/>
              <a:t>Direct Mapped Cache: </a:t>
            </a:r>
            <a:br>
              <a:rPr lang="en-US" altLang="en-US" dirty="0"/>
            </a:br>
            <a:r>
              <a:rPr lang="en-US" altLang="en-US" dirty="0"/>
              <a:t>Example #2</a:t>
            </a:r>
            <a:endParaRPr lang="en-US" dirty="0"/>
          </a:p>
        </p:txBody>
      </p:sp>
      <p:pic>
        <p:nvPicPr>
          <p:cNvPr id="5" name="Picture 5" descr="9781284033144_CH06_FIG02.jpg">
            <a:extLst>
              <a:ext uri="{FF2B5EF4-FFF2-40B4-BE49-F238E27FC236}">
                <a16:creationId xmlns:a16="http://schemas.microsoft.com/office/drawing/2014/main" id="{4B47995C-F26E-45EB-BA56-DAD67CD22A6C}"/>
              </a:ext>
            </a:extLst>
          </p:cNvPr>
          <p:cNvPicPr>
            <a:picLocks noChangeAspect="1"/>
          </p:cNvPicPr>
          <p:nvPr/>
        </p:nvPicPr>
        <p:blipFill rotWithShape="1">
          <a:blip r:embed="rId2">
            <a:extLst>
              <a:ext uri="{28A0092B-C50C-407E-A947-70E740481C1C}">
                <a14:useLocalDpi xmlns:a14="http://schemas.microsoft.com/office/drawing/2010/main" val="0"/>
              </a:ext>
            </a:extLst>
          </a:blip>
          <a:srcRect l="54413" b="32929"/>
          <a:stretch/>
        </p:blipFill>
        <p:spPr bwMode="auto">
          <a:xfrm>
            <a:off x="6858000" y="274638"/>
            <a:ext cx="4432726" cy="6062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533608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pPr>
              <a:spcBef>
                <a:spcPts val="576"/>
              </a:spcBef>
            </a:pPr>
            <a:r>
              <a:rPr lang="en-US" altLang="en-US" dirty="0"/>
              <a:t>To perform direct mapping, a binary main memory address is partitioned into the </a:t>
            </a:r>
            <a:r>
              <a:rPr lang="en-US" altLang="en-US" b="1" dirty="0"/>
              <a:t>fields</a:t>
            </a:r>
            <a:r>
              <a:rPr lang="en-US" altLang="en-US" dirty="0"/>
              <a:t> shown below.</a:t>
            </a:r>
          </a:p>
          <a:p>
            <a:pPr lvl="1">
              <a:spcBef>
                <a:spcPts val="576"/>
              </a:spcBef>
            </a:pPr>
            <a:r>
              <a:rPr lang="en-US" altLang="en-US" dirty="0"/>
              <a:t>The </a:t>
            </a:r>
            <a:r>
              <a:rPr lang="en-US" altLang="en-US" b="1" dirty="0"/>
              <a:t>offset</a:t>
            </a:r>
            <a:r>
              <a:rPr lang="en-US" altLang="en-US" dirty="0"/>
              <a:t> field uniquely identifies an address within a specific block.</a:t>
            </a:r>
          </a:p>
          <a:p>
            <a:pPr lvl="1">
              <a:spcBef>
                <a:spcPts val="576"/>
              </a:spcBef>
            </a:pPr>
            <a:r>
              <a:rPr lang="en-US" altLang="en-US" dirty="0"/>
              <a:t>The </a:t>
            </a:r>
            <a:r>
              <a:rPr lang="en-US" altLang="en-US" b="1" dirty="0"/>
              <a:t>block</a:t>
            </a:r>
            <a:r>
              <a:rPr lang="en-US" altLang="en-US" dirty="0"/>
              <a:t> field selects a unique block of cache.</a:t>
            </a:r>
          </a:p>
          <a:p>
            <a:pPr lvl="1">
              <a:spcBef>
                <a:spcPts val="576"/>
              </a:spcBef>
            </a:pPr>
            <a:r>
              <a:rPr lang="en-US" altLang="en-US" dirty="0"/>
              <a:t>The </a:t>
            </a:r>
            <a:r>
              <a:rPr lang="en-US" altLang="en-US" b="1" dirty="0"/>
              <a:t>tag</a:t>
            </a:r>
            <a:r>
              <a:rPr lang="en-US" altLang="en-US" dirty="0"/>
              <a:t> field is whatever is leftover.</a:t>
            </a:r>
          </a:p>
          <a:p>
            <a:pPr lvl="1">
              <a:spcBef>
                <a:spcPts val="576"/>
              </a:spcBef>
            </a:pPr>
            <a:endParaRPr lang="en-US" altLang="en-US" dirty="0"/>
          </a:p>
          <a:p>
            <a:pPr lvl="1">
              <a:spcBef>
                <a:spcPts val="576"/>
              </a:spcBef>
            </a:pPr>
            <a:endParaRPr lang="en-US" altLang="en-US" dirty="0"/>
          </a:p>
          <a:p>
            <a:pPr lvl="1">
              <a:spcBef>
                <a:spcPts val="576"/>
              </a:spcBef>
            </a:pPr>
            <a:endParaRPr lang="en-US" altLang="en-US" dirty="0"/>
          </a:p>
          <a:p>
            <a:pPr lvl="1">
              <a:spcBef>
                <a:spcPts val="576"/>
              </a:spcBef>
            </a:pPr>
            <a:endParaRPr lang="en-US" altLang="en-US" dirty="0"/>
          </a:p>
          <a:p>
            <a:pPr>
              <a:spcBef>
                <a:spcPts val="576"/>
              </a:spcBef>
            </a:pPr>
            <a:r>
              <a:rPr lang="en-US" altLang="en-US" dirty="0"/>
              <a:t>The sizes of these fields are determined by characteristics of both memory and cache.</a:t>
            </a:r>
          </a:p>
          <a:p>
            <a:pPr>
              <a:spcBef>
                <a:spcPts val="576"/>
              </a:spcBef>
            </a:pPr>
            <a:endParaRPr lang="en-US" dirty="0"/>
          </a:p>
        </p:txBody>
      </p:sp>
      <p:pic>
        <p:nvPicPr>
          <p:cNvPr id="4" name="Picture 3" descr="9781284033144_CH06_FIG03.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74695" y="3982453"/>
            <a:ext cx="4575285" cy="1134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41934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#3</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85000" lnSpcReduction="10000"/>
              </a:bodyPr>
              <a:lstStyle/>
              <a:p>
                <a:pPr>
                  <a:spcBef>
                    <a:spcPts val="576"/>
                  </a:spcBef>
                </a:pPr>
                <a:r>
                  <a:rPr lang="en-US" altLang="en-US" dirty="0"/>
                  <a:t>Consider a byte-addressable main memory consisting of 4 blocks, and a cache with 2 blocks, where each block is 4 bytes.  </a:t>
                </a:r>
              </a:p>
              <a:p>
                <a:pPr>
                  <a:spcBef>
                    <a:spcPts val="576"/>
                  </a:spcBef>
                </a:pPr>
                <a:r>
                  <a:rPr lang="en-US" altLang="en-US" dirty="0"/>
                  <a:t>4 blocks of memory </a:t>
                </a:r>
                <a14:m>
                  <m:oMath xmlns:m="http://schemas.openxmlformats.org/officeDocument/2006/math">
                    <m:r>
                      <a:rPr lang="en-US" altLang="en-US" b="0" i="1" dirty="0" smtClean="0">
                        <a:latin typeface="Cambria Math" panose="02040503050406030204" pitchFamily="18" charset="0"/>
                      </a:rPr>
                      <m:t>×</m:t>
                    </m:r>
                  </m:oMath>
                </a14:m>
                <a:r>
                  <a:rPr lang="en-US" altLang="en-US" dirty="0"/>
                  <a:t> 4 bytes per block </a:t>
                </a:r>
                <a:r>
                  <a:rPr lang="en-US" altLang="en-US" dirty="0">
                    <a:sym typeface="Wingdings" panose="05000000000000000000" pitchFamily="2" charset="2"/>
                  </a:rPr>
                  <a:t> memory is 16 bytes in size</a:t>
                </a:r>
              </a:p>
              <a:p>
                <a:pPr>
                  <a:spcBef>
                    <a:spcPts val="576"/>
                  </a:spcBef>
                </a:pPr>
                <a:r>
                  <a:rPr lang="en-US" altLang="en-US" dirty="0">
                    <a:sym typeface="Wingdings" panose="05000000000000000000" pitchFamily="2" charset="2"/>
                  </a:rPr>
                  <a:t>Therefore, we have 4 bits per memory address (</a:t>
                </a:r>
                <a14:m>
                  <m:oMath xmlns:m="http://schemas.openxmlformats.org/officeDocument/2006/math">
                    <m:sSup>
                      <m:sSupPr>
                        <m:ctrlPr>
                          <a:rPr lang="en-US" altLang="en-US" b="0" i="1" smtClean="0">
                            <a:latin typeface="Cambria Math" panose="02040503050406030204" pitchFamily="18" charset="0"/>
                            <a:sym typeface="Wingdings" panose="05000000000000000000" pitchFamily="2" charset="2"/>
                          </a:rPr>
                        </m:ctrlPr>
                      </m:sSupPr>
                      <m:e>
                        <m:r>
                          <a:rPr lang="en-US" altLang="en-US" b="0" i="1" smtClean="0">
                            <a:latin typeface="Cambria Math" panose="02040503050406030204" pitchFamily="18" charset="0"/>
                            <a:sym typeface="Wingdings" panose="05000000000000000000" pitchFamily="2" charset="2"/>
                          </a:rPr>
                          <m:t>2</m:t>
                        </m:r>
                      </m:e>
                      <m:sup>
                        <m:r>
                          <a:rPr lang="en-US" altLang="en-US" b="0" i="1" smtClean="0">
                            <a:latin typeface="Cambria Math" panose="02040503050406030204" pitchFamily="18" charset="0"/>
                            <a:sym typeface="Wingdings" panose="05000000000000000000" pitchFamily="2" charset="2"/>
                          </a:rPr>
                          <m:t>4</m:t>
                        </m:r>
                      </m:sup>
                    </m:sSup>
                    <m:r>
                      <a:rPr lang="en-US" altLang="en-US" b="0" i="1" smtClean="0">
                        <a:latin typeface="Cambria Math" panose="02040503050406030204" pitchFamily="18" charset="0"/>
                        <a:sym typeface="Wingdings" panose="05000000000000000000" pitchFamily="2" charset="2"/>
                      </a:rPr>
                      <m:t>=16</m:t>
                    </m:r>
                  </m:oMath>
                </a14:m>
                <a:r>
                  <a:rPr lang="en-US" altLang="en-US" dirty="0"/>
                  <a:t>)</a:t>
                </a:r>
              </a:p>
              <a:p>
                <a:pPr>
                  <a:spcBef>
                    <a:spcPts val="576"/>
                  </a:spcBef>
                </a:pPr>
                <a:r>
                  <a:rPr lang="en-US" altLang="en-US" dirty="0"/>
                  <a:t>For direct-mapped cache, this means Block 0 and 2 of main memory map to Block 0 of cache, and Blocks 1 and 3 of main memory map to Block 1 of cache. </a:t>
                </a:r>
              </a:p>
              <a:p>
                <a:pPr>
                  <a:spcBef>
                    <a:spcPts val="576"/>
                  </a:spcBef>
                </a:pPr>
                <a:r>
                  <a:rPr lang="en-US" dirty="0"/>
                  <a:t>First, we need to determine the address format for mapping. </a:t>
                </a:r>
              </a:p>
              <a:p>
                <a:pPr>
                  <a:spcBef>
                    <a:spcPts val="576"/>
                  </a:spcBef>
                </a:pPr>
                <a:r>
                  <a:rPr lang="en-US" dirty="0"/>
                  <a:t>Each block is 4 bytes and we have byte-addressable memory</a:t>
                </a:r>
              </a:p>
              <a:p>
                <a:pPr>
                  <a:spcBef>
                    <a:spcPts val="576"/>
                  </a:spcBef>
                </a:pPr>
                <a:r>
                  <a:rPr lang="en-US" dirty="0"/>
                  <a:t>This means that 4 bytes of memory are mapped to each block</a:t>
                </a:r>
              </a:p>
              <a:p>
                <a:pPr>
                  <a:spcBef>
                    <a:spcPts val="576"/>
                  </a:spcBef>
                </a:pPr>
                <a:r>
                  <a:rPr lang="en-US" dirty="0"/>
                  <a:t>So the offset field must contain 2 bits because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m:t>
                        </m:r>
                      </m:sup>
                    </m:sSup>
                    <m:r>
                      <a:rPr lang="en-US" b="0" i="1" smtClean="0">
                        <a:latin typeface="Cambria Math" panose="02040503050406030204" pitchFamily="18" charset="0"/>
                      </a:rPr>
                      <m:t>=4</m:t>
                    </m:r>
                  </m:oMath>
                </a14:m>
                <a:r>
                  <a:rPr lang="en-US" dirty="0"/>
                  <a:t>.</a:t>
                </a:r>
              </a:p>
              <a:p>
                <a:pPr>
                  <a:spcBef>
                    <a:spcPts val="576"/>
                  </a:spcBef>
                </a:pPr>
                <a:r>
                  <a:rPr lang="en-US" dirty="0"/>
                  <a:t>Basically, the number of “things” per block (bytes for byte-addressable memory, words for word-addressable memory) determines the offset length</a:t>
                </a:r>
              </a:p>
              <a:p>
                <a:pPr marL="114300" indent="0">
                  <a:spcBef>
                    <a:spcPts val="576"/>
                  </a:spcBef>
                  <a:buNone/>
                </a:pPr>
                <a:endParaRPr lang="en-US" dirty="0"/>
              </a:p>
            </p:txBody>
          </p:sp>
        </mc:Choice>
        <mc:Fallback xmlns="">
          <p:sp>
            <p:nvSpPr>
              <p:cNvPr id="3" name="Content Placeholder 2">
                <a:extLst>
                  <a:ext uri="{FF2B5EF4-FFF2-40B4-BE49-F238E27FC236}">
                    <a16:creationId xmlns:a16="http://schemas.microsoft.com/office/drawing/2014/main" id="{2425F833-F48A-41AB-BDF3-AE0A36E8B10B}"/>
                  </a:ext>
                </a:extLst>
              </p:cNvPr>
              <p:cNvSpPr>
                <a:spLocks noGrp="1" noRot="1" noChangeAspect="1" noMove="1" noResize="1" noEditPoints="1" noAdjustHandles="1" noChangeArrowheads="1" noChangeShapeType="1" noTextEdit="1"/>
              </p:cNvSpPr>
              <p:nvPr>
                <p:ph idx="1"/>
              </p:nvPr>
            </p:nvSpPr>
            <p:spPr>
              <a:blipFill>
                <a:blip r:embed="rId2"/>
                <a:stretch>
                  <a:fillRect l="-812" t="-2661" r="-1275" b="-140"/>
                </a:stretch>
              </a:blipFill>
            </p:spPr>
            <p:txBody>
              <a:bodyPr/>
              <a:lstStyle/>
              <a:p>
                <a:r>
                  <a:rPr lang="en-US">
                    <a:noFill/>
                  </a:rPr>
                  <a:t> </a:t>
                </a:r>
              </a:p>
            </p:txBody>
          </p:sp>
        </mc:Fallback>
      </mc:AlternateContent>
    </p:spTree>
    <p:extLst>
      <p:ext uri="{BB962C8B-B14F-4D97-AF65-F5344CB8AC3E}">
        <p14:creationId xmlns:p14="http://schemas.microsoft.com/office/powerpoint/2010/main" val="32575548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#3</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a:bodyPr>
              <a:lstStyle/>
              <a:p>
                <a:pPr>
                  <a:spcBef>
                    <a:spcPts val="576"/>
                  </a:spcBef>
                </a:pPr>
                <a:r>
                  <a:rPr lang="en-US" dirty="0"/>
                  <a:t>There are 2 blocks in cache, so the block field must contain 1 bit</a:t>
                </a:r>
              </a:p>
              <a:p>
                <a:pPr>
                  <a:spcBef>
                    <a:spcPts val="576"/>
                  </a:spcBef>
                </a:pPr>
                <a:r>
                  <a:rPr lang="en-US" dirty="0"/>
                  <a:t>This leaves 1 bit for the tag (so a main memory address has 4 bits because there are a total of </a:t>
                </a:r>
                <a14:m>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2</m:t>
                        </m:r>
                      </m:e>
                      <m:sup>
                        <m:r>
                          <a:rPr lang="en-US" i="1" dirty="0" smtClean="0">
                            <a:latin typeface="Cambria Math" panose="02040503050406030204" pitchFamily="18" charset="0"/>
                          </a:rPr>
                          <m:t>4</m:t>
                        </m:r>
                      </m:sup>
                    </m:sSup>
                    <m:r>
                      <a:rPr lang="en-US" i="1" dirty="0" smtClean="0">
                        <a:latin typeface="Cambria Math" panose="02040503050406030204" pitchFamily="18" charset="0"/>
                      </a:rPr>
                      <m:t>=16</m:t>
                    </m:r>
                  </m:oMath>
                </a14:m>
                <a:r>
                  <a:rPr lang="en-US" dirty="0"/>
                  <a:t> bytes in memory).</a:t>
                </a:r>
              </a:p>
              <a:p>
                <a:pPr>
                  <a:spcBef>
                    <a:spcPts val="576"/>
                  </a:spcBef>
                </a:pPr>
                <a:endParaRPr lang="en-US" dirty="0"/>
              </a:p>
              <a:p>
                <a:pPr>
                  <a:spcBef>
                    <a:spcPts val="576"/>
                  </a:spcBef>
                </a:pPr>
                <a:endParaRPr lang="en-US" dirty="0"/>
              </a:p>
              <a:p>
                <a:pPr>
                  <a:spcBef>
                    <a:spcPts val="576"/>
                  </a:spcBef>
                </a:pPr>
                <a:endParaRPr lang="en-US" dirty="0"/>
              </a:p>
              <a:p>
                <a:pPr>
                  <a:spcBef>
                    <a:spcPts val="576"/>
                  </a:spcBef>
                </a:pPr>
                <a:endParaRPr lang="en-US" dirty="0"/>
              </a:p>
            </p:txBody>
          </p:sp>
        </mc:Choice>
        <mc:Fallback xmlns="">
          <p:sp>
            <p:nvSpPr>
              <p:cNvPr id="3" name="Content Placeholder 2">
                <a:extLst>
                  <a:ext uri="{FF2B5EF4-FFF2-40B4-BE49-F238E27FC236}">
                    <a16:creationId xmlns:a16="http://schemas.microsoft.com/office/drawing/2014/main" xmlns="" id="{2425F833-F48A-41AB-BDF3-AE0A36E8B10B}"/>
                  </a:ext>
                </a:extLst>
              </p:cNvPr>
              <p:cNvSpPr>
                <a:spLocks noGrp="1" noRot="1" noChangeAspect="1" noMove="1" noResize="1" noEditPoints="1" noAdjustHandles="1" noChangeArrowheads="1" noChangeShapeType="1" noTextEdit="1"/>
              </p:cNvSpPr>
              <p:nvPr>
                <p:ph idx="1"/>
              </p:nvPr>
            </p:nvSpPr>
            <p:spPr>
              <a:blipFill rotWithShape="0">
                <a:blip r:embed="rId2"/>
                <a:stretch>
                  <a:fillRect t="-928" r="-444"/>
                </a:stretch>
              </a:blipFill>
            </p:spPr>
            <p:txBody>
              <a:bodyPr/>
              <a:lstStyle/>
              <a:p>
                <a:r>
                  <a:rPr lang="en-US">
                    <a:noFill/>
                  </a:rPr>
                  <a:t> </a:t>
                </a:r>
              </a:p>
            </p:txBody>
          </p:sp>
        </mc:Fallback>
      </mc:AlternateContent>
      <p:pic>
        <p:nvPicPr>
          <p:cNvPr id="4" name="Picture 4" descr="17"/>
          <p:cNvPicPr>
            <a:picLocks noChangeAspect="1" noChangeArrowheads="1"/>
          </p:cNvPicPr>
          <p:nvPr/>
        </p:nvPicPr>
        <p:blipFill>
          <a:blip r:embed="rId3">
            <a:extLst>
              <a:ext uri="{28A0092B-C50C-407E-A947-70E740481C1C}">
                <a14:useLocalDpi xmlns:a14="http://schemas.microsoft.com/office/drawing/2010/main" val="0"/>
              </a:ext>
            </a:extLst>
          </a:blip>
          <a:srcRect t="9230"/>
          <a:stretch>
            <a:fillRect/>
          </a:stretch>
        </p:blipFill>
        <p:spPr bwMode="auto">
          <a:xfrm>
            <a:off x="1768642" y="3565358"/>
            <a:ext cx="6574062" cy="198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4306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#3</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599" y="1219200"/>
            <a:ext cx="11039475" cy="2226966"/>
          </a:xfrm>
        </p:spPr>
        <p:txBody>
          <a:bodyPr>
            <a:normAutofit fontScale="92500"/>
          </a:bodyPr>
          <a:lstStyle/>
          <a:p>
            <a:pPr marL="284163" indent="-284163">
              <a:spcBef>
                <a:spcPts val="600"/>
              </a:spcBef>
            </a:pPr>
            <a:r>
              <a:rPr lang="en-US" altLang="en-US" dirty="0"/>
              <a:t>Suppose we need to access main memory address 3</a:t>
            </a:r>
            <a:r>
              <a:rPr lang="en-US" altLang="en-US" baseline="-25000" dirty="0"/>
              <a:t>16</a:t>
            </a:r>
            <a:r>
              <a:rPr lang="en-US" altLang="en-US" dirty="0"/>
              <a:t> (0011 in binary). If we partition 0011 using the address format from Figure A, we get Figure B.</a:t>
            </a:r>
          </a:p>
          <a:p>
            <a:pPr marL="284163" indent="-284163">
              <a:spcBef>
                <a:spcPts val="600"/>
              </a:spcBef>
            </a:pPr>
            <a:r>
              <a:rPr lang="en-US" altLang="en-US" dirty="0"/>
              <a:t>Thus, the main memory address 0011 maps to cache block 0.</a:t>
            </a:r>
          </a:p>
          <a:p>
            <a:pPr marL="284163" indent="-284163">
              <a:spcBef>
                <a:spcPts val="600"/>
              </a:spcBef>
            </a:pPr>
            <a:r>
              <a:rPr lang="en-US" altLang="en-US" dirty="0"/>
              <a:t>Figure C shows this mapping, along with the tag that is also stored with the data.</a:t>
            </a:r>
            <a:endParaRPr lang="en-US" dirty="0"/>
          </a:p>
          <a:p>
            <a:pPr>
              <a:spcBef>
                <a:spcPts val="576"/>
              </a:spcBef>
            </a:pPr>
            <a:endParaRPr lang="en-US" dirty="0"/>
          </a:p>
          <a:p>
            <a:endParaRPr lang="en-US" dirty="0"/>
          </a:p>
        </p:txBody>
      </p:sp>
      <p:grpSp>
        <p:nvGrpSpPr>
          <p:cNvPr id="11" name="Group 10"/>
          <p:cNvGrpSpPr/>
          <p:nvPr/>
        </p:nvGrpSpPr>
        <p:grpSpPr>
          <a:xfrm>
            <a:off x="930243" y="2897878"/>
            <a:ext cx="5404702" cy="2959290"/>
            <a:chOff x="930243" y="2897878"/>
            <a:chExt cx="5404702" cy="2959290"/>
          </a:xfrm>
        </p:grpSpPr>
        <p:pic>
          <p:nvPicPr>
            <p:cNvPr id="5" name="Picture 4" descr="17"/>
            <p:cNvPicPr>
              <a:picLocks noChangeAspect="1" noChangeArrowheads="1"/>
            </p:cNvPicPr>
            <p:nvPr/>
          </p:nvPicPr>
          <p:blipFill>
            <a:blip r:embed="rId2">
              <a:extLst>
                <a:ext uri="{28A0092B-C50C-407E-A947-70E740481C1C}">
                  <a14:useLocalDpi xmlns:a14="http://schemas.microsoft.com/office/drawing/2010/main" val="0"/>
                </a:ext>
              </a:extLst>
            </a:blip>
            <a:srcRect t="9230" r="9677"/>
            <a:stretch>
              <a:fillRect/>
            </a:stretch>
          </p:blipFill>
          <p:spPr bwMode="auto">
            <a:xfrm>
              <a:off x="930243" y="2897878"/>
              <a:ext cx="5320473" cy="17323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7207" y="4561768"/>
              <a:ext cx="5097738" cy="12954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1031003" y="3521821"/>
              <a:ext cx="206204" cy="584775"/>
            </a:xfrm>
            <a:prstGeom prst="rect">
              <a:avLst/>
            </a:prstGeom>
          </p:spPr>
          <p:txBody>
            <a:bodyPr wrap="square">
              <a:spAutoFit/>
            </a:bodyPr>
            <a:lstStyle/>
            <a:p>
              <a:pPr algn="ctr">
                <a:spcBef>
                  <a:spcPts val="0"/>
                </a:spcBef>
              </a:pPr>
              <a:r>
                <a:rPr lang="en-US" altLang="en-US" sz="3200" b="1" u="none" dirty="0">
                  <a:solidFill>
                    <a:srgbClr val="C00000"/>
                  </a:solidFill>
                  <a:latin typeface="+mj-lt"/>
                </a:rPr>
                <a:t>A</a:t>
              </a:r>
              <a:endParaRPr lang="en-US" sz="3200" b="1" u="none" dirty="0">
                <a:solidFill>
                  <a:srgbClr val="C00000"/>
                </a:solidFill>
                <a:latin typeface="+mj-lt"/>
              </a:endParaRPr>
            </a:p>
          </p:txBody>
        </p:sp>
        <p:sp>
          <p:nvSpPr>
            <p:cNvPr id="9" name="Rectangle 8"/>
            <p:cNvSpPr/>
            <p:nvPr/>
          </p:nvSpPr>
          <p:spPr>
            <a:xfrm>
              <a:off x="1031003" y="4748020"/>
              <a:ext cx="206204" cy="584775"/>
            </a:xfrm>
            <a:prstGeom prst="rect">
              <a:avLst/>
            </a:prstGeom>
          </p:spPr>
          <p:txBody>
            <a:bodyPr wrap="square">
              <a:spAutoFit/>
            </a:bodyPr>
            <a:lstStyle/>
            <a:p>
              <a:pPr algn="ctr">
                <a:spcBef>
                  <a:spcPts val="0"/>
                </a:spcBef>
              </a:pPr>
              <a:r>
                <a:rPr lang="en-US" altLang="en-US" sz="3200" b="1" u="none" dirty="0">
                  <a:solidFill>
                    <a:srgbClr val="C00000"/>
                  </a:solidFill>
                  <a:latin typeface="+mj-lt"/>
                </a:rPr>
                <a:t>B</a:t>
              </a:r>
              <a:endParaRPr lang="en-US" sz="3200" b="1" u="none" dirty="0">
                <a:solidFill>
                  <a:srgbClr val="C00000"/>
                </a:solidFill>
                <a:latin typeface="+mj-lt"/>
              </a:endParaRPr>
            </a:p>
          </p:txBody>
        </p:sp>
      </p:grpSp>
      <p:grpSp>
        <p:nvGrpSpPr>
          <p:cNvPr id="4" name="Group 3"/>
          <p:cNvGrpSpPr/>
          <p:nvPr/>
        </p:nvGrpSpPr>
        <p:grpSpPr>
          <a:xfrm>
            <a:off x="6705600" y="2887857"/>
            <a:ext cx="4714875" cy="3578496"/>
            <a:chOff x="6934200" y="2887857"/>
            <a:chExt cx="4714875" cy="3578496"/>
          </a:xfrm>
        </p:grpSpPr>
        <p:pic>
          <p:nvPicPr>
            <p:cNvPr id="7" name="Picture 11" descr="Fig6-4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4200" y="2887857"/>
              <a:ext cx="4714875" cy="3578496"/>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9448800" y="4917080"/>
              <a:ext cx="206204" cy="584775"/>
            </a:xfrm>
            <a:prstGeom prst="rect">
              <a:avLst/>
            </a:prstGeom>
          </p:spPr>
          <p:txBody>
            <a:bodyPr wrap="square">
              <a:spAutoFit/>
            </a:bodyPr>
            <a:lstStyle/>
            <a:p>
              <a:pPr algn="ctr">
                <a:spcBef>
                  <a:spcPts val="0"/>
                </a:spcBef>
              </a:pPr>
              <a:r>
                <a:rPr lang="en-US" altLang="en-US" sz="3200" b="1" u="none" dirty="0">
                  <a:solidFill>
                    <a:srgbClr val="C00000"/>
                  </a:solidFill>
                  <a:latin typeface="+mj-lt"/>
                </a:rPr>
                <a:t>C</a:t>
              </a:r>
              <a:endParaRPr lang="en-US" sz="3200" b="1" u="none" dirty="0">
                <a:solidFill>
                  <a:srgbClr val="C00000"/>
                </a:solidFill>
                <a:latin typeface="+mj-lt"/>
              </a:endParaRPr>
            </a:p>
          </p:txBody>
        </p:sp>
      </p:grpSp>
    </p:spTree>
    <p:extLst>
      <p:ext uri="{BB962C8B-B14F-4D97-AF65-F5344CB8AC3E}">
        <p14:creationId xmlns:p14="http://schemas.microsoft.com/office/powerpoint/2010/main" val="4131530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838200" y="0"/>
            <a:ext cx="10515600" cy="1325563"/>
          </a:xfrm>
        </p:spPr>
        <p:txBody>
          <a:bodyPr/>
          <a:lstStyle/>
          <a:p>
            <a:r>
              <a:rPr lang="en-US" altLang="en-US" dirty="0"/>
              <a:t>Direct Mapped Cache: Example #3</a:t>
            </a:r>
            <a:endParaRPr lang="en-US" dirty="0"/>
          </a:p>
        </p:txBody>
      </p:sp>
      <p:pic>
        <p:nvPicPr>
          <p:cNvPr id="4" name="Picture 5" descr="9781284033144_CH06_FIG04.jpg"/>
          <p:cNvPicPr>
            <a:picLocks noChangeAspect="1"/>
          </p:cNvPicPr>
          <p:nvPr/>
        </p:nvPicPr>
        <p:blipFill rotWithShape="1">
          <a:blip r:embed="rId3">
            <a:extLst>
              <a:ext uri="{28A0092B-C50C-407E-A947-70E740481C1C}">
                <a14:useLocalDpi xmlns:a14="http://schemas.microsoft.com/office/drawing/2010/main" val="0"/>
              </a:ext>
            </a:extLst>
          </a:blip>
          <a:srcRect l="22481" t="61051" r="21318" b="5483"/>
          <a:stretch/>
        </p:blipFill>
        <p:spPr bwMode="auto">
          <a:xfrm>
            <a:off x="5867400" y="2253486"/>
            <a:ext cx="4974575" cy="3715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descr="9781284033144_CH06_FIG04.jpg"/>
          <p:cNvPicPr>
            <a:picLocks noChangeAspect="1"/>
          </p:cNvPicPr>
          <p:nvPr/>
        </p:nvPicPr>
        <p:blipFill rotWithShape="1">
          <a:blip r:embed="rId3">
            <a:extLst>
              <a:ext uri="{28A0092B-C50C-407E-A947-70E740481C1C}">
                <a14:useLocalDpi xmlns:a14="http://schemas.microsoft.com/office/drawing/2010/main" val="0"/>
              </a:ext>
            </a:extLst>
          </a:blip>
          <a:srcRect t="17526" r="45785" b="48588"/>
          <a:stretch/>
        </p:blipFill>
        <p:spPr bwMode="auto">
          <a:xfrm>
            <a:off x="609600" y="2289757"/>
            <a:ext cx="4798717" cy="3762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9781284033144_CH06_FIG04.jpg"/>
          <p:cNvPicPr>
            <a:picLocks noChangeAspect="1"/>
          </p:cNvPicPr>
          <p:nvPr/>
        </p:nvPicPr>
        <p:blipFill rotWithShape="1">
          <a:blip r:embed="rId3">
            <a:extLst>
              <a:ext uri="{28A0092B-C50C-407E-A947-70E740481C1C}">
                <a14:useLocalDpi xmlns:a14="http://schemas.microsoft.com/office/drawing/2010/main" val="0"/>
              </a:ext>
            </a:extLst>
          </a:blip>
          <a:srcRect l="56845" t="19603" b="71538"/>
          <a:stretch/>
        </p:blipFill>
        <p:spPr bwMode="auto">
          <a:xfrm>
            <a:off x="6248399" y="1259591"/>
            <a:ext cx="4000865" cy="1030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descr="9781284033144_CH06_FIG04.jpg"/>
          <p:cNvPicPr>
            <a:picLocks noChangeAspect="1"/>
          </p:cNvPicPr>
          <p:nvPr/>
        </p:nvPicPr>
        <p:blipFill rotWithShape="1">
          <a:blip r:embed="rId3">
            <a:extLst>
              <a:ext uri="{28A0092B-C50C-407E-A947-70E740481C1C}">
                <a14:useLocalDpi xmlns:a14="http://schemas.microsoft.com/office/drawing/2010/main" val="0"/>
              </a:ext>
            </a:extLst>
          </a:blip>
          <a:srcRect l="55837" b="90143"/>
          <a:stretch/>
        </p:blipFill>
        <p:spPr bwMode="auto">
          <a:xfrm>
            <a:off x="1009749" y="1131894"/>
            <a:ext cx="4094375" cy="1146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35149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#3</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Memory address 0011 maps to block 0, offset 3</a:t>
            </a:r>
          </a:p>
          <a:p>
            <a:r>
              <a:rPr lang="en-US" dirty="0"/>
              <a:t>Note that memory address 1011 also maps to block 0, offset 3</a:t>
            </a:r>
          </a:p>
          <a:p>
            <a:r>
              <a:rPr lang="en-US" dirty="0"/>
              <a:t>So if the computer looks into block 0 offset 3, how does it know whether the value there came from memory address 0011 or 1011?</a:t>
            </a:r>
          </a:p>
          <a:p>
            <a:r>
              <a:rPr lang="en-US" dirty="0"/>
              <a:t>Answer: the tag field (0 for </a:t>
            </a:r>
            <a:r>
              <a:rPr lang="en-US" dirty="0">
                <a:solidFill>
                  <a:srgbClr val="C00000"/>
                </a:solidFill>
              </a:rPr>
              <a:t>0</a:t>
            </a:r>
            <a:r>
              <a:rPr lang="en-US" dirty="0"/>
              <a:t>011 and 1 for </a:t>
            </a:r>
            <a:r>
              <a:rPr lang="en-US" dirty="0">
                <a:solidFill>
                  <a:srgbClr val="C00000"/>
                </a:solidFill>
              </a:rPr>
              <a:t>1</a:t>
            </a:r>
            <a:r>
              <a:rPr lang="en-US" dirty="0"/>
              <a:t>011). That’s why we need the tag field – to distinguish from multiple blocks that are mapped to the same location in cache</a:t>
            </a:r>
          </a:p>
          <a:p>
            <a:endParaRPr lang="en-US" dirty="0"/>
          </a:p>
        </p:txBody>
      </p:sp>
    </p:spTree>
    <p:extLst>
      <p:ext uri="{BB962C8B-B14F-4D97-AF65-F5344CB8AC3E}">
        <p14:creationId xmlns:p14="http://schemas.microsoft.com/office/powerpoint/2010/main" val="22668964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Cache Memory</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85000" lnSpcReduction="10000"/>
          </a:bodyPr>
          <a:lstStyle/>
          <a:p>
            <a:r>
              <a:rPr lang="en-US" dirty="0"/>
              <a:t>A question: when the CPU looks in the cache for some value, how do we know that the block which </a:t>
            </a:r>
            <a:r>
              <a:rPr lang="en-US" i="1" dirty="0"/>
              <a:t>should</a:t>
            </a:r>
            <a:r>
              <a:rPr lang="en-US" dirty="0"/>
              <a:t> contain that value actually </a:t>
            </a:r>
            <a:r>
              <a:rPr lang="en-US" i="1" dirty="0"/>
              <a:t>does</a:t>
            </a:r>
            <a:r>
              <a:rPr lang="en-US" dirty="0"/>
              <a:t> contain that value?</a:t>
            </a:r>
          </a:p>
          <a:p>
            <a:r>
              <a:rPr lang="en-US" dirty="0"/>
              <a:t>Suppose we want to retrieve a word from block 1 of the cache. How do we know that block 1 actually has the word, and not, say, some random garbage data?</a:t>
            </a:r>
          </a:p>
          <a:p>
            <a:r>
              <a:rPr lang="en-US" dirty="0"/>
              <a:t>Answer: we add another bit to each block called the </a:t>
            </a:r>
            <a:r>
              <a:rPr lang="en-US" b="1" dirty="0"/>
              <a:t>valid bit</a:t>
            </a:r>
            <a:r>
              <a:rPr lang="en-US" dirty="0"/>
              <a:t> which tells us if the block contains valid (actual) data or not</a:t>
            </a:r>
          </a:p>
          <a:p>
            <a:r>
              <a:rPr lang="en-US" dirty="0"/>
              <a:t>A value of 0 for the valid bit means that the block does not contain valid data</a:t>
            </a:r>
          </a:p>
          <a:p>
            <a:pPr lvl="1"/>
            <a:r>
              <a:rPr lang="en-US" dirty="0"/>
              <a:t>This is called a </a:t>
            </a:r>
            <a:r>
              <a:rPr lang="en-US" b="1" dirty="0"/>
              <a:t>cache miss</a:t>
            </a:r>
            <a:r>
              <a:rPr lang="en-US" dirty="0"/>
              <a:t>, and so we have to go to main memory for the data</a:t>
            </a:r>
          </a:p>
          <a:p>
            <a:r>
              <a:rPr lang="en-US" dirty="0"/>
              <a:t>A value of 1 for the valid bit means that the block actually contains valid data</a:t>
            </a:r>
          </a:p>
          <a:p>
            <a:pPr lvl="1"/>
            <a:r>
              <a:rPr lang="en-US" dirty="0"/>
              <a:t>This is called a </a:t>
            </a:r>
            <a:r>
              <a:rPr lang="en-US" b="1" dirty="0"/>
              <a:t>cache hit</a:t>
            </a:r>
            <a:r>
              <a:rPr lang="en-US" dirty="0"/>
              <a:t>, and we avoid making a trip to main memory</a:t>
            </a:r>
          </a:p>
          <a:p>
            <a:r>
              <a:rPr lang="en-US" dirty="0"/>
              <a:t>Our goal is to maximize the </a:t>
            </a:r>
            <a:r>
              <a:rPr lang="en-US" b="1" dirty="0"/>
              <a:t>cache hit rate</a:t>
            </a:r>
            <a:r>
              <a:rPr lang="en-US" dirty="0"/>
              <a:t>, the percentage of time that the cache contains a value that the CPU is looking for</a:t>
            </a:r>
            <a:endParaRPr lang="en-US" b="1" dirty="0"/>
          </a:p>
          <a:p>
            <a:endParaRPr lang="en-US" dirty="0"/>
          </a:p>
          <a:p>
            <a:endParaRPr lang="en-US" dirty="0"/>
          </a:p>
        </p:txBody>
      </p:sp>
    </p:spTree>
    <p:extLst>
      <p:ext uri="{BB962C8B-B14F-4D97-AF65-F5344CB8AC3E}">
        <p14:creationId xmlns:p14="http://schemas.microsoft.com/office/powerpoint/2010/main" val="1804455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#4</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spcBef>
                <a:spcPts val="576"/>
              </a:spcBef>
            </a:pPr>
            <a:r>
              <a:rPr lang="en-US" altLang="en-US" dirty="0"/>
              <a:t>Assume a byte-addressable memory consists of 2</a:t>
            </a:r>
            <a:r>
              <a:rPr lang="en-US" altLang="en-US" baseline="30000" dirty="0"/>
              <a:t>14</a:t>
            </a:r>
            <a:r>
              <a:rPr lang="en-US" altLang="en-US" dirty="0"/>
              <a:t> bytes, cache has 16 blocks, and each block has 8 bytes. </a:t>
            </a:r>
          </a:p>
          <a:p>
            <a:pPr>
              <a:spcBef>
                <a:spcPts val="576"/>
              </a:spcBef>
            </a:pPr>
            <a:r>
              <a:rPr lang="en-US" altLang="en-US" dirty="0"/>
              <a:t>The number of memory blocks is: 2</a:t>
            </a:r>
            <a:r>
              <a:rPr lang="en-US" altLang="en-US" baseline="30000" dirty="0"/>
              <a:t>14</a:t>
            </a:r>
            <a:r>
              <a:rPr lang="en-US" altLang="en-US" dirty="0"/>
              <a:t>/2</a:t>
            </a:r>
            <a:r>
              <a:rPr lang="en-US" altLang="en-US" baseline="30000" dirty="0"/>
              <a:t>3</a:t>
            </a:r>
            <a:r>
              <a:rPr lang="en-US" altLang="en-US" dirty="0"/>
              <a:t> = 2</a:t>
            </a:r>
            <a:r>
              <a:rPr lang="en-US" altLang="en-US" baseline="30000" dirty="0"/>
              <a:t>11</a:t>
            </a:r>
          </a:p>
          <a:p>
            <a:pPr>
              <a:spcBef>
                <a:spcPts val="576"/>
              </a:spcBef>
            </a:pPr>
            <a:r>
              <a:rPr lang="en-US" altLang="en-US" dirty="0"/>
              <a:t>Each main memory address requires 14 bits. Of this 14-bit address field, the rightmost 3 bits reflect the offset field (why? because 2</a:t>
            </a:r>
            <a:r>
              <a:rPr lang="en-US" altLang="en-US" baseline="30000" dirty="0"/>
              <a:t>3</a:t>
            </a:r>
            <a:r>
              <a:rPr lang="en-US" altLang="en-US" dirty="0"/>
              <a:t> = 8)</a:t>
            </a:r>
          </a:p>
          <a:p>
            <a:pPr>
              <a:spcBef>
                <a:spcPts val="576"/>
              </a:spcBef>
            </a:pPr>
            <a:r>
              <a:rPr lang="en-US" altLang="en-US" dirty="0"/>
              <a:t>We need 4 bits to select a specific block in cache (why?), so the block field consists of the middle 4 bits. </a:t>
            </a:r>
          </a:p>
          <a:p>
            <a:pPr>
              <a:spcBef>
                <a:spcPts val="576"/>
              </a:spcBef>
            </a:pPr>
            <a:r>
              <a:rPr lang="en-US" altLang="en-US" dirty="0"/>
              <a:t>The remaining 7 bits make up the tag field. </a:t>
            </a:r>
          </a:p>
          <a:p>
            <a:pPr>
              <a:spcBef>
                <a:spcPts val="576"/>
              </a:spcBef>
            </a:pPr>
            <a:endParaRPr lang="en-US" dirty="0"/>
          </a:p>
        </p:txBody>
      </p:sp>
      <p:pic>
        <p:nvPicPr>
          <p:cNvPr id="4" name="Picture 5" descr="9781284033144_CH06_FIG05.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30379" y="5390392"/>
            <a:ext cx="5065295" cy="1467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8376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#5</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dirty="0"/>
              <a:t>Assume a byte-addressable memory consisting of 16 bytes divided into 8 blocks. Cache contains 4 blocks. </a:t>
            </a:r>
          </a:p>
          <a:p>
            <a:pPr lvl="1"/>
            <a:r>
              <a:rPr lang="en-US" dirty="0"/>
              <a:t>A memory address has 4 bits.</a:t>
            </a:r>
          </a:p>
          <a:p>
            <a:pPr lvl="1"/>
            <a:r>
              <a:rPr lang="en-US" dirty="0"/>
              <a:t>Each block contains 2 bytes</a:t>
            </a:r>
          </a:p>
          <a:p>
            <a:r>
              <a:rPr lang="en-US" dirty="0"/>
              <a:t>How are the 4 bits of a memory address divided among the block number, offset and tag?</a:t>
            </a:r>
          </a:p>
          <a:p>
            <a:r>
              <a:rPr lang="en-US" altLang="en-US" dirty="0"/>
              <a:t>The block number? </a:t>
            </a:r>
          </a:p>
          <a:p>
            <a:pPr lvl="1"/>
            <a:r>
              <a:rPr lang="en-US" altLang="en-US" dirty="0"/>
              <a:t>2 bits because there are 4 blocks of cache</a:t>
            </a:r>
          </a:p>
          <a:p>
            <a:r>
              <a:rPr lang="en-US" altLang="en-US" dirty="0"/>
              <a:t>The offset? </a:t>
            </a:r>
          </a:p>
          <a:p>
            <a:pPr lvl="1"/>
            <a:r>
              <a:rPr lang="en-US" altLang="en-US" dirty="0"/>
              <a:t>1 bit because we have a byte-addressable memory with 2 bytes per block</a:t>
            </a:r>
          </a:p>
          <a:p>
            <a:r>
              <a:rPr lang="en-US" altLang="en-US" dirty="0"/>
              <a:t>The tag? </a:t>
            </a:r>
          </a:p>
          <a:p>
            <a:pPr lvl="1"/>
            <a:r>
              <a:rPr lang="en-US" altLang="en-US" dirty="0"/>
              <a:t>1 bit after accounting for the block number and offset</a:t>
            </a:r>
          </a:p>
          <a:p>
            <a:endParaRPr lang="en-US" dirty="0"/>
          </a:p>
          <a:p>
            <a:pPr marL="114300" indent="0">
              <a:buNone/>
            </a:pPr>
            <a:endParaRPr lang="en-US" dirty="0"/>
          </a:p>
        </p:txBody>
      </p:sp>
    </p:spTree>
    <p:extLst>
      <p:ext uri="{BB962C8B-B14F-4D97-AF65-F5344CB8AC3E}">
        <p14:creationId xmlns:p14="http://schemas.microsoft.com/office/powerpoint/2010/main" val="2802725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#5</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How are memory addresses mapped to cache blocks?</a:t>
            </a:r>
          </a:p>
          <a:p>
            <a:endParaRPr lang="en-US" dirty="0"/>
          </a:p>
        </p:txBody>
      </p:sp>
      <p:pic>
        <p:nvPicPr>
          <p:cNvPr id="4" name="Picture 5" descr="9781284033144_CH06_FIG07.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04411" y="2240537"/>
            <a:ext cx="3713747" cy="1020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descr="9781284033144_CH06_FIG06.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8199" y="3352800"/>
            <a:ext cx="9518873" cy="3117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68200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#5</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2986782"/>
                <a:ext cx="10972800" cy="3414018"/>
              </a:xfrm>
            </p:spPr>
            <p:txBody>
              <a:bodyPr/>
              <a:lstStyle/>
              <a:p>
                <a:pPr>
                  <a:spcBef>
                    <a:spcPts val="576"/>
                  </a:spcBef>
                </a:pPr>
                <a:r>
                  <a:rPr lang="en-US" altLang="en-US" dirty="0"/>
                  <a:t>Consider memory address </a:t>
                </a:r>
                <a14:m>
                  <m:oMath xmlns:m="http://schemas.openxmlformats.org/officeDocument/2006/math">
                    <m:sSub>
                      <m:sSubPr>
                        <m:ctrlPr>
                          <a:rPr lang="en-US" altLang="en-US" b="0" i="1" dirty="0" smtClean="0">
                            <a:latin typeface="Cambria Math" panose="02040503050406030204" pitchFamily="18" charset="0"/>
                          </a:rPr>
                        </m:ctrlPr>
                      </m:sSubPr>
                      <m:e>
                        <m:r>
                          <a:rPr lang="en-US" altLang="en-US" i="1" dirty="0" smtClean="0">
                            <a:latin typeface="Cambria Math" panose="02040503050406030204" pitchFamily="18" charset="0"/>
                          </a:rPr>
                          <m:t>1001</m:t>
                        </m:r>
                      </m:e>
                      <m:sub>
                        <m:r>
                          <a:rPr lang="en-US" altLang="en-US" b="0" i="1" dirty="0" smtClean="0">
                            <a:latin typeface="Cambria Math" panose="02040503050406030204" pitchFamily="18" charset="0"/>
                          </a:rPr>
                          <m:t>2</m:t>
                        </m:r>
                      </m:sub>
                    </m:sSub>
                  </m:oMath>
                </a14:m>
                <a:endParaRPr lang="en-US" altLang="en-US" dirty="0"/>
              </a:p>
              <a:p>
                <a:pPr>
                  <a:spcBef>
                    <a:spcPts val="576"/>
                  </a:spcBef>
                </a:pPr>
                <a:r>
                  <a:rPr lang="en-US" altLang="en-US" dirty="0"/>
                  <a:t>Tag = 1, block = 00, offset = 1</a:t>
                </a:r>
              </a:p>
              <a:p>
                <a:pPr>
                  <a:spcBef>
                    <a:spcPts val="576"/>
                  </a:spcBef>
                </a:pPr>
                <a:r>
                  <a:rPr lang="en-US" altLang="en-US" dirty="0"/>
                  <a:t>The CPU checks the tag field for cache block 0</a:t>
                </a:r>
              </a:p>
              <a:p>
                <a:pPr>
                  <a:spcBef>
                    <a:spcPts val="576"/>
                  </a:spcBef>
                </a:pPr>
                <a:r>
                  <a:rPr lang="en-US" altLang="en-US" dirty="0"/>
                  <a:t>If the tag is 1 and the valid bit is 1, then block 0 in the cache at offset 1 contains the byte we want</a:t>
                </a:r>
              </a:p>
              <a:p>
                <a:pPr>
                  <a:spcBef>
                    <a:spcPts val="576"/>
                  </a:spcBef>
                </a:pPr>
                <a:r>
                  <a:rPr lang="en-US" altLang="en-US" dirty="0"/>
                  <a:t>If instead the tag were 0, this would correspond with binary memory address 0001 (and 0000 too, for that matter)</a:t>
                </a:r>
              </a:p>
              <a:p>
                <a:pPr>
                  <a:spcBef>
                    <a:spcPts val="576"/>
                  </a:spcBef>
                </a:pPr>
                <a:endParaRPr lang="en-US" dirty="0"/>
              </a:p>
            </p:txBody>
          </p:sp>
        </mc:Choice>
        <mc:Fallback xmlns="">
          <p:sp>
            <p:nvSpPr>
              <p:cNvPr id="3" name="Content Placeholder 2">
                <a:extLst>
                  <a:ext uri="{FF2B5EF4-FFF2-40B4-BE49-F238E27FC236}">
                    <a16:creationId xmlns="" xmlns:a16="http://schemas.microsoft.com/office/drawing/2014/main" id="{2425F833-F48A-41AB-BDF3-AE0A36E8B10B}"/>
                  </a:ext>
                </a:extLst>
              </p:cNvPr>
              <p:cNvSpPr>
                <a:spLocks noGrp="1" noRot="1" noChangeAspect="1" noMove="1" noResize="1" noEditPoints="1" noAdjustHandles="1" noChangeArrowheads="1" noChangeShapeType="1" noTextEdit="1"/>
              </p:cNvSpPr>
              <p:nvPr>
                <p:ph idx="1"/>
              </p:nvPr>
            </p:nvSpPr>
            <p:spPr>
              <a:xfrm>
                <a:off x="609600" y="2986782"/>
                <a:ext cx="10972800" cy="3414018"/>
              </a:xfrm>
              <a:blipFill rotWithShape="0">
                <a:blip r:embed="rId2"/>
                <a:stretch>
                  <a:fillRect t="-1429"/>
                </a:stretch>
              </a:blipFill>
            </p:spPr>
            <p:txBody>
              <a:bodyPr/>
              <a:lstStyle/>
              <a:p>
                <a:r>
                  <a:rPr lang="en-US">
                    <a:noFill/>
                  </a:rPr>
                  <a:t> </a:t>
                </a:r>
              </a:p>
            </p:txBody>
          </p:sp>
        </mc:Fallback>
      </mc:AlternateContent>
      <p:pic>
        <p:nvPicPr>
          <p:cNvPr id="4" name="Picture 5" descr="9781284033144_CH06_FIG07.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219200"/>
            <a:ext cx="5602586" cy="1538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291336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#5</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2986782"/>
                <a:ext cx="10972800" cy="3414018"/>
              </a:xfrm>
            </p:spPr>
            <p:txBody>
              <a:bodyPr/>
              <a:lstStyle/>
              <a:p>
                <a:pPr>
                  <a:spcBef>
                    <a:spcPts val="576"/>
                  </a:spcBef>
                </a:pPr>
                <a:r>
                  <a:rPr lang="en-US" dirty="0"/>
                  <a:t>Consider memory address </a:t>
                </a:r>
                <a14:m>
                  <m:oMath xmlns:m="http://schemas.openxmlformats.org/officeDocument/2006/math">
                    <m:sSub>
                      <m:sSubPr>
                        <m:ctrlPr>
                          <a:rPr lang="en-US" altLang="en-US" i="1" dirty="0">
                            <a:latin typeface="Cambria Math" panose="02040503050406030204" pitchFamily="18" charset="0"/>
                          </a:rPr>
                        </m:ctrlPr>
                      </m:sSubPr>
                      <m:e>
                        <m:r>
                          <a:rPr lang="en-US" altLang="en-US" i="1" dirty="0">
                            <a:latin typeface="Cambria Math" panose="02040503050406030204" pitchFamily="18" charset="0"/>
                          </a:rPr>
                          <m:t>1001</m:t>
                        </m:r>
                      </m:e>
                      <m:sub>
                        <m:r>
                          <a:rPr lang="en-US" altLang="en-US" i="1" dirty="0">
                            <a:latin typeface="Cambria Math" panose="02040503050406030204" pitchFamily="18" charset="0"/>
                          </a:rPr>
                          <m:t>2</m:t>
                        </m:r>
                      </m:sub>
                    </m:sSub>
                  </m:oMath>
                </a14:m>
                <a:endParaRPr lang="en-US" dirty="0"/>
              </a:p>
              <a:p>
                <a:pPr>
                  <a:spcBef>
                    <a:spcPts val="576"/>
                  </a:spcBef>
                </a:pPr>
                <a:r>
                  <a:rPr lang="en-US" dirty="0"/>
                  <a:t>Tag = 1, block = 10, offset = 0</a:t>
                </a:r>
              </a:p>
              <a:p>
                <a:pPr>
                  <a:spcBef>
                    <a:spcPts val="576"/>
                  </a:spcBef>
                </a:pPr>
                <a:r>
                  <a:rPr lang="en-US" dirty="0"/>
                  <a:t>The CPU checks the tag field for cache block 2</a:t>
                </a:r>
              </a:p>
              <a:p>
                <a:pPr>
                  <a:spcBef>
                    <a:spcPts val="576"/>
                  </a:spcBef>
                </a:pPr>
                <a:r>
                  <a:rPr lang="en-US" dirty="0"/>
                  <a:t>If the tag is 1 and the valid bit is 1, then block 2 in the cache at offset 0 contains the byte we want</a:t>
                </a:r>
              </a:p>
              <a:p>
                <a:pPr>
                  <a:spcBef>
                    <a:spcPts val="576"/>
                  </a:spcBef>
                </a:pPr>
                <a:endParaRPr lang="en-US" dirty="0"/>
              </a:p>
            </p:txBody>
          </p:sp>
        </mc:Choice>
        <mc:Fallback xmlns="">
          <p:sp>
            <p:nvSpPr>
              <p:cNvPr id="3" name="Content Placeholder 2">
                <a:extLst>
                  <a:ext uri="{FF2B5EF4-FFF2-40B4-BE49-F238E27FC236}">
                    <a16:creationId xmlns="" xmlns:a16="http://schemas.microsoft.com/office/drawing/2014/main" id="{2425F833-F48A-41AB-BDF3-AE0A36E8B10B}"/>
                  </a:ext>
                </a:extLst>
              </p:cNvPr>
              <p:cNvSpPr>
                <a:spLocks noGrp="1" noRot="1" noChangeAspect="1" noMove="1" noResize="1" noEditPoints="1" noAdjustHandles="1" noChangeArrowheads="1" noChangeShapeType="1" noTextEdit="1"/>
              </p:cNvSpPr>
              <p:nvPr>
                <p:ph idx="1"/>
              </p:nvPr>
            </p:nvSpPr>
            <p:spPr>
              <a:xfrm>
                <a:off x="609600" y="2986782"/>
                <a:ext cx="10972800" cy="3414018"/>
              </a:xfrm>
              <a:blipFill rotWithShape="0">
                <a:blip r:embed="rId2"/>
                <a:stretch>
                  <a:fillRect t="-1429"/>
                </a:stretch>
              </a:blipFill>
            </p:spPr>
            <p:txBody>
              <a:bodyPr/>
              <a:lstStyle/>
              <a:p>
                <a:r>
                  <a:rPr lang="en-US">
                    <a:noFill/>
                  </a:rPr>
                  <a:t> </a:t>
                </a:r>
              </a:p>
            </p:txBody>
          </p:sp>
        </mc:Fallback>
      </mc:AlternateContent>
      <p:pic>
        <p:nvPicPr>
          <p:cNvPr id="4" name="Picture 5" descr="9781284033144_CH06_FIG07.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219200"/>
            <a:ext cx="5602586" cy="1538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60486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#6</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pPr>
                  <a:spcBef>
                    <a:spcPts val="576"/>
                  </a:spcBef>
                </a:pPr>
                <a:r>
                  <a:rPr lang="en-US" altLang="en-US" dirty="0"/>
                  <a:t>Consider 16-bit memory addresses and 64 blocks of cache where each block contains 8 bytes. How are the bits of a memory address divided among:</a:t>
                </a:r>
              </a:p>
              <a:p>
                <a:pPr lvl="1">
                  <a:spcBef>
                    <a:spcPts val="576"/>
                  </a:spcBef>
                </a:pPr>
                <a:r>
                  <a:rPr lang="en-US" altLang="en-US" dirty="0"/>
                  <a:t>The block number?</a:t>
                </a:r>
              </a:p>
              <a:p>
                <a:pPr lvl="2">
                  <a:spcBef>
                    <a:spcPts val="576"/>
                  </a:spcBef>
                </a:pPr>
                <a:r>
                  <a:rPr lang="en-US" altLang="en-US" dirty="0"/>
                  <a:t>With 64 blocks of cache we need 6 bits for the block number (2</a:t>
                </a:r>
                <a:r>
                  <a:rPr lang="en-US" altLang="en-US" baseline="30000" dirty="0"/>
                  <a:t>6</a:t>
                </a:r>
                <a:r>
                  <a:rPr lang="en-US" altLang="en-US" dirty="0"/>
                  <a:t> = 64)</a:t>
                </a:r>
              </a:p>
              <a:p>
                <a:pPr lvl="1">
                  <a:spcBef>
                    <a:spcPts val="576"/>
                  </a:spcBef>
                </a:pPr>
                <a:r>
                  <a:rPr lang="en-US" altLang="en-US" dirty="0"/>
                  <a:t>The offset?</a:t>
                </a:r>
              </a:p>
              <a:p>
                <a:pPr lvl="2">
                  <a:spcBef>
                    <a:spcPts val="576"/>
                  </a:spcBef>
                </a:pPr>
                <a:r>
                  <a:rPr lang="en-US" altLang="en-US" dirty="0"/>
                  <a:t>With 8 bytes per block we need 3 bits for the offset (2</a:t>
                </a:r>
                <a:r>
                  <a:rPr lang="en-US" altLang="en-US" baseline="30000" dirty="0"/>
                  <a:t>3</a:t>
                </a:r>
                <a:r>
                  <a:rPr lang="en-US" altLang="en-US" dirty="0"/>
                  <a:t> = 8)</a:t>
                </a:r>
              </a:p>
              <a:p>
                <a:pPr lvl="1">
                  <a:spcBef>
                    <a:spcPts val="576"/>
                  </a:spcBef>
                </a:pPr>
                <a:r>
                  <a:rPr lang="en-US" altLang="en-US" dirty="0"/>
                  <a:t>The tag?</a:t>
                </a:r>
              </a:p>
              <a:p>
                <a:pPr lvl="2">
                  <a:spcBef>
                    <a:spcPts val="576"/>
                  </a:spcBef>
                </a:pPr>
                <a14:m>
                  <m:oMath xmlns:m="http://schemas.openxmlformats.org/officeDocument/2006/math">
                    <m:r>
                      <a:rPr lang="en-US" altLang="en-US" i="1" dirty="0" smtClean="0">
                        <a:latin typeface="Cambria Math" panose="02040503050406030204" pitchFamily="18" charset="0"/>
                      </a:rPr>
                      <m:t>16</m:t>
                    </m:r>
                    <m:r>
                      <a:rPr lang="en-US" altLang="en-US" b="0" i="1" dirty="0" smtClean="0">
                        <a:latin typeface="Cambria Math" panose="02040503050406030204" pitchFamily="18" charset="0"/>
                      </a:rPr>
                      <m:t>−</m:t>
                    </m:r>
                    <m:r>
                      <a:rPr lang="en-US" altLang="en-US" i="1" dirty="0" smtClean="0">
                        <a:latin typeface="Cambria Math" panose="02040503050406030204" pitchFamily="18" charset="0"/>
                      </a:rPr>
                      <m:t>6</m:t>
                    </m:r>
                    <m:r>
                      <a:rPr lang="en-US" altLang="en-US" b="0" i="1" dirty="0" smtClean="0">
                        <a:latin typeface="Cambria Math" panose="02040503050406030204" pitchFamily="18" charset="0"/>
                      </a:rPr>
                      <m:t>−</m:t>
                    </m:r>
                    <m:r>
                      <a:rPr lang="en-US" altLang="en-US" i="1" dirty="0" smtClean="0">
                        <a:latin typeface="Cambria Math" panose="02040503050406030204" pitchFamily="18" charset="0"/>
                      </a:rPr>
                      <m:t>3=7</m:t>
                    </m:r>
                  </m:oMath>
                </a14:m>
                <a:r>
                  <a:rPr lang="en-US" altLang="en-US" dirty="0"/>
                  <a:t> bits remain for the tag</a:t>
                </a:r>
              </a:p>
              <a:p>
                <a:pPr>
                  <a:spcBef>
                    <a:spcPts val="576"/>
                  </a:spcBef>
                </a:pPr>
                <a:r>
                  <a:rPr lang="en-US" dirty="0"/>
                  <a:t>How would the memory reference 0x0404 map to the fields for the cache?</a:t>
                </a:r>
              </a:p>
              <a:p>
                <a:pPr>
                  <a:spcBef>
                    <a:spcPts val="576"/>
                  </a:spcBef>
                </a:pPr>
                <a:endParaRPr lang="en-US" dirty="0"/>
              </a:p>
            </p:txBody>
          </p:sp>
        </mc:Choice>
        <mc:Fallback xmlns="">
          <p:sp>
            <p:nvSpPr>
              <p:cNvPr id="3" name="Content Placeholder 2">
                <a:extLst>
                  <a:ext uri="{FF2B5EF4-FFF2-40B4-BE49-F238E27FC236}">
                    <a16:creationId xmlns:a16="http://schemas.microsoft.com/office/drawing/2014/main" id="{2425F833-F48A-41AB-BDF3-AE0A36E8B10B}"/>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en-US">
                    <a:noFill/>
                  </a:rPr>
                  <a:t> </a:t>
                </a:r>
              </a:p>
            </p:txBody>
          </p:sp>
        </mc:Fallback>
      </mc:AlternateContent>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1884" y="5486917"/>
            <a:ext cx="6248400" cy="1380092"/>
          </a:xfrm>
          <a:prstGeom prst="rect">
            <a:avLst/>
          </a:prstGeom>
        </p:spPr>
      </p:pic>
    </p:spTree>
    <p:extLst>
      <p:ext uri="{BB962C8B-B14F-4D97-AF65-F5344CB8AC3E}">
        <p14:creationId xmlns:p14="http://schemas.microsoft.com/office/powerpoint/2010/main" val="241025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#7</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spcBef>
                <a:spcPts val="576"/>
              </a:spcBef>
            </a:pPr>
            <a:r>
              <a:rPr lang="en-US" dirty="0"/>
              <a:t>Consider a computer with:</a:t>
            </a:r>
          </a:p>
          <a:p>
            <a:pPr lvl="1">
              <a:spcBef>
                <a:spcPts val="576"/>
              </a:spcBef>
            </a:pPr>
            <a:r>
              <a:rPr lang="en-US" dirty="0"/>
              <a:t>Direct mapped cache with 32 blocks</a:t>
            </a:r>
          </a:p>
          <a:p>
            <a:pPr lvl="1">
              <a:spcBef>
                <a:spcPts val="576"/>
              </a:spcBef>
            </a:pPr>
            <a:r>
              <a:rPr lang="en-US" dirty="0"/>
              <a:t>Each cache block is 16 bytes</a:t>
            </a:r>
          </a:p>
          <a:p>
            <a:pPr lvl="1">
              <a:spcBef>
                <a:spcPts val="576"/>
              </a:spcBef>
            </a:pPr>
            <a:r>
              <a:rPr lang="en-US" dirty="0"/>
              <a:t>2</a:t>
            </a:r>
            <a:r>
              <a:rPr lang="en-US" baseline="30000" dirty="0"/>
              <a:t>20</a:t>
            </a:r>
            <a:r>
              <a:rPr lang="en-US" dirty="0"/>
              <a:t> bytes of byte-addressable main memory</a:t>
            </a:r>
          </a:p>
          <a:p>
            <a:pPr>
              <a:spcBef>
                <a:spcPts val="576"/>
              </a:spcBef>
            </a:pPr>
            <a:r>
              <a:rPr lang="en-US" dirty="0"/>
              <a:t>Questions:</a:t>
            </a:r>
          </a:p>
          <a:p>
            <a:pPr marL="684213" lvl="1" indent="-357188">
              <a:spcBef>
                <a:spcPts val="576"/>
              </a:spcBef>
              <a:buFont typeface="+mj-lt"/>
              <a:buAutoNum type="arabicPeriod"/>
            </a:pPr>
            <a:r>
              <a:rPr lang="en-US" dirty="0"/>
              <a:t>How many blocks of main memory are there?</a:t>
            </a:r>
          </a:p>
          <a:p>
            <a:pPr marL="684213" lvl="1" indent="-357188">
              <a:spcBef>
                <a:spcPts val="576"/>
              </a:spcBef>
              <a:buFont typeface="+mj-lt"/>
              <a:buAutoNum type="arabicPeriod"/>
            </a:pPr>
            <a:r>
              <a:rPr lang="en-US" dirty="0"/>
              <a:t>What is the format of a memory address as seen by the cache (i.e., what are the sizes of tag, block, and offset fields)?</a:t>
            </a:r>
          </a:p>
          <a:p>
            <a:pPr marL="684213" lvl="1" indent="-357188">
              <a:spcBef>
                <a:spcPts val="576"/>
              </a:spcBef>
              <a:buFont typeface="+mj-lt"/>
              <a:buAutoNum type="arabicPeriod"/>
            </a:pPr>
            <a:r>
              <a:rPr lang="en-US" dirty="0"/>
              <a:t>To which cache block will the memory address 0x0DB63 map?</a:t>
            </a:r>
          </a:p>
          <a:p>
            <a:pPr>
              <a:spcBef>
                <a:spcPts val="576"/>
              </a:spcBef>
            </a:pPr>
            <a:endParaRPr lang="en-US" dirty="0"/>
          </a:p>
          <a:p>
            <a:pPr>
              <a:spcBef>
                <a:spcPts val="576"/>
              </a:spcBef>
            </a:pPr>
            <a:endParaRPr lang="en-US" altLang="en-US" dirty="0"/>
          </a:p>
          <a:p>
            <a:pPr>
              <a:spcBef>
                <a:spcPts val="576"/>
              </a:spcBef>
            </a:pPr>
            <a:endParaRPr lang="en-US" dirty="0"/>
          </a:p>
        </p:txBody>
      </p:sp>
    </p:spTree>
    <p:extLst>
      <p:ext uri="{BB962C8B-B14F-4D97-AF65-F5344CB8AC3E}">
        <p14:creationId xmlns:p14="http://schemas.microsoft.com/office/powerpoint/2010/main" val="228363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#7</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spcBef>
                <a:spcPts val="576"/>
              </a:spcBef>
            </a:pPr>
            <a:r>
              <a:rPr lang="en-US" dirty="0"/>
              <a:t>Consider a computer with:</a:t>
            </a:r>
          </a:p>
          <a:p>
            <a:pPr lvl="1">
              <a:spcBef>
                <a:spcPts val="576"/>
              </a:spcBef>
            </a:pPr>
            <a:r>
              <a:rPr lang="en-US" dirty="0"/>
              <a:t>Direct mapped cache with 32 blocks</a:t>
            </a:r>
          </a:p>
          <a:p>
            <a:pPr lvl="1">
              <a:spcBef>
                <a:spcPts val="576"/>
              </a:spcBef>
            </a:pPr>
            <a:r>
              <a:rPr lang="en-US" dirty="0"/>
              <a:t>Each cache block is 16 bytes</a:t>
            </a:r>
          </a:p>
          <a:p>
            <a:pPr lvl="1">
              <a:spcBef>
                <a:spcPts val="576"/>
              </a:spcBef>
            </a:pPr>
            <a:r>
              <a:rPr lang="en-US" dirty="0"/>
              <a:t>2</a:t>
            </a:r>
            <a:r>
              <a:rPr lang="en-US" baseline="30000" dirty="0"/>
              <a:t>20</a:t>
            </a:r>
            <a:r>
              <a:rPr lang="en-US" dirty="0"/>
              <a:t> bytes of byte-addressable main memory</a:t>
            </a:r>
          </a:p>
          <a:p>
            <a:pPr>
              <a:spcBef>
                <a:spcPts val="576"/>
              </a:spcBef>
            </a:pPr>
            <a:r>
              <a:rPr lang="en-US" dirty="0"/>
              <a:t>Questions:</a:t>
            </a:r>
          </a:p>
          <a:p>
            <a:pPr marL="684213" lvl="1" indent="-284163">
              <a:spcBef>
                <a:spcPts val="576"/>
              </a:spcBef>
              <a:buFont typeface="+mj-lt"/>
              <a:buAutoNum type="arabicPeriod"/>
            </a:pPr>
            <a:r>
              <a:rPr lang="en-US" dirty="0"/>
              <a:t>How many blocks of main memory are there?</a:t>
            </a:r>
          </a:p>
          <a:p>
            <a:pPr marL="684213" lvl="1" indent="-284163"/>
            <a:r>
              <a:rPr lang="en-US" dirty="0"/>
              <a:t>Main memory: 2</a:t>
            </a:r>
            <a:r>
              <a:rPr lang="en-US" baseline="30000" dirty="0"/>
              <a:t>20</a:t>
            </a:r>
            <a:r>
              <a:rPr lang="en-US" dirty="0"/>
              <a:t> bytes</a:t>
            </a:r>
          </a:p>
          <a:p>
            <a:pPr marL="684213" lvl="1" indent="-284163"/>
            <a:r>
              <a:rPr lang="en-US" dirty="0"/>
              <a:t>2</a:t>
            </a:r>
            <a:r>
              <a:rPr lang="en-US" baseline="30000" dirty="0"/>
              <a:t>4</a:t>
            </a:r>
            <a:r>
              <a:rPr lang="en-US" dirty="0"/>
              <a:t> bytes per block</a:t>
            </a:r>
          </a:p>
          <a:p>
            <a:pPr marL="684213" lvl="1" indent="-284163"/>
            <a:r>
              <a:rPr lang="en-US" dirty="0"/>
              <a:t>2</a:t>
            </a:r>
            <a:r>
              <a:rPr lang="en-US" baseline="30000" dirty="0"/>
              <a:t>16</a:t>
            </a:r>
            <a:r>
              <a:rPr lang="en-US" dirty="0"/>
              <a:t> blocks of main memory (2</a:t>
            </a:r>
            <a:r>
              <a:rPr lang="en-US" baseline="30000" dirty="0"/>
              <a:t>20</a:t>
            </a:r>
            <a:r>
              <a:rPr lang="en-US" dirty="0"/>
              <a:t> / 2</a:t>
            </a:r>
            <a:r>
              <a:rPr lang="en-US" baseline="30000" dirty="0"/>
              <a:t>4</a:t>
            </a:r>
            <a:r>
              <a:rPr lang="en-US" dirty="0"/>
              <a:t>)</a:t>
            </a:r>
          </a:p>
          <a:p>
            <a:pPr>
              <a:spcBef>
                <a:spcPts val="576"/>
              </a:spcBef>
            </a:pPr>
            <a:endParaRPr lang="en-US" altLang="en-US" dirty="0"/>
          </a:p>
          <a:p>
            <a:pPr>
              <a:spcBef>
                <a:spcPts val="576"/>
              </a:spcBef>
            </a:pPr>
            <a:endParaRPr lang="en-US" dirty="0"/>
          </a:p>
        </p:txBody>
      </p:sp>
    </p:spTree>
    <p:extLst>
      <p:ext uri="{BB962C8B-B14F-4D97-AF65-F5344CB8AC3E}">
        <p14:creationId xmlns:p14="http://schemas.microsoft.com/office/powerpoint/2010/main" val="11399068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#7</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spcBef>
                    <a:spcPts val="576"/>
                  </a:spcBef>
                </a:pPr>
                <a:r>
                  <a:rPr lang="en-US" dirty="0"/>
                  <a:t>Consider a computer with:</a:t>
                </a:r>
              </a:p>
              <a:p>
                <a:pPr lvl="1">
                  <a:spcBef>
                    <a:spcPts val="576"/>
                  </a:spcBef>
                </a:pPr>
                <a:r>
                  <a:rPr lang="en-US" dirty="0"/>
                  <a:t>Direct mapped cache with 32 blocks</a:t>
                </a:r>
              </a:p>
              <a:p>
                <a:pPr lvl="1">
                  <a:spcBef>
                    <a:spcPts val="576"/>
                  </a:spcBef>
                </a:pPr>
                <a:r>
                  <a:rPr lang="en-US" dirty="0"/>
                  <a:t>Each cache block is 16 bytes</a:t>
                </a:r>
              </a:p>
              <a:p>
                <a:pPr lvl="1">
                  <a:spcBef>
                    <a:spcPts val="576"/>
                  </a:spcBef>
                </a:pPr>
                <a:r>
                  <a:rPr lang="en-US" dirty="0"/>
                  <a:t>2</a:t>
                </a:r>
                <a:r>
                  <a:rPr lang="en-US" baseline="30000" dirty="0"/>
                  <a:t>20</a:t>
                </a:r>
                <a:r>
                  <a:rPr lang="en-US" dirty="0"/>
                  <a:t> bytes of byte-addressable main memory</a:t>
                </a:r>
              </a:p>
              <a:p>
                <a:pPr>
                  <a:spcBef>
                    <a:spcPts val="576"/>
                  </a:spcBef>
                </a:pPr>
                <a:r>
                  <a:rPr lang="en-US" dirty="0"/>
                  <a:t>Questions:</a:t>
                </a:r>
              </a:p>
              <a:p>
                <a:pPr marL="684213" lvl="1" indent="-339725">
                  <a:buFont typeface="+mj-lt"/>
                  <a:buAutoNum type="arabicPeriod" startAt="2"/>
                </a:pPr>
                <a:r>
                  <a:rPr lang="en-US" dirty="0"/>
                  <a:t>What is the format of a memory address as seen by the cache (i.e., what are the sizes of tag, block, and offset fields)?</a:t>
                </a:r>
              </a:p>
              <a:p>
                <a:pPr lvl="1"/>
                <a:r>
                  <a:rPr lang="en-US" dirty="0"/>
                  <a:t>Offset: 4 bits (2</a:t>
                </a:r>
                <a:r>
                  <a:rPr lang="en-US" baseline="30000" dirty="0"/>
                  <a:t>4</a:t>
                </a:r>
                <a:r>
                  <a:rPr lang="en-US" dirty="0"/>
                  <a:t> bytes per block)</a:t>
                </a:r>
              </a:p>
              <a:p>
                <a:pPr lvl="1"/>
                <a:r>
                  <a:rPr lang="en-US" dirty="0"/>
                  <a:t>Block: 5 bits (2</a:t>
                </a:r>
                <a:r>
                  <a:rPr lang="en-US" baseline="30000" dirty="0"/>
                  <a:t>5</a:t>
                </a:r>
                <a:r>
                  <a:rPr lang="en-US" dirty="0"/>
                  <a:t> cache blocks)</a:t>
                </a:r>
              </a:p>
              <a:p>
                <a:pPr lvl="1"/>
                <a:r>
                  <a:rPr lang="en-US" dirty="0"/>
                  <a:t>Tag: 11 bits (</a:t>
                </a:r>
                <a14:m>
                  <m:oMath xmlns:m="http://schemas.openxmlformats.org/officeDocument/2006/math">
                    <m:r>
                      <a:rPr lang="en-US" i="1" dirty="0" smtClean="0">
                        <a:latin typeface="Cambria Math" panose="02040503050406030204" pitchFamily="18" charset="0"/>
                      </a:rPr>
                      <m:t>20−5−4</m:t>
                    </m:r>
                  </m:oMath>
                </a14:m>
                <a:r>
                  <a:rPr lang="en-US" dirty="0"/>
                  <a:t>)</a:t>
                </a:r>
              </a:p>
              <a:p>
                <a:pPr>
                  <a:spcBef>
                    <a:spcPts val="576"/>
                  </a:spcBef>
                </a:pPr>
                <a:endParaRPr lang="en-US" altLang="en-US" dirty="0"/>
              </a:p>
              <a:p>
                <a:pPr>
                  <a:spcBef>
                    <a:spcPts val="576"/>
                  </a:spcBef>
                </a:pPr>
                <a:endParaRPr lang="en-US" dirty="0"/>
              </a:p>
            </p:txBody>
          </p:sp>
        </mc:Choice>
        <mc:Fallback xmlns="">
          <p:sp>
            <p:nvSpPr>
              <p:cNvPr id="3" name="Content Placeholder 2">
                <a:extLst>
                  <a:ext uri="{FF2B5EF4-FFF2-40B4-BE49-F238E27FC236}">
                    <a16:creationId xmlns:a16="http://schemas.microsoft.com/office/drawing/2014/main" xmlns:a14="http://schemas.microsoft.com/office/drawing/2010/main" xmlns="" id="{2425F833-F48A-41AB-BDF3-AE0A36E8B10B}"/>
                  </a:ext>
                </a:extLst>
              </p:cNvPr>
              <p:cNvSpPr>
                <a:spLocks noGrp="1" noRot="1" noChangeAspect="1" noMove="1" noResize="1" noEditPoints="1" noAdjustHandles="1" noChangeArrowheads="1" noChangeShapeType="1" noTextEdit="1"/>
              </p:cNvSpPr>
              <p:nvPr>
                <p:ph idx="1"/>
              </p:nvPr>
            </p:nvSpPr>
            <p:spPr>
              <a:blipFill rotWithShape="0">
                <a:blip r:embed="rId2"/>
                <a:stretch>
                  <a:fillRect t="-928"/>
                </a:stretch>
              </a:blipFill>
            </p:spPr>
            <p:txBody>
              <a:bodyPr/>
              <a:lstStyle/>
              <a:p>
                <a:r>
                  <a:rPr lang="en-US">
                    <a:noFill/>
                  </a:rPr>
                  <a:t> </a:t>
                </a:r>
              </a:p>
            </p:txBody>
          </p:sp>
        </mc:Fallback>
      </mc:AlternateContent>
    </p:spTree>
    <p:extLst>
      <p:ext uri="{BB962C8B-B14F-4D97-AF65-F5344CB8AC3E}">
        <p14:creationId xmlns:p14="http://schemas.microsoft.com/office/powerpoint/2010/main" val="1056297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#7</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spcBef>
                <a:spcPts val="576"/>
              </a:spcBef>
            </a:pPr>
            <a:r>
              <a:rPr lang="en-US" dirty="0"/>
              <a:t>Consider a computer with:</a:t>
            </a:r>
          </a:p>
          <a:p>
            <a:pPr lvl="1">
              <a:spcBef>
                <a:spcPts val="576"/>
              </a:spcBef>
            </a:pPr>
            <a:r>
              <a:rPr lang="en-US" dirty="0"/>
              <a:t>Direct mapped cache with 32 blocks</a:t>
            </a:r>
          </a:p>
          <a:p>
            <a:pPr lvl="1">
              <a:spcBef>
                <a:spcPts val="576"/>
              </a:spcBef>
            </a:pPr>
            <a:r>
              <a:rPr lang="en-US" dirty="0"/>
              <a:t>Each cache block is 16 bytes</a:t>
            </a:r>
          </a:p>
          <a:p>
            <a:pPr lvl="1">
              <a:spcBef>
                <a:spcPts val="576"/>
              </a:spcBef>
            </a:pPr>
            <a:r>
              <a:rPr lang="en-US" dirty="0"/>
              <a:t>2</a:t>
            </a:r>
            <a:r>
              <a:rPr lang="en-US" baseline="30000" dirty="0"/>
              <a:t>20</a:t>
            </a:r>
            <a:r>
              <a:rPr lang="en-US" dirty="0"/>
              <a:t> bytes of byte-addressable main memory</a:t>
            </a:r>
          </a:p>
          <a:p>
            <a:pPr>
              <a:spcBef>
                <a:spcPts val="576"/>
              </a:spcBef>
            </a:pPr>
            <a:r>
              <a:rPr lang="en-US" dirty="0"/>
              <a:t>Questions:</a:t>
            </a:r>
          </a:p>
          <a:p>
            <a:pPr marL="630238" lvl="1" indent="-285750">
              <a:buFont typeface="+mj-lt"/>
              <a:buAutoNum type="arabicPeriod" startAt="3"/>
            </a:pPr>
            <a:r>
              <a:rPr lang="en-US" dirty="0"/>
              <a:t>To which cache block will the memory address 0x0DB63 map?</a:t>
            </a:r>
          </a:p>
          <a:p>
            <a:pPr lvl="1"/>
            <a:r>
              <a:rPr lang="en-US" dirty="0"/>
              <a:t>Memory address memory address 0x0DB63 is:</a:t>
            </a:r>
          </a:p>
          <a:p>
            <a:pPr lvl="2"/>
            <a:r>
              <a:rPr lang="en-US" dirty="0"/>
              <a:t>0000 1101 1011 0110 0011</a:t>
            </a:r>
            <a:r>
              <a:rPr lang="en-US" baseline="-25000" dirty="0"/>
              <a:t>2</a:t>
            </a:r>
          </a:p>
          <a:p>
            <a:pPr lvl="2"/>
            <a:r>
              <a:rPr lang="en-US" dirty="0"/>
              <a:t>00001101101    10110    0011</a:t>
            </a:r>
            <a:r>
              <a:rPr lang="en-US" baseline="-25000" dirty="0"/>
              <a:t>2</a:t>
            </a:r>
            <a:endParaRPr lang="en-US" dirty="0"/>
          </a:p>
          <a:p>
            <a:pPr lvl="2"/>
            <a:r>
              <a:rPr lang="en-US" dirty="0"/>
              <a:t>Maps to cache block 10110</a:t>
            </a:r>
            <a:r>
              <a:rPr lang="en-US" baseline="-25000" dirty="0"/>
              <a:t>2</a:t>
            </a:r>
            <a:r>
              <a:rPr lang="en-US" dirty="0"/>
              <a:t> = 22</a:t>
            </a:r>
            <a:r>
              <a:rPr lang="en-US" baseline="-25000" dirty="0"/>
              <a:t>10</a:t>
            </a:r>
            <a:r>
              <a:rPr lang="en-US" dirty="0"/>
              <a:t>  </a:t>
            </a:r>
          </a:p>
          <a:p>
            <a:pPr>
              <a:spcBef>
                <a:spcPts val="576"/>
              </a:spcBef>
            </a:pPr>
            <a:endParaRPr lang="en-US" altLang="en-US" dirty="0"/>
          </a:p>
          <a:p>
            <a:pPr>
              <a:spcBef>
                <a:spcPts val="576"/>
              </a:spcBef>
            </a:pPr>
            <a:endParaRPr lang="en-US" dirty="0"/>
          </a:p>
        </p:txBody>
      </p:sp>
      <p:sp>
        <p:nvSpPr>
          <p:cNvPr id="5" name="Rectangle 4"/>
          <p:cNvSpPr/>
          <p:nvPr/>
        </p:nvSpPr>
        <p:spPr>
          <a:xfrm>
            <a:off x="7086600" y="1617583"/>
            <a:ext cx="4876800" cy="1354217"/>
          </a:xfrm>
          <a:prstGeom prst="rect">
            <a:avLst/>
          </a:prstGeom>
        </p:spPr>
        <p:txBody>
          <a:bodyPr wrap="square">
            <a:spAutoFit/>
          </a:bodyPr>
          <a:lstStyle/>
          <a:p>
            <a:pPr marL="228600" indent="-228600">
              <a:spcBef>
                <a:spcPts val="576"/>
              </a:spcBef>
              <a:buFont typeface="Arial" panose="020B0604020202020204" pitchFamily="34" charset="0"/>
              <a:buChar char="•"/>
            </a:pPr>
            <a:r>
              <a:rPr lang="sv-SE" sz="2400" dirty="0">
                <a:latin typeface="+mj-lt"/>
              </a:rPr>
              <a:t>Offset: 4 bits (24 bytes per block)</a:t>
            </a:r>
          </a:p>
          <a:p>
            <a:pPr marL="228600" indent="-228600">
              <a:spcBef>
                <a:spcPts val="576"/>
              </a:spcBef>
              <a:buFont typeface="Arial" panose="020B0604020202020204" pitchFamily="34" charset="0"/>
              <a:buChar char="•"/>
            </a:pPr>
            <a:r>
              <a:rPr lang="sv-SE" sz="2400" dirty="0">
                <a:latin typeface="+mj-lt"/>
              </a:rPr>
              <a:t>Block: 5 bits (25 cache blocks)</a:t>
            </a:r>
          </a:p>
          <a:p>
            <a:pPr marL="228600" indent="-228600">
              <a:spcBef>
                <a:spcPts val="576"/>
              </a:spcBef>
              <a:buFont typeface="Arial" panose="020B0604020202020204" pitchFamily="34" charset="0"/>
              <a:buChar char="•"/>
            </a:pPr>
            <a:r>
              <a:rPr lang="sv-SE" sz="2400" dirty="0">
                <a:latin typeface="+mj-lt"/>
              </a:rPr>
              <a:t>Tag: 11 bits (20−5−4)</a:t>
            </a:r>
          </a:p>
        </p:txBody>
      </p:sp>
    </p:spTree>
    <p:extLst>
      <p:ext uri="{BB962C8B-B14F-4D97-AF65-F5344CB8AC3E}">
        <p14:creationId xmlns:p14="http://schemas.microsoft.com/office/powerpoint/2010/main" val="2249899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#8</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A byte-addressable computer has an 8-block cache of 4 bytes each</a:t>
            </a:r>
          </a:p>
          <a:p>
            <a:r>
              <a:rPr lang="en-US" dirty="0"/>
              <a:t>We trace memory accesses in this order: 0x01, 0x04, 0x09, 0x05, 0x14, 0x21, and 0x01 </a:t>
            </a:r>
          </a:p>
          <a:p>
            <a:r>
              <a:rPr lang="en-US" dirty="0"/>
              <a:t>The address format for direct mapped cache is:</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8643" y="4001294"/>
            <a:ext cx="5276850" cy="1601625"/>
          </a:xfrm>
          <a:prstGeom prst="rect">
            <a:avLst/>
          </a:prstGeom>
        </p:spPr>
      </p:pic>
    </p:spTree>
    <p:extLst>
      <p:ext uri="{BB962C8B-B14F-4D97-AF65-F5344CB8AC3E}">
        <p14:creationId xmlns:p14="http://schemas.microsoft.com/office/powerpoint/2010/main" val="2973961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524834" y="106194"/>
            <a:ext cx="10515600" cy="1325563"/>
          </a:xfrm>
        </p:spPr>
        <p:txBody>
          <a:bodyPr/>
          <a:lstStyle/>
          <a:p>
            <a:r>
              <a:rPr lang="en-US" altLang="en-US" dirty="0"/>
              <a:t>Direct Mapped Cache: Example #8</a:t>
            </a:r>
            <a:endParaRPr lang="en-US" dirty="0"/>
          </a:p>
        </p:txBody>
      </p:sp>
      <p:graphicFrame>
        <p:nvGraphicFramePr>
          <p:cNvPr id="5" name="Table 4">
            <a:extLst>
              <a:ext uri="{FF2B5EF4-FFF2-40B4-BE49-F238E27FC236}">
                <a16:creationId xmlns:a16="http://schemas.microsoft.com/office/drawing/2014/main" id="{5C23B4FB-0308-4224-979B-AD46CA017D68}"/>
              </a:ext>
            </a:extLst>
          </p:cNvPr>
          <p:cNvGraphicFramePr>
            <a:graphicFrameLocks noGrp="1"/>
          </p:cNvGraphicFramePr>
          <p:nvPr/>
        </p:nvGraphicFramePr>
        <p:xfrm>
          <a:off x="621087" y="1143000"/>
          <a:ext cx="8991600" cy="4114800"/>
        </p:xfrm>
        <a:graphic>
          <a:graphicData uri="http://schemas.openxmlformats.org/drawingml/2006/table">
            <a:tbl>
              <a:tblPr/>
              <a:tblGrid>
                <a:gridCol w="1371600">
                  <a:extLst>
                    <a:ext uri="{9D8B030D-6E8A-4147-A177-3AD203B41FA5}">
                      <a16:colId xmlns:a16="http://schemas.microsoft.com/office/drawing/2014/main" val="1114339817"/>
                    </a:ext>
                  </a:extLst>
                </a:gridCol>
                <a:gridCol w="5943600">
                  <a:extLst>
                    <a:ext uri="{9D8B030D-6E8A-4147-A177-3AD203B41FA5}">
                      <a16:colId xmlns:a16="http://schemas.microsoft.com/office/drawing/2014/main" val="667998181"/>
                    </a:ext>
                  </a:extLst>
                </a:gridCol>
                <a:gridCol w="1676400">
                  <a:extLst>
                    <a:ext uri="{9D8B030D-6E8A-4147-A177-3AD203B41FA5}">
                      <a16:colId xmlns:a16="http://schemas.microsoft.com/office/drawing/2014/main" val="1123026184"/>
                    </a:ext>
                  </a:extLst>
                </a:gridCol>
              </a:tblGrid>
              <a:tr h="0">
                <a:tc>
                  <a:txBody>
                    <a:bodyPr/>
                    <a:lstStyle/>
                    <a:p>
                      <a:pPr algn="ctr"/>
                      <a:r>
                        <a:rPr lang="en-US" sz="2400" b="1" dirty="0">
                          <a:effectLst/>
                          <a:latin typeface="+mj-lt"/>
                        </a:rPr>
                        <a:t>Block</a:t>
                      </a:r>
                      <a:endParaRPr lang="en-US" sz="2400" b="0" dirty="0">
                        <a:effectLst/>
                        <a:latin typeface="+mj-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mj-lt"/>
                        </a:rPr>
                        <a:t>Cache Contents (represented by address)</a:t>
                      </a:r>
                      <a:endParaRPr lang="en-US" sz="2400" b="0" dirty="0">
                        <a:effectLst/>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mj-lt"/>
                        </a:rPr>
                        <a:t>Tag</a:t>
                      </a:r>
                      <a:endParaRPr lang="en-US" sz="2400" b="0" dirty="0">
                        <a:effectLst/>
                        <a:latin typeface="+mj-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9057503"/>
                  </a:ext>
                </a:extLst>
              </a:tr>
              <a:tr h="0">
                <a:tc>
                  <a:txBody>
                    <a:bodyPr/>
                    <a:lstStyle/>
                    <a:p>
                      <a:pPr algn="ctr"/>
                      <a:r>
                        <a:rPr lang="en-US" sz="2400" b="1" dirty="0">
                          <a:effectLst/>
                          <a:latin typeface="Courier New" panose="02070309020205020404" pitchFamily="49" charset="0"/>
                          <a:cs typeface="Courier New" panose="02070309020205020404" pitchFamily="49" charset="0"/>
                        </a:rPr>
                        <a:t>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9374126"/>
                  </a:ext>
                </a:extLst>
              </a:tr>
              <a:tr h="0">
                <a:tc>
                  <a:txBody>
                    <a:bodyPr/>
                    <a:lstStyle/>
                    <a:p>
                      <a:pPr algn="ctr"/>
                      <a:r>
                        <a:rPr lang="en-US" sz="2400" b="1" dirty="0">
                          <a:effectLst/>
                          <a:latin typeface="Courier New" panose="02070309020205020404" pitchFamily="49" charset="0"/>
                          <a:cs typeface="Courier New" panose="02070309020205020404" pitchFamily="49" charset="0"/>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689195"/>
                  </a:ext>
                </a:extLst>
              </a:tr>
              <a:tr h="0">
                <a:tc>
                  <a:txBody>
                    <a:bodyPr/>
                    <a:lstStyle/>
                    <a:p>
                      <a:pPr algn="ctr"/>
                      <a:r>
                        <a:rPr lang="en-US" sz="2400" b="1" dirty="0">
                          <a:effectLst/>
                          <a:latin typeface="Courier New" panose="02070309020205020404" pitchFamily="49" charset="0"/>
                          <a:cs typeface="Courier New" panose="02070309020205020404" pitchFamily="49" charset="0"/>
                        </a:rPr>
                        <a:t>2</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437690"/>
                  </a:ext>
                </a:extLst>
              </a:tr>
              <a:tr h="0">
                <a:tc>
                  <a:txBody>
                    <a:bodyPr/>
                    <a:lstStyle/>
                    <a:p>
                      <a:pPr algn="ctr"/>
                      <a:r>
                        <a:rPr lang="en-US" sz="2400" b="1" dirty="0">
                          <a:effectLst/>
                          <a:latin typeface="Courier New" panose="02070309020205020404" pitchFamily="49" charset="0"/>
                          <a:cs typeface="Courier New" panose="02070309020205020404" pitchFamily="49" charset="0"/>
                        </a:rPr>
                        <a:t>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5435610"/>
                  </a:ext>
                </a:extLst>
              </a:tr>
              <a:tr h="0">
                <a:tc>
                  <a:txBody>
                    <a:bodyPr/>
                    <a:lstStyle/>
                    <a:p>
                      <a:pPr algn="ctr"/>
                      <a:r>
                        <a:rPr lang="en-US" sz="2400" b="1" dirty="0">
                          <a:effectLst/>
                          <a:latin typeface="Courier New" panose="02070309020205020404" pitchFamily="49" charset="0"/>
                          <a:cs typeface="Courier New" panose="02070309020205020404" pitchFamily="49" charset="0"/>
                        </a:rPr>
                        <a:t>4</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4131507"/>
                  </a:ext>
                </a:extLst>
              </a:tr>
              <a:tr h="0">
                <a:tc>
                  <a:txBody>
                    <a:bodyPr/>
                    <a:lstStyle/>
                    <a:p>
                      <a:pPr algn="ctr"/>
                      <a:r>
                        <a:rPr lang="en-US" sz="2400" b="1" dirty="0">
                          <a:effectLst/>
                          <a:latin typeface="Courier New" panose="02070309020205020404" pitchFamily="49" charset="0"/>
                          <a:cs typeface="Courier New" panose="02070309020205020404" pitchFamily="49" charset="0"/>
                        </a:rPr>
                        <a:t>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8244696"/>
                  </a:ext>
                </a:extLst>
              </a:tr>
              <a:tr h="0">
                <a:tc>
                  <a:txBody>
                    <a:bodyPr/>
                    <a:lstStyle/>
                    <a:p>
                      <a:pPr algn="ctr"/>
                      <a:r>
                        <a:rPr lang="en-US" sz="2400" b="1" dirty="0">
                          <a:effectLst/>
                          <a:latin typeface="Courier New" panose="02070309020205020404" pitchFamily="49" charset="0"/>
                          <a:cs typeface="Courier New" panose="02070309020205020404" pitchFamily="49" charset="0"/>
                        </a:rPr>
                        <a:t>6</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4437838"/>
                  </a:ext>
                </a:extLst>
              </a:tr>
              <a:tr h="0">
                <a:tc>
                  <a:txBody>
                    <a:bodyPr/>
                    <a:lstStyle/>
                    <a:p>
                      <a:pPr algn="ctr"/>
                      <a:r>
                        <a:rPr lang="en-US" sz="2400" b="1" dirty="0">
                          <a:effectLst/>
                          <a:latin typeface="Courier New" panose="02070309020205020404" pitchFamily="49" charset="0"/>
                          <a:cs typeface="Courier New" panose="02070309020205020404" pitchFamily="49" charset="0"/>
                        </a:rPr>
                        <a:t>7</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0815365"/>
                  </a:ext>
                </a:extLst>
              </a:tr>
            </a:tbl>
          </a:graphicData>
        </a:graphic>
      </p:graphicFrame>
    </p:spTree>
    <p:extLst>
      <p:ext uri="{BB962C8B-B14F-4D97-AF65-F5344CB8AC3E}">
        <p14:creationId xmlns:p14="http://schemas.microsoft.com/office/powerpoint/2010/main" val="14751635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#8</a:t>
            </a:r>
            <a:endParaRPr lang="en-US" dirty="0"/>
          </a:p>
        </p:txBody>
      </p:sp>
      <p:sp>
        <p:nvSpPr>
          <p:cNvPr id="10" name="Content Placeholder 9"/>
          <p:cNvSpPr>
            <a:spLocks noGrp="1"/>
          </p:cNvSpPr>
          <p:nvPr>
            <p:ph idx="1"/>
          </p:nvPr>
        </p:nvSpPr>
        <p:spPr/>
        <p:txBody>
          <a:bodyPr/>
          <a:lstStyle/>
          <a:p>
            <a:r>
              <a:rPr lang="en-US" dirty="0"/>
              <a:t>Address reference: 0x01</a:t>
            </a:r>
          </a:p>
          <a:p>
            <a:r>
              <a:rPr lang="en-US" dirty="0"/>
              <a:t>Address divided into fields: 000 000 01</a:t>
            </a:r>
          </a:p>
          <a:p>
            <a:r>
              <a:rPr lang="en-US" dirty="0"/>
              <a:t>Hit or miss? Miss</a:t>
            </a:r>
          </a:p>
          <a:p>
            <a:r>
              <a:rPr lang="en-US" dirty="0"/>
              <a:t>If we check cache block 000 for the tag 000, we find that it is not there.</a:t>
            </a:r>
          </a:p>
          <a:p>
            <a:r>
              <a:rPr lang="en-US" dirty="0"/>
              <a:t>So, we copy the data from addresses 0x00, 0x01, 0x02 and 0x03 into cache block 0 and store the tag 000 for that block.</a:t>
            </a:r>
          </a:p>
        </p:txBody>
      </p:sp>
    </p:spTree>
    <p:extLst>
      <p:ext uri="{BB962C8B-B14F-4D97-AF65-F5344CB8AC3E}">
        <p14:creationId xmlns:p14="http://schemas.microsoft.com/office/powerpoint/2010/main" val="39383161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621087" y="274637"/>
            <a:ext cx="10515600" cy="1325563"/>
          </a:xfrm>
        </p:spPr>
        <p:txBody>
          <a:bodyPr/>
          <a:lstStyle/>
          <a:p>
            <a:r>
              <a:rPr lang="en-US" altLang="en-US" dirty="0"/>
              <a:t>Direct Mapped Cache: Example #8</a:t>
            </a:r>
            <a:endParaRPr lang="en-US" dirty="0"/>
          </a:p>
        </p:txBody>
      </p:sp>
      <p:graphicFrame>
        <p:nvGraphicFramePr>
          <p:cNvPr id="5" name="Table 4">
            <a:extLst>
              <a:ext uri="{FF2B5EF4-FFF2-40B4-BE49-F238E27FC236}">
                <a16:creationId xmlns:a16="http://schemas.microsoft.com/office/drawing/2014/main" id="{5C23B4FB-0308-4224-979B-AD46CA017D68}"/>
              </a:ext>
            </a:extLst>
          </p:cNvPr>
          <p:cNvGraphicFramePr>
            <a:graphicFrameLocks noGrp="1"/>
          </p:cNvGraphicFramePr>
          <p:nvPr/>
        </p:nvGraphicFramePr>
        <p:xfrm>
          <a:off x="621087" y="1143000"/>
          <a:ext cx="8991600" cy="4114800"/>
        </p:xfrm>
        <a:graphic>
          <a:graphicData uri="http://schemas.openxmlformats.org/drawingml/2006/table">
            <a:tbl>
              <a:tblPr/>
              <a:tblGrid>
                <a:gridCol w="1371600">
                  <a:extLst>
                    <a:ext uri="{9D8B030D-6E8A-4147-A177-3AD203B41FA5}">
                      <a16:colId xmlns:a16="http://schemas.microsoft.com/office/drawing/2014/main" val="1114339817"/>
                    </a:ext>
                  </a:extLst>
                </a:gridCol>
                <a:gridCol w="5943600">
                  <a:extLst>
                    <a:ext uri="{9D8B030D-6E8A-4147-A177-3AD203B41FA5}">
                      <a16:colId xmlns:a16="http://schemas.microsoft.com/office/drawing/2014/main" val="667998181"/>
                    </a:ext>
                  </a:extLst>
                </a:gridCol>
                <a:gridCol w="1676400">
                  <a:extLst>
                    <a:ext uri="{9D8B030D-6E8A-4147-A177-3AD203B41FA5}">
                      <a16:colId xmlns:a16="http://schemas.microsoft.com/office/drawing/2014/main" val="1123026184"/>
                    </a:ext>
                  </a:extLst>
                </a:gridCol>
              </a:tblGrid>
              <a:tr h="0">
                <a:tc>
                  <a:txBody>
                    <a:bodyPr/>
                    <a:lstStyle/>
                    <a:p>
                      <a:pPr algn="ctr"/>
                      <a:r>
                        <a:rPr lang="en-US" sz="2400" b="1" dirty="0">
                          <a:effectLst/>
                          <a:latin typeface="+mj-lt"/>
                        </a:rPr>
                        <a:t>Block</a:t>
                      </a:r>
                      <a:endParaRPr lang="en-US" sz="2400" b="0" dirty="0">
                        <a:effectLst/>
                        <a:latin typeface="+mj-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mj-lt"/>
                        </a:rPr>
                        <a:t>Cache Contents (represented by address)</a:t>
                      </a:r>
                      <a:endParaRPr lang="en-US" sz="2400" b="0" dirty="0">
                        <a:effectLst/>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mj-lt"/>
                        </a:rPr>
                        <a:t>Tag</a:t>
                      </a:r>
                      <a:endParaRPr lang="en-US" sz="2400" b="0" dirty="0">
                        <a:effectLst/>
                        <a:latin typeface="+mj-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9057503"/>
                  </a:ext>
                </a:extLst>
              </a:tr>
              <a:tr h="0">
                <a:tc>
                  <a:txBody>
                    <a:bodyPr/>
                    <a:lstStyle/>
                    <a:p>
                      <a:pPr algn="ctr"/>
                      <a:r>
                        <a:rPr lang="en-US" sz="2400" b="1" dirty="0">
                          <a:effectLst/>
                          <a:latin typeface="Courier New" panose="02070309020205020404" pitchFamily="49" charset="0"/>
                          <a:cs typeface="Courier New" panose="02070309020205020404" pitchFamily="49" charset="0"/>
                        </a:rPr>
                        <a:t>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0x00, 0x01, 0x02, 0x03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9374126"/>
                  </a:ext>
                </a:extLst>
              </a:tr>
              <a:tr h="0">
                <a:tc>
                  <a:txBody>
                    <a:bodyPr/>
                    <a:lstStyle/>
                    <a:p>
                      <a:pPr algn="ctr"/>
                      <a:r>
                        <a:rPr lang="en-US" sz="2400" b="1" dirty="0">
                          <a:effectLst/>
                          <a:latin typeface="Courier New" panose="02070309020205020404" pitchFamily="49" charset="0"/>
                          <a:cs typeface="Courier New" panose="02070309020205020404" pitchFamily="49" charset="0"/>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689195"/>
                  </a:ext>
                </a:extLst>
              </a:tr>
              <a:tr h="0">
                <a:tc>
                  <a:txBody>
                    <a:bodyPr/>
                    <a:lstStyle/>
                    <a:p>
                      <a:pPr algn="ctr"/>
                      <a:r>
                        <a:rPr lang="en-US" sz="2400" b="1" dirty="0">
                          <a:effectLst/>
                          <a:latin typeface="Courier New" panose="02070309020205020404" pitchFamily="49" charset="0"/>
                          <a:cs typeface="Courier New" panose="02070309020205020404" pitchFamily="49" charset="0"/>
                        </a:rPr>
                        <a:t>2</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437690"/>
                  </a:ext>
                </a:extLst>
              </a:tr>
              <a:tr h="0">
                <a:tc>
                  <a:txBody>
                    <a:bodyPr/>
                    <a:lstStyle/>
                    <a:p>
                      <a:pPr algn="ctr"/>
                      <a:r>
                        <a:rPr lang="en-US" sz="2400" b="1" dirty="0">
                          <a:effectLst/>
                          <a:latin typeface="Courier New" panose="02070309020205020404" pitchFamily="49" charset="0"/>
                          <a:cs typeface="Courier New" panose="02070309020205020404" pitchFamily="49" charset="0"/>
                        </a:rPr>
                        <a:t>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5435610"/>
                  </a:ext>
                </a:extLst>
              </a:tr>
              <a:tr h="0">
                <a:tc>
                  <a:txBody>
                    <a:bodyPr/>
                    <a:lstStyle/>
                    <a:p>
                      <a:pPr algn="ctr"/>
                      <a:r>
                        <a:rPr lang="en-US" sz="2400" b="1" dirty="0">
                          <a:effectLst/>
                          <a:latin typeface="Courier New" panose="02070309020205020404" pitchFamily="49" charset="0"/>
                          <a:cs typeface="Courier New" panose="02070309020205020404" pitchFamily="49" charset="0"/>
                        </a:rPr>
                        <a:t>4</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4131507"/>
                  </a:ext>
                </a:extLst>
              </a:tr>
              <a:tr h="0">
                <a:tc>
                  <a:txBody>
                    <a:bodyPr/>
                    <a:lstStyle/>
                    <a:p>
                      <a:pPr algn="ctr"/>
                      <a:r>
                        <a:rPr lang="en-US" sz="2400" b="1" dirty="0">
                          <a:effectLst/>
                          <a:latin typeface="Courier New" panose="02070309020205020404" pitchFamily="49" charset="0"/>
                          <a:cs typeface="Courier New" panose="02070309020205020404" pitchFamily="49" charset="0"/>
                        </a:rPr>
                        <a:t>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8244696"/>
                  </a:ext>
                </a:extLst>
              </a:tr>
              <a:tr h="0">
                <a:tc>
                  <a:txBody>
                    <a:bodyPr/>
                    <a:lstStyle/>
                    <a:p>
                      <a:pPr algn="ctr"/>
                      <a:r>
                        <a:rPr lang="en-US" sz="2400" b="1" dirty="0">
                          <a:effectLst/>
                          <a:latin typeface="Courier New" panose="02070309020205020404" pitchFamily="49" charset="0"/>
                          <a:cs typeface="Courier New" panose="02070309020205020404" pitchFamily="49" charset="0"/>
                        </a:rPr>
                        <a:t>6</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4437838"/>
                  </a:ext>
                </a:extLst>
              </a:tr>
              <a:tr h="0">
                <a:tc>
                  <a:txBody>
                    <a:bodyPr/>
                    <a:lstStyle/>
                    <a:p>
                      <a:pPr algn="ctr"/>
                      <a:r>
                        <a:rPr lang="en-US" sz="2400" b="1" dirty="0">
                          <a:effectLst/>
                          <a:latin typeface="Courier New" panose="02070309020205020404" pitchFamily="49" charset="0"/>
                          <a:cs typeface="Courier New" panose="02070309020205020404" pitchFamily="49" charset="0"/>
                        </a:rPr>
                        <a:t>7</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0815365"/>
                  </a:ext>
                </a:extLst>
              </a:tr>
            </a:tbl>
          </a:graphicData>
        </a:graphic>
      </p:graphicFrame>
    </p:spTree>
    <p:extLst>
      <p:ext uri="{BB962C8B-B14F-4D97-AF65-F5344CB8AC3E}">
        <p14:creationId xmlns:p14="http://schemas.microsoft.com/office/powerpoint/2010/main" val="38690645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#8</a:t>
            </a:r>
            <a:endParaRPr lang="en-US" dirty="0"/>
          </a:p>
        </p:txBody>
      </p:sp>
      <p:sp>
        <p:nvSpPr>
          <p:cNvPr id="10" name="Content Placeholder 9"/>
          <p:cNvSpPr>
            <a:spLocks noGrp="1"/>
          </p:cNvSpPr>
          <p:nvPr>
            <p:ph idx="1"/>
          </p:nvPr>
        </p:nvSpPr>
        <p:spPr/>
        <p:txBody>
          <a:bodyPr/>
          <a:lstStyle/>
          <a:p>
            <a:r>
              <a:rPr lang="en-US" dirty="0"/>
              <a:t>Address reference: 0x04</a:t>
            </a:r>
          </a:p>
          <a:p>
            <a:r>
              <a:rPr lang="en-US" dirty="0"/>
              <a:t>Address divided into fields: 000 001 00</a:t>
            </a:r>
          </a:p>
          <a:p>
            <a:r>
              <a:rPr lang="en-US" dirty="0"/>
              <a:t>Hit or miss? Miss</a:t>
            </a:r>
          </a:p>
          <a:p>
            <a:r>
              <a:rPr lang="en-US" dirty="0"/>
              <a:t>If we check cache block 001 for the tag 000, we find that it is not there.</a:t>
            </a:r>
          </a:p>
          <a:p>
            <a:r>
              <a:rPr lang="en-US" dirty="0"/>
              <a:t>So, we copy the data from addresses 0x04, 0x05, 0x06 and 0x07 into cache block 1 and store the tag 000 for that block.</a:t>
            </a:r>
          </a:p>
        </p:txBody>
      </p:sp>
    </p:spTree>
    <p:extLst>
      <p:ext uri="{BB962C8B-B14F-4D97-AF65-F5344CB8AC3E}">
        <p14:creationId xmlns:p14="http://schemas.microsoft.com/office/powerpoint/2010/main" val="13862857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705853" y="136525"/>
            <a:ext cx="10515600" cy="1325563"/>
          </a:xfrm>
        </p:spPr>
        <p:txBody>
          <a:bodyPr/>
          <a:lstStyle/>
          <a:p>
            <a:r>
              <a:rPr lang="en-US" altLang="en-US" dirty="0"/>
              <a:t>Direct Mapped Cache: Example #8</a:t>
            </a:r>
            <a:endParaRPr lang="en-US" dirty="0"/>
          </a:p>
        </p:txBody>
      </p:sp>
      <p:graphicFrame>
        <p:nvGraphicFramePr>
          <p:cNvPr id="5" name="Table 4">
            <a:extLst>
              <a:ext uri="{FF2B5EF4-FFF2-40B4-BE49-F238E27FC236}">
                <a16:creationId xmlns:a16="http://schemas.microsoft.com/office/drawing/2014/main" id="{5C23B4FB-0308-4224-979B-AD46CA017D68}"/>
              </a:ext>
            </a:extLst>
          </p:cNvPr>
          <p:cNvGraphicFramePr>
            <a:graphicFrameLocks noGrp="1"/>
          </p:cNvGraphicFramePr>
          <p:nvPr/>
        </p:nvGraphicFramePr>
        <p:xfrm>
          <a:off x="621087" y="1143000"/>
          <a:ext cx="8991600" cy="4114800"/>
        </p:xfrm>
        <a:graphic>
          <a:graphicData uri="http://schemas.openxmlformats.org/drawingml/2006/table">
            <a:tbl>
              <a:tblPr/>
              <a:tblGrid>
                <a:gridCol w="1371600">
                  <a:extLst>
                    <a:ext uri="{9D8B030D-6E8A-4147-A177-3AD203B41FA5}">
                      <a16:colId xmlns:a16="http://schemas.microsoft.com/office/drawing/2014/main" val="1114339817"/>
                    </a:ext>
                  </a:extLst>
                </a:gridCol>
                <a:gridCol w="5943600">
                  <a:extLst>
                    <a:ext uri="{9D8B030D-6E8A-4147-A177-3AD203B41FA5}">
                      <a16:colId xmlns:a16="http://schemas.microsoft.com/office/drawing/2014/main" val="667998181"/>
                    </a:ext>
                  </a:extLst>
                </a:gridCol>
                <a:gridCol w="1676400">
                  <a:extLst>
                    <a:ext uri="{9D8B030D-6E8A-4147-A177-3AD203B41FA5}">
                      <a16:colId xmlns:a16="http://schemas.microsoft.com/office/drawing/2014/main" val="1123026184"/>
                    </a:ext>
                  </a:extLst>
                </a:gridCol>
              </a:tblGrid>
              <a:tr h="0">
                <a:tc>
                  <a:txBody>
                    <a:bodyPr/>
                    <a:lstStyle/>
                    <a:p>
                      <a:pPr algn="ctr"/>
                      <a:r>
                        <a:rPr lang="en-US" sz="2400" b="1" dirty="0">
                          <a:effectLst/>
                          <a:latin typeface="+mj-lt"/>
                        </a:rPr>
                        <a:t>Block</a:t>
                      </a:r>
                      <a:endParaRPr lang="en-US" sz="2400" b="0" dirty="0">
                        <a:effectLst/>
                        <a:latin typeface="+mj-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mj-lt"/>
                        </a:rPr>
                        <a:t>Cache Contents (represented by address)</a:t>
                      </a:r>
                      <a:endParaRPr lang="en-US" sz="2400" b="0" dirty="0">
                        <a:effectLst/>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mj-lt"/>
                        </a:rPr>
                        <a:t>Tag</a:t>
                      </a:r>
                      <a:endParaRPr lang="en-US" sz="2400" b="0" dirty="0">
                        <a:effectLst/>
                        <a:latin typeface="+mj-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9057503"/>
                  </a:ext>
                </a:extLst>
              </a:tr>
              <a:tr h="0">
                <a:tc>
                  <a:txBody>
                    <a:bodyPr/>
                    <a:lstStyle/>
                    <a:p>
                      <a:pPr algn="ctr"/>
                      <a:r>
                        <a:rPr lang="en-US" sz="2400" b="1" dirty="0">
                          <a:effectLst/>
                          <a:latin typeface="Courier New" panose="02070309020205020404" pitchFamily="49" charset="0"/>
                          <a:cs typeface="Courier New" panose="02070309020205020404" pitchFamily="49" charset="0"/>
                        </a:rPr>
                        <a:t>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0x00, 0x01, 0x02, 0x03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9374126"/>
                  </a:ext>
                </a:extLst>
              </a:tr>
              <a:tr h="0">
                <a:tc>
                  <a:txBody>
                    <a:bodyPr/>
                    <a:lstStyle/>
                    <a:p>
                      <a:pPr algn="ctr"/>
                      <a:r>
                        <a:rPr lang="en-US" sz="2400" b="1" dirty="0">
                          <a:effectLst/>
                          <a:latin typeface="Courier New" panose="02070309020205020404" pitchFamily="49" charset="0"/>
                          <a:cs typeface="Courier New" panose="02070309020205020404" pitchFamily="49" charset="0"/>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0x04, 0x05, 0x06, 0x07</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689195"/>
                  </a:ext>
                </a:extLst>
              </a:tr>
              <a:tr h="0">
                <a:tc>
                  <a:txBody>
                    <a:bodyPr/>
                    <a:lstStyle/>
                    <a:p>
                      <a:pPr algn="ctr"/>
                      <a:r>
                        <a:rPr lang="en-US" sz="2400" b="1" dirty="0">
                          <a:effectLst/>
                          <a:latin typeface="Courier New" panose="02070309020205020404" pitchFamily="49" charset="0"/>
                          <a:cs typeface="Courier New" panose="02070309020205020404" pitchFamily="49" charset="0"/>
                        </a:rPr>
                        <a:t>2</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437690"/>
                  </a:ext>
                </a:extLst>
              </a:tr>
              <a:tr h="0">
                <a:tc>
                  <a:txBody>
                    <a:bodyPr/>
                    <a:lstStyle/>
                    <a:p>
                      <a:pPr algn="ctr"/>
                      <a:r>
                        <a:rPr lang="en-US" sz="2400" b="1" dirty="0">
                          <a:effectLst/>
                          <a:latin typeface="Courier New" panose="02070309020205020404" pitchFamily="49" charset="0"/>
                          <a:cs typeface="Courier New" panose="02070309020205020404" pitchFamily="49" charset="0"/>
                        </a:rPr>
                        <a:t>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5435610"/>
                  </a:ext>
                </a:extLst>
              </a:tr>
              <a:tr h="0">
                <a:tc>
                  <a:txBody>
                    <a:bodyPr/>
                    <a:lstStyle/>
                    <a:p>
                      <a:pPr algn="ctr"/>
                      <a:r>
                        <a:rPr lang="en-US" sz="2400" b="1" dirty="0">
                          <a:effectLst/>
                          <a:latin typeface="Courier New" panose="02070309020205020404" pitchFamily="49" charset="0"/>
                          <a:cs typeface="Courier New" panose="02070309020205020404" pitchFamily="49" charset="0"/>
                        </a:rPr>
                        <a:t>4</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4131507"/>
                  </a:ext>
                </a:extLst>
              </a:tr>
              <a:tr h="0">
                <a:tc>
                  <a:txBody>
                    <a:bodyPr/>
                    <a:lstStyle/>
                    <a:p>
                      <a:pPr algn="ctr"/>
                      <a:r>
                        <a:rPr lang="en-US" sz="2400" b="1" dirty="0">
                          <a:effectLst/>
                          <a:latin typeface="Courier New" panose="02070309020205020404" pitchFamily="49" charset="0"/>
                          <a:cs typeface="Courier New" panose="02070309020205020404" pitchFamily="49" charset="0"/>
                        </a:rPr>
                        <a:t>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8244696"/>
                  </a:ext>
                </a:extLst>
              </a:tr>
              <a:tr h="0">
                <a:tc>
                  <a:txBody>
                    <a:bodyPr/>
                    <a:lstStyle/>
                    <a:p>
                      <a:pPr algn="ctr"/>
                      <a:r>
                        <a:rPr lang="en-US" sz="2400" b="1" dirty="0">
                          <a:effectLst/>
                          <a:latin typeface="Courier New" panose="02070309020205020404" pitchFamily="49" charset="0"/>
                          <a:cs typeface="Courier New" panose="02070309020205020404" pitchFamily="49" charset="0"/>
                        </a:rPr>
                        <a:t>6</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4437838"/>
                  </a:ext>
                </a:extLst>
              </a:tr>
              <a:tr h="0">
                <a:tc>
                  <a:txBody>
                    <a:bodyPr/>
                    <a:lstStyle/>
                    <a:p>
                      <a:pPr algn="ctr"/>
                      <a:r>
                        <a:rPr lang="en-US" sz="2400" b="1" dirty="0">
                          <a:effectLst/>
                          <a:latin typeface="Courier New" panose="02070309020205020404" pitchFamily="49" charset="0"/>
                          <a:cs typeface="Courier New" panose="02070309020205020404" pitchFamily="49" charset="0"/>
                        </a:rPr>
                        <a:t>7</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0815365"/>
                  </a:ext>
                </a:extLst>
              </a:tr>
            </a:tbl>
          </a:graphicData>
        </a:graphic>
      </p:graphicFrame>
    </p:spTree>
    <p:extLst>
      <p:ext uri="{BB962C8B-B14F-4D97-AF65-F5344CB8AC3E}">
        <p14:creationId xmlns:p14="http://schemas.microsoft.com/office/powerpoint/2010/main" val="32414434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#8</a:t>
            </a:r>
            <a:endParaRPr lang="en-US" dirty="0"/>
          </a:p>
        </p:txBody>
      </p:sp>
      <p:sp>
        <p:nvSpPr>
          <p:cNvPr id="10" name="Content Placeholder 9"/>
          <p:cNvSpPr>
            <a:spLocks noGrp="1"/>
          </p:cNvSpPr>
          <p:nvPr>
            <p:ph idx="1"/>
          </p:nvPr>
        </p:nvSpPr>
        <p:spPr/>
        <p:txBody>
          <a:bodyPr/>
          <a:lstStyle/>
          <a:p>
            <a:r>
              <a:rPr lang="en-US" dirty="0"/>
              <a:t>Address reference: 0x09</a:t>
            </a:r>
          </a:p>
          <a:p>
            <a:r>
              <a:rPr lang="en-US" dirty="0"/>
              <a:t>Address divided into fields: 000 010 01</a:t>
            </a:r>
          </a:p>
          <a:p>
            <a:r>
              <a:rPr lang="en-US" dirty="0"/>
              <a:t>Hit or miss? Miss</a:t>
            </a:r>
          </a:p>
          <a:p>
            <a:r>
              <a:rPr lang="en-US" dirty="0"/>
              <a:t>If we check cache block 010 for the tag 000, we find that it is not there.</a:t>
            </a:r>
          </a:p>
          <a:p>
            <a:r>
              <a:rPr lang="en-US" dirty="0"/>
              <a:t>So, we copy the data from addresses 0x08, 0x09, 0x0A and 0x0B into cache block 2 and store the tag 000 for that block.</a:t>
            </a:r>
          </a:p>
        </p:txBody>
      </p:sp>
    </p:spTree>
    <p:extLst>
      <p:ext uri="{BB962C8B-B14F-4D97-AF65-F5344CB8AC3E}">
        <p14:creationId xmlns:p14="http://schemas.microsoft.com/office/powerpoint/2010/main" val="28265517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#8</a:t>
            </a:r>
            <a:endParaRPr lang="en-US" dirty="0"/>
          </a:p>
        </p:txBody>
      </p:sp>
      <p:graphicFrame>
        <p:nvGraphicFramePr>
          <p:cNvPr id="5" name="Table 4">
            <a:extLst>
              <a:ext uri="{FF2B5EF4-FFF2-40B4-BE49-F238E27FC236}">
                <a16:creationId xmlns:a16="http://schemas.microsoft.com/office/drawing/2014/main" id="{5C23B4FB-0308-4224-979B-AD46CA017D68}"/>
              </a:ext>
            </a:extLst>
          </p:cNvPr>
          <p:cNvGraphicFramePr>
            <a:graphicFrameLocks noGrp="1"/>
          </p:cNvGraphicFramePr>
          <p:nvPr/>
        </p:nvGraphicFramePr>
        <p:xfrm>
          <a:off x="621087" y="1143000"/>
          <a:ext cx="8991600" cy="4114800"/>
        </p:xfrm>
        <a:graphic>
          <a:graphicData uri="http://schemas.openxmlformats.org/drawingml/2006/table">
            <a:tbl>
              <a:tblPr/>
              <a:tblGrid>
                <a:gridCol w="1371600">
                  <a:extLst>
                    <a:ext uri="{9D8B030D-6E8A-4147-A177-3AD203B41FA5}">
                      <a16:colId xmlns:a16="http://schemas.microsoft.com/office/drawing/2014/main" val="1114339817"/>
                    </a:ext>
                  </a:extLst>
                </a:gridCol>
                <a:gridCol w="5943600">
                  <a:extLst>
                    <a:ext uri="{9D8B030D-6E8A-4147-A177-3AD203B41FA5}">
                      <a16:colId xmlns:a16="http://schemas.microsoft.com/office/drawing/2014/main" val="667998181"/>
                    </a:ext>
                  </a:extLst>
                </a:gridCol>
                <a:gridCol w="1676400">
                  <a:extLst>
                    <a:ext uri="{9D8B030D-6E8A-4147-A177-3AD203B41FA5}">
                      <a16:colId xmlns:a16="http://schemas.microsoft.com/office/drawing/2014/main" val="1123026184"/>
                    </a:ext>
                  </a:extLst>
                </a:gridCol>
              </a:tblGrid>
              <a:tr h="0">
                <a:tc>
                  <a:txBody>
                    <a:bodyPr/>
                    <a:lstStyle/>
                    <a:p>
                      <a:pPr algn="ctr"/>
                      <a:r>
                        <a:rPr lang="en-US" sz="2400" b="1" dirty="0">
                          <a:effectLst/>
                          <a:latin typeface="+mj-lt"/>
                        </a:rPr>
                        <a:t>Block</a:t>
                      </a:r>
                      <a:endParaRPr lang="en-US" sz="2400" b="0" dirty="0">
                        <a:effectLst/>
                        <a:latin typeface="+mj-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mj-lt"/>
                        </a:rPr>
                        <a:t>Cache Contents (represented by address)</a:t>
                      </a:r>
                      <a:endParaRPr lang="en-US" sz="2400" b="0" dirty="0">
                        <a:effectLst/>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mj-lt"/>
                        </a:rPr>
                        <a:t>Tag</a:t>
                      </a:r>
                      <a:endParaRPr lang="en-US" sz="2400" b="0" dirty="0">
                        <a:effectLst/>
                        <a:latin typeface="+mj-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9057503"/>
                  </a:ext>
                </a:extLst>
              </a:tr>
              <a:tr h="0">
                <a:tc>
                  <a:txBody>
                    <a:bodyPr/>
                    <a:lstStyle/>
                    <a:p>
                      <a:pPr algn="ctr"/>
                      <a:r>
                        <a:rPr lang="en-US" sz="2400" b="1" dirty="0">
                          <a:effectLst/>
                          <a:latin typeface="Courier New" panose="02070309020205020404" pitchFamily="49" charset="0"/>
                          <a:cs typeface="Courier New" panose="02070309020205020404" pitchFamily="49" charset="0"/>
                        </a:rPr>
                        <a:t>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0x00, 0x01, 0x02, 0x03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9374126"/>
                  </a:ext>
                </a:extLst>
              </a:tr>
              <a:tr h="0">
                <a:tc>
                  <a:txBody>
                    <a:bodyPr/>
                    <a:lstStyle/>
                    <a:p>
                      <a:pPr algn="ctr"/>
                      <a:r>
                        <a:rPr lang="en-US" sz="2400" b="1" dirty="0">
                          <a:effectLst/>
                          <a:latin typeface="Courier New" panose="02070309020205020404" pitchFamily="49" charset="0"/>
                          <a:cs typeface="Courier New" panose="02070309020205020404" pitchFamily="49" charset="0"/>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0x04, 0x05, 0x06, 0x07</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689195"/>
                  </a:ext>
                </a:extLst>
              </a:tr>
              <a:tr h="0">
                <a:tc>
                  <a:txBody>
                    <a:bodyPr/>
                    <a:lstStyle/>
                    <a:p>
                      <a:pPr algn="ctr"/>
                      <a:r>
                        <a:rPr lang="en-US" sz="2400" b="1" dirty="0">
                          <a:effectLst/>
                          <a:latin typeface="Courier New" panose="02070309020205020404" pitchFamily="49" charset="0"/>
                          <a:cs typeface="Courier New" panose="02070309020205020404" pitchFamily="49" charset="0"/>
                        </a:rPr>
                        <a:t>2</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0x08, 0x09, 0x0A, 0x0B</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437690"/>
                  </a:ext>
                </a:extLst>
              </a:tr>
              <a:tr h="0">
                <a:tc>
                  <a:txBody>
                    <a:bodyPr/>
                    <a:lstStyle/>
                    <a:p>
                      <a:pPr algn="ctr"/>
                      <a:r>
                        <a:rPr lang="en-US" sz="2400" b="1" dirty="0">
                          <a:effectLst/>
                          <a:latin typeface="Courier New" panose="02070309020205020404" pitchFamily="49" charset="0"/>
                          <a:cs typeface="Courier New" panose="02070309020205020404" pitchFamily="49" charset="0"/>
                        </a:rPr>
                        <a:t>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5435610"/>
                  </a:ext>
                </a:extLst>
              </a:tr>
              <a:tr h="0">
                <a:tc>
                  <a:txBody>
                    <a:bodyPr/>
                    <a:lstStyle/>
                    <a:p>
                      <a:pPr algn="ctr"/>
                      <a:r>
                        <a:rPr lang="en-US" sz="2400" b="1" dirty="0">
                          <a:effectLst/>
                          <a:latin typeface="Courier New" panose="02070309020205020404" pitchFamily="49" charset="0"/>
                          <a:cs typeface="Courier New" panose="02070309020205020404" pitchFamily="49" charset="0"/>
                        </a:rPr>
                        <a:t>4</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4131507"/>
                  </a:ext>
                </a:extLst>
              </a:tr>
              <a:tr h="0">
                <a:tc>
                  <a:txBody>
                    <a:bodyPr/>
                    <a:lstStyle/>
                    <a:p>
                      <a:pPr algn="ctr"/>
                      <a:r>
                        <a:rPr lang="en-US" sz="2400" b="1" dirty="0">
                          <a:effectLst/>
                          <a:latin typeface="Courier New" panose="02070309020205020404" pitchFamily="49" charset="0"/>
                          <a:cs typeface="Courier New" panose="02070309020205020404" pitchFamily="49" charset="0"/>
                        </a:rPr>
                        <a:t>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8244696"/>
                  </a:ext>
                </a:extLst>
              </a:tr>
              <a:tr h="0">
                <a:tc>
                  <a:txBody>
                    <a:bodyPr/>
                    <a:lstStyle/>
                    <a:p>
                      <a:pPr algn="ctr"/>
                      <a:r>
                        <a:rPr lang="en-US" sz="2400" b="1" dirty="0">
                          <a:effectLst/>
                          <a:latin typeface="Courier New" panose="02070309020205020404" pitchFamily="49" charset="0"/>
                          <a:cs typeface="Courier New" panose="02070309020205020404" pitchFamily="49" charset="0"/>
                        </a:rPr>
                        <a:t>6</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4437838"/>
                  </a:ext>
                </a:extLst>
              </a:tr>
              <a:tr h="0">
                <a:tc>
                  <a:txBody>
                    <a:bodyPr/>
                    <a:lstStyle/>
                    <a:p>
                      <a:pPr algn="ctr"/>
                      <a:r>
                        <a:rPr lang="en-US" sz="2400" b="1" dirty="0">
                          <a:effectLst/>
                          <a:latin typeface="Courier New" panose="02070309020205020404" pitchFamily="49" charset="0"/>
                          <a:cs typeface="Courier New" panose="02070309020205020404" pitchFamily="49" charset="0"/>
                        </a:rPr>
                        <a:t>7</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0815365"/>
                  </a:ext>
                </a:extLst>
              </a:tr>
            </a:tbl>
          </a:graphicData>
        </a:graphic>
      </p:graphicFrame>
    </p:spTree>
    <p:extLst>
      <p:ext uri="{BB962C8B-B14F-4D97-AF65-F5344CB8AC3E}">
        <p14:creationId xmlns:p14="http://schemas.microsoft.com/office/powerpoint/2010/main" val="38025598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#8</a:t>
            </a:r>
            <a:endParaRPr lang="en-US" dirty="0"/>
          </a:p>
        </p:txBody>
      </p:sp>
      <p:sp>
        <p:nvSpPr>
          <p:cNvPr id="10" name="Content Placeholder 9"/>
          <p:cNvSpPr>
            <a:spLocks noGrp="1"/>
          </p:cNvSpPr>
          <p:nvPr>
            <p:ph idx="1"/>
          </p:nvPr>
        </p:nvSpPr>
        <p:spPr/>
        <p:txBody>
          <a:bodyPr/>
          <a:lstStyle/>
          <a:p>
            <a:r>
              <a:rPr lang="en-US" dirty="0"/>
              <a:t>Address reference: 0x05</a:t>
            </a:r>
          </a:p>
          <a:p>
            <a:r>
              <a:rPr lang="en-US" dirty="0"/>
              <a:t>Address divided into fields: 000 001 01</a:t>
            </a:r>
          </a:p>
          <a:p>
            <a:r>
              <a:rPr lang="en-US" dirty="0"/>
              <a:t>Hit or miss? Hit</a:t>
            </a:r>
          </a:p>
          <a:p>
            <a:r>
              <a:rPr lang="en-US" dirty="0"/>
              <a:t>If we check cache block 001 for the tag 000, we find that it is there.</a:t>
            </a:r>
          </a:p>
          <a:p>
            <a:r>
              <a:rPr lang="en-US" dirty="0"/>
              <a:t>We then use the offset value 01 to get the exact byte we need.</a:t>
            </a:r>
          </a:p>
        </p:txBody>
      </p:sp>
    </p:spTree>
    <p:extLst>
      <p:ext uri="{BB962C8B-B14F-4D97-AF65-F5344CB8AC3E}">
        <p14:creationId xmlns:p14="http://schemas.microsoft.com/office/powerpoint/2010/main" val="42869996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#8</a:t>
            </a:r>
            <a:endParaRPr lang="en-US" dirty="0"/>
          </a:p>
        </p:txBody>
      </p:sp>
      <p:graphicFrame>
        <p:nvGraphicFramePr>
          <p:cNvPr id="5" name="Table 4">
            <a:extLst>
              <a:ext uri="{FF2B5EF4-FFF2-40B4-BE49-F238E27FC236}">
                <a16:creationId xmlns:a16="http://schemas.microsoft.com/office/drawing/2014/main" id="{5C23B4FB-0308-4224-979B-AD46CA017D68}"/>
              </a:ext>
            </a:extLst>
          </p:cNvPr>
          <p:cNvGraphicFramePr>
            <a:graphicFrameLocks noGrp="1"/>
          </p:cNvGraphicFramePr>
          <p:nvPr/>
        </p:nvGraphicFramePr>
        <p:xfrm>
          <a:off x="621087" y="1143000"/>
          <a:ext cx="8991600" cy="4114800"/>
        </p:xfrm>
        <a:graphic>
          <a:graphicData uri="http://schemas.openxmlformats.org/drawingml/2006/table">
            <a:tbl>
              <a:tblPr/>
              <a:tblGrid>
                <a:gridCol w="1371600">
                  <a:extLst>
                    <a:ext uri="{9D8B030D-6E8A-4147-A177-3AD203B41FA5}">
                      <a16:colId xmlns:a16="http://schemas.microsoft.com/office/drawing/2014/main" val="1114339817"/>
                    </a:ext>
                  </a:extLst>
                </a:gridCol>
                <a:gridCol w="5943600">
                  <a:extLst>
                    <a:ext uri="{9D8B030D-6E8A-4147-A177-3AD203B41FA5}">
                      <a16:colId xmlns:a16="http://schemas.microsoft.com/office/drawing/2014/main" val="667998181"/>
                    </a:ext>
                  </a:extLst>
                </a:gridCol>
                <a:gridCol w="1676400">
                  <a:extLst>
                    <a:ext uri="{9D8B030D-6E8A-4147-A177-3AD203B41FA5}">
                      <a16:colId xmlns:a16="http://schemas.microsoft.com/office/drawing/2014/main" val="1123026184"/>
                    </a:ext>
                  </a:extLst>
                </a:gridCol>
              </a:tblGrid>
              <a:tr h="0">
                <a:tc>
                  <a:txBody>
                    <a:bodyPr/>
                    <a:lstStyle/>
                    <a:p>
                      <a:pPr algn="ctr"/>
                      <a:r>
                        <a:rPr lang="en-US" sz="2400" b="1" dirty="0">
                          <a:effectLst/>
                          <a:latin typeface="+mj-lt"/>
                        </a:rPr>
                        <a:t>Block</a:t>
                      </a:r>
                      <a:endParaRPr lang="en-US" sz="2400" b="0" dirty="0">
                        <a:effectLst/>
                        <a:latin typeface="+mj-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mj-lt"/>
                        </a:rPr>
                        <a:t>Cache Contents (represented by address)</a:t>
                      </a:r>
                      <a:endParaRPr lang="en-US" sz="2400" b="0" dirty="0">
                        <a:effectLst/>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mj-lt"/>
                        </a:rPr>
                        <a:t>Tag</a:t>
                      </a:r>
                      <a:endParaRPr lang="en-US" sz="2400" b="0" dirty="0">
                        <a:effectLst/>
                        <a:latin typeface="+mj-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9057503"/>
                  </a:ext>
                </a:extLst>
              </a:tr>
              <a:tr h="0">
                <a:tc>
                  <a:txBody>
                    <a:bodyPr/>
                    <a:lstStyle/>
                    <a:p>
                      <a:pPr algn="ctr"/>
                      <a:r>
                        <a:rPr lang="en-US" sz="2400" b="1" dirty="0">
                          <a:effectLst/>
                          <a:latin typeface="Courier New" panose="02070309020205020404" pitchFamily="49" charset="0"/>
                          <a:cs typeface="Courier New" panose="02070309020205020404" pitchFamily="49" charset="0"/>
                        </a:rPr>
                        <a:t>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0x00, 0x01, 0x02, 0x03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9374126"/>
                  </a:ext>
                </a:extLst>
              </a:tr>
              <a:tr h="0">
                <a:tc>
                  <a:txBody>
                    <a:bodyPr/>
                    <a:lstStyle/>
                    <a:p>
                      <a:pPr algn="ctr"/>
                      <a:r>
                        <a:rPr lang="en-US" sz="2400" b="1" dirty="0">
                          <a:effectLst/>
                          <a:latin typeface="Courier New" panose="02070309020205020404" pitchFamily="49" charset="0"/>
                          <a:cs typeface="Courier New" panose="02070309020205020404" pitchFamily="49" charset="0"/>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0x04, 0x05, 0x06, 0x07</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689195"/>
                  </a:ext>
                </a:extLst>
              </a:tr>
              <a:tr h="0">
                <a:tc>
                  <a:txBody>
                    <a:bodyPr/>
                    <a:lstStyle/>
                    <a:p>
                      <a:pPr algn="ctr"/>
                      <a:r>
                        <a:rPr lang="en-US" sz="2400" b="1" dirty="0">
                          <a:effectLst/>
                          <a:latin typeface="Courier New" panose="02070309020205020404" pitchFamily="49" charset="0"/>
                          <a:cs typeface="Courier New" panose="02070309020205020404" pitchFamily="49" charset="0"/>
                        </a:rPr>
                        <a:t>2</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0x08, 0x09, 0x0A, 0x0B</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437690"/>
                  </a:ext>
                </a:extLst>
              </a:tr>
              <a:tr h="0">
                <a:tc>
                  <a:txBody>
                    <a:bodyPr/>
                    <a:lstStyle/>
                    <a:p>
                      <a:pPr algn="ctr"/>
                      <a:r>
                        <a:rPr lang="en-US" sz="2400" b="1" dirty="0">
                          <a:effectLst/>
                          <a:latin typeface="Courier New" panose="02070309020205020404" pitchFamily="49" charset="0"/>
                          <a:cs typeface="Courier New" panose="02070309020205020404" pitchFamily="49" charset="0"/>
                        </a:rPr>
                        <a:t>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5435610"/>
                  </a:ext>
                </a:extLst>
              </a:tr>
              <a:tr h="0">
                <a:tc>
                  <a:txBody>
                    <a:bodyPr/>
                    <a:lstStyle/>
                    <a:p>
                      <a:pPr algn="ctr"/>
                      <a:r>
                        <a:rPr lang="en-US" sz="2400" b="1" dirty="0">
                          <a:effectLst/>
                          <a:latin typeface="Courier New" panose="02070309020205020404" pitchFamily="49" charset="0"/>
                          <a:cs typeface="Courier New" panose="02070309020205020404" pitchFamily="49" charset="0"/>
                        </a:rPr>
                        <a:t>4</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4131507"/>
                  </a:ext>
                </a:extLst>
              </a:tr>
              <a:tr h="0">
                <a:tc>
                  <a:txBody>
                    <a:bodyPr/>
                    <a:lstStyle/>
                    <a:p>
                      <a:pPr algn="ctr"/>
                      <a:r>
                        <a:rPr lang="en-US" sz="2400" b="1" dirty="0">
                          <a:effectLst/>
                          <a:latin typeface="Courier New" panose="02070309020205020404" pitchFamily="49" charset="0"/>
                          <a:cs typeface="Courier New" panose="02070309020205020404" pitchFamily="49" charset="0"/>
                        </a:rPr>
                        <a:t>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8244696"/>
                  </a:ext>
                </a:extLst>
              </a:tr>
              <a:tr h="0">
                <a:tc>
                  <a:txBody>
                    <a:bodyPr/>
                    <a:lstStyle/>
                    <a:p>
                      <a:pPr algn="ctr"/>
                      <a:r>
                        <a:rPr lang="en-US" sz="2400" b="1" dirty="0">
                          <a:effectLst/>
                          <a:latin typeface="Courier New" panose="02070309020205020404" pitchFamily="49" charset="0"/>
                          <a:cs typeface="Courier New" panose="02070309020205020404" pitchFamily="49" charset="0"/>
                        </a:rPr>
                        <a:t>6</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4437838"/>
                  </a:ext>
                </a:extLst>
              </a:tr>
              <a:tr h="0">
                <a:tc>
                  <a:txBody>
                    <a:bodyPr/>
                    <a:lstStyle/>
                    <a:p>
                      <a:pPr algn="ctr"/>
                      <a:r>
                        <a:rPr lang="en-US" sz="2400" b="1" dirty="0">
                          <a:effectLst/>
                          <a:latin typeface="Courier New" panose="02070309020205020404" pitchFamily="49" charset="0"/>
                          <a:cs typeface="Courier New" panose="02070309020205020404" pitchFamily="49" charset="0"/>
                        </a:rPr>
                        <a:t>7</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0815365"/>
                  </a:ext>
                </a:extLst>
              </a:tr>
            </a:tbl>
          </a:graphicData>
        </a:graphic>
      </p:graphicFrame>
    </p:spTree>
    <p:extLst>
      <p:ext uri="{BB962C8B-B14F-4D97-AF65-F5344CB8AC3E}">
        <p14:creationId xmlns:p14="http://schemas.microsoft.com/office/powerpoint/2010/main" val="22197718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#8</a:t>
            </a:r>
            <a:endParaRPr lang="en-US" dirty="0"/>
          </a:p>
        </p:txBody>
      </p:sp>
      <p:sp>
        <p:nvSpPr>
          <p:cNvPr id="10" name="Content Placeholder 9"/>
          <p:cNvSpPr>
            <a:spLocks noGrp="1"/>
          </p:cNvSpPr>
          <p:nvPr>
            <p:ph idx="1"/>
          </p:nvPr>
        </p:nvSpPr>
        <p:spPr/>
        <p:txBody>
          <a:bodyPr/>
          <a:lstStyle/>
          <a:p>
            <a:r>
              <a:rPr lang="en-US" dirty="0"/>
              <a:t>Address reference: 0x14</a:t>
            </a:r>
          </a:p>
          <a:p>
            <a:r>
              <a:rPr lang="en-US" dirty="0"/>
              <a:t>Address divided into fields: 000 101 00</a:t>
            </a:r>
          </a:p>
          <a:p>
            <a:r>
              <a:rPr lang="en-US" dirty="0"/>
              <a:t>Hit or miss? Miss</a:t>
            </a:r>
          </a:p>
          <a:p>
            <a:r>
              <a:rPr lang="en-US" dirty="0"/>
              <a:t>If we check cache block 101 for the tag 000, we find that it is not there.</a:t>
            </a:r>
          </a:p>
          <a:p>
            <a:r>
              <a:rPr lang="en-US" dirty="0"/>
              <a:t>So, we copy the data from addresses 0x14, 0x15, 0x16 and 0x17 into cache block 5 and store the tag 000 for that block.</a:t>
            </a:r>
          </a:p>
        </p:txBody>
      </p:sp>
    </p:spTree>
    <p:extLst>
      <p:ext uri="{BB962C8B-B14F-4D97-AF65-F5344CB8AC3E}">
        <p14:creationId xmlns:p14="http://schemas.microsoft.com/office/powerpoint/2010/main" val="40610725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#8</a:t>
            </a:r>
            <a:endParaRPr lang="en-US" dirty="0"/>
          </a:p>
        </p:txBody>
      </p:sp>
      <p:graphicFrame>
        <p:nvGraphicFramePr>
          <p:cNvPr id="5" name="Table 4">
            <a:extLst>
              <a:ext uri="{FF2B5EF4-FFF2-40B4-BE49-F238E27FC236}">
                <a16:creationId xmlns:a16="http://schemas.microsoft.com/office/drawing/2014/main" id="{5C23B4FB-0308-4224-979B-AD46CA017D68}"/>
              </a:ext>
            </a:extLst>
          </p:cNvPr>
          <p:cNvGraphicFramePr>
            <a:graphicFrameLocks noGrp="1"/>
          </p:cNvGraphicFramePr>
          <p:nvPr/>
        </p:nvGraphicFramePr>
        <p:xfrm>
          <a:off x="621087" y="1143000"/>
          <a:ext cx="8991600" cy="4114800"/>
        </p:xfrm>
        <a:graphic>
          <a:graphicData uri="http://schemas.openxmlformats.org/drawingml/2006/table">
            <a:tbl>
              <a:tblPr/>
              <a:tblGrid>
                <a:gridCol w="1371600">
                  <a:extLst>
                    <a:ext uri="{9D8B030D-6E8A-4147-A177-3AD203B41FA5}">
                      <a16:colId xmlns:a16="http://schemas.microsoft.com/office/drawing/2014/main" val="1114339817"/>
                    </a:ext>
                  </a:extLst>
                </a:gridCol>
                <a:gridCol w="5943600">
                  <a:extLst>
                    <a:ext uri="{9D8B030D-6E8A-4147-A177-3AD203B41FA5}">
                      <a16:colId xmlns:a16="http://schemas.microsoft.com/office/drawing/2014/main" val="667998181"/>
                    </a:ext>
                  </a:extLst>
                </a:gridCol>
                <a:gridCol w="1676400">
                  <a:extLst>
                    <a:ext uri="{9D8B030D-6E8A-4147-A177-3AD203B41FA5}">
                      <a16:colId xmlns:a16="http://schemas.microsoft.com/office/drawing/2014/main" val="1123026184"/>
                    </a:ext>
                  </a:extLst>
                </a:gridCol>
              </a:tblGrid>
              <a:tr h="0">
                <a:tc>
                  <a:txBody>
                    <a:bodyPr/>
                    <a:lstStyle/>
                    <a:p>
                      <a:pPr algn="ctr"/>
                      <a:r>
                        <a:rPr lang="en-US" sz="2400" b="1" dirty="0">
                          <a:effectLst/>
                          <a:latin typeface="+mj-lt"/>
                        </a:rPr>
                        <a:t>Block</a:t>
                      </a:r>
                      <a:endParaRPr lang="en-US" sz="2400" b="0" dirty="0">
                        <a:effectLst/>
                        <a:latin typeface="+mj-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mj-lt"/>
                        </a:rPr>
                        <a:t>Cache Contents (represented by address)</a:t>
                      </a:r>
                      <a:endParaRPr lang="en-US" sz="2400" b="0" dirty="0">
                        <a:effectLst/>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mj-lt"/>
                        </a:rPr>
                        <a:t>Tag</a:t>
                      </a:r>
                      <a:endParaRPr lang="en-US" sz="2400" b="0" dirty="0">
                        <a:effectLst/>
                        <a:latin typeface="+mj-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9057503"/>
                  </a:ext>
                </a:extLst>
              </a:tr>
              <a:tr h="0">
                <a:tc>
                  <a:txBody>
                    <a:bodyPr/>
                    <a:lstStyle/>
                    <a:p>
                      <a:pPr algn="ctr"/>
                      <a:r>
                        <a:rPr lang="en-US" sz="2400" b="1" dirty="0">
                          <a:effectLst/>
                          <a:latin typeface="Courier New" panose="02070309020205020404" pitchFamily="49" charset="0"/>
                          <a:cs typeface="Courier New" panose="02070309020205020404" pitchFamily="49" charset="0"/>
                        </a:rPr>
                        <a:t>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0x00, 0x01, 0x02, 0x03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9374126"/>
                  </a:ext>
                </a:extLst>
              </a:tr>
              <a:tr h="0">
                <a:tc>
                  <a:txBody>
                    <a:bodyPr/>
                    <a:lstStyle/>
                    <a:p>
                      <a:pPr algn="ctr"/>
                      <a:r>
                        <a:rPr lang="en-US" sz="2400" b="1" dirty="0">
                          <a:effectLst/>
                          <a:latin typeface="Courier New" panose="02070309020205020404" pitchFamily="49" charset="0"/>
                          <a:cs typeface="Courier New" panose="02070309020205020404" pitchFamily="49" charset="0"/>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0x04, 0x05, 0x06, 0x07</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689195"/>
                  </a:ext>
                </a:extLst>
              </a:tr>
              <a:tr h="0">
                <a:tc>
                  <a:txBody>
                    <a:bodyPr/>
                    <a:lstStyle/>
                    <a:p>
                      <a:pPr algn="ctr"/>
                      <a:r>
                        <a:rPr lang="en-US" sz="2400" b="1" dirty="0">
                          <a:effectLst/>
                          <a:latin typeface="Courier New" panose="02070309020205020404" pitchFamily="49" charset="0"/>
                          <a:cs typeface="Courier New" panose="02070309020205020404" pitchFamily="49" charset="0"/>
                        </a:rPr>
                        <a:t>2</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0x08, 0x09, 0x0A, 0x0B</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437690"/>
                  </a:ext>
                </a:extLst>
              </a:tr>
              <a:tr h="0">
                <a:tc>
                  <a:txBody>
                    <a:bodyPr/>
                    <a:lstStyle/>
                    <a:p>
                      <a:pPr algn="ctr"/>
                      <a:r>
                        <a:rPr lang="en-US" sz="2400" b="1" dirty="0">
                          <a:effectLst/>
                          <a:latin typeface="Courier New" panose="02070309020205020404" pitchFamily="49" charset="0"/>
                          <a:cs typeface="Courier New" panose="02070309020205020404" pitchFamily="49" charset="0"/>
                        </a:rPr>
                        <a:t>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5435610"/>
                  </a:ext>
                </a:extLst>
              </a:tr>
              <a:tr h="0">
                <a:tc>
                  <a:txBody>
                    <a:bodyPr/>
                    <a:lstStyle/>
                    <a:p>
                      <a:pPr algn="ctr"/>
                      <a:r>
                        <a:rPr lang="en-US" sz="2400" b="1" dirty="0">
                          <a:effectLst/>
                          <a:latin typeface="Courier New" panose="02070309020205020404" pitchFamily="49" charset="0"/>
                          <a:cs typeface="Courier New" panose="02070309020205020404" pitchFamily="49" charset="0"/>
                        </a:rPr>
                        <a:t>4</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4131507"/>
                  </a:ext>
                </a:extLst>
              </a:tr>
              <a:tr h="0">
                <a:tc>
                  <a:txBody>
                    <a:bodyPr/>
                    <a:lstStyle/>
                    <a:p>
                      <a:pPr algn="ctr"/>
                      <a:r>
                        <a:rPr lang="en-US" sz="2400" b="1" dirty="0">
                          <a:effectLst/>
                          <a:latin typeface="Courier New" panose="02070309020205020404" pitchFamily="49" charset="0"/>
                          <a:cs typeface="Courier New" panose="02070309020205020404" pitchFamily="49" charset="0"/>
                        </a:rPr>
                        <a:t>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0x14, 0x15, 0x16, 0x17</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8244696"/>
                  </a:ext>
                </a:extLst>
              </a:tr>
              <a:tr h="0">
                <a:tc>
                  <a:txBody>
                    <a:bodyPr/>
                    <a:lstStyle/>
                    <a:p>
                      <a:pPr algn="ctr"/>
                      <a:r>
                        <a:rPr lang="en-US" sz="2400" b="1" dirty="0">
                          <a:effectLst/>
                          <a:latin typeface="Courier New" panose="02070309020205020404" pitchFamily="49" charset="0"/>
                          <a:cs typeface="Courier New" panose="02070309020205020404" pitchFamily="49" charset="0"/>
                        </a:rPr>
                        <a:t>6</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4437838"/>
                  </a:ext>
                </a:extLst>
              </a:tr>
              <a:tr h="0">
                <a:tc>
                  <a:txBody>
                    <a:bodyPr/>
                    <a:lstStyle/>
                    <a:p>
                      <a:pPr algn="ctr"/>
                      <a:r>
                        <a:rPr lang="en-US" sz="2400" b="1" dirty="0">
                          <a:effectLst/>
                          <a:latin typeface="Courier New" panose="02070309020205020404" pitchFamily="49" charset="0"/>
                          <a:cs typeface="Courier New" panose="02070309020205020404" pitchFamily="49" charset="0"/>
                        </a:rPr>
                        <a:t>7</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0815365"/>
                  </a:ext>
                </a:extLst>
              </a:tr>
            </a:tbl>
          </a:graphicData>
        </a:graphic>
      </p:graphicFrame>
    </p:spTree>
    <p:extLst>
      <p:ext uri="{BB962C8B-B14F-4D97-AF65-F5344CB8AC3E}">
        <p14:creationId xmlns:p14="http://schemas.microsoft.com/office/powerpoint/2010/main" val="42823425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#8</a:t>
            </a:r>
            <a:endParaRPr lang="en-US" dirty="0"/>
          </a:p>
        </p:txBody>
      </p:sp>
      <p:sp>
        <p:nvSpPr>
          <p:cNvPr id="10" name="Content Placeholder 9"/>
          <p:cNvSpPr>
            <a:spLocks noGrp="1"/>
          </p:cNvSpPr>
          <p:nvPr>
            <p:ph idx="1"/>
          </p:nvPr>
        </p:nvSpPr>
        <p:spPr/>
        <p:txBody>
          <a:bodyPr/>
          <a:lstStyle/>
          <a:p>
            <a:r>
              <a:rPr lang="en-US" dirty="0"/>
              <a:t>Address reference: 0x21</a:t>
            </a:r>
          </a:p>
          <a:p>
            <a:r>
              <a:rPr lang="en-US" dirty="0"/>
              <a:t>Address divided into fields: 001 000 01</a:t>
            </a:r>
          </a:p>
          <a:p>
            <a:r>
              <a:rPr lang="en-US" dirty="0"/>
              <a:t>Hit or miss? Miss</a:t>
            </a:r>
          </a:p>
          <a:p>
            <a:r>
              <a:rPr lang="en-US" dirty="0"/>
              <a:t>If we check cache block 000 for the tag 001, we find that it is not there. Rather, tag 000 is there.</a:t>
            </a:r>
          </a:p>
          <a:p>
            <a:r>
              <a:rPr lang="en-US" dirty="0"/>
              <a:t>So, we copy the data from addresses 0x20, 0x21, 0x22 and 0x23 into cache block 0 and store the tag 001 for that block.</a:t>
            </a:r>
          </a:p>
        </p:txBody>
      </p:sp>
    </p:spTree>
    <p:extLst>
      <p:ext uri="{BB962C8B-B14F-4D97-AF65-F5344CB8AC3E}">
        <p14:creationId xmlns:p14="http://schemas.microsoft.com/office/powerpoint/2010/main" val="5557319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#8</a:t>
            </a:r>
            <a:endParaRPr lang="en-US" dirty="0"/>
          </a:p>
        </p:txBody>
      </p:sp>
      <p:graphicFrame>
        <p:nvGraphicFramePr>
          <p:cNvPr id="5" name="Table 4">
            <a:extLst>
              <a:ext uri="{FF2B5EF4-FFF2-40B4-BE49-F238E27FC236}">
                <a16:creationId xmlns:a16="http://schemas.microsoft.com/office/drawing/2014/main" id="{5C23B4FB-0308-4224-979B-AD46CA017D68}"/>
              </a:ext>
            </a:extLst>
          </p:cNvPr>
          <p:cNvGraphicFramePr>
            <a:graphicFrameLocks noGrp="1"/>
          </p:cNvGraphicFramePr>
          <p:nvPr/>
        </p:nvGraphicFramePr>
        <p:xfrm>
          <a:off x="621087" y="1143000"/>
          <a:ext cx="8991600" cy="4114800"/>
        </p:xfrm>
        <a:graphic>
          <a:graphicData uri="http://schemas.openxmlformats.org/drawingml/2006/table">
            <a:tbl>
              <a:tblPr/>
              <a:tblGrid>
                <a:gridCol w="1371600">
                  <a:extLst>
                    <a:ext uri="{9D8B030D-6E8A-4147-A177-3AD203B41FA5}">
                      <a16:colId xmlns:a16="http://schemas.microsoft.com/office/drawing/2014/main" val="1114339817"/>
                    </a:ext>
                  </a:extLst>
                </a:gridCol>
                <a:gridCol w="5943600">
                  <a:extLst>
                    <a:ext uri="{9D8B030D-6E8A-4147-A177-3AD203B41FA5}">
                      <a16:colId xmlns:a16="http://schemas.microsoft.com/office/drawing/2014/main" val="667998181"/>
                    </a:ext>
                  </a:extLst>
                </a:gridCol>
                <a:gridCol w="1676400">
                  <a:extLst>
                    <a:ext uri="{9D8B030D-6E8A-4147-A177-3AD203B41FA5}">
                      <a16:colId xmlns:a16="http://schemas.microsoft.com/office/drawing/2014/main" val="1123026184"/>
                    </a:ext>
                  </a:extLst>
                </a:gridCol>
              </a:tblGrid>
              <a:tr h="0">
                <a:tc>
                  <a:txBody>
                    <a:bodyPr/>
                    <a:lstStyle/>
                    <a:p>
                      <a:pPr algn="ctr"/>
                      <a:r>
                        <a:rPr lang="en-US" sz="2400" b="1" dirty="0">
                          <a:effectLst/>
                          <a:latin typeface="+mj-lt"/>
                        </a:rPr>
                        <a:t>Block</a:t>
                      </a:r>
                      <a:endParaRPr lang="en-US" sz="2400" b="0" dirty="0">
                        <a:effectLst/>
                        <a:latin typeface="+mj-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mj-lt"/>
                        </a:rPr>
                        <a:t>Cache Contents (represented by address)</a:t>
                      </a:r>
                      <a:endParaRPr lang="en-US" sz="2400" b="0" dirty="0">
                        <a:effectLst/>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mj-lt"/>
                        </a:rPr>
                        <a:t>Tag</a:t>
                      </a:r>
                      <a:endParaRPr lang="en-US" sz="2400" b="0" dirty="0">
                        <a:effectLst/>
                        <a:latin typeface="+mj-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9057503"/>
                  </a:ext>
                </a:extLst>
              </a:tr>
              <a:tr h="0">
                <a:tc>
                  <a:txBody>
                    <a:bodyPr/>
                    <a:lstStyle/>
                    <a:p>
                      <a:pPr algn="ctr"/>
                      <a:r>
                        <a:rPr lang="en-US" sz="2400" b="1" dirty="0">
                          <a:effectLst/>
                          <a:latin typeface="Courier New" panose="02070309020205020404" pitchFamily="49" charset="0"/>
                          <a:cs typeface="Courier New" panose="02070309020205020404" pitchFamily="49" charset="0"/>
                        </a:rPr>
                        <a:t>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0x20, 0x21, 0x22, 0x23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001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9374126"/>
                  </a:ext>
                </a:extLst>
              </a:tr>
              <a:tr h="0">
                <a:tc>
                  <a:txBody>
                    <a:bodyPr/>
                    <a:lstStyle/>
                    <a:p>
                      <a:pPr algn="ctr"/>
                      <a:r>
                        <a:rPr lang="en-US" sz="2400" b="1" dirty="0">
                          <a:effectLst/>
                          <a:latin typeface="Courier New" panose="02070309020205020404" pitchFamily="49" charset="0"/>
                          <a:cs typeface="Courier New" panose="02070309020205020404" pitchFamily="49" charset="0"/>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0x04, 0x05, 0x06, 0x07</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689195"/>
                  </a:ext>
                </a:extLst>
              </a:tr>
              <a:tr h="0">
                <a:tc>
                  <a:txBody>
                    <a:bodyPr/>
                    <a:lstStyle/>
                    <a:p>
                      <a:pPr algn="ctr"/>
                      <a:r>
                        <a:rPr lang="en-US" sz="2400" b="1" dirty="0">
                          <a:effectLst/>
                          <a:latin typeface="Courier New" panose="02070309020205020404" pitchFamily="49" charset="0"/>
                          <a:cs typeface="Courier New" panose="02070309020205020404" pitchFamily="49" charset="0"/>
                        </a:rPr>
                        <a:t>2</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0x08, 0x09, 0x0A, 0x0B</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437690"/>
                  </a:ext>
                </a:extLst>
              </a:tr>
              <a:tr h="0">
                <a:tc>
                  <a:txBody>
                    <a:bodyPr/>
                    <a:lstStyle/>
                    <a:p>
                      <a:pPr algn="ctr"/>
                      <a:r>
                        <a:rPr lang="en-US" sz="2400" b="1" dirty="0">
                          <a:effectLst/>
                          <a:latin typeface="Courier New" panose="02070309020205020404" pitchFamily="49" charset="0"/>
                          <a:cs typeface="Courier New" panose="02070309020205020404" pitchFamily="49" charset="0"/>
                        </a:rPr>
                        <a:t>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5435610"/>
                  </a:ext>
                </a:extLst>
              </a:tr>
              <a:tr h="0">
                <a:tc>
                  <a:txBody>
                    <a:bodyPr/>
                    <a:lstStyle/>
                    <a:p>
                      <a:pPr algn="ctr"/>
                      <a:r>
                        <a:rPr lang="en-US" sz="2400" b="1" dirty="0">
                          <a:effectLst/>
                          <a:latin typeface="Courier New" panose="02070309020205020404" pitchFamily="49" charset="0"/>
                          <a:cs typeface="Courier New" panose="02070309020205020404" pitchFamily="49" charset="0"/>
                        </a:rPr>
                        <a:t>4</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4131507"/>
                  </a:ext>
                </a:extLst>
              </a:tr>
              <a:tr h="0">
                <a:tc>
                  <a:txBody>
                    <a:bodyPr/>
                    <a:lstStyle/>
                    <a:p>
                      <a:pPr algn="ctr"/>
                      <a:r>
                        <a:rPr lang="en-US" sz="2400" b="1" dirty="0">
                          <a:effectLst/>
                          <a:latin typeface="Courier New" panose="02070309020205020404" pitchFamily="49" charset="0"/>
                          <a:cs typeface="Courier New" panose="02070309020205020404" pitchFamily="49" charset="0"/>
                        </a:rPr>
                        <a:t>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0x14, 0x15, 0x16, 0x17</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8244696"/>
                  </a:ext>
                </a:extLst>
              </a:tr>
              <a:tr h="0">
                <a:tc>
                  <a:txBody>
                    <a:bodyPr/>
                    <a:lstStyle/>
                    <a:p>
                      <a:pPr algn="ctr"/>
                      <a:r>
                        <a:rPr lang="en-US" sz="2400" b="1" dirty="0">
                          <a:effectLst/>
                          <a:latin typeface="Courier New" panose="02070309020205020404" pitchFamily="49" charset="0"/>
                          <a:cs typeface="Courier New" panose="02070309020205020404" pitchFamily="49" charset="0"/>
                        </a:rPr>
                        <a:t>6</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4437838"/>
                  </a:ext>
                </a:extLst>
              </a:tr>
              <a:tr h="0">
                <a:tc>
                  <a:txBody>
                    <a:bodyPr/>
                    <a:lstStyle/>
                    <a:p>
                      <a:pPr algn="ctr"/>
                      <a:r>
                        <a:rPr lang="en-US" sz="2400" b="1" dirty="0">
                          <a:effectLst/>
                          <a:latin typeface="Courier New" panose="02070309020205020404" pitchFamily="49" charset="0"/>
                          <a:cs typeface="Courier New" panose="02070309020205020404" pitchFamily="49" charset="0"/>
                        </a:rPr>
                        <a:t>7</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0815365"/>
                  </a:ext>
                </a:extLst>
              </a:tr>
            </a:tbl>
          </a:graphicData>
        </a:graphic>
      </p:graphicFrame>
    </p:spTree>
    <p:extLst>
      <p:ext uri="{BB962C8B-B14F-4D97-AF65-F5344CB8AC3E}">
        <p14:creationId xmlns:p14="http://schemas.microsoft.com/office/powerpoint/2010/main" val="15349671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#8</a:t>
            </a:r>
            <a:endParaRPr lang="en-US" dirty="0"/>
          </a:p>
        </p:txBody>
      </p:sp>
      <p:sp>
        <p:nvSpPr>
          <p:cNvPr id="10" name="Content Placeholder 9"/>
          <p:cNvSpPr>
            <a:spLocks noGrp="1"/>
          </p:cNvSpPr>
          <p:nvPr>
            <p:ph idx="1"/>
          </p:nvPr>
        </p:nvSpPr>
        <p:spPr/>
        <p:txBody>
          <a:bodyPr/>
          <a:lstStyle/>
          <a:p>
            <a:r>
              <a:rPr lang="en-US" dirty="0"/>
              <a:t>Address reference: 0x01</a:t>
            </a:r>
          </a:p>
          <a:p>
            <a:r>
              <a:rPr lang="en-US" dirty="0"/>
              <a:t>Address divided into fields: 000 000 01</a:t>
            </a:r>
          </a:p>
          <a:p>
            <a:r>
              <a:rPr lang="en-US" dirty="0"/>
              <a:t>Hit or miss? Miss</a:t>
            </a:r>
          </a:p>
          <a:p>
            <a:r>
              <a:rPr lang="en-US" dirty="0"/>
              <a:t>If we check cache block 000 for the tag 000, we find that it is not there. Rather, tag 001 is there.</a:t>
            </a:r>
          </a:p>
          <a:p>
            <a:r>
              <a:rPr lang="en-US" dirty="0"/>
              <a:t>So, we copy the data from addresses 0x00, 0x01, 0x02 and 0x03 into cache block 0 and store the tag 000 for that block.</a:t>
            </a:r>
          </a:p>
        </p:txBody>
      </p:sp>
    </p:spTree>
    <p:extLst>
      <p:ext uri="{BB962C8B-B14F-4D97-AF65-F5344CB8AC3E}">
        <p14:creationId xmlns:p14="http://schemas.microsoft.com/office/powerpoint/2010/main" val="37775717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Example #8</a:t>
            </a:r>
            <a:endParaRPr lang="en-US" dirty="0"/>
          </a:p>
        </p:txBody>
      </p:sp>
      <p:graphicFrame>
        <p:nvGraphicFramePr>
          <p:cNvPr id="5" name="Table 4">
            <a:extLst>
              <a:ext uri="{FF2B5EF4-FFF2-40B4-BE49-F238E27FC236}">
                <a16:creationId xmlns:a16="http://schemas.microsoft.com/office/drawing/2014/main" id="{5C23B4FB-0308-4224-979B-AD46CA017D68}"/>
              </a:ext>
            </a:extLst>
          </p:cNvPr>
          <p:cNvGraphicFramePr>
            <a:graphicFrameLocks noGrp="1"/>
          </p:cNvGraphicFramePr>
          <p:nvPr/>
        </p:nvGraphicFramePr>
        <p:xfrm>
          <a:off x="621087" y="1143000"/>
          <a:ext cx="8991600" cy="4114800"/>
        </p:xfrm>
        <a:graphic>
          <a:graphicData uri="http://schemas.openxmlformats.org/drawingml/2006/table">
            <a:tbl>
              <a:tblPr/>
              <a:tblGrid>
                <a:gridCol w="1371600">
                  <a:extLst>
                    <a:ext uri="{9D8B030D-6E8A-4147-A177-3AD203B41FA5}">
                      <a16:colId xmlns:a16="http://schemas.microsoft.com/office/drawing/2014/main" val="1114339817"/>
                    </a:ext>
                  </a:extLst>
                </a:gridCol>
                <a:gridCol w="5943600">
                  <a:extLst>
                    <a:ext uri="{9D8B030D-6E8A-4147-A177-3AD203B41FA5}">
                      <a16:colId xmlns:a16="http://schemas.microsoft.com/office/drawing/2014/main" val="667998181"/>
                    </a:ext>
                  </a:extLst>
                </a:gridCol>
                <a:gridCol w="1676400">
                  <a:extLst>
                    <a:ext uri="{9D8B030D-6E8A-4147-A177-3AD203B41FA5}">
                      <a16:colId xmlns:a16="http://schemas.microsoft.com/office/drawing/2014/main" val="1123026184"/>
                    </a:ext>
                  </a:extLst>
                </a:gridCol>
              </a:tblGrid>
              <a:tr h="0">
                <a:tc>
                  <a:txBody>
                    <a:bodyPr/>
                    <a:lstStyle/>
                    <a:p>
                      <a:pPr algn="ctr"/>
                      <a:r>
                        <a:rPr lang="en-US" sz="2400" b="1" dirty="0">
                          <a:effectLst/>
                          <a:latin typeface="+mj-lt"/>
                        </a:rPr>
                        <a:t>Block</a:t>
                      </a:r>
                      <a:endParaRPr lang="en-US" sz="2400" b="0" dirty="0">
                        <a:effectLst/>
                        <a:latin typeface="+mj-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mj-lt"/>
                        </a:rPr>
                        <a:t>Cache Contents (represented by address)</a:t>
                      </a:r>
                      <a:endParaRPr lang="en-US" sz="2400" b="0" dirty="0">
                        <a:effectLst/>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mj-lt"/>
                        </a:rPr>
                        <a:t>Tag</a:t>
                      </a:r>
                      <a:endParaRPr lang="en-US" sz="2400" b="0" dirty="0">
                        <a:effectLst/>
                        <a:latin typeface="+mj-lt"/>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9057503"/>
                  </a:ext>
                </a:extLst>
              </a:tr>
              <a:tr h="0">
                <a:tc>
                  <a:txBody>
                    <a:bodyPr/>
                    <a:lstStyle/>
                    <a:p>
                      <a:pPr algn="ctr"/>
                      <a:r>
                        <a:rPr lang="en-US" sz="2400" b="1" dirty="0">
                          <a:effectLst/>
                          <a:latin typeface="Courier New" panose="02070309020205020404" pitchFamily="49" charset="0"/>
                          <a:cs typeface="Courier New" panose="02070309020205020404" pitchFamily="49" charset="0"/>
                        </a:rPr>
                        <a:t>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0x00, 0x01, 0x02, 0x03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9374126"/>
                  </a:ext>
                </a:extLst>
              </a:tr>
              <a:tr h="0">
                <a:tc>
                  <a:txBody>
                    <a:bodyPr/>
                    <a:lstStyle/>
                    <a:p>
                      <a:pPr algn="ctr"/>
                      <a:r>
                        <a:rPr lang="en-US" sz="2400" b="1" dirty="0">
                          <a:effectLst/>
                          <a:latin typeface="Courier New" panose="02070309020205020404" pitchFamily="49" charset="0"/>
                          <a:cs typeface="Courier New" panose="02070309020205020404" pitchFamily="49" charset="0"/>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0x04, 0x05, 0x06, 0x07</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689195"/>
                  </a:ext>
                </a:extLst>
              </a:tr>
              <a:tr h="0">
                <a:tc>
                  <a:txBody>
                    <a:bodyPr/>
                    <a:lstStyle/>
                    <a:p>
                      <a:pPr algn="ctr"/>
                      <a:r>
                        <a:rPr lang="en-US" sz="2400" b="1" dirty="0">
                          <a:effectLst/>
                          <a:latin typeface="Courier New" panose="02070309020205020404" pitchFamily="49" charset="0"/>
                          <a:cs typeface="Courier New" panose="02070309020205020404" pitchFamily="49" charset="0"/>
                        </a:rPr>
                        <a:t>2</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0x08, 0x09, 0x0A, 0x0B</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6437690"/>
                  </a:ext>
                </a:extLst>
              </a:tr>
              <a:tr h="0">
                <a:tc>
                  <a:txBody>
                    <a:bodyPr/>
                    <a:lstStyle/>
                    <a:p>
                      <a:pPr algn="ctr"/>
                      <a:r>
                        <a:rPr lang="en-US" sz="2400" b="1" dirty="0">
                          <a:effectLst/>
                          <a:latin typeface="Courier New" panose="02070309020205020404" pitchFamily="49" charset="0"/>
                          <a:cs typeface="Courier New" panose="02070309020205020404" pitchFamily="49" charset="0"/>
                        </a:rPr>
                        <a:t>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5435610"/>
                  </a:ext>
                </a:extLst>
              </a:tr>
              <a:tr h="0">
                <a:tc>
                  <a:txBody>
                    <a:bodyPr/>
                    <a:lstStyle/>
                    <a:p>
                      <a:pPr algn="ctr"/>
                      <a:r>
                        <a:rPr lang="en-US" sz="2400" b="1" dirty="0">
                          <a:effectLst/>
                          <a:latin typeface="Courier New" panose="02070309020205020404" pitchFamily="49" charset="0"/>
                          <a:cs typeface="Courier New" panose="02070309020205020404" pitchFamily="49" charset="0"/>
                        </a:rPr>
                        <a:t>4</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400" b="1" dirty="0">
                        <a:effectLst/>
                        <a:latin typeface="Courier New" panose="02070309020205020404" pitchFamily="49" charset="0"/>
                        <a:cs typeface="Courier New" panose="02070309020205020404" pitchFamily="49"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4131507"/>
                  </a:ext>
                </a:extLst>
              </a:tr>
              <a:tr h="0">
                <a:tc>
                  <a:txBody>
                    <a:bodyPr/>
                    <a:lstStyle/>
                    <a:p>
                      <a:pPr algn="ctr"/>
                      <a:r>
                        <a:rPr lang="en-US" sz="2400" b="1" dirty="0">
                          <a:effectLst/>
                          <a:latin typeface="Courier New" panose="02070309020205020404" pitchFamily="49" charset="0"/>
                          <a:cs typeface="Courier New" panose="02070309020205020404" pitchFamily="49" charset="0"/>
                        </a:rPr>
                        <a:t>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dirty="0">
                          <a:effectLst/>
                          <a:latin typeface="Courier New" panose="02070309020205020404" pitchFamily="49" charset="0"/>
                          <a:cs typeface="Courier New" panose="02070309020205020404" pitchFamily="49" charset="0"/>
                        </a:rPr>
                        <a:t>0x14, 0x15, 0x16, 0x17</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8244696"/>
                  </a:ext>
                </a:extLst>
              </a:tr>
              <a:tr h="0">
                <a:tc>
                  <a:txBody>
                    <a:bodyPr/>
                    <a:lstStyle/>
                    <a:p>
                      <a:pPr algn="ctr"/>
                      <a:r>
                        <a:rPr lang="en-US" sz="2400" b="1" dirty="0">
                          <a:effectLst/>
                          <a:latin typeface="Courier New" panose="02070309020205020404" pitchFamily="49" charset="0"/>
                          <a:cs typeface="Courier New" panose="02070309020205020404" pitchFamily="49" charset="0"/>
                        </a:rPr>
                        <a:t>6</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4437838"/>
                  </a:ext>
                </a:extLst>
              </a:tr>
              <a:tr h="0">
                <a:tc>
                  <a:txBody>
                    <a:bodyPr/>
                    <a:lstStyle/>
                    <a:p>
                      <a:pPr algn="ctr"/>
                      <a:r>
                        <a:rPr lang="en-US" sz="2400" b="1" dirty="0">
                          <a:effectLst/>
                          <a:latin typeface="Courier New" panose="02070309020205020404" pitchFamily="49" charset="0"/>
                          <a:cs typeface="Courier New" panose="02070309020205020404" pitchFamily="49" charset="0"/>
                        </a:rPr>
                        <a:t>7</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b="1">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sz="2400" b="1" dirty="0">
                          <a:effectLst/>
                          <a:latin typeface="Courier New" panose="02070309020205020404" pitchFamily="49" charset="0"/>
                          <a:cs typeface="Courier New" panose="02070309020205020404" pitchFamily="49"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0815365"/>
                  </a:ext>
                </a:extLst>
              </a:tr>
            </a:tbl>
          </a:graphicData>
        </a:graphic>
      </p:graphicFrame>
    </p:spTree>
    <p:extLst>
      <p:ext uri="{BB962C8B-B14F-4D97-AF65-F5344CB8AC3E}">
        <p14:creationId xmlns:p14="http://schemas.microsoft.com/office/powerpoint/2010/main" val="38456662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Direct Mapped Cache: Summary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In summary, direct mapped cache maps main memory blocks in a modular fashion to cache blocks. The mapping depends on:</a:t>
            </a:r>
          </a:p>
          <a:p>
            <a:pPr lvl="1"/>
            <a:r>
              <a:rPr lang="en-US" dirty="0"/>
              <a:t>The number of bits in a main memory address (how many addresses exist in main memory)</a:t>
            </a:r>
          </a:p>
          <a:p>
            <a:pPr lvl="1"/>
            <a:r>
              <a:rPr lang="en-US" dirty="0"/>
              <a:t>The number of blocks in cache (which determines the size of the block field in bits)</a:t>
            </a:r>
          </a:p>
          <a:p>
            <a:pPr lvl="1"/>
            <a:r>
              <a:rPr lang="en-US" dirty="0"/>
              <a:t>How many addresses (either bytes or words) are in a block (which determines the size of the offset field in bits)</a:t>
            </a:r>
          </a:p>
          <a:p>
            <a:endParaRPr lang="en-US" dirty="0"/>
          </a:p>
        </p:txBody>
      </p:sp>
    </p:spTree>
    <p:extLst>
      <p:ext uri="{BB962C8B-B14F-4D97-AF65-F5344CB8AC3E}">
        <p14:creationId xmlns:p14="http://schemas.microsoft.com/office/powerpoint/2010/main" val="18057486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Associative Cache</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85000" lnSpcReduction="20000"/>
          </a:bodyPr>
          <a:lstStyle/>
          <a:p>
            <a:r>
              <a:rPr lang="en-US" dirty="0"/>
              <a:t>Suppose instead of placing memory blocks in specific cache locations based on memory address, we could allow a block to go anywhere in cache.</a:t>
            </a:r>
          </a:p>
          <a:p>
            <a:r>
              <a:rPr lang="en-US" dirty="0"/>
              <a:t>In this way, cache would have to fill up before any blocks are evicted.</a:t>
            </a:r>
          </a:p>
          <a:p>
            <a:r>
              <a:rPr lang="en-US" dirty="0"/>
              <a:t>This is how </a:t>
            </a:r>
            <a:r>
              <a:rPr lang="en-US" b="1" dirty="0"/>
              <a:t>fully associative</a:t>
            </a:r>
            <a:r>
              <a:rPr lang="en-US" dirty="0"/>
              <a:t> cache works.  </a:t>
            </a:r>
          </a:p>
          <a:p>
            <a:r>
              <a:rPr lang="en-US" dirty="0"/>
              <a:t>A memory address is partitioned into only two fields: the tag and the offset.</a:t>
            </a:r>
          </a:p>
          <a:p>
            <a:r>
              <a:rPr lang="en-US" dirty="0"/>
              <a:t>Suppose we have 14-bit memory addresses (with byte-addressable memory) and a cache with 16 blocks where each block has 8 bytes.  The field format of a memory reference is:</a:t>
            </a:r>
          </a:p>
          <a:p>
            <a:endParaRPr lang="en-US" dirty="0"/>
          </a:p>
          <a:p>
            <a:pPr marL="114300" indent="0">
              <a:buNone/>
            </a:pPr>
            <a:endParaRPr lang="en-US" dirty="0"/>
          </a:p>
          <a:p>
            <a:pPr>
              <a:spcBef>
                <a:spcPts val="1800"/>
              </a:spcBef>
            </a:pPr>
            <a:r>
              <a:rPr lang="en-US" dirty="0"/>
              <a:t>When the cache is searched, all tags are searched in parallel to retrieve the data quickly. This requires special, costly hardware.</a:t>
            </a:r>
          </a:p>
          <a:p>
            <a:endParaRPr lang="en-US" dirty="0"/>
          </a:p>
        </p:txBody>
      </p:sp>
      <p:pic>
        <p:nvPicPr>
          <p:cNvPr id="4" name="Picture 3" descr="9781284033144_CH06_FIG10.jpg">
            <a:extLst>
              <a:ext uri="{FF2B5EF4-FFF2-40B4-BE49-F238E27FC236}">
                <a16:creationId xmlns:a16="http://schemas.microsoft.com/office/drawing/2014/main" id="{81E3420C-DA76-455C-A5DE-6EADAB39273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80285" y="4235116"/>
            <a:ext cx="4210399" cy="121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6275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Block Replacement Policy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dirty="0"/>
              <a:t>Direct mapped cache evicts a block whenever another memory reference needs that block.</a:t>
            </a:r>
          </a:p>
          <a:p>
            <a:r>
              <a:rPr lang="en-US" dirty="0"/>
              <a:t>With fully associative cache, we have no such mapping</a:t>
            </a:r>
          </a:p>
          <a:p>
            <a:r>
              <a:rPr lang="en-US" dirty="0"/>
              <a:t>We need an algorithm to determine which block to evict from the cache.</a:t>
            </a:r>
          </a:p>
          <a:p>
            <a:r>
              <a:rPr lang="en-US" dirty="0"/>
              <a:t>The block that is evicted is the </a:t>
            </a:r>
            <a:r>
              <a:rPr lang="en-US" b="1" dirty="0"/>
              <a:t>victim block</a:t>
            </a:r>
            <a:r>
              <a:rPr lang="en-US" dirty="0"/>
              <a:t>. But how do we pick a victim?</a:t>
            </a:r>
          </a:p>
          <a:p>
            <a:r>
              <a:rPr lang="en-US" dirty="0"/>
              <a:t>With fully associative cache, a </a:t>
            </a:r>
            <a:r>
              <a:rPr lang="en-US" b="1" dirty="0"/>
              <a:t>replacement policy</a:t>
            </a:r>
            <a:r>
              <a:rPr lang="en-US" dirty="0"/>
              <a:t> is invoked when it becomes necessary to evict a block from cache.</a:t>
            </a:r>
          </a:p>
          <a:p>
            <a:r>
              <a:rPr lang="en-US" dirty="0"/>
              <a:t>An </a:t>
            </a:r>
            <a:r>
              <a:rPr lang="en-US" b="1" dirty="0"/>
              <a:t>optimal</a:t>
            </a:r>
            <a:r>
              <a:rPr lang="en-US" dirty="0"/>
              <a:t> replacement policy would be able to look into the future to see which blocks won’t be needed for the longest period of time.</a:t>
            </a:r>
          </a:p>
          <a:p>
            <a:r>
              <a:rPr lang="en-US" dirty="0"/>
              <a:t>Although it is impossible to implement an optimal replacement algorithm, it is instructive to use it as a benchmark for assessing the efficiency of any other scheme we come up with.</a:t>
            </a:r>
          </a:p>
          <a:p>
            <a:endParaRPr lang="en-US" dirty="0"/>
          </a:p>
          <a:p>
            <a:endParaRPr lang="en-US" dirty="0"/>
          </a:p>
        </p:txBody>
      </p:sp>
    </p:spTree>
    <p:extLst>
      <p:ext uri="{BB962C8B-B14F-4D97-AF65-F5344CB8AC3E}">
        <p14:creationId xmlns:p14="http://schemas.microsoft.com/office/powerpoint/2010/main" val="20916465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Block Replacement Policy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85000" lnSpcReduction="20000"/>
          </a:bodyPr>
          <a:lstStyle/>
          <a:p>
            <a:r>
              <a:rPr lang="en-US" dirty="0"/>
              <a:t>The replacement policy that we choose depends upon the locality that we are trying to optimize – usually, we are interested in </a:t>
            </a:r>
            <a:r>
              <a:rPr lang="en-US" b="1" dirty="0"/>
              <a:t>temporal locality</a:t>
            </a:r>
            <a:r>
              <a:rPr lang="en-US" dirty="0"/>
              <a:t>.</a:t>
            </a:r>
          </a:p>
          <a:p>
            <a:r>
              <a:rPr lang="en-US" dirty="0"/>
              <a:t>That is, we want to retain in the cache those blocks we expect to need again soon</a:t>
            </a:r>
          </a:p>
          <a:p>
            <a:r>
              <a:rPr lang="en-US" dirty="0"/>
              <a:t>A </a:t>
            </a:r>
            <a:r>
              <a:rPr lang="en-US" b="1" dirty="0"/>
              <a:t>least recently used (LRU)</a:t>
            </a:r>
            <a:r>
              <a:rPr lang="en-US" dirty="0"/>
              <a:t> algorithm tracks when a block was last accessed and evicts the block that has been unused for the longest period of time.</a:t>
            </a:r>
          </a:p>
          <a:p>
            <a:r>
              <a:rPr lang="en-US" dirty="0"/>
              <a:t>The disadvantage of this approach is its complexity: LRU has to maintain an access history for each block, which ultimately slows down the cache.</a:t>
            </a:r>
          </a:p>
          <a:p>
            <a:r>
              <a:rPr lang="en-US" dirty="0"/>
              <a:t>To implement LRU we need to keep track of the “age” of the block in the cache</a:t>
            </a:r>
          </a:p>
          <a:p>
            <a:r>
              <a:rPr lang="en-US" b="1" dirty="0"/>
              <a:t>First-in, first-out (FIFO)</a:t>
            </a:r>
            <a:r>
              <a:rPr lang="en-US" dirty="0"/>
              <a:t> is a different popular cache replacement policy.</a:t>
            </a:r>
          </a:p>
          <a:p>
            <a:r>
              <a:rPr lang="en-US" dirty="0"/>
              <a:t>In FIFO, the block that has been in the cache the longest, regardless of when it was last used. A special kind of list called a </a:t>
            </a:r>
            <a:r>
              <a:rPr lang="en-US" b="1" dirty="0"/>
              <a:t>queue</a:t>
            </a:r>
            <a:r>
              <a:rPr lang="en-US" dirty="0"/>
              <a:t> is used to track this information.</a:t>
            </a:r>
          </a:p>
          <a:p>
            <a:endParaRPr lang="en-US" dirty="0"/>
          </a:p>
        </p:txBody>
      </p:sp>
    </p:spTree>
    <p:extLst>
      <p:ext uri="{BB962C8B-B14F-4D97-AF65-F5344CB8AC3E}">
        <p14:creationId xmlns:p14="http://schemas.microsoft.com/office/powerpoint/2010/main" val="13081172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LRU Block Replacement: Example</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Suppose a program makes a sequence of memory references that cause the following memory blocks to be read, in this order: E, A, B, E, D, B, A, C</a:t>
            </a:r>
          </a:p>
          <a:p>
            <a:r>
              <a:rPr lang="en-US" dirty="0"/>
              <a:t>The CPU’s cache has 4 blocks</a:t>
            </a:r>
          </a:p>
          <a:p>
            <a:r>
              <a:rPr lang="en-US" dirty="0"/>
              <a:t>Show the state of the cache after each memory block access</a:t>
            </a:r>
          </a:p>
          <a:p>
            <a:r>
              <a:rPr lang="en-US" dirty="0"/>
              <a:t>Indicate the age of a block by giving the sequence number of when the block was last referenced</a:t>
            </a:r>
          </a:p>
          <a:p>
            <a:endParaRPr lang="en-US" dirty="0"/>
          </a:p>
          <a:p>
            <a:endParaRPr lang="en-US" dirty="0"/>
          </a:p>
        </p:txBody>
      </p:sp>
    </p:spTree>
    <p:extLst>
      <p:ext uri="{BB962C8B-B14F-4D97-AF65-F5344CB8AC3E}">
        <p14:creationId xmlns:p14="http://schemas.microsoft.com/office/powerpoint/2010/main" val="26758011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LRU Block Replacement: Example</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dirty="0"/>
              <a:t>Block access sequence: </a:t>
            </a:r>
            <a:r>
              <a:rPr lang="en-US" b="1" dirty="0"/>
              <a:t>E</a:t>
            </a:r>
            <a:r>
              <a:rPr lang="en-US" dirty="0"/>
              <a:t>, A, B, E, D, B, A, C</a:t>
            </a:r>
          </a:p>
          <a:p>
            <a:endParaRPr lang="en-US" dirty="0"/>
          </a:p>
          <a:p>
            <a:endParaRPr lang="en-US" dirty="0"/>
          </a:p>
          <a:p>
            <a:r>
              <a:rPr lang="en-US" dirty="0"/>
              <a:t>Block access sequence: E, </a:t>
            </a:r>
            <a:r>
              <a:rPr lang="en-US" b="1" dirty="0"/>
              <a:t>A</a:t>
            </a:r>
            <a:r>
              <a:rPr lang="en-US" dirty="0"/>
              <a:t>, B, E, D, B, A, C</a:t>
            </a:r>
          </a:p>
          <a:p>
            <a:endParaRPr lang="en-US" dirty="0"/>
          </a:p>
          <a:p>
            <a:endParaRPr lang="en-US" dirty="0"/>
          </a:p>
          <a:p>
            <a:r>
              <a:rPr lang="en-US" dirty="0"/>
              <a:t>Block access sequence: E, A, </a:t>
            </a:r>
            <a:r>
              <a:rPr lang="en-US" b="1" dirty="0"/>
              <a:t>B</a:t>
            </a:r>
            <a:r>
              <a:rPr lang="en-US" dirty="0"/>
              <a:t>, E, D, B, A, C</a:t>
            </a:r>
          </a:p>
          <a:p>
            <a:endParaRPr lang="en-US" dirty="0"/>
          </a:p>
          <a:p>
            <a:endParaRPr lang="en-US" dirty="0"/>
          </a:p>
          <a:p>
            <a:r>
              <a:rPr lang="en-US" dirty="0"/>
              <a:t>Block access sequence: E, A, B, </a:t>
            </a:r>
            <a:r>
              <a:rPr lang="en-US" b="1" dirty="0"/>
              <a:t>E</a:t>
            </a:r>
            <a:r>
              <a:rPr lang="en-US" dirty="0"/>
              <a:t>, D, B, A, C</a:t>
            </a:r>
          </a:p>
          <a:p>
            <a:endParaRPr lang="en-US" dirty="0"/>
          </a:p>
        </p:txBody>
      </p:sp>
      <p:graphicFrame>
        <p:nvGraphicFramePr>
          <p:cNvPr id="4" name="Table 3">
            <a:extLst>
              <a:ext uri="{FF2B5EF4-FFF2-40B4-BE49-F238E27FC236}">
                <a16:creationId xmlns:a16="http://schemas.microsoft.com/office/drawing/2014/main" id="{DB40FA49-14E1-428A-A8D5-6247F6D71BE0}"/>
              </a:ext>
            </a:extLst>
          </p:cNvPr>
          <p:cNvGraphicFramePr>
            <a:graphicFrameLocks noGrp="1"/>
          </p:cNvGraphicFramePr>
          <p:nvPr>
            <p:extLst>
              <p:ext uri="{D42A27DB-BD31-4B8C-83A1-F6EECF244321}">
                <p14:modId xmlns:p14="http://schemas.microsoft.com/office/powerpoint/2010/main" val="1220968936"/>
              </p:ext>
            </p:extLst>
          </p:nvPr>
        </p:nvGraphicFramePr>
        <p:xfrm>
          <a:off x="1066800" y="2294732"/>
          <a:ext cx="6096000" cy="487680"/>
        </p:xfrm>
        <a:graphic>
          <a:graphicData uri="http://schemas.openxmlformats.org/drawingml/2006/table">
            <a:tbl>
              <a:tblPr bandRow="1">
                <a:tableStyleId>{5940675A-B579-460E-94D1-54222C63F5DA}</a:tableStyleId>
              </a:tblPr>
              <a:tblGrid>
                <a:gridCol w="1524000">
                  <a:extLst>
                    <a:ext uri="{9D8B030D-6E8A-4147-A177-3AD203B41FA5}">
                      <a16:colId xmlns:a16="http://schemas.microsoft.com/office/drawing/2014/main" val="337897615"/>
                    </a:ext>
                  </a:extLst>
                </a:gridCol>
                <a:gridCol w="1524000">
                  <a:extLst>
                    <a:ext uri="{9D8B030D-6E8A-4147-A177-3AD203B41FA5}">
                      <a16:colId xmlns:a16="http://schemas.microsoft.com/office/drawing/2014/main" val="75683301"/>
                    </a:ext>
                  </a:extLst>
                </a:gridCol>
                <a:gridCol w="1524000">
                  <a:extLst>
                    <a:ext uri="{9D8B030D-6E8A-4147-A177-3AD203B41FA5}">
                      <a16:colId xmlns:a16="http://schemas.microsoft.com/office/drawing/2014/main" val="3418249292"/>
                    </a:ext>
                  </a:extLst>
                </a:gridCol>
                <a:gridCol w="1524000">
                  <a:extLst>
                    <a:ext uri="{9D8B030D-6E8A-4147-A177-3AD203B41FA5}">
                      <a16:colId xmlns:a16="http://schemas.microsoft.com/office/drawing/2014/main" val="638644584"/>
                    </a:ext>
                  </a:extLst>
                </a:gridCol>
              </a:tblGrid>
              <a:tr h="370840">
                <a:tc>
                  <a:txBody>
                    <a:bodyPr/>
                    <a:lstStyle/>
                    <a:p>
                      <a:pPr algn="ctr"/>
                      <a:r>
                        <a:rPr lang="en-US" sz="2600" dirty="0">
                          <a:latin typeface="+mj-lt"/>
                        </a:rPr>
                        <a:t>E (1)</a:t>
                      </a:r>
                    </a:p>
                  </a:txBody>
                  <a:tcPr/>
                </a:tc>
                <a:tc>
                  <a:txBody>
                    <a:bodyPr/>
                    <a:lstStyle/>
                    <a:p>
                      <a:pPr algn="ctr"/>
                      <a:endParaRPr lang="en-US" sz="2600" dirty="0">
                        <a:latin typeface="+mj-lt"/>
                      </a:endParaRPr>
                    </a:p>
                  </a:txBody>
                  <a:tcPr/>
                </a:tc>
                <a:tc>
                  <a:txBody>
                    <a:bodyPr/>
                    <a:lstStyle/>
                    <a:p>
                      <a:pPr algn="ctr"/>
                      <a:endParaRPr lang="en-US" sz="2600">
                        <a:latin typeface="+mj-lt"/>
                      </a:endParaRPr>
                    </a:p>
                  </a:txBody>
                  <a:tcPr/>
                </a:tc>
                <a:tc>
                  <a:txBody>
                    <a:bodyPr/>
                    <a:lstStyle/>
                    <a:p>
                      <a:pPr algn="ctr"/>
                      <a:endParaRPr lang="en-US" sz="2600" dirty="0">
                        <a:latin typeface="+mj-lt"/>
                      </a:endParaRPr>
                    </a:p>
                  </a:txBody>
                  <a:tcPr/>
                </a:tc>
                <a:extLst>
                  <a:ext uri="{0D108BD9-81ED-4DB2-BD59-A6C34878D82A}">
                    <a16:rowId xmlns:a16="http://schemas.microsoft.com/office/drawing/2014/main" val="2816538912"/>
                  </a:ext>
                </a:extLst>
              </a:tr>
            </a:tbl>
          </a:graphicData>
        </a:graphic>
      </p:graphicFrame>
      <p:graphicFrame>
        <p:nvGraphicFramePr>
          <p:cNvPr id="5" name="Table 4">
            <a:extLst>
              <a:ext uri="{FF2B5EF4-FFF2-40B4-BE49-F238E27FC236}">
                <a16:creationId xmlns:a16="http://schemas.microsoft.com/office/drawing/2014/main" id="{DB40FA49-14E1-428A-A8D5-6247F6D71BE0}"/>
              </a:ext>
            </a:extLst>
          </p:cNvPr>
          <p:cNvGraphicFramePr>
            <a:graphicFrameLocks noGrp="1"/>
          </p:cNvGraphicFramePr>
          <p:nvPr>
            <p:extLst>
              <p:ext uri="{D42A27DB-BD31-4B8C-83A1-F6EECF244321}">
                <p14:modId xmlns:p14="http://schemas.microsoft.com/office/powerpoint/2010/main" val="3655619047"/>
              </p:ext>
            </p:extLst>
          </p:nvPr>
        </p:nvGraphicFramePr>
        <p:xfrm>
          <a:off x="1066800" y="3644659"/>
          <a:ext cx="6096000" cy="487680"/>
        </p:xfrm>
        <a:graphic>
          <a:graphicData uri="http://schemas.openxmlformats.org/drawingml/2006/table">
            <a:tbl>
              <a:tblPr bandRow="1">
                <a:tableStyleId>{5940675A-B579-460E-94D1-54222C63F5DA}</a:tableStyleId>
              </a:tblPr>
              <a:tblGrid>
                <a:gridCol w="1524000">
                  <a:extLst>
                    <a:ext uri="{9D8B030D-6E8A-4147-A177-3AD203B41FA5}">
                      <a16:colId xmlns:a16="http://schemas.microsoft.com/office/drawing/2014/main" val="337897615"/>
                    </a:ext>
                  </a:extLst>
                </a:gridCol>
                <a:gridCol w="1524000">
                  <a:extLst>
                    <a:ext uri="{9D8B030D-6E8A-4147-A177-3AD203B41FA5}">
                      <a16:colId xmlns:a16="http://schemas.microsoft.com/office/drawing/2014/main" val="75683301"/>
                    </a:ext>
                  </a:extLst>
                </a:gridCol>
                <a:gridCol w="1524000">
                  <a:extLst>
                    <a:ext uri="{9D8B030D-6E8A-4147-A177-3AD203B41FA5}">
                      <a16:colId xmlns:a16="http://schemas.microsoft.com/office/drawing/2014/main" val="3418249292"/>
                    </a:ext>
                  </a:extLst>
                </a:gridCol>
                <a:gridCol w="1524000">
                  <a:extLst>
                    <a:ext uri="{9D8B030D-6E8A-4147-A177-3AD203B41FA5}">
                      <a16:colId xmlns:a16="http://schemas.microsoft.com/office/drawing/2014/main" val="638644584"/>
                    </a:ext>
                  </a:extLst>
                </a:gridCol>
              </a:tblGrid>
              <a:tr h="370840">
                <a:tc>
                  <a:txBody>
                    <a:bodyPr/>
                    <a:lstStyle/>
                    <a:p>
                      <a:pPr algn="ctr"/>
                      <a:r>
                        <a:rPr lang="en-US" sz="2600" dirty="0">
                          <a:latin typeface="+mj-lt"/>
                        </a:rPr>
                        <a:t>E (1)</a:t>
                      </a:r>
                    </a:p>
                  </a:txBody>
                  <a:tcPr/>
                </a:tc>
                <a:tc>
                  <a:txBody>
                    <a:bodyPr/>
                    <a:lstStyle/>
                    <a:p>
                      <a:pPr algn="ctr"/>
                      <a:r>
                        <a:rPr lang="en-US" sz="2600" dirty="0">
                          <a:latin typeface="+mj-lt"/>
                        </a:rPr>
                        <a:t>A (2)</a:t>
                      </a:r>
                    </a:p>
                  </a:txBody>
                  <a:tcPr/>
                </a:tc>
                <a:tc>
                  <a:txBody>
                    <a:bodyPr/>
                    <a:lstStyle/>
                    <a:p>
                      <a:pPr algn="ctr"/>
                      <a:endParaRPr lang="en-US" sz="2600">
                        <a:latin typeface="+mj-lt"/>
                      </a:endParaRPr>
                    </a:p>
                  </a:txBody>
                  <a:tcPr/>
                </a:tc>
                <a:tc>
                  <a:txBody>
                    <a:bodyPr/>
                    <a:lstStyle/>
                    <a:p>
                      <a:pPr algn="ctr"/>
                      <a:endParaRPr lang="en-US" sz="2600" dirty="0">
                        <a:latin typeface="+mj-lt"/>
                      </a:endParaRPr>
                    </a:p>
                  </a:txBody>
                  <a:tcPr/>
                </a:tc>
                <a:extLst>
                  <a:ext uri="{0D108BD9-81ED-4DB2-BD59-A6C34878D82A}">
                    <a16:rowId xmlns:a16="http://schemas.microsoft.com/office/drawing/2014/main" val="2816538912"/>
                  </a:ext>
                </a:extLst>
              </a:tr>
            </a:tbl>
          </a:graphicData>
        </a:graphic>
      </p:graphicFrame>
      <p:graphicFrame>
        <p:nvGraphicFramePr>
          <p:cNvPr id="6" name="Table 5">
            <a:extLst>
              <a:ext uri="{FF2B5EF4-FFF2-40B4-BE49-F238E27FC236}">
                <a16:creationId xmlns:a16="http://schemas.microsoft.com/office/drawing/2014/main" id="{DB40FA49-14E1-428A-A8D5-6247F6D71BE0}"/>
              </a:ext>
            </a:extLst>
          </p:cNvPr>
          <p:cNvGraphicFramePr>
            <a:graphicFrameLocks noGrp="1"/>
          </p:cNvGraphicFramePr>
          <p:nvPr>
            <p:extLst>
              <p:ext uri="{D42A27DB-BD31-4B8C-83A1-F6EECF244321}">
                <p14:modId xmlns:p14="http://schemas.microsoft.com/office/powerpoint/2010/main" val="3510023076"/>
              </p:ext>
            </p:extLst>
          </p:nvPr>
        </p:nvGraphicFramePr>
        <p:xfrm>
          <a:off x="1066800" y="4750746"/>
          <a:ext cx="6096000" cy="487680"/>
        </p:xfrm>
        <a:graphic>
          <a:graphicData uri="http://schemas.openxmlformats.org/drawingml/2006/table">
            <a:tbl>
              <a:tblPr bandRow="1">
                <a:tableStyleId>{5940675A-B579-460E-94D1-54222C63F5DA}</a:tableStyleId>
              </a:tblPr>
              <a:tblGrid>
                <a:gridCol w="1524000">
                  <a:extLst>
                    <a:ext uri="{9D8B030D-6E8A-4147-A177-3AD203B41FA5}">
                      <a16:colId xmlns:a16="http://schemas.microsoft.com/office/drawing/2014/main" val="337897615"/>
                    </a:ext>
                  </a:extLst>
                </a:gridCol>
                <a:gridCol w="1524000">
                  <a:extLst>
                    <a:ext uri="{9D8B030D-6E8A-4147-A177-3AD203B41FA5}">
                      <a16:colId xmlns:a16="http://schemas.microsoft.com/office/drawing/2014/main" val="75683301"/>
                    </a:ext>
                  </a:extLst>
                </a:gridCol>
                <a:gridCol w="1524000">
                  <a:extLst>
                    <a:ext uri="{9D8B030D-6E8A-4147-A177-3AD203B41FA5}">
                      <a16:colId xmlns:a16="http://schemas.microsoft.com/office/drawing/2014/main" val="3418249292"/>
                    </a:ext>
                  </a:extLst>
                </a:gridCol>
                <a:gridCol w="1524000">
                  <a:extLst>
                    <a:ext uri="{9D8B030D-6E8A-4147-A177-3AD203B41FA5}">
                      <a16:colId xmlns:a16="http://schemas.microsoft.com/office/drawing/2014/main" val="638644584"/>
                    </a:ext>
                  </a:extLst>
                </a:gridCol>
              </a:tblGrid>
              <a:tr h="370840">
                <a:tc>
                  <a:txBody>
                    <a:bodyPr/>
                    <a:lstStyle/>
                    <a:p>
                      <a:pPr algn="ctr"/>
                      <a:r>
                        <a:rPr lang="en-US" sz="2600" dirty="0">
                          <a:latin typeface="+mj-lt"/>
                        </a:rPr>
                        <a:t>E (1)</a:t>
                      </a:r>
                    </a:p>
                  </a:txBody>
                  <a:tcPr/>
                </a:tc>
                <a:tc>
                  <a:txBody>
                    <a:bodyPr/>
                    <a:lstStyle/>
                    <a:p>
                      <a:pPr algn="ctr"/>
                      <a:r>
                        <a:rPr lang="en-US" sz="2600" dirty="0">
                          <a:latin typeface="+mj-lt"/>
                        </a:rPr>
                        <a:t>A (2)</a:t>
                      </a:r>
                    </a:p>
                  </a:txBody>
                  <a:tcPr/>
                </a:tc>
                <a:tc>
                  <a:txBody>
                    <a:bodyPr/>
                    <a:lstStyle/>
                    <a:p>
                      <a:pPr algn="ctr"/>
                      <a:r>
                        <a:rPr lang="en-US" sz="2600" dirty="0">
                          <a:latin typeface="+mj-lt"/>
                        </a:rPr>
                        <a:t>B (3)</a:t>
                      </a:r>
                    </a:p>
                  </a:txBody>
                  <a:tcPr/>
                </a:tc>
                <a:tc>
                  <a:txBody>
                    <a:bodyPr/>
                    <a:lstStyle/>
                    <a:p>
                      <a:pPr algn="ctr"/>
                      <a:endParaRPr lang="en-US" sz="2600" dirty="0">
                        <a:latin typeface="+mj-lt"/>
                      </a:endParaRPr>
                    </a:p>
                  </a:txBody>
                  <a:tcPr/>
                </a:tc>
                <a:extLst>
                  <a:ext uri="{0D108BD9-81ED-4DB2-BD59-A6C34878D82A}">
                    <a16:rowId xmlns:a16="http://schemas.microsoft.com/office/drawing/2014/main" val="2816538912"/>
                  </a:ext>
                </a:extLst>
              </a:tr>
            </a:tbl>
          </a:graphicData>
        </a:graphic>
      </p:graphicFrame>
      <p:graphicFrame>
        <p:nvGraphicFramePr>
          <p:cNvPr id="7" name="Table 6">
            <a:extLst>
              <a:ext uri="{FF2B5EF4-FFF2-40B4-BE49-F238E27FC236}">
                <a16:creationId xmlns:a16="http://schemas.microsoft.com/office/drawing/2014/main" id="{DB40FA49-14E1-428A-A8D5-6247F6D71BE0}"/>
              </a:ext>
            </a:extLst>
          </p:cNvPr>
          <p:cNvGraphicFramePr>
            <a:graphicFrameLocks noGrp="1"/>
          </p:cNvGraphicFramePr>
          <p:nvPr>
            <p:extLst>
              <p:ext uri="{D42A27DB-BD31-4B8C-83A1-F6EECF244321}">
                <p14:modId xmlns:p14="http://schemas.microsoft.com/office/powerpoint/2010/main" val="3850785702"/>
              </p:ext>
            </p:extLst>
          </p:nvPr>
        </p:nvGraphicFramePr>
        <p:xfrm>
          <a:off x="1066800" y="6005195"/>
          <a:ext cx="6096000" cy="487680"/>
        </p:xfrm>
        <a:graphic>
          <a:graphicData uri="http://schemas.openxmlformats.org/drawingml/2006/table">
            <a:tbl>
              <a:tblPr bandRow="1">
                <a:tableStyleId>{5940675A-B579-460E-94D1-54222C63F5DA}</a:tableStyleId>
              </a:tblPr>
              <a:tblGrid>
                <a:gridCol w="1524000">
                  <a:extLst>
                    <a:ext uri="{9D8B030D-6E8A-4147-A177-3AD203B41FA5}">
                      <a16:colId xmlns:a16="http://schemas.microsoft.com/office/drawing/2014/main" val="337897615"/>
                    </a:ext>
                  </a:extLst>
                </a:gridCol>
                <a:gridCol w="1524000">
                  <a:extLst>
                    <a:ext uri="{9D8B030D-6E8A-4147-A177-3AD203B41FA5}">
                      <a16:colId xmlns:a16="http://schemas.microsoft.com/office/drawing/2014/main" val="75683301"/>
                    </a:ext>
                  </a:extLst>
                </a:gridCol>
                <a:gridCol w="1524000">
                  <a:extLst>
                    <a:ext uri="{9D8B030D-6E8A-4147-A177-3AD203B41FA5}">
                      <a16:colId xmlns:a16="http://schemas.microsoft.com/office/drawing/2014/main" val="3418249292"/>
                    </a:ext>
                  </a:extLst>
                </a:gridCol>
                <a:gridCol w="1524000">
                  <a:extLst>
                    <a:ext uri="{9D8B030D-6E8A-4147-A177-3AD203B41FA5}">
                      <a16:colId xmlns:a16="http://schemas.microsoft.com/office/drawing/2014/main" val="638644584"/>
                    </a:ext>
                  </a:extLst>
                </a:gridCol>
              </a:tblGrid>
              <a:tr h="370840">
                <a:tc>
                  <a:txBody>
                    <a:bodyPr/>
                    <a:lstStyle/>
                    <a:p>
                      <a:pPr algn="ctr"/>
                      <a:r>
                        <a:rPr lang="en-US" sz="2600" dirty="0">
                          <a:latin typeface="+mj-lt"/>
                        </a:rPr>
                        <a:t>E (4)</a:t>
                      </a:r>
                    </a:p>
                  </a:txBody>
                  <a:tcPr/>
                </a:tc>
                <a:tc>
                  <a:txBody>
                    <a:bodyPr/>
                    <a:lstStyle/>
                    <a:p>
                      <a:pPr algn="ctr"/>
                      <a:r>
                        <a:rPr lang="en-US" sz="2600" dirty="0">
                          <a:latin typeface="+mj-lt"/>
                        </a:rPr>
                        <a:t>A (2)</a:t>
                      </a:r>
                    </a:p>
                  </a:txBody>
                  <a:tcPr/>
                </a:tc>
                <a:tc>
                  <a:txBody>
                    <a:bodyPr/>
                    <a:lstStyle/>
                    <a:p>
                      <a:pPr algn="ctr"/>
                      <a:r>
                        <a:rPr lang="en-US" sz="2600" dirty="0">
                          <a:latin typeface="+mj-lt"/>
                        </a:rPr>
                        <a:t>B (3)</a:t>
                      </a:r>
                    </a:p>
                  </a:txBody>
                  <a:tcPr/>
                </a:tc>
                <a:tc>
                  <a:txBody>
                    <a:bodyPr/>
                    <a:lstStyle/>
                    <a:p>
                      <a:pPr algn="ctr"/>
                      <a:endParaRPr lang="en-US" sz="2600" dirty="0">
                        <a:latin typeface="+mj-lt"/>
                      </a:endParaRPr>
                    </a:p>
                  </a:txBody>
                  <a:tcPr/>
                </a:tc>
                <a:extLst>
                  <a:ext uri="{0D108BD9-81ED-4DB2-BD59-A6C34878D82A}">
                    <a16:rowId xmlns:a16="http://schemas.microsoft.com/office/drawing/2014/main" val="2816538912"/>
                  </a:ext>
                </a:extLst>
              </a:tr>
            </a:tbl>
          </a:graphicData>
        </a:graphic>
      </p:graphicFrame>
    </p:spTree>
    <p:extLst>
      <p:ext uri="{BB962C8B-B14F-4D97-AF65-F5344CB8AC3E}">
        <p14:creationId xmlns:p14="http://schemas.microsoft.com/office/powerpoint/2010/main" val="3733863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LRU Block Replacement: Example</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dirty="0"/>
              <a:t>Block access sequence: E, A, B, E, </a:t>
            </a:r>
            <a:r>
              <a:rPr lang="en-US" b="1" dirty="0"/>
              <a:t>D</a:t>
            </a:r>
            <a:r>
              <a:rPr lang="en-US" dirty="0"/>
              <a:t>, B, A, C</a:t>
            </a:r>
          </a:p>
          <a:p>
            <a:endParaRPr lang="en-US" dirty="0"/>
          </a:p>
          <a:p>
            <a:endParaRPr lang="en-US" dirty="0"/>
          </a:p>
          <a:p>
            <a:r>
              <a:rPr lang="en-US" dirty="0"/>
              <a:t>Block access sequence: E, A, B, E, D, </a:t>
            </a:r>
            <a:r>
              <a:rPr lang="en-US" b="1" dirty="0"/>
              <a:t>B</a:t>
            </a:r>
            <a:r>
              <a:rPr lang="en-US" dirty="0"/>
              <a:t>, A, C</a:t>
            </a:r>
          </a:p>
          <a:p>
            <a:endParaRPr lang="en-US" dirty="0"/>
          </a:p>
          <a:p>
            <a:endParaRPr lang="en-US" dirty="0"/>
          </a:p>
          <a:p>
            <a:r>
              <a:rPr lang="en-US" dirty="0"/>
              <a:t>Block access sequence: E, A, B, E, D, B, </a:t>
            </a:r>
            <a:r>
              <a:rPr lang="en-US" b="1" dirty="0"/>
              <a:t>A</a:t>
            </a:r>
            <a:r>
              <a:rPr lang="en-US" dirty="0"/>
              <a:t>, C</a:t>
            </a:r>
          </a:p>
          <a:p>
            <a:endParaRPr lang="en-US" dirty="0"/>
          </a:p>
          <a:p>
            <a:endParaRPr lang="en-US" dirty="0"/>
          </a:p>
          <a:p>
            <a:r>
              <a:rPr lang="en-US" dirty="0"/>
              <a:t>Block access sequence: E, A, B, E, D, B, A, </a:t>
            </a:r>
            <a:r>
              <a:rPr lang="en-US" b="1" dirty="0"/>
              <a:t>C</a:t>
            </a:r>
          </a:p>
          <a:p>
            <a:endParaRPr lang="en-US" dirty="0"/>
          </a:p>
        </p:txBody>
      </p:sp>
      <p:graphicFrame>
        <p:nvGraphicFramePr>
          <p:cNvPr id="4" name="Table 3">
            <a:extLst>
              <a:ext uri="{FF2B5EF4-FFF2-40B4-BE49-F238E27FC236}">
                <a16:creationId xmlns:a16="http://schemas.microsoft.com/office/drawing/2014/main" id="{DB40FA49-14E1-428A-A8D5-6247F6D71BE0}"/>
              </a:ext>
            </a:extLst>
          </p:cNvPr>
          <p:cNvGraphicFramePr>
            <a:graphicFrameLocks noGrp="1"/>
          </p:cNvGraphicFramePr>
          <p:nvPr>
            <p:extLst>
              <p:ext uri="{D42A27DB-BD31-4B8C-83A1-F6EECF244321}">
                <p14:modId xmlns:p14="http://schemas.microsoft.com/office/powerpoint/2010/main" val="4030741765"/>
              </p:ext>
            </p:extLst>
          </p:nvPr>
        </p:nvGraphicFramePr>
        <p:xfrm>
          <a:off x="1066800" y="2276424"/>
          <a:ext cx="6096000" cy="487680"/>
        </p:xfrm>
        <a:graphic>
          <a:graphicData uri="http://schemas.openxmlformats.org/drawingml/2006/table">
            <a:tbl>
              <a:tblPr bandRow="1">
                <a:tableStyleId>{5940675A-B579-460E-94D1-54222C63F5DA}</a:tableStyleId>
              </a:tblPr>
              <a:tblGrid>
                <a:gridCol w="1524000">
                  <a:extLst>
                    <a:ext uri="{9D8B030D-6E8A-4147-A177-3AD203B41FA5}">
                      <a16:colId xmlns:a16="http://schemas.microsoft.com/office/drawing/2014/main" val="337897615"/>
                    </a:ext>
                  </a:extLst>
                </a:gridCol>
                <a:gridCol w="1524000">
                  <a:extLst>
                    <a:ext uri="{9D8B030D-6E8A-4147-A177-3AD203B41FA5}">
                      <a16:colId xmlns:a16="http://schemas.microsoft.com/office/drawing/2014/main" val="75683301"/>
                    </a:ext>
                  </a:extLst>
                </a:gridCol>
                <a:gridCol w="1524000">
                  <a:extLst>
                    <a:ext uri="{9D8B030D-6E8A-4147-A177-3AD203B41FA5}">
                      <a16:colId xmlns:a16="http://schemas.microsoft.com/office/drawing/2014/main" val="3418249292"/>
                    </a:ext>
                  </a:extLst>
                </a:gridCol>
                <a:gridCol w="1524000">
                  <a:extLst>
                    <a:ext uri="{9D8B030D-6E8A-4147-A177-3AD203B41FA5}">
                      <a16:colId xmlns:a16="http://schemas.microsoft.com/office/drawing/2014/main" val="638644584"/>
                    </a:ext>
                  </a:extLst>
                </a:gridCol>
              </a:tblGrid>
              <a:tr h="370840">
                <a:tc>
                  <a:txBody>
                    <a:bodyPr/>
                    <a:lstStyle/>
                    <a:p>
                      <a:pPr algn="ctr"/>
                      <a:r>
                        <a:rPr lang="en-US" sz="2600" dirty="0">
                          <a:latin typeface="+mj-lt"/>
                        </a:rPr>
                        <a:t>E (4)</a:t>
                      </a:r>
                    </a:p>
                  </a:txBody>
                  <a:tcPr/>
                </a:tc>
                <a:tc>
                  <a:txBody>
                    <a:bodyPr/>
                    <a:lstStyle/>
                    <a:p>
                      <a:pPr algn="ctr"/>
                      <a:r>
                        <a:rPr lang="en-US" sz="2600" dirty="0">
                          <a:latin typeface="+mj-lt"/>
                        </a:rPr>
                        <a:t>A (2)</a:t>
                      </a:r>
                    </a:p>
                  </a:txBody>
                  <a:tcPr/>
                </a:tc>
                <a:tc>
                  <a:txBody>
                    <a:bodyPr/>
                    <a:lstStyle/>
                    <a:p>
                      <a:pPr algn="ctr"/>
                      <a:r>
                        <a:rPr lang="en-US" sz="2600" dirty="0">
                          <a:latin typeface="+mj-lt"/>
                        </a:rPr>
                        <a:t>B (3)</a:t>
                      </a:r>
                    </a:p>
                  </a:txBody>
                  <a:tcPr/>
                </a:tc>
                <a:tc>
                  <a:txBody>
                    <a:bodyPr/>
                    <a:lstStyle/>
                    <a:p>
                      <a:pPr algn="ctr"/>
                      <a:r>
                        <a:rPr lang="en-US" sz="2600" dirty="0">
                          <a:latin typeface="+mj-lt"/>
                        </a:rPr>
                        <a:t>D (5)</a:t>
                      </a:r>
                    </a:p>
                  </a:txBody>
                  <a:tcPr/>
                </a:tc>
                <a:extLst>
                  <a:ext uri="{0D108BD9-81ED-4DB2-BD59-A6C34878D82A}">
                    <a16:rowId xmlns:a16="http://schemas.microsoft.com/office/drawing/2014/main" val="2816538912"/>
                  </a:ext>
                </a:extLst>
              </a:tr>
            </a:tbl>
          </a:graphicData>
        </a:graphic>
      </p:graphicFrame>
      <p:graphicFrame>
        <p:nvGraphicFramePr>
          <p:cNvPr id="5" name="Table 4">
            <a:extLst>
              <a:ext uri="{FF2B5EF4-FFF2-40B4-BE49-F238E27FC236}">
                <a16:creationId xmlns:a16="http://schemas.microsoft.com/office/drawing/2014/main" id="{DB40FA49-14E1-428A-A8D5-6247F6D71BE0}"/>
              </a:ext>
            </a:extLst>
          </p:cNvPr>
          <p:cNvGraphicFramePr>
            <a:graphicFrameLocks noGrp="1"/>
          </p:cNvGraphicFramePr>
          <p:nvPr>
            <p:extLst>
              <p:ext uri="{D42A27DB-BD31-4B8C-83A1-F6EECF244321}">
                <p14:modId xmlns:p14="http://schemas.microsoft.com/office/powerpoint/2010/main" val="2320013993"/>
              </p:ext>
            </p:extLst>
          </p:nvPr>
        </p:nvGraphicFramePr>
        <p:xfrm>
          <a:off x="1066800" y="3547777"/>
          <a:ext cx="6096000" cy="487680"/>
        </p:xfrm>
        <a:graphic>
          <a:graphicData uri="http://schemas.openxmlformats.org/drawingml/2006/table">
            <a:tbl>
              <a:tblPr bandRow="1">
                <a:tableStyleId>{5940675A-B579-460E-94D1-54222C63F5DA}</a:tableStyleId>
              </a:tblPr>
              <a:tblGrid>
                <a:gridCol w="1524000">
                  <a:extLst>
                    <a:ext uri="{9D8B030D-6E8A-4147-A177-3AD203B41FA5}">
                      <a16:colId xmlns:a16="http://schemas.microsoft.com/office/drawing/2014/main" val="337897615"/>
                    </a:ext>
                  </a:extLst>
                </a:gridCol>
                <a:gridCol w="1524000">
                  <a:extLst>
                    <a:ext uri="{9D8B030D-6E8A-4147-A177-3AD203B41FA5}">
                      <a16:colId xmlns:a16="http://schemas.microsoft.com/office/drawing/2014/main" val="75683301"/>
                    </a:ext>
                  </a:extLst>
                </a:gridCol>
                <a:gridCol w="1524000">
                  <a:extLst>
                    <a:ext uri="{9D8B030D-6E8A-4147-A177-3AD203B41FA5}">
                      <a16:colId xmlns:a16="http://schemas.microsoft.com/office/drawing/2014/main" val="3418249292"/>
                    </a:ext>
                  </a:extLst>
                </a:gridCol>
                <a:gridCol w="1524000">
                  <a:extLst>
                    <a:ext uri="{9D8B030D-6E8A-4147-A177-3AD203B41FA5}">
                      <a16:colId xmlns:a16="http://schemas.microsoft.com/office/drawing/2014/main" val="638644584"/>
                    </a:ext>
                  </a:extLst>
                </a:gridCol>
              </a:tblGrid>
              <a:tr h="370840">
                <a:tc>
                  <a:txBody>
                    <a:bodyPr/>
                    <a:lstStyle/>
                    <a:p>
                      <a:pPr algn="ctr"/>
                      <a:r>
                        <a:rPr lang="en-US" sz="2600" dirty="0">
                          <a:latin typeface="+mj-lt"/>
                        </a:rPr>
                        <a:t>E (4)</a:t>
                      </a:r>
                    </a:p>
                  </a:txBody>
                  <a:tcPr/>
                </a:tc>
                <a:tc>
                  <a:txBody>
                    <a:bodyPr/>
                    <a:lstStyle/>
                    <a:p>
                      <a:pPr algn="ctr"/>
                      <a:r>
                        <a:rPr lang="en-US" sz="2600" dirty="0">
                          <a:latin typeface="+mj-lt"/>
                        </a:rPr>
                        <a:t>A (2)</a:t>
                      </a:r>
                    </a:p>
                  </a:txBody>
                  <a:tcPr/>
                </a:tc>
                <a:tc>
                  <a:txBody>
                    <a:bodyPr/>
                    <a:lstStyle/>
                    <a:p>
                      <a:pPr algn="ctr"/>
                      <a:r>
                        <a:rPr lang="en-US" sz="2600" dirty="0">
                          <a:latin typeface="+mj-lt"/>
                        </a:rPr>
                        <a:t>B (6)</a:t>
                      </a:r>
                    </a:p>
                  </a:txBody>
                  <a:tcPr/>
                </a:tc>
                <a:tc>
                  <a:txBody>
                    <a:bodyPr/>
                    <a:lstStyle/>
                    <a:p>
                      <a:pPr algn="ctr"/>
                      <a:r>
                        <a:rPr lang="en-US" sz="2600" dirty="0">
                          <a:latin typeface="+mj-lt"/>
                        </a:rPr>
                        <a:t>D (5)</a:t>
                      </a:r>
                    </a:p>
                  </a:txBody>
                  <a:tcPr/>
                </a:tc>
                <a:extLst>
                  <a:ext uri="{0D108BD9-81ED-4DB2-BD59-A6C34878D82A}">
                    <a16:rowId xmlns:a16="http://schemas.microsoft.com/office/drawing/2014/main" val="2816538912"/>
                  </a:ext>
                </a:extLst>
              </a:tr>
            </a:tbl>
          </a:graphicData>
        </a:graphic>
      </p:graphicFrame>
      <p:graphicFrame>
        <p:nvGraphicFramePr>
          <p:cNvPr id="6" name="Table 5">
            <a:extLst>
              <a:ext uri="{FF2B5EF4-FFF2-40B4-BE49-F238E27FC236}">
                <a16:creationId xmlns:a16="http://schemas.microsoft.com/office/drawing/2014/main" id="{DB40FA49-14E1-428A-A8D5-6247F6D71BE0}"/>
              </a:ext>
            </a:extLst>
          </p:cNvPr>
          <p:cNvGraphicFramePr>
            <a:graphicFrameLocks noGrp="1"/>
          </p:cNvGraphicFramePr>
          <p:nvPr>
            <p:extLst>
              <p:ext uri="{D42A27DB-BD31-4B8C-83A1-F6EECF244321}">
                <p14:modId xmlns:p14="http://schemas.microsoft.com/office/powerpoint/2010/main" val="3712471068"/>
              </p:ext>
            </p:extLst>
          </p:nvPr>
        </p:nvGraphicFramePr>
        <p:xfrm>
          <a:off x="1066800" y="4819130"/>
          <a:ext cx="6096000" cy="487680"/>
        </p:xfrm>
        <a:graphic>
          <a:graphicData uri="http://schemas.openxmlformats.org/drawingml/2006/table">
            <a:tbl>
              <a:tblPr bandRow="1">
                <a:tableStyleId>{5940675A-B579-460E-94D1-54222C63F5DA}</a:tableStyleId>
              </a:tblPr>
              <a:tblGrid>
                <a:gridCol w="1524000">
                  <a:extLst>
                    <a:ext uri="{9D8B030D-6E8A-4147-A177-3AD203B41FA5}">
                      <a16:colId xmlns:a16="http://schemas.microsoft.com/office/drawing/2014/main" val="337897615"/>
                    </a:ext>
                  </a:extLst>
                </a:gridCol>
                <a:gridCol w="1524000">
                  <a:extLst>
                    <a:ext uri="{9D8B030D-6E8A-4147-A177-3AD203B41FA5}">
                      <a16:colId xmlns:a16="http://schemas.microsoft.com/office/drawing/2014/main" val="75683301"/>
                    </a:ext>
                  </a:extLst>
                </a:gridCol>
                <a:gridCol w="1524000">
                  <a:extLst>
                    <a:ext uri="{9D8B030D-6E8A-4147-A177-3AD203B41FA5}">
                      <a16:colId xmlns:a16="http://schemas.microsoft.com/office/drawing/2014/main" val="3418249292"/>
                    </a:ext>
                  </a:extLst>
                </a:gridCol>
                <a:gridCol w="1524000">
                  <a:extLst>
                    <a:ext uri="{9D8B030D-6E8A-4147-A177-3AD203B41FA5}">
                      <a16:colId xmlns:a16="http://schemas.microsoft.com/office/drawing/2014/main" val="638644584"/>
                    </a:ext>
                  </a:extLst>
                </a:gridCol>
              </a:tblGrid>
              <a:tr h="370840">
                <a:tc>
                  <a:txBody>
                    <a:bodyPr/>
                    <a:lstStyle/>
                    <a:p>
                      <a:pPr algn="ctr"/>
                      <a:r>
                        <a:rPr lang="en-US" sz="2600" dirty="0">
                          <a:latin typeface="+mj-lt"/>
                        </a:rPr>
                        <a:t>E (4)</a:t>
                      </a:r>
                    </a:p>
                  </a:txBody>
                  <a:tcPr/>
                </a:tc>
                <a:tc>
                  <a:txBody>
                    <a:bodyPr/>
                    <a:lstStyle/>
                    <a:p>
                      <a:pPr algn="ctr"/>
                      <a:r>
                        <a:rPr lang="en-US" sz="2600" dirty="0">
                          <a:latin typeface="+mj-lt"/>
                        </a:rPr>
                        <a:t>A (7)</a:t>
                      </a:r>
                    </a:p>
                  </a:txBody>
                  <a:tcPr/>
                </a:tc>
                <a:tc>
                  <a:txBody>
                    <a:bodyPr/>
                    <a:lstStyle/>
                    <a:p>
                      <a:pPr algn="ctr"/>
                      <a:r>
                        <a:rPr lang="en-US" sz="2600" dirty="0">
                          <a:latin typeface="+mj-lt"/>
                        </a:rPr>
                        <a:t>B (6)</a:t>
                      </a:r>
                    </a:p>
                  </a:txBody>
                  <a:tcPr/>
                </a:tc>
                <a:tc>
                  <a:txBody>
                    <a:bodyPr/>
                    <a:lstStyle/>
                    <a:p>
                      <a:pPr algn="ctr"/>
                      <a:r>
                        <a:rPr lang="en-US" sz="2600" dirty="0">
                          <a:latin typeface="+mj-lt"/>
                        </a:rPr>
                        <a:t>D (5)</a:t>
                      </a:r>
                    </a:p>
                  </a:txBody>
                  <a:tcPr/>
                </a:tc>
                <a:extLst>
                  <a:ext uri="{0D108BD9-81ED-4DB2-BD59-A6C34878D82A}">
                    <a16:rowId xmlns:a16="http://schemas.microsoft.com/office/drawing/2014/main" val="2816538912"/>
                  </a:ext>
                </a:extLst>
              </a:tr>
            </a:tbl>
          </a:graphicData>
        </a:graphic>
      </p:graphicFrame>
      <p:graphicFrame>
        <p:nvGraphicFramePr>
          <p:cNvPr id="7" name="Table 6">
            <a:extLst>
              <a:ext uri="{FF2B5EF4-FFF2-40B4-BE49-F238E27FC236}">
                <a16:creationId xmlns:a16="http://schemas.microsoft.com/office/drawing/2014/main" id="{DB40FA49-14E1-428A-A8D5-6247F6D71BE0}"/>
              </a:ext>
            </a:extLst>
          </p:cNvPr>
          <p:cNvGraphicFramePr>
            <a:graphicFrameLocks noGrp="1"/>
          </p:cNvGraphicFramePr>
          <p:nvPr>
            <p:extLst>
              <p:ext uri="{D42A27DB-BD31-4B8C-83A1-F6EECF244321}">
                <p14:modId xmlns:p14="http://schemas.microsoft.com/office/powerpoint/2010/main" val="3141255752"/>
              </p:ext>
            </p:extLst>
          </p:nvPr>
        </p:nvGraphicFramePr>
        <p:xfrm>
          <a:off x="1066800" y="5880519"/>
          <a:ext cx="6096000" cy="487680"/>
        </p:xfrm>
        <a:graphic>
          <a:graphicData uri="http://schemas.openxmlformats.org/drawingml/2006/table">
            <a:tbl>
              <a:tblPr bandRow="1">
                <a:tableStyleId>{5940675A-B579-460E-94D1-54222C63F5DA}</a:tableStyleId>
              </a:tblPr>
              <a:tblGrid>
                <a:gridCol w="1524000">
                  <a:extLst>
                    <a:ext uri="{9D8B030D-6E8A-4147-A177-3AD203B41FA5}">
                      <a16:colId xmlns:a16="http://schemas.microsoft.com/office/drawing/2014/main" val="337897615"/>
                    </a:ext>
                  </a:extLst>
                </a:gridCol>
                <a:gridCol w="1524000">
                  <a:extLst>
                    <a:ext uri="{9D8B030D-6E8A-4147-A177-3AD203B41FA5}">
                      <a16:colId xmlns:a16="http://schemas.microsoft.com/office/drawing/2014/main" val="75683301"/>
                    </a:ext>
                  </a:extLst>
                </a:gridCol>
                <a:gridCol w="1524000">
                  <a:extLst>
                    <a:ext uri="{9D8B030D-6E8A-4147-A177-3AD203B41FA5}">
                      <a16:colId xmlns:a16="http://schemas.microsoft.com/office/drawing/2014/main" val="3418249292"/>
                    </a:ext>
                  </a:extLst>
                </a:gridCol>
                <a:gridCol w="1524000">
                  <a:extLst>
                    <a:ext uri="{9D8B030D-6E8A-4147-A177-3AD203B41FA5}">
                      <a16:colId xmlns:a16="http://schemas.microsoft.com/office/drawing/2014/main" val="638644584"/>
                    </a:ext>
                  </a:extLst>
                </a:gridCol>
              </a:tblGrid>
              <a:tr h="370840">
                <a:tc>
                  <a:txBody>
                    <a:bodyPr/>
                    <a:lstStyle/>
                    <a:p>
                      <a:pPr algn="ctr"/>
                      <a:r>
                        <a:rPr lang="en-US" sz="2600" dirty="0">
                          <a:latin typeface="+mj-lt"/>
                        </a:rPr>
                        <a:t>C (8)</a:t>
                      </a:r>
                    </a:p>
                  </a:txBody>
                  <a:tcPr/>
                </a:tc>
                <a:tc>
                  <a:txBody>
                    <a:bodyPr/>
                    <a:lstStyle/>
                    <a:p>
                      <a:pPr algn="ctr"/>
                      <a:r>
                        <a:rPr lang="en-US" sz="2600" dirty="0">
                          <a:latin typeface="+mj-lt"/>
                        </a:rPr>
                        <a:t>A (7)</a:t>
                      </a:r>
                    </a:p>
                  </a:txBody>
                  <a:tcPr/>
                </a:tc>
                <a:tc>
                  <a:txBody>
                    <a:bodyPr/>
                    <a:lstStyle/>
                    <a:p>
                      <a:pPr algn="ctr"/>
                      <a:r>
                        <a:rPr lang="en-US" sz="2600" dirty="0">
                          <a:latin typeface="+mj-lt"/>
                        </a:rPr>
                        <a:t>B (6)</a:t>
                      </a:r>
                    </a:p>
                  </a:txBody>
                  <a:tcPr/>
                </a:tc>
                <a:tc>
                  <a:txBody>
                    <a:bodyPr/>
                    <a:lstStyle/>
                    <a:p>
                      <a:pPr algn="ctr"/>
                      <a:r>
                        <a:rPr lang="en-US" sz="2600" dirty="0">
                          <a:latin typeface="+mj-lt"/>
                        </a:rPr>
                        <a:t>D (5)</a:t>
                      </a:r>
                    </a:p>
                  </a:txBody>
                  <a:tcPr/>
                </a:tc>
                <a:extLst>
                  <a:ext uri="{0D108BD9-81ED-4DB2-BD59-A6C34878D82A}">
                    <a16:rowId xmlns:a16="http://schemas.microsoft.com/office/drawing/2014/main" val="2816538912"/>
                  </a:ext>
                </a:extLst>
              </a:tr>
            </a:tbl>
          </a:graphicData>
        </a:graphic>
      </p:graphicFrame>
    </p:spTree>
    <p:extLst>
      <p:ext uri="{BB962C8B-B14F-4D97-AF65-F5344CB8AC3E}">
        <p14:creationId xmlns:p14="http://schemas.microsoft.com/office/powerpoint/2010/main" val="2277380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FIFO Block Replacement: Example</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Suppose a program makes a sequence of memory references that cause the following memory blocks to be read: E, A, B, E, D, B, A, C, G, E</a:t>
            </a:r>
          </a:p>
          <a:p>
            <a:r>
              <a:rPr lang="en-US" dirty="0"/>
              <a:t>The CPU’s cache has 4 blocks and uses FIFO as the replacement policy</a:t>
            </a:r>
          </a:p>
          <a:p>
            <a:r>
              <a:rPr lang="en-US" dirty="0"/>
              <a:t>Show the state of the cache after each memory block access</a:t>
            </a:r>
          </a:p>
          <a:p>
            <a:r>
              <a:rPr lang="en-US" dirty="0"/>
              <a:t>Assume the left-hand side of the queue is the head of the queue. Use an arrow to mark the oldest block in the queue.</a:t>
            </a:r>
          </a:p>
          <a:p>
            <a:r>
              <a:rPr lang="en-US" dirty="0"/>
              <a:t>Empty queue:</a:t>
            </a:r>
          </a:p>
          <a:p>
            <a:endParaRPr lang="en-US" dirty="0"/>
          </a:p>
          <a:p>
            <a:endParaRPr lang="en-US" dirty="0"/>
          </a:p>
        </p:txBody>
      </p:sp>
      <p:graphicFrame>
        <p:nvGraphicFramePr>
          <p:cNvPr id="4" name="Table 3">
            <a:extLst>
              <a:ext uri="{FF2B5EF4-FFF2-40B4-BE49-F238E27FC236}">
                <a16:creationId xmlns:a16="http://schemas.microsoft.com/office/drawing/2014/main" id="{DB40FA49-14E1-428A-A8D5-6247F6D71BE0}"/>
              </a:ext>
            </a:extLst>
          </p:cNvPr>
          <p:cNvGraphicFramePr>
            <a:graphicFrameLocks noGrp="1"/>
          </p:cNvGraphicFramePr>
          <p:nvPr>
            <p:extLst>
              <p:ext uri="{D42A27DB-BD31-4B8C-83A1-F6EECF244321}">
                <p14:modId xmlns:p14="http://schemas.microsoft.com/office/powerpoint/2010/main" val="207703369"/>
              </p:ext>
            </p:extLst>
          </p:nvPr>
        </p:nvGraphicFramePr>
        <p:xfrm>
          <a:off x="2679031" y="5689283"/>
          <a:ext cx="6096000" cy="487680"/>
        </p:xfrm>
        <a:graphic>
          <a:graphicData uri="http://schemas.openxmlformats.org/drawingml/2006/table">
            <a:tbl>
              <a:tblPr bandRow="1">
                <a:tableStyleId>{5940675A-B579-460E-94D1-54222C63F5DA}</a:tableStyleId>
              </a:tblPr>
              <a:tblGrid>
                <a:gridCol w="1524000">
                  <a:extLst>
                    <a:ext uri="{9D8B030D-6E8A-4147-A177-3AD203B41FA5}">
                      <a16:colId xmlns:a16="http://schemas.microsoft.com/office/drawing/2014/main" val="337897615"/>
                    </a:ext>
                  </a:extLst>
                </a:gridCol>
                <a:gridCol w="1524000">
                  <a:extLst>
                    <a:ext uri="{9D8B030D-6E8A-4147-A177-3AD203B41FA5}">
                      <a16:colId xmlns:a16="http://schemas.microsoft.com/office/drawing/2014/main" val="75683301"/>
                    </a:ext>
                  </a:extLst>
                </a:gridCol>
                <a:gridCol w="1524000">
                  <a:extLst>
                    <a:ext uri="{9D8B030D-6E8A-4147-A177-3AD203B41FA5}">
                      <a16:colId xmlns:a16="http://schemas.microsoft.com/office/drawing/2014/main" val="3418249292"/>
                    </a:ext>
                  </a:extLst>
                </a:gridCol>
                <a:gridCol w="1524000">
                  <a:extLst>
                    <a:ext uri="{9D8B030D-6E8A-4147-A177-3AD203B41FA5}">
                      <a16:colId xmlns:a16="http://schemas.microsoft.com/office/drawing/2014/main" val="638644584"/>
                    </a:ext>
                  </a:extLst>
                </a:gridCol>
              </a:tblGrid>
              <a:tr h="0">
                <a:tc>
                  <a:txBody>
                    <a:bodyPr/>
                    <a:lstStyle/>
                    <a:p>
                      <a:pPr algn="ctr"/>
                      <a:endParaRPr lang="en-US" sz="2600" dirty="0">
                        <a:latin typeface="+mj-lt"/>
                      </a:endParaRPr>
                    </a:p>
                  </a:txBody>
                  <a:tcPr/>
                </a:tc>
                <a:tc>
                  <a:txBody>
                    <a:bodyPr/>
                    <a:lstStyle/>
                    <a:p>
                      <a:pPr algn="ctr"/>
                      <a:endParaRPr lang="en-US" sz="2600" dirty="0">
                        <a:latin typeface="+mj-lt"/>
                      </a:endParaRPr>
                    </a:p>
                  </a:txBody>
                  <a:tcPr/>
                </a:tc>
                <a:tc>
                  <a:txBody>
                    <a:bodyPr/>
                    <a:lstStyle/>
                    <a:p>
                      <a:pPr algn="ctr"/>
                      <a:endParaRPr lang="en-US" sz="2600">
                        <a:latin typeface="+mj-lt"/>
                      </a:endParaRPr>
                    </a:p>
                  </a:txBody>
                  <a:tcPr/>
                </a:tc>
                <a:tc>
                  <a:txBody>
                    <a:bodyPr/>
                    <a:lstStyle/>
                    <a:p>
                      <a:pPr algn="ctr"/>
                      <a:endParaRPr lang="en-US" sz="2600" dirty="0">
                        <a:latin typeface="+mj-lt"/>
                      </a:endParaRPr>
                    </a:p>
                  </a:txBody>
                  <a:tcPr/>
                </a:tc>
                <a:extLst>
                  <a:ext uri="{0D108BD9-81ED-4DB2-BD59-A6C34878D82A}">
                    <a16:rowId xmlns:a16="http://schemas.microsoft.com/office/drawing/2014/main" val="2816538912"/>
                  </a:ext>
                </a:extLst>
              </a:tr>
            </a:tbl>
          </a:graphicData>
        </a:graphic>
      </p:graphicFrame>
    </p:spTree>
    <p:extLst>
      <p:ext uri="{BB962C8B-B14F-4D97-AF65-F5344CB8AC3E}">
        <p14:creationId xmlns:p14="http://schemas.microsoft.com/office/powerpoint/2010/main" val="2031851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FIFO Block Replacement: Example</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838200" y="1825625"/>
            <a:ext cx="10515600" cy="3908893"/>
          </a:xfrm>
        </p:spPr>
        <p:txBody>
          <a:bodyPr>
            <a:normAutofit fontScale="92500" lnSpcReduction="20000"/>
          </a:bodyPr>
          <a:lstStyle/>
          <a:p>
            <a:r>
              <a:rPr lang="en-US" dirty="0"/>
              <a:t>Block access sequence: </a:t>
            </a:r>
            <a:r>
              <a:rPr lang="en-US" b="1" dirty="0"/>
              <a:t>E</a:t>
            </a:r>
            <a:r>
              <a:rPr lang="en-US" dirty="0"/>
              <a:t>, A, B, E, D, B, A, C, G, E, F</a:t>
            </a:r>
          </a:p>
          <a:p>
            <a:endParaRPr lang="en-US" dirty="0"/>
          </a:p>
          <a:p>
            <a:endParaRPr lang="en-US" dirty="0"/>
          </a:p>
          <a:p>
            <a:endParaRPr lang="en-US" dirty="0"/>
          </a:p>
          <a:p>
            <a:r>
              <a:rPr lang="en-US" dirty="0"/>
              <a:t>Block access sequence: E, </a:t>
            </a:r>
            <a:r>
              <a:rPr lang="en-US" b="1" dirty="0"/>
              <a:t>A</a:t>
            </a:r>
            <a:r>
              <a:rPr lang="en-US" dirty="0"/>
              <a:t>, B, E, D, B, A, C, G, E, F</a:t>
            </a:r>
          </a:p>
          <a:p>
            <a:endParaRPr lang="en-US" dirty="0"/>
          </a:p>
          <a:p>
            <a:endParaRPr lang="en-US" dirty="0"/>
          </a:p>
          <a:p>
            <a:endParaRPr lang="en-US" dirty="0"/>
          </a:p>
          <a:p>
            <a:r>
              <a:rPr lang="en-US" dirty="0"/>
              <a:t>Block access sequence: E, A, </a:t>
            </a:r>
            <a:r>
              <a:rPr lang="en-US" b="1" dirty="0"/>
              <a:t>B</a:t>
            </a:r>
            <a:r>
              <a:rPr lang="en-US" dirty="0"/>
              <a:t>, E, D, B, A, C, G, E, F</a:t>
            </a:r>
          </a:p>
          <a:p>
            <a:endParaRPr lang="en-US" dirty="0"/>
          </a:p>
        </p:txBody>
      </p:sp>
      <p:graphicFrame>
        <p:nvGraphicFramePr>
          <p:cNvPr id="5" name="Table 4">
            <a:extLst>
              <a:ext uri="{FF2B5EF4-FFF2-40B4-BE49-F238E27FC236}">
                <a16:creationId xmlns:a16="http://schemas.microsoft.com/office/drawing/2014/main" id="{DB40FA49-14E1-428A-A8D5-6247F6D71BE0}"/>
              </a:ext>
            </a:extLst>
          </p:cNvPr>
          <p:cNvGraphicFramePr>
            <a:graphicFrameLocks noGrp="1"/>
          </p:cNvGraphicFramePr>
          <p:nvPr>
            <p:extLst>
              <p:ext uri="{D42A27DB-BD31-4B8C-83A1-F6EECF244321}">
                <p14:modId xmlns:p14="http://schemas.microsoft.com/office/powerpoint/2010/main" val="3594266520"/>
              </p:ext>
            </p:extLst>
          </p:nvPr>
        </p:nvGraphicFramePr>
        <p:xfrm>
          <a:off x="1223211" y="2450465"/>
          <a:ext cx="6096000" cy="487680"/>
        </p:xfrm>
        <a:graphic>
          <a:graphicData uri="http://schemas.openxmlformats.org/drawingml/2006/table">
            <a:tbl>
              <a:tblPr bandRow="1">
                <a:tableStyleId>{5940675A-B579-460E-94D1-54222C63F5DA}</a:tableStyleId>
              </a:tblPr>
              <a:tblGrid>
                <a:gridCol w="1524000">
                  <a:extLst>
                    <a:ext uri="{9D8B030D-6E8A-4147-A177-3AD203B41FA5}">
                      <a16:colId xmlns:a16="http://schemas.microsoft.com/office/drawing/2014/main" val="337897615"/>
                    </a:ext>
                  </a:extLst>
                </a:gridCol>
                <a:gridCol w="1524000">
                  <a:extLst>
                    <a:ext uri="{9D8B030D-6E8A-4147-A177-3AD203B41FA5}">
                      <a16:colId xmlns:a16="http://schemas.microsoft.com/office/drawing/2014/main" val="75683301"/>
                    </a:ext>
                  </a:extLst>
                </a:gridCol>
                <a:gridCol w="1524000">
                  <a:extLst>
                    <a:ext uri="{9D8B030D-6E8A-4147-A177-3AD203B41FA5}">
                      <a16:colId xmlns:a16="http://schemas.microsoft.com/office/drawing/2014/main" val="3418249292"/>
                    </a:ext>
                  </a:extLst>
                </a:gridCol>
                <a:gridCol w="1524000">
                  <a:extLst>
                    <a:ext uri="{9D8B030D-6E8A-4147-A177-3AD203B41FA5}">
                      <a16:colId xmlns:a16="http://schemas.microsoft.com/office/drawing/2014/main" val="638644584"/>
                    </a:ext>
                  </a:extLst>
                </a:gridCol>
              </a:tblGrid>
              <a:tr h="276042">
                <a:tc>
                  <a:txBody>
                    <a:bodyPr/>
                    <a:lstStyle/>
                    <a:p>
                      <a:pPr algn="ctr"/>
                      <a:r>
                        <a:rPr lang="en-US" sz="2600" dirty="0">
                          <a:latin typeface="+mj-lt"/>
                        </a:rPr>
                        <a:t>E</a:t>
                      </a:r>
                    </a:p>
                  </a:txBody>
                  <a:tcPr/>
                </a:tc>
                <a:tc>
                  <a:txBody>
                    <a:bodyPr/>
                    <a:lstStyle/>
                    <a:p>
                      <a:pPr algn="ctr"/>
                      <a:endParaRPr lang="en-US" sz="2600" dirty="0">
                        <a:latin typeface="+mj-lt"/>
                      </a:endParaRPr>
                    </a:p>
                  </a:txBody>
                  <a:tcPr/>
                </a:tc>
                <a:tc>
                  <a:txBody>
                    <a:bodyPr/>
                    <a:lstStyle/>
                    <a:p>
                      <a:pPr algn="ctr"/>
                      <a:endParaRPr lang="en-US" sz="2600">
                        <a:latin typeface="+mj-lt"/>
                      </a:endParaRPr>
                    </a:p>
                  </a:txBody>
                  <a:tcPr/>
                </a:tc>
                <a:tc>
                  <a:txBody>
                    <a:bodyPr/>
                    <a:lstStyle/>
                    <a:p>
                      <a:pPr algn="ctr"/>
                      <a:endParaRPr lang="en-US" sz="2600" dirty="0">
                        <a:latin typeface="+mj-lt"/>
                      </a:endParaRPr>
                    </a:p>
                  </a:txBody>
                  <a:tcPr/>
                </a:tc>
                <a:extLst>
                  <a:ext uri="{0D108BD9-81ED-4DB2-BD59-A6C34878D82A}">
                    <a16:rowId xmlns:a16="http://schemas.microsoft.com/office/drawing/2014/main" val="2816538912"/>
                  </a:ext>
                </a:extLst>
              </a:tr>
            </a:tbl>
          </a:graphicData>
        </a:graphic>
      </p:graphicFrame>
      <p:cxnSp>
        <p:nvCxnSpPr>
          <p:cNvPr id="6" name="Straight Arrow Connector 5"/>
          <p:cNvCxnSpPr/>
          <p:nvPr/>
        </p:nvCxnSpPr>
        <p:spPr>
          <a:xfrm flipV="1">
            <a:off x="1985211" y="3080084"/>
            <a:ext cx="0" cy="457200"/>
          </a:xfrm>
          <a:prstGeom prst="straightConnector1">
            <a:avLst/>
          </a:prstGeom>
          <a:ln w="57150">
            <a:solidFill>
              <a:srgbClr val="C00000"/>
            </a:solidFill>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DB40FA49-14E1-428A-A8D5-6247F6D71BE0}"/>
              </a:ext>
            </a:extLst>
          </p:cNvPr>
          <p:cNvGraphicFramePr>
            <a:graphicFrameLocks noGrp="1"/>
          </p:cNvGraphicFramePr>
          <p:nvPr>
            <p:extLst>
              <p:ext uri="{D42A27DB-BD31-4B8C-83A1-F6EECF244321}">
                <p14:modId xmlns:p14="http://schemas.microsoft.com/office/powerpoint/2010/main" val="2053361917"/>
              </p:ext>
            </p:extLst>
          </p:nvPr>
        </p:nvGraphicFramePr>
        <p:xfrm>
          <a:off x="1066800" y="3980765"/>
          <a:ext cx="6096000" cy="487680"/>
        </p:xfrm>
        <a:graphic>
          <a:graphicData uri="http://schemas.openxmlformats.org/drawingml/2006/table">
            <a:tbl>
              <a:tblPr bandRow="1">
                <a:tableStyleId>{5940675A-B579-460E-94D1-54222C63F5DA}</a:tableStyleId>
              </a:tblPr>
              <a:tblGrid>
                <a:gridCol w="1524000">
                  <a:extLst>
                    <a:ext uri="{9D8B030D-6E8A-4147-A177-3AD203B41FA5}">
                      <a16:colId xmlns:a16="http://schemas.microsoft.com/office/drawing/2014/main" val="337897615"/>
                    </a:ext>
                  </a:extLst>
                </a:gridCol>
                <a:gridCol w="1524000">
                  <a:extLst>
                    <a:ext uri="{9D8B030D-6E8A-4147-A177-3AD203B41FA5}">
                      <a16:colId xmlns:a16="http://schemas.microsoft.com/office/drawing/2014/main" val="75683301"/>
                    </a:ext>
                  </a:extLst>
                </a:gridCol>
                <a:gridCol w="1524000">
                  <a:extLst>
                    <a:ext uri="{9D8B030D-6E8A-4147-A177-3AD203B41FA5}">
                      <a16:colId xmlns:a16="http://schemas.microsoft.com/office/drawing/2014/main" val="3418249292"/>
                    </a:ext>
                  </a:extLst>
                </a:gridCol>
                <a:gridCol w="1524000">
                  <a:extLst>
                    <a:ext uri="{9D8B030D-6E8A-4147-A177-3AD203B41FA5}">
                      <a16:colId xmlns:a16="http://schemas.microsoft.com/office/drawing/2014/main" val="638644584"/>
                    </a:ext>
                  </a:extLst>
                </a:gridCol>
              </a:tblGrid>
              <a:tr h="370840">
                <a:tc>
                  <a:txBody>
                    <a:bodyPr/>
                    <a:lstStyle/>
                    <a:p>
                      <a:pPr algn="ctr"/>
                      <a:r>
                        <a:rPr lang="en-US" sz="2600" dirty="0">
                          <a:latin typeface="+mj-lt"/>
                        </a:rPr>
                        <a:t>E</a:t>
                      </a:r>
                    </a:p>
                  </a:txBody>
                  <a:tcPr/>
                </a:tc>
                <a:tc>
                  <a:txBody>
                    <a:bodyPr/>
                    <a:lstStyle/>
                    <a:p>
                      <a:pPr algn="ctr"/>
                      <a:r>
                        <a:rPr lang="en-US" sz="2600" dirty="0">
                          <a:latin typeface="+mj-lt"/>
                        </a:rPr>
                        <a:t>A</a:t>
                      </a:r>
                    </a:p>
                  </a:txBody>
                  <a:tcPr/>
                </a:tc>
                <a:tc>
                  <a:txBody>
                    <a:bodyPr/>
                    <a:lstStyle/>
                    <a:p>
                      <a:pPr algn="ctr"/>
                      <a:endParaRPr lang="en-US" sz="2600">
                        <a:latin typeface="+mj-lt"/>
                      </a:endParaRPr>
                    </a:p>
                  </a:txBody>
                  <a:tcPr/>
                </a:tc>
                <a:tc>
                  <a:txBody>
                    <a:bodyPr/>
                    <a:lstStyle/>
                    <a:p>
                      <a:pPr algn="ctr"/>
                      <a:endParaRPr lang="en-US" sz="2600" dirty="0">
                        <a:latin typeface="+mj-lt"/>
                      </a:endParaRPr>
                    </a:p>
                  </a:txBody>
                  <a:tcPr/>
                </a:tc>
                <a:extLst>
                  <a:ext uri="{0D108BD9-81ED-4DB2-BD59-A6C34878D82A}">
                    <a16:rowId xmlns:a16="http://schemas.microsoft.com/office/drawing/2014/main" val="2816538912"/>
                  </a:ext>
                </a:extLst>
              </a:tr>
            </a:tbl>
          </a:graphicData>
        </a:graphic>
      </p:graphicFrame>
      <p:graphicFrame>
        <p:nvGraphicFramePr>
          <p:cNvPr id="9" name="Table 8">
            <a:extLst>
              <a:ext uri="{FF2B5EF4-FFF2-40B4-BE49-F238E27FC236}">
                <a16:creationId xmlns:a16="http://schemas.microsoft.com/office/drawing/2014/main" id="{DB40FA49-14E1-428A-A8D5-6247F6D71BE0}"/>
              </a:ext>
            </a:extLst>
          </p:cNvPr>
          <p:cNvGraphicFramePr>
            <a:graphicFrameLocks noGrp="1"/>
          </p:cNvGraphicFramePr>
          <p:nvPr>
            <p:extLst>
              <p:ext uri="{D42A27DB-BD31-4B8C-83A1-F6EECF244321}">
                <p14:modId xmlns:p14="http://schemas.microsoft.com/office/powerpoint/2010/main" val="1736267523"/>
              </p:ext>
            </p:extLst>
          </p:nvPr>
        </p:nvGraphicFramePr>
        <p:xfrm>
          <a:off x="1066800" y="5636034"/>
          <a:ext cx="6096000" cy="487680"/>
        </p:xfrm>
        <a:graphic>
          <a:graphicData uri="http://schemas.openxmlformats.org/drawingml/2006/table">
            <a:tbl>
              <a:tblPr bandRow="1">
                <a:tableStyleId>{5940675A-B579-460E-94D1-54222C63F5DA}</a:tableStyleId>
              </a:tblPr>
              <a:tblGrid>
                <a:gridCol w="1524000">
                  <a:extLst>
                    <a:ext uri="{9D8B030D-6E8A-4147-A177-3AD203B41FA5}">
                      <a16:colId xmlns:a16="http://schemas.microsoft.com/office/drawing/2014/main" val="337897615"/>
                    </a:ext>
                  </a:extLst>
                </a:gridCol>
                <a:gridCol w="1524000">
                  <a:extLst>
                    <a:ext uri="{9D8B030D-6E8A-4147-A177-3AD203B41FA5}">
                      <a16:colId xmlns:a16="http://schemas.microsoft.com/office/drawing/2014/main" val="75683301"/>
                    </a:ext>
                  </a:extLst>
                </a:gridCol>
                <a:gridCol w="1524000">
                  <a:extLst>
                    <a:ext uri="{9D8B030D-6E8A-4147-A177-3AD203B41FA5}">
                      <a16:colId xmlns:a16="http://schemas.microsoft.com/office/drawing/2014/main" val="3418249292"/>
                    </a:ext>
                  </a:extLst>
                </a:gridCol>
                <a:gridCol w="1524000">
                  <a:extLst>
                    <a:ext uri="{9D8B030D-6E8A-4147-A177-3AD203B41FA5}">
                      <a16:colId xmlns:a16="http://schemas.microsoft.com/office/drawing/2014/main" val="638644584"/>
                    </a:ext>
                  </a:extLst>
                </a:gridCol>
              </a:tblGrid>
              <a:tr h="348423">
                <a:tc>
                  <a:txBody>
                    <a:bodyPr/>
                    <a:lstStyle/>
                    <a:p>
                      <a:pPr algn="ctr"/>
                      <a:r>
                        <a:rPr lang="en-US" sz="2600" dirty="0">
                          <a:latin typeface="+mj-lt"/>
                        </a:rPr>
                        <a:t>E</a:t>
                      </a:r>
                    </a:p>
                  </a:txBody>
                  <a:tcPr/>
                </a:tc>
                <a:tc>
                  <a:txBody>
                    <a:bodyPr/>
                    <a:lstStyle/>
                    <a:p>
                      <a:pPr algn="ctr"/>
                      <a:r>
                        <a:rPr lang="en-US" sz="2600" dirty="0">
                          <a:latin typeface="+mj-lt"/>
                        </a:rPr>
                        <a:t>A</a:t>
                      </a:r>
                    </a:p>
                  </a:txBody>
                  <a:tcPr/>
                </a:tc>
                <a:tc>
                  <a:txBody>
                    <a:bodyPr/>
                    <a:lstStyle/>
                    <a:p>
                      <a:pPr algn="ctr"/>
                      <a:r>
                        <a:rPr lang="en-US" sz="2600" dirty="0">
                          <a:latin typeface="+mj-lt"/>
                        </a:rPr>
                        <a:t>B</a:t>
                      </a:r>
                    </a:p>
                  </a:txBody>
                  <a:tcPr/>
                </a:tc>
                <a:tc>
                  <a:txBody>
                    <a:bodyPr/>
                    <a:lstStyle/>
                    <a:p>
                      <a:pPr algn="ctr"/>
                      <a:endParaRPr lang="en-US" sz="2600" dirty="0">
                        <a:latin typeface="+mj-lt"/>
                      </a:endParaRPr>
                    </a:p>
                  </a:txBody>
                  <a:tcPr/>
                </a:tc>
                <a:extLst>
                  <a:ext uri="{0D108BD9-81ED-4DB2-BD59-A6C34878D82A}">
                    <a16:rowId xmlns:a16="http://schemas.microsoft.com/office/drawing/2014/main" val="2816538912"/>
                  </a:ext>
                </a:extLst>
              </a:tr>
            </a:tbl>
          </a:graphicData>
        </a:graphic>
      </p:graphicFrame>
      <p:cxnSp>
        <p:nvCxnSpPr>
          <p:cNvPr id="11" name="Straight Arrow Connector 10"/>
          <p:cNvCxnSpPr/>
          <p:nvPr/>
        </p:nvCxnSpPr>
        <p:spPr>
          <a:xfrm flipV="1">
            <a:off x="1985211" y="4564698"/>
            <a:ext cx="0" cy="457200"/>
          </a:xfrm>
          <a:prstGeom prst="straightConnector1">
            <a:avLst/>
          </a:prstGeom>
          <a:ln w="57150">
            <a:solidFill>
              <a:srgbClr val="C0000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1816547" y="6252410"/>
            <a:ext cx="0" cy="457200"/>
          </a:xfrm>
          <a:prstGeom prst="straightConnector1">
            <a:avLst/>
          </a:prstGeom>
          <a:ln w="57150">
            <a:solidFill>
              <a:srgbClr val="C00000"/>
            </a:solidFill>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2236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838200" y="365125"/>
            <a:ext cx="10515600" cy="1325563"/>
          </a:xfrm>
        </p:spPr>
        <p:txBody>
          <a:bodyPr/>
          <a:lstStyle/>
          <a:p>
            <a:r>
              <a:rPr lang="en-US" altLang="en-US" dirty="0"/>
              <a:t>FIFO Block Replacement: Example</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838200" y="1825625"/>
            <a:ext cx="10515600" cy="4041775"/>
          </a:xfrm>
        </p:spPr>
        <p:txBody>
          <a:bodyPr>
            <a:normAutofit fontScale="92500" lnSpcReduction="10000"/>
          </a:bodyPr>
          <a:lstStyle/>
          <a:p>
            <a:r>
              <a:rPr lang="en-US" dirty="0"/>
              <a:t>Block access sequence: E, A, B, </a:t>
            </a:r>
            <a:r>
              <a:rPr lang="en-US" b="1" dirty="0"/>
              <a:t>E</a:t>
            </a:r>
            <a:r>
              <a:rPr lang="en-US" dirty="0"/>
              <a:t>, D, B, A, C, G, E, F</a:t>
            </a:r>
          </a:p>
          <a:p>
            <a:endParaRPr lang="en-US" dirty="0"/>
          </a:p>
          <a:p>
            <a:endParaRPr lang="en-US" dirty="0"/>
          </a:p>
          <a:p>
            <a:endParaRPr lang="en-US" dirty="0"/>
          </a:p>
          <a:p>
            <a:r>
              <a:rPr lang="en-US" dirty="0"/>
              <a:t>Block access sequence: E, A, B, E, </a:t>
            </a:r>
            <a:r>
              <a:rPr lang="en-US" b="1" dirty="0"/>
              <a:t>D</a:t>
            </a:r>
            <a:r>
              <a:rPr lang="en-US" dirty="0"/>
              <a:t>, B, A, C, G, E, F</a:t>
            </a:r>
          </a:p>
          <a:p>
            <a:endParaRPr lang="en-US" dirty="0"/>
          </a:p>
          <a:p>
            <a:endParaRPr lang="en-US" dirty="0"/>
          </a:p>
          <a:p>
            <a:endParaRPr lang="en-US" dirty="0"/>
          </a:p>
          <a:p>
            <a:r>
              <a:rPr lang="en-US" dirty="0"/>
              <a:t>Block access sequence: E, A, B, E, D, </a:t>
            </a:r>
            <a:r>
              <a:rPr lang="en-US" b="1" dirty="0"/>
              <a:t>B</a:t>
            </a:r>
            <a:r>
              <a:rPr lang="en-US" dirty="0"/>
              <a:t>, A, C, G, E, F</a:t>
            </a:r>
          </a:p>
          <a:p>
            <a:endParaRPr lang="en-US" dirty="0"/>
          </a:p>
        </p:txBody>
      </p:sp>
      <p:graphicFrame>
        <p:nvGraphicFramePr>
          <p:cNvPr id="5" name="Table 4">
            <a:extLst>
              <a:ext uri="{FF2B5EF4-FFF2-40B4-BE49-F238E27FC236}">
                <a16:creationId xmlns:a16="http://schemas.microsoft.com/office/drawing/2014/main" id="{DB40FA49-14E1-428A-A8D5-6247F6D71BE0}"/>
              </a:ext>
            </a:extLst>
          </p:cNvPr>
          <p:cNvGraphicFramePr>
            <a:graphicFrameLocks noGrp="1"/>
          </p:cNvGraphicFramePr>
          <p:nvPr>
            <p:extLst>
              <p:ext uri="{D42A27DB-BD31-4B8C-83A1-F6EECF244321}">
                <p14:modId xmlns:p14="http://schemas.microsoft.com/office/powerpoint/2010/main" val="3615998922"/>
              </p:ext>
            </p:extLst>
          </p:nvPr>
        </p:nvGraphicFramePr>
        <p:xfrm>
          <a:off x="1066800" y="2438481"/>
          <a:ext cx="6096000" cy="487680"/>
        </p:xfrm>
        <a:graphic>
          <a:graphicData uri="http://schemas.openxmlformats.org/drawingml/2006/table">
            <a:tbl>
              <a:tblPr bandRow="1">
                <a:tableStyleId>{5940675A-B579-460E-94D1-54222C63F5DA}</a:tableStyleId>
              </a:tblPr>
              <a:tblGrid>
                <a:gridCol w="1524000">
                  <a:extLst>
                    <a:ext uri="{9D8B030D-6E8A-4147-A177-3AD203B41FA5}">
                      <a16:colId xmlns:a16="http://schemas.microsoft.com/office/drawing/2014/main" val="337897615"/>
                    </a:ext>
                  </a:extLst>
                </a:gridCol>
                <a:gridCol w="1524000">
                  <a:extLst>
                    <a:ext uri="{9D8B030D-6E8A-4147-A177-3AD203B41FA5}">
                      <a16:colId xmlns:a16="http://schemas.microsoft.com/office/drawing/2014/main" val="75683301"/>
                    </a:ext>
                  </a:extLst>
                </a:gridCol>
                <a:gridCol w="1524000">
                  <a:extLst>
                    <a:ext uri="{9D8B030D-6E8A-4147-A177-3AD203B41FA5}">
                      <a16:colId xmlns:a16="http://schemas.microsoft.com/office/drawing/2014/main" val="3418249292"/>
                    </a:ext>
                  </a:extLst>
                </a:gridCol>
                <a:gridCol w="1524000">
                  <a:extLst>
                    <a:ext uri="{9D8B030D-6E8A-4147-A177-3AD203B41FA5}">
                      <a16:colId xmlns:a16="http://schemas.microsoft.com/office/drawing/2014/main" val="638644584"/>
                    </a:ext>
                  </a:extLst>
                </a:gridCol>
              </a:tblGrid>
              <a:tr h="370840">
                <a:tc>
                  <a:txBody>
                    <a:bodyPr/>
                    <a:lstStyle/>
                    <a:p>
                      <a:pPr algn="ctr"/>
                      <a:r>
                        <a:rPr lang="en-US" sz="2600" dirty="0">
                          <a:latin typeface="+mj-lt"/>
                        </a:rPr>
                        <a:t>E</a:t>
                      </a:r>
                    </a:p>
                  </a:txBody>
                  <a:tcPr/>
                </a:tc>
                <a:tc>
                  <a:txBody>
                    <a:bodyPr/>
                    <a:lstStyle/>
                    <a:p>
                      <a:pPr algn="ctr"/>
                      <a:r>
                        <a:rPr lang="en-US" sz="2600" dirty="0">
                          <a:latin typeface="+mj-lt"/>
                        </a:rPr>
                        <a:t>A</a:t>
                      </a:r>
                    </a:p>
                  </a:txBody>
                  <a:tcPr/>
                </a:tc>
                <a:tc>
                  <a:txBody>
                    <a:bodyPr/>
                    <a:lstStyle/>
                    <a:p>
                      <a:pPr algn="ctr"/>
                      <a:r>
                        <a:rPr lang="en-US" sz="2600" dirty="0">
                          <a:latin typeface="+mj-lt"/>
                        </a:rPr>
                        <a:t>B</a:t>
                      </a:r>
                    </a:p>
                  </a:txBody>
                  <a:tcPr/>
                </a:tc>
                <a:tc>
                  <a:txBody>
                    <a:bodyPr/>
                    <a:lstStyle/>
                    <a:p>
                      <a:pPr algn="ctr"/>
                      <a:endParaRPr lang="en-US" sz="2600" dirty="0">
                        <a:latin typeface="+mj-lt"/>
                      </a:endParaRPr>
                    </a:p>
                  </a:txBody>
                  <a:tcPr/>
                </a:tc>
                <a:extLst>
                  <a:ext uri="{0D108BD9-81ED-4DB2-BD59-A6C34878D82A}">
                    <a16:rowId xmlns:a16="http://schemas.microsoft.com/office/drawing/2014/main" val="2816538912"/>
                  </a:ext>
                </a:extLst>
              </a:tr>
            </a:tbl>
          </a:graphicData>
        </a:graphic>
      </p:graphicFrame>
      <p:cxnSp>
        <p:nvCxnSpPr>
          <p:cNvPr id="6" name="Straight Arrow Connector 5"/>
          <p:cNvCxnSpPr/>
          <p:nvPr/>
        </p:nvCxnSpPr>
        <p:spPr>
          <a:xfrm flipV="1">
            <a:off x="1840832" y="2971800"/>
            <a:ext cx="0" cy="457200"/>
          </a:xfrm>
          <a:prstGeom prst="straightConnector1">
            <a:avLst/>
          </a:prstGeom>
          <a:ln w="57150">
            <a:solidFill>
              <a:srgbClr val="C00000"/>
            </a:solidFill>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DB40FA49-14E1-428A-A8D5-6247F6D71BE0}"/>
              </a:ext>
            </a:extLst>
          </p:cNvPr>
          <p:cNvGraphicFramePr>
            <a:graphicFrameLocks noGrp="1"/>
          </p:cNvGraphicFramePr>
          <p:nvPr>
            <p:extLst>
              <p:ext uri="{D42A27DB-BD31-4B8C-83A1-F6EECF244321}">
                <p14:modId xmlns:p14="http://schemas.microsoft.com/office/powerpoint/2010/main" val="1941618701"/>
              </p:ext>
            </p:extLst>
          </p:nvPr>
        </p:nvGraphicFramePr>
        <p:xfrm>
          <a:off x="1066800" y="4144247"/>
          <a:ext cx="6096000" cy="487680"/>
        </p:xfrm>
        <a:graphic>
          <a:graphicData uri="http://schemas.openxmlformats.org/drawingml/2006/table">
            <a:tbl>
              <a:tblPr bandRow="1">
                <a:tableStyleId>{5940675A-B579-460E-94D1-54222C63F5DA}</a:tableStyleId>
              </a:tblPr>
              <a:tblGrid>
                <a:gridCol w="1524000">
                  <a:extLst>
                    <a:ext uri="{9D8B030D-6E8A-4147-A177-3AD203B41FA5}">
                      <a16:colId xmlns:a16="http://schemas.microsoft.com/office/drawing/2014/main" val="337897615"/>
                    </a:ext>
                  </a:extLst>
                </a:gridCol>
                <a:gridCol w="1524000">
                  <a:extLst>
                    <a:ext uri="{9D8B030D-6E8A-4147-A177-3AD203B41FA5}">
                      <a16:colId xmlns:a16="http://schemas.microsoft.com/office/drawing/2014/main" val="75683301"/>
                    </a:ext>
                  </a:extLst>
                </a:gridCol>
                <a:gridCol w="1524000">
                  <a:extLst>
                    <a:ext uri="{9D8B030D-6E8A-4147-A177-3AD203B41FA5}">
                      <a16:colId xmlns:a16="http://schemas.microsoft.com/office/drawing/2014/main" val="3418249292"/>
                    </a:ext>
                  </a:extLst>
                </a:gridCol>
                <a:gridCol w="1524000">
                  <a:extLst>
                    <a:ext uri="{9D8B030D-6E8A-4147-A177-3AD203B41FA5}">
                      <a16:colId xmlns:a16="http://schemas.microsoft.com/office/drawing/2014/main" val="638644584"/>
                    </a:ext>
                  </a:extLst>
                </a:gridCol>
              </a:tblGrid>
              <a:tr h="370840">
                <a:tc>
                  <a:txBody>
                    <a:bodyPr/>
                    <a:lstStyle/>
                    <a:p>
                      <a:pPr algn="ctr"/>
                      <a:r>
                        <a:rPr lang="en-US" sz="2600" dirty="0">
                          <a:latin typeface="+mj-lt"/>
                        </a:rPr>
                        <a:t>E</a:t>
                      </a:r>
                    </a:p>
                  </a:txBody>
                  <a:tcPr/>
                </a:tc>
                <a:tc>
                  <a:txBody>
                    <a:bodyPr/>
                    <a:lstStyle/>
                    <a:p>
                      <a:pPr algn="ctr"/>
                      <a:r>
                        <a:rPr lang="en-US" sz="2600" dirty="0">
                          <a:latin typeface="+mj-lt"/>
                        </a:rPr>
                        <a:t>A</a:t>
                      </a:r>
                    </a:p>
                  </a:txBody>
                  <a:tcPr/>
                </a:tc>
                <a:tc>
                  <a:txBody>
                    <a:bodyPr/>
                    <a:lstStyle/>
                    <a:p>
                      <a:pPr algn="ctr"/>
                      <a:r>
                        <a:rPr lang="en-US" sz="2600" dirty="0">
                          <a:latin typeface="+mj-lt"/>
                        </a:rPr>
                        <a:t>B</a:t>
                      </a:r>
                    </a:p>
                  </a:txBody>
                  <a:tcPr/>
                </a:tc>
                <a:tc>
                  <a:txBody>
                    <a:bodyPr/>
                    <a:lstStyle/>
                    <a:p>
                      <a:pPr algn="ctr"/>
                      <a:r>
                        <a:rPr lang="en-US" sz="2600" dirty="0">
                          <a:latin typeface="+mj-lt"/>
                        </a:rPr>
                        <a:t>D</a:t>
                      </a:r>
                    </a:p>
                  </a:txBody>
                  <a:tcPr/>
                </a:tc>
                <a:extLst>
                  <a:ext uri="{0D108BD9-81ED-4DB2-BD59-A6C34878D82A}">
                    <a16:rowId xmlns:a16="http://schemas.microsoft.com/office/drawing/2014/main" val="2816538912"/>
                  </a:ext>
                </a:extLst>
              </a:tr>
            </a:tbl>
          </a:graphicData>
        </a:graphic>
      </p:graphicFrame>
      <p:graphicFrame>
        <p:nvGraphicFramePr>
          <p:cNvPr id="9" name="Table 8">
            <a:extLst>
              <a:ext uri="{FF2B5EF4-FFF2-40B4-BE49-F238E27FC236}">
                <a16:creationId xmlns:a16="http://schemas.microsoft.com/office/drawing/2014/main" id="{DB40FA49-14E1-428A-A8D5-6247F6D71BE0}"/>
              </a:ext>
            </a:extLst>
          </p:cNvPr>
          <p:cNvGraphicFramePr>
            <a:graphicFrameLocks noGrp="1"/>
          </p:cNvGraphicFramePr>
          <p:nvPr>
            <p:extLst>
              <p:ext uri="{D42A27DB-BD31-4B8C-83A1-F6EECF244321}">
                <p14:modId xmlns:p14="http://schemas.microsoft.com/office/powerpoint/2010/main" val="207823122"/>
              </p:ext>
            </p:extLst>
          </p:nvPr>
        </p:nvGraphicFramePr>
        <p:xfrm>
          <a:off x="1066800" y="5800825"/>
          <a:ext cx="6096000" cy="487680"/>
        </p:xfrm>
        <a:graphic>
          <a:graphicData uri="http://schemas.openxmlformats.org/drawingml/2006/table">
            <a:tbl>
              <a:tblPr bandRow="1">
                <a:tableStyleId>{5940675A-B579-460E-94D1-54222C63F5DA}</a:tableStyleId>
              </a:tblPr>
              <a:tblGrid>
                <a:gridCol w="1524000">
                  <a:extLst>
                    <a:ext uri="{9D8B030D-6E8A-4147-A177-3AD203B41FA5}">
                      <a16:colId xmlns:a16="http://schemas.microsoft.com/office/drawing/2014/main" val="337897615"/>
                    </a:ext>
                  </a:extLst>
                </a:gridCol>
                <a:gridCol w="1524000">
                  <a:extLst>
                    <a:ext uri="{9D8B030D-6E8A-4147-A177-3AD203B41FA5}">
                      <a16:colId xmlns:a16="http://schemas.microsoft.com/office/drawing/2014/main" val="75683301"/>
                    </a:ext>
                  </a:extLst>
                </a:gridCol>
                <a:gridCol w="1524000">
                  <a:extLst>
                    <a:ext uri="{9D8B030D-6E8A-4147-A177-3AD203B41FA5}">
                      <a16:colId xmlns:a16="http://schemas.microsoft.com/office/drawing/2014/main" val="3418249292"/>
                    </a:ext>
                  </a:extLst>
                </a:gridCol>
                <a:gridCol w="1524000">
                  <a:extLst>
                    <a:ext uri="{9D8B030D-6E8A-4147-A177-3AD203B41FA5}">
                      <a16:colId xmlns:a16="http://schemas.microsoft.com/office/drawing/2014/main" val="638644584"/>
                    </a:ext>
                  </a:extLst>
                </a:gridCol>
              </a:tblGrid>
              <a:tr h="370840">
                <a:tc>
                  <a:txBody>
                    <a:bodyPr/>
                    <a:lstStyle/>
                    <a:p>
                      <a:pPr algn="ctr"/>
                      <a:r>
                        <a:rPr lang="en-US" sz="2600" dirty="0">
                          <a:latin typeface="+mj-lt"/>
                        </a:rPr>
                        <a:t>E</a:t>
                      </a:r>
                    </a:p>
                  </a:txBody>
                  <a:tcPr/>
                </a:tc>
                <a:tc>
                  <a:txBody>
                    <a:bodyPr/>
                    <a:lstStyle/>
                    <a:p>
                      <a:pPr algn="ctr"/>
                      <a:r>
                        <a:rPr lang="en-US" sz="2600" dirty="0">
                          <a:latin typeface="+mj-lt"/>
                        </a:rPr>
                        <a:t>A</a:t>
                      </a:r>
                    </a:p>
                  </a:txBody>
                  <a:tcPr/>
                </a:tc>
                <a:tc>
                  <a:txBody>
                    <a:bodyPr/>
                    <a:lstStyle/>
                    <a:p>
                      <a:pPr algn="ctr"/>
                      <a:r>
                        <a:rPr lang="en-US" sz="2600" dirty="0">
                          <a:latin typeface="+mj-lt"/>
                        </a:rPr>
                        <a:t>B</a:t>
                      </a:r>
                    </a:p>
                  </a:txBody>
                  <a:tcPr/>
                </a:tc>
                <a:tc>
                  <a:txBody>
                    <a:bodyPr/>
                    <a:lstStyle/>
                    <a:p>
                      <a:pPr algn="ctr"/>
                      <a:r>
                        <a:rPr lang="en-US" sz="2600" dirty="0">
                          <a:latin typeface="+mj-lt"/>
                        </a:rPr>
                        <a:t>D</a:t>
                      </a:r>
                    </a:p>
                  </a:txBody>
                  <a:tcPr/>
                </a:tc>
                <a:extLst>
                  <a:ext uri="{0D108BD9-81ED-4DB2-BD59-A6C34878D82A}">
                    <a16:rowId xmlns:a16="http://schemas.microsoft.com/office/drawing/2014/main" val="2816538912"/>
                  </a:ext>
                </a:extLst>
              </a:tr>
            </a:tbl>
          </a:graphicData>
        </a:graphic>
      </p:graphicFrame>
      <p:cxnSp>
        <p:nvCxnSpPr>
          <p:cNvPr id="11" name="Straight Arrow Connector 10"/>
          <p:cNvCxnSpPr/>
          <p:nvPr/>
        </p:nvCxnSpPr>
        <p:spPr>
          <a:xfrm flipV="1">
            <a:off x="1840832" y="4631927"/>
            <a:ext cx="0" cy="457200"/>
          </a:xfrm>
          <a:prstGeom prst="straightConnector1">
            <a:avLst/>
          </a:prstGeom>
          <a:ln w="57150">
            <a:solidFill>
              <a:srgbClr val="C0000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1816547" y="6288505"/>
            <a:ext cx="0" cy="457200"/>
          </a:xfrm>
          <a:prstGeom prst="straightConnector1">
            <a:avLst/>
          </a:prstGeom>
          <a:ln w="57150">
            <a:solidFill>
              <a:srgbClr val="C00000"/>
            </a:solidFill>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0119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FIFO Block Replacement: Example</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838200" y="1825625"/>
            <a:ext cx="10515600" cy="3741738"/>
          </a:xfrm>
        </p:spPr>
        <p:txBody>
          <a:bodyPr>
            <a:normAutofit fontScale="92500" lnSpcReduction="20000"/>
          </a:bodyPr>
          <a:lstStyle/>
          <a:p>
            <a:r>
              <a:rPr lang="en-US" dirty="0"/>
              <a:t>Block access sequence: E, A, B, E, D, B, </a:t>
            </a:r>
            <a:r>
              <a:rPr lang="en-US" b="1" dirty="0"/>
              <a:t>A</a:t>
            </a:r>
            <a:r>
              <a:rPr lang="en-US" dirty="0"/>
              <a:t>, C, G, E, F</a:t>
            </a:r>
          </a:p>
          <a:p>
            <a:endParaRPr lang="en-US" dirty="0"/>
          </a:p>
          <a:p>
            <a:endParaRPr lang="en-US" dirty="0"/>
          </a:p>
          <a:p>
            <a:endParaRPr lang="en-US" dirty="0"/>
          </a:p>
          <a:p>
            <a:r>
              <a:rPr lang="en-US" dirty="0"/>
              <a:t>Block access sequence: E, A, B, E, D, B, A, </a:t>
            </a:r>
            <a:r>
              <a:rPr lang="en-US" b="1" dirty="0"/>
              <a:t>C</a:t>
            </a:r>
            <a:r>
              <a:rPr lang="en-US" dirty="0"/>
              <a:t>, G, E, F</a:t>
            </a:r>
          </a:p>
          <a:p>
            <a:endParaRPr lang="en-US" dirty="0"/>
          </a:p>
          <a:p>
            <a:endParaRPr lang="en-US" dirty="0"/>
          </a:p>
          <a:p>
            <a:endParaRPr lang="en-US" dirty="0"/>
          </a:p>
          <a:p>
            <a:r>
              <a:rPr lang="en-US" dirty="0"/>
              <a:t>Block access sequence: E, A, B, E, D, B, A, C, </a:t>
            </a:r>
            <a:r>
              <a:rPr lang="en-US" b="1" dirty="0"/>
              <a:t>G</a:t>
            </a:r>
            <a:r>
              <a:rPr lang="en-US" dirty="0"/>
              <a:t>, E, F</a:t>
            </a:r>
          </a:p>
          <a:p>
            <a:endParaRPr lang="en-US" dirty="0"/>
          </a:p>
        </p:txBody>
      </p:sp>
      <p:graphicFrame>
        <p:nvGraphicFramePr>
          <p:cNvPr id="5" name="Table 4">
            <a:extLst>
              <a:ext uri="{FF2B5EF4-FFF2-40B4-BE49-F238E27FC236}">
                <a16:creationId xmlns:a16="http://schemas.microsoft.com/office/drawing/2014/main" id="{DB40FA49-14E1-428A-A8D5-6247F6D71BE0}"/>
              </a:ext>
            </a:extLst>
          </p:cNvPr>
          <p:cNvGraphicFramePr>
            <a:graphicFrameLocks noGrp="1"/>
          </p:cNvGraphicFramePr>
          <p:nvPr>
            <p:extLst>
              <p:ext uri="{D42A27DB-BD31-4B8C-83A1-F6EECF244321}">
                <p14:modId xmlns:p14="http://schemas.microsoft.com/office/powerpoint/2010/main" val="1248938904"/>
              </p:ext>
            </p:extLst>
          </p:nvPr>
        </p:nvGraphicFramePr>
        <p:xfrm>
          <a:off x="1066800" y="2408871"/>
          <a:ext cx="6096000" cy="487680"/>
        </p:xfrm>
        <a:graphic>
          <a:graphicData uri="http://schemas.openxmlformats.org/drawingml/2006/table">
            <a:tbl>
              <a:tblPr bandRow="1">
                <a:tableStyleId>{5940675A-B579-460E-94D1-54222C63F5DA}</a:tableStyleId>
              </a:tblPr>
              <a:tblGrid>
                <a:gridCol w="1524000">
                  <a:extLst>
                    <a:ext uri="{9D8B030D-6E8A-4147-A177-3AD203B41FA5}">
                      <a16:colId xmlns:a16="http://schemas.microsoft.com/office/drawing/2014/main" val="337897615"/>
                    </a:ext>
                  </a:extLst>
                </a:gridCol>
                <a:gridCol w="1524000">
                  <a:extLst>
                    <a:ext uri="{9D8B030D-6E8A-4147-A177-3AD203B41FA5}">
                      <a16:colId xmlns:a16="http://schemas.microsoft.com/office/drawing/2014/main" val="75683301"/>
                    </a:ext>
                  </a:extLst>
                </a:gridCol>
                <a:gridCol w="1524000">
                  <a:extLst>
                    <a:ext uri="{9D8B030D-6E8A-4147-A177-3AD203B41FA5}">
                      <a16:colId xmlns:a16="http://schemas.microsoft.com/office/drawing/2014/main" val="3418249292"/>
                    </a:ext>
                  </a:extLst>
                </a:gridCol>
                <a:gridCol w="1524000">
                  <a:extLst>
                    <a:ext uri="{9D8B030D-6E8A-4147-A177-3AD203B41FA5}">
                      <a16:colId xmlns:a16="http://schemas.microsoft.com/office/drawing/2014/main" val="638644584"/>
                    </a:ext>
                  </a:extLst>
                </a:gridCol>
              </a:tblGrid>
              <a:tr h="370840">
                <a:tc>
                  <a:txBody>
                    <a:bodyPr/>
                    <a:lstStyle/>
                    <a:p>
                      <a:pPr algn="ctr"/>
                      <a:r>
                        <a:rPr lang="en-US" sz="2600" dirty="0">
                          <a:latin typeface="+mj-lt"/>
                        </a:rPr>
                        <a:t>E</a:t>
                      </a:r>
                    </a:p>
                  </a:txBody>
                  <a:tcPr/>
                </a:tc>
                <a:tc>
                  <a:txBody>
                    <a:bodyPr/>
                    <a:lstStyle/>
                    <a:p>
                      <a:pPr algn="ctr"/>
                      <a:r>
                        <a:rPr lang="en-US" sz="2600" dirty="0">
                          <a:latin typeface="+mj-lt"/>
                        </a:rPr>
                        <a:t>A</a:t>
                      </a:r>
                    </a:p>
                  </a:txBody>
                  <a:tcPr/>
                </a:tc>
                <a:tc>
                  <a:txBody>
                    <a:bodyPr/>
                    <a:lstStyle/>
                    <a:p>
                      <a:pPr algn="ctr"/>
                      <a:r>
                        <a:rPr lang="en-US" sz="2600" dirty="0">
                          <a:latin typeface="+mj-lt"/>
                        </a:rPr>
                        <a:t>B</a:t>
                      </a:r>
                    </a:p>
                  </a:txBody>
                  <a:tcPr/>
                </a:tc>
                <a:tc>
                  <a:txBody>
                    <a:bodyPr/>
                    <a:lstStyle/>
                    <a:p>
                      <a:pPr algn="ctr"/>
                      <a:r>
                        <a:rPr lang="en-US" sz="2600" dirty="0">
                          <a:latin typeface="+mj-lt"/>
                        </a:rPr>
                        <a:t>D</a:t>
                      </a:r>
                    </a:p>
                  </a:txBody>
                  <a:tcPr/>
                </a:tc>
                <a:extLst>
                  <a:ext uri="{0D108BD9-81ED-4DB2-BD59-A6C34878D82A}">
                    <a16:rowId xmlns:a16="http://schemas.microsoft.com/office/drawing/2014/main" val="2816538912"/>
                  </a:ext>
                </a:extLst>
              </a:tr>
            </a:tbl>
          </a:graphicData>
        </a:graphic>
      </p:graphicFrame>
      <p:cxnSp>
        <p:nvCxnSpPr>
          <p:cNvPr id="6" name="Straight Arrow Connector 5"/>
          <p:cNvCxnSpPr/>
          <p:nvPr/>
        </p:nvCxnSpPr>
        <p:spPr>
          <a:xfrm flipV="1">
            <a:off x="1876927" y="2971800"/>
            <a:ext cx="0" cy="457200"/>
          </a:xfrm>
          <a:prstGeom prst="straightConnector1">
            <a:avLst/>
          </a:prstGeom>
          <a:ln w="57150">
            <a:solidFill>
              <a:srgbClr val="C00000"/>
            </a:solidFill>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DB40FA49-14E1-428A-A8D5-6247F6D71BE0}"/>
              </a:ext>
            </a:extLst>
          </p:cNvPr>
          <p:cNvGraphicFramePr>
            <a:graphicFrameLocks noGrp="1"/>
          </p:cNvGraphicFramePr>
          <p:nvPr>
            <p:extLst>
              <p:ext uri="{D42A27DB-BD31-4B8C-83A1-F6EECF244321}">
                <p14:modId xmlns:p14="http://schemas.microsoft.com/office/powerpoint/2010/main" val="747800967"/>
              </p:ext>
            </p:extLst>
          </p:nvPr>
        </p:nvGraphicFramePr>
        <p:xfrm>
          <a:off x="946484" y="3984859"/>
          <a:ext cx="6096000" cy="487680"/>
        </p:xfrm>
        <a:graphic>
          <a:graphicData uri="http://schemas.openxmlformats.org/drawingml/2006/table">
            <a:tbl>
              <a:tblPr bandRow="1">
                <a:tableStyleId>{5940675A-B579-460E-94D1-54222C63F5DA}</a:tableStyleId>
              </a:tblPr>
              <a:tblGrid>
                <a:gridCol w="1524000">
                  <a:extLst>
                    <a:ext uri="{9D8B030D-6E8A-4147-A177-3AD203B41FA5}">
                      <a16:colId xmlns:a16="http://schemas.microsoft.com/office/drawing/2014/main" val="337897615"/>
                    </a:ext>
                  </a:extLst>
                </a:gridCol>
                <a:gridCol w="1524000">
                  <a:extLst>
                    <a:ext uri="{9D8B030D-6E8A-4147-A177-3AD203B41FA5}">
                      <a16:colId xmlns:a16="http://schemas.microsoft.com/office/drawing/2014/main" val="75683301"/>
                    </a:ext>
                  </a:extLst>
                </a:gridCol>
                <a:gridCol w="1524000">
                  <a:extLst>
                    <a:ext uri="{9D8B030D-6E8A-4147-A177-3AD203B41FA5}">
                      <a16:colId xmlns:a16="http://schemas.microsoft.com/office/drawing/2014/main" val="3418249292"/>
                    </a:ext>
                  </a:extLst>
                </a:gridCol>
                <a:gridCol w="1524000">
                  <a:extLst>
                    <a:ext uri="{9D8B030D-6E8A-4147-A177-3AD203B41FA5}">
                      <a16:colId xmlns:a16="http://schemas.microsoft.com/office/drawing/2014/main" val="638644584"/>
                    </a:ext>
                  </a:extLst>
                </a:gridCol>
              </a:tblGrid>
              <a:tr h="370840">
                <a:tc>
                  <a:txBody>
                    <a:bodyPr/>
                    <a:lstStyle/>
                    <a:p>
                      <a:pPr algn="ctr"/>
                      <a:r>
                        <a:rPr lang="en-US" sz="2600" dirty="0">
                          <a:latin typeface="+mj-lt"/>
                        </a:rPr>
                        <a:t>C</a:t>
                      </a:r>
                    </a:p>
                  </a:txBody>
                  <a:tcPr/>
                </a:tc>
                <a:tc>
                  <a:txBody>
                    <a:bodyPr/>
                    <a:lstStyle/>
                    <a:p>
                      <a:pPr algn="ctr"/>
                      <a:r>
                        <a:rPr lang="en-US" sz="2600" dirty="0">
                          <a:latin typeface="+mj-lt"/>
                        </a:rPr>
                        <a:t>A</a:t>
                      </a:r>
                    </a:p>
                  </a:txBody>
                  <a:tcPr/>
                </a:tc>
                <a:tc>
                  <a:txBody>
                    <a:bodyPr/>
                    <a:lstStyle/>
                    <a:p>
                      <a:pPr algn="ctr"/>
                      <a:r>
                        <a:rPr lang="en-US" sz="2600" dirty="0">
                          <a:latin typeface="+mj-lt"/>
                        </a:rPr>
                        <a:t>B</a:t>
                      </a:r>
                    </a:p>
                  </a:txBody>
                  <a:tcPr/>
                </a:tc>
                <a:tc>
                  <a:txBody>
                    <a:bodyPr/>
                    <a:lstStyle/>
                    <a:p>
                      <a:pPr algn="ctr"/>
                      <a:r>
                        <a:rPr lang="en-US" sz="2600" dirty="0">
                          <a:latin typeface="+mj-lt"/>
                        </a:rPr>
                        <a:t>D</a:t>
                      </a:r>
                    </a:p>
                  </a:txBody>
                  <a:tcPr/>
                </a:tc>
                <a:extLst>
                  <a:ext uri="{0D108BD9-81ED-4DB2-BD59-A6C34878D82A}">
                    <a16:rowId xmlns:a16="http://schemas.microsoft.com/office/drawing/2014/main" val="2816538912"/>
                  </a:ext>
                </a:extLst>
              </a:tr>
            </a:tbl>
          </a:graphicData>
        </a:graphic>
      </p:graphicFrame>
      <p:graphicFrame>
        <p:nvGraphicFramePr>
          <p:cNvPr id="9" name="Table 8">
            <a:extLst>
              <a:ext uri="{FF2B5EF4-FFF2-40B4-BE49-F238E27FC236}">
                <a16:creationId xmlns:a16="http://schemas.microsoft.com/office/drawing/2014/main" id="{DB40FA49-14E1-428A-A8D5-6247F6D71BE0}"/>
              </a:ext>
            </a:extLst>
          </p:cNvPr>
          <p:cNvGraphicFramePr>
            <a:graphicFrameLocks noGrp="1"/>
          </p:cNvGraphicFramePr>
          <p:nvPr>
            <p:extLst>
              <p:ext uri="{D42A27DB-BD31-4B8C-83A1-F6EECF244321}">
                <p14:modId xmlns:p14="http://schemas.microsoft.com/office/powerpoint/2010/main" val="910346359"/>
              </p:ext>
            </p:extLst>
          </p:nvPr>
        </p:nvGraphicFramePr>
        <p:xfrm>
          <a:off x="838200" y="5481563"/>
          <a:ext cx="6096000" cy="487680"/>
        </p:xfrm>
        <a:graphic>
          <a:graphicData uri="http://schemas.openxmlformats.org/drawingml/2006/table">
            <a:tbl>
              <a:tblPr bandRow="1">
                <a:tableStyleId>{5940675A-B579-460E-94D1-54222C63F5DA}</a:tableStyleId>
              </a:tblPr>
              <a:tblGrid>
                <a:gridCol w="1524000">
                  <a:extLst>
                    <a:ext uri="{9D8B030D-6E8A-4147-A177-3AD203B41FA5}">
                      <a16:colId xmlns:a16="http://schemas.microsoft.com/office/drawing/2014/main" val="337897615"/>
                    </a:ext>
                  </a:extLst>
                </a:gridCol>
                <a:gridCol w="1524000">
                  <a:extLst>
                    <a:ext uri="{9D8B030D-6E8A-4147-A177-3AD203B41FA5}">
                      <a16:colId xmlns:a16="http://schemas.microsoft.com/office/drawing/2014/main" val="75683301"/>
                    </a:ext>
                  </a:extLst>
                </a:gridCol>
                <a:gridCol w="1524000">
                  <a:extLst>
                    <a:ext uri="{9D8B030D-6E8A-4147-A177-3AD203B41FA5}">
                      <a16:colId xmlns:a16="http://schemas.microsoft.com/office/drawing/2014/main" val="3418249292"/>
                    </a:ext>
                  </a:extLst>
                </a:gridCol>
                <a:gridCol w="1524000">
                  <a:extLst>
                    <a:ext uri="{9D8B030D-6E8A-4147-A177-3AD203B41FA5}">
                      <a16:colId xmlns:a16="http://schemas.microsoft.com/office/drawing/2014/main" val="638644584"/>
                    </a:ext>
                  </a:extLst>
                </a:gridCol>
              </a:tblGrid>
              <a:tr h="370840">
                <a:tc>
                  <a:txBody>
                    <a:bodyPr/>
                    <a:lstStyle/>
                    <a:p>
                      <a:pPr algn="ctr"/>
                      <a:r>
                        <a:rPr lang="en-US" sz="2600" dirty="0">
                          <a:latin typeface="+mj-lt"/>
                        </a:rPr>
                        <a:t>C</a:t>
                      </a:r>
                    </a:p>
                  </a:txBody>
                  <a:tcPr/>
                </a:tc>
                <a:tc>
                  <a:txBody>
                    <a:bodyPr/>
                    <a:lstStyle/>
                    <a:p>
                      <a:pPr algn="ctr"/>
                      <a:r>
                        <a:rPr lang="en-US" sz="2600" dirty="0">
                          <a:latin typeface="+mj-lt"/>
                        </a:rPr>
                        <a:t>G</a:t>
                      </a:r>
                    </a:p>
                  </a:txBody>
                  <a:tcPr/>
                </a:tc>
                <a:tc>
                  <a:txBody>
                    <a:bodyPr/>
                    <a:lstStyle/>
                    <a:p>
                      <a:pPr algn="ctr"/>
                      <a:r>
                        <a:rPr lang="en-US" sz="2600" dirty="0">
                          <a:latin typeface="+mj-lt"/>
                        </a:rPr>
                        <a:t>B</a:t>
                      </a:r>
                    </a:p>
                  </a:txBody>
                  <a:tcPr/>
                </a:tc>
                <a:tc>
                  <a:txBody>
                    <a:bodyPr/>
                    <a:lstStyle/>
                    <a:p>
                      <a:pPr algn="ctr"/>
                      <a:r>
                        <a:rPr lang="en-US" sz="2600" dirty="0">
                          <a:latin typeface="+mj-lt"/>
                        </a:rPr>
                        <a:t>D</a:t>
                      </a:r>
                    </a:p>
                  </a:txBody>
                  <a:tcPr/>
                </a:tc>
                <a:extLst>
                  <a:ext uri="{0D108BD9-81ED-4DB2-BD59-A6C34878D82A}">
                    <a16:rowId xmlns:a16="http://schemas.microsoft.com/office/drawing/2014/main" val="2816538912"/>
                  </a:ext>
                </a:extLst>
              </a:tr>
            </a:tbl>
          </a:graphicData>
        </a:graphic>
      </p:graphicFrame>
      <p:cxnSp>
        <p:nvCxnSpPr>
          <p:cNvPr id="11" name="Straight Arrow Connector 10"/>
          <p:cNvCxnSpPr/>
          <p:nvPr/>
        </p:nvCxnSpPr>
        <p:spPr>
          <a:xfrm flipV="1">
            <a:off x="3392907" y="4472539"/>
            <a:ext cx="0" cy="457200"/>
          </a:xfrm>
          <a:prstGeom prst="straightConnector1">
            <a:avLst/>
          </a:prstGeom>
          <a:ln w="57150">
            <a:solidFill>
              <a:srgbClr val="C0000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4876800" y="5867400"/>
            <a:ext cx="0" cy="457200"/>
          </a:xfrm>
          <a:prstGeom prst="straightConnector1">
            <a:avLst/>
          </a:prstGeom>
          <a:ln w="57150">
            <a:solidFill>
              <a:srgbClr val="C00000"/>
            </a:solidFill>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3987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FIFO Block Replacement: Example</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Block access sequence: E, A, B, E, D, B, A, C, G, </a:t>
            </a:r>
            <a:r>
              <a:rPr lang="en-US" b="1" dirty="0"/>
              <a:t>E</a:t>
            </a:r>
            <a:r>
              <a:rPr lang="en-US" dirty="0"/>
              <a:t>, F</a:t>
            </a:r>
          </a:p>
          <a:p>
            <a:endParaRPr lang="en-US" dirty="0"/>
          </a:p>
          <a:p>
            <a:endParaRPr lang="en-US" dirty="0"/>
          </a:p>
          <a:p>
            <a:endParaRPr lang="en-US" dirty="0"/>
          </a:p>
          <a:p>
            <a:r>
              <a:rPr lang="en-US" dirty="0"/>
              <a:t>Block access sequence: E, A, B, E, D, B, A, C, G, E, </a:t>
            </a:r>
            <a:r>
              <a:rPr lang="en-US" b="1" dirty="0"/>
              <a:t>F</a:t>
            </a:r>
          </a:p>
          <a:p>
            <a:endParaRPr lang="en-US" dirty="0"/>
          </a:p>
          <a:p>
            <a:endParaRPr lang="en-US" dirty="0"/>
          </a:p>
          <a:p>
            <a:endParaRPr lang="en-US" dirty="0"/>
          </a:p>
          <a:p>
            <a:endParaRPr lang="en-US" dirty="0"/>
          </a:p>
        </p:txBody>
      </p:sp>
      <p:graphicFrame>
        <p:nvGraphicFramePr>
          <p:cNvPr id="5" name="Table 4">
            <a:extLst>
              <a:ext uri="{FF2B5EF4-FFF2-40B4-BE49-F238E27FC236}">
                <a16:creationId xmlns:a16="http://schemas.microsoft.com/office/drawing/2014/main" id="{DB40FA49-14E1-428A-A8D5-6247F6D71BE0}"/>
              </a:ext>
            </a:extLst>
          </p:cNvPr>
          <p:cNvGraphicFramePr>
            <a:graphicFrameLocks noGrp="1"/>
          </p:cNvGraphicFramePr>
          <p:nvPr>
            <p:extLst>
              <p:ext uri="{D42A27DB-BD31-4B8C-83A1-F6EECF244321}">
                <p14:modId xmlns:p14="http://schemas.microsoft.com/office/powerpoint/2010/main" val="4208844052"/>
              </p:ext>
            </p:extLst>
          </p:nvPr>
        </p:nvGraphicFramePr>
        <p:xfrm>
          <a:off x="1066800" y="2761499"/>
          <a:ext cx="6096000" cy="487680"/>
        </p:xfrm>
        <a:graphic>
          <a:graphicData uri="http://schemas.openxmlformats.org/drawingml/2006/table">
            <a:tbl>
              <a:tblPr bandRow="1">
                <a:tableStyleId>{5940675A-B579-460E-94D1-54222C63F5DA}</a:tableStyleId>
              </a:tblPr>
              <a:tblGrid>
                <a:gridCol w="1524000">
                  <a:extLst>
                    <a:ext uri="{9D8B030D-6E8A-4147-A177-3AD203B41FA5}">
                      <a16:colId xmlns:a16="http://schemas.microsoft.com/office/drawing/2014/main" val="337897615"/>
                    </a:ext>
                  </a:extLst>
                </a:gridCol>
                <a:gridCol w="1524000">
                  <a:extLst>
                    <a:ext uri="{9D8B030D-6E8A-4147-A177-3AD203B41FA5}">
                      <a16:colId xmlns:a16="http://schemas.microsoft.com/office/drawing/2014/main" val="75683301"/>
                    </a:ext>
                  </a:extLst>
                </a:gridCol>
                <a:gridCol w="1524000">
                  <a:extLst>
                    <a:ext uri="{9D8B030D-6E8A-4147-A177-3AD203B41FA5}">
                      <a16:colId xmlns:a16="http://schemas.microsoft.com/office/drawing/2014/main" val="3418249292"/>
                    </a:ext>
                  </a:extLst>
                </a:gridCol>
                <a:gridCol w="1524000">
                  <a:extLst>
                    <a:ext uri="{9D8B030D-6E8A-4147-A177-3AD203B41FA5}">
                      <a16:colId xmlns:a16="http://schemas.microsoft.com/office/drawing/2014/main" val="638644584"/>
                    </a:ext>
                  </a:extLst>
                </a:gridCol>
              </a:tblGrid>
              <a:tr h="370840">
                <a:tc>
                  <a:txBody>
                    <a:bodyPr/>
                    <a:lstStyle/>
                    <a:p>
                      <a:pPr algn="ctr"/>
                      <a:r>
                        <a:rPr lang="en-US" sz="2600" dirty="0">
                          <a:latin typeface="+mj-lt"/>
                        </a:rPr>
                        <a:t>C</a:t>
                      </a:r>
                    </a:p>
                  </a:txBody>
                  <a:tcPr/>
                </a:tc>
                <a:tc>
                  <a:txBody>
                    <a:bodyPr/>
                    <a:lstStyle/>
                    <a:p>
                      <a:pPr algn="ctr"/>
                      <a:r>
                        <a:rPr lang="en-US" sz="2600" dirty="0">
                          <a:latin typeface="+mj-lt"/>
                        </a:rPr>
                        <a:t>G</a:t>
                      </a:r>
                    </a:p>
                  </a:txBody>
                  <a:tcPr/>
                </a:tc>
                <a:tc>
                  <a:txBody>
                    <a:bodyPr/>
                    <a:lstStyle/>
                    <a:p>
                      <a:pPr algn="ctr"/>
                      <a:r>
                        <a:rPr lang="en-US" sz="2600" dirty="0">
                          <a:latin typeface="+mj-lt"/>
                        </a:rPr>
                        <a:t>E</a:t>
                      </a:r>
                    </a:p>
                  </a:txBody>
                  <a:tcPr/>
                </a:tc>
                <a:tc>
                  <a:txBody>
                    <a:bodyPr/>
                    <a:lstStyle/>
                    <a:p>
                      <a:pPr algn="ctr"/>
                      <a:r>
                        <a:rPr lang="en-US" sz="2600" dirty="0">
                          <a:latin typeface="+mj-lt"/>
                        </a:rPr>
                        <a:t>D</a:t>
                      </a:r>
                    </a:p>
                  </a:txBody>
                  <a:tcPr/>
                </a:tc>
                <a:extLst>
                  <a:ext uri="{0D108BD9-81ED-4DB2-BD59-A6C34878D82A}">
                    <a16:rowId xmlns:a16="http://schemas.microsoft.com/office/drawing/2014/main" val="2816538912"/>
                  </a:ext>
                </a:extLst>
              </a:tr>
            </a:tbl>
          </a:graphicData>
        </a:graphic>
      </p:graphicFrame>
      <p:cxnSp>
        <p:nvCxnSpPr>
          <p:cNvPr id="6" name="Straight Arrow Connector 5"/>
          <p:cNvCxnSpPr/>
          <p:nvPr/>
        </p:nvCxnSpPr>
        <p:spPr>
          <a:xfrm flipV="1">
            <a:off x="6424863" y="3272589"/>
            <a:ext cx="0" cy="457200"/>
          </a:xfrm>
          <a:prstGeom prst="straightConnector1">
            <a:avLst/>
          </a:prstGeom>
          <a:ln w="57150">
            <a:solidFill>
              <a:srgbClr val="C00000"/>
            </a:solidFill>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D56D6286-ED08-4CCF-ACBB-95CC5E9F0C0E}"/>
              </a:ext>
            </a:extLst>
          </p:cNvPr>
          <p:cNvGraphicFramePr>
            <a:graphicFrameLocks noGrp="1"/>
          </p:cNvGraphicFramePr>
          <p:nvPr>
            <p:extLst>
              <p:ext uri="{D42A27DB-BD31-4B8C-83A1-F6EECF244321}">
                <p14:modId xmlns:p14="http://schemas.microsoft.com/office/powerpoint/2010/main" val="1642255796"/>
              </p:ext>
            </p:extLst>
          </p:nvPr>
        </p:nvGraphicFramePr>
        <p:xfrm>
          <a:off x="1066800" y="4630737"/>
          <a:ext cx="6096000" cy="487680"/>
        </p:xfrm>
        <a:graphic>
          <a:graphicData uri="http://schemas.openxmlformats.org/drawingml/2006/table">
            <a:tbl>
              <a:tblPr bandRow="1">
                <a:tableStyleId>{5940675A-B579-460E-94D1-54222C63F5DA}</a:tableStyleId>
              </a:tblPr>
              <a:tblGrid>
                <a:gridCol w="1524000">
                  <a:extLst>
                    <a:ext uri="{9D8B030D-6E8A-4147-A177-3AD203B41FA5}">
                      <a16:colId xmlns:a16="http://schemas.microsoft.com/office/drawing/2014/main" val="337897615"/>
                    </a:ext>
                  </a:extLst>
                </a:gridCol>
                <a:gridCol w="1524000">
                  <a:extLst>
                    <a:ext uri="{9D8B030D-6E8A-4147-A177-3AD203B41FA5}">
                      <a16:colId xmlns:a16="http://schemas.microsoft.com/office/drawing/2014/main" val="75683301"/>
                    </a:ext>
                  </a:extLst>
                </a:gridCol>
                <a:gridCol w="1524000">
                  <a:extLst>
                    <a:ext uri="{9D8B030D-6E8A-4147-A177-3AD203B41FA5}">
                      <a16:colId xmlns:a16="http://schemas.microsoft.com/office/drawing/2014/main" val="3418249292"/>
                    </a:ext>
                  </a:extLst>
                </a:gridCol>
                <a:gridCol w="1524000">
                  <a:extLst>
                    <a:ext uri="{9D8B030D-6E8A-4147-A177-3AD203B41FA5}">
                      <a16:colId xmlns:a16="http://schemas.microsoft.com/office/drawing/2014/main" val="638644584"/>
                    </a:ext>
                  </a:extLst>
                </a:gridCol>
              </a:tblGrid>
              <a:tr h="370840">
                <a:tc>
                  <a:txBody>
                    <a:bodyPr/>
                    <a:lstStyle/>
                    <a:p>
                      <a:pPr algn="ctr"/>
                      <a:r>
                        <a:rPr lang="en-US" sz="2600" dirty="0">
                          <a:latin typeface="+mj-lt"/>
                        </a:rPr>
                        <a:t>C</a:t>
                      </a:r>
                    </a:p>
                  </a:txBody>
                  <a:tcPr/>
                </a:tc>
                <a:tc>
                  <a:txBody>
                    <a:bodyPr/>
                    <a:lstStyle/>
                    <a:p>
                      <a:pPr algn="ctr"/>
                      <a:r>
                        <a:rPr lang="en-US" sz="2600" dirty="0">
                          <a:latin typeface="+mj-lt"/>
                        </a:rPr>
                        <a:t>G</a:t>
                      </a:r>
                    </a:p>
                  </a:txBody>
                  <a:tcPr/>
                </a:tc>
                <a:tc>
                  <a:txBody>
                    <a:bodyPr/>
                    <a:lstStyle/>
                    <a:p>
                      <a:pPr algn="ctr"/>
                      <a:r>
                        <a:rPr lang="en-US" sz="2600" dirty="0">
                          <a:latin typeface="+mj-lt"/>
                        </a:rPr>
                        <a:t>E</a:t>
                      </a:r>
                    </a:p>
                  </a:txBody>
                  <a:tcPr/>
                </a:tc>
                <a:tc>
                  <a:txBody>
                    <a:bodyPr/>
                    <a:lstStyle/>
                    <a:p>
                      <a:pPr algn="ctr"/>
                      <a:r>
                        <a:rPr lang="en-US" sz="2600" dirty="0">
                          <a:latin typeface="+mj-lt"/>
                        </a:rPr>
                        <a:t>F</a:t>
                      </a:r>
                    </a:p>
                  </a:txBody>
                  <a:tcPr/>
                </a:tc>
                <a:extLst>
                  <a:ext uri="{0D108BD9-81ED-4DB2-BD59-A6C34878D82A}">
                    <a16:rowId xmlns:a16="http://schemas.microsoft.com/office/drawing/2014/main" val="2816538912"/>
                  </a:ext>
                </a:extLst>
              </a:tr>
            </a:tbl>
          </a:graphicData>
        </a:graphic>
      </p:graphicFrame>
      <p:cxnSp>
        <p:nvCxnSpPr>
          <p:cNvPr id="8" name="Straight Arrow Connector 7">
            <a:extLst>
              <a:ext uri="{FF2B5EF4-FFF2-40B4-BE49-F238E27FC236}">
                <a16:creationId xmlns:a16="http://schemas.microsoft.com/office/drawing/2014/main" id="{57775D5E-736C-4D82-9871-331E2105EB0A}"/>
              </a:ext>
            </a:extLst>
          </p:cNvPr>
          <p:cNvCxnSpPr/>
          <p:nvPr/>
        </p:nvCxnSpPr>
        <p:spPr>
          <a:xfrm flipV="1">
            <a:off x="1828800" y="5130449"/>
            <a:ext cx="0" cy="457200"/>
          </a:xfrm>
          <a:prstGeom prst="straightConnector1">
            <a:avLst/>
          </a:prstGeom>
          <a:ln w="57150">
            <a:solidFill>
              <a:srgbClr val="C00000"/>
            </a:solidFill>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2958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Cache Memory: Effective Access Time</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The performance of hierarchical memory is measured by its effective access time (EAT).</a:t>
                </a:r>
              </a:p>
              <a:p>
                <a:r>
                  <a:rPr lang="en-US" dirty="0"/>
                  <a:t>EAT is a weighted average that takes into account the hit ratio and relative access times of successive levels of memory.</a:t>
                </a:r>
              </a:p>
              <a:p>
                <a:r>
                  <a:rPr lang="en-US" dirty="0"/>
                  <a:t>The EAT for a two-level memory is given by:</a:t>
                </a:r>
              </a:p>
              <a:p>
                <a:pPr marL="114300" indent="0">
                  <a:buNone/>
                </a:pPr>
                <a:r>
                  <a:rPr lang="en-US" b="0" dirty="0"/>
                  <a:t>	</a:t>
                </a:r>
                <a14:m>
                  <m:oMath xmlns:m="http://schemas.openxmlformats.org/officeDocument/2006/math">
                    <m:r>
                      <a:rPr lang="en-US" b="0" i="1" smtClean="0">
                        <a:latin typeface="Cambria Math" panose="02040503050406030204" pitchFamily="18" charset="0"/>
                      </a:rPr>
                      <m:t>𝐸𝐴𝑇</m:t>
                    </m:r>
                    <m:r>
                      <a:rPr lang="en-US" b="0" i="1" smtClean="0">
                        <a:latin typeface="Cambria Math" panose="02040503050406030204" pitchFamily="18" charset="0"/>
                      </a:rPr>
                      <m:t>=</m:t>
                    </m:r>
                    <m:r>
                      <a:rPr lang="en-US" b="0" i="1" smtClean="0">
                        <a:latin typeface="Cambria Math" panose="02040503050406030204" pitchFamily="18" charset="0"/>
                      </a:rPr>
                      <m:t>𝐻</m:t>
                    </m:r>
                    <m:r>
                      <a:rPr lang="en-US" b="0" i="1" smtClean="0">
                        <a:latin typeface="Cambria Math" panose="02040503050406030204" pitchFamily="18" charset="0"/>
                      </a:rPr>
                      <m:t>×</m:t>
                    </m:r>
                    <m:r>
                      <a:rPr lang="en-US" b="0" i="1" smtClean="0">
                        <a:latin typeface="Cambria Math" panose="02040503050406030204" pitchFamily="18" charset="0"/>
                      </a:rPr>
                      <m:t>𝐴𝑐𝑐𝑒𝑠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𝐶</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𝐻</m:t>
                        </m:r>
                      </m:e>
                    </m:d>
                    <m:r>
                      <a:rPr lang="en-US" b="0" i="1" smtClean="0">
                        <a:latin typeface="Cambria Math" panose="02040503050406030204" pitchFamily="18" charset="0"/>
                      </a:rPr>
                      <m:t>×</m:t>
                    </m:r>
                    <m:r>
                      <a:rPr lang="en-US" b="0" i="1" smtClean="0">
                        <a:latin typeface="Cambria Math" panose="02040503050406030204" pitchFamily="18" charset="0"/>
                      </a:rPr>
                      <m:t>𝐴𝑐𝑐𝑒𝑠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𝑀𝑀</m:t>
                        </m:r>
                      </m:sub>
                    </m:sSub>
                  </m:oMath>
                </a14:m>
                <a:r>
                  <a:rPr lang="en-US" b="0" dirty="0"/>
                  <a:t> </a:t>
                </a:r>
              </a:p>
              <a:p>
                <a:pPr marL="344488" indent="0">
                  <a:buNone/>
                </a:pPr>
                <a:r>
                  <a:rPr lang="en-US" dirty="0"/>
                  <a:t>where </a:t>
                </a:r>
                <a:r>
                  <a:rPr lang="en-US" i="1" dirty="0"/>
                  <a:t>H</a:t>
                </a:r>
                <a:r>
                  <a:rPr lang="en-US" dirty="0"/>
                  <a:t> is the cache hit rate and </a:t>
                </a:r>
                <a14:m>
                  <m:oMath xmlns:m="http://schemas.openxmlformats.org/officeDocument/2006/math">
                    <m:r>
                      <a:rPr lang="en-US" i="1">
                        <a:latin typeface="Cambria Math" panose="02040503050406030204" pitchFamily="18" charset="0"/>
                      </a:rPr>
                      <m:t>𝐴𝑐𝑐𝑒𝑠</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𝐶</m:t>
                        </m:r>
                      </m:sub>
                    </m:sSub>
                  </m:oMath>
                </a14:m>
                <a:r>
                  <a:rPr lang="en-US" dirty="0"/>
                  <a:t> and </a:t>
                </a:r>
                <a14:m>
                  <m:oMath xmlns:m="http://schemas.openxmlformats.org/officeDocument/2006/math">
                    <m:r>
                      <a:rPr lang="en-US" i="1">
                        <a:latin typeface="Cambria Math" panose="02040503050406030204" pitchFamily="18" charset="0"/>
                      </a:rPr>
                      <m:t>𝐴𝑐𝑐𝑒𝑠</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𝑀𝑀</m:t>
                        </m:r>
                      </m:sub>
                    </m:sSub>
                  </m:oMath>
                </a14:m>
                <a:r>
                  <a:rPr lang="en-US" dirty="0"/>
                  <a:t> are the access times for cache and main memory, respectively.</a:t>
                </a:r>
              </a:p>
              <a:p>
                <a:endParaRPr lang="en-US" dirty="0"/>
              </a:p>
            </p:txBody>
          </p:sp>
        </mc:Choice>
        <mc:Fallback xmlns="">
          <p:sp>
            <p:nvSpPr>
              <p:cNvPr id="3" name="Content Placeholder 2">
                <a:extLst>
                  <a:ext uri="{FF2B5EF4-FFF2-40B4-BE49-F238E27FC236}">
                    <a16:creationId xmlns:a16="http://schemas.microsoft.com/office/drawing/2014/main" xmlns="" id="{2425F833-F48A-41AB-BDF3-AE0A36E8B10B}"/>
                  </a:ext>
                </a:extLst>
              </p:cNvPr>
              <p:cNvSpPr>
                <a:spLocks noGrp="1" noRot="1" noChangeAspect="1" noMove="1" noResize="1" noEditPoints="1" noAdjustHandles="1" noChangeArrowheads="1" noChangeShapeType="1" noTextEdit="1"/>
              </p:cNvSpPr>
              <p:nvPr>
                <p:ph idx="1"/>
              </p:nvPr>
            </p:nvSpPr>
            <p:spPr>
              <a:blipFill rotWithShape="0">
                <a:blip r:embed="rId2"/>
                <a:stretch>
                  <a:fillRect t="-928" r="-1056"/>
                </a:stretch>
              </a:blipFill>
            </p:spPr>
            <p:txBody>
              <a:bodyPr/>
              <a:lstStyle/>
              <a:p>
                <a:r>
                  <a:rPr lang="en-US">
                    <a:noFill/>
                  </a:rPr>
                  <a:t> </a:t>
                </a:r>
              </a:p>
            </p:txBody>
          </p:sp>
        </mc:Fallback>
      </mc:AlternateContent>
    </p:spTree>
    <p:extLst>
      <p:ext uri="{BB962C8B-B14F-4D97-AF65-F5344CB8AC3E}">
        <p14:creationId xmlns:p14="http://schemas.microsoft.com/office/powerpoint/2010/main" val="15566239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Effective Access Time: Example #1</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r>
              <a:rPr lang="en-US" dirty="0"/>
              <a:t>For example, consider a system with a main memory access time of 200ns supported by a cache having a 10ns access time and a hit rate of 99%.</a:t>
            </a:r>
          </a:p>
          <a:p>
            <a:r>
              <a:rPr lang="en-US" dirty="0"/>
              <a:t>Suppose access to cache and main memory occurs concurrently, as opposed to sequentially. </a:t>
            </a:r>
          </a:p>
          <a:p>
            <a:r>
              <a:rPr lang="en-US" dirty="0"/>
              <a:t>In this scenario, the CPU initiates requests to cache and main memory simultaneously.</a:t>
            </a:r>
          </a:p>
          <a:p>
            <a:r>
              <a:rPr lang="en-US" dirty="0"/>
              <a:t>That is, the two requests overlap, so that if the block is not in cache, the request to main memory is already on its way.</a:t>
            </a:r>
          </a:p>
          <a:p>
            <a:r>
              <a:rPr lang="en-US" dirty="0"/>
              <a:t>The EAT is 0.99(10ns) + 0.01(200ns) = 9.9ns + 2ns = 11.9ns.</a:t>
            </a:r>
          </a:p>
          <a:p>
            <a:endParaRPr lang="en-US" dirty="0"/>
          </a:p>
          <a:p>
            <a:endParaRPr lang="en-US" dirty="0"/>
          </a:p>
          <a:p>
            <a:endParaRPr lang="en-US" dirty="0"/>
          </a:p>
        </p:txBody>
      </p:sp>
    </p:spTree>
    <p:extLst>
      <p:ext uri="{BB962C8B-B14F-4D97-AF65-F5344CB8AC3E}">
        <p14:creationId xmlns:p14="http://schemas.microsoft.com/office/powerpoint/2010/main" val="12098940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Effective Access Time: Example #2</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If the accesses do not overlap, they must instead happen sequentially</a:t>
            </a:r>
          </a:p>
          <a:p>
            <a:r>
              <a:rPr lang="en-US" dirty="0"/>
              <a:t>In this scenario, the CPU first checks the cache for the block. If the block is not in the cache, the CPU initiates a request to main memory.</a:t>
            </a:r>
          </a:p>
          <a:p>
            <a:r>
              <a:rPr lang="en-US" dirty="0"/>
              <a:t>The EAT is 0.99(10ns) + 0.01(10ns + 200ns) = 9.9ns + 2.1ns = 12ns.</a:t>
            </a:r>
          </a:p>
          <a:p>
            <a:endParaRPr lang="en-US" dirty="0"/>
          </a:p>
        </p:txBody>
      </p:sp>
    </p:spTree>
    <p:extLst>
      <p:ext uri="{BB962C8B-B14F-4D97-AF65-F5344CB8AC3E}">
        <p14:creationId xmlns:p14="http://schemas.microsoft.com/office/powerpoint/2010/main" val="28982733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Cache Memory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a:bodyPr>
          <a:lstStyle/>
          <a:p>
            <a:r>
              <a:rPr lang="en-US" dirty="0"/>
              <a:t>Cache replacement policies must take into account </a:t>
            </a:r>
            <a:r>
              <a:rPr lang="en-US" b="1" dirty="0"/>
              <a:t>dirty blocks</a:t>
            </a:r>
            <a:r>
              <a:rPr lang="en-US" dirty="0"/>
              <a:t>, those blocks that have been updated while they were in the cache.</a:t>
            </a:r>
          </a:p>
          <a:p>
            <a:r>
              <a:rPr lang="en-US" dirty="0"/>
              <a:t>Dirty blocks must be written back to memory.  A </a:t>
            </a:r>
            <a:r>
              <a:rPr lang="en-US" b="1" dirty="0"/>
              <a:t>write policy</a:t>
            </a:r>
            <a:r>
              <a:rPr lang="en-US" dirty="0"/>
              <a:t> determines how this will be done.</a:t>
            </a:r>
          </a:p>
          <a:p>
            <a:r>
              <a:rPr lang="en-US" dirty="0"/>
              <a:t>There are two types of write policies: </a:t>
            </a:r>
            <a:r>
              <a:rPr lang="en-US" b="1" dirty="0"/>
              <a:t>write-through</a:t>
            </a:r>
            <a:r>
              <a:rPr lang="en-US" dirty="0"/>
              <a:t> and </a:t>
            </a:r>
            <a:r>
              <a:rPr lang="en-US" b="1" dirty="0"/>
              <a:t>write-back</a:t>
            </a:r>
            <a:r>
              <a:rPr lang="en-US" dirty="0"/>
              <a:t>.</a:t>
            </a:r>
          </a:p>
          <a:p>
            <a:r>
              <a:rPr lang="en-US" dirty="0"/>
              <a:t>Write-through updates cache and main memory simultaneously on every write.</a:t>
            </a:r>
          </a:p>
          <a:p>
            <a:r>
              <a:rPr lang="en-US" dirty="0"/>
              <a:t>Write-back (also called </a:t>
            </a:r>
            <a:r>
              <a:rPr lang="en-US" b="1" dirty="0" err="1"/>
              <a:t>copyback</a:t>
            </a:r>
            <a:r>
              <a:rPr lang="en-US" dirty="0"/>
              <a:t>) updates memory only when the block is selected for replacement.</a:t>
            </a:r>
          </a:p>
          <a:p>
            <a:endParaRPr lang="en-US" dirty="0"/>
          </a:p>
        </p:txBody>
      </p:sp>
    </p:spTree>
    <p:extLst>
      <p:ext uri="{BB962C8B-B14F-4D97-AF65-F5344CB8AC3E}">
        <p14:creationId xmlns:p14="http://schemas.microsoft.com/office/powerpoint/2010/main" val="26548457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Cache Memory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The disadvantage of write-through is that memory must be updated with each cache write, which slows down the access time on updates. </a:t>
            </a:r>
          </a:p>
          <a:p>
            <a:pPr lvl="1"/>
            <a:r>
              <a:rPr lang="en-US" dirty="0"/>
              <a:t>This slowdown is usually negligible, because the majority of accesses tend to be reads, not writes.</a:t>
            </a:r>
          </a:p>
          <a:p>
            <a:r>
              <a:rPr lang="en-US" dirty="0"/>
              <a:t>The advantage of write-back is that memory traffic is minimized, but its disadvantage is that memory does not always agree with the value in cache, causing problems in systems with many concurrent </a:t>
            </a:r>
            <a:r>
              <a:rPr lang="en-US" b="1" dirty="0"/>
              <a:t>threads</a:t>
            </a:r>
            <a:r>
              <a:rPr lang="en-US" dirty="0"/>
              <a:t> of execution.</a:t>
            </a:r>
          </a:p>
          <a:p>
            <a:endParaRPr lang="en-US" dirty="0"/>
          </a:p>
        </p:txBody>
      </p:sp>
    </p:spTree>
    <p:extLst>
      <p:ext uri="{BB962C8B-B14F-4D97-AF65-F5344CB8AC3E}">
        <p14:creationId xmlns:p14="http://schemas.microsoft.com/office/powerpoint/2010/main" val="381843435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Cache Memory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The cache we have been discussing is called a </a:t>
            </a:r>
            <a:r>
              <a:rPr lang="en-US" b="1" dirty="0"/>
              <a:t>unified</a:t>
            </a:r>
            <a:r>
              <a:rPr lang="en-US" dirty="0"/>
              <a:t> or </a:t>
            </a:r>
            <a:r>
              <a:rPr lang="en-US" b="1" dirty="0"/>
              <a:t>integrated</a:t>
            </a:r>
            <a:r>
              <a:rPr lang="en-US" dirty="0"/>
              <a:t> cache where both instructions and data are cached.</a:t>
            </a:r>
          </a:p>
          <a:p>
            <a:r>
              <a:rPr lang="en-US" dirty="0"/>
              <a:t>Many modern systems employ separate caches for data and instructions.</a:t>
            </a:r>
          </a:p>
          <a:p>
            <a:pPr lvl="1"/>
            <a:r>
              <a:rPr lang="en-US" dirty="0"/>
              <a:t>This is called a </a:t>
            </a:r>
            <a:r>
              <a:rPr lang="en-US" b="1" dirty="0"/>
              <a:t>Harvard cache</a:t>
            </a:r>
            <a:r>
              <a:rPr lang="en-US" dirty="0"/>
              <a:t>.</a:t>
            </a:r>
          </a:p>
          <a:p>
            <a:r>
              <a:rPr lang="en-US" dirty="0"/>
              <a:t>The separation of data from instructions provides better locality, at the cost of greater complexity.</a:t>
            </a:r>
          </a:p>
          <a:p>
            <a:pPr lvl="1"/>
            <a:r>
              <a:rPr lang="en-US" dirty="0"/>
              <a:t>Simply making the cache larger provides about the same performance improvement without the complexity.</a:t>
            </a:r>
          </a:p>
          <a:p>
            <a:endParaRPr lang="en-US" dirty="0"/>
          </a:p>
        </p:txBody>
      </p:sp>
    </p:spTree>
    <p:extLst>
      <p:ext uri="{BB962C8B-B14F-4D97-AF65-F5344CB8AC3E}">
        <p14:creationId xmlns:p14="http://schemas.microsoft.com/office/powerpoint/2010/main" val="12973539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Cache Memory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Cache performance can also be improved by adding a small associative cache to hold blocks that have been evicted recently.</a:t>
            </a:r>
          </a:p>
          <a:p>
            <a:pPr lvl="1"/>
            <a:r>
              <a:rPr lang="en-US" dirty="0"/>
              <a:t>This is called a </a:t>
            </a:r>
            <a:r>
              <a:rPr lang="en-US" b="1" dirty="0"/>
              <a:t>victim cache</a:t>
            </a:r>
            <a:r>
              <a:rPr lang="en-US" dirty="0"/>
              <a:t>.</a:t>
            </a:r>
          </a:p>
          <a:p>
            <a:pPr lvl="1"/>
            <a:r>
              <a:rPr lang="en-US" dirty="0"/>
              <a:t>It gives data that was evicted from cache a “second chance” to be used before being sent to memory</a:t>
            </a:r>
          </a:p>
          <a:p>
            <a:r>
              <a:rPr lang="en-US" dirty="0"/>
              <a:t>A </a:t>
            </a:r>
            <a:r>
              <a:rPr lang="en-US" b="1" dirty="0"/>
              <a:t>trace cache</a:t>
            </a:r>
            <a:r>
              <a:rPr lang="en-US" dirty="0"/>
              <a:t> is a variant of an instruction cache that holds instructions that were already decoded. </a:t>
            </a:r>
          </a:p>
          <a:p>
            <a:endParaRPr lang="en-US" dirty="0"/>
          </a:p>
        </p:txBody>
      </p:sp>
    </p:spTree>
    <p:extLst>
      <p:ext uri="{BB962C8B-B14F-4D97-AF65-F5344CB8AC3E}">
        <p14:creationId xmlns:p14="http://schemas.microsoft.com/office/powerpoint/2010/main" val="11617211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Multi-level Cache Memory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r>
              <a:rPr lang="en-US" dirty="0"/>
              <a:t>Most of today’s small systems employ multilevel cache hierarchies.</a:t>
            </a:r>
          </a:p>
          <a:p>
            <a:r>
              <a:rPr lang="en-US" dirty="0"/>
              <a:t>The levels of cache form their own small memory hierarchy.</a:t>
            </a:r>
          </a:p>
          <a:p>
            <a:r>
              <a:rPr lang="en-US" dirty="0"/>
              <a:t>Level 1 cache (~8KB – 64KB) is situated on the processor itself.</a:t>
            </a:r>
          </a:p>
          <a:p>
            <a:pPr lvl="1"/>
            <a:r>
              <a:rPr lang="en-US" dirty="0"/>
              <a:t>Access time is typically about 4ns.</a:t>
            </a:r>
          </a:p>
          <a:p>
            <a:r>
              <a:rPr lang="en-US" dirty="0"/>
              <a:t>Level 2 cache (~64KB – 2MB) may be on the motherboard, or on an expansion card.</a:t>
            </a:r>
          </a:p>
          <a:p>
            <a:pPr lvl="1"/>
            <a:r>
              <a:rPr lang="en-US" dirty="0"/>
              <a:t>Access time is usually around 15 – 20ns.</a:t>
            </a:r>
          </a:p>
          <a:p>
            <a:r>
              <a:rPr lang="en-US" dirty="0"/>
              <a:t>In systems that employ three levels of cache, the Level 2 cache is placed on the same die as the CPU (reducing access time to about 10ns)</a:t>
            </a:r>
          </a:p>
          <a:p>
            <a:r>
              <a:rPr lang="en-US" dirty="0"/>
              <a:t>Accordingly, the Level 3 cache (~2MB – 256MB) refers to cache that is situated between the processor and main memory.</a:t>
            </a:r>
          </a:p>
          <a:p>
            <a:endParaRPr lang="en-US" dirty="0"/>
          </a:p>
        </p:txBody>
      </p:sp>
    </p:spTree>
    <p:extLst>
      <p:ext uri="{BB962C8B-B14F-4D97-AF65-F5344CB8AC3E}">
        <p14:creationId xmlns:p14="http://schemas.microsoft.com/office/powerpoint/2010/main" val="286859408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Multi-level Cache Memory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a:bodyPr>
          <a:lstStyle/>
          <a:p>
            <a:r>
              <a:rPr lang="en-US" dirty="0"/>
              <a:t>Once the number of cache levels is determined, the next thing to consider is whether data (or instructions) can exist in more than one cache level.</a:t>
            </a:r>
          </a:p>
          <a:p>
            <a:r>
              <a:rPr lang="en-US" dirty="0"/>
              <a:t>If the cache system used an </a:t>
            </a:r>
            <a:r>
              <a:rPr lang="en-US" b="1" dirty="0"/>
              <a:t>inclusive</a:t>
            </a:r>
            <a:r>
              <a:rPr lang="en-US" dirty="0"/>
              <a:t> cache, the same data may be present at multiple levels of cache. </a:t>
            </a:r>
          </a:p>
          <a:p>
            <a:r>
              <a:rPr lang="en-US" b="1" dirty="0"/>
              <a:t>Strictly inclusive</a:t>
            </a:r>
            <a:r>
              <a:rPr lang="en-US" dirty="0"/>
              <a:t> caches guarantee that all data in a smaller cache also exists at the next higher level.</a:t>
            </a:r>
          </a:p>
          <a:p>
            <a:r>
              <a:rPr lang="en-US" b="1" dirty="0"/>
              <a:t>Exclusive caches</a:t>
            </a:r>
            <a:r>
              <a:rPr lang="en-US" dirty="0"/>
              <a:t> permit only one copy of the data to be stored somewhere in the multi-level cache.</a:t>
            </a:r>
          </a:p>
          <a:p>
            <a:r>
              <a:rPr lang="en-US" dirty="0"/>
              <a:t>The tradeoffs in choosing one over the other involve weighing the variables of access time, memory size, and circuit complexity.</a:t>
            </a:r>
          </a:p>
          <a:p>
            <a:endParaRPr lang="en-US" dirty="0"/>
          </a:p>
        </p:txBody>
      </p:sp>
    </p:spTree>
    <p:extLst>
      <p:ext uri="{BB962C8B-B14F-4D97-AF65-F5344CB8AC3E}">
        <p14:creationId xmlns:p14="http://schemas.microsoft.com/office/powerpoint/2010/main" val="38706260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Virtual Memory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7543800" cy="5257800"/>
          </a:xfrm>
        </p:spPr>
        <p:txBody>
          <a:bodyPr/>
          <a:lstStyle/>
          <a:p>
            <a:r>
              <a:rPr lang="en-US" dirty="0"/>
              <a:t>Cache memory enhances performance by providing faster memory access speed.</a:t>
            </a:r>
          </a:p>
          <a:p>
            <a:r>
              <a:rPr lang="en-US" b="1" dirty="0"/>
              <a:t>Virtual memory</a:t>
            </a:r>
            <a:r>
              <a:rPr lang="en-US" dirty="0"/>
              <a:t> enhances performance by providing greater memory capacity, without the expense of adding main memory.</a:t>
            </a:r>
          </a:p>
          <a:p>
            <a:r>
              <a:rPr lang="en-US" dirty="0"/>
              <a:t>Instead, a portion of a disk drive serves as an extension of main memory.</a:t>
            </a:r>
          </a:p>
          <a:p>
            <a:r>
              <a:rPr lang="en-US" dirty="0"/>
              <a:t>If a system uses paging, virtual memory partitions main memory into individually managed </a:t>
            </a:r>
            <a:r>
              <a:rPr lang="en-US" b="1" dirty="0"/>
              <a:t>page frames</a:t>
            </a:r>
            <a:r>
              <a:rPr lang="en-US" dirty="0"/>
              <a:t>, that are written (or </a:t>
            </a:r>
            <a:r>
              <a:rPr lang="en-US" b="1" dirty="0"/>
              <a:t>paged</a:t>
            </a:r>
            <a:r>
              <a:rPr lang="en-US" dirty="0"/>
              <a:t>) to disk when they are not immediately needed.</a:t>
            </a:r>
          </a:p>
          <a:p>
            <a:endParaRPr lang="en-US" dirty="0"/>
          </a:p>
        </p:txBody>
      </p:sp>
      <p:pic>
        <p:nvPicPr>
          <p:cNvPr id="5" name="Picture 4"/>
          <p:cNvPicPr>
            <a:picLocks noChangeAspect="1"/>
          </p:cNvPicPr>
          <p:nvPr/>
        </p:nvPicPr>
        <p:blipFill>
          <a:blip r:embed="rId3"/>
          <a:stretch>
            <a:fillRect/>
          </a:stretch>
        </p:blipFill>
        <p:spPr>
          <a:xfrm>
            <a:off x="8153400" y="228600"/>
            <a:ext cx="3518853" cy="6019800"/>
          </a:xfrm>
          <a:prstGeom prst="rect">
            <a:avLst/>
          </a:prstGeom>
        </p:spPr>
      </p:pic>
    </p:spTree>
    <p:extLst>
      <p:ext uri="{BB962C8B-B14F-4D97-AF65-F5344CB8AC3E}">
        <p14:creationId xmlns:p14="http://schemas.microsoft.com/office/powerpoint/2010/main" val="172216824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Virtual Memory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7620000" cy="5257800"/>
          </a:xfrm>
        </p:spPr>
        <p:txBody>
          <a:bodyPr/>
          <a:lstStyle/>
          <a:p>
            <a:r>
              <a:rPr lang="en-US" b="1" dirty="0"/>
              <a:t>Page faults</a:t>
            </a:r>
            <a:r>
              <a:rPr lang="en-US" dirty="0"/>
              <a:t> occur when a logical address requires that a page be brought in from disk.</a:t>
            </a:r>
          </a:p>
          <a:p>
            <a:r>
              <a:rPr lang="en-US" b="1" dirty="0"/>
              <a:t>Memory fragmentation</a:t>
            </a:r>
            <a:r>
              <a:rPr lang="en-US" dirty="0"/>
              <a:t> occurs when the paging process results in the creation of small, unusable clusters of memory addresses.</a:t>
            </a:r>
          </a:p>
          <a:p>
            <a:r>
              <a:rPr lang="en-US" dirty="0"/>
              <a:t>Main memory and virtual memory are divided into equal sized pages.</a:t>
            </a:r>
          </a:p>
          <a:p>
            <a:r>
              <a:rPr lang="en-US" dirty="0"/>
              <a:t>The entire address space required by a process need not be in memory at once. Some parts can be on disk, while others are in main memory.</a:t>
            </a:r>
          </a:p>
          <a:p>
            <a:endParaRPr lang="en-US" dirty="0"/>
          </a:p>
        </p:txBody>
      </p:sp>
      <p:pic>
        <p:nvPicPr>
          <p:cNvPr id="4" name="Picture 3"/>
          <p:cNvPicPr>
            <a:picLocks noChangeAspect="1"/>
          </p:cNvPicPr>
          <p:nvPr/>
        </p:nvPicPr>
        <p:blipFill>
          <a:blip r:embed="rId2"/>
          <a:stretch>
            <a:fillRect/>
          </a:stretch>
        </p:blipFill>
        <p:spPr>
          <a:xfrm>
            <a:off x="8153400" y="228600"/>
            <a:ext cx="3518853" cy="6019800"/>
          </a:xfrm>
          <a:prstGeom prst="rect">
            <a:avLst/>
          </a:prstGeom>
        </p:spPr>
      </p:pic>
    </p:spTree>
    <p:extLst>
      <p:ext uri="{BB962C8B-B14F-4D97-AF65-F5344CB8AC3E}">
        <p14:creationId xmlns:p14="http://schemas.microsoft.com/office/powerpoint/2010/main" val="28745300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Virtual Memory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7696200" cy="5257800"/>
          </a:xfrm>
        </p:spPr>
        <p:txBody>
          <a:bodyPr/>
          <a:lstStyle/>
          <a:p>
            <a:r>
              <a:rPr lang="en-US" dirty="0"/>
              <a:t>Further, the pages allocated to a process do not need to be stored contiguously – either on disk or in memory.</a:t>
            </a:r>
          </a:p>
          <a:p>
            <a:r>
              <a:rPr lang="en-US" dirty="0"/>
              <a:t>In this way, only the needed pages are in memory at any time, the unnecessary pages are in slower disk storage.</a:t>
            </a:r>
          </a:p>
          <a:p>
            <a:r>
              <a:rPr lang="en-US" dirty="0"/>
              <a:t>Information concerning the location of each page, whether on disk or in memory, is maintained in a data structure called a </a:t>
            </a:r>
            <a:r>
              <a:rPr lang="en-US" b="1" dirty="0"/>
              <a:t>page table</a:t>
            </a:r>
          </a:p>
          <a:p>
            <a:r>
              <a:rPr lang="en-US" dirty="0"/>
              <a:t>There is one page table for each running program </a:t>
            </a:r>
          </a:p>
          <a:p>
            <a:r>
              <a:rPr lang="en-US" dirty="0"/>
              <a:t>An example page table is shown on the next slide</a:t>
            </a:r>
          </a:p>
          <a:p>
            <a:endParaRPr lang="en-US" dirty="0"/>
          </a:p>
        </p:txBody>
      </p:sp>
      <p:pic>
        <p:nvPicPr>
          <p:cNvPr id="4" name="Picture 3"/>
          <p:cNvPicPr>
            <a:picLocks noChangeAspect="1"/>
          </p:cNvPicPr>
          <p:nvPr/>
        </p:nvPicPr>
        <p:blipFill>
          <a:blip r:embed="rId2"/>
          <a:stretch>
            <a:fillRect/>
          </a:stretch>
        </p:blipFill>
        <p:spPr>
          <a:xfrm>
            <a:off x="8153400" y="228600"/>
            <a:ext cx="3518853" cy="6019800"/>
          </a:xfrm>
          <a:prstGeom prst="rect">
            <a:avLst/>
          </a:prstGeom>
        </p:spPr>
      </p:pic>
    </p:spTree>
    <p:extLst>
      <p:ext uri="{BB962C8B-B14F-4D97-AF65-F5344CB8AC3E}">
        <p14:creationId xmlns:p14="http://schemas.microsoft.com/office/powerpoint/2010/main" val="32235502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Virtual Memory: Example Page Table</a:t>
            </a:r>
            <a:endParaRPr lang="en-US" dirty="0"/>
          </a:p>
        </p:txBody>
      </p:sp>
      <p:pic>
        <p:nvPicPr>
          <p:cNvPr id="4" name="Picture 5" descr="9781284033144_CH06_FIG18.jpg">
            <a:extLst>
              <a:ext uri="{FF2B5EF4-FFF2-40B4-BE49-F238E27FC236}">
                <a16:creationId xmlns:a16="http://schemas.microsoft.com/office/drawing/2014/main" id="{D1724831-FDE1-4C56-9034-EEA82BC7872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98884" y="1371600"/>
            <a:ext cx="865983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42032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Virtual Memory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When a process generates a virtual address, the operating system translates it into a physical memory address.</a:t>
            </a:r>
          </a:p>
          <a:p>
            <a:r>
              <a:rPr lang="en-US" dirty="0"/>
              <a:t>To accomplish this, the virtual address is divided into two fields: a </a:t>
            </a:r>
            <a:r>
              <a:rPr lang="en-US" b="1" dirty="0"/>
              <a:t>page</a:t>
            </a:r>
            <a:r>
              <a:rPr lang="en-US" dirty="0"/>
              <a:t> field, and an </a:t>
            </a:r>
            <a:r>
              <a:rPr lang="en-US" b="1" dirty="0"/>
              <a:t>offset</a:t>
            </a:r>
            <a:r>
              <a:rPr lang="en-US" dirty="0"/>
              <a:t> field.</a:t>
            </a:r>
          </a:p>
          <a:p>
            <a:pPr lvl="1"/>
            <a:r>
              <a:rPr lang="en-US" dirty="0"/>
              <a:t>Does this remind you of caches at all?</a:t>
            </a:r>
          </a:p>
          <a:p>
            <a:r>
              <a:rPr lang="en-US" dirty="0"/>
              <a:t>The page field determines the number of the page that contains that word’s (or byte’s) address, and the offset indicates the location of the word/byte within the page.</a:t>
            </a:r>
          </a:p>
          <a:p>
            <a:r>
              <a:rPr lang="en-US" dirty="0"/>
              <a:t>The logical page number is translated into a physical page frame through a lookup in the page table.</a:t>
            </a:r>
          </a:p>
          <a:p>
            <a:endParaRPr lang="en-US" dirty="0"/>
          </a:p>
        </p:txBody>
      </p:sp>
    </p:spTree>
    <p:extLst>
      <p:ext uri="{BB962C8B-B14F-4D97-AF65-F5344CB8AC3E}">
        <p14:creationId xmlns:p14="http://schemas.microsoft.com/office/powerpoint/2010/main" val="38117613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Virtual Memory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If the valid bit is zero in the page table entry for the logical address, this means that the page is not in memory and must be fetched from disk.</a:t>
            </a:r>
          </a:p>
          <a:p>
            <a:pPr lvl="1"/>
            <a:r>
              <a:rPr lang="en-US" dirty="0"/>
              <a:t>This is a </a:t>
            </a:r>
            <a:r>
              <a:rPr lang="en-US" b="1" dirty="0"/>
              <a:t>page fault</a:t>
            </a:r>
            <a:r>
              <a:rPr lang="en-US" dirty="0"/>
              <a:t>.</a:t>
            </a:r>
          </a:p>
          <a:p>
            <a:pPr lvl="1"/>
            <a:r>
              <a:rPr lang="en-US" dirty="0"/>
              <a:t>If necessary, a page is evicted from memory and is replaced by the page retrieved from disk, and the valid bit is set to 1.</a:t>
            </a:r>
          </a:p>
          <a:p>
            <a:r>
              <a:rPr lang="en-US" dirty="0"/>
              <a:t>If the valid bit is already 1, the virtual page number is replaced by the physical frame number.</a:t>
            </a:r>
          </a:p>
          <a:p>
            <a:r>
              <a:rPr lang="en-US" dirty="0"/>
              <a:t>The data is then accessed by adding the offset to the physical frame number.</a:t>
            </a:r>
          </a:p>
          <a:p>
            <a:endParaRPr lang="en-US" dirty="0"/>
          </a:p>
        </p:txBody>
      </p:sp>
    </p:spTree>
    <p:extLst>
      <p:ext uri="{BB962C8B-B14F-4D97-AF65-F5344CB8AC3E}">
        <p14:creationId xmlns:p14="http://schemas.microsoft.com/office/powerpoint/2010/main" val="110533857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Virtual Memory: Example #1</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spcBef>
                <a:spcPts val="576"/>
              </a:spcBef>
            </a:pPr>
            <a:r>
              <a:rPr lang="en-US" altLang="en-US" dirty="0"/>
              <a:t>As an example, suppose a system has a virtual address space of 8K and a physical address space of 4K, and the system uses byte addressing. A page is 1K in size</a:t>
            </a:r>
          </a:p>
          <a:p>
            <a:pPr>
              <a:spcBef>
                <a:spcPts val="576"/>
              </a:spcBef>
            </a:pPr>
            <a:r>
              <a:rPr lang="en-US" altLang="en-US" dirty="0"/>
              <a:t>Thus, we have 2</a:t>
            </a:r>
            <a:r>
              <a:rPr lang="en-US" altLang="en-US" baseline="30000" dirty="0"/>
              <a:t>13</a:t>
            </a:r>
            <a:r>
              <a:rPr lang="en-US" altLang="en-US" dirty="0"/>
              <a:t>/2</a:t>
            </a:r>
            <a:r>
              <a:rPr lang="en-US" altLang="en-US" baseline="30000" dirty="0"/>
              <a:t>10</a:t>
            </a:r>
            <a:r>
              <a:rPr lang="en-US" altLang="en-US" dirty="0"/>
              <a:t> = 2</a:t>
            </a:r>
            <a:r>
              <a:rPr lang="en-US" altLang="en-US" baseline="30000" dirty="0"/>
              <a:t>3</a:t>
            </a:r>
            <a:r>
              <a:rPr lang="en-US" altLang="en-US" dirty="0"/>
              <a:t> virtual pages.</a:t>
            </a:r>
          </a:p>
          <a:p>
            <a:pPr>
              <a:spcBef>
                <a:spcPts val="576"/>
              </a:spcBef>
            </a:pPr>
            <a:r>
              <a:rPr lang="en-US" altLang="en-US" dirty="0"/>
              <a:t>A virtual address has 13 bits (8K = 2</a:t>
            </a:r>
            <a:r>
              <a:rPr lang="en-US" altLang="en-US" baseline="30000" dirty="0"/>
              <a:t>13</a:t>
            </a:r>
            <a:r>
              <a:rPr lang="en-US" altLang="en-US" dirty="0"/>
              <a:t>) with 3 bits for the page field and 10 for the offset, because the page size is 1024.</a:t>
            </a:r>
          </a:p>
          <a:p>
            <a:pPr>
              <a:spcBef>
                <a:spcPts val="576"/>
              </a:spcBef>
            </a:pPr>
            <a:r>
              <a:rPr lang="en-US" altLang="en-US" dirty="0"/>
              <a:t>A physical memory address requires 12 bits, the first two bits for the page frame and the trailing 10 bits the offset.</a:t>
            </a:r>
          </a:p>
          <a:p>
            <a:pPr>
              <a:spcBef>
                <a:spcPts val="576"/>
              </a:spcBef>
            </a:pPr>
            <a:endParaRPr lang="en-US" dirty="0"/>
          </a:p>
        </p:txBody>
      </p:sp>
      <p:pic>
        <p:nvPicPr>
          <p:cNvPr id="4" name="Picture 9" descr="4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4126" y="5182738"/>
            <a:ext cx="6597316" cy="1675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9994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Virtual Memory: Example #1</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The offset field widths must be the same because the pages and page frames are always the same size </a:t>
            </a:r>
          </a:p>
          <a:p>
            <a:r>
              <a:rPr lang="en-US" dirty="0"/>
              <a:t>But the numbers of pages and frames can differ, which is why the </a:t>
            </a:r>
            <a:r>
              <a:rPr lang="en-US" i="1" dirty="0"/>
              <a:t>page</a:t>
            </a:r>
            <a:r>
              <a:rPr lang="en-US" dirty="0"/>
              <a:t> and </a:t>
            </a:r>
            <a:r>
              <a:rPr lang="en-US" i="1" dirty="0"/>
              <a:t>frame</a:t>
            </a:r>
            <a:r>
              <a:rPr lang="en-US" dirty="0"/>
              <a:t> fields could be different lengths </a:t>
            </a:r>
          </a:p>
          <a:p>
            <a:endParaRPr lang="en-US" dirty="0"/>
          </a:p>
        </p:txBody>
      </p:sp>
    </p:spTree>
    <p:extLst>
      <p:ext uri="{BB962C8B-B14F-4D97-AF65-F5344CB8AC3E}">
        <p14:creationId xmlns:p14="http://schemas.microsoft.com/office/powerpoint/2010/main" val="276136930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Virtual Memory: Example #2</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Suppose we have the page table shown below.</a:t>
                </a:r>
              </a:p>
              <a:p>
                <a:r>
                  <a:rPr lang="en-US" dirty="0"/>
                  <a:t>What happens when CPU generates address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5459</m:t>
                        </m:r>
                      </m:e>
                      <m:sub>
                        <m:r>
                          <a:rPr lang="en-US" i="1" dirty="0" smtClean="0">
                            <a:latin typeface="Cambria Math" panose="02040503050406030204" pitchFamily="18" charset="0"/>
                          </a:rPr>
                          <m:t>10</m:t>
                        </m:r>
                      </m:sub>
                    </m:sSub>
                    <m:r>
                      <a:rPr lang="en-US" i="1" dirty="0" smtClean="0">
                        <a:latin typeface="Cambria Math" panose="02040503050406030204" pitchFamily="18" charset="0"/>
                      </a:rPr>
                      <m:t>= 1 0101 0101 </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0011</m:t>
                        </m:r>
                      </m:e>
                      <m:sub>
                        <m:r>
                          <a:rPr lang="en-US" i="1" dirty="0" smtClean="0">
                            <a:latin typeface="Cambria Math" panose="02040503050406030204" pitchFamily="18" charset="0"/>
                          </a:rPr>
                          <m:t>2</m:t>
                        </m:r>
                      </m:sub>
                    </m:sSub>
                    <m:r>
                      <a:rPr lang="en-US" i="1" dirty="0" smtClean="0">
                        <a:latin typeface="Cambria Math" panose="02040503050406030204" pitchFamily="18" charset="0"/>
                      </a:rPr>
                      <m:t> = 0</m:t>
                    </m:r>
                    <m:r>
                      <m:rPr>
                        <m:sty m:val="p"/>
                      </m:rPr>
                      <a:rPr lang="en-US" i="0" dirty="0" smtClean="0">
                        <a:latin typeface="Cambria Math" panose="02040503050406030204" pitchFamily="18" charset="0"/>
                      </a:rPr>
                      <m:t>x</m:t>
                    </m:r>
                    <m:r>
                      <a:rPr lang="en-US" i="1" dirty="0" smtClean="0">
                        <a:latin typeface="Cambria Math" panose="02040503050406030204" pitchFamily="18" charset="0"/>
                      </a:rPr>
                      <m:t>1553? </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xmlns="" id="{2425F833-F48A-41AB-BDF3-AE0A36E8B10B}"/>
                  </a:ext>
                </a:extLst>
              </p:cNvPr>
              <p:cNvSpPr>
                <a:spLocks noGrp="1" noRot="1" noChangeAspect="1" noMove="1" noResize="1" noEditPoints="1" noAdjustHandles="1" noChangeArrowheads="1" noChangeShapeType="1" noTextEdit="1"/>
              </p:cNvSpPr>
              <p:nvPr>
                <p:ph idx="1"/>
              </p:nvPr>
            </p:nvSpPr>
            <p:spPr>
              <a:blipFill rotWithShape="0">
                <a:blip r:embed="rId2"/>
                <a:stretch>
                  <a:fillRect t="-928"/>
                </a:stretch>
              </a:blipFill>
            </p:spPr>
            <p:txBody>
              <a:bodyPr/>
              <a:lstStyle/>
              <a:p>
                <a:r>
                  <a:rPr lang="en-US">
                    <a:noFill/>
                  </a:rPr>
                  <a:t> </a:t>
                </a:r>
              </a:p>
            </p:txBody>
          </p:sp>
        </mc:Fallback>
      </mc:AlternateContent>
      <p:pic>
        <p:nvPicPr>
          <p:cNvPr id="4" name="Picture 7" descr="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362200"/>
            <a:ext cx="8448675" cy="3771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8013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Virtual Memory: Example #2</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r>
              <a:rPr lang="en-US" dirty="0"/>
              <a:t>We have 13-bit addresses with 3-bit page numbers and 10-bit offsets</a:t>
            </a:r>
          </a:p>
          <a:p>
            <a:endParaRPr lang="en-US" dirty="0"/>
          </a:p>
          <a:p>
            <a:endParaRPr lang="en-US" dirty="0"/>
          </a:p>
          <a:p>
            <a:endParaRPr lang="en-US" dirty="0"/>
          </a:p>
          <a:p>
            <a:endParaRPr lang="en-US" dirty="0"/>
          </a:p>
          <a:p>
            <a:endParaRPr lang="en-US" dirty="0"/>
          </a:p>
          <a:p>
            <a:endParaRPr lang="en-US" dirty="0"/>
          </a:p>
          <a:p>
            <a:r>
              <a:rPr lang="en-US" dirty="0"/>
              <a:t>The virtual address is </a:t>
            </a:r>
            <a:r>
              <a:rPr lang="en-US" altLang="en-US" dirty="0"/>
              <a:t>1 0101 0101 0011</a:t>
            </a:r>
            <a:r>
              <a:rPr lang="en-US" altLang="en-US" baseline="-25000" dirty="0"/>
              <a:t>2</a:t>
            </a:r>
            <a:r>
              <a:rPr lang="en-US" altLang="en-US" dirty="0"/>
              <a:t> = 101 0101010011</a:t>
            </a:r>
            <a:r>
              <a:rPr lang="en-US" altLang="en-US" baseline="-25000" dirty="0"/>
              <a:t>2</a:t>
            </a:r>
            <a:endParaRPr lang="en-US" dirty="0"/>
          </a:p>
          <a:p>
            <a:r>
              <a:rPr lang="en-US" altLang="en-US" dirty="0"/>
              <a:t>The high-order 3 bits of the virtual address, 101 (5</a:t>
            </a:r>
            <a:r>
              <a:rPr lang="en-US" altLang="en-US" baseline="-25000" dirty="0"/>
              <a:t>10</a:t>
            </a:r>
            <a:r>
              <a:rPr lang="en-US" altLang="en-US" dirty="0"/>
              <a:t>), provide the page number in the page table. </a:t>
            </a:r>
          </a:p>
          <a:p>
            <a:endParaRPr lang="en-US" dirty="0"/>
          </a:p>
        </p:txBody>
      </p:sp>
      <p:pic>
        <p:nvPicPr>
          <p:cNvPr id="4" name="Picture 5" descr="9781284033144_CH06_FIG23.jpg">
            <a:extLst>
              <a:ext uri="{FF2B5EF4-FFF2-40B4-BE49-F238E27FC236}">
                <a16:creationId xmlns:a16="http://schemas.microsoft.com/office/drawing/2014/main" id="{3B099B13-1FCB-40E3-BC7B-EEE6035212F7}"/>
              </a:ext>
            </a:extLst>
          </p:cNvPr>
          <p:cNvPicPr>
            <a:picLocks noChangeAspect="1"/>
          </p:cNvPicPr>
          <p:nvPr/>
        </p:nvPicPr>
        <p:blipFill rotWithShape="1">
          <a:blip r:embed="rId2">
            <a:extLst>
              <a:ext uri="{28A0092B-C50C-407E-A947-70E740481C1C}">
                <a14:useLocalDpi xmlns:a14="http://schemas.microsoft.com/office/drawing/2010/main" val="0"/>
              </a:ext>
            </a:extLst>
          </a:blip>
          <a:srcRect l="5262" t="6685" r="59162" b="77762"/>
          <a:stretch/>
        </p:blipFill>
        <p:spPr bwMode="auto">
          <a:xfrm>
            <a:off x="2991853" y="2412583"/>
            <a:ext cx="3445042" cy="2448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4897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Virtual Memory: Example #2</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altLang="en-US" dirty="0"/>
              <a:t>The address 101 0101010011</a:t>
            </a:r>
            <a:r>
              <a:rPr lang="en-US" altLang="en-US" baseline="-25000" dirty="0"/>
              <a:t>2</a:t>
            </a:r>
            <a:r>
              <a:rPr lang="en-US" altLang="en-US" dirty="0"/>
              <a:t> is converted to physical address </a:t>
            </a:r>
            <a:br>
              <a:rPr lang="en-US" altLang="en-US" dirty="0"/>
            </a:br>
            <a:r>
              <a:rPr lang="en-US" altLang="en-US" dirty="0"/>
              <a:t>01 0101010011</a:t>
            </a:r>
            <a:r>
              <a:rPr lang="en-US" altLang="en-US" baseline="-25000" dirty="0"/>
              <a:t>2</a:t>
            </a:r>
            <a:r>
              <a:rPr lang="en-US" altLang="en-US" dirty="0"/>
              <a:t> = 0101 0101 0011</a:t>
            </a:r>
            <a:r>
              <a:rPr lang="en-US" altLang="en-US" baseline="-25000" dirty="0"/>
              <a:t>2</a:t>
            </a:r>
            <a:r>
              <a:rPr lang="en-US" altLang="en-US" dirty="0"/>
              <a:t> = 0x553 because the page field 101</a:t>
            </a:r>
            <a:r>
              <a:rPr lang="en-US" altLang="en-US" baseline="-25000" dirty="0"/>
              <a:t>2</a:t>
            </a:r>
            <a:r>
              <a:rPr lang="en-US" altLang="en-US" dirty="0"/>
              <a:t> is replaced by frame number 01</a:t>
            </a:r>
            <a:r>
              <a:rPr lang="en-US" altLang="en-US" baseline="-25000" dirty="0"/>
              <a:t>2</a:t>
            </a:r>
            <a:r>
              <a:rPr lang="en-US" altLang="en-US" dirty="0"/>
              <a:t> through a lookup in the page table.</a:t>
            </a:r>
          </a:p>
          <a:p>
            <a:endParaRPr lang="en-US" dirty="0"/>
          </a:p>
        </p:txBody>
      </p:sp>
      <p:pic>
        <p:nvPicPr>
          <p:cNvPr id="4" name="Picture 7" descr="5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9385" y="3176336"/>
            <a:ext cx="6625090" cy="2957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7412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Virtual Memory: Example #3</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altLang="en-US" dirty="0"/>
              <a:t>What happens when the CPU generates address 1000000000100</a:t>
            </a:r>
            <a:r>
              <a:rPr lang="en-US" altLang="en-US" baseline="-25000" dirty="0"/>
              <a:t>2</a:t>
            </a:r>
            <a:r>
              <a:rPr lang="en-US" altLang="en-US" dirty="0"/>
              <a:t>?</a:t>
            </a:r>
          </a:p>
          <a:p>
            <a:r>
              <a:rPr lang="en-US" altLang="en-US" dirty="0"/>
              <a:t>100 0000000100</a:t>
            </a:r>
            <a:r>
              <a:rPr lang="en-US" altLang="en-US" baseline="-25000" dirty="0"/>
              <a:t>2</a:t>
            </a:r>
            <a:r>
              <a:rPr lang="en-US" altLang="en-US" dirty="0"/>
              <a:t>, which corresponds with page #4. Page fault.</a:t>
            </a:r>
            <a:endParaRPr lang="en-US" dirty="0"/>
          </a:p>
        </p:txBody>
      </p:sp>
      <p:pic>
        <p:nvPicPr>
          <p:cNvPr id="5" name="Picture 7" descr="50">
            <a:extLst>
              <a:ext uri="{FF2B5EF4-FFF2-40B4-BE49-F238E27FC236}">
                <a16:creationId xmlns:a16="http://schemas.microsoft.com/office/drawing/2014/main" id="{B6D0FD1F-E450-4E6A-A9C2-47D5E08A1C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3179" y="2936948"/>
            <a:ext cx="7161296" cy="3197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76195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Virtual Memory: Example #4</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A computer has 32-bit virtual addresses, a page size of 4 KB and 1 GB of physical RAM</a:t>
            </a:r>
          </a:p>
          <a:p>
            <a:r>
              <a:rPr lang="en-US" dirty="0"/>
              <a:t>Convert virtual address 0x0011232A to a physical address</a:t>
            </a:r>
          </a:p>
          <a:p>
            <a:r>
              <a:rPr lang="en-US" dirty="0"/>
              <a:t>A partial page table is given below</a:t>
            </a:r>
          </a:p>
          <a:p>
            <a:endParaRPr lang="en-US" dirty="0"/>
          </a:p>
        </p:txBody>
      </p:sp>
      <p:pic>
        <p:nvPicPr>
          <p:cNvPr id="4" name="Picture 3" descr="9781284033144_CH06_FIG24.jpg">
            <a:extLst>
              <a:ext uri="{FF2B5EF4-FFF2-40B4-BE49-F238E27FC236}">
                <a16:creationId xmlns:a16="http://schemas.microsoft.com/office/drawing/2014/main" id="{67027007-23D1-4CAC-98A8-587AE9484D4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04736" y="3700325"/>
            <a:ext cx="8881338" cy="279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19322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Virtual Memory: Example #4</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A computer has 32-bit virtual addresses, a page size of 4 KB and 1 GB of physical RAM</a:t>
                </a:r>
              </a:p>
              <a:p>
                <a:r>
                  <a:rPr lang="en-US" dirty="0"/>
                  <a:t>A physical address has 30 bits because 2</a:t>
                </a:r>
                <a:r>
                  <a:rPr lang="en-US" baseline="30000" dirty="0"/>
                  <a:t>30</a:t>
                </a:r>
                <a:r>
                  <a:rPr lang="en-US" dirty="0"/>
                  <a:t> = 1G</a:t>
                </a:r>
              </a:p>
              <a:p>
                <a:r>
                  <a:rPr lang="en-US" dirty="0"/>
                  <a:t>4 KB = 2</a:t>
                </a:r>
                <a:r>
                  <a:rPr lang="en-US" baseline="30000" dirty="0"/>
                  <a:t>12</a:t>
                </a:r>
                <a:r>
                  <a:rPr lang="en-US" dirty="0"/>
                  <a:t> bytes</a:t>
                </a:r>
              </a:p>
              <a:p>
                <a:r>
                  <a:rPr lang="en-US" dirty="0"/>
                  <a:t>Therefore, there are </a:t>
                </a:r>
                <a14:m>
                  <m:oMath xmlns:m="http://schemas.openxmlformats.org/officeDocument/2006/math">
                    <m:r>
                      <a:rPr lang="en-US" i="1" dirty="0" smtClean="0">
                        <a:latin typeface="Cambria Math" panose="02040503050406030204" pitchFamily="18" charset="0"/>
                      </a:rPr>
                      <m:t>32−12=20</m:t>
                    </m:r>
                  </m:oMath>
                </a14:m>
                <a:r>
                  <a:rPr lang="en-US" dirty="0"/>
                  <a:t> bits for the page number and 30 – 12 = 18 bits for the frame number</a:t>
                </a:r>
              </a:p>
              <a:p>
                <a:r>
                  <a:rPr lang="en-US" dirty="0"/>
                  <a:t>The first 20 bits of 0x0011232A are 0x00112</a:t>
                </a:r>
              </a:p>
              <a:p>
                <a:endParaRPr lang="en-US" dirty="0"/>
              </a:p>
            </p:txBody>
          </p:sp>
        </mc:Choice>
        <mc:Fallback xmlns="">
          <p:sp>
            <p:nvSpPr>
              <p:cNvPr id="3" name="Content Placeholder 2">
                <a:extLst>
                  <a:ext uri="{FF2B5EF4-FFF2-40B4-BE49-F238E27FC236}">
                    <a16:creationId xmlns:a16="http://schemas.microsoft.com/office/drawing/2014/main" xmlns="" id="{2425F833-F48A-41AB-BDF3-AE0A36E8B10B}"/>
                  </a:ext>
                </a:extLst>
              </p:cNvPr>
              <p:cNvSpPr>
                <a:spLocks noGrp="1" noRot="1" noChangeAspect="1" noMove="1" noResize="1" noEditPoints="1" noAdjustHandles="1" noChangeArrowheads="1" noChangeShapeType="1" noTextEdit="1"/>
              </p:cNvSpPr>
              <p:nvPr>
                <p:ph idx="1"/>
              </p:nvPr>
            </p:nvSpPr>
            <p:spPr>
              <a:blipFill rotWithShape="0">
                <a:blip r:embed="rId2"/>
                <a:stretch>
                  <a:fillRect t="-928" r="-1111"/>
                </a:stretch>
              </a:blipFill>
            </p:spPr>
            <p:txBody>
              <a:bodyPr/>
              <a:lstStyle/>
              <a:p>
                <a:r>
                  <a:rPr lang="en-US">
                    <a:noFill/>
                  </a:rPr>
                  <a:t> </a:t>
                </a:r>
              </a:p>
            </p:txBody>
          </p:sp>
        </mc:Fallback>
      </mc:AlternateContent>
    </p:spTree>
    <p:extLst>
      <p:ext uri="{BB962C8B-B14F-4D97-AF65-F5344CB8AC3E}">
        <p14:creationId xmlns:p14="http://schemas.microsoft.com/office/powerpoint/2010/main" val="66332384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Virtual Memory: Example #4</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The first 20 bits of 0x0011232A are 0x00112</a:t>
            </a:r>
          </a:p>
          <a:p>
            <a:r>
              <a:rPr lang="en-US" dirty="0"/>
              <a:t>This page is stored in 18-bit frame # 0x3F00F</a:t>
            </a:r>
          </a:p>
          <a:p>
            <a:r>
              <a:rPr lang="en-US" dirty="0"/>
              <a:t>Append the 12-bit offset 0x32A to obtain physical address 0x3F00F32A</a:t>
            </a:r>
          </a:p>
          <a:p>
            <a:endParaRPr lang="en-US" dirty="0"/>
          </a:p>
        </p:txBody>
      </p:sp>
      <p:pic>
        <p:nvPicPr>
          <p:cNvPr id="4" name="Picture 3" descr="9781284033144_CH06_FIG24.jpg">
            <a:extLst>
              <a:ext uri="{FF2B5EF4-FFF2-40B4-BE49-F238E27FC236}">
                <a16:creationId xmlns:a16="http://schemas.microsoft.com/office/drawing/2014/main" id="{67027007-23D1-4CAC-98A8-587AE9484D4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0599" y="2743200"/>
            <a:ext cx="1042079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6141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Virtual Memory: Effective Access Time</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Effective access time (EAT) actually takes all levels of memory into consideration, not just cache and memory</a:t>
            </a:r>
          </a:p>
          <a:p>
            <a:pPr lvl="1"/>
            <a:r>
              <a:rPr lang="en-US" dirty="0"/>
              <a:t>The formula we explored earlier would have to be expanded a bit to include more than two levels of memory</a:t>
            </a:r>
          </a:p>
          <a:p>
            <a:r>
              <a:rPr lang="en-US" dirty="0"/>
              <a:t>Thus, virtual memory is also a factor in the calculation, and we also have to consider page table access time.</a:t>
            </a:r>
          </a:p>
          <a:p>
            <a:r>
              <a:rPr lang="en-US" dirty="0"/>
              <a:t>For each memory access generated by the CPU there must be two physical memory accesses: one to the page table and one to the actual data</a:t>
            </a:r>
          </a:p>
          <a:p>
            <a:endParaRPr lang="en-US" dirty="0"/>
          </a:p>
        </p:txBody>
      </p:sp>
    </p:spTree>
    <p:extLst>
      <p:ext uri="{BB962C8B-B14F-4D97-AF65-F5344CB8AC3E}">
        <p14:creationId xmlns:p14="http://schemas.microsoft.com/office/powerpoint/2010/main" val="28631150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Virtual Memory: Example #5</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Suppose a main memory access takes 200ns, the page fault rate is 1%, and it takes 10ms to load a page from disk.  We have:</a:t>
            </a:r>
            <a:br>
              <a:rPr lang="en-US" dirty="0"/>
            </a:br>
            <a:r>
              <a:rPr lang="en-US" dirty="0"/>
              <a:t>EAT = 0.99(200ns + 200ns) + 0.01(10ms) = 396 ns + 100000 ns =100,396 ns.</a:t>
            </a:r>
          </a:p>
          <a:p>
            <a:r>
              <a:rPr lang="en-US" dirty="0"/>
              <a:t>Even if there were no page faults, the EAT would still be 1.0(200ns + 200ns) = 400ns</a:t>
            </a:r>
          </a:p>
          <a:p>
            <a:r>
              <a:rPr lang="en-US" dirty="0"/>
              <a:t>Because page tables are read constantly, it makes sense to keep them in a special cache called a </a:t>
            </a:r>
            <a:r>
              <a:rPr lang="en-US" b="1" dirty="0"/>
              <a:t>translation look-aside buffer (TLB)</a:t>
            </a:r>
            <a:r>
              <a:rPr lang="en-US" dirty="0"/>
              <a:t>.</a:t>
            </a:r>
          </a:p>
          <a:p>
            <a:r>
              <a:rPr lang="en-US" dirty="0"/>
              <a:t>TLBs are a special associative cache that stores the mapping of virtual pages to physical pages so as to avoid consulting the page table.</a:t>
            </a:r>
          </a:p>
          <a:p>
            <a:endParaRPr lang="en-US" dirty="0"/>
          </a:p>
        </p:txBody>
      </p:sp>
    </p:spTree>
    <p:extLst>
      <p:ext uri="{BB962C8B-B14F-4D97-AF65-F5344CB8AC3E}">
        <p14:creationId xmlns:p14="http://schemas.microsoft.com/office/powerpoint/2010/main" val="136305582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9EFFF59-8656-4196-A380-F50D57054985}"/>
              </a:ext>
            </a:extLst>
          </p:cNvPr>
          <p:cNvPicPr>
            <a:picLocks noGrp="1" noChangeAspect="1"/>
          </p:cNvPicPr>
          <p:nvPr>
            <p:ph idx="1"/>
          </p:nvPr>
        </p:nvPicPr>
        <p:blipFill>
          <a:blip r:embed="rId2"/>
          <a:stretch>
            <a:fillRect/>
          </a:stretch>
        </p:blipFill>
        <p:spPr>
          <a:xfrm>
            <a:off x="167230" y="174234"/>
            <a:ext cx="11864349" cy="6703357"/>
          </a:xfrm>
          <a:prstGeom prst="rect">
            <a:avLst/>
          </a:prstGeom>
        </p:spPr>
      </p:pic>
    </p:spTree>
    <p:extLst>
      <p:ext uri="{BB962C8B-B14F-4D97-AF65-F5344CB8AC3E}">
        <p14:creationId xmlns:p14="http://schemas.microsoft.com/office/powerpoint/2010/main" val="268241529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Segmentation</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spcBef>
                <a:spcPts val="576"/>
              </a:spcBef>
            </a:pPr>
            <a:r>
              <a:rPr lang="en-US" altLang="en-US" dirty="0"/>
              <a:t>Another approach to virtual memory is the use of </a:t>
            </a:r>
            <a:r>
              <a:rPr lang="en-US" altLang="en-US" b="1" dirty="0"/>
              <a:t>segmentation</a:t>
            </a:r>
            <a:r>
              <a:rPr lang="en-US" altLang="en-US" dirty="0"/>
              <a:t>.</a:t>
            </a:r>
          </a:p>
          <a:p>
            <a:pPr>
              <a:spcBef>
                <a:spcPts val="576"/>
              </a:spcBef>
            </a:pPr>
            <a:r>
              <a:rPr lang="en-US" altLang="en-US" dirty="0"/>
              <a:t>Instead of dividing memory into equal-sized pages, virtual address space is divided into variable-length segments, often under the control of the programmer.</a:t>
            </a:r>
          </a:p>
          <a:p>
            <a:pPr>
              <a:spcBef>
                <a:spcPts val="576"/>
              </a:spcBef>
            </a:pPr>
            <a:r>
              <a:rPr lang="en-US" altLang="en-US" dirty="0"/>
              <a:t>A segment is located through its entry in a </a:t>
            </a:r>
            <a:r>
              <a:rPr lang="en-US" altLang="en-US" b="1" dirty="0"/>
              <a:t>segment table</a:t>
            </a:r>
            <a:r>
              <a:rPr lang="en-US" altLang="en-US" dirty="0"/>
              <a:t>, which contains the segment’s starting memory location and a </a:t>
            </a:r>
            <a:r>
              <a:rPr lang="en-US" altLang="en-US" b="1" dirty="0"/>
              <a:t>bounds</a:t>
            </a:r>
            <a:r>
              <a:rPr lang="en-US" altLang="en-US" dirty="0"/>
              <a:t> limit that indicates its size.  </a:t>
            </a:r>
          </a:p>
          <a:p>
            <a:pPr>
              <a:spcBef>
                <a:spcPts val="576"/>
              </a:spcBef>
            </a:pPr>
            <a:r>
              <a:rPr lang="en-US" altLang="en-US" dirty="0"/>
              <a:t>A program can be given several segments, depending on needs. Segmentation makes it easier for the program to manage, protect and share data among running programs.</a:t>
            </a:r>
          </a:p>
          <a:p>
            <a:pPr>
              <a:spcBef>
                <a:spcPts val="576"/>
              </a:spcBef>
            </a:pPr>
            <a:endParaRPr lang="en-US" dirty="0"/>
          </a:p>
        </p:txBody>
      </p:sp>
    </p:spTree>
    <p:extLst>
      <p:ext uri="{BB962C8B-B14F-4D97-AF65-F5344CB8AC3E}">
        <p14:creationId xmlns:p14="http://schemas.microsoft.com/office/powerpoint/2010/main" val="302739181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Fragmentation</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Both paging and segmentation can cause </a:t>
            </a:r>
            <a:r>
              <a:rPr lang="en-US" b="1" dirty="0"/>
              <a:t>fragmentation</a:t>
            </a:r>
            <a:r>
              <a:rPr lang="en-US" dirty="0"/>
              <a:t>.</a:t>
            </a:r>
          </a:p>
          <a:p>
            <a:r>
              <a:rPr lang="en-US" dirty="0"/>
              <a:t>Paging is subject to </a:t>
            </a:r>
            <a:r>
              <a:rPr lang="en-US" b="1" dirty="0"/>
              <a:t>internal fragmentation</a:t>
            </a:r>
            <a:r>
              <a:rPr lang="en-US" dirty="0"/>
              <a:t> because a process may not need the entire range of addresses contained within the page.  Thus, there may be many pages containing unused fragments of memory. </a:t>
            </a:r>
          </a:p>
          <a:p>
            <a:r>
              <a:rPr lang="en-US" dirty="0"/>
              <a:t>Segmentation is subject to </a:t>
            </a:r>
            <a:r>
              <a:rPr lang="en-US" b="1" dirty="0"/>
              <a:t>external fragmentation</a:t>
            </a:r>
            <a:r>
              <a:rPr lang="en-US" dirty="0"/>
              <a:t>, which occurs when contiguous chunks of memory become broken up as segments are allocated and deallocated over time.</a:t>
            </a:r>
          </a:p>
          <a:p>
            <a:endParaRPr lang="en-US" dirty="0"/>
          </a:p>
        </p:txBody>
      </p:sp>
    </p:spTree>
    <p:extLst>
      <p:ext uri="{BB962C8B-B14F-4D97-AF65-F5344CB8AC3E}">
        <p14:creationId xmlns:p14="http://schemas.microsoft.com/office/powerpoint/2010/main" val="79395653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Fragmentation: Example #1</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9144000" cy="5257800"/>
          </a:xfrm>
        </p:spPr>
        <p:txBody>
          <a:bodyPr/>
          <a:lstStyle/>
          <a:p>
            <a:r>
              <a:rPr lang="en-US" dirty="0"/>
              <a:t>Consider a small computer having 32 KB of memory.</a:t>
            </a:r>
          </a:p>
          <a:p>
            <a:r>
              <a:rPr lang="en-US" dirty="0"/>
              <a:t>The 32 KB memory is divided into 8 page frames of 4 KB each.</a:t>
            </a:r>
          </a:p>
          <a:p>
            <a:r>
              <a:rPr lang="en-US" dirty="0"/>
              <a:t>A schematic of this configuration is shown at the right.</a:t>
            </a:r>
          </a:p>
          <a:p>
            <a:r>
              <a:rPr lang="en-US" dirty="0"/>
              <a:t>The numbers at the right are memory frame addresses.</a:t>
            </a:r>
          </a:p>
          <a:p>
            <a:r>
              <a:rPr lang="en-US" dirty="0"/>
              <a:t>Suppose there are four processes </a:t>
            </a:r>
            <a:br>
              <a:rPr lang="en-US" dirty="0"/>
            </a:br>
            <a:r>
              <a:rPr lang="en-US" dirty="0"/>
              <a:t>(programs) waiting to be loaded into</a:t>
            </a:r>
            <a:br>
              <a:rPr lang="en-US" dirty="0"/>
            </a:br>
            <a:r>
              <a:rPr lang="en-US" dirty="0"/>
              <a:t>the system with memory requirements </a:t>
            </a:r>
            <a:br>
              <a:rPr lang="en-US" dirty="0"/>
            </a:br>
            <a:r>
              <a:rPr lang="en-US" dirty="0"/>
              <a:t>as shown in the table.</a:t>
            </a:r>
          </a:p>
          <a:p>
            <a:r>
              <a:rPr lang="en-US" dirty="0"/>
              <a:t>We observe that these processes </a:t>
            </a:r>
            <a:br>
              <a:rPr lang="en-US" dirty="0"/>
            </a:br>
            <a:r>
              <a:rPr lang="en-US" dirty="0"/>
              <a:t>require 31K of memory.</a:t>
            </a:r>
          </a:p>
          <a:p>
            <a:endParaRPr lang="en-US" dirty="0"/>
          </a:p>
        </p:txBody>
      </p:sp>
      <p:pic>
        <p:nvPicPr>
          <p:cNvPr id="4" name="Picture 4" descr="MFRAME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5675" y="1017404"/>
            <a:ext cx="1736725" cy="526891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PTABLE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5926" y="3645568"/>
            <a:ext cx="2614011" cy="2640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539751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Fragmentation: Example #1</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9144000" cy="5257800"/>
          </a:xfrm>
        </p:spPr>
        <p:txBody>
          <a:bodyPr/>
          <a:lstStyle/>
          <a:p>
            <a:r>
              <a:rPr lang="en-US" dirty="0"/>
              <a:t>When the first three processes are loaded, memory looks like this:</a:t>
            </a:r>
          </a:p>
          <a:p>
            <a:r>
              <a:rPr lang="en-US" dirty="0"/>
              <a:t>All of the frames are occupied by three of the processes.</a:t>
            </a:r>
          </a:p>
          <a:p>
            <a:r>
              <a:rPr lang="en-US" dirty="0"/>
              <a:t>Despite the fact that there are enough free bytes in memory to load the fourth process, P4 has to wait for one of the other three to terminate, because there are no </a:t>
            </a:r>
            <a:br>
              <a:rPr lang="en-US" dirty="0"/>
            </a:br>
            <a:r>
              <a:rPr lang="en-US" dirty="0"/>
              <a:t>unallocated (free) frames.</a:t>
            </a:r>
          </a:p>
          <a:p>
            <a:r>
              <a:rPr lang="en-US" dirty="0"/>
              <a:t>This is an example of internal </a:t>
            </a:r>
            <a:br>
              <a:rPr lang="en-US" dirty="0"/>
            </a:br>
            <a:r>
              <a:rPr lang="en-US" dirty="0"/>
              <a:t>fragmentation.</a:t>
            </a:r>
          </a:p>
          <a:p>
            <a:endParaRPr lang="en-US" dirty="0"/>
          </a:p>
        </p:txBody>
      </p:sp>
      <p:pic>
        <p:nvPicPr>
          <p:cNvPr id="5" name="Picture 4" descr="PTABLE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2516" y="3844597"/>
            <a:ext cx="2621464" cy="264827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MFRAME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8850" y="990600"/>
            <a:ext cx="1733550" cy="525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722446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Fragmentation: Example #2</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Suppose that instead of frames, our 32KB system uses segmentation.</a:t>
            </a:r>
          </a:p>
          <a:p>
            <a:r>
              <a:rPr lang="en-US" dirty="0"/>
              <a:t>The memory segments of two processes is shown in the table below</a:t>
            </a:r>
          </a:p>
          <a:p>
            <a:r>
              <a:rPr lang="en-US" dirty="0"/>
              <a:t>The segments can be allocated anywhere in memory.</a:t>
            </a:r>
          </a:p>
          <a:p>
            <a:endParaRPr lang="en-US" dirty="0"/>
          </a:p>
        </p:txBody>
      </p:sp>
      <p:pic>
        <p:nvPicPr>
          <p:cNvPr id="4" name="Picture 4" descr="PTABLE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5971" y="3609975"/>
            <a:ext cx="3187124" cy="2566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5608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Fragmentation: Example #2</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9144000" cy="5257800"/>
          </a:xfrm>
        </p:spPr>
        <p:txBody>
          <a:bodyPr/>
          <a:lstStyle/>
          <a:p>
            <a:r>
              <a:rPr lang="en-US" dirty="0"/>
              <a:t>All of the segments of P1 and one of the segments of P2 are loaded as shown at the right.</a:t>
            </a:r>
          </a:p>
          <a:p>
            <a:r>
              <a:rPr lang="en-US" dirty="0"/>
              <a:t>Segment S2 of process P2  requires 11 KB of memory, and there is only 1 KB free, so it waits.</a:t>
            </a:r>
          </a:p>
          <a:p>
            <a:endParaRPr lang="en-US" dirty="0"/>
          </a:p>
        </p:txBody>
      </p:sp>
      <p:pic>
        <p:nvPicPr>
          <p:cNvPr id="4" name="Picture 4" descr="PTABLE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2858" y="3429000"/>
            <a:ext cx="3376341" cy="271938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MSEG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5675" y="1112837"/>
            <a:ext cx="1736725" cy="5287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06957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Fragmentation: Example #2</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8153400" cy="5257800"/>
          </a:xfrm>
        </p:spPr>
        <p:txBody>
          <a:bodyPr/>
          <a:lstStyle/>
          <a:p>
            <a:r>
              <a:rPr lang="en-US" dirty="0"/>
              <a:t>Eventually, Segment 2 of Process 1 is no longer needed, so it is unloaded, giving 11 KB of free memory.</a:t>
            </a:r>
          </a:p>
          <a:p>
            <a:r>
              <a:rPr lang="en-US" dirty="0"/>
              <a:t>But Segment 2 of Process 2 cannot be loaded because the free memory is not contiguous.</a:t>
            </a:r>
          </a:p>
        </p:txBody>
      </p:sp>
      <p:pic>
        <p:nvPicPr>
          <p:cNvPr id="4" name="Picture 4" descr="PTABLE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3600" y="3284620"/>
            <a:ext cx="3555599" cy="2863767"/>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3134AB62-31D5-485A-B8F1-BEB583A5C3F8}"/>
              </a:ext>
            </a:extLst>
          </p:cNvPr>
          <p:cNvGrpSpPr/>
          <p:nvPr/>
        </p:nvGrpSpPr>
        <p:grpSpPr>
          <a:xfrm>
            <a:off x="8891276" y="1147180"/>
            <a:ext cx="2691124" cy="5267405"/>
            <a:chOff x="5791200" y="1098550"/>
            <a:chExt cx="2916238" cy="5378450"/>
          </a:xfrm>
        </p:grpSpPr>
        <p:pic>
          <p:nvPicPr>
            <p:cNvPr id="8" name="Picture 2" descr="MSEG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1098550"/>
              <a:ext cx="2916238" cy="53784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014BAA32-1C5A-46D8-AA5A-330668CAA535}"/>
                </a:ext>
              </a:extLst>
            </p:cNvPr>
            <p:cNvPicPr>
              <a:picLocks noChangeAspect="1"/>
            </p:cNvPicPr>
            <p:nvPr/>
          </p:nvPicPr>
          <p:blipFill>
            <a:blip r:embed="rId4"/>
            <a:stretch>
              <a:fillRect/>
            </a:stretch>
          </p:blipFill>
          <p:spPr>
            <a:xfrm>
              <a:off x="7331173" y="5511800"/>
              <a:ext cx="384184" cy="233679"/>
            </a:xfrm>
            <a:prstGeom prst="rect">
              <a:avLst/>
            </a:prstGeom>
          </p:spPr>
        </p:pic>
        <p:pic>
          <p:nvPicPr>
            <p:cNvPr id="10" name="Picture 9">
              <a:extLst>
                <a:ext uri="{FF2B5EF4-FFF2-40B4-BE49-F238E27FC236}">
                  <a16:creationId xmlns:a16="http://schemas.microsoft.com/office/drawing/2014/main" id="{9927F55D-348C-47E4-91E0-22645CB504A5}"/>
                </a:ext>
              </a:extLst>
            </p:cNvPr>
            <p:cNvPicPr>
              <a:picLocks noChangeAspect="1"/>
            </p:cNvPicPr>
            <p:nvPr/>
          </p:nvPicPr>
          <p:blipFill>
            <a:blip r:embed="rId5"/>
            <a:stretch>
              <a:fillRect/>
            </a:stretch>
          </p:blipFill>
          <p:spPr>
            <a:xfrm>
              <a:off x="7330440" y="4551534"/>
              <a:ext cx="363220" cy="249065"/>
            </a:xfrm>
            <a:prstGeom prst="rect">
              <a:avLst/>
            </a:prstGeom>
          </p:spPr>
        </p:pic>
      </p:grpSp>
    </p:spTree>
    <p:extLst>
      <p:ext uri="{BB962C8B-B14F-4D97-AF65-F5344CB8AC3E}">
        <p14:creationId xmlns:p14="http://schemas.microsoft.com/office/powerpoint/2010/main" val="71371652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Fragmentation</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9144000" cy="5257800"/>
          </a:xfrm>
        </p:spPr>
        <p:txBody>
          <a:bodyPr/>
          <a:lstStyle/>
          <a:p>
            <a:r>
              <a:rPr lang="en-US" dirty="0"/>
              <a:t>Over time, the problem gets worse, resulting in small unusable blocks scattered throughout physical memory.</a:t>
            </a:r>
          </a:p>
          <a:p>
            <a:r>
              <a:rPr lang="en-US" dirty="0"/>
              <a:t>This is an example of external fragmentation.</a:t>
            </a:r>
          </a:p>
          <a:p>
            <a:r>
              <a:rPr lang="en-US" dirty="0"/>
              <a:t>Eventually, this memory is recovered through </a:t>
            </a:r>
            <a:r>
              <a:rPr lang="en-US" b="1" dirty="0"/>
              <a:t>compaction</a:t>
            </a:r>
            <a:r>
              <a:rPr lang="en-US" dirty="0"/>
              <a:t>, and the process starts over.</a:t>
            </a:r>
          </a:p>
        </p:txBody>
      </p:sp>
      <p:pic>
        <p:nvPicPr>
          <p:cNvPr id="11" name="Picture 2" descr="MSEG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5675" y="1066800"/>
            <a:ext cx="1736725" cy="5268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870914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A Real-World Example: Pentium Architecture</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The Pentium architecture supports both paging and segmentation, and they can be used in various combinations including unpaged unsegmented, segmented unpaged, and unsegmented paged.</a:t>
            </a:r>
          </a:p>
          <a:p>
            <a:r>
              <a:rPr lang="en-US" dirty="0"/>
              <a:t>The processor supports two levels of cache (L1 and L2), both having a block size of 32 bytes.</a:t>
            </a:r>
          </a:p>
          <a:p>
            <a:r>
              <a:rPr lang="en-US" dirty="0"/>
              <a:t>The L1 cache is next to the processor, and the L2 cache sits between the processor and memory.</a:t>
            </a:r>
          </a:p>
          <a:p>
            <a:r>
              <a:rPr lang="en-US" dirty="0"/>
              <a:t>The L1 cache is in two parts: and instruction cache (I-cache) and a data cache (D-cache).</a:t>
            </a:r>
          </a:p>
          <a:p>
            <a:endParaRPr lang="en-US" dirty="0"/>
          </a:p>
        </p:txBody>
      </p:sp>
    </p:spTree>
    <p:extLst>
      <p:ext uri="{BB962C8B-B14F-4D97-AF65-F5344CB8AC3E}">
        <p14:creationId xmlns:p14="http://schemas.microsoft.com/office/powerpoint/2010/main" val="81316728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Virtual Memory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Large page tables are cumbersome and slow, but page operations are fast because all pages are the same, small size.  Segmentation allows fast access to the segment table, but segment loading is labor-intensive.</a:t>
            </a:r>
          </a:p>
          <a:p>
            <a:r>
              <a:rPr lang="en-US" dirty="0"/>
              <a:t>Paging and segmentation can be combined to take advantage of the best features of both by assigning fixed-size pages within variable-sized segments.</a:t>
            </a:r>
          </a:p>
          <a:p>
            <a:r>
              <a:rPr lang="en-US" dirty="0"/>
              <a:t>Each segment has a page table. This means that a memory address will have three fields, one for the segment, another for the page, and a third for the offset.</a:t>
            </a:r>
          </a:p>
          <a:p>
            <a:endParaRPr lang="en-US" dirty="0"/>
          </a:p>
        </p:txBody>
      </p:sp>
    </p:spTree>
    <p:extLst>
      <p:ext uri="{BB962C8B-B14F-4D97-AF65-F5344CB8AC3E}">
        <p14:creationId xmlns:p14="http://schemas.microsoft.com/office/powerpoint/2010/main" val="109347786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A Real-World Example: Pentium Architecture</a:t>
            </a:r>
            <a:endParaRPr lang="en-US" dirty="0"/>
          </a:p>
        </p:txBody>
      </p:sp>
      <p:pic>
        <p:nvPicPr>
          <p:cNvPr id="5" name="Picture 5" descr="9781284033144_CH06_FIG29.jpg">
            <a:extLst>
              <a:ext uri="{FF2B5EF4-FFF2-40B4-BE49-F238E27FC236}">
                <a16:creationId xmlns:a16="http://schemas.microsoft.com/office/drawing/2014/main" id="{E2FAF53B-D16E-4C3F-9385-68679491A42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91969" y="1375610"/>
            <a:ext cx="9408062" cy="5016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690929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396D4F3FBE81459556FDCA3F477A03" ma:contentTypeVersion="4" ma:contentTypeDescription="Create a new document." ma:contentTypeScope="" ma:versionID="b755ac89c73d1625610c43508c66eda4">
  <xsd:schema xmlns:xsd="http://www.w3.org/2001/XMLSchema" xmlns:xs="http://www.w3.org/2001/XMLSchema" xmlns:p="http://schemas.microsoft.com/office/2006/metadata/properties" xmlns:ns2="1a22e323-47b0-4d47-8cfa-1000afc68f2b" targetNamespace="http://schemas.microsoft.com/office/2006/metadata/properties" ma:root="true" ma:fieldsID="58f068782b86ca64c32db991266d7ab4" ns2:_="">
    <xsd:import namespace="1a22e323-47b0-4d47-8cfa-1000afc68f2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22e323-47b0-4d47-8cfa-1000afc68f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A2C19E8-3752-4AAF-94D4-198935F7ECB6}"/>
</file>

<file path=customXml/itemProps2.xml><?xml version="1.0" encoding="utf-8"?>
<ds:datastoreItem xmlns:ds="http://schemas.openxmlformats.org/officeDocument/2006/customXml" ds:itemID="{1170BF3B-19C0-495F-9616-90015D94CABC}"/>
</file>

<file path=customXml/itemProps3.xml><?xml version="1.0" encoding="utf-8"?>
<ds:datastoreItem xmlns:ds="http://schemas.openxmlformats.org/officeDocument/2006/customXml" ds:itemID="{63D7D8FF-5F5A-40F6-88CF-66C473D21FD4}"/>
</file>

<file path=docProps/app.xml><?xml version="1.0" encoding="utf-8"?>
<Properties xmlns="http://schemas.openxmlformats.org/officeDocument/2006/extended-properties" xmlns:vt="http://schemas.openxmlformats.org/officeDocument/2006/docPropsVTypes">
  <TotalTime>2837</TotalTime>
  <Words>7721</Words>
  <Application>Microsoft Office PowerPoint</Application>
  <PresentationFormat>Widescreen</PresentationFormat>
  <Paragraphs>791</Paragraphs>
  <Slides>100</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100</vt:i4>
      </vt:variant>
    </vt:vector>
  </HeadingPairs>
  <TitlesOfParts>
    <vt:vector size="107" baseType="lpstr">
      <vt:lpstr>Arial</vt:lpstr>
      <vt:lpstr>Calibri</vt:lpstr>
      <vt:lpstr>Calibri Light</vt:lpstr>
      <vt:lpstr>Cambria Math</vt:lpstr>
      <vt:lpstr>Courier New</vt:lpstr>
      <vt:lpstr>Wingdings</vt:lpstr>
      <vt:lpstr>Office Theme</vt:lpstr>
      <vt:lpstr>ISE 218: Fundamentals of Information Technology Unit 5: Memory</vt:lpstr>
      <vt:lpstr>Introduction</vt:lpstr>
      <vt:lpstr>Types of Memory</vt:lpstr>
      <vt:lpstr>Types of Memory</vt:lpstr>
      <vt:lpstr>The Memory Hierarchy</vt:lpstr>
      <vt:lpstr>The Memory Hierarchy</vt:lpstr>
      <vt:lpstr>The Memory Hierarchy</vt:lpstr>
      <vt:lpstr>The Memory Hierarchy</vt:lpstr>
      <vt:lpstr>The Memory Hierarchy</vt:lpstr>
      <vt:lpstr>The Memory Hierarchy</vt:lpstr>
      <vt:lpstr>The Memory Hierarchy</vt:lpstr>
      <vt:lpstr>The Memory Hierarchy</vt:lpstr>
      <vt:lpstr>Cache Memory</vt:lpstr>
      <vt:lpstr>Cache Memory</vt:lpstr>
      <vt:lpstr>Cache Memory: Direct Mapped Cache</vt:lpstr>
      <vt:lpstr>Direct Mapped Cache: Example #1</vt:lpstr>
      <vt:lpstr>Direct Mapped Cache:  Example #2</vt:lpstr>
      <vt:lpstr>Direct Mapped Cache</vt:lpstr>
      <vt:lpstr>Direct Mapped Cache: Example #3</vt:lpstr>
      <vt:lpstr>Direct Mapped Cache: Example #3</vt:lpstr>
      <vt:lpstr>Direct Mapped Cache: Example #3</vt:lpstr>
      <vt:lpstr>Direct Mapped Cache: Example #3</vt:lpstr>
      <vt:lpstr>Direct Mapped Cache: Example #3</vt:lpstr>
      <vt:lpstr>Cache Memory</vt:lpstr>
      <vt:lpstr>Direct Mapped Cache: Example #4</vt:lpstr>
      <vt:lpstr>Direct Mapped Cache: Example #5</vt:lpstr>
      <vt:lpstr>Direct Mapped Cache: Example #5</vt:lpstr>
      <vt:lpstr>Direct Mapped Cache: Example #5</vt:lpstr>
      <vt:lpstr>Direct Mapped Cache: Example #5</vt:lpstr>
      <vt:lpstr>Direct Mapped Cache: Example #6</vt:lpstr>
      <vt:lpstr>Direct Mapped Cache: Example #7</vt:lpstr>
      <vt:lpstr>Direct Mapped Cache: Example #7</vt:lpstr>
      <vt:lpstr>Direct Mapped Cache: Example #7</vt:lpstr>
      <vt:lpstr>Direct Mapped Cache: Example #7</vt:lpstr>
      <vt:lpstr>Direct Mapped Cache: Example #8</vt:lpstr>
      <vt:lpstr>Direct Mapped Cache: Example #8</vt:lpstr>
      <vt:lpstr>Direct Mapped Cache: Example #8</vt:lpstr>
      <vt:lpstr>Direct Mapped Cache: Example #8</vt:lpstr>
      <vt:lpstr>Direct Mapped Cache: Example #8</vt:lpstr>
      <vt:lpstr>Direct Mapped Cache: Example #8</vt:lpstr>
      <vt:lpstr>Direct Mapped Cache: Example #8</vt:lpstr>
      <vt:lpstr>Direct Mapped Cache: Example #8</vt:lpstr>
      <vt:lpstr>Direct Mapped Cache: Example #8</vt:lpstr>
      <vt:lpstr>Direct Mapped Cache: Example #8</vt:lpstr>
      <vt:lpstr>Direct Mapped Cache: Example #8</vt:lpstr>
      <vt:lpstr>Direct Mapped Cache: Example #8</vt:lpstr>
      <vt:lpstr>Direct Mapped Cache: Example #8</vt:lpstr>
      <vt:lpstr>Direct Mapped Cache: Example #8</vt:lpstr>
      <vt:lpstr>Direct Mapped Cache: Example #8</vt:lpstr>
      <vt:lpstr>Direct Mapped Cache: Example #8</vt:lpstr>
      <vt:lpstr>Direct Mapped Cache: Summary</vt:lpstr>
      <vt:lpstr>Associative Cache</vt:lpstr>
      <vt:lpstr>Block Replacement Policy</vt:lpstr>
      <vt:lpstr>Block Replacement Policy</vt:lpstr>
      <vt:lpstr>LRU Block Replacement: Example</vt:lpstr>
      <vt:lpstr>LRU Block Replacement: Example</vt:lpstr>
      <vt:lpstr>LRU Block Replacement: Example</vt:lpstr>
      <vt:lpstr>FIFO Block Replacement: Example</vt:lpstr>
      <vt:lpstr>FIFO Block Replacement: Example</vt:lpstr>
      <vt:lpstr>FIFO Block Replacement: Example</vt:lpstr>
      <vt:lpstr>FIFO Block Replacement: Example</vt:lpstr>
      <vt:lpstr>FIFO Block Replacement: Example</vt:lpstr>
      <vt:lpstr>Cache Memory: Effective Access Time</vt:lpstr>
      <vt:lpstr>Effective Access Time: Example #1</vt:lpstr>
      <vt:lpstr>Effective Access Time: Example #2</vt:lpstr>
      <vt:lpstr>Cache Memory</vt:lpstr>
      <vt:lpstr>Cache Memory</vt:lpstr>
      <vt:lpstr>Cache Memory</vt:lpstr>
      <vt:lpstr>Cache Memory</vt:lpstr>
      <vt:lpstr>Multi-level Cache Memory</vt:lpstr>
      <vt:lpstr>Multi-level Cache Memory</vt:lpstr>
      <vt:lpstr>Virtual Memory</vt:lpstr>
      <vt:lpstr>Virtual Memory</vt:lpstr>
      <vt:lpstr>Virtual Memory</vt:lpstr>
      <vt:lpstr>Virtual Memory: Example Page Table</vt:lpstr>
      <vt:lpstr>Virtual Memory</vt:lpstr>
      <vt:lpstr>Virtual Memory</vt:lpstr>
      <vt:lpstr>Virtual Memory: Example #1</vt:lpstr>
      <vt:lpstr>Virtual Memory: Example #1</vt:lpstr>
      <vt:lpstr>Virtual Memory: Example #2</vt:lpstr>
      <vt:lpstr>Virtual Memory: Example #2</vt:lpstr>
      <vt:lpstr>Virtual Memory: Example #2</vt:lpstr>
      <vt:lpstr>Virtual Memory: Example #3</vt:lpstr>
      <vt:lpstr>Virtual Memory: Example #4</vt:lpstr>
      <vt:lpstr>Virtual Memory: Example #4</vt:lpstr>
      <vt:lpstr>Virtual Memory: Example #4</vt:lpstr>
      <vt:lpstr>Virtual Memory: Effective Access Time</vt:lpstr>
      <vt:lpstr>Virtual Memory: Example #5</vt:lpstr>
      <vt:lpstr>PowerPoint Presentation</vt:lpstr>
      <vt:lpstr>Segmentation</vt:lpstr>
      <vt:lpstr>Fragmentation</vt:lpstr>
      <vt:lpstr>Fragmentation: Example #1</vt:lpstr>
      <vt:lpstr>Fragmentation: Example #1</vt:lpstr>
      <vt:lpstr>Fragmentation: Example #2</vt:lpstr>
      <vt:lpstr>Fragmentation: Example #2</vt:lpstr>
      <vt:lpstr>Fragmentation: Example #2</vt:lpstr>
      <vt:lpstr>Fragmentation</vt:lpstr>
      <vt:lpstr>A Real-World Example: Pentium Architecture</vt:lpstr>
      <vt:lpstr>Virtual Memory</vt:lpstr>
      <vt:lpstr>A Real-World Example: Pentium Architecture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Raza, Ali x58396</dc:creator>
  <cp:lastModifiedBy>于 心瑞 Xinrui YU</cp:lastModifiedBy>
  <cp:revision>18</cp:revision>
  <dcterms:created xsi:type="dcterms:W3CDTF">2019-10-22T10:01:53Z</dcterms:created>
  <dcterms:modified xsi:type="dcterms:W3CDTF">2025-04-02T09:51:23Z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0x010100AC396D4F3FBE81459556FDCA3F477A03</vt:lpwstr>
  </property>
</Properties>
</file>