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550" r:id="rId2"/>
    <p:sldId id="262" r:id="rId3"/>
    <p:sldId id="263" r:id="rId4"/>
    <p:sldId id="265" r:id="rId5"/>
    <p:sldId id="322" r:id="rId6"/>
    <p:sldId id="266" r:id="rId7"/>
    <p:sldId id="267" r:id="rId8"/>
    <p:sldId id="268" r:id="rId9"/>
    <p:sldId id="269" r:id="rId10"/>
    <p:sldId id="271" r:id="rId11"/>
    <p:sldId id="274" r:id="rId12"/>
    <p:sldId id="276" r:id="rId13"/>
    <p:sldId id="278" r:id="rId14"/>
    <p:sldId id="280" r:id="rId15"/>
    <p:sldId id="281" r:id="rId16"/>
    <p:sldId id="273" r:id="rId17"/>
    <p:sldId id="287" r:id="rId18"/>
    <p:sldId id="288" r:id="rId19"/>
    <p:sldId id="296" r:id="rId20"/>
    <p:sldId id="323" r:id="rId21"/>
    <p:sldId id="289" r:id="rId22"/>
    <p:sldId id="290" r:id="rId23"/>
    <p:sldId id="291" r:id="rId24"/>
    <p:sldId id="292" r:id="rId25"/>
    <p:sldId id="293" r:id="rId26"/>
    <p:sldId id="294" r:id="rId27"/>
    <p:sldId id="295" r:id="rId28"/>
    <p:sldId id="324" r:id="rId29"/>
    <p:sldId id="282" r:id="rId30"/>
    <p:sldId id="283" r:id="rId31"/>
    <p:sldId id="284" r:id="rId32"/>
    <p:sldId id="285" r:id="rId33"/>
    <p:sldId id="286" r:id="rId34"/>
    <p:sldId id="297" r:id="rId35"/>
    <p:sldId id="298" r:id="rId36"/>
    <p:sldId id="300" r:id="rId37"/>
    <p:sldId id="303" r:id="rId38"/>
    <p:sldId id="304" r:id="rId39"/>
    <p:sldId id="305" r:id="rId40"/>
    <p:sldId id="299" r:id="rId41"/>
    <p:sldId id="301" r:id="rId42"/>
    <p:sldId id="302" r:id="rId43"/>
    <p:sldId id="310" r:id="rId44"/>
    <p:sldId id="313" r:id="rId45"/>
    <p:sldId id="314" r:id="rId46"/>
    <p:sldId id="315" r:id="rId47"/>
    <p:sldId id="316" r:id="rId48"/>
    <p:sldId id="311" r:id="rId49"/>
    <p:sldId id="306" r:id="rId50"/>
    <p:sldId id="317" r:id="rId51"/>
    <p:sldId id="318" r:id="rId52"/>
    <p:sldId id="319" r:id="rId53"/>
    <p:sldId id="308" r:id="rId54"/>
    <p:sldId id="320" r:id="rId55"/>
    <p:sldId id="321" r:id="rId56"/>
    <p:sldId id="309" r:id="rId57"/>
    <p:sldId id="26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050" autoAdjust="0"/>
  </p:normalViewPr>
  <p:slideViewPr>
    <p:cSldViewPr snapToGrid="0">
      <p:cViewPr varScale="1">
        <p:scale>
          <a:sx n="97" d="100"/>
          <a:sy n="97" d="100"/>
        </p:scale>
        <p:origin x="111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803431-147E-41C7-B20A-C5FF66517516}" type="datetimeFigureOut">
              <a:rPr lang="en-US" smtClean="0"/>
              <a:t>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5CD294-A194-4EDB-AD72-D9264929E127}" type="slidenum">
              <a:rPr lang="en-US" smtClean="0"/>
              <a:t>‹#›</a:t>
            </a:fld>
            <a:endParaRPr lang="en-US"/>
          </a:p>
        </p:txBody>
      </p:sp>
    </p:spTree>
    <p:extLst>
      <p:ext uri="{BB962C8B-B14F-4D97-AF65-F5344CB8AC3E}">
        <p14:creationId xmlns:p14="http://schemas.microsoft.com/office/powerpoint/2010/main" val="208667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southbridge</a:t>
            </a:r>
            <a:r>
              <a:rPr lang="en-US" dirty="0"/>
              <a:t> – (I/O controller hub) circuit that allows slower I/O devices </a:t>
            </a:r>
          </a:p>
          <a:p>
            <a:r>
              <a:rPr lang="en-US" dirty="0" err="1"/>
              <a:t>northbridge</a:t>
            </a:r>
            <a:r>
              <a:rPr lang="en-US" dirty="0"/>
              <a:t> – connected to</a:t>
            </a:r>
            <a:r>
              <a:rPr lang="en-US" baseline="0" dirty="0"/>
              <a:t> front-side bus, handles communication among CPU, RAM (maybe), and </a:t>
            </a:r>
            <a:r>
              <a:rPr lang="en-US" baseline="0" dirty="0" err="1"/>
              <a:t>PCIe</a:t>
            </a:r>
            <a:r>
              <a:rPr lang="en-US" baseline="0" dirty="0"/>
              <a:t> graphics cards</a:t>
            </a:r>
          </a:p>
          <a:p>
            <a:r>
              <a:rPr lang="en-US" baseline="0" dirty="0"/>
              <a:t>super I/O chip – for controlling keyboard, mouse, floppy disk drives (slow devices)</a:t>
            </a:r>
            <a:endParaRPr lang="en-US" dirty="0"/>
          </a:p>
        </p:txBody>
      </p:sp>
      <p:sp>
        <p:nvSpPr>
          <p:cNvPr id="4" name="Slide Number Placeholder 3"/>
          <p:cNvSpPr>
            <a:spLocks noGrp="1"/>
          </p:cNvSpPr>
          <p:nvPr>
            <p:ph type="sldNum" sz="quarter" idx="10"/>
          </p:nvPr>
        </p:nvSpPr>
        <p:spPr/>
        <p:txBody>
          <a:bodyPr/>
          <a:lstStyle/>
          <a:p>
            <a:fld id="{8323B165-5D6B-4219-8D0B-E4E7E0CDDBAA}" type="slidenum">
              <a:rPr lang="en-US" smtClean="0"/>
              <a:t>28</a:t>
            </a:fld>
            <a:endParaRPr lang="en-US"/>
          </a:p>
        </p:txBody>
      </p:sp>
    </p:spTree>
    <p:extLst>
      <p:ext uri="{BB962C8B-B14F-4D97-AF65-F5344CB8AC3E}">
        <p14:creationId xmlns:p14="http://schemas.microsoft.com/office/powerpoint/2010/main" val="14928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Abaqus</a:t>
            </a:r>
          </a:p>
          <a:p>
            <a:r>
              <a:rPr lang="en-US" dirty="0"/>
              <a:t>Pascal’s calculator</a:t>
            </a:r>
          </a:p>
          <a:p>
            <a:r>
              <a:rPr lang="en-US" b="0" i="0" dirty="0">
                <a:solidFill>
                  <a:srgbClr val="474747"/>
                </a:solidFill>
                <a:effectLst/>
                <a:latin typeface="Arial" panose="020B0604020202020204" pitchFamily="34" charset="0"/>
              </a:rPr>
              <a:t>Jacquard loom </a:t>
            </a:r>
            <a:r>
              <a:rPr lang="zh-CN" altLang="en-US" b="1" i="0" dirty="0">
                <a:solidFill>
                  <a:srgbClr val="767676"/>
                </a:solidFill>
                <a:effectLst/>
                <a:latin typeface="Arial" panose="020B0604020202020204" pitchFamily="34" charset="0"/>
              </a:rPr>
              <a:t>雅卡尔织布机</a:t>
            </a:r>
            <a:endParaRPr lang="en-US" altLang="zh-CN" b="1" i="0" dirty="0">
              <a:solidFill>
                <a:srgbClr val="767676"/>
              </a:solidFill>
              <a:effectLst/>
              <a:latin typeface="Arial" panose="020B0604020202020204" pitchFamily="34" charset="0"/>
            </a:endParaRPr>
          </a:p>
          <a:p>
            <a:r>
              <a:rPr lang="zh-CN" altLang="en-US" b="1" i="0" dirty="0">
                <a:solidFill>
                  <a:srgbClr val="767676"/>
                </a:solidFill>
                <a:effectLst/>
                <a:latin typeface="Arial" panose="020B0604020202020204" pitchFamily="34" charset="0"/>
              </a:rPr>
              <a:t>巴比奇分析机</a:t>
            </a:r>
            <a:endParaRPr lang="en-US" altLang="zh-CN" b="1" i="0" dirty="0">
              <a:solidFill>
                <a:srgbClr val="767676"/>
              </a:solidFill>
              <a:effectLst/>
              <a:latin typeface="Arial" panose="020B0604020202020204" pitchFamily="34" charset="0"/>
            </a:endParaRPr>
          </a:p>
          <a:p>
            <a:r>
              <a:rPr lang="en-US" b="0" i="0" dirty="0">
                <a:solidFill>
                  <a:srgbClr val="474747"/>
                </a:solidFill>
                <a:effectLst/>
                <a:latin typeface="Arial" panose="020B0604020202020204" pitchFamily="34" charset="0"/>
              </a:rPr>
              <a:t>Electronic Numerical Integrator and Computer</a:t>
            </a:r>
            <a:endParaRPr lang="en-US" b="1" i="0" dirty="0">
              <a:solidFill>
                <a:srgbClr val="767676"/>
              </a:solidFill>
              <a:effectLst/>
              <a:latin typeface="Arial" panose="020B0604020202020204" pitchFamily="34" charset="0"/>
            </a:endParaRPr>
          </a:p>
          <a:p>
            <a:endParaRPr lang="en-US" altLang="zh-CN" b="1" i="0" dirty="0">
              <a:solidFill>
                <a:srgbClr val="767676"/>
              </a:solidFill>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9B5CD294-A194-4EDB-AD72-D9264929E127}" type="slidenum">
              <a:rPr lang="en-US" smtClean="0"/>
              <a:t>31</a:t>
            </a:fld>
            <a:endParaRPr lang="en-US"/>
          </a:p>
        </p:txBody>
      </p:sp>
    </p:spTree>
    <p:extLst>
      <p:ext uri="{BB962C8B-B14F-4D97-AF65-F5344CB8AC3E}">
        <p14:creationId xmlns:p14="http://schemas.microsoft.com/office/powerpoint/2010/main" val="2166680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7C22C-01C9-4F80-BA36-86E64EA46C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3C2B57-CE92-47DE-8E88-4D4316D3CA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FA15F1-2E4E-42DC-9BFE-66EA915483C0}"/>
              </a:ext>
            </a:extLst>
          </p:cNvPr>
          <p:cNvSpPr>
            <a:spLocks noGrp="1"/>
          </p:cNvSpPr>
          <p:nvPr>
            <p:ph type="dt" sz="half" idx="10"/>
          </p:nvPr>
        </p:nvSpPr>
        <p:spPr/>
        <p:txBody>
          <a:bodyPr/>
          <a:lstStyle/>
          <a:p>
            <a:fld id="{4015559E-4566-4BA2-A4C0-39B33C974F25}" type="datetime1">
              <a:rPr lang="en-US" smtClean="0"/>
              <a:t>2/21/2025</a:t>
            </a:fld>
            <a:endParaRPr lang="en-US"/>
          </a:p>
        </p:txBody>
      </p:sp>
      <p:sp>
        <p:nvSpPr>
          <p:cNvPr id="5" name="Footer Placeholder 4">
            <a:extLst>
              <a:ext uri="{FF2B5EF4-FFF2-40B4-BE49-F238E27FC236}">
                <a16:creationId xmlns:a16="http://schemas.microsoft.com/office/drawing/2014/main" id="{3F9A8B68-CF01-4C86-B21E-007ED346A903}"/>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B01EE52F-870A-43D1-ABEE-DD9085C113D3}"/>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4084931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EF29-2BF7-4777-819F-2701405A92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45CEBB-845C-4FF4-91DE-81D49D0E86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9A6830-62F0-4450-94FD-A49300158923}"/>
              </a:ext>
            </a:extLst>
          </p:cNvPr>
          <p:cNvSpPr>
            <a:spLocks noGrp="1"/>
          </p:cNvSpPr>
          <p:nvPr>
            <p:ph type="dt" sz="half" idx="10"/>
          </p:nvPr>
        </p:nvSpPr>
        <p:spPr/>
        <p:txBody>
          <a:bodyPr/>
          <a:lstStyle/>
          <a:p>
            <a:fld id="{7939D6A3-21E6-4C8F-AF93-561A0AD1F852}" type="datetime1">
              <a:rPr lang="en-US" smtClean="0"/>
              <a:t>2/21/2025</a:t>
            </a:fld>
            <a:endParaRPr lang="en-US"/>
          </a:p>
        </p:txBody>
      </p:sp>
      <p:sp>
        <p:nvSpPr>
          <p:cNvPr id="5" name="Footer Placeholder 4">
            <a:extLst>
              <a:ext uri="{FF2B5EF4-FFF2-40B4-BE49-F238E27FC236}">
                <a16:creationId xmlns:a16="http://schemas.microsoft.com/office/drawing/2014/main" id="{4EEB619C-88C8-43EA-81FE-63F5567C06D3}"/>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75D8303E-23FD-4F1A-BFA9-101BC7CE6F9E}"/>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525748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7320B-537C-4B07-BA9A-4F308ED3D3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04CAC0-98B0-4057-9530-A87BCF2233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4211AC-B129-41C4-8831-FE5D62449EDC}"/>
              </a:ext>
            </a:extLst>
          </p:cNvPr>
          <p:cNvSpPr>
            <a:spLocks noGrp="1"/>
          </p:cNvSpPr>
          <p:nvPr>
            <p:ph type="dt" sz="half" idx="10"/>
          </p:nvPr>
        </p:nvSpPr>
        <p:spPr/>
        <p:txBody>
          <a:bodyPr/>
          <a:lstStyle/>
          <a:p>
            <a:fld id="{187BF7FD-25EA-45BD-90A7-B76C6B5685AF}" type="datetime1">
              <a:rPr lang="en-US" smtClean="0"/>
              <a:t>2/21/2025</a:t>
            </a:fld>
            <a:endParaRPr lang="en-US"/>
          </a:p>
        </p:txBody>
      </p:sp>
      <p:sp>
        <p:nvSpPr>
          <p:cNvPr id="5" name="Footer Placeholder 4">
            <a:extLst>
              <a:ext uri="{FF2B5EF4-FFF2-40B4-BE49-F238E27FC236}">
                <a16:creationId xmlns:a16="http://schemas.microsoft.com/office/drawing/2014/main" id="{92156611-67C0-43E4-A5A6-D68663606D6D}"/>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E201D5C1-EBC8-4017-85AE-96E03CAF59A3}"/>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2764053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FE717-07F0-42DB-93FC-FF449A95F2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64F846-997C-4FE4-B87C-051CEB7398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42E54D-CE26-4A9A-83E5-EF8F0AEDF2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F023ED-3F3A-487B-BE53-4E0274706C92}"/>
              </a:ext>
            </a:extLst>
          </p:cNvPr>
          <p:cNvSpPr>
            <a:spLocks noGrp="1"/>
          </p:cNvSpPr>
          <p:nvPr>
            <p:ph type="dt" sz="half" idx="10"/>
          </p:nvPr>
        </p:nvSpPr>
        <p:spPr/>
        <p:txBody>
          <a:bodyPr/>
          <a:lstStyle/>
          <a:p>
            <a:fld id="{A54FEE4F-3EA4-4421-94C7-27FA9987AA32}" type="datetime1">
              <a:rPr lang="en-US" smtClean="0"/>
              <a:t>2/21/2025</a:t>
            </a:fld>
            <a:endParaRPr lang="en-US"/>
          </a:p>
        </p:txBody>
      </p:sp>
      <p:sp>
        <p:nvSpPr>
          <p:cNvPr id="6" name="Footer Placeholder 5">
            <a:extLst>
              <a:ext uri="{FF2B5EF4-FFF2-40B4-BE49-F238E27FC236}">
                <a16:creationId xmlns:a16="http://schemas.microsoft.com/office/drawing/2014/main" id="{822190FD-DEBA-4969-A7A9-DA6E1567342E}"/>
              </a:ext>
            </a:extLst>
          </p:cNvPr>
          <p:cNvSpPr>
            <a:spLocks noGrp="1"/>
          </p:cNvSpPr>
          <p:nvPr>
            <p:ph type="ftr" sz="quarter" idx="11"/>
          </p:nvPr>
        </p:nvSpPr>
        <p:spPr/>
        <p:txBody>
          <a:bodyPr/>
          <a:lstStyle/>
          <a:p>
            <a:r>
              <a:rPr lang="en-US"/>
              <a:t>SBU - ISE 218 - Fundamentals of Information Technology </a:t>
            </a:r>
          </a:p>
        </p:txBody>
      </p:sp>
      <p:sp>
        <p:nvSpPr>
          <p:cNvPr id="7" name="Slide Number Placeholder 6">
            <a:extLst>
              <a:ext uri="{FF2B5EF4-FFF2-40B4-BE49-F238E27FC236}">
                <a16:creationId xmlns:a16="http://schemas.microsoft.com/office/drawing/2014/main" id="{27D92F29-FFA2-454D-BD82-3EC9D09BE5BF}"/>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324423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4AEE4-54DA-42E1-A5E7-E5628BCD22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D83850-D390-4699-9BD3-FA395883B2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DB3330-E3B2-41B3-8164-6FC4420AE6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14EAD3-8124-439F-B428-E2F788FEB5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0806D3-BC19-48B2-AAE1-B54DEB7C4A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73A5FA-345A-4EB6-80FF-72DB54A22986}"/>
              </a:ext>
            </a:extLst>
          </p:cNvPr>
          <p:cNvSpPr>
            <a:spLocks noGrp="1"/>
          </p:cNvSpPr>
          <p:nvPr>
            <p:ph type="dt" sz="half" idx="10"/>
          </p:nvPr>
        </p:nvSpPr>
        <p:spPr/>
        <p:txBody>
          <a:bodyPr/>
          <a:lstStyle/>
          <a:p>
            <a:fld id="{5C127050-FBC8-4BDA-8FA9-1B62BF6E4272}" type="datetime1">
              <a:rPr lang="en-US" smtClean="0"/>
              <a:t>2/21/2025</a:t>
            </a:fld>
            <a:endParaRPr lang="en-US"/>
          </a:p>
        </p:txBody>
      </p:sp>
      <p:sp>
        <p:nvSpPr>
          <p:cNvPr id="8" name="Footer Placeholder 7">
            <a:extLst>
              <a:ext uri="{FF2B5EF4-FFF2-40B4-BE49-F238E27FC236}">
                <a16:creationId xmlns:a16="http://schemas.microsoft.com/office/drawing/2014/main" id="{59212862-DBA3-4C5C-9C6B-E89970D71A7E}"/>
              </a:ext>
            </a:extLst>
          </p:cNvPr>
          <p:cNvSpPr>
            <a:spLocks noGrp="1"/>
          </p:cNvSpPr>
          <p:nvPr>
            <p:ph type="ftr" sz="quarter" idx="11"/>
          </p:nvPr>
        </p:nvSpPr>
        <p:spPr/>
        <p:txBody>
          <a:bodyPr/>
          <a:lstStyle/>
          <a:p>
            <a:r>
              <a:rPr lang="en-US"/>
              <a:t>SBU - ISE 218 - Fundamentals of Information Technology </a:t>
            </a:r>
          </a:p>
        </p:txBody>
      </p:sp>
      <p:sp>
        <p:nvSpPr>
          <p:cNvPr id="9" name="Slide Number Placeholder 8">
            <a:extLst>
              <a:ext uri="{FF2B5EF4-FFF2-40B4-BE49-F238E27FC236}">
                <a16:creationId xmlns:a16="http://schemas.microsoft.com/office/drawing/2014/main" id="{0FBD1A0F-D4B5-4EF0-9F4A-445433FB5366}"/>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1963842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A5FD3-4E84-4CAB-82C9-F3F88FFF61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B42319-8A06-439A-9900-AC56EFB7F5BB}"/>
              </a:ext>
            </a:extLst>
          </p:cNvPr>
          <p:cNvSpPr>
            <a:spLocks noGrp="1"/>
          </p:cNvSpPr>
          <p:nvPr>
            <p:ph type="dt" sz="half" idx="10"/>
          </p:nvPr>
        </p:nvSpPr>
        <p:spPr/>
        <p:txBody>
          <a:bodyPr/>
          <a:lstStyle/>
          <a:p>
            <a:fld id="{FD1CDF02-0106-419D-951F-E4F99E45B050}" type="datetime1">
              <a:rPr lang="en-US" smtClean="0"/>
              <a:t>2/21/2025</a:t>
            </a:fld>
            <a:endParaRPr lang="en-US"/>
          </a:p>
        </p:txBody>
      </p:sp>
      <p:sp>
        <p:nvSpPr>
          <p:cNvPr id="4" name="Footer Placeholder 3">
            <a:extLst>
              <a:ext uri="{FF2B5EF4-FFF2-40B4-BE49-F238E27FC236}">
                <a16:creationId xmlns:a16="http://schemas.microsoft.com/office/drawing/2014/main" id="{038E52DB-D51A-480D-8EEE-AD89D14A0A65}"/>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0A5E1A14-A142-490A-B06C-9F95251A15FE}"/>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4160547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839C9-6DBC-42A9-BE4A-AB80BB6DE31E}"/>
              </a:ext>
            </a:extLst>
          </p:cNvPr>
          <p:cNvSpPr>
            <a:spLocks noGrp="1"/>
          </p:cNvSpPr>
          <p:nvPr>
            <p:ph type="dt" sz="half" idx="10"/>
          </p:nvPr>
        </p:nvSpPr>
        <p:spPr/>
        <p:txBody>
          <a:bodyPr/>
          <a:lstStyle/>
          <a:p>
            <a:fld id="{9683A1CD-AB96-4EF8-A7F4-98A3CA06AF67}" type="datetime1">
              <a:rPr lang="en-US" smtClean="0"/>
              <a:t>2/21/2025</a:t>
            </a:fld>
            <a:endParaRPr lang="en-US"/>
          </a:p>
        </p:txBody>
      </p:sp>
      <p:sp>
        <p:nvSpPr>
          <p:cNvPr id="3" name="Footer Placeholder 2">
            <a:extLst>
              <a:ext uri="{FF2B5EF4-FFF2-40B4-BE49-F238E27FC236}">
                <a16:creationId xmlns:a16="http://schemas.microsoft.com/office/drawing/2014/main" id="{80B34D52-F433-43E0-AB73-34EDFE8FA758}"/>
              </a:ext>
            </a:extLst>
          </p:cNvPr>
          <p:cNvSpPr>
            <a:spLocks noGrp="1"/>
          </p:cNvSpPr>
          <p:nvPr>
            <p:ph type="ftr" sz="quarter" idx="11"/>
          </p:nvPr>
        </p:nvSpPr>
        <p:spPr/>
        <p:txBody>
          <a:bodyPr/>
          <a:lstStyle/>
          <a:p>
            <a:r>
              <a:rPr lang="en-US"/>
              <a:t>SBU - ISE 218 - Fundamentals of Information Technology </a:t>
            </a:r>
          </a:p>
        </p:txBody>
      </p:sp>
      <p:sp>
        <p:nvSpPr>
          <p:cNvPr id="4" name="Slide Number Placeholder 3">
            <a:extLst>
              <a:ext uri="{FF2B5EF4-FFF2-40B4-BE49-F238E27FC236}">
                <a16:creationId xmlns:a16="http://schemas.microsoft.com/office/drawing/2014/main" id="{3E339D0B-5D4C-4B2B-A227-EBFA9D83649B}"/>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2991041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1DFCE-0BC8-4C48-96F1-A15D1A10DA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FAD6C2-6ED0-4774-B2DF-CA8B01241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13F1B1-45DF-4EC0-915A-D47CEEFC8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A51846-DD58-4C59-9AF9-0C2F09339C88}"/>
              </a:ext>
            </a:extLst>
          </p:cNvPr>
          <p:cNvSpPr>
            <a:spLocks noGrp="1"/>
          </p:cNvSpPr>
          <p:nvPr>
            <p:ph type="dt" sz="half" idx="10"/>
          </p:nvPr>
        </p:nvSpPr>
        <p:spPr/>
        <p:txBody>
          <a:bodyPr/>
          <a:lstStyle/>
          <a:p>
            <a:fld id="{A8DAEB36-4D56-4DEC-A10E-D17215E428FD}" type="datetime1">
              <a:rPr lang="en-US" smtClean="0"/>
              <a:t>2/21/2025</a:t>
            </a:fld>
            <a:endParaRPr lang="en-US"/>
          </a:p>
        </p:txBody>
      </p:sp>
      <p:sp>
        <p:nvSpPr>
          <p:cNvPr id="6" name="Footer Placeholder 5">
            <a:extLst>
              <a:ext uri="{FF2B5EF4-FFF2-40B4-BE49-F238E27FC236}">
                <a16:creationId xmlns:a16="http://schemas.microsoft.com/office/drawing/2014/main" id="{E8E40C34-EE9F-4E88-A933-604E59CD22AE}"/>
              </a:ext>
            </a:extLst>
          </p:cNvPr>
          <p:cNvSpPr>
            <a:spLocks noGrp="1"/>
          </p:cNvSpPr>
          <p:nvPr>
            <p:ph type="ftr" sz="quarter" idx="11"/>
          </p:nvPr>
        </p:nvSpPr>
        <p:spPr/>
        <p:txBody>
          <a:bodyPr/>
          <a:lstStyle/>
          <a:p>
            <a:r>
              <a:rPr lang="en-US"/>
              <a:t>SBU - ISE 218 - Fundamentals of Information Technology </a:t>
            </a:r>
          </a:p>
        </p:txBody>
      </p:sp>
      <p:sp>
        <p:nvSpPr>
          <p:cNvPr id="7" name="Slide Number Placeholder 6">
            <a:extLst>
              <a:ext uri="{FF2B5EF4-FFF2-40B4-BE49-F238E27FC236}">
                <a16:creationId xmlns:a16="http://schemas.microsoft.com/office/drawing/2014/main" id="{5068A9A2-131D-4BB0-B80B-3C8027DCD547}"/>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316518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E6532-7D5A-4F24-8F2C-A8158C196D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FBAF62-BA96-46D4-B922-AB479B8593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256514-C236-4590-A2D8-10881ED8EB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B2496-8EED-404D-B53C-83277119F05F}"/>
              </a:ext>
            </a:extLst>
          </p:cNvPr>
          <p:cNvSpPr>
            <a:spLocks noGrp="1"/>
          </p:cNvSpPr>
          <p:nvPr>
            <p:ph type="dt" sz="half" idx="10"/>
          </p:nvPr>
        </p:nvSpPr>
        <p:spPr/>
        <p:txBody>
          <a:bodyPr/>
          <a:lstStyle/>
          <a:p>
            <a:fld id="{6F592DBE-A30F-43F9-A59A-64A41561BB93}" type="datetime1">
              <a:rPr lang="en-US" smtClean="0"/>
              <a:t>2/21/2025</a:t>
            </a:fld>
            <a:endParaRPr lang="en-US"/>
          </a:p>
        </p:txBody>
      </p:sp>
      <p:sp>
        <p:nvSpPr>
          <p:cNvPr id="6" name="Footer Placeholder 5">
            <a:extLst>
              <a:ext uri="{FF2B5EF4-FFF2-40B4-BE49-F238E27FC236}">
                <a16:creationId xmlns:a16="http://schemas.microsoft.com/office/drawing/2014/main" id="{D7F67E4B-1DC6-4736-A41B-C8DCBB74B27D}"/>
              </a:ext>
            </a:extLst>
          </p:cNvPr>
          <p:cNvSpPr>
            <a:spLocks noGrp="1"/>
          </p:cNvSpPr>
          <p:nvPr>
            <p:ph type="ftr" sz="quarter" idx="11"/>
          </p:nvPr>
        </p:nvSpPr>
        <p:spPr/>
        <p:txBody>
          <a:bodyPr/>
          <a:lstStyle/>
          <a:p>
            <a:r>
              <a:rPr lang="en-US"/>
              <a:t>SBU - ISE 218 - Fundamentals of Information Technology </a:t>
            </a:r>
          </a:p>
        </p:txBody>
      </p:sp>
      <p:sp>
        <p:nvSpPr>
          <p:cNvPr id="7" name="Slide Number Placeholder 6">
            <a:extLst>
              <a:ext uri="{FF2B5EF4-FFF2-40B4-BE49-F238E27FC236}">
                <a16:creationId xmlns:a16="http://schemas.microsoft.com/office/drawing/2014/main" id="{30ECB01B-DF12-402B-89AC-AF91FEC92C13}"/>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2330482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CB84E-888D-4F9A-85E5-6388C13EB0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349A5-22B1-47B7-9E1F-04AC873097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3F820-453D-44B5-8C71-0365D9F59D99}"/>
              </a:ext>
            </a:extLst>
          </p:cNvPr>
          <p:cNvSpPr>
            <a:spLocks noGrp="1"/>
          </p:cNvSpPr>
          <p:nvPr>
            <p:ph type="dt" sz="half" idx="10"/>
          </p:nvPr>
        </p:nvSpPr>
        <p:spPr/>
        <p:txBody>
          <a:bodyPr/>
          <a:lstStyle/>
          <a:p>
            <a:fld id="{9227C459-A0BF-4A84-AC0A-2E74414E9743}" type="datetime1">
              <a:rPr lang="en-US" smtClean="0"/>
              <a:t>2/21/2025</a:t>
            </a:fld>
            <a:endParaRPr lang="en-US"/>
          </a:p>
        </p:txBody>
      </p:sp>
      <p:sp>
        <p:nvSpPr>
          <p:cNvPr id="5" name="Footer Placeholder 4">
            <a:extLst>
              <a:ext uri="{FF2B5EF4-FFF2-40B4-BE49-F238E27FC236}">
                <a16:creationId xmlns:a16="http://schemas.microsoft.com/office/drawing/2014/main" id="{0F35CB4D-5ADC-4208-AC35-9FECC85D9ED8}"/>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EF319356-4D3A-432C-8826-6BA351179143}"/>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179320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722666-5FCA-46DF-B40C-B6CE07805C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6670A1-A92E-4A8B-85D7-97D77FAA86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BA3513-98CA-4471-9C42-AA8D16672656}"/>
              </a:ext>
            </a:extLst>
          </p:cNvPr>
          <p:cNvSpPr>
            <a:spLocks noGrp="1"/>
          </p:cNvSpPr>
          <p:nvPr>
            <p:ph type="dt" sz="half" idx="10"/>
          </p:nvPr>
        </p:nvSpPr>
        <p:spPr/>
        <p:txBody>
          <a:bodyPr/>
          <a:lstStyle/>
          <a:p>
            <a:fld id="{6FA28B79-559E-4700-8983-E4BD2C4AEFDC}" type="datetime1">
              <a:rPr lang="en-US" smtClean="0"/>
              <a:t>2/21/2025</a:t>
            </a:fld>
            <a:endParaRPr lang="en-US"/>
          </a:p>
        </p:txBody>
      </p:sp>
      <p:sp>
        <p:nvSpPr>
          <p:cNvPr id="5" name="Footer Placeholder 4">
            <a:extLst>
              <a:ext uri="{FF2B5EF4-FFF2-40B4-BE49-F238E27FC236}">
                <a16:creationId xmlns:a16="http://schemas.microsoft.com/office/drawing/2014/main" id="{377FB513-6C57-4B3E-9F31-159197A6E154}"/>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7A3CC601-8B12-429C-9FE3-A9B6E847A877}"/>
              </a:ext>
            </a:extLst>
          </p:cNvPr>
          <p:cNvSpPr>
            <a:spLocks noGrp="1"/>
          </p:cNvSpPr>
          <p:nvPr>
            <p:ph type="sldNum" sz="quarter" idx="12"/>
          </p:nvPr>
        </p:nvSpPr>
        <p:spPr/>
        <p:txBody>
          <a:bodyPr/>
          <a:lstStyle/>
          <a:p>
            <a:fld id="{F51CCBE7-ABD4-48B2-BA38-8FA2BA66BB34}" type="slidenum">
              <a:rPr lang="en-US" smtClean="0"/>
              <a:t>‹#›</a:t>
            </a:fld>
            <a:endParaRPr lang="en-US"/>
          </a:p>
        </p:txBody>
      </p:sp>
    </p:spTree>
    <p:extLst>
      <p:ext uri="{BB962C8B-B14F-4D97-AF65-F5344CB8AC3E}">
        <p14:creationId xmlns:p14="http://schemas.microsoft.com/office/powerpoint/2010/main" val="652821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BD82A6-1248-40E8-A285-DBB266BD6A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983B0B-81ED-44B1-A750-C0CE351310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AF51E6-385C-4180-A65A-436D033937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B4E95D-0915-40D0-96CA-F61CAE9A3566}" type="datetime1">
              <a:rPr lang="en-US" smtClean="0"/>
              <a:t>2/21/2025</a:t>
            </a:fld>
            <a:endParaRPr lang="en-US"/>
          </a:p>
        </p:txBody>
      </p:sp>
      <p:sp>
        <p:nvSpPr>
          <p:cNvPr id="5" name="Footer Placeholder 4">
            <a:extLst>
              <a:ext uri="{FF2B5EF4-FFF2-40B4-BE49-F238E27FC236}">
                <a16:creationId xmlns:a16="http://schemas.microsoft.com/office/drawing/2014/main" id="{90BAA666-A842-43EF-991C-2D78370376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C89A9C91-37CC-438D-9B9A-BB0C12F425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1CCBE7-ABD4-48B2-BA38-8FA2BA66BB34}" type="slidenum">
              <a:rPr lang="en-US" smtClean="0"/>
              <a:t>‹#›</a:t>
            </a:fld>
            <a:endParaRPr lang="en-US"/>
          </a:p>
        </p:txBody>
      </p:sp>
    </p:spTree>
    <p:extLst>
      <p:ext uri="{BB962C8B-B14F-4D97-AF65-F5344CB8AC3E}">
        <p14:creationId xmlns:p14="http://schemas.microsoft.com/office/powerpoint/2010/main" val="3425544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1" descr="Text, letter&#10;&#10;Description automatically generated">
            <a:extLst>
              <a:ext uri="{FF2B5EF4-FFF2-40B4-BE49-F238E27FC236}">
                <a16:creationId xmlns:a16="http://schemas.microsoft.com/office/drawing/2014/main" id="{E00B5315-1DCF-0FCD-0AF4-436BC7B08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3" y="1122232"/>
            <a:ext cx="5982803" cy="2213635"/>
          </a:xfrm>
          <a:prstGeom prst="rect">
            <a:avLst/>
          </a:prstGeom>
        </p:spPr>
      </p:pic>
      <p:sp>
        <p:nvSpPr>
          <p:cNvPr id="2" name="Title 1">
            <a:extLst>
              <a:ext uri="{FF2B5EF4-FFF2-40B4-BE49-F238E27FC236}">
                <a16:creationId xmlns:a16="http://schemas.microsoft.com/office/drawing/2014/main" id="{F472E598-3A9F-494B-94CA-04DD070C9E1E}"/>
              </a:ext>
            </a:extLst>
          </p:cNvPr>
          <p:cNvSpPr>
            <a:spLocks noGrp="1"/>
          </p:cNvSpPr>
          <p:nvPr>
            <p:ph type="ctrTitle"/>
          </p:nvPr>
        </p:nvSpPr>
        <p:spPr>
          <a:xfrm>
            <a:off x="1289303" y="3429000"/>
            <a:ext cx="10080312" cy="1713305"/>
          </a:xfrm>
        </p:spPr>
        <p:txBody>
          <a:bodyPr anchor="b">
            <a:normAutofit/>
          </a:bodyPr>
          <a:lstStyle/>
          <a:p>
            <a:pPr algn="l"/>
            <a:r>
              <a:rPr lang="en-US" sz="3800" dirty="0"/>
              <a:t>ISE 218: Fundamentals of Information Technology</a:t>
            </a:r>
            <a:br>
              <a:rPr lang="en-US" sz="3800" dirty="0"/>
            </a:br>
            <a:r>
              <a:rPr lang="en-US" sz="3800" dirty="0"/>
              <a:t>Unit 01: Hardware Basics</a:t>
            </a:r>
          </a:p>
        </p:txBody>
      </p:sp>
      <p:sp>
        <p:nvSpPr>
          <p:cNvPr id="7" name="Google Shape;90;p1">
            <a:extLst>
              <a:ext uri="{FF2B5EF4-FFF2-40B4-BE49-F238E27FC236}">
                <a16:creationId xmlns:a16="http://schemas.microsoft.com/office/drawing/2014/main" id="{52074129-F959-CF86-FC21-E5726E6F3F89}"/>
              </a:ext>
            </a:extLst>
          </p:cNvPr>
          <p:cNvSpPr txBox="1">
            <a:spLocks/>
          </p:cNvSpPr>
          <p:nvPr/>
        </p:nvSpPr>
        <p:spPr>
          <a:xfrm>
            <a:off x="1289303" y="5142305"/>
            <a:ext cx="7321200" cy="1096800"/>
          </a:xfrm>
          <a:prstGeom prst="rect">
            <a:avLst/>
          </a:prstGeom>
          <a:noFill/>
          <a:ln>
            <a:noFill/>
          </a:ln>
        </p:spPr>
        <p:txBody>
          <a:bodyPr spcFirstLastPara="1" vert="horz" wrap="square" lIns="91425" tIns="45700" rIns="91425" bIns="4570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buClr>
                <a:schemeClr val="dk1"/>
              </a:buClr>
              <a:buSzPts val="1900"/>
            </a:pPr>
            <a:r>
              <a:rPr lang="en-US" sz="1800"/>
              <a:t>Spring 2025</a:t>
            </a:r>
          </a:p>
          <a:p>
            <a:pPr algn="l">
              <a:buClr>
                <a:schemeClr val="dk1"/>
              </a:buClr>
              <a:buSzPts val="1900"/>
            </a:pPr>
            <a:r>
              <a:rPr lang="en-US" sz="1800"/>
              <a:t>Instructor: Abid Malik</a:t>
            </a:r>
          </a:p>
          <a:p>
            <a:pPr algn="l">
              <a:buClr>
                <a:schemeClr val="dk1"/>
              </a:buClr>
              <a:buSzPts val="1900"/>
            </a:pPr>
            <a:r>
              <a:rPr lang="en-US" sz="1800"/>
              <a:t>co-Instructor: Xinrui Yu</a:t>
            </a:r>
          </a:p>
        </p:txBody>
      </p:sp>
    </p:spTree>
    <p:extLst>
      <p:ext uri="{BB962C8B-B14F-4D97-AF65-F5344CB8AC3E}">
        <p14:creationId xmlns:p14="http://schemas.microsoft.com/office/powerpoint/2010/main" val="325237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767178" y="1443885"/>
            <a:ext cx="10515600" cy="4351338"/>
          </a:xfrm>
        </p:spPr>
        <p:txBody>
          <a:bodyPr/>
          <a:lstStyle/>
          <a:p>
            <a:r>
              <a:rPr lang="en-US" altLang="en-US" dirty="0"/>
              <a:t>Computer organization</a:t>
            </a:r>
          </a:p>
          <a:p>
            <a:pPr lvl="1"/>
            <a:r>
              <a:rPr lang="en-US" altLang="en-US" dirty="0"/>
              <a:t>Encompasses all physical aspects of computer systems.</a:t>
            </a:r>
          </a:p>
          <a:p>
            <a:pPr lvl="1"/>
            <a:r>
              <a:rPr lang="en-US" altLang="en-US" dirty="0"/>
              <a:t>Circuit design, control signals, memory types.</a:t>
            </a:r>
          </a:p>
          <a:p>
            <a:pPr lvl="1"/>
            <a:r>
              <a:rPr lang="en-US" altLang="en-US" i="1" dirty="0"/>
              <a:t>How does a computer work?</a:t>
            </a:r>
          </a:p>
          <a:p>
            <a:r>
              <a:rPr lang="en-US" altLang="en-US" dirty="0"/>
              <a:t>Computer architecture</a:t>
            </a:r>
          </a:p>
          <a:p>
            <a:pPr lvl="1"/>
            <a:r>
              <a:rPr lang="en-US" altLang="en-US" dirty="0"/>
              <a:t>Logical aspects of system implementation as seen by the programmer</a:t>
            </a:r>
          </a:p>
          <a:p>
            <a:r>
              <a:rPr lang="en-US" altLang="en-US" dirty="0"/>
              <a:t>Both provide a foundation for understanding many aspects of various hardware devices</a:t>
            </a:r>
          </a:p>
          <a:p>
            <a:r>
              <a:rPr lang="en-US" altLang="en-US" dirty="0"/>
              <a:t>There is no clear distinction between matters related to computer organization and matters relevant to computer architecture.</a:t>
            </a:r>
          </a:p>
          <a:p>
            <a:endParaRPr lang="en-US" dirty="0"/>
          </a:p>
        </p:txBody>
      </p:sp>
      <p:sp>
        <p:nvSpPr>
          <p:cNvPr id="4" name="Footer Placeholder 3">
            <a:extLst>
              <a:ext uri="{FF2B5EF4-FFF2-40B4-BE49-F238E27FC236}">
                <a16:creationId xmlns:a16="http://schemas.microsoft.com/office/drawing/2014/main" id="{768F6E2A-0E12-47B1-BA8F-A97C2EAE4AA8}"/>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2BD8C568-C062-42AC-9D07-5196AC9D6792}"/>
              </a:ext>
            </a:extLst>
          </p:cNvPr>
          <p:cNvSpPr>
            <a:spLocks noGrp="1"/>
          </p:cNvSpPr>
          <p:nvPr>
            <p:ph type="sldNum" sz="quarter" idx="12"/>
          </p:nvPr>
        </p:nvSpPr>
        <p:spPr/>
        <p:txBody>
          <a:bodyPr/>
          <a:lstStyle/>
          <a:p>
            <a:fld id="{F51CCBE7-ABD4-48B2-BA38-8FA2BA66BB34}" type="slidenum">
              <a:rPr lang="en-US" smtClean="0"/>
              <a:t>2</a:t>
            </a:fld>
            <a:endParaRPr lang="en-US"/>
          </a:p>
        </p:txBody>
      </p:sp>
    </p:spTree>
    <p:extLst>
      <p:ext uri="{BB962C8B-B14F-4D97-AF65-F5344CB8AC3E}">
        <p14:creationId xmlns:p14="http://schemas.microsoft.com/office/powerpoint/2010/main" val="782218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767178" y="1461641"/>
            <a:ext cx="10515600" cy="4351338"/>
          </a:xfrm>
        </p:spPr>
        <p:txBody>
          <a:bodyPr/>
          <a:lstStyle/>
          <a:p>
            <a:r>
              <a:rPr lang="en-US" dirty="0"/>
              <a:t>Why study computer hardware, including computer organization and architecture?</a:t>
            </a:r>
          </a:p>
          <a:p>
            <a:pPr lvl="1"/>
            <a:r>
              <a:rPr lang="en-US" dirty="0"/>
              <a:t>Inform product selection/procurement</a:t>
            </a:r>
          </a:p>
          <a:p>
            <a:pPr lvl="1"/>
            <a:r>
              <a:rPr lang="en-US" dirty="0"/>
              <a:t>Predict life of devices</a:t>
            </a:r>
          </a:p>
          <a:p>
            <a:pPr lvl="1"/>
            <a:r>
              <a:rPr lang="en-US" dirty="0"/>
              <a:t>Understand system performance and various trade-offs</a:t>
            </a:r>
          </a:p>
          <a:p>
            <a:pPr lvl="1"/>
            <a:r>
              <a:rPr lang="en-US" dirty="0"/>
              <a:t>Effectively communicate with vendors / internal CS staff</a:t>
            </a:r>
          </a:p>
          <a:p>
            <a:endParaRPr lang="en-US" dirty="0"/>
          </a:p>
          <a:p>
            <a:endParaRPr lang="en-US" dirty="0"/>
          </a:p>
        </p:txBody>
      </p:sp>
      <p:sp>
        <p:nvSpPr>
          <p:cNvPr id="4" name="Footer Placeholder 3">
            <a:extLst>
              <a:ext uri="{FF2B5EF4-FFF2-40B4-BE49-F238E27FC236}">
                <a16:creationId xmlns:a16="http://schemas.microsoft.com/office/drawing/2014/main" id="{1A950F0C-9DCC-4582-85F6-1AF65A76407C}"/>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F4979473-C341-4AC1-9ABD-A0E22C8C5652}"/>
              </a:ext>
            </a:extLst>
          </p:cNvPr>
          <p:cNvSpPr>
            <a:spLocks noGrp="1"/>
          </p:cNvSpPr>
          <p:nvPr>
            <p:ph type="sldNum" sz="quarter" idx="12"/>
          </p:nvPr>
        </p:nvSpPr>
        <p:spPr/>
        <p:txBody>
          <a:bodyPr/>
          <a:lstStyle/>
          <a:p>
            <a:fld id="{F51CCBE7-ABD4-48B2-BA38-8FA2BA66BB34}" type="slidenum">
              <a:rPr lang="en-US" smtClean="0"/>
              <a:t>3</a:t>
            </a:fld>
            <a:endParaRPr lang="en-US"/>
          </a:p>
        </p:txBody>
      </p:sp>
    </p:spTree>
    <p:extLst>
      <p:ext uri="{BB962C8B-B14F-4D97-AF65-F5344CB8AC3E}">
        <p14:creationId xmlns:p14="http://schemas.microsoft.com/office/powerpoint/2010/main" val="318837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Computer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427085"/>
            <a:ext cx="10972800" cy="5334000"/>
          </a:xfrm>
        </p:spPr>
        <p:txBody>
          <a:bodyPr>
            <a:normAutofit/>
          </a:bodyPr>
          <a:lstStyle/>
          <a:p>
            <a:r>
              <a:rPr lang="en-US" altLang="en-US" dirty="0"/>
              <a:t>At the most basic level, a computer is a device consisting of three pieces:</a:t>
            </a:r>
          </a:p>
          <a:p>
            <a:pPr lvl="1"/>
            <a:r>
              <a:rPr lang="en-US" altLang="en-US" dirty="0"/>
              <a:t>A processor to interpret and execute programs</a:t>
            </a:r>
          </a:p>
          <a:p>
            <a:pPr lvl="1"/>
            <a:r>
              <a:rPr lang="en-US" altLang="en-US" dirty="0"/>
              <a:t>A memory to store both data and programs</a:t>
            </a:r>
          </a:p>
          <a:p>
            <a:pPr lvl="1"/>
            <a:r>
              <a:rPr lang="en-US" altLang="en-US" dirty="0"/>
              <a:t>A mechanism for transferring data to and from the outside world</a:t>
            </a:r>
          </a:p>
          <a:p>
            <a:r>
              <a:rPr lang="en-US" altLang="en-US" dirty="0"/>
              <a:t>The processor has several sub-parts we will see later in this Unit:</a:t>
            </a:r>
          </a:p>
          <a:p>
            <a:pPr lvl="1"/>
            <a:r>
              <a:rPr lang="en-US" altLang="en-US" dirty="0"/>
              <a:t>Arithmetic/logic unit (ALU), which does the computations</a:t>
            </a:r>
          </a:p>
          <a:p>
            <a:pPr lvl="1"/>
            <a:r>
              <a:rPr lang="en-US" altLang="en-US" dirty="0"/>
              <a:t>Control unit, which directs the operation of the processor</a:t>
            </a:r>
          </a:p>
          <a:p>
            <a:pPr lvl="1"/>
            <a:r>
              <a:rPr lang="en-US" altLang="en-US" dirty="0"/>
              <a:t>Registers, small memory banks for temporarily holding data values</a:t>
            </a:r>
          </a:p>
          <a:p>
            <a:pPr marL="114300" indent="0">
              <a:buNone/>
            </a:pPr>
            <a:endParaRPr lang="en-US" dirty="0"/>
          </a:p>
        </p:txBody>
      </p:sp>
      <p:sp>
        <p:nvSpPr>
          <p:cNvPr id="4" name="Footer Placeholder 3">
            <a:extLst>
              <a:ext uri="{FF2B5EF4-FFF2-40B4-BE49-F238E27FC236}">
                <a16:creationId xmlns:a16="http://schemas.microsoft.com/office/drawing/2014/main" id="{B2B4EAEC-A1AD-4217-A14D-AD831F554173}"/>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16AB8A1E-ACB5-4C61-927D-F766106B4515}"/>
              </a:ext>
            </a:extLst>
          </p:cNvPr>
          <p:cNvSpPr>
            <a:spLocks noGrp="1"/>
          </p:cNvSpPr>
          <p:nvPr>
            <p:ph type="sldNum" sz="quarter" idx="12"/>
          </p:nvPr>
        </p:nvSpPr>
        <p:spPr/>
        <p:txBody>
          <a:bodyPr/>
          <a:lstStyle/>
          <a:p>
            <a:fld id="{F51CCBE7-ABD4-48B2-BA38-8FA2BA66BB34}" type="slidenum">
              <a:rPr lang="en-US" smtClean="0"/>
              <a:t>4</a:t>
            </a:fld>
            <a:endParaRPr lang="en-US"/>
          </a:p>
        </p:txBody>
      </p:sp>
    </p:spTree>
    <p:extLst>
      <p:ext uri="{BB962C8B-B14F-4D97-AF65-F5344CB8AC3E}">
        <p14:creationId xmlns:p14="http://schemas.microsoft.com/office/powerpoint/2010/main" val="1668390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Computer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373820"/>
            <a:ext cx="10972800" cy="5181199"/>
          </a:xfrm>
        </p:spPr>
        <p:txBody>
          <a:bodyPr>
            <a:normAutofit/>
          </a:bodyPr>
          <a:lstStyle/>
          <a:p>
            <a:r>
              <a:rPr lang="en-US" altLang="en-US" dirty="0"/>
              <a:t>The memory is arranged in a hierarchy:</a:t>
            </a:r>
          </a:p>
          <a:p>
            <a:pPr lvl="1"/>
            <a:r>
              <a:rPr lang="en-US" altLang="en-US" dirty="0"/>
              <a:t>Registers: small, fast, temporary storage</a:t>
            </a:r>
          </a:p>
          <a:p>
            <a:pPr lvl="1"/>
            <a:r>
              <a:rPr lang="en-US" altLang="en-US" dirty="0"/>
              <a:t>Main memory: larger, slower, temporary storage</a:t>
            </a:r>
          </a:p>
          <a:p>
            <a:pPr lvl="1"/>
            <a:r>
              <a:rPr lang="en-US" altLang="en-US" dirty="0"/>
              <a:t>Hard disks/solid state disks: much larger, slower, permanent storage</a:t>
            </a:r>
          </a:p>
          <a:p>
            <a:r>
              <a:rPr lang="en-US" dirty="0"/>
              <a:t>All these various components are connected via communication lines called buses</a:t>
            </a:r>
          </a:p>
        </p:txBody>
      </p:sp>
      <p:sp>
        <p:nvSpPr>
          <p:cNvPr id="4" name="Footer Placeholder 3">
            <a:extLst>
              <a:ext uri="{FF2B5EF4-FFF2-40B4-BE49-F238E27FC236}">
                <a16:creationId xmlns:a16="http://schemas.microsoft.com/office/drawing/2014/main" id="{F92FE109-DDE6-4C12-8BF2-40580111C976}"/>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B217E302-64A7-4162-AFFC-F372C45CF53D}"/>
              </a:ext>
            </a:extLst>
          </p:cNvPr>
          <p:cNvSpPr>
            <a:spLocks noGrp="1"/>
          </p:cNvSpPr>
          <p:nvPr>
            <p:ph type="sldNum" sz="quarter" idx="12"/>
          </p:nvPr>
        </p:nvSpPr>
        <p:spPr/>
        <p:txBody>
          <a:bodyPr/>
          <a:lstStyle/>
          <a:p>
            <a:fld id="{F51CCBE7-ABD4-48B2-BA38-8FA2BA66BB34}" type="slidenum">
              <a:rPr lang="en-US" smtClean="0"/>
              <a:t>5</a:t>
            </a:fld>
            <a:endParaRPr lang="en-US"/>
          </a:p>
        </p:txBody>
      </p:sp>
    </p:spTree>
    <p:extLst>
      <p:ext uri="{BB962C8B-B14F-4D97-AF65-F5344CB8AC3E}">
        <p14:creationId xmlns:p14="http://schemas.microsoft.com/office/powerpoint/2010/main" val="18036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An Example System</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5806328"/>
            <a:ext cx="10972800" cy="839788"/>
          </a:xfrm>
        </p:spPr>
        <p:txBody>
          <a:bodyPr/>
          <a:lstStyle/>
          <a:p>
            <a:r>
              <a:rPr lang="en-US" altLang="en-US" dirty="0"/>
              <a:t>What does all this jargon mean???</a:t>
            </a:r>
          </a:p>
          <a:p>
            <a:endParaRPr lang="en-US" dirty="0"/>
          </a:p>
        </p:txBody>
      </p:sp>
      <p:pic>
        <p:nvPicPr>
          <p:cNvPr id="4" name="Picture 10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6466" y="1396371"/>
            <a:ext cx="8596808" cy="4418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sp>
        <p:nvSpPr>
          <p:cNvPr id="5" name="Oval 9"/>
          <p:cNvSpPr>
            <a:spLocks noChangeArrowheads="1"/>
          </p:cNvSpPr>
          <p:nvPr/>
        </p:nvSpPr>
        <p:spPr bwMode="auto">
          <a:xfrm rot="1054985">
            <a:off x="7233679" y="2179531"/>
            <a:ext cx="1400086" cy="685800"/>
          </a:xfrm>
          <a:prstGeom prst="ellipse">
            <a:avLst/>
          </a:prstGeom>
          <a:solidFill>
            <a:schemeClr val="accent2">
              <a:lumMod val="20000"/>
              <a:lumOff val="80000"/>
            </a:schemeClr>
          </a:solidFill>
          <a:ln w="6350">
            <a:solidFill>
              <a:schemeClr val="tx1"/>
            </a:solidFill>
            <a:round/>
            <a:headEnd/>
            <a:tailEnd/>
          </a:ln>
          <a:effectLst/>
        </p:spPr>
        <p:txBody>
          <a:bodyPr wrap="none" anchor="ctr"/>
          <a:lstStyle/>
          <a:p>
            <a:pPr algn="ctr"/>
            <a:r>
              <a:rPr lang="en-US" altLang="en-US" sz="2800" b="1" dirty="0">
                <a:latin typeface="+mj-lt"/>
              </a:rPr>
              <a:t>GB?</a:t>
            </a:r>
            <a:endParaRPr lang="en-US" altLang="en-US" sz="2400" b="1" dirty="0">
              <a:latin typeface="+mj-lt"/>
            </a:endParaRPr>
          </a:p>
        </p:txBody>
      </p:sp>
      <p:sp>
        <p:nvSpPr>
          <p:cNvPr id="6" name="Oval 10"/>
          <p:cNvSpPr>
            <a:spLocks noChangeArrowheads="1"/>
          </p:cNvSpPr>
          <p:nvPr/>
        </p:nvSpPr>
        <p:spPr bwMode="auto">
          <a:xfrm rot="-941193">
            <a:off x="3562435" y="3596767"/>
            <a:ext cx="1905000" cy="685800"/>
          </a:xfrm>
          <a:prstGeom prst="ellipse">
            <a:avLst/>
          </a:prstGeom>
          <a:solidFill>
            <a:schemeClr val="accent2">
              <a:lumMod val="20000"/>
              <a:lumOff val="80000"/>
            </a:schemeClr>
          </a:solidFill>
          <a:ln w="6350">
            <a:solidFill>
              <a:schemeClr val="tx1"/>
            </a:solidFill>
            <a:round/>
            <a:headEnd/>
            <a:tailEnd/>
          </a:ln>
          <a:effectLst/>
        </p:spPr>
        <p:txBody>
          <a:bodyPr wrap="none" anchor="ctr"/>
          <a:lstStyle/>
          <a:p>
            <a:pPr algn="ctr"/>
            <a:r>
              <a:rPr lang="en-US" altLang="en-US" sz="2800" b="1" dirty="0">
                <a:latin typeface="+mj-lt"/>
              </a:rPr>
              <a:t>PCI?</a:t>
            </a:r>
            <a:endParaRPr lang="en-US" altLang="en-US" sz="2400" b="1" dirty="0">
              <a:latin typeface="+mj-lt"/>
            </a:endParaRPr>
          </a:p>
        </p:txBody>
      </p:sp>
      <p:sp>
        <p:nvSpPr>
          <p:cNvPr id="7" name="Oval 11"/>
          <p:cNvSpPr>
            <a:spLocks noChangeArrowheads="1"/>
          </p:cNvSpPr>
          <p:nvPr/>
        </p:nvSpPr>
        <p:spPr bwMode="auto">
          <a:xfrm rot="1397363">
            <a:off x="6915964" y="4240295"/>
            <a:ext cx="1905000" cy="685800"/>
          </a:xfrm>
          <a:prstGeom prst="ellipse">
            <a:avLst/>
          </a:prstGeom>
          <a:solidFill>
            <a:schemeClr val="accent2">
              <a:lumMod val="20000"/>
              <a:lumOff val="80000"/>
            </a:schemeClr>
          </a:solidFill>
          <a:ln w="6350">
            <a:solidFill>
              <a:schemeClr val="tx1"/>
            </a:solidFill>
            <a:round/>
            <a:headEnd/>
            <a:tailEnd/>
          </a:ln>
          <a:effectLst/>
        </p:spPr>
        <p:txBody>
          <a:bodyPr wrap="none" anchor="ctr"/>
          <a:lstStyle/>
          <a:p>
            <a:pPr algn="ctr"/>
            <a:r>
              <a:rPr lang="en-US" altLang="en-US" sz="2800" b="1" dirty="0">
                <a:latin typeface="+mj-lt"/>
              </a:rPr>
              <a:t>SATA?</a:t>
            </a:r>
            <a:endParaRPr lang="en-US" altLang="en-US" sz="2400" b="1" dirty="0">
              <a:latin typeface="+mj-lt"/>
            </a:endParaRPr>
          </a:p>
        </p:txBody>
      </p:sp>
      <p:sp>
        <p:nvSpPr>
          <p:cNvPr id="8" name="Oval 12"/>
          <p:cNvSpPr>
            <a:spLocks noChangeArrowheads="1"/>
          </p:cNvSpPr>
          <p:nvPr/>
        </p:nvSpPr>
        <p:spPr bwMode="auto">
          <a:xfrm rot="-1518762">
            <a:off x="475435" y="2463800"/>
            <a:ext cx="2286000" cy="685800"/>
          </a:xfrm>
          <a:prstGeom prst="ellipse">
            <a:avLst/>
          </a:prstGeom>
          <a:solidFill>
            <a:schemeClr val="accent2">
              <a:lumMod val="20000"/>
              <a:lumOff val="80000"/>
            </a:schemeClr>
          </a:solidFill>
          <a:ln w="6350">
            <a:solidFill>
              <a:schemeClr val="tx1"/>
            </a:solidFill>
            <a:round/>
            <a:headEnd/>
            <a:tailEnd/>
          </a:ln>
          <a:effectLst/>
        </p:spPr>
        <p:txBody>
          <a:bodyPr wrap="none" anchor="ctr"/>
          <a:lstStyle/>
          <a:p>
            <a:pPr algn="ctr"/>
            <a:r>
              <a:rPr lang="en-US" altLang="en-US" sz="2800" b="1" dirty="0">
                <a:latin typeface="+mj-lt"/>
              </a:rPr>
              <a:t>L1 Cache?</a:t>
            </a:r>
            <a:endParaRPr lang="en-US" altLang="en-US" sz="2400" b="1" dirty="0">
              <a:latin typeface="+mj-lt"/>
            </a:endParaRPr>
          </a:p>
        </p:txBody>
      </p:sp>
      <p:sp>
        <p:nvSpPr>
          <p:cNvPr id="9" name="Footer Placeholder 8">
            <a:extLst>
              <a:ext uri="{FF2B5EF4-FFF2-40B4-BE49-F238E27FC236}">
                <a16:creationId xmlns:a16="http://schemas.microsoft.com/office/drawing/2014/main" id="{BDEF7B22-54D2-4944-8241-3F1FB3DFE96E}"/>
              </a:ext>
            </a:extLst>
          </p:cNvPr>
          <p:cNvSpPr>
            <a:spLocks noGrp="1"/>
          </p:cNvSpPr>
          <p:nvPr>
            <p:ph type="ftr" sz="quarter" idx="11"/>
          </p:nvPr>
        </p:nvSpPr>
        <p:spPr/>
        <p:txBody>
          <a:bodyPr/>
          <a:lstStyle/>
          <a:p>
            <a:r>
              <a:rPr lang="en-US"/>
              <a:t>SBU - ISE 218 - Fundamentals of Information Technology </a:t>
            </a:r>
          </a:p>
        </p:txBody>
      </p:sp>
      <p:sp>
        <p:nvSpPr>
          <p:cNvPr id="10" name="Slide Number Placeholder 9">
            <a:extLst>
              <a:ext uri="{FF2B5EF4-FFF2-40B4-BE49-F238E27FC236}">
                <a16:creationId xmlns:a16="http://schemas.microsoft.com/office/drawing/2014/main" id="{3861C6FB-1C95-4B75-BD71-9EB7D95DB229}"/>
              </a:ext>
            </a:extLst>
          </p:cNvPr>
          <p:cNvSpPr>
            <a:spLocks noGrp="1"/>
          </p:cNvSpPr>
          <p:nvPr>
            <p:ph type="sldNum" sz="quarter" idx="12"/>
          </p:nvPr>
        </p:nvSpPr>
        <p:spPr/>
        <p:txBody>
          <a:bodyPr/>
          <a:lstStyle/>
          <a:p>
            <a:fld id="{F51CCBE7-ABD4-48B2-BA38-8FA2BA66BB34}" type="slidenum">
              <a:rPr lang="en-US" smtClean="0"/>
              <a:t>6</a:t>
            </a:fld>
            <a:endParaRPr lang="en-US"/>
          </a:p>
        </p:txBody>
      </p:sp>
    </p:spTree>
    <p:extLst>
      <p:ext uri="{BB962C8B-B14F-4D97-AF65-F5344CB8AC3E}">
        <p14:creationId xmlns:p14="http://schemas.microsoft.com/office/powerpoint/2010/main" val="756751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Units of Measure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838200" y="1479396"/>
            <a:ext cx="10515600" cy="4351338"/>
          </a:xfrm>
        </p:spPr>
        <p:txBody>
          <a:bodyPr>
            <a:normAutofit lnSpcReduction="10000"/>
          </a:bodyPr>
          <a:lstStyle/>
          <a:p>
            <a:pPr>
              <a:spcBef>
                <a:spcPct val="15000"/>
              </a:spcBef>
            </a:pPr>
            <a:r>
              <a:rPr lang="en-US" altLang="en-US" dirty="0"/>
              <a:t>Measures of capacity and speed:</a:t>
            </a:r>
          </a:p>
          <a:p>
            <a:pPr marL="633413" lvl="1" indent="-231775"/>
            <a:r>
              <a:rPr lang="en-US" altLang="en-US" dirty="0"/>
              <a:t>Kilo- (K) = 1 thousand = 10</a:t>
            </a:r>
            <a:r>
              <a:rPr lang="en-US" altLang="en-US" baseline="30000" dirty="0"/>
              <a:t>3</a:t>
            </a:r>
            <a:r>
              <a:rPr lang="en-US" altLang="en-US" dirty="0"/>
              <a:t> and 2</a:t>
            </a:r>
            <a:r>
              <a:rPr lang="en-US" altLang="en-US" baseline="30000" dirty="0"/>
              <a:t>10</a:t>
            </a:r>
          </a:p>
          <a:p>
            <a:pPr marL="633413" lvl="1" indent="-231775"/>
            <a:r>
              <a:rPr lang="en-US" altLang="en-US" dirty="0"/>
              <a:t>Mega- (M) = 1 million = 10</a:t>
            </a:r>
            <a:r>
              <a:rPr lang="en-US" altLang="en-US" baseline="30000" dirty="0"/>
              <a:t>6</a:t>
            </a:r>
            <a:r>
              <a:rPr lang="en-US" altLang="en-US" dirty="0"/>
              <a:t> and 2</a:t>
            </a:r>
            <a:r>
              <a:rPr lang="en-US" altLang="en-US" baseline="30000" dirty="0"/>
              <a:t>20</a:t>
            </a:r>
          </a:p>
          <a:p>
            <a:pPr marL="633413" lvl="1" indent="-231775"/>
            <a:r>
              <a:rPr lang="en-US" altLang="en-US" dirty="0"/>
              <a:t>Giga- (G) = 1 billion = 10</a:t>
            </a:r>
            <a:r>
              <a:rPr lang="en-US" altLang="en-US" baseline="30000" dirty="0"/>
              <a:t>9</a:t>
            </a:r>
            <a:r>
              <a:rPr lang="en-US" altLang="en-US" dirty="0"/>
              <a:t> and 2</a:t>
            </a:r>
            <a:r>
              <a:rPr lang="en-US" altLang="en-US" baseline="30000" dirty="0"/>
              <a:t>30</a:t>
            </a:r>
          </a:p>
          <a:p>
            <a:pPr marL="633413" lvl="1" indent="-231775"/>
            <a:r>
              <a:rPr lang="en-US" altLang="en-US" dirty="0"/>
              <a:t>Tera- (T) = 1 trillion = 10</a:t>
            </a:r>
            <a:r>
              <a:rPr lang="en-US" altLang="en-US" baseline="30000" dirty="0"/>
              <a:t>12</a:t>
            </a:r>
            <a:r>
              <a:rPr lang="en-US" altLang="en-US" dirty="0"/>
              <a:t> and 2</a:t>
            </a:r>
            <a:r>
              <a:rPr lang="en-US" altLang="en-US" baseline="30000" dirty="0"/>
              <a:t>40</a:t>
            </a:r>
          </a:p>
          <a:p>
            <a:pPr marL="633413" lvl="1" indent="-231775"/>
            <a:r>
              <a:rPr lang="en-US" altLang="en-US" dirty="0"/>
              <a:t>Peta- (P) = 1 quadrillion = 10</a:t>
            </a:r>
            <a:r>
              <a:rPr lang="en-US" altLang="en-US" baseline="30000" dirty="0"/>
              <a:t>15</a:t>
            </a:r>
            <a:r>
              <a:rPr lang="en-US" altLang="en-US" dirty="0"/>
              <a:t> and 2</a:t>
            </a:r>
            <a:r>
              <a:rPr lang="en-US" altLang="en-US" baseline="30000" dirty="0"/>
              <a:t>50</a:t>
            </a:r>
          </a:p>
          <a:p>
            <a:pPr marL="633413" lvl="1" indent="-231775"/>
            <a:r>
              <a:rPr lang="en-US" altLang="en-US" dirty="0" err="1"/>
              <a:t>Exa</a:t>
            </a:r>
            <a:r>
              <a:rPr lang="en-US" altLang="en-US" dirty="0"/>
              <a:t>- (E) = 1 quintillion = 10</a:t>
            </a:r>
            <a:r>
              <a:rPr lang="en-US" altLang="en-US" baseline="30000" dirty="0"/>
              <a:t>18</a:t>
            </a:r>
            <a:r>
              <a:rPr lang="en-US" altLang="en-US" dirty="0"/>
              <a:t> and 2</a:t>
            </a:r>
            <a:r>
              <a:rPr lang="en-US" altLang="en-US" baseline="30000" dirty="0"/>
              <a:t>60</a:t>
            </a:r>
          </a:p>
          <a:p>
            <a:pPr marL="633413" lvl="1" indent="-231775"/>
            <a:r>
              <a:rPr lang="en-US" altLang="en-US" dirty="0" err="1"/>
              <a:t>Zetta</a:t>
            </a:r>
            <a:r>
              <a:rPr lang="en-US" altLang="en-US" dirty="0"/>
              <a:t>- (Z) = 1 sextillion = 10</a:t>
            </a:r>
            <a:r>
              <a:rPr lang="en-US" altLang="en-US" baseline="30000" dirty="0"/>
              <a:t>21</a:t>
            </a:r>
            <a:r>
              <a:rPr lang="en-US" altLang="en-US" dirty="0"/>
              <a:t> and 2</a:t>
            </a:r>
            <a:r>
              <a:rPr lang="en-US" altLang="en-US" baseline="30000" dirty="0"/>
              <a:t>70</a:t>
            </a:r>
          </a:p>
          <a:p>
            <a:pPr marL="633413" lvl="1" indent="-231775"/>
            <a:r>
              <a:rPr lang="en-US" altLang="en-US" dirty="0" err="1"/>
              <a:t>Yotta</a:t>
            </a:r>
            <a:r>
              <a:rPr lang="en-US" altLang="en-US" dirty="0"/>
              <a:t>- (Y) = 1 septillion = 10</a:t>
            </a:r>
            <a:r>
              <a:rPr lang="en-US" altLang="en-US" baseline="30000" dirty="0"/>
              <a:t>24</a:t>
            </a:r>
            <a:r>
              <a:rPr lang="en-US" altLang="en-US" dirty="0"/>
              <a:t> and 2</a:t>
            </a:r>
            <a:r>
              <a:rPr lang="en-US" altLang="en-US" baseline="30000" dirty="0"/>
              <a:t>80</a:t>
            </a:r>
          </a:p>
          <a:p>
            <a:pPr marL="336233" indent="-231775"/>
            <a:r>
              <a:rPr lang="en-US" altLang="en-US" dirty="0"/>
              <a:t>Whether a metric refers to a power of ten or a power of two typically depends upon what is being measured.</a:t>
            </a:r>
          </a:p>
          <a:p>
            <a:endParaRPr lang="en-US" dirty="0"/>
          </a:p>
        </p:txBody>
      </p:sp>
      <p:sp>
        <p:nvSpPr>
          <p:cNvPr id="4" name="Footer Placeholder 3">
            <a:extLst>
              <a:ext uri="{FF2B5EF4-FFF2-40B4-BE49-F238E27FC236}">
                <a16:creationId xmlns:a16="http://schemas.microsoft.com/office/drawing/2014/main" id="{5433DAE3-5568-4D1D-B1F6-27319586C8BA}"/>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483D6624-6B6D-4094-8FFA-94F878028BAF}"/>
              </a:ext>
            </a:extLst>
          </p:cNvPr>
          <p:cNvSpPr>
            <a:spLocks noGrp="1"/>
          </p:cNvSpPr>
          <p:nvPr>
            <p:ph type="sldNum" sz="quarter" idx="12"/>
          </p:nvPr>
        </p:nvSpPr>
        <p:spPr/>
        <p:txBody>
          <a:bodyPr/>
          <a:lstStyle/>
          <a:p>
            <a:fld id="{F51CCBE7-ABD4-48B2-BA38-8FA2BA66BB34}" type="slidenum">
              <a:rPr lang="en-US" smtClean="0"/>
              <a:t>7</a:t>
            </a:fld>
            <a:endParaRPr lang="en-US"/>
          </a:p>
        </p:txBody>
      </p:sp>
    </p:spTree>
    <p:extLst>
      <p:ext uri="{BB962C8B-B14F-4D97-AF65-F5344CB8AC3E}">
        <p14:creationId xmlns:p14="http://schemas.microsoft.com/office/powerpoint/2010/main" val="2052198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An Example System</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926977" y="1559295"/>
            <a:ext cx="10515600" cy="4351338"/>
          </a:xfrm>
        </p:spPr>
        <p:txBody>
          <a:bodyPr/>
          <a:lstStyle/>
          <a:p>
            <a:r>
              <a:rPr lang="en-US" altLang="en-US" dirty="0"/>
              <a:t>Hertz = clock cycles per second (frequency)</a:t>
            </a:r>
          </a:p>
          <a:p>
            <a:pPr lvl="1"/>
            <a:r>
              <a:rPr lang="en-US" altLang="en-US" dirty="0"/>
              <a:t>1MHz = 1,000,000Hz</a:t>
            </a:r>
          </a:p>
          <a:p>
            <a:pPr lvl="1"/>
            <a:r>
              <a:rPr lang="en-US" altLang="en-US" dirty="0"/>
              <a:t>Processor speeds are measured in MHz or GHz.</a:t>
            </a:r>
          </a:p>
          <a:p>
            <a:r>
              <a:rPr lang="en-US" altLang="en-US" dirty="0"/>
              <a:t>Byte = a unit of storage</a:t>
            </a:r>
          </a:p>
          <a:p>
            <a:pPr lvl="1"/>
            <a:r>
              <a:rPr lang="en-US" altLang="en-US" dirty="0"/>
              <a:t>1 byte = 8 bits (</a:t>
            </a:r>
            <a:r>
              <a:rPr lang="en-US" altLang="en-US" b="1" dirty="0"/>
              <a:t>bit</a:t>
            </a:r>
            <a:r>
              <a:rPr lang="en-US" altLang="en-US" dirty="0"/>
              <a:t> is short for </a:t>
            </a:r>
            <a:r>
              <a:rPr lang="en-US" altLang="en-US" b="1" dirty="0"/>
              <a:t>binary digit</a:t>
            </a:r>
            <a:r>
              <a:rPr lang="en-US" altLang="en-US" dirty="0"/>
              <a:t>, a single 0 or 1)</a:t>
            </a:r>
          </a:p>
          <a:p>
            <a:pPr lvl="1"/>
            <a:r>
              <a:rPr lang="en-US" altLang="en-US" dirty="0"/>
              <a:t>1KB = 2</a:t>
            </a:r>
            <a:r>
              <a:rPr lang="en-US" altLang="en-US" baseline="30000" dirty="0"/>
              <a:t>10</a:t>
            </a:r>
            <a:r>
              <a:rPr lang="en-US" altLang="en-US" dirty="0"/>
              <a:t> = 1024 bytes</a:t>
            </a:r>
          </a:p>
          <a:p>
            <a:pPr lvl="1"/>
            <a:r>
              <a:rPr lang="en-US" altLang="en-US" dirty="0"/>
              <a:t>1MB = 2</a:t>
            </a:r>
            <a:r>
              <a:rPr lang="en-US" altLang="en-US" baseline="30000" dirty="0"/>
              <a:t>20</a:t>
            </a:r>
            <a:r>
              <a:rPr lang="en-US" altLang="en-US" dirty="0"/>
              <a:t> = 1,048,576 bytes</a:t>
            </a:r>
          </a:p>
          <a:p>
            <a:pPr lvl="1"/>
            <a:r>
              <a:rPr lang="en-US" altLang="en-US" dirty="0"/>
              <a:t>1GB =  2</a:t>
            </a:r>
            <a:r>
              <a:rPr lang="en-US" altLang="en-US" baseline="30000" dirty="0"/>
              <a:t>30</a:t>
            </a:r>
            <a:r>
              <a:rPr lang="en-US" altLang="en-US" dirty="0"/>
              <a:t> = 1,073,741,824 bytes</a:t>
            </a:r>
          </a:p>
          <a:p>
            <a:pPr lvl="1"/>
            <a:r>
              <a:rPr lang="en-US" altLang="en-US" dirty="0"/>
              <a:t>Main memory (RAM) is measured in GB</a:t>
            </a:r>
          </a:p>
          <a:p>
            <a:pPr lvl="1"/>
            <a:r>
              <a:rPr lang="en-US" altLang="en-US" dirty="0"/>
              <a:t>Disk storage is measured in GB for small systems, TB (2</a:t>
            </a:r>
            <a:r>
              <a:rPr lang="en-US" altLang="en-US" baseline="30000" dirty="0"/>
              <a:t>40</a:t>
            </a:r>
            <a:r>
              <a:rPr lang="en-US" altLang="en-US" dirty="0"/>
              <a:t>) for large systems.</a:t>
            </a:r>
          </a:p>
          <a:p>
            <a:endParaRPr lang="en-US" dirty="0"/>
          </a:p>
        </p:txBody>
      </p:sp>
      <p:sp>
        <p:nvSpPr>
          <p:cNvPr id="4" name="Footer Placeholder 3">
            <a:extLst>
              <a:ext uri="{FF2B5EF4-FFF2-40B4-BE49-F238E27FC236}">
                <a16:creationId xmlns:a16="http://schemas.microsoft.com/office/drawing/2014/main" id="{D7700CEE-D595-4BC7-9BD1-9AF838468AF5}"/>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3DB0E70B-3E40-4B8E-B6F3-BAD7CA421089}"/>
              </a:ext>
            </a:extLst>
          </p:cNvPr>
          <p:cNvSpPr>
            <a:spLocks noGrp="1"/>
          </p:cNvSpPr>
          <p:nvPr>
            <p:ph type="sldNum" sz="quarter" idx="12"/>
          </p:nvPr>
        </p:nvSpPr>
        <p:spPr/>
        <p:txBody>
          <a:bodyPr/>
          <a:lstStyle/>
          <a:p>
            <a:fld id="{F51CCBE7-ABD4-48B2-BA38-8FA2BA66BB34}" type="slidenum">
              <a:rPr lang="en-US" smtClean="0"/>
              <a:t>8</a:t>
            </a:fld>
            <a:endParaRPr lang="en-US"/>
          </a:p>
        </p:txBody>
      </p:sp>
    </p:spTree>
    <p:extLst>
      <p:ext uri="{BB962C8B-B14F-4D97-AF65-F5344CB8AC3E}">
        <p14:creationId xmlns:p14="http://schemas.microsoft.com/office/powerpoint/2010/main" val="2543049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Units of Measure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indent="-231775"/>
            <a:r>
              <a:rPr lang="en-US" altLang="en-US" dirty="0"/>
              <a:t>Measures of time and space:</a:t>
            </a:r>
          </a:p>
          <a:p>
            <a:pPr marL="682625" lvl="2" indent="-231775"/>
            <a:r>
              <a:rPr lang="en-US" altLang="en-US" dirty="0" err="1"/>
              <a:t>Milli</a:t>
            </a:r>
            <a:r>
              <a:rPr lang="en-US" altLang="en-US" dirty="0"/>
              <a:t>- (m) = 1 thousandth = 10</a:t>
            </a:r>
            <a:r>
              <a:rPr lang="en-US" altLang="en-US" baseline="30000" dirty="0"/>
              <a:t>-3</a:t>
            </a:r>
          </a:p>
          <a:p>
            <a:pPr marL="682625" lvl="2" indent="-231775"/>
            <a:r>
              <a:rPr lang="en-US" altLang="en-US" dirty="0"/>
              <a:t>Micro- (</a:t>
            </a:r>
            <a:r>
              <a:rPr lang="en-US" altLang="en-US" dirty="0">
                <a:sym typeface="Symbol" pitchFamily="18" charset="2"/>
              </a:rPr>
              <a:t></a:t>
            </a:r>
            <a:r>
              <a:rPr lang="en-US" altLang="en-US" dirty="0"/>
              <a:t>) = 1 millionth = 10</a:t>
            </a:r>
            <a:r>
              <a:rPr lang="en-US" altLang="en-US" baseline="30000" dirty="0"/>
              <a:t>-6</a:t>
            </a:r>
          </a:p>
          <a:p>
            <a:pPr marL="682625" lvl="2" indent="-231775"/>
            <a:r>
              <a:rPr lang="en-US" altLang="en-US" dirty="0"/>
              <a:t>Nano- (n) = 1 billionth = 10</a:t>
            </a:r>
            <a:r>
              <a:rPr lang="en-US" altLang="en-US" baseline="30000" dirty="0"/>
              <a:t>-9</a:t>
            </a:r>
          </a:p>
          <a:p>
            <a:pPr marL="682625" lvl="2" indent="-231775"/>
            <a:r>
              <a:rPr lang="en-US" altLang="en-US" dirty="0"/>
              <a:t>Pico- (p) = 1 trillionth = 10</a:t>
            </a:r>
            <a:r>
              <a:rPr lang="en-US" altLang="en-US" baseline="30000" dirty="0"/>
              <a:t>-12</a:t>
            </a:r>
          </a:p>
          <a:p>
            <a:pPr marL="682625" lvl="2" indent="-231775"/>
            <a:r>
              <a:rPr lang="en-US" altLang="en-US" dirty="0" err="1"/>
              <a:t>Femto</a:t>
            </a:r>
            <a:r>
              <a:rPr lang="en-US" altLang="en-US" dirty="0"/>
              <a:t>- (f) = 1 quadrillionth = 10</a:t>
            </a:r>
            <a:r>
              <a:rPr lang="en-US" altLang="en-US" baseline="30000" dirty="0"/>
              <a:t>-15</a:t>
            </a:r>
          </a:p>
          <a:p>
            <a:pPr marL="682625" lvl="2" indent="-231775"/>
            <a:r>
              <a:rPr lang="en-US" altLang="en-US" dirty="0" err="1"/>
              <a:t>Atto</a:t>
            </a:r>
            <a:r>
              <a:rPr lang="en-US" altLang="en-US" dirty="0"/>
              <a:t>- (a) = 1 quintillionth = 10</a:t>
            </a:r>
            <a:r>
              <a:rPr lang="en-US" altLang="en-US" baseline="30000" dirty="0"/>
              <a:t>-18</a:t>
            </a:r>
            <a:endParaRPr lang="en-US" altLang="en-US" dirty="0"/>
          </a:p>
          <a:p>
            <a:pPr marL="682625" lvl="2" indent="-231775"/>
            <a:r>
              <a:rPr lang="en-US" altLang="en-US" dirty="0" err="1"/>
              <a:t>Zepto</a:t>
            </a:r>
            <a:r>
              <a:rPr lang="en-US" altLang="en-US" dirty="0"/>
              <a:t>- (z) = 1 sextillionth = 10</a:t>
            </a:r>
            <a:r>
              <a:rPr lang="en-US" altLang="en-US" baseline="30000" dirty="0"/>
              <a:t>-21</a:t>
            </a:r>
          </a:p>
          <a:p>
            <a:pPr marL="682625" lvl="2" indent="-231775"/>
            <a:r>
              <a:rPr lang="en-US" altLang="en-US" dirty="0" err="1"/>
              <a:t>Yocto</a:t>
            </a:r>
            <a:r>
              <a:rPr lang="en-US" altLang="en-US" dirty="0"/>
              <a:t>- (y) = 1 septillionth = 10</a:t>
            </a:r>
            <a:r>
              <a:rPr lang="en-US" altLang="en-US" baseline="30000" dirty="0"/>
              <a:t>-24</a:t>
            </a:r>
            <a:endParaRPr lang="en-US" altLang="en-US" sz="2800" dirty="0"/>
          </a:p>
          <a:p>
            <a:pPr indent="-231775"/>
            <a:endParaRPr lang="en-US" dirty="0"/>
          </a:p>
        </p:txBody>
      </p:sp>
      <p:sp>
        <p:nvSpPr>
          <p:cNvPr id="4" name="Footer Placeholder 3">
            <a:extLst>
              <a:ext uri="{FF2B5EF4-FFF2-40B4-BE49-F238E27FC236}">
                <a16:creationId xmlns:a16="http://schemas.microsoft.com/office/drawing/2014/main" id="{337E6E86-0CE6-4E30-B71A-CEEE9AC71AD5}"/>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F66BB59C-9E1A-4227-B339-E33BB020A5F8}"/>
              </a:ext>
            </a:extLst>
          </p:cNvPr>
          <p:cNvSpPr>
            <a:spLocks noGrp="1"/>
          </p:cNvSpPr>
          <p:nvPr>
            <p:ph type="sldNum" sz="quarter" idx="12"/>
          </p:nvPr>
        </p:nvSpPr>
        <p:spPr/>
        <p:txBody>
          <a:bodyPr/>
          <a:lstStyle/>
          <a:p>
            <a:fld id="{F51CCBE7-ABD4-48B2-BA38-8FA2BA66BB34}" type="slidenum">
              <a:rPr lang="en-US" smtClean="0"/>
              <a:t>9</a:t>
            </a:fld>
            <a:endParaRPr lang="en-US"/>
          </a:p>
        </p:txBody>
      </p:sp>
    </p:spTree>
    <p:extLst>
      <p:ext uri="{BB962C8B-B14F-4D97-AF65-F5344CB8AC3E}">
        <p14:creationId xmlns:p14="http://schemas.microsoft.com/office/powerpoint/2010/main" val="1481891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Units of Measure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909222" y="1559295"/>
            <a:ext cx="10515600" cy="4351338"/>
          </a:xfrm>
        </p:spPr>
        <p:txBody>
          <a:bodyPr/>
          <a:lstStyle/>
          <a:p>
            <a:pPr>
              <a:spcBef>
                <a:spcPts val="576"/>
              </a:spcBef>
            </a:pPr>
            <a:r>
              <a:rPr lang="en-US" altLang="en-US" dirty="0"/>
              <a:t>Millisecond = 1 thousandth of a second</a:t>
            </a:r>
          </a:p>
          <a:p>
            <a:pPr lvl="1">
              <a:spcBef>
                <a:spcPts val="576"/>
              </a:spcBef>
            </a:pPr>
            <a:r>
              <a:rPr lang="en-US" altLang="en-US" dirty="0"/>
              <a:t>Hard disk drive access times are often 10 to 20 milliseconds.</a:t>
            </a:r>
          </a:p>
          <a:p>
            <a:pPr>
              <a:spcBef>
                <a:spcPts val="576"/>
              </a:spcBef>
            </a:pPr>
            <a:r>
              <a:rPr lang="en-US" altLang="en-US" dirty="0"/>
              <a:t>Nanosecond = 1 billionth of a second</a:t>
            </a:r>
          </a:p>
          <a:p>
            <a:pPr lvl="1">
              <a:spcBef>
                <a:spcPts val="576"/>
              </a:spcBef>
            </a:pPr>
            <a:r>
              <a:rPr lang="en-US" altLang="en-US" dirty="0"/>
              <a:t>Main memory access times are often 50 to 70 nanoseconds.</a:t>
            </a:r>
          </a:p>
          <a:p>
            <a:pPr>
              <a:spcBef>
                <a:spcPts val="576"/>
              </a:spcBef>
            </a:pPr>
            <a:r>
              <a:rPr lang="en-US" altLang="en-US" dirty="0"/>
              <a:t>Micron (micrometer) = 1 millionth of a meter</a:t>
            </a:r>
          </a:p>
          <a:p>
            <a:pPr lvl="1">
              <a:spcBef>
                <a:spcPts val="576"/>
              </a:spcBef>
            </a:pPr>
            <a:r>
              <a:rPr lang="en-US" altLang="en-US" dirty="0"/>
              <a:t>Circuits on computer chips are measured in microns.</a:t>
            </a:r>
          </a:p>
          <a:p>
            <a:pPr>
              <a:spcBef>
                <a:spcPts val="576"/>
              </a:spcBef>
            </a:pPr>
            <a:r>
              <a:rPr lang="en-US" dirty="0"/>
              <a:t>We note that </a:t>
            </a:r>
            <a:r>
              <a:rPr lang="en-US" b="1" dirty="0"/>
              <a:t>cycle time</a:t>
            </a:r>
            <a:r>
              <a:rPr lang="en-US" dirty="0"/>
              <a:t> is the reciprocal of clock frequency.</a:t>
            </a:r>
          </a:p>
          <a:p>
            <a:pPr>
              <a:spcBef>
                <a:spcPts val="576"/>
              </a:spcBef>
            </a:pPr>
            <a:r>
              <a:rPr lang="en-US" dirty="0"/>
              <a:t>A system bus operating at 133MHz has a cycle time of 7.52 nanoseconds:</a:t>
            </a:r>
          </a:p>
          <a:p>
            <a:pPr lvl="1">
              <a:spcBef>
                <a:spcPts val="576"/>
              </a:spcBef>
            </a:pPr>
            <a:r>
              <a:rPr lang="en-US" altLang="en-US" dirty="0"/>
              <a:t>133,000,000 cycles/second  =  7.52ns/cycle</a:t>
            </a:r>
          </a:p>
          <a:p>
            <a:pPr>
              <a:spcBef>
                <a:spcPts val="576"/>
              </a:spcBef>
            </a:pPr>
            <a:endParaRPr lang="en-US" dirty="0"/>
          </a:p>
        </p:txBody>
      </p:sp>
      <p:sp>
        <p:nvSpPr>
          <p:cNvPr id="4" name="Footer Placeholder 3">
            <a:extLst>
              <a:ext uri="{FF2B5EF4-FFF2-40B4-BE49-F238E27FC236}">
                <a16:creationId xmlns:a16="http://schemas.microsoft.com/office/drawing/2014/main" id="{1FC0A7BF-50C0-45BB-AADF-E174C56B5459}"/>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20A9E5E5-4596-4245-B26F-E47EAB9D0982}"/>
              </a:ext>
            </a:extLst>
          </p:cNvPr>
          <p:cNvSpPr>
            <a:spLocks noGrp="1"/>
          </p:cNvSpPr>
          <p:nvPr>
            <p:ph type="sldNum" sz="quarter" idx="12"/>
          </p:nvPr>
        </p:nvSpPr>
        <p:spPr/>
        <p:txBody>
          <a:bodyPr/>
          <a:lstStyle/>
          <a:p>
            <a:fld id="{F51CCBE7-ABD4-48B2-BA38-8FA2BA66BB34}" type="slidenum">
              <a:rPr lang="en-US" smtClean="0"/>
              <a:t>10</a:t>
            </a:fld>
            <a:endParaRPr lang="en-US"/>
          </a:p>
        </p:txBody>
      </p:sp>
    </p:spTree>
    <p:extLst>
      <p:ext uri="{BB962C8B-B14F-4D97-AF65-F5344CB8AC3E}">
        <p14:creationId xmlns:p14="http://schemas.microsoft.com/office/powerpoint/2010/main" val="209417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Units of Measure: Example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How many nanoseconds are in 1 millisecond?</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9</m:t>
                        </m:r>
                      </m:sup>
                    </m:sSup>
                  </m:oMath>
                </a14:m>
                <a:r>
                  <a:rPr lang="en-US" dirty="0"/>
                  <a:t> ns/sec</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oMath>
                </a14:m>
                <a:r>
                  <a:rPr lang="en-US" dirty="0"/>
                  <a:t> </a:t>
                </a:r>
                <a:r>
                  <a:rPr lang="en-US" dirty="0" err="1"/>
                  <a:t>ms</a:t>
                </a:r>
                <a:r>
                  <a:rPr lang="en-US" dirty="0"/>
                  <a:t>/sec = 1 sec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oMath>
                </a14:m>
                <a:r>
                  <a:rPr lang="en-US" dirty="0"/>
                  <a:t> </a:t>
                </a:r>
                <a:r>
                  <a:rPr lang="en-US" dirty="0" err="1"/>
                  <a:t>ms</a:t>
                </a:r>
                <a:endParaRPr lang="en-US" dirty="0"/>
              </a:p>
              <a:p>
                <a:pPr lvl="1"/>
                <a:r>
                  <a:rPr lang="en-US" dirty="0"/>
                  <a:t>Multiply: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9</m:t>
                        </m:r>
                      </m:sup>
                    </m:sSup>
                  </m:oMath>
                </a14:m>
                <a:r>
                  <a:rPr lang="en-US" dirty="0"/>
                  <a:t> ns/sec </a:t>
                </a:r>
                <a14:m>
                  <m:oMath xmlns:m="http://schemas.openxmlformats.org/officeDocument/2006/math">
                    <m:r>
                      <a:rPr lang="en-US" i="1">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m:t>
                        </m:r>
                        <m:r>
                          <a:rPr lang="en-US" b="0" i="1" smtClean="0">
                            <a:latin typeface="Cambria Math" panose="02040503050406030204" pitchFamily="18" charset="0"/>
                          </a:rPr>
                          <m:t> </m:t>
                        </m:r>
                        <m:r>
                          <m:rPr>
                            <m:sty m:val="p"/>
                          </m:rPr>
                          <a:rPr lang="en-US" b="0" i="0" smtClean="0">
                            <a:latin typeface="Cambria Math" panose="02040503050406030204" pitchFamily="18" charset="0"/>
                          </a:rPr>
                          <m:t>sec</m:t>
                        </m:r>
                        <m:r>
                          <a:rPr lang="en-US" i="1">
                            <a:latin typeface="Cambria Math" panose="02040503050406030204" pitchFamily="18" charset="0"/>
                          </a:rPr>
                          <m:t>/10</m:t>
                        </m:r>
                      </m:e>
                      <m:sup>
                        <m:r>
                          <a:rPr lang="en-US" i="1">
                            <a:latin typeface="Cambria Math" panose="02040503050406030204" pitchFamily="18" charset="0"/>
                          </a:rPr>
                          <m:t>3</m:t>
                        </m:r>
                      </m:sup>
                    </m:sSup>
                    <m:r>
                      <a:rPr lang="en-US" b="0" i="0" smtClean="0">
                        <a:latin typeface="Cambria Math" panose="02040503050406030204" pitchFamily="18" charset="0"/>
                      </a:rPr>
                      <m:t> </m:t>
                    </m:r>
                  </m:oMath>
                </a14:m>
                <a:r>
                  <a:rPr lang="en-US" dirty="0"/>
                  <a:t>ms</a:t>
                </a:r>
              </a:p>
              <a:p>
                <a:pPr marL="682625" lvl="1" indent="0">
                  <a:buNone/>
                </a:pP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9</m:t>
                            </m:r>
                          </m:sup>
                        </m:sSup>
                        <m:r>
                          <a:rPr lang="en-US" b="0" i="1" smtClean="0">
                            <a:latin typeface="Cambria Math" panose="02040503050406030204" pitchFamily="18" charset="0"/>
                          </a:rPr>
                          <m:t> </m:t>
                        </m:r>
                        <m:r>
                          <m:rPr>
                            <m:sty m:val="p"/>
                          </m:rPr>
                          <a:rPr lang="en-US" b="0" i="0" smtClean="0">
                            <a:latin typeface="Cambria Math" panose="02040503050406030204" pitchFamily="18" charset="0"/>
                          </a:rPr>
                          <m:t>ns</m:t>
                        </m:r>
                      </m:num>
                      <m:den>
                        <m:r>
                          <a:rPr lang="en-US" b="0" i="1" smtClean="0">
                            <a:latin typeface="Cambria Math" panose="02040503050406030204" pitchFamily="18" charset="0"/>
                          </a:rPr>
                          <m:t>1 </m:t>
                        </m:r>
                        <m:r>
                          <m:rPr>
                            <m:sty m:val="p"/>
                          </m:rPr>
                          <a:rPr lang="en-US" b="0" i="0" smtClean="0">
                            <a:latin typeface="Cambria Math" panose="02040503050406030204" pitchFamily="18" charset="0"/>
                          </a:rPr>
                          <m:t>sec</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1 </m:t>
                        </m:r>
                        <m:r>
                          <m:rPr>
                            <m:sty m:val="p"/>
                          </m:rPr>
                          <a:rPr lang="en-US" b="0" i="0" smtClean="0">
                            <a:latin typeface="Cambria Math" panose="02040503050406030204" pitchFamily="18" charset="0"/>
                          </a:rPr>
                          <m:t>sec</m:t>
                        </m:r>
                      </m:num>
                      <m:den>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3</m:t>
                            </m:r>
                          </m:sup>
                        </m:sSup>
                        <m:r>
                          <a:rPr lang="en-US" b="0" i="1" smtClean="0">
                            <a:latin typeface="Cambria Math" panose="02040503050406030204" pitchFamily="18" charset="0"/>
                          </a:rPr>
                          <m:t> </m:t>
                        </m:r>
                        <m:r>
                          <m:rPr>
                            <m:sty m:val="p"/>
                          </m:rPr>
                          <a:rPr lang="en-US" b="0" i="0" smtClean="0">
                            <a:latin typeface="Cambria Math" panose="02040503050406030204" pitchFamily="18" charset="0"/>
                          </a:rPr>
                          <m:t>ms</m:t>
                        </m:r>
                      </m:den>
                    </m:f>
                  </m:oMath>
                </a14:m>
                <a:r>
                  <a:rPr lang="en-US" dirty="0"/>
                  <a:t>  (</a:t>
                </a:r>
                <a:r>
                  <a:rPr lang="en-US" i="1" dirty="0"/>
                  <a:t>seconds</a:t>
                </a:r>
                <a:r>
                  <a:rPr lang="en-US" dirty="0"/>
                  <a:t> units cancel)</a:t>
                </a:r>
              </a:p>
              <a:p>
                <a:pPr marL="682625" lvl="1" indent="0">
                  <a:buNone/>
                </a:pP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i="1">
                            <a:latin typeface="Cambria Math" panose="02040503050406030204" pitchFamily="18" charset="0"/>
                          </a:rPr>
                          <m:t>10</m:t>
                        </m:r>
                      </m:e>
                      <m:sup>
                        <m:r>
                          <a:rPr lang="en-US" i="1">
                            <a:latin typeface="Cambria Math" panose="02040503050406030204" pitchFamily="18" charset="0"/>
                          </a:rPr>
                          <m:t>9</m:t>
                        </m:r>
                      </m:sup>
                    </m:sSup>
                    <m:r>
                      <a:rPr lang="en-US" i="1" smtClean="0">
                        <a:latin typeface="Cambria Math" panose="02040503050406030204" pitchFamily="18" charset="0"/>
                      </a:rPr>
                      <m:t> </m:t>
                    </m:r>
                  </m:oMath>
                </a14:m>
                <a:r>
                  <a:rPr lang="en-US" dirty="0"/>
                  <a:t>ns /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oMath>
                </a14:m>
                <a:r>
                  <a:rPr lang="en-US" dirty="0"/>
                  <a:t> </a:t>
                </a:r>
                <a:r>
                  <a:rPr lang="en-US" dirty="0" err="1"/>
                  <a:t>ms</a:t>
                </a:r>
                <a:r>
                  <a:rPr lang="en-US" dirty="0"/>
                  <a:t> </a:t>
                </a:r>
                <a14:m>
                  <m:oMath xmlns:m="http://schemas.openxmlformats.org/officeDocument/2006/math">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10</m:t>
                        </m:r>
                      </m:e>
                      <m:sup>
                        <m:r>
                          <a:rPr lang="en-US" i="1" dirty="0">
                            <a:latin typeface="Cambria Math" panose="02040503050406030204" pitchFamily="18" charset="0"/>
                          </a:rPr>
                          <m:t>6</m:t>
                        </m:r>
                      </m:sup>
                    </m:sSup>
                  </m:oMath>
                </a14:m>
                <a:r>
                  <a:rPr lang="en-US" dirty="0"/>
                  <a:t> ns in each millisecond</a:t>
                </a:r>
              </a:p>
              <a:p>
                <a:pPr lvl="1"/>
                <a:endParaRPr lang="en-US" dirty="0"/>
              </a:p>
            </p:txBody>
          </p:sp>
        </mc:Choice>
        <mc:Fallback xmlns="">
          <p:sp>
            <p:nvSpPr>
              <p:cNvPr id="3" name="Content Placeholder 2">
                <a:extLst>
                  <a:ext uri="{FF2B5EF4-FFF2-40B4-BE49-F238E27FC236}">
                    <a16:creationId xmlns:a16="http://schemas.microsoft.com/office/drawing/2014/main" xmlns:a14="http://schemas.microsoft.com/office/drawing/2010/main" xmlns=""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1714698-8717-49B7-A553-136735CBB17C}"/>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4F3250A0-F76C-4C8B-B3EC-4FF4767158DC}"/>
              </a:ext>
            </a:extLst>
          </p:cNvPr>
          <p:cNvSpPr>
            <a:spLocks noGrp="1"/>
          </p:cNvSpPr>
          <p:nvPr>
            <p:ph type="sldNum" sz="quarter" idx="12"/>
          </p:nvPr>
        </p:nvSpPr>
        <p:spPr/>
        <p:txBody>
          <a:bodyPr/>
          <a:lstStyle/>
          <a:p>
            <a:fld id="{F51CCBE7-ABD4-48B2-BA38-8FA2BA66BB34}" type="slidenum">
              <a:rPr lang="en-US" smtClean="0"/>
              <a:t>11</a:t>
            </a:fld>
            <a:endParaRPr lang="en-US"/>
          </a:p>
        </p:txBody>
      </p:sp>
    </p:spTree>
    <p:extLst>
      <p:ext uri="{BB962C8B-B14F-4D97-AF65-F5344CB8AC3E}">
        <p14:creationId xmlns:p14="http://schemas.microsoft.com/office/powerpoint/2010/main" val="3759135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Units of Measure: 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How many microseconds are in 1 millisecond? </a:t>
                </a:r>
                <a:endParaRPr lang="en-US" i="1" dirty="0">
                  <a:latin typeface="Cambria Math" panose="02040503050406030204" pitchFamily="18" charset="0"/>
                </a:endParaRP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6</m:t>
                        </m:r>
                      </m:sup>
                    </m:sSup>
                  </m:oMath>
                </a14:m>
                <a:r>
                  <a:rPr lang="en-US" dirty="0"/>
                  <a:t> </a:t>
                </a:r>
                <a14:m>
                  <m:oMath xmlns:m="http://schemas.openxmlformats.org/officeDocument/2006/math">
                    <m:r>
                      <a:rPr lang="en-US" b="0" i="1" dirty="0" smtClean="0">
                        <a:latin typeface="Cambria Math" panose="02040503050406030204" pitchFamily="18" charset="0"/>
                      </a:rPr>
                      <m:t>𝜇</m:t>
                    </m:r>
                  </m:oMath>
                </a14:m>
                <a:r>
                  <a:rPr lang="en-US" dirty="0"/>
                  <a:t>s/sec</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oMath>
                </a14:m>
                <a:r>
                  <a:rPr lang="en-US" dirty="0"/>
                  <a:t> </a:t>
                </a:r>
                <a:r>
                  <a:rPr lang="en-US" dirty="0" err="1"/>
                  <a:t>ms</a:t>
                </a:r>
                <a:r>
                  <a:rPr lang="en-US" dirty="0"/>
                  <a:t>/sec = 1 sec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oMath>
                </a14:m>
                <a:r>
                  <a:rPr lang="en-US" dirty="0"/>
                  <a:t> </a:t>
                </a:r>
                <a:r>
                  <a:rPr lang="en-US" dirty="0" err="1"/>
                  <a:t>ms</a:t>
                </a:r>
                <a:endParaRPr lang="en-US" dirty="0"/>
              </a:p>
              <a:p>
                <a:pPr lvl="1"/>
                <a:r>
                  <a:rPr lang="en-US" dirty="0"/>
                  <a:t>Multiply: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oMath>
                </a14:m>
                <a:r>
                  <a:rPr lang="en-US" dirty="0"/>
                  <a:t> </a:t>
                </a:r>
                <a14:m>
                  <m:oMath xmlns:m="http://schemas.openxmlformats.org/officeDocument/2006/math">
                    <m:r>
                      <a:rPr lang="en-US" i="1" dirty="0">
                        <a:latin typeface="Cambria Math" panose="02040503050406030204" pitchFamily="18" charset="0"/>
                      </a:rPr>
                      <m:t>𝜇</m:t>
                    </m:r>
                  </m:oMath>
                </a14:m>
                <a:r>
                  <a:rPr lang="en-US" dirty="0"/>
                  <a:t>s/sec </a:t>
                </a:r>
                <a14:m>
                  <m:oMath xmlns:m="http://schemas.openxmlformats.org/officeDocument/2006/math">
                    <m:r>
                      <a:rPr lang="en-US" i="1">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m:t>
                        </m:r>
                        <m:r>
                          <a:rPr lang="en-US" b="0" i="1" smtClean="0">
                            <a:latin typeface="Cambria Math" panose="02040503050406030204" pitchFamily="18" charset="0"/>
                          </a:rPr>
                          <m:t> </m:t>
                        </m:r>
                        <m:r>
                          <m:rPr>
                            <m:sty m:val="p"/>
                          </m:rPr>
                          <a:rPr lang="en-US" b="0" i="0" smtClean="0">
                            <a:latin typeface="Cambria Math" panose="02040503050406030204" pitchFamily="18" charset="0"/>
                          </a:rPr>
                          <m:t>sec</m:t>
                        </m:r>
                        <m:r>
                          <a:rPr lang="en-US" i="1">
                            <a:latin typeface="Cambria Math" panose="02040503050406030204" pitchFamily="18" charset="0"/>
                          </a:rPr>
                          <m:t>/10</m:t>
                        </m:r>
                      </m:e>
                      <m:sup>
                        <m:r>
                          <a:rPr lang="en-US" i="1">
                            <a:latin typeface="Cambria Math" panose="02040503050406030204" pitchFamily="18" charset="0"/>
                          </a:rPr>
                          <m:t>3</m:t>
                        </m:r>
                      </m:sup>
                    </m:sSup>
                  </m:oMath>
                </a14:m>
                <a:r>
                  <a:rPr lang="en-US" dirty="0"/>
                  <a:t> ms</a:t>
                </a:r>
              </a:p>
              <a:p>
                <a:pPr marL="682625" lvl="1" indent="0">
                  <a:buNone/>
                </a:pP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r>
                          <m:rPr>
                            <m:nor/>
                          </m:rPr>
                          <a:rPr lang="en-US" dirty="0"/>
                          <m:t> </m:t>
                        </m:r>
                        <m:r>
                          <a:rPr lang="en-US" i="1" dirty="0">
                            <a:latin typeface="Cambria Math" panose="02040503050406030204" pitchFamily="18" charset="0"/>
                          </a:rPr>
                          <m:t>𝜇</m:t>
                        </m:r>
                        <m:r>
                          <a:rPr lang="en-US" b="0" i="1" dirty="0" smtClean="0">
                            <a:latin typeface="Cambria Math" panose="02040503050406030204" pitchFamily="18" charset="0"/>
                          </a:rPr>
                          <m:t>𝑠</m:t>
                        </m:r>
                      </m:num>
                      <m:den>
                        <m:r>
                          <a:rPr lang="en-US" b="0" i="1" smtClean="0">
                            <a:latin typeface="Cambria Math" panose="02040503050406030204" pitchFamily="18" charset="0"/>
                          </a:rPr>
                          <m:t>1 </m:t>
                        </m:r>
                        <m:r>
                          <m:rPr>
                            <m:sty m:val="p"/>
                          </m:rPr>
                          <a:rPr lang="en-US" b="0" i="0" smtClean="0">
                            <a:latin typeface="Cambria Math" panose="02040503050406030204" pitchFamily="18" charset="0"/>
                          </a:rPr>
                          <m:t>sec</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1 </m:t>
                        </m:r>
                        <m:r>
                          <m:rPr>
                            <m:sty m:val="p"/>
                          </m:rPr>
                          <a:rPr lang="en-US" b="0" i="0" smtClean="0">
                            <a:latin typeface="Cambria Math" panose="02040503050406030204" pitchFamily="18" charset="0"/>
                          </a:rPr>
                          <m:t>sec</m:t>
                        </m:r>
                      </m:num>
                      <m:den>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3</m:t>
                            </m:r>
                          </m:sup>
                        </m:sSup>
                        <m:r>
                          <a:rPr lang="en-US" b="0" i="1" smtClean="0">
                            <a:latin typeface="Cambria Math" panose="02040503050406030204" pitchFamily="18" charset="0"/>
                          </a:rPr>
                          <m:t> </m:t>
                        </m:r>
                        <m:r>
                          <m:rPr>
                            <m:sty m:val="p"/>
                          </m:rPr>
                          <a:rPr lang="en-US" b="0" i="0" smtClean="0">
                            <a:latin typeface="Cambria Math" panose="02040503050406030204" pitchFamily="18" charset="0"/>
                          </a:rPr>
                          <m:t>ms</m:t>
                        </m:r>
                      </m:den>
                    </m:f>
                  </m:oMath>
                </a14:m>
                <a:r>
                  <a:rPr lang="en-US" dirty="0"/>
                  <a:t>  (</a:t>
                </a:r>
                <a:r>
                  <a:rPr lang="en-US" i="1" dirty="0"/>
                  <a:t>seconds</a:t>
                </a:r>
                <a:r>
                  <a:rPr lang="en-US" dirty="0"/>
                  <a:t> units cancel)</a:t>
                </a:r>
              </a:p>
              <a:p>
                <a:pPr marL="682625" lvl="1" indent="0">
                  <a:buNone/>
                </a:pP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i="1">
                            <a:latin typeface="Cambria Math" panose="02040503050406030204" pitchFamily="18" charset="0"/>
                          </a:rPr>
                          <m:t>10</m:t>
                        </m:r>
                      </m:e>
                      <m:sup>
                        <m:r>
                          <a:rPr lang="en-US" b="0" i="1" smtClean="0">
                            <a:latin typeface="Cambria Math" panose="02040503050406030204" pitchFamily="18" charset="0"/>
                          </a:rPr>
                          <m:t>3</m:t>
                        </m:r>
                      </m:sup>
                    </m:sSup>
                    <m:r>
                      <a:rPr lang="en-US" i="1" dirty="0">
                        <a:latin typeface="Cambria Math" panose="02040503050406030204" pitchFamily="18" charset="0"/>
                      </a:rPr>
                      <m:t>𝜇</m:t>
                    </m:r>
                  </m:oMath>
                </a14:m>
                <a:r>
                  <a:rPr lang="en-US" dirty="0"/>
                  <a:t>s /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oMath>
                </a14:m>
                <a:r>
                  <a:rPr lang="en-US" dirty="0"/>
                  <a:t> </a:t>
                </a:r>
                <a:r>
                  <a:rPr lang="en-US" dirty="0" err="1"/>
                  <a:t>ms</a:t>
                </a:r>
                <a:r>
                  <a:rPr lang="en-US" dirty="0"/>
                  <a:t> </a:t>
                </a:r>
                <a14:m>
                  <m:oMath xmlns:m="http://schemas.openxmlformats.org/officeDocument/2006/math">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10</m:t>
                        </m:r>
                      </m:e>
                      <m:sup>
                        <m:r>
                          <a:rPr lang="en-US" b="0" i="1" dirty="0" smtClean="0">
                            <a:latin typeface="Cambria Math" panose="02040503050406030204" pitchFamily="18" charset="0"/>
                          </a:rPr>
                          <m:t>3</m:t>
                        </m:r>
                      </m:sup>
                    </m:sSup>
                  </m:oMath>
                </a14:m>
                <a:r>
                  <a:rPr lang="en-US" dirty="0"/>
                  <a:t> </a:t>
                </a:r>
                <a14:m>
                  <m:oMath xmlns:m="http://schemas.openxmlformats.org/officeDocument/2006/math">
                    <m:r>
                      <a:rPr lang="en-US" i="1" dirty="0">
                        <a:latin typeface="Cambria Math" panose="02040503050406030204" pitchFamily="18" charset="0"/>
                      </a:rPr>
                      <m:t>𝜇</m:t>
                    </m:r>
                  </m:oMath>
                </a14:m>
                <a:r>
                  <a:rPr lang="en-US" dirty="0"/>
                  <a:t>s in each millisecond</a:t>
                </a:r>
              </a:p>
              <a:p>
                <a:pPr lvl="1"/>
                <a:endParaRPr lang="en-US" dirty="0"/>
              </a:p>
            </p:txBody>
          </p:sp>
        </mc:Choice>
        <mc:Fallback xmlns="">
          <p:sp>
            <p:nvSpPr>
              <p:cNvPr id="3" name="Content Placeholder 2">
                <a:extLst>
                  <a:ext uri="{FF2B5EF4-FFF2-40B4-BE49-F238E27FC236}">
                    <a16:creationId xmlns="" xmlns:a16="http://schemas.microsoft.com/office/drawing/2014/main" xmlns:a14="http://schemas.microsoft.com/office/drawing/2010/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860BB38-D252-4049-B794-8816369CD4A2}"/>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4A49B888-49D7-4214-8F2D-A61FE6AEF272}"/>
              </a:ext>
            </a:extLst>
          </p:cNvPr>
          <p:cNvSpPr>
            <a:spLocks noGrp="1"/>
          </p:cNvSpPr>
          <p:nvPr>
            <p:ph type="sldNum" sz="quarter" idx="12"/>
          </p:nvPr>
        </p:nvSpPr>
        <p:spPr/>
        <p:txBody>
          <a:bodyPr/>
          <a:lstStyle/>
          <a:p>
            <a:fld id="{F51CCBE7-ABD4-48B2-BA38-8FA2BA66BB34}" type="slidenum">
              <a:rPr lang="en-US" smtClean="0"/>
              <a:t>12</a:t>
            </a:fld>
            <a:endParaRPr lang="en-US"/>
          </a:p>
        </p:txBody>
      </p:sp>
    </p:spTree>
    <p:extLst>
      <p:ext uri="{BB962C8B-B14F-4D97-AF65-F5344CB8AC3E}">
        <p14:creationId xmlns:p14="http://schemas.microsoft.com/office/powerpoint/2010/main" val="3504156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Units of Measure: Example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How many megabytes are in 1 gigabyte?</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20</m:t>
                        </m:r>
                      </m:sup>
                    </m:sSup>
                  </m:oMath>
                </a14:m>
                <a:r>
                  <a:rPr lang="en-US" dirty="0"/>
                  <a:t> bytes/MB</a:t>
                </a:r>
                <a:endParaRPr lang="en-US" i="1" dirty="0">
                  <a:latin typeface="Cambria Math" panose="02040503050406030204" pitchFamily="18" charset="0"/>
                </a:endParaRP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30</m:t>
                        </m:r>
                      </m:sup>
                    </m:sSup>
                  </m:oMath>
                </a14:m>
                <a:r>
                  <a:rPr lang="en-US" dirty="0"/>
                  <a:t> bytes/GB</a:t>
                </a:r>
              </a:p>
              <a:p>
                <a:pPr lvl="1"/>
                <a:r>
                  <a:rPr lang="en-US" dirty="0"/>
                  <a:t>Multiply:</a:t>
                </a:r>
                <a14:m>
                  <m:oMath xmlns:m="http://schemas.openxmlformats.org/officeDocument/2006/math">
                    <m:r>
                      <a:rPr lang="en-US" b="0" i="0" smtClean="0">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3</m:t>
                        </m:r>
                        <m:r>
                          <a:rPr lang="en-US" i="1">
                            <a:latin typeface="Cambria Math" panose="02040503050406030204" pitchFamily="18" charset="0"/>
                          </a:rPr>
                          <m:t>0</m:t>
                        </m:r>
                      </m:sup>
                    </m:sSup>
                    <m:r>
                      <m:rPr>
                        <m:nor/>
                      </m:rPr>
                      <a:rPr lang="en-US" dirty="0"/>
                      <m:t> </m:t>
                    </m:r>
                    <m:r>
                      <m:rPr>
                        <m:nor/>
                      </m:rPr>
                      <a:rPr lang="en-US" dirty="0"/>
                      <m:t>bytes</m:t>
                    </m:r>
                    <m:r>
                      <m:rPr>
                        <m:nor/>
                      </m:rPr>
                      <a:rPr lang="en-US" dirty="0"/>
                      <m:t>/</m:t>
                    </m:r>
                    <m:r>
                      <m:rPr>
                        <m:nor/>
                      </m:rPr>
                      <a:rPr lang="en-US" b="0" i="0" dirty="0" smtClean="0"/>
                      <m:t>G</m:t>
                    </m:r>
                    <m:r>
                      <m:rPr>
                        <m:nor/>
                      </m:rPr>
                      <a:rPr lang="en-US" dirty="0"/>
                      <m:t>B</m:t>
                    </m:r>
                    <m:r>
                      <a:rPr lang="en-US" i="1">
                        <a:latin typeface="Cambria Math" panose="02040503050406030204" pitchFamily="18" charset="0"/>
                      </a:rPr>
                      <m:t>×</m:t>
                    </m:r>
                    <m:r>
                      <m:rPr>
                        <m:nor/>
                      </m:rPr>
                      <a:rPr lang="en-US" dirty="0"/>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2</m:t>
                        </m:r>
                        <m:r>
                          <a:rPr lang="en-US" i="1">
                            <a:latin typeface="Cambria Math" panose="02040503050406030204" pitchFamily="18" charset="0"/>
                          </a:rPr>
                          <m:t>0</m:t>
                        </m:r>
                      </m:sup>
                    </m:sSup>
                    <m:r>
                      <m:rPr>
                        <m:nor/>
                      </m:rPr>
                      <a:rPr lang="en-US" dirty="0"/>
                      <m:t> </m:t>
                    </m:r>
                    <m:r>
                      <m:rPr>
                        <m:nor/>
                      </m:rPr>
                      <a:rPr lang="en-US" b="0" i="0" dirty="0" smtClean="0"/>
                      <m:t>M</m:t>
                    </m:r>
                    <m:r>
                      <m:rPr>
                        <m:nor/>
                      </m:rPr>
                      <a:rPr lang="en-US" dirty="0"/>
                      <m:t>B</m:t>
                    </m:r>
                    <m:r>
                      <m:rPr>
                        <m:nor/>
                      </m:rPr>
                      <a:rPr lang="en-US" dirty="0"/>
                      <m:t>/</m:t>
                    </m:r>
                    <m:r>
                      <m:rPr>
                        <m:nor/>
                      </m:rPr>
                      <a:rPr lang="en-US" dirty="0"/>
                      <m:t>bytes</m:t>
                    </m:r>
                  </m:oMath>
                </a14:m>
                <a:endParaRPr lang="en-US" dirty="0"/>
              </a:p>
              <a:p>
                <a:pPr marL="633413" lvl="1" indent="0">
                  <a:buNone/>
                </a:pP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3</m:t>
                            </m:r>
                            <m:r>
                              <a:rPr lang="en-US" i="1">
                                <a:latin typeface="Cambria Math" panose="02040503050406030204" pitchFamily="18" charset="0"/>
                              </a:rPr>
                              <m:t>0</m:t>
                            </m:r>
                          </m:sup>
                        </m:sSup>
                        <m:r>
                          <a:rPr lang="en-US" b="0" i="1" smtClean="0">
                            <a:latin typeface="Cambria Math" panose="02040503050406030204" pitchFamily="18" charset="0"/>
                          </a:rPr>
                          <m:t> </m:t>
                        </m:r>
                        <m:r>
                          <m:rPr>
                            <m:sty m:val="p"/>
                          </m:rPr>
                          <a:rPr lang="en-US" b="0" i="0" smtClean="0">
                            <a:latin typeface="Cambria Math" panose="02040503050406030204" pitchFamily="18" charset="0"/>
                          </a:rPr>
                          <m:t>bytes</m:t>
                        </m:r>
                      </m:num>
                      <m:den>
                        <m:r>
                          <a:rPr lang="en-US" b="0" i="0" smtClean="0">
                            <a:latin typeface="Cambria Math" panose="02040503050406030204" pitchFamily="18" charset="0"/>
                          </a:rPr>
                          <m:t>1 </m:t>
                        </m:r>
                        <m:r>
                          <m:rPr>
                            <m:sty m:val="p"/>
                          </m:rPr>
                          <a:rPr lang="en-US" b="0" i="0" smtClean="0">
                            <a:latin typeface="Cambria Math" panose="02040503050406030204" pitchFamily="18" charset="0"/>
                          </a:rPr>
                          <m:t>GB</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1 </m:t>
                        </m:r>
                        <m:r>
                          <m:rPr>
                            <m:sty m:val="p"/>
                          </m:rPr>
                          <a:rPr lang="en-US" b="0" i="0" smtClean="0">
                            <a:latin typeface="Cambria Math" panose="02040503050406030204" pitchFamily="18" charset="0"/>
                          </a:rPr>
                          <m:t>MB</m:t>
                        </m:r>
                        <m:r>
                          <a:rPr lang="en-US" b="0" i="1" smtClean="0">
                            <a:latin typeface="Cambria Math" panose="02040503050406030204" pitchFamily="18" charset="0"/>
                          </a:rPr>
                          <m:t> </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20</m:t>
                            </m:r>
                          </m:sup>
                        </m:sSup>
                        <m:r>
                          <a:rPr lang="en-US" b="0" i="1" smtClean="0">
                            <a:latin typeface="Cambria Math" panose="02040503050406030204" pitchFamily="18" charset="0"/>
                          </a:rPr>
                          <m:t> </m:t>
                        </m:r>
                        <m:r>
                          <m:rPr>
                            <m:sty m:val="p"/>
                          </m:rPr>
                          <a:rPr lang="en-US" b="0" i="0" smtClean="0">
                            <a:latin typeface="Cambria Math" panose="02040503050406030204" pitchFamily="18" charset="0"/>
                          </a:rPr>
                          <m:t>bytes</m:t>
                        </m:r>
                      </m:den>
                    </m:f>
                  </m:oMath>
                </a14:m>
                <a:r>
                  <a:rPr lang="en-US" dirty="0"/>
                  <a:t>  (</a:t>
                </a:r>
                <a:r>
                  <a:rPr lang="en-US" i="1" dirty="0"/>
                  <a:t>bytes</a:t>
                </a:r>
                <a:r>
                  <a:rPr lang="en-US" dirty="0"/>
                  <a:t> units cancel)</a:t>
                </a:r>
              </a:p>
              <a:p>
                <a:pPr marL="633413" lvl="1" indent="0">
                  <a:buNone/>
                </a:pPr>
                <a14:m>
                  <m:oMath xmlns:m="http://schemas.openxmlformats.org/officeDocument/2006/math">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30</m:t>
                        </m:r>
                      </m:sup>
                    </m:sSup>
                    <m:r>
                      <a:rPr lang="en-US" i="1">
                        <a:latin typeface="Cambria Math" panose="02040503050406030204" pitchFamily="18" charset="0"/>
                      </a:rPr>
                      <m:t> </m:t>
                    </m:r>
                  </m:oMath>
                </a14:m>
                <a:r>
                  <a:rPr lang="en-US" dirty="0"/>
                  <a:t>MB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20</m:t>
                        </m:r>
                      </m:sup>
                    </m:sSup>
                  </m:oMath>
                </a14:m>
                <a:r>
                  <a:rPr lang="en-US" dirty="0"/>
                  <a:t> GB </a:t>
                </a:r>
                <a14:m>
                  <m:oMath xmlns:m="http://schemas.openxmlformats.org/officeDocument/2006/math">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10</m:t>
                        </m:r>
                      </m:sup>
                    </m:sSup>
                  </m:oMath>
                </a14:m>
                <a:r>
                  <a:rPr lang="en-US" dirty="0"/>
                  <a:t> MB per GB</a:t>
                </a:r>
              </a:p>
            </p:txBody>
          </p:sp>
        </mc:Choice>
        <mc:Fallback xmlns="">
          <p:sp>
            <p:nvSpPr>
              <p:cNvPr id="3" name="Content Placeholder 2">
                <a:extLst>
                  <a:ext uri="{FF2B5EF4-FFF2-40B4-BE49-F238E27FC236}">
                    <a16:creationId xmlns="" xmlns:a16="http://schemas.microsoft.com/office/drawing/2014/main" xmlns:a14="http://schemas.microsoft.com/office/drawing/2010/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B436D6D-9F22-498D-BA3B-F35252F6B65B}"/>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4B677C72-F322-4B39-85BA-655B8FD72F2B}"/>
              </a:ext>
            </a:extLst>
          </p:cNvPr>
          <p:cNvSpPr>
            <a:spLocks noGrp="1"/>
          </p:cNvSpPr>
          <p:nvPr>
            <p:ph type="sldNum" sz="quarter" idx="12"/>
          </p:nvPr>
        </p:nvSpPr>
        <p:spPr/>
        <p:txBody>
          <a:bodyPr/>
          <a:lstStyle/>
          <a:p>
            <a:fld id="{F51CCBE7-ABD4-48B2-BA38-8FA2BA66BB34}" type="slidenum">
              <a:rPr lang="en-US" smtClean="0"/>
              <a:t>13</a:t>
            </a:fld>
            <a:endParaRPr lang="en-US"/>
          </a:p>
        </p:txBody>
      </p:sp>
    </p:spTree>
    <p:extLst>
      <p:ext uri="{BB962C8B-B14F-4D97-AF65-F5344CB8AC3E}">
        <p14:creationId xmlns:p14="http://schemas.microsoft.com/office/powerpoint/2010/main" val="1674695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Units of Measure: Example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How many kilobytes are in 2 gigabytes?</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r>
                          <a:rPr lang="en-US" i="1">
                            <a:latin typeface="Cambria Math" panose="02040503050406030204" pitchFamily="18" charset="0"/>
                          </a:rPr>
                          <m:t>0</m:t>
                        </m:r>
                      </m:sup>
                    </m:sSup>
                  </m:oMath>
                </a14:m>
                <a:r>
                  <a:rPr lang="en-US" dirty="0"/>
                  <a:t> bytes/KB</a:t>
                </a:r>
                <a:endParaRPr lang="en-US" i="1" dirty="0">
                  <a:latin typeface="Cambria Math" panose="02040503050406030204" pitchFamily="18" charset="0"/>
                </a:endParaRPr>
              </a:p>
              <a:p>
                <a:pPr lvl="1"/>
                <a:r>
                  <a:rPr lang="en-US" dirty="0"/>
                  <a:t>2 GB </a:t>
                </a:r>
                <a14:m>
                  <m:oMath xmlns:m="http://schemas.openxmlformats.org/officeDocument/2006/math">
                    <m:r>
                      <a:rPr lang="en-US" i="1">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30</m:t>
                        </m:r>
                      </m:sup>
                    </m:sSup>
                  </m:oMath>
                </a14:m>
                <a:r>
                  <a:rPr lang="en-US" dirty="0"/>
                  <a:t> bytes/GB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31</m:t>
                        </m:r>
                      </m:sup>
                    </m:sSup>
                  </m:oMath>
                </a14:m>
                <a:r>
                  <a:rPr lang="en-US" dirty="0"/>
                  <a:t> bytes in 2GB</a:t>
                </a:r>
              </a:p>
              <a:p>
                <a:pPr lvl="1"/>
                <a:r>
                  <a:rPr lang="en-US" dirty="0"/>
                  <a:t>Multiply:</a:t>
                </a:r>
                <a14:m>
                  <m:oMath xmlns:m="http://schemas.openxmlformats.org/officeDocument/2006/math">
                    <m:r>
                      <a:rPr lang="en-US" b="0" i="0" smtClean="0">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31</m:t>
                        </m:r>
                      </m:sup>
                    </m:sSup>
                    <m:r>
                      <m:rPr>
                        <m:nor/>
                      </m:rPr>
                      <a:rPr lang="en-US" dirty="0"/>
                      <m:t> </m:t>
                    </m:r>
                    <m:r>
                      <m:rPr>
                        <m:nor/>
                      </m:rPr>
                      <a:rPr lang="en-US" dirty="0"/>
                      <m:t>bytes</m:t>
                    </m:r>
                    <m:r>
                      <m:rPr>
                        <m:nor/>
                      </m:rPr>
                      <a:rPr lang="en-US" dirty="0"/>
                      <m:t>/ 2 </m:t>
                    </m:r>
                    <m:r>
                      <m:rPr>
                        <m:nor/>
                      </m:rPr>
                      <a:rPr lang="en-US" b="0" i="0" dirty="0" smtClean="0"/>
                      <m:t>GB</m:t>
                    </m:r>
                    <m:r>
                      <a:rPr lang="en-US" i="1">
                        <a:latin typeface="Cambria Math" panose="02040503050406030204" pitchFamily="18" charset="0"/>
                      </a:rPr>
                      <m:t>×</m:t>
                    </m:r>
                    <m:r>
                      <m:rPr>
                        <m:nor/>
                      </m:rPr>
                      <a:rPr lang="en-US" dirty="0"/>
                      <m:t>1/</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2</m:t>
                        </m:r>
                        <m:r>
                          <a:rPr lang="en-US" i="1">
                            <a:latin typeface="Cambria Math" panose="02040503050406030204" pitchFamily="18" charset="0"/>
                          </a:rPr>
                          <m:t>0</m:t>
                        </m:r>
                      </m:sup>
                    </m:sSup>
                    <m:r>
                      <m:rPr>
                        <m:nor/>
                      </m:rPr>
                      <a:rPr lang="en-US" dirty="0"/>
                      <m:t> </m:t>
                    </m:r>
                    <m:r>
                      <m:rPr>
                        <m:nor/>
                      </m:rPr>
                      <a:rPr lang="en-US" b="0" i="0" dirty="0" smtClean="0"/>
                      <m:t>K</m:t>
                    </m:r>
                    <m:r>
                      <m:rPr>
                        <m:nor/>
                      </m:rPr>
                      <a:rPr lang="en-US" dirty="0"/>
                      <m:t>B</m:t>
                    </m:r>
                    <m:r>
                      <m:rPr>
                        <m:nor/>
                      </m:rPr>
                      <a:rPr lang="en-US" dirty="0"/>
                      <m:t>/</m:t>
                    </m:r>
                    <m:r>
                      <m:rPr>
                        <m:nor/>
                      </m:rPr>
                      <a:rPr lang="en-US" dirty="0"/>
                      <m:t>bytes</m:t>
                    </m:r>
                  </m:oMath>
                </a14:m>
                <a:endParaRPr lang="en-US" dirty="0"/>
              </a:p>
              <a:p>
                <a:pPr marL="633413" lvl="1" indent="0">
                  <a:buNone/>
                </a:pP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smtClean="0">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2</m:t>
                            </m:r>
                          </m:e>
                          <m:sup>
                            <m:r>
                              <a:rPr lang="en-US" b="0" i="1" smtClean="0">
                                <a:solidFill>
                                  <a:srgbClr val="C00000"/>
                                </a:solidFill>
                                <a:latin typeface="Cambria Math" panose="02040503050406030204" pitchFamily="18" charset="0"/>
                              </a:rPr>
                              <m:t>31</m:t>
                            </m:r>
                          </m:sup>
                        </m:sSup>
                        <m:r>
                          <a:rPr lang="en-US" b="0" i="1" smtClean="0">
                            <a:solidFill>
                              <a:srgbClr val="C00000"/>
                            </a:solidFill>
                            <a:latin typeface="Cambria Math" panose="02040503050406030204" pitchFamily="18" charset="0"/>
                          </a:rPr>
                          <m:t> </m:t>
                        </m:r>
                        <m:r>
                          <m:rPr>
                            <m:sty m:val="p"/>
                          </m:rPr>
                          <a:rPr lang="en-US" b="0" i="0" smtClean="0">
                            <a:solidFill>
                              <a:srgbClr val="C00000"/>
                            </a:solidFill>
                            <a:latin typeface="Cambria Math" panose="02040503050406030204" pitchFamily="18" charset="0"/>
                          </a:rPr>
                          <m:t>bytes</m:t>
                        </m:r>
                      </m:num>
                      <m:den>
                        <m:r>
                          <a:rPr lang="en-US" b="0" i="0" smtClean="0">
                            <a:latin typeface="Cambria Math" panose="02040503050406030204" pitchFamily="18" charset="0"/>
                          </a:rPr>
                          <m:t>2 </m:t>
                        </m:r>
                        <m:r>
                          <m:rPr>
                            <m:sty m:val="p"/>
                          </m:rPr>
                          <a:rPr lang="en-US" b="0" i="0" smtClean="0">
                            <a:latin typeface="Cambria Math" panose="02040503050406030204" pitchFamily="18" charset="0"/>
                          </a:rPr>
                          <m:t>GB</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1 </m:t>
                        </m:r>
                        <m:r>
                          <m:rPr>
                            <m:sty m:val="p"/>
                          </m:rPr>
                          <a:rPr lang="en-US" b="0" i="0" smtClean="0">
                            <a:latin typeface="Cambria Math" panose="02040503050406030204" pitchFamily="18" charset="0"/>
                          </a:rPr>
                          <m:t>KB</m:t>
                        </m:r>
                        <m:r>
                          <a:rPr lang="en-US" b="0" i="1" smtClean="0">
                            <a:latin typeface="Cambria Math" panose="02040503050406030204" pitchFamily="18" charset="0"/>
                          </a:rPr>
                          <m:t> </m:t>
                        </m:r>
                      </m:num>
                      <m:den>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2</m:t>
                            </m:r>
                          </m:e>
                          <m:sup>
                            <m:r>
                              <a:rPr lang="en-US" b="0" i="1" smtClean="0">
                                <a:solidFill>
                                  <a:srgbClr val="0070C0"/>
                                </a:solidFill>
                                <a:latin typeface="Cambria Math" panose="02040503050406030204" pitchFamily="18" charset="0"/>
                              </a:rPr>
                              <m:t>10</m:t>
                            </m:r>
                          </m:sup>
                        </m:sSup>
                        <m:r>
                          <a:rPr lang="en-US" b="0" i="1" smtClean="0">
                            <a:solidFill>
                              <a:srgbClr val="0070C0"/>
                            </a:solidFill>
                            <a:latin typeface="Cambria Math" panose="02040503050406030204" pitchFamily="18" charset="0"/>
                          </a:rPr>
                          <m:t> </m:t>
                        </m:r>
                        <m:r>
                          <m:rPr>
                            <m:sty m:val="p"/>
                          </m:rPr>
                          <a:rPr lang="en-US" b="0" i="0" smtClean="0">
                            <a:solidFill>
                              <a:srgbClr val="0070C0"/>
                            </a:solidFill>
                            <a:latin typeface="Cambria Math" panose="02040503050406030204" pitchFamily="18" charset="0"/>
                          </a:rPr>
                          <m:t>bytes</m:t>
                        </m:r>
                      </m:den>
                    </m:f>
                  </m:oMath>
                </a14:m>
                <a:r>
                  <a:rPr lang="en-US" dirty="0"/>
                  <a:t>  (</a:t>
                </a:r>
                <a:r>
                  <a:rPr lang="en-US" i="1" dirty="0"/>
                  <a:t>bytes</a:t>
                </a:r>
                <a:r>
                  <a:rPr lang="en-US" dirty="0"/>
                  <a:t> units cancel)</a:t>
                </a:r>
              </a:p>
              <a:p>
                <a:pPr marL="633413" lvl="1" indent="0">
                  <a:buNone/>
                </a:pPr>
                <a14:m>
                  <m:oMath xmlns:m="http://schemas.openxmlformats.org/officeDocument/2006/math">
                    <m:r>
                      <a:rPr lang="en-US" i="1">
                        <a:latin typeface="Cambria Math" panose="02040503050406030204" pitchFamily="18" charset="0"/>
                      </a:rPr>
                      <m:t>=</m:t>
                    </m:r>
                    <m:sSup>
                      <m:sSupPr>
                        <m:ctrlPr>
                          <a:rPr lang="en-US" i="1" smtClean="0">
                            <a:solidFill>
                              <a:srgbClr val="C00000"/>
                            </a:solidFill>
                            <a:latin typeface="Cambria Math" panose="02040503050406030204" pitchFamily="18" charset="0"/>
                          </a:rPr>
                        </m:ctrlPr>
                      </m:sSupPr>
                      <m:e>
                        <m:r>
                          <a:rPr lang="en-US" i="1">
                            <a:solidFill>
                              <a:srgbClr val="C00000"/>
                            </a:solidFill>
                            <a:latin typeface="Cambria Math" panose="02040503050406030204" pitchFamily="18" charset="0"/>
                          </a:rPr>
                          <m:t>2</m:t>
                        </m:r>
                      </m:e>
                      <m:sup>
                        <m:r>
                          <a:rPr lang="en-US" b="0" i="1" smtClean="0">
                            <a:solidFill>
                              <a:srgbClr val="C00000"/>
                            </a:solidFill>
                            <a:latin typeface="Cambria Math" panose="02040503050406030204" pitchFamily="18" charset="0"/>
                          </a:rPr>
                          <m:t>31</m:t>
                        </m:r>
                      </m:sup>
                    </m:sSup>
                    <m:r>
                      <a:rPr lang="en-US" i="1">
                        <a:latin typeface="Cambria Math" panose="02040503050406030204" pitchFamily="18" charset="0"/>
                      </a:rPr>
                      <m:t> </m:t>
                    </m:r>
                  </m:oMath>
                </a14:m>
                <a:r>
                  <a:rPr lang="en-US" dirty="0"/>
                  <a:t>/ </a:t>
                </a:r>
                <a14:m>
                  <m:oMath xmlns:m="http://schemas.openxmlformats.org/officeDocument/2006/math">
                    <m:sSup>
                      <m:sSupPr>
                        <m:ctrlPr>
                          <a:rPr lang="en-US" i="1" smtClean="0">
                            <a:solidFill>
                              <a:srgbClr val="0070C0"/>
                            </a:solidFill>
                            <a:latin typeface="Cambria Math" panose="02040503050406030204" pitchFamily="18" charset="0"/>
                          </a:rPr>
                        </m:ctrlPr>
                      </m:sSupPr>
                      <m:e>
                        <m:r>
                          <a:rPr lang="en-US" i="1">
                            <a:solidFill>
                              <a:srgbClr val="0070C0"/>
                            </a:solidFill>
                            <a:latin typeface="Cambria Math" panose="02040503050406030204" pitchFamily="18" charset="0"/>
                          </a:rPr>
                          <m:t>2</m:t>
                        </m:r>
                      </m:e>
                      <m:sup>
                        <m:r>
                          <a:rPr lang="en-US" b="0" i="1" smtClean="0">
                            <a:solidFill>
                              <a:srgbClr val="0070C0"/>
                            </a:solidFill>
                            <a:latin typeface="Cambria Math" panose="02040503050406030204" pitchFamily="18" charset="0"/>
                          </a:rPr>
                          <m:t>1</m:t>
                        </m:r>
                        <m:r>
                          <a:rPr lang="en-US" i="1">
                            <a:solidFill>
                              <a:srgbClr val="0070C0"/>
                            </a:solidFill>
                            <a:latin typeface="Cambria Math" panose="02040503050406030204" pitchFamily="18" charset="0"/>
                          </a:rPr>
                          <m:t>0</m:t>
                        </m:r>
                      </m:sup>
                    </m:sSup>
                  </m:oMath>
                </a14:m>
                <a:r>
                  <a:rPr lang="en-US" dirty="0"/>
                  <a:t> </a:t>
                </a:r>
                <a14:m>
                  <m:oMath xmlns:m="http://schemas.openxmlformats.org/officeDocument/2006/math">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b="0" i="1" dirty="0" smtClean="0">
                            <a:latin typeface="Cambria Math" panose="02040503050406030204" pitchFamily="18" charset="0"/>
                          </a:rPr>
                          <m:t>21</m:t>
                        </m:r>
                      </m:sup>
                    </m:sSup>
                  </m:oMath>
                </a14:m>
                <a:r>
                  <a:rPr lang="en-US" dirty="0"/>
                  <a:t> KB in 2 GB</a:t>
                </a:r>
              </a:p>
            </p:txBody>
          </p:sp>
        </mc:Choice>
        <mc:Fallback xmlns="">
          <p:sp>
            <p:nvSpPr>
              <p:cNvPr id="3" name="Content Placeholder 2">
                <a:extLst>
                  <a:ext uri="{FF2B5EF4-FFF2-40B4-BE49-F238E27FC236}">
                    <a16:creationId xmlns="" xmlns:a16="http://schemas.microsoft.com/office/drawing/2014/main" xmlns:a14="http://schemas.microsoft.com/office/drawing/2010/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BE7E06D-1912-4299-8DC0-D30DD5B477E1}"/>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1971EA73-C7A2-474D-B50D-AEBE9CB4313B}"/>
              </a:ext>
            </a:extLst>
          </p:cNvPr>
          <p:cNvSpPr>
            <a:spLocks noGrp="1"/>
          </p:cNvSpPr>
          <p:nvPr>
            <p:ph type="sldNum" sz="quarter" idx="12"/>
          </p:nvPr>
        </p:nvSpPr>
        <p:spPr/>
        <p:txBody>
          <a:bodyPr/>
          <a:lstStyle/>
          <a:p>
            <a:fld id="{F51CCBE7-ABD4-48B2-BA38-8FA2BA66BB34}" type="slidenum">
              <a:rPr lang="en-US" smtClean="0"/>
              <a:t>14</a:t>
            </a:fld>
            <a:endParaRPr lang="en-US"/>
          </a:p>
        </p:txBody>
      </p:sp>
    </p:spTree>
    <p:extLst>
      <p:ext uri="{BB962C8B-B14F-4D97-AF65-F5344CB8AC3E}">
        <p14:creationId xmlns:p14="http://schemas.microsoft.com/office/powerpoint/2010/main" val="38694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Units of Measure: Example #5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What is the cycle time in microseconds of a CPU running at 1.5 GHz?</a:t>
                </a:r>
              </a:p>
              <a:p>
                <a:r>
                  <a:rPr lang="en-US" dirty="0"/>
                  <a:t>1,500,000,000 cycles/sec</a:t>
                </a:r>
              </a:p>
              <a:p>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1,500,000,000</m:t>
                        </m:r>
                      </m:den>
                    </m:f>
                    <m:r>
                      <a:rPr lang="en-US" i="1" dirty="0">
                        <a:latin typeface="Cambria Math" panose="02040503050406030204" pitchFamily="18" charset="0"/>
                      </a:rPr>
                      <m:t>=6.667×</m:t>
                    </m:r>
                    <m:sSup>
                      <m:sSupPr>
                        <m:ctrlPr>
                          <a:rPr lang="en-US" i="1" dirty="0">
                            <a:latin typeface="Cambria Math" panose="02040503050406030204" pitchFamily="18" charset="0"/>
                          </a:rPr>
                        </m:ctrlPr>
                      </m:sSupPr>
                      <m:e>
                        <m:r>
                          <a:rPr lang="en-US" i="1" dirty="0">
                            <a:latin typeface="Cambria Math" panose="02040503050406030204" pitchFamily="18" charset="0"/>
                          </a:rPr>
                          <m:t>10</m:t>
                        </m:r>
                      </m:e>
                      <m:sup>
                        <m:r>
                          <a:rPr lang="en-US" i="1" dirty="0">
                            <a:latin typeface="Cambria Math" panose="02040503050406030204" pitchFamily="18" charset="0"/>
                          </a:rPr>
                          <m:t>−10</m:t>
                        </m:r>
                      </m:sup>
                    </m:sSup>
                  </m:oMath>
                </a14:m>
                <a:r>
                  <a:rPr lang="en-US" dirty="0"/>
                  <a:t> sec/cycle</a:t>
                </a:r>
              </a:p>
              <a:p>
                <a14:m>
                  <m:oMath xmlns:m="http://schemas.openxmlformats.org/officeDocument/2006/math">
                    <m:r>
                      <a:rPr lang="en-US" i="1" dirty="0">
                        <a:latin typeface="Cambria Math" panose="02040503050406030204" pitchFamily="18" charset="0"/>
                      </a:rPr>
                      <m:t>6.667×</m:t>
                    </m:r>
                    <m:sSup>
                      <m:sSupPr>
                        <m:ctrlPr>
                          <a:rPr lang="en-US" i="1" dirty="0">
                            <a:latin typeface="Cambria Math" panose="02040503050406030204" pitchFamily="18" charset="0"/>
                          </a:rPr>
                        </m:ctrlPr>
                      </m:sSupPr>
                      <m:e>
                        <m:r>
                          <a:rPr lang="en-US" i="1" dirty="0">
                            <a:latin typeface="Cambria Math" panose="02040503050406030204" pitchFamily="18" charset="0"/>
                          </a:rPr>
                          <m:t>10</m:t>
                        </m:r>
                      </m:e>
                      <m:sup>
                        <m:r>
                          <a:rPr lang="en-US" i="1" dirty="0">
                            <a:latin typeface="Cambria Math" panose="02040503050406030204" pitchFamily="18" charset="0"/>
                          </a:rPr>
                          <m:t>−10</m:t>
                        </m:r>
                      </m:sup>
                    </m:sSup>
                  </m:oMath>
                </a14:m>
                <a:r>
                  <a:rPr lang="en-US" dirty="0"/>
                  <a:t> sec/cycle </a:t>
                </a:r>
                <a14:m>
                  <m:oMath xmlns:m="http://schemas.openxmlformats.org/officeDocument/2006/math">
                    <m:r>
                      <a:rPr lang="en-US" i="1" dirty="0">
                        <a:latin typeface="Cambria Math" panose="02040503050406030204" pitchFamily="18" charset="0"/>
                      </a:rPr>
                      <m:t>=0.667×</m:t>
                    </m:r>
                    <m:sSup>
                      <m:sSupPr>
                        <m:ctrlPr>
                          <a:rPr lang="en-US" i="1" dirty="0">
                            <a:latin typeface="Cambria Math" panose="02040503050406030204" pitchFamily="18" charset="0"/>
                          </a:rPr>
                        </m:ctrlPr>
                      </m:sSupPr>
                      <m:e>
                        <m:r>
                          <a:rPr lang="en-US" i="1" dirty="0">
                            <a:latin typeface="Cambria Math" panose="02040503050406030204" pitchFamily="18" charset="0"/>
                          </a:rPr>
                          <m:t>10</m:t>
                        </m:r>
                      </m:e>
                      <m:sup>
                        <m:r>
                          <a:rPr lang="en-US" i="1" dirty="0">
                            <a:latin typeface="Cambria Math" panose="02040503050406030204" pitchFamily="18" charset="0"/>
                          </a:rPr>
                          <m:t>−9</m:t>
                        </m:r>
                      </m:sup>
                    </m:sSup>
                  </m:oMath>
                </a14:m>
                <a:r>
                  <a:rPr lang="en-US" dirty="0"/>
                  <a:t> sec/cycle</a:t>
                </a:r>
              </a:p>
              <a:p>
                <a:pPr indent="0">
                  <a:buNone/>
                </a:pPr>
                <a14:m>
                  <m:oMath xmlns:m="http://schemas.openxmlformats.org/officeDocument/2006/math">
                    <m:r>
                      <a:rPr lang="en-US" i="1" dirty="0">
                        <a:latin typeface="Cambria Math" panose="02040503050406030204" pitchFamily="18" charset="0"/>
                      </a:rPr>
                      <m:t>=0.667</m:t>
                    </m:r>
                  </m:oMath>
                </a14:m>
                <a:r>
                  <a:rPr lang="en-US" dirty="0"/>
                  <a:t> ns/cycle</a:t>
                </a:r>
              </a:p>
              <a:p>
                <a:pPr marL="346075" indent="-230188"/>
                <a:r>
                  <a:rPr lang="en-US" dirty="0"/>
                  <a:t>Note: 1 microsecond = 1000 nanoseconds</a:t>
                </a:r>
              </a:p>
              <a:p>
                <a:pPr marL="346075" indent="-230188"/>
                <a:r>
                  <a:rPr lang="en-US" dirty="0"/>
                  <a:t>So, </a:t>
                </a:r>
                <a14:m>
                  <m:oMath xmlns:m="http://schemas.openxmlformats.org/officeDocument/2006/math">
                    <m:r>
                      <a:rPr lang="en-US" i="1" dirty="0">
                        <a:latin typeface="Cambria Math" panose="02040503050406030204" pitchFamily="18" charset="0"/>
                      </a:rPr>
                      <m:t>0.667</m:t>
                    </m:r>
                  </m:oMath>
                </a14:m>
                <a:r>
                  <a:rPr lang="en-US" dirty="0"/>
                  <a:t> ns/cycle</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=0.000667 </m:t>
                    </m:r>
                    <m:r>
                      <a:rPr lang="en-US" i="1">
                        <a:latin typeface="Cambria Math" panose="02040503050406030204" pitchFamily="18" charset="0"/>
                      </a:rPr>
                      <m:t>𝜇</m:t>
                    </m:r>
                  </m:oMath>
                </a14:m>
                <a:r>
                  <a:rPr lang="en-US" dirty="0"/>
                  <a:t>s/cycle</a:t>
                </a:r>
              </a:p>
              <a:p>
                <a:endParaRPr lang="en-US" dirty="0"/>
              </a:p>
            </p:txBody>
          </p:sp>
        </mc:Choice>
        <mc:Fallback xmlns="">
          <p:sp>
            <p:nvSpPr>
              <p:cNvPr id="3" name="Content Placeholder 2">
                <a:extLst>
                  <a:ext uri="{FF2B5EF4-FFF2-40B4-BE49-F238E27FC236}">
                    <a16:creationId xmlns=""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rotWithShape="0">
                <a:blip r:embed="rId2"/>
                <a:stretch>
                  <a:fillRect t="-92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BFB9848-8E95-48AB-B8CA-979679FE0594}"/>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E0895D2A-FAD9-44FB-BF6C-BAAF378CED1E}"/>
              </a:ext>
            </a:extLst>
          </p:cNvPr>
          <p:cNvSpPr>
            <a:spLocks noGrp="1"/>
          </p:cNvSpPr>
          <p:nvPr>
            <p:ph type="sldNum" sz="quarter" idx="12"/>
          </p:nvPr>
        </p:nvSpPr>
        <p:spPr/>
        <p:txBody>
          <a:bodyPr/>
          <a:lstStyle/>
          <a:p>
            <a:fld id="{F51CCBE7-ABD4-48B2-BA38-8FA2BA66BB34}" type="slidenum">
              <a:rPr lang="en-US" smtClean="0"/>
              <a:t>15</a:t>
            </a:fld>
            <a:endParaRPr lang="en-US"/>
          </a:p>
        </p:txBody>
      </p:sp>
    </p:spTree>
    <p:extLst>
      <p:ext uri="{BB962C8B-B14F-4D97-AF65-F5344CB8AC3E}">
        <p14:creationId xmlns:p14="http://schemas.microsoft.com/office/powerpoint/2010/main" val="276612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5000297" y="1904999"/>
            <a:ext cx="1799896" cy="197069"/>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cxnSp>
        <p:nvCxnSpPr>
          <p:cNvPr id="12" name="Straight Arrow Connector 11"/>
          <p:cNvCxnSpPr/>
          <p:nvPr/>
        </p:nvCxnSpPr>
        <p:spPr>
          <a:xfrm flipH="1" flipV="1">
            <a:off x="6884278" y="2007475"/>
            <a:ext cx="1471446" cy="357353"/>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361604" y="1954924"/>
            <a:ext cx="3004634" cy="830997"/>
          </a:xfrm>
          <a:prstGeom prst="rect">
            <a:avLst/>
          </a:prstGeom>
          <a:solidFill>
            <a:srgbClr val="FFF3F3"/>
          </a:solidFill>
          <a:ln w="28575">
            <a:solidFill>
              <a:srgbClr val="C00000"/>
            </a:solidFill>
          </a:ln>
        </p:spPr>
        <p:txBody>
          <a:bodyPr wrap="square" rtlCol="0">
            <a:spAutoFit/>
          </a:bodyPr>
          <a:lstStyle/>
          <a:p>
            <a:r>
              <a:rPr lang="en-US" sz="2400" dirty="0">
                <a:latin typeface="+mj-lt"/>
              </a:rPr>
              <a:t>This computer has a compact form factor.</a:t>
            </a:r>
          </a:p>
        </p:txBody>
      </p:sp>
      <p:sp>
        <p:nvSpPr>
          <p:cNvPr id="3" name="Footer Placeholder 2">
            <a:extLst>
              <a:ext uri="{FF2B5EF4-FFF2-40B4-BE49-F238E27FC236}">
                <a16:creationId xmlns:a16="http://schemas.microsoft.com/office/drawing/2014/main" id="{5F78D669-848A-49C3-A1C7-37063C059C22}"/>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89407CDC-0E2F-4BB8-99DE-15E40A24DC5B}"/>
              </a:ext>
            </a:extLst>
          </p:cNvPr>
          <p:cNvSpPr>
            <a:spLocks noGrp="1"/>
          </p:cNvSpPr>
          <p:nvPr>
            <p:ph type="sldNum" sz="quarter" idx="12"/>
          </p:nvPr>
        </p:nvSpPr>
        <p:spPr/>
        <p:txBody>
          <a:bodyPr/>
          <a:lstStyle/>
          <a:p>
            <a:fld id="{F51CCBE7-ABD4-48B2-BA38-8FA2BA66BB34}" type="slidenum">
              <a:rPr lang="en-US" smtClean="0"/>
              <a:t>16</a:t>
            </a:fld>
            <a:endParaRPr lang="en-US"/>
          </a:p>
        </p:txBody>
      </p:sp>
    </p:spTree>
    <p:extLst>
      <p:ext uri="{BB962C8B-B14F-4D97-AF65-F5344CB8AC3E}">
        <p14:creationId xmlns:p14="http://schemas.microsoft.com/office/powerpoint/2010/main" val="1091010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838200" y="266386"/>
            <a:ext cx="10515600" cy="1325563"/>
          </a:xfrm>
        </p:spPr>
        <p:txBody>
          <a:bodyPr/>
          <a:lstStyle/>
          <a:p>
            <a:r>
              <a:rPr lang="en-US" altLang="en-US" dirty="0">
                <a:solidFill>
                  <a:schemeClr val="tx1"/>
                </a:solidFill>
              </a:rPr>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5010806" y="2157247"/>
            <a:ext cx="2472559" cy="207581"/>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8686800" y="1905000"/>
            <a:ext cx="3004634" cy="2677656"/>
          </a:xfrm>
          <a:prstGeom prst="rect">
            <a:avLst/>
          </a:prstGeom>
          <a:solidFill>
            <a:srgbClr val="FFF3F3"/>
          </a:solidFill>
          <a:ln w="28575">
            <a:solidFill>
              <a:srgbClr val="C00000"/>
            </a:solidFill>
          </a:ln>
        </p:spPr>
        <p:txBody>
          <a:bodyPr wrap="square" rtlCol="0">
            <a:spAutoFit/>
          </a:bodyPr>
          <a:lstStyle/>
          <a:p>
            <a:r>
              <a:rPr lang="en-US" sz="2400" dirty="0">
                <a:latin typeface="+mj-lt"/>
              </a:rPr>
              <a:t>The microprocessor is the “brain” of the system. It executes instructions. This one has an Intel i7 with four computing cores running at 4.2 GHz.</a:t>
            </a:r>
          </a:p>
        </p:txBody>
      </p:sp>
      <p:cxnSp>
        <p:nvCxnSpPr>
          <p:cNvPr id="10" name="Straight Arrow Connector 9"/>
          <p:cNvCxnSpPr/>
          <p:nvPr/>
        </p:nvCxnSpPr>
        <p:spPr>
          <a:xfrm flipH="1" flipV="1">
            <a:off x="7525301" y="2252573"/>
            <a:ext cx="1156786" cy="198396"/>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EC00C40A-82C6-448E-B479-F04F2B357085}"/>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8FE075C4-D47F-4FF4-8364-42F35E39979E}"/>
              </a:ext>
            </a:extLst>
          </p:cNvPr>
          <p:cNvSpPr>
            <a:spLocks noGrp="1"/>
          </p:cNvSpPr>
          <p:nvPr>
            <p:ph type="sldNum" sz="quarter" idx="12"/>
          </p:nvPr>
        </p:nvSpPr>
        <p:spPr/>
        <p:txBody>
          <a:bodyPr/>
          <a:lstStyle/>
          <a:p>
            <a:fld id="{F51CCBE7-ABD4-48B2-BA38-8FA2BA66BB34}" type="slidenum">
              <a:rPr lang="en-US" smtClean="0"/>
              <a:t>17</a:t>
            </a:fld>
            <a:endParaRPr lang="en-US"/>
          </a:p>
        </p:txBody>
      </p:sp>
    </p:spTree>
    <p:extLst>
      <p:ext uri="{BB962C8B-B14F-4D97-AF65-F5344CB8AC3E}">
        <p14:creationId xmlns:p14="http://schemas.microsoft.com/office/powerpoint/2010/main" val="549216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solidFill>
                  <a:schemeClr val="tx1"/>
                </a:solidFill>
              </a:rPr>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4984881" y="2363769"/>
            <a:ext cx="2829939" cy="567968"/>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8686800" y="1905000"/>
            <a:ext cx="3004634" cy="2677656"/>
          </a:xfrm>
          <a:prstGeom prst="rect">
            <a:avLst/>
          </a:prstGeom>
          <a:solidFill>
            <a:srgbClr val="FFF3F3"/>
          </a:solidFill>
          <a:ln w="28575">
            <a:solidFill>
              <a:srgbClr val="C00000"/>
            </a:solidFill>
          </a:ln>
        </p:spPr>
        <p:txBody>
          <a:bodyPr wrap="square" rtlCol="0">
            <a:spAutoFit/>
          </a:bodyPr>
          <a:lstStyle/>
          <a:p>
            <a:r>
              <a:rPr lang="en-US" sz="2400" dirty="0">
                <a:latin typeface="+mj-lt"/>
              </a:rPr>
              <a:t>This system has 32 GB of (fast) RAM and two levels of cache. L1 cache is smaller and faster than the L2 cache. Note the size units: KB/MB.</a:t>
            </a:r>
          </a:p>
        </p:txBody>
      </p:sp>
      <p:cxnSp>
        <p:nvCxnSpPr>
          <p:cNvPr id="10" name="Straight Arrow Connector 9"/>
          <p:cNvCxnSpPr/>
          <p:nvPr/>
        </p:nvCxnSpPr>
        <p:spPr>
          <a:xfrm flipH="1">
            <a:off x="7843101" y="2450969"/>
            <a:ext cx="838986" cy="131975"/>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4219B691-12D1-4495-ADF7-5D7815964445}"/>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528CCBA0-2BD0-49FE-8B4D-AA952A69E58E}"/>
              </a:ext>
            </a:extLst>
          </p:cNvPr>
          <p:cNvSpPr>
            <a:spLocks noGrp="1"/>
          </p:cNvSpPr>
          <p:nvPr>
            <p:ph type="sldNum" sz="quarter" idx="12"/>
          </p:nvPr>
        </p:nvSpPr>
        <p:spPr/>
        <p:txBody>
          <a:bodyPr/>
          <a:lstStyle/>
          <a:p>
            <a:fld id="{F51CCBE7-ABD4-48B2-BA38-8FA2BA66BB34}" type="slidenum">
              <a:rPr lang="en-US" smtClean="0"/>
              <a:t>18</a:t>
            </a:fld>
            <a:endParaRPr lang="en-US"/>
          </a:p>
        </p:txBody>
      </p:sp>
    </p:spTree>
    <p:extLst>
      <p:ext uri="{BB962C8B-B14F-4D97-AF65-F5344CB8AC3E}">
        <p14:creationId xmlns:p14="http://schemas.microsoft.com/office/powerpoint/2010/main" val="1568064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System</a:t>
            </a:r>
          </a:p>
        </p:txBody>
      </p:sp>
      <p:sp>
        <p:nvSpPr>
          <p:cNvPr id="3" name="Content Placeholder 2"/>
          <p:cNvSpPr>
            <a:spLocks noGrp="1"/>
          </p:cNvSpPr>
          <p:nvPr>
            <p:ph idx="1"/>
          </p:nvPr>
        </p:nvSpPr>
        <p:spPr/>
        <p:txBody>
          <a:bodyPr/>
          <a:lstStyle/>
          <a:p>
            <a:r>
              <a:rPr lang="en-US" dirty="0"/>
              <a:t>Computers with large main memory capacity can run larger programs with greater speed than computers having small memories.</a:t>
            </a:r>
          </a:p>
          <a:p>
            <a:r>
              <a:rPr lang="en-US" dirty="0"/>
              <a:t>RAM is an acronym for </a:t>
            </a:r>
            <a:r>
              <a:rPr lang="en-US" b="1" dirty="0"/>
              <a:t>random access memory</a:t>
            </a:r>
            <a:r>
              <a:rPr lang="en-US" dirty="0"/>
              <a:t>.  Random access means that memory contents can be accessed directly if you know its location.</a:t>
            </a:r>
          </a:p>
          <a:p>
            <a:r>
              <a:rPr lang="en-US" b="1" dirty="0"/>
              <a:t>Cache</a:t>
            </a:r>
            <a:r>
              <a:rPr lang="en-US" dirty="0"/>
              <a:t> is a type of temporary memory that can be accessed faster than RAM.</a:t>
            </a:r>
          </a:p>
          <a:p>
            <a:endParaRPr lang="en-US" dirty="0"/>
          </a:p>
        </p:txBody>
      </p:sp>
      <p:sp>
        <p:nvSpPr>
          <p:cNvPr id="4" name="Footer Placeholder 3">
            <a:extLst>
              <a:ext uri="{FF2B5EF4-FFF2-40B4-BE49-F238E27FC236}">
                <a16:creationId xmlns:a16="http://schemas.microsoft.com/office/drawing/2014/main" id="{2CC22487-789C-455F-9C3D-DFB9BF525E22}"/>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391381E7-7826-4BE3-B36F-2269DFAF9297}"/>
              </a:ext>
            </a:extLst>
          </p:cNvPr>
          <p:cNvSpPr>
            <a:spLocks noGrp="1"/>
          </p:cNvSpPr>
          <p:nvPr>
            <p:ph type="sldNum" sz="quarter" idx="12"/>
          </p:nvPr>
        </p:nvSpPr>
        <p:spPr/>
        <p:txBody>
          <a:bodyPr/>
          <a:lstStyle/>
          <a:p>
            <a:fld id="{F51CCBE7-ABD4-48B2-BA38-8FA2BA66BB34}" type="slidenum">
              <a:rPr lang="en-US" smtClean="0"/>
              <a:t>19</a:t>
            </a:fld>
            <a:endParaRPr lang="en-US"/>
          </a:p>
        </p:txBody>
      </p:sp>
    </p:spTree>
    <p:extLst>
      <p:ext uri="{BB962C8B-B14F-4D97-AF65-F5344CB8AC3E}">
        <p14:creationId xmlns:p14="http://schemas.microsoft.com/office/powerpoint/2010/main" val="2932060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4984881" y="2363769"/>
            <a:ext cx="2829939" cy="567968"/>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8686800" y="1905000"/>
            <a:ext cx="3048000" cy="2308324"/>
          </a:xfrm>
          <a:prstGeom prst="rect">
            <a:avLst/>
          </a:prstGeom>
          <a:solidFill>
            <a:srgbClr val="FFF3F3"/>
          </a:solidFill>
          <a:ln w="28575">
            <a:solidFill>
              <a:srgbClr val="C00000"/>
            </a:solidFill>
          </a:ln>
        </p:spPr>
        <p:txBody>
          <a:bodyPr wrap="square" rtlCol="0">
            <a:spAutoFit/>
          </a:bodyPr>
          <a:lstStyle/>
          <a:p>
            <a:r>
              <a:rPr lang="en-US" sz="2400" dirty="0">
                <a:latin typeface="+mj-lt"/>
              </a:rPr>
              <a:t>The system bus is running at 2400 MHz, a measure of how fast the CPU and RAM can communicate with each other.</a:t>
            </a:r>
          </a:p>
        </p:txBody>
      </p:sp>
      <p:cxnSp>
        <p:nvCxnSpPr>
          <p:cNvPr id="10" name="Straight Arrow Connector 9"/>
          <p:cNvCxnSpPr/>
          <p:nvPr/>
        </p:nvCxnSpPr>
        <p:spPr>
          <a:xfrm flipH="1">
            <a:off x="7843101" y="2450969"/>
            <a:ext cx="838986" cy="131975"/>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FF650996-5EE6-43F6-8B72-BFD5417EFCAD}"/>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309D35BD-A84A-474B-9025-F2F2AAFC76FC}"/>
              </a:ext>
            </a:extLst>
          </p:cNvPr>
          <p:cNvSpPr>
            <a:spLocks noGrp="1"/>
          </p:cNvSpPr>
          <p:nvPr>
            <p:ph type="sldNum" sz="quarter" idx="12"/>
          </p:nvPr>
        </p:nvSpPr>
        <p:spPr/>
        <p:txBody>
          <a:bodyPr/>
          <a:lstStyle/>
          <a:p>
            <a:fld id="{F51CCBE7-ABD4-48B2-BA38-8FA2BA66BB34}" type="slidenum">
              <a:rPr lang="en-US" smtClean="0"/>
              <a:t>20</a:t>
            </a:fld>
            <a:endParaRPr lang="en-US"/>
          </a:p>
        </p:txBody>
      </p:sp>
    </p:spTree>
    <p:extLst>
      <p:ext uri="{BB962C8B-B14F-4D97-AF65-F5344CB8AC3E}">
        <p14:creationId xmlns:p14="http://schemas.microsoft.com/office/powerpoint/2010/main" val="580123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5003735" y="2882244"/>
            <a:ext cx="4526764" cy="322869"/>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8915400" y="3429000"/>
            <a:ext cx="3004634" cy="1938992"/>
          </a:xfrm>
          <a:prstGeom prst="rect">
            <a:avLst/>
          </a:prstGeom>
          <a:solidFill>
            <a:srgbClr val="FFF3F3"/>
          </a:solidFill>
          <a:ln w="28575">
            <a:solidFill>
              <a:srgbClr val="C00000"/>
            </a:solidFill>
          </a:ln>
        </p:spPr>
        <p:txBody>
          <a:bodyPr wrap="square" rtlCol="0">
            <a:spAutoFit/>
          </a:bodyPr>
          <a:lstStyle/>
          <a:p>
            <a:r>
              <a:rPr lang="en-US" sz="2400" dirty="0">
                <a:latin typeface="+mj-lt"/>
              </a:rPr>
              <a:t>The hard disk can store 1 TB of data. The system also has a faster, smaller solid state drive (128 GB).</a:t>
            </a:r>
          </a:p>
        </p:txBody>
      </p:sp>
      <p:cxnSp>
        <p:nvCxnSpPr>
          <p:cNvPr id="10" name="Straight Arrow Connector 9"/>
          <p:cNvCxnSpPr/>
          <p:nvPr/>
        </p:nvCxnSpPr>
        <p:spPr>
          <a:xfrm flipH="1" flipV="1">
            <a:off x="8399282" y="3205113"/>
            <a:ext cx="509049" cy="414780"/>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5C6068D6-03B6-4744-BA3F-FCD33125E301}"/>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2404153C-B7CD-4B42-A084-4ED6B8ED11F3}"/>
              </a:ext>
            </a:extLst>
          </p:cNvPr>
          <p:cNvSpPr>
            <a:spLocks noGrp="1"/>
          </p:cNvSpPr>
          <p:nvPr>
            <p:ph type="sldNum" sz="quarter" idx="12"/>
          </p:nvPr>
        </p:nvSpPr>
        <p:spPr/>
        <p:txBody>
          <a:bodyPr/>
          <a:lstStyle/>
          <a:p>
            <a:fld id="{F51CCBE7-ABD4-48B2-BA38-8FA2BA66BB34}" type="slidenum">
              <a:rPr lang="en-US" smtClean="0"/>
              <a:t>21</a:t>
            </a:fld>
            <a:endParaRPr lang="en-US"/>
          </a:p>
        </p:txBody>
      </p:sp>
    </p:spTree>
    <p:extLst>
      <p:ext uri="{BB962C8B-B14F-4D97-AF65-F5344CB8AC3E}">
        <p14:creationId xmlns:p14="http://schemas.microsoft.com/office/powerpoint/2010/main" val="2535485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5003735" y="2882244"/>
            <a:ext cx="4526764" cy="322869"/>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8915400" y="3429000"/>
            <a:ext cx="3004634" cy="2677656"/>
          </a:xfrm>
          <a:prstGeom prst="rect">
            <a:avLst/>
          </a:prstGeom>
          <a:solidFill>
            <a:srgbClr val="FFF3F3"/>
          </a:solidFill>
          <a:ln w="28575">
            <a:solidFill>
              <a:srgbClr val="C00000"/>
            </a:solidFill>
          </a:ln>
        </p:spPr>
        <p:txBody>
          <a:bodyPr wrap="square" rtlCol="0">
            <a:spAutoFit/>
          </a:bodyPr>
          <a:lstStyle/>
          <a:p>
            <a:r>
              <a:rPr lang="en-US" sz="2400" dirty="0">
                <a:latin typeface="+mj-lt"/>
              </a:rPr>
              <a:t>SATA is </a:t>
            </a:r>
            <a:r>
              <a:rPr lang="en-US" sz="2400" i="1" dirty="0">
                <a:latin typeface="+mj-lt"/>
              </a:rPr>
              <a:t>serial advanced technology attachment</a:t>
            </a:r>
            <a:r>
              <a:rPr lang="en-US" sz="2400" dirty="0">
                <a:latin typeface="+mj-lt"/>
              </a:rPr>
              <a:t>, which describes how the hard drive connects to other system components.</a:t>
            </a:r>
          </a:p>
        </p:txBody>
      </p:sp>
      <p:cxnSp>
        <p:nvCxnSpPr>
          <p:cNvPr id="10" name="Straight Arrow Connector 9"/>
          <p:cNvCxnSpPr/>
          <p:nvPr/>
        </p:nvCxnSpPr>
        <p:spPr>
          <a:xfrm flipH="1" flipV="1">
            <a:off x="8399282" y="3205113"/>
            <a:ext cx="509049" cy="414780"/>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5C2B397-DEFD-534A-9F24-8E7869FC2513}"/>
              </a:ext>
            </a:extLst>
          </p:cNvPr>
          <p:cNvSpPr/>
          <p:nvPr/>
        </p:nvSpPr>
        <p:spPr bwMode="auto">
          <a:xfrm>
            <a:off x="5003735" y="5189266"/>
            <a:ext cx="2311465" cy="322869"/>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9" name="TextBox 8"/>
          <p:cNvSpPr txBox="1"/>
          <p:nvPr/>
        </p:nvSpPr>
        <p:spPr>
          <a:xfrm>
            <a:off x="989029" y="4135378"/>
            <a:ext cx="3004634" cy="1569660"/>
          </a:xfrm>
          <a:prstGeom prst="rect">
            <a:avLst/>
          </a:prstGeom>
          <a:solidFill>
            <a:srgbClr val="FFF3F3"/>
          </a:solidFill>
          <a:ln w="28575">
            <a:solidFill>
              <a:srgbClr val="C00000"/>
            </a:solidFill>
          </a:ln>
        </p:spPr>
        <p:txBody>
          <a:bodyPr wrap="square" rtlCol="0">
            <a:spAutoFit/>
          </a:bodyPr>
          <a:lstStyle/>
          <a:p>
            <a:r>
              <a:rPr lang="en-US" sz="2400" dirty="0">
                <a:latin typeface="+mj-lt"/>
              </a:rPr>
              <a:t>A DVD can store about 4.7 GB of data. This drive supports re-writeable discs.</a:t>
            </a:r>
          </a:p>
        </p:txBody>
      </p:sp>
      <p:cxnSp>
        <p:nvCxnSpPr>
          <p:cNvPr id="11" name="Straight Arrow Connector 10"/>
          <p:cNvCxnSpPr/>
          <p:nvPr/>
        </p:nvCxnSpPr>
        <p:spPr>
          <a:xfrm>
            <a:off x="4015819" y="4892511"/>
            <a:ext cx="955249" cy="304014"/>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9EBB184E-4EF0-45A4-AEE4-E1986B85C673}"/>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11E1677F-F867-4202-A84C-287859FDCF06}"/>
              </a:ext>
            </a:extLst>
          </p:cNvPr>
          <p:cNvSpPr>
            <a:spLocks noGrp="1"/>
          </p:cNvSpPr>
          <p:nvPr>
            <p:ph type="sldNum" sz="quarter" idx="12"/>
          </p:nvPr>
        </p:nvSpPr>
        <p:spPr/>
        <p:txBody>
          <a:bodyPr/>
          <a:lstStyle/>
          <a:p>
            <a:fld id="{F51CCBE7-ABD4-48B2-BA38-8FA2BA66BB34}" type="slidenum">
              <a:rPr lang="en-US" smtClean="0"/>
              <a:t>22</a:t>
            </a:fld>
            <a:endParaRPr lang="en-US"/>
          </a:p>
        </p:txBody>
      </p:sp>
    </p:spTree>
    <p:extLst>
      <p:ext uri="{BB962C8B-B14F-4D97-AF65-F5344CB8AC3E}">
        <p14:creationId xmlns:p14="http://schemas.microsoft.com/office/powerpoint/2010/main" val="2577496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4984882" y="3657600"/>
            <a:ext cx="4140264" cy="546755"/>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7523376" y="857520"/>
            <a:ext cx="3982824" cy="1938992"/>
          </a:xfrm>
          <a:prstGeom prst="rect">
            <a:avLst/>
          </a:prstGeom>
          <a:solidFill>
            <a:srgbClr val="FFF3F3"/>
          </a:solidFill>
          <a:ln w="28575">
            <a:solidFill>
              <a:srgbClr val="C00000"/>
            </a:solidFill>
          </a:ln>
        </p:spPr>
        <p:txBody>
          <a:bodyPr wrap="square" rtlCol="0">
            <a:spAutoFit/>
          </a:bodyPr>
          <a:lstStyle/>
          <a:p>
            <a:r>
              <a:rPr lang="en-US" sz="2400" dirty="0">
                <a:latin typeface="+mj-lt"/>
              </a:rPr>
              <a:t>Ports allow movement of data between a system and its external devices. This system has 12 ports and 4 expansion slots.</a:t>
            </a:r>
          </a:p>
        </p:txBody>
      </p:sp>
      <p:cxnSp>
        <p:nvCxnSpPr>
          <p:cNvPr id="10" name="Straight Arrow Connector 9"/>
          <p:cNvCxnSpPr/>
          <p:nvPr/>
        </p:nvCxnSpPr>
        <p:spPr>
          <a:xfrm flipH="1">
            <a:off x="8408709" y="2796512"/>
            <a:ext cx="506693" cy="813954"/>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F9E0E2EF-3600-4407-ABA4-0A5BBC14D1AE}"/>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0FCE60AE-B345-4EBE-AFF9-2C751DA6BFDA}"/>
              </a:ext>
            </a:extLst>
          </p:cNvPr>
          <p:cNvSpPr>
            <a:spLocks noGrp="1"/>
          </p:cNvSpPr>
          <p:nvPr>
            <p:ph type="sldNum" sz="quarter" idx="12"/>
          </p:nvPr>
        </p:nvSpPr>
        <p:spPr/>
        <p:txBody>
          <a:bodyPr/>
          <a:lstStyle/>
          <a:p>
            <a:fld id="{F51CCBE7-ABD4-48B2-BA38-8FA2BA66BB34}" type="slidenum">
              <a:rPr lang="en-US" smtClean="0"/>
              <a:t>23</a:t>
            </a:fld>
            <a:endParaRPr lang="en-US"/>
          </a:p>
        </p:txBody>
      </p:sp>
    </p:spTree>
    <p:extLst>
      <p:ext uri="{BB962C8B-B14F-4D97-AF65-F5344CB8AC3E}">
        <p14:creationId xmlns:p14="http://schemas.microsoft.com/office/powerpoint/2010/main" val="3109163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4984882" y="3657600"/>
            <a:ext cx="4140264" cy="546755"/>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381000" y="3820785"/>
            <a:ext cx="3982824" cy="1938992"/>
          </a:xfrm>
          <a:prstGeom prst="rect">
            <a:avLst/>
          </a:prstGeom>
          <a:solidFill>
            <a:srgbClr val="FFF3F3"/>
          </a:solidFill>
          <a:ln w="28575">
            <a:solidFill>
              <a:srgbClr val="C00000"/>
            </a:solidFill>
          </a:ln>
        </p:spPr>
        <p:txBody>
          <a:bodyPr wrap="square" rtlCol="0">
            <a:spAutoFit/>
          </a:bodyPr>
          <a:lstStyle/>
          <a:p>
            <a:r>
              <a:rPr lang="en-US" sz="2400" dirty="0">
                <a:latin typeface="+mj-lt"/>
              </a:rPr>
              <a:t>System buses can be augmented by dedicated I/O buses, like PCI. This system also has two </a:t>
            </a:r>
            <a:r>
              <a:rPr lang="en-US" sz="2400" dirty="0" err="1">
                <a:latin typeface="+mj-lt"/>
              </a:rPr>
              <a:t>PCIe</a:t>
            </a:r>
            <a:r>
              <a:rPr lang="en-US" sz="2400" dirty="0">
                <a:latin typeface="+mj-lt"/>
              </a:rPr>
              <a:t> devices: a video card and a sound card.</a:t>
            </a:r>
          </a:p>
        </p:txBody>
      </p:sp>
      <p:cxnSp>
        <p:nvCxnSpPr>
          <p:cNvPr id="10" name="Straight Arrow Connector 9"/>
          <p:cNvCxnSpPr/>
          <p:nvPr/>
        </p:nvCxnSpPr>
        <p:spPr>
          <a:xfrm flipV="1">
            <a:off x="4383464" y="3962400"/>
            <a:ext cx="584462" cy="807564"/>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5C2B397-DEFD-534A-9F24-8E7869FC2513}"/>
              </a:ext>
            </a:extLst>
          </p:cNvPr>
          <p:cNvSpPr/>
          <p:nvPr/>
        </p:nvSpPr>
        <p:spPr bwMode="auto">
          <a:xfrm>
            <a:off x="4984882" y="5486400"/>
            <a:ext cx="1943819" cy="546755"/>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cxnSp>
        <p:nvCxnSpPr>
          <p:cNvPr id="11" name="Straight Arrow Connector 10"/>
          <p:cNvCxnSpPr>
            <a:stCxn id="15" idx="3"/>
          </p:cNvCxnSpPr>
          <p:nvPr/>
        </p:nvCxnSpPr>
        <p:spPr>
          <a:xfrm>
            <a:off x="4363824" y="4790281"/>
            <a:ext cx="604102" cy="828094"/>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A254632D-2945-40A4-9C2D-306E253A39B0}"/>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A4B802DD-16CC-4F62-85E3-82456068DBCC}"/>
              </a:ext>
            </a:extLst>
          </p:cNvPr>
          <p:cNvSpPr>
            <a:spLocks noGrp="1"/>
          </p:cNvSpPr>
          <p:nvPr>
            <p:ph type="sldNum" sz="quarter" idx="12"/>
          </p:nvPr>
        </p:nvSpPr>
        <p:spPr/>
        <p:txBody>
          <a:bodyPr/>
          <a:lstStyle/>
          <a:p>
            <a:fld id="{F51CCBE7-ABD4-48B2-BA38-8FA2BA66BB34}" type="slidenum">
              <a:rPr lang="en-US" smtClean="0"/>
              <a:t>24</a:t>
            </a:fld>
            <a:endParaRPr lang="en-US"/>
          </a:p>
        </p:txBody>
      </p:sp>
    </p:spTree>
    <p:extLst>
      <p:ext uri="{BB962C8B-B14F-4D97-AF65-F5344CB8AC3E}">
        <p14:creationId xmlns:p14="http://schemas.microsoft.com/office/powerpoint/2010/main" val="3867180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5032016" y="4166647"/>
            <a:ext cx="4536190" cy="1074656"/>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381000" y="3820785"/>
            <a:ext cx="3982824" cy="1569660"/>
          </a:xfrm>
          <a:prstGeom prst="rect">
            <a:avLst/>
          </a:prstGeom>
          <a:solidFill>
            <a:srgbClr val="FFF3F3"/>
          </a:solidFill>
          <a:ln w="28575">
            <a:solidFill>
              <a:srgbClr val="C00000"/>
            </a:solidFill>
          </a:ln>
        </p:spPr>
        <p:txBody>
          <a:bodyPr wrap="square" rtlCol="0">
            <a:spAutoFit/>
          </a:bodyPr>
          <a:lstStyle/>
          <a:p>
            <a:r>
              <a:rPr lang="en-US" sz="2400" dirty="0">
                <a:latin typeface="+mj-lt"/>
              </a:rPr>
              <a:t>The computer’s monitor has 1920 x 1200 resolution (measured in pixels) and is supported by the video card.</a:t>
            </a:r>
          </a:p>
        </p:txBody>
      </p:sp>
      <p:cxnSp>
        <p:nvCxnSpPr>
          <p:cNvPr id="10" name="Straight Arrow Connector 9"/>
          <p:cNvCxnSpPr>
            <a:stCxn id="15" idx="3"/>
          </p:cNvCxnSpPr>
          <p:nvPr/>
        </p:nvCxnSpPr>
        <p:spPr>
          <a:xfrm>
            <a:off x="4363824" y="4605615"/>
            <a:ext cx="641809" cy="51227"/>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5C2B397-DEFD-534A-9F24-8E7869FC2513}"/>
              </a:ext>
            </a:extLst>
          </p:cNvPr>
          <p:cNvSpPr/>
          <p:nvPr/>
        </p:nvSpPr>
        <p:spPr bwMode="auto">
          <a:xfrm>
            <a:off x="4984883" y="5486401"/>
            <a:ext cx="1923918" cy="284480"/>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cxnSp>
        <p:nvCxnSpPr>
          <p:cNvPr id="11" name="Straight Arrow Connector 10"/>
          <p:cNvCxnSpPr>
            <a:stCxn id="15" idx="3"/>
          </p:cNvCxnSpPr>
          <p:nvPr/>
        </p:nvCxnSpPr>
        <p:spPr>
          <a:xfrm>
            <a:off x="4363824" y="4605615"/>
            <a:ext cx="604102" cy="1012760"/>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6246C38E-59A8-4052-BC55-29C4BA2524B6}"/>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5E238137-61E6-44C5-A373-6EE4CA05E5F0}"/>
              </a:ext>
            </a:extLst>
          </p:cNvPr>
          <p:cNvSpPr>
            <a:spLocks noGrp="1"/>
          </p:cNvSpPr>
          <p:nvPr>
            <p:ph type="sldNum" sz="quarter" idx="12"/>
          </p:nvPr>
        </p:nvSpPr>
        <p:spPr/>
        <p:txBody>
          <a:bodyPr/>
          <a:lstStyle/>
          <a:p>
            <a:fld id="{F51CCBE7-ABD4-48B2-BA38-8FA2BA66BB34}" type="slidenum">
              <a:rPr lang="en-US" smtClean="0"/>
              <a:t>25</a:t>
            </a:fld>
            <a:endParaRPr lang="en-US"/>
          </a:p>
        </p:txBody>
      </p:sp>
    </p:spTree>
    <p:extLst>
      <p:ext uri="{BB962C8B-B14F-4D97-AF65-F5344CB8AC3E}">
        <p14:creationId xmlns:p14="http://schemas.microsoft.com/office/powerpoint/2010/main" val="1420229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5013162" y="5993090"/>
            <a:ext cx="1538467" cy="322869"/>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8653806" y="2178270"/>
            <a:ext cx="3004634" cy="3046988"/>
          </a:xfrm>
          <a:prstGeom prst="rect">
            <a:avLst/>
          </a:prstGeom>
          <a:solidFill>
            <a:srgbClr val="FFF3F3"/>
          </a:solidFill>
          <a:ln w="28575">
            <a:solidFill>
              <a:srgbClr val="C00000"/>
            </a:solidFill>
          </a:ln>
        </p:spPr>
        <p:txBody>
          <a:bodyPr wrap="square" rtlCol="0">
            <a:spAutoFit/>
          </a:bodyPr>
          <a:lstStyle/>
          <a:p>
            <a:r>
              <a:rPr lang="en-US" sz="2400" dirty="0">
                <a:latin typeface="+mj-lt"/>
              </a:rPr>
              <a:t>The system has support for both wireless and wired communication, and for short-range wireless communication via Bluetooth.</a:t>
            </a:r>
          </a:p>
        </p:txBody>
      </p:sp>
      <p:cxnSp>
        <p:nvCxnSpPr>
          <p:cNvPr id="10" name="Straight Arrow Connector 9"/>
          <p:cNvCxnSpPr/>
          <p:nvPr/>
        </p:nvCxnSpPr>
        <p:spPr>
          <a:xfrm flipH="1" flipV="1">
            <a:off x="7824248" y="3280529"/>
            <a:ext cx="820131" cy="9426"/>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5C2B397-DEFD-534A-9F24-8E7869FC2513}"/>
              </a:ext>
            </a:extLst>
          </p:cNvPr>
          <p:cNvSpPr/>
          <p:nvPr/>
        </p:nvSpPr>
        <p:spPr bwMode="auto">
          <a:xfrm>
            <a:off x="5014733" y="3147766"/>
            <a:ext cx="2771807" cy="322869"/>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cxnSp>
        <p:nvCxnSpPr>
          <p:cNvPr id="11" name="Straight Arrow Connector 10"/>
          <p:cNvCxnSpPr/>
          <p:nvPr/>
        </p:nvCxnSpPr>
        <p:spPr>
          <a:xfrm flipH="1">
            <a:off x="6570482" y="3337089"/>
            <a:ext cx="2055044" cy="2648932"/>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A16AF16-3C55-4BB8-B62B-7E90BD8E7163}"/>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A2193D9B-2D27-46FC-A619-65A76AA4D10C}"/>
              </a:ext>
            </a:extLst>
          </p:cNvPr>
          <p:cNvSpPr>
            <a:spLocks noGrp="1"/>
          </p:cNvSpPr>
          <p:nvPr>
            <p:ph type="sldNum" sz="quarter" idx="12"/>
          </p:nvPr>
        </p:nvSpPr>
        <p:spPr/>
        <p:txBody>
          <a:bodyPr/>
          <a:lstStyle/>
          <a:p>
            <a:fld id="{F51CCBE7-ABD4-48B2-BA38-8FA2BA66BB34}" type="slidenum">
              <a:rPr lang="en-US" smtClean="0"/>
              <a:t>26</a:t>
            </a:fld>
            <a:endParaRPr lang="en-US"/>
          </a:p>
        </p:txBody>
      </p:sp>
    </p:spTree>
    <p:extLst>
      <p:ext uri="{BB962C8B-B14F-4D97-AF65-F5344CB8AC3E}">
        <p14:creationId xmlns:p14="http://schemas.microsoft.com/office/powerpoint/2010/main" val="4251867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a:extLst>
              <a:ext uri="{FF2B5EF4-FFF2-40B4-BE49-F238E27FC236}">
                <a16:creationId xmlns:a16="http://schemas.microsoft.com/office/drawing/2014/main" id="{615F66F8-8AE4-2045-9593-B877D68BF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6" y="1121978"/>
            <a:ext cx="9287153" cy="5431221"/>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7" name="Rectangle 6">
            <a:extLst>
              <a:ext uri="{FF2B5EF4-FFF2-40B4-BE49-F238E27FC236}">
                <a16:creationId xmlns:a16="http://schemas.microsoft.com/office/drawing/2014/main" id="{D5C2B397-DEFD-534A-9F24-8E7869FC2513}"/>
              </a:ext>
            </a:extLst>
          </p:cNvPr>
          <p:cNvSpPr/>
          <p:nvPr/>
        </p:nvSpPr>
        <p:spPr bwMode="auto">
          <a:xfrm>
            <a:off x="4994308" y="3381866"/>
            <a:ext cx="1679869" cy="322869"/>
          </a:xfrm>
          <a:prstGeom prst="rect">
            <a:avLst/>
          </a:prstGeom>
          <a:noFill/>
          <a:ln w="28575" cap="flat" cmpd="sng" algn="ctr">
            <a:solidFill>
              <a:srgbClr val="C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a:ln>
                <a:noFill/>
              </a:ln>
              <a:solidFill>
                <a:schemeClr val="tx1"/>
              </a:solidFill>
              <a:effectLst/>
              <a:latin typeface="Times New Roman" pitchFamily="18" charset="0"/>
            </a:endParaRPr>
          </a:p>
        </p:txBody>
      </p:sp>
      <p:sp>
        <p:nvSpPr>
          <p:cNvPr id="15" name="TextBox 14"/>
          <p:cNvSpPr txBox="1"/>
          <p:nvPr/>
        </p:nvSpPr>
        <p:spPr>
          <a:xfrm>
            <a:off x="8653806" y="2178270"/>
            <a:ext cx="3004634" cy="2677656"/>
          </a:xfrm>
          <a:prstGeom prst="rect">
            <a:avLst/>
          </a:prstGeom>
          <a:solidFill>
            <a:srgbClr val="FFF3F3"/>
          </a:solidFill>
          <a:ln w="28575">
            <a:solidFill>
              <a:srgbClr val="C00000"/>
            </a:solidFill>
          </a:ln>
        </p:spPr>
        <p:txBody>
          <a:bodyPr wrap="square" rtlCol="0">
            <a:spAutoFit/>
          </a:bodyPr>
          <a:lstStyle/>
          <a:p>
            <a:r>
              <a:rPr lang="en-US" sz="2400" dirty="0">
                <a:latin typeface="+mj-lt"/>
              </a:rPr>
              <a:t>A card reader makes it easier to transfer photos and other files from Secure Digital and other kinds of memory cards.</a:t>
            </a:r>
          </a:p>
        </p:txBody>
      </p:sp>
      <p:cxnSp>
        <p:nvCxnSpPr>
          <p:cNvPr id="10" name="Straight Arrow Connector 9"/>
          <p:cNvCxnSpPr/>
          <p:nvPr/>
        </p:nvCxnSpPr>
        <p:spPr>
          <a:xfrm flipH="1">
            <a:off x="6683604" y="3289955"/>
            <a:ext cx="1960776" cy="254523"/>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A0F68A44-1734-4068-9E54-BBE888FA95E4}"/>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292B663A-CF6A-4FA5-A262-C821011C09A1}"/>
              </a:ext>
            </a:extLst>
          </p:cNvPr>
          <p:cNvSpPr>
            <a:spLocks noGrp="1"/>
          </p:cNvSpPr>
          <p:nvPr>
            <p:ph type="sldNum" sz="quarter" idx="12"/>
          </p:nvPr>
        </p:nvSpPr>
        <p:spPr/>
        <p:txBody>
          <a:bodyPr/>
          <a:lstStyle/>
          <a:p>
            <a:fld id="{F51CCBE7-ABD4-48B2-BA38-8FA2BA66BB34}" type="slidenum">
              <a:rPr lang="en-US" smtClean="0"/>
              <a:t>27</a:t>
            </a:fld>
            <a:endParaRPr lang="en-US"/>
          </a:p>
        </p:txBody>
      </p:sp>
    </p:spTree>
    <p:extLst>
      <p:ext uri="{BB962C8B-B14F-4D97-AF65-F5344CB8AC3E}">
        <p14:creationId xmlns:p14="http://schemas.microsoft.com/office/powerpoint/2010/main" val="32695968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828800" y="152400"/>
            <a:ext cx="8441311" cy="6198325"/>
          </a:xfrm>
          <a:prstGeom prst="rect">
            <a:avLst/>
          </a:prstGeom>
        </p:spPr>
      </p:pic>
      <p:sp>
        <p:nvSpPr>
          <p:cNvPr id="3" name="Footer Placeholder 2">
            <a:extLst>
              <a:ext uri="{FF2B5EF4-FFF2-40B4-BE49-F238E27FC236}">
                <a16:creationId xmlns:a16="http://schemas.microsoft.com/office/drawing/2014/main" id="{620048C6-A2A4-4601-A115-B65276660542}"/>
              </a:ext>
            </a:extLst>
          </p:cNvPr>
          <p:cNvSpPr>
            <a:spLocks noGrp="1"/>
          </p:cNvSpPr>
          <p:nvPr>
            <p:ph type="ftr" sz="quarter" idx="11"/>
          </p:nvPr>
        </p:nvSpPr>
        <p:spPr/>
        <p:txBody>
          <a:bodyPr/>
          <a:lstStyle/>
          <a:p>
            <a:r>
              <a:rPr lang="en-US"/>
              <a:t>SBU - ISE 218 - Fundamentals of Information Technology </a:t>
            </a:r>
          </a:p>
        </p:txBody>
      </p:sp>
      <p:sp>
        <p:nvSpPr>
          <p:cNvPr id="2" name="Slide Number Placeholder 1">
            <a:extLst>
              <a:ext uri="{FF2B5EF4-FFF2-40B4-BE49-F238E27FC236}">
                <a16:creationId xmlns:a16="http://schemas.microsoft.com/office/drawing/2014/main" id="{B9B0633E-F2A2-41F2-8DD9-56CD79271310}"/>
              </a:ext>
            </a:extLst>
          </p:cNvPr>
          <p:cNvSpPr>
            <a:spLocks noGrp="1"/>
          </p:cNvSpPr>
          <p:nvPr>
            <p:ph type="sldNum" sz="quarter" idx="12"/>
          </p:nvPr>
        </p:nvSpPr>
        <p:spPr/>
        <p:txBody>
          <a:bodyPr/>
          <a:lstStyle/>
          <a:p>
            <a:fld id="{F51CCBE7-ABD4-48B2-BA38-8FA2BA66BB34}" type="slidenum">
              <a:rPr lang="en-US" smtClean="0"/>
              <a:t>28</a:t>
            </a:fld>
            <a:endParaRPr lang="en-US"/>
          </a:p>
        </p:txBody>
      </p:sp>
    </p:spTree>
    <p:extLst>
      <p:ext uri="{BB962C8B-B14F-4D97-AF65-F5344CB8AC3E}">
        <p14:creationId xmlns:p14="http://schemas.microsoft.com/office/powerpoint/2010/main" val="3329868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An Example System</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altLang="en-US" dirty="0"/>
              <a:t>Throughout the remainder of the course you will see how these components work and how they interact with software to make complete computer systems.</a:t>
            </a:r>
          </a:p>
          <a:p>
            <a:r>
              <a:rPr lang="en-US" dirty="0"/>
              <a:t>This statement raises two important questions:</a:t>
            </a:r>
          </a:p>
          <a:p>
            <a:pPr lvl="1"/>
            <a:r>
              <a:rPr lang="en-US" dirty="0"/>
              <a:t>What assurance do we have that computer components will operate as we expect?</a:t>
            </a:r>
          </a:p>
          <a:p>
            <a:pPr lvl="1"/>
            <a:r>
              <a:rPr lang="en-US" dirty="0"/>
              <a:t>And what assurance do we have that computer components will operate together?</a:t>
            </a:r>
          </a:p>
          <a:p>
            <a:endParaRPr lang="en-US" dirty="0"/>
          </a:p>
        </p:txBody>
      </p:sp>
      <p:sp>
        <p:nvSpPr>
          <p:cNvPr id="4" name="Footer Placeholder 3">
            <a:extLst>
              <a:ext uri="{FF2B5EF4-FFF2-40B4-BE49-F238E27FC236}">
                <a16:creationId xmlns:a16="http://schemas.microsoft.com/office/drawing/2014/main" id="{82C297D3-7CE2-4A2B-B7B9-E3EA5455AFB5}"/>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44CAD077-2199-4828-B720-272CD4EA8739}"/>
              </a:ext>
            </a:extLst>
          </p:cNvPr>
          <p:cNvSpPr>
            <a:spLocks noGrp="1"/>
          </p:cNvSpPr>
          <p:nvPr>
            <p:ph type="sldNum" sz="quarter" idx="12"/>
          </p:nvPr>
        </p:nvSpPr>
        <p:spPr/>
        <p:txBody>
          <a:bodyPr/>
          <a:lstStyle/>
          <a:p>
            <a:fld id="{F51CCBE7-ABD4-48B2-BA38-8FA2BA66BB34}" type="slidenum">
              <a:rPr lang="en-US" smtClean="0"/>
              <a:t>29</a:t>
            </a:fld>
            <a:endParaRPr lang="en-US"/>
          </a:p>
        </p:txBody>
      </p:sp>
    </p:spTree>
    <p:extLst>
      <p:ext uri="{BB962C8B-B14F-4D97-AF65-F5344CB8AC3E}">
        <p14:creationId xmlns:p14="http://schemas.microsoft.com/office/powerpoint/2010/main" val="2084720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Standards Organizations</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There are many organizations that set computer hardware standards, including standards to ensure the interoperability of computer components.</a:t>
            </a:r>
          </a:p>
          <a:p>
            <a:r>
              <a:rPr lang="en-US" dirty="0"/>
              <a:t>Some of the most important standards-setting groups are:</a:t>
            </a:r>
          </a:p>
          <a:p>
            <a:pPr lvl="1"/>
            <a:r>
              <a:rPr lang="en-US" altLang="en-US" dirty="0"/>
              <a:t>The Institute of Electrical and Electronic Engineers (IEEE)</a:t>
            </a:r>
          </a:p>
          <a:p>
            <a:pPr lvl="2"/>
            <a:r>
              <a:rPr lang="en-US" altLang="en-US" dirty="0"/>
              <a:t>Establishes standards for computer components, data </a:t>
            </a:r>
            <a:br>
              <a:rPr lang="en-US" altLang="en-US" dirty="0"/>
            </a:br>
            <a:r>
              <a:rPr lang="en-US" altLang="en-US" dirty="0"/>
              <a:t>representation, and signaling protocols, among many other things.</a:t>
            </a:r>
          </a:p>
          <a:p>
            <a:r>
              <a:rPr lang="en-US" altLang="en-US" dirty="0"/>
              <a:t>The International Telecommunications Union (ITU)</a:t>
            </a:r>
          </a:p>
          <a:p>
            <a:pPr lvl="1"/>
            <a:r>
              <a:rPr lang="en-US" altLang="en-US" dirty="0"/>
              <a:t>Concerns itself with the interoperability of telecommunications</a:t>
            </a:r>
            <a:br>
              <a:rPr lang="en-US" altLang="en-US" dirty="0"/>
            </a:br>
            <a:r>
              <a:rPr lang="en-US" altLang="en-US" dirty="0"/>
              <a:t>systems, including data communications and telephony.</a:t>
            </a:r>
          </a:p>
          <a:p>
            <a:r>
              <a:rPr lang="en-US" altLang="en-US" dirty="0"/>
              <a:t>The International Organization for Standardization (ISO)</a:t>
            </a:r>
          </a:p>
          <a:p>
            <a:pPr lvl="1"/>
            <a:r>
              <a:rPr lang="en-US" altLang="en-US" dirty="0"/>
              <a:t>Is influential in formulating standards for computer hardware </a:t>
            </a:r>
            <a:br>
              <a:rPr lang="en-US" altLang="en-US" dirty="0"/>
            </a:br>
            <a:r>
              <a:rPr lang="en-US" altLang="en-US" dirty="0"/>
              <a:t>and software, including their methods of manufacture.</a:t>
            </a:r>
          </a:p>
          <a:p>
            <a:endParaRPr lang="en-US" dirty="0"/>
          </a:p>
        </p:txBody>
      </p:sp>
      <p:pic>
        <p:nvPicPr>
          <p:cNvPr id="1030" name="Picture 6" descr="https://www.itu.int/PublishingImages/masterpage/logos/itu-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3718" y="3571141"/>
            <a:ext cx="1095590" cy="126914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www.ieee.org/content/dam/ieee-org/ieee/web/org/globals/88857-22.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3718" y="2337412"/>
            <a:ext cx="1391721" cy="781505"/>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16" descr="data:image/png;base64,iVBORw0KGgoAAAANSUhEUgAAAJcAAACLCAMAAABbVfurAAAAhFBMVEXiAA/////hAADiAArpaWn/+/viAAbkAAD/09T/8fL4srX0l5rqUVPzen3mGx7/9vbrMDb/7O36vL7kJCfxpKXsS1DoVVb1d3r5zc792tv+4uP7ysv3rK/2k5b5wsT/5+joOTzvZmj0iYzvX2P1g4b1n6HoPkLscHHybnLtjY3uRkvxVlyYCELdAAAK7klEQVR4nO1bCZOqvBKFzkAEZReGXRFwvM7//38vCaIQwjIuM9+r8lTduiOQ5NDp9JYgSW+88cYbb7zxxhv/DaAWf02kBYILVPJD7f74U1LYPH5XW91dxY6syFYcu/r2X3G2McBfkSJiwZ/bxNEUmYPlRGnmkfu/P6tkxs5V1CWjROFK617Q1qX5y1ID8IzEaWQTJ7VF/k9KD4O/pX+6euRcqGbHX2QG4NfNwLFunDEkhF1BJ42sgX0sy84e7CKLLEYtP+HfYUZkpbMhtbS06drbEiZFq0pwXMlyRHXL9LMdY7Yqf0FmCI411XMlqTAzB1CRH8VtYDAJm7wRHpQ607i8eDUzMA8Om51SaiQEe/J73R0VAsKlaq6QxVFToSnp8ZXEEJsl8v4lvs6bS1Qe9+wBHMjE2hceAPaWytcxXicyMNd0iFVwM0xwIjq/74+IMFkI+vUa0UeX6mP+KpGBmdMp+Wfe+kdmKMtbfjwoLNnZdFQOCrJK5d3HK4ghKKlmuceu7wNDkXf2YDg6uXlP59Caiqx+gcmgFMgcUsd3nUYEEaf0l2d98qjXXm88e0Wbp+aTiSFIL94mTtZfgUnZqQgCMjueIHagT+uAGkZm8JUlUeNEY+mpxBBeU04XB61YUehWvudBTrVLBF+RnaPk2WfDDaPWsdP/wmdqv8qk5ar+2nW6rnmnyIqeHU6ncrPZ+EcCn/xRnk6Hf+SxKO6GGDu3Ple0zVAd7wWCmuoGi/fs82GbO5bViyQUqwelF/golpOnB9+jk2oQuvHTJAZ0EjPM9IhGpNj2y3Xqrhw+7uKhRW6anc72NYKFkk7lk5QfMpmq0c2mo0u4vCGz8pnpSRKGYbS6IFolYZLoGTFsGZKaoPrWFE5EYrn5jDAbSjJpuqAr6m90NjDGyLwCYWZKiCMIJUGjShZY4nto7ckbJgLnhiRivL4u11EHzQUgur4RjE/fRs4eJsacneOJBjgS/cKjETy1+YagGQKdMD4/SowuRU3YC3xROY43NEZug0QjR/sxFaMueETq1KYdJnj5mqzgsTty/ZjAoKyMQjxZ8GUYk2/9YRimuGVgGNWDE9nx0oJbk5Mx2fLPst6/BVIZfpJXNw1+0gLBFLiemM3HamNL8eDp0f4xayBhQZdjtLyPKXR1nJCyi4MexzuHIY6jvK66Tw80npDyWJO2hV59mIuowcaa8MHKzUiSUO8zjCeeJU9z0QyRU5kPmkT594K6D2w00RA8LwSbdOoFBLzQJY0UIK73czJbxgukbOoxES9QDxMhUZzNiGwRL/BW86z6vOAcTT+c+JPElvCC48wYA14Iqvn4sZgitoCXCouk1eXFAq7Zx6fc0gJetKb0M17wb1DlHO39bl5wXDRIhxcUC1sIY8jFvHT+qhMnLkEU7/rjX3jBfsQ8DBGN5m+zvJDJWUYt25vMH0ne/iPrroiWVzrsaJeua12wFEaDftjEGgP36s1F5xPgo39nR4x144CbjN+8CafhBSd+Fq3MbPwnTgdCGIutkek3cHuPR5vmKklMjf4wfByLbxJjvBCtE/QQF23IpkLAy8wdE1gbT/S1aCW18QTLbzvg1xDuTDPlBXtuZKdbwYMz5820cdVvGnC8rqEBry0550Bw8XkFbcQ/zxkDmpn0IKhYLePFW6+aKksnxOtHawhzyyTqJwosAe0iHs/6pnkdOF6ysy197zrPfD8FN1H8vPN6YU1XVMZ58YKnUKIwr41ys1d5cvxr8PXhpsIwRXwpL76f3qhRohsbs5MiQX9ddzq6QPW4iVwL880WeIyXytvVgeysUMdXoQE36iD7ZjWGLtz79IsVBWax+miqzghzPmho0Hn7Fovz4Hlex9kAWqabLqzMokqc4RwWDXhDEnv38SJRywJepH/qUlST4zWMsVjFr9tusq4wwQthTpdHsCNLb8BLIC/OUNzNi4T3y4jlgH5TXuQm3i7RMWKKlsiLW0d365dEnbvPRwkirEx1wXrk7MS96/FyHzbbeC6HtEoAztrlA168/cqlR3ixzc4gE8WcHayBl0bIl32QyWVX00XEUXvfQVPB94razVc7S5RbuMD7R23gHwOu4Z3+cfgkqxsdg9M2GSyGZBB2yyeeF0dcmcm7R3l1C2RS7yI+8xnGCgbuNOT3m7lp3E3HX6PziLzgiiNnaWAQPQDi0zrlqx+vnrhXmd4G4bvrxDlft6s63wfvokj0AGdu4F13fwJsbuFYwVhChBtwvC6XyTgdhUnneJHsBkHIEQv3bXyGwOYrMOEILfWouwx9e6g1F92yp8gu7m6UIRVUbhi65uGLX6k7w7zsdB0GmfiYuKbrmGQR9xbYLjV826RyJIOY+4qjReyq2M077jb7t3WHdlkfrfbP1QG4ha9oca6naZ2merLjBdO4YPAXOVPGdzTp+CmvSbQHdESpirD78dLcM3ldPfDSitlETvtEXspVhxEfY43RGjepz+PVLUsuInaYqpU/jZfTc4QIypniXFRMlvCfxSvhC1mwrycaaqlol/rpvELBATTAgT7S1NLPczsx87wKS2khskuKtkoD8VYUidXWCX8AV9GSbMEJV2Rn63FkPiDbuBW41nqeRE5LT3FWuV4F3vgo5M7G0JPo8u5WlBOHIS06SK3CJAQblJLpNTAlca2p995Nk6aBxE5/vOicMmpPxMDiDdi2xY+2eP+PgMY3r1V1WjnQ6H0013QWyLPtEfOi2p5tTjb1bPEdMEmvj80jfMZxVI6cN4l3X+OLXN2HcSTUOtXM43gQ7/4M7IBqLJQY3cCb6B0+SOwouo1oiKGNBadLwbIDV5RA0fBWmeBVjxzfYRuS0xnsImI0shMl6IhWbcczUSAGVKQA7NSQPp0pLiNG4xTRfiqVSD1qhX0SJwgydTgSWiv8hIN8SCLJg9bX8MY4fpOhz5ugKKqq2qYNsqoyiiLwvW1Lun/WfB811cQnACSaBrbxN/Mm3uZkrF0+O+zFCeRflB5OxbF7JAokEopp02WIHxCjL0mCvWaTcV+wI7zLQkRF2a3C+ttuDmXBMRxUAx4i5sU0OMb7os47sRALdiLXTdNtByRtc/OIox2568BmJxKtyTMJPyV2XtFPOq4Hna1d4urZyY+oLRgeZsJob8lWZax1d6W11THLccnbaY9biB6x254defXT2W4OShEbEopsOl3DEaNoHr+NrXttbIl9xwPETFZNyc/Ntl7jzBE1Uny1TaIbUkS9m93Xy1F3u2RFzWhmS/YeYohW3pyqF5FSE5YMbSQtBEbdvTGADV2842cRHgBiZ5vlyO9u5dHzEQObS7/dUT67pS6TpR31a047Iqb9slbjm62kOykRf3aabkclnd0uONFiD9H4V30VCXCgItsdvN4XHlz9kR1mv8YLgD+YarnP/rSjCwQB1RMlqtrKLz260V9kqhldy5xE63328dCuUl97YhXgk1Xg4oPdHKtl0VRHn1Vai2NTS0iZX0xWWopf/4kmmBkzR1Z6Iumiyg7QhVdPzL65IDadkgrW7EFNnz1C+BQQKs0ZISVODSJA6l2IBVAZK1YuJ7OMgzpsvkasz7/0ASRlhr6TxlFacVZUzLDRgq70TdUvDaqk8T5WbPzup6xEMOdsdakCNByi7WGdsL/auny8LfHvfzFNxLP/ar+k5WHFYbV5XaI/T830jcztc7OSdVV66i8swQlcSinY9guKwL6cO/uPfJB/q/T88Rf4b7zxxhtvvPHGG2/ch/8B2XCvfWZPPqIAAAAASUVORK5CYII="/>
          <p:cNvSpPr>
            <a:spLocks noChangeAspect="1" noChangeArrowheads="1"/>
          </p:cNvSpPr>
          <p:nvPr/>
        </p:nvSpPr>
        <p:spPr bwMode="auto">
          <a:xfrm>
            <a:off x="155574" y="-979491"/>
            <a:ext cx="1139825" cy="11398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60427" y="4992690"/>
            <a:ext cx="1224337" cy="1127039"/>
          </a:xfrm>
          <a:prstGeom prst="rect">
            <a:avLst/>
          </a:prstGeom>
        </p:spPr>
      </p:pic>
      <p:sp>
        <p:nvSpPr>
          <p:cNvPr id="4" name="Footer Placeholder 3">
            <a:extLst>
              <a:ext uri="{FF2B5EF4-FFF2-40B4-BE49-F238E27FC236}">
                <a16:creationId xmlns:a16="http://schemas.microsoft.com/office/drawing/2014/main" id="{6173D267-777B-4C78-9805-38E8BE5A7CEB}"/>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BA185A91-3571-4452-A495-75E160E6C6DB}"/>
              </a:ext>
            </a:extLst>
          </p:cNvPr>
          <p:cNvSpPr>
            <a:spLocks noGrp="1"/>
          </p:cNvSpPr>
          <p:nvPr>
            <p:ph type="sldNum" sz="quarter" idx="12"/>
          </p:nvPr>
        </p:nvSpPr>
        <p:spPr/>
        <p:txBody>
          <a:bodyPr/>
          <a:lstStyle/>
          <a:p>
            <a:fld id="{F51CCBE7-ABD4-48B2-BA38-8FA2BA66BB34}" type="slidenum">
              <a:rPr lang="en-US" smtClean="0"/>
              <a:t>30</a:t>
            </a:fld>
            <a:endParaRPr lang="en-US"/>
          </a:p>
        </p:txBody>
      </p:sp>
    </p:spTree>
    <p:extLst>
      <p:ext uri="{BB962C8B-B14F-4D97-AF65-F5344CB8AC3E}">
        <p14:creationId xmlns:p14="http://schemas.microsoft.com/office/powerpoint/2010/main" val="3639173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838200" y="189471"/>
            <a:ext cx="10515600" cy="1325563"/>
          </a:xfrm>
        </p:spPr>
        <p:txBody>
          <a:bodyPr/>
          <a:lstStyle/>
          <a:p>
            <a:r>
              <a:rPr lang="en-US" dirty="0"/>
              <a:t>A Quick History of Computing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endParaRPr lang="en-US" dirty="0"/>
          </a:p>
        </p:txBody>
      </p:sp>
      <p:pic>
        <p:nvPicPr>
          <p:cNvPr id="4" name="Picture 3" descr="abacus2">
            <a:extLst>
              <a:ext uri="{FF2B5EF4-FFF2-40B4-BE49-F238E27FC236}">
                <a16:creationId xmlns:a16="http://schemas.microsoft.com/office/drawing/2014/main" id="{4FCEDF6F-6981-47B5-8294-2735CDB93EF3}"/>
              </a:ext>
            </a:extLst>
          </p:cNvPr>
          <p:cNvPicPr>
            <a:picLocks noChangeAspect="1" noChangeArrowheads="1"/>
          </p:cNvPicPr>
          <p:nvPr/>
        </p:nvPicPr>
        <p:blipFill rotWithShape="1">
          <a:blip r:embed="rId3" cstate="print"/>
          <a:srcRect l="6470" t="18755" r="5173" b="21036"/>
          <a:stretch/>
        </p:blipFill>
        <p:spPr bwMode="auto">
          <a:xfrm>
            <a:off x="1443376" y="1143000"/>
            <a:ext cx="4805024" cy="2454798"/>
          </a:xfrm>
          <a:prstGeom prst="rect">
            <a:avLst/>
          </a:prstGeom>
          <a:noFill/>
          <a:ln>
            <a:noFill/>
          </a:ln>
        </p:spPr>
      </p:pic>
      <p:pic>
        <p:nvPicPr>
          <p:cNvPr id="5" name="Picture 2" descr="File:Arts et Metiers Pascaline dsc03869.jpg">
            <a:extLst>
              <a:ext uri="{FF2B5EF4-FFF2-40B4-BE49-F238E27FC236}">
                <a16:creationId xmlns:a16="http://schemas.microsoft.com/office/drawing/2014/main" id="{4719CDEA-48F3-4345-8670-57086B514E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714736"/>
            <a:ext cx="4694914" cy="25704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upload.wikimedia.org/wikipedia/commons/thumb/1/18/Hand-driven-jacquard-loom.jpg/800px-Hand-driven-jacquard-loom.jpg">
            <a:extLst>
              <a:ext uri="{FF2B5EF4-FFF2-40B4-BE49-F238E27FC236}">
                <a16:creationId xmlns:a16="http://schemas.microsoft.com/office/drawing/2014/main" id="{F3BFC9C9-62B1-4E47-853A-77FFB21DF0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24600" y="1204444"/>
            <a:ext cx="3886200" cy="51832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upload.wikimedia.org/wikipedia/commons/c/cc/Babbages_Analytical_Engine,_1834-1871._(9660574685).jpg">
            <a:extLst>
              <a:ext uri="{FF2B5EF4-FFF2-40B4-BE49-F238E27FC236}">
                <a16:creationId xmlns:a16="http://schemas.microsoft.com/office/drawing/2014/main" id="{2DBFA50A-94C6-4460-9B30-094D11296485}"/>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8834" r="6804"/>
          <a:stretch/>
        </p:blipFill>
        <p:spPr bwMode="auto">
          <a:xfrm>
            <a:off x="1524000" y="1720106"/>
            <a:ext cx="4694914" cy="435415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91A1F44-A1DA-431E-A32D-3ACA33C5B790}"/>
              </a:ext>
            </a:extLst>
          </p:cNvPr>
          <p:cNvPicPr>
            <a:picLocks noChangeAspect="1" noChangeArrowheads="1"/>
          </p:cNvPicPr>
          <p:nvPr/>
        </p:nvPicPr>
        <p:blipFill rotWithShape="1">
          <a:blip r:embed="rId7" cstate="print"/>
          <a:srcRect r="38983"/>
          <a:stretch/>
        </p:blipFill>
        <p:spPr bwMode="auto">
          <a:xfrm>
            <a:off x="6441626" y="1443410"/>
            <a:ext cx="3769174" cy="4721452"/>
          </a:xfrm>
          <a:prstGeom prst="rect">
            <a:avLst/>
          </a:prstGeom>
          <a:noFill/>
          <a:ln w="9525">
            <a:noFill/>
            <a:miter lim="800000"/>
            <a:headEnd/>
            <a:tailEnd/>
          </a:ln>
        </p:spPr>
      </p:pic>
      <p:pic>
        <p:nvPicPr>
          <p:cNvPr id="9" name="Picture 8">
            <a:extLst>
              <a:ext uri="{FF2B5EF4-FFF2-40B4-BE49-F238E27FC236}">
                <a16:creationId xmlns:a16="http://schemas.microsoft.com/office/drawing/2014/main" id="{D8B4B8D5-1A1D-47FC-8C38-C6C20C608D81}"/>
              </a:ext>
            </a:extLst>
          </p:cNvPr>
          <p:cNvPicPr>
            <a:picLocks noChangeAspect="1" noChangeArrowheads="1"/>
          </p:cNvPicPr>
          <p:nvPr/>
        </p:nvPicPr>
        <p:blipFill>
          <a:blip r:embed="rId8" cstate="print"/>
          <a:srcRect l="6383" t="11348" r="14894" b="9220"/>
          <a:stretch>
            <a:fillRect/>
          </a:stretch>
        </p:blipFill>
        <p:spPr bwMode="auto">
          <a:xfrm>
            <a:off x="3062773" y="1777066"/>
            <a:ext cx="5335630" cy="4037774"/>
          </a:xfrm>
          <a:prstGeom prst="rect">
            <a:avLst/>
          </a:prstGeom>
          <a:noFill/>
          <a:ln w="9525">
            <a:noFill/>
            <a:miter lim="800000"/>
            <a:headEnd/>
            <a:tailEnd/>
          </a:ln>
        </p:spPr>
      </p:pic>
      <p:sp>
        <p:nvSpPr>
          <p:cNvPr id="10" name="Footer Placeholder 9">
            <a:extLst>
              <a:ext uri="{FF2B5EF4-FFF2-40B4-BE49-F238E27FC236}">
                <a16:creationId xmlns:a16="http://schemas.microsoft.com/office/drawing/2014/main" id="{D06BA1EC-E796-45A0-9C5B-55CCD5B7ABC1}"/>
              </a:ext>
            </a:extLst>
          </p:cNvPr>
          <p:cNvSpPr>
            <a:spLocks noGrp="1"/>
          </p:cNvSpPr>
          <p:nvPr>
            <p:ph type="ftr" sz="quarter" idx="11"/>
          </p:nvPr>
        </p:nvSpPr>
        <p:spPr/>
        <p:txBody>
          <a:bodyPr/>
          <a:lstStyle/>
          <a:p>
            <a:r>
              <a:rPr lang="en-US"/>
              <a:t>SBU - ISE 218 - Fundamentals of Information Technology </a:t>
            </a:r>
          </a:p>
        </p:txBody>
      </p:sp>
      <p:sp>
        <p:nvSpPr>
          <p:cNvPr id="11" name="Slide Number Placeholder 10">
            <a:extLst>
              <a:ext uri="{FF2B5EF4-FFF2-40B4-BE49-F238E27FC236}">
                <a16:creationId xmlns:a16="http://schemas.microsoft.com/office/drawing/2014/main" id="{EFDF996D-70F9-486C-A13E-3CF83A12FC46}"/>
              </a:ext>
            </a:extLst>
          </p:cNvPr>
          <p:cNvSpPr>
            <a:spLocks noGrp="1"/>
          </p:cNvSpPr>
          <p:nvPr>
            <p:ph type="sldNum" sz="quarter" idx="12"/>
          </p:nvPr>
        </p:nvSpPr>
        <p:spPr/>
        <p:txBody>
          <a:bodyPr/>
          <a:lstStyle/>
          <a:p>
            <a:fld id="{F51CCBE7-ABD4-48B2-BA38-8FA2BA66BB34}" type="slidenum">
              <a:rPr lang="en-US" smtClean="0"/>
              <a:t>31</a:t>
            </a:fld>
            <a:endParaRPr lang="en-US"/>
          </a:p>
        </p:txBody>
      </p:sp>
    </p:spTree>
    <p:extLst>
      <p:ext uri="{BB962C8B-B14F-4D97-AF65-F5344CB8AC3E}">
        <p14:creationId xmlns:p14="http://schemas.microsoft.com/office/powerpoint/2010/main" val="93318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4"/>
                                        </p:tgtEl>
                                      </p:cBhvr>
                                    </p:animEffect>
                                    <p:set>
                                      <p:cBhvr>
                                        <p:cTn id="19" dur="1" fill="hold">
                                          <p:stCondLst>
                                            <p:cond delay="499"/>
                                          </p:stCondLst>
                                        </p:cTn>
                                        <p:tgtEl>
                                          <p:spTgt spid="4"/>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6"/>
                                        </p:tgtEl>
                                      </p:cBhvr>
                                    </p:animEffect>
                                    <p:set>
                                      <p:cBhvr>
                                        <p:cTn id="30" dur="1" fill="hold">
                                          <p:stCondLst>
                                            <p:cond delay="499"/>
                                          </p:stCondLst>
                                        </p:cTn>
                                        <p:tgtEl>
                                          <p:spTgt spid="6"/>
                                        </p:tgtEl>
                                        <p:attrNameLst>
                                          <p:attrName>style.visibility</p:attrName>
                                        </p:attrNameLst>
                                      </p:cBhvr>
                                      <p:to>
                                        <p:strVal val="hidden"/>
                                      </p:to>
                                    </p:set>
                                  </p:childTnLst>
                                </p:cTn>
                              </p:par>
                              <p:par>
                                <p:cTn id="31" presetID="10"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500"/>
                                        <p:tgtEl>
                                          <p:spTgt spid="7"/>
                                        </p:tgtEl>
                                      </p:cBhvr>
                                    </p:animEffect>
                                    <p:set>
                                      <p:cBhvr>
                                        <p:cTn id="38" dur="1" fill="hold">
                                          <p:stCondLst>
                                            <p:cond delay="499"/>
                                          </p:stCondLst>
                                        </p:cTn>
                                        <p:tgtEl>
                                          <p:spTgt spid="7"/>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8"/>
                                        </p:tgtEl>
                                      </p:cBhvr>
                                    </p:animEffect>
                                    <p:set>
                                      <p:cBhvr>
                                        <p:cTn id="41" dur="1" fill="hold">
                                          <p:stCondLst>
                                            <p:cond delay="499"/>
                                          </p:stCondLst>
                                        </p:cTn>
                                        <p:tgtEl>
                                          <p:spTgt spid="8"/>
                                        </p:tgtEl>
                                        <p:attrNameLst>
                                          <p:attrName>style.visibility</p:attrName>
                                        </p:attrNameLst>
                                      </p:cBhvr>
                                      <p:to>
                                        <p:strVal val="hidden"/>
                                      </p:to>
                                    </p:set>
                                  </p:childTnLst>
                                </p:cTn>
                              </p:par>
                              <p:par>
                                <p:cTn id="42" presetID="10"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Transistors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As manufacturing technologies improved in the 1950s and 1960s, engineers were able to pack many more transistors per unit area on silicon wafers</a:t>
            </a:r>
          </a:p>
          <a:p>
            <a:r>
              <a:rPr lang="en-US" b="1" dirty="0"/>
              <a:t>Moore’s law: </a:t>
            </a:r>
            <a:r>
              <a:rPr lang="en-US" dirty="0"/>
              <a:t>Moore observed that the number of components within an integrated circuit was doubling every 18 months, a trend which has continued pretty steadily since then. But transistors can be only so small!</a:t>
            </a:r>
          </a:p>
          <a:p>
            <a:pPr lvl="0"/>
            <a:r>
              <a:rPr lang="en-US" dirty="0"/>
              <a:t>To combat miniaturization challenges, manufacturers like Intel and AMD (Advanced Micro Devices) now make processors that feature multiple processing </a:t>
            </a:r>
            <a:r>
              <a:rPr lang="en-US" b="1" dirty="0"/>
              <a:t>cores</a:t>
            </a:r>
            <a:r>
              <a:rPr lang="en-US" dirty="0"/>
              <a:t> that perform calculations in parallel</a:t>
            </a:r>
          </a:p>
          <a:p>
            <a:endParaRPr lang="en-US" dirty="0"/>
          </a:p>
        </p:txBody>
      </p:sp>
      <p:sp>
        <p:nvSpPr>
          <p:cNvPr id="4" name="Footer Placeholder 3">
            <a:extLst>
              <a:ext uri="{FF2B5EF4-FFF2-40B4-BE49-F238E27FC236}">
                <a16:creationId xmlns:a16="http://schemas.microsoft.com/office/drawing/2014/main" id="{F04136B1-1B9A-4E17-9D4A-23B903F0744C}"/>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AEC9538D-D073-40F3-A491-1C7CE8840421}"/>
              </a:ext>
            </a:extLst>
          </p:cNvPr>
          <p:cNvSpPr>
            <a:spLocks noGrp="1"/>
          </p:cNvSpPr>
          <p:nvPr>
            <p:ph type="sldNum" sz="quarter" idx="12"/>
          </p:nvPr>
        </p:nvSpPr>
        <p:spPr/>
        <p:txBody>
          <a:bodyPr/>
          <a:lstStyle/>
          <a:p>
            <a:fld id="{F51CCBE7-ABD4-48B2-BA38-8FA2BA66BB34}" type="slidenum">
              <a:rPr lang="en-US" smtClean="0"/>
              <a:t>32</a:t>
            </a:fld>
            <a:endParaRPr lang="en-US"/>
          </a:p>
        </p:txBody>
      </p:sp>
    </p:spTree>
    <p:extLst>
      <p:ext uri="{BB962C8B-B14F-4D97-AF65-F5344CB8AC3E}">
        <p14:creationId xmlns:p14="http://schemas.microsoft.com/office/powerpoint/2010/main" val="3039489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Transistors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altLang="en-US" b="1" dirty="0"/>
              <a:t>Rock’s Law </a:t>
            </a:r>
          </a:p>
          <a:p>
            <a:pPr lvl="1"/>
            <a:r>
              <a:rPr lang="en-US" altLang="en-US" dirty="0"/>
              <a:t>Arthur Rock, Intel financier</a:t>
            </a:r>
          </a:p>
          <a:p>
            <a:pPr lvl="1"/>
            <a:r>
              <a:rPr lang="en-US" altLang="en-US" dirty="0"/>
              <a:t>“The cost of capital equipment to build semiconductors will double every 4 years.”</a:t>
            </a:r>
          </a:p>
          <a:p>
            <a:r>
              <a:rPr lang="en-US" altLang="en-US" dirty="0"/>
              <a:t>In 1968, a new chip plant cost about $12,000.</a:t>
            </a:r>
          </a:p>
          <a:p>
            <a:r>
              <a:rPr lang="en-US" altLang="en-US" dirty="0"/>
              <a:t>At the time, $12,000 would buy a nice home in the suburbs.</a:t>
            </a:r>
          </a:p>
          <a:p>
            <a:r>
              <a:rPr lang="en-US" altLang="en-US" dirty="0"/>
              <a:t>In 2012, a chip plant’s construction cost well over $5 billion.</a:t>
            </a:r>
          </a:p>
          <a:p>
            <a:pPr lvl="1"/>
            <a:r>
              <a:rPr lang="en-US" altLang="en-US" dirty="0"/>
              <a:t>$5 billion is more than the gross domestic product of some small countries, including Barbados, Mauritania, and Rwanda.</a:t>
            </a:r>
          </a:p>
          <a:p>
            <a:r>
              <a:rPr lang="en-US" altLang="en-US" dirty="0"/>
              <a:t>For Moore’s Law to hold, Rock’s Law must fall, and vice versa. But no one can say which will give out first. </a:t>
            </a:r>
          </a:p>
          <a:p>
            <a:endParaRPr lang="en-US" dirty="0"/>
          </a:p>
        </p:txBody>
      </p:sp>
      <p:sp>
        <p:nvSpPr>
          <p:cNvPr id="4" name="Footer Placeholder 3">
            <a:extLst>
              <a:ext uri="{FF2B5EF4-FFF2-40B4-BE49-F238E27FC236}">
                <a16:creationId xmlns:a16="http://schemas.microsoft.com/office/drawing/2014/main" id="{AC100C47-17B4-4998-9A8F-F24DA62C1445}"/>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B6ED0213-8905-4895-888D-DA6B8FE09A6F}"/>
              </a:ext>
            </a:extLst>
          </p:cNvPr>
          <p:cNvSpPr>
            <a:spLocks noGrp="1"/>
          </p:cNvSpPr>
          <p:nvPr>
            <p:ph type="sldNum" sz="quarter" idx="12"/>
          </p:nvPr>
        </p:nvSpPr>
        <p:spPr/>
        <p:txBody>
          <a:bodyPr/>
          <a:lstStyle/>
          <a:p>
            <a:fld id="{F51CCBE7-ABD4-48B2-BA38-8FA2BA66BB34}" type="slidenum">
              <a:rPr lang="en-US" smtClean="0"/>
              <a:t>33</a:t>
            </a:fld>
            <a:endParaRPr lang="en-US"/>
          </a:p>
        </p:txBody>
      </p:sp>
    </p:spTree>
    <p:extLst>
      <p:ext uri="{BB962C8B-B14F-4D97-AF65-F5344CB8AC3E}">
        <p14:creationId xmlns:p14="http://schemas.microsoft.com/office/powerpoint/2010/main" val="19626665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13912" y="143183"/>
            <a:ext cx="10515600" cy="1325563"/>
          </a:xfrm>
        </p:spPr>
        <p:txBody>
          <a:bodyPr/>
          <a:lstStyle/>
          <a:p>
            <a:r>
              <a:rPr lang="en-US" altLang="en-US" dirty="0"/>
              <a:t>The Computer Level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943600" cy="5257800"/>
          </a:xfrm>
        </p:spPr>
        <p:txBody>
          <a:bodyPr/>
          <a:lstStyle/>
          <a:p>
            <a:r>
              <a:rPr lang="en-US" dirty="0"/>
              <a:t>Computers consist of many things besides chips.</a:t>
            </a:r>
          </a:p>
          <a:p>
            <a:r>
              <a:rPr lang="en-US" dirty="0"/>
              <a:t>Before a computer can do anything worthwhile, it must also use software.</a:t>
            </a:r>
          </a:p>
          <a:p>
            <a:r>
              <a:rPr lang="en-US" dirty="0"/>
              <a:t>Writing complex programs requires a “divide and conquer” approach, where each program module solves a smaller problem.</a:t>
            </a:r>
          </a:p>
          <a:p>
            <a:r>
              <a:rPr lang="en-US" dirty="0"/>
              <a:t>Complex computer systems employ a similar technique through a series of virtual machine layers.</a:t>
            </a:r>
          </a:p>
          <a:p>
            <a:endParaRPr lang="en-US" dirty="0"/>
          </a:p>
        </p:txBody>
      </p:sp>
      <p:pic>
        <p:nvPicPr>
          <p:cNvPr id="4" name="Picture 3">
            <a:extLst>
              <a:ext uri="{FF2B5EF4-FFF2-40B4-BE49-F238E27FC236}">
                <a16:creationId xmlns:a16="http://schemas.microsoft.com/office/drawing/2014/main" id="{ACEDDED9-1628-BE41-87A1-285CFBF80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1242289"/>
            <a:ext cx="5286366" cy="5344942"/>
          </a:xfrm>
          <a:prstGeom prst="rect">
            <a:avLst/>
          </a:prstGeom>
        </p:spPr>
      </p:pic>
      <p:sp>
        <p:nvSpPr>
          <p:cNvPr id="5" name="Footer Placeholder 4">
            <a:extLst>
              <a:ext uri="{FF2B5EF4-FFF2-40B4-BE49-F238E27FC236}">
                <a16:creationId xmlns:a16="http://schemas.microsoft.com/office/drawing/2014/main" id="{908F4B0C-C601-4CEC-AE53-BC629BF4C56E}"/>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13904818-C32A-47FF-992B-B5956AFACF2C}"/>
              </a:ext>
            </a:extLst>
          </p:cNvPr>
          <p:cNvSpPr>
            <a:spLocks noGrp="1"/>
          </p:cNvSpPr>
          <p:nvPr>
            <p:ph type="sldNum" sz="quarter" idx="12"/>
          </p:nvPr>
        </p:nvSpPr>
        <p:spPr/>
        <p:txBody>
          <a:bodyPr/>
          <a:lstStyle/>
          <a:p>
            <a:fld id="{F51CCBE7-ABD4-48B2-BA38-8FA2BA66BB34}" type="slidenum">
              <a:rPr lang="en-US" smtClean="0"/>
              <a:t>34</a:t>
            </a:fld>
            <a:endParaRPr lang="en-US"/>
          </a:p>
        </p:txBody>
      </p:sp>
    </p:spTree>
    <p:extLst>
      <p:ext uri="{BB962C8B-B14F-4D97-AF65-F5344CB8AC3E}">
        <p14:creationId xmlns:p14="http://schemas.microsoft.com/office/powerpoint/2010/main" val="2379781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05035" y="205327"/>
            <a:ext cx="10515600" cy="1325563"/>
          </a:xfrm>
        </p:spPr>
        <p:txBody>
          <a:bodyPr/>
          <a:lstStyle/>
          <a:p>
            <a:r>
              <a:rPr lang="en-US" altLang="en-US" dirty="0"/>
              <a:t>The Computer Level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791200" cy="5257800"/>
          </a:xfrm>
        </p:spPr>
        <p:txBody>
          <a:bodyPr/>
          <a:lstStyle/>
          <a:p>
            <a:r>
              <a:rPr lang="en-US" dirty="0"/>
              <a:t>Each virtual machine layer is an abstraction of the level below it.</a:t>
            </a:r>
          </a:p>
          <a:p>
            <a:r>
              <a:rPr lang="en-US" dirty="0"/>
              <a:t>The machines at each level execute their own particular instructions, calling upon machines at lower levels to perform tasks as required.</a:t>
            </a:r>
          </a:p>
          <a:p>
            <a:r>
              <a:rPr lang="en-US" dirty="0"/>
              <a:t>Computer circuits ultimately carry out the work.</a:t>
            </a:r>
          </a:p>
          <a:p>
            <a:endParaRPr lang="en-US" dirty="0"/>
          </a:p>
          <a:p>
            <a:endParaRPr lang="en-US" dirty="0"/>
          </a:p>
        </p:txBody>
      </p:sp>
      <p:pic>
        <p:nvPicPr>
          <p:cNvPr id="4" name="Picture 3">
            <a:extLst>
              <a:ext uri="{FF2B5EF4-FFF2-40B4-BE49-F238E27FC236}">
                <a16:creationId xmlns:a16="http://schemas.microsoft.com/office/drawing/2014/main" id="{ACEDDED9-1628-BE41-87A1-285CFBF80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1055858"/>
            <a:ext cx="5286366" cy="5344942"/>
          </a:xfrm>
          <a:prstGeom prst="rect">
            <a:avLst/>
          </a:prstGeom>
        </p:spPr>
      </p:pic>
      <p:sp>
        <p:nvSpPr>
          <p:cNvPr id="5" name="Footer Placeholder 4">
            <a:extLst>
              <a:ext uri="{FF2B5EF4-FFF2-40B4-BE49-F238E27FC236}">
                <a16:creationId xmlns:a16="http://schemas.microsoft.com/office/drawing/2014/main" id="{2E995385-2CD7-4CF7-B187-893520CA805B}"/>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5672E04A-6E7E-4424-8A38-37737D7010A4}"/>
              </a:ext>
            </a:extLst>
          </p:cNvPr>
          <p:cNvSpPr>
            <a:spLocks noGrp="1"/>
          </p:cNvSpPr>
          <p:nvPr>
            <p:ph type="sldNum" sz="quarter" idx="12"/>
          </p:nvPr>
        </p:nvSpPr>
        <p:spPr/>
        <p:txBody>
          <a:bodyPr/>
          <a:lstStyle/>
          <a:p>
            <a:fld id="{F51CCBE7-ABD4-48B2-BA38-8FA2BA66BB34}" type="slidenum">
              <a:rPr lang="en-US" smtClean="0"/>
              <a:t>35</a:t>
            </a:fld>
            <a:endParaRPr lang="en-US"/>
          </a:p>
        </p:txBody>
      </p:sp>
    </p:spTree>
    <p:extLst>
      <p:ext uri="{BB962C8B-B14F-4D97-AF65-F5344CB8AC3E}">
        <p14:creationId xmlns:p14="http://schemas.microsoft.com/office/powerpoint/2010/main" val="25183059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EDDED9-1628-BE41-87A1-285CFBF80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1055858"/>
            <a:ext cx="5286366" cy="5344942"/>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Computer Level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791200" cy="5257800"/>
          </a:xfrm>
        </p:spPr>
        <p:txBody>
          <a:bodyPr/>
          <a:lstStyle/>
          <a:p>
            <a:r>
              <a:rPr lang="en-US" dirty="0"/>
              <a:t>Level 6: The User Level</a:t>
            </a:r>
          </a:p>
          <a:p>
            <a:pPr lvl="1"/>
            <a:r>
              <a:rPr lang="en-US" dirty="0"/>
              <a:t>Program execution and user interface level.</a:t>
            </a:r>
          </a:p>
          <a:p>
            <a:pPr lvl="1"/>
            <a:r>
              <a:rPr lang="en-US" dirty="0"/>
              <a:t>The level with which we are most familiar.</a:t>
            </a:r>
          </a:p>
          <a:p>
            <a:r>
              <a:rPr lang="en-US" dirty="0"/>
              <a:t>Level 5: High-Level Language Level</a:t>
            </a:r>
          </a:p>
          <a:p>
            <a:pPr lvl="1"/>
            <a:r>
              <a:rPr lang="en-US" dirty="0"/>
              <a:t>The level with which we interact when we write programs in languages such as Python and Java.</a:t>
            </a:r>
          </a:p>
          <a:p>
            <a:pPr lvl="1"/>
            <a:r>
              <a:rPr lang="en-US" dirty="0"/>
              <a:t>Must be translated into lower-level languages that the computer “understands”.</a:t>
            </a:r>
          </a:p>
          <a:p>
            <a:endParaRPr lang="en-US" dirty="0"/>
          </a:p>
        </p:txBody>
      </p:sp>
      <p:sp>
        <p:nvSpPr>
          <p:cNvPr id="5" name="Footer Placeholder 4">
            <a:extLst>
              <a:ext uri="{FF2B5EF4-FFF2-40B4-BE49-F238E27FC236}">
                <a16:creationId xmlns:a16="http://schemas.microsoft.com/office/drawing/2014/main" id="{67DDF0DB-8514-433B-BAD6-30BE80B585FF}"/>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AEA897B9-5747-4C7E-BBD2-10A1A066A21E}"/>
              </a:ext>
            </a:extLst>
          </p:cNvPr>
          <p:cNvSpPr>
            <a:spLocks noGrp="1"/>
          </p:cNvSpPr>
          <p:nvPr>
            <p:ph type="sldNum" sz="quarter" idx="12"/>
          </p:nvPr>
        </p:nvSpPr>
        <p:spPr/>
        <p:txBody>
          <a:bodyPr/>
          <a:lstStyle/>
          <a:p>
            <a:fld id="{F51CCBE7-ABD4-48B2-BA38-8FA2BA66BB34}" type="slidenum">
              <a:rPr lang="en-US" smtClean="0"/>
              <a:t>36</a:t>
            </a:fld>
            <a:endParaRPr lang="en-US"/>
          </a:p>
        </p:txBody>
      </p:sp>
    </p:spTree>
    <p:extLst>
      <p:ext uri="{BB962C8B-B14F-4D97-AF65-F5344CB8AC3E}">
        <p14:creationId xmlns:p14="http://schemas.microsoft.com/office/powerpoint/2010/main" val="945934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EDDED9-1628-BE41-87A1-285CFBF80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1055858"/>
            <a:ext cx="5286366" cy="5344942"/>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69524" y="196449"/>
            <a:ext cx="10515600" cy="1325563"/>
          </a:xfrm>
        </p:spPr>
        <p:txBody>
          <a:bodyPr/>
          <a:lstStyle/>
          <a:p>
            <a:r>
              <a:rPr lang="en-US" altLang="en-US" dirty="0"/>
              <a:t>The Computer Level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019800" cy="5257800"/>
          </a:xfrm>
        </p:spPr>
        <p:txBody>
          <a:bodyPr/>
          <a:lstStyle/>
          <a:p>
            <a:r>
              <a:rPr lang="en-US" dirty="0"/>
              <a:t>Level 4: Assembly Language Level</a:t>
            </a:r>
          </a:p>
          <a:p>
            <a:pPr lvl="1"/>
            <a:r>
              <a:rPr lang="en-US" dirty="0"/>
              <a:t>Acts upon assembly language produced from Level 5, as well as instructions programmed directly at this level.</a:t>
            </a:r>
          </a:p>
          <a:p>
            <a:r>
              <a:rPr lang="en-US" dirty="0"/>
              <a:t>Level 3: System Software Level</a:t>
            </a:r>
          </a:p>
          <a:p>
            <a:pPr lvl="1"/>
            <a:r>
              <a:rPr lang="en-US" dirty="0"/>
              <a:t>Controls executing processes on the system.</a:t>
            </a:r>
          </a:p>
          <a:p>
            <a:pPr lvl="1"/>
            <a:r>
              <a:rPr lang="en-US" dirty="0"/>
              <a:t>Protects system resources.</a:t>
            </a:r>
          </a:p>
          <a:p>
            <a:pPr lvl="1"/>
            <a:r>
              <a:rPr lang="en-US" dirty="0"/>
              <a:t>The operating system is at this level.</a:t>
            </a:r>
          </a:p>
        </p:txBody>
      </p:sp>
      <p:sp>
        <p:nvSpPr>
          <p:cNvPr id="5" name="Footer Placeholder 4">
            <a:extLst>
              <a:ext uri="{FF2B5EF4-FFF2-40B4-BE49-F238E27FC236}">
                <a16:creationId xmlns:a16="http://schemas.microsoft.com/office/drawing/2014/main" id="{A595F9AF-A13A-4306-A6C1-5BC5BC51629A}"/>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8512B8A4-A2B3-44C9-A4FD-9D3ECF661F0D}"/>
              </a:ext>
            </a:extLst>
          </p:cNvPr>
          <p:cNvSpPr>
            <a:spLocks noGrp="1"/>
          </p:cNvSpPr>
          <p:nvPr>
            <p:ph type="sldNum" sz="quarter" idx="12"/>
          </p:nvPr>
        </p:nvSpPr>
        <p:spPr/>
        <p:txBody>
          <a:bodyPr/>
          <a:lstStyle/>
          <a:p>
            <a:fld id="{F51CCBE7-ABD4-48B2-BA38-8FA2BA66BB34}" type="slidenum">
              <a:rPr lang="en-US" smtClean="0"/>
              <a:t>37</a:t>
            </a:fld>
            <a:endParaRPr lang="en-US"/>
          </a:p>
        </p:txBody>
      </p:sp>
    </p:spTree>
    <p:extLst>
      <p:ext uri="{BB962C8B-B14F-4D97-AF65-F5344CB8AC3E}">
        <p14:creationId xmlns:p14="http://schemas.microsoft.com/office/powerpoint/2010/main" val="2941874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EDDED9-1628-BE41-87A1-285CFBF80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1055858"/>
            <a:ext cx="5286366" cy="5344942"/>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05035" y="249716"/>
            <a:ext cx="10515600" cy="1325563"/>
          </a:xfrm>
        </p:spPr>
        <p:txBody>
          <a:bodyPr/>
          <a:lstStyle/>
          <a:p>
            <a:r>
              <a:rPr lang="en-US" altLang="en-US" dirty="0"/>
              <a:t>The Computer Level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019800" cy="5257800"/>
          </a:xfrm>
        </p:spPr>
        <p:txBody>
          <a:bodyPr/>
          <a:lstStyle/>
          <a:p>
            <a:r>
              <a:rPr lang="en-US" dirty="0"/>
              <a:t>Level 2: Machine Level</a:t>
            </a:r>
          </a:p>
          <a:p>
            <a:pPr lvl="1"/>
            <a:r>
              <a:rPr lang="en-US" dirty="0"/>
              <a:t>Also known as the Instruction Set Architecture (ISA) Level.</a:t>
            </a:r>
          </a:p>
          <a:p>
            <a:pPr lvl="1"/>
            <a:r>
              <a:rPr lang="en-US" dirty="0"/>
              <a:t>Consists of instructions that are particular to the architecture of the machine.</a:t>
            </a:r>
          </a:p>
          <a:p>
            <a:pPr lvl="1"/>
            <a:r>
              <a:rPr lang="en-US" dirty="0"/>
              <a:t>Programs written in machine language need no compilers, interpreters, or assemblers.</a:t>
            </a:r>
          </a:p>
          <a:p>
            <a:r>
              <a:rPr lang="en-US" dirty="0"/>
              <a:t>Level 1: Control Level</a:t>
            </a:r>
          </a:p>
          <a:p>
            <a:pPr lvl="1"/>
            <a:r>
              <a:rPr lang="en-US" dirty="0"/>
              <a:t>A </a:t>
            </a:r>
            <a:r>
              <a:rPr lang="en-US" b="1" dirty="0"/>
              <a:t>control unit</a:t>
            </a:r>
            <a:r>
              <a:rPr lang="en-US" dirty="0"/>
              <a:t> decodes and executes instructions and moves data through the system.</a:t>
            </a:r>
          </a:p>
          <a:p>
            <a:endParaRPr lang="en-US" dirty="0"/>
          </a:p>
          <a:p>
            <a:endParaRPr lang="en-US" dirty="0"/>
          </a:p>
        </p:txBody>
      </p:sp>
      <p:sp>
        <p:nvSpPr>
          <p:cNvPr id="5" name="Footer Placeholder 4">
            <a:extLst>
              <a:ext uri="{FF2B5EF4-FFF2-40B4-BE49-F238E27FC236}">
                <a16:creationId xmlns:a16="http://schemas.microsoft.com/office/drawing/2014/main" id="{61F04CA6-FF43-4648-A5B6-1EDB946588D6}"/>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4068A280-EEF9-47BD-B299-41B8839377FE}"/>
              </a:ext>
            </a:extLst>
          </p:cNvPr>
          <p:cNvSpPr>
            <a:spLocks noGrp="1"/>
          </p:cNvSpPr>
          <p:nvPr>
            <p:ph type="sldNum" sz="quarter" idx="12"/>
          </p:nvPr>
        </p:nvSpPr>
        <p:spPr/>
        <p:txBody>
          <a:bodyPr/>
          <a:lstStyle/>
          <a:p>
            <a:fld id="{F51CCBE7-ABD4-48B2-BA38-8FA2BA66BB34}" type="slidenum">
              <a:rPr lang="en-US" smtClean="0"/>
              <a:t>38</a:t>
            </a:fld>
            <a:endParaRPr lang="en-US"/>
          </a:p>
        </p:txBody>
      </p:sp>
    </p:spTree>
    <p:extLst>
      <p:ext uri="{BB962C8B-B14F-4D97-AF65-F5344CB8AC3E}">
        <p14:creationId xmlns:p14="http://schemas.microsoft.com/office/powerpoint/2010/main" val="31059974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EDDED9-1628-BE41-87A1-285CFBF80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1055858"/>
            <a:ext cx="5286366" cy="5344942"/>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05035" y="231960"/>
            <a:ext cx="10515600" cy="1325563"/>
          </a:xfrm>
        </p:spPr>
        <p:txBody>
          <a:bodyPr/>
          <a:lstStyle/>
          <a:p>
            <a:r>
              <a:rPr lang="en-US" altLang="en-US" dirty="0"/>
              <a:t>The Computer Level Hierarchy</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019800" cy="5257800"/>
          </a:xfrm>
        </p:spPr>
        <p:txBody>
          <a:bodyPr/>
          <a:lstStyle/>
          <a:p>
            <a:r>
              <a:rPr lang="en-US" dirty="0"/>
              <a:t>Level 0: Digital Logic Level</a:t>
            </a:r>
          </a:p>
          <a:p>
            <a:pPr lvl="1"/>
            <a:r>
              <a:rPr lang="en-US" dirty="0"/>
              <a:t>This level is where we find digital circuits (the chips).</a:t>
            </a:r>
          </a:p>
          <a:p>
            <a:pPr lvl="1"/>
            <a:r>
              <a:rPr lang="en-US" dirty="0"/>
              <a:t>Digital circuits consist of electronic components and wires.</a:t>
            </a:r>
          </a:p>
          <a:p>
            <a:pPr lvl="1"/>
            <a:r>
              <a:rPr lang="en-US" dirty="0"/>
              <a:t>These components implement the mathematical logic of all other levels.</a:t>
            </a:r>
          </a:p>
        </p:txBody>
      </p:sp>
      <p:sp>
        <p:nvSpPr>
          <p:cNvPr id="5" name="Footer Placeholder 4">
            <a:extLst>
              <a:ext uri="{FF2B5EF4-FFF2-40B4-BE49-F238E27FC236}">
                <a16:creationId xmlns:a16="http://schemas.microsoft.com/office/drawing/2014/main" id="{A9786468-DAC6-46F7-B4CE-C7032F45FDAA}"/>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7E111560-41EB-4758-AD84-6B441B323176}"/>
              </a:ext>
            </a:extLst>
          </p:cNvPr>
          <p:cNvSpPr>
            <a:spLocks noGrp="1"/>
          </p:cNvSpPr>
          <p:nvPr>
            <p:ph type="sldNum" sz="quarter" idx="12"/>
          </p:nvPr>
        </p:nvSpPr>
        <p:spPr/>
        <p:txBody>
          <a:bodyPr/>
          <a:lstStyle/>
          <a:p>
            <a:fld id="{F51CCBE7-ABD4-48B2-BA38-8FA2BA66BB34}" type="slidenum">
              <a:rPr lang="en-US" smtClean="0"/>
              <a:t>39</a:t>
            </a:fld>
            <a:endParaRPr lang="en-US"/>
          </a:p>
        </p:txBody>
      </p:sp>
    </p:spTree>
    <p:extLst>
      <p:ext uri="{BB962C8B-B14F-4D97-AF65-F5344CB8AC3E}">
        <p14:creationId xmlns:p14="http://schemas.microsoft.com/office/powerpoint/2010/main" val="2083715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13912" y="223082"/>
            <a:ext cx="10515600" cy="1325563"/>
          </a:xfrm>
        </p:spPr>
        <p:txBody>
          <a:bodyPr/>
          <a:lstStyle/>
          <a:p>
            <a:r>
              <a:rPr lang="en-US" altLang="en-US" dirty="0"/>
              <a:t>The von Neumann Model</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705600" cy="5257800"/>
          </a:xfrm>
        </p:spPr>
        <p:txBody>
          <a:bodyPr>
            <a:normAutofit lnSpcReduction="10000"/>
          </a:bodyPr>
          <a:lstStyle/>
          <a:p>
            <a:r>
              <a:rPr lang="en-US" dirty="0"/>
              <a:t>On the ENIAC (Electronic Numerical Integrator </a:t>
            </a:r>
            <a:r>
              <a:rPr lang="en-US"/>
              <a:t>and Computer), </a:t>
            </a:r>
            <a:r>
              <a:rPr lang="en-US" dirty="0"/>
              <a:t>all programming was done at the digital logic level (i.e., the circuits had to be changed to reprogram the computer).</a:t>
            </a:r>
          </a:p>
          <a:p>
            <a:r>
              <a:rPr lang="en-US" dirty="0"/>
              <a:t>Programming the computer involved moving plugs and wires.</a:t>
            </a:r>
          </a:p>
          <a:p>
            <a:r>
              <a:rPr lang="en-US" dirty="0"/>
              <a:t>A different hardware configuration was needed to solve every unique problem type.</a:t>
            </a:r>
          </a:p>
          <a:p>
            <a:r>
              <a:rPr lang="en-US" dirty="0"/>
              <a:t>Configuring the ENIAC to solve a “simple” problem required many days of labor by skilled technicians.</a:t>
            </a:r>
          </a:p>
          <a:p>
            <a:endParaRPr lang="en-US" dirty="0"/>
          </a:p>
        </p:txBody>
      </p:sp>
      <p:pic>
        <p:nvPicPr>
          <p:cNvPr id="4" name="Picture 3">
            <a:extLst>
              <a:ext uri="{FF2B5EF4-FFF2-40B4-BE49-F238E27FC236}">
                <a16:creationId xmlns:a16="http://schemas.microsoft.com/office/drawing/2014/main" id="{691A1F44-A1DA-431E-A32D-3ACA33C5B790}"/>
              </a:ext>
            </a:extLst>
          </p:cNvPr>
          <p:cNvPicPr>
            <a:picLocks noChangeAspect="1" noChangeArrowheads="1"/>
          </p:cNvPicPr>
          <p:nvPr/>
        </p:nvPicPr>
        <p:blipFill rotWithShape="1">
          <a:blip r:embed="rId2" cstate="print"/>
          <a:srcRect r="38983"/>
          <a:stretch/>
        </p:blipFill>
        <p:spPr bwMode="auto">
          <a:xfrm>
            <a:off x="7467600" y="1150883"/>
            <a:ext cx="4114800" cy="5154400"/>
          </a:xfrm>
          <a:prstGeom prst="rect">
            <a:avLst/>
          </a:prstGeom>
          <a:noFill/>
          <a:ln w="9525">
            <a:noFill/>
            <a:miter lim="800000"/>
            <a:headEnd/>
            <a:tailEnd/>
          </a:ln>
        </p:spPr>
      </p:pic>
      <p:sp>
        <p:nvSpPr>
          <p:cNvPr id="5" name="Footer Placeholder 4">
            <a:extLst>
              <a:ext uri="{FF2B5EF4-FFF2-40B4-BE49-F238E27FC236}">
                <a16:creationId xmlns:a16="http://schemas.microsoft.com/office/drawing/2014/main" id="{E4C6ED9B-091D-4571-B6B2-A82ECACDCD6B}"/>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506376B4-E9E1-41C3-9133-6CE2B588169D}"/>
              </a:ext>
            </a:extLst>
          </p:cNvPr>
          <p:cNvSpPr>
            <a:spLocks noGrp="1"/>
          </p:cNvSpPr>
          <p:nvPr>
            <p:ph type="sldNum" sz="quarter" idx="12"/>
          </p:nvPr>
        </p:nvSpPr>
        <p:spPr/>
        <p:txBody>
          <a:bodyPr/>
          <a:lstStyle/>
          <a:p>
            <a:fld id="{F51CCBE7-ABD4-48B2-BA38-8FA2BA66BB34}" type="slidenum">
              <a:rPr lang="en-US" smtClean="0"/>
              <a:t>40</a:t>
            </a:fld>
            <a:endParaRPr lang="en-US"/>
          </a:p>
        </p:txBody>
      </p:sp>
    </p:spTree>
    <p:extLst>
      <p:ext uri="{BB962C8B-B14F-4D97-AF65-F5344CB8AC3E}">
        <p14:creationId xmlns:p14="http://schemas.microsoft.com/office/powerpoint/2010/main" val="56103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687279" y="169816"/>
            <a:ext cx="10515600" cy="1325563"/>
          </a:xfrm>
        </p:spPr>
        <p:txBody>
          <a:bodyPr/>
          <a:lstStyle/>
          <a:p>
            <a:r>
              <a:rPr lang="en-US" altLang="en-US" dirty="0"/>
              <a:t>The von Neumann Model</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6629400" cy="5257800"/>
          </a:xfrm>
        </p:spPr>
        <p:txBody>
          <a:bodyPr>
            <a:normAutofit lnSpcReduction="10000"/>
          </a:bodyPr>
          <a:lstStyle/>
          <a:p>
            <a:r>
              <a:rPr lang="en-US" dirty="0"/>
              <a:t>Inventors of the ENIAC, John </a:t>
            </a:r>
            <a:r>
              <a:rPr lang="en-US" dirty="0" err="1"/>
              <a:t>Mauchley</a:t>
            </a:r>
            <a:r>
              <a:rPr lang="en-US" dirty="0"/>
              <a:t> and J. Presper Eckert, conceived of a computer that could store data and </a:t>
            </a:r>
            <a:r>
              <a:rPr lang="en-US" i="1" dirty="0"/>
              <a:t>instructions</a:t>
            </a:r>
            <a:r>
              <a:rPr lang="en-US" dirty="0"/>
              <a:t> in memory.</a:t>
            </a:r>
          </a:p>
          <a:p>
            <a:pPr lvl="1"/>
            <a:r>
              <a:rPr lang="en-US" dirty="0"/>
              <a:t>This concept is known as a </a:t>
            </a:r>
            <a:r>
              <a:rPr lang="en-US" b="1" dirty="0"/>
              <a:t>stored-program computer</a:t>
            </a:r>
            <a:r>
              <a:rPr lang="en-US" dirty="0"/>
              <a:t>.</a:t>
            </a:r>
          </a:p>
          <a:p>
            <a:r>
              <a:rPr lang="en-US" dirty="0"/>
              <a:t>The invention of this idea has since been ascribed to a mathematician, John von Neumann, who was a contemporary of </a:t>
            </a:r>
            <a:r>
              <a:rPr lang="en-US" dirty="0" err="1"/>
              <a:t>Mauchley</a:t>
            </a:r>
            <a:r>
              <a:rPr lang="en-US" dirty="0"/>
              <a:t> and Eckert.</a:t>
            </a:r>
          </a:p>
          <a:p>
            <a:r>
              <a:rPr lang="en-US" dirty="0"/>
              <a:t>Stored-program computers have become known as von Neumann Architecture systems.</a:t>
            </a:r>
          </a:p>
          <a:p>
            <a:endParaRPr lang="en-US" dirty="0"/>
          </a:p>
        </p:txBody>
      </p:sp>
      <p:pic>
        <p:nvPicPr>
          <p:cNvPr id="4" name="Picture 3">
            <a:extLst>
              <a:ext uri="{FF2B5EF4-FFF2-40B4-BE49-F238E27FC236}">
                <a16:creationId xmlns:a16="http://schemas.microsoft.com/office/drawing/2014/main" id="{691A1F44-A1DA-431E-A32D-3ACA33C5B790}"/>
              </a:ext>
            </a:extLst>
          </p:cNvPr>
          <p:cNvPicPr>
            <a:picLocks noChangeAspect="1" noChangeArrowheads="1"/>
          </p:cNvPicPr>
          <p:nvPr/>
        </p:nvPicPr>
        <p:blipFill rotWithShape="1">
          <a:blip r:embed="rId2" cstate="print"/>
          <a:srcRect r="38983"/>
          <a:stretch/>
        </p:blipFill>
        <p:spPr bwMode="auto">
          <a:xfrm>
            <a:off x="7467600" y="1150883"/>
            <a:ext cx="4114800" cy="5154400"/>
          </a:xfrm>
          <a:prstGeom prst="rect">
            <a:avLst/>
          </a:prstGeom>
          <a:noFill/>
          <a:ln w="9525">
            <a:noFill/>
            <a:miter lim="800000"/>
            <a:headEnd/>
            <a:tailEnd/>
          </a:ln>
        </p:spPr>
      </p:pic>
      <p:sp>
        <p:nvSpPr>
          <p:cNvPr id="5" name="Footer Placeholder 4">
            <a:extLst>
              <a:ext uri="{FF2B5EF4-FFF2-40B4-BE49-F238E27FC236}">
                <a16:creationId xmlns:a16="http://schemas.microsoft.com/office/drawing/2014/main" id="{55E6F2F1-D52A-4352-867D-3A9396141C74}"/>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9A8CB54F-B8E5-4AF3-BA02-5EDD27373A26}"/>
              </a:ext>
            </a:extLst>
          </p:cNvPr>
          <p:cNvSpPr>
            <a:spLocks noGrp="1"/>
          </p:cNvSpPr>
          <p:nvPr>
            <p:ph type="sldNum" sz="quarter" idx="12"/>
          </p:nvPr>
        </p:nvSpPr>
        <p:spPr/>
        <p:txBody>
          <a:bodyPr/>
          <a:lstStyle/>
          <a:p>
            <a:fld id="{F51CCBE7-ABD4-48B2-BA38-8FA2BA66BB34}" type="slidenum">
              <a:rPr lang="en-US" smtClean="0"/>
              <a:t>41</a:t>
            </a:fld>
            <a:endParaRPr lang="en-US"/>
          </a:p>
        </p:txBody>
      </p:sp>
    </p:spTree>
    <p:extLst>
      <p:ext uri="{BB962C8B-B14F-4D97-AF65-F5344CB8AC3E}">
        <p14:creationId xmlns:p14="http://schemas.microsoft.com/office/powerpoint/2010/main" val="2232986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The von Neumann Model</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a:bodyPr>
          <a:lstStyle/>
          <a:p>
            <a:pPr>
              <a:spcBef>
                <a:spcPts val="576"/>
              </a:spcBef>
            </a:pPr>
            <a:r>
              <a:rPr lang="en-US" altLang="en-US" dirty="0"/>
              <a:t>Today’s </a:t>
            </a:r>
            <a:r>
              <a:rPr lang="en-US" altLang="en-US" b="1" dirty="0"/>
              <a:t>stored-program computers</a:t>
            </a:r>
            <a:r>
              <a:rPr lang="en-US" altLang="en-US" dirty="0"/>
              <a:t> have the following characteristics:</a:t>
            </a:r>
          </a:p>
          <a:p>
            <a:pPr lvl="1">
              <a:spcBef>
                <a:spcPts val="576"/>
              </a:spcBef>
            </a:pPr>
            <a:r>
              <a:rPr lang="en-US" altLang="en-US" dirty="0"/>
              <a:t>Three hardware systems: </a:t>
            </a:r>
          </a:p>
          <a:p>
            <a:pPr lvl="2">
              <a:spcBef>
                <a:spcPts val="576"/>
              </a:spcBef>
            </a:pPr>
            <a:r>
              <a:rPr lang="en-US" altLang="en-US" dirty="0"/>
              <a:t>A central processing unit (CPU)</a:t>
            </a:r>
          </a:p>
          <a:p>
            <a:pPr lvl="2">
              <a:spcBef>
                <a:spcPts val="576"/>
              </a:spcBef>
            </a:pPr>
            <a:r>
              <a:rPr lang="en-US" altLang="en-US" dirty="0"/>
              <a:t>A main memory system</a:t>
            </a:r>
          </a:p>
          <a:p>
            <a:pPr lvl="2">
              <a:spcBef>
                <a:spcPts val="576"/>
              </a:spcBef>
            </a:pPr>
            <a:r>
              <a:rPr lang="en-US" altLang="en-US" dirty="0"/>
              <a:t>An I/O system</a:t>
            </a:r>
          </a:p>
          <a:p>
            <a:pPr lvl="1">
              <a:spcBef>
                <a:spcPts val="576"/>
              </a:spcBef>
            </a:pPr>
            <a:r>
              <a:rPr lang="en-US" altLang="en-US" dirty="0"/>
              <a:t>The capacity to carry out </a:t>
            </a:r>
            <a:r>
              <a:rPr lang="en-US" altLang="en-US" i="1" dirty="0"/>
              <a:t>sequential</a:t>
            </a:r>
            <a:r>
              <a:rPr lang="en-US" altLang="en-US" dirty="0"/>
              <a:t> (as opposed to </a:t>
            </a:r>
            <a:r>
              <a:rPr lang="en-US" altLang="en-US" i="1" dirty="0"/>
              <a:t>parallel</a:t>
            </a:r>
            <a:r>
              <a:rPr lang="en-US" altLang="en-US" dirty="0"/>
              <a:t>) instruction processing.</a:t>
            </a:r>
          </a:p>
          <a:p>
            <a:pPr lvl="1">
              <a:spcBef>
                <a:spcPts val="576"/>
              </a:spcBef>
            </a:pPr>
            <a:r>
              <a:rPr lang="en-US" altLang="en-US" dirty="0"/>
              <a:t>A single data path between the CPU and main memory.</a:t>
            </a:r>
          </a:p>
          <a:p>
            <a:pPr lvl="2">
              <a:spcBef>
                <a:spcPts val="576"/>
              </a:spcBef>
            </a:pPr>
            <a:r>
              <a:rPr lang="en-US" altLang="en-US" dirty="0"/>
              <a:t>This single path is known as the </a:t>
            </a:r>
            <a:r>
              <a:rPr lang="en-US" altLang="en-US" b="1" dirty="0"/>
              <a:t>von Neumann bottleneck</a:t>
            </a:r>
            <a:r>
              <a:rPr lang="en-US" altLang="en-US" dirty="0"/>
              <a:t>.</a:t>
            </a:r>
          </a:p>
          <a:p>
            <a:pPr>
              <a:spcBef>
                <a:spcPts val="576"/>
              </a:spcBef>
            </a:pPr>
            <a:endParaRPr lang="en-US" dirty="0"/>
          </a:p>
        </p:txBody>
      </p:sp>
      <p:sp>
        <p:nvSpPr>
          <p:cNvPr id="4" name="Footer Placeholder 3">
            <a:extLst>
              <a:ext uri="{FF2B5EF4-FFF2-40B4-BE49-F238E27FC236}">
                <a16:creationId xmlns:a16="http://schemas.microsoft.com/office/drawing/2014/main" id="{E60282F9-F997-4838-A41A-29EE0966C416}"/>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A01081B5-18A8-4382-AF5D-17F57B09053B}"/>
              </a:ext>
            </a:extLst>
          </p:cNvPr>
          <p:cNvSpPr>
            <a:spLocks noGrp="1"/>
          </p:cNvSpPr>
          <p:nvPr>
            <p:ph type="sldNum" sz="quarter" idx="12"/>
          </p:nvPr>
        </p:nvSpPr>
        <p:spPr/>
        <p:txBody>
          <a:bodyPr/>
          <a:lstStyle/>
          <a:p>
            <a:fld id="{F51CCBE7-ABD4-48B2-BA38-8FA2BA66BB34}" type="slidenum">
              <a:rPr lang="en-US" smtClean="0"/>
              <a:t>42</a:t>
            </a:fld>
            <a:endParaRPr lang="en-US"/>
          </a:p>
        </p:txBody>
      </p:sp>
    </p:spTree>
    <p:extLst>
      <p:ext uri="{BB962C8B-B14F-4D97-AF65-F5344CB8AC3E}">
        <p14:creationId xmlns:p14="http://schemas.microsoft.com/office/powerpoint/2010/main" val="304259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49424" y="160939"/>
            <a:ext cx="10515600" cy="1325563"/>
          </a:xfrm>
        </p:spPr>
        <p:txBody>
          <a:bodyPr/>
          <a:lstStyle/>
          <a:p>
            <a:r>
              <a:rPr lang="en-US" altLang="en-US" dirty="0"/>
              <a:t>The von Neumann Model</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419600" cy="5257800"/>
          </a:xfrm>
        </p:spPr>
        <p:txBody>
          <a:bodyPr/>
          <a:lstStyle/>
          <a:p>
            <a:pPr>
              <a:spcBef>
                <a:spcPct val="15000"/>
              </a:spcBef>
            </a:pPr>
            <a:r>
              <a:rPr lang="en-US" altLang="en-US" dirty="0"/>
              <a:t>This is a general depiction of a von Neumann system:</a:t>
            </a:r>
          </a:p>
          <a:p>
            <a:pPr>
              <a:spcBef>
                <a:spcPct val="15000"/>
              </a:spcBef>
            </a:pPr>
            <a:r>
              <a:rPr lang="en-US" altLang="en-US" dirty="0"/>
              <a:t>These computers employ a </a:t>
            </a:r>
            <a:r>
              <a:rPr lang="en-US" altLang="en-US" b="1" dirty="0"/>
              <a:t>fetch-decode-execute cycle</a:t>
            </a:r>
            <a:endParaRPr lang="en-US" dirty="0"/>
          </a:p>
        </p:txBody>
      </p:sp>
      <p:pic>
        <p:nvPicPr>
          <p:cNvPr id="5" name="Picture 4" descr="AL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2454" y="1143000"/>
            <a:ext cx="6359946" cy="5079124"/>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DB0BD532-E8F3-45C1-B147-2628054292C1}"/>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CAE270DE-0509-4270-A2DA-D57FC629141A}"/>
              </a:ext>
            </a:extLst>
          </p:cNvPr>
          <p:cNvSpPr>
            <a:spLocks noGrp="1"/>
          </p:cNvSpPr>
          <p:nvPr>
            <p:ph type="sldNum" sz="quarter" idx="12"/>
          </p:nvPr>
        </p:nvSpPr>
        <p:spPr/>
        <p:txBody>
          <a:bodyPr/>
          <a:lstStyle/>
          <a:p>
            <a:fld id="{F51CCBE7-ABD4-48B2-BA38-8FA2BA66BB34}" type="slidenum">
              <a:rPr lang="en-US" smtClean="0"/>
              <a:t>43</a:t>
            </a:fld>
            <a:endParaRPr lang="en-US"/>
          </a:p>
        </p:txBody>
      </p:sp>
    </p:spTree>
    <p:extLst>
      <p:ext uri="{BB962C8B-B14F-4D97-AF65-F5344CB8AC3E}">
        <p14:creationId xmlns:p14="http://schemas.microsoft.com/office/powerpoint/2010/main" val="22646523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31668" y="198437"/>
            <a:ext cx="10515600" cy="1325563"/>
          </a:xfrm>
        </p:spPr>
        <p:txBody>
          <a:bodyPr/>
          <a:lstStyle/>
          <a:p>
            <a:r>
              <a:rPr lang="en-US" altLang="en-US" dirty="0"/>
              <a:t>The von Neumann Model</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419600" cy="5257800"/>
          </a:xfrm>
        </p:spPr>
        <p:txBody>
          <a:bodyPr/>
          <a:lstStyle/>
          <a:p>
            <a:pPr>
              <a:spcBef>
                <a:spcPct val="15000"/>
              </a:spcBef>
            </a:pPr>
            <a:r>
              <a:rPr lang="en-US" altLang="en-US" dirty="0"/>
              <a:t>The control unit fetches the next instruction from memory using the </a:t>
            </a:r>
            <a:r>
              <a:rPr lang="en-US" altLang="en-US" b="1" dirty="0"/>
              <a:t>program counter</a:t>
            </a:r>
            <a:r>
              <a:rPr lang="en-US" altLang="en-US" dirty="0"/>
              <a:t> to determine where the instruction is located.</a:t>
            </a:r>
          </a:p>
          <a:p>
            <a:pPr>
              <a:spcBef>
                <a:spcPct val="15000"/>
              </a:spcBef>
            </a:pPr>
            <a:r>
              <a:rPr lang="en-US" altLang="en-US" dirty="0"/>
              <a:t>The program counter is a small memory bank that “points” to a location in the main memory where the instruction is located.</a:t>
            </a:r>
          </a:p>
        </p:txBody>
      </p:sp>
      <p:pic>
        <p:nvPicPr>
          <p:cNvPr id="7" name="Picture 6" descr="ALU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6688" y="1129862"/>
            <a:ext cx="6463726" cy="420413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2F084BA8-9E86-465C-85A5-1D9FFF780613}"/>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492230B3-A3C4-450D-9B03-131A00093F2B}"/>
              </a:ext>
            </a:extLst>
          </p:cNvPr>
          <p:cNvSpPr>
            <a:spLocks noGrp="1"/>
          </p:cNvSpPr>
          <p:nvPr>
            <p:ph type="sldNum" sz="quarter" idx="12"/>
          </p:nvPr>
        </p:nvSpPr>
        <p:spPr/>
        <p:txBody>
          <a:bodyPr/>
          <a:lstStyle/>
          <a:p>
            <a:fld id="{F51CCBE7-ABD4-48B2-BA38-8FA2BA66BB34}" type="slidenum">
              <a:rPr lang="en-US" smtClean="0"/>
              <a:t>44</a:t>
            </a:fld>
            <a:endParaRPr lang="en-US"/>
          </a:p>
        </p:txBody>
      </p:sp>
    </p:spTree>
    <p:extLst>
      <p:ext uri="{BB962C8B-B14F-4D97-AF65-F5344CB8AC3E}">
        <p14:creationId xmlns:p14="http://schemas.microsoft.com/office/powerpoint/2010/main" val="1438198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76056" y="198437"/>
            <a:ext cx="10515600" cy="1325563"/>
          </a:xfrm>
        </p:spPr>
        <p:txBody>
          <a:bodyPr/>
          <a:lstStyle/>
          <a:p>
            <a:r>
              <a:rPr lang="en-US" altLang="en-US" dirty="0"/>
              <a:t>The von Neumann Model</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419600" cy="5257800"/>
          </a:xfrm>
        </p:spPr>
        <p:txBody>
          <a:bodyPr/>
          <a:lstStyle/>
          <a:p>
            <a:pPr>
              <a:spcBef>
                <a:spcPct val="15000"/>
              </a:spcBef>
            </a:pPr>
            <a:r>
              <a:rPr lang="en-US" altLang="en-US" dirty="0"/>
              <a:t>The instruction is decoded into a language that the </a:t>
            </a:r>
            <a:r>
              <a:rPr lang="en-US" altLang="en-US" b="1" dirty="0"/>
              <a:t>arithmetic/logic unit </a:t>
            </a:r>
            <a:r>
              <a:rPr lang="en-US" altLang="en-US" dirty="0"/>
              <a:t>can understand.</a:t>
            </a:r>
          </a:p>
          <a:p>
            <a:pPr>
              <a:spcBef>
                <a:spcPct val="15000"/>
              </a:spcBef>
            </a:pPr>
            <a:endParaRPr lang="en-US" altLang="en-US" dirty="0"/>
          </a:p>
        </p:txBody>
      </p:sp>
      <p:pic>
        <p:nvPicPr>
          <p:cNvPr id="6" name="Picture 6" descr="ALU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6688" y="1143000"/>
            <a:ext cx="6443527" cy="41910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57181E68-E685-4E2F-A001-A707AC9A3B34}"/>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84EF254D-2F0E-4D76-BFF1-2DC99A7923D6}"/>
              </a:ext>
            </a:extLst>
          </p:cNvPr>
          <p:cNvSpPr>
            <a:spLocks noGrp="1"/>
          </p:cNvSpPr>
          <p:nvPr>
            <p:ph type="sldNum" sz="quarter" idx="12"/>
          </p:nvPr>
        </p:nvSpPr>
        <p:spPr/>
        <p:txBody>
          <a:bodyPr/>
          <a:lstStyle/>
          <a:p>
            <a:fld id="{F51CCBE7-ABD4-48B2-BA38-8FA2BA66BB34}" type="slidenum">
              <a:rPr lang="en-US" smtClean="0"/>
              <a:t>45</a:t>
            </a:fld>
            <a:endParaRPr lang="en-US"/>
          </a:p>
        </p:txBody>
      </p:sp>
    </p:spTree>
    <p:extLst>
      <p:ext uri="{BB962C8B-B14F-4D97-AF65-F5344CB8AC3E}">
        <p14:creationId xmlns:p14="http://schemas.microsoft.com/office/powerpoint/2010/main" val="1225990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67179" y="198437"/>
            <a:ext cx="10515600" cy="1325563"/>
          </a:xfrm>
        </p:spPr>
        <p:txBody>
          <a:bodyPr/>
          <a:lstStyle/>
          <a:p>
            <a:r>
              <a:rPr lang="en-US" altLang="en-US" dirty="0"/>
              <a:t>The von Neumann Model</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419600" cy="5257800"/>
          </a:xfrm>
        </p:spPr>
        <p:txBody>
          <a:bodyPr/>
          <a:lstStyle/>
          <a:p>
            <a:pPr>
              <a:spcBef>
                <a:spcPct val="15000"/>
              </a:spcBef>
            </a:pPr>
            <a:r>
              <a:rPr lang="en-US" altLang="en-US" dirty="0"/>
              <a:t>Any data operands required to execute the instruction are fetched from memory and placed into </a:t>
            </a:r>
            <a:r>
              <a:rPr lang="en-US" altLang="en-US" b="1" dirty="0"/>
              <a:t>registers</a:t>
            </a:r>
            <a:r>
              <a:rPr lang="en-US" altLang="en-US" dirty="0"/>
              <a:t> within the CPU.</a:t>
            </a:r>
          </a:p>
          <a:p>
            <a:pPr>
              <a:spcBef>
                <a:spcPct val="15000"/>
              </a:spcBef>
            </a:pPr>
            <a:r>
              <a:rPr lang="en-US" altLang="en-US" dirty="0"/>
              <a:t>Registers are small memory banks located in the CPU that can store the operands of operations and the results of operations.</a:t>
            </a:r>
          </a:p>
        </p:txBody>
      </p:sp>
      <p:pic>
        <p:nvPicPr>
          <p:cNvPr id="5" name="Picture 5" descr="ALU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6688" y="1165334"/>
            <a:ext cx="6409189" cy="4168666"/>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1C927B49-6C26-455B-9F2A-1017F89A730A}"/>
              </a:ext>
            </a:extLst>
          </p:cNvPr>
          <p:cNvSpPr>
            <a:spLocks noGrp="1"/>
          </p:cNvSpPr>
          <p:nvPr>
            <p:ph type="ftr" sz="quarter" idx="11"/>
          </p:nvPr>
        </p:nvSpPr>
        <p:spPr/>
        <p:txBody>
          <a:bodyPr/>
          <a:lstStyle/>
          <a:p>
            <a:r>
              <a:rPr lang="en-US"/>
              <a:t>SBU - ISE 218 - Fundamentals of Information Technology </a:t>
            </a:r>
          </a:p>
        </p:txBody>
      </p:sp>
      <p:sp>
        <p:nvSpPr>
          <p:cNvPr id="6" name="Slide Number Placeholder 5">
            <a:extLst>
              <a:ext uri="{FF2B5EF4-FFF2-40B4-BE49-F238E27FC236}">
                <a16:creationId xmlns:a16="http://schemas.microsoft.com/office/drawing/2014/main" id="{FE72BF13-D44F-4D43-A9A6-C3E890B79B64}"/>
              </a:ext>
            </a:extLst>
          </p:cNvPr>
          <p:cNvSpPr>
            <a:spLocks noGrp="1"/>
          </p:cNvSpPr>
          <p:nvPr>
            <p:ph type="sldNum" sz="quarter" idx="12"/>
          </p:nvPr>
        </p:nvSpPr>
        <p:spPr/>
        <p:txBody>
          <a:bodyPr/>
          <a:lstStyle/>
          <a:p>
            <a:fld id="{F51CCBE7-ABD4-48B2-BA38-8FA2BA66BB34}" type="slidenum">
              <a:rPr lang="en-US" smtClean="0"/>
              <a:t>46</a:t>
            </a:fld>
            <a:endParaRPr lang="en-US"/>
          </a:p>
        </p:txBody>
      </p:sp>
    </p:spTree>
    <p:extLst>
      <p:ext uri="{BB962C8B-B14F-4D97-AF65-F5344CB8AC3E}">
        <p14:creationId xmlns:p14="http://schemas.microsoft.com/office/powerpoint/2010/main" val="3244046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722791" y="143183"/>
            <a:ext cx="10515600" cy="1325563"/>
          </a:xfrm>
        </p:spPr>
        <p:txBody>
          <a:bodyPr/>
          <a:lstStyle/>
          <a:p>
            <a:r>
              <a:rPr lang="en-US" altLang="en-US" dirty="0"/>
              <a:t>The von Neumann Model</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4419600" cy="5257800"/>
          </a:xfrm>
        </p:spPr>
        <p:txBody>
          <a:bodyPr/>
          <a:lstStyle/>
          <a:p>
            <a:pPr>
              <a:spcBef>
                <a:spcPct val="15000"/>
              </a:spcBef>
            </a:pPr>
            <a:r>
              <a:rPr lang="en-US" altLang="en-US" dirty="0"/>
              <a:t>The ALU executes the instruction and places results in registers or memory.</a:t>
            </a:r>
          </a:p>
        </p:txBody>
      </p:sp>
      <p:pic>
        <p:nvPicPr>
          <p:cNvPr id="6" name="Picture 6" descr="ALU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6688" y="1142999"/>
            <a:ext cx="6375712" cy="4144929"/>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E5783B4-6E55-402B-91C2-974404045B4B}"/>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13A6DF7A-16E5-4604-A134-2866562B5795}"/>
              </a:ext>
            </a:extLst>
          </p:cNvPr>
          <p:cNvSpPr>
            <a:spLocks noGrp="1"/>
          </p:cNvSpPr>
          <p:nvPr>
            <p:ph type="sldNum" sz="quarter" idx="12"/>
          </p:nvPr>
        </p:nvSpPr>
        <p:spPr/>
        <p:txBody>
          <a:bodyPr/>
          <a:lstStyle/>
          <a:p>
            <a:fld id="{F51CCBE7-ABD4-48B2-BA38-8FA2BA66BB34}" type="slidenum">
              <a:rPr lang="en-US" smtClean="0"/>
              <a:t>47</a:t>
            </a:fld>
            <a:endParaRPr lang="en-US"/>
          </a:p>
        </p:txBody>
      </p:sp>
    </p:spTree>
    <p:extLst>
      <p:ext uri="{BB962C8B-B14F-4D97-AF65-F5344CB8AC3E}">
        <p14:creationId xmlns:p14="http://schemas.microsoft.com/office/powerpoint/2010/main" val="6784967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altLang="en-US" dirty="0"/>
              <a:t>Non-von Neumann Models</a:t>
            </a:r>
            <a:endParaRPr lang="en-US" dirty="0"/>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Conventional stored-program computers have undergone many incremental improvements over the years.</a:t>
            </a:r>
          </a:p>
          <a:p>
            <a:r>
              <a:rPr lang="en-US" dirty="0"/>
              <a:t>These improvements include adding specialized buses, </a:t>
            </a:r>
            <a:r>
              <a:rPr lang="en-US" b="1" dirty="0"/>
              <a:t>floating-point units</a:t>
            </a:r>
            <a:r>
              <a:rPr lang="en-US" dirty="0"/>
              <a:t> (for doing fast calculations involving real numbers), and cache memories, to name only a few.</a:t>
            </a:r>
          </a:p>
          <a:p>
            <a:r>
              <a:rPr lang="en-US" dirty="0"/>
              <a:t>But enormous improvements in computational power require departure from the classic von Neumann architecture.</a:t>
            </a:r>
          </a:p>
          <a:p>
            <a:r>
              <a:rPr lang="en-US" dirty="0"/>
              <a:t>Adding processors is one approach.</a:t>
            </a:r>
          </a:p>
          <a:p>
            <a:r>
              <a:rPr lang="en-US" dirty="0"/>
              <a:t>Modern computers have multiple buses (e.g., graphics, I/O)</a:t>
            </a:r>
          </a:p>
          <a:p>
            <a:r>
              <a:rPr lang="en-US" dirty="0"/>
              <a:t>Other non-von Neumann systems provide special-purpose processors to offload work from the main CPU.</a:t>
            </a:r>
          </a:p>
          <a:p>
            <a:r>
              <a:rPr lang="en-US" dirty="0"/>
              <a:t>More radical departures include </a:t>
            </a:r>
            <a:r>
              <a:rPr lang="en-US" b="1" dirty="0"/>
              <a:t>parallel computing</a:t>
            </a:r>
            <a:r>
              <a:rPr lang="en-US" dirty="0"/>
              <a:t>.</a:t>
            </a:r>
          </a:p>
          <a:p>
            <a:endParaRPr lang="en-US" dirty="0"/>
          </a:p>
        </p:txBody>
      </p:sp>
      <p:sp>
        <p:nvSpPr>
          <p:cNvPr id="4" name="Footer Placeholder 3">
            <a:extLst>
              <a:ext uri="{FF2B5EF4-FFF2-40B4-BE49-F238E27FC236}">
                <a16:creationId xmlns:a16="http://schemas.microsoft.com/office/drawing/2014/main" id="{0F4CAC57-54BA-4A5D-BFA8-1411C606BAEB}"/>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E6F2B4BF-0C7B-41E7-80C2-F2754C366535}"/>
              </a:ext>
            </a:extLst>
          </p:cNvPr>
          <p:cNvSpPr>
            <a:spLocks noGrp="1"/>
          </p:cNvSpPr>
          <p:nvPr>
            <p:ph type="sldNum" sz="quarter" idx="12"/>
          </p:nvPr>
        </p:nvSpPr>
        <p:spPr/>
        <p:txBody>
          <a:bodyPr/>
          <a:lstStyle/>
          <a:p>
            <a:fld id="{F51CCBE7-ABD4-48B2-BA38-8FA2BA66BB34}" type="slidenum">
              <a:rPr lang="en-US" smtClean="0"/>
              <a:t>48</a:t>
            </a:fld>
            <a:endParaRPr lang="en-US"/>
          </a:p>
        </p:txBody>
      </p:sp>
    </p:spTree>
    <p:extLst>
      <p:ext uri="{BB962C8B-B14F-4D97-AF65-F5344CB8AC3E}">
        <p14:creationId xmlns:p14="http://schemas.microsoft.com/office/powerpoint/2010/main" val="12641524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838200" y="169816"/>
            <a:ext cx="10515600" cy="1325563"/>
          </a:xfrm>
        </p:spPr>
        <p:txBody>
          <a:bodyPr/>
          <a:lstStyle/>
          <a:p>
            <a:r>
              <a:rPr lang="en-US" dirty="0"/>
              <a:t>Parallel Computing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5486400" cy="5257800"/>
          </a:xfrm>
        </p:spPr>
        <p:txBody>
          <a:bodyPr>
            <a:normAutofit lnSpcReduction="10000"/>
          </a:bodyPr>
          <a:lstStyle/>
          <a:p>
            <a:r>
              <a:rPr lang="en-US" dirty="0"/>
              <a:t>In the late 1960s, high-performance computer systems were equipped with dual processors to increase computational throughput.</a:t>
            </a:r>
          </a:p>
          <a:p>
            <a:r>
              <a:rPr lang="en-US" dirty="0"/>
              <a:t>In the 1970s supercomputer systems were introduced with 32 processors.</a:t>
            </a:r>
          </a:p>
          <a:p>
            <a:r>
              <a:rPr lang="en-US" dirty="0"/>
              <a:t>Supercomputers with 1,000 processors were built in the 1980s.</a:t>
            </a:r>
          </a:p>
          <a:p>
            <a:r>
              <a:rPr lang="en-US" dirty="0"/>
              <a:t>In 1999, IBM announced its Blue Gene system containing over 100,000 processors.</a:t>
            </a:r>
          </a:p>
          <a:p>
            <a:endParaRPr lang="en-US" dirty="0"/>
          </a:p>
        </p:txBody>
      </p:sp>
      <p:pic>
        <p:nvPicPr>
          <p:cNvPr id="1026" name="Picture 2" descr="https://upload.wikimedia.org/wikipedia/commons/thumb/d/d3/IBM_Blue_Gene_P_supercomputer.jpg/1280px-IBM_Blue_Gene_P_supercomput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6513" y="1219200"/>
            <a:ext cx="5405887" cy="35814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6F5B8354-9511-416E-AAE8-0F8C47A37AF9}"/>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BB4A0A1E-4BED-4A4D-A2BF-F7A9D500C47C}"/>
              </a:ext>
            </a:extLst>
          </p:cNvPr>
          <p:cNvSpPr>
            <a:spLocks noGrp="1"/>
          </p:cNvSpPr>
          <p:nvPr>
            <p:ph type="sldNum" sz="quarter" idx="12"/>
          </p:nvPr>
        </p:nvSpPr>
        <p:spPr/>
        <p:txBody>
          <a:bodyPr/>
          <a:lstStyle/>
          <a:p>
            <a:fld id="{F51CCBE7-ABD4-48B2-BA38-8FA2BA66BB34}" type="slidenum">
              <a:rPr lang="en-US" smtClean="0"/>
              <a:t>49</a:t>
            </a:fld>
            <a:endParaRPr lang="en-US"/>
          </a:p>
        </p:txBody>
      </p:sp>
    </p:spTree>
    <p:extLst>
      <p:ext uri="{BB962C8B-B14F-4D97-AF65-F5344CB8AC3E}">
        <p14:creationId xmlns:p14="http://schemas.microsoft.com/office/powerpoint/2010/main" val="32346971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838200" y="500062"/>
            <a:ext cx="10515600" cy="1325563"/>
          </a:xfrm>
        </p:spPr>
        <p:txBody>
          <a:bodyPr/>
          <a:lstStyle/>
          <a:p>
            <a:r>
              <a:rPr lang="en-US" dirty="0"/>
              <a:t>Parallel Computing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Parallel processing allows a computer to simultaneously work on subparts of a problem.</a:t>
            </a:r>
          </a:p>
          <a:p>
            <a:r>
              <a:rPr lang="en-US" dirty="0"/>
              <a:t>Multicore processors have two or more processor cores sharing a single die. </a:t>
            </a:r>
          </a:p>
          <a:p>
            <a:r>
              <a:rPr lang="en-US" dirty="0"/>
              <a:t>Each core has its own ALU and set of registers, but all processors share memory and other resources. </a:t>
            </a:r>
          </a:p>
          <a:p>
            <a:r>
              <a:rPr lang="en-US" dirty="0"/>
              <a:t>“Dual core” differs from “dual processor.” </a:t>
            </a:r>
          </a:p>
          <a:p>
            <a:pPr lvl="1"/>
            <a:r>
              <a:rPr lang="en-US" dirty="0"/>
              <a:t>Dual-processor machines, for example, have two processors, but each processor plugs into the motherboard separately. </a:t>
            </a:r>
          </a:p>
          <a:p>
            <a:pPr lvl="1"/>
            <a:r>
              <a:rPr lang="en-US" dirty="0"/>
              <a:t>Multi-core systems provide the ability to multitask</a:t>
            </a:r>
          </a:p>
          <a:p>
            <a:pPr lvl="2"/>
            <a:r>
              <a:rPr lang="en-US" dirty="0"/>
              <a:t>e.g., browse the Web while burning a CD</a:t>
            </a:r>
          </a:p>
          <a:p>
            <a:r>
              <a:rPr lang="en-US" dirty="0"/>
              <a:t>Multithreaded applications spread mini-processes, </a:t>
            </a:r>
            <a:r>
              <a:rPr lang="en-US" b="1" dirty="0"/>
              <a:t>threads</a:t>
            </a:r>
            <a:r>
              <a:rPr lang="en-US" dirty="0"/>
              <a:t>, across one or more processors for increased </a:t>
            </a:r>
            <a:r>
              <a:rPr lang="en-US" b="1" dirty="0"/>
              <a:t>throughput</a:t>
            </a:r>
            <a:r>
              <a:rPr lang="en-US" dirty="0"/>
              <a:t>.</a:t>
            </a:r>
          </a:p>
          <a:p>
            <a:endParaRPr lang="en-US" dirty="0"/>
          </a:p>
        </p:txBody>
      </p:sp>
      <p:sp>
        <p:nvSpPr>
          <p:cNvPr id="4" name="Footer Placeholder 3">
            <a:extLst>
              <a:ext uri="{FF2B5EF4-FFF2-40B4-BE49-F238E27FC236}">
                <a16:creationId xmlns:a16="http://schemas.microsoft.com/office/drawing/2014/main" id="{11923031-E3D4-4D0B-9F6A-144D1DA633F4}"/>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30CE22BD-E03A-45CA-8CA9-172B26216D05}"/>
              </a:ext>
            </a:extLst>
          </p:cNvPr>
          <p:cNvSpPr>
            <a:spLocks noGrp="1"/>
          </p:cNvSpPr>
          <p:nvPr>
            <p:ph type="sldNum" sz="quarter" idx="12"/>
          </p:nvPr>
        </p:nvSpPr>
        <p:spPr/>
        <p:txBody>
          <a:bodyPr/>
          <a:lstStyle/>
          <a:p>
            <a:fld id="{F51CCBE7-ABD4-48B2-BA38-8FA2BA66BB34}" type="slidenum">
              <a:rPr lang="en-US" smtClean="0"/>
              <a:t>50</a:t>
            </a:fld>
            <a:endParaRPr lang="en-US"/>
          </a:p>
        </p:txBody>
      </p:sp>
    </p:spTree>
    <p:extLst>
      <p:ext uri="{BB962C8B-B14F-4D97-AF65-F5344CB8AC3E}">
        <p14:creationId xmlns:p14="http://schemas.microsoft.com/office/powerpoint/2010/main" val="101367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Parallel Computing: Machine Intelligence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The quest for machine intelligence has been ongoing for over 300 years.</a:t>
            </a:r>
          </a:p>
          <a:p>
            <a:r>
              <a:rPr lang="en-US" dirty="0"/>
              <a:t>The 20th Century witnessed the first machines that could be human grandmasters at chess when Deep Blue beat Garry Kasparov in 1997.</a:t>
            </a:r>
          </a:p>
          <a:p>
            <a:r>
              <a:rPr lang="en-US" dirty="0"/>
              <a:t>But the machine and the algorithm relied on a </a:t>
            </a:r>
            <a:r>
              <a:rPr lang="en-US" b="1" dirty="0"/>
              <a:t>brute force solution</a:t>
            </a:r>
            <a:r>
              <a:rPr lang="en-US" dirty="0"/>
              <a:t>, although impressive, is hardly “intelligent” by any measure.</a:t>
            </a:r>
          </a:p>
          <a:p>
            <a:r>
              <a:rPr lang="en-US" dirty="0"/>
              <a:t>Any definition of true machine “intelligence” would have to include the ability to acquire new knowledge independent of direct human intervention, and the ability to solve problems using incomplete and perhaps contradictory information.</a:t>
            </a:r>
          </a:p>
          <a:p>
            <a:r>
              <a:rPr lang="en-US" dirty="0"/>
              <a:t>This is precisely what IBM achieved when it build the machine named </a:t>
            </a:r>
            <a:r>
              <a:rPr lang="en-US" i="1" dirty="0"/>
              <a:t>Watson</a:t>
            </a:r>
            <a:r>
              <a:rPr lang="en-US" dirty="0"/>
              <a:t>.</a:t>
            </a:r>
          </a:p>
          <a:p>
            <a:r>
              <a:rPr lang="en-US" dirty="0"/>
              <a:t>Watson proved this when it beat two human Jeopardy! champions on February 16, 2011.</a:t>
            </a:r>
          </a:p>
          <a:p>
            <a:endParaRPr lang="en-US" dirty="0"/>
          </a:p>
        </p:txBody>
      </p:sp>
      <p:sp>
        <p:nvSpPr>
          <p:cNvPr id="4" name="Footer Placeholder 3">
            <a:extLst>
              <a:ext uri="{FF2B5EF4-FFF2-40B4-BE49-F238E27FC236}">
                <a16:creationId xmlns:a16="http://schemas.microsoft.com/office/drawing/2014/main" id="{D2F68C8F-5040-45F6-95F0-D2BF6A813CD1}"/>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83DA69B8-E10A-48A6-9EFB-7BD044997FE9}"/>
              </a:ext>
            </a:extLst>
          </p:cNvPr>
          <p:cNvSpPr>
            <a:spLocks noGrp="1"/>
          </p:cNvSpPr>
          <p:nvPr>
            <p:ph type="sldNum" sz="quarter" idx="12"/>
          </p:nvPr>
        </p:nvSpPr>
        <p:spPr/>
        <p:txBody>
          <a:bodyPr/>
          <a:lstStyle/>
          <a:p>
            <a:fld id="{F51CCBE7-ABD4-48B2-BA38-8FA2BA66BB34}" type="slidenum">
              <a:rPr lang="en-US" smtClean="0"/>
              <a:t>51</a:t>
            </a:fld>
            <a:endParaRPr lang="en-US"/>
          </a:p>
        </p:txBody>
      </p:sp>
    </p:spTree>
    <p:extLst>
      <p:ext uri="{BB962C8B-B14F-4D97-AF65-F5344CB8AC3E}">
        <p14:creationId xmlns:p14="http://schemas.microsoft.com/office/powerpoint/2010/main" val="3665709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Parallel Computing: Machine Intelligence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Watson had a massively parallel architecture dubbed </a:t>
            </a:r>
            <a:r>
              <a:rPr lang="en-US" dirty="0" err="1"/>
              <a:t>DeepQA</a:t>
            </a:r>
            <a:r>
              <a:rPr lang="en-US" dirty="0"/>
              <a:t> (Deep Question and Answer). </a:t>
            </a:r>
          </a:p>
          <a:p>
            <a:r>
              <a:rPr lang="en-US" dirty="0"/>
              <a:t>The system relied on 90 IBM POWER 750 servers. </a:t>
            </a:r>
          </a:p>
          <a:p>
            <a:r>
              <a:rPr lang="en-US" dirty="0"/>
              <a:t>Each server was equipped with four POWER7 processors, and each POWER7 processor had eight cores, giving a total of 2880 processor cores. </a:t>
            </a:r>
          </a:p>
          <a:p>
            <a:r>
              <a:rPr lang="en-US" dirty="0"/>
              <a:t>While playing Jeopardy!, each core had access to 16TB of main memory and 4TB of storage.</a:t>
            </a:r>
          </a:p>
          <a:p>
            <a:r>
              <a:rPr lang="en-US" dirty="0"/>
              <a:t>Watson's technology has been put to work in treating cancer.</a:t>
            </a:r>
          </a:p>
          <a:p>
            <a:pPr lvl="1"/>
            <a:r>
              <a:rPr lang="en-US" dirty="0"/>
              <a:t>Commercial products based on Watson technology, including “Interactive Care Insights for Oncology” and “Interactive Care Reviewer,” are now available. </a:t>
            </a:r>
          </a:p>
          <a:p>
            <a:r>
              <a:rPr lang="en-US" dirty="0"/>
              <a:t>Watson is also becoming more compact: Watson can now be run on a single POWER 750 server.</a:t>
            </a:r>
          </a:p>
          <a:p>
            <a:pPr marL="114300" indent="0">
              <a:buNone/>
            </a:pPr>
            <a:endParaRPr lang="en-US" dirty="0"/>
          </a:p>
        </p:txBody>
      </p:sp>
      <p:sp>
        <p:nvSpPr>
          <p:cNvPr id="4" name="Footer Placeholder 3">
            <a:extLst>
              <a:ext uri="{FF2B5EF4-FFF2-40B4-BE49-F238E27FC236}">
                <a16:creationId xmlns:a16="http://schemas.microsoft.com/office/drawing/2014/main" id="{B12A0CA1-AC2B-49E9-8B76-50B40EBE6120}"/>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DB80FBC2-9487-4590-A6AC-186986BED822}"/>
              </a:ext>
            </a:extLst>
          </p:cNvPr>
          <p:cNvSpPr>
            <a:spLocks noGrp="1"/>
          </p:cNvSpPr>
          <p:nvPr>
            <p:ph type="sldNum" sz="quarter" idx="12"/>
          </p:nvPr>
        </p:nvSpPr>
        <p:spPr/>
        <p:txBody>
          <a:bodyPr/>
          <a:lstStyle/>
          <a:p>
            <a:fld id="{F51CCBE7-ABD4-48B2-BA38-8FA2BA66BB34}" type="slidenum">
              <a:rPr lang="en-US" smtClean="0"/>
              <a:t>52</a:t>
            </a:fld>
            <a:endParaRPr lang="en-US"/>
          </a:p>
        </p:txBody>
      </p:sp>
    </p:spTree>
    <p:extLst>
      <p:ext uri="{BB962C8B-B14F-4D97-AF65-F5344CB8AC3E}">
        <p14:creationId xmlns:p14="http://schemas.microsoft.com/office/powerpoint/2010/main" val="10272560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Computing as a Service: Cloud Computing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The ultimate aim of every computer system is to deliver functionality to its users. </a:t>
            </a:r>
          </a:p>
          <a:p>
            <a:r>
              <a:rPr lang="en-US" dirty="0"/>
              <a:t>Computer users typically do not care about terabytes of storage and gigahertz of processor speed.</a:t>
            </a:r>
          </a:p>
          <a:p>
            <a:r>
              <a:rPr lang="en-US" dirty="0"/>
              <a:t>Many companies outsource their data centers to third-party specialists, who agree to provide computing services for a fee.</a:t>
            </a:r>
          </a:p>
          <a:p>
            <a:r>
              <a:rPr lang="en-US" dirty="0"/>
              <a:t>These arrangements are managed through</a:t>
            </a:r>
            <a:r>
              <a:rPr lang="en-US" b="1" dirty="0"/>
              <a:t> service-level agreements</a:t>
            </a:r>
            <a:r>
              <a:rPr lang="en-US" dirty="0"/>
              <a:t> (SLAs).</a:t>
            </a:r>
          </a:p>
          <a:p>
            <a:r>
              <a:rPr lang="en-US" altLang="en-US" dirty="0">
                <a:solidFill>
                  <a:schemeClr val="tx1"/>
                </a:solidFill>
              </a:rPr>
              <a:t>Rather than pay a third party to run a company-owned data center, another approach is to buy computing services from someone else’s data center and connect to it via the Internet.</a:t>
            </a:r>
          </a:p>
          <a:p>
            <a:r>
              <a:rPr lang="en-US" altLang="en-US" dirty="0">
                <a:solidFill>
                  <a:schemeClr val="tx1"/>
                </a:solidFill>
              </a:rPr>
              <a:t>This is the idea behind a collection of service models known as </a:t>
            </a:r>
            <a:r>
              <a:rPr lang="en-US" altLang="en-US" b="1" dirty="0">
                <a:solidFill>
                  <a:schemeClr val="tx1"/>
                </a:solidFill>
              </a:rPr>
              <a:t>Cloud computing</a:t>
            </a:r>
            <a:r>
              <a:rPr lang="en-US" altLang="en-US" dirty="0">
                <a:solidFill>
                  <a:schemeClr val="tx1"/>
                </a:solidFill>
              </a:rPr>
              <a:t>.</a:t>
            </a:r>
          </a:p>
          <a:p>
            <a:endParaRPr lang="en-US" dirty="0"/>
          </a:p>
          <a:p>
            <a:endParaRPr lang="en-US" dirty="0"/>
          </a:p>
        </p:txBody>
      </p:sp>
      <p:sp>
        <p:nvSpPr>
          <p:cNvPr id="4" name="Footer Placeholder 3">
            <a:extLst>
              <a:ext uri="{FF2B5EF4-FFF2-40B4-BE49-F238E27FC236}">
                <a16:creationId xmlns:a16="http://schemas.microsoft.com/office/drawing/2014/main" id="{4B13C4AA-2CD6-4CAF-86E4-E593292DB1AB}"/>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3372138A-2D2D-4E7C-B482-88F3D7D06755}"/>
              </a:ext>
            </a:extLst>
          </p:cNvPr>
          <p:cNvSpPr>
            <a:spLocks noGrp="1"/>
          </p:cNvSpPr>
          <p:nvPr>
            <p:ph type="sldNum" sz="quarter" idx="12"/>
          </p:nvPr>
        </p:nvSpPr>
        <p:spPr/>
        <p:txBody>
          <a:bodyPr/>
          <a:lstStyle/>
          <a:p>
            <a:fld id="{F51CCBE7-ABD4-48B2-BA38-8FA2BA66BB34}" type="slidenum">
              <a:rPr lang="en-US" smtClean="0"/>
              <a:t>53</a:t>
            </a:fld>
            <a:endParaRPr lang="en-US"/>
          </a:p>
        </p:txBody>
      </p:sp>
    </p:spTree>
    <p:extLst>
      <p:ext uri="{BB962C8B-B14F-4D97-AF65-F5344CB8AC3E}">
        <p14:creationId xmlns:p14="http://schemas.microsoft.com/office/powerpoint/2010/main" val="37256576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Computing as a Service: Cloud Computing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The “Cloud” is a visual metaphor traditionally used for the Internet. It is even more apt for </a:t>
            </a:r>
            <a:r>
              <a:rPr lang="en-US" b="1" dirty="0"/>
              <a:t>service-defined computing</a:t>
            </a:r>
            <a:r>
              <a:rPr lang="en-US" dirty="0"/>
              <a:t>.</a:t>
            </a:r>
          </a:p>
          <a:p>
            <a:r>
              <a:rPr lang="en-US" b="1" dirty="0"/>
              <a:t>Software as a Service</a:t>
            </a:r>
            <a:r>
              <a:rPr lang="en-US" dirty="0"/>
              <a:t>, or SaaS. The consumer of this service buys application services</a:t>
            </a:r>
          </a:p>
          <a:p>
            <a:pPr lvl="1"/>
            <a:r>
              <a:rPr lang="en-US" dirty="0"/>
              <a:t>Well-known examples include Gmail, Dropbox, GoToMeeting, and Netflix.</a:t>
            </a:r>
          </a:p>
          <a:p>
            <a:pPr lvl="1"/>
            <a:r>
              <a:rPr lang="en-US" dirty="0"/>
              <a:t>Pre-made software with little customization possible by customer</a:t>
            </a:r>
          </a:p>
          <a:p>
            <a:pPr lvl="1"/>
            <a:r>
              <a:rPr lang="en-US" dirty="0"/>
              <a:t>Why buy </a:t>
            </a:r>
            <a:r>
              <a:rPr lang="en-US" dirty="0" err="1"/>
              <a:t>Saas</a:t>
            </a:r>
            <a:r>
              <a:rPr lang="en-US" dirty="0"/>
              <a:t>?</a:t>
            </a:r>
          </a:p>
          <a:p>
            <a:r>
              <a:rPr lang="en-US" b="1" dirty="0"/>
              <a:t>Platform as a Service</a:t>
            </a:r>
            <a:r>
              <a:rPr lang="en-US" dirty="0"/>
              <a:t>, or PaaS. Provides server hardware, operating systems, database services, security components, and backup and recovery services.</a:t>
            </a:r>
          </a:p>
          <a:p>
            <a:pPr lvl="1"/>
            <a:r>
              <a:rPr lang="en-US" dirty="0"/>
              <a:t>Well-known PaaS providers include Google App Engine and Microsoft Windows Azure Cloud Services.</a:t>
            </a:r>
          </a:p>
          <a:p>
            <a:endParaRPr lang="en-US" dirty="0"/>
          </a:p>
        </p:txBody>
      </p:sp>
      <p:sp>
        <p:nvSpPr>
          <p:cNvPr id="4" name="Footer Placeholder 3">
            <a:extLst>
              <a:ext uri="{FF2B5EF4-FFF2-40B4-BE49-F238E27FC236}">
                <a16:creationId xmlns:a16="http://schemas.microsoft.com/office/drawing/2014/main" id="{6FCA34AF-07EB-4587-8882-3F33431C9EEC}"/>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9C4D863C-9A09-4D83-AD1D-E0E3FEF7A523}"/>
              </a:ext>
            </a:extLst>
          </p:cNvPr>
          <p:cNvSpPr>
            <a:spLocks noGrp="1"/>
          </p:cNvSpPr>
          <p:nvPr>
            <p:ph type="sldNum" sz="quarter" idx="12"/>
          </p:nvPr>
        </p:nvSpPr>
        <p:spPr/>
        <p:txBody>
          <a:bodyPr/>
          <a:lstStyle/>
          <a:p>
            <a:fld id="{F51CCBE7-ABD4-48B2-BA38-8FA2BA66BB34}" type="slidenum">
              <a:rPr lang="en-US" smtClean="0"/>
              <a:t>54</a:t>
            </a:fld>
            <a:endParaRPr lang="en-US"/>
          </a:p>
        </p:txBody>
      </p:sp>
    </p:spTree>
    <p:extLst>
      <p:ext uri="{BB962C8B-B14F-4D97-AF65-F5344CB8AC3E}">
        <p14:creationId xmlns:p14="http://schemas.microsoft.com/office/powerpoint/2010/main" val="19793798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Computing as a Service: Cloud Computing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b="1" dirty="0"/>
              <a:t>Infrastructure as a Service</a:t>
            </a:r>
            <a:r>
              <a:rPr lang="en-US" dirty="0"/>
              <a:t> (IaaS) provides only server hardware, secure network access to the servers, and backup and recovery services. The customer is responsible for all system software including the operating system and databases.</a:t>
            </a:r>
          </a:p>
          <a:p>
            <a:pPr lvl="1"/>
            <a:r>
              <a:rPr lang="en-US" dirty="0"/>
              <a:t>Well-known IaaS platforms include Amazon EC2, Google Compute Engine, Microsoft Azure Services Platform, Rackspace, and HP Cloud.</a:t>
            </a:r>
          </a:p>
          <a:p>
            <a:r>
              <a:rPr lang="en-US" b="1" dirty="0"/>
              <a:t>Cloud storage</a:t>
            </a:r>
            <a:r>
              <a:rPr lang="en-US" dirty="0"/>
              <a:t> is a limited type of IaaS that includes services such as Dropbox, Google Drive, and </a:t>
            </a:r>
            <a:r>
              <a:rPr lang="en-US" dirty="0" err="1"/>
              <a:t>Amazon.com’s</a:t>
            </a:r>
            <a:r>
              <a:rPr lang="en-US" dirty="0"/>
              <a:t> Cloud Drive.</a:t>
            </a:r>
          </a:p>
          <a:p>
            <a:endParaRPr lang="en-US" dirty="0"/>
          </a:p>
        </p:txBody>
      </p:sp>
      <p:sp>
        <p:nvSpPr>
          <p:cNvPr id="4" name="Footer Placeholder 3">
            <a:extLst>
              <a:ext uri="{FF2B5EF4-FFF2-40B4-BE49-F238E27FC236}">
                <a16:creationId xmlns:a16="http://schemas.microsoft.com/office/drawing/2014/main" id="{65FB6CB2-2622-4420-9EC4-27CA2A5B940D}"/>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4C7EC8E2-1ECA-4C6A-A416-E0F05FEC4EE6}"/>
              </a:ext>
            </a:extLst>
          </p:cNvPr>
          <p:cNvSpPr>
            <a:spLocks noGrp="1"/>
          </p:cNvSpPr>
          <p:nvPr>
            <p:ph type="sldNum" sz="quarter" idx="12"/>
          </p:nvPr>
        </p:nvSpPr>
        <p:spPr/>
        <p:txBody>
          <a:bodyPr/>
          <a:lstStyle/>
          <a:p>
            <a:fld id="{F51CCBE7-ABD4-48B2-BA38-8FA2BA66BB34}" type="slidenum">
              <a:rPr lang="en-US" smtClean="0"/>
              <a:t>55</a:t>
            </a:fld>
            <a:endParaRPr lang="en-US"/>
          </a:p>
        </p:txBody>
      </p:sp>
    </p:spTree>
    <p:extLst>
      <p:ext uri="{BB962C8B-B14F-4D97-AF65-F5344CB8AC3E}">
        <p14:creationId xmlns:p14="http://schemas.microsoft.com/office/powerpoint/2010/main" val="37873685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Computing as a Service: Cloud Computing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Cloud computing relies on the concept of </a:t>
            </a:r>
            <a:r>
              <a:rPr lang="en-US" b="1" dirty="0"/>
              <a:t>elasticity</a:t>
            </a:r>
            <a:r>
              <a:rPr lang="en-US" dirty="0"/>
              <a:t>, where resources can be added and removed as needed.</a:t>
            </a:r>
          </a:p>
          <a:p>
            <a:pPr lvl="1"/>
            <a:r>
              <a:rPr lang="en-US" dirty="0"/>
              <a:t>You pay for only what you use.</a:t>
            </a:r>
          </a:p>
          <a:p>
            <a:r>
              <a:rPr lang="en-US" b="1" dirty="0"/>
              <a:t>Virtualization</a:t>
            </a:r>
            <a:r>
              <a:rPr lang="en-US" dirty="0"/>
              <a:t> is an enabler of elasticity.</a:t>
            </a:r>
          </a:p>
          <a:p>
            <a:pPr lvl="1"/>
            <a:r>
              <a:rPr lang="en-US" dirty="0"/>
              <a:t>Instead of having a physical machine, you have a “logical” machine that may span several physical machines, or occupy only part of a single physical machine.</a:t>
            </a:r>
          </a:p>
          <a:p>
            <a:r>
              <a:rPr lang="en-US" dirty="0"/>
              <a:t>The service provider must provide certain guarantees about uptime, reliability, security, etc.</a:t>
            </a:r>
          </a:p>
          <a:p>
            <a:r>
              <a:rPr lang="en-US" dirty="0"/>
              <a:t>The consumer must take care to develop high-quality software that does not waste resources and thus incur additional charges</a:t>
            </a:r>
          </a:p>
          <a:p>
            <a:endParaRPr lang="en-US" dirty="0"/>
          </a:p>
        </p:txBody>
      </p:sp>
      <p:sp>
        <p:nvSpPr>
          <p:cNvPr id="4" name="Footer Placeholder 3">
            <a:extLst>
              <a:ext uri="{FF2B5EF4-FFF2-40B4-BE49-F238E27FC236}">
                <a16:creationId xmlns:a16="http://schemas.microsoft.com/office/drawing/2014/main" id="{C2048DB1-A5D9-4651-96CC-A61206480D6E}"/>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0E537941-BC1B-429F-891C-7304D37BD14A}"/>
              </a:ext>
            </a:extLst>
          </p:cNvPr>
          <p:cNvSpPr>
            <a:spLocks noGrp="1"/>
          </p:cNvSpPr>
          <p:nvPr>
            <p:ph type="sldNum" sz="quarter" idx="12"/>
          </p:nvPr>
        </p:nvSpPr>
        <p:spPr/>
        <p:txBody>
          <a:bodyPr/>
          <a:lstStyle/>
          <a:p>
            <a:fld id="{F51CCBE7-ABD4-48B2-BA38-8FA2BA66BB34}" type="slidenum">
              <a:rPr lang="en-US" smtClean="0"/>
              <a:t>56</a:t>
            </a:fld>
            <a:endParaRPr lang="en-US"/>
          </a:p>
        </p:txBody>
      </p:sp>
    </p:spTree>
    <p:extLst>
      <p:ext uri="{BB962C8B-B14F-4D97-AF65-F5344CB8AC3E}">
        <p14:creationId xmlns:p14="http://schemas.microsoft.com/office/powerpoint/2010/main" val="141528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This unit has given you an overview of the subject of computer architecture.</a:t>
            </a:r>
          </a:p>
          <a:p>
            <a:r>
              <a:rPr lang="en-US" dirty="0"/>
              <a:t>You should now be sufficiently familiar with general system structure to guide your studies throughout the remainder of this course.</a:t>
            </a:r>
          </a:p>
          <a:p>
            <a:r>
              <a:rPr lang="en-US" dirty="0"/>
              <a:t>Over the course of the semester will explore many of these topics in great detail.</a:t>
            </a:r>
          </a:p>
        </p:txBody>
      </p:sp>
      <p:sp>
        <p:nvSpPr>
          <p:cNvPr id="4" name="Footer Placeholder 3">
            <a:extLst>
              <a:ext uri="{FF2B5EF4-FFF2-40B4-BE49-F238E27FC236}">
                <a16:creationId xmlns:a16="http://schemas.microsoft.com/office/drawing/2014/main" id="{ACB2F8DC-FAA5-47B4-9850-9FBFF2AFF12A}"/>
              </a:ext>
            </a:extLst>
          </p:cNvPr>
          <p:cNvSpPr>
            <a:spLocks noGrp="1"/>
          </p:cNvSpPr>
          <p:nvPr>
            <p:ph type="ftr" sz="quarter" idx="11"/>
          </p:nvPr>
        </p:nvSpPr>
        <p:spPr/>
        <p:txBody>
          <a:bodyPr/>
          <a:lstStyle/>
          <a:p>
            <a:r>
              <a:rPr lang="en-US"/>
              <a:t>SBU - ISE 218 - Fundamentals of Information Technology </a:t>
            </a:r>
          </a:p>
        </p:txBody>
      </p:sp>
      <p:sp>
        <p:nvSpPr>
          <p:cNvPr id="5" name="Slide Number Placeholder 4">
            <a:extLst>
              <a:ext uri="{FF2B5EF4-FFF2-40B4-BE49-F238E27FC236}">
                <a16:creationId xmlns:a16="http://schemas.microsoft.com/office/drawing/2014/main" id="{3267A4BE-04B2-45FC-96D6-47346CE58617}"/>
              </a:ext>
            </a:extLst>
          </p:cNvPr>
          <p:cNvSpPr>
            <a:spLocks noGrp="1"/>
          </p:cNvSpPr>
          <p:nvPr>
            <p:ph type="sldNum" sz="quarter" idx="12"/>
          </p:nvPr>
        </p:nvSpPr>
        <p:spPr/>
        <p:txBody>
          <a:bodyPr/>
          <a:lstStyle/>
          <a:p>
            <a:fld id="{F51CCBE7-ABD4-48B2-BA38-8FA2BA66BB34}" type="slidenum">
              <a:rPr lang="en-US" smtClean="0"/>
              <a:t>57</a:t>
            </a:fld>
            <a:endParaRPr lang="en-US"/>
          </a:p>
        </p:txBody>
      </p:sp>
    </p:spTree>
    <p:extLst>
      <p:ext uri="{BB962C8B-B14F-4D97-AF65-F5344CB8AC3E}">
        <p14:creationId xmlns:p14="http://schemas.microsoft.com/office/powerpoint/2010/main" val="28685940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396D4F3FBE81459556FDCA3F477A03" ma:contentTypeVersion="0" ma:contentTypeDescription="Create a new document." ma:contentTypeScope="" ma:versionID="334a8fdf6c6ee46c68b27e6e3280445b">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D5A074-DB56-4F98-BC6E-4B2701733452}"/>
</file>

<file path=customXml/itemProps2.xml><?xml version="1.0" encoding="utf-8"?>
<ds:datastoreItem xmlns:ds="http://schemas.openxmlformats.org/officeDocument/2006/customXml" ds:itemID="{ECA134DF-A82E-402E-9BD9-23BA1DA33516}"/>
</file>

<file path=customXml/itemProps3.xml><?xml version="1.0" encoding="utf-8"?>
<ds:datastoreItem xmlns:ds="http://schemas.openxmlformats.org/officeDocument/2006/customXml" ds:itemID="{A9D50558-E7A5-4118-8BF8-FA0F40A9FB22}"/>
</file>

<file path=docProps/app.xml><?xml version="1.0" encoding="utf-8"?>
<Properties xmlns="http://schemas.openxmlformats.org/officeDocument/2006/extended-properties" xmlns:vt="http://schemas.openxmlformats.org/officeDocument/2006/docPropsVTypes">
  <TotalTime>80</TotalTime>
  <Words>4096</Words>
  <Application>Microsoft Office PowerPoint</Application>
  <PresentationFormat>Widescreen</PresentationFormat>
  <Paragraphs>429</Paragraphs>
  <Slides>57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Calibri Light</vt:lpstr>
      <vt:lpstr>Cambria Math</vt:lpstr>
      <vt:lpstr>Symbol</vt:lpstr>
      <vt:lpstr>Times New Roman</vt:lpstr>
      <vt:lpstr>Office Theme</vt:lpstr>
      <vt:lpstr>ISE 218: Fundamentals of Information Technology Unit 01: Hardware Basics</vt:lpstr>
      <vt:lpstr>Overview</vt:lpstr>
      <vt:lpstr>Overview</vt:lpstr>
      <vt:lpstr>Computer Systems</vt:lpstr>
      <vt:lpstr>Computer Systems</vt:lpstr>
      <vt:lpstr>An Example System</vt:lpstr>
      <vt:lpstr>Units of Measure</vt:lpstr>
      <vt:lpstr>An Example System</vt:lpstr>
      <vt:lpstr>Units of Measure</vt:lpstr>
      <vt:lpstr>Units of Measure</vt:lpstr>
      <vt:lpstr>Units of Measure: Example #1</vt:lpstr>
      <vt:lpstr>Units of Measure: Example #2</vt:lpstr>
      <vt:lpstr>Units of Measure: Example #3</vt:lpstr>
      <vt:lpstr>Units of Measure: Example #4</vt:lpstr>
      <vt:lpstr>Units of Measure: Example #5</vt:lpstr>
      <vt:lpstr>An Example System</vt:lpstr>
      <vt:lpstr>An Example System</vt:lpstr>
      <vt:lpstr>An Example System</vt:lpstr>
      <vt:lpstr>An Example System</vt:lpstr>
      <vt:lpstr>An Example System</vt:lpstr>
      <vt:lpstr>An Example System</vt:lpstr>
      <vt:lpstr>An Example System</vt:lpstr>
      <vt:lpstr>An Example System</vt:lpstr>
      <vt:lpstr>An Example System</vt:lpstr>
      <vt:lpstr>An Example System</vt:lpstr>
      <vt:lpstr>An Example System</vt:lpstr>
      <vt:lpstr>An Example System</vt:lpstr>
      <vt:lpstr>PowerPoint Presentation</vt:lpstr>
      <vt:lpstr>An Example System</vt:lpstr>
      <vt:lpstr>Standards Organizations</vt:lpstr>
      <vt:lpstr>A Quick History of Computing</vt:lpstr>
      <vt:lpstr>Transistors</vt:lpstr>
      <vt:lpstr>Transistors</vt:lpstr>
      <vt:lpstr>The Computer Level Hierarchy</vt:lpstr>
      <vt:lpstr>The Computer Level Hierarchy</vt:lpstr>
      <vt:lpstr>The Computer Level Hierarchy</vt:lpstr>
      <vt:lpstr>The Computer Level Hierarchy</vt:lpstr>
      <vt:lpstr>The Computer Level Hierarchy</vt:lpstr>
      <vt:lpstr>The Computer Level Hierarchy</vt:lpstr>
      <vt:lpstr>The von Neumann Model</vt:lpstr>
      <vt:lpstr>The von Neumann Model</vt:lpstr>
      <vt:lpstr>The von Neumann Model</vt:lpstr>
      <vt:lpstr>The von Neumann Model</vt:lpstr>
      <vt:lpstr>The von Neumann Model</vt:lpstr>
      <vt:lpstr>The von Neumann Model</vt:lpstr>
      <vt:lpstr>The von Neumann Model</vt:lpstr>
      <vt:lpstr>The von Neumann Model</vt:lpstr>
      <vt:lpstr>Non-von Neumann Models</vt:lpstr>
      <vt:lpstr>Parallel Computing</vt:lpstr>
      <vt:lpstr>Parallel Computing</vt:lpstr>
      <vt:lpstr>Parallel Computing: Machine Intelligence</vt:lpstr>
      <vt:lpstr>Parallel Computing: Machine Intelligence</vt:lpstr>
      <vt:lpstr>Computing as a Service: Cloud Computing</vt:lpstr>
      <vt:lpstr>Computing as a Service: Cloud Computing</vt:lpstr>
      <vt:lpstr>Computing as a Service: Cloud Computing</vt:lpstr>
      <vt:lpstr>Computing as a Service: Cloud Computing</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Raza, Ali x58396</dc:creator>
  <cp:lastModifiedBy>XINRUI YU</cp:lastModifiedBy>
  <cp:revision>8</cp:revision>
  <dcterms:created xsi:type="dcterms:W3CDTF">2019-08-30T03:29:21Z</dcterms:created>
  <dcterms:modified xsi:type="dcterms:W3CDTF">2025-02-21T12:16:39Z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0x010100AC396D4F3FBE81459556FDCA3F477A03</vt:lpwstr>
  </property>
</Properties>
</file>