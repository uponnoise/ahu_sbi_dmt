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550" r:id="rId2"/>
    <p:sldId id="315" r:id="rId3"/>
    <p:sldId id="262" r:id="rId4"/>
    <p:sldId id="265" r:id="rId5"/>
    <p:sldId id="266" r:id="rId6"/>
    <p:sldId id="267" r:id="rId7"/>
    <p:sldId id="309" r:id="rId8"/>
    <p:sldId id="268" r:id="rId9"/>
    <p:sldId id="269" r:id="rId10"/>
    <p:sldId id="270" r:id="rId11"/>
    <p:sldId id="271" r:id="rId12"/>
    <p:sldId id="272" r:id="rId13"/>
    <p:sldId id="273" r:id="rId14"/>
    <p:sldId id="274" r:id="rId15"/>
    <p:sldId id="275" r:id="rId16"/>
    <p:sldId id="276" r:id="rId17"/>
    <p:sldId id="277" r:id="rId18"/>
    <p:sldId id="278" r:id="rId19"/>
    <p:sldId id="310" r:id="rId20"/>
    <p:sldId id="311" r:id="rId21"/>
    <p:sldId id="313" r:id="rId22"/>
    <p:sldId id="314" r:id="rId23"/>
    <p:sldId id="279" r:id="rId24"/>
    <p:sldId id="280" r:id="rId25"/>
    <p:sldId id="263" r:id="rId26"/>
    <p:sldId id="264" r:id="rId27"/>
    <p:sldId id="281" r:id="rId28"/>
    <p:sldId id="282" r:id="rId29"/>
    <p:sldId id="283" r:id="rId30"/>
    <p:sldId id="284" r:id="rId31"/>
    <p:sldId id="285" r:id="rId32"/>
    <p:sldId id="286" r:id="rId33"/>
    <p:sldId id="287" r:id="rId34"/>
    <p:sldId id="288" r:id="rId35"/>
    <p:sldId id="289" r:id="rId36"/>
    <p:sldId id="290" r:id="rId37"/>
    <p:sldId id="291" r:id="rId38"/>
    <p:sldId id="293" r:id="rId39"/>
    <p:sldId id="294" r:id="rId40"/>
    <p:sldId id="295" r:id="rId41"/>
    <p:sldId id="292" r:id="rId42"/>
    <p:sldId id="296" r:id="rId43"/>
    <p:sldId id="297" r:id="rId44"/>
    <p:sldId id="299" r:id="rId45"/>
    <p:sldId id="300" r:id="rId46"/>
    <p:sldId id="298" r:id="rId47"/>
    <p:sldId id="301" r:id="rId48"/>
    <p:sldId id="302" r:id="rId49"/>
    <p:sldId id="303" r:id="rId50"/>
    <p:sldId id="304" r:id="rId51"/>
    <p:sldId id="306" r:id="rId52"/>
    <p:sldId id="307" r:id="rId53"/>
    <p:sldId id="308"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5222F7-8170-42BB-A337-3BB6F4A1BF76}" v="1" dt="2025-05-15T07:27:24.9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31" autoAdjust="0"/>
    <p:restoredTop sz="74770" autoAdjust="0"/>
  </p:normalViewPr>
  <p:slideViewPr>
    <p:cSldViewPr snapToGrid="0">
      <p:cViewPr varScale="1">
        <p:scale>
          <a:sx n="85" d="100"/>
          <a:sy n="85" d="100"/>
        </p:scale>
        <p:origin x="3261" y="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63"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61"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64" Type="http://schemas.openxmlformats.org/officeDocument/2006/relationships/customXml" Target="../customXml/item3.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于 心瑞 Xinrui YU" userId="e6fcc6d4-2b88-4beb-95d7-57ae4d33a768" providerId="ADAL" clId="{645222F7-8170-42BB-A337-3BB6F4A1BF76}"/>
    <pc:docChg chg="custSel modSld">
      <pc:chgData name="于 心瑞 Xinrui YU" userId="e6fcc6d4-2b88-4beb-95d7-57ae4d33a768" providerId="ADAL" clId="{645222F7-8170-42BB-A337-3BB6F4A1BF76}" dt="2025-05-15T07:27:24.983" v="1"/>
      <pc:docMkLst>
        <pc:docMk/>
      </pc:docMkLst>
      <pc:sldChg chg="addSp delSp modSp mod">
        <pc:chgData name="于 心瑞 Xinrui YU" userId="e6fcc6d4-2b88-4beb-95d7-57ae4d33a768" providerId="ADAL" clId="{645222F7-8170-42BB-A337-3BB6F4A1BF76}" dt="2025-05-15T07:27:24.983" v="1"/>
        <pc:sldMkLst>
          <pc:docMk/>
          <pc:sldMk cId="3252378307" sldId="550"/>
        </pc:sldMkLst>
        <pc:spChg chg="del">
          <ac:chgData name="于 心瑞 Xinrui YU" userId="e6fcc6d4-2b88-4beb-95d7-57ae4d33a768" providerId="ADAL" clId="{645222F7-8170-42BB-A337-3BB6F4A1BF76}" dt="2025-05-15T07:27:24.421" v="0" actId="478"/>
          <ac:spMkLst>
            <pc:docMk/>
            <pc:sldMk cId="3252378307" sldId="550"/>
            <ac:spMk id="3" creationId="{4DCD6985-364C-407E-B0BD-DB3847671993}"/>
          </ac:spMkLst>
        </pc:spChg>
        <pc:spChg chg="add mod">
          <ac:chgData name="于 心瑞 Xinrui YU" userId="e6fcc6d4-2b88-4beb-95d7-57ae4d33a768" providerId="ADAL" clId="{645222F7-8170-42BB-A337-3BB6F4A1BF76}" dt="2025-05-15T07:27:24.421" v="0" actId="478"/>
          <ac:spMkLst>
            <pc:docMk/>
            <pc:sldMk cId="3252378307" sldId="550"/>
            <ac:spMk id="6" creationId="{560295C1-F360-969B-CAD6-84672DB67467}"/>
          </ac:spMkLst>
        </pc:spChg>
        <pc:spChg chg="add mod">
          <ac:chgData name="于 心瑞 Xinrui YU" userId="e6fcc6d4-2b88-4beb-95d7-57ae4d33a768" providerId="ADAL" clId="{645222F7-8170-42BB-A337-3BB6F4A1BF76}" dt="2025-05-15T07:27:24.983" v="1"/>
          <ac:spMkLst>
            <pc:docMk/>
            <pc:sldMk cId="3252378307" sldId="550"/>
            <ac:spMk id="7" creationId="{883A5DE1-0824-6D12-D38B-9B67966E732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B4D0BB-5522-4C10-8135-53B21677EA29}" type="datetimeFigureOut">
              <a:rPr lang="en-US" smtClean="0"/>
              <a:t>5/15/2025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299D46-16F3-4057-B356-6BA1F3AC74E9}" type="slidenum">
              <a:rPr lang="en-US" smtClean="0"/>
              <a:t>‹#›</a:t>
            </a:fld>
            <a:endParaRPr lang="en-US"/>
          </a:p>
        </p:txBody>
      </p:sp>
    </p:spTree>
    <p:extLst>
      <p:ext uri="{BB962C8B-B14F-4D97-AF65-F5344CB8AC3E}">
        <p14:creationId xmlns:p14="http://schemas.microsoft.com/office/powerpoint/2010/main" val="35169920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Chpter</a:t>
            </a:r>
            <a:r>
              <a:rPr lang="en-US" dirty="0"/>
              <a:t> 1 - </a:t>
            </a:r>
          </a:p>
        </p:txBody>
      </p:sp>
      <p:sp>
        <p:nvSpPr>
          <p:cNvPr id="4" name="Slide Number Placeholder 3"/>
          <p:cNvSpPr>
            <a:spLocks noGrp="1"/>
          </p:cNvSpPr>
          <p:nvPr>
            <p:ph type="sldNum" sz="quarter" idx="5"/>
          </p:nvPr>
        </p:nvSpPr>
        <p:spPr/>
        <p:txBody>
          <a:bodyPr/>
          <a:lstStyle/>
          <a:p>
            <a:fld id="{20299D46-16F3-4057-B356-6BA1F3AC74E9}" type="slidenum">
              <a:rPr lang="en-US" smtClean="0"/>
              <a:t>3</a:t>
            </a:fld>
            <a:endParaRPr lang="en-US"/>
          </a:p>
        </p:txBody>
      </p:sp>
    </p:spTree>
    <p:extLst>
      <p:ext uri="{BB962C8B-B14F-4D97-AF65-F5344CB8AC3E}">
        <p14:creationId xmlns:p14="http://schemas.microsoft.com/office/powerpoint/2010/main" val="4887665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299D46-16F3-4057-B356-6BA1F3AC74E9}" type="slidenum">
              <a:rPr lang="en-US" smtClean="0"/>
              <a:t>4</a:t>
            </a:fld>
            <a:endParaRPr lang="en-US"/>
          </a:p>
        </p:txBody>
      </p:sp>
    </p:spTree>
    <p:extLst>
      <p:ext uri="{BB962C8B-B14F-4D97-AF65-F5344CB8AC3E}">
        <p14:creationId xmlns:p14="http://schemas.microsoft.com/office/powerpoint/2010/main" val="28285432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299D46-16F3-4057-B356-6BA1F3AC74E9}" type="slidenum">
              <a:rPr lang="en-US" smtClean="0"/>
              <a:t>5</a:t>
            </a:fld>
            <a:endParaRPr lang="en-US"/>
          </a:p>
        </p:txBody>
      </p:sp>
    </p:spTree>
    <p:extLst>
      <p:ext uri="{BB962C8B-B14F-4D97-AF65-F5344CB8AC3E}">
        <p14:creationId xmlns:p14="http://schemas.microsoft.com/office/powerpoint/2010/main" val="42294251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sym typeface="Wingdings" panose="05000000000000000000" pitchFamily="2" charset="2"/>
            </a:endParaRPr>
          </a:p>
        </p:txBody>
      </p:sp>
      <p:sp>
        <p:nvSpPr>
          <p:cNvPr id="4" name="Slide Number Placeholder 3"/>
          <p:cNvSpPr>
            <a:spLocks noGrp="1"/>
          </p:cNvSpPr>
          <p:nvPr>
            <p:ph type="sldNum" sz="quarter" idx="5"/>
          </p:nvPr>
        </p:nvSpPr>
        <p:spPr/>
        <p:txBody>
          <a:bodyPr/>
          <a:lstStyle/>
          <a:p>
            <a:fld id="{20299D46-16F3-4057-B356-6BA1F3AC74E9}" type="slidenum">
              <a:rPr lang="en-US" smtClean="0"/>
              <a:t>6</a:t>
            </a:fld>
            <a:endParaRPr lang="en-US"/>
          </a:p>
        </p:txBody>
      </p:sp>
    </p:spTree>
    <p:extLst>
      <p:ext uri="{BB962C8B-B14F-4D97-AF65-F5344CB8AC3E}">
        <p14:creationId xmlns:p14="http://schemas.microsoft.com/office/powerpoint/2010/main" val="25539331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dirty="0"/>
          </a:p>
        </p:txBody>
      </p:sp>
      <p:sp>
        <p:nvSpPr>
          <p:cNvPr id="4" name="Slide Number Placeholder 3"/>
          <p:cNvSpPr>
            <a:spLocks noGrp="1"/>
          </p:cNvSpPr>
          <p:nvPr>
            <p:ph type="sldNum" sz="quarter" idx="5"/>
          </p:nvPr>
        </p:nvSpPr>
        <p:spPr/>
        <p:txBody>
          <a:bodyPr/>
          <a:lstStyle/>
          <a:p>
            <a:fld id="{20299D46-16F3-4057-B356-6BA1F3AC74E9}" type="slidenum">
              <a:rPr lang="en-US" smtClean="0"/>
              <a:t>11</a:t>
            </a:fld>
            <a:endParaRPr lang="en-US"/>
          </a:p>
        </p:txBody>
      </p:sp>
    </p:spTree>
    <p:extLst>
      <p:ext uri="{BB962C8B-B14F-4D97-AF65-F5344CB8AC3E}">
        <p14:creationId xmlns:p14="http://schemas.microsoft.com/office/powerpoint/2010/main" val="2413860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D552B-82FF-4AB4-9609-C7A7D3BD15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AAACFFC-15DD-45C9-8591-64FB971AF4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5250A81-BD6A-4705-B1A1-53C59C7A7855}"/>
              </a:ext>
            </a:extLst>
          </p:cNvPr>
          <p:cNvSpPr>
            <a:spLocks noGrp="1"/>
          </p:cNvSpPr>
          <p:nvPr>
            <p:ph type="dt" sz="half" idx="10"/>
          </p:nvPr>
        </p:nvSpPr>
        <p:spPr/>
        <p:txBody>
          <a:bodyPr/>
          <a:lstStyle/>
          <a:p>
            <a:fld id="{92CC8182-8A53-4BCE-8F74-6947BE705CD4}" type="datetimeFigureOut">
              <a:rPr lang="en-US" smtClean="0"/>
              <a:t>5/15/2025</a:t>
            </a:fld>
            <a:endParaRPr lang="en-US"/>
          </a:p>
        </p:txBody>
      </p:sp>
      <p:sp>
        <p:nvSpPr>
          <p:cNvPr id="5" name="Footer Placeholder 4">
            <a:extLst>
              <a:ext uri="{FF2B5EF4-FFF2-40B4-BE49-F238E27FC236}">
                <a16:creationId xmlns:a16="http://schemas.microsoft.com/office/drawing/2014/main" id="{9AC757A9-5704-449B-95E2-D0CCC051EC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D94D6D-FCEB-4AB3-A5AF-D02DB65DB745}"/>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34760777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FBB47-85D7-4C03-AFE8-AE56293CEB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2069EB-CBF3-4983-BD1A-BE58482CA1E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377482-8B8C-4ECB-BD8F-227C120E4857}"/>
              </a:ext>
            </a:extLst>
          </p:cNvPr>
          <p:cNvSpPr>
            <a:spLocks noGrp="1"/>
          </p:cNvSpPr>
          <p:nvPr>
            <p:ph type="dt" sz="half" idx="10"/>
          </p:nvPr>
        </p:nvSpPr>
        <p:spPr/>
        <p:txBody>
          <a:bodyPr/>
          <a:lstStyle/>
          <a:p>
            <a:fld id="{92CC8182-8A53-4BCE-8F74-6947BE705CD4}" type="datetimeFigureOut">
              <a:rPr lang="en-US" smtClean="0"/>
              <a:t>5/15/2025</a:t>
            </a:fld>
            <a:endParaRPr lang="en-US"/>
          </a:p>
        </p:txBody>
      </p:sp>
      <p:sp>
        <p:nvSpPr>
          <p:cNvPr id="5" name="Footer Placeholder 4">
            <a:extLst>
              <a:ext uri="{FF2B5EF4-FFF2-40B4-BE49-F238E27FC236}">
                <a16:creationId xmlns:a16="http://schemas.microsoft.com/office/drawing/2014/main" id="{8F589392-4818-4C89-9DFA-A27DAB7600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A93950-D55E-4C81-B644-450FE394640D}"/>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31111422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1DB90-BB39-4756-8952-3A1C2DB83A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CB32473-D10D-42DD-BA3D-583595F89D0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2CA9556-2CB1-48A8-B892-A9C6196400E4}"/>
              </a:ext>
            </a:extLst>
          </p:cNvPr>
          <p:cNvSpPr>
            <a:spLocks noGrp="1"/>
          </p:cNvSpPr>
          <p:nvPr>
            <p:ph type="dt" sz="half" idx="10"/>
          </p:nvPr>
        </p:nvSpPr>
        <p:spPr/>
        <p:txBody>
          <a:bodyPr/>
          <a:lstStyle/>
          <a:p>
            <a:fld id="{92CC8182-8A53-4BCE-8F74-6947BE705CD4}" type="datetimeFigureOut">
              <a:rPr lang="en-US" smtClean="0"/>
              <a:t>5/15/2025</a:t>
            </a:fld>
            <a:endParaRPr lang="en-US"/>
          </a:p>
        </p:txBody>
      </p:sp>
      <p:sp>
        <p:nvSpPr>
          <p:cNvPr id="5" name="Footer Placeholder 4">
            <a:extLst>
              <a:ext uri="{FF2B5EF4-FFF2-40B4-BE49-F238E27FC236}">
                <a16:creationId xmlns:a16="http://schemas.microsoft.com/office/drawing/2014/main" id="{E24C7B00-C4F2-4A0E-94EE-D6A849306D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E89A8A-E754-4481-87DD-5324EE60DAB8}"/>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2970718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AC46B-657D-4B96-AF11-2F595FCF31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6E23D2-5632-40CB-8093-37AFF79E26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FF951-8D8F-459D-8863-B8A35EF88E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4E4D493-34D8-43AD-8A01-CE212CE9D558}"/>
              </a:ext>
            </a:extLst>
          </p:cNvPr>
          <p:cNvSpPr>
            <a:spLocks noGrp="1"/>
          </p:cNvSpPr>
          <p:nvPr>
            <p:ph type="dt" sz="half" idx="10"/>
          </p:nvPr>
        </p:nvSpPr>
        <p:spPr/>
        <p:txBody>
          <a:bodyPr/>
          <a:lstStyle/>
          <a:p>
            <a:fld id="{92CC8182-8A53-4BCE-8F74-6947BE705CD4}" type="datetimeFigureOut">
              <a:rPr lang="en-US" smtClean="0"/>
              <a:t>5/15/2025</a:t>
            </a:fld>
            <a:endParaRPr lang="en-US"/>
          </a:p>
        </p:txBody>
      </p:sp>
      <p:sp>
        <p:nvSpPr>
          <p:cNvPr id="6" name="Footer Placeholder 5">
            <a:extLst>
              <a:ext uri="{FF2B5EF4-FFF2-40B4-BE49-F238E27FC236}">
                <a16:creationId xmlns:a16="http://schemas.microsoft.com/office/drawing/2014/main" id="{30BFC614-C652-4266-8E09-E7370A0CC2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7BA22F-6DAB-4A37-91AA-96D2E04F1B17}"/>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37605585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51189-EB22-47FF-B37D-14AADFFD0AA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3C39329-89A8-40CC-B8D1-C0D2D34634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7947A9D-9C23-42EF-8B31-98A681808CC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2596BC8-4529-4594-A62A-B0490D8B91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69B1F9-831C-4959-9FAC-00D6420CAC6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B17478D-9499-493E-87D6-4D06F7A00298}"/>
              </a:ext>
            </a:extLst>
          </p:cNvPr>
          <p:cNvSpPr>
            <a:spLocks noGrp="1"/>
          </p:cNvSpPr>
          <p:nvPr>
            <p:ph type="dt" sz="half" idx="10"/>
          </p:nvPr>
        </p:nvSpPr>
        <p:spPr/>
        <p:txBody>
          <a:bodyPr/>
          <a:lstStyle/>
          <a:p>
            <a:fld id="{92CC8182-8A53-4BCE-8F74-6947BE705CD4}" type="datetimeFigureOut">
              <a:rPr lang="en-US" smtClean="0"/>
              <a:t>5/15/2025</a:t>
            </a:fld>
            <a:endParaRPr lang="en-US"/>
          </a:p>
        </p:txBody>
      </p:sp>
      <p:sp>
        <p:nvSpPr>
          <p:cNvPr id="8" name="Footer Placeholder 7">
            <a:extLst>
              <a:ext uri="{FF2B5EF4-FFF2-40B4-BE49-F238E27FC236}">
                <a16:creationId xmlns:a16="http://schemas.microsoft.com/office/drawing/2014/main" id="{55F3CEA6-3C43-4928-97C7-2D92EACADA6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304DCCD-B828-4CFA-B830-C481107BEDB8}"/>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2343412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7E580-3584-400F-82B4-86B1D3BA118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EF27705-C5F9-457F-BFEC-F13A44823CB5}"/>
              </a:ext>
            </a:extLst>
          </p:cNvPr>
          <p:cNvSpPr>
            <a:spLocks noGrp="1"/>
          </p:cNvSpPr>
          <p:nvPr>
            <p:ph type="dt" sz="half" idx="10"/>
          </p:nvPr>
        </p:nvSpPr>
        <p:spPr/>
        <p:txBody>
          <a:bodyPr/>
          <a:lstStyle/>
          <a:p>
            <a:fld id="{92CC8182-8A53-4BCE-8F74-6947BE705CD4}" type="datetimeFigureOut">
              <a:rPr lang="en-US" smtClean="0"/>
              <a:t>5/15/2025</a:t>
            </a:fld>
            <a:endParaRPr lang="en-US"/>
          </a:p>
        </p:txBody>
      </p:sp>
      <p:sp>
        <p:nvSpPr>
          <p:cNvPr id="4" name="Footer Placeholder 3">
            <a:extLst>
              <a:ext uri="{FF2B5EF4-FFF2-40B4-BE49-F238E27FC236}">
                <a16:creationId xmlns:a16="http://schemas.microsoft.com/office/drawing/2014/main" id="{B7D4B83A-7635-4D97-B096-219D7DB7CD3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D472993-E0E3-4A12-8240-710606F6CCDF}"/>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25527380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34D6E1-7F80-40E1-BF2F-B05F1E975988}"/>
              </a:ext>
            </a:extLst>
          </p:cNvPr>
          <p:cNvSpPr>
            <a:spLocks noGrp="1"/>
          </p:cNvSpPr>
          <p:nvPr>
            <p:ph type="dt" sz="half" idx="10"/>
          </p:nvPr>
        </p:nvSpPr>
        <p:spPr/>
        <p:txBody>
          <a:bodyPr/>
          <a:lstStyle/>
          <a:p>
            <a:fld id="{92CC8182-8A53-4BCE-8F74-6947BE705CD4}" type="datetimeFigureOut">
              <a:rPr lang="en-US" smtClean="0"/>
              <a:t>5/15/2025</a:t>
            </a:fld>
            <a:endParaRPr lang="en-US"/>
          </a:p>
        </p:txBody>
      </p:sp>
      <p:sp>
        <p:nvSpPr>
          <p:cNvPr id="3" name="Footer Placeholder 2">
            <a:extLst>
              <a:ext uri="{FF2B5EF4-FFF2-40B4-BE49-F238E27FC236}">
                <a16:creationId xmlns:a16="http://schemas.microsoft.com/office/drawing/2014/main" id="{6F612BDF-9915-4950-ACA4-33E3BB3BB31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B86EA4C-F843-4446-A7B6-4A4B85783716}"/>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688443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0D886-60B2-4DD3-8E28-4E27ADA5EC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57BCEA3-FD12-4E89-8543-AD44DB0432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291A5EA-5B38-48D1-878E-F4B7E54CD0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9C3C98-0E0F-4D52-B760-26791C9289AF}"/>
              </a:ext>
            </a:extLst>
          </p:cNvPr>
          <p:cNvSpPr>
            <a:spLocks noGrp="1"/>
          </p:cNvSpPr>
          <p:nvPr>
            <p:ph type="dt" sz="half" idx="10"/>
          </p:nvPr>
        </p:nvSpPr>
        <p:spPr/>
        <p:txBody>
          <a:bodyPr/>
          <a:lstStyle/>
          <a:p>
            <a:fld id="{92CC8182-8A53-4BCE-8F74-6947BE705CD4}" type="datetimeFigureOut">
              <a:rPr lang="en-US" smtClean="0"/>
              <a:t>5/15/2025</a:t>
            </a:fld>
            <a:endParaRPr lang="en-US"/>
          </a:p>
        </p:txBody>
      </p:sp>
      <p:sp>
        <p:nvSpPr>
          <p:cNvPr id="6" name="Footer Placeholder 5">
            <a:extLst>
              <a:ext uri="{FF2B5EF4-FFF2-40B4-BE49-F238E27FC236}">
                <a16:creationId xmlns:a16="http://schemas.microsoft.com/office/drawing/2014/main" id="{ED522735-0599-4C70-AF7B-5A867BE6A3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CA1B80-CA4F-418D-B784-E06AD1677909}"/>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2184477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3E478-4348-499F-93A8-209D59372F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4211465-A55C-43F8-BC8B-65C908BBC1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54AA8CF-35C7-4E7A-8CF2-DD1B31289F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EA830D-05B3-4113-A934-CE046200FF41}"/>
              </a:ext>
            </a:extLst>
          </p:cNvPr>
          <p:cNvSpPr>
            <a:spLocks noGrp="1"/>
          </p:cNvSpPr>
          <p:nvPr>
            <p:ph type="dt" sz="half" idx="10"/>
          </p:nvPr>
        </p:nvSpPr>
        <p:spPr/>
        <p:txBody>
          <a:bodyPr/>
          <a:lstStyle/>
          <a:p>
            <a:fld id="{92CC8182-8A53-4BCE-8F74-6947BE705CD4}" type="datetimeFigureOut">
              <a:rPr lang="en-US" smtClean="0"/>
              <a:t>5/15/2025</a:t>
            </a:fld>
            <a:endParaRPr lang="en-US"/>
          </a:p>
        </p:txBody>
      </p:sp>
      <p:sp>
        <p:nvSpPr>
          <p:cNvPr id="6" name="Footer Placeholder 5">
            <a:extLst>
              <a:ext uri="{FF2B5EF4-FFF2-40B4-BE49-F238E27FC236}">
                <a16:creationId xmlns:a16="http://schemas.microsoft.com/office/drawing/2014/main" id="{1AFE2548-ED48-4FDD-9329-54769D0AB9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DCEB7C-F788-43DF-85B5-0DBA7C07CE44}"/>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3607691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2F941-46EF-4311-AED7-D0BB6636913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5FD0C78-72E8-42D8-A8A3-0BD58C4C3B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C4E8BB-B3FA-45D6-98E9-9C11F14E2DF8}"/>
              </a:ext>
            </a:extLst>
          </p:cNvPr>
          <p:cNvSpPr>
            <a:spLocks noGrp="1"/>
          </p:cNvSpPr>
          <p:nvPr>
            <p:ph type="dt" sz="half" idx="10"/>
          </p:nvPr>
        </p:nvSpPr>
        <p:spPr/>
        <p:txBody>
          <a:bodyPr/>
          <a:lstStyle/>
          <a:p>
            <a:fld id="{92CC8182-8A53-4BCE-8F74-6947BE705CD4}" type="datetimeFigureOut">
              <a:rPr lang="en-US" smtClean="0"/>
              <a:t>5/15/2025</a:t>
            </a:fld>
            <a:endParaRPr lang="en-US"/>
          </a:p>
        </p:txBody>
      </p:sp>
      <p:sp>
        <p:nvSpPr>
          <p:cNvPr id="5" name="Footer Placeholder 4">
            <a:extLst>
              <a:ext uri="{FF2B5EF4-FFF2-40B4-BE49-F238E27FC236}">
                <a16:creationId xmlns:a16="http://schemas.microsoft.com/office/drawing/2014/main" id="{DA8EC78D-3294-4990-8C81-80D15BB97E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A4B28C-5C64-478B-A901-757A858E5D35}"/>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14987251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86A487-2590-4615-B417-E2168DE65D0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1C70FE8-B807-4A10-88EE-5557BDB62C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ABCCCA-6C6B-4B0E-BBAD-24322C9E264F}"/>
              </a:ext>
            </a:extLst>
          </p:cNvPr>
          <p:cNvSpPr>
            <a:spLocks noGrp="1"/>
          </p:cNvSpPr>
          <p:nvPr>
            <p:ph type="dt" sz="half" idx="10"/>
          </p:nvPr>
        </p:nvSpPr>
        <p:spPr/>
        <p:txBody>
          <a:bodyPr/>
          <a:lstStyle/>
          <a:p>
            <a:fld id="{92CC8182-8A53-4BCE-8F74-6947BE705CD4}" type="datetimeFigureOut">
              <a:rPr lang="en-US" smtClean="0"/>
              <a:t>5/15/2025</a:t>
            </a:fld>
            <a:endParaRPr lang="en-US"/>
          </a:p>
        </p:txBody>
      </p:sp>
      <p:sp>
        <p:nvSpPr>
          <p:cNvPr id="5" name="Footer Placeholder 4">
            <a:extLst>
              <a:ext uri="{FF2B5EF4-FFF2-40B4-BE49-F238E27FC236}">
                <a16:creationId xmlns:a16="http://schemas.microsoft.com/office/drawing/2014/main" id="{777A20AF-9B80-4FBF-9840-ACF1BF231D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992727-D5B7-4EF1-B44C-581A9DA0903B}"/>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8632923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35B331-D111-4B58-8269-2659FD6786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0A94232-12F2-4F6F-8D85-CA6F567087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DCF1BF-9115-4CA0-9F58-D0A6743476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CC8182-8A53-4BCE-8F74-6947BE705CD4}" type="datetimeFigureOut">
              <a:rPr lang="en-US" smtClean="0"/>
              <a:t>5/15/2025</a:t>
            </a:fld>
            <a:endParaRPr lang="en-US"/>
          </a:p>
        </p:txBody>
      </p:sp>
      <p:sp>
        <p:nvSpPr>
          <p:cNvPr id="5" name="Footer Placeholder 4">
            <a:extLst>
              <a:ext uri="{FF2B5EF4-FFF2-40B4-BE49-F238E27FC236}">
                <a16:creationId xmlns:a16="http://schemas.microsoft.com/office/drawing/2014/main" id="{BFF3B8B1-D0DD-4F6A-9A0C-E4BAD55617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8C3B089-E9D4-4D61-92EB-9C11EA5008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023CDD-6085-4522-82B4-4228FE4EDFFA}" type="slidenum">
              <a:rPr lang="en-US" smtClean="0"/>
              <a:t>‹#›</a:t>
            </a:fld>
            <a:endParaRPr lang="en-US"/>
          </a:p>
        </p:txBody>
      </p:sp>
    </p:spTree>
    <p:extLst>
      <p:ext uri="{BB962C8B-B14F-4D97-AF65-F5344CB8AC3E}">
        <p14:creationId xmlns:p14="http://schemas.microsoft.com/office/powerpoint/2010/main" val="17421870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0.wmf"/><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1" descr="Text, letter&#10;&#10;Description automatically generated">
            <a:extLst>
              <a:ext uri="{FF2B5EF4-FFF2-40B4-BE49-F238E27FC236}">
                <a16:creationId xmlns:a16="http://schemas.microsoft.com/office/drawing/2014/main" id="{E00B5315-1DCF-0FCD-0AF4-436BC7B08E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9303" y="1122232"/>
            <a:ext cx="5982803" cy="2213635"/>
          </a:xfrm>
          <a:prstGeom prst="rect">
            <a:avLst/>
          </a:prstGeom>
        </p:spPr>
      </p:pic>
      <p:sp>
        <p:nvSpPr>
          <p:cNvPr id="2" name="Title 1">
            <a:extLst>
              <a:ext uri="{FF2B5EF4-FFF2-40B4-BE49-F238E27FC236}">
                <a16:creationId xmlns:a16="http://schemas.microsoft.com/office/drawing/2014/main" id="{F472E598-3A9F-494B-94CA-04DD070C9E1E}"/>
              </a:ext>
            </a:extLst>
          </p:cNvPr>
          <p:cNvSpPr>
            <a:spLocks noGrp="1"/>
          </p:cNvSpPr>
          <p:nvPr>
            <p:ph type="ctrTitle"/>
          </p:nvPr>
        </p:nvSpPr>
        <p:spPr>
          <a:xfrm>
            <a:off x="1289303" y="3429000"/>
            <a:ext cx="10080312" cy="1713305"/>
          </a:xfrm>
        </p:spPr>
        <p:txBody>
          <a:bodyPr anchor="b">
            <a:normAutofit/>
          </a:bodyPr>
          <a:lstStyle/>
          <a:p>
            <a:pPr algn="l"/>
            <a:r>
              <a:rPr lang="en-US" sz="3800" dirty="0"/>
              <a:t>ISE 218: Fundamentals of Information Technology</a:t>
            </a:r>
            <a:br>
              <a:rPr lang="en-US" sz="3800" dirty="0"/>
            </a:br>
            <a:r>
              <a:rPr lang="en-US" sz="3800" dirty="0"/>
              <a:t>Unit 7</a:t>
            </a:r>
            <a:r>
              <a:rPr lang="en-US" sz="3800"/>
              <a:t>: System </a:t>
            </a:r>
            <a:r>
              <a:rPr lang="en-US" sz="3800" dirty="0"/>
              <a:t>Software</a:t>
            </a:r>
          </a:p>
        </p:txBody>
      </p:sp>
      <p:sp>
        <p:nvSpPr>
          <p:cNvPr id="6" name="Subtitle 5">
            <a:extLst>
              <a:ext uri="{FF2B5EF4-FFF2-40B4-BE49-F238E27FC236}">
                <a16:creationId xmlns:a16="http://schemas.microsoft.com/office/drawing/2014/main" id="{560295C1-F360-969B-CAD6-84672DB67467}"/>
              </a:ext>
            </a:extLst>
          </p:cNvPr>
          <p:cNvSpPr>
            <a:spLocks noGrp="1"/>
          </p:cNvSpPr>
          <p:nvPr>
            <p:ph type="subTitle" idx="1"/>
          </p:nvPr>
        </p:nvSpPr>
        <p:spPr/>
        <p:txBody>
          <a:bodyPr/>
          <a:lstStyle/>
          <a:p>
            <a:endParaRPr lang="en-US"/>
          </a:p>
        </p:txBody>
      </p:sp>
      <p:sp>
        <p:nvSpPr>
          <p:cNvPr id="7" name="Google Shape;90;p1">
            <a:extLst>
              <a:ext uri="{FF2B5EF4-FFF2-40B4-BE49-F238E27FC236}">
                <a16:creationId xmlns:a16="http://schemas.microsoft.com/office/drawing/2014/main" id="{883A5DE1-0824-6D12-D38B-9B67966E7321}"/>
              </a:ext>
            </a:extLst>
          </p:cNvPr>
          <p:cNvSpPr txBox="1">
            <a:spLocks/>
          </p:cNvSpPr>
          <p:nvPr/>
        </p:nvSpPr>
        <p:spPr>
          <a:xfrm>
            <a:off x="1289303" y="5142305"/>
            <a:ext cx="7321200" cy="1096800"/>
          </a:xfrm>
          <a:prstGeom prst="rect">
            <a:avLst/>
          </a:prstGeom>
          <a:noFill/>
          <a:ln>
            <a:noFill/>
          </a:ln>
        </p:spPr>
        <p:txBody>
          <a:bodyPr spcFirstLastPara="1" vert="horz" wrap="square" lIns="91425" tIns="45700" rIns="91425" bIns="45700" rtlCol="0" anchor="t" anchorCtr="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buClr>
                <a:schemeClr val="dk1"/>
              </a:buClr>
              <a:buSzPts val="1900"/>
            </a:pPr>
            <a:r>
              <a:rPr lang="en-US" sz="1800" dirty="0"/>
              <a:t>Spring 2025</a:t>
            </a:r>
          </a:p>
          <a:p>
            <a:pPr algn="l">
              <a:buClr>
                <a:schemeClr val="dk1"/>
              </a:buClr>
              <a:buSzPts val="1900"/>
            </a:pPr>
            <a:r>
              <a:rPr lang="en-US" sz="1800" dirty="0"/>
              <a:t>Instructor: Abid Malik</a:t>
            </a:r>
          </a:p>
          <a:p>
            <a:pPr algn="l">
              <a:buClr>
                <a:schemeClr val="dk1"/>
              </a:buClr>
              <a:buSzPts val="1900"/>
            </a:pPr>
            <a:r>
              <a:rPr lang="en-US" sz="1800" dirty="0"/>
              <a:t>co-Instructor: Xinrui Yu</a:t>
            </a:r>
          </a:p>
        </p:txBody>
      </p:sp>
    </p:spTree>
    <p:extLst>
      <p:ext uri="{BB962C8B-B14F-4D97-AF65-F5344CB8AC3E}">
        <p14:creationId xmlns:p14="http://schemas.microsoft.com/office/powerpoint/2010/main" val="32523783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843D1-1A8A-4262-9B5E-2E2931205A3F}"/>
              </a:ext>
            </a:extLst>
          </p:cNvPr>
          <p:cNvSpPr>
            <a:spLocks noGrp="1"/>
          </p:cNvSpPr>
          <p:nvPr>
            <p:ph type="title"/>
          </p:nvPr>
        </p:nvSpPr>
        <p:spPr/>
        <p:txBody>
          <a:bodyPr/>
          <a:lstStyle/>
          <a:p>
            <a:r>
              <a:rPr lang="en-US" dirty="0"/>
              <a:t>Objective</a:t>
            </a:r>
          </a:p>
        </p:txBody>
      </p:sp>
      <p:sp>
        <p:nvSpPr>
          <p:cNvPr id="3" name="Content Placeholder 2">
            <a:extLst>
              <a:ext uri="{FF2B5EF4-FFF2-40B4-BE49-F238E27FC236}">
                <a16:creationId xmlns:a16="http://schemas.microsoft.com/office/drawing/2014/main" id="{D6E2E61E-EAEE-4EDB-AA97-4F05B8083498}"/>
              </a:ext>
            </a:extLst>
          </p:cNvPr>
          <p:cNvSpPr>
            <a:spLocks noGrp="1"/>
          </p:cNvSpPr>
          <p:nvPr>
            <p:ph idx="1"/>
          </p:nvPr>
        </p:nvSpPr>
        <p:spPr>
          <a:xfrm>
            <a:off x="838200" y="1825625"/>
            <a:ext cx="10515600" cy="3299828"/>
          </a:xfrm>
        </p:spPr>
        <p:txBody>
          <a:bodyPr/>
          <a:lstStyle/>
          <a:p>
            <a:r>
              <a:rPr lang="en-US" altLang="en-US" dirty="0"/>
              <a:t>Become familiar with the functions provided by operating systems, programming tools, database software, and transaction managers.</a:t>
            </a:r>
          </a:p>
          <a:p>
            <a:pPr marL="0" indent="0">
              <a:buNone/>
            </a:pPr>
            <a:endParaRPr lang="en-US" altLang="en-US" dirty="0"/>
          </a:p>
          <a:p>
            <a:r>
              <a:rPr lang="en-US" altLang="en-US" dirty="0"/>
              <a:t>Understand the role played by each software component in maintaining the integrity of a computer system and its data.</a:t>
            </a:r>
          </a:p>
          <a:p>
            <a:pPr marL="0" indent="0">
              <a:buNone/>
            </a:pPr>
            <a:endParaRPr lang="en-US" dirty="0"/>
          </a:p>
        </p:txBody>
      </p:sp>
    </p:spTree>
    <p:extLst>
      <p:ext uri="{BB962C8B-B14F-4D97-AF65-F5344CB8AC3E}">
        <p14:creationId xmlns:p14="http://schemas.microsoft.com/office/powerpoint/2010/main" val="2417473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The biggest and fastest computer in the world is of no use if it cannot efficiently provide beneficial services to its users.</a:t>
            </a:r>
          </a:p>
          <a:p>
            <a:r>
              <a:rPr lang="en-US" dirty="0"/>
              <a:t>Users see the computer through their application programs. These programs are ultimately executed by computer hardware.</a:t>
            </a:r>
          </a:p>
          <a:p>
            <a:r>
              <a:rPr lang="en-US" dirty="0"/>
              <a:t>System software – in the form of operating systems and </a:t>
            </a:r>
            <a:r>
              <a:rPr lang="en-US" b="1" dirty="0"/>
              <a:t>middleware</a:t>
            </a:r>
            <a:r>
              <a:rPr lang="en-US" dirty="0"/>
              <a:t> – is the glue that holds everything together.</a:t>
            </a:r>
          </a:p>
          <a:p>
            <a:r>
              <a:rPr lang="en-US" dirty="0"/>
              <a:t>Middleware provides services above the OS but below user application software (e.g., game engines, database connectivity packages)</a:t>
            </a:r>
          </a:p>
          <a:p>
            <a:endParaRPr lang="en-US" dirty="0"/>
          </a:p>
        </p:txBody>
      </p:sp>
    </p:spTree>
    <p:extLst>
      <p:ext uri="{BB962C8B-B14F-4D97-AF65-F5344CB8AC3E}">
        <p14:creationId xmlns:p14="http://schemas.microsoft.com/office/powerpoint/2010/main" val="7822186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A Quick History of Operating Systems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10000"/>
          </a:bodyPr>
          <a:lstStyle/>
          <a:p>
            <a:r>
              <a:rPr lang="en-US" dirty="0"/>
              <a:t>The evolution of OSes has paralleled the evolution of computer hardware.</a:t>
            </a:r>
          </a:p>
          <a:p>
            <a:pPr lvl="1"/>
            <a:r>
              <a:rPr lang="en-US" dirty="0"/>
              <a:t>As hardware became more powerful, operating systems allowed people to more easily manage the power of the machine.</a:t>
            </a:r>
          </a:p>
          <a:p>
            <a:r>
              <a:rPr lang="en-US" dirty="0"/>
              <a:t>In the days when main memory was measured in kilobytes, and tape drives were the only form of magnetic storage, operating systems were simple </a:t>
            </a:r>
            <a:r>
              <a:rPr lang="en-US" b="1" dirty="0"/>
              <a:t>resident monitor</a:t>
            </a:r>
            <a:r>
              <a:rPr lang="en-US" dirty="0"/>
              <a:t> programs.</a:t>
            </a:r>
          </a:p>
          <a:p>
            <a:pPr lvl="1"/>
            <a:r>
              <a:rPr lang="en-US" dirty="0"/>
              <a:t>The resident monitor could only load, execute, and terminate programs.</a:t>
            </a:r>
          </a:p>
          <a:p>
            <a:r>
              <a:rPr lang="en-US" dirty="0"/>
              <a:t>Early OSes – in the form of resident monitors – used batch processing</a:t>
            </a:r>
          </a:p>
          <a:p>
            <a:pPr lvl="1"/>
            <a:r>
              <a:rPr lang="en-US" dirty="0"/>
              <a:t>Jobs were fed by a human operator into the computer on punched cards and run in one or more large batches of tasks</a:t>
            </a:r>
          </a:p>
          <a:p>
            <a:pPr lvl="1"/>
            <a:r>
              <a:rPr lang="en-US" dirty="0"/>
              <a:t>The resident monitor then ran the programs in sequence without further human intervention</a:t>
            </a:r>
          </a:p>
          <a:p>
            <a:endParaRPr lang="en-US" dirty="0"/>
          </a:p>
        </p:txBody>
      </p:sp>
    </p:spTree>
    <p:extLst>
      <p:ext uri="{BB962C8B-B14F-4D97-AF65-F5344CB8AC3E}">
        <p14:creationId xmlns:p14="http://schemas.microsoft.com/office/powerpoint/2010/main" val="3747196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A Quick History of Operating Systems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10000"/>
          </a:bodyPr>
          <a:lstStyle/>
          <a:p>
            <a:r>
              <a:rPr lang="en-US" dirty="0"/>
              <a:t>As more sophistication crept into resident monitors – starting/stopping jobs, handling I/O, switching between jobs – monitors evolved into more complex </a:t>
            </a:r>
            <a:r>
              <a:rPr lang="en-US" b="1" dirty="0"/>
              <a:t>operating systems</a:t>
            </a:r>
            <a:r>
              <a:rPr lang="en-US" dirty="0"/>
              <a:t> more like OSes of today</a:t>
            </a:r>
          </a:p>
          <a:p>
            <a:r>
              <a:rPr lang="en-US" dirty="0"/>
              <a:t>In the 1960s, hardware had become powerful enough to accommodate </a:t>
            </a:r>
            <a:r>
              <a:rPr lang="en-US" b="1" dirty="0"/>
              <a:t>multiprogramming</a:t>
            </a:r>
            <a:r>
              <a:rPr lang="en-US" dirty="0"/>
              <a:t>, the concurrent execution of more than one task.</a:t>
            </a:r>
          </a:p>
          <a:p>
            <a:r>
              <a:rPr lang="en-US" dirty="0"/>
              <a:t>Multiprogramming is achieved by allocating each process a given portion of CPU time (a </a:t>
            </a:r>
            <a:r>
              <a:rPr lang="en-US" b="1" dirty="0"/>
              <a:t>time slice</a:t>
            </a:r>
            <a:r>
              <a:rPr lang="en-US" dirty="0"/>
              <a:t>).</a:t>
            </a:r>
          </a:p>
          <a:p>
            <a:r>
              <a:rPr lang="en-US" dirty="0"/>
              <a:t>Interactive multiprogramming systems were called </a:t>
            </a:r>
            <a:r>
              <a:rPr lang="en-US" b="1" dirty="0"/>
              <a:t>timesharing</a:t>
            </a:r>
            <a:r>
              <a:rPr lang="en-US" dirty="0"/>
              <a:t> systems.</a:t>
            </a:r>
          </a:p>
          <a:p>
            <a:pPr lvl="1"/>
            <a:r>
              <a:rPr lang="en-US" dirty="0"/>
              <a:t>Multiple, concurrent users connect to the computer via </a:t>
            </a:r>
            <a:r>
              <a:rPr lang="en-US" b="1" dirty="0"/>
              <a:t>terminals</a:t>
            </a:r>
          </a:p>
          <a:p>
            <a:pPr lvl="1"/>
            <a:r>
              <a:rPr lang="en-US" dirty="0"/>
              <a:t>When a process is taken from the CPU and replaced by another, we say that a </a:t>
            </a:r>
            <a:r>
              <a:rPr lang="en-US" b="1" dirty="0"/>
              <a:t>context switch</a:t>
            </a:r>
            <a:r>
              <a:rPr lang="en-US" dirty="0"/>
              <a:t> has occurred.</a:t>
            </a:r>
          </a:p>
          <a:p>
            <a:endParaRPr lang="en-US" dirty="0"/>
          </a:p>
        </p:txBody>
      </p:sp>
    </p:spTree>
    <p:extLst>
      <p:ext uri="{BB962C8B-B14F-4D97-AF65-F5344CB8AC3E}">
        <p14:creationId xmlns:p14="http://schemas.microsoft.com/office/powerpoint/2010/main" val="3003111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A Quick History of Operating Systems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10000"/>
          </a:bodyPr>
          <a:lstStyle/>
          <a:p>
            <a:r>
              <a:rPr lang="en-US" dirty="0"/>
              <a:t>Today, </a:t>
            </a:r>
            <a:r>
              <a:rPr lang="en-US" b="1" dirty="0"/>
              <a:t>multiprocessor</a:t>
            </a:r>
            <a:r>
              <a:rPr lang="en-US" dirty="0"/>
              <a:t> systems have become commonplace. </a:t>
            </a:r>
          </a:p>
          <a:p>
            <a:pPr lvl="1"/>
            <a:r>
              <a:rPr lang="en-US" dirty="0"/>
              <a:t>They present an array of challenges to the operating system designer, including the manner in which the processors will be synchronized, and how to keep their activities from interfering with each other.</a:t>
            </a:r>
          </a:p>
          <a:p>
            <a:r>
              <a:rPr lang="en-US" b="1" dirty="0"/>
              <a:t>Tightly coupled multiprocessor</a:t>
            </a:r>
            <a:r>
              <a:rPr lang="en-US" dirty="0"/>
              <a:t> systems share a common memory and the same set of I/O devices.</a:t>
            </a:r>
          </a:p>
          <a:p>
            <a:pPr lvl="1"/>
            <a:r>
              <a:rPr lang="en-US" b="1" dirty="0"/>
              <a:t>Symmetric multiprocessor</a:t>
            </a:r>
            <a:r>
              <a:rPr lang="en-US" dirty="0"/>
              <a:t> (SMP) systems are tightly coupled and </a:t>
            </a:r>
            <a:r>
              <a:rPr lang="en-US" b="1" dirty="0"/>
              <a:t>load balanced</a:t>
            </a:r>
            <a:r>
              <a:rPr lang="en-US" dirty="0"/>
              <a:t>. All processors work on a common task together.</a:t>
            </a:r>
          </a:p>
          <a:p>
            <a:r>
              <a:rPr lang="en-US" b="1" dirty="0"/>
              <a:t>Loosely coupled multiprocessor</a:t>
            </a:r>
            <a:r>
              <a:rPr lang="en-US" dirty="0"/>
              <a:t> systems have physically separate memory. </a:t>
            </a:r>
          </a:p>
          <a:p>
            <a:pPr lvl="1"/>
            <a:r>
              <a:rPr lang="en-US" dirty="0"/>
              <a:t>These are often called </a:t>
            </a:r>
            <a:r>
              <a:rPr lang="en-US" b="1" dirty="0"/>
              <a:t>distributed systems</a:t>
            </a:r>
            <a:r>
              <a:rPr lang="en-US" dirty="0"/>
              <a:t>.</a:t>
            </a:r>
          </a:p>
          <a:p>
            <a:pPr lvl="1"/>
            <a:r>
              <a:rPr lang="en-US" dirty="0"/>
              <a:t>Another type of distributed system is a </a:t>
            </a:r>
            <a:r>
              <a:rPr lang="en-US" b="1" dirty="0"/>
              <a:t>networked system</a:t>
            </a:r>
            <a:r>
              <a:rPr lang="en-US" dirty="0"/>
              <a:t>, which consists of a collection of interconnected, collaborating workstations.</a:t>
            </a:r>
          </a:p>
          <a:p>
            <a:endParaRPr lang="en-US" dirty="0"/>
          </a:p>
        </p:txBody>
      </p:sp>
    </p:spTree>
    <p:extLst>
      <p:ext uri="{BB962C8B-B14F-4D97-AF65-F5344CB8AC3E}">
        <p14:creationId xmlns:p14="http://schemas.microsoft.com/office/powerpoint/2010/main" val="2572393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Symmetric Multiprocessor Architecture</a:t>
            </a:r>
          </a:p>
        </p:txBody>
      </p:sp>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l="1491" t="17916" r="1615" b="4348"/>
          <a:stretch/>
        </p:blipFill>
        <p:spPr>
          <a:xfrm>
            <a:off x="533400" y="1143000"/>
            <a:ext cx="10046908" cy="5181600"/>
          </a:xfrm>
        </p:spPr>
      </p:pic>
    </p:spTree>
    <p:extLst>
      <p:ext uri="{BB962C8B-B14F-4D97-AF65-F5344CB8AC3E}">
        <p14:creationId xmlns:p14="http://schemas.microsoft.com/office/powerpoint/2010/main" val="116251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A Quick History of Operating Systems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pPr>
              <a:spcBef>
                <a:spcPts val="600"/>
              </a:spcBef>
            </a:pPr>
            <a:r>
              <a:rPr lang="en-US" altLang="en-US" dirty="0"/>
              <a:t>In a distributed system, the user is not necessarily aware that her/his work is being performed by a set of networked computers.</a:t>
            </a:r>
          </a:p>
          <a:p>
            <a:pPr>
              <a:spcBef>
                <a:spcPts val="600"/>
              </a:spcBef>
            </a:pPr>
            <a:r>
              <a:rPr lang="en-US" altLang="en-US" dirty="0"/>
              <a:t>In a networked system, the user is aware of the different machines.</a:t>
            </a:r>
          </a:p>
          <a:p>
            <a:r>
              <a:rPr lang="en-US" b="1" dirty="0"/>
              <a:t>Real-time operating systems</a:t>
            </a:r>
            <a:r>
              <a:rPr lang="en-US" dirty="0"/>
              <a:t> control computers that respond to their environment.</a:t>
            </a:r>
          </a:p>
          <a:p>
            <a:pPr lvl="1"/>
            <a:r>
              <a:rPr lang="en-US" b="1" dirty="0"/>
              <a:t>Hard real-time</a:t>
            </a:r>
            <a:r>
              <a:rPr lang="en-US" dirty="0"/>
              <a:t> systems have tight timing constraints, whereas </a:t>
            </a:r>
            <a:r>
              <a:rPr lang="en-US" b="1" dirty="0"/>
              <a:t>soft real-time</a:t>
            </a:r>
            <a:r>
              <a:rPr lang="en-US" dirty="0"/>
              <a:t> systems do not. </a:t>
            </a:r>
          </a:p>
          <a:p>
            <a:pPr lvl="1"/>
            <a:r>
              <a:rPr lang="en-US" dirty="0"/>
              <a:t>What kinds of real-world systems must have real-time response or someone could die or some other disaster might occur?</a:t>
            </a:r>
          </a:p>
          <a:p>
            <a:endParaRPr lang="en-US" dirty="0"/>
          </a:p>
        </p:txBody>
      </p:sp>
    </p:spTree>
    <p:extLst>
      <p:ext uri="{BB962C8B-B14F-4D97-AF65-F5344CB8AC3E}">
        <p14:creationId xmlns:p14="http://schemas.microsoft.com/office/powerpoint/2010/main" val="26710533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A Quick History of Operating Systems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588818" y="1143000"/>
            <a:ext cx="10972800" cy="5257800"/>
          </a:xfrm>
        </p:spPr>
        <p:txBody>
          <a:bodyPr/>
          <a:lstStyle/>
          <a:p>
            <a:r>
              <a:rPr lang="en-US" dirty="0"/>
              <a:t>Personal computer operating systems are designed for ease of use rather than high performance.</a:t>
            </a:r>
          </a:p>
          <a:p>
            <a:r>
              <a:rPr lang="en-US" dirty="0"/>
              <a:t>The idea that revolutionized small computer operating systems was the </a:t>
            </a:r>
            <a:r>
              <a:rPr lang="en-US" b="1" dirty="0"/>
              <a:t>BIOS</a:t>
            </a:r>
            <a:r>
              <a:rPr lang="en-US" dirty="0"/>
              <a:t> (basic input-output system) chip that permitted a single operating system to function on different types of small systems.</a:t>
            </a:r>
          </a:p>
          <a:p>
            <a:pPr lvl="1"/>
            <a:r>
              <a:rPr lang="en-US" dirty="0"/>
              <a:t>The BIOS handles the details involved in interfacing with a variety of peripheral device designs and protocols.</a:t>
            </a:r>
          </a:p>
          <a:p>
            <a:r>
              <a:rPr lang="en-US" dirty="0"/>
              <a:t>Operating systems having graphical user interfaces were first brought to market in the 1980s.</a:t>
            </a:r>
          </a:p>
          <a:p>
            <a:r>
              <a:rPr lang="en-US" dirty="0"/>
              <a:t>At one time, these systems were considered appropriate only for desktop publishing and games. Today they are seen as technology enablers for users with little formal computer education.</a:t>
            </a:r>
          </a:p>
          <a:p>
            <a:pPr marL="114300" indent="0">
              <a:buNone/>
            </a:pPr>
            <a:endParaRPr lang="en-US" dirty="0"/>
          </a:p>
        </p:txBody>
      </p:sp>
    </p:spTree>
    <p:extLst>
      <p:ext uri="{BB962C8B-B14F-4D97-AF65-F5344CB8AC3E}">
        <p14:creationId xmlns:p14="http://schemas.microsoft.com/office/powerpoint/2010/main" val="18692908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A Quick History of Operating Systems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4114800" cy="5257800"/>
          </a:xfrm>
        </p:spPr>
        <p:txBody>
          <a:bodyPr/>
          <a:lstStyle/>
          <a:p>
            <a:r>
              <a:rPr lang="en-US" dirty="0"/>
              <a:t>Unix is an OS developed by researchers at AT&amp;T Bell Labs in the 1960s that has spawned hundreds of variants since that time</a:t>
            </a:r>
          </a:p>
          <a:p>
            <a:r>
              <a:rPr lang="en-US" dirty="0"/>
              <a:t>Linux has brought Unix from the world of servers to ordinary desktop systems.</a:t>
            </a:r>
          </a:p>
          <a:p>
            <a:endParaRPr lang="en-US" dirty="0"/>
          </a:p>
          <a:p>
            <a:endParaRPr lang="en-US" dirty="0"/>
          </a:p>
        </p:txBody>
      </p:sp>
      <p:pic>
        <p:nvPicPr>
          <p:cNvPr id="5" name="Picture 4">
            <a:extLst>
              <a:ext uri="{FF2B5EF4-FFF2-40B4-BE49-F238E27FC236}">
                <a16:creationId xmlns:a16="http://schemas.microsoft.com/office/drawing/2014/main" id="{A63AB2EE-872A-44C2-9F1C-7728998E634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48200" y="1219200"/>
            <a:ext cx="7046195" cy="4876800"/>
          </a:xfrm>
          <a:prstGeom prst="rect">
            <a:avLst/>
          </a:prstGeom>
        </p:spPr>
      </p:pic>
      <p:sp>
        <p:nvSpPr>
          <p:cNvPr id="6" name="Arrow: Right 5">
            <a:extLst>
              <a:ext uri="{FF2B5EF4-FFF2-40B4-BE49-F238E27FC236}">
                <a16:creationId xmlns:a16="http://schemas.microsoft.com/office/drawing/2014/main" id="{93EC7642-6232-49FD-9A3D-E5AABD736894}"/>
              </a:ext>
            </a:extLst>
          </p:cNvPr>
          <p:cNvSpPr/>
          <p:nvPr/>
        </p:nvSpPr>
        <p:spPr>
          <a:xfrm rot="8537894">
            <a:off x="7893024" y="1116745"/>
            <a:ext cx="587074" cy="278966"/>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17814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Operating System Design</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Two operating system components are crucial: the </a:t>
            </a:r>
            <a:r>
              <a:rPr lang="en-US" b="1" dirty="0"/>
              <a:t>kernel</a:t>
            </a:r>
            <a:r>
              <a:rPr lang="en-US" dirty="0"/>
              <a:t> and the system programs.</a:t>
            </a:r>
          </a:p>
          <a:p>
            <a:r>
              <a:rPr lang="en-US" dirty="0"/>
              <a:t>As the core of the operating system, the kernel performs scheduling, synchronization, memory management, interrupt handling and also provides security and protection.</a:t>
            </a:r>
          </a:p>
          <a:p>
            <a:r>
              <a:rPr lang="en-US" b="1" dirty="0"/>
              <a:t>Microkernel</a:t>
            </a:r>
            <a:r>
              <a:rPr lang="en-US" dirty="0"/>
              <a:t> systems provide minimal functionality, with most services carried out by external programs.</a:t>
            </a:r>
          </a:p>
          <a:p>
            <a:r>
              <a:rPr lang="en-US" b="1" dirty="0"/>
              <a:t>Monolithic</a:t>
            </a:r>
            <a:r>
              <a:rPr lang="en-US" dirty="0"/>
              <a:t> systems provide most of their services within a single operating system program.</a:t>
            </a:r>
          </a:p>
          <a:p>
            <a:endParaRPr lang="en-US" dirty="0"/>
          </a:p>
        </p:txBody>
      </p:sp>
    </p:spTree>
    <p:extLst>
      <p:ext uri="{BB962C8B-B14F-4D97-AF65-F5344CB8AC3E}">
        <p14:creationId xmlns:p14="http://schemas.microsoft.com/office/powerpoint/2010/main" val="6230347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a:xfrm>
            <a:off x="640079" y="2053641"/>
            <a:ext cx="3669161" cy="2760098"/>
          </a:xfrm>
        </p:spPr>
        <p:txBody>
          <a:bodyPr>
            <a:normAutofit/>
          </a:bodyPr>
          <a:lstStyle/>
          <a:p>
            <a:r>
              <a:rPr lang="en-US">
                <a:solidFill>
                  <a:srgbClr val="FFFFFF"/>
                </a:solidFill>
              </a:rPr>
              <a:t>Operating System Design</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0574" y="801866"/>
            <a:ext cx="5306084" cy="5230634"/>
          </a:xfrm>
        </p:spPr>
        <p:txBody>
          <a:bodyPr anchor="ctr">
            <a:normAutofit/>
          </a:bodyPr>
          <a:lstStyle/>
          <a:p>
            <a:r>
              <a:rPr lang="en-US" sz="1700">
                <a:solidFill>
                  <a:srgbClr val="000000"/>
                </a:solidFill>
              </a:rPr>
              <a:t>Microkernel systems provide better security, easier maintenance, and portability at the expense of execution speed. (Examples: MINIX, Mach, QNX.)</a:t>
            </a:r>
          </a:p>
          <a:p>
            <a:pPr lvl="1"/>
            <a:r>
              <a:rPr lang="en-US" sz="1700">
                <a:solidFill>
                  <a:srgbClr val="000000"/>
                </a:solidFill>
              </a:rPr>
              <a:t>SMP computers are ideal platforms for microkernel operating systems because they consist of small services that can run independently</a:t>
            </a:r>
          </a:p>
          <a:p>
            <a:r>
              <a:rPr lang="en-US" sz="1700">
                <a:solidFill>
                  <a:srgbClr val="000000"/>
                </a:solidFill>
              </a:rPr>
              <a:t>Monolithic systems give faster execution speed, but are difficult to port from one architecture to another. (Examples: Linux, MacOS, and DOS.)</a:t>
            </a:r>
          </a:p>
          <a:p>
            <a:r>
              <a:rPr lang="en-US" sz="1700">
                <a:solidFill>
                  <a:srgbClr val="000000"/>
                </a:solidFill>
              </a:rPr>
              <a:t>Windows has a hybrid kernel with aspects of both microkernels and monolithic kernels</a:t>
            </a:r>
          </a:p>
          <a:p>
            <a:pPr lvl="1"/>
            <a:r>
              <a:rPr lang="en-US" sz="1700">
                <a:solidFill>
                  <a:srgbClr val="000000"/>
                </a:solidFill>
              </a:rPr>
              <a:t>The Windows OS consists of many modules that communicate with the main part of the kernel.  This is basically how a microkernel operates.</a:t>
            </a:r>
          </a:p>
          <a:p>
            <a:pPr lvl="1"/>
            <a:r>
              <a:rPr lang="en-US" sz="1700">
                <a:solidFill>
                  <a:srgbClr val="000000"/>
                </a:solidFill>
              </a:rPr>
              <a:t>However, these modules share memory with the rest of the kernel, which is how a monolithic kernel is structured.</a:t>
            </a:r>
          </a:p>
          <a:p>
            <a:endParaRPr lang="en-US" sz="1700">
              <a:solidFill>
                <a:srgbClr val="000000"/>
              </a:solidFill>
            </a:endParaRPr>
          </a:p>
        </p:txBody>
      </p:sp>
    </p:spTree>
    <p:extLst>
      <p:ext uri="{BB962C8B-B14F-4D97-AF65-F5344CB8AC3E}">
        <p14:creationId xmlns:p14="http://schemas.microsoft.com/office/powerpoint/2010/main" val="262039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89ACC69-ADF2-492B-84C5-EA2CC16071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a:xfrm>
            <a:off x="943276" y="712268"/>
            <a:ext cx="10410524" cy="1193533"/>
          </a:xfrm>
        </p:spPr>
        <p:txBody>
          <a:bodyPr>
            <a:normAutofit/>
          </a:bodyPr>
          <a:lstStyle/>
          <a:p>
            <a:r>
              <a:rPr lang="en-US">
                <a:solidFill>
                  <a:srgbClr val="FFFFFF"/>
                </a:solidFill>
              </a:rPr>
              <a:t>Operating System Services</a:t>
            </a:r>
          </a:p>
        </p:txBody>
      </p:sp>
      <p:cxnSp>
        <p:nvCxnSpPr>
          <p:cNvPr id="10" name="Straight Connector 9">
            <a:extLst>
              <a:ext uri="{FF2B5EF4-FFF2-40B4-BE49-F238E27FC236}">
                <a16:creationId xmlns:a16="http://schemas.microsoft.com/office/drawing/2014/main" id="{F2AE495E-2AAF-4BC1-87A5-331009D8289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rgbClr val="FFFFFF">
                <a:alpha val="80000"/>
              </a:srgb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943276" y="2050181"/>
            <a:ext cx="10410524" cy="4126782"/>
          </a:xfrm>
        </p:spPr>
        <p:txBody>
          <a:bodyPr>
            <a:normAutofit/>
          </a:bodyPr>
          <a:lstStyle/>
          <a:p>
            <a:r>
              <a:rPr lang="en-US" sz="2400">
                <a:solidFill>
                  <a:srgbClr val="FFFFFF"/>
                </a:solidFill>
              </a:rPr>
              <a:t>What are some of the responsibilities or tasks of an operating system that you are familiar with?</a:t>
            </a:r>
          </a:p>
          <a:p>
            <a:r>
              <a:rPr lang="en-US" sz="2400">
                <a:solidFill>
                  <a:srgbClr val="FFFFFF"/>
                </a:solidFill>
              </a:rPr>
              <a:t>In other words, what are some basic tasks a computer can perform that are not necessarily associated with a single program or group of programs?</a:t>
            </a:r>
          </a:p>
          <a:p>
            <a:endParaRPr lang="en-US" sz="2400">
              <a:solidFill>
                <a:srgbClr val="FFFFFF"/>
              </a:solidFill>
            </a:endParaRPr>
          </a:p>
        </p:txBody>
      </p:sp>
    </p:spTree>
    <p:extLst>
      <p:ext uri="{BB962C8B-B14F-4D97-AF65-F5344CB8AC3E}">
        <p14:creationId xmlns:p14="http://schemas.microsoft.com/office/powerpoint/2010/main" val="16542374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a:xfrm>
            <a:off x="838200" y="963877"/>
            <a:ext cx="3494362" cy="4930246"/>
          </a:xfrm>
        </p:spPr>
        <p:txBody>
          <a:bodyPr>
            <a:normAutofit/>
          </a:bodyPr>
          <a:lstStyle/>
          <a:p>
            <a:pPr algn="r"/>
            <a:r>
              <a:rPr lang="en-US">
                <a:solidFill>
                  <a:schemeClr val="accent1"/>
                </a:solidFill>
              </a:rPr>
              <a:t>Operating System Services</a:t>
            </a:r>
          </a:p>
        </p:txBody>
      </p:sp>
      <p:cxnSp>
        <p:nvCxnSpPr>
          <p:cNvPr id="10" name="Straight Connector 9">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4976031" y="963877"/>
            <a:ext cx="6377769" cy="4930246"/>
          </a:xfrm>
        </p:spPr>
        <p:txBody>
          <a:bodyPr anchor="ctr">
            <a:normAutofit/>
          </a:bodyPr>
          <a:lstStyle/>
          <a:p>
            <a:r>
              <a:rPr lang="en-US" sz="2400" b="1"/>
              <a:t>Process management</a:t>
            </a:r>
            <a:r>
              <a:rPr lang="en-US" sz="2400"/>
              <a:t> lies at the heart of operating system services.</a:t>
            </a:r>
          </a:p>
          <a:p>
            <a:pPr lvl="1"/>
            <a:r>
              <a:rPr lang="en-US" dirty="0"/>
              <a:t>The operating system creates processes, schedules their access to resources, deletes processes, and deallocates resources that were allocated during process execution.</a:t>
            </a:r>
          </a:p>
          <a:p>
            <a:r>
              <a:rPr lang="en-US" sz="2400"/>
              <a:t>The operating system monitors the activities of each process to avoid synchronization problems that can occur when processes use shared resources.</a:t>
            </a:r>
          </a:p>
          <a:p>
            <a:r>
              <a:rPr lang="en-US" sz="2400"/>
              <a:t>If processes need to communicate with one another, the operating system provides the services.</a:t>
            </a:r>
          </a:p>
          <a:p>
            <a:endParaRPr lang="en-US" sz="2400"/>
          </a:p>
        </p:txBody>
      </p:sp>
    </p:spTree>
    <p:extLst>
      <p:ext uri="{BB962C8B-B14F-4D97-AF65-F5344CB8AC3E}">
        <p14:creationId xmlns:p14="http://schemas.microsoft.com/office/powerpoint/2010/main" val="18721751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endParaRPr lang="en-US" dirty="0"/>
          </a:p>
        </p:txBody>
      </p:sp>
      <p:pic>
        <p:nvPicPr>
          <p:cNvPr id="9" name="Picture 6" descr="c10f08">
            <a:extLst>
              <a:ext uri="{FF2B5EF4-FFF2-40B4-BE49-F238E27FC236}">
                <a16:creationId xmlns:a16="http://schemas.microsoft.com/office/drawing/2014/main" id="{AAAEFEEC-E6A7-405B-9359-FABD00AC057E}"/>
              </a:ext>
            </a:extLst>
          </p:cNvPr>
          <p:cNvPicPr preferRelativeResize="0">
            <a:picLocks noChangeAspect="1" noChangeArrowheads="1"/>
          </p:cNvPicPr>
          <p:nvPr/>
        </p:nvPicPr>
        <p:blipFill>
          <a:blip r:embed="rId2" cstate="print"/>
          <a:srcRect/>
          <a:stretch>
            <a:fillRect/>
          </a:stretch>
        </p:blipFill>
        <p:spPr bwMode="auto">
          <a:xfrm>
            <a:off x="528428" y="863445"/>
            <a:ext cx="8831662" cy="4607451"/>
          </a:xfrm>
          <a:prstGeom prst="rect">
            <a:avLst/>
          </a:prstGeom>
          <a:noFill/>
          <a:ln w="9525">
            <a:noFill/>
            <a:miter lim="800000"/>
            <a:headEnd/>
            <a:tailEnd/>
          </a:ln>
          <a:effectLst/>
        </p:spPr>
      </p:pic>
      <p:pic>
        <p:nvPicPr>
          <p:cNvPr id="10" name="Picture 21" descr="C:\Users\Kevin McDonnell\AppData\Local\Microsoft\Windows\Temporary Internet Files\Content.IE5\44JIOPNE\MPj04230350000[1].jpg">
            <a:extLst>
              <a:ext uri="{FF2B5EF4-FFF2-40B4-BE49-F238E27FC236}">
                <a16:creationId xmlns:a16="http://schemas.microsoft.com/office/drawing/2014/main" id="{1C195A4E-6989-4752-BE48-BEEB5C12C6EF}"/>
              </a:ext>
            </a:extLst>
          </p:cNvPr>
          <p:cNvPicPr>
            <a:picLocks noChangeAspect="1" noChangeArrowheads="1"/>
          </p:cNvPicPr>
          <p:nvPr/>
        </p:nvPicPr>
        <p:blipFill>
          <a:blip r:embed="rId3" cstate="print"/>
          <a:srcRect/>
          <a:stretch>
            <a:fillRect/>
          </a:stretch>
        </p:blipFill>
        <p:spPr bwMode="auto">
          <a:xfrm>
            <a:off x="901890" y="5415886"/>
            <a:ext cx="989608" cy="989608"/>
          </a:xfrm>
          <a:prstGeom prst="rect">
            <a:avLst/>
          </a:prstGeom>
          <a:noFill/>
        </p:spPr>
      </p:pic>
      <p:pic>
        <p:nvPicPr>
          <p:cNvPr id="11" name="Picture 10" descr="MP900411833.JPG">
            <a:extLst>
              <a:ext uri="{FF2B5EF4-FFF2-40B4-BE49-F238E27FC236}">
                <a16:creationId xmlns:a16="http://schemas.microsoft.com/office/drawing/2014/main" id="{516E3FF0-35AD-4725-B30D-681A47E9AD2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9786" r="11334" b="26261"/>
          <a:stretch/>
        </p:blipFill>
        <p:spPr>
          <a:xfrm>
            <a:off x="5248702" y="1483057"/>
            <a:ext cx="1016679" cy="1424904"/>
          </a:xfrm>
          <a:prstGeom prst="rect">
            <a:avLst/>
          </a:prstGeom>
        </p:spPr>
      </p:pic>
      <p:pic>
        <p:nvPicPr>
          <p:cNvPr id="12" name="Picture 11" descr="MP900442701.JPG">
            <a:extLst>
              <a:ext uri="{FF2B5EF4-FFF2-40B4-BE49-F238E27FC236}">
                <a16:creationId xmlns:a16="http://schemas.microsoft.com/office/drawing/2014/main" id="{757793CC-0589-43F6-8A3B-501E810E8C9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4983" y="2717805"/>
            <a:ext cx="1044586" cy="1565033"/>
          </a:xfrm>
          <a:prstGeom prst="rect">
            <a:avLst/>
          </a:prstGeom>
        </p:spPr>
      </p:pic>
      <p:pic>
        <p:nvPicPr>
          <p:cNvPr id="13" name="Picture 12" descr="MP900442700.JPG">
            <a:extLst>
              <a:ext uri="{FF2B5EF4-FFF2-40B4-BE49-F238E27FC236}">
                <a16:creationId xmlns:a16="http://schemas.microsoft.com/office/drawing/2014/main" id="{83979109-8C1A-4ACB-8948-FD7BEE41686D}"/>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8686" r="7560" b="15319"/>
          <a:stretch/>
        </p:blipFill>
        <p:spPr>
          <a:xfrm>
            <a:off x="7456070" y="2825086"/>
            <a:ext cx="1044586" cy="1582353"/>
          </a:xfrm>
          <a:prstGeom prst="rect">
            <a:avLst/>
          </a:prstGeom>
        </p:spPr>
      </p:pic>
      <p:pic>
        <p:nvPicPr>
          <p:cNvPr id="14" name="Picture 3" descr="C:\Users\Kevin McDonnell\AppData\Local\Microsoft\Windows\Temporary Internet Files\Content.IE5\3XCEGXBO\MC900238641[1].wmf">
            <a:extLst>
              <a:ext uri="{FF2B5EF4-FFF2-40B4-BE49-F238E27FC236}">
                <a16:creationId xmlns:a16="http://schemas.microsoft.com/office/drawing/2014/main" id="{3320FA0C-23E6-4279-8672-BBAA0F99CB7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772770" y="5455661"/>
            <a:ext cx="1455771" cy="102048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Process States</a:t>
            </a:r>
          </a:p>
        </p:txBody>
      </p:sp>
    </p:spTree>
    <p:extLst>
      <p:ext uri="{BB962C8B-B14F-4D97-AF65-F5344CB8AC3E}">
        <p14:creationId xmlns:p14="http://schemas.microsoft.com/office/powerpoint/2010/main" val="10200338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a:xfrm>
            <a:off x="1179226" y="826680"/>
            <a:ext cx="9833548" cy="1325563"/>
          </a:xfrm>
        </p:spPr>
        <p:txBody>
          <a:bodyPr>
            <a:normAutofit/>
          </a:bodyPr>
          <a:lstStyle/>
          <a:p>
            <a:pPr algn="ctr"/>
            <a:r>
              <a:rPr lang="en-US" sz="4000">
                <a:solidFill>
                  <a:srgbClr val="FFFFFF"/>
                </a:solidFill>
              </a:rPr>
              <a:t>Process Scheduling</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1179226" y="3092970"/>
            <a:ext cx="9833548" cy="2693976"/>
          </a:xfrm>
        </p:spPr>
        <p:txBody>
          <a:bodyPr>
            <a:normAutofit/>
          </a:bodyPr>
          <a:lstStyle/>
          <a:p>
            <a:r>
              <a:rPr lang="en-US" sz="1400">
                <a:solidFill>
                  <a:srgbClr val="000000"/>
                </a:solidFill>
              </a:rPr>
              <a:t>The operating system schedules process execution.</a:t>
            </a:r>
          </a:p>
          <a:p>
            <a:r>
              <a:rPr lang="en-US" sz="1400">
                <a:solidFill>
                  <a:srgbClr val="000000"/>
                </a:solidFill>
              </a:rPr>
              <a:t>First, the operating system determines which process shall be eventually granted access to the CPU. This is </a:t>
            </a:r>
            <a:r>
              <a:rPr lang="en-US" sz="1400" b="1">
                <a:solidFill>
                  <a:srgbClr val="000000"/>
                </a:solidFill>
              </a:rPr>
              <a:t>long-term scheduling</a:t>
            </a:r>
            <a:r>
              <a:rPr lang="en-US" sz="1400">
                <a:solidFill>
                  <a:srgbClr val="000000"/>
                </a:solidFill>
              </a:rPr>
              <a:t>.</a:t>
            </a:r>
          </a:p>
          <a:p>
            <a:r>
              <a:rPr lang="en-US" sz="1400">
                <a:solidFill>
                  <a:srgbClr val="000000"/>
                </a:solidFill>
              </a:rPr>
              <a:t>After a number of processes have been admitted, the operating system determines which one will have access to the CPU at any particular moment. This is </a:t>
            </a:r>
            <a:r>
              <a:rPr lang="en-US" sz="1400" b="1">
                <a:solidFill>
                  <a:srgbClr val="000000"/>
                </a:solidFill>
              </a:rPr>
              <a:t>short-term scheduling</a:t>
            </a:r>
            <a:r>
              <a:rPr lang="en-US" sz="1400">
                <a:solidFill>
                  <a:srgbClr val="000000"/>
                </a:solidFill>
              </a:rPr>
              <a:t>.</a:t>
            </a:r>
          </a:p>
          <a:p>
            <a:r>
              <a:rPr lang="en-US" sz="1400">
                <a:solidFill>
                  <a:srgbClr val="000000"/>
                </a:solidFill>
              </a:rPr>
              <a:t>A </a:t>
            </a:r>
            <a:r>
              <a:rPr lang="en-US" sz="1400" b="1">
                <a:solidFill>
                  <a:srgbClr val="000000"/>
                </a:solidFill>
              </a:rPr>
              <a:t>context switch</a:t>
            </a:r>
            <a:r>
              <a:rPr lang="en-US" sz="1400">
                <a:solidFill>
                  <a:srgbClr val="000000"/>
                </a:solidFill>
              </a:rPr>
              <a:t> occurs when a process is taken from the CPU and replaced by another process.</a:t>
            </a:r>
          </a:p>
          <a:p>
            <a:pPr lvl="1"/>
            <a:r>
              <a:rPr lang="en-US" sz="1400">
                <a:solidFill>
                  <a:srgbClr val="000000"/>
                </a:solidFill>
              </a:rPr>
              <a:t>Information relating to the state of the process is preserved during a context switch, such as the contents of registers and the page tables</a:t>
            </a:r>
          </a:p>
          <a:p>
            <a:pPr lvl="1"/>
            <a:r>
              <a:rPr lang="en-US" sz="1400">
                <a:solidFill>
                  <a:srgbClr val="000000"/>
                </a:solidFill>
              </a:rPr>
              <a:t>The state of the other process is restored and resumed</a:t>
            </a:r>
          </a:p>
          <a:p>
            <a:r>
              <a:rPr lang="en-US" sz="1400">
                <a:solidFill>
                  <a:srgbClr val="000000"/>
                </a:solidFill>
              </a:rPr>
              <a:t>This kind of bookkeeping is time-consuming and burns many CPU cycles</a:t>
            </a:r>
          </a:p>
        </p:txBody>
      </p:sp>
    </p:spTree>
    <p:extLst>
      <p:ext uri="{BB962C8B-B14F-4D97-AF65-F5344CB8AC3E}">
        <p14:creationId xmlns:p14="http://schemas.microsoft.com/office/powerpoint/2010/main" val="32710486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Process Scheduling</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Short-term scheduling can be </a:t>
            </a:r>
            <a:r>
              <a:rPr lang="en-US" b="1" dirty="0"/>
              <a:t>preemptive</a:t>
            </a:r>
            <a:r>
              <a:rPr lang="en-US" dirty="0"/>
              <a:t> or </a:t>
            </a:r>
            <a:r>
              <a:rPr lang="en-US" b="1" dirty="0"/>
              <a:t>non-preemptive</a:t>
            </a:r>
            <a:r>
              <a:rPr lang="en-US" dirty="0"/>
              <a:t>.</a:t>
            </a:r>
          </a:p>
          <a:p>
            <a:r>
              <a:rPr lang="en-US" dirty="0"/>
              <a:t>In preemptive scheduling, each process is allocated a </a:t>
            </a:r>
            <a:r>
              <a:rPr lang="en-US" b="1" dirty="0"/>
              <a:t>time slice</a:t>
            </a:r>
            <a:r>
              <a:rPr lang="en-US" dirty="0"/>
              <a:t>. When the time slice expires, a context switch occurs.</a:t>
            </a:r>
          </a:p>
          <a:p>
            <a:r>
              <a:rPr lang="en-US" dirty="0"/>
              <a:t>In non-preemptive scheduling, a process has use of the CPU until either it terminates, or must wait for resources that are temporarily unavailable.</a:t>
            </a:r>
          </a:p>
          <a:p>
            <a:r>
              <a:rPr lang="en-US" dirty="0"/>
              <a:t>A context switch can also occur when a higher-priority process needs the CPU.</a:t>
            </a:r>
          </a:p>
          <a:p>
            <a:endParaRPr lang="en-US" dirty="0"/>
          </a:p>
        </p:txBody>
      </p:sp>
    </p:spTree>
    <p:extLst>
      <p:ext uri="{BB962C8B-B14F-4D97-AF65-F5344CB8AC3E}">
        <p14:creationId xmlns:p14="http://schemas.microsoft.com/office/powerpoint/2010/main" val="14378100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a:xfrm>
            <a:off x="1179226" y="826680"/>
            <a:ext cx="9833548" cy="1325563"/>
          </a:xfrm>
        </p:spPr>
        <p:txBody>
          <a:bodyPr>
            <a:normAutofit/>
          </a:bodyPr>
          <a:lstStyle/>
          <a:p>
            <a:pPr algn="ctr"/>
            <a:r>
              <a:rPr lang="en-US" sz="4000">
                <a:solidFill>
                  <a:srgbClr val="FFFFFF"/>
                </a:solidFill>
              </a:rPr>
              <a:t>Process Scheduling</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1179226" y="3092970"/>
            <a:ext cx="9833548" cy="2693976"/>
          </a:xfrm>
        </p:spPr>
        <p:txBody>
          <a:bodyPr>
            <a:normAutofit/>
          </a:bodyPr>
          <a:lstStyle/>
          <a:p>
            <a:r>
              <a:rPr lang="en-US" sz="1600">
                <a:solidFill>
                  <a:srgbClr val="000000"/>
                </a:solidFill>
              </a:rPr>
              <a:t>Four approaches to CPU scheduling are:</a:t>
            </a:r>
          </a:p>
          <a:p>
            <a:pPr lvl="1"/>
            <a:r>
              <a:rPr lang="en-US" sz="1600" b="1">
                <a:solidFill>
                  <a:srgbClr val="000000"/>
                </a:solidFill>
              </a:rPr>
              <a:t>First-come, first-served</a:t>
            </a:r>
            <a:r>
              <a:rPr lang="en-US" sz="1600">
                <a:solidFill>
                  <a:srgbClr val="000000"/>
                </a:solidFill>
              </a:rPr>
              <a:t>: jobs are serviced in arrival sequence and run to completion if they have all of the resources they need.</a:t>
            </a:r>
          </a:p>
          <a:p>
            <a:pPr lvl="1"/>
            <a:r>
              <a:rPr lang="en-US" sz="1600" b="1">
                <a:solidFill>
                  <a:srgbClr val="000000"/>
                </a:solidFill>
              </a:rPr>
              <a:t>Shortest job first</a:t>
            </a:r>
            <a:r>
              <a:rPr lang="en-US" sz="1600">
                <a:solidFill>
                  <a:srgbClr val="000000"/>
                </a:solidFill>
              </a:rPr>
              <a:t>: the smallest jobs get scheduled first. (The trouble is in knowing which jobs are shortest!)</a:t>
            </a:r>
          </a:p>
          <a:p>
            <a:pPr lvl="1"/>
            <a:r>
              <a:rPr lang="en-US" sz="1600" b="1">
                <a:solidFill>
                  <a:srgbClr val="000000"/>
                </a:solidFill>
              </a:rPr>
              <a:t>Round robin scheduling</a:t>
            </a:r>
            <a:r>
              <a:rPr lang="en-US" sz="1600">
                <a:solidFill>
                  <a:srgbClr val="000000"/>
                </a:solidFill>
              </a:rPr>
              <a:t>: each job is allotted a certain amount of CPU time (called a </a:t>
            </a:r>
            <a:r>
              <a:rPr lang="en-US" sz="1600" b="1">
                <a:solidFill>
                  <a:srgbClr val="000000"/>
                </a:solidFill>
              </a:rPr>
              <a:t>time quantum</a:t>
            </a:r>
            <a:r>
              <a:rPr lang="en-US" sz="1600">
                <a:solidFill>
                  <a:srgbClr val="000000"/>
                </a:solidFill>
              </a:rPr>
              <a:t>). A context switch occurs when the time expires.</a:t>
            </a:r>
          </a:p>
          <a:p>
            <a:pPr lvl="1"/>
            <a:r>
              <a:rPr lang="en-US" sz="1600" b="1">
                <a:solidFill>
                  <a:srgbClr val="000000"/>
                </a:solidFill>
              </a:rPr>
              <a:t>Priority scheduling</a:t>
            </a:r>
            <a:r>
              <a:rPr lang="en-US" sz="1600">
                <a:solidFill>
                  <a:srgbClr val="000000"/>
                </a:solidFill>
              </a:rPr>
              <a:t>: preempts a job with a lower priority when a higher-priority job needs the CPU.</a:t>
            </a:r>
          </a:p>
          <a:p>
            <a:r>
              <a:rPr lang="en-US" sz="1600">
                <a:solidFill>
                  <a:srgbClr val="000000"/>
                </a:solidFill>
              </a:rPr>
              <a:t>Some process scheduling algorithms can cause </a:t>
            </a:r>
            <a:r>
              <a:rPr lang="en-US" sz="1600" b="1">
                <a:solidFill>
                  <a:srgbClr val="000000"/>
                </a:solidFill>
              </a:rPr>
              <a:t>starvation</a:t>
            </a:r>
            <a:r>
              <a:rPr lang="en-US" sz="1600">
                <a:solidFill>
                  <a:srgbClr val="000000"/>
                </a:solidFill>
              </a:rPr>
              <a:t>. This occurs when a process never gets a chance to run because other processes are continually being given preference. Which of the scheduling approaches could cause this?</a:t>
            </a:r>
          </a:p>
        </p:txBody>
      </p:sp>
    </p:spTree>
    <p:extLst>
      <p:ext uri="{BB962C8B-B14F-4D97-AF65-F5344CB8AC3E}">
        <p14:creationId xmlns:p14="http://schemas.microsoft.com/office/powerpoint/2010/main" val="21805395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First-come, First-served Scheduling</a:t>
            </a:r>
          </a:p>
        </p:txBody>
      </p:sp>
      <p:sp>
        <p:nvSpPr>
          <p:cNvPr id="3" name="Content Placeholder 2"/>
          <p:cNvSpPr>
            <a:spLocks noGrp="1"/>
          </p:cNvSpPr>
          <p:nvPr>
            <p:ph idx="1"/>
          </p:nvPr>
        </p:nvSpPr>
        <p:spPr/>
        <p:txBody>
          <a:bodyPr>
            <a:normAutofit fontScale="92500" lnSpcReduction="20000"/>
          </a:bodyPr>
          <a:lstStyle/>
          <a:p>
            <a:r>
              <a:rPr lang="en-US" dirty="0"/>
              <a:t>Processes P1, P2 and P3 “arrive” to the CPU in that order. The execution time requirements are:</a:t>
            </a:r>
          </a:p>
          <a:p>
            <a:pPr marL="344488" lvl="0">
              <a:lnSpc>
                <a:spcPct val="75000"/>
              </a:lnSpc>
              <a:spcBef>
                <a:spcPct val="50000"/>
              </a:spcBef>
            </a:pPr>
            <a:r>
              <a:rPr lang="en-US" altLang="en-US" u="sng" dirty="0"/>
              <a:t>Process	Burst Time</a:t>
            </a:r>
            <a:endParaRPr lang="en-US" altLang="en-US" dirty="0"/>
          </a:p>
          <a:p>
            <a:pPr marL="344488" lvl="0" indent="0">
              <a:lnSpc>
                <a:spcPct val="75000"/>
              </a:lnSpc>
              <a:spcBef>
                <a:spcPct val="50000"/>
              </a:spcBef>
              <a:buNone/>
            </a:pPr>
            <a:r>
              <a:rPr lang="en-US" altLang="en-US" dirty="0"/>
              <a:t>P1		24 </a:t>
            </a:r>
            <a:r>
              <a:rPr lang="en-US" altLang="en-US" dirty="0" err="1"/>
              <a:t>ms</a:t>
            </a:r>
            <a:endParaRPr lang="en-US" altLang="en-US" dirty="0"/>
          </a:p>
          <a:p>
            <a:pPr marL="344488" lvl="0" indent="0">
              <a:lnSpc>
                <a:spcPct val="75000"/>
              </a:lnSpc>
              <a:spcBef>
                <a:spcPct val="50000"/>
              </a:spcBef>
              <a:buNone/>
            </a:pPr>
            <a:r>
              <a:rPr lang="en-US" altLang="en-US" dirty="0"/>
              <a:t>P2		3 </a:t>
            </a:r>
            <a:r>
              <a:rPr lang="en-US" altLang="en-US" dirty="0" err="1"/>
              <a:t>ms</a:t>
            </a:r>
            <a:endParaRPr lang="en-US" altLang="en-US" dirty="0"/>
          </a:p>
          <a:p>
            <a:pPr marL="344488" lvl="0" indent="0">
              <a:lnSpc>
                <a:spcPct val="75000"/>
              </a:lnSpc>
              <a:spcBef>
                <a:spcPct val="50000"/>
              </a:spcBef>
              <a:buNone/>
            </a:pPr>
            <a:r>
              <a:rPr lang="en-US" altLang="en-US" dirty="0"/>
              <a:t>P3		3 </a:t>
            </a:r>
            <a:r>
              <a:rPr lang="en-US" altLang="en-US" dirty="0" err="1"/>
              <a:t>ms</a:t>
            </a:r>
            <a:endParaRPr lang="en-US" dirty="0"/>
          </a:p>
          <a:p>
            <a:pPr>
              <a:lnSpc>
                <a:spcPct val="75000"/>
              </a:lnSpc>
              <a:spcBef>
                <a:spcPct val="50000"/>
              </a:spcBef>
              <a:tabLst>
                <a:tab pos="1430338" algn="l"/>
              </a:tabLst>
            </a:pPr>
            <a:r>
              <a:rPr lang="en-US" dirty="0"/>
              <a:t>First consider the </a:t>
            </a:r>
            <a:r>
              <a:rPr lang="en-US" b="1" dirty="0"/>
              <a:t>Gantt chart</a:t>
            </a:r>
            <a:r>
              <a:rPr lang="en-US" dirty="0"/>
              <a:t> above, which visualizes the process execution</a:t>
            </a:r>
          </a:p>
          <a:p>
            <a:pPr>
              <a:lnSpc>
                <a:spcPct val="75000"/>
              </a:lnSpc>
              <a:spcBef>
                <a:spcPct val="50000"/>
              </a:spcBef>
              <a:tabLst>
                <a:tab pos="1430338" algn="l"/>
              </a:tabLst>
            </a:pPr>
            <a:r>
              <a:rPr lang="en-US" dirty="0"/>
              <a:t>What is the average wait time for the processes?</a:t>
            </a:r>
          </a:p>
          <a:p>
            <a:r>
              <a:rPr lang="en-US" altLang="en-US" dirty="0"/>
              <a:t>Waiting times: P1 = 0 </a:t>
            </a:r>
            <a:r>
              <a:rPr lang="en-US" altLang="en-US" dirty="0" err="1"/>
              <a:t>ms</a:t>
            </a:r>
            <a:r>
              <a:rPr lang="en-US" altLang="en-US" dirty="0"/>
              <a:t>, P2 = 24 </a:t>
            </a:r>
            <a:r>
              <a:rPr lang="en-US" altLang="en-US" dirty="0" err="1"/>
              <a:t>ms</a:t>
            </a:r>
            <a:r>
              <a:rPr lang="en-US" altLang="en-US" dirty="0"/>
              <a:t>, P3 = 27 </a:t>
            </a:r>
            <a:r>
              <a:rPr lang="en-US" altLang="en-US" dirty="0" err="1"/>
              <a:t>ms</a:t>
            </a:r>
            <a:endParaRPr lang="en-US" altLang="en-US" dirty="0"/>
          </a:p>
          <a:p>
            <a:r>
              <a:rPr lang="en-US" altLang="en-US" dirty="0"/>
              <a:t>Average waiting time:  (0 + 24 + 27)/3 = 17 </a:t>
            </a:r>
            <a:r>
              <a:rPr lang="en-US" altLang="en-US" dirty="0" err="1"/>
              <a:t>ms</a:t>
            </a:r>
            <a:endParaRPr lang="en-US" altLang="en-US" dirty="0"/>
          </a:p>
        </p:txBody>
      </p:sp>
      <p:grpSp>
        <p:nvGrpSpPr>
          <p:cNvPr id="4" name="Group 6"/>
          <p:cNvGrpSpPr>
            <a:grpSpLocks/>
          </p:cNvGrpSpPr>
          <p:nvPr/>
        </p:nvGrpSpPr>
        <p:grpSpPr bwMode="auto">
          <a:xfrm>
            <a:off x="5132890" y="2777331"/>
            <a:ext cx="6248397" cy="1223963"/>
            <a:chOff x="842" y="2688"/>
            <a:chExt cx="3936" cy="771"/>
          </a:xfrm>
        </p:grpSpPr>
        <p:sp>
          <p:nvSpPr>
            <p:cNvPr id="5" name="Rectangle 7"/>
            <p:cNvSpPr>
              <a:spLocks noChangeArrowheads="1"/>
            </p:cNvSpPr>
            <p:nvPr/>
          </p:nvSpPr>
          <p:spPr bwMode="auto">
            <a:xfrm>
              <a:off x="960" y="2688"/>
              <a:ext cx="3312" cy="38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000000"/>
                </a:solidFill>
                <a:latin typeface="+mj-lt"/>
              </a:endParaRPr>
            </a:p>
          </p:txBody>
        </p:sp>
        <p:sp>
          <p:nvSpPr>
            <p:cNvPr id="6" name="Text Box 8"/>
            <p:cNvSpPr txBox="1">
              <a:spLocks noChangeArrowheads="1"/>
            </p:cNvSpPr>
            <p:nvPr/>
          </p:nvSpPr>
          <p:spPr bwMode="auto">
            <a:xfrm>
              <a:off x="1741" y="2707"/>
              <a:ext cx="333" cy="29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lang="en-US" altLang="en-US" sz="2400">
                  <a:solidFill>
                    <a:srgbClr val="000000"/>
                  </a:solidFill>
                  <a:latin typeface="+mj-lt"/>
                </a:rPr>
                <a:t>P1</a:t>
              </a:r>
            </a:p>
          </p:txBody>
        </p:sp>
        <p:sp>
          <p:nvSpPr>
            <p:cNvPr id="7" name="Text Box 9"/>
            <p:cNvSpPr txBox="1">
              <a:spLocks noChangeArrowheads="1"/>
            </p:cNvSpPr>
            <p:nvPr/>
          </p:nvSpPr>
          <p:spPr bwMode="auto">
            <a:xfrm>
              <a:off x="3229" y="2707"/>
              <a:ext cx="333" cy="29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lang="en-US" altLang="en-US" sz="2400">
                  <a:solidFill>
                    <a:srgbClr val="000000"/>
                  </a:solidFill>
                  <a:latin typeface="+mj-lt"/>
                </a:rPr>
                <a:t>P2</a:t>
              </a:r>
            </a:p>
          </p:txBody>
        </p:sp>
        <p:sp>
          <p:nvSpPr>
            <p:cNvPr id="8" name="Text Box 10"/>
            <p:cNvSpPr txBox="1">
              <a:spLocks noChangeArrowheads="1"/>
            </p:cNvSpPr>
            <p:nvPr/>
          </p:nvSpPr>
          <p:spPr bwMode="auto">
            <a:xfrm>
              <a:off x="3805" y="2707"/>
              <a:ext cx="333" cy="29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lang="en-US" altLang="en-US" sz="2400">
                  <a:solidFill>
                    <a:srgbClr val="000000"/>
                  </a:solidFill>
                  <a:latin typeface="+mj-lt"/>
                </a:rPr>
                <a:t>P3</a:t>
              </a:r>
            </a:p>
          </p:txBody>
        </p:sp>
        <p:sp>
          <p:nvSpPr>
            <p:cNvPr id="9" name="Line 11"/>
            <p:cNvSpPr>
              <a:spLocks noChangeShapeType="1"/>
            </p:cNvSpPr>
            <p:nvPr/>
          </p:nvSpPr>
          <p:spPr bwMode="auto">
            <a:xfrm>
              <a:off x="960" y="3072"/>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000000"/>
                </a:solidFill>
                <a:latin typeface="+mj-lt"/>
              </a:endParaRPr>
            </a:p>
          </p:txBody>
        </p:sp>
        <p:sp>
          <p:nvSpPr>
            <p:cNvPr id="10" name="Line 12"/>
            <p:cNvSpPr>
              <a:spLocks noChangeShapeType="1"/>
            </p:cNvSpPr>
            <p:nvPr/>
          </p:nvSpPr>
          <p:spPr bwMode="auto">
            <a:xfrm>
              <a:off x="4272" y="3072"/>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000000"/>
                </a:solidFill>
                <a:latin typeface="+mj-lt"/>
              </a:endParaRPr>
            </a:p>
          </p:txBody>
        </p:sp>
        <p:sp>
          <p:nvSpPr>
            <p:cNvPr id="11" name="Line 13"/>
            <p:cNvSpPr>
              <a:spLocks noChangeShapeType="1"/>
            </p:cNvSpPr>
            <p:nvPr/>
          </p:nvSpPr>
          <p:spPr bwMode="auto">
            <a:xfrm>
              <a:off x="3072" y="2688"/>
              <a:ext cx="0"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000000"/>
                </a:solidFill>
                <a:latin typeface="+mj-lt"/>
              </a:endParaRPr>
            </a:p>
          </p:txBody>
        </p:sp>
        <p:sp>
          <p:nvSpPr>
            <p:cNvPr id="12" name="Line 14"/>
            <p:cNvSpPr>
              <a:spLocks noChangeShapeType="1"/>
            </p:cNvSpPr>
            <p:nvPr/>
          </p:nvSpPr>
          <p:spPr bwMode="auto">
            <a:xfrm>
              <a:off x="3648" y="2688"/>
              <a:ext cx="0"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000000"/>
                </a:solidFill>
                <a:latin typeface="+mj-lt"/>
              </a:endParaRPr>
            </a:p>
          </p:txBody>
        </p:sp>
        <p:sp>
          <p:nvSpPr>
            <p:cNvPr id="13" name="Line 15"/>
            <p:cNvSpPr>
              <a:spLocks noChangeShapeType="1"/>
            </p:cNvSpPr>
            <p:nvPr/>
          </p:nvSpPr>
          <p:spPr bwMode="auto">
            <a:xfrm>
              <a:off x="3072" y="3072"/>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000000"/>
                </a:solidFill>
                <a:latin typeface="+mj-lt"/>
              </a:endParaRPr>
            </a:p>
          </p:txBody>
        </p:sp>
        <p:sp>
          <p:nvSpPr>
            <p:cNvPr id="14" name="Line 16"/>
            <p:cNvSpPr>
              <a:spLocks noChangeShapeType="1"/>
            </p:cNvSpPr>
            <p:nvPr/>
          </p:nvSpPr>
          <p:spPr bwMode="auto">
            <a:xfrm>
              <a:off x="3648" y="3072"/>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000000"/>
                </a:solidFill>
                <a:latin typeface="+mj-lt"/>
              </a:endParaRPr>
            </a:p>
          </p:txBody>
        </p:sp>
        <p:sp>
          <p:nvSpPr>
            <p:cNvPr id="15" name="Text Box 17"/>
            <p:cNvSpPr txBox="1">
              <a:spLocks noChangeArrowheads="1"/>
            </p:cNvSpPr>
            <p:nvPr/>
          </p:nvSpPr>
          <p:spPr bwMode="auto">
            <a:xfrm>
              <a:off x="2901" y="3168"/>
              <a:ext cx="330" cy="29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lang="en-US" altLang="en-US" sz="2400" dirty="0">
                  <a:solidFill>
                    <a:srgbClr val="000000"/>
                  </a:solidFill>
                  <a:latin typeface="+mj-lt"/>
                </a:rPr>
                <a:t>24</a:t>
              </a:r>
            </a:p>
          </p:txBody>
        </p:sp>
        <p:sp>
          <p:nvSpPr>
            <p:cNvPr id="16" name="Text Box 18"/>
            <p:cNvSpPr txBox="1">
              <a:spLocks noChangeArrowheads="1"/>
            </p:cNvSpPr>
            <p:nvPr/>
          </p:nvSpPr>
          <p:spPr bwMode="auto">
            <a:xfrm>
              <a:off x="3477" y="3168"/>
              <a:ext cx="330" cy="29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lang="en-US" altLang="en-US" sz="2400">
                  <a:solidFill>
                    <a:srgbClr val="000000"/>
                  </a:solidFill>
                  <a:latin typeface="+mj-lt"/>
                </a:rPr>
                <a:t>27</a:t>
              </a:r>
            </a:p>
          </p:txBody>
        </p:sp>
        <p:sp>
          <p:nvSpPr>
            <p:cNvPr id="17" name="Text Box 19"/>
            <p:cNvSpPr txBox="1">
              <a:spLocks noChangeArrowheads="1"/>
            </p:cNvSpPr>
            <p:nvPr/>
          </p:nvSpPr>
          <p:spPr bwMode="auto">
            <a:xfrm>
              <a:off x="4138" y="3168"/>
              <a:ext cx="640" cy="29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eaLnBrk="0" hangingPunct="0">
                <a:spcBef>
                  <a:spcPct val="50000"/>
                </a:spcBef>
              </a:pPr>
              <a:r>
                <a:rPr lang="en-US" altLang="en-US" sz="2400" dirty="0">
                  <a:solidFill>
                    <a:srgbClr val="000000"/>
                  </a:solidFill>
                  <a:latin typeface="+mj-lt"/>
                </a:rPr>
                <a:t>30 </a:t>
              </a:r>
              <a:r>
                <a:rPr lang="en-US" altLang="en-US" sz="2400" dirty="0" err="1">
                  <a:solidFill>
                    <a:srgbClr val="000000"/>
                  </a:solidFill>
                  <a:latin typeface="+mj-lt"/>
                </a:rPr>
                <a:t>ms</a:t>
              </a:r>
              <a:endParaRPr lang="en-US" altLang="en-US" sz="2400" dirty="0">
                <a:solidFill>
                  <a:srgbClr val="000000"/>
                </a:solidFill>
                <a:latin typeface="+mj-lt"/>
              </a:endParaRPr>
            </a:p>
          </p:txBody>
        </p:sp>
        <p:sp>
          <p:nvSpPr>
            <p:cNvPr id="18" name="Text Box 20"/>
            <p:cNvSpPr txBox="1">
              <a:spLocks noChangeArrowheads="1"/>
            </p:cNvSpPr>
            <p:nvPr/>
          </p:nvSpPr>
          <p:spPr bwMode="auto">
            <a:xfrm>
              <a:off x="842" y="3165"/>
              <a:ext cx="223" cy="29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lang="en-US" altLang="en-US" sz="2400" dirty="0">
                  <a:solidFill>
                    <a:srgbClr val="000000"/>
                  </a:solidFill>
                  <a:latin typeface="+mj-lt"/>
                </a:rPr>
                <a:t>0</a:t>
              </a:r>
            </a:p>
          </p:txBody>
        </p:sp>
      </p:grpSp>
    </p:spTree>
    <p:extLst>
      <p:ext uri="{BB962C8B-B14F-4D97-AF65-F5344CB8AC3E}">
        <p14:creationId xmlns:p14="http://schemas.microsoft.com/office/powerpoint/2010/main" val="3272621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Shortest Job First Scheduling</a:t>
            </a:r>
          </a:p>
        </p:txBody>
      </p:sp>
      <p:sp>
        <p:nvSpPr>
          <p:cNvPr id="3" name="Content Placeholder 2"/>
          <p:cNvSpPr>
            <a:spLocks noGrp="1"/>
          </p:cNvSpPr>
          <p:nvPr>
            <p:ph idx="1"/>
          </p:nvPr>
        </p:nvSpPr>
        <p:spPr/>
        <p:txBody>
          <a:bodyPr>
            <a:normAutofit fontScale="92500" lnSpcReduction="20000"/>
          </a:bodyPr>
          <a:lstStyle/>
          <a:p>
            <a:r>
              <a:rPr lang="en-US" dirty="0"/>
              <a:t>Processes P1, P2, P3 and P4 arrive to the CPU in that order at the times given below. The execution time requirements are:</a:t>
            </a:r>
          </a:p>
          <a:p>
            <a:pPr marL="344488" lvl="0">
              <a:lnSpc>
                <a:spcPct val="75000"/>
              </a:lnSpc>
              <a:spcBef>
                <a:spcPct val="50000"/>
              </a:spcBef>
            </a:pPr>
            <a:r>
              <a:rPr lang="en-US" altLang="en-US" u="sng" dirty="0"/>
              <a:t>Process	Arrival Time	Burst Time</a:t>
            </a:r>
            <a:endParaRPr lang="en-US" altLang="en-US" dirty="0"/>
          </a:p>
          <a:p>
            <a:pPr marL="344488" lvl="0" indent="0">
              <a:lnSpc>
                <a:spcPct val="75000"/>
              </a:lnSpc>
              <a:spcBef>
                <a:spcPct val="50000"/>
              </a:spcBef>
              <a:buNone/>
            </a:pPr>
            <a:r>
              <a:rPr lang="en-US" altLang="en-US" dirty="0"/>
              <a:t>P1		0 </a:t>
            </a:r>
            <a:r>
              <a:rPr lang="en-US" altLang="en-US" dirty="0" err="1"/>
              <a:t>ms</a:t>
            </a:r>
            <a:r>
              <a:rPr lang="en-US" altLang="en-US" dirty="0"/>
              <a:t>		7 </a:t>
            </a:r>
            <a:r>
              <a:rPr lang="en-US" altLang="en-US" dirty="0" err="1"/>
              <a:t>ms</a:t>
            </a:r>
            <a:endParaRPr lang="en-US" altLang="en-US" dirty="0"/>
          </a:p>
          <a:p>
            <a:pPr marL="344488" lvl="0" indent="0">
              <a:lnSpc>
                <a:spcPct val="75000"/>
              </a:lnSpc>
              <a:spcBef>
                <a:spcPct val="50000"/>
              </a:spcBef>
              <a:buNone/>
            </a:pPr>
            <a:r>
              <a:rPr lang="en-US" altLang="en-US" dirty="0"/>
              <a:t>P2		2 </a:t>
            </a:r>
            <a:r>
              <a:rPr lang="en-US" altLang="en-US" dirty="0" err="1"/>
              <a:t>ms</a:t>
            </a:r>
            <a:r>
              <a:rPr lang="en-US" altLang="en-US" dirty="0"/>
              <a:t>		4 </a:t>
            </a:r>
            <a:r>
              <a:rPr lang="en-US" altLang="en-US" dirty="0" err="1"/>
              <a:t>ms</a:t>
            </a:r>
            <a:endParaRPr lang="en-US" altLang="en-US" dirty="0"/>
          </a:p>
          <a:p>
            <a:pPr marL="344488" lvl="0" indent="0">
              <a:lnSpc>
                <a:spcPct val="75000"/>
              </a:lnSpc>
              <a:spcBef>
                <a:spcPct val="50000"/>
              </a:spcBef>
              <a:buNone/>
            </a:pPr>
            <a:r>
              <a:rPr lang="en-US" altLang="en-US" dirty="0"/>
              <a:t>P3		4 </a:t>
            </a:r>
            <a:r>
              <a:rPr lang="en-US" altLang="en-US" dirty="0" err="1"/>
              <a:t>ms</a:t>
            </a:r>
            <a:r>
              <a:rPr lang="en-US" altLang="en-US" dirty="0"/>
              <a:t>		1 </a:t>
            </a:r>
            <a:r>
              <a:rPr lang="en-US" altLang="en-US" dirty="0" err="1"/>
              <a:t>ms</a:t>
            </a:r>
            <a:endParaRPr lang="en-US" altLang="en-US" dirty="0"/>
          </a:p>
          <a:p>
            <a:pPr marL="344488" lvl="0" indent="0">
              <a:lnSpc>
                <a:spcPct val="75000"/>
              </a:lnSpc>
              <a:spcBef>
                <a:spcPct val="50000"/>
              </a:spcBef>
              <a:buNone/>
            </a:pPr>
            <a:r>
              <a:rPr lang="en-US" dirty="0"/>
              <a:t>P4		5 </a:t>
            </a:r>
            <a:r>
              <a:rPr lang="en-US" dirty="0" err="1"/>
              <a:t>ms</a:t>
            </a:r>
            <a:r>
              <a:rPr lang="en-US" dirty="0"/>
              <a:t>		4 </a:t>
            </a:r>
            <a:r>
              <a:rPr lang="en-US" dirty="0" err="1"/>
              <a:t>ms</a:t>
            </a:r>
            <a:endParaRPr lang="en-US" dirty="0"/>
          </a:p>
          <a:p>
            <a:pPr>
              <a:lnSpc>
                <a:spcPct val="75000"/>
              </a:lnSpc>
              <a:spcBef>
                <a:spcPct val="50000"/>
              </a:spcBef>
              <a:tabLst>
                <a:tab pos="1430338" algn="l"/>
              </a:tabLst>
            </a:pPr>
            <a:r>
              <a:rPr lang="en-US" dirty="0"/>
              <a:t>What is the average wait time for the processes?</a:t>
            </a:r>
          </a:p>
          <a:p>
            <a:r>
              <a:rPr lang="en-US" altLang="en-US" dirty="0"/>
              <a:t>Waiting times: P1 = 0 </a:t>
            </a:r>
            <a:r>
              <a:rPr lang="en-US" altLang="en-US" dirty="0" err="1"/>
              <a:t>ms</a:t>
            </a:r>
            <a:r>
              <a:rPr lang="en-US" altLang="en-US" dirty="0"/>
              <a:t>, P2 = (8 – 2) = 6 </a:t>
            </a:r>
            <a:r>
              <a:rPr lang="en-US" altLang="en-US" dirty="0" err="1"/>
              <a:t>ms</a:t>
            </a:r>
            <a:r>
              <a:rPr lang="en-US" altLang="en-US" dirty="0"/>
              <a:t>, P3 = (7 – 4) = 3 </a:t>
            </a:r>
            <a:r>
              <a:rPr lang="en-US" altLang="en-US" dirty="0" err="1"/>
              <a:t>ms</a:t>
            </a:r>
            <a:r>
              <a:rPr lang="en-US" altLang="en-US" dirty="0"/>
              <a:t>, </a:t>
            </a:r>
            <a:br>
              <a:rPr lang="en-US" altLang="en-US" dirty="0"/>
            </a:br>
            <a:r>
              <a:rPr lang="en-US" altLang="en-US" dirty="0"/>
              <a:t>P4 = (12 </a:t>
            </a:r>
            <a:r>
              <a:rPr lang="en-US" altLang="en-US"/>
              <a:t>– 5) </a:t>
            </a:r>
            <a:r>
              <a:rPr lang="en-US" altLang="en-US" dirty="0"/>
              <a:t>= 7 </a:t>
            </a:r>
            <a:r>
              <a:rPr lang="en-US" altLang="en-US" dirty="0" err="1"/>
              <a:t>ms</a:t>
            </a:r>
            <a:endParaRPr lang="en-US" altLang="en-US" dirty="0"/>
          </a:p>
          <a:p>
            <a:r>
              <a:rPr lang="en-US" altLang="en-US" dirty="0"/>
              <a:t>Average waiting time:  (0 + 6 + 3 + 7)/4 = 4 </a:t>
            </a:r>
            <a:r>
              <a:rPr lang="en-US" altLang="en-US" dirty="0" err="1"/>
              <a:t>ms</a:t>
            </a:r>
            <a:endParaRPr lang="en-US" altLang="en-US" dirty="0"/>
          </a:p>
        </p:txBody>
      </p:sp>
      <p:grpSp>
        <p:nvGrpSpPr>
          <p:cNvPr id="23" name="Group 22"/>
          <p:cNvGrpSpPr/>
          <p:nvPr/>
        </p:nvGrpSpPr>
        <p:grpSpPr>
          <a:xfrm>
            <a:off x="6096000" y="2959016"/>
            <a:ext cx="5857872" cy="1228725"/>
            <a:chOff x="5987471" y="2128838"/>
            <a:chExt cx="5857872" cy="1228725"/>
          </a:xfrm>
        </p:grpSpPr>
        <p:grpSp>
          <p:nvGrpSpPr>
            <p:cNvPr id="4" name="Group 6"/>
            <p:cNvGrpSpPr>
              <a:grpSpLocks/>
            </p:cNvGrpSpPr>
            <p:nvPr/>
          </p:nvGrpSpPr>
          <p:grpSpPr bwMode="auto">
            <a:xfrm>
              <a:off x="5987471" y="2133600"/>
              <a:ext cx="5857872" cy="1223963"/>
              <a:chOff x="842" y="2688"/>
              <a:chExt cx="3690" cy="771"/>
            </a:xfrm>
          </p:grpSpPr>
          <p:sp>
            <p:nvSpPr>
              <p:cNvPr id="5" name="Rectangle 7"/>
              <p:cNvSpPr>
                <a:spLocks noChangeArrowheads="1"/>
              </p:cNvSpPr>
              <p:nvPr/>
            </p:nvSpPr>
            <p:spPr bwMode="auto">
              <a:xfrm>
                <a:off x="960" y="2688"/>
                <a:ext cx="3142" cy="38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000000"/>
                  </a:solidFill>
                  <a:latin typeface="+mj-lt"/>
                </a:endParaRPr>
              </a:p>
            </p:txBody>
          </p:sp>
          <p:sp>
            <p:nvSpPr>
              <p:cNvPr id="6" name="Text Box 8"/>
              <p:cNvSpPr txBox="1">
                <a:spLocks noChangeArrowheads="1"/>
              </p:cNvSpPr>
              <p:nvPr/>
            </p:nvSpPr>
            <p:spPr bwMode="auto">
              <a:xfrm>
                <a:off x="1405" y="2709"/>
                <a:ext cx="333" cy="29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lang="en-US" altLang="en-US" sz="2400" dirty="0">
                    <a:solidFill>
                      <a:srgbClr val="000000"/>
                    </a:solidFill>
                    <a:latin typeface="+mj-lt"/>
                  </a:rPr>
                  <a:t>P1</a:t>
                </a:r>
              </a:p>
            </p:txBody>
          </p:sp>
          <p:sp>
            <p:nvSpPr>
              <p:cNvPr id="7" name="Text Box 9"/>
              <p:cNvSpPr txBox="1">
                <a:spLocks noChangeArrowheads="1"/>
              </p:cNvSpPr>
              <p:nvPr/>
            </p:nvSpPr>
            <p:spPr bwMode="auto">
              <a:xfrm>
                <a:off x="2923" y="2707"/>
                <a:ext cx="333" cy="29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lang="en-US" altLang="en-US" sz="2400" dirty="0">
                    <a:solidFill>
                      <a:srgbClr val="000000"/>
                    </a:solidFill>
                    <a:latin typeface="+mj-lt"/>
                  </a:rPr>
                  <a:t>P2</a:t>
                </a:r>
              </a:p>
            </p:txBody>
          </p:sp>
          <p:sp>
            <p:nvSpPr>
              <p:cNvPr id="8" name="Text Box 10"/>
              <p:cNvSpPr txBox="1">
                <a:spLocks noChangeArrowheads="1"/>
              </p:cNvSpPr>
              <p:nvPr/>
            </p:nvSpPr>
            <p:spPr bwMode="auto">
              <a:xfrm>
                <a:off x="3638" y="2707"/>
                <a:ext cx="333" cy="29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lang="en-US" altLang="en-US" sz="2400" dirty="0">
                    <a:solidFill>
                      <a:srgbClr val="000000"/>
                    </a:solidFill>
                    <a:latin typeface="+mj-lt"/>
                  </a:rPr>
                  <a:t>P4</a:t>
                </a:r>
              </a:p>
            </p:txBody>
          </p:sp>
          <p:sp>
            <p:nvSpPr>
              <p:cNvPr id="9" name="Line 11"/>
              <p:cNvSpPr>
                <a:spLocks noChangeShapeType="1"/>
              </p:cNvSpPr>
              <p:nvPr/>
            </p:nvSpPr>
            <p:spPr bwMode="auto">
              <a:xfrm>
                <a:off x="960" y="3072"/>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000000"/>
                  </a:solidFill>
                  <a:latin typeface="+mj-lt"/>
                </a:endParaRPr>
              </a:p>
            </p:txBody>
          </p:sp>
          <p:sp>
            <p:nvSpPr>
              <p:cNvPr id="10" name="Line 12"/>
              <p:cNvSpPr>
                <a:spLocks noChangeShapeType="1"/>
              </p:cNvSpPr>
              <p:nvPr/>
            </p:nvSpPr>
            <p:spPr bwMode="auto">
              <a:xfrm>
                <a:off x="4102" y="3069"/>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000000"/>
                  </a:solidFill>
                  <a:latin typeface="+mj-lt"/>
                </a:endParaRPr>
              </a:p>
            </p:txBody>
          </p:sp>
          <p:sp>
            <p:nvSpPr>
              <p:cNvPr id="11" name="Line 13"/>
              <p:cNvSpPr>
                <a:spLocks noChangeShapeType="1"/>
              </p:cNvSpPr>
              <p:nvPr/>
            </p:nvSpPr>
            <p:spPr bwMode="auto">
              <a:xfrm>
                <a:off x="2716" y="2688"/>
                <a:ext cx="0"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000000"/>
                  </a:solidFill>
                  <a:latin typeface="+mj-lt"/>
                </a:endParaRPr>
              </a:p>
            </p:txBody>
          </p:sp>
          <p:sp>
            <p:nvSpPr>
              <p:cNvPr id="12" name="Line 14"/>
              <p:cNvSpPr>
                <a:spLocks noChangeShapeType="1"/>
              </p:cNvSpPr>
              <p:nvPr/>
            </p:nvSpPr>
            <p:spPr bwMode="auto">
              <a:xfrm>
                <a:off x="3463" y="2688"/>
                <a:ext cx="0"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000000"/>
                  </a:solidFill>
                  <a:latin typeface="+mj-lt"/>
                </a:endParaRPr>
              </a:p>
            </p:txBody>
          </p:sp>
          <p:sp>
            <p:nvSpPr>
              <p:cNvPr id="13" name="Line 15"/>
              <p:cNvSpPr>
                <a:spLocks noChangeShapeType="1"/>
              </p:cNvSpPr>
              <p:nvPr/>
            </p:nvSpPr>
            <p:spPr bwMode="auto">
              <a:xfrm>
                <a:off x="2716" y="3072"/>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000000"/>
                  </a:solidFill>
                  <a:latin typeface="+mj-lt"/>
                </a:endParaRPr>
              </a:p>
            </p:txBody>
          </p:sp>
          <p:sp>
            <p:nvSpPr>
              <p:cNvPr id="14" name="Line 16"/>
              <p:cNvSpPr>
                <a:spLocks noChangeShapeType="1"/>
              </p:cNvSpPr>
              <p:nvPr/>
            </p:nvSpPr>
            <p:spPr bwMode="auto">
              <a:xfrm>
                <a:off x="3463" y="3072"/>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000000"/>
                  </a:solidFill>
                  <a:latin typeface="+mj-lt"/>
                </a:endParaRPr>
              </a:p>
            </p:txBody>
          </p:sp>
          <p:sp>
            <p:nvSpPr>
              <p:cNvPr id="15" name="Text Box 17"/>
              <p:cNvSpPr txBox="1">
                <a:spLocks noChangeArrowheads="1"/>
              </p:cNvSpPr>
              <p:nvPr/>
            </p:nvSpPr>
            <p:spPr bwMode="auto">
              <a:xfrm>
                <a:off x="2598" y="3168"/>
                <a:ext cx="223" cy="29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lang="en-US" altLang="en-US" sz="2400" dirty="0">
                    <a:solidFill>
                      <a:srgbClr val="000000"/>
                    </a:solidFill>
                    <a:latin typeface="+mj-lt"/>
                  </a:rPr>
                  <a:t>8</a:t>
                </a:r>
              </a:p>
            </p:txBody>
          </p:sp>
          <p:sp>
            <p:nvSpPr>
              <p:cNvPr id="16" name="Text Box 18"/>
              <p:cNvSpPr txBox="1">
                <a:spLocks noChangeArrowheads="1"/>
              </p:cNvSpPr>
              <p:nvPr/>
            </p:nvSpPr>
            <p:spPr bwMode="auto">
              <a:xfrm>
                <a:off x="3291" y="3168"/>
                <a:ext cx="330" cy="29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lang="en-US" altLang="en-US" sz="2400" dirty="0">
                    <a:solidFill>
                      <a:srgbClr val="000000"/>
                    </a:solidFill>
                    <a:latin typeface="+mj-lt"/>
                  </a:rPr>
                  <a:t>12</a:t>
                </a:r>
              </a:p>
            </p:txBody>
          </p:sp>
          <p:sp>
            <p:nvSpPr>
              <p:cNvPr id="17" name="Text Box 19"/>
              <p:cNvSpPr txBox="1">
                <a:spLocks noChangeArrowheads="1"/>
              </p:cNvSpPr>
              <p:nvPr/>
            </p:nvSpPr>
            <p:spPr bwMode="auto">
              <a:xfrm>
                <a:off x="3914" y="3168"/>
                <a:ext cx="618" cy="29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pPr>
                <a:r>
                  <a:rPr lang="en-US" altLang="en-US" sz="2400" dirty="0">
                    <a:solidFill>
                      <a:srgbClr val="000000"/>
                    </a:solidFill>
                    <a:latin typeface="+mj-lt"/>
                  </a:rPr>
                  <a:t>16 </a:t>
                </a:r>
                <a:r>
                  <a:rPr lang="en-US" altLang="en-US" sz="2400" dirty="0" err="1">
                    <a:solidFill>
                      <a:srgbClr val="000000"/>
                    </a:solidFill>
                    <a:latin typeface="+mj-lt"/>
                  </a:rPr>
                  <a:t>ms</a:t>
                </a:r>
                <a:endParaRPr lang="en-US" altLang="en-US" sz="2400" dirty="0">
                  <a:solidFill>
                    <a:srgbClr val="000000"/>
                  </a:solidFill>
                  <a:latin typeface="+mj-lt"/>
                </a:endParaRPr>
              </a:p>
            </p:txBody>
          </p:sp>
          <p:sp>
            <p:nvSpPr>
              <p:cNvPr id="18" name="Text Box 20"/>
              <p:cNvSpPr txBox="1">
                <a:spLocks noChangeArrowheads="1"/>
              </p:cNvSpPr>
              <p:nvPr/>
            </p:nvSpPr>
            <p:spPr bwMode="auto">
              <a:xfrm>
                <a:off x="842" y="3165"/>
                <a:ext cx="223" cy="29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lang="en-US" altLang="en-US" sz="2400" dirty="0">
                    <a:solidFill>
                      <a:srgbClr val="000000"/>
                    </a:solidFill>
                    <a:latin typeface="+mj-lt"/>
                  </a:rPr>
                  <a:t>0</a:t>
                </a:r>
              </a:p>
            </p:txBody>
          </p:sp>
        </p:grpSp>
        <p:sp>
          <p:nvSpPr>
            <p:cNvPr id="19" name="Line 14"/>
            <p:cNvSpPr>
              <a:spLocks noChangeShapeType="1"/>
            </p:cNvSpPr>
            <p:nvPr/>
          </p:nvSpPr>
          <p:spPr bwMode="auto">
            <a:xfrm>
              <a:off x="8079288" y="2128838"/>
              <a:ext cx="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000000"/>
                </a:solidFill>
                <a:latin typeface="+mj-lt"/>
              </a:endParaRPr>
            </a:p>
          </p:txBody>
        </p:sp>
        <p:sp>
          <p:nvSpPr>
            <p:cNvPr id="20" name="Line 16"/>
            <p:cNvSpPr>
              <a:spLocks noChangeShapeType="1"/>
            </p:cNvSpPr>
            <p:nvPr/>
          </p:nvSpPr>
          <p:spPr bwMode="auto">
            <a:xfrm>
              <a:off x="8079288" y="2738438"/>
              <a:ext cx="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000000"/>
                </a:solidFill>
                <a:latin typeface="+mj-lt"/>
              </a:endParaRPr>
            </a:p>
          </p:txBody>
        </p:sp>
        <p:sp>
          <p:nvSpPr>
            <p:cNvPr id="21" name="Text Box 18"/>
            <p:cNvSpPr txBox="1">
              <a:spLocks noChangeArrowheads="1"/>
            </p:cNvSpPr>
            <p:nvPr/>
          </p:nvSpPr>
          <p:spPr bwMode="auto">
            <a:xfrm>
              <a:off x="7892471" y="2890987"/>
              <a:ext cx="354584"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lang="en-US" altLang="en-US" sz="2400" dirty="0">
                  <a:solidFill>
                    <a:srgbClr val="000000"/>
                  </a:solidFill>
                  <a:latin typeface="+mj-lt"/>
                </a:rPr>
                <a:t>7</a:t>
              </a:r>
            </a:p>
          </p:txBody>
        </p:sp>
        <p:sp>
          <p:nvSpPr>
            <p:cNvPr id="22" name="Text Box 8"/>
            <p:cNvSpPr txBox="1">
              <a:spLocks noChangeArrowheads="1"/>
            </p:cNvSpPr>
            <p:nvPr/>
          </p:nvSpPr>
          <p:spPr bwMode="auto">
            <a:xfrm>
              <a:off x="8262138" y="2163762"/>
              <a:ext cx="528637" cy="4619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lang="en-US" altLang="en-US" sz="2400" dirty="0">
                  <a:solidFill>
                    <a:srgbClr val="000000"/>
                  </a:solidFill>
                  <a:latin typeface="+mj-lt"/>
                </a:rPr>
                <a:t>P3</a:t>
              </a:r>
            </a:p>
          </p:txBody>
        </p:sp>
      </p:grpSp>
    </p:spTree>
    <p:extLst>
      <p:ext uri="{BB962C8B-B14F-4D97-AF65-F5344CB8AC3E}">
        <p14:creationId xmlns:p14="http://schemas.microsoft.com/office/powerpoint/2010/main" val="1575869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Round Robin Scheduling</a:t>
            </a:r>
          </a:p>
        </p:txBody>
      </p:sp>
      <p:sp>
        <p:nvSpPr>
          <p:cNvPr id="3" name="Content Placeholder 2"/>
          <p:cNvSpPr>
            <a:spLocks noGrp="1"/>
          </p:cNvSpPr>
          <p:nvPr>
            <p:ph idx="1"/>
          </p:nvPr>
        </p:nvSpPr>
        <p:spPr/>
        <p:txBody>
          <a:bodyPr>
            <a:normAutofit fontScale="92500" lnSpcReduction="10000"/>
          </a:bodyPr>
          <a:lstStyle/>
          <a:p>
            <a:r>
              <a:rPr lang="en-US" dirty="0"/>
              <a:t>Processes P1, P2, P3 and P4 arrive to the CPU in that order, all at around time </a:t>
            </a:r>
            <a:br>
              <a:rPr lang="en-US" dirty="0"/>
            </a:br>
            <a:r>
              <a:rPr lang="en-US" dirty="0"/>
              <a:t>0 </a:t>
            </a:r>
            <a:r>
              <a:rPr lang="en-US" dirty="0" err="1"/>
              <a:t>ms.</a:t>
            </a:r>
            <a:r>
              <a:rPr lang="en-US" dirty="0"/>
              <a:t> Round robin scheduling is being used with a time quantum of 20 </a:t>
            </a:r>
            <a:r>
              <a:rPr lang="en-US" dirty="0" err="1"/>
              <a:t>ms.</a:t>
            </a:r>
            <a:endParaRPr lang="en-US" dirty="0"/>
          </a:p>
          <a:p>
            <a:pPr marL="344488" lvl="0">
              <a:lnSpc>
                <a:spcPct val="75000"/>
              </a:lnSpc>
              <a:spcBef>
                <a:spcPct val="50000"/>
              </a:spcBef>
            </a:pPr>
            <a:r>
              <a:rPr lang="en-US" altLang="en-US" u="sng" dirty="0"/>
              <a:t>Process	Burst Time	Time Remaining			</a:t>
            </a:r>
            <a:endParaRPr lang="en-US" altLang="en-US" dirty="0"/>
          </a:p>
          <a:p>
            <a:pPr marL="344488" lvl="0" indent="0">
              <a:lnSpc>
                <a:spcPct val="75000"/>
              </a:lnSpc>
              <a:spcBef>
                <a:spcPct val="50000"/>
              </a:spcBef>
              <a:buNone/>
            </a:pPr>
            <a:r>
              <a:rPr lang="en-US" altLang="en-US" dirty="0"/>
              <a:t>P1		53 </a:t>
            </a:r>
            <a:r>
              <a:rPr lang="en-US" altLang="en-US" dirty="0" err="1"/>
              <a:t>ms</a:t>
            </a:r>
            <a:r>
              <a:rPr lang="en-US" altLang="en-US" dirty="0"/>
              <a:t>		53 – 20 </a:t>
            </a:r>
            <a:r>
              <a:rPr lang="en-US" altLang="en-US" dirty="0">
                <a:sym typeface="Wingdings" panose="05000000000000000000" pitchFamily="2" charset="2"/>
              </a:rPr>
              <a:t> 33 – 20  13  0</a:t>
            </a:r>
            <a:endParaRPr lang="en-US" altLang="en-US" dirty="0"/>
          </a:p>
          <a:p>
            <a:pPr marL="344488" lvl="0" indent="0">
              <a:lnSpc>
                <a:spcPct val="75000"/>
              </a:lnSpc>
              <a:spcBef>
                <a:spcPct val="50000"/>
              </a:spcBef>
              <a:buNone/>
            </a:pPr>
            <a:r>
              <a:rPr lang="en-US" altLang="en-US" dirty="0"/>
              <a:t>P2		17 </a:t>
            </a:r>
            <a:r>
              <a:rPr lang="en-US" altLang="en-US" dirty="0" err="1"/>
              <a:t>ms</a:t>
            </a:r>
            <a:r>
              <a:rPr lang="en-US" altLang="en-US" dirty="0"/>
              <a:t>		17 </a:t>
            </a:r>
            <a:r>
              <a:rPr lang="en-US" altLang="en-US" dirty="0">
                <a:sym typeface="Wingdings" panose="05000000000000000000" pitchFamily="2" charset="2"/>
              </a:rPr>
              <a:t> 0</a:t>
            </a:r>
            <a:endParaRPr lang="en-US" altLang="en-US" dirty="0"/>
          </a:p>
          <a:p>
            <a:pPr marL="344488" lvl="0" indent="0">
              <a:lnSpc>
                <a:spcPct val="75000"/>
              </a:lnSpc>
              <a:spcBef>
                <a:spcPct val="50000"/>
              </a:spcBef>
              <a:buNone/>
            </a:pPr>
            <a:r>
              <a:rPr lang="en-US" altLang="en-US" dirty="0"/>
              <a:t>P3		68 </a:t>
            </a:r>
            <a:r>
              <a:rPr lang="en-US" altLang="en-US" dirty="0" err="1"/>
              <a:t>ms</a:t>
            </a:r>
            <a:r>
              <a:rPr lang="en-US" altLang="en-US" dirty="0"/>
              <a:t>		68 </a:t>
            </a:r>
            <a:r>
              <a:rPr lang="en-US" dirty="0"/>
              <a:t>– 20 </a:t>
            </a:r>
            <a:r>
              <a:rPr lang="en-US" altLang="en-US" dirty="0">
                <a:sym typeface="Wingdings" panose="05000000000000000000" pitchFamily="2" charset="2"/>
              </a:rPr>
              <a:t> 48 </a:t>
            </a:r>
            <a:r>
              <a:rPr lang="en-US" dirty="0"/>
              <a:t>– 20 </a:t>
            </a:r>
            <a:r>
              <a:rPr lang="en-US" altLang="en-US" dirty="0">
                <a:sym typeface="Wingdings" panose="05000000000000000000" pitchFamily="2" charset="2"/>
              </a:rPr>
              <a:t> 28 </a:t>
            </a:r>
            <a:r>
              <a:rPr lang="en-US" dirty="0"/>
              <a:t>– 20 </a:t>
            </a:r>
            <a:r>
              <a:rPr lang="en-US" altLang="en-US" dirty="0">
                <a:sym typeface="Wingdings" panose="05000000000000000000" pitchFamily="2" charset="2"/>
              </a:rPr>
              <a:t> 8</a:t>
            </a:r>
            <a:endParaRPr lang="en-US" altLang="en-US" dirty="0"/>
          </a:p>
          <a:p>
            <a:pPr marL="344488" lvl="0" indent="0">
              <a:lnSpc>
                <a:spcPct val="75000"/>
              </a:lnSpc>
              <a:spcBef>
                <a:spcPct val="50000"/>
              </a:spcBef>
              <a:buNone/>
            </a:pPr>
            <a:r>
              <a:rPr lang="en-US" dirty="0"/>
              <a:t>P4		24 </a:t>
            </a:r>
            <a:r>
              <a:rPr lang="en-US" dirty="0" err="1"/>
              <a:t>ms</a:t>
            </a:r>
            <a:r>
              <a:rPr lang="en-US" dirty="0"/>
              <a:t>		24 – 20 </a:t>
            </a:r>
            <a:r>
              <a:rPr lang="en-US" dirty="0">
                <a:sym typeface="Wingdings" panose="05000000000000000000" pitchFamily="2" charset="2"/>
              </a:rPr>
              <a:t> 4  0</a:t>
            </a:r>
            <a:endParaRPr lang="en-US" dirty="0"/>
          </a:p>
          <a:p>
            <a:pPr>
              <a:lnSpc>
                <a:spcPct val="75000"/>
              </a:lnSpc>
              <a:spcBef>
                <a:spcPct val="50000"/>
              </a:spcBef>
              <a:tabLst>
                <a:tab pos="1430338" algn="l"/>
              </a:tabLst>
            </a:pPr>
            <a:r>
              <a:rPr lang="en-US" altLang="en-US" dirty="0"/>
              <a:t>The Gantt chart below illustrates when each process will execute on the CPU</a:t>
            </a:r>
          </a:p>
        </p:txBody>
      </p:sp>
      <p:grpSp>
        <p:nvGrpSpPr>
          <p:cNvPr id="24" name="Group 5"/>
          <p:cNvGrpSpPr>
            <a:grpSpLocks/>
          </p:cNvGrpSpPr>
          <p:nvPr/>
        </p:nvGrpSpPr>
        <p:grpSpPr bwMode="auto">
          <a:xfrm>
            <a:off x="1275348" y="5838073"/>
            <a:ext cx="9838847" cy="1023938"/>
            <a:chOff x="1082" y="2640"/>
            <a:chExt cx="3956" cy="645"/>
          </a:xfrm>
        </p:grpSpPr>
        <p:grpSp>
          <p:nvGrpSpPr>
            <p:cNvPr id="25" name="Group 6"/>
            <p:cNvGrpSpPr>
              <a:grpSpLocks/>
            </p:cNvGrpSpPr>
            <p:nvPr/>
          </p:nvGrpSpPr>
          <p:grpSpPr bwMode="auto">
            <a:xfrm>
              <a:off x="1152" y="2640"/>
              <a:ext cx="3552" cy="384"/>
              <a:chOff x="1152" y="2736"/>
              <a:chExt cx="2880" cy="288"/>
            </a:xfrm>
          </p:grpSpPr>
          <p:sp>
            <p:nvSpPr>
              <p:cNvPr id="37" name="Rectangle 7"/>
              <p:cNvSpPr>
                <a:spLocks noChangeArrowheads="1"/>
              </p:cNvSpPr>
              <p:nvPr/>
            </p:nvSpPr>
            <p:spPr bwMode="auto">
              <a:xfrm>
                <a:off x="1152" y="2736"/>
                <a:ext cx="288"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sz="2400" dirty="0">
                    <a:solidFill>
                      <a:srgbClr val="000000"/>
                    </a:solidFill>
                    <a:latin typeface="+mj-lt"/>
                  </a:rPr>
                  <a:t>P</a:t>
                </a:r>
                <a:r>
                  <a:rPr lang="en-US" altLang="en-US" sz="2400" baseline="-25000" dirty="0">
                    <a:solidFill>
                      <a:srgbClr val="000000"/>
                    </a:solidFill>
                    <a:latin typeface="+mj-lt"/>
                  </a:rPr>
                  <a:t>1</a:t>
                </a:r>
                <a:endParaRPr lang="en-US" altLang="en-US" sz="2400" dirty="0">
                  <a:solidFill>
                    <a:srgbClr val="000000"/>
                  </a:solidFill>
                  <a:latin typeface="+mj-lt"/>
                </a:endParaRPr>
              </a:p>
            </p:txBody>
          </p:sp>
          <p:sp>
            <p:nvSpPr>
              <p:cNvPr id="38" name="Rectangle 8"/>
              <p:cNvSpPr>
                <a:spLocks noChangeArrowheads="1"/>
              </p:cNvSpPr>
              <p:nvPr/>
            </p:nvSpPr>
            <p:spPr bwMode="auto">
              <a:xfrm>
                <a:off x="1440" y="2736"/>
                <a:ext cx="288"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sz="2400">
                    <a:solidFill>
                      <a:srgbClr val="000000"/>
                    </a:solidFill>
                    <a:latin typeface="+mj-lt"/>
                  </a:rPr>
                  <a:t>P</a:t>
                </a:r>
                <a:r>
                  <a:rPr lang="en-US" altLang="en-US" sz="2400" baseline="-25000">
                    <a:solidFill>
                      <a:srgbClr val="000000"/>
                    </a:solidFill>
                    <a:latin typeface="+mj-lt"/>
                  </a:rPr>
                  <a:t>2</a:t>
                </a:r>
              </a:p>
            </p:txBody>
          </p:sp>
          <p:sp>
            <p:nvSpPr>
              <p:cNvPr id="39" name="Rectangle 9"/>
              <p:cNvSpPr>
                <a:spLocks noChangeArrowheads="1"/>
              </p:cNvSpPr>
              <p:nvPr/>
            </p:nvSpPr>
            <p:spPr bwMode="auto">
              <a:xfrm>
                <a:off x="1728" y="2736"/>
                <a:ext cx="288"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sz="2400">
                    <a:solidFill>
                      <a:srgbClr val="000000"/>
                    </a:solidFill>
                    <a:latin typeface="+mj-lt"/>
                  </a:rPr>
                  <a:t>P</a:t>
                </a:r>
                <a:r>
                  <a:rPr lang="en-US" altLang="en-US" sz="2400" baseline="-25000">
                    <a:solidFill>
                      <a:srgbClr val="000000"/>
                    </a:solidFill>
                    <a:latin typeface="+mj-lt"/>
                  </a:rPr>
                  <a:t>3</a:t>
                </a:r>
              </a:p>
            </p:txBody>
          </p:sp>
          <p:sp>
            <p:nvSpPr>
              <p:cNvPr id="40" name="Rectangle 10"/>
              <p:cNvSpPr>
                <a:spLocks noChangeArrowheads="1"/>
              </p:cNvSpPr>
              <p:nvPr/>
            </p:nvSpPr>
            <p:spPr bwMode="auto">
              <a:xfrm>
                <a:off x="2016" y="2736"/>
                <a:ext cx="288"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sz="2400">
                    <a:solidFill>
                      <a:srgbClr val="000000"/>
                    </a:solidFill>
                    <a:latin typeface="+mj-lt"/>
                  </a:rPr>
                  <a:t>P</a:t>
                </a:r>
                <a:r>
                  <a:rPr lang="en-US" altLang="en-US" sz="2400" baseline="-25000">
                    <a:solidFill>
                      <a:srgbClr val="000000"/>
                    </a:solidFill>
                    <a:latin typeface="+mj-lt"/>
                  </a:rPr>
                  <a:t>4</a:t>
                </a:r>
              </a:p>
            </p:txBody>
          </p:sp>
          <p:sp>
            <p:nvSpPr>
              <p:cNvPr id="41" name="Rectangle 11"/>
              <p:cNvSpPr>
                <a:spLocks noChangeArrowheads="1"/>
              </p:cNvSpPr>
              <p:nvPr/>
            </p:nvSpPr>
            <p:spPr bwMode="auto">
              <a:xfrm>
                <a:off x="2304" y="2736"/>
                <a:ext cx="288"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sz="2400">
                    <a:solidFill>
                      <a:srgbClr val="000000"/>
                    </a:solidFill>
                    <a:latin typeface="+mj-lt"/>
                  </a:rPr>
                  <a:t>P</a:t>
                </a:r>
                <a:r>
                  <a:rPr lang="en-US" altLang="en-US" sz="2400" baseline="-25000">
                    <a:solidFill>
                      <a:srgbClr val="000000"/>
                    </a:solidFill>
                    <a:latin typeface="+mj-lt"/>
                  </a:rPr>
                  <a:t>1</a:t>
                </a:r>
              </a:p>
            </p:txBody>
          </p:sp>
          <p:sp>
            <p:nvSpPr>
              <p:cNvPr id="42" name="Rectangle 12"/>
              <p:cNvSpPr>
                <a:spLocks noChangeArrowheads="1"/>
              </p:cNvSpPr>
              <p:nvPr/>
            </p:nvSpPr>
            <p:spPr bwMode="auto">
              <a:xfrm>
                <a:off x="2592" y="2736"/>
                <a:ext cx="288"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sz="2400">
                    <a:solidFill>
                      <a:srgbClr val="000000"/>
                    </a:solidFill>
                    <a:latin typeface="+mj-lt"/>
                  </a:rPr>
                  <a:t>P</a:t>
                </a:r>
                <a:r>
                  <a:rPr lang="en-US" altLang="en-US" sz="2400" baseline="-25000">
                    <a:solidFill>
                      <a:srgbClr val="000000"/>
                    </a:solidFill>
                    <a:latin typeface="+mj-lt"/>
                  </a:rPr>
                  <a:t>3</a:t>
                </a:r>
              </a:p>
            </p:txBody>
          </p:sp>
          <p:sp>
            <p:nvSpPr>
              <p:cNvPr id="43" name="Rectangle 13"/>
              <p:cNvSpPr>
                <a:spLocks noChangeArrowheads="1"/>
              </p:cNvSpPr>
              <p:nvPr/>
            </p:nvSpPr>
            <p:spPr bwMode="auto">
              <a:xfrm>
                <a:off x="2880" y="2736"/>
                <a:ext cx="288"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sz="2400">
                    <a:solidFill>
                      <a:srgbClr val="000000"/>
                    </a:solidFill>
                    <a:latin typeface="+mj-lt"/>
                  </a:rPr>
                  <a:t>P</a:t>
                </a:r>
                <a:r>
                  <a:rPr lang="en-US" altLang="en-US" sz="2400" baseline="-25000">
                    <a:solidFill>
                      <a:srgbClr val="000000"/>
                    </a:solidFill>
                    <a:latin typeface="+mj-lt"/>
                  </a:rPr>
                  <a:t>4</a:t>
                </a:r>
              </a:p>
            </p:txBody>
          </p:sp>
          <p:sp>
            <p:nvSpPr>
              <p:cNvPr id="44" name="Rectangle 14"/>
              <p:cNvSpPr>
                <a:spLocks noChangeArrowheads="1"/>
              </p:cNvSpPr>
              <p:nvPr/>
            </p:nvSpPr>
            <p:spPr bwMode="auto">
              <a:xfrm>
                <a:off x="3168" y="2736"/>
                <a:ext cx="288"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sz="2400">
                    <a:solidFill>
                      <a:srgbClr val="000000"/>
                    </a:solidFill>
                    <a:latin typeface="+mj-lt"/>
                  </a:rPr>
                  <a:t>P</a:t>
                </a:r>
                <a:r>
                  <a:rPr lang="en-US" altLang="en-US" sz="2400" baseline="-25000">
                    <a:solidFill>
                      <a:srgbClr val="000000"/>
                    </a:solidFill>
                    <a:latin typeface="+mj-lt"/>
                  </a:rPr>
                  <a:t>1</a:t>
                </a:r>
              </a:p>
            </p:txBody>
          </p:sp>
          <p:sp>
            <p:nvSpPr>
              <p:cNvPr id="45" name="Rectangle 15"/>
              <p:cNvSpPr>
                <a:spLocks noChangeArrowheads="1"/>
              </p:cNvSpPr>
              <p:nvPr/>
            </p:nvSpPr>
            <p:spPr bwMode="auto">
              <a:xfrm>
                <a:off x="3456" y="2736"/>
                <a:ext cx="288"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sz="2400">
                    <a:solidFill>
                      <a:srgbClr val="000000"/>
                    </a:solidFill>
                    <a:latin typeface="+mj-lt"/>
                  </a:rPr>
                  <a:t>P</a:t>
                </a:r>
                <a:r>
                  <a:rPr lang="en-US" altLang="en-US" sz="2400" baseline="-25000">
                    <a:solidFill>
                      <a:srgbClr val="000000"/>
                    </a:solidFill>
                    <a:latin typeface="+mj-lt"/>
                  </a:rPr>
                  <a:t>3</a:t>
                </a:r>
              </a:p>
            </p:txBody>
          </p:sp>
          <p:sp>
            <p:nvSpPr>
              <p:cNvPr id="46" name="Rectangle 16"/>
              <p:cNvSpPr>
                <a:spLocks noChangeArrowheads="1"/>
              </p:cNvSpPr>
              <p:nvPr/>
            </p:nvSpPr>
            <p:spPr bwMode="auto">
              <a:xfrm>
                <a:off x="3744" y="2736"/>
                <a:ext cx="288"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sz="2400">
                    <a:solidFill>
                      <a:srgbClr val="000000"/>
                    </a:solidFill>
                    <a:latin typeface="+mj-lt"/>
                  </a:rPr>
                  <a:t>P</a:t>
                </a:r>
                <a:r>
                  <a:rPr lang="en-US" altLang="en-US" sz="2400" baseline="-25000">
                    <a:solidFill>
                      <a:srgbClr val="000000"/>
                    </a:solidFill>
                    <a:latin typeface="+mj-lt"/>
                  </a:rPr>
                  <a:t>3</a:t>
                </a:r>
              </a:p>
            </p:txBody>
          </p:sp>
        </p:grpSp>
        <p:sp>
          <p:nvSpPr>
            <p:cNvPr id="26" name="Text Box 17"/>
            <p:cNvSpPr txBox="1">
              <a:spLocks noChangeArrowheads="1"/>
            </p:cNvSpPr>
            <p:nvPr/>
          </p:nvSpPr>
          <p:spPr bwMode="auto">
            <a:xfrm>
              <a:off x="1082" y="2994"/>
              <a:ext cx="143" cy="29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lang="en-US" altLang="en-US" sz="2400">
                  <a:solidFill>
                    <a:srgbClr val="000000"/>
                  </a:solidFill>
                  <a:latin typeface="+mj-lt"/>
                </a:rPr>
                <a:t>0</a:t>
              </a:r>
            </a:p>
          </p:txBody>
        </p:sp>
        <p:sp>
          <p:nvSpPr>
            <p:cNvPr id="27" name="Text Box 18"/>
            <p:cNvSpPr txBox="1">
              <a:spLocks noChangeArrowheads="1"/>
            </p:cNvSpPr>
            <p:nvPr/>
          </p:nvSpPr>
          <p:spPr bwMode="auto">
            <a:xfrm>
              <a:off x="1385" y="2994"/>
              <a:ext cx="211" cy="29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lang="en-US" altLang="en-US" sz="2400">
                  <a:solidFill>
                    <a:srgbClr val="000000"/>
                  </a:solidFill>
                  <a:latin typeface="+mj-lt"/>
                </a:rPr>
                <a:t>20</a:t>
              </a:r>
            </a:p>
          </p:txBody>
        </p:sp>
        <p:sp>
          <p:nvSpPr>
            <p:cNvPr id="28" name="Text Box 19"/>
            <p:cNvSpPr txBox="1">
              <a:spLocks noChangeArrowheads="1"/>
            </p:cNvSpPr>
            <p:nvPr/>
          </p:nvSpPr>
          <p:spPr bwMode="auto">
            <a:xfrm>
              <a:off x="1721" y="2994"/>
              <a:ext cx="211" cy="29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lang="en-US" altLang="en-US" sz="2400">
                  <a:solidFill>
                    <a:srgbClr val="000000"/>
                  </a:solidFill>
                  <a:latin typeface="+mj-lt"/>
                </a:rPr>
                <a:t>37</a:t>
              </a:r>
            </a:p>
          </p:txBody>
        </p:sp>
        <p:sp>
          <p:nvSpPr>
            <p:cNvPr id="29" name="Text Box 20"/>
            <p:cNvSpPr txBox="1">
              <a:spLocks noChangeArrowheads="1"/>
            </p:cNvSpPr>
            <p:nvPr/>
          </p:nvSpPr>
          <p:spPr bwMode="auto">
            <a:xfrm>
              <a:off x="2101" y="2994"/>
              <a:ext cx="211" cy="29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lang="en-US" altLang="en-US" sz="2400">
                  <a:solidFill>
                    <a:srgbClr val="000000"/>
                  </a:solidFill>
                  <a:latin typeface="+mj-lt"/>
                </a:rPr>
                <a:t>57</a:t>
              </a:r>
            </a:p>
          </p:txBody>
        </p:sp>
        <p:sp>
          <p:nvSpPr>
            <p:cNvPr id="30" name="Text Box 21"/>
            <p:cNvSpPr txBox="1">
              <a:spLocks noChangeArrowheads="1"/>
            </p:cNvSpPr>
            <p:nvPr/>
          </p:nvSpPr>
          <p:spPr bwMode="auto">
            <a:xfrm>
              <a:off x="2489" y="2994"/>
              <a:ext cx="211" cy="29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lang="en-US" altLang="en-US" sz="2400">
                  <a:solidFill>
                    <a:srgbClr val="000000"/>
                  </a:solidFill>
                  <a:latin typeface="+mj-lt"/>
                </a:rPr>
                <a:t>77</a:t>
              </a:r>
            </a:p>
          </p:txBody>
        </p:sp>
        <p:sp>
          <p:nvSpPr>
            <p:cNvPr id="31" name="Text Box 22"/>
            <p:cNvSpPr txBox="1">
              <a:spLocks noChangeArrowheads="1"/>
            </p:cNvSpPr>
            <p:nvPr/>
          </p:nvSpPr>
          <p:spPr bwMode="auto">
            <a:xfrm>
              <a:off x="2825" y="2994"/>
              <a:ext cx="211" cy="29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lang="en-US" altLang="en-US" sz="2400">
                  <a:solidFill>
                    <a:srgbClr val="000000"/>
                  </a:solidFill>
                  <a:latin typeface="+mj-lt"/>
                </a:rPr>
                <a:t>97</a:t>
              </a:r>
            </a:p>
          </p:txBody>
        </p:sp>
        <p:sp>
          <p:nvSpPr>
            <p:cNvPr id="32" name="Text Box 23"/>
            <p:cNvSpPr txBox="1">
              <a:spLocks noChangeArrowheads="1"/>
            </p:cNvSpPr>
            <p:nvPr/>
          </p:nvSpPr>
          <p:spPr bwMode="auto">
            <a:xfrm>
              <a:off x="3126" y="2994"/>
              <a:ext cx="279" cy="29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lang="en-US" altLang="en-US" sz="2400">
                  <a:solidFill>
                    <a:srgbClr val="000000"/>
                  </a:solidFill>
                  <a:latin typeface="+mj-lt"/>
                </a:rPr>
                <a:t>117</a:t>
              </a:r>
            </a:p>
          </p:txBody>
        </p:sp>
        <p:sp>
          <p:nvSpPr>
            <p:cNvPr id="33" name="Text Box 24"/>
            <p:cNvSpPr txBox="1">
              <a:spLocks noChangeArrowheads="1"/>
            </p:cNvSpPr>
            <p:nvPr/>
          </p:nvSpPr>
          <p:spPr bwMode="auto">
            <a:xfrm>
              <a:off x="3510" y="2994"/>
              <a:ext cx="279" cy="29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lang="en-US" altLang="en-US" sz="2400">
                  <a:solidFill>
                    <a:srgbClr val="000000"/>
                  </a:solidFill>
                  <a:latin typeface="+mj-lt"/>
                </a:rPr>
                <a:t>121</a:t>
              </a:r>
            </a:p>
          </p:txBody>
        </p:sp>
        <p:sp>
          <p:nvSpPr>
            <p:cNvPr id="34" name="Text Box 25"/>
            <p:cNvSpPr txBox="1">
              <a:spLocks noChangeArrowheads="1"/>
            </p:cNvSpPr>
            <p:nvPr/>
          </p:nvSpPr>
          <p:spPr bwMode="auto">
            <a:xfrm>
              <a:off x="3846" y="2994"/>
              <a:ext cx="279" cy="29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lang="en-US" altLang="en-US" sz="2400">
                  <a:solidFill>
                    <a:srgbClr val="000000"/>
                  </a:solidFill>
                  <a:latin typeface="+mj-lt"/>
                </a:rPr>
                <a:t>134</a:t>
              </a:r>
            </a:p>
          </p:txBody>
        </p:sp>
        <p:sp>
          <p:nvSpPr>
            <p:cNvPr id="35" name="Text Box 26"/>
            <p:cNvSpPr txBox="1">
              <a:spLocks noChangeArrowheads="1"/>
            </p:cNvSpPr>
            <p:nvPr/>
          </p:nvSpPr>
          <p:spPr bwMode="auto">
            <a:xfrm>
              <a:off x="4214" y="2994"/>
              <a:ext cx="279" cy="29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lang="en-US" altLang="en-US" sz="2400">
                  <a:solidFill>
                    <a:srgbClr val="000000"/>
                  </a:solidFill>
                  <a:latin typeface="+mj-lt"/>
                </a:rPr>
                <a:t>154</a:t>
              </a:r>
            </a:p>
          </p:txBody>
        </p:sp>
        <p:sp>
          <p:nvSpPr>
            <p:cNvPr id="36" name="Text Box 27"/>
            <p:cNvSpPr txBox="1">
              <a:spLocks noChangeArrowheads="1"/>
            </p:cNvSpPr>
            <p:nvPr/>
          </p:nvSpPr>
          <p:spPr bwMode="auto">
            <a:xfrm>
              <a:off x="4575" y="2994"/>
              <a:ext cx="463" cy="29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lang="en-US" altLang="en-US" sz="2400" dirty="0">
                  <a:solidFill>
                    <a:srgbClr val="000000"/>
                  </a:solidFill>
                  <a:latin typeface="+mj-lt"/>
                </a:rPr>
                <a:t>162 </a:t>
              </a:r>
              <a:r>
                <a:rPr lang="en-US" altLang="en-US" sz="2400" dirty="0" err="1">
                  <a:solidFill>
                    <a:srgbClr val="000000"/>
                  </a:solidFill>
                  <a:latin typeface="+mj-lt"/>
                </a:rPr>
                <a:t>ms</a:t>
              </a:r>
              <a:endParaRPr lang="en-US" altLang="en-US" sz="2400" dirty="0">
                <a:solidFill>
                  <a:srgbClr val="000000"/>
                </a:solidFill>
                <a:latin typeface="+mj-lt"/>
              </a:endParaRPr>
            </a:p>
          </p:txBody>
        </p:sp>
      </p:grpSp>
    </p:spTree>
    <p:extLst>
      <p:ext uri="{BB962C8B-B14F-4D97-AF65-F5344CB8AC3E}">
        <p14:creationId xmlns:p14="http://schemas.microsoft.com/office/powerpoint/2010/main" val="478129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Round Robin Scheduling</a:t>
            </a:r>
          </a:p>
        </p:txBody>
      </p:sp>
      <p:sp>
        <p:nvSpPr>
          <p:cNvPr id="3" name="Content Placeholder 2"/>
          <p:cNvSpPr>
            <a:spLocks noGrp="1"/>
          </p:cNvSpPr>
          <p:nvPr>
            <p:ph idx="1"/>
          </p:nvPr>
        </p:nvSpPr>
        <p:spPr>
          <a:xfrm>
            <a:off x="609600" y="2390774"/>
            <a:ext cx="10972800" cy="4010025"/>
          </a:xfrm>
        </p:spPr>
        <p:txBody>
          <a:bodyPr>
            <a:normAutofit/>
          </a:bodyPr>
          <a:lstStyle/>
          <a:p>
            <a:r>
              <a:rPr lang="en-US" altLang="en-US" dirty="0"/>
              <a:t>Given the above Gantt chart, </a:t>
            </a:r>
            <a:r>
              <a:rPr lang="en-US" dirty="0"/>
              <a:t>what is the average wait time for the processes?</a:t>
            </a:r>
          </a:p>
          <a:p>
            <a:r>
              <a:rPr lang="en-US" altLang="en-US" dirty="0"/>
              <a:t>Wait time for P1 = (77 – 20) + (121 – 97) = 81 </a:t>
            </a:r>
            <a:r>
              <a:rPr lang="en-US" altLang="en-US" dirty="0" err="1"/>
              <a:t>ms</a:t>
            </a:r>
            <a:endParaRPr lang="en-US" altLang="en-US" dirty="0"/>
          </a:p>
          <a:p>
            <a:r>
              <a:rPr lang="en-US" altLang="en-US" dirty="0"/>
              <a:t>Wait time for P2 = 20 </a:t>
            </a:r>
            <a:r>
              <a:rPr lang="en-US" altLang="en-US" dirty="0" err="1"/>
              <a:t>ms</a:t>
            </a:r>
            <a:endParaRPr lang="en-US" altLang="en-US" dirty="0"/>
          </a:p>
          <a:p>
            <a:r>
              <a:rPr lang="en-US" altLang="en-US" dirty="0"/>
              <a:t>Wait time for P3 = 37 + (97 – 57) + (134 – 117) =  94 </a:t>
            </a:r>
            <a:r>
              <a:rPr lang="en-US" altLang="en-US" dirty="0" err="1"/>
              <a:t>ms</a:t>
            </a:r>
            <a:endParaRPr lang="en-US" altLang="en-US" dirty="0"/>
          </a:p>
          <a:p>
            <a:r>
              <a:rPr lang="en-US" altLang="en-US" dirty="0"/>
              <a:t>Wait time for P4 = 57 + (117 – 77) = 97 </a:t>
            </a:r>
            <a:r>
              <a:rPr lang="en-US" altLang="en-US" dirty="0" err="1"/>
              <a:t>ms</a:t>
            </a:r>
            <a:endParaRPr lang="en-US" altLang="en-US" dirty="0"/>
          </a:p>
          <a:p>
            <a:r>
              <a:rPr lang="en-US" altLang="en-US" dirty="0"/>
              <a:t>Average wait time = (81 + 20 + 94 + 97)/4 = 73 </a:t>
            </a:r>
            <a:r>
              <a:rPr lang="en-US" altLang="en-US" dirty="0" err="1"/>
              <a:t>ms</a:t>
            </a:r>
            <a:endParaRPr lang="en-US" altLang="en-US" dirty="0"/>
          </a:p>
        </p:txBody>
      </p:sp>
      <p:grpSp>
        <p:nvGrpSpPr>
          <p:cNvPr id="24" name="Group 5"/>
          <p:cNvGrpSpPr>
            <a:grpSpLocks/>
          </p:cNvGrpSpPr>
          <p:nvPr/>
        </p:nvGrpSpPr>
        <p:grpSpPr bwMode="auto">
          <a:xfrm>
            <a:off x="838200" y="1358815"/>
            <a:ext cx="9838847" cy="1023938"/>
            <a:chOff x="1082" y="2640"/>
            <a:chExt cx="3956" cy="645"/>
          </a:xfrm>
        </p:grpSpPr>
        <p:grpSp>
          <p:nvGrpSpPr>
            <p:cNvPr id="25" name="Group 6"/>
            <p:cNvGrpSpPr>
              <a:grpSpLocks/>
            </p:cNvGrpSpPr>
            <p:nvPr/>
          </p:nvGrpSpPr>
          <p:grpSpPr bwMode="auto">
            <a:xfrm>
              <a:off x="1152" y="2640"/>
              <a:ext cx="3552" cy="384"/>
              <a:chOff x="1152" y="2736"/>
              <a:chExt cx="2880" cy="288"/>
            </a:xfrm>
          </p:grpSpPr>
          <p:sp>
            <p:nvSpPr>
              <p:cNvPr id="37" name="Rectangle 7"/>
              <p:cNvSpPr>
                <a:spLocks noChangeArrowheads="1"/>
              </p:cNvSpPr>
              <p:nvPr/>
            </p:nvSpPr>
            <p:spPr bwMode="auto">
              <a:xfrm>
                <a:off x="1152" y="2736"/>
                <a:ext cx="288"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sz="2400" dirty="0">
                    <a:solidFill>
                      <a:srgbClr val="000000"/>
                    </a:solidFill>
                    <a:latin typeface="+mj-lt"/>
                  </a:rPr>
                  <a:t>P</a:t>
                </a:r>
                <a:r>
                  <a:rPr lang="en-US" altLang="en-US" sz="2400" baseline="-25000" dirty="0">
                    <a:solidFill>
                      <a:srgbClr val="000000"/>
                    </a:solidFill>
                    <a:latin typeface="+mj-lt"/>
                  </a:rPr>
                  <a:t>1</a:t>
                </a:r>
                <a:endParaRPr lang="en-US" altLang="en-US" sz="2400" dirty="0">
                  <a:solidFill>
                    <a:srgbClr val="000000"/>
                  </a:solidFill>
                  <a:latin typeface="+mj-lt"/>
                </a:endParaRPr>
              </a:p>
            </p:txBody>
          </p:sp>
          <p:sp>
            <p:nvSpPr>
              <p:cNvPr id="38" name="Rectangle 8"/>
              <p:cNvSpPr>
                <a:spLocks noChangeArrowheads="1"/>
              </p:cNvSpPr>
              <p:nvPr/>
            </p:nvSpPr>
            <p:spPr bwMode="auto">
              <a:xfrm>
                <a:off x="1440" y="2736"/>
                <a:ext cx="288"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sz="2400">
                    <a:solidFill>
                      <a:srgbClr val="000000"/>
                    </a:solidFill>
                    <a:latin typeface="+mj-lt"/>
                  </a:rPr>
                  <a:t>P</a:t>
                </a:r>
                <a:r>
                  <a:rPr lang="en-US" altLang="en-US" sz="2400" baseline="-25000">
                    <a:solidFill>
                      <a:srgbClr val="000000"/>
                    </a:solidFill>
                    <a:latin typeface="+mj-lt"/>
                  </a:rPr>
                  <a:t>2</a:t>
                </a:r>
              </a:p>
            </p:txBody>
          </p:sp>
          <p:sp>
            <p:nvSpPr>
              <p:cNvPr id="39" name="Rectangle 9"/>
              <p:cNvSpPr>
                <a:spLocks noChangeArrowheads="1"/>
              </p:cNvSpPr>
              <p:nvPr/>
            </p:nvSpPr>
            <p:spPr bwMode="auto">
              <a:xfrm>
                <a:off x="1728" y="2736"/>
                <a:ext cx="288"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sz="2400">
                    <a:solidFill>
                      <a:srgbClr val="000000"/>
                    </a:solidFill>
                    <a:latin typeface="+mj-lt"/>
                  </a:rPr>
                  <a:t>P</a:t>
                </a:r>
                <a:r>
                  <a:rPr lang="en-US" altLang="en-US" sz="2400" baseline="-25000">
                    <a:solidFill>
                      <a:srgbClr val="000000"/>
                    </a:solidFill>
                    <a:latin typeface="+mj-lt"/>
                  </a:rPr>
                  <a:t>3</a:t>
                </a:r>
              </a:p>
            </p:txBody>
          </p:sp>
          <p:sp>
            <p:nvSpPr>
              <p:cNvPr id="40" name="Rectangle 10"/>
              <p:cNvSpPr>
                <a:spLocks noChangeArrowheads="1"/>
              </p:cNvSpPr>
              <p:nvPr/>
            </p:nvSpPr>
            <p:spPr bwMode="auto">
              <a:xfrm>
                <a:off x="2016" y="2736"/>
                <a:ext cx="288"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sz="2400">
                    <a:solidFill>
                      <a:srgbClr val="000000"/>
                    </a:solidFill>
                    <a:latin typeface="+mj-lt"/>
                  </a:rPr>
                  <a:t>P</a:t>
                </a:r>
                <a:r>
                  <a:rPr lang="en-US" altLang="en-US" sz="2400" baseline="-25000">
                    <a:solidFill>
                      <a:srgbClr val="000000"/>
                    </a:solidFill>
                    <a:latin typeface="+mj-lt"/>
                  </a:rPr>
                  <a:t>4</a:t>
                </a:r>
              </a:p>
            </p:txBody>
          </p:sp>
          <p:sp>
            <p:nvSpPr>
              <p:cNvPr id="41" name="Rectangle 11"/>
              <p:cNvSpPr>
                <a:spLocks noChangeArrowheads="1"/>
              </p:cNvSpPr>
              <p:nvPr/>
            </p:nvSpPr>
            <p:spPr bwMode="auto">
              <a:xfrm>
                <a:off x="2304" y="2736"/>
                <a:ext cx="288"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sz="2400">
                    <a:solidFill>
                      <a:srgbClr val="000000"/>
                    </a:solidFill>
                    <a:latin typeface="+mj-lt"/>
                  </a:rPr>
                  <a:t>P</a:t>
                </a:r>
                <a:r>
                  <a:rPr lang="en-US" altLang="en-US" sz="2400" baseline="-25000">
                    <a:solidFill>
                      <a:srgbClr val="000000"/>
                    </a:solidFill>
                    <a:latin typeface="+mj-lt"/>
                  </a:rPr>
                  <a:t>1</a:t>
                </a:r>
              </a:p>
            </p:txBody>
          </p:sp>
          <p:sp>
            <p:nvSpPr>
              <p:cNvPr id="42" name="Rectangle 12"/>
              <p:cNvSpPr>
                <a:spLocks noChangeArrowheads="1"/>
              </p:cNvSpPr>
              <p:nvPr/>
            </p:nvSpPr>
            <p:spPr bwMode="auto">
              <a:xfrm>
                <a:off x="2592" y="2736"/>
                <a:ext cx="288"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sz="2400">
                    <a:solidFill>
                      <a:srgbClr val="000000"/>
                    </a:solidFill>
                    <a:latin typeface="+mj-lt"/>
                  </a:rPr>
                  <a:t>P</a:t>
                </a:r>
                <a:r>
                  <a:rPr lang="en-US" altLang="en-US" sz="2400" baseline="-25000">
                    <a:solidFill>
                      <a:srgbClr val="000000"/>
                    </a:solidFill>
                    <a:latin typeface="+mj-lt"/>
                  </a:rPr>
                  <a:t>3</a:t>
                </a:r>
              </a:p>
            </p:txBody>
          </p:sp>
          <p:sp>
            <p:nvSpPr>
              <p:cNvPr id="43" name="Rectangle 13"/>
              <p:cNvSpPr>
                <a:spLocks noChangeArrowheads="1"/>
              </p:cNvSpPr>
              <p:nvPr/>
            </p:nvSpPr>
            <p:spPr bwMode="auto">
              <a:xfrm>
                <a:off x="2880" y="2736"/>
                <a:ext cx="288"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sz="2400">
                    <a:solidFill>
                      <a:srgbClr val="000000"/>
                    </a:solidFill>
                    <a:latin typeface="+mj-lt"/>
                  </a:rPr>
                  <a:t>P</a:t>
                </a:r>
                <a:r>
                  <a:rPr lang="en-US" altLang="en-US" sz="2400" baseline="-25000">
                    <a:solidFill>
                      <a:srgbClr val="000000"/>
                    </a:solidFill>
                    <a:latin typeface="+mj-lt"/>
                  </a:rPr>
                  <a:t>4</a:t>
                </a:r>
              </a:p>
            </p:txBody>
          </p:sp>
          <p:sp>
            <p:nvSpPr>
              <p:cNvPr id="44" name="Rectangle 14"/>
              <p:cNvSpPr>
                <a:spLocks noChangeArrowheads="1"/>
              </p:cNvSpPr>
              <p:nvPr/>
            </p:nvSpPr>
            <p:spPr bwMode="auto">
              <a:xfrm>
                <a:off x="3168" y="2736"/>
                <a:ext cx="288"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sz="2400">
                    <a:solidFill>
                      <a:srgbClr val="000000"/>
                    </a:solidFill>
                    <a:latin typeface="+mj-lt"/>
                  </a:rPr>
                  <a:t>P</a:t>
                </a:r>
                <a:r>
                  <a:rPr lang="en-US" altLang="en-US" sz="2400" baseline="-25000">
                    <a:solidFill>
                      <a:srgbClr val="000000"/>
                    </a:solidFill>
                    <a:latin typeface="+mj-lt"/>
                  </a:rPr>
                  <a:t>1</a:t>
                </a:r>
              </a:p>
            </p:txBody>
          </p:sp>
          <p:sp>
            <p:nvSpPr>
              <p:cNvPr id="45" name="Rectangle 15"/>
              <p:cNvSpPr>
                <a:spLocks noChangeArrowheads="1"/>
              </p:cNvSpPr>
              <p:nvPr/>
            </p:nvSpPr>
            <p:spPr bwMode="auto">
              <a:xfrm>
                <a:off x="3456" y="2736"/>
                <a:ext cx="288"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sz="2400">
                    <a:solidFill>
                      <a:srgbClr val="000000"/>
                    </a:solidFill>
                    <a:latin typeface="+mj-lt"/>
                  </a:rPr>
                  <a:t>P</a:t>
                </a:r>
                <a:r>
                  <a:rPr lang="en-US" altLang="en-US" sz="2400" baseline="-25000">
                    <a:solidFill>
                      <a:srgbClr val="000000"/>
                    </a:solidFill>
                    <a:latin typeface="+mj-lt"/>
                  </a:rPr>
                  <a:t>3</a:t>
                </a:r>
              </a:p>
            </p:txBody>
          </p:sp>
          <p:sp>
            <p:nvSpPr>
              <p:cNvPr id="46" name="Rectangle 16"/>
              <p:cNvSpPr>
                <a:spLocks noChangeArrowheads="1"/>
              </p:cNvSpPr>
              <p:nvPr/>
            </p:nvSpPr>
            <p:spPr bwMode="auto">
              <a:xfrm>
                <a:off x="3744" y="2736"/>
                <a:ext cx="288"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sz="2400">
                    <a:solidFill>
                      <a:srgbClr val="000000"/>
                    </a:solidFill>
                    <a:latin typeface="+mj-lt"/>
                  </a:rPr>
                  <a:t>P</a:t>
                </a:r>
                <a:r>
                  <a:rPr lang="en-US" altLang="en-US" sz="2400" baseline="-25000">
                    <a:solidFill>
                      <a:srgbClr val="000000"/>
                    </a:solidFill>
                    <a:latin typeface="+mj-lt"/>
                  </a:rPr>
                  <a:t>3</a:t>
                </a:r>
              </a:p>
            </p:txBody>
          </p:sp>
        </p:grpSp>
        <p:sp>
          <p:nvSpPr>
            <p:cNvPr id="26" name="Text Box 17"/>
            <p:cNvSpPr txBox="1">
              <a:spLocks noChangeArrowheads="1"/>
            </p:cNvSpPr>
            <p:nvPr/>
          </p:nvSpPr>
          <p:spPr bwMode="auto">
            <a:xfrm>
              <a:off x="1082" y="2994"/>
              <a:ext cx="143" cy="29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lang="en-US" altLang="en-US" sz="2400">
                  <a:solidFill>
                    <a:srgbClr val="000000"/>
                  </a:solidFill>
                  <a:latin typeface="+mj-lt"/>
                </a:rPr>
                <a:t>0</a:t>
              </a:r>
            </a:p>
          </p:txBody>
        </p:sp>
        <p:sp>
          <p:nvSpPr>
            <p:cNvPr id="27" name="Text Box 18"/>
            <p:cNvSpPr txBox="1">
              <a:spLocks noChangeArrowheads="1"/>
            </p:cNvSpPr>
            <p:nvPr/>
          </p:nvSpPr>
          <p:spPr bwMode="auto">
            <a:xfrm>
              <a:off x="1385" y="2994"/>
              <a:ext cx="211" cy="29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lang="en-US" altLang="en-US" sz="2400">
                  <a:solidFill>
                    <a:srgbClr val="000000"/>
                  </a:solidFill>
                  <a:latin typeface="+mj-lt"/>
                </a:rPr>
                <a:t>20</a:t>
              </a:r>
            </a:p>
          </p:txBody>
        </p:sp>
        <p:sp>
          <p:nvSpPr>
            <p:cNvPr id="28" name="Text Box 19"/>
            <p:cNvSpPr txBox="1">
              <a:spLocks noChangeArrowheads="1"/>
            </p:cNvSpPr>
            <p:nvPr/>
          </p:nvSpPr>
          <p:spPr bwMode="auto">
            <a:xfrm>
              <a:off x="1721" y="2994"/>
              <a:ext cx="211" cy="29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lang="en-US" altLang="en-US" sz="2400">
                  <a:solidFill>
                    <a:srgbClr val="000000"/>
                  </a:solidFill>
                  <a:latin typeface="+mj-lt"/>
                </a:rPr>
                <a:t>37</a:t>
              </a:r>
            </a:p>
          </p:txBody>
        </p:sp>
        <p:sp>
          <p:nvSpPr>
            <p:cNvPr id="29" name="Text Box 20"/>
            <p:cNvSpPr txBox="1">
              <a:spLocks noChangeArrowheads="1"/>
            </p:cNvSpPr>
            <p:nvPr/>
          </p:nvSpPr>
          <p:spPr bwMode="auto">
            <a:xfrm>
              <a:off x="2101" y="2994"/>
              <a:ext cx="211" cy="29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lang="en-US" altLang="en-US" sz="2400">
                  <a:solidFill>
                    <a:srgbClr val="000000"/>
                  </a:solidFill>
                  <a:latin typeface="+mj-lt"/>
                </a:rPr>
                <a:t>57</a:t>
              </a:r>
            </a:p>
          </p:txBody>
        </p:sp>
        <p:sp>
          <p:nvSpPr>
            <p:cNvPr id="30" name="Text Box 21"/>
            <p:cNvSpPr txBox="1">
              <a:spLocks noChangeArrowheads="1"/>
            </p:cNvSpPr>
            <p:nvPr/>
          </p:nvSpPr>
          <p:spPr bwMode="auto">
            <a:xfrm>
              <a:off x="2489" y="2994"/>
              <a:ext cx="211" cy="29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lang="en-US" altLang="en-US" sz="2400">
                  <a:solidFill>
                    <a:srgbClr val="000000"/>
                  </a:solidFill>
                  <a:latin typeface="+mj-lt"/>
                </a:rPr>
                <a:t>77</a:t>
              </a:r>
            </a:p>
          </p:txBody>
        </p:sp>
        <p:sp>
          <p:nvSpPr>
            <p:cNvPr id="31" name="Text Box 22"/>
            <p:cNvSpPr txBox="1">
              <a:spLocks noChangeArrowheads="1"/>
            </p:cNvSpPr>
            <p:nvPr/>
          </p:nvSpPr>
          <p:spPr bwMode="auto">
            <a:xfrm>
              <a:off x="2825" y="2994"/>
              <a:ext cx="211" cy="29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lang="en-US" altLang="en-US" sz="2400">
                  <a:solidFill>
                    <a:srgbClr val="000000"/>
                  </a:solidFill>
                  <a:latin typeface="+mj-lt"/>
                </a:rPr>
                <a:t>97</a:t>
              </a:r>
            </a:p>
          </p:txBody>
        </p:sp>
        <p:sp>
          <p:nvSpPr>
            <p:cNvPr id="32" name="Text Box 23"/>
            <p:cNvSpPr txBox="1">
              <a:spLocks noChangeArrowheads="1"/>
            </p:cNvSpPr>
            <p:nvPr/>
          </p:nvSpPr>
          <p:spPr bwMode="auto">
            <a:xfrm>
              <a:off x="3126" y="2994"/>
              <a:ext cx="279" cy="29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lang="en-US" altLang="en-US" sz="2400">
                  <a:solidFill>
                    <a:srgbClr val="000000"/>
                  </a:solidFill>
                  <a:latin typeface="+mj-lt"/>
                </a:rPr>
                <a:t>117</a:t>
              </a:r>
            </a:p>
          </p:txBody>
        </p:sp>
        <p:sp>
          <p:nvSpPr>
            <p:cNvPr id="33" name="Text Box 24"/>
            <p:cNvSpPr txBox="1">
              <a:spLocks noChangeArrowheads="1"/>
            </p:cNvSpPr>
            <p:nvPr/>
          </p:nvSpPr>
          <p:spPr bwMode="auto">
            <a:xfrm>
              <a:off x="3510" y="2994"/>
              <a:ext cx="279" cy="29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lang="en-US" altLang="en-US" sz="2400">
                  <a:solidFill>
                    <a:srgbClr val="000000"/>
                  </a:solidFill>
                  <a:latin typeface="+mj-lt"/>
                </a:rPr>
                <a:t>121</a:t>
              </a:r>
            </a:p>
          </p:txBody>
        </p:sp>
        <p:sp>
          <p:nvSpPr>
            <p:cNvPr id="34" name="Text Box 25"/>
            <p:cNvSpPr txBox="1">
              <a:spLocks noChangeArrowheads="1"/>
            </p:cNvSpPr>
            <p:nvPr/>
          </p:nvSpPr>
          <p:spPr bwMode="auto">
            <a:xfrm>
              <a:off x="3846" y="2994"/>
              <a:ext cx="279" cy="29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lang="en-US" altLang="en-US" sz="2400">
                  <a:solidFill>
                    <a:srgbClr val="000000"/>
                  </a:solidFill>
                  <a:latin typeface="+mj-lt"/>
                </a:rPr>
                <a:t>134</a:t>
              </a:r>
            </a:p>
          </p:txBody>
        </p:sp>
        <p:sp>
          <p:nvSpPr>
            <p:cNvPr id="35" name="Text Box 26"/>
            <p:cNvSpPr txBox="1">
              <a:spLocks noChangeArrowheads="1"/>
            </p:cNvSpPr>
            <p:nvPr/>
          </p:nvSpPr>
          <p:spPr bwMode="auto">
            <a:xfrm>
              <a:off x="4214" y="2994"/>
              <a:ext cx="279" cy="29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lang="en-US" altLang="en-US" sz="2400">
                  <a:solidFill>
                    <a:srgbClr val="000000"/>
                  </a:solidFill>
                  <a:latin typeface="+mj-lt"/>
                </a:rPr>
                <a:t>154</a:t>
              </a:r>
            </a:p>
          </p:txBody>
        </p:sp>
        <p:sp>
          <p:nvSpPr>
            <p:cNvPr id="36" name="Text Box 27"/>
            <p:cNvSpPr txBox="1">
              <a:spLocks noChangeArrowheads="1"/>
            </p:cNvSpPr>
            <p:nvPr/>
          </p:nvSpPr>
          <p:spPr bwMode="auto">
            <a:xfrm>
              <a:off x="4575" y="2994"/>
              <a:ext cx="463" cy="29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lang="en-US" altLang="en-US" sz="2400" dirty="0">
                  <a:solidFill>
                    <a:srgbClr val="000000"/>
                  </a:solidFill>
                  <a:latin typeface="+mj-lt"/>
                </a:rPr>
                <a:t>162 </a:t>
              </a:r>
              <a:r>
                <a:rPr lang="en-US" altLang="en-US" sz="2400" dirty="0" err="1">
                  <a:solidFill>
                    <a:srgbClr val="000000"/>
                  </a:solidFill>
                  <a:latin typeface="+mj-lt"/>
                </a:rPr>
                <a:t>ms</a:t>
              </a:r>
              <a:endParaRPr lang="en-US" altLang="en-US" sz="2400" dirty="0">
                <a:solidFill>
                  <a:srgbClr val="000000"/>
                </a:solidFill>
                <a:latin typeface="+mj-lt"/>
              </a:endParaRPr>
            </a:p>
          </p:txBody>
        </p:sp>
      </p:grpSp>
    </p:spTree>
    <p:extLst>
      <p:ext uri="{BB962C8B-B14F-4D97-AF65-F5344CB8AC3E}">
        <p14:creationId xmlns:p14="http://schemas.microsoft.com/office/powerpoint/2010/main" val="244367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Process Scheduling</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Modern OSes also support </a:t>
            </a:r>
            <a:r>
              <a:rPr lang="en-US" b="1" dirty="0"/>
              <a:t>multitasking</a:t>
            </a:r>
            <a:r>
              <a:rPr lang="en-US" dirty="0"/>
              <a:t> (allowing multiple processes to run concurrently) and </a:t>
            </a:r>
            <a:r>
              <a:rPr lang="en-US" b="1" dirty="0"/>
              <a:t>multithreading</a:t>
            </a:r>
            <a:r>
              <a:rPr lang="en-US" dirty="0"/>
              <a:t> (allowing a single process to be subdivided into different threads of control)</a:t>
            </a:r>
          </a:p>
          <a:p>
            <a:r>
              <a:rPr lang="en-US" dirty="0"/>
              <a:t>A </a:t>
            </a:r>
            <a:r>
              <a:rPr lang="en-US" b="1" dirty="0"/>
              <a:t>thread</a:t>
            </a:r>
            <a:r>
              <a:rPr lang="en-US" dirty="0"/>
              <a:t> can be scheduled, just </a:t>
            </a:r>
            <a:br>
              <a:rPr lang="en-US" dirty="0"/>
            </a:br>
            <a:r>
              <a:rPr lang="en-US" dirty="0"/>
              <a:t>like a process</a:t>
            </a:r>
          </a:p>
          <a:p>
            <a:r>
              <a:rPr lang="en-US" dirty="0"/>
              <a:t>The threads of a process share </a:t>
            </a:r>
            <a:br>
              <a:rPr lang="en-US" dirty="0"/>
            </a:br>
            <a:r>
              <a:rPr lang="en-US" dirty="0"/>
              <a:t>the resources of the process, </a:t>
            </a:r>
            <a:br>
              <a:rPr lang="en-US" dirty="0"/>
            </a:br>
            <a:r>
              <a:rPr lang="en-US" dirty="0"/>
              <a:t>such as its memory, which makes</a:t>
            </a:r>
            <a:br>
              <a:rPr lang="en-US" dirty="0"/>
            </a:br>
            <a:r>
              <a:rPr lang="en-US" dirty="0"/>
              <a:t>it faster to context switch </a:t>
            </a:r>
            <a:br>
              <a:rPr lang="en-US" dirty="0"/>
            </a:br>
            <a:r>
              <a:rPr lang="en-US" dirty="0"/>
              <a:t>between threads than processes</a:t>
            </a:r>
          </a:p>
          <a:p>
            <a:endParaRPr lang="en-US" dirty="0"/>
          </a:p>
          <a:p>
            <a:endParaRPr lang="en-US" dirty="0"/>
          </a:p>
        </p:txBody>
      </p:sp>
      <p:pic>
        <p:nvPicPr>
          <p:cNvPr id="1026" name="Picture 2" descr="http://www.cs.miami.edu/home/visser/Courses/CSC322-09S/Content/UNIXProgramming/Threads.JPG">
            <a:extLst>
              <a:ext uri="{FF2B5EF4-FFF2-40B4-BE49-F238E27FC236}">
                <a16:creationId xmlns:a16="http://schemas.microsoft.com/office/drawing/2014/main" id="{AF9B936E-6562-4776-8A73-80DFB17602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1486" y="3235242"/>
            <a:ext cx="4776860" cy="29417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23465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Resource Management</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lnSpcReduction="10000"/>
          </a:bodyPr>
          <a:lstStyle/>
          <a:p>
            <a:r>
              <a:rPr lang="en-US" dirty="0"/>
              <a:t>The OS manages the CPU via the process scheduler</a:t>
            </a:r>
          </a:p>
          <a:p>
            <a:r>
              <a:rPr lang="en-US" dirty="0"/>
              <a:t>It must also manage the main memory (e.g., virtual memory, paging, segmentation) and I/O devices</a:t>
            </a:r>
          </a:p>
          <a:p>
            <a:r>
              <a:rPr lang="en-US" dirty="0"/>
              <a:t>The OS must also protect the kernel from interference by user processes</a:t>
            </a:r>
          </a:p>
          <a:p>
            <a:r>
              <a:rPr lang="en-US" dirty="0"/>
              <a:t>For example, what if multiple processes want to transmit data over the network connection simultaneously? The OS has to mediate these requests and service them in some order.</a:t>
            </a:r>
          </a:p>
          <a:p>
            <a:r>
              <a:rPr lang="en-US" dirty="0"/>
              <a:t>The OS also manages the </a:t>
            </a:r>
            <a:r>
              <a:rPr lang="en-US" b="1" dirty="0"/>
              <a:t>filesystem</a:t>
            </a:r>
            <a:r>
              <a:rPr lang="en-US" dirty="0"/>
              <a:t>, the methods and structures used by the OS to organize and manage files stored on disk</a:t>
            </a:r>
          </a:p>
          <a:p>
            <a:endParaRPr lang="en-US" dirty="0"/>
          </a:p>
        </p:txBody>
      </p:sp>
    </p:spTree>
    <p:extLst>
      <p:ext uri="{BB962C8B-B14F-4D97-AF65-F5344CB8AC3E}">
        <p14:creationId xmlns:p14="http://schemas.microsoft.com/office/powerpoint/2010/main" val="40813377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Protected Environments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In their role as resource managers and protectors, many operating systems provide protected environments that isolate processes, or groups of processes from each other. </a:t>
            </a:r>
          </a:p>
          <a:p>
            <a:r>
              <a:rPr lang="en-US" dirty="0"/>
              <a:t>Three common approaches to establishing protected environments are </a:t>
            </a:r>
            <a:r>
              <a:rPr lang="en-US" b="1" dirty="0"/>
              <a:t>virtual machines</a:t>
            </a:r>
            <a:r>
              <a:rPr lang="en-US" dirty="0"/>
              <a:t>, </a:t>
            </a:r>
            <a:r>
              <a:rPr lang="en-US" b="1" dirty="0"/>
              <a:t>subsystems</a:t>
            </a:r>
            <a:r>
              <a:rPr lang="en-US" dirty="0"/>
              <a:t>, and </a:t>
            </a:r>
            <a:r>
              <a:rPr lang="en-US" b="1" dirty="0"/>
              <a:t>partitions</a:t>
            </a:r>
            <a:r>
              <a:rPr lang="en-US" dirty="0"/>
              <a:t>.</a:t>
            </a:r>
          </a:p>
          <a:p>
            <a:r>
              <a:rPr lang="en-US" dirty="0"/>
              <a:t>These environments simplify system management and control, and can provide emulated machines to enable execution of programs that the system would otherwise be unable to run.</a:t>
            </a:r>
          </a:p>
          <a:p>
            <a:endParaRPr lang="en-US" dirty="0"/>
          </a:p>
        </p:txBody>
      </p:sp>
    </p:spTree>
    <p:extLst>
      <p:ext uri="{BB962C8B-B14F-4D97-AF65-F5344CB8AC3E}">
        <p14:creationId xmlns:p14="http://schemas.microsoft.com/office/powerpoint/2010/main" val="31883763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Virtual Machines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lnSpcReduction="10000"/>
          </a:bodyPr>
          <a:lstStyle/>
          <a:p>
            <a:r>
              <a:rPr lang="en-US" dirty="0"/>
              <a:t>Virtual machines are a protected environment that presents an image of itself – or the image of a totally different architecture – to the processes that run within the environment.</a:t>
            </a:r>
          </a:p>
          <a:p>
            <a:r>
              <a:rPr lang="en-US" dirty="0"/>
              <a:t>A virtual machine is exactly that: an imaginary computer.</a:t>
            </a:r>
          </a:p>
          <a:p>
            <a:r>
              <a:rPr lang="en-US" dirty="0"/>
              <a:t>The underlying real machine is under the control of the kernel. The kernel receives and manages all resource requests that emit from processes running in the virtual environment.</a:t>
            </a:r>
          </a:p>
          <a:p>
            <a:r>
              <a:rPr lang="en-US" dirty="0"/>
              <a:t>VMs give one way of running untrusted software in a safe environment</a:t>
            </a:r>
          </a:p>
          <a:p>
            <a:r>
              <a:rPr lang="en-US" dirty="0"/>
              <a:t>The next slide provides an illustration. </a:t>
            </a:r>
          </a:p>
          <a:p>
            <a:endParaRPr lang="en-US" dirty="0"/>
          </a:p>
          <a:p>
            <a:endParaRPr lang="en-US" dirty="0"/>
          </a:p>
        </p:txBody>
      </p:sp>
    </p:spTree>
    <p:extLst>
      <p:ext uri="{BB962C8B-B14F-4D97-AF65-F5344CB8AC3E}">
        <p14:creationId xmlns:p14="http://schemas.microsoft.com/office/powerpoint/2010/main" val="28685940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Virtual Machines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4648200" cy="5257800"/>
          </a:xfrm>
        </p:spPr>
        <p:txBody>
          <a:bodyPr/>
          <a:lstStyle/>
          <a:p>
            <a:r>
              <a:rPr lang="en-US" dirty="0"/>
              <a:t>VMs on a personal computer allow the user to install and run multiple operating systems without removing or impacting the current operating system</a:t>
            </a:r>
          </a:p>
          <a:p>
            <a:r>
              <a:rPr lang="en-US" dirty="0"/>
              <a:t>Since VMs are simulated machines, they run much more slowly than if they were installed directly on real, physical hardware</a:t>
            </a:r>
          </a:p>
        </p:txBody>
      </p:sp>
      <p:pic>
        <p:nvPicPr>
          <p:cNvPr id="4" name="Picture 5" descr="9781284033144_CH08_FIG01.jpg">
            <a:extLst>
              <a:ext uri="{FF2B5EF4-FFF2-40B4-BE49-F238E27FC236}">
                <a16:creationId xmlns:a16="http://schemas.microsoft.com/office/drawing/2014/main" id="{39FBAA42-8547-4C15-A6F3-EF9DEA060D4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10200" y="463550"/>
            <a:ext cx="6153963" cy="593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496410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Subsystems and Partitions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lnSpcReduction="10000"/>
          </a:bodyPr>
          <a:lstStyle/>
          <a:p>
            <a:r>
              <a:rPr lang="en-US" dirty="0"/>
              <a:t>Subsystems are another type of protected environment. </a:t>
            </a:r>
          </a:p>
          <a:p>
            <a:r>
              <a:rPr lang="en-US" dirty="0"/>
              <a:t>They provide logically distinct environments that can be individually controlled and managed. They can be started and stopped independently of each other.</a:t>
            </a:r>
          </a:p>
          <a:p>
            <a:r>
              <a:rPr lang="en-US" dirty="0"/>
              <a:t>Subsystems can have special purposes, such as controlling I/O or virtual machines. Others partition large application systems to make them more manageable.</a:t>
            </a:r>
          </a:p>
          <a:p>
            <a:r>
              <a:rPr lang="en-US" dirty="0"/>
              <a:t>In many cases, resources must be made visible to the subsystem before they can be accessed by the processes running within it.</a:t>
            </a:r>
          </a:p>
          <a:p>
            <a:r>
              <a:rPr lang="en-US" dirty="0"/>
              <a:t>The next slide provides an illustration. </a:t>
            </a:r>
          </a:p>
          <a:p>
            <a:endParaRPr lang="en-US" dirty="0"/>
          </a:p>
        </p:txBody>
      </p:sp>
    </p:spTree>
    <p:extLst>
      <p:ext uri="{BB962C8B-B14F-4D97-AF65-F5344CB8AC3E}">
        <p14:creationId xmlns:p14="http://schemas.microsoft.com/office/powerpoint/2010/main" val="12492134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Subsystems Example</a:t>
            </a:r>
          </a:p>
        </p:txBody>
      </p:sp>
      <p:pic>
        <p:nvPicPr>
          <p:cNvPr id="4"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143000"/>
            <a:ext cx="8569723"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923662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Partitions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In very large computers, subsystems do not go far enough to establish a protected environment.  </a:t>
            </a:r>
          </a:p>
          <a:p>
            <a:r>
              <a:rPr lang="en-US" b="1" dirty="0"/>
              <a:t>Logical partitions (LPARs)</a:t>
            </a:r>
            <a:r>
              <a:rPr lang="en-US" dirty="0"/>
              <a:t> provide much higher barriers: Processes running within a logical partition have no access to processes running in another partition unless a connection between them is explicitly established.</a:t>
            </a:r>
          </a:p>
          <a:p>
            <a:r>
              <a:rPr lang="en-US" dirty="0"/>
              <a:t>LPARs are an enabling technology for the recent trend of consolidating hundreds of small servers within the confines of a single large system.</a:t>
            </a:r>
          </a:p>
          <a:p>
            <a:r>
              <a:rPr lang="en-US" dirty="0"/>
              <a:t>The next slide provides an illustration. </a:t>
            </a:r>
          </a:p>
          <a:p>
            <a:endParaRPr lang="en-US" dirty="0"/>
          </a:p>
          <a:p>
            <a:endParaRPr lang="en-US" dirty="0"/>
          </a:p>
        </p:txBody>
      </p:sp>
    </p:spTree>
    <p:extLst>
      <p:ext uri="{BB962C8B-B14F-4D97-AF65-F5344CB8AC3E}">
        <p14:creationId xmlns:p14="http://schemas.microsoft.com/office/powerpoint/2010/main" val="19039727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Logical Partitions Example</a:t>
            </a:r>
          </a:p>
        </p:txBody>
      </p:sp>
      <p:pic>
        <p:nvPicPr>
          <p:cNvPr id="4"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76701" y="1244600"/>
            <a:ext cx="8077200" cy="561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687528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Logical Partitions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LPARs are good for creating “sandbox” environments</a:t>
            </a:r>
          </a:p>
          <a:p>
            <a:r>
              <a:rPr lang="en-US" dirty="0"/>
              <a:t>On one powerful server (or set of machines) we might have a copy of the released version of some software produced by a company</a:t>
            </a:r>
          </a:p>
          <a:p>
            <a:pPr lvl="1"/>
            <a:r>
              <a:rPr lang="en-US" dirty="0"/>
              <a:t>This version would run in its own partition</a:t>
            </a:r>
          </a:p>
          <a:p>
            <a:r>
              <a:rPr lang="en-US" dirty="0"/>
              <a:t>On the same server we might have a “development” version that programmers are using to work on the next version of the software</a:t>
            </a:r>
          </a:p>
          <a:p>
            <a:r>
              <a:rPr lang="en-US" dirty="0"/>
              <a:t>The two copies of the software can run and exist on the same computer(s) without interference from each other</a:t>
            </a:r>
          </a:p>
          <a:p>
            <a:endParaRPr lang="en-US" dirty="0"/>
          </a:p>
        </p:txBody>
      </p:sp>
    </p:spTree>
    <p:extLst>
      <p:ext uri="{BB962C8B-B14F-4D97-AF65-F5344CB8AC3E}">
        <p14:creationId xmlns:p14="http://schemas.microsoft.com/office/powerpoint/2010/main" val="28247365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Server Consolidation</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20000"/>
          </a:bodyPr>
          <a:lstStyle/>
          <a:p>
            <a:r>
              <a:rPr lang="en-US" dirty="0"/>
              <a:t>In the 1990s large </a:t>
            </a:r>
            <a:r>
              <a:rPr lang="en-US" b="1" dirty="0"/>
              <a:t>server farms</a:t>
            </a:r>
            <a:r>
              <a:rPr lang="en-US" dirty="0"/>
              <a:t> provided computing power and miscellaneous services (file hosting, printer management, etc.) for a company</a:t>
            </a:r>
          </a:p>
          <a:p>
            <a:r>
              <a:rPr lang="en-US" dirty="0"/>
              <a:t>Server farms can contain hundreds of machines, which are expensive and difficult to maintain</a:t>
            </a:r>
          </a:p>
          <a:p>
            <a:r>
              <a:rPr lang="en-US" dirty="0"/>
              <a:t>A modern trend is </a:t>
            </a:r>
            <a:r>
              <a:rPr lang="en-US" b="1" dirty="0"/>
              <a:t>server consolidation</a:t>
            </a:r>
            <a:r>
              <a:rPr lang="en-US" dirty="0"/>
              <a:t>, which means to replace farms with a single, powerful computer that support virtual environments and logical partitions</a:t>
            </a:r>
          </a:p>
          <a:p>
            <a:r>
              <a:rPr lang="en-US" altLang="en-US" dirty="0"/>
              <a:t>These servers can support hundreds or thousands of virtual machines (e.g., Linux VMs), each of which can be running some enterprise system, such as an e-commerce system</a:t>
            </a:r>
          </a:p>
          <a:p>
            <a:r>
              <a:rPr lang="en-US" altLang="en-US" dirty="0"/>
              <a:t>IBM’s current </a:t>
            </a:r>
            <a:r>
              <a:rPr lang="en-US" altLang="en-US" dirty="0" err="1"/>
              <a:t>zSeries</a:t>
            </a:r>
            <a:r>
              <a:rPr lang="en-US" altLang="en-US" dirty="0"/>
              <a:t> mainframes have up to 32 CPUs with up to 256 </a:t>
            </a:r>
            <a:r>
              <a:rPr lang="en-US" altLang="en-US"/>
              <a:t>GB RAM per </a:t>
            </a:r>
            <a:r>
              <a:rPr lang="en-US" altLang="en-US" dirty="0"/>
              <a:t>CPU</a:t>
            </a:r>
          </a:p>
          <a:p>
            <a:pPr marL="114300" indent="0">
              <a:buNone/>
            </a:pPr>
            <a:endParaRPr lang="en-US" dirty="0"/>
          </a:p>
          <a:p>
            <a:endParaRPr lang="en-US" dirty="0"/>
          </a:p>
        </p:txBody>
      </p:sp>
    </p:spTree>
    <p:extLst>
      <p:ext uri="{BB962C8B-B14F-4D97-AF65-F5344CB8AC3E}">
        <p14:creationId xmlns:p14="http://schemas.microsoft.com/office/powerpoint/2010/main" val="15989975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Server Consolidation</a:t>
            </a:r>
          </a:p>
        </p:txBody>
      </p:sp>
      <p:pic>
        <p:nvPicPr>
          <p:cNvPr id="4" name="Picture 5" descr="9781284033144_CH08_FIG05.jpg">
            <a:extLst>
              <a:ext uri="{FF2B5EF4-FFF2-40B4-BE49-F238E27FC236}">
                <a16:creationId xmlns:a16="http://schemas.microsoft.com/office/drawing/2014/main" id="{9DA46D63-2A5C-40CD-937A-9F2E1D99F8E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690688"/>
            <a:ext cx="7642349" cy="4065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descr="IBM (NYSE: IBM) IBM Z">
            <a:extLst>
              <a:ext uri="{FF2B5EF4-FFF2-40B4-BE49-F238E27FC236}">
                <a16:creationId xmlns:a16="http://schemas.microsoft.com/office/drawing/2014/main" id="{686A7F31-2036-45A6-863E-DFEB75E2786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4664" t="4492" b="35"/>
          <a:stretch/>
        </p:blipFill>
        <p:spPr bwMode="auto">
          <a:xfrm>
            <a:off x="8450357" y="1100919"/>
            <a:ext cx="3132043" cy="52824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54881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Programming Tools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10000"/>
          </a:bodyPr>
          <a:lstStyle/>
          <a:p>
            <a:r>
              <a:rPr lang="en-US" dirty="0"/>
              <a:t>Programming tools carry out the mechanics of software creation within the confines of the operating system and hardware environment.</a:t>
            </a:r>
          </a:p>
          <a:p>
            <a:r>
              <a:rPr lang="en-US" b="1" dirty="0"/>
              <a:t>Assemblers</a:t>
            </a:r>
            <a:r>
              <a:rPr lang="en-US" dirty="0"/>
              <a:t> are the simplest of all programming tools. They translate </a:t>
            </a:r>
            <a:r>
              <a:rPr lang="en-US" b="1" dirty="0"/>
              <a:t>mnemonic</a:t>
            </a:r>
            <a:r>
              <a:rPr lang="en-US" dirty="0"/>
              <a:t> instructions to machine code.</a:t>
            </a:r>
          </a:p>
          <a:p>
            <a:r>
              <a:rPr lang="en-US" dirty="0"/>
              <a:t>Assembly language is considered a “second generation” programming language (2GL).</a:t>
            </a:r>
          </a:p>
          <a:p>
            <a:r>
              <a:rPr lang="en-US" b="1" dirty="0"/>
              <a:t>High-level programming languages</a:t>
            </a:r>
            <a:r>
              <a:rPr lang="en-US" dirty="0"/>
              <a:t>, such as C, C++, Pascal, and COBOL, are “third generation” languages (3GLs).</a:t>
            </a:r>
          </a:p>
          <a:p>
            <a:r>
              <a:rPr lang="en-US" dirty="0"/>
              <a:t>Each language generation presents problem solving tools that are closer to how people think and farther away from how the machine implements the solution.</a:t>
            </a:r>
          </a:p>
          <a:p>
            <a:endParaRPr lang="en-US" dirty="0"/>
          </a:p>
          <a:p>
            <a:endParaRPr lang="en-US" dirty="0"/>
          </a:p>
        </p:txBody>
      </p:sp>
    </p:spTree>
    <p:extLst>
      <p:ext uri="{BB962C8B-B14F-4D97-AF65-F5344CB8AC3E}">
        <p14:creationId xmlns:p14="http://schemas.microsoft.com/office/powerpoint/2010/main" val="35386889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Programming Tools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endParaRPr lang="en-US" dirty="0"/>
          </a:p>
        </p:txBody>
      </p:sp>
      <p:pic>
        <p:nvPicPr>
          <p:cNvPr id="4" name="Picture 5" descr="9781284033144_CH08_FIG08.jpg">
            <a:extLst>
              <a:ext uri="{FF2B5EF4-FFF2-40B4-BE49-F238E27FC236}">
                <a16:creationId xmlns:a16="http://schemas.microsoft.com/office/drawing/2014/main" id="{E4D310EB-4837-49E4-A533-321AB5AC767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1999" y="1163522"/>
            <a:ext cx="10083421" cy="5181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558310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Programming Tools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lnSpcReduction="10000"/>
          </a:bodyPr>
          <a:lstStyle/>
          <a:p>
            <a:r>
              <a:rPr lang="en-US" b="1" dirty="0"/>
              <a:t>Compilers</a:t>
            </a:r>
            <a:r>
              <a:rPr lang="en-US" dirty="0"/>
              <a:t> bridge the semantic gap between the higher level language and the machine’s binary instructions.</a:t>
            </a:r>
          </a:p>
          <a:p>
            <a:r>
              <a:rPr lang="en-US" dirty="0"/>
              <a:t>A compiler takes the source code for a program as input and then outputs machine code for the target platform</a:t>
            </a:r>
          </a:p>
          <a:p>
            <a:r>
              <a:rPr lang="en-US" dirty="0"/>
              <a:t>This is a multi-step process that first analyzes the code for its structure and, assuming the code is </a:t>
            </a:r>
            <a:r>
              <a:rPr lang="en-US" i="1" dirty="0"/>
              <a:t>syntactically correct</a:t>
            </a:r>
            <a:r>
              <a:rPr lang="en-US" dirty="0"/>
              <a:t>, generates the machine code</a:t>
            </a:r>
          </a:p>
          <a:p>
            <a:r>
              <a:rPr lang="en-US" dirty="0"/>
              <a:t>Modern compilers also attempt to </a:t>
            </a:r>
            <a:r>
              <a:rPr lang="en-US" b="1" dirty="0"/>
              <a:t>optimize</a:t>
            </a:r>
            <a:r>
              <a:rPr lang="en-US" dirty="0"/>
              <a:t> the code so that the compiled program runs as fast as possible</a:t>
            </a:r>
          </a:p>
          <a:p>
            <a:r>
              <a:rPr lang="en-US" dirty="0"/>
              <a:t>Popular compiled languages include C, C++, Java</a:t>
            </a:r>
          </a:p>
        </p:txBody>
      </p:sp>
    </p:spTree>
    <p:extLst>
      <p:ext uri="{BB962C8B-B14F-4D97-AF65-F5344CB8AC3E}">
        <p14:creationId xmlns:p14="http://schemas.microsoft.com/office/powerpoint/2010/main" val="20717715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Programming Tools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20000"/>
          </a:bodyPr>
          <a:lstStyle/>
          <a:p>
            <a:r>
              <a:rPr lang="en-US" b="1" dirty="0"/>
              <a:t>Interpreters</a:t>
            </a:r>
            <a:r>
              <a:rPr lang="en-US" dirty="0"/>
              <a:t> produce executable code from source code in real time, one line at a time.</a:t>
            </a:r>
          </a:p>
          <a:p>
            <a:r>
              <a:rPr lang="en-US" dirty="0"/>
              <a:t>Consequently, this not only makes interpreted languages slower than compiled languages but it also affords less opportunity for error checking.</a:t>
            </a:r>
          </a:p>
          <a:p>
            <a:r>
              <a:rPr lang="en-US" dirty="0"/>
              <a:t>Interpreted languages are, however, very useful for teaching programming concepts, because feedback is nearly instantaneous, and performance is rarely a concern.</a:t>
            </a:r>
          </a:p>
          <a:p>
            <a:r>
              <a:rPr lang="en-US" dirty="0"/>
              <a:t>Also, in software development, interpreted languages are very useful when the underlying code needs to be changed frequently</a:t>
            </a:r>
          </a:p>
          <a:p>
            <a:r>
              <a:rPr lang="en-US" dirty="0"/>
              <a:t>Popular interpreted languages include JavaScript (for the web), Python, Ruby, Java</a:t>
            </a:r>
          </a:p>
          <a:p>
            <a:r>
              <a:rPr lang="en-US" dirty="0"/>
              <a:t>Wait…I thought Java was compiled?</a:t>
            </a:r>
          </a:p>
        </p:txBody>
      </p:sp>
    </p:spTree>
    <p:extLst>
      <p:ext uri="{BB962C8B-B14F-4D97-AF65-F5344CB8AC3E}">
        <p14:creationId xmlns:p14="http://schemas.microsoft.com/office/powerpoint/2010/main" val="31139555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Java: </a:t>
            </a:r>
            <a:r>
              <a:rPr lang="en-US" strike="sngStrike" dirty="0"/>
              <a:t>All</a:t>
            </a:r>
            <a:r>
              <a:rPr lang="en-US" dirty="0"/>
              <a:t> Most of the Above</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20000"/>
          </a:bodyPr>
          <a:lstStyle/>
          <a:p>
            <a:r>
              <a:rPr lang="en-US" dirty="0"/>
              <a:t>The Java programming language exemplifies many of the concepts that we have discussed so far in this Unit</a:t>
            </a:r>
          </a:p>
          <a:p>
            <a:r>
              <a:rPr lang="en-US" dirty="0"/>
              <a:t>Java programs execute within a virtual machine, the </a:t>
            </a:r>
            <a:r>
              <a:rPr lang="en-US" b="1" dirty="0"/>
              <a:t>Java Virtual Machine</a:t>
            </a:r>
            <a:r>
              <a:rPr lang="en-US" dirty="0"/>
              <a:t> (JVM). </a:t>
            </a:r>
          </a:p>
          <a:p>
            <a:r>
              <a:rPr lang="en-US" dirty="0"/>
              <a:t>This allows the language to run on any platform for which a virtual machine environment has been written. (“Write once, run anywhere.”)</a:t>
            </a:r>
          </a:p>
          <a:p>
            <a:r>
              <a:rPr lang="en-US" dirty="0"/>
              <a:t>Java is both a compiled and an interpreted language. The output of the compilation process is an assembly-like intermediate code (</a:t>
            </a:r>
            <a:r>
              <a:rPr lang="en-US" b="1" dirty="0"/>
              <a:t>bytecode</a:t>
            </a:r>
            <a:r>
              <a:rPr lang="en-US" dirty="0"/>
              <a:t>) that is interpreted by the JVM.</a:t>
            </a:r>
          </a:p>
          <a:p>
            <a:r>
              <a:rPr lang="en-US" dirty="0"/>
              <a:t>The JVM is an operating system in miniature. It runs programs, manages program resources, and deallocates resources when the programs terminate.</a:t>
            </a:r>
          </a:p>
          <a:p>
            <a:endParaRPr lang="en-US" dirty="0"/>
          </a:p>
        </p:txBody>
      </p:sp>
    </p:spTree>
    <p:extLst>
      <p:ext uri="{BB962C8B-B14F-4D97-AF65-F5344CB8AC3E}">
        <p14:creationId xmlns:p14="http://schemas.microsoft.com/office/powerpoint/2010/main" val="529263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Java: </a:t>
            </a:r>
            <a:r>
              <a:rPr lang="en-US" strike="sngStrike" dirty="0"/>
              <a:t>All</a:t>
            </a:r>
            <a:r>
              <a:rPr lang="en-US" dirty="0"/>
              <a:t> Most of the Above</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Because the JVM performs many tasks at run time, its performance cannot match the performance of a traditional compiled language. </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981199"/>
            <a:ext cx="10477911" cy="2781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66178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Database Software</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5213445" cy="5257800"/>
          </a:xfrm>
        </p:spPr>
        <p:txBody>
          <a:bodyPr/>
          <a:lstStyle/>
          <a:p>
            <a:r>
              <a:rPr lang="en-US" dirty="0"/>
              <a:t>Database systems contain the most valuable assets of an enterprise.</a:t>
            </a:r>
          </a:p>
          <a:p>
            <a:r>
              <a:rPr lang="en-US" dirty="0"/>
              <a:t>They are the foundation upon which </a:t>
            </a:r>
            <a:r>
              <a:rPr lang="en-US" b="1" dirty="0"/>
              <a:t>application systems</a:t>
            </a:r>
            <a:r>
              <a:rPr lang="en-US" dirty="0"/>
              <a:t> are built.</a:t>
            </a:r>
          </a:p>
          <a:p>
            <a:r>
              <a:rPr lang="en-US" dirty="0"/>
              <a:t>The </a:t>
            </a:r>
            <a:r>
              <a:rPr lang="en-US" b="1" dirty="0"/>
              <a:t>database manager</a:t>
            </a:r>
            <a:r>
              <a:rPr lang="en-US" dirty="0"/>
              <a:t> (also called the </a:t>
            </a:r>
            <a:r>
              <a:rPr lang="en-US" b="1" dirty="0"/>
              <a:t>database engine</a:t>
            </a:r>
            <a:r>
              <a:rPr lang="en-US" dirty="0"/>
              <a:t>) provides an interface for application programs to interact with the data stored in the data files</a:t>
            </a:r>
          </a:p>
        </p:txBody>
      </p:sp>
      <p:pic>
        <p:nvPicPr>
          <p:cNvPr id="4"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878773" y="632619"/>
            <a:ext cx="5703627" cy="5556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423005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Database Software</a:t>
            </a:r>
          </a:p>
        </p:txBody>
      </p:sp>
      <p:pic>
        <p:nvPicPr>
          <p:cNvPr id="4" name="Picture 3" descr="c12f06"/>
          <p:cNvPicPr preferRelativeResize="0">
            <a:picLocks noChangeAspect="1" noChangeArrowheads="1"/>
          </p:cNvPicPr>
          <p:nvPr/>
        </p:nvPicPr>
        <p:blipFill>
          <a:blip r:embed="rId2" cstate="print"/>
          <a:srcRect/>
          <a:stretch>
            <a:fillRect/>
          </a:stretch>
        </p:blipFill>
        <p:spPr bwMode="auto">
          <a:xfrm>
            <a:off x="6096000" y="3276600"/>
            <a:ext cx="5533697" cy="2971800"/>
          </a:xfrm>
          <a:prstGeom prst="rect">
            <a:avLst/>
          </a:prstGeom>
          <a:noFill/>
          <a:ln w="9525">
            <a:noFill/>
            <a:miter lim="800000"/>
            <a:headEnd/>
            <a:tailEnd/>
          </a:ln>
          <a:effectLst/>
        </p:spPr>
      </p:pic>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lnSpcReduction="10000"/>
          </a:bodyPr>
          <a:lstStyle/>
          <a:p>
            <a:r>
              <a:rPr lang="en-US" dirty="0"/>
              <a:t>The database engine will support the common </a:t>
            </a:r>
            <a:r>
              <a:rPr lang="en-US" b="1" dirty="0"/>
              <a:t>CRUD</a:t>
            </a:r>
            <a:r>
              <a:rPr lang="en-US" dirty="0"/>
              <a:t> operations on data: create, read, update, delete</a:t>
            </a:r>
          </a:p>
          <a:p>
            <a:r>
              <a:rPr lang="en-US" dirty="0"/>
              <a:t>Database systems provide a single definition, the database </a:t>
            </a:r>
            <a:r>
              <a:rPr lang="en-US" b="1" dirty="0"/>
              <a:t>schema</a:t>
            </a:r>
            <a:r>
              <a:rPr lang="en-US" dirty="0"/>
              <a:t>, for the data elements that are accessed by application programs.</a:t>
            </a:r>
          </a:p>
          <a:p>
            <a:pPr lvl="1"/>
            <a:r>
              <a:rPr lang="en-US" dirty="0"/>
              <a:t>A </a:t>
            </a:r>
            <a:r>
              <a:rPr lang="en-US" b="1" dirty="0"/>
              <a:t>physical schema</a:t>
            </a:r>
            <a:r>
              <a:rPr lang="en-US" dirty="0"/>
              <a:t> is the computer’s view of the database that includes locations of physical files and indexes.</a:t>
            </a:r>
          </a:p>
          <a:p>
            <a:pPr lvl="1"/>
            <a:r>
              <a:rPr lang="en-US" dirty="0"/>
              <a:t>A </a:t>
            </a:r>
            <a:r>
              <a:rPr lang="en-US" b="1" dirty="0"/>
              <a:t>logical schema</a:t>
            </a:r>
            <a:r>
              <a:rPr lang="en-US" dirty="0"/>
              <a:t> is the application </a:t>
            </a:r>
            <a:br>
              <a:rPr lang="en-US" dirty="0"/>
            </a:br>
            <a:r>
              <a:rPr lang="en-US" dirty="0"/>
              <a:t>program’s view of the database that </a:t>
            </a:r>
            <a:br>
              <a:rPr lang="en-US" dirty="0"/>
            </a:br>
            <a:r>
              <a:rPr lang="en-US" dirty="0"/>
              <a:t>defines field sizes and data types.</a:t>
            </a:r>
          </a:p>
          <a:p>
            <a:r>
              <a:rPr lang="en-US" dirty="0"/>
              <a:t>The logical scheme defines the </a:t>
            </a:r>
            <a:br>
              <a:rPr lang="en-US" dirty="0"/>
            </a:br>
            <a:r>
              <a:rPr lang="en-US" dirty="0"/>
              <a:t>structure of the data as perceived </a:t>
            </a:r>
            <a:br>
              <a:rPr lang="en-US" dirty="0"/>
            </a:br>
            <a:r>
              <a:rPr lang="en-US" dirty="0"/>
              <a:t>by the user and used by the software</a:t>
            </a:r>
          </a:p>
          <a:p>
            <a:endParaRPr lang="en-US" dirty="0"/>
          </a:p>
        </p:txBody>
      </p:sp>
    </p:spTree>
    <p:extLst>
      <p:ext uri="{BB962C8B-B14F-4D97-AF65-F5344CB8AC3E}">
        <p14:creationId xmlns:p14="http://schemas.microsoft.com/office/powerpoint/2010/main" val="3718054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The Relational Model</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b="1" dirty="0"/>
              <a:t>Relational DBMS</a:t>
            </a:r>
            <a:r>
              <a:rPr lang="en-US" dirty="0"/>
              <a:t>: a DBMS in which the data items and the relationships among them are organized into tables</a:t>
            </a:r>
          </a:p>
          <a:p>
            <a:r>
              <a:rPr lang="en-US" b="1" dirty="0"/>
              <a:t>Table</a:t>
            </a:r>
            <a:r>
              <a:rPr lang="en-US" dirty="0"/>
              <a:t>: a collection of records</a:t>
            </a:r>
          </a:p>
          <a:p>
            <a:r>
              <a:rPr lang="en-US" b="1" dirty="0"/>
              <a:t>Record</a:t>
            </a:r>
            <a:r>
              <a:rPr lang="en-US" dirty="0"/>
              <a:t>: a collection of related fields that make up a single database entry and that usually represents some object or entity in the real world</a:t>
            </a:r>
          </a:p>
          <a:p>
            <a:r>
              <a:rPr lang="en-US" b="1" dirty="0"/>
              <a:t>Field</a:t>
            </a:r>
            <a:r>
              <a:rPr lang="en-US" dirty="0"/>
              <a:t>: a single value in a database record that represents some attribute of an object</a:t>
            </a:r>
          </a:p>
          <a:p>
            <a:pPr lvl="1"/>
            <a:r>
              <a:rPr lang="en-US" dirty="0"/>
              <a:t>Each field has a data type, like date/time, integer, text, and so on</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7874292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An Example Database Table</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How do we uniquely identify a record in the </a:t>
            </a:r>
            <a:r>
              <a:rPr lang="en-US" b="1" dirty="0">
                <a:latin typeface="Courier New" panose="02070309020205020404" pitchFamily="49" charset="0"/>
                <a:cs typeface="Courier New" panose="02070309020205020404" pitchFamily="49" charset="0"/>
              </a:rPr>
              <a:t>Movie</a:t>
            </a:r>
            <a:r>
              <a:rPr lang="en-US" dirty="0"/>
              <a:t> table below?</a:t>
            </a:r>
          </a:p>
          <a:p>
            <a:endParaRPr lang="en-US" dirty="0"/>
          </a:p>
          <a:p>
            <a:endParaRPr lang="en-US" dirty="0"/>
          </a:p>
        </p:txBody>
      </p:sp>
      <p:pic>
        <p:nvPicPr>
          <p:cNvPr id="4" name="Picture 8" descr="41493_CH12_FIG7"/>
          <p:cNvPicPr>
            <a:picLocks noChangeAspect="1" noChangeArrowheads="1"/>
          </p:cNvPicPr>
          <p:nvPr/>
        </p:nvPicPr>
        <p:blipFill rotWithShape="1">
          <a:blip r:embed="rId2" cstate="print"/>
          <a:srcRect t="4780"/>
          <a:stretch/>
        </p:blipFill>
        <p:spPr bwMode="auto">
          <a:xfrm>
            <a:off x="987137" y="1715884"/>
            <a:ext cx="6553200" cy="4399811"/>
          </a:xfrm>
          <a:prstGeom prst="rect">
            <a:avLst/>
          </a:prstGeom>
          <a:noFill/>
        </p:spPr>
      </p:pic>
    </p:spTree>
    <p:extLst>
      <p:ext uri="{BB962C8B-B14F-4D97-AF65-F5344CB8AC3E}">
        <p14:creationId xmlns:p14="http://schemas.microsoft.com/office/powerpoint/2010/main" val="8142238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The Relational Model</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Within the logical schema, certain data fields are designated as record </a:t>
            </a:r>
            <a:r>
              <a:rPr lang="en-US" b="1" dirty="0"/>
              <a:t>keys</a:t>
            </a:r>
            <a:r>
              <a:rPr lang="en-US" dirty="0"/>
              <a:t> that provide efficient access to records in the database.</a:t>
            </a:r>
          </a:p>
          <a:p>
            <a:pPr lvl="1"/>
            <a:r>
              <a:rPr lang="en-US" dirty="0"/>
              <a:t>The key is one or more fields of a database record that uniquely identifies it among all other records in the table</a:t>
            </a:r>
          </a:p>
          <a:p>
            <a:pPr lvl="1"/>
            <a:r>
              <a:rPr lang="en-US" dirty="0"/>
              <a:t>We can express the schema for this part of the database as follows:</a:t>
            </a:r>
          </a:p>
          <a:p>
            <a:pPr marL="627063" lvl="1" indent="0">
              <a:buNone/>
            </a:pPr>
            <a:r>
              <a:rPr lang="en-US" b="1" dirty="0">
                <a:latin typeface="Courier New" panose="02070309020205020404" pitchFamily="49" charset="0"/>
                <a:cs typeface="Courier New" panose="02070309020205020404" pitchFamily="49" charset="0"/>
              </a:rPr>
              <a:t>Movie (</a:t>
            </a:r>
            <a:r>
              <a:rPr lang="en-US" b="1" dirty="0" err="1">
                <a:latin typeface="Courier New" panose="02070309020205020404" pitchFamily="49" charset="0"/>
                <a:cs typeface="Courier New" panose="02070309020205020404" pitchFamily="49" charset="0"/>
              </a:rPr>
              <a:t>MovieId:key</a:t>
            </a:r>
            <a:r>
              <a:rPr lang="en-US" b="1" dirty="0">
                <a:latin typeface="Courier New" panose="02070309020205020404" pitchFamily="49" charset="0"/>
                <a:cs typeface="Courier New" panose="02070309020205020404" pitchFamily="49" charset="0"/>
              </a:rPr>
              <a:t>, Title, Genre, Rating)</a:t>
            </a:r>
          </a:p>
          <a:p>
            <a:r>
              <a:rPr lang="en-US" dirty="0"/>
              <a:t>Why not simply use a movie’s title as the key?</a:t>
            </a:r>
          </a:p>
          <a:p>
            <a:endParaRPr lang="en-US" dirty="0"/>
          </a:p>
          <a:p>
            <a:endParaRPr lang="en-US" dirty="0"/>
          </a:p>
        </p:txBody>
      </p:sp>
    </p:spTree>
    <p:extLst>
      <p:ext uri="{BB962C8B-B14F-4D97-AF65-F5344CB8AC3E}">
        <p14:creationId xmlns:p14="http://schemas.microsoft.com/office/powerpoint/2010/main" val="39123715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Another Example Database Table</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386840"/>
            <a:ext cx="10972800" cy="5013959"/>
          </a:xfrm>
        </p:spPr>
        <p:txBody>
          <a:bodyPr>
            <a:normAutofit lnSpcReduction="10000"/>
          </a:bodyPr>
          <a:lstStyle/>
          <a:p>
            <a:r>
              <a:rPr lang="en-US" dirty="0"/>
              <a:t>The </a:t>
            </a:r>
            <a:r>
              <a:rPr lang="en-US" b="1" dirty="0">
                <a:latin typeface="Courier New" panose="02070309020205020404" pitchFamily="49" charset="0"/>
                <a:cs typeface="Courier New" panose="02070309020205020404" pitchFamily="49" charset="0"/>
              </a:rPr>
              <a:t>Customer</a:t>
            </a:r>
            <a:r>
              <a:rPr lang="en-US" dirty="0"/>
              <a:t> table:</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How might we record that a particular customer has rented a particular movie?</a:t>
            </a:r>
          </a:p>
        </p:txBody>
      </p:sp>
      <p:pic>
        <p:nvPicPr>
          <p:cNvPr id="4" name="Picture 9" descr="41493_CH12_FIG8"/>
          <p:cNvPicPr>
            <a:picLocks noChangeAspect="1" noChangeArrowheads="1"/>
          </p:cNvPicPr>
          <p:nvPr/>
        </p:nvPicPr>
        <p:blipFill rotWithShape="1">
          <a:blip r:embed="rId2" cstate="print"/>
          <a:srcRect t="6008"/>
          <a:stretch/>
        </p:blipFill>
        <p:spPr bwMode="auto">
          <a:xfrm>
            <a:off x="914399" y="2030346"/>
            <a:ext cx="7848601" cy="3227454"/>
          </a:xfrm>
          <a:prstGeom prst="rect">
            <a:avLst/>
          </a:prstGeom>
          <a:noFill/>
        </p:spPr>
      </p:pic>
    </p:spTree>
    <p:extLst>
      <p:ext uri="{BB962C8B-B14F-4D97-AF65-F5344CB8AC3E}">
        <p14:creationId xmlns:p14="http://schemas.microsoft.com/office/powerpoint/2010/main" val="502415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t>Relationships</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How do we relate movies to customers?</a:t>
            </a:r>
          </a:p>
          <a:p>
            <a:r>
              <a:rPr lang="en-US" dirty="0"/>
              <a:t>By a table, of course!</a:t>
            </a:r>
          </a:p>
          <a:p>
            <a:r>
              <a:rPr lang="en-US" dirty="0"/>
              <a:t>The </a:t>
            </a:r>
            <a:r>
              <a:rPr lang="en-US" b="1" dirty="0">
                <a:latin typeface="Courier New" panose="02070309020205020404" pitchFamily="49" charset="0"/>
                <a:cs typeface="Courier New" panose="02070309020205020404" pitchFamily="49" charset="0"/>
              </a:rPr>
              <a:t>Rents</a:t>
            </a:r>
            <a:r>
              <a:rPr lang="en-US" dirty="0"/>
              <a:t> table below tells us which customer is renting which movie(s)</a:t>
            </a:r>
          </a:p>
          <a:p>
            <a:endParaRPr lang="en-US" dirty="0"/>
          </a:p>
          <a:p>
            <a:endParaRPr lang="en-US" dirty="0"/>
          </a:p>
        </p:txBody>
      </p:sp>
      <p:pic>
        <p:nvPicPr>
          <p:cNvPr id="4" name="Picture 7" descr="41493_CH12_FIG9"/>
          <p:cNvPicPr>
            <a:picLocks noChangeAspect="1" noChangeArrowheads="1"/>
          </p:cNvPicPr>
          <p:nvPr/>
        </p:nvPicPr>
        <p:blipFill rotWithShape="1">
          <a:blip r:embed="rId2" cstate="print"/>
          <a:srcRect t="11008"/>
          <a:stretch/>
        </p:blipFill>
        <p:spPr bwMode="auto">
          <a:xfrm>
            <a:off x="2205789" y="3676782"/>
            <a:ext cx="8235585" cy="2379983"/>
          </a:xfrm>
          <a:prstGeom prst="rect">
            <a:avLst/>
          </a:prstGeom>
          <a:noFill/>
        </p:spPr>
      </p:pic>
    </p:spTree>
    <p:extLst>
      <p:ext uri="{BB962C8B-B14F-4D97-AF65-F5344CB8AC3E}">
        <p14:creationId xmlns:p14="http://schemas.microsoft.com/office/powerpoint/2010/main" val="3457136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Database Software: Transaction Management</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Most database systems also include </a:t>
            </a:r>
            <a:r>
              <a:rPr lang="en-US" b="1" dirty="0"/>
              <a:t>transaction management</a:t>
            </a:r>
            <a:r>
              <a:rPr lang="en-US" dirty="0"/>
              <a:t> components to assure that the database is always in a consistent state.</a:t>
            </a:r>
          </a:p>
          <a:p>
            <a:r>
              <a:rPr lang="en-US" dirty="0"/>
              <a:t>Transaction management provides the following “ACID” properties:</a:t>
            </a:r>
          </a:p>
          <a:p>
            <a:pPr lvl="1"/>
            <a:r>
              <a:rPr lang="en-US" b="1" dirty="0"/>
              <a:t>Atomicity</a:t>
            </a:r>
            <a:r>
              <a:rPr lang="en-US" dirty="0"/>
              <a:t>: All related updates occur, or no updates occur.</a:t>
            </a:r>
          </a:p>
          <a:p>
            <a:pPr lvl="1"/>
            <a:r>
              <a:rPr lang="en-US" b="1" dirty="0"/>
              <a:t>Consistency</a:t>
            </a:r>
            <a:r>
              <a:rPr lang="en-US" dirty="0"/>
              <a:t>: All updates conform to defined data constraints.</a:t>
            </a:r>
          </a:p>
          <a:p>
            <a:pPr lvl="1"/>
            <a:r>
              <a:rPr lang="en-US" b="1" dirty="0"/>
              <a:t>Isolation</a:t>
            </a:r>
            <a:r>
              <a:rPr lang="en-US" dirty="0"/>
              <a:t>: No transaction can interfere with another transaction.</a:t>
            </a:r>
          </a:p>
          <a:p>
            <a:pPr lvl="1"/>
            <a:r>
              <a:rPr lang="en-US" b="1" dirty="0"/>
              <a:t>Durability</a:t>
            </a:r>
            <a:r>
              <a:rPr lang="en-US" dirty="0"/>
              <a:t>: Successful updates are written to durable media as soon as possible.</a:t>
            </a:r>
          </a:p>
          <a:p>
            <a:pPr lvl="1"/>
            <a:endParaRPr lang="en-US" dirty="0"/>
          </a:p>
        </p:txBody>
      </p:sp>
    </p:spTree>
    <p:extLst>
      <p:ext uri="{BB962C8B-B14F-4D97-AF65-F5344CB8AC3E}">
        <p14:creationId xmlns:p14="http://schemas.microsoft.com/office/powerpoint/2010/main" val="23030832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Database Software: Transaction Management</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Without the ACID properties, </a:t>
            </a:r>
            <a:r>
              <a:rPr lang="en-US" b="1" dirty="0"/>
              <a:t>race conditions</a:t>
            </a:r>
            <a:r>
              <a:rPr lang="en-US" dirty="0"/>
              <a:t> can occur:</a:t>
            </a:r>
          </a:p>
          <a:p>
            <a:endParaRPr lang="en-US" dirty="0"/>
          </a:p>
        </p:txBody>
      </p:sp>
      <p:pic>
        <p:nvPicPr>
          <p:cNvPr id="4"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27221" y="2342148"/>
            <a:ext cx="9971590" cy="4371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712953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Database Software: Transaction Management</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lnSpcReduction="10000"/>
          </a:bodyPr>
          <a:lstStyle/>
          <a:p>
            <a:pPr>
              <a:spcBef>
                <a:spcPts val="600"/>
              </a:spcBef>
            </a:pPr>
            <a:r>
              <a:rPr lang="en-US" dirty="0"/>
              <a:t>In the previous example, the final state of the database depends not on the correctness of the updates, but on which transaction happens to finish last</a:t>
            </a:r>
          </a:p>
          <a:p>
            <a:pPr>
              <a:spcBef>
                <a:spcPts val="600"/>
              </a:spcBef>
            </a:pPr>
            <a:r>
              <a:rPr lang="en-US" altLang="en-US" dirty="0"/>
              <a:t>If only </a:t>
            </a:r>
            <a:r>
              <a:rPr lang="en-US" altLang="en-US" i="1" dirty="0"/>
              <a:t>read</a:t>
            </a:r>
            <a:r>
              <a:rPr lang="en-US" altLang="en-US" dirty="0"/>
              <a:t> operations are taking place on a database, then no race condition can exist</a:t>
            </a:r>
          </a:p>
          <a:p>
            <a:pPr>
              <a:spcBef>
                <a:spcPts val="600"/>
              </a:spcBef>
            </a:pPr>
            <a:r>
              <a:rPr lang="en-US" altLang="en-US" dirty="0"/>
              <a:t>The trouble lies with </a:t>
            </a:r>
            <a:r>
              <a:rPr lang="en-US" altLang="en-US" i="1" dirty="0"/>
              <a:t>write</a:t>
            </a:r>
            <a:r>
              <a:rPr lang="en-US" altLang="en-US" dirty="0"/>
              <a:t> operations that are not properly synchronized for concurrently executed transactions</a:t>
            </a:r>
          </a:p>
          <a:p>
            <a:pPr lvl="1">
              <a:spcBef>
                <a:spcPts val="600"/>
              </a:spcBef>
            </a:pPr>
            <a:r>
              <a:rPr lang="en-US" altLang="en-US" dirty="0"/>
              <a:t>The transactions need to be executed sequentially and atomically</a:t>
            </a:r>
          </a:p>
          <a:p>
            <a:pPr lvl="1"/>
            <a:r>
              <a:rPr lang="en-US" dirty="0"/>
              <a:t>A </a:t>
            </a:r>
            <a:r>
              <a:rPr lang="en-US" b="1" dirty="0"/>
              <a:t>race condition</a:t>
            </a:r>
            <a:r>
              <a:rPr lang="en-US" dirty="0"/>
              <a:t> is present when the final state of the database depends on which of several concurrently executing transactions completes first (wins the “race”), leading to data inconsistencies</a:t>
            </a:r>
          </a:p>
        </p:txBody>
      </p:sp>
    </p:spTree>
    <p:extLst>
      <p:ext uri="{BB962C8B-B14F-4D97-AF65-F5344CB8AC3E}">
        <p14:creationId xmlns:p14="http://schemas.microsoft.com/office/powerpoint/2010/main" val="314627175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Database Software: Transaction Management</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b="1" dirty="0"/>
              <a:t>Record locking</a:t>
            </a:r>
            <a:r>
              <a:rPr lang="en-US" dirty="0"/>
              <a:t> mechanisms assure isolated, atomic database updates and help avoid race conditions</a:t>
            </a:r>
          </a:p>
          <a:p>
            <a:endParaRPr lang="en-US" dirty="0"/>
          </a:p>
        </p:txBody>
      </p:sp>
      <p:pic>
        <p:nvPicPr>
          <p:cNvPr id="4"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412259" y="2474328"/>
            <a:ext cx="6471934" cy="4018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193558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Database Software: Transaction Management</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In enterprise systems, the DBMS will maintain </a:t>
            </a:r>
            <a:r>
              <a:rPr lang="en-US" b="1" dirty="0"/>
              <a:t>log</a:t>
            </a:r>
            <a:r>
              <a:rPr lang="en-US" dirty="0"/>
              <a:t> files of the transactions performed on the database</a:t>
            </a:r>
          </a:p>
          <a:p>
            <a:r>
              <a:rPr lang="en-US" dirty="0"/>
              <a:t>The transaction is recorded to the log file before being executed on the database</a:t>
            </a:r>
          </a:p>
          <a:p>
            <a:pPr lvl="1"/>
            <a:r>
              <a:rPr lang="en-US" dirty="0"/>
              <a:t>This is called </a:t>
            </a:r>
            <a:r>
              <a:rPr lang="en-US" b="1" dirty="0"/>
              <a:t>write-ahead logging</a:t>
            </a:r>
          </a:p>
          <a:p>
            <a:r>
              <a:rPr lang="en-US" dirty="0"/>
              <a:t>Logs are helpful for error recovery if the database becomes corrupted before being backed up</a:t>
            </a:r>
          </a:p>
          <a:p>
            <a:r>
              <a:rPr lang="en-US" dirty="0"/>
              <a:t>The log file can be used to restore the proper state of the database</a:t>
            </a:r>
          </a:p>
          <a:p>
            <a:endParaRPr lang="en-US" dirty="0"/>
          </a:p>
        </p:txBody>
      </p:sp>
    </p:spTree>
    <p:extLst>
      <p:ext uri="{BB962C8B-B14F-4D97-AF65-F5344CB8AC3E}">
        <p14:creationId xmlns:p14="http://schemas.microsoft.com/office/powerpoint/2010/main" val="31589933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Database Software: Transaction Management</a:t>
            </a:r>
          </a:p>
        </p:txBody>
      </p:sp>
      <p:pic>
        <p:nvPicPr>
          <p:cNvPr id="5" name="Picture 7" descr="4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0554" y="1588168"/>
            <a:ext cx="5539209" cy="4486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5715000" cy="5257800"/>
          </a:xfrm>
        </p:spPr>
        <p:txBody>
          <a:bodyPr>
            <a:normAutofit lnSpcReduction="10000"/>
          </a:bodyPr>
          <a:lstStyle/>
          <a:p>
            <a:r>
              <a:rPr lang="en-US" dirty="0"/>
              <a:t>One way to improve database performance is to have it do less work by moving some of its functions to specialized software.</a:t>
            </a:r>
          </a:p>
          <a:p>
            <a:r>
              <a:rPr lang="en-US" dirty="0"/>
              <a:t>Transaction management is one component that is often partitioned from the core database system.</a:t>
            </a:r>
          </a:p>
          <a:p>
            <a:r>
              <a:rPr lang="en-US" dirty="0"/>
              <a:t>Transaction managers are especially important when the transactions involve more than one physical database, or the application system spans more than one class of computer, as in </a:t>
            </a:r>
            <a:r>
              <a:rPr lang="en-US"/>
              <a:t>a </a:t>
            </a:r>
            <a:r>
              <a:rPr lang="en-US" b="1"/>
              <a:t>multi-tiered </a:t>
            </a:r>
            <a:r>
              <a:rPr lang="en-US" b="1" dirty="0"/>
              <a:t>architecture</a:t>
            </a:r>
            <a:r>
              <a:rPr lang="en-US" dirty="0"/>
              <a:t>.</a:t>
            </a:r>
          </a:p>
          <a:p>
            <a:endParaRPr lang="en-US" dirty="0"/>
          </a:p>
        </p:txBody>
      </p:sp>
    </p:spTree>
    <p:extLst>
      <p:ext uri="{BB962C8B-B14F-4D97-AF65-F5344CB8AC3E}">
        <p14:creationId xmlns:p14="http://schemas.microsoft.com/office/powerpoint/2010/main" val="42763458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C396D4F3FBE81459556FDCA3F477A03" ma:contentTypeVersion="4" ma:contentTypeDescription="Create a new document." ma:contentTypeScope="" ma:versionID="b755ac89c73d1625610c43508c66eda4">
  <xsd:schema xmlns:xsd="http://www.w3.org/2001/XMLSchema" xmlns:xs="http://www.w3.org/2001/XMLSchema" xmlns:p="http://schemas.microsoft.com/office/2006/metadata/properties" xmlns:ns2="1a22e323-47b0-4d47-8cfa-1000afc68f2b" targetNamespace="http://schemas.microsoft.com/office/2006/metadata/properties" ma:root="true" ma:fieldsID="58f068782b86ca64c32db991266d7ab4" ns2:_="">
    <xsd:import namespace="1a22e323-47b0-4d47-8cfa-1000afc68f2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22e323-47b0-4d47-8cfa-1000afc68f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13F36A8-DFFD-4C0E-AF31-4983E20C4A97}"/>
</file>

<file path=customXml/itemProps2.xml><?xml version="1.0" encoding="utf-8"?>
<ds:datastoreItem xmlns:ds="http://schemas.openxmlformats.org/officeDocument/2006/customXml" ds:itemID="{E96027B2-46BB-404B-B67A-74AB0752606A}"/>
</file>

<file path=customXml/itemProps3.xml><?xml version="1.0" encoding="utf-8"?>
<ds:datastoreItem xmlns:ds="http://schemas.openxmlformats.org/officeDocument/2006/customXml" ds:itemID="{3DABAC1A-FFEC-46CB-A8C0-255C804A98DD}"/>
</file>

<file path=docProps/app.xml><?xml version="1.0" encoding="utf-8"?>
<Properties xmlns="http://schemas.openxmlformats.org/officeDocument/2006/extended-properties" xmlns:vt="http://schemas.openxmlformats.org/officeDocument/2006/docPropsVTypes">
  <TotalTime>2094</TotalTime>
  <Words>3992</Words>
  <Application>Microsoft Office PowerPoint</Application>
  <PresentationFormat>Widescreen</PresentationFormat>
  <Paragraphs>337</Paragraphs>
  <Slides>53</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Arial</vt:lpstr>
      <vt:lpstr>Calibri</vt:lpstr>
      <vt:lpstr>Calibri Light</vt:lpstr>
      <vt:lpstr>Courier New</vt:lpstr>
      <vt:lpstr>Wingdings</vt:lpstr>
      <vt:lpstr>Office Theme</vt:lpstr>
      <vt:lpstr>ISE 218: Fundamentals of Information Technology Unit 7: System Software</vt:lpstr>
      <vt:lpstr>Objective</vt:lpstr>
      <vt:lpstr>Introduction</vt:lpstr>
      <vt:lpstr>A Quick History of Operating Systems</vt:lpstr>
      <vt:lpstr>A Quick History of Operating Systems</vt:lpstr>
      <vt:lpstr>A Quick History of Operating Systems</vt:lpstr>
      <vt:lpstr>Symmetric Multiprocessor Architecture</vt:lpstr>
      <vt:lpstr>A Quick History of Operating Systems</vt:lpstr>
      <vt:lpstr>A Quick History of Operating Systems</vt:lpstr>
      <vt:lpstr>A Quick History of Operating Systems</vt:lpstr>
      <vt:lpstr>Operating System Design</vt:lpstr>
      <vt:lpstr>Operating System Design</vt:lpstr>
      <vt:lpstr>Operating System Services</vt:lpstr>
      <vt:lpstr>Operating System Services</vt:lpstr>
      <vt:lpstr>Process States</vt:lpstr>
      <vt:lpstr>Process Scheduling</vt:lpstr>
      <vt:lpstr>Process Scheduling</vt:lpstr>
      <vt:lpstr>Process Scheduling</vt:lpstr>
      <vt:lpstr>First-come, First-served Scheduling</vt:lpstr>
      <vt:lpstr>Shortest Job First Scheduling</vt:lpstr>
      <vt:lpstr>Round Robin Scheduling</vt:lpstr>
      <vt:lpstr>Round Robin Scheduling</vt:lpstr>
      <vt:lpstr>Process Scheduling</vt:lpstr>
      <vt:lpstr>Resource Management</vt:lpstr>
      <vt:lpstr>Protected Environments</vt:lpstr>
      <vt:lpstr>Virtual Machines</vt:lpstr>
      <vt:lpstr>Virtual Machines</vt:lpstr>
      <vt:lpstr>Subsystems and Partitions</vt:lpstr>
      <vt:lpstr>Subsystems Example</vt:lpstr>
      <vt:lpstr>Partitions</vt:lpstr>
      <vt:lpstr>Logical Partitions Example</vt:lpstr>
      <vt:lpstr>Logical Partitions</vt:lpstr>
      <vt:lpstr>Server Consolidation</vt:lpstr>
      <vt:lpstr>Server Consolidation</vt:lpstr>
      <vt:lpstr>Programming Tools</vt:lpstr>
      <vt:lpstr>Programming Tools</vt:lpstr>
      <vt:lpstr>Programming Tools</vt:lpstr>
      <vt:lpstr>Programming Tools</vt:lpstr>
      <vt:lpstr>Java: All Most of the Above</vt:lpstr>
      <vt:lpstr>Java: All Most of the Above</vt:lpstr>
      <vt:lpstr>Database Software</vt:lpstr>
      <vt:lpstr>Database Software</vt:lpstr>
      <vt:lpstr>The Relational Model</vt:lpstr>
      <vt:lpstr>An Example Database Table</vt:lpstr>
      <vt:lpstr>The Relational Model</vt:lpstr>
      <vt:lpstr>Another Example Database Table</vt:lpstr>
      <vt:lpstr>Relationships</vt:lpstr>
      <vt:lpstr>Database Software: Transaction Management</vt:lpstr>
      <vt:lpstr>Database Software: Transaction Management</vt:lpstr>
      <vt:lpstr>Database Software: Transaction Management</vt:lpstr>
      <vt:lpstr>Database Software: Transaction Management</vt:lpstr>
      <vt:lpstr>Database Software: Transaction Management</vt:lpstr>
      <vt:lpstr>Database Software: Transaction Management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Raza, Ali x58396</dc:creator>
  <cp:lastModifiedBy>于 心瑞 Xinrui YU</cp:lastModifiedBy>
  <cp:revision>7</cp:revision>
  <dcterms:created xsi:type="dcterms:W3CDTF">2019-11-12T04:43:50Z</dcterms:created>
  <dcterms:modified xsi:type="dcterms:W3CDTF">2025-05-15T07:27:29Z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0x010100AC396D4F3FBE81459556FDCA3F477A03</vt:lpwstr>
  </property>
</Properties>
</file>