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80" r:id="rId2"/>
    <p:sldId id="284" r:id="rId3"/>
    <p:sldId id="282" r:id="rId4"/>
    <p:sldId id="299" r:id="rId5"/>
    <p:sldId id="461" r:id="rId6"/>
    <p:sldId id="450" r:id="rId7"/>
    <p:sldId id="464" r:id="rId8"/>
    <p:sldId id="427" r:id="rId9"/>
    <p:sldId id="452" r:id="rId10"/>
    <p:sldId id="466" r:id="rId11"/>
    <p:sldId id="437" r:id="rId12"/>
    <p:sldId id="479" r:id="rId13"/>
    <p:sldId id="477" r:id="rId14"/>
    <p:sldId id="478" r:id="rId15"/>
    <p:sldId id="480" r:id="rId16"/>
    <p:sldId id="467" r:id="rId17"/>
    <p:sldId id="300" r:id="rId18"/>
    <p:sldId id="302" r:id="rId19"/>
    <p:sldId id="469" r:id="rId20"/>
    <p:sldId id="470" r:id="rId21"/>
    <p:sldId id="471" r:id="rId22"/>
    <p:sldId id="472" r:id="rId23"/>
    <p:sldId id="482" r:id="rId24"/>
    <p:sldId id="483" r:id="rId25"/>
    <p:sldId id="481" r:id="rId26"/>
    <p:sldId id="473" r:id="rId27"/>
    <p:sldId id="468" r:id="rId28"/>
    <p:sldId id="484" r:id="rId29"/>
    <p:sldId id="485" r:id="rId30"/>
    <p:sldId id="475" r:id="rId31"/>
    <p:sldId id="476" r:id="rId32"/>
  </p:sldIdLst>
  <p:sldSz cx="12192000" cy="6858000"/>
  <p:notesSz cx="6858000" cy="9144000"/>
  <p:custDataLst>
    <p:tags r:id="rId34"/>
  </p:custDataLst>
  <p:defaultTextStyle>
    <a:defPPr>
      <a:defRPr lang="zh-CN"/>
    </a:defPPr>
    <a:lvl1pPr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459">
          <p15:clr>
            <a:srgbClr val="A4A3A4"/>
          </p15:clr>
        </p15:guide>
        <p15:guide id="2" pos="50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FA3"/>
    <a:srgbClr val="437D6B"/>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63" d="100"/>
          <a:sy n="163" d="100"/>
        </p:scale>
        <p:origin x="222" y="144"/>
      </p:cViewPr>
      <p:guideLst>
        <p:guide orient="horz" pos="459"/>
        <p:guide pos="50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9153E72-90CD-45C8-A793-9C60CC3A85B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91035072-ABC9-486D-83EB-9B26D95DC06C}"/>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ea typeface="+mn-ea"/>
              </a:defRPr>
            </a:lvl1pPr>
          </a:lstStyle>
          <a:p>
            <a:pPr>
              <a:defRPr/>
            </a:pPr>
            <a:fld id="{FB3608A3-4DDF-458B-AC15-D0B4B1198D89}" type="datetimeFigureOut">
              <a:rPr lang="zh-CN" altLang="en-US"/>
              <a:pPr>
                <a:defRPr/>
              </a:pPr>
              <a:t>2021/9/19</a:t>
            </a:fld>
            <a:endParaRPr lang="zh-CN" altLang="en-US"/>
          </a:p>
        </p:txBody>
      </p:sp>
      <p:sp>
        <p:nvSpPr>
          <p:cNvPr id="4" name="幻灯片图像占位符 3">
            <a:extLst>
              <a:ext uri="{FF2B5EF4-FFF2-40B4-BE49-F238E27FC236}">
                <a16:creationId xmlns:a16="http://schemas.microsoft.com/office/drawing/2014/main" id="{EEDB8D61-02E3-4CC1-801F-F88B8A85EC8B}"/>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822DF444-69F3-471F-AA99-9102D607B23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2EF9C8BE-81F8-4AAB-A63A-8FDC45E394DF}"/>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B554C320-169F-4628-A8CF-0F7879CA8EDF}"/>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ea typeface="+mn-ea"/>
              </a:defRPr>
            </a:lvl1pPr>
          </a:lstStyle>
          <a:p>
            <a:pPr>
              <a:defRPr/>
            </a:pPr>
            <a:fld id="{E438541B-34D3-47AC-808A-6924AA36544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C481DA8-8A64-4435-B8D0-55330486FFEE}"/>
              </a:ext>
            </a:extLst>
          </p:cNvPr>
          <p:cNvSpPr>
            <a:spLocks noGrp="1"/>
          </p:cNvSpPr>
          <p:nvPr>
            <p:ph type="dt" sz="half" idx="10"/>
          </p:nvPr>
        </p:nvSpPr>
        <p:spPr/>
        <p:txBody>
          <a:bodyPr/>
          <a:lstStyle>
            <a:lvl1pPr>
              <a:defRPr/>
            </a:lvl1pPr>
          </a:lstStyle>
          <a:p>
            <a:pPr>
              <a:defRPr/>
            </a:pPr>
            <a:fld id="{7460D9FD-B979-4686-8E7B-DCFDC217AC2C}" type="datetimeFigureOut">
              <a:rPr lang="zh-CN" altLang="en-US"/>
              <a:pPr>
                <a:defRPr/>
              </a:pPr>
              <a:t>2021/9/19</a:t>
            </a:fld>
            <a:endParaRPr lang="zh-CN" altLang="en-US"/>
          </a:p>
        </p:txBody>
      </p:sp>
      <p:sp>
        <p:nvSpPr>
          <p:cNvPr id="5" name="页脚占位符 4">
            <a:extLst>
              <a:ext uri="{FF2B5EF4-FFF2-40B4-BE49-F238E27FC236}">
                <a16:creationId xmlns:a16="http://schemas.microsoft.com/office/drawing/2014/main" id="{7BE18EDD-30DB-41FE-9911-128D16DFF3F6}"/>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608CD6E-44BE-4B8B-8649-95191FDF93C6}"/>
              </a:ext>
            </a:extLst>
          </p:cNvPr>
          <p:cNvSpPr>
            <a:spLocks noGrp="1"/>
          </p:cNvSpPr>
          <p:nvPr>
            <p:ph type="sldNum" sz="quarter" idx="12"/>
          </p:nvPr>
        </p:nvSpPr>
        <p:spPr/>
        <p:txBody>
          <a:bodyPr/>
          <a:lstStyle>
            <a:lvl1pPr>
              <a:defRPr/>
            </a:lvl1pPr>
          </a:lstStyle>
          <a:p>
            <a:pPr>
              <a:defRPr/>
            </a:pPr>
            <a:fld id="{72C84F8D-36B9-4587-BC54-546E9400915D}" type="slidenum">
              <a:rPr lang="zh-CN" altLang="en-US"/>
              <a:pPr>
                <a:defRPr/>
              </a:pPr>
              <a:t>‹#›</a:t>
            </a:fld>
            <a:endParaRPr lang="zh-CN" altLang="en-US"/>
          </a:p>
        </p:txBody>
      </p:sp>
    </p:spTree>
    <p:extLst>
      <p:ext uri="{BB962C8B-B14F-4D97-AF65-F5344CB8AC3E}">
        <p14:creationId xmlns:p14="http://schemas.microsoft.com/office/powerpoint/2010/main" val="260220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D53DDFC-0F19-426E-B99E-22CB394F685D}"/>
              </a:ext>
            </a:extLst>
          </p:cNvPr>
          <p:cNvSpPr>
            <a:spLocks noGrp="1"/>
          </p:cNvSpPr>
          <p:nvPr>
            <p:ph type="dt" sz="half" idx="10"/>
          </p:nvPr>
        </p:nvSpPr>
        <p:spPr/>
        <p:txBody>
          <a:bodyPr/>
          <a:lstStyle>
            <a:lvl1pPr>
              <a:defRPr/>
            </a:lvl1pPr>
          </a:lstStyle>
          <a:p>
            <a:pPr>
              <a:defRPr/>
            </a:pPr>
            <a:fld id="{11D75158-C32C-4FA4-864D-E9D1031DEE38}" type="datetimeFigureOut">
              <a:rPr lang="zh-CN" altLang="en-US"/>
              <a:pPr>
                <a:defRPr/>
              </a:pPr>
              <a:t>2021/9/19</a:t>
            </a:fld>
            <a:endParaRPr lang="zh-CN" altLang="en-US"/>
          </a:p>
        </p:txBody>
      </p:sp>
      <p:sp>
        <p:nvSpPr>
          <p:cNvPr id="5" name="页脚占位符 4">
            <a:extLst>
              <a:ext uri="{FF2B5EF4-FFF2-40B4-BE49-F238E27FC236}">
                <a16:creationId xmlns:a16="http://schemas.microsoft.com/office/drawing/2014/main" id="{2C38C531-3297-473A-B3E9-64AF591E0B0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3D3D7D06-36D3-4464-8594-FC1B38E45FBC}"/>
              </a:ext>
            </a:extLst>
          </p:cNvPr>
          <p:cNvSpPr>
            <a:spLocks noGrp="1"/>
          </p:cNvSpPr>
          <p:nvPr>
            <p:ph type="sldNum" sz="quarter" idx="12"/>
          </p:nvPr>
        </p:nvSpPr>
        <p:spPr/>
        <p:txBody>
          <a:bodyPr/>
          <a:lstStyle>
            <a:lvl1pPr>
              <a:defRPr/>
            </a:lvl1pPr>
          </a:lstStyle>
          <a:p>
            <a:pPr>
              <a:defRPr/>
            </a:pPr>
            <a:fld id="{7FB5D768-0A50-4012-8AD8-D2511D1EA8D1}" type="slidenum">
              <a:rPr lang="zh-CN" altLang="en-US"/>
              <a:pPr>
                <a:defRPr/>
              </a:pPr>
              <a:t>‹#›</a:t>
            </a:fld>
            <a:endParaRPr lang="zh-CN" altLang="en-US"/>
          </a:p>
        </p:txBody>
      </p:sp>
    </p:spTree>
    <p:extLst>
      <p:ext uri="{BB962C8B-B14F-4D97-AF65-F5344CB8AC3E}">
        <p14:creationId xmlns:p14="http://schemas.microsoft.com/office/powerpoint/2010/main" val="4474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D422357-653B-431A-8368-1AA888B614BA}"/>
              </a:ext>
            </a:extLst>
          </p:cNvPr>
          <p:cNvSpPr>
            <a:spLocks noGrp="1"/>
          </p:cNvSpPr>
          <p:nvPr>
            <p:ph type="dt" sz="half" idx="10"/>
          </p:nvPr>
        </p:nvSpPr>
        <p:spPr/>
        <p:txBody>
          <a:bodyPr/>
          <a:lstStyle>
            <a:lvl1pPr>
              <a:defRPr/>
            </a:lvl1pPr>
          </a:lstStyle>
          <a:p>
            <a:pPr>
              <a:defRPr/>
            </a:pPr>
            <a:fld id="{97BE2F43-5307-4145-A269-5325A0117886}" type="datetimeFigureOut">
              <a:rPr lang="zh-CN" altLang="en-US"/>
              <a:pPr>
                <a:defRPr/>
              </a:pPr>
              <a:t>2021/9/19</a:t>
            </a:fld>
            <a:endParaRPr lang="zh-CN" altLang="en-US"/>
          </a:p>
        </p:txBody>
      </p:sp>
      <p:sp>
        <p:nvSpPr>
          <p:cNvPr id="5" name="页脚占位符 4">
            <a:extLst>
              <a:ext uri="{FF2B5EF4-FFF2-40B4-BE49-F238E27FC236}">
                <a16:creationId xmlns:a16="http://schemas.microsoft.com/office/drawing/2014/main" id="{7EE0EAE2-9858-4D75-9ABD-FDA811ECABD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DDD1D8B1-4FC3-47A7-A45C-7155014A2D03}"/>
              </a:ext>
            </a:extLst>
          </p:cNvPr>
          <p:cNvSpPr>
            <a:spLocks noGrp="1"/>
          </p:cNvSpPr>
          <p:nvPr>
            <p:ph type="sldNum" sz="quarter" idx="12"/>
          </p:nvPr>
        </p:nvSpPr>
        <p:spPr/>
        <p:txBody>
          <a:bodyPr/>
          <a:lstStyle>
            <a:lvl1pPr>
              <a:defRPr/>
            </a:lvl1pPr>
          </a:lstStyle>
          <a:p>
            <a:pPr>
              <a:defRPr/>
            </a:pPr>
            <a:fld id="{B04EAF96-6476-4F03-B5AB-96AB3B61D002}" type="slidenum">
              <a:rPr lang="zh-CN" altLang="en-US"/>
              <a:pPr>
                <a:defRPr/>
              </a:pPr>
              <a:t>‹#›</a:t>
            </a:fld>
            <a:endParaRPr lang="zh-CN" altLang="en-US"/>
          </a:p>
        </p:txBody>
      </p:sp>
    </p:spTree>
    <p:extLst>
      <p:ext uri="{BB962C8B-B14F-4D97-AF65-F5344CB8AC3E}">
        <p14:creationId xmlns:p14="http://schemas.microsoft.com/office/powerpoint/2010/main" val="3691047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385C3545-3E5D-4349-A366-7FDAF6E6EAE1}"/>
              </a:ext>
            </a:extLst>
          </p:cNvPr>
          <p:cNvSpPr>
            <a:spLocks noGrp="1"/>
          </p:cNvSpPr>
          <p:nvPr>
            <p:ph type="dt" sz="half" idx="10"/>
          </p:nvPr>
        </p:nvSpPr>
        <p:spPr/>
        <p:txBody>
          <a:bodyPr/>
          <a:lstStyle>
            <a:lvl1pPr>
              <a:defRPr/>
            </a:lvl1pPr>
          </a:lstStyle>
          <a:p>
            <a:pPr>
              <a:defRPr/>
            </a:pPr>
            <a:fld id="{03B8C8F8-9C16-4443-A69E-0CE0A5E7E5E1}" type="datetimeFigureOut">
              <a:rPr lang="zh-CN" altLang="en-US"/>
              <a:pPr>
                <a:defRPr/>
              </a:pPr>
              <a:t>2021/9/19</a:t>
            </a:fld>
            <a:endParaRPr lang="zh-CN" altLang="en-US"/>
          </a:p>
        </p:txBody>
      </p:sp>
      <p:sp>
        <p:nvSpPr>
          <p:cNvPr id="6" name="页脚占位符 4">
            <a:extLst>
              <a:ext uri="{FF2B5EF4-FFF2-40B4-BE49-F238E27FC236}">
                <a16:creationId xmlns:a16="http://schemas.microsoft.com/office/drawing/2014/main" id="{7F182050-FAFC-454C-860A-D327C4689287}"/>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389DEF96-8C57-42A3-BBC2-8D53A1E7895B}"/>
              </a:ext>
            </a:extLst>
          </p:cNvPr>
          <p:cNvSpPr>
            <a:spLocks noGrp="1"/>
          </p:cNvSpPr>
          <p:nvPr>
            <p:ph type="sldNum" sz="quarter" idx="12"/>
          </p:nvPr>
        </p:nvSpPr>
        <p:spPr/>
        <p:txBody>
          <a:bodyPr/>
          <a:lstStyle>
            <a:lvl1pPr>
              <a:defRPr/>
            </a:lvl1pPr>
          </a:lstStyle>
          <a:p>
            <a:pPr>
              <a:defRPr/>
            </a:pPr>
            <a:fld id="{63A14347-F67C-402C-ABA6-6BB31F6234E1}" type="slidenum">
              <a:rPr lang="zh-CN" altLang="en-US"/>
              <a:pPr>
                <a:defRPr/>
              </a:pPr>
              <a:t>‹#›</a:t>
            </a:fld>
            <a:endParaRPr lang="zh-CN" altLang="en-US"/>
          </a:p>
        </p:txBody>
      </p:sp>
    </p:spTree>
    <p:extLst>
      <p:ext uri="{BB962C8B-B14F-4D97-AF65-F5344CB8AC3E}">
        <p14:creationId xmlns:p14="http://schemas.microsoft.com/office/powerpoint/2010/main" val="1979789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9B0E9F78-0697-4D87-8776-C05B1779EAB5}"/>
              </a:ext>
            </a:extLst>
          </p:cNvPr>
          <p:cNvSpPr>
            <a:spLocks noGrp="1"/>
          </p:cNvSpPr>
          <p:nvPr>
            <p:ph type="dt" sz="half" idx="10"/>
          </p:nvPr>
        </p:nvSpPr>
        <p:spPr/>
        <p:txBody>
          <a:bodyPr/>
          <a:lstStyle>
            <a:lvl1pPr>
              <a:defRPr/>
            </a:lvl1pPr>
          </a:lstStyle>
          <a:p>
            <a:pPr>
              <a:defRPr/>
            </a:pPr>
            <a:fld id="{B83DA738-9825-4EB5-9574-7AEF58453A72}" type="datetimeFigureOut">
              <a:rPr lang="zh-CN" altLang="en-US"/>
              <a:pPr>
                <a:defRPr/>
              </a:pPr>
              <a:t>2021/9/19</a:t>
            </a:fld>
            <a:endParaRPr lang="zh-CN" altLang="en-US"/>
          </a:p>
        </p:txBody>
      </p:sp>
      <p:sp>
        <p:nvSpPr>
          <p:cNvPr id="8" name="页脚占位符 4">
            <a:extLst>
              <a:ext uri="{FF2B5EF4-FFF2-40B4-BE49-F238E27FC236}">
                <a16:creationId xmlns:a16="http://schemas.microsoft.com/office/drawing/2014/main" id="{1BCA7CF5-B0C0-4964-B582-6094CC87CBD1}"/>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80CA85B2-0B49-49E6-A051-F121BAF8461A}"/>
              </a:ext>
            </a:extLst>
          </p:cNvPr>
          <p:cNvSpPr>
            <a:spLocks noGrp="1"/>
          </p:cNvSpPr>
          <p:nvPr>
            <p:ph type="sldNum" sz="quarter" idx="12"/>
          </p:nvPr>
        </p:nvSpPr>
        <p:spPr/>
        <p:txBody>
          <a:bodyPr/>
          <a:lstStyle>
            <a:lvl1pPr>
              <a:defRPr/>
            </a:lvl1pPr>
          </a:lstStyle>
          <a:p>
            <a:pPr>
              <a:defRPr/>
            </a:pPr>
            <a:fld id="{E74C6ED6-C021-4800-A003-FCA3F9A90B6D}" type="slidenum">
              <a:rPr lang="zh-CN" altLang="en-US"/>
              <a:pPr>
                <a:defRPr/>
              </a:pPr>
              <a:t>‹#›</a:t>
            </a:fld>
            <a:endParaRPr lang="zh-CN" altLang="en-US"/>
          </a:p>
        </p:txBody>
      </p:sp>
    </p:spTree>
    <p:extLst>
      <p:ext uri="{BB962C8B-B14F-4D97-AF65-F5344CB8AC3E}">
        <p14:creationId xmlns:p14="http://schemas.microsoft.com/office/powerpoint/2010/main" val="3895780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30D9C4BC-581F-42C5-B12A-CBEC73E0FC34}"/>
              </a:ext>
            </a:extLst>
          </p:cNvPr>
          <p:cNvSpPr>
            <a:spLocks noGrp="1"/>
          </p:cNvSpPr>
          <p:nvPr>
            <p:ph type="dt" sz="half" idx="10"/>
          </p:nvPr>
        </p:nvSpPr>
        <p:spPr/>
        <p:txBody>
          <a:bodyPr/>
          <a:lstStyle>
            <a:lvl1pPr>
              <a:defRPr/>
            </a:lvl1pPr>
          </a:lstStyle>
          <a:p>
            <a:pPr>
              <a:defRPr/>
            </a:pPr>
            <a:fld id="{B1D33ED9-87F4-4DDD-9600-59BDBA28F7F4}" type="datetimeFigureOut">
              <a:rPr lang="zh-CN" altLang="en-US"/>
              <a:pPr>
                <a:defRPr/>
              </a:pPr>
              <a:t>2021/9/19</a:t>
            </a:fld>
            <a:endParaRPr lang="zh-CN" altLang="en-US"/>
          </a:p>
        </p:txBody>
      </p:sp>
      <p:sp>
        <p:nvSpPr>
          <p:cNvPr id="4" name="页脚占位符 4">
            <a:extLst>
              <a:ext uri="{FF2B5EF4-FFF2-40B4-BE49-F238E27FC236}">
                <a16:creationId xmlns:a16="http://schemas.microsoft.com/office/drawing/2014/main" id="{2EACD4C8-51E9-484C-B8B5-B2E192368D4A}"/>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80431B36-CF9B-4D0C-8347-6759D169C4E1}"/>
              </a:ext>
            </a:extLst>
          </p:cNvPr>
          <p:cNvSpPr>
            <a:spLocks noGrp="1"/>
          </p:cNvSpPr>
          <p:nvPr>
            <p:ph type="sldNum" sz="quarter" idx="12"/>
          </p:nvPr>
        </p:nvSpPr>
        <p:spPr/>
        <p:txBody>
          <a:bodyPr/>
          <a:lstStyle>
            <a:lvl1pPr>
              <a:defRPr/>
            </a:lvl1pPr>
          </a:lstStyle>
          <a:p>
            <a:pPr>
              <a:defRPr/>
            </a:pPr>
            <a:fld id="{4403E43D-2505-4F0D-9202-AB677BD0754C}" type="slidenum">
              <a:rPr lang="zh-CN" altLang="en-US"/>
              <a:pPr>
                <a:defRPr/>
              </a:pPr>
              <a:t>‹#›</a:t>
            </a:fld>
            <a:endParaRPr lang="zh-CN" altLang="en-US"/>
          </a:p>
        </p:txBody>
      </p:sp>
    </p:spTree>
    <p:extLst>
      <p:ext uri="{BB962C8B-B14F-4D97-AF65-F5344CB8AC3E}">
        <p14:creationId xmlns:p14="http://schemas.microsoft.com/office/powerpoint/2010/main" val="3048943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F57C19A-C556-4E85-A30A-516FC19BBFA2}"/>
              </a:ext>
            </a:extLst>
          </p:cNvPr>
          <p:cNvSpPr>
            <a:spLocks noGrp="1"/>
          </p:cNvSpPr>
          <p:nvPr>
            <p:ph type="dt" sz="half" idx="10"/>
          </p:nvPr>
        </p:nvSpPr>
        <p:spPr/>
        <p:txBody>
          <a:bodyPr/>
          <a:lstStyle>
            <a:lvl1pPr>
              <a:defRPr/>
            </a:lvl1pPr>
          </a:lstStyle>
          <a:p>
            <a:pPr>
              <a:defRPr/>
            </a:pPr>
            <a:fld id="{89464656-3BCB-49B1-821F-047AA03CA5A1}" type="datetimeFigureOut">
              <a:rPr lang="zh-CN" altLang="en-US"/>
              <a:pPr>
                <a:defRPr/>
              </a:pPr>
              <a:t>2021/9/19</a:t>
            </a:fld>
            <a:endParaRPr lang="zh-CN" altLang="en-US"/>
          </a:p>
        </p:txBody>
      </p:sp>
      <p:sp>
        <p:nvSpPr>
          <p:cNvPr id="3" name="页脚占位符 4">
            <a:extLst>
              <a:ext uri="{FF2B5EF4-FFF2-40B4-BE49-F238E27FC236}">
                <a16:creationId xmlns:a16="http://schemas.microsoft.com/office/drawing/2014/main" id="{B108C147-C373-4B5D-993D-C09A5CE5E69A}"/>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257CF0E2-E21B-4D03-B251-FB955D1254FF}"/>
              </a:ext>
            </a:extLst>
          </p:cNvPr>
          <p:cNvSpPr>
            <a:spLocks noGrp="1"/>
          </p:cNvSpPr>
          <p:nvPr>
            <p:ph type="sldNum" sz="quarter" idx="12"/>
          </p:nvPr>
        </p:nvSpPr>
        <p:spPr/>
        <p:txBody>
          <a:bodyPr/>
          <a:lstStyle>
            <a:lvl1pPr>
              <a:defRPr/>
            </a:lvl1pPr>
          </a:lstStyle>
          <a:p>
            <a:pPr>
              <a:defRPr/>
            </a:pPr>
            <a:fld id="{3B484E40-AE60-4604-9CAD-BAF6392887A8}" type="slidenum">
              <a:rPr lang="zh-CN" altLang="en-US"/>
              <a:pPr>
                <a:defRPr/>
              </a:pPr>
              <a:t>‹#›</a:t>
            </a:fld>
            <a:endParaRPr lang="zh-CN" altLang="en-US"/>
          </a:p>
        </p:txBody>
      </p:sp>
    </p:spTree>
    <p:extLst>
      <p:ext uri="{BB962C8B-B14F-4D97-AF65-F5344CB8AC3E}">
        <p14:creationId xmlns:p14="http://schemas.microsoft.com/office/powerpoint/2010/main" val="3090103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BF3A56DC-33A6-4214-966A-75661C6E36AC}"/>
              </a:ext>
            </a:extLst>
          </p:cNvPr>
          <p:cNvSpPr>
            <a:spLocks noGrp="1"/>
          </p:cNvSpPr>
          <p:nvPr>
            <p:ph type="dt" sz="half" idx="10"/>
          </p:nvPr>
        </p:nvSpPr>
        <p:spPr/>
        <p:txBody>
          <a:bodyPr/>
          <a:lstStyle>
            <a:lvl1pPr>
              <a:defRPr/>
            </a:lvl1pPr>
          </a:lstStyle>
          <a:p>
            <a:pPr>
              <a:defRPr/>
            </a:pPr>
            <a:fld id="{3E9DEF82-0B93-4019-8527-2F3393AB6730}" type="datetimeFigureOut">
              <a:rPr lang="zh-CN" altLang="en-US"/>
              <a:pPr>
                <a:defRPr/>
              </a:pPr>
              <a:t>2021/9/19</a:t>
            </a:fld>
            <a:endParaRPr lang="zh-CN" altLang="en-US"/>
          </a:p>
        </p:txBody>
      </p:sp>
      <p:sp>
        <p:nvSpPr>
          <p:cNvPr id="6" name="页脚占位符 4">
            <a:extLst>
              <a:ext uri="{FF2B5EF4-FFF2-40B4-BE49-F238E27FC236}">
                <a16:creationId xmlns:a16="http://schemas.microsoft.com/office/drawing/2014/main" id="{5A361246-874D-46C0-9D9D-6806C148565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2632390C-E941-446B-8B6C-E1DE8DC4911F}"/>
              </a:ext>
            </a:extLst>
          </p:cNvPr>
          <p:cNvSpPr>
            <a:spLocks noGrp="1"/>
          </p:cNvSpPr>
          <p:nvPr>
            <p:ph type="sldNum" sz="quarter" idx="12"/>
          </p:nvPr>
        </p:nvSpPr>
        <p:spPr/>
        <p:txBody>
          <a:bodyPr/>
          <a:lstStyle>
            <a:lvl1pPr>
              <a:defRPr/>
            </a:lvl1pPr>
          </a:lstStyle>
          <a:p>
            <a:pPr>
              <a:defRPr/>
            </a:pPr>
            <a:fld id="{238365D5-9437-41F6-97B3-2A8713B7E634}" type="slidenum">
              <a:rPr lang="zh-CN" altLang="en-US"/>
              <a:pPr>
                <a:defRPr/>
              </a:pPr>
              <a:t>‹#›</a:t>
            </a:fld>
            <a:endParaRPr lang="zh-CN" altLang="en-US"/>
          </a:p>
        </p:txBody>
      </p:sp>
    </p:spTree>
    <p:extLst>
      <p:ext uri="{BB962C8B-B14F-4D97-AF65-F5344CB8AC3E}">
        <p14:creationId xmlns:p14="http://schemas.microsoft.com/office/powerpoint/2010/main" val="3026118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7D976774-C205-4D62-9F37-1BC38C1913D3}"/>
              </a:ext>
            </a:extLst>
          </p:cNvPr>
          <p:cNvSpPr>
            <a:spLocks noGrp="1"/>
          </p:cNvSpPr>
          <p:nvPr>
            <p:ph type="dt" sz="half" idx="10"/>
          </p:nvPr>
        </p:nvSpPr>
        <p:spPr/>
        <p:txBody>
          <a:bodyPr/>
          <a:lstStyle>
            <a:lvl1pPr>
              <a:defRPr/>
            </a:lvl1pPr>
          </a:lstStyle>
          <a:p>
            <a:pPr>
              <a:defRPr/>
            </a:pPr>
            <a:fld id="{9A6ED671-29A7-416D-A19B-6097F828CAF7}" type="datetimeFigureOut">
              <a:rPr lang="zh-CN" altLang="en-US"/>
              <a:pPr>
                <a:defRPr/>
              </a:pPr>
              <a:t>2021/9/19</a:t>
            </a:fld>
            <a:endParaRPr lang="zh-CN" altLang="en-US"/>
          </a:p>
        </p:txBody>
      </p:sp>
      <p:sp>
        <p:nvSpPr>
          <p:cNvPr id="6" name="页脚占位符 4">
            <a:extLst>
              <a:ext uri="{FF2B5EF4-FFF2-40B4-BE49-F238E27FC236}">
                <a16:creationId xmlns:a16="http://schemas.microsoft.com/office/drawing/2014/main" id="{17980B42-5E6E-45B8-9BE1-0B534AE606FE}"/>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0DCDB39-EBE0-400A-8E1E-AB4A25899357}"/>
              </a:ext>
            </a:extLst>
          </p:cNvPr>
          <p:cNvSpPr>
            <a:spLocks noGrp="1"/>
          </p:cNvSpPr>
          <p:nvPr>
            <p:ph type="sldNum" sz="quarter" idx="12"/>
          </p:nvPr>
        </p:nvSpPr>
        <p:spPr/>
        <p:txBody>
          <a:bodyPr/>
          <a:lstStyle>
            <a:lvl1pPr>
              <a:defRPr/>
            </a:lvl1pPr>
          </a:lstStyle>
          <a:p>
            <a:pPr>
              <a:defRPr/>
            </a:pPr>
            <a:fld id="{3B4CB6B6-599C-4FDA-BAA8-6ECAF8C2C524}" type="slidenum">
              <a:rPr lang="zh-CN" altLang="en-US"/>
              <a:pPr>
                <a:defRPr/>
              </a:pPr>
              <a:t>‹#›</a:t>
            </a:fld>
            <a:endParaRPr lang="zh-CN" altLang="en-US"/>
          </a:p>
        </p:txBody>
      </p:sp>
    </p:spTree>
    <p:extLst>
      <p:ext uri="{BB962C8B-B14F-4D97-AF65-F5344CB8AC3E}">
        <p14:creationId xmlns:p14="http://schemas.microsoft.com/office/powerpoint/2010/main" val="1476549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106E823-1453-4141-9B0B-A62887D31CC5}"/>
              </a:ext>
            </a:extLst>
          </p:cNvPr>
          <p:cNvSpPr>
            <a:spLocks noGrp="1"/>
          </p:cNvSpPr>
          <p:nvPr>
            <p:ph type="dt" sz="half" idx="10"/>
          </p:nvPr>
        </p:nvSpPr>
        <p:spPr/>
        <p:txBody>
          <a:bodyPr/>
          <a:lstStyle>
            <a:lvl1pPr>
              <a:defRPr/>
            </a:lvl1pPr>
          </a:lstStyle>
          <a:p>
            <a:pPr>
              <a:defRPr/>
            </a:pPr>
            <a:fld id="{AF28FB92-4101-4B45-A4D2-E8497CD0443D}" type="datetimeFigureOut">
              <a:rPr lang="zh-CN" altLang="en-US"/>
              <a:pPr>
                <a:defRPr/>
              </a:pPr>
              <a:t>2021/9/19</a:t>
            </a:fld>
            <a:endParaRPr lang="zh-CN" altLang="en-US"/>
          </a:p>
        </p:txBody>
      </p:sp>
      <p:sp>
        <p:nvSpPr>
          <p:cNvPr id="5" name="页脚占位符 4">
            <a:extLst>
              <a:ext uri="{FF2B5EF4-FFF2-40B4-BE49-F238E27FC236}">
                <a16:creationId xmlns:a16="http://schemas.microsoft.com/office/drawing/2014/main" id="{17999329-3283-4158-A5F4-27C7BA56B921}"/>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31837931-00E6-4A93-A850-DFF46000C123}"/>
              </a:ext>
            </a:extLst>
          </p:cNvPr>
          <p:cNvSpPr>
            <a:spLocks noGrp="1"/>
          </p:cNvSpPr>
          <p:nvPr>
            <p:ph type="sldNum" sz="quarter" idx="12"/>
          </p:nvPr>
        </p:nvSpPr>
        <p:spPr/>
        <p:txBody>
          <a:bodyPr/>
          <a:lstStyle>
            <a:lvl1pPr>
              <a:defRPr/>
            </a:lvl1pPr>
          </a:lstStyle>
          <a:p>
            <a:pPr>
              <a:defRPr/>
            </a:pPr>
            <a:fld id="{1850F3E5-C849-4386-A40F-F48F24485892}" type="slidenum">
              <a:rPr lang="zh-CN" altLang="en-US"/>
              <a:pPr>
                <a:defRPr/>
              </a:pPr>
              <a:t>‹#›</a:t>
            </a:fld>
            <a:endParaRPr lang="zh-CN" altLang="en-US"/>
          </a:p>
        </p:txBody>
      </p:sp>
    </p:spTree>
    <p:extLst>
      <p:ext uri="{BB962C8B-B14F-4D97-AF65-F5344CB8AC3E}">
        <p14:creationId xmlns:p14="http://schemas.microsoft.com/office/powerpoint/2010/main" val="1753555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12B2ABD-D41C-48E5-BF12-ACF701F9E4F8}"/>
              </a:ext>
            </a:extLst>
          </p:cNvPr>
          <p:cNvSpPr>
            <a:spLocks noGrp="1"/>
          </p:cNvSpPr>
          <p:nvPr>
            <p:ph type="dt" sz="half" idx="10"/>
          </p:nvPr>
        </p:nvSpPr>
        <p:spPr/>
        <p:txBody>
          <a:bodyPr/>
          <a:lstStyle>
            <a:lvl1pPr>
              <a:defRPr/>
            </a:lvl1pPr>
          </a:lstStyle>
          <a:p>
            <a:pPr>
              <a:defRPr/>
            </a:pPr>
            <a:fld id="{45443DE8-1959-48B3-8C15-FFC537504E66}" type="datetimeFigureOut">
              <a:rPr lang="zh-CN" altLang="en-US"/>
              <a:pPr>
                <a:defRPr/>
              </a:pPr>
              <a:t>2021/9/19</a:t>
            </a:fld>
            <a:endParaRPr lang="zh-CN" altLang="en-US"/>
          </a:p>
        </p:txBody>
      </p:sp>
      <p:sp>
        <p:nvSpPr>
          <p:cNvPr id="5" name="页脚占位符 4">
            <a:extLst>
              <a:ext uri="{FF2B5EF4-FFF2-40B4-BE49-F238E27FC236}">
                <a16:creationId xmlns:a16="http://schemas.microsoft.com/office/drawing/2014/main" id="{F2E98D37-FCD7-49E7-AD7C-2ADB67F0D6C9}"/>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730D5590-242D-492E-98AE-DE92BFC3ACA9}"/>
              </a:ext>
            </a:extLst>
          </p:cNvPr>
          <p:cNvSpPr>
            <a:spLocks noGrp="1"/>
          </p:cNvSpPr>
          <p:nvPr>
            <p:ph type="sldNum" sz="quarter" idx="12"/>
          </p:nvPr>
        </p:nvSpPr>
        <p:spPr/>
        <p:txBody>
          <a:bodyPr/>
          <a:lstStyle>
            <a:lvl1pPr>
              <a:defRPr/>
            </a:lvl1pPr>
          </a:lstStyle>
          <a:p>
            <a:pPr>
              <a:defRPr/>
            </a:pPr>
            <a:fld id="{3799C4BC-C0F8-4772-BF5A-E93B73D8571A}" type="slidenum">
              <a:rPr lang="zh-CN" altLang="en-US"/>
              <a:pPr>
                <a:defRPr/>
              </a:pPr>
              <a:t>‹#›</a:t>
            </a:fld>
            <a:endParaRPr lang="zh-CN" altLang="en-US"/>
          </a:p>
        </p:txBody>
      </p:sp>
    </p:spTree>
    <p:extLst>
      <p:ext uri="{BB962C8B-B14F-4D97-AF65-F5344CB8AC3E}">
        <p14:creationId xmlns:p14="http://schemas.microsoft.com/office/powerpoint/2010/main" val="1082406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4CCCFBB8-607E-4604-8582-435077B3EC02}"/>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2849302A-FD83-44C8-9129-A8E47E7CA588}"/>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3FD49A9-323F-444E-93DF-7EB819C33D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mn-ea"/>
              </a:defRPr>
            </a:lvl1pPr>
          </a:lstStyle>
          <a:p>
            <a:pPr>
              <a:defRPr/>
            </a:pPr>
            <a:fld id="{49BD3E94-727E-4401-AA1F-9E4D1E1EB161}" type="datetimeFigureOut">
              <a:rPr lang="zh-CN" altLang="en-US"/>
              <a:pPr>
                <a:defRPr/>
              </a:pPr>
              <a:t>2021/9/19</a:t>
            </a:fld>
            <a:endParaRPr lang="zh-CN" altLang="en-US"/>
          </a:p>
        </p:txBody>
      </p:sp>
      <p:sp>
        <p:nvSpPr>
          <p:cNvPr id="5" name="页脚占位符 4">
            <a:extLst>
              <a:ext uri="{FF2B5EF4-FFF2-40B4-BE49-F238E27FC236}">
                <a16:creationId xmlns:a16="http://schemas.microsoft.com/office/drawing/2014/main" id="{DB68C7FF-320C-4897-9E60-4304327E85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1735A57D-9C4C-4057-B60E-0FC52BCF55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ea typeface="+mn-ea"/>
              </a:defRPr>
            </a:lvl1pPr>
          </a:lstStyle>
          <a:p>
            <a:pPr>
              <a:defRPr/>
            </a:pPr>
            <a:fld id="{D721C8D7-BF34-49E2-9A49-2638587F14BD}"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2pPr>
      <a:lvl3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3pPr>
      <a:lvl4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4pPr>
      <a:lvl5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 Id="rId4" Type="http://schemas.openxmlformats.org/officeDocument/2006/relationships/image" Target="../media/image4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内容占位符 2">
            <a:extLst>
              <a:ext uri="{FF2B5EF4-FFF2-40B4-BE49-F238E27FC236}">
                <a16:creationId xmlns:a16="http://schemas.microsoft.com/office/drawing/2014/main" id="{2BB70840-0550-4FC6-A02A-D00CA6527FAD}"/>
              </a:ext>
            </a:extLst>
          </p:cNvPr>
          <p:cNvSpPr>
            <a:spLocks noGrp="1" noChangeArrowheads="1"/>
          </p:cNvSpPr>
          <p:nvPr>
            <p:ph idx="1"/>
          </p:nvPr>
        </p:nvSpPr>
        <p:spPr>
          <a:xfrm>
            <a:off x="1247539" y="2014150"/>
            <a:ext cx="10404388" cy="4485504"/>
          </a:xfrm>
        </p:spPr>
        <p:txBody>
          <a:bodyPr/>
          <a:lstStyle/>
          <a:p>
            <a:pPr>
              <a:lnSpc>
                <a:spcPct val="100000"/>
              </a:lnSpc>
              <a:buClr>
                <a:srgbClr val="007FA3"/>
              </a:buClr>
            </a:pPr>
            <a:r>
              <a:rPr lang="en-US" altLang="zh-CN" dirty="0">
                <a:latin typeface="Arial" panose="020B0604020202020204" pitchFamily="34" charset="0"/>
                <a:cs typeface="Arial" panose="020B0604020202020204" pitchFamily="34" charset="0"/>
              </a:rPr>
              <a:t>24.1 The Nature of Light</a:t>
            </a:r>
          </a:p>
          <a:p>
            <a:pPr>
              <a:lnSpc>
                <a:spcPct val="100000"/>
              </a:lnSpc>
              <a:buClr>
                <a:srgbClr val="007FA3"/>
              </a:buClr>
            </a:pPr>
            <a:r>
              <a:rPr lang="en-US" altLang="zh-CN" dirty="0">
                <a:latin typeface="Arial" panose="020B0604020202020204" pitchFamily="34" charset="0"/>
                <a:cs typeface="Arial" panose="020B0604020202020204" pitchFamily="34" charset="0"/>
              </a:rPr>
              <a:t>24.2 Reflection and Refraction</a:t>
            </a:r>
          </a:p>
          <a:p>
            <a:pPr>
              <a:lnSpc>
                <a:spcPct val="100000"/>
              </a:lnSpc>
              <a:buClr>
                <a:srgbClr val="007FA3"/>
              </a:buClr>
            </a:pPr>
            <a:r>
              <a:rPr lang="en-US" altLang="zh-CN" dirty="0">
                <a:latin typeface="Arial" panose="020B0604020202020204" pitchFamily="34" charset="0"/>
                <a:cs typeface="Arial" panose="020B0604020202020204" pitchFamily="34" charset="0"/>
              </a:rPr>
              <a:t>24.3 Total Internal Reflection</a:t>
            </a:r>
          </a:p>
          <a:p>
            <a:pPr>
              <a:lnSpc>
                <a:spcPct val="100000"/>
              </a:lnSpc>
              <a:buClr>
                <a:srgbClr val="007FA3"/>
              </a:buClr>
            </a:pPr>
            <a:r>
              <a:rPr lang="en-US" altLang="zh-CN" dirty="0">
                <a:latin typeface="Arial" panose="020B0604020202020204" pitchFamily="34" charset="0"/>
                <a:cs typeface="Arial" panose="020B0604020202020204" pitchFamily="34" charset="0"/>
              </a:rPr>
              <a:t>24.4 Dispersion</a:t>
            </a:r>
          </a:p>
          <a:p>
            <a:pPr>
              <a:lnSpc>
                <a:spcPct val="100000"/>
              </a:lnSpc>
              <a:buClr>
                <a:srgbClr val="007FA3"/>
              </a:buClr>
            </a:pPr>
            <a:r>
              <a:rPr lang="en-US" altLang="zh-CN" dirty="0">
                <a:latin typeface="Arial" panose="020B0604020202020204" pitchFamily="34" charset="0"/>
                <a:cs typeface="Arial" panose="020B0604020202020204" pitchFamily="34" charset="0"/>
              </a:rPr>
              <a:t>24.5 Polarization</a:t>
            </a:r>
          </a:p>
          <a:p>
            <a:pPr>
              <a:lnSpc>
                <a:spcPct val="100000"/>
              </a:lnSpc>
              <a:buClr>
                <a:srgbClr val="007FA3"/>
              </a:buClr>
            </a:pPr>
            <a:r>
              <a:rPr lang="en-US" altLang="zh-CN" dirty="0">
                <a:latin typeface="Arial" panose="020B0604020202020204" pitchFamily="34" charset="0"/>
                <a:cs typeface="Arial" panose="020B0604020202020204" pitchFamily="34" charset="0"/>
              </a:rPr>
              <a:t>24.6 Scattering of Light</a:t>
            </a:r>
          </a:p>
          <a:p>
            <a:pPr>
              <a:lnSpc>
                <a:spcPct val="100000"/>
              </a:lnSpc>
              <a:buClr>
                <a:srgbClr val="007FA3"/>
              </a:buClr>
            </a:pPr>
            <a:r>
              <a:rPr lang="en-US" altLang="zh-CN" dirty="0">
                <a:latin typeface="Arial" panose="020B0604020202020204" pitchFamily="34" charset="0"/>
                <a:cs typeface="Arial" panose="020B0604020202020204" pitchFamily="34" charset="0"/>
              </a:rPr>
              <a:t>24.7 Huygens’s Principle</a:t>
            </a:r>
          </a:p>
          <a:p>
            <a:endParaRPr lang="zh-CN" altLang="en-US" dirty="0"/>
          </a:p>
        </p:txBody>
      </p:sp>
      <p:sp>
        <p:nvSpPr>
          <p:cNvPr id="4" name="Text Placeholder 3">
            <a:extLst>
              <a:ext uri="{FF2B5EF4-FFF2-40B4-BE49-F238E27FC236}">
                <a16:creationId xmlns:a16="http://schemas.microsoft.com/office/drawing/2014/main" id="{629D0CAD-CFCC-4A50-A84C-8AF22141FDB9}"/>
              </a:ext>
            </a:extLst>
          </p:cNvPr>
          <p:cNvSpPr>
            <a:spLocks noGrp="1"/>
          </p:cNvSpPr>
          <p:nvPr>
            <p:ph type="title"/>
          </p:nvPr>
        </p:nvSpPr>
        <p:spPr>
          <a:xfrm>
            <a:off x="838200" y="688587"/>
            <a:ext cx="10515600" cy="1325563"/>
          </a:xfrm>
        </p:spPr>
        <p:txBody>
          <a:bodyPr rtlCol="0">
            <a:normAutofit/>
          </a:bodyPr>
          <a:lstStyle/>
          <a:p>
            <a:pPr algn="ctr" fontAlgn="auto">
              <a:spcAft>
                <a:spcPts val="0"/>
              </a:spcAft>
              <a:defRPr/>
            </a:pPr>
            <a:r>
              <a:rPr lang="en-IN" sz="4000" b="1" dirty="0">
                <a:solidFill>
                  <a:srgbClr val="007FA3"/>
                </a:solidFill>
                <a:latin typeface="Arial" panose="020B0604020202020204" pitchFamily="34" charset="0"/>
                <a:ea typeface="+mn-ea"/>
                <a:cs typeface="Arial" panose="020B0604020202020204" pitchFamily="34" charset="0"/>
              </a:rPr>
              <a:t>Chapter 24 THE NATURE AND PROPAGATION OF LIGHT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3B639165-B8D0-4B33-AF7D-2BFC082A9F78}"/>
              </a:ext>
            </a:extLst>
          </p:cNvPr>
          <p:cNvSpPr>
            <a:spLocks noGrp="1" noChangeArrowheads="1"/>
          </p:cNvSpPr>
          <p:nvPr>
            <p:ph type="title"/>
          </p:nvPr>
        </p:nvSpPr>
        <p:spPr>
          <a:xfrm>
            <a:off x="1135062" y="497101"/>
            <a:ext cx="10218737" cy="1325563"/>
          </a:xfrm>
        </p:spPr>
        <p:txBody>
          <a:bodyPr/>
          <a:lstStyle/>
          <a:p>
            <a:r>
              <a:rPr lang="en-US" altLang="zh-CN" sz="3600" b="1" dirty="0">
                <a:solidFill>
                  <a:srgbClr val="007FA3"/>
                </a:solidFill>
                <a:latin typeface="Arial" panose="020B0604020202020204" pitchFamily="34" charset="0"/>
                <a:cs typeface="Arial" panose="020B0604020202020204" pitchFamily="34" charset="0"/>
              </a:rPr>
              <a:t>Goals for chapter 24</a:t>
            </a:r>
            <a:endParaRPr lang="zh-CN" altLang="en-US" sz="3600" b="1" dirty="0">
              <a:solidFill>
                <a:srgbClr val="007FA3"/>
              </a:solidFill>
              <a:latin typeface="Arial" panose="020B0604020202020204" pitchFamily="34" charset="0"/>
              <a:cs typeface="Arial" panose="020B0604020202020204" pitchFamily="34" charset="0"/>
            </a:endParaRPr>
          </a:p>
        </p:txBody>
      </p:sp>
      <p:sp>
        <p:nvSpPr>
          <p:cNvPr id="2" name="矩形 1">
            <a:extLst>
              <a:ext uri="{FF2B5EF4-FFF2-40B4-BE49-F238E27FC236}">
                <a16:creationId xmlns:a16="http://schemas.microsoft.com/office/drawing/2014/main" id="{68489750-1B5E-432F-8F35-96AEFA646087}"/>
              </a:ext>
            </a:extLst>
          </p:cNvPr>
          <p:cNvSpPr/>
          <p:nvPr/>
        </p:nvSpPr>
        <p:spPr>
          <a:xfrm>
            <a:off x="1804416" y="1822664"/>
            <a:ext cx="7833360" cy="3448123"/>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To overview light and its properties</a:t>
            </a:r>
          </a:p>
          <a:p>
            <a:pPr marL="255588" lvl="1" indent="-255588">
              <a:lnSpc>
                <a:spcPct val="90000"/>
              </a:lnSpc>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To study reflection and refraction</a:t>
            </a:r>
          </a:p>
          <a:p>
            <a:pPr marL="255588" lvl="1" indent="-255588">
              <a:lnSpc>
                <a:spcPct val="90000"/>
              </a:lnSpc>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To examine the unique phenomenon of total internal reflection</a:t>
            </a:r>
          </a:p>
          <a:p>
            <a:pPr marL="255588" lvl="1" indent="-255588">
              <a:lnSpc>
                <a:spcPct val="90000"/>
              </a:lnSpc>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To consider the polarization of light</a:t>
            </a:r>
          </a:p>
          <a:p>
            <a:pPr marL="255588" lvl="1" indent="-255588">
              <a:lnSpc>
                <a:spcPct val="90000"/>
              </a:lnSpc>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To see polarization by reflection</a:t>
            </a:r>
          </a:p>
          <a:p>
            <a:pPr marL="255588" lvl="1" indent="-255588">
              <a:lnSpc>
                <a:spcPct val="90000"/>
              </a:lnSpc>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To study Huygens’s Principle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4C801BF8-D0AC-435F-9469-B4D56EDCCCD0}"/>
              </a:ext>
            </a:extLst>
          </p:cNvPr>
          <p:cNvSpPr txBox="1">
            <a:spLocks noChangeArrowheads="1"/>
          </p:cNvSpPr>
          <p:nvPr/>
        </p:nvSpPr>
        <p:spPr bwMode="auto">
          <a:xfrm>
            <a:off x="1111250" y="427038"/>
            <a:ext cx="8229600"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en-US" sz="3600" b="1" dirty="0">
                <a:solidFill>
                  <a:srgbClr val="007FA3"/>
                </a:solidFill>
                <a:latin typeface="Arial" panose="020B0604020202020204" pitchFamily="34" charset="0"/>
                <a:cs typeface="Arial" panose="020B0604020202020204" pitchFamily="34" charset="0"/>
              </a:rPr>
              <a:t>Introduction</a:t>
            </a:r>
            <a:endParaRPr lang="en-US" altLang="zh-CN" sz="3600" b="1" dirty="0">
              <a:solidFill>
                <a:srgbClr val="007FA3"/>
              </a:solidFill>
              <a:latin typeface="Arial" panose="020B0604020202020204" pitchFamily="34" charset="0"/>
              <a:cs typeface="Arial" panose="020B0604020202020204" pitchFamily="34" charset="0"/>
            </a:endParaRPr>
          </a:p>
        </p:txBody>
      </p:sp>
      <p:pic>
        <p:nvPicPr>
          <p:cNvPr id="6" name="Picture 6" descr="33_00CO-P">
            <a:extLst>
              <a:ext uri="{FF2B5EF4-FFF2-40B4-BE49-F238E27FC236}">
                <a16:creationId xmlns:a16="http://schemas.microsoft.com/office/drawing/2014/main" id="{B457E0E1-C58F-4297-8260-759E6CAB51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6550" y="1524000"/>
            <a:ext cx="3124200" cy="236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087251D-386A-43EA-A686-FE3EC105D441}"/>
              </a:ext>
            </a:extLst>
          </p:cNvPr>
          <p:cNvSpPr/>
          <p:nvPr/>
        </p:nvSpPr>
        <p:spPr>
          <a:xfrm>
            <a:off x="1161657" y="1524000"/>
            <a:ext cx="6623380" cy="4960332"/>
          </a:xfrm>
          <a:prstGeom prst="rect">
            <a:avLst/>
          </a:prstGeom>
        </p:spPr>
        <p:txBody>
          <a:bodyPr wrap="square">
            <a:spAutoFit/>
          </a:bodyPr>
          <a:lstStyle/>
          <a:p>
            <a:pPr marL="255588" lvl="1" indent="-255588">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A coating of oil on water or a delicate glass prism can create a rainbow. A rainstorm among open patches of daylight can cast a conventional rainbow. Both effects are beautiful and arise from the wavelength dependence of refraction angles. </a:t>
            </a:r>
          </a:p>
          <a:p>
            <a:pPr marL="255588" lvl="1" indent="-255588">
              <a:spcBef>
                <a:spcPts val="1000"/>
              </a:spcBef>
              <a:buClr>
                <a:srgbClr val="007FA3"/>
              </a:buClr>
              <a:buFont typeface="Arial" panose="020B0604020202020204" pitchFamily="34" charset="0"/>
              <a:buChar char="•"/>
            </a:pPr>
            <a:r>
              <a:rPr lang="en-US" altLang="zh-CN" sz="2800" dirty="0">
                <a:latin typeface="Arial" panose="020B0604020202020204" pitchFamily="34" charset="0"/>
                <a:cs typeface="Arial" panose="020B0604020202020204" pitchFamily="34" charset="0"/>
              </a:rPr>
              <a:t>Eyeglasses or contact lenses both use refraction to correct imperfections in the eyeball’s focus on the retina and allow vision correction.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1120677" y="351070"/>
            <a:ext cx="9578746"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smtClean="0">
                <a:solidFill>
                  <a:srgbClr val="007FA3"/>
                </a:solidFill>
                <a:latin typeface="Arial" panose="020B0604020202020204" pitchFamily="34" charset="0"/>
                <a:cs typeface="Arial" panose="020B0604020202020204" pitchFamily="34" charset="0"/>
              </a:rPr>
              <a:t>24.1 The Nature of </a:t>
            </a:r>
            <a:r>
              <a:rPr lang="en-US" altLang="zh-CN" sz="3600" b="1" dirty="0">
                <a:solidFill>
                  <a:srgbClr val="007FA3"/>
                </a:solidFill>
                <a:latin typeface="Arial" panose="020B0604020202020204" pitchFamily="34" charset="0"/>
                <a:cs typeface="Arial" panose="020B0604020202020204" pitchFamily="34" charset="0"/>
              </a:rPr>
              <a:t>light</a:t>
            </a:r>
          </a:p>
        </p:txBody>
      </p:sp>
      <p:pic>
        <p:nvPicPr>
          <p:cNvPr id="5" name="图片 4">
            <a:extLst>
              <a:ext uri="{FF2B5EF4-FFF2-40B4-BE49-F238E27FC236}">
                <a16:creationId xmlns:a16="http://schemas.microsoft.com/office/drawing/2014/main" id="{427ECB0F-298E-4F71-B7FA-EFEE8D74C95B}"/>
              </a:ext>
            </a:extLst>
          </p:cNvPr>
          <p:cNvPicPr>
            <a:picLocks noChangeAspect="1"/>
          </p:cNvPicPr>
          <p:nvPr/>
        </p:nvPicPr>
        <p:blipFill>
          <a:blip r:embed="rId2"/>
          <a:stretch>
            <a:fillRect/>
          </a:stretch>
        </p:blipFill>
        <p:spPr>
          <a:xfrm>
            <a:off x="5666025" y="3327250"/>
            <a:ext cx="859950" cy="203500"/>
          </a:xfrm>
          <a:prstGeom prst="rect">
            <a:avLst/>
          </a:prstGeom>
        </p:spPr>
      </p:pic>
      <p:sp>
        <p:nvSpPr>
          <p:cNvPr id="4" name="矩形 3">
            <a:extLst>
              <a:ext uri="{FF2B5EF4-FFF2-40B4-BE49-F238E27FC236}">
                <a16:creationId xmlns:a16="http://schemas.microsoft.com/office/drawing/2014/main" id="{E982DE50-81F9-49E3-930A-9C69587592B0}"/>
              </a:ext>
            </a:extLst>
          </p:cNvPr>
          <p:cNvSpPr/>
          <p:nvPr/>
        </p:nvSpPr>
        <p:spPr>
          <a:xfrm>
            <a:off x="1492576" y="1362622"/>
            <a:ext cx="8990029" cy="2214965"/>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The wave–particle duality of light was not well understood until Albert Einstein won his Nobel Prize in the early 20th century. It was a tenacious understanding of light that led to quantum mechanics and modern physics.</a:t>
            </a:r>
          </a:p>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Black-body and laser radiation look so different but are brother and sister</a:t>
            </a:r>
            <a:r>
              <a:rPr lang="en-US" altLang="zh-CN" sz="2400" dirty="0">
                <a:latin typeface="Times New Roman" panose="02020603050405020304" pitchFamily="18" charset="0"/>
                <a:ea typeface="宋体" panose="02010600030101010101" pitchFamily="2" charset="-122"/>
              </a:rPr>
              <a:t>.</a:t>
            </a:r>
          </a:p>
        </p:txBody>
      </p:sp>
      <p:grpSp>
        <p:nvGrpSpPr>
          <p:cNvPr id="2" name="组合 1"/>
          <p:cNvGrpSpPr/>
          <p:nvPr/>
        </p:nvGrpSpPr>
        <p:grpSpPr>
          <a:xfrm>
            <a:off x="2290714" y="3530750"/>
            <a:ext cx="6993036" cy="3082137"/>
            <a:chOff x="2290714" y="3530750"/>
            <a:chExt cx="6993036" cy="3082137"/>
          </a:xfrm>
        </p:grpSpPr>
        <p:pic>
          <p:nvPicPr>
            <p:cNvPr id="11" name="Picture 9" descr="33_Figure01-P">
              <a:extLst>
                <a:ext uri="{FF2B5EF4-FFF2-40B4-BE49-F238E27FC236}">
                  <a16:creationId xmlns:a16="http://schemas.microsoft.com/office/drawing/2014/main" id="{BCF7471E-3E45-48A5-8A3F-51C51C3CAD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714" y="3577587"/>
              <a:ext cx="3124200"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0" descr="33_Figure02-P">
              <a:extLst>
                <a:ext uri="{FF2B5EF4-FFF2-40B4-BE49-F238E27FC236}">
                  <a16:creationId xmlns:a16="http://schemas.microsoft.com/office/drawing/2014/main" id="{BFF2760F-5E52-488D-AFCA-A5CF768C8C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7088" y="3530750"/>
              <a:ext cx="2506662"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1835602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1120677" y="351070"/>
            <a:ext cx="9578746"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Wave,</a:t>
            </a:r>
            <a:r>
              <a:rPr lang="zh-CN" altLang="en-US" sz="3600" b="1" dirty="0">
                <a:solidFill>
                  <a:srgbClr val="007FA3"/>
                </a:solidFill>
                <a:latin typeface="Arial" panose="020B0604020202020204" pitchFamily="34" charset="0"/>
                <a:cs typeface="Arial" panose="020B0604020202020204" pitchFamily="34" charset="0"/>
              </a:rPr>
              <a:t> </a:t>
            </a:r>
            <a:r>
              <a:rPr lang="en-US" altLang="zh-CN" sz="3600" b="1" dirty="0">
                <a:solidFill>
                  <a:srgbClr val="007FA3"/>
                </a:solidFill>
                <a:latin typeface="Arial" panose="020B0604020202020204" pitchFamily="34" charset="0"/>
                <a:cs typeface="Arial" panose="020B0604020202020204" pitchFamily="34" charset="0"/>
              </a:rPr>
              <a:t>wave fronts and rays</a:t>
            </a:r>
          </a:p>
        </p:txBody>
      </p:sp>
      <p:pic>
        <p:nvPicPr>
          <p:cNvPr id="5" name="图片 4">
            <a:extLst>
              <a:ext uri="{FF2B5EF4-FFF2-40B4-BE49-F238E27FC236}">
                <a16:creationId xmlns:a16="http://schemas.microsoft.com/office/drawing/2014/main" id="{427ECB0F-298E-4F71-B7FA-EFEE8D74C95B}"/>
              </a:ext>
            </a:extLst>
          </p:cNvPr>
          <p:cNvPicPr>
            <a:picLocks noChangeAspect="1"/>
          </p:cNvPicPr>
          <p:nvPr/>
        </p:nvPicPr>
        <p:blipFill>
          <a:blip r:embed="rId2"/>
          <a:stretch>
            <a:fillRect/>
          </a:stretch>
        </p:blipFill>
        <p:spPr>
          <a:xfrm>
            <a:off x="5666025" y="3327250"/>
            <a:ext cx="859950" cy="203500"/>
          </a:xfrm>
          <a:prstGeom prst="rect">
            <a:avLst/>
          </a:prstGeom>
        </p:spPr>
      </p:pic>
      <p:sp>
        <p:nvSpPr>
          <p:cNvPr id="2" name="矩形 1">
            <a:extLst>
              <a:ext uri="{FF2B5EF4-FFF2-40B4-BE49-F238E27FC236}">
                <a16:creationId xmlns:a16="http://schemas.microsoft.com/office/drawing/2014/main" id="{8458D31F-DEFA-4797-A3DD-486BC722BAE9}"/>
              </a:ext>
            </a:extLst>
          </p:cNvPr>
          <p:cNvSpPr/>
          <p:nvPr/>
        </p:nvSpPr>
        <p:spPr>
          <a:xfrm>
            <a:off x="1120677" y="1258430"/>
            <a:ext cx="9673014" cy="1089529"/>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Light is actually a nearly uncountable number of electromagnetic wave fronts, but analysis of refraction or reflection are made possible by treating light as a ray.</a:t>
            </a:r>
          </a:p>
        </p:txBody>
      </p:sp>
      <p:grpSp>
        <p:nvGrpSpPr>
          <p:cNvPr id="3" name="组合 2"/>
          <p:cNvGrpSpPr/>
          <p:nvPr/>
        </p:nvGrpSpPr>
        <p:grpSpPr>
          <a:xfrm>
            <a:off x="2234290" y="2642631"/>
            <a:ext cx="6694776" cy="3792608"/>
            <a:chOff x="2234290" y="2642631"/>
            <a:chExt cx="6694776" cy="3792608"/>
          </a:xfrm>
        </p:grpSpPr>
        <p:pic>
          <p:nvPicPr>
            <p:cNvPr id="8" name="Picture 8" descr="33_Figure03-I">
              <a:extLst>
                <a:ext uri="{FF2B5EF4-FFF2-40B4-BE49-F238E27FC236}">
                  <a16:creationId xmlns:a16="http://schemas.microsoft.com/office/drawing/2014/main" id="{AFAD8314-EA9E-4360-8AFB-D0CF50457C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4290" y="2740419"/>
              <a:ext cx="2775238" cy="353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descr="33_Figure04-I">
              <a:extLst>
                <a:ext uri="{FF2B5EF4-FFF2-40B4-BE49-F238E27FC236}">
                  <a16:creationId xmlns:a16="http://schemas.microsoft.com/office/drawing/2014/main" id="{AC31FEE3-33A3-4C1C-96E6-6B3E48542E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556" y="2642631"/>
              <a:ext cx="2093510" cy="379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9999880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1120677" y="351070"/>
            <a:ext cx="9578746"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Reflection and refraction </a:t>
            </a:r>
          </a:p>
        </p:txBody>
      </p:sp>
      <p:pic>
        <p:nvPicPr>
          <p:cNvPr id="5" name="图片 4">
            <a:extLst>
              <a:ext uri="{FF2B5EF4-FFF2-40B4-BE49-F238E27FC236}">
                <a16:creationId xmlns:a16="http://schemas.microsoft.com/office/drawing/2014/main" id="{427ECB0F-298E-4F71-B7FA-EFEE8D74C95B}"/>
              </a:ext>
            </a:extLst>
          </p:cNvPr>
          <p:cNvPicPr>
            <a:picLocks noChangeAspect="1"/>
          </p:cNvPicPr>
          <p:nvPr/>
        </p:nvPicPr>
        <p:blipFill>
          <a:blip r:embed="rId2"/>
          <a:stretch>
            <a:fillRect/>
          </a:stretch>
        </p:blipFill>
        <p:spPr>
          <a:xfrm>
            <a:off x="5666025" y="3327250"/>
            <a:ext cx="859950" cy="203500"/>
          </a:xfrm>
          <a:prstGeom prst="rect">
            <a:avLst/>
          </a:prstGeom>
        </p:spPr>
      </p:pic>
      <p:sp>
        <p:nvSpPr>
          <p:cNvPr id="2" name="矩形 1">
            <a:extLst>
              <a:ext uri="{FF2B5EF4-FFF2-40B4-BE49-F238E27FC236}">
                <a16:creationId xmlns:a16="http://schemas.microsoft.com/office/drawing/2014/main" id="{4B3703F7-4297-480D-8EB5-0DEB7BCD15DF}"/>
              </a:ext>
            </a:extLst>
          </p:cNvPr>
          <p:cNvSpPr/>
          <p:nvPr/>
        </p:nvSpPr>
        <p:spPr>
          <a:xfrm>
            <a:off x="1341749" y="1259726"/>
            <a:ext cx="9357674" cy="1089529"/>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Figure illustrates both reflection and refraction at once. The storefront window both shows the passersby their reflections and allows them to see inside.</a:t>
            </a:r>
          </a:p>
        </p:txBody>
      </p:sp>
      <p:pic>
        <p:nvPicPr>
          <p:cNvPr id="10" name="Picture 9" descr="33_Figure05-I">
            <a:extLst>
              <a:ext uri="{FF2B5EF4-FFF2-40B4-BE49-F238E27FC236}">
                <a16:creationId xmlns:a16="http://schemas.microsoft.com/office/drawing/2014/main" id="{86A7929B-FBCF-4BC8-94CB-164EE08F5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1771" y="2269577"/>
            <a:ext cx="8277225" cy="447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782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876652" y="351070"/>
            <a:ext cx="9578746"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We will consider specular reflection</a:t>
            </a:r>
          </a:p>
        </p:txBody>
      </p:sp>
      <p:pic>
        <p:nvPicPr>
          <p:cNvPr id="5" name="图片 4">
            <a:extLst>
              <a:ext uri="{FF2B5EF4-FFF2-40B4-BE49-F238E27FC236}">
                <a16:creationId xmlns:a16="http://schemas.microsoft.com/office/drawing/2014/main" id="{427ECB0F-298E-4F71-B7FA-EFEE8D74C95B}"/>
              </a:ext>
            </a:extLst>
          </p:cNvPr>
          <p:cNvPicPr>
            <a:picLocks noChangeAspect="1"/>
          </p:cNvPicPr>
          <p:nvPr/>
        </p:nvPicPr>
        <p:blipFill>
          <a:blip r:embed="rId2"/>
          <a:stretch>
            <a:fillRect/>
          </a:stretch>
        </p:blipFill>
        <p:spPr>
          <a:xfrm>
            <a:off x="5666025" y="3327250"/>
            <a:ext cx="859950" cy="203500"/>
          </a:xfrm>
          <a:prstGeom prst="rect">
            <a:avLst/>
          </a:prstGeom>
        </p:spPr>
      </p:pic>
      <p:sp>
        <p:nvSpPr>
          <p:cNvPr id="2" name="矩形 1">
            <a:extLst>
              <a:ext uri="{FF2B5EF4-FFF2-40B4-BE49-F238E27FC236}">
                <a16:creationId xmlns:a16="http://schemas.microsoft.com/office/drawing/2014/main" id="{F6AD7BD5-351C-4D90-9EE0-1296829389E0}"/>
              </a:ext>
            </a:extLst>
          </p:cNvPr>
          <p:cNvSpPr/>
          <p:nvPr/>
        </p:nvSpPr>
        <p:spPr>
          <a:xfrm>
            <a:off x="1454870" y="1777971"/>
            <a:ext cx="4295480" cy="2751522"/>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A real surface will scatter and reflect light. Diffuse reflection is the rule, not the exception. We will use specular reflection as we used the ray approximation, to make a very difficult problem manageable.  </a:t>
            </a:r>
          </a:p>
        </p:txBody>
      </p:sp>
      <p:pic>
        <p:nvPicPr>
          <p:cNvPr id="7" name="Picture 10" descr="33_Figure06-I">
            <a:extLst>
              <a:ext uri="{FF2B5EF4-FFF2-40B4-BE49-F238E27FC236}">
                <a16:creationId xmlns:a16="http://schemas.microsoft.com/office/drawing/2014/main" id="{89F34D4E-A22F-4386-B418-F641D222D1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5834" y="1671307"/>
            <a:ext cx="2994273" cy="44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35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856725" y="379351"/>
            <a:ext cx="9578746"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Laws of reflection and refraction</a:t>
            </a:r>
          </a:p>
        </p:txBody>
      </p:sp>
      <p:sp>
        <p:nvSpPr>
          <p:cNvPr id="3" name="矩形 2">
            <a:extLst>
              <a:ext uri="{FF2B5EF4-FFF2-40B4-BE49-F238E27FC236}">
                <a16:creationId xmlns:a16="http://schemas.microsoft.com/office/drawing/2014/main" id="{C53A8774-07B2-4B55-AC75-8D91A026244A}"/>
              </a:ext>
            </a:extLst>
          </p:cNvPr>
          <p:cNvSpPr/>
          <p:nvPr/>
        </p:nvSpPr>
        <p:spPr>
          <a:xfrm>
            <a:off x="1398309" y="1418193"/>
            <a:ext cx="6096000" cy="1550168"/>
          </a:xfrm>
          <a:prstGeom prst="rect">
            <a:avLst/>
          </a:prstGeom>
        </p:spPr>
        <p:txBody>
          <a:bodyPr>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Angle of incidence = angle of reflection.</a:t>
            </a:r>
          </a:p>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Snell’s Law of Refraction considers the slowing of light in a medium other than vacuum … the index of refraction.</a:t>
            </a:r>
          </a:p>
        </p:txBody>
      </p:sp>
      <p:grpSp>
        <p:nvGrpSpPr>
          <p:cNvPr id="2" name="组合 1"/>
          <p:cNvGrpSpPr/>
          <p:nvPr/>
        </p:nvGrpSpPr>
        <p:grpSpPr>
          <a:xfrm>
            <a:off x="3246023" y="1219200"/>
            <a:ext cx="7265011" cy="5486400"/>
            <a:chOff x="3246023" y="1219200"/>
            <a:chExt cx="7265011" cy="5486400"/>
          </a:xfrm>
        </p:grpSpPr>
        <p:pic>
          <p:nvPicPr>
            <p:cNvPr id="8" name="Picture 8" descr="33_Figure08-I">
              <a:extLst>
                <a:ext uri="{FF2B5EF4-FFF2-40B4-BE49-F238E27FC236}">
                  <a16:creationId xmlns:a16="http://schemas.microsoft.com/office/drawing/2014/main" id="{B5971A70-1448-4AD8-8F92-54D817259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0146" y="1219200"/>
              <a:ext cx="3290888"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descr="33_Figure07-I">
              <a:extLst>
                <a:ext uri="{FF2B5EF4-FFF2-40B4-BE49-F238E27FC236}">
                  <a16:creationId xmlns:a16="http://schemas.microsoft.com/office/drawing/2014/main" id="{18556B94-7E97-483E-9B09-7935AB7F71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6023" y="2883877"/>
              <a:ext cx="2600325"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36301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856725" y="379351"/>
            <a:ext cx="9578746"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Why should the ruler appear to be bent?</a:t>
            </a:r>
          </a:p>
        </p:txBody>
      </p:sp>
      <p:sp>
        <p:nvSpPr>
          <p:cNvPr id="2" name="矩形 1">
            <a:extLst>
              <a:ext uri="{FF2B5EF4-FFF2-40B4-BE49-F238E27FC236}">
                <a16:creationId xmlns:a16="http://schemas.microsoft.com/office/drawing/2014/main" id="{762D45B2-7942-4D29-8248-9A80813E9CFF}"/>
              </a:ext>
            </a:extLst>
          </p:cNvPr>
          <p:cNvSpPr/>
          <p:nvPr/>
        </p:nvSpPr>
        <p:spPr>
          <a:xfrm>
            <a:off x="1143785" y="1442720"/>
            <a:ext cx="9018310" cy="1089529"/>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The difference in index of refraction for air and water causes your eye to be deceived. Your brain follows rays back to the origin they would have had if not bent.  </a:t>
            </a:r>
          </a:p>
        </p:txBody>
      </p:sp>
      <p:pic>
        <p:nvPicPr>
          <p:cNvPr id="8" name="Picture 7" descr="33_Figure09-I">
            <a:extLst>
              <a:ext uri="{FF2B5EF4-FFF2-40B4-BE49-F238E27FC236}">
                <a16:creationId xmlns:a16="http://schemas.microsoft.com/office/drawing/2014/main" id="{46BE1F4B-611A-42A2-9188-F6B5EBE815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4820" y="2606707"/>
            <a:ext cx="29908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270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875578" y="452712"/>
            <a:ext cx="9578746"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Why should sunsets be orange and red?</a:t>
            </a:r>
          </a:p>
        </p:txBody>
      </p:sp>
      <p:pic>
        <p:nvPicPr>
          <p:cNvPr id="8" name="Picture 8" descr="33_Figure10-P">
            <a:extLst>
              <a:ext uri="{FF2B5EF4-FFF2-40B4-BE49-F238E27FC236}">
                <a16:creationId xmlns:a16="http://schemas.microsoft.com/office/drawing/2014/main" id="{B40ECEBD-7E06-4E86-B5FD-0780858CA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2520" y="2510770"/>
            <a:ext cx="8424863"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1DBFBE99-F871-490E-9E60-2601A6B1BB49}"/>
              </a:ext>
            </a:extLst>
          </p:cNvPr>
          <p:cNvSpPr/>
          <p:nvPr/>
        </p:nvSpPr>
        <p:spPr>
          <a:xfrm>
            <a:off x="1052102" y="1516081"/>
            <a:ext cx="9225698" cy="757130"/>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The light path at sunset is much longer than at noon when the sun is directly overhead.</a:t>
            </a:r>
          </a:p>
        </p:txBody>
      </p:sp>
    </p:spTree>
    <p:extLst>
      <p:ext uri="{BB962C8B-B14F-4D97-AF65-F5344CB8AC3E}">
        <p14:creationId xmlns:p14="http://schemas.microsoft.com/office/powerpoint/2010/main" val="605768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894431" y="379351"/>
            <a:ext cx="9899259"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Tabulated indexes of refraction</a:t>
            </a:r>
          </a:p>
        </p:txBody>
      </p:sp>
      <p:pic>
        <p:nvPicPr>
          <p:cNvPr id="5" name="Picture 8" descr="33_Table01-T">
            <a:extLst>
              <a:ext uri="{FF2B5EF4-FFF2-40B4-BE49-F238E27FC236}">
                <a16:creationId xmlns:a16="http://schemas.microsoft.com/office/drawing/2014/main" id="{670A6231-074A-423A-848B-AA9CABD7E7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6943" y="1219200"/>
            <a:ext cx="3228975"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86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894431" y="379351"/>
            <a:ext cx="9899259"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Index of refraction and the wave aspects of light</a:t>
            </a:r>
          </a:p>
        </p:txBody>
      </p:sp>
      <p:sp>
        <p:nvSpPr>
          <p:cNvPr id="4" name="矩形 3">
            <a:extLst>
              <a:ext uri="{FF2B5EF4-FFF2-40B4-BE49-F238E27FC236}">
                <a16:creationId xmlns:a16="http://schemas.microsoft.com/office/drawing/2014/main" id="{945E2EDB-A033-4D39-9F62-ED51CC8B07B7}"/>
              </a:ext>
            </a:extLst>
          </p:cNvPr>
          <p:cNvSpPr/>
          <p:nvPr/>
        </p:nvSpPr>
        <p:spPr>
          <a:xfrm>
            <a:off x="1231211" y="1956394"/>
            <a:ext cx="9225698" cy="1882567"/>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What happens when the light passes from one materials to another material with a different index of refraction. </a:t>
            </a:r>
          </a:p>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The frequency f of the wave does not change when passing from one material to another. But the wavelength of the wave is different in general in different materials.</a:t>
            </a:r>
          </a:p>
        </p:txBody>
      </p:sp>
      <p:pic>
        <p:nvPicPr>
          <p:cNvPr id="3" name="图片 2">
            <a:extLst>
              <a:ext uri="{FF2B5EF4-FFF2-40B4-BE49-F238E27FC236}">
                <a16:creationId xmlns:a16="http://schemas.microsoft.com/office/drawing/2014/main" id="{404504AF-FE3F-46D7-83BD-CBBCECB53AD1}"/>
              </a:ext>
            </a:extLst>
          </p:cNvPr>
          <p:cNvPicPr>
            <a:picLocks noChangeAspect="1"/>
          </p:cNvPicPr>
          <p:nvPr/>
        </p:nvPicPr>
        <p:blipFill>
          <a:blip r:embed="rId2"/>
          <a:stretch>
            <a:fillRect/>
          </a:stretch>
        </p:blipFill>
        <p:spPr>
          <a:xfrm>
            <a:off x="2994266" y="4083640"/>
            <a:ext cx="5699588" cy="816107"/>
          </a:xfrm>
          <a:prstGeom prst="rect">
            <a:avLst/>
          </a:prstGeom>
        </p:spPr>
      </p:pic>
    </p:spTree>
    <p:extLst>
      <p:ext uri="{BB962C8B-B14F-4D97-AF65-F5344CB8AC3E}">
        <p14:creationId xmlns:p14="http://schemas.microsoft.com/office/powerpoint/2010/main" val="3368432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FBF472-2403-4C43-9ACD-19CCB6498B4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238B1D3-69F6-4E38-A2BD-DA55C348E4A2}"/>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5E4C92A4-37FD-4683-8458-3D292E7884F9}"/>
              </a:ext>
            </a:extLst>
          </p:cNvPr>
          <p:cNvPicPr>
            <a:picLocks noChangeAspect="1"/>
          </p:cNvPicPr>
          <p:nvPr/>
        </p:nvPicPr>
        <p:blipFill>
          <a:blip r:embed="rId2"/>
          <a:stretch>
            <a:fillRect/>
          </a:stretch>
        </p:blipFill>
        <p:spPr>
          <a:xfrm>
            <a:off x="369217" y="565608"/>
            <a:ext cx="11387580" cy="5693790"/>
          </a:xfrm>
          <a:prstGeom prst="rect">
            <a:avLst/>
          </a:prstGeom>
        </p:spPr>
      </p:pic>
    </p:spTree>
    <p:extLst>
      <p:ext uri="{BB962C8B-B14F-4D97-AF65-F5344CB8AC3E}">
        <p14:creationId xmlns:p14="http://schemas.microsoft.com/office/powerpoint/2010/main" val="1411451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D6F4B-1E40-46E2-BFBE-3F5A2942AA9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F919EF9-4D74-4C7C-9337-93A35132ED0D}"/>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80BB99C3-7B34-460F-AFD7-5C782D822C6D}"/>
              </a:ext>
            </a:extLst>
          </p:cNvPr>
          <p:cNvPicPr>
            <a:picLocks noChangeAspect="1"/>
          </p:cNvPicPr>
          <p:nvPr/>
        </p:nvPicPr>
        <p:blipFill>
          <a:blip r:embed="rId2"/>
          <a:stretch>
            <a:fillRect/>
          </a:stretch>
        </p:blipFill>
        <p:spPr>
          <a:xfrm>
            <a:off x="225351" y="681037"/>
            <a:ext cx="11741297" cy="5495926"/>
          </a:xfrm>
          <a:prstGeom prst="rect">
            <a:avLst/>
          </a:prstGeom>
        </p:spPr>
      </p:pic>
    </p:spTree>
    <p:extLst>
      <p:ext uri="{BB962C8B-B14F-4D97-AF65-F5344CB8AC3E}">
        <p14:creationId xmlns:p14="http://schemas.microsoft.com/office/powerpoint/2010/main" val="1442282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8D2B2-6239-4C34-B90D-2B56F275466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DBE6308-72E8-49C9-92D3-8FB1DB17166F}"/>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BC2B9F28-32F1-4BFD-BD1D-2990F5AAFEB7}"/>
              </a:ext>
            </a:extLst>
          </p:cNvPr>
          <p:cNvPicPr>
            <a:picLocks noChangeAspect="1"/>
          </p:cNvPicPr>
          <p:nvPr/>
        </p:nvPicPr>
        <p:blipFill>
          <a:blip r:embed="rId2"/>
          <a:stretch>
            <a:fillRect/>
          </a:stretch>
        </p:blipFill>
        <p:spPr>
          <a:xfrm>
            <a:off x="608078" y="24606"/>
            <a:ext cx="10975844" cy="6468269"/>
          </a:xfrm>
          <a:prstGeom prst="rect">
            <a:avLst/>
          </a:prstGeom>
        </p:spPr>
      </p:pic>
    </p:spTree>
    <p:extLst>
      <p:ext uri="{BB962C8B-B14F-4D97-AF65-F5344CB8AC3E}">
        <p14:creationId xmlns:p14="http://schemas.microsoft.com/office/powerpoint/2010/main" val="4267704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894431" y="379351"/>
            <a:ext cx="9899259" cy="106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Total internal reflection I</a:t>
            </a:r>
          </a:p>
        </p:txBody>
      </p:sp>
      <p:sp>
        <p:nvSpPr>
          <p:cNvPr id="5" name="矩形 4">
            <a:extLst>
              <a:ext uri="{FF2B5EF4-FFF2-40B4-BE49-F238E27FC236}">
                <a16:creationId xmlns:a16="http://schemas.microsoft.com/office/drawing/2014/main" id="{754260B4-1A70-4163-8127-38823D3E3F6C}"/>
              </a:ext>
            </a:extLst>
          </p:cNvPr>
          <p:cNvSpPr/>
          <p:nvPr/>
        </p:nvSpPr>
        <p:spPr>
          <a:xfrm>
            <a:off x="1332321" y="1442720"/>
            <a:ext cx="9206845" cy="757130"/>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As the angle of incidence becomes more and more acute, the light ceases to be transmitted, only reflected.</a:t>
            </a:r>
          </a:p>
        </p:txBody>
      </p:sp>
      <p:pic>
        <p:nvPicPr>
          <p:cNvPr id="11" name="Picture 6" descr="33_Figure13-I">
            <a:extLst>
              <a:ext uri="{FF2B5EF4-FFF2-40B4-BE49-F238E27FC236}">
                <a16:creationId xmlns:a16="http://schemas.microsoft.com/office/drawing/2014/main" id="{4FCD9286-3124-446B-98BE-19FB1C3478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9821" y="3156300"/>
            <a:ext cx="7070169" cy="3322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089B5FE3-1FA5-4FBA-9360-A47FEED0AEAB}"/>
              </a:ext>
            </a:extLst>
          </p:cNvPr>
          <p:cNvPicPr>
            <a:picLocks noChangeAspect="1"/>
          </p:cNvPicPr>
          <p:nvPr/>
        </p:nvPicPr>
        <p:blipFill>
          <a:blip r:embed="rId3"/>
          <a:stretch>
            <a:fillRect/>
          </a:stretch>
        </p:blipFill>
        <p:spPr>
          <a:xfrm>
            <a:off x="2615085" y="2292312"/>
            <a:ext cx="6457950" cy="771525"/>
          </a:xfrm>
          <a:prstGeom prst="rect">
            <a:avLst/>
          </a:prstGeom>
        </p:spPr>
      </p:pic>
    </p:spTree>
    <p:extLst>
      <p:ext uri="{BB962C8B-B14F-4D97-AF65-F5344CB8AC3E}">
        <p14:creationId xmlns:p14="http://schemas.microsoft.com/office/powerpoint/2010/main" val="2089104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1120678" y="343672"/>
            <a:ext cx="10087792"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Total internal reflection II</a:t>
            </a:r>
          </a:p>
        </p:txBody>
      </p:sp>
      <p:sp>
        <p:nvSpPr>
          <p:cNvPr id="4" name="矩形 3">
            <a:extLst>
              <a:ext uri="{FF2B5EF4-FFF2-40B4-BE49-F238E27FC236}">
                <a16:creationId xmlns:a16="http://schemas.microsoft.com/office/drawing/2014/main" id="{16DFCD10-4250-4665-901C-F51A9BB26E28}"/>
              </a:ext>
            </a:extLst>
          </p:cNvPr>
          <p:cNvSpPr/>
          <p:nvPr/>
        </p:nvSpPr>
        <p:spPr>
          <a:xfrm>
            <a:off x="1502003" y="1440634"/>
            <a:ext cx="8829773" cy="757130"/>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400" dirty="0">
                <a:latin typeface="Arial" panose="020B0604020202020204" pitchFamily="34" charset="0"/>
                <a:cs typeface="Arial" panose="020B0604020202020204" pitchFamily="34" charset="0"/>
              </a:rPr>
              <a:t>Using clever arrangements of glass or plastic, the applications are mind boggling.</a:t>
            </a:r>
          </a:p>
        </p:txBody>
      </p:sp>
      <p:grpSp>
        <p:nvGrpSpPr>
          <p:cNvPr id="2" name="组合 1"/>
          <p:cNvGrpSpPr/>
          <p:nvPr/>
        </p:nvGrpSpPr>
        <p:grpSpPr>
          <a:xfrm>
            <a:off x="1502003" y="2364603"/>
            <a:ext cx="9706467" cy="4149725"/>
            <a:chOff x="1502003" y="2364603"/>
            <a:chExt cx="9706467" cy="4149725"/>
          </a:xfrm>
        </p:grpSpPr>
        <p:pic>
          <p:nvPicPr>
            <p:cNvPr id="6" name="Picture 9" descr="33_Figure15-I">
              <a:extLst>
                <a:ext uri="{FF2B5EF4-FFF2-40B4-BE49-F238E27FC236}">
                  <a16:creationId xmlns:a16="http://schemas.microsoft.com/office/drawing/2014/main" id="{34D95CCC-E8D3-487A-96DA-656AAE78DA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5283" y="3294726"/>
              <a:ext cx="2643187"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descr="33_Figure14-I">
              <a:extLst>
                <a:ext uri="{FF2B5EF4-FFF2-40B4-BE49-F238E27FC236}">
                  <a16:creationId xmlns:a16="http://schemas.microsoft.com/office/drawing/2014/main" id="{C743C45D-3EC8-4FB5-A3EB-F4F0D27736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2003" y="2364603"/>
              <a:ext cx="4719637"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 descr="33_Figure16-P">
              <a:extLst>
                <a:ext uri="{FF2B5EF4-FFF2-40B4-BE49-F238E27FC236}">
                  <a16:creationId xmlns:a16="http://schemas.microsoft.com/office/drawing/2014/main" id="{BDE91C47-4C9E-483A-9913-DF72B59BFE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0084" y="3294726"/>
              <a:ext cx="1909762" cy="279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1436255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1241771"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Total internal reflection III</a:t>
            </a:r>
          </a:p>
        </p:txBody>
      </p:sp>
      <p:sp>
        <p:nvSpPr>
          <p:cNvPr id="2" name="矩形 1">
            <a:extLst>
              <a:ext uri="{FF2B5EF4-FFF2-40B4-BE49-F238E27FC236}">
                <a16:creationId xmlns:a16="http://schemas.microsoft.com/office/drawing/2014/main" id="{8D859FF8-CC21-4411-974B-7ACD016037CD}"/>
              </a:ext>
            </a:extLst>
          </p:cNvPr>
          <p:cNvSpPr/>
          <p:nvPr/>
        </p:nvSpPr>
        <p:spPr>
          <a:xfrm>
            <a:off x="1172065" y="1567753"/>
            <a:ext cx="9593345" cy="1892826"/>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Diamonds sparkle as they do because their index of refraction is one of the highest a transparent material can have. Nearly all light that enters a surface ends up making many passes around the inside of the stone. The effect is only amplified by cutting the surfaces at sharp angles. </a:t>
            </a:r>
            <a:endParaRPr lang="zh-CN" altLang="en-US" sz="2600" dirty="0">
              <a:latin typeface="Arial" panose="020B0604020202020204" pitchFamily="34" charset="0"/>
              <a:cs typeface="Arial" panose="020B0604020202020204" pitchFamily="34" charset="0"/>
            </a:endParaRPr>
          </a:p>
        </p:txBody>
      </p:sp>
      <p:pic>
        <p:nvPicPr>
          <p:cNvPr id="7" name="Picture 7" descr="33_Figure17-P">
            <a:extLst>
              <a:ext uri="{FF2B5EF4-FFF2-40B4-BE49-F238E27FC236}">
                <a16:creationId xmlns:a16="http://schemas.microsoft.com/office/drawing/2014/main" id="{46FEC3BE-85E7-4D18-B7E8-04130C82CC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5262" y="3484777"/>
            <a:ext cx="4806950" cy="325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9829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Dispersion</a:t>
            </a:r>
          </a:p>
        </p:txBody>
      </p:sp>
      <p:sp>
        <p:nvSpPr>
          <p:cNvPr id="4" name="矩形 3">
            <a:extLst>
              <a:ext uri="{FF2B5EF4-FFF2-40B4-BE49-F238E27FC236}">
                <a16:creationId xmlns:a16="http://schemas.microsoft.com/office/drawing/2014/main" id="{96E50069-4BC5-4E87-A7F8-4057089C726A}"/>
              </a:ext>
            </a:extLst>
          </p:cNvPr>
          <p:cNvSpPr/>
          <p:nvPr/>
        </p:nvSpPr>
        <p:spPr>
          <a:xfrm>
            <a:off x="1216058" y="1567753"/>
            <a:ext cx="5288437" cy="4053417"/>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From the discussion of the prism seen in earlier slides, we recall that light refraction is wavelength dependent.  This effect is made more pronounced if the index of refraction is higher. “Making a rainbow” is actually more than just appreciation of beauty; applied to chemical systems, the dispersion of spectral lines can be a powerful identification tool.</a:t>
            </a:r>
          </a:p>
        </p:txBody>
      </p:sp>
      <p:pic>
        <p:nvPicPr>
          <p:cNvPr id="8" name="Picture 6" descr="33_Figure18-I">
            <a:extLst>
              <a:ext uri="{FF2B5EF4-FFF2-40B4-BE49-F238E27FC236}">
                <a16:creationId xmlns:a16="http://schemas.microsoft.com/office/drawing/2014/main" id="{3B5F6632-453C-442B-9CE5-B6F59D36AD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2838" y="1189805"/>
            <a:ext cx="37401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7368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Special case—dispersion and atmospheric rainbows</a:t>
            </a:r>
          </a:p>
        </p:txBody>
      </p:sp>
      <p:sp>
        <p:nvSpPr>
          <p:cNvPr id="2" name="矩形 1">
            <a:extLst>
              <a:ext uri="{FF2B5EF4-FFF2-40B4-BE49-F238E27FC236}">
                <a16:creationId xmlns:a16="http://schemas.microsoft.com/office/drawing/2014/main" id="{80682A45-F26D-4C6C-97AF-B07CF17E5920}"/>
              </a:ext>
            </a:extLst>
          </p:cNvPr>
          <p:cNvSpPr/>
          <p:nvPr/>
        </p:nvSpPr>
        <p:spPr>
          <a:xfrm>
            <a:off x="1068371" y="1810023"/>
            <a:ext cx="4747967" cy="4773614"/>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As a person looks into the sky and sees a rainbow, he or she is actually “receiving light signals” from a physical spread of water droplets over many meters (or hundreds of meters) of altitude in the atmosphere. The reds come from the higher droplets and the blues from the lower (as we have seen in the wavelength dependence of light refraction).  </a:t>
            </a:r>
          </a:p>
        </p:txBody>
      </p:sp>
      <p:pic>
        <p:nvPicPr>
          <p:cNvPr id="6" name="Picture 7" descr="33_Figure20-I">
            <a:extLst>
              <a:ext uri="{FF2B5EF4-FFF2-40B4-BE49-F238E27FC236}">
                <a16:creationId xmlns:a16="http://schemas.microsoft.com/office/drawing/2014/main" id="{2919F0F2-DC2B-4685-A96F-608F3E7421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066800"/>
            <a:ext cx="52133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134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Selecting one orientation of the EM wave—the Polaroid</a:t>
            </a:r>
          </a:p>
        </p:txBody>
      </p:sp>
      <p:sp>
        <p:nvSpPr>
          <p:cNvPr id="3" name="矩形 2">
            <a:extLst>
              <a:ext uri="{FF2B5EF4-FFF2-40B4-BE49-F238E27FC236}">
                <a16:creationId xmlns:a16="http://schemas.microsoft.com/office/drawing/2014/main" id="{598EBDB7-0523-45F0-A9DB-A6EA62B3A24C}"/>
              </a:ext>
            </a:extLst>
          </p:cNvPr>
          <p:cNvSpPr/>
          <p:nvPr/>
        </p:nvSpPr>
        <p:spPr>
          <a:xfrm>
            <a:off x="1238053" y="1762390"/>
            <a:ext cx="5087333" cy="4053417"/>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A Polaroid filter is a polymer array that can be thought of like teeth in a comb. Hold the comb at arm’s length with the teeth pointing down.  Continue the mental cartoon and imagine waves oscillating straight up and down passing without resistance. Any “side-to-side” component and they would be blocked.</a:t>
            </a:r>
          </a:p>
        </p:txBody>
      </p:sp>
      <p:pic>
        <p:nvPicPr>
          <p:cNvPr id="5" name="图片 4">
            <a:extLst>
              <a:ext uri="{FF2B5EF4-FFF2-40B4-BE49-F238E27FC236}">
                <a16:creationId xmlns:a16="http://schemas.microsoft.com/office/drawing/2014/main" id="{94481A1C-0037-470A-9602-D53036FB5BAE}"/>
              </a:ext>
            </a:extLst>
          </p:cNvPr>
          <p:cNvPicPr>
            <a:picLocks noChangeAspect="1"/>
          </p:cNvPicPr>
          <p:nvPr/>
        </p:nvPicPr>
        <p:blipFill>
          <a:blip r:embed="rId2"/>
          <a:stretch>
            <a:fillRect/>
          </a:stretch>
        </p:blipFill>
        <p:spPr>
          <a:xfrm>
            <a:off x="1240252" y="5804143"/>
            <a:ext cx="5629275" cy="752475"/>
          </a:xfrm>
          <a:prstGeom prst="rect">
            <a:avLst/>
          </a:prstGeom>
        </p:spPr>
      </p:pic>
      <p:pic>
        <p:nvPicPr>
          <p:cNvPr id="9" name="图片 8">
            <a:extLst>
              <a:ext uri="{FF2B5EF4-FFF2-40B4-BE49-F238E27FC236}">
                <a16:creationId xmlns:a16="http://schemas.microsoft.com/office/drawing/2014/main" id="{3359CF32-9CB7-406B-AB97-0F5BD8C9CBB3}"/>
              </a:ext>
            </a:extLst>
          </p:cNvPr>
          <p:cNvPicPr>
            <a:picLocks noChangeAspect="1"/>
          </p:cNvPicPr>
          <p:nvPr/>
        </p:nvPicPr>
        <p:blipFill>
          <a:blip r:embed="rId3"/>
          <a:stretch>
            <a:fillRect/>
          </a:stretch>
        </p:blipFill>
        <p:spPr>
          <a:xfrm>
            <a:off x="7106794" y="1132924"/>
            <a:ext cx="3953155" cy="5423694"/>
          </a:xfrm>
          <a:prstGeom prst="rect">
            <a:avLst/>
          </a:prstGeom>
        </p:spPr>
      </p:pic>
    </p:spTree>
    <p:extLst>
      <p:ext uri="{BB962C8B-B14F-4D97-AF65-F5344CB8AC3E}">
        <p14:creationId xmlns:p14="http://schemas.microsoft.com/office/powerpoint/2010/main" val="2163467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Polarization I </a:t>
            </a:r>
          </a:p>
        </p:txBody>
      </p:sp>
      <p:sp>
        <p:nvSpPr>
          <p:cNvPr id="2" name="矩形 1">
            <a:extLst>
              <a:ext uri="{FF2B5EF4-FFF2-40B4-BE49-F238E27FC236}">
                <a16:creationId xmlns:a16="http://schemas.microsoft.com/office/drawing/2014/main" id="{E5976ECC-40B7-41C0-8353-D7CDEA369191}"/>
              </a:ext>
            </a:extLst>
          </p:cNvPr>
          <p:cNvSpPr/>
          <p:nvPr/>
        </p:nvSpPr>
        <p:spPr>
          <a:xfrm>
            <a:off x="1398307" y="1369790"/>
            <a:ext cx="9763026" cy="3229602"/>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Polarization is a characteristic of all </a:t>
            </a:r>
            <a:r>
              <a:rPr lang="en-US" altLang="zh-CN" sz="2600" b="1" dirty="0">
                <a:latin typeface="Arial" panose="020B0604020202020204" pitchFamily="34" charset="0"/>
                <a:cs typeface="Arial" panose="020B0604020202020204" pitchFamily="34" charset="0"/>
              </a:rPr>
              <a:t>transverse waves</a:t>
            </a:r>
            <a:r>
              <a:rPr lang="en-US" altLang="zh-CN" sz="2600" dirty="0">
                <a:latin typeface="Arial" panose="020B0604020202020204" pitchFamily="34" charset="0"/>
                <a:cs typeface="Arial" panose="020B0604020202020204" pitchFamily="34" charset="0"/>
              </a:rPr>
              <a:t>.</a:t>
            </a:r>
          </a:p>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A wave has only y-displacement, we say that it is linearly polarized in the y-direction. For mechanical waves we can build a </a:t>
            </a:r>
            <a:r>
              <a:rPr lang="en-US" altLang="zh-CN" sz="2600" b="1" dirty="0">
                <a:latin typeface="Arial" panose="020B0604020202020204" pitchFamily="34" charset="0"/>
                <a:cs typeface="Arial" panose="020B0604020202020204" pitchFamily="34" charset="0"/>
              </a:rPr>
              <a:t>polarizing filter </a:t>
            </a:r>
            <a:r>
              <a:rPr lang="en-US" altLang="zh-CN" sz="2600" dirty="0">
                <a:latin typeface="Arial" panose="020B0604020202020204" pitchFamily="34" charset="0"/>
                <a:cs typeface="Arial" panose="020B0604020202020204" pitchFamily="34" charset="0"/>
              </a:rPr>
              <a:t>or </a:t>
            </a:r>
            <a:r>
              <a:rPr lang="en-US" altLang="zh-CN" sz="2600" b="1" dirty="0">
                <a:latin typeface="Arial" panose="020B0604020202020204" pitchFamily="34" charset="0"/>
                <a:cs typeface="Arial" panose="020B0604020202020204" pitchFamily="34" charset="0"/>
              </a:rPr>
              <a:t>polarizer</a:t>
            </a:r>
            <a:r>
              <a:rPr lang="en-US" altLang="zh-CN" sz="2600" dirty="0">
                <a:latin typeface="Arial" panose="020B0604020202020204" pitchFamily="34" charset="0"/>
                <a:cs typeface="Arial" panose="020B0604020202020204" pitchFamily="34" charset="0"/>
              </a:rPr>
              <a:t>, which can permit only waves with a certain polarization direction to pass.</a:t>
            </a:r>
          </a:p>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A electromagnetic wave is a transverse wave. The fluctuating electric and magnetic fields are perpendicular to each other and to the direction of propagation.</a:t>
            </a:r>
          </a:p>
        </p:txBody>
      </p:sp>
      <p:pic>
        <p:nvPicPr>
          <p:cNvPr id="3" name="图片 2">
            <a:extLst>
              <a:ext uri="{FF2B5EF4-FFF2-40B4-BE49-F238E27FC236}">
                <a16:creationId xmlns:a16="http://schemas.microsoft.com/office/drawing/2014/main" id="{EAB61987-0B4E-41A3-9E78-169F890B337C}"/>
              </a:ext>
            </a:extLst>
          </p:cNvPr>
          <p:cNvPicPr>
            <a:picLocks noChangeAspect="1"/>
          </p:cNvPicPr>
          <p:nvPr/>
        </p:nvPicPr>
        <p:blipFill>
          <a:blip r:embed="rId2"/>
          <a:stretch>
            <a:fillRect/>
          </a:stretch>
        </p:blipFill>
        <p:spPr>
          <a:xfrm>
            <a:off x="1265497" y="4897907"/>
            <a:ext cx="9915525" cy="1952625"/>
          </a:xfrm>
          <a:prstGeom prst="rect">
            <a:avLst/>
          </a:prstGeom>
        </p:spPr>
      </p:pic>
    </p:spTree>
    <p:extLst>
      <p:ext uri="{BB962C8B-B14F-4D97-AF65-F5344CB8AC3E}">
        <p14:creationId xmlns:p14="http://schemas.microsoft.com/office/powerpoint/2010/main" val="3935650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Unpolarized light</a:t>
            </a:r>
          </a:p>
        </p:txBody>
      </p:sp>
      <p:sp>
        <p:nvSpPr>
          <p:cNvPr id="2" name="矩形 1">
            <a:extLst>
              <a:ext uri="{FF2B5EF4-FFF2-40B4-BE49-F238E27FC236}">
                <a16:creationId xmlns:a16="http://schemas.microsoft.com/office/drawing/2014/main" id="{E5976ECC-40B7-41C0-8353-D7CDEA369191}"/>
              </a:ext>
            </a:extLst>
          </p:cNvPr>
          <p:cNvSpPr/>
          <p:nvPr/>
        </p:nvSpPr>
        <p:spPr>
          <a:xfrm>
            <a:off x="1616432" y="1756289"/>
            <a:ext cx="4012679" cy="2613023"/>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Light with a random mixture of waves linearly polarized in all possible transverse directions, called </a:t>
            </a:r>
            <a:r>
              <a:rPr lang="en-US" altLang="zh-CN" sz="2600" b="1" dirty="0">
                <a:latin typeface="Arial" panose="020B0604020202020204" pitchFamily="34" charset="0"/>
                <a:cs typeface="Arial" panose="020B0604020202020204" pitchFamily="34" charset="0"/>
              </a:rPr>
              <a:t>unpolarized light </a:t>
            </a:r>
            <a:r>
              <a:rPr lang="en-US" altLang="zh-CN" sz="2600" dirty="0">
                <a:latin typeface="Arial" panose="020B0604020202020204" pitchFamily="34" charset="0"/>
                <a:cs typeface="Arial" panose="020B0604020202020204" pitchFamily="34" charset="0"/>
              </a:rPr>
              <a:t>or </a:t>
            </a:r>
            <a:r>
              <a:rPr lang="en-US" altLang="zh-CN" sz="2600" b="1" dirty="0">
                <a:latin typeface="Arial" panose="020B0604020202020204" pitchFamily="34" charset="0"/>
                <a:cs typeface="Arial" panose="020B0604020202020204" pitchFamily="34" charset="0"/>
              </a:rPr>
              <a:t>nature light</a:t>
            </a:r>
            <a:r>
              <a:rPr lang="en-US" altLang="zh-CN" sz="2600" dirty="0">
                <a:latin typeface="Arial" panose="020B0604020202020204" pitchFamily="34" charset="0"/>
                <a:cs typeface="Arial" panose="020B0604020202020204" pitchFamily="34" charset="0"/>
              </a:rPr>
              <a:t>.</a:t>
            </a:r>
          </a:p>
        </p:txBody>
      </p:sp>
      <p:pic>
        <p:nvPicPr>
          <p:cNvPr id="4" name="图片 3">
            <a:extLst>
              <a:ext uri="{FF2B5EF4-FFF2-40B4-BE49-F238E27FC236}">
                <a16:creationId xmlns:a16="http://schemas.microsoft.com/office/drawing/2014/main" id="{65D47AA0-65B6-44ED-9CC1-C80DFE935563}"/>
              </a:ext>
            </a:extLst>
          </p:cNvPr>
          <p:cNvPicPr>
            <a:picLocks noChangeAspect="1"/>
          </p:cNvPicPr>
          <p:nvPr/>
        </p:nvPicPr>
        <p:blipFill>
          <a:blip r:embed="rId2"/>
          <a:stretch>
            <a:fillRect/>
          </a:stretch>
        </p:blipFill>
        <p:spPr>
          <a:xfrm>
            <a:off x="6690478" y="1567753"/>
            <a:ext cx="3543300" cy="4924425"/>
          </a:xfrm>
          <a:prstGeom prst="rect">
            <a:avLst/>
          </a:prstGeom>
        </p:spPr>
      </p:pic>
      <p:pic>
        <p:nvPicPr>
          <p:cNvPr id="6" name="图片 5">
            <a:extLst>
              <a:ext uri="{FF2B5EF4-FFF2-40B4-BE49-F238E27FC236}">
                <a16:creationId xmlns:a16="http://schemas.microsoft.com/office/drawing/2014/main" id="{7735E573-2B36-489D-8CC6-D2225B284C7B}"/>
              </a:ext>
            </a:extLst>
          </p:cNvPr>
          <p:cNvPicPr>
            <a:picLocks noChangeAspect="1"/>
          </p:cNvPicPr>
          <p:nvPr/>
        </p:nvPicPr>
        <p:blipFill>
          <a:blip r:embed="rId3"/>
          <a:stretch>
            <a:fillRect/>
          </a:stretch>
        </p:blipFill>
        <p:spPr>
          <a:xfrm>
            <a:off x="1827425" y="4947838"/>
            <a:ext cx="4457700" cy="590550"/>
          </a:xfrm>
          <a:prstGeom prst="rect">
            <a:avLst/>
          </a:prstGeom>
        </p:spPr>
      </p:pic>
    </p:spTree>
    <p:extLst>
      <p:ext uri="{BB962C8B-B14F-4D97-AF65-F5344CB8AC3E}">
        <p14:creationId xmlns:p14="http://schemas.microsoft.com/office/powerpoint/2010/main" val="614369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A891DF6-77C9-4917-8DF8-D2BB9FFB1AD1}"/>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22AE5FBA-B330-4590-98AE-7F039EE0C327}"/>
              </a:ext>
            </a:extLst>
          </p:cNvPr>
          <p:cNvPicPr>
            <a:picLocks noChangeAspect="1"/>
          </p:cNvPicPr>
          <p:nvPr/>
        </p:nvPicPr>
        <p:blipFill>
          <a:blip r:embed="rId2"/>
          <a:stretch>
            <a:fillRect/>
          </a:stretch>
        </p:blipFill>
        <p:spPr>
          <a:xfrm>
            <a:off x="339091" y="1320612"/>
            <a:ext cx="11513817" cy="4216776"/>
          </a:xfrm>
          <a:prstGeom prst="rect">
            <a:avLst/>
          </a:prstGeom>
        </p:spPr>
      </p:pic>
    </p:spTree>
    <p:extLst>
      <p:ext uri="{BB962C8B-B14F-4D97-AF65-F5344CB8AC3E}">
        <p14:creationId xmlns:p14="http://schemas.microsoft.com/office/powerpoint/2010/main" val="3536072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Polarization by reflection</a:t>
            </a:r>
          </a:p>
        </p:txBody>
      </p:sp>
      <p:sp>
        <p:nvSpPr>
          <p:cNvPr id="2" name="矩形 1">
            <a:extLst>
              <a:ext uri="{FF2B5EF4-FFF2-40B4-BE49-F238E27FC236}">
                <a16:creationId xmlns:a16="http://schemas.microsoft.com/office/drawing/2014/main" id="{E5976ECC-40B7-41C0-8353-D7CDEA369191}"/>
              </a:ext>
            </a:extLst>
          </p:cNvPr>
          <p:cNvSpPr/>
          <p:nvPr/>
        </p:nvSpPr>
        <p:spPr>
          <a:xfrm>
            <a:off x="1398308" y="1567753"/>
            <a:ext cx="9649905" cy="452432"/>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By reflection from a surface? </a:t>
            </a:r>
          </a:p>
        </p:txBody>
      </p:sp>
      <p:pic>
        <p:nvPicPr>
          <p:cNvPr id="4" name="图片 3">
            <a:extLst>
              <a:ext uri="{FF2B5EF4-FFF2-40B4-BE49-F238E27FC236}">
                <a16:creationId xmlns:a16="http://schemas.microsoft.com/office/drawing/2014/main" id="{1E66C8E7-5234-407A-B7CC-6D636F14269F}"/>
              </a:ext>
            </a:extLst>
          </p:cNvPr>
          <p:cNvPicPr>
            <a:picLocks noChangeAspect="1"/>
          </p:cNvPicPr>
          <p:nvPr/>
        </p:nvPicPr>
        <p:blipFill>
          <a:blip r:embed="rId2"/>
          <a:stretch>
            <a:fillRect/>
          </a:stretch>
        </p:blipFill>
        <p:spPr>
          <a:xfrm>
            <a:off x="474461" y="2254885"/>
            <a:ext cx="11172825" cy="4400550"/>
          </a:xfrm>
          <a:prstGeom prst="rect">
            <a:avLst/>
          </a:prstGeom>
        </p:spPr>
      </p:pic>
    </p:spTree>
    <p:extLst>
      <p:ext uri="{BB962C8B-B14F-4D97-AF65-F5344CB8AC3E}">
        <p14:creationId xmlns:p14="http://schemas.microsoft.com/office/powerpoint/2010/main" val="35963394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Brewster’s law</a:t>
            </a:r>
          </a:p>
        </p:txBody>
      </p:sp>
      <p:sp>
        <p:nvSpPr>
          <p:cNvPr id="2" name="矩形 1">
            <a:extLst>
              <a:ext uri="{FF2B5EF4-FFF2-40B4-BE49-F238E27FC236}">
                <a16:creationId xmlns:a16="http://schemas.microsoft.com/office/drawing/2014/main" id="{6904D367-78F3-40B1-AE10-E79B9BF68A4A}"/>
              </a:ext>
            </a:extLst>
          </p:cNvPr>
          <p:cNvSpPr/>
          <p:nvPr/>
        </p:nvSpPr>
        <p:spPr>
          <a:xfrm>
            <a:off x="1228627" y="1483374"/>
            <a:ext cx="6096000" cy="3101362"/>
          </a:xfrm>
          <a:prstGeom prst="rect">
            <a:avLst/>
          </a:prstGeom>
        </p:spPr>
        <p:txBody>
          <a:bodyPr>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But</a:t>
            </a:r>
            <a:r>
              <a:rPr lang="zh-CN" altLang="en-US" sz="2600" dirty="0">
                <a:latin typeface="Arial" panose="020B0604020202020204" pitchFamily="34" charset="0"/>
                <a:cs typeface="Arial" panose="020B0604020202020204" pitchFamily="34" charset="0"/>
              </a:rPr>
              <a:t> </a:t>
            </a:r>
            <a:r>
              <a:rPr lang="en-US" altLang="zh-CN" sz="2600" dirty="0">
                <a:latin typeface="Arial" panose="020B0604020202020204" pitchFamily="34" charset="0"/>
                <a:cs typeface="Arial" panose="020B0604020202020204" pitchFamily="34" charset="0"/>
              </a:rPr>
              <a:t>at</a:t>
            </a:r>
            <a:r>
              <a:rPr lang="zh-CN" altLang="en-US" sz="2600" dirty="0">
                <a:latin typeface="Arial" panose="020B0604020202020204" pitchFamily="34" charset="0"/>
                <a:cs typeface="Arial" panose="020B0604020202020204" pitchFamily="34" charset="0"/>
              </a:rPr>
              <a:t> </a:t>
            </a:r>
            <a:r>
              <a:rPr lang="en-US" altLang="zh-CN" sz="2600" dirty="0">
                <a:latin typeface="Arial" panose="020B0604020202020204" pitchFamily="34" charset="0"/>
                <a:cs typeface="Arial" panose="020B0604020202020204" pitchFamily="34" charset="0"/>
              </a:rPr>
              <a:t>one</a:t>
            </a:r>
            <a:r>
              <a:rPr lang="zh-CN" altLang="en-US" sz="2600" dirty="0">
                <a:latin typeface="Arial" panose="020B0604020202020204" pitchFamily="34" charset="0"/>
                <a:cs typeface="Arial" panose="020B0604020202020204" pitchFamily="34" charset="0"/>
              </a:rPr>
              <a:t> </a:t>
            </a:r>
            <a:r>
              <a:rPr lang="en-US" altLang="zh-CN" sz="2600" dirty="0">
                <a:latin typeface="Arial" panose="020B0604020202020204" pitchFamily="34" charset="0"/>
                <a:cs typeface="Arial" panose="020B0604020202020204" pitchFamily="34" charset="0"/>
              </a:rPr>
              <a:t>particular angle of incidence, called the polarized angle </a:t>
            </a:r>
            <a:r>
              <a:rPr lang="el-GR" altLang="zh-CN" sz="2600" dirty="0">
                <a:latin typeface="Arial" panose="020B0604020202020204" pitchFamily="34" charset="0"/>
                <a:cs typeface="Arial" panose="020B0604020202020204" pitchFamily="34" charset="0"/>
              </a:rPr>
              <a:t>θ</a:t>
            </a:r>
            <a:r>
              <a:rPr lang="en-US" altLang="zh-CN" sz="2600" baseline="-25000" dirty="0">
                <a:latin typeface="Arial" panose="020B0604020202020204" pitchFamily="34" charset="0"/>
                <a:cs typeface="Arial" panose="020B0604020202020204" pitchFamily="34" charset="0"/>
              </a:rPr>
              <a:t>p</a:t>
            </a:r>
            <a:r>
              <a:rPr lang="en-US" altLang="zh-CN" sz="2600" dirty="0">
                <a:latin typeface="Arial" panose="020B0604020202020204" pitchFamily="34" charset="0"/>
                <a:cs typeface="Arial" panose="020B0604020202020204" pitchFamily="34" charset="0"/>
              </a:rPr>
              <a:t>, the light for which E lies in the plane of incidence is not reflected at all but is completely refracted.</a:t>
            </a:r>
          </a:p>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In this case the angle of refraction </a:t>
            </a:r>
            <a:r>
              <a:rPr lang="el-GR" altLang="zh-CN" sz="2600" dirty="0">
                <a:latin typeface="Arial" panose="020B0604020202020204" pitchFamily="34" charset="0"/>
                <a:cs typeface="Arial" panose="020B0604020202020204" pitchFamily="34" charset="0"/>
              </a:rPr>
              <a:t>θ</a:t>
            </a:r>
            <a:r>
              <a:rPr lang="en-US" altLang="zh-CN" sz="2600" baseline="-25000" dirty="0">
                <a:latin typeface="Arial" panose="020B0604020202020204" pitchFamily="34" charset="0"/>
                <a:cs typeface="Arial" panose="020B0604020202020204" pitchFamily="34" charset="0"/>
              </a:rPr>
              <a:t>b</a:t>
            </a:r>
            <a:r>
              <a:rPr lang="en-US" altLang="zh-CN" sz="2600" dirty="0">
                <a:latin typeface="Arial" panose="020B0604020202020204" pitchFamily="34" charset="0"/>
                <a:cs typeface="Arial" panose="020B0604020202020204" pitchFamily="34" charset="0"/>
              </a:rPr>
              <a:t> equals 90°-</a:t>
            </a:r>
            <a:r>
              <a:rPr lang="el-GR" altLang="zh-CN" sz="2600" dirty="0">
                <a:latin typeface="Arial" panose="020B0604020202020204" pitchFamily="34" charset="0"/>
                <a:cs typeface="Arial" panose="020B0604020202020204" pitchFamily="34" charset="0"/>
              </a:rPr>
              <a:t>θ</a:t>
            </a:r>
            <a:r>
              <a:rPr lang="en-US" altLang="zh-CN" sz="2600" baseline="-25000" dirty="0">
                <a:latin typeface="Arial" panose="020B0604020202020204" pitchFamily="34" charset="0"/>
                <a:cs typeface="Arial" panose="020B0604020202020204" pitchFamily="34" charset="0"/>
              </a:rPr>
              <a:t>p</a:t>
            </a:r>
            <a:r>
              <a:rPr lang="en-US" altLang="zh-CN" sz="2600" dirty="0">
                <a:latin typeface="Arial" panose="020B0604020202020204" pitchFamily="34" charset="0"/>
                <a:cs typeface="Arial" panose="020B0604020202020204" pitchFamily="34" charset="0"/>
              </a:rPr>
              <a:t>. From the law of refraction. </a:t>
            </a:r>
          </a:p>
        </p:txBody>
      </p:sp>
      <p:pic>
        <p:nvPicPr>
          <p:cNvPr id="4" name="图片 3">
            <a:extLst>
              <a:ext uri="{FF2B5EF4-FFF2-40B4-BE49-F238E27FC236}">
                <a16:creationId xmlns:a16="http://schemas.microsoft.com/office/drawing/2014/main" id="{699AB811-9516-4CDE-8223-C4D9E10EB3EC}"/>
              </a:ext>
            </a:extLst>
          </p:cNvPr>
          <p:cNvPicPr>
            <a:picLocks noChangeAspect="1"/>
          </p:cNvPicPr>
          <p:nvPr/>
        </p:nvPicPr>
        <p:blipFill>
          <a:blip r:embed="rId2"/>
          <a:stretch>
            <a:fillRect/>
          </a:stretch>
        </p:blipFill>
        <p:spPr>
          <a:xfrm>
            <a:off x="7811187" y="1176386"/>
            <a:ext cx="3752850" cy="5410200"/>
          </a:xfrm>
          <a:prstGeom prst="rect">
            <a:avLst/>
          </a:prstGeom>
        </p:spPr>
      </p:pic>
      <p:grpSp>
        <p:nvGrpSpPr>
          <p:cNvPr id="3" name="组合 2"/>
          <p:cNvGrpSpPr/>
          <p:nvPr/>
        </p:nvGrpSpPr>
        <p:grpSpPr>
          <a:xfrm>
            <a:off x="1305612" y="4490926"/>
            <a:ext cx="6505575" cy="2095660"/>
            <a:chOff x="1305612" y="4490926"/>
            <a:chExt cx="6505575" cy="2095660"/>
          </a:xfrm>
        </p:grpSpPr>
        <p:pic>
          <p:nvPicPr>
            <p:cNvPr id="5" name="图片 4">
              <a:extLst>
                <a:ext uri="{FF2B5EF4-FFF2-40B4-BE49-F238E27FC236}">
                  <a16:creationId xmlns:a16="http://schemas.microsoft.com/office/drawing/2014/main" id="{411FEC5A-03EE-430A-B2F8-A0D187D74B89}"/>
                </a:ext>
              </a:extLst>
            </p:cNvPr>
            <p:cNvPicPr>
              <a:picLocks noChangeAspect="1"/>
            </p:cNvPicPr>
            <p:nvPr/>
          </p:nvPicPr>
          <p:blipFill>
            <a:blip r:embed="rId3"/>
            <a:stretch>
              <a:fillRect/>
            </a:stretch>
          </p:blipFill>
          <p:spPr>
            <a:xfrm>
              <a:off x="2520622" y="4490926"/>
              <a:ext cx="2845837" cy="551170"/>
            </a:xfrm>
            <a:prstGeom prst="rect">
              <a:avLst/>
            </a:prstGeom>
          </p:spPr>
        </p:pic>
        <p:pic>
          <p:nvPicPr>
            <p:cNvPr id="6" name="图片 5">
              <a:extLst>
                <a:ext uri="{FF2B5EF4-FFF2-40B4-BE49-F238E27FC236}">
                  <a16:creationId xmlns:a16="http://schemas.microsoft.com/office/drawing/2014/main" id="{60B1B84D-24CF-4ADD-B8FF-FC5E0AC5F18D}"/>
                </a:ext>
              </a:extLst>
            </p:cNvPr>
            <p:cNvPicPr>
              <a:picLocks noChangeAspect="1"/>
            </p:cNvPicPr>
            <p:nvPr/>
          </p:nvPicPr>
          <p:blipFill>
            <a:blip r:embed="rId4"/>
            <a:stretch>
              <a:fillRect/>
            </a:stretch>
          </p:blipFill>
          <p:spPr>
            <a:xfrm>
              <a:off x="1305612" y="4948286"/>
              <a:ext cx="6505575" cy="1638300"/>
            </a:xfrm>
            <a:prstGeom prst="rect">
              <a:avLst/>
            </a:prstGeom>
          </p:spPr>
        </p:pic>
      </p:grpSp>
    </p:spTree>
    <p:extLst>
      <p:ext uri="{BB962C8B-B14F-4D97-AF65-F5344CB8AC3E}">
        <p14:creationId xmlns:p14="http://schemas.microsoft.com/office/powerpoint/2010/main" val="22541930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911926D-D24A-47F4-90B3-8BD8BB296412}"/>
              </a:ext>
            </a:extLst>
          </p:cNvPr>
          <p:cNvPicPr>
            <a:picLocks noChangeAspect="1"/>
          </p:cNvPicPr>
          <p:nvPr/>
        </p:nvPicPr>
        <p:blipFill>
          <a:blip r:embed="rId2"/>
          <a:stretch>
            <a:fillRect/>
          </a:stretch>
        </p:blipFill>
        <p:spPr>
          <a:xfrm>
            <a:off x="1852411" y="0"/>
            <a:ext cx="8487177" cy="6858000"/>
          </a:xfrm>
          <a:prstGeom prst="rect">
            <a:avLst/>
          </a:prstGeom>
        </p:spPr>
      </p:pic>
    </p:spTree>
    <p:extLst>
      <p:ext uri="{BB962C8B-B14F-4D97-AF65-F5344CB8AC3E}">
        <p14:creationId xmlns:p14="http://schemas.microsoft.com/office/powerpoint/2010/main" val="27227171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Circular and elliptical polarization</a:t>
            </a:r>
          </a:p>
        </p:txBody>
      </p:sp>
      <p:sp>
        <p:nvSpPr>
          <p:cNvPr id="3" name="矩形 2">
            <a:extLst>
              <a:ext uri="{FF2B5EF4-FFF2-40B4-BE49-F238E27FC236}">
                <a16:creationId xmlns:a16="http://schemas.microsoft.com/office/drawing/2014/main" id="{F8D3DA9C-C68B-476F-9E9B-DBB9F8ADC00A}"/>
              </a:ext>
            </a:extLst>
          </p:cNvPr>
          <p:cNvSpPr/>
          <p:nvPr/>
        </p:nvSpPr>
        <p:spPr>
          <a:xfrm>
            <a:off x="1285183" y="1386129"/>
            <a:ext cx="9876149" cy="3101362"/>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If two component waves differ in phase by a quarter cycle and with the same amplitude. This particular superposition of two linearly polarized waves is called circular polarization.</a:t>
            </a:r>
          </a:p>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If the phase difference between two component waves is something other than a quarter-cycle, or if the two component waves have different amplitudes, then each point on the string trances out not a circle but an ellipse. The resulting wave is called elliptically polarized.</a:t>
            </a:r>
            <a:endParaRPr lang="zh-CN" altLang="en-US" sz="2600" dirty="0">
              <a:latin typeface="Arial" panose="020B0604020202020204" pitchFamily="34" charset="0"/>
              <a:cs typeface="Arial" panose="020B0604020202020204" pitchFamily="34" charset="0"/>
            </a:endParaRPr>
          </a:p>
        </p:txBody>
      </p:sp>
      <p:pic>
        <p:nvPicPr>
          <p:cNvPr id="2" name="图片 1">
            <a:extLst>
              <a:ext uri="{FF2B5EF4-FFF2-40B4-BE49-F238E27FC236}">
                <a16:creationId xmlns:a16="http://schemas.microsoft.com/office/drawing/2014/main" id="{79A586D7-F2D6-42A8-9046-4D8328CB68CA}"/>
              </a:ext>
            </a:extLst>
          </p:cNvPr>
          <p:cNvPicPr>
            <a:picLocks noChangeAspect="1"/>
          </p:cNvPicPr>
          <p:nvPr/>
        </p:nvPicPr>
        <p:blipFill>
          <a:blip r:embed="rId2"/>
          <a:stretch>
            <a:fillRect/>
          </a:stretch>
        </p:blipFill>
        <p:spPr>
          <a:xfrm>
            <a:off x="5595934" y="4076239"/>
            <a:ext cx="6222726" cy="2791264"/>
          </a:xfrm>
          <a:prstGeom prst="rect">
            <a:avLst/>
          </a:prstGeom>
        </p:spPr>
      </p:pic>
    </p:spTree>
    <p:extLst>
      <p:ext uri="{BB962C8B-B14F-4D97-AF65-F5344CB8AC3E}">
        <p14:creationId xmlns:p14="http://schemas.microsoft.com/office/powerpoint/2010/main" val="40281454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err="1">
                <a:solidFill>
                  <a:srgbClr val="007FA3"/>
                </a:solidFill>
                <a:latin typeface="Arial" panose="020B0604020202020204" pitchFamily="34" charset="0"/>
                <a:cs typeface="Arial" panose="020B0604020202020204" pitchFamily="34" charset="0"/>
              </a:rPr>
              <a:t>photoelasticity</a:t>
            </a:r>
            <a:endParaRPr lang="en-US" altLang="zh-CN" sz="3600" b="1" dirty="0">
              <a:solidFill>
                <a:srgbClr val="007FA3"/>
              </a:solidFill>
              <a:latin typeface="Arial" panose="020B0604020202020204" pitchFamily="34" charset="0"/>
              <a:cs typeface="Arial" panose="020B0604020202020204" pitchFamily="34" charset="0"/>
            </a:endParaRPr>
          </a:p>
        </p:txBody>
      </p:sp>
      <p:sp>
        <p:nvSpPr>
          <p:cNvPr id="3" name="矩形 2">
            <a:extLst>
              <a:ext uri="{FF2B5EF4-FFF2-40B4-BE49-F238E27FC236}">
                <a16:creationId xmlns:a16="http://schemas.microsoft.com/office/drawing/2014/main" id="{F8D3DA9C-C68B-476F-9E9B-DBB9F8ADC00A}"/>
              </a:ext>
            </a:extLst>
          </p:cNvPr>
          <p:cNvSpPr/>
          <p:nvPr/>
        </p:nvSpPr>
        <p:spPr>
          <a:xfrm>
            <a:off x="1285183" y="1567753"/>
            <a:ext cx="9876149" cy="1300869"/>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Some optical materials that are not normally birefringent become so when they are subjected to mechanical stress.</a:t>
            </a:r>
          </a:p>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This is the basis of the science of </a:t>
            </a:r>
            <a:r>
              <a:rPr lang="en-US" altLang="zh-CN" sz="2600" dirty="0" err="1">
                <a:latin typeface="Arial" panose="020B0604020202020204" pitchFamily="34" charset="0"/>
                <a:cs typeface="Arial" panose="020B0604020202020204" pitchFamily="34" charset="0"/>
              </a:rPr>
              <a:t>photoelasticity</a:t>
            </a:r>
            <a:r>
              <a:rPr lang="en-US" altLang="zh-CN" sz="2600" dirty="0">
                <a:latin typeface="Arial" panose="020B0604020202020204" pitchFamily="34" charset="0"/>
                <a:cs typeface="Arial" panose="020B0604020202020204" pitchFamily="34" charset="0"/>
              </a:rPr>
              <a:t>. </a:t>
            </a:r>
            <a:endParaRPr lang="zh-CN" altLang="en-US" sz="2600" dirty="0">
              <a:latin typeface="Arial" panose="020B0604020202020204" pitchFamily="34" charset="0"/>
              <a:cs typeface="Arial" panose="020B0604020202020204" pitchFamily="34" charset="0"/>
            </a:endParaRPr>
          </a:p>
        </p:txBody>
      </p:sp>
      <p:pic>
        <p:nvPicPr>
          <p:cNvPr id="4" name="图片 3">
            <a:extLst>
              <a:ext uri="{FF2B5EF4-FFF2-40B4-BE49-F238E27FC236}">
                <a16:creationId xmlns:a16="http://schemas.microsoft.com/office/drawing/2014/main" id="{A53ADC3C-1FC1-4B33-BA61-FE04C483ACB5}"/>
              </a:ext>
            </a:extLst>
          </p:cNvPr>
          <p:cNvPicPr>
            <a:picLocks noChangeAspect="1"/>
          </p:cNvPicPr>
          <p:nvPr/>
        </p:nvPicPr>
        <p:blipFill>
          <a:blip r:embed="rId2"/>
          <a:stretch>
            <a:fillRect/>
          </a:stretch>
        </p:blipFill>
        <p:spPr>
          <a:xfrm>
            <a:off x="2714919" y="3098439"/>
            <a:ext cx="6022599" cy="3573015"/>
          </a:xfrm>
          <a:prstGeom prst="rect">
            <a:avLst/>
          </a:prstGeom>
        </p:spPr>
      </p:pic>
    </p:spTree>
    <p:extLst>
      <p:ext uri="{BB962C8B-B14F-4D97-AF65-F5344CB8AC3E}">
        <p14:creationId xmlns:p14="http://schemas.microsoft.com/office/powerpoint/2010/main" val="1286785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Huygens’s Principle</a:t>
            </a:r>
          </a:p>
        </p:txBody>
      </p:sp>
      <p:sp>
        <p:nvSpPr>
          <p:cNvPr id="2" name="矩形 1">
            <a:extLst>
              <a:ext uri="{FF2B5EF4-FFF2-40B4-BE49-F238E27FC236}">
                <a16:creationId xmlns:a16="http://schemas.microsoft.com/office/drawing/2014/main" id="{EB91E39B-E4E4-452E-BD3E-56BDBFE36337}"/>
              </a:ext>
            </a:extLst>
          </p:cNvPr>
          <p:cNvSpPr/>
          <p:nvPr/>
        </p:nvSpPr>
        <p:spPr>
          <a:xfrm>
            <a:off x="1209040" y="1536174"/>
            <a:ext cx="9235126" cy="1892826"/>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From the work of Christian Huygens in 1678, the geometrical analysis reveals that every point of a wave front can be considered to be a source of secondary wavelets that spread with a speed equal to the speed of propagation of the wave.</a:t>
            </a:r>
          </a:p>
        </p:txBody>
      </p:sp>
      <p:pic>
        <p:nvPicPr>
          <p:cNvPr id="4" name="图片 3">
            <a:extLst>
              <a:ext uri="{FF2B5EF4-FFF2-40B4-BE49-F238E27FC236}">
                <a16:creationId xmlns:a16="http://schemas.microsoft.com/office/drawing/2014/main" id="{6AC2A277-608A-4644-B214-F17DC3F651BB}"/>
              </a:ext>
            </a:extLst>
          </p:cNvPr>
          <p:cNvPicPr>
            <a:picLocks noChangeAspect="1"/>
          </p:cNvPicPr>
          <p:nvPr/>
        </p:nvPicPr>
        <p:blipFill>
          <a:blip r:embed="rId2"/>
          <a:stretch>
            <a:fillRect/>
          </a:stretch>
        </p:blipFill>
        <p:spPr>
          <a:xfrm>
            <a:off x="3637280" y="3122761"/>
            <a:ext cx="4634547" cy="3659968"/>
          </a:xfrm>
          <a:prstGeom prst="rect">
            <a:avLst/>
          </a:prstGeom>
        </p:spPr>
      </p:pic>
    </p:spTree>
    <p:extLst>
      <p:ext uri="{BB962C8B-B14F-4D97-AF65-F5344CB8AC3E}">
        <p14:creationId xmlns:p14="http://schemas.microsoft.com/office/powerpoint/2010/main" val="1394187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46C82-EE1A-422D-A4E5-5D71C66F0694}"/>
              </a:ext>
            </a:extLst>
          </p:cNvPr>
          <p:cNvSpPr txBox="1">
            <a:spLocks noChangeArrowheads="1"/>
          </p:cNvSpPr>
          <p:nvPr/>
        </p:nvSpPr>
        <p:spPr bwMode="auto">
          <a:xfrm>
            <a:off x="960417" y="470791"/>
            <a:ext cx="10200915"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gency FB" panose="020B0503020202020204" pitchFamily="34" charset="0"/>
                <a:ea typeface="微软雅黑" panose="020B0503020204020204" pitchFamily="34" charset="-122"/>
              </a:defRPr>
            </a:lvl1pPr>
            <a:lvl2pPr marL="742950" indent="-285750">
              <a:defRPr>
                <a:solidFill>
                  <a:schemeClr val="tx1"/>
                </a:solidFill>
                <a:latin typeface="Agency FB" panose="020B0503020202020204" pitchFamily="34" charset="0"/>
                <a:ea typeface="微软雅黑" panose="020B0503020204020204" pitchFamily="34" charset="-122"/>
              </a:defRPr>
            </a:lvl2pPr>
            <a:lvl3pPr marL="1143000" indent="-228600">
              <a:defRPr>
                <a:solidFill>
                  <a:schemeClr val="tx1"/>
                </a:solidFill>
                <a:latin typeface="Agency FB" panose="020B0503020202020204" pitchFamily="34" charset="0"/>
                <a:ea typeface="微软雅黑" panose="020B0503020204020204" pitchFamily="34" charset="-122"/>
              </a:defRPr>
            </a:lvl3pPr>
            <a:lvl4pPr marL="1600200" indent="-228600">
              <a:defRPr>
                <a:solidFill>
                  <a:schemeClr val="tx1"/>
                </a:solidFill>
                <a:latin typeface="Agency FB" panose="020B0503020202020204" pitchFamily="34" charset="0"/>
                <a:ea typeface="微软雅黑" panose="020B0503020204020204" pitchFamily="34" charset="-122"/>
              </a:defRPr>
            </a:lvl4pPr>
            <a:lvl5pPr marL="2057400" indent="-228600">
              <a:defRPr>
                <a:solidFill>
                  <a:schemeClr val="tx1"/>
                </a:solidFill>
                <a:latin typeface="Agency FB" panose="020B0503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gency FB" panose="020B0503020202020204" pitchFamily="34" charset="0"/>
                <a:ea typeface="微软雅黑" panose="020B0503020204020204" pitchFamily="34" charset="-122"/>
              </a:defRPr>
            </a:lvl9pPr>
          </a:lstStyle>
          <a:p>
            <a:pPr eaLnBrk="1" hangingPunct="1">
              <a:lnSpc>
                <a:spcPct val="90000"/>
              </a:lnSpc>
            </a:pPr>
            <a:r>
              <a:rPr lang="en-US" altLang="zh-CN" sz="3600" b="1" dirty="0">
                <a:solidFill>
                  <a:srgbClr val="007FA3"/>
                </a:solidFill>
                <a:latin typeface="Arial" panose="020B0604020202020204" pitchFamily="34" charset="0"/>
                <a:cs typeface="Arial" panose="020B0604020202020204" pitchFamily="34" charset="0"/>
              </a:rPr>
              <a:t>Huygens’s Principle II</a:t>
            </a:r>
          </a:p>
        </p:txBody>
      </p:sp>
      <p:sp>
        <p:nvSpPr>
          <p:cNvPr id="2" name="矩形 1">
            <a:extLst>
              <a:ext uri="{FF2B5EF4-FFF2-40B4-BE49-F238E27FC236}">
                <a16:creationId xmlns:a16="http://schemas.microsoft.com/office/drawing/2014/main" id="{80F461C8-CBDF-4C28-AD7B-76031D36A536}"/>
              </a:ext>
            </a:extLst>
          </p:cNvPr>
          <p:cNvSpPr/>
          <p:nvPr/>
        </p:nvSpPr>
        <p:spPr>
          <a:xfrm>
            <a:off x="1379454" y="1567753"/>
            <a:ext cx="3814715" cy="1532727"/>
          </a:xfrm>
          <a:prstGeom prst="rect">
            <a:avLst/>
          </a:prstGeom>
        </p:spPr>
        <p:txBody>
          <a:bodyPr wrap="square">
            <a:spAutoFit/>
          </a:bodyPr>
          <a:lstStyle/>
          <a:p>
            <a:pPr marL="255588" lvl="1" indent="-255588">
              <a:lnSpc>
                <a:spcPct val="90000"/>
              </a:lnSpc>
              <a:spcBef>
                <a:spcPts val="1000"/>
              </a:spcBef>
              <a:buClr>
                <a:srgbClr val="007FA3"/>
              </a:buClr>
              <a:buFont typeface="Arial" panose="020B0604020202020204" pitchFamily="34" charset="0"/>
              <a:buChar char="•"/>
            </a:pPr>
            <a:r>
              <a:rPr lang="en-US" altLang="zh-CN" sz="2600" dirty="0">
                <a:latin typeface="Arial" panose="020B0604020202020204" pitchFamily="34" charset="0"/>
                <a:cs typeface="Arial" panose="020B0604020202020204" pitchFamily="34" charset="0"/>
              </a:rPr>
              <a:t>Huygens’s work can form an explanation of reflection and refraction.</a:t>
            </a:r>
          </a:p>
        </p:txBody>
      </p:sp>
      <p:pic>
        <p:nvPicPr>
          <p:cNvPr id="6" name="Picture 8" descr="33_Figure37-I">
            <a:extLst>
              <a:ext uri="{FF2B5EF4-FFF2-40B4-BE49-F238E27FC236}">
                <a16:creationId xmlns:a16="http://schemas.microsoft.com/office/drawing/2014/main" id="{911868C9-E5D9-4377-AEF8-04B08F08A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5289" y="4537431"/>
            <a:ext cx="8382000" cy="199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10">
            <a:extLst>
              <a:ext uri="{FF2B5EF4-FFF2-40B4-BE49-F238E27FC236}">
                <a16:creationId xmlns:a16="http://schemas.microsoft.com/office/drawing/2014/main" id="{BA1B53C8-5933-4D27-AB1B-7571167B99A3}"/>
              </a:ext>
            </a:extLst>
          </p:cNvPr>
          <p:cNvGrpSpPr>
            <a:grpSpLocks/>
          </p:cNvGrpSpPr>
          <p:nvPr/>
        </p:nvGrpSpPr>
        <p:grpSpPr bwMode="auto">
          <a:xfrm>
            <a:off x="5961352" y="836176"/>
            <a:ext cx="5343525" cy="3600450"/>
            <a:chOff x="3024" y="441"/>
            <a:chExt cx="2694" cy="1815"/>
          </a:xfrm>
        </p:grpSpPr>
        <p:pic>
          <p:nvPicPr>
            <p:cNvPr id="9" name="Picture 7" descr="33_Figure36-I">
              <a:extLst>
                <a:ext uri="{FF2B5EF4-FFF2-40B4-BE49-F238E27FC236}">
                  <a16:creationId xmlns:a16="http://schemas.microsoft.com/office/drawing/2014/main" id="{C1743FE7-C29B-45C1-9C83-5139609EB0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 y="441"/>
              <a:ext cx="1296" cy="1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33_Figure36-I">
              <a:extLst>
                <a:ext uri="{FF2B5EF4-FFF2-40B4-BE49-F238E27FC236}">
                  <a16:creationId xmlns:a16="http://schemas.microsoft.com/office/drawing/2014/main" id="{CC1DABAF-56EE-4370-A3BA-03EEA9C655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4" y="480"/>
              <a:ext cx="1296" cy="1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76415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797979"/>
      </a:dk2>
      <a:lt2>
        <a:srgbClr val="43B4E3"/>
      </a:lt2>
      <a:accent1>
        <a:srgbClr val="0070C0"/>
      </a:accent1>
      <a:accent2>
        <a:srgbClr val="CECECE"/>
      </a:accent2>
      <a:accent3>
        <a:srgbClr val="329FD1"/>
      </a:accent3>
      <a:accent4>
        <a:srgbClr val="CECECE"/>
      </a:accent4>
      <a:accent5>
        <a:srgbClr val="0070C0"/>
      </a:accent5>
      <a:accent6>
        <a:srgbClr val="CECECE"/>
      </a:accent6>
      <a:hlink>
        <a:srgbClr val="169EBE"/>
      </a:hlink>
      <a:folHlink>
        <a:srgbClr val="0070C0"/>
      </a:folHlink>
    </a:clrScheme>
    <a:fontScheme name="自定义 2">
      <a:majorFont>
        <a:latin typeface="Agency FB"/>
        <a:ea typeface="微软雅黑"/>
        <a:cs typeface=""/>
      </a:majorFont>
      <a:minorFont>
        <a:latin typeface="Agency FB"/>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20705</TotalTime>
  <Words>1113</Words>
  <Application>Microsoft Office PowerPoint</Application>
  <PresentationFormat>宽屏</PresentationFormat>
  <Paragraphs>71</Paragraphs>
  <Slides>31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31</vt:i4>
      </vt:variant>
    </vt:vector>
  </HeadingPairs>
  <TitlesOfParts>
    <vt:vector size="38" baseType="lpstr">
      <vt:lpstr>宋体</vt:lpstr>
      <vt:lpstr>微软雅黑</vt:lpstr>
      <vt:lpstr>Agency FB</vt:lpstr>
      <vt:lpstr>Arial</vt:lpstr>
      <vt:lpstr>Calibri</vt:lpstr>
      <vt:lpstr>Times New Roman</vt:lpstr>
      <vt:lpstr>Office 主题</vt:lpstr>
      <vt:lpstr>Chapter 24 THE NATURE AND PROPAGATION OF LIGHT</vt:lpstr>
      <vt:lpstr>Goals for chapter 24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小鹿PPT；http://pptx.taobao.com</dc:title>
  <dc:creator>小鹿PPT;http://pptx.taobao.com</dc:creator>
  <dc:description>小鹿PPT；http://pptx.taobao.com</dc:description>
  <cp:lastModifiedBy>LiuY</cp:lastModifiedBy>
  <cp:revision>281</cp:revision>
  <dcterms:created xsi:type="dcterms:W3CDTF">2017-07-11T01:33:08Z</dcterms:created>
  <dcterms:modified xsi:type="dcterms:W3CDTF">2021-09-19T08:51:02Z</dcterms:modified>
</cp:coreProperties>
</file>