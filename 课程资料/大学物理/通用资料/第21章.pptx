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80" r:id="rId2"/>
    <p:sldId id="284" r:id="rId3"/>
    <p:sldId id="282" r:id="rId4"/>
    <p:sldId id="285" r:id="rId5"/>
    <p:sldId id="342" r:id="rId6"/>
    <p:sldId id="323" r:id="rId7"/>
    <p:sldId id="288" r:id="rId8"/>
    <p:sldId id="289" r:id="rId9"/>
    <p:sldId id="324" r:id="rId10"/>
    <p:sldId id="290" r:id="rId11"/>
    <p:sldId id="292" r:id="rId12"/>
    <p:sldId id="325" r:id="rId13"/>
    <p:sldId id="326" r:id="rId14"/>
    <p:sldId id="293" r:id="rId15"/>
    <p:sldId id="327" r:id="rId16"/>
    <p:sldId id="328" r:id="rId17"/>
    <p:sldId id="291" r:id="rId18"/>
    <p:sldId id="329" r:id="rId19"/>
    <p:sldId id="330" r:id="rId20"/>
    <p:sldId id="294" r:id="rId21"/>
    <p:sldId id="331" r:id="rId22"/>
    <p:sldId id="332" r:id="rId23"/>
    <p:sldId id="295" r:id="rId24"/>
    <p:sldId id="296" r:id="rId25"/>
    <p:sldId id="298" r:id="rId26"/>
    <p:sldId id="333" r:id="rId27"/>
    <p:sldId id="334" r:id="rId28"/>
    <p:sldId id="299" r:id="rId29"/>
    <p:sldId id="301" r:id="rId30"/>
    <p:sldId id="335" r:id="rId31"/>
    <p:sldId id="313" r:id="rId32"/>
    <p:sldId id="314" r:id="rId33"/>
    <p:sldId id="336" r:id="rId34"/>
    <p:sldId id="337" r:id="rId35"/>
    <p:sldId id="338" r:id="rId36"/>
    <p:sldId id="339" r:id="rId37"/>
    <p:sldId id="340" r:id="rId38"/>
    <p:sldId id="341" r:id="rId39"/>
  </p:sldIdLst>
  <p:sldSz cx="12192000" cy="6858000"/>
  <p:notesSz cx="6858000" cy="9144000"/>
  <p:custDataLst>
    <p:tags r:id="rId41"/>
  </p:custDataLst>
  <p:defaultTex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FA3"/>
    <a:srgbClr val="437D6B"/>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114" d="100"/>
          <a:sy n="114" d="100"/>
        </p:scale>
        <p:origin x="-474" y="-96"/>
      </p:cViewPr>
      <p:guideLst>
        <p:guide orient="horz" pos="442"/>
        <p:guide pos="506"/>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a:defRPr/>
            </a:pPr>
            <a:fld id="{FB3608A3-4DDF-458B-AC15-D0B4B1198D89}" type="datetimeFigureOut">
              <a:rPr lang="zh-CN" altLang="en-US"/>
              <a:pPr>
                <a:defRPr/>
              </a:pPr>
              <a:t>2022/10/22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ea typeface="+mn-ea"/>
              </a:defRPr>
            </a:lvl1pPr>
          </a:lstStyle>
          <a:p>
            <a:pPr>
              <a:defRPr/>
            </a:pPr>
            <a:fld id="{E438541B-34D3-47AC-808A-6924AA36544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7460D9FD-B979-4686-8E7B-DCFDC217AC2C}" type="datetimeFigureOut">
              <a:rPr lang="zh-CN" altLang="en-US"/>
              <a:pPr>
                <a:defRPr/>
              </a:pPr>
              <a:t>2022/10/22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2C84F8D-36B9-4587-BC54-546E9400915D}"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1D75158-C32C-4FA4-864D-E9D1031DEE38}" type="datetimeFigureOut">
              <a:rPr lang="zh-CN" altLang="en-US"/>
              <a:pPr>
                <a:defRPr/>
              </a:pPr>
              <a:t>2022/10/22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FB5D768-0A50-4012-8AD8-D2511D1EA8D1}"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97BE2F43-5307-4145-A269-5325A0117886}" type="datetimeFigureOut">
              <a:rPr lang="zh-CN" altLang="en-US"/>
              <a:pPr>
                <a:defRPr/>
              </a:pPr>
              <a:t>2022/10/22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04EAF96-6476-4F03-B5AB-96AB3B61D002}"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3B8C8F8-9C16-4443-A69E-0CE0A5E7E5E1}" type="datetimeFigureOut">
              <a:rPr lang="zh-CN" altLang="en-US"/>
              <a:pPr>
                <a:defRPr/>
              </a:pPr>
              <a:t>2022/10/22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3A14347-F67C-402C-ABA6-6BB31F6234E1}"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83DA738-9825-4EB5-9574-7AEF58453A72}" type="datetimeFigureOut">
              <a:rPr lang="zh-CN" altLang="en-US"/>
              <a:pPr>
                <a:defRPr/>
              </a:pPr>
              <a:t>2022/10/22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E74C6ED6-C021-4800-A003-FCA3F9A90B6D}"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1D33ED9-87F4-4DDD-9600-59BDBA28F7F4}" type="datetimeFigureOut">
              <a:rPr lang="zh-CN" altLang="en-US"/>
              <a:pPr>
                <a:defRPr/>
              </a:pPr>
              <a:t>2022/10/22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403E43D-2505-4F0D-9202-AB677BD0754C}"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9464656-3BCB-49B1-821F-047AA03CA5A1}" type="datetimeFigureOut">
              <a:rPr lang="zh-CN" altLang="en-US"/>
              <a:pPr>
                <a:defRPr/>
              </a:pPr>
              <a:t>2022/10/22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B484E40-AE60-4604-9CAD-BAF6392887A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3E9DEF82-0B93-4019-8527-2F3393AB6730}" type="datetimeFigureOut">
              <a:rPr lang="zh-CN" altLang="en-US"/>
              <a:pPr>
                <a:defRPr/>
              </a:pPr>
              <a:t>2022/10/22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38365D5-9437-41F6-97B3-2A8713B7E634}"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A6ED671-29A7-416D-A19B-6097F828CAF7}" type="datetimeFigureOut">
              <a:rPr lang="zh-CN" altLang="en-US"/>
              <a:pPr>
                <a:defRPr/>
              </a:pPr>
              <a:t>2022/10/22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B4CB6B6-599C-4FDA-BAA8-6ECAF8C2C524}"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F28FB92-4101-4B45-A4D2-E8497CD0443D}" type="datetimeFigureOut">
              <a:rPr lang="zh-CN" altLang="en-US"/>
              <a:pPr>
                <a:defRPr/>
              </a:pPr>
              <a:t>2022/10/22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850F3E5-C849-4386-A40F-F48F24485892}"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5443DE8-1959-48B3-8C15-FFC537504E66}" type="datetimeFigureOut">
              <a:rPr lang="zh-CN" altLang="en-US"/>
              <a:pPr>
                <a:defRPr/>
              </a:pPr>
              <a:t>2022/10/22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799C4BC-C0F8-4772-BF5A-E93B73D8571A}"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49BD3E94-727E-4401-AA1F-9E4D1E1EB161}" type="datetimeFigureOut">
              <a:rPr lang="zh-CN" altLang="en-US"/>
              <a:pPr>
                <a:defRPr/>
              </a:pPr>
              <a:t>2022/10/22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a:defRPr/>
            </a:pPr>
            <a:fld id="{D721C8D7-BF34-49E2-9A49-2638587F14B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2pPr>
      <a:lvl3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3pPr>
      <a:lvl4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4pPr>
      <a:lvl5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3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p:cNvSpPr>
            <a:spLocks noGrp="1" noChangeArrowheads="1"/>
          </p:cNvSpPr>
          <p:nvPr>
            <p:ph idx="1"/>
          </p:nvPr>
        </p:nvSpPr>
        <p:spPr>
          <a:xfrm>
            <a:off x="1423448" y="1825625"/>
            <a:ext cx="9605912" cy="3359117"/>
          </a:xfrm>
        </p:spPr>
        <p:txBody>
          <a:bodyPr/>
          <a:lstStyle/>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21.1 Induction Experiments</a:t>
            </a:r>
          </a:p>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21.2 Faraday’ s Law</a:t>
            </a:r>
          </a:p>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21.3 Lenz’ s Law</a:t>
            </a:r>
          </a:p>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21.4 Motional Electromotive Force</a:t>
            </a:r>
          </a:p>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21.5 Induced Electric Fields</a:t>
            </a:r>
          </a:p>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21.6 Eddy Currents</a:t>
            </a:r>
          </a:p>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21.7 Displacement Current and Maxwell’ s Equations</a:t>
            </a:r>
          </a:p>
          <a:p>
            <a:pPr marL="0" indent="0">
              <a:lnSpc>
                <a:spcPct val="100000"/>
              </a:lnSpc>
              <a:buClr>
                <a:srgbClr val="007FA3"/>
              </a:buClr>
              <a:buNone/>
            </a:pPr>
            <a:r>
              <a:rPr lang="en-US" altLang="zh-CN" dirty="0">
                <a:latin typeface="Arial" panose="020B0604020202020204" pitchFamily="34" charset="0"/>
                <a:cs typeface="Arial" panose="020B0604020202020204" pitchFamily="34" charset="0"/>
              </a:rPr>
              <a:t>21.8 Superconductivity</a:t>
            </a:r>
          </a:p>
        </p:txBody>
      </p:sp>
      <p:sp>
        <p:nvSpPr>
          <p:cNvPr id="4" name="Text Placeholder 3"/>
          <p:cNvSpPr>
            <a:spLocks noGrp="1"/>
          </p:cNvSpPr>
          <p:nvPr>
            <p:ph type="title"/>
          </p:nvPr>
        </p:nvSpPr>
        <p:spPr>
          <a:xfrm>
            <a:off x="952107" y="500062"/>
            <a:ext cx="10077253" cy="1325563"/>
          </a:xfrm>
        </p:spPr>
        <p:txBody>
          <a:bodyPr rtlCol="0">
            <a:normAutofit/>
          </a:bodyPr>
          <a:lstStyle/>
          <a:p>
            <a:pPr algn="ctr" fontAlgn="auto">
              <a:spcAft>
                <a:spcPts val="0"/>
              </a:spcAft>
              <a:defRPr/>
            </a:pPr>
            <a:r>
              <a:rPr lang="en-IN" sz="4000" b="1" dirty="0">
                <a:solidFill>
                  <a:srgbClr val="007FA3"/>
                </a:solidFill>
                <a:latin typeface="Arial" panose="020B0604020202020204" pitchFamily="34" charset="0"/>
                <a:ea typeface="+mn-ea"/>
                <a:cs typeface="Arial" panose="020B0604020202020204" pitchFamily="34" charset="0"/>
              </a:rPr>
              <a:t>Chapter </a:t>
            </a:r>
            <a:r>
              <a:rPr lang="en-US" altLang="en-IN" sz="4000" b="1" dirty="0">
                <a:solidFill>
                  <a:srgbClr val="007FA3"/>
                </a:solidFill>
                <a:latin typeface="Arial" panose="020B0604020202020204" pitchFamily="34" charset="0"/>
                <a:ea typeface="+mn-ea"/>
                <a:cs typeface="Arial" panose="020B0604020202020204" pitchFamily="34" charset="0"/>
              </a:rPr>
              <a:t>21</a:t>
            </a:r>
            <a:r>
              <a:rPr lang="en-IN" sz="4000" b="1" dirty="0">
                <a:solidFill>
                  <a:srgbClr val="007FA3"/>
                </a:solidFill>
                <a:latin typeface="Arial" panose="020B0604020202020204" pitchFamily="34" charset="0"/>
                <a:ea typeface="+mn-ea"/>
                <a:cs typeface="Arial" panose="020B0604020202020204" pitchFamily="34" charset="0"/>
              </a:rPr>
              <a:t> ELECTROMAGNETIC</a:t>
            </a:r>
            <a:br>
              <a:rPr lang="en-IN" sz="4000" b="1" dirty="0">
                <a:solidFill>
                  <a:srgbClr val="007FA3"/>
                </a:solidFill>
                <a:latin typeface="Arial" panose="020B0604020202020204" pitchFamily="34" charset="0"/>
                <a:ea typeface="+mn-ea"/>
                <a:cs typeface="Arial" panose="020B0604020202020204" pitchFamily="34" charset="0"/>
              </a:rPr>
            </a:br>
            <a:r>
              <a:rPr lang="en-IN" sz="4000" b="1" dirty="0">
                <a:solidFill>
                  <a:srgbClr val="007FA3"/>
                </a:solidFill>
                <a:latin typeface="Arial" panose="020B0604020202020204" pitchFamily="34" charset="0"/>
                <a:ea typeface="+mn-ea"/>
                <a:cs typeface="Arial" panose="020B0604020202020204" pitchFamily="34" charset="0"/>
              </a:rPr>
              <a:t>INDUCTION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noChangeArrowheads="1"/>
          </p:cNvSpPr>
          <p:nvPr>
            <p:ph type="title"/>
          </p:nvPr>
        </p:nvSpPr>
        <p:spPr>
          <a:xfrm>
            <a:off x="1135063" y="365125"/>
            <a:ext cx="10218737" cy="1325563"/>
          </a:xfrm>
        </p:spPr>
        <p:txBody>
          <a:bodyPr/>
          <a:lstStyle/>
          <a:p>
            <a:r>
              <a:rPr lang="en-US" altLang="zh-CN" sz="3600" b="1" dirty="0">
                <a:solidFill>
                  <a:srgbClr val="007FA3"/>
                </a:solidFill>
                <a:latin typeface="Arial" panose="020B0604020202020204" pitchFamily="34" charset="0"/>
                <a:cs typeface="Arial" panose="020B0604020202020204" pitchFamily="34" charset="0"/>
              </a:rPr>
              <a:t>Goals for chapter 21</a:t>
            </a:r>
            <a:endParaRPr lang="zh-CN" altLang="en-US" sz="3600" b="1" dirty="0">
              <a:solidFill>
                <a:srgbClr val="007FA3"/>
              </a:solidFill>
              <a:latin typeface="Arial" panose="020B0604020202020204" pitchFamily="34" charset="0"/>
              <a:cs typeface="Arial" panose="020B0604020202020204" pitchFamily="34" charset="0"/>
            </a:endParaRPr>
          </a:p>
        </p:txBody>
      </p:sp>
      <p:sp>
        <p:nvSpPr>
          <p:cNvPr id="2" name="矩形 1"/>
          <p:cNvSpPr/>
          <p:nvPr/>
        </p:nvSpPr>
        <p:spPr>
          <a:xfrm>
            <a:off x="1135063" y="1302619"/>
            <a:ext cx="10290224" cy="5262245"/>
          </a:xfrm>
          <a:prstGeom prst="rect">
            <a:avLst/>
          </a:prstGeom>
        </p:spPr>
        <p:txBody>
          <a:bodyPr wrap="square">
            <a:spAutoFit/>
          </a:bodyPr>
          <a:lstStyle/>
          <a:p>
            <a:pPr marL="457200" indent="-457200">
              <a:buClr>
                <a:srgbClr val="007FA3"/>
              </a:buClr>
              <a:buSzPct val="100000"/>
              <a:buFont typeface="Arial" panose="020B0604020202020204" pitchFamily="34" charset="0"/>
              <a:buChar char="•"/>
              <a:defRPr/>
            </a:pPr>
            <a:r>
              <a:rPr lang="en-US" altLang="zh-CN" sz="2800" dirty="0">
                <a:latin typeface="Arial" panose="020B0604020202020204" pitchFamily="34" charset="0"/>
                <a:cs typeface="Arial" panose="020B0604020202020204" pitchFamily="34" charset="0"/>
              </a:rPr>
              <a:t>The experimental evidence that a changing magnetic field induces an emf.</a:t>
            </a:r>
          </a:p>
          <a:p>
            <a:pPr marL="457200" indent="-457200">
              <a:buClr>
                <a:srgbClr val="007FA3"/>
              </a:buClr>
              <a:buSzPct val="100000"/>
              <a:buFont typeface="Arial" panose="020B0604020202020204" pitchFamily="34" charset="0"/>
              <a:buChar char="•"/>
              <a:defRPr/>
            </a:pPr>
            <a:r>
              <a:rPr lang="en-US" altLang="zh-CN" sz="2800" dirty="0">
                <a:latin typeface="Arial" panose="020B0604020202020204" pitchFamily="34" charset="0"/>
                <a:cs typeface="Arial" panose="020B0604020202020204" pitchFamily="34" charset="0"/>
              </a:rPr>
              <a:t>How Faraday’s law relates theinduced emf in a loop to the change in magnetic flux through the loop.</a:t>
            </a:r>
          </a:p>
          <a:p>
            <a:pPr marL="457200" indent="-457200">
              <a:buClr>
                <a:srgbClr val="007FA3"/>
              </a:buClr>
              <a:buSzPct val="100000"/>
              <a:buFont typeface="Arial" panose="020B0604020202020204" pitchFamily="34" charset="0"/>
              <a:buChar char="•"/>
              <a:defRPr/>
            </a:pPr>
            <a:r>
              <a:rPr lang="en-US" altLang="zh-CN" sz="2800" dirty="0">
                <a:latin typeface="Arial" panose="020B0604020202020204" pitchFamily="34" charset="0"/>
                <a:cs typeface="Arial" panose="020B0604020202020204" pitchFamily="34" charset="0"/>
              </a:rPr>
              <a:t>How to determine the direction of an induced emf.</a:t>
            </a:r>
          </a:p>
          <a:p>
            <a:pPr marL="457200" indent="-457200">
              <a:buClr>
                <a:srgbClr val="007FA3"/>
              </a:buClr>
              <a:buSzPct val="100000"/>
              <a:buFont typeface="Arial" panose="020B0604020202020204" pitchFamily="34" charset="0"/>
              <a:buChar char="•"/>
              <a:defRPr/>
            </a:pPr>
            <a:r>
              <a:rPr lang="en-US" altLang="zh-CN" sz="2800" dirty="0">
                <a:latin typeface="Arial" panose="020B0604020202020204" pitchFamily="34" charset="0"/>
                <a:cs typeface="Arial" panose="020B0604020202020204" pitchFamily="34" charset="0"/>
              </a:rPr>
              <a:t>How to calculate the emf induced in a conductor moving through a magnetic field.</a:t>
            </a:r>
          </a:p>
          <a:p>
            <a:pPr marL="457200" indent="-457200">
              <a:buClr>
                <a:srgbClr val="007FA3"/>
              </a:buClr>
              <a:buSzPct val="100000"/>
              <a:buFont typeface="Arial" panose="020B0604020202020204" pitchFamily="34" charset="0"/>
              <a:buChar char="•"/>
              <a:defRPr/>
            </a:pPr>
            <a:r>
              <a:rPr lang="en-US" altLang="zh-CN" sz="2800" dirty="0">
                <a:latin typeface="Arial" panose="020B0604020202020204" pitchFamily="34" charset="0"/>
                <a:cs typeface="Arial" panose="020B0604020202020204" pitchFamily="34" charset="0"/>
              </a:rPr>
              <a:t>How a changing magnetic flux generates an electric field that is very different from that produced by an arrangement of charges.</a:t>
            </a:r>
          </a:p>
          <a:p>
            <a:pPr marL="457200" indent="-457200">
              <a:buClr>
                <a:srgbClr val="007FA3"/>
              </a:buClr>
              <a:buSzPct val="100000"/>
              <a:buFont typeface="Arial" panose="020B0604020202020204" pitchFamily="34" charset="0"/>
              <a:buChar char="•"/>
              <a:defRPr/>
            </a:pPr>
            <a:r>
              <a:rPr lang="en-US" altLang="zh-CN" sz="2800" dirty="0">
                <a:latin typeface="Arial" panose="020B0604020202020204" pitchFamily="34" charset="0"/>
                <a:cs typeface="Arial" panose="020B0604020202020204" pitchFamily="34" charset="0"/>
              </a:rPr>
              <a:t>The four fundamental equations that completely describe both electricity and magnetism.</a:t>
            </a:r>
            <a:endParaRPr lang="zh-CN" altLang="en-US" sz="28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50" y="455613"/>
            <a:ext cx="8229600" cy="1096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en-US" sz="3600" b="1" dirty="0">
                <a:solidFill>
                  <a:srgbClr val="007FA3"/>
                </a:solidFill>
                <a:latin typeface="Arial" panose="020B0604020202020204" pitchFamily="34" charset="0"/>
                <a:cs typeface="Arial" panose="020B0604020202020204" pitchFamily="34" charset="0"/>
              </a:rPr>
              <a:t>Introduction</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5" name="Rectangle 3"/>
          <p:cNvSpPr txBox="1">
            <a:spLocks noChangeArrowheads="1"/>
          </p:cNvSpPr>
          <p:nvPr/>
        </p:nvSpPr>
        <p:spPr bwMode="auto">
          <a:xfrm>
            <a:off x="304165" y="1421765"/>
            <a:ext cx="11696700" cy="12268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When a credit card is “swiped” through a card reader, the information coded in a magnetic pattern on the back of the card is transmitted to the cardholder’s bank. Why is it necessary to swipe the card rather than holding itmotionless in the card reader’s slot?</a:t>
            </a:r>
          </a:p>
        </p:txBody>
      </p:sp>
      <p:pic>
        <p:nvPicPr>
          <p:cNvPr id="2" name="图片 1"/>
          <p:cNvPicPr>
            <a:picLocks noChangeAspect="1"/>
          </p:cNvPicPr>
          <p:nvPr/>
        </p:nvPicPr>
        <p:blipFill>
          <a:blip r:embed="rId2"/>
          <a:stretch>
            <a:fillRect/>
          </a:stretch>
        </p:blipFill>
        <p:spPr>
          <a:xfrm>
            <a:off x="3819525" y="2926715"/>
            <a:ext cx="5121910" cy="35172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55613"/>
            <a:ext cx="8749187" cy="1096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21.1 Induction Experiments</a:t>
            </a:r>
          </a:p>
        </p:txBody>
      </p:sp>
      <p:sp>
        <p:nvSpPr>
          <p:cNvPr id="5" name="Rectangle 3"/>
          <p:cNvSpPr txBox="1">
            <a:spLocks noChangeArrowheads="1"/>
          </p:cNvSpPr>
          <p:nvPr/>
        </p:nvSpPr>
        <p:spPr bwMode="auto">
          <a:xfrm>
            <a:off x="984885" y="1343025"/>
            <a:ext cx="10706735" cy="1790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If we keep the magnet stationary and move the coil, we again detect a current during the motion. We call this an induced current, and the corresponding emf required to cause this current is called an induced emf.</a:t>
            </a:r>
          </a:p>
        </p:txBody>
      </p:sp>
      <p:pic>
        <p:nvPicPr>
          <p:cNvPr id="2" name="图片 1"/>
          <p:cNvPicPr>
            <a:picLocks noChangeAspect="1"/>
          </p:cNvPicPr>
          <p:nvPr/>
        </p:nvPicPr>
        <p:blipFill>
          <a:blip r:embed="rId2"/>
          <a:stretch>
            <a:fillRect/>
          </a:stretch>
        </p:blipFill>
        <p:spPr>
          <a:xfrm>
            <a:off x="2140585" y="2637790"/>
            <a:ext cx="8928100" cy="37344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838208" y="383272"/>
            <a:ext cx="4505325" cy="6057900"/>
          </a:xfrm>
          <a:prstGeom prst="rect">
            <a:avLst/>
          </a:prstGeom>
          <a:noFill/>
          <a:ln w="9525">
            <a:noFill/>
            <a:miter lim="800000"/>
            <a:headEnd/>
            <a:tailEnd/>
          </a:ln>
          <a:effectLst/>
        </p:spPr>
      </p:pic>
      <p:sp>
        <p:nvSpPr>
          <p:cNvPr id="5" name="矩形 4"/>
          <p:cNvSpPr/>
          <p:nvPr/>
        </p:nvSpPr>
        <p:spPr>
          <a:xfrm>
            <a:off x="715861" y="844360"/>
            <a:ext cx="6096000" cy="5222648"/>
          </a:xfrm>
          <a:prstGeom prst="rect">
            <a:avLst/>
          </a:prstGeom>
        </p:spPr>
        <p:txBody>
          <a:bodyPr>
            <a:spAutoFit/>
          </a:bodyPr>
          <a:lstStyle/>
          <a:p>
            <a:pPr marL="255905" lvl="1" indent="-255905">
              <a:lnSpc>
                <a:spcPct val="75000"/>
              </a:lnSpc>
              <a:spcBef>
                <a:spcPts val="1000"/>
              </a:spcBef>
              <a:spcAft>
                <a:spcPts val="0"/>
              </a:spcAft>
              <a:buClr>
                <a:srgbClr val="007FA3"/>
              </a:buClr>
              <a:buSzPct val="100000"/>
              <a:defRPr/>
            </a:pPr>
            <a:r>
              <a:rPr lang="en-US" altLang="zh-CN" sz="2000" dirty="0" smtClean="0">
                <a:latin typeface="Arial" panose="020B0604020202020204" pitchFamily="34" charset="0"/>
                <a:cs typeface="Arial" panose="020B0604020202020204" pitchFamily="34" charset="0"/>
              </a:rPr>
              <a:t>1. When there is no current in the electromagnet, so that         , the galvanometer shows no current.</a:t>
            </a:r>
          </a:p>
          <a:p>
            <a:pPr marL="255905" lvl="1" indent="-255905">
              <a:lnSpc>
                <a:spcPct val="75000"/>
              </a:lnSpc>
              <a:spcBef>
                <a:spcPts val="1000"/>
              </a:spcBef>
              <a:spcAft>
                <a:spcPts val="0"/>
              </a:spcAft>
              <a:buClr>
                <a:srgbClr val="007FA3"/>
              </a:buClr>
              <a:buSzPct val="100000"/>
              <a:defRPr/>
            </a:pPr>
            <a:r>
              <a:rPr lang="en-US" altLang="zh-CN" sz="2000" dirty="0" smtClean="0">
                <a:latin typeface="Arial" panose="020B0604020202020204" pitchFamily="34" charset="0"/>
                <a:cs typeface="Arial" panose="020B0604020202020204" pitchFamily="34" charset="0"/>
              </a:rPr>
              <a:t>2. When the electromagnet is turned on, there is a momentary current through the meter as     increases.</a:t>
            </a:r>
          </a:p>
          <a:p>
            <a:pPr marL="255905" lvl="1" indent="-255905">
              <a:lnSpc>
                <a:spcPct val="75000"/>
              </a:lnSpc>
              <a:spcBef>
                <a:spcPts val="1000"/>
              </a:spcBef>
              <a:spcAft>
                <a:spcPts val="0"/>
              </a:spcAft>
              <a:buClr>
                <a:srgbClr val="007FA3"/>
              </a:buClr>
              <a:buSzPct val="100000"/>
              <a:defRPr/>
            </a:pPr>
            <a:r>
              <a:rPr lang="en-US" altLang="zh-CN" sz="2000" dirty="0" smtClean="0">
                <a:latin typeface="Arial" panose="020B0604020202020204" pitchFamily="34" charset="0"/>
                <a:cs typeface="Arial" panose="020B0604020202020204" pitchFamily="34" charset="0"/>
              </a:rPr>
              <a:t>3. When       levels off at a steady value, the current drops to zero, no matter how large     is.</a:t>
            </a:r>
          </a:p>
          <a:p>
            <a:pPr marL="255905" lvl="1" indent="-255905">
              <a:lnSpc>
                <a:spcPct val="75000"/>
              </a:lnSpc>
              <a:spcBef>
                <a:spcPts val="1000"/>
              </a:spcBef>
              <a:spcAft>
                <a:spcPts val="0"/>
              </a:spcAft>
              <a:buClr>
                <a:srgbClr val="007FA3"/>
              </a:buClr>
              <a:buSzPct val="100000"/>
              <a:defRPr/>
            </a:pPr>
            <a:r>
              <a:rPr lang="en-US" altLang="zh-CN" sz="2000" dirty="0" smtClean="0">
                <a:latin typeface="Arial" panose="020B0604020202020204" pitchFamily="34" charset="0"/>
                <a:cs typeface="Arial" panose="020B0604020202020204" pitchFamily="34" charset="0"/>
              </a:rPr>
              <a:t>4. With the coil in a horizontal plane, we squeeze it so as to decrease the cross-sectional area of the coil. The meter detects current only during </a:t>
            </a:r>
            <a:r>
              <a:rPr lang="en-US" altLang="zh-CN" sz="2000" dirty="0" err="1" smtClean="0">
                <a:latin typeface="Arial" panose="020B0604020202020204" pitchFamily="34" charset="0"/>
                <a:cs typeface="Arial" panose="020B0604020202020204" pitchFamily="34" charset="0"/>
              </a:rPr>
              <a:t>thedeformation</a:t>
            </a:r>
            <a:r>
              <a:rPr lang="en-US" altLang="zh-CN" sz="2000" dirty="0" smtClean="0">
                <a:latin typeface="Arial" panose="020B0604020202020204" pitchFamily="34" charset="0"/>
                <a:cs typeface="Arial" panose="020B0604020202020204" pitchFamily="34" charset="0"/>
              </a:rPr>
              <a:t>, not before or after. When we increase the area to return the coil to its original shape, there is current in the opposite direction, but only while the area of the coil is changing.</a:t>
            </a:r>
          </a:p>
          <a:p>
            <a:pPr marL="255905" lvl="1" indent="-255905">
              <a:lnSpc>
                <a:spcPct val="75000"/>
              </a:lnSpc>
              <a:spcBef>
                <a:spcPts val="1000"/>
              </a:spcBef>
              <a:spcAft>
                <a:spcPts val="0"/>
              </a:spcAft>
              <a:buClr>
                <a:srgbClr val="007FA3"/>
              </a:buClr>
              <a:buSzPct val="100000"/>
              <a:defRPr/>
            </a:pPr>
            <a:r>
              <a:rPr lang="en-US" altLang="zh-CN" sz="2000" dirty="0" smtClean="0">
                <a:latin typeface="Arial" panose="020B0604020202020204" pitchFamily="34" charset="0"/>
                <a:cs typeface="Arial" panose="020B0604020202020204" pitchFamily="34" charset="0"/>
              </a:rPr>
              <a:t>5. If we rotate the coil a few degrees about a horizontal axis, the meter   detects current during the rotation, in the same direction as when we         decreased the area. When we rotate the coil back, there is a current in the opposite direction during this rotation.         </a:t>
            </a:r>
            <a:endParaRPr lang="en-US" altLang="zh-CN" sz="20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076324" y="160973"/>
            <a:ext cx="8749187" cy="1096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5" name="Rectangle 3"/>
          <p:cNvSpPr txBox="1">
            <a:spLocks noChangeArrowheads="1"/>
          </p:cNvSpPr>
          <p:nvPr/>
        </p:nvSpPr>
        <p:spPr bwMode="auto">
          <a:xfrm>
            <a:off x="307975" y="469900"/>
            <a:ext cx="11113135" cy="1790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6. If we jerk the coil out of the magnetic field, there is a current during the motion, in the same direction as when we decreased the area.</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7. If we decrease the number of turns in the coil by unwinding one or more turns, there is a current during the unwinding, in the same direction as when we decreased the area. If we wind more turns onto the coil, there is a current in the opposite direction during the winding.</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8. When the magnet is turned off, there is a momentary current in the direction opposite to the current when it was turned on.</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9. The faster we carry out any of these changes, the greater the current.</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10. If all these experiments are repeated with a coil that has the same shape but different material and different resistance, the current in each case is inversely proportional to the total circuit resistance. This shows that the induced emfs that are causing the current do not depend on the material of the coil but only on its shape and the magnetic field.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55613"/>
            <a:ext cx="8749187" cy="1096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21.2 Faraday’ s Law</a:t>
            </a:r>
          </a:p>
        </p:txBody>
      </p:sp>
      <p:sp>
        <p:nvSpPr>
          <p:cNvPr id="5" name="Rectangle 3"/>
          <p:cNvSpPr txBox="1">
            <a:spLocks noChangeArrowheads="1"/>
          </p:cNvSpPr>
          <p:nvPr/>
        </p:nvSpPr>
        <p:spPr bwMode="auto">
          <a:xfrm>
            <a:off x="1111250" y="1552575"/>
            <a:ext cx="5989955" cy="1790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The common element in all induction effects is changing magnetic flux through a circuit. </a:t>
            </a:r>
          </a:p>
        </p:txBody>
      </p:sp>
      <p:pic>
        <p:nvPicPr>
          <p:cNvPr id="3" name="图片 2"/>
          <p:cNvPicPr>
            <a:picLocks noChangeAspect="1"/>
          </p:cNvPicPr>
          <p:nvPr/>
        </p:nvPicPr>
        <p:blipFill>
          <a:blip r:embed="rId2"/>
          <a:stretch>
            <a:fillRect/>
          </a:stretch>
        </p:blipFill>
        <p:spPr>
          <a:xfrm>
            <a:off x="1962785" y="2673350"/>
            <a:ext cx="3952875" cy="469265"/>
          </a:xfrm>
          <a:prstGeom prst="rect">
            <a:avLst/>
          </a:prstGeom>
        </p:spPr>
      </p:pic>
      <p:pic>
        <p:nvPicPr>
          <p:cNvPr id="4" name="图片 3"/>
          <p:cNvPicPr>
            <a:picLocks noChangeAspect="1"/>
          </p:cNvPicPr>
          <p:nvPr/>
        </p:nvPicPr>
        <p:blipFill>
          <a:blip r:embed="rId3"/>
          <a:stretch>
            <a:fillRect/>
          </a:stretch>
        </p:blipFill>
        <p:spPr>
          <a:xfrm>
            <a:off x="2062480" y="3413760"/>
            <a:ext cx="9013190" cy="3444240"/>
          </a:xfrm>
          <a:prstGeom prst="rect">
            <a:avLst/>
          </a:prstGeom>
        </p:spPr>
      </p:pic>
      <p:pic>
        <p:nvPicPr>
          <p:cNvPr id="2" name="图片 1"/>
          <p:cNvPicPr>
            <a:picLocks noChangeAspect="1"/>
          </p:cNvPicPr>
          <p:nvPr/>
        </p:nvPicPr>
        <p:blipFill>
          <a:blip r:embed="rId4"/>
          <a:srcRect l="4579" t="426" r="1487"/>
          <a:stretch>
            <a:fillRect/>
          </a:stretch>
        </p:blipFill>
        <p:spPr>
          <a:xfrm>
            <a:off x="8522335" y="280670"/>
            <a:ext cx="2924175" cy="34397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259206" y="2113915"/>
            <a:ext cx="9531612" cy="1790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b="1" dirty="0">
                <a:latin typeface="Arial" panose="020B0604020202020204" pitchFamily="34" charset="0"/>
                <a:ea typeface="微软雅黑" panose="020B0503020204020204" pitchFamily="34" charset="-122"/>
                <a:cs typeface="Arial" panose="020B0604020202020204" pitchFamily="34" charset="0"/>
              </a:rPr>
              <a:t>Faraday’s law of induction</a:t>
            </a:r>
            <a:r>
              <a:rPr lang="en-US" altLang="zh-CN" sz="2600" dirty="0">
                <a:latin typeface="Arial" panose="020B0604020202020204" pitchFamily="34" charset="0"/>
                <a:ea typeface="微软雅黑" panose="020B0503020204020204" pitchFamily="34" charset="-122"/>
                <a:cs typeface="Arial" panose="020B0604020202020204" pitchFamily="34" charset="0"/>
              </a:rPr>
              <a:t> states:</a:t>
            </a:r>
          </a:p>
        </p:txBody>
      </p:sp>
      <p:sp>
        <p:nvSpPr>
          <p:cNvPr id="11" name="Rectangle 3"/>
          <p:cNvSpPr txBox="1">
            <a:spLocks noChangeArrowheads="1"/>
          </p:cNvSpPr>
          <p:nvPr/>
        </p:nvSpPr>
        <p:spPr bwMode="auto">
          <a:xfrm>
            <a:off x="1026796" y="3633012"/>
            <a:ext cx="9531612" cy="1790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dirty="0">
                <a:latin typeface="Arial" panose="020B0604020202020204" pitchFamily="34" charset="0"/>
                <a:ea typeface="微软雅黑" panose="020B0503020204020204" pitchFamily="34" charset="-122"/>
                <a:cs typeface="Arial" panose="020B0604020202020204" pitchFamily="34" charset="0"/>
              </a:rPr>
              <a:t>In symbols, Faraday’s law is</a:t>
            </a:r>
          </a:p>
        </p:txBody>
      </p:sp>
      <p:pic>
        <p:nvPicPr>
          <p:cNvPr id="4" name="图片 3"/>
          <p:cNvPicPr>
            <a:picLocks noChangeAspect="1"/>
          </p:cNvPicPr>
          <p:nvPr/>
        </p:nvPicPr>
        <p:blipFill>
          <a:blip r:embed="rId2"/>
          <a:stretch>
            <a:fillRect/>
          </a:stretch>
        </p:blipFill>
        <p:spPr>
          <a:xfrm>
            <a:off x="4563110" y="702945"/>
            <a:ext cx="3230880" cy="721995"/>
          </a:xfrm>
          <a:prstGeom prst="rect">
            <a:avLst/>
          </a:prstGeom>
        </p:spPr>
      </p:pic>
      <p:pic>
        <p:nvPicPr>
          <p:cNvPr id="6" name="图片 5"/>
          <p:cNvPicPr>
            <a:picLocks noChangeAspect="1"/>
          </p:cNvPicPr>
          <p:nvPr/>
        </p:nvPicPr>
        <p:blipFill>
          <a:blip r:embed="rId3"/>
          <a:stretch>
            <a:fillRect/>
          </a:stretch>
        </p:blipFill>
        <p:spPr>
          <a:xfrm>
            <a:off x="4900295" y="1559560"/>
            <a:ext cx="2506980" cy="419735"/>
          </a:xfrm>
          <a:prstGeom prst="rect">
            <a:avLst/>
          </a:prstGeom>
        </p:spPr>
      </p:pic>
      <p:pic>
        <p:nvPicPr>
          <p:cNvPr id="7" name="图片 6"/>
          <p:cNvPicPr>
            <a:picLocks noChangeAspect="1"/>
          </p:cNvPicPr>
          <p:nvPr/>
        </p:nvPicPr>
        <p:blipFill>
          <a:blip r:embed="rId4"/>
          <a:stretch>
            <a:fillRect/>
          </a:stretch>
        </p:blipFill>
        <p:spPr>
          <a:xfrm>
            <a:off x="2054225" y="2718435"/>
            <a:ext cx="7748905" cy="733425"/>
          </a:xfrm>
          <a:prstGeom prst="rect">
            <a:avLst/>
          </a:prstGeom>
        </p:spPr>
      </p:pic>
      <p:pic>
        <p:nvPicPr>
          <p:cNvPr id="8" name="图片 7"/>
          <p:cNvPicPr>
            <a:picLocks noChangeAspect="1"/>
          </p:cNvPicPr>
          <p:nvPr/>
        </p:nvPicPr>
        <p:blipFill>
          <a:blip r:embed="rId5"/>
          <a:stretch>
            <a:fillRect/>
          </a:stretch>
        </p:blipFill>
        <p:spPr>
          <a:xfrm>
            <a:off x="2688590" y="4993005"/>
            <a:ext cx="6480810" cy="7835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 calcmode="lin" valueType="num">
                                      <p:cBhvr additive="base">
                                        <p:cTn id="13" dur="5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862330" y="173990"/>
            <a:ext cx="1154049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21.1        Emf and current induced in a loop</a:t>
            </a:r>
          </a:p>
        </p:txBody>
      </p:sp>
      <p:pic>
        <p:nvPicPr>
          <p:cNvPr id="2" name="图片 1"/>
          <p:cNvPicPr>
            <a:picLocks noChangeAspect="1"/>
          </p:cNvPicPr>
          <p:nvPr/>
        </p:nvPicPr>
        <p:blipFill>
          <a:blip r:embed="rId2"/>
          <a:stretch>
            <a:fillRect/>
          </a:stretch>
        </p:blipFill>
        <p:spPr>
          <a:xfrm>
            <a:off x="1203325" y="1487805"/>
            <a:ext cx="10412095" cy="975360"/>
          </a:xfrm>
          <a:prstGeom prst="rect">
            <a:avLst/>
          </a:prstGeom>
        </p:spPr>
      </p:pic>
      <p:pic>
        <p:nvPicPr>
          <p:cNvPr id="5" name="图片 4"/>
          <p:cNvPicPr>
            <a:picLocks noChangeAspect="1"/>
          </p:cNvPicPr>
          <p:nvPr/>
        </p:nvPicPr>
        <p:blipFill>
          <a:blip r:embed="rId3"/>
          <a:stretch>
            <a:fillRect/>
          </a:stretch>
        </p:blipFill>
        <p:spPr>
          <a:xfrm>
            <a:off x="2426335" y="2378075"/>
            <a:ext cx="7573010" cy="447992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55613"/>
            <a:ext cx="9380784" cy="1096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Direction of Induced emf</a:t>
            </a:r>
          </a:p>
        </p:txBody>
      </p:sp>
      <p:sp>
        <p:nvSpPr>
          <p:cNvPr id="5" name="Rectangle 3"/>
          <p:cNvSpPr txBox="1">
            <a:spLocks noChangeArrowheads="1"/>
          </p:cNvSpPr>
          <p:nvPr/>
        </p:nvSpPr>
        <p:spPr bwMode="auto">
          <a:xfrm>
            <a:off x="536575" y="1552575"/>
            <a:ext cx="11654790" cy="17900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 Here’s the procedure:</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1. Define a positive direction for the vector area</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2. From the directions of      and the magnetic field     determine the sign of the magnetic flux      and its rate of change          .</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3. Determine the sign of the induced emf or current. If the flux is increasing, so           is positive, then the induced emf or current is negative; if the flux is decreasing,           is negative and the induced emf or current is positive.</a:t>
            </a: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4. Finally, determine the direction of the induced emf or current using your right hand. Curl the fingers of your right hand around the       vector, with your right thumb in the direction of     . If the induced emf or current in the circuit is positive, it is in the same direction as your curled fingers; if the induced emf or current is negative, it is in the opposite direction.</a:t>
            </a:r>
          </a:p>
        </p:txBody>
      </p:sp>
      <p:pic>
        <p:nvPicPr>
          <p:cNvPr id="2" name="图片 1"/>
          <p:cNvPicPr>
            <a:picLocks noChangeAspect="1"/>
          </p:cNvPicPr>
          <p:nvPr/>
        </p:nvPicPr>
        <p:blipFill>
          <a:blip r:embed="rId2"/>
          <a:stretch>
            <a:fillRect/>
          </a:stretch>
        </p:blipFill>
        <p:spPr>
          <a:xfrm>
            <a:off x="7889875" y="2107565"/>
            <a:ext cx="219075" cy="285750"/>
          </a:xfrm>
          <a:prstGeom prst="rect">
            <a:avLst/>
          </a:prstGeom>
        </p:spPr>
      </p:pic>
      <p:pic>
        <p:nvPicPr>
          <p:cNvPr id="3" name="图片 2"/>
          <p:cNvPicPr>
            <a:picLocks noChangeAspect="1"/>
          </p:cNvPicPr>
          <p:nvPr/>
        </p:nvPicPr>
        <p:blipFill>
          <a:blip r:embed="rId2"/>
          <a:stretch>
            <a:fillRect/>
          </a:stretch>
        </p:blipFill>
        <p:spPr>
          <a:xfrm>
            <a:off x="4605655" y="2585720"/>
            <a:ext cx="238125" cy="310515"/>
          </a:xfrm>
          <a:prstGeom prst="rect">
            <a:avLst/>
          </a:prstGeom>
        </p:spPr>
      </p:pic>
      <p:pic>
        <p:nvPicPr>
          <p:cNvPr id="8" name="图片 7"/>
          <p:cNvPicPr>
            <a:picLocks noChangeAspect="1"/>
          </p:cNvPicPr>
          <p:nvPr/>
        </p:nvPicPr>
        <p:blipFill>
          <a:blip r:embed="rId3"/>
          <a:stretch>
            <a:fillRect/>
          </a:stretch>
        </p:blipFill>
        <p:spPr>
          <a:xfrm>
            <a:off x="8292465" y="2533650"/>
            <a:ext cx="237490" cy="316865"/>
          </a:xfrm>
          <a:prstGeom prst="rect">
            <a:avLst/>
          </a:prstGeom>
        </p:spPr>
      </p:pic>
      <p:pic>
        <p:nvPicPr>
          <p:cNvPr id="9" name="图片 8"/>
          <p:cNvPicPr>
            <a:picLocks noChangeAspect="1"/>
          </p:cNvPicPr>
          <p:nvPr/>
        </p:nvPicPr>
        <p:blipFill>
          <a:blip r:embed="rId4"/>
          <a:stretch>
            <a:fillRect/>
          </a:stretch>
        </p:blipFill>
        <p:spPr>
          <a:xfrm>
            <a:off x="3469005" y="2952750"/>
            <a:ext cx="360680" cy="281305"/>
          </a:xfrm>
          <a:prstGeom prst="rect">
            <a:avLst/>
          </a:prstGeom>
        </p:spPr>
      </p:pic>
      <p:pic>
        <p:nvPicPr>
          <p:cNvPr id="11" name="图片 10"/>
          <p:cNvPicPr>
            <a:picLocks noChangeAspect="1"/>
          </p:cNvPicPr>
          <p:nvPr/>
        </p:nvPicPr>
        <p:blipFill>
          <a:blip r:embed="rId5"/>
          <a:srcRect t="3165" r="3443"/>
          <a:stretch>
            <a:fillRect/>
          </a:stretch>
        </p:blipFill>
        <p:spPr>
          <a:xfrm>
            <a:off x="7214235" y="2908935"/>
            <a:ext cx="765810" cy="388620"/>
          </a:xfrm>
          <a:prstGeom prst="rect">
            <a:avLst/>
          </a:prstGeom>
        </p:spPr>
      </p:pic>
      <p:pic>
        <p:nvPicPr>
          <p:cNvPr id="12" name="图片 11"/>
          <p:cNvPicPr>
            <a:picLocks noChangeAspect="1"/>
          </p:cNvPicPr>
          <p:nvPr/>
        </p:nvPicPr>
        <p:blipFill>
          <a:blip r:embed="rId5"/>
          <a:srcRect t="3165" r="3443"/>
          <a:stretch>
            <a:fillRect/>
          </a:stretch>
        </p:blipFill>
        <p:spPr>
          <a:xfrm>
            <a:off x="1326515" y="3758565"/>
            <a:ext cx="765810" cy="388620"/>
          </a:xfrm>
          <a:prstGeom prst="rect">
            <a:avLst/>
          </a:prstGeom>
        </p:spPr>
      </p:pic>
      <p:pic>
        <p:nvPicPr>
          <p:cNvPr id="13" name="图片 12"/>
          <p:cNvPicPr>
            <a:picLocks noChangeAspect="1"/>
          </p:cNvPicPr>
          <p:nvPr/>
        </p:nvPicPr>
        <p:blipFill>
          <a:blip r:embed="rId5"/>
          <a:srcRect t="3165" r="3443"/>
          <a:stretch>
            <a:fillRect/>
          </a:stretch>
        </p:blipFill>
        <p:spPr>
          <a:xfrm>
            <a:off x="2703195" y="4147185"/>
            <a:ext cx="765810" cy="388620"/>
          </a:xfrm>
          <a:prstGeom prst="rect">
            <a:avLst/>
          </a:prstGeom>
        </p:spPr>
      </p:pic>
      <p:pic>
        <p:nvPicPr>
          <p:cNvPr id="14" name="图片 13"/>
          <p:cNvPicPr>
            <a:picLocks noChangeAspect="1"/>
          </p:cNvPicPr>
          <p:nvPr/>
        </p:nvPicPr>
        <p:blipFill>
          <a:blip r:embed="rId2"/>
          <a:stretch>
            <a:fillRect/>
          </a:stretch>
        </p:blipFill>
        <p:spPr>
          <a:xfrm>
            <a:off x="9308465" y="4979035"/>
            <a:ext cx="219075" cy="285750"/>
          </a:xfrm>
          <a:prstGeom prst="rect">
            <a:avLst/>
          </a:prstGeom>
        </p:spPr>
      </p:pic>
      <p:pic>
        <p:nvPicPr>
          <p:cNvPr id="15" name="图片 14"/>
          <p:cNvPicPr>
            <a:picLocks noChangeAspect="1"/>
          </p:cNvPicPr>
          <p:nvPr/>
        </p:nvPicPr>
        <p:blipFill>
          <a:blip r:embed="rId2"/>
          <a:stretch>
            <a:fillRect/>
          </a:stretch>
        </p:blipFill>
        <p:spPr>
          <a:xfrm>
            <a:off x="6044565" y="5329555"/>
            <a:ext cx="219075" cy="285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59560" y="140970"/>
            <a:ext cx="6911340" cy="6576060"/>
          </a:xfrm>
          <a:prstGeom prst="rect">
            <a:avLst/>
          </a:prstGeom>
        </p:spPr>
      </p:pic>
      <p:pic>
        <p:nvPicPr>
          <p:cNvPr id="6" name="图片 5"/>
          <p:cNvPicPr>
            <a:picLocks noChangeAspect="1"/>
          </p:cNvPicPr>
          <p:nvPr/>
        </p:nvPicPr>
        <p:blipFill>
          <a:blip r:embed="rId3"/>
          <a:stretch>
            <a:fillRect/>
          </a:stretch>
        </p:blipFill>
        <p:spPr>
          <a:xfrm>
            <a:off x="9500235" y="3787775"/>
            <a:ext cx="1363980" cy="601980"/>
          </a:xfrm>
          <a:prstGeom prst="rect">
            <a:avLst/>
          </a:prstGeom>
        </p:spPr>
      </p:pic>
      <p:sp>
        <p:nvSpPr>
          <p:cNvPr id="7" name="Rectangle 3"/>
          <p:cNvSpPr txBox="1">
            <a:spLocks noChangeArrowheads="1"/>
          </p:cNvSpPr>
          <p:nvPr/>
        </p:nvSpPr>
        <p:spPr bwMode="auto">
          <a:xfrm>
            <a:off x="8522335" y="2258695"/>
            <a:ext cx="3320415" cy="1330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the total emf in a coil with N turns 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862330" y="173990"/>
            <a:ext cx="1154049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21.2      Magnitude and direction of an induced emf</a:t>
            </a:r>
          </a:p>
        </p:txBody>
      </p:sp>
      <p:pic>
        <p:nvPicPr>
          <p:cNvPr id="3" name="图片 2"/>
          <p:cNvPicPr>
            <a:picLocks noChangeAspect="1"/>
          </p:cNvPicPr>
          <p:nvPr/>
        </p:nvPicPr>
        <p:blipFill>
          <a:blip r:embed="rId2"/>
          <a:stretch>
            <a:fillRect/>
          </a:stretch>
        </p:blipFill>
        <p:spPr>
          <a:xfrm>
            <a:off x="1612900" y="1271270"/>
            <a:ext cx="9519920" cy="550926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715010" y="-133985"/>
            <a:ext cx="1154049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21.3      Generator I: A simple alternator</a:t>
            </a:r>
          </a:p>
        </p:txBody>
      </p:sp>
      <p:pic>
        <p:nvPicPr>
          <p:cNvPr id="2" name="图片 1"/>
          <p:cNvPicPr>
            <a:picLocks noChangeAspect="1"/>
          </p:cNvPicPr>
          <p:nvPr/>
        </p:nvPicPr>
        <p:blipFill>
          <a:blip r:embed="rId2"/>
          <a:stretch>
            <a:fillRect/>
          </a:stretch>
        </p:blipFill>
        <p:spPr>
          <a:xfrm>
            <a:off x="1078230" y="1231265"/>
            <a:ext cx="10035540" cy="1082040"/>
          </a:xfrm>
          <a:prstGeom prst="rect">
            <a:avLst/>
          </a:prstGeom>
        </p:spPr>
      </p:pic>
      <p:pic>
        <p:nvPicPr>
          <p:cNvPr id="5" name="图片 4"/>
          <p:cNvPicPr>
            <a:picLocks noChangeAspect="1"/>
          </p:cNvPicPr>
          <p:nvPr/>
        </p:nvPicPr>
        <p:blipFill>
          <a:blip r:embed="rId3"/>
          <a:stretch>
            <a:fillRect/>
          </a:stretch>
        </p:blipFill>
        <p:spPr>
          <a:xfrm>
            <a:off x="788035" y="3110865"/>
            <a:ext cx="5113020" cy="2095500"/>
          </a:xfrm>
          <a:prstGeom prst="rect">
            <a:avLst/>
          </a:prstGeom>
        </p:spPr>
      </p:pic>
      <p:pic>
        <p:nvPicPr>
          <p:cNvPr id="6" name="图片 5"/>
          <p:cNvPicPr>
            <a:picLocks noChangeAspect="1"/>
          </p:cNvPicPr>
          <p:nvPr/>
        </p:nvPicPr>
        <p:blipFill>
          <a:blip r:embed="rId4"/>
          <a:stretch>
            <a:fillRect/>
          </a:stretch>
        </p:blipFill>
        <p:spPr>
          <a:xfrm>
            <a:off x="6061710" y="2630805"/>
            <a:ext cx="5052060" cy="387858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022985" y="1005205"/>
            <a:ext cx="10653395" cy="448183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742950" y="133985"/>
            <a:ext cx="1154049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21.4    Generator II: A DC generator and back emf in a motor</a:t>
            </a:r>
          </a:p>
        </p:txBody>
      </p:sp>
      <p:pic>
        <p:nvPicPr>
          <p:cNvPr id="3" name="图片 2"/>
          <p:cNvPicPr>
            <a:picLocks noChangeAspect="1"/>
          </p:cNvPicPr>
          <p:nvPr/>
        </p:nvPicPr>
        <p:blipFill>
          <a:blip r:embed="rId2"/>
          <a:stretch>
            <a:fillRect/>
          </a:stretch>
        </p:blipFill>
        <p:spPr>
          <a:xfrm>
            <a:off x="854710" y="1853565"/>
            <a:ext cx="10172700" cy="257556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742950" y="133985"/>
            <a:ext cx="1154049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21.4    Generator II: A DC generator and back emf in a motor</a:t>
            </a:r>
          </a:p>
        </p:txBody>
      </p:sp>
      <p:pic>
        <p:nvPicPr>
          <p:cNvPr id="2" name="图片 1"/>
          <p:cNvPicPr>
            <a:picLocks noChangeAspect="1"/>
          </p:cNvPicPr>
          <p:nvPr/>
        </p:nvPicPr>
        <p:blipFill>
          <a:blip r:embed="rId2"/>
          <a:stretch>
            <a:fillRect/>
          </a:stretch>
        </p:blipFill>
        <p:spPr>
          <a:xfrm>
            <a:off x="899160" y="1417320"/>
            <a:ext cx="10393680" cy="402336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332230" y="1220470"/>
            <a:ext cx="10274300" cy="334962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581660" y="133985"/>
            <a:ext cx="1154049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21.5    Generator III: The slidewire generator</a:t>
            </a:r>
          </a:p>
        </p:txBody>
      </p:sp>
      <p:pic>
        <p:nvPicPr>
          <p:cNvPr id="3" name="图片 2"/>
          <p:cNvPicPr>
            <a:picLocks noChangeAspect="1"/>
          </p:cNvPicPr>
          <p:nvPr/>
        </p:nvPicPr>
        <p:blipFill>
          <a:blip r:embed="rId2"/>
          <a:stretch>
            <a:fillRect/>
          </a:stretch>
        </p:blipFill>
        <p:spPr>
          <a:xfrm>
            <a:off x="762000" y="1163320"/>
            <a:ext cx="10218420" cy="557022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581660" y="133985"/>
            <a:ext cx="1229487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21.6    Work and power in the slidewire generator</a:t>
            </a:r>
          </a:p>
        </p:txBody>
      </p:sp>
      <p:pic>
        <p:nvPicPr>
          <p:cNvPr id="5" name="图片 4"/>
          <p:cNvPicPr>
            <a:picLocks noChangeAspect="1"/>
          </p:cNvPicPr>
          <p:nvPr/>
        </p:nvPicPr>
        <p:blipFill>
          <a:blip r:embed="rId2"/>
          <a:stretch>
            <a:fillRect/>
          </a:stretch>
        </p:blipFill>
        <p:spPr>
          <a:xfrm>
            <a:off x="2350770" y="1106805"/>
            <a:ext cx="8521700" cy="575119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55613"/>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21.3 Lenz’ s Law</a:t>
            </a:r>
          </a:p>
        </p:txBody>
      </p:sp>
      <p:sp>
        <p:nvSpPr>
          <p:cNvPr id="5" name="Rectangle 3"/>
          <p:cNvSpPr txBox="1">
            <a:spLocks noChangeArrowheads="1"/>
          </p:cNvSpPr>
          <p:nvPr/>
        </p:nvSpPr>
        <p:spPr bwMode="auto">
          <a:xfrm>
            <a:off x="1111251" y="1456301"/>
            <a:ext cx="9531612" cy="12189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b="1" dirty="0">
                <a:latin typeface="Arial" panose="020B0604020202020204" pitchFamily="34" charset="0"/>
                <a:ea typeface="微软雅黑" panose="020B0503020204020204" pitchFamily="34" charset="-122"/>
                <a:cs typeface="Arial" panose="020B0604020202020204" pitchFamily="34" charset="0"/>
              </a:rPr>
              <a:t>Lenz’s law</a:t>
            </a:r>
            <a:r>
              <a:rPr lang="en-US" altLang="zh-CN" sz="2600" dirty="0">
                <a:latin typeface="Arial" panose="020B0604020202020204" pitchFamily="34" charset="0"/>
                <a:ea typeface="微软雅黑" panose="020B0503020204020204" pitchFamily="34" charset="-122"/>
                <a:cs typeface="Arial" panose="020B0604020202020204" pitchFamily="34" charset="0"/>
              </a:rPr>
              <a:t> state</a:t>
            </a:r>
          </a:p>
        </p:txBody>
      </p:sp>
      <p:sp>
        <p:nvSpPr>
          <p:cNvPr id="8" name="Rectangle 3"/>
          <p:cNvSpPr txBox="1">
            <a:spLocks noChangeArrowheads="1"/>
          </p:cNvSpPr>
          <p:nvPr/>
        </p:nvSpPr>
        <p:spPr bwMode="auto">
          <a:xfrm>
            <a:off x="1111251" y="2752556"/>
            <a:ext cx="9531612" cy="1352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0" lvl="1" indent="0">
              <a:spcBef>
                <a:spcPts val="1000"/>
              </a:spcBef>
              <a:buClr>
                <a:srgbClr val="007FA3"/>
              </a:buClr>
              <a:buSzPct val="100000"/>
              <a:buNone/>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Within the area bounded by the circuit, this field is opposite to the original field if the original field is increasing but is in the same direction as the original field if the latter is decreasing. That is, the induced current opposes the change in flux through the circuit.</a:t>
            </a:r>
          </a:p>
        </p:txBody>
      </p:sp>
      <p:pic>
        <p:nvPicPr>
          <p:cNvPr id="2" name="图片 1"/>
          <p:cNvPicPr>
            <a:picLocks noChangeAspect="1"/>
          </p:cNvPicPr>
          <p:nvPr/>
        </p:nvPicPr>
        <p:blipFill>
          <a:blip r:embed="rId2"/>
          <a:stretch>
            <a:fillRect/>
          </a:stretch>
        </p:blipFill>
        <p:spPr>
          <a:xfrm>
            <a:off x="1434465" y="2137410"/>
            <a:ext cx="9157335" cy="9124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379095" y="232410"/>
            <a:ext cx="1229487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Conceptual Example 21.7    Lenz’s law and the</a:t>
            </a:r>
          </a:p>
          <a:p>
            <a:r>
              <a:rPr lang="en-US" altLang="zh-CN" sz="3600" dirty="0">
                <a:latin typeface="Arial" panose="020B0604020202020204" pitchFamily="34" charset="0"/>
                <a:ea typeface="微软雅黑" panose="020B0503020204020204" pitchFamily="34" charset="-122"/>
                <a:cs typeface="Arial" panose="020B0604020202020204" pitchFamily="34" charset="0"/>
              </a:rPr>
              <a:t> slidewire generator</a:t>
            </a:r>
          </a:p>
        </p:txBody>
      </p:sp>
      <p:pic>
        <p:nvPicPr>
          <p:cNvPr id="2" name="图片 1"/>
          <p:cNvPicPr>
            <a:picLocks noChangeAspect="1"/>
          </p:cNvPicPr>
          <p:nvPr/>
        </p:nvPicPr>
        <p:blipFill>
          <a:blip r:embed="rId2"/>
          <a:stretch>
            <a:fillRect/>
          </a:stretch>
        </p:blipFill>
        <p:spPr>
          <a:xfrm>
            <a:off x="1102995" y="2784475"/>
            <a:ext cx="10111740" cy="6858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379095" y="232410"/>
            <a:ext cx="1229487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Conceptual Example 21.8    Lenz’s law and the </a:t>
            </a:r>
          </a:p>
          <a:p>
            <a:r>
              <a:rPr lang="en-US" altLang="zh-CN" sz="3600" dirty="0">
                <a:latin typeface="Arial" panose="020B0604020202020204" pitchFamily="34" charset="0"/>
                <a:ea typeface="微软雅黑" panose="020B0503020204020204" pitchFamily="34" charset="-122"/>
                <a:cs typeface="Arial" panose="020B0604020202020204" pitchFamily="34" charset="0"/>
              </a:rPr>
              <a:t>direction of induced current</a:t>
            </a:r>
          </a:p>
        </p:txBody>
      </p:sp>
      <p:pic>
        <p:nvPicPr>
          <p:cNvPr id="3" name="图片 2"/>
          <p:cNvPicPr>
            <a:picLocks noChangeAspect="1"/>
          </p:cNvPicPr>
          <p:nvPr/>
        </p:nvPicPr>
        <p:blipFill>
          <a:blip r:embed="rId2"/>
          <a:stretch>
            <a:fillRect/>
          </a:stretch>
        </p:blipFill>
        <p:spPr>
          <a:xfrm>
            <a:off x="935355" y="1657985"/>
            <a:ext cx="10096500" cy="371094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089660" y="1186180"/>
            <a:ext cx="9913620" cy="375666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21.4 Motional Electromotive Force</a:t>
            </a:r>
          </a:p>
        </p:txBody>
      </p:sp>
      <p:sp>
        <p:nvSpPr>
          <p:cNvPr id="5" name="Rectangle 3"/>
          <p:cNvSpPr txBox="1">
            <a:spLocks noChangeArrowheads="1"/>
          </p:cNvSpPr>
          <p:nvPr/>
        </p:nvSpPr>
        <p:spPr bwMode="auto">
          <a:xfrm>
            <a:off x="1209674" y="1393391"/>
            <a:ext cx="9531612" cy="1171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We call this emf a motional electromotive force</a:t>
            </a:r>
          </a:p>
        </p:txBody>
      </p:sp>
      <p:pic>
        <p:nvPicPr>
          <p:cNvPr id="2" name="图片 1"/>
          <p:cNvPicPr>
            <a:picLocks noChangeAspect="1"/>
          </p:cNvPicPr>
          <p:nvPr/>
        </p:nvPicPr>
        <p:blipFill>
          <a:blip r:embed="rId2"/>
          <a:stretch>
            <a:fillRect/>
          </a:stretch>
        </p:blipFill>
        <p:spPr>
          <a:xfrm>
            <a:off x="1416050" y="1896745"/>
            <a:ext cx="3757930" cy="4848860"/>
          </a:xfrm>
          <a:prstGeom prst="rect">
            <a:avLst/>
          </a:prstGeom>
        </p:spPr>
      </p:pic>
      <p:pic>
        <p:nvPicPr>
          <p:cNvPr id="3" name="图片 2"/>
          <p:cNvPicPr>
            <a:picLocks noChangeAspect="1"/>
          </p:cNvPicPr>
          <p:nvPr/>
        </p:nvPicPr>
        <p:blipFill>
          <a:blip r:embed="rId3"/>
          <a:srcRect r="4593"/>
          <a:stretch>
            <a:fillRect/>
          </a:stretch>
        </p:blipFill>
        <p:spPr>
          <a:xfrm>
            <a:off x="6840220" y="3615055"/>
            <a:ext cx="4075430" cy="2896235"/>
          </a:xfrm>
          <a:prstGeom prst="rect">
            <a:avLst/>
          </a:prstGeom>
        </p:spPr>
      </p:pic>
      <p:pic>
        <p:nvPicPr>
          <p:cNvPr id="4" name="图片 3"/>
          <p:cNvPicPr>
            <a:picLocks noChangeAspect="1"/>
          </p:cNvPicPr>
          <p:nvPr/>
        </p:nvPicPr>
        <p:blipFill>
          <a:blip r:embed="rId4"/>
          <a:stretch>
            <a:fillRect/>
          </a:stretch>
        </p:blipFill>
        <p:spPr>
          <a:xfrm>
            <a:off x="7645400" y="1938655"/>
            <a:ext cx="1661160" cy="411480"/>
          </a:xfrm>
          <a:prstGeom prst="rect">
            <a:avLst/>
          </a:prstGeom>
        </p:spPr>
      </p:pic>
      <p:pic>
        <p:nvPicPr>
          <p:cNvPr id="7" name="图片 6"/>
          <p:cNvPicPr>
            <a:picLocks noChangeAspect="1"/>
          </p:cNvPicPr>
          <p:nvPr/>
        </p:nvPicPr>
        <p:blipFill>
          <a:blip r:embed="rId5"/>
          <a:stretch>
            <a:fillRect/>
          </a:stretch>
        </p:blipFill>
        <p:spPr>
          <a:xfrm>
            <a:off x="6343650" y="2442845"/>
            <a:ext cx="4572000" cy="624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Motional emf: General Form</a:t>
            </a:r>
          </a:p>
        </p:txBody>
      </p:sp>
      <p:sp>
        <p:nvSpPr>
          <p:cNvPr id="5" name="Rectangle 3"/>
          <p:cNvSpPr txBox="1">
            <a:spLocks noChangeArrowheads="1"/>
          </p:cNvSpPr>
          <p:nvPr/>
        </p:nvSpPr>
        <p:spPr bwMode="auto">
          <a:xfrm>
            <a:off x="1175384" y="2743401"/>
            <a:ext cx="9531612" cy="18671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For any closed conducting loop, the total emf is</a:t>
            </a: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1"/>
          <p:cNvPicPr>
            <a:picLocks noChangeAspect="1"/>
          </p:cNvPicPr>
          <p:nvPr/>
        </p:nvPicPr>
        <p:blipFill>
          <a:blip r:embed="rId2"/>
          <a:stretch>
            <a:fillRect/>
          </a:stretch>
        </p:blipFill>
        <p:spPr>
          <a:xfrm>
            <a:off x="4806950" y="1899920"/>
            <a:ext cx="2522220" cy="559435"/>
          </a:xfrm>
          <a:prstGeom prst="rect">
            <a:avLst/>
          </a:prstGeom>
        </p:spPr>
      </p:pic>
      <p:pic>
        <p:nvPicPr>
          <p:cNvPr id="3" name="图片 2"/>
          <p:cNvPicPr>
            <a:picLocks noChangeAspect="1"/>
          </p:cNvPicPr>
          <p:nvPr/>
        </p:nvPicPr>
        <p:blipFill>
          <a:blip r:embed="rId3"/>
          <a:stretch>
            <a:fillRect/>
          </a:stretch>
        </p:blipFill>
        <p:spPr>
          <a:xfrm>
            <a:off x="2315845" y="4238625"/>
            <a:ext cx="8326755" cy="808355"/>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133350" y="218440"/>
            <a:ext cx="1229487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21.9    Motional emf in the slidewire generator</a:t>
            </a:r>
          </a:p>
        </p:txBody>
      </p:sp>
      <p:pic>
        <p:nvPicPr>
          <p:cNvPr id="2" name="图片 1"/>
          <p:cNvPicPr>
            <a:picLocks noChangeAspect="1"/>
          </p:cNvPicPr>
          <p:nvPr/>
        </p:nvPicPr>
        <p:blipFill>
          <a:blip r:embed="rId2"/>
          <a:stretch>
            <a:fillRect/>
          </a:stretch>
        </p:blipFill>
        <p:spPr>
          <a:xfrm>
            <a:off x="882015" y="1737360"/>
            <a:ext cx="10104120" cy="409956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133350" y="218440"/>
            <a:ext cx="1229487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21.10    The Faraday disk dynamo</a:t>
            </a:r>
          </a:p>
        </p:txBody>
      </p:sp>
      <p:pic>
        <p:nvPicPr>
          <p:cNvPr id="3" name="图片 2"/>
          <p:cNvPicPr>
            <a:picLocks noChangeAspect="1"/>
          </p:cNvPicPr>
          <p:nvPr/>
        </p:nvPicPr>
        <p:blipFill>
          <a:blip r:embed="rId2"/>
          <a:stretch>
            <a:fillRect/>
          </a:stretch>
        </p:blipFill>
        <p:spPr>
          <a:xfrm>
            <a:off x="2361565" y="1357630"/>
            <a:ext cx="7611110" cy="543560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21.5 Induced Electric Fields</a:t>
            </a:r>
          </a:p>
        </p:txBody>
      </p:sp>
      <p:sp>
        <p:nvSpPr>
          <p:cNvPr id="5" name="Rectangle 3"/>
          <p:cNvSpPr txBox="1">
            <a:spLocks noChangeArrowheads="1"/>
          </p:cNvSpPr>
          <p:nvPr/>
        </p:nvSpPr>
        <p:spPr bwMode="auto">
          <a:xfrm>
            <a:off x="1111249" y="1262580"/>
            <a:ext cx="9531612" cy="3903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It can’t be a magnetic force because the loop isn’t even in a magnetic field. We are forced to conclude that there has to be an induced electric field in the conductor caused by the changing magnetic flux.</a:t>
            </a: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p:txBody>
      </p:sp>
      <p:pic>
        <p:nvPicPr>
          <p:cNvPr id="6" name="图片 5"/>
          <p:cNvPicPr>
            <a:picLocks noChangeAspect="1"/>
          </p:cNvPicPr>
          <p:nvPr/>
        </p:nvPicPr>
        <p:blipFill>
          <a:blip r:embed="rId2"/>
          <a:stretch>
            <a:fillRect/>
          </a:stretch>
        </p:blipFill>
        <p:spPr>
          <a:xfrm>
            <a:off x="1042670" y="2740660"/>
            <a:ext cx="2835275" cy="3938905"/>
          </a:xfrm>
          <a:prstGeom prst="rect">
            <a:avLst/>
          </a:prstGeom>
        </p:spPr>
      </p:pic>
      <p:pic>
        <p:nvPicPr>
          <p:cNvPr id="7" name="图片 6"/>
          <p:cNvPicPr>
            <a:picLocks noChangeAspect="1"/>
          </p:cNvPicPr>
          <p:nvPr/>
        </p:nvPicPr>
        <p:blipFill>
          <a:blip r:embed="rId3"/>
          <a:stretch>
            <a:fillRect/>
          </a:stretch>
        </p:blipFill>
        <p:spPr>
          <a:xfrm>
            <a:off x="4099560" y="3451225"/>
            <a:ext cx="3072130" cy="2432050"/>
          </a:xfrm>
          <a:prstGeom prst="rect">
            <a:avLst/>
          </a:prstGeom>
        </p:spPr>
      </p:pic>
      <p:pic>
        <p:nvPicPr>
          <p:cNvPr id="9" name="图片 8"/>
          <p:cNvPicPr>
            <a:picLocks noChangeAspect="1"/>
          </p:cNvPicPr>
          <p:nvPr/>
        </p:nvPicPr>
        <p:blipFill>
          <a:blip r:embed="rId4"/>
          <a:stretch>
            <a:fillRect/>
          </a:stretch>
        </p:blipFill>
        <p:spPr>
          <a:xfrm>
            <a:off x="8503285" y="2501265"/>
            <a:ext cx="1798320" cy="396240"/>
          </a:xfrm>
          <a:prstGeom prst="rect">
            <a:avLst/>
          </a:prstGeom>
        </p:spPr>
      </p:pic>
      <p:pic>
        <p:nvPicPr>
          <p:cNvPr id="10" name="图片 9"/>
          <p:cNvPicPr>
            <a:picLocks noChangeAspect="1"/>
          </p:cNvPicPr>
          <p:nvPr/>
        </p:nvPicPr>
        <p:blipFill>
          <a:blip r:embed="rId5"/>
          <a:stretch>
            <a:fillRect/>
          </a:stretch>
        </p:blipFill>
        <p:spPr>
          <a:xfrm>
            <a:off x="8328660" y="2936240"/>
            <a:ext cx="2301240" cy="556260"/>
          </a:xfrm>
          <a:prstGeom prst="rect">
            <a:avLst/>
          </a:prstGeom>
        </p:spPr>
      </p:pic>
      <p:pic>
        <p:nvPicPr>
          <p:cNvPr id="11" name="图片 10"/>
          <p:cNvPicPr>
            <a:picLocks noChangeAspect="1"/>
          </p:cNvPicPr>
          <p:nvPr/>
        </p:nvPicPr>
        <p:blipFill>
          <a:blip r:embed="rId6"/>
          <a:stretch>
            <a:fillRect/>
          </a:stretch>
        </p:blipFill>
        <p:spPr>
          <a:xfrm>
            <a:off x="8721090" y="3531235"/>
            <a:ext cx="1516380" cy="617220"/>
          </a:xfrm>
          <a:prstGeom prst="rect">
            <a:avLst/>
          </a:prstGeom>
        </p:spPr>
      </p:pic>
      <p:pic>
        <p:nvPicPr>
          <p:cNvPr id="12" name="图片 11"/>
          <p:cNvPicPr>
            <a:picLocks noChangeAspect="1"/>
          </p:cNvPicPr>
          <p:nvPr/>
        </p:nvPicPr>
        <p:blipFill>
          <a:blip r:embed="rId7"/>
          <a:stretch>
            <a:fillRect/>
          </a:stretch>
        </p:blipFill>
        <p:spPr>
          <a:xfrm>
            <a:off x="7171690" y="4339590"/>
            <a:ext cx="4762500" cy="655320"/>
          </a:xfrm>
          <a:prstGeom prst="rect">
            <a:avLst/>
          </a:prstGeom>
        </p:spPr>
      </p:pic>
      <p:pic>
        <p:nvPicPr>
          <p:cNvPr id="13" name="图片 12"/>
          <p:cNvPicPr>
            <a:picLocks noChangeAspect="1"/>
          </p:cNvPicPr>
          <p:nvPr/>
        </p:nvPicPr>
        <p:blipFill>
          <a:blip r:embed="rId8"/>
          <a:srcRect l="3168" t="1701"/>
          <a:stretch>
            <a:fillRect/>
          </a:stretch>
        </p:blipFill>
        <p:spPr>
          <a:xfrm>
            <a:off x="8693785" y="5186045"/>
            <a:ext cx="1416685" cy="367030"/>
          </a:xfrm>
          <a:prstGeom prst="rect">
            <a:avLst/>
          </a:prstGeom>
        </p:spPr>
      </p:pic>
      <p:pic>
        <p:nvPicPr>
          <p:cNvPr id="14" name="图片 13"/>
          <p:cNvPicPr>
            <a:picLocks noChangeAspect="1"/>
          </p:cNvPicPr>
          <p:nvPr/>
        </p:nvPicPr>
        <p:blipFill>
          <a:blip r:embed="rId9"/>
          <a:stretch>
            <a:fillRect/>
          </a:stretch>
        </p:blipFill>
        <p:spPr>
          <a:xfrm>
            <a:off x="8461375" y="5883275"/>
            <a:ext cx="1623060" cy="5257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Nonelectrostatic Electric Fields</a:t>
            </a:r>
          </a:p>
        </p:txBody>
      </p:sp>
      <p:sp>
        <p:nvSpPr>
          <p:cNvPr id="5" name="Rectangle 3"/>
          <p:cNvSpPr txBox="1">
            <a:spLocks noChangeArrowheads="1"/>
          </p:cNvSpPr>
          <p:nvPr/>
        </p:nvSpPr>
        <p:spPr bwMode="auto">
          <a:xfrm>
            <a:off x="1111249" y="1262580"/>
            <a:ext cx="9531612" cy="3903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endParaRPr lang="en-US" altLang="zh-CN" sz="2200" dirty="0">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1"/>
          <p:cNvPicPr>
            <a:picLocks noChangeAspect="1"/>
          </p:cNvPicPr>
          <p:nvPr/>
        </p:nvPicPr>
        <p:blipFill>
          <a:blip r:embed="rId2"/>
          <a:stretch>
            <a:fillRect/>
          </a:stretch>
        </p:blipFill>
        <p:spPr>
          <a:xfrm>
            <a:off x="1078230" y="1325880"/>
            <a:ext cx="10035540" cy="4206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133350" y="218440"/>
            <a:ext cx="1229487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r>
              <a:rPr lang="en-US" altLang="zh-CN" sz="3600" dirty="0">
                <a:latin typeface="Arial" panose="020B0604020202020204" pitchFamily="34" charset="0"/>
                <a:ea typeface="微软雅黑" panose="020B0503020204020204" pitchFamily="34" charset="-122"/>
                <a:cs typeface="Arial" panose="020B0604020202020204" pitchFamily="34" charset="0"/>
              </a:rPr>
              <a:t>Example 21.11    Induced electric fields</a:t>
            </a:r>
          </a:p>
        </p:txBody>
      </p:sp>
      <p:pic>
        <p:nvPicPr>
          <p:cNvPr id="2" name="图片 1"/>
          <p:cNvPicPr>
            <a:picLocks noChangeAspect="1"/>
          </p:cNvPicPr>
          <p:nvPr/>
        </p:nvPicPr>
        <p:blipFill>
          <a:blip r:embed="rId2"/>
          <a:stretch>
            <a:fillRect/>
          </a:stretch>
        </p:blipFill>
        <p:spPr>
          <a:xfrm>
            <a:off x="913130" y="1370330"/>
            <a:ext cx="10126980" cy="2910840"/>
          </a:xfrm>
          <a:prstGeom prst="rect">
            <a:avLst/>
          </a:prstGeom>
        </p:spPr>
      </p:pic>
      <p:pic>
        <p:nvPicPr>
          <p:cNvPr id="5" name="图片 4"/>
          <p:cNvPicPr>
            <a:picLocks noChangeAspect="1"/>
          </p:cNvPicPr>
          <p:nvPr/>
        </p:nvPicPr>
        <p:blipFill>
          <a:blip r:embed="rId3"/>
          <a:stretch>
            <a:fillRect/>
          </a:stretch>
        </p:blipFill>
        <p:spPr>
          <a:xfrm>
            <a:off x="913130" y="4424680"/>
            <a:ext cx="10195560" cy="14478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21.6 Eddy Currents</a:t>
            </a:r>
          </a:p>
        </p:txBody>
      </p:sp>
      <p:sp>
        <p:nvSpPr>
          <p:cNvPr id="5" name="Rectangle 3"/>
          <p:cNvSpPr txBox="1">
            <a:spLocks noChangeArrowheads="1"/>
          </p:cNvSpPr>
          <p:nvPr/>
        </p:nvSpPr>
        <p:spPr bwMode="auto">
          <a:xfrm>
            <a:off x="1160144" y="1262580"/>
            <a:ext cx="9531612" cy="3903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we call these eddy currents:</a:t>
            </a:r>
          </a:p>
          <a:p>
            <a:pPr marL="0" lvl="1" indent="0">
              <a:spcBef>
                <a:spcPts val="1000"/>
              </a:spcBef>
              <a:buClr>
                <a:srgbClr val="007FA3"/>
              </a:buClr>
              <a:buSzPct val="100000"/>
              <a:buNone/>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p:txBody>
      </p:sp>
      <p:pic>
        <p:nvPicPr>
          <p:cNvPr id="3" name="图片 2"/>
          <p:cNvPicPr>
            <a:picLocks noChangeAspect="1"/>
          </p:cNvPicPr>
          <p:nvPr/>
        </p:nvPicPr>
        <p:blipFill>
          <a:blip r:embed="rId2"/>
          <a:stretch>
            <a:fillRect/>
          </a:stretch>
        </p:blipFill>
        <p:spPr>
          <a:xfrm>
            <a:off x="1558290" y="1870075"/>
            <a:ext cx="3613785" cy="3958590"/>
          </a:xfrm>
          <a:prstGeom prst="rect">
            <a:avLst/>
          </a:prstGeom>
        </p:spPr>
      </p:pic>
      <p:pic>
        <p:nvPicPr>
          <p:cNvPr id="4" name="图片 3"/>
          <p:cNvPicPr>
            <a:picLocks noChangeAspect="1"/>
          </p:cNvPicPr>
          <p:nvPr/>
        </p:nvPicPr>
        <p:blipFill>
          <a:blip r:embed="rId3"/>
          <a:stretch>
            <a:fillRect/>
          </a:stretch>
        </p:blipFill>
        <p:spPr>
          <a:xfrm>
            <a:off x="6576060" y="2416175"/>
            <a:ext cx="3327400" cy="3262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21970" y="1373505"/>
            <a:ext cx="7469505" cy="3846195"/>
          </a:xfrm>
          <a:prstGeom prst="rect">
            <a:avLst/>
          </a:prstGeom>
        </p:spPr>
      </p:pic>
      <p:pic>
        <p:nvPicPr>
          <p:cNvPr id="3" name="图片 2"/>
          <p:cNvPicPr>
            <a:picLocks noChangeAspect="1"/>
          </p:cNvPicPr>
          <p:nvPr/>
        </p:nvPicPr>
        <p:blipFill>
          <a:blip r:embed="rId3"/>
          <a:stretch>
            <a:fillRect/>
          </a:stretch>
        </p:blipFill>
        <p:spPr>
          <a:xfrm>
            <a:off x="8159750" y="2326640"/>
            <a:ext cx="3368040" cy="20650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21.7 Displacement Current and Maxwell’s Equations</a:t>
            </a:r>
          </a:p>
        </p:txBody>
      </p:sp>
      <p:sp>
        <p:nvSpPr>
          <p:cNvPr id="5" name="Rectangle 3"/>
          <p:cNvSpPr txBox="1">
            <a:spLocks noChangeArrowheads="1"/>
          </p:cNvSpPr>
          <p:nvPr/>
        </p:nvSpPr>
        <p:spPr bwMode="auto">
          <a:xfrm>
            <a:off x="1160144" y="1262580"/>
            <a:ext cx="9531612" cy="3903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Generalizing Ampere’s Law:</a:t>
            </a:r>
          </a:p>
          <a:p>
            <a:pPr marL="0" lvl="1" indent="0">
              <a:spcBef>
                <a:spcPts val="1000"/>
              </a:spcBef>
              <a:buClr>
                <a:srgbClr val="007FA3"/>
              </a:buClr>
              <a:buSzPct val="100000"/>
              <a:buNone/>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1"/>
          <p:cNvPicPr>
            <a:picLocks noChangeAspect="1"/>
          </p:cNvPicPr>
          <p:nvPr/>
        </p:nvPicPr>
        <p:blipFill>
          <a:blip r:embed="rId2"/>
          <a:stretch>
            <a:fillRect/>
          </a:stretch>
        </p:blipFill>
        <p:spPr>
          <a:xfrm>
            <a:off x="7205345" y="1565275"/>
            <a:ext cx="3797935" cy="4861560"/>
          </a:xfrm>
          <a:prstGeom prst="rect">
            <a:avLst/>
          </a:prstGeom>
        </p:spPr>
      </p:pic>
      <p:pic>
        <p:nvPicPr>
          <p:cNvPr id="6" name="图片 5"/>
          <p:cNvPicPr>
            <a:picLocks noChangeAspect="1"/>
          </p:cNvPicPr>
          <p:nvPr/>
        </p:nvPicPr>
        <p:blipFill>
          <a:blip r:embed="rId3"/>
          <a:stretch>
            <a:fillRect/>
          </a:stretch>
        </p:blipFill>
        <p:spPr>
          <a:xfrm>
            <a:off x="2685415" y="1882140"/>
            <a:ext cx="1998980" cy="663575"/>
          </a:xfrm>
          <a:prstGeom prst="rect">
            <a:avLst/>
          </a:prstGeom>
        </p:spPr>
      </p:pic>
      <p:pic>
        <p:nvPicPr>
          <p:cNvPr id="8" name="图片 7"/>
          <p:cNvPicPr>
            <a:picLocks noChangeAspect="1"/>
          </p:cNvPicPr>
          <p:nvPr/>
        </p:nvPicPr>
        <p:blipFill>
          <a:blip r:embed="rId4"/>
          <a:stretch>
            <a:fillRect/>
          </a:stretch>
        </p:blipFill>
        <p:spPr>
          <a:xfrm>
            <a:off x="2553335" y="3524250"/>
            <a:ext cx="1729740" cy="525780"/>
          </a:xfrm>
          <a:prstGeom prst="rect">
            <a:avLst/>
          </a:prstGeom>
        </p:spPr>
      </p:pic>
      <p:pic>
        <p:nvPicPr>
          <p:cNvPr id="9" name="图片 8"/>
          <p:cNvPicPr>
            <a:picLocks noChangeAspect="1"/>
          </p:cNvPicPr>
          <p:nvPr/>
        </p:nvPicPr>
        <p:blipFill>
          <a:blip r:embed="rId5"/>
          <a:stretch>
            <a:fillRect/>
          </a:stretch>
        </p:blipFill>
        <p:spPr>
          <a:xfrm>
            <a:off x="1981835" y="2715260"/>
            <a:ext cx="3223260" cy="571500"/>
          </a:xfrm>
          <a:prstGeom prst="rect">
            <a:avLst/>
          </a:prstGeom>
        </p:spPr>
      </p:pic>
      <p:pic>
        <p:nvPicPr>
          <p:cNvPr id="10" name="图片 9"/>
          <p:cNvPicPr>
            <a:picLocks noChangeAspect="1"/>
          </p:cNvPicPr>
          <p:nvPr/>
        </p:nvPicPr>
        <p:blipFill>
          <a:blip r:embed="rId6"/>
          <a:stretch>
            <a:fillRect/>
          </a:stretch>
        </p:blipFill>
        <p:spPr>
          <a:xfrm>
            <a:off x="1313180" y="4287520"/>
            <a:ext cx="3825240" cy="586740"/>
          </a:xfrm>
          <a:prstGeom prst="rect">
            <a:avLst/>
          </a:prstGeom>
        </p:spPr>
      </p:pic>
      <p:pic>
        <p:nvPicPr>
          <p:cNvPr id="11" name="图片 10"/>
          <p:cNvPicPr>
            <a:picLocks noChangeAspect="1"/>
          </p:cNvPicPr>
          <p:nvPr/>
        </p:nvPicPr>
        <p:blipFill>
          <a:blip r:embed="rId7"/>
          <a:stretch>
            <a:fillRect/>
          </a:stretch>
        </p:blipFill>
        <p:spPr>
          <a:xfrm>
            <a:off x="853440" y="5111750"/>
            <a:ext cx="5334000" cy="662940"/>
          </a:xfrm>
          <a:prstGeom prst="rect">
            <a:avLst/>
          </a:prstGeom>
        </p:spPr>
      </p:pic>
      <p:pic>
        <p:nvPicPr>
          <p:cNvPr id="12" name="图片 11"/>
          <p:cNvPicPr>
            <a:picLocks noChangeAspect="1"/>
          </p:cNvPicPr>
          <p:nvPr/>
        </p:nvPicPr>
        <p:blipFill>
          <a:blip r:embed="rId8"/>
          <a:stretch>
            <a:fillRect/>
          </a:stretch>
        </p:blipFill>
        <p:spPr>
          <a:xfrm>
            <a:off x="2861945" y="5875020"/>
            <a:ext cx="1112520" cy="4800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The Reality of Displacement Current</a:t>
            </a:r>
          </a:p>
        </p:txBody>
      </p:sp>
      <p:pic>
        <p:nvPicPr>
          <p:cNvPr id="3" name="图片 2"/>
          <p:cNvPicPr>
            <a:picLocks noChangeAspect="1"/>
          </p:cNvPicPr>
          <p:nvPr/>
        </p:nvPicPr>
        <p:blipFill>
          <a:blip r:embed="rId2"/>
          <a:stretch>
            <a:fillRect/>
          </a:stretch>
        </p:blipFill>
        <p:spPr>
          <a:xfrm>
            <a:off x="7243445" y="1243330"/>
            <a:ext cx="3868420" cy="5146040"/>
          </a:xfrm>
          <a:prstGeom prst="rect">
            <a:avLst/>
          </a:prstGeom>
        </p:spPr>
      </p:pic>
      <p:pic>
        <p:nvPicPr>
          <p:cNvPr id="4" name="图片 3"/>
          <p:cNvPicPr>
            <a:picLocks noChangeAspect="1"/>
          </p:cNvPicPr>
          <p:nvPr/>
        </p:nvPicPr>
        <p:blipFill>
          <a:blip r:embed="rId3"/>
          <a:stretch>
            <a:fillRect/>
          </a:stretch>
        </p:blipFill>
        <p:spPr>
          <a:xfrm>
            <a:off x="2348865" y="2414270"/>
            <a:ext cx="4103370" cy="134048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111249" y="408478"/>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Maxwell’s Equations of Electromagnetism</a:t>
            </a:r>
          </a:p>
        </p:txBody>
      </p:sp>
      <p:pic>
        <p:nvPicPr>
          <p:cNvPr id="2" name="图片 1"/>
          <p:cNvPicPr>
            <a:picLocks noChangeAspect="1"/>
          </p:cNvPicPr>
          <p:nvPr/>
        </p:nvPicPr>
        <p:blipFill>
          <a:blip r:embed="rId2"/>
          <a:stretch>
            <a:fillRect/>
          </a:stretch>
        </p:blipFill>
        <p:spPr>
          <a:xfrm>
            <a:off x="3729990" y="1788795"/>
            <a:ext cx="4297680" cy="571500"/>
          </a:xfrm>
          <a:prstGeom prst="rect">
            <a:avLst/>
          </a:prstGeom>
        </p:spPr>
      </p:pic>
      <p:pic>
        <p:nvPicPr>
          <p:cNvPr id="5" name="图片 4"/>
          <p:cNvPicPr>
            <a:picLocks noChangeAspect="1"/>
          </p:cNvPicPr>
          <p:nvPr/>
        </p:nvPicPr>
        <p:blipFill>
          <a:blip r:embed="rId3"/>
          <a:stretch>
            <a:fillRect/>
          </a:stretch>
        </p:blipFill>
        <p:spPr>
          <a:xfrm>
            <a:off x="3882390" y="3056255"/>
            <a:ext cx="4145280" cy="647700"/>
          </a:xfrm>
          <a:prstGeom prst="rect">
            <a:avLst/>
          </a:prstGeom>
        </p:spPr>
      </p:pic>
      <p:pic>
        <p:nvPicPr>
          <p:cNvPr id="6" name="图片 5"/>
          <p:cNvPicPr>
            <a:picLocks noChangeAspect="1"/>
          </p:cNvPicPr>
          <p:nvPr/>
        </p:nvPicPr>
        <p:blipFill>
          <a:blip r:embed="rId4"/>
          <a:stretch>
            <a:fillRect/>
          </a:stretch>
        </p:blipFill>
        <p:spPr>
          <a:xfrm>
            <a:off x="3262630" y="4065270"/>
            <a:ext cx="5554980" cy="678180"/>
          </a:xfrm>
          <a:prstGeom prst="rect">
            <a:avLst/>
          </a:prstGeom>
        </p:spPr>
      </p:pic>
      <p:sp>
        <p:nvSpPr>
          <p:cNvPr id="7" name="Rectangle 3"/>
          <p:cNvSpPr txBox="1">
            <a:spLocks noChangeArrowheads="1"/>
          </p:cNvSpPr>
          <p:nvPr/>
        </p:nvSpPr>
        <p:spPr bwMode="auto">
          <a:xfrm>
            <a:off x="1160144" y="1262580"/>
            <a:ext cx="9531612" cy="3903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 The first is simply Gauss’s law for electric fields,</a:t>
            </a: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The second is the analogous relationship for magnetic fields</a:t>
            </a:r>
          </a:p>
        </p:txBody>
      </p:sp>
      <p:pic>
        <p:nvPicPr>
          <p:cNvPr id="8" name="图片 7"/>
          <p:cNvPicPr>
            <a:picLocks noChangeAspect="1"/>
          </p:cNvPicPr>
          <p:nvPr/>
        </p:nvPicPr>
        <p:blipFill>
          <a:blip r:embed="rId5"/>
          <a:stretch>
            <a:fillRect/>
          </a:stretch>
        </p:blipFill>
        <p:spPr>
          <a:xfrm>
            <a:off x="3686810" y="5104765"/>
            <a:ext cx="4076700" cy="6324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 calcmode="lin" valueType="num">
                                      <p:cBhvr additive="base">
                                        <p:cTn id="13" dur="500" fill="hold"/>
                                        <p:tgtEl>
                                          <p:spTgt spid="7">
                                            <p:txEl>
                                              <p:pRg st="5" end="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1021080" y="1018540"/>
            <a:ext cx="10408285" cy="39033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 The third equation is Ampere’s law including displacement current.</a:t>
            </a: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endParaRPr lang="en-US" altLang="zh-CN" sz="2600" dirty="0">
              <a:latin typeface="Arial" panose="020B0604020202020204" pitchFamily="34" charset="0"/>
              <a:ea typeface="微软雅黑" panose="020B0503020204020204" pitchFamily="34" charset="-122"/>
              <a:cs typeface="Arial" panose="020B0604020202020204" pitchFamily="34" charset="0"/>
            </a:endParaRPr>
          </a:p>
          <a:p>
            <a:pPr marL="255905" lvl="1" indent="-255905">
              <a:spcBef>
                <a:spcPts val="1000"/>
              </a:spcBef>
              <a:buClr>
                <a:srgbClr val="007FA3"/>
              </a:buClr>
              <a:buSzPct val="100000"/>
              <a:defRPr/>
            </a:pPr>
            <a:r>
              <a:rPr lang="en-US" altLang="zh-CN" sz="2600" dirty="0">
                <a:latin typeface="Arial" panose="020B0604020202020204" pitchFamily="34" charset="0"/>
                <a:ea typeface="微软雅黑" panose="020B0503020204020204" pitchFamily="34" charset="-122"/>
                <a:cs typeface="Arial" panose="020B0604020202020204" pitchFamily="34" charset="0"/>
              </a:rPr>
              <a:t>The fourth and final equation is Faraday’s law.</a:t>
            </a:r>
          </a:p>
        </p:txBody>
      </p:sp>
      <p:pic>
        <p:nvPicPr>
          <p:cNvPr id="3" name="图片 2"/>
          <p:cNvPicPr>
            <a:picLocks noChangeAspect="1"/>
          </p:cNvPicPr>
          <p:nvPr/>
        </p:nvPicPr>
        <p:blipFill>
          <a:blip r:embed="rId2"/>
          <a:stretch>
            <a:fillRect/>
          </a:stretch>
        </p:blipFill>
        <p:spPr>
          <a:xfrm>
            <a:off x="3589020" y="2042160"/>
            <a:ext cx="5013960" cy="723900"/>
          </a:xfrm>
          <a:prstGeom prst="rect">
            <a:avLst/>
          </a:prstGeom>
        </p:spPr>
      </p:pic>
      <p:pic>
        <p:nvPicPr>
          <p:cNvPr id="4" name="图片 3"/>
          <p:cNvPicPr>
            <a:picLocks noChangeAspect="1"/>
          </p:cNvPicPr>
          <p:nvPr/>
        </p:nvPicPr>
        <p:blipFill>
          <a:blip r:embed="rId3"/>
          <a:stretch>
            <a:fillRect/>
          </a:stretch>
        </p:blipFill>
        <p:spPr>
          <a:xfrm>
            <a:off x="4072890" y="3575050"/>
            <a:ext cx="3794760" cy="662940"/>
          </a:xfrm>
          <a:prstGeom prst="rect">
            <a:avLst/>
          </a:prstGeom>
        </p:spPr>
      </p:pic>
      <p:pic>
        <p:nvPicPr>
          <p:cNvPr id="9" name="图片 8"/>
          <p:cNvPicPr>
            <a:picLocks noChangeAspect="1"/>
          </p:cNvPicPr>
          <p:nvPr/>
        </p:nvPicPr>
        <p:blipFill>
          <a:blip r:embed="rId4"/>
          <a:stretch>
            <a:fillRect/>
          </a:stretch>
        </p:blipFill>
        <p:spPr>
          <a:xfrm>
            <a:off x="5085715" y="4809490"/>
            <a:ext cx="1431925" cy="44704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035049" y="387523"/>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Symmetry in Maxwell’s Equations</a:t>
            </a:r>
          </a:p>
        </p:txBody>
      </p:sp>
      <p:pic>
        <p:nvPicPr>
          <p:cNvPr id="3" name="图片 2"/>
          <p:cNvPicPr>
            <a:picLocks noChangeAspect="1"/>
          </p:cNvPicPr>
          <p:nvPr/>
        </p:nvPicPr>
        <p:blipFill>
          <a:blip r:embed="rId2"/>
          <a:stretch>
            <a:fillRect/>
          </a:stretch>
        </p:blipFill>
        <p:spPr>
          <a:xfrm>
            <a:off x="4512945" y="1399540"/>
            <a:ext cx="2856865" cy="1412875"/>
          </a:xfrm>
          <a:prstGeom prst="rect">
            <a:avLst/>
          </a:prstGeom>
        </p:spPr>
      </p:pic>
      <p:pic>
        <p:nvPicPr>
          <p:cNvPr id="4" name="图片 3"/>
          <p:cNvPicPr>
            <a:picLocks noChangeAspect="1"/>
          </p:cNvPicPr>
          <p:nvPr/>
        </p:nvPicPr>
        <p:blipFill>
          <a:blip r:embed="rId3"/>
          <a:stretch>
            <a:fillRect/>
          </a:stretch>
        </p:blipFill>
        <p:spPr>
          <a:xfrm>
            <a:off x="4821555" y="3533140"/>
            <a:ext cx="2098675" cy="40830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txBox="1">
            <a:spLocks noChangeArrowheads="1"/>
          </p:cNvSpPr>
          <p:nvPr/>
        </p:nvSpPr>
        <p:spPr bwMode="auto">
          <a:xfrm>
            <a:off x="1035049" y="387523"/>
            <a:ext cx="9380784" cy="9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21.8 Superconductivity</a:t>
            </a:r>
          </a:p>
        </p:txBody>
      </p:sp>
      <p:sp>
        <p:nvSpPr>
          <p:cNvPr id="2" name="文本框 1"/>
          <p:cNvSpPr txBox="1"/>
          <p:nvPr/>
        </p:nvSpPr>
        <p:spPr>
          <a:xfrm>
            <a:off x="1491615" y="1308100"/>
            <a:ext cx="4154170" cy="491490"/>
          </a:xfrm>
          <a:prstGeom prst="rect">
            <a:avLst/>
          </a:prstGeom>
          <a:noFill/>
        </p:spPr>
        <p:txBody>
          <a:bodyPr wrap="square" rtlCol="0" anchor="t">
            <a:spAutoFit/>
          </a:bodyPr>
          <a:lstStyle/>
          <a:p>
            <a:r>
              <a:rPr lang="en-US" altLang="zh-CN" sz="2600" dirty="0">
                <a:latin typeface="Arial" panose="020B0604020202020204" pitchFamily="34" charset="0"/>
                <a:cs typeface="Arial" panose="020B0604020202020204" pitchFamily="34" charset="0"/>
              </a:rPr>
              <a:t>The Meissner Effect</a:t>
            </a:r>
          </a:p>
        </p:txBody>
      </p:sp>
      <p:pic>
        <p:nvPicPr>
          <p:cNvPr id="5" name="图片 4"/>
          <p:cNvPicPr>
            <a:picLocks noChangeAspect="1"/>
          </p:cNvPicPr>
          <p:nvPr/>
        </p:nvPicPr>
        <p:blipFill>
          <a:blip r:embed="rId2"/>
          <a:stretch>
            <a:fillRect/>
          </a:stretch>
        </p:blipFill>
        <p:spPr>
          <a:xfrm>
            <a:off x="568325" y="1918335"/>
            <a:ext cx="3223260" cy="3688080"/>
          </a:xfrm>
          <a:prstGeom prst="rect">
            <a:avLst/>
          </a:prstGeom>
        </p:spPr>
      </p:pic>
      <p:pic>
        <p:nvPicPr>
          <p:cNvPr id="6" name="图片 5"/>
          <p:cNvPicPr>
            <a:picLocks noChangeAspect="1"/>
          </p:cNvPicPr>
          <p:nvPr/>
        </p:nvPicPr>
        <p:blipFill>
          <a:blip r:embed="rId3"/>
          <a:stretch>
            <a:fillRect/>
          </a:stretch>
        </p:blipFill>
        <p:spPr>
          <a:xfrm>
            <a:off x="4352925" y="1918335"/>
            <a:ext cx="3345180" cy="3451860"/>
          </a:xfrm>
          <a:prstGeom prst="rect">
            <a:avLst/>
          </a:prstGeom>
        </p:spPr>
      </p:pic>
      <p:pic>
        <p:nvPicPr>
          <p:cNvPr id="7" name="图片 6"/>
          <p:cNvPicPr>
            <a:picLocks noChangeAspect="1"/>
          </p:cNvPicPr>
          <p:nvPr/>
        </p:nvPicPr>
        <p:blipFill>
          <a:blip r:embed="rId4"/>
          <a:stretch>
            <a:fillRect/>
          </a:stretch>
        </p:blipFill>
        <p:spPr>
          <a:xfrm>
            <a:off x="8259445" y="1453515"/>
            <a:ext cx="3253740" cy="4381500"/>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797979"/>
      </a:dk2>
      <a:lt2>
        <a:srgbClr val="43B4E3"/>
      </a:lt2>
      <a:accent1>
        <a:srgbClr val="0070C0"/>
      </a:accent1>
      <a:accent2>
        <a:srgbClr val="CECECE"/>
      </a:accent2>
      <a:accent3>
        <a:srgbClr val="329FD1"/>
      </a:accent3>
      <a:accent4>
        <a:srgbClr val="CECECE"/>
      </a:accent4>
      <a:accent5>
        <a:srgbClr val="0070C0"/>
      </a:accent5>
      <a:accent6>
        <a:srgbClr val="CECECE"/>
      </a:accent6>
      <a:hlink>
        <a:srgbClr val="169EBE"/>
      </a:hlink>
      <a:folHlink>
        <a:srgbClr val="0070C0"/>
      </a:folHlink>
    </a:clrScheme>
    <a:fontScheme name="自定义 2">
      <a:majorFont>
        <a:latin typeface="Agency FB"/>
        <a:ea typeface="微软雅黑"/>
        <a:cs typeface=""/>
      </a:majorFont>
      <a:minorFont>
        <a:latin typeface="Agency FB"/>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1153</TotalTime>
  <Words>1147</Words>
  <Application>WPS 演示</Application>
  <PresentationFormat>自定义</PresentationFormat>
  <Paragraphs>87</Paragraphs>
  <Slides>38</Slides>
  <Notes>0</Notes>
  <HiddenSlides>0</HiddenSlides>
  <MMClips>0</MMClips>
  <ScaleCrop>false</ScaleCrop>
  <HeadingPairs>
    <vt:vector size="4" baseType="variant">
      <vt:variant>
        <vt:lpstr>主题</vt:lpstr>
      </vt:variant>
      <vt:variant>
        <vt:i4>1</vt:i4>
      </vt:variant>
      <vt:variant>
        <vt:lpstr>幻灯片标题</vt:lpstr>
      </vt:variant>
      <vt:variant>
        <vt:i4>38</vt:i4>
      </vt:variant>
    </vt:vector>
  </HeadingPairs>
  <TitlesOfParts>
    <vt:vector size="39" baseType="lpstr">
      <vt:lpstr>Office 主题</vt:lpstr>
      <vt:lpstr>Chapter 21 ELECTROMAGNETIC INDUCTION</vt:lpstr>
      <vt:lpstr>Goals for chapter 21</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小鹿PPT；http://pptx.taobao.com</dc:title>
  <dc:creator>小鹿PPT;http://pptx.taobao.com</dc:creator>
  <dc:description>小鹿PPT；http://pptx.taobao.com</dc:description>
  <cp:lastModifiedBy>admin</cp:lastModifiedBy>
  <cp:revision>335</cp:revision>
  <dcterms:created xsi:type="dcterms:W3CDTF">2017-07-11T01:33:00Z</dcterms:created>
  <dcterms:modified xsi:type="dcterms:W3CDTF">2022-10-23T08:39:15Z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511B486CD6784BCBA124DFD4497BA293</vt:lpwstr>
  </property>
  <property fmtid="{D5CDD505-2E9C-101B-9397-08002B2CF9AE}" pid="3" name="KSOProductBuildVer">
    <vt:lpwstr>2052-11.1.0.11045</vt:lpwstr>
  </property>
</Properties>
</file>