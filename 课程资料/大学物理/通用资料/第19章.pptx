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7"/>
  </p:notesMasterIdLst>
  <p:sldIdLst>
    <p:sldId id="280" r:id="rId3"/>
    <p:sldId id="284" r:id="rId4"/>
    <p:sldId id="282" r:id="rId5"/>
    <p:sldId id="285" r:id="rId6"/>
    <p:sldId id="286" r:id="rId7"/>
    <p:sldId id="287" r:id="rId8"/>
    <p:sldId id="288" r:id="rId9"/>
    <p:sldId id="302" r:id="rId10"/>
    <p:sldId id="289" r:id="rId11"/>
    <p:sldId id="290" r:id="rId12"/>
    <p:sldId id="292" r:id="rId13"/>
    <p:sldId id="293" r:id="rId14"/>
    <p:sldId id="323" r:id="rId15"/>
    <p:sldId id="303" r:id="rId16"/>
    <p:sldId id="304" r:id="rId17"/>
    <p:sldId id="324" r:id="rId18"/>
    <p:sldId id="295" r:id="rId19"/>
    <p:sldId id="325" r:id="rId20"/>
    <p:sldId id="326" r:id="rId21"/>
    <p:sldId id="294" r:id="rId22"/>
    <p:sldId id="327" r:id="rId23"/>
    <p:sldId id="328" r:id="rId24"/>
    <p:sldId id="329" r:id="rId25"/>
    <p:sldId id="306" r:id="rId26"/>
    <p:sldId id="330" r:id="rId27"/>
    <p:sldId id="331" r:id="rId28"/>
    <p:sldId id="296" r:id="rId29"/>
    <p:sldId id="297" r:id="rId30"/>
    <p:sldId id="298" r:id="rId31"/>
    <p:sldId id="332" r:id="rId32"/>
    <p:sldId id="333" r:id="rId33"/>
    <p:sldId id="299" r:id="rId34"/>
    <p:sldId id="307" r:id="rId35"/>
    <p:sldId id="300" r:id="rId36"/>
  </p:sldIdLst>
  <p:sldSz cx="12192000" cy="6858000"/>
  <p:notesSz cx="6858000" cy="9144000"/>
  <p:custDataLst>
    <p:tags r:id="rId41"/>
  </p:custDataLst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gency FB" panose="020B0503020202020204" pitchFamily="34" charset="0"/>
        <a:ea typeface="微软雅黑" panose="020B0503020204020204" pitchFamily="34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gency FB" panose="020B0503020202020204" pitchFamily="34" charset="0"/>
        <a:ea typeface="微软雅黑" panose="020B0503020204020204" pitchFamily="34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gency FB" panose="020B0503020202020204" pitchFamily="34" charset="0"/>
        <a:ea typeface="微软雅黑" panose="020B0503020204020204" pitchFamily="34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gency FB" panose="020B0503020202020204" pitchFamily="34" charset="0"/>
        <a:ea typeface="微软雅黑" panose="020B0503020204020204" pitchFamily="34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gency FB" panose="020B0503020202020204" pitchFamily="34" charset="0"/>
        <a:ea typeface="微软雅黑" panose="020B0503020204020204" pitchFamily="34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gency FB" panose="020B0503020202020204" pitchFamily="34" charset="0"/>
        <a:ea typeface="微软雅黑" panose="020B0503020204020204" pitchFamily="34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gency FB" panose="020B0503020202020204" pitchFamily="34" charset="0"/>
        <a:ea typeface="微软雅黑" panose="020B0503020204020204" pitchFamily="34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gency FB" panose="020B0503020202020204" pitchFamily="34" charset="0"/>
        <a:ea typeface="微软雅黑" panose="020B0503020204020204" pitchFamily="34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gency FB" panose="020B0503020202020204" pitchFamily="34" charset="0"/>
        <a:ea typeface="微软雅黑" panose="020B0503020204020204" pitchFamily="34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7FA3"/>
    <a:srgbClr val="437D6B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8" d="100"/>
          <a:sy n="68" d="100"/>
        </p:scale>
        <p:origin x="616" y="48"/>
      </p:cViewPr>
      <p:guideLst>
        <p:guide orient="horz" pos="455"/>
        <p:guide pos="543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1" Type="http://schemas.openxmlformats.org/officeDocument/2006/relationships/tags" Target="tags/tag1.xml"/><Relationship Id="rId40" Type="http://schemas.openxmlformats.org/officeDocument/2006/relationships/tableStyles" Target="tableStyles.xml"/><Relationship Id="rId4" Type="http://schemas.openxmlformats.org/officeDocument/2006/relationships/slide" Target="slides/slide2.xml"/><Relationship Id="rId39" Type="http://schemas.openxmlformats.org/officeDocument/2006/relationships/viewProps" Target="viewProps.xml"/><Relationship Id="rId38" Type="http://schemas.openxmlformats.org/officeDocument/2006/relationships/presProps" Target="presProps.xml"/><Relationship Id="rId37" Type="http://schemas.openxmlformats.org/officeDocument/2006/relationships/notesMaster" Target="notesMasters/notesMaster1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ea typeface="+mn-ea"/>
              </a:defRPr>
            </a:lvl1pPr>
          </a:lstStyle>
          <a:p>
            <a:pPr>
              <a:defRPr/>
            </a:pPr>
            <a:fld id="{FB3608A3-4DDF-458B-AC15-D0B4B1198D89}" type="datetimeFigureOut">
              <a:rPr lang="zh-CN" altLang="en-US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/>
              <a:t>单击此处编辑母版文本样式</a:t>
            </a:r>
            <a:endParaRPr lang="zh-CN" altLang="en-US" noProof="0"/>
          </a:p>
          <a:p>
            <a:pPr lvl="1"/>
            <a:r>
              <a:rPr lang="zh-CN" altLang="en-US" noProof="0"/>
              <a:t>第二级</a:t>
            </a:r>
            <a:endParaRPr lang="zh-CN" altLang="en-US" noProof="0"/>
          </a:p>
          <a:p>
            <a:pPr lvl="2"/>
            <a:r>
              <a:rPr lang="zh-CN" altLang="en-US" noProof="0"/>
              <a:t>第三级</a:t>
            </a:r>
            <a:endParaRPr lang="zh-CN" altLang="en-US" noProof="0"/>
          </a:p>
          <a:p>
            <a:pPr lvl="3"/>
            <a:r>
              <a:rPr lang="zh-CN" altLang="en-US" noProof="0"/>
              <a:t>第四级</a:t>
            </a:r>
            <a:endParaRPr lang="zh-CN" altLang="en-US" noProof="0"/>
          </a:p>
          <a:p>
            <a:pPr lvl="4"/>
            <a:r>
              <a:rPr lang="zh-CN" altLang="en-US" noProof="0"/>
              <a:t>第五级</a:t>
            </a:r>
            <a:endParaRPr lang="zh-CN" altLang="en-US" noProof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ea typeface="+mn-ea"/>
              </a:defRPr>
            </a:lvl1pPr>
          </a:lstStyle>
          <a:p>
            <a:pPr>
              <a:defRPr/>
            </a:pPr>
            <a:fld id="{E438541B-34D3-47AC-808A-6924AA365441}" type="slidenum">
              <a:rPr lang="zh-CN" altLang="en-US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460D9FD-B979-4686-8E7B-DCFDC217AC2C}" type="datetimeFigureOut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2C84F8D-36B9-4587-BC54-546E9400915D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1D75158-C32C-4FA4-864D-E9D1031DEE38}" type="datetimeFigureOut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FB5D768-0A50-4012-8AD8-D2511D1EA8D1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7BE2F43-5307-4145-A269-5325A0117886}" type="datetimeFigureOut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04EAF96-6476-4F03-B5AB-96AB3B61D002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3B8C8F8-9C16-4443-A69E-0CE0A5E7E5E1}" type="datetimeFigureOut">
              <a:rPr lang="zh-CN" altLang="en-US"/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A14347-F67C-402C-ABA6-6BB31F6234E1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83DA738-9825-4EB5-9574-7AEF58453A72}" type="datetimeFigureOut">
              <a:rPr lang="zh-CN" altLang="en-US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74C6ED6-C021-4800-A003-FCA3F9A90B6D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1D33ED9-87F4-4DDD-9600-59BDBA28F7F4}" type="datetimeFigureOut">
              <a:rPr lang="zh-CN" altLang="en-US"/>
            </a:fld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403E43D-2505-4F0D-9202-AB677BD0754C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464656-3BCB-49B1-821F-047AA03CA5A1}" type="datetimeFigureOut">
              <a:rPr lang="zh-CN" altLang="en-US"/>
            </a:fld>
            <a:endParaRPr lang="zh-CN" altLang="en-US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B484E40-AE60-4604-9CAD-BAF6392887A8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9DEF82-0B93-4019-8527-2F3393AB6730}" type="datetimeFigureOut">
              <a:rPr lang="zh-CN" altLang="en-US"/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38365D5-9437-41F6-97B3-2A8713B7E634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A6ED671-29A7-416D-A19B-6097F828CAF7}" type="datetimeFigureOut">
              <a:rPr lang="zh-CN" altLang="en-US"/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B4CB6B6-599C-4FDA-BAA8-6ECAF8C2C524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F28FB92-4101-4B45-A4D2-E8497CD0443D}" type="datetimeFigureOut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850F3E5-C849-4386-A40F-F48F24485892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5443DE8-1959-48B3-8C15-FFC537504E66}" type="datetimeFigureOut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799C4BC-C0F8-4772-BF5A-E93B73D8571A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文本占位符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49BD3E94-727E-4401-AA1F-9E4D1E1EB161}" type="datetimeFigureOut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D721C8D7-BF34-49E2-9A49-2638587F14BD}" type="slidenum">
              <a:rPr lang="zh-CN" altLang="en-US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rtl="0" fontAlgn="base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gency FB" panose="020B0503020202020204" pitchFamily="34" charset="0"/>
          <a:ea typeface="微软雅黑" panose="020B0503020204020204" pitchFamily="34" charset="-122"/>
        </a:defRPr>
      </a:lvl2pPr>
      <a:lvl3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gency FB" panose="020B0503020202020204" pitchFamily="34" charset="0"/>
          <a:ea typeface="微软雅黑" panose="020B0503020204020204" pitchFamily="34" charset="-122"/>
        </a:defRPr>
      </a:lvl3pPr>
      <a:lvl4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gency FB" panose="020B0503020202020204" pitchFamily="34" charset="0"/>
          <a:ea typeface="微软雅黑" panose="020B0503020204020204" pitchFamily="34" charset="-122"/>
        </a:defRPr>
      </a:lvl4pPr>
      <a:lvl5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gency FB" panose="020B0503020202020204" pitchFamily="34" charset="0"/>
          <a:ea typeface="微软雅黑" panose="020B0503020204020204" pitchFamily="34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gency FB" panose="020B0503020202020204" pitchFamily="34" charset="0"/>
          <a:ea typeface="微软雅黑" panose="020B0503020204020204" pitchFamily="34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gency FB" panose="020B0503020202020204" pitchFamily="34" charset="0"/>
          <a:ea typeface="微软雅黑" panose="020B0503020204020204" pitchFamily="34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gency FB" panose="020B0503020202020204" pitchFamily="34" charset="0"/>
          <a:ea typeface="微软雅黑" panose="020B0503020204020204" pitchFamily="34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gency FB" panose="020B0503020202020204" pitchFamily="34" charset="0"/>
          <a:ea typeface="微软雅黑" panose="020B0503020204020204" pitchFamily="34" charset="-122"/>
        </a:defRPr>
      </a:lvl9pPr>
    </p:titleStyle>
    <p:bodyStyle>
      <a:lvl1pPr marL="228600" indent="-228600" algn="l" rtl="0" fontAlgn="base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0.png"/><Relationship Id="rId1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2.png"/><Relationship Id="rId1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3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4.png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image" Target="../media/image33.png"/><Relationship Id="rId8" Type="http://schemas.openxmlformats.org/officeDocument/2006/relationships/image" Target="../media/image32.png"/><Relationship Id="rId7" Type="http://schemas.openxmlformats.org/officeDocument/2006/relationships/image" Target="../media/image31.png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0" Type="http://schemas.openxmlformats.org/officeDocument/2006/relationships/slideLayout" Target="../slideLayouts/slideLayout2.xml"/><Relationship Id="rId1" Type="http://schemas.openxmlformats.org/officeDocument/2006/relationships/image" Target="../media/image25.png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41.png"/><Relationship Id="rId7" Type="http://schemas.openxmlformats.org/officeDocument/2006/relationships/image" Target="../media/image40.png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image" Target="../media/image34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4.png"/><Relationship Id="rId1" Type="http://schemas.openxmlformats.org/officeDocument/2006/relationships/image" Target="../media/image43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5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6.png"/></Relationships>
</file>

<file path=ppt/slides/_rels/slide20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52.png"/><Relationship Id="rId5" Type="http://schemas.openxmlformats.org/officeDocument/2006/relationships/image" Target="../media/image51.png"/><Relationship Id="rId4" Type="http://schemas.openxmlformats.org/officeDocument/2006/relationships/image" Target="../media/image50.png"/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image" Target="../media/image47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3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4.png"/></Relationships>
</file>

<file path=ppt/slides/_rels/slide23.xml.rels><?xml version="1.0" encoding="UTF-8" standalone="yes"?>
<Relationships xmlns="http://schemas.openxmlformats.org/package/2006/relationships"><Relationship Id="rId9" Type="http://schemas.openxmlformats.org/officeDocument/2006/relationships/image" Target="../media/image63.png"/><Relationship Id="rId8" Type="http://schemas.openxmlformats.org/officeDocument/2006/relationships/image" Target="../media/image62.png"/><Relationship Id="rId7" Type="http://schemas.openxmlformats.org/officeDocument/2006/relationships/image" Target="../media/image61.png"/><Relationship Id="rId6" Type="http://schemas.openxmlformats.org/officeDocument/2006/relationships/image" Target="../media/image60.png"/><Relationship Id="rId5" Type="http://schemas.openxmlformats.org/officeDocument/2006/relationships/image" Target="../media/image59.png"/><Relationship Id="rId4" Type="http://schemas.openxmlformats.org/officeDocument/2006/relationships/image" Target="../media/image58.png"/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0" Type="http://schemas.openxmlformats.org/officeDocument/2006/relationships/slideLayout" Target="../slideLayouts/slideLayout2.xml"/><Relationship Id="rId1" Type="http://schemas.openxmlformats.org/officeDocument/2006/relationships/image" Target="../media/image55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4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5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6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7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74.png"/><Relationship Id="rId6" Type="http://schemas.openxmlformats.org/officeDocument/2006/relationships/image" Target="../media/image73.png"/><Relationship Id="rId5" Type="http://schemas.openxmlformats.org/officeDocument/2006/relationships/image" Target="../media/image72.png"/><Relationship Id="rId4" Type="http://schemas.openxmlformats.org/officeDocument/2006/relationships/image" Target="../media/image71.png"/><Relationship Id="rId3" Type="http://schemas.openxmlformats.org/officeDocument/2006/relationships/image" Target="../media/image70.png"/><Relationship Id="rId2" Type="http://schemas.openxmlformats.org/officeDocument/2006/relationships/image" Target="../media/image69.png"/><Relationship Id="rId1" Type="http://schemas.openxmlformats.org/officeDocument/2006/relationships/image" Target="../media/image68.png"/></Relationships>
</file>

<file path=ppt/slides/_rels/slide29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80.png"/><Relationship Id="rId5" Type="http://schemas.openxmlformats.org/officeDocument/2006/relationships/image" Target="../media/image79.png"/><Relationship Id="rId4" Type="http://schemas.openxmlformats.org/officeDocument/2006/relationships/image" Target="../media/image78.png"/><Relationship Id="rId3" Type="http://schemas.openxmlformats.org/officeDocument/2006/relationships/image" Target="../media/image77.png"/><Relationship Id="rId2" Type="http://schemas.openxmlformats.org/officeDocument/2006/relationships/image" Target="../media/image76.png"/><Relationship Id="rId1" Type="http://schemas.openxmlformats.org/officeDocument/2006/relationships/image" Target="../media/image75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1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2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84.png"/><Relationship Id="rId1" Type="http://schemas.openxmlformats.org/officeDocument/2006/relationships/image" Target="../media/image83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5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87.png"/><Relationship Id="rId1" Type="http://schemas.openxmlformats.org/officeDocument/2006/relationships/image" Target="../media/image8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内容占位符 2"/>
          <p:cNvSpPr>
            <a:spLocks noGrp="1" noChangeArrowheads="1"/>
          </p:cNvSpPr>
          <p:nvPr>
            <p:ph idx="1"/>
          </p:nvPr>
        </p:nvSpPr>
        <p:spPr>
          <a:xfrm>
            <a:off x="1423448" y="1825625"/>
            <a:ext cx="9605912" cy="4351338"/>
          </a:xfrm>
        </p:spPr>
        <p:txBody>
          <a:bodyPr/>
          <a:lstStyle/>
          <a:p>
            <a:pPr marL="0" indent="0">
              <a:lnSpc>
                <a:spcPct val="100000"/>
              </a:lnSpc>
              <a:buClr>
                <a:srgbClr val="007FA3"/>
              </a:buClr>
              <a:buNone/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19.1 Magnetism</a:t>
            </a: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00000"/>
              </a:lnSpc>
              <a:buClr>
                <a:srgbClr val="007FA3"/>
              </a:buClr>
              <a:buNone/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19.2 Magnetic Field</a:t>
            </a: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00000"/>
              </a:lnSpc>
              <a:buClr>
                <a:srgbClr val="007FA3"/>
              </a:buClr>
              <a:buNone/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19.3 Magnetic Field Lines and Magnetic Flux</a:t>
            </a: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00000"/>
              </a:lnSpc>
              <a:buClr>
                <a:srgbClr val="007FA3"/>
              </a:buClr>
              <a:buNone/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19.4 Motion of Charged Particles in a Magnetic Field</a:t>
            </a: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00000"/>
              </a:lnSpc>
              <a:buClr>
                <a:srgbClr val="007FA3"/>
              </a:buClr>
              <a:buNone/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19.5 Applications of Motion of Charged Particles</a:t>
            </a: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00000"/>
              </a:lnSpc>
              <a:buClr>
                <a:srgbClr val="007FA3"/>
              </a:buClr>
              <a:buNone/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19.6 Magnetic Force on a Current-Carrying Conductor</a:t>
            </a: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00000"/>
              </a:lnSpc>
              <a:buClr>
                <a:srgbClr val="007FA3"/>
              </a:buClr>
              <a:buNone/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19.7 Force and Torque on a Current Loop</a:t>
            </a: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00000"/>
              </a:lnSpc>
              <a:buClr>
                <a:srgbClr val="007FA3"/>
              </a:buClr>
              <a:buNone/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19.8 The Hall Effect</a:t>
            </a: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title"/>
          </p:nvPr>
        </p:nvSpPr>
        <p:spPr>
          <a:xfrm>
            <a:off x="952107" y="500062"/>
            <a:ext cx="10077253" cy="1325563"/>
          </a:xfrm>
        </p:spPr>
        <p:txBody>
          <a:bodyPr rtlCol="0">
            <a:normAutofit/>
          </a:bodyPr>
          <a:lstStyle/>
          <a:p>
            <a:pPr algn="ctr" fontAlgn="auto">
              <a:spcAft>
                <a:spcPts val="0"/>
              </a:spcAft>
              <a:defRPr/>
            </a:pPr>
            <a:r>
              <a:rPr lang="en-IN" sz="4000" b="1" dirty="0">
                <a:solidFill>
                  <a:srgbClr val="007FA3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Chapter 1</a:t>
            </a:r>
            <a:r>
              <a:rPr lang="en-US" altLang="en-IN" sz="4000" b="1" dirty="0">
                <a:solidFill>
                  <a:srgbClr val="007FA3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9</a:t>
            </a:r>
            <a:r>
              <a:rPr lang="en-IN" sz="4000" b="1" dirty="0">
                <a:solidFill>
                  <a:srgbClr val="007FA3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MAGNETIC FIELD AND</a:t>
            </a:r>
            <a:br>
              <a:rPr lang="en-IN" sz="4000" b="1" dirty="0">
                <a:solidFill>
                  <a:srgbClr val="007FA3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</a:br>
            <a:r>
              <a:rPr lang="en-IN" sz="4000" b="1" dirty="0">
                <a:solidFill>
                  <a:srgbClr val="007FA3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MAGNETIC FORCES</a:t>
            </a:r>
            <a:endParaRPr lang="en-IN" sz="4000" b="1" dirty="0">
              <a:solidFill>
                <a:srgbClr val="007FA3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标题 1"/>
          <p:cNvSpPr>
            <a:spLocks noGrp="1" noChangeArrowheads="1"/>
          </p:cNvSpPr>
          <p:nvPr>
            <p:ph type="title"/>
          </p:nvPr>
        </p:nvSpPr>
        <p:spPr>
          <a:xfrm>
            <a:off x="986473" y="0"/>
            <a:ext cx="10218737" cy="1325563"/>
          </a:xfrm>
        </p:spPr>
        <p:txBody>
          <a:bodyPr/>
          <a:lstStyle/>
          <a:p>
            <a:r>
              <a:rPr lang="en-US" altLang="zh-CN" sz="3600" b="1" dirty="0">
                <a:solidFill>
                  <a:srgbClr val="007FA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Goals for chapter 19</a:t>
            </a:r>
            <a:endParaRPr lang="zh-CN" altLang="en-US" sz="3600" b="1" dirty="0">
              <a:solidFill>
                <a:srgbClr val="007FA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049338" y="827004"/>
            <a:ext cx="10290224" cy="60312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100000"/>
              </a:lnSpc>
              <a:spcBef>
                <a:spcPts val="1000"/>
              </a:spcBef>
              <a:buClr>
                <a:srgbClr val="007FA3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en-US" altLang="zh-CN" sz="2800" dirty="0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The properties of magnets, and how magnets interact with each other.</a:t>
            </a:r>
            <a:endParaRPr lang="en-US" altLang="zh-CN" sz="2800" dirty="0"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228600" indent="-228600">
              <a:lnSpc>
                <a:spcPct val="100000"/>
              </a:lnSpc>
              <a:spcBef>
                <a:spcPts val="1000"/>
              </a:spcBef>
              <a:buClr>
                <a:srgbClr val="007FA3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en-US" altLang="zh-CN" sz="2800" dirty="0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The nature of the force that a moving charged particl experiences in a magnetic field.</a:t>
            </a:r>
            <a:endParaRPr lang="en-US" altLang="zh-CN" sz="2800" dirty="0"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228600" indent="-228600">
              <a:lnSpc>
                <a:spcPct val="100000"/>
              </a:lnSpc>
              <a:spcBef>
                <a:spcPts val="1000"/>
              </a:spcBef>
              <a:buClr>
                <a:srgbClr val="007FA3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en-US" altLang="zh-CN" sz="2800" dirty="0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How magnetic field lines are different from electric field lines.</a:t>
            </a:r>
            <a:endParaRPr lang="en-US" altLang="zh-CN" sz="2800" dirty="0"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228600" indent="-228600">
              <a:lnSpc>
                <a:spcPct val="100000"/>
              </a:lnSpc>
              <a:spcBef>
                <a:spcPts val="1000"/>
              </a:spcBef>
              <a:buClr>
                <a:srgbClr val="007FA3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en-US" altLang="zh-CN" sz="2800" dirty="0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How to analyze the motion of a charged particle in a magnetic field.</a:t>
            </a:r>
            <a:endParaRPr lang="en-US" altLang="zh-CN" sz="2800" dirty="0"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228600" indent="-228600">
              <a:lnSpc>
                <a:spcPct val="100000"/>
              </a:lnSpc>
              <a:spcBef>
                <a:spcPts val="1000"/>
              </a:spcBef>
              <a:buClr>
                <a:srgbClr val="007FA3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en-US" altLang="zh-CN" sz="2800" dirty="0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Some practical applications of magnetic fields in chemistry and physics.</a:t>
            </a:r>
            <a:endParaRPr lang="en-US" altLang="zh-CN" sz="2800" dirty="0"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228600" indent="-228600">
              <a:lnSpc>
                <a:spcPct val="100000"/>
              </a:lnSpc>
              <a:spcBef>
                <a:spcPts val="1000"/>
              </a:spcBef>
              <a:buClr>
                <a:srgbClr val="007FA3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en-US" altLang="zh-CN" sz="2800" dirty="0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How to analyze magnetic forces oncurrent-carrying conductors.</a:t>
            </a:r>
            <a:endParaRPr lang="en-US" altLang="zh-CN" sz="2800" dirty="0"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228600" indent="-228600">
              <a:lnSpc>
                <a:spcPct val="100000"/>
              </a:lnSpc>
              <a:spcBef>
                <a:spcPts val="1000"/>
              </a:spcBef>
              <a:buClr>
                <a:srgbClr val="007FA3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en-US" altLang="zh-CN" sz="2800" dirty="0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How current loops behave when placed in a magnetic field</a:t>
            </a:r>
            <a:endParaRPr lang="en-US" altLang="zh-CN" sz="2800" dirty="0"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/>
          <p:cNvSpPr txBox="1">
            <a:spLocks noChangeArrowheads="1"/>
          </p:cNvSpPr>
          <p:nvPr/>
        </p:nvSpPr>
        <p:spPr bwMode="auto">
          <a:xfrm>
            <a:off x="1111250" y="455613"/>
            <a:ext cx="8229600" cy="1096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gency FB" panose="020B0503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gency FB" panose="020B0503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gency FB" panose="020B0503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gency FB" panose="020B0503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gency FB" panose="020B0503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gency FB" panose="020B0503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gency FB" panose="020B0503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gency FB" panose="020B0503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gency FB" panose="020B050302020202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lnSpc>
                <a:spcPct val="90000"/>
              </a:lnSpc>
            </a:pPr>
            <a:r>
              <a:rPr lang="en-US" altLang="en-US" sz="3600" b="1" dirty="0">
                <a:solidFill>
                  <a:srgbClr val="007FA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Introduction</a:t>
            </a:r>
            <a:endParaRPr lang="en-US" altLang="zh-CN" sz="3600" b="1" dirty="0">
              <a:solidFill>
                <a:srgbClr val="007FA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1111250" y="1421876"/>
            <a:ext cx="9465624" cy="22507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228600" indent="-228600" algn="l" rtl="0" fontAlgn="base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5905" lvl="1" indent="-255905">
              <a:spcBef>
                <a:spcPts val="1000"/>
              </a:spcBef>
              <a:buClr>
                <a:srgbClr val="007FA3"/>
              </a:buClr>
              <a:buSzPct val="100000"/>
              <a:defRPr/>
            </a:pPr>
            <a:r>
              <a:rPr lang="en-US" altLang="zh-CN" sz="26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Magnetic resonance imaging (MRI) makes it possible to see details of soft tis- sue (such as in the foot shown here) that aren’t visible in x-ray images. Yet soft tissue isn’t a magnetic material (it’s not attracted to a magnet). How does MRI work?</a:t>
            </a:r>
            <a:endParaRPr lang="en-US" altLang="zh-CN" sz="2600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12920" y="3055620"/>
            <a:ext cx="4486910" cy="320611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/>
          <p:cNvSpPr txBox="1">
            <a:spLocks noChangeArrowheads="1"/>
          </p:cNvSpPr>
          <p:nvPr/>
        </p:nvSpPr>
        <p:spPr bwMode="auto">
          <a:xfrm>
            <a:off x="1111250" y="455613"/>
            <a:ext cx="8229600" cy="1096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gency FB" panose="020B0503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gency FB" panose="020B0503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gency FB" panose="020B0503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gency FB" panose="020B0503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gency FB" panose="020B0503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gency FB" panose="020B0503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gency FB" panose="020B0503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gency FB" panose="020B0503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gency FB" panose="020B050302020202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lnSpc>
                <a:spcPct val="90000"/>
              </a:lnSpc>
            </a:pPr>
            <a:r>
              <a:rPr lang="en-US" altLang="zh-CN" sz="3600" b="1" dirty="0">
                <a:solidFill>
                  <a:srgbClr val="007FA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19.1 Magnetism</a:t>
            </a:r>
            <a:endParaRPr lang="en-US" altLang="zh-CN" sz="3600" b="1" dirty="0">
              <a:solidFill>
                <a:srgbClr val="007FA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9445" y="1249680"/>
            <a:ext cx="3830320" cy="518858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2020" y="1822450"/>
            <a:ext cx="3372485" cy="371729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6295" y="1318895"/>
            <a:ext cx="3070860" cy="4724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90850" y="479425"/>
            <a:ext cx="6210300" cy="537972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/>
          <p:cNvSpPr txBox="1">
            <a:spLocks noChangeArrowheads="1"/>
          </p:cNvSpPr>
          <p:nvPr/>
        </p:nvSpPr>
        <p:spPr bwMode="auto">
          <a:xfrm>
            <a:off x="1111249" y="267338"/>
            <a:ext cx="10455439" cy="1096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gency FB" panose="020B0503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gency FB" panose="020B0503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gency FB" panose="020B0503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gency FB" panose="020B0503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gency FB" panose="020B0503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gency FB" panose="020B0503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gency FB" panose="020B0503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gency FB" panose="020B0503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gency FB" panose="020B050302020202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lnSpc>
                <a:spcPct val="90000"/>
              </a:lnSpc>
            </a:pPr>
            <a:r>
              <a:rPr lang="en-US" altLang="zh-CN" sz="3600" b="1" dirty="0">
                <a:solidFill>
                  <a:srgbClr val="007FA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Magnetic Poles Versus Electric Charge</a:t>
            </a:r>
            <a:endParaRPr lang="en-US" altLang="zh-CN" sz="3600" b="1" dirty="0">
              <a:solidFill>
                <a:srgbClr val="007FA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816610" y="1165860"/>
            <a:ext cx="11131550" cy="28308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228600" indent="-228600" algn="l" rtl="0" fontAlgn="base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5905" lvl="1" indent="-255905">
              <a:spcBef>
                <a:spcPts val="1000"/>
              </a:spcBef>
              <a:buClr>
                <a:srgbClr val="007FA3"/>
              </a:buClr>
              <a:buSzPct val="100000"/>
              <a:defRPr/>
            </a:pPr>
            <a:r>
              <a:rPr lang="en-US" altLang="zh-CN" sz="26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The existence of an isolated magnetic pole, or magnetic monopole, would have sweeping implications for theoretical physics</a:t>
            </a:r>
            <a:endParaRPr lang="en-US" altLang="zh-CN" sz="260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255905" lvl="1" indent="-255905">
              <a:spcBef>
                <a:spcPts val="1000"/>
              </a:spcBef>
              <a:buClr>
                <a:srgbClr val="007FA3"/>
              </a:buClr>
              <a:buSzPct val="100000"/>
              <a:defRPr/>
            </a:pPr>
            <a:endParaRPr lang="en-US" altLang="zh-CN" sz="2600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255905" lvl="1" indent="-255905">
              <a:spcBef>
                <a:spcPts val="1000"/>
              </a:spcBef>
              <a:buClr>
                <a:srgbClr val="007FA3"/>
              </a:buClr>
              <a:buSzPct val="100000"/>
              <a:defRPr/>
            </a:pPr>
            <a:endParaRPr lang="en-US" altLang="zh-CN" sz="2600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28850" y="2134235"/>
            <a:ext cx="3783330" cy="419989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9775" y="1861820"/>
            <a:ext cx="2779395" cy="49961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/>
          <p:cNvSpPr txBox="1">
            <a:spLocks noChangeArrowheads="1"/>
          </p:cNvSpPr>
          <p:nvPr/>
        </p:nvSpPr>
        <p:spPr bwMode="auto">
          <a:xfrm>
            <a:off x="1111249" y="267338"/>
            <a:ext cx="10455439" cy="1096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gency FB" panose="020B0503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gency FB" panose="020B0503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gency FB" panose="020B0503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gency FB" panose="020B0503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gency FB" panose="020B0503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gency FB" panose="020B0503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gency FB" panose="020B0503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gency FB" panose="020B0503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gency FB" panose="020B050302020202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lnSpc>
                <a:spcPct val="90000"/>
              </a:lnSpc>
            </a:pPr>
            <a:r>
              <a:rPr lang="en-US" altLang="zh-CN" sz="3600" b="1" dirty="0">
                <a:solidFill>
                  <a:srgbClr val="007FA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19.2 Magnetic Field </a:t>
            </a:r>
            <a:endParaRPr lang="en-US" altLang="zh-CN" sz="3600" b="1" dirty="0">
              <a:solidFill>
                <a:srgbClr val="007FA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1111249" y="1271195"/>
            <a:ext cx="9334659" cy="21578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228600" indent="-228600" algn="l" rtl="0" fontAlgn="base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5905" lvl="1" indent="-255905">
              <a:spcBef>
                <a:spcPts val="1000"/>
              </a:spcBef>
              <a:buClr>
                <a:srgbClr val="007FA3"/>
              </a:buClr>
              <a:buSzPct val="100000"/>
              <a:defRPr/>
            </a:pPr>
            <a:r>
              <a:rPr lang="en-US" altLang="zh-CN" sz="26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Like electric field, magnetic field is a vector field—that is, a vector quantity associated with each point in space.</a:t>
            </a:r>
            <a:endParaRPr lang="en-US" altLang="zh-CN" sz="2600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255905" lvl="1" indent="-255905">
              <a:spcBef>
                <a:spcPts val="1000"/>
              </a:spcBef>
              <a:buClr>
                <a:srgbClr val="007FA3"/>
              </a:buClr>
              <a:buSzPct val="100000"/>
              <a:defRPr/>
            </a:pPr>
            <a:endParaRPr lang="en-US" altLang="zh-CN" sz="2600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8875" y="2229485"/>
            <a:ext cx="3865245" cy="367030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8720" y="2061210"/>
            <a:ext cx="3093720" cy="45186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66920" y="639445"/>
            <a:ext cx="2970530" cy="49657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3570" y="1318260"/>
            <a:ext cx="6677660" cy="61404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2225" y="2260600"/>
            <a:ext cx="9692640" cy="38252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17165" y="822325"/>
            <a:ext cx="1746885" cy="54546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4390" y="1584325"/>
            <a:ext cx="3415030" cy="48133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9490" y="101600"/>
            <a:ext cx="2945130" cy="347599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03220" y="2167255"/>
            <a:ext cx="1535430" cy="351155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80285" y="2725420"/>
            <a:ext cx="2781300" cy="498475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37640" y="3703955"/>
            <a:ext cx="8964295" cy="30200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/>
        </p:nvSpPr>
        <p:spPr>
          <a:xfrm>
            <a:off x="862330" y="173990"/>
            <a:ext cx="10972800" cy="1097280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400" b="1" kern="1200">
                <a:solidFill>
                  <a:srgbClr val="007FA3"/>
                </a:solidFill>
                <a:latin typeface="+mj-lt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36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Example 19.1           Magnetic force on a proton</a:t>
            </a:r>
            <a:endParaRPr lang="en-US" altLang="zh-CN" sz="3600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2040" y="1311275"/>
            <a:ext cx="10174605" cy="77851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2040" y="2130425"/>
            <a:ext cx="9486900" cy="435102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/>
          <p:cNvSpPr txBox="1">
            <a:spLocks noChangeArrowheads="1"/>
          </p:cNvSpPr>
          <p:nvPr/>
        </p:nvSpPr>
        <p:spPr bwMode="auto">
          <a:xfrm>
            <a:off x="1111250" y="267335"/>
            <a:ext cx="9906635" cy="10966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gency FB" panose="020B0503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gency FB" panose="020B0503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gency FB" panose="020B0503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gency FB" panose="020B0503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gency FB" panose="020B0503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gency FB" panose="020B0503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gency FB" panose="020B0503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gency FB" panose="020B0503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gency FB" panose="020B050302020202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lnSpc>
                <a:spcPct val="90000"/>
              </a:lnSpc>
            </a:pPr>
            <a:r>
              <a:rPr lang="en-US" altLang="zh-CN" sz="3600" b="1" dirty="0">
                <a:solidFill>
                  <a:srgbClr val="007FA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19.3 Magnetic Field Lines and Magnetic Flux</a:t>
            </a:r>
            <a:endParaRPr lang="en-US" altLang="zh-CN" sz="3600" b="1" dirty="0">
              <a:solidFill>
                <a:srgbClr val="007FA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1111249" y="1271196"/>
            <a:ext cx="9334659" cy="1197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228600" indent="-228600" algn="l" rtl="0" fontAlgn="base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5905" lvl="1" indent="-255905">
              <a:spcBef>
                <a:spcPts val="1000"/>
              </a:spcBef>
              <a:buClr>
                <a:srgbClr val="007FA3"/>
              </a:buClr>
              <a:buSzPct val="100000"/>
              <a:defRPr/>
            </a:pPr>
            <a:r>
              <a:rPr lang="en-US" altLang="zh-CN" sz="26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We can represent any magnetic field by magnetic field lines, just as we did for the earth’s magnetic field.</a:t>
            </a:r>
            <a:endParaRPr lang="en-US" altLang="zh-CN" sz="2600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255905" lvl="1" indent="-255905">
              <a:spcBef>
                <a:spcPts val="1000"/>
              </a:spcBef>
              <a:buClr>
                <a:srgbClr val="007FA3"/>
              </a:buClr>
              <a:buSzPct val="100000"/>
              <a:defRPr/>
            </a:pPr>
            <a:endParaRPr lang="en-US" altLang="zh-CN" sz="2600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17065" y="1986915"/>
            <a:ext cx="3093720" cy="416052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5435" y="1986915"/>
            <a:ext cx="2910840" cy="42900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/>
          <p:cNvSpPr txBox="1">
            <a:spLocks noChangeArrowheads="1"/>
          </p:cNvSpPr>
          <p:nvPr/>
        </p:nvSpPr>
        <p:spPr bwMode="auto">
          <a:xfrm>
            <a:off x="1111250" y="267335"/>
            <a:ext cx="10524490" cy="10966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gency FB" panose="020B0503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gency FB" panose="020B0503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gency FB" panose="020B0503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gency FB" panose="020B0503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gency FB" panose="020B0503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gency FB" panose="020B0503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gency FB" panose="020B0503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gency FB" panose="020B0503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gency FB" panose="020B050302020202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lnSpc>
                <a:spcPct val="90000"/>
              </a:lnSpc>
            </a:pPr>
            <a:r>
              <a:rPr lang="en-US" altLang="zh-CN" sz="3600" b="1" dirty="0">
                <a:solidFill>
                  <a:srgbClr val="007FA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Magnetic Flux and Gauss’s Law for Magnetism</a:t>
            </a:r>
            <a:endParaRPr lang="en-US" altLang="zh-CN" sz="3600" b="1" dirty="0">
              <a:solidFill>
                <a:srgbClr val="007FA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24050" y="1304290"/>
            <a:ext cx="8427720" cy="510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/>
          <p:cNvSpPr txBox="1">
            <a:spLocks noChangeArrowheads="1"/>
          </p:cNvSpPr>
          <p:nvPr/>
        </p:nvSpPr>
        <p:spPr bwMode="auto">
          <a:xfrm>
            <a:off x="1111250" y="267335"/>
            <a:ext cx="10524490" cy="10966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gency FB" panose="020B0503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gency FB" panose="020B0503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gency FB" panose="020B0503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gency FB" panose="020B0503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gency FB" panose="020B0503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gency FB" panose="020B0503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gency FB" panose="020B0503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gency FB" panose="020B0503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gency FB" panose="020B050302020202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lnSpc>
                <a:spcPct val="90000"/>
              </a:lnSpc>
            </a:pPr>
            <a:r>
              <a:rPr lang="en-US" altLang="zh-CN" sz="3600" b="1" dirty="0">
                <a:solidFill>
                  <a:srgbClr val="007FA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Magnetic Flux and Gauss’s Law for Magnetism</a:t>
            </a:r>
            <a:endParaRPr lang="en-US" altLang="zh-CN" sz="3600" b="1" dirty="0">
              <a:solidFill>
                <a:srgbClr val="007FA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1250" y="1840230"/>
            <a:ext cx="10156825" cy="33172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78915" y="694690"/>
            <a:ext cx="3782060" cy="42735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605" y="1203325"/>
            <a:ext cx="5807710" cy="70167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60600" y="1986280"/>
            <a:ext cx="2586355" cy="40449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92705" y="2602865"/>
            <a:ext cx="1688465" cy="37528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87295" y="3105785"/>
            <a:ext cx="1666875" cy="33718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01520" y="3676015"/>
            <a:ext cx="2870835" cy="32385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3285" y="4157980"/>
            <a:ext cx="6346825" cy="38862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58240" y="4929505"/>
            <a:ext cx="5059680" cy="56388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14590" y="1407160"/>
            <a:ext cx="4054475" cy="363410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3515" y="504825"/>
            <a:ext cx="7070725" cy="71628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3555" y="1489710"/>
            <a:ext cx="1962150" cy="64833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515" y="2617470"/>
            <a:ext cx="5141595" cy="66611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6080" y="3606165"/>
            <a:ext cx="2346960" cy="68834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91175" y="1066800"/>
            <a:ext cx="3185160" cy="472440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26170" y="301625"/>
            <a:ext cx="3009900" cy="302514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03640" y="3326765"/>
            <a:ext cx="2854325" cy="3384550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071370" y="4834255"/>
            <a:ext cx="1516380" cy="71437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/>
        </p:nvSpPr>
        <p:spPr>
          <a:xfrm>
            <a:off x="862330" y="173990"/>
            <a:ext cx="10972800" cy="1097280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400" b="1" kern="1200">
                <a:solidFill>
                  <a:srgbClr val="007FA3"/>
                </a:solidFill>
                <a:latin typeface="+mj-lt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36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Example 19.2           Magnetic flux calculations</a:t>
            </a:r>
            <a:endParaRPr lang="en-US" altLang="zh-CN" sz="3600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4410" y="1546860"/>
            <a:ext cx="10804525" cy="414909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/>
          <p:cNvSpPr txBox="1">
            <a:spLocks noChangeArrowheads="1"/>
          </p:cNvSpPr>
          <p:nvPr/>
        </p:nvSpPr>
        <p:spPr bwMode="auto">
          <a:xfrm>
            <a:off x="1111250" y="267335"/>
            <a:ext cx="10601325" cy="10966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gency FB" panose="020B0503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gency FB" panose="020B0503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gency FB" panose="020B0503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gency FB" panose="020B0503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gency FB" panose="020B0503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gency FB" panose="020B0503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gency FB" panose="020B0503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gency FB" panose="020B0503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gency FB" panose="020B050302020202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lnSpc>
                <a:spcPct val="90000"/>
              </a:lnSpc>
            </a:pPr>
            <a:r>
              <a:rPr lang="en-US" altLang="zh-CN" sz="3600" b="1" dirty="0">
                <a:solidFill>
                  <a:srgbClr val="007FA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Motion of Charged Particles in a Magnetic Field</a:t>
            </a:r>
            <a:endParaRPr lang="en-US" altLang="zh-CN" sz="3600" b="1" dirty="0">
              <a:solidFill>
                <a:srgbClr val="007FA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06270" y="1106170"/>
            <a:ext cx="8217535" cy="233108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8645" y="3399790"/>
            <a:ext cx="8566785" cy="340169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/>
        </p:nvSpPr>
        <p:spPr>
          <a:xfrm>
            <a:off x="862330" y="173990"/>
            <a:ext cx="11540490" cy="1097280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400" b="1" kern="1200">
                <a:solidFill>
                  <a:srgbClr val="007FA3"/>
                </a:solidFill>
                <a:latin typeface="+mj-lt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36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Example 19.3          Electron motion in a magnetron</a:t>
            </a:r>
            <a:endParaRPr lang="en-US" altLang="zh-CN" sz="3600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1495" y="2037080"/>
            <a:ext cx="11129010" cy="257238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/>
        </p:nvSpPr>
        <p:spPr>
          <a:xfrm>
            <a:off x="862330" y="173990"/>
            <a:ext cx="11540490" cy="1097280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400" b="1" kern="1200">
                <a:solidFill>
                  <a:srgbClr val="007FA3"/>
                </a:solidFill>
                <a:latin typeface="+mj-lt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36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Example 19.4          Helical particle motion in a magnetic field</a:t>
            </a:r>
            <a:endParaRPr lang="en-US" altLang="zh-CN" sz="3600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43530" y="1271270"/>
            <a:ext cx="8184515" cy="540829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/>
          <p:cNvSpPr txBox="1">
            <a:spLocks noChangeArrowheads="1"/>
          </p:cNvSpPr>
          <p:nvPr/>
        </p:nvSpPr>
        <p:spPr bwMode="auto">
          <a:xfrm>
            <a:off x="1111250" y="267335"/>
            <a:ext cx="10537825" cy="10966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gency FB" panose="020B0503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gency FB" panose="020B0503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gency FB" panose="020B0503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gency FB" panose="020B0503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gency FB" panose="020B0503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gency FB" panose="020B0503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gency FB" panose="020B0503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gency FB" panose="020B0503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gency FB" panose="020B050302020202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lnSpc>
                <a:spcPct val="90000"/>
              </a:lnSpc>
            </a:pPr>
            <a:r>
              <a:rPr lang="en-US" altLang="zh-CN" sz="3600" b="1" dirty="0">
                <a:solidFill>
                  <a:srgbClr val="007FA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19.5  Applications of Motion of Charged Particles</a:t>
            </a:r>
            <a:endParaRPr lang="en-US" altLang="zh-CN" sz="3600" b="1" dirty="0">
              <a:solidFill>
                <a:srgbClr val="007FA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1111249" y="1325172"/>
            <a:ext cx="9352504" cy="16257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228600" indent="-228600" algn="l" rtl="0" fontAlgn="base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5905" lvl="1" indent="-255905">
              <a:spcBef>
                <a:spcPts val="1000"/>
              </a:spcBef>
              <a:buClr>
                <a:srgbClr val="007FA3"/>
              </a:buClr>
              <a:buSzPct val="100000"/>
              <a:defRPr/>
            </a:pPr>
            <a:r>
              <a:rPr lang="en-US" altLang="zh-CN" sz="26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Velocity Selector</a:t>
            </a:r>
            <a:endParaRPr lang="en-US" altLang="zh-CN" sz="2600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255905" lvl="1" indent="-255905">
              <a:spcBef>
                <a:spcPts val="1000"/>
              </a:spcBef>
              <a:buClr>
                <a:srgbClr val="007FA3"/>
              </a:buClr>
              <a:buSzPct val="100000"/>
              <a:defRPr/>
            </a:pPr>
            <a:endParaRPr lang="en-US" altLang="zh-CN" sz="2600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255905" lvl="1" indent="-255905">
              <a:spcBef>
                <a:spcPts val="1000"/>
              </a:spcBef>
              <a:buClr>
                <a:srgbClr val="007FA3"/>
              </a:buClr>
              <a:buSzPct val="100000"/>
              <a:defRPr/>
            </a:pPr>
            <a:endParaRPr lang="en-US" altLang="zh-CN" sz="2600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9" name="Rectangle 3"/>
          <p:cNvSpPr txBox="1">
            <a:spLocks noChangeArrowheads="1"/>
          </p:cNvSpPr>
          <p:nvPr/>
        </p:nvSpPr>
        <p:spPr bwMode="auto">
          <a:xfrm>
            <a:off x="963928" y="2300132"/>
            <a:ext cx="9248810" cy="12711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228600" indent="-228600" algn="l" rtl="0" fontAlgn="base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5905" lvl="1" indent="-255905">
              <a:spcBef>
                <a:spcPts val="1000"/>
              </a:spcBef>
              <a:buClr>
                <a:srgbClr val="007FA3"/>
              </a:buClr>
              <a:buSzPct val="100000"/>
              <a:defRPr/>
            </a:pPr>
            <a:r>
              <a:rPr sz="26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Thomson’s </a:t>
            </a:r>
            <a:r>
              <a:rPr lang="en-US" sz="26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e/m </a:t>
            </a:r>
            <a:r>
              <a:rPr sz="26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Experiment</a:t>
            </a:r>
            <a:endParaRPr sz="2600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255905" lvl="1" indent="-255905">
              <a:spcBef>
                <a:spcPts val="1000"/>
              </a:spcBef>
              <a:buClr>
                <a:srgbClr val="007FA3"/>
              </a:buClr>
              <a:buSzPct val="100000"/>
              <a:defRPr/>
            </a:pPr>
            <a:endParaRPr lang="en-US" altLang="zh-CN" sz="2600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78425" y="1363980"/>
            <a:ext cx="1035050" cy="84709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670" y="2769235"/>
            <a:ext cx="6977380" cy="343281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75245" y="2646680"/>
            <a:ext cx="3636645" cy="691515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1955" y="3578225"/>
            <a:ext cx="3195320" cy="71501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38720" y="4709160"/>
            <a:ext cx="4280535" cy="440055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67650" y="5470525"/>
            <a:ext cx="3796665" cy="3657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/>
        </p:nvSpPr>
        <p:spPr>
          <a:xfrm>
            <a:off x="708025" y="-42545"/>
            <a:ext cx="11540490" cy="1097280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400" b="1" kern="1200">
                <a:solidFill>
                  <a:srgbClr val="007FA3"/>
                </a:solidFill>
                <a:latin typeface="+mj-lt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36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Example 19.5      An demonstration experiment</a:t>
            </a:r>
            <a:endParaRPr lang="en-US" altLang="zh-CN" sz="3600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8040" y="1409065"/>
            <a:ext cx="10535920" cy="384937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/>
        </p:nvSpPr>
        <p:spPr>
          <a:xfrm>
            <a:off x="708025" y="-42545"/>
            <a:ext cx="11540490" cy="1097280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400" b="1" kern="1200">
                <a:solidFill>
                  <a:srgbClr val="007FA3"/>
                </a:solidFill>
                <a:latin typeface="+mj-lt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36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Example 19.6    Finding leaks in a vacuum system</a:t>
            </a:r>
            <a:endParaRPr lang="en-US" altLang="zh-CN" sz="3600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9630" y="1630680"/>
            <a:ext cx="10493375" cy="339915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/>
        </p:nvSpPr>
        <p:spPr>
          <a:xfrm>
            <a:off x="651510" y="293370"/>
            <a:ext cx="11540490" cy="1097280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400" b="1" kern="1200">
                <a:solidFill>
                  <a:srgbClr val="007FA3"/>
                </a:solidFill>
                <a:latin typeface="+mj-lt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36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19.6 Magnetic Force on a Current-Carrying Conductor</a:t>
            </a:r>
            <a:endParaRPr lang="en-US" altLang="zh-CN" sz="3600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4100" y="1950720"/>
            <a:ext cx="3602990" cy="37147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460" y="2390775"/>
            <a:ext cx="5889625" cy="63373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60040" y="3081020"/>
            <a:ext cx="1223645" cy="34163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49705" y="3639820"/>
            <a:ext cx="2286000" cy="37338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4655" y="4230370"/>
            <a:ext cx="5304155" cy="35941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3510" y="5011420"/>
            <a:ext cx="5847080" cy="414655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06830" y="3081020"/>
            <a:ext cx="920750" cy="389255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90590" y="1390650"/>
            <a:ext cx="3522980" cy="4697095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281160" y="873760"/>
            <a:ext cx="2541905" cy="59842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6480" y="702310"/>
            <a:ext cx="9904095" cy="3931285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/>
        </p:nvSpPr>
        <p:spPr>
          <a:xfrm>
            <a:off x="806450" y="251460"/>
            <a:ext cx="11540490" cy="1097280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400" b="1" kern="1200">
                <a:solidFill>
                  <a:srgbClr val="007FA3"/>
                </a:solidFill>
                <a:latin typeface="+mj-lt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36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Example 19.7    Magnetic force on a straight conductor</a:t>
            </a:r>
            <a:endParaRPr lang="en-US" altLang="zh-CN" sz="3600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79445" y="962025"/>
            <a:ext cx="8666480" cy="545528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/>
        </p:nvSpPr>
        <p:spPr>
          <a:xfrm>
            <a:off x="806450" y="251460"/>
            <a:ext cx="11540490" cy="1097280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400" b="1" kern="1200">
                <a:solidFill>
                  <a:srgbClr val="007FA3"/>
                </a:solidFill>
                <a:latin typeface="+mj-lt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36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Example 19.8    Magnetic force on a curved conductor</a:t>
            </a:r>
            <a:endParaRPr lang="en-US" altLang="zh-CN" sz="3600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4845" y="953770"/>
            <a:ext cx="8141335" cy="560260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/>
          <p:cNvSpPr txBox="1">
            <a:spLocks noChangeArrowheads="1"/>
          </p:cNvSpPr>
          <p:nvPr/>
        </p:nvSpPr>
        <p:spPr bwMode="auto">
          <a:xfrm>
            <a:off x="1111248" y="267338"/>
            <a:ext cx="9569321" cy="1096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gency FB" panose="020B0503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gency FB" panose="020B0503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gency FB" panose="020B0503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gency FB" panose="020B0503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gency FB" panose="020B0503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gency FB" panose="020B0503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gency FB" panose="020B0503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gency FB" panose="020B0503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gency FB" panose="020B050302020202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lnSpc>
                <a:spcPct val="90000"/>
              </a:lnSpc>
            </a:pPr>
            <a:r>
              <a:rPr lang="en-US" altLang="zh-CN" sz="3600" b="1" dirty="0">
                <a:solidFill>
                  <a:srgbClr val="007FA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19.7 Force and Torque on a Current Loop</a:t>
            </a:r>
            <a:endParaRPr lang="en-US" altLang="zh-CN" sz="3600" b="1" dirty="0">
              <a:solidFill>
                <a:srgbClr val="007FA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09700" y="1181100"/>
            <a:ext cx="9372600" cy="52959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1033780" y="604520"/>
            <a:ext cx="9391650" cy="52425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228600" indent="-228600" algn="l" rtl="0" fontAlgn="base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5905" lvl="1" indent="-255905">
              <a:spcBef>
                <a:spcPts val="1000"/>
              </a:spcBef>
              <a:buClr>
                <a:srgbClr val="007FA3"/>
              </a:buClr>
              <a:buSzPct val="100000"/>
              <a:defRPr/>
            </a:pPr>
            <a:r>
              <a:rPr lang="en-US" altLang="zh-CN" sz="26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The force on this side has magnitude</a:t>
            </a:r>
            <a:endParaRPr lang="en-US" altLang="zh-CN" sz="2600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255905" lvl="1" indent="-255905">
              <a:spcBef>
                <a:spcPts val="1000"/>
              </a:spcBef>
              <a:buClr>
                <a:srgbClr val="007FA3"/>
              </a:buClr>
              <a:buSzPct val="100000"/>
              <a:defRPr/>
            </a:pPr>
            <a:endParaRPr lang="en-US" altLang="zh-CN" sz="2600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255905" lvl="1" indent="-255905">
              <a:spcBef>
                <a:spcPts val="1000"/>
              </a:spcBef>
              <a:buClr>
                <a:srgbClr val="007FA3"/>
              </a:buClr>
              <a:buSzPct val="100000"/>
              <a:defRPr/>
            </a:pPr>
            <a:endParaRPr lang="en-US" altLang="zh-CN" sz="2600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255905" lvl="1" indent="-255905">
              <a:spcBef>
                <a:spcPts val="1000"/>
              </a:spcBef>
              <a:buClr>
                <a:srgbClr val="007FA3"/>
              </a:buClr>
              <a:buSzPct val="100000"/>
              <a:defRPr/>
            </a:pPr>
            <a:endParaRPr lang="en-US" altLang="zh-CN" sz="2600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255905" lvl="1" indent="-255905">
              <a:spcBef>
                <a:spcPts val="1000"/>
              </a:spcBef>
              <a:buClr>
                <a:srgbClr val="007FA3"/>
              </a:buClr>
              <a:buSzPct val="100000"/>
              <a:defRPr/>
            </a:pPr>
            <a:endParaRPr lang="en-US" altLang="zh-CN" sz="2600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255905" lvl="1" indent="-255905">
              <a:spcBef>
                <a:spcPts val="1000"/>
              </a:spcBef>
              <a:buClr>
                <a:srgbClr val="007FA3"/>
              </a:buClr>
              <a:buSzPct val="100000"/>
              <a:defRPr/>
            </a:pPr>
            <a:endParaRPr lang="en-US" altLang="zh-CN" sz="2600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255905" lvl="1" indent="-255905">
              <a:spcBef>
                <a:spcPts val="1000"/>
              </a:spcBef>
              <a:buClr>
                <a:srgbClr val="007FA3"/>
              </a:buClr>
              <a:buSzPct val="100000"/>
              <a:defRPr/>
            </a:pPr>
            <a:endParaRPr lang="en-US" altLang="zh-CN" sz="2600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255905" lvl="1" indent="-255905">
              <a:spcBef>
                <a:spcPts val="1000"/>
              </a:spcBef>
              <a:buClr>
                <a:srgbClr val="007FA3"/>
              </a:buClr>
              <a:buSzPct val="100000"/>
              <a:defRPr/>
            </a:pPr>
            <a:endParaRPr lang="en-US" altLang="zh-CN" sz="2600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255905" lvl="1" indent="-255905">
              <a:spcBef>
                <a:spcPts val="1000"/>
              </a:spcBef>
              <a:buClr>
                <a:srgbClr val="007FA3"/>
              </a:buClr>
              <a:buSzPct val="100000"/>
              <a:defRPr/>
            </a:pPr>
            <a:r>
              <a:rPr lang="en-US" altLang="zh-CN" sz="26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The product </a:t>
            </a:r>
            <a:r>
              <a:rPr lang="en-US" altLang="zh-CN" sz="2600" i="1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IA</a:t>
            </a:r>
            <a:r>
              <a:rPr lang="en-US" altLang="zh-CN" sz="26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is called the </a:t>
            </a:r>
            <a:r>
              <a:rPr lang="en-US" altLang="zh-CN" sz="2600" b="1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magnetic dipole moment </a:t>
            </a:r>
            <a:r>
              <a:rPr lang="en-US" altLang="zh-CN" sz="26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or </a:t>
            </a:r>
            <a:r>
              <a:rPr lang="en-US" altLang="zh-CN" sz="2600" b="1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magnetic moment</a:t>
            </a:r>
            <a:r>
              <a:rPr lang="en-US" altLang="zh-CN" sz="26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of the loop, for which we use the symbol </a:t>
            </a:r>
            <a:r>
              <a:rPr lang="en-US" altLang="zh-CN" sz="26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μ</a:t>
            </a:r>
            <a:r>
              <a:rPr lang="en-US" altLang="zh-CN" sz="2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.</a:t>
            </a:r>
            <a:r>
              <a:rPr lang="en-US" altLang="zh-CN" sz="26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endParaRPr lang="en-US" altLang="zh-CN" sz="2600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0" lvl="1" indent="0">
              <a:spcBef>
                <a:spcPts val="1000"/>
              </a:spcBef>
              <a:buClr>
                <a:srgbClr val="007FA3"/>
              </a:buClr>
              <a:buSzPct val="100000"/>
              <a:buNone/>
              <a:defRPr/>
            </a:pPr>
            <a:endParaRPr lang="en-US" altLang="zh-CN"/>
          </a:p>
          <a:p>
            <a:pPr marL="255905" lvl="1" indent="-255905">
              <a:spcBef>
                <a:spcPts val="1000"/>
              </a:spcBef>
              <a:buClr>
                <a:srgbClr val="007FA3"/>
              </a:buClr>
              <a:buSzPct val="100000"/>
              <a:defRPr/>
            </a:pPr>
            <a:endParaRPr lang="en-US" altLang="zh-CN" sz="2600" b="1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255905" lvl="1" indent="-255905">
              <a:spcBef>
                <a:spcPts val="1000"/>
              </a:spcBef>
              <a:buClr>
                <a:srgbClr val="007FA3"/>
              </a:buClr>
              <a:buSzPct val="100000"/>
              <a:defRPr/>
            </a:pPr>
            <a:endParaRPr lang="en-US" altLang="zh-CN" sz="2600" b="1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255905" lvl="1" indent="-255905">
              <a:spcBef>
                <a:spcPts val="1000"/>
              </a:spcBef>
              <a:buClr>
                <a:srgbClr val="007FA3"/>
              </a:buClr>
              <a:buSzPct val="100000"/>
              <a:defRPr/>
            </a:pPr>
            <a:endParaRPr lang="en-US" altLang="zh-CN" sz="2600" b="1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255905" lvl="1" indent="-255905">
              <a:spcBef>
                <a:spcPts val="1000"/>
              </a:spcBef>
              <a:buClr>
                <a:srgbClr val="007FA3"/>
              </a:buClr>
              <a:buSzPct val="100000"/>
              <a:defRPr/>
            </a:pPr>
            <a:endParaRPr lang="en-US" altLang="zh-CN" sz="2600" b="1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255905" lvl="1" indent="-255905">
              <a:spcBef>
                <a:spcPts val="1000"/>
              </a:spcBef>
              <a:buClr>
                <a:srgbClr val="007FA3"/>
              </a:buClr>
              <a:buSzPct val="100000"/>
              <a:defRPr/>
            </a:pPr>
            <a:endParaRPr lang="en-US" altLang="zh-CN" sz="2600" b="1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0" lvl="1" indent="0">
              <a:spcBef>
                <a:spcPts val="1000"/>
              </a:spcBef>
              <a:buClr>
                <a:srgbClr val="007FA3"/>
              </a:buClr>
              <a:buSzPct val="100000"/>
              <a:buNone/>
              <a:defRPr/>
            </a:pPr>
            <a:endParaRPr lang="en-US" altLang="zh-CN" sz="2600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255905" lvl="1" indent="-255905">
              <a:spcBef>
                <a:spcPts val="1000"/>
              </a:spcBef>
              <a:buClr>
                <a:srgbClr val="007FA3"/>
              </a:buClr>
              <a:buSzPct val="100000"/>
              <a:defRPr/>
            </a:pPr>
            <a:endParaRPr lang="en-US" altLang="zh-CN" sz="2600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6970" y="1888490"/>
            <a:ext cx="9775190" cy="101663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99960" y="604520"/>
            <a:ext cx="1464945" cy="37782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1860" y="1227455"/>
            <a:ext cx="4187825" cy="54165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89375" y="3102610"/>
            <a:ext cx="4152900" cy="47815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60370" y="3729355"/>
            <a:ext cx="6784975" cy="511175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67605" y="5266690"/>
            <a:ext cx="1124585" cy="318135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67580" y="5749925"/>
            <a:ext cx="1525270" cy="4095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1465" y="595630"/>
            <a:ext cx="5767070" cy="47498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" y="1169035"/>
            <a:ext cx="3542665" cy="345313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515" y="4883150"/>
            <a:ext cx="6176010" cy="45910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91385" y="5505450"/>
            <a:ext cx="1802765" cy="38862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75325" y="1069975"/>
            <a:ext cx="3055620" cy="364998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01405" y="810260"/>
            <a:ext cx="2971800" cy="44805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/>
        </p:nvSpPr>
        <p:spPr>
          <a:xfrm>
            <a:off x="651510" y="0"/>
            <a:ext cx="11540490" cy="1097280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400" b="1" kern="1200">
                <a:solidFill>
                  <a:srgbClr val="007FA3"/>
                </a:solidFill>
                <a:latin typeface="+mj-lt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36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Example 19.9    Magnetic torque on a circular coil</a:t>
            </a:r>
            <a:endParaRPr lang="en-US" altLang="zh-CN" sz="3600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7885" y="1250950"/>
            <a:ext cx="10074910" cy="426529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/>
        </p:nvSpPr>
        <p:spPr>
          <a:xfrm>
            <a:off x="707390" y="245745"/>
            <a:ext cx="11540490" cy="1097280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400" b="1" kern="1200">
                <a:solidFill>
                  <a:srgbClr val="007FA3"/>
                </a:solidFill>
                <a:latin typeface="+mj-lt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36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Example 19.10    Potential energy for a coil in a magnetic field</a:t>
            </a:r>
            <a:endParaRPr lang="en-US" altLang="zh-CN" sz="3600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1690" y="2091690"/>
            <a:ext cx="11164570" cy="258953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/>
          <p:cNvSpPr txBox="1">
            <a:spLocks noChangeArrowheads="1"/>
          </p:cNvSpPr>
          <p:nvPr/>
        </p:nvSpPr>
        <p:spPr bwMode="auto">
          <a:xfrm>
            <a:off x="1111250" y="267335"/>
            <a:ext cx="10720070" cy="10966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gency FB" panose="020B0503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gency FB" panose="020B0503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gency FB" panose="020B0503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gency FB" panose="020B0503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gency FB" panose="020B0503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gency FB" panose="020B0503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gency FB" panose="020B0503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gency FB" panose="020B0503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gency FB" panose="020B050302020202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lnSpc>
                <a:spcPct val="90000"/>
              </a:lnSpc>
            </a:pPr>
            <a:r>
              <a:rPr lang="en-US" altLang="zh-CN" sz="3600" b="1" dirty="0">
                <a:solidFill>
                  <a:srgbClr val="007FA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Magnetic Dipole in a Nonuniform Magnetic Field</a:t>
            </a:r>
            <a:endParaRPr lang="en-US" altLang="zh-CN" sz="3600" b="1" dirty="0">
              <a:solidFill>
                <a:srgbClr val="007FA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74240" y="1129665"/>
            <a:ext cx="3558540" cy="572833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6735" y="1051560"/>
            <a:ext cx="2642235" cy="571119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rcRect b="57372"/>
          <a:stretch>
            <a:fillRect/>
          </a:stretch>
        </p:blipFill>
        <p:spPr>
          <a:xfrm>
            <a:off x="1547495" y="1590040"/>
            <a:ext cx="4408805" cy="294132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rcRect t="40898"/>
          <a:stretch>
            <a:fillRect/>
          </a:stretch>
        </p:blipFill>
        <p:spPr>
          <a:xfrm>
            <a:off x="6438900" y="1390015"/>
            <a:ext cx="4408805" cy="407797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/>
          <p:cNvSpPr txBox="1">
            <a:spLocks noChangeArrowheads="1"/>
          </p:cNvSpPr>
          <p:nvPr/>
        </p:nvSpPr>
        <p:spPr bwMode="auto">
          <a:xfrm>
            <a:off x="1111248" y="286192"/>
            <a:ext cx="9569321" cy="1096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gency FB" panose="020B0503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gency FB" panose="020B0503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gency FB" panose="020B0503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gency FB" panose="020B0503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gency FB" panose="020B0503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gency FB" panose="020B0503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gency FB" panose="020B0503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gency FB" panose="020B0503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gency FB" panose="020B050302020202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lnSpc>
                <a:spcPct val="90000"/>
              </a:lnSpc>
            </a:pPr>
            <a:r>
              <a:rPr lang="en-US" altLang="zh-CN" sz="3600" b="1" dirty="0">
                <a:solidFill>
                  <a:srgbClr val="007FA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19.8 The Hall Effect</a:t>
            </a:r>
            <a:endParaRPr lang="en-US" altLang="zh-CN" sz="3600" b="1" dirty="0">
              <a:solidFill>
                <a:srgbClr val="007FA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1111250" y="1271270"/>
            <a:ext cx="9569450" cy="55867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228600" indent="-228600" algn="l" rtl="0" fontAlgn="base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5905" lvl="1" indent="-255905">
              <a:spcBef>
                <a:spcPts val="1000"/>
              </a:spcBef>
              <a:buClr>
                <a:srgbClr val="007FA3"/>
              </a:buClr>
              <a:buSzPct val="100000"/>
              <a:defRPr/>
            </a:pPr>
            <a:r>
              <a:rPr lang="en-US" altLang="zh-CN" sz="26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This electric field causes a transverse potential difference between opposite edges of the strip, called the Hall voltage or the Hall emf.</a:t>
            </a:r>
            <a:endParaRPr lang="en-US" altLang="zh-CN" sz="2600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0" lvl="1" indent="0">
              <a:spcBef>
                <a:spcPts val="1000"/>
              </a:spcBef>
              <a:buClr>
                <a:srgbClr val="007FA3"/>
              </a:buClr>
              <a:buSzPct val="100000"/>
              <a:buNone/>
              <a:defRPr/>
            </a:pPr>
            <a:endParaRPr lang="en-US" altLang="zh-CN" sz="2600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17700" y="2448560"/>
            <a:ext cx="3787140" cy="395160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7610" y="2687955"/>
            <a:ext cx="3797300" cy="33832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ISPRING_PRESENTATION_TITLE" val="PowerPoint 演示文稿"/>
</p:tagLst>
</file>

<file path=ppt/theme/theme1.xml><?xml version="1.0" encoding="utf-8"?>
<a:theme xmlns:a="http://schemas.openxmlformats.org/drawingml/2006/main" name="Office 主题">
  <a:themeElements>
    <a:clrScheme name="自定义 1">
      <a:dk1>
        <a:sysClr val="windowText" lastClr="000000"/>
      </a:dk1>
      <a:lt1>
        <a:sysClr val="window" lastClr="FFFFFF"/>
      </a:lt1>
      <a:dk2>
        <a:srgbClr val="797979"/>
      </a:dk2>
      <a:lt2>
        <a:srgbClr val="43B4E3"/>
      </a:lt2>
      <a:accent1>
        <a:srgbClr val="0070C0"/>
      </a:accent1>
      <a:accent2>
        <a:srgbClr val="CECECE"/>
      </a:accent2>
      <a:accent3>
        <a:srgbClr val="329FD1"/>
      </a:accent3>
      <a:accent4>
        <a:srgbClr val="CECECE"/>
      </a:accent4>
      <a:accent5>
        <a:srgbClr val="0070C0"/>
      </a:accent5>
      <a:accent6>
        <a:srgbClr val="CECECE"/>
      </a:accent6>
      <a:hlink>
        <a:srgbClr val="169EBE"/>
      </a:hlink>
      <a:folHlink>
        <a:srgbClr val="0070C0"/>
      </a:folHlink>
    </a:clrScheme>
    <a:fontScheme name="自定义 2">
      <a:majorFont>
        <a:latin typeface="Agency FB"/>
        <a:ea typeface="微软雅黑"/>
        <a:cs typeface=""/>
      </a:majorFont>
      <a:minorFont>
        <a:latin typeface="Agency FB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2745</Words>
  <Application>WPS 演示</Application>
  <PresentationFormat>宽屏</PresentationFormat>
  <Paragraphs>107</Paragraphs>
  <Slides>34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34</vt:i4>
      </vt:variant>
    </vt:vector>
  </HeadingPairs>
  <TitlesOfParts>
    <vt:vector size="43" baseType="lpstr">
      <vt:lpstr>Arial</vt:lpstr>
      <vt:lpstr>宋体</vt:lpstr>
      <vt:lpstr>Wingdings</vt:lpstr>
      <vt:lpstr>Agency FB</vt:lpstr>
      <vt:lpstr>微软雅黑</vt:lpstr>
      <vt:lpstr>Times New Roman</vt:lpstr>
      <vt:lpstr>Arial Unicode MS</vt:lpstr>
      <vt:lpstr>Calibri</vt:lpstr>
      <vt:lpstr>Office 主题</vt:lpstr>
      <vt:lpstr>Chapter 19 MAGNETIC FIELD AND MAGNETIC FORCES</vt:lpstr>
      <vt:lpstr>Goals for chapter 19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小鹿PPT；http://pptx.taobao.com</dc:title>
  <dc:creator>小鹿PPT;http://pptx.taobao.com</dc:creator>
  <dc:description>小鹿PPT；http://pptx.taobao.com</dc:description>
  <cp:lastModifiedBy>Jtt</cp:lastModifiedBy>
  <cp:revision>285</cp:revision>
  <dcterms:created xsi:type="dcterms:W3CDTF">2017-07-11T01:33:00Z</dcterms:created>
  <dcterms:modified xsi:type="dcterms:W3CDTF">2021-08-06T12:10:15Z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AFFAA60D5FFE4610918476B62CD8EC4C</vt:lpwstr>
  </property>
  <property fmtid="{D5CDD505-2E9C-101B-9397-08002B2CF9AE}" pid="3" name="KSOProductBuildVer">
    <vt:lpwstr>2052-11.1.0.10667</vt:lpwstr>
  </property>
</Properties>
</file>