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80" r:id="rId2"/>
    <p:sldId id="284" r:id="rId3"/>
    <p:sldId id="282" r:id="rId4"/>
    <p:sldId id="299" r:id="rId5"/>
    <p:sldId id="450" r:id="rId6"/>
    <p:sldId id="410" r:id="rId7"/>
    <p:sldId id="451" r:id="rId8"/>
    <p:sldId id="427" r:id="rId9"/>
    <p:sldId id="452" r:id="rId10"/>
    <p:sldId id="453" r:id="rId11"/>
    <p:sldId id="454" r:id="rId12"/>
    <p:sldId id="437" r:id="rId13"/>
    <p:sldId id="301" r:id="rId14"/>
    <p:sldId id="300" r:id="rId15"/>
    <p:sldId id="302" r:id="rId16"/>
    <p:sldId id="303" r:id="rId17"/>
    <p:sldId id="304" r:id="rId18"/>
    <p:sldId id="305" r:id="rId19"/>
    <p:sldId id="438" r:id="rId20"/>
    <p:sldId id="455" r:id="rId21"/>
    <p:sldId id="456" r:id="rId22"/>
    <p:sldId id="457" r:id="rId23"/>
    <p:sldId id="458" r:id="rId24"/>
    <p:sldId id="459" r:id="rId25"/>
    <p:sldId id="460" r:id="rId26"/>
    <p:sldId id="306" r:id="rId27"/>
  </p:sldIdLst>
  <p:sldSz cx="12192000" cy="6858000"/>
  <p:notesSz cx="6858000" cy="9144000"/>
  <p:custDataLst>
    <p:tags r:id="rId2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5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A3"/>
    <a:srgbClr val="437D6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216" y="48"/>
      </p:cViewPr>
      <p:guideLst>
        <p:guide orient="horz" pos="459"/>
        <p:guide pos="5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B3608A3-4DDF-458B-AC15-D0B4B1198D89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438541B-34D3-47AC-808A-6924AA365441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0D9FD-B979-4686-8E7B-DCFDC217AC2C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4F8D-36B9-4587-BC54-546E9400915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75158-C32C-4FA4-864D-E9D1031DEE38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5D768-0A50-4012-8AD8-D2511D1EA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E2F43-5307-4145-A269-5325A0117886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EAF96-6476-4F03-B5AB-96AB3B61D0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8C8F8-9C16-4443-A69E-0CE0A5E7E5E1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14347-F67C-402C-ABA6-6BB31F6234E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DA738-9825-4EB5-9574-7AEF58453A72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C6ED6-C021-4800-A003-FCA3F9A90B6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3ED9-87F4-4DDD-9600-59BDBA28F7F4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3E43D-2505-4F0D-9202-AB677BD0754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64656-3BCB-49B1-821F-047AA03CA5A1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84E40-AE60-4604-9CAD-BAF6392887A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DEF82-0B93-4019-8527-2F3393AB6730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365D5-9437-41F6-97B3-2A8713B7E6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ED671-29A7-416D-A19B-6097F828CAF7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CB6B6-599C-4FDA-BAA8-6ECAF8C2C52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FB92-4101-4B45-A4D2-E8497CD0443D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0F3E5-C849-4386-A40F-F48F2448589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43DE8-1959-48B3-8C15-FFC537504E66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9C4BC-C0F8-4772-BF5A-E93B73D8571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9BD3E94-727E-4401-AA1F-9E4D1E1EB161}" type="datetimeFigureOut">
              <a:rPr lang="zh-CN" altLang="en-US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721C8D7-BF34-49E2-9A49-2638587F14B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 noChangeArrowheads="1"/>
          </p:cNvSpPr>
          <p:nvPr>
            <p:ph idx="1"/>
          </p:nvPr>
        </p:nvSpPr>
        <p:spPr>
          <a:xfrm>
            <a:off x="1210963" y="1865869"/>
            <a:ext cx="10404388" cy="4485504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20.1 Magnetic Field of a Moving Charge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20.2 Magnetic Field of a Current Element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20.3 Magnetic Field of a Straight Current-Carrying Conductor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20.4 Force Between Parallel Conductors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20.5 Magnetic Field of a Circular Current Loop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20.6 Ampere’s Law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20.7 Applications of Ampere’s Law</a:t>
            </a: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20.8 Magnetic Materials</a:t>
            </a:r>
          </a:p>
          <a:p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838200" y="688587"/>
            <a:ext cx="10515600" cy="1325563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20 SOURCE OF MAGNETIC 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/>
          </p:nvPr>
        </p:nvSpPr>
        <p:spPr>
          <a:xfrm>
            <a:off x="1135062" y="497101"/>
            <a:ext cx="10218737" cy="1325563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for chapter 20</a:t>
            </a:r>
            <a:endParaRPr lang="zh-CN" altLang="en-US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39510" y="1749380"/>
            <a:ext cx="9312980" cy="4611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determine the magnetic field  produced by a moving charge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study the magnetic field of an element of a current-carrying conductor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calculate the magnetic field of a long, straight, current-carrying conductor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study the magnetic force between current-carrying wires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determine the magnetic field of a circular loop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use Ampere’s Law to calculate magnetic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427038"/>
            <a:ext cx="822960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9192" y="1961931"/>
            <a:ext cx="5302119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What can we say about the magnetic field due to a solenoid?</a:t>
            </a: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What actually creates magnetic fields?</a:t>
            </a: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We will introduce Ampere’s law to calculate magnetic fields. </a:t>
            </a:r>
          </a:p>
        </p:txBody>
      </p:sp>
      <p:pic>
        <p:nvPicPr>
          <p:cNvPr id="6" name="Picture 5" descr="28_00_Fig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0"/>
          <a:stretch>
            <a:fillRect/>
          </a:stretch>
        </p:blipFill>
        <p:spPr bwMode="auto">
          <a:xfrm>
            <a:off x="6721311" y="2151062"/>
            <a:ext cx="3965575" cy="255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120677" y="351070"/>
            <a:ext cx="9578746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field of a moving charge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025" y="3327250"/>
            <a:ext cx="859950" cy="20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312351" y="1652329"/>
            <a:ext cx="4808267" cy="2803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moving charge generates a magnetic field that depends on the velocity of the charge.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Figure shows the direction of the field.</a:t>
            </a:r>
          </a:p>
        </p:txBody>
      </p:sp>
      <p:pic>
        <p:nvPicPr>
          <p:cNvPr id="7" name="Picture 4" descr="28_Figure01a-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940" y="1246187"/>
            <a:ext cx="3203575" cy="561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28_Figure01b-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485" y="4568592"/>
            <a:ext cx="3048000" cy="193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088" y="2692098"/>
            <a:ext cx="2300474" cy="838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120677" y="351070"/>
            <a:ext cx="9578746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20.1 Magnetic field of a moving charge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025" y="3327250"/>
            <a:ext cx="859950" cy="20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312351" y="1652329"/>
            <a:ext cx="48082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magnetic field of a moving point charge is:</a:t>
            </a:r>
          </a:p>
        </p:txBody>
      </p:sp>
      <p:pic>
        <p:nvPicPr>
          <p:cNvPr id="7" name="Picture 4" descr="28_Figure01a-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339" y="1246187"/>
            <a:ext cx="3203575" cy="561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28_Figure01b-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657" y="4052093"/>
            <a:ext cx="3048000" cy="193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558" y="2774650"/>
            <a:ext cx="567690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9" y="746927"/>
            <a:ext cx="5934075" cy="5514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760" y="1285090"/>
            <a:ext cx="5153025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185862"/>
            <a:ext cx="1200150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5" y="379351"/>
            <a:ext cx="9578746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20.2 Magnetic field of a current element</a:t>
            </a:r>
          </a:p>
        </p:txBody>
      </p:sp>
      <p:sp>
        <p:nvSpPr>
          <p:cNvPr id="3" name="矩形 2"/>
          <p:cNvSpPr/>
          <p:nvPr/>
        </p:nvSpPr>
        <p:spPr>
          <a:xfrm>
            <a:off x="1143785" y="1442720"/>
            <a:ext cx="6812438" cy="5107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total magnetic field of several moving charges is the vector sum of each field.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Follow the text discussion of the vector magnetic field due to a current element. 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formula derived is called the law of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Biot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Savart.</a:t>
            </a:r>
          </a:p>
        </p:txBody>
      </p:sp>
      <p:pic>
        <p:nvPicPr>
          <p:cNvPr id="9" name="Picture 5" descr="28_03_Fig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"/>
          <a:stretch>
            <a:fillRect/>
          </a:stretch>
        </p:blipFill>
        <p:spPr bwMode="auto">
          <a:xfrm>
            <a:off x="8944500" y="1184776"/>
            <a:ext cx="2390775" cy="562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260" y="3031632"/>
            <a:ext cx="4591050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5" y="379351"/>
            <a:ext cx="9578746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field of a current element</a:t>
            </a:r>
          </a:p>
        </p:txBody>
      </p:sp>
      <p:sp>
        <p:nvSpPr>
          <p:cNvPr id="3" name="矩形 2"/>
          <p:cNvSpPr/>
          <p:nvPr/>
        </p:nvSpPr>
        <p:spPr>
          <a:xfrm>
            <a:off x="1256907" y="1738009"/>
            <a:ext cx="681243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formula derived is called the law of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Biot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Savart.</a:t>
            </a:r>
          </a:p>
        </p:txBody>
      </p:sp>
      <p:pic>
        <p:nvPicPr>
          <p:cNvPr id="9" name="Picture 5" descr="28_03_Fig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"/>
          <a:stretch>
            <a:fillRect/>
          </a:stretch>
        </p:blipFill>
        <p:spPr bwMode="auto">
          <a:xfrm>
            <a:off x="8944500" y="1184776"/>
            <a:ext cx="2390775" cy="562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62" y="2910773"/>
            <a:ext cx="6172200" cy="809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001" y="4108171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44" y="665423"/>
            <a:ext cx="5924550" cy="4867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794" y="753269"/>
            <a:ext cx="5705475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7" y="453338"/>
            <a:ext cx="5895975" cy="6105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02" y="453338"/>
            <a:ext cx="596265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4" y="379351"/>
            <a:ext cx="9899259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field of a straight current-carrying conductor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58945" y="1442720"/>
            <a:ext cx="9357674" cy="106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If we apply the law of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Biot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Savart to a long straight conductor, the result is B =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I/2πx. See Figure below left. Figure below right shows the right-hand rule for the direction of the force.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377760" y="3892298"/>
            <a:ext cx="7221935" cy="2965702"/>
            <a:chOff x="2377760" y="3892298"/>
            <a:chExt cx="7221935" cy="2965702"/>
          </a:xfrm>
        </p:grpSpPr>
        <p:pic>
          <p:nvPicPr>
            <p:cNvPr id="10" name="Picture 4" descr="28_Figure05-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56"/>
            <a:stretch>
              <a:fillRect/>
            </a:stretch>
          </p:blipFill>
          <p:spPr bwMode="auto">
            <a:xfrm>
              <a:off x="2377760" y="3924090"/>
              <a:ext cx="2252949" cy="2786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28_Figure06-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56"/>
            <a:stretch>
              <a:fillRect/>
            </a:stretch>
          </p:blipFill>
          <p:spPr bwMode="auto">
            <a:xfrm>
              <a:off x="6516410" y="3892298"/>
              <a:ext cx="3083285" cy="2965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397" y="2994185"/>
            <a:ext cx="6619875" cy="8191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381" y="2463608"/>
            <a:ext cx="598170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55" y="0"/>
            <a:ext cx="5981700" cy="3752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5" y="3569017"/>
            <a:ext cx="7808727" cy="31061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5" y="19050"/>
            <a:ext cx="5895975" cy="1857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555" y="2046605"/>
            <a:ext cx="5876925" cy="590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555" y="2798286"/>
            <a:ext cx="5486400" cy="609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555" y="3569017"/>
            <a:ext cx="569595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120678" y="343672"/>
            <a:ext cx="773521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 between parallel conductors</a:t>
            </a:r>
          </a:p>
        </p:txBody>
      </p:sp>
      <p:pic>
        <p:nvPicPr>
          <p:cNvPr id="7" name="Picture 4" descr="28_Figure09-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"/>
          <a:stretch>
            <a:fillRect/>
          </a:stretch>
        </p:blipFill>
        <p:spPr bwMode="auto">
          <a:xfrm>
            <a:off x="8789905" y="723128"/>
            <a:ext cx="2778125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46793" y="1440634"/>
            <a:ext cx="6784157" cy="3867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The force per unit length on each conductor is</a:t>
            </a:r>
          </a:p>
          <a:p>
            <a:pPr marL="0" lvl="1" indent="0">
              <a:spcBef>
                <a:spcPts val="1000"/>
              </a:spcBef>
              <a:buClr>
                <a:srgbClr val="007FA3"/>
              </a:buClr>
              <a:buNone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Clr>
                <a:srgbClr val="007FA3"/>
              </a:buClr>
              <a:buNone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Clr>
                <a:srgbClr val="007FA3"/>
              </a:buClr>
              <a:buNone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conductors attract each other if the currents are in the same direction and repel if they are in opposite directions.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748" y="1808463"/>
            <a:ext cx="6315075" cy="1362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958" y="4544407"/>
            <a:ext cx="6581775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960417" y="470791"/>
            <a:ext cx="1020091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forces and defining the ampere</a:t>
            </a:r>
          </a:p>
        </p:txBody>
      </p:sp>
      <p:sp>
        <p:nvSpPr>
          <p:cNvPr id="2" name="矩形 1"/>
          <p:cNvSpPr/>
          <p:nvPr/>
        </p:nvSpPr>
        <p:spPr>
          <a:xfrm>
            <a:off x="1181100" y="1570401"/>
            <a:ext cx="9062830" cy="2381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One ampere is that unvarying current that, if present in each of two parallel conductors of infinite length and one meter apart in empty space, causes each conductor to experience a force of exactly 2*10</a:t>
            </a:r>
            <a:r>
              <a:rPr lang="en-US" altLang="zh-CN" sz="2600" baseline="30000" dirty="0">
                <a:latin typeface="Arial" panose="020B0604020202020204" pitchFamily="34" charset="0"/>
                <a:cs typeface="Arial" panose="020B0604020202020204" pitchFamily="34" charset="0"/>
              </a:rPr>
              <a:t>-7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 newtons per meter of length.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endParaRPr lang="en-US" altLang="zh-C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762458" y="451937"/>
            <a:ext cx="1127557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field of a circular current loop</a:t>
            </a:r>
          </a:p>
        </p:txBody>
      </p:sp>
      <p:sp>
        <p:nvSpPr>
          <p:cNvPr id="2" name="矩形 1"/>
          <p:cNvSpPr/>
          <p:nvPr/>
        </p:nvSpPr>
        <p:spPr>
          <a:xfrm>
            <a:off x="887895" y="1407934"/>
            <a:ext cx="6539947" cy="2504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magnitude dB of the field due to the element dl is:</a:t>
            </a:r>
          </a:p>
          <a:p>
            <a:pPr marL="349250" indent="-349250">
              <a:lnSpc>
                <a:spcPct val="90000"/>
              </a:lnSpc>
              <a:spcBef>
                <a:spcPct val="45000"/>
              </a:spcBef>
              <a:spcAft>
                <a:spcPct val="20000"/>
              </a:spcAft>
              <a:buClr>
                <a:srgbClr val="D33325"/>
              </a:buClr>
              <a:buFont typeface="Times" panose="02020603050405020304" pitchFamily="18" charset="0"/>
              <a:buChar char="•"/>
            </a:pPr>
            <a:endParaRPr lang="en-US" altLang="zh-CN" sz="3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The component of the vector dB are:</a:t>
            </a:r>
          </a:p>
          <a:p>
            <a:pPr marL="255905" lvl="1" indent="-255905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altLang="zh-CN" sz="2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9" name="Picture 4" descr="28_Figure12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"/>
          <a:stretch>
            <a:fillRect/>
          </a:stretch>
        </p:blipFill>
        <p:spPr bwMode="auto">
          <a:xfrm>
            <a:off x="7849543" y="1407934"/>
            <a:ext cx="4267200" cy="327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085" y="1861224"/>
            <a:ext cx="2907678" cy="8695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596" y="3490567"/>
            <a:ext cx="6465911" cy="32738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120677" y="470791"/>
            <a:ext cx="9578746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field of a coil</a:t>
            </a:r>
          </a:p>
        </p:txBody>
      </p:sp>
      <p:sp>
        <p:nvSpPr>
          <p:cNvPr id="2" name="矩形 1"/>
          <p:cNvSpPr/>
          <p:nvPr/>
        </p:nvSpPr>
        <p:spPr>
          <a:xfrm>
            <a:off x="1351280" y="1424474"/>
            <a:ext cx="9489440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total field is N times field of a single loop: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altLang="zh-CN" sz="26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altLang="zh-CN" sz="26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maximum value of the field is at x=0, the center of the loop or coil: </a:t>
            </a:r>
          </a:p>
        </p:txBody>
      </p:sp>
      <p:pic>
        <p:nvPicPr>
          <p:cNvPr id="6" name="Picture 5" descr="28_Figure14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"/>
          <a:stretch>
            <a:fillRect/>
          </a:stretch>
        </p:blipFill>
        <p:spPr bwMode="auto">
          <a:xfrm>
            <a:off x="6868422" y="3882596"/>
            <a:ext cx="3048000" cy="294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28_13_Fig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4"/>
          <a:stretch>
            <a:fillRect/>
          </a:stretch>
        </p:blipFill>
        <p:spPr bwMode="auto">
          <a:xfrm>
            <a:off x="1552857" y="4073038"/>
            <a:ext cx="3657600" cy="272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970" y="1938770"/>
            <a:ext cx="5774060" cy="8037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585" y="3342860"/>
            <a:ext cx="46101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914400" y="590379"/>
            <a:ext cx="10172634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dipole moment</a:t>
            </a:r>
          </a:p>
        </p:txBody>
      </p:sp>
      <p:sp>
        <p:nvSpPr>
          <p:cNvPr id="3" name="矩形 2"/>
          <p:cNvSpPr/>
          <p:nvPr/>
        </p:nvSpPr>
        <p:spPr>
          <a:xfrm>
            <a:off x="1092397" y="1690921"/>
            <a:ext cx="9248807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define the magnetic dipole moment of a current-carrying loop to be equal to IA, where A is the cross section area of the loop. If there are N loops, the total magnetic moment is NIA.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014" y="3429000"/>
            <a:ext cx="6429572" cy="8006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009683" y="442119"/>
            <a:ext cx="10172634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Ampere’s law (special case)</a:t>
            </a:r>
          </a:p>
        </p:txBody>
      </p:sp>
      <p:sp>
        <p:nvSpPr>
          <p:cNvPr id="2" name="矩形 1"/>
          <p:cNvSpPr/>
          <p:nvPr/>
        </p:nvSpPr>
        <p:spPr>
          <a:xfrm>
            <a:off x="1093509" y="1539081"/>
            <a:ext cx="9275975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6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Ampere’s law </a:t>
            </a: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formulated not in terms of magnetic flux, but rather in terms of the line integral of B around a closed path, denoted by: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41" y="3426643"/>
            <a:ext cx="9098317" cy="292531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860" y="2540818"/>
            <a:ext cx="385762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1009683" y="442119"/>
            <a:ext cx="10172634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Ampere’s law (general statement)</a:t>
            </a:r>
          </a:p>
        </p:txBody>
      </p:sp>
      <p:sp>
        <p:nvSpPr>
          <p:cNvPr id="2" name="矩形 1"/>
          <p:cNvSpPr/>
          <p:nvPr/>
        </p:nvSpPr>
        <p:spPr>
          <a:xfrm>
            <a:off x="1093509" y="1539081"/>
            <a:ext cx="9275975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Our statement of </a:t>
            </a:r>
            <a:r>
              <a:rPr lang="en-US" altLang="zh-CN" sz="26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Ampere’s law </a:t>
            </a: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then: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761" y="1430474"/>
            <a:ext cx="4386606" cy="7763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162" y="2371725"/>
            <a:ext cx="7305675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1" y="862553"/>
            <a:ext cx="12023537" cy="59954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44" y="860360"/>
            <a:ext cx="11428950" cy="47297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30" y="0"/>
            <a:ext cx="87021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32" y="566705"/>
            <a:ext cx="10829136" cy="57245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78" y="1373515"/>
            <a:ext cx="11519751" cy="41109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ChangeArrowheads="1"/>
          </p:cNvSpPr>
          <p:nvPr/>
        </p:nvSpPr>
        <p:spPr bwMode="auto">
          <a:xfrm>
            <a:off x="856726" y="528271"/>
            <a:ext cx="9578746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Bohr magneton</a:t>
            </a:r>
          </a:p>
        </p:txBody>
      </p:sp>
      <p:sp>
        <p:nvSpPr>
          <p:cNvPr id="2" name="矩形 1"/>
          <p:cNvSpPr/>
          <p:nvPr/>
        </p:nvSpPr>
        <p:spPr>
          <a:xfrm>
            <a:off x="1264421" y="1454025"/>
            <a:ext cx="900450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equivalent current I is the total charge passing any point on  the orbit per unit time, which is just the magnitude e of the electron charge divided by the orbital period T:</a:t>
            </a:r>
          </a:p>
        </p:txBody>
      </p:sp>
      <p:pic>
        <p:nvPicPr>
          <p:cNvPr id="5" name="Picture 4" descr="28_Figure26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"/>
          <a:stretch>
            <a:fillRect/>
          </a:stretch>
        </p:blipFill>
        <p:spPr bwMode="auto">
          <a:xfrm>
            <a:off x="6909542" y="2918583"/>
            <a:ext cx="2370138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720" y="2550987"/>
            <a:ext cx="3173592" cy="31735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344" y="5403975"/>
            <a:ext cx="5571200" cy="129351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264420" y="5877297"/>
            <a:ext cx="9004509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007FA3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</a:t>
            </a:r>
            <a:r>
              <a:rPr lang="en-US" altLang="zh-CN" sz="26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Borh</a:t>
            </a:r>
            <a:r>
              <a:rPr lang="en-US" altLang="zh-CN" sz="2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magneton: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COMMONDATA" val="eyJoZGlkIjoiOGJlY2I5ZGVlYmRkODE5YjUzODY3NWI3ZjZlOTNhYTM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797979"/>
      </a:dk2>
      <a:lt2>
        <a:srgbClr val="43B4E3"/>
      </a:lt2>
      <a:accent1>
        <a:srgbClr val="0070C0"/>
      </a:accent1>
      <a:accent2>
        <a:srgbClr val="CECECE"/>
      </a:accent2>
      <a:accent3>
        <a:srgbClr val="329FD1"/>
      </a:accent3>
      <a:accent4>
        <a:srgbClr val="CECECE"/>
      </a:accent4>
      <a:accent5>
        <a:srgbClr val="0070C0"/>
      </a:accent5>
      <a:accent6>
        <a:srgbClr val="CECECE"/>
      </a:accent6>
      <a:hlink>
        <a:srgbClr val="169EBE"/>
      </a:hlink>
      <a:folHlink>
        <a:srgbClr val="0070C0"/>
      </a:folHlink>
    </a:clrScheme>
    <a:fontScheme name="自定义 2">
      <a:majorFont>
        <a:latin typeface="Agency FB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596</Words>
  <Application>Microsoft Office PowerPoint</Application>
  <PresentationFormat>宽屏</PresentationFormat>
  <Paragraphs>67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Agency FB</vt:lpstr>
      <vt:lpstr>Arial</vt:lpstr>
      <vt:lpstr>Calibri</vt:lpstr>
      <vt:lpstr>Times</vt:lpstr>
      <vt:lpstr>Times New Roman</vt:lpstr>
      <vt:lpstr>Office 主题</vt:lpstr>
      <vt:lpstr>Chapter 20 SOURCE OF MAGNETIC FIELD</vt:lpstr>
      <vt:lpstr>Goals for chapter 20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小鹿PPT；http://pptx.taobao.com</dc:title>
  <dc:creator>小鹿PPT;http://pptx.taobao.com</dc:creator>
  <dc:description>小鹿PPT；http://pptx.taobao.com</dc:description>
  <cp:lastModifiedBy>Administrator</cp:lastModifiedBy>
  <cp:revision>232</cp:revision>
  <dcterms:created xsi:type="dcterms:W3CDTF">2017-07-11T01:33:00Z</dcterms:created>
  <dcterms:modified xsi:type="dcterms:W3CDTF">2023-10-20T03:26:28Z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E844F687BBB6456DB85EDA99E237FE72_12</vt:lpwstr>
  </property>
  <property fmtid="{D5CDD505-2E9C-101B-9397-08002B2CF9AE}" pid="3" name="KSOProductBuildVer">
    <vt:lpwstr>2052-12.1.0.15374</vt:lpwstr>
  </property>
</Properties>
</file>