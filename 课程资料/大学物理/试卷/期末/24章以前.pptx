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96" r:id="rId7"/>
    <p:sldId id="295" r:id="rId8"/>
    <p:sldId id="297" r:id="rId9"/>
    <p:sldId id="298" r:id="rId10"/>
    <p:sldId id="299" r:id="rId11"/>
    <p:sldId id="300" r:id="rId12"/>
    <p:sldId id="301" r:id="rId13"/>
    <p:sldId id="261" r:id="rId14"/>
    <p:sldId id="303" r:id="rId15"/>
    <p:sldId id="302" r:id="rId16"/>
    <p:sldId id="304" r:id="rId17"/>
    <p:sldId id="259" r:id="rId18"/>
    <p:sldId id="305" r:id="rId19"/>
    <p:sldId id="306" r:id="rId20"/>
    <p:sldId id="262" r:id="rId21"/>
    <p:sldId id="317" r:id="rId22"/>
    <p:sldId id="315" r:id="rId23"/>
    <p:sldId id="333" r:id="rId24"/>
    <p:sldId id="332" r:id="rId25"/>
    <p:sldId id="316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07" r:id="rId34"/>
    <p:sldId id="337" r:id="rId35"/>
    <p:sldId id="331" r:id="rId36"/>
    <p:sldId id="319" r:id="rId37"/>
    <p:sldId id="318" r:id="rId38"/>
    <p:sldId id="335" r:id="rId39"/>
    <p:sldId id="320" r:id="rId40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gs" Target="tags/tag11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3" Type="http://schemas.openxmlformats.org/officeDocument/2006/relationships/image" Target="../media/image74.wmf"/><Relationship Id="rId22" Type="http://schemas.openxmlformats.org/officeDocument/2006/relationships/image" Target="../media/image73.wmf"/><Relationship Id="rId21" Type="http://schemas.openxmlformats.org/officeDocument/2006/relationships/image" Target="../media/image72.wmf"/><Relationship Id="rId20" Type="http://schemas.openxmlformats.org/officeDocument/2006/relationships/image" Target="../media/image71.wmf"/><Relationship Id="rId2" Type="http://schemas.openxmlformats.org/officeDocument/2006/relationships/image" Target="../media/image53.wmf"/><Relationship Id="rId19" Type="http://schemas.openxmlformats.org/officeDocument/2006/relationships/image" Target="../media/image70.wmf"/><Relationship Id="rId18" Type="http://schemas.openxmlformats.org/officeDocument/2006/relationships/image" Target="../media/image69.wmf"/><Relationship Id="rId17" Type="http://schemas.openxmlformats.org/officeDocument/2006/relationships/image" Target="../media/image68.wmf"/><Relationship Id="rId16" Type="http://schemas.openxmlformats.org/officeDocument/2006/relationships/image" Target="../media/image67.wmf"/><Relationship Id="rId15" Type="http://schemas.openxmlformats.org/officeDocument/2006/relationships/image" Target="../media/image66.wmf"/><Relationship Id="rId14" Type="http://schemas.openxmlformats.org/officeDocument/2006/relationships/image" Target="../media/image65.wmf"/><Relationship Id="rId13" Type="http://schemas.openxmlformats.org/officeDocument/2006/relationships/image" Target="../media/image64.wmf"/><Relationship Id="rId12" Type="http://schemas.openxmlformats.org/officeDocument/2006/relationships/image" Target="../media/image63.wmf"/><Relationship Id="rId11" Type="http://schemas.openxmlformats.org/officeDocument/2006/relationships/image" Target="../media/image62.wmf"/><Relationship Id="rId10" Type="http://schemas.openxmlformats.org/officeDocument/2006/relationships/image" Target="../media/image61.wmf"/><Relationship Id="rId1" Type="http://schemas.openxmlformats.org/officeDocument/2006/relationships/image" Target="../media/image52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60.wmf"/><Relationship Id="rId1" Type="http://schemas.openxmlformats.org/officeDocument/2006/relationships/image" Target="../media/image6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9.xml"/><Relationship Id="rId4" Type="http://schemas.openxmlformats.org/officeDocument/2006/relationships/image" Target="../media/image5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18.xml"/><Relationship Id="rId4" Type="http://schemas.openxmlformats.org/officeDocument/2006/relationships/image" Target="../media/image11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image" Target="../media/image7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.bin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6" Type="http://schemas.openxmlformats.org/officeDocument/2006/relationships/vmlDrawing" Target="../drawings/vmlDrawing1.vml"/><Relationship Id="rId45" Type="http://schemas.openxmlformats.org/officeDocument/2006/relationships/slideLayout" Target="../slideLayouts/slideLayout2.xml"/><Relationship Id="rId44" Type="http://schemas.openxmlformats.org/officeDocument/2006/relationships/audio" Target="../media/audio1.wav"/><Relationship Id="rId43" Type="http://schemas.openxmlformats.org/officeDocument/2006/relationships/oleObject" Target="../embeddings/oleObject10.bin"/><Relationship Id="rId42" Type="http://schemas.openxmlformats.org/officeDocument/2006/relationships/tags" Target="../tags/tag55.xml"/><Relationship Id="rId41" Type="http://schemas.openxmlformats.org/officeDocument/2006/relationships/oleObject" Target="../embeddings/oleObject9.bin"/><Relationship Id="rId40" Type="http://schemas.openxmlformats.org/officeDocument/2006/relationships/tags" Target="../tags/tag54.xml"/><Relationship Id="rId4" Type="http://schemas.openxmlformats.org/officeDocument/2006/relationships/tags" Target="../tags/tag31.xml"/><Relationship Id="rId39" Type="http://schemas.openxmlformats.org/officeDocument/2006/relationships/tags" Target="../tags/tag53.xml"/><Relationship Id="rId38" Type="http://schemas.openxmlformats.org/officeDocument/2006/relationships/tags" Target="../tags/tag52.xml"/><Relationship Id="rId37" Type="http://schemas.openxmlformats.org/officeDocument/2006/relationships/tags" Target="../tags/tag51.xml"/><Relationship Id="rId36" Type="http://schemas.openxmlformats.org/officeDocument/2006/relationships/oleObject" Target="../embeddings/oleObject8.bin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oleObject" Target="../embeddings/oleObject7.bin"/><Relationship Id="rId31" Type="http://schemas.openxmlformats.org/officeDocument/2006/relationships/tags" Target="../tags/tag47.xml"/><Relationship Id="rId30" Type="http://schemas.openxmlformats.org/officeDocument/2006/relationships/oleObject" Target="../embeddings/oleObject6.bin"/><Relationship Id="rId3" Type="http://schemas.openxmlformats.org/officeDocument/2006/relationships/tags" Target="../tags/tag30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image" Target="../media/image24.wmf"/><Relationship Id="rId25" Type="http://schemas.openxmlformats.org/officeDocument/2006/relationships/oleObject" Target="../embeddings/oleObject5.bin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image" Target="../media/image23.wmf"/><Relationship Id="rId20" Type="http://schemas.openxmlformats.org/officeDocument/2006/relationships/oleObject" Target="../embeddings/oleObject4.bin"/><Relationship Id="rId2" Type="http://schemas.openxmlformats.org/officeDocument/2006/relationships/tags" Target="../tags/tag29.xml"/><Relationship Id="rId19" Type="http://schemas.openxmlformats.org/officeDocument/2006/relationships/tags" Target="../tags/tag40.xml"/><Relationship Id="rId18" Type="http://schemas.openxmlformats.org/officeDocument/2006/relationships/image" Target="../media/image22.wmf"/><Relationship Id="rId17" Type="http://schemas.openxmlformats.org/officeDocument/2006/relationships/oleObject" Target="../embeddings/oleObject3.bin"/><Relationship Id="rId16" Type="http://schemas.openxmlformats.org/officeDocument/2006/relationships/tags" Target="../tags/tag39.xml"/><Relationship Id="rId15" Type="http://schemas.openxmlformats.org/officeDocument/2006/relationships/image" Target="../media/image21.wmf"/><Relationship Id="rId14" Type="http://schemas.openxmlformats.org/officeDocument/2006/relationships/oleObject" Target="../embeddings/oleObject2.bin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image" Target="../media/image27.png"/><Relationship Id="rId7" Type="http://schemas.openxmlformats.org/officeDocument/2006/relationships/tags" Target="../tags/tag59.xml"/><Relationship Id="rId6" Type="http://schemas.openxmlformats.org/officeDocument/2006/relationships/image" Target="../media/image26.png"/><Relationship Id="rId5" Type="http://schemas.openxmlformats.org/officeDocument/2006/relationships/tags" Target="../tags/tag58.xml"/><Relationship Id="rId4" Type="http://schemas.openxmlformats.org/officeDocument/2006/relationships/image" Target="../media/image25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image" Target="../media/image29.png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26.png"/><Relationship Id="rId5" Type="http://schemas.openxmlformats.org/officeDocument/2006/relationships/tags" Target="../tags/tag66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tags" Target="../tags/tag6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35.png"/><Relationship Id="rId7" Type="http://schemas.openxmlformats.org/officeDocument/2006/relationships/tags" Target="../tags/tag70.xml"/><Relationship Id="rId6" Type="http://schemas.openxmlformats.org/officeDocument/2006/relationships/image" Target="../media/image25.png"/><Relationship Id="rId5" Type="http://schemas.openxmlformats.org/officeDocument/2006/relationships/tags" Target="../tags/tag69.xml"/><Relationship Id="rId4" Type="http://schemas.openxmlformats.org/officeDocument/2006/relationships/image" Target="../media/image29.png"/><Relationship Id="rId3" Type="http://schemas.openxmlformats.org/officeDocument/2006/relationships/tags" Target="../tags/tag68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28.png"/><Relationship Id="rId20" Type="http://schemas.openxmlformats.org/officeDocument/2006/relationships/tags" Target="../tags/tag78.xml"/><Relationship Id="rId2" Type="http://schemas.openxmlformats.org/officeDocument/2006/relationships/tags" Target="../tags/tag67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image" Target="../media/image39.png"/><Relationship Id="rId15" Type="http://schemas.openxmlformats.org/officeDocument/2006/relationships/tags" Target="../tags/tag74.xml"/><Relationship Id="rId14" Type="http://schemas.openxmlformats.org/officeDocument/2006/relationships/image" Target="../media/image38.png"/><Relationship Id="rId13" Type="http://schemas.openxmlformats.org/officeDocument/2006/relationships/tags" Target="../tags/tag73.xml"/><Relationship Id="rId12" Type="http://schemas.openxmlformats.org/officeDocument/2006/relationships/image" Target="../media/image37.png"/><Relationship Id="rId11" Type="http://schemas.openxmlformats.org/officeDocument/2006/relationships/tags" Target="../tags/tag72.xml"/><Relationship Id="rId10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82.xml"/><Relationship Id="rId7" Type="http://schemas.openxmlformats.org/officeDocument/2006/relationships/image" Target="../media/image42.png"/><Relationship Id="rId6" Type="http://schemas.openxmlformats.org/officeDocument/2006/relationships/tags" Target="../tags/tag81.xml"/><Relationship Id="rId5" Type="http://schemas.openxmlformats.org/officeDocument/2006/relationships/image" Target="../media/image41.png"/><Relationship Id="rId4" Type="http://schemas.openxmlformats.org/officeDocument/2006/relationships/tags" Target="../tags/tag80.xml"/><Relationship Id="rId3" Type="http://schemas.openxmlformats.org/officeDocument/2006/relationships/image" Target="../media/image40.png"/><Relationship Id="rId2" Type="http://schemas.openxmlformats.org/officeDocument/2006/relationships/tags" Target="../tags/tag7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83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image" Target="../media/image44.png"/><Relationship Id="rId6" Type="http://schemas.openxmlformats.org/officeDocument/2006/relationships/tags" Target="../tags/tag86.xml"/><Relationship Id="rId5" Type="http://schemas.openxmlformats.org/officeDocument/2006/relationships/image" Target="../media/image42.png"/><Relationship Id="rId4" Type="http://schemas.openxmlformats.org/officeDocument/2006/relationships/tags" Target="../tags/tag85.xml"/><Relationship Id="rId3" Type="http://schemas.openxmlformats.org/officeDocument/2006/relationships/image" Target="../media/image43.png"/><Relationship Id="rId2" Type="http://schemas.openxmlformats.org/officeDocument/2006/relationships/tags" Target="../tags/tag8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0.xml"/><Relationship Id="rId12" Type="http://schemas.openxmlformats.org/officeDocument/2006/relationships/image" Target="../media/image46.png"/><Relationship Id="rId11" Type="http://schemas.openxmlformats.org/officeDocument/2006/relationships/tags" Target="../tags/tag89.xml"/><Relationship Id="rId10" Type="http://schemas.openxmlformats.org/officeDocument/2006/relationships/image" Target="../media/image45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tags" Target="../tags/tag9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tags" Target="../tags/tag93.xml"/><Relationship Id="rId3" Type="http://schemas.openxmlformats.org/officeDocument/2006/relationships/image" Target="../media/image50.png"/><Relationship Id="rId2" Type="http://schemas.openxmlformats.org/officeDocument/2006/relationships/tags" Target="../tags/tag9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54.wmf"/><Relationship Id="rId54" Type="http://schemas.openxmlformats.org/officeDocument/2006/relationships/vmlDrawing" Target="../drawings/vmlDrawing2.v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98.xml"/><Relationship Id="rId51" Type="http://schemas.openxmlformats.org/officeDocument/2006/relationships/image" Target="../media/image74.wmf"/><Relationship Id="rId50" Type="http://schemas.openxmlformats.org/officeDocument/2006/relationships/oleObject" Target="../embeddings/oleObject33.bin"/><Relationship Id="rId5" Type="http://schemas.openxmlformats.org/officeDocument/2006/relationships/oleObject" Target="../embeddings/oleObject13.bin"/><Relationship Id="rId49" Type="http://schemas.openxmlformats.org/officeDocument/2006/relationships/tags" Target="../tags/tag97.xml"/><Relationship Id="rId48" Type="http://schemas.openxmlformats.org/officeDocument/2006/relationships/image" Target="../media/image2.png"/><Relationship Id="rId47" Type="http://schemas.openxmlformats.org/officeDocument/2006/relationships/tags" Target="../tags/tag96.xml"/><Relationship Id="rId46" Type="http://schemas.openxmlformats.org/officeDocument/2006/relationships/tags" Target="../tags/tag95.xml"/><Relationship Id="rId45" Type="http://schemas.openxmlformats.org/officeDocument/2006/relationships/tags" Target="../tags/tag94.xml"/><Relationship Id="rId44" Type="http://schemas.openxmlformats.org/officeDocument/2006/relationships/image" Target="../media/image73.wmf"/><Relationship Id="rId43" Type="http://schemas.openxmlformats.org/officeDocument/2006/relationships/oleObject" Target="../embeddings/oleObject32.bin"/><Relationship Id="rId42" Type="http://schemas.openxmlformats.org/officeDocument/2006/relationships/image" Target="../media/image72.wmf"/><Relationship Id="rId41" Type="http://schemas.openxmlformats.org/officeDocument/2006/relationships/oleObject" Target="../embeddings/oleObject31.bin"/><Relationship Id="rId40" Type="http://schemas.openxmlformats.org/officeDocument/2006/relationships/image" Target="../media/image71.wmf"/><Relationship Id="rId4" Type="http://schemas.openxmlformats.org/officeDocument/2006/relationships/image" Target="../media/image53.wmf"/><Relationship Id="rId39" Type="http://schemas.openxmlformats.org/officeDocument/2006/relationships/oleObject" Target="../embeddings/oleObject30.bin"/><Relationship Id="rId38" Type="http://schemas.openxmlformats.org/officeDocument/2006/relationships/image" Target="../media/image70.wmf"/><Relationship Id="rId37" Type="http://schemas.openxmlformats.org/officeDocument/2006/relationships/oleObject" Target="../embeddings/oleObject29.bin"/><Relationship Id="rId36" Type="http://schemas.openxmlformats.org/officeDocument/2006/relationships/image" Target="../media/image69.wmf"/><Relationship Id="rId35" Type="http://schemas.openxmlformats.org/officeDocument/2006/relationships/oleObject" Target="../embeddings/oleObject28.bin"/><Relationship Id="rId34" Type="http://schemas.openxmlformats.org/officeDocument/2006/relationships/image" Target="../media/image68.wmf"/><Relationship Id="rId33" Type="http://schemas.openxmlformats.org/officeDocument/2006/relationships/oleObject" Target="../embeddings/oleObject27.bin"/><Relationship Id="rId32" Type="http://schemas.openxmlformats.org/officeDocument/2006/relationships/image" Target="../media/image67.wmf"/><Relationship Id="rId31" Type="http://schemas.openxmlformats.org/officeDocument/2006/relationships/oleObject" Target="../embeddings/oleObject26.bin"/><Relationship Id="rId30" Type="http://schemas.openxmlformats.org/officeDocument/2006/relationships/image" Target="../media/image66.wmf"/><Relationship Id="rId3" Type="http://schemas.openxmlformats.org/officeDocument/2006/relationships/oleObject" Target="../embeddings/oleObject12.bin"/><Relationship Id="rId29" Type="http://schemas.openxmlformats.org/officeDocument/2006/relationships/oleObject" Target="../embeddings/oleObject25.bin"/><Relationship Id="rId28" Type="http://schemas.openxmlformats.org/officeDocument/2006/relationships/image" Target="../media/image65.wmf"/><Relationship Id="rId27" Type="http://schemas.openxmlformats.org/officeDocument/2006/relationships/oleObject" Target="../embeddings/oleObject24.bin"/><Relationship Id="rId26" Type="http://schemas.openxmlformats.org/officeDocument/2006/relationships/image" Target="../media/image64.wmf"/><Relationship Id="rId25" Type="http://schemas.openxmlformats.org/officeDocument/2006/relationships/oleObject" Target="../embeddings/oleObject23.bin"/><Relationship Id="rId24" Type="http://schemas.openxmlformats.org/officeDocument/2006/relationships/image" Target="../media/image63.wmf"/><Relationship Id="rId23" Type="http://schemas.openxmlformats.org/officeDocument/2006/relationships/oleObject" Target="../embeddings/oleObject22.bin"/><Relationship Id="rId22" Type="http://schemas.openxmlformats.org/officeDocument/2006/relationships/image" Target="../media/image62.wmf"/><Relationship Id="rId21" Type="http://schemas.openxmlformats.org/officeDocument/2006/relationships/oleObject" Target="../embeddings/oleObject21.bin"/><Relationship Id="rId20" Type="http://schemas.openxmlformats.org/officeDocument/2006/relationships/image" Target="../media/image61.wmf"/><Relationship Id="rId2" Type="http://schemas.openxmlformats.org/officeDocument/2006/relationships/image" Target="../media/image52.w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6.png"/><Relationship Id="rId2" Type="http://schemas.openxmlformats.org/officeDocument/2006/relationships/tags" Target="../tags/tag99.xml"/><Relationship Id="rId1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1" Type="http://schemas.openxmlformats.org/officeDocument/2006/relationships/tags" Target="../tags/tag10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63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34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image" Target="../media/image83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1" Type="http://schemas.openxmlformats.org/officeDocument/2006/relationships/tags" Target="../tags/tag104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7.xml"/><Relationship Id="rId7" Type="http://schemas.openxmlformats.org/officeDocument/2006/relationships/oleObject" Target="../embeddings/oleObject41.bin"/><Relationship Id="rId6" Type="http://schemas.openxmlformats.org/officeDocument/2006/relationships/tags" Target="../tags/tag106.x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40.bin"/><Relationship Id="rId3" Type="http://schemas.openxmlformats.org/officeDocument/2006/relationships/tags" Target="../tags/tag105.xml"/><Relationship Id="rId2" Type="http://schemas.openxmlformats.org/officeDocument/2006/relationships/image" Target="../media/image86.png"/><Relationship Id="rId10" Type="http://schemas.openxmlformats.org/officeDocument/2006/relationships/vmlDrawing" Target="../drawings/vmlDrawing4.v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oleObject" Target="../embeddings/oleObject42.bin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image" Target="../media/image93.png"/><Relationship Id="rId4" Type="http://schemas.openxmlformats.org/officeDocument/2006/relationships/tags" Target="../tags/tag109.xml"/><Relationship Id="rId3" Type="http://schemas.openxmlformats.org/officeDocument/2006/relationships/image" Target="../media/image92.png"/><Relationship Id="rId2" Type="http://schemas.openxmlformats.org/officeDocument/2006/relationships/tags" Target="../tags/tag108.xml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111197" y="301738"/>
            <a:ext cx="3559541" cy="11438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63842" y="1711584"/>
            <a:ext cx="12192635" cy="1645150"/>
          </a:xfrm>
          <a:prstGeom prst="rect">
            <a:avLst/>
          </a:prstGeom>
          <a:solidFill>
            <a:srgbClr val="3943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38417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-229659" y="2042954"/>
            <a:ext cx="12192635" cy="977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一类</a:t>
            </a:r>
            <a:r>
              <a:rPr lang="en-US" altLang="zh-CN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磁相关的量</a:t>
            </a:r>
            <a:endParaRPr lang="zh-CN" altLang="en-US" sz="4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450" y="204836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1.适用</a:t>
            </a:r>
            <a:r>
              <a:rPr lang="zh-CN" altLang="en-US" dirty="0"/>
              <a:t>运动</a:t>
            </a:r>
            <a:r>
              <a:rPr lang="en-US" altLang="zh-CN" dirty="0"/>
              <a:t>点电荷 </a:t>
            </a:r>
            <a:endParaRPr lang="zh-CN" altLang="en-US" dirty="0"/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2.适用</a:t>
            </a:r>
            <a:r>
              <a:rPr lang="zh-CN" dirty="0">
                <a:sym typeface="+mn-ea"/>
              </a:rPr>
              <a:t>电流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是矢量，投影到</a:t>
            </a:r>
            <a:r>
              <a:rPr lang="en-US" altLang="zh-CN" dirty="0"/>
              <a:t>x</a:t>
            </a:r>
            <a:r>
              <a:rPr lang="zh-CN" altLang="en-US" dirty="0"/>
              <a:t>，或</a:t>
            </a:r>
            <a:r>
              <a:rPr lang="en-US" altLang="zh-CN" dirty="0"/>
              <a:t>y</a:t>
            </a:r>
            <a:r>
              <a:rPr lang="zh-CN" altLang="en-US" dirty="0"/>
              <a:t>方向后再积分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575560" y="58070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b="1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37" y="1373976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54363" y="538348"/>
            <a:ext cx="38576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一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、求磁场公式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86585" y="2853055"/>
            <a:ext cx="7806055" cy="9823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28140" y="4789170"/>
            <a:ext cx="7139940" cy="936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77952" y="502281"/>
            <a:ext cx="56940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二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、电流在磁场中的受力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54406"/>
          <a:stretch>
            <a:fillRect/>
          </a:stretch>
        </p:blipFill>
        <p:spPr>
          <a:xfrm>
            <a:off x="1668145" y="3187700"/>
            <a:ext cx="6315075" cy="6210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31925" y="221107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1.适用</a:t>
            </a:r>
            <a:r>
              <a:rPr lang="zh-CN" altLang="en-US" sz="2800" dirty="0">
                <a:sym typeface="+mn-ea"/>
              </a:rPr>
              <a:t>直线</a:t>
            </a:r>
            <a:r>
              <a:rPr lang="zh-CN" sz="2800" dirty="0">
                <a:sym typeface="+mn-ea"/>
              </a:rPr>
              <a:t>电流和恒定磁场</a:t>
            </a:r>
            <a:endParaRPr lang="zh-CN" altLang="en-US" sz="2800" dirty="0"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317625" y="4136390"/>
            <a:ext cx="70180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2.</a:t>
            </a:r>
            <a:r>
              <a:rPr lang="zh-CN" altLang="en-US" sz="2800" dirty="0">
                <a:sym typeface="+mn-ea"/>
              </a:rPr>
              <a:t>不是</a:t>
            </a:r>
            <a:r>
              <a:rPr lang="zh-CN" altLang="en-US" sz="2800" dirty="0">
                <a:sym typeface="+mn-ea"/>
              </a:rPr>
              <a:t>直线</a:t>
            </a:r>
            <a:r>
              <a:rPr lang="zh-CN" sz="2800" dirty="0">
                <a:sym typeface="+mn-ea"/>
              </a:rPr>
              <a:t>电流和恒定磁场，任意情况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79270" y="5083810"/>
            <a:ext cx="7745095" cy="549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1787" y="1861759"/>
            <a:ext cx="2976489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，磁铁</a:t>
            </a:r>
            <a:endParaRPr lang="zh-CN" altLang="en-US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，运动电荷</a:t>
            </a:r>
            <a:endParaRPr lang="zh-CN" altLang="en-US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，电流</a:t>
            </a:r>
            <a:endParaRPr lang="zh-CN" altLang="en-US" sz="2800" dirty="0"/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，变化的电场</a:t>
            </a:r>
            <a:endParaRPr lang="zh-CN" altLang="en-US" sz="2800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47758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、磁场产生的源头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431925" y="2211070"/>
            <a:ext cx="8173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1.适用</a:t>
            </a:r>
            <a:r>
              <a:rPr lang="zh-CN" altLang="en-US" sz="2800" dirty="0">
                <a:sym typeface="+mn-ea"/>
              </a:rPr>
              <a:t>一维无限长直线</a:t>
            </a:r>
            <a:r>
              <a:rPr lang="zh-CN" sz="2800" dirty="0">
                <a:sym typeface="+mn-ea"/>
              </a:rPr>
              <a:t>电流（根据安培环路定理）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38228"/>
          <a:stretch>
            <a:fillRect/>
          </a:stretch>
        </p:blipFill>
        <p:spPr>
          <a:xfrm>
            <a:off x="1830705" y="3007995"/>
            <a:ext cx="6315075" cy="841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08855" y="2544445"/>
            <a:ext cx="6553835" cy="3910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27635" y="133413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2.适用</a:t>
            </a:r>
            <a:r>
              <a:rPr lang="zh-CN" altLang="en-US" sz="2800" dirty="0">
                <a:sym typeface="+mn-ea"/>
              </a:rPr>
              <a:t>有限长直线</a:t>
            </a:r>
            <a:r>
              <a:rPr lang="zh-CN" sz="2800" dirty="0">
                <a:sym typeface="+mn-ea"/>
              </a:rPr>
              <a:t>电流（根据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53000" y="1261745"/>
            <a:ext cx="7139940" cy="9372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015" y="1918335"/>
            <a:ext cx="3544570" cy="47244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536950" y="5356225"/>
            <a:ext cx="1013460" cy="3048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3451225" y="6014720"/>
            <a:ext cx="1275080" cy="3048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3451225" y="6337935"/>
            <a:ext cx="1275080" cy="3048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106170" y="14141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3.</a:t>
            </a:r>
            <a:r>
              <a:rPr sz="2800" dirty="0">
                <a:sym typeface="+mn-ea"/>
              </a:rPr>
              <a:t>一维的（二维的型）</a:t>
            </a:r>
            <a:endParaRPr sz="28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3040" y="1821815"/>
            <a:ext cx="8150860" cy="4531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702310" y="14166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 dirty="0">
                <a:sym typeface="+mn-ea"/>
              </a:rPr>
              <a:t>如果有</a:t>
            </a:r>
            <a:r>
              <a:rPr lang="en-US" altLang="zh-CN" sz="2800" dirty="0">
                <a:sym typeface="+mn-ea"/>
              </a:rPr>
              <a:t>N</a:t>
            </a:r>
            <a:r>
              <a:rPr lang="zh-CN" altLang="en-US" sz="2800" dirty="0">
                <a:sym typeface="+mn-ea"/>
              </a:rPr>
              <a:t>圈，结果要再乘</a:t>
            </a:r>
            <a:r>
              <a:rPr lang="en-US" altLang="zh-CN" sz="2800" dirty="0">
                <a:sym typeface="+mn-ea"/>
              </a:rPr>
              <a:t>N</a:t>
            </a:r>
            <a:endParaRPr lang="en-US" altLang="zh-CN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08970" y="1938770"/>
            <a:ext cx="5774060" cy="8037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41045" y="4094065"/>
            <a:ext cx="4610100" cy="647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85825" y="3089910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ym typeface="+mn-ea"/>
              </a:rPr>
              <a:t>在圆环中间处的磁场</a:t>
            </a:r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  <a:p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106170" y="1414145"/>
            <a:ext cx="609600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4.</a:t>
            </a:r>
            <a:r>
              <a:rPr lang="zh-CN" altLang="en-US" sz="2800" dirty="0">
                <a:sym typeface="+mn-ea"/>
              </a:rPr>
              <a:t>三维的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4-1</a:t>
            </a:r>
            <a:r>
              <a:rPr lang="zh-CN" altLang="en-US" sz="2800" dirty="0">
                <a:sym typeface="+mn-ea"/>
              </a:rPr>
              <a:t>无限长的长直螺线管</a:t>
            </a:r>
            <a:r>
              <a:rPr lang="en-US" altLang="zh-CN" sz="2800" dirty="0">
                <a:sym typeface="+mn-ea"/>
              </a:rPr>
              <a:t> solenoid</a:t>
            </a:r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使用安培环路定理</a:t>
            </a:r>
            <a:endParaRPr lang="zh-CN" altLang="en-US" sz="2800" dirty="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61187" t="66009" b="21685"/>
          <a:stretch>
            <a:fillRect/>
          </a:stretch>
        </p:blipFill>
        <p:spPr>
          <a:xfrm>
            <a:off x="1155065" y="2884805"/>
            <a:ext cx="3377565" cy="8439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t="39343" r="64390" b="52389"/>
          <a:stretch>
            <a:fillRect/>
          </a:stretch>
        </p:blipFill>
        <p:spPr>
          <a:xfrm>
            <a:off x="1592580" y="5688965"/>
            <a:ext cx="3098800" cy="5670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rcRect l="8727" t="72630" r="57465"/>
          <a:stretch>
            <a:fillRect/>
          </a:stretch>
        </p:blipFill>
        <p:spPr>
          <a:xfrm>
            <a:off x="6052820" y="2210435"/>
            <a:ext cx="2941955" cy="18770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57921" t="15538" b="71408"/>
          <a:stretch>
            <a:fillRect/>
          </a:stretch>
        </p:blipFill>
        <p:spPr>
          <a:xfrm>
            <a:off x="4046855" y="4420870"/>
            <a:ext cx="2757805" cy="5105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rcRect l="55327" t="9065" r="16331" b="83250"/>
          <a:stretch>
            <a:fillRect/>
          </a:stretch>
        </p:blipFill>
        <p:spPr>
          <a:xfrm>
            <a:off x="5025390" y="5796280"/>
            <a:ext cx="2466340" cy="52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106170" y="1414145"/>
            <a:ext cx="609600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4.</a:t>
            </a:r>
            <a:r>
              <a:rPr lang="zh-CN" altLang="en-US" sz="2800" dirty="0">
                <a:sym typeface="+mn-ea"/>
              </a:rPr>
              <a:t>三维的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4-2</a:t>
            </a:r>
            <a:r>
              <a:rPr lang="zh-CN" altLang="en-US" sz="2800" dirty="0">
                <a:sym typeface="+mn-ea"/>
              </a:rPr>
              <a:t>螺绕环</a:t>
            </a:r>
            <a:r>
              <a:rPr lang="en-US" altLang="zh-CN" sz="2800" dirty="0">
                <a:sym typeface="+mn-ea"/>
              </a:rPr>
              <a:t> toroidal solenoid</a:t>
            </a:r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使用安培环路定理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7921" t="15538" b="71408"/>
          <a:stretch>
            <a:fillRect/>
          </a:stretch>
        </p:blipFill>
        <p:spPr>
          <a:xfrm>
            <a:off x="4046855" y="4420870"/>
            <a:ext cx="2757805" cy="5105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0880" y="1872615"/>
            <a:ext cx="3910965" cy="2190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t="29371" r="6508" b="11265"/>
          <a:stretch>
            <a:fillRect/>
          </a:stretch>
        </p:blipFill>
        <p:spPr>
          <a:xfrm>
            <a:off x="2254885" y="5725160"/>
            <a:ext cx="2791460" cy="545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835" y="5455285"/>
            <a:ext cx="1894840" cy="1076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54635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</a:t>
            </a:r>
            <a:r>
              <a:rPr kumimoji="0" 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求特殊情况下的磁场</a:t>
            </a:r>
            <a:endParaRPr kumimoji="0" 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106170" y="1414145"/>
            <a:ext cx="837184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dirty="0">
                <a:sym typeface="+mn-ea"/>
              </a:rPr>
              <a:t>4.</a:t>
            </a:r>
            <a:r>
              <a:rPr lang="zh-CN" altLang="en-US" sz="2800" dirty="0">
                <a:sym typeface="+mn-ea"/>
              </a:rPr>
              <a:t>三维的</a:t>
            </a:r>
            <a:endParaRPr lang="zh-CN" altLang="en-US" sz="2800" dirty="0">
              <a:sym typeface="+mn-ea"/>
            </a:endParaRPr>
          </a:p>
          <a:p>
            <a:r>
              <a:rPr lang="en-US" altLang="zh-CN" sz="2800" dirty="0">
                <a:sym typeface="+mn-ea"/>
              </a:rPr>
              <a:t>4-3</a:t>
            </a:r>
            <a:r>
              <a:rPr lang="zh-CN" altLang="en-US" sz="2800" dirty="0">
                <a:sym typeface="+mn-ea"/>
              </a:rPr>
              <a:t>长直考虑界面大小的导线</a:t>
            </a:r>
            <a:r>
              <a:rPr lang="en-US" altLang="zh-CN" sz="2800" dirty="0">
                <a:sym typeface="+mn-ea"/>
              </a:rPr>
              <a:t> </a:t>
            </a:r>
            <a:r>
              <a:rPr lang="zh-CN" altLang="en-US" sz="2800" dirty="0">
                <a:sym typeface="+mn-ea"/>
              </a:rPr>
              <a:t>（类似于</a:t>
            </a:r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中的情况</a:t>
            </a:r>
            <a:r>
              <a:rPr lang="en-US" altLang="zh-CN" sz="2800" dirty="0">
                <a:sym typeface="+mn-ea"/>
              </a:rPr>
              <a:t> </a:t>
            </a:r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使用安培环路定理</a:t>
            </a:r>
            <a:endParaRPr lang="zh-CN" altLang="en-US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分导体内部和导体外部两种情况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7921" t="15538" b="71408"/>
          <a:stretch>
            <a:fillRect/>
          </a:stretch>
        </p:blipFill>
        <p:spPr>
          <a:xfrm>
            <a:off x="4436745" y="2990215"/>
            <a:ext cx="2757805" cy="510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2621" t="8640" b="13556"/>
          <a:stretch>
            <a:fillRect/>
          </a:stretch>
        </p:blipFill>
        <p:spPr>
          <a:xfrm>
            <a:off x="1906270" y="4116070"/>
            <a:ext cx="4036060" cy="12045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385" y="5530215"/>
            <a:ext cx="3632835" cy="8870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630" y="4116070"/>
            <a:ext cx="3154045" cy="1842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34004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、电动势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emf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290" name="文本框 12289"/>
          <p:cNvSpPr txBox="1"/>
          <p:nvPr>
            <p:custDataLst>
              <p:tags r:id="rId2"/>
            </p:custDataLst>
          </p:nvPr>
        </p:nvSpPr>
        <p:spPr>
          <a:xfrm>
            <a:off x="2237105" y="1516380"/>
            <a:ext cx="41084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电磁感应实验的结论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</p:txBody>
      </p:sp>
      <p:sp>
        <p:nvSpPr>
          <p:cNvPr id="12291" name="文本框 12290"/>
          <p:cNvSpPr txBox="1"/>
          <p:nvPr>
            <p:custDataLst>
              <p:tags r:id="rId3"/>
            </p:custDataLst>
          </p:nvPr>
        </p:nvSpPr>
        <p:spPr>
          <a:xfrm>
            <a:off x="2237105" y="2124393"/>
            <a:ext cx="7777163" cy="1568450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不管什么原因使穿过闭合导体回路所包围面积内的磁通量发生变化(增加或减少),  回路中都会出现电流,  这一现象称为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</a:rPr>
              <a:t>电磁感应现象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,   电磁感应现象中产生的电流称为</a:t>
            </a:r>
            <a:r>
              <a:rPr lang="zh-CN" altLang="en-US" sz="2400" b="1" dirty="0">
                <a:solidFill>
                  <a:srgbClr val="990033"/>
                </a:solidFill>
                <a:latin typeface="Times New Roman" panose="02020603050405020304" pitchFamily="18" charset="0"/>
              </a:rPr>
              <a:t>感应电流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矩形 12291"/>
          <p:cNvSpPr/>
          <p:nvPr>
            <p:custDataLst>
              <p:tags r:id="rId4"/>
            </p:custDataLst>
          </p:nvPr>
        </p:nvSpPr>
        <p:spPr>
          <a:xfrm>
            <a:off x="1876743" y="3784918"/>
            <a:ext cx="8001000" cy="5397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u="none" kern="1200" baseline="0">
                <a:solidFill>
                  <a:srgbClr val="666699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800" b="0" dirty="0">
                <a:solidFill>
                  <a:schemeClr val="folHlink"/>
                </a:solidFill>
                <a:latin typeface="仿宋_GB2312" pitchFamily="1" charset="-122"/>
                <a:ea typeface="仿宋_GB2312" pitchFamily="1" charset="-122"/>
              </a:rPr>
              <a:t> </a:t>
            </a:r>
            <a:r>
              <a:rPr lang="zh-CN" altLang="en-US" dirty="0">
                <a:solidFill>
                  <a:schemeClr val="folHlink"/>
                </a:solidFill>
                <a:latin typeface="仿宋_GB2312" pitchFamily="1" charset="-122"/>
                <a:ea typeface="仿宋_GB2312" pitchFamily="1" charset="-122"/>
              </a:rPr>
              <a:t>楞次定律</a:t>
            </a:r>
            <a:endParaRPr lang="zh-CN" altLang="en-US" sz="2800" b="0" dirty="0">
              <a:solidFill>
                <a:schemeClr val="folHlink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grpSp>
        <p:nvGrpSpPr>
          <p:cNvPr id="12293" name="组合 12292"/>
          <p:cNvGrpSpPr/>
          <p:nvPr/>
        </p:nvGrpSpPr>
        <p:grpSpPr>
          <a:xfrm>
            <a:off x="3532505" y="4699318"/>
            <a:ext cx="914400" cy="1600200"/>
            <a:chOff x="0" y="0"/>
            <a:chExt cx="576" cy="1008"/>
          </a:xfrm>
        </p:grpSpPr>
        <p:sp>
          <p:nvSpPr>
            <p:cNvPr id="12294" name="任意多边形 12293"/>
            <p:cNvSpPr/>
            <p:nvPr>
              <p:custDataLst>
                <p:tags r:id="rId5"/>
              </p:custDataLst>
            </p:nvPr>
          </p:nvSpPr>
          <p:spPr>
            <a:xfrm rot="463389">
              <a:off x="240" y="288"/>
              <a:ext cx="336" cy="720"/>
            </a:xfrm>
            <a:custGeom>
              <a:avLst/>
              <a:gdLst>
                <a:gd name="txL" fmla="*/ 0 w 21600"/>
                <a:gd name="txT" fmla="*/ 0 h 25135"/>
                <a:gd name="txR" fmla="*/ 21600 w 21600"/>
                <a:gd name="txB" fmla="*/ 25135 h 25135"/>
              </a:gdLst>
              <a:ahLst/>
              <a:cxnLst>
                <a:cxn ang="270">
                  <a:pos x="0" y="0"/>
                </a:cxn>
                <a:cxn ang="90">
                  <a:pos x="21308" y="25135"/>
                </a:cxn>
                <a:cxn ang="90">
                  <a:pos x="0" y="21600"/>
                </a:cxn>
              </a:cxnLst>
              <a:rect l="txL" t="txT" r="txR" b="txB"/>
              <a:pathLst>
                <a:path w="21600" h="25135" fill="none">
                  <a:moveTo>
                    <a:pt x="0" y="0"/>
                  </a:moveTo>
                  <a:arcTo wR="21600" hR="21600" stAng="-5400000" swAng="5965175"/>
                </a:path>
                <a:path w="21600" h="25135" stroke="0">
                  <a:moveTo>
                    <a:pt x="0" y="0"/>
                  </a:moveTo>
                  <a:arcTo wR="21600" hR="21600" stAng="-5400000" swAng="5965175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2295" name="对象 12294"/>
            <p:cNvGraphicFramePr>
              <a:graphicFrameLocks noChangeAspect="1"/>
            </p:cNvGraphicFramePr>
            <p:nvPr>
              <p:custDataLst>
                <p:tags r:id="rId6"/>
              </p:custDataLst>
            </p:nvPr>
          </p:nvGraphicFramePr>
          <p:xfrm>
            <a:off x="0" y="0"/>
            <a:ext cx="35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7" imgW="306070" imgH="293370" progId="Equation.3">
                    <p:embed/>
                  </p:oleObj>
                </mc:Choice>
                <mc:Fallback>
                  <p:oleObj name="" r:id="rId7" imgW="306070" imgH="29337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5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6" name="椭圆 12295"/>
          <p:cNvSpPr/>
          <p:nvPr>
            <p:custDataLst>
              <p:tags r:id="rId9"/>
            </p:custDataLst>
          </p:nvPr>
        </p:nvSpPr>
        <p:spPr>
          <a:xfrm>
            <a:off x="3989705" y="5232718"/>
            <a:ext cx="1905000" cy="533400"/>
          </a:xfrm>
          <a:prstGeom prst="ellipse">
            <a:avLst/>
          </a:prstGeom>
          <a:noFill/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2297" name="组合 12296"/>
          <p:cNvGrpSpPr/>
          <p:nvPr/>
        </p:nvGrpSpPr>
        <p:grpSpPr>
          <a:xfrm>
            <a:off x="4523105" y="4394518"/>
            <a:ext cx="857250" cy="1212850"/>
            <a:chOff x="0" y="0"/>
            <a:chExt cx="540" cy="764"/>
          </a:xfrm>
        </p:grpSpPr>
        <p:grpSp>
          <p:nvGrpSpPr>
            <p:cNvPr id="12298" name="组合 12297"/>
            <p:cNvGrpSpPr/>
            <p:nvPr/>
          </p:nvGrpSpPr>
          <p:grpSpPr>
            <a:xfrm>
              <a:off x="0" y="144"/>
              <a:ext cx="288" cy="528"/>
              <a:chOff x="0" y="0"/>
              <a:chExt cx="288" cy="528"/>
            </a:xfrm>
          </p:grpSpPr>
          <p:grpSp>
            <p:nvGrpSpPr>
              <p:cNvPr id="12299" name="组合 12298"/>
              <p:cNvGrpSpPr/>
              <p:nvPr/>
            </p:nvGrpSpPr>
            <p:grpSpPr>
              <a:xfrm>
                <a:off x="144" y="0"/>
                <a:ext cx="144" cy="528"/>
                <a:chOff x="0" y="0"/>
                <a:chExt cx="96" cy="480"/>
              </a:xfrm>
            </p:grpSpPr>
            <p:sp>
              <p:nvSpPr>
                <p:cNvPr id="12300" name="矩形 1229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0" y="0"/>
                  <a:ext cx="96" cy="240"/>
                </a:xfrm>
                <a:prstGeom prst="rect">
                  <a:avLst/>
                </a:prstGeom>
                <a:solidFill>
                  <a:srgbClr val="FF0000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2301" name="矩形 1230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0" y="240"/>
                  <a:ext cx="96" cy="240"/>
                </a:xfrm>
                <a:prstGeom prst="rect">
                  <a:avLst/>
                </a:prstGeom>
                <a:solidFill>
                  <a:srgbClr val="000099"/>
                </a:solidFill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2302" name="直接连接符 12301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0"/>
                <a:ext cx="0" cy="3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aphicFrame>
          <p:nvGraphicFramePr>
            <p:cNvPr id="12303" name="对象 12302"/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288" y="576"/>
            <a:ext cx="212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4" imgW="217170" imgH="191770" progId="Equation.3">
                    <p:embed/>
                  </p:oleObj>
                </mc:Choice>
                <mc:Fallback>
                  <p:oleObj name="" r:id="rId14" imgW="217170" imgH="19177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576"/>
                          <a:ext cx="212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对象 12303"/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288" y="0"/>
            <a:ext cx="25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17" imgW="179070" imgH="204470" progId="Equation.3">
                    <p:embed/>
                  </p:oleObj>
                </mc:Choice>
                <mc:Fallback>
                  <p:oleObj name="" r:id="rId17" imgW="179070" imgH="20447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0"/>
                          <a:ext cx="25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05" name="组合 12304"/>
          <p:cNvGrpSpPr/>
          <p:nvPr/>
        </p:nvGrpSpPr>
        <p:grpSpPr>
          <a:xfrm>
            <a:off x="5132705" y="5080318"/>
            <a:ext cx="762000" cy="1333500"/>
            <a:chOff x="0" y="0"/>
            <a:chExt cx="480" cy="840"/>
          </a:xfrm>
        </p:grpSpPr>
        <p:graphicFrame>
          <p:nvGraphicFramePr>
            <p:cNvPr id="12306" name="对象 12305"/>
            <p:cNvGraphicFramePr>
              <a:graphicFrameLocks noChangeAspect="1"/>
            </p:cNvGraphicFramePr>
            <p:nvPr>
              <p:custDataLst>
                <p:tags r:id="rId19"/>
              </p:custDataLst>
            </p:nvPr>
          </p:nvGraphicFramePr>
          <p:xfrm>
            <a:off x="0" y="576"/>
            <a:ext cx="2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20" imgW="191770" imgH="229870" progId="Equation.3">
                    <p:embed/>
                  </p:oleObj>
                </mc:Choice>
                <mc:Fallback>
                  <p:oleObj name="" r:id="rId20" imgW="191770" imgH="22987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576"/>
                          <a:ext cx="2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任意多边形 12306"/>
            <p:cNvSpPr/>
            <p:nvPr>
              <p:custDataLst>
                <p:tags r:id="rId22"/>
              </p:custDataLst>
            </p:nvPr>
          </p:nvSpPr>
          <p:spPr>
            <a:xfrm rot="864899" flipH="1" flipV="1">
              <a:off x="144" y="0"/>
              <a:ext cx="336" cy="720"/>
            </a:xfrm>
            <a:custGeom>
              <a:avLst/>
              <a:gdLst>
                <a:gd name="txL" fmla="*/ 0 w 21600"/>
                <a:gd name="txT" fmla="*/ 0 h 25135"/>
                <a:gd name="txR" fmla="*/ 21600 w 21600"/>
                <a:gd name="txB" fmla="*/ 25135 h 25135"/>
              </a:gdLst>
              <a:ahLst/>
              <a:cxnLst>
                <a:cxn ang="270">
                  <a:pos x="0" y="0"/>
                </a:cxn>
                <a:cxn ang="90">
                  <a:pos x="21308" y="25135"/>
                </a:cxn>
                <a:cxn ang="90">
                  <a:pos x="0" y="21600"/>
                </a:cxn>
              </a:cxnLst>
              <a:rect l="txL" t="txT" r="txR" b="txB"/>
              <a:pathLst>
                <a:path w="21600" h="25135" fill="none">
                  <a:moveTo>
                    <a:pt x="0" y="0"/>
                  </a:moveTo>
                  <a:arcTo wR="21600" hR="21600" stAng="-5400000" swAng="5965175"/>
                </a:path>
                <a:path w="21600" h="25135" stroke="0">
                  <a:moveTo>
                    <a:pt x="0" y="0"/>
                  </a:moveTo>
                  <a:arcTo wR="21600" hR="21600" stAng="-5400000" swAng="5965175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308" name="组合 12307"/>
          <p:cNvGrpSpPr/>
          <p:nvPr/>
        </p:nvGrpSpPr>
        <p:grpSpPr>
          <a:xfrm>
            <a:off x="5208905" y="4851718"/>
            <a:ext cx="858838" cy="838200"/>
            <a:chOff x="0" y="0"/>
            <a:chExt cx="507" cy="511"/>
          </a:xfrm>
        </p:grpSpPr>
        <p:sp>
          <p:nvSpPr>
            <p:cNvPr id="12309" name="任意多边形 12308"/>
            <p:cNvSpPr/>
            <p:nvPr>
              <p:custDataLst>
                <p:tags r:id="rId23"/>
              </p:custDataLst>
            </p:nvPr>
          </p:nvSpPr>
          <p:spPr>
            <a:xfrm>
              <a:off x="0" y="223"/>
              <a:ext cx="432" cy="288"/>
            </a:xfrm>
            <a:custGeom>
              <a:avLst/>
              <a:gdLst>
                <a:gd name="txL" fmla="*/ 0 w 21600"/>
                <a:gd name="txT" fmla="*/ 0 h 41302"/>
                <a:gd name="txR" fmla="*/ 21600 w 21600"/>
                <a:gd name="txB" fmla="*/ 41302 h 41302"/>
              </a:gdLst>
              <a:ahLst/>
              <a:cxnLst>
                <a:cxn ang="270">
                  <a:pos x="131" y="0"/>
                </a:cxn>
                <a:cxn ang="90">
                  <a:pos x="8852" y="41302"/>
                </a:cxn>
                <a:cxn ang="90">
                  <a:pos x="0" y="21600"/>
                </a:cxn>
              </a:cxnLst>
              <a:rect l="txL" t="txT" r="txR" b="txB"/>
              <a:pathLst>
                <a:path w="21600" h="41302" fill="none">
                  <a:moveTo>
                    <a:pt x="131" y="0"/>
                  </a:moveTo>
                  <a:arcTo wR="21600" hR="21600" stAng="-5379151" swAng="9327504"/>
                </a:path>
                <a:path w="21600" h="41302" stroke="0">
                  <a:moveTo>
                    <a:pt x="131" y="0"/>
                  </a:moveTo>
                  <a:arcTo wR="21600" hR="21600" stAng="-5379151" swAng="9327504"/>
                  <a:lnTo>
                    <a:pt x="0" y="21600"/>
                  </a:lnTo>
                  <a:close/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2310" name="对象 12309"/>
            <p:cNvGraphicFramePr>
              <a:graphicFrameLocks noChangeAspect="1"/>
            </p:cNvGraphicFramePr>
            <p:nvPr>
              <p:custDataLst>
                <p:tags r:id="rId24"/>
              </p:custDataLst>
            </p:nvPr>
          </p:nvGraphicFramePr>
          <p:xfrm>
            <a:off x="321" y="0"/>
            <a:ext cx="18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25" imgW="191770" imgH="255270" progId="Equation.3">
                    <p:embed/>
                  </p:oleObj>
                </mc:Choice>
                <mc:Fallback>
                  <p:oleObj name="" r:id="rId25" imgW="191770" imgH="25527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" y="0"/>
                          <a:ext cx="186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11" name="椭圆 12310"/>
          <p:cNvSpPr/>
          <p:nvPr>
            <p:custDataLst>
              <p:tags r:id="rId27"/>
            </p:custDataLst>
          </p:nvPr>
        </p:nvSpPr>
        <p:spPr>
          <a:xfrm>
            <a:off x="7501255" y="5194618"/>
            <a:ext cx="1905000" cy="533400"/>
          </a:xfrm>
          <a:prstGeom prst="ellipse">
            <a:avLst/>
          </a:prstGeom>
          <a:noFill/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2312" name="组合 12311"/>
          <p:cNvGrpSpPr/>
          <p:nvPr/>
        </p:nvGrpSpPr>
        <p:grpSpPr>
          <a:xfrm>
            <a:off x="7044055" y="5042218"/>
            <a:ext cx="990600" cy="1371600"/>
            <a:chOff x="0" y="0"/>
            <a:chExt cx="624" cy="864"/>
          </a:xfrm>
        </p:grpSpPr>
        <p:sp>
          <p:nvSpPr>
            <p:cNvPr id="12313" name="任意多边形 12312"/>
            <p:cNvSpPr/>
            <p:nvPr>
              <p:custDataLst>
                <p:tags r:id="rId28"/>
              </p:custDataLst>
            </p:nvPr>
          </p:nvSpPr>
          <p:spPr>
            <a:xfrm rot="-463389" flipV="1">
              <a:off x="288" y="0"/>
              <a:ext cx="336" cy="720"/>
            </a:xfrm>
            <a:custGeom>
              <a:avLst/>
              <a:gdLst>
                <a:gd name="txL" fmla="*/ 0 w 21600"/>
                <a:gd name="txT" fmla="*/ 0 h 25135"/>
                <a:gd name="txR" fmla="*/ 21600 w 21600"/>
                <a:gd name="txB" fmla="*/ 25135 h 25135"/>
              </a:gdLst>
              <a:ahLst/>
              <a:cxnLst>
                <a:cxn ang="270">
                  <a:pos x="0" y="0"/>
                </a:cxn>
                <a:cxn ang="90">
                  <a:pos x="21308" y="25135"/>
                </a:cxn>
                <a:cxn ang="90">
                  <a:pos x="0" y="21600"/>
                </a:cxn>
              </a:cxnLst>
              <a:rect l="txL" t="txT" r="txR" b="txB"/>
              <a:pathLst>
                <a:path w="21600" h="25135" fill="none">
                  <a:moveTo>
                    <a:pt x="0" y="0"/>
                  </a:moveTo>
                  <a:arcTo wR="21600" hR="21600" stAng="-5400000" swAng="5965175"/>
                </a:path>
                <a:path w="21600" h="25135" stroke="0">
                  <a:moveTo>
                    <a:pt x="0" y="0"/>
                  </a:moveTo>
                  <a:arcTo wR="21600" hR="21600" stAng="-5400000" swAng="5965175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2314" name="对象 12313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0" y="528"/>
            <a:ext cx="35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30" imgW="306070" imgH="293370" progId="Equation.3">
                    <p:embed/>
                  </p:oleObj>
                </mc:Choice>
                <mc:Fallback>
                  <p:oleObj name="" r:id="rId30" imgW="306070" imgH="29337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528"/>
                          <a:ext cx="35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15" name="组合 12314"/>
          <p:cNvGrpSpPr/>
          <p:nvPr/>
        </p:nvGrpSpPr>
        <p:grpSpPr>
          <a:xfrm>
            <a:off x="8644255" y="5042218"/>
            <a:ext cx="762000" cy="1333500"/>
            <a:chOff x="0" y="0"/>
            <a:chExt cx="480" cy="840"/>
          </a:xfrm>
        </p:grpSpPr>
        <p:graphicFrame>
          <p:nvGraphicFramePr>
            <p:cNvPr id="12316" name="对象 12315"/>
            <p:cNvGraphicFramePr>
              <a:graphicFrameLocks noChangeAspect="1"/>
            </p:cNvGraphicFramePr>
            <p:nvPr>
              <p:custDataLst>
                <p:tags r:id="rId31"/>
              </p:custDataLst>
            </p:nvPr>
          </p:nvGraphicFramePr>
          <p:xfrm>
            <a:off x="0" y="576"/>
            <a:ext cx="2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32" imgW="191770" imgH="229870" progId="Equation.3">
                    <p:embed/>
                  </p:oleObj>
                </mc:Choice>
                <mc:Fallback>
                  <p:oleObj name="" r:id="rId32" imgW="191770" imgH="22987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576"/>
                          <a:ext cx="2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7" name="任意多边形 12316"/>
            <p:cNvSpPr/>
            <p:nvPr>
              <p:custDataLst>
                <p:tags r:id="rId33"/>
              </p:custDataLst>
            </p:nvPr>
          </p:nvSpPr>
          <p:spPr>
            <a:xfrm rot="864899" flipH="1" flipV="1">
              <a:off x="144" y="0"/>
              <a:ext cx="336" cy="720"/>
            </a:xfrm>
            <a:custGeom>
              <a:avLst/>
              <a:gdLst>
                <a:gd name="txL" fmla="*/ 0 w 21600"/>
                <a:gd name="txT" fmla="*/ 0 h 25135"/>
                <a:gd name="txR" fmla="*/ 21600 w 21600"/>
                <a:gd name="txB" fmla="*/ 25135 h 25135"/>
              </a:gdLst>
              <a:ahLst/>
              <a:cxnLst>
                <a:cxn ang="270">
                  <a:pos x="0" y="0"/>
                </a:cxn>
                <a:cxn ang="90">
                  <a:pos x="21308" y="25135"/>
                </a:cxn>
                <a:cxn ang="90">
                  <a:pos x="0" y="21600"/>
                </a:cxn>
              </a:cxnLst>
              <a:rect l="txL" t="txT" r="txR" b="txB"/>
              <a:pathLst>
                <a:path w="21600" h="25135" fill="none">
                  <a:moveTo>
                    <a:pt x="0" y="0"/>
                  </a:moveTo>
                  <a:arcTo wR="21600" hR="21600" stAng="-5400000" swAng="5965175"/>
                </a:path>
                <a:path w="21600" h="25135" stroke="0">
                  <a:moveTo>
                    <a:pt x="0" y="0"/>
                  </a:moveTo>
                  <a:arcTo wR="21600" hR="21600" stAng="-5400000" swAng="5965175"/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318" name="组合 12317"/>
          <p:cNvGrpSpPr/>
          <p:nvPr/>
        </p:nvGrpSpPr>
        <p:grpSpPr>
          <a:xfrm>
            <a:off x="8720455" y="4813618"/>
            <a:ext cx="858838" cy="838200"/>
            <a:chOff x="0" y="0"/>
            <a:chExt cx="541" cy="528"/>
          </a:xfrm>
        </p:grpSpPr>
        <p:sp>
          <p:nvSpPr>
            <p:cNvPr id="12319" name="任意多边形 12318"/>
            <p:cNvSpPr/>
            <p:nvPr>
              <p:custDataLst>
                <p:tags r:id="rId34"/>
              </p:custDataLst>
            </p:nvPr>
          </p:nvSpPr>
          <p:spPr>
            <a:xfrm>
              <a:off x="0" y="240"/>
              <a:ext cx="432" cy="288"/>
            </a:xfrm>
            <a:custGeom>
              <a:avLst/>
              <a:gdLst>
                <a:gd name="txL" fmla="*/ 0 w 21600"/>
                <a:gd name="txT" fmla="*/ 0 h 41302"/>
                <a:gd name="txR" fmla="*/ 21600 w 21600"/>
                <a:gd name="txB" fmla="*/ 41302 h 41302"/>
              </a:gdLst>
              <a:ahLst/>
              <a:cxnLst>
                <a:cxn ang="270">
                  <a:pos x="131" y="0"/>
                </a:cxn>
                <a:cxn ang="90">
                  <a:pos x="8852" y="41302"/>
                </a:cxn>
                <a:cxn ang="90">
                  <a:pos x="0" y="21600"/>
                </a:cxn>
              </a:cxnLst>
              <a:rect l="txL" t="txT" r="txR" b="txB"/>
              <a:pathLst>
                <a:path w="21600" h="41302" fill="none">
                  <a:moveTo>
                    <a:pt x="131" y="0"/>
                  </a:moveTo>
                  <a:arcTo wR="21600" hR="21600" stAng="-5379151" swAng="9327504"/>
                </a:path>
                <a:path w="21600" h="41302" stroke="0">
                  <a:moveTo>
                    <a:pt x="131" y="0"/>
                  </a:moveTo>
                  <a:arcTo wR="21600" hR="21600" stAng="-5379151" swAng="9327504"/>
                  <a:lnTo>
                    <a:pt x="0" y="21600"/>
                  </a:lnTo>
                  <a:close/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2320" name="对象 12319"/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288" y="0"/>
            <a:ext cx="25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36" imgW="191770" imgH="255270" progId="Equation.3">
                    <p:embed/>
                  </p:oleObj>
                </mc:Choice>
                <mc:Fallback>
                  <p:oleObj name="" r:id="rId36" imgW="191770" imgH="25527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0"/>
                          <a:ext cx="25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21" name="组合 12320"/>
          <p:cNvGrpSpPr/>
          <p:nvPr/>
        </p:nvGrpSpPr>
        <p:grpSpPr>
          <a:xfrm>
            <a:off x="8034655" y="4356418"/>
            <a:ext cx="933450" cy="1212850"/>
            <a:chOff x="0" y="0"/>
            <a:chExt cx="588" cy="764"/>
          </a:xfrm>
        </p:grpSpPr>
        <p:grpSp>
          <p:nvGrpSpPr>
            <p:cNvPr id="12322" name="组合 12321"/>
            <p:cNvGrpSpPr/>
            <p:nvPr/>
          </p:nvGrpSpPr>
          <p:grpSpPr>
            <a:xfrm>
              <a:off x="144" y="144"/>
              <a:ext cx="144" cy="528"/>
              <a:chOff x="0" y="0"/>
              <a:chExt cx="96" cy="480"/>
            </a:xfrm>
          </p:grpSpPr>
          <p:sp>
            <p:nvSpPr>
              <p:cNvPr id="12323" name="矩形 12322"/>
              <p:cNvSpPr/>
              <p:nvPr>
                <p:custDataLst>
                  <p:tags r:id="rId37"/>
                </p:custDataLst>
              </p:nvPr>
            </p:nvSpPr>
            <p:spPr>
              <a:xfrm>
                <a:off x="0" y="0"/>
                <a:ext cx="96" cy="240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24" name="矩形 12323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240"/>
                <a:ext cx="96" cy="240"/>
              </a:xfrm>
              <a:prstGeom prst="rect">
                <a:avLst/>
              </a:prstGeom>
              <a:solidFill>
                <a:srgbClr val="000099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2325" name="直接连接符 12324"/>
            <p:cNvSpPr/>
            <p:nvPr>
              <p:custDataLst>
                <p:tags r:id="rId39"/>
              </p:custDataLst>
            </p:nvPr>
          </p:nvSpPr>
          <p:spPr>
            <a:xfrm flipV="1">
              <a:off x="0" y="144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2326" name="对象 12325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288" y="576"/>
            <a:ext cx="212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41" imgW="217170" imgH="191770" progId="Equation.3">
                    <p:embed/>
                  </p:oleObj>
                </mc:Choice>
                <mc:Fallback>
                  <p:oleObj name="" r:id="rId41" imgW="217170" imgH="19177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576"/>
                          <a:ext cx="212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7" name="对象 12326"/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336" y="0"/>
            <a:ext cx="25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43" imgW="179070" imgH="204470" progId="Equation.3">
                    <p:embed/>
                  </p:oleObj>
                </mc:Choice>
                <mc:Fallback>
                  <p:oleObj name="" r:id="rId43" imgW="179070" imgH="20447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" y="0"/>
                          <a:ext cx="25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4" name="e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4" name="e0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bldLvl="0" animBg="1"/>
      <p:bldP spid="122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34004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、电动势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emf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290" name="文本框 12289"/>
          <p:cNvSpPr txBox="1"/>
          <p:nvPr>
            <p:custDataLst>
              <p:tags r:id="rId2"/>
            </p:custDataLst>
          </p:nvPr>
        </p:nvSpPr>
        <p:spPr>
          <a:xfrm>
            <a:off x="542925" y="1516380"/>
            <a:ext cx="510730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法拉第定律任何情况下的感应电动势都可以用Faraday’ s Law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动生电动势（面和</a:t>
            </a: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的夹角，或者面发生变化时可用）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感生电动势</a:t>
            </a: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（只有</a:t>
            </a: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B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发生变化）形式和法拉第定律一致，只是其中面积和时间没有关系。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11190" y="1516380"/>
            <a:ext cx="6480810" cy="7835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44185" y="3216275"/>
            <a:ext cx="6249670" cy="6070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95440" y="2209165"/>
            <a:ext cx="3794760" cy="662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86325" y="2254885"/>
            <a:ext cx="1516380" cy="6172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62040" y="3838575"/>
            <a:ext cx="1516380" cy="6172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50160"/>
          <a:stretch>
            <a:fillRect/>
          </a:stretch>
        </p:blipFill>
        <p:spPr>
          <a:xfrm>
            <a:off x="8355965" y="5273040"/>
            <a:ext cx="1974850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/>
          <a:srcRect r="59053"/>
          <a:stretch>
            <a:fillRect/>
          </a:stretch>
        </p:blipFill>
        <p:spPr>
          <a:xfrm>
            <a:off x="5676265" y="5422265"/>
            <a:ext cx="2653665" cy="7835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741160" y="6263640"/>
            <a:ext cx="1516380" cy="61722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5372735" y="798830"/>
            <a:ext cx="1233170" cy="1616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790055" y="664210"/>
            <a:ext cx="3754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指的是感应电场，和静电场不同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34004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、电动势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emf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290" name="文本框 12289"/>
          <p:cNvSpPr txBox="1"/>
          <p:nvPr>
            <p:custDataLst>
              <p:tags r:id="rId2"/>
            </p:custDataLst>
          </p:nvPr>
        </p:nvSpPr>
        <p:spPr>
          <a:xfrm>
            <a:off x="603885" y="1403350"/>
            <a:ext cx="5107305" cy="74777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动生电动势使用的情景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）面发生变化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）夹角发生变化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判断电动势的方向，可以用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</a:rPr>
              <a:t>的方向，也就是在感应电场下正电荷的运动方向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040" y="1680210"/>
            <a:ext cx="3381375" cy="18745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l="57384"/>
          <a:stretch>
            <a:fillRect/>
          </a:stretch>
        </p:blipFill>
        <p:spPr>
          <a:xfrm>
            <a:off x="10494645" y="3102610"/>
            <a:ext cx="1299210" cy="8013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63392"/>
          <a:stretch>
            <a:fillRect/>
          </a:stretch>
        </p:blipFill>
        <p:spPr>
          <a:xfrm>
            <a:off x="7117715" y="3429000"/>
            <a:ext cx="2287905" cy="6070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rcRect b="7742"/>
          <a:stretch>
            <a:fillRect/>
          </a:stretch>
        </p:blipFill>
        <p:spPr>
          <a:xfrm>
            <a:off x="6411595" y="3903980"/>
            <a:ext cx="4356100" cy="251968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1820" y="5773420"/>
            <a:ext cx="708660" cy="47244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85991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1833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8912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4754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7675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059670" y="12166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599170" y="148907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183370" y="14884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891270" y="14884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475470" y="14884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767570" y="14884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0059670" y="14884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599170" y="176149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9183370" y="17627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8891270" y="17627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9475470" y="17627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9767570" y="17627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0059670" y="17627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8599170" y="203390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183370" y="20345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8891270" y="20345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475470" y="20345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9767570" y="20345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0059670" y="203454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8596630" y="227711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180830" y="227838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8888730" y="227838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472930" y="227838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765030" y="227838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057130" y="227838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8596630" y="25495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9180830" y="25501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888730" y="25501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9472930" y="25501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9765030" y="25501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10057130" y="25501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8799195" y="1292225"/>
            <a:ext cx="1120140" cy="112014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 rot="19080000">
            <a:off x="9312275" y="1663700"/>
            <a:ext cx="554355" cy="7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9221470" y="1816100"/>
            <a:ext cx="167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O</a:t>
            </a:r>
            <a:endParaRPr lang="en-US" altLang="zh-CN" b="1"/>
          </a:p>
        </p:txBody>
      </p:sp>
      <p:sp>
        <p:nvSpPr>
          <p:cNvPr id="50" name="文本框 49"/>
          <p:cNvSpPr txBox="1"/>
          <p:nvPr/>
        </p:nvSpPr>
        <p:spPr>
          <a:xfrm>
            <a:off x="9767570" y="1216660"/>
            <a:ext cx="167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</a:t>
            </a:r>
            <a:endParaRPr lang="en-US" altLang="zh-CN" b="1"/>
          </a:p>
        </p:txBody>
      </p:sp>
      <p:sp>
        <p:nvSpPr>
          <p:cNvPr id="51" name="下弧形箭头 50"/>
          <p:cNvSpPr/>
          <p:nvPr/>
        </p:nvSpPr>
        <p:spPr>
          <a:xfrm rot="11100000">
            <a:off x="9114790" y="1600200"/>
            <a:ext cx="354965" cy="14732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 flipV="1">
            <a:off x="9405620" y="1425575"/>
            <a:ext cx="198120" cy="197485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8888730" y="158496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Calibri" panose="020F0502020204030204" charset="0"/>
                <a:cs typeface="Calibri" panose="020F0502020204030204" charset="0"/>
              </a:rPr>
              <a:t>ω</a:t>
            </a:r>
            <a:endParaRPr lang="en-US" altLang="zh-CN" b="1"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9109075" y="1240790"/>
                <a:ext cx="434340" cy="377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altLang="zh-CN" b="1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75" y="1240790"/>
                <a:ext cx="434340" cy="37719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41275" y="1148612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390441"/>
            <a:ext cx="34004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、电动势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emf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647" y="13637"/>
            <a:ext cx="1026366" cy="977287"/>
          </a:xfrm>
          <a:prstGeom prst="rect">
            <a:avLst/>
          </a:prstGeom>
        </p:spPr>
      </p:pic>
      <p:sp>
        <p:nvSpPr>
          <p:cNvPr id="12290" name="文本框 12289"/>
          <p:cNvSpPr txBox="1"/>
          <p:nvPr>
            <p:custDataLst>
              <p:tags r:id="rId2"/>
            </p:custDataLst>
          </p:nvPr>
        </p:nvSpPr>
        <p:spPr>
          <a:xfrm>
            <a:off x="542925" y="1516380"/>
            <a:ext cx="658177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感生电动势</a:t>
            </a: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（只有</a:t>
            </a:r>
            <a:r>
              <a:rPr lang="en-US" altLang="zh-CN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B</a:t>
            </a:r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发生变化）使用情景、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r>
              <a:rPr lang="zh-CN" altLang="en-US" sz="2400" b="1">
                <a:solidFill>
                  <a:srgbClr val="990033"/>
                </a:solidFill>
                <a:latin typeface="宋体" panose="02010600030101010101" pitchFamily="2" charset="-122"/>
                <a:sym typeface="+mn-ea"/>
              </a:rPr>
              <a:t>典型的情景磁场是圆柱分布的，可以先求感应电场，然后再求某一条线上的感应电动势</a:t>
            </a:r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  <a:p>
            <a:endParaRPr lang="zh-CN" altLang="en-US" sz="2400" b="1">
              <a:solidFill>
                <a:srgbClr val="990033"/>
              </a:solidFill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0160"/>
          <a:stretch>
            <a:fillRect/>
          </a:stretch>
        </p:blipFill>
        <p:spPr>
          <a:xfrm>
            <a:off x="8754110" y="3352165"/>
            <a:ext cx="1974850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59053"/>
          <a:stretch>
            <a:fillRect/>
          </a:stretch>
        </p:blipFill>
        <p:spPr>
          <a:xfrm>
            <a:off x="6151880" y="3550920"/>
            <a:ext cx="2653665" cy="7835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40061"/>
          <a:stretch>
            <a:fillRect/>
          </a:stretch>
        </p:blipFill>
        <p:spPr>
          <a:xfrm>
            <a:off x="592455" y="2830195"/>
            <a:ext cx="2835275" cy="23609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333750" y="2830195"/>
            <a:ext cx="3072130" cy="24320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29500" y="1402080"/>
            <a:ext cx="4762500" cy="655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3168" t="1701"/>
          <a:stretch>
            <a:fillRect/>
          </a:stretch>
        </p:blipFill>
        <p:spPr>
          <a:xfrm>
            <a:off x="7731760" y="2230120"/>
            <a:ext cx="1811020" cy="4692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082280" y="2771140"/>
            <a:ext cx="1623060" cy="5257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395085" y="4398010"/>
            <a:ext cx="2410460" cy="7810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6"/>
          <a:srcRect l="21909"/>
          <a:stretch>
            <a:fillRect/>
          </a:stretch>
        </p:blipFill>
        <p:spPr>
          <a:xfrm>
            <a:off x="8754110" y="4398010"/>
            <a:ext cx="1877060" cy="77914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9789160" y="4398010"/>
            <a:ext cx="630555" cy="756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"/>
          <a:srcRect l="64505"/>
          <a:stretch>
            <a:fillRect/>
          </a:stretch>
        </p:blipFill>
        <p:spPr>
          <a:xfrm>
            <a:off x="9796145" y="4483100"/>
            <a:ext cx="682625" cy="67246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95365" y="5384800"/>
            <a:ext cx="5344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求出感应电场后，再球特定路径上的电动势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825740" y="5875655"/>
            <a:ext cx="1896745" cy="772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61702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六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、Maxwell’s Equations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29305" y="1608455"/>
            <a:ext cx="4145280" cy="647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33725" y="2440940"/>
            <a:ext cx="4076700" cy="6324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94965" y="4366895"/>
            <a:ext cx="5013960" cy="7239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29305" y="3258185"/>
            <a:ext cx="3794760" cy="6629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008620" y="4585970"/>
            <a:ext cx="3827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变化的电场转成磁场</a:t>
            </a:r>
            <a:endParaRPr lang="zh-CN" altLang="en-US"/>
          </a:p>
          <a:p>
            <a:r>
              <a:rPr lang="zh-CN" altLang="en-US"/>
              <a:t>此公式常常用于存在电容器的情景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7309485" y="3461385"/>
            <a:ext cx="3827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变化的磁场转成感应电场，上面已经讨论过了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03145" y="4227830"/>
            <a:ext cx="9392285" cy="10426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61702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六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、Maxwell’s Equations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0" y="20218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导线中的是传导电流</a:t>
            </a:r>
            <a:r>
              <a:rPr lang="en-US" altLang="zh-CN">
                <a:sym typeface="+mn-ea"/>
              </a:rPr>
              <a:t>               </a:t>
            </a:r>
            <a:r>
              <a:rPr lang="zh-CN" altLang="en-US">
                <a:sym typeface="+mn-ea"/>
              </a:rPr>
              <a:t>电容器中</a:t>
            </a:r>
            <a:r>
              <a:rPr lang="zh-CN" altLang="en-US">
                <a:sym typeface="+mn-ea"/>
              </a:rPr>
              <a:t>是位移电流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88"/>
          <a:stretch>
            <a:fillRect/>
          </a:stretch>
        </p:blipFill>
        <p:spPr>
          <a:xfrm>
            <a:off x="7933690" y="1659255"/>
            <a:ext cx="3236595" cy="3023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9665" y="3353435"/>
            <a:ext cx="5013960" cy="72390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 flipV="1">
            <a:off x="2693035" y="2372360"/>
            <a:ext cx="212725" cy="1240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721100" y="2414905"/>
            <a:ext cx="1417320" cy="1042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578350" y="23787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Displacement Current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868285" y="5149215"/>
            <a:ext cx="4103370" cy="134048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0" y="43154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电流具有连续性，总的位移电流就等于总的传导电流</a:t>
            </a:r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34210" y="4998720"/>
            <a:ext cx="1729740" cy="5257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58545" y="5839460"/>
            <a:ext cx="3825240" cy="58674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412230" y="46939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求</a:t>
            </a:r>
            <a:r>
              <a:rPr lang="en-US" altLang="zh-CN"/>
              <a:t>a</a:t>
            </a:r>
            <a:r>
              <a:rPr lang="zh-CN" altLang="en-US"/>
              <a:t>点的磁场，其所在的圆环只包围了部分的位移电流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334625" y="5200650"/>
            <a:ext cx="502920" cy="680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24" idx="3"/>
          </p:cNvCxnSpPr>
          <p:nvPr/>
        </p:nvCxnSpPr>
        <p:spPr>
          <a:xfrm flipV="1">
            <a:off x="10837545" y="4994910"/>
            <a:ext cx="454025" cy="546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111197" y="301738"/>
            <a:ext cx="3559541" cy="11438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63842" y="1711584"/>
            <a:ext cx="12192635" cy="1645150"/>
          </a:xfrm>
          <a:prstGeom prst="rect">
            <a:avLst/>
          </a:prstGeom>
          <a:solidFill>
            <a:srgbClr val="3943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38417B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-229659" y="2042954"/>
            <a:ext cx="12192635" cy="977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二类</a:t>
            </a:r>
            <a:r>
              <a:rPr lang="en-US" altLang="zh-CN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光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相关的量</a:t>
            </a:r>
            <a:endParaRPr lang="zh-CN" altLang="en-US" sz="4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502281"/>
            <a:ext cx="93668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一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、折射率，波长，速度，频率之间的关系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75926" y="1970995"/>
            <a:ext cx="5699588" cy="8161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70" y="3169920"/>
            <a:ext cx="2711450" cy="539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rcRect r="78308"/>
          <a:stretch>
            <a:fillRect/>
          </a:stretch>
        </p:blipFill>
        <p:spPr>
          <a:xfrm>
            <a:off x="4304030" y="3709670"/>
            <a:ext cx="1817370" cy="8718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l="76227" t="-17683" r="5075"/>
          <a:stretch>
            <a:fillRect/>
          </a:stretch>
        </p:blipFill>
        <p:spPr>
          <a:xfrm>
            <a:off x="4548505" y="4518025"/>
            <a:ext cx="1328420" cy="869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7952" y="502281"/>
            <a:ext cx="52349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二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、偏振光马吕斯定律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9091" y="1320612"/>
            <a:ext cx="11513817" cy="421677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40252" y="5804143"/>
            <a:ext cx="5629275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530" name="组合 22529"/>
          <p:cNvGrpSpPr/>
          <p:nvPr/>
        </p:nvGrpSpPr>
        <p:grpSpPr>
          <a:xfrm>
            <a:off x="4648200" y="4395470"/>
            <a:ext cx="3276600" cy="914400"/>
            <a:chOff x="0" y="0"/>
            <a:chExt cx="2208" cy="667"/>
          </a:xfrm>
        </p:grpSpPr>
        <p:graphicFrame>
          <p:nvGraphicFramePr>
            <p:cNvPr id="22531" name="对象 22530"/>
            <p:cNvGraphicFramePr>
              <a:graphicFrameLocks noChangeAspect="1"/>
            </p:cNvGraphicFramePr>
            <p:nvPr/>
          </p:nvGraphicFramePr>
          <p:xfrm>
            <a:off x="0" y="0"/>
            <a:ext cx="1200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1" imgW="1181735" imgH="609600" progId="Equation.3">
                    <p:embed/>
                  </p:oleObj>
                </mc:Choice>
                <mc:Fallback>
                  <p:oleObj name="" r:id="rId1" imgW="1181735" imgH="6096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200" cy="6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2" name="文本框 22531"/>
            <p:cNvSpPr txBox="1"/>
            <p:nvPr/>
          </p:nvSpPr>
          <p:spPr>
            <a:xfrm>
              <a:off x="1248" y="230"/>
              <a:ext cx="960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减弱</a:t>
              </a:r>
              <a:endParaRPr lang="zh-CN" altLang="en-US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3" name="组合 22532"/>
          <p:cNvGrpSpPr/>
          <p:nvPr/>
        </p:nvGrpSpPr>
        <p:grpSpPr>
          <a:xfrm>
            <a:off x="2109788" y="4009708"/>
            <a:ext cx="7105152" cy="820737"/>
            <a:chOff x="0" y="0"/>
            <a:chExt cx="4565" cy="531"/>
          </a:xfrm>
        </p:grpSpPr>
        <p:graphicFrame>
          <p:nvGraphicFramePr>
            <p:cNvPr id="22534" name="对象 22533"/>
            <p:cNvGraphicFramePr>
              <a:graphicFrameLocks noChangeAspect="1"/>
            </p:cNvGraphicFramePr>
            <p:nvPr/>
          </p:nvGraphicFramePr>
          <p:xfrm>
            <a:off x="1601" y="11"/>
            <a:ext cx="62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3" imgW="495300" imgH="254000" progId="Equation.3">
                    <p:embed/>
                  </p:oleObj>
                </mc:Choice>
                <mc:Fallback>
                  <p:oleObj name="" r:id="rId3" imgW="495300" imgH="2540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01" y="11"/>
                          <a:ext cx="624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对象 22534"/>
            <p:cNvGraphicFramePr>
              <a:graphicFrameLocks noChangeAspect="1"/>
            </p:cNvGraphicFramePr>
            <p:nvPr/>
          </p:nvGraphicFramePr>
          <p:xfrm>
            <a:off x="0" y="162"/>
            <a:ext cx="142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5" imgW="875665" imgH="177800" progId="Equation.3">
                    <p:embed/>
                  </p:oleObj>
                </mc:Choice>
                <mc:Fallback>
                  <p:oleObj name="" r:id="rId5" imgW="875665" imgH="1778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162"/>
                          <a:ext cx="1427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6" name="左大括号 22535"/>
            <p:cNvSpPr/>
            <p:nvPr/>
          </p:nvSpPr>
          <p:spPr>
            <a:xfrm>
              <a:off x="1361" y="126"/>
              <a:ext cx="192" cy="405"/>
            </a:xfrm>
            <a:prstGeom prst="leftBrace">
              <a:avLst>
                <a:gd name="adj1" fmla="val 17578"/>
                <a:gd name="adj2" fmla="val 50000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7" name="文本框 22536"/>
            <p:cNvSpPr txBox="1"/>
            <p:nvPr/>
          </p:nvSpPr>
          <p:spPr>
            <a:xfrm>
              <a:off x="2849" y="0"/>
              <a:ext cx="1008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CC0000"/>
                  </a:solidFill>
                  <a:latin typeface="Times New Roman" panose="02020603050405020304" pitchFamily="18" charset="0"/>
                </a:rPr>
                <a:t>加强</a:t>
              </a: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38" name="对象 22537"/>
            <p:cNvGraphicFramePr>
              <a:graphicFrameLocks noChangeAspect="1"/>
            </p:cNvGraphicFramePr>
            <p:nvPr/>
          </p:nvGraphicFramePr>
          <p:xfrm>
            <a:off x="3629" y="235"/>
            <a:ext cx="9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7" imgW="787400" imgH="190500" progId="Equation.3">
                    <p:embed/>
                  </p:oleObj>
                </mc:Choice>
                <mc:Fallback>
                  <p:oleObj name="" r:id="rId7" imgW="787400" imgH="1905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29" y="235"/>
                          <a:ext cx="93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39" name="组合 22538"/>
          <p:cNvGrpSpPr/>
          <p:nvPr/>
        </p:nvGrpSpPr>
        <p:grpSpPr>
          <a:xfrm>
            <a:off x="2473325" y="5157470"/>
            <a:ext cx="7207250" cy="1489075"/>
            <a:chOff x="31" y="0"/>
            <a:chExt cx="4540" cy="938"/>
          </a:xfrm>
        </p:grpSpPr>
        <p:grpSp>
          <p:nvGrpSpPr>
            <p:cNvPr id="22540" name="组合 22539"/>
            <p:cNvGrpSpPr/>
            <p:nvPr/>
          </p:nvGrpSpPr>
          <p:grpSpPr>
            <a:xfrm>
              <a:off x="635" y="318"/>
              <a:ext cx="2548" cy="620"/>
              <a:chOff x="0" y="0"/>
              <a:chExt cx="2548" cy="620"/>
            </a:xfrm>
          </p:grpSpPr>
          <p:graphicFrame>
            <p:nvGraphicFramePr>
              <p:cNvPr id="22541" name="对象 22540"/>
              <p:cNvGraphicFramePr>
                <a:graphicFrameLocks noChangeAspect="1"/>
              </p:cNvGraphicFramePr>
              <p:nvPr/>
            </p:nvGraphicFramePr>
            <p:xfrm>
              <a:off x="0" y="0"/>
              <a:ext cx="1217" cy="6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" name="" r:id="rId9" imgW="749935" imgH="393700" progId="Equation.3">
                      <p:embed/>
                    </p:oleObj>
                  </mc:Choice>
                  <mc:Fallback>
                    <p:oleObj name="" r:id="rId9" imgW="749935" imgH="393700" progId="Equation.3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0" y="0"/>
                            <a:ext cx="1217" cy="6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2" name="文本框 22541"/>
              <p:cNvSpPr txBox="1"/>
              <p:nvPr/>
            </p:nvSpPr>
            <p:spPr>
              <a:xfrm>
                <a:off x="1497" y="181"/>
                <a:ext cx="1051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暗纹</a:t>
                </a:r>
                <a:endPara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543" name="组合 22542"/>
            <p:cNvGrpSpPr/>
            <p:nvPr/>
          </p:nvGrpSpPr>
          <p:grpSpPr>
            <a:xfrm>
              <a:off x="31" y="0"/>
              <a:ext cx="4540" cy="691"/>
              <a:chOff x="31" y="0"/>
              <a:chExt cx="4540" cy="691"/>
            </a:xfrm>
          </p:grpSpPr>
          <p:graphicFrame>
            <p:nvGraphicFramePr>
              <p:cNvPr id="22544" name="对象 22543"/>
              <p:cNvGraphicFramePr>
                <a:graphicFrameLocks noChangeAspect="1"/>
              </p:cNvGraphicFramePr>
              <p:nvPr/>
            </p:nvGraphicFramePr>
            <p:xfrm>
              <a:off x="680" y="0"/>
              <a:ext cx="501" cy="3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5" name="" r:id="rId11" imgW="317500" imgH="177800" progId="Equation.3">
                      <p:embed/>
                    </p:oleObj>
                  </mc:Choice>
                  <mc:Fallback>
                    <p:oleObj name="" r:id="rId11" imgW="317500" imgH="177800" progId="Equation.3">
                      <p:embed/>
                      <p:pic>
                        <p:nvPicPr>
                          <p:cNvPr id="0" name="图片 319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80" y="0"/>
                            <a:ext cx="501" cy="30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545" name="对象 22544"/>
              <p:cNvGraphicFramePr>
                <a:graphicFrameLocks noChangeAspect="1"/>
              </p:cNvGraphicFramePr>
              <p:nvPr/>
            </p:nvGraphicFramePr>
            <p:xfrm>
              <a:off x="31" y="223"/>
              <a:ext cx="440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9" name="" r:id="rId13" imgW="368300" imgH="330200" progId="Equation.3">
                      <p:embed/>
                    </p:oleObj>
                  </mc:Choice>
                  <mc:Fallback>
                    <p:oleObj name="" r:id="rId13" imgW="368300" imgH="330200" progId="Equation.3">
                      <p:embed/>
                      <p:pic>
                        <p:nvPicPr>
                          <p:cNvPr id="0" name="图片 318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1" y="223"/>
                            <a:ext cx="440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6" name="左大括号 22545"/>
              <p:cNvSpPr/>
              <p:nvPr/>
            </p:nvSpPr>
            <p:spPr>
              <a:xfrm>
                <a:off x="466" y="135"/>
                <a:ext cx="146" cy="556"/>
              </a:xfrm>
              <a:prstGeom prst="leftBrace">
                <a:avLst>
                  <a:gd name="adj1" fmla="val 31735"/>
                  <a:gd name="adj2" fmla="val 50000"/>
                </a:avLst>
              </a:prstGeom>
              <a:noFill/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47" name="文本框 22546"/>
              <p:cNvSpPr txBox="1"/>
              <p:nvPr/>
            </p:nvSpPr>
            <p:spPr>
              <a:xfrm>
                <a:off x="2086" y="137"/>
                <a:ext cx="130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>
                    <a:solidFill>
                      <a:srgbClr val="990033"/>
                    </a:solidFill>
                    <a:latin typeface="Times New Roman" panose="02020603050405020304" pitchFamily="18" charset="0"/>
                  </a:rPr>
                  <a:t>明纹</a:t>
                </a:r>
                <a:endParaRPr lang="zh-CN" altLang="en-US">
                  <a:solidFill>
                    <a:srgbClr val="990033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2548" name="对象 22547"/>
              <p:cNvGraphicFramePr>
                <a:graphicFrameLocks noChangeAspect="1"/>
              </p:cNvGraphicFramePr>
              <p:nvPr/>
            </p:nvGraphicFramePr>
            <p:xfrm>
              <a:off x="2631" y="318"/>
              <a:ext cx="1940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7" name="" r:id="rId15" imgW="1535430" imgH="317500" progId="Equation.3">
                      <p:embed/>
                    </p:oleObj>
                  </mc:Choice>
                  <mc:Fallback>
                    <p:oleObj name="" r:id="rId15" imgW="1535430" imgH="317500" progId="Equation.3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631" y="318"/>
                            <a:ext cx="1940" cy="31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549" name="直接连接符 22548"/>
          <p:cNvSpPr/>
          <p:nvPr/>
        </p:nvSpPr>
        <p:spPr>
          <a:xfrm>
            <a:off x="8015288" y="1649095"/>
            <a:ext cx="369887" cy="0"/>
          </a:xfrm>
          <a:prstGeom prst="line">
            <a:avLst/>
          </a:prstGeom>
          <a:ln w="12700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22550" name="组合 22549"/>
          <p:cNvGrpSpPr/>
          <p:nvPr/>
        </p:nvGrpSpPr>
        <p:grpSpPr>
          <a:xfrm>
            <a:off x="2711450" y="1125220"/>
            <a:ext cx="6829425" cy="2895600"/>
            <a:chOff x="0" y="0"/>
            <a:chExt cx="4302" cy="1824"/>
          </a:xfrm>
        </p:grpSpPr>
        <p:grpSp>
          <p:nvGrpSpPr>
            <p:cNvPr id="22551" name="组合 22550"/>
            <p:cNvGrpSpPr/>
            <p:nvPr/>
          </p:nvGrpSpPr>
          <p:grpSpPr>
            <a:xfrm>
              <a:off x="0" y="0"/>
              <a:ext cx="4302" cy="1824"/>
              <a:chOff x="0" y="0"/>
              <a:chExt cx="4302" cy="1824"/>
            </a:xfrm>
          </p:grpSpPr>
          <p:grpSp>
            <p:nvGrpSpPr>
              <p:cNvPr id="22552" name="组合 22551"/>
              <p:cNvGrpSpPr/>
              <p:nvPr/>
            </p:nvGrpSpPr>
            <p:grpSpPr>
              <a:xfrm>
                <a:off x="0" y="0"/>
                <a:ext cx="4302" cy="1824"/>
                <a:chOff x="0" y="0"/>
                <a:chExt cx="4302" cy="1824"/>
              </a:xfrm>
            </p:grpSpPr>
            <p:sp>
              <p:nvSpPr>
                <p:cNvPr id="22553" name="矩形 22552"/>
                <p:cNvSpPr/>
                <p:nvPr/>
              </p:nvSpPr>
              <p:spPr>
                <a:xfrm>
                  <a:off x="0" y="52"/>
                  <a:ext cx="4257" cy="177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grpSp>
              <p:nvGrpSpPr>
                <p:cNvPr id="22554" name="组合 22553"/>
                <p:cNvGrpSpPr/>
                <p:nvPr/>
              </p:nvGrpSpPr>
              <p:grpSpPr>
                <a:xfrm>
                  <a:off x="247" y="0"/>
                  <a:ext cx="4055" cy="1668"/>
                  <a:chOff x="0" y="0"/>
                  <a:chExt cx="4055" cy="1668"/>
                </a:xfrm>
              </p:grpSpPr>
              <p:graphicFrame>
                <p:nvGraphicFramePr>
                  <p:cNvPr id="22555" name="对象 22554"/>
                  <p:cNvGraphicFramePr>
                    <a:graphicFrameLocks noChangeAspect="1"/>
                  </p:cNvGraphicFramePr>
                  <p:nvPr/>
                </p:nvGraphicFramePr>
                <p:xfrm>
                  <a:off x="499" y="1044"/>
                  <a:ext cx="292" cy="39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96" name="" r:id="rId17" imgW="152400" imgH="215900" progId="Equation.3">
                          <p:embed/>
                        </p:oleObj>
                      </mc:Choice>
                      <mc:Fallback>
                        <p:oleObj name="" r:id="rId17" imgW="152400" imgH="215900" progId="Equation.3">
                          <p:embed/>
                          <p:pic>
                            <p:nvPicPr>
                              <p:cNvPr id="0" name="图片 3195"/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9" y="1044"/>
                                <a:ext cx="292" cy="39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2556" name="直接连接符 22555"/>
                  <p:cNvSpPr/>
                  <p:nvPr/>
                </p:nvSpPr>
                <p:spPr>
                  <a:xfrm flipH="1">
                    <a:off x="377" y="732"/>
                    <a:ext cx="42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57" name="直接连接符 22556"/>
                  <p:cNvSpPr/>
                  <p:nvPr/>
                </p:nvSpPr>
                <p:spPr>
                  <a:xfrm flipH="1">
                    <a:off x="377" y="1122"/>
                    <a:ext cx="42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2558" name="组合 22557"/>
                  <p:cNvGrpSpPr/>
                  <p:nvPr/>
                </p:nvGrpSpPr>
                <p:grpSpPr>
                  <a:xfrm>
                    <a:off x="0" y="0"/>
                    <a:ext cx="4055" cy="1668"/>
                    <a:chOff x="0" y="0"/>
                    <a:chExt cx="4055" cy="1668"/>
                  </a:xfrm>
                </p:grpSpPr>
                <p:sp>
                  <p:nvSpPr>
                    <p:cNvPr id="22559" name="矩形 22558"/>
                    <p:cNvSpPr/>
                    <p:nvPr/>
                  </p:nvSpPr>
                  <p:spPr>
                    <a:xfrm>
                      <a:off x="3268" y="149"/>
                      <a:ext cx="46" cy="1519"/>
                    </a:xfrm>
                    <a:prstGeom prst="rect">
                      <a:avLst/>
                    </a:prstGeom>
                    <a:pattFill prst="dkDnDiag">
                      <a:fgClr>
                        <a:srgbClr val="B2E6E4"/>
                      </a:fgClr>
                      <a:bgClr>
                        <a:srgbClr val="FFFFFF"/>
                      </a:bgClr>
                    </a:patt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22560" name="对象 2255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3076" y="188"/>
                    <a:ext cx="220" cy="194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178" name="" r:id="rId19" imgW="215900" imgH="228600" progId="Equation.3">
                            <p:embed/>
                          </p:oleObj>
                        </mc:Choice>
                        <mc:Fallback>
                          <p:oleObj name="" r:id="rId19" imgW="215900" imgH="228600" progId="Equation.3">
                            <p:embed/>
                            <p:pic>
                              <p:nvPicPr>
                                <p:cNvPr id="0" name="图片 3177"/>
                                <p:cNvPicPr/>
                                <p:nvPr/>
                              </p:nvPicPr>
                              <p:blipFill>
                                <a:blip r:embed="rId2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076" y="188"/>
                                  <a:ext cx="220" cy="19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pSp>
                  <p:nvGrpSpPr>
                    <p:cNvPr id="22561" name="组合 22560"/>
                    <p:cNvGrpSpPr/>
                    <p:nvPr/>
                  </p:nvGrpSpPr>
                  <p:grpSpPr>
                    <a:xfrm>
                      <a:off x="971" y="325"/>
                      <a:ext cx="266" cy="234"/>
                      <a:chOff x="0" y="0"/>
                      <a:chExt cx="266" cy="234"/>
                    </a:xfrm>
                  </p:grpSpPr>
                  <p:sp>
                    <p:nvSpPr>
                      <p:cNvPr id="22562" name="圆角矩形标注 22561"/>
                      <p:cNvSpPr/>
                      <p:nvPr/>
                    </p:nvSpPr>
                    <p:spPr>
                      <a:xfrm>
                        <a:off x="0" y="0"/>
                        <a:ext cx="266" cy="234"/>
                      </a:xfrm>
                      <a:prstGeom prst="wedgeRoundRectCallout">
                        <a:avLst>
                          <a:gd name="adj1" fmla="val -81500"/>
                          <a:gd name="adj2" fmla="val 198097"/>
                          <a:gd name="adj3" fmla="val 16667"/>
                        </a:avLst>
                      </a:prstGeom>
                      <a:gradFill rotWithShape="0">
                        <a:gsLst>
                          <a:gs pos="0">
                            <a:schemeClr val="accent2"/>
                          </a:gs>
                          <a:gs pos="50000">
                            <a:srgbClr val="FFFFFF"/>
                          </a:gs>
                          <a:gs pos="100000">
                            <a:schemeClr val="accent2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pPr algn="ctr"/>
                        <a:endParaRPr lang="zh-CN" altLang="en-US" sz="2800" dirty="0">
                          <a:solidFill>
                            <a:srgbClr val="1C1C1C"/>
                          </a:solidFill>
                          <a:latin typeface="Times New Roman" panose="02020603050405020304" pitchFamily="18" charset="0"/>
                        </a:endParaRPr>
                      </a:p>
                    </p:txBody>
                  </p:sp>
                  <p:graphicFrame>
                    <p:nvGraphicFramePr>
                      <p:cNvPr id="22563" name="对象 22562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28" y="0"/>
                      <a:ext cx="195" cy="227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83" name="" r:id="rId21" imgW="127000" imgH="177800" progId="Equation.3">
                              <p:embed/>
                            </p:oleObj>
                          </mc:Choice>
                          <mc:Fallback>
                            <p:oleObj name="" r:id="rId21" imgW="127000" imgH="177800" progId="Equation.3">
                              <p:embed/>
                              <p:pic>
                                <p:nvPicPr>
                                  <p:cNvPr id="0" name="图片 3182"/>
                                  <p:cNvPicPr/>
                                  <p:nvPr/>
                                </p:nvPicPr>
                                <p:blipFill>
                                  <a:blip r:embed="rId22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8" y="0"/>
                                    <a:ext cx="195" cy="22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22564" name="组合 22563"/>
                    <p:cNvGrpSpPr/>
                    <p:nvPr/>
                  </p:nvGrpSpPr>
                  <p:grpSpPr>
                    <a:xfrm>
                      <a:off x="0" y="0"/>
                      <a:ext cx="4055" cy="1632"/>
                      <a:chOff x="0" y="0"/>
                      <a:chExt cx="4055" cy="1632"/>
                    </a:xfrm>
                  </p:grpSpPr>
                  <p:sp>
                    <p:nvSpPr>
                      <p:cNvPr id="22565" name="文本框 22564"/>
                      <p:cNvSpPr txBox="1"/>
                      <p:nvPr/>
                    </p:nvSpPr>
                    <p:spPr>
                      <a:xfrm>
                        <a:off x="3327" y="0"/>
                        <a:ext cx="728" cy="3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zh-CN" sz="2800">
                            <a:solidFill>
                              <a:srgbClr val="CC0000"/>
                            </a:solidFill>
                            <a:latin typeface="Times New Roman" panose="02020603050405020304" pitchFamily="18" charset="0"/>
                          </a:rPr>
                          <a:t>p</a:t>
                        </a:r>
                        <a:endParaRPr lang="en-US" altLang="zh-C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66" name="矩形 22565"/>
                      <p:cNvSpPr/>
                      <p:nvPr/>
                    </p:nvSpPr>
                    <p:spPr>
                      <a:xfrm>
                        <a:off x="237" y="460"/>
                        <a:ext cx="46" cy="429"/>
                      </a:xfrm>
                      <a:prstGeom prst="rect">
                        <a:avLst/>
                      </a:prstGeom>
                      <a:pattFill prst="dkDnDiag">
                        <a:fgClr>
                          <a:srgbClr val="3B7283"/>
                        </a:fgClr>
                        <a:bgClr>
                          <a:srgbClr val="7DACAD"/>
                        </a:bgClr>
                      </a:patt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67" name="矩形 22566"/>
                      <p:cNvSpPr/>
                      <p:nvPr/>
                    </p:nvSpPr>
                    <p:spPr>
                      <a:xfrm>
                        <a:off x="797" y="265"/>
                        <a:ext cx="46" cy="429"/>
                      </a:xfrm>
                      <a:prstGeom prst="rect">
                        <a:avLst/>
                      </a:prstGeom>
                      <a:pattFill prst="dkDnDiag">
                        <a:fgClr>
                          <a:srgbClr val="3B7283"/>
                        </a:fgClr>
                        <a:bgClr>
                          <a:srgbClr val="7DACAD"/>
                        </a:bgClr>
                      </a:patt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68" name="矩形 22567"/>
                      <p:cNvSpPr/>
                      <p:nvPr/>
                    </p:nvSpPr>
                    <p:spPr>
                      <a:xfrm>
                        <a:off x="797" y="1161"/>
                        <a:ext cx="46" cy="467"/>
                      </a:xfrm>
                      <a:prstGeom prst="rect">
                        <a:avLst/>
                      </a:prstGeom>
                      <a:pattFill prst="dkDnDiag">
                        <a:fgClr>
                          <a:srgbClr val="3B7283"/>
                        </a:fgClr>
                        <a:bgClr>
                          <a:srgbClr val="7DACAD"/>
                        </a:bgClr>
                      </a:patt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69" name="直接连接符 22568"/>
                      <p:cNvSpPr/>
                      <p:nvPr/>
                    </p:nvSpPr>
                    <p:spPr>
                      <a:xfrm>
                        <a:off x="98" y="928"/>
                        <a:ext cx="3631" cy="0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00"/>
                        </a:solidFill>
                        <a:prstDash val="lgDashDot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2570" name="直接连接符 22569"/>
                      <p:cNvSpPr/>
                      <p:nvPr/>
                    </p:nvSpPr>
                    <p:spPr>
                      <a:xfrm flipV="1">
                        <a:off x="843" y="382"/>
                        <a:ext cx="2425" cy="546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dash"/>
                        <a:headEnd type="none" w="med" len="med"/>
                        <a:tailEnd type="none" w="med" len="med"/>
                      </a:ln>
                    </p:spPr>
                  </p:sp>
                  <p:graphicFrame>
                    <p:nvGraphicFramePr>
                      <p:cNvPr id="22571" name="对象 22570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493" y="343"/>
                      <a:ext cx="304" cy="389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82" name="" r:id="rId23" imgW="139700" imgH="215900" progId="Equation.3">
                              <p:embed/>
                            </p:oleObj>
                          </mc:Choice>
                          <mc:Fallback>
                            <p:oleObj name="" r:id="rId23" imgW="139700" imgH="215900" progId="Equation.3">
                              <p:embed/>
                              <p:pic>
                                <p:nvPicPr>
                                  <p:cNvPr id="0" name="图片 3181"/>
                                  <p:cNvPicPr/>
                                  <p:nvPr/>
                                </p:nvPicPr>
                                <p:blipFill>
                                  <a:blip r:embed="rId2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493" y="343"/>
                                    <a:ext cx="304" cy="38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pSp>
                    <p:nvGrpSpPr>
                      <p:cNvPr id="22572" name="组合 22571"/>
                      <p:cNvGrpSpPr/>
                      <p:nvPr/>
                    </p:nvGrpSpPr>
                    <p:grpSpPr>
                      <a:xfrm>
                        <a:off x="0" y="694"/>
                        <a:ext cx="283" cy="701"/>
                        <a:chOff x="0" y="0"/>
                        <a:chExt cx="283" cy="701"/>
                      </a:xfrm>
                    </p:grpSpPr>
                    <p:sp>
                      <p:nvSpPr>
                        <p:cNvPr id="22573" name="矩形 22572"/>
                        <p:cNvSpPr/>
                        <p:nvPr/>
                      </p:nvSpPr>
                      <p:spPr>
                        <a:xfrm>
                          <a:off x="237" y="272"/>
                          <a:ext cx="46" cy="429"/>
                        </a:xfrm>
                        <a:prstGeom prst="rect">
                          <a:avLst/>
                        </a:prstGeom>
                        <a:pattFill prst="dkDnDiag">
                          <a:fgClr>
                            <a:srgbClr val="3B7283"/>
                          </a:fgClr>
                          <a:bgClr>
                            <a:srgbClr val="7DACAD"/>
                          </a:bgClr>
                        </a:patt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graphicFrame>
                      <p:nvGraphicFramePr>
                        <p:cNvPr id="22574" name="对象 22573"/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0" y="0"/>
                        <a:ext cx="232" cy="272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3177" name="" r:id="rId25" imgW="102235" imgH="140335" progId="Equation.3">
                                <p:embed/>
                              </p:oleObj>
                            </mc:Choice>
                            <mc:Fallback>
                              <p:oleObj name="" r:id="rId25" imgW="102235" imgH="140335" progId="Equation.3">
                                <p:embed/>
                                <p:pic>
                                  <p:nvPicPr>
                                    <p:cNvPr id="0" name="图片 3176"/>
                                    <p:cNvPicPr/>
                                    <p:nvPr/>
                                  </p:nvPicPr>
                                  <p:blipFill>
                                    <a:blip r:embed="rId26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0" y="0"/>
                                      <a:ext cx="232" cy="272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 w="38100">
                                      <a:noFill/>
                                      <a:miter/>
                                    </a:ln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</p:grpSp>
                  <p:sp>
                    <p:nvSpPr>
                      <p:cNvPr id="22575" name="直接连接符 22574"/>
                      <p:cNvSpPr/>
                      <p:nvPr/>
                    </p:nvSpPr>
                    <p:spPr>
                      <a:xfrm>
                        <a:off x="3454" y="382"/>
                        <a:ext cx="0" cy="546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FF33CC"/>
                        </a:solidFill>
                        <a:prstDash val="dash"/>
                        <a:headEnd type="triangle" w="sm" len="lg"/>
                        <a:tailEnd type="triangle" w="sm" len="lg"/>
                      </a:ln>
                    </p:spPr>
                  </p:sp>
                  <p:graphicFrame>
                    <p:nvGraphicFramePr>
                      <p:cNvPr id="22576" name="对象 22575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431" y="538"/>
                      <a:ext cx="210" cy="19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80" name="" r:id="rId27" imgW="177800" imgH="191135" progId="Equation.3">
                              <p:embed/>
                            </p:oleObj>
                          </mc:Choice>
                          <mc:Fallback>
                            <p:oleObj name="" r:id="rId27" imgW="177800" imgH="191135" progId="Equation.3">
                              <p:embed/>
                              <p:pic>
                                <p:nvPicPr>
                                  <p:cNvPr id="0" name="图片 3179"/>
                                  <p:cNvPicPr/>
                                  <p:nvPr/>
                                </p:nvPicPr>
                                <p:blipFill>
                                  <a:blip r:embed="rId2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431" y="538"/>
                                    <a:ext cx="210" cy="19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2577" name="对象 22576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365" y="928"/>
                      <a:ext cx="177" cy="155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85" name="" r:id="rId29" imgW="165735" imgH="191135" progId="Equation.3">
                              <p:embed/>
                            </p:oleObj>
                          </mc:Choice>
                          <mc:Fallback>
                            <p:oleObj name="" r:id="rId29" imgW="165735" imgH="191135" progId="Equation.3">
                              <p:embed/>
                              <p:pic>
                                <p:nvPicPr>
                                  <p:cNvPr id="0" name="图片 3184"/>
                                  <p:cNvPicPr/>
                                  <p:nvPr/>
                                </p:nvPicPr>
                                <p:blipFill>
                                  <a:blip r:embed="rId3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365" y="928"/>
                                    <a:ext cx="177" cy="15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2578" name="对象 22577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592" y="771"/>
                      <a:ext cx="239" cy="273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79" name="" r:id="rId31" imgW="152400" imgH="177800" progId="Equation.3">
                              <p:embed/>
                            </p:oleObj>
                          </mc:Choice>
                          <mc:Fallback>
                            <p:oleObj name="" r:id="rId31" imgW="152400" imgH="177800" progId="Equation.3">
                              <p:embed/>
                              <p:pic>
                                <p:nvPicPr>
                                  <p:cNvPr id="0" name="图片 3178"/>
                                  <p:cNvPicPr/>
                                  <p:nvPr/>
                                </p:nvPicPr>
                                <p:blipFill>
                                  <a:blip r:embed="rId32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592" y="771"/>
                                    <a:ext cx="239" cy="273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2579" name="对象 22578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66" y="824"/>
                      <a:ext cx="198" cy="22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74" name="" r:id="rId33" imgW="191135" imgH="254635" progId="Equation.3">
                              <p:embed/>
                            </p:oleObj>
                          </mc:Choice>
                          <mc:Fallback>
                            <p:oleObj name="" r:id="rId33" imgW="191135" imgH="254635" progId="Equation.3">
                              <p:embed/>
                              <p:pic>
                                <p:nvPicPr>
                                  <p:cNvPr id="0" name="图片 3173"/>
                                  <p:cNvPicPr/>
                                  <p:nvPr/>
                                </p:nvPicPr>
                                <p:blipFill>
                                  <a:blip r:embed="rId3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66" y="824"/>
                                    <a:ext cx="198" cy="22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pSp>
                    <p:nvGrpSpPr>
                      <p:cNvPr id="22580" name="组合 22579"/>
                      <p:cNvGrpSpPr/>
                      <p:nvPr/>
                    </p:nvGrpSpPr>
                    <p:grpSpPr>
                      <a:xfrm>
                        <a:off x="837" y="1369"/>
                        <a:ext cx="2426" cy="263"/>
                        <a:chOff x="0" y="0"/>
                        <a:chExt cx="2426" cy="263"/>
                      </a:xfrm>
                    </p:grpSpPr>
                    <p:graphicFrame>
                      <p:nvGraphicFramePr>
                        <p:cNvPr id="22581" name="对象 22580"/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976" y="0"/>
                        <a:ext cx="292" cy="263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3181" name="" r:id="rId35" imgW="165100" imgH="177800" progId="Equation.3">
                                <p:embed/>
                              </p:oleObj>
                            </mc:Choice>
                            <mc:Fallback>
                              <p:oleObj name="" r:id="rId35" imgW="165100" imgH="177800" progId="Equation.3">
                                <p:embed/>
                                <p:pic>
                                  <p:nvPicPr>
                                    <p:cNvPr id="0" name="图片 3180"/>
                                    <p:cNvPicPr/>
                                    <p:nvPr/>
                                  </p:nvPicPr>
                                  <p:blipFill>
                                    <a:blip r:embed="rId36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976" y="0"/>
                                      <a:ext cx="292" cy="263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 w="38100">
                                      <a:noFill/>
                                      <a:miter/>
                                    </a:ln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sp>
                      <p:nvSpPr>
                        <p:cNvPr id="22582" name="直接连接符 22581"/>
                        <p:cNvSpPr/>
                        <p:nvPr/>
                      </p:nvSpPr>
                      <p:spPr>
                        <a:xfrm>
                          <a:off x="1166" y="142"/>
                          <a:ext cx="1260" cy="0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FF3399"/>
                          </a:solidFill>
                          <a:prstDash val="solid"/>
                          <a:headEnd type="none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2583" name="直接连接符 22582"/>
                        <p:cNvSpPr/>
                        <p:nvPr/>
                      </p:nvSpPr>
                      <p:spPr>
                        <a:xfrm flipH="1">
                          <a:off x="0" y="142"/>
                          <a:ext cx="933" cy="0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FF3399"/>
                          </a:solidFill>
                          <a:prstDash val="solid"/>
                          <a:headEnd type="none" w="med" len="med"/>
                          <a:tailEnd type="triangle" w="sm" len="lg"/>
                        </a:ln>
                      </p:spPr>
                    </p:sp>
                  </p:grpSp>
                  <p:grpSp>
                    <p:nvGrpSpPr>
                      <p:cNvPr id="22584" name="组合 22583"/>
                      <p:cNvGrpSpPr/>
                      <p:nvPr/>
                    </p:nvGrpSpPr>
                    <p:grpSpPr>
                      <a:xfrm>
                        <a:off x="685" y="733"/>
                        <a:ext cx="930" cy="623"/>
                        <a:chOff x="0" y="0"/>
                        <a:chExt cx="958" cy="768"/>
                      </a:xfrm>
                    </p:grpSpPr>
                    <p:sp>
                      <p:nvSpPr>
                        <p:cNvPr id="22585" name="直接连接符 22584"/>
                        <p:cNvSpPr/>
                        <p:nvPr/>
                      </p:nvSpPr>
                      <p:spPr>
                        <a:xfrm>
                          <a:off x="150" y="0"/>
                          <a:ext cx="150" cy="388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000000"/>
                          </a:solidFill>
                          <a:prstDash val="dash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2586" name="直接连接符 22585"/>
                        <p:cNvSpPr/>
                        <p:nvPr/>
                      </p:nvSpPr>
                      <p:spPr>
                        <a:xfrm>
                          <a:off x="300" y="388"/>
                          <a:ext cx="101" cy="251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000000"/>
                          </a:solidFill>
                          <a:prstDash val="dash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2587" name="直接连接符 22586"/>
                        <p:cNvSpPr/>
                        <p:nvPr/>
                      </p:nvSpPr>
                      <p:spPr>
                        <a:xfrm>
                          <a:off x="150" y="431"/>
                          <a:ext cx="101" cy="251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000000"/>
                          </a:solidFill>
                          <a:prstDash val="dash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2588" name="直接连接符 22587"/>
                        <p:cNvSpPr/>
                        <p:nvPr/>
                      </p:nvSpPr>
                      <p:spPr>
                        <a:xfrm flipV="1">
                          <a:off x="0" y="639"/>
                          <a:ext cx="251" cy="129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FF0066"/>
                          </a:solidFill>
                          <a:prstDash val="dash"/>
                          <a:headEnd type="none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2589" name="直接连接符 22588"/>
                        <p:cNvSpPr/>
                        <p:nvPr/>
                      </p:nvSpPr>
                      <p:spPr>
                        <a:xfrm flipH="1">
                          <a:off x="401" y="467"/>
                          <a:ext cx="250" cy="129"/>
                        </a:xfrm>
                        <a:prstGeom prst="line">
                          <a:avLst/>
                        </a:prstGeom>
                        <a:ln w="19050" cap="flat" cmpd="sng">
                          <a:solidFill>
                            <a:srgbClr val="FF0066"/>
                          </a:solidFill>
                          <a:prstDash val="dash"/>
                          <a:headEnd type="none" w="med" len="med"/>
                          <a:tailEnd type="triangle" w="sm" len="lg"/>
                        </a:ln>
                      </p:spPr>
                    </p:sp>
                    <p:graphicFrame>
                      <p:nvGraphicFramePr>
                        <p:cNvPr id="22590" name="对象 22589"/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541" y="371"/>
                        <a:ext cx="417" cy="30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3175" name="" r:id="rId37" imgW="304800" imgH="228600" progId="Equation.3">
                                <p:embed/>
                              </p:oleObj>
                            </mc:Choice>
                            <mc:Fallback>
                              <p:oleObj name="" r:id="rId37" imgW="304800" imgH="228600" progId="Equation.3">
                                <p:embed/>
                                <p:pic>
                                  <p:nvPicPr>
                                    <p:cNvPr id="0" name="图片 3174"/>
                                    <p:cNvPicPr/>
                                    <p:nvPr/>
                                  </p:nvPicPr>
                                  <p:blipFill>
                                    <a:blip r:embed="rId38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541" y="371"/>
                                      <a:ext cx="417" cy="301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 w="38100">
                                      <a:noFill/>
                                      <a:miter/>
                                    </a:ln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</p:grpSp>
                  <p:grpSp>
                    <p:nvGrpSpPr>
                      <p:cNvPr id="22591" name="组合 22590"/>
                      <p:cNvGrpSpPr/>
                      <p:nvPr/>
                    </p:nvGrpSpPr>
                    <p:grpSpPr>
                      <a:xfrm>
                        <a:off x="283" y="188"/>
                        <a:ext cx="2985" cy="934"/>
                        <a:chOff x="0" y="0"/>
                        <a:chExt cx="2985" cy="934"/>
                      </a:xfrm>
                    </p:grpSpPr>
                    <p:grpSp>
                      <p:nvGrpSpPr>
                        <p:cNvPr id="22592" name="组合 22591"/>
                        <p:cNvGrpSpPr/>
                        <p:nvPr/>
                      </p:nvGrpSpPr>
                      <p:grpSpPr>
                        <a:xfrm>
                          <a:off x="0" y="0"/>
                          <a:ext cx="2985" cy="934"/>
                          <a:chOff x="0" y="0"/>
                          <a:chExt cx="3072" cy="1152"/>
                        </a:xfrm>
                      </p:grpSpPr>
                      <p:graphicFrame>
                        <p:nvGraphicFramePr>
                          <p:cNvPr id="22593" name="对象 22592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1392" y="0"/>
                          <a:ext cx="249" cy="484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3184" name="" r:id="rId39" imgW="165100" imgH="317500" progId="Equation.3">
                                  <p:embed/>
                                </p:oleObj>
                              </mc:Choice>
                              <mc:Fallback>
                                <p:oleObj name="" r:id="rId39" imgW="165100" imgH="317500" progId="Equation.3">
                                  <p:embed/>
                                  <p:pic>
                                    <p:nvPicPr>
                                      <p:cNvPr id="0" name="图片 3183"/>
                                      <p:cNvPicPr/>
                                      <p:nvPr/>
                                    </p:nvPicPr>
                                    <p:blipFill>
                                      <a:blip r:embed="rId40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1392" y="0"/>
                                        <a:ext cx="249" cy="484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 w="38100">
                                        <a:noFill/>
                                        <a:miter/>
                                      </a:ln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22594" name="对象 22593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2112" y="432"/>
                          <a:ext cx="288" cy="480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3176" name="" r:id="rId41" imgW="190500" imgH="317500" progId="Equation.3">
                                  <p:embed/>
                                </p:oleObj>
                              </mc:Choice>
                              <mc:Fallback>
                                <p:oleObj name="" r:id="rId41" imgW="190500" imgH="317500" progId="Equation.3">
                                  <p:embed/>
                                  <p:pic>
                                    <p:nvPicPr>
                                      <p:cNvPr id="0" name="图片 3175"/>
                                      <p:cNvPicPr/>
                                      <p:nvPr/>
                                    </p:nvPicPr>
                                    <p:blipFill>
                                      <a:blip r:embed="rId42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2112" y="432"/>
                                        <a:ext cx="288" cy="48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 w="38100">
                                        <a:noFill/>
                                        <a:miter/>
                                      </a:ln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pSp>
                        <p:nvGrpSpPr>
                          <p:cNvPr id="22595" name="组合 22594"/>
                          <p:cNvGrpSpPr/>
                          <p:nvPr/>
                        </p:nvGrpSpPr>
                        <p:grpSpPr>
                          <a:xfrm>
                            <a:off x="0" y="240"/>
                            <a:ext cx="3072" cy="912"/>
                            <a:chOff x="0" y="0"/>
                            <a:chExt cx="3072" cy="912"/>
                          </a:xfrm>
                        </p:grpSpPr>
                        <p:sp>
                          <p:nvSpPr>
                            <p:cNvPr id="22596" name="直接连接符 22595"/>
                            <p:cNvSpPr/>
                            <p:nvPr/>
                          </p:nvSpPr>
                          <p:spPr>
                            <a:xfrm flipV="1">
                              <a:off x="528" y="0"/>
                              <a:ext cx="2544" cy="432"/>
                            </a:xfrm>
                            <a:prstGeom prst="line">
                              <a:avLst/>
                            </a:prstGeom>
                            <a:ln w="28575" cap="flat" cmpd="sng">
                              <a:solidFill>
                                <a:srgbClr val="FF6600"/>
                              </a:solidFill>
                              <a:prstDash val="solid"/>
                              <a:headEnd type="none" w="med" len="med"/>
                              <a:tailEnd type="none" w="med" len="med"/>
                            </a:ln>
                          </p:spPr>
                        </p:sp>
                        <p:sp>
                          <p:nvSpPr>
                            <p:cNvPr id="22597" name="直接连接符 22596"/>
                            <p:cNvSpPr/>
                            <p:nvPr/>
                          </p:nvSpPr>
                          <p:spPr>
                            <a:xfrm flipV="1">
                              <a:off x="528" y="0"/>
                              <a:ext cx="2544" cy="912"/>
                            </a:xfrm>
                            <a:prstGeom prst="line">
                              <a:avLst/>
                            </a:prstGeom>
                            <a:ln w="28575" cap="flat" cmpd="sng">
                              <a:solidFill>
                                <a:srgbClr val="FF6600"/>
                              </a:solidFill>
                              <a:prstDash val="solid"/>
                              <a:headEnd type="none" w="med" len="med"/>
                              <a:tailEnd type="none" w="med" len="med"/>
                            </a:ln>
                          </p:spPr>
                        </p:sp>
                        <p:sp>
                          <p:nvSpPr>
                            <p:cNvPr id="22598" name="直接连接符 22597"/>
                            <p:cNvSpPr/>
                            <p:nvPr/>
                          </p:nvSpPr>
                          <p:spPr>
                            <a:xfrm flipV="1">
                              <a:off x="0" y="432"/>
                              <a:ext cx="528" cy="240"/>
                            </a:xfrm>
                            <a:prstGeom prst="line">
                              <a:avLst/>
                            </a:prstGeom>
                            <a:ln w="19050" cap="flat" cmpd="sng">
                              <a:solidFill>
                                <a:srgbClr val="FF6600"/>
                              </a:solidFill>
                              <a:prstDash val="solid"/>
                              <a:headEnd type="none" w="med" len="med"/>
                              <a:tailEnd type="none" w="med" len="med"/>
                            </a:ln>
                          </p:spPr>
                        </p:sp>
                        <p:sp>
                          <p:nvSpPr>
                            <p:cNvPr id="22599" name="直接连接符 22598"/>
                            <p:cNvSpPr/>
                            <p:nvPr/>
                          </p:nvSpPr>
                          <p:spPr>
                            <a:xfrm>
                              <a:off x="0" y="672"/>
                              <a:ext cx="528" cy="240"/>
                            </a:xfrm>
                            <a:prstGeom prst="line">
                              <a:avLst/>
                            </a:prstGeom>
                            <a:ln w="19050" cap="flat" cmpd="sng">
                              <a:solidFill>
                                <a:srgbClr val="FF6600"/>
                              </a:solidFill>
                              <a:prstDash val="solid"/>
                              <a:headEnd type="none" w="med" len="med"/>
                              <a:tailEnd type="none" w="med" len="med"/>
                            </a:ln>
                          </p:spPr>
                        </p:sp>
                      </p:grpSp>
                    </p:grpSp>
                    <p:grpSp>
                      <p:nvGrpSpPr>
                        <p:cNvPr id="22600" name="组合 22599"/>
                        <p:cNvGrpSpPr/>
                        <p:nvPr/>
                      </p:nvGrpSpPr>
                      <p:grpSpPr>
                        <a:xfrm>
                          <a:off x="960" y="545"/>
                          <a:ext cx="341" cy="238"/>
                          <a:chOff x="0" y="0"/>
                          <a:chExt cx="341" cy="238"/>
                        </a:xfrm>
                      </p:grpSpPr>
                      <p:graphicFrame>
                        <p:nvGraphicFramePr>
                          <p:cNvPr id="22601" name="对象 22600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136" y="0"/>
                          <a:ext cx="205" cy="238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3439" name="" r:id="rId43" imgW="127000" imgH="177800" progId="Equation.3">
                                  <p:embed/>
                                </p:oleObj>
                              </mc:Choice>
                              <mc:Fallback>
                                <p:oleObj name="" r:id="rId43" imgW="127000" imgH="177800" progId="Equation.3">
                                  <p:embed/>
                                  <p:pic>
                                    <p:nvPicPr>
                                      <p:cNvPr id="0" name="图片 3438"/>
                                      <p:cNvPicPr/>
                                      <p:nvPr/>
                                    </p:nvPicPr>
                                    <p:blipFill>
                                      <a:blip r:embed="rId44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136" y="0"/>
                                        <a:ext cx="205" cy="238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ln w="38100">
                                        <a:noFill/>
                                        <a:miter/>
                                      </a:ln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sp>
                        <p:nvSpPr>
                          <p:cNvPr id="22602" name="任意多边形 22601"/>
                          <p:cNvSpPr/>
                          <p:nvPr/>
                        </p:nvSpPr>
                        <p:spPr>
                          <a:xfrm>
                            <a:off x="0" y="90"/>
                            <a:ext cx="46" cy="91"/>
                          </a:xfrm>
                          <a:custGeom>
                            <a:avLst/>
                            <a:gdLst>
                              <a:gd name="txL" fmla="*/ 0 w 21600"/>
                              <a:gd name="txT" fmla="*/ 0 h 21600"/>
                              <a:gd name="txR" fmla="*/ 21600 w 21600"/>
                              <a:gd name="txB" fmla="*/ 21600 h 21600"/>
                            </a:gdLst>
                            <a:ahLst/>
                            <a:cxnLst>
                              <a:cxn ang="270">
                                <a:pos x="0" y="0"/>
                              </a:cxn>
                              <a:cxn ang="90">
                                <a:pos x="21600" y="21600"/>
                              </a:cxn>
                              <a:cxn ang="90">
                                <a:pos x="0" y="21600"/>
                              </a:cxn>
                            </a:cxnLst>
                            <a:rect l="txL" t="txT" r="txR" b="txB"/>
                            <a:pathLst>
                              <a:path w="21600" h="21600" fill="none">
                                <a:moveTo>
                                  <a:pt x="0" y="0"/>
                                </a:moveTo>
                                <a:arcTo wR="21600" hR="21600" stAng="-5400000" swAng="5400000"/>
                              </a:path>
                              <a:path w="21600" h="21600" stroke="0">
                                <a:moveTo>
                                  <a:pt x="0" y="0"/>
                                </a:moveTo>
                                <a:arcTo wR="21600" hR="21600" stAng="-5400000" swAng="5400000"/>
                                <a:lnTo>
                                  <a:pt x="0" y="21600"/>
                                </a:lnTo>
                                <a:close/>
                              </a:path>
                            </a:pathLst>
                          </a:custGeom>
                          <a:noFill/>
                          <a:ln w="34925" cap="flat" cmpd="sng">
                            <a:solidFill>
                              <a:srgbClr val="FF0000"/>
                            </a:solidFill>
                            <a:prstDash val="solid"/>
                            <a:headEnd type="none" w="med" len="med"/>
                            <a:tailEnd type="none" w="med" len="med"/>
                          </a:ln>
                        </p:spPr>
                        <p:txBody>
                          <a:bodyPr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</p:grpSp>
              </p:grpSp>
            </p:grpSp>
          </p:grpSp>
          <p:sp>
            <p:nvSpPr>
              <p:cNvPr id="22603" name="直接连接符 22602"/>
              <p:cNvSpPr/>
              <p:nvPr/>
            </p:nvSpPr>
            <p:spPr>
              <a:xfrm>
                <a:off x="811" y="732"/>
                <a:ext cx="0" cy="390"/>
              </a:xfrm>
              <a:prstGeom prst="line">
                <a:avLst/>
              </a:prstGeom>
              <a:ln w="19050" cap="flat" cmpd="sng">
                <a:solidFill>
                  <a:srgbClr val="FF33CC"/>
                </a:solidFill>
                <a:prstDash val="dash"/>
                <a:headEnd type="triangle" w="sm" len="lg"/>
                <a:tailEnd type="triangle" w="sm" len="lg"/>
              </a:ln>
            </p:spPr>
          </p:sp>
          <p:sp>
            <p:nvSpPr>
              <p:cNvPr id="22604" name="矩形 22603"/>
              <p:cNvSpPr/>
              <p:nvPr/>
            </p:nvSpPr>
            <p:spPr>
              <a:xfrm>
                <a:off x="1044" y="771"/>
                <a:ext cx="46" cy="312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2605" name="直接连接符 22604"/>
            <p:cNvSpPr/>
            <p:nvPr/>
          </p:nvSpPr>
          <p:spPr>
            <a:xfrm>
              <a:off x="3584" y="363"/>
              <a:ext cx="2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" name="文本框 2"/>
          <p:cNvSpPr txBox="1"/>
          <p:nvPr>
            <p:custDataLst>
              <p:tags r:id="rId45"/>
            </p:custDataLst>
          </p:nvPr>
        </p:nvSpPr>
        <p:spPr>
          <a:xfrm>
            <a:off x="177952" y="502281"/>
            <a:ext cx="33985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、双缝干涉</a:t>
            </a:r>
            <a:endParaRPr lang="zh-CN" altLang="en-US" sz="3600" b="1" dirty="0">
              <a:solidFill>
                <a:srgbClr val="394179"/>
              </a:solidFill>
              <a:effectLst/>
              <a:latin typeface="黑体-简" panose="02000000000000000000" charset="-122"/>
              <a:ea typeface="黑体-简" panose="02000000000000000000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6"/>
            </p:custDataLst>
          </p:nvPr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270490" y="2125980"/>
            <a:ext cx="131127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角很重要双缝干涉时角很小所以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tan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约等于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sinθ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约等于θ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tanθ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11003915" y="4700747"/>
          <a:ext cx="336550" cy="67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0" imgW="177165" imgH="330200" progId="Equation.3">
                  <p:embed/>
                </p:oleObj>
              </mc:Choice>
              <mc:Fallback>
                <p:oleObj name="" r:id="rId50" imgW="177165" imgH="3302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1003915" y="4700747"/>
                        <a:ext cx="336550" cy="671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807210" y="4080510"/>
            <a:ext cx="7662545" cy="119126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2"/>
            </p:custDataLst>
          </p:nvPr>
        </p:nvSpPr>
        <p:spPr>
          <a:xfrm>
            <a:off x="10071735" y="4320540"/>
            <a:ext cx="1821815" cy="119126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6520815" y="5363845"/>
            <a:ext cx="1814830" cy="354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6612890" y="5576570"/>
            <a:ext cx="3522980" cy="177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014730" y="225425"/>
            <a:ext cx="4356100" cy="58058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63360" y="502920"/>
            <a:ext cx="4487545" cy="59810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6120" y="1154430"/>
            <a:ext cx="10798810" cy="45631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45" y="1984375"/>
            <a:ext cx="7431405" cy="19323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文本框 24577"/>
          <p:cNvSpPr txBox="1"/>
          <p:nvPr/>
        </p:nvSpPr>
        <p:spPr>
          <a:xfrm>
            <a:off x="2351088" y="1039813"/>
            <a:ext cx="7273925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在缝后加一薄玻璃片，观察条纹的移动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79" name="组合 24578"/>
          <p:cNvGrpSpPr/>
          <p:nvPr/>
        </p:nvGrpSpPr>
        <p:grpSpPr>
          <a:xfrm>
            <a:off x="3200400" y="2098675"/>
            <a:ext cx="6410325" cy="3130550"/>
            <a:chOff x="0" y="0"/>
            <a:chExt cx="4038" cy="1972"/>
          </a:xfrm>
        </p:grpSpPr>
        <p:sp>
          <p:nvSpPr>
            <p:cNvPr id="24580" name="矩形 24579"/>
            <p:cNvSpPr/>
            <p:nvPr/>
          </p:nvSpPr>
          <p:spPr>
            <a:xfrm>
              <a:off x="3357" y="22"/>
              <a:ext cx="681" cy="19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1" name="直接连接符 24580"/>
            <p:cNvSpPr/>
            <p:nvPr/>
          </p:nvSpPr>
          <p:spPr>
            <a:xfrm>
              <a:off x="0" y="1030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2" name="直接连接符 24581"/>
            <p:cNvSpPr/>
            <p:nvPr/>
          </p:nvSpPr>
          <p:spPr>
            <a:xfrm>
              <a:off x="624" y="502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3" name="直接连接符 24582"/>
            <p:cNvSpPr/>
            <p:nvPr/>
          </p:nvSpPr>
          <p:spPr>
            <a:xfrm>
              <a:off x="624" y="790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4" name="直接连接符 24583"/>
            <p:cNvSpPr/>
            <p:nvPr/>
          </p:nvSpPr>
          <p:spPr>
            <a:xfrm>
              <a:off x="624" y="1318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5" name="直接连接符 24584"/>
            <p:cNvSpPr/>
            <p:nvPr/>
          </p:nvSpPr>
          <p:spPr>
            <a:xfrm>
              <a:off x="2928" y="118"/>
              <a:ext cx="0" cy="1776"/>
            </a:xfrm>
            <a:prstGeom prst="line">
              <a:avLst/>
            </a:prstGeom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6" name="椭圆 24585"/>
            <p:cNvSpPr/>
            <p:nvPr/>
          </p:nvSpPr>
          <p:spPr>
            <a:xfrm>
              <a:off x="96" y="998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7" name="直接连接符 24586"/>
            <p:cNvSpPr/>
            <p:nvPr/>
          </p:nvSpPr>
          <p:spPr>
            <a:xfrm flipV="1">
              <a:off x="96" y="790"/>
              <a:ext cx="528" cy="24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8" name="直接连接符 24587"/>
            <p:cNvSpPr/>
            <p:nvPr/>
          </p:nvSpPr>
          <p:spPr>
            <a:xfrm>
              <a:off x="144" y="1030"/>
              <a:ext cx="480" cy="28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直接连接符 24588"/>
            <p:cNvSpPr/>
            <p:nvPr/>
          </p:nvSpPr>
          <p:spPr>
            <a:xfrm flipV="1">
              <a:off x="624" y="214"/>
              <a:ext cx="2304" cy="57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0" name="直接连接符 24589"/>
            <p:cNvSpPr/>
            <p:nvPr/>
          </p:nvSpPr>
          <p:spPr>
            <a:xfrm flipV="1">
              <a:off x="624" y="214"/>
              <a:ext cx="2304" cy="1104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1" name="矩形 24590"/>
            <p:cNvSpPr/>
            <p:nvPr/>
          </p:nvSpPr>
          <p:spPr>
            <a:xfrm>
              <a:off x="3360" y="93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2" name="矩形 24591"/>
            <p:cNvSpPr/>
            <p:nvPr/>
          </p:nvSpPr>
          <p:spPr>
            <a:xfrm>
              <a:off x="3360" y="131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3" name="矩形 24592"/>
            <p:cNvSpPr/>
            <p:nvPr/>
          </p:nvSpPr>
          <p:spPr>
            <a:xfrm>
              <a:off x="3360" y="112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4" name="矩形 24593"/>
            <p:cNvSpPr/>
            <p:nvPr/>
          </p:nvSpPr>
          <p:spPr>
            <a:xfrm>
              <a:off x="3360" y="35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5" name="矩形 24594"/>
            <p:cNvSpPr/>
            <p:nvPr/>
          </p:nvSpPr>
          <p:spPr>
            <a:xfrm>
              <a:off x="3360" y="55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6" name="矩形 24595"/>
            <p:cNvSpPr/>
            <p:nvPr/>
          </p:nvSpPr>
          <p:spPr>
            <a:xfrm>
              <a:off x="3360" y="74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7" name="矩形 24596"/>
            <p:cNvSpPr/>
            <p:nvPr/>
          </p:nvSpPr>
          <p:spPr>
            <a:xfrm>
              <a:off x="3360" y="170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8" name="矩形 24597"/>
            <p:cNvSpPr/>
            <p:nvPr/>
          </p:nvSpPr>
          <p:spPr>
            <a:xfrm>
              <a:off x="3360" y="16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99" name="矩形 24598"/>
            <p:cNvSpPr/>
            <p:nvPr/>
          </p:nvSpPr>
          <p:spPr>
            <a:xfrm>
              <a:off x="3360" y="151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00" name="直接连接符 24599"/>
            <p:cNvSpPr/>
            <p:nvPr/>
          </p:nvSpPr>
          <p:spPr>
            <a:xfrm>
              <a:off x="624" y="1462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4601" name="文本框 24600"/>
            <p:cNvSpPr txBox="1"/>
            <p:nvPr/>
          </p:nvSpPr>
          <p:spPr>
            <a:xfrm>
              <a:off x="336" y="886"/>
              <a:ext cx="26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2" name="文本框 24601"/>
            <p:cNvSpPr txBox="1"/>
            <p:nvPr/>
          </p:nvSpPr>
          <p:spPr>
            <a:xfrm>
              <a:off x="38" y="720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3" name="文本框 24602"/>
            <p:cNvSpPr txBox="1"/>
            <p:nvPr/>
          </p:nvSpPr>
          <p:spPr>
            <a:xfrm>
              <a:off x="432" y="50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4" name="文本框 24603"/>
            <p:cNvSpPr txBox="1"/>
            <p:nvPr/>
          </p:nvSpPr>
          <p:spPr>
            <a:xfrm>
              <a:off x="432" y="122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5" name="文本框 24604"/>
            <p:cNvSpPr txBox="1"/>
            <p:nvPr/>
          </p:nvSpPr>
          <p:spPr>
            <a:xfrm>
              <a:off x="2918" y="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6" name="文本框 24605"/>
            <p:cNvSpPr txBox="1"/>
            <p:nvPr/>
          </p:nvSpPr>
          <p:spPr>
            <a:xfrm>
              <a:off x="2880" y="934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7" name="文本框 24606"/>
            <p:cNvSpPr txBox="1"/>
            <p:nvPr/>
          </p:nvSpPr>
          <p:spPr>
            <a:xfrm>
              <a:off x="1622" y="1440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8" name="直接连接符 24607"/>
            <p:cNvSpPr/>
            <p:nvPr/>
          </p:nvSpPr>
          <p:spPr>
            <a:xfrm flipV="1">
              <a:off x="624" y="214"/>
              <a:ext cx="2304" cy="81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09" name="文本框 24608"/>
            <p:cNvSpPr txBox="1"/>
            <p:nvPr/>
          </p:nvSpPr>
          <p:spPr>
            <a:xfrm>
              <a:off x="998" y="764"/>
              <a:ext cx="2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Book Antiqua" panose="0204060205030503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Book Antiqua" panose="0204060205030503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4610" name="直接连接符 24609"/>
            <p:cNvSpPr/>
            <p:nvPr/>
          </p:nvSpPr>
          <p:spPr>
            <a:xfrm>
              <a:off x="2928" y="21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1" name="直接连接符 24610"/>
            <p:cNvSpPr/>
            <p:nvPr/>
          </p:nvSpPr>
          <p:spPr>
            <a:xfrm>
              <a:off x="2928" y="103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2" name="直接连接符 24611"/>
            <p:cNvSpPr/>
            <p:nvPr/>
          </p:nvSpPr>
          <p:spPr>
            <a:xfrm>
              <a:off x="3024" y="214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4613" name="文本框 24612"/>
            <p:cNvSpPr txBox="1"/>
            <p:nvPr/>
          </p:nvSpPr>
          <p:spPr>
            <a:xfrm>
              <a:off x="3014" y="432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4" name="直接连接符 24613"/>
            <p:cNvSpPr/>
            <p:nvPr/>
          </p:nvSpPr>
          <p:spPr>
            <a:xfrm>
              <a:off x="624" y="790"/>
              <a:ext cx="144" cy="432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4615" name="文本框 24614"/>
            <p:cNvSpPr txBox="1"/>
            <p:nvPr/>
          </p:nvSpPr>
          <p:spPr>
            <a:xfrm>
              <a:off x="1286" y="336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6" name="文本框 24615"/>
            <p:cNvSpPr txBox="1"/>
            <p:nvPr/>
          </p:nvSpPr>
          <p:spPr>
            <a:xfrm>
              <a:off x="1344" y="694"/>
              <a:ext cx="3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602" name="组合 25601"/>
          <p:cNvGrpSpPr/>
          <p:nvPr/>
        </p:nvGrpSpPr>
        <p:grpSpPr>
          <a:xfrm>
            <a:off x="2782888" y="1628775"/>
            <a:ext cx="7086600" cy="4114800"/>
            <a:chOff x="0" y="0"/>
            <a:chExt cx="4464" cy="2592"/>
          </a:xfrm>
        </p:grpSpPr>
        <p:sp>
          <p:nvSpPr>
            <p:cNvPr id="25603" name="矩形 25602"/>
            <p:cNvSpPr/>
            <p:nvPr/>
          </p:nvSpPr>
          <p:spPr>
            <a:xfrm>
              <a:off x="0" y="0"/>
              <a:ext cx="4464" cy="259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4" name="矩形 25603"/>
            <p:cNvSpPr/>
            <p:nvPr/>
          </p:nvSpPr>
          <p:spPr>
            <a:xfrm>
              <a:off x="3575" y="199"/>
              <a:ext cx="681" cy="19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5" name="矩形 25604"/>
            <p:cNvSpPr/>
            <p:nvPr/>
          </p:nvSpPr>
          <p:spPr>
            <a:xfrm>
              <a:off x="935" y="942"/>
              <a:ext cx="48" cy="192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6" name="直接连接符 25605"/>
            <p:cNvSpPr/>
            <p:nvPr/>
          </p:nvSpPr>
          <p:spPr>
            <a:xfrm>
              <a:off x="263" y="1326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07" name="直接连接符 25606"/>
            <p:cNvSpPr/>
            <p:nvPr/>
          </p:nvSpPr>
          <p:spPr>
            <a:xfrm>
              <a:off x="887" y="798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08" name="直接连接符 25607"/>
            <p:cNvSpPr/>
            <p:nvPr/>
          </p:nvSpPr>
          <p:spPr>
            <a:xfrm>
              <a:off x="887" y="1086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09" name="直接连接符 25608"/>
            <p:cNvSpPr/>
            <p:nvPr/>
          </p:nvSpPr>
          <p:spPr>
            <a:xfrm>
              <a:off x="887" y="1614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0" name="直接连接符 25609"/>
            <p:cNvSpPr/>
            <p:nvPr/>
          </p:nvSpPr>
          <p:spPr>
            <a:xfrm>
              <a:off x="3191" y="414"/>
              <a:ext cx="0" cy="1776"/>
            </a:xfrm>
            <a:prstGeom prst="line">
              <a:avLst/>
            </a:prstGeom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1" name="椭圆 25610"/>
            <p:cNvSpPr/>
            <p:nvPr/>
          </p:nvSpPr>
          <p:spPr>
            <a:xfrm>
              <a:off x="359" y="1294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2" name="直接连接符 25611"/>
            <p:cNvSpPr/>
            <p:nvPr/>
          </p:nvSpPr>
          <p:spPr>
            <a:xfrm flipV="1">
              <a:off x="359" y="1086"/>
              <a:ext cx="528" cy="24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3" name="直接连接符 25612"/>
            <p:cNvSpPr/>
            <p:nvPr/>
          </p:nvSpPr>
          <p:spPr>
            <a:xfrm>
              <a:off x="407" y="1326"/>
              <a:ext cx="480" cy="28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4" name="直接连接符 25613"/>
            <p:cNvSpPr/>
            <p:nvPr/>
          </p:nvSpPr>
          <p:spPr>
            <a:xfrm flipV="1">
              <a:off x="887" y="510"/>
              <a:ext cx="2304" cy="57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5" name="直接连接符 25614"/>
            <p:cNvSpPr/>
            <p:nvPr/>
          </p:nvSpPr>
          <p:spPr>
            <a:xfrm flipV="1">
              <a:off x="887" y="510"/>
              <a:ext cx="2304" cy="1104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6" name="矩形 25615"/>
            <p:cNvSpPr/>
            <p:nvPr/>
          </p:nvSpPr>
          <p:spPr>
            <a:xfrm>
              <a:off x="3575" y="99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7" name="矩形 25616"/>
            <p:cNvSpPr/>
            <p:nvPr/>
          </p:nvSpPr>
          <p:spPr>
            <a:xfrm>
              <a:off x="3575" y="137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8" name="矩形 25617"/>
            <p:cNvSpPr/>
            <p:nvPr/>
          </p:nvSpPr>
          <p:spPr>
            <a:xfrm>
              <a:off x="3575" y="118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9" name="矩形 25618"/>
            <p:cNvSpPr/>
            <p:nvPr/>
          </p:nvSpPr>
          <p:spPr>
            <a:xfrm>
              <a:off x="3575" y="41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0" name="矩形 25619"/>
            <p:cNvSpPr/>
            <p:nvPr/>
          </p:nvSpPr>
          <p:spPr>
            <a:xfrm>
              <a:off x="3575" y="60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1" name="矩形 25620"/>
            <p:cNvSpPr/>
            <p:nvPr/>
          </p:nvSpPr>
          <p:spPr>
            <a:xfrm>
              <a:off x="3575" y="79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2" name="矩形 25621"/>
            <p:cNvSpPr/>
            <p:nvPr/>
          </p:nvSpPr>
          <p:spPr>
            <a:xfrm>
              <a:off x="3575" y="175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3" name="矩形 25622"/>
            <p:cNvSpPr/>
            <p:nvPr/>
          </p:nvSpPr>
          <p:spPr>
            <a:xfrm>
              <a:off x="3575" y="22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4" name="矩形 25623"/>
            <p:cNvSpPr/>
            <p:nvPr/>
          </p:nvSpPr>
          <p:spPr>
            <a:xfrm>
              <a:off x="3575" y="156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25" name="直接连接符 25624"/>
            <p:cNvSpPr/>
            <p:nvPr/>
          </p:nvSpPr>
          <p:spPr>
            <a:xfrm>
              <a:off x="887" y="1758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5626" name="文本框 25625"/>
            <p:cNvSpPr txBox="1"/>
            <p:nvPr/>
          </p:nvSpPr>
          <p:spPr>
            <a:xfrm>
              <a:off x="681" y="1179"/>
              <a:ext cx="30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7" name="文本框 25626"/>
            <p:cNvSpPr txBox="1"/>
            <p:nvPr/>
          </p:nvSpPr>
          <p:spPr>
            <a:xfrm>
              <a:off x="301" y="1016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8" name="文本框 25627"/>
            <p:cNvSpPr txBox="1"/>
            <p:nvPr/>
          </p:nvSpPr>
          <p:spPr>
            <a:xfrm>
              <a:off x="695" y="798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9" name="文本框 25628"/>
            <p:cNvSpPr txBox="1"/>
            <p:nvPr/>
          </p:nvSpPr>
          <p:spPr>
            <a:xfrm>
              <a:off x="695" y="1518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0" name="文本框 25629"/>
            <p:cNvSpPr txBox="1"/>
            <p:nvPr/>
          </p:nvSpPr>
          <p:spPr>
            <a:xfrm>
              <a:off x="3181" y="296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1" name="文本框 25630"/>
            <p:cNvSpPr txBox="1"/>
            <p:nvPr/>
          </p:nvSpPr>
          <p:spPr>
            <a:xfrm>
              <a:off x="3143" y="1230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2" name="文本框 25631"/>
            <p:cNvSpPr txBox="1"/>
            <p:nvPr/>
          </p:nvSpPr>
          <p:spPr>
            <a:xfrm>
              <a:off x="1885" y="1736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3" name="直接连接符 25632"/>
            <p:cNvSpPr/>
            <p:nvPr/>
          </p:nvSpPr>
          <p:spPr>
            <a:xfrm flipV="1">
              <a:off x="887" y="510"/>
              <a:ext cx="2304" cy="816"/>
            </a:xfrm>
            <a:prstGeom prst="line">
              <a:avLst/>
            </a:prstGeom>
            <a:ln w="9525" cap="flat" cmpd="sng">
              <a:solidFill>
                <a:srgbClr val="FF66CC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34" name="文本框 25633"/>
            <p:cNvSpPr txBox="1"/>
            <p:nvPr/>
          </p:nvSpPr>
          <p:spPr>
            <a:xfrm>
              <a:off x="1261" y="1060"/>
              <a:ext cx="2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5635" name="直接连接符 25634"/>
            <p:cNvSpPr/>
            <p:nvPr/>
          </p:nvSpPr>
          <p:spPr>
            <a:xfrm>
              <a:off x="3191" y="51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6" name="直接连接符 25635"/>
            <p:cNvSpPr/>
            <p:nvPr/>
          </p:nvSpPr>
          <p:spPr>
            <a:xfrm>
              <a:off x="3191" y="132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7" name="直接连接符 25636"/>
            <p:cNvSpPr/>
            <p:nvPr/>
          </p:nvSpPr>
          <p:spPr>
            <a:xfrm>
              <a:off x="3287" y="510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5638" name="文本框 25637"/>
            <p:cNvSpPr txBox="1"/>
            <p:nvPr/>
          </p:nvSpPr>
          <p:spPr>
            <a:xfrm>
              <a:off x="3277" y="728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9" name="直接连接符 25638"/>
            <p:cNvSpPr/>
            <p:nvPr/>
          </p:nvSpPr>
          <p:spPr>
            <a:xfrm>
              <a:off x="887" y="1086"/>
              <a:ext cx="144" cy="432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5640" name="文本框 25639"/>
            <p:cNvSpPr txBox="1"/>
            <p:nvPr/>
          </p:nvSpPr>
          <p:spPr>
            <a:xfrm>
              <a:off x="1549" y="647"/>
              <a:ext cx="24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2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200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2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41" name="文本框 25640"/>
            <p:cNvSpPr txBox="1"/>
            <p:nvPr/>
          </p:nvSpPr>
          <p:spPr>
            <a:xfrm>
              <a:off x="1607" y="990"/>
              <a:ext cx="24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200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2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5644" name="文本框 25643"/>
          <p:cNvSpPr txBox="1"/>
          <p:nvPr/>
        </p:nvSpPr>
        <p:spPr>
          <a:xfrm>
            <a:off x="2351088" y="968375"/>
            <a:ext cx="7273925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在缝后加一薄玻璃片，观察条纹的移动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6" name="组合 26625"/>
          <p:cNvGrpSpPr/>
          <p:nvPr/>
        </p:nvGrpSpPr>
        <p:grpSpPr>
          <a:xfrm>
            <a:off x="2711450" y="1844675"/>
            <a:ext cx="7010400" cy="3962400"/>
            <a:chOff x="0" y="0"/>
            <a:chExt cx="4416" cy="2496"/>
          </a:xfrm>
        </p:grpSpPr>
        <p:sp>
          <p:nvSpPr>
            <p:cNvPr id="26627" name="矩形 26626"/>
            <p:cNvSpPr/>
            <p:nvPr/>
          </p:nvSpPr>
          <p:spPr>
            <a:xfrm>
              <a:off x="0" y="0"/>
              <a:ext cx="4416" cy="249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8" name="矩形 26627"/>
            <p:cNvSpPr/>
            <p:nvPr/>
          </p:nvSpPr>
          <p:spPr>
            <a:xfrm>
              <a:off x="3645" y="282"/>
              <a:ext cx="681" cy="190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9" name="矩形 26628"/>
            <p:cNvSpPr/>
            <p:nvPr/>
          </p:nvSpPr>
          <p:spPr>
            <a:xfrm>
              <a:off x="960" y="1344"/>
              <a:ext cx="48" cy="192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0" name="直接连接符 26629"/>
            <p:cNvSpPr/>
            <p:nvPr/>
          </p:nvSpPr>
          <p:spPr>
            <a:xfrm>
              <a:off x="288" y="1200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1" name="直接连接符 26630"/>
            <p:cNvSpPr/>
            <p:nvPr/>
          </p:nvSpPr>
          <p:spPr>
            <a:xfrm>
              <a:off x="912" y="672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2" name="直接连接符 26631"/>
            <p:cNvSpPr/>
            <p:nvPr/>
          </p:nvSpPr>
          <p:spPr>
            <a:xfrm>
              <a:off x="912" y="960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直接连接符 26632"/>
            <p:cNvSpPr/>
            <p:nvPr/>
          </p:nvSpPr>
          <p:spPr>
            <a:xfrm>
              <a:off x="912" y="1488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直接连接符 26633"/>
            <p:cNvSpPr/>
            <p:nvPr/>
          </p:nvSpPr>
          <p:spPr>
            <a:xfrm>
              <a:off x="3216" y="288"/>
              <a:ext cx="0" cy="1776"/>
            </a:xfrm>
            <a:prstGeom prst="line">
              <a:avLst/>
            </a:prstGeom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5" name="椭圆 26634"/>
            <p:cNvSpPr/>
            <p:nvPr/>
          </p:nvSpPr>
          <p:spPr>
            <a:xfrm>
              <a:off x="384" y="1168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6" name="直接连接符 26635"/>
            <p:cNvSpPr/>
            <p:nvPr/>
          </p:nvSpPr>
          <p:spPr>
            <a:xfrm flipV="1">
              <a:off x="384" y="960"/>
              <a:ext cx="52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7" name="直接连接符 26636"/>
            <p:cNvSpPr/>
            <p:nvPr/>
          </p:nvSpPr>
          <p:spPr>
            <a:xfrm>
              <a:off x="432" y="1200"/>
              <a:ext cx="48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8" name="直接连接符 26637"/>
            <p:cNvSpPr/>
            <p:nvPr/>
          </p:nvSpPr>
          <p:spPr>
            <a:xfrm flipV="1">
              <a:off x="912" y="384"/>
              <a:ext cx="230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直接连接符 26638"/>
            <p:cNvSpPr/>
            <p:nvPr/>
          </p:nvSpPr>
          <p:spPr>
            <a:xfrm flipV="1">
              <a:off x="912" y="384"/>
              <a:ext cx="2304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0" name="矩形 26639"/>
            <p:cNvSpPr/>
            <p:nvPr/>
          </p:nvSpPr>
          <p:spPr>
            <a:xfrm>
              <a:off x="3648" y="124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1" name="矩形 26640"/>
            <p:cNvSpPr/>
            <p:nvPr/>
          </p:nvSpPr>
          <p:spPr>
            <a:xfrm>
              <a:off x="3648" y="163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2" name="矩形 26641"/>
            <p:cNvSpPr/>
            <p:nvPr/>
          </p:nvSpPr>
          <p:spPr>
            <a:xfrm>
              <a:off x="3648" y="144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3" name="矩形 26642"/>
            <p:cNvSpPr/>
            <p:nvPr/>
          </p:nvSpPr>
          <p:spPr>
            <a:xfrm>
              <a:off x="3648" y="67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4" name="矩形 26643"/>
            <p:cNvSpPr/>
            <p:nvPr/>
          </p:nvSpPr>
          <p:spPr>
            <a:xfrm>
              <a:off x="3648" y="86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5" name="矩形 26644"/>
            <p:cNvSpPr/>
            <p:nvPr/>
          </p:nvSpPr>
          <p:spPr>
            <a:xfrm>
              <a:off x="3648" y="105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6" name="矩形 26645"/>
            <p:cNvSpPr/>
            <p:nvPr/>
          </p:nvSpPr>
          <p:spPr>
            <a:xfrm>
              <a:off x="3648" y="201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7" name="矩形 26646"/>
            <p:cNvSpPr/>
            <p:nvPr/>
          </p:nvSpPr>
          <p:spPr>
            <a:xfrm>
              <a:off x="3648" y="48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8" name="矩形 26647"/>
            <p:cNvSpPr/>
            <p:nvPr/>
          </p:nvSpPr>
          <p:spPr>
            <a:xfrm>
              <a:off x="3648" y="182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9" name="直接连接符 26648"/>
            <p:cNvSpPr/>
            <p:nvPr/>
          </p:nvSpPr>
          <p:spPr>
            <a:xfrm>
              <a:off x="912" y="1632"/>
              <a:ext cx="230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6650" name="文本框 26649"/>
            <p:cNvSpPr txBox="1"/>
            <p:nvPr/>
          </p:nvSpPr>
          <p:spPr>
            <a:xfrm>
              <a:off x="661" y="105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1" name="文本框 26650"/>
            <p:cNvSpPr txBox="1"/>
            <p:nvPr/>
          </p:nvSpPr>
          <p:spPr>
            <a:xfrm>
              <a:off x="326" y="890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2" name="文本框 26651"/>
            <p:cNvSpPr txBox="1"/>
            <p:nvPr/>
          </p:nvSpPr>
          <p:spPr>
            <a:xfrm>
              <a:off x="720" y="67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3" name="文本框 26652"/>
            <p:cNvSpPr txBox="1"/>
            <p:nvPr/>
          </p:nvSpPr>
          <p:spPr>
            <a:xfrm>
              <a:off x="720" y="139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4" name="文本框 26653"/>
            <p:cNvSpPr txBox="1"/>
            <p:nvPr/>
          </p:nvSpPr>
          <p:spPr>
            <a:xfrm>
              <a:off x="3206" y="170"/>
              <a:ext cx="2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5" name="文本框 26654"/>
            <p:cNvSpPr txBox="1"/>
            <p:nvPr/>
          </p:nvSpPr>
          <p:spPr>
            <a:xfrm>
              <a:off x="3168" y="1104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6" name="文本框 26655"/>
            <p:cNvSpPr txBox="1"/>
            <p:nvPr/>
          </p:nvSpPr>
          <p:spPr>
            <a:xfrm>
              <a:off x="1910" y="1610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57" name="直接连接符 26656"/>
            <p:cNvSpPr/>
            <p:nvPr/>
          </p:nvSpPr>
          <p:spPr>
            <a:xfrm flipV="1">
              <a:off x="912" y="384"/>
              <a:ext cx="2304" cy="81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6658" name="文本框 26657"/>
            <p:cNvSpPr txBox="1"/>
            <p:nvPr/>
          </p:nvSpPr>
          <p:spPr>
            <a:xfrm>
              <a:off x="1286" y="934"/>
              <a:ext cx="2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6659" name="直接连接符 26658"/>
            <p:cNvSpPr/>
            <p:nvPr/>
          </p:nvSpPr>
          <p:spPr>
            <a:xfrm>
              <a:off x="3216" y="384"/>
              <a:ext cx="240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0" name="直接连接符 26659"/>
            <p:cNvSpPr/>
            <p:nvPr/>
          </p:nvSpPr>
          <p:spPr>
            <a:xfrm>
              <a:off x="3216" y="1200"/>
              <a:ext cx="240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1" name="直接连接符 26660"/>
            <p:cNvSpPr/>
            <p:nvPr/>
          </p:nvSpPr>
          <p:spPr>
            <a:xfrm>
              <a:off x="3312" y="384"/>
              <a:ext cx="0" cy="816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6662" name="文本框 26661"/>
            <p:cNvSpPr txBox="1"/>
            <p:nvPr/>
          </p:nvSpPr>
          <p:spPr>
            <a:xfrm>
              <a:off x="3302" y="602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3" name="直接连接符 26662"/>
            <p:cNvSpPr/>
            <p:nvPr/>
          </p:nvSpPr>
          <p:spPr>
            <a:xfrm>
              <a:off x="912" y="960"/>
              <a:ext cx="144" cy="432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6664" name="文本框 26663"/>
            <p:cNvSpPr txBox="1"/>
            <p:nvPr/>
          </p:nvSpPr>
          <p:spPr>
            <a:xfrm>
              <a:off x="1574" y="506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5" name="文本框 26664"/>
            <p:cNvSpPr txBox="1"/>
            <p:nvPr/>
          </p:nvSpPr>
          <p:spPr>
            <a:xfrm>
              <a:off x="1632" y="864"/>
              <a:ext cx="38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6" name="文本框 26665"/>
            <p:cNvSpPr txBox="1"/>
            <p:nvPr/>
          </p:nvSpPr>
          <p:spPr>
            <a:xfrm>
              <a:off x="480" y="28"/>
              <a:ext cx="16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薄玻璃片盖住下缝时：则</a:t>
              </a:r>
              <a:endParaRPr lang="zh-CN" altLang="en-US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67" name="文本框 26666"/>
            <p:cNvSpPr txBox="1"/>
            <p:nvPr/>
          </p:nvSpPr>
          <p:spPr>
            <a:xfrm>
              <a:off x="1393" y="2188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>
                  <a:solidFill>
                    <a:srgbClr val="990033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中央明纹下移</a:t>
              </a:r>
              <a:endParaRPr lang="zh-CN" altLang="en-US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sp>
        <p:nvSpPr>
          <p:cNvPr id="26668" name="文本框 26667"/>
          <p:cNvSpPr txBox="1"/>
          <p:nvPr/>
        </p:nvSpPr>
        <p:spPr>
          <a:xfrm>
            <a:off x="2351088" y="968375"/>
            <a:ext cx="7273925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在缝后加一薄玻璃片，观察条纹的移动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文本框 27649"/>
          <p:cNvSpPr txBox="1"/>
          <p:nvPr/>
        </p:nvSpPr>
        <p:spPr>
          <a:xfrm>
            <a:off x="2279650" y="1039813"/>
            <a:ext cx="7129463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上下移动光源时，观察条纹的移动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651" name="组合 27650"/>
          <p:cNvGrpSpPr/>
          <p:nvPr/>
        </p:nvGrpSpPr>
        <p:grpSpPr>
          <a:xfrm>
            <a:off x="3048000" y="2022475"/>
            <a:ext cx="6418263" cy="3006725"/>
            <a:chOff x="0" y="0"/>
            <a:chExt cx="4043" cy="1894"/>
          </a:xfrm>
        </p:grpSpPr>
        <p:sp>
          <p:nvSpPr>
            <p:cNvPr id="27652" name="矩形 27651"/>
            <p:cNvSpPr/>
            <p:nvPr/>
          </p:nvSpPr>
          <p:spPr>
            <a:xfrm>
              <a:off x="3362" y="115"/>
              <a:ext cx="681" cy="1769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3" name="直接连接符 27652"/>
            <p:cNvSpPr/>
            <p:nvPr/>
          </p:nvSpPr>
          <p:spPr>
            <a:xfrm>
              <a:off x="0" y="1030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4" name="直接连接符 27653"/>
            <p:cNvSpPr/>
            <p:nvPr/>
          </p:nvSpPr>
          <p:spPr>
            <a:xfrm>
              <a:off x="624" y="502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5" name="直接连接符 27654"/>
            <p:cNvSpPr/>
            <p:nvPr/>
          </p:nvSpPr>
          <p:spPr>
            <a:xfrm>
              <a:off x="624" y="790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6" name="直接连接符 27655"/>
            <p:cNvSpPr/>
            <p:nvPr/>
          </p:nvSpPr>
          <p:spPr>
            <a:xfrm>
              <a:off x="624" y="1318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7" name="直接连接符 27656"/>
            <p:cNvSpPr/>
            <p:nvPr/>
          </p:nvSpPr>
          <p:spPr>
            <a:xfrm>
              <a:off x="2928" y="118"/>
              <a:ext cx="0" cy="1776"/>
            </a:xfrm>
            <a:prstGeom prst="line">
              <a:avLst/>
            </a:prstGeom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8" name="椭圆 27657"/>
            <p:cNvSpPr/>
            <p:nvPr/>
          </p:nvSpPr>
          <p:spPr>
            <a:xfrm>
              <a:off x="96" y="998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9" name="直接连接符 27658"/>
            <p:cNvSpPr/>
            <p:nvPr/>
          </p:nvSpPr>
          <p:spPr>
            <a:xfrm flipV="1">
              <a:off x="96" y="790"/>
              <a:ext cx="52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直接连接符 27659"/>
            <p:cNvSpPr/>
            <p:nvPr/>
          </p:nvSpPr>
          <p:spPr>
            <a:xfrm>
              <a:off x="144" y="1030"/>
              <a:ext cx="48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直接连接符 27660"/>
            <p:cNvSpPr/>
            <p:nvPr/>
          </p:nvSpPr>
          <p:spPr>
            <a:xfrm flipV="1">
              <a:off x="624" y="214"/>
              <a:ext cx="230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2" name="直接连接符 27661"/>
            <p:cNvSpPr/>
            <p:nvPr/>
          </p:nvSpPr>
          <p:spPr>
            <a:xfrm flipV="1">
              <a:off x="624" y="214"/>
              <a:ext cx="2304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矩形 27662"/>
            <p:cNvSpPr/>
            <p:nvPr/>
          </p:nvSpPr>
          <p:spPr>
            <a:xfrm>
              <a:off x="3360" y="93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4" name="矩形 27663"/>
            <p:cNvSpPr/>
            <p:nvPr/>
          </p:nvSpPr>
          <p:spPr>
            <a:xfrm>
              <a:off x="3360" y="131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5" name="矩形 27664"/>
            <p:cNvSpPr/>
            <p:nvPr/>
          </p:nvSpPr>
          <p:spPr>
            <a:xfrm>
              <a:off x="3360" y="112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6" name="矩形 27665"/>
            <p:cNvSpPr/>
            <p:nvPr/>
          </p:nvSpPr>
          <p:spPr>
            <a:xfrm>
              <a:off x="3360" y="35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7" name="矩形 27666"/>
            <p:cNvSpPr/>
            <p:nvPr/>
          </p:nvSpPr>
          <p:spPr>
            <a:xfrm>
              <a:off x="3360" y="55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8" name="矩形 27667"/>
            <p:cNvSpPr/>
            <p:nvPr/>
          </p:nvSpPr>
          <p:spPr>
            <a:xfrm>
              <a:off x="3360" y="74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9" name="矩形 27668"/>
            <p:cNvSpPr/>
            <p:nvPr/>
          </p:nvSpPr>
          <p:spPr>
            <a:xfrm>
              <a:off x="3360" y="170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0" name="矩形 27669"/>
            <p:cNvSpPr/>
            <p:nvPr/>
          </p:nvSpPr>
          <p:spPr>
            <a:xfrm>
              <a:off x="3360" y="16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1" name="矩形 27670"/>
            <p:cNvSpPr/>
            <p:nvPr/>
          </p:nvSpPr>
          <p:spPr>
            <a:xfrm>
              <a:off x="3360" y="151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2" name="直接连接符 27671"/>
            <p:cNvSpPr/>
            <p:nvPr/>
          </p:nvSpPr>
          <p:spPr>
            <a:xfrm>
              <a:off x="624" y="1462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73" name="文本框 27672"/>
            <p:cNvSpPr txBox="1"/>
            <p:nvPr/>
          </p:nvSpPr>
          <p:spPr>
            <a:xfrm>
              <a:off x="423" y="886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4" name="文本框 27673"/>
            <p:cNvSpPr txBox="1"/>
            <p:nvPr/>
          </p:nvSpPr>
          <p:spPr>
            <a:xfrm>
              <a:off x="38" y="720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5" name="文本框 27674"/>
            <p:cNvSpPr txBox="1"/>
            <p:nvPr/>
          </p:nvSpPr>
          <p:spPr>
            <a:xfrm>
              <a:off x="432" y="50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6" name="文本框 27675"/>
            <p:cNvSpPr txBox="1"/>
            <p:nvPr/>
          </p:nvSpPr>
          <p:spPr>
            <a:xfrm>
              <a:off x="432" y="1222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7" name="文本框 27676"/>
            <p:cNvSpPr txBox="1"/>
            <p:nvPr/>
          </p:nvSpPr>
          <p:spPr>
            <a:xfrm>
              <a:off x="2918" y="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8" name="文本框 27677"/>
            <p:cNvSpPr txBox="1"/>
            <p:nvPr/>
          </p:nvSpPr>
          <p:spPr>
            <a:xfrm>
              <a:off x="2880" y="934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9" name="文本框 27678"/>
            <p:cNvSpPr txBox="1"/>
            <p:nvPr/>
          </p:nvSpPr>
          <p:spPr>
            <a:xfrm>
              <a:off x="1622" y="1440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80" name="直接连接符 27679"/>
            <p:cNvSpPr/>
            <p:nvPr/>
          </p:nvSpPr>
          <p:spPr>
            <a:xfrm flipV="1">
              <a:off x="624" y="214"/>
              <a:ext cx="2304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81" name="文本框 27680"/>
            <p:cNvSpPr txBox="1"/>
            <p:nvPr/>
          </p:nvSpPr>
          <p:spPr>
            <a:xfrm>
              <a:off x="998" y="764"/>
              <a:ext cx="25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7682" name="直接连接符 27681"/>
            <p:cNvSpPr/>
            <p:nvPr/>
          </p:nvSpPr>
          <p:spPr>
            <a:xfrm>
              <a:off x="2928" y="21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3" name="直接连接符 27682"/>
            <p:cNvSpPr/>
            <p:nvPr/>
          </p:nvSpPr>
          <p:spPr>
            <a:xfrm>
              <a:off x="2928" y="103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84" name="直接连接符 27683"/>
            <p:cNvSpPr/>
            <p:nvPr/>
          </p:nvSpPr>
          <p:spPr>
            <a:xfrm>
              <a:off x="3024" y="214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85" name="文本框 27684"/>
            <p:cNvSpPr txBox="1"/>
            <p:nvPr/>
          </p:nvSpPr>
          <p:spPr>
            <a:xfrm>
              <a:off x="3014" y="432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86" name="直接连接符 27685"/>
            <p:cNvSpPr/>
            <p:nvPr/>
          </p:nvSpPr>
          <p:spPr>
            <a:xfrm>
              <a:off x="624" y="790"/>
              <a:ext cx="14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87" name="文本框 27686"/>
            <p:cNvSpPr txBox="1"/>
            <p:nvPr/>
          </p:nvSpPr>
          <p:spPr>
            <a:xfrm>
              <a:off x="1286" y="336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88" name="文本框 27687"/>
            <p:cNvSpPr txBox="1"/>
            <p:nvPr/>
          </p:nvSpPr>
          <p:spPr>
            <a:xfrm>
              <a:off x="1344" y="694"/>
              <a:ext cx="43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4" name="组合 28673"/>
          <p:cNvGrpSpPr/>
          <p:nvPr/>
        </p:nvGrpSpPr>
        <p:grpSpPr>
          <a:xfrm>
            <a:off x="2438400" y="1524000"/>
            <a:ext cx="7162800" cy="4648200"/>
            <a:chOff x="0" y="0"/>
            <a:chExt cx="4512" cy="2928"/>
          </a:xfrm>
        </p:grpSpPr>
        <p:sp>
          <p:nvSpPr>
            <p:cNvPr id="28675" name="矩形 28674"/>
            <p:cNvSpPr/>
            <p:nvPr/>
          </p:nvSpPr>
          <p:spPr>
            <a:xfrm>
              <a:off x="0" y="0"/>
              <a:ext cx="4512" cy="292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76" name="矩形 28675"/>
            <p:cNvSpPr/>
            <p:nvPr/>
          </p:nvSpPr>
          <p:spPr>
            <a:xfrm>
              <a:off x="3746" y="520"/>
              <a:ext cx="681" cy="1769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77" name="直接连接符 28676"/>
            <p:cNvSpPr/>
            <p:nvPr/>
          </p:nvSpPr>
          <p:spPr>
            <a:xfrm>
              <a:off x="384" y="1344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78" name="直接连接符 28677"/>
            <p:cNvSpPr/>
            <p:nvPr/>
          </p:nvSpPr>
          <p:spPr>
            <a:xfrm>
              <a:off x="1008" y="816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79" name="直接连接符 28678"/>
            <p:cNvSpPr/>
            <p:nvPr/>
          </p:nvSpPr>
          <p:spPr>
            <a:xfrm>
              <a:off x="1008" y="1104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0" name="直接连接符 28679"/>
            <p:cNvSpPr/>
            <p:nvPr/>
          </p:nvSpPr>
          <p:spPr>
            <a:xfrm>
              <a:off x="1008" y="1632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1" name="直接连接符 28680"/>
            <p:cNvSpPr/>
            <p:nvPr/>
          </p:nvSpPr>
          <p:spPr>
            <a:xfrm>
              <a:off x="3312" y="432"/>
              <a:ext cx="0" cy="1776"/>
            </a:xfrm>
            <a:prstGeom prst="line">
              <a:avLst/>
            </a:prstGeom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2" name="椭圆 28681"/>
            <p:cNvSpPr/>
            <p:nvPr/>
          </p:nvSpPr>
          <p:spPr>
            <a:xfrm>
              <a:off x="480" y="1200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3" name="直接连接符 28682"/>
            <p:cNvSpPr/>
            <p:nvPr/>
          </p:nvSpPr>
          <p:spPr>
            <a:xfrm flipV="1">
              <a:off x="528" y="1104"/>
              <a:ext cx="480" cy="9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4" name="直接连接符 28683"/>
            <p:cNvSpPr/>
            <p:nvPr/>
          </p:nvSpPr>
          <p:spPr>
            <a:xfrm>
              <a:off x="528" y="1248"/>
              <a:ext cx="480" cy="384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5" name="直接连接符 28684"/>
            <p:cNvSpPr/>
            <p:nvPr/>
          </p:nvSpPr>
          <p:spPr>
            <a:xfrm flipV="1">
              <a:off x="1008" y="528"/>
              <a:ext cx="2304" cy="57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6" name="直接连接符 28685"/>
            <p:cNvSpPr/>
            <p:nvPr/>
          </p:nvSpPr>
          <p:spPr>
            <a:xfrm flipV="1">
              <a:off x="1008" y="528"/>
              <a:ext cx="2304" cy="1104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7" name="矩形 28686"/>
            <p:cNvSpPr/>
            <p:nvPr/>
          </p:nvSpPr>
          <p:spPr>
            <a:xfrm>
              <a:off x="3744" y="134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8" name="矩形 28687"/>
            <p:cNvSpPr/>
            <p:nvPr/>
          </p:nvSpPr>
          <p:spPr>
            <a:xfrm>
              <a:off x="3744" y="172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9" name="矩形 28688"/>
            <p:cNvSpPr/>
            <p:nvPr/>
          </p:nvSpPr>
          <p:spPr>
            <a:xfrm>
              <a:off x="3744" y="153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0" name="矩形 28689"/>
            <p:cNvSpPr/>
            <p:nvPr/>
          </p:nvSpPr>
          <p:spPr>
            <a:xfrm>
              <a:off x="3744" y="76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1" name="矩形 28690"/>
            <p:cNvSpPr/>
            <p:nvPr/>
          </p:nvSpPr>
          <p:spPr>
            <a:xfrm>
              <a:off x="3744" y="96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2" name="矩形 28691"/>
            <p:cNvSpPr/>
            <p:nvPr/>
          </p:nvSpPr>
          <p:spPr>
            <a:xfrm>
              <a:off x="3744" y="115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3" name="矩形 28692"/>
            <p:cNvSpPr/>
            <p:nvPr/>
          </p:nvSpPr>
          <p:spPr>
            <a:xfrm>
              <a:off x="3744" y="211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4" name="矩形 28693"/>
            <p:cNvSpPr/>
            <p:nvPr/>
          </p:nvSpPr>
          <p:spPr>
            <a:xfrm>
              <a:off x="3744" y="57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5" name="矩形 28694"/>
            <p:cNvSpPr/>
            <p:nvPr/>
          </p:nvSpPr>
          <p:spPr>
            <a:xfrm>
              <a:off x="3744" y="192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6" name="直接连接符 28695"/>
            <p:cNvSpPr/>
            <p:nvPr/>
          </p:nvSpPr>
          <p:spPr>
            <a:xfrm>
              <a:off x="1008" y="1776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8697" name="文本框 28696"/>
            <p:cNvSpPr txBox="1"/>
            <p:nvPr/>
          </p:nvSpPr>
          <p:spPr>
            <a:xfrm>
              <a:off x="807" y="1064"/>
              <a:ext cx="26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698" name="文本框 28697"/>
            <p:cNvSpPr txBox="1"/>
            <p:nvPr/>
          </p:nvSpPr>
          <p:spPr>
            <a:xfrm>
              <a:off x="384" y="912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9" name="文本框 28698"/>
            <p:cNvSpPr txBox="1"/>
            <p:nvPr/>
          </p:nvSpPr>
          <p:spPr>
            <a:xfrm>
              <a:off x="816" y="816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0" name="文本框 28699"/>
            <p:cNvSpPr txBox="1"/>
            <p:nvPr/>
          </p:nvSpPr>
          <p:spPr>
            <a:xfrm>
              <a:off x="816" y="1536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1" name="文本框 28700"/>
            <p:cNvSpPr txBox="1"/>
            <p:nvPr/>
          </p:nvSpPr>
          <p:spPr>
            <a:xfrm>
              <a:off x="3302" y="314"/>
              <a:ext cx="2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2" name="文本框 28701"/>
            <p:cNvSpPr txBox="1"/>
            <p:nvPr/>
          </p:nvSpPr>
          <p:spPr>
            <a:xfrm>
              <a:off x="3264" y="1248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3" name="文本框 28702"/>
            <p:cNvSpPr txBox="1"/>
            <p:nvPr/>
          </p:nvSpPr>
          <p:spPr>
            <a:xfrm>
              <a:off x="2006" y="1754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4" name="直接连接符 28703"/>
            <p:cNvSpPr/>
            <p:nvPr/>
          </p:nvSpPr>
          <p:spPr>
            <a:xfrm flipV="1">
              <a:off x="1008" y="528"/>
              <a:ext cx="2304" cy="81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05" name="文本框 28704"/>
            <p:cNvSpPr txBox="1"/>
            <p:nvPr/>
          </p:nvSpPr>
          <p:spPr>
            <a:xfrm>
              <a:off x="1382" y="1078"/>
              <a:ext cx="2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706" name="直接连接符 28705"/>
            <p:cNvSpPr/>
            <p:nvPr/>
          </p:nvSpPr>
          <p:spPr>
            <a:xfrm>
              <a:off x="3312" y="528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7" name="直接连接符 28706"/>
            <p:cNvSpPr/>
            <p:nvPr/>
          </p:nvSpPr>
          <p:spPr>
            <a:xfrm>
              <a:off x="3312" y="1344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8" name="直接连接符 28707"/>
            <p:cNvSpPr/>
            <p:nvPr/>
          </p:nvSpPr>
          <p:spPr>
            <a:xfrm>
              <a:off x="3408" y="528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8709" name="文本框 28708"/>
            <p:cNvSpPr txBox="1"/>
            <p:nvPr/>
          </p:nvSpPr>
          <p:spPr>
            <a:xfrm>
              <a:off x="3398" y="746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0" name="直接连接符 28709"/>
            <p:cNvSpPr/>
            <p:nvPr/>
          </p:nvSpPr>
          <p:spPr>
            <a:xfrm>
              <a:off x="1008" y="1104"/>
              <a:ext cx="144" cy="432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1" name="文本框 28710"/>
            <p:cNvSpPr txBox="1"/>
            <p:nvPr/>
          </p:nvSpPr>
          <p:spPr>
            <a:xfrm>
              <a:off x="1670" y="650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2" name="文本框 28711"/>
            <p:cNvSpPr txBox="1"/>
            <p:nvPr/>
          </p:nvSpPr>
          <p:spPr>
            <a:xfrm>
              <a:off x="1728" y="1008"/>
              <a:ext cx="38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3" name="文本框 28712"/>
            <p:cNvSpPr txBox="1"/>
            <p:nvPr/>
          </p:nvSpPr>
          <p:spPr>
            <a:xfrm>
              <a:off x="864" y="124"/>
              <a:ext cx="15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向上移动光源时，则：</a:t>
              </a:r>
              <a:endParaRPr lang="zh-CN" altLang="en-US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4" name="文本框 28713"/>
            <p:cNvSpPr txBox="1"/>
            <p:nvPr/>
          </p:nvSpPr>
          <p:spPr>
            <a:xfrm>
              <a:off x="1489" y="2332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>
                  <a:solidFill>
                    <a:srgbClr val="990033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中央明纹下移</a:t>
              </a:r>
              <a:endParaRPr lang="zh-CN" altLang="en-US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8715" name="直接连接符 28714"/>
            <p:cNvSpPr/>
            <p:nvPr/>
          </p:nvSpPr>
          <p:spPr>
            <a:xfrm flipH="1">
              <a:off x="853" y="1109"/>
              <a:ext cx="136" cy="4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8716" name="文本框 28715"/>
          <p:cNvSpPr txBox="1"/>
          <p:nvPr/>
        </p:nvSpPr>
        <p:spPr>
          <a:xfrm>
            <a:off x="2279650" y="968375"/>
            <a:ext cx="7129463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上下移动光源时，观察条纹的移动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8" name="组合 29697"/>
          <p:cNvGrpSpPr/>
          <p:nvPr/>
        </p:nvGrpSpPr>
        <p:grpSpPr>
          <a:xfrm>
            <a:off x="2711450" y="1111250"/>
            <a:ext cx="6781800" cy="4632325"/>
            <a:chOff x="0" y="28"/>
            <a:chExt cx="4272" cy="2918"/>
          </a:xfrm>
        </p:grpSpPr>
        <p:sp>
          <p:nvSpPr>
            <p:cNvPr id="29699" name="文本框 29698"/>
            <p:cNvSpPr txBox="1"/>
            <p:nvPr/>
          </p:nvSpPr>
          <p:spPr>
            <a:xfrm>
              <a:off x="20" y="28"/>
              <a:ext cx="39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>
                <a:buFont typeface="Arial" panose="020B0604020202020204" pitchFamily="34" charset="0"/>
                <a:buChar char="•"/>
              </a:pPr>
              <a:r>
                <a:rPr lang="zh-CN" altLang="en-US">
                  <a:solidFill>
                    <a:schemeClr val="bg1"/>
                  </a:solidFill>
                  <a:latin typeface="Times New Roman" panose="02020603050405020304" pitchFamily="18" charset="0"/>
                </a:rPr>
                <a:t> 上下移动光源时，观察条纹的移动。</a:t>
              </a:r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00" name="矩形 29699"/>
            <p:cNvSpPr/>
            <p:nvPr/>
          </p:nvSpPr>
          <p:spPr>
            <a:xfrm>
              <a:off x="0" y="354"/>
              <a:ext cx="4272" cy="259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1" name="矩形 29700"/>
            <p:cNvSpPr/>
            <p:nvPr/>
          </p:nvSpPr>
          <p:spPr>
            <a:xfrm>
              <a:off x="3520" y="499"/>
              <a:ext cx="680" cy="181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2" name="直接连接符 29701"/>
            <p:cNvSpPr/>
            <p:nvPr/>
          </p:nvSpPr>
          <p:spPr>
            <a:xfrm>
              <a:off x="212" y="1632"/>
              <a:ext cx="2928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3" name="直接连接符 29702"/>
            <p:cNvSpPr/>
            <p:nvPr/>
          </p:nvSpPr>
          <p:spPr>
            <a:xfrm>
              <a:off x="836" y="1104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4" name="直接连接符 29703"/>
            <p:cNvSpPr/>
            <p:nvPr/>
          </p:nvSpPr>
          <p:spPr>
            <a:xfrm>
              <a:off x="836" y="1392"/>
              <a:ext cx="0" cy="48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直接连接符 29704"/>
            <p:cNvSpPr/>
            <p:nvPr/>
          </p:nvSpPr>
          <p:spPr>
            <a:xfrm>
              <a:off x="836" y="1920"/>
              <a:ext cx="0" cy="240"/>
            </a:xfrm>
            <a:prstGeom prst="line">
              <a:avLst/>
            </a:prstGeom>
            <a:ln w="38100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直接连接符 29705"/>
            <p:cNvSpPr/>
            <p:nvPr/>
          </p:nvSpPr>
          <p:spPr>
            <a:xfrm>
              <a:off x="3140" y="720"/>
              <a:ext cx="0" cy="1776"/>
            </a:xfrm>
            <a:prstGeom prst="line">
              <a:avLst/>
            </a:prstGeom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7" name="椭圆 29706"/>
            <p:cNvSpPr/>
            <p:nvPr/>
          </p:nvSpPr>
          <p:spPr>
            <a:xfrm>
              <a:off x="308" y="1728"/>
              <a:ext cx="48" cy="48"/>
            </a:xfrm>
            <a:prstGeom prst="ellipse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8" name="直接连接符 29707"/>
            <p:cNvSpPr/>
            <p:nvPr/>
          </p:nvSpPr>
          <p:spPr>
            <a:xfrm flipV="1">
              <a:off x="356" y="1392"/>
              <a:ext cx="480" cy="33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9" name="直接连接符 29708"/>
            <p:cNvSpPr/>
            <p:nvPr/>
          </p:nvSpPr>
          <p:spPr>
            <a:xfrm>
              <a:off x="356" y="1728"/>
              <a:ext cx="480" cy="192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0" name="直接连接符 29709"/>
            <p:cNvSpPr/>
            <p:nvPr/>
          </p:nvSpPr>
          <p:spPr>
            <a:xfrm flipV="1">
              <a:off x="836" y="816"/>
              <a:ext cx="2304" cy="57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1" name="直接连接符 29710"/>
            <p:cNvSpPr/>
            <p:nvPr/>
          </p:nvSpPr>
          <p:spPr>
            <a:xfrm flipV="1">
              <a:off x="836" y="816"/>
              <a:ext cx="2304" cy="1104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2" name="矩形 29711"/>
            <p:cNvSpPr/>
            <p:nvPr/>
          </p:nvSpPr>
          <p:spPr>
            <a:xfrm>
              <a:off x="3524" y="1344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3" name="矩形 29712"/>
            <p:cNvSpPr/>
            <p:nvPr/>
          </p:nvSpPr>
          <p:spPr>
            <a:xfrm>
              <a:off x="3524" y="172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4" name="矩形 29713"/>
            <p:cNvSpPr/>
            <p:nvPr/>
          </p:nvSpPr>
          <p:spPr>
            <a:xfrm>
              <a:off x="3524" y="153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5" name="矩形 29714"/>
            <p:cNvSpPr/>
            <p:nvPr/>
          </p:nvSpPr>
          <p:spPr>
            <a:xfrm>
              <a:off x="3524" y="768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6" name="矩形 29715"/>
            <p:cNvSpPr/>
            <p:nvPr/>
          </p:nvSpPr>
          <p:spPr>
            <a:xfrm>
              <a:off x="3524" y="96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7" name="矩形 29716"/>
            <p:cNvSpPr/>
            <p:nvPr/>
          </p:nvSpPr>
          <p:spPr>
            <a:xfrm>
              <a:off x="3524" y="115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8" name="矩形 29717"/>
            <p:cNvSpPr/>
            <p:nvPr/>
          </p:nvSpPr>
          <p:spPr>
            <a:xfrm>
              <a:off x="3524" y="2112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9" name="矩形 29718"/>
            <p:cNvSpPr/>
            <p:nvPr/>
          </p:nvSpPr>
          <p:spPr>
            <a:xfrm>
              <a:off x="3524" y="576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0" name="矩形 29719"/>
            <p:cNvSpPr/>
            <p:nvPr/>
          </p:nvSpPr>
          <p:spPr>
            <a:xfrm>
              <a:off x="3524" y="1920"/>
              <a:ext cx="672" cy="144"/>
            </a:xfrm>
            <a:prstGeom prst="rect">
              <a:avLst/>
            </a:prstGeom>
            <a:gradFill rotWithShape="0">
              <a:gsLst>
                <a:gs pos="0">
                  <a:srgbClr val="000036"/>
                </a:gs>
                <a:gs pos="50000">
                  <a:srgbClr val="FFCC00"/>
                </a:gs>
                <a:gs pos="100000">
                  <a:srgbClr val="00003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1" name="直接连接符 29720"/>
            <p:cNvSpPr/>
            <p:nvPr/>
          </p:nvSpPr>
          <p:spPr>
            <a:xfrm>
              <a:off x="836" y="2064"/>
              <a:ext cx="23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9722" name="文本框 29721"/>
            <p:cNvSpPr txBox="1"/>
            <p:nvPr/>
          </p:nvSpPr>
          <p:spPr>
            <a:xfrm>
              <a:off x="635" y="1624"/>
              <a:ext cx="20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723" name="文本框 29722"/>
            <p:cNvSpPr txBox="1"/>
            <p:nvPr/>
          </p:nvSpPr>
          <p:spPr>
            <a:xfrm>
              <a:off x="260" y="1392"/>
              <a:ext cx="17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4" name="文本框 29723"/>
            <p:cNvSpPr txBox="1"/>
            <p:nvPr/>
          </p:nvSpPr>
          <p:spPr>
            <a:xfrm>
              <a:off x="644" y="1104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5" name="文本框 29724"/>
            <p:cNvSpPr txBox="1"/>
            <p:nvPr/>
          </p:nvSpPr>
          <p:spPr>
            <a:xfrm>
              <a:off x="644" y="1824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6" name="文本框 29725"/>
            <p:cNvSpPr txBox="1"/>
            <p:nvPr/>
          </p:nvSpPr>
          <p:spPr>
            <a:xfrm>
              <a:off x="3130" y="602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7" name="文本框 29726"/>
            <p:cNvSpPr txBox="1"/>
            <p:nvPr/>
          </p:nvSpPr>
          <p:spPr>
            <a:xfrm>
              <a:off x="3092" y="1536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8" name="文本框 29727"/>
            <p:cNvSpPr txBox="1"/>
            <p:nvPr/>
          </p:nvSpPr>
          <p:spPr>
            <a:xfrm>
              <a:off x="1834" y="2042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9" name="直接连接符 29728"/>
            <p:cNvSpPr/>
            <p:nvPr/>
          </p:nvSpPr>
          <p:spPr>
            <a:xfrm flipV="1">
              <a:off x="836" y="816"/>
              <a:ext cx="2304" cy="816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30" name="文本框 29729"/>
            <p:cNvSpPr txBox="1"/>
            <p:nvPr/>
          </p:nvSpPr>
          <p:spPr>
            <a:xfrm>
              <a:off x="1210" y="1366"/>
              <a:ext cx="2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0" i="1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zh-CN" altLang="en-US" b="0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731" name="直接连接符 29730"/>
            <p:cNvSpPr/>
            <p:nvPr/>
          </p:nvSpPr>
          <p:spPr>
            <a:xfrm>
              <a:off x="3140" y="816"/>
              <a:ext cx="240" cy="0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2" name="直接连接符 29731"/>
            <p:cNvSpPr/>
            <p:nvPr/>
          </p:nvSpPr>
          <p:spPr>
            <a:xfrm>
              <a:off x="3140" y="1632"/>
              <a:ext cx="240" cy="0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3" name="直接连接符 29732"/>
            <p:cNvSpPr/>
            <p:nvPr/>
          </p:nvSpPr>
          <p:spPr>
            <a:xfrm>
              <a:off x="3236" y="816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9734" name="文本框 29733"/>
            <p:cNvSpPr txBox="1"/>
            <p:nvPr/>
          </p:nvSpPr>
          <p:spPr>
            <a:xfrm>
              <a:off x="3226" y="1034"/>
              <a:ext cx="1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5" name="直接连接符 29734"/>
            <p:cNvSpPr/>
            <p:nvPr/>
          </p:nvSpPr>
          <p:spPr>
            <a:xfrm>
              <a:off x="836" y="1392"/>
              <a:ext cx="144" cy="432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9736" name="文本框 29735"/>
            <p:cNvSpPr txBox="1"/>
            <p:nvPr/>
          </p:nvSpPr>
          <p:spPr>
            <a:xfrm>
              <a:off x="1498" y="938"/>
              <a:ext cx="21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7" name="文本框 29736"/>
            <p:cNvSpPr txBox="1"/>
            <p:nvPr/>
          </p:nvSpPr>
          <p:spPr>
            <a:xfrm>
              <a:off x="1556" y="1296"/>
              <a:ext cx="38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8" name="文本框 29737"/>
            <p:cNvSpPr txBox="1"/>
            <p:nvPr/>
          </p:nvSpPr>
          <p:spPr>
            <a:xfrm>
              <a:off x="404" y="460"/>
              <a:ext cx="19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b="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9" name="文本框 29738"/>
            <p:cNvSpPr txBox="1"/>
            <p:nvPr/>
          </p:nvSpPr>
          <p:spPr>
            <a:xfrm>
              <a:off x="1317" y="2620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>
                  <a:solidFill>
                    <a:srgbClr val="990033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中央明纹上移</a:t>
              </a:r>
              <a:endParaRPr lang="zh-CN" altLang="en-US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29740" name="文本框 29739"/>
            <p:cNvSpPr txBox="1"/>
            <p:nvPr/>
          </p:nvSpPr>
          <p:spPr>
            <a:xfrm>
              <a:off x="692" y="412"/>
              <a:ext cx="15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r>
                <a: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向下移动光源时，则：</a:t>
              </a:r>
              <a:endParaRPr lang="zh-CN" altLang="en-US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1" name="直接连接符 29740"/>
            <p:cNvSpPr/>
            <p:nvPr/>
          </p:nvSpPr>
          <p:spPr>
            <a:xfrm flipH="1" flipV="1">
              <a:off x="635" y="1533"/>
              <a:ext cx="182" cy="4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9742" name="文本框 29741"/>
          <p:cNvSpPr txBox="1"/>
          <p:nvPr/>
        </p:nvSpPr>
        <p:spPr>
          <a:xfrm>
            <a:off x="2279650" y="968375"/>
            <a:ext cx="7129463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 上下移动光源时，观察条纹的移动</a:t>
            </a:r>
            <a:endParaRPr lang="zh-CN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矩形 30721"/>
          <p:cNvSpPr/>
          <p:nvPr/>
        </p:nvSpPr>
        <p:spPr>
          <a:xfrm>
            <a:off x="2438400" y="1219200"/>
            <a:ext cx="7315200" cy="3352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723" name="文本框 30722"/>
          <p:cNvSpPr txBox="1"/>
          <p:nvPr/>
        </p:nvSpPr>
        <p:spPr>
          <a:xfrm>
            <a:off x="2279650" y="692150"/>
            <a:ext cx="510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楷体_GB2312" pitchFamily="1" charset="-122"/>
              </a:rPr>
              <a:t>二、洛埃镜</a:t>
            </a:r>
            <a:endParaRPr lang="zh-CN" altLang="en-US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30724" name="矩形 30723"/>
          <p:cNvSpPr/>
          <p:nvPr/>
        </p:nvSpPr>
        <p:spPr>
          <a:xfrm>
            <a:off x="3886200" y="2057400"/>
            <a:ext cx="76200" cy="685800"/>
          </a:xfrm>
          <a:prstGeom prst="rect">
            <a:avLst/>
          </a:prstGeom>
          <a:pattFill prst="dkDnDiag">
            <a:fgClr>
              <a:srgbClr val="0000FF"/>
            </a:fgClr>
            <a:bgClr>
              <a:srgbClr val="00CC00"/>
            </a:bgClr>
          </a:patt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725" name="矩形 30724"/>
          <p:cNvSpPr/>
          <p:nvPr/>
        </p:nvSpPr>
        <p:spPr>
          <a:xfrm>
            <a:off x="3886200" y="2895600"/>
            <a:ext cx="76200" cy="533400"/>
          </a:xfrm>
          <a:prstGeom prst="rect">
            <a:avLst/>
          </a:prstGeom>
          <a:pattFill prst="dkDnDiag">
            <a:fgClr>
              <a:srgbClr val="0000FF"/>
            </a:fgClr>
            <a:bgClr>
              <a:srgbClr val="00CC00"/>
            </a:bgClr>
          </a:patt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726" name="矩形 30725"/>
          <p:cNvSpPr/>
          <p:nvPr/>
        </p:nvSpPr>
        <p:spPr>
          <a:xfrm>
            <a:off x="8763000" y="1371600"/>
            <a:ext cx="76200" cy="2971800"/>
          </a:xfrm>
          <a:prstGeom prst="rect">
            <a:avLst/>
          </a:prstGeom>
          <a:pattFill prst="dkDnDiag">
            <a:fgClr>
              <a:schemeClr val="tx2"/>
            </a:fgClr>
            <a:bgClr>
              <a:schemeClr val="accent2"/>
            </a:bgClr>
          </a:patt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727" name="对象 30726"/>
          <p:cNvGraphicFramePr>
            <a:graphicFrameLocks noChangeAspect="1"/>
          </p:cNvGraphicFramePr>
          <p:nvPr/>
        </p:nvGraphicFramePr>
        <p:xfrm>
          <a:off x="3451225" y="2308225"/>
          <a:ext cx="5111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39700" imgH="215900" progId="Equation.3">
                  <p:embed/>
                </p:oleObj>
              </mc:Choice>
              <mc:Fallback>
                <p:oleObj name="" r:id="rId1" imgW="13970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51225" y="2308225"/>
                        <a:ext cx="511175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文本框 30727"/>
          <p:cNvSpPr txBox="1"/>
          <p:nvPr/>
        </p:nvSpPr>
        <p:spPr>
          <a:xfrm>
            <a:off x="8915400" y="1143000"/>
            <a:ext cx="91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endParaRPr lang="en-US" altLang="zh-CN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矩形 30728"/>
          <p:cNvSpPr/>
          <p:nvPr/>
        </p:nvSpPr>
        <p:spPr>
          <a:xfrm>
            <a:off x="4876800" y="3505200"/>
            <a:ext cx="1524000" cy="76200"/>
          </a:xfrm>
          <a:prstGeom prst="rect">
            <a:avLst/>
          </a:prstGeom>
          <a:pattFill prst="dkUpDiag">
            <a:fgClr>
              <a:srgbClr val="000000"/>
            </a:fgClr>
            <a:bgClr>
              <a:srgbClr val="0099CC"/>
            </a:bgClr>
          </a:patt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730" name="文本框 30729"/>
          <p:cNvSpPr txBox="1"/>
          <p:nvPr/>
        </p:nvSpPr>
        <p:spPr>
          <a:xfrm>
            <a:off x="5562600" y="3519488"/>
            <a:ext cx="1219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t">
              <a:spcBef>
                <a:spcPct val="50000"/>
              </a:spcBef>
            </a:pPr>
            <a:r>
              <a:rPr lang="en-US" altLang="zh-CN" sz="2800" b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endParaRPr lang="en-US" altLang="zh-CN" sz="2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731" name="任意多边形 30730"/>
          <p:cNvSpPr/>
          <p:nvPr/>
        </p:nvSpPr>
        <p:spPr>
          <a:xfrm>
            <a:off x="5410200" y="1524000"/>
            <a:ext cx="3352800" cy="1981200"/>
          </a:xfrm>
          <a:custGeom>
            <a:avLst/>
            <a:gdLst/>
            <a:ahLst/>
            <a:cxnLst/>
            <a:pathLst>
              <a:path w="2112" h="1248">
                <a:moveTo>
                  <a:pt x="48" y="1056"/>
                </a:moveTo>
                <a:lnTo>
                  <a:pt x="2112" y="0"/>
                </a:lnTo>
                <a:lnTo>
                  <a:pt x="2112" y="912"/>
                </a:lnTo>
                <a:lnTo>
                  <a:pt x="624" y="1248"/>
                </a:lnTo>
                <a:lnTo>
                  <a:pt x="0" y="1056"/>
                </a:lnTo>
              </a:path>
            </a:pathLst>
          </a:custGeom>
          <a:pattFill prst="ltUpDiag">
            <a:fgClr>
              <a:schemeClr val="accent2">
                <a:alpha val="100000"/>
              </a:schemeClr>
            </a:fgClr>
            <a:bgClr>
              <a:schemeClr val="bg1">
                <a:alpha val="100000"/>
              </a:schemeClr>
            </a:bgClr>
          </a:patt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732" name="组合 30731"/>
          <p:cNvGrpSpPr/>
          <p:nvPr/>
        </p:nvGrpSpPr>
        <p:grpSpPr>
          <a:xfrm>
            <a:off x="3886200" y="1524000"/>
            <a:ext cx="4876800" cy="2590800"/>
            <a:chOff x="0" y="0"/>
            <a:chExt cx="3072" cy="1632"/>
          </a:xfrm>
        </p:grpSpPr>
        <p:sp>
          <p:nvSpPr>
            <p:cNvPr id="30733" name="直接连接符 30732"/>
            <p:cNvSpPr/>
            <p:nvPr/>
          </p:nvSpPr>
          <p:spPr>
            <a:xfrm>
              <a:off x="0" y="816"/>
              <a:ext cx="3072" cy="81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4" name="直接连接符 30733"/>
            <p:cNvSpPr/>
            <p:nvPr/>
          </p:nvSpPr>
          <p:spPr>
            <a:xfrm flipV="1">
              <a:off x="0" y="0"/>
              <a:ext cx="3072" cy="81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5" name="直接连接符 30734"/>
            <p:cNvSpPr/>
            <p:nvPr/>
          </p:nvSpPr>
          <p:spPr>
            <a:xfrm rot="20796581">
              <a:off x="601" y="962"/>
              <a:ext cx="96" cy="4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736" name="直接连接符 30735"/>
            <p:cNvSpPr/>
            <p:nvPr/>
          </p:nvSpPr>
          <p:spPr>
            <a:xfrm flipV="1">
              <a:off x="1056" y="480"/>
              <a:ext cx="192" cy="4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0737" name="组合 30736"/>
          <p:cNvGrpSpPr/>
          <p:nvPr/>
        </p:nvGrpSpPr>
        <p:grpSpPr>
          <a:xfrm>
            <a:off x="4876800" y="1524000"/>
            <a:ext cx="3886200" cy="1981200"/>
            <a:chOff x="0" y="0"/>
            <a:chExt cx="2448" cy="1248"/>
          </a:xfrm>
        </p:grpSpPr>
        <p:sp>
          <p:nvSpPr>
            <p:cNvPr id="30738" name="直接连接符 30737"/>
            <p:cNvSpPr/>
            <p:nvPr/>
          </p:nvSpPr>
          <p:spPr>
            <a:xfrm flipV="1">
              <a:off x="960" y="912"/>
              <a:ext cx="1488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9" name="直接连接符 30738"/>
            <p:cNvSpPr/>
            <p:nvPr/>
          </p:nvSpPr>
          <p:spPr>
            <a:xfrm flipV="1">
              <a:off x="0" y="0"/>
              <a:ext cx="2448" cy="124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0" name="任意多边形 30739"/>
            <p:cNvSpPr/>
            <p:nvPr/>
          </p:nvSpPr>
          <p:spPr>
            <a:xfrm>
              <a:off x="1432" y="432"/>
              <a:ext cx="152" cy="80"/>
            </a:xfrm>
            <a:custGeom>
              <a:avLst/>
              <a:gdLst/>
              <a:ahLst/>
              <a:cxnLst/>
              <a:pathLst>
                <a:path w="152" h="80">
                  <a:moveTo>
                    <a:pt x="0" y="80"/>
                  </a:moveTo>
                  <a:lnTo>
                    <a:pt x="152" y="0"/>
                  </a:ln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41" name="任意多边形 30740"/>
            <p:cNvSpPr/>
            <p:nvPr/>
          </p:nvSpPr>
          <p:spPr>
            <a:xfrm>
              <a:off x="1812" y="1008"/>
              <a:ext cx="156" cy="44"/>
            </a:xfrm>
            <a:custGeom>
              <a:avLst/>
              <a:gdLst/>
              <a:ahLst/>
              <a:cxnLst/>
              <a:pathLst>
                <a:path w="156" h="44">
                  <a:moveTo>
                    <a:pt x="0" y="44"/>
                  </a:moveTo>
                  <a:lnTo>
                    <a:pt x="156" y="0"/>
                  </a:lnTo>
                </a:path>
              </a:pathLst>
            </a:custGeom>
            <a:noFill/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0742" name="组合 30741"/>
          <p:cNvGrpSpPr/>
          <p:nvPr/>
        </p:nvGrpSpPr>
        <p:grpSpPr>
          <a:xfrm>
            <a:off x="3429000" y="3505200"/>
            <a:ext cx="2971800" cy="914400"/>
            <a:chOff x="0" y="0"/>
            <a:chExt cx="1872" cy="576"/>
          </a:xfrm>
        </p:grpSpPr>
        <p:sp>
          <p:nvSpPr>
            <p:cNvPr id="30743" name="直接连接符 30742"/>
            <p:cNvSpPr/>
            <p:nvPr/>
          </p:nvSpPr>
          <p:spPr>
            <a:xfrm flipH="1">
              <a:off x="288" y="0"/>
              <a:ext cx="624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44" name="直接连接符 30743"/>
            <p:cNvSpPr/>
            <p:nvPr/>
          </p:nvSpPr>
          <p:spPr>
            <a:xfrm flipV="1">
              <a:off x="288" y="0"/>
              <a:ext cx="1584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30745" name="对象 30744"/>
            <p:cNvGraphicFramePr>
              <a:graphicFrameLocks noChangeAspect="1"/>
            </p:cNvGraphicFramePr>
            <p:nvPr/>
          </p:nvGraphicFramePr>
          <p:xfrm>
            <a:off x="0" y="144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152400" imgH="215900" progId="Equation.3">
                    <p:embed/>
                  </p:oleObj>
                </mc:Choice>
                <mc:Fallback>
                  <p:oleObj name="" r:id="rId3" imgW="152400" imgH="2159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144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46" name="组合 30745"/>
          <p:cNvGrpSpPr/>
          <p:nvPr/>
        </p:nvGrpSpPr>
        <p:grpSpPr>
          <a:xfrm>
            <a:off x="3886200" y="2819400"/>
            <a:ext cx="2514600" cy="685800"/>
            <a:chOff x="0" y="0"/>
            <a:chExt cx="1584" cy="432"/>
          </a:xfrm>
        </p:grpSpPr>
        <p:sp>
          <p:nvSpPr>
            <p:cNvPr id="30747" name="直接连接符 30746"/>
            <p:cNvSpPr/>
            <p:nvPr/>
          </p:nvSpPr>
          <p:spPr>
            <a:xfrm>
              <a:off x="0" y="0"/>
              <a:ext cx="624" cy="432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8" name="直接连接符 30747"/>
            <p:cNvSpPr/>
            <p:nvPr/>
          </p:nvSpPr>
          <p:spPr>
            <a:xfrm>
              <a:off x="0" y="0"/>
              <a:ext cx="1584" cy="432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9" name="直接连接符 30748"/>
            <p:cNvSpPr/>
            <p:nvPr/>
          </p:nvSpPr>
          <p:spPr>
            <a:xfrm>
              <a:off x="720" y="192"/>
              <a:ext cx="192" cy="4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750" name="直接连接符 30749"/>
            <p:cNvSpPr/>
            <p:nvPr/>
          </p:nvSpPr>
          <p:spPr>
            <a:xfrm>
              <a:off x="288" y="192"/>
              <a:ext cx="144" cy="9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0751" name="组合 30750"/>
          <p:cNvGrpSpPr/>
          <p:nvPr/>
        </p:nvGrpSpPr>
        <p:grpSpPr>
          <a:xfrm>
            <a:off x="2895600" y="2819400"/>
            <a:ext cx="990600" cy="1219200"/>
            <a:chOff x="0" y="0"/>
            <a:chExt cx="624" cy="768"/>
          </a:xfrm>
        </p:grpSpPr>
        <p:sp>
          <p:nvSpPr>
            <p:cNvPr id="30752" name="直接连接符 30751"/>
            <p:cNvSpPr/>
            <p:nvPr/>
          </p:nvSpPr>
          <p:spPr>
            <a:xfrm flipH="1">
              <a:off x="96" y="0"/>
              <a:ext cx="52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53" name="直接连接符 30752"/>
            <p:cNvSpPr/>
            <p:nvPr/>
          </p:nvSpPr>
          <p:spPr>
            <a:xfrm flipH="1">
              <a:off x="96" y="768"/>
              <a:ext cx="52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0754" name="直接连接符 30753"/>
            <p:cNvSpPr/>
            <p:nvPr/>
          </p:nvSpPr>
          <p:spPr>
            <a:xfrm>
              <a:off x="240" y="0"/>
              <a:ext cx="0" cy="768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dash"/>
              <a:headEnd type="triangle" w="sm" len="lg"/>
              <a:tailEnd type="triangle" w="sm" len="lg"/>
            </a:ln>
          </p:spPr>
        </p:sp>
        <p:graphicFrame>
          <p:nvGraphicFramePr>
            <p:cNvPr id="30755" name="对象 30754"/>
            <p:cNvGraphicFramePr>
              <a:graphicFrameLocks noChangeAspect="1"/>
            </p:cNvGraphicFramePr>
            <p:nvPr/>
          </p:nvGraphicFramePr>
          <p:xfrm>
            <a:off x="0" y="288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191135" imgH="254635" progId="Equation.3">
                    <p:embed/>
                  </p:oleObj>
                </mc:Choice>
                <mc:Fallback>
                  <p:oleObj name="" r:id="rId5" imgW="191135" imgH="25463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288"/>
                          <a:ext cx="21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56" name="组合 30755"/>
          <p:cNvGrpSpPr/>
          <p:nvPr/>
        </p:nvGrpSpPr>
        <p:grpSpPr>
          <a:xfrm>
            <a:off x="3886200" y="3276600"/>
            <a:ext cx="4876800" cy="1219200"/>
            <a:chOff x="0" y="0"/>
            <a:chExt cx="3072" cy="768"/>
          </a:xfrm>
        </p:grpSpPr>
        <p:sp>
          <p:nvSpPr>
            <p:cNvPr id="30757" name="直接连接符 30756"/>
            <p:cNvSpPr/>
            <p:nvPr/>
          </p:nvSpPr>
          <p:spPr>
            <a:xfrm>
              <a:off x="0" y="0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30758" name="对象 30757"/>
            <p:cNvGraphicFramePr>
              <a:graphicFrameLocks noChangeAspect="1"/>
            </p:cNvGraphicFramePr>
            <p:nvPr/>
          </p:nvGraphicFramePr>
          <p:xfrm>
            <a:off x="1200" y="432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7" imgW="165100" imgH="177800" progId="Equation.3">
                    <p:embed/>
                  </p:oleObj>
                </mc:Choice>
                <mc:Fallback>
                  <p:oleObj name="" r:id="rId7" imgW="165100" imgH="1778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0" y="432"/>
                          <a:ext cx="31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9" name="直接连接符 30758"/>
            <p:cNvSpPr/>
            <p:nvPr/>
          </p:nvSpPr>
          <p:spPr>
            <a:xfrm>
              <a:off x="1584" y="624"/>
              <a:ext cx="148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760" name="直接连接符 30759"/>
            <p:cNvSpPr/>
            <p:nvPr/>
          </p:nvSpPr>
          <p:spPr>
            <a:xfrm flipH="1" flipV="1">
              <a:off x="0" y="624"/>
              <a:ext cx="1056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0761" name="组合 30760"/>
          <p:cNvGrpSpPr/>
          <p:nvPr/>
        </p:nvGrpSpPr>
        <p:grpSpPr>
          <a:xfrm>
            <a:off x="3886200" y="1295400"/>
            <a:ext cx="5715000" cy="2670175"/>
            <a:chOff x="0" y="0"/>
            <a:chExt cx="3600" cy="1682"/>
          </a:xfrm>
        </p:grpSpPr>
        <p:grpSp>
          <p:nvGrpSpPr>
            <p:cNvPr id="30762" name="组合 30761"/>
            <p:cNvGrpSpPr/>
            <p:nvPr/>
          </p:nvGrpSpPr>
          <p:grpSpPr>
            <a:xfrm>
              <a:off x="0" y="0"/>
              <a:ext cx="3600" cy="1680"/>
              <a:chOff x="0" y="0"/>
              <a:chExt cx="3600" cy="1680"/>
            </a:xfrm>
          </p:grpSpPr>
          <p:sp>
            <p:nvSpPr>
              <p:cNvPr id="30763" name="矩形 30762"/>
              <p:cNvSpPr/>
              <p:nvPr/>
            </p:nvSpPr>
            <p:spPr>
              <a:xfrm>
                <a:off x="1584" y="48"/>
                <a:ext cx="48" cy="1632"/>
              </a:xfrm>
              <a:prstGeom prst="rect">
                <a:avLst/>
              </a:prstGeom>
              <a:pattFill prst="dkDnDiag">
                <a:fgClr>
                  <a:schemeClr val="tx2"/>
                </a:fgClr>
                <a:bgClr>
                  <a:schemeClr val="accent2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30764" name="对象 30763"/>
              <p:cNvGraphicFramePr>
                <a:graphicFrameLocks noChangeAspect="1"/>
              </p:cNvGraphicFramePr>
              <p:nvPr/>
            </p:nvGraphicFramePr>
            <p:xfrm>
              <a:off x="1624" y="0"/>
              <a:ext cx="223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3" name="" r:id="rId9" imgW="153035" imgH="165735" progId="Equation.3">
                      <p:embed/>
                    </p:oleObj>
                  </mc:Choice>
                  <mc:Fallback>
                    <p:oleObj name="" r:id="rId9" imgW="153035" imgH="165735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624" y="0"/>
                            <a:ext cx="223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765" name="组合 30764"/>
              <p:cNvGrpSpPr/>
              <p:nvPr/>
            </p:nvGrpSpPr>
            <p:grpSpPr>
              <a:xfrm>
                <a:off x="0" y="336"/>
                <a:ext cx="3600" cy="1056"/>
                <a:chOff x="0" y="0"/>
                <a:chExt cx="3600" cy="1056"/>
              </a:xfrm>
            </p:grpSpPr>
            <p:sp>
              <p:nvSpPr>
                <p:cNvPr id="30766" name="直接连接符 30765"/>
                <p:cNvSpPr/>
                <p:nvPr/>
              </p:nvSpPr>
              <p:spPr>
                <a:xfrm flipH="1">
                  <a:off x="0" y="1056"/>
                  <a:ext cx="3600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dashDot"/>
                  <a:headEnd type="none" w="med" len="med"/>
                  <a:tailEnd type="none" w="med" len="med"/>
                </a:ln>
              </p:spPr>
            </p:sp>
            <p:grpSp>
              <p:nvGrpSpPr>
                <p:cNvPr id="30767" name="组合 30766"/>
                <p:cNvGrpSpPr/>
                <p:nvPr/>
              </p:nvGrpSpPr>
              <p:grpSpPr>
                <a:xfrm>
                  <a:off x="1632" y="0"/>
                  <a:ext cx="288" cy="1056"/>
                  <a:chOff x="0" y="0"/>
                  <a:chExt cx="288" cy="1056"/>
                </a:xfrm>
              </p:grpSpPr>
              <p:grpSp>
                <p:nvGrpSpPr>
                  <p:cNvPr id="30768" name="组合 30767"/>
                  <p:cNvGrpSpPr/>
                  <p:nvPr/>
                </p:nvGrpSpPr>
                <p:grpSpPr>
                  <a:xfrm>
                    <a:off x="0" y="528"/>
                    <a:ext cx="288" cy="528"/>
                    <a:chOff x="0" y="0"/>
                    <a:chExt cx="384" cy="480"/>
                  </a:xfrm>
                </p:grpSpPr>
                <p:grpSp>
                  <p:nvGrpSpPr>
                    <p:cNvPr id="30769" name="组合 30768"/>
                    <p:cNvGrpSpPr/>
                    <p:nvPr/>
                  </p:nvGrpSpPr>
                  <p:grpSpPr>
                    <a:xfrm>
                      <a:off x="0" y="96"/>
                      <a:ext cx="384" cy="384"/>
                      <a:chOff x="0" y="0"/>
                      <a:chExt cx="384" cy="384"/>
                    </a:xfrm>
                  </p:grpSpPr>
                  <p:sp>
                    <p:nvSpPr>
                      <p:cNvPr id="30770" name="矩形 30769"/>
                      <p:cNvSpPr/>
                      <p:nvPr/>
                    </p:nvSpPr>
                    <p:spPr>
                      <a:xfrm>
                        <a:off x="0" y="288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  <a:gs pos="50000">
                            <a:srgbClr val="FFFF5D"/>
                          </a:gs>
                          <a:gs pos="10000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771" name="矩形 30770"/>
                      <p:cNvSpPr/>
                      <p:nvPr/>
                    </p:nvSpPr>
                    <p:spPr>
                      <a:xfrm>
                        <a:off x="0" y="192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  <a:gs pos="50000">
                            <a:srgbClr val="FFFF5D"/>
                          </a:gs>
                          <a:gs pos="10000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772" name="矩形 30771"/>
                      <p:cNvSpPr/>
                      <p:nvPr/>
                    </p:nvSpPr>
                    <p:spPr>
                      <a:xfrm>
                        <a:off x="0" y="96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  <a:gs pos="50000">
                            <a:srgbClr val="FFFF5D"/>
                          </a:gs>
                          <a:gs pos="10000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773" name="矩形 30772"/>
                      <p:cNvSpPr/>
                      <p:nvPr/>
                    </p:nvSpPr>
                    <p:spPr>
                      <a:xfrm>
                        <a:off x="0" y="0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  <a:gs pos="50000">
                            <a:srgbClr val="FFFF5D"/>
                          </a:gs>
                          <a:gs pos="100000">
                            <a:srgbClr val="FFFF5D">
                              <a:gamma/>
                              <a:shade val="0"/>
                              <a:invGamma/>
                            </a:srgbClr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0774" name="矩形 30773"/>
                    <p:cNvSpPr/>
                    <p:nvPr/>
                  </p:nvSpPr>
                  <p:spPr>
                    <a:xfrm>
                      <a:off x="0" y="0"/>
                      <a:ext cx="384" cy="9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FFFF5D">
                            <a:gamma/>
                            <a:shade val="0"/>
                            <a:invGamma/>
                          </a:srgbClr>
                        </a:gs>
                        <a:gs pos="50000">
                          <a:srgbClr val="FFFF5D"/>
                        </a:gs>
                        <a:gs pos="100000">
                          <a:srgbClr val="FFFF5D">
                            <a:gamma/>
                            <a:shade val="0"/>
                            <a:invGamma/>
                          </a:srgbClr>
                        </a:gs>
                      </a:gsLst>
                      <a:lin ang="5400000" scaled="1"/>
                      <a:tileRect/>
                    </a:gradFill>
                    <a:ln w="9525">
                      <a:noFill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775" name="矩形 30774"/>
                  <p:cNvSpPr/>
                  <p:nvPr/>
                </p:nvSpPr>
                <p:spPr>
                  <a:xfrm>
                    <a:off x="0" y="0"/>
                    <a:ext cx="288" cy="52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FF5D"/>
                      </a:gs>
                      <a:gs pos="100000">
                        <a:srgbClr val="FFFF5D">
                          <a:gamma/>
                          <a:shade val="0"/>
                          <a:invGamma/>
                        </a:srgbClr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0776" name="文本框 30775"/>
            <p:cNvSpPr txBox="1"/>
            <p:nvPr/>
          </p:nvSpPr>
          <p:spPr>
            <a:xfrm>
              <a:off x="1584" y="1353"/>
              <a:ext cx="3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rgbClr val="CC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2800" i="1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777" name="组合 30776"/>
          <p:cNvGrpSpPr/>
          <p:nvPr/>
        </p:nvGrpSpPr>
        <p:grpSpPr>
          <a:xfrm>
            <a:off x="2239328" y="4625340"/>
            <a:ext cx="8137525" cy="644525"/>
            <a:chOff x="0" y="0"/>
            <a:chExt cx="5126" cy="406"/>
          </a:xfrm>
        </p:grpSpPr>
        <p:sp>
          <p:nvSpPr>
            <p:cNvPr id="30778" name="文本框 30777"/>
            <p:cNvSpPr txBox="1"/>
            <p:nvPr/>
          </p:nvSpPr>
          <p:spPr>
            <a:xfrm>
              <a:off x="0" y="0"/>
              <a:ext cx="5126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>
                <a:spcBef>
                  <a:spcPct val="50000"/>
                </a:spcBef>
              </a:pPr>
              <a:r>
                <a:rPr lang="zh-CN" altLang="en-US">
                  <a:solidFill>
                    <a:srgbClr val="990033"/>
                  </a:solidFill>
                  <a:latin typeface="Arial" panose="020B0604020202020204" pitchFamily="34" charset="0"/>
                </a:rPr>
                <a:t>半波损失</a:t>
              </a: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</a:rPr>
                <a:t>(half-wave loss)</a:t>
              </a:r>
              <a:r>
                <a:rPr lang="en-US" altLang="zh-CN">
                  <a:solidFill>
                    <a:srgbClr val="CC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黑体" panose="02010609060101010101" charset="-122"/>
                </a:rPr>
                <a:t> </a:t>
              </a:r>
              <a:r>
                <a:rPr lang="zh-CN" altLang="en-US">
                  <a:solidFill>
                    <a:schemeClr val="hlink"/>
                  </a:solidFill>
                  <a:latin typeface="Times New Roman" panose="02020603050405020304" pitchFamily="18" charset="0"/>
                </a:rPr>
                <a:t>当光由光疏介质射向光密介质，在界面上发生反射时，在反射点处反射光的光矢量相对于入射光光矢量的相位发生大小为的突变。</a:t>
              </a:r>
              <a:endParaRPr lang="zh-CN" altLang="en-US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79" name="对象 30778"/>
            <p:cNvGraphicFramePr>
              <a:graphicFrameLocks noChangeAspect="1"/>
            </p:cNvGraphicFramePr>
            <p:nvPr/>
          </p:nvGraphicFramePr>
          <p:xfrm>
            <a:off x="4205" y="207"/>
            <a:ext cx="17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1" imgW="114300" imgH="127000" progId="Equation.3">
                    <p:embed/>
                  </p:oleObj>
                </mc:Choice>
                <mc:Fallback>
                  <p:oleObj name="" r:id="rId11" imgW="114300" imgH="1270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05" y="207"/>
                          <a:ext cx="171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9043" y="1694982"/>
            <a:ext cx="2906149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dirty="0">
                <a:solidFill>
                  <a:srgbClr val="FF0000"/>
                </a:solidFill>
              </a:rPr>
              <a:t>劈尖角很小趋近于</a:t>
            </a:r>
            <a:r>
              <a:rPr lang="en-US" altLang="zh-CN" sz="2800" dirty="0">
                <a:solidFill>
                  <a:srgbClr val="FF0000"/>
                </a:solidFill>
              </a:rPr>
              <a:t>0</a:t>
            </a:r>
            <a:r>
              <a:rPr lang="zh-CN" altLang="en-US" sz="2800" dirty="0">
                <a:solidFill>
                  <a:srgbClr val="FF0000"/>
                </a:solidFill>
              </a:rPr>
              <a:t>。</a:t>
            </a:r>
            <a:r>
              <a:rPr lang="en-US" altLang="zh-CN" sz="2800" dirty="0">
                <a:solidFill>
                  <a:srgbClr val="FF0000"/>
                </a:solidFill>
              </a:rPr>
              <a:t>所以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tanθ约等于sinθ约等于θ，</a:t>
            </a:r>
            <a:endParaRPr lang="zh-CN" altLang="en-US" sz="2800" dirty="0">
              <a:solidFill>
                <a:srgbClr val="FF0000"/>
              </a:solidFill>
            </a:endParaRPr>
          </a:p>
          <a:p>
            <a:endParaRPr lang="zh-CN" altLang="en-US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汉堡式结构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endParaRPr lang="zh-CN" altLang="en-US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n1</a:t>
            </a:r>
            <a:r>
              <a:rPr lang="en-US" altLang="zh-CN" sz="2800" dirty="0">
                <a:solidFill>
                  <a:srgbClr val="FF0000"/>
                </a:solidFill>
              </a:rPr>
              <a:t>&lt; n2 &gt; n3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n1&gt; n2 &lt; n3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33985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四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、薄膜干涉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955" y="2018030"/>
            <a:ext cx="6664960" cy="42475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56885" y="4335780"/>
            <a:ext cx="729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n1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141720" y="4314825"/>
            <a:ext cx="729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n2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078220" y="5384165"/>
            <a:ext cx="729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n3</a:t>
            </a:r>
            <a:endParaRPr lang="en-US" altLang="zh-CN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5655945" y="4619625"/>
            <a:ext cx="78105" cy="169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6031865" y="4647565"/>
            <a:ext cx="177165" cy="226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890260" y="4959350"/>
            <a:ext cx="361315" cy="553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9038298" y="1389547"/>
            <a:ext cx="2906149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FF0000"/>
                </a:solidFill>
              </a:rPr>
              <a:t>汉堡式结构光程差要加半波损失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10909"/>
          <a:stretch>
            <a:fillRect/>
          </a:stretch>
        </p:blipFill>
        <p:spPr>
          <a:xfrm>
            <a:off x="3281680" y="784225"/>
            <a:ext cx="4196715" cy="49834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791075" y="4945380"/>
            <a:ext cx="1332865" cy="4819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228" y="365125"/>
            <a:ext cx="10959874" cy="60559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33985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、单峰衍射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65" y="1811655"/>
            <a:ext cx="7824470" cy="4360545"/>
          </a:xfrm>
          <a:prstGeom prst="rect">
            <a:avLst/>
          </a:prstGeom>
        </p:spPr>
      </p:pic>
      <p:graphicFrame>
        <p:nvGraphicFramePr>
          <p:cNvPr id="22538" name="对象 22537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9329420" y="4820285"/>
          <a:ext cx="187960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4" imgW="698500" imgH="190500" progId="Equation.3">
                  <p:embed/>
                </p:oleObj>
              </mc:Choice>
              <mc:Fallback>
                <p:oleObj name="" r:id="rId4" imgW="698500" imgH="1905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29420" y="4820285"/>
                        <a:ext cx="187960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9398635" y="5422265"/>
          <a:ext cx="187960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7" imgW="698500" imgH="190500" progId="Equation.3">
                  <p:embed/>
                </p:oleObj>
              </mc:Choice>
              <mc:Fallback>
                <p:oleObj name="" r:id="rId7" imgW="698500" imgH="1905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98635" y="5422265"/>
                        <a:ext cx="187960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9165933" y="3005622"/>
            <a:ext cx="2906149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rgbClr val="FF0000"/>
                </a:solidFill>
              </a:rPr>
              <a:t>和双缝不一样这个分三种情景，</a:t>
            </a:r>
            <a:r>
              <a:rPr lang="en-US" altLang="zh-CN" sz="2800" dirty="0">
                <a:solidFill>
                  <a:srgbClr val="FF0000"/>
                </a:solidFill>
              </a:rPr>
              <a:t>k</a:t>
            </a:r>
            <a:r>
              <a:rPr lang="zh-CN" altLang="en-US" sz="2800" dirty="0">
                <a:solidFill>
                  <a:srgbClr val="FF0000"/>
                </a:solidFill>
              </a:rPr>
              <a:t>值也不一样这里没有取</a:t>
            </a:r>
            <a:r>
              <a:rPr lang="en-US" altLang="zh-CN" sz="2800" dirty="0">
                <a:solidFill>
                  <a:srgbClr val="FF0000"/>
                </a:solidFill>
              </a:rPr>
              <a:t>0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33985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、单峰衍射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25" y="1811655"/>
            <a:ext cx="6865620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7761" b="11564"/>
          <a:stretch>
            <a:fillRect/>
          </a:stretch>
        </p:blipFill>
        <p:spPr>
          <a:xfrm>
            <a:off x="4796790" y="365125"/>
            <a:ext cx="4878705" cy="6284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" y="0"/>
            <a:ext cx="5046345" cy="6726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-143" t="11001" r="40273" b="356"/>
          <a:stretch>
            <a:fillRect/>
          </a:stretch>
        </p:blipFill>
        <p:spPr>
          <a:xfrm rot="16200000">
            <a:off x="8688705" y="-626110"/>
            <a:ext cx="2411095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0636" y="1479484"/>
            <a:ext cx="12150725" cy="0"/>
          </a:xfrm>
          <a:prstGeom prst="line">
            <a:avLst/>
          </a:prstGeom>
          <a:ln w="38100">
            <a:solidFill>
              <a:srgbClr val="394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77952" y="502281"/>
            <a:ext cx="33985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394179"/>
                </a:solidFill>
                <a:latin typeface="黑体-简" panose="02000000000000000000" charset="-122"/>
                <a:ea typeface="黑体-简" panose="02000000000000000000" charset="-122"/>
                <a:sym typeface="+mn-ea"/>
              </a:rPr>
              <a:t>  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94179"/>
                </a:solidFill>
                <a:effectLst/>
                <a:uLnTx/>
                <a:uFillTx/>
                <a:latin typeface="黑体-简" panose="02000000000000000000" charset="-122"/>
                <a:ea typeface="黑体-简" panose="02000000000000000000" charset="-122"/>
                <a:cs typeface="+mn-cs"/>
                <a:sym typeface="+mn-ea"/>
              </a:rPr>
              <a:t>、单峰衍射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94179"/>
              </a:solidFill>
              <a:effectLst/>
              <a:uLnTx/>
              <a:uFillTx/>
              <a:latin typeface="黑体-简" panose="02000000000000000000" charset="-122"/>
              <a:ea typeface="黑体-简" panose="02000000000000000000" charset="-122"/>
              <a:cs typeface="+mn-cs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41" y="39832"/>
            <a:ext cx="1443218" cy="122467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07195" y="2188049"/>
            <a:ext cx="10676462" cy="4010025"/>
            <a:chOff x="856725" y="2660489"/>
            <a:chExt cx="10676462" cy="4010025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856725" y="2660489"/>
              <a:ext cx="7362825" cy="401002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583680" y="4566108"/>
              <a:ext cx="4949507" cy="2104406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717405" y="1048385"/>
            <a:ext cx="131127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角很重要双缝干涉时角很小所以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tan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约等于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sinθ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约等于θ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tanθ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0474325" y="3623152"/>
          <a:ext cx="289560" cy="67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8" imgW="152400" imgH="330200" progId="Equation.3">
                  <p:embed/>
                </p:oleObj>
              </mc:Choice>
              <mc:Fallback>
                <p:oleObj name="" r:id="rId8" imgW="152400" imgH="3302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74325" y="3623152"/>
                        <a:ext cx="289560" cy="671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9518650" y="3242945"/>
            <a:ext cx="1821815" cy="119126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COMMONDATA" val="eyJoZGlkIjoiOGJlY2I5ZGVlYmRkODE5YjUzODY3NWI3ZjZlOTNhYTM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WPS 演示</Application>
  <PresentationFormat>宽屏</PresentationFormat>
  <Paragraphs>390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42</vt:i4>
      </vt:variant>
      <vt:variant>
        <vt:lpstr>幻灯片标题</vt:lpstr>
      </vt:variant>
      <vt:variant>
        <vt:i4>38</vt:i4>
      </vt:variant>
    </vt:vector>
  </HeadingPairs>
  <TitlesOfParts>
    <vt:vector size="98" baseType="lpstr">
      <vt:lpstr>Arial</vt:lpstr>
      <vt:lpstr>宋体</vt:lpstr>
      <vt:lpstr>Wingdings</vt:lpstr>
      <vt:lpstr>黑体</vt:lpstr>
      <vt:lpstr>微软雅黑</vt:lpstr>
      <vt:lpstr>黑体-简</vt:lpstr>
      <vt:lpstr>Calibri</vt:lpstr>
      <vt:lpstr>Arial Unicode MS</vt:lpstr>
      <vt:lpstr>Times New Roman</vt:lpstr>
      <vt:lpstr>Verdana</vt:lpstr>
      <vt:lpstr>仿宋_GB2312</vt:lpstr>
      <vt:lpstr>Cambria Math</vt:lpstr>
      <vt:lpstr>Book Antiqua</vt:lpstr>
      <vt:lpstr>Symbol</vt:lpstr>
      <vt:lpstr>楷体_GB2312</vt:lpstr>
      <vt:lpstr>新宋体</vt:lpstr>
      <vt:lpstr>仿宋</vt:lpstr>
      <vt:lpstr>WPS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Jtt</dc:creator>
  <cp:lastModifiedBy>Jtt</cp:lastModifiedBy>
  <cp:revision>24</cp:revision>
  <dcterms:created xsi:type="dcterms:W3CDTF">2023-11-05T09:29:00Z</dcterms:created>
  <dcterms:modified xsi:type="dcterms:W3CDTF">2024-02-20T12:45:34Z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5862A7BB6A7E46C09601B086587CFC7E_13</vt:lpwstr>
  </property>
  <property fmtid="{D5CDD505-2E9C-101B-9397-08002B2CF9AE}" pid="3" name="KSOProductBuildVer">
    <vt:lpwstr>2052-12.1.0.16388</vt:lpwstr>
  </property>
</Properties>
</file>