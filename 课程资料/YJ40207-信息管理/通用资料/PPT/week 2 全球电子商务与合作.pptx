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4"/>
  </p:notesMasterIdLst>
  <p:sldIdLst>
    <p:sldId id="332" r:id="rId3"/>
    <p:sldId id="471" r:id="rId4"/>
    <p:sldId id="641" r:id="rId5"/>
    <p:sldId id="642" r:id="rId6"/>
    <p:sldId id="784" r:id="rId7"/>
    <p:sldId id="982" r:id="rId8"/>
    <p:sldId id="868" r:id="rId9"/>
    <p:sldId id="869" r:id="rId10"/>
    <p:sldId id="987" r:id="rId11"/>
    <p:sldId id="988" r:id="rId12"/>
    <p:sldId id="989" r:id="rId13"/>
    <p:sldId id="787" r:id="rId14"/>
    <p:sldId id="789" r:id="rId15"/>
    <p:sldId id="790" r:id="rId16"/>
    <p:sldId id="791" r:id="rId17"/>
    <p:sldId id="788" r:id="rId18"/>
    <p:sldId id="644" r:id="rId19"/>
    <p:sldId id="792" r:id="rId20"/>
    <p:sldId id="799" r:id="rId21"/>
    <p:sldId id="694" r:id="rId22"/>
    <p:sldId id="795" r:id="rId23"/>
    <p:sldId id="796" r:id="rId24"/>
    <p:sldId id="932" r:id="rId25"/>
    <p:sldId id="797" r:id="rId26"/>
    <p:sldId id="798" r:id="rId27"/>
    <p:sldId id="545" r:id="rId28"/>
    <p:sldId id="695" r:id="rId29"/>
    <p:sldId id="587" r:id="rId30"/>
    <p:sldId id="800" r:id="rId31"/>
    <p:sldId id="801" r:id="rId32"/>
    <p:sldId id="696" r:id="rId33"/>
    <p:sldId id="802" r:id="rId34"/>
    <p:sldId id="803" r:id="rId35"/>
    <p:sldId id="804" r:id="rId36"/>
    <p:sldId id="805" r:id="rId37"/>
    <p:sldId id="806" r:id="rId38"/>
    <p:sldId id="816" r:id="rId39"/>
    <p:sldId id="818" r:id="rId40"/>
    <p:sldId id="817" r:id="rId41"/>
    <p:sldId id="820" r:id="rId42"/>
    <p:sldId id="819" r:id="rId43"/>
    <p:sldId id="821" r:id="rId44"/>
    <p:sldId id="822" r:id="rId45"/>
    <p:sldId id="823" r:id="rId46"/>
    <p:sldId id="824" r:id="rId47"/>
    <p:sldId id="825" r:id="rId48"/>
    <p:sldId id="826" r:id="rId49"/>
    <p:sldId id="828" r:id="rId50"/>
    <p:sldId id="829" r:id="rId51"/>
    <p:sldId id="830" r:id="rId52"/>
    <p:sldId id="831" r:id="rId53"/>
    <p:sldId id="832" r:id="rId54"/>
    <p:sldId id="833" r:id="rId55"/>
    <p:sldId id="851" r:id="rId56"/>
    <p:sldId id="835" r:id="rId57"/>
    <p:sldId id="834" r:id="rId58"/>
    <p:sldId id="836" r:id="rId59"/>
    <p:sldId id="837" r:id="rId60"/>
    <p:sldId id="838" r:id="rId61"/>
    <p:sldId id="839" r:id="rId62"/>
    <p:sldId id="840" r:id="rId63"/>
    <p:sldId id="841" r:id="rId64"/>
    <p:sldId id="842" r:id="rId65"/>
    <p:sldId id="843" r:id="rId66"/>
    <p:sldId id="844" r:id="rId67"/>
    <p:sldId id="846" r:id="rId68"/>
    <p:sldId id="847" r:id="rId69"/>
    <p:sldId id="848" r:id="rId70"/>
    <p:sldId id="849" r:id="rId71"/>
    <p:sldId id="850" r:id="rId72"/>
    <p:sldId id="981" r:id="rId73"/>
  </p:sldIdLst>
  <p:sldSz cx="9144000" cy="6858000" type="screen4x3"/>
  <p:notesSz cx="6858000" cy="9144000"/>
  <p:custDataLst>
    <p:tags r:id="rId78"/>
  </p:custDataLst>
  <p:defaultTextStyle>
    <a:defPPr>
      <a:defRPr lang="en-GB"/>
    </a:defPPr>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defaultTextStyle>
  <p:extLst>
    <p:ext uri="{EFAFB233-063F-42B5-8137-9DF3F51BA10A}">
      <p15:sldGuideLst xmlns:p15="http://schemas.microsoft.com/office/powerpoint/2012/main">
        <p15:guide id="1" orient="horz" pos="2171" userDrawn="1">
          <p15:clr>
            <a:srgbClr val="A4A3A4"/>
          </p15:clr>
        </p15:guide>
        <p15:guide id="2" pos="28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FF972F"/>
    <a:srgbClr val="FF66CC"/>
    <a:srgbClr val="3ECEC7"/>
    <a:srgbClr val="FFB871"/>
    <a:srgbClr val="0000FF"/>
    <a:srgbClr val="FFBC79"/>
    <a:srgbClr val="FF8029"/>
    <a:srgbClr val="FFC3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38" y="-102"/>
      </p:cViewPr>
      <p:guideLst>
        <p:guide orient="horz" pos="2171"/>
        <p:guide pos="280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8" Type="http://schemas.openxmlformats.org/officeDocument/2006/relationships/tags" Target="tags/tag21.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notesMaster" Target="notesMasters/notesMaster1.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2050" name="页眉占位符 2049"/>
          <p:cNvSpPr>
            <a:spLocks noGrp="1"/>
          </p:cNvSpPr>
          <p:nvPr>
            <p:ph type="hdr" sz="quarter"/>
          </p:nvPr>
        </p:nvSpPr>
        <p:spPr>
          <a:xfrm>
            <a:off x="0" y="0"/>
            <a:ext cx="2971800" cy="457200"/>
          </a:xfrm>
          <a:prstGeom prst="rect">
            <a:avLst/>
          </a:prstGeom>
          <a:noFill/>
          <a:ln w="9525">
            <a:noFill/>
          </a:ln>
        </p:spPr>
        <p:txBody>
          <a:bodyPr/>
          <a:p>
            <a:pPr lvl="0"/>
            <a:endParaRPr lang="zh-CN" altLang="en-US" sz="1200" dirty="0">
              <a:ea typeface="宋体" panose="02010600030101010101" pitchFamily="2" charset="-122"/>
            </a:endParaRPr>
          </a:p>
        </p:txBody>
      </p:sp>
      <p:sp>
        <p:nvSpPr>
          <p:cNvPr id="2051" name="日期占位符 2050"/>
          <p:cNvSpPr>
            <a:spLocks noGrp="1"/>
          </p:cNvSpPr>
          <p:nvPr>
            <p:ph type="dt" idx="1"/>
          </p:nvPr>
        </p:nvSpPr>
        <p:spPr>
          <a:xfrm>
            <a:off x="3884613" y="0"/>
            <a:ext cx="2971800" cy="457200"/>
          </a:xfrm>
          <a:prstGeom prst="rect">
            <a:avLst/>
          </a:prstGeom>
          <a:noFill/>
          <a:ln w="9525">
            <a:noFill/>
          </a:ln>
        </p:spPr>
        <p:txBody>
          <a:bodyPr/>
          <a:p>
            <a:pPr lvl="0" algn="r"/>
            <a:endParaRPr lang="zh-CN" altLang="en-US" sz="1200" dirty="0">
              <a:ea typeface="宋体" panose="02010600030101010101" pitchFamily="2" charset="-122"/>
            </a:endParaRPr>
          </a:p>
        </p:txBody>
      </p:sp>
      <p:sp>
        <p:nvSpPr>
          <p:cNvPr id="2052" name="幻灯片图像占位符 2051"/>
          <p:cNvSpPr>
            <a:spLocks noGrp="1" noRot="1"/>
          </p:cNvSpPr>
          <p:nvPr>
            <p:ph type="sldImg" idx="2"/>
          </p:nvPr>
        </p:nvSpPr>
        <p:spPr>
          <a:xfrm>
            <a:off x="1143000" y="685800"/>
            <a:ext cx="4572000" cy="3429000"/>
          </a:xfrm>
          <a:prstGeom prst="rect">
            <a:avLst/>
          </a:prstGeom>
          <a:noFill/>
          <a:ln w="9525">
            <a:noFill/>
          </a:ln>
        </p:spPr>
      </p:sp>
      <p:sp>
        <p:nvSpPr>
          <p:cNvPr id="2053" name="文本占位符 2052"/>
          <p:cNvSpPr>
            <a:spLocks noGrp="1" noRot="1"/>
          </p:cNvSpPr>
          <p:nvPr>
            <p:ph type="body" sz="quarter" idx="3"/>
          </p:nvPr>
        </p:nvSpPr>
        <p:spPr>
          <a:xfrm>
            <a:off x="685800" y="4343400"/>
            <a:ext cx="5486400" cy="4114800"/>
          </a:xfrm>
          <a:prstGeom prst="rect">
            <a:avLst/>
          </a:prstGeom>
          <a:noFill/>
          <a:ln w="9525">
            <a:noFill/>
          </a:ln>
        </p:spPr>
        <p:txBody>
          <a:bodyPr anchor="ctr"/>
          <a:p>
            <a:pPr lvl="0"/>
            <a:r>
              <a:rPr lang="en-GB" altLang="en-US" dirty="0"/>
              <a:t>Click to edit Master text styles</a:t>
            </a:r>
            <a:endParaRPr lang="en-GB" altLang="en-US" dirty="0"/>
          </a:p>
          <a:p>
            <a:pPr lvl="1"/>
            <a:r>
              <a:rPr lang="en-GB" altLang="en-US" dirty="0"/>
              <a:t>Second level</a:t>
            </a:r>
            <a:endParaRPr lang="en-GB" altLang="en-US" dirty="0"/>
          </a:p>
          <a:p>
            <a:pPr lvl="2"/>
            <a:r>
              <a:rPr lang="en-GB" altLang="en-US" dirty="0"/>
              <a:t>Third level</a:t>
            </a:r>
            <a:endParaRPr lang="en-GB" altLang="en-US" dirty="0"/>
          </a:p>
          <a:p>
            <a:pPr lvl="3"/>
            <a:r>
              <a:rPr lang="en-GB" altLang="en-US" dirty="0"/>
              <a:t>Fourth level</a:t>
            </a:r>
            <a:endParaRPr lang="en-GB" altLang="en-US" dirty="0"/>
          </a:p>
          <a:p>
            <a:pPr lvl="4"/>
            <a:r>
              <a:rPr lang="en-GB" altLang="en-US" dirty="0"/>
              <a:t>Fifth level</a:t>
            </a:r>
            <a:endParaRPr lang="en-GB" altLang="en-US" dirty="0"/>
          </a:p>
        </p:txBody>
      </p:sp>
      <p:sp>
        <p:nvSpPr>
          <p:cNvPr id="2054" name="页脚占位符 2053"/>
          <p:cNvSpPr>
            <a:spLocks noGrp="1"/>
          </p:cNvSpPr>
          <p:nvPr>
            <p:ph type="ftr" sz="quarter" idx="4"/>
          </p:nvPr>
        </p:nvSpPr>
        <p:spPr>
          <a:xfrm>
            <a:off x="0" y="8685213"/>
            <a:ext cx="2971800" cy="457200"/>
          </a:xfrm>
          <a:prstGeom prst="rect">
            <a:avLst/>
          </a:prstGeom>
          <a:noFill/>
          <a:ln w="9525">
            <a:noFill/>
          </a:ln>
        </p:spPr>
        <p:txBody>
          <a:bodyPr anchor="b"/>
          <a:p>
            <a:pPr lvl="0"/>
            <a:endParaRPr lang="zh-CN" altLang="en-US" sz="1200" dirty="0">
              <a:ea typeface="宋体" panose="02010600030101010101" pitchFamily="2" charset="-122"/>
            </a:endParaRPr>
          </a:p>
        </p:txBody>
      </p:sp>
      <p:sp>
        <p:nvSpPr>
          <p:cNvPr id="2055" name="灯片编号占位符 2054"/>
          <p:cNvSpPr>
            <a:spLocks noGrp="1"/>
          </p:cNvSpPr>
          <p:nvPr>
            <p:ph type="sldNum" sz="quarter" idx="5"/>
          </p:nvPr>
        </p:nvSpPr>
        <p:spPr>
          <a:xfrm>
            <a:off x="3884613" y="8685213"/>
            <a:ext cx="2971800" cy="457200"/>
          </a:xfrm>
          <a:prstGeom prst="rect">
            <a:avLst/>
          </a:prstGeom>
          <a:noFill/>
          <a:ln w="9525">
            <a:noFill/>
          </a:ln>
        </p:spPr>
        <p:txBody>
          <a:bodyPr anchor="b"/>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628775"/>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65409" y="1628775"/>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8" name="页脚占位符 7"/>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274638"/>
            <a:ext cx="2060178" cy="58801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61104" cy="58801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pic>
        <p:nvPicPr>
          <p:cNvPr id="1026" name="图片 1025" descr="背景31"/>
          <p:cNvPicPr>
            <a:picLocks noChangeAspect="1"/>
          </p:cNvPicPr>
          <p:nvPr userDrawn="1"/>
        </p:nvPicPr>
        <p:blipFill>
          <a:blip r:embed="rId13"/>
          <a:stretch>
            <a:fillRect/>
          </a:stretch>
        </p:blipFill>
        <p:spPr>
          <a:xfrm>
            <a:off x="0" y="0"/>
            <a:ext cx="1905000" cy="1905000"/>
          </a:xfrm>
          <a:prstGeom prst="rect">
            <a:avLst/>
          </a:prstGeom>
          <a:noFill/>
          <a:ln w="9525">
            <a:noFill/>
          </a:ln>
        </p:spPr>
      </p:pic>
      <p:pic>
        <p:nvPicPr>
          <p:cNvPr id="1027" name="图片 1026" descr="背景31"/>
          <p:cNvPicPr>
            <a:picLocks noChangeAspect="1"/>
          </p:cNvPicPr>
          <p:nvPr userDrawn="1"/>
        </p:nvPicPr>
        <p:blipFill>
          <a:blip r:embed="rId13"/>
          <a:stretch>
            <a:fillRect/>
          </a:stretch>
        </p:blipFill>
        <p:spPr>
          <a:xfrm>
            <a:off x="1763713" y="0"/>
            <a:ext cx="1905000" cy="1905000"/>
          </a:xfrm>
          <a:prstGeom prst="rect">
            <a:avLst/>
          </a:prstGeom>
          <a:noFill/>
          <a:ln w="9525">
            <a:noFill/>
          </a:ln>
        </p:spPr>
      </p:pic>
      <p:pic>
        <p:nvPicPr>
          <p:cNvPr id="1028" name="图片 1027" descr="背景31"/>
          <p:cNvPicPr>
            <a:picLocks noChangeAspect="1"/>
          </p:cNvPicPr>
          <p:nvPr userDrawn="1"/>
        </p:nvPicPr>
        <p:blipFill>
          <a:blip r:embed="rId13"/>
          <a:stretch>
            <a:fillRect/>
          </a:stretch>
        </p:blipFill>
        <p:spPr>
          <a:xfrm>
            <a:off x="3492500" y="0"/>
            <a:ext cx="1905000" cy="1905000"/>
          </a:xfrm>
          <a:prstGeom prst="rect">
            <a:avLst/>
          </a:prstGeom>
          <a:noFill/>
          <a:ln w="9525">
            <a:noFill/>
          </a:ln>
        </p:spPr>
      </p:pic>
      <p:pic>
        <p:nvPicPr>
          <p:cNvPr id="1029" name="图片 1028" descr="背景31"/>
          <p:cNvPicPr>
            <a:picLocks noChangeAspect="1"/>
          </p:cNvPicPr>
          <p:nvPr userDrawn="1"/>
        </p:nvPicPr>
        <p:blipFill>
          <a:blip r:embed="rId13"/>
          <a:stretch>
            <a:fillRect/>
          </a:stretch>
        </p:blipFill>
        <p:spPr>
          <a:xfrm>
            <a:off x="5364163" y="0"/>
            <a:ext cx="1905000" cy="1905000"/>
          </a:xfrm>
          <a:prstGeom prst="rect">
            <a:avLst/>
          </a:prstGeom>
          <a:noFill/>
          <a:ln w="9525">
            <a:noFill/>
          </a:ln>
        </p:spPr>
      </p:pic>
      <p:pic>
        <p:nvPicPr>
          <p:cNvPr id="1030" name="图片 1029" descr="背景31"/>
          <p:cNvPicPr>
            <a:picLocks noChangeAspect="1"/>
          </p:cNvPicPr>
          <p:nvPr userDrawn="1"/>
        </p:nvPicPr>
        <p:blipFill>
          <a:blip r:embed="rId13"/>
          <a:stretch>
            <a:fillRect/>
          </a:stretch>
        </p:blipFill>
        <p:spPr>
          <a:xfrm>
            <a:off x="7239000" y="0"/>
            <a:ext cx="1905000" cy="1905000"/>
          </a:xfrm>
          <a:prstGeom prst="rect">
            <a:avLst/>
          </a:prstGeom>
          <a:noFill/>
          <a:ln w="9525">
            <a:noFill/>
          </a:ln>
        </p:spPr>
      </p:pic>
      <p:pic>
        <p:nvPicPr>
          <p:cNvPr id="1031" name="图片 1030" descr="背景31"/>
          <p:cNvPicPr>
            <a:picLocks noChangeAspect="1"/>
          </p:cNvPicPr>
          <p:nvPr userDrawn="1"/>
        </p:nvPicPr>
        <p:blipFill>
          <a:blip r:embed="rId13"/>
          <a:stretch>
            <a:fillRect/>
          </a:stretch>
        </p:blipFill>
        <p:spPr>
          <a:xfrm>
            <a:off x="7239000" y="1844675"/>
            <a:ext cx="1905000" cy="1905000"/>
          </a:xfrm>
          <a:prstGeom prst="rect">
            <a:avLst/>
          </a:prstGeom>
          <a:noFill/>
          <a:ln w="9525">
            <a:noFill/>
          </a:ln>
        </p:spPr>
      </p:pic>
      <p:pic>
        <p:nvPicPr>
          <p:cNvPr id="1032" name="图片 1031" descr="背景31"/>
          <p:cNvPicPr>
            <a:picLocks noChangeAspect="1"/>
          </p:cNvPicPr>
          <p:nvPr userDrawn="1"/>
        </p:nvPicPr>
        <p:blipFill>
          <a:blip r:embed="rId13"/>
          <a:stretch>
            <a:fillRect/>
          </a:stretch>
        </p:blipFill>
        <p:spPr>
          <a:xfrm>
            <a:off x="5292725" y="1844675"/>
            <a:ext cx="1905000" cy="1905000"/>
          </a:xfrm>
          <a:prstGeom prst="rect">
            <a:avLst/>
          </a:prstGeom>
          <a:noFill/>
          <a:ln w="9525">
            <a:noFill/>
          </a:ln>
        </p:spPr>
      </p:pic>
      <p:pic>
        <p:nvPicPr>
          <p:cNvPr id="1033" name="图片 1032" descr="背景31"/>
          <p:cNvPicPr>
            <a:picLocks noChangeAspect="1"/>
          </p:cNvPicPr>
          <p:nvPr userDrawn="1"/>
        </p:nvPicPr>
        <p:blipFill>
          <a:blip r:embed="rId13"/>
          <a:stretch>
            <a:fillRect/>
          </a:stretch>
        </p:blipFill>
        <p:spPr>
          <a:xfrm>
            <a:off x="3492500" y="1844675"/>
            <a:ext cx="1905000" cy="1905000"/>
          </a:xfrm>
          <a:prstGeom prst="rect">
            <a:avLst/>
          </a:prstGeom>
          <a:noFill/>
          <a:ln w="9525">
            <a:noFill/>
          </a:ln>
        </p:spPr>
      </p:pic>
      <p:pic>
        <p:nvPicPr>
          <p:cNvPr id="1034" name="图片 1033" descr="背景31"/>
          <p:cNvPicPr>
            <a:picLocks noChangeAspect="1"/>
          </p:cNvPicPr>
          <p:nvPr userDrawn="1"/>
        </p:nvPicPr>
        <p:blipFill>
          <a:blip r:embed="rId13"/>
          <a:stretch>
            <a:fillRect/>
          </a:stretch>
        </p:blipFill>
        <p:spPr>
          <a:xfrm>
            <a:off x="1692275" y="1844675"/>
            <a:ext cx="1905000" cy="1905000"/>
          </a:xfrm>
          <a:prstGeom prst="rect">
            <a:avLst/>
          </a:prstGeom>
          <a:noFill/>
          <a:ln w="9525">
            <a:noFill/>
          </a:ln>
        </p:spPr>
      </p:pic>
      <p:pic>
        <p:nvPicPr>
          <p:cNvPr id="1035" name="图片 1034" descr="背景31"/>
          <p:cNvPicPr>
            <a:picLocks noChangeAspect="1"/>
          </p:cNvPicPr>
          <p:nvPr userDrawn="1"/>
        </p:nvPicPr>
        <p:blipFill>
          <a:blip r:embed="rId13"/>
          <a:stretch>
            <a:fillRect/>
          </a:stretch>
        </p:blipFill>
        <p:spPr>
          <a:xfrm>
            <a:off x="0" y="1844675"/>
            <a:ext cx="1905000" cy="1905000"/>
          </a:xfrm>
          <a:prstGeom prst="rect">
            <a:avLst/>
          </a:prstGeom>
          <a:noFill/>
          <a:ln w="9525">
            <a:noFill/>
          </a:ln>
        </p:spPr>
      </p:pic>
      <p:pic>
        <p:nvPicPr>
          <p:cNvPr id="1036" name="图片 1035" descr="背景31"/>
          <p:cNvPicPr>
            <a:picLocks noChangeAspect="1"/>
          </p:cNvPicPr>
          <p:nvPr userDrawn="1"/>
        </p:nvPicPr>
        <p:blipFill>
          <a:blip r:embed="rId13"/>
          <a:stretch>
            <a:fillRect/>
          </a:stretch>
        </p:blipFill>
        <p:spPr>
          <a:xfrm>
            <a:off x="0" y="3644900"/>
            <a:ext cx="1905000" cy="1905000"/>
          </a:xfrm>
          <a:prstGeom prst="rect">
            <a:avLst/>
          </a:prstGeom>
          <a:noFill/>
          <a:ln w="9525">
            <a:noFill/>
          </a:ln>
        </p:spPr>
      </p:pic>
      <p:pic>
        <p:nvPicPr>
          <p:cNvPr id="1037" name="图片 1036" descr="背景31"/>
          <p:cNvPicPr>
            <a:picLocks noChangeAspect="1"/>
          </p:cNvPicPr>
          <p:nvPr userDrawn="1"/>
        </p:nvPicPr>
        <p:blipFill>
          <a:blip r:embed="rId13"/>
          <a:stretch>
            <a:fillRect/>
          </a:stretch>
        </p:blipFill>
        <p:spPr>
          <a:xfrm>
            <a:off x="1763713" y="3716338"/>
            <a:ext cx="1905000" cy="1905000"/>
          </a:xfrm>
          <a:prstGeom prst="rect">
            <a:avLst/>
          </a:prstGeom>
          <a:noFill/>
          <a:ln w="9525">
            <a:noFill/>
          </a:ln>
        </p:spPr>
      </p:pic>
      <p:pic>
        <p:nvPicPr>
          <p:cNvPr id="1038" name="图片 1037" descr="背景31"/>
          <p:cNvPicPr>
            <a:picLocks noChangeAspect="1"/>
          </p:cNvPicPr>
          <p:nvPr userDrawn="1"/>
        </p:nvPicPr>
        <p:blipFill>
          <a:blip r:embed="rId13"/>
          <a:stretch>
            <a:fillRect/>
          </a:stretch>
        </p:blipFill>
        <p:spPr>
          <a:xfrm>
            <a:off x="3635375" y="3716338"/>
            <a:ext cx="1905000" cy="1905000"/>
          </a:xfrm>
          <a:prstGeom prst="rect">
            <a:avLst/>
          </a:prstGeom>
          <a:noFill/>
          <a:ln w="9525">
            <a:noFill/>
          </a:ln>
        </p:spPr>
      </p:pic>
      <p:pic>
        <p:nvPicPr>
          <p:cNvPr id="1039" name="图片 1038" descr="背景31"/>
          <p:cNvPicPr>
            <a:picLocks noChangeAspect="1"/>
          </p:cNvPicPr>
          <p:nvPr userDrawn="1"/>
        </p:nvPicPr>
        <p:blipFill>
          <a:blip r:embed="rId13"/>
          <a:stretch>
            <a:fillRect/>
          </a:stretch>
        </p:blipFill>
        <p:spPr>
          <a:xfrm>
            <a:off x="5435600" y="3716338"/>
            <a:ext cx="1905000" cy="1905000"/>
          </a:xfrm>
          <a:prstGeom prst="rect">
            <a:avLst/>
          </a:prstGeom>
          <a:noFill/>
          <a:ln w="9525">
            <a:noFill/>
          </a:ln>
        </p:spPr>
      </p:pic>
      <p:pic>
        <p:nvPicPr>
          <p:cNvPr id="1040" name="图片 1039" descr="背景31"/>
          <p:cNvPicPr>
            <a:picLocks noChangeAspect="1"/>
          </p:cNvPicPr>
          <p:nvPr userDrawn="1"/>
        </p:nvPicPr>
        <p:blipFill>
          <a:blip r:embed="rId13"/>
          <a:stretch>
            <a:fillRect/>
          </a:stretch>
        </p:blipFill>
        <p:spPr>
          <a:xfrm>
            <a:off x="7239000" y="3716338"/>
            <a:ext cx="1905000" cy="1905000"/>
          </a:xfrm>
          <a:prstGeom prst="rect">
            <a:avLst/>
          </a:prstGeom>
          <a:noFill/>
          <a:ln w="9525">
            <a:noFill/>
          </a:ln>
        </p:spPr>
      </p:pic>
      <p:pic>
        <p:nvPicPr>
          <p:cNvPr id="1041" name="图片 1040" descr="背景31"/>
          <p:cNvPicPr>
            <a:picLocks noChangeAspect="1"/>
          </p:cNvPicPr>
          <p:nvPr userDrawn="1"/>
        </p:nvPicPr>
        <p:blipFill>
          <a:blip r:embed="rId13"/>
          <a:stretch>
            <a:fillRect/>
          </a:stretch>
        </p:blipFill>
        <p:spPr>
          <a:xfrm>
            <a:off x="7239000" y="4953000"/>
            <a:ext cx="1905000" cy="1905000"/>
          </a:xfrm>
          <a:prstGeom prst="rect">
            <a:avLst/>
          </a:prstGeom>
          <a:noFill/>
          <a:ln w="9525">
            <a:noFill/>
          </a:ln>
        </p:spPr>
      </p:pic>
      <p:pic>
        <p:nvPicPr>
          <p:cNvPr id="1042" name="图片 1041" descr="背景31"/>
          <p:cNvPicPr>
            <a:picLocks noChangeAspect="1"/>
          </p:cNvPicPr>
          <p:nvPr userDrawn="1"/>
        </p:nvPicPr>
        <p:blipFill>
          <a:blip r:embed="rId13"/>
          <a:stretch>
            <a:fillRect/>
          </a:stretch>
        </p:blipFill>
        <p:spPr>
          <a:xfrm>
            <a:off x="5508625" y="4953000"/>
            <a:ext cx="1905000" cy="1905000"/>
          </a:xfrm>
          <a:prstGeom prst="rect">
            <a:avLst/>
          </a:prstGeom>
          <a:noFill/>
          <a:ln w="9525">
            <a:noFill/>
          </a:ln>
        </p:spPr>
      </p:pic>
      <p:pic>
        <p:nvPicPr>
          <p:cNvPr id="1043" name="图片 1042" descr="背景31"/>
          <p:cNvPicPr>
            <a:picLocks noChangeAspect="1"/>
          </p:cNvPicPr>
          <p:nvPr userDrawn="1"/>
        </p:nvPicPr>
        <p:blipFill>
          <a:blip r:embed="rId13"/>
          <a:stretch>
            <a:fillRect/>
          </a:stretch>
        </p:blipFill>
        <p:spPr>
          <a:xfrm>
            <a:off x="3851275" y="4953000"/>
            <a:ext cx="1905000" cy="1905000"/>
          </a:xfrm>
          <a:prstGeom prst="rect">
            <a:avLst/>
          </a:prstGeom>
          <a:noFill/>
          <a:ln w="9525">
            <a:noFill/>
          </a:ln>
        </p:spPr>
      </p:pic>
      <p:pic>
        <p:nvPicPr>
          <p:cNvPr id="1044" name="图片 1043" descr="背景31"/>
          <p:cNvPicPr>
            <a:picLocks noChangeAspect="1"/>
          </p:cNvPicPr>
          <p:nvPr userDrawn="1"/>
        </p:nvPicPr>
        <p:blipFill>
          <a:blip r:embed="rId13"/>
          <a:stretch>
            <a:fillRect/>
          </a:stretch>
        </p:blipFill>
        <p:spPr>
          <a:xfrm>
            <a:off x="1908175" y="4953000"/>
            <a:ext cx="1905000" cy="1905000"/>
          </a:xfrm>
          <a:prstGeom prst="rect">
            <a:avLst/>
          </a:prstGeom>
          <a:noFill/>
          <a:ln w="9525">
            <a:noFill/>
          </a:ln>
        </p:spPr>
      </p:pic>
      <p:pic>
        <p:nvPicPr>
          <p:cNvPr id="1045" name="图片 1044" descr="背景31"/>
          <p:cNvPicPr>
            <a:picLocks noChangeAspect="1"/>
          </p:cNvPicPr>
          <p:nvPr userDrawn="1"/>
        </p:nvPicPr>
        <p:blipFill>
          <a:blip r:embed="rId13"/>
          <a:stretch>
            <a:fillRect/>
          </a:stretch>
        </p:blipFill>
        <p:spPr>
          <a:xfrm>
            <a:off x="0" y="4953000"/>
            <a:ext cx="1905000" cy="1905000"/>
          </a:xfrm>
          <a:prstGeom prst="rect">
            <a:avLst/>
          </a:prstGeom>
          <a:noFill/>
          <a:ln w="9525">
            <a:noFill/>
          </a:ln>
        </p:spPr>
      </p:pic>
      <p:sp>
        <p:nvSpPr>
          <p:cNvPr id="1046" name="标题 1045"/>
          <p:cNvSpPr>
            <a:spLocks noGrp="1"/>
          </p:cNvSpPr>
          <p:nvPr>
            <p:ph type="title"/>
          </p:nvPr>
        </p:nvSpPr>
        <p:spPr>
          <a:xfrm>
            <a:off x="457200" y="274638"/>
            <a:ext cx="8229600" cy="1143000"/>
          </a:xfrm>
          <a:prstGeom prst="rect">
            <a:avLst/>
          </a:prstGeom>
          <a:noFill/>
          <a:ln w="9525">
            <a:noFill/>
          </a:ln>
        </p:spPr>
        <p:txBody>
          <a:bodyPr anchor="ctr"/>
          <a:p>
            <a:pPr lvl="0"/>
            <a:r>
              <a:rPr lang="en-US" altLang="zh-CN"/>
              <a:t>Click to edit Master title style</a:t>
            </a:r>
            <a:endParaRPr lang="en-US" altLang="zh-CN"/>
          </a:p>
        </p:txBody>
      </p:sp>
      <p:sp>
        <p:nvSpPr>
          <p:cNvPr id="1047" name="文本占位符 1046"/>
          <p:cNvSpPr>
            <a:spLocks noGrp="1"/>
          </p:cNvSpPr>
          <p:nvPr>
            <p:ph type="body" idx="1"/>
          </p:nvPr>
        </p:nvSpPr>
        <p:spPr>
          <a:xfrm>
            <a:off x="468313" y="1628775"/>
            <a:ext cx="8229600" cy="4525963"/>
          </a:xfrm>
          <a:prstGeom prst="rect">
            <a:avLst/>
          </a:prstGeom>
          <a:noFill/>
          <a:ln w="9525">
            <a:noFill/>
          </a:ln>
        </p:spPr>
        <p:txBody>
          <a:bodyPr/>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0"/>
            <a:r>
              <a:rPr lang="en-US" altLang="zh-CN"/>
              <a:t>Fifth level</a:t>
            </a:r>
            <a:endParaRPr lang="en-US" altLang="zh-CN"/>
          </a:p>
        </p:txBody>
      </p:sp>
      <p:sp>
        <p:nvSpPr>
          <p:cNvPr id="1048" name="日期占位符 1047"/>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dirty="0">
              <a:latin typeface="Arial" panose="020B0604020202020204" pitchFamily="34" charset="0"/>
              <a:ea typeface="黑体" panose="02010609060101010101" pitchFamily="1" charset="-122"/>
            </a:endParaRPr>
          </a:p>
        </p:txBody>
      </p:sp>
      <p:sp>
        <p:nvSpPr>
          <p:cNvPr id="1049" name="页脚占位符 1048"/>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dirty="0">
              <a:latin typeface="Arial" panose="020B0604020202020204" pitchFamily="34" charset="0"/>
            </a:endParaRPr>
          </a:p>
        </p:txBody>
      </p:sp>
      <p:sp>
        <p:nvSpPr>
          <p:cNvPr id="1050" name="灯片编号占位符 104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1" Type="http://schemas.openxmlformats.org/officeDocument/2006/relationships/slideLayout" Target="../slideLayouts/slideLayout7.xml"/><Relationship Id="rId10" Type="http://schemas.openxmlformats.org/officeDocument/2006/relationships/tags" Target="../tags/tag20.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4" name="图片 3073" descr="背景31"/>
          <p:cNvPicPr>
            <a:picLocks noChangeAspect="1"/>
          </p:cNvPicPr>
          <p:nvPr/>
        </p:nvPicPr>
        <p:blipFill>
          <a:blip r:embed="rId1"/>
          <a:stretch>
            <a:fillRect/>
          </a:stretch>
        </p:blipFill>
        <p:spPr>
          <a:xfrm>
            <a:off x="7239000" y="3644900"/>
            <a:ext cx="1905000" cy="1905000"/>
          </a:xfrm>
          <a:prstGeom prst="rect">
            <a:avLst/>
          </a:prstGeom>
          <a:noFill/>
          <a:ln w="9525">
            <a:noFill/>
          </a:ln>
        </p:spPr>
      </p:pic>
      <p:pic>
        <p:nvPicPr>
          <p:cNvPr id="3075" name="图片 3074" descr="背景31"/>
          <p:cNvPicPr>
            <a:picLocks noChangeAspect="1"/>
          </p:cNvPicPr>
          <p:nvPr/>
        </p:nvPicPr>
        <p:blipFill>
          <a:blip r:embed="rId1"/>
          <a:stretch>
            <a:fillRect/>
          </a:stretch>
        </p:blipFill>
        <p:spPr>
          <a:xfrm>
            <a:off x="7239000" y="4953000"/>
            <a:ext cx="1905000" cy="1905000"/>
          </a:xfrm>
          <a:prstGeom prst="rect">
            <a:avLst/>
          </a:prstGeom>
          <a:noFill/>
          <a:ln w="9525">
            <a:noFill/>
          </a:ln>
        </p:spPr>
      </p:pic>
      <p:pic>
        <p:nvPicPr>
          <p:cNvPr id="3076" name="图片 3075" descr="背景31"/>
          <p:cNvPicPr>
            <a:picLocks noChangeAspect="1"/>
          </p:cNvPicPr>
          <p:nvPr/>
        </p:nvPicPr>
        <p:blipFill>
          <a:blip r:embed="rId1"/>
          <a:stretch>
            <a:fillRect/>
          </a:stretch>
        </p:blipFill>
        <p:spPr>
          <a:xfrm>
            <a:off x="7239000" y="1700213"/>
            <a:ext cx="1905000" cy="1905000"/>
          </a:xfrm>
          <a:prstGeom prst="rect">
            <a:avLst/>
          </a:prstGeom>
          <a:noFill/>
          <a:ln w="9525">
            <a:noFill/>
          </a:ln>
        </p:spPr>
      </p:pic>
      <p:pic>
        <p:nvPicPr>
          <p:cNvPr id="3077" name="图片 3076" descr="背景31"/>
          <p:cNvPicPr>
            <a:picLocks noChangeAspect="1"/>
          </p:cNvPicPr>
          <p:nvPr/>
        </p:nvPicPr>
        <p:blipFill>
          <a:blip r:embed="rId1"/>
          <a:stretch>
            <a:fillRect/>
          </a:stretch>
        </p:blipFill>
        <p:spPr>
          <a:xfrm>
            <a:off x="7239000" y="0"/>
            <a:ext cx="1905000" cy="1905000"/>
          </a:xfrm>
          <a:prstGeom prst="rect">
            <a:avLst/>
          </a:prstGeom>
          <a:noFill/>
          <a:ln w="9525">
            <a:noFill/>
          </a:ln>
        </p:spPr>
      </p:pic>
      <p:pic>
        <p:nvPicPr>
          <p:cNvPr id="3078" name="图片 3077" descr="背景31"/>
          <p:cNvPicPr>
            <a:picLocks noChangeAspect="1"/>
          </p:cNvPicPr>
          <p:nvPr/>
        </p:nvPicPr>
        <p:blipFill>
          <a:blip r:embed="rId1"/>
          <a:stretch>
            <a:fillRect/>
          </a:stretch>
        </p:blipFill>
        <p:spPr>
          <a:xfrm>
            <a:off x="5508625" y="3573463"/>
            <a:ext cx="1905000" cy="1905000"/>
          </a:xfrm>
          <a:prstGeom prst="rect">
            <a:avLst/>
          </a:prstGeom>
          <a:noFill/>
          <a:ln w="9525">
            <a:noFill/>
          </a:ln>
        </p:spPr>
      </p:pic>
      <p:pic>
        <p:nvPicPr>
          <p:cNvPr id="3079" name="图片 3078" descr="背景31"/>
          <p:cNvPicPr>
            <a:picLocks noChangeAspect="1"/>
          </p:cNvPicPr>
          <p:nvPr/>
        </p:nvPicPr>
        <p:blipFill>
          <a:blip r:embed="rId1"/>
          <a:stretch>
            <a:fillRect/>
          </a:stretch>
        </p:blipFill>
        <p:spPr>
          <a:xfrm>
            <a:off x="5580063" y="4953000"/>
            <a:ext cx="1905000" cy="1905000"/>
          </a:xfrm>
          <a:prstGeom prst="rect">
            <a:avLst/>
          </a:prstGeom>
          <a:noFill/>
          <a:ln w="9525">
            <a:noFill/>
          </a:ln>
        </p:spPr>
      </p:pic>
      <p:pic>
        <p:nvPicPr>
          <p:cNvPr id="3080" name="图片 3079" descr="背景31"/>
          <p:cNvPicPr>
            <a:picLocks noChangeAspect="1"/>
          </p:cNvPicPr>
          <p:nvPr/>
        </p:nvPicPr>
        <p:blipFill>
          <a:blip r:embed="rId1"/>
          <a:stretch>
            <a:fillRect/>
          </a:stretch>
        </p:blipFill>
        <p:spPr>
          <a:xfrm>
            <a:off x="5435600" y="1773238"/>
            <a:ext cx="1905000" cy="1905000"/>
          </a:xfrm>
          <a:prstGeom prst="rect">
            <a:avLst/>
          </a:prstGeom>
          <a:noFill/>
          <a:ln w="9525">
            <a:noFill/>
          </a:ln>
        </p:spPr>
      </p:pic>
      <p:pic>
        <p:nvPicPr>
          <p:cNvPr id="3081" name="图片 3080" descr="背景31"/>
          <p:cNvPicPr>
            <a:picLocks noChangeAspect="1"/>
          </p:cNvPicPr>
          <p:nvPr/>
        </p:nvPicPr>
        <p:blipFill>
          <a:blip r:embed="rId1"/>
          <a:stretch>
            <a:fillRect/>
          </a:stretch>
        </p:blipFill>
        <p:spPr>
          <a:xfrm>
            <a:off x="5292725" y="0"/>
            <a:ext cx="1905000" cy="1905000"/>
          </a:xfrm>
          <a:prstGeom prst="rect">
            <a:avLst/>
          </a:prstGeom>
          <a:noFill/>
          <a:ln w="9525">
            <a:noFill/>
          </a:ln>
        </p:spPr>
      </p:pic>
      <p:pic>
        <p:nvPicPr>
          <p:cNvPr id="3082" name="图片 3081" descr="背景31"/>
          <p:cNvPicPr>
            <a:picLocks noChangeAspect="1"/>
          </p:cNvPicPr>
          <p:nvPr/>
        </p:nvPicPr>
        <p:blipFill>
          <a:blip r:embed="rId1"/>
          <a:stretch>
            <a:fillRect/>
          </a:stretch>
        </p:blipFill>
        <p:spPr>
          <a:xfrm>
            <a:off x="3635375" y="3716338"/>
            <a:ext cx="1905000" cy="1905000"/>
          </a:xfrm>
          <a:prstGeom prst="rect">
            <a:avLst/>
          </a:prstGeom>
          <a:noFill/>
          <a:ln w="9525">
            <a:noFill/>
          </a:ln>
        </p:spPr>
      </p:pic>
      <p:pic>
        <p:nvPicPr>
          <p:cNvPr id="3083" name="图片 3082" descr="背景31"/>
          <p:cNvPicPr>
            <a:picLocks noChangeAspect="1"/>
          </p:cNvPicPr>
          <p:nvPr/>
        </p:nvPicPr>
        <p:blipFill>
          <a:blip r:embed="rId1"/>
          <a:stretch>
            <a:fillRect/>
          </a:stretch>
        </p:blipFill>
        <p:spPr>
          <a:xfrm>
            <a:off x="3708400" y="4953000"/>
            <a:ext cx="1905000" cy="1905000"/>
          </a:xfrm>
          <a:prstGeom prst="rect">
            <a:avLst/>
          </a:prstGeom>
          <a:noFill/>
          <a:ln w="9525">
            <a:noFill/>
          </a:ln>
        </p:spPr>
      </p:pic>
      <p:pic>
        <p:nvPicPr>
          <p:cNvPr id="3084" name="图片 3083" descr="背景31"/>
          <p:cNvPicPr>
            <a:picLocks noChangeAspect="1"/>
          </p:cNvPicPr>
          <p:nvPr/>
        </p:nvPicPr>
        <p:blipFill>
          <a:blip r:embed="rId1"/>
          <a:stretch>
            <a:fillRect/>
          </a:stretch>
        </p:blipFill>
        <p:spPr>
          <a:xfrm>
            <a:off x="3635375" y="1844675"/>
            <a:ext cx="1905000" cy="1905000"/>
          </a:xfrm>
          <a:prstGeom prst="rect">
            <a:avLst/>
          </a:prstGeom>
          <a:noFill/>
          <a:ln w="9525">
            <a:noFill/>
          </a:ln>
        </p:spPr>
      </p:pic>
      <p:pic>
        <p:nvPicPr>
          <p:cNvPr id="3085" name="图片 3084" descr="背景31"/>
          <p:cNvPicPr>
            <a:picLocks noChangeAspect="1"/>
          </p:cNvPicPr>
          <p:nvPr/>
        </p:nvPicPr>
        <p:blipFill>
          <a:blip r:embed="rId1"/>
          <a:stretch>
            <a:fillRect/>
          </a:stretch>
        </p:blipFill>
        <p:spPr>
          <a:xfrm>
            <a:off x="3419475" y="0"/>
            <a:ext cx="1905000" cy="1905000"/>
          </a:xfrm>
          <a:prstGeom prst="rect">
            <a:avLst/>
          </a:prstGeom>
          <a:noFill/>
          <a:ln w="9525">
            <a:noFill/>
          </a:ln>
        </p:spPr>
      </p:pic>
      <p:pic>
        <p:nvPicPr>
          <p:cNvPr id="3086" name="图片 3085" descr="背景31"/>
          <p:cNvPicPr>
            <a:picLocks noChangeAspect="1"/>
          </p:cNvPicPr>
          <p:nvPr/>
        </p:nvPicPr>
        <p:blipFill>
          <a:blip r:embed="rId1"/>
          <a:stretch>
            <a:fillRect/>
          </a:stretch>
        </p:blipFill>
        <p:spPr>
          <a:xfrm>
            <a:off x="1979613" y="4953000"/>
            <a:ext cx="1905000" cy="1905000"/>
          </a:xfrm>
          <a:prstGeom prst="rect">
            <a:avLst/>
          </a:prstGeom>
          <a:noFill/>
          <a:ln w="9525">
            <a:noFill/>
          </a:ln>
        </p:spPr>
      </p:pic>
      <p:pic>
        <p:nvPicPr>
          <p:cNvPr id="3087" name="图片 3086" descr="背景31"/>
          <p:cNvPicPr>
            <a:picLocks noChangeAspect="1"/>
          </p:cNvPicPr>
          <p:nvPr/>
        </p:nvPicPr>
        <p:blipFill>
          <a:blip r:embed="rId1"/>
          <a:stretch>
            <a:fillRect/>
          </a:stretch>
        </p:blipFill>
        <p:spPr>
          <a:xfrm>
            <a:off x="1763713" y="0"/>
            <a:ext cx="1905000" cy="1905000"/>
          </a:xfrm>
          <a:prstGeom prst="rect">
            <a:avLst/>
          </a:prstGeom>
          <a:noFill/>
          <a:ln w="9525">
            <a:noFill/>
          </a:ln>
        </p:spPr>
      </p:pic>
      <p:pic>
        <p:nvPicPr>
          <p:cNvPr id="3088" name="图片 3087" descr="背景31"/>
          <p:cNvPicPr>
            <a:picLocks noChangeAspect="1"/>
          </p:cNvPicPr>
          <p:nvPr/>
        </p:nvPicPr>
        <p:blipFill>
          <a:blip r:embed="rId1"/>
          <a:stretch>
            <a:fillRect/>
          </a:stretch>
        </p:blipFill>
        <p:spPr>
          <a:xfrm>
            <a:off x="1763713" y="1844675"/>
            <a:ext cx="1905000" cy="1905000"/>
          </a:xfrm>
          <a:prstGeom prst="rect">
            <a:avLst/>
          </a:prstGeom>
          <a:noFill/>
          <a:ln w="9525">
            <a:noFill/>
          </a:ln>
        </p:spPr>
      </p:pic>
      <p:pic>
        <p:nvPicPr>
          <p:cNvPr id="3089" name="图片 3088" descr="背景31"/>
          <p:cNvPicPr>
            <a:picLocks noChangeAspect="1"/>
          </p:cNvPicPr>
          <p:nvPr/>
        </p:nvPicPr>
        <p:blipFill>
          <a:blip r:embed="rId1"/>
          <a:stretch>
            <a:fillRect/>
          </a:stretch>
        </p:blipFill>
        <p:spPr>
          <a:xfrm>
            <a:off x="1763713" y="3141663"/>
            <a:ext cx="1905000" cy="1905000"/>
          </a:xfrm>
          <a:prstGeom prst="rect">
            <a:avLst/>
          </a:prstGeom>
          <a:noFill/>
          <a:ln w="9525">
            <a:noFill/>
          </a:ln>
        </p:spPr>
      </p:pic>
      <p:pic>
        <p:nvPicPr>
          <p:cNvPr id="3090" name="图片 3089" descr="背景31"/>
          <p:cNvPicPr>
            <a:picLocks noChangeAspect="1"/>
          </p:cNvPicPr>
          <p:nvPr/>
        </p:nvPicPr>
        <p:blipFill>
          <a:blip r:embed="rId1"/>
          <a:stretch>
            <a:fillRect/>
          </a:stretch>
        </p:blipFill>
        <p:spPr>
          <a:xfrm>
            <a:off x="0" y="0"/>
            <a:ext cx="1905000" cy="1905000"/>
          </a:xfrm>
          <a:prstGeom prst="rect">
            <a:avLst/>
          </a:prstGeom>
          <a:noFill/>
          <a:ln w="9525">
            <a:noFill/>
          </a:ln>
        </p:spPr>
      </p:pic>
      <p:pic>
        <p:nvPicPr>
          <p:cNvPr id="3091" name="图片 3090" descr="背景31"/>
          <p:cNvPicPr>
            <a:picLocks noChangeAspect="1"/>
          </p:cNvPicPr>
          <p:nvPr/>
        </p:nvPicPr>
        <p:blipFill>
          <a:blip r:embed="rId1"/>
          <a:stretch>
            <a:fillRect/>
          </a:stretch>
        </p:blipFill>
        <p:spPr>
          <a:xfrm>
            <a:off x="0" y="1844675"/>
            <a:ext cx="1905000" cy="1905000"/>
          </a:xfrm>
          <a:prstGeom prst="rect">
            <a:avLst/>
          </a:prstGeom>
          <a:noFill/>
          <a:ln w="9525">
            <a:noFill/>
          </a:ln>
        </p:spPr>
      </p:pic>
      <p:pic>
        <p:nvPicPr>
          <p:cNvPr id="3092" name="图片 3091" descr="背景31"/>
          <p:cNvPicPr>
            <a:picLocks noChangeAspect="1"/>
          </p:cNvPicPr>
          <p:nvPr/>
        </p:nvPicPr>
        <p:blipFill>
          <a:blip r:embed="rId1"/>
          <a:stretch>
            <a:fillRect/>
          </a:stretch>
        </p:blipFill>
        <p:spPr>
          <a:xfrm>
            <a:off x="0" y="3716338"/>
            <a:ext cx="1905000" cy="1905000"/>
          </a:xfrm>
          <a:prstGeom prst="rect">
            <a:avLst/>
          </a:prstGeom>
          <a:noFill/>
          <a:ln w="9525">
            <a:noFill/>
          </a:ln>
        </p:spPr>
      </p:pic>
      <p:pic>
        <p:nvPicPr>
          <p:cNvPr id="3093" name="图片 3092" descr="背景31"/>
          <p:cNvPicPr>
            <a:picLocks noChangeAspect="1"/>
          </p:cNvPicPr>
          <p:nvPr/>
        </p:nvPicPr>
        <p:blipFill>
          <a:blip r:embed="rId1"/>
          <a:stretch>
            <a:fillRect/>
          </a:stretch>
        </p:blipFill>
        <p:spPr>
          <a:xfrm>
            <a:off x="0" y="4953000"/>
            <a:ext cx="1905000" cy="1905000"/>
          </a:xfrm>
          <a:prstGeom prst="rect">
            <a:avLst/>
          </a:prstGeom>
          <a:noFill/>
          <a:ln w="9525">
            <a:noFill/>
          </a:ln>
        </p:spPr>
      </p:pic>
      <p:sp>
        <p:nvSpPr>
          <p:cNvPr id="3094" name="标题 3093"/>
          <p:cNvSpPr>
            <a:spLocks noGrp="1"/>
          </p:cNvSpPr>
          <p:nvPr>
            <p:ph type="ctrTitle"/>
          </p:nvPr>
        </p:nvSpPr>
        <p:spPr>
          <a:xfrm>
            <a:off x="684213" y="981075"/>
            <a:ext cx="7772400" cy="1903413"/>
          </a:xfrm>
        </p:spPr>
        <p:txBody>
          <a:bodyPr anchor="ctr"/>
          <a:p>
            <a:pPr defTabSz="914400">
              <a:lnSpc>
                <a:spcPct val="110000"/>
              </a:lnSpc>
              <a:buSzPct val="100000"/>
            </a:pPr>
            <a:r>
              <a:rPr lang="zh-CN" altLang="en-US" sz="5400" b="1" kern="1200" baseline="0" dirty="0">
                <a:latin typeface="Arial" panose="020B0604020202020204" pitchFamily="34" charset="0"/>
                <a:ea typeface="黑体" panose="02010609060101010101" pitchFamily="1" charset="-122"/>
              </a:rPr>
              <a:t>信息管理</a:t>
            </a:r>
            <a:endParaRPr lang="zh-CN" altLang="en-US" sz="5400" b="1" kern="1200" baseline="0" dirty="0">
              <a:latin typeface="Arial" panose="020B0604020202020204" pitchFamily="34" charset="0"/>
              <a:ea typeface="黑体" panose="02010609060101010101" pitchFamily="1" charset="-122"/>
            </a:endParaRPr>
          </a:p>
        </p:txBody>
      </p:sp>
      <p:sp>
        <p:nvSpPr>
          <p:cNvPr id="3095" name="副标题 3094"/>
          <p:cNvSpPr>
            <a:spLocks noGrp="1"/>
          </p:cNvSpPr>
          <p:nvPr>
            <p:ph type="subTitle" idx="1"/>
          </p:nvPr>
        </p:nvSpPr>
        <p:spPr>
          <a:xfrm>
            <a:off x="2411413" y="3284538"/>
            <a:ext cx="4248150" cy="2714625"/>
          </a:xfrm>
        </p:spPr>
        <p:txBody>
          <a:bodyPr/>
          <a:p>
            <a:pPr defTabSz="914400">
              <a:lnSpc>
                <a:spcPct val="80000"/>
              </a:lnSpc>
              <a:buSzPct val="100000"/>
            </a:pPr>
            <a:r>
              <a:rPr lang="zh-CN" altLang="en-US" sz="3200" kern="1200" baseline="0" dirty="0">
                <a:latin typeface="Arial" panose="020B0604020202020204" pitchFamily="34" charset="0"/>
                <a:ea typeface="黑体" panose="02010609060101010101" pitchFamily="1" charset="-122"/>
              </a:rPr>
              <a:t>Week </a:t>
            </a:r>
            <a:r>
              <a:rPr lang="en-US" altLang="zh-CN" sz="3200" kern="1200" baseline="0" dirty="0">
                <a:latin typeface="Arial" panose="020B0604020202020204" pitchFamily="34" charset="0"/>
                <a:ea typeface="黑体" panose="02010609060101010101" pitchFamily="1" charset="-122"/>
              </a:rPr>
              <a:t>2</a:t>
            </a: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安徽大学管理学院</a:t>
            </a: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谢笑</a:t>
            </a:r>
            <a:endParaRPr lang="zh-CN" altLang="en-US" sz="3200" kern="1200" baseline="0" dirty="0">
              <a:latin typeface="黑体" panose="02010609060101010101" pitchFamily="1" charset="-122"/>
              <a:ea typeface="黑体" panose="02010609060101010101" pitchFamily="1" charset="-122"/>
            </a:endParaRPr>
          </a:p>
          <a:p>
            <a:pPr algn="r" defTabSz="914400">
              <a:lnSpc>
                <a:spcPct val="80000"/>
              </a:lnSpc>
              <a:buSzPct val="100000"/>
            </a:pPr>
            <a:endParaRPr lang="zh-CN" altLang="en-US" sz="3600" kern="1200" baseline="0" dirty="0">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87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直接连接符 11265"/>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1267" name="文本框 11266"/>
          <p:cNvSpPr txBox="1"/>
          <p:nvPr/>
        </p:nvSpPr>
        <p:spPr>
          <a:xfrm>
            <a:off x="1618615" y="3213100"/>
            <a:ext cx="7057390" cy="706755"/>
          </a:xfrm>
          <a:prstGeom prst="rect">
            <a:avLst/>
          </a:prstGeom>
          <a:noFill/>
          <a:ln w="9525">
            <a:noFill/>
          </a:ln>
        </p:spPr>
        <p:txBody>
          <a:bodyPr wrap="square">
            <a:spAutoFit/>
          </a:bodyPr>
          <a:p>
            <a:pPr>
              <a:spcBef>
                <a:spcPct val="50000"/>
              </a:spcBef>
            </a:pPr>
            <a:r>
              <a:rPr lang="zh-CN" altLang="en-US" sz="4000" b="1" dirty="0">
                <a:latin typeface="Arial" panose="020B0604020202020204" pitchFamily="34" charset="0"/>
                <a:ea typeface="黑体" panose="02010609060101010101" pitchFamily="1" charset="-122"/>
              </a:rPr>
              <a:t>全球商务与电子合作</a:t>
            </a:r>
            <a:endParaRPr lang="zh-CN" altLang="en-US" sz="4000" b="1" dirty="0">
              <a:latin typeface="Arial" panose="020B0604020202020204" pitchFamily="34" charset="0"/>
              <a:ea typeface="黑体" panose="02010609060101010101" pitchFamily="1" charset="-122"/>
            </a:endParaRPr>
          </a:p>
        </p:txBody>
      </p:sp>
      <p:sp>
        <p:nvSpPr>
          <p:cNvPr id="11268" name="矩形 11267"/>
          <p:cNvSpPr/>
          <p:nvPr/>
        </p:nvSpPr>
        <p:spPr>
          <a:xfrm>
            <a:off x="468313" y="3933825"/>
            <a:ext cx="647700" cy="574675"/>
          </a:xfrm>
          <a:prstGeom prst="rect">
            <a:avLst/>
          </a:prstGeom>
          <a:solidFill>
            <a:srgbClr val="FF972F"/>
          </a:solidFill>
          <a:ln w="9525">
            <a:noFill/>
          </a:ln>
        </p:spPr>
        <p:txBody>
          <a:bodyPr/>
          <a:p>
            <a:endParaRPr lang="zh-CN" altLang="en-US"/>
          </a:p>
        </p:txBody>
      </p:sp>
      <p:sp>
        <p:nvSpPr>
          <p:cNvPr id="11269" name="文本框 11268"/>
          <p:cNvSpPr txBox="1"/>
          <p:nvPr/>
        </p:nvSpPr>
        <p:spPr>
          <a:xfrm>
            <a:off x="468313" y="3933825"/>
            <a:ext cx="576262" cy="583565"/>
          </a:xfrm>
          <a:prstGeom prst="rect">
            <a:avLst/>
          </a:prstGeom>
          <a:noFill/>
          <a:ln w="9525">
            <a:noFill/>
          </a:ln>
        </p:spPr>
        <p:txBody>
          <a:bodyPr>
            <a:spAutoFit/>
          </a:bodyPr>
          <a:p>
            <a:pPr>
              <a:spcBef>
                <a:spcPct val="50000"/>
              </a:spcBef>
            </a:pPr>
            <a:r>
              <a:rPr lang="en-US" altLang="x-none" sz="3200" b="1" dirty="0">
                <a:solidFill>
                  <a:schemeClr val="bg1"/>
                </a:solidFill>
                <a:latin typeface="Arial" panose="020B0604020202020204" pitchFamily="34" charset="0"/>
                <a:ea typeface="宋体" panose="02010600030101010101" pitchFamily="2" charset="-122"/>
              </a:rPr>
              <a:t>2</a:t>
            </a:r>
            <a:endParaRPr lang="en-US" altLang="x-none"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7360" y="188595"/>
            <a:ext cx="8578850" cy="6711315"/>
          </a:xfrm>
        </p:spPr>
        <p:txBody>
          <a:bodyPr/>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LET'S PICK UP WHERE WE LEFT OFF LAST WEEK...</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(Each week we will circle back to the last topic or few slides ofthe previous week to make sure we maintain continuity.)</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ln Week 1-</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We focused on Information Management from a high level</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and started to discuss functional areas and careers. This will</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help you:</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 Get a feel on why Information Management is critical理解为什么信息管理很重要</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 Give you some information to navigate your own careers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为你的职业规划提供一些有用的指导性信息</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546725"/>
          </a:xfrm>
        </p:spPr>
        <p:txBody>
          <a:bodyPr/>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business processes? How are they related to information systems?什么是业务流程?它们与信息系统之间的关系如何?</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How do systems serve the different management groups in a business, and how do systems that link the enterprise improve organizational performance?信息系统如何服务于企业中不同的管理部门，企业信息系统如何帮助企业提高组织绩效?</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4954270"/>
          </a:xfrm>
        </p:spPr>
        <p:txBody>
          <a:bodyPr/>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Why are systems for collaboration and social business so important, and what technologies do they use?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为什么用于合作和社会化商务的信息系统如此重要，这些系统使用了哪些技术?</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is the role of the information systems function in a business?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信息系统在企业中扮演了什么样的角色?</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How will MIS help my career?</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MIS将如何助力我的职业生涯？</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7043" y="260033"/>
            <a:ext cx="8229600" cy="4525962"/>
          </a:xfrm>
        </p:spPr>
        <p:txBody>
          <a:bodyPr/>
          <a:p>
            <a:pPr algn="l">
              <a:lnSpc>
                <a:spcPct val="120000"/>
              </a:lnSpc>
              <a:buClr>
                <a:srgbClr val="FF3300"/>
              </a:buClr>
              <a:buSzTx/>
              <a:buFont typeface="Wingdings" panose="05000000000000000000" pitchFamily="2" charset="2"/>
              <a:buChar char="Ø"/>
            </a:pPr>
            <a:r>
              <a:rPr lang="zh-CN"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现在，请大家阅读接下来的几张</a:t>
            </a:r>
            <a:r>
              <a:rPr lang="en-US" altLang="zh-CN"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PPT</a:t>
            </a:r>
            <a:r>
              <a:rPr lang="zh-CN" altLang="en-US"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（教材</a:t>
            </a:r>
            <a:r>
              <a:rPr lang="en-US" altLang="zh-CN"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P71</a:t>
            </a:r>
            <a:r>
              <a:rPr lang="zh-CN" altLang="en-US"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a:t>
            </a:r>
            <a:endParaRPr lang="zh-CN" altLang="en-US"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1"/>
          <a:stretch>
            <a:fillRect/>
          </a:stretch>
        </p:blipFill>
        <p:spPr>
          <a:xfrm>
            <a:off x="972185" y="1052830"/>
            <a:ext cx="6821805" cy="5530215"/>
          </a:xfrm>
          <a:prstGeom prst="rect">
            <a:avLst/>
          </a:prstGeom>
        </p:spPr>
      </p:pic>
    </p:spTree>
  </p:cSld>
  <p:clrMapOvr>
    <a:masterClrMapping/>
  </p:clrMapOvr>
  <p:transition advTm="26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nvPicPr>
        <p:blipFill>
          <a:blip r:embed="rId1"/>
          <a:stretch>
            <a:fillRect/>
          </a:stretch>
        </p:blipFill>
        <p:spPr>
          <a:xfrm>
            <a:off x="201295" y="1047750"/>
            <a:ext cx="8576310" cy="4855845"/>
          </a:xfrm>
          <a:prstGeom prst="rect">
            <a:avLst/>
          </a:prstGeom>
        </p:spPr>
      </p:pic>
    </p:spTree>
  </p:cSld>
  <p:clrMapOvr>
    <a:masterClrMapping/>
  </p:clrMapOvr>
  <p:transition advTm="26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1"/>
          <a:stretch>
            <a:fillRect/>
          </a:stretch>
        </p:blipFill>
        <p:spPr>
          <a:xfrm>
            <a:off x="1564640" y="116205"/>
            <a:ext cx="6106160" cy="6527800"/>
          </a:xfrm>
          <a:prstGeom prst="rect">
            <a:avLst/>
          </a:prstGeom>
        </p:spPr>
      </p:pic>
    </p:spTree>
  </p:cSld>
  <p:clrMapOvr>
    <a:masterClrMapping/>
  </p:clrMapOvr>
  <p:transition advTm="26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7360" y="260350"/>
            <a:ext cx="8229600" cy="6155690"/>
          </a:xfrm>
        </p:spPr>
        <p:txBody>
          <a:bodyPr/>
          <a:p>
            <a:pPr marL="0" indent="0" algn="l">
              <a:lnSpc>
                <a:spcPct val="120000"/>
              </a:lnSpc>
              <a:buClr>
                <a:srgbClr val="FF3300"/>
              </a:buClr>
              <a:buSzTx/>
              <a:buFont typeface="Wingdings" panose="05000000000000000000" pitchFamily="2" charset="2"/>
              <a:buNone/>
            </a:pPr>
            <a:r>
              <a:rPr lang="en-US" altLang="zh-CN"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夏普是一家日本跨国公司，生产和销售电信设备、电气和电子设备以及包括</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LCD</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在内的电子元件（液晶显示器）、多功能打印设备、计算器、收音机、微波炉和传感器。夏普的经营理念强调，公司不仅致力于增加业务量，而且还致力于利用独特的创新技术为世界各地人民的文化和福祉做出贡献。自</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2016</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年以来，夏普一直是台湾富士康集团的子公司，</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全球</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拥有超过</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52000</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名员工。协作和共享信息对于公司的持续创新和业务成功至关重要。</a:t>
            </a:r>
            <a:endPar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0" algn="l">
              <a:lnSpc>
                <a:spcPct val="120000"/>
              </a:lnSpc>
              <a:buClr>
                <a:srgbClr val="FF3300"/>
              </a:buClr>
              <a:buSzTx/>
              <a:buFont typeface="Wingdings" panose="05000000000000000000" pitchFamily="2" charset="2"/>
              <a:buNone/>
            </a:pP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尽管夏普的产品阵容令人印象深刻，但随着新的亚洲竞争对手挑战其消费电子业务，夏普还是陷入了财务困境。该公司的核心电子制造服务基于极低的利润率。富士康一直在与夏普管理层合作，使夏普的业务组合多元化，并重组公司以提高效率和盈利能力。</a:t>
            </a:r>
            <a:endPar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0" algn="l">
              <a:lnSpc>
                <a:spcPct val="120000"/>
              </a:lnSpc>
              <a:buClr>
                <a:srgbClr val="FF3300"/>
              </a:buClr>
              <a:buSzTx/>
              <a:buFont typeface="Wingdings" panose="05000000000000000000" pitchFamily="2" charset="2"/>
              <a:buNone/>
            </a:pP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夏普的管理层认为，为了加强其全球业务，公司需要改变其运作方式</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包括业务流程和组织文化。过去，员工必须服从自上而下的决定。指令向下流动。夏普需要转向一种基于双向对话的组织文化，在这种文化中，低层员工和高层管理人员都可以发挥领导作用。公司的年轻员工在寻找一种能让他们自由交流想法和意见的制度。</a:t>
            </a:r>
            <a:endPar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0" algn="l">
              <a:lnSpc>
                <a:spcPct val="120000"/>
              </a:lnSpc>
              <a:buClr>
                <a:srgbClr val="FF3300"/>
              </a:buClr>
              <a:buSzTx/>
              <a:buFont typeface="Wingdings" panose="05000000000000000000" pitchFamily="2" charset="2"/>
              <a:buNone/>
            </a:pPr>
            <a:endPar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7360" y="260350"/>
            <a:ext cx="8229600" cy="6373495"/>
          </a:xfrm>
        </p:spPr>
        <p:txBody>
          <a:bodyPr/>
          <a:p>
            <a:pPr marL="0" indent="0" algn="l">
              <a:lnSpc>
                <a:spcPct val="120000"/>
              </a:lnSpc>
              <a:buClr>
                <a:srgbClr val="FF3300"/>
              </a:buClr>
              <a:buSzTx/>
              <a:buFont typeface="Wingdings" panose="05000000000000000000" pitchFamily="2" charset="2"/>
              <a:buNone/>
            </a:pPr>
            <a:r>
              <a:rPr lang="en-US" altLang="zh-CN"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夏普为此实现了微软</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Yammer</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。微软的</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Yammer</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是一个企业内部使用的社交网络平台，尽管它也可以创建与供应商连接的外部网络。客户，以及组织外部的其他人。</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Yammer</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允许员工创建小组，在项目上进行协作，共享和编辑文档，它还包括一个新闻源，可以了解公司内部发生的事情。人员目录提供了联系信息、技能和专业知识的可搜索数据库。</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Yammer</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可以通过网络、桌面和移动设备访问，还可以与</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sharepoint</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和</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Office 365</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等其他微软工具集成，使其他应用程序更具</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社交性</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SharePoint</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是微软的协作、文档共享和文档管理平台。</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Office 365</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是微软为其桌面生产力应用程序提供的在线服务，如文字处理、电子表格、电子演示和数据管理。</a:t>
            </a:r>
            <a:endPar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0" algn="l">
              <a:lnSpc>
                <a:spcPct val="120000"/>
              </a:lnSpc>
              <a:buClr>
                <a:srgbClr val="FF3300"/>
              </a:buClr>
              <a:buSzTx/>
              <a:buFont typeface="Wingdings" panose="05000000000000000000" pitchFamily="2" charset="2"/>
              <a:buNone/>
            </a:pP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夏普于</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2013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年</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2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月创建了一个</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Yammer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试点项目，员工参与自愿，允许员工撰写与工作相关的话题以及个人爱好和兴趣。几个月内就有</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6000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名员工参与，目前公司内部</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Yammer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用户数量已超过</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10000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人。夏普希望将</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Yammer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部署给日本国内所有员工，并最终推广到海外办事处。</a:t>
            </a:r>
            <a:endPar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0" algn="l">
              <a:lnSpc>
                <a:spcPct val="120000"/>
              </a:lnSpc>
              <a:buClr>
                <a:srgbClr val="FF3300"/>
              </a:buClr>
              <a:buSzTx/>
              <a:buFont typeface="Wingdings" panose="05000000000000000000" pitchFamily="2" charset="2"/>
              <a:buNone/>
            </a:pP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Yammer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改善了高层管理人员与普通员工之间的信息流通。员工之间的交流也显著增加，不同部门和不同地区的员工之间也展开了交流。例如，智能手机开发人员能够就功能和用户友好性等问题在公司内部分享意见，还能通过阅读</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Yammer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上的帖子了解其他部门的活动，而这些活动通常是他们不会了解到的。</a:t>
            </a:r>
            <a:endPar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0" algn="l">
              <a:lnSpc>
                <a:spcPct val="120000"/>
              </a:lnSpc>
              <a:buClr>
                <a:srgbClr val="FF3300"/>
              </a:buClr>
              <a:buSzTx/>
              <a:buFont typeface="Wingdings" panose="05000000000000000000" pitchFamily="2" charset="2"/>
              <a:buNone/>
            </a:pPr>
            <a:endPar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7360" y="260350"/>
            <a:ext cx="8229600" cy="6373495"/>
          </a:xfrm>
        </p:spPr>
        <p:txBody>
          <a:bodyPr/>
          <a:p>
            <a:pPr marL="0" indent="0" algn="l">
              <a:lnSpc>
                <a:spcPct val="120000"/>
              </a:lnSpc>
              <a:buClr>
                <a:srgbClr val="FF3300"/>
              </a:buClr>
              <a:buSzTx/>
              <a:buFont typeface="Wingdings" panose="05000000000000000000" pitchFamily="2" charset="2"/>
              <a:buNone/>
            </a:pPr>
            <a:r>
              <a:rPr lang="en-US" altLang="zh-CN"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一些部门领导利用</a:t>
            </a: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Yammer </a:t>
            </a:r>
            <a:r>
              <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平台向员工征集如何在业务中运用最新技术的建议。夏普能够将此类反馈纳入产品开发和公司政策之中。这种能够从公司各处收集分散的信息，并让管理人员自由交流想法、向员工学习的能力，对夏普而言代表着一种重大的文化变革。</a:t>
            </a:r>
            <a:endPar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0" algn="l">
              <a:lnSpc>
                <a:spcPct val="120000"/>
              </a:lnSpc>
              <a:buClr>
                <a:srgbClr val="FF3300"/>
              </a:buClr>
              <a:buSzTx/>
              <a:buFont typeface="Wingdings" panose="05000000000000000000" pitchFamily="2" charset="2"/>
              <a:buNone/>
            </a:pP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endPar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0" algn="l">
              <a:lnSpc>
                <a:spcPct val="120000"/>
              </a:lnSpc>
              <a:buClr>
                <a:srgbClr val="FF3300"/>
              </a:buClr>
              <a:buSzTx/>
              <a:buFont typeface="Wingdings" panose="05000000000000000000" pitchFamily="2" charset="2"/>
              <a:buNone/>
            </a:pPr>
            <a:r>
              <a:rPr lang="en-US" altLang="zh-CN" sz="1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endParaRPr lang="zh-CN" altLang="en-US" sz="1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custDataLst>
              <p:tags r:id="rId1"/>
            </p:custDataLst>
          </p:nvPr>
        </p:nvSpPr>
        <p:spPr>
          <a:xfrm>
            <a:off x="394970" y="346710"/>
            <a:ext cx="8229600" cy="6165215"/>
          </a:xfrm>
        </p:spPr>
        <p:txBody>
          <a:bodyPr/>
          <a:p>
            <a:pPr algn="l">
              <a:lnSpc>
                <a:spcPct val="140000"/>
              </a:lnSpc>
              <a:buClr>
                <a:srgbClr val="FF3300"/>
              </a:buClr>
              <a:buSzTx/>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注:2017年，微软将Yammer并入了微软365。Yammer的许多功能现在都嵌入了微软</a:t>
            </a:r>
            <a:r>
              <a:rPr 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Teams</a:t>
            </a:r>
            <a:r>
              <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和</a:t>
            </a:r>
            <a:r>
              <a:rPr lang="en-US" altLang="zh-CN"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Outlook</a:t>
            </a: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。Yammer本身已经不存在了，微软也不再支持它。</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40000"/>
              </a:lnSpc>
              <a:buClr>
                <a:srgbClr val="FF3300"/>
              </a:buClr>
              <a:buSzTx/>
              <a:buFont typeface="Wingdings" panose="05000000000000000000" pitchFamily="2" charset="2"/>
              <a:buChar char="Ø"/>
            </a:pP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40000"/>
              </a:lnSpc>
              <a:buClr>
                <a:srgbClr val="FF3300"/>
              </a:buClr>
              <a:buSzTx/>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请思考如下问题：</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40000"/>
              </a:lnSpc>
              <a:buClr>
                <a:srgbClr val="FF3300"/>
              </a:buClr>
              <a:buSzTx/>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How are collaboration and employeeengagement helping Sharp Corporation to be more competitive? </a:t>
            </a: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合作与员工参与如何使得夏普公司变得更有竞争力？</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40000"/>
              </a:lnSpc>
              <a:buClr>
                <a:srgbClr val="FF3300"/>
              </a:buClr>
              <a:buSzTx/>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How did</a:t>
            </a:r>
            <a:r>
              <a:rPr 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using Yammer change corporate culture and the way work was performed atSharp Corporation?使用Yammer如何改变企业文化和夏普公司的工作执行方式？</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custDataLst>
              <p:tags r:id="rId1"/>
            </p:custDataLst>
          </p:nvPr>
        </p:nvSpPr>
        <p:spPr>
          <a:xfrm>
            <a:off x="467360" y="260350"/>
            <a:ext cx="8229600" cy="6071235"/>
          </a:xfrm>
        </p:spPr>
        <p:txBody>
          <a:bodyPr/>
          <a:p>
            <a:pPr marL="0" indent="0" algn="l">
              <a:lnSpc>
                <a:spcPct val="140000"/>
              </a:lnSpc>
              <a:buClr>
                <a:srgbClr val="FF3300"/>
              </a:buClr>
              <a:buSzTx/>
              <a:buFont typeface="Wingdings" panose="05000000000000000000" pitchFamily="2" charset="2"/>
              <a:buNone/>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夏普的案例表明：</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40000"/>
              </a:lnSpc>
              <a:buClr>
                <a:srgbClr val="FF3300"/>
              </a:buClr>
              <a:buSzTx/>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Sharp's experience illustrates how much organizations today rely on</a:t>
            </a:r>
            <a:r>
              <a:rPr 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information systems to improve their performance and remain competitive.Italso shows how much systems supporting collaboration and teamwork make adifference in an organization's ability to innovate, execute, grow profits, andremain competitive.</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40000"/>
              </a:lnSpc>
              <a:buClr>
                <a:srgbClr val="FF3300"/>
              </a:buClr>
              <a:buSzTx/>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夏普的经历说明了今天的组织有多依赖于信息系统，以提高他们的表现和保持竞争力。它还显示了支持协作和团队合作的系统对组织创新、执行、增长利润和保持竞争力的能力有多大影响。</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20000"/>
              </a:lnSpc>
              <a:buClr>
                <a:srgbClr val="FF3300"/>
              </a:buClr>
              <a:buSzTx/>
              <a:buFont typeface="Wingdings" panose="05000000000000000000" pitchFamily="2" charset="2"/>
              <a:buChar char="Ø"/>
            </a:pP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custDataLst>
              <p:tags r:id="rId1"/>
            </p:custDataLst>
          </p:nvPr>
        </p:nvSpPr>
        <p:spPr>
          <a:xfrm>
            <a:off x="467360" y="260350"/>
            <a:ext cx="8229600" cy="6071235"/>
          </a:xfrm>
        </p:spPr>
        <p:txBody>
          <a:bodyPr/>
          <a:p>
            <a:pPr algn="l">
              <a:lnSpc>
                <a:spcPct val="140000"/>
              </a:lnSpc>
              <a:buClr>
                <a:srgbClr val="FF3300"/>
              </a:buClr>
              <a:buSzTx/>
              <a:buFont typeface="Wingdings" panose="05000000000000000000" pitchFamily="2" charset="2"/>
              <a:buChar char="Ø"/>
            </a:pPr>
            <a:r>
              <a:rPr sz="22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The chapter-opening diagram calls attention to important points raised by thiscase and this chapter. Sharp Corporation is a knowledge-intensive technologycompany that depends on innovation, but it was hampered by hierarchical top-down processes and a culture that prevented employees and managers fromfreely sharing information and innovating. This impacted the company's abilityto create and deliver new leading-edge products, maintain high profit margins,and fend off increasing competition from other companies.本章的开篇图让我们注意到本案例和本章提出的要点。夏普公司是一家依靠创新的知识密集型技术公司，但它受到自上而下的等级制度和阻碍员工和经理自由分享信息和创新的文化的阻碍。这影响了公司创造和交付新的前沿产品的能力，保持高利润率，并抵御来自其他公司日益激烈的竞争。</a:t>
            </a:r>
            <a:endParaRPr sz="22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20000"/>
              </a:lnSpc>
              <a:buClr>
                <a:srgbClr val="FF3300"/>
              </a:buClr>
              <a:buSzTx/>
              <a:buFont typeface="Wingdings" panose="05000000000000000000" pitchFamily="2" charset="2"/>
              <a:buChar char="Ø"/>
            </a:pPr>
            <a:endParaRPr sz="22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custDataLst>
              <p:tags r:id="rId1"/>
            </p:custDataLst>
          </p:nvPr>
        </p:nvSpPr>
        <p:spPr>
          <a:xfrm>
            <a:off x="467360" y="260350"/>
            <a:ext cx="8229600" cy="6600190"/>
          </a:xfrm>
        </p:spPr>
        <p:txBody>
          <a:bodyPr/>
          <a:p>
            <a:pPr algn="l">
              <a:lnSpc>
                <a:spcPct val="140000"/>
              </a:lnSpc>
              <a:buClr>
                <a:srgbClr val="FF3300"/>
              </a:buClr>
              <a:buSzTx/>
              <a:buFont typeface="Wingdings" panose="05000000000000000000" pitchFamily="2" charset="2"/>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Sharp management found that the best solution was to deploy new technologyto help the company move from a hierarchical corporate knowledge and workenvironment to one that was more democratized.Enterprise social networkingactively engaged employees and enabled them to obtain more knowledge fromcolleagues and managers.The company took advantage of Microsoft Yammer'ssocial tools to increase employee collaboration and engagement and to open updialogues with management. There is now more effective sharing of employeeknowledge, and the company has become more innovative and effective.夏普的管理层发现，最好的解决方案是部署新技术，帮助公司从等级森严的企业知识和工作环境转变为更加民主化的环境。企业社交网络积极地吸引员工，使他们能够从同事和管理者那里获得更多的知识。该公司利用微软Yammer的社交工具来提高员工的协作和参与度，并与管理层展开对话。现在员工的知识共享更加有效，公司也变得更加创新和高效。</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20000"/>
              </a:lnSpc>
              <a:buClr>
                <a:srgbClr val="FF3300"/>
              </a:buClr>
              <a:buSzTx/>
              <a:buFont typeface="Wingdings" panose="05000000000000000000" pitchFamily="2" charset="2"/>
              <a:buChar char="Ø"/>
            </a:pP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2147482606"/>
          <p:cNvPicPr>
            <a:picLocks noChangeAspect="1"/>
          </p:cNvPicPr>
          <p:nvPr>
            <p:custDataLst>
              <p:tags r:id="rId1"/>
            </p:custDataLst>
          </p:nvPr>
        </p:nvPicPr>
        <p:blipFill>
          <a:blip r:embed="rId2"/>
          <a:stretch>
            <a:fillRect/>
          </a:stretch>
        </p:blipFill>
        <p:spPr>
          <a:xfrm>
            <a:off x="755650" y="116205"/>
            <a:ext cx="7682865" cy="4107180"/>
          </a:xfrm>
          <a:prstGeom prst="rect">
            <a:avLst/>
          </a:prstGeom>
          <a:noFill/>
          <a:ln w="9525">
            <a:noFill/>
          </a:ln>
        </p:spPr>
      </p:pic>
      <p:sp>
        <p:nvSpPr>
          <p:cNvPr id="3" name="文本框 2"/>
          <p:cNvSpPr txBox="1"/>
          <p:nvPr/>
        </p:nvSpPr>
        <p:spPr>
          <a:xfrm>
            <a:off x="459105" y="4436745"/>
            <a:ext cx="8300720" cy="2245360"/>
          </a:xfrm>
          <a:prstGeom prst="rect">
            <a:avLst/>
          </a:prstGeom>
          <a:noFill/>
        </p:spPr>
        <p:txBody>
          <a:bodyPr wrap="square" rtlCol="0">
            <a:spAutoFit/>
          </a:bodyPr>
          <a:p>
            <a:pPr algn="just"/>
            <a:r>
              <a:rPr lang="zh-CN" altLang="en-US" sz="2000"/>
              <a:t>New technology alone would not have solved Sharp Corporation's problem. Tomake the solution effective, Sharp had to change its organizational culture andbusiness processes for knowledge dissemination and collaborative work, andthe new technology made these changes possible.新技术新本身并不能解决夏普公司的问题。为了使解决方案有效，夏普必须改变其组织文化和业务流程，以传播知识和协同工作，而新技术使这些变化成为可能。</a:t>
            </a:r>
            <a:endParaRPr lang="zh-CN" altLang="en-US" sz="2000"/>
          </a:p>
        </p:txBody>
      </p:sp>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91440" y="260350"/>
            <a:ext cx="8795385" cy="2063115"/>
          </a:xfrm>
        </p:spPr>
        <p:txBody>
          <a:bodyPr anchor="ctr"/>
          <a:p>
            <a:r>
              <a:rPr lang="zh-CN" altLang="en-US" sz="3200" b="1" dirty="0">
                <a:ea typeface="黑体" panose="02010609060101010101" pitchFamily="1" charset="-122"/>
              </a:rPr>
              <a:t>Enterprise Social Networking Transforms Sharp Corporation into a More Innovative Connected Organization</a:t>
            </a:r>
            <a:r>
              <a:rPr lang="en-US" altLang="zh-CN" sz="3200" b="1" dirty="0">
                <a:ea typeface="黑体" panose="02010609060101010101" pitchFamily="1" charset="-122"/>
              </a:rPr>
              <a:t> </a:t>
            </a:r>
            <a:r>
              <a:rPr lang="zh-CN" altLang="en-US" sz="3200" b="1" dirty="0">
                <a:ea typeface="黑体" panose="02010609060101010101" pitchFamily="1" charset="-122"/>
              </a:rPr>
              <a:t>企业社交网络将夏普公司转变为一个更加创新的互联组织</a:t>
            </a:r>
            <a:endParaRPr lang="zh-CN" altLang="en-US" sz="3200" b="1" dirty="0">
              <a:ea typeface="黑体" panose="02010609060101010101" pitchFamily="1" charset="-122"/>
            </a:endParaRPr>
          </a:p>
        </p:txBody>
      </p:sp>
      <p:pic>
        <p:nvPicPr>
          <p:cNvPr id="2" name="图片 -2147482621"/>
          <p:cNvPicPr>
            <a:picLocks noChangeAspect="1"/>
          </p:cNvPicPr>
          <p:nvPr>
            <p:custDataLst>
              <p:tags r:id="rId1"/>
            </p:custDataLst>
          </p:nvPr>
        </p:nvPicPr>
        <p:blipFill>
          <a:blip r:embed="rId2"/>
          <a:stretch>
            <a:fillRect/>
          </a:stretch>
        </p:blipFill>
        <p:spPr>
          <a:xfrm>
            <a:off x="4859655" y="2996565"/>
            <a:ext cx="4211320" cy="2732405"/>
          </a:xfrm>
          <a:prstGeom prst="rect">
            <a:avLst/>
          </a:prstGeom>
          <a:noFill/>
          <a:ln w="9525">
            <a:noFill/>
          </a:ln>
        </p:spPr>
      </p:pic>
      <p:sp>
        <p:nvSpPr>
          <p:cNvPr id="8195" name="文本占位符 8194"/>
          <p:cNvSpPr>
            <a:spLocks noGrp="1"/>
          </p:cNvSpPr>
          <p:nvPr>
            <p:ph type="body" idx="1"/>
          </p:nvPr>
        </p:nvSpPr>
        <p:spPr>
          <a:xfrm>
            <a:off x="468630" y="2515235"/>
            <a:ext cx="4904105" cy="4011930"/>
          </a:xfrm>
        </p:spPr>
        <p:txBody>
          <a:bodyPr/>
          <a:p>
            <a:pPr marL="0" indent="0">
              <a:lnSpc>
                <a:spcPct val="120000"/>
              </a:lnSpc>
              <a:buClr>
                <a:srgbClr val="FF3300"/>
              </a:buClr>
              <a:buFont typeface="Wingdings" panose="05000000000000000000" pitchFamily="2" charset="2"/>
              <a:buNone/>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Problems</a:t>
            </a: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问题</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pitchFamily="2" charset="2"/>
              <a:buChar char="Ø"/>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Hierarchical top-down processes</a:t>
            </a: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自上而下的分层流程</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pitchFamily="2" charset="2"/>
              <a:buChar char="Ø"/>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New competitors</a:t>
            </a: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新竞争对手</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pitchFamily="2" charset="2"/>
              <a:buChar char="Ø"/>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Lack of collaboration and idea sharing</a:t>
            </a: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缺乏协作和创意共享</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3" name="灯片编号占位符 2"/>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8630" y="452120"/>
            <a:ext cx="8259445" cy="6075045"/>
          </a:xfrm>
        </p:spPr>
        <p:txBody>
          <a:bodyPr/>
          <a:p>
            <a:pPr marL="0" indent="0">
              <a:lnSpc>
                <a:spcPct val="120000"/>
              </a:lnSpc>
              <a:buClr>
                <a:srgbClr val="FF3300"/>
              </a:buClr>
              <a:buFont typeface="Wingdings" panose="05000000000000000000" pitchFamily="2" charset="2"/>
              <a:buNone/>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Solutions解决方案</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charset="0"/>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–Develop knowledge-sharing strategy and goals制定知识共享的战略和目标</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charset="0"/>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Redesign knowledge-sharing and collaboration processes</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重新设计知识共享和协作流程</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charset="0"/>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Change organizational culture</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改变组织文化</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charset="0"/>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Implement Microsoft Yammer (MS O365) collaboration software</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使用Microsoft Yammer (MS O365)协作软件</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0">
              <a:lnSpc>
                <a:spcPct val="120000"/>
              </a:lnSpc>
              <a:buClr>
                <a:srgbClr val="FF3300"/>
              </a:buClr>
              <a:buFont typeface="Wingdings" panose="05000000000000000000" pitchFamily="2" charset="2"/>
              <a:buNone/>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Purposes</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目的</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charset="0"/>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Improve performance and remain competitive</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提高业绩并保持竞争力</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charset="0"/>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Demonstrates importance of teamwork and collaboration for innovation and profit growth</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证明团队合作对创新和利润增长的重要性</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charset="0"/>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Illustrates how organizational culture and business processes enable </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说明组织文化和业务流程如何促进知识传播</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2092325" y="3213100"/>
            <a:ext cx="6583680" cy="1419860"/>
          </a:xfrm>
          <a:prstGeom prst="rect">
            <a:avLst/>
          </a:prstGeom>
          <a:noFill/>
          <a:ln w="9525">
            <a:noFill/>
          </a:ln>
        </p:spPr>
        <p:txBody>
          <a:bodyPr wrap="square">
            <a:spAutoFit/>
          </a:bodyPr>
          <a:p>
            <a:pPr>
              <a:lnSpc>
                <a:spcPct val="120000"/>
              </a:lnSpc>
              <a:spcBef>
                <a:spcPct val="50000"/>
              </a:spcBef>
            </a:pPr>
            <a:r>
              <a:rPr lang="zh-CN" altLang="en-US" sz="3600" b="1" dirty="0">
                <a:latin typeface="Arial" panose="020B0604020202020204" pitchFamily="34" charset="0"/>
                <a:ea typeface="黑体" panose="02010609060101010101" pitchFamily="1" charset="-122"/>
              </a:rPr>
              <a:t>什么是业务流程？业务流程是如何与信息系统产生关系的</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2.1</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76530" y="116205"/>
            <a:ext cx="8888095" cy="1163955"/>
          </a:xfrm>
        </p:spPr>
        <p:txBody>
          <a:bodyPr anchor="ctr"/>
          <a:p>
            <a:r>
              <a:rPr lang="en-US" altLang="zh-CN" sz="4000" b="1" dirty="0">
                <a:ea typeface="黑体" panose="02010609060101010101" pitchFamily="1" charset="-122"/>
              </a:rPr>
              <a:t>2.1.1</a:t>
            </a:r>
            <a:r>
              <a:rPr lang="zh-CN" altLang="en-US" sz="4000" b="1" dirty="0">
                <a:ea typeface="黑体" panose="02010609060101010101" pitchFamily="1" charset="-122"/>
              </a:rPr>
              <a:t>Business Processes</a:t>
            </a:r>
            <a:r>
              <a:rPr lang="en-US" altLang="zh-CN" sz="4000" b="1" dirty="0">
                <a:ea typeface="黑体" panose="02010609060101010101" pitchFamily="1" charset="-122"/>
              </a:rPr>
              <a:t> </a:t>
            </a:r>
            <a:r>
              <a:rPr lang="zh-CN" altLang="en-US" sz="4000" b="1" dirty="0">
                <a:ea typeface="黑体" panose="02010609060101010101" pitchFamily="1" charset="-122"/>
              </a:rPr>
              <a:t>业务流程</a:t>
            </a:r>
            <a:endParaRPr lang="zh-CN" altLang="en-US" sz="4000" b="1" dirty="0">
              <a:ea typeface="黑体" panose="02010609060101010101" pitchFamily="1" charset="-122"/>
            </a:endParaRPr>
          </a:p>
        </p:txBody>
      </p:sp>
      <p:sp>
        <p:nvSpPr>
          <p:cNvPr id="8195" name="文本占位符 8194"/>
          <p:cNvSpPr>
            <a:spLocks noGrp="1"/>
          </p:cNvSpPr>
          <p:nvPr>
            <p:ph type="body" idx="1"/>
          </p:nvPr>
        </p:nvSpPr>
        <p:spPr>
          <a:xfrm>
            <a:off x="468630" y="1124585"/>
            <a:ext cx="8229600" cy="5638800"/>
          </a:xfrm>
        </p:spPr>
        <p:txBody>
          <a:bodyPr/>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业务流程是指以提供有价值的产品或服务为中心而进行的一系列业务工作的组织和协调方式。</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Flows of material, information, knowledge</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业务活动由物流、信息流、业务流程参与者之间的知识组成</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Logically related set of tasks that define how specific business tasks are performed</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业务流程也指企业组织协调工作、信息、知识的特定方式，以及管理层确定的工作协调方式</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May be tied to functional area or be cross-functional</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可能与职能部门或跨职能部门相关</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08585" y="260350"/>
            <a:ext cx="8822055" cy="1143000"/>
          </a:xfrm>
        </p:spPr>
        <p:txBody>
          <a:bodyPr anchor="ctr"/>
          <a:p>
            <a:r>
              <a:rPr lang="en-US" altLang="zh-CN" sz="4000" b="1" dirty="0">
                <a:ea typeface="黑体" panose="02010609060101010101" pitchFamily="1" charset="-122"/>
              </a:rPr>
              <a:t>2.1.1 </a:t>
            </a:r>
            <a:r>
              <a:rPr lang="zh-CN" altLang="en-US" sz="4000" b="1" dirty="0">
                <a:ea typeface="黑体" panose="02010609060101010101" pitchFamily="1" charset="-122"/>
              </a:rPr>
              <a:t>Business Processes</a:t>
            </a:r>
            <a:r>
              <a:rPr lang="en-US" altLang="zh-CN" sz="4000" b="1" dirty="0">
                <a:ea typeface="黑体" panose="02010609060101010101" pitchFamily="1" charset="-122"/>
              </a:rPr>
              <a:t> </a:t>
            </a:r>
            <a:r>
              <a:rPr lang="zh-CN" altLang="en-US" sz="4000" b="1" dirty="0">
                <a:ea typeface="黑体" panose="02010609060101010101" pitchFamily="1" charset="-122"/>
              </a:rPr>
              <a:t>业务流程</a:t>
            </a:r>
            <a:endParaRPr lang="zh-CN" altLang="en-US" sz="4000" b="1" dirty="0">
              <a:ea typeface="黑体" panose="02010609060101010101" pitchFamily="1" charset="-122"/>
            </a:endParaRPr>
          </a:p>
        </p:txBody>
      </p:sp>
      <p:sp>
        <p:nvSpPr>
          <p:cNvPr id="8195" name="文本占位符 8194"/>
          <p:cNvSpPr>
            <a:spLocks noGrp="1"/>
          </p:cNvSpPr>
          <p:nvPr>
            <p:ph type="body" idx="1"/>
          </p:nvPr>
        </p:nvSpPr>
        <p:spPr>
          <a:xfrm>
            <a:off x="468313" y="1124268"/>
            <a:ext cx="8229600" cy="4525962"/>
          </a:xfrm>
        </p:spPr>
        <p:txBody>
          <a:bodyPr/>
          <a:p>
            <a:pPr>
              <a:lnSpc>
                <a:spcPct val="120000"/>
              </a:lnSpc>
              <a:buClr>
                <a:srgbClr val="FF3300"/>
              </a:buClr>
              <a:buFont typeface="Wingdings" panose="05000000000000000000" pitchFamily="2" charset="2"/>
              <a:buChar char="Ø"/>
            </a:pPr>
            <a:r>
              <a:rPr sz="2800" dirty="0">
                <a:ea typeface="微软雅黑" panose="020B0503020204020204" pitchFamily="2" charset="-122"/>
                <a:sym typeface="Wingdings" panose="05000000000000000000" pitchFamily="2" charset="2"/>
              </a:rPr>
              <a:t>A Business can be seen as collection of processes</a:t>
            </a:r>
            <a:endParaRPr sz="2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800" dirty="0">
                <a:ea typeface="微软雅黑" panose="020B0503020204020204" pitchFamily="2" charset="-122"/>
                <a:sym typeface="Wingdings" panose="05000000000000000000" pitchFamily="2" charset="2"/>
              </a:rPr>
              <a:t>业务可以被视为流程的集合</a:t>
            </a:r>
            <a:endParaRPr sz="2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800" dirty="0">
                <a:ea typeface="微软雅黑" panose="020B0503020204020204" pitchFamily="2" charset="-122"/>
                <a:sym typeface="Wingdings" panose="05000000000000000000" pitchFamily="2" charset="2"/>
              </a:rPr>
              <a:t>Processes can be Assets (enhance productivity) or Liabilities (hamper productivity)</a:t>
            </a:r>
            <a:endParaRPr sz="2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800" dirty="0">
                <a:ea typeface="微软雅黑" panose="020B0503020204020204" pitchFamily="2" charset="-122"/>
                <a:sym typeface="Wingdings" panose="05000000000000000000" pitchFamily="2" charset="2"/>
              </a:rPr>
              <a:t>流程可以是资产(提高生产力)或负债(阻碍生产力)</a:t>
            </a:r>
            <a:endParaRPr sz="2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800" dirty="0">
                <a:ea typeface="微软雅黑" panose="020B0503020204020204" pitchFamily="2" charset="-122"/>
                <a:sym typeface="Wingdings" panose="05000000000000000000" pitchFamily="2" charset="2"/>
              </a:rPr>
              <a:t>Goal of process optimization is to turn liabilities into assets</a:t>
            </a:r>
            <a:endParaRPr sz="2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800" dirty="0">
                <a:ea typeface="微软雅黑" panose="020B0503020204020204" pitchFamily="2" charset="-122"/>
                <a:sym typeface="Wingdings" panose="05000000000000000000" pitchFamily="2" charset="2"/>
              </a:rPr>
              <a:t>流程优化的目标是化负债为资产</a:t>
            </a:r>
            <a:endParaRPr sz="28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630" y="260350"/>
            <a:ext cx="8557260" cy="1143000"/>
          </a:xfrm>
        </p:spPr>
        <p:txBody>
          <a:bodyPr anchor="ctr"/>
          <a:p>
            <a:pPr algn="l"/>
            <a:r>
              <a:rPr lang="zh-CN" altLang="en-US" sz="3200" b="1" dirty="0">
                <a:ea typeface="黑体" panose="02010609060101010101" pitchFamily="1" charset="-122"/>
              </a:rPr>
              <a:t>Functional Business Processes Examples</a:t>
            </a:r>
            <a:br>
              <a:rPr lang="zh-CN" altLang="en-US" sz="3600" b="1" dirty="0">
                <a:ea typeface="黑体" panose="02010609060101010101" pitchFamily="1" charset="-122"/>
              </a:rPr>
            </a:br>
            <a:r>
              <a:rPr lang="zh-CN" altLang="en-US" sz="3600" b="1" dirty="0">
                <a:ea typeface="黑体" panose="02010609060101010101" pitchFamily="1" charset="-122"/>
              </a:rPr>
              <a:t>职能性业务流程示例</a:t>
            </a:r>
            <a:endParaRPr lang="zh-CN" altLang="en-US" sz="3600" b="1" dirty="0">
              <a:ea typeface="黑体" panose="02010609060101010101" pitchFamily="1" charset="-122"/>
            </a:endParaRPr>
          </a:p>
        </p:txBody>
      </p:sp>
      <p:sp>
        <p:nvSpPr>
          <p:cNvPr id="8195" name="文本占位符 8194"/>
          <p:cNvSpPr>
            <a:spLocks noGrp="1"/>
          </p:cNvSpPr>
          <p:nvPr>
            <p:ph type="body" idx="1"/>
          </p:nvPr>
        </p:nvSpPr>
        <p:spPr>
          <a:xfrm>
            <a:off x="468630" y="1661160"/>
            <a:ext cx="8229600" cy="4855845"/>
          </a:xfrm>
        </p:spPr>
        <p:txBody>
          <a:bodyPr/>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Manufacturing and Production</a:t>
            </a:r>
            <a:r>
              <a:rPr sz="2400" dirty="0">
                <a:ea typeface="微软雅黑" panose="020B0503020204020204" pitchFamily="2" charset="-122"/>
                <a:sym typeface="Wingdings" panose="05000000000000000000" pitchFamily="2" charset="2"/>
              </a:rPr>
              <a:t>制造及生产</a:t>
            </a:r>
            <a:endParaRPr sz="24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Assembling the product</a:t>
            </a:r>
            <a:r>
              <a:rPr sz="2100" dirty="0">
                <a:ea typeface="微软雅黑" panose="020B0503020204020204" pitchFamily="2" charset="-122"/>
                <a:sym typeface="Wingdings" panose="05000000000000000000" pitchFamily="2" charset="2"/>
              </a:rPr>
              <a:t>组装产品，质量检查，准备物料清单</a:t>
            </a:r>
            <a:endParaRPr sz="21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Sales/Marketing</a:t>
            </a:r>
            <a:r>
              <a:rPr sz="2400" dirty="0">
                <a:ea typeface="微软雅黑" panose="020B0503020204020204" pitchFamily="2" charset="-122"/>
                <a:sym typeface="Wingdings" panose="05000000000000000000" pitchFamily="2" charset="2"/>
              </a:rPr>
              <a:t>销售/市场营销</a:t>
            </a:r>
            <a:endParaRPr sz="24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Identifying Customers</a:t>
            </a:r>
            <a:r>
              <a:rPr sz="2100" dirty="0">
                <a:ea typeface="微软雅黑" panose="020B0503020204020204" pitchFamily="2" charset="-122"/>
                <a:sym typeface="Wingdings" panose="05000000000000000000" pitchFamily="2" charset="2"/>
              </a:rPr>
              <a:t>客户确认，客户产品认知，产品销售</a:t>
            </a:r>
            <a:endParaRPr sz="21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Finance/Accounting</a:t>
            </a:r>
            <a:r>
              <a:rPr sz="2400" dirty="0">
                <a:ea typeface="微软雅黑" panose="020B0503020204020204" pitchFamily="2" charset="-122"/>
                <a:sym typeface="Wingdings" panose="05000000000000000000" pitchFamily="2" charset="2"/>
              </a:rPr>
              <a:t>财务/会计</a:t>
            </a:r>
            <a:endParaRPr sz="24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Creating financial statements</a:t>
            </a:r>
            <a:r>
              <a:rPr sz="2100" dirty="0">
                <a:ea typeface="微软雅黑" panose="020B0503020204020204" pitchFamily="2" charset="-122"/>
                <a:sym typeface="Wingdings" panose="05000000000000000000" pitchFamily="2" charset="2"/>
              </a:rPr>
              <a:t>债务偿付，制作财务报表，管理现金账户</a:t>
            </a:r>
            <a:endParaRPr sz="21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Human Resources</a:t>
            </a:r>
            <a:r>
              <a:rPr sz="2400" dirty="0">
                <a:ea typeface="微软雅黑" panose="020B0503020204020204" pitchFamily="2" charset="-122"/>
                <a:sym typeface="Wingdings" panose="05000000000000000000" pitchFamily="2" charset="2"/>
              </a:rPr>
              <a:t>人力资源</a:t>
            </a:r>
            <a:endParaRPr sz="24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Hiring employees员工招聘，员工岗位绩效评估，制定员工福利计划</a:t>
            </a:r>
            <a:endParaRPr sz="21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图2</a:t>
            </a:r>
            <a:r>
              <a:rPr lang="en-US" sz="3200" b="1" dirty="0">
                <a:ea typeface="黑体" panose="02010609060101010101" pitchFamily="1" charset="-122"/>
              </a:rPr>
              <a:t>-1 ERP鸟瞰图示例（集成了3个功能领域）</a:t>
            </a:r>
            <a:endParaRPr lang="en-US" sz="3200" b="1" dirty="0">
              <a:ea typeface="黑体" panose="02010609060101010101" pitchFamily="1" charset="-122"/>
            </a:endParaRPr>
          </a:p>
        </p:txBody>
      </p:sp>
      <p:sp>
        <p:nvSpPr>
          <p:cNvPr id="3" name="文本框 2"/>
          <p:cNvSpPr txBox="1"/>
          <p:nvPr/>
        </p:nvSpPr>
        <p:spPr>
          <a:xfrm>
            <a:off x="3561080" y="5733415"/>
            <a:ext cx="2380615" cy="398780"/>
          </a:xfrm>
          <a:prstGeom prst="rect">
            <a:avLst/>
          </a:prstGeom>
          <a:noFill/>
        </p:spPr>
        <p:txBody>
          <a:bodyPr wrap="square" rtlCol="0">
            <a:spAutoFit/>
          </a:bodyPr>
          <a:p>
            <a:pPr algn="l">
              <a:buFont typeface="Arial" panose="020B0604020202020204" pitchFamily="34" charset="0"/>
            </a:pPr>
            <a:r>
              <a:rPr lang="zh-CN" altLang="en-US" sz="2000"/>
              <a:t>订单处理流程</a:t>
            </a:r>
            <a:endParaRPr lang="zh-CN" altLang="en-US" sz="2000"/>
          </a:p>
        </p:txBody>
      </p:sp>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nvPicPr>
        <p:blipFill>
          <a:blip r:embed="rId1"/>
          <a:stretch>
            <a:fillRect/>
          </a:stretch>
        </p:blipFill>
        <p:spPr>
          <a:xfrm>
            <a:off x="688340" y="1379855"/>
            <a:ext cx="7745095" cy="4110355"/>
          </a:xfrm>
          <a:prstGeom prst="rect">
            <a:avLst/>
          </a:prstGeom>
        </p:spPr>
      </p:pic>
    </p:spTree>
  </p:cSld>
  <p:clrMapOvr>
    <a:masterClrMapping/>
  </p:clrMapOvr>
  <p:transition advTm="26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35560" y="116205"/>
            <a:ext cx="9301480" cy="1143000"/>
          </a:xfrm>
        </p:spPr>
        <p:txBody>
          <a:bodyPr anchor="ctr"/>
          <a:p>
            <a:pPr algn="l"/>
            <a:r>
              <a:rPr lang="zh-CN" altLang="en-US" sz="2700" b="1" dirty="0">
                <a:ea typeface="黑体" panose="02010609060101010101" pitchFamily="1" charset="-122"/>
              </a:rPr>
              <a:t>How Information Systems Improve/Optimize Processes</a:t>
            </a:r>
            <a:br>
              <a:rPr lang="zh-CN" altLang="en-US" sz="3600" b="1" dirty="0">
                <a:ea typeface="黑体" panose="02010609060101010101" pitchFamily="1" charset="-122"/>
              </a:rPr>
            </a:br>
            <a:r>
              <a:rPr lang="en-US" altLang="zh-CN" sz="3600" b="1" dirty="0">
                <a:ea typeface="黑体" panose="02010609060101010101" pitchFamily="1" charset="-122"/>
              </a:rPr>
              <a:t>2.1.2 </a:t>
            </a:r>
            <a:r>
              <a:rPr lang="zh-CN" altLang="en-US" sz="3600" b="1" dirty="0">
                <a:ea typeface="黑体" panose="02010609060101010101" pitchFamily="1" charset="-122"/>
              </a:rPr>
              <a:t>信息技术是如何改进/优化业务流程的</a:t>
            </a:r>
            <a:endParaRPr lang="zh-CN" altLang="en-US" sz="36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4855845"/>
          </a:xfrm>
        </p:spPr>
        <p:txBody>
          <a:bodyPr/>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Automating steps that were manual</a:t>
            </a:r>
            <a:r>
              <a:rPr sz="2400" dirty="0">
                <a:ea typeface="微软雅黑" panose="020B0503020204020204" pitchFamily="2" charset="-122"/>
                <a:sym typeface="Wingdings" panose="05000000000000000000" pitchFamily="2" charset="2"/>
              </a:rPr>
              <a:t>手动操作的自动化，如客户信用的审核或发票和运单的产生</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Enabling entirely new processes</a:t>
            </a:r>
            <a:r>
              <a:rPr sz="2400" dirty="0">
                <a:ea typeface="微软雅黑" panose="020B0503020204020204" pitchFamily="2" charset="-122"/>
                <a:sym typeface="Wingdings" panose="05000000000000000000" pitchFamily="2" charset="2"/>
              </a:rPr>
              <a:t>启用全新的流程，从亚马逊下载一本Kindle电子书，从iTunes下载音乐等</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Changing flow of information</a:t>
            </a:r>
            <a:r>
              <a:rPr sz="2400" dirty="0">
                <a:ea typeface="微软雅黑" panose="020B0503020204020204" pitchFamily="2" charset="-122"/>
                <a:sym typeface="Wingdings" panose="05000000000000000000" pitchFamily="2" charset="2"/>
              </a:rPr>
              <a:t>改变信息流，使更多的人获取和共享信息</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Replacing sequential steps with parallel steps</a:t>
            </a:r>
            <a:r>
              <a:rPr sz="2400" dirty="0">
                <a:ea typeface="微软雅黑" panose="020B0503020204020204" pitchFamily="2" charset="-122"/>
                <a:sym typeface="Wingdings" panose="05000000000000000000" pitchFamily="2" charset="2"/>
              </a:rPr>
              <a:t>用平行步骤取代顺序步骤</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Eliminate duplication or unnecessary steps</a:t>
            </a:r>
            <a:r>
              <a:rPr sz="2400" dirty="0">
                <a:ea typeface="微软雅黑" panose="020B0503020204020204" pitchFamily="2" charset="-122"/>
                <a:sym typeface="Wingdings" panose="05000000000000000000" pitchFamily="2" charset="2"/>
              </a:rPr>
              <a:t>消除重复或不必要的步骤</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35560" y="116205"/>
            <a:ext cx="9301480" cy="1143000"/>
          </a:xfrm>
        </p:spPr>
        <p:txBody>
          <a:bodyPr anchor="ctr"/>
          <a:p>
            <a:pPr algn="l"/>
            <a:r>
              <a:rPr lang="zh-CN" altLang="en-US" sz="2700" b="1" dirty="0">
                <a:ea typeface="黑体" panose="02010609060101010101" pitchFamily="1" charset="-122"/>
              </a:rPr>
              <a:t>How Information Systems Improve/Optimize Processes</a:t>
            </a:r>
            <a:br>
              <a:rPr lang="zh-CN" altLang="en-US" sz="3600" b="1" dirty="0">
                <a:ea typeface="黑体" panose="02010609060101010101" pitchFamily="1" charset="-122"/>
              </a:rPr>
            </a:br>
            <a:r>
              <a:rPr lang="en-US" altLang="zh-CN" sz="3600" b="1" dirty="0">
                <a:ea typeface="黑体" panose="02010609060101010101" pitchFamily="1" charset="-122"/>
              </a:rPr>
              <a:t>2.1.2 </a:t>
            </a:r>
            <a:r>
              <a:rPr lang="zh-CN" altLang="en-US" sz="3600" b="1" dirty="0">
                <a:ea typeface="黑体" panose="02010609060101010101" pitchFamily="1" charset="-122"/>
              </a:rPr>
              <a:t>信息技术是如何改进/优化业务流程的</a:t>
            </a:r>
            <a:endParaRPr lang="zh-CN" altLang="en-US" sz="36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4855845"/>
          </a:xfrm>
        </p:spPr>
        <p:txBody>
          <a:bodyPr/>
          <a:p>
            <a:pPr marL="0" indent="0">
              <a:lnSpc>
                <a:spcPct val="120000"/>
              </a:lnSpc>
              <a:buClr>
                <a:srgbClr val="FF3300"/>
              </a:buClr>
              <a:buFont typeface="Wingdings" panose="05000000000000000000" pitchFamily="2" charset="2"/>
              <a:buNone/>
            </a:pPr>
            <a:endParaRPr sz="2800" dirty="0">
              <a:ea typeface="微软雅黑" panose="020B0503020204020204" pitchFamily="2" charset="-122"/>
              <a:sym typeface="Wingdings" panose="05000000000000000000" pitchFamily="2" charset="2"/>
            </a:endParaRPr>
          </a:p>
          <a:p>
            <a:pPr marL="0" indent="0">
              <a:lnSpc>
                <a:spcPct val="120000"/>
              </a:lnSpc>
              <a:buClr>
                <a:srgbClr val="FF3300"/>
              </a:buClr>
              <a:buFont typeface="Wingdings" panose="05000000000000000000" pitchFamily="2" charset="2"/>
              <a:buNone/>
            </a:pPr>
            <a:r>
              <a:rPr sz="2800" dirty="0">
                <a:ea typeface="微软雅黑" panose="020B0503020204020204" pitchFamily="2" charset="-122"/>
                <a:sym typeface="Wingdings" panose="05000000000000000000" pitchFamily="2" charset="2"/>
              </a:rPr>
              <a:t>Results:</a:t>
            </a:r>
            <a:endParaRPr sz="2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800" dirty="0">
                <a:ea typeface="微软雅黑" panose="020B0503020204020204" pitchFamily="2" charset="-122"/>
                <a:sym typeface="Wingdings" panose="05000000000000000000" pitchFamily="2" charset="2"/>
              </a:rPr>
              <a:t>Expedite decision making</a:t>
            </a:r>
            <a:endParaRPr sz="2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800" dirty="0">
                <a:ea typeface="微软雅黑" panose="020B0503020204020204" pitchFamily="2" charset="-122"/>
                <a:sym typeface="Wingdings" panose="05000000000000000000" pitchFamily="2" charset="2"/>
              </a:rPr>
              <a:t>加快决策</a:t>
            </a:r>
            <a:endParaRPr sz="2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800" dirty="0">
                <a:ea typeface="微软雅黑" panose="020B0503020204020204" pitchFamily="2" charset="-122"/>
                <a:sym typeface="Wingdings" panose="05000000000000000000" pitchFamily="2" charset="2"/>
              </a:rPr>
              <a:t>Easily adapt to and support new models or strategy</a:t>
            </a:r>
            <a:endParaRPr sz="2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800" dirty="0">
                <a:ea typeface="微软雅黑" panose="020B0503020204020204" pitchFamily="2" charset="-122"/>
                <a:sym typeface="Wingdings" panose="05000000000000000000" pitchFamily="2" charset="2"/>
              </a:rPr>
              <a:t>容易适应和采纳新的模式或策略</a:t>
            </a:r>
            <a:endParaRPr sz="28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4342765" y="3213100"/>
            <a:ext cx="4333240" cy="755650"/>
          </a:xfrm>
          <a:prstGeom prst="rect">
            <a:avLst/>
          </a:prstGeom>
          <a:noFill/>
          <a:ln w="9525">
            <a:noFill/>
          </a:ln>
        </p:spPr>
        <p:txBody>
          <a:bodyPr wrap="square">
            <a:spAutoFit/>
          </a:bodyPr>
          <a:p>
            <a:pPr>
              <a:lnSpc>
                <a:spcPct val="120000"/>
              </a:lnSpc>
              <a:spcBef>
                <a:spcPct val="50000"/>
              </a:spcBef>
            </a:pPr>
            <a:r>
              <a:rPr lang="zh-CN" altLang="en-US" sz="3600" b="1" dirty="0">
                <a:latin typeface="Arial" panose="020B0604020202020204" pitchFamily="34" charset="0"/>
                <a:ea typeface="黑体" panose="02010609060101010101" pitchFamily="1" charset="-122"/>
              </a:rPr>
              <a:t>信息系统的类型</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2.2</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538798" y="475933"/>
            <a:ext cx="8229600" cy="4525962"/>
          </a:xfrm>
        </p:spPr>
        <p:txBody>
          <a:bodyPr/>
          <a:p>
            <a:pPr>
              <a:lnSpc>
                <a:spcPct val="140000"/>
              </a:lnSpc>
              <a:buClr>
                <a:srgbClr val="FF3300"/>
              </a:buClr>
              <a:buFont typeface="Wingdings" panose="05000000000000000000" pitchFamily="2" charset="2"/>
              <a:buChar char="Ø"/>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Transaction Processing Systems (TPS)事务处理系统</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40000"/>
              </a:lnSpc>
              <a:buClr>
                <a:srgbClr val="FF3300"/>
              </a:buClr>
              <a:buFont typeface="Wingdings" panose="05000000000000000000" pitchFamily="2" charset="2"/>
              <a:buChar char="Ø"/>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Management Information Systems (MIS)</a:t>
            </a: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管理信息系统</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457200">
              <a:lnSpc>
                <a:spcPct val="140000"/>
              </a:lnSpc>
              <a:buClr>
                <a:srgbClr val="FF3300"/>
              </a:buClr>
              <a:buFont typeface="Wingdings" panose="05000000000000000000" pitchFamily="2" charset="2"/>
              <a:buNone/>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Day to Day</a:t>
            </a:r>
            <a:r>
              <a:rPr lang="zh-CN"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每天</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40000"/>
              </a:lnSpc>
              <a:buClr>
                <a:srgbClr val="FF3300"/>
              </a:buClr>
              <a:buFont typeface="Wingdings" panose="05000000000000000000" pitchFamily="2" charset="2"/>
              <a:buChar char="Ø"/>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Decision Support Systems (DSS)决策支持系统</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40000"/>
              </a:lnSpc>
              <a:buClr>
                <a:srgbClr val="FF3300"/>
              </a:buClr>
              <a:buFont typeface="Wingdings" panose="05000000000000000000" pitchFamily="2" charset="2"/>
              <a:buChar char="Ø"/>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Executive Support Systems (ESS)</a:t>
            </a: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经理支持系</a:t>
            </a:r>
            <a:r>
              <a:rPr lang="zh-CN"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统</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0" indent="457200">
              <a:lnSpc>
                <a:spcPct val="140000"/>
              </a:lnSpc>
              <a:buClr>
                <a:srgbClr val="FF3300"/>
              </a:buClr>
              <a:buFont typeface="Wingdings" panose="05000000000000000000" pitchFamily="2" charset="2"/>
              <a:buNone/>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Strategic</a:t>
            </a:r>
            <a:r>
              <a:rPr lang="zh-CN"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战略</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40000"/>
              </a:lnSpc>
              <a:buClr>
                <a:srgbClr val="FF3300"/>
              </a:buClr>
              <a:buFont typeface="Wingdings" panose="05000000000000000000" pitchFamily="2" charset="2"/>
              <a:buChar char="Ø"/>
            </a:pPr>
            <a:r>
              <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Enterprise Resource Planning (ERP)企业资源规划</a:t>
            </a:r>
            <a:endParaRPr sz="28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a:xfrm>
            <a:off x="467360" y="44133"/>
            <a:ext cx="8229600" cy="1143000"/>
          </a:xfrm>
        </p:spPr>
        <p:txBody>
          <a:bodyPr anchor="ctr" anchorCtr="0"/>
          <a:p>
            <a:pPr algn="l"/>
            <a:r>
              <a:rPr lang="zh-CN" altLang="en-US" sz="3200" b="1" dirty="0">
                <a:ea typeface="黑体" panose="02010609060101010101" pitchFamily="1" charset="-122"/>
              </a:rPr>
              <a:t>1. Transaction Procesing Systems (TPS)事务处理系统</a:t>
            </a:r>
            <a:endParaRPr lang="zh-CN" altLang="en-US" sz="3200" b="1" dirty="0">
              <a:ea typeface="黑体" panose="02010609060101010101"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6443980" y="4149090"/>
            <a:ext cx="2453640" cy="2354580"/>
          </a:xfrm>
          <a:prstGeom prst="rect">
            <a:avLst/>
          </a:prstGeom>
        </p:spPr>
      </p:pic>
      <p:sp>
        <p:nvSpPr>
          <p:cNvPr id="14339" name="文本框 14338"/>
          <p:cNvSpPr txBox="1"/>
          <p:nvPr/>
        </p:nvSpPr>
        <p:spPr>
          <a:xfrm>
            <a:off x="323533" y="1052195"/>
            <a:ext cx="8785225" cy="5741035"/>
          </a:xfrm>
          <a:prstGeom prst="rect">
            <a:avLst/>
          </a:prstGeom>
          <a:noFill/>
          <a:ln w="9525">
            <a:noFill/>
          </a:ln>
        </p:spPr>
        <p:txBody>
          <a:bodyPr wrap="square">
            <a:spAutoFit/>
          </a:bodyPr>
          <a:p>
            <a:pPr algn="just">
              <a:lnSpc>
                <a:spcPct val="170000"/>
              </a:lnSpc>
              <a:buClr>
                <a:srgbClr val="FF8029"/>
              </a:buClr>
              <a:buFont typeface="Wingdings" panose="05000000000000000000" pitchFamily="2" charset="2"/>
            </a:pPr>
            <a:r>
              <a:rPr lang="zh-CN" altLang="en-US" sz="2400" b="1" dirty="0">
                <a:latin typeface="微软雅黑" panose="020B0503020204020204" pitchFamily="2" charset="-122"/>
                <a:ea typeface="微软雅黑" panose="020B0503020204020204" pitchFamily="2" charset="-122"/>
                <a:cs typeface="微软雅黑" panose="020B0503020204020204" pitchFamily="2" charset="-122"/>
              </a:rPr>
              <a:t>事务处理系统</a:t>
            </a:r>
            <a:r>
              <a:rPr lang="zh-CN" altLang="en-US" sz="2400" dirty="0">
                <a:latin typeface="微软雅黑" panose="020B0503020204020204" pitchFamily="2" charset="-122"/>
                <a:ea typeface="微软雅黑" panose="020B0503020204020204" pitchFamily="2" charset="-122"/>
                <a:cs typeface="微软雅黑" panose="020B0503020204020204" pitchFamily="2" charset="-122"/>
              </a:rPr>
              <a:t>是计算机化的系统，用以执行和记录企业日常性的业务，如销售订单输入、旅馆预约、薪酬、雇员档案保存、运输等。</a:t>
            </a:r>
            <a:endParaRPr lang="zh-CN" altLang="en-US" sz="24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pitchFamily="2" charset="2"/>
            </a:pPr>
            <a:r>
              <a:rPr lang="zh-CN" altLang="en-US" sz="2400" dirty="0">
                <a:latin typeface="微软雅黑" panose="020B0503020204020204" pitchFamily="2" charset="-122"/>
                <a:ea typeface="微软雅黑" panose="020B0503020204020204" pitchFamily="2" charset="-122"/>
                <a:cs typeface="微软雅黑" panose="020B0503020204020204" pitchFamily="2" charset="-122"/>
              </a:rPr>
              <a:t>服务于</a:t>
            </a:r>
            <a:r>
              <a:rPr lang="zh-CN" altLang="en-US" sz="2400" dirty="0">
                <a:highlight>
                  <a:srgbClr val="FFFF00"/>
                </a:highlight>
                <a:latin typeface="微软雅黑" panose="020B0503020204020204" pitchFamily="2" charset="-122"/>
                <a:ea typeface="微软雅黑" panose="020B0503020204020204" pitchFamily="2" charset="-122"/>
                <a:cs typeface="微软雅黑" panose="020B0503020204020204" pitchFamily="2" charset="-122"/>
              </a:rPr>
              <a:t>基层管理</a:t>
            </a:r>
            <a:endParaRPr lang="zh-CN" altLang="en-US" sz="2400" dirty="0">
              <a:latin typeface="微软雅黑" panose="020B0503020204020204" pitchFamily="2" charset="-122"/>
              <a:ea typeface="微软雅黑" panose="020B0503020204020204" pitchFamily="2" charset="-122"/>
              <a:cs typeface="微软雅黑" panose="020B0503020204020204" pitchFamily="2" charset="-122"/>
            </a:endParaRPr>
          </a:p>
          <a:p>
            <a:pPr marL="342900" indent="-342900" algn="just">
              <a:lnSpc>
                <a:spcPct val="170000"/>
              </a:lnSpc>
              <a:buClr>
                <a:srgbClr val="FF8029"/>
              </a:buClr>
              <a:buFont typeface="Wingdings" panose="05000000000000000000" charset="0"/>
              <a:buChar char="Ø"/>
            </a:pPr>
            <a:r>
              <a:rPr lang="zh-CN" altLang="en-US" sz="2400" dirty="0">
                <a:latin typeface="微软雅黑" panose="020B0503020204020204" pitchFamily="2" charset="-122"/>
                <a:ea typeface="微软雅黑" panose="020B0503020204020204" pitchFamily="2" charset="-122"/>
                <a:cs typeface="微软雅黑" panose="020B0503020204020204" pitchFamily="2" charset="-122"/>
                <a:sym typeface="+mn-ea"/>
              </a:rPr>
              <a:t>Perform and record daily routine transactions necessary to conduct business</a:t>
            </a:r>
            <a:r>
              <a:rPr lang="en-US" altLang="zh-CN" sz="2400" dirty="0">
                <a:latin typeface="微软雅黑" panose="020B0503020204020204" pitchFamily="2" charset="-122"/>
                <a:ea typeface="微软雅黑" panose="020B0503020204020204" pitchFamily="2" charset="-122"/>
                <a:cs typeface="微软雅黑" panose="020B0503020204020204" pitchFamily="2" charset="-122"/>
                <a:sym typeface="+mn-ea"/>
              </a:rPr>
              <a:t> 执行和记录日常业务</a:t>
            </a:r>
            <a:endParaRPr lang="en-US" altLang="zh-CN" sz="2400" dirty="0">
              <a:latin typeface="微软雅黑" panose="020B0503020204020204" pitchFamily="2" charset="-122"/>
              <a:ea typeface="微软雅黑" panose="020B0503020204020204" pitchFamily="2" charset="-122"/>
              <a:cs typeface="微软雅黑" panose="020B0503020204020204" pitchFamily="2" charset="-122"/>
            </a:endParaRPr>
          </a:p>
          <a:p>
            <a:pPr marL="800100" lvl="1" indent="-342900" algn="just">
              <a:lnSpc>
                <a:spcPct val="170000"/>
              </a:lnSpc>
              <a:buClr>
                <a:srgbClr val="FF8029"/>
              </a:buClr>
              <a:buFont typeface="Wingdings" panose="05000000000000000000" charset="0"/>
              <a:buChar char="p"/>
            </a:pPr>
            <a:r>
              <a:rPr lang="zh-CN" altLang="en-US" sz="2400" dirty="0">
                <a:latin typeface="微软雅黑" panose="020B0503020204020204" pitchFamily="2" charset="-122"/>
                <a:ea typeface="微软雅黑" panose="020B0503020204020204" pitchFamily="2" charset="-122"/>
                <a:cs typeface="微软雅黑" panose="020B0503020204020204" pitchFamily="2" charset="-122"/>
                <a:sym typeface="+mn-ea"/>
              </a:rPr>
              <a:t>Examples: sales order entry, payroll, </a:t>
            </a:r>
            <a:endParaRPr lang="zh-CN" altLang="en-US" sz="24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lvl="1" algn="just">
              <a:lnSpc>
                <a:spcPct val="170000"/>
              </a:lnSpc>
              <a:buClr>
                <a:srgbClr val="FF8029"/>
              </a:buClr>
              <a:buFont typeface="Wingdings" panose="05000000000000000000" charset="0"/>
            </a:pPr>
            <a:r>
              <a:rPr lang="zh-CN" altLang="en-US" sz="2400" dirty="0">
                <a:latin typeface="微软雅黑" panose="020B0503020204020204" pitchFamily="2" charset="-122"/>
                <a:ea typeface="微软雅黑" panose="020B0503020204020204" pitchFamily="2" charset="-122"/>
                <a:cs typeface="微软雅黑" panose="020B0503020204020204" pitchFamily="2" charset="-122"/>
                <a:sym typeface="+mn-ea"/>
              </a:rPr>
              <a:t>shipping销售订单录入、工资单、发货</a:t>
            </a:r>
            <a:endParaRPr lang="zh-CN" altLang="en-US" sz="24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pitchFamily="2" charset="2"/>
            </a:pPr>
            <a:endParaRPr lang="zh-CN" altLang="en-US" sz="24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3" name="灯片编号占位符 2"/>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a:xfrm>
            <a:off x="467360" y="44133"/>
            <a:ext cx="8229600" cy="1143000"/>
          </a:xfrm>
        </p:spPr>
        <p:txBody>
          <a:bodyPr anchor="ctr" anchorCtr="0"/>
          <a:p>
            <a:pPr algn="l"/>
            <a:r>
              <a:rPr lang="zh-CN" altLang="en-US" sz="3200" b="1" dirty="0">
                <a:ea typeface="黑体" panose="02010609060101010101" pitchFamily="1" charset="-122"/>
              </a:rPr>
              <a:t>1. Transaction Procesing Systems (TPS)事务处理系统</a:t>
            </a:r>
            <a:endParaRPr lang="zh-CN" altLang="en-US" sz="3200" b="1" dirty="0">
              <a:ea typeface="黑体" panose="02010609060101010101" pitchFamily="1" charset="-122"/>
            </a:endParaRPr>
          </a:p>
        </p:txBody>
      </p:sp>
      <p:sp>
        <p:nvSpPr>
          <p:cNvPr id="14339" name="文本框 14338"/>
          <p:cNvSpPr txBox="1"/>
          <p:nvPr/>
        </p:nvSpPr>
        <p:spPr>
          <a:xfrm>
            <a:off x="323850" y="1052195"/>
            <a:ext cx="8442325" cy="5846445"/>
          </a:xfrm>
          <a:prstGeom prst="rect">
            <a:avLst/>
          </a:prstGeom>
          <a:noFill/>
          <a:ln w="9525">
            <a:noFill/>
          </a:ln>
        </p:spPr>
        <p:txBody>
          <a:bodyPr wrap="square">
            <a:spAutoFit/>
          </a:bodyPr>
          <a:p>
            <a:pPr marL="342900" indent="-342900" algn="just">
              <a:lnSpc>
                <a:spcPct val="170000"/>
              </a:lnSpc>
              <a:buClr>
                <a:srgbClr val="FF8029"/>
              </a:buClr>
              <a:buFont typeface="Wingdings" panose="05000000000000000000" charset="0"/>
              <a:buChar char="Ø"/>
            </a:pP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Allow managers to monitor status of operations and relations with external environment</a:t>
            </a:r>
            <a:r>
              <a:rPr lang="en-US" altLang="zh-CN" sz="2000" dirty="0">
                <a:latin typeface="微软雅黑" panose="020B0503020204020204" pitchFamily="2" charset="-122"/>
                <a:ea typeface="微软雅黑" panose="020B0503020204020204" pitchFamily="2" charset="-122"/>
                <a:cs typeface="微软雅黑" panose="020B0503020204020204" pitchFamily="2" charset="-122"/>
              </a:rPr>
              <a:t>  </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允许管理者监控企业内部的运营状态以及企业与外部环境的关系。事务处理系统也是其他系统和业务功能所需信息的主要产生者。</a:t>
            </a:r>
            <a:endParaRPr lang="zh-CN" altLang="en-US" sz="2000" dirty="0">
              <a:latin typeface="微软雅黑" panose="020B0503020204020204" pitchFamily="2" charset="-122"/>
              <a:ea typeface="微软雅黑" panose="020B0503020204020204" pitchFamily="2" charset="-122"/>
              <a:cs typeface="微软雅黑" panose="020B0503020204020204" pitchFamily="2" charset="-122"/>
            </a:endParaRPr>
          </a:p>
          <a:p>
            <a:pPr marL="800100" lvl="1" indent="-342900" algn="just">
              <a:lnSpc>
                <a:spcPct val="170000"/>
              </a:lnSpc>
              <a:buClr>
                <a:srgbClr val="FF8029"/>
              </a:buClr>
              <a:buFont typeface="Wingdings" panose="05000000000000000000" charset="0"/>
              <a:buChar char="Ø"/>
            </a:pP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Examples: analytics, customer feedback statistics</a:t>
            </a:r>
            <a:r>
              <a:rPr lang="en-US" altLang="zh-CN" sz="2000" dirty="0">
                <a:latin typeface="微软雅黑" panose="020B0503020204020204" pitchFamily="2" charset="-122"/>
                <a:ea typeface="微软雅黑" panose="020B0503020204020204" pitchFamily="2" charset="-122"/>
                <a:cs typeface="微软雅黑" panose="020B0503020204020204" pitchFamily="2" charset="-122"/>
              </a:rPr>
              <a:t>  </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分析，客户反馈统计</a:t>
            </a:r>
            <a:endParaRPr lang="zh-CN" altLang="en-US" sz="2000" dirty="0">
              <a:latin typeface="微软雅黑" panose="020B0503020204020204" pitchFamily="2" charset="-122"/>
              <a:ea typeface="微软雅黑" panose="020B0503020204020204" pitchFamily="2" charset="-122"/>
              <a:cs typeface="微软雅黑" panose="020B0503020204020204" pitchFamily="2" charset="-122"/>
            </a:endParaRPr>
          </a:p>
          <a:p>
            <a:pPr marL="342900" indent="-342900" algn="just">
              <a:lnSpc>
                <a:spcPct val="170000"/>
              </a:lnSpc>
              <a:buClr>
                <a:srgbClr val="FF8029"/>
              </a:buClr>
              <a:buFont typeface="Wingdings" panose="05000000000000000000" charset="0"/>
              <a:buChar char="Ø"/>
            </a:pP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Aide operational managers and staff meet predefined, structured goals and decision making</a:t>
            </a:r>
            <a:r>
              <a:rPr lang="en-US" altLang="zh-CN" sz="2000" dirty="0">
                <a:latin typeface="微软雅黑" panose="020B0503020204020204" pitchFamily="2" charset="-122"/>
                <a:ea typeface="微软雅黑" panose="020B0503020204020204" pitchFamily="2" charset="-122"/>
                <a:cs typeface="微软雅黑" panose="020B0503020204020204" pitchFamily="2" charset="-122"/>
              </a:rPr>
              <a:t>  </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协助业务经理和工作人员实现预定的、结构化的目标和决策</a:t>
            </a:r>
            <a:endParaRPr lang="zh-CN" altLang="en-US" sz="2000" dirty="0">
              <a:latin typeface="微软雅黑" panose="020B0503020204020204" pitchFamily="2" charset="-122"/>
              <a:ea typeface="微软雅黑" panose="020B0503020204020204" pitchFamily="2" charset="-122"/>
              <a:cs typeface="微软雅黑" panose="020B0503020204020204" pitchFamily="2" charset="-122"/>
            </a:endParaRPr>
          </a:p>
          <a:p>
            <a:pPr marL="800100" lvl="1" indent="-342900" algn="just">
              <a:lnSpc>
                <a:spcPct val="170000"/>
              </a:lnSpc>
              <a:buClr>
                <a:srgbClr val="FF8029"/>
              </a:buClr>
              <a:buFont typeface="Wingdings" panose="05000000000000000000" charset="0"/>
              <a:buChar char="Ø"/>
            </a:pP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Examples: historical trends, competition reports</a:t>
            </a:r>
            <a:r>
              <a:rPr lang="en-US" altLang="zh-CN" sz="2000" dirty="0">
                <a:latin typeface="微软雅黑" panose="020B0503020204020204" pitchFamily="2" charset="-122"/>
                <a:ea typeface="微软雅黑" panose="020B0503020204020204" pitchFamily="2" charset="-122"/>
                <a:cs typeface="微软雅黑" panose="020B0503020204020204" pitchFamily="2" charset="-122"/>
              </a:rPr>
              <a:t>  </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历史趋势、竞争报告</a:t>
            </a:r>
            <a:endParaRPr lang="zh-CN" altLang="en-US" sz="20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a:xfrm>
            <a:off x="683260" y="260350"/>
            <a:ext cx="7513955" cy="1143000"/>
          </a:xfrm>
        </p:spPr>
        <p:txBody>
          <a:bodyPr anchor="ctr" anchorCtr="0"/>
          <a:p>
            <a:pPr algn="l"/>
            <a:r>
              <a:rPr lang="zh-CN" altLang="en-US" sz="4000" b="1" dirty="0">
                <a:ea typeface="黑体" panose="02010609060101010101" pitchFamily="1" charset="-122"/>
              </a:rPr>
              <a:t>图</a:t>
            </a:r>
            <a:r>
              <a:rPr lang="en-US" altLang="zh-CN" sz="4000" b="1" dirty="0">
                <a:ea typeface="黑体" panose="02010609060101010101" pitchFamily="1" charset="-122"/>
              </a:rPr>
              <a:t>2-2  </a:t>
            </a:r>
            <a:r>
              <a:rPr lang="zh-CN" altLang="en-US" sz="4000" b="1" dirty="0">
                <a:ea typeface="黑体" panose="02010609060101010101" pitchFamily="1" charset="-122"/>
              </a:rPr>
              <a:t>薪酬事务处理系统</a:t>
            </a:r>
            <a:endParaRPr lang="zh-CN" altLang="en-US" sz="4000" b="1" dirty="0">
              <a:ea typeface="黑体" panose="02010609060101010101" pitchFamily="1" charset="-122"/>
            </a:endParaRPr>
          </a:p>
        </p:txBody>
      </p:sp>
      <p:sp>
        <p:nvSpPr>
          <p:cNvPr id="16" name="文本框 15"/>
          <p:cNvSpPr txBox="1"/>
          <p:nvPr/>
        </p:nvSpPr>
        <p:spPr>
          <a:xfrm>
            <a:off x="379095" y="5454650"/>
            <a:ext cx="8453755" cy="1419860"/>
          </a:xfrm>
          <a:prstGeom prst="rect">
            <a:avLst/>
          </a:prstGeom>
          <a:noFill/>
        </p:spPr>
        <p:txBody>
          <a:bodyPr wrap="square" rtlCol="0">
            <a:spAutoFit/>
          </a:bodyPr>
          <a:p>
            <a:pPr algn="l">
              <a:lnSpc>
                <a:spcPct val="120000"/>
              </a:lnSpc>
            </a:pPr>
            <a:r>
              <a:rPr lang="zh-CN" altLang="en-US" sz="1800">
                <a:latin typeface="微软雅黑" panose="020B0503020204020204" pitchFamily="2" charset="-122"/>
                <a:ea typeface="微软雅黑" panose="020B0503020204020204" pitchFamily="2" charset="-122"/>
              </a:rPr>
              <a:t>如图2-2的系统和公司其他会计事务处理系统一起为公司的财务总账系统提供数据，记录公司的收入和费用，并产生收益表与资产负债表等财务报告。薪酬系统也为公司人力资源部门计算员工保险、退休金以及其他福利提供员工薪酬历史数据，为政府部门如美国国税局和社会保障局提供雇员薪酬数据。</a:t>
            </a:r>
            <a:endParaRPr lang="zh-CN" altLang="en-US" sz="1800">
              <a:latin typeface="微软雅黑" panose="020B0503020204020204" pitchFamily="2" charset="-122"/>
              <a:ea typeface="微软雅黑" panose="020B0503020204020204" pitchFamily="2" charset="-122"/>
            </a:endParaRPr>
          </a:p>
        </p:txBody>
      </p:sp>
      <p:sp>
        <p:nvSpPr>
          <p:cNvPr id="3" name="灯片编号占位符 2"/>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1"/>
          <a:stretch>
            <a:fillRect/>
          </a:stretch>
        </p:blipFill>
        <p:spPr>
          <a:xfrm>
            <a:off x="1691640" y="1125220"/>
            <a:ext cx="5666105" cy="4394835"/>
          </a:xfrm>
          <a:prstGeom prst="rect">
            <a:avLst/>
          </a:prstGeom>
        </p:spPr>
      </p:pic>
    </p:spTree>
  </p:cSld>
  <p:clrMapOvr>
    <a:masterClrMapping/>
  </p:clrMapOvr>
  <p:transition advTm="265"/>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2. Management Information Systems (MIS)</a:t>
            </a:r>
            <a:br>
              <a:rPr sz="3200" b="1" dirty="0">
                <a:ea typeface="黑体" panose="02010609060101010101" pitchFamily="1" charset="-122"/>
              </a:rPr>
            </a:br>
            <a:r>
              <a:rPr lang="zh-CN" sz="3200" b="1" dirty="0">
                <a:ea typeface="黑体" panose="02010609060101010101" pitchFamily="1" charset="-122"/>
              </a:rPr>
              <a:t>管理信息系统</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68630" y="1268730"/>
            <a:ext cx="8586470" cy="913765"/>
          </a:xfrm>
        </p:spPr>
        <p:txBody>
          <a:bodyPr/>
          <a:p>
            <a:pPr>
              <a:lnSpc>
                <a:spcPct val="13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Serve middle management服务于中层管理</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pic>
        <p:nvPicPr>
          <p:cNvPr id="2" name="图片 1"/>
          <p:cNvPicPr>
            <a:picLocks noChangeAspect="1"/>
          </p:cNvPicPr>
          <p:nvPr>
            <p:custDataLst>
              <p:tags r:id="rId1"/>
            </p:custDataLst>
          </p:nvPr>
        </p:nvPicPr>
        <p:blipFill>
          <a:blip r:embed="rId2"/>
          <a:stretch>
            <a:fillRect/>
          </a:stretch>
        </p:blipFill>
        <p:spPr>
          <a:xfrm>
            <a:off x="5507990" y="2060575"/>
            <a:ext cx="3670935" cy="3244215"/>
          </a:xfrm>
          <a:prstGeom prst="rect">
            <a:avLst/>
          </a:prstGeom>
        </p:spPr>
      </p:pic>
      <p:sp>
        <p:nvSpPr>
          <p:cNvPr id="3" name="文本框 2"/>
          <p:cNvSpPr txBox="1"/>
          <p:nvPr/>
        </p:nvSpPr>
        <p:spPr>
          <a:xfrm>
            <a:off x="539115" y="1916430"/>
            <a:ext cx="5484495" cy="5560060"/>
          </a:xfrm>
          <a:prstGeom prst="rect">
            <a:avLst/>
          </a:prstGeom>
          <a:noFill/>
        </p:spPr>
        <p:txBody>
          <a:bodyPr wrap="square" rtlCol="0">
            <a:spAutoFit/>
          </a:bodyPr>
          <a:p>
            <a:pPr algn="l">
              <a:lnSpc>
                <a:spcPct val="130000"/>
              </a:lnSpc>
              <a:buClr>
                <a:srgbClr val="FF3300"/>
              </a:buClr>
              <a:buFont typeface="Wingdings" panose="05000000000000000000" pitchFamily="2" charset="2"/>
              <a:buChar char="Ø"/>
            </a:pPr>
            <a:r>
              <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Provide reports on firm’s current performance, based on data from transactional systems (TPS)</a:t>
            </a:r>
            <a:endPar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根据事务处理系统的数据，提供关于公司当前运行情况的报告，中层管理人员使用这些信息监督和控制业务，并预测未来绩效</a:t>
            </a:r>
            <a:endPar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endPar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endParaRPr lang="zh-CN" altLang="en-US"/>
          </a:p>
        </p:txBody>
      </p:sp>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2. Management Information Systems (MIS)</a:t>
            </a:r>
            <a:br>
              <a:rPr sz="3200" b="1" dirty="0">
                <a:ea typeface="黑体" panose="02010609060101010101" pitchFamily="1" charset="-122"/>
              </a:rPr>
            </a:br>
            <a:r>
              <a:rPr lang="zh-CN" sz="3200" b="1" dirty="0">
                <a:ea typeface="黑体" panose="02010609060101010101" pitchFamily="1" charset="-122"/>
              </a:rPr>
              <a:t>管理信息系统</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Provide answers to routine questions with</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predefined procedure for answering them</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Provide reports on firm’s current performance, based on data from transactional systems Provide reports on firm’s current performance, based on data from transactional systems (TPS)</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IS通常回答的是常规性问题，这些问题都是预先设定的，并有一套预先确定的程序进行解答。例，一份MIS报告可能会列出本季度在一个快餐连锁店中使用的生菜磅数，或图2-4所示某产品的计划销售数据与实际销售数据的对比。</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2. Management Information Systems (MIS)</a:t>
            </a:r>
            <a:br>
              <a:rPr sz="3200" b="1" dirty="0">
                <a:ea typeface="黑体" panose="02010609060101010101" pitchFamily="1" charset="-122"/>
              </a:rPr>
            </a:br>
            <a:r>
              <a:rPr lang="zh-CN" sz="3200" b="1" dirty="0">
                <a:ea typeface="黑体" panose="02010609060101010101" pitchFamily="1" charset="-122"/>
              </a:rPr>
              <a:t>管理信息系统</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229600" cy="5069840"/>
          </a:xfrm>
        </p:spPr>
        <p:txBody>
          <a:bodyPr/>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Typically have minor analytic capability</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不具有柔性，分析能力较弱。大多数MIS系统使用的是汇总和对比这种简单的处理程序，而不是复杂的数学模型或统计技术。</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Sports Movie about making decisions by statistics instead of gut feel/experience: MoneyBall with Kevin Costner</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关于用统计数据而不是凭直觉或经验来做决定的体育电影:凯文·科斯特纳的《点球成金》</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a:xfrm>
            <a:off x="395605" y="116205"/>
            <a:ext cx="7818120" cy="850265"/>
          </a:xfrm>
        </p:spPr>
        <p:txBody>
          <a:bodyPr anchor="ctr" anchorCtr="0"/>
          <a:p>
            <a:pPr algn="ctr"/>
            <a:r>
              <a:rPr lang="zh-CN" altLang="en-US" sz="3200" b="1" dirty="0">
                <a:ea typeface="黑体" panose="02010609060101010101" pitchFamily="1" charset="-122"/>
              </a:rPr>
              <a:t>图</a:t>
            </a:r>
            <a:r>
              <a:rPr sz="3200" b="1" dirty="0">
                <a:ea typeface="黑体" panose="02010609060101010101" pitchFamily="1" charset="-122"/>
              </a:rPr>
              <a:t>2-3 MIS如何通过组织中的TPS获取数据</a:t>
            </a:r>
            <a:endParaRPr sz="3200" b="1" dirty="0">
              <a:ea typeface="黑体" panose="02010609060101010101" pitchFamily="1" charset="-122"/>
            </a:endParaRPr>
          </a:p>
        </p:txBody>
      </p:sp>
      <p:sp>
        <p:nvSpPr>
          <p:cNvPr id="3" name="灯片编号占位符 2"/>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1"/>
          <a:stretch>
            <a:fillRect/>
          </a:stretch>
        </p:blipFill>
        <p:spPr>
          <a:xfrm>
            <a:off x="631825" y="1125220"/>
            <a:ext cx="7931785" cy="4695825"/>
          </a:xfrm>
          <a:prstGeom prst="rect">
            <a:avLst/>
          </a:prstGeom>
        </p:spPr>
      </p:pic>
    </p:spTree>
  </p:cSld>
  <p:clrMapOvr>
    <a:masterClrMapping/>
  </p:clrMapOvr>
  <p:transition advTm="265"/>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a:xfrm>
            <a:off x="395605" y="116205"/>
            <a:ext cx="7818120" cy="850265"/>
          </a:xfrm>
        </p:spPr>
        <p:txBody>
          <a:bodyPr anchor="ctr" anchorCtr="0"/>
          <a:p>
            <a:pPr algn="ctr"/>
            <a:r>
              <a:rPr lang="zh-CN" altLang="en-US" sz="3200" b="1" dirty="0">
                <a:ea typeface="黑体" panose="02010609060101010101" pitchFamily="1" charset="-122"/>
              </a:rPr>
              <a:t>图</a:t>
            </a:r>
            <a:r>
              <a:rPr sz="3200" b="1" dirty="0">
                <a:ea typeface="黑体" panose="02010609060101010101" pitchFamily="1" charset="-122"/>
              </a:rPr>
              <a:t>2-4 MIS报告样本</a:t>
            </a:r>
            <a:endParaRPr sz="3200" b="1" dirty="0">
              <a:ea typeface="黑体" panose="02010609060101010101" pitchFamily="1" charset="-122"/>
            </a:endParaRPr>
          </a:p>
        </p:txBody>
      </p:sp>
      <p:sp>
        <p:nvSpPr>
          <p:cNvPr id="3" name="灯片编号占位符 2"/>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1"/>
          <a:stretch>
            <a:fillRect/>
          </a:stretch>
        </p:blipFill>
        <p:spPr>
          <a:xfrm>
            <a:off x="612140" y="966470"/>
            <a:ext cx="7948930" cy="4697730"/>
          </a:xfrm>
          <a:prstGeom prst="rect">
            <a:avLst/>
          </a:prstGeom>
        </p:spPr>
      </p:pic>
    </p:spTree>
  </p:cSld>
  <p:clrMapOvr>
    <a:masterClrMapping/>
  </p:clrMapOvr>
  <p:transition advTm="265"/>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3. Decision Support Systems (DSS)</a:t>
            </a:r>
            <a:br>
              <a:rPr sz="3200" b="1" dirty="0">
                <a:ea typeface="黑体" panose="02010609060101010101" pitchFamily="1" charset="-122"/>
              </a:rPr>
            </a:br>
            <a:r>
              <a:rPr lang="zh-CN" sz="3200" b="1" dirty="0">
                <a:ea typeface="黑体" panose="02010609060101010101" pitchFamily="1" charset="-122"/>
              </a:rPr>
              <a:t>决策支持系统</a:t>
            </a:r>
            <a:endParaRPr lang="zh-CN" sz="3200" b="1" dirty="0">
              <a:ea typeface="黑体" panose="02010609060101010101"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6299835" y="4102100"/>
            <a:ext cx="2823845" cy="2755900"/>
          </a:xfrm>
          <a:prstGeom prst="rect">
            <a:avLst/>
          </a:prstGeom>
        </p:spPr>
      </p:pic>
      <p:sp>
        <p:nvSpPr>
          <p:cNvPr id="8195" name="文本占位符 8194"/>
          <p:cNvSpPr>
            <a:spLocks noGrp="1"/>
          </p:cNvSpPr>
          <p:nvPr>
            <p:ph type="body" idx="1"/>
          </p:nvPr>
        </p:nvSpPr>
        <p:spPr>
          <a:xfrm>
            <a:off x="395605" y="1437640"/>
            <a:ext cx="8229600" cy="5069840"/>
          </a:xfrm>
        </p:spPr>
        <p:txBody>
          <a:bodyPr/>
          <a:p>
            <a:pPr algn="l">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决策支持系统关注那些独特且快速变化的问题，这些问题的解答步骤不可能完全被事先明确。</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Serve middle management</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服务于中层管理</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Support nonroutine decision making</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支持非常规决策</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What is the impact on production schedule if December sales doubled?</a:t>
            </a: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如果12月销量翻倍，对生产进度有什么影响?</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May use external information as well </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3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as TPS/MIS data</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可以使用外部信息以</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3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及TPS/MIS数据</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灯片编号占位符 2"/>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3. Decision Support Systems (DSS)</a:t>
            </a:r>
            <a:br>
              <a:rPr sz="3200" b="1" dirty="0">
                <a:ea typeface="黑体" panose="02010609060101010101" pitchFamily="1" charset="-122"/>
              </a:rPr>
            </a:br>
            <a:r>
              <a:rPr lang="zh-CN" sz="3200" b="1" dirty="0">
                <a:ea typeface="黑体" panose="02010609060101010101" pitchFamily="1" charset="-122"/>
              </a:rPr>
              <a:t>决策支持系统</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229600" cy="5069840"/>
          </a:xfrm>
        </p:spPr>
        <p:txBody>
          <a:bodyPr/>
          <a:p>
            <a:pPr algn="l">
              <a:lnSpc>
                <a:spcPct val="13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Model driven DSS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模型驱动的DSS</a:t>
            </a:r>
            <a:endPar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Airport Tower Systems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机场塔台系统</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eg: what gate should a plane land at? </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例如:飞机应该在哪个登机口降落?</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Tanker Shipping Systems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油轮运输系统</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eg: how much fuel is needed dependent on  Shipping weight and port location? </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例如:根据装运重量和港口位置，需要多少燃料?</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如图2-5</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图2-5 航运估算决策支持系统</a:t>
            </a:r>
            <a:endParaRPr sz="3200" b="1" dirty="0">
              <a:ea typeface="黑体" panose="02010609060101010101" pitchFamily="1" charset="-122"/>
            </a:endParaRPr>
          </a:p>
        </p:txBody>
      </p:sp>
      <p:sp>
        <p:nvSpPr>
          <p:cNvPr id="3" name="文本框 2"/>
          <p:cNvSpPr txBox="1"/>
          <p:nvPr/>
        </p:nvSpPr>
        <p:spPr>
          <a:xfrm>
            <a:off x="349250" y="5516880"/>
            <a:ext cx="8299450" cy="1322070"/>
          </a:xfrm>
          <a:prstGeom prst="rect">
            <a:avLst/>
          </a:prstGeom>
          <a:noFill/>
        </p:spPr>
        <p:txBody>
          <a:bodyPr wrap="square" rtlCol="0">
            <a:spAutoFit/>
          </a:bodyPr>
          <a:p>
            <a:pPr marL="342900" indent="-342900" algn="l">
              <a:buFont typeface="Arial" panose="020B0604020202020204" pitchFamily="34" charset="0"/>
              <a:buChar char="•"/>
            </a:pPr>
            <a:r>
              <a:rPr lang="zh-CN" altLang="en-US" sz="2000"/>
              <a:t>财务方面的运输/时间成本（燃料、人工、资金）、各类货物的运价/运费率以及港口费用等。</a:t>
            </a:r>
            <a:endParaRPr lang="zh-CN" altLang="en-US" sz="2000"/>
          </a:p>
          <a:p>
            <a:pPr marL="342900" indent="-342900" algn="l">
              <a:buFont typeface="Arial" panose="020B0604020202020204" pitchFamily="34" charset="0"/>
              <a:buChar char="•"/>
            </a:pPr>
            <a:r>
              <a:rPr lang="zh-CN" altLang="en-US" sz="2000"/>
              <a:t>技术方面的船舶运载能力、航速、港口距离、燃料和淡水消耗量以及货物装载模式（不同港口的货物装载次序）等。</a:t>
            </a:r>
            <a:endParaRPr lang="zh-CN" altLang="en-US" sz="2000"/>
          </a:p>
        </p:txBody>
      </p:sp>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nvPicPr>
        <p:blipFill>
          <a:blip r:embed="rId1"/>
          <a:stretch>
            <a:fillRect/>
          </a:stretch>
        </p:blipFill>
        <p:spPr>
          <a:xfrm>
            <a:off x="755650" y="1301115"/>
            <a:ext cx="7487285" cy="4072255"/>
          </a:xfrm>
          <a:prstGeom prst="rect">
            <a:avLst/>
          </a:prstGeom>
        </p:spPr>
      </p:pic>
    </p:spTree>
  </p:cSld>
  <p:clrMapOvr>
    <a:masterClrMapping/>
  </p:clrMapOvr>
  <p:transition advTm="26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3. Decision Support Systems (DSS)</a:t>
            </a:r>
            <a:br>
              <a:rPr sz="3200" b="1" dirty="0">
                <a:ea typeface="黑体" panose="02010609060101010101" pitchFamily="1" charset="-122"/>
              </a:rPr>
            </a:br>
            <a:r>
              <a:rPr lang="zh-CN" sz="3200" b="1" dirty="0">
                <a:ea typeface="黑体" panose="02010609060101010101" pitchFamily="1" charset="-122"/>
              </a:rPr>
              <a:t>决策支持系统</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229600" cy="5069840"/>
          </a:xfrm>
        </p:spPr>
        <p:txBody>
          <a:bodyPr/>
          <a:p>
            <a:pPr algn="l">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Data driven DSS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数据驱动的DSS</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Marketing Analysis Systems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市场分析系统</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eg: should a new sales region be explored?</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例如:是否应该开拓新的销售区域?</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北美大型滑雪度假村公司（如Intrawest和Vail），从呼叫中心、住宿餐饮预定系统、滑雪学校及滑雪装备租赁店收集并存储了大量的客户信息。他们使用特殊的软件分析这些数据，确定每个客户的价值、回报潜力和忠诚度，以帮助管理者做出更合理的决策。</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6383655" y="4091305"/>
            <a:ext cx="2722245" cy="2696845"/>
          </a:xfrm>
          <a:prstGeom prst="rect">
            <a:avLst/>
          </a:prstGeom>
        </p:spPr>
      </p:pic>
      <p:sp>
        <p:nvSpPr>
          <p:cNvPr id="8194" name="标题 8193"/>
          <p:cNvSpPr>
            <a:spLocks noGrp="1"/>
          </p:cNvSpPr>
          <p:nvPr>
            <p:ph type="title"/>
          </p:nvPr>
        </p:nvSpPr>
        <p:spPr>
          <a:xfrm>
            <a:off x="468313" y="260350"/>
            <a:ext cx="8229600" cy="1143000"/>
          </a:xfrm>
        </p:spPr>
        <p:txBody>
          <a:bodyPr anchor="ctr"/>
          <a:p>
            <a:pPr algn="l"/>
            <a:r>
              <a:rPr lang="en-US" sz="3200" b="1" dirty="0">
                <a:ea typeface="黑体" panose="02010609060101010101" pitchFamily="1" charset="-122"/>
              </a:rPr>
              <a:t>4</a:t>
            </a:r>
            <a:r>
              <a:rPr sz="3200" b="1" dirty="0">
                <a:ea typeface="黑体" panose="02010609060101010101" pitchFamily="1" charset="-122"/>
              </a:rPr>
              <a:t>. Executive Support Systems (ESS)</a:t>
            </a:r>
            <a:br>
              <a:rPr sz="3200" b="1" dirty="0">
                <a:ea typeface="黑体" panose="02010609060101010101" pitchFamily="1" charset="-122"/>
              </a:rPr>
            </a:br>
            <a:r>
              <a:rPr lang="zh-CN" sz="3200" b="1" dirty="0">
                <a:ea typeface="黑体" panose="02010609060101010101" pitchFamily="1" charset="-122"/>
              </a:rPr>
              <a:t>经理支持系统</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229600" cy="5069840"/>
          </a:xfrm>
        </p:spPr>
        <p:txBody>
          <a:bodyPr/>
          <a:p>
            <a:pPr algn="l">
              <a:lnSpc>
                <a:spcPct val="17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经理支持系统可以帮助高层管理者做战略决策。ESS专注于需要判断、评估和洞察力的非常规性决策，为高层管理者提供容易使用的界面以呈现来自多个源头的数据和图形。</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7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Support senior management</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服务于</a:t>
            </a:r>
            <a:r>
              <a:rPr lang="en-US" sz="2400" dirty="0">
                <a:highlight>
                  <a:srgbClr val="FFFF00"/>
                </a:highlight>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高级管理层</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7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Address non-routine decisions 应对非常规决策</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70000"/>
              </a:lnSpc>
              <a:buClr>
                <a:srgbClr val="FF3300"/>
              </a:buClr>
              <a:buFont typeface="Wingdings" panose="05000000000000000000" charset="0"/>
              <a:buChar char="p"/>
            </a:pP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Requiring judgment, evaluation, </a:t>
            </a:r>
            <a:endPar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70000"/>
              </a:lnSpc>
              <a:buClr>
                <a:srgbClr val="FF3300"/>
              </a:buClr>
              <a:buFont typeface="Wingdings" panose="05000000000000000000" charset="0"/>
              <a:buNone/>
            </a:pP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and insight - STRATEGY </a:t>
            </a:r>
            <a:endPar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70000"/>
              </a:lnSpc>
              <a:buClr>
                <a:srgbClr val="FF3300"/>
              </a:buClr>
              <a:buFont typeface="Wingdings" panose="05000000000000000000" charset="0"/>
              <a:buNone/>
            </a:pP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需要判断、评估和洞察力-非程序化决策</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灯片编号占位符 2"/>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lang="en-US" sz="3200" b="1" dirty="0">
                <a:ea typeface="黑体" panose="02010609060101010101" pitchFamily="1" charset="-122"/>
              </a:rPr>
              <a:t>4</a:t>
            </a:r>
            <a:r>
              <a:rPr sz="3200" b="1" dirty="0">
                <a:ea typeface="黑体" panose="02010609060101010101" pitchFamily="1" charset="-122"/>
              </a:rPr>
              <a:t>. Executive Support Systems (ESS)</a:t>
            </a:r>
            <a:br>
              <a:rPr sz="3200" b="1" dirty="0">
                <a:ea typeface="黑体" panose="02010609060101010101" pitchFamily="1" charset="-122"/>
              </a:rPr>
            </a:br>
            <a:r>
              <a:rPr lang="zh-CN" sz="3200" b="1" dirty="0">
                <a:ea typeface="黑体" panose="02010609060101010101" pitchFamily="1" charset="-122"/>
              </a:rPr>
              <a:t>经理支持系统</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229600" cy="5069840"/>
          </a:xfrm>
        </p:spPr>
        <p:txBody>
          <a:bodyPr/>
          <a:p>
            <a:pPr algn="l">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Incorporate data about external events (e.g., new tax laws or competitors) as well as summarized information from internal MIS and DSS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综合了来自企业外部的数据（如新的税法或有关竞争对手的信息），同时将来自企业内部的MIS和DSS中的信息汇总</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Digital dashboard with real-time view of firm’s financial performance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例:数字仪表板，可实时查看公司的财务业绩</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lang="en-US" sz="3200" b="1" dirty="0">
                <a:ea typeface="黑体" panose="02010609060101010101" pitchFamily="1" charset="-122"/>
              </a:rPr>
              <a:t>5</a:t>
            </a:r>
            <a:r>
              <a:rPr sz="3200" b="1" dirty="0">
                <a:ea typeface="黑体" panose="02010609060101010101" pitchFamily="1" charset="-122"/>
              </a:rPr>
              <a:t>.  Enterprise Resource Planning (ERP)</a:t>
            </a:r>
            <a:br>
              <a:rPr sz="3200" b="1" dirty="0">
                <a:ea typeface="黑体" panose="02010609060101010101" pitchFamily="1" charset="-122"/>
              </a:rPr>
            </a:br>
            <a:r>
              <a:rPr sz="3200" b="1" dirty="0">
                <a:ea typeface="黑体" panose="02010609060101010101" pitchFamily="1" charset="-122"/>
              </a:rPr>
              <a:t>企业资源规划</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229600" cy="5215890"/>
          </a:xfrm>
        </p:spPr>
        <p:txBody>
          <a:bodyPr/>
          <a:p>
            <a:pPr algn="l">
              <a:lnSpc>
                <a:spcPct val="140000"/>
              </a:lnSpc>
              <a:buClr>
                <a:srgbClr val="FF3300"/>
              </a:buClr>
              <a:buFont typeface="Wingdings" panose="05000000000000000000" pitchFamily="2" charset="2"/>
              <a:buChar char="Ø"/>
            </a:pPr>
            <a:r>
              <a:rPr sz="24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企业资源规划系统</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，通过实施企业系统，将制造和生产、财务和会计、销售和市场、人力资源等职能领域的业务流程整合到一个统一的软件系统中。</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Systems for linking all areas of the corporation</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连接公司所有部门的系统</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Benefits all areas of management</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4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服务于所有管理层级</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Spans all functional areas</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4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跨越所有职能领域</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pic>
        <p:nvPicPr>
          <p:cNvPr id="3" name="图片 2"/>
          <p:cNvPicPr>
            <a:picLocks noChangeAspect="1"/>
          </p:cNvPicPr>
          <p:nvPr>
            <p:custDataLst>
              <p:tags r:id="rId1"/>
            </p:custDataLst>
          </p:nvPr>
        </p:nvPicPr>
        <p:blipFill>
          <a:blip r:embed="rId2"/>
          <a:stretch>
            <a:fillRect/>
          </a:stretch>
        </p:blipFill>
        <p:spPr>
          <a:xfrm>
            <a:off x="6293485" y="3731895"/>
            <a:ext cx="2850515" cy="3126105"/>
          </a:xfrm>
          <a:prstGeom prst="rect">
            <a:avLst/>
          </a:prstGeom>
        </p:spPr>
      </p:pic>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lang="en-US" sz="3200" b="1" dirty="0">
                <a:ea typeface="黑体" panose="02010609060101010101" pitchFamily="1" charset="-122"/>
              </a:rPr>
              <a:t>5</a:t>
            </a:r>
            <a:r>
              <a:rPr sz="3200" b="1" dirty="0">
                <a:ea typeface="黑体" panose="02010609060101010101" pitchFamily="1" charset="-122"/>
              </a:rPr>
              <a:t>.  Enterprise Resource Planning (ERP)</a:t>
            </a:r>
            <a:br>
              <a:rPr sz="3200" b="1" dirty="0">
                <a:ea typeface="黑体" panose="02010609060101010101" pitchFamily="1" charset="-122"/>
              </a:rPr>
            </a:br>
            <a:r>
              <a:rPr sz="3200" b="1" dirty="0">
                <a:ea typeface="黑体" panose="02010609060101010101" pitchFamily="1" charset="-122"/>
              </a:rPr>
              <a:t>企业资源规划</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229600" cy="5161915"/>
          </a:xfrm>
        </p:spPr>
        <p:txBody>
          <a:bodyPr/>
          <a:p>
            <a:pPr algn="l">
              <a:lnSpc>
                <a:spcPct val="14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Integrate processes across the firm</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整合整个公司的流程</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Integrate data from key business processes into single system</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将关键业务流程的数据集成到单个系统中</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Speed communication of information throughout firm</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在公司内部快速沟通信息</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Enable greater flexibility in responding to customer requests, greater accuracy in order fulfillment</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能够更灵活地响应客户要求，更准确地完成订单</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Enable managers to assemble overall view of operations</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使经理能够整合整体的运营视图</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图2-6 企业资源规划的架构</a:t>
            </a:r>
            <a:endParaRPr sz="3200" b="1" dirty="0">
              <a:ea typeface="黑体" panose="02010609060101010101" pitchFamily="1" charset="-122"/>
            </a:endParaRPr>
          </a:p>
        </p:txBody>
      </p:sp>
      <p:sp>
        <p:nvSpPr>
          <p:cNvPr id="3" name="文本框 2"/>
          <p:cNvSpPr txBox="1"/>
          <p:nvPr/>
        </p:nvSpPr>
        <p:spPr>
          <a:xfrm>
            <a:off x="1236345" y="5805170"/>
            <a:ext cx="6915150" cy="706755"/>
          </a:xfrm>
          <a:prstGeom prst="rect">
            <a:avLst/>
          </a:prstGeom>
          <a:noFill/>
        </p:spPr>
        <p:txBody>
          <a:bodyPr wrap="square" rtlCol="0">
            <a:spAutoFit/>
          </a:bodyPr>
          <a:p>
            <a:pPr algn="l">
              <a:buFont typeface="Arial" panose="020B0604020202020204" pitchFamily="34" charset="0"/>
            </a:pPr>
            <a:r>
              <a:rPr lang="zh-CN" altLang="en-US" sz="2000"/>
              <a:t>企业应用系统将横跨业务职能领域，纵穿组织层级甚至扩展至组织外部的业务流程自动化。</a:t>
            </a:r>
            <a:endParaRPr lang="zh-CN" altLang="en-US" sz="2000"/>
          </a:p>
        </p:txBody>
      </p:sp>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nvPicPr>
        <p:blipFill>
          <a:blip r:embed="rId1"/>
          <a:stretch>
            <a:fillRect/>
          </a:stretch>
        </p:blipFill>
        <p:spPr>
          <a:xfrm>
            <a:off x="928370" y="1196975"/>
            <a:ext cx="6837680" cy="4522470"/>
          </a:xfrm>
          <a:prstGeom prst="rect">
            <a:avLst/>
          </a:prstGeom>
        </p:spPr>
      </p:pic>
    </p:spTree>
  </p:cSld>
  <p:clrMapOvr>
    <a:masterClrMapping/>
  </p:clrMapOvr>
  <p:transition advTm="265"/>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Custom ERP Systems</a:t>
            </a:r>
            <a:r>
              <a:rPr lang="en-US" sz="3200" b="1" dirty="0">
                <a:ea typeface="黑体" panose="02010609060101010101" pitchFamily="1" charset="-122"/>
              </a:rPr>
              <a:t> 定制ERP系统</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229600" cy="5161915"/>
          </a:xfrm>
        </p:spPr>
        <p:txBody>
          <a:bodyPr/>
          <a:p>
            <a:pPr algn="l">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many companies have custom systems build by vendors or internal IT staff.  These systems have many pitfalls yet there are good reasons why companies take a long time to purchase "off shelf" systems.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许多公司都有由供应商或内部IT人员构建的定制系统。这些系统有许多缺陷，因此公司花很长时间购买“现成”系统是有充分理由的。</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1.the custom system has been in place for a long time and has many layers of functionality built by various technologists</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1.自定义系统已经存在很长一段时间了，它有许多由不同技术人员构建的功能层</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53975"/>
            <a:ext cx="8229600" cy="1143000"/>
          </a:xfrm>
        </p:spPr>
        <p:txBody>
          <a:bodyPr anchor="ctr"/>
          <a:p>
            <a:pPr algn="l"/>
            <a:r>
              <a:rPr sz="3200" b="1" dirty="0">
                <a:ea typeface="黑体" panose="02010609060101010101" pitchFamily="1" charset="-122"/>
              </a:rPr>
              <a:t>Custom ERP Systems</a:t>
            </a:r>
            <a:r>
              <a:rPr lang="en-US" sz="3200" b="1" dirty="0">
                <a:ea typeface="黑体" panose="02010609060101010101" pitchFamily="1" charset="-122"/>
              </a:rPr>
              <a:t> 定制ERP系统</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67360" y="1196975"/>
            <a:ext cx="8498840" cy="5161915"/>
          </a:xfrm>
        </p:spPr>
        <p:txBody>
          <a:bodyPr/>
          <a:p>
            <a:pPr algn="l">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2.poor documentation or even lost documentation prevents proper understanding of what is needed</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2.糟糕的</a:t>
            </a:r>
            <a:r>
              <a:rPr lang="zh-CN" alt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记录</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，丢失的</a:t>
            </a:r>
            <a:r>
              <a:rPr lang="zh-CN" alt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记录</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会妨碍对所需内容的正确理解</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3.data dispersed across organization - how to centralize and eliminate duplication</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3.不同组织间分散的数据-如何集中和消除重复 </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4.many moving parts complicate the 'where to start' question</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4.许多</a:t>
            </a:r>
            <a:r>
              <a:rPr lang="zh-CN"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动态变化</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使“从哪里开始”的问题复杂化</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5.training staff</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5.员工培训</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6.Costs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6.成本</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ERP Systems (most common)</a:t>
            </a:r>
            <a:r>
              <a:rPr lang="en-US" sz="3200" b="1" dirty="0">
                <a:ea typeface="黑体" panose="02010609060101010101" pitchFamily="1" charset="-122"/>
              </a:rPr>
              <a:t> </a:t>
            </a:r>
            <a:br>
              <a:rPr lang="en-US" sz="3200" b="1" dirty="0">
                <a:ea typeface="黑体" panose="02010609060101010101" pitchFamily="1" charset="-122"/>
              </a:rPr>
            </a:br>
            <a:r>
              <a:rPr lang="en-US" sz="3200" b="1" dirty="0">
                <a:ea typeface="黑体" panose="02010609060101010101" pitchFamily="1" charset="-122"/>
              </a:rPr>
              <a:t>ERP系统（最为常见的）</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498840" cy="5161915"/>
          </a:xfrm>
        </p:spPr>
        <p:txBody>
          <a:bodyPr/>
          <a:p>
            <a:pPr algn="l">
              <a:lnSpc>
                <a:spcPct val="11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supply chain management, SCM</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10000"/>
              </a:lnSpc>
              <a:buClr>
                <a:srgbClr val="FF3300"/>
              </a:buClr>
              <a:buFont typeface="Wingdings" panose="05000000000000000000" pitchFamily="2" charset="2"/>
              <a:buNone/>
            </a:pP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供应链管理</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10000"/>
              </a:lnSpc>
              <a:buClr>
                <a:srgbClr val="FF3300"/>
              </a:buClr>
              <a:buFont typeface="Wingdings" panose="05000000000000000000" charset="0"/>
              <a:buChar char="p"/>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SAP</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1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customer relationship management，CRM</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10000"/>
              </a:lnSpc>
              <a:buClr>
                <a:srgbClr val="FF3300"/>
              </a:buClr>
              <a:buFont typeface="Wingdings" panose="05000000000000000000" pitchFamily="2" charset="2"/>
              <a:buNone/>
            </a:pP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客户关系管理</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10000"/>
              </a:lnSpc>
              <a:buClr>
                <a:srgbClr val="FF3300"/>
              </a:buClr>
              <a:buFont typeface="Wingdings" panose="05000000000000000000" charset="0"/>
              <a:buChar char="p"/>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Salesforce</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1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knowledge management systems，KMS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10000"/>
              </a:lnSpc>
              <a:buClr>
                <a:srgbClr val="FF3300"/>
              </a:buClr>
              <a:buFont typeface="Wingdings" panose="05000000000000000000" pitchFamily="2" charset="2"/>
              <a:buNone/>
            </a:pP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知识管理系统</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10000"/>
              </a:lnSpc>
              <a:buClr>
                <a:srgbClr val="FF3300"/>
              </a:buClr>
              <a:buFont typeface="Wingdings" panose="05000000000000000000" charset="0"/>
              <a:buChar char="p"/>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ZenDesk；JIRA/Confluence</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l"/>
            <a:r>
              <a:rPr sz="3200" b="1" dirty="0">
                <a:ea typeface="黑体" panose="02010609060101010101" pitchFamily="1" charset="-122"/>
              </a:rPr>
              <a:t>Supply Chain Management (SCM)</a:t>
            </a:r>
            <a:br>
              <a:rPr lang="en-US" sz="3200" b="1" dirty="0">
                <a:ea typeface="黑体" panose="02010609060101010101" pitchFamily="1" charset="-122"/>
              </a:rPr>
            </a:br>
            <a:r>
              <a:rPr lang="en-US" sz="3200" b="1" dirty="0">
                <a:ea typeface="黑体" panose="02010609060101010101" pitchFamily="1" charset="-122"/>
              </a:rPr>
              <a:t>供应链管理</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287780"/>
            <a:ext cx="8498840" cy="5570220"/>
          </a:xfrm>
        </p:spPr>
        <p:txBody>
          <a:bodyPr/>
          <a:p>
            <a:pPr algn="l">
              <a:lnSpc>
                <a:spcPct val="11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 relationships with suppliers, purchasing firms, distributors, and logistics companies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管理与供应商、采购公司、分销商和物流公司的关系</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1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 shared information about orders, production, inventory levels, and any other information pertinent to the product</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共享与订单、生产、库存水平和其他与产品和服务递送相关的信息等</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1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Goal is to move  correct amount of product from source to point of consumption as quickly as possible and at lowest cost</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目标是以尽可能快的速度和最低的成本将正确数量的产品从源头转移到消费点</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1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Inter-organizational system: Automating flow of information across organizational boundaries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跨组织系统:跨组织边界的自动化信息流</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16205" y="260350"/>
            <a:ext cx="8582025" cy="1143000"/>
          </a:xfrm>
        </p:spPr>
        <p:txBody>
          <a:bodyPr anchor="ctr"/>
          <a:p>
            <a:pPr algn="l"/>
            <a:r>
              <a:rPr sz="3200" b="1" dirty="0">
                <a:ea typeface="黑体" panose="02010609060101010101" pitchFamily="1" charset="-122"/>
              </a:rPr>
              <a:t>Customer Relationship Management (CRM)</a:t>
            </a:r>
            <a:r>
              <a:rPr lang="en-US" sz="3200" b="1" dirty="0">
                <a:ea typeface="黑体" panose="02010609060101010101" pitchFamily="1" charset="-122"/>
              </a:rPr>
              <a:t> 客户关系管理</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498840" cy="5161915"/>
          </a:xfrm>
        </p:spPr>
        <p:txBody>
          <a:bodyPr/>
          <a:p>
            <a:pPr algn="l">
              <a:lnSpc>
                <a:spcPct val="12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Help manage relationship with customers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帮助管理客户关系</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Coordinate business processes that deal with customers in sales, marketing, and customer service</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协调与客户打交道的销售、营销和客户服务的业务流程</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Goals:</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目标</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Optimize revenue</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提高收入</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Improve customer satisfaction</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提高客户满意度</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Increase customer retention</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提升客户忠诚度</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Identify and retain most profitable customers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识别、吸引并留住最有价值的客户，为现有客户提供更好的服务</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Increase sales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增加销售额</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16205" y="260350"/>
            <a:ext cx="8582025" cy="1143000"/>
          </a:xfrm>
        </p:spPr>
        <p:txBody>
          <a:bodyPr anchor="ctr"/>
          <a:p>
            <a:pPr algn="l"/>
            <a:r>
              <a:rPr sz="3200" b="1" dirty="0">
                <a:ea typeface="黑体" panose="02010609060101010101" pitchFamily="1" charset="-122"/>
              </a:rPr>
              <a:t>Knowledge Management Systems (KMS)</a:t>
            </a:r>
            <a:r>
              <a:rPr lang="en-US" sz="3200" b="1" dirty="0">
                <a:ea typeface="黑体" panose="02010609060101010101" pitchFamily="1" charset="-122"/>
              </a:rPr>
              <a:t> </a:t>
            </a:r>
            <a:br>
              <a:rPr lang="en-US" sz="3200" b="1" dirty="0">
                <a:ea typeface="黑体" panose="02010609060101010101" pitchFamily="1" charset="-122"/>
              </a:rPr>
            </a:br>
            <a:r>
              <a:rPr lang="en-US" sz="3200" b="1" dirty="0">
                <a:ea typeface="黑体" panose="02010609060101010101" pitchFamily="1" charset="-122"/>
              </a:rPr>
              <a:t>知识管理系统</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498840" cy="5161915"/>
          </a:xfrm>
        </p:spPr>
        <p:txBody>
          <a:bodyPr/>
          <a:p>
            <a:pPr algn="l">
              <a:lnSpc>
                <a:spcPct val="12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Manage processes for capturing and applying knowledge and expertise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2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管理与知识经验获取和应用有关的流程</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Collect relevant knowledge and make it available wherever needed in the enterprise to improve business processes and management decisions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2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收集企业范围内所有相关知识和经验，并使这些知识和经验在需要的时候能够随时随地被员工获取，以改进业务流程和管理决策</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Link firm to external sources of knowledge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2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将公司与外部知识来源联系起来</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395605" y="260350"/>
            <a:ext cx="8302625" cy="1143000"/>
          </a:xfrm>
        </p:spPr>
        <p:txBody>
          <a:bodyPr anchor="ctr"/>
          <a:p>
            <a:pPr algn="l"/>
            <a:r>
              <a:rPr sz="3200" b="1" dirty="0">
                <a:ea typeface="黑体" panose="02010609060101010101" pitchFamily="1" charset="-122"/>
              </a:rPr>
              <a:t>Intranets and Extranets</a:t>
            </a:r>
            <a:r>
              <a:rPr lang="en-US" sz="3200" b="1" dirty="0">
                <a:ea typeface="黑体" panose="02010609060101010101" pitchFamily="1" charset="-122"/>
              </a:rPr>
              <a:t> 内联网和外联网</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498840" cy="5161915"/>
          </a:xfrm>
        </p:spPr>
        <p:txBody>
          <a:bodyPr/>
          <a:p>
            <a:pPr algn="l">
              <a:lnSpc>
                <a:spcPct val="12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Technology platforms that increase integration and expedite the flow of information</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2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增强集成和加快信息流动的技术平台</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Intranets: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内联网</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Internal networks based on Internet standards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20000"/>
              </a:lnSpc>
              <a:buClr>
                <a:srgbClr val="FF3300"/>
              </a:buClr>
              <a:buFont typeface="Wingdings" panose="05000000000000000000" charset="0"/>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基于Internet标准的内部网络</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Often are private access area in company’s website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通常是公司网站中的内部员工访问区域</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594995" y="260350"/>
            <a:ext cx="8103235" cy="1143000"/>
          </a:xfrm>
        </p:spPr>
        <p:txBody>
          <a:bodyPr anchor="ctr"/>
          <a:p>
            <a:pPr algn="l"/>
            <a:r>
              <a:rPr sz="3200" b="1" dirty="0">
                <a:ea typeface="黑体" panose="02010609060101010101" pitchFamily="1" charset="-122"/>
              </a:rPr>
              <a:t>Intranets and Extranets</a:t>
            </a:r>
            <a:r>
              <a:rPr lang="en-US" sz="3200" b="1" dirty="0">
                <a:ea typeface="黑体" panose="02010609060101010101" pitchFamily="1" charset="-122"/>
              </a:rPr>
              <a:t> 内联网和外联网</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23215" y="1340485"/>
            <a:ext cx="8498840" cy="5161915"/>
          </a:xfrm>
        </p:spPr>
        <p:txBody>
          <a:bodyPr/>
          <a:p>
            <a:pPr algn="l">
              <a:lnSpc>
                <a:spcPct val="12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Extranets: 外联网</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Company websites accessible only to authorized vendors and suppliers</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20000"/>
              </a:lnSpc>
              <a:buClr>
                <a:srgbClr val="FF3300"/>
              </a:buClr>
              <a:buFont typeface="Wingdings" panose="05000000000000000000" charset="0"/>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公司网站中授权供应商可以访问的区域</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Facilitate collaboration</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20000"/>
              </a:lnSpc>
              <a:buClr>
                <a:srgbClr val="FF3300"/>
              </a:buClr>
              <a:buFont typeface="Wingdings" panose="05000000000000000000" charset="0"/>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促进合作</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如Six Flags管理着遍布北美的18个主题公园。内联网为公司1900名全职员工提供与每个主题公园日常运营相关的各类新闻和信息，包括天气预报、演出计划安排、团体以及知名人士参观访问的细节等。该公司也用外联网给3万名季节性员工提供有关计划变更等方面的信息。</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49860" y="260350"/>
            <a:ext cx="8774430" cy="1143000"/>
          </a:xfrm>
        </p:spPr>
        <p:txBody>
          <a:bodyPr anchor="ctr"/>
          <a:p>
            <a:pPr algn="l"/>
            <a:r>
              <a:rPr lang="en-US" sz="2800" b="1" dirty="0">
                <a:ea typeface="黑体" panose="02010609060101010101" pitchFamily="1" charset="-122"/>
              </a:rPr>
              <a:t>2.2.3 </a:t>
            </a:r>
            <a:r>
              <a:rPr sz="2800" b="1" dirty="0">
                <a:ea typeface="黑体" panose="02010609060101010101" pitchFamily="1" charset="-122"/>
              </a:rPr>
              <a:t>E-business, E-commerce, and</a:t>
            </a:r>
            <a:r>
              <a:rPr lang="en-US" sz="2800" b="1" dirty="0">
                <a:ea typeface="黑体" panose="02010609060101010101" pitchFamily="1" charset="-122"/>
              </a:rPr>
              <a:t> </a:t>
            </a:r>
            <a:r>
              <a:rPr sz="2800" b="1" dirty="0">
                <a:ea typeface="黑体" panose="02010609060101010101" pitchFamily="1" charset="-122"/>
              </a:rPr>
              <a:t>E-government</a:t>
            </a:r>
            <a:r>
              <a:rPr lang="en-US" sz="2800" b="1" dirty="0">
                <a:ea typeface="黑体" panose="02010609060101010101" pitchFamily="1" charset="-122"/>
              </a:rPr>
              <a:t> </a:t>
            </a:r>
            <a:r>
              <a:rPr lang="en-US" sz="3200" b="1" dirty="0">
                <a:ea typeface="黑体" panose="02010609060101010101" pitchFamily="1" charset="-122"/>
              </a:rPr>
              <a:t>电子商业、电子商务和电子政务</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23215" y="1340485"/>
            <a:ext cx="8726805" cy="5553710"/>
          </a:xfrm>
        </p:spPr>
        <p:txBody>
          <a:bodyPr/>
          <a:p>
            <a:pPr algn="l">
              <a:lnSpc>
                <a:spcPct val="120000"/>
              </a:lnSpc>
              <a:buClr>
                <a:srgbClr val="FF3300"/>
              </a:buClr>
              <a:buFont typeface="Wingdings" panose="05000000000000000000" pitchFamily="2" charset="2"/>
              <a:buChar char="Ø"/>
            </a:pPr>
            <a:r>
              <a:rPr sz="22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E-business</a:t>
            </a:r>
            <a:endParaRPr sz="22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sz="22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电子商业</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：是指企业应用数字技术和互联网执行主要的业务流程，包括企业内部管理相关的各类活动以及协调供应商和其他合作伙伴的各类活动。</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Use of digital technology and Internet to drive major business processes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利用数字技术和互联网推动主要业务流程</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sz="22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E-commerce</a:t>
            </a:r>
            <a:endParaRPr sz="22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sz="22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电子商务</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：可以看做是电子商业中涉及通过互联网买卖商品及服务的部分</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Subset of e-business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电子商业的子集</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2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Buying and selling goods and services through Internet</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通过互联网买卖商品及服务</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49860" y="260350"/>
            <a:ext cx="8774430" cy="1143000"/>
          </a:xfrm>
        </p:spPr>
        <p:txBody>
          <a:bodyPr anchor="ctr"/>
          <a:p>
            <a:pPr algn="l"/>
            <a:r>
              <a:rPr lang="en-US" sz="2800" b="1" dirty="0">
                <a:ea typeface="黑体" panose="02010609060101010101" pitchFamily="1" charset="-122"/>
              </a:rPr>
              <a:t>2.2.3 </a:t>
            </a:r>
            <a:r>
              <a:rPr sz="2800" b="1" dirty="0">
                <a:ea typeface="黑体" panose="02010609060101010101" pitchFamily="1" charset="-122"/>
              </a:rPr>
              <a:t>E-business, E-commerce, and</a:t>
            </a:r>
            <a:r>
              <a:rPr lang="en-US" sz="2800" b="1" dirty="0">
                <a:ea typeface="黑体" panose="02010609060101010101" pitchFamily="1" charset="-122"/>
              </a:rPr>
              <a:t> </a:t>
            </a:r>
            <a:r>
              <a:rPr sz="2800" b="1" dirty="0">
                <a:ea typeface="黑体" panose="02010609060101010101" pitchFamily="1" charset="-122"/>
              </a:rPr>
              <a:t>E-government</a:t>
            </a:r>
            <a:r>
              <a:rPr lang="en-US" sz="2800" b="1" dirty="0">
                <a:ea typeface="黑体" panose="02010609060101010101" pitchFamily="1" charset="-122"/>
              </a:rPr>
              <a:t> </a:t>
            </a:r>
            <a:r>
              <a:rPr lang="en-US" sz="3200" b="1" dirty="0">
                <a:ea typeface="黑体" panose="02010609060101010101" pitchFamily="1" charset="-122"/>
              </a:rPr>
              <a:t>电子商业、电子商务和电子政务</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23215" y="1340485"/>
            <a:ext cx="8726805" cy="5553710"/>
          </a:xfrm>
        </p:spPr>
        <p:txBody>
          <a:bodyPr/>
          <a:p>
            <a:pPr algn="l">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E-government</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Using Internet technology to deliver information and services to citizens, employees, and businesses</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电子政务：指应用互联网和计算机网络技术建立的，使各政府部门和公共服务机构与市民、企业及其他政府分支机构之间的关系数字化。</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利用互联网技术为公民、员工、企业提供信息和服务</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1435100" y="3213100"/>
            <a:ext cx="7240905" cy="1419860"/>
          </a:xfrm>
          <a:prstGeom prst="rect">
            <a:avLst/>
          </a:prstGeom>
          <a:noFill/>
          <a:ln w="9525">
            <a:noFill/>
          </a:ln>
        </p:spPr>
        <p:txBody>
          <a:bodyPr wrap="square">
            <a:spAutoFit/>
          </a:bodyPr>
          <a:p>
            <a:pPr algn="l">
              <a:lnSpc>
                <a:spcPct val="120000"/>
              </a:lnSpc>
              <a:spcBef>
                <a:spcPct val="50000"/>
              </a:spcBef>
            </a:pPr>
            <a:r>
              <a:rPr lang="zh-CN" altLang="en-US" sz="3600" b="1" dirty="0">
                <a:latin typeface="Arial" panose="020B0604020202020204" pitchFamily="34" charset="0"/>
                <a:ea typeface="黑体" panose="02010609060101010101" pitchFamily="1" charset="-122"/>
              </a:rPr>
              <a:t>为什么协作和社会化系统如此重要？它们使用什么技术？</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2.3</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49860" y="260350"/>
            <a:ext cx="8774430" cy="1143000"/>
          </a:xfrm>
        </p:spPr>
        <p:txBody>
          <a:bodyPr anchor="ctr"/>
          <a:p>
            <a:pPr algn="l"/>
            <a:r>
              <a:rPr lang="en-US" sz="2800" b="1" dirty="0">
                <a:ea typeface="黑体" panose="02010609060101010101" pitchFamily="1" charset="-122"/>
              </a:rPr>
              <a:t>2.3.1 </a:t>
            </a:r>
            <a:r>
              <a:rPr sz="2800" b="1" dirty="0">
                <a:ea typeface="黑体" panose="02010609060101010101" pitchFamily="1" charset="-122"/>
              </a:rPr>
              <a:t>What is Collaboration?</a:t>
            </a:r>
            <a:r>
              <a:rPr lang="en-US" sz="2800" b="1" dirty="0">
                <a:ea typeface="黑体" panose="02010609060101010101" pitchFamily="1" charset="-122"/>
              </a:rPr>
              <a:t> </a:t>
            </a:r>
            <a:r>
              <a:rPr lang="en-US" sz="3200" b="1" dirty="0">
                <a:ea typeface="黑体" panose="02010609060101010101" pitchFamily="1" charset="-122"/>
              </a:rPr>
              <a:t>什么是协作</a:t>
            </a:r>
            <a:r>
              <a:rPr lang="zh-CN" altLang="en-US" sz="3200" b="1" dirty="0">
                <a:ea typeface="黑体" panose="02010609060101010101" pitchFamily="1" charset="-122"/>
              </a:rPr>
              <a:t>？</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323215" y="1196340"/>
            <a:ext cx="8440420" cy="5274945"/>
          </a:xfrm>
        </p:spPr>
        <p:txBody>
          <a:bodyPr/>
          <a:p>
            <a:pPr algn="l">
              <a:lnSpc>
                <a:spcPct val="140000"/>
              </a:lnSpc>
              <a:buClr>
                <a:srgbClr val="FF3300"/>
              </a:buClr>
              <a:buFont typeface="Wingdings" panose="05000000000000000000" pitchFamily="2" charset="2"/>
              <a:buChar char="Ø"/>
            </a:pPr>
            <a:r>
              <a:rPr lang="en-US" sz="24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lang="en-US" sz="22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Collaboration </a:t>
            </a:r>
            <a:r>
              <a:rPr lang="en-US" sz="22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协作</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：是指与他人一起工作以达到共同而明确的目标。协作</a:t>
            </a:r>
            <a:r>
              <a:rPr lang="en-US" sz="22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强调任务或使命的完成</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，通常发生在企业或其他组织中以及企业之间</a:t>
            </a:r>
            <a:endParaRPr lang="en-US" sz="22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Short lived or long term (partnerships) 短期或长期(合作关系)</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Informal or formal (teams)非正式或正式(团队)</a:t>
            </a:r>
            <a:endParaRPr lang="en-US" sz="192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2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团队</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通常有一项企业赋予的特殊使命，团队成员需要通过</a:t>
            </a:r>
            <a:r>
              <a:rPr lang="en-US" sz="2200"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合作系统</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完成一系列具体的任务以实现这一使命。一个团队的使命可能是“赢得一场比赛”，也可能是“增加10%的在线销售额”。团队的存在</a:t>
            </a:r>
            <a:r>
              <a:rPr lang="en-US" sz="2200"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通常是短暂的</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，团队存在的时间取决于该团队需要解决的问题以及找到问题解决方案并完成使命需要的时间。</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49860" y="260350"/>
            <a:ext cx="8774430" cy="1143000"/>
          </a:xfrm>
        </p:spPr>
        <p:txBody>
          <a:bodyPr anchor="ctr"/>
          <a:p>
            <a:pPr algn="l"/>
            <a:r>
              <a:rPr lang="en-US" sz="2800" b="1" dirty="0">
                <a:ea typeface="黑体" panose="02010609060101010101" pitchFamily="1" charset="-122"/>
              </a:rPr>
              <a:t>2.3.1 </a:t>
            </a:r>
            <a:r>
              <a:rPr sz="2800" b="1" dirty="0">
                <a:ea typeface="黑体" panose="02010609060101010101" pitchFamily="1" charset="-122"/>
              </a:rPr>
              <a:t>What is Collaboration?</a:t>
            </a:r>
            <a:r>
              <a:rPr lang="en-US" sz="2800" b="1" dirty="0">
                <a:ea typeface="黑体" panose="02010609060101010101" pitchFamily="1" charset="-122"/>
              </a:rPr>
              <a:t> </a:t>
            </a:r>
            <a:r>
              <a:rPr lang="en-US" sz="3200" b="1" dirty="0">
                <a:ea typeface="黑体" panose="02010609060101010101" pitchFamily="1" charset="-122"/>
              </a:rPr>
              <a:t>什么是协作</a:t>
            </a:r>
            <a:r>
              <a:rPr lang="zh-CN" altLang="en-US" sz="3200" b="1" dirty="0">
                <a:ea typeface="黑体" panose="02010609060101010101" pitchFamily="1" charset="-122"/>
              </a:rPr>
              <a:t>？</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323215" y="1196340"/>
            <a:ext cx="8679180" cy="5274945"/>
          </a:xfrm>
        </p:spPr>
        <p:txBody>
          <a:bodyPr/>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Growing importance of collaboration  协作的重要性日益增强</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Changing nature of work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改变工作性质：彼此独立—&gt;紧密协调与互动</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Growth of professional work—“interaction jobs”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专业工作的增加：“互动性”的岗位越来越变成需要紧密协调与合作的专业岗位</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Changing organization of the firm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公司组织的变化：层级结构—&gt;团队协作</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Changing scope of the firm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企业规模的变化：单点—&gt;多点，全球化趋势</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Emphasis on innovation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强调创新：创新是一个群体过程和社会过程，大部分创新源于实验室、企业及政府机构中个体之间的合作</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Changing culture of work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工作和企业文化的变化：相比于独自工作的个体，多样化的团队能获得更快、更好的成果</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49860" y="260350"/>
            <a:ext cx="8774430" cy="1143000"/>
          </a:xfrm>
        </p:spPr>
        <p:txBody>
          <a:bodyPr anchor="ctr"/>
          <a:p>
            <a:pPr algn="l"/>
            <a:r>
              <a:rPr lang="en-US" sz="2800" b="1" dirty="0">
                <a:ea typeface="黑体" panose="02010609060101010101" pitchFamily="1" charset="-122"/>
              </a:rPr>
              <a:t>2.3.2 </a:t>
            </a:r>
            <a:r>
              <a:rPr sz="2800" b="1" dirty="0">
                <a:ea typeface="黑体" panose="02010609060101010101" pitchFamily="1" charset="-122"/>
              </a:rPr>
              <a:t>What is Social Business?</a:t>
            </a:r>
            <a:r>
              <a:rPr lang="en-US" sz="2800" b="1" dirty="0">
                <a:ea typeface="黑体" panose="02010609060101010101" pitchFamily="1" charset="-122"/>
              </a:rPr>
              <a:t> </a:t>
            </a:r>
            <a:r>
              <a:rPr sz="3200" b="1" dirty="0">
                <a:ea typeface="黑体" panose="02010609060101010101" pitchFamily="1" charset="-122"/>
              </a:rPr>
              <a:t>什么是社会化商务？</a:t>
            </a:r>
            <a:endParaRPr sz="3200" b="1" dirty="0">
              <a:ea typeface="黑体" panose="02010609060101010101" pitchFamily="1" charset="-122"/>
            </a:endParaRPr>
          </a:p>
        </p:txBody>
      </p:sp>
      <p:sp>
        <p:nvSpPr>
          <p:cNvPr id="8195" name="文本占位符 8194"/>
          <p:cNvSpPr>
            <a:spLocks noGrp="1"/>
          </p:cNvSpPr>
          <p:nvPr>
            <p:ph type="body" idx="1"/>
          </p:nvPr>
        </p:nvSpPr>
        <p:spPr>
          <a:xfrm>
            <a:off x="323215" y="1196340"/>
            <a:ext cx="8679180" cy="5274945"/>
          </a:xfrm>
        </p:spPr>
        <p:txBody>
          <a:bodyPr/>
          <a:p>
            <a:pPr algn="l">
              <a:lnSpc>
                <a:spcPct val="13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Social business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4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社会化商务</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：指应用社交网络平台，包括Facebook、Twitter以及企业内部的社会化工具，增强企业与员工、客户以及供应商之间的交流互动，使员工建立个人档案，创建组群，以及“跟踪”其他人的状态更新。</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Use of social networking platforms (internal and external) to engage employees, customers, and suppliers</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30000"/>
              </a:lnSpc>
              <a:buClr>
                <a:srgbClr val="FF3300"/>
              </a:buClr>
              <a:buFont typeface="Wingdings" panose="05000000000000000000" charset="0"/>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利用社交网络平台(内部和外部)吸引员工、客户和供应商</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49860" y="260350"/>
            <a:ext cx="8774430" cy="1143000"/>
          </a:xfrm>
        </p:spPr>
        <p:txBody>
          <a:bodyPr anchor="ctr"/>
          <a:p>
            <a:pPr algn="l"/>
            <a:r>
              <a:rPr lang="en-US" sz="2800" b="1" dirty="0">
                <a:ea typeface="黑体" panose="02010609060101010101" pitchFamily="1" charset="-122"/>
              </a:rPr>
              <a:t>2.3.2 </a:t>
            </a:r>
            <a:r>
              <a:rPr sz="2800" b="1" dirty="0">
                <a:ea typeface="黑体" panose="02010609060101010101" pitchFamily="1" charset="-122"/>
              </a:rPr>
              <a:t>What is Social Business?</a:t>
            </a:r>
            <a:r>
              <a:rPr lang="en-US" sz="2800" b="1" dirty="0">
                <a:ea typeface="黑体" panose="02010609060101010101" pitchFamily="1" charset="-122"/>
              </a:rPr>
              <a:t> </a:t>
            </a:r>
            <a:r>
              <a:rPr sz="3200" b="1" dirty="0">
                <a:ea typeface="黑体" panose="02010609060101010101" pitchFamily="1" charset="-122"/>
              </a:rPr>
              <a:t>什么是社会化商务？</a:t>
            </a:r>
            <a:endParaRPr sz="3200" b="1" dirty="0">
              <a:ea typeface="黑体" panose="02010609060101010101" pitchFamily="1" charset="-122"/>
            </a:endParaRPr>
          </a:p>
        </p:txBody>
      </p:sp>
      <p:sp>
        <p:nvSpPr>
          <p:cNvPr id="8195" name="文本占位符 8194"/>
          <p:cNvSpPr>
            <a:spLocks noGrp="1"/>
          </p:cNvSpPr>
          <p:nvPr>
            <p:ph type="body" idx="1"/>
          </p:nvPr>
        </p:nvSpPr>
        <p:spPr>
          <a:xfrm>
            <a:off x="323215" y="1196340"/>
            <a:ext cx="8679180" cy="5274945"/>
          </a:xfrm>
        </p:spPr>
        <p:txBody>
          <a:bodyPr/>
          <a:p>
            <a:pPr algn="l">
              <a:lnSpc>
                <a:spcPct val="12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Aims to deepen interactions and expedite information sharing  目标是深化互动，加快信息共享</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“Conversations” to strengthen bonds with customers </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“对话”，客户、供应商、员工、经理甚至监督机构可以不断持续地“对话”。这能加强企业与消费者、供应商以及员工之间的联系，增强他们对企业的认同感</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Requires information transparency  </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要求信息透明，几乎每一个参与价值创造的人都可以更多地了解他人。</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Seen as way to drive operational efficiency, spur innovation, accelerate decision making  </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被视为提高运营效率，刺激创新，加快决策的方式</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07315" y="53340"/>
            <a:ext cx="8774430" cy="1143000"/>
          </a:xfrm>
        </p:spPr>
        <p:txBody>
          <a:bodyPr anchor="ctr"/>
          <a:p>
            <a:pPr algn="l"/>
            <a:r>
              <a:rPr lang="en-US" sz="2800" b="1" dirty="0">
                <a:ea typeface="黑体" panose="02010609060101010101" pitchFamily="1" charset="-122"/>
              </a:rPr>
              <a:t>2.3.3 </a:t>
            </a:r>
            <a:r>
              <a:rPr sz="2800" b="1" dirty="0">
                <a:ea typeface="黑体" panose="02010609060101010101" pitchFamily="1" charset="-122"/>
              </a:rPr>
              <a:t>Business Benefits of Collaboration and Teamwork</a:t>
            </a:r>
            <a:r>
              <a:rPr lang="en-US" sz="2800" b="1" dirty="0">
                <a:ea typeface="黑体" panose="02010609060101010101" pitchFamily="1" charset="-122"/>
              </a:rPr>
              <a:t>  协作与团队合作带来的商业利益</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96340"/>
            <a:ext cx="8679180" cy="5274945"/>
          </a:xfrm>
        </p:spPr>
        <p:txBody>
          <a:bodyPr/>
          <a:p>
            <a:pPr algn="l">
              <a:lnSpc>
                <a:spcPct val="12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Investment in collaboration technology can return large rewards, especially in sales and marketing, research and development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2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在协作技术上的投资可以获得丰厚回报，尤其是在销售和市场营销、研发方面</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Productivity: Sharing knowledge and resolving problems</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2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生产率:分享知识，解决问题</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Quality: Faster resolution of quality issues</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2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质量:快速解决质量问题。更快地发现和改正错误；帮助减少设计和生产过程中的延误</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07315" y="53340"/>
            <a:ext cx="8774430" cy="1143000"/>
          </a:xfrm>
        </p:spPr>
        <p:txBody>
          <a:bodyPr anchor="ctr"/>
          <a:p>
            <a:pPr algn="l"/>
            <a:r>
              <a:rPr lang="en-US" sz="2800" b="1" dirty="0">
                <a:ea typeface="黑体" panose="02010609060101010101" pitchFamily="1" charset="-122"/>
              </a:rPr>
              <a:t>2.3.3 </a:t>
            </a:r>
            <a:r>
              <a:rPr sz="2800" b="1" dirty="0">
                <a:ea typeface="黑体" panose="02010609060101010101" pitchFamily="1" charset="-122"/>
              </a:rPr>
              <a:t>Business Benefits of Collaboration and Teamwork</a:t>
            </a:r>
            <a:r>
              <a:rPr lang="en-US" sz="2800" b="1" dirty="0">
                <a:ea typeface="黑体" panose="02010609060101010101" pitchFamily="1" charset="-122"/>
              </a:rPr>
              <a:t>  协作与团队合作带来的商业利益</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96340"/>
            <a:ext cx="8679180" cy="5274945"/>
          </a:xfrm>
        </p:spPr>
        <p:txBody>
          <a:bodyPr/>
          <a:p>
            <a:pPr algn="l">
              <a:lnSpc>
                <a:spcPct val="14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Innovation: More ideas for products and services</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4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创新:更多产品和服务的创意，“群体智慧”的优势</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Customer service: Complaints handled more rapidly</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4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客户服务:更快地处理投诉</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Financial performance: Generated by improvements in factors above</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4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财务业绩:由上述因素的改善产生，更高的销售额、销售增长以及更好的财务表现</a:t>
            </a:r>
            <a:endPar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20000"/>
              </a:lnSpc>
              <a:buClr>
                <a:srgbClr val="FF3300"/>
              </a:buClr>
              <a:buFont typeface="Wingdings" panose="05000000000000000000" pitchFamily="2" charset="2"/>
              <a:buChar char="Ø"/>
            </a:pP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ctr"/>
            <a:r>
              <a:rPr lang="en-US" sz="3200" b="1" dirty="0">
                <a:ea typeface="黑体" panose="02010609060101010101" pitchFamily="1" charset="-122"/>
              </a:rPr>
              <a:t>图2-7 协作的必要条件</a:t>
            </a:r>
            <a:endParaRPr lang="en-US" sz="3200" b="1" dirty="0">
              <a:ea typeface="黑体" panose="02010609060101010101" pitchFamily="1" charset="-122"/>
            </a:endParaRPr>
          </a:p>
        </p:txBody>
      </p:sp>
      <p:sp>
        <p:nvSpPr>
          <p:cNvPr id="3" name="灯片编号占位符 2"/>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1"/>
          <a:stretch>
            <a:fillRect/>
          </a:stretch>
        </p:blipFill>
        <p:spPr>
          <a:xfrm>
            <a:off x="755650" y="1125220"/>
            <a:ext cx="7157085" cy="4709160"/>
          </a:xfrm>
          <a:prstGeom prst="rect">
            <a:avLst/>
          </a:prstGeom>
        </p:spPr>
      </p:pic>
    </p:spTree>
  </p:cSld>
  <p:clrMapOvr>
    <a:masterClrMapping/>
  </p:clrMapOvr>
  <p:transition advTm="265"/>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07315" y="53340"/>
            <a:ext cx="8774430" cy="1143000"/>
          </a:xfrm>
        </p:spPr>
        <p:txBody>
          <a:bodyPr anchor="ctr"/>
          <a:p>
            <a:pPr algn="l"/>
            <a:r>
              <a:rPr lang="en-US" sz="2800" b="1" dirty="0">
                <a:ea typeface="黑体" panose="02010609060101010101" pitchFamily="1" charset="-122"/>
              </a:rPr>
              <a:t>2.3.4 </a:t>
            </a:r>
            <a:r>
              <a:rPr sz="2800" b="1" dirty="0">
                <a:ea typeface="黑体" panose="02010609060101010101" pitchFamily="1" charset="-122"/>
              </a:rPr>
              <a:t>Building a Collaborative Culture and </a:t>
            </a:r>
            <a:br>
              <a:rPr sz="2800" b="1" dirty="0">
                <a:ea typeface="黑体" panose="02010609060101010101" pitchFamily="1" charset="-122"/>
              </a:rPr>
            </a:br>
            <a:r>
              <a:rPr sz="2800" b="1" dirty="0">
                <a:ea typeface="黑体" panose="02010609060101010101" pitchFamily="1" charset="-122"/>
              </a:rPr>
              <a:t>Business Processes</a:t>
            </a:r>
            <a:r>
              <a:rPr lang="en-US" sz="2800" b="1" dirty="0">
                <a:ea typeface="黑体" panose="02010609060101010101" pitchFamily="1" charset="-122"/>
              </a:rPr>
              <a:t>  建设协作性文化和业务流程</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96340"/>
            <a:ext cx="8784590" cy="5274945"/>
          </a:xfrm>
        </p:spPr>
        <p:txBody>
          <a:bodyPr/>
          <a:p>
            <a:pPr algn="l">
              <a:lnSpc>
                <a:spcPct val="140000"/>
              </a:lnSpc>
              <a:buClr>
                <a:srgbClr val="FF3300"/>
              </a:buClr>
              <a:buFont typeface="Wingdings" panose="05000000000000000000" pitchFamily="2" charset="2"/>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Command and control” organizations  传统的“命令和控制”型组织</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No value placed on teamwork or lower-level participation in decisions  </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团队合作没有价值（与奖励无关，也不必横向沟通）或低水平参与决策</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Collaborative business culture  </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协作式商业文化</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Senior managers rely on teams of employees </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高层管理者依赖员工团队达到和实现目标结果</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Policies, products, designs, processes, and systems rely on teams </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政策、产品、设计、过程和系统依赖于组织中各个层级的团队构思、创造和建设</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The managers purpose is to build teams </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中层管理者的职责是团队建设、协调团队工作和监控团队绩效</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绩效奖励是基于团队绩效进行的，而个人的奖励是基于个人在团队中的表现进行的。</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p"/>
            </a:pP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p"/>
            </a:pP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07315" y="53340"/>
            <a:ext cx="8919845" cy="1143000"/>
          </a:xfrm>
        </p:spPr>
        <p:txBody>
          <a:bodyPr anchor="ctr"/>
          <a:p>
            <a:pPr algn="l"/>
            <a:r>
              <a:rPr lang="en-US" sz="2800" b="1" dirty="0">
                <a:ea typeface="黑体" panose="02010609060101010101" pitchFamily="1" charset="-122"/>
              </a:rPr>
              <a:t>2.3.3 </a:t>
            </a:r>
            <a:r>
              <a:rPr sz="2800" b="1" dirty="0">
                <a:ea typeface="黑体" panose="02010609060101010101" pitchFamily="1" charset="-122"/>
              </a:rPr>
              <a:t>Tools and Technologies for Collaboration and Social Business</a:t>
            </a:r>
            <a:r>
              <a:rPr lang="en-US" sz="2800" b="1" dirty="0">
                <a:ea typeface="黑体" panose="02010609060101010101" pitchFamily="1" charset="-122"/>
              </a:rPr>
              <a:t>  协作和社会化商务的工具与技术</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96340"/>
            <a:ext cx="8784590" cy="5274945"/>
          </a:xfrm>
        </p:spPr>
        <p:txBody>
          <a:bodyPr/>
          <a:p>
            <a:pPr marL="0" indent="0" algn="l">
              <a:lnSpc>
                <a:spcPct val="150000"/>
              </a:lnSpc>
              <a:buClr>
                <a:srgbClr val="FF3300"/>
              </a:buClr>
              <a:buFont typeface="Wingdings" panose="05000000000000000000" pitchFamily="2" charset="2"/>
              <a:buNone/>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a:t>
            </a:r>
            <a:r>
              <a:rPr lang="zh-CN" alt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E-mail and instant messaging (IM)</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5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电子邮件和即时通讯(instant messaging, IM，包括手机短信)</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50000"/>
              </a:lnSpc>
              <a:buClr>
                <a:srgbClr val="FF3300"/>
              </a:buClr>
              <a:buFont typeface="Wingdings" panose="05000000000000000000" pitchFamily="2" charset="2"/>
              <a:buNone/>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a:t>
            </a:r>
            <a:r>
              <a:rPr lang="zh-CN" alt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Wikis  维基</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5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维基实际上是一种网站，能使用户很容易地发布和编辑文本、图形等内容，用户不需要具备任何与网页开发或编程技术相关的知识。最著名的维基百科，其维护依赖于志愿者，不支付报酬也不接受广告。</a:t>
            </a:r>
            <a:endParaRPr lang="en-US" sz="192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50000"/>
              </a:lnSpc>
              <a:buClr>
                <a:srgbClr val="FF3300"/>
              </a:buClr>
              <a:buFont typeface="Wingdings" panose="05000000000000000000" pitchFamily="2" charset="2"/>
              <a:buNone/>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a:t>
            </a:r>
            <a:r>
              <a:rPr lang="zh-CN" alt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Virtual worlds  </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虚拟世界如“第二人生”</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5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IBM、思科和英特尔这些公司已经使用虚拟世界里的在线会议、面试、特邀演讲会、员工培训等。真实世界的人通过虚拟世界中的化身，利用手势、对话框以及语音通信在虚拟的场所中见面、互动和交流想法。</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07315" y="53340"/>
            <a:ext cx="8919845" cy="1143000"/>
          </a:xfrm>
        </p:spPr>
        <p:txBody>
          <a:bodyPr anchor="ctr"/>
          <a:p>
            <a:pPr algn="l"/>
            <a:r>
              <a:rPr lang="en-US" sz="2800" b="1" dirty="0">
                <a:ea typeface="黑体" panose="02010609060101010101" pitchFamily="1" charset="-122"/>
              </a:rPr>
              <a:t>2.3.3 </a:t>
            </a:r>
            <a:r>
              <a:rPr sz="2800" b="1" dirty="0">
                <a:ea typeface="黑体" panose="02010609060101010101" pitchFamily="1" charset="-122"/>
              </a:rPr>
              <a:t>Tools and Technologies for Collaboration and Social Business</a:t>
            </a:r>
            <a:r>
              <a:rPr lang="en-US" sz="2800" b="1" dirty="0">
                <a:ea typeface="黑体" panose="02010609060101010101" pitchFamily="1" charset="-122"/>
              </a:rPr>
              <a:t>  协作和社会化商务的工具与技术</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179070" y="1196340"/>
            <a:ext cx="8784590" cy="5274945"/>
          </a:xfrm>
        </p:spPr>
        <p:txBody>
          <a:bodyPr/>
          <a:p>
            <a:pPr marL="0" indent="0" algn="l">
              <a:lnSpc>
                <a:spcPct val="14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4</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Collaboration and social business platforms  协作和社会化商业平台</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Virtual meeting systems: videoconferencing, telepresence)</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4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虚拟会议系统:视频会议、网真（一种通过结合高清晰度视频、音频和交互式组件，允许人们在某处而不是在其真实物理物质出现的虚拟现实技术，“思科”案例）（Skype群体视频会议、Zoom、Facetime等）</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Cloud collaboration services (Google Drive, Google Docs, etc.)  云协作服务(谷歌Drive、谷歌Docs等)</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Microsoft SharePoint and IBM Notes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微软SharePoint和IBM Notes</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Enterprise social networking tools </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4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企业社会化网络工具（Salesforce的Chatter，微软的Yammer，IBM的Connections）</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07315" y="53340"/>
            <a:ext cx="8919845" cy="1143000"/>
          </a:xfrm>
        </p:spPr>
        <p:txBody>
          <a:bodyPr anchor="ctr"/>
          <a:p>
            <a:pPr algn="l"/>
            <a:r>
              <a:rPr lang="en-US" sz="2800" b="1" dirty="0">
                <a:ea typeface="黑体" panose="02010609060101010101" pitchFamily="1" charset="-122"/>
              </a:rPr>
              <a:t>2.3.3 </a:t>
            </a:r>
            <a:r>
              <a:rPr sz="2800" b="1" dirty="0">
                <a:ea typeface="黑体" panose="02010609060101010101" pitchFamily="1" charset="-122"/>
              </a:rPr>
              <a:t>Tools and Technologies for Collaboration and Social Business</a:t>
            </a:r>
            <a:r>
              <a:rPr lang="en-US" sz="2800" b="1" dirty="0">
                <a:ea typeface="黑体" panose="02010609060101010101" pitchFamily="1" charset="-122"/>
              </a:rPr>
              <a:t>  协作和社会化商务的工具与技术</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179070" y="1196340"/>
            <a:ext cx="8784590" cy="5274945"/>
          </a:xfrm>
        </p:spPr>
        <p:txBody>
          <a:bodyPr/>
          <a:p>
            <a:pPr algn="l">
              <a:lnSpc>
                <a:spcPct val="140000"/>
              </a:lnSpc>
              <a:buClr>
                <a:srgbClr val="FF3300"/>
              </a:buClr>
              <a:buFont typeface="Wingdings" panose="05000000000000000000" pitchFamily="2" charset="2"/>
              <a:buChar char="Ø"/>
            </a:pP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企业社会化网络软件的功能：</a:t>
            </a:r>
            <a:endPar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建立成员资料文档</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内容分享</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消息发布及推送</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建立群组/团队工作区</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标记及点赞</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基于信息安全的权限设置及合理范围内的信息流通</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07315" y="53340"/>
            <a:ext cx="8919845" cy="1143000"/>
          </a:xfrm>
        </p:spPr>
        <p:txBody>
          <a:bodyPr anchor="ctr"/>
          <a:p>
            <a:pPr algn="l"/>
            <a:r>
              <a:rPr lang="en-US" sz="2800" b="1" dirty="0">
                <a:ea typeface="黑体" panose="02010609060101010101" pitchFamily="1" charset="-122"/>
              </a:rPr>
              <a:t>2.3.3 </a:t>
            </a:r>
            <a:r>
              <a:rPr sz="2800" b="1" dirty="0">
                <a:ea typeface="黑体" panose="02010609060101010101" pitchFamily="1" charset="-122"/>
              </a:rPr>
              <a:t>Tools and Technologies for Collaboration and Social Business</a:t>
            </a:r>
            <a:r>
              <a:rPr lang="en-US" sz="2800" b="1" dirty="0">
                <a:ea typeface="黑体" panose="02010609060101010101" pitchFamily="1" charset="-122"/>
              </a:rPr>
              <a:t>  协作和社会化商务的工具与技术</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179705" y="1052195"/>
            <a:ext cx="8784590" cy="5274945"/>
          </a:xfrm>
        </p:spPr>
        <p:txBody>
          <a:bodyPr/>
          <a:p>
            <a:pPr marL="0" indent="0" algn="l">
              <a:lnSpc>
                <a:spcPct val="15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5</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Checklist for Managers: Evaluating and Selecting Collaboration and Social Software Tools 管理者清单：评估和选择协作与社会化软件工具</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Time/space matrix 时间/空间矩阵（图2-8）</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Six steps in evaluating software tools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评估软件工具的六个步骤</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Identify your firm’s collaboration challenges</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确定公司在合作中面临的挑战</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Identify what kinds of solutions are available</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找出可用的解决方案</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Analyze available products’ cost and benefits</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分析现有产品的成本和效益</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Evaluate security risks</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评估安全风险及漏洞风险</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Consult users for implementation and training issues</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向潜在用户咨询实施和培训中可能会遇到的问题</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Evaluate product vendors</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在候选产品中做出选择，并邀请供应商进行演示</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p"/>
            </a:pP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pPr algn="ctr"/>
            <a:r>
              <a:rPr lang="en-US" sz="3200" b="1" dirty="0">
                <a:ea typeface="黑体" panose="02010609060101010101" pitchFamily="1" charset="-122"/>
              </a:rPr>
              <a:t>图2-8 基于时间/空间的协作和社会化工具的评估矩阵</a:t>
            </a:r>
            <a:endParaRPr lang="en-US" sz="3200" b="1" dirty="0">
              <a:ea typeface="黑体" panose="02010609060101010101" pitchFamily="1" charset="-122"/>
            </a:endParaRPr>
          </a:p>
        </p:txBody>
      </p:sp>
      <p:sp>
        <p:nvSpPr>
          <p:cNvPr id="3" name="灯片编号占位符 2"/>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1"/>
          <a:stretch>
            <a:fillRect/>
          </a:stretch>
        </p:blipFill>
        <p:spPr>
          <a:xfrm>
            <a:off x="623570" y="1557020"/>
            <a:ext cx="7919720" cy="4360545"/>
          </a:xfrm>
          <a:prstGeom prst="rect">
            <a:avLst/>
          </a:prstGeom>
        </p:spPr>
      </p:pic>
      <p:pic>
        <p:nvPicPr>
          <p:cNvPr id="2" name="图片 1"/>
          <p:cNvPicPr>
            <a:picLocks noChangeAspect="1"/>
          </p:cNvPicPr>
          <p:nvPr/>
        </p:nvPicPr>
        <p:blipFill>
          <a:blip r:embed="rId2"/>
          <a:stretch>
            <a:fillRect/>
          </a:stretch>
        </p:blipFill>
        <p:spPr>
          <a:xfrm>
            <a:off x="1452245" y="1557020"/>
            <a:ext cx="6369050" cy="4267835"/>
          </a:xfrm>
          <a:prstGeom prst="rect">
            <a:avLst/>
          </a:prstGeom>
        </p:spPr>
      </p:pic>
    </p:spTree>
  </p:cSld>
  <p:clrMapOvr>
    <a:masterClrMapping/>
  </p:clrMapOvr>
  <p:transition advTm="265"/>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07315" y="53340"/>
            <a:ext cx="8919845" cy="1143000"/>
          </a:xfrm>
        </p:spPr>
        <p:txBody>
          <a:bodyPr anchor="ctr"/>
          <a:p>
            <a:pPr algn="l"/>
            <a:r>
              <a:rPr sz="2800" b="1" dirty="0">
                <a:ea typeface="黑体" panose="02010609060101010101" pitchFamily="1" charset="-122"/>
              </a:rPr>
              <a:t>Why Should Understanding Business Processes and MIS Be Important to me?</a:t>
            </a:r>
            <a:r>
              <a:rPr lang="en-US" sz="2800" b="1" dirty="0">
                <a:ea typeface="黑体" panose="02010609060101010101" pitchFamily="1" charset="-122"/>
              </a:rPr>
              <a:t>  </a:t>
            </a:r>
            <a:br>
              <a:rPr lang="en-US" sz="2800" b="1" dirty="0">
                <a:ea typeface="黑体" panose="02010609060101010101" pitchFamily="1" charset="-122"/>
              </a:rPr>
            </a:br>
            <a:r>
              <a:rPr lang="en-US" sz="2800" b="1" dirty="0">
                <a:ea typeface="黑体" panose="02010609060101010101" pitchFamily="1" charset="-122"/>
              </a:rPr>
              <a:t>为什么理解业务流程和管理信息系统对我很重要?</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179705" y="1504315"/>
            <a:ext cx="8784590" cy="4822825"/>
          </a:xfrm>
        </p:spPr>
        <p:txBody>
          <a:bodyPr/>
          <a:p>
            <a:pPr marL="0" indent="0" algn="l">
              <a:lnSpc>
                <a:spcPct val="16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Lead to Week 3</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引出第三周的课程</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60000"/>
              </a:lnSpc>
              <a:buClr>
                <a:srgbClr val="FF3300"/>
              </a:buClr>
              <a:buFont typeface="Wingdings" panose="05000000000000000000" charset="0"/>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Understanding how companies make decisions and why?</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60000"/>
              </a:lnSpc>
              <a:buClr>
                <a:srgbClr val="FF3300"/>
              </a:buClr>
              <a:buFont typeface="Wingdings" panose="05000000000000000000" charset="0"/>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了解公司如何做决策以及为什么?</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60000"/>
              </a:lnSpc>
              <a:buClr>
                <a:srgbClr val="FF3300"/>
              </a:buClr>
              <a:buFont typeface="Wingdings" panose="05000000000000000000" charset="0"/>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Give you insight to potential issues across large organizations.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60000"/>
              </a:lnSpc>
              <a:buClr>
                <a:srgbClr val="FF3300"/>
              </a:buClr>
              <a:buFont typeface="Wingdings" panose="05000000000000000000" charset="0"/>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让您洞察大型组织中的潜在问题</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50000"/>
              </a:lnSpc>
              <a:buClr>
                <a:srgbClr val="FF3300"/>
              </a:buClr>
              <a:buFont typeface="Wingdings" panose="05000000000000000000" pitchFamily="2" charset="2"/>
              <a:buNone/>
            </a:pP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07315" y="53340"/>
            <a:ext cx="8919845" cy="1143000"/>
          </a:xfrm>
        </p:spPr>
        <p:txBody>
          <a:bodyPr anchor="ctr"/>
          <a:p>
            <a:pPr algn="l"/>
            <a:r>
              <a:rPr sz="2800" b="1" dirty="0">
                <a:ea typeface="黑体" panose="02010609060101010101" pitchFamily="1" charset="-122"/>
              </a:rPr>
              <a:t>Why Should Understanding Business Processes and MIS Be Important to me?</a:t>
            </a:r>
            <a:r>
              <a:rPr lang="en-US" sz="2800" b="1" dirty="0">
                <a:ea typeface="黑体" panose="02010609060101010101" pitchFamily="1" charset="-122"/>
              </a:rPr>
              <a:t>  </a:t>
            </a:r>
            <a:br>
              <a:rPr lang="en-US" sz="2800" b="1" dirty="0">
                <a:ea typeface="黑体" panose="02010609060101010101" pitchFamily="1" charset="-122"/>
              </a:rPr>
            </a:br>
            <a:r>
              <a:rPr lang="en-US" sz="2800" b="1" dirty="0">
                <a:ea typeface="黑体" panose="02010609060101010101" pitchFamily="1" charset="-122"/>
              </a:rPr>
              <a:t>为什么理解业务流程和管理信息系统对我很重要?</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251460" y="1412240"/>
            <a:ext cx="8784590" cy="4822825"/>
          </a:xfrm>
        </p:spPr>
        <p:txBody>
          <a:bodyPr/>
          <a:p>
            <a:pPr algn="l">
              <a:lnSpc>
                <a:spcPct val="150000"/>
              </a:lnSpc>
              <a:buClr>
                <a:srgbClr val="FF3300"/>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Gauge your interest in different fields of technology on both the vendor side and internal corporate side. This relates to data, analysis, reporting, analytics, thought leadership, programming, systems, networks, etc...</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gn="l">
              <a:lnSpc>
                <a:spcPct val="150000"/>
              </a:lnSpc>
              <a:buClr>
                <a:srgbClr val="FF3300"/>
              </a:buClr>
              <a:buFont typeface="Wingdings" panose="05000000000000000000" charset="0"/>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衡量你对供应商和公司内部不同技术领域的兴趣。这涉及到数据、分析、报告、分析、思维领导、编程、系统、网络等……</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Visualize the inter-relationships and dependencies between functional areas of a company or even within a division/department.</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50000"/>
              </a:lnSpc>
              <a:buClr>
                <a:srgbClr val="FF3300"/>
              </a:buClr>
              <a:buFont typeface="Wingdings" panose="05000000000000000000" charset="0"/>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可视化公司或部门内部功能区域之间的相互关系和依赖关系。</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How strategy based on ‘bad data’ can cause issues.</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gn="l">
              <a:lnSpc>
                <a:spcPct val="150000"/>
              </a:lnSpc>
              <a:buClr>
                <a:srgbClr val="FF3300"/>
              </a:buClr>
              <a:buFont typeface="Wingdings" panose="05000000000000000000" charset="0"/>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基于“坏数据”的策略如何导致问题。</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p"/>
            </a:pP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6" name="文本框 5"/>
          <p:cNvSpPr txBox="1"/>
          <p:nvPr>
            <p:custDataLst>
              <p:tags r:id="rId1"/>
            </p:custDataLst>
          </p:nvPr>
        </p:nvSpPr>
        <p:spPr>
          <a:xfrm>
            <a:off x="547370" y="635000"/>
            <a:ext cx="8121650" cy="5427980"/>
          </a:xfrm>
          <a:prstGeom prst="rect">
            <a:avLst/>
          </a:prstGeom>
          <a:noFill/>
        </p:spPr>
        <p:txBody>
          <a:bodyPr wrap="square" rtlCol="0" anchor="ctr" anchorCtr="0">
            <a:noAutofit/>
          </a:bodyPr>
          <a:p>
            <a:pPr lvl="0" algn="l">
              <a:lnSpc>
                <a:spcPct val="130000"/>
              </a:lnSpc>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位于哈德逊河畔的唐氏木材( Don's Lumber)公司贩卖各种可以用作地板、桌子、装饰用嵌线、窗户、侧线以及屋顶的建筑材料。木材和其他建筑材料的价格总在不断地变化。当客户询问一种预制木地板的价格时，销售代表首先会查看一下手工制作的价目表，然后打电话给供应商询问木地板的最新价格。供应商同样需要查询一张手工制作的价目表，这张价目表每天更新一次。因为手头没有即刻可用的公司最新价格信息，供应商通常必须回电话给唐氏公司的销售代表。请评述一下这种情形对企业带来的影响，说明如何利用信息技术和系统改进这一业务流程，并分析实施这样的信息技术和系统，需要在哪些方面做出决策。</a:t>
            </a:r>
            <a:endParaRPr lang="zh-CN" altLang="en-US" sz="2400">
              <a:solidFill>
                <a:srgbClr val="000000"/>
              </a:solidFill>
              <a:latin typeface="微软雅黑" panose="020B0503020204020204" pitchFamily="2" charset="-122"/>
              <a:ea typeface="微软雅黑" panose="020B0503020204020204" pitchFamily="2" charset="-122"/>
            </a:endParaRPr>
          </a:p>
        </p:txBody>
      </p:sp>
      <p:sp>
        <p:nvSpPr>
          <p:cNvPr id="7" name="圆角矩形 6"/>
          <p:cNvSpPr/>
          <p:nvPr>
            <p:custDataLst>
              <p:tags r:id="rId2"/>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2" charset="-122"/>
                <a:ea typeface="微软雅黑" panose="020B0503020204020204" pitchFamily="2" charset="-122"/>
              </a:rPr>
              <a:t>作答</a:t>
            </a:r>
            <a:endParaRPr lang="zh-CN" altLang="en-US" sz="1600">
              <a:solidFill>
                <a:srgbClr val="FFFFFF"/>
              </a:solidFill>
              <a:latin typeface="微软雅黑" panose="020B0503020204020204" pitchFamily="2" charset="-122"/>
              <a:ea typeface="微软雅黑" panose="020B0503020204020204" pitchFamily="2" charset="-122"/>
            </a:endParaRPr>
          </a:p>
        </p:txBody>
      </p:sp>
      <p:grpSp>
        <p:nvGrpSpPr>
          <p:cNvPr id="12" name="组合 11"/>
          <p:cNvGrpSpPr/>
          <p:nvPr>
            <p:custDataLst>
              <p:tags r:id="rId3"/>
            </p:custDataLst>
          </p:nvPr>
        </p:nvGrpSpPr>
        <p:grpSpPr>
          <a:xfrm>
            <a:off x="0" y="0"/>
            <a:ext cx="9144000" cy="635000"/>
            <a:chOff x="0" y="0"/>
            <a:chExt cx="14400" cy="1000"/>
          </a:xfrm>
        </p:grpSpPr>
        <p:sp>
          <p:nvSpPr>
            <p:cNvPr id="8" name="TitleBackground"/>
            <p:cNvSpPr/>
            <p:nvPr>
              <p:custDataLst>
                <p:tags r:id="rId4"/>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ColorBlock"/>
            <p:cNvSpPr/>
            <p:nvPr>
              <p:custDataLst>
                <p:tags r:id="rId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TypeText"/>
            <p:cNvSpPr txBox="1"/>
            <p:nvPr>
              <p:custDataLst>
                <p:tags r:id="rId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主观题</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11" name="TipText"/>
            <p:cNvSpPr txBox="1"/>
            <p:nvPr>
              <p:custDataLst>
                <p:tags r:id="rId7"/>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rPr>
                <a:t>10分</a:t>
              </a:r>
              <a:endPar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endParaRPr>
            </a:p>
          </p:txBody>
        </p:sp>
      </p:grpSp>
      <p:pic>
        <p:nvPicPr>
          <p:cNvPr id="5" name="图片 4" descr="tmp107B"/>
          <p:cNvPicPr>
            <a:picLocks noChangeAspect="1"/>
          </p:cNvPicPr>
          <p:nvPr>
            <p:custDataLst>
              <p:tags r:id="rId8"/>
            </p:custDataLst>
          </p:nvPr>
        </p:nvPicPr>
        <p:blipFill>
          <a:blip r:embed="rId9"/>
          <a:stretch>
            <a:fillRect/>
          </a:stretch>
        </p:blipFill>
        <p:spPr>
          <a:xfrm>
            <a:off x="7594600" y="63500"/>
            <a:ext cx="1422400" cy="508000"/>
          </a:xfrm>
          <a:prstGeom prst="rect">
            <a:avLst/>
          </a:prstGeom>
        </p:spPr>
      </p:pic>
    </p:spTree>
    <p:custDataLst>
      <p:tags r:id="rId10"/>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RAINPROBLEM" val="ProblemBody"/>
</p:tagLst>
</file>

<file path=ppt/tags/tag13.xml><?xml version="1.0" encoding="utf-8"?>
<p:tagLst xmlns:p="http://schemas.openxmlformats.org/presentationml/2006/main">
  <p:tag name="RAINPROBLEM" val="ProblemSubmit"/>
  <p:tag name="RAINPROBLEMTYPE" val="ShortAnsw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 val="ProblemSetting"/>
  <p:tag name="RAINPROBLEMTYPE" val="ShortAnswer"/>
</p:tagLst>
</file>

<file path=ppt/tags/tag20.xml><?xml version="1.0" encoding="utf-8"?>
<p:tagLst xmlns:p="http://schemas.openxmlformats.org/presentationml/2006/main">
  <p:tag name="RAINPROBLEM" val="ShortAnswer"/>
  <p:tag name="PROBLEMSCORE" val="10.0"/>
  <p:tag name="PROBLEMVOICEALLOWED" val="False"/>
</p:tagLst>
</file>

<file path=ppt/tags/tag21.xml><?xml version="1.0" encoding="utf-8"?>
<p:tagLst xmlns:p="http://schemas.openxmlformats.org/presentationml/2006/main">
  <p:tag name="COMMONDATA" val="eyJoZGlkIjoiNGZjYzJiOWM5ZmU2MTI0Y2UyODMwYjYwZGIzYzUwMDIifQ=="/>
  <p:tag name="KSO_WPP_MARK_KEY" val="55fbc1b8-e010-40e0-9ba3-d2e74667f3bf"/>
  <p:tag name="commondata" val="eyJoZGlkIjoiMjE4OWU2MDJmNjI4ODg4NzJkMTAyNzI1OTcxOTRhZDQifQ=="/>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20643</Words>
  <Application>WPS 演示</Application>
  <PresentationFormat>在屏幕上显示</PresentationFormat>
  <Paragraphs>638</Paragraphs>
  <Slides>71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71</vt:i4>
      </vt:variant>
    </vt:vector>
  </HeadingPairs>
  <TitlesOfParts>
    <vt:vector size="80" baseType="lpstr">
      <vt:lpstr>Arial</vt:lpstr>
      <vt:lpstr>宋体</vt:lpstr>
      <vt:lpstr>Wingdings</vt:lpstr>
      <vt:lpstr>黑体</vt:lpstr>
      <vt:lpstr>微软雅黑</vt:lpstr>
      <vt:lpstr>Calibri</vt:lpstr>
      <vt:lpstr>Arial Unicode MS</vt:lpstr>
      <vt:lpstr>Wingdings</vt:lpstr>
      <vt:lpstr>Default Design</vt:lpstr>
      <vt:lpstr>信息管理</vt:lpstr>
      <vt:lpstr>PowerPoint 演示文稿</vt:lpstr>
      <vt:lpstr>PowerPoint 演示文稿</vt:lpstr>
      <vt:lpstr>Learning Objectives 学习目标</vt:lpstr>
      <vt:lpstr>Learning Objectives 学习目标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Enterprise Social Networking Transforms Sharp Corporation into a More Innovative Connected Organization 企业社交网络将夏普公司转变为一个更加创新的互联组织</vt:lpstr>
      <vt:lpstr>PowerPoint 演示文稿</vt:lpstr>
      <vt:lpstr>PowerPoint 演示文稿</vt:lpstr>
      <vt:lpstr>2.1.1Business Processes 业务流程</vt:lpstr>
      <vt:lpstr>2.1.1 Business Processes 业务流程</vt:lpstr>
      <vt:lpstr>Functional Business Processes Examples 职能性业务流程示例</vt:lpstr>
      <vt:lpstr>图2-1 ERP鸟瞰图示例（集成了3个功能领域）</vt:lpstr>
      <vt:lpstr>How Information Systems Improve/Optimize Processes 2.1.2 信息技术是如何改进/优化业务流程的</vt:lpstr>
      <vt:lpstr>How Information Systems Improve/Optimize Processes 2.1.2 信息技术是如何改进/优化业务流程的</vt:lpstr>
      <vt:lpstr>PowerPoint 演示文稿</vt:lpstr>
      <vt:lpstr>PowerPoint 演示文稿</vt:lpstr>
      <vt:lpstr>1. Transaction Procesing Systems (TPS)事务处理系统</vt:lpstr>
      <vt:lpstr>1. Transaction Procesing Systems (TPS)事务处理系统</vt:lpstr>
      <vt:lpstr>图2-2  薪酬事务处理系统</vt:lpstr>
      <vt:lpstr>2. Management Information Systems (MIS) 管理信息系统</vt:lpstr>
      <vt:lpstr>2. Management Information Systems (MIS) 管理信息系统</vt:lpstr>
      <vt:lpstr>2. Management Information Systems (MIS) 管理信息系统</vt:lpstr>
      <vt:lpstr>图2-3 MIS如何通过组织中的TPS获取数据</vt:lpstr>
      <vt:lpstr>图2-4 MIS报告样本</vt:lpstr>
      <vt:lpstr>3. Decision Support Systems (DSS) 决策支持系统</vt:lpstr>
      <vt:lpstr>3. Decision Support Systems (DSS) 决策支持系统</vt:lpstr>
      <vt:lpstr>图2-5 航运估算决策支持系统</vt:lpstr>
      <vt:lpstr>3. Decision Support Systems (DSS) 决策支持系统</vt:lpstr>
      <vt:lpstr>4. Executive Support Systems (ESS) 经理支持系统</vt:lpstr>
      <vt:lpstr>4. Executive Support Systems (ESS) 经理支持系统</vt:lpstr>
      <vt:lpstr>5.  Enterprise Resource Planning (ERP) 企业资源规划</vt:lpstr>
      <vt:lpstr>5.  Enterprise Resource Planning (ERP) 企业资源规划</vt:lpstr>
      <vt:lpstr>图2-6 企业资源规划的架构</vt:lpstr>
      <vt:lpstr>Custom ERP Systems 定制ERP系统</vt:lpstr>
      <vt:lpstr>Custom ERP Systems 定制ERP系统</vt:lpstr>
      <vt:lpstr>ERP Systems (most common)  ERP系统（最为常见的）</vt:lpstr>
      <vt:lpstr>Supply Chain Management (SCM) 供应链管理</vt:lpstr>
      <vt:lpstr>Customer Relationship Management (CRM) 客户关系管理</vt:lpstr>
      <vt:lpstr>Knowledge Management Systems (KMS)  知识管理系统</vt:lpstr>
      <vt:lpstr>Intranets and Extranets 内联网和外联网</vt:lpstr>
      <vt:lpstr>Intranets and Extranets 内联网和外联网</vt:lpstr>
      <vt:lpstr>2.2.3 E-business, E-commerce, and E-government 电子商业、电子商务和电子政务</vt:lpstr>
      <vt:lpstr>2.2.3 E-business, E-commerce, and E-government 电子商业、电子商务和电子政务</vt:lpstr>
      <vt:lpstr>PowerPoint 演示文稿</vt:lpstr>
      <vt:lpstr>2.3.1 What is Collaboration? 什么是协作？</vt:lpstr>
      <vt:lpstr>2.3.1 What is Collaboration? 什么是协作？</vt:lpstr>
      <vt:lpstr>2.3.2 What is Social Business? 什么是社会化商务？</vt:lpstr>
      <vt:lpstr>2.3.2 What is Social Business? 什么是社会化商务？</vt:lpstr>
      <vt:lpstr>2.3.3 Business Benefits of Collaboration and Teamwork  协作与团队合作带来的商业利益</vt:lpstr>
      <vt:lpstr>2.3.3 Business Benefits of Collaboration and Teamwork  协作与团队合作带来的商业利益</vt:lpstr>
      <vt:lpstr>图2-7 协作的必要条件</vt:lpstr>
      <vt:lpstr>2.3.4 Building a Collaborative Culture and  Business Processes  建设协作性文化和业务流程</vt:lpstr>
      <vt:lpstr>2.3.3 Tools and Technologies for Collaboration and Social Business  协作和社会化商务的工具与技术</vt:lpstr>
      <vt:lpstr>2.3.3 Tools and Technologies for Collaboration and Social Business  协作和社会化商务的工具与技术</vt:lpstr>
      <vt:lpstr>2.3.3 Tools and Technologies for Collaboration and Social Business  协作和社会化商务的工具与技术</vt:lpstr>
      <vt:lpstr>2.3.3 Tools and Technologies for Collaboration and Social Business  协作和社会化商务的工具与技术</vt:lpstr>
      <vt:lpstr>图2-8 基于时间/空间的协作和社会化工具的评估矩阵</vt:lpstr>
      <vt:lpstr>Why Should Understanding Business Processes and MIS Be Important to me?   为什么理解业务流程和管理信息系统对我很重要?</vt:lpstr>
      <vt:lpstr>Why Should Understanding Business Processes and MIS Be Important to me?   为什么理解业务流程和管理信息系统对我很重要?</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Memory Supporting Visualization Tools for Personal Information Management</dc:title>
  <dc:creator>smile</dc:creator>
  <cp:lastModifiedBy>Smile</cp:lastModifiedBy>
  <cp:revision>401</cp:revision>
  <dcterms:created xsi:type="dcterms:W3CDTF">2013-02-23T13:47:00Z</dcterms:created>
  <dcterms:modified xsi:type="dcterms:W3CDTF">2025-10-30T14:21:34Z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BA57A39D7CC64B658A3E44146152A811_13</vt:lpwstr>
  </property>
</Properties>
</file>