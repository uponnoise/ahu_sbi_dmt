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16"/>
  </p:notesMasterIdLst>
  <p:sldIdLst>
    <p:sldId id="280" r:id="rId4"/>
    <p:sldId id="374" r:id="rId5"/>
    <p:sldId id="450" r:id="rId6"/>
    <p:sldId id="343" r:id="rId7"/>
    <p:sldId id="411" r:id="rId8"/>
    <p:sldId id="412" r:id="rId9"/>
    <p:sldId id="413" r:id="rId10"/>
    <p:sldId id="488" r:id="rId11"/>
    <p:sldId id="414" r:id="rId12"/>
    <p:sldId id="415" r:id="rId13"/>
    <p:sldId id="416" r:id="rId14"/>
    <p:sldId id="451" r:id="rId15"/>
    <p:sldId id="489" r:id="rId17"/>
    <p:sldId id="417" r:id="rId18"/>
    <p:sldId id="418" r:id="rId19"/>
    <p:sldId id="419" r:id="rId20"/>
    <p:sldId id="420" r:id="rId21"/>
    <p:sldId id="421" r:id="rId22"/>
    <p:sldId id="445" r:id="rId23"/>
    <p:sldId id="422" r:id="rId24"/>
    <p:sldId id="423" r:id="rId25"/>
    <p:sldId id="424" r:id="rId26"/>
    <p:sldId id="425" r:id="rId27"/>
    <p:sldId id="426" r:id="rId28"/>
    <p:sldId id="442" r:id="rId29"/>
    <p:sldId id="490" r:id="rId30"/>
    <p:sldId id="491" r:id="rId31"/>
    <p:sldId id="492" r:id="rId32"/>
    <p:sldId id="493" r:id="rId33"/>
    <p:sldId id="427" r:id="rId34"/>
    <p:sldId id="428" r:id="rId35"/>
    <p:sldId id="429" r:id="rId36"/>
    <p:sldId id="443" r:id="rId37"/>
    <p:sldId id="433" r:id="rId38"/>
  </p:sldIdLst>
  <p:sldSz cx="12192000" cy="6858000"/>
  <p:notesSz cx="6858000" cy="9144000"/>
  <p:custDataLst>
    <p:tags r:id="rId43"/>
  </p:custDataLst>
  <p:defaultTextStyle>
    <a:defPPr>
      <a:defRPr lang="zh-CN"/>
    </a:defPPr>
    <a:lvl1pPr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R, Nithiyanandhan" initials="RN" lastIdx="1"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07FA3"/>
    <a:srgbClr val="437D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26" d="100"/>
          <a:sy n="126" d="100"/>
        </p:scale>
        <p:origin x="331" y="115"/>
      </p:cViewPr>
      <p:guideLst>
        <p:guide orient="horz" pos="481"/>
        <p:guide pos="4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3" Type="http://schemas.openxmlformats.org/officeDocument/2006/relationships/tags" Target="tags/tag1.xml"/><Relationship Id="rId42" Type="http://schemas.openxmlformats.org/officeDocument/2006/relationships/commentAuthors" Target="commentAuthors.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1.xml"/><Relationship Id="rId39" Type="http://schemas.openxmlformats.org/officeDocument/2006/relationships/presProps" Target="presProps.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notesMaster" Target="notesMasters/notes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smtClean="0">
                <a:latin typeface="+mn-lt"/>
                <a:ea typeface="+mn-ea"/>
              </a:defRPr>
            </a:lvl1pPr>
          </a:lstStyle>
          <a:p>
            <a:pPr>
              <a:defRPr/>
            </a:pPr>
            <a:fld id="{FB3608A3-4DDF-458B-AC15-D0B4B1198D89}" type="datetimeFigureOut">
              <a:rPr lang="zh-CN" altLang="en-US"/>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smtClean="0">
                <a:latin typeface="+mn-lt"/>
                <a:ea typeface="+mn-ea"/>
              </a:defRPr>
            </a:lvl1pPr>
          </a:lstStyle>
          <a:p>
            <a:pPr>
              <a:defRPr/>
            </a:pPr>
            <a:fld id="{E438541B-34D3-47AC-808A-6924AA365441}"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7460D9FD-B979-4686-8E7B-DCFDC217AC2C}"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2C84F8D-36B9-4587-BC54-546E9400915D}" type="slidenum">
              <a:rPr lang="zh-CN" altLang="en-US"/>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11D75158-C32C-4FA4-864D-E9D1031DEE38}"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7FB5D768-0A50-4012-8AD8-D2511D1EA8D1}" type="slidenum">
              <a:rPr lang="zh-CN" altLang="en-US"/>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lvl1pPr>
              <a:defRPr/>
            </a:lvl1pPr>
          </a:lstStyle>
          <a:p>
            <a:pPr>
              <a:defRPr/>
            </a:pPr>
            <a:fld id="{97BE2F43-5307-4145-A269-5325A0117886}"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04EAF96-6476-4F03-B5AB-96AB3B61D002}" type="slidenum">
              <a:rPr lang="zh-CN" altLang="en-US"/>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03B8C8F8-9C16-4443-A69E-0CE0A5E7E5E1}"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63A14347-F67C-402C-ABA6-6BB31F6234E1}" type="slidenum">
              <a:rPr lang="zh-CN" altLang="en-US"/>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B83DA738-9825-4EB5-9574-7AEF58453A72}" type="datetimeFigureOut">
              <a:rPr lang="zh-CN" altLang="en-US"/>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E74C6ED6-C021-4800-A003-FCA3F9A90B6D}" type="slidenum">
              <a:rPr lang="zh-CN" altLang="en-US"/>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B1D33ED9-87F4-4DDD-9600-59BDBA28F7F4}" type="datetimeFigureOut">
              <a:rPr lang="zh-CN" altLang="en-US"/>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4403E43D-2505-4F0D-9202-AB677BD0754C}" type="slidenum">
              <a:rPr lang="zh-CN" altLang="en-US"/>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9464656-3BCB-49B1-821F-047AA03CA5A1}" type="datetimeFigureOut">
              <a:rPr lang="zh-CN" altLang="en-US"/>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3B484E40-AE60-4604-9CAD-BAF6392887A8}" type="slidenum">
              <a:rPr lang="zh-CN" altLang="en-US"/>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3E9DEF82-0B93-4019-8527-2F3393AB6730}"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238365D5-9437-41F6-97B3-2A8713B7E634}" type="slidenum">
              <a:rPr lang="zh-CN" altLang="en-US"/>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3"/>
          <p:cNvSpPr>
            <a:spLocks noGrp="1"/>
          </p:cNvSpPr>
          <p:nvPr>
            <p:ph type="dt" sz="half" idx="10"/>
          </p:nvPr>
        </p:nvSpPr>
        <p:spPr/>
        <p:txBody>
          <a:bodyPr/>
          <a:lstStyle>
            <a:lvl1pPr>
              <a:defRPr/>
            </a:lvl1pPr>
          </a:lstStyle>
          <a:p>
            <a:pPr>
              <a:defRPr/>
            </a:pPr>
            <a:fld id="{9A6ED671-29A7-416D-A19B-6097F828CAF7}" type="datetimeFigureOut">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3B4CB6B6-599C-4FDA-BAA8-6ECAF8C2C524}" type="slidenum">
              <a:rPr lang="zh-CN" altLang="en-US"/>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AF28FB92-4101-4B45-A4D2-E8497CD0443D}"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1850F3E5-C849-4386-A40F-F48F24485892}" type="slidenum">
              <a:rPr lang="zh-CN" altLang="en-US"/>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45443DE8-1959-48B3-8C15-FFC537504E66}" type="datetimeFigureOut">
              <a:rPr lang="zh-CN" altLang="en-US"/>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3799C4BC-C0F8-4772-BF5A-E93B73D8571A}" type="slidenum">
              <a:rPr lang="zh-CN" altLang="en-US"/>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p:txBody>
          <a:bodyPr/>
          <a:lstStyle>
            <a:lvl1pPr marL="118745" indent="-118745">
              <a:buClr>
                <a:srgbClr val="007FA3"/>
              </a:buClr>
              <a:buSzPct val="25000"/>
              <a:defRPr sz="1600"/>
            </a:lvl1pPr>
            <a:lvl2pPr marL="570230"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a:p>
            <a:pPr lvl="5"/>
            <a:r>
              <a:rPr lang="en-US" dirty="0"/>
              <a:t>Sixth</a:t>
            </a:r>
            <a:endParaRPr lang="en-US" dirty="0"/>
          </a:p>
          <a:p>
            <a:pPr lvl="6"/>
            <a:r>
              <a:rPr lang="en-US" dirty="0"/>
              <a:t>Seventh</a:t>
            </a:r>
            <a:endParaRPr lang="en-US" dirty="0"/>
          </a:p>
          <a:p>
            <a:pPr lvl="7"/>
            <a:r>
              <a:rPr lang="en-US" dirty="0"/>
              <a:t>Eighth</a:t>
            </a:r>
            <a:endParaRPr lang="en-US" dirty="0"/>
          </a:p>
          <a:p>
            <a:pPr lvl="8"/>
            <a:r>
              <a:rPr lang="en-US" dirty="0"/>
              <a:t>Ninth</a:t>
            </a:r>
            <a:endParaRPr lang="en-US" dirty="0"/>
          </a:p>
        </p:txBody>
      </p:sp>
      <p:sp>
        <p:nvSpPr>
          <p:cNvPr id="10" name="Footer Placeholder 4"/>
          <p:cNvSpPr>
            <a:spLocks noGrp="1"/>
          </p:cNvSpPr>
          <p:nvPr>
            <p:ph type="ftr" sz="quarter" idx="11"/>
          </p:nvPr>
        </p:nvSpPr>
        <p:spPr>
          <a:xfrm>
            <a:off x="125292" y="6172200"/>
            <a:ext cx="1146048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10" name="Rectangle 9"/>
          <p:cNvSpPr/>
          <p:nvPr/>
        </p:nvSpPr>
        <p:spPr bwMode="white">
          <a:xfrm>
            <a:off x="0" y="0"/>
            <a:ext cx="12192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ctrTitle"/>
          </p:nvPr>
        </p:nvSpPr>
        <p:spPr>
          <a:xfrm>
            <a:off x="914400" y="762000"/>
            <a:ext cx="10363200" cy="2838451"/>
          </a:xfrm>
        </p:spPr>
        <p:txBody>
          <a:bodyPr anchor="b">
            <a:noAutofit/>
          </a:bodyPr>
          <a:lstStyle>
            <a:lvl1pPr algn="l">
              <a:defRPr sz="3600">
                <a:solidFill>
                  <a:schemeClr val="bg1"/>
                </a:solidFill>
              </a:defRPr>
            </a:lvl1pPr>
          </a:lstStyle>
          <a:p>
            <a:r>
              <a:rPr lang="en-US" dirty="0"/>
              <a:t>Click to edit Master title style</a:t>
            </a:r>
            <a:endParaRPr lang="en-US" dirty="0"/>
          </a:p>
        </p:txBody>
      </p:sp>
      <p:sp>
        <p:nvSpPr>
          <p:cNvPr id="3" name="Subtitle 2"/>
          <p:cNvSpPr>
            <a:spLocks noGrp="1"/>
          </p:cNvSpPr>
          <p:nvPr>
            <p:ph type="subTitle" idx="1"/>
          </p:nvPr>
        </p:nvSpPr>
        <p:spPr>
          <a:xfrm>
            <a:off x="899583" y="3962400"/>
            <a:ext cx="10392835"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US" dirty="0"/>
          </a:p>
        </p:txBody>
      </p:sp>
      <p:sp>
        <p:nvSpPr>
          <p:cNvPr id="12" name="Footer Placeholder 4"/>
          <p:cNvSpPr>
            <a:spLocks noGrp="1"/>
          </p:cNvSpPr>
          <p:nvPr>
            <p:ph type="ftr" sz="quarter" idx="11"/>
          </p:nvPr>
        </p:nvSpPr>
        <p:spPr>
          <a:xfrm>
            <a:off x="125292" y="6172200"/>
            <a:ext cx="1146048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fld>
            <a:endParaRPr lang="en-US" dirty="0"/>
          </a:p>
        </p:txBody>
      </p:sp>
      <p:sp>
        <p:nvSpPr>
          <p:cNvPr id="14" name="TextBox 13"/>
          <p:cNvSpPr txBox="1"/>
          <p:nvPr userDrawn="1"/>
        </p:nvSpPr>
        <p:spPr>
          <a:xfrm>
            <a:off x="2133600" y="6429345"/>
            <a:ext cx="9550400" cy="275590"/>
          </a:xfrm>
          <a:prstGeom prst="rect">
            <a:avLst/>
          </a:prstGeom>
          <a:noFill/>
        </p:spPr>
        <p:txBody>
          <a:bodyPr wrap="square" rtlCol="0">
            <a:spAutoFit/>
          </a:bodyPr>
          <a:lstStyle/>
          <a:p>
            <a:pPr algn="r">
              <a:buClrTx/>
              <a:defRPr/>
            </a:pPr>
            <a:r>
              <a:rPr lang="en-IN" sz="1200" b="0" i="0" u="none" strike="noStrike" kern="12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Copyright © 2020</a:t>
            </a:r>
            <a:r>
              <a:rPr lang="en-US" altLang="en-US" sz="1200" dirty="0">
                <a:latin typeface="Verdana" panose="020B0604030504040204" pitchFamily="34" charset="0"/>
                <a:ea typeface="Verdana" panose="020B0604030504040204" pitchFamily="34" charset="0"/>
                <a:cs typeface="Verdana" panose="020B0604030504040204" pitchFamily="34" charset="0"/>
              </a:rPr>
              <a:t> Pearson Education, Inc. 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 y="6376789"/>
            <a:ext cx="1224000" cy="27991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609600" y="215372"/>
            <a:ext cx="10972800" cy="622828"/>
          </a:xfrm>
        </p:spPr>
        <p:txBody>
          <a:bodyPr anchor="t"/>
          <a:lstStyle/>
          <a:p>
            <a:r>
              <a:rPr lang="en-US" dirty="0"/>
              <a:t>Click to edit Master title style</a:t>
            </a:r>
            <a:endParaRPr lang="en-US" dirty="0"/>
          </a:p>
        </p:txBody>
      </p:sp>
      <p:sp>
        <p:nvSpPr>
          <p:cNvPr id="7" name="Text Placeholder 6"/>
          <p:cNvSpPr>
            <a:spLocks noGrp="1"/>
          </p:cNvSpPr>
          <p:nvPr>
            <p:ph type="body" sz="quarter" idx="13" hasCustomPrompt="1"/>
          </p:nvPr>
        </p:nvSpPr>
        <p:spPr>
          <a:xfrm>
            <a:off x="609600" y="816430"/>
            <a:ext cx="109728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endParaRPr lang="en-US" dirty="0"/>
          </a:p>
        </p:txBody>
      </p:sp>
      <p:sp>
        <p:nvSpPr>
          <p:cNvPr id="9" name="Text Placeholder 8"/>
          <p:cNvSpPr>
            <a:spLocks noGrp="1"/>
          </p:cNvSpPr>
          <p:nvPr>
            <p:ph type="body" sz="quarter" idx="14" hasCustomPrompt="1"/>
          </p:nvPr>
        </p:nvSpPr>
        <p:spPr>
          <a:xfrm>
            <a:off x="6705600" y="1600201"/>
            <a:ext cx="48768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endParaRPr lang="en-US" dirty="0"/>
          </a:p>
        </p:txBody>
      </p:sp>
      <p:sp>
        <p:nvSpPr>
          <p:cNvPr id="10" name="Text Placeholder 8"/>
          <p:cNvSpPr>
            <a:spLocks noGrp="1"/>
          </p:cNvSpPr>
          <p:nvPr>
            <p:ph type="body" sz="quarter" idx="15" hasCustomPrompt="1"/>
          </p:nvPr>
        </p:nvSpPr>
        <p:spPr>
          <a:xfrm>
            <a:off x="6705600" y="3200400"/>
            <a:ext cx="48768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fld>
            <a:endParaRPr lang="en-US" dirty="0"/>
          </a:p>
        </p:txBody>
      </p:sp>
      <p:sp>
        <p:nvSpPr>
          <p:cNvPr id="20" name="Text Placeholder 17"/>
          <p:cNvSpPr>
            <a:spLocks noGrp="1"/>
          </p:cNvSpPr>
          <p:nvPr>
            <p:ph type="body" sz="quarter" idx="16" hasCustomPrompt="1"/>
          </p:nvPr>
        </p:nvSpPr>
        <p:spPr>
          <a:xfrm>
            <a:off x="4064000" y="6529254"/>
            <a:ext cx="7823200" cy="187537"/>
          </a:xfrm>
        </p:spPr>
        <p:txBody>
          <a:bodyPr/>
          <a:lstStyle>
            <a:lvl1pPr marL="0" indent="0" algn="r">
              <a:buNone/>
              <a:defRPr sz="800" baseline="0"/>
            </a:lvl1pPr>
          </a:lstStyle>
          <a:p>
            <a:pPr lvl="0"/>
            <a:r>
              <a:rPr lang="en-US" dirty="0"/>
              <a:t>Click to add copyright line</a:t>
            </a:r>
            <a:endParaRPr lang="en-IN"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 y="6376789"/>
            <a:ext cx="1224000" cy="279915"/>
          </a:xfrm>
          <a:prstGeom prst="rect">
            <a:avLst/>
          </a:prstGeom>
        </p:spPr>
      </p:pic>
      <p:sp>
        <p:nvSpPr>
          <p:cNvPr id="13" name="Footer Placeholder 2"/>
          <p:cNvSpPr>
            <a:spLocks noGrp="1"/>
          </p:cNvSpPr>
          <p:nvPr>
            <p:ph type="ftr" sz="quarter" idx="10"/>
          </p:nvPr>
        </p:nvSpPr>
        <p:spPr>
          <a:xfrm>
            <a:off x="125292" y="6172200"/>
            <a:ext cx="11460480" cy="235463"/>
          </a:xfrm>
        </p:spPr>
        <p:txBody>
          <a:bodyPr/>
          <a:lstStyle/>
          <a:p>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609600" y="215372"/>
            <a:ext cx="10972800" cy="622828"/>
          </a:xfrm>
        </p:spPr>
        <p:txBody>
          <a:bodyPr anchor="t"/>
          <a:lstStyle/>
          <a:p>
            <a:r>
              <a:rPr lang="en-US" dirty="0"/>
              <a:t>Click to edit Master title style</a:t>
            </a:r>
            <a:endParaRPr lang="en-US" dirty="0"/>
          </a:p>
        </p:txBody>
      </p:sp>
      <p:sp>
        <p:nvSpPr>
          <p:cNvPr id="7" name="Learning Objectives Placeholder 6"/>
          <p:cNvSpPr>
            <a:spLocks noGrp="1"/>
          </p:cNvSpPr>
          <p:nvPr>
            <p:ph type="body" sz="quarter" idx="13" hasCustomPrompt="1"/>
          </p:nvPr>
        </p:nvSpPr>
        <p:spPr>
          <a:xfrm>
            <a:off x="609600" y="816430"/>
            <a:ext cx="109728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endParaRPr lang="en-US" dirty="0"/>
          </a:p>
        </p:txBody>
      </p:sp>
      <p:sp>
        <p:nvSpPr>
          <p:cNvPr id="9" name="Content Placeholder 8"/>
          <p:cNvSpPr>
            <a:spLocks noGrp="1"/>
          </p:cNvSpPr>
          <p:nvPr>
            <p:ph sz="quarter" idx="14"/>
          </p:nvPr>
        </p:nvSpPr>
        <p:spPr>
          <a:xfrm>
            <a:off x="609600" y="1600200"/>
            <a:ext cx="10972800" cy="4525963"/>
          </a:xfrm>
        </p:spPr>
        <p:txBody>
          <a:bodyPr/>
          <a:lstStyle>
            <a:lvl5pPr>
              <a:defRPr/>
            </a:lvl5pPr>
            <a:lvl6pPr>
              <a:defRPr/>
            </a:lvl6pPr>
            <a:lvl7pPr>
              <a:defRPr/>
            </a:lvl7pPr>
            <a:lvl8pPr>
              <a:defRPr/>
            </a:lvl8pPr>
            <a:lvl9pPr>
              <a:defRPr/>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a:p>
            <a:pPr lvl="5"/>
            <a:r>
              <a:rPr lang="en-US" dirty="0"/>
              <a:t>Sixth</a:t>
            </a:r>
            <a:endParaRPr lang="en-US" dirty="0"/>
          </a:p>
          <a:p>
            <a:pPr lvl="6"/>
            <a:r>
              <a:rPr lang="en-US" dirty="0"/>
              <a:t>Seventh</a:t>
            </a:r>
            <a:endParaRPr lang="en-US" dirty="0"/>
          </a:p>
          <a:p>
            <a:pPr lvl="7"/>
            <a:r>
              <a:rPr lang="en-US" dirty="0"/>
              <a:t>Eighth</a:t>
            </a:r>
            <a:endParaRPr lang="en-US" dirty="0"/>
          </a:p>
          <a:p>
            <a:pPr lvl="8"/>
            <a:r>
              <a:rPr lang="en-US" dirty="0"/>
              <a:t>Ninth</a:t>
            </a:r>
            <a:endParaRPr lang="en-US" dirty="0"/>
          </a:p>
        </p:txBody>
      </p:sp>
      <p:sp>
        <p:nvSpPr>
          <p:cNvPr id="12" name="Footer Placeholder 2"/>
          <p:cNvSpPr>
            <a:spLocks noGrp="1"/>
          </p:cNvSpPr>
          <p:nvPr>
            <p:ph type="ftr" sz="quarter" idx="10"/>
          </p:nvPr>
        </p:nvSpPr>
        <p:spPr>
          <a:xfrm>
            <a:off x="125292" y="6172200"/>
            <a:ext cx="1146048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a:xfrm>
            <a:off x="609600" y="1600201"/>
            <a:ext cx="10972800" cy="457199"/>
          </a:xfrm>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a:p>
            <a:pPr lvl="5"/>
            <a:r>
              <a:rPr lang="en-US" dirty="0"/>
              <a:t>Sixth</a:t>
            </a:r>
            <a:endParaRPr lang="en-US" dirty="0"/>
          </a:p>
          <a:p>
            <a:pPr lvl="6"/>
            <a:r>
              <a:rPr lang="en-US" dirty="0"/>
              <a:t>Seventh</a:t>
            </a:r>
            <a:endParaRPr lang="en-US" dirty="0"/>
          </a:p>
          <a:p>
            <a:pPr lvl="7"/>
            <a:r>
              <a:rPr lang="en-US" dirty="0"/>
              <a:t>Eighth</a:t>
            </a:r>
            <a:endParaRPr lang="en-US" dirty="0"/>
          </a:p>
          <a:p>
            <a:pPr lvl="8"/>
            <a:r>
              <a:rPr lang="en-US" dirty="0"/>
              <a:t>Ninth</a:t>
            </a:r>
            <a:endParaRPr lang="en-US" dirty="0"/>
          </a:p>
        </p:txBody>
      </p:sp>
      <p:sp>
        <p:nvSpPr>
          <p:cNvPr id="12" name="Content Placeholder 11"/>
          <p:cNvSpPr>
            <a:spLocks noGrp="1"/>
          </p:cNvSpPr>
          <p:nvPr>
            <p:ph sz="quarter" idx="13"/>
          </p:nvPr>
        </p:nvSpPr>
        <p:spPr>
          <a:xfrm>
            <a:off x="609600" y="2184389"/>
            <a:ext cx="10972800" cy="46567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4"/>
          <p:cNvSpPr>
            <a:spLocks noGrp="1"/>
          </p:cNvSpPr>
          <p:nvPr>
            <p:ph type="ftr" sz="quarter" idx="11"/>
          </p:nvPr>
        </p:nvSpPr>
        <p:spPr>
          <a:xfrm>
            <a:off x="125292" y="6172200"/>
            <a:ext cx="11460480" cy="235463"/>
          </a:xfrm>
        </p:spPr>
        <p:txBody>
          <a:bodyPr/>
          <a:lstStyle/>
          <a:p>
            <a:endParaRPr lang="en-US" dirty="0"/>
          </a:p>
        </p:txBody>
      </p:sp>
      <p:sp>
        <p:nvSpPr>
          <p:cNvPr id="9" name="Date Placeholder 3"/>
          <p:cNvSpPr>
            <a:spLocks noGrp="1"/>
          </p:cNvSpPr>
          <p:nvPr>
            <p:ph type="dt" sz="half" idx="10"/>
          </p:nvPr>
        </p:nvSpPr>
        <p:spPr>
          <a:xfrm>
            <a:off x="8447617" y="113072"/>
            <a:ext cx="2844800" cy="182880"/>
          </a:xfrm>
        </p:spPr>
        <p:txBody>
          <a:bodyPr/>
          <a:lstStyle/>
          <a:p>
            <a:fld id="{A9DF6EFB-3F44-496C-A842-1E0B3D3B975A}" type="datetimeFigureOut">
              <a:rPr lang="en-US" smtClean="0"/>
            </a:fld>
            <a:endParaRPr lang="en-US" dirty="0"/>
          </a:p>
        </p:txBody>
      </p:sp>
      <p:sp>
        <p:nvSpPr>
          <p:cNvPr id="10" name="Slide Number Placeholder 5"/>
          <p:cNvSpPr>
            <a:spLocks noGrp="1"/>
          </p:cNvSpPr>
          <p:nvPr>
            <p:ph type="sldNum" sz="quarter" idx="12"/>
          </p:nvPr>
        </p:nvSpPr>
        <p:spPr>
          <a:xfrm>
            <a:off x="11292416" y="113072"/>
            <a:ext cx="735711" cy="182880"/>
          </a:xfrm>
        </p:spPr>
        <p:txBody>
          <a:bodyPr/>
          <a:lstStyle/>
          <a:p>
            <a:fld id="{200B2350-5261-4F5C-9DF5-EF0D264FC8D2}" type="slidenum">
              <a:rPr lang="en-US" smtClean="0"/>
            </a:fld>
            <a:endParaRPr lang="en-US" dirty="0"/>
          </a:p>
        </p:txBody>
      </p:sp>
      <p:sp>
        <p:nvSpPr>
          <p:cNvPr id="14" name="Content Placeholder 13"/>
          <p:cNvSpPr>
            <a:spLocks noGrp="1"/>
          </p:cNvSpPr>
          <p:nvPr>
            <p:ph sz="quarter" idx="14"/>
          </p:nvPr>
        </p:nvSpPr>
        <p:spPr>
          <a:xfrm>
            <a:off x="609600" y="2785532"/>
            <a:ext cx="10972800" cy="542186"/>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16" name="Content Placeholder 15"/>
          <p:cNvSpPr>
            <a:spLocks noGrp="1"/>
          </p:cNvSpPr>
          <p:nvPr>
            <p:ph sz="quarter" idx="15"/>
          </p:nvPr>
        </p:nvSpPr>
        <p:spPr>
          <a:xfrm>
            <a:off x="609600" y="3513666"/>
            <a:ext cx="10972800" cy="448734"/>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18" name="Content Placeholder 17"/>
          <p:cNvSpPr>
            <a:spLocks noGrp="1"/>
          </p:cNvSpPr>
          <p:nvPr>
            <p:ph sz="quarter" idx="16"/>
          </p:nvPr>
        </p:nvSpPr>
        <p:spPr>
          <a:xfrm>
            <a:off x="609600" y="4114797"/>
            <a:ext cx="10972800" cy="609603"/>
          </a:xfrm>
        </p:spPr>
        <p:txBody>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a:xfrm>
            <a:off x="609600" y="1600201"/>
            <a:ext cx="10972800" cy="457199"/>
          </a:xfrm>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a:p>
            <a:pPr lvl="5"/>
            <a:r>
              <a:rPr lang="en-US" dirty="0"/>
              <a:t>Sixth</a:t>
            </a:r>
            <a:endParaRPr lang="en-US" dirty="0"/>
          </a:p>
          <a:p>
            <a:pPr lvl="6"/>
            <a:r>
              <a:rPr lang="en-US" dirty="0"/>
              <a:t>Seventh</a:t>
            </a:r>
            <a:endParaRPr lang="en-US" dirty="0"/>
          </a:p>
          <a:p>
            <a:pPr lvl="7"/>
            <a:r>
              <a:rPr lang="en-US" dirty="0"/>
              <a:t>Eighth</a:t>
            </a:r>
            <a:endParaRPr lang="en-US" dirty="0"/>
          </a:p>
          <a:p>
            <a:pPr lvl="8"/>
            <a:r>
              <a:rPr lang="en-US" dirty="0"/>
              <a:t>Ninth</a:t>
            </a:r>
            <a:endParaRPr lang="en-US" dirty="0"/>
          </a:p>
        </p:txBody>
      </p:sp>
      <p:sp>
        <p:nvSpPr>
          <p:cNvPr id="12" name="Content Placeholder 11"/>
          <p:cNvSpPr>
            <a:spLocks noGrp="1"/>
          </p:cNvSpPr>
          <p:nvPr>
            <p:ph sz="quarter" idx="13"/>
          </p:nvPr>
        </p:nvSpPr>
        <p:spPr>
          <a:xfrm>
            <a:off x="609600" y="2184389"/>
            <a:ext cx="10972800" cy="46567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4"/>
          <p:cNvSpPr>
            <a:spLocks noGrp="1"/>
          </p:cNvSpPr>
          <p:nvPr>
            <p:ph type="ftr" sz="quarter" idx="11"/>
          </p:nvPr>
        </p:nvSpPr>
        <p:spPr>
          <a:xfrm>
            <a:off x="125292" y="6172200"/>
            <a:ext cx="11460480" cy="235463"/>
          </a:xfrm>
        </p:spPr>
        <p:txBody>
          <a:bodyPr/>
          <a:lstStyle/>
          <a:p>
            <a:endParaRPr lang="en-US" dirty="0"/>
          </a:p>
        </p:txBody>
      </p:sp>
      <p:sp>
        <p:nvSpPr>
          <p:cNvPr id="9" name="Date Placeholder 3"/>
          <p:cNvSpPr>
            <a:spLocks noGrp="1"/>
          </p:cNvSpPr>
          <p:nvPr>
            <p:ph type="dt" sz="half" idx="10"/>
          </p:nvPr>
        </p:nvSpPr>
        <p:spPr>
          <a:xfrm>
            <a:off x="8447617" y="113072"/>
            <a:ext cx="2844800" cy="182880"/>
          </a:xfrm>
        </p:spPr>
        <p:txBody>
          <a:bodyPr/>
          <a:lstStyle/>
          <a:p>
            <a:fld id="{A9DF6EFB-3F44-496C-A842-1E0B3D3B975A}" type="datetimeFigureOut">
              <a:rPr lang="en-US" smtClean="0"/>
            </a:fld>
            <a:endParaRPr lang="en-US" dirty="0"/>
          </a:p>
        </p:txBody>
      </p:sp>
      <p:sp>
        <p:nvSpPr>
          <p:cNvPr id="10" name="Slide Number Placeholder 5"/>
          <p:cNvSpPr>
            <a:spLocks noGrp="1"/>
          </p:cNvSpPr>
          <p:nvPr>
            <p:ph type="sldNum" sz="quarter" idx="12"/>
          </p:nvPr>
        </p:nvSpPr>
        <p:spPr>
          <a:xfrm>
            <a:off x="11292416" y="113072"/>
            <a:ext cx="735711" cy="182880"/>
          </a:xfrm>
        </p:spPr>
        <p:txBody>
          <a:bodyPr/>
          <a:lstStyle/>
          <a:p>
            <a:fld id="{200B2350-5261-4F5C-9DF5-EF0D264FC8D2}" type="slidenum">
              <a:rPr lang="en-US" smtClean="0"/>
            </a:fld>
            <a:endParaRPr lang="en-US" dirty="0"/>
          </a:p>
        </p:txBody>
      </p:sp>
      <p:sp>
        <p:nvSpPr>
          <p:cNvPr id="14" name="Content Placeholder 13"/>
          <p:cNvSpPr>
            <a:spLocks noGrp="1"/>
          </p:cNvSpPr>
          <p:nvPr>
            <p:ph sz="quarter" idx="14"/>
          </p:nvPr>
        </p:nvSpPr>
        <p:spPr>
          <a:xfrm>
            <a:off x="609600" y="2785532"/>
            <a:ext cx="10972800" cy="542186"/>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16" name="Content Placeholder 15"/>
          <p:cNvSpPr>
            <a:spLocks noGrp="1"/>
          </p:cNvSpPr>
          <p:nvPr>
            <p:ph sz="quarter" idx="15"/>
          </p:nvPr>
        </p:nvSpPr>
        <p:spPr>
          <a:xfrm>
            <a:off x="609600" y="3513666"/>
            <a:ext cx="10972800" cy="448734"/>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18" name="Content Placeholder 17"/>
          <p:cNvSpPr>
            <a:spLocks noGrp="1"/>
          </p:cNvSpPr>
          <p:nvPr>
            <p:ph sz="quarter" idx="16"/>
          </p:nvPr>
        </p:nvSpPr>
        <p:spPr>
          <a:xfrm>
            <a:off x="609600" y="4114797"/>
            <a:ext cx="10972800" cy="609603"/>
          </a:xfrm>
        </p:spPr>
        <p:txBody>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
        <p:nvSpPr>
          <p:cNvPr id="11" name="Content Placeholder 17"/>
          <p:cNvSpPr>
            <a:spLocks noGrp="1"/>
          </p:cNvSpPr>
          <p:nvPr>
            <p:ph sz="quarter" idx="17"/>
          </p:nvPr>
        </p:nvSpPr>
        <p:spPr>
          <a:xfrm>
            <a:off x="649404" y="4898792"/>
            <a:ext cx="10972800" cy="609603"/>
          </a:xfrm>
        </p:spPr>
        <p:txBody>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p:txBody>
          <a:bodyPr/>
          <a:lstStyle>
            <a:lvl1pPr marL="118745" indent="-118745">
              <a:buClr>
                <a:srgbClr val="007FA3"/>
              </a:buClr>
              <a:buSzPct val="25000"/>
              <a:defRPr sz="1600"/>
            </a:lvl1pPr>
            <a:lvl2pPr marL="570230"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a:p>
            <a:pPr lvl="5"/>
            <a:r>
              <a:rPr lang="en-US" dirty="0"/>
              <a:t>Sixth</a:t>
            </a:r>
            <a:endParaRPr lang="en-US" dirty="0"/>
          </a:p>
          <a:p>
            <a:pPr lvl="6"/>
            <a:r>
              <a:rPr lang="en-US" dirty="0"/>
              <a:t>Seventh</a:t>
            </a:r>
            <a:endParaRPr lang="en-US" dirty="0"/>
          </a:p>
          <a:p>
            <a:pPr lvl="7"/>
            <a:r>
              <a:rPr lang="en-US" dirty="0"/>
              <a:t>Eighth</a:t>
            </a:r>
            <a:endParaRPr lang="en-US" dirty="0"/>
          </a:p>
          <a:p>
            <a:pPr lvl="8"/>
            <a:r>
              <a:rPr lang="en-US" dirty="0"/>
              <a:t>Ninth</a:t>
            </a:r>
            <a:endParaRPr lang="en-US" dirty="0"/>
          </a:p>
        </p:txBody>
      </p:sp>
      <p:sp>
        <p:nvSpPr>
          <p:cNvPr id="10" name="Footer Placeholder 4"/>
          <p:cNvSpPr>
            <a:spLocks noGrp="1"/>
          </p:cNvSpPr>
          <p:nvPr>
            <p:ph type="ftr" sz="quarter" idx="11"/>
          </p:nvPr>
        </p:nvSpPr>
        <p:spPr>
          <a:xfrm>
            <a:off x="125292" y="6172200"/>
            <a:ext cx="1146048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Learning Objectives and lin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a:xfrm>
            <a:off x="609600" y="1600201"/>
            <a:ext cx="10972800" cy="1600200"/>
          </a:xfrm>
        </p:spPr>
        <p:txBody>
          <a:bodyPr/>
          <a:lstStyle>
            <a:lvl1pPr marL="118745" indent="-118745">
              <a:buClr>
                <a:srgbClr val="007FA3"/>
              </a:buClr>
              <a:buSzPct val="25000"/>
              <a:defRPr sz="1600"/>
            </a:lvl1pPr>
            <a:lvl2pPr marL="570230"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a:p>
            <a:pPr lvl="5"/>
            <a:r>
              <a:rPr lang="en-US" dirty="0"/>
              <a:t>Sixth</a:t>
            </a:r>
            <a:endParaRPr lang="en-US" dirty="0"/>
          </a:p>
          <a:p>
            <a:pPr lvl="6"/>
            <a:r>
              <a:rPr lang="en-US" dirty="0"/>
              <a:t>Seventh</a:t>
            </a:r>
            <a:endParaRPr lang="en-US" dirty="0"/>
          </a:p>
          <a:p>
            <a:pPr lvl="7"/>
            <a:r>
              <a:rPr lang="en-US" dirty="0"/>
              <a:t>Eighth</a:t>
            </a:r>
            <a:endParaRPr lang="en-US" dirty="0"/>
          </a:p>
          <a:p>
            <a:pPr lvl="8"/>
            <a:r>
              <a:rPr lang="en-US" dirty="0"/>
              <a:t>Ninth</a:t>
            </a:r>
            <a:endParaRPr lang="en-US" dirty="0"/>
          </a:p>
        </p:txBody>
      </p:sp>
      <p:sp>
        <p:nvSpPr>
          <p:cNvPr id="10" name="Footer Placeholder 4"/>
          <p:cNvSpPr>
            <a:spLocks noGrp="1"/>
          </p:cNvSpPr>
          <p:nvPr>
            <p:ph type="ftr" sz="quarter" idx="11"/>
          </p:nvPr>
        </p:nvSpPr>
        <p:spPr>
          <a:xfrm>
            <a:off x="125292" y="6172200"/>
            <a:ext cx="1146048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fld>
            <a:endParaRPr lang="en-US" dirty="0"/>
          </a:p>
        </p:txBody>
      </p:sp>
      <p:sp>
        <p:nvSpPr>
          <p:cNvPr id="5" name="Text Placeholder 4"/>
          <p:cNvSpPr>
            <a:spLocks noGrp="1"/>
          </p:cNvSpPr>
          <p:nvPr>
            <p:ph type="body" sz="quarter" idx="13"/>
          </p:nvPr>
        </p:nvSpPr>
        <p:spPr>
          <a:xfrm>
            <a:off x="609600" y="3352800"/>
            <a:ext cx="11074400" cy="1447800"/>
          </a:xfrm>
        </p:spPr>
        <p:txBody>
          <a:bodyPr/>
          <a:lstStyle/>
          <a:p>
            <a:pPr lvl="0"/>
            <a:r>
              <a:rPr lang="en-US" dirty="0" smtClean="0"/>
              <a:t>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IN"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showMasterSp="0"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609600" y="228600"/>
            <a:ext cx="10972800" cy="1066800"/>
          </a:xfrm>
        </p:spPr>
        <p:txBody>
          <a:bodyPr anchor="t"/>
          <a:lstStyle>
            <a:lvl1pPr>
              <a:defRPr sz="3400">
                <a:solidFill>
                  <a:srgbClr val="007FA3"/>
                </a:solidFill>
              </a:defRPr>
            </a:lvl1pPr>
          </a:lstStyle>
          <a:p>
            <a:r>
              <a:rPr lang="en-US" dirty="0"/>
              <a:t>Click to add figure number and title</a:t>
            </a:r>
            <a:endParaRPr lang="en-US" dirty="0"/>
          </a:p>
        </p:txBody>
      </p:sp>
      <p:sp>
        <p:nvSpPr>
          <p:cNvPr id="10" name="Text Placeholder 9"/>
          <p:cNvSpPr>
            <a:spLocks noGrp="1"/>
          </p:cNvSpPr>
          <p:nvPr>
            <p:ph type="body" sz="quarter" idx="13" hasCustomPrompt="1"/>
          </p:nvPr>
        </p:nvSpPr>
        <p:spPr>
          <a:xfrm>
            <a:off x="609600" y="5368160"/>
            <a:ext cx="109728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endParaRPr lang="en-US" dirty="0"/>
          </a:p>
        </p:txBody>
      </p:sp>
      <p:sp>
        <p:nvSpPr>
          <p:cNvPr id="11" name="Footer Placeholder 2"/>
          <p:cNvSpPr>
            <a:spLocks noGrp="1"/>
          </p:cNvSpPr>
          <p:nvPr>
            <p:ph type="ftr" sz="quarter" idx="11"/>
          </p:nvPr>
        </p:nvSpPr>
        <p:spPr>
          <a:xfrm>
            <a:off x="125292" y="6172200"/>
            <a:ext cx="1146048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fld>
            <a:endParaRPr lang="en-US" dirty="0"/>
          </a:p>
        </p:txBody>
      </p:sp>
      <p:sp>
        <p:nvSpPr>
          <p:cNvPr id="14" name="TextBox 13"/>
          <p:cNvSpPr txBox="1"/>
          <p:nvPr userDrawn="1"/>
        </p:nvSpPr>
        <p:spPr>
          <a:xfrm>
            <a:off x="2133600" y="6429345"/>
            <a:ext cx="9550400" cy="275590"/>
          </a:xfrm>
          <a:prstGeom prst="rect">
            <a:avLst/>
          </a:prstGeom>
          <a:noFill/>
        </p:spPr>
        <p:txBody>
          <a:bodyPr wrap="square" rtlCol="0">
            <a:spAutoFit/>
          </a:bodyPr>
          <a:lstStyle/>
          <a:p>
            <a:pPr algn="r">
              <a:buClrTx/>
              <a:defRPr/>
            </a:pPr>
            <a:r>
              <a:rPr lang="en-IN" sz="1200" b="0" i="0" u="none" strike="noStrike" kern="12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Copyright © 2020</a:t>
            </a:r>
            <a:r>
              <a:rPr lang="en-US" altLang="en-US" sz="1200" dirty="0">
                <a:latin typeface="Verdana" panose="020B0604030504040204" pitchFamily="34" charset="0"/>
                <a:ea typeface="Verdana" panose="020B0604030504040204" pitchFamily="34" charset="0"/>
                <a:cs typeface="Verdana" panose="020B0604030504040204" pitchFamily="34" charset="0"/>
              </a:rPr>
              <a:t> Pearson Education, Inc. 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 y="6376789"/>
            <a:ext cx="1224000" cy="279915"/>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a:xfrm>
            <a:off x="609600" y="1600200"/>
            <a:ext cx="109728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Content Placeholder 2"/>
          <p:cNvSpPr>
            <a:spLocks noGrp="1"/>
          </p:cNvSpPr>
          <p:nvPr>
            <p:ph idx="13"/>
          </p:nvPr>
        </p:nvSpPr>
        <p:spPr>
          <a:xfrm>
            <a:off x="609600" y="3962400"/>
            <a:ext cx="109728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1" name="Footer Placeholder 4"/>
          <p:cNvSpPr>
            <a:spLocks noGrp="1"/>
          </p:cNvSpPr>
          <p:nvPr>
            <p:ph type="ftr" sz="quarter" idx="11"/>
          </p:nvPr>
        </p:nvSpPr>
        <p:spPr>
          <a:xfrm>
            <a:off x="125292" y="6172200"/>
            <a:ext cx="1146048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Title and Two Content, link">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a:xfrm>
            <a:off x="609600" y="1600201"/>
            <a:ext cx="109728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Content Placeholder 2"/>
          <p:cNvSpPr>
            <a:spLocks noGrp="1"/>
          </p:cNvSpPr>
          <p:nvPr>
            <p:ph idx="13"/>
          </p:nvPr>
        </p:nvSpPr>
        <p:spPr>
          <a:xfrm>
            <a:off x="609600" y="2514600"/>
            <a:ext cx="10972800" cy="8382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1" name="Footer Placeholder 4"/>
          <p:cNvSpPr>
            <a:spLocks noGrp="1"/>
          </p:cNvSpPr>
          <p:nvPr>
            <p:ph type="ftr" sz="quarter" idx="11"/>
          </p:nvPr>
        </p:nvSpPr>
        <p:spPr>
          <a:xfrm>
            <a:off x="125292" y="6172200"/>
            <a:ext cx="1146048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fld>
            <a:endParaRPr lang="en-US" dirty="0"/>
          </a:p>
        </p:txBody>
      </p:sp>
      <p:sp>
        <p:nvSpPr>
          <p:cNvPr id="10" name="Content Placeholder 9"/>
          <p:cNvSpPr>
            <a:spLocks noGrp="1"/>
          </p:cNvSpPr>
          <p:nvPr>
            <p:ph sz="quarter" idx="15"/>
          </p:nvPr>
        </p:nvSpPr>
        <p:spPr>
          <a:xfrm>
            <a:off x="609600" y="3505200"/>
            <a:ext cx="10972800" cy="762000"/>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
        <p:nvSpPr>
          <p:cNvPr id="5" name="Text Placeholder 4"/>
          <p:cNvSpPr>
            <a:spLocks noGrp="1"/>
          </p:cNvSpPr>
          <p:nvPr>
            <p:ph type="body" sz="quarter" idx="14"/>
          </p:nvPr>
        </p:nvSpPr>
        <p:spPr>
          <a:xfrm>
            <a:off x="609600" y="4495800"/>
            <a:ext cx="10972800" cy="838200"/>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a:xfrm>
            <a:off x="609600" y="1600201"/>
            <a:ext cx="10972800" cy="11430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9" name="Content Placeholder 2"/>
          <p:cNvSpPr>
            <a:spLocks noGrp="1"/>
          </p:cNvSpPr>
          <p:nvPr>
            <p:ph idx="14"/>
          </p:nvPr>
        </p:nvSpPr>
        <p:spPr>
          <a:xfrm>
            <a:off x="609600" y="2819400"/>
            <a:ext cx="10972800" cy="15240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Content Placeholder 2"/>
          <p:cNvSpPr>
            <a:spLocks noGrp="1"/>
          </p:cNvSpPr>
          <p:nvPr>
            <p:ph idx="13"/>
          </p:nvPr>
        </p:nvSpPr>
        <p:spPr>
          <a:xfrm>
            <a:off x="609600" y="4495800"/>
            <a:ext cx="10972800" cy="16303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1" name="Footer Placeholder 4"/>
          <p:cNvSpPr>
            <a:spLocks noGrp="1"/>
          </p:cNvSpPr>
          <p:nvPr>
            <p:ph type="ftr" sz="quarter" idx="11"/>
          </p:nvPr>
        </p:nvSpPr>
        <p:spPr>
          <a:xfrm>
            <a:off x="125292" y="6172200"/>
            <a:ext cx="1146048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a:xfrm>
            <a:off x="609600" y="1600201"/>
            <a:ext cx="10972800" cy="6857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Content Placeholder 2"/>
          <p:cNvSpPr>
            <a:spLocks noGrp="1"/>
          </p:cNvSpPr>
          <p:nvPr>
            <p:ph idx="13"/>
          </p:nvPr>
        </p:nvSpPr>
        <p:spPr>
          <a:xfrm>
            <a:off x="609600" y="3589868"/>
            <a:ext cx="10972800" cy="703052"/>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1" name="Footer Placeholder 4"/>
          <p:cNvSpPr>
            <a:spLocks noGrp="1"/>
          </p:cNvSpPr>
          <p:nvPr>
            <p:ph type="ftr" sz="quarter" idx="11"/>
          </p:nvPr>
        </p:nvSpPr>
        <p:spPr>
          <a:xfrm>
            <a:off x="125292" y="6172200"/>
            <a:ext cx="1146048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fld>
            <a:endParaRPr lang="en-US" dirty="0"/>
          </a:p>
        </p:txBody>
      </p:sp>
      <p:sp>
        <p:nvSpPr>
          <p:cNvPr id="9" name="Content Placeholder 2"/>
          <p:cNvSpPr>
            <a:spLocks noGrp="1"/>
          </p:cNvSpPr>
          <p:nvPr>
            <p:ph idx="14"/>
          </p:nvPr>
        </p:nvSpPr>
        <p:spPr>
          <a:xfrm>
            <a:off x="609600" y="2819400"/>
            <a:ext cx="109728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Content Placeholder 4"/>
          <p:cNvSpPr>
            <a:spLocks noGrp="1"/>
          </p:cNvSpPr>
          <p:nvPr>
            <p:ph sz="quarter" idx="15"/>
          </p:nvPr>
        </p:nvSpPr>
        <p:spPr>
          <a:xfrm>
            <a:off x="609600" y="4572000"/>
            <a:ext cx="10972800" cy="1447800"/>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a:xfrm>
            <a:off x="609600" y="1600201"/>
            <a:ext cx="10972800" cy="685799"/>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9" name="Content Placeholder 2"/>
          <p:cNvSpPr>
            <a:spLocks noGrp="1"/>
          </p:cNvSpPr>
          <p:nvPr>
            <p:ph idx="14"/>
          </p:nvPr>
        </p:nvSpPr>
        <p:spPr>
          <a:xfrm>
            <a:off x="609600" y="2819400"/>
            <a:ext cx="10972800" cy="609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Content Placeholder 2"/>
          <p:cNvSpPr>
            <a:spLocks noGrp="1"/>
          </p:cNvSpPr>
          <p:nvPr>
            <p:ph idx="13"/>
          </p:nvPr>
        </p:nvSpPr>
        <p:spPr>
          <a:xfrm>
            <a:off x="609600" y="3589868"/>
            <a:ext cx="10972800" cy="703052"/>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Content Placeholder 4"/>
          <p:cNvSpPr>
            <a:spLocks noGrp="1"/>
          </p:cNvSpPr>
          <p:nvPr>
            <p:ph sz="quarter" idx="15"/>
          </p:nvPr>
        </p:nvSpPr>
        <p:spPr>
          <a:xfrm>
            <a:off x="609600" y="4572000"/>
            <a:ext cx="10972800" cy="736280"/>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10" name="Content Placeholder 9"/>
          <p:cNvSpPr>
            <a:spLocks noGrp="1"/>
          </p:cNvSpPr>
          <p:nvPr>
            <p:ph sz="quarter" idx="16"/>
          </p:nvPr>
        </p:nvSpPr>
        <p:spPr>
          <a:xfrm>
            <a:off x="609600" y="5410200"/>
            <a:ext cx="10972800" cy="685800"/>
          </a:xfrm>
        </p:spPr>
        <p:txBody>
          <a:bodyPr/>
          <a:lstStyle/>
          <a:p>
            <a:pPr lvl="0"/>
            <a:r>
              <a:rPr lang="en-US" dirty="0"/>
              <a:t>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IN" dirty="0"/>
          </a:p>
        </p:txBody>
      </p:sp>
      <p:sp>
        <p:nvSpPr>
          <p:cNvPr id="11" name="Footer Placeholder 4"/>
          <p:cNvSpPr>
            <a:spLocks noGrp="1"/>
          </p:cNvSpPr>
          <p:nvPr>
            <p:ph type="ftr" sz="quarter" idx="11"/>
          </p:nvPr>
        </p:nvSpPr>
        <p:spPr>
          <a:xfrm>
            <a:off x="125292" y="6172200"/>
            <a:ext cx="1146048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fld>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1447800"/>
            <a:ext cx="10363200" cy="2152651"/>
          </a:xfrm>
        </p:spPr>
        <p:txBody>
          <a:bodyPr anchor="b">
            <a:noAutofit/>
          </a:bodyPr>
          <a:lstStyle>
            <a:lvl1pPr algn="l">
              <a:defRPr sz="3400" b="1" cap="none" baseline="0">
                <a:solidFill>
                  <a:srgbClr val="007FA3"/>
                </a:solidFill>
              </a:defRPr>
            </a:lvl1pPr>
          </a:lstStyle>
          <a:p>
            <a:r>
              <a:rPr lang="en-US" dirty="0"/>
              <a:t>Click to edit Master title style</a:t>
            </a:r>
            <a:endParaRPr lang="en-US" dirty="0"/>
          </a:p>
        </p:txBody>
      </p:sp>
      <p:sp>
        <p:nvSpPr>
          <p:cNvPr id="3" name="Text Placeholder 2"/>
          <p:cNvSpPr>
            <a:spLocks noGrp="1"/>
          </p:cNvSpPr>
          <p:nvPr>
            <p:ph type="body" idx="1"/>
          </p:nvPr>
        </p:nvSpPr>
        <p:spPr>
          <a:xfrm>
            <a:off x="899583" y="3962400"/>
            <a:ext cx="10392836"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endParaRPr lang="en-US" dirty="0"/>
          </a:p>
        </p:txBody>
      </p:sp>
      <p:sp>
        <p:nvSpPr>
          <p:cNvPr id="9" name="Footer Placeholder 4"/>
          <p:cNvSpPr>
            <a:spLocks noGrp="1"/>
          </p:cNvSpPr>
          <p:nvPr>
            <p:ph type="ftr" sz="quarter" idx="11"/>
          </p:nvPr>
        </p:nvSpPr>
        <p:spPr>
          <a:xfrm>
            <a:off x="125292" y="6172200"/>
            <a:ext cx="1146048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endParaRPr lang="en-US" dirty="0"/>
          </a:p>
        </p:txBody>
      </p:sp>
      <p:sp>
        <p:nvSpPr>
          <p:cNvPr id="9" name="Footer Placeholder 3"/>
          <p:cNvSpPr>
            <a:spLocks noGrp="1"/>
          </p:cNvSpPr>
          <p:nvPr>
            <p:ph type="ftr" sz="quarter" idx="11"/>
          </p:nvPr>
        </p:nvSpPr>
        <p:spPr>
          <a:xfrm>
            <a:off x="125292" y="6172200"/>
            <a:ext cx="1146048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fld>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showMasterSp="0"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125292" y="6172200"/>
            <a:ext cx="1146048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fld>
            <a:endParaRPr lang="en-US" dirty="0"/>
          </a:p>
        </p:txBody>
      </p:sp>
      <p:sp>
        <p:nvSpPr>
          <p:cNvPr id="10" name="TextBox 9"/>
          <p:cNvSpPr txBox="1"/>
          <p:nvPr userDrawn="1"/>
        </p:nvSpPr>
        <p:spPr>
          <a:xfrm>
            <a:off x="2133600" y="6429345"/>
            <a:ext cx="9550400" cy="275590"/>
          </a:xfrm>
          <a:prstGeom prst="rect">
            <a:avLst/>
          </a:prstGeom>
          <a:noFill/>
        </p:spPr>
        <p:txBody>
          <a:bodyPr wrap="square" rtlCol="0">
            <a:spAutoFit/>
          </a:bodyPr>
          <a:lstStyle/>
          <a:p>
            <a:pPr algn="r">
              <a:buClrTx/>
              <a:defRPr/>
            </a:pPr>
            <a:r>
              <a:rPr lang="en-IN" sz="1200" b="0" i="0" u="none" strike="noStrike" kern="12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Copyright © 2020</a:t>
            </a:r>
            <a:r>
              <a:rPr lang="en-US" altLang="en-US" sz="1200" dirty="0">
                <a:latin typeface="Verdana" panose="020B0604030504040204" pitchFamily="34" charset="0"/>
                <a:ea typeface="Verdana" panose="020B0604030504040204" pitchFamily="34" charset="0"/>
                <a:cs typeface="Verdana" panose="020B0604030504040204" pitchFamily="34" charset="0"/>
              </a:rPr>
              <a:t> Pearson Education, Inc. 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09600" y="6376789"/>
            <a:ext cx="1224000" cy="279915"/>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Title and Two link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endParaRPr lang="en-US" dirty="0"/>
          </a:p>
        </p:txBody>
      </p:sp>
      <p:sp>
        <p:nvSpPr>
          <p:cNvPr id="3" name="Content Placeholder 2"/>
          <p:cNvSpPr>
            <a:spLocks noGrp="1"/>
          </p:cNvSpPr>
          <p:nvPr>
            <p:ph idx="1"/>
          </p:nvPr>
        </p:nvSpPr>
        <p:spPr>
          <a:xfrm>
            <a:off x="609600" y="1600201"/>
            <a:ext cx="10972800" cy="990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Content Placeholder 2"/>
          <p:cNvSpPr>
            <a:spLocks noGrp="1"/>
          </p:cNvSpPr>
          <p:nvPr>
            <p:ph idx="13"/>
          </p:nvPr>
        </p:nvSpPr>
        <p:spPr>
          <a:xfrm>
            <a:off x="609600" y="2743201"/>
            <a:ext cx="10972800" cy="990600"/>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1" name="Footer Placeholder 4"/>
          <p:cNvSpPr>
            <a:spLocks noGrp="1"/>
          </p:cNvSpPr>
          <p:nvPr>
            <p:ph type="ftr" sz="quarter" idx="11"/>
          </p:nvPr>
        </p:nvSpPr>
        <p:spPr>
          <a:xfrm>
            <a:off x="125292" y="6172200"/>
            <a:ext cx="1146048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fld>
            <a:endParaRPr lang="en-US" dirty="0"/>
          </a:p>
        </p:txBody>
      </p:sp>
      <p:sp>
        <p:nvSpPr>
          <p:cNvPr id="5" name="Text Placeholder 4"/>
          <p:cNvSpPr>
            <a:spLocks noGrp="1"/>
          </p:cNvSpPr>
          <p:nvPr>
            <p:ph type="body" sz="quarter" idx="14"/>
          </p:nvPr>
        </p:nvSpPr>
        <p:spPr>
          <a:xfrm>
            <a:off x="609600" y="3876675"/>
            <a:ext cx="10972800" cy="1279525"/>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9" Type="http://schemas.openxmlformats.org/officeDocument/2006/relationships/theme" Target="../theme/theme2.xml"/><Relationship Id="rId18" Type="http://schemas.openxmlformats.org/officeDocument/2006/relationships/image" Target="../media/image1.emf"/><Relationship Id="rId17" Type="http://schemas.openxmlformats.org/officeDocument/2006/relationships/slideLayout" Target="../slideLayouts/slideLayout29.xml"/><Relationship Id="rId16" Type="http://schemas.openxmlformats.org/officeDocument/2006/relationships/slideLayout" Target="../slideLayouts/slideLayout28.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ea typeface="+mn-ea"/>
              </a:defRPr>
            </a:lvl1pPr>
          </a:lstStyle>
          <a:p>
            <a:pPr>
              <a:defRPr/>
            </a:pPr>
            <a:fld id="{49BD3E94-727E-4401-AA1F-9E4D1E1EB161}" type="datetimeFigureOut">
              <a:rPr lang="zh-CN" altLang="en-US"/>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mn-lt"/>
                <a:ea typeface="+mn-ea"/>
              </a:defRPr>
            </a:lvl1pPr>
          </a:lstStyle>
          <a:p>
            <a:pPr>
              <a:defRPr/>
            </a:pPr>
            <a:fld id="{D721C8D7-BF34-49E2-9A49-2638587F14BD}"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2pPr>
      <a:lvl3pPr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3pPr>
      <a:lvl4pPr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4pPr>
      <a:lvl5pPr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Agency FB" panose="020B0503020202020204" pitchFamily="34" charset="0"/>
          <a:ea typeface="微软雅黑" panose="020B0503020204020204" pitchFamily="34" charset="-122"/>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15372"/>
            <a:ext cx="109728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endParaRPr lang="en-US" dirty="0"/>
          </a:p>
        </p:txBody>
      </p:sp>
      <p:sp>
        <p:nvSpPr>
          <p:cNvPr id="3" name="Text Placeholder 2"/>
          <p:cNvSpPr>
            <a:spLocks noGrp="1"/>
          </p:cNvSpPr>
          <p:nvPr>
            <p:ph type="body" idx="1"/>
          </p:nvPr>
        </p:nvSpPr>
        <p:spPr>
          <a:xfrm>
            <a:off x="609600" y="1600200"/>
            <a:ext cx="10972800" cy="4525963"/>
          </a:xfrm>
          <a:prstGeom prst="rect">
            <a:avLst/>
          </a:prstGeom>
        </p:spPr>
        <p:txBody>
          <a:bodyPr vert="horz" lIns="0" tIns="0" rIns="0" bIns="0" rtlCol="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a:p>
            <a:pPr lvl="5"/>
            <a:r>
              <a:rPr lang="en-US" dirty="0"/>
              <a:t>Sixth</a:t>
            </a:r>
            <a:endParaRPr lang="en-US" dirty="0"/>
          </a:p>
          <a:p>
            <a:pPr lvl="6"/>
            <a:r>
              <a:rPr lang="en-US" dirty="0"/>
              <a:t>Seventh</a:t>
            </a:r>
            <a:endParaRPr lang="en-US" dirty="0"/>
          </a:p>
          <a:p>
            <a:pPr lvl="7"/>
            <a:r>
              <a:rPr lang="en-US" dirty="0"/>
              <a:t>Eighth</a:t>
            </a:r>
            <a:endParaRPr lang="en-US" dirty="0"/>
          </a:p>
          <a:p>
            <a:pPr lvl="8"/>
            <a:r>
              <a:rPr lang="en-US" dirty="0"/>
              <a:t>Ninth</a:t>
            </a:r>
            <a:endParaRPr lang="en-US" dirty="0"/>
          </a:p>
        </p:txBody>
      </p:sp>
      <p:sp>
        <p:nvSpPr>
          <p:cNvPr id="11" name="Footer Placeholder 4"/>
          <p:cNvSpPr>
            <a:spLocks noGrp="1"/>
          </p:cNvSpPr>
          <p:nvPr>
            <p:ph type="ftr" sz="quarter" idx="3"/>
          </p:nvPr>
        </p:nvSpPr>
        <p:spPr>
          <a:xfrm>
            <a:off x="125292" y="6172200"/>
            <a:ext cx="1146048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8447617" y="113072"/>
            <a:ext cx="28448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fld>
            <a:endParaRPr lang="en-US" dirty="0"/>
          </a:p>
        </p:txBody>
      </p:sp>
      <p:sp>
        <p:nvSpPr>
          <p:cNvPr id="6" name="Slide Number Placeholder 5"/>
          <p:cNvSpPr>
            <a:spLocks noGrp="1"/>
          </p:cNvSpPr>
          <p:nvPr>
            <p:ph type="sldNum" sz="quarter" idx="4"/>
          </p:nvPr>
        </p:nvSpPr>
        <p:spPr>
          <a:xfrm>
            <a:off x="11292416" y="113072"/>
            <a:ext cx="735711"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fld>
            <a:endParaRPr lang="en-US" dirty="0"/>
          </a:p>
        </p:txBody>
      </p:sp>
      <p:sp>
        <p:nvSpPr>
          <p:cNvPr id="9" name="TextBox 8"/>
          <p:cNvSpPr txBox="1"/>
          <p:nvPr userDrawn="1"/>
        </p:nvSpPr>
        <p:spPr>
          <a:xfrm>
            <a:off x="2133600" y="6429345"/>
            <a:ext cx="9550400" cy="275590"/>
          </a:xfrm>
          <a:prstGeom prst="rect">
            <a:avLst/>
          </a:prstGeom>
          <a:noFill/>
        </p:spPr>
        <p:txBody>
          <a:bodyPr wrap="square" rtlCol="0">
            <a:spAutoFit/>
          </a:bodyPr>
          <a:lstStyle/>
          <a:p>
            <a:pPr algn="r">
              <a:buClrTx/>
              <a:defRPr/>
            </a:pPr>
            <a:r>
              <a:rPr lang="en-IN" sz="1200" b="0" i="0" u="none" strike="noStrike" kern="1200" baseline="0" dirty="0">
                <a:solidFill>
                  <a:schemeClr val="tx1"/>
                </a:solidFill>
                <a:latin typeface="Verdana" panose="020B0604030504040204" pitchFamily="34" charset="0"/>
                <a:ea typeface="Verdana" panose="020B0604030504040204" pitchFamily="34" charset="0"/>
                <a:cs typeface="Verdana" panose="020B0604030504040204" pitchFamily="34" charset="0"/>
              </a:rPr>
              <a:t>Copyright © 2020</a:t>
            </a:r>
            <a:r>
              <a:rPr lang="en-US" altLang="en-US" sz="1200" dirty="0">
                <a:latin typeface="Verdana" panose="020B0604030504040204" pitchFamily="34" charset="0"/>
                <a:ea typeface="Verdana" panose="020B0604030504040204" pitchFamily="34" charset="0"/>
                <a:cs typeface="Verdana" panose="020B0604030504040204" pitchFamily="34" charset="0"/>
              </a:rPr>
              <a:t> Pearson Education, Inc. All Rights Reserved</a:t>
            </a:r>
            <a:endParaRPr lang="en-US" altLang="en-US" sz="1200" dirty="0">
              <a:latin typeface="Verdana" panose="020B0604030504040204" pitchFamily="34" charset="0"/>
              <a:ea typeface="Verdana" panose="020B0604030504040204" pitchFamily="34" charset="0"/>
              <a:cs typeface="Verdana" panose="020B0604030504040204" pitchFamily="34" charset="0"/>
            </a:endParaRPr>
          </a:p>
        </p:txBody>
      </p:sp>
      <p:pic>
        <p:nvPicPr>
          <p:cNvPr id="10" name="Picture 9" descr="Pearson Logo"/>
          <p:cNvPicPr>
            <a:picLocks noChangeAspect="1"/>
          </p:cNvPicPr>
          <p:nvPr userDrawn="1"/>
        </p:nvPicPr>
        <p:blipFill>
          <a:blip r:embed="rId18" cstate="print">
            <a:extLst>
              <a:ext uri="{28A0092B-C50C-407E-A947-70E740481C1C}">
                <a14:useLocalDpi xmlns:a14="http://schemas.microsoft.com/office/drawing/2010/main" val="0"/>
              </a:ext>
            </a:extLst>
          </a:blip>
          <a:stretch>
            <a:fillRect/>
          </a:stretch>
        </p:blipFill>
        <p:spPr>
          <a:xfrm>
            <a:off x="609600" y="6376789"/>
            <a:ext cx="1224000" cy="279915"/>
          </a:xfrm>
          <a:prstGeom prst="rect">
            <a:avLst/>
          </a:prstGeom>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Lst>
  <p:txStyles>
    <p:title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p:titleStyle>
    <p:bodyStyle>
      <a:lvl1pPr marL="255905" indent="-255905"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7.png"/><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1.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8.xml"/><Relationship Id="rId1"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3.png"/></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18.xml"/><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18.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18.xml"/><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image" Target="../media/image39.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42.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44.png"/><Relationship Id="rId1" Type="http://schemas.openxmlformats.org/officeDocument/2006/relationships/image" Target="../media/image43.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46.png"/><Relationship Id="rId1" Type="http://schemas.openxmlformats.org/officeDocument/2006/relationships/image" Target="../media/image45.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47.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49.png"/><Relationship Id="rId1" Type="http://schemas.openxmlformats.org/officeDocument/2006/relationships/image" Target="../media/image48.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52.png"/><Relationship Id="rId1" Type="http://schemas.openxmlformats.org/officeDocument/2006/relationships/image" Target="../media/image51.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53.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54.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55.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56.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57.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58.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59.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60.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image" Target="../media/image62.png"/><Relationship Id="rId1"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122" name="内容占位符 2"/>
          <p:cNvSpPr>
            <a:spLocks noGrp="1" noChangeArrowheads="1"/>
          </p:cNvSpPr>
          <p:nvPr>
            <p:ph idx="1"/>
          </p:nvPr>
        </p:nvSpPr>
        <p:spPr>
          <a:xfrm>
            <a:off x="1630836" y="1825625"/>
            <a:ext cx="9039135" cy="4351338"/>
          </a:xfrm>
        </p:spPr>
        <p:txBody>
          <a:bodyPr/>
          <a:lstStyle/>
          <a:p>
            <a:pPr>
              <a:lnSpc>
                <a:spcPct val="100000"/>
              </a:lnSpc>
              <a:buClr>
                <a:srgbClr val="007FA3"/>
              </a:buClr>
            </a:pPr>
            <a:r>
              <a:rPr lang="en-US" altLang="zh-CN" dirty="0">
                <a:latin typeface="Arial" panose="020B0604020202020204" pitchFamily="34" charset="0"/>
                <a:cs typeface="Arial" panose="020B0604020202020204" pitchFamily="34" charset="0"/>
              </a:rPr>
              <a:t>25.1 Interference and Coherent Sources</a:t>
            </a:r>
            <a:endParaRPr lang="en-US" altLang="zh-CN" dirty="0">
              <a:latin typeface="Arial" panose="020B0604020202020204" pitchFamily="34" charset="0"/>
              <a:cs typeface="Arial" panose="020B0604020202020204" pitchFamily="34" charset="0"/>
            </a:endParaRPr>
          </a:p>
          <a:p>
            <a:pPr>
              <a:lnSpc>
                <a:spcPct val="100000"/>
              </a:lnSpc>
              <a:buClr>
                <a:srgbClr val="007FA3"/>
              </a:buClr>
            </a:pPr>
            <a:r>
              <a:rPr lang="en-US" altLang="zh-CN" dirty="0">
                <a:latin typeface="Arial" panose="020B0604020202020204" pitchFamily="34" charset="0"/>
                <a:cs typeface="Arial" panose="020B0604020202020204" pitchFamily="34" charset="0"/>
              </a:rPr>
              <a:t>25.2 Two-Source Interference of Light</a:t>
            </a:r>
            <a:endParaRPr lang="en-US" altLang="zh-CN" dirty="0">
              <a:latin typeface="Arial" panose="020B0604020202020204" pitchFamily="34" charset="0"/>
              <a:cs typeface="Arial" panose="020B0604020202020204" pitchFamily="34" charset="0"/>
            </a:endParaRPr>
          </a:p>
          <a:p>
            <a:pPr>
              <a:lnSpc>
                <a:spcPct val="100000"/>
              </a:lnSpc>
              <a:buClr>
                <a:srgbClr val="007FA3"/>
              </a:buClr>
            </a:pPr>
            <a:r>
              <a:rPr lang="en-US" altLang="zh-CN" dirty="0">
                <a:latin typeface="Arial" panose="020B0604020202020204" pitchFamily="34" charset="0"/>
                <a:cs typeface="Arial" panose="020B0604020202020204" pitchFamily="34" charset="0"/>
              </a:rPr>
              <a:t>25.3 Intensity in Interference Patterns</a:t>
            </a:r>
            <a:endParaRPr lang="en-US" altLang="zh-CN" dirty="0">
              <a:latin typeface="Arial" panose="020B0604020202020204" pitchFamily="34" charset="0"/>
              <a:cs typeface="Arial" panose="020B0604020202020204" pitchFamily="34" charset="0"/>
            </a:endParaRPr>
          </a:p>
          <a:p>
            <a:pPr>
              <a:lnSpc>
                <a:spcPct val="100000"/>
              </a:lnSpc>
              <a:buClr>
                <a:srgbClr val="007FA3"/>
              </a:buClr>
            </a:pPr>
            <a:r>
              <a:rPr lang="en-US" altLang="zh-CN" dirty="0">
                <a:latin typeface="Arial" panose="020B0604020202020204" pitchFamily="34" charset="0"/>
                <a:cs typeface="Arial" panose="020B0604020202020204" pitchFamily="34" charset="0"/>
              </a:rPr>
              <a:t>25.4 Interference in Thin Films</a:t>
            </a:r>
            <a:endParaRPr lang="en-US" altLang="zh-CN" dirty="0">
              <a:latin typeface="Arial" panose="020B0604020202020204" pitchFamily="34" charset="0"/>
              <a:cs typeface="Arial" panose="020B0604020202020204" pitchFamily="34" charset="0"/>
            </a:endParaRPr>
          </a:p>
          <a:p>
            <a:pPr>
              <a:lnSpc>
                <a:spcPct val="100000"/>
              </a:lnSpc>
              <a:buClr>
                <a:srgbClr val="007FA3"/>
              </a:buClr>
            </a:pPr>
            <a:r>
              <a:rPr lang="en-US" altLang="zh-CN" dirty="0">
                <a:latin typeface="Arial" panose="020B0604020202020204" pitchFamily="34" charset="0"/>
                <a:cs typeface="Arial" panose="020B0604020202020204" pitchFamily="34" charset="0"/>
              </a:rPr>
              <a:t>25.5 The Michelson Interferometer</a:t>
            </a:r>
            <a:endParaRPr lang="en-US" altLang="zh-CN" dirty="0">
              <a:latin typeface="Arial" panose="020B0604020202020204" pitchFamily="34" charset="0"/>
              <a:cs typeface="Arial" panose="020B0604020202020204" pitchFamily="34" charset="0"/>
            </a:endParaRPr>
          </a:p>
        </p:txBody>
      </p:sp>
      <p:sp>
        <p:nvSpPr>
          <p:cNvPr id="4" name="Text Placeholder 3"/>
          <p:cNvSpPr>
            <a:spLocks noGrp="1"/>
          </p:cNvSpPr>
          <p:nvPr>
            <p:ph type="title"/>
          </p:nvPr>
        </p:nvSpPr>
        <p:spPr>
          <a:xfrm>
            <a:off x="952107" y="500062"/>
            <a:ext cx="10077253" cy="1325563"/>
          </a:xfrm>
        </p:spPr>
        <p:txBody>
          <a:bodyPr rtlCol="0">
            <a:normAutofit/>
          </a:bodyPr>
          <a:lstStyle/>
          <a:p>
            <a:pPr algn="ctr" fontAlgn="auto">
              <a:spcAft>
                <a:spcPts val="0"/>
              </a:spcAft>
              <a:defRPr/>
            </a:pPr>
            <a:r>
              <a:rPr lang="en-IN" sz="4000" b="1" dirty="0">
                <a:solidFill>
                  <a:srgbClr val="007FA3"/>
                </a:solidFill>
                <a:latin typeface="Arial" panose="020B0604020202020204" pitchFamily="34" charset="0"/>
                <a:ea typeface="+mn-ea"/>
                <a:cs typeface="Arial" panose="020B0604020202020204" pitchFamily="34" charset="0"/>
              </a:rPr>
              <a:t>Chapter </a:t>
            </a:r>
            <a:r>
              <a:rPr lang="en-US" altLang="en-IN" sz="4000" b="1" dirty="0">
                <a:solidFill>
                  <a:srgbClr val="007FA3"/>
                </a:solidFill>
                <a:latin typeface="Arial" panose="020B0604020202020204" pitchFamily="34" charset="0"/>
                <a:ea typeface="+mn-ea"/>
                <a:cs typeface="Arial" panose="020B0604020202020204" pitchFamily="34" charset="0"/>
              </a:rPr>
              <a:t>25</a:t>
            </a:r>
            <a:r>
              <a:rPr lang="en-IN" sz="4000" b="1" dirty="0">
                <a:solidFill>
                  <a:srgbClr val="007FA3"/>
                </a:solidFill>
                <a:latin typeface="Arial" panose="020B0604020202020204" pitchFamily="34" charset="0"/>
                <a:ea typeface="+mn-ea"/>
                <a:cs typeface="Arial" panose="020B0604020202020204" pitchFamily="34" charset="0"/>
              </a:rPr>
              <a:t>  </a:t>
            </a:r>
            <a:r>
              <a:rPr lang="en-US" sz="4000" b="1" dirty="0">
                <a:solidFill>
                  <a:srgbClr val="007FA3"/>
                </a:solidFill>
                <a:latin typeface="Arial" panose="020B0604020202020204" pitchFamily="34" charset="0"/>
                <a:ea typeface="+mn-ea"/>
                <a:cs typeface="Arial" panose="020B0604020202020204" pitchFamily="34" charset="0"/>
              </a:rPr>
              <a:t>INTERFERENCE </a:t>
            </a:r>
            <a:endParaRPr lang="en-US" sz="4000" b="1" dirty="0">
              <a:solidFill>
                <a:srgbClr val="007FA3"/>
              </a:solidFill>
              <a:latin typeface="Arial" panose="020B0604020202020204" pitchFamily="34" charset="0"/>
              <a:ea typeface="+mn-ea"/>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Title 9"/>
          <p:cNvSpPr>
            <a:spLocks noGrp="1"/>
          </p:cNvSpPr>
          <p:nvPr/>
        </p:nvSpPr>
        <p:spPr>
          <a:xfrm>
            <a:off x="609600" y="-172613"/>
            <a:ext cx="10972800" cy="1097280"/>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Arial" panose="020B0604020202020204" pitchFamily="34" charset="0"/>
                <a:ea typeface="+mn-ea"/>
                <a:cs typeface="Times New Roman" panose="02020603050405020304" pitchFamily="18" charset="0"/>
              </a:defRPr>
            </a:lvl1pPr>
          </a:lstStyle>
          <a:p>
            <a:r>
              <a:rPr lang="en-US" altLang="en-US" sz="3600"/>
              <a:t>Goals for chapter 3</a:t>
            </a:r>
            <a:endParaRPr lang="en-US" altLang="en-US" sz="3600"/>
          </a:p>
        </p:txBody>
      </p:sp>
      <p:sp>
        <p:nvSpPr>
          <p:cNvPr id="11" name="Content Placeholder 10"/>
          <p:cNvSpPr>
            <a:spLocks noGrp="1"/>
          </p:cNvSpPr>
          <p:nvPr/>
        </p:nvSpPr>
        <p:spPr>
          <a:xfrm>
            <a:off x="1195070" y="1212215"/>
            <a:ext cx="10130790" cy="4724400"/>
          </a:xfrm>
          <a:prstGeom prst="rect">
            <a:avLst/>
          </a:prstGeom>
        </p:spPr>
        <p:txBody>
          <a:bodyPr vert="horz" lIns="0" tIns="0" rIns="0" bIns="0" rtlCol="0">
            <a:noAutofit/>
          </a:bodyPr>
          <a:lstStyle>
            <a:lvl1pPr marL="118745" indent="-118745" algn="l" defTabSz="914400" rtl="0" eaLnBrk="1" latinLnBrk="0" hangingPunct="1">
              <a:spcBef>
                <a:spcPts val="1500"/>
              </a:spcBef>
              <a:buClr>
                <a:srgbClr val="007FA3"/>
              </a:buClr>
              <a:buSzPct val="25000"/>
              <a:buFont typeface="Arial" panose="020B0604020202020204" pitchFamily="34" charset="0"/>
              <a:buChar char="•"/>
              <a:defRPr sz="1600" kern="1200">
                <a:solidFill>
                  <a:sysClr val="windowText" lastClr="000000"/>
                </a:solidFill>
                <a:latin typeface="Arial" panose="020B0604020202020204" pitchFamily="34" charset="0"/>
                <a:ea typeface="+mn-ea"/>
                <a:cs typeface="+mn-ea"/>
              </a:defRPr>
            </a:lvl1pPr>
            <a:lvl2pPr marL="570230" indent="-285750" algn="l" defTabSz="914400" rtl="0" eaLnBrk="1" latinLnBrk="0" hangingPunct="1">
              <a:spcBef>
                <a:spcPts val="600"/>
              </a:spcBef>
              <a:buClr>
                <a:srgbClr val="007FA3"/>
              </a:buClr>
              <a:buFont typeface="Arial" panose="020B0604020202020204" pitchFamily="34" charset="0"/>
              <a:buChar char="–"/>
              <a:defRPr sz="1600" kern="1200">
                <a:solidFill>
                  <a:sysClr val="windowText" lastClr="000000"/>
                </a:solidFill>
                <a:latin typeface="Arial" panose="020B0604020202020204" pitchFamily="34" charset="0"/>
                <a:ea typeface="+mn-ea"/>
                <a:cs typeface="+mn-ea"/>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ysClr val="windowText" lastClr="000000"/>
                </a:solidFill>
                <a:latin typeface="Arial" panose="020B0604020202020204" pitchFamily="34" charset="0"/>
                <a:ea typeface="+mn-ea"/>
                <a:cs typeface="+mn-ea"/>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ysClr val="windowText" lastClr="000000"/>
                </a:solidFill>
                <a:latin typeface="Arial" panose="020B0604020202020204" pitchFamily="34" charset="0"/>
                <a:ea typeface="+mn-ea"/>
                <a:cs typeface="+mn-ea"/>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ysClr val="windowText" lastClr="000000"/>
                </a:solidFill>
                <a:latin typeface="Arial" panose="020B0604020202020204" pitchFamily="34" charset="0"/>
                <a:ea typeface="+mn-ea"/>
                <a:cs typeface="+mn-ea"/>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ysClr val="windowText" lastClr="000000"/>
                </a:solidFill>
                <a:latin typeface="Arial" panose="020B0604020202020204" pitchFamily="34" charset="0"/>
                <a:ea typeface="+mn-ea"/>
                <a:cs typeface="+mn-ea"/>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ysClr val="windowText" lastClr="000000"/>
                </a:solidFill>
                <a:latin typeface="Arial" panose="020B0604020202020204" pitchFamily="34" charset="0"/>
                <a:ea typeface="+mn-ea"/>
                <a:cs typeface="+mn-ea"/>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ysClr val="windowText" lastClr="000000"/>
                </a:solidFill>
                <a:latin typeface="Arial" panose="020B0604020202020204" pitchFamily="34" charset="0"/>
                <a:ea typeface="+mn-ea"/>
                <a:cs typeface="+mn-ea"/>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ysClr val="windowText" lastClr="000000"/>
                </a:solidFill>
                <a:latin typeface="Arial" panose="020B0604020202020204" pitchFamily="34" charset="0"/>
                <a:ea typeface="+mn-ea"/>
                <a:cs typeface="+mn-ea"/>
              </a:defRPr>
            </a:lvl9pPr>
          </a:lstStyle>
          <a:p>
            <a:pPr marL="255905" indent="-255905">
              <a:buSzPct val="100000"/>
            </a:pPr>
            <a:r>
              <a:rPr lang="en-CA" altLang="en-US" sz="2400" dirty="0">
                <a:sym typeface="+mn-ea"/>
              </a:rPr>
              <a:t>What happens when two waves</a:t>
            </a:r>
            <a:r>
              <a:rPr lang="en-US" altLang="en-CA" sz="2400" dirty="0">
                <a:sym typeface="+mn-ea"/>
              </a:rPr>
              <a:t> </a:t>
            </a:r>
            <a:r>
              <a:rPr lang="en-CA" altLang="en-US" sz="2400" dirty="0">
                <a:sym typeface="+mn-ea"/>
              </a:rPr>
              <a:t>combine, or interfere, in space.</a:t>
            </a:r>
            <a:endParaRPr lang="en-CA" altLang="en-US" sz="2400" dirty="0">
              <a:sym typeface="+mn-ea"/>
            </a:endParaRPr>
          </a:p>
          <a:p>
            <a:pPr marL="255905" indent="-255905">
              <a:buSzPct val="100000"/>
            </a:pPr>
            <a:r>
              <a:rPr lang="en-CA" altLang="en-US" sz="2400" dirty="0">
                <a:sym typeface="+mn-ea"/>
              </a:rPr>
              <a:t>How to understand the interference</a:t>
            </a:r>
            <a:r>
              <a:rPr lang="en-US" altLang="en-CA" sz="2400" dirty="0">
                <a:sym typeface="+mn-ea"/>
              </a:rPr>
              <a:t> </a:t>
            </a:r>
            <a:r>
              <a:rPr lang="en-CA" altLang="en-US" sz="2400" dirty="0">
                <a:sym typeface="+mn-ea"/>
              </a:rPr>
              <a:t>pattern formed by the interference of</a:t>
            </a:r>
            <a:endParaRPr lang="en-CA" altLang="en-US" sz="2400" dirty="0">
              <a:sym typeface="+mn-ea"/>
            </a:endParaRPr>
          </a:p>
          <a:p>
            <a:pPr marL="0" indent="0">
              <a:buSzPct val="100000"/>
              <a:buNone/>
            </a:pPr>
            <a:r>
              <a:rPr lang="en-CA" altLang="en-US" sz="2400" dirty="0">
                <a:sym typeface="+mn-ea"/>
              </a:rPr>
              <a:t>two coherent light waves.</a:t>
            </a:r>
            <a:endParaRPr lang="en-CA" altLang="en-US" sz="2400" dirty="0">
              <a:sym typeface="+mn-ea"/>
            </a:endParaRPr>
          </a:p>
          <a:p>
            <a:pPr marL="255905" indent="-255905">
              <a:buSzPct val="100000"/>
            </a:pPr>
            <a:r>
              <a:rPr lang="en-CA" altLang="en-US" sz="2400" dirty="0">
                <a:sym typeface="+mn-ea"/>
              </a:rPr>
              <a:t>How to calculate the intensity at</a:t>
            </a:r>
            <a:r>
              <a:rPr lang="en-US" altLang="en-CA" sz="2400" dirty="0">
                <a:sym typeface="+mn-ea"/>
              </a:rPr>
              <a:t> </a:t>
            </a:r>
            <a:r>
              <a:rPr lang="en-CA" altLang="en-US" sz="2400" dirty="0">
                <a:sym typeface="+mn-ea"/>
              </a:rPr>
              <a:t>various points in an interference</a:t>
            </a:r>
            <a:r>
              <a:rPr lang="en-US" altLang="en-CA" sz="2400" dirty="0">
                <a:sym typeface="+mn-ea"/>
              </a:rPr>
              <a:t> </a:t>
            </a:r>
            <a:r>
              <a:rPr lang="en-CA" altLang="en-US" sz="2400" dirty="0">
                <a:sym typeface="+mn-ea"/>
              </a:rPr>
              <a:t>pattern.</a:t>
            </a:r>
            <a:endParaRPr lang="en-CA" altLang="en-US" sz="2400" dirty="0">
              <a:sym typeface="+mn-ea"/>
            </a:endParaRPr>
          </a:p>
          <a:p>
            <a:pPr marL="255905" indent="-255905">
              <a:buSzPct val="100000"/>
            </a:pPr>
            <a:r>
              <a:rPr lang="en-CA" altLang="en-US" sz="2400" dirty="0">
                <a:sym typeface="+mn-ea"/>
              </a:rPr>
              <a:t>How interference occurs when light</a:t>
            </a:r>
            <a:r>
              <a:rPr lang="en-US" altLang="en-CA" sz="2400" dirty="0">
                <a:sym typeface="+mn-ea"/>
              </a:rPr>
              <a:t> </a:t>
            </a:r>
            <a:r>
              <a:rPr lang="en-CA" altLang="en-US" sz="2400" dirty="0">
                <a:sym typeface="+mn-ea"/>
              </a:rPr>
              <a:t>reflects from the two surfaces of a</a:t>
            </a:r>
            <a:endParaRPr lang="en-CA" altLang="en-US" sz="2400" dirty="0">
              <a:sym typeface="+mn-ea"/>
            </a:endParaRPr>
          </a:p>
          <a:p>
            <a:pPr marL="0" indent="0">
              <a:buSzPct val="100000"/>
              <a:buNone/>
            </a:pPr>
            <a:r>
              <a:rPr lang="en-CA" altLang="en-US" sz="2400" dirty="0">
                <a:sym typeface="+mn-ea"/>
              </a:rPr>
              <a:t>thin film.</a:t>
            </a:r>
            <a:endParaRPr lang="en-CA" altLang="en-US" sz="2400" dirty="0">
              <a:sym typeface="+mn-ea"/>
            </a:endParaRPr>
          </a:p>
          <a:p>
            <a:pPr marL="255905" indent="-255905">
              <a:buSzPct val="100000"/>
            </a:pPr>
            <a:r>
              <a:rPr lang="en-CA" altLang="en-US" sz="2400" dirty="0">
                <a:sym typeface="+mn-ea"/>
              </a:rPr>
              <a:t>How interference makes it possible</a:t>
            </a:r>
            <a:r>
              <a:rPr lang="en-US" altLang="en-CA" sz="2400" dirty="0">
                <a:sym typeface="+mn-ea"/>
              </a:rPr>
              <a:t> </a:t>
            </a:r>
            <a:r>
              <a:rPr lang="en-CA" altLang="en-US" sz="2400" dirty="0">
                <a:sym typeface="+mn-ea"/>
              </a:rPr>
              <a:t>to measure extremely small</a:t>
            </a:r>
            <a:endParaRPr lang="en-CA" altLang="en-US" sz="2400" dirty="0">
              <a:sym typeface="+mn-ea"/>
            </a:endParaRPr>
          </a:p>
          <a:p>
            <a:pPr marL="0" indent="0">
              <a:buSzPct val="100000"/>
              <a:buNone/>
            </a:pPr>
            <a:r>
              <a:rPr lang="en-CA" altLang="en-US" sz="2400" dirty="0">
                <a:sym typeface="+mn-ea"/>
              </a:rPr>
              <a:t>distances.</a:t>
            </a:r>
            <a:endParaRPr lang="en-CA" altLang="en-US" sz="2400" dirty="0">
              <a:sym typeface="+mn-ea"/>
            </a:endParaRPr>
          </a:p>
          <a:p>
            <a:pPr marL="0" indent="0">
              <a:buSzPct val="100000"/>
              <a:buNone/>
            </a:pPr>
            <a:endParaRPr lang="en-CA" altLang="en-US" sz="2400" dirty="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90980" y="5332730"/>
            <a:ext cx="10515600" cy="4351338"/>
          </a:xfrm>
        </p:spPr>
        <p:txBody>
          <a:bodyPr/>
          <a:lstStyle/>
          <a:p>
            <a:pPr marL="255905" indent="-255905">
              <a:buSzPct val="100000"/>
            </a:pPr>
            <a:r>
              <a:rPr lang="en-CA" altLang="en-US" sz="2400" dirty="0">
                <a:solidFill>
                  <a:sysClr val="windowText" lastClr="000000"/>
                </a:solidFill>
                <a:latin typeface="Arial" panose="020B0604020202020204" pitchFamily="34" charset="0"/>
                <a:cs typeface="+mn-ea"/>
                <a:sym typeface="+mn-ea"/>
              </a:rPr>
              <a:t>Soapy water is colorless, but when blown into bubbles it shows vibrant colors. How does the thickness of the bubble walls determine the particular colors</a:t>
            </a:r>
            <a:r>
              <a:rPr lang="en-US" altLang="en-CA" sz="2400" dirty="0">
                <a:solidFill>
                  <a:sysClr val="windowText" lastClr="000000"/>
                </a:solidFill>
                <a:latin typeface="Arial" panose="020B0604020202020204" pitchFamily="34" charset="0"/>
                <a:cs typeface="+mn-ea"/>
                <a:sym typeface="+mn-ea"/>
              </a:rPr>
              <a:t> </a:t>
            </a:r>
            <a:r>
              <a:rPr lang="en-CA" altLang="en-US" sz="2400" dirty="0">
                <a:solidFill>
                  <a:sysClr val="windowText" lastClr="000000"/>
                </a:solidFill>
                <a:latin typeface="Arial" panose="020B0604020202020204" pitchFamily="34" charset="0"/>
                <a:cs typeface="+mn-ea"/>
                <a:sym typeface="+mn-ea"/>
              </a:rPr>
              <a:t>that appear?</a:t>
            </a:r>
            <a:endParaRPr lang="en-CA" altLang="en-US" sz="2400" dirty="0">
              <a:solidFill>
                <a:sysClr val="windowText" lastClr="000000"/>
              </a:solidFill>
              <a:latin typeface="Arial" panose="020B0604020202020204" pitchFamily="34" charset="0"/>
              <a:cs typeface="+mn-ea"/>
              <a:sym typeface="+mn-ea"/>
            </a:endParaRPr>
          </a:p>
        </p:txBody>
      </p:sp>
      <p:pic>
        <p:nvPicPr>
          <p:cNvPr id="2" name="图片 1"/>
          <p:cNvPicPr>
            <a:picLocks noChangeAspect="1"/>
          </p:cNvPicPr>
          <p:nvPr/>
        </p:nvPicPr>
        <p:blipFill>
          <a:blip r:embed="rId1"/>
          <a:stretch>
            <a:fillRect/>
          </a:stretch>
        </p:blipFill>
        <p:spPr>
          <a:xfrm>
            <a:off x="2780030" y="152400"/>
            <a:ext cx="6926580" cy="4953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25.1 Interference and Coherent Sources</a:t>
            </a:r>
            <a:endParaRPr lang="en-US" altLang="en-US" sz="3600" dirty="0"/>
          </a:p>
        </p:txBody>
      </p:sp>
      <p:sp>
        <p:nvSpPr>
          <p:cNvPr id="3" name="Content Placeholder 2"/>
          <p:cNvSpPr>
            <a:spLocks noGrp="1"/>
          </p:cNvSpPr>
          <p:nvPr>
            <p:ph idx="1"/>
          </p:nvPr>
        </p:nvSpPr>
        <p:spPr>
          <a:xfrm>
            <a:off x="779145" y="1599565"/>
            <a:ext cx="10465435" cy="4760595"/>
          </a:xfrm>
        </p:spPr>
        <p:txBody>
          <a:bodyPr/>
          <a:lstStyle/>
          <a:p>
            <a:pPr marL="255905" indent="-255905">
              <a:buSzPct val="100000"/>
            </a:pPr>
            <a:r>
              <a:rPr lang="en-US" altLang="en-US" sz="2600" dirty="0"/>
              <a:t>The term interference refers to any situation in which two or more waves overlap in space. When this occurs, the total wave at any point at any instant of time is governed by the principle of superposition. This principle also applies to electromagnetic waves and is the most important principle in all of physical optics. The principle of superposition states:</a:t>
            </a:r>
            <a:endParaRPr lang="en-US" altLang="en-US" sz="2600" dirty="0"/>
          </a:p>
          <a:p>
            <a:pPr marL="255905" indent="-255905">
              <a:buSzPct val="100000"/>
            </a:pPr>
            <a:r>
              <a:rPr lang="en-US" altLang="en-US" sz="2600" dirty="0"/>
              <a:t>When two or more waves overlap, the resultant displacement at any point and at any instant is found by adding the instantaneous displacements that would be produced at the point by the individual waves if each were present alone.</a:t>
            </a:r>
            <a:endParaRPr lang="en-US" altLang="en-US" sz="2600" dirty="0"/>
          </a:p>
          <a:p>
            <a:pPr marL="255905" indent="-255905">
              <a:buSzPct val="100000"/>
            </a:pPr>
            <a:endParaRPr lang="en-US" alt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84892"/>
            <a:ext cx="10972800" cy="1097280"/>
          </a:xfrm>
        </p:spPr>
        <p:txBody>
          <a:bodyPr/>
          <a:lstStyle/>
          <a:p>
            <a:r>
              <a:rPr lang="en-US" altLang="en-US" sz="3600" dirty="0"/>
              <a:t>Interference in Two or Three Dimensions</a:t>
            </a:r>
            <a:endParaRPr lang="en-US" altLang="en-US" sz="3600" dirty="0"/>
          </a:p>
        </p:txBody>
      </p:sp>
      <p:sp>
        <p:nvSpPr>
          <p:cNvPr id="3" name="Content Placeholder 2"/>
          <p:cNvSpPr>
            <a:spLocks noGrp="1"/>
          </p:cNvSpPr>
          <p:nvPr>
            <p:ph idx="1"/>
          </p:nvPr>
        </p:nvSpPr>
        <p:spPr>
          <a:xfrm>
            <a:off x="1000125" y="1600200"/>
            <a:ext cx="9439275" cy="1447800"/>
          </a:xfrm>
        </p:spPr>
        <p:txBody>
          <a:bodyPr/>
          <a:lstStyle/>
          <a:p>
            <a:pPr marL="255905" indent="-255905">
              <a:buSzPct val="100000"/>
            </a:pPr>
            <a:r>
              <a:rPr lang="en-CA" altLang="en-US" sz="2600" dirty="0"/>
              <a:t>Interference effects are most easily seen when we combine sinusoidal waves</a:t>
            </a:r>
            <a:r>
              <a:rPr lang="en-US" altLang="en-CA" sz="2600" dirty="0"/>
              <a:t> </a:t>
            </a:r>
            <a:r>
              <a:rPr lang="en-CA" altLang="en-US" sz="2600" dirty="0"/>
              <a:t>with a single frequency </a:t>
            </a:r>
            <a:r>
              <a:rPr lang="en-US" altLang="en-CA" sz="2600" i="1" dirty="0"/>
              <a:t>f</a:t>
            </a:r>
            <a:r>
              <a:rPr lang="en-US" altLang="en-CA" sz="2600" dirty="0"/>
              <a:t> </a:t>
            </a:r>
            <a:r>
              <a:rPr lang="en-CA" altLang="en-US" sz="2600" dirty="0"/>
              <a:t>and wavelength</a:t>
            </a:r>
            <a:r>
              <a:rPr lang="en-US" altLang="en-CA" sz="2600" dirty="0"/>
              <a:t> </a:t>
            </a:r>
            <a:r>
              <a:rPr lang="en-US" altLang="en-CA" sz="2600" dirty="0">
                <a:latin typeface="Times New Roman" panose="02020603050405020304" pitchFamily="18" charset="0"/>
                <a:cs typeface="Times New Roman" panose="02020603050405020304" pitchFamily="18" charset="0"/>
              </a:rPr>
              <a:t>λ.</a:t>
            </a:r>
            <a:endParaRPr lang="zh-CN" altLang="en-US" sz="2600" dirty="0">
              <a:latin typeface="Times New Roman" panose="02020603050405020304" pitchFamily="18" charset="0"/>
              <a:cs typeface="Times New Roman" panose="02020603050405020304" pitchFamily="18" charset="0"/>
            </a:endParaRPr>
          </a:p>
        </p:txBody>
      </p:sp>
      <p:pic>
        <p:nvPicPr>
          <p:cNvPr id="4" name="图片 3"/>
          <p:cNvPicPr>
            <a:picLocks noChangeAspect="1"/>
          </p:cNvPicPr>
          <p:nvPr/>
        </p:nvPicPr>
        <p:blipFill>
          <a:blip r:embed="rId1"/>
          <a:stretch>
            <a:fillRect/>
          </a:stretch>
        </p:blipFill>
        <p:spPr>
          <a:xfrm>
            <a:off x="4385945" y="2551430"/>
            <a:ext cx="3055620" cy="4000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Constructive and Destructive Interference </a:t>
            </a:r>
            <a:endParaRPr lang="en-US" sz="2000" b="0" dirty="0"/>
          </a:p>
        </p:txBody>
      </p:sp>
      <p:sp>
        <p:nvSpPr>
          <p:cNvPr id="3" name="Content Placeholder 2"/>
          <p:cNvSpPr>
            <a:spLocks noGrp="1"/>
          </p:cNvSpPr>
          <p:nvPr>
            <p:ph idx="1"/>
          </p:nvPr>
        </p:nvSpPr>
        <p:spPr>
          <a:xfrm>
            <a:off x="855980" y="1452245"/>
            <a:ext cx="9905365" cy="4648200"/>
          </a:xfrm>
        </p:spPr>
        <p:txBody>
          <a:bodyPr/>
          <a:lstStyle/>
          <a:p>
            <a:pPr marL="255905" indent="-255905">
              <a:buSzPct val="100000"/>
            </a:pPr>
            <a:r>
              <a:rPr lang="en-CA" sz="2400" dirty="0"/>
              <a:t>In general, when waves from two or more sources arrive at a point in phase,</a:t>
            </a:r>
            <a:r>
              <a:rPr lang="en-US" altLang="en-CA" sz="2400" dirty="0"/>
              <a:t> </a:t>
            </a:r>
            <a:r>
              <a:rPr lang="en-CA" sz="2400" dirty="0"/>
              <a:t>they reinforce each other: The amplitude of the resultant wave is the sum of the</a:t>
            </a:r>
            <a:r>
              <a:rPr lang="en-US" altLang="en-CA" sz="2400" dirty="0"/>
              <a:t> </a:t>
            </a:r>
            <a:r>
              <a:rPr lang="en-CA" sz="2400" dirty="0"/>
              <a:t>amplitudes of the individual waves. This is called constructive interference</a:t>
            </a:r>
            <a:endParaRPr lang="en-CA" sz="2400" dirty="0"/>
          </a:p>
        </p:txBody>
      </p:sp>
      <p:pic>
        <p:nvPicPr>
          <p:cNvPr id="4" name="图片 3"/>
          <p:cNvPicPr>
            <a:picLocks noChangeAspect="1"/>
          </p:cNvPicPr>
          <p:nvPr/>
        </p:nvPicPr>
        <p:blipFill>
          <a:blip r:embed="rId1"/>
          <a:stretch>
            <a:fillRect/>
          </a:stretch>
        </p:blipFill>
        <p:spPr>
          <a:xfrm>
            <a:off x="2864485" y="3041650"/>
            <a:ext cx="2506980" cy="3605530"/>
          </a:xfrm>
          <a:prstGeom prst="rect">
            <a:avLst/>
          </a:prstGeom>
        </p:spPr>
      </p:pic>
      <p:pic>
        <p:nvPicPr>
          <p:cNvPr id="5" name="图片 4"/>
          <p:cNvPicPr>
            <a:picLocks noChangeAspect="1"/>
          </p:cNvPicPr>
          <p:nvPr/>
        </p:nvPicPr>
        <p:blipFill>
          <a:blip r:embed="rId2"/>
          <a:stretch>
            <a:fillRect/>
          </a:stretch>
        </p:blipFill>
        <p:spPr>
          <a:xfrm>
            <a:off x="7008495" y="2633980"/>
            <a:ext cx="2505075" cy="41471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1732280" y="2157730"/>
            <a:ext cx="5821680" cy="746760"/>
          </a:xfrm>
          <a:prstGeom prst="rect">
            <a:avLst/>
          </a:prstGeom>
        </p:spPr>
      </p:pic>
      <p:sp>
        <p:nvSpPr>
          <p:cNvPr id="7" name="文本框 6"/>
          <p:cNvSpPr txBox="1"/>
          <p:nvPr/>
        </p:nvSpPr>
        <p:spPr>
          <a:xfrm>
            <a:off x="1096010" y="476885"/>
            <a:ext cx="9045575" cy="7924165"/>
          </a:xfrm>
          <a:prstGeom prst="rect">
            <a:avLst/>
          </a:prstGeom>
          <a:noFill/>
        </p:spPr>
        <p:txBody>
          <a:bodyPr wrap="square" rtlCol="0" anchor="t">
            <a:spAutoFit/>
          </a:bodyPr>
          <a:p>
            <a:pPr marL="255905" indent="-255905" algn="l" defTabSz="914400" eaLnBrk="1" fontAlgn="auto" hangingPunct="1">
              <a:spcBef>
                <a:spcPts val="1500"/>
              </a:spcBef>
              <a:buClr>
                <a:srgbClr val="007FA3"/>
              </a:buClr>
              <a:buSzTx/>
              <a:buFont typeface="Arial" panose="020B0604020202020204" pitchFamily="34" charset="0"/>
              <a:buChar char="•"/>
            </a:pPr>
            <a:r>
              <a:rPr lang="en-CA" sz="2400" dirty="0">
                <a:latin typeface="+mn-lt"/>
                <a:ea typeface="+mn-ea"/>
              </a:rPr>
              <a:t>In general, when waves from two or more sources arrive at a point in phase,</a:t>
            </a:r>
            <a:r>
              <a:rPr lang="en-US" altLang="en-CA" sz="2400" dirty="0">
                <a:latin typeface="+mn-lt"/>
                <a:ea typeface="+mn-ea"/>
              </a:rPr>
              <a:t> </a:t>
            </a:r>
            <a:r>
              <a:rPr lang="en-CA" sz="2400" dirty="0">
                <a:latin typeface="+mn-lt"/>
                <a:ea typeface="+mn-ea"/>
              </a:rPr>
              <a:t>they reinforce each other: The amplitude of the resultant wave is the sum of the</a:t>
            </a:r>
            <a:r>
              <a:rPr lang="en-US" altLang="en-CA" sz="2400" dirty="0">
                <a:latin typeface="+mn-lt"/>
                <a:ea typeface="+mn-ea"/>
              </a:rPr>
              <a:t> </a:t>
            </a:r>
            <a:r>
              <a:rPr lang="en-CA" sz="2400" dirty="0">
                <a:latin typeface="+mn-lt"/>
                <a:ea typeface="+mn-ea"/>
              </a:rPr>
              <a:t>amplitudes of the individual waves. This is called </a:t>
            </a:r>
            <a:r>
              <a:rPr lang="en-CA" sz="2400" b="1" dirty="0">
                <a:latin typeface="+mn-lt"/>
                <a:ea typeface="+mn-ea"/>
              </a:rPr>
              <a:t>constructive interference</a:t>
            </a:r>
            <a:r>
              <a:rPr lang="en-US" altLang="en-CA" sz="2400" dirty="0">
                <a:latin typeface="+mn-lt"/>
                <a:ea typeface="+mn-ea"/>
              </a:rPr>
              <a:t>.</a:t>
            </a:r>
            <a:endParaRPr lang="en-CA" sz="2400" dirty="0">
              <a:latin typeface="+mn-lt"/>
              <a:ea typeface="+mn-ea"/>
            </a:endParaRPr>
          </a:p>
          <a:p>
            <a:pPr marL="255905" indent="-255905" algn="l" defTabSz="914400" eaLnBrk="1" fontAlgn="auto" hangingPunct="1">
              <a:spcBef>
                <a:spcPts val="1500"/>
              </a:spcBef>
              <a:buClr>
                <a:srgbClr val="007FA3"/>
              </a:buClr>
              <a:buSzTx/>
              <a:buFont typeface="Arial" panose="020B0604020202020204" pitchFamily="34" charset="0"/>
              <a:buChar char="•"/>
            </a:pPr>
            <a:endParaRPr lang="en-CA" sz="2400" dirty="0">
              <a:latin typeface="+mn-lt"/>
              <a:ea typeface="+mn-ea"/>
            </a:endParaRPr>
          </a:p>
          <a:p>
            <a:pPr marL="255905" indent="-255905" algn="l" defTabSz="914400" eaLnBrk="1" fontAlgn="auto" hangingPunct="1">
              <a:spcBef>
                <a:spcPts val="1500"/>
              </a:spcBef>
              <a:buClr>
                <a:srgbClr val="007FA3"/>
              </a:buClr>
              <a:buSzTx/>
              <a:buFont typeface="Arial" panose="020B0604020202020204" pitchFamily="34" charset="0"/>
              <a:buChar char="•"/>
            </a:pPr>
            <a:endParaRPr lang="en-CA" sz="2400" dirty="0">
              <a:latin typeface="+mn-lt"/>
              <a:ea typeface="+mn-ea"/>
            </a:endParaRPr>
          </a:p>
          <a:p>
            <a:pPr marL="255905" indent="-255905" algn="l" defTabSz="914400" eaLnBrk="1" fontAlgn="auto" hangingPunct="1">
              <a:spcBef>
                <a:spcPts val="1500"/>
              </a:spcBef>
              <a:buClr>
                <a:srgbClr val="007FA3"/>
              </a:buClr>
              <a:buSzTx/>
              <a:buFont typeface="Arial" panose="020B0604020202020204" pitchFamily="34" charset="0"/>
              <a:buChar char="•"/>
            </a:pPr>
            <a:r>
              <a:rPr lang="en-CA" sz="2400" dirty="0">
                <a:latin typeface="+mn-lt"/>
                <a:ea typeface="+mn-ea"/>
              </a:rPr>
              <a:t>If the individual amplitudes are equal,</a:t>
            </a:r>
            <a:r>
              <a:rPr lang="en-US" altLang="en-CA" sz="2400" dirty="0">
                <a:latin typeface="+mn-lt"/>
                <a:ea typeface="+mn-ea"/>
              </a:rPr>
              <a:t> </a:t>
            </a:r>
            <a:r>
              <a:rPr lang="en-CA" sz="2400" dirty="0">
                <a:latin typeface="+mn-lt"/>
                <a:ea typeface="+mn-ea"/>
              </a:rPr>
              <a:t>then the total amplitude is zero! This cancellation or partial cancellation of the</a:t>
            </a:r>
            <a:r>
              <a:rPr lang="en-US" altLang="en-CA" sz="2400" dirty="0">
                <a:latin typeface="+mn-lt"/>
                <a:ea typeface="+mn-ea"/>
              </a:rPr>
              <a:t> </a:t>
            </a:r>
            <a:r>
              <a:rPr lang="en-CA" sz="2400" dirty="0">
                <a:latin typeface="+mn-lt"/>
                <a:ea typeface="+mn-ea"/>
              </a:rPr>
              <a:t>individual waves is called </a:t>
            </a:r>
            <a:r>
              <a:rPr lang="en-CA" sz="2400" b="1" dirty="0">
                <a:latin typeface="+mn-lt"/>
                <a:ea typeface="+mn-ea"/>
              </a:rPr>
              <a:t>destructive interference</a:t>
            </a:r>
            <a:r>
              <a:rPr lang="en-CA" sz="2400" dirty="0">
                <a:latin typeface="+mn-lt"/>
                <a:ea typeface="+mn-ea"/>
              </a:rPr>
              <a:t>.</a:t>
            </a:r>
            <a:endParaRPr lang="en-CA" sz="2400" dirty="0">
              <a:latin typeface="+mn-lt"/>
              <a:ea typeface="+mn-ea"/>
            </a:endParaRPr>
          </a:p>
          <a:p>
            <a:pPr marL="255905" indent="-255905" algn="l" defTabSz="914400" eaLnBrk="1" fontAlgn="auto" hangingPunct="1">
              <a:spcBef>
                <a:spcPts val="1500"/>
              </a:spcBef>
              <a:buClr>
                <a:srgbClr val="007FA3"/>
              </a:buClr>
              <a:buSzTx/>
              <a:buFont typeface="Arial" panose="020B0604020202020204" pitchFamily="34" charset="0"/>
              <a:buChar char="•"/>
            </a:pPr>
            <a:endParaRPr lang="en-CA" sz="2400" dirty="0">
              <a:latin typeface="+mn-lt"/>
              <a:ea typeface="+mn-ea"/>
            </a:endParaRPr>
          </a:p>
          <a:p>
            <a:pPr marL="255905" indent="-255905" algn="l" defTabSz="914400" eaLnBrk="1" fontAlgn="auto" hangingPunct="1">
              <a:spcBef>
                <a:spcPts val="1500"/>
              </a:spcBef>
              <a:buClr>
                <a:srgbClr val="007FA3"/>
              </a:buClr>
              <a:buSzTx/>
              <a:buFont typeface="Arial" panose="020B0604020202020204" pitchFamily="34" charset="0"/>
              <a:buChar char="•"/>
            </a:pPr>
            <a:endParaRPr lang="en-CA" sz="2400" dirty="0">
              <a:latin typeface="+mn-lt"/>
              <a:ea typeface="+mn-ea"/>
            </a:endParaRPr>
          </a:p>
          <a:p>
            <a:pPr marL="255905" indent="-255905" algn="l" defTabSz="914400" eaLnBrk="1" fontAlgn="auto" hangingPunct="1">
              <a:spcBef>
                <a:spcPts val="1500"/>
              </a:spcBef>
              <a:buClr>
                <a:srgbClr val="007FA3"/>
              </a:buClr>
              <a:buSzTx/>
              <a:buFont typeface="Arial" panose="020B0604020202020204" pitchFamily="34" charset="0"/>
              <a:buChar char="•"/>
            </a:pPr>
            <a:endParaRPr lang="en-CA" sz="2400" u="sng" dirty="0">
              <a:latin typeface="+mn-lt"/>
              <a:ea typeface="+mn-ea"/>
            </a:endParaRPr>
          </a:p>
          <a:p>
            <a:pPr marL="255905" indent="-255905" algn="l" defTabSz="914400" eaLnBrk="1" fontAlgn="auto" hangingPunct="1">
              <a:spcBef>
                <a:spcPts val="1500"/>
              </a:spcBef>
              <a:buClr>
                <a:srgbClr val="007FA3"/>
              </a:buClr>
              <a:buSzTx/>
              <a:buFont typeface="Arial" panose="020B0604020202020204" pitchFamily="34" charset="0"/>
              <a:buChar char="•"/>
            </a:pPr>
            <a:endParaRPr lang="en-CA" sz="2400" dirty="0">
              <a:latin typeface="+mn-lt"/>
              <a:ea typeface="+mn-ea"/>
            </a:endParaRPr>
          </a:p>
          <a:p>
            <a:pPr marL="255905" indent="-255905" algn="l" defTabSz="914400" eaLnBrk="1" fontAlgn="auto" hangingPunct="1">
              <a:spcBef>
                <a:spcPts val="1500"/>
              </a:spcBef>
              <a:buClr>
                <a:srgbClr val="007FA3"/>
              </a:buClr>
              <a:buSzTx/>
              <a:buFont typeface="Arial" panose="020B0604020202020204" pitchFamily="34" charset="0"/>
              <a:buChar char="•"/>
            </a:pPr>
            <a:endParaRPr lang="en-CA" sz="2400" dirty="0">
              <a:latin typeface="+mn-lt"/>
              <a:ea typeface="+mn-ea"/>
            </a:endParaRPr>
          </a:p>
          <a:p>
            <a:pPr marL="255905" indent="-255905" algn="l" defTabSz="914400" eaLnBrk="1" fontAlgn="auto" hangingPunct="1">
              <a:spcBef>
                <a:spcPts val="1500"/>
              </a:spcBef>
              <a:buClr>
                <a:srgbClr val="007FA3"/>
              </a:buClr>
              <a:buSzTx/>
              <a:buFont typeface="Arial" panose="020B0604020202020204" pitchFamily="34" charset="0"/>
              <a:buChar char="•"/>
            </a:pPr>
            <a:endParaRPr lang="en-CA" sz="2400" dirty="0">
              <a:latin typeface="+mn-lt"/>
              <a:ea typeface="+mn-ea"/>
            </a:endParaRPr>
          </a:p>
          <a:p>
            <a:pPr marL="255905" indent="-255905" algn="l" defTabSz="914400" eaLnBrk="1" fontAlgn="auto" hangingPunct="1">
              <a:spcBef>
                <a:spcPts val="1500"/>
              </a:spcBef>
              <a:buClr>
                <a:srgbClr val="007FA3"/>
              </a:buClr>
              <a:buSzTx/>
              <a:buFont typeface="Arial" panose="020B0604020202020204" pitchFamily="34" charset="0"/>
              <a:buChar char="•"/>
            </a:pPr>
            <a:endParaRPr lang="en-CA" sz="2400" dirty="0">
              <a:latin typeface="+mn-lt"/>
              <a:ea typeface="+mn-ea"/>
            </a:endParaRPr>
          </a:p>
        </p:txBody>
      </p:sp>
      <p:pic>
        <p:nvPicPr>
          <p:cNvPr id="10" name="图片 9"/>
          <p:cNvPicPr>
            <a:picLocks noChangeAspect="1"/>
          </p:cNvPicPr>
          <p:nvPr/>
        </p:nvPicPr>
        <p:blipFill>
          <a:blip r:embed="rId2"/>
          <a:stretch>
            <a:fillRect/>
          </a:stretch>
        </p:blipFill>
        <p:spPr>
          <a:xfrm>
            <a:off x="2155190" y="4981575"/>
            <a:ext cx="6126480" cy="7543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文本框 6"/>
          <p:cNvSpPr txBox="1"/>
          <p:nvPr/>
        </p:nvSpPr>
        <p:spPr>
          <a:xfrm>
            <a:off x="1250315" y="1630680"/>
            <a:ext cx="9045575" cy="3830955"/>
          </a:xfrm>
          <a:prstGeom prst="rect">
            <a:avLst/>
          </a:prstGeom>
          <a:noFill/>
        </p:spPr>
        <p:txBody>
          <a:bodyPr wrap="square" rtlCol="0" anchor="t">
            <a:spAutoFit/>
          </a:bodyPr>
          <a:p>
            <a:pPr marL="255905" indent="-255905" algn="l" defTabSz="914400" eaLnBrk="1" fontAlgn="auto" hangingPunct="1">
              <a:spcBef>
                <a:spcPts val="1500"/>
              </a:spcBef>
              <a:buClr>
                <a:srgbClr val="007FA3"/>
              </a:buClr>
              <a:buSzTx/>
              <a:buFont typeface="Arial" panose="020B0604020202020204" pitchFamily="34" charset="0"/>
              <a:buChar char="•"/>
            </a:pPr>
            <a:endParaRPr lang="en-CA" sz="2400" dirty="0">
              <a:latin typeface="+mn-lt"/>
              <a:ea typeface="+mn-ea"/>
            </a:endParaRPr>
          </a:p>
          <a:p>
            <a:pPr marL="255905" indent="-255905" algn="l" defTabSz="914400" eaLnBrk="1" fontAlgn="auto" hangingPunct="1">
              <a:spcBef>
                <a:spcPts val="1500"/>
              </a:spcBef>
              <a:buClr>
                <a:srgbClr val="007FA3"/>
              </a:buClr>
              <a:buSzTx/>
              <a:buFont typeface="Arial" panose="020B0604020202020204" pitchFamily="34" charset="0"/>
              <a:buChar char="•"/>
            </a:pPr>
            <a:endParaRPr lang="en-CA" sz="2400" u="sng" dirty="0">
              <a:latin typeface="+mn-lt"/>
              <a:ea typeface="+mn-ea"/>
            </a:endParaRPr>
          </a:p>
          <a:p>
            <a:pPr marL="255905" indent="-255905" algn="l" defTabSz="914400" eaLnBrk="1" fontAlgn="auto" hangingPunct="1">
              <a:spcBef>
                <a:spcPts val="1500"/>
              </a:spcBef>
              <a:buClr>
                <a:srgbClr val="007FA3"/>
              </a:buClr>
              <a:buSzTx/>
              <a:buFont typeface="Arial" panose="020B0604020202020204" pitchFamily="34" charset="0"/>
              <a:buChar char="•"/>
            </a:pPr>
            <a:endParaRPr lang="en-CA" sz="2400" dirty="0">
              <a:latin typeface="+mn-lt"/>
              <a:ea typeface="+mn-ea"/>
            </a:endParaRPr>
          </a:p>
          <a:p>
            <a:pPr marL="255905" indent="-255905" algn="l" defTabSz="914400" eaLnBrk="1" fontAlgn="auto" hangingPunct="1">
              <a:spcBef>
                <a:spcPts val="1500"/>
              </a:spcBef>
              <a:buClr>
                <a:srgbClr val="007FA3"/>
              </a:buClr>
              <a:buSzTx/>
              <a:buFont typeface="Arial" panose="020B0604020202020204" pitchFamily="34" charset="0"/>
              <a:buChar char="•"/>
            </a:pPr>
            <a:endParaRPr lang="en-CA" sz="2400" dirty="0">
              <a:latin typeface="+mn-lt"/>
              <a:ea typeface="+mn-ea"/>
            </a:endParaRPr>
          </a:p>
          <a:p>
            <a:pPr marL="255905" indent="-255905" algn="l" defTabSz="914400" eaLnBrk="1" fontAlgn="auto" hangingPunct="1">
              <a:spcBef>
                <a:spcPts val="1500"/>
              </a:spcBef>
              <a:buClr>
                <a:srgbClr val="007FA3"/>
              </a:buClr>
              <a:buSzTx/>
              <a:buFont typeface="Arial" panose="020B0604020202020204" pitchFamily="34" charset="0"/>
              <a:buChar char="•"/>
            </a:pPr>
            <a:endParaRPr lang="en-CA" sz="2400" dirty="0">
              <a:latin typeface="+mn-lt"/>
              <a:ea typeface="+mn-ea"/>
            </a:endParaRPr>
          </a:p>
          <a:p>
            <a:pPr marL="255905" indent="-255905" algn="l" defTabSz="914400" eaLnBrk="1" fontAlgn="auto" hangingPunct="1">
              <a:spcBef>
                <a:spcPts val="1500"/>
              </a:spcBef>
              <a:buClr>
                <a:srgbClr val="007FA3"/>
              </a:buClr>
              <a:buSzTx/>
              <a:buFont typeface="Arial" panose="020B0604020202020204" pitchFamily="34" charset="0"/>
              <a:buChar char="•"/>
            </a:pPr>
            <a:endParaRPr lang="en-CA" sz="2400" dirty="0">
              <a:latin typeface="+mn-lt"/>
              <a:ea typeface="+mn-ea"/>
            </a:endParaRPr>
          </a:p>
          <a:p>
            <a:pPr marL="255905" indent="-255905" algn="l" defTabSz="914400" eaLnBrk="1" fontAlgn="auto" hangingPunct="1">
              <a:spcBef>
                <a:spcPts val="1500"/>
              </a:spcBef>
              <a:buClr>
                <a:srgbClr val="007FA3"/>
              </a:buClr>
              <a:buSzTx/>
              <a:buFont typeface="Arial" panose="020B0604020202020204" pitchFamily="34" charset="0"/>
              <a:buChar char="•"/>
            </a:pPr>
            <a:r>
              <a:rPr lang="en-CA" sz="2400" dirty="0">
                <a:latin typeface="+mn-lt"/>
                <a:ea typeface="+mn-ea"/>
              </a:rPr>
              <a:t>These curves are called antinodal curves.</a:t>
            </a:r>
            <a:endParaRPr lang="en-CA" sz="2400" dirty="0">
              <a:latin typeface="+mn-lt"/>
              <a:ea typeface="+mn-ea"/>
            </a:endParaRPr>
          </a:p>
        </p:txBody>
      </p:sp>
      <p:pic>
        <p:nvPicPr>
          <p:cNvPr id="8" name="图片 7"/>
          <p:cNvPicPr>
            <a:picLocks noChangeAspect="1"/>
          </p:cNvPicPr>
          <p:nvPr/>
        </p:nvPicPr>
        <p:blipFill>
          <a:blip r:embed="rId1"/>
          <a:stretch>
            <a:fillRect/>
          </a:stretch>
        </p:blipFill>
        <p:spPr>
          <a:xfrm>
            <a:off x="2298700" y="1422400"/>
            <a:ext cx="3299460" cy="1508760"/>
          </a:xfrm>
          <a:prstGeom prst="rect">
            <a:avLst/>
          </a:prstGeom>
        </p:spPr>
      </p:pic>
      <p:pic>
        <p:nvPicPr>
          <p:cNvPr id="9" name="图片 8"/>
          <p:cNvPicPr>
            <a:picLocks noChangeAspect="1"/>
          </p:cNvPicPr>
          <p:nvPr/>
        </p:nvPicPr>
        <p:blipFill>
          <a:blip r:embed="rId2"/>
          <a:stretch>
            <a:fillRect/>
          </a:stretch>
        </p:blipFill>
        <p:spPr>
          <a:xfrm>
            <a:off x="7687310" y="607695"/>
            <a:ext cx="3261360" cy="48539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25.2</a:t>
            </a:r>
            <a:r>
              <a:rPr lang="en-US" altLang="en-US" sz="3600" dirty="0"/>
              <a:t> Two-Source Interference of Light</a:t>
            </a:r>
            <a:endParaRPr lang="en-US" altLang="en-US" sz="3600" dirty="0"/>
          </a:p>
        </p:txBody>
      </p:sp>
      <p:sp>
        <p:nvSpPr>
          <p:cNvPr id="3" name="Content Placeholder 2"/>
          <p:cNvSpPr>
            <a:spLocks noGrp="1"/>
          </p:cNvSpPr>
          <p:nvPr>
            <p:ph idx="1"/>
          </p:nvPr>
        </p:nvSpPr>
        <p:spPr>
          <a:xfrm>
            <a:off x="857885" y="1424940"/>
            <a:ext cx="10278110" cy="1828800"/>
          </a:xfrm>
        </p:spPr>
        <p:txBody>
          <a:bodyPr/>
          <a:lstStyle/>
          <a:p>
            <a:pPr marL="255905" indent="-255905">
              <a:buSzPct val="100000"/>
            </a:pPr>
            <a:r>
              <a:rPr lang="en-CA" sz="2600" dirty="0"/>
              <a:t>The interference pattern produced by two coherent sources of water waves of the</a:t>
            </a:r>
            <a:r>
              <a:rPr lang="en-US" altLang="en-CA" sz="2600" dirty="0"/>
              <a:t> </a:t>
            </a:r>
            <a:r>
              <a:rPr lang="en-CA" sz="2600" dirty="0"/>
              <a:t>same wavelength can be readily seen in a ripple tank with a shallow layer of</a:t>
            </a:r>
            <a:r>
              <a:rPr lang="en-US" altLang="en-CA" sz="2600" dirty="0"/>
              <a:t> </a:t>
            </a:r>
            <a:r>
              <a:rPr lang="en-CA" sz="2600" dirty="0"/>
              <a:t>water </a:t>
            </a:r>
            <a:endParaRPr lang="en-CA" sz="2600" dirty="0"/>
          </a:p>
        </p:txBody>
      </p:sp>
      <p:pic>
        <p:nvPicPr>
          <p:cNvPr id="4" name="图片 3"/>
          <p:cNvPicPr>
            <a:picLocks noChangeAspect="1"/>
          </p:cNvPicPr>
          <p:nvPr/>
        </p:nvPicPr>
        <p:blipFill>
          <a:blip r:embed="rId1"/>
          <a:stretch>
            <a:fillRect/>
          </a:stretch>
        </p:blipFill>
        <p:spPr>
          <a:xfrm>
            <a:off x="6570980" y="2290445"/>
            <a:ext cx="3291205" cy="429133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478790" y="393065"/>
            <a:ext cx="6629400" cy="3208020"/>
          </a:xfrm>
          <a:prstGeom prst="rect">
            <a:avLst/>
          </a:prstGeom>
        </p:spPr>
      </p:pic>
      <p:pic>
        <p:nvPicPr>
          <p:cNvPr id="11" name="图片 10"/>
          <p:cNvPicPr>
            <a:picLocks noChangeAspect="1"/>
          </p:cNvPicPr>
          <p:nvPr/>
        </p:nvPicPr>
        <p:blipFill>
          <a:blip r:embed="rId2"/>
          <a:stretch>
            <a:fillRect/>
          </a:stretch>
        </p:blipFill>
        <p:spPr>
          <a:xfrm>
            <a:off x="4488180" y="3658235"/>
            <a:ext cx="6682740" cy="2727960"/>
          </a:xfrm>
          <a:prstGeom prst="rect">
            <a:avLst/>
          </a:prstGeom>
        </p:spPr>
      </p:pic>
      <p:pic>
        <p:nvPicPr>
          <p:cNvPr id="12" name="图片 11"/>
          <p:cNvPicPr>
            <a:picLocks noChangeAspect="1"/>
          </p:cNvPicPr>
          <p:nvPr/>
        </p:nvPicPr>
        <p:blipFill>
          <a:blip r:embed="rId3"/>
          <a:stretch>
            <a:fillRect/>
          </a:stretch>
        </p:blipFill>
        <p:spPr>
          <a:xfrm>
            <a:off x="7969250" y="537210"/>
            <a:ext cx="3398520" cy="2766060"/>
          </a:xfrm>
          <a:prstGeom prst="rect">
            <a:avLst/>
          </a:prstGeom>
        </p:spPr>
      </p:pic>
      <p:pic>
        <p:nvPicPr>
          <p:cNvPr id="13" name="图片 12"/>
          <p:cNvPicPr>
            <a:picLocks noChangeAspect="1"/>
          </p:cNvPicPr>
          <p:nvPr/>
        </p:nvPicPr>
        <p:blipFill>
          <a:blip r:embed="rId4"/>
          <a:stretch>
            <a:fillRect/>
          </a:stretch>
        </p:blipFill>
        <p:spPr>
          <a:xfrm>
            <a:off x="1449705" y="4881245"/>
            <a:ext cx="1950720" cy="2819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Constructive and Destructive Two-Slit Interference</a:t>
            </a:r>
            <a:endParaRPr lang="en-US" altLang="en-US" dirty="0"/>
          </a:p>
        </p:txBody>
      </p:sp>
      <p:pic>
        <p:nvPicPr>
          <p:cNvPr id="6" name="图片 5"/>
          <p:cNvPicPr>
            <a:picLocks noChangeAspect="1"/>
          </p:cNvPicPr>
          <p:nvPr/>
        </p:nvPicPr>
        <p:blipFill>
          <a:blip r:embed="rId1"/>
          <a:stretch>
            <a:fillRect/>
          </a:stretch>
        </p:blipFill>
        <p:spPr>
          <a:xfrm>
            <a:off x="877570" y="1964055"/>
            <a:ext cx="5676900" cy="487680"/>
          </a:xfrm>
          <a:prstGeom prst="rect">
            <a:avLst/>
          </a:prstGeom>
        </p:spPr>
      </p:pic>
      <p:pic>
        <p:nvPicPr>
          <p:cNvPr id="7" name="图片 6"/>
          <p:cNvPicPr>
            <a:picLocks noChangeAspect="1"/>
          </p:cNvPicPr>
          <p:nvPr/>
        </p:nvPicPr>
        <p:blipFill>
          <a:blip r:embed="rId2"/>
          <a:stretch>
            <a:fillRect/>
          </a:stretch>
        </p:blipFill>
        <p:spPr>
          <a:xfrm>
            <a:off x="656590" y="2681605"/>
            <a:ext cx="6118860" cy="632460"/>
          </a:xfrm>
          <a:prstGeom prst="rect">
            <a:avLst/>
          </a:prstGeom>
        </p:spPr>
      </p:pic>
      <p:pic>
        <p:nvPicPr>
          <p:cNvPr id="8" name="图片 7"/>
          <p:cNvPicPr>
            <a:picLocks noChangeAspect="1"/>
          </p:cNvPicPr>
          <p:nvPr/>
        </p:nvPicPr>
        <p:blipFill>
          <a:blip r:embed="rId3"/>
          <a:stretch>
            <a:fillRect/>
          </a:stretch>
        </p:blipFill>
        <p:spPr>
          <a:xfrm>
            <a:off x="3178810" y="3543935"/>
            <a:ext cx="1353185" cy="405765"/>
          </a:xfrm>
          <a:prstGeom prst="rect">
            <a:avLst/>
          </a:prstGeom>
        </p:spPr>
      </p:pic>
      <p:pic>
        <p:nvPicPr>
          <p:cNvPr id="9" name="图片 8"/>
          <p:cNvPicPr>
            <a:picLocks noChangeAspect="1"/>
          </p:cNvPicPr>
          <p:nvPr/>
        </p:nvPicPr>
        <p:blipFill>
          <a:blip r:embed="rId4"/>
          <a:stretch>
            <a:fillRect/>
          </a:stretch>
        </p:blipFill>
        <p:spPr>
          <a:xfrm>
            <a:off x="3094355" y="4080510"/>
            <a:ext cx="1356360" cy="304800"/>
          </a:xfrm>
          <a:prstGeom prst="rect">
            <a:avLst/>
          </a:prstGeom>
        </p:spPr>
      </p:pic>
      <p:pic>
        <p:nvPicPr>
          <p:cNvPr id="10" name="图片 9"/>
          <p:cNvPicPr>
            <a:picLocks noChangeAspect="1"/>
          </p:cNvPicPr>
          <p:nvPr/>
        </p:nvPicPr>
        <p:blipFill>
          <a:blip r:embed="rId5"/>
          <a:stretch>
            <a:fillRect/>
          </a:stretch>
        </p:blipFill>
        <p:spPr>
          <a:xfrm>
            <a:off x="711200" y="5041900"/>
            <a:ext cx="5897880" cy="640080"/>
          </a:xfrm>
          <a:prstGeom prst="rect">
            <a:avLst/>
          </a:prstGeom>
        </p:spPr>
      </p:pic>
      <p:pic>
        <p:nvPicPr>
          <p:cNvPr id="11" name="图片 10"/>
          <p:cNvPicPr>
            <a:picLocks noChangeAspect="1"/>
          </p:cNvPicPr>
          <p:nvPr/>
        </p:nvPicPr>
        <p:blipFill>
          <a:blip r:embed="rId6"/>
          <a:stretch>
            <a:fillRect/>
          </a:stretch>
        </p:blipFill>
        <p:spPr>
          <a:xfrm>
            <a:off x="8107045" y="1360805"/>
            <a:ext cx="2585720" cy="49987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45308"/>
            <a:ext cx="10972800" cy="1097280"/>
          </a:xfrm>
        </p:spPr>
        <p:txBody>
          <a:bodyPr/>
          <a:lstStyle/>
          <a:p>
            <a:r>
              <a:rPr lang="en-US" altLang="en-US" sz="3600" dirty="0" smtClean="0"/>
              <a:t>Example 25.1                       Two-slit interference</a:t>
            </a:r>
            <a:endParaRPr lang="en-US" altLang="en-US" sz="3600" dirty="0" smtClean="0"/>
          </a:p>
        </p:txBody>
      </p:sp>
      <p:pic>
        <p:nvPicPr>
          <p:cNvPr id="4" name="图片 3"/>
          <p:cNvPicPr>
            <a:picLocks noChangeAspect="1"/>
          </p:cNvPicPr>
          <p:nvPr/>
        </p:nvPicPr>
        <p:blipFill>
          <a:blip r:embed="rId1"/>
          <a:stretch>
            <a:fillRect/>
          </a:stretch>
        </p:blipFill>
        <p:spPr>
          <a:xfrm>
            <a:off x="706120" y="1154430"/>
            <a:ext cx="10798810" cy="456311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83622"/>
            <a:ext cx="10972800" cy="1097280"/>
          </a:xfrm>
        </p:spPr>
        <p:txBody>
          <a:bodyPr/>
          <a:lstStyle/>
          <a:p>
            <a:r>
              <a:rPr lang="en-US" altLang="en-US" sz="3600" dirty="0" smtClean="0"/>
              <a:t>Example 25.2                Broadcast pattern of a radio station</a:t>
            </a:r>
            <a:endParaRPr lang="en-US" altLang="en-US" sz="3600" dirty="0" smtClean="0"/>
          </a:p>
        </p:txBody>
      </p:sp>
      <p:pic>
        <p:nvPicPr>
          <p:cNvPr id="3" name="图片 2"/>
          <p:cNvPicPr>
            <a:picLocks noChangeAspect="1"/>
          </p:cNvPicPr>
          <p:nvPr/>
        </p:nvPicPr>
        <p:blipFill>
          <a:blip r:embed="rId1"/>
          <a:stretch>
            <a:fillRect/>
          </a:stretch>
        </p:blipFill>
        <p:spPr>
          <a:xfrm>
            <a:off x="1966595" y="1280795"/>
            <a:ext cx="8638540" cy="54025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25.3 Intensity in Interference Patterns</a:t>
            </a:r>
            <a:endParaRPr lang="en-US" altLang="en-US" sz="3600" dirty="0"/>
          </a:p>
        </p:txBody>
      </p:sp>
      <p:pic>
        <p:nvPicPr>
          <p:cNvPr id="6" name="图片 5"/>
          <p:cNvPicPr>
            <a:picLocks noChangeAspect="1"/>
          </p:cNvPicPr>
          <p:nvPr/>
        </p:nvPicPr>
        <p:blipFill>
          <a:blip r:embed="rId1"/>
          <a:stretch>
            <a:fillRect/>
          </a:stretch>
        </p:blipFill>
        <p:spPr>
          <a:xfrm>
            <a:off x="2449830" y="2168525"/>
            <a:ext cx="7419340" cy="26479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Amplitude in Two-Source Interference </a:t>
            </a:r>
            <a:endParaRPr lang="en-US" sz="2000" b="0" dirty="0"/>
          </a:p>
        </p:txBody>
      </p:sp>
      <p:sp>
        <p:nvSpPr>
          <p:cNvPr id="3" name="Content Placeholder 2"/>
          <p:cNvSpPr>
            <a:spLocks noGrp="1"/>
          </p:cNvSpPr>
          <p:nvPr>
            <p:ph idx="1"/>
          </p:nvPr>
        </p:nvSpPr>
        <p:spPr>
          <a:xfrm>
            <a:off x="1110615" y="1522730"/>
            <a:ext cx="10471785" cy="4648200"/>
          </a:xfrm>
        </p:spPr>
        <p:txBody>
          <a:bodyPr/>
          <a:lstStyle/>
          <a:p>
            <a:pPr marL="255905" indent="-255905">
              <a:buSzPct val="100000"/>
            </a:pPr>
            <a:r>
              <a:rPr lang="en-CA" sz="2200" dirty="0"/>
              <a:t>Each sinusoidal function is represented by a rotating vector (phasor) whose projection on the horizontal</a:t>
            </a:r>
            <a:r>
              <a:rPr lang="en-US" altLang="en-CA" sz="2200" dirty="0"/>
              <a:t> </a:t>
            </a:r>
            <a:r>
              <a:rPr lang="en-CA" sz="2200" dirty="0"/>
              <a:t>axis at any instant represents the instantaneous value of the sinusoidal function</a:t>
            </a:r>
            <a:endParaRPr lang="en-CA" sz="2200" dirty="0"/>
          </a:p>
        </p:txBody>
      </p:sp>
      <p:pic>
        <p:nvPicPr>
          <p:cNvPr id="5" name="图片 4"/>
          <p:cNvPicPr>
            <a:picLocks noChangeAspect="1"/>
          </p:cNvPicPr>
          <p:nvPr/>
        </p:nvPicPr>
        <p:blipFill>
          <a:blip r:embed="rId1"/>
          <a:stretch>
            <a:fillRect/>
          </a:stretch>
        </p:blipFill>
        <p:spPr>
          <a:xfrm>
            <a:off x="1647190" y="2521585"/>
            <a:ext cx="3169920" cy="4061460"/>
          </a:xfrm>
          <a:prstGeom prst="rect">
            <a:avLst/>
          </a:prstGeom>
        </p:spPr>
      </p:pic>
      <p:pic>
        <p:nvPicPr>
          <p:cNvPr id="6" name="图片 5"/>
          <p:cNvPicPr>
            <a:picLocks noChangeAspect="1"/>
          </p:cNvPicPr>
          <p:nvPr/>
        </p:nvPicPr>
        <p:blipFill>
          <a:blip r:embed="rId2"/>
          <a:stretch>
            <a:fillRect/>
          </a:stretch>
        </p:blipFill>
        <p:spPr>
          <a:xfrm>
            <a:off x="6800215" y="2731770"/>
            <a:ext cx="3406140" cy="708660"/>
          </a:xfrm>
          <a:prstGeom prst="rect">
            <a:avLst/>
          </a:prstGeom>
        </p:spPr>
      </p:pic>
      <p:pic>
        <p:nvPicPr>
          <p:cNvPr id="7" name="图片 6"/>
          <p:cNvPicPr>
            <a:picLocks noChangeAspect="1"/>
          </p:cNvPicPr>
          <p:nvPr/>
        </p:nvPicPr>
        <p:blipFill>
          <a:blip r:embed="rId3"/>
          <a:srcRect t="2579" r="1423"/>
          <a:stretch>
            <a:fillRect/>
          </a:stretch>
        </p:blipFill>
        <p:spPr>
          <a:xfrm>
            <a:off x="7269480" y="3881120"/>
            <a:ext cx="2155825" cy="311785"/>
          </a:xfrm>
          <a:prstGeom prst="rect">
            <a:avLst/>
          </a:prstGeom>
        </p:spPr>
      </p:pic>
      <p:pic>
        <p:nvPicPr>
          <p:cNvPr id="8" name="图片 7"/>
          <p:cNvPicPr>
            <a:picLocks noChangeAspect="1"/>
          </p:cNvPicPr>
          <p:nvPr/>
        </p:nvPicPr>
        <p:blipFill>
          <a:blip r:embed="rId4"/>
          <a:stretch>
            <a:fillRect/>
          </a:stretch>
        </p:blipFill>
        <p:spPr>
          <a:xfrm>
            <a:off x="6547485" y="4439285"/>
            <a:ext cx="3497580" cy="617220"/>
          </a:xfrm>
          <a:prstGeom prst="rect">
            <a:avLst/>
          </a:prstGeom>
        </p:spPr>
      </p:pic>
      <p:pic>
        <p:nvPicPr>
          <p:cNvPr id="9" name="图片 8"/>
          <p:cNvPicPr>
            <a:picLocks noChangeAspect="1"/>
          </p:cNvPicPr>
          <p:nvPr/>
        </p:nvPicPr>
        <p:blipFill>
          <a:blip r:embed="rId5"/>
          <a:stretch>
            <a:fillRect/>
          </a:stretch>
        </p:blipFill>
        <p:spPr>
          <a:xfrm>
            <a:off x="5388610" y="5568950"/>
            <a:ext cx="5387340" cy="60198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Intensity in Two-Source Interference </a:t>
            </a:r>
            <a:endParaRPr lang="en-US" sz="2000" b="0" dirty="0"/>
          </a:p>
        </p:txBody>
      </p:sp>
      <p:pic>
        <p:nvPicPr>
          <p:cNvPr id="5" name="图片 4"/>
          <p:cNvPicPr>
            <a:picLocks noChangeAspect="1"/>
          </p:cNvPicPr>
          <p:nvPr/>
        </p:nvPicPr>
        <p:blipFill>
          <a:blip r:embed="rId1"/>
          <a:stretch>
            <a:fillRect/>
          </a:stretch>
        </p:blipFill>
        <p:spPr>
          <a:xfrm>
            <a:off x="3536950" y="1528445"/>
            <a:ext cx="3741420" cy="670560"/>
          </a:xfrm>
          <a:prstGeom prst="rect">
            <a:avLst/>
          </a:prstGeom>
        </p:spPr>
      </p:pic>
      <p:pic>
        <p:nvPicPr>
          <p:cNvPr id="6" name="图片 5"/>
          <p:cNvPicPr>
            <a:picLocks noChangeAspect="1"/>
          </p:cNvPicPr>
          <p:nvPr/>
        </p:nvPicPr>
        <p:blipFill>
          <a:blip r:embed="rId2"/>
          <a:stretch>
            <a:fillRect/>
          </a:stretch>
        </p:blipFill>
        <p:spPr>
          <a:xfrm>
            <a:off x="3860800" y="2531745"/>
            <a:ext cx="2743200" cy="502920"/>
          </a:xfrm>
          <a:prstGeom prst="rect">
            <a:avLst/>
          </a:prstGeom>
        </p:spPr>
      </p:pic>
      <p:pic>
        <p:nvPicPr>
          <p:cNvPr id="7" name="图片 6"/>
          <p:cNvPicPr>
            <a:picLocks noChangeAspect="1"/>
          </p:cNvPicPr>
          <p:nvPr/>
        </p:nvPicPr>
        <p:blipFill>
          <a:blip r:embed="rId3"/>
          <a:stretch>
            <a:fillRect/>
          </a:stretch>
        </p:blipFill>
        <p:spPr>
          <a:xfrm>
            <a:off x="4573270" y="3590925"/>
            <a:ext cx="1318260" cy="335280"/>
          </a:xfrm>
          <a:prstGeom prst="rect">
            <a:avLst/>
          </a:prstGeom>
        </p:spPr>
      </p:pic>
      <p:pic>
        <p:nvPicPr>
          <p:cNvPr id="8" name="图片 7"/>
          <p:cNvPicPr>
            <a:picLocks noChangeAspect="1"/>
          </p:cNvPicPr>
          <p:nvPr/>
        </p:nvPicPr>
        <p:blipFill>
          <a:blip r:embed="rId4"/>
          <a:stretch>
            <a:fillRect/>
          </a:stretch>
        </p:blipFill>
        <p:spPr>
          <a:xfrm>
            <a:off x="2862580" y="4418965"/>
            <a:ext cx="5204460" cy="7010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07"/>
            <a:ext cx="10972800" cy="1097280"/>
          </a:xfrm>
        </p:spPr>
        <p:txBody>
          <a:bodyPr/>
          <a:lstStyle/>
          <a:p>
            <a:r>
              <a:rPr lang="en-US" altLang="en-US" sz="3600" dirty="0"/>
              <a:t>Phase Difference and Path Difference</a:t>
            </a:r>
            <a:endParaRPr lang="en-US" altLang="en-US" sz="3600" dirty="0"/>
          </a:p>
        </p:txBody>
      </p:sp>
      <p:pic>
        <p:nvPicPr>
          <p:cNvPr id="6" name="图片 5"/>
          <p:cNvPicPr>
            <a:picLocks noChangeAspect="1"/>
          </p:cNvPicPr>
          <p:nvPr/>
        </p:nvPicPr>
        <p:blipFill>
          <a:blip r:embed="rId1"/>
          <a:stretch>
            <a:fillRect/>
          </a:stretch>
        </p:blipFill>
        <p:spPr>
          <a:xfrm>
            <a:off x="4963160" y="1421130"/>
            <a:ext cx="1493520" cy="632460"/>
          </a:xfrm>
          <a:prstGeom prst="rect">
            <a:avLst/>
          </a:prstGeom>
        </p:spPr>
      </p:pic>
      <p:pic>
        <p:nvPicPr>
          <p:cNvPr id="7" name="图片 6"/>
          <p:cNvPicPr>
            <a:picLocks noChangeAspect="1"/>
          </p:cNvPicPr>
          <p:nvPr/>
        </p:nvPicPr>
        <p:blipFill>
          <a:blip r:embed="rId2"/>
          <a:stretch>
            <a:fillRect/>
          </a:stretch>
        </p:blipFill>
        <p:spPr>
          <a:xfrm>
            <a:off x="3218180" y="2435860"/>
            <a:ext cx="5516880" cy="624840"/>
          </a:xfrm>
          <a:prstGeom prst="rect">
            <a:avLst/>
          </a:prstGeom>
        </p:spPr>
      </p:pic>
      <p:pic>
        <p:nvPicPr>
          <p:cNvPr id="8" name="图片 7"/>
          <p:cNvPicPr>
            <a:picLocks noChangeAspect="1"/>
          </p:cNvPicPr>
          <p:nvPr/>
        </p:nvPicPr>
        <p:blipFill>
          <a:blip r:embed="rId3"/>
          <a:stretch>
            <a:fillRect/>
          </a:stretch>
        </p:blipFill>
        <p:spPr>
          <a:xfrm>
            <a:off x="4429760" y="3556635"/>
            <a:ext cx="2827020" cy="586740"/>
          </a:xfrm>
          <a:prstGeom prst="rect">
            <a:avLst/>
          </a:prstGeom>
        </p:spPr>
      </p:pic>
      <p:pic>
        <p:nvPicPr>
          <p:cNvPr id="9" name="图片 8"/>
          <p:cNvPicPr>
            <a:picLocks noChangeAspect="1"/>
          </p:cNvPicPr>
          <p:nvPr/>
        </p:nvPicPr>
        <p:blipFill>
          <a:blip r:embed="rId4"/>
          <a:stretch>
            <a:fillRect/>
          </a:stretch>
        </p:blipFill>
        <p:spPr>
          <a:xfrm>
            <a:off x="4963160" y="4249420"/>
            <a:ext cx="1691640" cy="281940"/>
          </a:xfrm>
          <a:prstGeom prst="rect">
            <a:avLst/>
          </a:prstGeom>
        </p:spPr>
      </p:pic>
      <p:pic>
        <p:nvPicPr>
          <p:cNvPr id="10" name="图片 9"/>
          <p:cNvPicPr>
            <a:picLocks noChangeAspect="1"/>
          </p:cNvPicPr>
          <p:nvPr/>
        </p:nvPicPr>
        <p:blipFill>
          <a:blip r:embed="rId5"/>
          <a:stretch>
            <a:fillRect/>
          </a:stretch>
        </p:blipFill>
        <p:spPr>
          <a:xfrm>
            <a:off x="4132580" y="4710430"/>
            <a:ext cx="3688080" cy="525780"/>
          </a:xfrm>
          <a:prstGeom prst="rect">
            <a:avLst/>
          </a:prstGeom>
        </p:spPr>
      </p:pic>
      <p:pic>
        <p:nvPicPr>
          <p:cNvPr id="11" name="图片 10"/>
          <p:cNvPicPr>
            <a:picLocks noChangeAspect="1"/>
          </p:cNvPicPr>
          <p:nvPr/>
        </p:nvPicPr>
        <p:blipFill>
          <a:blip r:embed="rId6"/>
          <a:stretch>
            <a:fillRect/>
          </a:stretch>
        </p:blipFill>
        <p:spPr>
          <a:xfrm>
            <a:off x="2973705" y="5236210"/>
            <a:ext cx="5836920" cy="70866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3659505" y="366395"/>
            <a:ext cx="4030980" cy="1379220"/>
          </a:xfrm>
          <a:prstGeom prst="rect">
            <a:avLst/>
          </a:prstGeom>
        </p:spPr>
      </p:pic>
      <p:pic>
        <p:nvPicPr>
          <p:cNvPr id="8" name="图片 7"/>
          <p:cNvPicPr>
            <a:picLocks noChangeAspect="1"/>
          </p:cNvPicPr>
          <p:nvPr/>
        </p:nvPicPr>
        <p:blipFill>
          <a:blip r:embed="rId2"/>
          <a:stretch>
            <a:fillRect/>
          </a:stretch>
        </p:blipFill>
        <p:spPr>
          <a:xfrm>
            <a:off x="2738755" y="1957705"/>
            <a:ext cx="6111240" cy="640080"/>
          </a:xfrm>
          <a:prstGeom prst="rect">
            <a:avLst/>
          </a:prstGeom>
        </p:spPr>
      </p:pic>
      <p:pic>
        <p:nvPicPr>
          <p:cNvPr id="9" name="图片 8"/>
          <p:cNvPicPr>
            <a:picLocks noChangeAspect="1"/>
          </p:cNvPicPr>
          <p:nvPr/>
        </p:nvPicPr>
        <p:blipFill>
          <a:blip r:embed="rId3"/>
          <a:stretch>
            <a:fillRect/>
          </a:stretch>
        </p:blipFill>
        <p:spPr>
          <a:xfrm>
            <a:off x="1112520" y="2952750"/>
            <a:ext cx="9883140" cy="29032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文本框 3"/>
          <p:cNvSpPr txBox="1"/>
          <p:nvPr/>
        </p:nvSpPr>
        <p:spPr>
          <a:xfrm>
            <a:off x="7155180" y="913765"/>
            <a:ext cx="309880" cy="398780"/>
          </a:xfrm>
          <a:prstGeom prst="rect">
            <a:avLst/>
          </a:prstGeom>
          <a:noFill/>
        </p:spPr>
        <p:txBody>
          <a:bodyPr wrap="none" rtlCol="0">
            <a:spAutoFit/>
          </a:bodyPr>
          <a:lstStyle/>
          <a:p>
            <a:endParaRPr lang="zh-CN" altLang="en-US" sz="2000" dirty="0" err="1" smtClean="0"/>
          </a:p>
        </p:txBody>
      </p:sp>
      <p:sp>
        <p:nvSpPr>
          <p:cNvPr id="14" name="Title 1"/>
          <p:cNvSpPr>
            <a:spLocks noGrp="1"/>
          </p:cNvSpPr>
          <p:nvPr/>
        </p:nvSpPr>
        <p:spPr>
          <a:xfrm>
            <a:off x="823595" y="3321157"/>
            <a:ext cx="10972800" cy="1097280"/>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a:lstStyle>
          <a:p>
            <a:endParaRPr lang="en-US" altLang="en-US" sz="3600" dirty="0"/>
          </a:p>
        </p:txBody>
      </p:sp>
      <p:sp>
        <p:nvSpPr>
          <p:cNvPr id="9" name="Title 1"/>
          <p:cNvSpPr>
            <a:spLocks noGrp="1"/>
          </p:cNvSpPr>
          <p:nvPr>
            <p:ph type="title"/>
          </p:nvPr>
        </p:nvSpPr>
        <p:spPr>
          <a:xfrm>
            <a:off x="615950" y="215372"/>
            <a:ext cx="10972800" cy="1097280"/>
          </a:xfrm>
        </p:spPr>
        <p:txBody>
          <a:bodyPr/>
          <a:lstStyle/>
          <a:p>
            <a:r>
              <a:rPr lang="en-US" altLang="en-US" sz="3600" dirty="0"/>
              <a:t>Example 25.3   A directional transmitting antenna array</a:t>
            </a:r>
            <a:endParaRPr lang="en-US" altLang="en-US" sz="3600" dirty="0"/>
          </a:p>
        </p:txBody>
      </p:sp>
      <p:pic>
        <p:nvPicPr>
          <p:cNvPr id="2" name="图片 1"/>
          <p:cNvPicPr>
            <a:picLocks noChangeAspect="1"/>
          </p:cNvPicPr>
          <p:nvPr/>
        </p:nvPicPr>
        <p:blipFill>
          <a:blip r:embed="rId1"/>
          <a:stretch>
            <a:fillRect/>
          </a:stretch>
        </p:blipFill>
        <p:spPr>
          <a:xfrm>
            <a:off x="1409700" y="1312545"/>
            <a:ext cx="10088880" cy="531114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600" dirty="0"/>
              <a:t>25.4 Interference in Thin Films</a:t>
            </a:r>
            <a:endParaRPr lang="en-US" altLang="en-US" sz="3600" dirty="0"/>
          </a:p>
        </p:txBody>
      </p:sp>
      <p:sp>
        <p:nvSpPr>
          <p:cNvPr id="3" name="Content Placeholder 2"/>
          <p:cNvSpPr>
            <a:spLocks noGrp="1"/>
          </p:cNvSpPr>
          <p:nvPr>
            <p:ph idx="1"/>
          </p:nvPr>
        </p:nvSpPr>
        <p:spPr>
          <a:xfrm>
            <a:off x="1339215" y="1438910"/>
            <a:ext cx="9514205" cy="914400"/>
          </a:xfrm>
        </p:spPr>
        <p:txBody>
          <a:bodyPr/>
          <a:lstStyle/>
          <a:p>
            <a:pPr marL="255905" indent="-255905">
              <a:buSzPct val="100000"/>
            </a:pPr>
            <a:r>
              <a:rPr lang="en-US" altLang="en-US" sz="2600" dirty="0"/>
              <a:t>The complex shapes of the colored rings in each photograph result from variations in the thickness of the film.</a:t>
            </a:r>
            <a:endParaRPr lang="en-US" altLang="en-US" sz="2600" dirty="0"/>
          </a:p>
        </p:txBody>
      </p:sp>
      <p:pic>
        <p:nvPicPr>
          <p:cNvPr id="4" name="图片 3"/>
          <p:cNvPicPr>
            <a:picLocks noChangeAspect="1"/>
          </p:cNvPicPr>
          <p:nvPr/>
        </p:nvPicPr>
        <p:blipFill>
          <a:blip r:embed="rId1"/>
          <a:stretch>
            <a:fillRect/>
          </a:stretch>
        </p:blipFill>
        <p:spPr>
          <a:xfrm>
            <a:off x="1527810" y="2353310"/>
            <a:ext cx="3337560" cy="4343400"/>
          </a:xfrm>
          <a:prstGeom prst="rect">
            <a:avLst/>
          </a:prstGeom>
        </p:spPr>
      </p:pic>
      <p:pic>
        <p:nvPicPr>
          <p:cNvPr id="6" name="图片 5"/>
          <p:cNvPicPr>
            <a:picLocks noChangeAspect="1"/>
          </p:cNvPicPr>
          <p:nvPr/>
        </p:nvPicPr>
        <p:blipFill>
          <a:blip r:embed="rId2"/>
          <a:stretch>
            <a:fillRect/>
          </a:stretch>
        </p:blipFill>
        <p:spPr>
          <a:xfrm>
            <a:off x="6195695" y="2630805"/>
            <a:ext cx="4053840" cy="3505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Thin-Film Interference and Phase Shifts During Reflection</a:t>
            </a:r>
            <a:endParaRPr lang="en-US" altLang="en-US" dirty="0"/>
          </a:p>
        </p:txBody>
      </p:sp>
      <p:sp>
        <p:nvSpPr>
          <p:cNvPr id="3" name="Content Placeholder 2"/>
          <p:cNvSpPr>
            <a:spLocks noGrp="1"/>
          </p:cNvSpPr>
          <p:nvPr>
            <p:ph idx="1"/>
          </p:nvPr>
        </p:nvSpPr>
        <p:spPr>
          <a:xfrm>
            <a:off x="1213485" y="1934210"/>
            <a:ext cx="5455285" cy="838200"/>
          </a:xfrm>
        </p:spPr>
        <p:txBody>
          <a:bodyPr/>
          <a:lstStyle/>
          <a:p>
            <a:pPr marL="255905" indent="-255905">
              <a:buSzPct val="100000"/>
            </a:pPr>
            <a:r>
              <a:rPr lang="en-US" altLang="en-US" sz="2600" dirty="0"/>
              <a:t>The amplitude </a:t>
            </a:r>
            <a:r>
              <a:rPr lang="en-US" altLang="en-US" sz="2600" i="1" dirty="0"/>
              <a:t>E</a:t>
            </a:r>
            <a:r>
              <a:rPr lang="en-US" altLang="en-US" sz="2600" i="1" baseline="-25000" dirty="0"/>
              <a:t>r</a:t>
            </a:r>
            <a:r>
              <a:rPr lang="en-US" altLang="en-US" sz="2600" dirty="0"/>
              <a:t> of the wave reflected from the interface is proportional to the amplitude </a:t>
            </a:r>
            <a:r>
              <a:rPr lang="en-US" altLang="en-US" sz="2600" i="1" dirty="0"/>
              <a:t>E</a:t>
            </a:r>
            <a:r>
              <a:rPr lang="en-US" altLang="en-US" sz="2600" i="1" baseline="-25000" dirty="0"/>
              <a:t>i</a:t>
            </a:r>
            <a:r>
              <a:rPr lang="en-US" altLang="en-US" sz="2600" i="1" dirty="0"/>
              <a:t> </a:t>
            </a:r>
            <a:r>
              <a:rPr lang="en-US" altLang="en-US" sz="2600" dirty="0"/>
              <a:t>of the incident wave and is given by</a:t>
            </a:r>
            <a:endParaRPr lang="en-US" altLang="en-US" sz="2600" dirty="0"/>
          </a:p>
        </p:txBody>
      </p:sp>
      <p:pic>
        <p:nvPicPr>
          <p:cNvPr id="5" name="图片 4"/>
          <p:cNvPicPr>
            <a:picLocks noChangeAspect="1"/>
          </p:cNvPicPr>
          <p:nvPr/>
        </p:nvPicPr>
        <p:blipFill>
          <a:blip r:embed="rId1"/>
          <a:stretch>
            <a:fillRect/>
          </a:stretch>
        </p:blipFill>
        <p:spPr>
          <a:xfrm>
            <a:off x="7381875" y="1312545"/>
            <a:ext cx="3387090" cy="4890770"/>
          </a:xfrm>
          <a:prstGeom prst="rect">
            <a:avLst/>
          </a:prstGeom>
        </p:spPr>
      </p:pic>
      <p:pic>
        <p:nvPicPr>
          <p:cNvPr id="6" name="图片 5"/>
          <p:cNvPicPr>
            <a:picLocks noChangeAspect="1"/>
          </p:cNvPicPr>
          <p:nvPr/>
        </p:nvPicPr>
        <p:blipFill>
          <a:blip r:embed="rId2"/>
          <a:stretch>
            <a:fillRect/>
          </a:stretch>
        </p:blipFill>
        <p:spPr>
          <a:xfrm>
            <a:off x="1687195" y="4496435"/>
            <a:ext cx="3749040" cy="56388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 name="图片 9"/>
          <p:cNvPicPr>
            <a:picLocks noChangeAspect="1"/>
          </p:cNvPicPr>
          <p:nvPr/>
        </p:nvPicPr>
        <p:blipFill>
          <a:blip r:embed="rId1"/>
          <a:stretch>
            <a:fillRect/>
          </a:stretch>
        </p:blipFill>
        <p:spPr>
          <a:xfrm>
            <a:off x="967740" y="875665"/>
            <a:ext cx="10256520" cy="46863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1520" y="351155"/>
            <a:ext cx="10854055" cy="838200"/>
          </a:xfrm>
        </p:spPr>
        <p:txBody>
          <a:bodyPr/>
          <a:lstStyle/>
          <a:p>
            <a:pPr marL="255905" indent="-255905">
              <a:buSzPct val="100000"/>
            </a:pPr>
            <a:r>
              <a:rPr lang="en-US" altLang="en-US" sz="2600" dirty="0"/>
              <a:t>We can summarize this discussion mathematically. If the film has thickness </a:t>
            </a:r>
            <a:r>
              <a:rPr lang="en-US" altLang="en-US" sz="2600" i="1" dirty="0"/>
              <a:t>t</a:t>
            </a:r>
            <a:r>
              <a:rPr lang="en-US" altLang="en-US" sz="2600" dirty="0"/>
              <a:t>, the light is at normal incidence and has wavelength </a:t>
            </a:r>
            <a:r>
              <a:rPr lang="en-US" altLang="en-US" sz="2600" dirty="0">
                <a:latin typeface="Times New Roman" panose="02020603050405020304" pitchFamily="18" charset="0"/>
                <a:cs typeface="Times New Roman" panose="02020603050405020304" pitchFamily="18" charset="0"/>
              </a:rPr>
              <a:t>λ</a:t>
            </a:r>
            <a:r>
              <a:rPr lang="en-US" altLang="en-US" sz="2600" dirty="0"/>
              <a:t> in the film; if neither or both of the reflected waves from the two surfaces have a half-cycle reflection phase shift, the conditions for constructive and destructive interference are</a:t>
            </a:r>
            <a:endParaRPr lang="en-US" altLang="en-US" sz="2600" dirty="0"/>
          </a:p>
          <a:p>
            <a:pPr marL="255905" indent="-255905">
              <a:buSzPct val="100000"/>
            </a:pPr>
            <a:endParaRPr lang="en-US" altLang="en-US" sz="2600" dirty="0"/>
          </a:p>
          <a:p>
            <a:pPr marL="255905" indent="-255905">
              <a:buSzPct val="100000"/>
            </a:pPr>
            <a:endParaRPr lang="en-US" altLang="en-US" sz="2600" dirty="0"/>
          </a:p>
          <a:p>
            <a:pPr marL="255905" indent="-255905">
              <a:buSzPct val="100000"/>
            </a:pPr>
            <a:r>
              <a:rPr lang="en-US" altLang="en-US" sz="2600" dirty="0"/>
              <a:t>If one of the two waves has a half-cycle reflection phase shift, the conditions for constructive and destructive interference are reversed</a:t>
            </a:r>
            <a:endParaRPr lang="en-US" altLang="en-US" sz="2600" dirty="0"/>
          </a:p>
        </p:txBody>
      </p:sp>
      <p:pic>
        <p:nvPicPr>
          <p:cNvPr id="5" name="图片 4"/>
          <p:cNvPicPr>
            <a:picLocks noChangeAspect="1"/>
          </p:cNvPicPr>
          <p:nvPr/>
        </p:nvPicPr>
        <p:blipFill>
          <a:blip r:embed="rId1"/>
          <a:stretch>
            <a:fillRect/>
          </a:stretch>
        </p:blipFill>
        <p:spPr>
          <a:xfrm>
            <a:off x="5069840" y="1945640"/>
            <a:ext cx="5484495" cy="1736090"/>
          </a:xfrm>
          <a:prstGeom prst="rect">
            <a:avLst/>
          </a:prstGeom>
        </p:spPr>
      </p:pic>
      <p:pic>
        <p:nvPicPr>
          <p:cNvPr id="8" name="图片 7"/>
          <p:cNvPicPr>
            <a:picLocks noChangeAspect="1"/>
          </p:cNvPicPr>
          <p:nvPr/>
        </p:nvPicPr>
        <p:blipFill>
          <a:blip r:embed="rId2"/>
          <a:stretch>
            <a:fillRect/>
          </a:stretch>
        </p:blipFill>
        <p:spPr>
          <a:xfrm>
            <a:off x="5012690" y="4662170"/>
            <a:ext cx="5836920" cy="18516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1090295" y="1351280"/>
            <a:ext cx="9715500" cy="276606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15950" y="215372"/>
            <a:ext cx="10972800" cy="1097280"/>
          </a:xfrm>
        </p:spPr>
        <p:txBody>
          <a:bodyPr/>
          <a:lstStyle/>
          <a:p>
            <a:r>
              <a:rPr lang="en-US" altLang="en-US" sz="3600" dirty="0"/>
              <a:t>Example 25.4         Thin-film interference I </a:t>
            </a:r>
            <a:endParaRPr lang="en-US" altLang="en-US" sz="3600" dirty="0"/>
          </a:p>
        </p:txBody>
      </p:sp>
      <p:sp>
        <p:nvSpPr>
          <p:cNvPr id="4" name="文本框 3"/>
          <p:cNvSpPr txBox="1"/>
          <p:nvPr/>
        </p:nvSpPr>
        <p:spPr>
          <a:xfrm>
            <a:off x="7155180" y="913765"/>
            <a:ext cx="309880" cy="398780"/>
          </a:xfrm>
          <a:prstGeom prst="rect">
            <a:avLst/>
          </a:prstGeom>
          <a:noFill/>
        </p:spPr>
        <p:txBody>
          <a:bodyPr wrap="none" rtlCol="0">
            <a:spAutoFit/>
          </a:bodyPr>
          <a:lstStyle/>
          <a:p>
            <a:endParaRPr lang="zh-CN" altLang="en-US" sz="2000" dirty="0" err="1" smtClean="0"/>
          </a:p>
        </p:txBody>
      </p:sp>
      <p:sp>
        <p:nvSpPr>
          <p:cNvPr id="14" name="Title 1"/>
          <p:cNvSpPr>
            <a:spLocks noGrp="1"/>
          </p:cNvSpPr>
          <p:nvPr/>
        </p:nvSpPr>
        <p:spPr>
          <a:xfrm>
            <a:off x="823595" y="3321157"/>
            <a:ext cx="10972800" cy="1097280"/>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a:lstStyle>
          <a:p>
            <a:endParaRPr lang="en-US" altLang="en-US" sz="3600" dirty="0"/>
          </a:p>
        </p:txBody>
      </p:sp>
      <p:pic>
        <p:nvPicPr>
          <p:cNvPr id="9" name="图片 8"/>
          <p:cNvPicPr>
            <a:picLocks noChangeAspect="1"/>
          </p:cNvPicPr>
          <p:nvPr/>
        </p:nvPicPr>
        <p:blipFill>
          <a:blip r:embed="rId1"/>
          <a:stretch>
            <a:fillRect/>
          </a:stretch>
        </p:blipFill>
        <p:spPr>
          <a:xfrm>
            <a:off x="1339215" y="1340485"/>
            <a:ext cx="9304020" cy="1242060"/>
          </a:xfrm>
          <a:prstGeom prst="rect">
            <a:avLst/>
          </a:prstGeom>
        </p:spPr>
      </p:pic>
      <p:pic>
        <p:nvPicPr>
          <p:cNvPr id="10" name="图片 9"/>
          <p:cNvPicPr>
            <a:picLocks noChangeAspect="1"/>
          </p:cNvPicPr>
          <p:nvPr/>
        </p:nvPicPr>
        <p:blipFill>
          <a:blip r:embed="rId2"/>
          <a:stretch>
            <a:fillRect/>
          </a:stretch>
        </p:blipFill>
        <p:spPr>
          <a:xfrm>
            <a:off x="2439035" y="2610485"/>
            <a:ext cx="7741920" cy="415544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15950" y="215372"/>
            <a:ext cx="10972800" cy="1097280"/>
          </a:xfrm>
        </p:spPr>
        <p:txBody>
          <a:bodyPr/>
          <a:lstStyle/>
          <a:p>
            <a:r>
              <a:rPr lang="en-US" altLang="en-US" sz="3600" dirty="0"/>
              <a:t>Example 25.5         Thin-film interference II</a:t>
            </a:r>
            <a:endParaRPr lang="en-US" altLang="en-US" sz="3600" dirty="0"/>
          </a:p>
        </p:txBody>
      </p:sp>
      <p:sp>
        <p:nvSpPr>
          <p:cNvPr id="4" name="文本框 3"/>
          <p:cNvSpPr txBox="1"/>
          <p:nvPr/>
        </p:nvSpPr>
        <p:spPr>
          <a:xfrm>
            <a:off x="7155180" y="913765"/>
            <a:ext cx="309880" cy="398780"/>
          </a:xfrm>
          <a:prstGeom prst="rect">
            <a:avLst/>
          </a:prstGeom>
          <a:noFill/>
        </p:spPr>
        <p:txBody>
          <a:bodyPr wrap="none" rtlCol="0">
            <a:spAutoFit/>
          </a:bodyPr>
          <a:lstStyle/>
          <a:p>
            <a:endParaRPr lang="zh-CN" altLang="en-US" sz="2000" dirty="0" err="1" smtClean="0"/>
          </a:p>
        </p:txBody>
      </p:sp>
      <p:sp>
        <p:nvSpPr>
          <p:cNvPr id="14" name="Title 1"/>
          <p:cNvSpPr>
            <a:spLocks noGrp="1"/>
          </p:cNvSpPr>
          <p:nvPr/>
        </p:nvSpPr>
        <p:spPr>
          <a:xfrm>
            <a:off x="823595" y="3321157"/>
            <a:ext cx="10972800" cy="1097280"/>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a:lstStyle>
          <a:p>
            <a:endParaRPr lang="en-US" altLang="en-US" sz="3600" dirty="0"/>
          </a:p>
        </p:txBody>
      </p:sp>
      <p:pic>
        <p:nvPicPr>
          <p:cNvPr id="5" name="图片 4"/>
          <p:cNvPicPr>
            <a:picLocks noChangeAspect="1"/>
          </p:cNvPicPr>
          <p:nvPr/>
        </p:nvPicPr>
        <p:blipFill>
          <a:blip r:embed="rId1"/>
          <a:stretch>
            <a:fillRect/>
          </a:stretch>
        </p:blipFill>
        <p:spPr>
          <a:xfrm>
            <a:off x="823595" y="1926590"/>
            <a:ext cx="10967085" cy="302514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5950" y="215372"/>
            <a:ext cx="10972800" cy="1097280"/>
          </a:xfrm>
        </p:spPr>
        <p:txBody>
          <a:bodyPr/>
          <a:lstStyle/>
          <a:p>
            <a:r>
              <a:rPr lang="en-US" altLang="en-US" sz="3600" dirty="0"/>
              <a:t>Example 25.6         Thin-film interference III</a:t>
            </a:r>
            <a:endParaRPr lang="en-US" altLang="en-US" sz="3600" dirty="0"/>
          </a:p>
        </p:txBody>
      </p:sp>
      <p:sp>
        <p:nvSpPr>
          <p:cNvPr id="4" name="文本框 3"/>
          <p:cNvSpPr txBox="1"/>
          <p:nvPr/>
        </p:nvSpPr>
        <p:spPr>
          <a:xfrm>
            <a:off x="7155180" y="913765"/>
            <a:ext cx="309880" cy="398780"/>
          </a:xfrm>
          <a:prstGeom prst="rect">
            <a:avLst/>
          </a:prstGeom>
          <a:noFill/>
        </p:spPr>
        <p:txBody>
          <a:bodyPr wrap="none" rtlCol="0">
            <a:spAutoFit/>
          </a:bodyPr>
          <a:lstStyle/>
          <a:p>
            <a:endParaRPr lang="zh-CN" altLang="en-US" sz="2000" dirty="0" err="1" smtClean="0"/>
          </a:p>
        </p:txBody>
      </p:sp>
      <p:sp>
        <p:nvSpPr>
          <p:cNvPr id="14" name="Title 1"/>
          <p:cNvSpPr>
            <a:spLocks noGrp="1"/>
          </p:cNvSpPr>
          <p:nvPr/>
        </p:nvSpPr>
        <p:spPr>
          <a:xfrm>
            <a:off x="823595" y="3321157"/>
            <a:ext cx="10972800" cy="1097280"/>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a:lstStyle>
          <a:p>
            <a:endParaRPr lang="en-US" altLang="en-US" sz="3600" dirty="0"/>
          </a:p>
        </p:txBody>
      </p:sp>
      <p:pic>
        <p:nvPicPr>
          <p:cNvPr id="5" name="图片 4"/>
          <p:cNvPicPr>
            <a:picLocks noChangeAspect="1"/>
          </p:cNvPicPr>
          <p:nvPr/>
        </p:nvPicPr>
        <p:blipFill>
          <a:blip r:embed="rId1"/>
          <a:stretch>
            <a:fillRect/>
          </a:stretch>
        </p:blipFill>
        <p:spPr>
          <a:xfrm>
            <a:off x="879475" y="1957070"/>
            <a:ext cx="11473180" cy="294386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76275" y="107"/>
            <a:ext cx="10972800" cy="1097280"/>
          </a:xfrm>
        </p:spPr>
        <p:txBody>
          <a:bodyPr/>
          <a:lstStyle/>
          <a:p>
            <a:r>
              <a:rPr lang="en-US" altLang="en-US" sz="3600" dirty="0"/>
              <a:t>Example 25.7         Thin-film versus thin films</a:t>
            </a:r>
            <a:endParaRPr lang="en-US" altLang="en-US" sz="3600" dirty="0"/>
          </a:p>
        </p:txBody>
      </p:sp>
      <p:sp>
        <p:nvSpPr>
          <p:cNvPr id="4" name="文本框 3"/>
          <p:cNvSpPr txBox="1"/>
          <p:nvPr/>
        </p:nvSpPr>
        <p:spPr>
          <a:xfrm>
            <a:off x="7155180" y="913765"/>
            <a:ext cx="309880" cy="398780"/>
          </a:xfrm>
          <a:prstGeom prst="rect">
            <a:avLst/>
          </a:prstGeom>
          <a:noFill/>
        </p:spPr>
        <p:txBody>
          <a:bodyPr wrap="none" rtlCol="0">
            <a:spAutoFit/>
          </a:bodyPr>
          <a:lstStyle/>
          <a:p>
            <a:endParaRPr lang="zh-CN" altLang="en-US" sz="2000" dirty="0" err="1" smtClean="0"/>
          </a:p>
        </p:txBody>
      </p:sp>
      <p:sp>
        <p:nvSpPr>
          <p:cNvPr id="14" name="Title 1"/>
          <p:cNvSpPr>
            <a:spLocks noGrp="1"/>
          </p:cNvSpPr>
          <p:nvPr/>
        </p:nvSpPr>
        <p:spPr>
          <a:xfrm>
            <a:off x="868045" y="3805662"/>
            <a:ext cx="10972800" cy="1097280"/>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a:lstStyle>
          <a:p>
            <a:endParaRPr lang="en-US" altLang="en-US" sz="3600" dirty="0"/>
          </a:p>
        </p:txBody>
      </p:sp>
      <p:sp>
        <p:nvSpPr>
          <p:cNvPr id="3" name="文本框 2"/>
          <p:cNvSpPr txBox="1"/>
          <p:nvPr/>
        </p:nvSpPr>
        <p:spPr>
          <a:xfrm>
            <a:off x="542925" y="1027589"/>
            <a:ext cx="11336655" cy="1198880"/>
          </a:xfrm>
          <a:prstGeom prst="rect">
            <a:avLst/>
          </a:prstGeom>
          <a:noFill/>
        </p:spPr>
        <p:txBody>
          <a:bodyPr wrap="none" rtlCol="0">
            <a:spAutoFit/>
          </a:bodyPr>
          <a:lstStyle>
            <a:defPPr>
              <a:defRPr lang="zh-CN"/>
            </a:defPPr>
            <a:lvl1pPr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9pPr>
          </a:lstStyle>
          <a:p>
            <a:r>
              <a:rPr lang="en-US" altLang="en-US" sz="2400" dirty="0">
                <a:latin typeface="+mn-lt"/>
                <a:ea typeface="+mn-ea"/>
              </a:rPr>
              <a:t>We have emphasized interference effects in rather thin films. Suppose the film in </a:t>
            </a:r>
            <a:endParaRPr lang="en-US" altLang="en-US" sz="2400" dirty="0">
              <a:latin typeface="+mn-lt"/>
              <a:ea typeface="+mn-ea"/>
            </a:endParaRPr>
          </a:p>
          <a:p>
            <a:r>
              <a:rPr lang="en-US" altLang="zh-CN" sz="2400" dirty="0">
                <a:latin typeface="+mn-lt"/>
                <a:ea typeface="+mn-ea"/>
              </a:rPr>
              <a:t>Figure25.10 is a layer of water(n=1.33) 1.00cm thick on top of a glass surface with </a:t>
            </a:r>
            <a:endParaRPr lang="en-US" altLang="zh-CN" sz="2400" dirty="0">
              <a:latin typeface="+mn-lt"/>
              <a:ea typeface="+mn-ea"/>
            </a:endParaRPr>
          </a:p>
          <a:p>
            <a:r>
              <a:rPr lang="en-US" altLang="zh-CN" sz="2400" dirty="0">
                <a:latin typeface="+mn-lt"/>
                <a:ea typeface="+mn-ea"/>
              </a:rPr>
              <a:t>n =1.52. What will you see if this rather thick film is illminated from above?</a:t>
            </a:r>
            <a:endParaRPr lang="en-US" altLang="zh-CN" sz="2400" dirty="0">
              <a:latin typeface="+mn-lt"/>
              <a:ea typeface="+mn-ea"/>
            </a:endParaRPr>
          </a:p>
        </p:txBody>
      </p:sp>
      <p:sp>
        <p:nvSpPr>
          <p:cNvPr id="6" name="文本框 5"/>
          <p:cNvSpPr txBox="1"/>
          <p:nvPr/>
        </p:nvSpPr>
        <p:spPr>
          <a:xfrm>
            <a:off x="631825" y="2425224"/>
            <a:ext cx="1136015" cy="410845"/>
          </a:xfrm>
          <a:prstGeom prst="rect">
            <a:avLst/>
          </a:prstGeom>
          <a:solidFill>
            <a:schemeClr val="accent5"/>
          </a:solidFill>
        </p:spPr>
        <p:txBody>
          <a:bodyPr wrap="none" rtlCol="0">
            <a:spAutoFit/>
          </a:bodyPr>
          <a:lstStyle>
            <a:defPPr>
              <a:defRPr lang="zh-CN"/>
            </a:defPPr>
            <a:lvl1pPr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9pPr>
          </a:lstStyle>
          <a:p>
            <a:r>
              <a:rPr lang="en-US" altLang="en-US" sz="3200" baseline="-25000" dirty="0">
                <a:solidFill>
                  <a:schemeClr val="bg1"/>
                </a:solidFill>
                <a:latin typeface="Arial" panose="020B0604020202020204" pitchFamily="34" charset="0"/>
                <a:ea typeface="+mn-ea"/>
                <a:cs typeface="Arial" panose="020B0604020202020204" pitchFamily="34" charset="0"/>
              </a:rPr>
              <a:t>Solution</a:t>
            </a:r>
            <a:endParaRPr lang="en-US" altLang="en-US" sz="3200" baseline="-25000" dirty="0">
              <a:solidFill>
                <a:schemeClr val="bg1"/>
              </a:solidFill>
              <a:latin typeface="Arial" panose="020B0604020202020204" pitchFamily="34" charset="0"/>
              <a:ea typeface="+mn-ea"/>
              <a:cs typeface="Arial" panose="020B0604020202020204" pitchFamily="34" charset="0"/>
            </a:endParaRPr>
          </a:p>
        </p:txBody>
      </p:sp>
      <p:sp>
        <p:nvSpPr>
          <p:cNvPr id="7" name="文本框 6"/>
          <p:cNvSpPr txBox="1"/>
          <p:nvPr/>
        </p:nvSpPr>
        <p:spPr>
          <a:xfrm>
            <a:off x="631825" y="2917349"/>
            <a:ext cx="10932160" cy="829945"/>
          </a:xfrm>
          <a:prstGeom prst="rect">
            <a:avLst/>
          </a:prstGeom>
          <a:noFill/>
        </p:spPr>
        <p:txBody>
          <a:bodyPr wrap="none" rtlCol="0">
            <a:spAutoFit/>
          </a:bodyPr>
          <a:lstStyle>
            <a:defPPr>
              <a:defRPr lang="zh-CN"/>
            </a:defPPr>
            <a:lvl1pPr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9pPr>
          </a:lstStyle>
          <a:p>
            <a:r>
              <a:rPr lang="en-US" altLang="zh-CN" sz="2400" dirty="0" err="1" smtClean="0">
                <a:solidFill>
                  <a:schemeClr val="accent5"/>
                </a:solidFill>
                <a:latin typeface="Arial" panose="020B0604020202020204" pitchFamily="34" charset="0"/>
                <a:cs typeface="Arial" panose="020B0604020202020204" pitchFamily="34" charset="0"/>
              </a:rPr>
              <a:t>IDENTIFY and SER UP: </a:t>
            </a:r>
            <a:r>
              <a:rPr lang="en-US" altLang="zh-CN" sz="2400" dirty="0" err="1" smtClean="0">
                <a:solidFill>
                  <a:schemeClr val="tx1"/>
                </a:solidFill>
                <a:latin typeface="Arial" panose="020B0604020202020204" pitchFamily="34" charset="0"/>
                <a:cs typeface="Arial" panose="020B0604020202020204" pitchFamily="34" charset="0"/>
              </a:rPr>
              <a:t>As in Example 25.6, half-cycle phase changes accur at</a:t>
            </a:r>
            <a:endParaRPr lang="en-US" altLang="zh-CN" sz="2400" dirty="0" err="1" smtClean="0">
              <a:solidFill>
                <a:schemeClr val="tx1"/>
              </a:solidFill>
              <a:latin typeface="Arial" panose="020B0604020202020204" pitchFamily="34" charset="0"/>
              <a:cs typeface="Arial" panose="020B0604020202020204" pitchFamily="34" charset="0"/>
            </a:endParaRPr>
          </a:p>
          <a:p>
            <a:r>
              <a:rPr lang="en-US" altLang="zh-CN" sz="2400" dirty="0" err="1" smtClean="0">
                <a:solidFill>
                  <a:schemeClr val="tx1"/>
                </a:solidFill>
                <a:latin typeface="Arial" panose="020B0604020202020204" pitchFamily="34" charset="0"/>
                <a:cs typeface="Arial" panose="020B0604020202020204" pitchFamily="34" charset="0"/>
              </a:rPr>
              <a:t>both the top and bottom sufaces of the film.</a:t>
            </a:r>
            <a:endParaRPr lang="en-US" altLang="zh-CN" sz="2400" dirty="0" err="1" smtClean="0">
              <a:solidFill>
                <a:schemeClr val="tx1"/>
              </a:solidFill>
              <a:latin typeface="Arial" panose="020B0604020202020204" pitchFamily="34" charset="0"/>
              <a:cs typeface="Arial" panose="020B0604020202020204" pitchFamily="34" charset="0"/>
            </a:endParaRPr>
          </a:p>
        </p:txBody>
      </p:sp>
      <p:sp>
        <p:nvSpPr>
          <p:cNvPr id="16" name="文本框 15"/>
          <p:cNvSpPr txBox="1"/>
          <p:nvPr/>
        </p:nvSpPr>
        <p:spPr>
          <a:xfrm>
            <a:off x="631825" y="3747135"/>
            <a:ext cx="10920095" cy="3046095"/>
          </a:xfrm>
          <a:prstGeom prst="rect">
            <a:avLst/>
          </a:prstGeom>
          <a:noFill/>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9pPr>
          </a:lstStyle>
          <a:p>
            <a:r>
              <a:rPr lang="en-US" altLang="zh-CN" sz="2400" dirty="0" err="1" smtClean="0">
                <a:solidFill>
                  <a:schemeClr val="accent5"/>
                </a:solidFill>
                <a:latin typeface="Arial" panose="020B0604020202020204" pitchFamily="34" charset="0"/>
                <a:cs typeface="Arial" panose="020B0604020202020204" pitchFamily="34" charset="0"/>
              </a:rPr>
              <a:t>EXECUTE</a:t>
            </a:r>
            <a:r>
              <a:rPr lang="en-US" altLang="zh-CN" sz="2400" dirty="0" err="1" smtClean="0">
                <a:solidFill>
                  <a:srgbClr val="000000"/>
                </a:solidFill>
                <a:latin typeface="Arial" panose="020B0604020202020204" pitchFamily="34" charset="0"/>
                <a:cs typeface="Arial" panose="020B0604020202020204" pitchFamily="34" charset="0"/>
              </a:rPr>
              <a:t>: Equation(25.17) gives the condition for constructive interference in the reflected waves. Hence the wavelengths in air that undergo constructive interference are given by </a:t>
            </a:r>
            <a:endParaRPr lang="en-US" altLang="zh-CN" sz="2400" dirty="0" err="1" smtClean="0">
              <a:solidFill>
                <a:schemeClr val="tx1"/>
              </a:solidFill>
              <a:latin typeface="Arial" panose="020B0604020202020204" pitchFamily="34" charset="0"/>
              <a:cs typeface="Arial" panose="020B0604020202020204" pitchFamily="34" charset="0"/>
            </a:endParaRPr>
          </a:p>
          <a:p>
            <a:r>
              <a:rPr lang="en-US" altLang="zh-CN" sz="2000" dirty="0" err="1" smtClean="0">
                <a:solidFill>
                  <a:schemeClr val="tx1"/>
                </a:solidFill>
                <a:latin typeface="Arial" panose="020B0604020202020204" pitchFamily="34" charset="0"/>
                <a:cs typeface="Arial" panose="020B0604020202020204" pitchFamily="34" charset="0"/>
              </a:rPr>
              <a:t> </a:t>
            </a:r>
            <a:endParaRPr lang="en-US" altLang="zh-CN" sz="2000" dirty="0" err="1" smtClean="0">
              <a:solidFill>
                <a:schemeClr val="accent5"/>
              </a:solidFill>
              <a:latin typeface="Arial" panose="020B0604020202020204" pitchFamily="34" charset="0"/>
              <a:cs typeface="Arial" panose="020B0604020202020204" pitchFamily="34" charset="0"/>
            </a:endParaRPr>
          </a:p>
          <a:p>
            <a:endParaRPr lang="en-US" altLang="zh-CN" sz="2000" dirty="0" err="1" smtClean="0">
              <a:solidFill>
                <a:schemeClr val="accent5"/>
              </a:solidFill>
              <a:latin typeface="Arial" panose="020B0604020202020204" pitchFamily="34" charset="0"/>
              <a:cs typeface="Arial" panose="020B0604020202020204" pitchFamily="34" charset="0"/>
            </a:endParaRPr>
          </a:p>
          <a:p>
            <a:r>
              <a:rPr lang="en-US" altLang="zh-CN" sz="2000" dirty="0" err="1" smtClean="0">
                <a:solidFill>
                  <a:schemeClr val="tx1"/>
                </a:solidFill>
                <a:latin typeface="Arial" panose="020B0604020202020204" pitchFamily="34" charset="0"/>
                <a:cs typeface="Arial" panose="020B0604020202020204" pitchFamily="34" charset="0"/>
              </a:rPr>
              <a:t>where n is theindex of refraction of water.</a:t>
            </a:r>
            <a:endParaRPr lang="en-US" altLang="zh-CN" sz="2000" dirty="0" err="1" smtClean="0">
              <a:solidFill>
                <a:schemeClr val="tx1"/>
              </a:solidFill>
              <a:latin typeface="Arial" panose="020B0604020202020204" pitchFamily="34" charset="0"/>
              <a:cs typeface="Arial" panose="020B0604020202020204" pitchFamily="34" charset="0"/>
            </a:endParaRPr>
          </a:p>
          <a:p>
            <a:r>
              <a:rPr lang="en-US" altLang="zh-CN" sz="2000" dirty="0" err="1" smtClean="0">
                <a:solidFill>
                  <a:schemeClr val="tx1"/>
                </a:solidFill>
                <a:latin typeface="Arial" panose="020B0604020202020204" pitchFamily="34" charset="0"/>
                <a:cs typeface="Arial" panose="020B0604020202020204" pitchFamily="34" charset="0"/>
              </a:rPr>
              <a:t>Because t = 1. 00 cm is large in comparison to the wavelengths of visibel light, the values of m in this equation will be large. For instance, using m=40000 in the first equation tells us that light </a:t>
            </a:r>
            <a:endParaRPr lang="en-US" altLang="zh-CN" sz="2000" dirty="0" err="1" smtClean="0">
              <a:solidFill>
                <a:schemeClr val="tx1"/>
              </a:solidFill>
              <a:latin typeface="Arial" panose="020B0604020202020204" pitchFamily="34" charset="0"/>
              <a:cs typeface="Arial" panose="020B0604020202020204" pitchFamily="34" charset="0"/>
            </a:endParaRPr>
          </a:p>
          <a:p>
            <a:r>
              <a:rPr lang="en-US" altLang="zh-CN" sz="2000" dirty="0" err="1" smtClean="0">
                <a:solidFill>
                  <a:schemeClr val="tx1"/>
                </a:solidFill>
                <a:latin typeface="Arial" panose="020B0604020202020204" pitchFamily="34" charset="0"/>
                <a:cs typeface="Arial" panose="020B0604020202020204" pitchFamily="34" charset="0"/>
              </a:rPr>
              <a:t>will be strongly reflected if it has a wavelength in air of </a:t>
            </a:r>
            <a:endParaRPr lang="en-US" altLang="zh-CN" sz="2000" dirty="0" err="1" smtClean="0">
              <a:solidFill>
                <a:schemeClr val="tx1"/>
              </a:solidFill>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8" name="文本框 7"/>
              <p:cNvSpPr txBox="1"/>
              <p:nvPr/>
            </p:nvSpPr>
            <p:spPr>
              <a:xfrm>
                <a:off x="4462716" y="4763071"/>
                <a:ext cx="1983740" cy="66421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sz="2000" i="1" dirty="0" err="1" smtClean="0">
                              <a:latin typeface="Cambria Math" panose="02040503050406030204" charset="0"/>
                              <a:cs typeface="Cambria Math" panose="02040503050406030204" charset="0"/>
                            </a:rPr>
                          </m:ctrlPr>
                        </m:sSubPr>
                        <m:e>
                          <m:r>
                            <a:rPr lang="en-US" altLang="zh-CN" sz="2000" i="1" dirty="0" err="1" smtClean="0">
                              <a:latin typeface="Cambria Math" panose="02040503050406030204" charset="0"/>
                              <a:cs typeface="Cambria Math" panose="02040503050406030204" charset="0"/>
                            </a:rPr>
                            <m:t>𝜆</m:t>
                          </m:r>
                        </m:e>
                        <m:sub>
                          <m:r>
                            <a:rPr lang="en-US" altLang="zh-CN" sz="2000" i="1" dirty="0" err="1" smtClean="0">
                              <a:latin typeface="Cambria Math" panose="02040503050406030204" charset="0"/>
                              <a:cs typeface="Cambria Math" panose="02040503050406030204" charset="0"/>
                            </a:rPr>
                            <m:t>0</m:t>
                          </m:r>
                        </m:sub>
                      </m:sSub>
                      <m:r>
                        <a:rPr lang="en-US" altLang="zh-CN" sz="2000" i="1" dirty="0" err="1" smtClean="0">
                          <a:latin typeface="Cambria Math" panose="02040503050406030204" charset="0"/>
                          <a:cs typeface="Cambria Math" panose="02040503050406030204" charset="0"/>
                        </a:rPr>
                        <m:t>=</m:t>
                      </m:r>
                      <m:r>
                        <a:rPr lang="en-US" altLang="zh-CN" sz="2000" i="1" dirty="0" err="1" smtClean="0">
                          <a:latin typeface="Cambria Math" panose="02040503050406030204" charset="0"/>
                          <a:cs typeface="Cambria Math" panose="02040503050406030204" charset="0"/>
                        </a:rPr>
                        <m:t>𝑛</m:t>
                      </m:r>
                      <m:r>
                        <a:rPr lang="en-US" altLang="zh-CN" sz="2000" i="1" dirty="0" err="1" smtClean="0">
                          <a:latin typeface="Cambria Math" panose="02040503050406030204" charset="0"/>
                          <a:cs typeface="Cambria Math" panose="02040503050406030204" charset="0"/>
                        </a:rPr>
                        <m:t>𝜆</m:t>
                      </m:r>
                      <m:r>
                        <a:rPr lang="en-US" altLang="zh-CN" sz="2000" i="1" dirty="0" err="1" smtClean="0">
                          <a:latin typeface="Cambria Math" panose="02040503050406030204" charset="0"/>
                          <a:cs typeface="Cambria Math" panose="02040503050406030204" charset="0"/>
                        </a:rPr>
                        <m:t>=</m:t>
                      </m:r>
                      <m:f>
                        <m:fPr>
                          <m:ctrlPr>
                            <a:rPr lang="en-US" altLang="zh-CN" sz="2000" i="1" dirty="0" err="1" smtClean="0">
                              <a:latin typeface="Cambria Math" panose="02040503050406030204" charset="0"/>
                              <a:cs typeface="Cambria Math" panose="02040503050406030204" charset="0"/>
                            </a:rPr>
                          </m:ctrlPr>
                        </m:fPr>
                        <m:num>
                          <m:r>
                            <a:rPr lang="en-US" altLang="zh-CN" sz="2000" i="1" dirty="0" err="1" smtClean="0">
                              <a:latin typeface="Cambria Math" panose="02040503050406030204" charset="0"/>
                              <a:cs typeface="Cambria Math" panose="02040503050406030204" charset="0"/>
                            </a:rPr>
                            <m:t>2</m:t>
                          </m:r>
                          <m:r>
                            <a:rPr lang="en-US" altLang="zh-CN" sz="2000" i="1" dirty="0" err="1" smtClean="0">
                              <a:latin typeface="Cambria Math" panose="02040503050406030204" charset="0"/>
                              <a:cs typeface="Cambria Math" panose="02040503050406030204" charset="0"/>
                            </a:rPr>
                            <m:t>𝑛𝑡</m:t>
                          </m:r>
                        </m:num>
                        <m:den>
                          <m:r>
                            <a:rPr lang="en-US" altLang="zh-CN" sz="2000" i="1" dirty="0" err="1" smtClean="0">
                              <a:latin typeface="Cambria Math" panose="02040503050406030204" charset="0"/>
                              <a:cs typeface="Cambria Math" panose="02040503050406030204" charset="0"/>
                            </a:rPr>
                            <m:t>𝑚</m:t>
                          </m:r>
                        </m:den>
                      </m:f>
                    </m:oMath>
                  </m:oMathPara>
                </a14:m>
                <a:endParaRPr lang="zh-CN" altLang="en-US" sz="2000" dirty="0" err="1" smtClean="0"/>
              </a:p>
            </p:txBody>
          </p:sp>
        </mc:Choice>
        <mc:Fallback>
          <p:sp>
            <p:nvSpPr>
              <p:cNvPr id="8" name="文本框 7"/>
              <p:cNvSpPr txBox="1">
                <a:spLocks noRot="1" noChangeAspect="1" noMove="1" noResize="1" noEditPoints="1" noAdjustHandles="1" noChangeArrowheads="1" noChangeShapeType="1" noTextEdit="1"/>
              </p:cNvSpPr>
              <p:nvPr/>
            </p:nvSpPr>
            <p:spPr>
              <a:xfrm>
                <a:off x="4462716" y="4763071"/>
                <a:ext cx="1983740" cy="664210"/>
              </a:xfrm>
              <a:prstGeom prst="rect">
                <a:avLst/>
              </a:prstGeom>
              <a:blipFill rotWithShape="1">
                <a:blip r:embed="rId1"/>
                <a:stretch>
                  <a:fillRect l="-29" t="-86" r="29" b="86"/>
                </a:stretch>
              </a:blipFill>
            </p:spPr>
            <p:txBody>
              <a:bodyPr/>
              <a:lstStyle/>
              <a:p>
                <a:r>
                  <a:rPr lang="zh-CN" altLang="en-US">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文本框 3"/>
          <p:cNvSpPr txBox="1"/>
          <p:nvPr/>
        </p:nvSpPr>
        <p:spPr>
          <a:xfrm>
            <a:off x="7155180" y="913765"/>
            <a:ext cx="309880" cy="398780"/>
          </a:xfrm>
          <a:prstGeom prst="rect">
            <a:avLst/>
          </a:prstGeom>
          <a:noFill/>
        </p:spPr>
        <p:txBody>
          <a:bodyPr wrap="none" rtlCol="0">
            <a:spAutoFit/>
          </a:bodyPr>
          <a:lstStyle/>
          <a:p>
            <a:endParaRPr lang="zh-CN" altLang="en-US" sz="2000" dirty="0" err="1" smtClean="0"/>
          </a:p>
        </p:txBody>
      </p:sp>
      <mc:AlternateContent xmlns:mc="http://schemas.openxmlformats.org/markup-compatibility/2006">
        <mc:Choice xmlns:a14="http://schemas.microsoft.com/office/drawing/2010/main" Requires="a14">
          <p:sp>
            <p:nvSpPr>
              <p:cNvPr id="8" name="文本框 7"/>
              <p:cNvSpPr txBox="1"/>
              <p:nvPr/>
            </p:nvSpPr>
            <p:spPr>
              <a:xfrm>
                <a:off x="2539936" y="607631"/>
                <a:ext cx="7607300" cy="101092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sz="2000" i="1" dirty="0" err="1" smtClean="0">
                              <a:latin typeface="Cambria Math" panose="02040503050406030204" charset="0"/>
                              <a:cs typeface="Cambria Math" panose="02040503050406030204" charset="0"/>
                            </a:rPr>
                          </m:ctrlPr>
                        </m:sSubPr>
                        <m:e>
                          <m:r>
                            <a:rPr lang="en-US" altLang="zh-CN" sz="2000" i="1" dirty="0" err="1" smtClean="0">
                              <a:latin typeface="Cambria Math" panose="02040503050406030204" charset="0"/>
                              <a:cs typeface="Cambria Math" panose="02040503050406030204" charset="0"/>
                            </a:rPr>
                            <m:t>𝜆</m:t>
                          </m:r>
                        </m:e>
                        <m:sub>
                          <m:r>
                            <a:rPr lang="en-US" altLang="zh-CN" sz="2000" i="1" dirty="0" err="1" smtClean="0">
                              <a:latin typeface="Cambria Math" panose="02040503050406030204" charset="0"/>
                              <a:cs typeface="Cambria Math" panose="02040503050406030204" charset="0"/>
                            </a:rPr>
                            <m:t>0</m:t>
                          </m:r>
                        </m:sub>
                      </m:sSub>
                      <m:r>
                        <a:rPr lang="en-US" altLang="zh-CN" sz="2000" i="1" dirty="0" err="1" smtClean="0">
                          <a:latin typeface="Cambria Math" panose="02040503050406030204" charset="0"/>
                          <a:cs typeface="Cambria Math" panose="02040503050406030204" charset="0"/>
                        </a:rPr>
                        <m:t>=</m:t>
                      </m:r>
                      <m:r>
                        <a:rPr lang="en-US" altLang="zh-CN" sz="2000" i="1" dirty="0" err="1" smtClean="0">
                          <a:latin typeface="Cambria Math" panose="02040503050406030204" charset="0"/>
                          <a:cs typeface="Cambria Math" panose="02040503050406030204" charset="0"/>
                        </a:rPr>
                        <m:t>𝑛</m:t>
                      </m:r>
                      <m:r>
                        <a:rPr lang="en-US" altLang="zh-CN" sz="2000" i="1" dirty="0" err="1" smtClean="0">
                          <a:latin typeface="Cambria Math" panose="02040503050406030204" charset="0"/>
                          <a:cs typeface="Cambria Math" panose="02040503050406030204" charset="0"/>
                        </a:rPr>
                        <m:t>𝜆</m:t>
                      </m:r>
                      <m:r>
                        <a:rPr lang="en-US" altLang="zh-CN" sz="2000" i="1" dirty="0" err="1" smtClean="0">
                          <a:latin typeface="Cambria Math" panose="02040503050406030204" charset="0"/>
                          <a:cs typeface="Cambria Math" panose="02040503050406030204" charset="0"/>
                        </a:rPr>
                        <m:t>=</m:t>
                      </m:r>
                      <m:f>
                        <m:fPr>
                          <m:ctrlPr>
                            <a:rPr lang="en-US" altLang="zh-CN" sz="2000" i="1" dirty="0" err="1" smtClean="0">
                              <a:latin typeface="Cambria Math" panose="02040503050406030204" charset="0"/>
                              <a:cs typeface="Cambria Math" panose="02040503050406030204" charset="0"/>
                            </a:rPr>
                          </m:ctrlPr>
                        </m:fPr>
                        <m:num>
                          <m:r>
                            <a:rPr lang="en-US" altLang="zh-CN" sz="2000" i="1" dirty="0" err="1" smtClean="0">
                              <a:latin typeface="Cambria Math" panose="02040503050406030204" charset="0"/>
                              <a:cs typeface="Cambria Math" panose="02040503050406030204" charset="0"/>
                            </a:rPr>
                            <m:t>2</m:t>
                          </m:r>
                          <m:r>
                            <a:rPr lang="en-US" altLang="zh-CN" sz="2000" i="1" dirty="0" err="1" smtClean="0">
                              <a:latin typeface="Cambria Math" panose="02040503050406030204" charset="0"/>
                              <a:cs typeface="Cambria Math" panose="02040503050406030204" charset="0"/>
                            </a:rPr>
                            <m:t>𝑛𝑡</m:t>
                          </m:r>
                        </m:num>
                        <m:den>
                          <m:r>
                            <a:rPr lang="en-US" altLang="zh-CN" sz="2000" i="1" dirty="0" err="1" smtClean="0">
                              <a:latin typeface="Cambria Math" panose="02040503050406030204" charset="0"/>
                              <a:cs typeface="Cambria Math" panose="02040503050406030204" charset="0"/>
                            </a:rPr>
                            <m:t>𝑚</m:t>
                          </m:r>
                        </m:den>
                      </m:f>
                      <m:r>
                        <a:rPr lang="en-US" altLang="zh-CN" sz="2000" i="1" dirty="0" err="1" smtClean="0">
                          <a:latin typeface="Cambria Math" panose="02040503050406030204" charset="0"/>
                          <a:cs typeface="Cambria Math" panose="02040503050406030204" charset="0"/>
                        </a:rPr>
                        <m:t>=</m:t>
                      </m:r>
                      <m:f>
                        <m:fPr>
                          <m:ctrlPr>
                            <a:rPr lang="en-US" altLang="zh-CN" sz="2000" i="1" dirty="0" err="1" smtClean="0">
                              <a:latin typeface="Cambria Math" panose="02040503050406030204" charset="0"/>
                              <a:cs typeface="Cambria Math" panose="02040503050406030204" charset="0"/>
                            </a:rPr>
                          </m:ctrlPr>
                        </m:fPr>
                        <m:num>
                          <m:r>
                            <a:rPr lang="en-US" altLang="zh-CN" sz="2000" i="1" dirty="0" err="1" smtClean="0">
                              <a:latin typeface="Cambria Math" panose="02040503050406030204" charset="0"/>
                              <a:cs typeface="Cambria Math" panose="02040503050406030204" charset="0"/>
                            </a:rPr>
                            <m:t>2</m:t>
                          </m:r>
                          <m:r>
                            <a:rPr lang="en-US" altLang="zh-CN" sz="2000" i="1" dirty="0" err="1" smtClean="0">
                              <a:latin typeface="Cambria Math" panose="02040503050406030204" charset="0"/>
                              <a:cs typeface="Cambria Math" panose="02040503050406030204" charset="0"/>
                            </a:rPr>
                            <m:t>(</m:t>
                          </m:r>
                          <m:r>
                            <a:rPr lang="en-US" altLang="zh-CN" sz="2000" i="1" dirty="0" err="1" smtClean="0">
                              <a:latin typeface="Cambria Math" panose="02040503050406030204" charset="0"/>
                              <a:cs typeface="Cambria Math" panose="02040503050406030204" charset="0"/>
                            </a:rPr>
                            <m:t>1</m:t>
                          </m:r>
                          <m:r>
                            <a:rPr lang="en-US" altLang="zh-CN" sz="2000" i="1" dirty="0" err="1" smtClean="0">
                              <a:latin typeface="Cambria Math" panose="02040503050406030204" charset="0"/>
                              <a:cs typeface="Cambria Math" panose="02040503050406030204" charset="0"/>
                            </a:rPr>
                            <m:t>.</m:t>
                          </m:r>
                          <m:r>
                            <a:rPr lang="en-US" altLang="zh-CN" sz="2000" i="1" dirty="0" err="1" smtClean="0">
                              <a:latin typeface="Cambria Math" panose="02040503050406030204" charset="0"/>
                              <a:cs typeface="Cambria Math" panose="02040503050406030204" charset="0"/>
                            </a:rPr>
                            <m:t>33</m:t>
                          </m:r>
                          <m:r>
                            <a:rPr lang="en-US" altLang="zh-CN" sz="2000" i="1" dirty="0" err="1" smtClean="0">
                              <a:latin typeface="Cambria Math" panose="02040503050406030204" charset="0"/>
                              <a:cs typeface="Cambria Math" panose="02040503050406030204" charset="0"/>
                            </a:rPr>
                            <m:t>)(</m:t>
                          </m:r>
                          <m:r>
                            <a:rPr lang="en-US" altLang="zh-CN" sz="2000" i="1" dirty="0" err="1" smtClean="0">
                              <a:latin typeface="Cambria Math" panose="02040503050406030204" charset="0"/>
                              <a:cs typeface="Cambria Math" panose="02040503050406030204" charset="0"/>
                            </a:rPr>
                            <m:t>1</m:t>
                          </m:r>
                          <m:r>
                            <a:rPr lang="en-US" altLang="zh-CN" sz="2000" i="1" dirty="0" err="1" smtClean="0">
                              <a:latin typeface="Cambria Math" panose="02040503050406030204" charset="0"/>
                              <a:cs typeface="Cambria Math" panose="02040503050406030204" charset="0"/>
                            </a:rPr>
                            <m:t>.</m:t>
                          </m:r>
                          <m:r>
                            <a:rPr lang="en-US" altLang="zh-CN" sz="2000" i="1" dirty="0" err="1" smtClean="0">
                              <a:latin typeface="Cambria Math" panose="02040503050406030204" charset="0"/>
                              <a:cs typeface="Cambria Math" panose="02040503050406030204" charset="0"/>
                            </a:rPr>
                            <m:t>00</m:t>
                          </m:r>
                          <m:r>
                            <a:rPr lang="en-US" altLang="zh-CN" sz="2000" i="1" dirty="0" err="1" smtClean="0">
                              <a:latin typeface="Cambria Math" panose="02040503050406030204" charset="0"/>
                              <a:cs typeface="Cambria Math" panose="02040503050406030204" charset="0"/>
                            </a:rPr>
                            <m:t>×</m:t>
                          </m:r>
                          <m:sSup>
                            <m:sSupPr>
                              <m:ctrlPr>
                                <a:rPr lang="en-US" altLang="zh-CN" sz="2000" i="1" dirty="0" err="1" smtClean="0">
                                  <a:latin typeface="Cambria Math" panose="02040503050406030204" charset="0"/>
                                  <a:cs typeface="Cambria Math" panose="02040503050406030204" charset="0"/>
                                </a:rPr>
                              </m:ctrlPr>
                            </m:sSupPr>
                            <m:e>
                              <m:r>
                                <a:rPr lang="en-US" altLang="zh-CN" sz="2000" i="1" dirty="0" err="1" smtClean="0">
                                  <a:latin typeface="Cambria Math" panose="02040503050406030204" charset="0"/>
                                  <a:cs typeface="Cambria Math" panose="02040503050406030204" charset="0"/>
                                </a:rPr>
                                <m:t>10</m:t>
                              </m:r>
                            </m:e>
                            <m:sup>
                              <m:r>
                                <a:rPr lang="en-US" altLang="zh-CN" sz="2000" i="1" dirty="0" err="1" smtClean="0">
                                  <a:latin typeface="Cambria Math" panose="02040503050406030204" charset="0"/>
                                  <a:cs typeface="Cambria Math" panose="02040503050406030204" charset="0"/>
                                </a:rPr>
                                <m:t>−</m:t>
                              </m:r>
                              <m:r>
                                <a:rPr lang="en-US" altLang="zh-CN" sz="2000" i="1" dirty="0" err="1" smtClean="0">
                                  <a:latin typeface="Cambria Math" panose="02040503050406030204" charset="0"/>
                                  <a:cs typeface="Cambria Math" panose="02040503050406030204" charset="0"/>
                                </a:rPr>
                                <m:t>2</m:t>
                              </m:r>
                            </m:sup>
                          </m:sSup>
                          <m:r>
                            <a:rPr lang="en-US" altLang="zh-CN" sz="2000" i="1" dirty="0" err="1" smtClean="0">
                              <a:latin typeface="Cambria Math" panose="02040503050406030204" charset="0"/>
                              <a:cs typeface="Cambria Math" panose="02040503050406030204" charset="0"/>
                            </a:rPr>
                            <m:t>𝑚</m:t>
                          </m:r>
                          <m:r>
                            <a:rPr lang="en-US" altLang="zh-CN" sz="2000" i="1" dirty="0" err="1" smtClean="0">
                              <a:latin typeface="Cambria Math" panose="02040503050406030204" charset="0"/>
                              <a:cs typeface="Cambria Math" panose="02040503050406030204" charset="0"/>
                            </a:rPr>
                            <m:t>)</m:t>
                          </m:r>
                        </m:num>
                        <m:den>
                          <m:r>
                            <a:rPr lang="en-US" altLang="zh-CN" sz="2000" i="1" dirty="0" err="1" smtClean="0">
                              <a:latin typeface="Cambria Math" panose="02040503050406030204" charset="0"/>
                              <a:cs typeface="Cambria Math" panose="02040503050406030204" charset="0"/>
                            </a:rPr>
                            <m:t>40000</m:t>
                          </m:r>
                        </m:den>
                      </m:f>
                      <m:r>
                        <a:rPr lang="en-US" altLang="zh-CN" sz="2000" i="1" dirty="0" err="1" smtClean="0">
                          <a:latin typeface="Cambria Math" panose="02040503050406030204" charset="0"/>
                          <a:cs typeface="Cambria Math" panose="02040503050406030204" charset="0"/>
                        </a:rPr>
                        <m:t>=</m:t>
                      </m:r>
                      <m:r>
                        <a:rPr lang="en-US" altLang="zh-CN" sz="2000" i="1" dirty="0" err="1" smtClean="0">
                          <a:latin typeface="Cambria Math" panose="02040503050406030204" charset="0"/>
                          <a:cs typeface="Cambria Math" panose="02040503050406030204" charset="0"/>
                        </a:rPr>
                        <m:t>6</m:t>
                      </m:r>
                      <m:r>
                        <a:rPr lang="en-US" altLang="zh-CN" sz="2000" i="1" dirty="0" err="1" smtClean="0">
                          <a:latin typeface="Cambria Math" panose="02040503050406030204" charset="0"/>
                          <a:cs typeface="Cambria Math" panose="02040503050406030204" charset="0"/>
                        </a:rPr>
                        <m:t>.</m:t>
                      </m:r>
                      <m:r>
                        <a:rPr lang="en-US" altLang="zh-CN" sz="2000" i="1" dirty="0" err="1" smtClean="0">
                          <a:latin typeface="Cambria Math" panose="02040503050406030204" charset="0"/>
                          <a:cs typeface="Cambria Math" panose="02040503050406030204" charset="0"/>
                        </a:rPr>
                        <m:t>67</m:t>
                      </m:r>
                      <m:r>
                        <a:rPr lang="en-US" altLang="zh-CN" sz="2000" i="1" dirty="0" err="1" smtClean="0">
                          <a:latin typeface="Cambria Math" panose="02040503050406030204" charset="0"/>
                          <a:cs typeface="Cambria Math" panose="02040503050406030204" charset="0"/>
                        </a:rPr>
                        <m:t>×</m:t>
                      </m:r>
                      <m:sSup>
                        <m:sSupPr>
                          <m:ctrlPr>
                            <a:rPr lang="en-US" altLang="zh-CN" sz="2000" i="1" dirty="0" err="1" smtClean="0">
                              <a:latin typeface="Cambria Math" panose="02040503050406030204" charset="0"/>
                              <a:cs typeface="Cambria Math" panose="02040503050406030204" charset="0"/>
                            </a:rPr>
                          </m:ctrlPr>
                        </m:sSupPr>
                        <m:e>
                          <m:r>
                            <a:rPr lang="en-US" altLang="zh-CN" sz="2000" i="1" dirty="0" err="1" smtClean="0">
                              <a:latin typeface="Cambria Math" panose="02040503050406030204" charset="0"/>
                              <a:cs typeface="Cambria Math" panose="02040503050406030204" charset="0"/>
                            </a:rPr>
                            <m:t>10</m:t>
                          </m:r>
                        </m:e>
                        <m:sup>
                          <m:r>
                            <a:rPr lang="en-US" altLang="zh-CN" sz="2000" i="1" dirty="0" err="1" smtClean="0">
                              <a:latin typeface="Cambria Math" panose="02040503050406030204" charset="0"/>
                              <a:cs typeface="Cambria Math" panose="02040503050406030204" charset="0"/>
                            </a:rPr>
                            <m:t>−</m:t>
                          </m:r>
                          <m:r>
                            <a:rPr lang="en-US" altLang="zh-CN" sz="2000" i="1" dirty="0" err="1" smtClean="0">
                              <a:latin typeface="Cambria Math" panose="02040503050406030204" charset="0"/>
                              <a:cs typeface="Cambria Math" panose="02040503050406030204" charset="0"/>
                            </a:rPr>
                            <m:t>7</m:t>
                          </m:r>
                        </m:sup>
                      </m:sSup>
                      <m:r>
                        <a:rPr lang="en-US" altLang="zh-CN" sz="2000" i="1" dirty="0" err="1" smtClean="0">
                          <a:latin typeface="Cambria Math" panose="02040503050406030204" charset="0"/>
                          <a:cs typeface="Cambria Math" panose="02040503050406030204" charset="0"/>
                        </a:rPr>
                        <m:t>𝑚</m:t>
                      </m:r>
                      <m:r>
                        <a:rPr lang="en-US" altLang="zh-CN" sz="2000" i="1" dirty="0" err="1" smtClean="0">
                          <a:latin typeface="Cambria Math" panose="02040503050406030204" charset="0"/>
                          <a:cs typeface="Cambria Math" panose="02040503050406030204" charset="0"/>
                        </a:rPr>
                        <m:t>=</m:t>
                      </m:r>
                      <m:r>
                        <a:rPr lang="en-US" altLang="zh-CN" sz="2000" i="1" dirty="0" err="1" smtClean="0">
                          <a:latin typeface="Cambria Math" panose="02040503050406030204" charset="0"/>
                          <a:cs typeface="Cambria Math" panose="02040503050406030204" charset="0"/>
                        </a:rPr>
                        <m:t>667</m:t>
                      </m:r>
                      <m:r>
                        <a:rPr lang="en-US" altLang="zh-CN" sz="2000" i="1" dirty="0" err="1" smtClean="0">
                          <a:latin typeface="Cambria Math" panose="02040503050406030204" charset="0"/>
                          <a:cs typeface="Cambria Math" panose="02040503050406030204" charset="0"/>
                        </a:rPr>
                        <m:t>𝑛𝑚</m:t>
                      </m:r>
                    </m:oMath>
                  </m:oMathPara>
                </a14:m>
                <a:endParaRPr lang="en-US" altLang="zh-CN" sz="2000" i="1" dirty="0" err="1" smtClean="0">
                  <a:latin typeface="Cambria Math" panose="02040503050406030204" charset="0"/>
                  <a:cs typeface="Cambria Math" panose="02040503050406030204" charset="0"/>
                </a:endParaRPr>
              </a:p>
              <a:p>
                <a:pPr algn="l"/>
                <a:endParaRPr lang="en-US" altLang="zh-CN" sz="2000" dirty="0" err="1" smtClean="0"/>
              </a:p>
            </p:txBody>
          </p:sp>
        </mc:Choice>
        <mc:Fallback>
          <p:sp>
            <p:nvSpPr>
              <p:cNvPr id="8" name="文本框 7"/>
              <p:cNvSpPr txBox="1">
                <a:spLocks noRot="1" noChangeAspect="1" noMove="1" noResize="1" noEditPoints="1" noAdjustHandles="1" noChangeArrowheads="1" noChangeShapeType="1" noTextEdit="1"/>
              </p:cNvSpPr>
              <p:nvPr/>
            </p:nvSpPr>
            <p:spPr>
              <a:xfrm>
                <a:off x="2539936" y="607631"/>
                <a:ext cx="7607300" cy="1010920"/>
              </a:xfrm>
              <a:prstGeom prst="rect">
                <a:avLst/>
              </a:prstGeom>
              <a:blipFill rotWithShape="1">
                <a:blip r:embed="rId1"/>
                <a:stretch>
                  <a:fillRect l="-8" t="-56" r="8" b="56"/>
                </a:stretch>
              </a:blipFill>
            </p:spPr>
            <p:txBody>
              <a:bodyPr/>
              <a:lstStyle/>
              <a:p>
                <a:r>
                  <a:rPr lang="zh-CN" altLang="en-US">
                    <a:noFill/>
                  </a:rPr>
                  <a:t> </a:t>
                </a:r>
              </a:p>
            </p:txBody>
          </p:sp>
        </mc:Fallback>
      </mc:AlternateContent>
      <p:sp>
        <p:nvSpPr>
          <p:cNvPr id="9" name="文本框 8"/>
          <p:cNvSpPr txBox="1"/>
          <p:nvPr/>
        </p:nvSpPr>
        <p:spPr>
          <a:xfrm>
            <a:off x="701040" y="1512253"/>
            <a:ext cx="10439400" cy="4154170"/>
          </a:xfrm>
          <a:prstGeom prst="rect">
            <a:avLst/>
          </a:prstGeom>
          <a:noFill/>
        </p:spPr>
        <p:txBody>
          <a:bodyPr wrap="square" rtlCol="0">
            <a:spAutoFit/>
          </a:bodyPr>
          <a:lstStyle>
            <a:defPPr>
              <a:defRPr lang="zh-CN"/>
            </a:defPPr>
            <a:lvl1pPr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Agency FB" panose="020B0503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gency FB" panose="020B0503020202020204" pitchFamily="34" charset="0"/>
                <a:ea typeface="微软雅黑" panose="020B0503020204020204" pitchFamily="34" charset="-122"/>
                <a:cs typeface="+mn-cs"/>
              </a:defRPr>
            </a:lvl9pPr>
          </a:lstStyle>
          <a:p>
            <a:r>
              <a:rPr lang="en-US" altLang="zh-CN" sz="2400" dirty="0" err="1" smtClean="0">
                <a:solidFill>
                  <a:schemeClr val="tx1"/>
                </a:solidFill>
                <a:latin typeface="Arial" panose="020B0604020202020204" pitchFamily="34" charset="0"/>
                <a:cs typeface="Arial" panose="020B0604020202020204" pitchFamily="34" charset="0"/>
              </a:rPr>
              <a:t>corresponding to orange-red light. You might be tempted to conclude that this thick film would appear strongly orange-red ; However,there will also be</a:t>
            </a:r>
            <a:endParaRPr lang="en-US" altLang="zh-CN" sz="2400" dirty="0" err="1" smtClean="0">
              <a:solidFill>
                <a:schemeClr val="tx1"/>
              </a:solidFill>
              <a:latin typeface="Arial" panose="020B0604020202020204" pitchFamily="34" charset="0"/>
              <a:cs typeface="Arial" panose="020B0604020202020204" pitchFamily="34" charset="0"/>
            </a:endParaRPr>
          </a:p>
          <a:p>
            <a:r>
              <a:rPr lang="en-US" altLang="zh-CN" sz="2400" dirty="0" err="1" smtClean="0">
                <a:solidFill>
                  <a:schemeClr val="tx1"/>
                </a:solidFill>
                <a:latin typeface="Arial" panose="020B0604020202020204" pitchFamily="34" charset="0"/>
                <a:cs typeface="Arial" panose="020B0604020202020204" pitchFamily="34" charset="0"/>
              </a:rPr>
              <a:t>strong reflection of a slightly longer wavelength corresponding to m=39999 and of a slightly shorter wavelength corresponding to m=40001. These wavelengths differ from each other by only one part in 40000, or (667nm)/(40000)=0.017 nm. This is a much smaller wavelength appears to be emphasized more than any other in the light that is reflected from a thick film. If you shine white light on this thick film, the reflected light appears white</a:t>
            </a:r>
            <a:endParaRPr lang="en-US" altLang="zh-CN" sz="2400" dirty="0" err="1" smtClean="0">
              <a:solidFill>
                <a:schemeClr val="tx1"/>
              </a:solidFill>
              <a:latin typeface="Arial" panose="020B0604020202020204" pitchFamily="34" charset="0"/>
              <a:cs typeface="Arial" panose="020B0604020202020204" pitchFamily="34" charset="0"/>
            </a:endParaRPr>
          </a:p>
          <a:p>
            <a:r>
              <a:rPr lang="en-US" altLang="zh-CN" sz="2400" dirty="0" err="1" smtClean="0">
                <a:solidFill>
                  <a:schemeClr val="accent5"/>
                </a:solidFill>
                <a:latin typeface="Arial" panose="020B0604020202020204" pitchFamily="34" charset="0"/>
                <a:cs typeface="Arial" panose="020B0604020202020204" pitchFamily="34" charset="0"/>
              </a:rPr>
              <a:t>EVALUATE</a:t>
            </a:r>
            <a:r>
              <a:rPr lang="en-US" altLang="zh-CN" sz="2400" dirty="0" err="1" smtClean="0">
                <a:solidFill>
                  <a:srgbClr val="000000"/>
                </a:solidFill>
                <a:latin typeface="Arial" panose="020B0604020202020204" pitchFamily="34" charset="0"/>
                <a:cs typeface="Arial" panose="020B0604020202020204" pitchFamily="34" charset="0"/>
              </a:rPr>
              <a:t>: It’s useful to compare this situation to a thin film that is no more than a few wavelengths in thickness.</a:t>
            </a:r>
            <a:endParaRPr lang="en-US" altLang="zh-CN" sz="2400" dirty="0" err="1" smtClean="0">
              <a:solidFill>
                <a:srgbClr val="000000"/>
              </a:solidFill>
              <a:latin typeface="Arial" panose="020B0604020202020204" pitchFamily="34" charset="0"/>
              <a:cs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7" name="图片 6"/>
          <p:cNvPicPr>
            <a:picLocks noChangeAspect="1"/>
          </p:cNvPicPr>
          <p:nvPr/>
        </p:nvPicPr>
        <p:blipFill>
          <a:blip r:embed="rId1"/>
          <a:stretch>
            <a:fillRect/>
          </a:stretch>
        </p:blipFill>
        <p:spPr>
          <a:xfrm>
            <a:off x="866140" y="532765"/>
            <a:ext cx="10321290" cy="3666490"/>
          </a:xfrm>
          <a:prstGeom prst="rect">
            <a:avLst/>
          </a:prstGeom>
        </p:spPr>
      </p:pic>
      <p:sp>
        <p:nvSpPr>
          <p:cNvPr id="8" name="Content Placeholder 2"/>
          <p:cNvSpPr>
            <a:spLocks noGrp="1"/>
          </p:cNvSpPr>
          <p:nvPr>
            <p:ph idx="1"/>
          </p:nvPr>
        </p:nvSpPr>
        <p:spPr>
          <a:xfrm>
            <a:off x="563245" y="4373245"/>
            <a:ext cx="10805795" cy="838200"/>
          </a:xfrm>
        </p:spPr>
        <p:txBody>
          <a:bodyPr/>
          <a:p>
            <a:pPr marL="255905" indent="-255905">
              <a:buSzPct val="100000"/>
            </a:pPr>
            <a:r>
              <a:rPr lang="en-US" altLang="en-US" sz="2600" dirty="0"/>
              <a:t>Figure 16a shows the convex surface of a lens in contact with a plane glass plate.</a:t>
            </a:r>
            <a:endParaRPr lang="en-US" altLang="en-US" sz="2600" dirty="0"/>
          </a:p>
          <a:p>
            <a:pPr marL="255905" indent="-255905">
              <a:buSzPct val="100000"/>
            </a:pPr>
            <a:r>
              <a:rPr lang="en-US" altLang="en-US" sz="2600" dirty="0"/>
              <a:t>A thin film of air is formed between the two surfaces. When you view the setup with monochromatic light, you see circular interference fringes.</a:t>
            </a:r>
            <a:endParaRPr lang="en-US" alt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Newton’s Rings</a:t>
            </a:r>
            <a:endParaRPr lang="en-US" altLang="en-US" dirty="0"/>
          </a:p>
        </p:txBody>
      </p:sp>
      <p:sp>
        <p:nvSpPr>
          <p:cNvPr id="3" name="Content Placeholder 2"/>
          <p:cNvSpPr>
            <a:spLocks noGrp="1"/>
          </p:cNvSpPr>
          <p:nvPr>
            <p:ph idx="1"/>
          </p:nvPr>
        </p:nvSpPr>
        <p:spPr>
          <a:xfrm>
            <a:off x="5314950" y="2084705"/>
            <a:ext cx="6116320" cy="838200"/>
          </a:xfrm>
        </p:spPr>
        <p:txBody>
          <a:bodyPr/>
          <a:lstStyle/>
          <a:p>
            <a:pPr marL="255905" indent="-255905">
              <a:buSzPct val="100000"/>
            </a:pPr>
            <a:r>
              <a:rPr lang="en-US" altLang="en-US" sz="2600" dirty="0"/>
              <a:t>The lower, larger-diameter, thicker disk is the correctly shaped master, and the smaller, upper disk is the lens under test. The “contour lines” are Newton’s interference fringes; each one indicates an additional distance between the specimen and the master of one half-wavelength. </a:t>
            </a:r>
            <a:endParaRPr lang="en-US" altLang="en-US" sz="2600" dirty="0"/>
          </a:p>
        </p:txBody>
      </p:sp>
      <p:pic>
        <p:nvPicPr>
          <p:cNvPr id="5" name="图片 4"/>
          <p:cNvPicPr>
            <a:picLocks noChangeAspect="1"/>
          </p:cNvPicPr>
          <p:nvPr/>
        </p:nvPicPr>
        <p:blipFill>
          <a:blip r:embed="rId1"/>
          <a:stretch>
            <a:fillRect/>
          </a:stretch>
        </p:blipFill>
        <p:spPr>
          <a:xfrm>
            <a:off x="983615" y="1312545"/>
            <a:ext cx="3711575" cy="530479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Nonreflective and Reflective Coatings</a:t>
            </a:r>
            <a:endParaRPr lang="en-US" altLang="en-US" dirty="0"/>
          </a:p>
        </p:txBody>
      </p:sp>
      <p:sp>
        <p:nvSpPr>
          <p:cNvPr id="3" name="Content Placeholder 2"/>
          <p:cNvSpPr>
            <a:spLocks noGrp="1"/>
          </p:cNvSpPr>
          <p:nvPr>
            <p:ph idx="1"/>
          </p:nvPr>
        </p:nvSpPr>
        <p:spPr>
          <a:xfrm>
            <a:off x="5328920" y="1931035"/>
            <a:ext cx="6089650" cy="838200"/>
          </a:xfrm>
        </p:spPr>
        <p:txBody>
          <a:bodyPr/>
          <a:lstStyle/>
          <a:p>
            <a:pPr marL="255905" indent="-255905">
              <a:buSzPct val="100000"/>
            </a:pPr>
            <a:r>
              <a:rPr lang="en-US" altLang="en-US" sz="2600" dirty="0"/>
              <a:t>Nonreflective coatings for lens surfaces make use of thin-film interference. A thin layer or film of hard transparent material with an index of refraction smaller than that of the glass is deposited on the lens surface, </a:t>
            </a:r>
            <a:endParaRPr lang="en-US" altLang="en-US" sz="2600" dirty="0"/>
          </a:p>
        </p:txBody>
      </p:sp>
      <p:pic>
        <p:nvPicPr>
          <p:cNvPr id="4" name="图片 3"/>
          <p:cNvPicPr>
            <a:picLocks noChangeAspect="1"/>
          </p:cNvPicPr>
          <p:nvPr/>
        </p:nvPicPr>
        <p:blipFill>
          <a:blip r:embed="rId1"/>
          <a:stretch>
            <a:fillRect/>
          </a:stretch>
        </p:blipFill>
        <p:spPr>
          <a:xfrm>
            <a:off x="1117600" y="1604010"/>
            <a:ext cx="3568700" cy="4371975"/>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文本框 3"/>
          <p:cNvSpPr txBox="1"/>
          <p:nvPr/>
        </p:nvSpPr>
        <p:spPr>
          <a:xfrm>
            <a:off x="7155180" y="913765"/>
            <a:ext cx="309880" cy="398780"/>
          </a:xfrm>
          <a:prstGeom prst="rect">
            <a:avLst/>
          </a:prstGeom>
          <a:noFill/>
        </p:spPr>
        <p:txBody>
          <a:bodyPr wrap="none" rtlCol="0">
            <a:spAutoFit/>
          </a:bodyPr>
          <a:lstStyle/>
          <a:p>
            <a:endParaRPr lang="zh-CN" altLang="en-US" sz="2000" dirty="0" err="1" smtClean="0"/>
          </a:p>
        </p:txBody>
      </p:sp>
      <p:sp>
        <p:nvSpPr>
          <p:cNvPr id="14" name="Title 1"/>
          <p:cNvSpPr>
            <a:spLocks noGrp="1"/>
          </p:cNvSpPr>
          <p:nvPr/>
        </p:nvSpPr>
        <p:spPr>
          <a:xfrm>
            <a:off x="823595" y="3321157"/>
            <a:ext cx="10972800" cy="1097280"/>
          </a:xfrm>
          <a:prstGeom prst="rect">
            <a:avLst/>
          </a:prstGeom>
        </p:spPr>
        <p:txBody>
          <a:bodyPr vert="horz" lIns="0" tIns="0" rIns="0" bIns="0" rtlCol="0" anchor="b">
            <a:noAutofit/>
          </a:bodyPr>
          <a:lstStyle>
            <a:lvl1pPr algn="l" defTabSz="914400" rtl="0" eaLnBrk="1" latinLnBrk="0" hangingPunct="1">
              <a:lnSpc>
                <a:spcPct val="100000"/>
              </a:lnSpc>
              <a:spcBef>
                <a:spcPct val="0"/>
              </a:spcBef>
              <a:buNone/>
              <a:defRPr sz="3400" b="1" kern="1200">
                <a:solidFill>
                  <a:srgbClr val="007FA3"/>
                </a:solidFill>
                <a:latin typeface="+mj-lt"/>
                <a:ea typeface="+mj-ea"/>
                <a:cs typeface="Times New Roman" panose="02020603050405020304" pitchFamily="18" charset="0"/>
              </a:defRPr>
            </a:lvl1pPr>
          </a:lstStyle>
          <a:p>
            <a:endParaRPr lang="en-US" altLang="en-US" sz="3600" dirty="0"/>
          </a:p>
        </p:txBody>
      </p:sp>
      <p:sp>
        <p:nvSpPr>
          <p:cNvPr id="9" name="Title 1"/>
          <p:cNvSpPr>
            <a:spLocks noGrp="1"/>
          </p:cNvSpPr>
          <p:nvPr>
            <p:ph type="title"/>
          </p:nvPr>
        </p:nvSpPr>
        <p:spPr>
          <a:xfrm>
            <a:off x="615950" y="215372"/>
            <a:ext cx="10972800" cy="1097280"/>
          </a:xfrm>
        </p:spPr>
        <p:txBody>
          <a:bodyPr/>
          <a:lstStyle/>
          <a:p>
            <a:r>
              <a:rPr lang="en-US" altLang="en-US" sz="3600" dirty="0"/>
              <a:t>Example 25.8        A nonreflective coating</a:t>
            </a:r>
            <a:endParaRPr lang="en-US" altLang="en-US" sz="3600" dirty="0"/>
          </a:p>
        </p:txBody>
      </p:sp>
      <p:pic>
        <p:nvPicPr>
          <p:cNvPr id="2" name="图片 1"/>
          <p:cNvPicPr>
            <a:picLocks noChangeAspect="1"/>
          </p:cNvPicPr>
          <p:nvPr/>
        </p:nvPicPr>
        <p:blipFill>
          <a:blip r:embed="rId1"/>
          <a:stretch>
            <a:fillRect/>
          </a:stretch>
        </p:blipFill>
        <p:spPr>
          <a:xfrm>
            <a:off x="498475" y="2051685"/>
            <a:ext cx="11537315" cy="325818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85875" y="215265"/>
            <a:ext cx="8696325" cy="1097280"/>
          </a:xfrm>
        </p:spPr>
        <p:txBody>
          <a:bodyPr/>
          <a:lstStyle/>
          <a:p>
            <a:r>
              <a:rPr lang="en-US" altLang="en-US" sz="3600" dirty="0"/>
              <a:t>25.5 The Michelson Interferometer</a:t>
            </a:r>
            <a:endParaRPr lang="en-US" altLang="en-US" sz="3600" dirty="0"/>
          </a:p>
        </p:txBody>
      </p:sp>
      <p:pic>
        <p:nvPicPr>
          <p:cNvPr id="3" name="图片 2"/>
          <p:cNvPicPr>
            <a:picLocks noChangeAspect="1"/>
          </p:cNvPicPr>
          <p:nvPr/>
        </p:nvPicPr>
        <p:blipFill>
          <a:blip r:embed="rId1"/>
          <a:stretch>
            <a:fillRect/>
          </a:stretch>
        </p:blipFill>
        <p:spPr>
          <a:xfrm>
            <a:off x="1154430" y="1569720"/>
            <a:ext cx="9433560" cy="3634740"/>
          </a:xfrm>
          <a:prstGeom prst="rect">
            <a:avLst/>
          </a:prstGeom>
        </p:spPr>
      </p:pic>
      <p:pic>
        <p:nvPicPr>
          <p:cNvPr id="5" name="图片 4"/>
          <p:cNvPicPr>
            <a:picLocks noChangeAspect="1"/>
          </p:cNvPicPr>
          <p:nvPr/>
        </p:nvPicPr>
        <p:blipFill>
          <a:blip r:embed="rId2"/>
          <a:stretch>
            <a:fillRect/>
          </a:stretch>
        </p:blipFill>
        <p:spPr>
          <a:xfrm>
            <a:off x="1154430" y="4015740"/>
            <a:ext cx="2430780" cy="541020"/>
          </a:xfrm>
          <a:prstGeom prst="rect">
            <a:avLst/>
          </a:prstGeom>
        </p:spPr>
      </p:pic>
    </p:spTree>
  </p:cSld>
  <p:clrMapOvr>
    <a:masterClrMapping/>
  </p:clrMapOvr>
</p:sld>
</file>

<file path=ppt/tags/tag1.xml><?xml version="1.0" encoding="utf-8"?>
<p:tagLst xmlns:p="http://schemas.openxmlformats.org/presentationml/2006/main">
  <p:tag name="ISPRING_PRESENTATION_TITLE" val="PowerPoint 演示文稿"/>
</p:tagLst>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797979"/>
      </a:dk2>
      <a:lt2>
        <a:srgbClr val="43B4E3"/>
      </a:lt2>
      <a:accent1>
        <a:srgbClr val="0070C0"/>
      </a:accent1>
      <a:accent2>
        <a:srgbClr val="CECECE"/>
      </a:accent2>
      <a:accent3>
        <a:srgbClr val="329FD1"/>
      </a:accent3>
      <a:accent4>
        <a:srgbClr val="CECECE"/>
      </a:accent4>
      <a:accent5>
        <a:srgbClr val="0070C0"/>
      </a:accent5>
      <a:accent6>
        <a:srgbClr val="CECECE"/>
      </a:accent6>
      <a:hlink>
        <a:srgbClr val="169EBE"/>
      </a:hlink>
      <a:folHlink>
        <a:srgbClr val="0070C0"/>
      </a:folHlink>
    </a:clrScheme>
    <a:fontScheme name="自定义 2">
      <a:majorFont>
        <a:latin typeface="Agency FB"/>
        <a:ea typeface="微软雅黑"/>
        <a:cs typeface=""/>
      </a:majorFont>
      <a:minorFont>
        <a:latin typeface="Agency FB"/>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6525</Words>
  <Application>WPS 演示</Application>
  <PresentationFormat>宽屏</PresentationFormat>
  <Paragraphs>138</Paragraphs>
  <Slides>34</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34</vt:i4>
      </vt:variant>
    </vt:vector>
  </HeadingPairs>
  <TitlesOfParts>
    <vt:vector size="47" baseType="lpstr">
      <vt:lpstr>Arial</vt:lpstr>
      <vt:lpstr>宋体</vt:lpstr>
      <vt:lpstr>Wingdings</vt:lpstr>
      <vt:lpstr>Agency FB</vt:lpstr>
      <vt:lpstr>微软雅黑</vt:lpstr>
      <vt:lpstr>Verdana</vt:lpstr>
      <vt:lpstr>Times New Roman</vt:lpstr>
      <vt:lpstr>Arial Unicode MS</vt:lpstr>
      <vt:lpstr>Calibri</vt:lpstr>
      <vt:lpstr>黑体</vt:lpstr>
      <vt:lpstr>Cambria Math</vt:lpstr>
      <vt:lpstr>Office 主题</vt:lpstr>
      <vt:lpstr>508 Lecture</vt:lpstr>
      <vt:lpstr>Chapter 3  DYNAMICS</vt:lpstr>
      <vt:lpstr>PowerPoint 演示文稿</vt:lpstr>
      <vt:lpstr>PowerPoint 演示文稿</vt:lpstr>
      <vt:lpstr>3.1 Particle Dynamics</vt:lpstr>
      <vt:lpstr>3.2 Newton's Laws   Newton's First Law</vt:lpstr>
      <vt:lpstr>Problem-Solving Strategy for Equilibrium Situations </vt:lpstr>
      <vt:lpstr>Problem-Solving Strategy for Equilibrium Situations </vt:lpstr>
      <vt:lpstr>PowerPoint 演示文稿</vt:lpstr>
      <vt:lpstr>Newton's Second Law: </vt:lpstr>
      <vt:lpstr>A Note on Free-Body Diagrams (1 of 3)</vt:lpstr>
      <vt:lpstr>A Note on Free-Body Diagrams (2 of 3)</vt:lpstr>
      <vt:lpstr>Example 3.2</vt:lpstr>
      <vt:lpstr>Example 25.1</vt:lpstr>
      <vt:lpstr>A Note on Free-Body Diagrams (3 of 3)</vt:lpstr>
      <vt:lpstr>Problem-Solving Strategy for Dynamics Situations </vt:lpstr>
      <vt:lpstr>Problem-Solving Strategy for Dynamics Situations </vt:lpstr>
      <vt:lpstr>3.3 Understanding Forces Apparent Weight and Apparent Weightlessness </vt:lpstr>
      <vt:lpstr>Frictional Forces (1 of 3)</vt:lpstr>
      <vt:lpstr>Example 3.1</vt:lpstr>
      <vt:lpstr>Frictional Forces (2 of 3)</vt:lpstr>
      <vt:lpstr>Frictional Forces (3 of 3)</vt:lpstr>
      <vt:lpstr>Kinetic and Static Friction</vt:lpstr>
      <vt:lpstr>Static Friction Followed by Kinetic Friction (1 of 5)</vt:lpstr>
      <vt:lpstr>Static Friction Followed by Kinetic Friction (2 of 5)</vt:lpstr>
      <vt:lpstr>Example 3.1</vt:lpstr>
      <vt:lpstr>Example 25.4         Thin-film interference I </vt:lpstr>
      <vt:lpstr>Example 25.5         Thin-film interference II</vt:lpstr>
      <vt:lpstr>Example 25.6         Thin-film interference III</vt:lpstr>
      <vt:lpstr>Example 25.7         Thin-film versus thin films</vt:lpstr>
      <vt:lpstr>Static Friction Followed by Kinetic Friction (3 of 5)</vt:lpstr>
      <vt:lpstr>Static Friction Followed by Kinetic Friction (4 of 5)</vt:lpstr>
      <vt:lpstr>Static Friction Followed by Kinetic Friction (5 of 5)</vt:lpstr>
      <vt:lpstr>Example 3.1</vt:lpstr>
      <vt:lpstr>Fluid Resistance and Terminal Speed (2 of 2)</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小鹿PPT；http://pptx.taobao.com</dc:title>
  <dc:creator>小鹿PPT;http://pptx.taobao.com</dc:creator>
  <dc:description>小鹿PPT；http://pptx.taobao.com</dc:description>
  <cp:lastModifiedBy>Jtt</cp:lastModifiedBy>
  <cp:revision>192</cp:revision>
  <dcterms:created xsi:type="dcterms:W3CDTF">2017-07-11T01:33:00Z</dcterms:created>
  <dcterms:modified xsi:type="dcterms:W3CDTF">2021-08-07T07:29:37Z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2052-11.1.0.10667</vt:lpwstr>
  </property>
  <property fmtid="{D5CDD505-2E9C-101B-9397-08002B2CF9AE}" pid="3" name="ICV">
    <vt:lpwstr>FFB3A46557F848E08565195665C62011</vt:lpwstr>
  </property>
</Properties>
</file>