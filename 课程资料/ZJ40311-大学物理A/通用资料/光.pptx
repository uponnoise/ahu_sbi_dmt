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8"/>
  </p:notesMasterIdLst>
  <p:sldIdLst>
    <p:sldId id="280" r:id="rId4"/>
    <p:sldId id="515" r:id="rId5"/>
    <p:sldId id="516" r:id="rId6"/>
    <p:sldId id="517" r:id="rId7"/>
    <p:sldId id="518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8" r:id="rId22"/>
  </p:sldIdLst>
  <p:sldSz cx="12192000" cy="6858000"/>
  <p:notesSz cx="6858000" cy="9144000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gency FB" panose="020B0503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1" userDrawn="1">
          <p15:clr>
            <a:srgbClr val="A4A3A4"/>
          </p15:clr>
        </p15:guide>
        <p15:guide id="2" pos="4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, Nithiyanandhan" initials="RN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7FA3"/>
    <a:srgbClr val="437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31" y="115"/>
      </p:cViewPr>
      <p:guideLst>
        <p:guide orient="horz" pos="481"/>
        <p:guide pos="4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B3608A3-4DDF-458B-AC15-D0B4B1198D8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438541B-34D3-47AC-808A-6924AA36544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0D9FD-B979-4686-8E7B-DCFDC217AC2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4F8D-36B9-4587-BC54-546E9400915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75158-C32C-4FA4-864D-E9D1031DEE3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5D768-0A50-4012-8AD8-D2511D1EA8D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E2F43-5307-4145-A269-5325A011788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AF96-6476-4F03-B5AB-96AB3B61D00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8C8F8-9C16-4443-A69E-0CE0A5E7E5E1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14347-F67C-402C-ABA6-6BB31F6234E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DA738-9825-4EB5-9574-7AEF58453A72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C6ED6-C021-4800-A003-FCA3F9A90B6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3ED9-87F4-4DDD-9600-59BDBA28F7F4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3E43D-2505-4F0D-9202-AB677BD0754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64656-3BCB-49B1-821F-047AA03CA5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84E40-AE60-4604-9CAD-BAF6392887A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DEF82-0B93-4019-8527-2F3393AB673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365D5-9437-41F6-97B3-2A8713B7E63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ED671-29A7-416D-A19B-6097F828CAF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4CB6B6-599C-4FDA-BAA8-6ECAF8C2C5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FB92-4101-4B45-A4D2-E8497CD0443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0F3E5-C849-4386-A40F-F48F244858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43DE8-1959-48B3-8C15-FFC537504E6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9C4BC-C0F8-4772-BF5A-E93B73D857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745" indent="-118745">
              <a:buClr>
                <a:srgbClr val="007FA3"/>
              </a:buClr>
              <a:buSzPct val="25000"/>
              <a:defRPr sz="1600"/>
            </a:lvl1pPr>
            <a:lvl2pPr marL="570230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12192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2000"/>
            <a:ext cx="103632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83" y="3962400"/>
            <a:ext cx="10392835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133600" y="6429345"/>
            <a:ext cx="95504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IN" sz="1200" b="0" i="0" u="none" strike="noStrike" kern="12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Picture 14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89"/>
            <a:ext cx="1224000" cy="2799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600201"/>
            <a:ext cx="48768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3200400"/>
            <a:ext cx="48768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4064000" y="6529254"/>
            <a:ext cx="7823200" cy="187537"/>
          </a:xfrm>
        </p:spPr>
        <p:txBody>
          <a:bodyPr/>
          <a:lstStyle>
            <a:lvl1pPr marL="0" indent="0" algn="r">
              <a:buNone/>
              <a:defRPr sz="800" baseline="0"/>
            </a:lvl1pPr>
          </a:lstStyle>
          <a:p>
            <a:pPr lvl="0"/>
            <a:r>
              <a:rPr lang="en-US" dirty="0"/>
              <a:t>Click to add copyright line</a:t>
            </a:r>
            <a:endParaRPr lang="en-IN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89"/>
            <a:ext cx="1224000" cy="279915"/>
          </a:xfrm>
          <a:prstGeom prst="rect">
            <a:avLst/>
          </a:prstGeom>
        </p:spPr>
      </p:pic>
      <p:sp>
        <p:nvSpPr>
          <p:cNvPr id="1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09600" y="1600200"/>
            <a:ext cx="109728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71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2184389"/>
            <a:ext cx="10972800" cy="465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447617" y="113072"/>
            <a:ext cx="28448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416" y="113072"/>
            <a:ext cx="735711" cy="182880"/>
          </a:xfrm>
        </p:spPr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609600" y="2785532"/>
            <a:ext cx="10972800" cy="5421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5"/>
          </p:nvPr>
        </p:nvSpPr>
        <p:spPr>
          <a:xfrm>
            <a:off x="609600" y="3513666"/>
            <a:ext cx="10972800" cy="4487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6"/>
          </p:nvPr>
        </p:nvSpPr>
        <p:spPr>
          <a:xfrm>
            <a:off x="609600" y="4114797"/>
            <a:ext cx="10972800" cy="60960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7199"/>
          </a:xfrm>
        </p:spPr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2184389"/>
            <a:ext cx="10972800" cy="4656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447617" y="113072"/>
            <a:ext cx="28448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416" y="113072"/>
            <a:ext cx="735711" cy="182880"/>
          </a:xfrm>
        </p:spPr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4"/>
          </p:nvPr>
        </p:nvSpPr>
        <p:spPr>
          <a:xfrm>
            <a:off x="609600" y="2785532"/>
            <a:ext cx="10972800" cy="5421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5"/>
          </p:nvPr>
        </p:nvSpPr>
        <p:spPr>
          <a:xfrm>
            <a:off x="609600" y="3513666"/>
            <a:ext cx="10972800" cy="4487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6"/>
          </p:nvPr>
        </p:nvSpPr>
        <p:spPr>
          <a:xfrm>
            <a:off x="609600" y="4114797"/>
            <a:ext cx="10972800" cy="60960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Content Placeholder 17"/>
          <p:cNvSpPr>
            <a:spLocks noGrp="1"/>
          </p:cNvSpPr>
          <p:nvPr>
            <p:ph sz="quarter" idx="17"/>
          </p:nvPr>
        </p:nvSpPr>
        <p:spPr>
          <a:xfrm>
            <a:off x="649404" y="4898792"/>
            <a:ext cx="10972800" cy="60960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745" indent="-118745">
              <a:buClr>
                <a:srgbClr val="007FA3"/>
              </a:buClr>
              <a:buSzPct val="25000"/>
              <a:defRPr sz="1600"/>
            </a:lvl1pPr>
            <a:lvl2pPr marL="570230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arning Objectives and l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600200"/>
          </a:xfrm>
        </p:spPr>
        <p:txBody>
          <a:bodyPr/>
          <a:lstStyle>
            <a:lvl1pPr marL="118745" indent="-118745">
              <a:buClr>
                <a:srgbClr val="007FA3"/>
              </a:buClr>
              <a:buSzPct val="25000"/>
              <a:defRPr sz="1600"/>
            </a:lvl1pPr>
            <a:lvl2pPr marL="570230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9600" y="3352800"/>
            <a:ext cx="11074400" cy="1447800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2133600" y="6429345"/>
            <a:ext cx="95504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IN" sz="1200" b="0" i="0" u="none" strike="noStrike" kern="12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89"/>
            <a:ext cx="1224000" cy="2799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0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Two Content, l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2514600"/>
            <a:ext cx="10972800" cy="8382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09600" y="3505200"/>
            <a:ext cx="10972800" cy="762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09600" y="4495800"/>
            <a:ext cx="10972800" cy="83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143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2819400"/>
            <a:ext cx="10972800" cy="1524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4495800"/>
            <a:ext cx="10972800" cy="16303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685799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589868"/>
            <a:ext cx="10972800" cy="70305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2819400"/>
            <a:ext cx="109728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609600" y="4572000"/>
            <a:ext cx="10972800" cy="144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685799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2819400"/>
            <a:ext cx="109728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589868"/>
            <a:ext cx="10972800" cy="70305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609600" y="4572000"/>
            <a:ext cx="10972800" cy="7362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" y="5410200"/>
            <a:ext cx="10972800" cy="685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47800"/>
            <a:ext cx="103632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83" y="3962400"/>
            <a:ext cx="10392836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2133600" y="6429345"/>
            <a:ext cx="95504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IN" sz="1200" b="0" i="0" u="none" strike="noStrike" kern="12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89"/>
            <a:ext cx="1224000" cy="2799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Two li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99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2743201"/>
            <a:ext cx="10972800" cy="99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0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09600" y="3876675"/>
            <a:ext cx="10972800" cy="12795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image" Target="../media/image1.emf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9BD3E94-727E-4401-AA1F-9E4D1E1EB16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721C8D7-BF34-49E2-9A49-2638587F14B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gency FB" panose="020B0503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Sixth</a:t>
            </a:r>
            <a:endParaRPr lang="en-US" dirty="0"/>
          </a:p>
          <a:p>
            <a:pPr lvl="6"/>
            <a:r>
              <a:rPr lang="en-US" dirty="0"/>
              <a:t>Seventh</a:t>
            </a:r>
            <a:endParaRPr lang="en-US" dirty="0"/>
          </a:p>
          <a:p>
            <a:pPr lvl="7"/>
            <a:r>
              <a:rPr lang="en-US" dirty="0"/>
              <a:t>Eighth</a:t>
            </a:r>
            <a:endParaRPr lang="en-US" dirty="0"/>
          </a:p>
          <a:p>
            <a:pPr lvl="8"/>
            <a:r>
              <a:rPr lang="en-US" dirty="0"/>
              <a:t>Ninth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92" y="6172200"/>
            <a:ext cx="1146048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47617" y="113072"/>
            <a:ext cx="284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416" y="113072"/>
            <a:ext cx="735711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133600" y="6429345"/>
            <a:ext cx="95504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IN" sz="1200" b="0" i="0" u="none" strike="noStrike" kern="12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</a:t>
            </a: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" name="Picture 9" descr="Pearson Logo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89"/>
            <a:ext cx="1224000" cy="2799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55905" indent="-255905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内容占位符 2"/>
          <p:cNvSpPr>
            <a:spLocks noGrp="1" noChangeArrowheads="1"/>
          </p:cNvSpPr>
          <p:nvPr>
            <p:ph idx="1"/>
          </p:nvPr>
        </p:nvSpPr>
        <p:spPr>
          <a:xfrm>
            <a:off x="1630836" y="1825625"/>
            <a:ext cx="9039135" cy="4351338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25.1 Interference and Coherent Sources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25.2 Two-Source Interference of Light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25.3 Intensity in Interference Patterns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25.4 Interference in Thin Films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007FA3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25.5 The Michelson Interferometer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952107" y="500062"/>
            <a:ext cx="10077253" cy="1325563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</a:t>
            </a:r>
            <a:r>
              <a:rPr lang="en-US" alt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</a:t>
            </a:r>
            <a:r>
              <a:rPr lang="en-IN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lang="en-US" sz="4000" b="1" dirty="0">
                <a:solidFill>
                  <a:srgbClr val="007FA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INTERFERENCE </a:t>
            </a:r>
            <a:endParaRPr lang="en-US" sz="4000" b="1" dirty="0">
              <a:solidFill>
                <a:srgbClr val="007FA3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393065"/>
            <a:ext cx="6629400" cy="32080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180" y="3658235"/>
            <a:ext cx="6682740" cy="27279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50" y="537210"/>
            <a:ext cx="3398520" cy="27660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705" y="4881245"/>
            <a:ext cx="1950720" cy="281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Constructive and Destructive Two-Slit Interference</a:t>
            </a:r>
            <a:endParaRPr lang="en-US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70" y="1964055"/>
            <a:ext cx="5676900" cy="4876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" y="2681605"/>
            <a:ext cx="6118860" cy="6324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810" y="3543935"/>
            <a:ext cx="1353185" cy="4057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355" y="4080510"/>
            <a:ext cx="1356360" cy="304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5041900"/>
            <a:ext cx="5897880" cy="6400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045" y="1360805"/>
            <a:ext cx="2585720" cy="499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45308"/>
            <a:ext cx="10972800" cy="1097280"/>
          </a:xfrm>
        </p:spPr>
        <p:txBody>
          <a:bodyPr/>
          <a:lstStyle/>
          <a:p>
            <a:r>
              <a:rPr lang="en-US" altLang="en-US" sz="3600" dirty="0" smtClean="0"/>
              <a:t>Example 25.1                       Two-slit interference</a:t>
            </a:r>
            <a:endParaRPr lang="en-US" altLang="en-US" sz="36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" y="1154430"/>
            <a:ext cx="10798810" cy="4563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3622"/>
            <a:ext cx="10972800" cy="1097280"/>
          </a:xfrm>
        </p:spPr>
        <p:txBody>
          <a:bodyPr/>
          <a:lstStyle/>
          <a:p>
            <a:r>
              <a:rPr lang="en-US" altLang="en-US" sz="3600" dirty="0" smtClean="0"/>
              <a:t>Example 25.2                Broadcast pattern of a radio station</a:t>
            </a:r>
            <a:endParaRPr lang="en-US" altLang="en-US" sz="36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1280795"/>
            <a:ext cx="8638540" cy="5402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25.4 Interference in Thin Films</a:t>
            </a:r>
            <a:endParaRPr lang="en-US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215" y="1438910"/>
            <a:ext cx="9514205" cy="914400"/>
          </a:xfrm>
        </p:spPr>
        <p:txBody>
          <a:bodyPr/>
          <a:lstStyle/>
          <a:p>
            <a:pPr marL="255905" indent="-255905">
              <a:buSzPct val="100000"/>
            </a:pPr>
            <a:r>
              <a:rPr lang="en-US" altLang="en-US" sz="2600" dirty="0"/>
              <a:t>The complex shapes of the colored rings in each photograph result from variations in the thickness of the film.</a:t>
            </a:r>
            <a:endParaRPr lang="en-US" altLang="en-US" sz="2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810" y="2353310"/>
            <a:ext cx="3337560" cy="4343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95" y="2630805"/>
            <a:ext cx="405384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Thin-Film Interference and Phase Shifts During Reflection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485" y="1934210"/>
            <a:ext cx="5455285" cy="838200"/>
          </a:xfrm>
        </p:spPr>
        <p:txBody>
          <a:bodyPr/>
          <a:lstStyle/>
          <a:p>
            <a:pPr marL="255905" indent="-255905">
              <a:buSzPct val="100000"/>
            </a:pPr>
            <a:r>
              <a:rPr lang="en-US" altLang="en-US" sz="2600" dirty="0"/>
              <a:t>The amplitude </a:t>
            </a:r>
            <a:r>
              <a:rPr lang="en-US" altLang="en-US" sz="2600" i="1" dirty="0"/>
              <a:t>E</a:t>
            </a:r>
            <a:r>
              <a:rPr lang="en-US" altLang="en-US" sz="2600" i="1" baseline="-25000" dirty="0"/>
              <a:t>r</a:t>
            </a:r>
            <a:r>
              <a:rPr lang="en-US" altLang="en-US" sz="2600" dirty="0"/>
              <a:t> of the wave reflected from the interface is proportional to the amplitude </a:t>
            </a:r>
            <a:r>
              <a:rPr lang="en-US" altLang="en-US" sz="2600" i="1" dirty="0"/>
              <a:t>E</a:t>
            </a:r>
            <a:r>
              <a:rPr lang="en-US" altLang="en-US" sz="2600" i="1" baseline="-25000" dirty="0"/>
              <a:t>i</a:t>
            </a:r>
            <a:r>
              <a:rPr lang="en-US" altLang="en-US" sz="2600" i="1" dirty="0"/>
              <a:t> </a:t>
            </a:r>
            <a:r>
              <a:rPr lang="en-US" altLang="en-US" sz="2600" dirty="0"/>
              <a:t>of the incident wave and is given by</a:t>
            </a:r>
            <a:endParaRPr lang="en-US" altLang="en-US" sz="2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875" y="1312545"/>
            <a:ext cx="3387090" cy="48907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95" y="4496435"/>
            <a:ext cx="3749040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40" y="875665"/>
            <a:ext cx="1025652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351155"/>
            <a:ext cx="10854055" cy="838200"/>
          </a:xfrm>
        </p:spPr>
        <p:txBody>
          <a:bodyPr/>
          <a:lstStyle/>
          <a:p>
            <a:pPr marL="255905" indent="-255905">
              <a:buSzPct val="100000"/>
            </a:pPr>
            <a:r>
              <a:rPr lang="en-US" altLang="en-US" sz="2600" dirty="0"/>
              <a:t>We can summarize this discussion mathematically. If the film has thickness </a:t>
            </a:r>
            <a:r>
              <a:rPr lang="en-US" altLang="en-US" sz="2600" i="1" dirty="0"/>
              <a:t>t</a:t>
            </a:r>
            <a:r>
              <a:rPr lang="en-US" altLang="en-US" sz="2600" dirty="0"/>
              <a:t>, the light is at normal incidence and has wavelength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en-US" sz="2600" dirty="0"/>
              <a:t> in the film; if neither or both of the reflected waves from the two surfaces have a half-cycle reflection phase shift, the conditions for constructive and destructive interference are</a:t>
            </a:r>
            <a:endParaRPr lang="en-US" altLang="en-US" sz="2600" dirty="0"/>
          </a:p>
          <a:p>
            <a:pPr marL="255905" indent="-255905">
              <a:buSzPct val="100000"/>
            </a:pPr>
            <a:endParaRPr lang="en-US" altLang="en-US" sz="2600" dirty="0"/>
          </a:p>
          <a:p>
            <a:pPr marL="255905" indent="-255905">
              <a:buSzPct val="100000"/>
            </a:pPr>
            <a:endParaRPr lang="en-US" altLang="en-US" sz="2600" dirty="0"/>
          </a:p>
          <a:p>
            <a:pPr marL="255905" indent="-255905">
              <a:buSzPct val="100000"/>
            </a:pPr>
            <a:r>
              <a:rPr lang="en-US" altLang="en-US" sz="2600" dirty="0"/>
              <a:t>If one of the two waves has a half-cycle reflection phase shift, the conditions for constructive and destructive interference are reversed</a:t>
            </a:r>
            <a:endParaRPr lang="en-US" altLang="en-US" sz="2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840" y="1945640"/>
            <a:ext cx="5484495" cy="1736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690" y="4662170"/>
            <a:ext cx="5836920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" y="1351280"/>
            <a:ext cx="9715500" cy="2766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215372"/>
            <a:ext cx="10972800" cy="1097280"/>
          </a:xfrm>
        </p:spPr>
        <p:txBody>
          <a:bodyPr/>
          <a:lstStyle/>
          <a:p>
            <a:r>
              <a:rPr lang="en-US" altLang="en-US" sz="3600" dirty="0"/>
              <a:t>Example 25.4         Thin-film interference I </a:t>
            </a:r>
            <a:endParaRPr lang="en-US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7155180" y="91376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dirty="0" err="1" smtClean="0"/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823595" y="3321157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altLang="en-US" sz="3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215" y="1340485"/>
            <a:ext cx="9304020" cy="12420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10" y="2616200"/>
            <a:ext cx="7741920" cy="4155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215372"/>
            <a:ext cx="10972800" cy="1097280"/>
          </a:xfrm>
        </p:spPr>
        <p:txBody>
          <a:bodyPr/>
          <a:lstStyle/>
          <a:p>
            <a:r>
              <a:rPr lang="en-US" altLang="en-US" sz="3600" dirty="0"/>
              <a:t>Example 25.5         Thin-film interference II</a:t>
            </a:r>
            <a:endParaRPr lang="en-US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7155180" y="91376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dirty="0" err="1" smtClean="0"/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823595" y="3321157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95" y="1926590"/>
            <a:ext cx="10967085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215372"/>
            <a:ext cx="10972800" cy="1097280"/>
          </a:xfrm>
        </p:spPr>
        <p:txBody>
          <a:bodyPr/>
          <a:lstStyle/>
          <a:p>
            <a:r>
              <a:rPr lang="en-US" altLang="en-US" sz="3600" dirty="0"/>
              <a:t>Example 25.6         Thin-film interference III</a:t>
            </a:r>
            <a:endParaRPr lang="en-US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7155180" y="91376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dirty="0" err="1" smtClean="0"/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823595" y="3321157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475" y="1957070"/>
            <a:ext cx="11473180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275" y="107"/>
            <a:ext cx="10972800" cy="1097280"/>
          </a:xfrm>
        </p:spPr>
        <p:txBody>
          <a:bodyPr/>
          <a:lstStyle/>
          <a:p>
            <a:r>
              <a:rPr lang="en-US" altLang="en-US" sz="3600" dirty="0"/>
              <a:t>Example 25.7         Thin-film versus thin films</a:t>
            </a:r>
            <a:endParaRPr lang="en-US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7155180" y="91376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dirty="0" err="1" smtClean="0"/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868045" y="3805662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1" kern="1200">
                <a:solidFill>
                  <a:srgbClr val="007FA3"/>
                </a:solidFill>
                <a:latin typeface="+mj-lt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altLang="en-US" sz="3600" dirty="0"/>
          </a:p>
        </p:txBody>
      </p:sp>
      <p:sp>
        <p:nvSpPr>
          <p:cNvPr id="3" name="文本框 2"/>
          <p:cNvSpPr txBox="1"/>
          <p:nvPr/>
        </p:nvSpPr>
        <p:spPr>
          <a:xfrm>
            <a:off x="542925" y="1027589"/>
            <a:ext cx="1133665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en-US" sz="2400" dirty="0">
                <a:latin typeface="+mn-lt"/>
                <a:ea typeface="+mn-ea"/>
              </a:rPr>
              <a:t>We have emphasized interference effects in rather thin films. Suppose the film in </a:t>
            </a:r>
            <a:endParaRPr lang="en-US" altLang="en-US" sz="2400" dirty="0">
              <a:latin typeface="+mn-lt"/>
              <a:ea typeface="+mn-ea"/>
            </a:endParaRPr>
          </a:p>
          <a:p>
            <a:r>
              <a:rPr lang="en-US" altLang="zh-CN" sz="2400" dirty="0">
                <a:latin typeface="+mn-lt"/>
                <a:ea typeface="+mn-ea"/>
              </a:rPr>
              <a:t>Figure25.10 is a layer of water(n=1.33) 1.00cm thick on top of a glass surface with </a:t>
            </a:r>
            <a:endParaRPr lang="en-US" altLang="zh-CN" sz="2400" dirty="0">
              <a:latin typeface="+mn-lt"/>
              <a:ea typeface="+mn-ea"/>
            </a:endParaRPr>
          </a:p>
          <a:p>
            <a:r>
              <a:rPr lang="en-US" altLang="zh-CN" sz="2400" dirty="0">
                <a:latin typeface="+mn-lt"/>
                <a:ea typeface="+mn-ea"/>
              </a:rPr>
              <a:t>n =1.52. What will you see if this rather thick film is illminated from above?</a:t>
            </a:r>
            <a:endParaRPr lang="en-US" altLang="zh-CN" sz="2400" dirty="0"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1825" y="2425224"/>
            <a:ext cx="1136015" cy="410845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en-US" sz="3200" baseline="-250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  <a:endParaRPr lang="en-US" altLang="en-US" sz="3200" baseline="-250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825" y="2917349"/>
            <a:ext cx="1093216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zh-CN" sz="2400" dirty="0" err="1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and SER UP: </a:t>
            </a:r>
            <a:r>
              <a:rPr lang="en-US" altLang="zh-CN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in Example 25.6, half-cycle phase changes accur at</a:t>
            </a:r>
            <a:endParaRPr lang="en-US" altLang="zh-CN" sz="24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the top and bottom sufaces of the film.</a:t>
            </a:r>
            <a:endParaRPr lang="en-US" altLang="zh-CN" sz="24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1825" y="3747135"/>
            <a:ext cx="1092009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zh-CN" sz="2400" dirty="0" err="1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en-US" altLang="zh-CN" sz="2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Equation(25.17) gives the condition for constructive interference in the reflected waves. Hence the wavelengths in air that undergo constructive interference are given by </a:t>
            </a:r>
            <a:endParaRPr lang="en-US" altLang="zh-CN" sz="24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000" dirty="0" err="1" smtClean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 err="1" smtClean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n is theindex of refraction of water.</a:t>
            </a:r>
            <a:endParaRPr lang="en-US" altLang="zh-CN" sz="20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t = 1. 00 cm is large in comparison to the wavelengths of visibel light, the values of m in this equation will be large. For instance, using m=40000 in the first equation tells us that light </a:t>
            </a:r>
            <a:endParaRPr lang="en-US" altLang="zh-CN" sz="20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be strongly reflected if it has a wavelength in air of </a:t>
            </a:r>
            <a:endParaRPr lang="en-US" altLang="zh-CN" sz="20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462716" y="4763071"/>
                <a:ext cx="1983740" cy="6642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𝑛𝑡</m:t>
                          </m:r>
                        </m:num>
                        <m:den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000" dirty="0" err="1" smtClean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16" y="4763071"/>
                <a:ext cx="1983740" cy="664210"/>
              </a:xfrm>
              <a:prstGeom prst="rect">
                <a:avLst/>
              </a:prstGeom>
              <a:blipFill rotWithShape="1">
                <a:blip r:embed="rId1"/>
                <a:stretch>
                  <a:fillRect l="-29" t="-86" r="29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55180" y="913765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dirty="0" err="1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2539936" y="607631"/>
                <a:ext cx="7607300" cy="10109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𝜆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𝑛𝑡</m:t>
                          </m:r>
                        </m:num>
                        <m:den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33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)(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00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000" i="1" dirty="0" err="1" smtClean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dirty="0" err="1" smtClean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000" i="1" dirty="0" err="1" smtClean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000" i="1" dirty="0" err="1" smtClean="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40000</m:t>
                          </m:r>
                        </m:den>
                      </m:f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6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.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67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000" i="1" dirty="0" err="1" smtClean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7</m:t>
                          </m:r>
                        </m:sup>
                      </m:sSup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667</m:t>
                      </m:r>
                      <m:r>
                        <a:rPr lang="en-US" altLang="zh-CN" sz="2000" i="1" dirty="0" err="1" smtClean="0">
                          <a:latin typeface="Cambria Math" panose="02040503050406030204" charset="0"/>
                          <a:cs typeface="Cambria Math" panose="02040503050406030204" charset="0"/>
                        </a:rPr>
                        <m:t>𝑛𝑚</m:t>
                      </m:r>
                    </m:oMath>
                  </m:oMathPara>
                </a14:m>
                <a:endParaRPr lang="en-US" altLang="zh-CN" sz="2000" i="1" dirty="0" err="1" smtClean="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2000" dirty="0" err="1" smtClean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936" y="607631"/>
                <a:ext cx="7607300" cy="1010920"/>
              </a:xfrm>
              <a:prstGeom prst="rect">
                <a:avLst/>
              </a:prstGeom>
              <a:blipFill rotWithShape="1">
                <a:blip r:embed="rId1"/>
                <a:stretch>
                  <a:fillRect l="-8" t="-56" r="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01040" y="1512253"/>
            <a:ext cx="104394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gency FB" panose="020B0503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en-US" altLang="zh-CN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corresponding to orange-red light. You might be tempted to conclude that this thick film would appear strongly orange-red ; However,there will also be</a:t>
            </a:r>
            <a:endParaRPr lang="en-US" altLang="zh-CN" sz="24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reflection of a slightly longer wavelength corresponding to m=39999 and of a slightly shorter wavelength corresponding to m=40001. These wavelengths differ from each other by only one part in 40000, or (667nm)/(40000)=0.017 nm. This is a much smaller wavelength appears to be emphasized more than any other in the light that is reflected from a thick film. If you shine white light on this thick film, the reflected light appears white</a:t>
            </a:r>
            <a:endParaRPr lang="en-US" altLang="zh-CN" sz="2400" dirty="0" err="1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 err="1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</a:t>
            </a:r>
            <a:r>
              <a:rPr lang="en-US" altLang="zh-CN" sz="2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It’s useful to compare this situation to a thin film that is no more than a few wavelengths in thickness.</a:t>
            </a:r>
            <a:endParaRPr lang="en-US" altLang="zh-CN" sz="2400" dirty="0" err="1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40" y="532765"/>
            <a:ext cx="10321290" cy="366649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63245" y="4373245"/>
            <a:ext cx="10805795" cy="838200"/>
          </a:xfrm>
        </p:spPr>
        <p:txBody>
          <a:bodyPr/>
          <a:p>
            <a:pPr marL="255905" indent="-255905">
              <a:buSzPct val="100000"/>
            </a:pPr>
            <a:r>
              <a:rPr lang="en-US" altLang="en-US" sz="2600" dirty="0"/>
              <a:t>Figure 16a shows the convex surface of a lens in contact with a plane glass plate.</a:t>
            </a:r>
            <a:endParaRPr lang="en-US" altLang="en-US" sz="2600" dirty="0"/>
          </a:p>
          <a:p>
            <a:pPr marL="255905" indent="-255905">
              <a:buSzPct val="100000"/>
            </a:pPr>
            <a:r>
              <a:rPr lang="en-US" altLang="en-US" sz="2600" dirty="0"/>
              <a:t>A thin film of air is formed between the two surfaces. When you view the setup with monochromatic light, you see circular interference fringes.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Newton’s Rings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4950" y="2084705"/>
            <a:ext cx="6116320" cy="838200"/>
          </a:xfrm>
        </p:spPr>
        <p:txBody>
          <a:bodyPr/>
          <a:lstStyle/>
          <a:p>
            <a:pPr marL="255905" indent="-255905">
              <a:buSzPct val="100000"/>
            </a:pPr>
            <a:r>
              <a:rPr lang="en-US" altLang="en-US" sz="2600" dirty="0"/>
              <a:t>The lower, larger-diameter, thicker disk is the correctly shaped master, and the smaller, upper disk is the lens under test. The “contour lines” are Newton’s interference fringes; each one indicates an additional distance between the specimen and the master of one half-wavelength. </a:t>
            </a:r>
            <a:endParaRPr lang="en-US" altLang="en-US" sz="2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312545"/>
            <a:ext cx="3711575" cy="53047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875" y="215265"/>
            <a:ext cx="8696325" cy="1097280"/>
          </a:xfrm>
        </p:spPr>
        <p:txBody>
          <a:bodyPr/>
          <a:lstStyle/>
          <a:p>
            <a:r>
              <a:rPr lang="en-US" altLang="en-US" sz="3600" dirty="0"/>
              <a:t>25.5 The Michelson Interferometer</a:t>
            </a:r>
            <a:endParaRPr lang="en-US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569720"/>
            <a:ext cx="9433560" cy="3634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4015740"/>
            <a:ext cx="2430780" cy="5410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commondata" val="eyJoZGlkIjoiOGJlY2I5ZGVlYmRkODE5YjUzODY3NWI3ZjZlOTNhYTM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797979"/>
      </a:dk2>
      <a:lt2>
        <a:srgbClr val="43B4E3"/>
      </a:lt2>
      <a:accent1>
        <a:srgbClr val="0070C0"/>
      </a:accent1>
      <a:accent2>
        <a:srgbClr val="CECECE"/>
      </a:accent2>
      <a:accent3>
        <a:srgbClr val="329FD1"/>
      </a:accent3>
      <a:accent4>
        <a:srgbClr val="CECECE"/>
      </a:accent4>
      <a:accent5>
        <a:srgbClr val="0070C0"/>
      </a:accent5>
      <a:accent6>
        <a:srgbClr val="CECECE"/>
      </a:accent6>
      <a:hlink>
        <a:srgbClr val="169EBE"/>
      </a:hlink>
      <a:folHlink>
        <a:srgbClr val="0070C0"/>
      </a:folHlink>
    </a:clrScheme>
    <a:fontScheme name="自定义 2">
      <a:majorFont>
        <a:latin typeface="Agency FB"/>
        <a:ea typeface="微软雅黑"/>
        <a:cs typeface=""/>
      </a:majorFont>
      <a:minorFont>
        <a:latin typeface="Agency FB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3555</Words>
  <Application>WPS 演示</Application>
  <PresentationFormat>宽屏</PresentationFormat>
  <Paragraphs>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Agency FB</vt:lpstr>
      <vt:lpstr>微软雅黑</vt:lpstr>
      <vt:lpstr>Verdana</vt:lpstr>
      <vt:lpstr>Times New Roman</vt:lpstr>
      <vt:lpstr>Arial Unicode MS</vt:lpstr>
      <vt:lpstr>Calibri</vt:lpstr>
      <vt:lpstr>Cambria Math</vt:lpstr>
      <vt:lpstr>黑体</vt:lpstr>
      <vt:lpstr>Office 主题</vt:lpstr>
      <vt:lpstr>508 Lecture</vt:lpstr>
      <vt:lpstr>Chapter 25  INTERFERENCE </vt:lpstr>
      <vt:lpstr>PowerPoint 演示文稿</vt:lpstr>
      <vt:lpstr>Constructive and Destructive Two-Slit Interference</vt:lpstr>
      <vt:lpstr>Example 25.1                       Two-slit interference</vt:lpstr>
      <vt:lpstr>Example 25.2                Broadcast pattern of a radio station</vt:lpstr>
      <vt:lpstr>25.4 Interference in Thin Films</vt:lpstr>
      <vt:lpstr>Thin-Film Interference and Phase Shifts During Reflection</vt:lpstr>
      <vt:lpstr>PowerPoint 演示文稿</vt:lpstr>
      <vt:lpstr>PowerPoint 演示文稿</vt:lpstr>
      <vt:lpstr>PowerPoint 演示文稿</vt:lpstr>
      <vt:lpstr>Example 25.4         Thin-film interference I </vt:lpstr>
      <vt:lpstr>Example 25.5         Thin-film interference II</vt:lpstr>
      <vt:lpstr>Example 25.6         Thin-film interference III</vt:lpstr>
      <vt:lpstr>Example 25.7         Thin-film versus thin films</vt:lpstr>
      <vt:lpstr>PowerPoint 演示文稿</vt:lpstr>
      <vt:lpstr>PowerPoint 演示文稿</vt:lpstr>
      <vt:lpstr>Newton’s Rings</vt:lpstr>
      <vt:lpstr>25.5 The Michelson Interferometer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小鹿PPT；http://pptx.taobao.com</dc:title>
  <dc:creator>小鹿PPT;http://pptx.taobao.com</dc:creator>
  <dc:description>小鹿PPT；http://pptx.taobao.com</dc:description>
  <cp:lastModifiedBy>Jtt</cp:lastModifiedBy>
  <cp:revision>194</cp:revision>
  <dcterms:created xsi:type="dcterms:W3CDTF">2017-07-11T01:33:00Z</dcterms:created>
  <dcterms:modified xsi:type="dcterms:W3CDTF">2023-11-27T03:22:18Z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99BD51D1F530493BA869BB77DCBD28EE_13</vt:lpwstr>
  </property>
</Properties>
</file>