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7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2B0FA-03BF-438E-8C84-1048EC83F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DB3A9F-CC52-49D4-8FB4-E71ED67C2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72D41-322F-433E-8223-80CEE1B6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744C99-5BB3-4A4B-B9FE-61BE06A4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3CED1-F687-4135-97F1-607D0F46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51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031DB-D76A-46CC-9F86-2B7E466A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70A51C-5142-4B63-ADF5-235ED8BCC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A07745-8BA3-4580-81BD-FA0CF293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D7E6A3-C516-4F78-9944-415EC3B5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A997DE-8C66-49C8-8774-C9B1E630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71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79432-4F1A-4B57-A959-BED3CDD8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22581C-7599-426F-A12B-F2E18621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407CFA-9BD6-4B1D-8688-999B779E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FA590A-EA23-414E-B21A-FED4B0AB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A45844-CD6D-4EF6-AEA9-E90EAF2B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790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632FD-1C59-4DE9-A360-64D714AC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597DC-D85A-47D4-8C45-378A5723E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6BFA59-62E0-4838-904A-07C0614FC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43D3F7-C54E-4BCF-99CE-107794D5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4A0E6-CAB0-46DB-ADFE-6CA69319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5F8B60-03B6-4A13-8348-D1B7D951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19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323C3-790B-4A16-94F3-B5C8FCD57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5E8089-62E0-4E21-8C2C-96734C71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7805AC-9A12-4B8F-BF34-82E09B62C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C62C57-0494-49F3-B5A9-6761234CC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6057AA-B0B8-45FF-A8D3-17A818B90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6DB44D-DF20-4E82-A9D6-386B606A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C35D51-C8B3-42FC-AB85-F0FDEF02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1158CC-2570-47F7-A96A-D0793D2B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13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21E58-42F8-47B1-9A99-482CFB0F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9B2F4D-FD66-49F3-85E2-6E4775E5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4DD898-316C-4DAE-A215-6DB189C0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E3EBE1-E7EA-45A8-ABBB-B2B9DDD8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90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118488-5109-444D-B281-27580748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8B780A-ECCE-49FB-A63E-E3F91BE5B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35B127-1A53-4EA8-9B81-E0C065E0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01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CD943-C509-43E0-ACAE-C3680B08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8E556F-D5CB-4894-813C-0C2834412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14B272-39A3-4D91-8782-0043ACB26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1307C3-43AB-4A1B-B596-D6A4EA15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1AE79E-E214-4197-AED7-BDC80D16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85B279-8B51-4E61-B4CC-6F74814E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0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7CEC7-96A4-4440-B4F7-6229ACAA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0EE90A-5994-4A68-B51E-24F44A66A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58DAAD-6F54-4DB9-93FB-92C06B555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BEB34C-DE3C-4D1A-B438-8F1823A5D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C99797-16CF-4D5D-95EE-369FDA84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88253A-96DD-4148-82AF-B8669C97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28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C59ED-CE58-4032-B7CE-199F54B0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08DE8E-A812-4FF2-B5DA-B9E4D0BE7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2967D6-3AE3-4B70-B8DE-FAF023E8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C608DA-4B93-4860-9AC9-3C506B37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4C4746-F46D-4E2B-87DA-6BA5C17D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8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A32D54-1B3B-440B-9679-7663FA773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7F1C6-0977-4B4D-8DDE-0B2C26F32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A764B-A4C9-4F55-BE02-7F894FD5E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0EC23B-F368-43F2-8965-D5671623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99203-1E66-43DD-8C75-28F13ABF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56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3117DC-CA86-4C33-BF7E-5F08427F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EA982F-3D91-47A3-B0E7-8B04959D6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7077A4-2D59-427D-B830-CB6079508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8C7E7-3662-46E4-AD2E-486AE043058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A2249-36D4-43C9-B1FE-2675BF74D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E999E7-13EA-4ADF-8E6B-519BE8406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51ACB-8FAB-4D39-9726-DB5018069B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93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30B71F-DA57-4EBC-900E-39BD0123D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6993" y="248660"/>
            <a:ext cx="5909890" cy="226921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0A5735-A91A-4361-97E6-C90E01CF9C8D}"/>
              </a:ext>
            </a:extLst>
          </p:cNvPr>
          <p:cNvSpPr txBox="1"/>
          <p:nvPr/>
        </p:nvSpPr>
        <p:spPr>
          <a:xfrm>
            <a:off x="474876" y="212735"/>
            <a:ext cx="609678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nsolas" panose="020B0609020204030204" pitchFamily="49" charset="0"/>
              </a:rPr>
              <a:t>#include &lt;stdio.h&gt;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#include &lt;pthread.h&gt;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#include &lt;unistd.h&gt;</a:t>
            </a:r>
          </a:p>
          <a:p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void* thread_function(void* arg) {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printf("子线程开始执行\n");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sleep(2);  // 模拟耗时操作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printf("子线程执行完毕\n");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return NULL;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}</a:t>
            </a:r>
          </a:p>
          <a:p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int main() {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pthread_t thread;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printf("主线程创建子线程\n");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pthread_create(&amp;thread, NULL, thread_function, NULL);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pthread_join(thread, NULL);</a:t>
            </a:r>
            <a:r>
              <a:rPr lang="zh-CN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// 阻塞直到子线程结束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printf("主线程继续执行\n");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235838A-FE24-48D8-8D04-258478475F3C}"/>
              </a:ext>
            </a:extLst>
          </p:cNvPr>
          <p:cNvSpPr txBox="1"/>
          <p:nvPr/>
        </p:nvSpPr>
        <p:spPr>
          <a:xfrm>
            <a:off x="5623089" y="2844224"/>
            <a:ext cx="31983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左侧代码，从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函数开始：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3D62A0F-FE52-4868-993A-D458663F4F47}"/>
              </a:ext>
            </a:extLst>
          </p:cNvPr>
          <p:cNvCxnSpPr/>
          <p:nvPr/>
        </p:nvCxnSpPr>
        <p:spPr>
          <a:xfrm>
            <a:off x="551467" y="3203144"/>
            <a:ext cx="82948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E48DB08-279C-4C75-94DB-34D5A4D30DC8}"/>
              </a:ext>
            </a:extLst>
          </p:cNvPr>
          <p:cNvSpPr txBox="1"/>
          <p:nvPr/>
        </p:nvSpPr>
        <p:spPr>
          <a:xfrm>
            <a:off x="6190353" y="3539903"/>
            <a:ext cx="3164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首先打印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主线程创建子线程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A04F3A-D763-47A0-B295-F6EE0FDF133E}"/>
              </a:ext>
            </a:extLst>
          </p:cNvPr>
          <p:cNvCxnSpPr>
            <a:cxnSpLocks/>
          </p:cNvCxnSpPr>
          <p:nvPr/>
        </p:nvCxnSpPr>
        <p:spPr>
          <a:xfrm>
            <a:off x="4125797" y="3760897"/>
            <a:ext cx="19309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7662233-A997-45F6-8084-CF4D11113D20}"/>
              </a:ext>
            </a:extLst>
          </p:cNvPr>
          <p:cNvCxnSpPr>
            <a:cxnSpLocks/>
          </p:cNvCxnSpPr>
          <p:nvPr/>
        </p:nvCxnSpPr>
        <p:spPr>
          <a:xfrm>
            <a:off x="5366993" y="4186674"/>
            <a:ext cx="19309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216CF68-B2FE-440B-B28A-38F2F3DAC763}"/>
              </a:ext>
            </a:extLst>
          </p:cNvPr>
          <p:cNvSpPr txBox="1"/>
          <p:nvPr/>
        </p:nvSpPr>
        <p:spPr>
          <a:xfrm>
            <a:off x="7401781" y="3964301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创建子线程，执行</a:t>
            </a:r>
            <a:r>
              <a:rPr lang="en-US" altLang="zh-CN" sz="1600" dirty="0" err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thread_function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打印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(b)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“子线程开始执行”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然后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sleep 2s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78B1F6-686C-4BEC-AC8D-D53989B53BA0}"/>
              </a:ext>
            </a:extLst>
          </p:cNvPr>
          <p:cNvSpPr txBox="1"/>
          <p:nvPr/>
        </p:nvSpPr>
        <p:spPr>
          <a:xfrm>
            <a:off x="7175820" y="604828"/>
            <a:ext cx="5331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(b)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(c)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(d)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090A9C-F547-463E-A7D4-0523EFD53E27}"/>
              </a:ext>
            </a:extLst>
          </p:cNvPr>
          <p:cNvSpPr txBox="1"/>
          <p:nvPr/>
        </p:nvSpPr>
        <p:spPr>
          <a:xfrm>
            <a:off x="6190353" y="4975127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即使子线程休眠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2s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，主线程也不能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join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，阻塞；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6A1EC3-AFB1-41EA-ACE9-1C9FE2F971F9}"/>
              </a:ext>
            </a:extLst>
          </p:cNvPr>
          <p:cNvSpPr txBox="1"/>
          <p:nvPr/>
        </p:nvSpPr>
        <p:spPr>
          <a:xfrm>
            <a:off x="7442393" y="5389043"/>
            <a:ext cx="2651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打印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(c)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子线程执行完毕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472470-75BF-47C9-B4C4-2BC2B5681F27}"/>
              </a:ext>
            </a:extLst>
          </p:cNvPr>
          <p:cNvSpPr txBox="1"/>
          <p:nvPr/>
        </p:nvSpPr>
        <p:spPr>
          <a:xfrm>
            <a:off x="6227119" y="5802959"/>
            <a:ext cx="3472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最后打印</a:t>
            </a:r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(d)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“主线程继续执行”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58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60BF8D-6538-49CB-A055-8D05CC98E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3316"/>
            <a:ext cx="5760000" cy="24059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10EF675-650A-4896-B214-F48872EECF3A}"/>
              </a:ext>
            </a:extLst>
          </p:cNvPr>
          <p:cNvSpPr txBox="1"/>
          <p:nvPr/>
        </p:nvSpPr>
        <p:spPr>
          <a:xfrm>
            <a:off x="474876" y="212735"/>
            <a:ext cx="609678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nsolas" panose="020B0609020204030204" pitchFamily="49" charset="0"/>
              </a:rPr>
              <a:t>#include &lt;stdio.h&gt;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#include &lt;pthread.h&gt;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#include &lt;unistd.h&gt;</a:t>
            </a:r>
          </a:p>
          <a:p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void* thread_function(void* arg) {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printf("子线程开始执行\n");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sleep(2);  // 模拟耗时操作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printf("子线程执行完毕\n");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return NULL;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}</a:t>
            </a:r>
          </a:p>
          <a:p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int main() {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pthread_t thread;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printf("主线程创建子线程\n");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pthread_create(&amp;thread, NULL, thread_function, NULL);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主线程调用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pthread_join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，开始等待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...\n");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pthread_join(thread, NULL);</a:t>
            </a:r>
            <a:r>
              <a:rPr lang="zh-CN" altLang="en-US" sz="1600" b="1" dirty="0">
                <a:solidFill>
                  <a:schemeClr val="accent6"/>
                </a:solidFill>
                <a:latin typeface="Consolas" panose="020B0609020204030204" pitchFamily="49" charset="0"/>
              </a:rPr>
              <a:t>// 阻塞直到子线程结束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printf("主线程继续执行\n");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973153-631C-4E7B-950B-27CA893D3E9E}"/>
              </a:ext>
            </a:extLst>
          </p:cNvPr>
          <p:cNvSpPr txBox="1"/>
          <p:nvPr/>
        </p:nvSpPr>
        <p:spPr>
          <a:xfrm>
            <a:off x="6226404" y="2820657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为什么红色代码第二个执行？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93AFF4-17A4-43C3-82B2-E5F96F5D2748}"/>
              </a:ext>
            </a:extLst>
          </p:cNvPr>
          <p:cNvSpPr txBox="1"/>
          <p:nvPr/>
        </p:nvSpPr>
        <p:spPr>
          <a:xfrm>
            <a:off x="6226404" y="3698790"/>
            <a:ext cx="5629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创建一个子线程，这个子线程可能去到另一个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上执行；不能立刻执行；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C42C14-1DA9-459D-92BA-090B38F858C4}"/>
              </a:ext>
            </a:extLst>
          </p:cNvPr>
          <p:cNvSpPr txBox="1"/>
          <p:nvPr/>
        </p:nvSpPr>
        <p:spPr>
          <a:xfrm>
            <a:off x="6226404" y="4410514"/>
            <a:ext cx="549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而主线程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父线程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可以继续执行，直到遇到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dirty="0" err="1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Pthread_join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，此时必须等待（不管子线程运行多久）；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E5C63AC-C677-49D3-AD60-280710C4AB7E}"/>
              </a:ext>
            </a:extLst>
          </p:cNvPr>
          <p:cNvSpPr/>
          <p:nvPr/>
        </p:nvSpPr>
        <p:spPr>
          <a:xfrm>
            <a:off x="6061435" y="801279"/>
            <a:ext cx="3822569" cy="2592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58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F93DA9B-C545-469E-B105-CB485FED6D70}"/>
              </a:ext>
            </a:extLst>
          </p:cNvPr>
          <p:cNvSpPr txBox="1"/>
          <p:nvPr/>
        </p:nvSpPr>
        <p:spPr>
          <a:xfrm>
            <a:off x="1309148" y="44236"/>
            <a:ext cx="4313941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void *Thread1(void *arg)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printf("哭了,学生上课不听，呜呜呜\n");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return "Thread1成功执行";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void* Thread2(void* arg)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printf("爷笑了，到底什么顺序\n");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return "Thread2成功执行";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B20251-8CC4-4B40-9CBE-4FC9A52725B5}"/>
              </a:ext>
            </a:extLst>
          </p:cNvPr>
          <p:cNvSpPr txBox="1"/>
          <p:nvPr/>
        </p:nvSpPr>
        <p:spPr>
          <a:xfrm>
            <a:off x="57935" y="2025908"/>
            <a:ext cx="713000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</a:rPr>
              <a:t>int main()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int res;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pthread_t mythread1, mythread2;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void* thread_result;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res = pthread_create(&amp;mythread1, NULL, Thread1, NULL);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if (res != 0) {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printf("线程创建失败");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return 0;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res = pthread_create(&amp;mythread2, NULL, Thread2, NULL);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if (res != 0) {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printf("线程创建失败");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return 0;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}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res = pthread_join(mythread1, </a:t>
            </a:r>
            <a:r>
              <a:rPr lang="zh-CN" alt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&amp;thread_result</a:t>
            </a:r>
            <a:r>
              <a:rPr lang="zh-CN" altLang="en-US" sz="1400" dirty="0"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accent6"/>
                </a:solidFill>
                <a:latin typeface="Consolas" panose="020B0609020204030204" pitchFamily="49" charset="0"/>
              </a:rPr>
              <a:t>printf("%s\n", (char*)thread_result)</a:t>
            </a:r>
            <a:r>
              <a:rPr lang="zh-CN" altLang="en-US" sz="1400" dirty="0">
                <a:latin typeface="Consolas" panose="020B0609020204030204" pitchFamily="49" charset="0"/>
              </a:rPr>
              <a:t>; //输出线程执行完毕后返回的数据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res = pthread_join(mythread2, 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</a:rPr>
              <a:t>&amp;thread_result</a:t>
            </a:r>
            <a:r>
              <a:rPr lang="zh-CN" altLang="en-US" sz="1400" dirty="0"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</a:t>
            </a:r>
            <a:r>
              <a:rPr lang="zh-CN" altLang="en-US" sz="1400" dirty="0">
                <a:solidFill>
                  <a:schemeClr val="accent2"/>
                </a:solidFill>
                <a:latin typeface="Consolas" panose="020B0609020204030204" pitchFamily="49" charset="0"/>
              </a:rPr>
              <a:t>printf("%s\n", (char*)thread_result);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printf("主线程执行完毕");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8FAB76-3B89-4F7F-AAF5-E757FD0B73BA}"/>
              </a:ext>
            </a:extLst>
          </p:cNvPr>
          <p:cNvSpPr txBox="1"/>
          <p:nvPr/>
        </p:nvSpPr>
        <p:spPr>
          <a:xfrm>
            <a:off x="1543306" y="456248"/>
            <a:ext cx="3891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</a:p>
          <a:p>
            <a:endParaRPr lang="en-US" altLang="zh-CN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57DD90-F3EF-4023-953D-78E80226FC2C}"/>
              </a:ext>
            </a:extLst>
          </p:cNvPr>
          <p:cNvSpPr txBox="1"/>
          <p:nvPr/>
        </p:nvSpPr>
        <p:spPr>
          <a:xfrm>
            <a:off x="6096000" y="32899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AB9A22-651A-4569-BCBD-C210D7B1C5D8}"/>
              </a:ext>
            </a:extLst>
          </p:cNvPr>
          <p:cNvSpPr txBox="1"/>
          <p:nvPr/>
        </p:nvSpPr>
        <p:spPr>
          <a:xfrm>
            <a:off x="5929460" y="3090446"/>
            <a:ext cx="3570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创建第一个线程，执行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thread1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63FFEC-ED15-4067-8499-2F2B2E204B92}"/>
              </a:ext>
            </a:extLst>
          </p:cNvPr>
          <p:cNvSpPr txBox="1"/>
          <p:nvPr/>
        </p:nvSpPr>
        <p:spPr>
          <a:xfrm>
            <a:off x="5929460" y="4154984"/>
            <a:ext cx="3570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创建第二个线程，执行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thread1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F482EE-4B13-433E-91F8-C4BDA8FCF95B}"/>
              </a:ext>
            </a:extLst>
          </p:cNvPr>
          <p:cNvSpPr txBox="1"/>
          <p:nvPr/>
        </p:nvSpPr>
        <p:spPr>
          <a:xfrm>
            <a:off x="5929459" y="5219522"/>
            <a:ext cx="5614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3.join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第一个线程，并打印返回值：“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thread1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成功执行”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5F783D-3BCF-4FCC-BFBD-1301AE96E063}"/>
              </a:ext>
            </a:extLst>
          </p:cNvPr>
          <p:cNvSpPr txBox="1"/>
          <p:nvPr/>
        </p:nvSpPr>
        <p:spPr>
          <a:xfrm>
            <a:off x="5929459" y="5704919"/>
            <a:ext cx="5614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4.join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第二个线程，并打印返回值：“</a:t>
            </a:r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thread2</a:t>
            </a:r>
            <a:r>
              <a:rPr lang="zh-CN" altLang="en-US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成功执行”</a:t>
            </a:r>
            <a:endParaRPr lang="en-US" altLang="zh-CN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F0F274-5E40-42C9-A857-598AA91CB20B}"/>
              </a:ext>
            </a:extLst>
          </p:cNvPr>
          <p:cNvSpPr txBox="1"/>
          <p:nvPr/>
        </p:nvSpPr>
        <p:spPr>
          <a:xfrm>
            <a:off x="5740923" y="75318"/>
            <a:ext cx="63348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可能输出：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a c b d; </a:t>
            </a:r>
            <a:r>
              <a:rPr lang="zh-CN" altLang="en-US" sz="1600" dirty="0">
                <a:solidFill>
                  <a:srgbClr val="FF0000"/>
                </a:solidFill>
              </a:rPr>
              <a:t>第一个线程执行，第二线程执行，</a:t>
            </a:r>
            <a:r>
              <a:rPr lang="en-US" altLang="zh-CN" sz="1600" dirty="0">
                <a:solidFill>
                  <a:srgbClr val="FF0000"/>
                </a:solidFill>
              </a:rPr>
              <a:t>join thread1</a:t>
            </a:r>
            <a:r>
              <a:rPr lang="zh-CN" altLang="en-US" sz="1600" dirty="0">
                <a:solidFill>
                  <a:srgbClr val="FF0000"/>
                </a:solidFill>
              </a:rPr>
              <a:t>，</a:t>
            </a:r>
            <a:r>
              <a:rPr lang="en-US" altLang="zh-CN" sz="1600" dirty="0">
                <a:solidFill>
                  <a:srgbClr val="FF0000"/>
                </a:solidFill>
              </a:rPr>
              <a:t>join thread2</a:t>
            </a:r>
            <a:r>
              <a:rPr lang="zh-CN" altLang="en-US" sz="1600" dirty="0">
                <a:solidFill>
                  <a:srgbClr val="FF0000"/>
                </a:solidFill>
              </a:rPr>
              <a:t>；</a:t>
            </a:r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c a b d; </a:t>
            </a:r>
            <a:r>
              <a:rPr lang="zh-CN" altLang="en-US" sz="1600" dirty="0">
                <a:solidFill>
                  <a:srgbClr val="FF0000"/>
                </a:solidFill>
              </a:rPr>
              <a:t>第二个线程执行，第一线程执行，</a:t>
            </a:r>
            <a:r>
              <a:rPr lang="en-US" altLang="zh-CN" sz="1600" dirty="0">
                <a:solidFill>
                  <a:srgbClr val="FF0000"/>
                </a:solidFill>
              </a:rPr>
              <a:t>join thread1</a:t>
            </a:r>
            <a:r>
              <a:rPr lang="zh-CN" altLang="en-US" sz="1600" dirty="0">
                <a:solidFill>
                  <a:srgbClr val="FF0000"/>
                </a:solidFill>
              </a:rPr>
              <a:t>，</a:t>
            </a:r>
            <a:r>
              <a:rPr lang="en-US" altLang="zh-CN" sz="1600" dirty="0">
                <a:solidFill>
                  <a:srgbClr val="FF0000"/>
                </a:solidFill>
              </a:rPr>
              <a:t>join thread2</a:t>
            </a:r>
            <a:r>
              <a:rPr lang="zh-CN" altLang="en-US" sz="1600" dirty="0">
                <a:solidFill>
                  <a:srgbClr val="FF0000"/>
                </a:solidFill>
              </a:rPr>
              <a:t>；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solidFill>
                  <a:srgbClr val="FF0000"/>
                </a:solidFill>
              </a:rPr>
              <a:t>（因为这两个线程可能在两个</a:t>
            </a:r>
            <a:r>
              <a:rPr lang="en-US" altLang="zh-CN" sz="1600" dirty="0">
                <a:solidFill>
                  <a:srgbClr val="FF0000"/>
                </a:solidFill>
              </a:rPr>
              <a:t>CPU</a:t>
            </a:r>
            <a:r>
              <a:rPr lang="zh-CN" altLang="en-US" sz="1600" dirty="0">
                <a:solidFill>
                  <a:srgbClr val="FF0000"/>
                </a:solidFill>
              </a:rPr>
              <a:t>上执行，虽然第一线程先创建，但第二线程可能先执行完毕）</a:t>
            </a:r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a b c d; </a:t>
            </a:r>
            <a:r>
              <a:rPr lang="zh-CN" altLang="en-US" sz="1600" dirty="0">
                <a:solidFill>
                  <a:srgbClr val="FF0000"/>
                </a:solidFill>
              </a:rPr>
              <a:t>第一个线程执行“哭了</a:t>
            </a:r>
            <a:r>
              <a:rPr lang="en-US" altLang="zh-CN" sz="1600" dirty="0">
                <a:solidFill>
                  <a:srgbClr val="FF0000"/>
                </a:solidFill>
              </a:rPr>
              <a:t>…</a:t>
            </a:r>
            <a:r>
              <a:rPr lang="zh-CN" altLang="en-US" sz="1600" dirty="0">
                <a:solidFill>
                  <a:srgbClr val="FF0000"/>
                </a:solidFill>
              </a:rPr>
              <a:t>”；第二个线程被创建但在另一个</a:t>
            </a:r>
            <a:r>
              <a:rPr lang="en-US" altLang="zh-CN" sz="1600" dirty="0">
                <a:solidFill>
                  <a:srgbClr val="FF0000"/>
                </a:solidFill>
              </a:rPr>
              <a:t>CPU</a:t>
            </a:r>
            <a:r>
              <a:rPr lang="zh-CN" altLang="en-US" sz="1600" dirty="0">
                <a:solidFill>
                  <a:srgbClr val="FF0000"/>
                </a:solidFill>
              </a:rPr>
              <a:t>被阻塞；第一个线程被</a:t>
            </a:r>
            <a:r>
              <a:rPr lang="en-US" altLang="zh-CN" sz="1600" dirty="0">
                <a:solidFill>
                  <a:srgbClr val="FF0000"/>
                </a:solidFill>
              </a:rPr>
              <a:t>join</a:t>
            </a:r>
            <a:r>
              <a:rPr lang="zh-CN" altLang="en-US" sz="1600" dirty="0">
                <a:solidFill>
                  <a:srgbClr val="FF0000"/>
                </a:solidFill>
              </a:rPr>
              <a:t>并打印“</a:t>
            </a:r>
            <a:r>
              <a:rPr lang="en-US" altLang="zh-CN" sz="1600" dirty="0">
                <a:solidFill>
                  <a:srgbClr val="FF0000"/>
                </a:solidFill>
              </a:rPr>
              <a:t>thread1</a:t>
            </a:r>
            <a:r>
              <a:rPr lang="zh-CN" altLang="en-US" sz="1600" dirty="0">
                <a:solidFill>
                  <a:srgbClr val="FF0000"/>
                </a:solidFill>
              </a:rPr>
              <a:t>成功执行”；然后主线程打算</a:t>
            </a:r>
            <a:r>
              <a:rPr lang="en-US" altLang="zh-CN" sz="1600" dirty="0">
                <a:solidFill>
                  <a:srgbClr val="FF0000"/>
                </a:solidFill>
              </a:rPr>
              <a:t>join</a:t>
            </a:r>
            <a:r>
              <a:rPr lang="zh-CN" altLang="en-US" sz="1600" dirty="0">
                <a:solidFill>
                  <a:srgbClr val="FF0000"/>
                </a:solidFill>
              </a:rPr>
              <a:t>第二线程，</a:t>
            </a:r>
            <a:r>
              <a:rPr lang="zh-CN" altLang="en-US" sz="1600" b="1" dirty="0">
                <a:solidFill>
                  <a:srgbClr val="FF0000"/>
                </a:solidFill>
              </a:rPr>
              <a:t>但必须等待</a:t>
            </a:r>
            <a:r>
              <a:rPr lang="zh-CN" altLang="en-US" sz="1600" dirty="0">
                <a:solidFill>
                  <a:srgbClr val="FF0000"/>
                </a:solidFill>
              </a:rPr>
              <a:t>，直到线程二执行完毕才能向下执行；</a:t>
            </a:r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>
                <a:solidFill>
                  <a:srgbClr val="FF0000"/>
                </a:solidFill>
              </a:rPr>
              <a:t>a c d b / c b a d </a:t>
            </a:r>
            <a:r>
              <a:rPr lang="zh-CN" altLang="en-US" sz="1600" dirty="0">
                <a:solidFill>
                  <a:srgbClr val="FF0000"/>
                </a:solidFill>
              </a:rPr>
              <a:t>等不可能输出，理解？</a:t>
            </a:r>
            <a:endParaRPr lang="en-US" altLang="zh-C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0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905</Words>
  <Application>Microsoft Office PowerPoint</Application>
  <PresentationFormat>宽屏</PresentationFormat>
  <Paragraphs>111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黑体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yubing</dc:creator>
  <cp:lastModifiedBy>yubing</cp:lastModifiedBy>
  <cp:revision>74</cp:revision>
  <dcterms:created xsi:type="dcterms:W3CDTF">2025-10-10T11:11:54Z</dcterms:created>
  <dcterms:modified xsi:type="dcterms:W3CDTF">2025-10-10T12:43:26Z</dcterms:modified>
</cp:coreProperties>
</file>