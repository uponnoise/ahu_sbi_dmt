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8" r:id="rId2"/>
    <p:sldId id="306" r:id="rId3"/>
    <p:sldId id="320" r:id="rId4"/>
    <p:sldId id="297" r:id="rId5"/>
    <p:sldId id="311" r:id="rId6"/>
    <p:sldId id="300" r:id="rId7"/>
    <p:sldId id="319" r:id="rId8"/>
    <p:sldId id="299" r:id="rId9"/>
    <p:sldId id="302" r:id="rId10"/>
    <p:sldId id="307" r:id="rId11"/>
    <p:sldId id="309" r:id="rId12"/>
    <p:sldId id="301" r:id="rId13"/>
    <p:sldId id="310" r:id="rId14"/>
    <p:sldId id="313" r:id="rId15"/>
    <p:sldId id="321" r:id="rId16"/>
    <p:sldId id="314" r:id="rId17"/>
    <p:sldId id="317" r:id="rId18"/>
    <p:sldId id="316" r:id="rId19"/>
    <p:sldId id="305" r:id="rId20"/>
    <p:sldId id="322" r:id="rId21"/>
    <p:sldId id="323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85" y="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43418-7762-49AD-9643-A44F191609B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D5BA0-70FA-46AC-95B8-962878DB73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5B444-1AB3-4008-89F4-D116109AD3CC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ourse163.org/course/HUST-1205809816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18.jpe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18.jpe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561522"/>
            <a:ext cx="12192000" cy="3422750"/>
          </a:xfrm>
          <a:prstGeom prst="rect">
            <a:avLst/>
          </a:prstGeom>
          <a:solidFill>
            <a:srgbClr val="1D77C9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 w="18000">
                  <a:solidFill>
                    <a:srgbClr val="C0504D">
                      <a:satMod val="140000"/>
                    </a:srgb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1" i="0" u="none" strike="noStrike" kern="0" cap="none" spc="0" normalizeH="0" baseline="0" noProof="0" dirty="0">
              <a:ln w="18000">
                <a:solidFill>
                  <a:srgbClr val="C0504D">
                    <a:satMod val="140000"/>
                  </a:srgb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31068" y="3080015"/>
            <a:ext cx="11529863" cy="1282578"/>
          </a:xfrm>
        </p:spPr>
        <p:txBody>
          <a:bodyPr>
            <a:noAutofit/>
          </a:bodyPr>
          <a:lstStyle/>
          <a:p>
            <a:r>
              <a:rPr lang="en-US" altLang="zh-CN" sz="6600" b="1" dirty="0"/>
              <a:t>Single cycle MIPS CPU 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sz="4800" dirty="0"/>
              <a:t>(24 instructions </a:t>
            </a:r>
            <a:r>
              <a:rPr lang="zh-CN" altLang="en-US" sz="4800" dirty="0"/>
              <a:t>，</a:t>
            </a:r>
            <a:r>
              <a:rPr lang="en-US" altLang="zh-CN" sz="4800" dirty="0"/>
              <a:t>Hardwired  Controller)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597" y="3383138"/>
            <a:ext cx="2568460" cy="332486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74062" y="0"/>
            <a:ext cx="3595331" cy="977401"/>
          </a:xfrm>
        </p:spPr>
        <p:txBody>
          <a:bodyPr/>
          <a:lstStyle/>
          <a:p>
            <a:r>
              <a:rPr lang="zh-CN" altLang="en-US" b="1" dirty="0">
                <a:latin typeface="隶书" panose="02010509060101010101" charset="-122"/>
                <a:ea typeface="隶书" panose="02010509060101010101" charset="-122"/>
              </a:rPr>
              <a:t>设计内容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43327" y="3059668"/>
            <a:ext cx="3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cpu24.circ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883018" y="4438626"/>
            <a:ext cx="1804060" cy="713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254801" y="2419374"/>
            <a:ext cx="3929780" cy="4351338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内容占位符 2"/>
          <p:cNvSpPr txBox="1"/>
          <p:nvPr/>
        </p:nvSpPr>
        <p:spPr>
          <a:xfrm>
            <a:off x="297035" y="1421595"/>
            <a:ext cx="4813343" cy="5411483"/>
          </a:xfrm>
          <a:prstGeom prst="rect">
            <a:avLst/>
          </a:prstGeom>
          <a:solidFill>
            <a:schemeClr val="bg2"/>
          </a:solidFill>
          <a:effectLst>
            <a:outerShdw blurRad="546100" dist="50800" dir="5400000" algn="ctr" rotWithShape="0">
              <a:srgbClr val="000000">
                <a:alpha val="43137"/>
              </a:srgbClr>
            </a:outerShdw>
          </a:effectLst>
        </p:spPr>
        <p:txBody>
          <a:bodyPr vert="horz" lIns="91440" tIns="45720" rIns="91440" bIns="45720" numCol="1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320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MOOC</a:t>
            </a:r>
            <a:r>
              <a:rPr lang="zh-CN" altLang="en-US" sz="320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3400">
                <a:solidFill>
                  <a:srgbClr val="333333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Computer Hardware System Design</a:t>
            </a:r>
            <a:r>
              <a:rPr lang="zh-CN" altLang="en-US" sz="320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3200">
              <a:solidFill>
                <a:prstClr val="black"/>
              </a:solidFill>
              <a:effectLst>
                <a:outerShdw blurRad="838200" dist="50800" dir="5400000" algn="ctr" rotWithShape="0">
                  <a:srgbClr val="4472C4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700" b="1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6.1 Single cycle MIPS architecture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70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6.2 Multi cycle MIPS architecture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700" b="1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6.3 Single cycle MIPS CPU design (8 instructions)</a:t>
            </a:r>
            <a:r>
              <a:rPr lang="zh-CN" altLang="en-US" sz="2700" b="1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700" b="1">
              <a:solidFill>
                <a:schemeClr val="accent5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70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70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70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70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6.4 Multi cycle MIPS CPU (Microprogram Controller) Design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70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70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70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900" b="1">
                <a:solidFill>
                  <a:srgbClr val="4472C4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6.6 </a:t>
            </a:r>
            <a:r>
              <a:rPr lang="en-US" altLang="zh-CN" b="1">
                <a:solidFill>
                  <a:srgbClr val="4472C4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Single cycle MIPS CPU design (24 instructions)</a:t>
            </a:r>
            <a:endParaRPr lang="en-US" altLang="zh-CN" sz="2700"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900">
                <a:solidFill>
                  <a:schemeClr val="accent5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    https://www.icourse163.org/course/HUST-1205809816</a:t>
            </a:r>
            <a:endParaRPr lang="en-US" altLang="zh-CN" sz="3200">
              <a:solidFill>
                <a:schemeClr val="accent5"/>
              </a:solidFill>
              <a:effectLst>
                <a:outerShdw blurRad="838200" dist="50800" dir="5400000" algn="ctr" rotWithShape="0">
                  <a:srgbClr val="4472C4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380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380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380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700" dirty="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93111" y="1161776"/>
            <a:ext cx="6155670" cy="1947071"/>
          </a:xfrm>
          <a:prstGeom prst="rect">
            <a:avLst/>
          </a:prstGeom>
          <a:solidFill>
            <a:schemeClr val="bg2"/>
          </a:solidFill>
          <a:effectLst>
            <a:outerShdw blurRad="546100" dist="50800" dir="5400000" algn="ctr" rotWithShape="0">
              <a:schemeClr val="accent5"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algn="l" rtl="0"/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Circuit design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Sports watch</a:t>
            </a:r>
          </a:p>
          <a:p>
            <a:pPr marL="342900" indent="-342900">
              <a:lnSpc>
                <a:spcPct val="150000"/>
              </a:lnSpc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Single cycle MIPS CPU (8+3 instructions)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Multi cycle MIPS CPU (Microprogram Controller, 8 instructions)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Multi cycle MIPS CPU (Hardwired Controller, 8 instructions)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AutoNum type="arabicParenBoth"/>
              <a:defRPr/>
            </a:pPr>
            <a:r>
              <a:rPr lang="en-US" altLang="zh-CN" sz="1400" b="1" dirty="0">
                <a:solidFill>
                  <a:srgbClr val="0070C0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Single cycle MIPS CPU (24 instructions)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764" y="1551710"/>
            <a:ext cx="10633364" cy="436663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CN" dirty="0"/>
              <a:t>Master the basic principles of designing a single cycle hardwired MIPS CPU (24 instructions);</a:t>
            </a:r>
          </a:p>
          <a:p>
            <a:pPr>
              <a:lnSpc>
                <a:spcPct val="170000"/>
              </a:lnSpc>
            </a:pPr>
            <a:r>
              <a:rPr lang="en-US" altLang="zh-CN" dirty="0"/>
              <a:t>Design a single cycle hardwired MIPS CPU with 24 instructions (including a single cycle MIPS path diagram, hardwired controller)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Verificate</a:t>
            </a:r>
            <a:r>
              <a:rPr lang="en-US" altLang="zh-CN" dirty="0"/>
              <a:t> on TOUGE platform</a:t>
            </a:r>
            <a:r>
              <a:rPr lang="zh-CN" altLang="en-US" dirty="0"/>
              <a:t>；</a:t>
            </a:r>
            <a:endParaRPr lang="en-US" altLang="zh-CN" dirty="0"/>
          </a:p>
          <a:p>
            <a:pPr>
              <a:lnSpc>
                <a:spcPct val="170000"/>
              </a:lnSpc>
            </a:pPr>
            <a:r>
              <a:rPr lang="en-US" altLang="zh-CN" sz="2600" dirty="0"/>
              <a:t>Test and run </a:t>
            </a:r>
            <a:r>
              <a:rPr lang="en-US" altLang="zh-CN" sz="2600" dirty="0" err="1"/>
              <a:t>benchmark.hex</a:t>
            </a:r>
            <a:r>
              <a:rPr lang="en-US" altLang="zh-CN" sz="2600" dirty="0"/>
              <a:t> on the CPU</a:t>
            </a:r>
            <a:r>
              <a:rPr lang="zh-CN" altLang="en-US" sz="2600" dirty="0"/>
              <a:t>；</a:t>
            </a:r>
            <a:endParaRPr lang="en-US" altLang="zh-CN" sz="2600" dirty="0"/>
          </a:p>
          <a:p>
            <a:pPr>
              <a:lnSpc>
                <a:spcPct val="170000"/>
              </a:lnSpc>
            </a:pPr>
            <a:r>
              <a:rPr lang="en-US" altLang="zh-CN" sz="2600" dirty="0">
                <a:solidFill>
                  <a:srgbClr val="5B9BD5"/>
                </a:solidFill>
              </a:rPr>
              <a:t>Option: </a:t>
            </a:r>
            <a:r>
              <a:rPr lang="en-US" altLang="zh-CN" sz="2600" dirty="0">
                <a:solidFill>
                  <a:schemeClr val="accent1"/>
                </a:solidFill>
              </a:rPr>
              <a:t>each person will perform different CCMB instructions and test them using the test program provided in "</a:t>
            </a:r>
            <a:r>
              <a:rPr lang="zh-CN" altLang="en-US" sz="2600" dirty="0">
                <a:solidFill>
                  <a:schemeClr val="accent1"/>
                </a:solidFill>
              </a:rPr>
              <a:t>汇编工具及测试用例</a:t>
            </a:r>
            <a:r>
              <a:rPr lang="en-US" altLang="zh-CN" sz="2600" dirty="0">
                <a:solidFill>
                  <a:schemeClr val="accent1"/>
                </a:solidFill>
              </a:rPr>
              <a:t>4.32.zip"</a:t>
            </a:r>
            <a:r>
              <a:rPr lang="zh-CN" altLang="en-US" sz="2600" dirty="0">
                <a:solidFill>
                  <a:schemeClr val="accent1"/>
                </a:solidFill>
              </a:rPr>
              <a:t>。</a:t>
            </a:r>
            <a:endParaRPr lang="en-US" altLang="zh-CN" sz="2600" dirty="0">
              <a:solidFill>
                <a:schemeClr val="accent1"/>
              </a:solidFill>
            </a:endParaRPr>
          </a:p>
          <a:p>
            <a:pPr>
              <a:lnSpc>
                <a:spcPct val="170000"/>
              </a:lnSpc>
            </a:pPr>
            <a:r>
              <a:rPr lang="en-US" altLang="zh-CN" sz="2600" dirty="0">
                <a:solidFill>
                  <a:schemeClr val="accent1"/>
                </a:solidFill>
              </a:rPr>
              <a:t>Option:Ideal pipeline CPU</a:t>
            </a:r>
          </a:p>
          <a:p>
            <a:pPr>
              <a:lnSpc>
                <a:spcPct val="170000"/>
              </a:lnSpc>
            </a:pPr>
            <a:r>
              <a:rPr lang="en-US" altLang="zh-CN" sz="2600" dirty="0" err="1">
                <a:solidFill>
                  <a:schemeClr val="accent1"/>
                </a:solidFill>
              </a:rPr>
              <a:t>Option:Bubble</a:t>
            </a:r>
            <a:r>
              <a:rPr lang="en-US" altLang="zh-CN" sz="2600" dirty="0">
                <a:solidFill>
                  <a:schemeClr val="accent1"/>
                </a:solidFill>
              </a:rPr>
              <a:t> pipeline CPU</a:t>
            </a:r>
          </a:p>
          <a:p>
            <a:pPr lvl="0">
              <a:lnSpc>
                <a:spcPct val="170000"/>
              </a:lnSpc>
            </a:pPr>
            <a:endParaRPr lang="en-US" altLang="zh-CN" sz="2600" dirty="0"/>
          </a:p>
          <a:p>
            <a:pPr lvl="0">
              <a:lnSpc>
                <a:spcPct val="170000"/>
              </a:lnSpc>
            </a:pP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544034" y="263742"/>
            <a:ext cx="72170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Single cycle 24 instruction hard wired MIPS CPU design task: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7666"/>
            <a:ext cx="8873067" cy="5890334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873067" y="967666"/>
          <a:ext cx="3109438" cy="58004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18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序号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756" marR="7756" marT="77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指令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756" marR="7756" marT="77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OpCode</a:t>
                      </a:r>
                      <a:br>
                        <a:rPr lang="en-US" sz="1200" u="none" strike="noStrike">
                          <a:effectLst/>
                        </a:rPr>
                      </a:br>
                      <a:r>
                        <a:rPr lang="en-US" sz="1200" u="none" strike="noStrike">
                          <a:effectLst/>
                        </a:rPr>
                        <a:t>(</a:t>
                      </a:r>
                      <a:r>
                        <a:rPr lang="zh-CN" altLang="en-US" sz="1200" u="none" strike="noStrike">
                          <a:effectLst/>
                        </a:rPr>
                        <a:t>十进制</a:t>
                      </a:r>
                      <a:r>
                        <a:rPr lang="en-US" altLang="zh-CN" sz="1200" u="none" strike="noStrike">
                          <a:effectLst/>
                        </a:rPr>
                        <a:t>)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FUNCT</a:t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r>
                        <a:rPr lang="en-US" sz="1200" u="none" strike="noStrike" dirty="0">
                          <a:effectLst/>
                        </a:rPr>
                        <a:t>(</a:t>
                      </a:r>
                      <a:r>
                        <a:rPr lang="zh-CN" altLang="en-US" sz="1200" u="none" strike="noStrike" dirty="0">
                          <a:effectLst/>
                        </a:rPr>
                        <a:t>十进制</a:t>
                      </a:r>
                      <a:r>
                        <a:rPr lang="en-US" altLang="zh-CN" sz="1200" u="none" strike="noStrike" dirty="0">
                          <a:effectLst/>
                        </a:rPr>
                        <a:t>)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SLL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SRA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SRL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effectLst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ADD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32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ADDU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33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SUB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effectLst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34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36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37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39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SLT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42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SLTU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43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JR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SYSCALL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12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J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JAL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BEQ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BNE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ADDI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ANDI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12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20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ADDIU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9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21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SLTI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10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22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ORI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23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35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24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>
                          <a:effectLst/>
                        </a:rPr>
                        <a:t>43</a:t>
                      </a:r>
                      <a:endParaRPr lang="en-US" altLang="zh-CN" sz="1200" b="0" i="0" u="none" strike="noStrike">
                        <a:solidFill>
                          <a:srgbClr val="0000FF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58737" y="-125529"/>
            <a:ext cx="10515600" cy="1325563"/>
          </a:xfrm>
        </p:spPr>
        <p:txBody>
          <a:bodyPr/>
          <a:lstStyle/>
          <a:p>
            <a:r>
              <a:rPr lang="en-US" altLang="zh-CN" b="1" dirty="0"/>
              <a:t>ALU_OP control signal</a:t>
            </a:r>
            <a:endParaRPr lang="zh-CN" altLang="en-US" b="1" dirty="0"/>
          </a:p>
        </p:txBody>
      </p:sp>
      <p:pic>
        <p:nvPicPr>
          <p:cNvPr id="7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970825"/>
            <a:ext cx="7470321" cy="58871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536" y="1025899"/>
            <a:ext cx="1494769" cy="2256243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473462" y="3914411"/>
          <a:ext cx="1143000" cy="273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8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SLL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SRA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SRL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ADD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ADDU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SUB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SLT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SLTU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656639" y="3534121"/>
            <a:ext cx="873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</a:t>
            </a:r>
            <a:r>
              <a:rPr lang="zh-CN" altLang="en-US" sz="1600" b="1" dirty="0"/>
              <a:t>运算</a:t>
            </a:r>
            <a:r>
              <a:rPr lang="en-US" sz="1600" b="1" dirty="0"/>
              <a:t>: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774516" y="4032909"/>
          <a:ext cx="780173" cy="1130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0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ADDI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ANDI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ADDIU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SLTI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1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ORI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774516" y="3694355"/>
            <a:ext cx="873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Baskerville Old Face" panose="02020602080505020303" pitchFamily="18" charset="0"/>
              </a:rPr>
              <a:t>I</a:t>
            </a:r>
            <a:r>
              <a:rPr lang="zh-CN" altLang="en-US" sz="1600" b="1" dirty="0"/>
              <a:t>运算</a:t>
            </a:r>
            <a:r>
              <a:rPr lang="en-US" sz="1600" b="1" dirty="0"/>
              <a:t>: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17650" y="2059300"/>
            <a:ext cx="1065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X&lt;&lt;</a:t>
            </a:r>
            <a:r>
              <a:rPr lang="en-US" altLang="zh-CN" sz="1400" dirty="0" err="1"/>
              <a:t>shamt</a:t>
            </a:r>
            <a:endParaRPr lang="zh-CN" altLang="en-US" sz="1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964697" y="2403334"/>
            <a:ext cx="1065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X&gt;&gt;</a:t>
            </a:r>
            <a:r>
              <a:rPr lang="en-US" altLang="zh-CN" sz="1400" dirty="0" err="1"/>
              <a:t>shamt</a:t>
            </a:r>
            <a:endParaRPr lang="zh-CN" altLang="en-US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964697" y="2750740"/>
            <a:ext cx="1065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X&gt;&gt;</a:t>
            </a:r>
            <a:r>
              <a:rPr lang="en-US" altLang="zh-CN" sz="1400" dirty="0" err="1"/>
              <a:t>shamt</a:t>
            </a:r>
            <a:endParaRPr lang="zh-CN" altLang="en-US" sz="1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8615256" y="3730214"/>
            <a:ext cx="11592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</a:t>
            </a:r>
            <a:r>
              <a:rPr lang="zh-CN" altLang="en-US" sz="1400" dirty="0"/>
              <a:t>型指令运算扩充只要修改</a:t>
            </a:r>
            <a:r>
              <a:rPr lang="en-US" altLang="zh-CN" sz="1400" dirty="0"/>
              <a:t>ALUOP</a:t>
            </a:r>
            <a:r>
              <a:rPr lang="zh-CN" altLang="en-US" sz="1400" dirty="0"/>
              <a:t>字段即可，但是在</a:t>
            </a:r>
            <a:r>
              <a:rPr lang="en-US" altLang="zh-CN" sz="1400" dirty="0"/>
              <a:t>CCMB</a:t>
            </a:r>
            <a:r>
              <a:rPr lang="zh-CN" altLang="en-US" sz="1400" dirty="0"/>
              <a:t>中的乘除法运算需要设置</a:t>
            </a:r>
            <a:r>
              <a:rPr lang="en-US" altLang="zh-CN" sz="1400" dirty="0"/>
              <a:t>hi</a:t>
            </a:r>
            <a:r>
              <a:rPr lang="zh-CN" altLang="en-US" sz="1400" dirty="0"/>
              <a:t>、</a:t>
            </a:r>
            <a:r>
              <a:rPr lang="en-US" altLang="zh-CN" sz="1400" dirty="0"/>
              <a:t>lo</a:t>
            </a:r>
            <a:r>
              <a:rPr lang="zh-CN" altLang="en-US" sz="1400" dirty="0"/>
              <a:t>寄存器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639728" y="3694355"/>
            <a:ext cx="11592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I</a:t>
            </a:r>
            <a:r>
              <a:rPr lang="zh-CN" altLang="en-US" sz="14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型指令</a:t>
            </a:r>
            <a:r>
              <a:rPr lang="zh-CN" altLang="en-US" sz="1400" dirty="0"/>
              <a:t>逻辑运算扩充需要增加</a:t>
            </a:r>
            <a:r>
              <a:rPr lang="en-US" altLang="zh-CN" sz="1400" dirty="0"/>
              <a:t>0</a:t>
            </a:r>
            <a:r>
              <a:rPr lang="zh-CN" altLang="en-US" sz="1400" dirty="0"/>
              <a:t>扩展部件，控制器也需要增加</a:t>
            </a:r>
            <a:r>
              <a:rPr lang="en-US" altLang="zh-CN" sz="1400" dirty="0"/>
              <a:t>SignedExt</a:t>
            </a:r>
          </a:p>
          <a:p>
            <a:r>
              <a:rPr lang="zh-CN" altLang="en-US" sz="1400" dirty="0"/>
              <a:t>控制信号，指示</a:t>
            </a:r>
            <a:r>
              <a:rPr lang="en-US" altLang="zh-CN" sz="1400" dirty="0"/>
              <a:t>imm16</a:t>
            </a:r>
            <a:r>
              <a:rPr lang="zh-CN" altLang="en-US" sz="1400" dirty="0"/>
              <a:t>的扩展方式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689" y="229660"/>
            <a:ext cx="6160911" cy="704692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>
                <a:solidFill>
                  <a:schemeClr val="accent5"/>
                </a:solidFill>
              </a:rPr>
              <a:t>Summary of other control signals</a:t>
            </a:r>
            <a:endParaRPr lang="zh-CN" altLang="en-US" sz="3600" b="1" dirty="0">
              <a:solidFill>
                <a:schemeClr val="accent5"/>
              </a:solidFill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666044" y="1151467"/>
          <a:ext cx="9722556" cy="46367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6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2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#</a:t>
                      </a:r>
                      <a:endParaRPr lang="en-US" altLang="zh-CN" sz="1200" b="1" i="0" u="none" strike="noStrike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u="none" strike="noStrike">
                          <a:effectLst/>
                        </a:rPr>
                        <a:t>控制信号</a:t>
                      </a:r>
                      <a:endParaRPr lang="zh-CN" altLang="en-US" sz="1200" b="1" i="0" u="none" strike="noStrike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u="none" strike="noStrike">
                          <a:effectLst/>
                        </a:rPr>
                        <a:t>信号说明</a:t>
                      </a:r>
                      <a:endParaRPr lang="zh-CN" altLang="en-US" sz="1200" b="1" i="0" u="none" strike="noStrike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u="none" strike="noStrike">
                          <a:effectLst/>
                        </a:rPr>
                        <a:t>产生条件（信号为</a:t>
                      </a:r>
                      <a:r>
                        <a:rPr lang="en-US" altLang="zh-CN" sz="1200" u="none" strike="noStrike">
                          <a:effectLst/>
                        </a:rPr>
                        <a:t>1</a:t>
                      </a:r>
                      <a:r>
                        <a:rPr lang="zh-CN" altLang="en-US" sz="1200" u="none" strike="noStrike">
                          <a:effectLst/>
                        </a:rPr>
                        <a:t>）</a:t>
                      </a:r>
                      <a:endParaRPr lang="zh-CN" altLang="en-US" sz="1200" b="1" i="0" u="none" strike="noStrike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>
                          <a:effectLst/>
                        </a:rPr>
                        <a:t>RegWrite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Register write enable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u="none" strike="noStrike" dirty="0">
                          <a:effectLst/>
                        </a:rPr>
                        <a:t> </a:t>
                      </a:r>
                      <a:r>
                        <a:rPr lang="en-US" altLang="zh-CN" sz="1200" u="none" strike="noStrike" dirty="0">
                          <a:effectLst/>
                        </a:rPr>
                        <a:t>WB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</a:rPr>
                        <a:t>MemWrite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memory write enable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u="none" strike="noStrike" dirty="0">
                          <a:effectLst/>
                        </a:rPr>
                        <a:t> </a:t>
                      </a:r>
                      <a:r>
                        <a:rPr lang="en-US" altLang="zh-CN" sz="1200" u="none" strike="noStrike" dirty="0" err="1">
                          <a:effectLst/>
                        </a:rPr>
                        <a:t>sw</a:t>
                      </a:r>
                      <a:r>
                        <a:rPr lang="en-US" altLang="zh-CN" sz="1200" u="none" strike="noStrike" dirty="0">
                          <a:effectLst/>
                        </a:rPr>
                        <a:t>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 err="1">
                          <a:effectLst/>
                        </a:rPr>
                        <a:t>AluOP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>
                          <a:effectLst/>
                        </a:rPr>
                        <a:t>ALU function</a:t>
                      </a:r>
                      <a:r>
                        <a:rPr lang="zh-CN" altLang="en-US" sz="1200" u="none" strike="noStrike" dirty="0">
                          <a:effectLst/>
                        </a:rPr>
                        <a:t>（</a:t>
                      </a:r>
                      <a:r>
                        <a:rPr lang="en-US" altLang="zh-CN" sz="1200" u="none" strike="noStrike" dirty="0">
                          <a:effectLst/>
                        </a:rPr>
                        <a:t>4bit</a:t>
                      </a:r>
                      <a:r>
                        <a:rPr lang="zh-CN" altLang="en-US" sz="1200" u="none" strike="noStrike" dirty="0">
                          <a:effectLst/>
                        </a:rPr>
                        <a:t>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u="none" strike="noStrike" dirty="0">
                          <a:effectLst/>
                        </a:rPr>
                        <a:t> </a:t>
                      </a:r>
                      <a:r>
                        <a:rPr lang="en-US" altLang="zh-CN" sz="1200" u="none" strike="noStrike" dirty="0">
                          <a:effectLst/>
                        </a:rPr>
                        <a:t>Rtype,Itype Arithmetic and  shift instruction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>
                          <a:effectLst/>
                        </a:rPr>
                        <a:t>MemToReg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>
                          <a:effectLst/>
                        </a:rPr>
                        <a:t>Register write data from memory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lw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 err="1">
                          <a:effectLst/>
                        </a:rPr>
                        <a:t>RegDst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>
                          <a:effectLst/>
                        </a:rPr>
                        <a:t>Write register w# from rt or </a:t>
                      </a:r>
                      <a:r>
                        <a:rPr lang="en-US" altLang="zh-CN" sz="1200" u="none" strike="noStrike" dirty="0" err="1">
                          <a:effectLst/>
                        </a:rPr>
                        <a:t>rd</a:t>
                      </a:r>
                      <a:r>
                        <a:rPr lang="en-US" altLang="zh-CN" sz="1200" u="none" strike="noStrike" dirty="0">
                          <a:effectLst/>
                        </a:rPr>
                        <a:t>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>
                          <a:effectLst/>
                        </a:rPr>
                        <a:t> R</a:t>
                      </a:r>
                      <a:r>
                        <a:rPr lang="zh-CN" altLang="en-US" sz="1200" u="none" strike="noStrike">
                          <a:effectLst/>
                        </a:rPr>
                        <a:t>型指令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 err="1">
                          <a:effectLst/>
                        </a:rPr>
                        <a:t>AluSrcB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>
                          <a:effectLst/>
                        </a:rPr>
                        <a:t>ALU B input selection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u="none" strike="noStrike" dirty="0">
                          <a:effectLst/>
                        </a:rPr>
                        <a:t> </a:t>
                      </a:r>
                      <a:r>
                        <a:rPr lang="en-US" altLang="zh-CN" sz="1200" u="none" strike="noStrike" dirty="0" err="1">
                          <a:effectLst/>
                        </a:rPr>
                        <a:t>lw</a:t>
                      </a:r>
                      <a:r>
                        <a:rPr lang="zh-CN" altLang="en-US" sz="1200" u="none" strike="noStrike" dirty="0">
                          <a:effectLst/>
                        </a:rPr>
                        <a:t>，</a:t>
                      </a:r>
                      <a:r>
                        <a:rPr lang="en-US" altLang="zh-CN" sz="1200" u="none" strike="noStrike" dirty="0" err="1">
                          <a:effectLst/>
                        </a:rPr>
                        <a:t>sw</a:t>
                      </a:r>
                      <a:r>
                        <a:rPr lang="zh-CN" altLang="en-US" sz="1200" u="none" strike="noStrike" dirty="0">
                          <a:effectLst/>
                        </a:rPr>
                        <a:t>，</a:t>
                      </a:r>
                      <a:r>
                        <a:rPr lang="en-US" altLang="zh-CN" sz="1200" u="none" strike="noStrike" dirty="0">
                          <a:effectLst/>
                        </a:rPr>
                        <a:t>Itype Arithmetic instruction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</a:rPr>
                        <a:t>SignedExt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>
                          <a:effectLst/>
                        </a:rPr>
                        <a:t>sign extension  16-32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</a:rPr>
                        <a:t> ADDI、ADDIU、SLTI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</a:rPr>
                        <a:t>JR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>
                          <a:effectLst/>
                        </a:rPr>
                        <a:t>RS</a:t>
                      </a:r>
                      <a:r>
                        <a:rPr lang="en-US" altLang="zh-C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→PC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</a:rPr>
                        <a:t> JR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</a:rPr>
                        <a:t>JAL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>
                          <a:effectLst/>
                        </a:rPr>
                        <a:t>PC+4</a:t>
                      </a:r>
                      <a:r>
                        <a:rPr lang="en-US" altLang="zh-C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→$31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u="none" strike="noStrike" dirty="0">
                          <a:effectLst/>
                        </a:rPr>
                        <a:t> </a:t>
                      </a:r>
                      <a:r>
                        <a:rPr lang="en-US" altLang="zh-CN" sz="1200" u="none" strike="noStrike" dirty="0">
                          <a:effectLst/>
                        </a:rPr>
                        <a:t>JAL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10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</a:rPr>
                        <a:t>JMP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>
                          <a:effectLst/>
                        </a:rPr>
                        <a:t>J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u="none" strike="noStrike" dirty="0">
                          <a:effectLst/>
                        </a:rPr>
                        <a:t> </a:t>
                      </a:r>
                      <a:r>
                        <a:rPr lang="en-US" altLang="zh-CN" sz="1200" u="none" strike="noStrike" dirty="0">
                          <a:effectLst/>
                        </a:rPr>
                        <a:t>J</a:t>
                      </a:r>
                      <a:r>
                        <a:rPr lang="zh-CN" altLang="en-US" sz="1200" u="none" strike="noStrike" dirty="0">
                          <a:effectLst/>
                        </a:rPr>
                        <a:t>、</a:t>
                      </a:r>
                      <a:r>
                        <a:rPr lang="en-US" altLang="zh-CN" sz="1200" u="none" strike="noStrike" dirty="0">
                          <a:effectLst/>
                        </a:rPr>
                        <a:t>JAL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11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 err="1">
                          <a:effectLst/>
                        </a:rPr>
                        <a:t>Beq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 err="1">
                          <a:effectLst/>
                        </a:rPr>
                        <a:t>Beq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u="none" strike="noStrike" dirty="0">
                          <a:effectLst/>
                        </a:rPr>
                        <a:t> </a:t>
                      </a:r>
                      <a:r>
                        <a:rPr lang="en-US" altLang="zh-CN" sz="1200" u="none" strike="noStrike" dirty="0" err="1">
                          <a:effectLst/>
                        </a:rPr>
                        <a:t>Beq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12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 err="1">
                          <a:effectLst/>
                        </a:rPr>
                        <a:t>Bne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 err="1">
                          <a:effectLst/>
                        </a:rPr>
                        <a:t>Bne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u="none" strike="noStrike" dirty="0">
                          <a:effectLst/>
                        </a:rPr>
                        <a:t> </a:t>
                      </a:r>
                      <a:r>
                        <a:rPr lang="en-US" altLang="zh-CN" sz="1200" u="none" strike="noStrike" dirty="0" err="1">
                          <a:effectLst/>
                        </a:rPr>
                        <a:t>Bne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1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u="none" strike="noStrike"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 err="1">
                          <a:effectLst/>
                        </a:rPr>
                        <a:t>Syscall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 err="1">
                          <a:effectLst/>
                        </a:rPr>
                        <a:t>Syscall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u="none" strike="noStrike" dirty="0">
                          <a:effectLst/>
                        </a:rPr>
                        <a:t>stop or output based on the value of the $2 register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0615" y="1029721"/>
          <a:ext cx="10939849" cy="5703600"/>
        </p:xfrm>
        <a:graphic>
          <a:graphicData uri="http://schemas.openxmlformats.org/drawingml/2006/table">
            <a:tbl>
              <a:tblPr/>
              <a:tblGrid>
                <a:gridCol w="480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2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8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44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421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order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46" marR="6746" marT="67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46" marR="6746" marT="67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OpCode</a:t>
                      </a:r>
                    </a:p>
                  </a:txBody>
                  <a:tcPr marL="6746" marR="6746" marT="67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FUNCT</a:t>
                      </a:r>
                    </a:p>
                  </a:txBody>
                  <a:tcPr marL="6746" marR="6746" marT="67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FUNCTION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 control signal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21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十进制</a:t>
                      </a: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746" marR="6746" marT="67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十进制</a:t>
                      </a: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746" marR="6746" marT="67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SLL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R[rd] = R[rt] &lt;&lt; shamt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ALU_OP=0000,RegWrite,RegDst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SRA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R[rd] = R[rt] &gt;&gt; shamt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ALU_OP=0001,RegWrite,RegDst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SRL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R[rd] = R[rt] &gt;&gt; shamt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ALU_OP=0010,RegWrite,RegDst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+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ALU_OP=0101,RegWrite,RegDst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ADDU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+ R[rt]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ALU_OP=0101,RegWrite,RegDst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SUB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-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ALU_OP=0110,RegWrite,RegDst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AND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R[rd] = R[rs] &amp; R[rt]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ALU_OP=0111,RegWrite,RegDst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37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|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ALU_OP=1000,RegWrite,RegDst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39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~ (R[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|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])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ALU_OP=1010,RegWrite,RegDst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SLT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42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R[rd] = (R[rs] &lt; R[rt]) ? 1 : 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ALU_OP=1011,RegWrite,RegDst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SLTU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R[rd] = (R[rs] &lt; R[rt]) ? 1 : 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ALU_OP=1100,RegWrite,RegDst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903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JR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PC=R[rs]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3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SYSCALL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if $v0==34 then 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$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 else 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pause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，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waiting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 continue;$2,$4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SYSCALL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102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J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 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PC31..28 ||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instr_index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|| 00    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（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JUMP ADDR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）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JMP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J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330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JAL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$31=PC+4,PC=PC31..28 ||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instr_index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|| 00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JAL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，</a:t>
                      </a:r>
                      <a:r>
                        <a:rPr lang="en-US" altLang="zh-CN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JMP,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RegWrite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J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BEQ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if(R[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]==R[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])   PC=PC+4+imm16&lt;&lt;2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BEQ,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SignedExt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BNE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if(R[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]!=R[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])   PC=PC+4+imm16&lt;&lt;2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BNE,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SignedExt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+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SignExtImm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ALU_OP=5,SignedExt,RegWrite,ALU_SRC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ANDI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&amp;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ZeroExtImm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ALU_OP,RegWrite,ALU_SRC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ADDIU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+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SignExtImm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ALU_OP,SignedExt,RegWrite,ALU_SRC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SLTI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R[rt] = (R[rs] &lt; SignExtImm)? 1 : 0 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ALU_OP,SignedExt,RegWrite,ALU_SRC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ORI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|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ZeroExtImm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ALU_OP,RegWrite,ALU_SRC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LW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35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M[R[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]+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SignExtImm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ALU_OP,SignedExt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，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ALU_SRC,RegWrite,MemtoReg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242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SW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M[R[rs]+SignExtImm] = R[rt]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ALU_OP,SignedExt,ALU_SRC,</a:t>
                      </a:r>
                      <a:r>
                        <a:rPr lang="en-US" altLang="zh-CN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MemWrite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6746" marR="6746" marT="67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646" y="2364259"/>
            <a:ext cx="868755" cy="441784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645" y="744859"/>
            <a:ext cx="868755" cy="14793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68423" y="228159"/>
            <a:ext cx="4128911" cy="628297"/>
          </a:xfrm>
        </p:spPr>
        <p:txBody>
          <a:bodyPr>
            <a:normAutofit fontScale="90000"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Using Universal Tables</a:t>
            </a:r>
            <a:endParaRPr lang="zh-CN" altLang="en-US" sz="3600" b="1" dirty="0">
              <a:solidFill>
                <a:schemeClr val="accent5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96" y="1069798"/>
            <a:ext cx="11594747" cy="56396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244" y="1110193"/>
            <a:ext cx="10515600" cy="696030"/>
          </a:xfrm>
        </p:spPr>
        <p:txBody>
          <a:bodyPr>
            <a:normAutofit fontScale="90000"/>
          </a:bodyPr>
          <a:lstStyle/>
          <a:p>
            <a:r>
              <a:rPr lang="en-US" altLang="zh-CN" sz="2800" b="1" dirty="0">
                <a:solidFill>
                  <a:schemeClr val="accent5"/>
                </a:solidFill>
              </a:rPr>
              <a:t>The hardwired controller consists of two sub circuits: an ALU controller and other control signal generation circuits</a:t>
            </a:r>
            <a:endParaRPr lang="zh-CN" altLang="en-US" sz="28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628" y="1930400"/>
            <a:ext cx="11772490" cy="4927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310" y="2057678"/>
            <a:ext cx="3042885" cy="226642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87753" y="270486"/>
            <a:ext cx="7348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7030A0"/>
                </a:solidFill>
              </a:defRPr>
            </a:lvl1pPr>
          </a:lstStyle>
          <a:p>
            <a:r>
              <a:rPr lang="en-US" altLang="zh-CN" dirty="0"/>
              <a:t>cpu24.circ</a:t>
            </a:r>
            <a:r>
              <a:rPr lang="zh-CN" altLang="en-US" dirty="0"/>
              <a:t> </a:t>
            </a:r>
            <a:r>
              <a:rPr lang="en-US" altLang="zh-CN" dirty="0"/>
              <a:t>Hardwired controller circuit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671222" y="2702011"/>
            <a:ext cx="1400432" cy="29656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" y="1041047"/>
            <a:ext cx="11963623" cy="57502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46271" y="2009775"/>
            <a:ext cx="2644603" cy="24584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168423" y="228159"/>
            <a:ext cx="4128911" cy="628297"/>
          </a:xfrm>
        </p:spPr>
        <p:txBody>
          <a:bodyPr>
            <a:normAutofit fontScale="90000"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Using Universal Tables</a:t>
            </a:r>
            <a:endParaRPr lang="zh-CN" altLang="en-US" sz="36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2265"/>
            <a:ext cx="12125325" cy="604813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27221" y="2095500"/>
            <a:ext cx="2644603" cy="24584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168423" y="228159"/>
            <a:ext cx="4128911" cy="628297"/>
          </a:xfrm>
        </p:spPr>
        <p:txBody>
          <a:bodyPr>
            <a:normAutofit fontScale="90000"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Using Universal Tables</a:t>
            </a:r>
            <a:endParaRPr lang="zh-CN" altLang="en-US" sz="36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987" y="968200"/>
            <a:ext cx="11673324" cy="58898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81555" y="175819"/>
            <a:ext cx="21691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</a:rPr>
              <a:t>Rookie Table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229" y="1084590"/>
            <a:ext cx="953771" cy="3875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590"/>
            <a:ext cx="11238229" cy="568691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008" y="4960090"/>
            <a:ext cx="3659992" cy="15952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86712"/>
            <a:ext cx="11255875" cy="568925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929" y="902046"/>
            <a:ext cx="42017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5"/>
                </a:solidFill>
              </a:rPr>
              <a:t>Extended Eight Instruction Path Graph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847446" y="0"/>
            <a:ext cx="56429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shamt</a:t>
            </a:r>
            <a:r>
              <a:rPr lang="zh-CN" altLang="en-US" sz="1400" dirty="0"/>
              <a:t>的提取连接，运算类</a:t>
            </a:r>
            <a:r>
              <a:rPr lang="en-US" altLang="zh-CN" sz="1400" dirty="0"/>
              <a:t>R</a:t>
            </a:r>
            <a:r>
              <a:rPr lang="zh-CN" altLang="en-US" sz="1400" dirty="0"/>
              <a:t>指令</a:t>
            </a:r>
            <a:endParaRPr lang="en-US" altLang="zh-CN" sz="1400" dirty="0"/>
          </a:p>
          <a:p>
            <a:r>
              <a:rPr lang="en-US" sz="1400" dirty="0"/>
              <a:t>2</a:t>
            </a:r>
            <a:r>
              <a:rPr lang="zh-CN" altLang="en-US" sz="1400" dirty="0"/>
              <a:t>、</a:t>
            </a:r>
            <a:r>
              <a:rPr lang="en-US" altLang="zh-CN" sz="1400" dirty="0"/>
              <a:t>JR</a:t>
            </a:r>
            <a:r>
              <a:rPr lang="zh-CN" altLang="en-US" sz="1400" dirty="0"/>
              <a:t>实现：</a:t>
            </a:r>
            <a:r>
              <a:rPr lang="en-US" altLang="zh-CN" sz="1400" dirty="0"/>
              <a:t>PC=R[RS]</a:t>
            </a:r>
          </a:p>
          <a:p>
            <a:r>
              <a:rPr lang="en-US" sz="1400" dirty="0"/>
              <a:t>3</a:t>
            </a:r>
            <a:r>
              <a:rPr lang="zh-CN" altLang="en-US" sz="1400" dirty="0"/>
              <a:t>、</a:t>
            </a:r>
            <a:r>
              <a:rPr lang="en-US" altLang="zh-CN" sz="1400" dirty="0"/>
              <a:t>J</a:t>
            </a:r>
            <a:r>
              <a:rPr lang="zh-CN" altLang="en-US" sz="1400" dirty="0"/>
              <a:t>实现：</a:t>
            </a:r>
            <a:r>
              <a:rPr lang="en-US" altLang="zh-CN" sz="1400" dirty="0"/>
              <a:t>PC = PC31..28 || </a:t>
            </a:r>
            <a:r>
              <a:rPr lang="en-US" altLang="zh-CN" sz="1400" dirty="0" err="1"/>
              <a:t>instr_index</a:t>
            </a:r>
            <a:r>
              <a:rPr lang="en-US" altLang="zh-CN" sz="1400" dirty="0"/>
              <a:t> || 00</a:t>
            </a:r>
          </a:p>
          <a:p>
            <a:r>
              <a:rPr lang="en-US" sz="1400" dirty="0"/>
              <a:t>4</a:t>
            </a:r>
            <a:r>
              <a:rPr lang="zh-CN" altLang="en-US" sz="1400" dirty="0"/>
              <a:t>、</a:t>
            </a:r>
            <a:r>
              <a:rPr lang="en-US" altLang="zh-CN" sz="1400" dirty="0"/>
              <a:t>JAL</a:t>
            </a:r>
            <a:r>
              <a:rPr lang="zh-CN" altLang="en-US" sz="1400" dirty="0"/>
              <a:t>：</a:t>
            </a:r>
            <a:r>
              <a:rPr lang="en-US" altLang="zh-CN" sz="1400" dirty="0"/>
              <a:t>$31=PC+4,PC=PC31..28 || </a:t>
            </a:r>
            <a:r>
              <a:rPr lang="en-US" altLang="zh-CN" sz="1400" dirty="0" err="1"/>
              <a:t>instr_index</a:t>
            </a:r>
            <a:r>
              <a:rPr lang="en-US" altLang="zh-CN" sz="1400" dirty="0"/>
              <a:t> || 00</a:t>
            </a:r>
          </a:p>
          <a:p>
            <a:r>
              <a:rPr lang="en-US" sz="1400" dirty="0"/>
              <a:t>5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BEQ: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(R[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rs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]==R[rt])   PC=PC+4+IMM16&lt;&lt;</a:t>
            </a:r>
          </a:p>
          <a:p>
            <a:r>
              <a:rPr lang="en-US" sz="1400" dirty="0"/>
              <a:t>6</a:t>
            </a:r>
            <a:r>
              <a:rPr lang="zh-CN" altLang="en-US" sz="1400" dirty="0"/>
              <a:t>、</a:t>
            </a:r>
            <a:r>
              <a:rPr lang="en-US" altLang="zh-CN" sz="1400" dirty="0"/>
              <a:t>ADDI:R[</a:t>
            </a:r>
            <a:r>
              <a:rPr lang="en-US" altLang="zh-CN" sz="1400" dirty="0" err="1"/>
              <a:t>rt</a:t>
            </a:r>
            <a:r>
              <a:rPr lang="en-US" altLang="zh-CN" sz="1400" dirty="0"/>
              <a:t>] = R[</a:t>
            </a:r>
            <a:r>
              <a:rPr lang="en-US" altLang="zh-CN" sz="1400" dirty="0" err="1"/>
              <a:t>rs</a:t>
            </a:r>
            <a:r>
              <a:rPr lang="en-US" altLang="zh-CN" sz="1400" dirty="0"/>
              <a:t>] + </a:t>
            </a:r>
            <a:r>
              <a:rPr lang="en-US" altLang="zh-CN" sz="1400" dirty="0" err="1"/>
              <a:t>SignExtImm</a:t>
            </a:r>
            <a:endParaRPr lang="en-US" altLang="zh-CN" sz="1400" dirty="0"/>
          </a:p>
          <a:p>
            <a:r>
              <a:rPr lang="en-US" sz="1400" dirty="0"/>
              <a:t>7</a:t>
            </a:r>
            <a:r>
              <a:rPr lang="zh-CN" altLang="en-US" sz="1400" dirty="0"/>
              <a:t>、</a:t>
            </a:r>
            <a:r>
              <a:rPr lang="en-US" altLang="zh-CN" sz="1400" dirty="0"/>
              <a:t>ANDI:R[</a:t>
            </a:r>
            <a:r>
              <a:rPr lang="en-US" altLang="zh-CN" sz="1400" dirty="0" err="1"/>
              <a:t>rt</a:t>
            </a:r>
            <a:r>
              <a:rPr lang="en-US" altLang="zh-CN" sz="1400" dirty="0"/>
              <a:t>] = R[</a:t>
            </a:r>
            <a:r>
              <a:rPr lang="en-US" altLang="zh-CN" sz="1400" dirty="0" err="1"/>
              <a:t>rs</a:t>
            </a:r>
            <a:r>
              <a:rPr lang="en-US" altLang="zh-CN" sz="1400" dirty="0"/>
              <a:t>] &amp; </a:t>
            </a:r>
            <a:r>
              <a:rPr lang="en-US" altLang="zh-CN" sz="1400" dirty="0" err="1"/>
              <a:t>ZeroExtImm</a:t>
            </a:r>
            <a:endParaRPr lang="en-US" altLang="zh-CN" sz="1400" dirty="0"/>
          </a:p>
          <a:p>
            <a:r>
              <a:rPr lang="en-US" sz="1400" dirty="0"/>
              <a:t>8</a:t>
            </a:r>
            <a:r>
              <a:rPr lang="zh-CN" altLang="en-US" sz="1400" dirty="0"/>
              <a:t>、</a:t>
            </a:r>
            <a:r>
              <a:rPr lang="en-US" altLang="zh-CN" sz="1400" dirty="0"/>
              <a:t>LW:R[</a:t>
            </a:r>
            <a:r>
              <a:rPr lang="en-US" altLang="zh-CN" sz="1400" dirty="0" err="1"/>
              <a:t>rt</a:t>
            </a:r>
            <a:r>
              <a:rPr lang="en-US" altLang="zh-CN" sz="1400" dirty="0"/>
              <a:t>] = M[R[</a:t>
            </a:r>
            <a:r>
              <a:rPr lang="en-US" altLang="zh-CN" sz="1400" dirty="0" err="1"/>
              <a:t>rs</a:t>
            </a:r>
            <a:r>
              <a:rPr lang="en-US" altLang="zh-CN" sz="1400" dirty="0"/>
              <a:t>]+</a:t>
            </a:r>
            <a:r>
              <a:rPr lang="en-US" altLang="zh-CN" sz="1400" dirty="0" err="1"/>
              <a:t>SignExtImm</a:t>
            </a:r>
            <a:r>
              <a:rPr lang="en-US" altLang="zh-CN" sz="1400" dirty="0"/>
              <a:t>]</a:t>
            </a:r>
          </a:p>
          <a:p>
            <a:r>
              <a:rPr lang="en-US" sz="1400" dirty="0"/>
              <a:t>9</a:t>
            </a:r>
            <a:r>
              <a:rPr lang="zh-CN" altLang="en-US" sz="1400" dirty="0"/>
              <a:t>、</a:t>
            </a:r>
            <a:r>
              <a:rPr lang="en-US" altLang="zh-CN" sz="1400" dirty="0"/>
              <a:t>SW:M[R[</a:t>
            </a:r>
            <a:r>
              <a:rPr lang="en-US" altLang="zh-CN" sz="1400" dirty="0" err="1"/>
              <a:t>rs</a:t>
            </a:r>
            <a:r>
              <a:rPr lang="en-US" altLang="zh-CN" sz="1400" dirty="0"/>
              <a:t>]+</a:t>
            </a:r>
            <a:r>
              <a:rPr lang="en-US" altLang="zh-CN" sz="1400" dirty="0" err="1"/>
              <a:t>SignExtImm</a:t>
            </a:r>
            <a:r>
              <a:rPr lang="en-US" altLang="zh-CN" sz="1400" dirty="0"/>
              <a:t>] = R[</a:t>
            </a:r>
            <a:r>
              <a:rPr lang="en-US" altLang="zh-CN" sz="1400" dirty="0" err="1"/>
              <a:t>rt</a:t>
            </a:r>
            <a:r>
              <a:rPr lang="en-US" altLang="zh-CN" sz="1400" dirty="0"/>
              <a:t>]</a:t>
            </a:r>
          </a:p>
          <a:p>
            <a:r>
              <a:rPr lang="en-US" sz="1400" dirty="0"/>
              <a:t>10</a:t>
            </a:r>
            <a:r>
              <a:rPr lang="zh-CN" altLang="en-US" sz="1400" dirty="0"/>
              <a:t>、</a:t>
            </a:r>
            <a:r>
              <a:rPr lang="en-US" altLang="zh-CN" sz="1400" dirty="0"/>
              <a:t>SYSCALL</a:t>
            </a:r>
            <a:r>
              <a:rPr lang="zh-CN" altLang="en-US" sz="1400" dirty="0"/>
              <a:t>：</a:t>
            </a:r>
            <a:r>
              <a:rPr lang="en-US" altLang="zh-CN" sz="1400" dirty="0"/>
              <a:t>if $2==34 then </a:t>
            </a:r>
            <a:r>
              <a:rPr lang="zh-CN" altLang="en-US" sz="1400" dirty="0"/>
              <a:t>显示</a:t>
            </a:r>
            <a:r>
              <a:rPr lang="en-US" altLang="zh-CN" sz="1400" dirty="0"/>
              <a:t>$4 else </a:t>
            </a:r>
            <a:r>
              <a:rPr lang="zh-CN" altLang="en-US" sz="1400" dirty="0"/>
              <a:t>暂停，等</a:t>
            </a:r>
            <a:r>
              <a:rPr lang="en-US" altLang="zh-CN" sz="1400" dirty="0"/>
              <a:t>GO</a:t>
            </a:r>
            <a:r>
              <a:rPr lang="zh-CN" altLang="en-US" sz="1400" dirty="0"/>
              <a:t>按钮继续</a:t>
            </a:r>
            <a:endParaRPr lang="en-US" sz="1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987" y="3771689"/>
            <a:ext cx="868755" cy="1479358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 flipV="1">
            <a:off x="1872641" y="2599151"/>
            <a:ext cx="2020150" cy="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1872641" y="2599151"/>
            <a:ext cx="12526" cy="130270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201576" y="2322152"/>
            <a:ext cx="6912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SYSCAL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67" y="955665"/>
            <a:ext cx="11795670" cy="589328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55405" y="9047"/>
            <a:ext cx="383659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</a:t>
            </a:r>
            <a:r>
              <a:rPr lang="zh-CN" altLang="en-US" sz="1000" dirty="0"/>
              <a:t>、</a:t>
            </a:r>
            <a:r>
              <a:rPr lang="en-US" altLang="zh-CN" sz="1000" dirty="0" err="1"/>
              <a:t>shamt</a:t>
            </a:r>
            <a:r>
              <a:rPr lang="zh-CN" altLang="en-US" sz="1000" dirty="0"/>
              <a:t>的提取连接，运算类</a:t>
            </a:r>
            <a:r>
              <a:rPr lang="en-US" altLang="zh-CN" sz="1000" dirty="0"/>
              <a:t>R</a:t>
            </a:r>
            <a:r>
              <a:rPr lang="zh-CN" altLang="en-US" sz="1000" dirty="0"/>
              <a:t>指令</a:t>
            </a:r>
            <a:endParaRPr lang="en-US" altLang="zh-CN" sz="1000" dirty="0"/>
          </a:p>
          <a:p>
            <a:r>
              <a:rPr lang="en-US" sz="1000" dirty="0"/>
              <a:t>2</a:t>
            </a:r>
            <a:r>
              <a:rPr lang="zh-CN" altLang="en-US" sz="1000" dirty="0"/>
              <a:t>、</a:t>
            </a:r>
            <a:r>
              <a:rPr lang="en-US" altLang="zh-CN" sz="1000" dirty="0"/>
              <a:t>JR</a:t>
            </a:r>
            <a:r>
              <a:rPr lang="zh-CN" altLang="en-US" sz="1000" dirty="0"/>
              <a:t>实现：</a:t>
            </a:r>
            <a:r>
              <a:rPr lang="en-US" altLang="zh-CN" sz="1000" dirty="0"/>
              <a:t>PC=R[RS]</a:t>
            </a:r>
          </a:p>
          <a:p>
            <a:r>
              <a:rPr lang="en-US" sz="1000" dirty="0"/>
              <a:t>3</a:t>
            </a:r>
            <a:r>
              <a:rPr lang="zh-CN" altLang="en-US" sz="1000" dirty="0"/>
              <a:t>、</a:t>
            </a:r>
            <a:r>
              <a:rPr lang="en-US" altLang="zh-CN" sz="1000" dirty="0"/>
              <a:t>J</a:t>
            </a:r>
            <a:r>
              <a:rPr lang="zh-CN" altLang="en-US" sz="1000" dirty="0"/>
              <a:t>实现：</a:t>
            </a:r>
            <a:r>
              <a:rPr lang="en-US" altLang="zh-CN" sz="1000" dirty="0"/>
              <a:t>PC = PC31..28 || </a:t>
            </a:r>
            <a:r>
              <a:rPr lang="en-US" altLang="zh-CN" sz="1000" dirty="0" err="1"/>
              <a:t>instr_index</a:t>
            </a:r>
            <a:r>
              <a:rPr lang="en-US" altLang="zh-CN" sz="1000" dirty="0"/>
              <a:t> || 00</a:t>
            </a:r>
          </a:p>
          <a:p>
            <a:r>
              <a:rPr lang="en-US" sz="1000" dirty="0"/>
              <a:t>4</a:t>
            </a:r>
            <a:r>
              <a:rPr lang="zh-CN" altLang="en-US" sz="1000" dirty="0"/>
              <a:t>、</a:t>
            </a:r>
            <a:r>
              <a:rPr lang="en-US" altLang="zh-CN" sz="1000" dirty="0"/>
              <a:t>JAL</a:t>
            </a:r>
            <a:r>
              <a:rPr lang="zh-CN" altLang="en-US" sz="1000" dirty="0"/>
              <a:t>：</a:t>
            </a:r>
            <a:r>
              <a:rPr lang="en-US" altLang="zh-CN" sz="1000" dirty="0"/>
              <a:t>$31=PC+4,PC=PC31..28 || </a:t>
            </a:r>
            <a:r>
              <a:rPr lang="en-US" altLang="zh-CN" sz="1000" dirty="0" err="1"/>
              <a:t>instr_index</a:t>
            </a:r>
            <a:r>
              <a:rPr lang="en-US" altLang="zh-CN" sz="1000" dirty="0"/>
              <a:t> || 00</a:t>
            </a:r>
          </a:p>
          <a:p>
            <a:r>
              <a:rPr lang="en-US" sz="1000" dirty="0"/>
              <a:t>5</a:t>
            </a:r>
            <a:r>
              <a:rPr lang="zh-CN" altLang="en-US" sz="1000" dirty="0"/>
              <a:t>、</a:t>
            </a:r>
            <a:r>
              <a:rPr lang="en-US" altLang="zh-CN" sz="1000" dirty="0" err="1"/>
              <a:t>BEQ:</a:t>
            </a:r>
            <a:r>
              <a:rPr lang="en-US" sz="1000" dirty="0" err="1">
                <a:solidFill>
                  <a:srgbClr val="000000"/>
                </a:solidFill>
                <a:latin typeface="Calibri" panose="020F0502020204030204" pitchFamily="34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(R[</a:t>
            </a:r>
            <a:r>
              <a:rPr lang="en-US" sz="1000" dirty="0" err="1">
                <a:solidFill>
                  <a:srgbClr val="000000"/>
                </a:solidFill>
                <a:latin typeface="Calibri" panose="020F0502020204030204" pitchFamily="34" charset="0"/>
              </a:rPr>
              <a:t>rs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]==R[rt])   PC=PC+4+IMM16&lt;&lt;</a:t>
            </a:r>
          </a:p>
          <a:p>
            <a:r>
              <a:rPr lang="en-US" altLang="zh-CN" sz="1000" dirty="0"/>
              <a:t>     </a:t>
            </a:r>
            <a:r>
              <a:rPr lang="zh-CN" altLang="en-US" sz="1000" dirty="0"/>
              <a:t>                                    </a:t>
            </a:r>
            <a:r>
              <a:rPr lang="en-US" altLang="zh-CN" sz="1000" dirty="0"/>
              <a:t>6</a:t>
            </a:r>
            <a:r>
              <a:rPr lang="zh-CN" altLang="en-US" sz="1000" dirty="0"/>
              <a:t>、 </a:t>
            </a:r>
            <a:r>
              <a:rPr lang="en-US" altLang="zh-CN" sz="1000" dirty="0"/>
              <a:t>ADDI:R[rt] = R[</a:t>
            </a:r>
            <a:r>
              <a:rPr lang="en-US" altLang="zh-CN" sz="1000" dirty="0" err="1"/>
              <a:t>rs</a:t>
            </a:r>
            <a:r>
              <a:rPr lang="en-US" altLang="zh-CN" sz="1000" dirty="0"/>
              <a:t>] + </a:t>
            </a:r>
            <a:r>
              <a:rPr lang="en-US" altLang="zh-CN" sz="1000" dirty="0" err="1"/>
              <a:t>SignExtImm</a:t>
            </a:r>
            <a:endParaRPr lang="en-US" altLang="zh-CN" sz="1000" dirty="0"/>
          </a:p>
          <a:p>
            <a:r>
              <a:rPr lang="en-US" sz="1000" dirty="0"/>
              <a:t>                                         7</a:t>
            </a:r>
            <a:r>
              <a:rPr lang="zh-CN" altLang="en-US" sz="1000" dirty="0"/>
              <a:t>、</a:t>
            </a:r>
            <a:r>
              <a:rPr lang="en-US" altLang="zh-CN" sz="1000" dirty="0"/>
              <a:t>ANDI:R[</a:t>
            </a:r>
            <a:r>
              <a:rPr lang="en-US" altLang="zh-CN" sz="1000" dirty="0" err="1"/>
              <a:t>rt</a:t>
            </a:r>
            <a:r>
              <a:rPr lang="en-US" altLang="zh-CN" sz="1000" dirty="0"/>
              <a:t>] = R[</a:t>
            </a:r>
            <a:r>
              <a:rPr lang="en-US" altLang="zh-CN" sz="1000" dirty="0" err="1"/>
              <a:t>rs</a:t>
            </a:r>
            <a:r>
              <a:rPr lang="en-US" altLang="zh-CN" sz="1000" dirty="0"/>
              <a:t>] &amp; </a:t>
            </a:r>
            <a:r>
              <a:rPr lang="en-US" altLang="zh-CN" sz="1000" dirty="0" err="1"/>
              <a:t>ZeroExtImm</a:t>
            </a:r>
            <a:endParaRPr lang="en-US" altLang="zh-CN" sz="1000" dirty="0"/>
          </a:p>
          <a:p>
            <a:r>
              <a:rPr lang="en-US" sz="1000" dirty="0"/>
              <a:t>                                8</a:t>
            </a:r>
            <a:r>
              <a:rPr lang="zh-CN" altLang="en-US" sz="1000" dirty="0"/>
              <a:t>、</a:t>
            </a:r>
            <a:r>
              <a:rPr lang="en-US" altLang="zh-CN" sz="1000" dirty="0"/>
              <a:t>LW:R[</a:t>
            </a:r>
            <a:r>
              <a:rPr lang="en-US" altLang="zh-CN" sz="1000" dirty="0" err="1"/>
              <a:t>rt</a:t>
            </a:r>
            <a:r>
              <a:rPr lang="en-US" altLang="zh-CN" sz="1000" dirty="0"/>
              <a:t>] = M[R[</a:t>
            </a:r>
            <a:r>
              <a:rPr lang="en-US" altLang="zh-CN" sz="1000" dirty="0" err="1"/>
              <a:t>rs</a:t>
            </a:r>
            <a:r>
              <a:rPr lang="en-US" altLang="zh-CN" sz="1000" dirty="0"/>
              <a:t>]+</a:t>
            </a:r>
            <a:r>
              <a:rPr lang="en-US" altLang="zh-CN" sz="1000" dirty="0" err="1"/>
              <a:t>SignExtImm</a:t>
            </a:r>
            <a:r>
              <a:rPr lang="en-US" altLang="zh-CN" sz="1000" dirty="0"/>
              <a:t>]</a:t>
            </a:r>
          </a:p>
          <a:p>
            <a:r>
              <a:rPr lang="en-US" sz="1000" dirty="0"/>
              <a:t>                                9</a:t>
            </a:r>
            <a:r>
              <a:rPr lang="zh-CN" altLang="en-US" sz="1000" dirty="0"/>
              <a:t>、</a:t>
            </a:r>
            <a:r>
              <a:rPr lang="en-US" altLang="zh-CN" sz="1000" dirty="0"/>
              <a:t>SW:M[R[</a:t>
            </a:r>
            <a:r>
              <a:rPr lang="en-US" altLang="zh-CN" sz="1000" dirty="0" err="1"/>
              <a:t>rs</a:t>
            </a:r>
            <a:r>
              <a:rPr lang="en-US" altLang="zh-CN" sz="1000" dirty="0"/>
              <a:t>]+</a:t>
            </a:r>
            <a:r>
              <a:rPr lang="en-US" altLang="zh-CN" sz="1000" dirty="0" err="1"/>
              <a:t>SignExtImm</a:t>
            </a:r>
            <a:r>
              <a:rPr lang="en-US" altLang="zh-CN" sz="1000" dirty="0"/>
              <a:t>] = R[</a:t>
            </a:r>
            <a:r>
              <a:rPr lang="en-US" altLang="zh-CN" sz="1000" dirty="0" err="1"/>
              <a:t>rt</a:t>
            </a:r>
            <a:r>
              <a:rPr lang="en-US" altLang="zh-CN" sz="1000" dirty="0"/>
              <a:t>]</a:t>
            </a:r>
          </a:p>
          <a:p>
            <a:r>
              <a:rPr lang="en-US" sz="1000" dirty="0"/>
              <a:t>                               10</a:t>
            </a:r>
            <a:r>
              <a:rPr lang="zh-CN" altLang="en-US" sz="1000" dirty="0"/>
              <a:t>、</a:t>
            </a:r>
            <a:r>
              <a:rPr lang="en-US" altLang="zh-CN" sz="1000" dirty="0"/>
              <a:t>SYSCALL</a:t>
            </a:r>
            <a:r>
              <a:rPr lang="zh-CN" altLang="en-US" sz="1000" dirty="0"/>
              <a:t>：</a:t>
            </a:r>
            <a:r>
              <a:rPr lang="en-US" altLang="zh-CN" sz="1000" dirty="0"/>
              <a:t>if $2==34 then </a:t>
            </a:r>
            <a:r>
              <a:rPr lang="zh-CN" altLang="en-US" sz="1000" dirty="0"/>
              <a:t>显示</a:t>
            </a:r>
            <a:r>
              <a:rPr lang="en-US" altLang="zh-CN" sz="1000" dirty="0"/>
              <a:t>$4 </a:t>
            </a:r>
          </a:p>
          <a:p>
            <a:r>
              <a:rPr lang="en-US" altLang="zh-CN" sz="1000" dirty="0"/>
              <a:t>                                                   else </a:t>
            </a:r>
            <a:r>
              <a:rPr lang="zh-CN" altLang="en-US" sz="1000" dirty="0"/>
              <a:t>暂停，等</a:t>
            </a:r>
            <a:r>
              <a:rPr lang="en-US" altLang="zh-CN" sz="1000" dirty="0"/>
              <a:t>GO</a:t>
            </a:r>
            <a:r>
              <a:rPr lang="zh-CN" altLang="en-US" sz="1000" dirty="0"/>
              <a:t>按钮继续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73635" y="256275"/>
            <a:ext cx="6004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PC next address selection (can use 2-1 MUX)</a:t>
            </a:r>
            <a:endParaRPr 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8010782" y="1563772"/>
            <a:ext cx="1136822" cy="2067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梯形 5"/>
          <p:cNvSpPr/>
          <p:nvPr/>
        </p:nvSpPr>
        <p:spPr>
          <a:xfrm rot="5400000">
            <a:off x="5127283" y="1790185"/>
            <a:ext cx="1775766" cy="1491049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657600" y="1771650"/>
            <a:ext cx="1612041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657475" y="1606034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PC+4</a:t>
            </a:r>
          </a:p>
        </p:txBody>
      </p:sp>
      <p:cxnSp>
        <p:nvCxnSpPr>
          <p:cNvPr id="10" name="直接箭头连接符 9"/>
          <p:cNvCxnSpPr/>
          <p:nvPr/>
        </p:nvCxnSpPr>
        <p:spPr>
          <a:xfrm>
            <a:off x="3657600" y="2121932"/>
            <a:ext cx="1612041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348706" y="1950482"/>
            <a:ext cx="256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PCBranch</a:t>
            </a: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650649" y="2561069"/>
            <a:ext cx="1612041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79758" y="2336464"/>
            <a:ext cx="193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JMPADDR</a:t>
            </a: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657600" y="2998658"/>
            <a:ext cx="1612041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986087" y="2833042"/>
            <a:ext cx="7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RS</a:t>
            </a:r>
          </a:p>
        </p:txBody>
      </p:sp>
      <p:cxnSp>
        <p:nvCxnSpPr>
          <p:cNvPr id="18" name="直接箭头连接符 17"/>
          <p:cNvCxnSpPr/>
          <p:nvPr/>
        </p:nvCxnSpPr>
        <p:spPr>
          <a:xfrm flipH="1" flipV="1">
            <a:off x="5438776" y="3423593"/>
            <a:ext cx="19371" cy="421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703419" y="4054004"/>
            <a:ext cx="126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BEQ,BNE,=</a:t>
            </a:r>
          </a:p>
        </p:txBody>
      </p:sp>
      <p:cxnSp>
        <p:nvCxnSpPr>
          <p:cNvPr id="21" name="直接箭头连接符 20"/>
          <p:cNvCxnSpPr/>
          <p:nvPr/>
        </p:nvCxnSpPr>
        <p:spPr>
          <a:xfrm flipH="1" flipV="1">
            <a:off x="5954477" y="3268354"/>
            <a:ext cx="38100" cy="1619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736496" y="4869775"/>
            <a:ext cx="126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J,JAL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369909" y="4361636"/>
            <a:ext cx="126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JR</a:t>
            </a:r>
          </a:p>
        </p:txBody>
      </p:sp>
      <p:cxnSp>
        <p:nvCxnSpPr>
          <p:cNvPr id="30" name="直接箭头连接符 29"/>
          <p:cNvCxnSpPr/>
          <p:nvPr/>
        </p:nvCxnSpPr>
        <p:spPr>
          <a:xfrm flipH="1" flipV="1">
            <a:off x="6479704" y="3173225"/>
            <a:ext cx="40030" cy="1127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6" idx="0"/>
          </p:cNvCxnSpPr>
          <p:nvPr/>
        </p:nvCxnSpPr>
        <p:spPr>
          <a:xfrm flipV="1">
            <a:off x="6760691" y="2535709"/>
            <a:ext cx="12300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8372732" y="2339951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</a:t>
            </a:r>
          </a:p>
        </p:txBody>
      </p:sp>
      <p:cxnSp>
        <p:nvCxnSpPr>
          <p:cNvPr id="35" name="直接箭头连接符 34"/>
          <p:cNvCxnSpPr/>
          <p:nvPr/>
        </p:nvCxnSpPr>
        <p:spPr>
          <a:xfrm flipH="1" flipV="1">
            <a:off x="8161511" y="3641112"/>
            <a:ext cx="6176" cy="650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7819512" y="4307034"/>
            <a:ext cx="787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CLK</a:t>
            </a:r>
          </a:p>
        </p:txBody>
      </p:sp>
      <p:cxnSp>
        <p:nvCxnSpPr>
          <p:cNvPr id="39" name="直接箭头连接符 38"/>
          <p:cNvCxnSpPr/>
          <p:nvPr/>
        </p:nvCxnSpPr>
        <p:spPr>
          <a:xfrm flipH="1" flipV="1">
            <a:off x="8579193" y="3633755"/>
            <a:ext cx="6176" cy="650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8335535" y="4307034"/>
            <a:ext cx="787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RST</a:t>
            </a:r>
          </a:p>
        </p:txBody>
      </p:sp>
      <p:sp>
        <p:nvSpPr>
          <p:cNvPr id="2" name="椭圆 1"/>
          <p:cNvSpPr/>
          <p:nvPr/>
        </p:nvSpPr>
        <p:spPr>
          <a:xfrm>
            <a:off x="4703419" y="3844679"/>
            <a:ext cx="1170159" cy="82571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 2"/>
          <p:cNvSpPr/>
          <p:nvPr/>
        </p:nvSpPr>
        <p:spPr>
          <a:xfrm>
            <a:off x="829662" y="5706160"/>
            <a:ext cx="613821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US" sz="2000" b="1" dirty="0"/>
              <a:t>JMPADDR</a:t>
            </a:r>
            <a:r>
              <a:rPr lang="en-US" altLang="zh-CN" sz="2000" b="1" dirty="0"/>
              <a:t>=</a:t>
            </a:r>
            <a:r>
              <a:rPr lang="en-US" sz="2000" b="1" dirty="0"/>
              <a:t> PC31..28 || </a:t>
            </a:r>
            <a:r>
              <a:rPr lang="en-US" sz="2000" b="1" dirty="0" err="1"/>
              <a:t>instr_index</a:t>
            </a:r>
            <a:r>
              <a:rPr lang="en-US" sz="2000" b="1" dirty="0"/>
              <a:t> || 00    </a:t>
            </a:r>
            <a:r>
              <a:rPr lang="en-US" sz="2000" b="1" dirty="0">
                <a:solidFill>
                  <a:srgbClr val="FF0000"/>
                </a:solidFill>
              </a:rPr>
              <a:t>PC=PC+4</a:t>
            </a:r>
          </a:p>
          <a:p>
            <a:pPr fontAlgn="b"/>
            <a:r>
              <a:rPr lang="en-US" sz="2000" b="1" dirty="0"/>
              <a:t>PCBranch=PC+4+IMM16&lt;&lt;2</a:t>
            </a:r>
          </a:p>
        </p:txBody>
      </p:sp>
      <p:sp>
        <p:nvSpPr>
          <p:cNvPr id="7" name="矩形 6"/>
          <p:cNvSpPr/>
          <p:nvPr/>
        </p:nvSpPr>
        <p:spPr>
          <a:xfrm>
            <a:off x="5568460" y="2336464"/>
            <a:ext cx="788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MUX</a:t>
            </a:r>
            <a:endParaRPr lang="en-US" dirty="0"/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9047593" y="3641111"/>
            <a:ext cx="6176" cy="650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790031" y="4314390"/>
            <a:ext cx="787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50724" y="247135"/>
            <a:ext cx="3739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Critical </a:t>
            </a:r>
            <a:r>
              <a:rPr lang="en-US" altLang="zh-CN" sz="2800" dirty="0" err="1"/>
              <a:t>circuit:JAL</a:t>
            </a:r>
            <a:endParaRPr 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649463" y="908135"/>
            <a:ext cx="1084721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2000" b="1" dirty="0"/>
              <a:t>JAL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JUMP AND LINK</a:t>
            </a:r>
            <a:r>
              <a:rPr lang="zh-CN" altLang="en-US" sz="2000" b="1" dirty="0"/>
              <a:t>）：</a:t>
            </a:r>
            <a:r>
              <a:rPr lang="en-US" altLang="zh-CN" sz="2000" b="1" dirty="0"/>
              <a:t>JAL imm26/</a:t>
            </a:r>
            <a:r>
              <a:rPr lang="en-US" sz="2000" b="1" dirty="0">
                <a:solidFill>
                  <a:srgbClr val="000000"/>
                </a:solidFill>
              </a:rPr>
              <a:t> JAL instr_index</a:t>
            </a:r>
            <a:endParaRPr lang="en-US" sz="2000" b="1" dirty="0"/>
          </a:p>
          <a:p>
            <a:pPr fontAlgn="b"/>
            <a:r>
              <a:rPr lang="en-US" sz="2000" b="1" dirty="0">
                <a:solidFill>
                  <a:srgbClr val="000000"/>
                </a:solidFill>
              </a:rPr>
              <a:t>JAL:</a:t>
            </a: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$31=$</a:t>
            </a:r>
            <a:r>
              <a:rPr lang="en-US" altLang="zh-CN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ra</a:t>
            </a: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=PC+4,</a:t>
            </a:r>
            <a:r>
              <a:rPr lang="en-US" sz="2000" b="1" dirty="0"/>
              <a:t> PC=JMPADDR</a:t>
            </a:r>
            <a:r>
              <a:rPr lang="en-US" altLang="zh-CN" sz="2000" b="1" dirty="0">
                <a:solidFill>
                  <a:srgbClr val="000000"/>
                </a:solidFill>
              </a:rPr>
              <a:t>=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PC31..28 </a:t>
            </a:r>
            <a:r>
              <a:rPr lang="en-US" sz="2000" b="1" dirty="0">
                <a:solidFill>
                  <a:srgbClr val="000000"/>
                </a:solidFill>
              </a:rPr>
              <a:t>|| instr_index26 || 00    </a:t>
            </a:r>
          </a:p>
          <a:p>
            <a:pPr fontAlgn="b"/>
            <a:r>
              <a:rPr lang="en-US" altLang="zh-CN" sz="2000" b="1" dirty="0">
                <a:solidFill>
                  <a:srgbClr val="000000"/>
                </a:solidFill>
              </a:rPr>
              <a:t>       W#=31</a:t>
            </a:r>
            <a:r>
              <a:rPr lang="zh-CN" altLang="en-US" sz="2000" b="1" dirty="0">
                <a:solidFill>
                  <a:srgbClr val="000000"/>
                </a:solidFill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</a:rPr>
              <a:t>Din=PC+4</a:t>
            </a:r>
            <a:r>
              <a:rPr lang="zh-CN" altLang="en-US" sz="2000" b="1" dirty="0">
                <a:solidFill>
                  <a:srgbClr val="000000"/>
                </a:solidFill>
              </a:rPr>
              <a:t>，</a:t>
            </a:r>
            <a:r>
              <a:rPr lang="en-US" altLang="zh-CN" sz="2000" b="1" dirty="0" err="1">
                <a:solidFill>
                  <a:srgbClr val="000000"/>
                </a:solidFill>
              </a:rPr>
              <a:t>Regwrite</a:t>
            </a:r>
            <a:endParaRPr lang="en-US" sz="2000" b="1" dirty="0">
              <a:solidFill>
                <a:srgbClr val="000000"/>
              </a:solidFill>
            </a:endParaRPr>
          </a:p>
          <a:p>
            <a:pPr fontAlgn="b"/>
            <a:r>
              <a:rPr lang="en-US" altLang="zh-CN" sz="2000" b="1" dirty="0">
                <a:solidFill>
                  <a:srgbClr val="000000"/>
                </a:solidFill>
              </a:rPr>
              <a:t>Questions:</a:t>
            </a:r>
          </a:p>
          <a:p>
            <a:pPr marL="457200" indent="-457200" fontAlgn="b">
              <a:buAutoNum type="arabicPeriod"/>
            </a:pPr>
            <a:r>
              <a:rPr lang="en-US" altLang="zh-CN" sz="2000" b="1" dirty="0">
                <a:solidFill>
                  <a:srgbClr val="000000"/>
                </a:solidFill>
              </a:rPr>
              <a:t>Why is the instruction manual $ra=PC+8?</a:t>
            </a:r>
          </a:p>
          <a:p>
            <a:pPr marL="457200" indent="-457200" fontAlgn="b">
              <a:buAutoNum type="arabicPeriod"/>
            </a:pPr>
            <a:r>
              <a:rPr lang="en-US" altLang="zh-CN" sz="2000" b="1" dirty="0">
                <a:solidFill>
                  <a:srgbClr val="000000"/>
                </a:solidFill>
              </a:rPr>
              <a:t>What is the subroutine return instruction?</a:t>
            </a:r>
          </a:p>
          <a:p>
            <a:pPr marL="457200" indent="-457200" fontAlgn="b">
              <a:buAutoNum type="arabicPeriod"/>
            </a:pPr>
            <a:r>
              <a:rPr lang="en-US" altLang="zh-CN" sz="2000" b="1" dirty="0">
                <a:solidFill>
                  <a:srgbClr val="000000"/>
                </a:solidFill>
              </a:rPr>
              <a:t>How to handle multiple calls?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3849826"/>
            <a:ext cx="12192000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Because MIPS adopts delay-slot technology. At this time, the next instruction after JAL has already entered the pipeline, so the next instruction must be executed. Therefore, the returned address is: PC+8; In Experiment 4, it was not a pipeline CPU, and the return address was PC+4</a:t>
            </a:r>
          </a:p>
          <a:p>
            <a:r>
              <a:rPr lang="en-US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MIPS does not have a RET instruction similar to X86, replaced by JR $ra</a:t>
            </a:r>
          </a:p>
          <a:p>
            <a:r>
              <a:rPr lang="en-US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Multiple calls, the system performs stack pushing and </a:t>
            </a:r>
            <a:r>
              <a:rPr lang="en-US" altLang="zh-CN" b="1" dirty="0" err="1"/>
              <a:t>poping</a:t>
            </a:r>
            <a:r>
              <a:rPr lang="en-US" altLang="zh-CN" b="1" dirty="0"/>
              <a:t> on $ra.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50724" y="247135"/>
            <a:ext cx="3739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Critical </a:t>
            </a:r>
            <a:r>
              <a:rPr lang="en-US" altLang="zh-CN" sz="2800" dirty="0" err="1"/>
              <a:t>circuit:syscall</a:t>
            </a:r>
            <a:endParaRPr lang="en-US" sz="2800" dirty="0"/>
          </a:p>
        </p:txBody>
      </p:sp>
      <p:sp>
        <p:nvSpPr>
          <p:cNvPr id="7" name="矩形 6"/>
          <p:cNvSpPr/>
          <p:nvPr/>
        </p:nvSpPr>
        <p:spPr>
          <a:xfrm>
            <a:off x="200025" y="1410048"/>
            <a:ext cx="1214437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altLang="zh-CN" sz="2400" b="1" dirty="0"/>
              <a:t>SYSCALL</a:t>
            </a:r>
            <a:r>
              <a:rPr lang="zh-CN" altLang="en-US" sz="2400" b="1" dirty="0"/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if $2==34 then display $4 else pause</a:t>
            </a:r>
            <a:r>
              <a:rPr lang="zh-CN" altLang="en-US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waiting GO</a:t>
            </a:r>
            <a:r>
              <a:rPr lang="zh-CN" altLang="en-US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to continue;$2,$4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altLang="zh-CN" sz="2400" b="1" dirty="0"/>
              <a:t>When the control signal SYSCALL=1, set R1 #=2 and R2 #=4 for REGFILE (use 2 MUX added in front of R1# and R2#);</a:t>
            </a:r>
          </a:p>
          <a:p>
            <a:r>
              <a:rPr lang="en-US" sz="2400" b="1" dirty="0"/>
              <a:t>Compare the R1 value with the constant 34, and send the R2 value to </a:t>
            </a:r>
            <a:r>
              <a:rPr lang="en-US" sz="2400" b="1" dirty="0" err="1"/>
              <a:t>LedData</a:t>
            </a:r>
            <a:r>
              <a:rPr lang="en-US" sz="2400" b="1" dirty="0"/>
              <a:t> when it is equal, otherwise send HALT;</a:t>
            </a:r>
          </a:p>
          <a:p>
            <a:r>
              <a:rPr lang="en-US" sz="2400" b="1" dirty="0"/>
              <a:t>HALT and GO control PC Enable together;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8581" y="270934"/>
            <a:ext cx="6770450" cy="537179"/>
          </a:xfrm>
        </p:spPr>
        <p:txBody>
          <a:bodyPr>
            <a:noAutofit/>
          </a:bodyPr>
          <a:lstStyle/>
          <a:p>
            <a:r>
              <a:rPr lang="en-US" altLang="zh-CN" sz="2400" b="1" dirty="0">
                <a:solidFill>
                  <a:schemeClr val="tx2"/>
                </a:solidFill>
              </a:rPr>
              <a:t>Differentiated task: 21 extended instruction sets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45397"/>
            <a:ext cx="6927742" cy="525220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074529" y="1228397"/>
            <a:ext cx="4786294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      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Option: Each student extends an additional 4 instructions, including 2 C-class instructions, 1 M-class instruction, and 1 B-class instruction, abbreviated as CCMB series instructions. The specific instructions for each student can be found in the task allocation table. The experimental package file "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汇编工具及测试用例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4.32.zip" already includes testing programs for all CCMB series instructions.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        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For example, someone‘s CCMB value is 3A43, and the extension instructions assigned to the student are C3/CA/M4/B3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；</a:t>
            </a:r>
          </a:p>
          <a:p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自编验证程序</a:t>
            </a:r>
          </a:p>
          <a:p>
            <a:endParaRPr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81775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CCMB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系列指令中，每位学生需要扩展多少条指令？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8051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条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8051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条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8051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条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8051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条</a:t>
            </a:r>
          </a:p>
        </p:txBody>
      </p:sp>
      <p:sp>
        <p:nvSpPr>
          <p:cNvPr id="19" name="椭圆 18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10" name="组合 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010CFEE-5413-40C4-A82D-0F060EE2406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CCMB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C1-C3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移位指令中，要将（）接到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shamt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引脚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884B46-C5DC-4CC2-93CA-17A04185C65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BBC260-1F52-4866-8628-12045191742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6583CF-3943-4ED1-ADDC-4E9BADAB38D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D46D52-ED18-430B-B24C-7C8866E5EEF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6-10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C10BD8D-1FD2-43CE-8D10-3873A96568C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0C6E243-CF89-4709-9835-9A40022D76B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5233215-1363-484F-8B9F-A0D2D4B796D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8D9F098-8F79-420D-8084-6BA494E9410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D3D6AFB-0854-4C0A-8E3E-41E224E7A35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252285" y="535781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A3CC919-87B2-49F0-B674-5DFCB915DBA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056316A5-8C9A-4F2F-9331-74BC27C148F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668449B9-2D9E-49FF-A033-9D258675220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091FF02-1896-46B8-BA7C-8845AA230AE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7A93BAE3-69EE-4D3E-8BC9-0179EE9F1D1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61A0AEC-16DB-4550-BB65-B1074327547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81269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4ff7f23b-0374-4966-b11b-85121fc9009b"/>
  <p:tag name="COMMONDATA" val="eyJoZGlkIjoiZjExMDE4MjYwOTdhYTViYzIyM2NiY2VlMzhmMjRiYm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PROVIDER" val="A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2103</Words>
  <Application>Microsoft Office PowerPoint</Application>
  <PresentationFormat>宽屏</PresentationFormat>
  <Paragraphs>476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Microsoft Yahei</vt:lpstr>
      <vt:lpstr>等线</vt:lpstr>
      <vt:lpstr>等线 Light</vt:lpstr>
      <vt:lpstr>黑体</vt:lpstr>
      <vt:lpstr>隶书</vt:lpstr>
      <vt:lpstr>宋体</vt:lpstr>
      <vt:lpstr>微软雅黑</vt:lpstr>
      <vt:lpstr>Arial</vt:lpstr>
      <vt:lpstr>Bahnschrift Light SemiCondensed</vt:lpstr>
      <vt:lpstr>Baskerville Old Face</vt:lpstr>
      <vt:lpstr>Calibri</vt:lpstr>
      <vt:lpstr>Cascadia Code ExtraLight</vt:lpstr>
      <vt:lpstr>Segoe UI Black</vt:lpstr>
      <vt:lpstr>Times New Roman</vt:lpstr>
      <vt:lpstr>Office 主题​​</vt:lpstr>
      <vt:lpstr>Single cycle MIPS CPU   (24 instructions ，Hardwired  Controller)</vt:lpstr>
      <vt:lpstr>设计内容</vt:lpstr>
      <vt:lpstr>PowerPoint 演示文稿</vt:lpstr>
      <vt:lpstr>PowerPoint 演示文稿</vt:lpstr>
      <vt:lpstr>ALU_OP control signal</vt:lpstr>
      <vt:lpstr>Summary of other control signals</vt:lpstr>
      <vt:lpstr>PowerPoint 演示文稿</vt:lpstr>
      <vt:lpstr>Using Universal Tables</vt:lpstr>
      <vt:lpstr>The hardwired controller consists of two sub circuits: an ALU controller and other control signal generation circuits</vt:lpstr>
      <vt:lpstr>Using Universal Tables</vt:lpstr>
      <vt:lpstr>Using Universal Tables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Differentiated task: 21 extended instruction sets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LIU FENG</cp:lastModifiedBy>
  <cp:revision>418</cp:revision>
  <cp:lastPrinted>2019-10-15T03:43:00Z</cp:lastPrinted>
  <dcterms:created xsi:type="dcterms:W3CDTF">2019-04-22T08:11:00Z</dcterms:created>
  <dcterms:modified xsi:type="dcterms:W3CDTF">2025-04-28T03:06:50Z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B8E8AAE6C78A410C81227EF4D05C6539_13</vt:lpwstr>
  </property>
  <property fmtid="{D5CDD505-2E9C-101B-9397-08002B2CF9AE}" pid="3" name="KSOProductBuildVer">
    <vt:lpwstr>2052-12.1.0.20784</vt:lpwstr>
  </property>
</Properties>
</file>