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452" r:id="rId2"/>
    <p:sldId id="453" r:id="rId3"/>
    <p:sldId id="410" r:id="rId4"/>
    <p:sldId id="414" r:id="rId5"/>
    <p:sldId id="439" r:id="rId6"/>
    <p:sldId id="450" r:id="rId7"/>
    <p:sldId id="422" r:id="rId8"/>
    <p:sldId id="451" r:id="rId9"/>
    <p:sldId id="425" r:id="rId10"/>
    <p:sldId id="426" r:id="rId11"/>
    <p:sldId id="441" r:id="rId12"/>
    <p:sldId id="427" r:id="rId13"/>
    <p:sldId id="442" r:id="rId14"/>
    <p:sldId id="428" r:id="rId15"/>
    <p:sldId id="412" r:id="rId16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2">
          <p15:clr>
            <a:srgbClr val="A4A3A4"/>
          </p15:clr>
        </p15:guide>
        <p15:guide id="2" pos="2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90D8"/>
    <a:srgbClr val="307800"/>
    <a:srgbClr val="483018"/>
    <a:srgbClr val="C0A878"/>
    <a:srgbClr val="F3DEB8"/>
    <a:srgbClr val="0A9B06"/>
    <a:srgbClr val="E8EFC1"/>
    <a:srgbClr val="1E4C7E"/>
    <a:srgbClr val="EAEAEA"/>
    <a:srgbClr val="BA34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93963" autoAdjust="0"/>
  </p:normalViewPr>
  <p:slideViewPr>
    <p:cSldViewPr>
      <p:cViewPr varScale="1">
        <p:scale>
          <a:sx n="134" d="100"/>
          <a:sy n="134" d="100"/>
        </p:scale>
        <p:origin x="894" y="108"/>
      </p:cViewPr>
      <p:guideLst>
        <p:guide orient="horz" pos="1582"/>
        <p:guide pos="29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4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70A73-B24B-47E5-AC1F-2DEC84ED0BBA}" type="datetimeFigureOut">
              <a:rPr lang="zh-CN" altLang="en-US" smtClean="0"/>
              <a:t>2023/5/5 Fri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C9B45-6F23-4C9F-9507-7DC487C98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5657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D63C5-CED3-4198-ADFC-235C7510EC39}" type="datetimeFigureOut">
              <a:rPr lang="zh-CN" altLang="en-US" smtClean="0"/>
              <a:t>2023/5/5 Fri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D69F8-84B8-4848-85BA-EA3E20CCD7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539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39502"/>
            <a:ext cx="8496944" cy="41148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25471"/>
            <a:ext cx="8496944" cy="390651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2023/5/5 Fri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448" y="4886318"/>
            <a:ext cx="299510" cy="205712"/>
          </a:xfrm>
          <a:prstGeom prst="ellipse">
            <a:avLst/>
          </a:prstGeom>
        </p:spPr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822960"/>
            <a:ext cx="3200400" cy="278434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822960"/>
            <a:ext cx="3200400" cy="278434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2023/5/5 Fri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04448" y="4886318"/>
            <a:ext cx="299510" cy="205712"/>
          </a:xfrm>
          <a:prstGeom prst="ellipse">
            <a:avLst/>
          </a:prstGeom>
        </p:spPr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74320"/>
            <a:ext cx="7520940" cy="41148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4320"/>
            <a:ext cx="7520940" cy="4114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822960"/>
            <a:ext cx="3200400" cy="4114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276386"/>
            <a:ext cx="3200400" cy="233172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822960"/>
            <a:ext cx="3200400" cy="4114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276386"/>
            <a:ext cx="3200400" cy="233172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2023/5/5 Fri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04448" y="4886318"/>
            <a:ext cx="299510" cy="205712"/>
          </a:xfrm>
          <a:prstGeom prst="ellipse">
            <a:avLst/>
          </a:prstGeom>
        </p:spPr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4886318"/>
            <a:ext cx="3574257" cy="257181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4886318"/>
            <a:ext cx="9146380" cy="257182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35896" y="4939471"/>
            <a:ext cx="2176272" cy="1508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9746BAEA-2E2F-43C1-8FC5-9FEE3A8DF45C}" type="datetimeFigureOut">
              <a:rPr lang="zh-CN" altLang="en-US" smtClean="0"/>
              <a:pPr/>
              <a:t>2023/5/5 Fri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79912" y="4957117"/>
            <a:ext cx="4724400" cy="1155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Content Placeholder 2"/>
          <p:cNvSpPr txBox="1">
            <a:spLocks/>
          </p:cNvSpPr>
          <p:nvPr userDrawn="1"/>
        </p:nvSpPr>
        <p:spPr>
          <a:xfrm>
            <a:off x="323528" y="825471"/>
            <a:ext cx="8496944" cy="390651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ts val="8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91E309A-D73D-08E7-FA83-23D54935B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536932"/>
            <a:ext cx="2175694" cy="272456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09B4CE0-41DC-F989-7988-5522CA0D5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1629010"/>
            <a:ext cx="3026621" cy="254820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DA53FDE-3A5A-4C31-DFEC-47439F760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00" y="1995686"/>
            <a:ext cx="2425976" cy="1974131"/>
          </a:xfrm>
          <a:prstGeom prst="rect">
            <a:avLst/>
          </a:prstGeom>
        </p:spPr>
      </p:pic>
      <p:sp>
        <p:nvSpPr>
          <p:cNvPr id="13" name="标题 4">
            <a:extLst>
              <a:ext uri="{FF2B5EF4-FFF2-40B4-BE49-F238E27FC236}">
                <a16:creationId xmlns:a16="http://schemas.microsoft.com/office/drawing/2014/main" id="{232EAFF8-0058-A60A-1FC8-220AD3C60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339502"/>
            <a:ext cx="8496944" cy="41148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p"/>
            </a:pPr>
            <a:r>
              <a:rPr lang="en-US" altLang="zh-CN" dirty="0"/>
              <a:t>MIPS RAM</a:t>
            </a:r>
            <a:r>
              <a:rPr lang="zh-CN" altLang="en-US" dirty="0"/>
              <a:t>使用方法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20944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4">
            <a:extLst>
              <a:ext uri="{FF2B5EF4-FFF2-40B4-BE49-F238E27FC236}">
                <a16:creationId xmlns:a16="http://schemas.microsoft.com/office/drawing/2014/main" id="{066F2E0A-F9A5-E646-2911-EF0D07F47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339502"/>
            <a:ext cx="8496944" cy="41148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p"/>
            </a:pPr>
            <a:r>
              <a:rPr lang="zh-CN" altLang="en-US" dirty="0"/>
              <a:t>后续</a:t>
            </a:r>
            <a:r>
              <a:rPr lang="en-US" altLang="zh-CN" dirty="0"/>
              <a:t>ppt</a:t>
            </a:r>
            <a:r>
              <a:rPr lang="zh-CN" altLang="en-US" dirty="0"/>
              <a:t>为</a:t>
            </a:r>
            <a:r>
              <a:rPr lang="en-US" altLang="zh-CN" dirty="0"/>
              <a:t>MIPS RAM</a:t>
            </a:r>
            <a:r>
              <a:rPr lang="zh-CN" altLang="en-US" dirty="0"/>
              <a:t>的设计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074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Wingdings" pitchFamily="2" charset="2"/>
              <a:buChar char="p"/>
            </a:pPr>
            <a:r>
              <a:rPr lang="en-US" altLang="zh-CN" dirty="0"/>
              <a:t>MIPS RAM</a:t>
            </a:r>
            <a:r>
              <a:rPr lang="zh-CN" altLang="en-US" dirty="0"/>
              <a:t>设计</a:t>
            </a:r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实验目的：</a:t>
            </a:r>
            <a:endParaRPr lang="en-US" altLang="zh-CN" b="0" dirty="0"/>
          </a:p>
          <a:p>
            <a:r>
              <a:rPr lang="en-US" altLang="zh-CN" b="0" dirty="0"/>
              <a:t>     </a:t>
            </a:r>
            <a:r>
              <a:rPr lang="zh-CN" altLang="en-US" b="0" dirty="0"/>
              <a:t>理解主存地址基本概念，理解存储器扩展基本思想，并能利用相关原理构建能同时支持字节、半字、字访问的存储器。</a:t>
            </a:r>
            <a:endParaRPr lang="en-US" altLang="zh-CN" b="0" dirty="0"/>
          </a:p>
          <a:p>
            <a:r>
              <a:rPr lang="en-US" altLang="zh-CN" b="0" dirty="0"/>
              <a:t>     </a:t>
            </a:r>
            <a:r>
              <a:rPr lang="zh-CN" altLang="en-US" b="0" dirty="0"/>
              <a:t>需要使用器件：多路选择器，译码器，双端口存储器</a:t>
            </a:r>
            <a:r>
              <a:rPr lang="en-US" altLang="zh-CN" b="0" dirty="0"/>
              <a:t>…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859782"/>
            <a:ext cx="165735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4886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Wingdings" pitchFamily="2" charset="2"/>
              <a:buChar char="p"/>
            </a:pPr>
            <a:r>
              <a:rPr lang="en-US" altLang="zh-CN" dirty="0"/>
              <a:t>MIPS RAM</a:t>
            </a:r>
            <a:r>
              <a:rPr lang="zh-CN" altLang="en-US" dirty="0"/>
              <a:t>设计</a:t>
            </a:r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    实验内容：</a:t>
            </a:r>
            <a:r>
              <a:rPr lang="zh-CN" altLang="en-US" b="0" dirty="0">
                <a:latin typeface="宋体" pitchFamily="2" charset="-122"/>
                <a:ea typeface="宋体" pitchFamily="2" charset="-122"/>
              </a:rPr>
              <a:t>利用</a:t>
            </a:r>
            <a:r>
              <a:rPr lang="en-US" altLang="zh-CN" b="0" dirty="0">
                <a:latin typeface="宋体" pitchFamily="2" charset="-122"/>
                <a:ea typeface="宋体" pitchFamily="2" charset="-122"/>
              </a:rPr>
              <a:t>4</a:t>
            </a:r>
            <a:r>
              <a:rPr lang="zh-CN" altLang="en-US" b="0" dirty="0">
                <a:latin typeface="宋体" pitchFamily="2" charset="-122"/>
                <a:ea typeface="宋体" pitchFamily="2" charset="-122"/>
              </a:rPr>
              <a:t>个</a:t>
            </a:r>
            <a:r>
              <a:rPr lang="en-US" altLang="zh-CN" b="0" dirty="0">
                <a:latin typeface="宋体" pitchFamily="2" charset="-122"/>
                <a:ea typeface="宋体" pitchFamily="2" charset="-122"/>
              </a:rPr>
              <a:t>4K*8</a:t>
            </a:r>
            <a:r>
              <a:rPr lang="zh-CN" altLang="en-US" b="0" dirty="0">
                <a:latin typeface="宋体" pitchFamily="2" charset="-122"/>
                <a:ea typeface="宋体" pitchFamily="2" charset="-122"/>
              </a:rPr>
              <a:t>位的 </a:t>
            </a:r>
            <a:r>
              <a:rPr lang="en-US" altLang="zh-CN" b="0" dirty="0">
                <a:latin typeface="宋体" pitchFamily="2" charset="-122"/>
                <a:ea typeface="宋体" pitchFamily="2" charset="-122"/>
              </a:rPr>
              <a:t>RAM </a:t>
            </a:r>
            <a:r>
              <a:rPr lang="zh-CN" altLang="en-US" b="0" dirty="0">
                <a:latin typeface="宋体" pitchFamily="2" charset="-122"/>
                <a:ea typeface="宋体" pitchFamily="2" charset="-122"/>
              </a:rPr>
              <a:t>组件进行扩展，设计完成能按照</a:t>
            </a:r>
            <a:r>
              <a:rPr lang="en-US" altLang="zh-CN" b="0" dirty="0">
                <a:latin typeface="宋体" pitchFamily="2" charset="-122"/>
                <a:ea typeface="宋体" pitchFamily="2" charset="-122"/>
              </a:rPr>
              <a:t>8</a:t>
            </a:r>
            <a:r>
              <a:rPr lang="zh-CN" altLang="en-US" b="0" dirty="0">
                <a:latin typeface="宋体" pitchFamily="2" charset="-122"/>
                <a:ea typeface="宋体" pitchFamily="2" charset="-122"/>
              </a:rPr>
              <a:t>位、</a:t>
            </a:r>
            <a:r>
              <a:rPr lang="en-US" altLang="zh-CN" b="0" dirty="0">
                <a:latin typeface="宋体" pitchFamily="2" charset="-122"/>
                <a:ea typeface="宋体" pitchFamily="2" charset="-122"/>
              </a:rPr>
              <a:t>16</a:t>
            </a:r>
            <a:r>
              <a:rPr lang="zh-CN" altLang="en-US" b="0" dirty="0">
                <a:latin typeface="宋体" pitchFamily="2" charset="-122"/>
                <a:ea typeface="宋体" pitchFamily="2" charset="-122"/>
              </a:rPr>
              <a:t>位、</a:t>
            </a:r>
            <a:r>
              <a:rPr lang="en-US" altLang="zh-CN" b="0" dirty="0">
                <a:latin typeface="宋体" pitchFamily="2" charset="-122"/>
                <a:ea typeface="宋体" pitchFamily="2" charset="-122"/>
              </a:rPr>
              <a:t>32</a:t>
            </a:r>
            <a:r>
              <a:rPr lang="zh-CN" altLang="en-US" b="0" dirty="0">
                <a:latin typeface="宋体" pitchFamily="2" charset="-122"/>
                <a:ea typeface="宋体" pitchFamily="2" charset="-122"/>
              </a:rPr>
              <a:t>位进行读写访问的</a:t>
            </a:r>
            <a:r>
              <a:rPr lang="en-US" altLang="zh-CN" b="0" dirty="0">
                <a:latin typeface="宋体" pitchFamily="2" charset="-122"/>
                <a:ea typeface="宋体" pitchFamily="2" charset="-122"/>
              </a:rPr>
              <a:t>32</a:t>
            </a:r>
            <a:r>
              <a:rPr lang="zh-CN" altLang="en-US" b="0" dirty="0">
                <a:latin typeface="宋体" pitchFamily="2" charset="-122"/>
                <a:ea typeface="宋体" pitchFamily="2" charset="-122"/>
              </a:rPr>
              <a:t>位存储器，存储器引脚定义如下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355726"/>
            <a:ext cx="165735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067694"/>
            <a:ext cx="5663853" cy="26632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DF0C6B8-80F1-4AAD-BD8B-7FDF10E097E6}"/>
              </a:ext>
            </a:extLst>
          </p:cNvPr>
          <p:cNvSpPr txBox="1"/>
          <p:nvPr/>
        </p:nvSpPr>
        <p:spPr>
          <a:xfrm>
            <a:off x="7668344" y="3246244"/>
            <a:ext cx="5760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）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18076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46550403"/>
              </p:ext>
            </p:extLst>
          </p:nvPr>
        </p:nvGraphicFramePr>
        <p:xfrm>
          <a:off x="2483768" y="1137393"/>
          <a:ext cx="4880711" cy="12749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4910">
                  <a:extLst>
                    <a:ext uri="{9D8B030D-6E8A-4147-A177-3AD203B41FA5}">
                      <a16:colId xmlns:a16="http://schemas.microsoft.com/office/drawing/2014/main" val="108004197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6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96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96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123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3#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2#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1#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0#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39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11223344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字读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33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44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39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00000044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字节读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44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074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00003344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半字读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33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44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83568" y="101314"/>
            <a:ext cx="7520940" cy="41148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假定</a:t>
            </a:r>
            <a:r>
              <a:rPr lang="en-US" altLang="zh-CN" dirty="0">
                <a:solidFill>
                  <a:srgbClr val="00B0F0"/>
                </a:solidFill>
              </a:rPr>
              <a:t>4</a:t>
            </a:r>
            <a:r>
              <a:rPr lang="zh-CN" altLang="en-US" dirty="0">
                <a:solidFill>
                  <a:srgbClr val="00B0F0"/>
                </a:solidFill>
              </a:rPr>
              <a:t>个</a:t>
            </a:r>
            <a:r>
              <a:rPr lang="en-US" altLang="zh-CN" dirty="0">
                <a:solidFill>
                  <a:srgbClr val="00B0F0"/>
                </a:solidFill>
              </a:rPr>
              <a:t>4K*8</a:t>
            </a:r>
            <a:r>
              <a:rPr lang="zh-CN" altLang="en-US" dirty="0">
                <a:solidFill>
                  <a:srgbClr val="00B0F0"/>
                </a:solidFill>
              </a:rPr>
              <a:t>的</a:t>
            </a:r>
            <a:r>
              <a:rPr lang="en-US" altLang="zh-CN" dirty="0">
                <a:solidFill>
                  <a:srgbClr val="00B0F0"/>
                </a:solidFill>
              </a:rPr>
              <a:t>0</a:t>
            </a:r>
            <a:r>
              <a:rPr lang="zh-CN" altLang="en-US" dirty="0">
                <a:solidFill>
                  <a:srgbClr val="00B0F0"/>
                </a:solidFill>
              </a:rPr>
              <a:t>单元依次存放</a:t>
            </a:r>
            <a:r>
              <a:rPr lang="en-US" altLang="zh-CN" dirty="0">
                <a:solidFill>
                  <a:srgbClr val="00B0F0"/>
                </a:solidFill>
              </a:rPr>
              <a:t>11223344</a:t>
            </a:r>
            <a:br>
              <a:rPr lang="en-US" altLang="zh-CN" dirty="0">
                <a:solidFill>
                  <a:srgbClr val="00B0F0"/>
                </a:solidFill>
              </a:rPr>
            </a:br>
            <a:r>
              <a:rPr lang="zh-CN" altLang="en-US" dirty="0"/>
              <a:t> 地址：   </a:t>
            </a:r>
            <a:r>
              <a:rPr lang="en-US" altLang="zh-CN" dirty="0"/>
              <a:t>0000 0000 00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en-US" altLang="zh-CN" dirty="0">
                <a:solidFill>
                  <a:srgbClr val="00B0F0"/>
                </a:solidFill>
              </a:rPr>
              <a:t>0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9" name="标题 3"/>
          <p:cNvSpPr txBox="1">
            <a:spLocks/>
          </p:cNvSpPr>
          <p:nvPr/>
        </p:nvSpPr>
        <p:spPr>
          <a:xfrm>
            <a:off x="951701" y="2466259"/>
            <a:ext cx="7520940" cy="4114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地址： </a:t>
            </a:r>
            <a:r>
              <a:rPr lang="en-US" altLang="zh-CN" dirty="0"/>
              <a:t>0000 0000 00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en-US" altLang="zh-CN" dirty="0">
                <a:solidFill>
                  <a:srgbClr val="00B0F0"/>
                </a:solidFill>
              </a:rPr>
              <a:t>1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0" name="标题 3"/>
          <p:cNvSpPr txBox="1">
            <a:spLocks/>
          </p:cNvSpPr>
          <p:nvPr/>
        </p:nvSpPr>
        <p:spPr>
          <a:xfrm>
            <a:off x="6948264" y="539774"/>
            <a:ext cx="2083266" cy="4114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cap="none" dirty="0"/>
              <a:t>little endian</a:t>
            </a:r>
            <a:endParaRPr lang="zh-CN" altLang="en-US" cap="none" dirty="0">
              <a:solidFill>
                <a:srgbClr val="00B0F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-81023" y="2185242"/>
            <a:ext cx="543739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cap="all" dirty="0">
                <a:solidFill>
                  <a:srgbClr val="000000"/>
                </a:solidFill>
                <a:latin typeface="Franklin Gothic Medium"/>
                <a:ea typeface="微软雅黑"/>
                <a:cs typeface="+mj-cs"/>
              </a:rPr>
              <a:t>读</a:t>
            </a:r>
            <a:endParaRPr lang="en-US" altLang="zh-CN" sz="2800" cap="all" dirty="0">
              <a:solidFill>
                <a:srgbClr val="000000"/>
              </a:solidFill>
              <a:latin typeface="Franklin Gothic Medium"/>
              <a:ea typeface="微软雅黑"/>
              <a:cs typeface="+mj-cs"/>
            </a:endParaRPr>
          </a:p>
          <a:p>
            <a:r>
              <a:rPr lang="zh-CN" altLang="en-US" sz="2800" cap="all" dirty="0">
                <a:solidFill>
                  <a:srgbClr val="000000"/>
                </a:solidFill>
                <a:latin typeface="Franklin Gothic Medium"/>
                <a:ea typeface="微软雅黑"/>
                <a:cs typeface="+mj-cs"/>
              </a:rPr>
              <a:t>数</a:t>
            </a:r>
            <a:endParaRPr lang="en-US" altLang="zh-CN" sz="2800" cap="all" dirty="0">
              <a:solidFill>
                <a:srgbClr val="000000"/>
              </a:solidFill>
              <a:latin typeface="Franklin Gothic Medium"/>
              <a:ea typeface="微软雅黑"/>
              <a:cs typeface="+mj-cs"/>
            </a:endParaRPr>
          </a:p>
          <a:p>
            <a:r>
              <a:rPr lang="zh-CN" altLang="en-US" sz="2800" cap="all" dirty="0">
                <a:solidFill>
                  <a:srgbClr val="000000"/>
                </a:solidFill>
                <a:latin typeface="Franklin Gothic Medium"/>
                <a:ea typeface="微软雅黑"/>
                <a:cs typeface="+mj-cs"/>
              </a:rPr>
              <a:t>据</a:t>
            </a:r>
            <a:endParaRPr lang="zh-CN" altLang="en-US" dirty="0"/>
          </a:p>
        </p:txBody>
      </p:sp>
      <p:graphicFrame>
        <p:nvGraphicFramePr>
          <p:cNvPr id="17" name="内容占位符 4">
            <a:extLst>
              <a:ext uri="{FF2B5EF4-FFF2-40B4-BE49-F238E27FC236}">
                <a16:creationId xmlns:a16="http://schemas.microsoft.com/office/drawing/2014/main" id="{ED124CE6-1FD3-49C2-952A-60D7706494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6886334"/>
              </p:ext>
            </p:extLst>
          </p:nvPr>
        </p:nvGraphicFramePr>
        <p:xfrm>
          <a:off x="2483768" y="3118968"/>
          <a:ext cx="4880711" cy="12749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4910">
                  <a:extLst>
                    <a:ext uri="{9D8B030D-6E8A-4147-A177-3AD203B41FA5}">
                      <a16:colId xmlns:a16="http://schemas.microsoft.com/office/drawing/2014/main" val="108004197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6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96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96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123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3#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2#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1#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0#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39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11223344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字读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33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44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39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00000033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字节读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33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074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00003344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半字读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33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44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040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71547802"/>
              </p:ext>
            </p:extLst>
          </p:nvPr>
        </p:nvGraphicFramePr>
        <p:xfrm>
          <a:off x="2483768" y="1137393"/>
          <a:ext cx="4880711" cy="12749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4910">
                  <a:extLst>
                    <a:ext uri="{9D8B030D-6E8A-4147-A177-3AD203B41FA5}">
                      <a16:colId xmlns:a16="http://schemas.microsoft.com/office/drawing/2014/main" val="108004197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6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96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96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123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3#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2#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1#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0#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39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11223344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字读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33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44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39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00000022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字节读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22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074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00001122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半字读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22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83568" y="101314"/>
            <a:ext cx="7520940" cy="41148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假定</a:t>
            </a:r>
            <a:r>
              <a:rPr lang="en-US" altLang="zh-CN" dirty="0">
                <a:solidFill>
                  <a:srgbClr val="00B0F0"/>
                </a:solidFill>
              </a:rPr>
              <a:t>4</a:t>
            </a:r>
            <a:r>
              <a:rPr lang="zh-CN" altLang="en-US" dirty="0">
                <a:solidFill>
                  <a:srgbClr val="00B0F0"/>
                </a:solidFill>
              </a:rPr>
              <a:t>个</a:t>
            </a:r>
            <a:r>
              <a:rPr lang="en-US" altLang="zh-CN" dirty="0">
                <a:solidFill>
                  <a:srgbClr val="00B0F0"/>
                </a:solidFill>
              </a:rPr>
              <a:t>4K*8</a:t>
            </a:r>
            <a:r>
              <a:rPr lang="zh-CN" altLang="en-US" dirty="0">
                <a:solidFill>
                  <a:srgbClr val="00B0F0"/>
                </a:solidFill>
              </a:rPr>
              <a:t>的</a:t>
            </a:r>
            <a:r>
              <a:rPr lang="en-US" altLang="zh-CN" dirty="0">
                <a:solidFill>
                  <a:srgbClr val="00B0F0"/>
                </a:solidFill>
              </a:rPr>
              <a:t>0</a:t>
            </a:r>
            <a:r>
              <a:rPr lang="zh-CN" altLang="en-US" dirty="0">
                <a:solidFill>
                  <a:srgbClr val="00B0F0"/>
                </a:solidFill>
              </a:rPr>
              <a:t>单元依次存放</a:t>
            </a:r>
            <a:r>
              <a:rPr lang="en-US" altLang="zh-CN" dirty="0">
                <a:solidFill>
                  <a:srgbClr val="00B0F0"/>
                </a:solidFill>
              </a:rPr>
              <a:t>11223344</a:t>
            </a:r>
            <a:br>
              <a:rPr lang="en-US" altLang="zh-CN" dirty="0">
                <a:solidFill>
                  <a:srgbClr val="00B0F0"/>
                </a:solidFill>
              </a:rPr>
            </a:br>
            <a:r>
              <a:rPr lang="zh-CN" altLang="en-US" dirty="0"/>
              <a:t> 地址： </a:t>
            </a:r>
            <a:r>
              <a:rPr lang="en-US" altLang="zh-CN" dirty="0"/>
              <a:t>   0000 0000 00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00B0F0"/>
                </a:solidFill>
              </a:rPr>
              <a:t>0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9" name="标题 3"/>
          <p:cNvSpPr txBox="1">
            <a:spLocks/>
          </p:cNvSpPr>
          <p:nvPr/>
        </p:nvSpPr>
        <p:spPr>
          <a:xfrm>
            <a:off x="951701" y="2466259"/>
            <a:ext cx="7520940" cy="4114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地址： </a:t>
            </a:r>
            <a:r>
              <a:rPr lang="en-US" altLang="zh-CN" dirty="0"/>
              <a:t>  0000 0000 00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00B0F0"/>
                </a:solidFill>
              </a:rPr>
              <a:t>1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0" name="标题 3"/>
          <p:cNvSpPr txBox="1">
            <a:spLocks/>
          </p:cNvSpPr>
          <p:nvPr/>
        </p:nvSpPr>
        <p:spPr>
          <a:xfrm>
            <a:off x="6948264" y="539774"/>
            <a:ext cx="2083266" cy="4114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cap="none" dirty="0"/>
              <a:t>little endian</a:t>
            </a:r>
            <a:endParaRPr lang="zh-CN" altLang="en-US" cap="none" dirty="0">
              <a:solidFill>
                <a:srgbClr val="00B0F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-81023" y="2185242"/>
            <a:ext cx="543739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cap="all" dirty="0">
                <a:solidFill>
                  <a:srgbClr val="000000"/>
                </a:solidFill>
                <a:latin typeface="Franklin Gothic Medium"/>
                <a:ea typeface="微软雅黑"/>
                <a:cs typeface="+mj-cs"/>
              </a:rPr>
              <a:t>读</a:t>
            </a:r>
            <a:endParaRPr lang="en-US" altLang="zh-CN" sz="2800" cap="all" dirty="0">
              <a:solidFill>
                <a:srgbClr val="000000"/>
              </a:solidFill>
              <a:latin typeface="Franklin Gothic Medium"/>
              <a:ea typeface="微软雅黑"/>
              <a:cs typeface="+mj-cs"/>
            </a:endParaRPr>
          </a:p>
          <a:p>
            <a:r>
              <a:rPr lang="zh-CN" altLang="en-US" sz="2800" cap="all" dirty="0">
                <a:solidFill>
                  <a:srgbClr val="000000"/>
                </a:solidFill>
                <a:latin typeface="Franklin Gothic Medium"/>
                <a:ea typeface="微软雅黑"/>
                <a:cs typeface="+mj-cs"/>
              </a:rPr>
              <a:t>数</a:t>
            </a:r>
            <a:endParaRPr lang="en-US" altLang="zh-CN" sz="2800" cap="all" dirty="0">
              <a:solidFill>
                <a:srgbClr val="000000"/>
              </a:solidFill>
              <a:latin typeface="Franklin Gothic Medium"/>
              <a:ea typeface="微软雅黑"/>
              <a:cs typeface="+mj-cs"/>
            </a:endParaRPr>
          </a:p>
          <a:p>
            <a:r>
              <a:rPr lang="zh-CN" altLang="en-US" sz="2800" cap="all" dirty="0">
                <a:solidFill>
                  <a:srgbClr val="000000"/>
                </a:solidFill>
                <a:latin typeface="Franklin Gothic Medium"/>
                <a:ea typeface="微软雅黑"/>
                <a:cs typeface="+mj-cs"/>
              </a:rPr>
              <a:t>据</a:t>
            </a:r>
            <a:endParaRPr lang="zh-CN" altLang="en-US" dirty="0"/>
          </a:p>
        </p:txBody>
      </p:sp>
      <p:graphicFrame>
        <p:nvGraphicFramePr>
          <p:cNvPr id="17" name="内容占位符 4">
            <a:extLst>
              <a:ext uri="{FF2B5EF4-FFF2-40B4-BE49-F238E27FC236}">
                <a16:creationId xmlns:a16="http://schemas.microsoft.com/office/drawing/2014/main" id="{ED124CE6-1FD3-49C2-952A-60D7706494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7234065"/>
              </p:ext>
            </p:extLst>
          </p:nvPr>
        </p:nvGraphicFramePr>
        <p:xfrm>
          <a:off x="2483768" y="3118968"/>
          <a:ext cx="4880711" cy="12749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4910">
                  <a:extLst>
                    <a:ext uri="{9D8B030D-6E8A-4147-A177-3AD203B41FA5}">
                      <a16:colId xmlns:a16="http://schemas.microsoft.com/office/drawing/2014/main" val="108004197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6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96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96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123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3#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2#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1#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0#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39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11223344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字读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33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44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39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00000011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字节读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074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00001122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半字读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22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717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738071"/>
              </p:ext>
            </p:extLst>
          </p:nvPr>
        </p:nvGraphicFramePr>
        <p:xfrm>
          <a:off x="899592" y="1232406"/>
          <a:ext cx="526353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1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7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输入数据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3#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2#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1#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0#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11223344H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字写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字节写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半字写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64654" y="708074"/>
            <a:ext cx="7520940" cy="411480"/>
          </a:xfrm>
        </p:spPr>
        <p:txBody>
          <a:bodyPr/>
          <a:lstStyle/>
          <a:p>
            <a:r>
              <a:rPr lang="zh-CN" altLang="en-US" dirty="0"/>
              <a:t>地址： </a:t>
            </a:r>
            <a:r>
              <a:rPr lang="en-US" altLang="zh-CN" dirty="0"/>
              <a:t>  0000 0000 00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en-US" altLang="zh-CN" dirty="0">
                <a:solidFill>
                  <a:srgbClr val="3090D8"/>
                </a:solidFill>
              </a:rPr>
              <a:t>0</a:t>
            </a:r>
            <a:endParaRPr lang="zh-CN" altLang="en-US" dirty="0">
              <a:solidFill>
                <a:srgbClr val="3090D8"/>
              </a:solidFill>
            </a:endParaRPr>
          </a:p>
        </p:txBody>
      </p:sp>
      <p:graphicFrame>
        <p:nvGraphicFramePr>
          <p:cNvPr id="8" name="内容占位符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73056848"/>
              </p:ext>
            </p:extLst>
          </p:nvPr>
        </p:nvGraphicFramePr>
        <p:xfrm>
          <a:off x="964654" y="3320638"/>
          <a:ext cx="526353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1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7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输入数据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3#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2#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1#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0#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11223344H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字写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字节写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半字写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标题 3"/>
          <p:cNvSpPr txBox="1">
            <a:spLocks/>
          </p:cNvSpPr>
          <p:nvPr/>
        </p:nvSpPr>
        <p:spPr>
          <a:xfrm>
            <a:off x="939492" y="2808342"/>
            <a:ext cx="7520940" cy="4114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地址： </a:t>
            </a:r>
            <a:r>
              <a:rPr lang="en-US" altLang="zh-CN" dirty="0"/>
              <a:t>   0000 0000 00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en-US" altLang="zh-CN" dirty="0">
                <a:solidFill>
                  <a:srgbClr val="00B0F0"/>
                </a:solidFill>
              </a:rPr>
              <a:t>1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0" name="标题 3"/>
          <p:cNvSpPr txBox="1">
            <a:spLocks/>
          </p:cNvSpPr>
          <p:nvPr/>
        </p:nvSpPr>
        <p:spPr>
          <a:xfrm>
            <a:off x="7060734" y="73204"/>
            <a:ext cx="2083266" cy="4114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cap="none" dirty="0"/>
              <a:t>little endian</a:t>
            </a:r>
            <a:endParaRPr lang="zh-CN" altLang="en-US" cap="none" dirty="0">
              <a:solidFill>
                <a:srgbClr val="00B0F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939492" y="161518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/>
              <a:t>写数据</a:t>
            </a:r>
            <a:r>
              <a:rPr lang="en-US" altLang="zh-CN" sz="2800" dirty="0"/>
              <a:t>Ox11223344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25673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76949924"/>
              </p:ext>
            </p:extLst>
          </p:nvPr>
        </p:nvGraphicFramePr>
        <p:xfrm>
          <a:off x="899592" y="1232406"/>
          <a:ext cx="526353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1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7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输入数据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3#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2#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1#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0#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11223344H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字写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字节写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半字写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64654" y="708074"/>
            <a:ext cx="7520940" cy="411480"/>
          </a:xfrm>
        </p:spPr>
        <p:txBody>
          <a:bodyPr/>
          <a:lstStyle/>
          <a:p>
            <a:r>
              <a:rPr lang="zh-CN" altLang="en-US" dirty="0"/>
              <a:t>地址： </a:t>
            </a:r>
            <a:r>
              <a:rPr lang="en-US" altLang="zh-CN" dirty="0"/>
              <a:t>  0000 0000 00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3090D8"/>
                </a:solidFill>
              </a:rPr>
              <a:t>0</a:t>
            </a:r>
            <a:endParaRPr lang="zh-CN" altLang="en-US" dirty="0">
              <a:solidFill>
                <a:srgbClr val="3090D8"/>
              </a:solidFill>
            </a:endParaRPr>
          </a:p>
        </p:txBody>
      </p:sp>
      <p:graphicFrame>
        <p:nvGraphicFramePr>
          <p:cNvPr id="8" name="内容占位符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43286010"/>
              </p:ext>
            </p:extLst>
          </p:nvPr>
        </p:nvGraphicFramePr>
        <p:xfrm>
          <a:off x="964654" y="3320638"/>
          <a:ext cx="526353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1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7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输入数据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3#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2#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1#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0#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11223344H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字写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字节写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半字写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标题 3"/>
          <p:cNvSpPr txBox="1">
            <a:spLocks/>
          </p:cNvSpPr>
          <p:nvPr/>
        </p:nvSpPr>
        <p:spPr>
          <a:xfrm>
            <a:off x="939492" y="2808342"/>
            <a:ext cx="7520940" cy="4114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地址： </a:t>
            </a:r>
            <a:r>
              <a:rPr lang="en-US" altLang="zh-CN" dirty="0"/>
              <a:t>  0000 0000 00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00B0F0"/>
                </a:solidFill>
              </a:rPr>
              <a:t>1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0" name="标题 3"/>
          <p:cNvSpPr txBox="1">
            <a:spLocks/>
          </p:cNvSpPr>
          <p:nvPr/>
        </p:nvSpPr>
        <p:spPr>
          <a:xfrm>
            <a:off x="7060734" y="73204"/>
            <a:ext cx="2083266" cy="4114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cap="none" dirty="0"/>
              <a:t>little endian</a:t>
            </a:r>
            <a:endParaRPr lang="zh-CN" altLang="en-US" cap="none" dirty="0">
              <a:solidFill>
                <a:srgbClr val="00B0F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939492" y="161518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/>
              <a:t>写数据</a:t>
            </a:r>
            <a:r>
              <a:rPr lang="en-US" altLang="zh-CN" sz="2800" dirty="0"/>
              <a:t>Ox11223344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40671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设计思路：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4K*8</a:t>
            </a:r>
            <a:r>
              <a:rPr lang="zh-CN" altLang="en-US" dirty="0"/>
              <a:t>的存储器进行扩展，</a:t>
            </a:r>
            <a:r>
              <a:rPr lang="en-US" altLang="zh-CN" dirty="0"/>
              <a:t>A13..A2</a:t>
            </a:r>
            <a:r>
              <a:rPr lang="zh-CN" altLang="en-US" dirty="0"/>
              <a:t>片内地址</a:t>
            </a:r>
            <a:r>
              <a:rPr lang="en-US" altLang="zh-CN" dirty="0"/>
              <a:t>(</a:t>
            </a:r>
            <a:r>
              <a:rPr lang="zh-CN" altLang="en-US" dirty="0"/>
              <a:t>字地址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A1A0</a:t>
            </a:r>
            <a:r>
              <a:rPr lang="zh-CN" altLang="en-US" dirty="0"/>
              <a:t>字节地址，</a:t>
            </a:r>
            <a:r>
              <a:rPr lang="en-US" altLang="zh-CN" dirty="0"/>
              <a:t>A1</a:t>
            </a:r>
            <a:r>
              <a:rPr lang="zh-CN" altLang="en-US" dirty="0"/>
              <a:t>半字地址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读</a:t>
            </a:r>
            <a:r>
              <a:rPr lang="zh-CN" altLang="en-US" dirty="0"/>
              <a:t>：利用字地址同时选通</a:t>
            </a:r>
            <a:r>
              <a:rPr lang="en-US" altLang="zh-CN" dirty="0"/>
              <a:t>4</a:t>
            </a:r>
            <a:r>
              <a:rPr lang="zh-CN" altLang="en-US" dirty="0"/>
              <a:t>个芯片，读出</a:t>
            </a:r>
            <a:r>
              <a:rPr lang="en-US" altLang="zh-CN" dirty="0"/>
              <a:t>D</a:t>
            </a:r>
            <a:r>
              <a:rPr lang="en-US" altLang="zh-CN" baseline="-25000" dirty="0"/>
              <a:t>3</a:t>
            </a:r>
            <a:r>
              <a:rPr lang="en-US" altLang="zh-CN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D</a:t>
            </a:r>
            <a:r>
              <a:rPr lang="en-US" altLang="zh-CN" baseline="-25000" dirty="0"/>
              <a:t>0 </a:t>
            </a:r>
            <a:r>
              <a:rPr lang="zh-CN" altLang="en-US" dirty="0"/>
              <a:t>，然后根据</a:t>
            </a:r>
            <a:r>
              <a:rPr lang="zh-CN" altLang="en-US" dirty="0">
                <a:solidFill>
                  <a:srgbClr val="FF0000"/>
                </a:solidFill>
              </a:rPr>
              <a:t>读模式和地址低位</a:t>
            </a:r>
            <a:r>
              <a:rPr lang="zh-CN" altLang="en-US" dirty="0"/>
              <a:t>从读出数据</a:t>
            </a:r>
            <a:r>
              <a:rPr lang="en-US" altLang="zh-CN" dirty="0"/>
              <a:t>D</a:t>
            </a:r>
            <a:r>
              <a:rPr lang="en-US" altLang="zh-CN" baseline="-25000" dirty="0"/>
              <a:t>3</a:t>
            </a:r>
            <a:r>
              <a:rPr lang="en-US" altLang="zh-CN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D</a:t>
            </a:r>
            <a:r>
              <a:rPr lang="en-US" altLang="zh-CN" baseline="-25000" dirty="0"/>
              <a:t>0</a:t>
            </a:r>
            <a:r>
              <a:rPr lang="zh-CN" altLang="en-US" dirty="0"/>
              <a:t>中选择性输出到</a:t>
            </a:r>
            <a:r>
              <a:rPr lang="en-US" altLang="zh-CN" dirty="0"/>
              <a:t>out</a:t>
            </a:r>
            <a:r>
              <a:rPr lang="zh-CN" altLang="en-US" dirty="0"/>
              <a:t>引脚（字</a:t>
            </a:r>
            <a:r>
              <a:rPr lang="en-US" altLang="zh-CN" dirty="0"/>
              <a:t>/</a:t>
            </a:r>
            <a:r>
              <a:rPr lang="zh-CN" altLang="en-US" dirty="0"/>
              <a:t>半字</a:t>
            </a:r>
            <a:r>
              <a:rPr lang="en-US" altLang="zh-CN" dirty="0"/>
              <a:t>/</a:t>
            </a:r>
            <a:r>
              <a:rPr lang="zh-CN" altLang="en-US" dirty="0"/>
              <a:t>字节），空余部分补</a:t>
            </a:r>
            <a:r>
              <a:rPr lang="en-US" altLang="zh-CN" dirty="0"/>
              <a:t>0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写</a:t>
            </a:r>
            <a:r>
              <a:rPr lang="zh-CN" altLang="en-US" dirty="0"/>
              <a:t>：根据</a:t>
            </a:r>
            <a:r>
              <a:rPr lang="zh-CN" altLang="en-US" dirty="0">
                <a:solidFill>
                  <a:srgbClr val="FF0000"/>
                </a:solidFill>
              </a:rPr>
              <a:t>模式位和地址低位</a:t>
            </a:r>
            <a:r>
              <a:rPr lang="zh-CN" altLang="en-US" dirty="0"/>
              <a:t>，将输入数据重新组织，生成各芯片的数据输入；然后根据模式和低位地址形成芯片选通信号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7596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825678"/>
              </p:ext>
            </p:extLst>
          </p:nvPr>
        </p:nvGraphicFramePr>
        <p:xfrm>
          <a:off x="35496" y="645730"/>
          <a:ext cx="7488833" cy="3051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9841">
                <a:tc>
                  <a:txBody>
                    <a:bodyPr/>
                    <a:lstStyle/>
                    <a:p>
                      <a:r>
                        <a:rPr lang="en-US" altLang="zh-CN" dirty="0"/>
                        <a:t>mode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待写数据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实际写数据格式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实际选通芯片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41">
                <a:tc>
                  <a:txBody>
                    <a:bodyPr/>
                    <a:lstStyle/>
                    <a:p>
                      <a:r>
                        <a:rPr lang="en-US" altLang="zh-CN" dirty="0"/>
                        <a:t>OO</a:t>
                      </a:r>
                      <a:r>
                        <a:rPr lang="zh-CN" altLang="en-US" dirty="0"/>
                        <a:t>（字写）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3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2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3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2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3#2#1#0#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46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3090D8"/>
                          </a:solidFill>
                        </a:rPr>
                        <a:t>01</a:t>
                      </a:r>
                      <a:r>
                        <a:rPr lang="zh-CN" altLang="en-US" dirty="0">
                          <a:solidFill>
                            <a:srgbClr val="3090D8"/>
                          </a:solidFill>
                        </a:rPr>
                        <a:t>（</a:t>
                      </a:r>
                      <a:r>
                        <a:rPr lang="zh-CN" altLang="en-US" sz="1600" dirty="0">
                          <a:solidFill>
                            <a:srgbClr val="3090D8"/>
                          </a:solidFill>
                        </a:rPr>
                        <a:t>字节写</a:t>
                      </a:r>
                      <a:r>
                        <a:rPr lang="zh-CN" altLang="en-US" dirty="0">
                          <a:solidFill>
                            <a:srgbClr val="3090D8"/>
                          </a:solidFill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3</a:t>
                      </a:r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2</a:t>
                      </a:r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r>
                        <a:rPr lang="en-US" altLang="zh-CN" dirty="0">
                          <a:solidFill>
                            <a:srgbClr val="3090D8"/>
                          </a:solidFill>
                        </a:rPr>
                        <a:t>D</a:t>
                      </a:r>
                      <a:r>
                        <a:rPr lang="en-US" altLang="zh-CN" baseline="-25000" dirty="0">
                          <a:solidFill>
                            <a:srgbClr val="3090D8"/>
                          </a:solidFill>
                        </a:rPr>
                        <a:t>0</a:t>
                      </a:r>
                      <a:endParaRPr lang="zh-CN" altLang="en-US" baseline="-25000" dirty="0">
                        <a:solidFill>
                          <a:srgbClr val="3090D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0#</a:t>
                      </a:r>
                      <a:endParaRPr lang="zh-CN" altLang="en-US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41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3090D8"/>
                          </a:solidFill>
                        </a:rPr>
                        <a:t>01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90D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90D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字节写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90D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dirty="0">
                        <a:solidFill>
                          <a:srgbClr val="3090D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3</a:t>
                      </a:r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2</a:t>
                      </a:r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r>
                        <a:rPr lang="en-US" altLang="zh-CN" dirty="0">
                          <a:solidFill>
                            <a:srgbClr val="3090D8"/>
                          </a:solidFill>
                        </a:rPr>
                        <a:t>D</a:t>
                      </a:r>
                      <a:r>
                        <a:rPr lang="en-US" altLang="zh-CN" baseline="-25000" dirty="0">
                          <a:solidFill>
                            <a:srgbClr val="3090D8"/>
                          </a:solidFill>
                        </a:rPr>
                        <a:t>0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1#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41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3090D8"/>
                          </a:solidFill>
                        </a:rPr>
                        <a:t>01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90D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90D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字节写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90D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dirty="0">
                        <a:solidFill>
                          <a:srgbClr val="3090D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3</a:t>
                      </a:r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2</a:t>
                      </a:r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r>
                        <a:rPr lang="en-US" altLang="zh-CN" dirty="0">
                          <a:solidFill>
                            <a:srgbClr val="3090D8"/>
                          </a:solidFill>
                        </a:rPr>
                        <a:t>D</a:t>
                      </a:r>
                      <a:r>
                        <a:rPr lang="en-US" altLang="zh-CN" baseline="-25000" dirty="0">
                          <a:solidFill>
                            <a:srgbClr val="3090D8"/>
                          </a:solidFill>
                        </a:rPr>
                        <a:t>0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2#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41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3090D8"/>
                          </a:solidFill>
                        </a:rPr>
                        <a:t>01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90D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90D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字节写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90D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dirty="0">
                        <a:solidFill>
                          <a:srgbClr val="3090D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3</a:t>
                      </a:r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2</a:t>
                      </a:r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3090D8"/>
                          </a:solidFill>
                        </a:rPr>
                        <a:t>D</a:t>
                      </a:r>
                      <a:r>
                        <a:rPr lang="en-US" altLang="zh-CN" baseline="-25000" dirty="0">
                          <a:solidFill>
                            <a:srgbClr val="3090D8"/>
                          </a:solidFill>
                        </a:rPr>
                        <a:t>0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3#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841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</a:rPr>
                        <a:t>（半字写）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3</a:t>
                      </a:r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2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3#2#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841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kumimoji="0" lang="zh-CN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（半字写）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3</a:t>
                      </a:r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2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dirty="0"/>
                        <a:t>D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1#0#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标题 4"/>
          <p:cNvSpPr>
            <a:spLocks noGrp="1"/>
          </p:cNvSpPr>
          <p:nvPr>
            <p:ph type="title"/>
          </p:nvPr>
        </p:nvSpPr>
        <p:spPr>
          <a:xfrm>
            <a:off x="251520" y="123478"/>
            <a:ext cx="8496944" cy="411480"/>
          </a:xfrm>
        </p:spPr>
        <p:txBody>
          <a:bodyPr/>
          <a:lstStyle/>
          <a:p>
            <a:r>
              <a:rPr lang="zh-CN" altLang="en-US" dirty="0"/>
              <a:t>写存储器：设原始待写数据</a:t>
            </a:r>
            <a:r>
              <a:rPr lang="en-US" altLang="zh-CN" dirty="0"/>
              <a:t>Din= D</a:t>
            </a:r>
            <a:r>
              <a:rPr lang="en-US" altLang="zh-CN" baseline="-25000" dirty="0"/>
              <a:t>3</a:t>
            </a:r>
            <a:r>
              <a:rPr lang="en-US" altLang="zh-CN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D</a:t>
            </a:r>
            <a:r>
              <a:rPr lang="en-US" altLang="zh-CN" baseline="-25000" dirty="0"/>
              <a:t>0</a:t>
            </a:r>
            <a:br>
              <a:rPr lang="zh-CN" altLang="en-US" baseline="-25000" dirty="0"/>
            </a:br>
            <a:endParaRPr lang="zh-CN" altLang="en-US" dirty="0"/>
          </a:p>
        </p:txBody>
      </p:sp>
      <p:sp>
        <p:nvSpPr>
          <p:cNvPr id="7" name="标题 4"/>
          <p:cNvSpPr txBox="1">
            <a:spLocks/>
          </p:cNvSpPr>
          <p:nvPr/>
        </p:nvSpPr>
        <p:spPr>
          <a:xfrm>
            <a:off x="395536" y="3651870"/>
            <a:ext cx="8748464" cy="38164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/>
              <a:t>当</a:t>
            </a:r>
            <a:r>
              <a:rPr lang="en-US" altLang="zh-CN" sz="2000" dirty="0"/>
              <a:t>mode=10: Din32=&gt;D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D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D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D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,</a:t>
            </a:r>
            <a:r>
              <a:rPr lang="zh-CN" altLang="en-US" sz="2000" dirty="0"/>
              <a:t>由地址低</a:t>
            </a:r>
            <a:r>
              <a:rPr lang="en-US" altLang="zh-CN" sz="2000" dirty="0"/>
              <a:t>1</a:t>
            </a:r>
            <a:r>
              <a:rPr lang="zh-CN" altLang="en-US" sz="2000" dirty="0"/>
              <a:t>位选择</a:t>
            </a:r>
            <a:r>
              <a:rPr lang="en-US" altLang="zh-CN" sz="2000" dirty="0"/>
              <a:t>CS</a:t>
            </a:r>
          </a:p>
          <a:p>
            <a:r>
              <a:rPr lang="zh-CN" altLang="en-US" sz="2000" dirty="0"/>
              <a:t>当</a:t>
            </a:r>
            <a:r>
              <a:rPr lang="en-US" altLang="zh-CN" sz="2000" dirty="0"/>
              <a:t>mode=10 ,  </a:t>
            </a:r>
            <a:r>
              <a:rPr lang="zh-CN" altLang="en-US" sz="2000" dirty="0"/>
              <a:t>且</a:t>
            </a:r>
            <a:r>
              <a:rPr lang="en-US" altLang="zh-CN" sz="2000" dirty="0"/>
              <a:t>A1=1</a:t>
            </a:r>
            <a:r>
              <a:rPr lang="zh-CN" altLang="en-US" sz="2000" dirty="0"/>
              <a:t>时，选通</a:t>
            </a:r>
            <a:r>
              <a:rPr lang="en-US" altLang="zh-CN" sz="2000" dirty="0"/>
              <a:t>3#2#,  </a:t>
            </a:r>
            <a:r>
              <a:rPr lang="zh-CN" altLang="en-US" sz="2000" dirty="0"/>
              <a:t>进行写</a:t>
            </a:r>
            <a:endParaRPr lang="en-US" altLang="zh-CN" sz="2000" dirty="0"/>
          </a:p>
          <a:p>
            <a:r>
              <a:rPr lang="en-US" altLang="zh-CN" sz="2000" dirty="0"/>
              <a:t>    mode=10,   </a:t>
            </a:r>
            <a:r>
              <a:rPr lang="zh-CN" altLang="en-US" sz="2000" dirty="0"/>
              <a:t>且</a:t>
            </a:r>
            <a:r>
              <a:rPr lang="en-US" altLang="zh-CN" sz="2000" dirty="0"/>
              <a:t>A1=0</a:t>
            </a:r>
            <a:r>
              <a:rPr lang="zh-CN" altLang="en-US" sz="2000" dirty="0"/>
              <a:t>时，选通</a:t>
            </a:r>
            <a:r>
              <a:rPr lang="en-US" altLang="zh-CN" sz="2000" dirty="0"/>
              <a:t>1#0#,  </a:t>
            </a:r>
            <a:r>
              <a:rPr lang="zh-CN" altLang="en-US" sz="2000" dirty="0"/>
              <a:t>进行写</a:t>
            </a:r>
            <a:endParaRPr lang="en-US" altLang="zh-CN" sz="2000" dirty="0"/>
          </a:p>
          <a:p>
            <a:r>
              <a:rPr lang="en-US" altLang="zh-CN" sz="2000" dirty="0"/>
              <a:t>    mode=01: din32=&gt;</a:t>
            </a:r>
            <a:r>
              <a:rPr lang="en-US" altLang="zh-CN" sz="2000" dirty="0">
                <a:solidFill>
                  <a:srgbClr val="3090D8"/>
                </a:solidFill>
              </a:rPr>
              <a:t>D</a:t>
            </a:r>
            <a:r>
              <a:rPr lang="en-US" altLang="zh-CN" sz="2000" baseline="-25000" dirty="0">
                <a:solidFill>
                  <a:srgbClr val="3090D8"/>
                </a:solidFill>
              </a:rPr>
              <a:t>0</a:t>
            </a:r>
            <a:r>
              <a:rPr lang="en-US" altLang="zh-CN" sz="2000" dirty="0"/>
              <a:t>D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D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D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,</a:t>
            </a:r>
            <a:r>
              <a:rPr lang="zh-CN" altLang="en-US" sz="2000" dirty="0"/>
              <a:t>由地址低</a:t>
            </a:r>
            <a:r>
              <a:rPr lang="en-US" altLang="zh-CN" sz="2000" dirty="0"/>
              <a:t>2</a:t>
            </a:r>
            <a:r>
              <a:rPr lang="zh-CN" altLang="en-US" sz="2000" dirty="0"/>
              <a:t>位形成各芯片选信号</a:t>
            </a:r>
            <a:r>
              <a:rPr lang="en-US" altLang="zh-CN" sz="2000" dirty="0"/>
              <a:t>CS</a:t>
            </a:r>
            <a:endParaRPr lang="zh-CN" altLang="en-US" sz="2000" dirty="0"/>
          </a:p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E84BA1-FED7-E5C6-8F7E-416BB1AC406B}"/>
              </a:ext>
            </a:extLst>
          </p:cNvPr>
          <p:cNvSpPr txBox="1"/>
          <p:nvPr/>
        </p:nvSpPr>
        <p:spPr>
          <a:xfrm>
            <a:off x="7596336" y="162651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X:</a:t>
            </a:r>
            <a:r>
              <a:rPr lang="zh-CN" altLang="en-US" b="1" dirty="0"/>
              <a:t>无用数据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7911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7" y="987574"/>
            <a:ext cx="5377379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900029"/>
            <a:ext cx="1971927" cy="1188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箭头连接符 5"/>
          <p:cNvCxnSpPr/>
          <p:nvPr/>
        </p:nvCxnSpPr>
        <p:spPr>
          <a:xfrm flipH="1">
            <a:off x="5436096" y="411510"/>
            <a:ext cx="792088" cy="7920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300192" y="267494"/>
            <a:ext cx="108012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r>
              <a:rPr lang="zh-CN" altLang="en-US" dirty="0"/>
              <a:t>字写</a:t>
            </a:r>
          </a:p>
        </p:txBody>
      </p:sp>
      <p:sp>
        <p:nvSpPr>
          <p:cNvPr id="12" name="矩形 11"/>
          <p:cNvSpPr/>
          <p:nvPr/>
        </p:nvSpPr>
        <p:spPr>
          <a:xfrm>
            <a:off x="2771800" y="720009"/>
            <a:ext cx="108012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r>
              <a:rPr lang="zh-CN" altLang="en-US" dirty="0"/>
              <a:t>半字写</a:t>
            </a:r>
          </a:p>
        </p:txBody>
      </p:sp>
      <p:cxnSp>
        <p:nvCxnSpPr>
          <p:cNvPr id="13" name="直接箭头连接符 12"/>
          <p:cNvCxnSpPr>
            <a:stCxn id="12" idx="2"/>
          </p:cNvCxnSpPr>
          <p:nvPr/>
        </p:nvCxnSpPr>
        <p:spPr>
          <a:xfrm>
            <a:off x="3311860" y="1080049"/>
            <a:ext cx="972108" cy="91563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283968" y="4083918"/>
            <a:ext cx="108012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r>
              <a:rPr lang="zh-CN" altLang="en-US" dirty="0"/>
              <a:t>字节写</a:t>
            </a:r>
          </a:p>
        </p:txBody>
      </p:sp>
      <p:cxnSp>
        <p:nvCxnSpPr>
          <p:cNvPr id="17" name="直接箭头连接符 16"/>
          <p:cNvCxnSpPr/>
          <p:nvPr/>
        </p:nvCxnSpPr>
        <p:spPr>
          <a:xfrm flipH="1" flipV="1">
            <a:off x="4716016" y="3435846"/>
            <a:ext cx="72008" cy="64807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628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225334"/>
              </p:ext>
            </p:extLst>
          </p:nvPr>
        </p:nvGraphicFramePr>
        <p:xfrm>
          <a:off x="1475656" y="1131590"/>
          <a:ext cx="495427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6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模式</a:t>
                      </a:r>
                      <a:r>
                        <a:rPr lang="en-US" altLang="zh-CN" dirty="0"/>
                        <a:t>mode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内部读出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实际输出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OO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D3D2D1D0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D3D2D1D0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D3D2D1D0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00 00 00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D0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D3D2D1D0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00 00 00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D1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D3D2D1D0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00 00 00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D2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D3D2D1D0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r>
                        <a:rPr lang="en-US" altLang="zh-CN" baseline="0" dirty="0"/>
                        <a:t> 00 00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D3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3090D8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rgbClr val="3090D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D3D2D1D0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00 00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D3</a:t>
                      </a:r>
                      <a:r>
                        <a:rPr lang="en-US" altLang="zh-CN" baseline="0" dirty="0">
                          <a:solidFill>
                            <a:srgbClr val="FF0000"/>
                          </a:solidFill>
                        </a:rPr>
                        <a:t> D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3090D8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rgbClr val="3090D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D3D2D1D0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00 00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D1</a:t>
                      </a:r>
                      <a:r>
                        <a:rPr lang="en-US" altLang="zh-CN" baseline="0" dirty="0">
                          <a:solidFill>
                            <a:srgbClr val="FF0000"/>
                          </a:solidFill>
                        </a:rPr>
                        <a:t> D0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标题 4"/>
          <p:cNvSpPr>
            <a:spLocks noGrp="1"/>
          </p:cNvSpPr>
          <p:nvPr>
            <p:ph type="title"/>
          </p:nvPr>
        </p:nvSpPr>
        <p:spPr>
          <a:xfrm>
            <a:off x="287760" y="123478"/>
            <a:ext cx="8496944" cy="411480"/>
          </a:xfrm>
        </p:spPr>
        <p:txBody>
          <a:bodyPr/>
          <a:lstStyle/>
          <a:p>
            <a:r>
              <a:rPr lang="zh-CN" altLang="en-US" dirty="0"/>
              <a:t>读存储器：设</a:t>
            </a:r>
            <a:r>
              <a:rPr lang="en-US" altLang="zh-CN" dirty="0"/>
              <a:t>D=D</a:t>
            </a:r>
            <a:r>
              <a:rPr lang="en-US" altLang="zh-CN" baseline="-25000" dirty="0"/>
              <a:t>3</a:t>
            </a:r>
            <a:r>
              <a:rPr lang="en-US" altLang="zh-CN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D</a:t>
            </a:r>
            <a:r>
              <a:rPr lang="en-US" altLang="zh-CN" baseline="-25000" dirty="0"/>
              <a:t>0</a:t>
            </a:r>
            <a:br>
              <a:rPr lang="zh-CN" altLang="en-US" baseline="-25000" dirty="0"/>
            </a:br>
            <a:endParaRPr lang="zh-CN" altLang="en-US" dirty="0"/>
          </a:p>
        </p:txBody>
      </p:sp>
      <p:sp>
        <p:nvSpPr>
          <p:cNvPr id="4" name="标题 4"/>
          <p:cNvSpPr txBox="1">
            <a:spLocks/>
          </p:cNvSpPr>
          <p:nvPr/>
        </p:nvSpPr>
        <p:spPr>
          <a:xfrm>
            <a:off x="304116" y="627534"/>
            <a:ext cx="8712968" cy="38164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/>
              <a:t>读数据时，</a:t>
            </a:r>
            <a:r>
              <a:rPr lang="en-US" altLang="zh-CN" sz="2000" dirty="0"/>
              <a:t>4</a:t>
            </a:r>
            <a:r>
              <a:rPr lang="zh-CN" altLang="en-US" sz="2000" dirty="0"/>
              <a:t>个芯片同时选通，然后根据</a:t>
            </a:r>
            <a:r>
              <a:rPr lang="en-US" altLang="zh-CN" sz="2000" dirty="0"/>
              <a:t>mode</a:t>
            </a:r>
            <a:r>
              <a:rPr lang="zh-CN" altLang="en-US" sz="2000" dirty="0"/>
              <a:t>和</a:t>
            </a:r>
            <a:r>
              <a:rPr lang="en-US" altLang="zh-CN" sz="2000" dirty="0"/>
              <a:t>A1A0</a:t>
            </a:r>
            <a:r>
              <a:rPr lang="zh-CN" altLang="en-US" sz="2000" dirty="0"/>
              <a:t>确定输出数据</a:t>
            </a:r>
            <a:r>
              <a:rPr lang="en-US" altLang="zh-CN" sz="2000" dirty="0"/>
              <a:t>:</a:t>
            </a:r>
          </a:p>
          <a:p>
            <a:endParaRPr lang="zh-CN" altLang="en-US" dirty="0"/>
          </a:p>
        </p:txBody>
      </p:sp>
      <p:sp>
        <p:nvSpPr>
          <p:cNvPr id="7" name="标题 4"/>
          <p:cNvSpPr txBox="1">
            <a:spLocks/>
          </p:cNvSpPr>
          <p:nvPr/>
        </p:nvSpPr>
        <p:spPr>
          <a:xfrm>
            <a:off x="395536" y="4227934"/>
            <a:ext cx="8640960" cy="5760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/>
              <a:t>当</a:t>
            </a:r>
            <a:r>
              <a:rPr lang="en-US" altLang="zh-CN" sz="2000" dirty="0"/>
              <a:t>mode=10: </a:t>
            </a:r>
            <a:r>
              <a:rPr lang="zh-CN" altLang="en-US" sz="2000" dirty="0"/>
              <a:t>存储器同时输出</a:t>
            </a:r>
            <a:r>
              <a:rPr lang="en-US" altLang="zh-CN" sz="2000" dirty="0"/>
              <a:t>D3D2D1D0</a:t>
            </a:r>
            <a:r>
              <a:rPr lang="zh-CN" altLang="en-US" sz="2000" dirty="0"/>
              <a:t>，</a:t>
            </a:r>
            <a:endParaRPr lang="en-US" altLang="zh-CN" sz="2000" dirty="0"/>
          </a:p>
          <a:p>
            <a:r>
              <a:rPr lang="zh-CN" altLang="en-US" sz="2000" dirty="0"/>
              <a:t>当</a:t>
            </a:r>
            <a:r>
              <a:rPr lang="en-US" altLang="zh-CN" sz="2000" dirty="0"/>
              <a:t>A1=1</a:t>
            </a:r>
            <a:r>
              <a:rPr lang="zh-CN" altLang="en-US" sz="2000" dirty="0"/>
              <a:t>时，将</a:t>
            </a:r>
            <a:r>
              <a:rPr lang="en-US" altLang="zh-CN" sz="2000" dirty="0"/>
              <a:t>D3D2</a:t>
            </a:r>
            <a:r>
              <a:rPr lang="zh-CN" altLang="en-US" sz="2000" dirty="0"/>
              <a:t>送出      当</a:t>
            </a:r>
            <a:r>
              <a:rPr lang="en-US" altLang="zh-CN" sz="2000" dirty="0"/>
              <a:t>A1=0</a:t>
            </a:r>
            <a:r>
              <a:rPr lang="zh-CN" altLang="en-US" sz="2000" dirty="0"/>
              <a:t>时，将</a:t>
            </a:r>
            <a:r>
              <a:rPr lang="en-US" altLang="zh-CN" sz="2000" dirty="0"/>
              <a:t>D1D0</a:t>
            </a:r>
            <a:r>
              <a:rPr lang="zh-CN" altLang="en-US" sz="2000" dirty="0"/>
              <a:t>送出</a:t>
            </a:r>
            <a:endParaRPr lang="en-US" altLang="zh-CN" sz="2000" dirty="0"/>
          </a:p>
          <a:p>
            <a:endParaRPr lang="en-US" altLang="zh-CN" sz="2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3476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39502"/>
            <a:ext cx="6314529" cy="4515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箭头连接符 5"/>
          <p:cNvCxnSpPr/>
          <p:nvPr/>
        </p:nvCxnSpPr>
        <p:spPr>
          <a:xfrm flipH="1">
            <a:off x="4095016" y="319035"/>
            <a:ext cx="792088" cy="7920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959112" y="175019"/>
            <a:ext cx="108012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r>
              <a:rPr lang="zh-CN" altLang="en-US" dirty="0"/>
              <a:t>字读</a:t>
            </a:r>
          </a:p>
        </p:txBody>
      </p:sp>
      <p:sp>
        <p:nvSpPr>
          <p:cNvPr id="8" name="矩形 7"/>
          <p:cNvSpPr/>
          <p:nvPr/>
        </p:nvSpPr>
        <p:spPr>
          <a:xfrm>
            <a:off x="1430720" y="627534"/>
            <a:ext cx="108012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r>
              <a:rPr lang="zh-CN" altLang="en-US" dirty="0"/>
              <a:t>半字读</a:t>
            </a:r>
          </a:p>
        </p:txBody>
      </p:sp>
      <p:cxnSp>
        <p:nvCxnSpPr>
          <p:cNvPr id="9" name="直接箭头连接符 8"/>
          <p:cNvCxnSpPr>
            <a:stCxn id="8" idx="2"/>
          </p:cNvCxnSpPr>
          <p:nvPr/>
        </p:nvCxnSpPr>
        <p:spPr>
          <a:xfrm>
            <a:off x="1970780" y="987574"/>
            <a:ext cx="972108" cy="91563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626964" y="4587974"/>
            <a:ext cx="108012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r>
              <a:rPr lang="zh-CN" altLang="en-US" dirty="0"/>
              <a:t>字节读</a:t>
            </a:r>
          </a:p>
        </p:txBody>
      </p:sp>
      <p:cxnSp>
        <p:nvCxnSpPr>
          <p:cNvPr id="11" name="直接箭头连接符 10"/>
          <p:cNvCxnSpPr/>
          <p:nvPr/>
        </p:nvCxnSpPr>
        <p:spPr>
          <a:xfrm flipH="1" flipV="1">
            <a:off x="4095016" y="3847427"/>
            <a:ext cx="72008" cy="64807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272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87069\AppData\Roaming\Tencent\Users\8618070\QQ\WinTemp\RichOle\U}%MKR)ZN}F0TQCCOT}YO8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787774"/>
            <a:ext cx="4257675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771550"/>
            <a:ext cx="3713774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54495AC-A750-478E-9371-AE2C9BFD8601}"/>
              </a:ext>
            </a:extLst>
          </p:cNvPr>
          <p:cNvSpPr txBox="1"/>
          <p:nvPr/>
        </p:nvSpPr>
        <p:spPr>
          <a:xfrm>
            <a:off x="5245111" y="1413621"/>
            <a:ext cx="3503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70C0"/>
                </a:solidFill>
              </a:rPr>
              <a:t>仔细分析：由</a:t>
            </a:r>
            <a:r>
              <a:rPr lang="en-US" altLang="zh-CN" sz="1800" dirty="0">
                <a:solidFill>
                  <a:srgbClr val="0070C0"/>
                </a:solidFill>
              </a:rPr>
              <a:t>4</a:t>
            </a:r>
            <a:r>
              <a:rPr lang="zh-CN" altLang="en-US" sz="1800" dirty="0">
                <a:solidFill>
                  <a:srgbClr val="0070C0"/>
                </a:solidFill>
              </a:rPr>
              <a:t>个</a:t>
            </a:r>
            <a:r>
              <a:rPr lang="en-US" altLang="zh-CN" sz="1800" dirty="0">
                <a:solidFill>
                  <a:srgbClr val="0070C0"/>
                </a:solidFill>
              </a:rPr>
              <a:t>1K</a:t>
            </a:r>
            <a:r>
              <a:rPr lang="zh-CN" altLang="en-US" sz="1800" dirty="0">
                <a:solidFill>
                  <a:srgbClr val="0070C0"/>
                </a:solidFill>
              </a:rPr>
              <a:t>*</a:t>
            </a:r>
            <a:r>
              <a:rPr lang="en-US" altLang="zh-CN" sz="1800" dirty="0">
                <a:solidFill>
                  <a:srgbClr val="0070C0"/>
                </a:solidFill>
              </a:rPr>
              <a:t>8</a:t>
            </a:r>
            <a:r>
              <a:rPr lang="zh-CN" altLang="en-US" sz="1800" dirty="0">
                <a:solidFill>
                  <a:srgbClr val="0070C0"/>
                </a:solidFill>
              </a:rPr>
              <a:t>位扩展成</a:t>
            </a:r>
            <a:endParaRPr lang="en-US" altLang="zh-CN" sz="1800" dirty="0">
              <a:solidFill>
                <a:srgbClr val="0070C0"/>
              </a:solidFill>
            </a:endParaRPr>
          </a:p>
          <a:p>
            <a:r>
              <a:rPr lang="en-US" altLang="zh-CN" sz="1800" dirty="0">
                <a:solidFill>
                  <a:srgbClr val="0070C0"/>
                </a:solidFill>
              </a:rPr>
              <a:t>1K*32</a:t>
            </a:r>
            <a:r>
              <a:rPr lang="zh-CN" altLang="en-US" sz="1800" dirty="0">
                <a:solidFill>
                  <a:srgbClr val="0070C0"/>
                </a:solidFill>
              </a:rPr>
              <a:t>位</a:t>
            </a:r>
            <a:r>
              <a:rPr lang="en-US" altLang="zh-CN" sz="1800" dirty="0">
                <a:solidFill>
                  <a:srgbClr val="0070C0"/>
                </a:solidFill>
              </a:rPr>
              <a:t>/4K*8</a:t>
            </a:r>
            <a:r>
              <a:rPr lang="zh-CN" altLang="en-US" sz="1800" dirty="0">
                <a:solidFill>
                  <a:srgbClr val="0070C0"/>
                </a:solidFill>
              </a:rPr>
              <a:t>位</a:t>
            </a:r>
            <a:r>
              <a:rPr lang="en-US" altLang="zh-CN" sz="1800" dirty="0">
                <a:solidFill>
                  <a:srgbClr val="0070C0"/>
                </a:solidFill>
              </a:rPr>
              <a:t>/2K*16 </a:t>
            </a:r>
            <a:r>
              <a:rPr lang="zh-CN" altLang="en-US" sz="1800" dirty="0">
                <a:solidFill>
                  <a:srgbClr val="0070C0"/>
                </a:solidFill>
              </a:rPr>
              <a:t>位</a:t>
            </a:r>
            <a:endParaRPr lang="en-US" altLang="zh-CN"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487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Wingdings" pitchFamily="2" charset="2"/>
              <a:buChar char="p"/>
            </a:pPr>
            <a:r>
              <a:rPr lang="en-US" altLang="zh-CN" dirty="0"/>
              <a:t>MIPS RAM</a:t>
            </a:r>
            <a:r>
              <a:rPr lang="zh-CN" altLang="en-US" dirty="0"/>
              <a:t>设计</a:t>
            </a:r>
            <a:endParaRPr lang="en-US" altLang="zh-C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07" y="987573"/>
            <a:ext cx="7900117" cy="3744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3491880" y="400378"/>
            <a:ext cx="2981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实验电路文件：</a:t>
            </a:r>
            <a:r>
              <a:rPr lang="en-US" altLang="zh-CN" dirty="0" err="1"/>
              <a:t>storage.circ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8233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角度">
  <a:themeElements>
    <a:clrScheme name="角度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角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4641</TotalTime>
  <Words>876</Words>
  <Application>Microsoft Office PowerPoint</Application>
  <PresentationFormat>全屏显示(16:9)</PresentationFormat>
  <Paragraphs>305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宋体</vt:lpstr>
      <vt:lpstr>Arial</vt:lpstr>
      <vt:lpstr>Calibri</vt:lpstr>
      <vt:lpstr>Franklin Gothic Book</vt:lpstr>
      <vt:lpstr>Franklin Gothic Medium</vt:lpstr>
      <vt:lpstr>Wingdings</vt:lpstr>
      <vt:lpstr>角度</vt:lpstr>
      <vt:lpstr>MIPS RAM使用方法</vt:lpstr>
      <vt:lpstr>后续ppt为MIPS RAM的设计</vt:lpstr>
      <vt:lpstr>MIPS RAM设计</vt:lpstr>
      <vt:lpstr>MIPS RAM设计</vt:lpstr>
      <vt:lpstr>假定4个4K*8的0单元依次存放11223344  地址：   0000 0000 0000</vt:lpstr>
      <vt:lpstr>假定4个4K*8的0单元依次存放11223344  地址：    0000 0000 0010</vt:lpstr>
      <vt:lpstr>地址：   0000 0000 0000</vt:lpstr>
      <vt:lpstr>地址：   0000 0000 0010</vt:lpstr>
      <vt:lpstr>PowerPoint 演示文稿</vt:lpstr>
      <vt:lpstr>写存储器：设原始待写数据Din= D3D2D1D0 </vt:lpstr>
      <vt:lpstr>PowerPoint 演示文稿</vt:lpstr>
      <vt:lpstr>读存储器：设D=D3D2D1D0 </vt:lpstr>
      <vt:lpstr>PowerPoint 演示文稿</vt:lpstr>
      <vt:lpstr>PowerPoint 演示文稿</vt:lpstr>
      <vt:lpstr>MIPS RAM设计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蓝色工作汇报</dc:title>
  <dc:creator>王艺涵</dc:creator>
  <cp:keywords>www.1ppt.com</cp:keywords>
  <dc:description>第一PPT</dc:description>
  <cp:lastModifiedBy>王 艺涵</cp:lastModifiedBy>
  <cp:revision>398</cp:revision>
  <dcterms:created xsi:type="dcterms:W3CDTF">2015-01-08T06:32:00Z</dcterms:created>
  <dcterms:modified xsi:type="dcterms:W3CDTF">2023-05-06T09:16:55Z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2052-10.1.0.7400</vt:lpwstr>
  </property>
</Properties>
</file>