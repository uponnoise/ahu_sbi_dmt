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dp" ContentType="image/vnd.ms-photo"/>
  <Default Extension="emf" ContentType="image/x-e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5"/>
  </p:notesMasterIdLst>
  <p:sldIdLst>
    <p:sldId id="282" r:id="rId3"/>
    <p:sldId id="299" r:id="rId4"/>
    <p:sldId id="297" r:id="rId6"/>
    <p:sldId id="265" r:id="rId7"/>
    <p:sldId id="298" r:id="rId8"/>
    <p:sldId id="303" r:id="rId9"/>
    <p:sldId id="301" r:id="rId10"/>
    <p:sldId id="302" r:id="rId11"/>
    <p:sldId id="304" r:id="rId12"/>
    <p:sldId id="300" r:id="rId13"/>
    <p:sldId id="306" r:id="rId14"/>
    <p:sldId id="294" r:id="rId15"/>
    <p:sldId id="267" r:id="rId16"/>
    <p:sldId id="268" r:id="rId17"/>
    <p:sldId id="269" r:id="rId18"/>
    <p:sldId id="270" r:id="rId19"/>
    <p:sldId id="271" r:id="rId20"/>
    <p:sldId id="272" r:id="rId21"/>
    <p:sldId id="273" r:id="rId22"/>
    <p:sldId id="274"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3" r:id="rId38"/>
    <p:sldId id="324" r:id="rId39"/>
    <p:sldId id="325" r:id="rId40"/>
    <p:sldId id="348"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340" r:id="rId56"/>
    <p:sldId id="341" r:id="rId57"/>
    <p:sldId id="342" r:id="rId58"/>
    <p:sldId id="343" r:id="rId59"/>
    <p:sldId id="344" r:id="rId60"/>
    <p:sldId id="346" r:id="rId61"/>
    <p:sldId id="347" r:id="rId62"/>
    <p:sldId id="349" r:id="rId63"/>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9A"/>
    <a:srgbClr val="2975A9"/>
    <a:srgbClr val="FFCCFF"/>
    <a:srgbClr val="F8CBAD"/>
    <a:srgbClr val="00B0F0"/>
    <a:srgbClr val="92D050"/>
    <a:srgbClr val="FF9900"/>
    <a:srgbClr val="005D9C"/>
    <a:srgbClr val="FF99FF"/>
    <a:srgbClr val="38A5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47664" autoAdjust="0"/>
  </p:normalViewPr>
  <p:slideViewPr>
    <p:cSldViewPr snapToGrid="0">
      <p:cViewPr varScale="1">
        <p:scale>
          <a:sx n="73" d="100"/>
          <a:sy n="73" d="100"/>
        </p:scale>
        <p:origin x="3076" y="52"/>
      </p:cViewPr>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84" d="100"/>
          <a:sy n="84" d="100"/>
        </p:scale>
        <p:origin x="3828"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72.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15156-BF0E-4023-A8FC-CB1F72A76A9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59034-BEED-4024-A934-72E55E0D310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在课程中，我们已经介绍了这样一个儋州，经历岁月的整个参考的数据通路啊，这幅图呢，也给出了具体的一个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02:34-02:46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但这里的主要功能部件以及相应功能部件之间的连接，还有对应功能部件的所有的，这样一个空点相应的感觉信号。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02:46-02:52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可以参考这样一个电路，在我们的逻辑性平台中，利用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02:52-02:58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已经给出了这样一个实验框架，他们在这个时间空间中，我们已经给出了相应的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02:59-03:02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随机数</a:t>
            </a:r>
            <a:r>
              <a:rPr lang="en-US" altLang="zh-CN" sz="1200" kern="1200" dirty="0">
                <a:solidFill>
                  <a:schemeClr val="tx1"/>
                </a:solidFill>
                <a:effectLst/>
                <a:latin typeface="+mn-lt"/>
                <a:ea typeface="+mn-ea"/>
                <a:cs typeface="+mn-cs"/>
              </a:rPr>
              <a:t>g p c</a:t>
            </a:r>
            <a:r>
              <a:rPr lang="zh-CN" altLang="en-US" sz="1200" kern="1200" dirty="0">
                <a:solidFill>
                  <a:schemeClr val="tx1"/>
                </a:solidFill>
                <a:effectLst/>
                <a:latin typeface="+mn-lt"/>
                <a:ea typeface="+mn-ea"/>
                <a:cs typeface="+mn-cs"/>
              </a:rPr>
              <a:t>指令存储器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03:05-03:06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计算器、软件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03:06-03:12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这个技术文件呢，是有康奈尔大学开发的一个标准的，这样一个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03:12-03:16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这样啊这样一个裤可以在这个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03:17-03:24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计算机文件的封装上面直接看到</a:t>
            </a:r>
            <a:r>
              <a:rPr lang="en-US" altLang="zh-CN" sz="1200" kern="1200" dirty="0">
                <a:solidFill>
                  <a:schemeClr val="tx1"/>
                </a:solidFill>
                <a:effectLst/>
                <a:latin typeface="+mn-lt"/>
                <a:ea typeface="+mn-ea"/>
                <a:cs typeface="+mn-cs"/>
              </a:rPr>
              <a:t>32</a:t>
            </a:r>
            <a:r>
              <a:rPr lang="zh-CN" altLang="en-US" sz="1200" kern="1200" dirty="0">
                <a:solidFill>
                  <a:schemeClr val="tx1"/>
                </a:solidFill>
                <a:effectLst/>
                <a:latin typeface="+mn-lt"/>
                <a:ea typeface="+mn-ea"/>
                <a:cs typeface="+mn-cs"/>
              </a:rPr>
              <a:t>个计算机的，这样一个值得实时显示，但是呢这个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03:24-03:32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电路的封装的相对比较大，所以呢我们在这里呢，也进行了</a:t>
            </a:r>
            <a:r>
              <a:rPr lang="en-US" altLang="zh-CN" sz="1200" kern="1200" dirty="0">
                <a:solidFill>
                  <a:schemeClr val="tx1"/>
                </a:solidFill>
                <a:effectLst/>
                <a:latin typeface="+mn-lt"/>
                <a:ea typeface="+mn-ea"/>
                <a:cs typeface="+mn-cs"/>
              </a:rPr>
              <a:t>20</a:t>
            </a:r>
            <a:r>
              <a:rPr lang="zh-CN" altLang="en-US" sz="1200" kern="1200" dirty="0">
                <a:solidFill>
                  <a:schemeClr val="tx1"/>
                </a:solidFill>
                <a:effectLst/>
                <a:latin typeface="+mn-lt"/>
                <a:ea typeface="+mn-ea"/>
                <a:cs typeface="+mn-cs"/>
              </a:rPr>
              <a:t>分钟，同学们的绝对哪一个好用的就可以省哪个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03:33-03:39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这个呢，是可以进行相应的选择，那前面预算的时候我们还是见了这个</a:t>
            </a:r>
            <a:r>
              <a:rPr lang="en-US" altLang="zh-CN" sz="1200" kern="1200" dirty="0" err="1">
                <a:solidFill>
                  <a:schemeClr val="tx1"/>
                </a:solidFill>
                <a:effectLst/>
                <a:latin typeface="+mn-lt"/>
                <a:ea typeface="+mn-ea"/>
                <a:cs typeface="+mn-cs"/>
              </a:rPr>
              <a:t>lu</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03:39-03:47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可以直接将过去的还有那过来，在这里使用，当然这个封装了我们在电动门已经给出了大家可以把原有的这个实验的通过。</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03:47-03:51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酷的方式加载到这样一个电路里面，进行相应的在一个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03:52-03:54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相应的这个库的调用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03:54-03:56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还有我们的数据生殖器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03:57-03:59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最后呢，是我们的这样一个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03:59-04:11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单周期应不限空气啊，这个模块呢，我们已经在线框架中进行了相应的封装，对应的输出引脚输出信号已经进行了相应的一个约定。</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04:11-04:22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大家将相应的这些功能部件，在邮件中进行适当的连接，增加对应的这样一个组件，想多入选的记上一些组件构成。</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04:23-04:25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标准的一个</a:t>
            </a:r>
            <a:r>
              <a:rPr lang="en-US" altLang="zh-CN" sz="1200" kern="1200" dirty="0">
                <a:solidFill>
                  <a:schemeClr val="tx1"/>
                </a:solidFill>
                <a:effectLst/>
                <a:latin typeface="+mn-lt"/>
                <a:ea typeface="+mn-ea"/>
                <a:cs typeface="+mn-cs"/>
              </a:rPr>
              <a:t>miss a p o</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04:26-04:28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啊，这是我们实验的这样一个第一部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04:28-04:31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构建名词主机通路</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04:31-04:35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完成了这样一个主题通讯连接以后下面一部分，我们就是</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04:36-04:38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要实现我们的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04:38-04:42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单周期阴部见空姐在电路那么在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04:42-05:00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现有的实验框架文件中，这个电路的封装已经给出，我们只需要右键点击该电路那么进入对应的一个值电路，完善相应的逻辑就可以了呃，这种方式呢也是避免大家进行大量的整个这个繁琐的工作减轻他的这个工作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05:04-05:11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第二步呢，是设计单走起来这个东西那刚才我们介绍他的对应的收入，是我们的这样一个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05:12-05:20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蜜思琳的整个操作阶段，</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位方形纸片</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位一共呢</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位的，这样一个输入输出呢</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05:20-05:29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包括一系列的这样一个多选择性的选择信号内存防控信号计算机学什么信号等等系列的在一个信号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05:29-05:34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相应地信号呢，在这个表中呢，我们已经全部给出大家可以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05:35-05:37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参考他的这个表面那么</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05:37-05:40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了解我们这些信号的整个使用的方法</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05:40-05:41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咱们在实际</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05:42-05:47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呃，实际连接主义通路的时候，也可以做一个借鉴，这是关于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05:47-05:53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对应的是哪个型号的价格说明在这里呢，我们就不再详细的整个介绍</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05:53-05:54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05:54-05:55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05:55-05:58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了解了一个宽带以后，我们就可以在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05:59-06:03</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a:t>
            </a:r>
            <a:r>
              <a:rPr lang="zh-CN" altLang="en-US" sz="1200" kern="1200" dirty="0">
                <a:solidFill>
                  <a:schemeClr val="tx1"/>
                </a:solidFill>
                <a:effectLst/>
                <a:latin typeface="+mn-lt"/>
                <a:ea typeface="+mn-ea"/>
                <a:cs typeface="+mn-cs"/>
              </a:rPr>
              <a:t>元包中找到</a:t>
            </a:r>
            <a:r>
              <a:rPr lang="en-US" altLang="zh-CN" sz="1200" kern="1200" dirty="0">
                <a:solidFill>
                  <a:schemeClr val="tx1"/>
                </a:solidFill>
                <a:effectLst/>
                <a:latin typeface="+mn-lt"/>
                <a:ea typeface="+mn-ea"/>
                <a:cs typeface="+mn-cs"/>
              </a:rPr>
              <a:t>c p u</a:t>
            </a:r>
            <a:r>
              <a:rPr lang="zh-CN" altLang="en-US" sz="1200" kern="1200" dirty="0">
                <a:solidFill>
                  <a:schemeClr val="tx1"/>
                </a:solidFill>
                <a:effectLst/>
                <a:latin typeface="+mn-lt"/>
                <a:ea typeface="+mn-ea"/>
                <a:cs typeface="+mn-cs"/>
              </a:rPr>
              <a:t>点</a:t>
            </a:r>
            <a:r>
              <a:rPr lang="en-US" altLang="zh-CN" sz="1200" kern="1200" dirty="0">
                <a:solidFill>
                  <a:schemeClr val="tx1"/>
                </a:solidFill>
                <a:effectLst/>
                <a:latin typeface="+mn-lt"/>
                <a:ea typeface="+mn-ea"/>
                <a:cs typeface="+mn-cs"/>
              </a:rPr>
              <a:t>c</a:t>
            </a:r>
            <a:r>
              <a:rPr lang="zh-CN" altLang="en-US" sz="1200" kern="1200" dirty="0">
                <a:solidFill>
                  <a:schemeClr val="tx1"/>
                </a:solidFill>
                <a:effectLst/>
                <a:latin typeface="+mn-lt"/>
                <a:ea typeface="+mn-ea"/>
                <a:cs typeface="+mn-cs"/>
              </a:rPr>
              <a:t>文件，打开</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06:03-06:10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兰州起硬布线，空气的一个电路在这个思路的这个下铺呢，就会出现这样一个基本的框架。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06:11-06:16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那么我们在这个框架中，首先要完成指令译码的三个逻辑。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06:17-06:19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这里呢，给出了这个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06:19-06:22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神经的这样的操作吗，</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位要求大家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06:22-06:27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根据此前的超速吗产生对应的指令译码信号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06:27-06:29</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 w</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06:29-06:30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 w</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06:30-06:43</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 </a:t>
            </a:r>
            <a:r>
              <a:rPr lang="en-US" altLang="zh-CN" sz="1200" kern="1200" dirty="0" err="1">
                <a:solidFill>
                  <a:schemeClr val="tx1"/>
                </a:solidFill>
                <a:effectLst/>
                <a:latin typeface="+mn-lt"/>
                <a:ea typeface="+mn-ea"/>
                <a:cs typeface="+mn-cs"/>
              </a:rPr>
              <a:t>qb</a:t>
            </a:r>
            <a:r>
              <a:rPr lang="en-US" altLang="zh-CN" sz="1200" kern="1200" dirty="0">
                <a:solidFill>
                  <a:schemeClr val="tx1"/>
                </a:solidFill>
                <a:effectLst/>
                <a:latin typeface="+mn-lt"/>
                <a:ea typeface="+mn-ea"/>
                <a:cs typeface="+mn-cs"/>
              </a:rPr>
              <a:t> n e </a:t>
            </a:r>
            <a:r>
              <a:rPr lang="en-US" altLang="zh-CN" sz="1200" kern="1200" dirty="0" err="1">
                <a:solidFill>
                  <a:schemeClr val="tx1"/>
                </a:solidFill>
                <a:effectLst/>
                <a:latin typeface="+mn-lt"/>
                <a:ea typeface="+mn-ea"/>
                <a:cs typeface="+mn-cs"/>
              </a:rPr>
              <a:t>i</a:t>
            </a:r>
            <a:r>
              <a:rPr lang="zh-CN" altLang="en-US" sz="1200" kern="1200" dirty="0">
                <a:solidFill>
                  <a:schemeClr val="tx1"/>
                </a:solidFill>
                <a:effectLst/>
                <a:latin typeface="+mn-lt"/>
                <a:ea typeface="+mn-ea"/>
                <a:cs typeface="+mn-cs"/>
              </a:rPr>
              <a:t>等等，这些译码信号那么，这些指令呢，并不是而形成，所以可以通过</a:t>
            </a:r>
            <a:r>
              <a:rPr lang="en-US" altLang="zh-CN" sz="1200" kern="1200" dirty="0">
                <a:solidFill>
                  <a:schemeClr val="tx1"/>
                </a:solidFill>
                <a:effectLst/>
                <a:latin typeface="+mn-lt"/>
                <a:ea typeface="+mn-ea"/>
                <a:cs typeface="+mn-cs"/>
              </a:rPr>
              <a:t>O P</a:t>
            </a:r>
            <a:r>
              <a:rPr lang="zh-CN" altLang="en-US" sz="1200" kern="1200" dirty="0">
                <a:solidFill>
                  <a:schemeClr val="tx1"/>
                </a:solidFill>
                <a:effectLst/>
                <a:latin typeface="+mn-lt"/>
                <a:ea typeface="+mn-ea"/>
                <a:cs typeface="+mn-cs"/>
              </a:rPr>
              <a:t>的事情比较，当然实际在进行设计时，应该是对指令的操作。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06:43-06:50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超级玛丽吗，这两个未来再度重实现简单，我们只需要大家用比较进行相应的比较。</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06:50-06:51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06:51-06:51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06:52-07:06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得到定义吗信号，这是一种讲话说这种方法啊，在这里呢，我们可以看到在这里又为临时进行比较，显然如果给你的话就是表示他是一条，而且我们再来对而形成的要看他的这个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07:06-07:21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呃，对应的这个方形纸片来决定到底是加分还是</a:t>
            </a:r>
            <a:r>
              <a:rPr lang="en-US" altLang="zh-CN" sz="1200" kern="1200" dirty="0" err="1">
                <a:solidFill>
                  <a:schemeClr val="tx1"/>
                </a:solidFill>
                <a:effectLst/>
                <a:latin typeface="+mn-lt"/>
                <a:ea typeface="+mn-ea"/>
                <a:cs typeface="+mn-cs"/>
              </a:rPr>
              <a:t>sl</a:t>
            </a:r>
            <a:r>
              <a:rPr lang="zh-CN" altLang="en-US" sz="1200" kern="1200" dirty="0">
                <a:solidFill>
                  <a:schemeClr val="tx1"/>
                </a:solidFill>
                <a:effectLst/>
                <a:latin typeface="+mn-lt"/>
                <a:ea typeface="+mn-ea"/>
                <a:cs typeface="+mn-cs"/>
              </a:rPr>
              <a:t>，这个这样的二进制也在这个时间里，面，我们要求大家根据不同的指令的操作码呢，在这里呢加入这一这一个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07:21-07:23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常数哎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07:23-07:32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实现指定的驿马另外还需要大家注意的是我们的而态度这样一个信号那么这个信号呢，是表示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07:32-07:42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而行的运算的指令，不包括谁错这样的一些特殊指令，他是，而且呢，运算使你在实习的时候需要注意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07:42-07:47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另外呢，当我们完成了这个指令译码，这样一个逻辑以后我们</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07:47-07:49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再接着实现</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07:50-07:53</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的控制逻辑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07:53-07:55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要求大家根据</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07:55-07:56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07:56-07:57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07:58-08:13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指令操作码和方向之战生存，我们在前面运算器实验中涉及的</a:t>
            </a:r>
            <a:r>
              <a:rPr lang="en-US" altLang="zh-CN" sz="1200" kern="1200" dirty="0">
                <a:solidFill>
                  <a:schemeClr val="tx1"/>
                </a:solidFill>
                <a:effectLst/>
                <a:latin typeface="+mn-lt"/>
                <a:ea typeface="+mn-ea"/>
                <a:cs typeface="+mn-cs"/>
              </a:rPr>
              <a:t>a </a:t>
            </a:r>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所需要的四位的运算功能选择信号在这在这个电路中加入相应的一个逻辑完成。</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08:13-08:18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这样一个</a:t>
            </a:r>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控制我记得在一个转换，他只是我们的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08:18-08:26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并不像空气那样逻辑的一个完善完善了这样一个逻辑以后，我们就可以得到相应指令。</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08:26-08:29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义马信号运算起的功能选择信号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08:30-08:31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接下来呢</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08:31-08:32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08:32-08:33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08:34-08:36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指令的译码信号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08:37-08:39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就可以很容易的。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08:39-08:50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根据我们前面的这样一个实际设计的秘书的主机价格图得到相应的这些空点，也是我们控制的输出。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08:50-09:03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基本逻辑，我们只需要只有</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条指令，所以在这里面呢，这个逻辑呢，相对来说是非常简单的，大家可以简单的想一下，通过一些简单的连线加入一些简单的逻辑。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09:03-09:21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蓝就可以得到这样一个基本逻辑，我们根据我们的指令</a:t>
            </a:r>
            <a:r>
              <a:rPr lang="en-US" altLang="zh-CN" sz="1200" kern="1200" dirty="0">
                <a:solidFill>
                  <a:schemeClr val="tx1"/>
                </a:solidFill>
                <a:effectLst/>
                <a:latin typeface="+mn-lt"/>
                <a:ea typeface="+mn-ea"/>
                <a:cs typeface="+mn-cs"/>
              </a:rPr>
              <a:t>op</a:t>
            </a:r>
            <a:r>
              <a:rPr lang="zh-CN" altLang="en-US" sz="1200" kern="1200" dirty="0">
                <a:solidFill>
                  <a:schemeClr val="tx1"/>
                </a:solidFill>
                <a:effectLst/>
                <a:latin typeface="+mn-lt"/>
                <a:ea typeface="+mn-ea"/>
                <a:cs typeface="+mn-cs"/>
              </a:rPr>
              <a:t>方形最终得到了我们的诚意吗，信号再由我们什么型号得到我们空气的这一个输出啊，注意由于我们的这个当周期秘书就是一个纯组合逻辑，他没有失去。</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09:21-09:25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所以呢，这里呢，就是一个组合逻辑电路那么根据这样一个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09:25-09:34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对这样一个框架完成相应的战斗力，就实现了我们整个空气的设计。</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09:36-09:39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晚上控制器以后，我们就可以在我们的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09:39-09:42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指令存储器中载入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09:42-09:46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实验高中的排序程序受到天气</a:t>
            </a:r>
            <a:r>
              <a:rPr lang="en-US" altLang="zh-CN" sz="1200" kern="1200" dirty="0">
                <a:solidFill>
                  <a:schemeClr val="tx1"/>
                </a:solidFill>
                <a:effectLst/>
                <a:latin typeface="+mn-lt"/>
                <a:ea typeface="+mn-ea"/>
                <a:cs typeface="+mn-cs"/>
              </a:rPr>
              <a:t>x</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09:46-09:48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然后呢，利用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09:48-10:01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滦县的这个是动词中自动仿真，也是我们用块钱这个</a:t>
            </a:r>
            <a:r>
              <a:rPr lang="en-US" altLang="zh-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或者买个电脑里面渴望的</a:t>
            </a:r>
            <a:r>
              <a:rPr lang="en-US" altLang="zh-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这个运行程序啊，当程序运行完毕后，整个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10:01-10:08</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呢，应该是停机，因为我们最后一次调试过程，所以这个时候呢，应该挺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10:08-10:10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进行相应的停机操作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10:10-10:13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停机完毕以后，那么这个时候呢，我们</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10:13-10:17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要求查看数据存储器上的排序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10:18-10:26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注意在</a:t>
            </a:r>
            <a:r>
              <a:rPr lang="en-US" altLang="zh-CN" sz="1200" kern="1200" dirty="0">
                <a:solidFill>
                  <a:schemeClr val="tx1"/>
                </a:solidFill>
                <a:effectLst/>
                <a:latin typeface="+mn-lt"/>
                <a:ea typeface="+mn-ea"/>
                <a:cs typeface="+mn-cs"/>
              </a:rPr>
              <a:t>80</a:t>
            </a:r>
            <a:r>
              <a:rPr lang="zh-CN" altLang="en-US" sz="1200" kern="1200" dirty="0">
                <a:solidFill>
                  <a:schemeClr val="tx1"/>
                </a:solidFill>
                <a:effectLst/>
                <a:latin typeface="+mn-lt"/>
                <a:ea typeface="+mn-ea"/>
                <a:cs typeface="+mn-cs"/>
              </a:rPr>
              <a:t>位置那么</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年单位应该是一个讲述的，是</a:t>
            </a:r>
            <a:r>
              <a:rPr lang="en-US" altLang="zh-CN" sz="1200" kern="1200" dirty="0">
                <a:solidFill>
                  <a:schemeClr val="tx1"/>
                </a:solidFill>
                <a:effectLst/>
                <a:latin typeface="+mn-lt"/>
                <a:ea typeface="+mn-ea"/>
                <a:cs typeface="+mn-cs"/>
              </a:rPr>
              <a:t>6543210</a:t>
            </a:r>
            <a:r>
              <a:rPr lang="zh-CN" altLang="en-US" sz="1200" kern="1200" dirty="0">
                <a:solidFill>
                  <a:schemeClr val="tx1"/>
                </a:solidFill>
                <a:effectLst/>
                <a:latin typeface="+mn-lt"/>
                <a:ea typeface="+mn-ea"/>
                <a:cs typeface="+mn-cs"/>
              </a:rPr>
              <a:t>，最后这个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10:27-10:28</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 f</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10:28-10:30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负一的战略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10:31-10:34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这是我们最后运行时间，结果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10:34-10:54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一个系统要求能够停机，第二个那么我们的排序符合这种教育的特征，表示我们程序运行正确，所以在停机的时候，希望大家要注意的是我们的评级的处理不能对时钟进行直接的与操作把时钟调而是要求大家控制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10:54-10:55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10:56-10:58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计算机的学生的信号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11:00-11:09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来达到自己的目的，也是我们再进行相应的停机控制的时候，应该是控制电平，而不是控制好。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11:09-11:14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啊，这就是我们儋州经济水平设计了</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个实验的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11:14-11:19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基本的过程的完成了，这一步呢，就可以提交老师进行检查。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11:19-11:20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11:20-11:21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关于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11:21-11:23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但是呢，这个时候呢就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11:23-11:27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介绍的这个相关的实验文件，可以扫码下载，知道</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11:28-11:29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同学们在</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您的评分</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r>
              <a:rPr lang="zh-CN" altLang="en-US" dirty="0">
                <a:effectLst/>
              </a:rPr>
              <a:t>条评论</a:t>
            </a:r>
            <a:endParaRPr lang="zh-CN" altLang="en-US" dirty="0">
              <a:effectLst/>
            </a:endParaRPr>
          </a:p>
          <a:p>
            <a:r>
              <a:rPr lang="zh-CN" altLang="en-US" sz="1200" b="0" kern="1200" cap="all" dirty="0">
                <a:solidFill>
                  <a:schemeClr val="tx1"/>
                </a:solidFill>
                <a:effectLst/>
                <a:latin typeface="+mn-lt"/>
                <a:ea typeface="+mn-ea"/>
                <a:cs typeface="+mn-cs"/>
              </a:rPr>
              <a:t>时间排序</a:t>
            </a:r>
            <a:endParaRPr lang="zh-CN" altLang="en-US" dirty="0">
              <a:effectLst/>
            </a:endParaRPr>
          </a:p>
          <a:p>
            <a:r>
              <a:rPr lang="zh-CN" altLang="en-US" sz="1200" b="0" kern="1200" cap="all" dirty="0">
                <a:solidFill>
                  <a:schemeClr val="tx1"/>
                </a:solidFill>
                <a:effectLst/>
                <a:latin typeface="+mn-lt"/>
                <a:ea typeface="+mn-ea"/>
                <a:cs typeface="+mn-cs"/>
              </a:rPr>
              <a:t>点赞排序</a:t>
            </a:r>
            <a:endParaRPr lang="zh-CN" altLang="en-US" dirty="0">
              <a:effectLst/>
            </a:endParaRPr>
          </a:p>
          <a:p>
            <a:r>
              <a:rPr lang="zh-CN" altLang="en-US" sz="1200" kern="1200" dirty="0">
                <a:solidFill>
                  <a:schemeClr val="tx1"/>
                </a:solidFill>
                <a:effectLst/>
                <a:latin typeface="+mn-lt"/>
                <a:ea typeface="+mn-ea"/>
                <a:cs typeface="+mn-cs"/>
              </a:rPr>
              <a:t>写评论</a:t>
            </a:r>
            <a:r>
              <a:rPr lang="en-US"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插入图片</a:t>
            </a:r>
            <a:endParaRPr lang="zh-CN" altLang="en-US" sz="1200" kern="1200" dirty="0">
              <a:solidFill>
                <a:schemeClr val="tx1"/>
              </a:solidFill>
              <a:effectLst/>
              <a:latin typeface="+mn-lt"/>
              <a:ea typeface="+mn-ea"/>
              <a:cs typeface="+mn-cs"/>
            </a:endParaRPr>
          </a:p>
          <a:p>
            <a:r>
              <a:rPr lang="zh-CN" altLang="en-US" sz="1200" b="0" kern="1200" cap="all" dirty="0">
                <a:solidFill>
                  <a:schemeClr val="tx1"/>
                </a:solidFill>
                <a:effectLst/>
                <a:latin typeface="+mn-lt"/>
                <a:ea typeface="+mn-ea"/>
                <a:cs typeface="+mn-cs"/>
              </a:rPr>
              <a:t>评论</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下面我们来看看如何具体实施，这幅图是单周期单周期</a:t>
            </a:r>
            <a:r>
              <a:rPr lang="en-US" altLang="zh-CN" sz="1200" kern="1200" dirty="0">
                <a:solidFill>
                  <a:schemeClr val="tx1"/>
                </a:solidFill>
                <a:effectLst/>
                <a:latin typeface="+mn-lt"/>
                <a:ea typeface="+mn-ea"/>
                <a:cs typeface="+mn-cs"/>
              </a:rPr>
              <a:t>MIPS CPU</a:t>
            </a:r>
            <a:r>
              <a:rPr lang="zh-CN" altLang="en-US" sz="1200" kern="1200" dirty="0">
                <a:solidFill>
                  <a:schemeClr val="tx1"/>
                </a:solidFill>
                <a:effectLst/>
                <a:latin typeface="+mn-lt"/>
                <a:ea typeface="+mn-ea"/>
                <a:cs typeface="+mn-cs"/>
              </a:rPr>
              <a:t>的基本数据通路，我们可以直接增加</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个流水接口部件构建理想流水线，插入接口后，原来单周期中直接连接的数据通路就需要通过流水接口的输入输出进行中转，</a:t>
            </a:r>
            <a:endParaRPr lang="zh-CN" altLang="en-US" dirty="0"/>
          </a:p>
          <a:p>
            <a:r>
              <a:rPr lang="zh-CN" altLang="en-US" sz="1200" kern="1200" dirty="0">
                <a:solidFill>
                  <a:schemeClr val="tx1"/>
                </a:solidFill>
                <a:effectLst/>
                <a:latin typeface="+mn-lt"/>
                <a:ea typeface="+mn-ea"/>
                <a:cs typeface="+mn-cs"/>
              </a:rPr>
              <a:t>那么流水如何分段呢，是否分段越多越好呢，我们也可以分成</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阶段，甚至更多段，需要综合权衡，要充分考虑中工程复杂度，性能成本等因素，比如</a:t>
            </a:r>
            <a:r>
              <a:rPr lang="en-US" altLang="zh-CN" sz="1200" kern="1200" dirty="0">
                <a:solidFill>
                  <a:schemeClr val="tx1"/>
                </a:solidFill>
                <a:effectLst/>
                <a:latin typeface="+mn-lt"/>
                <a:ea typeface="+mn-ea"/>
                <a:cs typeface="+mn-cs"/>
              </a:rPr>
              <a:t>intel</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中采用了十多级的流水线，流水段数越多，性能越高，但复杂度越大，而且流水线一旦发生分支，损失就越大。这里以</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段流水为例来构造我们的实验。</a:t>
            </a:r>
            <a:endParaRPr lang="zh-CN" altLang="en-US" dirty="0">
              <a:effectLst/>
            </a:endParaRPr>
          </a:p>
          <a:p>
            <a:r>
              <a:rPr lang="zh-CN" altLang="en-US" sz="1200" kern="1200" dirty="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在介绍流水线之前，我们首先回顾一下单周期</a:t>
            </a:r>
            <a:r>
              <a:rPr lang="en-US" altLang="zh-CN" dirty="0"/>
              <a:t>MIPS CPU</a:t>
            </a:r>
            <a:r>
              <a:rPr lang="zh-CN" altLang="en-US" dirty="0"/>
              <a:t>，单周期</a:t>
            </a:r>
            <a:r>
              <a:rPr lang="en-US" altLang="zh-CN" dirty="0" err="1"/>
              <a:t>mips</a:t>
            </a:r>
            <a:r>
              <a:rPr lang="en-US" altLang="zh-CN" dirty="0"/>
              <a:t> </a:t>
            </a:r>
            <a:r>
              <a:rPr lang="en-US" altLang="zh-CN" dirty="0" err="1"/>
              <a:t>cpu</a:t>
            </a:r>
            <a:r>
              <a:rPr lang="zh-CN" altLang="en-US" dirty="0"/>
              <a:t>所有指令均在一个时钟周期内完成，由于不同指令的数据通路并不一样，这直接导致单周期</a:t>
            </a:r>
            <a:r>
              <a:rPr lang="en-US" altLang="zh-CN" dirty="0"/>
              <a:t>MIPS CPU</a:t>
            </a:r>
            <a:r>
              <a:rPr lang="zh-CN" altLang="en-US" dirty="0"/>
              <a:t>的时钟周期取决于最慢的指令，时钟周期过长！</a:t>
            </a:r>
            <a:endParaRPr lang="en-US" altLang="zh-CN" dirty="0"/>
          </a:p>
          <a:p>
            <a:r>
              <a:rPr lang="en-US" altLang="zh-CN" dirty="0"/>
              <a:t>      </a:t>
            </a:r>
            <a:r>
              <a:rPr lang="zh-CN" altLang="en-US" dirty="0"/>
              <a:t>在单周期实验中实现的访存指令就是最慢的一条指令，该指令数据通路包括</a:t>
            </a:r>
            <a:r>
              <a:rPr lang="en-US" altLang="zh-CN" dirty="0"/>
              <a:t>PC</a:t>
            </a:r>
            <a:r>
              <a:rPr lang="zh-CN" altLang="en-US" dirty="0"/>
              <a:t>的触发器延迟</a:t>
            </a:r>
            <a:r>
              <a:rPr lang="en-US" altLang="zh-CN" dirty="0" err="1"/>
              <a:t>Tclk</a:t>
            </a:r>
            <a:r>
              <a:rPr lang="en-US" altLang="zh-CN" dirty="0"/>
              <a:t>-q</a:t>
            </a:r>
            <a:r>
              <a:rPr lang="zh-CN" altLang="en-US" dirty="0"/>
              <a:t>，取指令时延，</a:t>
            </a:r>
            <a:r>
              <a:rPr lang="en-US" altLang="zh-CN" dirty="0" err="1"/>
              <a:t>Tmem</a:t>
            </a:r>
            <a:r>
              <a:rPr lang="zh-CN" altLang="en-US" dirty="0"/>
              <a:t>读寄存器文件时延，</a:t>
            </a:r>
            <a:r>
              <a:rPr lang="en-US" altLang="zh-CN" dirty="0" err="1"/>
              <a:t>Tregfile_read</a:t>
            </a:r>
            <a:r>
              <a:rPr lang="zh-CN" altLang="en-US" dirty="0"/>
              <a:t>这部分实际上是内部多路选择器的时延，运算器时延</a:t>
            </a:r>
            <a:r>
              <a:rPr lang="en-US" altLang="zh-CN" dirty="0" err="1"/>
              <a:t>Talu</a:t>
            </a:r>
            <a:r>
              <a:rPr lang="zh-CN" altLang="en-US" dirty="0"/>
              <a:t>，访问操作数的存储器时延</a:t>
            </a:r>
            <a:r>
              <a:rPr lang="en-US" altLang="zh-CN" dirty="0" err="1"/>
              <a:t>Tmem</a:t>
            </a:r>
            <a:r>
              <a:rPr lang="zh-CN" altLang="en-US" dirty="0"/>
              <a:t>，多路选择器时延</a:t>
            </a:r>
            <a:r>
              <a:rPr lang="en-US" altLang="zh-CN" dirty="0" err="1"/>
              <a:t>Tmux</a:t>
            </a:r>
            <a:r>
              <a:rPr lang="zh-CN" altLang="en-US" dirty="0"/>
              <a:t>，最后写入寄存器的写入建立时间</a:t>
            </a:r>
            <a:r>
              <a:rPr lang="en-US" altLang="zh-CN" dirty="0" err="1"/>
              <a:t>Tsetup</a:t>
            </a:r>
            <a:r>
              <a:rPr lang="zh-CN" altLang="en-US" dirty="0"/>
              <a:t>，这</a:t>
            </a:r>
            <a:r>
              <a:rPr lang="en-US" altLang="zh-CN" dirty="0"/>
              <a:t>7</a:t>
            </a:r>
            <a:r>
              <a:rPr lang="zh-CN" altLang="en-US" dirty="0"/>
              <a:t>部分时延构成了</a:t>
            </a:r>
            <a:r>
              <a:rPr lang="en-US" altLang="zh-CN" dirty="0"/>
              <a:t>MIPS CPU </a:t>
            </a:r>
            <a:r>
              <a:rPr lang="zh-CN" altLang="en-US" dirty="0"/>
              <a:t>的关键通路，直接拖慢了</a:t>
            </a:r>
            <a:r>
              <a:rPr lang="en-US" altLang="zh-CN" dirty="0"/>
              <a:t>R</a:t>
            </a:r>
            <a:r>
              <a:rPr lang="zh-CN" altLang="en-US" dirty="0"/>
              <a:t>型指令等简单指令的执行性能，这也是单周期</a:t>
            </a:r>
            <a:r>
              <a:rPr lang="en-US" altLang="zh-CN" dirty="0"/>
              <a:t>CPU</a:t>
            </a:r>
            <a:r>
              <a:rPr lang="zh-CN" altLang="en-US" dirty="0"/>
              <a:t>性能存在的最主要的问题。</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下面我们来看看如何具体实施，这幅图是单周期单周期</a:t>
            </a:r>
            <a:r>
              <a:rPr lang="en-US" altLang="zh-CN" sz="1200" kern="1200" dirty="0">
                <a:solidFill>
                  <a:schemeClr val="tx1"/>
                </a:solidFill>
                <a:effectLst/>
                <a:latin typeface="+mn-lt"/>
                <a:ea typeface="+mn-ea"/>
                <a:cs typeface="+mn-cs"/>
              </a:rPr>
              <a:t>MIPS CPU</a:t>
            </a:r>
            <a:r>
              <a:rPr lang="zh-CN" altLang="en-US" sz="1200" kern="1200" dirty="0">
                <a:solidFill>
                  <a:schemeClr val="tx1"/>
                </a:solidFill>
                <a:effectLst/>
                <a:latin typeface="+mn-lt"/>
                <a:ea typeface="+mn-ea"/>
                <a:cs typeface="+mn-cs"/>
              </a:rPr>
              <a:t>的基本数据通路，我们可以直接增加</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个流水接口部件构建理想流水线，插入接口后，原来单周期中直接连接的数据通路就需要通过流水接口的输入输出进行中转，</a:t>
            </a:r>
            <a:endParaRPr lang="zh-CN" altLang="en-US" dirty="0"/>
          </a:p>
          <a:p>
            <a:r>
              <a:rPr lang="zh-CN" altLang="en-US" sz="1200" kern="1200" dirty="0">
                <a:solidFill>
                  <a:schemeClr val="tx1"/>
                </a:solidFill>
                <a:effectLst/>
                <a:latin typeface="+mn-lt"/>
                <a:ea typeface="+mn-ea"/>
                <a:cs typeface="+mn-cs"/>
              </a:rPr>
              <a:t>那么流水如何分段呢，是否分段越多越好呢，我们也可以分成</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阶段，甚至更多段，需要综合权衡，要充分考虑中工程复杂度，性能成本等因素，比如</a:t>
            </a:r>
            <a:r>
              <a:rPr lang="en-US" altLang="zh-CN" sz="1200" kern="1200" dirty="0">
                <a:solidFill>
                  <a:schemeClr val="tx1"/>
                </a:solidFill>
                <a:effectLst/>
                <a:latin typeface="+mn-lt"/>
                <a:ea typeface="+mn-ea"/>
                <a:cs typeface="+mn-cs"/>
              </a:rPr>
              <a:t>intel</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中采用了十多级的流水线，流水段数越多，性能越高，但复杂度越大，而且流水线一旦发生分支，损失就越大。这里以</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段流水为例来构造我们的实验。</a:t>
            </a:r>
            <a:endParaRPr lang="zh-CN" altLang="en-US" dirty="0">
              <a:effectLst/>
            </a:endParaRPr>
          </a:p>
          <a:p>
            <a:r>
              <a:rPr lang="zh-CN" altLang="en-US" sz="1200" kern="1200" dirty="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首先我们来看看如何构造微程序，根据课程内容的介绍，构造</a:t>
            </a:r>
            <a:r>
              <a:rPr lang="en-US" altLang="zh-CN" dirty="0"/>
              <a:t>8</a:t>
            </a:r>
            <a:r>
              <a:rPr lang="zh-CN" altLang="en-US" dirty="0"/>
              <a:t>条指令的多周期</a:t>
            </a:r>
            <a:r>
              <a:rPr lang="en-US" altLang="zh-CN" dirty="0"/>
              <a:t>MIPS </a:t>
            </a:r>
            <a:r>
              <a:rPr lang="en-US" altLang="zh-CN" dirty="0" err="1"/>
              <a:t>cpu</a:t>
            </a:r>
            <a:r>
              <a:rPr lang="zh-CN" altLang="en-US" dirty="0"/>
              <a:t>首先需要构建指令的状态变化图，</a:t>
            </a:r>
            <a:endParaRPr lang="en-US" altLang="zh-CN" dirty="0"/>
          </a:p>
          <a:p>
            <a:endParaRPr lang="en-US" altLang="zh-CN" dirty="0"/>
          </a:p>
          <a:p>
            <a:r>
              <a:rPr lang="zh-CN" altLang="en-US" dirty="0"/>
              <a:t>需要注意的是，由于我们这里采用微程序进行控制，所以在这个状态图和课程中的状态图略有差异，</a:t>
            </a:r>
            <a:endParaRPr lang="en-US" altLang="zh-CN" dirty="0"/>
          </a:p>
          <a:p>
            <a:endParaRPr lang="en-US" altLang="zh-CN" dirty="0"/>
          </a:p>
          <a:p>
            <a:r>
              <a:rPr lang="zh-CN" altLang="en-US" dirty="0"/>
              <a:t>主要差异是原有的状态变换图中</a:t>
            </a:r>
            <a:r>
              <a:rPr lang="en-US" altLang="zh-CN" dirty="0" err="1"/>
              <a:t>lw</a:t>
            </a:r>
            <a:r>
              <a:rPr lang="zh-CN" altLang="en-US" dirty="0"/>
              <a:t>指令和</a:t>
            </a:r>
            <a:r>
              <a:rPr lang="en-US" altLang="zh-CN" dirty="0" err="1"/>
              <a:t>sw</a:t>
            </a:r>
            <a:r>
              <a:rPr lang="zh-CN" altLang="en-US" dirty="0"/>
              <a:t>指令共享了一个状态，为了方便微程序实现，这里讲共享的状态拆解成两个不同的状态，如图中蓝色部分，</a:t>
            </a:r>
            <a:r>
              <a:rPr lang="en-US" altLang="zh-CN" dirty="0"/>
              <a:t>S2</a:t>
            </a:r>
            <a:r>
              <a:rPr lang="zh-CN" altLang="en-US" dirty="0"/>
              <a:t>，</a:t>
            </a:r>
            <a:r>
              <a:rPr lang="en-US" altLang="zh-CN" dirty="0"/>
              <a:t>S5</a:t>
            </a:r>
            <a:r>
              <a:rPr lang="zh-CN" altLang="en-US" dirty="0"/>
              <a:t>状态，这两个状态执行的操作是完全一样的，</a:t>
            </a:r>
            <a:endParaRPr lang="en-US" altLang="zh-CN" dirty="0"/>
          </a:p>
          <a:p>
            <a:endParaRPr lang="en-US" altLang="zh-CN" dirty="0"/>
          </a:p>
          <a:p>
            <a:r>
              <a:rPr lang="zh-CN" altLang="en-US" dirty="0"/>
              <a:t>这样一个状态图中，一个状态对应一个十周周期，当时钟到来的时候有可能根据译码信号进行状态分支，一个状态对应一条微指令，执行这个微指令就会给出对应的微命令或者是控制信号，注意所有控制信号的值只和当前状态相关，是一个</a:t>
            </a:r>
            <a:r>
              <a:rPr lang="en-US" altLang="zh-CN" dirty="0" err="1"/>
              <a:t>mooer</a:t>
            </a:r>
            <a:r>
              <a:rPr lang="zh-CN" altLang="en-US" dirty="0"/>
              <a:t>型电路，需要注意的是，这里的状态值可以对应到我们微指令的微地址，执行到不同的微地址，就相当于进入了不同的状态。</a:t>
            </a:r>
            <a:endParaRPr lang="en-US" altLang="zh-CN" dirty="0"/>
          </a:p>
          <a:p>
            <a:endParaRPr lang="en-US" altLang="zh-CN" dirty="0"/>
          </a:p>
          <a:p>
            <a:r>
              <a:rPr lang="zh-CN" altLang="en-US" dirty="0"/>
              <a:t>在进行设计是，一条指令需要多少个状态，就设计多少条微指令，以</a:t>
            </a:r>
            <a:r>
              <a:rPr lang="en-US" altLang="zh-CN" dirty="0"/>
              <a:t>LW</a:t>
            </a:r>
            <a:r>
              <a:rPr lang="zh-CN" altLang="en-US" dirty="0"/>
              <a:t>指令为例，需要</a:t>
            </a:r>
            <a:r>
              <a:rPr lang="en-US" altLang="zh-CN" dirty="0"/>
              <a:t>5</a:t>
            </a:r>
            <a:r>
              <a:rPr lang="zh-CN" altLang="en-US" dirty="0"/>
              <a:t>个状态，就需要设计</a:t>
            </a:r>
            <a:r>
              <a:rPr lang="en-US" altLang="zh-CN" dirty="0"/>
              <a:t>5</a:t>
            </a:r>
            <a:r>
              <a:rPr lang="zh-CN" altLang="en-US" dirty="0"/>
              <a:t>条微指令，而</a:t>
            </a:r>
            <a:r>
              <a:rPr lang="en-US" altLang="zh-CN" dirty="0"/>
              <a:t>SW</a:t>
            </a:r>
            <a:r>
              <a:rPr lang="zh-CN" altLang="en-US" dirty="0"/>
              <a:t>只需要</a:t>
            </a:r>
            <a:r>
              <a:rPr lang="en-US" altLang="zh-CN" dirty="0"/>
              <a:t>4</a:t>
            </a:r>
            <a:r>
              <a:rPr lang="zh-CN" altLang="en-US" dirty="0"/>
              <a:t>条，</a:t>
            </a:r>
            <a:r>
              <a:rPr lang="en-US" altLang="zh-CN" dirty="0"/>
              <a:t>R</a:t>
            </a:r>
            <a:r>
              <a:rPr lang="zh-CN" altLang="en-US" dirty="0"/>
              <a:t>，</a:t>
            </a:r>
            <a:r>
              <a:rPr lang="en-US" altLang="zh-CN" dirty="0"/>
              <a:t>4</a:t>
            </a:r>
            <a:r>
              <a:rPr lang="zh-CN" altLang="en-US" dirty="0"/>
              <a:t>条，最短的是</a:t>
            </a:r>
            <a:r>
              <a:rPr lang="en-US" altLang="zh-CN" dirty="0" err="1"/>
              <a:t>syscall</a:t>
            </a:r>
            <a:r>
              <a:rPr lang="zh-CN" altLang="en-US" dirty="0"/>
              <a:t>指令</a:t>
            </a:r>
            <a:endParaRPr lang="en-US" altLang="zh-CN" dirty="0"/>
          </a:p>
          <a:p>
            <a:r>
              <a:rPr lang="zh-CN" altLang="en-US" dirty="0"/>
              <a:t>而停机指令在单周期中采用控制</a:t>
            </a:r>
            <a:r>
              <a:rPr lang="en-US" altLang="zh-CN" dirty="0"/>
              <a:t>PC</a:t>
            </a:r>
            <a:r>
              <a:rPr lang="zh-CN" altLang="en-US" dirty="0"/>
              <a:t>使能端的方式实现，而这里采用了一个</a:t>
            </a:r>
            <a:r>
              <a:rPr lang="en-US" altLang="zh-CN" dirty="0" err="1"/>
              <a:t>nop</a:t>
            </a:r>
            <a:r>
              <a:rPr lang="zh-CN" altLang="en-US" dirty="0"/>
              <a:t>操作，进入停机是后进入</a:t>
            </a:r>
            <a:r>
              <a:rPr lang="en-US" altLang="zh-CN" dirty="0" err="1"/>
              <a:t>nop</a:t>
            </a:r>
            <a:r>
              <a:rPr lang="zh-CN" altLang="en-US" dirty="0"/>
              <a:t>，不产生任何控制信号，下一个时钟仍然进入</a:t>
            </a:r>
            <a:r>
              <a:rPr lang="en-US" altLang="zh-CN" dirty="0" err="1"/>
              <a:t>nop</a:t>
            </a:r>
            <a:r>
              <a:rPr lang="zh-CN" altLang="en-US" dirty="0"/>
              <a:t>状态，是的系统进入死循环，从而实现停机不执行指令的目的，</a:t>
            </a:r>
            <a:endParaRPr lang="en-US" altLang="zh-CN" dirty="0"/>
          </a:p>
          <a:p>
            <a:endParaRPr lang="en-US" altLang="zh-CN" dirty="0"/>
          </a:p>
          <a:p>
            <a:r>
              <a:rPr lang="zh-CN" altLang="en-US" dirty="0"/>
              <a:t>根据这个状态变化图我们就可以构建我们的微程序，每一个状态对应一条微指令，而状态的值可以对应微指令的微地址。</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在课程中，我们已经介绍了这样一个儋州，经历岁月的整个参考的数据通路啊，这幅图呢，也给出了具体的一个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02:34-02:46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但这里的主要功能部件以及相应功能部件之间的连接，还有对应功能部件的所有的，这样一个空点相应的感觉信号。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02:46-02:52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可以参考这样一个电路，在我们的逻辑性平台中，利用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02:52-02:58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已经给出了这样一个实验框架，他们在这个时间空间中，我们已经给出了相应的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02:59-03:02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随机数</a:t>
            </a:r>
            <a:r>
              <a:rPr lang="en-US" altLang="zh-CN" sz="1200" kern="1200" dirty="0">
                <a:solidFill>
                  <a:schemeClr val="tx1"/>
                </a:solidFill>
                <a:effectLst/>
                <a:latin typeface="+mn-lt"/>
                <a:ea typeface="+mn-ea"/>
                <a:cs typeface="+mn-cs"/>
              </a:rPr>
              <a:t>g p c</a:t>
            </a:r>
            <a:r>
              <a:rPr lang="zh-CN" altLang="en-US" sz="1200" kern="1200" dirty="0">
                <a:solidFill>
                  <a:schemeClr val="tx1"/>
                </a:solidFill>
                <a:effectLst/>
                <a:latin typeface="+mn-lt"/>
                <a:ea typeface="+mn-ea"/>
                <a:cs typeface="+mn-cs"/>
              </a:rPr>
              <a:t>指令存储器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03:05-03:06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计算器、软件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03:06-03:12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这个技术文件呢，是有康奈尔大学开发的一个标准的，这样一个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03:12-03:16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这样啊这样一个裤可以在这个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03:17-03:24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计算机文件的封装上面直接看到</a:t>
            </a:r>
            <a:r>
              <a:rPr lang="en-US" altLang="zh-CN" sz="1200" kern="1200" dirty="0">
                <a:solidFill>
                  <a:schemeClr val="tx1"/>
                </a:solidFill>
                <a:effectLst/>
                <a:latin typeface="+mn-lt"/>
                <a:ea typeface="+mn-ea"/>
                <a:cs typeface="+mn-cs"/>
              </a:rPr>
              <a:t>32</a:t>
            </a:r>
            <a:r>
              <a:rPr lang="zh-CN" altLang="en-US" sz="1200" kern="1200" dirty="0">
                <a:solidFill>
                  <a:schemeClr val="tx1"/>
                </a:solidFill>
                <a:effectLst/>
                <a:latin typeface="+mn-lt"/>
                <a:ea typeface="+mn-ea"/>
                <a:cs typeface="+mn-cs"/>
              </a:rPr>
              <a:t>个计算机的，这样一个值得实时显示，但是呢这个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03:24-03:32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电路的封装的相对比较大，所以呢我们在这里呢，也进行了</a:t>
            </a:r>
            <a:r>
              <a:rPr lang="en-US" altLang="zh-CN" sz="1200" kern="1200" dirty="0">
                <a:solidFill>
                  <a:schemeClr val="tx1"/>
                </a:solidFill>
                <a:effectLst/>
                <a:latin typeface="+mn-lt"/>
                <a:ea typeface="+mn-ea"/>
                <a:cs typeface="+mn-cs"/>
              </a:rPr>
              <a:t>20</a:t>
            </a:r>
            <a:r>
              <a:rPr lang="zh-CN" altLang="en-US" sz="1200" kern="1200" dirty="0">
                <a:solidFill>
                  <a:schemeClr val="tx1"/>
                </a:solidFill>
                <a:effectLst/>
                <a:latin typeface="+mn-lt"/>
                <a:ea typeface="+mn-ea"/>
                <a:cs typeface="+mn-cs"/>
              </a:rPr>
              <a:t>分钟，同学们的绝对哪一个好用的就可以省哪个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03:33-03:39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这个呢，是可以进行相应的选择，那前面预算的时候我们还是见了这个</a:t>
            </a:r>
            <a:r>
              <a:rPr lang="en-US" altLang="zh-CN" sz="1200" kern="1200" dirty="0" err="1">
                <a:solidFill>
                  <a:schemeClr val="tx1"/>
                </a:solidFill>
                <a:effectLst/>
                <a:latin typeface="+mn-lt"/>
                <a:ea typeface="+mn-ea"/>
                <a:cs typeface="+mn-cs"/>
              </a:rPr>
              <a:t>lu</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03:39-03:47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可以直接将过去的还有那过来，在这里使用，当然这个封装了我们在电动门已经给出了大家可以把原有的这个实验的通过。</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03:47-03:51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酷的方式加载到这样一个电路里面，进行相应的在一个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03:52-03:54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相应的这个库的调用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03:54-03:56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还有我们的数据生殖器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03:57-03:59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最后呢，是我们的这样一个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03:59-04:11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单周期应不限空气啊，这个模块呢，我们已经在线框架中进行了相应的封装，对应的输出引脚输出信号已经进行了相应的一个约定。</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04:11-04:22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大家将相应的这些功能部件，在邮件中进行适当的连接，增加对应的这样一个组件，想多入选的记上一些组件构成。</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04:23-04:25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标准的一个</a:t>
            </a:r>
            <a:r>
              <a:rPr lang="en-US" altLang="zh-CN" sz="1200" kern="1200" dirty="0">
                <a:solidFill>
                  <a:schemeClr val="tx1"/>
                </a:solidFill>
                <a:effectLst/>
                <a:latin typeface="+mn-lt"/>
                <a:ea typeface="+mn-ea"/>
                <a:cs typeface="+mn-cs"/>
              </a:rPr>
              <a:t>miss a p o</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04:26-04:28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啊，这是我们实验的这样一个第一部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04:28-04:31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构建名词主机通路</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04:31-04:35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完成了这样一个主题通讯连接以后下面一部分，我们就是</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04:36-04:38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要实现我们的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04:38-04:42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单周期阴部见空姐在电路那么在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04:42-05:00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现有的实验框架文件中，这个电路的封装已经给出，我们只需要右键点击该电路那么进入对应的一个值电路，完善相应的逻辑就可以了呃，这种方式呢也是避免大家进行大量的整个这个繁琐的工作减轻他的这个工作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05:04-05:11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第二步呢，是设计单走起来这个东西那刚才我们介绍他的对应的收入，是我们的这样一个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05:12-05:20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蜜思琳的整个操作阶段，</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位方形纸片</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位一共呢</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位的，这样一个输入输出呢</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05:20-05:29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包括一系列的这样一个多选择性的选择信号内存防控信号计算机学什么信号等等系列的在一个信号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05:29-05:34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相应地信号呢，在这个表中呢，我们已经全部给出大家可以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05:35-05:37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参考他的这个表面那么</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05:37-05:40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了解我们这些信号的整个使用的方法</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05:40-05:41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咱们在实际</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05:42-05:47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呃，实际连接主义通路的时候，也可以做一个借鉴，这是关于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05:47-05:53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对应的是哪个型号的价格说明在这里呢，我们就不再详细的整个介绍</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05:53-05:54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05:54-05:55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05:55-05:58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了解了一个宽带以后，我们就可以在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05:59-06:03</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a:t>
            </a:r>
            <a:r>
              <a:rPr lang="zh-CN" altLang="en-US" sz="1200" kern="1200" dirty="0">
                <a:solidFill>
                  <a:schemeClr val="tx1"/>
                </a:solidFill>
                <a:effectLst/>
                <a:latin typeface="+mn-lt"/>
                <a:ea typeface="+mn-ea"/>
                <a:cs typeface="+mn-cs"/>
              </a:rPr>
              <a:t>元包中找到</a:t>
            </a:r>
            <a:r>
              <a:rPr lang="en-US" altLang="zh-CN" sz="1200" kern="1200" dirty="0">
                <a:solidFill>
                  <a:schemeClr val="tx1"/>
                </a:solidFill>
                <a:effectLst/>
                <a:latin typeface="+mn-lt"/>
                <a:ea typeface="+mn-ea"/>
                <a:cs typeface="+mn-cs"/>
              </a:rPr>
              <a:t>c p u</a:t>
            </a:r>
            <a:r>
              <a:rPr lang="zh-CN" altLang="en-US" sz="1200" kern="1200" dirty="0">
                <a:solidFill>
                  <a:schemeClr val="tx1"/>
                </a:solidFill>
                <a:effectLst/>
                <a:latin typeface="+mn-lt"/>
                <a:ea typeface="+mn-ea"/>
                <a:cs typeface="+mn-cs"/>
              </a:rPr>
              <a:t>点</a:t>
            </a:r>
            <a:r>
              <a:rPr lang="en-US" altLang="zh-CN" sz="1200" kern="1200" dirty="0">
                <a:solidFill>
                  <a:schemeClr val="tx1"/>
                </a:solidFill>
                <a:effectLst/>
                <a:latin typeface="+mn-lt"/>
                <a:ea typeface="+mn-ea"/>
                <a:cs typeface="+mn-cs"/>
              </a:rPr>
              <a:t>c</a:t>
            </a:r>
            <a:r>
              <a:rPr lang="zh-CN" altLang="en-US" sz="1200" kern="1200" dirty="0">
                <a:solidFill>
                  <a:schemeClr val="tx1"/>
                </a:solidFill>
                <a:effectLst/>
                <a:latin typeface="+mn-lt"/>
                <a:ea typeface="+mn-ea"/>
                <a:cs typeface="+mn-cs"/>
              </a:rPr>
              <a:t>文件，打开</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06:03-06:10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兰州起硬布线，空气的一个电路在这个思路的这个下铺呢，就会出现这样一个基本的框架。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06:11-06:16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那么我们在这个框架中，首先要完成指令译码的三个逻辑。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06:17-06:19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这里呢，给出了这个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06:19-06:22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神经的这样的操作吗，</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位要求大家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06:22-06:27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根据此前的超速吗产生对应的指令译码信号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06:27-06:29</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 w</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06:29-06:30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 w</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06:30-06:43</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 </a:t>
            </a:r>
            <a:r>
              <a:rPr lang="en-US" altLang="zh-CN" sz="1200" kern="1200" dirty="0" err="1">
                <a:solidFill>
                  <a:schemeClr val="tx1"/>
                </a:solidFill>
                <a:effectLst/>
                <a:latin typeface="+mn-lt"/>
                <a:ea typeface="+mn-ea"/>
                <a:cs typeface="+mn-cs"/>
              </a:rPr>
              <a:t>qb</a:t>
            </a:r>
            <a:r>
              <a:rPr lang="en-US" altLang="zh-CN" sz="1200" kern="1200" dirty="0">
                <a:solidFill>
                  <a:schemeClr val="tx1"/>
                </a:solidFill>
                <a:effectLst/>
                <a:latin typeface="+mn-lt"/>
                <a:ea typeface="+mn-ea"/>
                <a:cs typeface="+mn-cs"/>
              </a:rPr>
              <a:t> n e </a:t>
            </a:r>
            <a:r>
              <a:rPr lang="en-US" altLang="zh-CN" sz="1200" kern="1200" dirty="0" err="1">
                <a:solidFill>
                  <a:schemeClr val="tx1"/>
                </a:solidFill>
                <a:effectLst/>
                <a:latin typeface="+mn-lt"/>
                <a:ea typeface="+mn-ea"/>
                <a:cs typeface="+mn-cs"/>
              </a:rPr>
              <a:t>i</a:t>
            </a:r>
            <a:r>
              <a:rPr lang="zh-CN" altLang="en-US" sz="1200" kern="1200" dirty="0">
                <a:solidFill>
                  <a:schemeClr val="tx1"/>
                </a:solidFill>
                <a:effectLst/>
                <a:latin typeface="+mn-lt"/>
                <a:ea typeface="+mn-ea"/>
                <a:cs typeface="+mn-cs"/>
              </a:rPr>
              <a:t>等等，这些译码信号那么，这些指令呢，并不是而形成，所以可以通过</a:t>
            </a:r>
            <a:r>
              <a:rPr lang="en-US" altLang="zh-CN" sz="1200" kern="1200" dirty="0">
                <a:solidFill>
                  <a:schemeClr val="tx1"/>
                </a:solidFill>
                <a:effectLst/>
                <a:latin typeface="+mn-lt"/>
                <a:ea typeface="+mn-ea"/>
                <a:cs typeface="+mn-cs"/>
              </a:rPr>
              <a:t>O P</a:t>
            </a:r>
            <a:r>
              <a:rPr lang="zh-CN" altLang="en-US" sz="1200" kern="1200" dirty="0">
                <a:solidFill>
                  <a:schemeClr val="tx1"/>
                </a:solidFill>
                <a:effectLst/>
                <a:latin typeface="+mn-lt"/>
                <a:ea typeface="+mn-ea"/>
                <a:cs typeface="+mn-cs"/>
              </a:rPr>
              <a:t>的事情比较，当然实际在进行设计时，应该是对指令的操作。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06:43-06:50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超级玛丽吗，这两个未来再度重实现简单，我们只需要大家用比较进行相应的比较。</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06:50-06:51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06:51-06:51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06:52-07:06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得到定义吗信号，这是一种讲话说这种方法啊，在这里呢，我们可以看到在这里又为临时进行比较，显然如果给你的话就是表示他是一条，而且我们再来对而形成的要看他的这个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07:06-07:21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呃，对应的这个方形纸片来决定到底是加分还是</a:t>
            </a:r>
            <a:r>
              <a:rPr lang="en-US" altLang="zh-CN" sz="1200" kern="1200" dirty="0" err="1">
                <a:solidFill>
                  <a:schemeClr val="tx1"/>
                </a:solidFill>
                <a:effectLst/>
                <a:latin typeface="+mn-lt"/>
                <a:ea typeface="+mn-ea"/>
                <a:cs typeface="+mn-cs"/>
              </a:rPr>
              <a:t>sl</a:t>
            </a:r>
            <a:r>
              <a:rPr lang="zh-CN" altLang="en-US" sz="1200" kern="1200" dirty="0">
                <a:solidFill>
                  <a:schemeClr val="tx1"/>
                </a:solidFill>
                <a:effectLst/>
                <a:latin typeface="+mn-lt"/>
                <a:ea typeface="+mn-ea"/>
                <a:cs typeface="+mn-cs"/>
              </a:rPr>
              <a:t>，这个这样的二进制也在这个时间里，面，我们要求大家根据不同的指令的操作码呢，在这里呢加入这一这一个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07:21-07:23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常数哎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07:23-07:32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实现指定的驿马另外还需要大家注意的是我们的而态度这样一个信号那么这个信号呢，是表示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07:32-07:42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而行的运算的指令，不包括谁错这样的一些特殊指令，他是，而且呢，运算使你在实习的时候需要注意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07:42-07:47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另外呢，当我们完成了这个指令译码，这样一个逻辑以后我们</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07:47-07:49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再接着实现</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07:50-07:53</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的控制逻辑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07:53-07:55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要求大家根据</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07:55-07:56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07:56-07:57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07:58-08:13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指令操作码和方向之战生存，我们在前面运算器实验中涉及的</a:t>
            </a:r>
            <a:r>
              <a:rPr lang="en-US" altLang="zh-CN" sz="1200" kern="1200" dirty="0">
                <a:solidFill>
                  <a:schemeClr val="tx1"/>
                </a:solidFill>
                <a:effectLst/>
                <a:latin typeface="+mn-lt"/>
                <a:ea typeface="+mn-ea"/>
                <a:cs typeface="+mn-cs"/>
              </a:rPr>
              <a:t>a </a:t>
            </a:r>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所需要的四位的运算功能选择信号在这在这个电路中加入相应的一个逻辑完成。</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08:13-08:18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这样一个</a:t>
            </a:r>
            <a:r>
              <a:rPr lang="en-US" altLang="zh-CN" sz="1200" kern="1200" dirty="0" err="1">
                <a:solidFill>
                  <a:schemeClr val="tx1"/>
                </a:solidFill>
                <a:effectLst/>
                <a:latin typeface="+mn-lt"/>
                <a:ea typeface="+mn-ea"/>
                <a:cs typeface="+mn-cs"/>
              </a:rPr>
              <a:t>lu</a:t>
            </a:r>
            <a:r>
              <a:rPr lang="zh-CN" altLang="en-US" sz="1200" kern="1200" dirty="0">
                <a:solidFill>
                  <a:schemeClr val="tx1"/>
                </a:solidFill>
                <a:effectLst/>
                <a:latin typeface="+mn-lt"/>
                <a:ea typeface="+mn-ea"/>
                <a:cs typeface="+mn-cs"/>
              </a:rPr>
              <a:t>控制我记得在一个转换，他只是我们的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08:18-08:26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并不像空气那样逻辑的一个完善完善了这样一个逻辑以后，我们就可以得到相应指令。</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08:26-08:29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义马信号运算起的功能选择信号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08:30-08:31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接下来呢</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08:31-08:32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08:32-08:33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08:34-08:36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指令的译码信号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08:37-08:39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就可以很容易的。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08:39-08:50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根据我们前面的这样一个实际设计的秘书的主机价格图得到相应的这些空点，也是我们控制的输出。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08:50-09:03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基本逻辑，我们只需要只有</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条指令，所以在这里面呢，这个逻辑呢，相对来说是非常简单的，大家可以简单的想一下，通过一些简单的连线加入一些简单的逻辑。</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09:03-09:21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蓝就可以得到这样一个基本逻辑，我们根据我们的指令</a:t>
            </a:r>
            <a:r>
              <a:rPr lang="en-US" altLang="zh-CN" sz="1200" kern="1200" dirty="0">
                <a:solidFill>
                  <a:schemeClr val="tx1"/>
                </a:solidFill>
                <a:effectLst/>
                <a:latin typeface="+mn-lt"/>
                <a:ea typeface="+mn-ea"/>
                <a:cs typeface="+mn-cs"/>
              </a:rPr>
              <a:t>op</a:t>
            </a:r>
            <a:r>
              <a:rPr lang="zh-CN" altLang="en-US" sz="1200" kern="1200" dirty="0">
                <a:solidFill>
                  <a:schemeClr val="tx1"/>
                </a:solidFill>
                <a:effectLst/>
                <a:latin typeface="+mn-lt"/>
                <a:ea typeface="+mn-ea"/>
                <a:cs typeface="+mn-cs"/>
              </a:rPr>
              <a:t>方形最终得到了我们的诚意吗，信号再由我们什么型号得到我们空气的这一个输出啊，注意由于我们的这个当周期秘书就是一个纯组合逻辑，他没有失去。</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09:21-09:25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所以呢，这里呢，就是一个组合逻辑电路那么根据这样一个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09:25-09:34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对这样一个框架完成相应的战斗力，就实现了我们整个空气的设计。</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09:36-09:39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晚上控制器以后，我们就可以在我们的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09:39-09:42</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指令存储器中载入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09:42-09:46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实验高中的排序程序受到天气</a:t>
            </a:r>
            <a:r>
              <a:rPr lang="en-US" altLang="zh-CN" sz="1200" kern="1200" dirty="0">
                <a:solidFill>
                  <a:schemeClr val="tx1"/>
                </a:solidFill>
                <a:effectLst/>
                <a:latin typeface="+mn-lt"/>
                <a:ea typeface="+mn-ea"/>
                <a:cs typeface="+mn-cs"/>
              </a:rPr>
              <a:t>x</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09:46-09:48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然后呢，利用</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09:48-10:01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滦县的这个是动词中自动仿真，也是我们用块钱这个</a:t>
            </a:r>
            <a:r>
              <a:rPr lang="en-US" altLang="zh-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或者买个电脑里面渴望的</a:t>
            </a:r>
            <a:r>
              <a:rPr lang="en-US" altLang="zh-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这个运行程序啊，当程序运行完毕后，整个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10:01-10:08</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呢，应该是停机，因为我们最后一次调试过程，所以这个时候呢，应该挺</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10:08-10:10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进行相应的停机操作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10:10-10:13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停机完毕以后，那么这个时候呢，我们</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10:13-10:17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要求查看数据存储器上的排序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10:18-10:26</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注意在</a:t>
            </a:r>
            <a:r>
              <a:rPr lang="en-US" altLang="zh-CN" sz="1200" kern="1200" dirty="0">
                <a:solidFill>
                  <a:schemeClr val="tx1"/>
                </a:solidFill>
                <a:effectLst/>
                <a:latin typeface="+mn-lt"/>
                <a:ea typeface="+mn-ea"/>
                <a:cs typeface="+mn-cs"/>
              </a:rPr>
              <a:t>80</a:t>
            </a:r>
            <a:r>
              <a:rPr lang="zh-CN" altLang="en-US" sz="1200" kern="1200" dirty="0">
                <a:solidFill>
                  <a:schemeClr val="tx1"/>
                </a:solidFill>
                <a:effectLst/>
                <a:latin typeface="+mn-lt"/>
                <a:ea typeface="+mn-ea"/>
                <a:cs typeface="+mn-cs"/>
              </a:rPr>
              <a:t>位置那么</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年单位应该是一个讲述的，是</a:t>
            </a:r>
            <a:r>
              <a:rPr lang="en-US" altLang="zh-CN" sz="1200" kern="1200" dirty="0">
                <a:solidFill>
                  <a:schemeClr val="tx1"/>
                </a:solidFill>
                <a:effectLst/>
                <a:latin typeface="+mn-lt"/>
                <a:ea typeface="+mn-ea"/>
                <a:cs typeface="+mn-cs"/>
              </a:rPr>
              <a:t>6543210</a:t>
            </a:r>
            <a:r>
              <a:rPr lang="zh-CN" altLang="en-US" sz="1200" kern="1200" dirty="0">
                <a:solidFill>
                  <a:schemeClr val="tx1"/>
                </a:solidFill>
                <a:effectLst/>
                <a:latin typeface="+mn-lt"/>
                <a:ea typeface="+mn-ea"/>
                <a:cs typeface="+mn-cs"/>
              </a:rPr>
              <a:t>，最后这个</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10:27-10:28</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 f</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10:28-10:30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负一的战略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10:31-10:34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这是我们最后运行时间，结果</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10:34-10:54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一个系统要求能够停机，第二个那么我们的排序符合这种教育的特征，表示我们程序运行正确，所以在停机的时候，希望大家要注意的是我们的评级的处理不能对时钟进行直接的与操作把时钟调而是要求大家控制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10:54-10:55</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相应的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10:56-10:58</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计算机的学生的信号</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11:00-11:09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来达到自己的目的，也是我们再进行相应的停机控制的时候，应该是控制电平，而不是控制好。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11:09-11:14</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啊，这就是我们儋州经济水平设计了</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个实验的</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11:14-11:19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基本的过程的完成了，这一步呢，就可以提交老师进行检查。</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11:19-11:20</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好</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11:20-11:21</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关于</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11:21-11:23</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但是呢，这个时候呢就</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11:23-11:27</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介绍的这个相关的实验文件，可以扫码下载，知道</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11:28-11:29</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同学们在</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您的评分</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100%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星</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a:t>
            </a:r>
            <a:r>
              <a:rPr lang="zh-CN" altLang="en-US" dirty="0">
                <a:effectLst/>
              </a:rPr>
              <a:t>条评论</a:t>
            </a:r>
            <a:endParaRPr lang="zh-CN" altLang="en-US" dirty="0">
              <a:effectLst/>
            </a:endParaRPr>
          </a:p>
          <a:p>
            <a:r>
              <a:rPr lang="zh-CN" altLang="en-US" sz="1200" b="0" kern="1200" cap="all" dirty="0">
                <a:solidFill>
                  <a:schemeClr val="tx1"/>
                </a:solidFill>
                <a:effectLst/>
                <a:latin typeface="+mn-lt"/>
                <a:ea typeface="+mn-ea"/>
                <a:cs typeface="+mn-cs"/>
              </a:rPr>
              <a:t>时间排序</a:t>
            </a:r>
            <a:endParaRPr lang="zh-CN" altLang="en-US" dirty="0">
              <a:effectLst/>
            </a:endParaRPr>
          </a:p>
          <a:p>
            <a:r>
              <a:rPr lang="zh-CN" altLang="en-US" sz="1200" b="0" kern="1200" cap="all" dirty="0">
                <a:solidFill>
                  <a:schemeClr val="tx1"/>
                </a:solidFill>
                <a:effectLst/>
                <a:latin typeface="+mn-lt"/>
                <a:ea typeface="+mn-ea"/>
                <a:cs typeface="+mn-cs"/>
              </a:rPr>
              <a:t>点赞排序</a:t>
            </a:r>
            <a:endParaRPr lang="zh-CN" altLang="en-US" dirty="0">
              <a:effectLst/>
            </a:endParaRPr>
          </a:p>
          <a:p>
            <a:r>
              <a:rPr lang="zh-CN" altLang="en-US" sz="1200" kern="1200" dirty="0">
                <a:solidFill>
                  <a:schemeClr val="tx1"/>
                </a:solidFill>
                <a:effectLst/>
                <a:latin typeface="+mn-lt"/>
                <a:ea typeface="+mn-ea"/>
                <a:cs typeface="+mn-cs"/>
              </a:rPr>
              <a:t>写评论</a:t>
            </a:r>
            <a:r>
              <a:rPr lang="en-US"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插入图片</a:t>
            </a:r>
            <a:endParaRPr lang="zh-CN" altLang="en-US" sz="1200" kern="1200" dirty="0">
              <a:solidFill>
                <a:schemeClr val="tx1"/>
              </a:solidFill>
              <a:effectLst/>
              <a:latin typeface="+mn-lt"/>
              <a:ea typeface="+mn-ea"/>
              <a:cs typeface="+mn-cs"/>
            </a:endParaRPr>
          </a:p>
          <a:p>
            <a:r>
              <a:rPr lang="zh-CN" altLang="en-US" sz="1200" b="0" kern="1200" cap="all" dirty="0">
                <a:solidFill>
                  <a:schemeClr val="tx1"/>
                </a:solidFill>
                <a:effectLst/>
                <a:latin typeface="+mn-lt"/>
                <a:ea typeface="+mn-ea"/>
                <a:cs typeface="+mn-cs"/>
              </a:rPr>
              <a:t>评论</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首先我们来看看如何构造微程序，根据课程内容的介绍，构造</a:t>
            </a:r>
            <a:r>
              <a:rPr lang="en-US" altLang="zh-CN" dirty="0"/>
              <a:t>8</a:t>
            </a:r>
            <a:r>
              <a:rPr lang="zh-CN" altLang="en-US" dirty="0"/>
              <a:t>条指令的多周期</a:t>
            </a:r>
            <a:r>
              <a:rPr lang="en-US" altLang="zh-CN" dirty="0"/>
              <a:t>MIPS </a:t>
            </a:r>
            <a:r>
              <a:rPr lang="en-US" altLang="zh-CN" dirty="0" err="1"/>
              <a:t>cpu</a:t>
            </a:r>
            <a:r>
              <a:rPr lang="zh-CN" altLang="en-US" dirty="0"/>
              <a:t>首先需要构建指令的状态变化图，</a:t>
            </a:r>
            <a:endParaRPr lang="en-US" altLang="zh-CN" dirty="0"/>
          </a:p>
          <a:p>
            <a:endParaRPr lang="en-US" altLang="zh-CN" dirty="0"/>
          </a:p>
          <a:p>
            <a:r>
              <a:rPr lang="zh-CN" altLang="en-US" dirty="0"/>
              <a:t>需要注意的是，由于我们这里采用微程序进行控制，所以在这个状态图和课程中的状态图略有差异，</a:t>
            </a:r>
            <a:endParaRPr lang="en-US" altLang="zh-CN" dirty="0"/>
          </a:p>
          <a:p>
            <a:endParaRPr lang="en-US" altLang="zh-CN" dirty="0"/>
          </a:p>
          <a:p>
            <a:r>
              <a:rPr lang="zh-CN" altLang="en-US" dirty="0"/>
              <a:t>主要差异是原有的状态变换图中</a:t>
            </a:r>
            <a:r>
              <a:rPr lang="en-US" altLang="zh-CN" dirty="0" err="1"/>
              <a:t>lw</a:t>
            </a:r>
            <a:r>
              <a:rPr lang="zh-CN" altLang="en-US" dirty="0"/>
              <a:t>指令和</a:t>
            </a:r>
            <a:r>
              <a:rPr lang="en-US" altLang="zh-CN" dirty="0" err="1"/>
              <a:t>sw</a:t>
            </a:r>
            <a:r>
              <a:rPr lang="zh-CN" altLang="en-US" dirty="0"/>
              <a:t>指令共享了一个状态，为了方便微程序实现，这里讲共享的状态拆解成两个不同的状态，如图中蓝色部分，</a:t>
            </a:r>
            <a:r>
              <a:rPr lang="en-US" altLang="zh-CN" dirty="0"/>
              <a:t>S2</a:t>
            </a:r>
            <a:r>
              <a:rPr lang="zh-CN" altLang="en-US" dirty="0"/>
              <a:t>，</a:t>
            </a:r>
            <a:r>
              <a:rPr lang="en-US" altLang="zh-CN" dirty="0"/>
              <a:t>S5</a:t>
            </a:r>
            <a:r>
              <a:rPr lang="zh-CN" altLang="en-US" dirty="0"/>
              <a:t>状态，这两个状态执行的操作是完全一样的，</a:t>
            </a:r>
            <a:endParaRPr lang="en-US" altLang="zh-CN" dirty="0"/>
          </a:p>
          <a:p>
            <a:endParaRPr lang="en-US" altLang="zh-CN" dirty="0"/>
          </a:p>
          <a:p>
            <a:r>
              <a:rPr lang="zh-CN" altLang="en-US" dirty="0"/>
              <a:t>这样一个状态图中，一个状态对应一个十周周期，当时钟到来的时候有可能根据译码信号进行状态分支，一个状态对应一条微指令，执行这个微指令就会给出对应的微命令或者是控制信号，注意所有控制信号的值只和当前状态相关，是一个</a:t>
            </a:r>
            <a:r>
              <a:rPr lang="en-US" altLang="zh-CN" dirty="0" err="1"/>
              <a:t>mooer</a:t>
            </a:r>
            <a:r>
              <a:rPr lang="zh-CN" altLang="en-US" dirty="0"/>
              <a:t>型电路，需要注意的是，这里的状态值可以对应到我们微指令的微地址，执行到不同的微地址，就相当于进入了不同的状态。</a:t>
            </a:r>
            <a:endParaRPr lang="en-US" altLang="zh-CN" dirty="0"/>
          </a:p>
          <a:p>
            <a:endParaRPr lang="en-US" altLang="zh-CN" dirty="0"/>
          </a:p>
          <a:p>
            <a:r>
              <a:rPr lang="zh-CN" altLang="en-US" dirty="0"/>
              <a:t>在进行设计是，一条指令需要多少个状态，就设计多少条微指令，以</a:t>
            </a:r>
            <a:r>
              <a:rPr lang="en-US" altLang="zh-CN" dirty="0"/>
              <a:t>LW</a:t>
            </a:r>
            <a:r>
              <a:rPr lang="zh-CN" altLang="en-US" dirty="0"/>
              <a:t>指令为例，需要</a:t>
            </a:r>
            <a:r>
              <a:rPr lang="en-US" altLang="zh-CN" dirty="0"/>
              <a:t>5</a:t>
            </a:r>
            <a:r>
              <a:rPr lang="zh-CN" altLang="en-US" dirty="0"/>
              <a:t>个状态，就需要设计</a:t>
            </a:r>
            <a:r>
              <a:rPr lang="en-US" altLang="zh-CN" dirty="0"/>
              <a:t>5</a:t>
            </a:r>
            <a:r>
              <a:rPr lang="zh-CN" altLang="en-US" dirty="0"/>
              <a:t>条微指令，而</a:t>
            </a:r>
            <a:r>
              <a:rPr lang="en-US" altLang="zh-CN" dirty="0"/>
              <a:t>SW</a:t>
            </a:r>
            <a:r>
              <a:rPr lang="zh-CN" altLang="en-US" dirty="0"/>
              <a:t>只需要</a:t>
            </a:r>
            <a:r>
              <a:rPr lang="en-US" altLang="zh-CN" dirty="0"/>
              <a:t>4</a:t>
            </a:r>
            <a:r>
              <a:rPr lang="zh-CN" altLang="en-US" dirty="0"/>
              <a:t>条，</a:t>
            </a:r>
            <a:r>
              <a:rPr lang="en-US" altLang="zh-CN" dirty="0"/>
              <a:t>R</a:t>
            </a:r>
            <a:r>
              <a:rPr lang="zh-CN" altLang="en-US" dirty="0"/>
              <a:t>，</a:t>
            </a:r>
            <a:r>
              <a:rPr lang="en-US" altLang="zh-CN" dirty="0"/>
              <a:t>4</a:t>
            </a:r>
            <a:r>
              <a:rPr lang="zh-CN" altLang="en-US" dirty="0"/>
              <a:t>条，最短的是</a:t>
            </a:r>
            <a:r>
              <a:rPr lang="en-US" altLang="zh-CN" dirty="0" err="1"/>
              <a:t>syscall</a:t>
            </a:r>
            <a:r>
              <a:rPr lang="zh-CN" altLang="en-US" dirty="0"/>
              <a:t>指令</a:t>
            </a:r>
            <a:endParaRPr lang="en-US" altLang="zh-CN" dirty="0"/>
          </a:p>
          <a:p>
            <a:r>
              <a:rPr lang="zh-CN" altLang="en-US" dirty="0"/>
              <a:t>而停机指令在单周期中采用控制</a:t>
            </a:r>
            <a:r>
              <a:rPr lang="en-US" altLang="zh-CN" dirty="0"/>
              <a:t>PC</a:t>
            </a:r>
            <a:r>
              <a:rPr lang="zh-CN" altLang="en-US" dirty="0"/>
              <a:t>使能端的方式实现，而这里采用了一个</a:t>
            </a:r>
            <a:r>
              <a:rPr lang="en-US" altLang="zh-CN" dirty="0" err="1"/>
              <a:t>nop</a:t>
            </a:r>
            <a:r>
              <a:rPr lang="zh-CN" altLang="en-US" dirty="0"/>
              <a:t>操作，进入停机是后进入</a:t>
            </a:r>
            <a:r>
              <a:rPr lang="en-US" altLang="zh-CN" dirty="0" err="1"/>
              <a:t>nop</a:t>
            </a:r>
            <a:r>
              <a:rPr lang="zh-CN" altLang="en-US" dirty="0"/>
              <a:t>，不产生任何控制信号，下一个时钟仍然进入</a:t>
            </a:r>
            <a:r>
              <a:rPr lang="en-US" altLang="zh-CN" dirty="0" err="1"/>
              <a:t>nop</a:t>
            </a:r>
            <a:r>
              <a:rPr lang="zh-CN" altLang="en-US" dirty="0"/>
              <a:t>状态，是的系统进入死循环，从而实现停机不执行指令的目的，</a:t>
            </a:r>
            <a:endParaRPr lang="en-US" altLang="zh-CN" dirty="0"/>
          </a:p>
          <a:p>
            <a:endParaRPr lang="en-US" altLang="zh-CN" dirty="0"/>
          </a:p>
          <a:p>
            <a:r>
              <a:rPr lang="zh-CN" altLang="en-US" dirty="0"/>
              <a:t>根据这个状态变化图我们就可以构建我们的微程序，每一个状态对应一条微指令，而状态的值可以对应微指令的微地址。</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下面我们来看看如何具体实施，这幅图是单周期单周期</a:t>
            </a:r>
            <a:r>
              <a:rPr lang="en-US" altLang="zh-CN" sz="1200" kern="1200" dirty="0">
                <a:solidFill>
                  <a:schemeClr val="tx1"/>
                </a:solidFill>
                <a:effectLst/>
                <a:latin typeface="+mn-lt"/>
                <a:ea typeface="+mn-ea"/>
                <a:cs typeface="+mn-cs"/>
              </a:rPr>
              <a:t>MIPS CPU</a:t>
            </a:r>
            <a:r>
              <a:rPr lang="zh-CN" altLang="en-US" sz="1200" kern="1200" dirty="0">
                <a:solidFill>
                  <a:schemeClr val="tx1"/>
                </a:solidFill>
                <a:effectLst/>
                <a:latin typeface="+mn-lt"/>
                <a:ea typeface="+mn-ea"/>
                <a:cs typeface="+mn-cs"/>
              </a:rPr>
              <a:t>的基本数据通路，我们可以直接增加</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个流水接口部件构建理想流水线，插入接口后，原来单周期中直接连接的数据通路就需要通过流水接口的输入输出进行中转，</a:t>
            </a:r>
            <a:endParaRPr lang="zh-CN" altLang="en-US" dirty="0"/>
          </a:p>
          <a:p>
            <a:r>
              <a:rPr lang="zh-CN" altLang="en-US" sz="1200" kern="1200" dirty="0">
                <a:solidFill>
                  <a:schemeClr val="tx1"/>
                </a:solidFill>
                <a:effectLst/>
                <a:latin typeface="+mn-lt"/>
                <a:ea typeface="+mn-ea"/>
                <a:cs typeface="+mn-cs"/>
              </a:rPr>
              <a:t>那么流水如何分段呢，是否分段越多越好呢，我们也可以分成</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阶段，甚至更多段，需要综合权衡，要充分考虑中工程复杂度，性能成本等因素，比如</a:t>
            </a:r>
            <a:r>
              <a:rPr lang="en-US" altLang="zh-CN" sz="1200" kern="1200" dirty="0">
                <a:solidFill>
                  <a:schemeClr val="tx1"/>
                </a:solidFill>
                <a:effectLst/>
                <a:latin typeface="+mn-lt"/>
                <a:ea typeface="+mn-ea"/>
                <a:cs typeface="+mn-cs"/>
              </a:rPr>
              <a:t>intel</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中采用了十多级的流水线，流水段数越多，性能越高，但复杂度越大，而且流水线一旦发生分支，损失就越大。这里以</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段流水为例来构造我们的实验。</a:t>
            </a:r>
            <a:endParaRPr lang="zh-CN" altLang="en-US" dirty="0">
              <a:effectLst/>
            </a:endParaRPr>
          </a:p>
          <a:p>
            <a:r>
              <a:rPr lang="zh-CN" altLang="en-US" sz="1200" kern="1200" dirty="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下面我们来看看如何具体实施，这幅图是单周期单周期</a:t>
            </a:r>
            <a:r>
              <a:rPr lang="en-US" altLang="zh-CN" sz="1200" kern="1200" dirty="0">
                <a:solidFill>
                  <a:schemeClr val="tx1"/>
                </a:solidFill>
                <a:effectLst/>
                <a:latin typeface="+mn-lt"/>
                <a:ea typeface="+mn-ea"/>
                <a:cs typeface="+mn-cs"/>
              </a:rPr>
              <a:t>MIPS CPU</a:t>
            </a:r>
            <a:r>
              <a:rPr lang="zh-CN" altLang="en-US" sz="1200" kern="1200" dirty="0">
                <a:solidFill>
                  <a:schemeClr val="tx1"/>
                </a:solidFill>
                <a:effectLst/>
                <a:latin typeface="+mn-lt"/>
                <a:ea typeface="+mn-ea"/>
                <a:cs typeface="+mn-cs"/>
              </a:rPr>
              <a:t>的基本数据通路，我们可以直接增加</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个流水接口部件构建理想流水线，插入接口后，原来单周期中直接连接的数据通路就需要通过流水接口的输入输出进行中转，</a:t>
            </a:r>
            <a:endParaRPr lang="zh-CN" altLang="en-US" dirty="0"/>
          </a:p>
          <a:p>
            <a:r>
              <a:rPr lang="zh-CN" altLang="en-US" sz="1200" kern="1200" dirty="0">
                <a:solidFill>
                  <a:schemeClr val="tx1"/>
                </a:solidFill>
                <a:effectLst/>
                <a:latin typeface="+mn-lt"/>
                <a:ea typeface="+mn-ea"/>
                <a:cs typeface="+mn-cs"/>
              </a:rPr>
              <a:t>那么流水如何分段呢，是否分段越多越好呢，我们也可以分成</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阶段，</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阶段，甚至更多段，需要综合权衡，要充分考虑中工程复杂度，性能成本等因素，比如</a:t>
            </a:r>
            <a:r>
              <a:rPr lang="en-US" altLang="zh-CN" sz="1200" kern="1200" dirty="0">
                <a:solidFill>
                  <a:schemeClr val="tx1"/>
                </a:solidFill>
                <a:effectLst/>
                <a:latin typeface="+mn-lt"/>
                <a:ea typeface="+mn-ea"/>
                <a:cs typeface="+mn-cs"/>
              </a:rPr>
              <a:t>intel</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中采用了十多级的流水线，流水段数越多，性能越高，但复杂度越大，而且流水线一旦发生分支，损失就越大。这里以</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段流水为例来构造我们的实验。</a:t>
            </a:r>
            <a:endParaRPr lang="zh-CN" altLang="en-US" dirty="0">
              <a:effectLst/>
            </a:endParaRPr>
          </a:p>
          <a:p>
            <a:r>
              <a:rPr lang="zh-CN" altLang="en-US" sz="1200" kern="1200" dirty="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虽然单周期</a:t>
            </a:r>
            <a:r>
              <a:rPr lang="en-US" altLang="zh-CN" dirty="0"/>
              <a:t>MIPS CPU</a:t>
            </a:r>
            <a:r>
              <a:rPr lang="zh-CN" altLang="en-US" dirty="0"/>
              <a:t>性能存在问题，但其结构简单，实现容易，所以在早期小指令集系统中经常使用这种结构。</a:t>
            </a:r>
            <a:endParaRPr lang="en-US" altLang="zh-CN" dirty="0"/>
          </a:p>
          <a:p>
            <a:endParaRPr lang="en-US" altLang="zh-CN" dirty="0"/>
          </a:p>
          <a:p>
            <a:r>
              <a:rPr lang="zh-CN" altLang="en-US" dirty="0"/>
              <a:t>为进一步提升性能，复用器件，又引入了传统的多周期</a:t>
            </a:r>
            <a:r>
              <a:rPr lang="en-US" altLang="zh-CN" dirty="0"/>
              <a:t>MIPS CPU</a:t>
            </a:r>
            <a:r>
              <a:rPr lang="zh-CN" altLang="en-US" dirty="0"/>
              <a:t>，这种架构采用异步控制方式，指令周期变长，每条指令需要多少时钟周期就安排多少时钟周期，在前面实验中我们也设计过类似架构，设计该类</a:t>
            </a:r>
            <a:r>
              <a:rPr lang="en-US" altLang="zh-CN" dirty="0"/>
              <a:t>CPU</a:t>
            </a:r>
            <a:r>
              <a:rPr lang="zh-CN" altLang="en-US" dirty="0"/>
              <a:t>时我们采用了状态机的方法，一条指令经历多少状态就安排多少时钟周期，如图中</a:t>
            </a:r>
            <a:r>
              <a:rPr lang="en-US" altLang="zh-CN" dirty="0" err="1"/>
              <a:t>lw</a:t>
            </a:r>
            <a:r>
              <a:rPr lang="zh-CN" altLang="en-US" dirty="0"/>
              <a:t>指令需要</a:t>
            </a:r>
            <a:r>
              <a:rPr lang="en-US" altLang="zh-CN" dirty="0"/>
              <a:t>5</a:t>
            </a:r>
            <a:r>
              <a:rPr lang="zh-CN" altLang="en-US" dirty="0"/>
              <a:t>个时钟周期，</a:t>
            </a:r>
            <a:r>
              <a:rPr lang="en-US" altLang="zh-CN" dirty="0"/>
              <a:t>R</a:t>
            </a:r>
            <a:r>
              <a:rPr lang="zh-CN" altLang="en-US" dirty="0"/>
              <a:t>型运算指令需要</a:t>
            </a:r>
            <a:r>
              <a:rPr lang="en-US" altLang="zh-CN" dirty="0"/>
              <a:t>4</a:t>
            </a:r>
            <a:r>
              <a:rPr lang="zh-CN" altLang="en-US" dirty="0"/>
              <a:t>个时钟周期，分支指令</a:t>
            </a:r>
            <a:r>
              <a:rPr lang="en-US" altLang="zh-CN" dirty="0"/>
              <a:t>3</a:t>
            </a:r>
            <a:r>
              <a:rPr lang="zh-CN" altLang="en-US" dirty="0"/>
              <a:t>个时钟周期，这种变长指令周期模式可一定程度上提升程序执行的速率。 </a:t>
            </a:r>
            <a:endParaRPr lang="en-US" altLang="zh-CN" dirty="0"/>
          </a:p>
          <a:p>
            <a:endParaRPr lang="en-US" altLang="zh-CN" dirty="0"/>
          </a:p>
          <a:p>
            <a:r>
              <a:rPr lang="zh-CN" altLang="en-US" dirty="0"/>
              <a:t>而最新的流水线结构也是一种多周期方案，该方案采用多指令并行技术，同一时刻有多条指令并行，分别处在取指，译码，执行，访存，写回的不同阶段，多个部件完全并发，可有效提升性能，也就是我们今天要介绍的方法。</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为对比不同</a:t>
            </a:r>
            <a:r>
              <a:rPr lang="en-US" altLang="zh-CN" dirty="0">
                <a:latin typeface="Arial" panose="020B0604020202020204" pitchFamily="34" charset="0"/>
              </a:rPr>
              <a:t>CPU</a:t>
            </a:r>
            <a:r>
              <a:rPr lang="zh-CN" altLang="en-US" dirty="0">
                <a:latin typeface="Arial" panose="020B0604020202020204" pitchFamily="34" charset="0"/>
              </a:rPr>
              <a:t>架构的性能，我们先来看看不同架构</a:t>
            </a:r>
            <a:r>
              <a:rPr lang="en-US" altLang="zh-CN" dirty="0">
                <a:latin typeface="Arial" panose="020B0604020202020204" pitchFamily="34" charset="0"/>
              </a:rPr>
              <a:t>CPU</a:t>
            </a:r>
            <a:r>
              <a:rPr lang="zh-CN" altLang="en-US" dirty="0">
                <a:latin typeface="Arial" panose="020B0604020202020204" pitchFamily="34" charset="0"/>
              </a:rPr>
              <a:t>的运行动态以及时空图分析</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对于单周期，我们可以大致将指令执行的过程分为取指令</a:t>
            </a:r>
            <a:r>
              <a:rPr lang="en-US" altLang="zh-CN" dirty="0">
                <a:latin typeface="Arial" panose="020B0604020202020204" pitchFamily="34" charset="0"/>
              </a:rPr>
              <a:t>IF</a:t>
            </a:r>
            <a:r>
              <a:rPr lang="zh-CN" altLang="en-US" dirty="0">
                <a:latin typeface="Arial" panose="020B0604020202020204" pitchFamily="34" charset="0"/>
              </a:rPr>
              <a:t>，指令译码</a:t>
            </a:r>
            <a:r>
              <a:rPr lang="en-US" altLang="zh-CN" dirty="0">
                <a:latin typeface="Arial" panose="020B0604020202020204" pitchFamily="34" charset="0"/>
              </a:rPr>
              <a:t>ID</a:t>
            </a:r>
            <a:r>
              <a:rPr lang="zh-CN" altLang="en-US" dirty="0">
                <a:latin typeface="Arial" panose="020B0604020202020204" pitchFamily="34" charset="0"/>
              </a:rPr>
              <a:t>，执行运算</a:t>
            </a:r>
            <a:r>
              <a:rPr lang="en-US" altLang="zh-CN" dirty="0">
                <a:latin typeface="Arial" panose="020B0604020202020204" pitchFamily="34" charset="0"/>
              </a:rPr>
              <a:t>EX</a:t>
            </a:r>
            <a:r>
              <a:rPr lang="zh-CN" altLang="en-US" dirty="0">
                <a:latin typeface="Arial" panose="020B0604020202020204" pitchFamily="34" charset="0"/>
              </a:rPr>
              <a:t>，访存</a:t>
            </a:r>
            <a:r>
              <a:rPr lang="en-US" altLang="zh-CN" dirty="0">
                <a:latin typeface="Arial" panose="020B0604020202020204" pitchFamily="34" charset="0"/>
              </a:rPr>
              <a:t>MEM</a:t>
            </a:r>
            <a:r>
              <a:rPr lang="zh-CN" altLang="en-US" dirty="0">
                <a:latin typeface="Arial" panose="020B0604020202020204" pitchFamily="34" charset="0"/>
              </a:rPr>
              <a:t>，写回</a:t>
            </a:r>
            <a:r>
              <a:rPr lang="en-US" altLang="zh-CN" dirty="0">
                <a:latin typeface="Arial" panose="020B0604020202020204" pitchFamily="34" charset="0"/>
              </a:rPr>
              <a:t>WB</a:t>
            </a:r>
            <a:r>
              <a:rPr lang="zh-CN" altLang="en-US" dirty="0">
                <a:latin typeface="Arial" panose="020B0604020202020204" pitchFamily="34" charset="0"/>
              </a:rPr>
              <a:t>五个阶段，</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假设每阶段时长均为</a:t>
            </a:r>
            <a:r>
              <a:rPr lang="en-US" altLang="zh-CN" dirty="0">
                <a:latin typeface="Arial" panose="020B0604020202020204" pitchFamily="34" charset="0"/>
              </a:rPr>
              <a:t>1T</a:t>
            </a:r>
            <a:r>
              <a:rPr lang="zh-CN" altLang="en-US" dirty="0">
                <a:latin typeface="Arial" panose="020B0604020202020204" pitchFamily="34" charset="0"/>
              </a:rPr>
              <a:t>，则单周期时长为</a:t>
            </a:r>
            <a:r>
              <a:rPr lang="en-US" altLang="zh-CN" dirty="0">
                <a:latin typeface="Arial" panose="020B0604020202020204" pitchFamily="34" charset="0"/>
              </a:rPr>
              <a:t>5T </a:t>
            </a:r>
            <a:r>
              <a:rPr lang="zh-CN" altLang="en-US"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在实际运行过程中，一条指令依次进入</a:t>
            </a:r>
            <a:r>
              <a:rPr lang="en-US" altLang="zh-CN" dirty="0">
                <a:latin typeface="Arial" panose="020B0604020202020204" pitchFamily="34" charset="0"/>
              </a:rPr>
              <a:t>5</a:t>
            </a:r>
            <a:r>
              <a:rPr lang="zh-CN" altLang="en-US" dirty="0">
                <a:latin typeface="Arial" panose="020B0604020202020204" pitchFamily="34" charset="0"/>
              </a:rPr>
              <a:t>个不同的阶段，如</a:t>
            </a:r>
            <a:r>
              <a:rPr lang="en-US" altLang="zh-CN" dirty="0">
                <a:latin typeface="Arial" panose="020B0604020202020204" pitchFamily="34" charset="0"/>
              </a:rPr>
              <a:t>I1</a:t>
            </a:r>
            <a:r>
              <a:rPr lang="zh-CN" altLang="en-US" dirty="0">
                <a:latin typeface="Arial" panose="020B0604020202020204" pitchFamily="34" charset="0"/>
              </a:rPr>
              <a:t>首先在，然后，然后，最后进入写回阶段，所有指令需要</a:t>
            </a:r>
            <a:r>
              <a:rPr lang="en-US" altLang="zh-CN" dirty="0">
                <a:latin typeface="Arial" panose="020B0604020202020204" pitchFamily="34" charset="0"/>
              </a:rPr>
              <a:t>5T</a:t>
            </a:r>
            <a:r>
              <a:rPr lang="zh-CN" altLang="en-US" dirty="0">
                <a:latin typeface="Arial" panose="020B0604020202020204" pitchFamily="34" charset="0"/>
              </a:rPr>
              <a:t>才能执行完毕，</a:t>
            </a:r>
            <a:r>
              <a:rPr lang="en-US" altLang="zh-CN" dirty="0">
                <a:latin typeface="Arial" panose="020B0604020202020204" pitchFamily="34" charset="0"/>
              </a:rPr>
              <a:t>I1</a:t>
            </a:r>
            <a:r>
              <a:rPr lang="zh-CN" altLang="en-US" dirty="0">
                <a:latin typeface="Arial" panose="020B0604020202020204" pitchFamily="34" charset="0"/>
              </a:rPr>
              <a:t>执行完毕后，再执行</a:t>
            </a:r>
            <a:r>
              <a:rPr lang="en-US" altLang="zh-CN" dirty="0">
                <a:latin typeface="Arial" panose="020B0604020202020204" pitchFamily="34" charset="0"/>
              </a:rPr>
              <a:t>I2</a:t>
            </a:r>
            <a:r>
              <a:rPr lang="zh-CN" altLang="en-US" dirty="0">
                <a:latin typeface="Arial" panose="020B0604020202020204" pitchFamily="34" charset="0"/>
              </a:rPr>
              <a:t>，同一时刻只能有一条指令在</a:t>
            </a:r>
            <a:r>
              <a:rPr lang="en-US" altLang="zh-CN" dirty="0">
                <a:latin typeface="Arial" panose="020B0604020202020204" pitchFamily="34" charset="0"/>
              </a:rPr>
              <a:t>CPU</a:t>
            </a:r>
            <a:r>
              <a:rPr lang="zh-CN" altLang="en-US" dirty="0">
                <a:latin typeface="Arial" panose="020B0604020202020204" pitchFamily="34" charset="0"/>
              </a:rPr>
              <a:t>中。   这就是单周期指令执行的动态示意图。</a:t>
            </a:r>
            <a:endParaRPr lang="zh-CN" altLang="en-US" dirty="0">
              <a:latin typeface="Arial" panose="020B0604020202020204" pitchFamily="34" charset="0"/>
            </a:endParaRPr>
          </a:p>
        </p:txBody>
      </p:sp>
      <p:sp>
        <p:nvSpPr>
          <p:cNvPr id="481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A4D8D43-B4FE-4C9D-9660-E5CE3AE88197}"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接着我们来看看单周期</a:t>
            </a:r>
            <a:r>
              <a:rPr lang="en-US" altLang="zh-CN" dirty="0">
                <a:latin typeface="Arial" panose="020B0604020202020204" pitchFamily="34" charset="0"/>
              </a:rPr>
              <a:t>CPU</a:t>
            </a:r>
            <a:r>
              <a:rPr lang="zh-CN" altLang="en-US" dirty="0">
                <a:latin typeface="Arial" panose="020B0604020202020204" pitchFamily="34" charset="0"/>
              </a:rPr>
              <a:t>的时空图，横坐标为时间轴，纵坐标表示不同的功能部件，指令</a:t>
            </a:r>
            <a:r>
              <a:rPr lang="en-US" altLang="zh-CN" dirty="0">
                <a:latin typeface="Arial" panose="020B0604020202020204" pitchFamily="34" charset="0"/>
              </a:rPr>
              <a:t>I1</a:t>
            </a:r>
            <a:r>
              <a:rPr lang="zh-CN" altLang="en-US" dirty="0">
                <a:latin typeface="Arial" panose="020B0604020202020204" pitchFamily="34" charset="0"/>
              </a:rPr>
              <a:t>执行的时间和空间如动画所示，依次进入。。。。经过</a:t>
            </a:r>
            <a:r>
              <a:rPr lang="en-US" altLang="zh-CN" dirty="0">
                <a:latin typeface="Arial" panose="020B0604020202020204" pitchFamily="34" charset="0"/>
              </a:rPr>
              <a:t>5T</a:t>
            </a:r>
            <a:r>
              <a:rPr lang="zh-CN" altLang="en-US" dirty="0">
                <a:latin typeface="Arial" panose="020B0604020202020204" pitchFamily="34" charset="0"/>
              </a:rPr>
              <a:t>后，</a:t>
            </a:r>
            <a:r>
              <a:rPr lang="en-US" altLang="zh-CN" dirty="0">
                <a:latin typeface="Arial" panose="020B0604020202020204" pitchFamily="34" charset="0"/>
              </a:rPr>
              <a:t>I2</a:t>
            </a:r>
            <a:r>
              <a:rPr lang="zh-CN" altLang="en-US" dirty="0">
                <a:latin typeface="Arial" panose="020B0604020202020204" pitchFamily="34" charset="0"/>
              </a:rPr>
              <a:t>进入取指令阶段，</a:t>
            </a:r>
            <a:r>
              <a:rPr lang="en-US" altLang="zh-CN" dirty="0">
                <a:latin typeface="Arial" panose="020B0604020202020204" pitchFamily="34" charset="0"/>
              </a:rPr>
              <a:t>10T</a:t>
            </a:r>
            <a:r>
              <a:rPr lang="zh-CN" altLang="en-US" dirty="0">
                <a:latin typeface="Arial" panose="020B0604020202020204" pitchFamily="34" charset="0"/>
              </a:rPr>
              <a:t>后第二条指令执行完毕，完成</a:t>
            </a:r>
            <a:r>
              <a:rPr lang="en-US" altLang="zh-CN" dirty="0">
                <a:latin typeface="Arial" panose="020B0604020202020204" pitchFamily="34" charset="0"/>
              </a:rPr>
              <a:t>n</a:t>
            </a:r>
            <a:r>
              <a:rPr lang="zh-CN" altLang="en-US" dirty="0">
                <a:latin typeface="Arial" panose="020B0604020202020204" pitchFamily="34" charset="0"/>
              </a:rPr>
              <a:t>条指令需要</a:t>
            </a:r>
            <a:r>
              <a:rPr lang="en-US" altLang="zh-CN" dirty="0">
                <a:latin typeface="Arial" panose="020B0604020202020204" pitchFamily="34" charset="0"/>
              </a:rPr>
              <a:t>5nT</a:t>
            </a:r>
            <a:endParaRPr lang="zh-CN" altLang="en-US" dirty="0">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029A2C-C7C5-495D-A014-B2139C7AF0D4}"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再来看看传统多周期</a:t>
            </a:r>
            <a:r>
              <a:rPr lang="en-US" altLang="zh-CN" dirty="0">
                <a:latin typeface="Arial" panose="020B0604020202020204" pitchFamily="34" charset="0"/>
              </a:rPr>
              <a:t>CPU</a:t>
            </a:r>
            <a:r>
              <a:rPr lang="zh-CN" altLang="en-US" dirty="0">
                <a:latin typeface="Arial" panose="020B0604020202020204" pitchFamily="34" charset="0"/>
              </a:rPr>
              <a:t>运行动态，多周期</a:t>
            </a:r>
            <a:r>
              <a:rPr lang="en-US" altLang="zh-CN" dirty="0">
                <a:latin typeface="Arial" panose="020B0604020202020204" pitchFamily="34" charset="0"/>
              </a:rPr>
              <a:t>CPU</a:t>
            </a:r>
            <a:r>
              <a:rPr lang="zh-CN" altLang="en-US" dirty="0">
                <a:latin typeface="Arial" panose="020B0604020202020204" pitchFamily="34" charset="0"/>
              </a:rPr>
              <a:t>中引入了多个锁存器，图中黄色部分，用于在不同状态或时钟周期之间传递数据，数据通路也可以细分为</a:t>
            </a:r>
            <a:r>
              <a:rPr lang="en-US" altLang="zh-CN" dirty="0">
                <a:latin typeface="Arial" panose="020B0604020202020204" pitchFamily="34" charset="0"/>
              </a:rPr>
              <a:t>5</a:t>
            </a:r>
            <a:r>
              <a:rPr lang="zh-CN" altLang="en-US" dirty="0">
                <a:latin typeface="Arial" panose="020B0604020202020204" pitchFamily="34" charset="0"/>
              </a:rPr>
              <a:t>段，不同指令根据状态图运行，有多少个状态就安排多少时钟周期，注意这里的时钟周期是</a:t>
            </a:r>
            <a:r>
              <a:rPr lang="en-US" altLang="zh-CN" dirty="0">
                <a:latin typeface="Arial" panose="020B0604020202020204" pitchFamily="34" charset="0"/>
              </a:rPr>
              <a:t>1T</a:t>
            </a:r>
            <a:r>
              <a:rPr lang="zh-CN" altLang="en-US" dirty="0">
                <a:latin typeface="Arial" panose="020B0604020202020204" pitchFamily="34" charset="0"/>
              </a:rPr>
              <a:t>，单周期中时钟周期是</a:t>
            </a:r>
            <a:r>
              <a:rPr lang="en-US" altLang="zh-CN" dirty="0">
                <a:latin typeface="Arial" panose="020B0604020202020204" pitchFamily="34" charset="0"/>
              </a:rPr>
              <a:t>5T</a:t>
            </a:r>
            <a:r>
              <a:rPr lang="zh-CN" altLang="en-US" dirty="0">
                <a:latin typeface="Arial" panose="020B0604020202020204" pitchFamily="34" charset="0"/>
              </a:rPr>
              <a:t>，并不是多周期就性能差。</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假设第一条指令是访存指令</a:t>
            </a:r>
            <a:r>
              <a:rPr lang="en-US" altLang="zh-CN" dirty="0" err="1">
                <a:latin typeface="Arial" panose="020B0604020202020204" pitchFamily="34" charset="0"/>
              </a:rPr>
              <a:t>Lw</a:t>
            </a:r>
            <a:r>
              <a:rPr lang="zh-CN" altLang="en-US" dirty="0">
                <a:latin typeface="Arial" panose="020B0604020202020204" pitchFamily="34" charset="0"/>
              </a:rPr>
              <a:t>，那么运行是，</a:t>
            </a:r>
            <a:r>
              <a:rPr lang="en-US" altLang="zh-CN" dirty="0" err="1">
                <a:latin typeface="Arial" panose="020B0604020202020204" pitchFamily="34" charset="0"/>
              </a:rPr>
              <a:t>lw</a:t>
            </a:r>
            <a:r>
              <a:rPr lang="zh-CN" altLang="en-US" dirty="0">
                <a:latin typeface="Arial" panose="020B0604020202020204" pitchFamily="34" charset="0"/>
              </a:rPr>
              <a:t>指令需要</a:t>
            </a:r>
            <a:r>
              <a:rPr lang="en-US" altLang="zh-CN" dirty="0">
                <a:latin typeface="Arial" panose="020B0604020202020204" pitchFamily="34" charset="0"/>
              </a:rPr>
              <a:t>5T</a:t>
            </a:r>
            <a:r>
              <a:rPr lang="zh-CN" altLang="en-US" dirty="0">
                <a:latin typeface="Arial" panose="020B0604020202020204" pitchFamily="34" charset="0"/>
              </a:rPr>
              <a:t>，一次经过取。。。。。五个阶段，第二条指令是条件分支</a:t>
            </a:r>
            <a:r>
              <a:rPr lang="en-US" altLang="zh-CN" dirty="0" err="1">
                <a:latin typeface="Arial" panose="020B0604020202020204" pitchFamily="34" charset="0"/>
              </a:rPr>
              <a:t>beq</a:t>
            </a:r>
            <a:r>
              <a:rPr lang="zh-CN" altLang="en-US" dirty="0">
                <a:latin typeface="Arial" panose="020B0604020202020204" pitchFamily="34" charset="0"/>
              </a:rPr>
              <a:t>指令，需要</a:t>
            </a:r>
            <a:r>
              <a:rPr lang="en-US" altLang="zh-CN" dirty="0">
                <a:latin typeface="Arial" panose="020B0604020202020204" pitchFamily="34" charset="0"/>
              </a:rPr>
              <a:t>3</a:t>
            </a:r>
            <a:r>
              <a:rPr lang="zh-CN" altLang="en-US" dirty="0">
                <a:latin typeface="Arial" panose="020B0604020202020204" pitchFamily="34" charset="0"/>
              </a:rPr>
              <a:t>个时钟周期，依次经过。。。。。</a:t>
            </a:r>
            <a:endParaRPr lang="en-US" altLang="zh-CN" dirty="0">
              <a:latin typeface="Arial" panose="020B0604020202020204" pitchFamily="34" charset="0"/>
            </a:endParaRPr>
          </a:p>
          <a:p>
            <a:r>
              <a:rPr lang="zh-CN" altLang="en-US" dirty="0">
                <a:latin typeface="Arial" panose="020B0604020202020204" pitchFamily="34" charset="0"/>
              </a:rPr>
              <a:t>第三条指令是加法指令</a:t>
            </a:r>
            <a:r>
              <a:rPr lang="en-US" altLang="zh-CN" dirty="0">
                <a:latin typeface="Arial" panose="020B0604020202020204" pitchFamily="34" charset="0"/>
              </a:rPr>
              <a:t>add</a:t>
            </a:r>
            <a:r>
              <a:rPr lang="zh-CN" altLang="en-US" dirty="0">
                <a:latin typeface="Arial" panose="020B0604020202020204" pitchFamily="34" charset="0"/>
              </a:rPr>
              <a:t>，需要四个时钟周期，依次经过，注意</a:t>
            </a:r>
            <a:r>
              <a:rPr lang="en-US" altLang="zh-CN" dirty="0">
                <a:latin typeface="Arial" panose="020B0604020202020204" pitchFamily="34" charset="0"/>
              </a:rPr>
              <a:t>add</a:t>
            </a:r>
            <a:r>
              <a:rPr lang="zh-CN" altLang="en-US" dirty="0">
                <a:latin typeface="Arial" panose="020B0604020202020204" pitchFamily="34" charset="0"/>
              </a:rPr>
              <a:t>指令并不经过访存阶段，直接进入写回阶段。  相比单周期一条指令</a:t>
            </a:r>
            <a:r>
              <a:rPr lang="en-US" altLang="zh-CN" dirty="0">
                <a:latin typeface="Arial" panose="020B0604020202020204" pitchFamily="34" charset="0"/>
              </a:rPr>
              <a:t>5T</a:t>
            </a:r>
            <a:r>
              <a:rPr lang="zh-CN" altLang="en-US" dirty="0">
                <a:latin typeface="Arial" panose="020B0604020202020204" pitchFamily="34" charset="0"/>
              </a:rPr>
              <a:t>的固定指令周期，显然多周期有性能优势。</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481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A4D8D43-B4FE-4C9D-9660-E5CE3AE88197}"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Arial" panose="020B0604020202020204" pitchFamily="34" charset="0"/>
              </a:rPr>
              <a:t>下面来看看多周期的时空图，相比单周期时空图的主要差异在于不是所有指令都需要经历所有的</a:t>
            </a:r>
            <a:r>
              <a:rPr lang="en-US" altLang="zh-CN" dirty="0">
                <a:latin typeface="Arial" panose="020B0604020202020204" pitchFamily="34" charset="0"/>
              </a:rPr>
              <a:t>5</a:t>
            </a:r>
            <a:r>
              <a:rPr lang="zh-CN" altLang="en-US" dirty="0">
                <a:latin typeface="Arial" panose="020B0604020202020204" pitchFamily="34" charset="0"/>
              </a:rPr>
              <a:t>个阶段，</a:t>
            </a:r>
            <a:endParaRPr lang="en-US" altLang="zh-CN"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Arial" panose="020B0604020202020204" pitchFamily="34" charset="0"/>
              </a:rPr>
              <a:t>按需分配指令周期，可一定程度上提升程序执行的性能，完成</a:t>
            </a:r>
            <a:r>
              <a:rPr lang="en-US" altLang="zh-CN" dirty="0">
                <a:latin typeface="Arial" panose="020B0604020202020204" pitchFamily="34" charset="0"/>
              </a:rPr>
              <a:t>n</a:t>
            </a:r>
            <a:r>
              <a:rPr lang="zh-CN" altLang="en-US" dirty="0">
                <a:latin typeface="Arial" panose="020B0604020202020204" pitchFamily="34" charset="0"/>
              </a:rPr>
              <a:t>条指令的时间和具体指令有关系。</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029A2C-C7C5-495D-A014-B2139C7AF0D4}"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在流水线结构中，数据通路同样细分为</a:t>
            </a:r>
            <a:r>
              <a:rPr lang="en-US" altLang="zh-CN" dirty="0">
                <a:latin typeface="Arial" panose="020B0604020202020204" pitchFamily="34" charset="0"/>
              </a:rPr>
              <a:t>5</a:t>
            </a:r>
            <a:r>
              <a:rPr lang="zh-CN" altLang="en-US" dirty="0">
                <a:latin typeface="Arial" panose="020B0604020202020204" pitchFamily="34" charset="0"/>
              </a:rPr>
              <a:t>段，但注意，这</a:t>
            </a:r>
            <a:r>
              <a:rPr lang="en-US" altLang="zh-CN" dirty="0">
                <a:latin typeface="Arial" panose="020B0604020202020204" pitchFamily="34" charset="0"/>
              </a:rPr>
              <a:t>5</a:t>
            </a:r>
            <a:r>
              <a:rPr lang="zh-CN" altLang="en-US" dirty="0">
                <a:latin typeface="Arial" panose="020B0604020202020204" pitchFamily="34" charset="0"/>
              </a:rPr>
              <a:t>段和多周期中复用器件不同，这</a:t>
            </a:r>
            <a:r>
              <a:rPr lang="en-US" altLang="zh-CN" dirty="0">
                <a:latin typeface="Arial" panose="020B0604020202020204" pitchFamily="34" charset="0"/>
              </a:rPr>
              <a:t>5</a:t>
            </a:r>
            <a:r>
              <a:rPr lang="zh-CN" altLang="en-US" dirty="0">
                <a:latin typeface="Arial" panose="020B0604020202020204" pitchFamily="34" charset="0"/>
              </a:rPr>
              <a:t>段可完全并发，每一段可分别处理一条不同的指令，这大大提升了</a:t>
            </a:r>
            <a:r>
              <a:rPr lang="en-US" altLang="zh-CN" dirty="0">
                <a:latin typeface="Arial" panose="020B0604020202020204" pitchFamily="34" charset="0"/>
              </a:rPr>
              <a:t>CPU</a:t>
            </a:r>
            <a:r>
              <a:rPr lang="zh-CN" altLang="en-US" dirty="0">
                <a:latin typeface="Arial" panose="020B0604020202020204" pitchFamily="34" charset="0"/>
              </a:rPr>
              <a:t>的效率，</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右上角的流水数据通路中，各段之间增加了</a:t>
            </a:r>
            <a:r>
              <a:rPr lang="en-US" altLang="zh-CN" dirty="0">
                <a:latin typeface="Arial" panose="020B0604020202020204" pitchFamily="34" charset="0"/>
              </a:rPr>
              <a:t>4</a:t>
            </a:r>
            <a:r>
              <a:rPr lang="zh-CN" altLang="en-US" dirty="0">
                <a:latin typeface="Arial" panose="020B0604020202020204" pitchFamily="34" charset="0"/>
              </a:rPr>
              <a:t>个蓝色长条形的接口部件，接口部件内部是一系列完全同步的寄存器，可以锁存数据，所有接口采用相同时钟进行同步，各段从段首接口寄存器中取出数据进行加工，每来一个时钟，各段处理加工的结果就会锁存到段尾的接口中，形成指令的流水加工。</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以取指令阶段为例，从</a:t>
            </a:r>
            <a:r>
              <a:rPr lang="en-US" altLang="zh-CN" dirty="0">
                <a:latin typeface="Arial" panose="020B0604020202020204" pitchFamily="34" charset="0"/>
              </a:rPr>
              <a:t>PC</a:t>
            </a:r>
            <a:r>
              <a:rPr lang="zh-CN" altLang="en-US" dirty="0">
                <a:latin typeface="Arial" panose="020B0604020202020204" pitchFamily="34" charset="0"/>
              </a:rPr>
              <a:t>段取出指令地址，访问指令存储器，得到指令字输出至流水接口的输入端，时钟到来后将对应指令数据信息锁存，新取出的指令就进入了译码阶段，正是这些锁存接口部件的引入，使得各段之间可以完全并发。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指令执行动态如下：，第一条指令进入取指令，下一个时钟进入译码阶段，同时第二条指令进入取指令阶段，当指令流水线充满后，每隔一个</a:t>
            </a:r>
            <a:r>
              <a:rPr lang="en-US" altLang="zh-CN" dirty="0">
                <a:latin typeface="Arial" panose="020B0604020202020204" pitchFamily="34" charset="0"/>
              </a:rPr>
              <a:t>T</a:t>
            </a:r>
            <a:r>
              <a:rPr lang="zh-CN" altLang="en-US" dirty="0">
                <a:latin typeface="Arial" panose="020B0604020202020204" pitchFamily="34" charset="0"/>
              </a:rPr>
              <a:t>即可流出一条指令</a:t>
            </a:r>
            <a:endParaRPr lang="zh-CN" altLang="en-US" dirty="0">
              <a:latin typeface="Arial" panose="020B0604020202020204" pitchFamily="34" charset="0"/>
            </a:endParaRPr>
          </a:p>
        </p:txBody>
      </p:sp>
      <p:sp>
        <p:nvSpPr>
          <p:cNvPr id="481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A4D8D43-B4FE-4C9D-9660-E5CE3AE88197}"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第一个时钟周期第一条指令进入取指令阶段，第二个时钟周期，第一条指令进入译码阶段，第二条指令进入取指令阶段，取值和译码并发，第三个时钟周期第一条指令进入执行阶段，第二条指令进入译码阶段，第三条指令进入取指令阶段，第五个时钟周期，第一条指令进入写回阶段，所有</a:t>
            </a:r>
            <a:r>
              <a:rPr lang="en-US" altLang="zh-CN" dirty="0">
                <a:latin typeface="Arial" panose="020B0604020202020204" pitchFamily="34" charset="0"/>
              </a:rPr>
              <a:t>5</a:t>
            </a:r>
            <a:r>
              <a:rPr lang="zh-CN" altLang="en-US" dirty="0">
                <a:latin typeface="Arial" panose="020B0604020202020204" pitchFamily="34" charset="0"/>
              </a:rPr>
              <a:t>段均包含一条指令，</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此时流水线各段充满，流水结构中各段完全并发，相比单周期，多周期，流水线时空图更加紧凑，理想情况下每隔一个时钟周期会完成一条指令，所以完成</a:t>
            </a:r>
            <a:r>
              <a:rPr lang="en-US" altLang="zh-CN" dirty="0">
                <a:latin typeface="Arial" panose="020B0604020202020204" pitchFamily="34" charset="0"/>
              </a:rPr>
              <a:t>n</a:t>
            </a:r>
            <a:r>
              <a:rPr lang="zh-CN" altLang="en-US" dirty="0">
                <a:latin typeface="Arial" panose="020B0604020202020204" pitchFamily="34" charset="0"/>
              </a:rPr>
              <a:t>条指令，需要</a:t>
            </a:r>
            <a:r>
              <a:rPr lang="en-US" altLang="zh-CN" dirty="0">
                <a:latin typeface="Arial" panose="020B0604020202020204" pitchFamily="34" charset="0"/>
              </a:rPr>
              <a:t>n+4*T</a:t>
            </a:r>
            <a:r>
              <a:rPr lang="zh-CN" altLang="en-US" dirty="0">
                <a:latin typeface="Arial" panose="020B0604020202020204" pitchFamily="34" charset="0"/>
              </a:rPr>
              <a:t>的时间，性能提升大约是单周期的</a:t>
            </a:r>
            <a:r>
              <a:rPr lang="en-US" altLang="zh-CN" dirty="0">
                <a:latin typeface="Arial" panose="020B0604020202020204" pitchFamily="34" charset="0"/>
              </a:rPr>
              <a:t>5</a:t>
            </a:r>
            <a:r>
              <a:rPr lang="zh-CN" altLang="en-US" dirty="0">
                <a:latin typeface="Arial" panose="020B0604020202020204" pitchFamily="34" charset="0"/>
              </a:rPr>
              <a:t>倍</a:t>
            </a:r>
            <a:endParaRPr lang="en-US" altLang="zh-CN" dirty="0">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029A2C-C7C5-495D-A014-B2139C7AF0D4}"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p:sp>
      <p:sp>
        <p:nvSpPr>
          <p:cNvPr id="257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流水线适合工业流水线，比如汽车生产线，指令和工业流水线中代加工的零部件有较大的区别，采用流水线时还有很多实际的问题需要解决。</a:t>
            </a:r>
            <a:endParaRPr lang="en-US" altLang="zh-CN" dirty="0"/>
          </a:p>
          <a:p>
            <a:endParaRPr lang="en-US" altLang="zh-CN" dirty="0">
              <a:latin typeface="Arial" panose="020B0604020202020204" pitchFamily="34" charset="0"/>
            </a:endParaRPr>
          </a:p>
          <a:p>
            <a:r>
              <a:rPr lang="zh-CN" altLang="en-US" dirty="0">
                <a:latin typeface="Arial" panose="020B0604020202020204" pitchFamily="34" charset="0"/>
              </a:rPr>
              <a:t>理想的流水线应该满足四个基本特征，第一所有，</a:t>
            </a:r>
            <a:endParaRPr lang="en-US" altLang="zh-CN" dirty="0">
              <a:latin typeface="Arial" panose="020B0604020202020204" pitchFamily="34" charset="0"/>
            </a:endParaRPr>
          </a:p>
          <a:p>
            <a:r>
              <a:rPr lang="zh-CN" altLang="en-US" dirty="0">
                <a:latin typeface="Arial" panose="020B0604020202020204" pitchFamily="34" charset="0"/>
              </a:rPr>
              <a:t>想流水线的特征，比如不同指令所需要的阶段数并不相同，指令执行过程中还存在着内存争用的问题，另外各段之间还存在着依赖关系，延迟也不完全相同，</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要让指令能在流水线上运行起来还需要解决很多实际问题。</a:t>
            </a:r>
            <a:endParaRPr lang="zh-CN" altLang="en-US" dirty="0"/>
          </a:p>
        </p:txBody>
      </p:sp>
      <p:sp>
        <p:nvSpPr>
          <p:cNvPr id="257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2"/>
                </a:solidFill>
                <a:latin typeface="Verdana" panose="020B0604030504040204" pitchFamily="34" charset="0"/>
                <a:ea typeface="宋体" panose="02010600030101010101" pitchFamily="2" charset="-122"/>
              </a:defRPr>
            </a:lvl1pPr>
            <a:lvl2pPr marL="669290" indent="-257175" eaLnBrk="0" hangingPunct="0">
              <a:defRPr sz="3400">
                <a:solidFill>
                  <a:schemeClr val="tx2"/>
                </a:solidFill>
                <a:latin typeface="Verdana" panose="020B0604030504040204" pitchFamily="34" charset="0"/>
                <a:ea typeface="宋体" panose="02010600030101010101" pitchFamily="2" charset="-122"/>
              </a:defRPr>
            </a:lvl2pPr>
            <a:lvl3pPr marL="1029335" indent="-205740" eaLnBrk="0" hangingPunct="0">
              <a:defRPr sz="3400">
                <a:solidFill>
                  <a:schemeClr val="tx2"/>
                </a:solidFill>
                <a:latin typeface="Verdana" panose="020B0604030504040204" pitchFamily="34" charset="0"/>
                <a:ea typeface="宋体" panose="02010600030101010101" pitchFamily="2" charset="-122"/>
              </a:defRPr>
            </a:lvl3pPr>
            <a:lvl4pPr marL="1441450" indent="-205740" eaLnBrk="0" hangingPunct="0">
              <a:defRPr sz="3400">
                <a:solidFill>
                  <a:schemeClr val="tx2"/>
                </a:solidFill>
                <a:latin typeface="Verdana" panose="020B0604030504040204" pitchFamily="34" charset="0"/>
                <a:ea typeface="宋体" panose="02010600030101010101" pitchFamily="2" charset="-122"/>
              </a:defRPr>
            </a:lvl4pPr>
            <a:lvl5pPr marL="1853565" indent="-205740" eaLnBrk="0" hangingPunct="0">
              <a:defRPr sz="3400">
                <a:solidFill>
                  <a:schemeClr val="tx2"/>
                </a:solidFill>
                <a:latin typeface="Verdana" panose="020B0604030504040204" pitchFamily="34" charset="0"/>
                <a:ea typeface="宋体" panose="02010600030101010101" pitchFamily="2" charset="-122"/>
              </a:defRPr>
            </a:lvl5pPr>
            <a:lvl6pPr marL="226504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6pPr>
            <a:lvl7pPr marL="267716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7pPr>
            <a:lvl8pPr marL="308864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8pPr>
            <a:lvl9pPr marL="350075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39D3C67-C948-4D9A-9979-B49B29D4C651}" type="slidenum">
              <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p:sp>
      <p:sp>
        <p:nvSpPr>
          <p:cNvPr id="257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指令流水线在很多方面都不符合理想流水线的特征，要让指令能在流水线中顺利运行起来，还必须解决流水线中存在的相关问题，相关也称为冲突或者冒险。</a:t>
            </a:r>
            <a:endParaRPr lang="en-US" altLang="zh-CN" dirty="0"/>
          </a:p>
          <a:p>
            <a:endParaRPr lang="en-US" altLang="zh-CN" dirty="0"/>
          </a:p>
          <a:p>
            <a:r>
              <a:rPr lang="zh-CN" altLang="en-US" dirty="0"/>
              <a:t>指令流水线中的相关主要包括资源相关，分支相关，和数据相关，其中资源相关主要是流水各阶段中存在主存争用，</a:t>
            </a:r>
            <a:r>
              <a:rPr lang="en-US" altLang="zh-CN" dirty="0"/>
              <a:t>ALU</a:t>
            </a:r>
            <a:r>
              <a:rPr lang="zh-CN" altLang="en-US" dirty="0"/>
              <a:t>争用的问题，这些问题可以参考单周期实现中的增加部件进行消除。</a:t>
            </a:r>
            <a:endParaRPr lang="en-US" altLang="zh-CN" dirty="0"/>
          </a:p>
          <a:p>
            <a:endParaRPr lang="en-US" altLang="zh-CN" dirty="0"/>
          </a:p>
          <a:p>
            <a:r>
              <a:rPr lang="zh-CN" altLang="en-US" dirty="0"/>
              <a:t>第二种是分支相关，在流水执行阶段出现分支指令，则该指令后续预取的若干条指令成为无用指令，必须清空这些指令，从而使得流水线发生中断，流水线预取深度越大，误取的指令越多，性能损失越大。</a:t>
            </a:r>
            <a:endParaRPr lang="en-US" altLang="zh-CN" dirty="0"/>
          </a:p>
          <a:p>
            <a:endParaRPr lang="en-US" altLang="zh-CN" dirty="0"/>
          </a:p>
          <a:p>
            <a:r>
              <a:rPr lang="zh-CN" altLang="en-US" dirty="0"/>
              <a:t>数据相关是由于指令操作数依赖于前一条指令执行的结果造成的，比如这里后一条的加法指令需要用到</a:t>
            </a:r>
            <a:r>
              <a:rPr lang="en-US" altLang="zh-CN" dirty="0"/>
              <a:t>s1</a:t>
            </a:r>
            <a:r>
              <a:rPr lang="zh-CN" altLang="en-US" dirty="0"/>
              <a:t>寄存器，但</a:t>
            </a:r>
            <a:r>
              <a:rPr lang="en-US" altLang="zh-CN" dirty="0"/>
              <a:t>s1</a:t>
            </a:r>
            <a:r>
              <a:rPr lang="zh-CN" altLang="en-US" dirty="0"/>
              <a:t>的值要等待第一条指令写回才能够取到正确的值，这同样会使得流水线停顿，所有这些相关问题，我们都会在后续实验中逐一进行解决实现。</a:t>
            </a:r>
            <a:endParaRPr lang="zh-CN" altLang="en-US" dirty="0"/>
          </a:p>
        </p:txBody>
      </p:sp>
      <p:sp>
        <p:nvSpPr>
          <p:cNvPr id="257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2"/>
                </a:solidFill>
                <a:latin typeface="Verdana" panose="020B0604030504040204" pitchFamily="34" charset="0"/>
                <a:ea typeface="宋体" panose="02010600030101010101" pitchFamily="2" charset="-122"/>
              </a:defRPr>
            </a:lvl1pPr>
            <a:lvl2pPr marL="669290" indent="-257175" eaLnBrk="0" hangingPunct="0">
              <a:defRPr sz="3400">
                <a:solidFill>
                  <a:schemeClr val="tx2"/>
                </a:solidFill>
                <a:latin typeface="Verdana" panose="020B0604030504040204" pitchFamily="34" charset="0"/>
                <a:ea typeface="宋体" panose="02010600030101010101" pitchFamily="2" charset="-122"/>
              </a:defRPr>
            </a:lvl2pPr>
            <a:lvl3pPr marL="1029335" indent="-205740" eaLnBrk="0" hangingPunct="0">
              <a:defRPr sz="3400">
                <a:solidFill>
                  <a:schemeClr val="tx2"/>
                </a:solidFill>
                <a:latin typeface="Verdana" panose="020B0604030504040204" pitchFamily="34" charset="0"/>
                <a:ea typeface="宋体" panose="02010600030101010101" pitchFamily="2" charset="-122"/>
              </a:defRPr>
            </a:lvl3pPr>
            <a:lvl4pPr marL="1441450" indent="-205740" eaLnBrk="0" hangingPunct="0">
              <a:defRPr sz="3400">
                <a:solidFill>
                  <a:schemeClr val="tx2"/>
                </a:solidFill>
                <a:latin typeface="Verdana" panose="020B0604030504040204" pitchFamily="34" charset="0"/>
                <a:ea typeface="宋体" panose="02010600030101010101" pitchFamily="2" charset="-122"/>
              </a:defRPr>
            </a:lvl4pPr>
            <a:lvl5pPr marL="1853565" indent="-205740" eaLnBrk="0" hangingPunct="0">
              <a:defRPr sz="3400">
                <a:solidFill>
                  <a:schemeClr val="tx2"/>
                </a:solidFill>
                <a:latin typeface="Verdana" panose="020B0604030504040204" pitchFamily="34" charset="0"/>
                <a:ea typeface="宋体" panose="02010600030101010101" pitchFamily="2" charset="-122"/>
              </a:defRPr>
            </a:lvl5pPr>
            <a:lvl6pPr marL="226504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6pPr>
            <a:lvl7pPr marL="267716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7pPr>
            <a:lvl8pPr marL="308864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8pPr>
            <a:lvl9pPr marL="350075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39D3C67-C948-4D9A-9979-B49B29D4C651}" type="slidenum">
              <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同学们好，这讲我们主要介绍理想指令流水线的设计，我们的终极实验目标是构建标准</a:t>
            </a:r>
            <a:r>
              <a:rPr lang="en-US" altLang="zh-CN" dirty="0"/>
              <a:t>MIPS</a:t>
            </a:r>
            <a:r>
              <a:rPr lang="zh-CN" altLang="en-US" dirty="0"/>
              <a:t>指令流水线，为了分解任务，使得实验任务由易到难，这里我们首先需要考虑设计一个最为简单的理想指令流水线，所谓理想指令流水线是指只能运行无数据相关，无分支相关程序的指令流水线。</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p:sp>
      <p:sp>
        <p:nvSpPr>
          <p:cNvPr id="257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前面我们介绍过理想流水线应该满足四个基本特征，但实际指令在流水线中运行并不满足这些特征，我们来看看如何逐一克服解决这些问题，首先。。。。。</a:t>
            </a:r>
            <a:endParaRPr lang="en-US" altLang="zh-CN" dirty="0">
              <a:latin typeface="Arial" panose="020B0604020202020204" pitchFamily="34" charset="0"/>
            </a:endParaRPr>
          </a:p>
        </p:txBody>
      </p:sp>
      <p:sp>
        <p:nvSpPr>
          <p:cNvPr id="257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2"/>
                </a:solidFill>
                <a:latin typeface="Verdana" panose="020B0604030504040204" pitchFamily="34" charset="0"/>
                <a:ea typeface="宋体" panose="02010600030101010101" pitchFamily="2" charset="-122"/>
              </a:defRPr>
            </a:lvl1pPr>
            <a:lvl2pPr marL="669290" indent="-257175" eaLnBrk="0" hangingPunct="0">
              <a:defRPr sz="3400">
                <a:solidFill>
                  <a:schemeClr val="tx2"/>
                </a:solidFill>
                <a:latin typeface="Verdana" panose="020B0604030504040204" pitchFamily="34" charset="0"/>
                <a:ea typeface="宋体" panose="02010600030101010101" pitchFamily="2" charset="-122"/>
              </a:defRPr>
            </a:lvl2pPr>
            <a:lvl3pPr marL="1029335" indent="-205740" eaLnBrk="0" hangingPunct="0">
              <a:defRPr sz="3400">
                <a:solidFill>
                  <a:schemeClr val="tx2"/>
                </a:solidFill>
                <a:latin typeface="Verdana" panose="020B0604030504040204" pitchFamily="34" charset="0"/>
                <a:ea typeface="宋体" panose="02010600030101010101" pitchFamily="2" charset="-122"/>
              </a:defRPr>
            </a:lvl3pPr>
            <a:lvl4pPr marL="1441450" indent="-205740" eaLnBrk="0" hangingPunct="0">
              <a:defRPr sz="3400">
                <a:solidFill>
                  <a:schemeClr val="tx2"/>
                </a:solidFill>
                <a:latin typeface="Verdana" panose="020B0604030504040204" pitchFamily="34" charset="0"/>
                <a:ea typeface="宋体" panose="02010600030101010101" pitchFamily="2" charset="-122"/>
              </a:defRPr>
            </a:lvl4pPr>
            <a:lvl5pPr marL="1853565" indent="-205740" eaLnBrk="0" hangingPunct="0">
              <a:defRPr sz="3400">
                <a:solidFill>
                  <a:schemeClr val="tx2"/>
                </a:solidFill>
                <a:latin typeface="Verdana" panose="020B0604030504040204" pitchFamily="34" charset="0"/>
                <a:ea typeface="宋体" panose="02010600030101010101" pitchFamily="2" charset="-122"/>
              </a:defRPr>
            </a:lvl5pPr>
            <a:lvl6pPr marL="226504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6pPr>
            <a:lvl7pPr marL="267716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7pPr>
            <a:lvl8pPr marL="308864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8pPr>
            <a:lvl9pPr marL="350075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39D3C67-C948-4D9A-9979-B49B29D4C651}" type="slidenum">
              <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defRPr/>
            </a:pPr>
            <a:r>
              <a:rPr lang="zh-CN" altLang="en-US" dirty="0"/>
              <a:t>将单周期</a:t>
            </a:r>
            <a:r>
              <a:rPr lang="en-US" altLang="zh-CN" dirty="0"/>
              <a:t>CPU</a:t>
            </a:r>
            <a:r>
              <a:rPr lang="zh-CN" altLang="en-US" dirty="0"/>
              <a:t>细分成五个阶段：</a:t>
            </a:r>
            <a:r>
              <a:rPr lang="en-US" altLang="zh-CN" dirty="0"/>
              <a:t>IF</a:t>
            </a:r>
            <a:r>
              <a:rPr lang="zh-CN" altLang="en-US" dirty="0"/>
              <a:t>、</a:t>
            </a:r>
            <a:r>
              <a:rPr lang="en-US" altLang="zh-CN" dirty="0"/>
              <a:t>ID</a:t>
            </a:r>
            <a:r>
              <a:rPr lang="zh-CN" altLang="en-US" dirty="0"/>
              <a:t>、</a:t>
            </a:r>
            <a:r>
              <a:rPr lang="en-US" altLang="zh-CN" dirty="0"/>
              <a:t>EX</a:t>
            </a:r>
            <a:r>
              <a:rPr lang="zh-CN" altLang="en-US" dirty="0"/>
              <a:t>、</a:t>
            </a:r>
            <a:r>
              <a:rPr lang="en-US" altLang="zh-CN" dirty="0"/>
              <a:t>MEM</a:t>
            </a:r>
            <a:r>
              <a:rPr lang="zh-CN" altLang="en-US" dirty="0"/>
              <a:t>、</a:t>
            </a:r>
            <a:r>
              <a:rPr lang="en-US" altLang="zh-CN" dirty="0"/>
              <a:t>WB</a:t>
            </a:r>
            <a:endParaRPr lang="en-US" altLang="zh-CN" dirty="0"/>
          </a:p>
          <a:p>
            <a:pPr>
              <a:lnSpc>
                <a:spcPct val="150000"/>
              </a:lnSpc>
              <a:defRPr/>
            </a:pPr>
            <a:r>
              <a:rPr lang="zh-CN" altLang="en-US" dirty="0"/>
              <a:t>每个阶段之间设置需要设置一个流水接口部件，分别是</a:t>
            </a:r>
            <a:r>
              <a:rPr lang="en-US" altLang="zh-CN" dirty="0"/>
              <a:t>PC</a:t>
            </a:r>
            <a:r>
              <a:rPr lang="zh-CN" altLang="en-US" dirty="0"/>
              <a:t>，</a:t>
            </a:r>
            <a:r>
              <a:rPr lang="en-US" altLang="zh-CN" dirty="0"/>
              <a:t>IF/ID</a:t>
            </a:r>
            <a:endParaRPr lang="en-US" altLang="zh-CN" dirty="0"/>
          </a:p>
          <a:p>
            <a:pPr>
              <a:lnSpc>
                <a:spcPct val="150000"/>
              </a:lnSpc>
              <a:defRPr/>
            </a:pPr>
            <a:r>
              <a:rPr lang="en-US" altLang="zh-CN" dirty="0"/>
              <a:t>,ID/EX,EX/MEM</a:t>
            </a:r>
            <a:r>
              <a:rPr lang="en-US" altLang="zh-CN" baseline="0" dirty="0"/>
              <a:t> ,MEM/WB</a:t>
            </a:r>
            <a:r>
              <a:rPr lang="zh-CN" altLang="en-US" baseline="0" dirty="0"/>
              <a:t>，接口部件本质是就是一个或多个寄存器，用于锁存前段加工完成的数据或指令，通过接口传递与指令相关的数据控制，反馈信息，比如</a:t>
            </a:r>
            <a:r>
              <a:rPr lang="en-US" altLang="zh-CN" baseline="0" dirty="0"/>
              <a:t>IF</a:t>
            </a:r>
            <a:r>
              <a:rPr lang="zh-CN" altLang="en-US" baseline="0" dirty="0"/>
              <a:t>段取出的指令字会缓存在</a:t>
            </a:r>
            <a:r>
              <a:rPr lang="en-US" altLang="zh-CN" baseline="0" dirty="0"/>
              <a:t>IF/ID</a:t>
            </a:r>
            <a:r>
              <a:rPr lang="zh-CN" altLang="en-US" baseline="0" dirty="0"/>
              <a:t>接口中，</a:t>
            </a:r>
            <a:r>
              <a:rPr lang="en-US" altLang="zh-CN" baseline="0" dirty="0"/>
              <a:t>ID</a:t>
            </a:r>
            <a:r>
              <a:rPr lang="zh-CN" altLang="en-US" baseline="0" dirty="0"/>
              <a:t>段直接根据接口中的指令字进行译码生成控制信号，取操作数，控制信号和操作数会锁存在</a:t>
            </a:r>
            <a:r>
              <a:rPr lang="en-US" altLang="zh-CN" baseline="0" dirty="0"/>
              <a:t>ID/EX</a:t>
            </a:r>
            <a:r>
              <a:rPr lang="zh-CN" altLang="en-US" baseline="0" dirty="0"/>
              <a:t>中，执行段所需的数据和控制信号均来在</a:t>
            </a:r>
            <a:r>
              <a:rPr lang="en-US" altLang="zh-CN" baseline="0" dirty="0"/>
              <a:t>ID/EX</a:t>
            </a:r>
            <a:r>
              <a:rPr lang="zh-CN" altLang="en-US" baseline="0" dirty="0"/>
              <a:t>接口组件，后端对数据的加工依赖于前段接口传递过来的信息，和工业流水线不一样，指令流水线不仅仅要传递代加工的部件</a:t>
            </a:r>
            <a:r>
              <a:rPr lang="en-US" altLang="zh-CN" baseline="0" dirty="0"/>
              <a:t>---</a:t>
            </a:r>
            <a:r>
              <a:rPr lang="zh-CN" altLang="en-US" baseline="0" dirty="0"/>
              <a:t>数据，指令，还需要传递加工的工艺和流程</a:t>
            </a:r>
            <a:r>
              <a:rPr lang="en-US" altLang="zh-CN" baseline="0" dirty="0"/>
              <a:t>---</a:t>
            </a:r>
            <a:r>
              <a:rPr lang="zh-CN" altLang="en-US" baseline="0" dirty="0"/>
              <a:t>这里就是我们的控制信号。</a:t>
            </a:r>
            <a:endParaRPr lang="zh-CN" altLang="en-US" dirty="0"/>
          </a:p>
          <a:p>
            <a:pPr>
              <a:lnSpc>
                <a:spcPct val="150000"/>
              </a:lnSpc>
              <a:defRPr/>
            </a:pP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这幅图是</a:t>
            </a:r>
            <a:r>
              <a:rPr lang="en-US" altLang="zh-CN" dirty="0"/>
              <a:t>MIPS </a:t>
            </a:r>
            <a:r>
              <a:rPr lang="zh-CN" altLang="en-US" dirty="0"/>
              <a:t>五段流水数据通路的顶层视图，图中指令存储器，数据存储器分离，是典型的哈佛结构，寄存器取操作数和写回寄存器之间也存在着读写的争用问题，这里我们暂时不考虑。大家可以按照上面的结构构建</a:t>
            </a:r>
            <a:r>
              <a:rPr lang="en-US" altLang="zh-CN" dirty="0"/>
              <a:t>MIPS </a:t>
            </a:r>
            <a:r>
              <a:rPr lang="zh-CN" altLang="en-US" dirty="0"/>
              <a:t>五段流水</a:t>
            </a:r>
            <a:r>
              <a:rPr lang="en-US" altLang="zh-CN" dirty="0"/>
              <a:t>CPU</a:t>
            </a:r>
            <a:r>
              <a:rPr lang="zh-CN" altLang="en-US" dirty="0"/>
              <a:t>数据通路。</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有了基本的分段和流水接口部件后，我们来看看流水接口中到底锁存什么数据和信息，对于取指与译码阶段直接的接口</a:t>
            </a:r>
            <a:r>
              <a:rPr lang="en-US" altLang="zh-CN" dirty="0"/>
              <a:t>IF/ID</a:t>
            </a:r>
            <a:r>
              <a:rPr lang="zh-CN" altLang="en-US" dirty="0"/>
              <a:t>，应该锁存取指段取出的指令</a:t>
            </a:r>
            <a:r>
              <a:rPr lang="en-US" altLang="zh-CN" dirty="0"/>
              <a:t>IR</a:t>
            </a:r>
            <a:r>
              <a:rPr lang="zh-CN" altLang="en-US" dirty="0"/>
              <a:t>，以及当前指令的</a:t>
            </a:r>
            <a:r>
              <a:rPr lang="en-US" altLang="zh-CN" dirty="0"/>
              <a:t>PC</a:t>
            </a:r>
            <a:r>
              <a:rPr lang="zh-CN" altLang="en-US" dirty="0"/>
              <a:t>，锁存</a:t>
            </a:r>
            <a:r>
              <a:rPr lang="en-US" altLang="zh-CN" dirty="0"/>
              <a:t>IR</a:t>
            </a:r>
            <a:r>
              <a:rPr lang="zh-CN" altLang="en-US" dirty="0"/>
              <a:t>容易理解，锁存</a:t>
            </a:r>
            <a:r>
              <a:rPr lang="en-US" altLang="zh-CN" dirty="0"/>
              <a:t>PC</a:t>
            </a:r>
            <a:r>
              <a:rPr lang="zh-CN" altLang="en-US" dirty="0"/>
              <a:t>的目的主要是方便后端计算分支地址，因为</a:t>
            </a:r>
            <a:r>
              <a:rPr lang="en-US" altLang="zh-CN" dirty="0"/>
              <a:t>PC</a:t>
            </a:r>
            <a:r>
              <a:rPr lang="zh-CN" altLang="en-US" dirty="0"/>
              <a:t>寄存器的值总在变化，必须记住当前指令的</a:t>
            </a:r>
            <a:r>
              <a:rPr lang="en-US" altLang="zh-CN" dirty="0"/>
              <a:t>PC</a:t>
            </a:r>
            <a:r>
              <a:rPr lang="zh-CN" altLang="en-US" dirty="0"/>
              <a:t>。  译码段</a:t>
            </a:r>
            <a:r>
              <a:rPr lang="en-US" altLang="zh-CN" dirty="0"/>
              <a:t>ID</a:t>
            </a:r>
            <a:r>
              <a:rPr lang="zh-CN" altLang="en-US" dirty="0"/>
              <a:t>可以完全复用单周期实验中的控制器，将指令字翻译成控制信号，另外指令字解析后可以访问寄存器文件，得到</a:t>
            </a:r>
            <a:r>
              <a:rPr lang="en-US" altLang="zh-CN" dirty="0"/>
              <a:t>16</a:t>
            </a:r>
            <a:r>
              <a:rPr lang="zh-CN" altLang="en-US" dirty="0"/>
              <a:t>位立即数或</a:t>
            </a:r>
            <a:r>
              <a:rPr lang="en-US" altLang="zh-CN" dirty="0"/>
              <a:t>32</a:t>
            </a:r>
            <a:r>
              <a:rPr lang="zh-CN" altLang="en-US" dirty="0"/>
              <a:t>位立即数，这些都是执行阶段所需要的数据和信号，所以</a:t>
            </a:r>
            <a:r>
              <a:rPr lang="en-US" altLang="zh-CN" dirty="0"/>
              <a:t>ID/EX</a:t>
            </a:r>
            <a:r>
              <a:rPr lang="zh-CN" altLang="en-US" dirty="0"/>
              <a:t>中需要锁存后续</a:t>
            </a:r>
            <a:r>
              <a:rPr lang="en-US" altLang="zh-CN" dirty="0"/>
              <a:t>3</a:t>
            </a:r>
            <a:r>
              <a:rPr lang="zh-CN" altLang="en-US" dirty="0"/>
              <a:t>段所需要的控制信号以及操作数，接口中红色部分是控制信号，绿色部分分别是。。。。。。 </a:t>
            </a:r>
            <a:r>
              <a:rPr lang="en-US" altLang="zh-CN" dirty="0"/>
              <a:t>EX</a:t>
            </a:r>
            <a:r>
              <a:rPr lang="zh-CN" altLang="en-US" dirty="0"/>
              <a:t>段使用部分数据和控制信号</a:t>
            </a:r>
            <a:r>
              <a:rPr lang="en-US" altLang="zh-CN" dirty="0"/>
              <a:t>ALU_OP</a:t>
            </a:r>
            <a:r>
              <a:rPr lang="zh-CN" altLang="en-US" dirty="0"/>
              <a:t>，运算结构，运算结果会送到</a:t>
            </a:r>
            <a:r>
              <a:rPr lang="en-US" altLang="zh-CN" dirty="0"/>
              <a:t>EX/MEM</a:t>
            </a:r>
            <a:r>
              <a:rPr lang="zh-CN" altLang="en-US" dirty="0"/>
              <a:t>接口锁存，由于</a:t>
            </a:r>
            <a:r>
              <a:rPr lang="en-US" altLang="zh-CN" dirty="0"/>
              <a:t>EX</a:t>
            </a:r>
            <a:r>
              <a:rPr lang="zh-CN" altLang="en-US" dirty="0"/>
              <a:t>段控制信号已经使用完毕，所以这里控制信号只需要向后传递</a:t>
            </a:r>
            <a:r>
              <a:rPr lang="en-US" altLang="zh-CN" dirty="0"/>
              <a:t>WB</a:t>
            </a:r>
            <a:r>
              <a:rPr lang="zh-CN" altLang="en-US" dirty="0"/>
              <a:t>，</a:t>
            </a:r>
            <a:r>
              <a:rPr lang="en-US" altLang="zh-CN" dirty="0"/>
              <a:t>MEM</a:t>
            </a:r>
            <a:r>
              <a:rPr lang="zh-CN" altLang="en-US" dirty="0"/>
              <a:t>部分，注意此时</a:t>
            </a:r>
            <a:r>
              <a:rPr lang="en-US" altLang="zh-CN" dirty="0"/>
              <a:t>IR</a:t>
            </a:r>
            <a:r>
              <a:rPr lang="zh-CN" altLang="en-US" dirty="0"/>
              <a:t>，</a:t>
            </a:r>
            <a:r>
              <a:rPr lang="en-US" altLang="zh-CN" dirty="0"/>
              <a:t>PC</a:t>
            </a:r>
            <a:r>
              <a:rPr lang="zh-CN" altLang="en-US" dirty="0"/>
              <a:t>一直向后传递的目的是为了方便调试，构建时空图，实际流水线中并不需要一直传递。依次内推，</a:t>
            </a:r>
            <a:r>
              <a:rPr lang="en-US" altLang="zh-CN" dirty="0"/>
              <a:t>Mem</a:t>
            </a:r>
            <a:r>
              <a:rPr lang="zh-CN" altLang="en-US" dirty="0"/>
              <a:t>、</a:t>
            </a:r>
            <a:r>
              <a:rPr lang="en-US" altLang="zh-CN" dirty="0"/>
              <a:t>WB</a:t>
            </a:r>
            <a:r>
              <a:rPr lang="zh-CN" altLang="en-US" dirty="0"/>
              <a:t>接口中包括写回阶段所需的控制信号，和内存数据，</a:t>
            </a:r>
            <a:r>
              <a:rPr lang="en-US" altLang="zh-CN" dirty="0" err="1"/>
              <a:t>alu</a:t>
            </a:r>
            <a:r>
              <a:rPr lang="zh-CN" altLang="en-US" dirty="0"/>
              <a:t>数据，</a:t>
            </a:r>
            <a:r>
              <a:rPr lang="en-US" altLang="zh-CN" dirty="0"/>
              <a:t>IR</a:t>
            </a:r>
            <a:r>
              <a:rPr lang="zh-CN" altLang="en-US" dirty="0"/>
              <a:t>，</a:t>
            </a:r>
            <a:r>
              <a:rPr lang="en-US" altLang="zh-CN" dirty="0"/>
              <a:t>PC</a:t>
            </a:r>
            <a:r>
              <a:rPr lang="zh-CN" altLang="en-US" dirty="0"/>
              <a:t>。  总体上看，译码段一次性生成的各段所需的控制信号，并依次向后传递，注意画图传递的控制信号应遵循最后用到的信号在最上部的顺序，以方便绘图，后段绘图空间会越来越大。</a:t>
            </a:r>
            <a:endParaRPr lang="en-US" altLang="zh-CN" dirty="0"/>
          </a:p>
          <a:p>
            <a:endParaRPr lang="en-US" altLang="zh-CN" dirty="0"/>
          </a:p>
          <a:p>
            <a:endParaRPr lang="en-US" altLang="zh-CN" dirty="0"/>
          </a:p>
          <a:p>
            <a:r>
              <a:rPr lang="zh-CN" altLang="en-US" dirty="0"/>
              <a:t>建议直接将</a:t>
            </a:r>
            <a:r>
              <a:rPr lang="en-US" altLang="zh-CN" dirty="0"/>
              <a:t>IR</a:t>
            </a:r>
            <a:r>
              <a:rPr lang="zh-CN" altLang="en-US" dirty="0"/>
              <a:t>，</a:t>
            </a:r>
            <a:r>
              <a:rPr lang="en-US" altLang="zh-CN" dirty="0"/>
              <a:t>PC</a:t>
            </a:r>
            <a:r>
              <a:rPr lang="zh-CN" altLang="en-US" dirty="0"/>
              <a:t>一直向后传，先讲</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有了基本的分段和流水接口部件后，我们来看看流水接口中到底锁存什么数据和信息，对于取指与译码阶段直接的接口</a:t>
            </a:r>
            <a:r>
              <a:rPr lang="en-US" altLang="zh-CN" dirty="0"/>
              <a:t>IF/ID</a:t>
            </a:r>
            <a:r>
              <a:rPr lang="zh-CN" altLang="en-US" dirty="0"/>
              <a:t>，应该锁存取指段取出的指令</a:t>
            </a:r>
            <a:r>
              <a:rPr lang="en-US" altLang="zh-CN" dirty="0"/>
              <a:t>IR</a:t>
            </a:r>
            <a:r>
              <a:rPr lang="zh-CN" altLang="en-US" dirty="0"/>
              <a:t>，以及当前指令的</a:t>
            </a:r>
            <a:r>
              <a:rPr lang="en-US" altLang="zh-CN" dirty="0"/>
              <a:t>PC</a:t>
            </a:r>
            <a:r>
              <a:rPr lang="zh-CN" altLang="en-US" dirty="0"/>
              <a:t>，锁存</a:t>
            </a:r>
            <a:r>
              <a:rPr lang="en-US" altLang="zh-CN" dirty="0"/>
              <a:t>IR</a:t>
            </a:r>
            <a:r>
              <a:rPr lang="zh-CN" altLang="en-US" dirty="0"/>
              <a:t>容易理解，锁存</a:t>
            </a:r>
            <a:r>
              <a:rPr lang="en-US" altLang="zh-CN" dirty="0"/>
              <a:t>PC</a:t>
            </a:r>
            <a:r>
              <a:rPr lang="zh-CN" altLang="en-US" dirty="0"/>
              <a:t>的目的主要是方便后端计算分支地址，因为</a:t>
            </a:r>
            <a:r>
              <a:rPr lang="en-US" altLang="zh-CN" dirty="0"/>
              <a:t>PC</a:t>
            </a:r>
            <a:r>
              <a:rPr lang="zh-CN" altLang="en-US" dirty="0"/>
              <a:t>寄存器的值总在变化，必须记住当前指令的</a:t>
            </a:r>
            <a:r>
              <a:rPr lang="en-US" altLang="zh-CN" dirty="0"/>
              <a:t>PC</a:t>
            </a:r>
            <a:r>
              <a:rPr lang="zh-CN" altLang="en-US" dirty="0"/>
              <a:t>。  译码段</a:t>
            </a:r>
            <a:r>
              <a:rPr lang="en-US" altLang="zh-CN" dirty="0"/>
              <a:t>ID</a:t>
            </a:r>
            <a:r>
              <a:rPr lang="zh-CN" altLang="en-US" dirty="0"/>
              <a:t>可以完全复用单周期实验中的控制器，将指令字翻译成控制信号，另外指令字解析后可以访问寄存器文件，得到</a:t>
            </a:r>
            <a:r>
              <a:rPr lang="en-US" altLang="zh-CN" dirty="0"/>
              <a:t>16</a:t>
            </a:r>
            <a:r>
              <a:rPr lang="zh-CN" altLang="en-US" dirty="0"/>
              <a:t>位立即数或</a:t>
            </a:r>
            <a:r>
              <a:rPr lang="en-US" altLang="zh-CN" dirty="0"/>
              <a:t>32</a:t>
            </a:r>
            <a:r>
              <a:rPr lang="zh-CN" altLang="en-US" dirty="0"/>
              <a:t>位立即数，这些都是执行阶段所需要的数据和信号，所以</a:t>
            </a:r>
            <a:r>
              <a:rPr lang="en-US" altLang="zh-CN" dirty="0"/>
              <a:t>ID/EX</a:t>
            </a:r>
            <a:r>
              <a:rPr lang="zh-CN" altLang="en-US" dirty="0"/>
              <a:t>中需要锁存后续</a:t>
            </a:r>
            <a:r>
              <a:rPr lang="en-US" altLang="zh-CN" dirty="0"/>
              <a:t>3</a:t>
            </a:r>
            <a:r>
              <a:rPr lang="zh-CN" altLang="en-US" dirty="0"/>
              <a:t>段所需要的控制信号以及操作数，接口中红色部分是控制信号，绿色部分分别是。。。。。。 </a:t>
            </a:r>
            <a:r>
              <a:rPr lang="en-US" altLang="zh-CN" dirty="0"/>
              <a:t>EX</a:t>
            </a:r>
            <a:r>
              <a:rPr lang="zh-CN" altLang="en-US" dirty="0"/>
              <a:t>段使用部分数据和控制信号</a:t>
            </a:r>
            <a:r>
              <a:rPr lang="en-US" altLang="zh-CN" dirty="0"/>
              <a:t>ALU_OP</a:t>
            </a:r>
            <a:r>
              <a:rPr lang="zh-CN" altLang="en-US" dirty="0"/>
              <a:t>，运算结构，运算结果会送到</a:t>
            </a:r>
            <a:r>
              <a:rPr lang="en-US" altLang="zh-CN" dirty="0"/>
              <a:t>EX/MEM</a:t>
            </a:r>
            <a:r>
              <a:rPr lang="zh-CN" altLang="en-US" dirty="0"/>
              <a:t>接口锁存，由于</a:t>
            </a:r>
            <a:r>
              <a:rPr lang="en-US" altLang="zh-CN" dirty="0"/>
              <a:t>EX</a:t>
            </a:r>
            <a:r>
              <a:rPr lang="zh-CN" altLang="en-US" dirty="0"/>
              <a:t>段控制信号已经使用完毕，所以这里控制信号只需要向后传递</a:t>
            </a:r>
            <a:r>
              <a:rPr lang="en-US" altLang="zh-CN" dirty="0"/>
              <a:t>WB</a:t>
            </a:r>
            <a:r>
              <a:rPr lang="zh-CN" altLang="en-US" dirty="0"/>
              <a:t>，</a:t>
            </a:r>
            <a:r>
              <a:rPr lang="en-US" altLang="zh-CN" dirty="0"/>
              <a:t>MEM</a:t>
            </a:r>
            <a:r>
              <a:rPr lang="zh-CN" altLang="en-US" dirty="0"/>
              <a:t>部分，注意此时</a:t>
            </a:r>
            <a:r>
              <a:rPr lang="en-US" altLang="zh-CN" dirty="0"/>
              <a:t>IR</a:t>
            </a:r>
            <a:r>
              <a:rPr lang="zh-CN" altLang="en-US" dirty="0"/>
              <a:t>，</a:t>
            </a:r>
            <a:r>
              <a:rPr lang="en-US" altLang="zh-CN" dirty="0"/>
              <a:t>PC</a:t>
            </a:r>
            <a:r>
              <a:rPr lang="zh-CN" altLang="en-US" dirty="0"/>
              <a:t>一直向后传递的目的是为了方便调试，构建时空图，实际流水线中并不需要一直传递。依次内推，</a:t>
            </a:r>
            <a:r>
              <a:rPr lang="en-US" altLang="zh-CN" dirty="0"/>
              <a:t>Mem</a:t>
            </a:r>
            <a:r>
              <a:rPr lang="zh-CN" altLang="en-US" dirty="0"/>
              <a:t>、</a:t>
            </a:r>
            <a:r>
              <a:rPr lang="en-US" altLang="zh-CN" dirty="0"/>
              <a:t>WB</a:t>
            </a:r>
            <a:r>
              <a:rPr lang="zh-CN" altLang="en-US" dirty="0"/>
              <a:t>接口中包括写回阶段所需的控制信号，和内存数据，</a:t>
            </a:r>
            <a:r>
              <a:rPr lang="en-US" altLang="zh-CN" dirty="0" err="1"/>
              <a:t>alu</a:t>
            </a:r>
            <a:r>
              <a:rPr lang="zh-CN" altLang="en-US" dirty="0"/>
              <a:t>数据，</a:t>
            </a:r>
            <a:r>
              <a:rPr lang="en-US" altLang="zh-CN" dirty="0"/>
              <a:t>IR</a:t>
            </a:r>
            <a:r>
              <a:rPr lang="zh-CN" altLang="en-US" dirty="0"/>
              <a:t>，</a:t>
            </a:r>
            <a:r>
              <a:rPr lang="en-US" altLang="zh-CN" dirty="0"/>
              <a:t>PC</a:t>
            </a:r>
            <a:r>
              <a:rPr lang="zh-CN" altLang="en-US" dirty="0"/>
              <a:t>。  总体上看，译码段一次性生成的各段所需的控制信号，并依次向后传递，注意画图传递的控制信号应遵循最后用到的信号在最上部的顺序，以方便绘图，后段绘图空间会越来越大。</a:t>
            </a:r>
            <a:endParaRPr lang="en-US" altLang="zh-CN" dirty="0"/>
          </a:p>
          <a:p>
            <a:endParaRPr lang="en-US" altLang="zh-CN" dirty="0"/>
          </a:p>
          <a:p>
            <a:endParaRPr lang="en-US" altLang="zh-CN" dirty="0"/>
          </a:p>
          <a:p>
            <a:r>
              <a:rPr lang="zh-CN" altLang="en-US" dirty="0"/>
              <a:t>建议直接将</a:t>
            </a:r>
            <a:r>
              <a:rPr lang="en-US" altLang="zh-CN" dirty="0"/>
              <a:t>IR</a:t>
            </a:r>
            <a:r>
              <a:rPr lang="zh-CN" altLang="en-US" dirty="0"/>
              <a:t>，</a:t>
            </a:r>
            <a:r>
              <a:rPr lang="en-US" altLang="zh-CN" dirty="0"/>
              <a:t>PC</a:t>
            </a:r>
            <a:r>
              <a:rPr lang="zh-CN" altLang="en-US" dirty="0"/>
              <a:t>一直向后传，先讲</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前面介绍了理想流水线的基本设计思路，这里要求大家将将单周期</a:t>
            </a:r>
            <a:r>
              <a:rPr lang="en-US" altLang="zh-CN" dirty="0"/>
              <a:t>CPU</a:t>
            </a:r>
            <a:r>
              <a:rPr lang="zh-CN" altLang="en-US" dirty="0"/>
              <a:t>改为理想流水线，要求大家在完成了支持</a:t>
            </a:r>
            <a:r>
              <a:rPr lang="en-US" altLang="zh-CN" dirty="0"/>
              <a:t>24</a:t>
            </a:r>
            <a:r>
              <a:rPr lang="zh-CN" altLang="en-US" dirty="0"/>
              <a:t>条指令的单周期</a:t>
            </a:r>
            <a:r>
              <a:rPr lang="en-US" altLang="zh-CN" dirty="0"/>
              <a:t>CPU</a:t>
            </a:r>
            <a:r>
              <a:rPr lang="zh-CN" altLang="en-US" dirty="0"/>
              <a:t>后完成这个实验，需要大家设计</a:t>
            </a:r>
            <a:r>
              <a:rPr lang="en-US" altLang="zh-CN" dirty="0"/>
              <a:t>4</a:t>
            </a:r>
            <a:r>
              <a:rPr lang="zh-CN" altLang="en-US" dirty="0"/>
              <a:t>个流水接口部件，注意其中</a:t>
            </a:r>
            <a:r>
              <a:rPr lang="en-US" altLang="zh-CN" dirty="0"/>
              <a:t>ID/EX</a:t>
            </a:r>
            <a:r>
              <a:rPr lang="zh-CN" altLang="en-US" dirty="0"/>
              <a:t>部件最为复杂，大家可以先设计这个部件，再复制到其他接口中进行适当裁剪，有了流水接口部件后，就可以在单周期数据通路中插入流水接口部件，构建流水数据通路，完成数据通路后可以利用理想流水线测试程序进行测试，该程序如右下角代码所示，程序无任何数据相关和分支相关，</a:t>
            </a:r>
            <a:endParaRPr lang="en-US" altLang="zh-CN" dirty="0"/>
          </a:p>
          <a:p>
            <a:r>
              <a:rPr lang="zh-CN" altLang="en-US" dirty="0"/>
              <a:t>最终代码会在内存</a:t>
            </a:r>
            <a:r>
              <a:rPr lang="en-US" altLang="zh-CN" dirty="0"/>
              <a:t>0,4,8,12</a:t>
            </a:r>
            <a:r>
              <a:rPr lang="zh-CN" altLang="en-US" dirty="0"/>
              <a:t>位置写入数据</a:t>
            </a:r>
            <a:r>
              <a:rPr lang="en-US" altLang="zh-CN" dirty="0"/>
              <a:t>0,1,2,3,</a:t>
            </a:r>
            <a:r>
              <a:rPr lang="zh-CN" altLang="en-US" dirty="0"/>
              <a:t>总指令条数</a:t>
            </a:r>
            <a:r>
              <a:rPr lang="en-US" altLang="zh-CN" dirty="0"/>
              <a:t>17</a:t>
            </a:r>
            <a:r>
              <a:rPr lang="zh-CN" altLang="en-US" dirty="0"/>
              <a:t>条，根据流水线执行时间计算，应该是</a:t>
            </a:r>
            <a:r>
              <a:rPr lang="en-US" altLang="zh-CN" dirty="0"/>
              <a:t>21</a:t>
            </a:r>
            <a:r>
              <a:rPr lang="zh-CN" altLang="en-US" dirty="0"/>
              <a:t>个时钟周期，这里总周期数统计时最后一个时钟周期因为停机没有记，所以是</a:t>
            </a:r>
            <a:r>
              <a:rPr lang="en-US" altLang="zh-CN" dirty="0"/>
              <a:t>20</a:t>
            </a:r>
            <a:r>
              <a:rPr lang="zh-CN" altLang="en-US" dirty="0"/>
              <a:t>，关于理想流水线设计就介绍到这里。</a:t>
            </a:r>
            <a:endParaRPr lang="en-US" altLang="zh-CN"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p:sp>
      <p:sp>
        <p:nvSpPr>
          <p:cNvPr id="257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上一讲我们已经介绍过理想流水线的设计，这讲我们将为理想流水线实验的基础上增加分支相关的处理能力，</a:t>
            </a:r>
            <a:endParaRPr lang="en-US" altLang="zh-CN" dirty="0"/>
          </a:p>
          <a:p>
            <a:endParaRPr lang="en-US" altLang="zh-CN" dirty="0"/>
          </a:p>
          <a:p>
            <a:r>
              <a:rPr lang="zh-CN" altLang="en-US" dirty="0"/>
              <a:t>当分支指令进入流水线的执行阶段时，有可能需要进行分支跳转，假设需要进行分支跳转，我们首先需要控制取指令阶段取出正确的分支指令，另外由于分支指令后续的若干指令已经在流水线中，这部分指令我们可以称为误取指令，不能被执行，需要从流水线中清空，从而造成流水线性能损失。</a:t>
            </a:r>
            <a:endParaRPr lang="en-US" altLang="zh-CN" dirty="0"/>
          </a:p>
          <a:p>
            <a:endParaRPr lang="en-US" altLang="zh-CN" dirty="0"/>
          </a:p>
        </p:txBody>
      </p:sp>
      <p:sp>
        <p:nvSpPr>
          <p:cNvPr id="257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2"/>
                </a:solidFill>
                <a:latin typeface="Verdana" panose="020B0604030504040204" pitchFamily="34" charset="0"/>
                <a:ea typeface="宋体" panose="02010600030101010101" pitchFamily="2" charset="-122"/>
              </a:defRPr>
            </a:lvl1pPr>
            <a:lvl2pPr marL="669290" indent="-257175" eaLnBrk="0" hangingPunct="0">
              <a:defRPr sz="3400">
                <a:solidFill>
                  <a:schemeClr val="tx2"/>
                </a:solidFill>
                <a:latin typeface="Verdana" panose="020B0604030504040204" pitchFamily="34" charset="0"/>
                <a:ea typeface="宋体" panose="02010600030101010101" pitchFamily="2" charset="-122"/>
              </a:defRPr>
            </a:lvl2pPr>
            <a:lvl3pPr marL="1029335" indent="-205740" eaLnBrk="0" hangingPunct="0">
              <a:defRPr sz="3400">
                <a:solidFill>
                  <a:schemeClr val="tx2"/>
                </a:solidFill>
                <a:latin typeface="Verdana" panose="020B0604030504040204" pitchFamily="34" charset="0"/>
                <a:ea typeface="宋体" panose="02010600030101010101" pitchFamily="2" charset="-122"/>
              </a:defRPr>
            </a:lvl3pPr>
            <a:lvl4pPr marL="1441450" indent="-205740" eaLnBrk="0" hangingPunct="0">
              <a:defRPr sz="3400">
                <a:solidFill>
                  <a:schemeClr val="tx2"/>
                </a:solidFill>
                <a:latin typeface="Verdana" panose="020B0604030504040204" pitchFamily="34" charset="0"/>
                <a:ea typeface="宋体" panose="02010600030101010101" pitchFamily="2" charset="-122"/>
              </a:defRPr>
            </a:lvl4pPr>
            <a:lvl5pPr marL="1853565" indent="-205740" eaLnBrk="0" hangingPunct="0">
              <a:defRPr sz="3400">
                <a:solidFill>
                  <a:schemeClr val="tx2"/>
                </a:solidFill>
                <a:latin typeface="Verdana" panose="020B0604030504040204" pitchFamily="34" charset="0"/>
                <a:ea typeface="宋体" panose="02010600030101010101" pitchFamily="2" charset="-122"/>
              </a:defRPr>
            </a:lvl5pPr>
            <a:lvl6pPr marL="226504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6pPr>
            <a:lvl7pPr marL="267716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7pPr>
            <a:lvl8pPr marL="308864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8pPr>
            <a:lvl9pPr marL="350075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39D3C67-C948-4D9A-9979-B49B29D4C651}" type="slidenum">
              <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要处理分支指令，我们首先看看</a:t>
            </a:r>
            <a:r>
              <a:rPr lang="en-US" altLang="zh-CN" dirty="0"/>
              <a:t>MIPS</a:t>
            </a:r>
            <a:r>
              <a:rPr lang="zh-CN" altLang="en-US" dirty="0"/>
              <a:t>有哪些分支指令，</a:t>
            </a:r>
            <a:endParaRPr lang="en-US" altLang="zh-CN" dirty="0"/>
          </a:p>
          <a:p>
            <a:r>
              <a:rPr lang="zh-CN" altLang="en-US" dirty="0"/>
              <a:t>分支指令包括无条件分支和有条件分支，在</a:t>
            </a:r>
            <a:r>
              <a:rPr lang="en-US" altLang="zh-CN" dirty="0"/>
              <a:t>MIPS</a:t>
            </a:r>
            <a:r>
              <a:rPr lang="zh-CN" altLang="en-US" dirty="0"/>
              <a:t>中无条件分支指令中，</a:t>
            </a:r>
            <a:r>
              <a:rPr lang="en-US" altLang="zh-CN" dirty="0"/>
              <a:t>R</a:t>
            </a:r>
            <a:r>
              <a:rPr lang="zh-CN" altLang="en-US" dirty="0"/>
              <a:t>型指令里面有</a:t>
            </a:r>
            <a:r>
              <a:rPr lang="en-US" altLang="zh-CN" dirty="0"/>
              <a:t>JR</a:t>
            </a:r>
            <a:r>
              <a:rPr lang="zh-CN" altLang="en-US" dirty="0"/>
              <a:t>，</a:t>
            </a:r>
            <a:r>
              <a:rPr lang="en-US" altLang="zh-CN" dirty="0"/>
              <a:t>JALR</a:t>
            </a:r>
            <a:r>
              <a:rPr lang="zh-CN" altLang="en-US" dirty="0"/>
              <a:t>两条无条件分支指令，指令调用格式是</a:t>
            </a:r>
            <a:r>
              <a:rPr lang="en-US" altLang="zh-CN" dirty="0"/>
              <a:t>JR </a:t>
            </a:r>
            <a:r>
              <a:rPr lang="en-US" altLang="zh-CN" dirty="0" err="1"/>
              <a:t>rs</a:t>
            </a:r>
            <a:r>
              <a:rPr lang="zh-CN" altLang="en-US" dirty="0"/>
              <a:t>，需要使用一个寄存器。  </a:t>
            </a:r>
            <a:r>
              <a:rPr lang="en-US" altLang="zh-CN" dirty="0"/>
              <a:t>I</a:t>
            </a:r>
            <a:r>
              <a:rPr lang="zh-CN" altLang="en-US" dirty="0"/>
              <a:t>型指令中包括</a:t>
            </a:r>
            <a:r>
              <a:rPr lang="en-US" altLang="zh-CN" dirty="0" err="1"/>
              <a:t>beq</a:t>
            </a:r>
            <a:r>
              <a:rPr lang="zh-CN" altLang="en-US" dirty="0"/>
              <a:t>，</a:t>
            </a:r>
            <a:r>
              <a:rPr lang="en-US" altLang="zh-CN" dirty="0" err="1"/>
              <a:t>bne</a:t>
            </a:r>
            <a:r>
              <a:rPr lang="zh-CN" altLang="en-US" dirty="0"/>
              <a:t>这种比较两个寄存器是否相等的有条件分支指令，还包括</a:t>
            </a:r>
            <a:r>
              <a:rPr lang="en-US" altLang="zh-CN" dirty="0"/>
              <a:t>&gt;0,…..</a:t>
            </a:r>
            <a:r>
              <a:rPr lang="zh-CN" altLang="en-US" dirty="0"/>
              <a:t>的</a:t>
            </a:r>
            <a:r>
              <a:rPr lang="en-US" altLang="zh-CN" dirty="0"/>
              <a:t>4</a:t>
            </a:r>
            <a:r>
              <a:rPr lang="zh-CN" altLang="en-US" dirty="0"/>
              <a:t>条有条件分支指令，这两条指令需要使用</a:t>
            </a:r>
            <a:r>
              <a:rPr lang="en-US" altLang="zh-CN" dirty="0"/>
              <a:t>1</a:t>
            </a:r>
            <a:r>
              <a:rPr lang="zh-CN" altLang="en-US" dirty="0"/>
              <a:t>个寄存器，  </a:t>
            </a:r>
            <a:r>
              <a:rPr lang="en-US" altLang="zh-CN" dirty="0"/>
              <a:t>J</a:t>
            </a:r>
            <a:r>
              <a:rPr lang="zh-CN" altLang="en-US" dirty="0"/>
              <a:t>型指令中包括</a:t>
            </a:r>
            <a:r>
              <a:rPr lang="en-US" altLang="zh-CN" dirty="0"/>
              <a:t>J</a:t>
            </a:r>
            <a:r>
              <a:rPr lang="zh-CN" altLang="en-US" dirty="0"/>
              <a:t>，</a:t>
            </a:r>
            <a:r>
              <a:rPr lang="en-US" altLang="zh-CN" dirty="0"/>
              <a:t>JAL</a:t>
            </a:r>
            <a:r>
              <a:rPr lang="zh-CN" altLang="en-US" dirty="0"/>
              <a:t>两条指令，其操作数为</a:t>
            </a:r>
            <a:r>
              <a:rPr lang="en-US" altLang="zh-CN" dirty="0"/>
              <a:t>26</a:t>
            </a:r>
            <a:r>
              <a:rPr lang="zh-CN" altLang="en-US" dirty="0"/>
              <a:t>位立即数，无需使用寄存器。</a:t>
            </a:r>
            <a:endParaRPr lang="en-US" altLang="zh-CN"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下面我们来看看指令流水线出现分支指令的时空图，第一条指令是</a:t>
            </a:r>
            <a:r>
              <a:rPr lang="en-US" altLang="zh-CN" dirty="0" err="1">
                <a:latin typeface="Arial" panose="020B0604020202020204" pitchFamily="34" charset="0"/>
              </a:rPr>
              <a:t>Beq</a:t>
            </a:r>
            <a:r>
              <a:rPr lang="zh-CN" altLang="en-US" dirty="0">
                <a:latin typeface="Arial" panose="020B0604020202020204" pitchFamily="34" charset="0"/>
              </a:rPr>
              <a:t>指令，依次进入取指令，译码，执行阶段，后续指令为</a:t>
            </a:r>
            <a:r>
              <a:rPr lang="en-US" altLang="zh-CN" dirty="0">
                <a:latin typeface="Arial" panose="020B0604020202020204" pitchFamily="34" charset="0"/>
              </a:rPr>
              <a:t>ADD</a:t>
            </a:r>
            <a:r>
              <a:rPr lang="zh-CN" altLang="en-US" dirty="0">
                <a:latin typeface="Arial" panose="020B0604020202020204" pitchFamily="34" charset="0"/>
              </a:rPr>
              <a:t>，和</a:t>
            </a:r>
            <a:r>
              <a:rPr lang="en-US" altLang="zh-CN" dirty="0">
                <a:latin typeface="Arial" panose="020B0604020202020204" pitchFamily="34" charset="0"/>
              </a:rPr>
              <a:t>SUB</a:t>
            </a:r>
            <a:r>
              <a:rPr lang="zh-CN" altLang="en-US" dirty="0">
                <a:latin typeface="Arial" panose="020B0604020202020204" pitchFamily="34" charset="0"/>
              </a:rPr>
              <a:t>，假设这条指令需要进行分支跳转，那么后续两条指令属于误取指令，应该被清空，所以下一个时钟周期</a:t>
            </a:r>
            <a:r>
              <a:rPr lang="en-US" altLang="zh-CN" dirty="0">
                <a:latin typeface="Arial" panose="020B0604020202020204" pitchFamily="34" charset="0"/>
              </a:rPr>
              <a:t>J</a:t>
            </a:r>
            <a:r>
              <a:rPr lang="zh-CN" altLang="en-US" dirty="0">
                <a:latin typeface="Arial" panose="020B0604020202020204" pitchFamily="34" charset="0"/>
              </a:rPr>
              <a:t>指令进入</a:t>
            </a:r>
            <a:r>
              <a:rPr lang="en-US" altLang="zh-CN" dirty="0">
                <a:latin typeface="Arial" panose="020B0604020202020204" pitchFamily="34" charset="0"/>
              </a:rPr>
              <a:t>MEM</a:t>
            </a:r>
            <a:r>
              <a:rPr lang="zh-CN" altLang="en-US" dirty="0">
                <a:latin typeface="Arial" panose="020B0604020202020204" pitchFamily="34" charset="0"/>
              </a:rPr>
              <a:t>段，</a:t>
            </a:r>
            <a:r>
              <a:rPr lang="en-US" altLang="zh-CN" dirty="0">
                <a:latin typeface="Arial" panose="020B0604020202020204" pitchFamily="34" charset="0"/>
              </a:rPr>
              <a:t>ID</a:t>
            </a:r>
            <a:r>
              <a:rPr lang="zh-CN" altLang="en-US" dirty="0">
                <a:latin typeface="Arial" panose="020B0604020202020204" pitchFamily="34" charset="0"/>
              </a:rPr>
              <a:t>段，</a:t>
            </a:r>
            <a:r>
              <a:rPr lang="en-US" altLang="zh-CN" dirty="0">
                <a:latin typeface="Arial" panose="020B0604020202020204" pitchFamily="34" charset="0"/>
              </a:rPr>
              <a:t>EX</a:t>
            </a:r>
            <a:r>
              <a:rPr lang="zh-CN" altLang="en-US" dirty="0">
                <a:latin typeface="Arial" panose="020B0604020202020204" pitchFamily="34" charset="0"/>
              </a:rPr>
              <a:t>段中的指令应该被清空，被清空的这一部分称之为气泡，同时转移目标地址处的</a:t>
            </a:r>
            <a:r>
              <a:rPr lang="en-US" altLang="zh-CN" dirty="0">
                <a:latin typeface="Arial" panose="020B0604020202020204" pitchFamily="34" charset="0"/>
              </a:rPr>
              <a:t>I4</a:t>
            </a:r>
            <a:r>
              <a:rPr lang="zh-CN" altLang="en-US" dirty="0">
                <a:latin typeface="Arial" panose="020B0604020202020204" pitchFamily="34" charset="0"/>
              </a:rPr>
              <a:t>指令进入取指令阶段，下一时刻后续这两个气泡也会在流水线中传递，气泡流出流水线后流水线才重新被充满，气泡的存在使得指令流水线损失了两个时钟周期，</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这里分支指令在</a:t>
            </a:r>
            <a:r>
              <a:rPr lang="en-US" altLang="zh-CN" dirty="0">
                <a:latin typeface="Arial" panose="020B0604020202020204" pitchFamily="34" charset="0"/>
              </a:rPr>
              <a:t>EX</a:t>
            </a:r>
            <a:r>
              <a:rPr lang="zh-CN" altLang="en-US" dirty="0">
                <a:latin typeface="Arial" panose="020B0604020202020204" pitchFamily="34" charset="0"/>
              </a:rPr>
              <a:t>段执行，所以误取了两条指令，我们称为误取深度，如果果分支指令在</a:t>
            </a:r>
            <a:r>
              <a:rPr lang="en-US" altLang="zh-CN" dirty="0">
                <a:latin typeface="Arial" panose="020B0604020202020204" pitchFamily="34" charset="0"/>
              </a:rPr>
              <a:t>MEM</a:t>
            </a:r>
            <a:r>
              <a:rPr lang="zh-CN" altLang="en-US" dirty="0">
                <a:latin typeface="Arial" panose="020B0604020202020204" pitchFamily="34" charset="0"/>
              </a:rPr>
              <a:t>段或</a:t>
            </a:r>
            <a:r>
              <a:rPr lang="en-US" altLang="zh-CN" dirty="0">
                <a:latin typeface="Arial" panose="020B0604020202020204" pitchFamily="34" charset="0"/>
              </a:rPr>
              <a:t>WB</a:t>
            </a:r>
            <a:r>
              <a:rPr lang="zh-CN" altLang="en-US" dirty="0">
                <a:latin typeface="Arial" panose="020B0604020202020204" pitchFamily="34" charset="0"/>
              </a:rPr>
              <a:t>段执行，则损失更大，所以目前</a:t>
            </a:r>
            <a:r>
              <a:rPr lang="en-US" altLang="zh-CN" dirty="0">
                <a:latin typeface="Arial" panose="020B0604020202020204" pitchFamily="34" charset="0"/>
              </a:rPr>
              <a:t>MIPS CPU</a:t>
            </a:r>
            <a:r>
              <a:rPr lang="zh-CN" altLang="en-US" dirty="0">
                <a:latin typeface="Arial" panose="020B0604020202020204" pitchFamily="34" charset="0"/>
              </a:rPr>
              <a:t>中分支指令一般安排在</a:t>
            </a:r>
            <a:r>
              <a:rPr lang="en-US" altLang="zh-CN" dirty="0">
                <a:latin typeface="Arial" panose="020B0604020202020204" pitchFamily="34" charset="0"/>
              </a:rPr>
              <a:t>ID</a:t>
            </a:r>
            <a:r>
              <a:rPr lang="zh-CN" altLang="en-US" dirty="0">
                <a:latin typeface="Arial" panose="020B0604020202020204" pitchFamily="34" charset="0"/>
              </a:rPr>
              <a:t>段执行，后续我们如不做特殊说明，我们将默认分支指令在</a:t>
            </a:r>
            <a:r>
              <a:rPr lang="en-US" altLang="zh-CN" dirty="0">
                <a:latin typeface="Arial" panose="020B0604020202020204" pitchFamily="34" charset="0"/>
              </a:rPr>
              <a:t>EX</a:t>
            </a:r>
            <a:r>
              <a:rPr lang="zh-CN" altLang="en-US" dirty="0">
                <a:latin typeface="Arial" panose="020B0604020202020204" pitchFamily="34" charset="0"/>
              </a:rPr>
              <a:t>段处理，这种方式会简化流水线的重定向处理以及中断处理。</a:t>
            </a:r>
            <a:endParaRPr lang="en-US" altLang="zh-CN" dirty="0">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029A2C-C7C5-495D-A014-B2139C7AF0D4}"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介绍完分支指令的时空图，我们再来实际看看分支指令在流水线具体部件上运行的动态，假设</a:t>
            </a:r>
            <a:r>
              <a:rPr lang="en-US" altLang="zh-CN" dirty="0" err="1"/>
              <a:t>beq</a:t>
            </a:r>
            <a:r>
              <a:rPr lang="zh-CN" altLang="en-US" dirty="0"/>
              <a:t>指令已经运行到</a:t>
            </a:r>
            <a:r>
              <a:rPr lang="en-US" altLang="zh-CN" dirty="0"/>
              <a:t>EX</a:t>
            </a:r>
            <a:r>
              <a:rPr lang="zh-CN" altLang="en-US" dirty="0"/>
              <a:t>执行阶段，显然取指令阶段的减法指令，和译码阶段的加法指令都是误取指令，需要清空作废这两条指令，并且要求</a:t>
            </a:r>
            <a:r>
              <a:rPr lang="en-US" altLang="zh-CN" dirty="0"/>
              <a:t>PC</a:t>
            </a:r>
            <a:r>
              <a:rPr lang="zh-CN" altLang="en-US" dirty="0"/>
              <a:t>输入分支跳转的目标地址。这就是分支指令处理的逻辑， 那么如何清除</a:t>
            </a:r>
            <a:r>
              <a:rPr lang="en-US" altLang="zh-CN" dirty="0"/>
              <a:t>IF</a:t>
            </a:r>
            <a:r>
              <a:rPr lang="zh-CN" altLang="en-US" dirty="0"/>
              <a:t>段，和</a:t>
            </a:r>
            <a:r>
              <a:rPr lang="en-US" altLang="zh-CN" dirty="0"/>
              <a:t>ID</a:t>
            </a:r>
            <a:r>
              <a:rPr lang="zh-CN" altLang="en-US" dirty="0"/>
              <a:t>段的两条误取指令呢？</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根据前面我们分析的分支指令时空图，下一个时钟周期到来后的，分支指令进入</a:t>
            </a:r>
            <a:r>
              <a:rPr lang="en-US" altLang="zh-CN" dirty="0"/>
              <a:t>MEM</a:t>
            </a:r>
            <a:r>
              <a:rPr lang="zh-CN" altLang="en-US" dirty="0"/>
              <a:t>段，，</a:t>
            </a:r>
            <a:r>
              <a:rPr lang="en-US" altLang="zh-CN" dirty="0"/>
              <a:t>IF</a:t>
            </a:r>
            <a:r>
              <a:rPr lang="zh-CN" altLang="en-US" dirty="0"/>
              <a:t>段变成分支指令转移目标地址处的指令，</a:t>
            </a:r>
            <a:r>
              <a:rPr lang="en-US" altLang="zh-CN" dirty="0"/>
              <a:t>ID</a:t>
            </a:r>
            <a:r>
              <a:rPr lang="zh-CN" altLang="en-US" dirty="0"/>
              <a:t>段，</a:t>
            </a:r>
            <a:r>
              <a:rPr lang="en-US" altLang="zh-CN" dirty="0"/>
              <a:t>EX</a:t>
            </a:r>
            <a:r>
              <a:rPr lang="zh-CN" altLang="en-US" dirty="0"/>
              <a:t>段中的指令被清空，要想清空这两段的指令，只需要清空对应的</a:t>
            </a:r>
            <a:r>
              <a:rPr lang="en-US" altLang="zh-CN" dirty="0"/>
              <a:t>IFID</a:t>
            </a:r>
            <a:r>
              <a:rPr lang="zh-CN" altLang="en-US" dirty="0"/>
              <a:t>接口，和</a:t>
            </a:r>
            <a:r>
              <a:rPr lang="en-US" altLang="zh-CN" dirty="0"/>
              <a:t>IDEX</a:t>
            </a:r>
            <a:r>
              <a:rPr lang="zh-CN" altLang="en-US" dirty="0"/>
              <a:t>接口中的寄存器，锁存数据即可，清空后所有数据和信号都是零值，最重要的寄存器写，内存写信号被清空，不会对</a:t>
            </a:r>
            <a:r>
              <a:rPr lang="en-US" altLang="zh-CN" dirty="0" err="1"/>
              <a:t>cpu</a:t>
            </a:r>
            <a:r>
              <a:rPr lang="zh-CN" altLang="en-US" dirty="0"/>
              <a:t>状态造成任何影响，这种清空动作就称为插入气泡， 清空后的效果相当于执行了一条空指令</a:t>
            </a:r>
            <a:r>
              <a:rPr lang="en-US" altLang="zh-CN" dirty="0" err="1"/>
              <a:t>nop</a:t>
            </a:r>
            <a:r>
              <a:rPr lang="zh-CN" altLang="en-US" dirty="0"/>
              <a:t>。   需要注意的是流水接口清零到底是同步还是异步需要推敲，由于寄存器默认的清零信号都是电平敏感的异步清零，所以很多同学进行类似实验的时候自然想到的是异步清零，下面我们首先看看异步清零的效果。</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最后来总结下分支处理的正确逻辑，</a:t>
            </a:r>
            <a:r>
              <a:rPr lang="en-US" altLang="zh-CN" dirty="0"/>
              <a:t>EX</a:t>
            </a:r>
            <a:r>
              <a:rPr lang="zh-CN" altLang="en-US" dirty="0"/>
              <a:t>段检测到分支指令时，只需将</a:t>
            </a:r>
            <a:r>
              <a:rPr lang="en-US" altLang="zh-CN" dirty="0"/>
              <a:t>IFID</a:t>
            </a:r>
            <a:r>
              <a:rPr lang="zh-CN" altLang="en-US" dirty="0"/>
              <a:t>，</a:t>
            </a:r>
            <a:r>
              <a:rPr lang="en-US" altLang="zh-CN" dirty="0"/>
              <a:t>IDEX</a:t>
            </a:r>
            <a:r>
              <a:rPr lang="zh-CN" altLang="en-US" dirty="0"/>
              <a:t>段接口的同步清零信号（气泡信号）置为</a:t>
            </a:r>
            <a:r>
              <a:rPr lang="en-US" altLang="zh-CN" dirty="0"/>
              <a:t>1</a:t>
            </a:r>
            <a:r>
              <a:rPr lang="zh-CN" altLang="en-US" dirty="0"/>
              <a:t>即可，这样时钟到来是这两个接口的值就会被清零。流水接口中的同步清零如何完成大家可以思考一下，也可以参考数据表示实验中的流水编码传输实验中的相关实现？</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了解了分支相关处理的逻辑后，我们可以在理想流水线实验的基础上进行分支相关处理的改造，首先我们需要改流水接口增加气泡逻辑，主要任务是给流水接口增加同步清零信号。   另外需要在分支指令执行阶段实现分支跳转逻辑，需要完成，完成，给出。。。       实现了分支跳转逻辑后，就可以加载分支相关测试程序进行系统测试，  该程序包括</a:t>
            </a:r>
            <a:r>
              <a:rPr lang="en-US" altLang="zh-CN" dirty="0"/>
              <a:t>j</a:t>
            </a:r>
            <a:r>
              <a:rPr lang="zh-CN" altLang="en-US" dirty="0"/>
              <a:t>，</a:t>
            </a:r>
            <a:r>
              <a:rPr lang="en-US" altLang="zh-CN" dirty="0" err="1"/>
              <a:t>beq</a:t>
            </a:r>
            <a:r>
              <a:rPr lang="zh-CN" altLang="en-US" dirty="0"/>
              <a:t>，</a:t>
            </a:r>
            <a:r>
              <a:rPr lang="en-US" altLang="zh-CN" dirty="0" err="1"/>
              <a:t>bne</a:t>
            </a:r>
            <a:r>
              <a:rPr lang="zh-CN" altLang="en-US" dirty="0"/>
              <a:t>，</a:t>
            </a:r>
            <a:r>
              <a:rPr lang="en-US" altLang="zh-CN" dirty="0" err="1"/>
              <a:t>jal</a:t>
            </a:r>
            <a:r>
              <a:rPr lang="zh-CN" altLang="en-US" dirty="0"/>
              <a:t>，</a:t>
            </a:r>
            <a:r>
              <a:rPr lang="en-US" altLang="zh-CN" dirty="0" err="1"/>
              <a:t>jr</a:t>
            </a:r>
            <a:r>
              <a:rPr lang="zh-CN" altLang="en-US" dirty="0"/>
              <a:t>等一系列分支指令，主要功能是从在</a:t>
            </a:r>
            <a:r>
              <a:rPr lang="en-US" altLang="zh-CN" dirty="0"/>
              <a:t>LED</a:t>
            </a:r>
            <a:r>
              <a:rPr lang="zh-CN" altLang="en-US" dirty="0"/>
              <a:t>显示区从</a:t>
            </a:r>
            <a:r>
              <a:rPr lang="en-US" altLang="zh-CN" dirty="0"/>
              <a:t>1F</a:t>
            </a:r>
            <a:r>
              <a:rPr lang="zh-CN" altLang="en-US" dirty="0"/>
              <a:t>开始倒技术，直到</a:t>
            </a:r>
            <a:r>
              <a:rPr lang="en-US" altLang="zh-CN" dirty="0"/>
              <a:t>0</a:t>
            </a:r>
            <a:r>
              <a:rPr lang="zh-CN" altLang="en-US" dirty="0"/>
              <a:t>位置，系统停机。  运行演示效果如图所示。</a:t>
            </a:r>
            <a:endParaRPr lang="en-US" altLang="zh-CN"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p:sp>
      <p:sp>
        <p:nvSpPr>
          <p:cNvPr id="257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前面我们已经解决了指令流水线中的资源相关，和分支相关问题，这一讲我们主要考虑数据相关如何解决。</a:t>
            </a:r>
            <a:endParaRPr lang="en-US" altLang="zh-CN" dirty="0"/>
          </a:p>
          <a:p>
            <a:endParaRPr lang="en-US" altLang="zh-CN" dirty="0"/>
          </a:p>
          <a:p>
            <a:r>
              <a:rPr lang="zh-CN" altLang="en-US" dirty="0"/>
              <a:t>在指令流水线中，数据相关主要是指令的操作数可能依赖于前一条指令运行的结果，比如这里第二条加法指令需要第一条加法指令运行完毕，写回</a:t>
            </a:r>
            <a:r>
              <a:rPr lang="en-US" altLang="zh-CN" dirty="0"/>
              <a:t>s1</a:t>
            </a:r>
            <a:r>
              <a:rPr lang="zh-CN" altLang="en-US" dirty="0"/>
              <a:t>后才能获得正确的操作数，所以这个时候流水线会暂时停顿等待第一条指令的结结果写回，引起流水线性能的损失。</a:t>
            </a:r>
            <a:endParaRPr lang="zh-CN" altLang="en-US" dirty="0"/>
          </a:p>
        </p:txBody>
      </p:sp>
      <p:sp>
        <p:nvSpPr>
          <p:cNvPr id="257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2"/>
                </a:solidFill>
                <a:latin typeface="Verdana" panose="020B0604030504040204" pitchFamily="34" charset="0"/>
                <a:ea typeface="宋体" panose="02010600030101010101" pitchFamily="2" charset="-122"/>
              </a:defRPr>
            </a:lvl1pPr>
            <a:lvl2pPr marL="669290" indent="-257175" eaLnBrk="0" hangingPunct="0">
              <a:defRPr sz="3400">
                <a:solidFill>
                  <a:schemeClr val="tx2"/>
                </a:solidFill>
                <a:latin typeface="Verdana" panose="020B0604030504040204" pitchFamily="34" charset="0"/>
                <a:ea typeface="宋体" panose="02010600030101010101" pitchFamily="2" charset="-122"/>
              </a:defRPr>
            </a:lvl2pPr>
            <a:lvl3pPr marL="1029335" indent="-205740" eaLnBrk="0" hangingPunct="0">
              <a:defRPr sz="3400">
                <a:solidFill>
                  <a:schemeClr val="tx2"/>
                </a:solidFill>
                <a:latin typeface="Verdana" panose="020B0604030504040204" pitchFamily="34" charset="0"/>
                <a:ea typeface="宋体" panose="02010600030101010101" pitchFamily="2" charset="-122"/>
              </a:defRPr>
            </a:lvl3pPr>
            <a:lvl4pPr marL="1441450" indent="-205740" eaLnBrk="0" hangingPunct="0">
              <a:defRPr sz="3400">
                <a:solidFill>
                  <a:schemeClr val="tx2"/>
                </a:solidFill>
                <a:latin typeface="Verdana" panose="020B0604030504040204" pitchFamily="34" charset="0"/>
                <a:ea typeface="宋体" panose="02010600030101010101" pitchFamily="2" charset="-122"/>
              </a:defRPr>
            </a:lvl4pPr>
            <a:lvl5pPr marL="1853565" indent="-205740" eaLnBrk="0" hangingPunct="0">
              <a:defRPr sz="3400">
                <a:solidFill>
                  <a:schemeClr val="tx2"/>
                </a:solidFill>
                <a:latin typeface="Verdana" panose="020B0604030504040204" pitchFamily="34" charset="0"/>
                <a:ea typeface="宋体" panose="02010600030101010101" pitchFamily="2" charset="-122"/>
              </a:defRPr>
            </a:lvl5pPr>
            <a:lvl6pPr marL="226504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6pPr>
            <a:lvl7pPr marL="267716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7pPr>
            <a:lvl8pPr marL="3088640"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8pPr>
            <a:lvl9pPr marL="3500755" indent="-205740" algn="ctr" eaLnBrk="0" fontAlgn="base" hangingPunct="0">
              <a:spcBef>
                <a:spcPct val="0"/>
              </a:spcBef>
              <a:spcAft>
                <a:spcPct val="0"/>
              </a:spcAft>
              <a:defRPr sz="3400">
                <a:solidFill>
                  <a:schemeClr val="tx2"/>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39D3C67-C948-4D9A-9979-B49B29D4C651}" type="slidenum">
              <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在图中的五段流水中，</a:t>
            </a:r>
            <a:r>
              <a:rPr lang="en-US" altLang="zh-CN" dirty="0"/>
              <a:t>ID</a:t>
            </a:r>
            <a:r>
              <a:rPr lang="zh-CN" altLang="en-US" dirty="0"/>
              <a:t>段负责译码和取操作数，取操作数是从寄存器文件中读取寄存器的值，而后续</a:t>
            </a:r>
            <a:r>
              <a:rPr lang="en-US" altLang="zh-CN" dirty="0"/>
              <a:t>EX</a:t>
            </a:r>
            <a:r>
              <a:rPr lang="zh-CN" altLang="en-US" dirty="0"/>
              <a:t>，</a:t>
            </a:r>
            <a:r>
              <a:rPr lang="en-US" altLang="zh-CN" dirty="0"/>
              <a:t>MEM</a:t>
            </a:r>
            <a:r>
              <a:rPr lang="zh-CN" altLang="en-US" dirty="0"/>
              <a:t>，</a:t>
            </a:r>
            <a:r>
              <a:rPr lang="en-US" altLang="zh-CN" dirty="0"/>
              <a:t>WB</a:t>
            </a:r>
            <a:r>
              <a:rPr lang="zh-CN" altLang="en-US" dirty="0"/>
              <a:t>三段都可能写回对应寄存器，比如这里译码阶段的指令取操作数需要访问</a:t>
            </a:r>
            <a:r>
              <a:rPr lang="en-US" altLang="zh-CN" dirty="0"/>
              <a:t>1</a:t>
            </a:r>
            <a:r>
              <a:rPr lang="zh-CN" altLang="en-US" dirty="0"/>
              <a:t>号寄存器，而执行阶段</a:t>
            </a:r>
            <a:r>
              <a:rPr lang="en-US" altLang="zh-CN" dirty="0"/>
              <a:t>1</a:t>
            </a:r>
            <a:r>
              <a:rPr lang="zh-CN" altLang="en-US" dirty="0"/>
              <a:t>号寄存器的值在这里，，访存阶段</a:t>
            </a:r>
            <a:r>
              <a:rPr lang="en-US" altLang="zh-CN" dirty="0"/>
              <a:t>1</a:t>
            </a:r>
            <a:r>
              <a:rPr lang="zh-CN" altLang="en-US" dirty="0"/>
              <a:t>好寄存器的值在这里，这就是数据相关，这里</a:t>
            </a:r>
            <a:r>
              <a:rPr lang="en-US" altLang="zh-CN" dirty="0"/>
              <a:t>ID</a:t>
            </a:r>
            <a:r>
              <a:rPr lang="zh-CN" altLang="en-US" dirty="0"/>
              <a:t>段的相关将会涉及后三段的指令，如果出现数据相关，</a:t>
            </a:r>
            <a:r>
              <a:rPr lang="en-US" altLang="zh-CN" dirty="0"/>
              <a:t>ID</a:t>
            </a:r>
            <a:r>
              <a:rPr lang="zh-CN" altLang="en-US" dirty="0"/>
              <a:t>段的指令需要暂停，直到数据写回，</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数据相关可以通过软件和硬件两种方法解决，软件方法主要由编译器负责，通过在相关的指令之间插入空指令，或者在不改变程序行为的前提下调整指令顺序消除这种相关性。这种方法不是我们关心的内容。</a:t>
            </a:r>
            <a:endParaRPr lang="en-US" altLang="zh-CN" dirty="0"/>
          </a:p>
          <a:p>
            <a:endParaRPr lang="en-US" altLang="zh-CN" dirty="0"/>
          </a:p>
          <a:p>
            <a:r>
              <a:rPr lang="zh-CN" altLang="en-US" dirty="0"/>
              <a:t>我们主要考虑硬件层面如何解决数据相关问题。通常有插入气泡和数据重定向两种，这讲我们主要考虑插入气泡的方法。</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首先我们来看看译码段和写回段的数据相关，图中译码段需要使用</a:t>
            </a:r>
            <a:r>
              <a:rPr lang="en-US" altLang="zh-CN" dirty="0"/>
              <a:t>1</a:t>
            </a:r>
            <a:r>
              <a:rPr lang="zh-CN" altLang="en-US" dirty="0"/>
              <a:t>号寄存器，写回阶段会写入</a:t>
            </a:r>
            <a:r>
              <a:rPr lang="en-US" altLang="zh-CN" dirty="0"/>
              <a:t>1</a:t>
            </a:r>
            <a:r>
              <a:rPr lang="zh-CN" altLang="en-US" dirty="0"/>
              <a:t>号寄存器，如果不做任何处理，就是先读后写，数据访问错误，为了解决这个相关性，通常可以将写入的时钟和流水接口的时钟错开，流水接口是上跳沿有效，寄存器写入逻辑是下跳沿有效，这样当下跳沿来临的时候，</a:t>
            </a:r>
            <a:r>
              <a:rPr lang="en-US" altLang="zh-CN" dirty="0"/>
              <a:t>1</a:t>
            </a:r>
            <a:r>
              <a:rPr lang="zh-CN" altLang="en-US" dirty="0"/>
              <a:t>号寄存器的值已经更新为新值，直接输出到</a:t>
            </a:r>
            <a:r>
              <a:rPr lang="en-US" altLang="zh-CN" dirty="0"/>
              <a:t>RD1</a:t>
            </a:r>
            <a:r>
              <a:rPr lang="zh-CN" altLang="en-US" dirty="0"/>
              <a:t>端，先写后读，在上跳沿到来时</a:t>
            </a:r>
            <a:r>
              <a:rPr lang="en-US" altLang="zh-CN" dirty="0"/>
              <a:t>ID</a:t>
            </a:r>
            <a:r>
              <a:rPr lang="zh-CN" altLang="en-US" dirty="0"/>
              <a:t>、</a:t>
            </a:r>
            <a:r>
              <a:rPr lang="en-US" altLang="zh-CN" dirty="0"/>
              <a:t>EX</a:t>
            </a:r>
            <a:r>
              <a:rPr lang="zh-CN" altLang="en-US" dirty="0"/>
              <a:t>接口锁存的就是</a:t>
            </a:r>
            <a:r>
              <a:rPr lang="en-US" altLang="zh-CN" dirty="0"/>
              <a:t>1</a:t>
            </a:r>
            <a:r>
              <a:rPr lang="zh-CN" altLang="en-US" dirty="0"/>
              <a:t>号寄存器正确的值。  采用这种方法后我们的数据相关就只需要考虑</a:t>
            </a:r>
            <a:r>
              <a:rPr lang="en-US" altLang="zh-CN" dirty="0"/>
              <a:t>EX</a:t>
            </a:r>
            <a:r>
              <a:rPr lang="zh-CN" altLang="en-US" dirty="0"/>
              <a:t>段和</a:t>
            </a:r>
            <a:r>
              <a:rPr lang="en-US" altLang="zh-CN" dirty="0"/>
              <a:t>MEM</a:t>
            </a:r>
            <a:r>
              <a:rPr lang="zh-CN" altLang="en-US" dirty="0"/>
              <a:t>两段了。</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再来看看</a:t>
            </a:r>
            <a:r>
              <a:rPr lang="en-US" altLang="zh-CN" dirty="0"/>
              <a:t>ID</a:t>
            </a:r>
            <a:r>
              <a:rPr lang="zh-CN" altLang="en-US" dirty="0"/>
              <a:t>段和访存段的数据相关处理，</a:t>
            </a:r>
            <a:r>
              <a:rPr lang="en-US" altLang="zh-CN" dirty="0"/>
              <a:t>ID</a:t>
            </a:r>
            <a:r>
              <a:rPr lang="zh-CN" altLang="en-US" dirty="0"/>
              <a:t>段的数据还在这里，还需要两个时钟周期才能写回，所以</a:t>
            </a:r>
            <a:r>
              <a:rPr lang="en-US" altLang="zh-CN" dirty="0"/>
              <a:t>ID</a:t>
            </a:r>
            <a:r>
              <a:rPr lang="zh-CN" altLang="en-US" dirty="0"/>
              <a:t>段必须等待，我们需要让取指令阶段和</a:t>
            </a:r>
            <a:r>
              <a:rPr lang="en-US" altLang="zh-CN" dirty="0"/>
              <a:t>ID</a:t>
            </a:r>
            <a:r>
              <a:rPr lang="zh-CN" altLang="en-US" dirty="0"/>
              <a:t>段暂停，如何暂停呢？这就需要</a:t>
            </a:r>
            <a:r>
              <a:rPr lang="en-US" altLang="zh-CN" dirty="0"/>
              <a:t>PC</a:t>
            </a:r>
            <a:r>
              <a:rPr lang="zh-CN" altLang="en-US" dirty="0"/>
              <a:t>寄存器和</a:t>
            </a:r>
            <a:r>
              <a:rPr lang="en-US" altLang="zh-CN" dirty="0"/>
              <a:t>IF</a:t>
            </a:r>
            <a:r>
              <a:rPr lang="zh-CN" altLang="en-US" dirty="0"/>
              <a:t>、</a:t>
            </a:r>
            <a:r>
              <a:rPr lang="en-US" altLang="zh-CN" dirty="0"/>
              <a:t>ID</a:t>
            </a:r>
            <a:r>
              <a:rPr lang="zh-CN" altLang="en-US" dirty="0"/>
              <a:t>接口忽略时钟信号，也就是需要给出一个禁止寄存器锁存的暂停信号，通常这个是控制寄存器的使能端完成的，这里我们称为暂停信号</a:t>
            </a:r>
            <a:r>
              <a:rPr lang="en-US" altLang="zh-CN" dirty="0"/>
              <a:t>Stall</a:t>
            </a:r>
            <a:r>
              <a:rPr lang="zh-CN" altLang="en-US" dirty="0"/>
              <a:t>。  注意</a:t>
            </a:r>
            <a:r>
              <a:rPr lang="en-US" altLang="zh-CN" dirty="0"/>
              <a:t>ID/EX</a:t>
            </a:r>
            <a:r>
              <a:rPr lang="zh-CN" altLang="en-US" dirty="0"/>
              <a:t>如何处理，显然不能让译码段的指令传入执行段，此时应该在</a:t>
            </a:r>
            <a:r>
              <a:rPr lang="en-US" altLang="zh-CN" dirty="0"/>
              <a:t>EX</a:t>
            </a:r>
            <a:r>
              <a:rPr lang="zh-CN" altLang="en-US" dirty="0"/>
              <a:t>段插入一条空指令，也就是执行段需要插入一个气泡，后续指令继续向前传递。</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按此思路处理后，时钟上跳沿到来后，流水线的指令如下，</a:t>
            </a:r>
            <a:r>
              <a:rPr lang="en-US" altLang="zh-CN" dirty="0"/>
              <a:t>IF</a:t>
            </a:r>
            <a:r>
              <a:rPr lang="zh-CN" altLang="en-US" dirty="0"/>
              <a:t>，</a:t>
            </a:r>
            <a:r>
              <a:rPr lang="en-US" altLang="zh-CN" dirty="0"/>
              <a:t>ID</a:t>
            </a:r>
            <a:r>
              <a:rPr lang="zh-CN" altLang="en-US" dirty="0"/>
              <a:t>段指令不变，执行阶段变成</a:t>
            </a:r>
            <a:r>
              <a:rPr lang="en-US" altLang="zh-CN" dirty="0" err="1"/>
              <a:t>nop</a:t>
            </a:r>
            <a:r>
              <a:rPr lang="zh-CN" altLang="en-US" dirty="0"/>
              <a:t>空指令，访存阶段是</a:t>
            </a:r>
            <a:r>
              <a:rPr lang="en-US" altLang="zh-CN" dirty="0"/>
              <a:t>or</a:t>
            </a:r>
            <a:r>
              <a:rPr lang="zh-CN" altLang="en-US" dirty="0"/>
              <a:t>指令，刚刚在访存阶段的与指令出现在写回阶段，数据相关变成</a:t>
            </a:r>
            <a:r>
              <a:rPr lang="en-US" altLang="zh-CN" dirty="0"/>
              <a:t>ID</a:t>
            </a:r>
            <a:r>
              <a:rPr lang="zh-CN" altLang="en-US" dirty="0"/>
              <a:t>段和写回段的数据相关，根据我们前面设计的寄存器文件先写后读策略，这种相关已经消除，流水线可以继续正常运行，所以</a:t>
            </a:r>
            <a:r>
              <a:rPr lang="en-US" altLang="zh-CN" dirty="0"/>
              <a:t>ID</a:t>
            </a:r>
            <a:r>
              <a:rPr lang="zh-CN" altLang="en-US" dirty="0"/>
              <a:t>段与访存段的数据相关会引起流水线插入一个气泡，损失一个时钟周期。</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最后来看看</a:t>
            </a:r>
            <a:r>
              <a:rPr lang="en-US" altLang="zh-CN" dirty="0"/>
              <a:t>ID</a:t>
            </a:r>
            <a:r>
              <a:rPr lang="zh-CN" altLang="en-US" dirty="0"/>
              <a:t>段与</a:t>
            </a:r>
            <a:r>
              <a:rPr lang="en-US" altLang="zh-CN" dirty="0"/>
              <a:t>EX</a:t>
            </a:r>
            <a:r>
              <a:rPr lang="zh-CN" altLang="en-US" dirty="0"/>
              <a:t>段的数据相关，同样的处理方法，</a:t>
            </a:r>
            <a:r>
              <a:rPr lang="en-US" altLang="zh-CN" dirty="0"/>
              <a:t>IF</a:t>
            </a:r>
            <a:r>
              <a:rPr lang="zh-CN" altLang="en-US" dirty="0"/>
              <a:t>，</a:t>
            </a:r>
            <a:r>
              <a:rPr lang="en-US" altLang="zh-CN" dirty="0"/>
              <a:t>ID</a:t>
            </a:r>
            <a:r>
              <a:rPr lang="zh-CN" altLang="en-US" dirty="0"/>
              <a:t>段暂停，</a:t>
            </a:r>
            <a:r>
              <a:rPr lang="en-US" altLang="zh-CN" dirty="0"/>
              <a:t>EX</a:t>
            </a:r>
            <a:r>
              <a:rPr lang="zh-CN" altLang="en-US" dirty="0"/>
              <a:t>段插入气泡，</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下一时刻到来，流水线中增加了两个气泡，数据相关标称了与写回阶段的相关，数据相关消失，性能损失两个时钟周期</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来看看数据相关的时空图，当指令</a:t>
            </a:r>
            <a:r>
              <a:rPr lang="en-US" altLang="zh-CN" dirty="0">
                <a:latin typeface="Arial" panose="020B0604020202020204" pitchFamily="34" charset="0"/>
              </a:rPr>
              <a:t>I4</a:t>
            </a:r>
            <a:r>
              <a:rPr lang="zh-CN" altLang="en-US" dirty="0">
                <a:latin typeface="Arial" panose="020B0604020202020204" pitchFamily="34" charset="0"/>
              </a:rPr>
              <a:t>进入译码阶段后，检测到和</a:t>
            </a:r>
            <a:r>
              <a:rPr lang="en-US" altLang="zh-CN" dirty="0">
                <a:latin typeface="Arial" panose="020B0604020202020204" pitchFamily="34" charset="0"/>
              </a:rPr>
              <a:t>I3</a:t>
            </a:r>
            <a:r>
              <a:rPr lang="zh-CN" altLang="en-US" dirty="0">
                <a:latin typeface="Arial" panose="020B0604020202020204" pitchFamily="34" charset="0"/>
              </a:rPr>
              <a:t>存在数据相关，此时</a:t>
            </a:r>
            <a:r>
              <a:rPr lang="en-US" altLang="zh-CN" dirty="0">
                <a:latin typeface="Arial" panose="020B0604020202020204" pitchFamily="34" charset="0"/>
              </a:rPr>
              <a:t>IF</a:t>
            </a:r>
            <a:r>
              <a:rPr lang="zh-CN" altLang="en-US" dirty="0">
                <a:latin typeface="Arial" panose="020B0604020202020204" pitchFamily="34" charset="0"/>
              </a:rPr>
              <a:t>段，</a:t>
            </a:r>
            <a:r>
              <a:rPr lang="en-US" altLang="zh-CN" dirty="0">
                <a:latin typeface="Arial" panose="020B0604020202020204" pitchFamily="34" charset="0"/>
              </a:rPr>
              <a:t>ID</a:t>
            </a:r>
            <a:r>
              <a:rPr lang="zh-CN" altLang="en-US" dirty="0">
                <a:latin typeface="Arial" panose="020B0604020202020204" pitchFamily="34" charset="0"/>
              </a:rPr>
              <a:t>段暂停，锁住</a:t>
            </a:r>
            <a:r>
              <a:rPr lang="en-US" altLang="zh-CN" dirty="0">
                <a:latin typeface="Arial" panose="020B0604020202020204" pitchFamily="34" charset="0"/>
              </a:rPr>
              <a:t>I4</a:t>
            </a:r>
            <a:r>
              <a:rPr lang="zh-CN" altLang="en-US" dirty="0">
                <a:latin typeface="Arial" panose="020B0604020202020204" pitchFamily="34" charset="0"/>
              </a:rPr>
              <a:t>和</a:t>
            </a:r>
            <a:r>
              <a:rPr lang="en-US" altLang="zh-CN" dirty="0">
                <a:latin typeface="Arial" panose="020B0604020202020204" pitchFamily="34" charset="0"/>
              </a:rPr>
              <a:t>I5</a:t>
            </a:r>
            <a:r>
              <a:rPr lang="zh-CN" altLang="en-US" dirty="0">
                <a:latin typeface="Arial" panose="020B0604020202020204" pitchFamily="34" charset="0"/>
              </a:rPr>
              <a:t>两条指令，</a:t>
            </a:r>
            <a:r>
              <a:rPr lang="en-US" altLang="zh-CN" dirty="0">
                <a:latin typeface="Arial" panose="020B0604020202020204" pitchFamily="34" charset="0"/>
              </a:rPr>
              <a:t>EX</a:t>
            </a:r>
            <a:r>
              <a:rPr lang="zh-CN" altLang="en-US" dirty="0">
                <a:latin typeface="Arial" panose="020B0604020202020204" pitchFamily="34" charset="0"/>
              </a:rPr>
              <a:t>段应该插入气泡，也就是空指令，下一时刻</a:t>
            </a:r>
            <a:r>
              <a:rPr lang="en-US" altLang="zh-CN" dirty="0">
                <a:latin typeface="Arial" panose="020B0604020202020204" pitchFamily="34" charset="0"/>
              </a:rPr>
              <a:t>I4</a:t>
            </a:r>
            <a:r>
              <a:rPr lang="zh-CN" altLang="en-US" dirty="0">
                <a:latin typeface="Arial" panose="020B0604020202020204" pitchFamily="34" charset="0"/>
              </a:rPr>
              <a:t>仍然和</a:t>
            </a:r>
            <a:r>
              <a:rPr lang="en-US" altLang="zh-CN" dirty="0">
                <a:latin typeface="Arial" panose="020B0604020202020204" pitchFamily="34" charset="0"/>
              </a:rPr>
              <a:t>I3</a:t>
            </a:r>
            <a:r>
              <a:rPr lang="zh-CN" altLang="en-US" dirty="0">
                <a:latin typeface="Arial" panose="020B0604020202020204" pitchFamily="34" charset="0"/>
              </a:rPr>
              <a:t>存在相关性，继续采用前面的处理逻辑，暂停前两段，插入一个气泡，下一时钟周期到来，数据相关解除</a:t>
            </a:r>
            <a:r>
              <a:rPr lang="en-US" altLang="zh-CN" dirty="0">
                <a:latin typeface="Arial" panose="020B0604020202020204" pitchFamily="34" charset="0"/>
              </a:rPr>
              <a:t>,</a:t>
            </a:r>
            <a:r>
              <a:rPr lang="zh-CN" altLang="en-US" dirty="0">
                <a:latin typeface="Arial" panose="020B0604020202020204" pitchFamily="34" charset="0"/>
              </a:rPr>
              <a:t>指令</a:t>
            </a:r>
            <a:r>
              <a:rPr lang="en-US" altLang="zh-CN" dirty="0">
                <a:latin typeface="Arial" panose="020B0604020202020204" pitchFamily="34" charset="0"/>
              </a:rPr>
              <a:t>I6</a:t>
            </a:r>
            <a:r>
              <a:rPr lang="zh-CN" altLang="en-US" dirty="0">
                <a:latin typeface="Arial" panose="020B0604020202020204" pitchFamily="34" charset="0"/>
              </a:rPr>
              <a:t>进入取指令阶段，</a:t>
            </a:r>
            <a:r>
              <a:rPr lang="en-US" altLang="zh-CN" dirty="0">
                <a:latin typeface="Arial" panose="020B0604020202020204" pitchFamily="34" charset="0"/>
              </a:rPr>
              <a:t>I4</a:t>
            </a:r>
            <a:r>
              <a:rPr lang="zh-CN" altLang="en-US" dirty="0">
                <a:latin typeface="Arial" panose="020B0604020202020204" pitchFamily="34" charset="0"/>
              </a:rPr>
              <a:t>获得正确的操作数，进入执行阶段。  从图中可以看出，数据相关会引入气泡造成流水性能损失，数据相关越多，流水暂停越多，性能损失越大。</a:t>
            </a:r>
            <a:endParaRPr lang="zh-CN" altLang="en-US" dirty="0">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029A2C-C7C5-495D-A014-B2139C7AF0D4}" type="slidenum">
              <a:rPr kumimoji="0" lang="en-US" altLang="zh-CN" sz="11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下面对数据相关处理做一个简单的总结</a:t>
            </a:r>
            <a:endParaRPr lang="en-US" altLang="zh-CN" dirty="0"/>
          </a:p>
          <a:p>
            <a:r>
              <a:rPr lang="zh-CN" altLang="en-US" dirty="0"/>
              <a:t>当</a:t>
            </a:r>
            <a:r>
              <a:rPr lang="en-US" altLang="zh-CN" dirty="0"/>
              <a:t>ID</a:t>
            </a:r>
            <a:r>
              <a:rPr lang="zh-CN" altLang="en-US" dirty="0"/>
              <a:t>段与</a:t>
            </a:r>
            <a:r>
              <a:rPr lang="en-US" altLang="zh-CN" dirty="0"/>
              <a:t>WB</a:t>
            </a:r>
            <a:r>
              <a:rPr lang="zh-CN" altLang="en-US" dirty="0"/>
              <a:t>段数据相关时，可以采用寄存器先写后读的方式完美解决，由于寄存器属于快速器件所以先写后读在时序上是可以支撑的。</a:t>
            </a:r>
            <a:endParaRPr lang="en-US" altLang="zh-CN" dirty="0"/>
          </a:p>
          <a:p>
            <a:r>
              <a:rPr lang="zh-CN" altLang="en-US" dirty="0"/>
              <a:t>这种相关的解决方式</a:t>
            </a:r>
            <a:endParaRPr lang="en-US" altLang="zh-CN" dirty="0"/>
          </a:p>
          <a:p>
            <a:endParaRPr lang="en-US" altLang="zh-CN" dirty="0"/>
          </a:p>
          <a:p>
            <a:r>
              <a:rPr lang="zh-CN" altLang="en-US" dirty="0"/>
              <a:t>如果</a:t>
            </a:r>
            <a:r>
              <a:rPr lang="en-US" altLang="zh-CN" dirty="0"/>
              <a:t>ID</a:t>
            </a:r>
            <a:r>
              <a:rPr lang="zh-CN" altLang="en-US" dirty="0"/>
              <a:t>段与</a:t>
            </a:r>
            <a:r>
              <a:rPr lang="en-US" altLang="zh-CN" dirty="0"/>
              <a:t>EX</a:t>
            </a:r>
            <a:r>
              <a:rPr lang="zh-CN" altLang="en-US" dirty="0"/>
              <a:t>或</a:t>
            </a:r>
            <a:r>
              <a:rPr lang="en-US" altLang="zh-CN" dirty="0"/>
              <a:t>MEM</a:t>
            </a:r>
            <a:r>
              <a:rPr lang="zh-CN" altLang="en-US" dirty="0"/>
              <a:t>段相关，这种相关需要增加数据相关检测逻辑进行识别，当识别到出现这种相关后，应该向</a:t>
            </a:r>
            <a:r>
              <a:rPr lang="en-US" altLang="zh-CN" dirty="0"/>
              <a:t>EX</a:t>
            </a:r>
            <a:r>
              <a:rPr lang="zh-CN" altLang="en-US" dirty="0"/>
              <a:t>段插入气泡，具体是给出</a:t>
            </a:r>
            <a:r>
              <a:rPr lang="en-US" altLang="zh-CN" dirty="0"/>
              <a:t>ID/EX</a:t>
            </a:r>
            <a:r>
              <a:rPr lang="zh-CN" altLang="en-US" dirty="0"/>
              <a:t>接口的同步清零信号，另外</a:t>
            </a:r>
            <a:r>
              <a:rPr lang="en-US" altLang="zh-CN" dirty="0"/>
              <a:t>IF</a:t>
            </a:r>
            <a:r>
              <a:rPr lang="zh-CN" altLang="en-US" dirty="0"/>
              <a:t>段</a:t>
            </a:r>
            <a:r>
              <a:rPr lang="en-US" altLang="zh-CN" dirty="0"/>
              <a:t>ID</a:t>
            </a:r>
            <a:r>
              <a:rPr lang="zh-CN" altLang="en-US" dirty="0"/>
              <a:t>段应该暂停，应该给出，暂停的目的是为了避免当前指令被新的指令取代，阻塞信号需要控制</a:t>
            </a:r>
            <a:r>
              <a:rPr lang="en-US" altLang="zh-CN" dirty="0"/>
              <a:t>PC</a:t>
            </a:r>
            <a:r>
              <a:rPr lang="zh-CN" altLang="en-US" dirty="0"/>
              <a:t>的</a:t>
            </a:r>
            <a:r>
              <a:rPr lang="en-US" altLang="zh-CN" dirty="0"/>
              <a:t>IF/ID</a:t>
            </a:r>
            <a:r>
              <a:rPr lang="zh-CN" altLang="en-US" dirty="0"/>
              <a:t>的使能信号。 所以</a:t>
            </a:r>
            <a:r>
              <a:rPr lang="en-US" altLang="zh-CN" dirty="0"/>
              <a:t>IFID</a:t>
            </a:r>
            <a:r>
              <a:rPr lang="zh-CN" altLang="en-US" dirty="0"/>
              <a:t>接口需要增加写使能接口。</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如何检测相关成为数据相关处理的关键问题，由于写回段相关已经解决，所以我们只需要考虑</a:t>
            </a:r>
            <a:r>
              <a:rPr lang="en-US" altLang="zh-CN" dirty="0"/>
              <a:t>ID</a:t>
            </a:r>
            <a:r>
              <a:rPr lang="zh-CN" altLang="en-US" dirty="0"/>
              <a:t>段指令的读寄存器与后续两端指令的写寄存器相同即可，如。。。。。注意同时要考虑后端的寄存器写使能信号应该为</a:t>
            </a:r>
            <a:r>
              <a:rPr lang="en-US" altLang="zh-CN" dirty="0"/>
              <a:t>1</a:t>
            </a:r>
            <a:r>
              <a:rPr lang="zh-CN" altLang="en-US" dirty="0"/>
              <a:t>，该值为</a:t>
            </a:r>
            <a:r>
              <a:rPr lang="en-US" altLang="zh-CN" dirty="0"/>
              <a:t>1</a:t>
            </a:r>
            <a:r>
              <a:rPr lang="zh-CN" altLang="en-US" dirty="0"/>
              <a:t>，表示存在写回，否则没有比较的意义。还需要注意的是零号寄存器值恒零，所以也不需要考虑相关性。</a:t>
            </a:r>
            <a:endParaRPr lang="en-US" altLang="zh-CN" dirty="0"/>
          </a:p>
          <a:p>
            <a:endParaRPr lang="en-US" altLang="zh-CN" dirty="0"/>
          </a:p>
          <a:p>
            <a:endParaRPr lang="en-US" altLang="zh-CN" dirty="0"/>
          </a:p>
          <a:p>
            <a:r>
              <a:rPr lang="zh-CN" altLang="en-US" dirty="0"/>
              <a:t>需要注意的是</a:t>
            </a:r>
            <a:r>
              <a:rPr lang="en-US" altLang="zh-CN" dirty="0"/>
              <a:t>MIPS</a:t>
            </a:r>
            <a:r>
              <a:rPr lang="zh-CN" altLang="en-US" dirty="0"/>
              <a:t>指令的源寄存器可能是</a:t>
            </a:r>
            <a:r>
              <a:rPr lang="en-US" altLang="zh-CN" dirty="0"/>
              <a:t>0~2</a:t>
            </a:r>
            <a:r>
              <a:rPr lang="zh-CN" altLang="en-US" dirty="0"/>
              <a:t>个，假设两个寄存器分别为</a:t>
            </a:r>
            <a:r>
              <a:rPr lang="en-US" altLang="zh-CN" dirty="0"/>
              <a:t>R1</a:t>
            </a:r>
            <a:r>
              <a:rPr lang="zh-CN" altLang="en-US" dirty="0"/>
              <a:t>，</a:t>
            </a:r>
            <a:r>
              <a:rPr lang="en-US" altLang="zh-CN" dirty="0"/>
              <a:t>R2</a:t>
            </a:r>
            <a:r>
              <a:rPr lang="zh-CN" altLang="en-US" dirty="0"/>
              <a:t>，这里我们引入两个判断值</a:t>
            </a:r>
            <a:r>
              <a:rPr lang="en-US" altLang="zh-CN" dirty="0"/>
              <a:t>R1_Used</a:t>
            </a:r>
            <a:r>
              <a:rPr lang="zh-CN" altLang="en-US" dirty="0"/>
              <a:t>，</a:t>
            </a:r>
            <a:r>
              <a:rPr lang="en-US" altLang="zh-CN" dirty="0"/>
              <a:t>R2_Used</a:t>
            </a:r>
            <a:r>
              <a:rPr lang="zh-CN" altLang="en-US" dirty="0"/>
              <a:t>，值为</a:t>
            </a:r>
            <a:r>
              <a:rPr lang="en-US" altLang="zh-CN" dirty="0"/>
              <a:t>1</a:t>
            </a:r>
            <a:r>
              <a:rPr lang="zh-CN" altLang="en-US" dirty="0"/>
              <a:t>表示使用了对应源寄存器，</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在分支相关实验基础上完成这个实验，首先。。。。</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数据相关程序主要功能是实现一个等差数列求和，计算</a:t>
            </a:r>
            <a:r>
              <a:rPr lang="en-US" altLang="zh-CN" dirty="0"/>
              <a:t>0,1,2,3,4,5,6,7</a:t>
            </a:r>
            <a:r>
              <a:rPr lang="zh-CN" altLang="en-US" dirty="0"/>
              <a:t>累加，并将累加结果依次存入内存中，最终内存运行结果在这里，总周期数</a:t>
            </a:r>
            <a:r>
              <a:rPr lang="en-US" altLang="zh-CN" dirty="0"/>
              <a:t>75</a:t>
            </a:r>
            <a:r>
              <a:rPr lang="zh-CN" altLang="en-US" dirty="0"/>
              <a:t>或</a:t>
            </a:r>
            <a:r>
              <a:rPr lang="en-US" altLang="zh-CN" dirty="0"/>
              <a:t>76</a:t>
            </a:r>
            <a:r>
              <a:rPr lang="zh-CN" altLang="en-US" dirty="0"/>
              <a:t>，共插入气泡数</a:t>
            </a:r>
            <a:r>
              <a:rPr lang="en-US" altLang="zh-CN" dirty="0"/>
              <a:t>34</a:t>
            </a:r>
            <a:r>
              <a:rPr lang="zh-CN" altLang="en-US" dirty="0"/>
              <a:t>个。 大家可以参考一下这个结果。</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完成数据相关专用测试程序的测试后，我们的</a:t>
            </a:r>
            <a:endParaRPr lang="zh-CN" altLang="en-US" dirty="0"/>
          </a:p>
        </p:txBody>
      </p:sp>
      <p:sp>
        <p:nvSpPr>
          <p:cNvPr id="4" name="灯片编号占位符 3"/>
          <p:cNvSpPr>
            <a:spLocks noGrp="1"/>
          </p:cNvSpPr>
          <p:nvPr>
            <p:ph type="sldNum" sz="quarter" idx="10"/>
          </p:nvPr>
        </p:nvSpPr>
        <p:spPr/>
        <p:txBody>
          <a:bodyPr/>
          <a:lstStyle/>
          <a:p>
            <a:fld id="{7E259034-BEED-4024-A934-72E55E0D310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38A5EF"/>
          </a:solidFill>
          <a:ln>
            <a:solidFill>
              <a:srgbClr val="38A5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Segoe UI" panose="020B0502040204020203" pitchFamily="34" charset="0"/>
              <a:cs typeface="Segoe UI" panose="020B0502040204020203" pitchFamily="34" charset="0"/>
            </a:endParaRPr>
          </a:p>
        </p:txBody>
      </p:sp>
      <p:sp>
        <p:nvSpPr>
          <p:cNvPr id="2" name="标题 1"/>
          <p:cNvSpPr>
            <a:spLocks noGrp="1"/>
          </p:cNvSpPr>
          <p:nvPr>
            <p:ph type="title"/>
          </p:nvPr>
        </p:nvSpPr>
        <p:spPr>
          <a:xfrm>
            <a:off x="487822" y="257614"/>
            <a:ext cx="10515600" cy="617641"/>
          </a:xfrm>
        </p:spPr>
        <p:txBody>
          <a:bodyPr>
            <a:normAutofit/>
          </a:bodyPr>
          <a:lstStyle>
            <a:lvl1pPr>
              <a:defRPr sz="2800" b="1">
                <a:solidFill>
                  <a:srgbClr val="005D9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8" name="矩形 7"/>
          <p:cNvSpPr/>
          <p:nvPr userDrawn="1"/>
        </p:nvSpPr>
        <p:spPr>
          <a:xfrm>
            <a:off x="11430" y="6692474"/>
            <a:ext cx="12180570" cy="169469"/>
          </a:xfrm>
          <a:prstGeom prst="rect">
            <a:avLst/>
          </a:prstGeom>
          <a:solidFill>
            <a:srgbClr val="38A5EF"/>
          </a:solidFill>
          <a:ln>
            <a:solidFill>
              <a:srgbClr val="3BA6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DFBFF"/>
              </a:solidFill>
            </a:endParaRPr>
          </a:p>
        </p:txBody>
      </p:sp>
      <p:sp>
        <p:nvSpPr>
          <p:cNvPr id="9" name="矩形 8"/>
          <p:cNvSpPr/>
          <p:nvPr userDrawn="1"/>
        </p:nvSpPr>
        <p:spPr>
          <a:xfrm>
            <a:off x="-1270" y="6692474"/>
            <a:ext cx="759220" cy="169469"/>
          </a:xfrm>
          <a:prstGeom prst="rect">
            <a:avLst/>
          </a:prstGeom>
          <a:solidFill>
            <a:srgbClr val="005D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183D58-648D-4475-BEF8-624F48514A30}" type="slidenum">
              <a:rPr lang="zh-CN" altLang="en-US"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fld>
            <a:endPar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内容占位符 2"/>
          <p:cNvSpPr>
            <a:spLocks noGrp="1"/>
          </p:cNvSpPr>
          <p:nvPr>
            <p:ph idx="1"/>
          </p:nvPr>
        </p:nvSpPr>
        <p:spPr>
          <a:xfrm>
            <a:off x="487823" y="942764"/>
            <a:ext cx="8331438" cy="5637024"/>
          </a:xfrm>
          <a:prstGeom prst="rect">
            <a:avLst/>
          </a:prstGeom>
        </p:spPr>
        <p:txBody>
          <a:bodyPr/>
          <a:lstStyle>
            <a:lvl1pPr marL="342900" indent="-342900">
              <a:lnSpc>
                <a:spcPct val="120000"/>
              </a:lnSpc>
              <a:buClr>
                <a:srgbClr val="FFC000"/>
              </a:buClr>
              <a:buFont typeface="Wingdings" panose="05000000000000000000" pitchFamily="2" charset="2"/>
              <a:buChar char="n"/>
              <a:defRPr sz="2400" b="1">
                <a:latin typeface="微软雅黑" panose="020B0503020204020204" pitchFamily="34" charset="-122"/>
                <a:ea typeface="微软雅黑" panose="020B0503020204020204" pitchFamily="34" charset="-122"/>
              </a:defRPr>
            </a:lvl1pPr>
            <a:lvl2pPr marL="812800" indent="-355600">
              <a:lnSpc>
                <a:spcPct val="120000"/>
              </a:lnSpc>
              <a:buClr>
                <a:srgbClr val="FFC000"/>
              </a:buClr>
              <a:buFont typeface="Wingdings" panose="05000000000000000000" pitchFamily="2" charset="2"/>
              <a:buChar char="p"/>
              <a:defRPr sz="2000">
                <a:solidFill>
                  <a:schemeClr val="bg2">
                    <a:lumMod val="50000"/>
                  </a:schemeClr>
                </a:solidFill>
                <a:latin typeface="微软雅黑" panose="020B0503020204020204" pitchFamily="34" charset="-122"/>
                <a:ea typeface="微软雅黑" panose="020B0503020204020204" pitchFamily="34" charset="-122"/>
              </a:defRPr>
            </a:lvl2pPr>
            <a:lvl3pPr marL="1143000" indent="-228600">
              <a:lnSpc>
                <a:spcPct val="120000"/>
              </a:lnSpc>
              <a:buClr>
                <a:srgbClr val="FFC000"/>
              </a:buClr>
              <a:buFont typeface="Wingdings" panose="05000000000000000000" pitchFamily="2" charset="2"/>
              <a:buChar char="u"/>
              <a:defRPr sz="2000">
                <a:solidFill>
                  <a:schemeClr val="bg2">
                    <a:lumMod val="50000"/>
                  </a:schemeClr>
                </a:solidFill>
                <a:latin typeface="微软雅黑" panose="020B0503020204020204" pitchFamily="34" charset="-122"/>
                <a:ea typeface="微软雅黑" panose="020B0503020204020204" pitchFamily="34" charset="-122"/>
              </a:defRPr>
            </a:lvl3pPr>
            <a:lvl4pPr>
              <a:lnSpc>
                <a:spcPct val="120000"/>
              </a:lnSpc>
              <a:defRPr sz="1600">
                <a:solidFill>
                  <a:schemeClr val="bg2">
                    <a:lumMod val="50000"/>
                  </a:schemeClr>
                </a:solidFill>
                <a:latin typeface="微软雅黑" panose="020B0503020204020204" pitchFamily="34" charset="-122"/>
                <a:ea typeface="微软雅黑" panose="020B0503020204020204" pitchFamily="34" charset="-122"/>
              </a:defRPr>
            </a:lvl4pPr>
            <a:lvl5pPr>
              <a:lnSpc>
                <a:spcPct val="120000"/>
              </a:lnSpc>
              <a:defRPr sz="1600">
                <a:solidFill>
                  <a:schemeClr val="bg2">
                    <a:lumMod val="50000"/>
                  </a:schemeClr>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32B2F23B-AF66-41A9-897D-44609AD9DFB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A2F030DD-4EA3-4D16-8C1C-D1952208EE9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8.e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8" Type="http://schemas.openxmlformats.org/officeDocument/2006/relationships/notesSlide" Target="../notesSlides/notesSlide21.xml"/><Relationship Id="rId37" Type="http://schemas.openxmlformats.org/officeDocument/2006/relationships/slideLayout" Target="../slideLayouts/slideLayout2.xml"/><Relationship Id="rId36" Type="http://schemas.openxmlformats.org/officeDocument/2006/relationships/tags" Target="../tags/tag54.xml"/><Relationship Id="rId35" Type="http://schemas.openxmlformats.org/officeDocument/2006/relationships/tags" Target="../tags/tag53.xml"/><Relationship Id="rId34" Type="http://schemas.openxmlformats.org/officeDocument/2006/relationships/tags" Target="../tags/tag52.xml"/><Relationship Id="rId33" Type="http://schemas.openxmlformats.org/officeDocument/2006/relationships/tags" Target="../tags/tag51.xml"/><Relationship Id="rId32" Type="http://schemas.openxmlformats.org/officeDocument/2006/relationships/tags" Target="../tags/tag50.xml"/><Relationship Id="rId31" Type="http://schemas.openxmlformats.org/officeDocument/2006/relationships/tags" Target="../tags/tag49.xml"/><Relationship Id="rId30" Type="http://schemas.openxmlformats.org/officeDocument/2006/relationships/tags" Target="../tags/tag48.xml"/><Relationship Id="rId3" Type="http://schemas.openxmlformats.org/officeDocument/2006/relationships/tags" Target="../tags/tag21.xml"/><Relationship Id="rId29" Type="http://schemas.openxmlformats.org/officeDocument/2006/relationships/tags" Target="../tags/tag47.xml"/><Relationship Id="rId28" Type="http://schemas.openxmlformats.org/officeDocument/2006/relationships/tags" Target="../tags/tag46.xml"/><Relationship Id="rId27" Type="http://schemas.openxmlformats.org/officeDocument/2006/relationships/tags" Target="../tags/tag45.xml"/><Relationship Id="rId26" Type="http://schemas.openxmlformats.org/officeDocument/2006/relationships/tags" Target="../tags/tag44.xml"/><Relationship Id="rId25" Type="http://schemas.openxmlformats.org/officeDocument/2006/relationships/tags" Target="../tags/tag43.xml"/><Relationship Id="rId24" Type="http://schemas.openxmlformats.org/officeDocument/2006/relationships/tags" Target="../tags/tag42.xml"/><Relationship Id="rId23" Type="http://schemas.openxmlformats.org/officeDocument/2006/relationships/tags" Target="../tags/tag41.xml"/><Relationship Id="rId22" Type="http://schemas.openxmlformats.org/officeDocument/2006/relationships/tags" Target="../tags/tag40.xml"/><Relationship Id="rId21" Type="http://schemas.openxmlformats.org/officeDocument/2006/relationships/tags" Target="../tags/tag39.xml"/><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5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2.xml"/><Relationship Id="rId5" Type="http://schemas.openxmlformats.org/officeDocument/2006/relationships/tags" Target="../tags/tag62.xml"/><Relationship Id="rId4" Type="http://schemas.openxmlformats.org/officeDocument/2006/relationships/image" Target="../media/image22.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1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17.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1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29.pn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46.xml"/><Relationship Id="rId6" Type="http://schemas.openxmlformats.org/officeDocument/2006/relationships/slideLayout" Target="../slideLayouts/slideLayout2.xml"/><Relationship Id="rId5" Type="http://schemas.openxmlformats.org/officeDocument/2006/relationships/tags" Target="../tags/tag71.xml"/><Relationship Id="rId4" Type="http://schemas.openxmlformats.org/officeDocument/2006/relationships/image" Target="../media/image34.emf"/><Relationship Id="rId3" Type="http://schemas.openxmlformats.org/officeDocument/2006/relationships/image" Target="../media/image33.png"/><Relationship Id="rId2" Type="http://schemas.microsoft.com/office/2007/relationships/media" Target="../media/media2.mp4"/><Relationship Id="rId1" Type="http://schemas.openxmlformats.org/officeDocument/2006/relationships/video" Target="../media/media2.mp4"/></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saturation sat="400000"/>
                    </a14:imgEffect>
                  </a14:imgLayer>
                </a14:imgProps>
              </a:ext>
              <a:ext uri="{28A0092B-C50C-407E-A947-70E740481C1C}">
                <a14:useLocalDpi xmlns:a14="http://schemas.microsoft.com/office/drawing/2010/main" val="0"/>
              </a:ext>
            </a:extLst>
          </a:blip>
          <a:srcRect l="78775"/>
          <a:stretch>
            <a:fillRect/>
          </a:stretch>
        </p:blipFill>
        <p:spPr>
          <a:xfrm>
            <a:off x="0" y="0"/>
            <a:ext cx="3591499" cy="6858000"/>
          </a:xfrm>
          <a:prstGeom prst="rect">
            <a:avLst/>
          </a:prstGeom>
        </p:spPr>
      </p:pic>
      <p:sp>
        <p:nvSpPr>
          <p:cNvPr id="12" name="矩形 11"/>
          <p:cNvSpPr/>
          <p:nvPr/>
        </p:nvSpPr>
        <p:spPr>
          <a:xfrm>
            <a:off x="0" y="0"/>
            <a:ext cx="3591499" cy="6858000"/>
          </a:xfrm>
          <a:prstGeom prst="rect">
            <a:avLst/>
          </a:prstGeom>
          <a:solidFill>
            <a:srgbClr val="005D9C">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11243" y="2595892"/>
            <a:ext cx="6062130" cy="783096"/>
          </a:xfrm>
          <a:prstGeom prst="rect">
            <a:avLst/>
          </a:prstGeom>
          <a:solidFill>
            <a:srgbClr val="CDFBFF"/>
          </a:solidFill>
          <a:ln w="38100">
            <a:solidFill>
              <a:srgbClr val="005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243529" y="2633497"/>
            <a:ext cx="5507731" cy="707886"/>
          </a:xfrm>
          <a:prstGeom prst="rect">
            <a:avLst/>
          </a:prstGeom>
          <a:noFill/>
        </p:spPr>
        <p:txBody>
          <a:bodyPr wrap="square" rtlCol="0">
            <a:spAutoFit/>
          </a:bodyPr>
          <a:lstStyle/>
          <a:p>
            <a:r>
              <a:rPr lang="zh-CN" altLang="en-US" sz="4000" b="1" spc="600" dirty="0">
                <a:solidFill>
                  <a:srgbClr val="005D9C"/>
                </a:solidFill>
                <a:latin typeface="微软雅黑" panose="020B0503020204020204" pitchFamily="34" charset="-122"/>
                <a:ea typeface="微软雅黑" panose="020B0503020204020204" pitchFamily="34" charset="-122"/>
              </a:rPr>
              <a:t>指令流水线基本概念</a:t>
            </a:r>
            <a:endParaRPr lang="zh-CN" altLang="en-US" sz="4000" b="1" spc="600" dirty="0">
              <a:solidFill>
                <a:srgbClr val="005D9C"/>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clrChange>
              <a:clrFrom>
                <a:srgbClr val="656D78"/>
              </a:clrFrom>
              <a:clrTo>
                <a:srgbClr val="656D78">
                  <a:alpha val="0"/>
                </a:srgbClr>
              </a:clrTo>
            </a:clrChange>
          </a:blip>
          <a:stretch>
            <a:fillRect/>
          </a:stretch>
        </p:blipFill>
        <p:spPr>
          <a:xfrm>
            <a:off x="1352099" y="715288"/>
            <a:ext cx="880575" cy="877289"/>
          </a:xfrm>
          <a:prstGeom prst="rect">
            <a:avLst/>
          </a:prstGeom>
        </p:spPr>
      </p:pic>
      <p:sp>
        <p:nvSpPr>
          <p:cNvPr id="18" name="圆角矩形 17"/>
          <p:cNvSpPr/>
          <p:nvPr/>
        </p:nvSpPr>
        <p:spPr>
          <a:xfrm>
            <a:off x="1235765" y="606295"/>
            <a:ext cx="1083362" cy="1083362"/>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4"/>
          <a:stretch>
            <a:fillRect/>
          </a:stretch>
        </p:blipFill>
        <p:spPr>
          <a:xfrm>
            <a:off x="114614" y="1997703"/>
            <a:ext cx="3476885" cy="635794"/>
          </a:xfrm>
          <a:prstGeom prst="rect">
            <a:avLst/>
          </a:prstGeom>
        </p:spPr>
      </p:pic>
      <p:cxnSp>
        <p:nvCxnSpPr>
          <p:cNvPr id="22" name="直接连接符 21"/>
          <p:cNvCxnSpPr/>
          <p:nvPr/>
        </p:nvCxnSpPr>
        <p:spPr>
          <a:xfrm>
            <a:off x="321366" y="2440240"/>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21366" y="2452007"/>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4969">
        <p15:prstTrans prst="pageCurlDouble" invX="1"/>
        <p:sndAc>
          <p:stSnd>
            <p:snd r:embed="rId5" name="chimes.wav"/>
          </p:stSnd>
        </p:sndAc>
      </p:transition>
    </mc:Choice>
    <mc:Fallback>
      <p:transition spd="slow" advTm="4969">
        <p:fade/>
        <p:sndAc>
          <p:stSnd>
            <p:snd r:embed="rId5" name="chimes.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单周期</a:t>
            </a:r>
            <a:r>
              <a:rPr lang="en-US" altLang="zh-CN" dirty="0"/>
              <a:t>MIPS</a:t>
            </a:r>
            <a:r>
              <a:rPr lang="zh-CN" altLang="en-US" dirty="0"/>
              <a:t>参考数据通路</a:t>
            </a:r>
            <a:endParaRPr lang="zh-CN" altLang="en-US" dirty="0"/>
          </a:p>
        </p:txBody>
      </p:sp>
      <p:grpSp>
        <p:nvGrpSpPr>
          <p:cNvPr id="9" name="组合 8"/>
          <p:cNvGrpSpPr/>
          <p:nvPr/>
        </p:nvGrpSpPr>
        <p:grpSpPr>
          <a:xfrm>
            <a:off x="702334" y="1284508"/>
            <a:ext cx="10533415" cy="4996563"/>
            <a:chOff x="697004" y="1767866"/>
            <a:chExt cx="11109461" cy="5269813"/>
          </a:xfrm>
        </p:grpSpPr>
        <p:cxnSp>
          <p:nvCxnSpPr>
            <p:cNvPr id="10" name="直接连接符 9"/>
            <p:cNvCxnSpPr/>
            <p:nvPr/>
          </p:nvCxnSpPr>
          <p:spPr>
            <a:xfrm>
              <a:off x="6429375" y="4408413"/>
              <a:ext cx="97509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391673" y="5021016"/>
              <a:ext cx="69402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2" name="任意多边形: 形状 256"/>
            <p:cNvSpPr/>
            <p:nvPr/>
          </p:nvSpPr>
          <p:spPr>
            <a:xfrm flipV="1">
              <a:off x="4911567" y="4551034"/>
              <a:ext cx="187289" cy="104394"/>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13" name="直接连接符 12"/>
            <p:cNvCxnSpPr/>
            <p:nvPr/>
          </p:nvCxnSpPr>
          <p:spPr>
            <a:xfrm>
              <a:off x="4053450" y="4289705"/>
              <a:ext cx="105916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4038682" y="4010421"/>
              <a:ext cx="105916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15" name="组合 14"/>
            <p:cNvGrpSpPr/>
            <p:nvPr/>
          </p:nvGrpSpPr>
          <p:grpSpPr>
            <a:xfrm>
              <a:off x="5069674" y="2027665"/>
              <a:ext cx="6334881" cy="1950924"/>
              <a:chOff x="5039741" y="3208161"/>
              <a:chExt cx="597546" cy="457491"/>
            </a:xfrm>
          </p:grpSpPr>
          <p:cxnSp>
            <p:nvCxnSpPr>
              <p:cNvPr id="167" name="直接连接符 166"/>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8" name="直接连接符 167"/>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6" name="直接连接符 15"/>
            <p:cNvCxnSpPr/>
            <p:nvPr/>
          </p:nvCxnSpPr>
          <p:spPr>
            <a:xfrm>
              <a:off x="5073891" y="2472651"/>
              <a:ext cx="4131450"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nvGrpSpPr>
            <p:cNvPr id="17" name="组合 16"/>
            <p:cNvGrpSpPr/>
            <p:nvPr/>
          </p:nvGrpSpPr>
          <p:grpSpPr>
            <a:xfrm>
              <a:off x="5083378" y="2695870"/>
              <a:ext cx="3227280" cy="1199217"/>
              <a:chOff x="5039741" y="3208161"/>
              <a:chExt cx="597546" cy="457491"/>
            </a:xfrm>
          </p:grpSpPr>
          <p:cxnSp>
            <p:nvCxnSpPr>
              <p:cNvPr id="165" name="直接连接符 164"/>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6" name="直接连接符 165"/>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8" name="组合 17"/>
            <p:cNvGrpSpPr/>
            <p:nvPr/>
          </p:nvGrpSpPr>
          <p:grpSpPr>
            <a:xfrm>
              <a:off x="5088159" y="3149858"/>
              <a:ext cx="744126" cy="474778"/>
              <a:chOff x="5039741" y="3208161"/>
              <a:chExt cx="597546" cy="457491"/>
            </a:xfrm>
          </p:grpSpPr>
          <p:cxnSp>
            <p:nvCxnSpPr>
              <p:cNvPr id="163" name="直接连接符 162"/>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4" name="直接连接符 163"/>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9" name="直接连接符 18"/>
            <p:cNvCxnSpPr/>
            <p:nvPr/>
          </p:nvCxnSpPr>
          <p:spPr>
            <a:xfrm>
              <a:off x="4778067" y="3306859"/>
              <a:ext cx="0" cy="1125265"/>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sp>
          <p:nvSpPr>
            <p:cNvPr id="20" name="任意多边形: 形状 191"/>
            <p:cNvSpPr/>
            <p:nvPr/>
          </p:nvSpPr>
          <p:spPr>
            <a:xfrm>
              <a:off x="5080685" y="2250400"/>
              <a:ext cx="5072714" cy="1475869"/>
            </a:xfrm>
            <a:custGeom>
              <a:avLst/>
              <a:gdLst>
                <a:gd name="connsiteX0" fmla="*/ 0 w 4762500"/>
                <a:gd name="connsiteY0" fmla="*/ 0 h 1600200"/>
                <a:gd name="connsiteX1" fmla="*/ 4762500 w 4762500"/>
                <a:gd name="connsiteY1" fmla="*/ 0 h 1600200"/>
                <a:gd name="connsiteX2" fmla="*/ 4762500 w 4762500"/>
                <a:gd name="connsiteY2" fmla="*/ 1600200 h 1600200"/>
                <a:gd name="connsiteX0-1" fmla="*/ 0 w 4762500"/>
                <a:gd name="connsiteY0-2" fmla="*/ 0 h 1593057"/>
                <a:gd name="connsiteX1-3" fmla="*/ 4762500 w 4762500"/>
                <a:gd name="connsiteY1-4" fmla="*/ 0 h 1593057"/>
                <a:gd name="connsiteX2-5" fmla="*/ 4762500 w 4762500"/>
                <a:gd name="connsiteY2-6" fmla="*/ 1593057 h 1593057"/>
                <a:gd name="connsiteX0-7" fmla="*/ 0 w 4762500"/>
                <a:gd name="connsiteY0-8" fmla="*/ 0 h 1600201"/>
                <a:gd name="connsiteX1-9" fmla="*/ 4762500 w 4762500"/>
                <a:gd name="connsiteY1-10" fmla="*/ 0 h 1600201"/>
                <a:gd name="connsiteX2-11" fmla="*/ 4762500 w 4762500"/>
                <a:gd name="connsiteY2-12" fmla="*/ 1600201 h 1600201"/>
              </a:gdLst>
              <a:ahLst/>
              <a:cxnLst>
                <a:cxn ang="0">
                  <a:pos x="connsiteX0-1" y="connsiteY0-2"/>
                </a:cxn>
                <a:cxn ang="0">
                  <a:pos x="connsiteX1-3" y="connsiteY1-4"/>
                </a:cxn>
                <a:cxn ang="0">
                  <a:pos x="connsiteX2-5" y="connsiteY2-6"/>
                </a:cxn>
              </a:cxnLst>
              <a:rect l="l" t="t" r="r" b="b"/>
              <a:pathLst>
                <a:path w="4762500" h="1600201">
                  <a:moveTo>
                    <a:pt x="0" y="0"/>
                  </a:moveTo>
                  <a:lnTo>
                    <a:pt x="4762500" y="0"/>
                  </a:lnTo>
                  <a:lnTo>
                    <a:pt x="4762500" y="1600201"/>
                  </a:ln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1" name="矩形 20"/>
            <p:cNvSpPr/>
            <p:nvPr/>
          </p:nvSpPr>
          <p:spPr>
            <a:xfrm>
              <a:off x="5065360" y="1767866"/>
              <a:ext cx="1001214"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MemtoReg</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2" name="矩形 21"/>
            <p:cNvSpPr/>
            <p:nvPr/>
          </p:nvSpPr>
          <p:spPr>
            <a:xfrm>
              <a:off x="5065360" y="1988766"/>
              <a:ext cx="972066"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MemWrite</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3" name="矩形 22"/>
            <p:cNvSpPr/>
            <p:nvPr/>
          </p:nvSpPr>
          <p:spPr>
            <a:xfrm>
              <a:off x="5065360" y="2209666"/>
              <a:ext cx="712109" cy="312774"/>
            </a:xfrm>
            <a:prstGeom prst="rect">
              <a:avLst/>
            </a:prstGeom>
          </p:spPr>
          <p:txBody>
            <a:bodyPr wrap="none">
              <a:spAutoFit/>
            </a:bodyPr>
            <a:lstStyle/>
            <a:p>
              <a:r>
                <a:rPr lang="en-US" altLang="zh-CN" sz="1325" dirty="0">
                  <a:solidFill>
                    <a:srgbClr val="00B0F0"/>
                  </a:solidFill>
                  <a:latin typeface="Times New Roman" panose="02020603050405020304" pitchFamily="18" charset="0"/>
                  <a:cs typeface="Times New Roman" panose="02020603050405020304" pitchFamily="18" charset="0"/>
                </a:rPr>
                <a:t>Branch</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4" name="矩形 23"/>
            <p:cNvSpPr/>
            <p:nvPr/>
          </p:nvSpPr>
          <p:spPr>
            <a:xfrm>
              <a:off x="5065360" y="2430566"/>
              <a:ext cx="693512"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AluOP</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5" name="矩形 24"/>
            <p:cNvSpPr/>
            <p:nvPr/>
          </p:nvSpPr>
          <p:spPr>
            <a:xfrm>
              <a:off x="5065360" y="2662976"/>
              <a:ext cx="803405"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ALUSrc</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6" name="矩形 25"/>
            <p:cNvSpPr/>
            <p:nvPr/>
          </p:nvSpPr>
          <p:spPr>
            <a:xfrm>
              <a:off x="4754378" y="3260600"/>
              <a:ext cx="732397"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RegDst</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7" name="矩形 26"/>
            <p:cNvSpPr/>
            <p:nvPr/>
          </p:nvSpPr>
          <p:spPr>
            <a:xfrm>
              <a:off x="5065360" y="2883875"/>
              <a:ext cx="882461"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RegWrite</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8" name="矩形 27"/>
            <p:cNvSpPr/>
            <p:nvPr/>
          </p:nvSpPr>
          <p:spPr>
            <a:xfrm>
              <a:off x="9419520" y="2472651"/>
              <a:ext cx="652936"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PCSrc</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9" name="矩形 28"/>
            <p:cNvSpPr/>
            <p:nvPr/>
          </p:nvSpPr>
          <p:spPr>
            <a:xfrm>
              <a:off x="1992610" y="3763083"/>
              <a:ext cx="252305" cy="453041"/>
            </a:xfrm>
            <a:prstGeom prst="rect">
              <a:avLst/>
            </a:prstGeom>
            <a:solidFill>
              <a:srgbClr val="59B2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30" name="直接连接符 29"/>
            <p:cNvCxnSpPr/>
            <p:nvPr/>
          </p:nvCxnSpPr>
          <p:spPr>
            <a:xfrm flipV="1">
              <a:off x="2119506" y="4219534"/>
              <a:ext cx="0" cy="10085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870381" y="4266907"/>
              <a:ext cx="534589" cy="312774"/>
            </a:xfrm>
            <a:prstGeom prst="rect">
              <a:avLst/>
            </a:prstGeom>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cxnSp>
          <p:nvCxnSpPr>
            <p:cNvPr id="32" name="直接连接符 31"/>
            <p:cNvCxnSpPr>
              <a:endCxn id="29" idx="1"/>
            </p:cNvCxnSpPr>
            <p:nvPr/>
          </p:nvCxnSpPr>
          <p:spPr>
            <a:xfrm>
              <a:off x="1681860" y="3989131"/>
              <a:ext cx="310750" cy="473"/>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250097" y="3993971"/>
              <a:ext cx="34307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08246" y="3424994"/>
              <a:ext cx="458508" cy="343612"/>
            </a:xfrm>
            <a:prstGeom prst="rect">
              <a:avLst/>
            </a:prstGeom>
          </p:spPr>
          <p:txBody>
            <a:bodyPr wrap="none">
              <a:spAutoFit/>
            </a:bodyPr>
            <a:lstStyle/>
            <a:p>
              <a:r>
                <a:rPr lang="en-US" altLang="zh-CN" sz="1515" dirty="0">
                  <a:latin typeface="Segoe UI Black" panose="020B0A02040204020203" pitchFamily="34" charset="0"/>
                  <a:ea typeface="Segoe UI Black" panose="020B0A02040204020203" pitchFamily="34" charset="0"/>
                  <a:cs typeface="Segoe UI Black" panose="020B0A02040204020203" pitchFamily="34" charset="0"/>
                </a:rPr>
                <a:t>PC</a:t>
              </a:r>
              <a:endParaRPr lang="zh-CN" altLang="en-US" sz="1515" dirty="0">
                <a:latin typeface="Segoe UI Black" panose="020B0A02040204020203" pitchFamily="34" charset="0"/>
                <a:cs typeface="Segoe UI Black" panose="020B0A02040204020203" pitchFamily="34" charset="0"/>
              </a:endParaRPr>
            </a:p>
          </p:txBody>
        </p:sp>
        <p:grpSp>
          <p:nvGrpSpPr>
            <p:cNvPr id="35" name="组合 34"/>
            <p:cNvGrpSpPr/>
            <p:nvPr/>
          </p:nvGrpSpPr>
          <p:grpSpPr>
            <a:xfrm>
              <a:off x="2584594" y="3667322"/>
              <a:ext cx="944542" cy="1445348"/>
              <a:chOff x="2153669" y="3581315"/>
              <a:chExt cx="981236" cy="1387999"/>
            </a:xfrm>
          </p:grpSpPr>
          <p:sp>
            <p:nvSpPr>
              <p:cNvPr id="159" name="矩形 158"/>
              <p:cNvSpPr/>
              <p:nvPr/>
            </p:nvSpPr>
            <p:spPr>
              <a:xfrm>
                <a:off x="2162582" y="3581315"/>
                <a:ext cx="920297" cy="1387999"/>
              </a:xfrm>
              <a:prstGeom prst="rect">
                <a:avLst/>
              </a:prstGeom>
              <a:solidFill>
                <a:srgbClr val="00B05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60" name="矩形 159"/>
              <p:cNvSpPr/>
              <p:nvPr/>
            </p:nvSpPr>
            <p:spPr>
              <a:xfrm>
                <a:off x="2672635" y="3769167"/>
                <a:ext cx="462270" cy="3003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RD</a:t>
                </a:r>
                <a:endParaRPr lang="zh-CN" altLang="en-US" sz="1325" dirty="0">
                  <a:latin typeface="Times New Roman" panose="02020603050405020304" pitchFamily="18" charset="0"/>
                  <a:cs typeface="Times New Roman" panose="02020603050405020304" pitchFamily="18" charset="0"/>
                </a:endParaRPr>
              </a:p>
            </p:txBody>
          </p:sp>
          <p:sp>
            <p:nvSpPr>
              <p:cNvPr id="161" name="矩形 160"/>
              <p:cNvSpPr/>
              <p:nvPr/>
            </p:nvSpPr>
            <p:spPr>
              <a:xfrm>
                <a:off x="2153669" y="3768090"/>
                <a:ext cx="337571" cy="3003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a:t>
                </a:r>
                <a:endParaRPr lang="zh-CN" altLang="en-US" sz="1325" dirty="0">
                  <a:latin typeface="Times New Roman" panose="02020603050405020304" pitchFamily="18" charset="0"/>
                  <a:cs typeface="Times New Roman" panose="02020603050405020304" pitchFamily="18" charset="0"/>
                </a:endParaRPr>
              </a:p>
            </p:txBody>
          </p:sp>
          <p:sp>
            <p:nvSpPr>
              <p:cNvPr id="162" name="矩形 161"/>
              <p:cNvSpPr/>
              <p:nvPr/>
            </p:nvSpPr>
            <p:spPr>
              <a:xfrm>
                <a:off x="2247903" y="4158047"/>
                <a:ext cx="760851" cy="507208"/>
              </a:xfrm>
              <a:prstGeom prst="rect">
                <a:avLst/>
              </a:prstGeom>
            </p:spPr>
            <p:txBody>
              <a:bodyPr wrap="none">
                <a:spAutoFit/>
              </a:bodyPr>
              <a:lstStyle/>
              <a:p>
                <a:pPr algn="ctr" defTabSz="914400"/>
                <a:r>
                  <a:rPr lang="zh-CN" altLang="en-US" sz="1325" b="1" kern="0" dirty="0">
                    <a:solidFill>
                      <a:schemeClr val="bg1"/>
                    </a:solidFill>
                    <a:latin typeface="微软雅黑" panose="020B0503020204020204" pitchFamily="34" charset="-122"/>
                    <a:ea typeface="微软雅黑" panose="020B0503020204020204" pitchFamily="34" charset="-122"/>
                  </a:rPr>
                  <a:t>指令</a:t>
                </a:r>
                <a:endParaRPr lang="en-US" altLang="zh-CN" sz="1325" b="1" kern="0" dirty="0">
                  <a:solidFill>
                    <a:schemeClr val="bg1"/>
                  </a:solidFill>
                  <a:latin typeface="微软雅黑" panose="020B0503020204020204" pitchFamily="34" charset="-122"/>
                  <a:ea typeface="微软雅黑" panose="020B0503020204020204" pitchFamily="34" charset="-122"/>
                </a:endParaRPr>
              </a:p>
              <a:p>
                <a:pPr algn="ctr" defTabSz="914400"/>
                <a:r>
                  <a:rPr lang="zh-CN" altLang="en-US" sz="1325" b="1" kern="0" dirty="0">
                    <a:solidFill>
                      <a:schemeClr val="bg1"/>
                    </a:solidFill>
                    <a:latin typeface="微软雅黑" panose="020B0503020204020204" pitchFamily="34" charset="-122"/>
                    <a:ea typeface="微软雅黑" panose="020B0503020204020204" pitchFamily="34" charset="-122"/>
                  </a:rPr>
                  <a:t>存储器</a:t>
                </a:r>
                <a:endParaRPr lang="zh-CN" altLang="en-US" sz="1325" b="1" kern="0" dirty="0">
                  <a:solidFill>
                    <a:schemeClr val="bg1"/>
                  </a:solidFill>
                  <a:latin typeface="微软雅黑" panose="020B0503020204020204" pitchFamily="34" charset="-122"/>
                  <a:ea typeface="微软雅黑" panose="020B0503020204020204" pitchFamily="34" charset="-122"/>
                </a:endParaRPr>
              </a:p>
            </p:txBody>
          </p:sp>
        </p:grpSp>
        <p:sp>
          <p:nvSpPr>
            <p:cNvPr id="36" name="矩形 35"/>
            <p:cNvSpPr/>
            <p:nvPr/>
          </p:nvSpPr>
          <p:spPr>
            <a:xfrm>
              <a:off x="3435980" y="3732115"/>
              <a:ext cx="656317" cy="282072"/>
            </a:xfrm>
            <a:prstGeom prst="rect">
              <a:avLst/>
            </a:prstGeom>
          </p:spPr>
          <p:txBody>
            <a:bodyPr wrap="none">
              <a:spAutoFit/>
            </a:bodyPr>
            <a:lstStyle/>
            <a:p>
              <a:r>
                <a:rPr lang="zh-CN" altLang="en-US" sz="1140" b="1" dirty="0">
                  <a:latin typeface="微软雅黑" panose="020B0503020204020204" pitchFamily="34" charset="-122"/>
                  <a:ea typeface="微软雅黑" panose="020B0503020204020204" pitchFamily="34" charset="-122"/>
                  <a:cs typeface="Times New Roman" panose="02020603050405020304" pitchFamily="18" charset="0"/>
                </a:rPr>
                <a:t>指令字</a:t>
              </a:r>
              <a:endParaRPr lang="zh-CN" altLang="en-US" sz="114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矩形 36"/>
            <p:cNvSpPr/>
            <p:nvPr/>
          </p:nvSpPr>
          <p:spPr>
            <a:xfrm>
              <a:off x="2069337" y="5786044"/>
              <a:ext cx="216340" cy="312774"/>
            </a:xfrm>
            <a:prstGeom prst="rect">
              <a:avLst/>
            </a:prstGeom>
          </p:spPr>
          <p:txBody>
            <a:bodyPr wrap="square">
              <a:spAutoFit/>
            </a:bodyPr>
            <a:lstStyle/>
            <a:p>
              <a:r>
                <a:rPr lang="en-US" altLang="zh-CN" sz="1325" dirty="0">
                  <a:latin typeface="Times New Roman" panose="02020603050405020304" pitchFamily="18" charset="0"/>
                  <a:cs typeface="Times New Roman" panose="02020603050405020304" pitchFamily="18" charset="0"/>
                </a:rPr>
                <a:t>4</a:t>
              </a:r>
              <a:endParaRPr lang="zh-CN" altLang="en-US" sz="1325" dirty="0">
                <a:latin typeface="Times New Roman" panose="02020603050405020304" pitchFamily="18" charset="0"/>
                <a:cs typeface="Times New Roman" panose="02020603050405020304" pitchFamily="18" charset="0"/>
              </a:endParaRPr>
            </a:p>
          </p:txBody>
        </p:sp>
        <p:cxnSp>
          <p:nvCxnSpPr>
            <p:cNvPr id="38" name="直接连接符 37"/>
            <p:cNvCxnSpPr/>
            <p:nvPr/>
          </p:nvCxnSpPr>
          <p:spPr>
            <a:xfrm>
              <a:off x="2407598" y="5954587"/>
              <a:ext cx="37080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9" name="任意多边形: 形状 251"/>
            <p:cNvSpPr/>
            <p:nvPr/>
          </p:nvSpPr>
          <p:spPr>
            <a:xfrm>
              <a:off x="3104594" y="5704600"/>
              <a:ext cx="420272" cy="738401"/>
            </a:xfrm>
            <a:custGeom>
              <a:avLst/>
              <a:gdLst>
                <a:gd name="connsiteX0" fmla="*/ 0 w 234950"/>
                <a:gd name="connsiteY0" fmla="*/ 0 h 812800"/>
                <a:gd name="connsiteX1" fmla="*/ 234950 w 234950"/>
                <a:gd name="connsiteY1" fmla="*/ 0 h 812800"/>
                <a:gd name="connsiteX2" fmla="*/ 234950 w 234950"/>
                <a:gd name="connsiteY2" fmla="*/ 812800 h 812800"/>
              </a:gdLst>
              <a:ahLst/>
              <a:cxnLst>
                <a:cxn ang="0">
                  <a:pos x="connsiteX0" y="connsiteY0"/>
                </a:cxn>
                <a:cxn ang="0">
                  <a:pos x="connsiteX1" y="connsiteY1"/>
                </a:cxn>
                <a:cxn ang="0">
                  <a:pos x="connsiteX2" y="connsiteY2"/>
                </a:cxn>
              </a:cxnLst>
              <a:rect l="l" t="t" r="r" b="b"/>
              <a:pathLst>
                <a:path w="234950" h="812800">
                  <a:moveTo>
                    <a:pt x="0" y="0"/>
                  </a:moveTo>
                  <a:lnTo>
                    <a:pt x="234950" y="0"/>
                  </a:lnTo>
                  <a:lnTo>
                    <a:pt x="234950" y="812800"/>
                  </a:lnTo>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40" name="矩形 39"/>
            <p:cNvSpPr/>
            <p:nvPr/>
          </p:nvSpPr>
          <p:spPr>
            <a:xfrm>
              <a:off x="3233226" y="5423935"/>
              <a:ext cx="60559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PC+4</a:t>
              </a:r>
              <a:endParaRPr lang="zh-CN" altLang="en-US" sz="1325" baseline="-25000" dirty="0">
                <a:latin typeface="Times New Roman" panose="02020603050405020304" pitchFamily="18" charset="0"/>
                <a:cs typeface="Times New Roman" panose="02020603050405020304" pitchFamily="18" charset="0"/>
              </a:endParaRPr>
            </a:p>
          </p:txBody>
        </p:sp>
        <p:sp>
          <p:nvSpPr>
            <p:cNvPr id="41" name="矩形 40"/>
            <p:cNvSpPr/>
            <p:nvPr/>
          </p:nvSpPr>
          <p:spPr>
            <a:xfrm>
              <a:off x="3977560" y="2915317"/>
              <a:ext cx="375667"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5:0</a:t>
              </a:r>
              <a:endParaRPr lang="zh-CN" altLang="en-US" sz="1045" dirty="0">
                <a:latin typeface="Times New Roman" panose="02020603050405020304" pitchFamily="18" charset="0"/>
                <a:cs typeface="Times New Roman" panose="02020603050405020304" pitchFamily="18" charset="0"/>
              </a:endParaRPr>
            </a:p>
          </p:txBody>
        </p:sp>
        <p:sp>
          <p:nvSpPr>
            <p:cNvPr id="42" name="矩形 41"/>
            <p:cNvSpPr/>
            <p:nvPr/>
          </p:nvSpPr>
          <p:spPr>
            <a:xfrm>
              <a:off x="3993227" y="4041790"/>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20:16</a:t>
              </a:r>
              <a:endParaRPr lang="zh-CN" altLang="en-US" sz="1045" dirty="0">
                <a:latin typeface="Times New Roman" panose="02020603050405020304" pitchFamily="18" charset="0"/>
                <a:cs typeface="Times New Roman" panose="02020603050405020304" pitchFamily="18" charset="0"/>
              </a:endParaRPr>
            </a:p>
          </p:txBody>
        </p:sp>
        <p:sp>
          <p:nvSpPr>
            <p:cNvPr id="43" name="矩形 42"/>
            <p:cNvSpPr/>
            <p:nvPr/>
          </p:nvSpPr>
          <p:spPr>
            <a:xfrm>
              <a:off x="3995056" y="3774290"/>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25:21</a:t>
              </a:r>
              <a:endParaRPr lang="zh-CN" altLang="en-US" sz="1045" dirty="0">
                <a:latin typeface="Times New Roman" panose="02020603050405020304" pitchFamily="18" charset="0"/>
                <a:cs typeface="Times New Roman" panose="02020603050405020304" pitchFamily="18" charset="0"/>
              </a:endParaRPr>
            </a:p>
          </p:txBody>
        </p:sp>
        <p:sp>
          <p:nvSpPr>
            <p:cNvPr id="44" name="矩形 43"/>
            <p:cNvSpPr/>
            <p:nvPr/>
          </p:nvSpPr>
          <p:spPr>
            <a:xfrm>
              <a:off x="3966955" y="4545075"/>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15:11</a:t>
              </a:r>
              <a:endParaRPr lang="zh-CN" altLang="en-US" sz="1045" dirty="0">
                <a:latin typeface="Times New Roman" panose="02020603050405020304" pitchFamily="18" charset="0"/>
                <a:cs typeface="Times New Roman" panose="02020603050405020304" pitchFamily="18" charset="0"/>
              </a:endParaRPr>
            </a:p>
          </p:txBody>
        </p:sp>
        <p:sp>
          <p:nvSpPr>
            <p:cNvPr id="45" name="矩形 44"/>
            <p:cNvSpPr/>
            <p:nvPr/>
          </p:nvSpPr>
          <p:spPr>
            <a:xfrm>
              <a:off x="3978687" y="5823198"/>
              <a:ext cx="446675"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15:0</a:t>
              </a:r>
              <a:endParaRPr lang="zh-CN" altLang="en-US" sz="1045" dirty="0">
                <a:latin typeface="Times New Roman" panose="02020603050405020304" pitchFamily="18" charset="0"/>
                <a:cs typeface="Times New Roman" panose="02020603050405020304" pitchFamily="18" charset="0"/>
              </a:endParaRPr>
            </a:p>
          </p:txBody>
        </p:sp>
        <p:sp>
          <p:nvSpPr>
            <p:cNvPr id="46" name="矩形 45"/>
            <p:cNvSpPr/>
            <p:nvPr/>
          </p:nvSpPr>
          <p:spPr>
            <a:xfrm>
              <a:off x="5260768" y="5840486"/>
              <a:ext cx="107560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Sign Extend</a:t>
              </a:r>
              <a:endParaRPr lang="zh-CN" altLang="en-US" sz="1325" dirty="0">
                <a:latin typeface="Times New Roman" panose="02020603050405020304" pitchFamily="18" charset="0"/>
                <a:cs typeface="Times New Roman" panose="02020603050405020304" pitchFamily="18" charset="0"/>
              </a:endParaRPr>
            </a:p>
          </p:txBody>
        </p:sp>
        <p:sp>
          <p:nvSpPr>
            <p:cNvPr id="47" name="矩形 46"/>
            <p:cNvSpPr/>
            <p:nvPr/>
          </p:nvSpPr>
          <p:spPr>
            <a:xfrm>
              <a:off x="6377380" y="5937733"/>
              <a:ext cx="862579"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SignImm</a:t>
              </a:r>
              <a:endParaRPr lang="zh-CN" altLang="en-US" sz="1325" dirty="0">
                <a:latin typeface="Times New Roman" panose="02020603050405020304" pitchFamily="18" charset="0"/>
                <a:cs typeface="Times New Roman" panose="02020603050405020304" pitchFamily="18" charset="0"/>
              </a:endParaRPr>
            </a:p>
          </p:txBody>
        </p:sp>
        <p:sp>
          <p:nvSpPr>
            <p:cNvPr id="48" name="矩形 47"/>
            <p:cNvSpPr/>
            <p:nvPr/>
          </p:nvSpPr>
          <p:spPr>
            <a:xfrm>
              <a:off x="5102472" y="3624635"/>
              <a:ext cx="1417422" cy="1620000"/>
            </a:xfrm>
            <a:prstGeom prst="rect">
              <a:avLst/>
            </a:prstGeom>
            <a:solidFill>
              <a:srgbClr val="FFCC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49" name="矩形 48"/>
            <p:cNvSpPr/>
            <p:nvPr/>
          </p:nvSpPr>
          <p:spPr>
            <a:xfrm>
              <a:off x="5087028" y="3846399"/>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R1#</a:t>
              </a:r>
              <a:endParaRPr lang="zh-CN" altLang="en-US" sz="1325" dirty="0">
                <a:latin typeface="Times New Roman" panose="02020603050405020304" pitchFamily="18" charset="0"/>
                <a:cs typeface="Times New Roman" panose="02020603050405020304" pitchFamily="18" charset="0"/>
              </a:endParaRPr>
            </a:p>
          </p:txBody>
        </p:sp>
        <p:sp>
          <p:nvSpPr>
            <p:cNvPr id="50" name="矩形 49"/>
            <p:cNvSpPr/>
            <p:nvPr/>
          </p:nvSpPr>
          <p:spPr>
            <a:xfrm>
              <a:off x="5088159" y="4167250"/>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R2#</a:t>
              </a:r>
              <a:endParaRPr lang="zh-CN" altLang="en-US" sz="1325" dirty="0">
                <a:latin typeface="Times New Roman" panose="02020603050405020304" pitchFamily="18" charset="0"/>
                <a:cs typeface="Times New Roman" panose="02020603050405020304" pitchFamily="18" charset="0"/>
              </a:endParaRPr>
            </a:p>
          </p:txBody>
        </p:sp>
        <p:sp>
          <p:nvSpPr>
            <p:cNvPr id="51" name="矩形 50"/>
            <p:cNvSpPr/>
            <p:nvPr/>
          </p:nvSpPr>
          <p:spPr>
            <a:xfrm>
              <a:off x="5081485" y="4515214"/>
              <a:ext cx="453438"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a:t>
              </a:r>
              <a:endParaRPr lang="zh-CN" altLang="en-US" sz="1325" dirty="0">
                <a:latin typeface="Times New Roman" panose="02020603050405020304" pitchFamily="18" charset="0"/>
                <a:cs typeface="Times New Roman" panose="02020603050405020304" pitchFamily="18" charset="0"/>
              </a:endParaRPr>
            </a:p>
          </p:txBody>
        </p:sp>
        <p:sp>
          <p:nvSpPr>
            <p:cNvPr id="52" name="矩形 51"/>
            <p:cNvSpPr/>
            <p:nvPr/>
          </p:nvSpPr>
          <p:spPr>
            <a:xfrm>
              <a:off x="5087028" y="4869877"/>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WD</a:t>
              </a:r>
              <a:endParaRPr lang="zh-CN" altLang="en-US" sz="1325" dirty="0">
                <a:latin typeface="Times New Roman" panose="02020603050405020304" pitchFamily="18" charset="0"/>
                <a:cs typeface="Times New Roman" panose="02020603050405020304" pitchFamily="18" charset="0"/>
              </a:endParaRPr>
            </a:p>
          </p:txBody>
        </p:sp>
        <p:sp>
          <p:nvSpPr>
            <p:cNvPr id="53" name="矩形 52"/>
            <p:cNvSpPr/>
            <p:nvPr/>
          </p:nvSpPr>
          <p:spPr>
            <a:xfrm>
              <a:off x="5607659" y="3587547"/>
              <a:ext cx="473726"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WE</a:t>
              </a:r>
              <a:endParaRPr lang="zh-CN" altLang="en-US" sz="1325" dirty="0">
                <a:latin typeface="Times New Roman" panose="02020603050405020304" pitchFamily="18" charset="0"/>
                <a:cs typeface="Times New Roman" panose="02020603050405020304" pitchFamily="18" charset="0"/>
              </a:endParaRPr>
            </a:p>
          </p:txBody>
        </p:sp>
        <p:sp>
          <p:nvSpPr>
            <p:cNvPr id="54" name="矩形 53"/>
            <p:cNvSpPr/>
            <p:nvPr/>
          </p:nvSpPr>
          <p:spPr>
            <a:xfrm>
              <a:off x="5461813" y="4623794"/>
              <a:ext cx="911609" cy="312774"/>
            </a:xfrm>
            <a:prstGeom prst="rect">
              <a:avLst/>
            </a:prstGeom>
          </p:spPr>
          <p:txBody>
            <a:bodyPr wrap="none">
              <a:spAutoFit/>
            </a:bodyPr>
            <a:lstStyle/>
            <a:p>
              <a:pPr algn="ctr" defTabSz="914400">
                <a:defRPr/>
              </a:pPr>
              <a:r>
                <a:rPr lang="zh-CN" altLang="en-US" sz="1325" b="1" kern="0" dirty="0">
                  <a:solidFill>
                    <a:srgbClr val="000000"/>
                  </a:solidFill>
                  <a:latin typeface="微软雅黑" panose="020B0503020204020204" pitchFamily="34" charset="-122"/>
                  <a:ea typeface="微软雅黑" panose="020B0503020204020204" pitchFamily="34" charset="-122"/>
                </a:rPr>
                <a:t>寄存器堆</a:t>
              </a:r>
              <a:endParaRPr lang="zh-CN" altLang="en-US" sz="1325" b="1" kern="0" dirty="0">
                <a:solidFill>
                  <a:srgbClr val="000000"/>
                </a:solidFill>
                <a:latin typeface="微软雅黑" panose="020B0503020204020204" pitchFamily="34" charset="-122"/>
                <a:ea typeface="微软雅黑" panose="020B0503020204020204" pitchFamily="34" charset="-122"/>
              </a:endParaRPr>
            </a:p>
          </p:txBody>
        </p:sp>
        <p:sp>
          <p:nvSpPr>
            <p:cNvPr id="55" name="矩形 54"/>
            <p:cNvSpPr/>
            <p:nvPr/>
          </p:nvSpPr>
          <p:spPr>
            <a:xfrm>
              <a:off x="6187634" y="3856669"/>
              <a:ext cx="40440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R1</a:t>
              </a:r>
              <a:endParaRPr lang="zh-CN" altLang="en-US" sz="1325" dirty="0">
                <a:latin typeface="Times New Roman" panose="02020603050405020304" pitchFamily="18" charset="0"/>
                <a:cs typeface="Times New Roman" panose="02020603050405020304" pitchFamily="18" charset="0"/>
              </a:endParaRPr>
            </a:p>
          </p:txBody>
        </p:sp>
        <p:sp>
          <p:nvSpPr>
            <p:cNvPr id="56" name="矩形 55"/>
            <p:cNvSpPr/>
            <p:nvPr/>
          </p:nvSpPr>
          <p:spPr>
            <a:xfrm>
              <a:off x="6179493" y="4276124"/>
              <a:ext cx="40440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R2</a:t>
              </a:r>
              <a:endParaRPr lang="zh-CN" altLang="en-US" sz="1325" dirty="0">
                <a:latin typeface="Times New Roman" panose="02020603050405020304" pitchFamily="18" charset="0"/>
                <a:cs typeface="Times New Roman" panose="02020603050405020304" pitchFamily="18" charset="0"/>
              </a:endParaRPr>
            </a:p>
          </p:txBody>
        </p:sp>
        <p:grpSp>
          <p:nvGrpSpPr>
            <p:cNvPr id="57" name="组合 56"/>
            <p:cNvGrpSpPr/>
            <p:nvPr/>
          </p:nvGrpSpPr>
          <p:grpSpPr>
            <a:xfrm>
              <a:off x="4625897" y="4389532"/>
              <a:ext cx="284372" cy="537440"/>
              <a:chOff x="4451072" y="4543951"/>
              <a:chExt cx="284372" cy="537440"/>
            </a:xfrm>
          </p:grpSpPr>
          <p:sp>
            <p:nvSpPr>
              <p:cNvPr id="157" name="流程图: 手动操作 156"/>
              <p:cNvSpPr/>
              <p:nvPr/>
            </p:nvSpPr>
            <p:spPr>
              <a:xfrm rot="16200000">
                <a:off x="4335027" y="4701403"/>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58" name="矩形 157"/>
              <p:cNvSpPr/>
              <p:nvPr/>
            </p:nvSpPr>
            <p:spPr>
              <a:xfrm>
                <a:off x="4451072" y="4543951"/>
                <a:ext cx="284372"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grpSp>
        <p:sp>
          <p:nvSpPr>
            <p:cNvPr id="58" name="流程图: 手动操作 57"/>
            <p:cNvSpPr/>
            <p:nvPr/>
          </p:nvSpPr>
          <p:spPr>
            <a:xfrm rot="16200000">
              <a:off x="1336980" y="3875036"/>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59" name="矩形 58"/>
            <p:cNvSpPr/>
            <p:nvPr/>
          </p:nvSpPr>
          <p:spPr>
            <a:xfrm>
              <a:off x="1429026" y="3715552"/>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sp>
          <p:nvSpPr>
            <p:cNvPr id="60" name="流程图: 手动操作 59"/>
            <p:cNvSpPr/>
            <p:nvPr/>
          </p:nvSpPr>
          <p:spPr>
            <a:xfrm rot="16200000">
              <a:off x="7251910" y="4433214"/>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61" name="矩形 60"/>
            <p:cNvSpPr/>
            <p:nvPr/>
          </p:nvSpPr>
          <p:spPr>
            <a:xfrm>
              <a:off x="7346314" y="4283009"/>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sp>
          <p:nvSpPr>
            <p:cNvPr id="62" name="流程图: 手动操作 61"/>
            <p:cNvSpPr/>
            <p:nvPr/>
          </p:nvSpPr>
          <p:spPr>
            <a:xfrm rot="16200000">
              <a:off x="11167767" y="4070175"/>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63" name="矩形 62"/>
            <p:cNvSpPr/>
            <p:nvPr/>
          </p:nvSpPr>
          <p:spPr>
            <a:xfrm>
              <a:off x="11263840" y="3936437"/>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cxnSp>
          <p:nvCxnSpPr>
            <p:cNvPr id="64" name="直接连接符 63"/>
            <p:cNvCxnSpPr/>
            <p:nvPr/>
          </p:nvCxnSpPr>
          <p:spPr>
            <a:xfrm>
              <a:off x="6507043" y="4010421"/>
              <a:ext cx="1557578" cy="1"/>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855791" y="5879564"/>
              <a:ext cx="34774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7386084" y="5653030"/>
              <a:ext cx="487251" cy="552651"/>
              <a:chOff x="7239187" y="4876233"/>
              <a:chExt cx="506180" cy="574121"/>
            </a:xfrm>
          </p:grpSpPr>
          <p:sp>
            <p:nvSpPr>
              <p:cNvPr id="155" name="平行四边形 154"/>
              <p:cNvSpPr/>
              <p:nvPr/>
            </p:nvSpPr>
            <p:spPr>
              <a:xfrm rot="4500000">
                <a:off x="7216515" y="4946030"/>
                <a:ext cx="574121" cy="434528"/>
              </a:xfrm>
              <a:prstGeom prst="parallelogram">
                <a:avLst/>
              </a:pr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56" name="矩形 155"/>
              <p:cNvSpPr/>
              <p:nvPr/>
            </p:nvSpPr>
            <p:spPr>
              <a:xfrm>
                <a:off x="7239187" y="4999635"/>
                <a:ext cx="506180"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&lt;&lt;2</a:t>
                </a:r>
                <a:endParaRPr lang="zh-CN" altLang="en-US" sz="1325" dirty="0">
                  <a:latin typeface="Times New Roman" panose="02020603050405020304" pitchFamily="18" charset="0"/>
                  <a:cs typeface="Times New Roman" panose="02020603050405020304" pitchFamily="18" charset="0"/>
                </a:endParaRPr>
              </a:p>
            </p:txBody>
          </p:sp>
        </p:grpSp>
        <p:sp>
          <p:nvSpPr>
            <p:cNvPr id="67" name="矩形 66"/>
            <p:cNvSpPr/>
            <p:nvPr/>
          </p:nvSpPr>
          <p:spPr>
            <a:xfrm>
              <a:off x="8408569" y="6034851"/>
              <a:ext cx="296205"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t>
              </a:r>
              <a:endParaRPr lang="zh-CN" altLang="en-US" sz="1325" dirty="0">
                <a:latin typeface="Times New Roman" panose="02020603050405020304" pitchFamily="18" charset="0"/>
                <a:cs typeface="Times New Roman" panose="02020603050405020304" pitchFamily="18" charset="0"/>
              </a:endParaRPr>
            </a:p>
          </p:txBody>
        </p:sp>
        <p:sp>
          <p:nvSpPr>
            <p:cNvPr id="68" name="矩形 67"/>
            <p:cNvSpPr/>
            <p:nvPr/>
          </p:nvSpPr>
          <p:spPr>
            <a:xfrm>
              <a:off x="8600045" y="5800998"/>
              <a:ext cx="931895"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PCBranch</a:t>
              </a:r>
              <a:endParaRPr lang="zh-CN" altLang="en-US" sz="1325" dirty="0">
                <a:latin typeface="Times New Roman" panose="02020603050405020304" pitchFamily="18" charset="0"/>
                <a:cs typeface="Times New Roman" panose="02020603050405020304" pitchFamily="18" charset="0"/>
              </a:endParaRPr>
            </a:p>
          </p:txBody>
        </p:sp>
        <p:cxnSp>
          <p:nvCxnSpPr>
            <p:cNvPr id="69" name="直接连接符 68"/>
            <p:cNvCxnSpPr/>
            <p:nvPr/>
          </p:nvCxnSpPr>
          <p:spPr>
            <a:xfrm flipV="1">
              <a:off x="7624520" y="4588128"/>
              <a:ext cx="462543" cy="3527"/>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7583805" y="4322624"/>
              <a:ext cx="553187"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SrcB</a:t>
              </a:r>
              <a:endParaRPr lang="zh-CN" altLang="en-US" sz="1325" dirty="0">
                <a:latin typeface="Times New Roman" panose="02020603050405020304" pitchFamily="18" charset="0"/>
                <a:cs typeface="Times New Roman" panose="02020603050405020304" pitchFamily="18" charset="0"/>
              </a:endParaRPr>
            </a:p>
          </p:txBody>
        </p:sp>
        <p:sp>
          <p:nvSpPr>
            <p:cNvPr id="71" name="矩形 70"/>
            <p:cNvSpPr/>
            <p:nvPr/>
          </p:nvSpPr>
          <p:spPr>
            <a:xfrm>
              <a:off x="7573803" y="3763083"/>
              <a:ext cx="563331"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SrcA</a:t>
              </a:r>
              <a:endParaRPr lang="zh-CN" altLang="en-US" sz="1325" dirty="0">
                <a:latin typeface="Times New Roman" panose="02020603050405020304" pitchFamily="18" charset="0"/>
                <a:cs typeface="Times New Roman" panose="02020603050405020304" pitchFamily="18" charset="0"/>
              </a:endParaRPr>
            </a:p>
          </p:txBody>
        </p:sp>
        <p:sp>
          <p:nvSpPr>
            <p:cNvPr id="72" name="矩形 71"/>
            <p:cNvSpPr/>
            <p:nvPr/>
          </p:nvSpPr>
          <p:spPr>
            <a:xfrm>
              <a:off x="8466912" y="3750272"/>
              <a:ext cx="612360"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Equal</a:t>
              </a:r>
              <a:endParaRPr lang="zh-CN" altLang="en-US" sz="1325" dirty="0">
                <a:latin typeface="Times New Roman" panose="02020603050405020304" pitchFamily="18" charset="0"/>
                <a:cs typeface="Times New Roman" panose="02020603050405020304" pitchFamily="18" charset="0"/>
              </a:endParaRPr>
            </a:p>
          </p:txBody>
        </p:sp>
        <p:sp>
          <p:nvSpPr>
            <p:cNvPr id="73" name="任意多边形: 形状 323"/>
            <p:cNvSpPr/>
            <p:nvPr/>
          </p:nvSpPr>
          <p:spPr>
            <a:xfrm>
              <a:off x="8064621" y="3840798"/>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74" name="矩形 73"/>
            <p:cNvSpPr/>
            <p:nvPr/>
          </p:nvSpPr>
          <p:spPr>
            <a:xfrm rot="16200000">
              <a:off x="8123340" y="4149304"/>
              <a:ext cx="559949" cy="312774"/>
            </a:xfrm>
            <a:prstGeom prst="rect">
              <a:avLst/>
            </a:prstGeom>
          </p:spPr>
          <p:txBody>
            <a:bodyPr wrap="none">
              <a:spAutoFit/>
            </a:bodyPr>
            <a:lstStyle/>
            <a:p>
              <a:r>
                <a:rPr lang="en-US" altLang="zh-CN" sz="1325"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ALU</a:t>
              </a:r>
              <a:endParaRPr lang="zh-CN" altLang="en-US" sz="1325" dirty="0">
                <a:solidFill>
                  <a:schemeClr val="bg1"/>
                </a:solidFill>
                <a:latin typeface="Segoe UI Black" panose="020B0A02040204020203" pitchFamily="34" charset="0"/>
                <a:cs typeface="Segoe UI Black" panose="020B0A02040204020203" pitchFamily="34" charset="0"/>
              </a:endParaRPr>
            </a:p>
          </p:txBody>
        </p:sp>
        <p:sp>
          <p:nvSpPr>
            <p:cNvPr id="75" name="矩形 74"/>
            <p:cNvSpPr/>
            <p:nvPr/>
          </p:nvSpPr>
          <p:spPr>
            <a:xfrm>
              <a:off x="8517269" y="4016596"/>
              <a:ext cx="1021502"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ALUResult</a:t>
              </a:r>
              <a:endParaRPr lang="zh-CN" altLang="en-US" sz="1325" dirty="0">
                <a:latin typeface="Times New Roman" panose="02020603050405020304" pitchFamily="18" charset="0"/>
                <a:cs typeface="Times New Roman" panose="02020603050405020304" pitchFamily="18" charset="0"/>
              </a:endParaRPr>
            </a:p>
          </p:txBody>
        </p:sp>
        <p:sp>
          <p:nvSpPr>
            <p:cNvPr id="76" name="矩形 75"/>
            <p:cNvSpPr/>
            <p:nvPr/>
          </p:nvSpPr>
          <p:spPr>
            <a:xfrm>
              <a:off x="8498897" y="4614480"/>
              <a:ext cx="931489"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WriteData</a:t>
              </a:r>
              <a:endParaRPr lang="zh-CN" altLang="en-US" sz="1325" dirty="0">
                <a:latin typeface="Times New Roman" panose="02020603050405020304" pitchFamily="18" charset="0"/>
                <a:cs typeface="Times New Roman" panose="02020603050405020304" pitchFamily="18" charset="0"/>
              </a:endParaRPr>
            </a:p>
          </p:txBody>
        </p:sp>
        <p:cxnSp>
          <p:nvCxnSpPr>
            <p:cNvPr id="77" name="直接连接符 76"/>
            <p:cNvCxnSpPr/>
            <p:nvPr/>
          </p:nvCxnSpPr>
          <p:spPr>
            <a:xfrm>
              <a:off x="8532230" y="4302272"/>
              <a:ext cx="122403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10541167" y="4301458"/>
              <a:ext cx="78007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9690826" y="3695866"/>
              <a:ext cx="916908" cy="1436044"/>
              <a:chOff x="2106940" y="3477998"/>
              <a:chExt cx="952529" cy="1491834"/>
            </a:xfrm>
          </p:grpSpPr>
          <p:sp>
            <p:nvSpPr>
              <p:cNvPr id="149" name="矩形 148"/>
              <p:cNvSpPr/>
              <p:nvPr/>
            </p:nvSpPr>
            <p:spPr>
              <a:xfrm>
                <a:off x="2162583" y="3477998"/>
                <a:ext cx="828902" cy="1491834"/>
              </a:xfrm>
              <a:prstGeom prst="rect">
                <a:avLst/>
              </a:prstGeom>
              <a:solidFill>
                <a:srgbClr val="79F5F9"/>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150" name="矩形 149"/>
              <p:cNvSpPr/>
              <p:nvPr/>
            </p:nvSpPr>
            <p:spPr>
              <a:xfrm>
                <a:off x="2317534" y="3480984"/>
                <a:ext cx="492129"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WE</a:t>
                </a:r>
                <a:endParaRPr lang="zh-CN" altLang="en-US" sz="1325" dirty="0">
                  <a:latin typeface="Times New Roman" panose="02020603050405020304" pitchFamily="18" charset="0"/>
                  <a:cs typeface="Times New Roman" panose="02020603050405020304" pitchFamily="18" charset="0"/>
                </a:endParaRPr>
              </a:p>
            </p:txBody>
          </p:sp>
          <p:sp>
            <p:nvSpPr>
              <p:cNvPr id="151" name="矩形 150"/>
              <p:cNvSpPr/>
              <p:nvPr/>
            </p:nvSpPr>
            <p:spPr>
              <a:xfrm>
                <a:off x="2597199" y="3861428"/>
                <a:ext cx="462270"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RD</a:t>
                </a:r>
                <a:endParaRPr lang="zh-CN" altLang="en-US" sz="1325" dirty="0">
                  <a:latin typeface="Times New Roman" panose="02020603050405020304" pitchFamily="18" charset="0"/>
                  <a:cs typeface="Times New Roman" panose="02020603050405020304" pitchFamily="18" charset="0"/>
                </a:endParaRPr>
              </a:p>
            </p:txBody>
          </p:sp>
          <p:sp>
            <p:nvSpPr>
              <p:cNvPr id="152" name="矩形 151"/>
              <p:cNvSpPr/>
              <p:nvPr/>
            </p:nvSpPr>
            <p:spPr>
              <a:xfrm>
                <a:off x="2146656" y="3834566"/>
                <a:ext cx="337571"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a:t>
                </a:r>
                <a:endParaRPr lang="zh-CN" altLang="en-US" sz="1325" dirty="0">
                  <a:latin typeface="Times New Roman" panose="02020603050405020304" pitchFamily="18" charset="0"/>
                  <a:cs typeface="Times New Roman" panose="02020603050405020304" pitchFamily="18" charset="0"/>
                </a:endParaRPr>
              </a:p>
            </p:txBody>
          </p:sp>
          <p:sp>
            <p:nvSpPr>
              <p:cNvPr id="153" name="矩形 152"/>
              <p:cNvSpPr/>
              <p:nvPr/>
            </p:nvSpPr>
            <p:spPr>
              <a:xfrm>
                <a:off x="2182706" y="4068361"/>
                <a:ext cx="760851" cy="548684"/>
              </a:xfrm>
              <a:prstGeom prst="rect">
                <a:avLst/>
              </a:prstGeom>
            </p:spPr>
            <p:txBody>
              <a:bodyPr wrap="none">
                <a:spAutoFit/>
              </a:bodyPr>
              <a:lstStyle/>
              <a:p>
                <a:pPr algn="ctr" defTabSz="914400"/>
                <a:r>
                  <a:rPr lang="zh-CN" altLang="en-US" sz="1325" b="1" kern="0" dirty="0">
                    <a:latin typeface="微软雅黑" panose="020B0503020204020204" pitchFamily="34" charset="-122"/>
                    <a:ea typeface="微软雅黑" panose="020B0503020204020204" pitchFamily="34" charset="-122"/>
                  </a:rPr>
                  <a:t>数据</a:t>
                </a:r>
                <a:endParaRPr lang="en-US" altLang="zh-CN" sz="1325" b="1" kern="0" dirty="0">
                  <a:latin typeface="微软雅黑" panose="020B0503020204020204" pitchFamily="34" charset="-122"/>
                  <a:ea typeface="微软雅黑" panose="020B0503020204020204" pitchFamily="34" charset="-122"/>
                </a:endParaRPr>
              </a:p>
              <a:p>
                <a:pPr algn="ctr" defTabSz="914400"/>
                <a:r>
                  <a:rPr lang="zh-CN" altLang="en-US" sz="1325" b="1" kern="0" dirty="0">
                    <a:latin typeface="微软雅黑" panose="020B0503020204020204" pitchFamily="34" charset="-122"/>
                    <a:ea typeface="微软雅黑" panose="020B0503020204020204" pitchFamily="34" charset="-122"/>
                  </a:rPr>
                  <a:t>存储器</a:t>
                </a:r>
                <a:endParaRPr lang="zh-CN" altLang="en-US" sz="1325" b="1" kern="0" dirty="0">
                  <a:latin typeface="微软雅黑" panose="020B0503020204020204" pitchFamily="34" charset="-122"/>
                  <a:ea typeface="微软雅黑" panose="020B0503020204020204" pitchFamily="34" charset="-122"/>
                </a:endParaRPr>
              </a:p>
            </p:txBody>
          </p:sp>
          <p:sp>
            <p:nvSpPr>
              <p:cNvPr id="154" name="矩形 153"/>
              <p:cNvSpPr/>
              <p:nvPr/>
            </p:nvSpPr>
            <p:spPr>
              <a:xfrm>
                <a:off x="2106940" y="4556521"/>
                <a:ext cx="513205"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WD</a:t>
                </a:r>
                <a:endParaRPr lang="zh-CN" altLang="en-US" sz="1325" dirty="0">
                  <a:latin typeface="Times New Roman" panose="02020603050405020304" pitchFamily="18" charset="0"/>
                  <a:cs typeface="Times New Roman" panose="02020603050405020304" pitchFamily="18" charset="0"/>
                </a:endParaRPr>
              </a:p>
            </p:txBody>
          </p:sp>
        </p:grpSp>
        <p:sp>
          <p:nvSpPr>
            <p:cNvPr id="80" name="矩形 79"/>
            <p:cNvSpPr/>
            <p:nvPr/>
          </p:nvSpPr>
          <p:spPr>
            <a:xfrm>
              <a:off x="10484405" y="4026377"/>
              <a:ext cx="901464"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ReadData</a:t>
              </a:r>
              <a:endParaRPr lang="zh-CN" altLang="en-US" sz="1325" dirty="0">
                <a:latin typeface="Times New Roman" panose="02020603050405020304" pitchFamily="18" charset="0"/>
                <a:cs typeface="Times New Roman" panose="02020603050405020304" pitchFamily="18" charset="0"/>
              </a:endParaRPr>
            </a:p>
          </p:txBody>
        </p:sp>
        <p:sp>
          <p:nvSpPr>
            <p:cNvPr id="81" name="矩形 80"/>
            <p:cNvSpPr/>
            <p:nvPr/>
          </p:nvSpPr>
          <p:spPr>
            <a:xfrm>
              <a:off x="10506410" y="6662499"/>
              <a:ext cx="1300055"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WriteBackData</a:t>
              </a:r>
              <a:endParaRPr lang="zh-CN" altLang="en-US" sz="1325" dirty="0">
                <a:latin typeface="Times New Roman" panose="02020603050405020304" pitchFamily="18" charset="0"/>
                <a:cs typeface="Times New Roman" panose="02020603050405020304" pitchFamily="18" charset="0"/>
              </a:endParaRPr>
            </a:p>
          </p:txBody>
        </p:sp>
        <p:sp>
          <p:nvSpPr>
            <p:cNvPr id="82" name="任意多边形: 形状 323"/>
            <p:cNvSpPr/>
            <p:nvPr/>
          </p:nvSpPr>
          <p:spPr>
            <a:xfrm>
              <a:off x="8163994" y="5696260"/>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3" name="任意多边形: 形状 323"/>
            <p:cNvSpPr/>
            <p:nvPr/>
          </p:nvSpPr>
          <p:spPr>
            <a:xfrm>
              <a:off x="2768573" y="5274135"/>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4" name="矩形 83"/>
            <p:cNvSpPr/>
            <p:nvPr/>
          </p:nvSpPr>
          <p:spPr>
            <a:xfrm>
              <a:off x="2950880" y="5513430"/>
              <a:ext cx="377357" cy="405084"/>
            </a:xfrm>
            <a:prstGeom prst="rect">
              <a:avLst/>
            </a:prstGeom>
          </p:spPr>
          <p:txBody>
            <a:bodyPr wrap="none">
              <a:spAutoFit/>
            </a:bodyPr>
            <a:lstStyle/>
            <a:p>
              <a:r>
                <a:rPr lang="en-US" altLang="zh-CN" sz="1895" dirty="0">
                  <a:latin typeface="Segoe UI Black" panose="020B0A02040204020203" pitchFamily="34" charset="0"/>
                  <a:ea typeface="Segoe UI Black" panose="020B0A02040204020203" pitchFamily="34" charset="0"/>
                  <a:cs typeface="Segoe UI Black" panose="020B0A02040204020203" pitchFamily="34" charset="0"/>
                </a:rPr>
                <a:t>+</a:t>
              </a:r>
              <a:endParaRPr lang="zh-CN" altLang="en-US" sz="1895" dirty="0">
                <a:latin typeface="Segoe UI Black" panose="020B0A02040204020203" pitchFamily="34" charset="0"/>
                <a:cs typeface="Segoe UI Black" panose="020B0A02040204020203" pitchFamily="34" charset="0"/>
              </a:endParaRPr>
            </a:p>
          </p:txBody>
        </p:sp>
        <p:sp>
          <p:nvSpPr>
            <p:cNvPr id="85" name="矩形 84"/>
            <p:cNvSpPr/>
            <p:nvPr/>
          </p:nvSpPr>
          <p:spPr>
            <a:xfrm>
              <a:off x="8350117" y="5929356"/>
              <a:ext cx="377357" cy="405084"/>
            </a:xfrm>
            <a:prstGeom prst="rect">
              <a:avLst/>
            </a:prstGeom>
          </p:spPr>
          <p:txBody>
            <a:bodyPr wrap="none">
              <a:spAutoFit/>
            </a:bodyPr>
            <a:lstStyle/>
            <a:p>
              <a:r>
                <a:rPr lang="en-US" altLang="zh-CN" sz="1895" dirty="0">
                  <a:latin typeface="Segoe UI Black" panose="020B0A02040204020203" pitchFamily="34" charset="0"/>
                  <a:ea typeface="Segoe UI Black" panose="020B0A02040204020203" pitchFamily="34" charset="0"/>
                  <a:cs typeface="Segoe UI Black" panose="020B0A02040204020203" pitchFamily="34" charset="0"/>
                </a:rPr>
                <a:t>+</a:t>
              </a:r>
              <a:endParaRPr lang="zh-CN" altLang="en-US" sz="1895" dirty="0">
                <a:latin typeface="Segoe UI Black" panose="020B0A02040204020203" pitchFamily="34" charset="0"/>
                <a:cs typeface="Segoe UI Black" panose="020B0A02040204020203" pitchFamily="34" charset="0"/>
              </a:endParaRPr>
            </a:p>
          </p:txBody>
        </p:sp>
        <p:sp>
          <p:nvSpPr>
            <p:cNvPr id="86" name="流程图: 手动输入 146"/>
            <p:cNvSpPr/>
            <p:nvPr/>
          </p:nvSpPr>
          <p:spPr>
            <a:xfrm>
              <a:off x="5181935" y="5812705"/>
              <a:ext cx="1223105" cy="30849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9483 h 17483"/>
                <a:gd name="connsiteX1-3" fmla="*/ 10000 w 10000"/>
                <a:gd name="connsiteY1-4" fmla="*/ 0 h 17483"/>
                <a:gd name="connsiteX2-5" fmla="*/ 10000 w 10000"/>
                <a:gd name="connsiteY2-6" fmla="*/ 17483 h 17483"/>
                <a:gd name="connsiteX3-7" fmla="*/ 0 w 10000"/>
                <a:gd name="connsiteY3-8" fmla="*/ 17483 h 17483"/>
                <a:gd name="connsiteX4-9" fmla="*/ 0 w 10000"/>
                <a:gd name="connsiteY4-10" fmla="*/ 9483 h 17483"/>
                <a:gd name="connsiteX0-11" fmla="*/ 0 w 10000"/>
                <a:gd name="connsiteY0-12" fmla="*/ 5355 h 13355"/>
                <a:gd name="connsiteX1-13" fmla="*/ 10000 w 10000"/>
                <a:gd name="connsiteY1-14" fmla="*/ 0 h 13355"/>
                <a:gd name="connsiteX2-15" fmla="*/ 10000 w 10000"/>
                <a:gd name="connsiteY2-16" fmla="*/ 13355 h 13355"/>
                <a:gd name="connsiteX3-17" fmla="*/ 0 w 10000"/>
                <a:gd name="connsiteY3-18" fmla="*/ 13355 h 13355"/>
                <a:gd name="connsiteX4-19" fmla="*/ 0 w 10000"/>
                <a:gd name="connsiteY4-20" fmla="*/ 5355 h 133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3355">
                  <a:moveTo>
                    <a:pt x="0" y="5355"/>
                  </a:moveTo>
                  <a:lnTo>
                    <a:pt x="10000" y="0"/>
                  </a:lnTo>
                  <a:lnTo>
                    <a:pt x="10000" y="13355"/>
                  </a:lnTo>
                  <a:lnTo>
                    <a:pt x="0" y="13355"/>
                  </a:lnTo>
                  <a:lnTo>
                    <a:pt x="0" y="5355"/>
                  </a:lnTo>
                  <a:close/>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7" name="矩形 86"/>
            <p:cNvSpPr/>
            <p:nvPr/>
          </p:nvSpPr>
          <p:spPr>
            <a:xfrm>
              <a:off x="933293" y="6724905"/>
              <a:ext cx="1298771"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BranchAddress</a:t>
              </a:r>
              <a:endParaRPr lang="zh-CN" altLang="en-US" sz="1325" dirty="0">
                <a:latin typeface="Times New Roman" panose="02020603050405020304" pitchFamily="18" charset="0"/>
                <a:cs typeface="Times New Roman" panose="02020603050405020304" pitchFamily="18" charset="0"/>
              </a:endParaRPr>
            </a:p>
          </p:txBody>
        </p:sp>
        <p:cxnSp>
          <p:nvCxnSpPr>
            <p:cNvPr id="88" name="直接连接符 87"/>
            <p:cNvCxnSpPr/>
            <p:nvPr/>
          </p:nvCxnSpPr>
          <p:spPr>
            <a:xfrm>
              <a:off x="4038682" y="2883186"/>
              <a:ext cx="0" cy="3163131"/>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9" name="任意多边形: 形状 256"/>
            <p:cNvSpPr/>
            <p:nvPr/>
          </p:nvSpPr>
          <p:spPr>
            <a:xfrm flipV="1">
              <a:off x="11547755" y="4010500"/>
              <a:ext cx="225121" cy="153946"/>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90" name="直接连接符 89"/>
            <p:cNvCxnSpPr>
              <a:stCxn id="89" idx="0"/>
            </p:cNvCxnSpPr>
            <p:nvPr/>
          </p:nvCxnSpPr>
          <p:spPr>
            <a:xfrm>
              <a:off x="11772876" y="4164446"/>
              <a:ext cx="8580" cy="2795238"/>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4053450" y="4762613"/>
              <a:ext cx="60419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直接连接符 91"/>
            <p:cNvCxnSpPr/>
            <p:nvPr/>
          </p:nvCxnSpPr>
          <p:spPr>
            <a:xfrm>
              <a:off x="4391673" y="4518933"/>
              <a:ext cx="25835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直接连接符 92"/>
            <p:cNvCxnSpPr/>
            <p:nvPr/>
          </p:nvCxnSpPr>
          <p:spPr>
            <a:xfrm>
              <a:off x="4391673" y="4289705"/>
              <a:ext cx="0" cy="22550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直接连接符 93"/>
            <p:cNvCxnSpPr/>
            <p:nvPr/>
          </p:nvCxnSpPr>
          <p:spPr>
            <a:xfrm>
              <a:off x="4038682" y="2883186"/>
              <a:ext cx="53059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直接连接符 94"/>
            <p:cNvCxnSpPr/>
            <p:nvPr/>
          </p:nvCxnSpPr>
          <p:spPr>
            <a:xfrm>
              <a:off x="4046972" y="6046317"/>
              <a:ext cx="111098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直接连接符 95"/>
            <p:cNvCxnSpPr/>
            <p:nvPr/>
          </p:nvCxnSpPr>
          <p:spPr>
            <a:xfrm>
              <a:off x="4391673" y="5021016"/>
              <a:ext cx="0" cy="1938668"/>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直接连接符 96"/>
            <p:cNvCxnSpPr/>
            <p:nvPr/>
          </p:nvCxnSpPr>
          <p:spPr>
            <a:xfrm>
              <a:off x="4391673" y="6959684"/>
              <a:ext cx="737914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直接连接符 97"/>
            <p:cNvCxnSpPr/>
            <p:nvPr/>
          </p:nvCxnSpPr>
          <p:spPr>
            <a:xfrm>
              <a:off x="9492790" y="3487778"/>
              <a:ext cx="134885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直接连接符 98"/>
            <p:cNvCxnSpPr/>
            <p:nvPr/>
          </p:nvCxnSpPr>
          <p:spPr>
            <a:xfrm>
              <a:off x="9492790" y="3487778"/>
              <a:ext cx="0" cy="787747"/>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直接连接符 99"/>
            <p:cNvCxnSpPr/>
            <p:nvPr/>
          </p:nvCxnSpPr>
          <p:spPr>
            <a:xfrm>
              <a:off x="10841646" y="3487778"/>
              <a:ext cx="0" cy="501353"/>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直接连接符 100"/>
            <p:cNvCxnSpPr/>
            <p:nvPr/>
          </p:nvCxnSpPr>
          <p:spPr>
            <a:xfrm>
              <a:off x="10848976" y="3998474"/>
              <a:ext cx="472269"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直接连接符 101"/>
            <p:cNvCxnSpPr/>
            <p:nvPr/>
          </p:nvCxnSpPr>
          <p:spPr>
            <a:xfrm>
              <a:off x="6814452" y="4910747"/>
              <a:ext cx="2914605"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直接连接符 102"/>
            <p:cNvCxnSpPr/>
            <p:nvPr/>
          </p:nvCxnSpPr>
          <p:spPr>
            <a:xfrm>
              <a:off x="6814452" y="4426978"/>
              <a:ext cx="0" cy="48376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直接连接符 103"/>
            <p:cNvCxnSpPr/>
            <p:nvPr/>
          </p:nvCxnSpPr>
          <p:spPr>
            <a:xfrm>
              <a:off x="7088792" y="4711487"/>
              <a:ext cx="0" cy="1237624"/>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直接连接符 104"/>
            <p:cNvCxnSpPr/>
            <p:nvPr/>
          </p:nvCxnSpPr>
          <p:spPr>
            <a:xfrm>
              <a:off x="7108189" y="4711893"/>
              <a:ext cx="285305"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直接连接符 105"/>
            <p:cNvCxnSpPr/>
            <p:nvPr/>
          </p:nvCxnSpPr>
          <p:spPr>
            <a:xfrm>
              <a:off x="6429375" y="5966951"/>
              <a:ext cx="97509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直接连接符 106"/>
            <p:cNvCxnSpPr/>
            <p:nvPr/>
          </p:nvCxnSpPr>
          <p:spPr>
            <a:xfrm>
              <a:off x="4060306" y="3143260"/>
              <a:ext cx="52272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08" name="矩形 107"/>
            <p:cNvSpPr/>
            <p:nvPr/>
          </p:nvSpPr>
          <p:spPr>
            <a:xfrm>
              <a:off x="3984471" y="2661978"/>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31:26</a:t>
              </a:r>
              <a:endParaRPr lang="zh-CN" altLang="en-US" sz="1045" dirty="0">
                <a:latin typeface="Times New Roman" panose="02020603050405020304" pitchFamily="18" charset="0"/>
                <a:cs typeface="Times New Roman" panose="02020603050405020304" pitchFamily="18" charset="0"/>
              </a:endParaRPr>
            </a:p>
          </p:txBody>
        </p:sp>
        <p:sp>
          <p:nvSpPr>
            <p:cNvPr id="109" name="等腰三角形 108"/>
            <p:cNvSpPr/>
            <p:nvPr/>
          </p:nvSpPr>
          <p:spPr>
            <a:xfrm>
              <a:off x="2010894" y="4092249"/>
              <a:ext cx="217225" cy="122111"/>
            </a:xfrm>
            <a:prstGeom prst="triangle">
              <a:avLst/>
            </a:prstGeom>
            <a:solidFill>
              <a:srgbClr val="59B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nvGrpSpPr>
            <p:cNvPr id="110" name="组合 109"/>
            <p:cNvGrpSpPr/>
            <p:nvPr/>
          </p:nvGrpSpPr>
          <p:grpSpPr>
            <a:xfrm>
              <a:off x="5532327" y="5118027"/>
              <a:ext cx="534589" cy="487432"/>
              <a:chOff x="1853728" y="4285666"/>
              <a:chExt cx="534589" cy="487432"/>
            </a:xfrm>
            <a:solidFill>
              <a:srgbClr val="FFCCFF"/>
            </a:solidFill>
          </p:grpSpPr>
          <p:cxnSp>
            <p:nvCxnSpPr>
              <p:cNvPr id="146" name="直接连接符 145"/>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7" name="矩形 146"/>
              <p:cNvSpPr/>
              <p:nvPr/>
            </p:nvSpPr>
            <p:spPr>
              <a:xfrm>
                <a:off x="1853728" y="4460324"/>
                <a:ext cx="534589" cy="312774"/>
              </a:xfrm>
              <a:prstGeom prst="rect">
                <a:avLst/>
              </a:prstGeom>
              <a:noFill/>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sp>
            <p:nvSpPr>
              <p:cNvPr id="148" name="等腰三角形 147"/>
              <p:cNvSpPr/>
              <p:nvPr/>
            </p:nvSpPr>
            <p:spPr>
              <a:xfrm>
                <a:off x="1994241" y="4285666"/>
                <a:ext cx="217225" cy="122111"/>
              </a:xfrm>
              <a:prstGeom prs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11" name="组合 110"/>
            <p:cNvGrpSpPr/>
            <p:nvPr/>
          </p:nvGrpSpPr>
          <p:grpSpPr>
            <a:xfrm>
              <a:off x="9904273" y="5003415"/>
              <a:ext cx="534589" cy="487432"/>
              <a:chOff x="1853728" y="4285666"/>
              <a:chExt cx="534589" cy="487432"/>
            </a:xfrm>
            <a:solidFill>
              <a:srgbClr val="00B050"/>
            </a:solidFill>
          </p:grpSpPr>
          <p:cxnSp>
            <p:nvCxnSpPr>
              <p:cNvPr id="143" name="直接连接符 142"/>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4" name="矩形 143"/>
              <p:cNvSpPr/>
              <p:nvPr/>
            </p:nvSpPr>
            <p:spPr>
              <a:xfrm>
                <a:off x="1853728" y="4460324"/>
                <a:ext cx="534589" cy="312774"/>
              </a:xfrm>
              <a:prstGeom prst="rect">
                <a:avLst/>
              </a:prstGeom>
              <a:noFill/>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sp>
            <p:nvSpPr>
              <p:cNvPr id="145" name="等腰三角形 144"/>
              <p:cNvSpPr/>
              <p:nvPr/>
            </p:nvSpPr>
            <p:spPr>
              <a:xfrm>
                <a:off x="1994241" y="4285666"/>
                <a:ext cx="217225" cy="122111"/>
              </a:xfrm>
              <a:prstGeom prst="triangle">
                <a:avLst/>
              </a:prstGeom>
              <a:solidFill>
                <a:srgbClr val="79F5F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cxnSp>
          <p:nvCxnSpPr>
            <p:cNvPr id="112" name="直接连接符 111"/>
            <p:cNvCxnSpPr/>
            <p:nvPr/>
          </p:nvCxnSpPr>
          <p:spPr>
            <a:xfrm>
              <a:off x="3493075" y="4009114"/>
              <a:ext cx="54560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3" name="直接连接符 112"/>
            <p:cNvCxnSpPr/>
            <p:nvPr/>
          </p:nvCxnSpPr>
          <p:spPr>
            <a:xfrm>
              <a:off x="1269836" y="3840798"/>
              <a:ext cx="0" cy="2602203"/>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1269836" y="6443001"/>
              <a:ext cx="6894158"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直接连接符 114"/>
            <p:cNvCxnSpPr/>
            <p:nvPr/>
          </p:nvCxnSpPr>
          <p:spPr>
            <a:xfrm>
              <a:off x="8941392" y="6150115"/>
              <a:ext cx="0" cy="549253"/>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985166" y="6699368"/>
              <a:ext cx="792812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直接连接符 116"/>
            <p:cNvCxnSpPr/>
            <p:nvPr/>
          </p:nvCxnSpPr>
          <p:spPr>
            <a:xfrm>
              <a:off x="981804" y="4128910"/>
              <a:ext cx="0" cy="2570458"/>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981804" y="4128910"/>
              <a:ext cx="50069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直接连接符 118"/>
            <p:cNvCxnSpPr/>
            <p:nvPr/>
          </p:nvCxnSpPr>
          <p:spPr>
            <a:xfrm>
              <a:off x="1269836" y="3840798"/>
              <a:ext cx="21602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直接连接符 119"/>
            <p:cNvCxnSpPr/>
            <p:nvPr/>
          </p:nvCxnSpPr>
          <p:spPr>
            <a:xfrm>
              <a:off x="8631603" y="6150115"/>
              <a:ext cx="309789"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2407598" y="4010421"/>
              <a:ext cx="0" cy="1464731"/>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2407598" y="5475152"/>
              <a:ext cx="35786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123" name="组合 122"/>
            <p:cNvGrpSpPr/>
            <p:nvPr/>
          </p:nvGrpSpPr>
          <p:grpSpPr>
            <a:xfrm>
              <a:off x="5099722" y="2927507"/>
              <a:ext cx="2431294" cy="1389682"/>
              <a:chOff x="5039741" y="3208161"/>
              <a:chExt cx="597546" cy="457491"/>
            </a:xfrm>
          </p:grpSpPr>
          <p:cxnSp>
            <p:nvCxnSpPr>
              <p:cNvPr id="141" name="直接连接符 140"/>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2" name="直接连接符 141"/>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24" name="直接连接符 123"/>
            <p:cNvCxnSpPr/>
            <p:nvPr/>
          </p:nvCxnSpPr>
          <p:spPr>
            <a:xfrm>
              <a:off x="9005029" y="2577253"/>
              <a:ext cx="0" cy="1449124"/>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直接连接符 124"/>
            <p:cNvCxnSpPr/>
            <p:nvPr/>
          </p:nvCxnSpPr>
          <p:spPr>
            <a:xfrm>
              <a:off x="8546056" y="4038014"/>
              <a:ext cx="458973" cy="0"/>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直接连接符 125"/>
            <p:cNvCxnSpPr/>
            <p:nvPr/>
          </p:nvCxnSpPr>
          <p:spPr>
            <a:xfrm>
              <a:off x="9005029" y="2577253"/>
              <a:ext cx="200312" cy="0"/>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27" name="流程图: 延期 126"/>
            <p:cNvSpPr/>
            <p:nvPr/>
          </p:nvSpPr>
          <p:spPr>
            <a:xfrm>
              <a:off x="9220461" y="2408903"/>
              <a:ext cx="281920" cy="228390"/>
            </a:xfrm>
            <a:prstGeom prst="flowChartDelay">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128" name="直接连接符 127"/>
            <p:cNvCxnSpPr/>
            <p:nvPr/>
          </p:nvCxnSpPr>
          <p:spPr>
            <a:xfrm>
              <a:off x="9502935" y="2523098"/>
              <a:ext cx="279279"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直接连接符 128"/>
            <p:cNvCxnSpPr/>
            <p:nvPr/>
          </p:nvCxnSpPr>
          <p:spPr>
            <a:xfrm>
              <a:off x="9782214" y="1767866"/>
              <a:ext cx="0" cy="755232"/>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直接连接符 129"/>
            <p:cNvCxnSpPr/>
            <p:nvPr/>
          </p:nvCxnSpPr>
          <p:spPr>
            <a:xfrm>
              <a:off x="1617606" y="1767866"/>
              <a:ext cx="8164608"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直接连接符 130"/>
            <p:cNvCxnSpPr/>
            <p:nvPr/>
          </p:nvCxnSpPr>
          <p:spPr>
            <a:xfrm>
              <a:off x="1603713" y="1767866"/>
              <a:ext cx="0" cy="1985274"/>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sp>
          <p:nvSpPr>
            <p:cNvPr id="132" name="矩形 131"/>
            <p:cNvSpPr/>
            <p:nvPr/>
          </p:nvSpPr>
          <p:spPr>
            <a:xfrm>
              <a:off x="697004" y="3693304"/>
              <a:ext cx="60559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PC+4</a:t>
              </a:r>
              <a:endParaRPr lang="zh-CN" altLang="en-US" sz="1325" baseline="-25000" dirty="0">
                <a:latin typeface="Times New Roman" panose="02020603050405020304" pitchFamily="18" charset="0"/>
                <a:cs typeface="Times New Roman" panose="02020603050405020304" pitchFamily="18" charset="0"/>
              </a:endParaRPr>
            </a:p>
          </p:txBody>
        </p:sp>
        <p:grpSp>
          <p:nvGrpSpPr>
            <p:cNvPr id="133" name="组合 132"/>
            <p:cNvGrpSpPr/>
            <p:nvPr/>
          </p:nvGrpSpPr>
          <p:grpSpPr>
            <a:xfrm>
              <a:off x="4418820" y="1847647"/>
              <a:ext cx="655071" cy="1459212"/>
              <a:chOff x="4249767" y="1888664"/>
              <a:chExt cx="655071" cy="1459212"/>
            </a:xfrm>
          </p:grpSpPr>
          <p:sp>
            <p:nvSpPr>
              <p:cNvPr id="137" name="矩形: 圆角 196"/>
              <p:cNvSpPr/>
              <p:nvPr/>
            </p:nvSpPr>
            <p:spPr>
              <a:xfrm>
                <a:off x="4269135" y="1888664"/>
                <a:ext cx="635703" cy="1459212"/>
              </a:xfrm>
              <a:prstGeom prst="roundRect">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solidFill>
                    <a:schemeClr val="bg1"/>
                  </a:solidFill>
                </a:endParaRPr>
              </a:p>
            </p:txBody>
          </p:sp>
          <p:sp>
            <p:nvSpPr>
              <p:cNvPr id="138" name="矩形 137"/>
              <p:cNvSpPr/>
              <p:nvPr/>
            </p:nvSpPr>
            <p:spPr>
              <a:xfrm>
                <a:off x="4389953" y="1996880"/>
                <a:ext cx="399337" cy="836070"/>
              </a:xfrm>
              <a:prstGeom prst="rect">
                <a:avLst/>
              </a:prstGeom>
            </p:spPr>
            <p:txBody>
              <a:bodyPr wrap="none">
                <a:spAutoFit/>
              </a:bodyPr>
              <a:lstStyle/>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控</a:t>
                </a:r>
                <a:endParaRPr lang="en-US" altLang="zh-CN"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制</a:t>
                </a:r>
                <a:endParaRPr lang="en-US" altLang="zh-CN"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器</a:t>
                </a:r>
                <a:endPar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9" name="矩形 138"/>
              <p:cNvSpPr/>
              <p:nvPr/>
            </p:nvSpPr>
            <p:spPr>
              <a:xfrm>
                <a:off x="4249767" y="3005005"/>
                <a:ext cx="553187" cy="312774"/>
              </a:xfrm>
              <a:prstGeom prst="rect">
                <a:avLst/>
              </a:prstGeom>
            </p:spPr>
            <p:txBody>
              <a:bodyPr wrap="none">
                <a:spAutoFit/>
              </a:bodyPr>
              <a:lstStyle/>
              <a:p>
                <a:r>
                  <a:rPr lang="en-US" altLang="zh-CN" sz="1325" dirty="0" err="1">
                    <a:solidFill>
                      <a:schemeClr val="bg1"/>
                    </a:solidFill>
                    <a:latin typeface="Times New Roman" panose="02020603050405020304" pitchFamily="18" charset="0"/>
                    <a:cs typeface="Times New Roman" panose="02020603050405020304" pitchFamily="18" charset="0"/>
                  </a:rPr>
                  <a:t>Func</a:t>
                </a:r>
                <a:endParaRPr lang="zh-CN" altLang="en-US" sz="1325" dirty="0">
                  <a:solidFill>
                    <a:schemeClr val="bg1"/>
                  </a:solidFill>
                  <a:latin typeface="Times New Roman" panose="02020603050405020304" pitchFamily="18" charset="0"/>
                  <a:cs typeface="Times New Roman" panose="02020603050405020304" pitchFamily="18" charset="0"/>
                </a:endParaRPr>
              </a:p>
            </p:txBody>
          </p:sp>
          <p:sp>
            <p:nvSpPr>
              <p:cNvPr id="140" name="矩形 139"/>
              <p:cNvSpPr/>
              <p:nvPr/>
            </p:nvSpPr>
            <p:spPr>
              <a:xfrm>
                <a:off x="4262342" y="2770315"/>
                <a:ext cx="414551" cy="312774"/>
              </a:xfrm>
              <a:prstGeom prst="rect">
                <a:avLst/>
              </a:prstGeom>
            </p:spPr>
            <p:txBody>
              <a:bodyPr wrap="none">
                <a:spAutoFit/>
              </a:bodyPr>
              <a:lstStyle/>
              <a:p>
                <a:r>
                  <a:rPr lang="en-US" altLang="zh-CN" sz="1325" dirty="0">
                    <a:solidFill>
                      <a:schemeClr val="bg1"/>
                    </a:solidFill>
                    <a:latin typeface="Times New Roman" panose="02020603050405020304" pitchFamily="18" charset="0"/>
                    <a:cs typeface="Times New Roman" panose="02020603050405020304" pitchFamily="18" charset="0"/>
                  </a:rPr>
                  <a:t>Op</a:t>
                </a:r>
                <a:endParaRPr lang="zh-CN" altLang="en-US" sz="1325" dirty="0">
                  <a:solidFill>
                    <a:schemeClr val="bg1"/>
                  </a:solidFill>
                  <a:latin typeface="Times New Roman" panose="02020603050405020304" pitchFamily="18" charset="0"/>
                  <a:cs typeface="Times New Roman" panose="02020603050405020304" pitchFamily="18" charset="0"/>
                </a:endParaRPr>
              </a:p>
            </p:txBody>
          </p:sp>
        </p:grpSp>
        <p:sp>
          <p:nvSpPr>
            <p:cNvPr id="134" name="矩形 133"/>
            <p:cNvSpPr/>
            <p:nvPr/>
          </p:nvSpPr>
          <p:spPr>
            <a:xfrm>
              <a:off x="4339315" y="3700545"/>
              <a:ext cx="358760"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rs</a:t>
              </a:r>
              <a:endParaRPr lang="zh-CN" altLang="en-US" sz="1325" dirty="0">
                <a:latin typeface="Segoe UI Black" panose="020B0A02040204020203" pitchFamily="34" charset="0"/>
                <a:cs typeface="Segoe UI Black" panose="020B0A02040204020203" pitchFamily="34" charset="0"/>
              </a:endParaRPr>
            </a:p>
          </p:txBody>
        </p:sp>
        <p:sp>
          <p:nvSpPr>
            <p:cNvPr id="135" name="矩形 134"/>
            <p:cNvSpPr/>
            <p:nvPr/>
          </p:nvSpPr>
          <p:spPr>
            <a:xfrm>
              <a:off x="4346940" y="3982725"/>
              <a:ext cx="346925"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rt</a:t>
              </a:r>
              <a:endParaRPr lang="zh-CN" altLang="en-US" sz="1515" dirty="0">
                <a:latin typeface="Segoe UI Black" panose="020B0A02040204020203" pitchFamily="34" charset="0"/>
                <a:cs typeface="Segoe UI Black" panose="020B0A02040204020203" pitchFamily="34" charset="0"/>
              </a:endParaRPr>
            </a:p>
          </p:txBody>
        </p:sp>
        <p:sp>
          <p:nvSpPr>
            <p:cNvPr id="136" name="矩形 135"/>
            <p:cNvSpPr/>
            <p:nvPr/>
          </p:nvSpPr>
          <p:spPr>
            <a:xfrm>
              <a:off x="4331006" y="4502526"/>
              <a:ext cx="387501"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rd</a:t>
              </a:r>
              <a:endParaRPr lang="zh-CN" altLang="en-US" sz="1325" dirty="0">
                <a:latin typeface="Segoe UI Black" panose="020B0A02040204020203" pitchFamily="34" charset="0"/>
                <a:cs typeface="Segoe UI Black" panose="020B0A02040204020203" pitchFamily="34" charset="0"/>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32200">
        <p15:prstTrans prst="pageCurlDouble"/>
      </p:transition>
    </mc:Choice>
    <mc:Fallback>
      <p:transition spd="slow" advClick="0" advTm="322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标题 1"/>
          <p:cNvSpPr>
            <a:spLocks noGrp="1"/>
          </p:cNvSpPr>
          <p:nvPr>
            <p:ph type="title"/>
          </p:nvPr>
        </p:nvSpPr>
        <p:spPr>
          <a:xfrm>
            <a:off x="487680" y="257810"/>
            <a:ext cx="11454765" cy="617855"/>
          </a:xfrm>
        </p:spPr>
        <p:txBody>
          <a:bodyPr>
            <a:normAutofit fontScale="90000"/>
          </a:bodyPr>
          <a:lstStyle/>
          <a:p>
            <a:r>
              <a:rPr lang="zh-CN" altLang="en-US" dirty="0"/>
              <a:t>单周期</a:t>
            </a:r>
            <a:r>
              <a:rPr lang="en-US" altLang="zh-CN" dirty="0"/>
              <a:t>CPU </a:t>
            </a:r>
            <a:r>
              <a:rPr lang="en-US" altLang="zh-CN" dirty="0">
                <a:sym typeface="Wingdings" panose="05000000000000000000" pitchFamily="2" charset="2"/>
              </a:rPr>
              <a:t> </a:t>
            </a:r>
            <a:r>
              <a:rPr lang="zh-CN" altLang="en-US" dirty="0">
                <a:sym typeface="Wingdings" panose="05000000000000000000" pitchFamily="2" charset="2"/>
              </a:rPr>
              <a:t>寄存器文件的读逻辑和写逻辑电路分别属于</a:t>
            </a:r>
            <a:r>
              <a:rPr lang="en-US" altLang="zh-CN" dirty="0">
                <a:sym typeface="Wingdings" panose="05000000000000000000" pitchFamily="2" charset="2"/>
              </a:rPr>
              <a:t>ID</a:t>
            </a:r>
            <a:r>
              <a:rPr lang="zh-CN" altLang="en-US" dirty="0">
                <a:sym typeface="Wingdings" panose="05000000000000000000" pitchFamily="2" charset="2"/>
              </a:rPr>
              <a:t>和</a:t>
            </a:r>
            <a:r>
              <a:rPr lang="en-US" altLang="zh-CN" dirty="0">
                <a:sym typeface="Wingdings" panose="05000000000000000000" pitchFamily="2" charset="2"/>
              </a:rPr>
              <a:t>WB</a:t>
            </a:r>
            <a:r>
              <a:rPr lang="zh-CN" altLang="en-US" dirty="0">
                <a:sym typeface="Wingdings" panose="05000000000000000000" pitchFamily="2" charset="2"/>
              </a:rPr>
              <a:t>两个</a:t>
            </a:r>
            <a:r>
              <a:rPr lang="zh-CN" altLang="en-US" dirty="0">
                <a:sym typeface="Wingdings" panose="05000000000000000000" pitchFamily="2" charset="2"/>
              </a:rPr>
              <a:t>模块</a:t>
            </a:r>
            <a:endParaRPr lang="zh-CN" altLang="en-US" dirty="0">
              <a:sym typeface="Wingdings" panose="05000000000000000000" pitchFamily="2" charset="2"/>
            </a:endParaRPr>
          </a:p>
        </p:txBody>
      </p:sp>
      <p:sp>
        <p:nvSpPr>
          <p:cNvPr id="163" name="Rectangle 3"/>
          <p:cNvSpPr txBox="1">
            <a:spLocks noChangeArrowheads="1"/>
          </p:cNvSpPr>
          <p:nvPr/>
        </p:nvSpPr>
        <p:spPr>
          <a:xfrm>
            <a:off x="487045" y="5982970"/>
            <a:ext cx="11052810" cy="560705"/>
          </a:xfrm>
          <a:prstGeom prst="rect">
            <a:avLst/>
          </a:prstGeom>
        </p:spPr>
        <p:txBody>
          <a:bodyPr vert="horz" lIns="91440" tIns="45720" rIns="91440" bIns="45720" rtlCol="0"/>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chemeClr val="bg2">
                    <a:lumMod val="25000"/>
                  </a:schemeClr>
                </a:solidFill>
              </a:rPr>
              <a:t>译码</a:t>
            </a:r>
            <a:r>
              <a:rPr lang="en-US" altLang="zh-CN" dirty="0">
                <a:solidFill>
                  <a:schemeClr val="bg2">
                    <a:lumMod val="25000"/>
                  </a:schemeClr>
                </a:solidFill>
              </a:rPr>
              <a:t>ID</a:t>
            </a:r>
            <a:r>
              <a:rPr lang="zh-CN" altLang="en-US" dirty="0">
                <a:solidFill>
                  <a:schemeClr val="bg2">
                    <a:lumMod val="25000"/>
                  </a:schemeClr>
                </a:solidFill>
              </a:rPr>
              <a:t>模块中的单周期控制器部分没有画出来，访存指的是</a:t>
            </a:r>
            <a:r>
              <a:rPr lang="zh-CN" altLang="en-US" dirty="0">
                <a:solidFill>
                  <a:schemeClr val="bg2">
                    <a:lumMod val="25000"/>
                  </a:schemeClr>
                </a:solidFill>
              </a:rPr>
              <a:t>访问数据存储器</a:t>
            </a:r>
            <a:endParaRPr lang="zh-CN" altLang="en-US" dirty="0">
              <a:solidFill>
                <a:schemeClr val="bg2">
                  <a:lumMod val="25000"/>
                </a:schemeClr>
              </a:solidFill>
            </a:endParaRPr>
          </a:p>
        </p:txBody>
      </p:sp>
      <p:sp>
        <p:nvSpPr>
          <p:cNvPr id="1025" name="矩形 1024"/>
          <p:cNvSpPr>
            <a:spLocks noChangeAspect="1"/>
          </p:cNvSpPr>
          <p:nvPr/>
        </p:nvSpPr>
        <p:spPr>
          <a:xfrm>
            <a:off x="352425" y="1103313"/>
            <a:ext cx="11487150" cy="4781550"/>
          </a:xfrm>
          <a:prstGeom prst="rect">
            <a:avLst/>
          </a:prstGeom>
          <a:noFill/>
          <a:ln w="9525">
            <a:noFill/>
          </a:ln>
        </p:spPr>
      </p:sp>
      <p:graphicFrame>
        <p:nvGraphicFramePr>
          <p:cNvPr id="2" name="对象 1"/>
          <p:cNvGraphicFramePr/>
          <p:nvPr/>
        </p:nvGraphicFramePr>
        <p:xfrm>
          <a:off x="367030" y="1095693"/>
          <a:ext cx="11457940" cy="4666615"/>
        </p:xfrm>
        <a:graphic>
          <a:graphicData uri="http://schemas.openxmlformats.org/presentationml/2006/ole">
            <mc:AlternateContent xmlns:mc="http://schemas.openxmlformats.org/markup-compatibility/2006">
              <mc:Choice xmlns:v="urn:schemas-microsoft-com:vml" Requires="v">
                <p:oleObj spid="_x0000_s3" name="" r:id="rId1" imgW="8357235" imgH="3414395" progId="Visio.Drawing.15">
                  <p:embed/>
                </p:oleObj>
              </mc:Choice>
              <mc:Fallback>
                <p:oleObj name="" r:id="rId1" imgW="8357235" imgH="3414395" progId="Visio.Drawing.15">
                  <p:embed/>
                  <p:pic>
                    <p:nvPicPr>
                      <p:cNvPr id="0" name="图片 2"/>
                      <p:cNvPicPr/>
                      <p:nvPr/>
                    </p:nvPicPr>
                    <p:blipFill>
                      <a:blip r:embed="rId2"/>
                      <a:stretch>
                        <a:fillRect/>
                      </a:stretch>
                    </p:blipFill>
                    <p:spPr>
                      <a:xfrm>
                        <a:off x="367030" y="1095693"/>
                        <a:ext cx="11457940" cy="466661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205770"/>
    </mc:Choice>
    <mc:Fallback>
      <p:transition spd="slow" advTm="205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left)">
                                      <p:cBhvr>
                                        <p:cTn id="7"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单周期</a:t>
            </a:r>
            <a:r>
              <a:rPr lang="en-US" altLang="zh-CN" dirty="0"/>
              <a:t>MIPS</a:t>
            </a:r>
            <a:r>
              <a:rPr lang="zh-CN" altLang="en-US" dirty="0"/>
              <a:t>关键路径 </a:t>
            </a:r>
            <a:r>
              <a:rPr lang="en-US" altLang="zh-CN" dirty="0"/>
              <a:t>---LW</a:t>
            </a:r>
            <a:r>
              <a:rPr lang="zh-CN" altLang="en-US" dirty="0"/>
              <a:t>指令（</a:t>
            </a:r>
            <a:r>
              <a:rPr lang="zh-CN" altLang="en-US" dirty="0"/>
              <a:t>分析电路的</a:t>
            </a:r>
            <a:r>
              <a:rPr lang="zh-CN" altLang="en-US" dirty="0"/>
              <a:t>延迟）</a:t>
            </a:r>
            <a:endParaRPr lang="zh-CN" altLang="en-US" dirty="0"/>
          </a:p>
        </p:txBody>
      </p:sp>
      <p:cxnSp>
        <p:nvCxnSpPr>
          <p:cNvPr id="4" name="直接连接符 3"/>
          <p:cNvCxnSpPr/>
          <p:nvPr/>
        </p:nvCxnSpPr>
        <p:spPr>
          <a:xfrm>
            <a:off x="9651829" y="1913043"/>
            <a:ext cx="0" cy="486278"/>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
          <p:cNvCxnSpPr/>
          <p:nvPr/>
        </p:nvCxnSpPr>
        <p:spPr>
          <a:xfrm>
            <a:off x="1659662" y="2547974"/>
            <a:ext cx="294637" cy="448"/>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241700" y="3076411"/>
            <a:ext cx="23827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直接连接符 6"/>
          <p:cNvCxnSpPr/>
          <p:nvPr/>
        </p:nvCxnSpPr>
        <p:spPr>
          <a:xfrm>
            <a:off x="7193796" y="1913043"/>
            <a:ext cx="0" cy="999845"/>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p:cNvCxnSpPr/>
          <p:nvPr/>
        </p:nvCxnSpPr>
        <p:spPr>
          <a:xfrm>
            <a:off x="5581803" y="1913043"/>
            <a:ext cx="0" cy="45016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直接连接符 8"/>
          <p:cNvCxnSpPr/>
          <p:nvPr/>
        </p:nvCxnSpPr>
        <p:spPr>
          <a:xfrm>
            <a:off x="4593920" y="1940639"/>
            <a:ext cx="0" cy="1066918"/>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a:off x="6161010" y="2945515"/>
            <a:ext cx="92453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228967" y="3526353"/>
            <a:ext cx="65804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2" name="任意多边形: 形状 256"/>
          <p:cNvSpPr/>
          <p:nvPr/>
        </p:nvSpPr>
        <p:spPr>
          <a:xfrm flipV="1">
            <a:off x="4721903" y="3080740"/>
            <a:ext cx="177578" cy="98981"/>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3" name="直接连接符 12"/>
          <p:cNvCxnSpPr/>
          <p:nvPr/>
        </p:nvCxnSpPr>
        <p:spPr>
          <a:xfrm>
            <a:off x="3908281" y="2832962"/>
            <a:ext cx="100424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3894279" y="2568159"/>
            <a:ext cx="100424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7" name="矩形 16"/>
          <p:cNvSpPr/>
          <p:nvPr/>
        </p:nvSpPr>
        <p:spPr>
          <a:xfrm>
            <a:off x="1838408" y="2811347"/>
            <a:ext cx="506870"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rPr>
              <a:t>CLK</a:t>
            </a:r>
            <a:endParaRPr kumimoji="0" lang="zh-CN" altLang="en-US"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8" name="直接连接符 17"/>
          <p:cNvCxnSpPr>
            <a:endCxn id="15" idx="1"/>
          </p:cNvCxnSpPr>
          <p:nvPr/>
        </p:nvCxnSpPr>
        <p:spPr>
          <a:xfrm>
            <a:off x="1659662" y="2547974"/>
            <a:ext cx="294637" cy="448"/>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198435" y="2552562"/>
            <a:ext cx="32528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3322828" y="2304284"/>
            <a:ext cx="622286" cy="26744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指令字</a:t>
            </a:r>
            <a:endParaRPr kumimoji="0" lang="zh-CN" altLang="en-US" sz="11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p:cNvSpPr/>
          <p:nvPr/>
        </p:nvSpPr>
        <p:spPr>
          <a:xfrm>
            <a:off x="2027048" y="4251713"/>
            <a:ext cx="205122" cy="29655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4</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3" name="直接连接符 22"/>
          <p:cNvCxnSpPr/>
          <p:nvPr/>
        </p:nvCxnSpPr>
        <p:spPr>
          <a:xfrm>
            <a:off x="2347769" y="4411517"/>
            <a:ext cx="35157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4" name="任意多边形: 形状 251"/>
          <p:cNvSpPr/>
          <p:nvPr/>
        </p:nvSpPr>
        <p:spPr>
          <a:xfrm>
            <a:off x="3008625" y="4174492"/>
            <a:ext cx="398480" cy="700114"/>
          </a:xfrm>
          <a:custGeom>
            <a:avLst/>
            <a:gdLst>
              <a:gd name="connsiteX0" fmla="*/ 0 w 234950"/>
              <a:gd name="connsiteY0" fmla="*/ 0 h 812800"/>
              <a:gd name="connsiteX1" fmla="*/ 234950 w 234950"/>
              <a:gd name="connsiteY1" fmla="*/ 0 h 812800"/>
              <a:gd name="connsiteX2" fmla="*/ 234950 w 234950"/>
              <a:gd name="connsiteY2" fmla="*/ 812800 h 812800"/>
            </a:gdLst>
            <a:ahLst/>
            <a:cxnLst>
              <a:cxn ang="0">
                <a:pos x="connsiteX0" y="connsiteY0"/>
              </a:cxn>
              <a:cxn ang="0">
                <a:pos x="connsiteX1" y="connsiteY1"/>
              </a:cxn>
              <a:cxn ang="0">
                <a:pos x="connsiteX2" y="connsiteY2"/>
              </a:cxn>
            </a:cxnLst>
            <a:rect l="l" t="t" r="r" b="b"/>
            <a:pathLst>
              <a:path w="234950" h="812800">
                <a:moveTo>
                  <a:pt x="0" y="0"/>
                </a:moveTo>
                <a:lnTo>
                  <a:pt x="234950" y="0"/>
                </a:lnTo>
                <a:lnTo>
                  <a:pt x="234950" y="812800"/>
                </a:lnTo>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矩形 24"/>
          <p:cNvSpPr/>
          <p:nvPr/>
        </p:nvSpPr>
        <p:spPr>
          <a:xfrm>
            <a:off x="3130588" y="3908380"/>
            <a:ext cx="57419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PC+4</a:t>
            </a:r>
            <a:endParaRPr kumimoji="0" lang="zh-CN" altLang="en-US" sz="1325" b="0" i="0" u="none" strike="noStrike" kern="1200" cap="none" spc="0" normalizeH="0" baseline="-2500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 name="矩形 25"/>
          <p:cNvSpPr/>
          <p:nvPr/>
        </p:nvSpPr>
        <p:spPr>
          <a:xfrm>
            <a:off x="3851180" y="2597902"/>
            <a:ext cx="490840"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20:16</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7" name="矩形 26"/>
          <p:cNvSpPr/>
          <p:nvPr/>
        </p:nvSpPr>
        <p:spPr>
          <a:xfrm>
            <a:off x="3852915" y="2344273"/>
            <a:ext cx="490840"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25:21</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8" name="矩形 27"/>
          <p:cNvSpPr/>
          <p:nvPr/>
        </p:nvSpPr>
        <p:spPr>
          <a:xfrm>
            <a:off x="5052998" y="4303332"/>
            <a:ext cx="1019831"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Sign Extend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9" name="矩形 28"/>
          <p:cNvSpPr/>
          <p:nvPr/>
        </p:nvSpPr>
        <p:spPr>
          <a:xfrm>
            <a:off x="6111711" y="4395537"/>
            <a:ext cx="817853"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SignImm</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30" name="组合 29"/>
          <p:cNvGrpSpPr/>
          <p:nvPr/>
        </p:nvGrpSpPr>
        <p:grpSpPr>
          <a:xfrm>
            <a:off x="4451040" y="2927612"/>
            <a:ext cx="269626" cy="509573"/>
            <a:chOff x="4451072" y="4543951"/>
            <a:chExt cx="284372" cy="537440"/>
          </a:xfrm>
        </p:grpSpPr>
        <p:sp>
          <p:nvSpPr>
            <p:cNvPr id="31" name="流程图: 手动操作 30"/>
            <p:cNvSpPr/>
            <p:nvPr/>
          </p:nvSpPr>
          <p:spPr>
            <a:xfrm rot="16200000">
              <a:off x="4335027" y="4701403"/>
              <a:ext cx="533466" cy="226510"/>
            </a:xfrm>
            <a:prstGeom prst="flowChartManualOperation">
              <a:avLst/>
            </a:pr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2" name="矩形 31"/>
            <p:cNvSpPr/>
            <p:nvPr/>
          </p:nvSpPr>
          <p:spPr>
            <a:xfrm>
              <a:off x="4451072" y="4543951"/>
              <a:ext cx="284372" cy="52816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33" name="流程图: 手动操作 32"/>
          <p:cNvSpPr/>
          <p:nvPr/>
        </p:nvSpPr>
        <p:spPr>
          <a:xfrm rot="16200000">
            <a:off x="1332665" y="2439794"/>
            <a:ext cx="505805" cy="214765"/>
          </a:xfrm>
          <a:prstGeom prst="flowChartManualOperation">
            <a:avLst/>
          </a:pr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4" name="矩形 33"/>
          <p:cNvSpPr/>
          <p:nvPr/>
        </p:nvSpPr>
        <p:spPr>
          <a:xfrm>
            <a:off x="10751775" y="2466409"/>
            <a:ext cx="269626" cy="50077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5" name="直接连接符 34"/>
          <p:cNvCxnSpPr/>
          <p:nvPr/>
        </p:nvCxnSpPr>
        <p:spPr>
          <a:xfrm>
            <a:off x="6234650" y="2568160"/>
            <a:ext cx="1476815" cy="1"/>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7513464" y="4340384"/>
            <a:ext cx="32971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7068115" y="4125596"/>
            <a:ext cx="461986" cy="523995"/>
            <a:chOff x="7239187" y="4876233"/>
            <a:chExt cx="506180" cy="574121"/>
          </a:xfrm>
        </p:grpSpPr>
        <p:sp>
          <p:nvSpPr>
            <p:cNvPr id="38" name="平行四边形 37"/>
            <p:cNvSpPr/>
            <p:nvPr/>
          </p:nvSpPr>
          <p:spPr>
            <a:xfrm rot="4500000">
              <a:off x="7216515" y="4946030"/>
              <a:ext cx="574121" cy="434528"/>
            </a:xfrm>
            <a:prstGeom prst="parallelogram">
              <a:avLst/>
            </a:pr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9" name="矩形 38"/>
            <p:cNvSpPr/>
            <p:nvPr/>
          </p:nvSpPr>
          <p:spPr>
            <a:xfrm>
              <a:off x="7239187" y="4999635"/>
              <a:ext cx="506180" cy="3249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&lt;&lt;2</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40" name="矩形 39"/>
          <p:cNvSpPr/>
          <p:nvPr/>
        </p:nvSpPr>
        <p:spPr>
          <a:xfrm>
            <a:off x="8037579" y="4487619"/>
            <a:ext cx="28084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矩形 40"/>
          <p:cNvSpPr/>
          <p:nvPr/>
        </p:nvSpPr>
        <p:spPr>
          <a:xfrm>
            <a:off x="8219127" y="4265892"/>
            <a:ext cx="88357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PCBranch</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42" name="直接连接符 41"/>
          <p:cNvCxnSpPr/>
          <p:nvPr/>
        </p:nvCxnSpPr>
        <p:spPr>
          <a:xfrm flipV="1">
            <a:off x="7264635" y="3086282"/>
            <a:ext cx="441735" cy="1"/>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7249438" y="2775871"/>
            <a:ext cx="524503"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SrcB</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矩形 43"/>
          <p:cNvSpPr/>
          <p:nvPr/>
        </p:nvSpPr>
        <p:spPr>
          <a:xfrm>
            <a:off x="7246098" y="2333647"/>
            <a:ext cx="534121"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SrcA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5" name="矩形 44"/>
          <p:cNvSpPr/>
          <p:nvPr/>
        </p:nvSpPr>
        <p:spPr>
          <a:xfrm>
            <a:off x="8140643" y="2574015"/>
            <a:ext cx="96853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ALUResult</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6" name="矩形 45"/>
          <p:cNvSpPr/>
          <p:nvPr/>
        </p:nvSpPr>
        <p:spPr>
          <a:xfrm>
            <a:off x="8123224" y="3140897"/>
            <a:ext cx="883190"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47" name="直接连接符 46"/>
          <p:cNvCxnSpPr/>
          <p:nvPr/>
        </p:nvCxnSpPr>
        <p:spPr>
          <a:xfrm>
            <a:off x="8154828" y="2844877"/>
            <a:ext cx="1160567"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0059598" y="2844105"/>
            <a:ext cx="739630"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10005780" y="2583288"/>
            <a:ext cx="854721"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7" name="矩形 56"/>
          <p:cNvSpPr/>
          <p:nvPr/>
        </p:nvSpPr>
        <p:spPr>
          <a:xfrm>
            <a:off x="10026643" y="5082722"/>
            <a:ext cx="123264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WriteBackData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矩形 57"/>
          <p:cNvSpPr/>
          <p:nvPr/>
        </p:nvSpPr>
        <p:spPr>
          <a:xfrm>
            <a:off x="2862881" y="3993234"/>
            <a:ext cx="357790" cy="38408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9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t>
            </a:r>
            <a:endParaRPr kumimoji="0" lang="zh-CN" altLang="en-US" sz="189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59" name="矩形 58"/>
          <p:cNvSpPr/>
          <p:nvPr/>
        </p:nvSpPr>
        <p:spPr>
          <a:xfrm>
            <a:off x="7982158" y="4387594"/>
            <a:ext cx="357790" cy="38408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9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t>
            </a:r>
            <a:endParaRPr kumimoji="0" lang="zh-CN" altLang="en-US" sz="189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60" name="矩形 59"/>
          <p:cNvSpPr/>
          <p:nvPr/>
        </p:nvSpPr>
        <p:spPr>
          <a:xfrm>
            <a:off x="949910" y="5141892"/>
            <a:ext cx="1231427"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BranchAddress</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1" name="任意多边形: 形状 256"/>
          <p:cNvSpPr/>
          <p:nvPr/>
        </p:nvSpPr>
        <p:spPr>
          <a:xfrm flipV="1">
            <a:off x="11019353" y="2547973"/>
            <a:ext cx="208088" cy="145964"/>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2" name="直接连接符 61"/>
          <p:cNvCxnSpPr>
            <a:stCxn id="61" idx="0"/>
          </p:cNvCxnSpPr>
          <p:nvPr/>
        </p:nvCxnSpPr>
        <p:spPr>
          <a:xfrm>
            <a:off x="11227440" y="2714198"/>
            <a:ext cx="8135" cy="265030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3892891" y="3290287"/>
            <a:ext cx="572863"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直接连接符 63"/>
          <p:cNvCxnSpPr/>
          <p:nvPr/>
        </p:nvCxnSpPr>
        <p:spPr>
          <a:xfrm>
            <a:off x="4228966" y="2832962"/>
            <a:ext cx="0" cy="24344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直接连接符 64"/>
          <p:cNvCxnSpPr/>
          <p:nvPr/>
        </p:nvCxnSpPr>
        <p:spPr>
          <a:xfrm>
            <a:off x="3902139" y="4498490"/>
            <a:ext cx="105338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直接连接符 65"/>
          <p:cNvCxnSpPr/>
          <p:nvPr/>
        </p:nvCxnSpPr>
        <p:spPr>
          <a:xfrm>
            <a:off x="4228966" y="3526353"/>
            <a:ext cx="0" cy="1838144"/>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直接连接符 66"/>
          <p:cNvCxnSpPr/>
          <p:nvPr/>
        </p:nvCxnSpPr>
        <p:spPr>
          <a:xfrm>
            <a:off x="4228966" y="5364497"/>
            <a:ext cx="699652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直接连接符 67"/>
          <p:cNvCxnSpPr/>
          <p:nvPr/>
        </p:nvCxnSpPr>
        <p:spPr>
          <a:xfrm>
            <a:off x="9072763" y="2072181"/>
            <a:ext cx="127087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直接连接符 68"/>
          <p:cNvCxnSpPr/>
          <p:nvPr/>
        </p:nvCxnSpPr>
        <p:spPr>
          <a:xfrm>
            <a:off x="9065581" y="2072617"/>
            <a:ext cx="0" cy="74690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直接连接符 69"/>
          <p:cNvCxnSpPr/>
          <p:nvPr/>
        </p:nvCxnSpPr>
        <p:spPr>
          <a:xfrm>
            <a:off x="10344496" y="2072617"/>
            <a:ext cx="0" cy="475357"/>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p:cNvCxnSpPr/>
          <p:nvPr/>
        </p:nvCxnSpPr>
        <p:spPr>
          <a:xfrm>
            <a:off x="10351447" y="2556832"/>
            <a:ext cx="44778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直接连接符 71"/>
          <p:cNvCxnSpPr/>
          <p:nvPr/>
        </p:nvCxnSpPr>
        <p:spPr>
          <a:xfrm>
            <a:off x="6526120" y="3421802"/>
            <a:ext cx="276347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直接连接符 72"/>
          <p:cNvCxnSpPr/>
          <p:nvPr/>
        </p:nvCxnSpPr>
        <p:spPr>
          <a:xfrm>
            <a:off x="6526120" y="2963117"/>
            <a:ext cx="0" cy="458685"/>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p:nvPr/>
        </p:nvCxnSpPr>
        <p:spPr>
          <a:xfrm>
            <a:off x="6786235" y="3232874"/>
            <a:ext cx="0" cy="117345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直接连接符 74"/>
          <p:cNvCxnSpPr/>
          <p:nvPr/>
        </p:nvCxnSpPr>
        <p:spPr>
          <a:xfrm>
            <a:off x="6804627" y="3233259"/>
            <a:ext cx="27051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直接连接符 75"/>
          <p:cNvCxnSpPr/>
          <p:nvPr/>
        </p:nvCxnSpPr>
        <p:spPr>
          <a:xfrm>
            <a:off x="6161010" y="4423240"/>
            <a:ext cx="92453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78" name="组合 77"/>
          <p:cNvGrpSpPr/>
          <p:nvPr/>
        </p:nvGrpSpPr>
        <p:grpSpPr>
          <a:xfrm>
            <a:off x="9455728" y="3509666"/>
            <a:ext cx="506870" cy="462158"/>
            <a:chOff x="1853728" y="4285666"/>
            <a:chExt cx="534589" cy="487432"/>
          </a:xfrm>
          <a:solidFill>
            <a:srgbClr val="00B050"/>
          </a:solidFill>
        </p:grpSpPr>
        <p:cxnSp>
          <p:nvCxnSpPr>
            <p:cNvPr id="79" name="直接连接符 78"/>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0" name="矩形 79"/>
            <p:cNvSpPr/>
            <p:nvPr/>
          </p:nvSpPr>
          <p:spPr>
            <a:xfrm>
              <a:off x="1853728" y="4460324"/>
              <a:ext cx="534589" cy="31277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rPr>
                <a:t>CLK</a:t>
              </a:r>
              <a:endParaRPr kumimoji="0" lang="zh-CN" altLang="en-US"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1" name="等腰三角形 80"/>
            <p:cNvSpPr/>
            <p:nvPr/>
          </p:nvSpPr>
          <p:spPr>
            <a:xfrm>
              <a:off x="1994241" y="4285666"/>
              <a:ext cx="217225" cy="122111"/>
            </a:xfrm>
            <a:prstGeom prst="triangle">
              <a:avLst/>
            </a:prstGeom>
            <a:solidFill>
              <a:srgbClr val="79F5F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82" name="直接连接符 81"/>
          <p:cNvCxnSpPr/>
          <p:nvPr/>
        </p:nvCxnSpPr>
        <p:spPr>
          <a:xfrm>
            <a:off x="3376963" y="2566920"/>
            <a:ext cx="51731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直接连接符 82"/>
          <p:cNvCxnSpPr/>
          <p:nvPr/>
        </p:nvCxnSpPr>
        <p:spPr>
          <a:xfrm>
            <a:off x="1269002" y="2407332"/>
            <a:ext cx="0" cy="2467274"/>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1269003" y="4874605"/>
            <a:ext cx="6536683"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直接连接符 84"/>
          <p:cNvCxnSpPr/>
          <p:nvPr/>
        </p:nvCxnSpPr>
        <p:spPr>
          <a:xfrm>
            <a:off x="8542774" y="4596907"/>
            <a:ext cx="0" cy="520773"/>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999093" y="5117679"/>
            <a:ext cx="751703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直接连接符 86"/>
          <p:cNvCxnSpPr/>
          <p:nvPr/>
        </p:nvCxnSpPr>
        <p:spPr>
          <a:xfrm>
            <a:off x="995905" y="2680504"/>
            <a:ext cx="0" cy="2437175"/>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995905" y="2680504"/>
            <a:ext cx="47473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直接连接符 88"/>
          <p:cNvCxnSpPr/>
          <p:nvPr/>
        </p:nvCxnSpPr>
        <p:spPr>
          <a:xfrm>
            <a:off x="1269002" y="2407331"/>
            <a:ext cx="204823"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直接连接符 89"/>
          <p:cNvCxnSpPr/>
          <p:nvPr/>
        </p:nvCxnSpPr>
        <p:spPr>
          <a:xfrm>
            <a:off x="8249049" y="4596906"/>
            <a:ext cx="293726"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2347769" y="2568160"/>
            <a:ext cx="0" cy="1388782"/>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2347770" y="3956941"/>
            <a:ext cx="33930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直接连接符 92"/>
          <p:cNvCxnSpPr/>
          <p:nvPr/>
        </p:nvCxnSpPr>
        <p:spPr>
          <a:xfrm>
            <a:off x="1585567" y="1913043"/>
            <a:ext cx="0" cy="411176"/>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sp>
        <p:nvSpPr>
          <p:cNvPr id="94" name="矩形 93"/>
          <p:cNvSpPr/>
          <p:nvPr/>
        </p:nvSpPr>
        <p:spPr>
          <a:xfrm>
            <a:off x="725873" y="2267486"/>
            <a:ext cx="57419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PC+4</a:t>
            </a:r>
            <a:endParaRPr kumimoji="0" lang="zh-CN" altLang="en-US" sz="1325" b="0" i="0" u="none" strike="noStrike" kern="1200" cap="none" spc="0" normalizeH="0" baseline="-2500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95" name="矩形 94"/>
          <p:cNvSpPr/>
          <p:nvPr/>
        </p:nvSpPr>
        <p:spPr>
          <a:xfrm>
            <a:off x="4179323" y="2274351"/>
            <a:ext cx="340158"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rs</a:t>
            </a:r>
            <a:endParaRPr kumimoji="0" lang="zh-CN" altLang="en-US" sz="132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96" name="矩形 95"/>
          <p:cNvSpPr/>
          <p:nvPr/>
        </p:nvSpPr>
        <p:spPr>
          <a:xfrm>
            <a:off x="4186553" y="2541900"/>
            <a:ext cx="32893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rt</a:t>
            </a:r>
            <a:endParaRPr kumimoji="0" lang="zh-CN" altLang="en-US" sz="151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97" name="矩形 96"/>
          <p:cNvSpPr/>
          <p:nvPr/>
        </p:nvSpPr>
        <p:spPr>
          <a:xfrm>
            <a:off x="4179103" y="3036456"/>
            <a:ext cx="367408"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rd</a:t>
            </a:r>
            <a:endParaRPr kumimoji="0" lang="zh-CN" altLang="en-US" sz="132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98" name="任意多边形: 形状 256"/>
          <p:cNvSpPr/>
          <p:nvPr/>
        </p:nvSpPr>
        <p:spPr>
          <a:xfrm flipV="1">
            <a:off x="4711751" y="3104405"/>
            <a:ext cx="150942" cy="84135"/>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0" name="矩形 99"/>
          <p:cNvSpPr/>
          <p:nvPr/>
        </p:nvSpPr>
        <p:spPr>
          <a:xfrm>
            <a:off x="1838408" y="2811347"/>
            <a:ext cx="506870"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rPr>
              <a:t>CLK</a:t>
            </a:r>
            <a:endParaRPr kumimoji="0" lang="zh-CN" altLang="en-US"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2" name="矩形 101"/>
          <p:cNvSpPr/>
          <p:nvPr/>
        </p:nvSpPr>
        <p:spPr>
          <a:xfrm>
            <a:off x="3322828" y="2304284"/>
            <a:ext cx="622286" cy="26744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指令字</a:t>
            </a:r>
            <a:endParaRPr kumimoji="0" lang="zh-CN" altLang="en-US" sz="11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 name="矩形 102"/>
          <p:cNvSpPr/>
          <p:nvPr/>
        </p:nvSpPr>
        <p:spPr>
          <a:xfrm>
            <a:off x="2027048" y="4251713"/>
            <a:ext cx="205122" cy="29655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4</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 name="矩形 103"/>
          <p:cNvSpPr/>
          <p:nvPr/>
        </p:nvSpPr>
        <p:spPr>
          <a:xfrm>
            <a:off x="3130588" y="3908380"/>
            <a:ext cx="57419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PC+4</a:t>
            </a:r>
            <a:endParaRPr kumimoji="0" lang="zh-CN" altLang="en-US" sz="1325" b="0" i="0" u="none" strike="noStrike" kern="1200" cap="none" spc="0" normalizeH="0" baseline="-2500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5" name="矩形 104"/>
          <p:cNvSpPr/>
          <p:nvPr/>
        </p:nvSpPr>
        <p:spPr>
          <a:xfrm>
            <a:off x="3851180" y="2597902"/>
            <a:ext cx="490840"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20:16</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6" name="矩形 105"/>
          <p:cNvSpPr/>
          <p:nvPr/>
        </p:nvSpPr>
        <p:spPr>
          <a:xfrm>
            <a:off x="3852915" y="2344273"/>
            <a:ext cx="490840"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25:21</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7" name="矩形 106"/>
          <p:cNvSpPr/>
          <p:nvPr/>
        </p:nvSpPr>
        <p:spPr>
          <a:xfrm>
            <a:off x="3836145" y="3088933"/>
            <a:ext cx="490840"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15:11</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8" name="矩形 107"/>
          <p:cNvSpPr/>
          <p:nvPr/>
        </p:nvSpPr>
        <p:spPr>
          <a:xfrm>
            <a:off x="3836198" y="4265503"/>
            <a:ext cx="423514" cy="25282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15:0</a:t>
            </a:r>
            <a:endParaRPr kumimoji="0" lang="zh-CN" altLang="en-US" sz="104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2" name="矩形 111"/>
          <p:cNvSpPr/>
          <p:nvPr/>
        </p:nvSpPr>
        <p:spPr>
          <a:xfrm>
            <a:off x="6111711" y="4395537"/>
            <a:ext cx="817853"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SignImm</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3" name="矩形 112"/>
          <p:cNvSpPr/>
          <p:nvPr/>
        </p:nvSpPr>
        <p:spPr>
          <a:xfrm>
            <a:off x="8037579" y="4487619"/>
            <a:ext cx="28084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4" name="矩形 113"/>
          <p:cNvSpPr/>
          <p:nvPr/>
        </p:nvSpPr>
        <p:spPr>
          <a:xfrm>
            <a:off x="8219127" y="4265892"/>
            <a:ext cx="88357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PCBranch</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15" name="直接连接符 114"/>
          <p:cNvCxnSpPr/>
          <p:nvPr/>
        </p:nvCxnSpPr>
        <p:spPr>
          <a:xfrm flipV="1">
            <a:off x="7302166" y="3076175"/>
            <a:ext cx="436624" cy="3344"/>
          </a:xfrm>
          <a:prstGeom prst="line">
            <a:avLst/>
          </a:prstGeom>
          <a:ln w="63500">
            <a:solidFill>
              <a:srgbClr val="59B2FF"/>
            </a:solidFill>
          </a:ln>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246098" y="2333647"/>
            <a:ext cx="534121"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SrcA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7" name="矩形 116"/>
          <p:cNvSpPr/>
          <p:nvPr/>
        </p:nvSpPr>
        <p:spPr>
          <a:xfrm>
            <a:off x="8140643" y="2574015"/>
            <a:ext cx="96853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ALUResult</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8" name="矩形 117"/>
          <p:cNvSpPr/>
          <p:nvPr/>
        </p:nvSpPr>
        <p:spPr>
          <a:xfrm>
            <a:off x="8123224" y="3140897"/>
            <a:ext cx="883190"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19" name="直接连接符 118"/>
          <p:cNvCxnSpPr/>
          <p:nvPr/>
        </p:nvCxnSpPr>
        <p:spPr>
          <a:xfrm>
            <a:off x="10059598" y="2844105"/>
            <a:ext cx="739630"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a:xfrm>
            <a:off x="10005780" y="2583288"/>
            <a:ext cx="854721"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026643" y="5082722"/>
            <a:ext cx="123264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WriteBackData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122" name="组合 121"/>
          <p:cNvGrpSpPr/>
          <p:nvPr/>
        </p:nvGrpSpPr>
        <p:grpSpPr>
          <a:xfrm>
            <a:off x="2690026" y="3766348"/>
            <a:ext cx="530644" cy="860645"/>
            <a:chOff x="2768573" y="5274135"/>
            <a:chExt cx="559664" cy="907711"/>
          </a:xfrm>
        </p:grpSpPr>
        <p:sp>
          <p:nvSpPr>
            <p:cNvPr id="123" name="任意多边形: 形状 323"/>
            <p:cNvSpPr/>
            <p:nvPr/>
          </p:nvSpPr>
          <p:spPr>
            <a:xfrm>
              <a:off x="2768573" y="5274135"/>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4" name="矩形 123"/>
            <p:cNvSpPr/>
            <p:nvPr/>
          </p:nvSpPr>
          <p:spPr>
            <a:xfrm>
              <a:off x="2950880" y="5513430"/>
              <a:ext cx="377357" cy="40508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9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t>
              </a:r>
              <a:endParaRPr kumimoji="0" lang="zh-CN" altLang="en-US" sz="189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grpSp>
      <p:grpSp>
        <p:nvGrpSpPr>
          <p:cNvPr id="125" name="组合 124"/>
          <p:cNvGrpSpPr/>
          <p:nvPr/>
        </p:nvGrpSpPr>
        <p:grpSpPr>
          <a:xfrm>
            <a:off x="7805680" y="4166585"/>
            <a:ext cx="534262" cy="860645"/>
            <a:chOff x="8163994" y="5696260"/>
            <a:chExt cx="563480" cy="907711"/>
          </a:xfrm>
        </p:grpSpPr>
        <p:sp>
          <p:nvSpPr>
            <p:cNvPr id="126" name="任意多边形: 形状 323"/>
            <p:cNvSpPr/>
            <p:nvPr/>
          </p:nvSpPr>
          <p:spPr>
            <a:xfrm>
              <a:off x="8163994" y="5696260"/>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7" name="矩形 126"/>
            <p:cNvSpPr/>
            <p:nvPr/>
          </p:nvSpPr>
          <p:spPr>
            <a:xfrm>
              <a:off x="8350117" y="5929356"/>
              <a:ext cx="377357" cy="40508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9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t>
              </a:r>
              <a:endParaRPr kumimoji="0" lang="zh-CN" altLang="en-US" sz="189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grpSp>
      <p:sp>
        <p:nvSpPr>
          <p:cNvPr id="128" name="矩形 127"/>
          <p:cNvSpPr/>
          <p:nvPr/>
        </p:nvSpPr>
        <p:spPr>
          <a:xfrm>
            <a:off x="949910" y="5141892"/>
            <a:ext cx="1231427"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BranchAddress</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29" name="直接连接符 128"/>
          <p:cNvCxnSpPr/>
          <p:nvPr/>
        </p:nvCxnSpPr>
        <p:spPr>
          <a:xfrm>
            <a:off x="4241700" y="3079802"/>
            <a:ext cx="209346"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直接连接符 129"/>
          <p:cNvCxnSpPr/>
          <p:nvPr/>
        </p:nvCxnSpPr>
        <p:spPr>
          <a:xfrm>
            <a:off x="6526120" y="3421802"/>
            <a:ext cx="276347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直接连接符 130"/>
          <p:cNvCxnSpPr/>
          <p:nvPr/>
        </p:nvCxnSpPr>
        <p:spPr>
          <a:xfrm>
            <a:off x="6526120" y="2963118"/>
            <a:ext cx="0" cy="431607"/>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2" name="直接连接符 131"/>
          <p:cNvCxnSpPr/>
          <p:nvPr/>
        </p:nvCxnSpPr>
        <p:spPr>
          <a:xfrm>
            <a:off x="6786235" y="3247921"/>
            <a:ext cx="0" cy="117345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3" name="直接连接符 132"/>
          <p:cNvCxnSpPr/>
          <p:nvPr/>
        </p:nvCxnSpPr>
        <p:spPr>
          <a:xfrm>
            <a:off x="6804627" y="3233259"/>
            <a:ext cx="27051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34" name="矩形 133"/>
          <p:cNvSpPr/>
          <p:nvPr/>
        </p:nvSpPr>
        <p:spPr>
          <a:xfrm>
            <a:off x="725873" y="2267486"/>
            <a:ext cx="57419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PC+4</a:t>
            </a:r>
            <a:endParaRPr kumimoji="0" lang="zh-CN" altLang="en-US" sz="1325" b="0" i="0" u="none" strike="noStrike" kern="1200" cap="none" spc="0" normalizeH="0" baseline="-2500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矩形 134"/>
          <p:cNvSpPr/>
          <p:nvPr/>
        </p:nvSpPr>
        <p:spPr>
          <a:xfrm>
            <a:off x="4179323" y="2274351"/>
            <a:ext cx="340158"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rs</a:t>
            </a:r>
            <a:endParaRPr kumimoji="0" lang="zh-CN" altLang="en-US" sz="132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36" name="矩形 135"/>
          <p:cNvSpPr/>
          <p:nvPr/>
        </p:nvSpPr>
        <p:spPr>
          <a:xfrm>
            <a:off x="4186553" y="2541900"/>
            <a:ext cx="328936"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rt</a:t>
            </a:r>
            <a:endParaRPr kumimoji="0" lang="zh-CN" altLang="en-US" sz="151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cxnSp>
        <p:nvCxnSpPr>
          <p:cNvPr id="137" name="直接连接符 136"/>
          <p:cNvCxnSpPr/>
          <p:nvPr/>
        </p:nvCxnSpPr>
        <p:spPr>
          <a:xfrm>
            <a:off x="3890319" y="2568180"/>
            <a:ext cx="0" cy="1919439"/>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38" name="直接连接符 137"/>
          <p:cNvCxnSpPr/>
          <p:nvPr/>
        </p:nvCxnSpPr>
        <p:spPr>
          <a:xfrm>
            <a:off x="3908281" y="2832962"/>
            <a:ext cx="316649"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sp>
        <p:nvSpPr>
          <p:cNvPr id="139" name="任意多边形: 形状 323"/>
          <p:cNvSpPr/>
          <p:nvPr/>
        </p:nvSpPr>
        <p:spPr>
          <a:xfrm>
            <a:off x="7711466" y="2399321"/>
            <a:ext cx="443363" cy="860645"/>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FF66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0" name="矩形 139"/>
          <p:cNvSpPr/>
          <p:nvPr/>
        </p:nvSpPr>
        <p:spPr>
          <a:xfrm rot="16200000">
            <a:off x="7767140" y="2691831"/>
            <a:ext cx="530915" cy="29655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32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41" name="流程图: 手动操作 140"/>
          <p:cNvSpPr/>
          <p:nvPr/>
        </p:nvSpPr>
        <p:spPr>
          <a:xfrm rot="16200000">
            <a:off x="6940895" y="2969030"/>
            <a:ext cx="505805" cy="214765"/>
          </a:xfrm>
          <a:prstGeom prst="flowChartManualOperation">
            <a:avLst/>
          </a:prstGeom>
          <a:solidFill>
            <a:schemeClr val="bg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2" name="矩形 141"/>
          <p:cNvSpPr/>
          <p:nvPr/>
        </p:nvSpPr>
        <p:spPr>
          <a:xfrm>
            <a:off x="7030404" y="2826613"/>
            <a:ext cx="269626" cy="50077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143" name="组合 142"/>
          <p:cNvGrpSpPr/>
          <p:nvPr/>
        </p:nvGrpSpPr>
        <p:grpSpPr>
          <a:xfrm>
            <a:off x="10742725" y="2429562"/>
            <a:ext cx="278243" cy="523935"/>
            <a:chOff x="11254296" y="3897575"/>
            <a:chExt cx="293459" cy="552588"/>
          </a:xfrm>
        </p:grpSpPr>
        <p:sp>
          <p:nvSpPr>
            <p:cNvPr id="144" name="流程图: 手动操作 143"/>
            <p:cNvSpPr/>
            <p:nvPr/>
          </p:nvSpPr>
          <p:spPr>
            <a:xfrm rot="16200000">
              <a:off x="11167767" y="4070175"/>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5" name="矩形 144"/>
            <p:cNvSpPr/>
            <p:nvPr/>
          </p:nvSpPr>
          <p:spPr>
            <a:xfrm>
              <a:off x="11254296" y="3897575"/>
              <a:ext cx="284371" cy="528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46" name="直接连接符 145"/>
          <p:cNvCxnSpPr/>
          <p:nvPr/>
        </p:nvCxnSpPr>
        <p:spPr>
          <a:xfrm>
            <a:off x="4486538" y="3076174"/>
            <a:ext cx="224712" cy="99483"/>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47" name="直接连接符 146"/>
          <p:cNvCxnSpPr/>
          <p:nvPr/>
        </p:nvCxnSpPr>
        <p:spPr>
          <a:xfrm flipV="1">
            <a:off x="7085541" y="3086274"/>
            <a:ext cx="260648" cy="120979"/>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grpSp>
        <p:nvGrpSpPr>
          <p:cNvPr id="148" name="组合 147"/>
          <p:cNvGrpSpPr/>
          <p:nvPr/>
        </p:nvGrpSpPr>
        <p:grpSpPr>
          <a:xfrm>
            <a:off x="2198435" y="2427259"/>
            <a:ext cx="9028413" cy="2937239"/>
            <a:chOff x="2250097" y="3861815"/>
            <a:chExt cx="9522154" cy="3097869"/>
          </a:xfrm>
        </p:grpSpPr>
        <p:cxnSp>
          <p:nvCxnSpPr>
            <p:cNvPr id="149" name="直接连接符 148"/>
            <p:cNvCxnSpPr/>
            <p:nvPr/>
          </p:nvCxnSpPr>
          <p:spPr>
            <a:xfrm>
              <a:off x="4391673" y="5021016"/>
              <a:ext cx="694027"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0" name="直接连接符 149"/>
            <p:cNvCxnSpPr/>
            <p:nvPr/>
          </p:nvCxnSpPr>
          <p:spPr>
            <a:xfrm>
              <a:off x="4014727" y="4008322"/>
              <a:ext cx="1059164"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1" name="直接连接符 150"/>
            <p:cNvCxnSpPr/>
            <p:nvPr/>
          </p:nvCxnSpPr>
          <p:spPr>
            <a:xfrm>
              <a:off x="6507043" y="4010421"/>
              <a:ext cx="1557578" cy="1"/>
            </a:xfrm>
            <a:prstGeom prst="line">
              <a:avLst/>
            </a:prstGeom>
            <a:ln w="63500">
              <a:solidFill>
                <a:srgbClr val="59B2FF"/>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8532230" y="4302272"/>
              <a:ext cx="1224035" cy="0"/>
            </a:xfrm>
            <a:prstGeom prst="line">
              <a:avLst/>
            </a:prstGeom>
            <a:ln w="63500">
              <a:solidFill>
                <a:srgbClr val="59B2FF"/>
              </a:solidFill>
            </a:ln>
          </p:spPr>
          <p:style>
            <a:lnRef idx="1">
              <a:schemeClr val="accent1"/>
            </a:lnRef>
            <a:fillRef idx="0">
              <a:schemeClr val="accent1"/>
            </a:fillRef>
            <a:effectRef idx="0">
              <a:schemeClr val="accent1"/>
            </a:effectRef>
            <a:fontRef idx="minor">
              <a:schemeClr val="tx1"/>
            </a:fontRef>
          </p:style>
        </p:cxnSp>
        <p:sp>
          <p:nvSpPr>
            <p:cNvPr id="153" name="任意多边形: 形状 256"/>
            <p:cNvSpPr/>
            <p:nvPr/>
          </p:nvSpPr>
          <p:spPr>
            <a:xfrm flipV="1">
              <a:off x="11586101" y="3977542"/>
              <a:ext cx="168314" cy="176200"/>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54" name="直接连接符 153"/>
            <p:cNvCxnSpPr/>
            <p:nvPr/>
          </p:nvCxnSpPr>
          <p:spPr>
            <a:xfrm>
              <a:off x="11772251" y="4149460"/>
              <a:ext cx="0" cy="2799633"/>
            </a:xfrm>
            <a:prstGeom prst="line">
              <a:avLst/>
            </a:prstGeom>
            <a:ln w="63500" cap="sq">
              <a:solidFill>
                <a:srgbClr val="59B2FF"/>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4391673" y="5021016"/>
              <a:ext cx="0" cy="1928077"/>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直接连接符 155"/>
            <p:cNvCxnSpPr/>
            <p:nvPr/>
          </p:nvCxnSpPr>
          <p:spPr>
            <a:xfrm>
              <a:off x="4391673" y="6959684"/>
              <a:ext cx="7379146"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7" name="直接连接符 156"/>
            <p:cNvCxnSpPr/>
            <p:nvPr/>
          </p:nvCxnSpPr>
          <p:spPr>
            <a:xfrm>
              <a:off x="10581229" y="4289705"/>
              <a:ext cx="732011"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8" name="直接连接符 157"/>
            <p:cNvCxnSpPr/>
            <p:nvPr/>
          </p:nvCxnSpPr>
          <p:spPr>
            <a:xfrm>
              <a:off x="3493075" y="4009114"/>
              <a:ext cx="545607"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grpSp>
          <p:nvGrpSpPr>
            <p:cNvPr id="159" name="组合 158"/>
            <p:cNvGrpSpPr/>
            <p:nvPr/>
          </p:nvGrpSpPr>
          <p:grpSpPr>
            <a:xfrm>
              <a:off x="2584594" y="3861815"/>
              <a:ext cx="944542" cy="934233"/>
              <a:chOff x="2153669" y="3768090"/>
              <a:chExt cx="981236" cy="897164"/>
            </a:xfrm>
          </p:grpSpPr>
          <p:sp>
            <p:nvSpPr>
              <p:cNvPr id="163" name="矩形 162"/>
              <p:cNvSpPr/>
              <p:nvPr/>
            </p:nvSpPr>
            <p:spPr>
              <a:xfrm>
                <a:off x="2672635" y="3769167"/>
                <a:ext cx="462270" cy="300364"/>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4" name="矩形 163"/>
              <p:cNvSpPr/>
              <p:nvPr/>
            </p:nvSpPr>
            <p:spPr>
              <a:xfrm>
                <a:off x="2153669" y="3768090"/>
                <a:ext cx="337571" cy="300364"/>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5" name="矩形 164"/>
              <p:cNvSpPr/>
              <p:nvPr/>
            </p:nvSpPr>
            <p:spPr>
              <a:xfrm>
                <a:off x="2247903" y="4158046"/>
                <a:ext cx="760851" cy="507208"/>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160" name="直接连接符 159"/>
            <p:cNvCxnSpPr/>
            <p:nvPr/>
          </p:nvCxnSpPr>
          <p:spPr>
            <a:xfrm>
              <a:off x="2250097" y="3993971"/>
              <a:ext cx="343074" cy="0"/>
            </a:xfrm>
            <a:prstGeom prst="line">
              <a:avLst/>
            </a:prstGeom>
            <a:ln w="63500">
              <a:solidFill>
                <a:srgbClr val="59B2FF"/>
              </a:solidFill>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rot="16200000">
              <a:off x="8123340" y="4140856"/>
              <a:ext cx="559949" cy="312774"/>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32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cxnSp>
          <p:nvCxnSpPr>
            <p:cNvPr id="162" name="直接连接符 161"/>
            <p:cNvCxnSpPr/>
            <p:nvPr/>
          </p:nvCxnSpPr>
          <p:spPr>
            <a:xfrm flipV="1">
              <a:off x="11313240" y="4162872"/>
              <a:ext cx="264796" cy="120138"/>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66" name="直接连接符 165"/>
          <p:cNvCxnSpPr/>
          <p:nvPr/>
        </p:nvCxnSpPr>
        <p:spPr>
          <a:xfrm>
            <a:off x="3890320" y="4498490"/>
            <a:ext cx="1053380"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7" name="直接连接符 166"/>
          <p:cNvCxnSpPr/>
          <p:nvPr/>
        </p:nvCxnSpPr>
        <p:spPr>
          <a:xfrm>
            <a:off x="6160636" y="4432259"/>
            <a:ext cx="625599"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8" name="直接连接符 167"/>
          <p:cNvCxnSpPr/>
          <p:nvPr/>
        </p:nvCxnSpPr>
        <p:spPr>
          <a:xfrm>
            <a:off x="6795880" y="3232874"/>
            <a:ext cx="0" cy="1199386"/>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9" name="直接连接符 168"/>
          <p:cNvCxnSpPr/>
          <p:nvPr/>
        </p:nvCxnSpPr>
        <p:spPr>
          <a:xfrm>
            <a:off x="6799856" y="3232874"/>
            <a:ext cx="250210" cy="0"/>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直接连接符 169"/>
          <p:cNvCxnSpPr/>
          <p:nvPr/>
        </p:nvCxnSpPr>
        <p:spPr>
          <a:xfrm>
            <a:off x="4224930" y="2854920"/>
            <a:ext cx="0" cy="221255"/>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sp>
        <p:nvSpPr>
          <p:cNvPr id="171" name="矩形 170"/>
          <p:cNvSpPr/>
          <p:nvPr/>
        </p:nvSpPr>
        <p:spPr>
          <a:xfrm>
            <a:off x="1419938" y="2288580"/>
            <a:ext cx="269626" cy="50077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72" name="直接连接符 171"/>
          <p:cNvCxnSpPr/>
          <p:nvPr/>
        </p:nvCxnSpPr>
        <p:spPr>
          <a:xfrm flipV="1">
            <a:off x="10788202" y="2707397"/>
            <a:ext cx="251066" cy="113909"/>
          </a:xfrm>
          <a:prstGeom prst="line">
            <a:avLst/>
          </a:prstGeom>
          <a:noFill/>
          <a:ln w="63500" cap="sq">
            <a:solidFill>
              <a:srgbClr val="59B2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73" name="直接连接符 172"/>
          <p:cNvCxnSpPr/>
          <p:nvPr/>
        </p:nvCxnSpPr>
        <p:spPr>
          <a:xfrm>
            <a:off x="4228585" y="3521332"/>
            <a:ext cx="658040" cy="0"/>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4" name="直接连接符 173"/>
          <p:cNvCxnSpPr/>
          <p:nvPr/>
        </p:nvCxnSpPr>
        <p:spPr>
          <a:xfrm>
            <a:off x="6241712" y="2566078"/>
            <a:ext cx="1476815" cy="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8154828" y="2840108"/>
            <a:ext cx="1160567"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4228584" y="3521332"/>
            <a:ext cx="0" cy="1828103"/>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7" name="直接连接符 176"/>
          <p:cNvCxnSpPr/>
          <p:nvPr/>
        </p:nvCxnSpPr>
        <p:spPr>
          <a:xfrm>
            <a:off x="4228584" y="5359476"/>
            <a:ext cx="6996524" cy="0"/>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8" name="直接连接符 177"/>
          <p:cNvCxnSpPr/>
          <p:nvPr/>
        </p:nvCxnSpPr>
        <p:spPr>
          <a:xfrm>
            <a:off x="10097582" y="2826613"/>
            <a:ext cx="694055" cy="0"/>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9" name="直接连接符 178"/>
          <p:cNvCxnSpPr/>
          <p:nvPr/>
        </p:nvCxnSpPr>
        <p:spPr>
          <a:xfrm>
            <a:off x="3363286" y="2566455"/>
            <a:ext cx="1519613" cy="0"/>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0" name="直接连接符 179"/>
          <p:cNvCxnSpPr/>
          <p:nvPr/>
        </p:nvCxnSpPr>
        <p:spPr>
          <a:xfrm>
            <a:off x="2198053" y="2547541"/>
            <a:ext cx="325285"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V="1">
            <a:off x="10813726" y="2696099"/>
            <a:ext cx="251066" cy="113909"/>
          </a:xfrm>
          <a:prstGeom prst="line">
            <a:avLst/>
          </a:pr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grpSp>
        <p:nvGrpSpPr>
          <p:cNvPr id="182" name="组合 181"/>
          <p:cNvGrpSpPr/>
          <p:nvPr/>
        </p:nvGrpSpPr>
        <p:grpSpPr>
          <a:xfrm>
            <a:off x="11042822" y="2527229"/>
            <a:ext cx="183644" cy="2822205"/>
            <a:chOff x="11574941" y="3966951"/>
            <a:chExt cx="193687" cy="2976544"/>
          </a:xfrm>
        </p:grpSpPr>
        <p:cxnSp>
          <p:nvCxnSpPr>
            <p:cNvPr id="183" name="直接连接符 182"/>
            <p:cNvCxnSpPr/>
            <p:nvPr/>
          </p:nvCxnSpPr>
          <p:spPr>
            <a:xfrm>
              <a:off x="11768628" y="4143862"/>
              <a:ext cx="0" cy="2799633"/>
            </a:xfrm>
            <a:prstGeom prst="line">
              <a:avLst/>
            </a:prstGeom>
            <a:ln w="63500" cap="sq">
              <a:solidFill>
                <a:srgbClr val="FF0000"/>
              </a:solidFill>
            </a:ln>
          </p:spPr>
          <p:style>
            <a:lnRef idx="1">
              <a:schemeClr val="accent1"/>
            </a:lnRef>
            <a:fillRef idx="0">
              <a:schemeClr val="accent1"/>
            </a:fillRef>
            <a:effectRef idx="0">
              <a:schemeClr val="accent1"/>
            </a:effectRef>
            <a:fontRef idx="minor">
              <a:schemeClr val="tx1"/>
            </a:fontRef>
          </p:style>
        </p:cxnSp>
        <p:sp>
          <p:nvSpPr>
            <p:cNvPr id="184" name="任意多边形: 形状 256"/>
            <p:cNvSpPr/>
            <p:nvPr/>
          </p:nvSpPr>
          <p:spPr>
            <a:xfrm flipV="1">
              <a:off x="11574941" y="3966951"/>
              <a:ext cx="168314" cy="176200"/>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63500" cap="sq">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86" name="文本框 185"/>
          <p:cNvSpPr txBox="1"/>
          <p:nvPr/>
        </p:nvSpPr>
        <p:spPr>
          <a:xfrm>
            <a:off x="4798789" y="1338185"/>
            <a:ext cx="1508746" cy="4424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regfile_read</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87" name="文本框 186"/>
          <p:cNvSpPr txBox="1"/>
          <p:nvPr/>
        </p:nvSpPr>
        <p:spPr>
          <a:xfrm>
            <a:off x="2477465" y="1375661"/>
            <a:ext cx="848309" cy="4424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88" name="文本框 187"/>
          <p:cNvSpPr txBox="1"/>
          <p:nvPr/>
        </p:nvSpPr>
        <p:spPr>
          <a:xfrm>
            <a:off x="7529723" y="1365575"/>
            <a:ext cx="660758" cy="4424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89" name="文本框 188"/>
          <p:cNvSpPr txBox="1"/>
          <p:nvPr/>
        </p:nvSpPr>
        <p:spPr>
          <a:xfrm>
            <a:off x="9164979" y="1350466"/>
            <a:ext cx="848309" cy="4424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90" name="文本框 189"/>
          <p:cNvSpPr txBox="1"/>
          <p:nvPr/>
        </p:nvSpPr>
        <p:spPr>
          <a:xfrm>
            <a:off x="10563994" y="1375661"/>
            <a:ext cx="1537335" cy="4419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regfile_write</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191" name="文本框 190"/>
          <p:cNvSpPr txBox="1"/>
          <p:nvPr/>
        </p:nvSpPr>
        <p:spPr>
          <a:xfrm>
            <a:off x="4220669" y="3579538"/>
            <a:ext cx="902811" cy="4424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75" b="0" i="0" u="none" strike="noStrike" kern="1200" cap="none" spc="0" normalizeH="0" baseline="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T</a:t>
            </a:r>
            <a:r>
              <a:rPr kumimoji="0" lang="en-US" altLang="zh-CN" sz="2275" b="0" i="0" u="none" strike="noStrike" kern="1200" cap="none" spc="0" normalizeH="0" baseline="-25000" noProof="0" dirty="0" err="1">
                <a:ln>
                  <a:noFill/>
                </a:ln>
                <a:solidFill>
                  <a:srgbClr val="FF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setup</a:t>
            </a:r>
            <a:endParaRPr kumimoji="0" lang="zh-CN" altLang="en-US" sz="2275" b="0" i="0" u="none" strike="noStrike" kern="1200" cap="none" spc="0" normalizeH="0" baseline="-25000" noProof="0" dirty="0">
              <a:ln>
                <a:noFill/>
              </a:ln>
              <a:solidFill>
                <a:srgbClr val="FF0000"/>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cxnSp>
        <p:nvCxnSpPr>
          <p:cNvPr id="192" name="直接连接符 191"/>
          <p:cNvCxnSpPr/>
          <p:nvPr/>
        </p:nvCxnSpPr>
        <p:spPr>
          <a:xfrm>
            <a:off x="7886688" y="1913043"/>
            <a:ext cx="0" cy="521494"/>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3" name="直接连接符 192"/>
          <p:cNvCxnSpPr/>
          <p:nvPr/>
        </p:nvCxnSpPr>
        <p:spPr>
          <a:xfrm>
            <a:off x="10913585" y="1913043"/>
            <a:ext cx="0" cy="567412"/>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nvGrpSpPr>
          <p:cNvPr id="194" name="组合 193"/>
          <p:cNvGrpSpPr/>
          <p:nvPr/>
        </p:nvGrpSpPr>
        <p:grpSpPr>
          <a:xfrm>
            <a:off x="4883012" y="2167212"/>
            <a:ext cx="1432231" cy="1913280"/>
            <a:chOff x="5081485" y="3587547"/>
            <a:chExt cx="1510556" cy="2017912"/>
          </a:xfrm>
        </p:grpSpPr>
        <p:sp>
          <p:nvSpPr>
            <p:cNvPr id="195" name="矩形 194"/>
            <p:cNvSpPr/>
            <p:nvPr/>
          </p:nvSpPr>
          <p:spPr>
            <a:xfrm>
              <a:off x="5102472" y="3624635"/>
              <a:ext cx="1417422" cy="1620000"/>
            </a:xfrm>
            <a:prstGeom prst="rect">
              <a:avLst/>
            </a:prstGeom>
            <a:solidFill>
              <a:srgbClr val="FFCC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6" name="矩形 195"/>
            <p:cNvSpPr/>
            <p:nvPr/>
          </p:nvSpPr>
          <p:spPr>
            <a:xfrm>
              <a:off x="5087028" y="3846399"/>
              <a:ext cx="494014"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7" name="矩形 196"/>
            <p:cNvSpPr/>
            <p:nvPr/>
          </p:nvSpPr>
          <p:spPr>
            <a:xfrm>
              <a:off x="5088159" y="4167250"/>
              <a:ext cx="494014"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R2#</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8" name="矩形 197"/>
            <p:cNvSpPr/>
            <p:nvPr/>
          </p:nvSpPr>
          <p:spPr>
            <a:xfrm>
              <a:off x="5081485" y="4515214"/>
              <a:ext cx="453438"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9" name="矩形 198"/>
            <p:cNvSpPr/>
            <p:nvPr/>
          </p:nvSpPr>
          <p:spPr>
            <a:xfrm>
              <a:off x="5087028" y="4869877"/>
              <a:ext cx="494014"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00" name="矩形 199"/>
            <p:cNvSpPr/>
            <p:nvPr/>
          </p:nvSpPr>
          <p:spPr>
            <a:xfrm>
              <a:off x="5607659" y="3587547"/>
              <a:ext cx="473726"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WE</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01" name="矩形 200"/>
            <p:cNvSpPr/>
            <p:nvPr/>
          </p:nvSpPr>
          <p:spPr>
            <a:xfrm>
              <a:off x="5461813" y="4623794"/>
              <a:ext cx="911609" cy="31277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寄存器堆</a:t>
              </a:r>
              <a:endParaRPr kumimoji="0" lang="zh-CN" altLang="en-US" sz="1325"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2" name="矩形 201"/>
            <p:cNvSpPr/>
            <p:nvPr/>
          </p:nvSpPr>
          <p:spPr>
            <a:xfrm>
              <a:off x="6187634" y="3856669"/>
              <a:ext cx="404407"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R1</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03" name="矩形 202"/>
            <p:cNvSpPr/>
            <p:nvPr/>
          </p:nvSpPr>
          <p:spPr>
            <a:xfrm>
              <a:off x="6179493" y="4276124"/>
              <a:ext cx="404407"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R2</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204" name="组合 203"/>
            <p:cNvGrpSpPr/>
            <p:nvPr/>
          </p:nvGrpSpPr>
          <p:grpSpPr>
            <a:xfrm>
              <a:off x="5532327" y="5118027"/>
              <a:ext cx="534589" cy="487432"/>
              <a:chOff x="1853728" y="4285666"/>
              <a:chExt cx="534589" cy="487432"/>
            </a:xfrm>
            <a:solidFill>
              <a:srgbClr val="FFCCFF"/>
            </a:solidFill>
          </p:grpSpPr>
          <p:cxnSp>
            <p:nvCxnSpPr>
              <p:cNvPr id="205" name="直接连接符 204"/>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6" name="矩形 205"/>
              <p:cNvSpPr/>
              <p:nvPr/>
            </p:nvSpPr>
            <p:spPr>
              <a:xfrm>
                <a:off x="1853728" y="4460324"/>
                <a:ext cx="534589" cy="31277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rPr>
                  <a:t>CLK</a:t>
                </a:r>
                <a:endParaRPr kumimoji="0" lang="zh-CN" altLang="en-US" sz="1325" b="0" i="1"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07" name="等腰三角形 206"/>
              <p:cNvSpPr/>
              <p:nvPr/>
            </p:nvSpPr>
            <p:spPr>
              <a:xfrm>
                <a:off x="1994241" y="4285666"/>
                <a:ext cx="217225" cy="122111"/>
              </a:xfrm>
              <a:prstGeom prst="triangl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08" name="组合 207"/>
          <p:cNvGrpSpPr/>
          <p:nvPr/>
        </p:nvGrpSpPr>
        <p:grpSpPr>
          <a:xfrm>
            <a:off x="2515586" y="2242851"/>
            <a:ext cx="895565" cy="1370404"/>
            <a:chOff x="2153669" y="3581315"/>
            <a:chExt cx="981236" cy="1387999"/>
          </a:xfrm>
        </p:grpSpPr>
        <p:sp>
          <p:nvSpPr>
            <p:cNvPr id="209" name="矩形 208"/>
            <p:cNvSpPr/>
            <p:nvPr/>
          </p:nvSpPr>
          <p:spPr>
            <a:xfrm>
              <a:off x="2162582" y="3581315"/>
              <a:ext cx="920297" cy="1387999"/>
            </a:xfrm>
            <a:prstGeom prst="rect">
              <a:avLst/>
            </a:prstGeom>
            <a:solidFill>
              <a:srgbClr val="79F5F9"/>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0" name="矩形 209"/>
            <p:cNvSpPr/>
            <p:nvPr/>
          </p:nvSpPr>
          <p:spPr>
            <a:xfrm>
              <a:off x="2672635" y="3769167"/>
              <a:ext cx="462270" cy="30036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11" name="矩形 210"/>
            <p:cNvSpPr/>
            <p:nvPr/>
          </p:nvSpPr>
          <p:spPr>
            <a:xfrm>
              <a:off x="2153669" y="3768090"/>
              <a:ext cx="337571" cy="30036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12" name="矩形 211"/>
            <p:cNvSpPr/>
            <p:nvPr/>
          </p:nvSpPr>
          <p:spPr>
            <a:xfrm>
              <a:off x="2247904" y="4158047"/>
              <a:ext cx="760851" cy="50720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09" name="组合 108"/>
          <p:cNvGrpSpPr/>
          <p:nvPr/>
        </p:nvGrpSpPr>
        <p:grpSpPr>
          <a:xfrm>
            <a:off x="4974942" y="4286009"/>
            <a:ext cx="1159685" cy="332420"/>
            <a:chOff x="5178444" y="5822218"/>
            <a:chExt cx="1223105" cy="350599"/>
          </a:xfrm>
        </p:grpSpPr>
        <p:sp>
          <p:nvSpPr>
            <p:cNvPr id="110" name="流程图: 手动输入 146"/>
            <p:cNvSpPr/>
            <p:nvPr/>
          </p:nvSpPr>
          <p:spPr>
            <a:xfrm>
              <a:off x="5178444" y="5822218"/>
              <a:ext cx="1223105" cy="30849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9483 h 17483"/>
                <a:gd name="connsiteX1-3" fmla="*/ 10000 w 10000"/>
                <a:gd name="connsiteY1-4" fmla="*/ 0 h 17483"/>
                <a:gd name="connsiteX2-5" fmla="*/ 10000 w 10000"/>
                <a:gd name="connsiteY2-6" fmla="*/ 17483 h 17483"/>
                <a:gd name="connsiteX3-7" fmla="*/ 0 w 10000"/>
                <a:gd name="connsiteY3-8" fmla="*/ 17483 h 17483"/>
                <a:gd name="connsiteX4-9" fmla="*/ 0 w 10000"/>
                <a:gd name="connsiteY4-10" fmla="*/ 9483 h 17483"/>
                <a:gd name="connsiteX0-11" fmla="*/ 0 w 10000"/>
                <a:gd name="connsiteY0-12" fmla="*/ 5355 h 13355"/>
                <a:gd name="connsiteX1-13" fmla="*/ 10000 w 10000"/>
                <a:gd name="connsiteY1-14" fmla="*/ 0 h 13355"/>
                <a:gd name="connsiteX2-15" fmla="*/ 10000 w 10000"/>
                <a:gd name="connsiteY2-16" fmla="*/ 13355 h 13355"/>
                <a:gd name="connsiteX3-17" fmla="*/ 0 w 10000"/>
                <a:gd name="connsiteY3-18" fmla="*/ 13355 h 13355"/>
                <a:gd name="connsiteX4-19" fmla="*/ 0 w 10000"/>
                <a:gd name="connsiteY4-20" fmla="*/ 5355 h 133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3355">
                  <a:moveTo>
                    <a:pt x="0" y="5355"/>
                  </a:moveTo>
                  <a:lnTo>
                    <a:pt x="10000" y="0"/>
                  </a:lnTo>
                  <a:lnTo>
                    <a:pt x="10000" y="13355"/>
                  </a:lnTo>
                  <a:lnTo>
                    <a:pt x="0" y="13355"/>
                  </a:lnTo>
                  <a:lnTo>
                    <a:pt x="0" y="5355"/>
                  </a:lnTo>
                  <a:close/>
                </a:path>
              </a:pathLst>
            </a:custGeom>
            <a:solidFill>
              <a:srgbClr val="FFC0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1" name="矩形 110"/>
            <p:cNvSpPr/>
            <p:nvPr/>
          </p:nvSpPr>
          <p:spPr>
            <a:xfrm>
              <a:off x="5259637" y="5860043"/>
              <a:ext cx="1075603" cy="31277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Sign Extend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9" name="组合 48"/>
          <p:cNvGrpSpPr/>
          <p:nvPr/>
        </p:nvGrpSpPr>
        <p:grpSpPr>
          <a:xfrm>
            <a:off x="9253349" y="2269915"/>
            <a:ext cx="869365" cy="1361582"/>
            <a:chOff x="2106940" y="3477998"/>
            <a:chExt cx="952529" cy="1491834"/>
          </a:xfrm>
        </p:grpSpPr>
        <p:sp>
          <p:nvSpPr>
            <p:cNvPr id="50" name="矩形 49"/>
            <p:cNvSpPr/>
            <p:nvPr/>
          </p:nvSpPr>
          <p:spPr>
            <a:xfrm>
              <a:off x="2162583" y="3477998"/>
              <a:ext cx="828902" cy="1491834"/>
            </a:xfrm>
            <a:prstGeom prst="rect">
              <a:avLst/>
            </a:prstGeom>
            <a:solidFill>
              <a:srgbClr val="79F5F9"/>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1" name="矩形 50"/>
            <p:cNvSpPr/>
            <p:nvPr/>
          </p:nvSpPr>
          <p:spPr>
            <a:xfrm>
              <a:off x="2317534" y="3480984"/>
              <a:ext cx="492129" cy="3249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WE</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2" name="矩形 51"/>
            <p:cNvSpPr/>
            <p:nvPr/>
          </p:nvSpPr>
          <p:spPr>
            <a:xfrm>
              <a:off x="2597199" y="3861428"/>
              <a:ext cx="462270" cy="3249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3" name="矩形 52"/>
            <p:cNvSpPr/>
            <p:nvPr/>
          </p:nvSpPr>
          <p:spPr>
            <a:xfrm>
              <a:off x="2146656" y="3834566"/>
              <a:ext cx="337571" cy="3249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矩形 53"/>
            <p:cNvSpPr/>
            <p:nvPr/>
          </p:nvSpPr>
          <p:spPr>
            <a:xfrm>
              <a:off x="2182706" y="4068361"/>
              <a:ext cx="760851" cy="54868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a:t>
              </a:r>
              <a:endParaRPr kumimoji="0" lang="en-US" altLang="zh-CN"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zh-CN" altLang="en-US" sz="1325"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矩形 54"/>
            <p:cNvSpPr/>
            <p:nvPr/>
          </p:nvSpPr>
          <p:spPr>
            <a:xfrm>
              <a:off x="2106940" y="4556521"/>
              <a:ext cx="513205" cy="32492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WD</a:t>
              </a:r>
              <a:endParaRPr kumimoji="0" lang="zh-CN" altLang="en-US" sz="1325"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5" name="矩形 14"/>
          <p:cNvSpPr/>
          <p:nvPr/>
        </p:nvSpPr>
        <p:spPr>
          <a:xfrm>
            <a:off x="1954299" y="2333647"/>
            <a:ext cx="239223" cy="429550"/>
          </a:xfrm>
          <a:prstGeom prst="rect">
            <a:avLst/>
          </a:prstGeom>
          <a:solidFill>
            <a:srgbClr val="59B2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6" name="直接连接符 15"/>
          <p:cNvCxnSpPr/>
          <p:nvPr/>
        </p:nvCxnSpPr>
        <p:spPr>
          <a:xfrm flipV="1">
            <a:off x="2074615" y="2766430"/>
            <a:ext cx="0" cy="9562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874310" y="2013088"/>
            <a:ext cx="434734" cy="32579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1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51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sp>
        <p:nvSpPr>
          <p:cNvPr id="77" name="等腰三角形 76"/>
          <p:cNvSpPr/>
          <p:nvPr/>
        </p:nvSpPr>
        <p:spPr>
          <a:xfrm>
            <a:off x="1971636" y="2645745"/>
            <a:ext cx="205961" cy="115779"/>
          </a:xfrm>
          <a:prstGeom prst="triangle">
            <a:avLst/>
          </a:prstGeom>
          <a:solidFill>
            <a:srgbClr val="59B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5"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99" name="直接连接符 98"/>
          <p:cNvCxnSpPr/>
          <p:nvPr/>
        </p:nvCxnSpPr>
        <p:spPr>
          <a:xfrm flipV="1">
            <a:off x="2074615" y="2766430"/>
            <a:ext cx="0" cy="9562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1" name="矩形 100"/>
          <p:cNvSpPr/>
          <p:nvPr/>
        </p:nvSpPr>
        <p:spPr>
          <a:xfrm>
            <a:off x="1874310" y="2013088"/>
            <a:ext cx="434734" cy="32579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15"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515" b="0" i="0" u="none" strike="noStrike" kern="1200" cap="none" spc="0" normalizeH="0" baseline="0" noProof="0" dirty="0">
              <a:ln>
                <a:noFill/>
              </a:ln>
              <a:solidFill>
                <a:prstClr val="black"/>
              </a:solidFill>
              <a:effectLst/>
              <a:uLnTx/>
              <a:uFillTx/>
              <a:latin typeface="Segoe UI Black" panose="020B0A02040204020203" pitchFamily="34" charset="0"/>
              <a:ea typeface="等线" panose="02010600030101010101" charset="-122"/>
              <a:cs typeface="Segoe UI Black" panose="020B0A02040204020203" pitchFamily="34" charset="0"/>
            </a:endParaRPr>
          </a:p>
        </p:txBody>
      </p:sp>
      <p:grpSp>
        <p:nvGrpSpPr>
          <p:cNvPr id="214" name="组合 213"/>
          <p:cNvGrpSpPr/>
          <p:nvPr/>
        </p:nvGrpSpPr>
        <p:grpSpPr>
          <a:xfrm>
            <a:off x="1299675" y="5528976"/>
            <a:ext cx="9079865" cy="831850"/>
            <a:chOff x="1419690" y="5731541"/>
            <a:chExt cx="9079865" cy="831850"/>
          </a:xfrm>
        </p:grpSpPr>
        <p:sp>
          <p:nvSpPr>
            <p:cNvPr id="3" name="矩形 2"/>
            <p:cNvSpPr/>
            <p:nvPr/>
          </p:nvSpPr>
          <p:spPr>
            <a:xfrm>
              <a:off x="1768940" y="5731541"/>
              <a:ext cx="8126095" cy="831850"/>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3" name="TextBox 24"/>
            <p:cNvSpPr txBox="1"/>
            <p:nvPr/>
          </p:nvSpPr>
          <p:spPr>
            <a:xfrm>
              <a:off x="1419690" y="5792433"/>
              <a:ext cx="9079865" cy="645160"/>
            </a:xfrm>
            <a:prstGeom prst="rect">
              <a:avLst/>
            </a:prstGeom>
            <a:noFill/>
          </p:spPr>
          <p:txBody>
            <a:bodyPr wrap="square" rtlCol="0">
              <a:spAutoFit/>
            </a:bodyPr>
            <a:lstStyle/>
            <a:p>
              <a:pPr marL="457200" marR="0" lvl="1" indent="0" algn="l" defTabSz="914400" rtl="0" eaLnBrk="1" fontAlgn="auto" latinLnBrk="0" hangingPunct="1">
                <a:lnSpc>
                  <a:spcPct val="150000"/>
                </a:lnSpc>
                <a:spcBef>
                  <a:spcPts val="570"/>
                </a:spcBef>
                <a:spcAft>
                  <a:spcPts val="570"/>
                </a:spcAft>
                <a:buClr>
                  <a:srgbClr val="FFC000"/>
                </a:buClr>
                <a:buSzTx/>
                <a:buFontTx/>
                <a:buNone/>
                <a:defRPr/>
              </a:pPr>
              <a:r>
                <a:rPr kumimoji="0" lang="zh-CN" altLang="en-US" sz="2400"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性能取决于最慢的指令LW(使用5个模块)，时钟周期过长</a:t>
              </a:r>
              <a:endParaRPr kumimoji="0" lang="zh-CN" altLang="en-US" sz="2400"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advTm="127087">
        <p:dissolve/>
      </p:transition>
    </mc:Choice>
    <mc:Fallback>
      <p:transition spd="slow" advTm="127087">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wipe(left)">
                                      <p:cBhvr>
                                        <p:cTn id="7" dur="500"/>
                                        <p:tgtEl>
                                          <p:spTgt spid="18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7"/>
                                        </p:tgtEl>
                                        <p:attrNameLst>
                                          <p:attrName>style.visibility</p:attrName>
                                        </p:attrNameLst>
                                      </p:cBhvr>
                                      <p:to>
                                        <p:strVal val="visible"/>
                                      </p:to>
                                    </p:set>
                                    <p:animEffect transition="in" filter="wipe(left)">
                                      <p:cBhvr>
                                        <p:cTn id="11" dur="500"/>
                                        <p:tgtEl>
                                          <p:spTgt spid="18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9"/>
                                        </p:tgtEl>
                                        <p:attrNameLst>
                                          <p:attrName>style.visibility</p:attrName>
                                        </p:attrNameLst>
                                      </p:cBhvr>
                                      <p:to>
                                        <p:strVal val="visible"/>
                                      </p:to>
                                    </p:set>
                                    <p:animEffect transition="in" filter="wipe(left)">
                                      <p:cBhvr>
                                        <p:cTn id="15" dur="500"/>
                                        <p:tgtEl>
                                          <p:spTgt spid="17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6"/>
                                        </p:tgtEl>
                                        <p:attrNameLst>
                                          <p:attrName>style.visibility</p:attrName>
                                        </p:attrNameLst>
                                      </p:cBhvr>
                                      <p:to>
                                        <p:strVal val="visible"/>
                                      </p:to>
                                    </p:set>
                                    <p:animEffect transition="in" filter="wipe(left)">
                                      <p:cBhvr>
                                        <p:cTn id="20" dur="500"/>
                                        <p:tgtEl>
                                          <p:spTgt spid="186"/>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74"/>
                                        </p:tgtEl>
                                        <p:attrNameLst>
                                          <p:attrName>style.visibility</p:attrName>
                                        </p:attrNameLst>
                                      </p:cBhvr>
                                      <p:to>
                                        <p:strVal val="visible"/>
                                      </p:to>
                                    </p:set>
                                    <p:animEffect transition="in" filter="wipe(left)">
                                      <p:cBhvr>
                                        <p:cTn id="24" dur="500"/>
                                        <p:tgtEl>
                                          <p:spTgt spid="17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8"/>
                                        </p:tgtEl>
                                        <p:attrNameLst>
                                          <p:attrName>style.visibility</p:attrName>
                                        </p:attrNameLst>
                                      </p:cBhvr>
                                      <p:to>
                                        <p:strVal val="visible"/>
                                      </p:to>
                                    </p:set>
                                    <p:animEffect transition="in" filter="wipe(left)">
                                      <p:cBhvr>
                                        <p:cTn id="29" dur="500"/>
                                        <p:tgtEl>
                                          <p:spTgt spid="18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75"/>
                                        </p:tgtEl>
                                        <p:attrNameLst>
                                          <p:attrName>style.visibility</p:attrName>
                                        </p:attrNameLst>
                                      </p:cBhvr>
                                      <p:to>
                                        <p:strVal val="visible"/>
                                      </p:to>
                                    </p:set>
                                    <p:animEffect transition="in" filter="wipe(left)">
                                      <p:cBhvr>
                                        <p:cTn id="33" dur="500"/>
                                        <p:tgtEl>
                                          <p:spTgt spid="17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9"/>
                                        </p:tgtEl>
                                        <p:attrNameLst>
                                          <p:attrName>style.visibility</p:attrName>
                                        </p:attrNameLst>
                                      </p:cBhvr>
                                      <p:to>
                                        <p:strVal val="visible"/>
                                      </p:to>
                                    </p:set>
                                    <p:animEffect transition="in" filter="wipe(left)">
                                      <p:cBhvr>
                                        <p:cTn id="38" dur="500"/>
                                        <p:tgtEl>
                                          <p:spTgt spid="189"/>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78"/>
                                        </p:tgtEl>
                                        <p:attrNameLst>
                                          <p:attrName>style.visibility</p:attrName>
                                        </p:attrNameLst>
                                      </p:cBhvr>
                                      <p:to>
                                        <p:strVal val="visible"/>
                                      </p:to>
                                    </p:set>
                                    <p:animEffect transition="in" filter="wipe(left)">
                                      <p:cBhvr>
                                        <p:cTn id="42" dur="500"/>
                                        <p:tgtEl>
                                          <p:spTgt spid="17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0"/>
                                        </p:tgtEl>
                                        <p:attrNameLst>
                                          <p:attrName>style.visibility</p:attrName>
                                        </p:attrNameLst>
                                      </p:cBhvr>
                                      <p:to>
                                        <p:strVal val="visible"/>
                                      </p:to>
                                    </p:set>
                                    <p:animEffect transition="in" filter="wipe(left)">
                                      <p:cBhvr>
                                        <p:cTn id="47" dur="500"/>
                                        <p:tgtEl>
                                          <p:spTgt spid="190"/>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81"/>
                                        </p:tgtEl>
                                        <p:attrNameLst>
                                          <p:attrName>style.visibility</p:attrName>
                                        </p:attrNameLst>
                                      </p:cBhvr>
                                      <p:to>
                                        <p:strVal val="visible"/>
                                      </p:to>
                                    </p:set>
                                    <p:animEffect transition="in" filter="wipe(left)">
                                      <p:cBhvr>
                                        <p:cTn id="51" dur="500"/>
                                        <p:tgtEl>
                                          <p:spTgt spid="181"/>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182"/>
                                        </p:tgtEl>
                                        <p:attrNameLst>
                                          <p:attrName>style.visibility</p:attrName>
                                        </p:attrNameLst>
                                      </p:cBhvr>
                                      <p:to>
                                        <p:strVal val="visible"/>
                                      </p:to>
                                    </p:set>
                                    <p:animEffect transition="in" filter="wipe(up)">
                                      <p:cBhvr>
                                        <p:cTn id="55" dur="500"/>
                                        <p:tgtEl>
                                          <p:spTgt spid="182"/>
                                        </p:tgtEl>
                                      </p:cBhvr>
                                    </p:animEffect>
                                  </p:childTnLst>
                                </p:cTn>
                              </p:par>
                            </p:childTnLst>
                          </p:cTn>
                        </p:par>
                        <p:par>
                          <p:cTn id="56" fill="hold">
                            <p:stCondLst>
                              <p:cond delay="1500"/>
                            </p:stCondLst>
                            <p:childTnLst>
                              <p:par>
                                <p:cTn id="57" presetID="22" presetClass="entr" presetSubtype="2" fill="hold" nodeType="afterEffect">
                                  <p:stCondLst>
                                    <p:cond delay="0"/>
                                  </p:stCondLst>
                                  <p:childTnLst>
                                    <p:set>
                                      <p:cBhvr>
                                        <p:cTn id="58" dur="1" fill="hold">
                                          <p:stCondLst>
                                            <p:cond delay="0"/>
                                          </p:stCondLst>
                                        </p:cTn>
                                        <p:tgtEl>
                                          <p:spTgt spid="177"/>
                                        </p:tgtEl>
                                        <p:attrNameLst>
                                          <p:attrName>style.visibility</p:attrName>
                                        </p:attrNameLst>
                                      </p:cBhvr>
                                      <p:to>
                                        <p:strVal val="visible"/>
                                      </p:to>
                                    </p:set>
                                    <p:animEffect transition="in" filter="wipe(right)">
                                      <p:cBhvr>
                                        <p:cTn id="59" dur="500"/>
                                        <p:tgtEl>
                                          <p:spTgt spid="177"/>
                                        </p:tgtEl>
                                      </p:cBhvr>
                                    </p:animEffect>
                                  </p:childTnLst>
                                </p:cTn>
                              </p:par>
                            </p:childTnLst>
                          </p:cTn>
                        </p:par>
                        <p:par>
                          <p:cTn id="60" fill="hold">
                            <p:stCondLst>
                              <p:cond delay="2000"/>
                            </p:stCondLst>
                            <p:childTnLst>
                              <p:par>
                                <p:cTn id="61" presetID="22" presetClass="entr" presetSubtype="4" fill="hold" nodeType="afterEffect">
                                  <p:stCondLst>
                                    <p:cond delay="0"/>
                                  </p:stCondLst>
                                  <p:childTnLst>
                                    <p:set>
                                      <p:cBhvr>
                                        <p:cTn id="62" dur="1" fill="hold">
                                          <p:stCondLst>
                                            <p:cond delay="0"/>
                                          </p:stCondLst>
                                        </p:cTn>
                                        <p:tgtEl>
                                          <p:spTgt spid="176"/>
                                        </p:tgtEl>
                                        <p:attrNameLst>
                                          <p:attrName>style.visibility</p:attrName>
                                        </p:attrNameLst>
                                      </p:cBhvr>
                                      <p:to>
                                        <p:strVal val="visible"/>
                                      </p:to>
                                    </p:set>
                                    <p:animEffect transition="in" filter="wipe(down)">
                                      <p:cBhvr>
                                        <p:cTn id="63" dur="500"/>
                                        <p:tgtEl>
                                          <p:spTgt spid="176"/>
                                        </p:tgtEl>
                                      </p:cBhvr>
                                    </p:animEffect>
                                  </p:childTnLst>
                                </p:cTn>
                              </p:par>
                            </p:childTnLst>
                          </p:cTn>
                        </p:par>
                        <p:par>
                          <p:cTn id="64" fill="hold">
                            <p:stCondLst>
                              <p:cond delay="2500"/>
                            </p:stCondLst>
                            <p:childTnLst>
                              <p:par>
                                <p:cTn id="65" presetID="22" presetClass="entr" presetSubtype="8" fill="hold" nodeType="afterEffect">
                                  <p:stCondLst>
                                    <p:cond delay="0"/>
                                  </p:stCondLst>
                                  <p:childTnLst>
                                    <p:set>
                                      <p:cBhvr>
                                        <p:cTn id="66" dur="1" fill="hold">
                                          <p:stCondLst>
                                            <p:cond delay="0"/>
                                          </p:stCondLst>
                                        </p:cTn>
                                        <p:tgtEl>
                                          <p:spTgt spid="173"/>
                                        </p:tgtEl>
                                        <p:attrNameLst>
                                          <p:attrName>style.visibility</p:attrName>
                                        </p:attrNameLst>
                                      </p:cBhvr>
                                      <p:to>
                                        <p:strVal val="visible"/>
                                      </p:to>
                                    </p:set>
                                    <p:animEffect transition="in" filter="wipe(left)">
                                      <p:cBhvr>
                                        <p:cTn id="67" dur="500"/>
                                        <p:tgtEl>
                                          <p:spTgt spid="173"/>
                                        </p:tgtEl>
                                      </p:cBhvr>
                                    </p:animEffect>
                                  </p:childTnLst>
                                </p:cTn>
                              </p:par>
                            </p:childTnLst>
                          </p:cTn>
                        </p:par>
                        <p:par>
                          <p:cTn id="68" fill="hold">
                            <p:stCondLst>
                              <p:cond delay="3000"/>
                            </p:stCondLst>
                            <p:childTnLst>
                              <p:par>
                                <p:cTn id="69" presetID="22" presetClass="entr" presetSubtype="8" fill="hold" grpId="0" nodeType="afterEffect">
                                  <p:stCondLst>
                                    <p:cond delay="0"/>
                                  </p:stCondLst>
                                  <p:childTnLst>
                                    <p:set>
                                      <p:cBhvr>
                                        <p:cTn id="70" dur="1" fill="hold">
                                          <p:stCondLst>
                                            <p:cond delay="0"/>
                                          </p:stCondLst>
                                        </p:cTn>
                                        <p:tgtEl>
                                          <p:spTgt spid="191"/>
                                        </p:tgtEl>
                                        <p:attrNameLst>
                                          <p:attrName>style.visibility</p:attrName>
                                        </p:attrNameLst>
                                      </p:cBhvr>
                                      <p:to>
                                        <p:strVal val="visible"/>
                                      </p:to>
                                    </p:set>
                                    <p:animEffect transition="in" filter="wipe(left)">
                                      <p:cBhvr>
                                        <p:cTn id="71"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P spid="187" grpId="0"/>
      <p:bldP spid="188" grpId="0"/>
      <p:bldP spid="189" grpId="0"/>
      <p:bldP spid="190" grpId="0"/>
      <p:bldP spid="19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标题 1"/>
          <p:cNvSpPr>
            <a:spLocks noGrp="1"/>
          </p:cNvSpPr>
          <p:nvPr>
            <p:ph type="title"/>
          </p:nvPr>
        </p:nvSpPr>
        <p:spPr>
          <a:xfrm>
            <a:off x="487822" y="257614"/>
            <a:ext cx="10515600" cy="617641"/>
          </a:xfrm>
        </p:spPr>
        <p:txBody>
          <a:bodyPr/>
          <a:lstStyle/>
          <a:p>
            <a:r>
              <a:rPr lang="zh-CN" altLang="en-US" dirty="0"/>
              <a:t>单周期</a:t>
            </a:r>
            <a:r>
              <a:rPr lang="en-US" altLang="zh-CN" dirty="0"/>
              <a:t>CPU </a:t>
            </a:r>
            <a:r>
              <a:rPr lang="en-US" altLang="zh-CN" dirty="0">
                <a:sym typeface="Wingdings" panose="05000000000000000000" pitchFamily="2" charset="2"/>
              </a:rPr>
              <a:t> </a:t>
            </a:r>
            <a:r>
              <a:rPr lang="zh-CN" altLang="en-US" dirty="0">
                <a:sym typeface="Wingdings" panose="05000000000000000000" pitchFamily="2" charset="2"/>
              </a:rPr>
              <a:t>多周期</a:t>
            </a:r>
            <a:r>
              <a:rPr lang="en-US" altLang="zh-CN" dirty="0">
                <a:sym typeface="Wingdings" panose="05000000000000000000" pitchFamily="2" charset="2"/>
              </a:rPr>
              <a:t>CPU</a:t>
            </a:r>
            <a:r>
              <a:rPr lang="zh-CN" altLang="en-US" dirty="0">
                <a:sym typeface="Wingdings" panose="05000000000000000000" pitchFamily="2" charset="2"/>
              </a:rPr>
              <a:t>的基本思路（加中间</a:t>
            </a:r>
            <a:r>
              <a:rPr lang="zh-CN" altLang="en-US" dirty="0">
                <a:sym typeface="Wingdings" panose="05000000000000000000" pitchFamily="2" charset="2"/>
              </a:rPr>
              <a:t>寄存器）</a:t>
            </a:r>
            <a:endParaRPr lang="zh-CN" altLang="en-US" dirty="0">
              <a:sym typeface="Wingdings" panose="05000000000000000000" pitchFamily="2" charset="2"/>
            </a:endParaRPr>
          </a:p>
        </p:txBody>
      </p:sp>
      <p:sp>
        <p:nvSpPr>
          <p:cNvPr id="1025" name="矩形 1024"/>
          <p:cNvSpPr>
            <a:spLocks noChangeAspect="1"/>
          </p:cNvSpPr>
          <p:nvPr/>
        </p:nvSpPr>
        <p:spPr>
          <a:xfrm>
            <a:off x="352425" y="1103313"/>
            <a:ext cx="11487150" cy="4781550"/>
          </a:xfrm>
          <a:prstGeom prst="rect">
            <a:avLst/>
          </a:prstGeom>
          <a:noFill/>
          <a:ln w="9525">
            <a:noFill/>
          </a:ln>
        </p:spPr>
      </p:sp>
      <p:graphicFrame>
        <p:nvGraphicFramePr>
          <p:cNvPr id="2" name="对象 1"/>
          <p:cNvGraphicFramePr/>
          <p:nvPr/>
        </p:nvGraphicFramePr>
        <p:xfrm>
          <a:off x="367030" y="1095693"/>
          <a:ext cx="11457940" cy="4666615"/>
        </p:xfrm>
        <a:graphic>
          <a:graphicData uri="http://schemas.openxmlformats.org/presentationml/2006/ole">
            <mc:AlternateContent xmlns:mc="http://schemas.openxmlformats.org/markup-compatibility/2006">
              <mc:Choice xmlns:v="urn:schemas-microsoft-com:vml" Requires="v">
                <p:oleObj spid="_x0000_s3" name="" r:id="rId1" imgW="14197965" imgH="5800725" progId="Visio.Drawing.15">
                  <p:embed/>
                </p:oleObj>
              </mc:Choice>
              <mc:Fallback>
                <p:oleObj name="" r:id="rId1" imgW="14197965" imgH="5800725" progId="Visio.Drawing.15">
                  <p:embed/>
                  <p:pic>
                    <p:nvPicPr>
                      <p:cNvPr id="0" name="图片 2"/>
                      <p:cNvPicPr/>
                      <p:nvPr/>
                    </p:nvPicPr>
                    <p:blipFill>
                      <a:blip r:embed="rId2"/>
                      <a:stretch>
                        <a:fillRect/>
                      </a:stretch>
                    </p:blipFill>
                    <p:spPr>
                      <a:xfrm>
                        <a:off x="367030" y="1095693"/>
                        <a:ext cx="11457940" cy="4666615"/>
                      </a:xfrm>
                      <a:prstGeom prst="rect">
                        <a:avLst/>
                      </a:prstGeom>
                    </p:spPr>
                  </p:pic>
                </p:oleObj>
              </mc:Fallback>
            </mc:AlternateContent>
          </a:graphicData>
        </a:graphic>
      </p:graphicFrame>
      <p:grpSp>
        <p:nvGrpSpPr>
          <p:cNvPr id="214" name="组合 213"/>
          <p:cNvGrpSpPr/>
          <p:nvPr/>
        </p:nvGrpSpPr>
        <p:grpSpPr>
          <a:xfrm>
            <a:off x="367029" y="5982970"/>
            <a:ext cx="11471910" cy="611505"/>
            <a:chOff x="353512" y="5951886"/>
            <a:chExt cx="11571612" cy="611505"/>
          </a:xfrm>
        </p:grpSpPr>
        <p:sp>
          <p:nvSpPr>
            <p:cNvPr id="4" name="矩形 3"/>
            <p:cNvSpPr/>
            <p:nvPr/>
          </p:nvSpPr>
          <p:spPr>
            <a:xfrm>
              <a:off x="475211" y="5951886"/>
              <a:ext cx="11302594" cy="611505"/>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3" name="TextBox 24"/>
            <p:cNvSpPr txBox="1"/>
            <p:nvPr/>
          </p:nvSpPr>
          <p:spPr>
            <a:xfrm>
              <a:off x="353512" y="5952521"/>
              <a:ext cx="11571612" cy="609600"/>
            </a:xfrm>
            <a:prstGeom prst="rect">
              <a:avLst/>
            </a:prstGeom>
            <a:noFill/>
          </p:spPr>
          <p:txBody>
            <a:bodyPr wrap="square" rtlCol="0">
              <a:noAutofit/>
            </a:bodyPr>
            <a:lstStyle/>
            <a:p>
              <a:pPr marL="0" marR="0" lvl="1" indent="0" algn="ctr" defTabSz="914400" rtl="0" fontAlgn="auto">
                <a:lnSpc>
                  <a:spcPct val="150000"/>
                </a:lnSpc>
                <a:spcBef>
                  <a:spcPts val="0"/>
                </a:spcBef>
                <a:spcAft>
                  <a:spcPts val="0"/>
                </a:spcAft>
                <a:buClr>
                  <a:srgbClr val="FFC000"/>
                </a:buClr>
                <a:buSzTx/>
                <a:buFontTx/>
                <a:buNone/>
                <a:defRPr/>
              </a:pPr>
              <a:r>
                <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为了讲课方便，假定</a:t>
              </a:r>
              <a:r>
                <a:rPr kumimoji="0" lang="en-US" altLang="zh-CN"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5</a:t>
              </a:r>
              <a:r>
                <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个模块的时间延迟均等于</a:t>
              </a:r>
              <a:r>
                <a:rPr kumimoji="0" lang="en-US" altLang="zh-CN"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T</a:t>
              </a:r>
              <a:r>
                <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宋体" panose="02010600030101010101" pitchFamily="2" charset="-122"/>
                  <a:cs typeface="Microsoft New Tai Lue" panose="020B0502040204020203" charset="0"/>
                  <a:sym typeface="Arial" panose="020B0604020202020204" pitchFamily="34" charset="0"/>
                </a:rPr>
                <a:t>，</a:t>
              </a:r>
              <a:r>
                <a:rPr kumimoji="0" lang="en-US" altLang="zh-CN" b="1" i="0" u="none" strike="noStrike" kern="1200" cap="none" spc="0" normalizeH="0" baseline="0" noProof="0" dirty="0">
                  <a:ln>
                    <a:noFill/>
                  </a:ln>
                  <a:solidFill>
                    <a:prstClr val="black"/>
                  </a:solidFill>
                  <a:effectLst/>
                  <a:uLnTx/>
                  <a:uFillTx/>
                  <a:latin typeface="Microsoft New Tai Lue" panose="020B0502040204020203" charset="0"/>
                  <a:ea typeface="宋体" panose="02010600030101010101" pitchFamily="2" charset="-122"/>
                  <a:cs typeface="Microsoft New Tai Lue" panose="020B0502040204020203" charset="0"/>
                  <a:sym typeface="Arial" panose="020B0604020202020204" pitchFamily="34" charset="0"/>
                </a:rPr>
                <a:t>T</a:t>
              </a:r>
              <a:r>
                <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宋体" panose="02010600030101010101" pitchFamily="2" charset="-122"/>
                  <a:cs typeface="Microsoft New Tai Lue" panose="020B0502040204020203" charset="0"/>
                  <a:sym typeface="Arial" panose="020B0604020202020204" pitchFamily="34" charset="0"/>
                </a:rPr>
                <a:t>也是时钟周期；</a:t>
              </a:r>
              <a:r>
                <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rPr>
                <a:t>每条指令用几个模块分配几个时钟周期</a:t>
              </a:r>
              <a:endParaRPr kumimoji="0" lang="zh-CN" altLang="en-US" b="1" i="0" u="none" strike="noStrike" kern="1200" cap="none" spc="0" normalizeH="0" baseline="0" noProof="0" dirty="0">
                <a:ln>
                  <a:noFill/>
                </a:ln>
                <a:solidFill>
                  <a:prstClr val="black"/>
                </a:solidFill>
                <a:effectLst/>
                <a:uLnTx/>
                <a:uFillTx/>
                <a:latin typeface="Microsoft New Tai Lue" panose="020B0502040204020203" charset="0"/>
                <a:ea typeface="Segoe UI Black" panose="020B0A02040204020203" pitchFamily="34" charset="0"/>
                <a:cs typeface="Microsoft New Tai Lue" panose="020B0502040204020203" charset="0"/>
                <a:sym typeface="Arial" panose="020B0604020202020204" pitchFamily="34" charset="0"/>
              </a:endParaRPr>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205770"/>
    </mc:Choice>
    <mc:Fallback>
      <p:transition spd="slow" advTm="20577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构建指令状态变换图</a:t>
            </a:r>
            <a:endParaRPr lang="zh-CN" altLang="en-US" dirty="0"/>
          </a:p>
        </p:txBody>
      </p:sp>
      <p:sp>
        <p:nvSpPr>
          <p:cNvPr id="4" name="内容占位符 2"/>
          <p:cNvSpPr txBox="1"/>
          <p:nvPr/>
        </p:nvSpPr>
        <p:spPr>
          <a:xfrm>
            <a:off x="7775575" y="5078095"/>
            <a:ext cx="4488180" cy="1647825"/>
          </a:xfrm>
          <a:prstGeom prst="rect">
            <a:avLst/>
          </a:prstGeom>
        </p:spPr>
        <p:txBody>
          <a:bodyPr vert="horz" lIns="91440" tIns="45720" rIns="91440" bIns="45720" rtlCol="0">
            <a:normAutofit fontScale="70000"/>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rgbClr val="C00000"/>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t>一个状态对应一个时钟周期</a:t>
            </a:r>
            <a:r>
              <a:rPr lang="en-US" altLang="zh-CN" b="1" dirty="0"/>
              <a:t>T</a:t>
            </a:r>
            <a:endParaRPr lang="zh-CN" altLang="en-US" b="1" dirty="0"/>
          </a:p>
          <a:p>
            <a:r>
              <a:rPr lang="zh-CN" altLang="en-US" b="1" dirty="0">
                <a:sym typeface="Wingdings" panose="05000000000000000000" pitchFamily="2" charset="2"/>
              </a:rPr>
              <a:t>一个状态对应一个模块</a:t>
            </a:r>
            <a:r>
              <a:rPr lang="zh-CN" altLang="en-US" b="1" dirty="0">
                <a:sym typeface="Wingdings" panose="05000000000000000000" pitchFamily="2" charset="2"/>
              </a:rPr>
              <a:t>工作</a:t>
            </a:r>
            <a:endParaRPr lang="zh-CN" altLang="en-US" b="1" dirty="0">
              <a:sym typeface="Wingdings" panose="05000000000000000000" pitchFamily="2" charset="2"/>
            </a:endParaRPr>
          </a:p>
          <a:p>
            <a:r>
              <a:rPr lang="zh-CN" altLang="en-US" b="1" dirty="0">
                <a:sym typeface="Wingdings" panose="05000000000000000000" pitchFamily="2" charset="2"/>
              </a:rPr>
              <a:t>状态值</a:t>
            </a:r>
            <a:r>
              <a:rPr lang="zh-CN" altLang="en-US" b="1" dirty="0">
                <a:sym typeface="Wingdings" panose="05000000000000000000" pitchFamily="2" charset="2"/>
              </a:rPr>
              <a:t>是微指令地址或者状态寄存器的值</a:t>
            </a:r>
            <a:endParaRPr lang="en-US" altLang="zh-CN" b="1" dirty="0">
              <a:sym typeface="Wingdings" panose="05000000000000000000" pitchFamily="2" charset="2"/>
            </a:endParaRPr>
          </a:p>
          <a:p>
            <a:endParaRPr lang="zh-CN" altLang="en-US" dirty="0"/>
          </a:p>
        </p:txBody>
      </p:sp>
      <p:pic>
        <p:nvPicPr>
          <p:cNvPr id="11" name="图片 10"/>
          <p:cNvPicPr>
            <a:picLocks noChangeAspect="1"/>
          </p:cNvPicPr>
          <p:nvPr/>
        </p:nvPicPr>
        <p:blipFill>
          <a:blip r:embed="rId1"/>
          <a:stretch>
            <a:fillRect/>
          </a:stretch>
        </p:blipFill>
        <p:spPr>
          <a:xfrm>
            <a:off x="94615" y="0"/>
            <a:ext cx="10570845" cy="6858000"/>
          </a:xfrm>
          <a:prstGeom prst="rect">
            <a:avLst/>
          </a:prstGeom>
        </p:spPr>
      </p:pic>
      <p:sp>
        <p:nvSpPr>
          <p:cNvPr id="3" name="文本框 2"/>
          <p:cNvSpPr txBox="1"/>
          <p:nvPr/>
        </p:nvSpPr>
        <p:spPr>
          <a:xfrm>
            <a:off x="4524375" y="191770"/>
            <a:ext cx="7739380" cy="460375"/>
          </a:xfrm>
          <a:prstGeom prst="rect">
            <a:avLst/>
          </a:prstGeom>
          <a:noFill/>
        </p:spPr>
        <p:txBody>
          <a:bodyPr wrap="square" rtlCol="0">
            <a:spAutoFit/>
          </a:bodyPr>
          <a:p>
            <a:r>
              <a:rPr lang="en-US" altLang="zh-CN" sz="2400">
                <a:solidFill>
                  <a:srgbClr val="FF0000"/>
                </a:solidFill>
                <a:effectLst>
                  <a:outerShdw blurRad="38100" dist="25400" dir="5400000" algn="ctr" rotWithShape="0">
                    <a:srgbClr val="6E747A">
                      <a:alpha val="43000"/>
                    </a:srgbClr>
                  </a:outerShdw>
                </a:effectLst>
              </a:rPr>
              <a:t>14</a:t>
            </a:r>
            <a:r>
              <a:rPr lang="zh-CN" altLang="en-US" sz="2400">
                <a:solidFill>
                  <a:srgbClr val="FF0000"/>
                </a:solidFill>
                <a:effectLst>
                  <a:outerShdw blurRad="38100" dist="25400" dir="5400000" algn="ctr" rotWithShape="0">
                    <a:srgbClr val="6E747A">
                      <a:alpha val="43000"/>
                    </a:srgbClr>
                  </a:outerShdw>
                </a:effectLst>
              </a:rPr>
              <a:t>个</a:t>
            </a:r>
            <a:r>
              <a:rPr lang="zh-CN" altLang="en-US" sz="2400">
                <a:solidFill>
                  <a:srgbClr val="FF0000"/>
                </a:solidFill>
                <a:effectLst>
                  <a:outerShdw blurRad="38100" dist="25400" dir="5400000" algn="ctr" rotWithShape="0">
                    <a:srgbClr val="6E747A">
                      <a:alpha val="43000"/>
                    </a:srgbClr>
                  </a:outerShdw>
                </a:effectLst>
              </a:rPr>
              <a:t>状态基本上一个状态一个模块工作，其他模块空闲</a:t>
            </a:r>
            <a:endParaRPr lang="zh-CN" altLang="en-US" sz="2400">
              <a:solidFill>
                <a:srgbClr val="FF0000"/>
              </a:solidFill>
              <a:effectLst>
                <a:outerShdw blurRad="38100" dist="25400" dir="5400000" algn="ctr" rotWithShape="0">
                  <a:srgbClr val="6E747A">
                    <a:alpha val="43000"/>
                  </a:srgbClr>
                </a:outerShdw>
              </a:effectLst>
            </a:endParaRPr>
          </a:p>
        </p:txBody>
      </p:sp>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208340">
        <p15:prstTrans prst="pageCurlDouble"/>
      </p:transition>
    </mc:Choice>
    <mc:Fallback>
      <p:transition spd="slow" advClick="0" advTm="20834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ox(in)">
                                      <p:cBhvr>
                                        <p:cTn id="2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0" name="组合 149"/>
          <p:cNvGrpSpPr/>
          <p:nvPr/>
        </p:nvGrpSpPr>
        <p:grpSpPr>
          <a:xfrm>
            <a:off x="890222" y="803244"/>
            <a:ext cx="9363346" cy="2489137"/>
            <a:chOff x="1461941" y="1362069"/>
            <a:chExt cx="9875404" cy="2625262"/>
          </a:xfrm>
        </p:grpSpPr>
        <p:cxnSp>
          <p:nvCxnSpPr>
            <p:cNvPr id="151" name="直接连接符 150"/>
            <p:cNvCxnSpPr/>
            <p:nvPr/>
          </p:nvCxnSpPr>
          <p:spPr>
            <a:xfrm>
              <a:off x="1461941" y="1362069"/>
              <a:ext cx="9864214"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2" name="直接连接符 151"/>
            <p:cNvCxnSpPr/>
            <p:nvPr/>
          </p:nvCxnSpPr>
          <p:spPr>
            <a:xfrm>
              <a:off x="1461941" y="1362069"/>
              <a:ext cx="0" cy="2625262"/>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3" name="直接连接符 152"/>
            <p:cNvCxnSpPr/>
            <p:nvPr/>
          </p:nvCxnSpPr>
          <p:spPr>
            <a:xfrm>
              <a:off x="11337345" y="1362069"/>
              <a:ext cx="0" cy="658219"/>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4" name="直接连接符 153"/>
            <p:cNvCxnSpPr/>
            <p:nvPr/>
          </p:nvCxnSpPr>
          <p:spPr>
            <a:xfrm>
              <a:off x="11149608" y="2020288"/>
              <a:ext cx="176547"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标题 1"/>
          <p:cNvSpPr>
            <a:spLocks noGrp="1"/>
          </p:cNvSpPr>
          <p:nvPr>
            <p:ph type="title"/>
          </p:nvPr>
        </p:nvSpPr>
        <p:spPr>
          <a:xfrm>
            <a:off x="1015365" y="6029325"/>
            <a:ext cx="11002645" cy="617855"/>
          </a:xfrm>
        </p:spPr>
        <p:txBody>
          <a:bodyPr>
            <a:noAutofit/>
          </a:bodyPr>
          <a:lstStyle/>
          <a:p>
            <a:r>
              <a:rPr lang="zh-CN" altLang="en-US" sz="2000" dirty="0"/>
              <a:t>存储器即属于</a:t>
            </a:r>
            <a:r>
              <a:rPr lang="en-US" altLang="zh-CN" sz="2000" dirty="0"/>
              <a:t>IF</a:t>
            </a:r>
            <a:r>
              <a:rPr lang="zh-CN" altLang="en-US" sz="2000" dirty="0"/>
              <a:t>，又属于</a:t>
            </a:r>
            <a:r>
              <a:rPr lang="en-US" altLang="zh-CN" sz="2000" dirty="0"/>
              <a:t>MEM;ALU</a:t>
            </a:r>
            <a:r>
              <a:rPr lang="zh-CN" altLang="en-US" sz="2000" dirty="0"/>
              <a:t>兼顾</a:t>
            </a:r>
            <a:r>
              <a:rPr lang="en-US" altLang="zh-CN" sz="2000" dirty="0"/>
              <a:t>PC+4</a:t>
            </a:r>
            <a:r>
              <a:rPr lang="zh-CN" altLang="en-US" sz="2000" dirty="0"/>
              <a:t>和跳转地址计算</a:t>
            </a:r>
            <a:r>
              <a:rPr lang="en-US" altLang="zh-CN" sz="2000" dirty="0"/>
              <a:t>2</a:t>
            </a:r>
            <a:r>
              <a:rPr lang="zh-CN" altLang="en-US" sz="2000" dirty="0"/>
              <a:t>个加法器的功能</a:t>
            </a:r>
            <a:endParaRPr lang="zh-CN" altLang="en-US" sz="2000" dirty="0"/>
          </a:p>
        </p:txBody>
      </p:sp>
      <p:grpSp>
        <p:nvGrpSpPr>
          <p:cNvPr id="8" name="组合 7"/>
          <p:cNvGrpSpPr/>
          <p:nvPr/>
        </p:nvGrpSpPr>
        <p:grpSpPr>
          <a:xfrm>
            <a:off x="4749840" y="1849262"/>
            <a:ext cx="3987102" cy="1464868"/>
            <a:chOff x="5526640" y="1825630"/>
            <a:chExt cx="5210856" cy="1142068"/>
          </a:xfrm>
        </p:grpSpPr>
        <p:cxnSp>
          <p:nvCxnSpPr>
            <p:cNvPr id="9" name="直接连接符 8"/>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a:off x="10737496" y="1825630"/>
              <a:ext cx="0" cy="1142068"/>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1" name="直接连接符 10"/>
          <p:cNvCxnSpPr/>
          <p:nvPr/>
        </p:nvCxnSpPr>
        <p:spPr>
          <a:xfrm>
            <a:off x="6105523" y="3631477"/>
            <a:ext cx="291910"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05523" y="3408611"/>
            <a:ext cx="291910"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731459" y="4437094"/>
            <a:ext cx="162793"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847023" y="3187403"/>
            <a:ext cx="1258500" cy="1473205"/>
          </a:xfrm>
          <a:prstGeom prst="rect">
            <a:avLst/>
          </a:prstGeom>
          <a:solidFill>
            <a:srgbClr val="FFCC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nvGrpSpPr>
          <p:cNvPr id="15" name="组合 14"/>
          <p:cNvGrpSpPr/>
          <p:nvPr/>
        </p:nvGrpSpPr>
        <p:grpSpPr>
          <a:xfrm>
            <a:off x="8512936" y="3174361"/>
            <a:ext cx="420145" cy="877029"/>
            <a:chOff x="9501522" y="3862856"/>
            <a:chExt cx="443122" cy="924992"/>
          </a:xfrm>
        </p:grpSpPr>
        <p:sp>
          <p:nvSpPr>
            <p:cNvPr id="16" name="任意多边形: 形状 259"/>
            <p:cNvSpPr/>
            <p:nvPr/>
          </p:nvSpPr>
          <p:spPr>
            <a:xfrm>
              <a:off x="9501522" y="3862856"/>
              <a:ext cx="443122" cy="924992"/>
            </a:xfrm>
            <a:custGeom>
              <a:avLst/>
              <a:gdLst>
                <a:gd name="connsiteX0" fmla="*/ 0 w 567834"/>
                <a:gd name="connsiteY0" fmla="*/ 0 h 877078"/>
                <a:gd name="connsiteX1" fmla="*/ 567834 w 567834"/>
                <a:gd name="connsiteY1" fmla="*/ 293248 h 877078"/>
                <a:gd name="connsiteX2" fmla="*/ 567834 w 567834"/>
                <a:gd name="connsiteY2" fmla="*/ 639814 h 877078"/>
                <a:gd name="connsiteX3" fmla="*/ 5332 w 567834"/>
                <a:gd name="connsiteY3" fmla="*/ 877078 h 877078"/>
                <a:gd name="connsiteX4" fmla="*/ 5332 w 567834"/>
                <a:gd name="connsiteY4" fmla="*/ 525180 h 877078"/>
                <a:gd name="connsiteX5" fmla="*/ 66647 w 567834"/>
                <a:gd name="connsiteY5" fmla="*/ 445204 h 877078"/>
                <a:gd name="connsiteX6" fmla="*/ 0 w 567834"/>
                <a:gd name="connsiteY6" fmla="*/ 338568 h 877078"/>
                <a:gd name="connsiteX7" fmla="*/ 0 w 567834"/>
                <a:gd name="connsiteY7" fmla="*/ 0 h 87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7834" h="877078">
                  <a:moveTo>
                    <a:pt x="0" y="0"/>
                  </a:moveTo>
                  <a:lnTo>
                    <a:pt x="567834" y="293248"/>
                  </a:lnTo>
                  <a:lnTo>
                    <a:pt x="567834" y="639814"/>
                  </a:lnTo>
                  <a:lnTo>
                    <a:pt x="5332" y="877078"/>
                  </a:lnTo>
                  <a:lnTo>
                    <a:pt x="5332" y="525180"/>
                  </a:lnTo>
                  <a:lnTo>
                    <a:pt x="66647" y="445204"/>
                  </a:lnTo>
                  <a:lnTo>
                    <a:pt x="0" y="338568"/>
                  </a:lnTo>
                  <a:lnTo>
                    <a:pt x="0" y="0"/>
                  </a:lnTo>
                  <a:close/>
                </a:path>
              </a:pathLst>
            </a:custGeom>
            <a:solidFill>
              <a:srgbClr val="ED7D3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7" name="矩形 16"/>
            <p:cNvSpPr/>
            <p:nvPr/>
          </p:nvSpPr>
          <p:spPr>
            <a:xfrm rot="16200000">
              <a:off x="9410367" y="4144538"/>
              <a:ext cx="580238" cy="324473"/>
            </a:xfrm>
            <a:prstGeom prst="rect">
              <a:avLst/>
            </a:prstGeom>
          </p:spPr>
          <p:txBody>
            <a:bodyPr wrap="none">
              <a:spAutoFit/>
            </a:bodyPr>
            <a:lstStyle/>
            <a:p>
              <a:r>
                <a:rPr lang="en-US" altLang="zh-CN" sz="1400" b="1" dirty="0">
                  <a:latin typeface="Segoe UI Black" panose="020B0A02040204020203" pitchFamily="34" charset="0"/>
                  <a:ea typeface="Segoe UI Black" panose="020B0A02040204020203" pitchFamily="34" charset="0"/>
                  <a:cs typeface="Segoe UI Black" panose="020B0A02040204020203" pitchFamily="34" charset="0"/>
                </a:rPr>
                <a:t>ALU</a:t>
              </a:r>
              <a:endParaRPr lang="zh-CN" altLang="en-US" sz="1400" b="1" dirty="0">
                <a:latin typeface="Segoe UI Black" panose="020B0A02040204020203" pitchFamily="34" charset="0"/>
                <a:cs typeface="Segoe UI Black" panose="020B0A02040204020203" pitchFamily="34" charset="0"/>
              </a:endParaRPr>
            </a:p>
          </p:txBody>
        </p:sp>
      </p:grpSp>
      <p:sp>
        <p:nvSpPr>
          <p:cNvPr id="18" name="矩形 17"/>
          <p:cNvSpPr/>
          <p:nvPr/>
        </p:nvSpPr>
        <p:spPr>
          <a:xfrm>
            <a:off x="771817" y="3301781"/>
            <a:ext cx="236207" cy="434316"/>
          </a:xfrm>
          <a:prstGeom prst="rect">
            <a:avLst/>
          </a:prstGeom>
          <a:solidFill>
            <a:schemeClr val="accent1">
              <a:lumMod val="40000"/>
              <a:lumOff val="60000"/>
            </a:schemeClr>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9" name="矩形 18"/>
          <p:cNvSpPr/>
          <p:nvPr/>
        </p:nvSpPr>
        <p:spPr>
          <a:xfrm>
            <a:off x="713009" y="3263134"/>
            <a:ext cx="373820"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EN</a:t>
            </a:r>
            <a:endParaRPr lang="zh-CN" altLang="en-US" sz="1100" dirty="0">
              <a:latin typeface="Times New Roman" panose="02020603050405020304" pitchFamily="18" charset="0"/>
              <a:cs typeface="Times New Roman" panose="02020603050405020304" pitchFamily="18" charset="0"/>
            </a:endParaRPr>
          </a:p>
        </p:txBody>
      </p:sp>
      <p:sp>
        <p:nvSpPr>
          <p:cNvPr id="20" name="矩形 19"/>
          <p:cNvSpPr/>
          <p:nvPr/>
        </p:nvSpPr>
        <p:spPr>
          <a:xfrm>
            <a:off x="4177280" y="805502"/>
            <a:ext cx="452368" cy="261610"/>
          </a:xfrm>
          <a:prstGeom prst="rect">
            <a:avLst/>
          </a:prstGeom>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sp>
        <p:nvSpPr>
          <p:cNvPr id="21" name="矩形 20"/>
          <p:cNvSpPr/>
          <p:nvPr/>
        </p:nvSpPr>
        <p:spPr>
          <a:xfrm>
            <a:off x="3690538" y="2045989"/>
            <a:ext cx="505267"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31:26</a:t>
            </a:r>
            <a:endParaRPr lang="zh-CN" altLang="en-US" sz="1100" dirty="0">
              <a:latin typeface="Times New Roman" panose="02020603050405020304" pitchFamily="18" charset="0"/>
              <a:cs typeface="Times New Roman" panose="02020603050405020304" pitchFamily="18" charset="0"/>
            </a:endParaRPr>
          </a:p>
        </p:txBody>
      </p:sp>
      <p:sp>
        <p:nvSpPr>
          <p:cNvPr id="22" name="矩形 21"/>
          <p:cNvSpPr/>
          <p:nvPr/>
        </p:nvSpPr>
        <p:spPr>
          <a:xfrm>
            <a:off x="3745011" y="2254090"/>
            <a:ext cx="364202"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5:0</a:t>
            </a:r>
            <a:endParaRPr lang="zh-CN" altLang="en-US" sz="1100" dirty="0">
              <a:latin typeface="Times New Roman" panose="02020603050405020304" pitchFamily="18" charset="0"/>
              <a:cs typeface="Times New Roman" panose="02020603050405020304" pitchFamily="18" charset="0"/>
            </a:endParaRPr>
          </a:p>
        </p:txBody>
      </p:sp>
      <p:sp>
        <p:nvSpPr>
          <p:cNvPr id="23" name="任意多边形: 形状 47"/>
          <p:cNvSpPr/>
          <p:nvPr/>
        </p:nvSpPr>
        <p:spPr>
          <a:xfrm>
            <a:off x="4737809" y="2482676"/>
            <a:ext cx="730210" cy="714336"/>
          </a:xfrm>
          <a:custGeom>
            <a:avLst/>
            <a:gdLst>
              <a:gd name="connsiteX0" fmla="*/ 0 w 730250"/>
              <a:gd name="connsiteY0" fmla="*/ 0 h 730250"/>
              <a:gd name="connsiteX1" fmla="*/ 730250 w 730250"/>
              <a:gd name="connsiteY1" fmla="*/ 0 h 730250"/>
              <a:gd name="connsiteX2" fmla="*/ 730250 w 730250"/>
              <a:gd name="connsiteY2" fmla="*/ 730250 h 730250"/>
              <a:gd name="connsiteX0-1" fmla="*/ 0 w 730250"/>
              <a:gd name="connsiteY0-2" fmla="*/ 0 h 714375"/>
              <a:gd name="connsiteX1-3" fmla="*/ 730250 w 730250"/>
              <a:gd name="connsiteY1-4" fmla="*/ 0 h 714375"/>
              <a:gd name="connsiteX2-5" fmla="*/ 730250 w 730250"/>
              <a:gd name="connsiteY2-6" fmla="*/ 714375 h 714375"/>
            </a:gdLst>
            <a:ahLst/>
            <a:cxnLst>
              <a:cxn ang="0">
                <a:pos x="connsiteX0-1" y="connsiteY0-2"/>
              </a:cxn>
              <a:cxn ang="0">
                <a:pos x="connsiteX1-3" y="connsiteY1-4"/>
              </a:cxn>
              <a:cxn ang="0">
                <a:pos x="connsiteX2-5" y="connsiteY2-6"/>
              </a:cxn>
            </a:cxnLst>
            <a:rect l="l" t="t" r="r" b="b"/>
            <a:pathLst>
              <a:path w="730250" h="714375">
                <a:moveTo>
                  <a:pt x="0" y="0"/>
                </a:moveTo>
                <a:lnTo>
                  <a:pt x="730250" y="0"/>
                </a:lnTo>
                <a:lnTo>
                  <a:pt x="730250" y="714375"/>
                </a:lnTo>
              </a:path>
            </a:pathLst>
          </a:cu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4" name="任意多边形: 形状 49"/>
          <p:cNvSpPr/>
          <p:nvPr/>
        </p:nvSpPr>
        <p:spPr>
          <a:xfrm flipH="1">
            <a:off x="4158739" y="2698565"/>
            <a:ext cx="45717" cy="1144460"/>
          </a:xfrm>
          <a:custGeom>
            <a:avLst/>
            <a:gdLst>
              <a:gd name="connsiteX0" fmla="*/ 0 w 0"/>
              <a:gd name="connsiteY0" fmla="*/ 0 h 1187450"/>
              <a:gd name="connsiteX1" fmla="*/ 0 w 0"/>
              <a:gd name="connsiteY1" fmla="*/ 1187450 h 1187450"/>
            </a:gdLst>
            <a:ahLst/>
            <a:cxnLst>
              <a:cxn ang="0">
                <a:pos x="connsiteX0" y="connsiteY0"/>
              </a:cxn>
              <a:cxn ang="0">
                <a:pos x="connsiteX1" y="connsiteY1"/>
              </a:cxn>
            </a:cxnLst>
            <a:rect l="l" t="t" r="r" b="b"/>
            <a:pathLst>
              <a:path h="1187450">
                <a:moveTo>
                  <a:pt x="0" y="0"/>
                </a:moveTo>
                <a:lnTo>
                  <a:pt x="0" y="1187450"/>
                </a:lnTo>
              </a:path>
            </a:pathLst>
          </a:cu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5" name="任意多边形: 形状 50"/>
          <p:cNvSpPr/>
          <p:nvPr/>
        </p:nvSpPr>
        <p:spPr>
          <a:xfrm>
            <a:off x="4628051" y="2689005"/>
            <a:ext cx="0" cy="1581064"/>
          </a:xfrm>
          <a:custGeom>
            <a:avLst/>
            <a:gdLst>
              <a:gd name="connsiteX0" fmla="*/ 0 w 0"/>
              <a:gd name="connsiteY0" fmla="*/ 0 h 1581150"/>
              <a:gd name="connsiteX1" fmla="*/ 0 w 0"/>
              <a:gd name="connsiteY1" fmla="*/ 1581150 h 1581150"/>
            </a:gdLst>
            <a:ahLst/>
            <a:cxnLst>
              <a:cxn ang="0">
                <a:pos x="connsiteX0" y="connsiteY0"/>
              </a:cxn>
              <a:cxn ang="0">
                <a:pos x="connsiteX1" y="connsiteY1"/>
              </a:cxn>
            </a:cxnLst>
            <a:rect l="l" t="t" r="r" b="b"/>
            <a:pathLst>
              <a:path h="1581150">
                <a:moveTo>
                  <a:pt x="0" y="0"/>
                </a:moveTo>
                <a:lnTo>
                  <a:pt x="0" y="1581150"/>
                </a:lnTo>
              </a:path>
            </a:pathLst>
          </a:cu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26" name="直接连接符 25"/>
          <p:cNvCxnSpPr/>
          <p:nvPr/>
        </p:nvCxnSpPr>
        <p:spPr>
          <a:xfrm flipH="1">
            <a:off x="9625596" y="1484750"/>
            <a:ext cx="202696" cy="0"/>
          </a:xfrm>
          <a:prstGeom prst="lin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直接连接符 26"/>
          <p:cNvCxnSpPr/>
          <p:nvPr/>
        </p:nvCxnSpPr>
        <p:spPr>
          <a:xfrm flipH="1">
            <a:off x="9236979" y="1539514"/>
            <a:ext cx="1439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1015409" y="3524487"/>
            <a:ext cx="401535" cy="1"/>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611241" y="3636560"/>
            <a:ext cx="309863"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0" name="流程图: 手动操作 29"/>
          <p:cNvSpPr/>
          <p:nvPr/>
        </p:nvSpPr>
        <p:spPr>
          <a:xfrm rot="16200000">
            <a:off x="1274429" y="3522134"/>
            <a:ext cx="466170" cy="197936"/>
          </a:xfrm>
          <a:prstGeom prst="flowChartManualOperation">
            <a:avLst/>
          </a:prstGeom>
          <a:solidFill>
            <a:srgbClr val="FFFFFF"/>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31" name="矩形 30"/>
          <p:cNvSpPr/>
          <p:nvPr/>
        </p:nvSpPr>
        <p:spPr>
          <a:xfrm>
            <a:off x="1372152" y="3355842"/>
            <a:ext cx="274434" cy="522964"/>
          </a:xfrm>
          <a:prstGeom prst="rect">
            <a:avLst/>
          </a:prstGeom>
        </p:spPr>
        <p:txBody>
          <a:bodyPr wrap="none">
            <a:spAutoFit/>
          </a:bodyPr>
          <a:lstStyle/>
          <a:p>
            <a:r>
              <a:rPr lang="en-US" altLang="zh-CN" sz="1400" dirty="0">
                <a:solidFill>
                  <a:schemeClr val="bg1">
                    <a:lumMod val="50000"/>
                  </a:schemeClr>
                </a:solidFill>
                <a:latin typeface="Times New Roman" panose="02020603050405020304" pitchFamily="18" charset="0"/>
                <a:cs typeface="Times New Roman" panose="02020603050405020304" pitchFamily="18" charset="0"/>
              </a:rPr>
              <a:t>0</a:t>
            </a:r>
            <a:endParaRPr lang="en-US" altLang="zh-CN" sz="1400" dirty="0">
              <a:solidFill>
                <a:schemeClr val="bg1">
                  <a:lumMod val="50000"/>
                </a:schemeClr>
              </a:solidFill>
              <a:latin typeface="Times New Roman" panose="02020603050405020304" pitchFamily="18" charset="0"/>
              <a:cs typeface="Times New Roman" panose="02020603050405020304" pitchFamily="18" charset="0"/>
            </a:endParaRPr>
          </a:p>
          <a:p>
            <a:r>
              <a:rPr lang="en-US" altLang="zh-CN" sz="1400" dirty="0">
                <a:solidFill>
                  <a:srgbClr val="0066FF"/>
                </a:solidFill>
                <a:latin typeface="Times New Roman" panose="02020603050405020304" pitchFamily="18" charset="0"/>
                <a:cs typeface="Times New Roman" panose="02020603050405020304" pitchFamily="18" charset="0"/>
              </a:rPr>
              <a:t>1</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cxnSp>
        <p:nvCxnSpPr>
          <p:cNvPr id="32" name="直接连接符 31"/>
          <p:cNvCxnSpPr/>
          <p:nvPr/>
        </p:nvCxnSpPr>
        <p:spPr>
          <a:xfrm>
            <a:off x="1615810" y="3627799"/>
            <a:ext cx="30529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1453636" y="3723775"/>
            <a:ext cx="553357" cy="307648"/>
          </a:xfrm>
          <a:prstGeom prst="rect">
            <a:avLst/>
          </a:prstGeom>
        </p:spPr>
        <p:txBody>
          <a:bodyPr wrap="none">
            <a:spAutoFit/>
          </a:bodyPr>
          <a:lstStyle/>
          <a:p>
            <a:r>
              <a:rPr lang="en-US" altLang="zh-CN" sz="1400" dirty="0" err="1">
                <a:latin typeface="Times New Roman" panose="02020603050405020304" pitchFamily="18" charset="0"/>
                <a:cs typeface="Times New Roman" panose="02020603050405020304" pitchFamily="18" charset="0"/>
              </a:rPr>
              <a:t>Addr</a:t>
            </a:r>
            <a:endParaRPr lang="zh-CN" altLang="en-US" sz="1400" dirty="0">
              <a:latin typeface="Times New Roman" panose="02020603050405020304" pitchFamily="18" charset="0"/>
              <a:cs typeface="Times New Roman" panose="02020603050405020304" pitchFamily="18" charset="0"/>
            </a:endParaRPr>
          </a:p>
        </p:txBody>
      </p:sp>
      <p:sp>
        <p:nvSpPr>
          <p:cNvPr id="34" name="矩形 33"/>
          <p:cNvSpPr/>
          <p:nvPr/>
        </p:nvSpPr>
        <p:spPr>
          <a:xfrm>
            <a:off x="3168376" y="3301782"/>
            <a:ext cx="205903" cy="408750"/>
          </a:xfrm>
          <a:prstGeom prst="rect">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solidFill>
                <a:schemeClr val="tx1"/>
              </a:solidFill>
            </a:endParaRPr>
          </a:p>
        </p:txBody>
      </p:sp>
      <p:sp>
        <p:nvSpPr>
          <p:cNvPr id="35" name="矩形 34"/>
          <p:cNvSpPr/>
          <p:nvPr/>
        </p:nvSpPr>
        <p:spPr>
          <a:xfrm>
            <a:off x="3168376" y="4349091"/>
            <a:ext cx="205903" cy="408750"/>
          </a:xfrm>
          <a:prstGeom prst="rect">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36" name="矩形 35"/>
          <p:cNvSpPr/>
          <p:nvPr/>
        </p:nvSpPr>
        <p:spPr>
          <a:xfrm>
            <a:off x="3332175" y="3266398"/>
            <a:ext cx="513282" cy="307648"/>
          </a:xfrm>
          <a:prstGeom prst="rect">
            <a:avLst/>
          </a:prstGeom>
        </p:spPr>
        <p:txBody>
          <a:bodyPr wrap="none">
            <a:spAutoFit/>
          </a:bodyPr>
          <a:lstStyle/>
          <a:p>
            <a:r>
              <a:rPr lang="en-US" altLang="zh-CN" sz="1400" dirty="0" err="1">
                <a:latin typeface="Times New Roman" panose="02020603050405020304" pitchFamily="18" charset="0"/>
                <a:cs typeface="Times New Roman" panose="02020603050405020304" pitchFamily="18" charset="0"/>
              </a:rPr>
              <a:t>Instr</a:t>
            </a:r>
            <a:endParaRPr lang="zh-CN" altLang="en-US" sz="1400" dirty="0">
              <a:latin typeface="Times New Roman" panose="02020603050405020304" pitchFamily="18" charset="0"/>
              <a:cs typeface="Times New Roman" panose="02020603050405020304" pitchFamily="18" charset="0"/>
            </a:endParaRPr>
          </a:p>
        </p:txBody>
      </p:sp>
      <p:sp>
        <p:nvSpPr>
          <p:cNvPr id="37" name="矩形 36"/>
          <p:cNvSpPr/>
          <p:nvPr/>
        </p:nvSpPr>
        <p:spPr>
          <a:xfrm>
            <a:off x="3333199" y="4302331"/>
            <a:ext cx="524503"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Data</a:t>
            </a:r>
            <a:endParaRPr lang="zh-CN" altLang="en-US" sz="1400" dirty="0">
              <a:latin typeface="Times New Roman" panose="02020603050405020304" pitchFamily="18" charset="0"/>
              <a:cs typeface="Times New Roman" panose="02020603050405020304" pitchFamily="18" charset="0"/>
            </a:endParaRPr>
          </a:p>
        </p:txBody>
      </p:sp>
      <p:sp>
        <p:nvSpPr>
          <p:cNvPr id="38" name="矩形 37"/>
          <p:cNvSpPr/>
          <p:nvPr/>
        </p:nvSpPr>
        <p:spPr>
          <a:xfrm>
            <a:off x="3756343" y="5195189"/>
            <a:ext cx="434734"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15:0</a:t>
            </a:r>
            <a:endParaRPr lang="zh-CN" altLang="en-US" sz="1100" dirty="0">
              <a:latin typeface="Times New Roman" panose="02020603050405020304" pitchFamily="18" charset="0"/>
              <a:cs typeface="Times New Roman" panose="02020603050405020304" pitchFamily="18" charset="0"/>
            </a:endParaRPr>
          </a:p>
        </p:txBody>
      </p:sp>
      <p:sp>
        <p:nvSpPr>
          <p:cNvPr id="39" name="矩形 38"/>
          <p:cNvSpPr/>
          <p:nvPr/>
        </p:nvSpPr>
        <p:spPr>
          <a:xfrm>
            <a:off x="3708112" y="3960306"/>
            <a:ext cx="505267"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15:11</a:t>
            </a:r>
            <a:endParaRPr lang="zh-CN" altLang="en-US" sz="1100" dirty="0">
              <a:latin typeface="Times New Roman" panose="02020603050405020304" pitchFamily="18" charset="0"/>
              <a:cs typeface="Times New Roman" panose="02020603050405020304" pitchFamily="18" charset="0"/>
            </a:endParaRPr>
          </a:p>
        </p:txBody>
      </p:sp>
      <p:sp>
        <p:nvSpPr>
          <p:cNvPr id="40" name="矩形 39"/>
          <p:cNvSpPr/>
          <p:nvPr/>
        </p:nvSpPr>
        <p:spPr>
          <a:xfrm>
            <a:off x="3754022" y="3409576"/>
            <a:ext cx="505267"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20:16</a:t>
            </a:r>
            <a:endParaRPr lang="zh-CN" altLang="en-US" sz="1100" dirty="0">
              <a:latin typeface="Times New Roman" panose="02020603050405020304" pitchFamily="18" charset="0"/>
              <a:cs typeface="Times New Roman" panose="02020603050405020304" pitchFamily="18" charset="0"/>
            </a:endParaRPr>
          </a:p>
        </p:txBody>
      </p:sp>
      <p:sp>
        <p:nvSpPr>
          <p:cNvPr id="41" name="矩形 40"/>
          <p:cNvSpPr/>
          <p:nvPr/>
        </p:nvSpPr>
        <p:spPr>
          <a:xfrm>
            <a:off x="3755061" y="3191706"/>
            <a:ext cx="505267"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25:21</a:t>
            </a:r>
            <a:endParaRPr lang="zh-CN" altLang="en-US" sz="1100" dirty="0">
              <a:latin typeface="Times New Roman" panose="02020603050405020304" pitchFamily="18" charset="0"/>
              <a:cs typeface="Times New Roman" panose="02020603050405020304" pitchFamily="18" charset="0"/>
            </a:endParaRPr>
          </a:p>
        </p:txBody>
      </p:sp>
      <p:cxnSp>
        <p:nvCxnSpPr>
          <p:cNvPr id="42" name="直接连接符 41"/>
          <p:cNvCxnSpPr/>
          <p:nvPr/>
        </p:nvCxnSpPr>
        <p:spPr>
          <a:xfrm>
            <a:off x="3798061" y="3409725"/>
            <a:ext cx="1038803"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798061" y="3615537"/>
            <a:ext cx="1038803"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endCxn id="34" idx="1"/>
          </p:cNvCxnSpPr>
          <p:nvPr/>
        </p:nvCxnSpPr>
        <p:spPr>
          <a:xfrm>
            <a:off x="2766860" y="3506157"/>
            <a:ext cx="401517"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3786148" y="2470151"/>
            <a:ext cx="339180"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3376363" y="3522722"/>
            <a:ext cx="41813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371535" y="4553464"/>
            <a:ext cx="116681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8" name="流程图: 手动输入 146"/>
          <p:cNvSpPr/>
          <p:nvPr/>
        </p:nvSpPr>
        <p:spPr>
          <a:xfrm>
            <a:off x="4894252" y="5197411"/>
            <a:ext cx="1149783" cy="34337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9483 h 17483"/>
              <a:gd name="connsiteX1-3" fmla="*/ 10000 w 10000"/>
              <a:gd name="connsiteY1-4" fmla="*/ 0 h 17483"/>
              <a:gd name="connsiteX2-5" fmla="*/ 10000 w 10000"/>
              <a:gd name="connsiteY2-6" fmla="*/ 17483 h 17483"/>
              <a:gd name="connsiteX3-7" fmla="*/ 0 w 10000"/>
              <a:gd name="connsiteY3-8" fmla="*/ 17483 h 17483"/>
              <a:gd name="connsiteX4-9" fmla="*/ 0 w 10000"/>
              <a:gd name="connsiteY4-10" fmla="*/ 9483 h 17483"/>
              <a:gd name="connsiteX0-11" fmla="*/ 0 w 10000"/>
              <a:gd name="connsiteY0-12" fmla="*/ 5355 h 13355"/>
              <a:gd name="connsiteX1-13" fmla="*/ 10000 w 10000"/>
              <a:gd name="connsiteY1-14" fmla="*/ 0 h 13355"/>
              <a:gd name="connsiteX2-15" fmla="*/ 10000 w 10000"/>
              <a:gd name="connsiteY2-16" fmla="*/ 13355 h 13355"/>
              <a:gd name="connsiteX3-17" fmla="*/ 0 w 10000"/>
              <a:gd name="connsiteY3-18" fmla="*/ 13355 h 13355"/>
              <a:gd name="connsiteX4-19" fmla="*/ 0 w 10000"/>
              <a:gd name="connsiteY4-20" fmla="*/ 5355 h 133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3355">
                <a:moveTo>
                  <a:pt x="0" y="5355"/>
                </a:moveTo>
                <a:lnTo>
                  <a:pt x="10000" y="0"/>
                </a:lnTo>
                <a:lnTo>
                  <a:pt x="10000" y="13355"/>
                </a:lnTo>
                <a:lnTo>
                  <a:pt x="0" y="13355"/>
                </a:lnTo>
                <a:lnTo>
                  <a:pt x="0" y="5355"/>
                </a:lnTo>
                <a:close/>
              </a:path>
            </a:pathLst>
          </a:custGeom>
          <a:solidFill>
            <a:srgbClr val="ED7D3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49" name="矩形 48"/>
          <p:cNvSpPr/>
          <p:nvPr/>
        </p:nvSpPr>
        <p:spPr>
          <a:xfrm>
            <a:off x="5008454" y="5252241"/>
            <a:ext cx="1066318"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Sign Extend</a:t>
            </a:r>
            <a:endParaRPr lang="zh-CN" altLang="en-US" sz="1400" dirty="0">
              <a:latin typeface="Times New Roman" panose="02020603050405020304" pitchFamily="18" charset="0"/>
              <a:cs typeface="Times New Roman" panose="02020603050405020304" pitchFamily="18" charset="0"/>
            </a:endParaRPr>
          </a:p>
        </p:txBody>
      </p:sp>
      <p:sp>
        <p:nvSpPr>
          <p:cNvPr id="50" name="矩形 49"/>
          <p:cNvSpPr/>
          <p:nvPr/>
        </p:nvSpPr>
        <p:spPr>
          <a:xfrm>
            <a:off x="4839456" y="3244755"/>
            <a:ext cx="484428"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R1#</a:t>
            </a:r>
            <a:endParaRPr lang="zh-CN" altLang="en-US" sz="1400" dirty="0">
              <a:latin typeface="Times New Roman" panose="02020603050405020304" pitchFamily="18" charset="0"/>
              <a:cs typeface="Times New Roman" panose="02020603050405020304" pitchFamily="18" charset="0"/>
            </a:endParaRPr>
          </a:p>
        </p:txBody>
      </p:sp>
      <p:sp>
        <p:nvSpPr>
          <p:cNvPr id="51" name="矩形 50"/>
          <p:cNvSpPr/>
          <p:nvPr/>
        </p:nvSpPr>
        <p:spPr>
          <a:xfrm>
            <a:off x="4839456" y="3450548"/>
            <a:ext cx="484428"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R2#</a:t>
            </a:r>
            <a:endParaRPr lang="zh-CN" altLang="en-US" sz="1400" dirty="0">
              <a:latin typeface="Times New Roman" panose="02020603050405020304" pitchFamily="18" charset="0"/>
              <a:cs typeface="Times New Roman" panose="02020603050405020304" pitchFamily="18" charset="0"/>
            </a:endParaRPr>
          </a:p>
        </p:txBody>
      </p:sp>
      <p:sp>
        <p:nvSpPr>
          <p:cNvPr id="52" name="矩形 51"/>
          <p:cNvSpPr/>
          <p:nvPr/>
        </p:nvSpPr>
        <p:spPr>
          <a:xfrm>
            <a:off x="4839456" y="3862004"/>
            <a:ext cx="444352"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W#</a:t>
            </a:r>
            <a:endParaRPr lang="zh-CN" altLang="en-US" sz="1400" dirty="0">
              <a:latin typeface="Times New Roman" panose="02020603050405020304" pitchFamily="18" charset="0"/>
              <a:cs typeface="Times New Roman" panose="02020603050405020304" pitchFamily="18" charset="0"/>
            </a:endParaRPr>
          </a:p>
        </p:txBody>
      </p:sp>
      <p:sp>
        <p:nvSpPr>
          <p:cNvPr id="53" name="矩形 52"/>
          <p:cNvSpPr/>
          <p:nvPr/>
        </p:nvSpPr>
        <p:spPr>
          <a:xfrm>
            <a:off x="4839458" y="4289150"/>
            <a:ext cx="484428"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WD</a:t>
            </a:r>
            <a:endParaRPr lang="zh-CN" altLang="en-US" sz="1400" dirty="0">
              <a:latin typeface="Times New Roman" panose="02020603050405020304" pitchFamily="18" charset="0"/>
              <a:cs typeface="Times New Roman" panose="02020603050405020304" pitchFamily="18" charset="0"/>
            </a:endParaRPr>
          </a:p>
        </p:txBody>
      </p:sp>
      <p:sp>
        <p:nvSpPr>
          <p:cNvPr id="54" name="矩形 53"/>
          <p:cNvSpPr/>
          <p:nvPr/>
        </p:nvSpPr>
        <p:spPr>
          <a:xfrm>
            <a:off x="5218235" y="3154250"/>
            <a:ext cx="463588"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WE</a:t>
            </a:r>
            <a:endParaRPr lang="zh-CN" altLang="en-US" sz="1400" dirty="0">
              <a:latin typeface="Times New Roman" panose="02020603050405020304" pitchFamily="18" charset="0"/>
              <a:cs typeface="Times New Roman" panose="02020603050405020304" pitchFamily="18" charset="0"/>
            </a:endParaRPr>
          </a:p>
        </p:txBody>
      </p:sp>
      <p:sp>
        <p:nvSpPr>
          <p:cNvPr id="55" name="矩形 54"/>
          <p:cNvSpPr/>
          <p:nvPr/>
        </p:nvSpPr>
        <p:spPr>
          <a:xfrm>
            <a:off x="5762397" y="3238336"/>
            <a:ext cx="394660"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R1</a:t>
            </a:r>
            <a:endParaRPr lang="zh-CN" altLang="en-US" sz="1400" dirty="0">
              <a:latin typeface="Times New Roman" panose="02020603050405020304" pitchFamily="18" charset="0"/>
              <a:cs typeface="Times New Roman" panose="02020603050405020304" pitchFamily="18" charset="0"/>
            </a:endParaRPr>
          </a:p>
        </p:txBody>
      </p:sp>
      <p:sp>
        <p:nvSpPr>
          <p:cNvPr id="56" name="矩形 55"/>
          <p:cNvSpPr/>
          <p:nvPr/>
        </p:nvSpPr>
        <p:spPr>
          <a:xfrm>
            <a:off x="5759023" y="3477930"/>
            <a:ext cx="394660"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R2</a:t>
            </a:r>
            <a:endParaRPr lang="zh-CN" altLang="en-US" sz="1400" dirty="0">
              <a:latin typeface="Times New Roman" panose="02020603050405020304" pitchFamily="18" charset="0"/>
              <a:cs typeface="Times New Roman" panose="02020603050405020304" pitchFamily="18" charset="0"/>
            </a:endParaRPr>
          </a:p>
        </p:txBody>
      </p:sp>
      <p:sp>
        <p:nvSpPr>
          <p:cNvPr id="57" name="矩形 56"/>
          <p:cNvSpPr/>
          <p:nvPr/>
        </p:nvSpPr>
        <p:spPr>
          <a:xfrm>
            <a:off x="5176856" y="3891558"/>
            <a:ext cx="918841" cy="522964"/>
          </a:xfrm>
          <a:prstGeom prst="rect">
            <a:avLst/>
          </a:prstGeom>
        </p:spPr>
        <p:txBody>
          <a:bodyPr wrap="none">
            <a:spAutoFit/>
          </a:bodyPr>
          <a:lstStyle/>
          <a:p>
            <a:pPr algn="ctr"/>
            <a:r>
              <a:rPr lang="en-US" altLang="zh-CN" sz="1400" b="1" dirty="0">
                <a:latin typeface="Segoe UI Black" panose="020B0A02040204020203" pitchFamily="34" charset="0"/>
                <a:ea typeface="Segoe UI Black" panose="020B0A02040204020203" pitchFamily="34" charset="0"/>
                <a:cs typeface="Segoe UI Black" panose="020B0A02040204020203" pitchFamily="34" charset="0"/>
              </a:rPr>
              <a:t>Register</a:t>
            </a:r>
            <a:endParaRPr lang="en-US" altLang="zh-CN" sz="1400" b="1" dirty="0">
              <a:latin typeface="Segoe UI Black" panose="020B0A02040204020203" pitchFamily="34" charset="0"/>
              <a:ea typeface="Segoe UI Black" panose="020B0A02040204020203" pitchFamily="34" charset="0"/>
              <a:cs typeface="Segoe UI Black" panose="020B0A02040204020203" pitchFamily="34" charset="0"/>
            </a:endParaRPr>
          </a:p>
          <a:p>
            <a:pPr algn="ctr"/>
            <a:r>
              <a:rPr lang="en-US" altLang="zh-CN" sz="1400" b="1" dirty="0">
                <a:latin typeface="Segoe UI Black" panose="020B0A02040204020203" pitchFamily="34" charset="0"/>
                <a:ea typeface="Segoe UI Black" panose="020B0A02040204020203" pitchFamily="34" charset="0"/>
                <a:cs typeface="Segoe UI Black" panose="020B0A02040204020203" pitchFamily="34" charset="0"/>
              </a:rPr>
              <a:t>File</a:t>
            </a:r>
            <a:endParaRPr lang="zh-CN" altLang="en-US" sz="1400" b="1" dirty="0">
              <a:latin typeface="Segoe UI Black" panose="020B0A02040204020203" pitchFamily="34" charset="0"/>
              <a:cs typeface="Segoe UI Black" panose="020B0A02040204020203" pitchFamily="34" charset="0"/>
            </a:endParaRPr>
          </a:p>
        </p:txBody>
      </p:sp>
      <p:sp>
        <p:nvSpPr>
          <p:cNvPr id="58" name="矩形 57"/>
          <p:cNvSpPr/>
          <p:nvPr/>
        </p:nvSpPr>
        <p:spPr>
          <a:xfrm>
            <a:off x="6371225" y="3194330"/>
            <a:ext cx="205903" cy="635862"/>
          </a:xfrm>
          <a:prstGeom prst="rect">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59" name="矩形 58"/>
          <p:cNvSpPr/>
          <p:nvPr/>
        </p:nvSpPr>
        <p:spPr>
          <a:xfrm>
            <a:off x="6511199" y="3159739"/>
            <a:ext cx="319318" cy="307648"/>
          </a:xfrm>
          <a:prstGeom prst="rect">
            <a:avLst/>
          </a:prstGeom>
        </p:spPr>
        <p:txBody>
          <a:bodyPr wrap="none">
            <a:spAutoFit/>
          </a:bodyPr>
          <a:lstStyle/>
          <a:p>
            <a:r>
              <a:rPr lang="en-US" altLang="zh-CN" sz="1400" dirty="0">
                <a:latin typeface="Segoe UI Black" panose="020B0A02040204020203" pitchFamily="34" charset="0"/>
                <a:ea typeface="Segoe UI Black" panose="020B0A02040204020203" pitchFamily="34" charset="0"/>
                <a:cs typeface="Segoe UI Black" panose="020B0A02040204020203" pitchFamily="34" charset="0"/>
              </a:rPr>
              <a:t>A</a:t>
            </a:r>
            <a:endParaRPr lang="zh-CN" altLang="en-US" sz="1400" dirty="0">
              <a:latin typeface="Segoe UI Black" panose="020B0A02040204020203" pitchFamily="34" charset="0"/>
              <a:cs typeface="Segoe UI Black" panose="020B0A02040204020203" pitchFamily="34" charset="0"/>
            </a:endParaRPr>
          </a:p>
        </p:txBody>
      </p:sp>
      <p:sp>
        <p:nvSpPr>
          <p:cNvPr id="60" name="矩形 59"/>
          <p:cNvSpPr/>
          <p:nvPr/>
        </p:nvSpPr>
        <p:spPr>
          <a:xfrm>
            <a:off x="6522182" y="3593187"/>
            <a:ext cx="308098" cy="307648"/>
          </a:xfrm>
          <a:prstGeom prst="rect">
            <a:avLst/>
          </a:prstGeom>
        </p:spPr>
        <p:txBody>
          <a:bodyPr wrap="none">
            <a:spAutoFit/>
          </a:bodyPr>
          <a:lstStyle/>
          <a:p>
            <a:r>
              <a:rPr lang="en-US" altLang="zh-CN" sz="1400" dirty="0">
                <a:latin typeface="Segoe UI Black" panose="020B0A02040204020203" pitchFamily="34" charset="0"/>
                <a:ea typeface="Segoe UI Black" panose="020B0A02040204020203" pitchFamily="34" charset="0"/>
                <a:cs typeface="Segoe UI Black" panose="020B0A02040204020203" pitchFamily="34" charset="0"/>
              </a:rPr>
              <a:t>B</a:t>
            </a:r>
            <a:endParaRPr lang="zh-CN" altLang="en-US" sz="1400" dirty="0">
              <a:latin typeface="Segoe UI Black" panose="020B0A02040204020203" pitchFamily="34" charset="0"/>
              <a:cs typeface="Segoe UI Black" panose="020B0A02040204020203" pitchFamily="34" charset="0"/>
            </a:endParaRPr>
          </a:p>
        </p:txBody>
      </p:sp>
      <p:sp>
        <p:nvSpPr>
          <p:cNvPr id="61" name="矩形 60"/>
          <p:cNvSpPr/>
          <p:nvPr/>
        </p:nvSpPr>
        <p:spPr>
          <a:xfrm>
            <a:off x="6044036" y="5128607"/>
            <a:ext cx="851515" cy="307648"/>
          </a:xfrm>
          <a:prstGeom prst="rect">
            <a:avLst/>
          </a:prstGeom>
        </p:spPr>
        <p:txBody>
          <a:bodyPr wrap="none">
            <a:spAutoFit/>
          </a:bodyPr>
          <a:lstStyle/>
          <a:p>
            <a:r>
              <a:rPr lang="en-US" altLang="zh-CN" sz="1400" dirty="0" err="1">
                <a:latin typeface="Times New Roman" panose="02020603050405020304" pitchFamily="18" charset="0"/>
                <a:cs typeface="Times New Roman" panose="02020603050405020304" pitchFamily="18" charset="0"/>
              </a:rPr>
              <a:t>SignImm</a:t>
            </a:r>
            <a:endParaRPr lang="zh-CN" altLang="en-US" sz="1400" dirty="0">
              <a:latin typeface="Times New Roman" panose="02020603050405020304" pitchFamily="18" charset="0"/>
              <a:cs typeface="Times New Roman" panose="02020603050405020304" pitchFamily="18" charset="0"/>
            </a:endParaRPr>
          </a:p>
        </p:txBody>
      </p:sp>
      <p:cxnSp>
        <p:nvCxnSpPr>
          <p:cNvPr id="62" name="直接连接符 61"/>
          <p:cNvCxnSpPr/>
          <p:nvPr/>
        </p:nvCxnSpPr>
        <p:spPr>
          <a:xfrm>
            <a:off x="6577127" y="3416856"/>
            <a:ext cx="768407"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577127" y="3627483"/>
            <a:ext cx="108420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444490" y="3831183"/>
            <a:ext cx="217317"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7179629" y="3671342"/>
            <a:ext cx="274434"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4</a:t>
            </a:r>
            <a:endParaRPr lang="zh-CN" altLang="en-US" sz="1400" dirty="0">
              <a:latin typeface="Times New Roman" panose="02020603050405020304" pitchFamily="18" charset="0"/>
              <a:cs typeface="Times New Roman" panose="02020603050405020304" pitchFamily="18" charset="0"/>
            </a:endParaRPr>
          </a:p>
        </p:txBody>
      </p:sp>
      <p:cxnSp>
        <p:nvCxnSpPr>
          <p:cNvPr id="66" name="直接连接符 65"/>
          <p:cNvCxnSpPr/>
          <p:nvPr/>
        </p:nvCxnSpPr>
        <p:spPr>
          <a:xfrm>
            <a:off x="8076398" y="3936441"/>
            <a:ext cx="43653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7" name="平行四边形 66"/>
          <p:cNvSpPr/>
          <p:nvPr/>
        </p:nvSpPr>
        <p:spPr>
          <a:xfrm rot="4500000">
            <a:off x="7222642" y="4629330"/>
            <a:ext cx="472862" cy="389383"/>
          </a:xfrm>
          <a:prstGeom prst="parallelogram">
            <a:avLst/>
          </a:prstGeom>
          <a:solidFill>
            <a:srgbClr val="ED7D3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68" name="矩形 67"/>
          <p:cNvSpPr/>
          <p:nvPr/>
        </p:nvSpPr>
        <p:spPr>
          <a:xfrm>
            <a:off x="7224858" y="4666924"/>
            <a:ext cx="476412"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&lt;&lt;2</a:t>
            </a:r>
            <a:endParaRPr lang="zh-CN" altLang="en-US" sz="1400" dirty="0">
              <a:latin typeface="Times New Roman" panose="02020603050405020304" pitchFamily="18" charset="0"/>
              <a:cs typeface="Times New Roman" panose="02020603050405020304" pitchFamily="18" charset="0"/>
            </a:endParaRPr>
          </a:p>
        </p:txBody>
      </p:sp>
      <p:sp>
        <p:nvSpPr>
          <p:cNvPr id="69" name="任意多边形: 形状 192"/>
          <p:cNvSpPr/>
          <p:nvPr/>
        </p:nvSpPr>
        <p:spPr>
          <a:xfrm flipV="1">
            <a:off x="7543466" y="3236087"/>
            <a:ext cx="969470" cy="47828"/>
          </a:xfrm>
          <a:custGeom>
            <a:avLst/>
            <a:gdLst>
              <a:gd name="connsiteX0" fmla="*/ 0 w 901700"/>
              <a:gd name="connsiteY0" fmla="*/ 0 h 107950"/>
              <a:gd name="connsiteX1" fmla="*/ 831850 w 901700"/>
              <a:gd name="connsiteY1" fmla="*/ 0 h 107950"/>
              <a:gd name="connsiteX2" fmla="*/ 831850 w 901700"/>
              <a:gd name="connsiteY2" fmla="*/ 107950 h 107950"/>
              <a:gd name="connsiteX3" fmla="*/ 901700 w 901700"/>
              <a:gd name="connsiteY3" fmla="*/ 107950 h 107950"/>
              <a:gd name="connsiteX0-1" fmla="*/ 0 w 914400"/>
              <a:gd name="connsiteY0-2" fmla="*/ 0 h 107950"/>
              <a:gd name="connsiteX1-3" fmla="*/ 831850 w 914400"/>
              <a:gd name="connsiteY1-4" fmla="*/ 0 h 107950"/>
              <a:gd name="connsiteX2-5" fmla="*/ 831850 w 914400"/>
              <a:gd name="connsiteY2-6" fmla="*/ 107950 h 107950"/>
              <a:gd name="connsiteX3-7" fmla="*/ 914400 w 914400"/>
              <a:gd name="connsiteY3-8" fmla="*/ 104775 h 107950"/>
              <a:gd name="connsiteX0-9" fmla="*/ 0 w 839397"/>
              <a:gd name="connsiteY0-10" fmla="*/ 0 h 107950"/>
              <a:gd name="connsiteX1-11" fmla="*/ 831850 w 839397"/>
              <a:gd name="connsiteY1-12" fmla="*/ 0 h 107950"/>
              <a:gd name="connsiteX2-13" fmla="*/ 831850 w 839397"/>
              <a:gd name="connsiteY2-14" fmla="*/ 107950 h 107950"/>
              <a:gd name="connsiteX3-15" fmla="*/ 838200 w 839397"/>
              <a:gd name="connsiteY3-16" fmla="*/ 97155 h 107950"/>
              <a:gd name="connsiteX0-17" fmla="*/ 0 w 839397"/>
              <a:gd name="connsiteY0-18" fmla="*/ 0 h 107950"/>
              <a:gd name="connsiteX1-19" fmla="*/ 831850 w 839397"/>
              <a:gd name="connsiteY1-20" fmla="*/ 0 h 107950"/>
              <a:gd name="connsiteX2-21" fmla="*/ 831850 w 839397"/>
              <a:gd name="connsiteY2-22" fmla="*/ 107950 h 107950"/>
              <a:gd name="connsiteX3-23" fmla="*/ 838200 w 839397"/>
              <a:gd name="connsiteY3-24" fmla="*/ 20955 h 107950"/>
              <a:gd name="connsiteX0-25" fmla="*/ 0 w 831850"/>
              <a:gd name="connsiteY0-26" fmla="*/ 0 h 107950"/>
              <a:gd name="connsiteX1-27" fmla="*/ 831850 w 831850"/>
              <a:gd name="connsiteY1-28" fmla="*/ 0 h 107950"/>
              <a:gd name="connsiteX2-29" fmla="*/ 831850 w 831850"/>
              <a:gd name="connsiteY2-30" fmla="*/ 107950 h 107950"/>
              <a:gd name="connsiteX0-31" fmla="*/ 0 w 831850"/>
              <a:gd name="connsiteY0-32" fmla="*/ 0 h 69850"/>
              <a:gd name="connsiteX1-33" fmla="*/ 831850 w 831850"/>
              <a:gd name="connsiteY1-34" fmla="*/ 0 h 69850"/>
              <a:gd name="connsiteX2-35" fmla="*/ 831850 w 831850"/>
              <a:gd name="connsiteY2-36" fmla="*/ 69850 h 69850"/>
              <a:gd name="connsiteX0-37" fmla="*/ 0 w 831850"/>
              <a:gd name="connsiteY0-38" fmla="*/ 0 h 0"/>
              <a:gd name="connsiteX1-39" fmla="*/ 831850 w 831850"/>
              <a:gd name="connsiteY1-40" fmla="*/ 0 h 0"/>
            </a:gdLst>
            <a:ahLst/>
            <a:cxnLst>
              <a:cxn ang="0">
                <a:pos x="connsiteX0-1" y="connsiteY0-2"/>
              </a:cxn>
              <a:cxn ang="0">
                <a:pos x="connsiteX1-3" y="connsiteY1-4"/>
              </a:cxn>
            </a:cxnLst>
            <a:rect l="l" t="t" r="r" b="b"/>
            <a:pathLst>
              <a:path w="831850">
                <a:moveTo>
                  <a:pt x="0" y="0"/>
                </a:moveTo>
                <a:lnTo>
                  <a:pt x="831850" y="0"/>
                </a:lnTo>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70" name="矩形 69"/>
          <p:cNvSpPr/>
          <p:nvPr/>
        </p:nvSpPr>
        <p:spPr>
          <a:xfrm>
            <a:off x="8030735" y="3018412"/>
            <a:ext cx="553357" cy="307648"/>
          </a:xfrm>
          <a:prstGeom prst="rect">
            <a:avLst/>
          </a:prstGeom>
        </p:spPr>
        <p:txBody>
          <a:bodyPr wrap="none">
            <a:spAutoFit/>
          </a:bodyPr>
          <a:lstStyle/>
          <a:p>
            <a:r>
              <a:rPr lang="en-US" altLang="zh-CN" sz="1400" dirty="0" err="1">
                <a:latin typeface="Times New Roman" panose="02020603050405020304" pitchFamily="18" charset="0"/>
                <a:cs typeface="Times New Roman" panose="02020603050405020304" pitchFamily="18" charset="0"/>
              </a:rPr>
              <a:t>SrcA</a:t>
            </a:r>
            <a:endParaRPr lang="zh-CN" altLang="en-US" sz="1400" dirty="0">
              <a:latin typeface="Times New Roman" panose="02020603050405020304" pitchFamily="18" charset="0"/>
              <a:cs typeface="Times New Roman" panose="02020603050405020304" pitchFamily="18" charset="0"/>
            </a:endParaRPr>
          </a:p>
        </p:txBody>
      </p:sp>
      <p:sp>
        <p:nvSpPr>
          <p:cNvPr id="71" name="矩形 70"/>
          <p:cNvSpPr/>
          <p:nvPr/>
        </p:nvSpPr>
        <p:spPr>
          <a:xfrm>
            <a:off x="8056113" y="3917555"/>
            <a:ext cx="543739" cy="307648"/>
          </a:xfrm>
          <a:prstGeom prst="rect">
            <a:avLst/>
          </a:prstGeom>
        </p:spPr>
        <p:txBody>
          <a:bodyPr wrap="none">
            <a:spAutoFit/>
          </a:bodyPr>
          <a:lstStyle/>
          <a:p>
            <a:r>
              <a:rPr lang="en-US" altLang="zh-CN" sz="1400" dirty="0" err="1">
                <a:latin typeface="Times New Roman" panose="02020603050405020304" pitchFamily="18" charset="0"/>
                <a:cs typeface="Times New Roman" panose="02020603050405020304" pitchFamily="18" charset="0"/>
              </a:rPr>
              <a:t>SrcB</a:t>
            </a:r>
            <a:endParaRPr lang="zh-CN" altLang="en-US" sz="1400" dirty="0">
              <a:latin typeface="Times New Roman" panose="02020603050405020304" pitchFamily="18" charset="0"/>
              <a:cs typeface="Times New Roman" panose="02020603050405020304" pitchFamily="18" charset="0"/>
            </a:endParaRPr>
          </a:p>
        </p:txBody>
      </p:sp>
      <p:sp>
        <p:nvSpPr>
          <p:cNvPr id="72" name="矩形 71"/>
          <p:cNvSpPr/>
          <p:nvPr/>
        </p:nvSpPr>
        <p:spPr>
          <a:xfrm>
            <a:off x="8695178" y="3111099"/>
            <a:ext cx="603050" cy="307648"/>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Equal</a:t>
            </a:r>
            <a:endParaRPr lang="zh-CN" altLang="en-US" sz="1400" dirty="0">
              <a:latin typeface="Times New Roman" panose="02020603050405020304" pitchFamily="18" charset="0"/>
              <a:cs typeface="Times New Roman" panose="02020603050405020304" pitchFamily="18" charset="0"/>
            </a:endParaRPr>
          </a:p>
        </p:txBody>
      </p:sp>
      <p:sp>
        <p:nvSpPr>
          <p:cNvPr id="73" name="矩形 72"/>
          <p:cNvSpPr/>
          <p:nvPr/>
        </p:nvSpPr>
        <p:spPr>
          <a:xfrm>
            <a:off x="8939316" y="3658994"/>
            <a:ext cx="809837" cy="276999"/>
          </a:xfrm>
          <a:prstGeom prst="rect">
            <a:avLst/>
          </a:prstGeom>
          <a:ln>
            <a:noFill/>
          </a:ln>
        </p:spPr>
        <p:txBody>
          <a:bodyPr wrap="none">
            <a:spAutoFit/>
          </a:bodyPr>
          <a:lstStyle/>
          <a:p>
            <a:r>
              <a:rPr lang="en-US" altLang="zh-CN" sz="1200" dirty="0" err="1">
                <a:latin typeface="Times New Roman" panose="02020603050405020304" pitchFamily="18" charset="0"/>
                <a:cs typeface="Times New Roman" panose="02020603050405020304" pitchFamily="18" charset="0"/>
              </a:rPr>
              <a:t>AluResult</a:t>
            </a:r>
            <a:endParaRPr lang="zh-CN" altLang="en-US" sz="1200" dirty="0">
              <a:latin typeface="Times New Roman" panose="02020603050405020304" pitchFamily="18" charset="0"/>
              <a:cs typeface="Times New Roman" panose="02020603050405020304" pitchFamily="18" charset="0"/>
            </a:endParaRPr>
          </a:p>
        </p:txBody>
      </p:sp>
      <p:cxnSp>
        <p:nvCxnSpPr>
          <p:cNvPr id="74" name="直接连接符 73"/>
          <p:cNvCxnSpPr/>
          <p:nvPr/>
        </p:nvCxnSpPr>
        <p:spPr>
          <a:xfrm>
            <a:off x="8933081" y="3649614"/>
            <a:ext cx="89570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9935847" y="3659368"/>
            <a:ext cx="649270"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9717835" y="3455879"/>
            <a:ext cx="205903" cy="409719"/>
          </a:xfrm>
          <a:prstGeom prst="rect">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Arial Black" panose="020B0A04020102020204" pitchFamily="34" charset="0"/>
              </a:rPr>
              <a:t>C</a:t>
            </a:r>
            <a:endParaRPr lang="zh-CN" altLang="en-US" sz="1100" dirty="0">
              <a:solidFill>
                <a:schemeClr val="tx1"/>
              </a:solidFill>
              <a:latin typeface="Arial Black" panose="020B0A04020102020204" pitchFamily="34" charset="0"/>
            </a:endParaRPr>
          </a:p>
        </p:txBody>
      </p:sp>
      <p:sp>
        <p:nvSpPr>
          <p:cNvPr id="77" name="矩形 76"/>
          <p:cNvSpPr/>
          <p:nvPr/>
        </p:nvSpPr>
        <p:spPr>
          <a:xfrm>
            <a:off x="9888324" y="3414650"/>
            <a:ext cx="789609" cy="276999"/>
          </a:xfrm>
          <a:prstGeom prst="rect">
            <a:avLst/>
          </a:prstGeom>
        </p:spPr>
        <p:txBody>
          <a:bodyPr wrap="square">
            <a:spAutoFit/>
          </a:bodyPr>
          <a:lstStyle/>
          <a:p>
            <a:r>
              <a:rPr lang="en-US" altLang="zh-CN" sz="1200" dirty="0" err="1">
                <a:latin typeface="Times New Roman" panose="02020603050405020304" pitchFamily="18" charset="0"/>
                <a:cs typeface="Times New Roman" panose="02020603050405020304" pitchFamily="18" charset="0"/>
              </a:rPr>
              <a:t>Aluout</a:t>
            </a:r>
            <a:endParaRPr lang="zh-CN" altLang="en-US" sz="1200" dirty="0">
              <a:latin typeface="Times New Roman" panose="02020603050405020304" pitchFamily="18" charset="0"/>
              <a:cs typeface="Times New Roman" panose="02020603050405020304" pitchFamily="18" charset="0"/>
            </a:endParaRPr>
          </a:p>
        </p:txBody>
      </p:sp>
      <p:cxnSp>
        <p:nvCxnSpPr>
          <p:cNvPr id="78" name="直接连接符 77"/>
          <p:cNvCxnSpPr/>
          <p:nvPr/>
        </p:nvCxnSpPr>
        <p:spPr>
          <a:xfrm>
            <a:off x="3975934" y="3959603"/>
            <a:ext cx="139609"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3798060" y="4171230"/>
            <a:ext cx="323831"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312252" y="4036530"/>
            <a:ext cx="52461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3093762" y="3261701"/>
            <a:ext cx="373820" cy="261610"/>
          </a:xfrm>
          <a:prstGeom prst="rect">
            <a:avLst/>
          </a:prstGeom>
        </p:spPr>
        <p:txBody>
          <a:bodyPr wrap="none">
            <a:spAutoFit/>
          </a:bodyPr>
          <a:lstStyle/>
          <a:p>
            <a:r>
              <a:rPr lang="en-US" altLang="zh-CN" sz="1100" dirty="0">
                <a:latin typeface="Times New Roman" panose="02020603050405020304" pitchFamily="18" charset="0"/>
                <a:cs typeface="Times New Roman" panose="02020603050405020304" pitchFamily="18" charset="0"/>
              </a:rPr>
              <a:t>EN</a:t>
            </a:r>
            <a:endParaRPr lang="zh-CN" altLang="en-US" sz="1100" dirty="0">
              <a:latin typeface="Times New Roman" panose="02020603050405020304" pitchFamily="18" charset="0"/>
              <a:cs typeface="Times New Roman" panose="02020603050405020304" pitchFamily="18" charset="0"/>
            </a:endParaRPr>
          </a:p>
        </p:txBody>
      </p:sp>
      <p:grpSp>
        <p:nvGrpSpPr>
          <p:cNvPr id="82" name="组合 81"/>
          <p:cNvGrpSpPr/>
          <p:nvPr/>
        </p:nvGrpSpPr>
        <p:grpSpPr>
          <a:xfrm>
            <a:off x="4077930" y="1123851"/>
            <a:ext cx="653529" cy="1568364"/>
            <a:chOff x="4823977" y="1700209"/>
            <a:chExt cx="689269" cy="1654134"/>
          </a:xfrm>
        </p:grpSpPr>
        <p:sp>
          <p:nvSpPr>
            <p:cNvPr id="83" name="矩形: 圆角 25"/>
            <p:cNvSpPr/>
            <p:nvPr/>
          </p:nvSpPr>
          <p:spPr>
            <a:xfrm>
              <a:off x="4870344" y="1700209"/>
              <a:ext cx="642902" cy="1654134"/>
            </a:xfrm>
            <a:prstGeom prst="roundRect">
              <a:avLst/>
            </a:prstGeom>
            <a:solidFill>
              <a:srgbClr val="59B2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4" name="矩形 83"/>
            <p:cNvSpPr/>
            <p:nvPr/>
          </p:nvSpPr>
          <p:spPr>
            <a:xfrm>
              <a:off x="4957797" y="1975984"/>
              <a:ext cx="440994" cy="832823"/>
            </a:xfrm>
            <a:prstGeom prst="rect">
              <a:avLst/>
            </a:prstGeom>
          </p:spPr>
          <p:txBody>
            <a:bodyPr vert="eaVert" wrap="none">
              <a:spAutoFit/>
            </a:bodyPr>
            <a:lstStyle/>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控 制 器</a:t>
              </a:r>
              <a:endPar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5" name="矩形 84"/>
            <p:cNvSpPr/>
            <p:nvPr/>
          </p:nvSpPr>
          <p:spPr>
            <a:xfrm>
              <a:off x="4823977" y="2948213"/>
              <a:ext cx="573475" cy="324473"/>
            </a:xfrm>
            <a:prstGeom prst="rect">
              <a:avLst/>
            </a:prstGeom>
          </p:spPr>
          <p:txBody>
            <a:bodyPr wrap="none">
              <a:spAutoFit/>
            </a:bodyPr>
            <a:lstStyle/>
            <a:p>
              <a:r>
                <a:rPr lang="en-US" altLang="zh-CN" sz="1400" dirty="0" err="1">
                  <a:solidFill>
                    <a:schemeClr val="bg1"/>
                  </a:solidFill>
                  <a:latin typeface="Times New Roman" panose="02020603050405020304" pitchFamily="18" charset="0"/>
                  <a:cs typeface="Times New Roman" panose="02020603050405020304" pitchFamily="18" charset="0"/>
                </a:rPr>
                <a:t>Func</a:t>
              </a:r>
              <a:endParaRPr lang="zh-CN" altLang="en-US" sz="1400" dirty="0">
                <a:solidFill>
                  <a:schemeClr val="bg1"/>
                </a:solidFill>
                <a:latin typeface="Times New Roman" panose="02020603050405020304" pitchFamily="18" charset="0"/>
                <a:cs typeface="Times New Roman" panose="02020603050405020304" pitchFamily="18" charset="0"/>
              </a:endParaRPr>
            </a:p>
          </p:txBody>
        </p:sp>
        <p:sp>
          <p:nvSpPr>
            <p:cNvPr id="86" name="矩形 85"/>
            <p:cNvSpPr/>
            <p:nvPr/>
          </p:nvSpPr>
          <p:spPr>
            <a:xfrm>
              <a:off x="4823977" y="2738737"/>
              <a:ext cx="426387" cy="324473"/>
            </a:xfrm>
            <a:prstGeom prst="rect">
              <a:avLst/>
            </a:prstGeom>
          </p:spPr>
          <p:txBody>
            <a:bodyPr wrap="none">
              <a:spAutoFit/>
            </a:bodyPr>
            <a:lstStyle/>
            <a:p>
              <a:r>
                <a:rPr lang="en-US" altLang="zh-CN" sz="1400" dirty="0">
                  <a:solidFill>
                    <a:schemeClr val="bg1"/>
                  </a:solidFill>
                  <a:latin typeface="Times New Roman" panose="02020603050405020304" pitchFamily="18" charset="0"/>
                  <a:cs typeface="Times New Roman" panose="02020603050405020304" pitchFamily="18" charset="0"/>
                </a:rPr>
                <a:t>Op</a:t>
              </a:r>
              <a:endParaRPr lang="zh-CN" altLang="en-US" sz="1400" dirty="0">
                <a:solidFill>
                  <a:schemeClr val="bg1"/>
                </a:solidFill>
                <a:latin typeface="Times New Roman" panose="02020603050405020304" pitchFamily="18" charset="0"/>
                <a:cs typeface="Times New Roman" panose="02020603050405020304" pitchFamily="18" charset="0"/>
              </a:endParaRPr>
            </a:p>
          </p:txBody>
        </p:sp>
      </p:grpSp>
      <p:grpSp>
        <p:nvGrpSpPr>
          <p:cNvPr id="87" name="Group 1"/>
          <p:cNvGrpSpPr/>
          <p:nvPr/>
        </p:nvGrpSpPr>
        <p:grpSpPr>
          <a:xfrm>
            <a:off x="9800181" y="1331082"/>
            <a:ext cx="259246" cy="192503"/>
            <a:chOff x="3990332" y="3048832"/>
            <a:chExt cx="1009448" cy="723602"/>
          </a:xfrm>
        </p:grpSpPr>
        <p:sp>
          <p:nvSpPr>
            <p:cNvPr id="88" name="Stored Data 71"/>
            <p:cNvSpPr/>
            <p:nvPr/>
          </p:nvSpPr>
          <p:spPr>
            <a:xfrm rot="10800000">
              <a:off x="3997590" y="3048854"/>
              <a:ext cx="1002190"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1" fmla="*/ 4932 w 13265"/>
                <a:gd name="connsiteY0-2" fmla="*/ 0 h 10000"/>
                <a:gd name="connsiteX1-3" fmla="*/ 13265 w 13265"/>
                <a:gd name="connsiteY1-4" fmla="*/ 0 h 10000"/>
                <a:gd name="connsiteX2-5" fmla="*/ 11598 w 13265"/>
                <a:gd name="connsiteY2-6" fmla="*/ 5000 h 10000"/>
                <a:gd name="connsiteX3-7" fmla="*/ 13265 w 13265"/>
                <a:gd name="connsiteY3-8" fmla="*/ 10000 h 10000"/>
                <a:gd name="connsiteX4-9" fmla="*/ 4932 w 13265"/>
                <a:gd name="connsiteY4-10" fmla="*/ 10000 h 10000"/>
                <a:gd name="connsiteX5-11" fmla="*/ 0 w 13265"/>
                <a:gd name="connsiteY5-12" fmla="*/ 5084 h 10000"/>
                <a:gd name="connsiteX6-13" fmla="*/ 4932 w 13265"/>
                <a:gd name="connsiteY6-14" fmla="*/ 0 h 10000"/>
                <a:gd name="connsiteX0-15" fmla="*/ 5226 w 13559"/>
                <a:gd name="connsiteY0-16" fmla="*/ 0 h 10000"/>
                <a:gd name="connsiteX1-17" fmla="*/ 13559 w 13559"/>
                <a:gd name="connsiteY1-18" fmla="*/ 0 h 10000"/>
                <a:gd name="connsiteX2-19" fmla="*/ 11892 w 13559"/>
                <a:gd name="connsiteY2-20" fmla="*/ 5000 h 10000"/>
                <a:gd name="connsiteX3-21" fmla="*/ 13559 w 13559"/>
                <a:gd name="connsiteY3-22" fmla="*/ 10000 h 10000"/>
                <a:gd name="connsiteX4-23" fmla="*/ 5226 w 13559"/>
                <a:gd name="connsiteY4-24" fmla="*/ 10000 h 10000"/>
                <a:gd name="connsiteX5-25" fmla="*/ 294 w 13559"/>
                <a:gd name="connsiteY5-26" fmla="*/ 5084 h 10000"/>
                <a:gd name="connsiteX6-27" fmla="*/ 5226 w 13559"/>
                <a:gd name="connsiteY6-28" fmla="*/ 0 h 10000"/>
                <a:gd name="connsiteX0-29" fmla="*/ 4933 w 13266"/>
                <a:gd name="connsiteY0-30" fmla="*/ 0 h 10000"/>
                <a:gd name="connsiteX1-31" fmla="*/ 13266 w 13266"/>
                <a:gd name="connsiteY1-32" fmla="*/ 0 h 10000"/>
                <a:gd name="connsiteX2-33" fmla="*/ 11599 w 13266"/>
                <a:gd name="connsiteY2-34" fmla="*/ 5000 h 10000"/>
                <a:gd name="connsiteX3-35" fmla="*/ 13266 w 13266"/>
                <a:gd name="connsiteY3-36" fmla="*/ 10000 h 10000"/>
                <a:gd name="connsiteX4-37" fmla="*/ 4933 w 13266"/>
                <a:gd name="connsiteY4-38" fmla="*/ 10000 h 10000"/>
                <a:gd name="connsiteX5-39" fmla="*/ 1 w 13266"/>
                <a:gd name="connsiteY5-40" fmla="*/ 5084 h 10000"/>
                <a:gd name="connsiteX6-41" fmla="*/ 4933 w 13266"/>
                <a:gd name="connsiteY6-42" fmla="*/ 0 h 10000"/>
                <a:gd name="connsiteX0-43" fmla="*/ 4933 w 13266"/>
                <a:gd name="connsiteY0-44" fmla="*/ 0 h 10000"/>
                <a:gd name="connsiteX1-45" fmla="*/ 13266 w 13266"/>
                <a:gd name="connsiteY1-46" fmla="*/ 0 h 10000"/>
                <a:gd name="connsiteX2-47" fmla="*/ 11599 w 13266"/>
                <a:gd name="connsiteY2-48" fmla="*/ 5000 h 10000"/>
                <a:gd name="connsiteX3-49" fmla="*/ 13266 w 13266"/>
                <a:gd name="connsiteY3-50" fmla="*/ 10000 h 10000"/>
                <a:gd name="connsiteX4-51" fmla="*/ 4933 w 13266"/>
                <a:gd name="connsiteY4-52" fmla="*/ 10000 h 10000"/>
                <a:gd name="connsiteX5-53" fmla="*/ 1 w 13266"/>
                <a:gd name="connsiteY5-54" fmla="*/ 5084 h 10000"/>
                <a:gd name="connsiteX6-55" fmla="*/ 4933 w 13266"/>
                <a:gd name="connsiteY6-56" fmla="*/ 0 h 10000"/>
                <a:gd name="connsiteX0-57" fmla="*/ 4966 w 13299"/>
                <a:gd name="connsiteY0-58" fmla="*/ 0 h 10000"/>
                <a:gd name="connsiteX1-59" fmla="*/ 13299 w 13299"/>
                <a:gd name="connsiteY1-60" fmla="*/ 0 h 10000"/>
                <a:gd name="connsiteX2-61" fmla="*/ 11632 w 13299"/>
                <a:gd name="connsiteY2-62" fmla="*/ 5000 h 10000"/>
                <a:gd name="connsiteX3-63" fmla="*/ 13299 w 13299"/>
                <a:gd name="connsiteY3-64" fmla="*/ 10000 h 10000"/>
                <a:gd name="connsiteX4-65" fmla="*/ 7782 w 13299"/>
                <a:gd name="connsiteY4-66" fmla="*/ 10000 h 10000"/>
                <a:gd name="connsiteX5-67" fmla="*/ 34 w 13299"/>
                <a:gd name="connsiteY5-68" fmla="*/ 5084 h 10000"/>
                <a:gd name="connsiteX6-69" fmla="*/ 4966 w 13299"/>
                <a:gd name="connsiteY6-70" fmla="*/ 0 h 10000"/>
                <a:gd name="connsiteX0-71" fmla="*/ 4947 w 13280"/>
                <a:gd name="connsiteY0-72" fmla="*/ 0 h 10000"/>
                <a:gd name="connsiteX1-73" fmla="*/ 13280 w 13280"/>
                <a:gd name="connsiteY1-74" fmla="*/ 0 h 10000"/>
                <a:gd name="connsiteX2-75" fmla="*/ 11613 w 13280"/>
                <a:gd name="connsiteY2-76" fmla="*/ 5000 h 10000"/>
                <a:gd name="connsiteX3-77" fmla="*/ 13280 w 13280"/>
                <a:gd name="connsiteY3-78" fmla="*/ 10000 h 10000"/>
                <a:gd name="connsiteX4-79" fmla="*/ 6702 w 13280"/>
                <a:gd name="connsiteY4-80" fmla="*/ 9832 h 10000"/>
                <a:gd name="connsiteX5-81" fmla="*/ 15 w 13280"/>
                <a:gd name="connsiteY5-82" fmla="*/ 5084 h 10000"/>
                <a:gd name="connsiteX6-83" fmla="*/ 4947 w 13280"/>
                <a:gd name="connsiteY6-84" fmla="*/ 0 h 10000"/>
                <a:gd name="connsiteX0-85" fmla="*/ 4933 w 13266"/>
                <a:gd name="connsiteY0-86" fmla="*/ 0 h 10000"/>
                <a:gd name="connsiteX1-87" fmla="*/ 13266 w 13266"/>
                <a:gd name="connsiteY1-88" fmla="*/ 0 h 10000"/>
                <a:gd name="connsiteX2-89" fmla="*/ 11599 w 13266"/>
                <a:gd name="connsiteY2-90" fmla="*/ 5000 h 10000"/>
                <a:gd name="connsiteX3-91" fmla="*/ 13266 w 13266"/>
                <a:gd name="connsiteY3-92" fmla="*/ 10000 h 10000"/>
                <a:gd name="connsiteX4-93" fmla="*/ 6688 w 13266"/>
                <a:gd name="connsiteY4-94" fmla="*/ 9832 h 10000"/>
                <a:gd name="connsiteX5-95" fmla="*/ 1 w 13266"/>
                <a:gd name="connsiteY5-96" fmla="*/ 5084 h 10000"/>
                <a:gd name="connsiteX6-97" fmla="*/ 4933 w 13266"/>
                <a:gd name="connsiteY6-98" fmla="*/ 0 h 10000"/>
                <a:gd name="connsiteX0-99" fmla="*/ 5711 w 13268"/>
                <a:gd name="connsiteY0-100" fmla="*/ 126 h 10000"/>
                <a:gd name="connsiteX1-101" fmla="*/ 13268 w 13268"/>
                <a:gd name="connsiteY1-102" fmla="*/ 0 h 10000"/>
                <a:gd name="connsiteX2-103" fmla="*/ 11601 w 13268"/>
                <a:gd name="connsiteY2-104" fmla="*/ 5000 h 10000"/>
                <a:gd name="connsiteX3-105" fmla="*/ 13268 w 13268"/>
                <a:gd name="connsiteY3-106" fmla="*/ 10000 h 10000"/>
                <a:gd name="connsiteX4-107" fmla="*/ 6690 w 13268"/>
                <a:gd name="connsiteY4-108" fmla="*/ 9832 h 10000"/>
                <a:gd name="connsiteX5-109" fmla="*/ 3 w 13268"/>
                <a:gd name="connsiteY5-110" fmla="*/ 5084 h 10000"/>
                <a:gd name="connsiteX6-111" fmla="*/ 5711 w 13268"/>
                <a:gd name="connsiteY6-112" fmla="*/ 126 h 10000"/>
                <a:gd name="connsiteX0-113" fmla="*/ 5709 w 13266"/>
                <a:gd name="connsiteY0-114" fmla="*/ 126 h 10000"/>
                <a:gd name="connsiteX1-115" fmla="*/ 13266 w 13266"/>
                <a:gd name="connsiteY1-116" fmla="*/ 0 h 10000"/>
                <a:gd name="connsiteX2-117" fmla="*/ 11599 w 13266"/>
                <a:gd name="connsiteY2-118" fmla="*/ 5000 h 10000"/>
                <a:gd name="connsiteX3-119" fmla="*/ 13266 w 13266"/>
                <a:gd name="connsiteY3-120" fmla="*/ 10000 h 10000"/>
                <a:gd name="connsiteX4-121" fmla="*/ 6688 w 13266"/>
                <a:gd name="connsiteY4-122" fmla="*/ 9832 h 10000"/>
                <a:gd name="connsiteX5-123" fmla="*/ 1 w 13266"/>
                <a:gd name="connsiteY5-124" fmla="*/ 5084 h 10000"/>
                <a:gd name="connsiteX6-125" fmla="*/ 5709 w 13266"/>
                <a:gd name="connsiteY6-126" fmla="*/ 126 h 10000"/>
                <a:gd name="connsiteX0-127" fmla="*/ 5709 w 13266"/>
                <a:gd name="connsiteY0-128" fmla="*/ 126 h 10000"/>
                <a:gd name="connsiteX1-129" fmla="*/ 13266 w 13266"/>
                <a:gd name="connsiteY1-130" fmla="*/ 0 h 10000"/>
                <a:gd name="connsiteX2-131" fmla="*/ 11599 w 13266"/>
                <a:gd name="connsiteY2-132" fmla="*/ 5000 h 10000"/>
                <a:gd name="connsiteX3-133" fmla="*/ 13266 w 13266"/>
                <a:gd name="connsiteY3-134" fmla="*/ 10000 h 10000"/>
                <a:gd name="connsiteX4-135" fmla="*/ 6688 w 13266"/>
                <a:gd name="connsiteY4-136" fmla="*/ 9832 h 10000"/>
                <a:gd name="connsiteX5-137" fmla="*/ 1 w 13266"/>
                <a:gd name="connsiteY5-138" fmla="*/ 5084 h 10000"/>
                <a:gd name="connsiteX6-139" fmla="*/ 5709 w 13266"/>
                <a:gd name="connsiteY6-140" fmla="*/ 126 h 10000"/>
                <a:gd name="connsiteX0-141" fmla="*/ 6688 w 13265"/>
                <a:gd name="connsiteY0-142" fmla="*/ 42 h 10000"/>
                <a:gd name="connsiteX1-143" fmla="*/ 13265 w 13265"/>
                <a:gd name="connsiteY1-144" fmla="*/ 0 h 10000"/>
                <a:gd name="connsiteX2-145" fmla="*/ 11598 w 13265"/>
                <a:gd name="connsiteY2-146" fmla="*/ 5000 h 10000"/>
                <a:gd name="connsiteX3-147" fmla="*/ 13265 w 13265"/>
                <a:gd name="connsiteY3-148" fmla="*/ 10000 h 10000"/>
                <a:gd name="connsiteX4-149" fmla="*/ 6687 w 13265"/>
                <a:gd name="connsiteY4-150" fmla="*/ 9832 h 10000"/>
                <a:gd name="connsiteX5-151" fmla="*/ 0 w 13265"/>
                <a:gd name="connsiteY5-152" fmla="*/ 5084 h 10000"/>
                <a:gd name="connsiteX6-153" fmla="*/ 6688 w 13265"/>
                <a:gd name="connsiteY6-154" fmla="*/ 42 h 10000"/>
                <a:gd name="connsiteX0-155" fmla="*/ 6688 w 13265"/>
                <a:gd name="connsiteY0-156" fmla="*/ 42 h 9832"/>
                <a:gd name="connsiteX1-157" fmla="*/ 13265 w 13265"/>
                <a:gd name="connsiteY1-158" fmla="*/ 0 h 9832"/>
                <a:gd name="connsiteX2-159" fmla="*/ 11598 w 13265"/>
                <a:gd name="connsiteY2-160" fmla="*/ 5000 h 9832"/>
                <a:gd name="connsiteX3-161" fmla="*/ 11387 w 13265"/>
                <a:gd name="connsiteY3-162" fmla="*/ 9790 h 9832"/>
                <a:gd name="connsiteX4-163" fmla="*/ 6687 w 13265"/>
                <a:gd name="connsiteY4-164" fmla="*/ 9832 h 9832"/>
                <a:gd name="connsiteX5-165" fmla="*/ 0 w 13265"/>
                <a:gd name="connsiteY5-166" fmla="*/ 5084 h 9832"/>
                <a:gd name="connsiteX6-167" fmla="*/ 6688 w 13265"/>
                <a:gd name="connsiteY6-168" fmla="*/ 42 h 9832"/>
                <a:gd name="connsiteX0-169" fmla="*/ 5042 w 10000"/>
                <a:gd name="connsiteY0-170" fmla="*/ 43 h 10000"/>
                <a:gd name="connsiteX1-171" fmla="*/ 10000 w 10000"/>
                <a:gd name="connsiteY1-172" fmla="*/ 0 h 10000"/>
                <a:gd name="connsiteX2-173" fmla="*/ 8743 w 10000"/>
                <a:gd name="connsiteY2-174" fmla="*/ 5085 h 10000"/>
                <a:gd name="connsiteX3-175" fmla="*/ 9692 w 10000"/>
                <a:gd name="connsiteY3-176" fmla="*/ 10000 h 10000"/>
                <a:gd name="connsiteX4-177" fmla="*/ 5041 w 10000"/>
                <a:gd name="connsiteY4-178" fmla="*/ 10000 h 10000"/>
                <a:gd name="connsiteX5-179" fmla="*/ 0 w 10000"/>
                <a:gd name="connsiteY5-180" fmla="*/ 5171 h 10000"/>
                <a:gd name="connsiteX6-181" fmla="*/ 5042 w 10000"/>
                <a:gd name="connsiteY6-182" fmla="*/ 43 h 10000"/>
                <a:gd name="connsiteX0-183" fmla="*/ 5042 w 10000"/>
                <a:gd name="connsiteY0-184" fmla="*/ 43 h 10000"/>
                <a:gd name="connsiteX1-185" fmla="*/ 10000 w 10000"/>
                <a:gd name="connsiteY1-186" fmla="*/ 0 h 10000"/>
                <a:gd name="connsiteX2-187" fmla="*/ 8743 w 10000"/>
                <a:gd name="connsiteY2-188" fmla="*/ 5085 h 10000"/>
                <a:gd name="connsiteX3-189" fmla="*/ 9784 w 10000"/>
                <a:gd name="connsiteY3-190" fmla="*/ 10000 h 10000"/>
                <a:gd name="connsiteX4-191" fmla="*/ 5041 w 10000"/>
                <a:gd name="connsiteY4-192" fmla="*/ 10000 h 10000"/>
                <a:gd name="connsiteX5-193" fmla="*/ 0 w 10000"/>
                <a:gd name="connsiteY5-194" fmla="*/ 5171 h 10000"/>
                <a:gd name="connsiteX6-195" fmla="*/ 5042 w 10000"/>
                <a:gd name="connsiteY6-196" fmla="*/ 43 h 10000"/>
                <a:gd name="connsiteX0-197" fmla="*/ 5042 w 9784"/>
                <a:gd name="connsiteY0-198" fmla="*/ 0 h 9957"/>
                <a:gd name="connsiteX1-199" fmla="*/ 9415 w 9784"/>
                <a:gd name="connsiteY1-200" fmla="*/ 171 h 9957"/>
                <a:gd name="connsiteX2-201" fmla="*/ 8743 w 9784"/>
                <a:gd name="connsiteY2-202" fmla="*/ 5042 h 9957"/>
                <a:gd name="connsiteX3-203" fmla="*/ 9784 w 9784"/>
                <a:gd name="connsiteY3-204" fmla="*/ 9957 h 9957"/>
                <a:gd name="connsiteX4-205" fmla="*/ 5041 w 9784"/>
                <a:gd name="connsiteY4-206" fmla="*/ 9957 h 9957"/>
                <a:gd name="connsiteX5-207" fmla="*/ 0 w 9784"/>
                <a:gd name="connsiteY5-208" fmla="*/ 5128 h 9957"/>
                <a:gd name="connsiteX6-209" fmla="*/ 5042 w 9784"/>
                <a:gd name="connsiteY6-210" fmla="*/ 0 h 9957"/>
                <a:gd name="connsiteX0-211" fmla="*/ 5153 w 10000"/>
                <a:gd name="connsiteY0-212" fmla="*/ 0 h 10000"/>
                <a:gd name="connsiteX1-213" fmla="*/ 9875 w 10000"/>
                <a:gd name="connsiteY1-214" fmla="*/ 172 h 10000"/>
                <a:gd name="connsiteX2-215" fmla="*/ 8936 w 10000"/>
                <a:gd name="connsiteY2-216" fmla="*/ 5064 h 10000"/>
                <a:gd name="connsiteX3-217" fmla="*/ 10000 w 10000"/>
                <a:gd name="connsiteY3-218" fmla="*/ 10000 h 10000"/>
                <a:gd name="connsiteX4-219" fmla="*/ 5152 w 10000"/>
                <a:gd name="connsiteY4-220" fmla="*/ 10000 h 10000"/>
                <a:gd name="connsiteX5-221" fmla="*/ 0 w 10000"/>
                <a:gd name="connsiteY5-222" fmla="*/ 5150 h 10000"/>
                <a:gd name="connsiteX6-223" fmla="*/ 5153 w 10000"/>
                <a:gd name="connsiteY6-224" fmla="*/ 0 h 10000"/>
                <a:gd name="connsiteX0-225" fmla="*/ 5153 w 10001"/>
                <a:gd name="connsiteY0-226" fmla="*/ 0 h 10000"/>
                <a:gd name="connsiteX1-227" fmla="*/ 10001 w 10001"/>
                <a:gd name="connsiteY1-228" fmla="*/ 215 h 10000"/>
                <a:gd name="connsiteX2-229" fmla="*/ 8936 w 10001"/>
                <a:gd name="connsiteY2-230" fmla="*/ 5064 h 10000"/>
                <a:gd name="connsiteX3-231" fmla="*/ 10000 w 10001"/>
                <a:gd name="connsiteY3-232" fmla="*/ 10000 h 10000"/>
                <a:gd name="connsiteX4-233" fmla="*/ 5152 w 10001"/>
                <a:gd name="connsiteY4-234" fmla="*/ 10000 h 10000"/>
                <a:gd name="connsiteX5-235" fmla="*/ 0 w 10001"/>
                <a:gd name="connsiteY5-236" fmla="*/ 5150 h 10000"/>
                <a:gd name="connsiteX6-237" fmla="*/ 5153 w 10001"/>
                <a:gd name="connsiteY6-238" fmla="*/ 0 h 10000"/>
                <a:gd name="connsiteX0-239" fmla="*/ 5184 w 10001"/>
                <a:gd name="connsiteY0-240" fmla="*/ 43 h 9785"/>
                <a:gd name="connsiteX1-241" fmla="*/ 10001 w 10001"/>
                <a:gd name="connsiteY1-242" fmla="*/ 0 h 9785"/>
                <a:gd name="connsiteX2-243" fmla="*/ 8936 w 10001"/>
                <a:gd name="connsiteY2-244" fmla="*/ 4849 h 9785"/>
                <a:gd name="connsiteX3-245" fmla="*/ 10000 w 10001"/>
                <a:gd name="connsiteY3-246" fmla="*/ 9785 h 9785"/>
                <a:gd name="connsiteX4-247" fmla="*/ 5152 w 10001"/>
                <a:gd name="connsiteY4-248" fmla="*/ 9785 h 9785"/>
                <a:gd name="connsiteX5-249" fmla="*/ 0 w 10001"/>
                <a:gd name="connsiteY5-250" fmla="*/ 4935 h 9785"/>
                <a:gd name="connsiteX6-251" fmla="*/ 5184 w 10001"/>
                <a:gd name="connsiteY6-252" fmla="*/ 43 h 9785"/>
                <a:gd name="connsiteX0-253" fmla="*/ 5183 w 10000"/>
                <a:gd name="connsiteY0-254" fmla="*/ 44 h 10000"/>
                <a:gd name="connsiteX1-255" fmla="*/ 10000 w 10000"/>
                <a:gd name="connsiteY1-256" fmla="*/ 0 h 10000"/>
                <a:gd name="connsiteX2-257" fmla="*/ 8935 w 10000"/>
                <a:gd name="connsiteY2-258" fmla="*/ 4956 h 10000"/>
                <a:gd name="connsiteX3-259" fmla="*/ 9999 w 10000"/>
                <a:gd name="connsiteY3-260" fmla="*/ 10000 h 10000"/>
                <a:gd name="connsiteX4-261" fmla="*/ 5151 w 10000"/>
                <a:gd name="connsiteY4-262" fmla="*/ 10000 h 10000"/>
                <a:gd name="connsiteX5-263" fmla="*/ 0 w 10000"/>
                <a:gd name="connsiteY5-264" fmla="*/ 5043 h 10000"/>
                <a:gd name="connsiteX6-265" fmla="*/ 5183 w 10000"/>
                <a:gd name="connsiteY6-266" fmla="*/ 44 h 10000"/>
                <a:gd name="connsiteX0-267" fmla="*/ 5183 w 10000"/>
                <a:gd name="connsiteY0-268" fmla="*/ 44 h 10000"/>
                <a:gd name="connsiteX1-269" fmla="*/ 10000 w 10000"/>
                <a:gd name="connsiteY1-270" fmla="*/ 0 h 10000"/>
                <a:gd name="connsiteX2-271" fmla="*/ 8935 w 10000"/>
                <a:gd name="connsiteY2-272" fmla="*/ 4956 h 10000"/>
                <a:gd name="connsiteX3-273" fmla="*/ 9999 w 10000"/>
                <a:gd name="connsiteY3-274" fmla="*/ 10000 h 10000"/>
                <a:gd name="connsiteX4-275" fmla="*/ 5151 w 10000"/>
                <a:gd name="connsiteY4-276" fmla="*/ 10000 h 10000"/>
                <a:gd name="connsiteX5-277" fmla="*/ 0 w 10000"/>
                <a:gd name="connsiteY5-278" fmla="*/ 5043 h 10000"/>
                <a:gd name="connsiteX6-279" fmla="*/ 5183 w 10000"/>
                <a:gd name="connsiteY6-280" fmla="*/ 44 h 10000"/>
                <a:gd name="connsiteX0-281" fmla="*/ 5183 w 10000"/>
                <a:gd name="connsiteY0-282" fmla="*/ 44 h 10000"/>
                <a:gd name="connsiteX1-283" fmla="*/ 10000 w 10000"/>
                <a:gd name="connsiteY1-284" fmla="*/ 0 h 10000"/>
                <a:gd name="connsiteX2-285" fmla="*/ 8935 w 10000"/>
                <a:gd name="connsiteY2-286" fmla="*/ 4956 h 10000"/>
                <a:gd name="connsiteX3-287" fmla="*/ 9999 w 10000"/>
                <a:gd name="connsiteY3-288" fmla="*/ 10000 h 10000"/>
                <a:gd name="connsiteX4-289" fmla="*/ 5151 w 10000"/>
                <a:gd name="connsiteY4-290" fmla="*/ 10000 h 10000"/>
                <a:gd name="connsiteX5-291" fmla="*/ 0 w 10000"/>
                <a:gd name="connsiteY5-292" fmla="*/ 5043 h 10000"/>
                <a:gd name="connsiteX6-293" fmla="*/ 5183 w 10000"/>
                <a:gd name="connsiteY6-294" fmla="*/ 44 h 10000"/>
                <a:gd name="connsiteX0-295" fmla="*/ 5183 w 10000"/>
                <a:gd name="connsiteY0-296" fmla="*/ 44 h 10000"/>
                <a:gd name="connsiteX1-297" fmla="*/ 10000 w 10000"/>
                <a:gd name="connsiteY1-298" fmla="*/ 0 h 10000"/>
                <a:gd name="connsiteX2-299" fmla="*/ 8935 w 10000"/>
                <a:gd name="connsiteY2-300" fmla="*/ 4956 h 10000"/>
                <a:gd name="connsiteX3-301" fmla="*/ 9999 w 10000"/>
                <a:gd name="connsiteY3-302" fmla="*/ 10000 h 10000"/>
                <a:gd name="connsiteX4-303" fmla="*/ 5151 w 10000"/>
                <a:gd name="connsiteY4-304" fmla="*/ 10000 h 10000"/>
                <a:gd name="connsiteX5-305" fmla="*/ 0 w 10000"/>
                <a:gd name="connsiteY5-306" fmla="*/ 5043 h 10000"/>
                <a:gd name="connsiteX6-307" fmla="*/ 5183 w 10000"/>
                <a:gd name="connsiteY6-308" fmla="*/ 44 h 10000"/>
                <a:gd name="connsiteX0-309" fmla="*/ 5183 w 10000"/>
                <a:gd name="connsiteY0-310" fmla="*/ 44 h 10000"/>
                <a:gd name="connsiteX1-311" fmla="*/ 10000 w 10000"/>
                <a:gd name="connsiteY1-312" fmla="*/ 0 h 10000"/>
                <a:gd name="connsiteX2-313" fmla="*/ 8935 w 10000"/>
                <a:gd name="connsiteY2-314" fmla="*/ 4956 h 10000"/>
                <a:gd name="connsiteX3-315" fmla="*/ 9999 w 10000"/>
                <a:gd name="connsiteY3-316" fmla="*/ 10000 h 10000"/>
                <a:gd name="connsiteX4-317" fmla="*/ 5151 w 10000"/>
                <a:gd name="connsiteY4-318" fmla="*/ 10000 h 10000"/>
                <a:gd name="connsiteX5-319" fmla="*/ 0 w 10000"/>
                <a:gd name="connsiteY5-320" fmla="*/ 5043 h 10000"/>
                <a:gd name="connsiteX6-321" fmla="*/ 5183 w 10000"/>
                <a:gd name="connsiteY6-322" fmla="*/ 44 h 10000"/>
                <a:gd name="connsiteX0-323" fmla="*/ 5183 w 10000"/>
                <a:gd name="connsiteY0-324" fmla="*/ 44 h 10000"/>
                <a:gd name="connsiteX1-325" fmla="*/ 10000 w 10000"/>
                <a:gd name="connsiteY1-326" fmla="*/ 0 h 10000"/>
                <a:gd name="connsiteX2-327" fmla="*/ 8935 w 10000"/>
                <a:gd name="connsiteY2-328" fmla="*/ 4956 h 10000"/>
                <a:gd name="connsiteX3-329" fmla="*/ 9999 w 10000"/>
                <a:gd name="connsiteY3-330" fmla="*/ 10000 h 10000"/>
                <a:gd name="connsiteX4-331" fmla="*/ 5340 w 10000"/>
                <a:gd name="connsiteY4-332" fmla="*/ 9956 h 10000"/>
                <a:gd name="connsiteX5-333" fmla="*/ 0 w 10000"/>
                <a:gd name="connsiteY5-334" fmla="*/ 5043 h 10000"/>
                <a:gd name="connsiteX6-335" fmla="*/ 5183 w 10000"/>
                <a:gd name="connsiteY6-336" fmla="*/ 44 h 10000"/>
                <a:gd name="connsiteX0-337" fmla="*/ 5183 w 10000"/>
                <a:gd name="connsiteY0-338" fmla="*/ 44 h 10000"/>
                <a:gd name="connsiteX1-339" fmla="*/ 10000 w 10000"/>
                <a:gd name="connsiteY1-340" fmla="*/ 0 h 10000"/>
                <a:gd name="connsiteX2-341" fmla="*/ 8935 w 10000"/>
                <a:gd name="connsiteY2-342" fmla="*/ 4956 h 10000"/>
                <a:gd name="connsiteX3-343" fmla="*/ 9999 w 10000"/>
                <a:gd name="connsiteY3-344" fmla="*/ 10000 h 10000"/>
                <a:gd name="connsiteX4-345" fmla="*/ 5340 w 10000"/>
                <a:gd name="connsiteY4-346" fmla="*/ 9956 h 10000"/>
                <a:gd name="connsiteX5-347" fmla="*/ 0 w 10000"/>
                <a:gd name="connsiteY5-348" fmla="*/ 5043 h 10000"/>
                <a:gd name="connsiteX6-349" fmla="*/ 5183 w 10000"/>
                <a:gd name="connsiteY6-350" fmla="*/ 44 h 10000"/>
                <a:gd name="connsiteX0-351" fmla="*/ 5183 w 10000"/>
                <a:gd name="connsiteY0-352" fmla="*/ 44 h 10000"/>
                <a:gd name="connsiteX1-353" fmla="*/ 10000 w 10000"/>
                <a:gd name="connsiteY1-354" fmla="*/ 0 h 10000"/>
                <a:gd name="connsiteX2-355" fmla="*/ 8935 w 10000"/>
                <a:gd name="connsiteY2-356" fmla="*/ 4956 h 10000"/>
                <a:gd name="connsiteX3-357" fmla="*/ 9999 w 10000"/>
                <a:gd name="connsiteY3-358" fmla="*/ 10000 h 10000"/>
                <a:gd name="connsiteX4-359" fmla="*/ 5183 w 10000"/>
                <a:gd name="connsiteY4-360" fmla="*/ 9912 h 10000"/>
                <a:gd name="connsiteX5-361" fmla="*/ 0 w 10000"/>
                <a:gd name="connsiteY5-362" fmla="*/ 5043 h 10000"/>
                <a:gd name="connsiteX6-363" fmla="*/ 5183 w 10000"/>
                <a:gd name="connsiteY6-364" fmla="*/ 44 h 10000"/>
                <a:gd name="connsiteX0-365" fmla="*/ 5183 w 10000"/>
                <a:gd name="connsiteY0-366" fmla="*/ 44 h 10000"/>
                <a:gd name="connsiteX1-367" fmla="*/ 10000 w 10000"/>
                <a:gd name="connsiteY1-368" fmla="*/ 0 h 10000"/>
                <a:gd name="connsiteX2-369" fmla="*/ 8935 w 10000"/>
                <a:gd name="connsiteY2-370" fmla="*/ 4956 h 10000"/>
                <a:gd name="connsiteX3-371" fmla="*/ 9999 w 10000"/>
                <a:gd name="connsiteY3-372" fmla="*/ 10000 h 10000"/>
                <a:gd name="connsiteX4-373" fmla="*/ 5183 w 10000"/>
                <a:gd name="connsiteY4-374" fmla="*/ 9912 h 10000"/>
                <a:gd name="connsiteX5-375" fmla="*/ 0 w 10000"/>
                <a:gd name="connsiteY5-376" fmla="*/ 5043 h 10000"/>
                <a:gd name="connsiteX6-377" fmla="*/ 5183 w 10000"/>
                <a:gd name="connsiteY6-378" fmla="*/ 44 h 10000"/>
                <a:gd name="connsiteX0-379" fmla="*/ 5183 w 10000"/>
                <a:gd name="connsiteY0-380" fmla="*/ 44 h 10000"/>
                <a:gd name="connsiteX1-381" fmla="*/ 10000 w 10000"/>
                <a:gd name="connsiteY1-382" fmla="*/ 0 h 10000"/>
                <a:gd name="connsiteX2-383" fmla="*/ 8935 w 10000"/>
                <a:gd name="connsiteY2-384" fmla="*/ 4956 h 10000"/>
                <a:gd name="connsiteX3-385" fmla="*/ 9999 w 10000"/>
                <a:gd name="connsiteY3-386" fmla="*/ 10000 h 10000"/>
                <a:gd name="connsiteX4-387" fmla="*/ 5183 w 10000"/>
                <a:gd name="connsiteY4-388" fmla="*/ 9912 h 10000"/>
                <a:gd name="connsiteX5-389" fmla="*/ 0 w 10000"/>
                <a:gd name="connsiteY5-390" fmla="*/ 5043 h 10000"/>
                <a:gd name="connsiteX6-391" fmla="*/ 5183 w 10000"/>
                <a:gd name="connsiteY6-392" fmla="*/ 44 h 10000"/>
                <a:gd name="connsiteX0-393" fmla="*/ 8935 w 10000"/>
                <a:gd name="connsiteY0-394" fmla="*/ 4956 h 10000"/>
                <a:gd name="connsiteX1-395" fmla="*/ 9999 w 10000"/>
                <a:gd name="connsiteY1-396" fmla="*/ 10000 h 10000"/>
                <a:gd name="connsiteX2-397" fmla="*/ 5183 w 10000"/>
                <a:gd name="connsiteY2-398" fmla="*/ 9912 h 10000"/>
                <a:gd name="connsiteX3-399" fmla="*/ 0 w 10000"/>
                <a:gd name="connsiteY3-400" fmla="*/ 5043 h 10000"/>
                <a:gd name="connsiteX4-401" fmla="*/ 5183 w 10000"/>
                <a:gd name="connsiteY4-402" fmla="*/ 44 h 10000"/>
                <a:gd name="connsiteX5-403" fmla="*/ 10000 w 10000"/>
                <a:gd name="connsiteY5-404" fmla="*/ 0 h 10000"/>
                <a:gd name="connsiteX6-405" fmla="*/ 9841 w 10000"/>
                <a:gd name="connsiteY6-406" fmla="*/ 6220 h 10000"/>
                <a:gd name="connsiteX0-407" fmla="*/ 8935 w 10000"/>
                <a:gd name="connsiteY0-408" fmla="*/ 4956 h 10000"/>
                <a:gd name="connsiteX1-409" fmla="*/ 9999 w 10000"/>
                <a:gd name="connsiteY1-410" fmla="*/ 10000 h 10000"/>
                <a:gd name="connsiteX2-411" fmla="*/ 5183 w 10000"/>
                <a:gd name="connsiteY2-412" fmla="*/ 9912 h 10000"/>
                <a:gd name="connsiteX3-413" fmla="*/ 0 w 10000"/>
                <a:gd name="connsiteY3-414" fmla="*/ 5043 h 10000"/>
                <a:gd name="connsiteX4-415" fmla="*/ 5183 w 10000"/>
                <a:gd name="connsiteY4-416" fmla="*/ 44 h 10000"/>
                <a:gd name="connsiteX5-417" fmla="*/ 10000 w 10000"/>
                <a:gd name="connsiteY5-418" fmla="*/ 0 h 10000"/>
                <a:gd name="connsiteX0-419" fmla="*/ 9999 w 10000"/>
                <a:gd name="connsiteY0-420" fmla="*/ 10000 h 10000"/>
                <a:gd name="connsiteX1-421" fmla="*/ 5183 w 10000"/>
                <a:gd name="connsiteY1-422" fmla="*/ 9912 h 10000"/>
                <a:gd name="connsiteX2-423" fmla="*/ 0 w 10000"/>
                <a:gd name="connsiteY2-424" fmla="*/ 5043 h 10000"/>
                <a:gd name="connsiteX3-425" fmla="*/ 5183 w 10000"/>
                <a:gd name="connsiteY3-426" fmla="*/ 44 h 10000"/>
                <a:gd name="connsiteX4-427" fmla="*/ 10000 w 10000"/>
                <a:gd name="connsiteY4-428" fmla="*/ 0 h 10000"/>
                <a:gd name="connsiteX0-429" fmla="*/ 8536 w 8537"/>
                <a:gd name="connsiteY0-430" fmla="*/ 10000 h 10000"/>
                <a:gd name="connsiteX1-431" fmla="*/ 3720 w 8537"/>
                <a:gd name="connsiteY1-432" fmla="*/ 9912 h 10000"/>
                <a:gd name="connsiteX2-433" fmla="*/ 0 w 8537"/>
                <a:gd name="connsiteY2-434" fmla="*/ 4793 h 10000"/>
                <a:gd name="connsiteX3-435" fmla="*/ 3720 w 8537"/>
                <a:gd name="connsiteY3-436" fmla="*/ 44 h 10000"/>
                <a:gd name="connsiteX4-437" fmla="*/ 8537 w 8537"/>
                <a:gd name="connsiteY4-438" fmla="*/ 0 h 10000"/>
                <a:gd name="connsiteX0-439" fmla="*/ 10342 w 10343"/>
                <a:gd name="connsiteY0-440" fmla="*/ 10000 h 10000"/>
                <a:gd name="connsiteX1-441" fmla="*/ 4701 w 10343"/>
                <a:gd name="connsiteY1-442" fmla="*/ 9912 h 10000"/>
                <a:gd name="connsiteX2-443" fmla="*/ 0 w 10343"/>
                <a:gd name="connsiteY2-444" fmla="*/ 4543 h 10000"/>
                <a:gd name="connsiteX3-445" fmla="*/ 4701 w 10343"/>
                <a:gd name="connsiteY3-446" fmla="*/ 44 h 10000"/>
                <a:gd name="connsiteX4-447" fmla="*/ 10343 w 10343"/>
                <a:gd name="connsiteY4-448" fmla="*/ 0 h 10000"/>
                <a:gd name="connsiteX0-449" fmla="*/ 9771 w 9772"/>
                <a:gd name="connsiteY0-450" fmla="*/ 10000 h 10000"/>
                <a:gd name="connsiteX1-451" fmla="*/ 4130 w 9772"/>
                <a:gd name="connsiteY1-452" fmla="*/ 9912 h 10000"/>
                <a:gd name="connsiteX2-453" fmla="*/ 0 w 9772"/>
                <a:gd name="connsiteY2-454" fmla="*/ 4917 h 10000"/>
                <a:gd name="connsiteX3-455" fmla="*/ 4130 w 9772"/>
                <a:gd name="connsiteY3-456" fmla="*/ 44 h 10000"/>
                <a:gd name="connsiteX4-457" fmla="*/ 9772 w 9772"/>
                <a:gd name="connsiteY4-458"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72" h="10000">
                  <a:moveTo>
                    <a:pt x="9771" y="10000"/>
                  </a:moveTo>
                  <a:lnTo>
                    <a:pt x="4130" y="9912"/>
                  </a:lnTo>
                  <a:cubicBezTo>
                    <a:pt x="1643" y="9824"/>
                    <a:pt x="0" y="6562"/>
                    <a:pt x="0" y="4917"/>
                  </a:cubicBezTo>
                  <a:cubicBezTo>
                    <a:pt x="0" y="3272"/>
                    <a:pt x="1531" y="220"/>
                    <a:pt x="4130" y="44"/>
                  </a:cubicBezTo>
                  <a:lnTo>
                    <a:pt x="9772" y="0"/>
                  </a:lnTo>
                </a:path>
              </a:pathLst>
            </a:cu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05"/>
            </a:p>
          </p:txBody>
        </p:sp>
        <p:sp>
          <p:nvSpPr>
            <p:cNvPr id="89" name="Stored Data 71"/>
            <p:cNvSpPr/>
            <p:nvPr/>
          </p:nvSpPr>
          <p:spPr>
            <a:xfrm rot="10800000">
              <a:off x="3990332" y="3048832"/>
              <a:ext cx="167778"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1" fmla="*/ 4932 w 13265"/>
                <a:gd name="connsiteY0-2" fmla="*/ 0 h 10000"/>
                <a:gd name="connsiteX1-3" fmla="*/ 13265 w 13265"/>
                <a:gd name="connsiteY1-4" fmla="*/ 0 h 10000"/>
                <a:gd name="connsiteX2-5" fmla="*/ 11598 w 13265"/>
                <a:gd name="connsiteY2-6" fmla="*/ 5000 h 10000"/>
                <a:gd name="connsiteX3-7" fmla="*/ 13265 w 13265"/>
                <a:gd name="connsiteY3-8" fmla="*/ 10000 h 10000"/>
                <a:gd name="connsiteX4-9" fmla="*/ 4932 w 13265"/>
                <a:gd name="connsiteY4-10" fmla="*/ 10000 h 10000"/>
                <a:gd name="connsiteX5-11" fmla="*/ 0 w 13265"/>
                <a:gd name="connsiteY5-12" fmla="*/ 5084 h 10000"/>
                <a:gd name="connsiteX6-13" fmla="*/ 4932 w 13265"/>
                <a:gd name="connsiteY6-14" fmla="*/ 0 h 10000"/>
                <a:gd name="connsiteX0-15" fmla="*/ 5226 w 13559"/>
                <a:gd name="connsiteY0-16" fmla="*/ 0 h 10000"/>
                <a:gd name="connsiteX1-17" fmla="*/ 13559 w 13559"/>
                <a:gd name="connsiteY1-18" fmla="*/ 0 h 10000"/>
                <a:gd name="connsiteX2-19" fmla="*/ 11892 w 13559"/>
                <a:gd name="connsiteY2-20" fmla="*/ 5000 h 10000"/>
                <a:gd name="connsiteX3-21" fmla="*/ 13559 w 13559"/>
                <a:gd name="connsiteY3-22" fmla="*/ 10000 h 10000"/>
                <a:gd name="connsiteX4-23" fmla="*/ 5226 w 13559"/>
                <a:gd name="connsiteY4-24" fmla="*/ 10000 h 10000"/>
                <a:gd name="connsiteX5-25" fmla="*/ 294 w 13559"/>
                <a:gd name="connsiteY5-26" fmla="*/ 5084 h 10000"/>
                <a:gd name="connsiteX6-27" fmla="*/ 5226 w 13559"/>
                <a:gd name="connsiteY6-28" fmla="*/ 0 h 10000"/>
                <a:gd name="connsiteX0-29" fmla="*/ 4933 w 13266"/>
                <a:gd name="connsiteY0-30" fmla="*/ 0 h 10000"/>
                <a:gd name="connsiteX1-31" fmla="*/ 13266 w 13266"/>
                <a:gd name="connsiteY1-32" fmla="*/ 0 h 10000"/>
                <a:gd name="connsiteX2-33" fmla="*/ 11599 w 13266"/>
                <a:gd name="connsiteY2-34" fmla="*/ 5000 h 10000"/>
                <a:gd name="connsiteX3-35" fmla="*/ 13266 w 13266"/>
                <a:gd name="connsiteY3-36" fmla="*/ 10000 h 10000"/>
                <a:gd name="connsiteX4-37" fmla="*/ 4933 w 13266"/>
                <a:gd name="connsiteY4-38" fmla="*/ 10000 h 10000"/>
                <a:gd name="connsiteX5-39" fmla="*/ 1 w 13266"/>
                <a:gd name="connsiteY5-40" fmla="*/ 5084 h 10000"/>
                <a:gd name="connsiteX6-41" fmla="*/ 4933 w 13266"/>
                <a:gd name="connsiteY6-42" fmla="*/ 0 h 10000"/>
                <a:gd name="connsiteX0-43" fmla="*/ 4933 w 13266"/>
                <a:gd name="connsiteY0-44" fmla="*/ 0 h 10000"/>
                <a:gd name="connsiteX1-45" fmla="*/ 13266 w 13266"/>
                <a:gd name="connsiteY1-46" fmla="*/ 0 h 10000"/>
                <a:gd name="connsiteX2-47" fmla="*/ 11599 w 13266"/>
                <a:gd name="connsiteY2-48" fmla="*/ 5000 h 10000"/>
                <a:gd name="connsiteX3-49" fmla="*/ 13266 w 13266"/>
                <a:gd name="connsiteY3-50" fmla="*/ 10000 h 10000"/>
                <a:gd name="connsiteX4-51" fmla="*/ 4933 w 13266"/>
                <a:gd name="connsiteY4-52" fmla="*/ 10000 h 10000"/>
                <a:gd name="connsiteX5-53" fmla="*/ 1 w 13266"/>
                <a:gd name="connsiteY5-54" fmla="*/ 5084 h 10000"/>
                <a:gd name="connsiteX6-55" fmla="*/ 4933 w 13266"/>
                <a:gd name="connsiteY6-56" fmla="*/ 0 h 10000"/>
                <a:gd name="connsiteX0-57" fmla="*/ 4966 w 13299"/>
                <a:gd name="connsiteY0-58" fmla="*/ 0 h 10000"/>
                <a:gd name="connsiteX1-59" fmla="*/ 13299 w 13299"/>
                <a:gd name="connsiteY1-60" fmla="*/ 0 h 10000"/>
                <a:gd name="connsiteX2-61" fmla="*/ 11632 w 13299"/>
                <a:gd name="connsiteY2-62" fmla="*/ 5000 h 10000"/>
                <a:gd name="connsiteX3-63" fmla="*/ 13299 w 13299"/>
                <a:gd name="connsiteY3-64" fmla="*/ 10000 h 10000"/>
                <a:gd name="connsiteX4-65" fmla="*/ 7782 w 13299"/>
                <a:gd name="connsiteY4-66" fmla="*/ 10000 h 10000"/>
                <a:gd name="connsiteX5-67" fmla="*/ 34 w 13299"/>
                <a:gd name="connsiteY5-68" fmla="*/ 5084 h 10000"/>
                <a:gd name="connsiteX6-69" fmla="*/ 4966 w 13299"/>
                <a:gd name="connsiteY6-70" fmla="*/ 0 h 10000"/>
                <a:gd name="connsiteX0-71" fmla="*/ 4947 w 13280"/>
                <a:gd name="connsiteY0-72" fmla="*/ 0 h 10000"/>
                <a:gd name="connsiteX1-73" fmla="*/ 13280 w 13280"/>
                <a:gd name="connsiteY1-74" fmla="*/ 0 h 10000"/>
                <a:gd name="connsiteX2-75" fmla="*/ 11613 w 13280"/>
                <a:gd name="connsiteY2-76" fmla="*/ 5000 h 10000"/>
                <a:gd name="connsiteX3-77" fmla="*/ 13280 w 13280"/>
                <a:gd name="connsiteY3-78" fmla="*/ 10000 h 10000"/>
                <a:gd name="connsiteX4-79" fmla="*/ 6702 w 13280"/>
                <a:gd name="connsiteY4-80" fmla="*/ 9832 h 10000"/>
                <a:gd name="connsiteX5-81" fmla="*/ 15 w 13280"/>
                <a:gd name="connsiteY5-82" fmla="*/ 5084 h 10000"/>
                <a:gd name="connsiteX6-83" fmla="*/ 4947 w 13280"/>
                <a:gd name="connsiteY6-84" fmla="*/ 0 h 10000"/>
                <a:gd name="connsiteX0-85" fmla="*/ 4933 w 13266"/>
                <a:gd name="connsiteY0-86" fmla="*/ 0 h 10000"/>
                <a:gd name="connsiteX1-87" fmla="*/ 13266 w 13266"/>
                <a:gd name="connsiteY1-88" fmla="*/ 0 h 10000"/>
                <a:gd name="connsiteX2-89" fmla="*/ 11599 w 13266"/>
                <a:gd name="connsiteY2-90" fmla="*/ 5000 h 10000"/>
                <a:gd name="connsiteX3-91" fmla="*/ 13266 w 13266"/>
                <a:gd name="connsiteY3-92" fmla="*/ 10000 h 10000"/>
                <a:gd name="connsiteX4-93" fmla="*/ 6688 w 13266"/>
                <a:gd name="connsiteY4-94" fmla="*/ 9832 h 10000"/>
                <a:gd name="connsiteX5-95" fmla="*/ 1 w 13266"/>
                <a:gd name="connsiteY5-96" fmla="*/ 5084 h 10000"/>
                <a:gd name="connsiteX6-97" fmla="*/ 4933 w 13266"/>
                <a:gd name="connsiteY6-98" fmla="*/ 0 h 10000"/>
                <a:gd name="connsiteX0-99" fmla="*/ 5711 w 13268"/>
                <a:gd name="connsiteY0-100" fmla="*/ 126 h 10000"/>
                <a:gd name="connsiteX1-101" fmla="*/ 13268 w 13268"/>
                <a:gd name="connsiteY1-102" fmla="*/ 0 h 10000"/>
                <a:gd name="connsiteX2-103" fmla="*/ 11601 w 13268"/>
                <a:gd name="connsiteY2-104" fmla="*/ 5000 h 10000"/>
                <a:gd name="connsiteX3-105" fmla="*/ 13268 w 13268"/>
                <a:gd name="connsiteY3-106" fmla="*/ 10000 h 10000"/>
                <a:gd name="connsiteX4-107" fmla="*/ 6690 w 13268"/>
                <a:gd name="connsiteY4-108" fmla="*/ 9832 h 10000"/>
                <a:gd name="connsiteX5-109" fmla="*/ 3 w 13268"/>
                <a:gd name="connsiteY5-110" fmla="*/ 5084 h 10000"/>
                <a:gd name="connsiteX6-111" fmla="*/ 5711 w 13268"/>
                <a:gd name="connsiteY6-112" fmla="*/ 126 h 10000"/>
                <a:gd name="connsiteX0-113" fmla="*/ 5709 w 13266"/>
                <a:gd name="connsiteY0-114" fmla="*/ 126 h 10000"/>
                <a:gd name="connsiteX1-115" fmla="*/ 13266 w 13266"/>
                <a:gd name="connsiteY1-116" fmla="*/ 0 h 10000"/>
                <a:gd name="connsiteX2-117" fmla="*/ 11599 w 13266"/>
                <a:gd name="connsiteY2-118" fmla="*/ 5000 h 10000"/>
                <a:gd name="connsiteX3-119" fmla="*/ 13266 w 13266"/>
                <a:gd name="connsiteY3-120" fmla="*/ 10000 h 10000"/>
                <a:gd name="connsiteX4-121" fmla="*/ 6688 w 13266"/>
                <a:gd name="connsiteY4-122" fmla="*/ 9832 h 10000"/>
                <a:gd name="connsiteX5-123" fmla="*/ 1 w 13266"/>
                <a:gd name="connsiteY5-124" fmla="*/ 5084 h 10000"/>
                <a:gd name="connsiteX6-125" fmla="*/ 5709 w 13266"/>
                <a:gd name="connsiteY6-126" fmla="*/ 126 h 10000"/>
                <a:gd name="connsiteX0-127" fmla="*/ 5709 w 13266"/>
                <a:gd name="connsiteY0-128" fmla="*/ 126 h 10000"/>
                <a:gd name="connsiteX1-129" fmla="*/ 13266 w 13266"/>
                <a:gd name="connsiteY1-130" fmla="*/ 0 h 10000"/>
                <a:gd name="connsiteX2-131" fmla="*/ 11599 w 13266"/>
                <a:gd name="connsiteY2-132" fmla="*/ 5000 h 10000"/>
                <a:gd name="connsiteX3-133" fmla="*/ 13266 w 13266"/>
                <a:gd name="connsiteY3-134" fmla="*/ 10000 h 10000"/>
                <a:gd name="connsiteX4-135" fmla="*/ 6688 w 13266"/>
                <a:gd name="connsiteY4-136" fmla="*/ 9832 h 10000"/>
                <a:gd name="connsiteX5-137" fmla="*/ 1 w 13266"/>
                <a:gd name="connsiteY5-138" fmla="*/ 5084 h 10000"/>
                <a:gd name="connsiteX6-139" fmla="*/ 5709 w 13266"/>
                <a:gd name="connsiteY6-140" fmla="*/ 126 h 10000"/>
                <a:gd name="connsiteX0-141" fmla="*/ 6688 w 13265"/>
                <a:gd name="connsiteY0-142" fmla="*/ 42 h 10000"/>
                <a:gd name="connsiteX1-143" fmla="*/ 13265 w 13265"/>
                <a:gd name="connsiteY1-144" fmla="*/ 0 h 10000"/>
                <a:gd name="connsiteX2-145" fmla="*/ 11598 w 13265"/>
                <a:gd name="connsiteY2-146" fmla="*/ 5000 h 10000"/>
                <a:gd name="connsiteX3-147" fmla="*/ 13265 w 13265"/>
                <a:gd name="connsiteY3-148" fmla="*/ 10000 h 10000"/>
                <a:gd name="connsiteX4-149" fmla="*/ 6687 w 13265"/>
                <a:gd name="connsiteY4-150" fmla="*/ 9832 h 10000"/>
                <a:gd name="connsiteX5-151" fmla="*/ 0 w 13265"/>
                <a:gd name="connsiteY5-152" fmla="*/ 5084 h 10000"/>
                <a:gd name="connsiteX6-153" fmla="*/ 6688 w 13265"/>
                <a:gd name="connsiteY6-154" fmla="*/ 42 h 10000"/>
                <a:gd name="connsiteX0-155" fmla="*/ 6688 w 13265"/>
                <a:gd name="connsiteY0-156" fmla="*/ 42 h 9832"/>
                <a:gd name="connsiteX1-157" fmla="*/ 13265 w 13265"/>
                <a:gd name="connsiteY1-158" fmla="*/ 0 h 9832"/>
                <a:gd name="connsiteX2-159" fmla="*/ 11598 w 13265"/>
                <a:gd name="connsiteY2-160" fmla="*/ 5000 h 9832"/>
                <a:gd name="connsiteX3-161" fmla="*/ 11387 w 13265"/>
                <a:gd name="connsiteY3-162" fmla="*/ 9790 h 9832"/>
                <a:gd name="connsiteX4-163" fmla="*/ 6687 w 13265"/>
                <a:gd name="connsiteY4-164" fmla="*/ 9832 h 9832"/>
                <a:gd name="connsiteX5-165" fmla="*/ 0 w 13265"/>
                <a:gd name="connsiteY5-166" fmla="*/ 5084 h 9832"/>
                <a:gd name="connsiteX6-167" fmla="*/ 6688 w 13265"/>
                <a:gd name="connsiteY6-168" fmla="*/ 42 h 9832"/>
                <a:gd name="connsiteX0-169" fmla="*/ 5042 w 10000"/>
                <a:gd name="connsiteY0-170" fmla="*/ 43 h 10000"/>
                <a:gd name="connsiteX1-171" fmla="*/ 10000 w 10000"/>
                <a:gd name="connsiteY1-172" fmla="*/ 0 h 10000"/>
                <a:gd name="connsiteX2-173" fmla="*/ 8743 w 10000"/>
                <a:gd name="connsiteY2-174" fmla="*/ 5085 h 10000"/>
                <a:gd name="connsiteX3-175" fmla="*/ 9692 w 10000"/>
                <a:gd name="connsiteY3-176" fmla="*/ 10000 h 10000"/>
                <a:gd name="connsiteX4-177" fmla="*/ 5041 w 10000"/>
                <a:gd name="connsiteY4-178" fmla="*/ 10000 h 10000"/>
                <a:gd name="connsiteX5-179" fmla="*/ 0 w 10000"/>
                <a:gd name="connsiteY5-180" fmla="*/ 5171 h 10000"/>
                <a:gd name="connsiteX6-181" fmla="*/ 5042 w 10000"/>
                <a:gd name="connsiteY6-182" fmla="*/ 43 h 10000"/>
                <a:gd name="connsiteX0-183" fmla="*/ 5042 w 10000"/>
                <a:gd name="connsiteY0-184" fmla="*/ 43 h 10000"/>
                <a:gd name="connsiteX1-185" fmla="*/ 10000 w 10000"/>
                <a:gd name="connsiteY1-186" fmla="*/ 0 h 10000"/>
                <a:gd name="connsiteX2-187" fmla="*/ 8743 w 10000"/>
                <a:gd name="connsiteY2-188" fmla="*/ 5085 h 10000"/>
                <a:gd name="connsiteX3-189" fmla="*/ 9784 w 10000"/>
                <a:gd name="connsiteY3-190" fmla="*/ 10000 h 10000"/>
                <a:gd name="connsiteX4-191" fmla="*/ 5041 w 10000"/>
                <a:gd name="connsiteY4-192" fmla="*/ 10000 h 10000"/>
                <a:gd name="connsiteX5-193" fmla="*/ 0 w 10000"/>
                <a:gd name="connsiteY5-194" fmla="*/ 5171 h 10000"/>
                <a:gd name="connsiteX6-195" fmla="*/ 5042 w 10000"/>
                <a:gd name="connsiteY6-196" fmla="*/ 43 h 10000"/>
                <a:gd name="connsiteX0-197" fmla="*/ 5042 w 9784"/>
                <a:gd name="connsiteY0-198" fmla="*/ 0 h 9957"/>
                <a:gd name="connsiteX1-199" fmla="*/ 9415 w 9784"/>
                <a:gd name="connsiteY1-200" fmla="*/ 171 h 9957"/>
                <a:gd name="connsiteX2-201" fmla="*/ 8743 w 9784"/>
                <a:gd name="connsiteY2-202" fmla="*/ 5042 h 9957"/>
                <a:gd name="connsiteX3-203" fmla="*/ 9784 w 9784"/>
                <a:gd name="connsiteY3-204" fmla="*/ 9957 h 9957"/>
                <a:gd name="connsiteX4-205" fmla="*/ 5041 w 9784"/>
                <a:gd name="connsiteY4-206" fmla="*/ 9957 h 9957"/>
                <a:gd name="connsiteX5-207" fmla="*/ 0 w 9784"/>
                <a:gd name="connsiteY5-208" fmla="*/ 5128 h 9957"/>
                <a:gd name="connsiteX6-209" fmla="*/ 5042 w 9784"/>
                <a:gd name="connsiteY6-210" fmla="*/ 0 h 9957"/>
                <a:gd name="connsiteX0-211" fmla="*/ 5153 w 10000"/>
                <a:gd name="connsiteY0-212" fmla="*/ 0 h 10000"/>
                <a:gd name="connsiteX1-213" fmla="*/ 9875 w 10000"/>
                <a:gd name="connsiteY1-214" fmla="*/ 172 h 10000"/>
                <a:gd name="connsiteX2-215" fmla="*/ 8936 w 10000"/>
                <a:gd name="connsiteY2-216" fmla="*/ 5064 h 10000"/>
                <a:gd name="connsiteX3-217" fmla="*/ 10000 w 10000"/>
                <a:gd name="connsiteY3-218" fmla="*/ 10000 h 10000"/>
                <a:gd name="connsiteX4-219" fmla="*/ 5152 w 10000"/>
                <a:gd name="connsiteY4-220" fmla="*/ 10000 h 10000"/>
                <a:gd name="connsiteX5-221" fmla="*/ 0 w 10000"/>
                <a:gd name="connsiteY5-222" fmla="*/ 5150 h 10000"/>
                <a:gd name="connsiteX6-223" fmla="*/ 5153 w 10000"/>
                <a:gd name="connsiteY6-224" fmla="*/ 0 h 10000"/>
                <a:gd name="connsiteX0-225" fmla="*/ 5153 w 10001"/>
                <a:gd name="connsiteY0-226" fmla="*/ 0 h 10000"/>
                <a:gd name="connsiteX1-227" fmla="*/ 10001 w 10001"/>
                <a:gd name="connsiteY1-228" fmla="*/ 215 h 10000"/>
                <a:gd name="connsiteX2-229" fmla="*/ 8936 w 10001"/>
                <a:gd name="connsiteY2-230" fmla="*/ 5064 h 10000"/>
                <a:gd name="connsiteX3-231" fmla="*/ 10000 w 10001"/>
                <a:gd name="connsiteY3-232" fmla="*/ 10000 h 10000"/>
                <a:gd name="connsiteX4-233" fmla="*/ 5152 w 10001"/>
                <a:gd name="connsiteY4-234" fmla="*/ 10000 h 10000"/>
                <a:gd name="connsiteX5-235" fmla="*/ 0 w 10001"/>
                <a:gd name="connsiteY5-236" fmla="*/ 5150 h 10000"/>
                <a:gd name="connsiteX6-237" fmla="*/ 5153 w 10001"/>
                <a:gd name="connsiteY6-238" fmla="*/ 0 h 10000"/>
                <a:gd name="connsiteX0-239" fmla="*/ 5184 w 10001"/>
                <a:gd name="connsiteY0-240" fmla="*/ 43 h 9785"/>
                <a:gd name="connsiteX1-241" fmla="*/ 10001 w 10001"/>
                <a:gd name="connsiteY1-242" fmla="*/ 0 h 9785"/>
                <a:gd name="connsiteX2-243" fmla="*/ 8936 w 10001"/>
                <a:gd name="connsiteY2-244" fmla="*/ 4849 h 9785"/>
                <a:gd name="connsiteX3-245" fmla="*/ 10000 w 10001"/>
                <a:gd name="connsiteY3-246" fmla="*/ 9785 h 9785"/>
                <a:gd name="connsiteX4-247" fmla="*/ 5152 w 10001"/>
                <a:gd name="connsiteY4-248" fmla="*/ 9785 h 9785"/>
                <a:gd name="connsiteX5-249" fmla="*/ 0 w 10001"/>
                <a:gd name="connsiteY5-250" fmla="*/ 4935 h 9785"/>
                <a:gd name="connsiteX6-251" fmla="*/ 5184 w 10001"/>
                <a:gd name="connsiteY6-252" fmla="*/ 43 h 9785"/>
                <a:gd name="connsiteX0-253" fmla="*/ 5183 w 10000"/>
                <a:gd name="connsiteY0-254" fmla="*/ 44 h 10000"/>
                <a:gd name="connsiteX1-255" fmla="*/ 10000 w 10000"/>
                <a:gd name="connsiteY1-256" fmla="*/ 0 h 10000"/>
                <a:gd name="connsiteX2-257" fmla="*/ 8935 w 10000"/>
                <a:gd name="connsiteY2-258" fmla="*/ 4956 h 10000"/>
                <a:gd name="connsiteX3-259" fmla="*/ 9999 w 10000"/>
                <a:gd name="connsiteY3-260" fmla="*/ 10000 h 10000"/>
                <a:gd name="connsiteX4-261" fmla="*/ 5151 w 10000"/>
                <a:gd name="connsiteY4-262" fmla="*/ 10000 h 10000"/>
                <a:gd name="connsiteX5-263" fmla="*/ 0 w 10000"/>
                <a:gd name="connsiteY5-264" fmla="*/ 5043 h 10000"/>
                <a:gd name="connsiteX6-265" fmla="*/ 5183 w 10000"/>
                <a:gd name="connsiteY6-266" fmla="*/ 44 h 10000"/>
                <a:gd name="connsiteX0-267" fmla="*/ 5183 w 10000"/>
                <a:gd name="connsiteY0-268" fmla="*/ 44 h 10000"/>
                <a:gd name="connsiteX1-269" fmla="*/ 10000 w 10000"/>
                <a:gd name="connsiteY1-270" fmla="*/ 0 h 10000"/>
                <a:gd name="connsiteX2-271" fmla="*/ 8935 w 10000"/>
                <a:gd name="connsiteY2-272" fmla="*/ 4956 h 10000"/>
                <a:gd name="connsiteX3-273" fmla="*/ 9999 w 10000"/>
                <a:gd name="connsiteY3-274" fmla="*/ 10000 h 10000"/>
                <a:gd name="connsiteX4-275" fmla="*/ 5151 w 10000"/>
                <a:gd name="connsiteY4-276" fmla="*/ 10000 h 10000"/>
                <a:gd name="connsiteX5-277" fmla="*/ 0 w 10000"/>
                <a:gd name="connsiteY5-278" fmla="*/ 5043 h 10000"/>
                <a:gd name="connsiteX6-279" fmla="*/ 5183 w 10000"/>
                <a:gd name="connsiteY6-280" fmla="*/ 44 h 10000"/>
                <a:gd name="connsiteX0-281" fmla="*/ 5183 w 10000"/>
                <a:gd name="connsiteY0-282" fmla="*/ 44 h 10000"/>
                <a:gd name="connsiteX1-283" fmla="*/ 10000 w 10000"/>
                <a:gd name="connsiteY1-284" fmla="*/ 0 h 10000"/>
                <a:gd name="connsiteX2-285" fmla="*/ 8935 w 10000"/>
                <a:gd name="connsiteY2-286" fmla="*/ 4956 h 10000"/>
                <a:gd name="connsiteX3-287" fmla="*/ 9999 w 10000"/>
                <a:gd name="connsiteY3-288" fmla="*/ 10000 h 10000"/>
                <a:gd name="connsiteX4-289" fmla="*/ 5151 w 10000"/>
                <a:gd name="connsiteY4-290" fmla="*/ 10000 h 10000"/>
                <a:gd name="connsiteX5-291" fmla="*/ 0 w 10000"/>
                <a:gd name="connsiteY5-292" fmla="*/ 5043 h 10000"/>
                <a:gd name="connsiteX6-293" fmla="*/ 5183 w 10000"/>
                <a:gd name="connsiteY6-294" fmla="*/ 44 h 10000"/>
                <a:gd name="connsiteX0-295" fmla="*/ 5183 w 10000"/>
                <a:gd name="connsiteY0-296" fmla="*/ 44 h 10000"/>
                <a:gd name="connsiteX1-297" fmla="*/ 10000 w 10000"/>
                <a:gd name="connsiteY1-298" fmla="*/ 0 h 10000"/>
                <a:gd name="connsiteX2-299" fmla="*/ 8935 w 10000"/>
                <a:gd name="connsiteY2-300" fmla="*/ 4956 h 10000"/>
                <a:gd name="connsiteX3-301" fmla="*/ 9999 w 10000"/>
                <a:gd name="connsiteY3-302" fmla="*/ 10000 h 10000"/>
                <a:gd name="connsiteX4-303" fmla="*/ 5151 w 10000"/>
                <a:gd name="connsiteY4-304" fmla="*/ 10000 h 10000"/>
                <a:gd name="connsiteX5-305" fmla="*/ 0 w 10000"/>
                <a:gd name="connsiteY5-306" fmla="*/ 5043 h 10000"/>
                <a:gd name="connsiteX6-307" fmla="*/ 5183 w 10000"/>
                <a:gd name="connsiteY6-308" fmla="*/ 44 h 10000"/>
                <a:gd name="connsiteX0-309" fmla="*/ 5183 w 10000"/>
                <a:gd name="connsiteY0-310" fmla="*/ 44 h 10000"/>
                <a:gd name="connsiteX1-311" fmla="*/ 10000 w 10000"/>
                <a:gd name="connsiteY1-312" fmla="*/ 0 h 10000"/>
                <a:gd name="connsiteX2-313" fmla="*/ 8935 w 10000"/>
                <a:gd name="connsiteY2-314" fmla="*/ 4956 h 10000"/>
                <a:gd name="connsiteX3-315" fmla="*/ 9999 w 10000"/>
                <a:gd name="connsiteY3-316" fmla="*/ 10000 h 10000"/>
                <a:gd name="connsiteX4-317" fmla="*/ 5151 w 10000"/>
                <a:gd name="connsiteY4-318" fmla="*/ 10000 h 10000"/>
                <a:gd name="connsiteX5-319" fmla="*/ 0 w 10000"/>
                <a:gd name="connsiteY5-320" fmla="*/ 5043 h 10000"/>
                <a:gd name="connsiteX6-321" fmla="*/ 5183 w 10000"/>
                <a:gd name="connsiteY6-322" fmla="*/ 44 h 10000"/>
                <a:gd name="connsiteX0-323" fmla="*/ 5183 w 10000"/>
                <a:gd name="connsiteY0-324" fmla="*/ 44 h 10000"/>
                <a:gd name="connsiteX1-325" fmla="*/ 10000 w 10000"/>
                <a:gd name="connsiteY1-326" fmla="*/ 0 h 10000"/>
                <a:gd name="connsiteX2-327" fmla="*/ 8935 w 10000"/>
                <a:gd name="connsiteY2-328" fmla="*/ 4956 h 10000"/>
                <a:gd name="connsiteX3-329" fmla="*/ 9999 w 10000"/>
                <a:gd name="connsiteY3-330" fmla="*/ 10000 h 10000"/>
                <a:gd name="connsiteX4-331" fmla="*/ 5340 w 10000"/>
                <a:gd name="connsiteY4-332" fmla="*/ 9956 h 10000"/>
                <a:gd name="connsiteX5-333" fmla="*/ 0 w 10000"/>
                <a:gd name="connsiteY5-334" fmla="*/ 5043 h 10000"/>
                <a:gd name="connsiteX6-335" fmla="*/ 5183 w 10000"/>
                <a:gd name="connsiteY6-336" fmla="*/ 44 h 10000"/>
                <a:gd name="connsiteX0-337" fmla="*/ 5183 w 10000"/>
                <a:gd name="connsiteY0-338" fmla="*/ 44 h 10000"/>
                <a:gd name="connsiteX1-339" fmla="*/ 10000 w 10000"/>
                <a:gd name="connsiteY1-340" fmla="*/ 0 h 10000"/>
                <a:gd name="connsiteX2-341" fmla="*/ 8935 w 10000"/>
                <a:gd name="connsiteY2-342" fmla="*/ 4956 h 10000"/>
                <a:gd name="connsiteX3-343" fmla="*/ 9999 w 10000"/>
                <a:gd name="connsiteY3-344" fmla="*/ 10000 h 10000"/>
                <a:gd name="connsiteX4-345" fmla="*/ 5340 w 10000"/>
                <a:gd name="connsiteY4-346" fmla="*/ 9956 h 10000"/>
                <a:gd name="connsiteX5-347" fmla="*/ 0 w 10000"/>
                <a:gd name="connsiteY5-348" fmla="*/ 5043 h 10000"/>
                <a:gd name="connsiteX6-349" fmla="*/ 5183 w 10000"/>
                <a:gd name="connsiteY6-350" fmla="*/ 44 h 10000"/>
                <a:gd name="connsiteX0-351" fmla="*/ 5183 w 10000"/>
                <a:gd name="connsiteY0-352" fmla="*/ 44 h 10000"/>
                <a:gd name="connsiteX1-353" fmla="*/ 10000 w 10000"/>
                <a:gd name="connsiteY1-354" fmla="*/ 0 h 10000"/>
                <a:gd name="connsiteX2-355" fmla="*/ 8935 w 10000"/>
                <a:gd name="connsiteY2-356" fmla="*/ 4956 h 10000"/>
                <a:gd name="connsiteX3-357" fmla="*/ 9999 w 10000"/>
                <a:gd name="connsiteY3-358" fmla="*/ 10000 h 10000"/>
                <a:gd name="connsiteX4-359" fmla="*/ 5183 w 10000"/>
                <a:gd name="connsiteY4-360" fmla="*/ 9912 h 10000"/>
                <a:gd name="connsiteX5-361" fmla="*/ 0 w 10000"/>
                <a:gd name="connsiteY5-362" fmla="*/ 5043 h 10000"/>
                <a:gd name="connsiteX6-363" fmla="*/ 5183 w 10000"/>
                <a:gd name="connsiteY6-364" fmla="*/ 44 h 10000"/>
                <a:gd name="connsiteX0-365" fmla="*/ 603 w 5420"/>
                <a:gd name="connsiteY0-366" fmla="*/ 44 h 10000"/>
                <a:gd name="connsiteX1-367" fmla="*/ 5420 w 5420"/>
                <a:gd name="connsiteY1-368" fmla="*/ 0 h 10000"/>
                <a:gd name="connsiteX2-369" fmla="*/ 4355 w 5420"/>
                <a:gd name="connsiteY2-370" fmla="*/ 4956 h 10000"/>
                <a:gd name="connsiteX3-371" fmla="*/ 5419 w 5420"/>
                <a:gd name="connsiteY3-372" fmla="*/ 10000 h 10000"/>
                <a:gd name="connsiteX4-373" fmla="*/ 603 w 5420"/>
                <a:gd name="connsiteY4-374" fmla="*/ 9912 h 10000"/>
                <a:gd name="connsiteX5-375" fmla="*/ 603 w 5420"/>
                <a:gd name="connsiteY5-376" fmla="*/ 44 h 10000"/>
                <a:gd name="connsiteX0-377" fmla="*/ 1112 w 9999"/>
                <a:gd name="connsiteY0-378" fmla="*/ 9912 h 11176"/>
                <a:gd name="connsiteX1-379" fmla="*/ 1112 w 9999"/>
                <a:gd name="connsiteY1-380" fmla="*/ 44 h 11176"/>
                <a:gd name="connsiteX2-381" fmla="*/ 9999 w 9999"/>
                <a:gd name="connsiteY2-382" fmla="*/ 0 h 11176"/>
                <a:gd name="connsiteX3-383" fmla="*/ 8034 w 9999"/>
                <a:gd name="connsiteY3-384" fmla="*/ 4956 h 11176"/>
                <a:gd name="connsiteX4-385" fmla="*/ 9997 w 9999"/>
                <a:gd name="connsiteY4-386" fmla="*/ 10000 h 11176"/>
                <a:gd name="connsiteX5-387" fmla="*/ 2783 w 9999"/>
                <a:gd name="connsiteY5-388" fmla="*/ 11176 h 11176"/>
                <a:gd name="connsiteX0-389" fmla="*/ 1112 w 10000"/>
                <a:gd name="connsiteY0-390" fmla="*/ 8869 h 8948"/>
                <a:gd name="connsiteX1-391" fmla="*/ 1112 w 10000"/>
                <a:gd name="connsiteY1-392" fmla="*/ 39 h 8948"/>
                <a:gd name="connsiteX2-393" fmla="*/ 10000 w 10000"/>
                <a:gd name="connsiteY2-394" fmla="*/ 0 h 8948"/>
                <a:gd name="connsiteX3-395" fmla="*/ 8035 w 10000"/>
                <a:gd name="connsiteY3-396" fmla="*/ 4435 h 8948"/>
                <a:gd name="connsiteX4-397" fmla="*/ 9998 w 10000"/>
                <a:gd name="connsiteY4-398" fmla="*/ 8948 h 8948"/>
                <a:gd name="connsiteX0-399" fmla="*/ 0 w 8888"/>
                <a:gd name="connsiteY0-400" fmla="*/ 44 h 10000"/>
                <a:gd name="connsiteX1-401" fmla="*/ 8888 w 8888"/>
                <a:gd name="connsiteY1-402" fmla="*/ 0 h 10000"/>
                <a:gd name="connsiteX2-403" fmla="*/ 6923 w 8888"/>
                <a:gd name="connsiteY2-404" fmla="*/ 4956 h 10000"/>
                <a:gd name="connsiteX3-405" fmla="*/ 8886 w 8888"/>
                <a:gd name="connsiteY3-406" fmla="*/ 10000 h 10000"/>
                <a:gd name="connsiteX0-407" fmla="*/ 2211 w 2211"/>
                <a:gd name="connsiteY0-408" fmla="*/ 0 h 10000"/>
                <a:gd name="connsiteX1-409" fmla="*/ 0 w 2211"/>
                <a:gd name="connsiteY1-410" fmla="*/ 4956 h 10000"/>
                <a:gd name="connsiteX2-411" fmla="*/ 2209 w 2211"/>
                <a:gd name="connsiteY2-412" fmla="*/ 10000 h 10000"/>
              </a:gdLst>
              <a:ahLst/>
              <a:cxnLst>
                <a:cxn ang="0">
                  <a:pos x="connsiteX0-1" y="connsiteY0-2"/>
                </a:cxn>
                <a:cxn ang="0">
                  <a:pos x="connsiteX1-3" y="connsiteY1-4"/>
                </a:cxn>
                <a:cxn ang="0">
                  <a:pos x="connsiteX2-5" y="connsiteY2-6"/>
                </a:cxn>
              </a:cxnLst>
              <a:rect l="l" t="t" r="r" b="b"/>
              <a:pathLst>
                <a:path w="2211" h="10000">
                  <a:moveTo>
                    <a:pt x="2211" y="0"/>
                  </a:moveTo>
                  <a:cubicBezTo>
                    <a:pt x="739" y="0"/>
                    <a:pt x="0" y="3289"/>
                    <a:pt x="0" y="4956"/>
                  </a:cubicBezTo>
                  <a:cubicBezTo>
                    <a:pt x="0" y="6622"/>
                    <a:pt x="737" y="10000"/>
                    <a:pt x="2209" y="10000"/>
                  </a:cubicBezTo>
                </a:path>
              </a:pathLst>
            </a:cu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05"/>
            </a:p>
          </p:txBody>
        </p:sp>
      </p:grpSp>
      <p:grpSp>
        <p:nvGrpSpPr>
          <p:cNvPr id="90" name="组合 89"/>
          <p:cNvGrpSpPr/>
          <p:nvPr/>
        </p:nvGrpSpPr>
        <p:grpSpPr>
          <a:xfrm>
            <a:off x="4497200" y="4193504"/>
            <a:ext cx="274434" cy="522964"/>
            <a:chOff x="4311617" y="4168879"/>
            <a:chExt cx="274449" cy="522993"/>
          </a:xfrm>
        </p:grpSpPr>
        <p:sp>
          <p:nvSpPr>
            <p:cNvPr id="91" name="流程图: 手动操作 90"/>
            <p:cNvSpPr/>
            <p:nvPr/>
          </p:nvSpPr>
          <p:spPr>
            <a:xfrm rot="16200000">
              <a:off x="4218651" y="4335179"/>
              <a:ext cx="466196" cy="197947"/>
            </a:xfrm>
            <a:prstGeom prst="flowChartManualOperation">
              <a:avLst/>
            </a:prstGeom>
            <a:solidFill>
              <a:schemeClr val="bg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92" name="矩形 91"/>
            <p:cNvSpPr/>
            <p:nvPr/>
          </p:nvSpPr>
          <p:spPr>
            <a:xfrm>
              <a:off x="4311617" y="4168879"/>
              <a:ext cx="274449" cy="522993"/>
            </a:xfrm>
            <a:prstGeom prst="rect">
              <a:avLst/>
            </a:prstGeom>
          </p:spPr>
          <p:txBody>
            <a:bodyPr wrap="none">
              <a:spAutoFit/>
            </a:bodyPr>
            <a:lstStyle/>
            <a:p>
              <a:r>
                <a:rPr lang="en-US" altLang="zh-CN" sz="1400" dirty="0">
                  <a:solidFill>
                    <a:schemeClr val="bg1">
                      <a:lumMod val="50000"/>
                    </a:schemeClr>
                  </a:solidFill>
                  <a:latin typeface="Times New Roman" panose="02020603050405020304" pitchFamily="18" charset="0"/>
                  <a:cs typeface="Times New Roman" panose="02020603050405020304" pitchFamily="18" charset="0"/>
                </a:rPr>
                <a:t>0</a:t>
              </a:r>
              <a:endParaRPr lang="en-US" altLang="zh-CN" sz="1400" dirty="0">
                <a:solidFill>
                  <a:schemeClr val="bg1">
                    <a:lumMod val="50000"/>
                  </a:schemeClr>
                </a:solidFill>
                <a:latin typeface="Times New Roman" panose="02020603050405020304" pitchFamily="18" charset="0"/>
                <a:cs typeface="Times New Roman" panose="02020603050405020304" pitchFamily="18" charset="0"/>
              </a:endParaRPr>
            </a:p>
            <a:p>
              <a:r>
                <a:rPr lang="en-US" altLang="zh-CN" sz="1400" dirty="0">
                  <a:solidFill>
                    <a:srgbClr val="0066FF"/>
                  </a:solidFill>
                  <a:latin typeface="Times New Roman" panose="02020603050405020304" pitchFamily="18" charset="0"/>
                  <a:cs typeface="Times New Roman" panose="02020603050405020304" pitchFamily="18" charset="0"/>
                </a:rPr>
                <a:t>1</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grpSp>
      <p:sp>
        <p:nvSpPr>
          <p:cNvPr id="93" name="矩形 92"/>
          <p:cNvSpPr/>
          <p:nvPr/>
        </p:nvSpPr>
        <p:spPr>
          <a:xfrm>
            <a:off x="4246434" y="3185139"/>
            <a:ext cx="312906" cy="261610"/>
          </a:xfrm>
          <a:prstGeom prst="rect">
            <a:avLst/>
          </a:prstGeom>
        </p:spPr>
        <p:txBody>
          <a:bodyPr wrap="none">
            <a:spAutoFit/>
          </a:bodyPr>
          <a:lstStyle/>
          <a:p>
            <a:r>
              <a:rPr lang="en-US" altLang="zh-CN" sz="1100" dirty="0" err="1">
                <a:latin typeface="Segoe UI Black" panose="020B0A02040204020203" pitchFamily="34" charset="0"/>
                <a:ea typeface="Segoe UI Black" panose="020B0A02040204020203" pitchFamily="34" charset="0"/>
                <a:cs typeface="Segoe UI Black" panose="020B0A02040204020203" pitchFamily="34" charset="0"/>
              </a:rPr>
              <a:t>rs</a:t>
            </a:r>
            <a:endParaRPr lang="zh-CN" altLang="en-US" sz="1100" dirty="0">
              <a:latin typeface="Segoe UI Black" panose="020B0A02040204020203" pitchFamily="34" charset="0"/>
              <a:cs typeface="Segoe UI Black" panose="020B0A02040204020203" pitchFamily="34" charset="0"/>
            </a:endParaRPr>
          </a:p>
        </p:txBody>
      </p:sp>
      <p:sp>
        <p:nvSpPr>
          <p:cNvPr id="94" name="矩形 93"/>
          <p:cNvSpPr/>
          <p:nvPr/>
        </p:nvSpPr>
        <p:spPr>
          <a:xfrm>
            <a:off x="4246434" y="3402569"/>
            <a:ext cx="304892" cy="261610"/>
          </a:xfrm>
          <a:prstGeom prst="rect">
            <a:avLst/>
          </a:prstGeom>
        </p:spPr>
        <p:txBody>
          <a:bodyPr wrap="none">
            <a:spAutoFit/>
          </a:bodyPr>
          <a:lstStyle/>
          <a:p>
            <a:r>
              <a:rPr lang="en-US" altLang="zh-CN" sz="1100" dirty="0" err="1">
                <a:latin typeface="Segoe UI Black" panose="020B0A02040204020203" pitchFamily="34" charset="0"/>
                <a:ea typeface="Segoe UI Black" panose="020B0A02040204020203" pitchFamily="34" charset="0"/>
                <a:cs typeface="Segoe UI Black" panose="020B0A02040204020203" pitchFamily="34" charset="0"/>
              </a:rPr>
              <a:t>rt</a:t>
            </a:r>
            <a:endParaRPr lang="zh-CN" altLang="en-US" sz="1100" dirty="0">
              <a:latin typeface="Segoe UI Black" panose="020B0A02040204020203" pitchFamily="34" charset="0"/>
              <a:cs typeface="Segoe UI Black" panose="020B0A02040204020203" pitchFamily="34" charset="0"/>
            </a:endParaRPr>
          </a:p>
        </p:txBody>
      </p:sp>
      <p:sp>
        <p:nvSpPr>
          <p:cNvPr id="95" name="矩形 94"/>
          <p:cNvSpPr/>
          <p:nvPr/>
        </p:nvSpPr>
        <p:spPr>
          <a:xfrm>
            <a:off x="3812394" y="4138909"/>
            <a:ext cx="336952" cy="261610"/>
          </a:xfrm>
          <a:prstGeom prst="rect">
            <a:avLst/>
          </a:prstGeom>
        </p:spPr>
        <p:txBody>
          <a:bodyPr wrap="none">
            <a:spAutoFit/>
          </a:bodyPr>
          <a:lstStyle/>
          <a:p>
            <a:r>
              <a:rPr lang="en-US" altLang="zh-CN" sz="1100" dirty="0" err="1">
                <a:latin typeface="Segoe UI Black" panose="020B0A02040204020203" pitchFamily="34" charset="0"/>
                <a:ea typeface="Segoe UI Black" panose="020B0A02040204020203" pitchFamily="34" charset="0"/>
                <a:cs typeface="Segoe UI Black" panose="020B0A02040204020203" pitchFamily="34" charset="0"/>
              </a:rPr>
              <a:t>rd</a:t>
            </a:r>
            <a:endParaRPr lang="zh-CN" altLang="en-US" sz="1100" dirty="0">
              <a:latin typeface="Segoe UI Black" panose="020B0A02040204020203" pitchFamily="34" charset="0"/>
              <a:cs typeface="Segoe UI Black" panose="020B0A02040204020203" pitchFamily="34" charset="0"/>
            </a:endParaRPr>
          </a:p>
        </p:txBody>
      </p:sp>
      <p:grpSp>
        <p:nvGrpSpPr>
          <p:cNvPr id="96" name="组合 95"/>
          <p:cNvGrpSpPr/>
          <p:nvPr/>
        </p:nvGrpSpPr>
        <p:grpSpPr>
          <a:xfrm>
            <a:off x="3053842" y="3582766"/>
            <a:ext cx="452368" cy="448216"/>
            <a:chOff x="3743887" y="4293594"/>
            <a:chExt cx="477107" cy="472728"/>
          </a:xfrm>
        </p:grpSpPr>
        <p:grpSp>
          <p:nvGrpSpPr>
            <p:cNvPr id="97" name="组合 96"/>
            <p:cNvGrpSpPr/>
            <p:nvPr/>
          </p:nvGrpSpPr>
          <p:grpSpPr>
            <a:xfrm>
              <a:off x="3743887" y="4440398"/>
              <a:ext cx="477107" cy="325924"/>
              <a:chOff x="2146087" y="4862847"/>
              <a:chExt cx="452393" cy="309040"/>
            </a:xfrm>
          </p:grpSpPr>
          <p:cxnSp>
            <p:nvCxnSpPr>
              <p:cNvPr id="99" name="直接连接符 98"/>
              <p:cNvCxnSpPr/>
              <p:nvPr/>
            </p:nvCxnSpPr>
            <p:spPr>
              <a:xfrm flipV="1">
                <a:off x="2364748" y="4862847"/>
                <a:ext cx="0" cy="104775"/>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矩形 99"/>
              <p:cNvSpPr/>
              <p:nvPr/>
            </p:nvSpPr>
            <p:spPr>
              <a:xfrm>
                <a:off x="2146087" y="4910263"/>
                <a:ext cx="452393" cy="261624"/>
              </a:xfrm>
              <a:prstGeom prst="rect">
                <a:avLst/>
              </a:prstGeom>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98" name="等腰三角形 97"/>
            <p:cNvSpPr/>
            <p:nvPr/>
          </p:nvSpPr>
          <p:spPr>
            <a:xfrm>
              <a:off x="3875914" y="4293594"/>
              <a:ext cx="201735" cy="126050"/>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01" name="组合 100"/>
          <p:cNvGrpSpPr/>
          <p:nvPr/>
        </p:nvGrpSpPr>
        <p:grpSpPr>
          <a:xfrm>
            <a:off x="3053842" y="4631387"/>
            <a:ext cx="452368" cy="448216"/>
            <a:chOff x="3743887" y="4293594"/>
            <a:chExt cx="477107" cy="472728"/>
          </a:xfrm>
        </p:grpSpPr>
        <p:grpSp>
          <p:nvGrpSpPr>
            <p:cNvPr id="102" name="组合 101"/>
            <p:cNvGrpSpPr/>
            <p:nvPr/>
          </p:nvGrpSpPr>
          <p:grpSpPr>
            <a:xfrm>
              <a:off x="3743887" y="4440398"/>
              <a:ext cx="477107" cy="325924"/>
              <a:chOff x="2146087" y="4862847"/>
              <a:chExt cx="452393" cy="309040"/>
            </a:xfrm>
          </p:grpSpPr>
          <p:cxnSp>
            <p:nvCxnSpPr>
              <p:cNvPr id="104" name="直接连接符 103"/>
              <p:cNvCxnSpPr/>
              <p:nvPr/>
            </p:nvCxnSpPr>
            <p:spPr>
              <a:xfrm flipV="1">
                <a:off x="2364748" y="4862847"/>
                <a:ext cx="0" cy="104775"/>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5" name="矩形 104"/>
              <p:cNvSpPr/>
              <p:nvPr/>
            </p:nvSpPr>
            <p:spPr>
              <a:xfrm>
                <a:off x="2146087" y="4910263"/>
                <a:ext cx="452393" cy="261624"/>
              </a:xfrm>
              <a:prstGeom prst="rect">
                <a:avLst/>
              </a:prstGeom>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103" name="等腰三角形 102"/>
            <p:cNvSpPr/>
            <p:nvPr/>
          </p:nvSpPr>
          <p:spPr>
            <a:xfrm>
              <a:off x="3875914" y="4293594"/>
              <a:ext cx="201735" cy="126050"/>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06" name="组合 105"/>
          <p:cNvGrpSpPr/>
          <p:nvPr/>
        </p:nvGrpSpPr>
        <p:grpSpPr>
          <a:xfrm>
            <a:off x="671570" y="3610423"/>
            <a:ext cx="452368" cy="448216"/>
            <a:chOff x="3743887" y="4293594"/>
            <a:chExt cx="477107" cy="472728"/>
          </a:xfrm>
          <a:solidFill>
            <a:srgbClr val="59B2FF"/>
          </a:solidFill>
        </p:grpSpPr>
        <p:grpSp>
          <p:nvGrpSpPr>
            <p:cNvPr id="107" name="组合 106"/>
            <p:cNvGrpSpPr/>
            <p:nvPr/>
          </p:nvGrpSpPr>
          <p:grpSpPr>
            <a:xfrm>
              <a:off x="3743887" y="4440398"/>
              <a:ext cx="477107" cy="325924"/>
              <a:chOff x="2146087" y="4862847"/>
              <a:chExt cx="452393" cy="309040"/>
            </a:xfrm>
            <a:grpFill/>
          </p:grpSpPr>
          <p:cxnSp>
            <p:nvCxnSpPr>
              <p:cNvPr id="109" name="直接连接符 108"/>
              <p:cNvCxnSpPr/>
              <p:nvPr/>
            </p:nvCxnSpPr>
            <p:spPr>
              <a:xfrm flipV="1">
                <a:off x="2364748" y="4862847"/>
                <a:ext cx="0" cy="104775"/>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2146087" y="4910263"/>
                <a:ext cx="452393" cy="261624"/>
              </a:xfrm>
              <a:prstGeom prst="rect">
                <a:avLst/>
              </a:prstGeom>
              <a:noFill/>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108" name="等腰三角形 107"/>
            <p:cNvSpPr/>
            <p:nvPr/>
          </p:nvSpPr>
          <p:spPr>
            <a:xfrm>
              <a:off x="3875914" y="4293594"/>
              <a:ext cx="201735" cy="126050"/>
            </a:xfrm>
            <a:prstGeom prst="triangle">
              <a:avLst/>
            </a:prstGeom>
            <a:solidFill>
              <a:srgbClr val="BDD7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11" name="组合 110"/>
          <p:cNvGrpSpPr/>
          <p:nvPr/>
        </p:nvGrpSpPr>
        <p:grpSpPr>
          <a:xfrm>
            <a:off x="6250916" y="3704498"/>
            <a:ext cx="452368" cy="448216"/>
            <a:chOff x="3743887" y="4293594"/>
            <a:chExt cx="477107" cy="472728"/>
          </a:xfrm>
        </p:grpSpPr>
        <p:grpSp>
          <p:nvGrpSpPr>
            <p:cNvPr id="112" name="组合 111"/>
            <p:cNvGrpSpPr/>
            <p:nvPr/>
          </p:nvGrpSpPr>
          <p:grpSpPr>
            <a:xfrm>
              <a:off x="3743887" y="4440398"/>
              <a:ext cx="477107" cy="325924"/>
              <a:chOff x="2146087" y="4862847"/>
              <a:chExt cx="452393" cy="309040"/>
            </a:xfrm>
          </p:grpSpPr>
          <p:cxnSp>
            <p:nvCxnSpPr>
              <p:cNvPr id="114" name="直接连接符 113"/>
              <p:cNvCxnSpPr/>
              <p:nvPr/>
            </p:nvCxnSpPr>
            <p:spPr>
              <a:xfrm flipV="1">
                <a:off x="2364748" y="4862847"/>
                <a:ext cx="0" cy="104775"/>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5" name="矩形 114"/>
              <p:cNvSpPr/>
              <p:nvPr/>
            </p:nvSpPr>
            <p:spPr>
              <a:xfrm>
                <a:off x="2146087" y="4910263"/>
                <a:ext cx="452393" cy="261624"/>
              </a:xfrm>
              <a:prstGeom prst="rect">
                <a:avLst/>
              </a:prstGeom>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113" name="等腰三角形 112"/>
            <p:cNvSpPr/>
            <p:nvPr/>
          </p:nvSpPr>
          <p:spPr>
            <a:xfrm>
              <a:off x="3875914" y="4293594"/>
              <a:ext cx="201735" cy="126050"/>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16" name="组合 115"/>
          <p:cNvGrpSpPr/>
          <p:nvPr/>
        </p:nvGrpSpPr>
        <p:grpSpPr>
          <a:xfrm>
            <a:off x="9600986" y="3739414"/>
            <a:ext cx="452368" cy="448216"/>
            <a:chOff x="3743887" y="4293594"/>
            <a:chExt cx="477107" cy="472728"/>
          </a:xfrm>
        </p:grpSpPr>
        <p:grpSp>
          <p:nvGrpSpPr>
            <p:cNvPr id="117" name="组合 116"/>
            <p:cNvGrpSpPr/>
            <p:nvPr/>
          </p:nvGrpSpPr>
          <p:grpSpPr>
            <a:xfrm>
              <a:off x="3743887" y="4440398"/>
              <a:ext cx="477107" cy="325924"/>
              <a:chOff x="2146087" y="4862847"/>
              <a:chExt cx="452393" cy="309040"/>
            </a:xfrm>
          </p:grpSpPr>
          <p:cxnSp>
            <p:nvCxnSpPr>
              <p:cNvPr id="119" name="直接连接符 118"/>
              <p:cNvCxnSpPr/>
              <p:nvPr/>
            </p:nvCxnSpPr>
            <p:spPr>
              <a:xfrm flipV="1">
                <a:off x="2364748" y="4862847"/>
                <a:ext cx="0" cy="104775"/>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a:xfrm>
                <a:off x="2146087" y="4910263"/>
                <a:ext cx="452393" cy="261624"/>
              </a:xfrm>
              <a:prstGeom prst="rect">
                <a:avLst/>
              </a:prstGeom>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118" name="等腰三角形 117"/>
            <p:cNvSpPr/>
            <p:nvPr/>
          </p:nvSpPr>
          <p:spPr>
            <a:xfrm>
              <a:off x="3875914" y="4293594"/>
              <a:ext cx="201735" cy="126050"/>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21" name="组合 120"/>
          <p:cNvGrpSpPr/>
          <p:nvPr/>
        </p:nvGrpSpPr>
        <p:grpSpPr>
          <a:xfrm>
            <a:off x="5235971" y="4536142"/>
            <a:ext cx="452368" cy="448214"/>
            <a:chOff x="3743887" y="4293594"/>
            <a:chExt cx="477107" cy="472726"/>
          </a:xfrm>
          <a:solidFill>
            <a:srgbClr val="FFCCFF"/>
          </a:solidFill>
        </p:grpSpPr>
        <p:grpSp>
          <p:nvGrpSpPr>
            <p:cNvPr id="122" name="组合 121"/>
            <p:cNvGrpSpPr/>
            <p:nvPr/>
          </p:nvGrpSpPr>
          <p:grpSpPr>
            <a:xfrm>
              <a:off x="3743887" y="4411013"/>
              <a:ext cx="477107" cy="355307"/>
              <a:chOff x="2146087" y="4834986"/>
              <a:chExt cx="452393" cy="336901"/>
            </a:xfrm>
            <a:grpFill/>
          </p:grpSpPr>
          <p:cxnSp>
            <p:nvCxnSpPr>
              <p:cNvPr id="124" name="直接连接符 123"/>
              <p:cNvCxnSpPr/>
              <p:nvPr/>
            </p:nvCxnSpPr>
            <p:spPr>
              <a:xfrm flipV="1">
                <a:off x="2364748" y="4834986"/>
                <a:ext cx="0" cy="104775"/>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a:xfrm>
                <a:off x="2146087" y="4910263"/>
                <a:ext cx="452393" cy="261624"/>
              </a:xfrm>
              <a:prstGeom prst="rect">
                <a:avLst/>
              </a:prstGeom>
              <a:noFill/>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123" name="等腰三角形 122"/>
            <p:cNvSpPr/>
            <p:nvPr/>
          </p:nvSpPr>
          <p:spPr>
            <a:xfrm>
              <a:off x="3875914" y="4293594"/>
              <a:ext cx="201735" cy="126050"/>
            </a:xfrm>
            <a:prstGeom prs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sp>
        <p:nvSpPr>
          <p:cNvPr id="126" name="矩形 125"/>
          <p:cNvSpPr/>
          <p:nvPr/>
        </p:nvSpPr>
        <p:spPr>
          <a:xfrm>
            <a:off x="2959877" y="3057117"/>
            <a:ext cx="369012" cy="307648"/>
          </a:xfrm>
          <a:prstGeom prst="rect">
            <a:avLst/>
          </a:prstGeom>
        </p:spPr>
        <p:txBody>
          <a:bodyPr wrap="none">
            <a:spAutoFit/>
          </a:bodyPr>
          <a:lstStyle/>
          <a:p>
            <a:r>
              <a:rPr lang="en-US" altLang="zh-CN" sz="1400" dirty="0">
                <a:latin typeface="Segoe UI Black" panose="020B0A02040204020203" pitchFamily="34" charset="0"/>
                <a:ea typeface="Segoe UI Black" panose="020B0A02040204020203" pitchFamily="34" charset="0"/>
                <a:cs typeface="Segoe UI Black" panose="020B0A02040204020203" pitchFamily="34" charset="0"/>
              </a:rPr>
              <a:t>IR</a:t>
            </a:r>
            <a:endParaRPr lang="zh-CN" altLang="en-US" sz="1400" dirty="0">
              <a:latin typeface="Segoe UI Black" panose="020B0A02040204020203" pitchFamily="34" charset="0"/>
              <a:cs typeface="Segoe UI Black" panose="020B0A02040204020203" pitchFamily="34" charset="0"/>
            </a:endParaRPr>
          </a:p>
        </p:txBody>
      </p:sp>
      <p:sp>
        <p:nvSpPr>
          <p:cNvPr id="127" name="矩形 126"/>
          <p:cNvSpPr/>
          <p:nvPr/>
        </p:nvSpPr>
        <p:spPr>
          <a:xfrm>
            <a:off x="2959538" y="4069068"/>
            <a:ext cx="442750" cy="307648"/>
          </a:xfrm>
          <a:prstGeom prst="rect">
            <a:avLst/>
          </a:prstGeom>
        </p:spPr>
        <p:txBody>
          <a:bodyPr wrap="none">
            <a:spAutoFit/>
          </a:bodyPr>
          <a:lstStyle/>
          <a:p>
            <a:r>
              <a:rPr lang="en-US" altLang="zh-CN" sz="1400" dirty="0">
                <a:latin typeface="Segoe UI Black" panose="020B0A02040204020203" pitchFamily="34" charset="0"/>
                <a:ea typeface="Segoe UI Black" panose="020B0A02040204020203" pitchFamily="34" charset="0"/>
                <a:cs typeface="Segoe UI Black" panose="020B0A02040204020203" pitchFamily="34" charset="0"/>
              </a:rPr>
              <a:t>DR</a:t>
            </a:r>
            <a:endParaRPr lang="zh-CN" altLang="en-US" sz="1400" dirty="0">
              <a:latin typeface="Segoe UI Black" panose="020B0A02040204020203" pitchFamily="34" charset="0"/>
              <a:cs typeface="Segoe UI Black" panose="020B0A02040204020203" pitchFamily="34" charset="0"/>
            </a:endParaRPr>
          </a:p>
        </p:txBody>
      </p:sp>
      <p:grpSp>
        <p:nvGrpSpPr>
          <p:cNvPr id="128" name="组合 127"/>
          <p:cNvGrpSpPr/>
          <p:nvPr/>
        </p:nvGrpSpPr>
        <p:grpSpPr>
          <a:xfrm>
            <a:off x="3204886" y="970527"/>
            <a:ext cx="7686554" cy="2065916"/>
            <a:chOff x="3903189" y="1538500"/>
            <a:chExt cx="8106912" cy="2178896"/>
          </a:xfrm>
        </p:grpSpPr>
        <p:sp>
          <p:nvSpPr>
            <p:cNvPr id="129" name="矩形 128"/>
            <p:cNvSpPr/>
            <p:nvPr/>
          </p:nvSpPr>
          <p:spPr>
            <a:xfrm>
              <a:off x="4376674" y="1927903"/>
              <a:ext cx="532899" cy="312774"/>
            </a:xfrm>
            <a:prstGeom prst="rect">
              <a:avLst/>
            </a:prstGeom>
          </p:spPr>
          <p:txBody>
            <a:bodyPr wrap="none">
              <a:spAutoFit/>
            </a:bodyPr>
            <a:lstStyle/>
            <a:p>
              <a:r>
                <a:rPr lang="en-US" altLang="zh-CN" sz="1325" dirty="0" err="1">
                  <a:solidFill>
                    <a:srgbClr val="0066FF"/>
                  </a:solidFill>
                  <a:latin typeface="Times New Roman" panose="02020603050405020304" pitchFamily="18" charset="0"/>
                  <a:cs typeface="Times New Roman" panose="02020603050405020304" pitchFamily="18" charset="0"/>
                </a:rPr>
                <a:t>IorD</a:t>
              </a:r>
              <a:endParaRPr lang="zh-CN" altLang="en-US" sz="1325" dirty="0">
                <a:solidFill>
                  <a:srgbClr val="0066FF"/>
                </a:solidFill>
                <a:latin typeface="Times New Roman" panose="02020603050405020304" pitchFamily="18" charset="0"/>
                <a:cs typeface="Times New Roman" panose="02020603050405020304" pitchFamily="18" charset="0"/>
              </a:endParaRPr>
            </a:p>
          </p:txBody>
        </p:sp>
        <p:sp>
          <p:nvSpPr>
            <p:cNvPr id="130" name="矩形 129"/>
            <p:cNvSpPr/>
            <p:nvPr/>
          </p:nvSpPr>
          <p:spPr>
            <a:xfrm>
              <a:off x="4132343" y="2431768"/>
              <a:ext cx="762694" cy="312774"/>
            </a:xfrm>
            <a:prstGeom prst="rect">
              <a:avLst/>
            </a:prstGeom>
          </p:spPr>
          <p:txBody>
            <a:bodyPr wrap="none">
              <a:spAutoFit/>
            </a:bodyPr>
            <a:lstStyle/>
            <a:p>
              <a:r>
                <a:rPr lang="en-US" altLang="zh-CN" sz="1325" dirty="0" err="1">
                  <a:solidFill>
                    <a:srgbClr val="0066FF"/>
                  </a:solidFill>
                  <a:latin typeface="Times New Roman" panose="02020603050405020304" pitchFamily="18" charset="0"/>
                  <a:cs typeface="Times New Roman" panose="02020603050405020304" pitchFamily="18" charset="0"/>
                </a:rPr>
                <a:t>IRWrite</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sp>
          <p:nvSpPr>
            <p:cNvPr id="131" name="矩形 130"/>
            <p:cNvSpPr/>
            <p:nvPr/>
          </p:nvSpPr>
          <p:spPr>
            <a:xfrm>
              <a:off x="3903189" y="2167772"/>
              <a:ext cx="972067" cy="312774"/>
            </a:xfrm>
            <a:prstGeom prst="rect">
              <a:avLst/>
            </a:prstGeom>
          </p:spPr>
          <p:txBody>
            <a:bodyPr wrap="none">
              <a:spAutoFit/>
            </a:bodyPr>
            <a:lstStyle/>
            <a:p>
              <a:pPr algn="r"/>
              <a:r>
                <a:rPr lang="en-US" altLang="zh-CN" sz="1325" dirty="0" err="1">
                  <a:solidFill>
                    <a:srgbClr val="0066FF"/>
                  </a:solidFill>
                  <a:latin typeface="Times New Roman" panose="02020603050405020304" pitchFamily="18" charset="0"/>
                  <a:cs typeface="Times New Roman" panose="02020603050405020304" pitchFamily="18" charset="0"/>
                </a:rPr>
                <a:t>MemWrite</a:t>
              </a:r>
              <a:endParaRPr lang="zh-CN" altLang="en-US" sz="1325" dirty="0">
                <a:solidFill>
                  <a:srgbClr val="0066FF"/>
                </a:solidFill>
                <a:latin typeface="Times New Roman" panose="02020603050405020304" pitchFamily="18" charset="0"/>
                <a:cs typeface="Times New Roman" panose="02020603050405020304" pitchFamily="18" charset="0"/>
              </a:endParaRPr>
            </a:p>
          </p:txBody>
        </p:sp>
        <p:cxnSp>
          <p:nvCxnSpPr>
            <p:cNvPr id="132" name="直接连接符 131"/>
            <p:cNvCxnSpPr/>
            <p:nvPr/>
          </p:nvCxnSpPr>
          <p:spPr>
            <a:xfrm flipV="1">
              <a:off x="5185197" y="1589710"/>
              <a:ext cx="0" cy="1104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矩形 132"/>
            <p:cNvSpPr/>
            <p:nvPr/>
          </p:nvSpPr>
          <p:spPr>
            <a:xfrm>
              <a:off x="5467373" y="1538500"/>
              <a:ext cx="758028"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PCWrite</a:t>
              </a:r>
              <a:endParaRPr lang="zh-CN" altLang="en-US" sz="1200" dirty="0">
                <a:solidFill>
                  <a:srgbClr val="0066FF"/>
                </a:solidFill>
                <a:latin typeface="Times New Roman" panose="02020603050405020304" pitchFamily="18" charset="0"/>
                <a:cs typeface="Times New Roman" panose="02020603050405020304" pitchFamily="18" charset="0"/>
              </a:endParaRPr>
            </a:p>
          </p:txBody>
        </p:sp>
        <p:sp>
          <p:nvSpPr>
            <p:cNvPr id="134" name="矩形 133"/>
            <p:cNvSpPr/>
            <p:nvPr/>
          </p:nvSpPr>
          <p:spPr>
            <a:xfrm>
              <a:off x="5467373" y="1759117"/>
              <a:ext cx="664771" cy="292147"/>
            </a:xfrm>
            <a:prstGeom prst="rect">
              <a:avLst/>
            </a:prstGeom>
          </p:spPr>
          <p:txBody>
            <a:bodyPr wrap="none">
              <a:spAutoFit/>
            </a:bodyPr>
            <a:lstStyle/>
            <a:p>
              <a:r>
                <a:rPr lang="en-US" altLang="zh-CN" sz="1200" dirty="0">
                  <a:solidFill>
                    <a:srgbClr val="0066FF"/>
                  </a:solidFill>
                  <a:latin typeface="Times New Roman" panose="02020603050405020304" pitchFamily="18" charset="0"/>
                  <a:cs typeface="Times New Roman" panose="02020603050405020304" pitchFamily="18" charset="0"/>
                </a:rPr>
                <a:t>Branch</a:t>
              </a:r>
              <a:endParaRPr lang="zh-CN" altLang="en-US" sz="1200" dirty="0">
                <a:solidFill>
                  <a:srgbClr val="0066FF"/>
                </a:solidFill>
                <a:latin typeface="Times New Roman" panose="02020603050405020304" pitchFamily="18" charset="0"/>
                <a:cs typeface="Times New Roman" panose="02020603050405020304" pitchFamily="18" charset="0"/>
              </a:endParaRPr>
            </a:p>
          </p:txBody>
        </p:sp>
        <p:sp>
          <p:nvSpPr>
            <p:cNvPr id="135" name="矩形 134"/>
            <p:cNvSpPr/>
            <p:nvPr/>
          </p:nvSpPr>
          <p:spPr>
            <a:xfrm>
              <a:off x="5467373" y="1979734"/>
              <a:ext cx="608979"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PCSrc</a:t>
              </a:r>
              <a:endParaRPr lang="zh-CN" altLang="en-US" sz="1200" dirty="0">
                <a:solidFill>
                  <a:srgbClr val="0066FF"/>
                </a:solidFill>
                <a:latin typeface="Times New Roman" panose="02020603050405020304" pitchFamily="18" charset="0"/>
                <a:cs typeface="Times New Roman" panose="02020603050405020304" pitchFamily="18" charset="0"/>
              </a:endParaRPr>
            </a:p>
          </p:txBody>
        </p:sp>
        <p:sp>
          <p:nvSpPr>
            <p:cNvPr id="136" name="矩形 135"/>
            <p:cNvSpPr/>
            <p:nvPr/>
          </p:nvSpPr>
          <p:spPr>
            <a:xfrm>
              <a:off x="5467373" y="2200351"/>
              <a:ext cx="636029"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AluOp</a:t>
              </a:r>
              <a:endParaRPr lang="zh-CN" altLang="en-US" sz="1200" baseline="-25000" dirty="0">
                <a:solidFill>
                  <a:srgbClr val="0066FF"/>
                </a:solidFill>
                <a:latin typeface="Times New Roman" panose="02020603050405020304" pitchFamily="18" charset="0"/>
                <a:cs typeface="Times New Roman" panose="02020603050405020304" pitchFamily="18" charset="0"/>
              </a:endParaRPr>
            </a:p>
          </p:txBody>
        </p:sp>
        <p:sp>
          <p:nvSpPr>
            <p:cNvPr id="137" name="矩形 136"/>
            <p:cNvSpPr/>
            <p:nvPr/>
          </p:nvSpPr>
          <p:spPr>
            <a:xfrm>
              <a:off x="5467373" y="2420968"/>
              <a:ext cx="852435"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ALUSrcB</a:t>
              </a:r>
              <a:endParaRPr lang="zh-CN" altLang="en-US" sz="1200" baseline="-25000" dirty="0">
                <a:solidFill>
                  <a:srgbClr val="0066FF"/>
                </a:solidFill>
                <a:latin typeface="Times New Roman" panose="02020603050405020304" pitchFamily="18" charset="0"/>
                <a:cs typeface="Times New Roman" panose="02020603050405020304" pitchFamily="18" charset="0"/>
              </a:endParaRPr>
            </a:p>
          </p:txBody>
        </p:sp>
        <p:sp>
          <p:nvSpPr>
            <p:cNvPr id="138" name="矩形 137"/>
            <p:cNvSpPr/>
            <p:nvPr/>
          </p:nvSpPr>
          <p:spPr>
            <a:xfrm>
              <a:off x="5467373" y="2641585"/>
              <a:ext cx="860888"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ALUSrcA</a:t>
              </a:r>
              <a:endParaRPr lang="zh-CN" altLang="en-US" sz="1200" baseline="-25000" dirty="0">
                <a:solidFill>
                  <a:srgbClr val="0066FF"/>
                </a:solidFill>
                <a:latin typeface="Times New Roman" panose="02020603050405020304" pitchFamily="18" charset="0"/>
                <a:cs typeface="Times New Roman" panose="02020603050405020304" pitchFamily="18" charset="0"/>
              </a:endParaRPr>
            </a:p>
          </p:txBody>
        </p:sp>
        <p:sp>
          <p:nvSpPr>
            <p:cNvPr id="139" name="矩形 138"/>
            <p:cNvSpPr/>
            <p:nvPr/>
          </p:nvSpPr>
          <p:spPr>
            <a:xfrm>
              <a:off x="5467373" y="2862201"/>
              <a:ext cx="822273" cy="292147"/>
            </a:xfrm>
            <a:prstGeom prst="rect">
              <a:avLst/>
            </a:prstGeom>
          </p:spPr>
          <p:txBody>
            <a:bodyPr wrap="none">
              <a:spAutoFit/>
            </a:bodyPr>
            <a:lstStyle/>
            <a:p>
              <a:r>
                <a:rPr lang="en-US" altLang="zh-CN" sz="1200" dirty="0" err="1">
                  <a:solidFill>
                    <a:srgbClr val="0066FF"/>
                  </a:solidFill>
                  <a:latin typeface="Times New Roman" panose="02020603050405020304" pitchFamily="18" charset="0"/>
                  <a:cs typeface="Times New Roman" panose="02020603050405020304" pitchFamily="18" charset="0"/>
                </a:rPr>
                <a:t>RegWrite</a:t>
              </a:r>
              <a:endParaRPr lang="zh-CN" altLang="en-US" sz="1200" dirty="0">
                <a:solidFill>
                  <a:srgbClr val="0066FF"/>
                </a:solidFill>
                <a:latin typeface="Times New Roman" panose="02020603050405020304" pitchFamily="18" charset="0"/>
                <a:cs typeface="Times New Roman" panose="02020603050405020304" pitchFamily="18" charset="0"/>
              </a:endParaRPr>
            </a:p>
          </p:txBody>
        </p:sp>
        <p:sp>
          <p:nvSpPr>
            <p:cNvPr id="140" name="矩形 139"/>
            <p:cNvSpPr/>
            <p:nvPr/>
          </p:nvSpPr>
          <p:spPr>
            <a:xfrm>
              <a:off x="11396050" y="1752004"/>
              <a:ext cx="614051" cy="312774"/>
            </a:xfrm>
            <a:prstGeom prst="rect">
              <a:avLst/>
            </a:prstGeom>
          </p:spPr>
          <p:txBody>
            <a:bodyPr wrap="none">
              <a:spAutoFit/>
            </a:bodyPr>
            <a:lstStyle/>
            <a:p>
              <a:r>
                <a:rPr lang="en-US" altLang="zh-CN" sz="1325" dirty="0" err="1">
                  <a:solidFill>
                    <a:srgbClr val="0066FF"/>
                  </a:solidFill>
                  <a:latin typeface="Times New Roman" panose="02020603050405020304" pitchFamily="18" charset="0"/>
                  <a:cs typeface="Times New Roman" panose="02020603050405020304" pitchFamily="18" charset="0"/>
                </a:rPr>
                <a:t>PCEn</a:t>
              </a:r>
              <a:endParaRPr lang="zh-CN" altLang="en-US" sz="1325" dirty="0">
                <a:solidFill>
                  <a:srgbClr val="0066FF"/>
                </a:solidFill>
                <a:latin typeface="Times New Roman" panose="02020603050405020304" pitchFamily="18" charset="0"/>
                <a:cs typeface="Times New Roman" panose="02020603050405020304" pitchFamily="18" charset="0"/>
              </a:endParaRPr>
            </a:p>
          </p:txBody>
        </p:sp>
        <p:sp>
          <p:nvSpPr>
            <p:cNvPr id="141" name="矩形 140"/>
            <p:cNvSpPr/>
            <p:nvPr/>
          </p:nvSpPr>
          <p:spPr>
            <a:xfrm>
              <a:off x="4561939" y="3396602"/>
              <a:ext cx="732397" cy="312774"/>
            </a:xfrm>
            <a:prstGeom prst="rect">
              <a:avLst/>
            </a:prstGeom>
          </p:spPr>
          <p:txBody>
            <a:bodyPr wrap="none">
              <a:spAutoFit/>
            </a:bodyPr>
            <a:lstStyle/>
            <a:p>
              <a:r>
                <a:rPr lang="en-US" altLang="zh-CN" sz="1325" dirty="0" err="1">
                  <a:solidFill>
                    <a:srgbClr val="0066FF"/>
                  </a:solidFill>
                  <a:latin typeface="Times New Roman" panose="02020603050405020304" pitchFamily="18" charset="0"/>
                  <a:cs typeface="Times New Roman" panose="02020603050405020304" pitchFamily="18" charset="0"/>
                </a:rPr>
                <a:t>RegDst</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sp>
          <p:nvSpPr>
            <p:cNvPr id="142" name="矩形 141"/>
            <p:cNvSpPr/>
            <p:nvPr/>
          </p:nvSpPr>
          <p:spPr>
            <a:xfrm>
              <a:off x="5324550" y="3404622"/>
              <a:ext cx="1001214" cy="312774"/>
            </a:xfrm>
            <a:prstGeom prst="rect">
              <a:avLst/>
            </a:prstGeom>
          </p:spPr>
          <p:txBody>
            <a:bodyPr wrap="none">
              <a:spAutoFit/>
            </a:bodyPr>
            <a:lstStyle/>
            <a:p>
              <a:r>
                <a:rPr lang="en-US" altLang="zh-CN" sz="1325" dirty="0" err="1">
                  <a:solidFill>
                    <a:srgbClr val="0066FF"/>
                  </a:solidFill>
                  <a:latin typeface="Times New Roman" panose="02020603050405020304" pitchFamily="18" charset="0"/>
                  <a:cs typeface="Times New Roman" panose="02020603050405020304" pitchFamily="18" charset="0"/>
                </a:rPr>
                <a:t>MemtoReg</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sp>
          <p:nvSpPr>
            <p:cNvPr id="143" name="等腰三角形 142"/>
            <p:cNvSpPr/>
            <p:nvPr/>
          </p:nvSpPr>
          <p:spPr>
            <a:xfrm flipV="1">
              <a:off x="5086865" y="1700209"/>
              <a:ext cx="201735" cy="136299"/>
            </a:xfrm>
            <a:prstGeom prst="triangle">
              <a:avLst/>
            </a:prstGeom>
            <a:solidFill>
              <a:srgbClr val="59B2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sp>
        <p:nvSpPr>
          <p:cNvPr id="144" name="矩形 143"/>
          <p:cNvSpPr/>
          <p:nvPr/>
        </p:nvSpPr>
        <p:spPr>
          <a:xfrm>
            <a:off x="459962" y="3003000"/>
            <a:ext cx="449162" cy="338426"/>
          </a:xfrm>
          <a:prstGeom prst="rect">
            <a:avLst/>
          </a:prstGeom>
        </p:spPr>
        <p:txBody>
          <a:bodyPr wrap="none">
            <a:spAutoFit/>
          </a:bodyPr>
          <a:lstStyle/>
          <a:p>
            <a:r>
              <a:rPr lang="en-US" altLang="zh-CN" sz="1600" dirty="0">
                <a:latin typeface="Segoe UI Black" panose="020B0A02040204020203" pitchFamily="34" charset="0"/>
                <a:ea typeface="Segoe UI Black" panose="020B0A02040204020203" pitchFamily="34" charset="0"/>
                <a:cs typeface="Segoe UI Black" panose="020B0A02040204020203" pitchFamily="34" charset="0"/>
              </a:rPr>
              <a:t>PC</a:t>
            </a:r>
            <a:endParaRPr lang="zh-CN" altLang="en-US" sz="1600" dirty="0">
              <a:latin typeface="Segoe UI Black" panose="020B0A02040204020203" pitchFamily="34" charset="0"/>
              <a:cs typeface="Segoe UI Black" panose="020B0A02040204020203" pitchFamily="34" charset="0"/>
            </a:endParaRPr>
          </a:p>
        </p:txBody>
      </p:sp>
      <p:grpSp>
        <p:nvGrpSpPr>
          <p:cNvPr id="145" name="组合 144"/>
          <p:cNvGrpSpPr/>
          <p:nvPr/>
        </p:nvGrpSpPr>
        <p:grpSpPr>
          <a:xfrm>
            <a:off x="7631875" y="3471515"/>
            <a:ext cx="444521" cy="993977"/>
            <a:chOff x="4336181" y="4140652"/>
            <a:chExt cx="214541" cy="587002"/>
          </a:xfrm>
        </p:grpSpPr>
        <p:sp>
          <p:nvSpPr>
            <p:cNvPr id="146" name="流程图: 手动操作 145"/>
            <p:cNvSpPr/>
            <p:nvPr/>
          </p:nvSpPr>
          <p:spPr>
            <a:xfrm rot="16200000">
              <a:off x="4158248" y="4335179"/>
              <a:ext cx="587002" cy="197947"/>
            </a:xfrm>
            <a:prstGeom prst="flowChartManualOperation">
              <a:avLst/>
            </a:prstGeom>
            <a:no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47" name="矩形 146"/>
            <p:cNvSpPr/>
            <p:nvPr/>
          </p:nvSpPr>
          <p:spPr>
            <a:xfrm>
              <a:off x="4336181" y="4155434"/>
              <a:ext cx="175776" cy="563153"/>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00</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01</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10</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11</a:t>
              </a:r>
              <a:endParaRPr lang="zh-CN" altLang="en-US" sz="1400" dirty="0">
                <a:latin typeface="Times New Roman" panose="02020603050405020304" pitchFamily="18" charset="0"/>
                <a:cs typeface="Times New Roman" panose="02020603050405020304" pitchFamily="18" charset="0"/>
              </a:endParaRPr>
            </a:p>
          </p:txBody>
        </p:sp>
      </p:grpSp>
      <p:cxnSp>
        <p:nvCxnSpPr>
          <p:cNvPr id="148" name="直接连接符 147"/>
          <p:cNvCxnSpPr/>
          <p:nvPr/>
        </p:nvCxnSpPr>
        <p:spPr>
          <a:xfrm>
            <a:off x="7443140" y="4233349"/>
            <a:ext cx="218192"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V="1">
            <a:off x="7444393" y="4233349"/>
            <a:ext cx="0" cy="38949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155" name="组合 154"/>
          <p:cNvGrpSpPr/>
          <p:nvPr/>
        </p:nvGrpSpPr>
        <p:grpSpPr>
          <a:xfrm>
            <a:off x="4744158" y="1212460"/>
            <a:ext cx="5075479" cy="141417"/>
            <a:chOff x="5526640" y="1825630"/>
            <a:chExt cx="5353044" cy="149151"/>
          </a:xfrm>
        </p:grpSpPr>
        <p:cxnSp>
          <p:nvCxnSpPr>
            <p:cNvPr id="156" name="直接连接符 155"/>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7" name="直接连接符 156"/>
            <p:cNvCxnSpPr/>
            <p:nvPr/>
          </p:nvCxnSpPr>
          <p:spPr>
            <a:xfrm>
              <a:off x="10737496" y="1836508"/>
              <a:ext cx="0" cy="138273"/>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58" name="直接连接符 157"/>
            <p:cNvCxnSpPr/>
            <p:nvPr/>
          </p:nvCxnSpPr>
          <p:spPr>
            <a:xfrm>
              <a:off x="10737496" y="1974781"/>
              <a:ext cx="142188"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59" name="直接连接符 158"/>
          <p:cNvCxnSpPr/>
          <p:nvPr/>
        </p:nvCxnSpPr>
        <p:spPr>
          <a:xfrm>
            <a:off x="4744159" y="1427333"/>
            <a:ext cx="4629371"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nvGrpSpPr>
          <p:cNvPr id="160" name="组合 159"/>
          <p:cNvGrpSpPr/>
          <p:nvPr/>
        </p:nvGrpSpPr>
        <p:grpSpPr>
          <a:xfrm>
            <a:off x="4744158" y="1639683"/>
            <a:ext cx="5933775" cy="1720651"/>
            <a:chOff x="5526640" y="1825630"/>
            <a:chExt cx="5210856" cy="1341486"/>
          </a:xfrm>
        </p:grpSpPr>
        <p:cxnSp>
          <p:nvCxnSpPr>
            <p:cNvPr id="161" name="直接连接符 160"/>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2" name="直接连接符 161"/>
            <p:cNvCxnSpPr/>
            <p:nvPr/>
          </p:nvCxnSpPr>
          <p:spPr>
            <a:xfrm>
              <a:off x="10737495" y="1825630"/>
              <a:ext cx="0" cy="1341486"/>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63" name="组合 162"/>
          <p:cNvGrpSpPr/>
          <p:nvPr/>
        </p:nvGrpSpPr>
        <p:grpSpPr>
          <a:xfrm>
            <a:off x="4743423" y="2058875"/>
            <a:ext cx="3134510" cy="1498461"/>
            <a:chOff x="5526640" y="1825630"/>
            <a:chExt cx="5210856" cy="1168258"/>
          </a:xfrm>
        </p:grpSpPr>
        <p:cxnSp>
          <p:nvCxnSpPr>
            <p:cNvPr id="164" name="直接连接符 163"/>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5" name="直接连接符 164"/>
            <p:cNvCxnSpPr/>
            <p:nvPr/>
          </p:nvCxnSpPr>
          <p:spPr>
            <a:xfrm>
              <a:off x="10737496" y="1841694"/>
              <a:ext cx="0" cy="1152194"/>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66" name="组合 165"/>
          <p:cNvGrpSpPr/>
          <p:nvPr/>
        </p:nvGrpSpPr>
        <p:grpSpPr>
          <a:xfrm>
            <a:off x="4750507" y="2269744"/>
            <a:ext cx="2697653" cy="855990"/>
            <a:chOff x="5526640" y="1825630"/>
            <a:chExt cx="5220570" cy="667363"/>
          </a:xfrm>
        </p:grpSpPr>
        <p:cxnSp>
          <p:nvCxnSpPr>
            <p:cNvPr id="167" name="直接连接符 166"/>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68" name="直接连接符 167"/>
            <p:cNvCxnSpPr/>
            <p:nvPr/>
          </p:nvCxnSpPr>
          <p:spPr>
            <a:xfrm>
              <a:off x="10747210" y="1825630"/>
              <a:ext cx="0" cy="667363"/>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69" name="组合 168"/>
          <p:cNvGrpSpPr/>
          <p:nvPr/>
        </p:nvGrpSpPr>
        <p:grpSpPr>
          <a:xfrm flipH="1">
            <a:off x="1519898" y="1593675"/>
            <a:ext cx="2588014" cy="1827074"/>
            <a:chOff x="5526640" y="1825630"/>
            <a:chExt cx="5210856" cy="1341486"/>
          </a:xfrm>
        </p:grpSpPr>
        <p:cxnSp>
          <p:nvCxnSpPr>
            <p:cNvPr id="170" name="直接连接符 169"/>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71" name="直接连接符 170"/>
            <p:cNvCxnSpPr/>
            <p:nvPr/>
          </p:nvCxnSpPr>
          <p:spPr>
            <a:xfrm>
              <a:off x="10737495" y="1825630"/>
              <a:ext cx="0" cy="1341486"/>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72" name="组合 171"/>
          <p:cNvGrpSpPr/>
          <p:nvPr/>
        </p:nvGrpSpPr>
        <p:grpSpPr>
          <a:xfrm flipH="1">
            <a:off x="2356825" y="1837781"/>
            <a:ext cx="1750117" cy="1361631"/>
            <a:chOff x="5526640" y="1825630"/>
            <a:chExt cx="5210856" cy="1341486"/>
          </a:xfrm>
        </p:grpSpPr>
        <p:cxnSp>
          <p:nvCxnSpPr>
            <p:cNvPr id="173" name="直接连接符 172"/>
            <p:cNvCxnSpPr/>
            <p:nvPr/>
          </p:nvCxnSpPr>
          <p:spPr>
            <a:xfrm>
              <a:off x="10737495" y="1825630"/>
              <a:ext cx="0" cy="1341486"/>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74" name="直接连接符 173"/>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75" name="组合 174"/>
          <p:cNvGrpSpPr/>
          <p:nvPr/>
        </p:nvGrpSpPr>
        <p:grpSpPr>
          <a:xfrm flipH="1">
            <a:off x="3290707" y="2082755"/>
            <a:ext cx="816234" cy="1218551"/>
            <a:chOff x="5526640" y="1825630"/>
            <a:chExt cx="5210856" cy="1341486"/>
          </a:xfrm>
        </p:grpSpPr>
        <p:cxnSp>
          <p:nvCxnSpPr>
            <p:cNvPr id="176" name="直接连接符 175"/>
            <p:cNvCxnSpPr/>
            <p:nvPr/>
          </p:nvCxnSpPr>
          <p:spPr>
            <a:xfrm>
              <a:off x="5526640" y="1825630"/>
              <a:ext cx="5210856" cy="0"/>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77" name="直接连接符 176"/>
            <p:cNvCxnSpPr/>
            <p:nvPr/>
          </p:nvCxnSpPr>
          <p:spPr>
            <a:xfrm>
              <a:off x="10737495" y="1825630"/>
              <a:ext cx="0" cy="1341486"/>
            </a:xfrm>
            <a:prstGeom prst="line">
              <a:avLst/>
            </a:prstGeom>
            <a:noFill/>
            <a:ln w="19050" cap="sq">
              <a:solidFill>
                <a:srgbClr val="0066FF"/>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78" name="组合 177"/>
          <p:cNvGrpSpPr/>
          <p:nvPr/>
        </p:nvGrpSpPr>
        <p:grpSpPr>
          <a:xfrm>
            <a:off x="1216176" y="2771736"/>
            <a:ext cx="6112648" cy="746763"/>
            <a:chOff x="1805721" y="3620584"/>
            <a:chExt cx="6446933" cy="787602"/>
          </a:xfrm>
        </p:grpSpPr>
        <p:cxnSp>
          <p:nvCxnSpPr>
            <p:cNvPr id="179" name="直接连接符 178"/>
            <p:cNvCxnSpPr/>
            <p:nvPr/>
          </p:nvCxnSpPr>
          <p:spPr>
            <a:xfrm>
              <a:off x="1808036" y="3620584"/>
              <a:ext cx="0" cy="787602"/>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0" name="直接连接符 179"/>
            <p:cNvCxnSpPr/>
            <p:nvPr/>
          </p:nvCxnSpPr>
          <p:spPr>
            <a:xfrm flipH="1">
              <a:off x="1805721" y="3620584"/>
              <a:ext cx="606314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1" name="直接连接符 180"/>
            <p:cNvCxnSpPr/>
            <p:nvPr/>
          </p:nvCxnSpPr>
          <p:spPr>
            <a:xfrm>
              <a:off x="7881633" y="3620584"/>
              <a:ext cx="0" cy="43601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2" name="直接连接符 181"/>
            <p:cNvCxnSpPr/>
            <p:nvPr/>
          </p:nvCxnSpPr>
          <p:spPr>
            <a:xfrm flipH="1">
              <a:off x="7881633" y="4056594"/>
              <a:ext cx="37102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83" name="组合 182"/>
          <p:cNvGrpSpPr/>
          <p:nvPr/>
        </p:nvGrpSpPr>
        <p:grpSpPr>
          <a:xfrm>
            <a:off x="1216176" y="3666375"/>
            <a:ext cx="9026782" cy="2047497"/>
            <a:chOff x="1805721" y="4564148"/>
            <a:chExt cx="9520434" cy="2159469"/>
          </a:xfrm>
        </p:grpSpPr>
        <p:grpSp>
          <p:nvGrpSpPr>
            <p:cNvPr id="184" name="组合 183"/>
            <p:cNvGrpSpPr/>
            <p:nvPr/>
          </p:nvGrpSpPr>
          <p:grpSpPr>
            <a:xfrm>
              <a:off x="1805721" y="4564148"/>
              <a:ext cx="9520434" cy="2159469"/>
              <a:chOff x="1744472" y="2316829"/>
              <a:chExt cx="9509257" cy="2156934"/>
            </a:xfrm>
          </p:grpSpPr>
          <p:cxnSp>
            <p:nvCxnSpPr>
              <p:cNvPr id="186" name="直接连接符 185"/>
              <p:cNvCxnSpPr/>
              <p:nvPr/>
            </p:nvCxnSpPr>
            <p:spPr>
              <a:xfrm>
                <a:off x="1744472" y="2382316"/>
                <a:ext cx="0" cy="208892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7" name="直接连接符 186"/>
              <p:cNvCxnSpPr/>
              <p:nvPr/>
            </p:nvCxnSpPr>
            <p:spPr>
              <a:xfrm flipH="1">
                <a:off x="1744472" y="4473763"/>
                <a:ext cx="950925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8" name="直接连接符 187"/>
              <p:cNvCxnSpPr/>
              <p:nvPr/>
            </p:nvCxnSpPr>
            <p:spPr>
              <a:xfrm>
                <a:off x="11253729" y="2316829"/>
                <a:ext cx="0" cy="215194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85" name="直接连接符 184"/>
            <p:cNvCxnSpPr/>
            <p:nvPr/>
          </p:nvCxnSpPr>
          <p:spPr>
            <a:xfrm>
              <a:off x="1805721" y="4629712"/>
              <a:ext cx="191496"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grpSp>
        <p:nvGrpSpPr>
          <p:cNvPr id="189" name="组合 188"/>
          <p:cNvGrpSpPr/>
          <p:nvPr/>
        </p:nvGrpSpPr>
        <p:grpSpPr>
          <a:xfrm>
            <a:off x="538020" y="3531350"/>
            <a:ext cx="10411306" cy="2368641"/>
            <a:chOff x="1805720" y="4629712"/>
            <a:chExt cx="9520436" cy="2093905"/>
          </a:xfrm>
        </p:grpSpPr>
        <p:grpSp>
          <p:nvGrpSpPr>
            <p:cNvPr id="190" name="组合 189"/>
            <p:cNvGrpSpPr/>
            <p:nvPr/>
          </p:nvGrpSpPr>
          <p:grpSpPr>
            <a:xfrm>
              <a:off x="1805720" y="4629712"/>
              <a:ext cx="9520435" cy="2093905"/>
              <a:chOff x="1744471" y="2382316"/>
              <a:chExt cx="9509258" cy="2091447"/>
            </a:xfrm>
          </p:grpSpPr>
          <p:cxnSp>
            <p:nvCxnSpPr>
              <p:cNvPr id="193" name="直接连接符 192"/>
              <p:cNvCxnSpPr/>
              <p:nvPr/>
            </p:nvCxnSpPr>
            <p:spPr>
              <a:xfrm>
                <a:off x="1744471" y="2382316"/>
                <a:ext cx="0" cy="2088922"/>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4" name="直接连接符 193"/>
              <p:cNvCxnSpPr/>
              <p:nvPr/>
            </p:nvCxnSpPr>
            <p:spPr>
              <a:xfrm flipH="1">
                <a:off x="1744472" y="4473763"/>
                <a:ext cx="950925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5" name="直接连接符 194"/>
              <p:cNvCxnSpPr/>
              <p:nvPr/>
            </p:nvCxnSpPr>
            <p:spPr>
              <a:xfrm>
                <a:off x="11253729" y="2419000"/>
                <a:ext cx="0" cy="204977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91" name="直接连接符 190"/>
            <p:cNvCxnSpPr/>
            <p:nvPr/>
          </p:nvCxnSpPr>
          <p:spPr>
            <a:xfrm>
              <a:off x="1805721" y="4629712"/>
              <a:ext cx="191496"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11187438" y="4662757"/>
              <a:ext cx="138718"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grpSp>
        <p:nvGrpSpPr>
          <p:cNvPr id="196" name="组合 195"/>
          <p:cNvGrpSpPr/>
          <p:nvPr/>
        </p:nvGrpSpPr>
        <p:grpSpPr>
          <a:xfrm>
            <a:off x="1696455" y="3627483"/>
            <a:ext cx="5106595" cy="1461540"/>
            <a:chOff x="1805721" y="4522265"/>
            <a:chExt cx="9520434" cy="2226972"/>
          </a:xfrm>
        </p:grpSpPr>
        <p:grpSp>
          <p:nvGrpSpPr>
            <p:cNvPr id="197" name="组合 196"/>
            <p:cNvGrpSpPr/>
            <p:nvPr/>
          </p:nvGrpSpPr>
          <p:grpSpPr>
            <a:xfrm>
              <a:off x="1805721" y="4522265"/>
              <a:ext cx="9520434" cy="2226972"/>
              <a:chOff x="1744472" y="2274995"/>
              <a:chExt cx="9509257" cy="2224358"/>
            </a:xfrm>
          </p:grpSpPr>
          <p:cxnSp>
            <p:nvCxnSpPr>
              <p:cNvPr id="199" name="直接连接符 198"/>
              <p:cNvCxnSpPr/>
              <p:nvPr/>
            </p:nvCxnSpPr>
            <p:spPr>
              <a:xfrm>
                <a:off x="1744472" y="3175426"/>
                <a:ext cx="0" cy="129581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0" name="直接连接符 199"/>
              <p:cNvCxnSpPr/>
              <p:nvPr/>
            </p:nvCxnSpPr>
            <p:spPr>
              <a:xfrm flipH="1">
                <a:off x="1744472" y="4499353"/>
                <a:ext cx="950925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1" name="直接连接符 200"/>
              <p:cNvCxnSpPr/>
              <p:nvPr/>
            </p:nvCxnSpPr>
            <p:spPr>
              <a:xfrm>
                <a:off x="11253729" y="2274995"/>
                <a:ext cx="0" cy="2193775"/>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98" name="直接连接符 197"/>
            <p:cNvCxnSpPr/>
            <p:nvPr/>
          </p:nvCxnSpPr>
          <p:spPr>
            <a:xfrm>
              <a:off x="1805721" y="5423754"/>
              <a:ext cx="432604" cy="0"/>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grpSp>
        <p:nvGrpSpPr>
          <p:cNvPr id="202" name="组合 201"/>
          <p:cNvGrpSpPr/>
          <p:nvPr/>
        </p:nvGrpSpPr>
        <p:grpSpPr>
          <a:xfrm>
            <a:off x="2937682" y="3530171"/>
            <a:ext cx="220871" cy="1005969"/>
            <a:chOff x="1744472" y="3175426"/>
            <a:chExt cx="1545101" cy="1323927"/>
          </a:xfrm>
        </p:grpSpPr>
        <p:cxnSp>
          <p:nvCxnSpPr>
            <p:cNvPr id="203" name="直接连接符 202"/>
            <p:cNvCxnSpPr/>
            <p:nvPr/>
          </p:nvCxnSpPr>
          <p:spPr>
            <a:xfrm>
              <a:off x="1744472" y="3175426"/>
              <a:ext cx="0" cy="1295811"/>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4" name="直接连接符 203"/>
            <p:cNvCxnSpPr/>
            <p:nvPr/>
          </p:nvCxnSpPr>
          <p:spPr>
            <a:xfrm flipH="1">
              <a:off x="1744472" y="4499353"/>
              <a:ext cx="154510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05" name="组合 204"/>
          <p:cNvGrpSpPr/>
          <p:nvPr/>
        </p:nvGrpSpPr>
        <p:grpSpPr>
          <a:xfrm>
            <a:off x="4351906" y="4349090"/>
            <a:ext cx="166555" cy="1360040"/>
            <a:chOff x="1239056" y="2825057"/>
            <a:chExt cx="1165136" cy="1789912"/>
          </a:xfrm>
        </p:grpSpPr>
        <p:cxnSp>
          <p:nvCxnSpPr>
            <p:cNvPr id="206" name="直接连接符 205"/>
            <p:cNvCxnSpPr/>
            <p:nvPr/>
          </p:nvCxnSpPr>
          <p:spPr>
            <a:xfrm>
              <a:off x="1239056" y="2825057"/>
              <a:ext cx="0" cy="1789912"/>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7" name="直接连接符 206"/>
            <p:cNvCxnSpPr/>
            <p:nvPr/>
          </p:nvCxnSpPr>
          <p:spPr>
            <a:xfrm flipH="1">
              <a:off x="1394481" y="2825658"/>
              <a:ext cx="100971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08" name="组合 207"/>
          <p:cNvGrpSpPr/>
          <p:nvPr/>
        </p:nvGrpSpPr>
        <p:grpSpPr>
          <a:xfrm>
            <a:off x="7107484" y="4020480"/>
            <a:ext cx="537165" cy="1387274"/>
            <a:chOff x="1239056" y="2754720"/>
            <a:chExt cx="2279270" cy="1885824"/>
          </a:xfrm>
        </p:grpSpPr>
        <p:cxnSp>
          <p:nvCxnSpPr>
            <p:cNvPr id="209" name="直接连接符 208"/>
            <p:cNvCxnSpPr/>
            <p:nvPr/>
          </p:nvCxnSpPr>
          <p:spPr>
            <a:xfrm>
              <a:off x="1239056" y="2770734"/>
              <a:ext cx="0" cy="186981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0" name="直接连接符 209"/>
            <p:cNvCxnSpPr/>
            <p:nvPr/>
          </p:nvCxnSpPr>
          <p:spPr>
            <a:xfrm flipH="1">
              <a:off x="1239056" y="2754720"/>
              <a:ext cx="227927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11" name="组合 210"/>
          <p:cNvGrpSpPr/>
          <p:nvPr/>
        </p:nvGrpSpPr>
        <p:grpSpPr>
          <a:xfrm>
            <a:off x="9380933" y="3244755"/>
            <a:ext cx="1203172" cy="391805"/>
            <a:chOff x="571433" y="3331468"/>
            <a:chExt cx="5105236" cy="1364800"/>
          </a:xfrm>
        </p:grpSpPr>
        <p:cxnSp>
          <p:nvCxnSpPr>
            <p:cNvPr id="212" name="直接连接符 211"/>
            <p:cNvCxnSpPr/>
            <p:nvPr/>
          </p:nvCxnSpPr>
          <p:spPr>
            <a:xfrm flipH="1">
              <a:off x="4935700" y="4041201"/>
              <a:ext cx="740969"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3" name="直接连接符 212"/>
            <p:cNvCxnSpPr/>
            <p:nvPr/>
          </p:nvCxnSpPr>
          <p:spPr>
            <a:xfrm>
              <a:off x="573332" y="3356998"/>
              <a:ext cx="0" cy="133927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4" name="直接连接符 213"/>
            <p:cNvCxnSpPr/>
            <p:nvPr/>
          </p:nvCxnSpPr>
          <p:spPr>
            <a:xfrm flipH="1">
              <a:off x="571433" y="3331468"/>
              <a:ext cx="436426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5" name="直接连接符 214"/>
            <p:cNvCxnSpPr/>
            <p:nvPr/>
          </p:nvCxnSpPr>
          <p:spPr>
            <a:xfrm>
              <a:off x="4935700" y="3331468"/>
              <a:ext cx="0" cy="682337"/>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16" name="组合 215"/>
          <p:cNvGrpSpPr/>
          <p:nvPr/>
        </p:nvGrpSpPr>
        <p:grpSpPr>
          <a:xfrm>
            <a:off x="10532862" y="3312558"/>
            <a:ext cx="274434" cy="522964"/>
            <a:chOff x="4311617" y="4168879"/>
            <a:chExt cx="274449" cy="522994"/>
          </a:xfrm>
        </p:grpSpPr>
        <p:sp>
          <p:nvSpPr>
            <p:cNvPr id="217" name="流程图: 手动操作 216"/>
            <p:cNvSpPr/>
            <p:nvPr/>
          </p:nvSpPr>
          <p:spPr>
            <a:xfrm rot="16200000">
              <a:off x="4229749" y="4326091"/>
              <a:ext cx="466196" cy="197947"/>
            </a:xfrm>
            <a:prstGeom prst="flowChartManualOperation">
              <a:avLst/>
            </a:prstGeom>
            <a:solidFill>
              <a:schemeClr val="bg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18" name="矩形 217"/>
            <p:cNvSpPr/>
            <p:nvPr/>
          </p:nvSpPr>
          <p:spPr>
            <a:xfrm>
              <a:off x="4311617" y="4168879"/>
              <a:ext cx="274449" cy="522994"/>
            </a:xfrm>
            <a:prstGeom prst="rect">
              <a:avLst/>
            </a:prstGeom>
          </p:spPr>
          <p:txBody>
            <a:bodyPr wrap="none">
              <a:spAutoFit/>
            </a:bodyPr>
            <a:lstStyle/>
            <a:p>
              <a:r>
                <a:rPr lang="en-US" altLang="zh-CN" sz="1400" dirty="0">
                  <a:solidFill>
                    <a:schemeClr val="bg1">
                      <a:lumMod val="50000"/>
                    </a:schemeClr>
                  </a:solidFill>
                  <a:latin typeface="Times New Roman" panose="02020603050405020304" pitchFamily="18" charset="0"/>
                  <a:cs typeface="Times New Roman" panose="02020603050405020304" pitchFamily="18" charset="0"/>
                </a:rPr>
                <a:t>0</a:t>
              </a:r>
              <a:endParaRPr lang="en-US" altLang="zh-CN" sz="1400" dirty="0">
                <a:solidFill>
                  <a:schemeClr val="bg1">
                    <a:lumMod val="50000"/>
                  </a:schemeClr>
                </a:solidFill>
                <a:latin typeface="Times New Roman" panose="02020603050405020304" pitchFamily="18" charset="0"/>
                <a:cs typeface="Times New Roman" panose="02020603050405020304" pitchFamily="18" charset="0"/>
              </a:endParaRPr>
            </a:p>
            <a:p>
              <a:r>
                <a:rPr lang="en-US" altLang="zh-CN" sz="1400" dirty="0">
                  <a:solidFill>
                    <a:srgbClr val="0066FF"/>
                  </a:solidFill>
                  <a:latin typeface="Times New Roman" panose="02020603050405020304" pitchFamily="18" charset="0"/>
                  <a:cs typeface="Times New Roman" panose="02020603050405020304" pitchFamily="18" charset="0"/>
                </a:rPr>
                <a:t>1</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grpSp>
      <p:grpSp>
        <p:nvGrpSpPr>
          <p:cNvPr id="219" name="组合 218"/>
          <p:cNvGrpSpPr/>
          <p:nvPr/>
        </p:nvGrpSpPr>
        <p:grpSpPr>
          <a:xfrm>
            <a:off x="7304376" y="3039116"/>
            <a:ext cx="274434" cy="522964"/>
            <a:chOff x="4311617" y="4168879"/>
            <a:chExt cx="274449" cy="522993"/>
          </a:xfrm>
        </p:grpSpPr>
        <p:sp>
          <p:nvSpPr>
            <p:cNvPr id="220" name="流程图: 手动操作 219"/>
            <p:cNvSpPr/>
            <p:nvPr/>
          </p:nvSpPr>
          <p:spPr>
            <a:xfrm rot="16200000">
              <a:off x="4218651" y="4335179"/>
              <a:ext cx="466196" cy="197947"/>
            </a:xfrm>
            <a:prstGeom prst="flowChartManualOperation">
              <a:avLst/>
            </a:prstGeom>
            <a:solidFill>
              <a:schemeClr val="bg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21" name="矩形 220"/>
            <p:cNvSpPr/>
            <p:nvPr/>
          </p:nvSpPr>
          <p:spPr>
            <a:xfrm>
              <a:off x="4311617" y="4168879"/>
              <a:ext cx="274449" cy="522993"/>
            </a:xfrm>
            <a:prstGeom prst="rect">
              <a:avLst/>
            </a:prstGeom>
          </p:spPr>
          <p:txBody>
            <a:bodyPr wrap="none">
              <a:spAutoFit/>
            </a:bodyPr>
            <a:lstStyle/>
            <a:p>
              <a:r>
                <a:rPr lang="en-US" altLang="zh-CN" sz="1400" dirty="0">
                  <a:solidFill>
                    <a:schemeClr val="bg1">
                      <a:lumMod val="50000"/>
                    </a:schemeClr>
                  </a:solidFill>
                  <a:latin typeface="Times New Roman" panose="02020603050405020304" pitchFamily="18" charset="0"/>
                  <a:cs typeface="Times New Roman" panose="02020603050405020304" pitchFamily="18" charset="0"/>
                </a:rPr>
                <a:t>0</a:t>
              </a:r>
              <a:endParaRPr lang="en-US" altLang="zh-CN" sz="1400" dirty="0">
                <a:solidFill>
                  <a:schemeClr val="bg1">
                    <a:lumMod val="50000"/>
                  </a:schemeClr>
                </a:solidFill>
                <a:latin typeface="Times New Roman" panose="02020603050405020304" pitchFamily="18" charset="0"/>
                <a:cs typeface="Times New Roman" panose="02020603050405020304" pitchFamily="18" charset="0"/>
              </a:endParaRPr>
            </a:p>
            <a:p>
              <a:r>
                <a:rPr lang="en-US" altLang="zh-CN" sz="1400" dirty="0">
                  <a:solidFill>
                    <a:srgbClr val="0066FF"/>
                  </a:solidFill>
                  <a:latin typeface="Times New Roman" panose="02020603050405020304" pitchFamily="18" charset="0"/>
                  <a:cs typeface="Times New Roman" panose="02020603050405020304" pitchFamily="18" charset="0"/>
                </a:rPr>
                <a:t>1</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grpSp>
      <p:cxnSp>
        <p:nvCxnSpPr>
          <p:cNvPr id="222" name="直接连接符 221"/>
          <p:cNvCxnSpPr/>
          <p:nvPr/>
        </p:nvCxnSpPr>
        <p:spPr>
          <a:xfrm>
            <a:off x="3974576" y="3636405"/>
            <a:ext cx="0" cy="31741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223" name="组合 222"/>
          <p:cNvGrpSpPr/>
          <p:nvPr/>
        </p:nvGrpSpPr>
        <p:grpSpPr>
          <a:xfrm>
            <a:off x="4077415" y="3774934"/>
            <a:ext cx="274434" cy="522964"/>
            <a:chOff x="4311617" y="4168879"/>
            <a:chExt cx="274449" cy="522993"/>
          </a:xfrm>
        </p:grpSpPr>
        <p:sp>
          <p:nvSpPr>
            <p:cNvPr id="224" name="流程图: 手动操作 223"/>
            <p:cNvSpPr/>
            <p:nvPr/>
          </p:nvSpPr>
          <p:spPr>
            <a:xfrm rot="16200000">
              <a:off x="4218651" y="4335179"/>
              <a:ext cx="466196" cy="197947"/>
            </a:xfrm>
            <a:prstGeom prst="flowChartManualOperation">
              <a:avLst/>
            </a:prstGeom>
            <a:solidFill>
              <a:schemeClr val="bg1"/>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25" name="矩形 224"/>
            <p:cNvSpPr/>
            <p:nvPr/>
          </p:nvSpPr>
          <p:spPr>
            <a:xfrm>
              <a:off x="4311617" y="4168879"/>
              <a:ext cx="274449" cy="522993"/>
            </a:xfrm>
            <a:prstGeom prst="rect">
              <a:avLst/>
            </a:prstGeom>
          </p:spPr>
          <p:txBody>
            <a:bodyPr wrap="none">
              <a:spAutoFit/>
            </a:bodyPr>
            <a:lstStyle/>
            <a:p>
              <a:r>
                <a:rPr lang="en-US" altLang="zh-CN" sz="1400" dirty="0">
                  <a:solidFill>
                    <a:schemeClr val="bg1">
                      <a:lumMod val="50000"/>
                    </a:schemeClr>
                  </a:solidFill>
                  <a:latin typeface="Times New Roman" panose="02020603050405020304" pitchFamily="18" charset="0"/>
                  <a:cs typeface="Times New Roman" panose="02020603050405020304" pitchFamily="18" charset="0"/>
                </a:rPr>
                <a:t>0</a:t>
              </a:r>
              <a:endParaRPr lang="en-US" altLang="zh-CN" sz="1400" dirty="0">
                <a:solidFill>
                  <a:schemeClr val="bg1">
                    <a:lumMod val="50000"/>
                  </a:schemeClr>
                </a:solidFill>
                <a:latin typeface="Times New Roman" panose="02020603050405020304" pitchFamily="18" charset="0"/>
                <a:cs typeface="Times New Roman" panose="02020603050405020304" pitchFamily="18" charset="0"/>
              </a:endParaRPr>
            </a:p>
            <a:p>
              <a:r>
                <a:rPr lang="en-US" altLang="zh-CN" sz="1400" dirty="0">
                  <a:solidFill>
                    <a:srgbClr val="0066FF"/>
                  </a:solidFill>
                  <a:latin typeface="Times New Roman" panose="02020603050405020304" pitchFamily="18" charset="0"/>
                  <a:cs typeface="Times New Roman" panose="02020603050405020304" pitchFamily="18" charset="0"/>
                </a:rPr>
                <a:t>1</a:t>
              </a:r>
              <a:endParaRPr lang="zh-CN" altLang="en-US" sz="1400" dirty="0">
                <a:solidFill>
                  <a:srgbClr val="0066FF"/>
                </a:solidFill>
                <a:latin typeface="Times New Roman" panose="02020603050405020304" pitchFamily="18" charset="0"/>
                <a:cs typeface="Times New Roman" panose="02020603050405020304" pitchFamily="18" charset="0"/>
              </a:endParaRPr>
            </a:p>
          </p:txBody>
        </p:sp>
      </p:grpSp>
      <p:grpSp>
        <p:nvGrpSpPr>
          <p:cNvPr id="226" name="组合 225"/>
          <p:cNvGrpSpPr/>
          <p:nvPr/>
        </p:nvGrpSpPr>
        <p:grpSpPr>
          <a:xfrm>
            <a:off x="6056913" y="5027482"/>
            <a:ext cx="1411329" cy="404007"/>
            <a:chOff x="1394482" y="2325715"/>
            <a:chExt cx="1159010" cy="531703"/>
          </a:xfrm>
        </p:grpSpPr>
        <p:cxnSp>
          <p:nvCxnSpPr>
            <p:cNvPr id="227" name="直接连接符 226"/>
            <p:cNvCxnSpPr/>
            <p:nvPr/>
          </p:nvCxnSpPr>
          <p:spPr>
            <a:xfrm>
              <a:off x="2553492" y="2325715"/>
              <a:ext cx="0" cy="531703"/>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8" name="直接连接符 227"/>
            <p:cNvCxnSpPr/>
            <p:nvPr/>
          </p:nvCxnSpPr>
          <p:spPr>
            <a:xfrm flipH="1">
              <a:off x="1394482" y="2857418"/>
              <a:ext cx="115901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29" name="组合 228"/>
          <p:cNvGrpSpPr/>
          <p:nvPr/>
        </p:nvGrpSpPr>
        <p:grpSpPr>
          <a:xfrm>
            <a:off x="8957086" y="1539514"/>
            <a:ext cx="286797" cy="1977742"/>
            <a:chOff x="1394482" y="2325714"/>
            <a:chExt cx="1159010" cy="531704"/>
          </a:xfrm>
        </p:grpSpPr>
        <p:cxnSp>
          <p:nvCxnSpPr>
            <p:cNvPr id="230" name="直接连接符 229"/>
            <p:cNvCxnSpPr/>
            <p:nvPr/>
          </p:nvCxnSpPr>
          <p:spPr>
            <a:xfrm>
              <a:off x="2553492" y="2325714"/>
              <a:ext cx="0" cy="526135"/>
            </a:xfrm>
            <a:prstGeom prst="line">
              <a:avLst/>
            </a:prstGeom>
            <a:noFill/>
            <a:ln w="2222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1" name="直接连接符 230"/>
            <p:cNvCxnSpPr/>
            <p:nvPr/>
          </p:nvCxnSpPr>
          <p:spPr>
            <a:xfrm flipH="1">
              <a:off x="1394482" y="2857418"/>
              <a:ext cx="1159010" cy="0"/>
            </a:xfrm>
            <a:prstGeom prst="line">
              <a:avLst/>
            </a:prstGeom>
            <a:noFill/>
            <a:ln w="2222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32" name="流程图: 延期 231"/>
          <p:cNvSpPr/>
          <p:nvPr/>
        </p:nvSpPr>
        <p:spPr>
          <a:xfrm>
            <a:off x="9374785" y="1384186"/>
            <a:ext cx="250811" cy="203189"/>
          </a:xfrm>
          <a:prstGeom prst="flowChartDelay">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nvGrpSpPr>
          <p:cNvPr id="233" name="组合 232"/>
          <p:cNvGrpSpPr/>
          <p:nvPr/>
        </p:nvGrpSpPr>
        <p:grpSpPr>
          <a:xfrm>
            <a:off x="3786148" y="2266480"/>
            <a:ext cx="1106045" cy="3188000"/>
            <a:chOff x="1239056" y="2754720"/>
            <a:chExt cx="7791499" cy="1918806"/>
          </a:xfrm>
        </p:grpSpPr>
        <p:cxnSp>
          <p:nvCxnSpPr>
            <p:cNvPr id="234" name="直接连接符 233"/>
            <p:cNvCxnSpPr/>
            <p:nvPr/>
          </p:nvCxnSpPr>
          <p:spPr>
            <a:xfrm>
              <a:off x="1239056" y="2770734"/>
              <a:ext cx="0" cy="1900954"/>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5" name="直接连接符 234"/>
            <p:cNvCxnSpPr/>
            <p:nvPr/>
          </p:nvCxnSpPr>
          <p:spPr>
            <a:xfrm flipH="1">
              <a:off x="1239056" y="2754720"/>
              <a:ext cx="227927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6" name="直接连接符 235"/>
            <p:cNvCxnSpPr/>
            <p:nvPr/>
          </p:nvCxnSpPr>
          <p:spPr>
            <a:xfrm flipH="1">
              <a:off x="1239056" y="4673526"/>
              <a:ext cx="7791499"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37" name="组合 236"/>
          <p:cNvGrpSpPr/>
          <p:nvPr/>
        </p:nvGrpSpPr>
        <p:grpSpPr>
          <a:xfrm>
            <a:off x="1895929" y="3158480"/>
            <a:ext cx="919085" cy="1617113"/>
            <a:chOff x="2522647" y="4028476"/>
            <a:chExt cx="969348" cy="1705549"/>
          </a:xfrm>
        </p:grpSpPr>
        <p:sp>
          <p:nvSpPr>
            <p:cNvPr id="238" name="矩形 237"/>
            <p:cNvSpPr/>
            <p:nvPr/>
          </p:nvSpPr>
          <p:spPr>
            <a:xfrm>
              <a:off x="2556996" y="4058983"/>
              <a:ext cx="874185" cy="1328564"/>
            </a:xfrm>
            <a:prstGeom prst="rect">
              <a:avLst/>
            </a:prstGeom>
            <a:solidFill>
              <a:schemeClr val="accent1">
                <a:lumMod val="20000"/>
                <a:lumOff val="80000"/>
              </a:schemeClr>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39" name="矩形 238"/>
            <p:cNvSpPr/>
            <p:nvPr/>
          </p:nvSpPr>
          <p:spPr>
            <a:xfrm>
              <a:off x="2751430" y="4028476"/>
              <a:ext cx="488941" cy="324473"/>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WE</a:t>
              </a:r>
              <a:endParaRPr lang="zh-CN" altLang="en-US" sz="1400" dirty="0">
                <a:latin typeface="Times New Roman" panose="02020603050405020304" pitchFamily="18" charset="0"/>
                <a:cs typeface="Times New Roman" panose="02020603050405020304" pitchFamily="18" charset="0"/>
              </a:endParaRPr>
            </a:p>
          </p:txBody>
        </p:sp>
        <p:sp>
          <p:nvSpPr>
            <p:cNvPr id="240" name="矩形 239"/>
            <p:cNvSpPr/>
            <p:nvPr/>
          </p:nvSpPr>
          <p:spPr>
            <a:xfrm>
              <a:off x="3033486" y="4239007"/>
              <a:ext cx="458509" cy="324473"/>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RD</a:t>
              </a:r>
              <a:endParaRPr lang="zh-CN" altLang="en-US" sz="1400" dirty="0">
                <a:latin typeface="Times New Roman" panose="02020603050405020304" pitchFamily="18" charset="0"/>
                <a:cs typeface="Times New Roman" panose="02020603050405020304" pitchFamily="18" charset="0"/>
              </a:endParaRPr>
            </a:p>
          </p:txBody>
        </p:sp>
        <p:sp>
          <p:nvSpPr>
            <p:cNvPr id="241" name="矩形 240"/>
            <p:cNvSpPr/>
            <p:nvPr/>
          </p:nvSpPr>
          <p:spPr>
            <a:xfrm>
              <a:off x="2540198" y="4326068"/>
              <a:ext cx="331710" cy="324473"/>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A</a:t>
              </a:r>
              <a:endParaRPr lang="zh-CN" altLang="en-US" sz="1400" dirty="0">
                <a:latin typeface="Times New Roman" panose="02020603050405020304" pitchFamily="18" charset="0"/>
                <a:cs typeface="Times New Roman" panose="02020603050405020304" pitchFamily="18" charset="0"/>
              </a:endParaRPr>
            </a:p>
          </p:txBody>
        </p:sp>
        <p:sp>
          <p:nvSpPr>
            <p:cNvPr id="242" name="矩形 241"/>
            <p:cNvSpPr/>
            <p:nvPr/>
          </p:nvSpPr>
          <p:spPr>
            <a:xfrm>
              <a:off x="2553908" y="4650629"/>
              <a:ext cx="936969" cy="312774"/>
            </a:xfrm>
            <a:prstGeom prst="rect">
              <a:avLst/>
            </a:prstGeom>
          </p:spPr>
          <p:txBody>
            <a:bodyPr wrap="none">
              <a:spAutoFit/>
            </a:bodyPr>
            <a:lstStyle/>
            <a:p>
              <a:r>
                <a:rPr lang="en-US" altLang="zh-CN" sz="1325" b="1" dirty="0">
                  <a:latin typeface="Segoe UI Black" panose="020B0A02040204020203" pitchFamily="34" charset="0"/>
                  <a:ea typeface="Segoe UI Black" panose="020B0A02040204020203" pitchFamily="34" charset="0"/>
                  <a:cs typeface="Segoe UI Black" panose="020B0A02040204020203" pitchFamily="34" charset="0"/>
                </a:rPr>
                <a:t>Memory</a:t>
              </a:r>
              <a:endParaRPr lang="zh-CN" altLang="en-US" sz="1325" b="1" dirty="0">
                <a:latin typeface="Segoe UI Black" panose="020B0A02040204020203" pitchFamily="34" charset="0"/>
                <a:cs typeface="Segoe UI Black" panose="020B0A02040204020203" pitchFamily="34" charset="0"/>
              </a:endParaRPr>
            </a:p>
          </p:txBody>
        </p:sp>
        <p:sp>
          <p:nvSpPr>
            <p:cNvPr id="243" name="矩形 242"/>
            <p:cNvSpPr/>
            <p:nvPr/>
          </p:nvSpPr>
          <p:spPr>
            <a:xfrm>
              <a:off x="2522647" y="5002406"/>
              <a:ext cx="510920" cy="324473"/>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WD</a:t>
              </a:r>
              <a:endParaRPr lang="zh-CN" altLang="en-US" sz="1400" dirty="0">
                <a:latin typeface="Times New Roman" panose="02020603050405020304" pitchFamily="18" charset="0"/>
                <a:cs typeface="Times New Roman" panose="02020603050405020304" pitchFamily="18" charset="0"/>
              </a:endParaRPr>
            </a:p>
          </p:txBody>
        </p:sp>
        <p:grpSp>
          <p:nvGrpSpPr>
            <p:cNvPr id="244" name="组合 243"/>
            <p:cNvGrpSpPr/>
            <p:nvPr/>
          </p:nvGrpSpPr>
          <p:grpSpPr>
            <a:xfrm>
              <a:off x="2770074" y="5245311"/>
              <a:ext cx="477106" cy="488714"/>
              <a:chOff x="3743887" y="4293594"/>
              <a:chExt cx="477106" cy="451964"/>
            </a:xfrm>
            <a:solidFill>
              <a:srgbClr val="92D050"/>
            </a:solidFill>
          </p:grpSpPr>
          <p:grpSp>
            <p:nvGrpSpPr>
              <p:cNvPr id="245" name="组合 244"/>
              <p:cNvGrpSpPr/>
              <p:nvPr/>
            </p:nvGrpSpPr>
            <p:grpSpPr>
              <a:xfrm>
                <a:off x="3743887" y="4420795"/>
                <a:ext cx="477106" cy="324763"/>
                <a:chOff x="2146087" y="4844273"/>
                <a:chExt cx="452392" cy="307940"/>
              </a:xfrm>
              <a:grpFill/>
            </p:grpSpPr>
            <p:cxnSp>
              <p:nvCxnSpPr>
                <p:cNvPr id="247" name="直接连接符 246"/>
                <p:cNvCxnSpPr/>
                <p:nvPr/>
              </p:nvCxnSpPr>
              <p:spPr>
                <a:xfrm flipV="1">
                  <a:off x="2364748" y="4844273"/>
                  <a:ext cx="0" cy="104775"/>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48" name="矩形 247"/>
                <p:cNvSpPr/>
                <p:nvPr/>
              </p:nvSpPr>
              <p:spPr>
                <a:xfrm>
                  <a:off x="2146087" y="4910263"/>
                  <a:ext cx="452392" cy="241950"/>
                </a:xfrm>
                <a:prstGeom prst="rect">
                  <a:avLst/>
                </a:prstGeom>
                <a:noFill/>
              </p:spPr>
              <p:txBody>
                <a:bodyPr wrap="none">
                  <a:spAutoFit/>
                </a:bodyPr>
                <a:lstStyle/>
                <a:p>
                  <a:r>
                    <a:rPr lang="en-US" altLang="zh-CN" sz="1100" i="1" dirty="0">
                      <a:solidFill>
                        <a:srgbClr val="C00000"/>
                      </a:solidFill>
                      <a:latin typeface="Times New Roman" panose="02020603050405020304" pitchFamily="18" charset="0"/>
                      <a:cs typeface="Times New Roman" panose="02020603050405020304" pitchFamily="18" charset="0"/>
                    </a:rPr>
                    <a:t>CLK</a:t>
                  </a:r>
                  <a:endParaRPr lang="zh-CN" altLang="en-US" sz="1100" i="1" dirty="0">
                    <a:solidFill>
                      <a:srgbClr val="C00000"/>
                    </a:solidFill>
                    <a:latin typeface="Times New Roman" panose="02020603050405020304" pitchFamily="18" charset="0"/>
                    <a:cs typeface="Times New Roman" panose="02020603050405020304" pitchFamily="18" charset="0"/>
                  </a:endParaRPr>
                </a:p>
              </p:txBody>
            </p:sp>
          </p:grpSp>
          <p:sp>
            <p:nvSpPr>
              <p:cNvPr id="246" name="等腰三角形 245"/>
              <p:cNvSpPr/>
              <p:nvPr/>
            </p:nvSpPr>
            <p:spPr>
              <a:xfrm>
                <a:off x="3875914" y="4293594"/>
                <a:ext cx="201735" cy="126050"/>
              </a:xfrm>
              <a:prstGeom prst="triangl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sp>
        <p:nvSpPr>
          <p:cNvPr id="3" name="标题 1"/>
          <p:cNvSpPr>
            <a:spLocks noGrp="1"/>
          </p:cNvSpPr>
          <p:nvPr/>
        </p:nvSpPr>
        <p:spPr>
          <a:xfrm>
            <a:off x="614822" y="384614"/>
            <a:ext cx="10515600" cy="6176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rgbClr val="005D9C"/>
                </a:solidFill>
                <a:latin typeface="微软雅黑" panose="020B0503020204020204" pitchFamily="34" charset="-122"/>
                <a:ea typeface="微软雅黑" panose="020B0503020204020204" pitchFamily="34" charset="-122"/>
                <a:cs typeface="+mj-cs"/>
              </a:defRPr>
            </a:lvl1pPr>
          </a:lstStyle>
          <a:p>
            <a:r>
              <a:rPr lang="zh-CN" altLang="en-US" dirty="0"/>
              <a:t>多周期</a:t>
            </a:r>
            <a:r>
              <a:rPr lang="en-US" altLang="zh-CN" dirty="0"/>
              <a:t>MIPS CPU</a:t>
            </a:r>
            <a:r>
              <a:rPr lang="zh-CN" altLang="en-US" dirty="0"/>
              <a:t>数据通路（存储器和</a:t>
            </a:r>
            <a:r>
              <a:rPr lang="en-US" altLang="zh-CN" dirty="0"/>
              <a:t>ALU</a:t>
            </a:r>
            <a:r>
              <a:rPr lang="zh-CN" altLang="en-US" dirty="0"/>
              <a:t>复用后的结构</a:t>
            </a:r>
            <a:r>
              <a:rPr lang="zh-CN" altLang="en-US" dirty="0"/>
              <a:t>图）</a:t>
            </a:r>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109610">
        <p15:prstTrans prst="pageCurlDouble"/>
      </p:transition>
    </mc:Choice>
    <mc:Fallback>
      <p:transition spd="slow" advClick="0" advTm="10961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单周期</a:t>
            </a:r>
            <a:r>
              <a:rPr lang="en-US" altLang="zh-CN" dirty="0"/>
              <a:t>MIPS</a:t>
            </a:r>
            <a:r>
              <a:rPr lang="zh-CN" altLang="en-US" dirty="0"/>
              <a:t>参考数据通路</a:t>
            </a:r>
            <a:endParaRPr lang="zh-CN" altLang="en-US" dirty="0"/>
          </a:p>
        </p:txBody>
      </p:sp>
      <p:grpSp>
        <p:nvGrpSpPr>
          <p:cNvPr id="9" name="组合 8"/>
          <p:cNvGrpSpPr/>
          <p:nvPr/>
        </p:nvGrpSpPr>
        <p:grpSpPr>
          <a:xfrm>
            <a:off x="702334" y="1284508"/>
            <a:ext cx="10533415" cy="4996563"/>
            <a:chOff x="697004" y="1767866"/>
            <a:chExt cx="11109461" cy="5269813"/>
          </a:xfrm>
        </p:grpSpPr>
        <p:cxnSp>
          <p:nvCxnSpPr>
            <p:cNvPr id="10" name="直接连接符 9"/>
            <p:cNvCxnSpPr/>
            <p:nvPr/>
          </p:nvCxnSpPr>
          <p:spPr>
            <a:xfrm>
              <a:off x="6429375" y="4408413"/>
              <a:ext cx="97509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391673" y="5021016"/>
              <a:ext cx="69402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2" name="任意多边形: 形状 256"/>
            <p:cNvSpPr/>
            <p:nvPr/>
          </p:nvSpPr>
          <p:spPr>
            <a:xfrm flipV="1">
              <a:off x="4911567" y="4551034"/>
              <a:ext cx="187289" cy="104394"/>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13" name="直接连接符 12"/>
            <p:cNvCxnSpPr/>
            <p:nvPr/>
          </p:nvCxnSpPr>
          <p:spPr>
            <a:xfrm>
              <a:off x="4053450" y="4289705"/>
              <a:ext cx="105916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4038682" y="4010421"/>
              <a:ext cx="105916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15" name="组合 14"/>
            <p:cNvGrpSpPr/>
            <p:nvPr/>
          </p:nvGrpSpPr>
          <p:grpSpPr>
            <a:xfrm>
              <a:off x="5069674" y="2027665"/>
              <a:ext cx="6334881" cy="1950924"/>
              <a:chOff x="5039741" y="3208161"/>
              <a:chExt cx="597546" cy="457491"/>
            </a:xfrm>
          </p:grpSpPr>
          <p:cxnSp>
            <p:nvCxnSpPr>
              <p:cNvPr id="167" name="直接连接符 166"/>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8" name="直接连接符 167"/>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6" name="直接连接符 15"/>
            <p:cNvCxnSpPr/>
            <p:nvPr/>
          </p:nvCxnSpPr>
          <p:spPr>
            <a:xfrm>
              <a:off x="5073891" y="2472651"/>
              <a:ext cx="4131450"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nvGrpSpPr>
            <p:cNvPr id="17" name="组合 16"/>
            <p:cNvGrpSpPr/>
            <p:nvPr/>
          </p:nvGrpSpPr>
          <p:grpSpPr>
            <a:xfrm>
              <a:off x="5083378" y="2695870"/>
              <a:ext cx="3227280" cy="1199217"/>
              <a:chOff x="5039741" y="3208161"/>
              <a:chExt cx="597546" cy="457491"/>
            </a:xfrm>
          </p:grpSpPr>
          <p:cxnSp>
            <p:nvCxnSpPr>
              <p:cNvPr id="165" name="直接连接符 164"/>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6" name="直接连接符 165"/>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8" name="组合 17"/>
            <p:cNvGrpSpPr/>
            <p:nvPr/>
          </p:nvGrpSpPr>
          <p:grpSpPr>
            <a:xfrm>
              <a:off x="5088159" y="3149858"/>
              <a:ext cx="744126" cy="474778"/>
              <a:chOff x="5039741" y="3208161"/>
              <a:chExt cx="597546" cy="457491"/>
            </a:xfrm>
          </p:grpSpPr>
          <p:cxnSp>
            <p:nvCxnSpPr>
              <p:cNvPr id="163" name="直接连接符 162"/>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4" name="直接连接符 163"/>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9" name="直接连接符 18"/>
            <p:cNvCxnSpPr/>
            <p:nvPr/>
          </p:nvCxnSpPr>
          <p:spPr>
            <a:xfrm>
              <a:off x="4778067" y="3306859"/>
              <a:ext cx="0" cy="1125265"/>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sp>
          <p:nvSpPr>
            <p:cNvPr id="20" name="任意多边形: 形状 191"/>
            <p:cNvSpPr/>
            <p:nvPr/>
          </p:nvSpPr>
          <p:spPr>
            <a:xfrm>
              <a:off x="5080685" y="2250400"/>
              <a:ext cx="5072714" cy="1475869"/>
            </a:xfrm>
            <a:custGeom>
              <a:avLst/>
              <a:gdLst>
                <a:gd name="connsiteX0" fmla="*/ 0 w 4762500"/>
                <a:gd name="connsiteY0" fmla="*/ 0 h 1600200"/>
                <a:gd name="connsiteX1" fmla="*/ 4762500 w 4762500"/>
                <a:gd name="connsiteY1" fmla="*/ 0 h 1600200"/>
                <a:gd name="connsiteX2" fmla="*/ 4762500 w 4762500"/>
                <a:gd name="connsiteY2" fmla="*/ 1600200 h 1600200"/>
                <a:gd name="connsiteX0-1" fmla="*/ 0 w 4762500"/>
                <a:gd name="connsiteY0-2" fmla="*/ 0 h 1593057"/>
                <a:gd name="connsiteX1-3" fmla="*/ 4762500 w 4762500"/>
                <a:gd name="connsiteY1-4" fmla="*/ 0 h 1593057"/>
                <a:gd name="connsiteX2-5" fmla="*/ 4762500 w 4762500"/>
                <a:gd name="connsiteY2-6" fmla="*/ 1593057 h 1593057"/>
                <a:gd name="connsiteX0-7" fmla="*/ 0 w 4762500"/>
                <a:gd name="connsiteY0-8" fmla="*/ 0 h 1600201"/>
                <a:gd name="connsiteX1-9" fmla="*/ 4762500 w 4762500"/>
                <a:gd name="connsiteY1-10" fmla="*/ 0 h 1600201"/>
                <a:gd name="connsiteX2-11" fmla="*/ 4762500 w 4762500"/>
                <a:gd name="connsiteY2-12" fmla="*/ 1600201 h 1600201"/>
              </a:gdLst>
              <a:ahLst/>
              <a:cxnLst>
                <a:cxn ang="0">
                  <a:pos x="connsiteX0-1" y="connsiteY0-2"/>
                </a:cxn>
                <a:cxn ang="0">
                  <a:pos x="connsiteX1-3" y="connsiteY1-4"/>
                </a:cxn>
                <a:cxn ang="0">
                  <a:pos x="connsiteX2-5" y="connsiteY2-6"/>
                </a:cxn>
              </a:cxnLst>
              <a:rect l="l" t="t" r="r" b="b"/>
              <a:pathLst>
                <a:path w="4762500" h="1600201">
                  <a:moveTo>
                    <a:pt x="0" y="0"/>
                  </a:moveTo>
                  <a:lnTo>
                    <a:pt x="4762500" y="0"/>
                  </a:lnTo>
                  <a:lnTo>
                    <a:pt x="4762500" y="1600201"/>
                  </a:ln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21" name="矩形 20"/>
            <p:cNvSpPr/>
            <p:nvPr/>
          </p:nvSpPr>
          <p:spPr>
            <a:xfrm>
              <a:off x="5065360" y="1767866"/>
              <a:ext cx="1001214"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MemtoReg</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2" name="矩形 21"/>
            <p:cNvSpPr/>
            <p:nvPr/>
          </p:nvSpPr>
          <p:spPr>
            <a:xfrm>
              <a:off x="5065360" y="1988766"/>
              <a:ext cx="972066"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MemWrite</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3" name="矩形 22"/>
            <p:cNvSpPr/>
            <p:nvPr/>
          </p:nvSpPr>
          <p:spPr>
            <a:xfrm>
              <a:off x="5065360" y="2209666"/>
              <a:ext cx="712109" cy="312774"/>
            </a:xfrm>
            <a:prstGeom prst="rect">
              <a:avLst/>
            </a:prstGeom>
          </p:spPr>
          <p:txBody>
            <a:bodyPr wrap="none">
              <a:spAutoFit/>
            </a:bodyPr>
            <a:lstStyle/>
            <a:p>
              <a:r>
                <a:rPr lang="en-US" altLang="zh-CN" sz="1325" dirty="0">
                  <a:solidFill>
                    <a:srgbClr val="00B0F0"/>
                  </a:solidFill>
                  <a:latin typeface="Times New Roman" panose="02020603050405020304" pitchFamily="18" charset="0"/>
                  <a:cs typeface="Times New Roman" panose="02020603050405020304" pitchFamily="18" charset="0"/>
                </a:rPr>
                <a:t>Branch</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4" name="矩形 23"/>
            <p:cNvSpPr/>
            <p:nvPr/>
          </p:nvSpPr>
          <p:spPr>
            <a:xfrm>
              <a:off x="5065360" y="2430566"/>
              <a:ext cx="693512"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AluOP</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5" name="矩形 24"/>
            <p:cNvSpPr/>
            <p:nvPr/>
          </p:nvSpPr>
          <p:spPr>
            <a:xfrm>
              <a:off x="5065360" y="2662976"/>
              <a:ext cx="803405"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ALUSrc</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6" name="矩形 25"/>
            <p:cNvSpPr/>
            <p:nvPr/>
          </p:nvSpPr>
          <p:spPr>
            <a:xfrm>
              <a:off x="4754378" y="3260600"/>
              <a:ext cx="732397"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RegDst</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7" name="矩形 26"/>
            <p:cNvSpPr/>
            <p:nvPr/>
          </p:nvSpPr>
          <p:spPr>
            <a:xfrm>
              <a:off x="5065360" y="2883875"/>
              <a:ext cx="882461"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RegWrite</a:t>
              </a:r>
              <a:endParaRPr lang="zh-CN" altLang="en-US" sz="1325" baseline="-25000" dirty="0">
                <a:solidFill>
                  <a:srgbClr val="00B0F0"/>
                </a:solidFill>
                <a:latin typeface="Times New Roman" panose="02020603050405020304" pitchFamily="18" charset="0"/>
                <a:cs typeface="Times New Roman" panose="02020603050405020304" pitchFamily="18" charset="0"/>
              </a:endParaRPr>
            </a:p>
          </p:txBody>
        </p:sp>
        <p:sp>
          <p:nvSpPr>
            <p:cNvPr id="28" name="矩形 27"/>
            <p:cNvSpPr/>
            <p:nvPr/>
          </p:nvSpPr>
          <p:spPr>
            <a:xfrm>
              <a:off x="9419520" y="2472651"/>
              <a:ext cx="652936" cy="312774"/>
            </a:xfrm>
            <a:prstGeom prst="rect">
              <a:avLst/>
            </a:prstGeom>
          </p:spPr>
          <p:txBody>
            <a:bodyPr wrap="none">
              <a:spAutoFit/>
            </a:bodyPr>
            <a:lstStyle/>
            <a:p>
              <a:r>
                <a:rPr lang="en-US" altLang="zh-CN" sz="1325" dirty="0" err="1">
                  <a:solidFill>
                    <a:srgbClr val="00B0F0"/>
                  </a:solidFill>
                  <a:latin typeface="Times New Roman" panose="02020603050405020304" pitchFamily="18" charset="0"/>
                  <a:cs typeface="Times New Roman" panose="02020603050405020304" pitchFamily="18" charset="0"/>
                </a:rPr>
                <a:t>PCSrc</a:t>
              </a:r>
              <a:endParaRPr lang="zh-CN" altLang="en-US" sz="1325" dirty="0">
                <a:solidFill>
                  <a:srgbClr val="00B0F0"/>
                </a:solidFill>
                <a:latin typeface="Times New Roman" panose="02020603050405020304" pitchFamily="18" charset="0"/>
                <a:cs typeface="Times New Roman" panose="02020603050405020304" pitchFamily="18" charset="0"/>
              </a:endParaRPr>
            </a:p>
          </p:txBody>
        </p:sp>
        <p:sp>
          <p:nvSpPr>
            <p:cNvPr id="29" name="矩形 28"/>
            <p:cNvSpPr/>
            <p:nvPr/>
          </p:nvSpPr>
          <p:spPr>
            <a:xfrm>
              <a:off x="1992610" y="3763083"/>
              <a:ext cx="252305" cy="453041"/>
            </a:xfrm>
            <a:prstGeom prst="rect">
              <a:avLst/>
            </a:prstGeom>
            <a:solidFill>
              <a:srgbClr val="59B2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30" name="直接连接符 29"/>
            <p:cNvCxnSpPr/>
            <p:nvPr/>
          </p:nvCxnSpPr>
          <p:spPr>
            <a:xfrm flipV="1">
              <a:off x="2119506" y="4219534"/>
              <a:ext cx="0" cy="10085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870381" y="4266907"/>
              <a:ext cx="534589" cy="312774"/>
            </a:xfrm>
            <a:prstGeom prst="rect">
              <a:avLst/>
            </a:prstGeom>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cxnSp>
          <p:nvCxnSpPr>
            <p:cNvPr id="32" name="直接连接符 31"/>
            <p:cNvCxnSpPr>
              <a:endCxn id="29" idx="1"/>
            </p:cNvCxnSpPr>
            <p:nvPr/>
          </p:nvCxnSpPr>
          <p:spPr>
            <a:xfrm>
              <a:off x="1681860" y="3989131"/>
              <a:ext cx="310750" cy="473"/>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250097" y="3993971"/>
              <a:ext cx="34307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08246" y="3424994"/>
              <a:ext cx="458508" cy="343612"/>
            </a:xfrm>
            <a:prstGeom prst="rect">
              <a:avLst/>
            </a:prstGeom>
          </p:spPr>
          <p:txBody>
            <a:bodyPr wrap="none">
              <a:spAutoFit/>
            </a:bodyPr>
            <a:lstStyle/>
            <a:p>
              <a:r>
                <a:rPr lang="en-US" altLang="zh-CN" sz="1515" dirty="0">
                  <a:latin typeface="Segoe UI Black" panose="020B0A02040204020203" pitchFamily="34" charset="0"/>
                  <a:ea typeface="Segoe UI Black" panose="020B0A02040204020203" pitchFamily="34" charset="0"/>
                  <a:cs typeface="Segoe UI Black" panose="020B0A02040204020203" pitchFamily="34" charset="0"/>
                </a:rPr>
                <a:t>PC</a:t>
              </a:r>
              <a:endParaRPr lang="zh-CN" altLang="en-US" sz="1515" dirty="0">
                <a:latin typeface="Segoe UI Black" panose="020B0A02040204020203" pitchFamily="34" charset="0"/>
                <a:cs typeface="Segoe UI Black" panose="020B0A02040204020203" pitchFamily="34" charset="0"/>
              </a:endParaRPr>
            </a:p>
          </p:txBody>
        </p:sp>
        <p:grpSp>
          <p:nvGrpSpPr>
            <p:cNvPr id="35" name="组合 34"/>
            <p:cNvGrpSpPr/>
            <p:nvPr/>
          </p:nvGrpSpPr>
          <p:grpSpPr>
            <a:xfrm>
              <a:off x="2584594" y="3667322"/>
              <a:ext cx="944542" cy="1445348"/>
              <a:chOff x="2153669" y="3581315"/>
              <a:chExt cx="981236" cy="1387999"/>
            </a:xfrm>
          </p:grpSpPr>
          <p:sp>
            <p:nvSpPr>
              <p:cNvPr id="159" name="矩形 158"/>
              <p:cNvSpPr/>
              <p:nvPr/>
            </p:nvSpPr>
            <p:spPr>
              <a:xfrm>
                <a:off x="2162582" y="3581315"/>
                <a:ext cx="920297" cy="1387999"/>
              </a:xfrm>
              <a:prstGeom prst="rect">
                <a:avLst/>
              </a:prstGeom>
              <a:solidFill>
                <a:srgbClr val="00B05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60" name="矩形 159"/>
              <p:cNvSpPr/>
              <p:nvPr/>
            </p:nvSpPr>
            <p:spPr>
              <a:xfrm>
                <a:off x="2672635" y="3769167"/>
                <a:ext cx="462270" cy="3003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RD</a:t>
                </a:r>
                <a:endParaRPr lang="zh-CN" altLang="en-US" sz="1325" dirty="0">
                  <a:latin typeface="Times New Roman" panose="02020603050405020304" pitchFamily="18" charset="0"/>
                  <a:cs typeface="Times New Roman" panose="02020603050405020304" pitchFamily="18" charset="0"/>
                </a:endParaRPr>
              </a:p>
            </p:txBody>
          </p:sp>
          <p:sp>
            <p:nvSpPr>
              <p:cNvPr id="161" name="矩形 160"/>
              <p:cNvSpPr/>
              <p:nvPr/>
            </p:nvSpPr>
            <p:spPr>
              <a:xfrm>
                <a:off x="2153669" y="3768090"/>
                <a:ext cx="337571" cy="3003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a:t>
                </a:r>
                <a:endParaRPr lang="zh-CN" altLang="en-US" sz="1325" dirty="0">
                  <a:latin typeface="Times New Roman" panose="02020603050405020304" pitchFamily="18" charset="0"/>
                  <a:cs typeface="Times New Roman" panose="02020603050405020304" pitchFamily="18" charset="0"/>
                </a:endParaRPr>
              </a:p>
            </p:txBody>
          </p:sp>
          <p:sp>
            <p:nvSpPr>
              <p:cNvPr id="162" name="矩形 161"/>
              <p:cNvSpPr/>
              <p:nvPr/>
            </p:nvSpPr>
            <p:spPr>
              <a:xfrm>
                <a:off x="2247903" y="4158047"/>
                <a:ext cx="760851" cy="507208"/>
              </a:xfrm>
              <a:prstGeom prst="rect">
                <a:avLst/>
              </a:prstGeom>
            </p:spPr>
            <p:txBody>
              <a:bodyPr wrap="none">
                <a:spAutoFit/>
              </a:bodyPr>
              <a:lstStyle/>
              <a:p>
                <a:pPr algn="ctr" defTabSz="914400"/>
                <a:r>
                  <a:rPr lang="zh-CN" altLang="en-US" sz="1325" b="1" kern="0" dirty="0">
                    <a:solidFill>
                      <a:schemeClr val="bg1"/>
                    </a:solidFill>
                    <a:latin typeface="微软雅黑" panose="020B0503020204020204" pitchFamily="34" charset="-122"/>
                    <a:ea typeface="微软雅黑" panose="020B0503020204020204" pitchFamily="34" charset="-122"/>
                  </a:rPr>
                  <a:t>指令</a:t>
                </a:r>
                <a:endParaRPr lang="en-US" altLang="zh-CN" sz="1325" b="1" kern="0" dirty="0">
                  <a:solidFill>
                    <a:schemeClr val="bg1"/>
                  </a:solidFill>
                  <a:latin typeface="微软雅黑" panose="020B0503020204020204" pitchFamily="34" charset="-122"/>
                  <a:ea typeface="微软雅黑" panose="020B0503020204020204" pitchFamily="34" charset="-122"/>
                </a:endParaRPr>
              </a:p>
              <a:p>
                <a:pPr algn="ctr" defTabSz="914400"/>
                <a:r>
                  <a:rPr lang="zh-CN" altLang="en-US" sz="1325" b="1" kern="0" dirty="0">
                    <a:solidFill>
                      <a:schemeClr val="bg1"/>
                    </a:solidFill>
                    <a:latin typeface="微软雅黑" panose="020B0503020204020204" pitchFamily="34" charset="-122"/>
                    <a:ea typeface="微软雅黑" panose="020B0503020204020204" pitchFamily="34" charset="-122"/>
                  </a:rPr>
                  <a:t>存储器</a:t>
                </a:r>
                <a:endParaRPr lang="zh-CN" altLang="en-US" sz="1325" b="1" kern="0" dirty="0">
                  <a:solidFill>
                    <a:schemeClr val="bg1"/>
                  </a:solidFill>
                  <a:latin typeface="微软雅黑" panose="020B0503020204020204" pitchFamily="34" charset="-122"/>
                  <a:ea typeface="微软雅黑" panose="020B0503020204020204" pitchFamily="34" charset="-122"/>
                </a:endParaRPr>
              </a:p>
            </p:txBody>
          </p:sp>
        </p:grpSp>
        <p:sp>
          <p:nvSpPr>
            <p:cNvPr id="36" name="矩形 35"/>
            <p:cNvSpPr/>
            <p:nvPr/>
          </p:nvSpPr>
          <p:spPr>
            <a:xfrm>
              <a:off x="3435980" y="3732115"/>
              <a:ext cx="656317" cy="282072"/>
            </a:xfrm>
            <a:prstGeom prst="rect">
              <a:avLst/>
            </a:prstGeom>
          </p:spPr>
          <p:txBody>
            <a:bodyPr wrap="none">
              <a:spAutoFit/>
            </a:bodyPr>
            <a:lstStyle/>
            <a:p>
              <a:r>
                <a:rPr lang="zh-CN" altLang="en-US" sz="1140" b="1" dirty="0">
                  <a:latin typeface="微软雅黑" panose="020B0503020204020204" pitchFamily="34" charset="-122"/>
                  <a:ea typeface="微软雅黑" panose="020B0503020204020204" pitchFamily="34" charset="-122"/>
                  <a:cs typeface="Times New Roman" panose="02020603050405020304" pitchFamily="18" charset="0"/>
                </a:rPr>
                <a:t>指令字</a:t>
              </a:r>
              <a:endParaRPr lang="zh-CN" altLang="en-US" sz="114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矩形 36"/>
            <p:cNvSpPr/>
            <p:nvPr/>
          </p:nvSpPr>
          <p:spPr>
            <a:xfrm>
              <a:off x="2069337" y="5786044"/>
              <a:ext cx="216340" cy="312774"/>
            </a:xfrm>
            <a:prstGeom prst="rect">
              <a:avLst/>
            </a:prstGeom>
          </p:spPr>
          <p:txBody>
            <a:bodyPr wrap="square">
              <a:spAutoFit/>
            </a:bodyPr>
            <a:lstStyle/>
            <a:p>
              <a:r>
                <a:rPr lang="en-US" altLang="zh-CN" sz="1325" dirty="0">
                  <a:latin typeface="Times New Roman" panose="02020603050405020304" pitchFamily="18" charset="0"/>
                  <a:cs typeface="Times New Roman" panose="02020603050405020304" pitchFamily="18" charset="0"/>
                </a:rPr>
                <a:t>4</a:t>
              </a:r>
              <a:endParaRPr lang="zh-CN" altLang="en-US" sz="1325" dirty="0">
                <a:latin typeface="Times New Roman" panose="02020603050405020304" pitchFamily="18" charset="0"/>
                <a:cs typeface="Times New Roman" panose="02020603050405020304" pitchFamily="18" charset="0"/>
              </a:endParaRPr>
            </a:p>
          </p:txBody>
        </p:sp>
        <p:cxnSp>
          <p:nvCxnSpPr>
            <p:cNvPr id="38" name="直接连接符 37"/>
            <p:cNvCxnSpPr/>
            <p:nvPr/>
          </p:nvCxnSpPr>
          <p:spPr>
            <a:xfrm>
              <a:off x="2407598" y="5954587"/>
              <a:ext cx="370802"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9" name="任意多边形: 形状 251"/>
            <p:cNvSpPr/>
            <p:nvPr/>
          </p:nvSpPr>
          <p:spPr>
            <a:xfrm>
              <a:off x="3104594" y="5704600"/>
              <a:ext cx="420272" cy="738401"/>
            </a:xfrm>
            <a:custGeom>
              <a:avLst/>
              <a:gdLst>
                <a:gd name="connsiteX0" fmla="*/ 0 w 234950"/>
                <a:gd name="connsiteY0" fmla="*/ 0 h 812800"/>
                <a:gd name="connsiteX1" fmla="*/ 234950 w 234950"/>
                <a:gd name="connsiteY1" fmla="*/ 0 h 812800"/>
                <a:gd name="connsiteX2" fmla="*/ 234950 w 234950"/>
                <a:gd name="connsiteY2" fmla="*/ 812800 h 812800"/>
              </a:gdLst>
              <a:ahLst/>
              <a:cxnLst>
                <a:cxn ang="0">
                  <a:pos x="connsiteX0" y="connsiteY0"/>
                </a:cxn>
                <a:cxn ang="0">
                  <a:pos x="connsiteX1" y="connsiteY1"/>
                </a:cxn>
                <a:cxn ang="0">
                  <a:pos x="connsiteX2" y="connsiteY2"/>
                </a:cxn>
              </a:cxnLst>
              <a:rect l="l" t="t" r="r" b="b"/>
              <a:pathLst>
                <a:path w="234950" h="812800">
                  <a:moveTo>
                    <a:pt x="0" y="0"/>
                  </a:moveTo>
                  <a:lnTo>
                    <a:pt x="234950" y="0"/>
                  </a:lnTo>
                  <a:lnTo>
                    <a:pt x="234950" y="812800"/>
                  </a:lnTo>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40" name="矩形 39"/>
            <p:cNvSpPr/>
            <p:nvPr/>
          </p:nvSpPr>
          <p:spPr>
            <a:xfrm>
              <a:off x="3233226" y="5423935"/>
              <a:ext cx="60559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PC+4</a:t>
              </a:r>
              <a:endParaRPr lang="zh-CN" altLang="en-US" sz="1325" baseline="-25000" dirty="0">
                <a:latin typeface="Times New Roman" panose="02020603050405020304" pitchFamily="18" charset="0"/>
                <a:cs typeface="Times New Roman" panose="02020603050405020304" pitchFamily="18" charset="0"/>
              </a:endParaRPr>
            </a:p>
          </p:txBody>
        </p:sp>
        <p:sp>
          <p:nvSpPr>
            <p:cNvPr id="41" name="矩形 40"/>
            <p:cNvSpPr/>
            <p:nvPr/>
          </p:nvSpPr>
          <p:spPr>
            <a:xfrm>
              <a:off x="3977560" y="2915317"/>
              <a:ext cx="375667"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5:0</a:t>
              </a:r>
              <a:endParaRPr lang="zh-CN" altLang="en-US" sz="1045" dirty="0">
                <a:latin typeface="Times New Roman" panose="02020603050405020304" pitchFamily="18" charset="0"/>
                <a:cs typeface="Times New Roman" panose="02020603050405020304" pitchFamily="18" charset="0"/>
              </a:endParaRPr>
            </a:p>
          </p:txBody>
        </p:sp>
        <p:sp>
          <p:nvSpPr>
            <p:cNvPr id="42" name="矩形 41"/>
            <p:cNvSpPr/>
            <p:nvPr/>
          </p:nvSpPr>
          <p:spPr>
            <a:xfrm>
              <a:off x="3993227" y="4041790"/>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20:16</a:t>
              </a:r>
              <a:endParaRPr lang="zh-CN" altLang="en-US" sz="1045" dirty="0">
                <a:latin typeface="Times New Roman" panose="02020603050405020304" pitchFamily="18" charset="0"/>
                <a:cs typeface="Times New Roman" panose="02020603050405020304" pitchFamily="18" charset="0"/>
              </a:endParaRPr>
            </a:p>
          </p:txBody>
        </p:sp>
        <p:sp>
          <p:nvSpPr>
            <p:cNvPr id="43" name="矩形 42"/>
            <p:cNvSpPr/>
            <p:nvPr/>
          </p:nvSpPr>
          <p:spPr>
            <a:xfrm>
              <a:off x="3995056" y="3774290"/>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25:21</a:t>
              </a:r>
              <a:endParaRPr lang="zh-CN" altLang="en-US" sz="1045" dirty="0">
                <a:latin typeface="Times New Roman" panose="02020603050405020304" pitchFamily="18" charset="0"/>
                <a:cs typeface="Times New Roman" panose="02020603050405020304" pitchFamily="18" charset="0"/>
              </a:endParaRPr>
            </a:p>
          </p:txBody>
        </p:sp>
        <p:sp>
          <p:nvSpPr>
            <p:cNvPr id="44" name="矩形 43"/>
            <p:cNvSpPr/>
            <p:nvPr/>
          </p:nvSpPr>
          <p:spPr>
            <a:xfrm>
              <a:off x="3966955" y="4545075"/>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15:11</a:t>
              </a:r>
              <a:endParaRPr lang="zh-CN" altLang="en-US" sz="1045" dirty="0">
                <a:latin typeface="Times New Roman" panose="02020603050405020304" pitchFamily="18" charset="0"/>
                <a:cs typeface="Times New Roman" panose="02020603050405020304" pitchFamily="18" charset="0"/>
              </a:endParaRPr>
            </a:p>
          </p:txBody>
        </p:sp>
        <p:sp>
          <p:nvSpPr>
            <p:cNvPr id="45" name="矩形 44"/>
            <p:cNvSpPr/>
            <p:nvPr/>
          </p:nvSpPr>
          <p:spPr>
            <a:xfrm>
              <a:off x="3978687" y="5823198"/>
              <a:ext cx="446675"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15:0</a:t>
              </a:r>
              <a:endParaRPr lang="zh-CN" altLang="en-US" sz="1045" dirty="0">
                <a:latin typeface="Times New Roman" panose="02020603050405020304" pitchFamily="18" charset="0"/>
                <a:cs typeface="Times New Roman" panose="02020603050405020304" pitchFamily="18" charset="0"/>
              </a:endParaRPr>
            </a:p>
          </p:txBody>
        </p:sp>
        <p:sp>
          <p:nvSpPr>
            <p:cNvPr id="46" name="矩形 45"/>
            <p:cNvSpPr/>
            <p:nvPr/>
          </p:nvSpPr>
          <p:spPr>
            <a:xfrm>
              <a:off x="5260768" y="5840486"/>
              <a:ext cx="107560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Sign Extend</a:t>
              </a:r>
              <a:endParaRPr lang="zh-CN" altLang="en-US" sz="1325" dirty="0">
                <a:latin typeface="Times New Roman" panose="02020603050405020304" pitchFamily="18" charset="0"/>
                <a:cs typeface="Times New Roman" panose="02020603050405020304" pitchFamily="18" charset="0"/>
              </a:endParaRPr>
            </a:p>
          </p:txBody>
        </p:sp>
        <p:sp>
          <p:nvSpPr>
            <p:cNvPr id="47" name="矩形 46"/>
            <p:cNvSpPr/>
            <p:nvPr/>
          </p:nvSpPr>
          <p:spPr>
            <a:xfrm>
              <a:off x="6377380" y="5937733"/>
              <a:ext cx="862579"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SignImm</a:t>
              </a:r>
              <a:endParaRPr lang="zh-CN" altLang="en-US" sz="1325" dirty="0">
                <a:latin typeface="Times New Roman" panose="02020603050405020304" pitchFamily="18" charset="0"/>
                <a:cs typeface="Times New Roman" panose="02020603050405020304" pitchFamily="18" charset="0"/>
              </a:endParaRPr>
            </a:p>
          </p:txBody>
        </p:sp>
        <p:sp>
          <p:nvSpPr>
            <p:cNvPr id="48" name="矩形 47"/>
            <p:cNvSpPr/>
            <p:nvPr/>
          </p:nvSpPr>
          <p:spPr>
            <a:xfrm>
              <a:off x="5102472" y="3624635"/>
              <a:ext cx="1417422" cy="1620000"/>
            </a:xfrm>
            <a:prstGeom prst="rect">
              <a:avLst/>
            </a:prstGeom>
            <a:solidFill>
              <a:srgbClr val="FFCCFF"/>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49" name="矩形 48"/>
            <p:cNvSpPr/>
            <p:nvPr/>
          </p:nvSpPr>
          <p:spPr>
            <a:xfrm>
              <a:off x="5087028" y="3846399"/>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R1#</a:t>
              </a:r>
              <a:endParaRPr lang="zh-CN" altLang="en-US" sz="1325" dirty="0">
                <a:latin typeface="Times New Roman" panose="02020603050405020304" pitchFamily="18" charset="0"/>
                <a:cs typeface="Times New Roman" panose="02020603050405020304" pitchFamily="18" charset="0"/>
              </a:endParaRPr>
            </a:p>
          </p:txBody>
        </p:sp>
        <p:sp>
          <p:nvSpPr>
            <p:cNvPr id="50" name="矩形 49"/>
            <p:cNvSpPr/>
            <p:nvPr/>
          </p:nvSpPr>
          <p:spPr>
            <a:xfrm>
              <a:off x="5088159" y="4167250"/>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R2#</a:t>
              </a:r>
              <a:endParaRPr lang="zh-CN" altLang="en-US" sz="1325" dirty="0">
                <a:latin typeface="Times New Roman" panose="02020603050405020304" pitchFamily="18" charset="0"/>
                <a:cs typeface="Times New Roman" panose="02020603050405020304" pitchFamily="18" charset="0"/>
              </a:endParaRPr>
            </a:p>
          </p:txBody>
        </p:sp>
        <p:sp>
          <p:nvSpPr>
            <p:cNvPr id="51" name="矩形 50"/>
            <p:cNvSpPr/>
            <p:nvPr/>
          </p:nvSpPr>
          <p:spPr>
            <a:xfrm>
              <a:off x="5081485" y="4515214"/>
              <a:ext cx="453438"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a:t>
              </a:r>
              <a:endParaRPr lang="zh-CN" altLang="en-US" sz="1325" dirty="0">
                <a:latin typeface="Times New Roman" panose="02020603050405020304" pitchFamily="18" charset="0"/>
                <a:cs typeface="Times New Roman" panose="02020603050405020304" pitchFamily="18" charset="0"/>
              </a:endParaRPr>
            </a:p>
          </p:txBody>
        </p:sp>
        <p:sp>
          <p:nvSpPr>
            <p:cNvPr id="52" name="矩形 51"/>
            <p:cNvSpPr/>
            <p:nvPr/>
          </p:nvSpPr>
          <p:spPr>
            <a:xfrm>
              <a:off x="5087028" y="4869877"/>
              <a:ext cx="494013"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WD</a:t>
              </a:r>
              <a:endParaRPr lang="zh-CN" altLang="en-US" sz="1325" dirty="0">
                <a:latin typeface="Times New Roman" panose="02020603050405020304" pitchFamily="18" charset="0"/>
                <a:cs typeface="Times New Roman" panose="02020603050405020304" pitchFamily="18" charset="0"/>
              </a:endParaRPr>
            </a:p>
          </p:txBody>
        </p:sp>
        <p:sp>
          <p:nvSpPr>
            <p:cNvPr id="53" name="矩形 52"/>
            <p:cNvSpPr/>
            <p:nvPr/>
          </p:nvSpPr>
          <p:spPr>
            <a:xfrm>
              <a:off x="5607659" y="3587547"/>
              <a:ext cx="473726"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WE</a:t>
              </a:r>
              <a:endParaRPr lang="zh-CN" altLang="en-US" sz="1325" dirty="0">
                <a:latin typeface="Times New Roman" panose="02020603050405020304" pitchFamily="18" charset="0"/>
                <a:cs typeface="Times New Roman" panose="02020603050405020304" pitchFamily="18" charset="0"/>
              </a:endParaRPr>
            </a:p>
          </p:txBody>
        </p:sp>
        <p:sp>
          <p:nvSpPr>
            <p:cNvPr id="54" name="矩形 53"/>
            <p:cNvSpPr/>
            <p:nvPr/>
          </p:nvSpPr>
          <p:spPr>
            <a:xfrm>
              <a:off x="5461813" y="4623794"/>
              <a:ext cx="911609" cy="312774"/>
            </a:xfrm>
            <a:prstGeom prst="rect">
              <a:avLst/>
            </a:prstGeom>
          </p:spPr>
          <p:txBody>
            <a:bodyPr wrap="none">
              <a:spAutoFit/>
            </a:bodyPr>
            <a:lstStyle/>
            <a:p>
              <a:pPr algn="ctr" defTabSz="914400">
                <a:defRPr/>
              </a:pPr>
              <a:r>
                <a:rPr lang="zh-CN" altLang="en-US" sz="1325" b="1" kern="0" dirty="0">
                  <a:solidFill>
                    <a:srgbClr val="000000"/>
                  </a:solidFill>
                  <a:latin typeface="微软雅黑" panose="020B0503020204020204" pitchFamily="34" charset="-122"/>
                  <a:ea typeface="微软雅黑" panose="020B0503020204020204" pitchFamily="34" charset="-122"/>
                </a:rPr>
                <a:t>寄存器堆</a:t>
              </a:r>
              <a:endParaRPr lang="zh-CN" altLang="en-US" sz="1325" b="1" kern="0" dirty="0">
                <a:solidFill>
                  <a:srgbClr val="000000"/>
                </a:solidFill>
                <a:latin typeface="微软雅黑" panose="020B0503020204020204" pitchFamily="34" charset="-122"/>
                <a:ea typeface="微软雅黑" panose="020B0503020204020204" pitchFamily="34" charset="-122"/>
              </a:endParaRPr>
            </a:p>
          </p:txBody>
        </p:sp>
        <p:sp>
          <p:nvSpPr>
            <p:cNvPr id="55" name="矩形 54"/>
            <p:cNvSpPr/>
            <p:nvPr/>
          </p:nvSpPr>
          <p:spPr>
            <a:xfrm>
              <a:off x="6187634" y="3856669"/>
              <a:ext cx="40440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R1</a:t>
              </a:r>
              <a:endParaRPr lang="zh-CN" altLang="en-US" sz="1325" dirty="0">
                <a:latin typeface="Times New Roman" panose="02020603050405020304" pitchFamily="18" charset="0"/>
                <a:cs typeface="Times New Roman" panose="02020603050405020304" pitchFamily="18" charset="0"/>
              </a:endParaRPr>
            </a:p>
          </p:txBody>
        </p:sp>
        <p:sp>
          <p:nvSpPr>
            <p:cNvPr id="56" name="矩形 55"/>
            <p:cNvSpPr/>
            <p:nvPr/>
          </p:nvSpPr>
          <p:spPr>
            <a:xfrm>
              <a:off x="6179493" y="4276124"/>
              <a:ext cx="40440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R2</a:t>
              </a:r>
              <a:endParaRPr lang="zh-CN" altLang="en-US" sz="1325" dirty="0">
                <a:latin typeface="Times New Roman" panose="02020603050405020304" pitchFamily="18" charset="0"/>
                <a:cs typeface="Times New Roman" panose="02020603050405020304" pitchFamily="18" charset="0"/>
              </a:endParaRPr>
            </a:p>
          </p:txBody>
        </p:sp>
        <p:grpSp>
          <p:nvGrpSpPr>
            <p:cNvPr id="57" name="组合 56"/>
            <p:cNvGrpSpPr/>
            <p:nvPr/>
          </p:nvGrpSpPr>
          <p:grpSpPr>
            <a:xfrm>
              <a:off x="4625897" y="4389532"/>
              <a:ext cx="284372" cy="537440"/>
              <a:chOff x="4451072" y="4543951"/>
              <a:chExt cx="284372" cy="537440"/>
            </a:xfrm>
          </p:grpSpPr>
          <p:sp>
            <p:nvSpPr>
              <p:cNvPr id="157" name="流程图: 手动操作 156"/>
              <p:cNvSpPr/>
              <p:nvPr/>
            </p:nvSpPr>
            <p:spPr>
              <a:xfrm rot="16200000">
                <a:off x="4335027" y="4701403"/>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58" name="矩形 157"/>
              <p:cNvSpPr/>
              <p:nvPr/>
            </p:nvSpPr>
            <p:spPr>
              <a:xfrm>
                <a:off x="4451072" y="4543951"/>
                <a:ext cx="284372"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grpSp>
        <p:sp>
          <p:nvSpPr>
            <p:cNvPr id="58" name="流程图: 手动操作 57"/>
            <p:cNvSpPr/>
            <p:nvPr/>
          </p:nvSpPr>
          <p:spPr>
            <a:xfrm rot="16200000">
              <a:off x="1336980" y="3875036"/>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59" name="矩形 58"/>
            <p:cNvSpPr/>
            <p:nvPr/>
          </p:nvSpPr>
          <p:spPr>
            <a:xfrm>
              <a:off x="1429026" y="3715552"/>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sp>
          <p:nvSpPr>
            <p:cNvPr id="60" name="流程图: 手动操作 59"/>
            <p:cNvSpPr/>
            <p:nvPr/>
          </p:nvSpPr>
          <p:spPr>
            <a:xfrm rot="16200000">
              <a:off x="7251910" y="4433214"/>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61" name="矩形 60"/>
            <p:cNvSpPr/>
            <p:nvPr/>
          </p:nvSpPr>
          <p:spPr>
            <a:xfrm>
              <a:off x="7346314" y="4283009"/>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sp>
          <p:nvSpPr>
            <p:cNvPr id="62" name="流程图: 手动操作 61"/>
            <p:cNvSpPr/>
            <p:nvPr/>
          </p:nvSpPr>
          <p:spPr>
            <a:xfrm rot="16200000">
              <a:off x="11167767" y="4070175"/>
              <a:ext cx="533466" cy="226510"/>
            </a:xfrm>
            <a:prstGeom prst="flowChartManualOperation">
              <a:avLst/>
            </a:prstGeom>
            <a:solidFill>
              <a:srgbClr val="FFFF00"/>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63" name="矩形 62"/>
            <p:cNvSpPr/>
            <p:nvPr/>
          </p:nvSpPr>
          <p:spPr>
            <a:xfrm>
              <a:off x="11263840" y="3936437"/>
              <a:ext cx="284371" cy="52816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0</a:t>
              </a:r>
              <a:endParaRPr lang="en-US" altLang="zh-CN" sz="1325" dirty="0">
                <a:latin typeface="Times New Roman" panose="02020603050405020304" pitchFamily="18" charset="0"/>
                <a:cs typeface="Times New Roman" panose="02020603050405020304" pitchFamily="18" charset="0"/>
              </a:endParaRPr>
            </a:p>
            <a:p>
              <a:r>
                <a:rPr lang="en-US" altLang="zh-CN" sz="1325" dirty="0">
                  <a:latin typeface="Times New Roman" panose="02020603050405020304" pitchFamily="18" charset="0"/>
                  <a:cs typeface="Times New Roman" panose="02020603050405020304" pitchFamily="18" charset="0"/>
                </a:rPr>
                <a:t>1</a:t>
              </a:r>
              <a:endParaRPr lang="zh-CN" altLang="en-US" sz="1325" dirty="0">
                <a:latin typeface="Times New Roman" panose="02020603050405020304" pitchFamily="18" charset="0"/>
                <a:cs typeface="Times New Roman" panose="02020603050405020304" pitchFamily="18" charset="0"/>
              </a:endParaRPr>
            </a:p>
          </p:txBody>
        </p:sp>
        <p:cxnSp>
          <p:nvCxnSpPr>
            <p:cNvPr id="64" name="直接连接符 63"/>
            <p:cNvCxnSpPr/>
            <p:nvPr/>
          </p:nvCxnSpPr>
          <p:spPr>
            <a:xfrm>
              <a:off x="6507043" y="4010421"/>
              <a:ext cx="1557578" cy="1"/>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855791" y="5879564"/>
              <a:ext cx="34774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7386084" y="5653030"/>
              <a:ext cx="487251" cy="552651"/>
              <a:chOff x="7239187" y="4876233"/>
              <a:chExt cx="506180" cy="574121"/>
            </a:xfrm>
          </p:grpSpPr>
          <p:sp>
            <p:nvSpPr>
              <p:cNvPr id="155" name="平行四边形 154"/>
              <p:cNvSpPr/>
              <p:nvPr/>
            </p:nvSpPr>
            <p:spPr>
              <a:xfrm rot="4500000">
                <a:off x="7216515" y="4946030"/>
                <a:ext cx="574121" cy="434528"/>
              </a:xfrm>
              <a:prstGeom prst="parallelogram">
                <a:avLst/>
              </a:pr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56" name="矩形 155"/>
              <p:cNvSpPr/>
              <p:nvPr/>
            </p:nvSpPr>
            <p:spPr>
              <a:xfrm>
                <a:off x="7239187" y="4999635"/>
                <a:ext cx="506180"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&lt;&lt;2</a:t>
                </a:r>
                <a:endParaRPr lang="zh-CN" altLang="en-US" sz="1325" dirty="0">
                  <a:latin typeface="Times New Roman" panose="02020603050405020304" pitchFamily="18" charset="0"/>
                  <a:cs typeface="Times New Roman" panose="02020603050405020304" pitchFamily="18" charset="0"/>
                </a:endParaRPr>
              </a:p>
            </p:txBody>
          </p:sp>
        </p:grpSp>
        <p:sp>
          <p:nvSpPr>
            <p:cNvPr id="67" name="矩形 66"/>
            <p:cNvSpPr/>
            <p:nvPr/>
          </p:nvSpPr>
          <p:spPr>
            <a:xfrm>
              <a:off x="8408569" y="6034851"/>
              <a:ext cx="296205"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t>
              </a:r>
              <a:endParaRPr lang="zh-CN" altLang="en-US" sz="1325" dirty="0">
                <a:latin typeface="Times New Roman" panose="02020603050405020304" pitchFamily="18" charset="0"/>
                <a:cs typeface="Times New Roman" panose="02020603050405020304" pitchFamily="18" charset="0"/>
              </a:endParaRPr>
            </a:p>
          </p:txBody>
        </p:sp>
        <p:sp>
          <p:nvSpPr>
            <p:cNvPr id="68" name="矩形 67"/>
            <p:cNvSpPr/>
            <p:nvPr/>
          </p:nvSpPr>
          <p:spPr>
            <a:xfrm>
              <a:off x="8600045" y="5800998"/>
              <a:ext cx="931895"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PCBranch</a:t>
              </a:r>
              <a:endParaRPr lang="zh-CN" altLang="en-US" sz="1325" dirty="0">
                <a:latin typeface="Times New Roman" panose="02020603050405020304" pitchFamily="18" charset="0"/>
                <a:cs typeface="Times New Roman" panose="02020603050405020304" pitchFamily="18" charset="0"/>
              </a:endParaRPr>
            </a:p>
          </p:txBody>
        </p:sp>
        <p:cxnSp>
          <p:nvCxnSpPr>
            <p:cNvPr id="69" name="直接连接符 68"/>
            <p:cNvCxnSpPr/>
            <p:nvPr/>
          </p:nvCxnSpPr>
          <p:spPr>
            <a:xfrm flipV="1">
              <a:off x="7624520" y="4588128"/>
              <a:ext cx="462543" cy="3527"/>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7583805" y="4322624"/>
              <a:ext cx="553187"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SrcB</a:t>
              </a:r>
              <a:endParaRPr lang="zh-CN" altLang="en-US" sz="1325" dirty="0">
                <a:latin typeface="Times New Roman" panose="02020603050405020304" pitchFamily="18" charset="0"/>
                <a:cs typeface="Times New Roman" panose="02020603050405020304" pitchFamily="18" charset="0"/>
              </a:endParaRPr>
            </a:p>
          </p:txBody>
        </p:sp>
        <p:sp>
          <p:nvSpPr>
            <p:cNvPr id="71" name="矩形 70"/>
            <p:cNvSpPr/>
            <p:nvPr/>
          </p:nvSpPr>
          <p:spPr>
            <a:xfrm>
              <a:off x="7573803" y="3763083"/>
              <a:ext cx="563331"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SrcA</a:t>
              </a:r>
              <a:endParaRPr lang="zh-CN" altLang="en-US" sz="1325" dirty="0">
                <a:latin typeface="Times New Roman" panose="02020603050405020304" pitchFamily="18" charset="0"/>
                <a:cs typeface="Times New Roman" panose="02020603050405020304" pitchFamily="18" charset="0"/>
              </a:endParaRPr>
            </a:p>
          </p:txBody>
        </p:sp>
        <p:sp>
          <p:nvSpPr>
            <p:cNvPr id="72" name="矩形 71"/>
            <p:cNvSpPr/>
            <p:nvPr/>
          </p:nvSpPr>
          <p:spPr>
            <a:xfrm>
              <a:off x="8466912" y="3750272"/>
              <a:ext cx="612360"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Equal</a:t>
              </a:r>
              <a:endParaRPr lang="zh-CN" altLang="en-US" sz="1325" dirty="0">
                <a:latin typeface="Times New Roman" panose="02020603050405020304" pitchFamily="18" charset="0"/>
                <a:cs typeface="Times New Roman" panose="02020603050405020304" pitchFamily="18" charset="0"/>
              </a:endParaRPr>
            </a:p>
          </p:txBody>
        </p:sp>
        <p:sp>
          <p:nvSpPr>
            <p:cNvPr id="73" name="任意多边形: 形状 323"/>
            <p:cNvSpPr/>
            <p:nvPr/>
          </p:nvSpPr>
          <p:spPr>
            <a:xfrm>
              <a:off x="8064621" y="3840798"/>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74" name="矩形 73"/>
            <p:cNvSpPr/>
            <p:nvPr/>
          </p:nvSpPr>
          <p:spPr>
            <a:xfrm rot="16200000">
              <a:off x="8123340" y="4149304"/>
              <a:ext cx="559949" cy="312774"/>
            </a:xfrm>
            <a:prstGeom prst="rect">
              <a:avLst/>
            </a:prstGeom>
          </p:spPr>
          <p:txBody>
            <a:bodyPr wrap="none">
              <a:spAutoFit/>
            </a:bodyPr>
            <a:lstStyle/>
            <a:p>
              <a:r>
                <a:rPr lang="en-US" altLang="zh-CN" sz="1325"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ALU</a:t>
              </a:r>
              <a:endParaRPr lang="zh-CN" altLang="en-US" sz="1325" dirty="0">
                <a:solidFill>
                  <a:schemeClr val="bg1"/>
                </a:solidFill>
                <a:latin typeface="Segoe UI Black" panose="020B0A02040204020203" pitchFamily="34" charset="0"/>
                <a:cs typeface="Segoe UI Black" panose="020B0A02040204020203" pitchFamily="34" charset="0"/>
              </a:endParaRPr>
            </a:p>
          </p:txBody>
        </p:sp>
        <p:sp>
          <p:nvSpPr>
            <p:cNvPr id="75" name="矩形 74"/>
            <p:cNvSpPr/>
            <p:nvPr/>
          </p:nvSpPr>
          <p:spPr>
            <a:xfrm>
              <a:off x="8517269" y="4016596"/>
              <a:ext cx="1021502"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ALUResult</a:t>
              </a:r>
              <a:endParaRPr lang="zh-CN" altLang="en-US" sz="1325" dirty="0">
                <a:latin typeface="Times New Roman" panose="02020603050405020304" pitchFamily="18" charset="0"/>
                <a:cs typeface="Times New Roman" panose="02020603050405020304" pitchFamily="18" charset="0"/>
              </a:endParaRPr>
            </a:p>
          </p:txBody>
        </p:sp>
        <p:sp>
          <p:nvSpPr>
            <p:cNvPr id="76" name="矩形 75"/>
            <p:cNvSpPr/>
            <p:nvPr/>
          </p:nvSpPr>
          <p:spPr>
            <a:xfrm>
              <a:off x="8498897" y="4614480"/>
              <a:ext cx="931489"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WriteData</a:t>
              </a:r>
              <a:endParaRPr lang="zh-CN" altLang="en-US" sz="1325" dirty="0">
                <a:latin typeface="Times New Roman" panose="02020603050405020304" pitchFamily="18" charset="0"/>
                <a:cs typeface="Times New Roman" panose="02020603050405020304" pitchFamily="18" charset="0"/>
              </a:endParaRPr>
            </a:p>
          </p:txBody>
        </p:sp>
        <p:cxnSp>
          <p:nvCxnSpPr>
            <p:cNvPr id="77" name="直接连接符 76"/>
            <p:cNvCxnSpPr/>
            <p:nvPr/>
          </p:nvCxnSpPr>
          <p:spPr>
            <a:xfrm>
              <a:off x="8532230" y="4302272"/>
              <a:ext cx="1224035"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10541167" y="4301458"/>
              <a:ext cx="78007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9690826" y="3695866"/>
              <a:ext cx="916908" cy="1436044"/>
              <a:chOff x="2106940" y="3477998"/>
              <a:chExt cx="952529" cy="1491834"/>
            </a:xfrm>
          </p:grpSpPr>
          <p:sp>
            <p:nvSpPr>
              <p:cNvPr id="149" name="矩形 148"/>
              <p:cNvSpPr/>
              <p:nvPr/>
            </p:nvSpPr>
            <p:spPr>
              <a:xfrm>
                <a:off x="2162583" y="3477998"/>
                <a:ext cx="828902" cy="1491834"/>
              </a:xfrm>
              <a:prstGeom prst="rect">
                <a:avLst/>
              </a:prstGeom>
              <a:solidFill>
                <a:srgbClr val="79F5F9"/>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150" name="矩形 149"/>
              <p:cNvSpPr/>
              <p:nvPr/>
            </p:nvSpPr>
            <p:spPr>
              <a:xfrm>
                <a:off x="2317534" y="3480984"/>
                <a:ext cx="492129"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WE</a:t>
                </a:r>
                <a:endParaRPr lang="zh-CN" altLang="en-US" sz="1325" dirty="0">
                  <a:latin typeface="Times New Roman" panose="02020603050405020304" pitchFamily="18" charset="0"/>
                  <a:cs typeface="Times New Roman" panose="02020603050405020304" pitchFamily="18" charset="0"/>
                </a:endParaRPr>
              </a:p>
            </p:txBody>
          </p:sp>
          <p:sp>
            <p:nvSpPr>
              <p:cNvPr id="151" name="矩形 150"/>
              <p:cNvSpPr/>
              <p:nvPr/>
            </p:nvSpPr>
            <p:spPr>
              <a:xfrm>
                <a:off x="2597199" y="3861428"/>
                <a:ext cx="462270"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RD</a:t>
                </a:r>
                <a:endParaRPr lang="zh-CN" altLang="en-US" sz="1325" dirty="0">
                  <a:latin typeface="Times New Roman" panose="02020603050405020304" pitchFamily="18" charset="0"/>
                  <a:cs typeface="Times New Roman" panose="02020603050405020304" pitchFamily="18" charset="0"/>
                </a:endParaRPr>
              </a:p>
            </p:txBody>
          </p:sp>
          <p:sp>
            <p:nvSpPr>
              <p:cNvPr id="152" name="矩形 151"/>
              <p:cNvSpPr/>
              <p:nvPr/>
            </p:nvSpPr>
            <p:spPr>
              <a:xfrm>
                <a:off x="2146656" y="3834566"/>
                <a:ext cx="337571"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A</a:t>
                </a:r>
                <a:endParaRPr lang="zh-CN" altLang="en-US" sz="1325" dirty="0">
                  <a:latin typeface="Times New Roman" panose="02020603050405020304" pitchFamily="18" charset="0"/>
                  <a:cs typeface="Times New Roman" panose="02020603050405020304" pitchFamily="18" charset="0"/>
                </a:endParaRPr>
              </a:p>
            </p:txBody>
          </p:sp>
          <p:sp>
            <p:nvSpPr>
              <p:cNvPr id="153" name="矩形 152"/>
              <p:cNvSpPr/>
              <p:nvPr/>
            </p:nvSpPr>
            <p:spPr>
              <a:xfrm>
                <a:off x="2182706" y="4068361"/>
                <a:ext cx="760851" cy="548684"/>
              </a:xfrm>
              <a:prstGeom prst="rect">
                <a:avLst/>
              </a:prstGeom>
            </p:spPr>
            <p:txBody>
              <a:bodyPr wrap="none">
                <a:spAutoFit/>
              </a:bodyPr>
              <a:lstStyle/>
              <a:p>
                <a:pPr algn="ctr" defTabSz="914400"/>
                <a:r>
                  <a:rPr lang="zh-CN" altLang="en-US" sz="1325" b="1" kern="0" dirty="0">
                    <a:latin typeface="微软雅黑" panose="020B0503020204020204" pitchFamily="34" charset="-122"/>
                    <a:ea typeface="微软雅黑" panose="020B0503020204020204" pitchFamily="34" charset="-122"/>
                  </a:rPr>
                  <a:t>数据</a:t>
                </a:r>
                <a:endParaRPr lang="en-US" altLang="zh-CN" sz="1325" b="1" kern="0" dirty="0">
                  <a:latin typeface="微软雅黑" panose="020B0503020204020204" pitchFamily="34" charset="-122"/>
                  <a:ea typeface="微软雅黑" panose="020B0503020204020204" pitchFamily="34" charset="-122"/>
                </a:endParaRPr>
              </a:p>
              <a:p>
                <a:pPr algn="ctr" defTabSz="914400"/>
                <a:r>
                  <a:rPr lang="zh-CN" altLang="en-US" sz="1325" b="1" kern="0" dirty="0">
                    <a:latin typeface="微软雅黑" panose="020B0503020204020204" pitchFamily="34" charset="-122"/>
                    <a:ea typeface="微软雅黑" panose="020B0503020204020204" pitchFamily="34" charset="-122"/>
                  </a:rPr>
                  <a:t>存储器</a:t>
                </a:r>
                <a:endParaRPr lang="zh-CN" altLang="en-US" sz="1325" b="1" kern="0" dirty="0">
                  <a:latin typeface="微软雅黑" panose="020B0503020204020204" pitchFamily="34" charset="-122"/>
                  <a:ea typeface="微软雅黑" panose="020B0503020204020204" pitchFamily="34" charset="-122"/>
                </a:endParaRPr>
              </a:p>
            </p:txBody>
          </p:sp>
          <p:sp>
            <p:nvSpPr>
              <p:cNvPr id="154" name="矩形 153"/>
              <p:cNvSpPr/>
              <p:nvPr/>
            </p:nvSpPr>
            <p:spPr>
              <a:xfrm>
                <a:off x="2106940" y="4556521"/>
                <a:ext cx="513205" cy="324925"/>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WD</a:t>
                </a:r>
                <a:endParaRPr lang="zh-CN" altLang="en-US" sz="1325" dirty="0">
                  <a:latin typeface="Times New Roman" panose="02020603050405020304" pitchFamily="18" charset="0"/>
                  <a:cs typeface="Times New Roman" panose="02020603050405020304" pitchFamily="18" charset="0"/>
                </a:endParaRPr>
              </a:p>
            </p:txBody>
          </p:sp>
        </p:grpSp>
        <p:sp>
          <p:nvSpPr>
            <p:cNvPr id="80" name="矩形 79"/>
            <p:cNvSpPr/>
            <p:nvPr/>
          </p:nvSpPr>
          <p:spPr>
            <a:xfrm>
              <a:off x="10484405" y="4026377"/>
              <a:ext cx="901464"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ReadData</a:t>
              </a:r>
              <a:endParaRPr lang="zh-CN" altLang="en-US" sz="1325" dirty="0">
                <a:latin typeface="Times New Roman" panose="02020603050405020304" pitchFamily="18" charset="0"/>
                <a:cs typeface="Times New Roman" panose="02020603050405020304" pitchFamily="18" charset="0"/>
              </a:endParaRPr>
            </a:p>
          </p:txBody>
        </p:sp>
        <p:sp>
          <p:nvSpPr>
            <p:cNvPr id="81" name="矩形 80"/>
            <p:cNvSpPr/>
            <p:nvPr/>
          </p:nvSpPr>
          <p:spPr>
            <a:xfrm>
              <a:off x="10506410" y="6662499"/>
              <a:ext cx="1300055"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WriteBackData</a:t>
              </a:r>
              <a:endParaRPr lang="zh-CN" altLang="en-US" sz="1325" dirty="0">
                <a:latin typeface="Times New Roman" panose="02020603050405020304" pitchFamily="18" charset="0"/>
                <a:cs typeface="Times New Roman" panose="02020603050405020304" pitchFamily="18" charset="0"/>
              </a:endParaRPr>
            </a:p>
          </p:txBody>
        </p:sp>
        <p:sp>
          <p:nvSpPr>
            <p:cNvPr id="82" name="任意多边形: 形状 323"/>
            <p:cNvSpPr/>
            <p:nvPr/>
          </p:nvSpPr>
          <p:spPr>
            <a:xfrm>
              <a:off x="8163994" y="5696260"/>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3" name="任意多边形: 形状 323"/>
            <p:cNvSpPr/>
            <p:nvPr/>
          </p:nvSpPr>
          <p:spPr>
            <a:xfrm>
              <a:off x="2768573" y="5274135"/>
              <a:ext cx="467609" cy="907711"/>
            </a:xfrm>
            <a:custGeom>
              <a:avLst/>
              <a:gdLst>
                <a:gd name="connsiteX0" fmla="*/ 0 w 485775"/>
                <a:gd name="connsiteY0" fmla="*/ 0 h 942975"/>
                <a:gd name="connsiteX1" fmla="*/ 0 w 485775"/>
                <a:gd name="connsiteY1" fmla="*/ 404812 h 942975"/>
                <a:gd name="connsiteX2" fmla="*/ 238125 w 485775"/>
                <a:gd name="connsiteY2" fmla="*/ 466725 h 942975"/>
                <a:gd name="connsiteX3" fmla="*/ 9525 w 485775"/>
                <a:gd name="connsiteY3" fmla="*/ 528637 h 942975"/>
                <a:gd name="connsiteX4" fmla="*/ 9525 w 485775"/>
                <a:gd name="connsiteY4" fmla="*/ 942975 h 942975"/>
                <a:gd name="connsiteX5" fmla="*/ 485775 w 485775"/>
                <a:gd name="connsiteY5" fmla="*/ 814387 h 942975"/>
                <a:gd name="connsiteX6" fmla="*/ 485775 w 485775"/>
                <a:gd name="connsiteY6" fmla="*/ 119062 h 942975"/>
                <a:gd name="connsiteX7" fmla="*/ 0 w 485775"/>
                <a:gd name="connsiteY7"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775" h="942975">
                  <a:moveTo>
                    <a:pt x="0" y="0"/>
                  </a:moveTo>
                  <a:lnTo>
                    <a:pt x="0" y="404812"/>
                  </a:lnTo>
                  <a:lnTo>
                    <a:pt x="238125" y="466725"/>
                  </a:lnTo>
                  <a:lnTo>
                    <a:pt x="9525" y="528637"/>
                  </a:lnTo>
                  <a:lnTo>
                    <a:pt x="9525" y="942975"/>
                  </a:lnTo>
                  <a:lnTo>
                    <a:pt x="485775" y="814387"/>
                  </a:lnTo>
                  <a:lnTo>
                    <a:pt x="485775" y="119062"/>
                  </a:lnTo>
                  <a:lnTo>
                    <a:pt x="0" y="0"/>
                  </a:lnTo>
                  <a:close/>
                </a:path>
              </a:pathLst>
            </a:custGeom>
            <a:solidFill>
              <a:srgbClr val="ED7D3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4" name="矩形 83"/>
            <p:cNvSpPr/>
            <p:nvPr/>
          </p:nvSpPr>
          <p:spPr>
            <a:xfrm>
              <a:off x="2950880" y="5513430"/>
              <a:ext cx="377357" cy="405084"/>
            </a:xfrm>
            <a:prstGeom prst="rect">
              <a:avLst/>
            </a:prstGeom>
          </p:spPr>
          <p:txBody>
            <a:bodyPr wrap="none">
              <a:spAutoFit/>
            </a:bodyPr>
            <a:lstStyle/>
            <a:p>
              <a:r>
                <a:rPr lang="en-US" altLang="zh-CN" sz="1895" dirty="0">
                  <a:latin typeface="Segoe UI Black" panose="020B0A02040204020203" pitchFamily="34" charset="0"/>
                  <a:ea typeface="Segoe UI Black" panose="020B0A02040204020203" pitchFamily="34" charset="0"/>
                  <a:cs typeface="Segoe UI Black" panose="020B0A02040204020203" pitchFamily="34" charset="0"/>
                </a:rPr>
                <a:t>+</a:t>
              </a:r>
              <a:endParaRPr lang="zh-CN" altLang="en-US" sz="1895" dirty="0">
                <a:latin typeface="Segoe UI Black" panose="020B0A02040204020203" pitchFamily="34" charset="0"/>
                <a:cs typeface="Segoe UI Black" panose="020B0A02040204020203" pitchFamily="34" charset="0"/>
              </a:endParaRPr>
            </a:p>
          </p:txBody>
        </p:sp>
        <p:sp>
          <p:nvSpPr>
            <p:cNvPr id="85" name="矩形 84"/>
            <p:cNvSpPr/>
            <p:nvPr/>
          </p:nvSpPr>
          <p:spPr>
            <a:xfrm>
              <a:off x="8350117" y="5929356"/>
              <a:ext cx="377357" cy="405084"/>
            </a:xfrm>
            <a:prstGeom prst="rect">
              <a:avLst/>
            </a:prstGeom>
          </p:spPr>
          <p:txBody>
            <a:bodyPr wrap="none">
              <a:spAutoFit/>
            </a:bodyPr>
            <a:lstStyle/>
            <a:p>
              <a:r>
                <a:rPr lang="en-US" altLang="zh-CN" sz="1895" dirty="0">
                  <a:latin typeface="Segoe UI Black" panose="020B0A02040204020203" pitchFamily="34" charset="0"/>
                  <a:ea typeface="Segoe UI Black" panose="020B0A02040204020203" pitchFamily="34" charset="0"/>
                  <a:cs typeface="Segoe UI Black" panose="020B0A02040204020203" pitchFamily="34" charset="0"/>
                </a:rPr>
                <a:t>+</a:t>
              </a:r>
              <a:endParaRPr lang="zh-CN" altLang="en-US" sz="1895" dirty="0">
                <a:latin typeface="Segoe UI Black" panose="020B0A02040204020203" pitchFamily="34" charset="0"/>
                <a:cs typeface="Segoe UI Black" panose="020B0A02040204020203" pitchFamily="34" charset="0"/>
              </a:endParaRPr>
            </a:p>
          </p:txBody>
        </p:sp>
        <p:sp>
          <p:nvSpPr>
            <p:cNvPr id="86" name="流程图: 手动输入 146"/>
            <p:cNvSpPr/>
            <p:nvPr/>
          </p:nvSpPr>
          <p:spPr>
            <a:xfrm>
              <a:off x="5181935" y="5812705"/>
              <a:ext cx="1223105" cy="30849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9483 h 17483"/>
                <a:gd name="connsiteX1-3" fmla="*/ 10000 w 10000"/>
                <a:gd name="connsiteY1-4" fmla="*/ 0 h 17483"/>
                <a:gd name="connsiteX2-5" fmla="*/ 10000 w 10000"/>
                <a:gd name="connsiteY2-6" fmla="*/ 17483 h 17483"/>
                <a:gd name="connsiteX3-7" fmla="*/ 0 w 10000"/>
                <a:gd name="connsiteY3-8" fmla="*/ 17483 h 17483"/>
                <a:gd name="connsiteX4-9" fmla="*/ 0 w 10000"/>
                <a:gd name="connsiteY4-10" fmla="*/ 9483 h 17483"/>
                <a:gd name="connsiteX0-11" fmla="*/ 0 w 10000"/>
                <a:gd name="connsiteY0-12" fmla="*/ 5355 h 13355"/>
                <a:gd name="connsiteX1-13" fmla="*/ 10000 w 10000"/>
                <a:gd name="connsiteY1-14" fmla="*/ 0 h 13355"/>
                <a:gd name="connsiteX2-15" fmla="*/ 10000 w 10000"/>
                <a:gd name="connsiteY2-16" fmla="*/ 13355 h 13355"/>
                <a:gd name="connsiteX3-17" fmla="*/ 0 w 10000"/>
                <a:gd name="connsiteY3-18" fmla="*/ 13355 h 13355"/>
                <a:gd name="connsiteX4-19" fmla="*/ 0 w 10000"/>
                <a:gd name="connsiteY4-20" fmla="*/ 5355 h 133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3355">
                  <a:moveTo>
                    <a:pt x="0" y="5355"/>
                  </a:moveTo>
                  <a:lnTo>
                    <a:pt x="10000" y="0"/>
                  </a:lnTo>
                  <a:lnTo>
                    <a:pt x="10000" y="13355"/>
                  </a:lnTo>
                  <a:lnTo>
                    <a:pt x="0" y="13355"/>
                  </a:lnTo>
                  <a:lnTo>
                    <a:pt x="0" y="5355"/>
                  </a:lnTo>
                  <a:close/>
                </a:path>
              </a:pathLst>
            </a:cu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87" name="矩形 86"/>
            <p:cNvSpPr/>
            <p:nvPr/>
          </p:nvSpPr>
          <p:spPr>
            <a:xfrm>
              <a:off x="933293" y="6724905"/>
              <a:ext cx="1298771" cy="312774"/>
            </a:xfrm>
            <a:prstGeom prst="rect">
              <a:avLst/>
            </a:prstGeom>
          </p:spPr>
          <p:txBody>
            <a:bodyPr wrap="none">
              <a:spAutoFit/>
            </a:bodyPr>
            <a:lstStyle/>
            <a:p>
              <a:r>
                <a:rPr lang="en-US" altLang="zh-CN" sz="1325" dirty="0" err="1">
                  <a:latin typeface="Times New Roman" panose="02020603050405020304" pitchFamily="18" charset="0"/>
                  <a:cs typeface="Times New Roman" panose="02020603050405020304" pitchFamily="18" charset="0"/>
                </a:rPr>
                <a:t>BranchAddress</a:t>
              </a:r>
              <a:endParaRPr lang="zh-CN" altLang="en-US" sz="1325" dirty="0">
                <a:latin typeface="Times New Roman" panose="02020603050405020304" pitchFamily="18" charset="0"/>
                <a:cs typeface="Times New Roman" panose="02020603050405020304" pitchFamily="18" charset="0"/>
              </a:endParaRPr>
            </a:p>
          </p:txBody>
        </p:sp>
        <p:cxnSp>
          <p:nvCxnSpPr>
            <p:cNvPr id="88" name="直接连接符 87"/>
            <p:cNvCxnSpPr/>
            <p:nvPr/>
          </p:nvCxnSpPr>
          <p:spPr>
            <a:xfrm>
              <a:off x="4038682" y="2883186"/>
              <a:ext cx="0" cy="3163131"/>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9" name="任意多边形: 形状 256"/>
            <p:cNvSpPr/>
            <p:nvPr/>
          </p:nvSpPr>
          <p:spPr>
            <a:xfrm flipV="1">
              <a:off x="11547755" y="4010500"/>
              <a:ext cx="225121" cy="153946"/>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90" name="直接连接符 89"/>
            <p:cNvCxnSpPr>
              <a:stCxn id="89" idx="0"/>
            </p:cNvCxnSpPr>
            <p:nvPr/>
          </p:nvCxnSpPr>
          <p:spPr>
            <a:xfrm>
              <a:off x="11772876" y="4164446"/>
              <a:ext cx="8580" cy="2795238"/>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4053450" y="4762613"/>
              <a:ext cx="604191"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直接连接符 91"/>
            <p:cNvCxnSpPr/>
            <p:nvPr/>
          </p:nvCxnSpPr>
          <p:spPr>
            <a:xfrm>
              <a:off x="4391673" y="4518933"/>
              <a:ext cx="25835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直接连接符 92"/>
            <p:cNvCxnSpPr/>
            <p:nvPr/>
          </p:nvCxnSpPr>
          <p:spPr>
            <a:xfrm>
              <a:off x="4391673" y="4289705"/>
              <a:ext cx="0" cy="22550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直接连接符 93"/>
            <p:cNvCxnSpPr/>
            <p:nvPr/>
          </p:nvCxnSpPr>
          <p:spPr>
            <a:xfrm>
              <a:off x="4038682" y="2883186"/>
              <a:ext cx="53059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直接连接符 94"/>
            <p:cNvCxnSpPr/>
            <p:nvPr/>
          </p:nvCxnSpPr>
          <p:spPr>
            <a:xfrm>
              <a:off x="4046972" y="6046317"/>
              <a:ext cx="111098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直接连接符 95"/>
            <p:cNvCxnSpPr/>
            <p:nvPr/>
          </p:nvCxnSpPr>
          <p:spPr>
            <a:xfrm>
              <a:off x="4391673" y="5021016"/>
              <a:ext cx="0" cy="1938668"/>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直接连接符 96"/>
            <p:cNvCxnSpPr/>
            <p:nvPr/>
          </p:nvCxnSpPr>
          <p:spPr>
            <a:xfrm>
              <a:off x="4391673" y="6959684"/>
              <a:ext cx="737914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直接连接符 97"/>
            <p:cNvCxnSpPr/>
            <p:nvPr/>
          </p:nvCxnSpPr>
          <p:spPr>
            <a:xfrm>
              <a:off x="9492790" y="3487778"/>
              <a:ext cx="134885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直接连接符 98"/>
            <p:cNvCxnSpPr/>
            <p:nvPr/>
          </p:nvCxnSpPr>
          <p:spPr>
            <a:xfrm>
              <a:off x="9492790" y="3487778"/>
              <a:ext cx="0" cy="787747"/>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直接连接符 99"/>
            <p:cNvCxnSpPr/>
            <p:nvPr/>
          </p:nvCxnSpPr>
          <p:spPr>
            <a:xfrm>
              <a:off x="10841646" y="3487778"/>
              <a:ext cx="0" cy="501353"/>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直接连接符 100"/>
            <p:cNvCxnSpPr/>
            <p:nvPr/>
          </p:nvCxnSpPr>
          <p:spPr>
            <a:xfrm>
              <a:off x="10848976" y="3998474"/>
              <a:ext cx="472269"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直接连接符 101"/>
            <p:cNvCxnSpPr/>
            <p:nvPr/>
          </p:nvCxnSpPr>
          <p:spPr>
            <a:xfrm>
              <a:off x="6814452" y="4910747"/>
              <a:ext cx="2914605"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直接连接符 102"/>
            <p:cNvCxnSpPr/>
            <p:nvPr/>
          </p:nvCxnSpPr>
          <p:spPr>
            <a:xfrm>
              <a:off x="6814452" y="4426978"/>
              <a:ext cx="0" cy="483769"/>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直接连接符 103"/>
            <p:cNvCxnSpPr/>
            <p:nvPr/>
          </p:nvCxnSpPr>
          <p:spPr>
            <a:xfrm>
              <a:off x="7088792" y="4711487"/>
              <a:ext cx="0" cy="1237624"/>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直接连接符 104"/>
            <p:cNvCxnSpPr/>
            <p:nvPr/>
          </p:nvCxnSpPr>
          <p:spPr>
            <a:xfrm>
              <a:off x="7108189" y="4711893"/>
              <a:ext cx="285305"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直接连接符 105"/>
            <p:cNvCxnSpPr/>
            <p:nvPr/>
          </p:nvCxnSpPr>
          <p:spPr>
            <a:xfrm>
              <a:off x="6429375" y="5966951"/>
              <a:ext cx="975092"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直接连接符 106"/>
            <p:cNvCxnSpPr/>
            <p:nvPr/>
          </p:nvCxnSpPr>
          <p:spPr>
            <a:xfrm>
              <a:off x="4060306" y="3143260"/>
              <a:ext cx="522726"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08" name="矩形 107"/>
            <p:cNvSpPr/>
            <p:nvPr/>
          </p:nvSpPr>
          <p:spPr>
            <a:xfrm>
              <a:off x="3984471" y="2661978"/>
              <a:ext cx="517683" cy="266652"/>
            </a:xfrm>
            <a:prstGeom prst="rect">
              <a:avLst/>
            </a:prstGeom>
          </p:spPr>
          <p:txBody>
            <a:bodyPr wrap="none">
              <a:spAutoFit/>
            </a:bodyPr>
            <a:lstStyle/>
            <a:p>
              <a:r>
                <a:rPr lang="en-US" altLang="zh-CN" sz="1045" dirty="0">
                  <a:latin typeface="Times New Roman" panose="02020603050405020304" pitchFamily="18" charset="0"/>
                  <a:cs typeface="Times New Roman" panose="02020603050405020304" pitchFamily="18" charset="0"/>
                </a:rPr>
                <a:t>31:26</a:t>
              </a:r>
              <a:endParaRPr lang="zh-CN" altLang="en-US" sz="1045" dirty="0">
                <a:latin typeface="Times New Roman" panose="02020603050405020304" pitchFamily="18" charset="0"/>
                <a:cs typeface="Times New Roman" panose="02020603050405020304" pitchFamily="18" charset="0"/>
              </a:endParaRPr>
            </a:p>
          </p:txBody>
        </p:sp>
        <p:sp>
          <p:nvSpPr>
            <p:cNvPr id="109" name="等腰三角形 108"/>
            <p:cNvSpPr/>
            <p:nvPr/>
          </p:nvSpPr>
          <p:spPr>
            <a:xfrm>
              <a:off x="2010894" y="4092249"/>
              <a:ext cx="217225" cy="122111"/>
            </a:xfrm>
            <a:prstGeom prst="triangle">
              <a:avLst/>
            </a:prstGeom>
            <a:solidFill>
              <a:srgbClr val="59B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nvGrpSpPr>
            <p:cNvPr id="110" name="组合 109"/>
            <p:cNvGrpSpPr/>
            <p:nvPr/>
          </p:nvGrpSpPr>
          <p:grpSpPr>
            <a:xfrm>
              <a:off x="5532327" y="5118027"/>
              <a:ext cx="534589" cy="487432"/>
              <a:chOff x="1853728" y="4285666"/>
              <a:chExt cx="534589" cy="487432"/>
            </a:xfrm>
            <a:solidFill>
              <a:srgbClr val="FFCCFF"/>
            </a:solidFill>
          </p:grpSpPr>
          <p:cxnSp>
            <p:nvCxnSpPr>
              <p:cNvPr id="146" name="直接连接符 145"/>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7" name="矩形 146"/>
              <p:cNvSpPr/>
              <p:nvPr/>
            </p:nvSpPr>
            <p:spPr>
              <a:xfrm>
                <a:off x="1853728" y="4460324"/>
                <a:ext cx="534589" cy="312774"/>
              </a:xfrm>
              <a:prstGeom prst="rect">
                <a:avLst/>
              </a:prstGeom>
              <a:noFill/>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sp>
            <p:nvSpPr>
              <p:cNvPr id="148" name="等腰三角形 147"/>
              <p:cNvSpPr/>
              <p:nvPr/>
            </p:nvSpPr>
            <p:spPr>
              <a:xfrm>
                <a:off x="1994241" y="4285666"/>
                <a:ext cx="217225" cy="122111"/>
              </a:xfrm>
              <a:prstGeom prs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grpSp>
          <p:nvGrpSpPr>
            <p:cNvPr id="111" name="组合 110"/>
            <p:cNvGrpSpPr/>
            <p:nvPr/>
          </p:nvGrpSpPr>
          <p:grpSpPr>
            <a:xfrm>
              <a:off x="9904273" y="5003415"/>
              <a:ext cx="534589" cy="487432"/>
              <a:chOff x="1853728" y="4285666"/>
              <a:chExt cx="534589" cy="487432"/>
            </a:xfrm>
            <a:solidFill>
              <a:srgbClr val="00B050"/>
            </a:solidFill>
          </p:grpSpPr>
          <p:cxnSp>
            <p:nvCxnSpPr>
              <p:cNvPr id="143" name="直接连接符 142"/>
              <p:cNvCxnSpPr/>
              <p:nvPr/>
            </p:nvCxnSpPr>
            <p:spPr>
              <a:xfrm flipV="1">
                <a:off x="2102853" y="4412951"/>
                <a:ext cx="0" cy="100857"/>
              </a:xfrm>
              <a:prstGeom prst="line">
                <a:avLst/>
              </a:prstGeom>
              <a:grpFill/>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4" name="矩形 143"/>
              <p:cNvSpPr/>
              <p:nvPr/>
            </p:nvSpPr>
            <p:spPr>
              <a:xfrm>
                <a:off x="1853728" y="4460324"/>
                <a:ext cx="534589" cy="312774"/>
              </a:xfrm>
              <a:prstGeom prst="rect">
                <a:avLst/>
              </a:prstGeom>
              <a:noFill/>
            </p:spPr>
            <p:txBody>
              <a:bodyPr wrap="none">
                <a:spAutoFit/>
              </a:bodyPr>
              <a:lstStyle/>
              <a:p>
                <a:r>
                  <a:rPr lang="en-US" altLang="zh-CN" sz="1325" i="1" dirty="0">
                    <a:solidFill>
                      <a:srgbClr val="C00000"/>
                    </a:solidFill>
                    <a:latin typeface="Times New Roman" panose="02020603050405020304" pitchFamily="18" charset="0"/>
                    <a:cs typeface="Times New Roman" panose="02020603050405020304" pitchFamily="18" charset="0"/>
                  </a:rPr>
                  <a:t>CLK</a:t>
                </a:r>
                <a:endParaRPr lang="zh-CN" altLang="en-US" sz="1325" i="1" dirty="0">
                  <a:solidFill>
                    <a:srgbClr val="C00000"/>
                  </a:solidFill>
                  <a:latin typeface="Times New Roman" panose="02020603050405020304" pitchFamily="18" charset="0"/>
                  <a:cs typeface="Times New Roman" panose="02020603050405020304" pitchFamily="18" charset="0"/>
                </a:endParaRPr>
              </a:p>
            </p:txBody>
          </p:sp>
          <p:sp>
            <p:nvSpPr>
              <p:cNvPr id="145" name="等腰三角形 144"/>
              <p:cNvSpPr/>
              <p:nvPr/>
            </p:nvSpPr>
            <p:spPr>
              <a:xfrm>
                <a:off x="1994241" y="4285666"/>
                <a:ext cx="217225" cy="122111"/>
              </a:xfrm>
              <a:prstGeom prst="triangle">
                <a:avLst/>
              </a:prstGeom>
              <a:solidFill>
                <a:srgbClr val="79F5F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grpSp>
        <p:cxnSp>
          <p:nvCxnSpPr>
            <p:cNvPr id="112" name="直接连接符 111"/>
            <p:cNvCxnSpPr/>
            <p:nvPr/>
          </p:nvCxnSpPr>
          <p:spPr>
            <a:xfrm>
              <a:off x="3493075" y="4009114"/>
              <a:ext cx="545607"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3" name="直接连接符 112"/>
            <p:cNvCxnSpPr/>
            <p:nvPr/>
          </p:nvCxnSpPr>
          <p:spPr>
            <a:xfrm>
              <a:off x="1269836" y="3840798"/>
              <a:ext cx="0" cy="2602203"/>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1269836" y="6443001"/>
              <a:ext cx="6894158"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直接连接符 114"/>
            <p:cNvCxnSpPr/>
            <p:nvPr/>
          </p:nvCxnSpPr>
          <p:spPr>
            <a:xfrm>
              <a:off x="8941392" y="6150115"/>
              <a:ext cx="0" cy="549253"/>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985166" y="6699368"/>
              <a:ext cx="792812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直接连接符 116"/>
            <p:cNvCxnSpPr/>
            <p:nvPr/>
          </p:nvCxnSpPr>
          <p:spPr>
            <a:xfrm>
              <a:off x="981804" y="4128910"/>
              <a:ext cx="0" cy="2570458"/>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981804" y="4128910"/>
              <a:ext cx="50069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直接连接符 118"/>
            <p:cNvCxnSpPr/>
            <p:nvPr/>
          </p:nvCxnSpPr>
          <p:spPr>
            <a:xfrm>
              <a:off x="1269836" y="3840798"/>
              <a:ext cx="216024"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直接连接符 119"/>
            <p:cNvCxnSpPr/>
            <p:nvPr/>
          </p:nvCxnSpPr>
          <p:spPr>
            <a:xfrm>
              <a:off x="8631603" y="6150115"/>
              <a:ext cx="309789"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2407598" y="4010421"/>
              <a:ext cx="0" cy="1464731"/>
            </a:xfrm>
            <a:prstGeom prst="line">
              <a:avLst/>
            </a:prstGeom>
            <a:ln w="28575" cap="sq">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2407598" y="5475152"/>
              <a:ext cx="357860" cy="0"/>
            </a:xfrm>
            <a:prstGeom prst="line">
              <a:avLst/>
            </a:prstGeom>
            <a:noFill/>
            <a:ln w="28575" cap="sq">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123" name="组合 122"/>
            <p:cNvGrpSpPr/>
            <p:nvPr/>
          </p:nvGrpSpPr>
          <p:grpSpPr>
            <a:xfrm>
              <a:off x="5099722" y="2927507"/>
              <a:ext cx="2431294" cy="1389682"/>
              <a:chOff x="5039741" y="3208161"/>
              <a:chExt cx="597546" cy="457491"/>
            </a:xfrm>
          </p:grpSpPr>
          <p:cxnSp>
            <p:nvCxnSpPr>
              <p:cNvPr id="141" name="直接连接符 140"/>
              <p:cNvCxnSpPr/>
              <p:nvPr/>
            </p:nvCxnSpPr>
            <p:spPr>
              <a:xfrm>
                <a:off x="5637287" y="3208161"/>
                <a:ext cx="0" cy="457491"/>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2" name="直接连接符 141"/>
              <p:cNvCxnSpPr/>
              <p:nvPr/>
            </p:nvCxnSpPr>
            <p:spPr>
              <a:xfrm>
                <a:off x="5039741" y="3208161"/>
                <a:ext cx="597546"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124" name="直接连接符 123"/>
            <p:cNvCxnSpPr/>
            <p:nvPr/>
          </p:nvCxnSpPr>
          <p:spPr>
            <a:xfrm>
              <a:off x="9005029" y="2577253"/>
              <a:ext cx="0" cy="1449124"/>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直接连接符 124"/>
            <p:cNvCxnSpPr/>
            <p:nvPr/>
          </p:nvCxnSpPr>
          <p:spPr>
            <a:xfrm>
              <a:off x="8546056" y="4038014"/>
              <a:ext cx="458973" cy="0"/>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直接连接符 125"/>
            <p:cNvCxnSpPr/>
            <p:nvPr/>
          </p:nvCxnSpPr>
          <p:spPr>
            <a:xfrm>
              <a:off x="9005029" y="2577253"/>
              <a:ext cx="200312" cy="0"/>
            </a:xfrm>
            <a:prstGeom prst="line">
              <a:avLst/>
            </a:prstGeom>
            <a:noFill/>
            <a:ln w="19050" cap="sq">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27" name="流程图: 延期 126"/>
            <p:cNvSpPr/>
            <p:nvPr/>
          </p:nvSpPr>
          <p:spPr>
            <a:xfrm>
              <a:off x="9220461" y="2408903"/>
              <a:ext cx="281920" cy="228390"/>
            </a:xfrm>
            <a:prstGeom prst="flowChartDelay">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cxnSp>
          <p:nvCxnSpPr>
            <p:cNvPr id="128" name="直接连接符 127"/>
            <p:cNvCxnSpPr/>
            <p:nvPr/>
          </p:nvCxnSpPr>
          <p:spPr>
            <a:xfrm>
              <a:off x="9502935" y="2523098"/>
              <a:ext cx="279279"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直接连接符 128"/>
            <p:cNvCxnSpPr/>
            <p:nvPr/>
          </p:nvCxnSpPr>
          <p:spPr>
            <a:xfrm>
              <a:off x="9782214" y="1767866"/>
              <a:ext cx="0" cy="755232"/>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直接连接符 129"/>
            <p:cNvCxnSpPr/>
            <p:nvPr/>
          </p:nvCxnSpPr>
          <p:spPr>
            <a:xfrm>
              <a:off x="1617606" y="1767866"/>
              <a:ext cx="8164608" cy="0"/>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直接连接符 130"/>
            <p:cNvCxnSpPr/>
            <p:nvPr/>
          </p:nvCxnSpPr>
          <p:spPr>
            <a:xfrm>
              <a:off x="1603713" y="1767866"/>
              <a:ext cx="0" cy="1985274"/>
            </a:xfrm>
            <a:prstGeom prst="line">
              <a:avLst/>
            </a:prstGeom>
            <a:noFill/>
            <a:ln w="19050" cap="sq">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sp>
          <p:nvSpPr>
            <p:cNvPr id="132" name="矩形 131"/>
            <p:cNvSpPr/>
            <p:nvPr/>
          </p:nvSpPr>
          <p:spPr>
            <a:xfrm>
              <a:off x="697004" y="3693304"/>
              <a:ext cx="605597" cy="312774"/>
            </a:xfrm>
            <a:prstGeom prst="rect">
              <a:avLst/>
            </a:prstGeom>
          </p:spPr>
          <p:txBody>
            <a:bodyPr wrap="none">
              <a:spAutoFit/>
            </a:bodyPr>
            <a:lstStyle/>
            <a:p>
              <a:r>
                <a:rPr lang="en-US" altLang="zh-CN" sz="1325" dirty="0">
                  <a:latin typeface="Times New Roman" panose="02020603050405020304" pitchFamily="18" charset="0"/>
                  <a:cs typeface="Times New Roman" panose="02020603050405020304" pitchFamily="18" charset="0"/>
                </a:rPr>
                <a:t>PC+4</a:t>
              </a:r>
              <a:endParaRPr lang="zh-CN" altLang="en-US" sz="1325" baseline="-25000" dirty="0">
                <a:latin typeface="Times New Roman" panose="02020603050405020304" pitchFamily="18" charset="0"/>
                <a:cs typeface="Times New Roman" panose="02020603050405020304" pitchFamily="18" charset="0"/>
              </a:endParaRPr>
            </a:p>
          </p:txBody>
        </p:sp>
        <p:grpSp>
          <p:nvGrpSpPr>
            <p:cNvPr id="133" name="组合 132"/>
            <p:cNvGrpSpPr/>
            <p:nvPr/>
          </p:nvGrpSpPr>
          <p:grpSpPr>
            <a:xfrm>
              <a:off x="4418820" y="1847647"/>
              <a:ext cx="655071" cy="1459212"/>
              <a:chOff x="4249767" y="1888664"/>
              <a:chExt cx="655071" cy="1459212"/>
            </a:xfrm>
          </p:grpSpPr>
          <p:sp>
            <p:nvSpPr>
              <p:cNvPr id="137" name="矩形: 圆角 196"/>
              <p:cNvSpPr/>
              <p:nvPr/>
            </p:nvSpPr>
            <p:spPr>
              <a:xfrm>
                <a:off x="4269135" y="1888664"/>
                <a:ext cx="635703" cy="1459212"/>
              </a:xfrm>
              <a:prstGeom prst="roundRect">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solidFill>
                    <a:schemeClr val="bg1"/>
                  </a:solidFill>
                </a:endParaRPr>
              </a:p>
            </p:txBody>
          </p:sp>
          <p:sp>
            <p:nvSpPr>
              <p:cNvPr id="138" name="矩形 137"/>
              <p:cNvSpPr/>
              <p:nvPr/>
            </p:nvSpPr>
            <p:spPr>
              <a:xfrm>
                <a:off x="4389953" y="1996880"/>
                <a:ext cx="399337" cy="836070"/>
              </a:xfrm>
              <a:prstGeom prst="rect">
                <a:avLst/>
              </a:prstGeom>
            </p:spPr>
            <p:txBody>
              <a:bodyPr wrap="none">
                <a:spAutoFit/>
              </a:bodyPr>
              <a:lstStyle/>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控</a:t>
                </a:r>
                <a:endParaRPr lang="en-US" altLang="zh-CN"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制</a:t>
                </a:r>
                <a:endParaRPr lang="en-US" altLang="zh-CN"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器</a:t>
                </a:r>
                <a:endParaRPr lang="zh-CN" altLang="en-US" sz="1515"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9" name="矩形 138"/>
              <p:cNvSpPr/>
              <p:nvPr/>
            </p:nvSpPr>
            <p:spPr>
              <a:xfrm>
                <a:off x="4249767" y="3005005"/>
                <a:ext cx="553187" cy="312774"/>
              </a:xfrm>
              <a:prstGeom prst="rect">
                <a:avLst/>
              </a:prstGeom>
            </p:spPr>
            <p:txBody>
              <a:bodyPr wrap="none">
                <a:spAutoFit/>
              </a:bodyPr>
              <a:lstStyle/>
              <a:p>
                <a:r>
                  <a:rPr lang="en-US" altLang="zh-CN" sz="1325" dirty="0" err="1">
                    <a:solidFill>
                      <a:schemeClr val="bg1"/>
                    </a:solidFill>
                    <a:latin typeface="Times New Roman" panose="02020603050405020304" pitchFamily="18" charset="0"/>
                    <a:cs typeface="Times New Roman" panose="02020603050405020304" pitchFamily="18" charset="0"/>
                  </a:rPr>
                  <a:t>Func</a:t>
                </a:r>
                <a:endParaRPr lang="zh-CN" altLang="en-US" sz="1325" dirty="0">
                  <a:solidFill>
                    <a:schemeClr val="bg1"/>
                  </a:solidFill>
                  <a:latin typeface="Times New Roman" panose="02020603050405020304" pitchFamily="18" charset="0"/>
                  <a:cs typeface="Times New Roman" panose="02020603050405020304" pitchFamily="18" charset="0"/>
                </a:endParaRPr>
              </a:p>
            </p:txBody>
          </p:sp>
          <p:sp>
            <p:nvSpPr>
              <p:cNvPr id="140" name="矩形 139"/>
              <p:cNvSpPr/>
              <p:nvPr/>
            </p:nvSpPr>
            <p:spPr>
              <a:xfrm>
                <a:off x="4262342" y="2770315"/>
                <a:ext cx="414551" cy="312774"/>
              </a:xfrm>
              <a:prstGeom prst="rect">
                <a:avLst/>
              </a:prstGeom>
            </p:spPr>
            <p:txBody>
              <a:bodyPr wrap="none">
                <a:spAutoFit/>
              </a:bodyPr>
              <a:lstStyle/>
              <a:p>
                <a:r>
                  <a:rPr lang="en-US" altLang="zh-CN" sz="1325" dirty="0">
                    <a:solidFill>
                      <a:schemeClr val="bg1"/>
                    </a:solidFill>
                    <a:latin typeface="Times New Roman" panose="02020603050405020304" pitchFamily="18" charset="0"/>
                    <a:cs typeface="Times New Roman" panose="02020603050405020304" pitchFamily="18" charset="0"/>
                  </a:rPr>
                  <a:t>Op</a:t>
                </a:r>
                <a:endParaRPr lang="zh-CN" altLang="en-US" sz="1325" dirty="0">
                  <a:solidFill>
                    <a:schemeClr val="bg1"/>
                  </a:solidFill>
                  <a:latin typeface="Times New Roman" panose="02020603050405020304" pitchFamily="18" charset="0"/>
                  <a:cs typeface="Times New Roman" panose="02020603050405020304" pitchFamily="18" charset="0"/>
                </a:endParaRPr>
              </a:p>
            </p:txBody>
          </p:sp>
        </p:grpSp>
        <p:sp>
          <p:nvSpPr>
            <p:cNvPr id="134" name="矩形 133"/>
            <p:cNvSpPr/>
            <p:nvPr/>
          </p:nvSpPr>
          <p:spPr>
            <a:xfrm>
              <a:off x="4339315" y="3700545"/>
              <a:ext cx="358760"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rs</a:t>
              </a:r>
              <a:endParaRPr lang="zh-CN" altLang="en-US" sz="1325" dirty="0">
                <a:latin typeface="Segoe UI Black" panose="020B0A02040204020203" pitchFamily="34" charset="0"/>
                <a:cs typeface="Segoe UI Black" panose="020B0A02040204020203" pitchFamily="34" charset="0"/>
              </a:endParaRPr>
            </a:p>
          </p:txBody>
        </p:sp>
        <p:sp>
          <p:nvSpPr>
            <p:cNvPr id="135" name="矩形 134"/>
            <p:cNvSpPr/>
            <p:nvPr/>
          </p:nvSpPr>
          <p:spPr>
            <a:xfrm>
              <a:off x="4346940" y="3982725"/>
              <a:ext cx="346925"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rt</a:t>
              </a:r>
              <a:endParaRPr lang="zh-CN" altLang="en-US" sz="1515" dirty="0">
                <a:latin typeface="Segoe UI Black" panose="020B0A02040204020203" pitchFamily="34" charset="0"/>
                <a:cs typeface="Segoe UI Black" panose="020B0A02040204020203" pitchFamily="34" charset="0"/>
              </a:endParaRPr>
            </a:p>
          </p:txBody>
        </p:sp>
        <p:sp>
          <p:nvSpPr>
            <p:cNvPr id="136" name="矩形 135"/>
            <p:cNvSpPr/>
            <p:nvPr/>
          </p:nvSpPr>
          <p:spPr>
            <a:xfrm>
              <a:off x="4331006" y="4502526"/>
              <a:ext cx="387501" cy="312774"/>
            </a:xfrm>
            <a:prstGeom prst="rect">
              <a:avLst/>
            </a:prstGeom>
          </p:spPr>
          <p:txBody>
            <a:bodyPr wrap="none">
              <a:spAutoFit/>
            </a:bodyPr>
            <a:lstStyle/>
            <a:p>
              <a:r>
                <a:rPr lang="en-US" altLang="zh-CN" sz="1325" dirty="0" err="1">
                  <a:latin typeface="Segoe UI Black" panose="020B0A02040204020203" pitchFamily="34" charset="0"/>
                  <a:ea typeface="Segoe UI Black" panose="020B0A02040204020203" pitchFamily="34" charset="0"/>
                  <a:cs typeface="Segoe UI Black" panose="020B0A02040204020203" pitchFamily="34" charset="0"/>
                </a:rPr>
                <a:t>rd</a:t>
              </a:r>
              <a:endParaRPr lang="zh-CN" altLang="en-US" sz="1325" dirty="0">
                <a:latin typeface="Segoe UI Black" panose="020B0A02040204020203" pitchFamily="34" charset="0"/>
                <a:cs typeface="Segoe UI Black" panose="020B0A02040204020203" pitchFamily="34" charset="0"/>
              </a:endParaRPr>
            </a:p>
          </p:txBody>
        </p:sp>
      </p:grpSp>
      <p:sp>
        <p:nvSpPr>
          <p:cNvPr id="3" name="椭圆 2"/>
          <p:cNvSpPr/>
          <p:nvPr/>
        </p:nvSpPr>
        <p:spPr>
          <a:xfrm>
            <a:off x="1851660" y="4393565"/>
            <a:ext cx="1951355" cy="1551940"/>
          </a:xfrm>
          <a:prstGeom prst="ellipse">
            <a:avLst/>
          </a:prstGeom>
          <a:noFill/>
          <a:ln w="412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椭圆 3"/>
          <p:cNvSpPr/>
          <p:nvPr/>
        </p:nvSpPr>
        <p:spPr>
          <a:xfrm>
            <a:off x="2285365" y="2700020"/>
            <a:ext cx="1227455" cy="1925955"/>
          </a:xfrm>
          <a:prstGeom prst="ellipse">
            <a:avLst/>
          </a:prstGeom>
          <a:noFill/>
          <a:ln w="412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椭圆 4"/>
          <p:cNvSpPr/>
          <p:nvPr/>
        </p:nvSpPr>
        <p:spPr>
          <a:xfrm>
            <a:off x="7506335" y="4836160"/>
            <a:ext cx="1227455" cy="1551940"/>
          </a:xfrm>
          <a:prstGeom prst="ellipse">
            <a:avLst/>
          </a:prstGeom>
          <a:noFill/>
          <a:ln w="412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32200">
        <p15:prstTrans prst="pageCurlDouble"/>
      </p:transition>
    </mc:Choice>
    <mc:Fallback>
      <p:transition spd="slow" advClick="0" advTm="322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构建指令状态变换图</a:t>
            </a:r>
            <a:endParaRPr lang="zh-CN" altLang="en-US" dirty="0"/>
          </a:p>
        </p:txBody>
      </p:sp>
      <p:sp>
        <p:nvSpPr>
          <p:cNvPr id="4" name="内容占位符 2"/>
          <p:cNvSpPr txBox="1"/>
          <p:nvPr/>
        </p:nvSpPr>
        <p:spPr>
          <a:xfrm>
            <a:off x="7924800" y="4976495"/>
            <a:ext cx="4267200" cy="1810385"/>
          </a:xfrm>
          <a:prstGeom prst="rect">
            <a:avLst/>
          </a:prstGeom>
        </p:spPr>
        <p:txBody>
          <a:bodyPr vert="horz" lIns="91440" tIns="45720" rIns="91440" bIns="45720" rtlCol="0">
            <a:normAutofit fontScale="70000"/>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rgbClr val="C00000"/>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FF0000"/>
                </a:solidFill>
                <a:effectLst>
                  <a:outerShdw blurRad="38100" dist="25400" dir="5400000" algn="ctr" rotWithShape="0">
                    <a:srgbClr val="6E747A">
                      <a:alpha val="43000"/>
                    </a:srgbClr>
                  </a:outerShdw>
                </a:effectLst>
                <a:sym typeface="+mn-ea"/>
              </a:rPr>
              <a:t>S0 ALU</a:t>
            </a:r>
            <a:r>
              <a:rPr lang="zh-CN" altLang="en-US">
                <a:solidFill>
                  <a:srgbClr val="FF0000"/>
                </a:solidFill>
                <a:effectLst>
                  <a:outerShdw blurRad="38100" dist="25400" dir="5400000" algn="ctr" rotWithShape="0">
                    <a:srgbClr val="6E747A">
                      <a:alpha val="43000"/>
                    </a:srgbClr>
                  </a:outerShdw>
                </a:effectLst>
                <a:sym typeface="+mn-ea"/>
              </a:rPr>
              <a:t>完成</a:t>
            </a:r>
            <a:r>
              <a:rPr lang="en-US" altLang="zh-CN">
                <a:solidFill>
                  <a:srgbClr val="FF0000"/>
                </a:solidFill>
                <a:effectLst>
                  <a:outerShdw blurRad="38100" dist="25400" dir="5400000" algn="ctr" rotWithShape="0">
                    <a:srgbClr val="6E747A">
                      <a:alpha val="43000"/>
                    </a:srgbClr>
                  </a:outerShdw>
                </a:effectLst>
                <a:sym typeface="+mn-ea"/>
              </a:rPr>
              <a:t>PC+4;</a:t>
            </a:r>
            <a:endParaRPr lang="en-US" altLang="zh-CN">
              <a:solidFill>
                <a:srgbClr val="FF0000"/>
              </a:solidFill>
              <a:effectLst>
                <a:outerShdw blurRad="38100" dist="25400" dir="5400000" algn="ctr" rotWithShape="0">
                  <a:srgbClr val="6E747A">
                    <a:alpha val="43000"/>
                  </a:srgbClr>
                </a:outerShdw>
              </a:effectLst>
              <a:sym typeface="+mn-ea"/>
            </a:endParaRPr>
          </a:p>
          <a:p>
            <a:r>
              <a:rPr lang="en-US" altLang="zh-CN">
                <a:solidFill>
                  <a:srgbClr val="FF0000"/>
                </a:solidFill>
                <a:effectLst>
                  <a:outerShdw blurRad="38100" dist="25400" dir="5400000" algn="ctr" rotWithShape="0">
                    <a:srgbClr val="6E747A">
                      <a:alpha val="43000"/>
                    </a:srgbClr>
                  </a:outerShdw>
                </a:effectLst>
                <a:sym typeface="+mn-ea"/>
              </a:rPr>
              <a:t>S1 ALU</a:t>
            </a:r>
            <a:r>
              <a:rPr lang="zh-CN" altLang="en-US">
                <a:solidFill>
                  <a:srgbClr val="FF0000"/>
                </a:solidFill>
                <a:effectLst>
                  <a:outerShdw blurRad="38100" dist="25400" dir="5400000" algn="ctr" rotWithShape="0">
                    <a:srgbClr val="6E747A">
                      <a:alpha val="43000"/>
                    </a:srgbClr>
                  </a:outerShdw>
                </a:effectLst>
                <a:sym typeface="+mn-ea"/>
              </a:rPr>
              <a:t>完成跳转地址计算</a:t>
            </a:r>
            <a:endParaRPr lang="zh-CN" altLang="en-US">
              <a:solidFill>
                <a:srgbClr val="FF0000"/>
              </a:solidFill>
              <a:effectLst>
                <a:outerShdw blurRad="38100" dist="25400" dir="5400000" algn="ctr" rotWithShape="0">
                  <a:srgbClr val="6E747A">
                    <a:alpha val="43000"/>
                  </a:srgbClr>
                </a:outerShdw>
              </a:effectLst>
              <a:sym typeface="+mn-ea"/>
            </a:endParaRPr>
          </a:p>
          <a:p>
            <a:r>
              <a:rPr lang="zh-CN" altLang="en-US">
                <a:solidFill>
                  <a:srgbClr val="FF0000"/>
                </a:solidFill>
                <a:effectLst>
                  <a:outerShdw blurRad="38100" dist="25400" dir="5400000" algn="ctr" rotWithShape="0">
                    <a:srgbClr val="6E747A">
                      <a:alpha val="43000"/>
                    </a:srgbClr>
                  </a:outerShdw>
                </a:effectLst>
                <a:sym typeface="+mn-ea"/>
              </a:rPr>
              <a:t>节省两个加法器和一个指令存储器</a:t>
            </a:r>
            <a:endParaRPr lang="zh-CN" altLang="en-US">
              <a:solidFill>
                <a:srgbClr val="FF0000"/>
              </a:solidFill>
              <a:effectLst>
                <a:outerShdw blurRad="38100" dist="25400" dir="5400000" algn="ctr" rotWithShape="0">
                  <a:srgbClr val="6E747A">
                    <a:alpha val="43000"/>
                  </a:srgbClr>
                </a:outerShdw>
              </a:effectLst>
              <a:sym typeface="+mn-ea"/>
            </a:endParaRPr>
          </a:p>
          <a:p>
            <a:r>
              <a:rPr lang="en-US" altLang="zh-CN">
                <a:solidFill>
                  <a:srgbClr val="FF0000"/>
                </a:solidFill>
                <a:effectLst>
                  <a:outerShdw blurRad="38100" dist="25400" dir="5400000" algn="ctr" rotWithShape="0">
                    <a:srgbClr val="6E747A">
                      <a:alpha val="43000"/>
                    </a:srgbClr>
                  </a:outerShdw>
                </a:effectLst>
                <a:sym typeface="+mn-ea"/>
              </a:rPr>
              <a:t>S0,S3,S6</a:t>
            </a:r>
            <a:r>
              <a:rPr lang="zh-CN" altLang="en-US">
                <a:solidFill>
                  <a:srgbClr val="FF0000"/>
                </a:solidFill>
                <a:effectLst>
                  <a:outerShdw blurRad="38100" dist="25400" dir="5400000" algn="ctr" rotWithShape="0">
                    <a:srgbClr val="6E747A">
                      <a:alpha val="43000"/>
                    </a:srgbClr>
                  </a:outerShdw>
                </a:effectLst>
                <a:sym typeface="+mn-ea"/>
              </a:rPr>
              <a:t>公用同一个存储器</a:t>
            </a:r>
            <a:endParaRPr lang="zh-CN" altLang="en-US">
              <a:solidFill>
                <a:srgbClr val="FF0000"/>
              </a:solidFill>
              <a:effectLst>
                <a:outerShdw blurRad="38100" dist="25400" dir="5400000" algn="ctr" rotWithShape="0">
                  <a:srgbClr val="6E747A">
                    <a:alpha val="43000"/>
                  </a:srgbClr>
                </a:outerShdw>
              </a:effectLst>
            </a:endParaRPr>
          </a:p>
          <a:p>
            <a:endParaRPr lang="zh-CN" altLang="en-US" dirty="0"/>
          </a:p>
        </p:txBody>
      </p:sp>
      <p:pic>
        <p:nvPicPr>
          <p:cNvPr id="11" name="图片 10"/>
          <p:cNvPicPr>
            <a:picLocks noChangeAspect="1"/>
          </p:cNvPicPr>
          <p:nvPr/>
        </p:nvPicPr>
        <p:blipFill>
          <a:blip r:embed="rId1"/>
          <a:stretch>
            <a:fillRect/>
          </a:stretch>
        </p:blipFill>
        <p:spPr>
          <a:xfrm>
            <a:off x="-889000" y="91440"/>
            <a:ext cx="11060430" cy="6858000"/>
          </a:xfrm>
          <a:prstGeom prst="rect">
            <a:avLst/>
          </a:prstGeom>
        </p:spPr>
      </p:pic>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208340">
        <p15:prstTrans prst="pageCurlDouble"/>
      </p:transition>
    </mc:Choice>
    <mc:Fallback>
      <p:transition spd="slow" advClick="0" advTm="20834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标题 1"/>
          <p:cNvSpPr>
            <a:spLocks noGrp="1"/>
          </p:cNvSpPr>
          <p:nvPr>
            <p:ph type="title"/>
          </p:nvPr>
        </p:nvSpPr>
        <p:spPr>
          <a:xfrm>
            <a:off x="487822" y="257614"/>
            <a:ext cx="10515600" cy="617641"/>
          </a:xfrm>
        </p:spPr>
        <p:txBody>
          <a:bodyPr/>
          <a:lstStyle/>
          <a:p>
            <a:r>
              <a:rPr lang="zh-CN" altLang="en-US" dirty="0"/>
              <a:t>单周期</a:t>
            </a:r>
            <a:r>
              <a:rPr lang="en-US" altLang="zh-CN" dirty="0"/>
              <a:t>CPU </a:t>
            </a:r>
            <a:r>
              <a:rPr lang="en-US" altLang="zh-CN" dirty="0">
                <a:sym typeface="Wingdings" panose="05000000000000000000" pitchFamily="2" charset="2"/>
              </a:rPr>
              <a:t> </a:t>
            </a:r>
            <a:r>
              <a:rPr lang="zh-CN" altLang="en-US" dirty="0">
                <a:sym typeface="Wingdings" panose="05000000000000000000" pitchFamily="2" charset="2"/>
              </a:rPr>
              <a:t>五段流水线</a:t>
            </a:r>
            <a:endParaRPr lang="zh-CN" altLang="en-US" dirty="0"/>
          </a:p>
        </p:txBody>
      </p:sp>
      <p:sp>
        <p:nvSpPr>
          <p:cNvPr id="163" name="Rectangle 3"/>
          <p:cNvSpPr txBox="1">
            <a:spLocks noChangeArrowheads="1"/>
          </p:cNvSpPr>
          <p:nvPr/>
        </p:nvSpPr>
        <p:spPr>
          <a:xfrm>
            <a:off x="1141095" y="5885180"/>
            <a:ext cx="10576560" cy="855345"/>
          </a:xfrm>
          <a:prstGeom prst="rect">
            <a:avLst/>
          </a:prstGeom>
        </p:spPr>
        <p:txBody>
          <a:bodyPr vert="horz" lIns="91440" tIns="45720" rIns="91440" bIns="45720" rtlCol="0"/>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zh-CN" altLang="en-US" sz="1800" dirty="0">
                <a:solidFill>
                  <a:schemeClr val="bg2">
                    <a:lumMod val="25000"/>
                  </a:schemeClr>
                </a:solidFill>
              </a:rPr>
              <a:t>模块之间用更复杂的缓冲池替代单个寄存器，</a:t>
            </a:r>
            <a:r>
              <a:rPr lang="zh-CN" altLang="en-US" sz="1800" dirty="0">
                <a:solidFill>
                  <a:schemeClr val="bg2">
                    <a:lumMod val="25000"/>
                  </a:schemeClr>
                </a:solidFill>
              </a:rPr>
              <a:t>缓冲池存放一条指令的所有信息：</a:t>
            </a:r>
            <a:endParaRPr lang="zh-CN" altLang="en-US" sz="1800" dirty="0">
              <a:solidFill>
                <a:schemeClr val="bg2">
                  <a:lumMod val="25000"/>
                </a:schemeClr>
              </a:solidFill>
            </a:endParaRPr>
          </a:p>
          <a:p>
            <a:pPr marL="0" indent="0" algn="ctr" fontAlgn="auto">
              <a:spcBef>
                <a:spcPts val="0"/>
              </a:spcBef>
              <a:buNone/>
              <a:defRPr/>
            </a:pPr>
            <a:r>
              <a:rPr lang="zh-CN" altLang="en-US" sz="1800" dirty="0">
                <a:solidFill>
                  <a:schemeClr val="bg2">
                    <a:lumMod val="25000"/>
                  </a:schemeClr>
                </a:solidFill>
              </a:rPr>
              <a:t>包括</a:t>
            </a:r>
            <a:r>
              <a:rPr lang="zh-CN" altLang="en-US" sz="1800" dirty="0">
                <a:solidFill>
                  <a:schemeClr val="bg2">
                    <a:lumMod val="25000"/>
                  </a:schemeClr>
                </a:solidFill>
                <a:sym typeface="+mn-ea"/>
              </a:rPr>
              <a:t>类似多周期</a:t>
            </a:r>
            <a:r>
              <a:rPr lang="en-US" altLang="zh-CN" sz="1800" dirty="0">
                <a:solidFill>
                  <a:schemeClr val="bg2">
                    <a:lumMod val="25000"/>
                  </a:schemeClr>
                </a:solidFill>
                <a:sym typeface="+mn-ea"/>
              </a:rPr>
              <a:t>CPU</a:t>
            </a:r>
            <a:r>
              <a:rPr lang="zh-CN" altLang="en-US" sz="1800" dirty="0">
                <a:solidFill>
                  <a:schemeClr val="bg2">
                    <a:lumMod val="25000"/>
                  </a:schemeClr>
                </a:solidFill>
                <a:sym typeface="+mn-ea"/>
              </a:rPr>
              <a:t>的缓冲数据，</a:t>
            </a:r>
            <a:r>
              <a:rPr lang="zh-CN" altLang="en-US" sz="1800" dirty="0">
                <a:solidFill>
                  <a:schemeClr val="bg2">
                    <a:lumMod val="25000"/>
                  </a:schemeClr>
                </a:solidFill>
              </a:rPr>
              <a:t>指令地址，指令本身，后继模块的控制信号；注意缓冲池的</a:t>
            </a:r>
            <a:r>
              <a:rPr lang="zh-CN" altLang="en-US" sz="1800" dirty="0">
                <a:solidFill>
                  <a:schemeClr val="bg2">
                    <a:lumMod val="25000"/>
                  </a:schemeClr>
                </a:solidFill>
              </a:rPr>
              <a:t>命名规则</a:t>
            </a:r>
            <a:endParaRPr lang="zh-CN" altLang="en-US" sz="1800" dirty="0">
              <a:solidFill>
                <a:schemeClr val="bg2">
                  <a:lumMod val="25000"/>
                </a:schemeClr>
              </a:solidFill>
            </a:endParaRPr>
          </a:p>
        </p:txBody>
      </p:sp>
      <p:sp>
        <p:nvSpPr>
          <p:cNvPr id="1025" name="矩形 1024"/>
          <p:cNvSpPr>
            <a:spLocks noChangeAspect="1"/>
          </p:cNvSpPr>
          <p:nvPr/>
        </p:nvSpPr>
        <p:spPr>
          <a:xfrm>
            <a:off x="352425" y="1103313"/>
            <a:ext cx="11487150" cy="4781550"/>
          </a:xfrm>
          <a:prstGeom prst="rect">
            <a:avLst/>
          </a:prstGeom>
          <a:noFill/>
          <a:ln w="9525">
            <a:noFill/>
          </a:ln>
        </p:spPr>
      </p:sp>
      <p:graphicFrame>
        <p:nvGraphicFramePr>
          <p:cNvPr id="2" name="对象 1"/>
          <p:cNvGraphicFramePr/>
          <p:nvPr/>
        </p:nvGraphicFramePr>
        <p:xfrm>
          <a:off x="364490" y="1092200"/>
          <a:ext cx="11463020" cy="4673600"/>
        </p:xfrm>
        <a:graphic>
          <a:graphicData uri="http://schemas.openxmlformats.org/presentationml/2006/ole">
            <mc:AlternateContent xmlns:mc="http://schemas.openxmlformats.org/markup-compatibility/2006">
              <mc:Choice xmlns:v="urn:schemas-microsoft-com:vml" Requires="v">
                <p:oleObj spid="_x0000_s3" name="" r:id="rId1" imgW="8798560" imgH="3599180" progId="Visio.Drawing.15">
                  <p:embed/>
                </p:oleObj>
              </mc:Choice>
              <mc:Fallback>
                <p:oleObj name="" r:id="rId1" imgW="8798560" imgH="3599180" progId="Visio.Drawing.15">
                  <p:embed/>
                  <p:pic>
                    <p:nvPicPr>
                      <p:cNvPr id="0" name="图片 2"/>
                      <p:cNvPicPr/>
                      <p:nvPr/>
                    </p:nvPicPr>
                    <p:blipFill>
                      <a:blip r:embed="rId2"/>
                      <a:stretch>
                        <a:fillRect/>
                      </a:stretch>
                    </p:blipFill>
                    <p:spPr>
                      <a:xfrm>
                        <a:off x="364490" y="1092200"/>
                        <a:ext cx="11463020" cy="4673600"/>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205770"/>
    </mc:Choice>
    <mc:Fallback>
      <p:transition spd="slow" advTm="205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left)">
                                      <p:cBhvr>
                                        <p:cTn id="7"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80184" y="1605026"/>
            <a:ext cx="9829619" cy="3899897"/>
            <a:chOff x="2561513" y="2083626"/>
            <a:chExt cx="7020890" cy="2785535"/>
          </a:xfrm>
        </p:grpSpPr>
        <p:cxnSp>
          <p:nvCxnSpPr>
            <p:cNvPr id="733" name="直接连接符 732"/>
            <p:cNvCxnSpPr/>
            <p:nvPr/>
          </p:nvCxnSpPr>
          <p:spPr>
            <a:xfrm>
              <a:off x="6672064" y="3933056"/>
              <a:ext cx="0" cy="206242"/>
            </a:xfrm>
            <a:prstGeom prst="line">
              <a:avLst/>
            </a:prstGeom>
            <a:noFill/>
            <a:ln w="6350" cap="flat" cmpd="sng" algn="ctr">
              <a:solidFill>
                <a:srgbClr val="5B9BD5"/>
              </a:solidFill>
              <a:prstDash val="solid"/>
              <a:miter lim="800000"/>
            </a:ln>
            <a:effectLst/>
          </p:spPr>
        </p:cxnSp>
        <p:cxnSp>
          <p:nvCxnSpPr>
            <p:cNvPr id="734" name="直接连接符 733"/>
            <p:cNvCxnSpPr/>
            <p:nvPr/>
          </p:nvCxnSpPr>
          <p:spPr>
            <a:xfrm>
              <a:off x="2918262" y="3587059"/>
              <a:ext cx="0" cy="206242"/>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387411" y="4302457"/>
              <a:ext cx="299062" cy="278582"/>
              <a:chOff x="1972553" y="3227818"/>
              <a:chExt cx="321921" cy="299875"/>
            </a:xfrm>
          </p:grpSpPr>
          <p:cxnSp>
            <p:nvCxnSpPr>
              <p:cNvPr id="736" name="直接连接符 735"/>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972553" y="3338386"/>
                <a:ext cx="321921" cy="189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38" name="组合 737"/>
            <p:cNvGrpSpPr/>
            <p:nvPr/>
          </p:nvGrpSpPr>
          <p:grpSpPr>
            <a:xfrm>
              <a:off x="5175703" y="3996322"/>
              <a:ext cx="299062" cy="278582"/>
              <a:chOff x="1972553" y="3227818"/>
              <a:chExt cx="321921" cy="299875"/>
            </a:xfrm>
          </p:grpSpPr>
          <p:cxnSp>
            <p:nvCxnSpPr>
              <p:cNvPr id="739" name="直接连接符 73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1972553" y="3338386"/>
                <a:ext cx="321921" cy="189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52" name="直接箭头连接符 751"/>
            <p:cNvCxnSpPr/>
            <p:nvPr/>
          </p:nvCxnSpPr>
          <p:spPr>
            <a:xfrm>
              <a:off x="3377044" y="3466964"/>
              <a:ext cx="443661"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3023931" y="3466964"/>
              <a:ext cx="223240"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4405049" y="2635671"/>
              <a:ext cx="178807" cy="0"/>
            </a:xfrm>
            <a:prstGeom prst="straightConnector1">
              <a:avLst/>
            </a:prstGeom>
            <a:noFill/>
            <a:ln w="19050" cap="flat" cmpd="sng" algn="ctr">
              <a:solidFill>
                <a:sysClr val="windowText" lastClr="000000"/>
              </a:solidFill>
              <a:prstDash val="solid"/>
              <a:miter lim="800000"/>
              <a:tailEnd type="none"/>
            </a:ln>
            <a:effectLst/>
          </p:spPr>
        </p:cxnSp>
        <p:cxnSp>
          <p:nvCxnSpPr>
            <p:cNvPr id="756" name="直接箭头连接符 755"/>
            <p:cNvCxnSpPr/>
            <p:nvPr/>
          </p:nvCxnSpPr>
          <p:spPr>
            <a:xfrm>
              <a:off x="7362907" y="3434737"/>
              <a:ext cx="367397" cy="0"/>
            </a:xfrm>
            <a:prstGeom prst="straightConnector1">
              <a:avLst/>
            </a:prstGeom>
            <a:noFill/>
            <a:ln w="19050" cap="flat" cmpd="sng" algn="ctr">
              <a:solidFill>
                <a:sysClr val="windowText" lastClr="000000"/>
              </a:solidFill>
              <a:prstDash val="solid"/>
              <a:miter lim="800000"/>
              <a:tailEnd type="triangle"/>
            </a:ln>
            <a:effectLst/>
          </p:spPr>
        </p:cxnSp>
        <p:cxnSp>
          <p:nvCxnSpPr>
            <p:cNvPr id="763" name="直接箭头连接符 762"/>
            <p:cNvCxnSpPr/>
            <p:nvPr/>
          </p:nvCxnSpPr>
          <p:spPr>
            <a:xfrm>
              <a:off x="6743960" y="3814871"/>
              <a:ext cx="206085"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6028846" y="3241919"/>
              <a:ext cx="921199"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747901" y="2182710"/>
              <a:ext cx="347149" cy="586223"/>
              <a:chOff x="6528478" y="2016658"/>
              <a:chExt cx="462062"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67" name="文本框 766"/>
              <p:cNvSpPr txBox="1"/>
              <p:nvPr/>
            </p:nvSpPr>
            <p:spPr>
              <a:xfrm>
                <a:off x="6528478" y="2220851"/>
                <a:ext cx="459017" cy="18930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68" name="组合 767"/>
            <p:cNvGrpSpPr/>
            <p:nvPr/>
          </p:nvGrpSpPr>
          <p:grpSpPr>
            <a:xfrm>
              <a:off x="4066368" y="2335042"/>
              <a:ext cx="332587" cy="590648"/>
              <a:chOff x="2890754" y="1790940"/>
              <a:chExt cx="358008"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70" name="文本框 769"/>
              <p:cNvSpPr txBox="1"/>
              <p:nvPr/>
            </p:nvSpPr>
            <p:spPr>
              <a:xfrm>
                <a:off x="2899727" y="2016504"/>
                <a:ext cx="349035" cy="17747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a:t>
                </a:r>
                <a:endPar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80" name="组合 779"/>
            <p:cNvGrpSpPr/>
            <p:nvPr/>
          </p:nvGrpSpPr>
          <p:grpSpPr>
            <a:xfrm>
              <a:off x="6480569" y="3587059"/>
              <a:ext cx="327165" cy="469100"/>
              <a:chOff x="1245770" y="3824904"/>
              <a:chExt cx="352172"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82" name="文本框 781"/>
              <p:cNvSpPr txBox="1"/>
              <p:nvPr/>
            </p:nvSpPr>
            <p:spPr>
              <a:xfrm>
                <a:off x="1257533" y="3955851"/>
                <a:ext cx="340409"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3" name="文本框 782"/>
              <p:cNvSpPr txBox="1"/>
              <p:nvPr/>
            </p:nvSpPr>
            <p:spPr>
              <a:xfrm>
                <a:off x="1250558" y="3854112"/>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4" name="文本框 783"/>
              <p:cNvSpPr txBox="1"/>
              <p:nvPr/>
            </p:nvSpPr>
            <p:spPr>
              <a:xfrm>
                <a:off x="1245770" y="4063984"/>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85" name="直接箭头连接符 784"/>
            <p:cNvCxnSpPr/>
            <p:nvPr/>
          </p:nvCxnSpPr>
          <p:spPr>
            <a:xfrm>
              <a:off x="3852603" y="2828492"/>
              <a:ext cx="213765"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3639333" y="2469468"/>
              <a:ext cx="435371"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3630106" y="2477282"/>
              <a:ext cx="0" cy="977838"/>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4583856" y="2283772"/>
              <a:ext cx="2183801"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4583856" y="2282333"/>
              <a:ext cx="0" cy="353338"/>
            </a:xfrm>
            <a:prstGeom prst="line">
              <a:avLst/>
            </a:prstGeom>
            <a:noFill/>
            <a:ln w="19050" cap="sq" cmpd="sng" algn="ctr">
              <a:solidFill>
                <a:sysClr val="windowText" lastClr="000000"/>
              </a:solidFill>
              <a:prstDash val="solid"/>
              <a:miter lim="800000"/>
              <a:headEnd type="oval"/>
              <a:tailEnd type="none"/>
            </a:ln>
            <a:effectLst/>
          </p:spPr>
        </p:cxnSp>
        <p:cxnSp>
          <p:nvCxnSpPr>
            <p:cNvPr id="790" name="直接箭头连接符 789"/>
            <p:cNvCxnSpPr/>
            <p:nvPr/>
          </p:nvCxnSpPr>
          <p:spPr>
            <a:xfrm>
              <a:off x="2676358" y="2282333"/>
              <a:ext cx="1940520"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2676358" y="2282333"/>
              <a:ext cx="0" cy="1051132"/>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2676359" y="3333465"/>
              <a:ext cx="105551"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2561514" y="2083626"/>
              <a:ext cx="4860339"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2561513" y="2083626"/>
              <a:ext cx="0" cy="1492624"/>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2561623" y="3576250"/>
              <a:ext cx="225121"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430016" y="2083626"/>
              <a:ext cx="0" cy="409480"/>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7095049" y="2493106"/>
              <a:ext cx="315893"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491497" y="2654561"/>
              <a:ext cx="287904" cy="0"/>
            </a:xfrm>
            <a:prstGeom prst="straightConnector1">
              <a:avLst/>
            </a:prstGeom>
            <a:noFill/>
            <a:ln w="19050" cap="flat" cmpd="sng" algn="ctr">
              <a:solidFill>
                <a:sysClr val="windowText" lastClr="000000"/>
              </a:solidFill>
              <a:prstDash val="solid"/>
              <a:miter lim="800000"/>
              <a:tailEnd type="triangle"/>
            </a:ln>
            <a:effectLst/>
          </p:spPr>
        </p:cxnSp>
        <p:cxnSp>
          <p:nvCxnSpPr>
            <p:cNvPr id="801" name="直接箭头连接符 800"/>
            <p:cNvCxnSpPr/>
            <p:nvPr/>
          </p:nvCxnSpPr>
          <p:spPr>
            <a:xfrm>
              <a:off x="5013172" y="4869160"/>
              <a:ext cx="4569230" cy="0"/>
            </a:xfrm>
            <a:prstGeom prst="straightConnector1">
              <a:avLst/>
            </a:prstGeom>
            <a:noFill/>
            <a:ln w="19050" cap="sq" cmpd="sng" algn="ctr">
              <a:solidFill>
                <a:sysClr val="windowText" lastClr="000000"/>
              </a:solidFill>
              <a:prstDash val="solid"/>
              <a:miter lim="800000"/>
              <a:tailEnd type="none"/>
            </a:ln>
            <a:effectLst/>
          </p:spPr>
        </p:cxnSp>
        <p:cxnSp>
          <p:nvCxnSpPr>
            <p:cNvPr id="802" name="直接连接符 801"/>
            <p:cNvCxnSpPr/>
            <p:nvPr/>
          </p:nvCxnSpPr>
          <p:spPr>
            <a:xfrm>
              <a:off x="9582403" y="3733916"/>
              <a:ext cx="0" cy="1135245"/>
            </a:xfrm>
            <a:prstGeom prst="line">
              <a:avLst/>
            </a:prstGeom>
            <a:noFill/>
            <a:ln w="19050" cap="sq" cmpd="sng" algn="ctr">
              <a:solidFill>
                <a:sysClr val="windowText" lastClr="000000"/>
              </a:solidFill>
              <a:prstDash val="solid"/>
              <a:miter lim="800000"/>
              <a:tailEnd type="none"/>
            </a:ln>
            <a:effectLst/>
          </p:spPr>
        </p:cxnSp>
        <p:cxnSp>
          <p:nvCxnSpPr>
            <p:cNvPr id="803" name="直接箭头连接符 802"/>
            <p:cNvCxnSpPr/>
            <p:nvPr/>
          </p:nvCxnSpPr>
          <p:spPr>
            <a:xfrm>
              <a:off x="9381684" y="3733928"/>
              <a:ext cx="200718" cy="0"/>
            </a:xfrm>
            <a:prstGeom prst="straightConnector1">
              <a:avLst/>
            </a:prstGeom>
            <a:noFill/>
            <a:ln w="19050" cap="sq" cmpd="sng" algn="ctr">
              <a:solidFill>
                <a:sysClr val="windowText" lastClr="000000"/>
              </a:solidFill>
              <a:prstDash val="solid"/>
              <a:miter lim="800000"/>
              <a:tailEnd type="none"/>
            </a:ln>
            <a:effectLst/>
          </p:spPr>
        </p:cxnSp>
        <p:cxnSp>
          <p:nvCxnSpPr>
            <p:cNvPr id="805" name="直接箭头连接符 804"/>
            <p:cNvCxnSpPr/>
            <p:nvPr/>
          </p:nvCxnSpPr>
          <p:spPr>
            <a:xfrm>
              <a:off x="8961048" y="3862401"/>
              <a:ext cx="190997"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8961047" y="3862402"/>
              <a:ext cx="0" cy="742917"/>
            </a:xfrm>
            <a:prstGeom prst="line">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8620505" y="3631239"/>
              <a:ext cx="538392"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7656845" y="4613160"/>
              <a:ext cx="1304203" cy="0"/>
            </a:xfrm>
            <a:prstGeom prst="straightConnector1">
              <a:avLst/>
            </a:prstGeom>
            <a:noFill/>
            <a:ln w="19050" cap="flat" cmpd="sng" algn="ctr">
              <a:solidFill>
                <a:sysClr val="windowText" lastClr="000000"/>
              </a:solidFill>
              <a:prstDash val="solid"/>
              <a:miter lim="800000"/>
              <a:tailEnd type="none"/>
            </a:ln>
            <a:effectLst/>
          </p:spPr>
        </p:cxnSp>
        <p:cxnSp>
          <p:nvCxnSpPr>
            <p:cNvPr id="810" name="直接连接符 809"/>
            <p:cNvCxnSpPr/>
            <p:nvPr/>
          </p:nvCxnSpPr>
          <p:spPr>
            <a:xfrm>
              <a:off x="7656844" y="3612830"/>
              <a:ext cx="0" cy="994786"/>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421852" y="3616103"/>
              <a:ext cx="461388"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242032" y="4218848"/>
              <a:ext cx="1635692" cy="0"/>
            </a:xfrm>
            <a:prstGeom prst="straightConnector1">
              <a:avLst/>
            </a:prstGeom>
            <a:noFill/>
            <a:ln w="19050" cap="flat" cmpd="sng" algn="ctr">
              <a:solidFill>
                <a:sysClr val="windowText" lastClr="000000"/>
              </a:solidFill>
              <a:prstDash val="solid"/>
              <a:miter lim="800000"/>
              <a:tailEnd type="triangle"/>
            </a:ln>
            <a:effectLst/>
          </p:spPr>
        </p:cxnSp>
        <p:cxnSp>
          <p:nvCxnSpPr>
            <p:cNvPr id="818" name="直接连接符 817"/>
            <p:cNvCxnSpPr/>
            <p:nvPr/>
          </p:nvCxnSpPr>
          <p:spPr>
            <a:xfrm>
              <a:off x="4888727" y="3206645"/>
              <a:ext cx="0" cy="1295032"/>
            </a:xfrm>
            <a:prstGeom prst="line">
              <a:avLst/>
            </a:prstGeom>
            <a:noFill/>
            <a:ln w="19050" cap="sq" cmpd="sng" algn="ctr">
              <a:solidFill>
                <a:sysClr val="windowText" lastClr="000000"/>
              </a:solidFill>
              <a:prstDash val="solid"/>
              <a:miter lim="800000"/>
              <a:tailEnd type="none"/>
            </a:ln>
            <a:effectLst/>
          </p:spPr>
        </p:cxnSp>
        <p:cxnSp>
          <p:nvCxnSpPr>
            <p:cNvPr id="820" name="直接箭头连接符 819"/>
            <p:cNvCxnSpPr/>
            <p:nvPr/>
          </p:nvCxnSpPr>
          <p:spPr>
            <a:xfrm>
              <a:off x="4888727" y="4501677"/>
              <a:ext cx="801404" cy="0"/>
            </a:xfrm>
            <a:prstGeom prst="straightConnector1">
              <a:avLst/>
            </a:prstGeom>
            <a:noFill/>
            <a:ln w="19050" cap="flat" cmpd="sng" algn="ctr">
              <a:solidFill>
                <a:sysClr val="windowText" lastClr="000000"/>
              </a:solidFill>
              <a:prstDash val="solid"/>
              <a:miter lim="800000"/>
              <a:headEnd type="none"/>
              <a:tailEnd type="triangle"/>
            </a:ln>
            <a:effectLst/>
          </p:spPr>
        </p:cxnSp>
        <p:cxnSp>
          <p:nvCxnSpPr>
            <p:cNvPr id="823" name="直接连接符 822"/>
            <p:cNvCxnSpPr/>
            <p:nvPr/>
          </p:nvCxnSpPr>
          <p:spPr>
            <a:xfrm>
              <a:off x="5013172" y="3904792"/>
              <a:ext cx="0" cy="964369"/>
            </a:xfrm>
            <a:prstGeom prst="line">
              <a:avLst/>
            </a:prstGeom>
            <a:noFill/>
            <a:ln w="19050" cap="sq" cmpd="sng" algn="ctr">
              <a:solidFill>
                <a:sysClr val="windowText" lastClr="000000"/>
              </a:solidFill>
              <a:prstDash val="solid"/>
              <a:miter lim="800000"/>
              <a:tailEnd type="none"/>
            </a:ln>
            <a:effectLst/>
          </p:spPr>
        </p:cxnSp>
        <p:cxnSp>
          <p:nvCxnSpPr>
            <p:cNvPr id="826" name="直接箭头连接符 825"/>
            <p:cNvCxnSpPr/>
            <p:nvPr/>
          </p:nvCxnSpPr>
          <p:spPr>
            <a:xfrm>
              <a:off x="4881648" y="3206645"/>
              <a:ext cx="263048"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888727" y="3382958"/>
              <a:ext cx="255938"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4888727" y="3749223"/>
              <a:ext cx="255908"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9" name="直接箭头连接符 828"/>
            <p:cNvCxnSpPr/>
            <p:nvPr/>
          </p:nvCxnSpPr>
          <p:spPr>
            <a:xfrm>
              <a:off x="5013173" y="3905480"/>
              <a:ext cx="131433"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684167" y="4210264"/>
              <a:ext cx="366345" cy="589516"/>
              <a:chOff x="3762650" y="5685260"/>
              <a:chExt cx="39434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0000"/>
                  </a:solidFill>
                  <a:effectLst/>
                  <a:uLnTx/>
                  <a:uFillTx/>
                  <a:latin typeface="等线" panose="02010600030101010101" charset="-122"/>
                  <a:ea typeface="等线" panose="02010600030101010101" charset="-122"/>
                  <a:cs typeface="+mn-cs"/>
                </a:endParaRPr>
              </a:p>
            </p:txBody>
          </p:sp>
          <p:sp>
            <p:nvSpPr>
              <p:cNvPr id="832" name="文本框 831"/>
              <p:cNvSpPr txBox="1"/>
              <p:nvPr/>
            </p:nvSpPr>
            <p:spPr>
              <a:xfrm>
                <a:off x="3770617" y="5855433"/>
                <a:ext cx="339177" cy="3076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符号</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33" name="直接连接符 832"/>
            <p:cNvCxnSpPr/>
            <p:nvPr/>
          </p:nvCxnSpPr>
          <p:spPr>
            <a:xfrm>
              <a:off x="6366418" y="2860623"/>
              <a:ext cx="0" cy="1641055"/>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6039352" y="4501677"/>
              <a:ext cx="327066"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250700" y="3702542"/>
              <a:ext cx="0" cy="516307"/>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5955768" y="3707302"/>
              <a:ext cx="589864"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616879" y="3919311"/>
              <a:ext cx="271849"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2728905" y="3219465"/>
              <a:ext cx="327165" cy="469100"/>
              <a:chOff x="1245770" y="3824904"/>
              <a:chExt cx="352172"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40" name="文本框 839"/>
              <p:cNvSpPr txBox="1"/>
              <p:nvPr/>
            </p:nvSpPr>
            <p:spPr>
              <a:xfrm>
                <a:off x="1257533" y="3963369"/>
                <a:ext cx="340409"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1" name="文本框 840"/>
              <p:cNvSpPr txBox="1"/>
              <p:nvPr/>
            </p:nvSpPr>
            <p:spPr>
              <a:xfrm>
                <a:off x="1250558" y="3859229"/>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2" name="文本框 841"/>
              <p:cNvSpPr txBox="1"/>
              <p:nvPr/>
            </p:nvSpPr>
            <p:spPr>
              <a:xfrm>
                <a:off x="1245770" y="4063984"/>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43" name="组合 842"/>
            <p:cNvGrpSpPr/>
            <p:nvPr/>
          </p:nvGrpSpPr>
          <p:grpSpPr>
            <a:xfrm>
              <a:off x="3781073" y="3345531"/>
              <a:ext cx="872882" cy="835284"/>
              <a:chOff x="2233099" y="4481511"/>
              <a:chExt cx="1043477"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45" name="文本框 844"/>
              <p:cNvSpPr txBox="1"/>
              <p:nvPr/>
            </p:nvSpPr>
            <p:spPr>
              <a:xfrm>
                <a:off x="2233099" y="4481511"/>
                <a:ext cx="472485" cy="21859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6" name="文本框 845"/>
              <p:cNvSpPr txBox="1"/>
              <p:nvPr/>
            </p:nvSpPr>
            <p:spPr>
              <a:xfrm>
                <a:off x="2536128" y="4701381"/>
                <a:ext cx="502597" cy="486998"/>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7" name="文本框 846"/>
              <p:cNvSpPr txBox="1"/>
              <p:nvPr/>
            </p:nvSpPr>
            <p:spPr>
              <a:xfrm>
                <a:off x="2964232" y="5097799"/>
                <a:ext cx="312344" cy="21859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48" name="文本框 847"/>
            <p:cNvSpPr txBox="1"/>
            <p:nvPr/>
          </p:nvSpPr>
          <p:spPr>
            <a:xfrm>
              <a:off x="3691736" y="2728466"/>
              <a:ext cx="185713"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49" name="组合 848"/>
            <p:cNvGrpSpPr/>
            <p:nvPr/>
          </p:nvGrpSpPr>
          <p:grpSpPr>
            <a:xfrm>
              <a:off x="3239381" y="3244845"/>
              <a:ext cx="260134" cy="456868"/>
              <a:chOff x="5576934" y="2426371"/>
              <a:chExt cx="774570"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51" name="文本框 850"/>
              <p:cNvSpPr txBox="1"/>
              <p:nvPr/>
            </p:nvSpPr>
            <p:spPr>
              <a:xfrm>
                <a:off x="5576934" y="2539629"/>
                <a:ext cx="774570" cy="1952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PC</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61" name="直接箭头连接符 860"/>
            <p:cNvCxnSpPr/>
            <p:nvPr/>
          </p:nvCxnSpPr>
          <p:spPr>
            <a:xfrm>
              <a:off x="6366418" y="3948026"/>
              <a:ext cx="175194"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208879" y="2423852"/>
              <a:ext cx="315094" cy="447347"/>
              <a:chOff x="3742683" y="5685260"/>
              <a:chExt cx="339177"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0000"/>
                  </a:solidFill>
                  <a:effectLst/>
                  <a:uLnTx/>
                  <a:uFillTx/>
                  <a:latin typeface="等线" panose="02010600030101010101" charset="-122"/>
                  <a:ea typeface="等线" panose="02010600030101010101" charset="-122"/>
                  <a:cs typeface="+mn-cs"/>
                </a:endParaRPr>
              </a:p>
            </p:txBody>
          </p:sp>
          <p:sp>
            <p:nvSpPr>
              <p:cNvPr id="864" name="文本框 863"/>
              <p:cNvSpPr txBox="1"/>
              <p:nvPr/>
            </p:nvSpPr>
            <p:spPr>
              <a:xfrm>
                <a:off x="3742683" y="5771493"/>
                <a:ext cx="339177" cy="30762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左移</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位</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65" name="组合 864"/>
            <p:cNvGrpSpPr/>
            <p:nvPr/>
          </p:nvGrpSpPr>
          <p:grpSpPr>
            <a:xfrm>
              <a:off x="7838115" y="3520897"/>
              <a:ext cx="867853" cy="832629"/>
              <a:chOff x="2233099" y="4480021"/>
              <a:chExt cx="1037976"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67" name="文本框 866"/>
              <p:cNvSpPr txBox="1"/>
              <p:nvPr/>
            </p:nvSpPr>
            <p:spPr>
              <a:xfrm>
                <a:off x="2233099" y="4481511"/>
                <a:ext cx="442591" cy="17747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8" name="文本框 867"/>
              <p:cNvSpPr txBox="1"/>
              <p:nvPr/>
            </p:nvSpPr>
            <p:spPr>
              <a:xfrm>
                <a:off x="2533492" y="4675636"/>
                <a:ext cx="502845" cy="421753"/>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9" name="文本框 868"/>
              <p:cNvSpPr txBox="1"/>
              <p:nvPr/>
            </p:nvSpPr>
            <p:spPr>
              <a:xfrm>
                <a:off x="2945285" y="4480021"/>
                <a:ext cx="297434" cy="17747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0" name="文本框 869"/>
              <p:cNvSpPr txBox="1"/>
              <p:nvPr/>
            </p:nvSpPr>
            <p:spPr>
              <a:xfrm>
                <a:off x="2250880" y="5146023"/>
                <a:ext cx="722300" cy="1774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72" name="等腰三角形 871"/>
            <p:cNvSpPr/>
            <p:nvPr/>
          </p:nvSpPr>
          <p:spPr>
            <a:xfrm>
              <a:off x="3259952" y="3585730"/>
              <a:ext cx="199314" cy="115985"/>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3" name="文本框 872"/>
            <p:cNvSpPr txBox="1"/>
            <p:nvPr/>
          </p:nvSpPr>
          <p:spPr>
            <a:xfrm>
              <a:off x="4956560" y="4316057"/>
              <a:ext cx="406690"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立即数</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5" name="等腰三角形 874"/>
            <p:cNvSpPr/>
            <p:nvPr/>
          </p:nvSpPr>
          <p:spPr>
            <a:xfrm>
              <a:off x="5273170" y="3941958"/>
              <a:ext cx="133765" cy="7784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876" name="直接连接符 875"/>
            <p:cNvCxnSpPr/>
            <p:nvPr/>
          </p:nvCxnSpPr>
          <p:spPr>
            <a:xfrm>
              <a:off x="5468607" y="4458617"/>
              <a:ext cx="67218" cy="92260"/>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6138939" y="4461501"/>
              <a:ext cx="67218" cy="92260"/>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5339878" y="4302483"/>
              <a:ext cx="239525"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16</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80" name="组合 879"/>
            <p:cNvGrpSpPr/>
            <p:nvPr/>
          </p:nvGrpSpPr>
          <p:grpSpPr>
            <a:xfrm>
              <a:off x="3190939" y="3691796"/>
              <a:ext cx="299062" cy="278582"/>
              <a:chOff x="1972553" y="3227818"/>
              <a:chExt cx="321921" cy="299875"/>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21921" cy="189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93" name="等腰三角形 892"/>
            <p:cNvSpPr/>
            <p:nvPr/>
          </p:nvSpPr>
          <p:spPr>
            <a:xfrm>
              <a:off x="8487219" y="4275685"/>
              <a:ext cx="133765" cy="7784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02" name="文本框 901"/>
            <p:cNvSpPr txBox="1"/>
            <p:nvPr/>
          </p:nvSpPr>
          <p:spPr>
            <a:xfrm>
              <a:off x="4654339" y="3608937"/>
              <a:ext cx="118205" cy="2967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105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903" name="直接连接符 902"/>
            <p:cNvCxnSpPr/>
            <p:nvPr/>
          </p:nvCxnSpPr>
          <p:spPr>
            <a:xfrm>
              <a:off x="9281693" y="3878481"/>
              <a:ext cx="0" cy="206242"/>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9093780" y="3503636"/>
              <a:ext cx="327165" cy="469100"/>
              <a:chOff x="1245770" y="3824904"/>
              <a:chExt cx="352172"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06" name="文本框 905"/>
              <p:cNvSpPr txBox="1"/>
              <p:nvPr/>
            </p:nvSpPr>
            <p:spPr>
              <a:xfrm>
                <a:off x="1257533" y="3963369"/>
                <a:ext cx="340409"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7" name="文本框 906"/>
              <p:cNvSpPr txBox="1"/>
              <p:nvPr/>
            </p:nvSpPr>
            <p:spPr>
              <a:xfrm>
                <a:off x="1250558" y="3854112"/>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8" name="文本框 907"/>
              <p:cNvSpPr txBox="1"/>
              <p:nvPr/>
            </p:nvSpPr>
            <p:spPr>
              <a:xfrm>
                <a:off x="1245770" y="4063984"/>
                <a:ext cx="190048" cy="1334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911" name="文本框 910"/>
            <p:cNvSpPr txBox="1"/>
            <p:nvPr/>
          </p:nvSpPr>
          <p:spPr>
            <a:xfrm>
              <a:off x="5328598" y="2282138"/>
              <a:ext cx="371196"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PC+4</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3" name="文本框 912"/>
            <p:cNvSpPr txBox="1"/>
            <p:nvPr/>
          </p:nvSpPr>
          <p:spPr>
            <a:xfrm>
              <a:off x="6077503" y="3062628"/>
              <a:ext cx="315092"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4" name="文本框 913"/>
            <p:cNvSpPr txBox="1"/>
            <p:nvPr/>
          </p:nvSpPr>
          <p:spPr>
            <a:xfrm>
              <a:off x="6077833" y="3533769"/>
              <a:ext cx="315092" cy="175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71" name="组合 770"/>
            <p:cNvGrpSpPr/>
            <p:nvPr/>
          </p:nvGrpSpPr>
          <p:grpSpPr>
            <a:xfrm>
              <a:off x="5096775" y="3088336"/>
              <a:ext cx="1007622" cy="945860"/>
              <a:chOff x="2221721" y="4481511"/>
              <a:chExt cx="1076394"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73" name="文本框 772"/>
              <p:cNvSpPr txBox="1"/>
              <p:nvPr/>
            </p:nvSpPr>
            <p:spPr>
              <a:xfrm>
                <a:off x="2233099" y="4515647"/>
                <a:ext cx="306021" cy="1809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R1#</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4" name="文本框 773"/>
              <p:cNvSpPr txBox="1"/>
              <p:nvPr/>
            </p:nvSpPr>
            <p:spPr>
              <a:xfrm>
                <a:off x="2475125" y="4893149"/>
                <a:ext cx="654606" cy="19907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5" name="文本框 774"/>
              <p:cNvSpPr txBox="1"/>
              <p:nvPr/>
            </p:nvSpPr>
            <p:spPr>
              <a:xfrm>
                <a:off x="2971058" y="4579772"/>
                <a:ext cx="317028" cy="1809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6" name="文本框 775"/>
              <p:cNvSpPr txBox="1"/>
              <p:nvPr/>
            </p:nvSpPr>
            <p:spPr>
              <a:xfrm>
                <a:off x="2221721" y="5275696"/>
                <a:ext cx="696573" cy="180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Din</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7" name="文本框 776"/>
              <p:cNvSpPr txBox="1"/>
              <p:nvPr/>
            </p:nvSpPr>
            <p:spPr>
              <a:xfrm>
                <a:off x="2233099" y="4714175"/>
                <a:ext cx="306021" cy="1809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R2#</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8" name="文本框 777"/>
              <p:cNvSpPr txBox="1"/>
              <p:nvPr/>
            </p:nvSpPr>
            <p:spPr>
              <a:xfrm>
                <a:off x="2981087" y="5079368"/>
                <a:ext cx="317028" cy="1809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9" name="文本框 778"/>
              <p:cNvSpPr txBox="1"/>
              <p:nvPr/>
            </p:nvSpPr>
            <p:spPr>
              <a:xfrm>
                <a:off x="2221721" y="5122776"/>
                <a:ext cx="696573" cy="180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58" name="组合 757"/>
            <p:cNvGrpSpPr/>
            <p:nvPr/>
          </p:nvGrpSpPr>
          <p:grpSpPr>
            <a:xfrm>
              <a:off x="6950044" y="3158088"/>
              <a:ext cx="557552" cy="763389"/>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60" name="文本框 759"/>
              <p:cNvSpPr txBox="1"/>
              <p:nvPr/>
            </p:nvSpPr>
            <p:spPr>
              <a:xfrm>
                <a:off x="2794661" y="4453118"/>
                <a:ext cx="346571" cy="17444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ALU</a:t>
                </a:r>
                <a:endParaRPr kumimoji="0" lang="en-US" altLang="zh-CN"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1" name="文本框 760"/>
              <p:cNvSpPr txBox="1"/>
              <p:nvPr/>
            </p:nvSpPr>
            <p:spPr>
              <a:xfrm>
                <a:off x="3042929" y="4391513"/>
                <a:ext cx="315760" cy="1526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Zero</a:t>
                </a:r>
                <a:endParaRPr kumimoji="0" lang="en-US" altLang="zh-CN" sz="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2" name="文本框 761"/>
              <p:cNvSpPr txBox="1"/>
              <p:nvPr/>
            </p:nvSpPr>
            <p:spPr>
              <a:xfrm>
                <a:off x="3021143" y="4553116"/>
                <a:ext cx="373686" cy="15264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Result</a:t>
                </a:r>
                <a:endParaRPr kumimoji="0" lang="en-US" altLang="zh-CN" sz="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sp>
        <p:nvSpPr>
          <p:cNvPr id="125" name="标题 1"/>
          <p:cNvSpPr>
            <a:spLocks noGrp="1"/>
          </p:cNvSpPr>
          <p:nvPr>
            <p:ph type="title"/>
          </p:nvPr>
        </p:nvSpPr>
        <p:spPr>
          <a:xfrm>
            <a:off x="487822" y="257614"/>
            <a:ext cx="10515600" cy="617641"/>
          </a:xfrm>
        </p:spPr>
        <p:txBody>
          <a:bodyPr/>
          <a:lstStyle/>
          <a:p>
            <a:r>
              <a:rPr lang="zh-CN" altLang="en-US" dirty="0"/>
              <a:t>单周期</a:t>
            </a:r>
            <a:r>
              <a:rPr lang="en-US" altLang="zh-CN" dirty="0"/>
              <a:t>CPU </a:t>
            </a:r>
            <a:r>
              <a:rPr lang="en-US" altLang="zh-CN" dirty="0">
                <a:sym typeface="Wingdings" panose="05000000000000000000" pitchFamily="2" charset="2"/>
              </a:rPr>
              <a:t> </a:t>
            </a:r>
            <a:r>
              <a:rPr lang="zh-CN" altLang="en-US" dirty="0">
                <a:sym typeface="Wingdings" panose="05000000000000000000" pitchFamily="2" charset="2"/>
              </a:rPr>
              <a:t>五段流水线</a:t>
            </a:r>
            <a:endParaRPr lang="zh-CN" altLang="en-US" dirty="0"/>
          </a:p>
        </p:txBody>
      </p:sp>
      <p:grpSp>
        <p:nvGrpSpPr>
          <p:cNvPr id="5" name="组合 4"/>
          <p:cNvGrpSpPr/>
          <p:nvPr/>
        </p:nvGrpSpPr>
        <p:grpSpPr>
          <a:xfrm>
            <a:off x="6113421" y="2264813"/>
            <a:ext cx="700833" cy="3586244"/>
            <a:chOff x="6113421" y="2040531"/>
            <a:chExt cx="700833" cy="3586244"/>
          </a:xfrm>
        </p:grpSpPr>
        <p:grpSp>
          <p:nvGrpSpPr>
            <p:cNvPr id="129" name="组合 128"/>
            <p:cNvGrpSpPr/>
            <p:nvPr/>
          </p:nvGrpSpPr>
          <p:grpSpPr>
            <a:xfrm>
              <a:off x="6329411" y="2040531"/>
              <a:ext cx="195774" cy="3141273"/>
              <a:chOff x="4002799" y="1954775"/>
              <a:chExt cx="195774" cy="3141273"/>
            </a:xfrm>
          </p:grpSpPr>
          <p:sp>
            <p:nvSpPr>
              <p:cNvPr id="130" name="矩形 129"/>
              <p:cNvSpPr/>
              <p:nvPr/>
            </p:nvSpPr>
            <p:spPr>
              <a:xfrm>
                <a:off x="4002800" y="1954775"/>
                <a:ext cx="195773" cy="3141273"/>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1" name="等腰三角形 130"/>
              <p:cNvSpPr/>
              <p:nvPr/>
            </p:nvSpPr>
            <p:spPr>
              <a:xfrm>
                <a:off x="4002799" y="4981015"/>
                <a:ext cx="195774" cy="115032"/>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38" name="文本框 137"/>
            <p:cNvSpPr txBox="1"/>
            <p:nvPr/>
          </p:nvSpPr>
          <p:spPr>
            <a:xfrm>
              <a:off x="6113421" y="5318998"/>
              <a:ext cx="70083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ID/EX</a:t>
              </a:r>
              <a:endPar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3991685" y="2266513"/>
            <a:ext cx="635111" cy="3587165"/>
            <a:chOff x="3991685" y="2042231"/>
            <a:chExt cx="635111" cy="3587165"/>
          </a:xfrm>
        </p:grpSpPr>
        <p:grpSp>
          <p:nvGrpSpPr>
            <p:cNvPr id="3" name="组合 2"/>
            <p:cNvGrpSpPr/>
            <p:nvPr/>
          </p:nvGrpSpPr>
          <p:grpSpPr>
            <a:xfrm>
              <a:off x="4175627" y="2042231"/>
              <a:ext cx="195774" cy="3141273"/>
              <a:chOff x="4002799" y="1954775"/>
              <a:chExt cx="195774" cy="3141273"/>
            </a:xfrm>
          </p:grpSpPr>
          <p:sp>
            <p:nvSpPr>
              <p:cNvPr id="126" name="矩形 125"/>
              <p:cNvSpPr/>
              <p:nvPr/>
            </p:nvSpPr>
            <p:spPr>
              <a:xfrm>
                <a:off x="4002800" y="1954775"/>
                <a:ext cx="195773" cy="3141273"/>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7" name="等腰三角形 126"/>
              <p:cNvSpPr/>
              <p:nvPr/>
            </p:nvSpPr>
            <p:spPr>
              <a:xfrm>
                <a:off x="4002799" y="4981015"/>
                <a:ext cx="195774" cy="115032"/>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40" name="文本框 139"/>
            <p:cNvSpPr txBox="1"/>
            <p:nvPr/>
          </p:nvSpPr>
          <p:spPr>
            <a:xfrm>
              <a:off x="3991685" y="5321619"/>
              <a:ext cx="6351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IF/ID</a:t>
              </a:r>
              <a:endPar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5"/>
          <p:cNvGrpSpPr/>
          <p:nvPr/>
        </p:nvGrpSpPr>
        <p:grpSpPr>
          <a:xfrm>
            <a:off x="7840244" y="2264812"/>
            <a:ext cx="968535" cy="3593410"/>
            <a:chOff x="7840244" y="2040530"/>
            <a:chExt cx="968535" cy="3593410"/>
          </a:xfrm>
        </p:grpSpPr>
        <p:grpSp>
          <p:nvGrpSpPr>
            <p:cNvPr id="132" name="组合 131"/>
            <p:cNvGrpSpPr/>
            <p:nvPr/>
          </p:nvGrpSpPr>
          <p:grpSpPr>
            <a:xfrm>
              <a:off x="8128001" y="2040530"/>
              <a:ext cx="195774" cy="3141273"/>
              <a:chOff x="4002799" y="1954775"/>
              <a:chExt cx="195774" cy="3141273"/>
            </a:xfrm>
          </p:grpSpPr>
          <p:sp>
            <p:nvSpPr>
              <p:cNvPr id="133" name="矩形 132"/>
              <p:cNvSpPr/>
              <p:nvPr/>
            </p:nvSpPr>
            <p:spPr>
              <a:xfrm>
                <a:off x="4002800" y="1954775"/>
                <a:ext cx="195773" cy="3141273"/>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4" name="等腰三角形 133"/>
              <p:cNvSpPr/>
              <p:nvPr/>
            </p:nvSpPr>
            <p:spPr>
              <a:xfrm>
                <a:off x="4002799" y="4981015"/>
                <a:ext cx="195774" cy="115032"/>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41" name="文本框 140"/>
            <p:cNvSpPr txBox="1"/>
            <p:nvPr/>
          </p:nvSpPr>
          <p:spPr>
            <a:xfrm>
              <a:off x="7840244" y="5326163"/>
              <a:ext cx="96853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EX/MEM</a:t>
              </a:r>
              <a:endPar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grpSp>
        <p:nvGrpSpPr>
          <p:cNvPr id="7" name="组合 6"/>
          <p:cNvGrpSpPr/>
          <p:nvPr/>
        </p:nvGrpSpPr>
        <p:grpSpPr>
          <a:xfrm>
            <a:off x="9567067" y="2264811"/>
            <a:ext cx="1058303" cy="3600576"/>
            <a:chOff x="9567067" y="2040529"/>
            <a:chExt cx="1058303" cy="3600576"/>
          </a:xfrm>
        </p:grpSpPr>
        <p:grpSp>
          <p:nvGrpSpPr>
            <p:cNvPr id="135" name="组合 134"/>
            <p:cNvGrpSpPr/>
            <p:nvPr/>
          </p:nvGrpSpPr>
          <p:grpSpPr>
            <a:xfrm>
              <a:off x="9926591" y="2040529"/>
              <a:ext cx="195774" cy="3141273"/>
              <a:chOff x="4002799" y="1954775"/>
              <a:chExt cx="195774" cy="3141273"/>
            </a:xfrm>
          </p:grpSpPr>
          <p:sp>
            <p:nvSpPr>
              <p:cNvPr id="136" name="矩形 135"/>
              <p:cNvSpPr/>
              <p:nvPr/>
            </p:nvSpPr>
            <p:spPr>
              <a:xfrm>
                <a:off x="4002800" y="1954775"/>
                <a:ext cx="195773" cy="3141273"/>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7" name="等腰三角形 136"/>
              <p:cNvSpPr/>
              <p:nvPr/>
            </p:nvSpPr>
            <p:spPr>
              <a:xfrm>
                <a:off x="4002799" y="4981015"/>
                <a:ext cx="195774" cy="115032"/>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42" name="文本框 141"/>
            <p:cNvSpPr txBox="1"/>
            <p:nvPr/>
          </p:nvSpPr>
          <p:spPr>
            <a:xfrm>
              <a:off x="9567067" y="5333328"/>
              <a:ext cx="105830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MEM/WB</a:t>
              </a:r>
              <a:endParaRPr kumimoji="0" lang="en-US" altLang="zh-CN" sz="1400" b="1" i="0" u="none" strike="noStrike" kern="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sp>
        <p:nvSpPr>
          <p:cNvPr id="151" name="文本框 150"/>
          <p:cNvSpPr txBox="1"/>
          <p:nvPr/>
        </p:nvSpPr>
        <p:spPr>
          <a:xfrm>
            <a:off x="5006083" y="1257452"/>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52" name="文本框 151"/>
          <p:cNvSpPr txBox="1"/>
          <p:nvPr/>
        </p:nvSpPr>
        <p:spPr>
          <a:xfrm>
            <a:off x="6941350" y="1258332"/>
            <a:ext cx="77476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53" name="文本框 152"/>
          <p:cNvSpPr txBox="1"/>
          <p:nvPr/>
        </p:nvSpPr>
        <p:spPr>
          <a:xfrm>
            <a:off x="8619385" y="1257452"/>
            <a:ext cx="101502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54" name="文本框 153"/>
          <p:cNvSpPr txBox="1"/>
          <p:nvPr/>
        </p:nvSpPr>
        <p:spPr>
          <a:xfrm>
            <a:off x="10222987" y="1257452"/>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55" name="文本框 154"/>
          <p:cNvSpPr txBox="1"/>
          <p:nvPr/>
        </p:nvSpPr>
        <p:spPr>
          <a:xfrm>
            <a:off x="2795607" y="1257452"/>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63" name="Rectangle 3"/>
          <p:cNvSpPr txBox="1">
            <a:spLocks noChangeArrowheads="1"/>
          </p:cNvSpPr>
          <p:nvPr/>
        </p:nvSpPr>
        <p:spPr>
          <a:xfrm>
            <a:off x="3898336" y="6039727"/>
            <a:ext cx="4326228" cy="560600"/>
          </a:xfrm>
          <a:prstGeom prst="rect">
            <a:avLst/>
          </a:prstGeom>
        </p:spPr>
        <p:txBody>
          <a:bodyPr vert="horz" lIns="91440" tIns="45720" rIns="91440" bIns="45720" rtlCol="0">
            <a:normAutofit fontScale="80000"/>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chemeClr val="bg2">
                    <a:lumMod val="25000"/>
                  </a:schemeClr>
                </a:solidFill>
              </a:rPr>
              <a:t>将寄存器堆</a:t>
            </a:r>
            <a:r>
              <a:rPr lang="zh-CN" altLang="en-US" dirty="0">
                <a:solidFill>
                  <a:schemeClr val="bg2">
                    <a:lumMod val="25000"/>
                  </a:schemeClr>
                </a:solidFill>
              </a:rPr>
              <a:t>读写合并在一起的</a:t>
            </a:r>
            <a:r>
              <a:rPr lang="zh-CN" altLang="en-US" dirty="0">
                <a:solidFill>
                  <a:schemeClr val="bg2">
                    <a:lumMod val="25000"/>
                  </a:schemeClr>
                </a:solidFill>
              </a:rPr>
              <a:t>电路</a:t>
            </a:r>
            <a:endParaRPr lang="zh-CN" altLang="en-US" dirty="0">
              <a:solidFill>
                <a:schemeClr val="bg2">
                  <a:lumMod val="25000"/>
                </a:schemeClr>
              </a:solidFill>
            </a:endParaRPr>
          </a:p>
        </p:txBody>
      </p:sp>
      <p:grpSp>
        <p:nvGrpSpPr>
          <p:cNvPr id="19" name="组合 18"/>
          <p:cNvGrpSpPr/>
          <p:nvPr/>
        </p:nvGrpSpPr>
        <p:grpSpPr>
          <a:xfrm>
            <a:off x="2181830" y="1243794"/>
            <a:ext cx="9265423" cy="4162289"/>
            <a:chOff x="2181830" y="1243794"/>
            <a:chExt cx="9265423" cy="4162289"/>
          </a:xfrm>
        </p:grpSpPr>
        <p:cxnSp>
          <p:nvCxnSpPr>
            <p:cNvPr id="147" name="直接箭头连接符 146"/>
            <p:cNvCxnSpPr/>
            <p:nvPr/>
          </p:nvCxnSpPr>
          <p:spPr>
            <a:xfrm>
              <a:off x="4270567" y="1259452"/>
              <a:ext cx="0" cy="4058516"/>
            </a:xfrm>
            <a:prstGeom prst="straightConnector1">
              <a:avLst/>
            </a:prstGeom>
            <a:noFill/>
            <a:ln w="19050" cap="flat" cmpd="sng" algn="ctr">
              <a:solidFill>
                <a:srgbClr val="5B9BD5"/>
              </a:solidFill>
              <a:prstDash val="dash"/>
              <a:miter lim="800000"/>
              <a:tailEnd type="none"/>
            </a:ln>
            <a:effectLst/>
          </p:spPr>
        </p:cxnSp>
        <p:cxnSp>
          <p:nvCxnSpPr>
            <p:cNvPr id="148" name="直接箭头连接符 147"/>
            <p:cNvCxnSpPr/>
            <p:nvPr/>
          </p:nvCxnSpPr>
          <p:spPr>
            <a:xfrm>
              <a:off x="6424170" y="1243794"/>
              <a:ext cx="0" cy="4074174"/>
            </a:xfrm>
            <a:prstGeom prst="straightConnector1">
              <a:avLst/>
            </a:prstGeom>
            <a:noFill/>
            <a:ln w="19050" cap="flat" cmpd="sng" algn="ctr">
              <a:solidFill>
                <a:srgbClr val="5B9BD5"/>
              </a:solidFill>
              <a:prstDash val="dash"/>
              <a:miter lim="800000"/>
              <a:tailEnd type="none"/>
            </a:ln>
            <a:effectLst/>
          </p:spPr>
        </p:cxnSp>
        <p:cxnSp>
          <p:nvCxnSpPr>
            <p:cNvPr id="149" name="直接箭头连接符 148"/>
            <p:cNvCxnSpPr/>
            <p:nvPr/>
          </p:nvCxnSpPr>
          <p:spPr>
            <a:xfrm>
              <a:off x="8222544" y="1257452"/>
              <a:ext cx="0" cy="4032446"/>
            </a:xfrm>
            <a:prstGeom prst="straightConnector1">
              <a:avLst/>
            </a:prstGeom>
            <a:noFill/>
            <a:ln w="19050" cap="flat" cmpd="sng" algn="ctr">
              <a:solidFill>
                <a:srgbClr val="5B9BD5"/>
              </a:solidFill>
              <a:prstDash val="dash"/>
              <a:miter lim="800000"/>
              <a:tailEnd type="none"/>
            </a:ln>
            <a:effectLst/>
          </p:spPr>
        </p:cxnSp>
        <p:cxnSp>
          <p:nvCxnSpPr>
            <p:cNvPr id="150" name="直接箭头连接符 149"/>
            <p:cNvCxnSpPr/>
            <p:nvPr/>
          </p:nvCxnSpPr>
          <p:spPr>
            <a:xfrm>
              <a:off x="10025027" y="1243794"/>
              <a:ext cx="0" cy="4060713"/>
            </a:xfrm>
            <a:prstGeom prst="straightConnector1">
              <a:avLst/>
            </a:prstGeom>
            <a:noFill/>
            <a:ln w="19050" cap="flat" cmpd="sng" algn="ctr">
              <a:solidFill>
                <a:srgbClr val="5B9BD5"/>
              </a:solidFill>
              <a:prstDash val="dash"/>
              <a:miter lim="800000"/>
              <a:tailEnd type="none"/>
            </a:ln>
            <a:effectLst/>
          </p:spPr>
        </p:cxnSp>
        <p:cxnSp>
          <p:nvCxnSpPr>
            <p:cNvPr id="156" name="直接箭头连接符 155"/>
            <p:cNvCxnSpPr/>
            <p:nvPr/>
          </p:nvCxnSpPr>
          <p:spPr>
            <a:xfrm>
              <a:off x="2194786" y="1259452"/>
              <a:ext cx="0" cy="4146631"/>
            </a:xfrm>
            <a:prstGeom prst="straightConnector1">
              <a:avLst/>
            </a:prstGeom>
            <a:noFill/>
            <a:ln w="19050" cap="flat" cmpd="sng" algn="ctr">
              <a:solidFill>
                <a:srgbClr val="5B9BD5"/>
              </a:solidFill>
              <a:prstDash val="dash"/>
              <a:miter lim="800000"/>
              <a:tailEnd type="none"/>
            </a:ln>
            <a:effectLst/>
          </p:spPr>
        </p:cxnSp>
        <p:cxnSp>
          <p:nvCxnSpPr>
            <p:cNvPr id="14" name="直接连接符 13"/>
            <p:cNvCxnSpPr/>
            <p:nvPr/>
          </p:nvCxnSpPr>
          <p:spPr>
            <a:xfrm>
              <a:off x="2181830" y="1243794"/>
              <a:ext cx="926542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05770"/>
    </mc:Choice>
    <mc:Fallback>
      <p:transition spd="slow" advTm="205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par>
                                <p:cTn id="11" presetID="22" presetClass="entr" presetSubtype="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par>
                                <p:cTn id="14" presetID="22" presetClass="entr" presetSubtype="1"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5"/>
                                        </p:tgtEl>
                                        <p:attrNameLst>
                                          <p:attrName>style.visibility</p:attrName>
                                        </p:attrNameLst>
                                      </p:cBhvr>
                                      <p:to>
                                        <p:strVal val="visible"/>
                                      </p:to>
                                    </p:set>
                                    <p:animEffect transition="in" filter="wipe(left)">
                                      <p:cBhvr>
                                        <p:cTn id="26" dur="500"/>
                                        <p:tgtEl>
                                          <p:spTgt spid="15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51"/>
                                        </p:tgtEl>
                                        <p:attrNameLst>
                                          <p:attrName>style.visibility</p:attrName>
                                        </p:attrNameLst>
                                      </p:cBhvr>
                                      <p:to>
                                        <p:strVal val="visible"/>
                                      </p:to>
                                    </p:set>
                                    <p:animEffect transition="in" filter="wipe(left)">
                                      <p:cBhvr>
                                        <p:cTn id="29" dur="500"/>
                                        <p:tgtEl>
                                          <p:spTgt spid="151"/>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52"/>
                                        </p:tgtEl>
                                        <p:attrNameLst>
                                          <p:attrName>style.visibility</p:attrName>
                                        </p:attrNameLst>
                                      </p:cBhvr>
                                      <p:to>
                                        <p:strVal val="visible"/>
                                      </p:to>
                                    </p:set>
                                    <p:animEffect transition="in" filter="wipe(left)">
                                      <p:cBhvr>
                                        <p:cTn id="32" dur="500"/>
                                        <p:tgtEl>
                                          <p:spTgt spid="15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53"/>
                                        </p:tgtEl>
                                        <p:attrNameLst>
                                          <p:attrName>style.visibility</p:attrName>
                                        </p:attrNameLst>
                                      </p:cBhvr>
                                      <p:to>
                                        <p:strVal val="visible"/>
                                      </p:to>
                                    </p:set>
                                    <p:animEffect transition="in" filter="wipe(left)">
                                      <p:cBhvr>
                                        <p:cTn id="35" dur="500"/>
                                        <p:tgtEl>
                                          <p:spTgt spid="153"/>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54"/>
                                        </p:tgtEl>
                                        <p:attrNameLst>
                                          <p:attrName>style.visibility</p:attrName>
                                        </p:attrNameLst>
                                      </p:cBhvr>
                                      <p:to>
                                        <p:strVal val="visible"/>
                                      </p:to>
                                    </p:set>
                                    <p:animEffect transition="in" filter="wipe(left)">
                                      <p:cBhvr>
                                        <p:cTn id="38" dur="500"/>
                                        <p:tgtEl>
                                          <p:spTgt spid="15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3"/>
                                        </p:tgtEl>
                                        <p:attrNameLst>
                                          <p:attrName>style.visibility</p:attrName>
                                        </p:attrNameLst>
                                      </p:cBhvr>
                                      <p:to>
                                        <p:strVal val="visible"/>
                                      </p:to>
                                    </p:set>
                                    <p:animEffect transition="in" filter="wipe(left)">
                                      <p:cBhvr>
                                        <p:cTn id="43"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152" grpId="0"/>
      <p:bldP spid="153" grpId="0"/>
      <p:bldP spid="154" grpId="0"/>
      <p:bldP spid="155" grpId="0"/>
      <p:bldP spid="1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MIPS CPU</a:t>
            </a:r>
            <a:r>
              <a:rPr lang="zh-CN" altLang="en-US" dirty="0"/>
              <a:t>实现方案</a:t>
            </a:r>
            <a:endParaRPr lang="zh-CN" altLang="en-US" dirty="0"/>
          </a:p>
        </p:txBody>
      </p:sp>
      <p:sp>
        <p:nvSpPr>
          <p:cNvPr id="3" name="内容占位符 2"/>
          <p:cNvSpPr>
            <a:spLocks noGrp="1"/>
          </p:cNvSpPr>
          <p:nvPr>
            <p:ph idx="1"/>
          </p:nvPr>
        </p:nvSpPr>
        <p:spPr>
          <a:xfrm>
            <a:off x="284622" y="942764"/>
            <a:ext cx="10667857" cy="5637024"/>
          </a:xfrm>
        </p:spPr>
        <p:txBody>
          <a:bodyPr>
            <a:normAutofit/>
          </a:bodyPr>
          <a:lstStyle/>
          <a:p>
            <a:pPr>
              <a:lnSpc>
                <a:spcPct val="150000"/>
              </a:lnSpc>
            </a:pPr>
            <a:r>
              <a:rPr lang="zh-CN" altLang="en-US" b="1" dirty="0"/>
              <a:t>单周期方案</a:t>
            </a:r>
            <a:endParaRPr lang="en-US" altLang="zh-CN" b="1" dirty="0"/>
          </a:p>
          <a:p>
            <a:pPr lvl="1">
              <a:lnSpc>
                <a:spcPct val="150000"/>
              </a:lnSpc>
            </a:pPr>
            <a:r>
              <a:rPr lang="zh-CN" altLang="en-US" dirty="0">
                <a:solidFill>
                  <a:schemeClr val="bg2">
                    <a:lumMod val="50000"/>
                  </a:schemeClr>
                </a:solidFill>
              </a:rPr>
              <a:t>性能受限于最慢的指令</a:t>
            </a:r>
            <a:endParaRPr lang="en-US" altLang="zh-CN" dirty="0">
              <a:solidFill>
                <a:schemeClr val="bg2">
                  <a:lumMod val="50000"/>
                </a:schemeClr>
              </a:solidFill>
            </a:endParaRPr>
          </a:p>
          <a:p>
            <a:pPr lvl="1">
              <a:lnSpc>
                <a:spcPct val="150000"/>
              </a:lnSpc>
            </a:pPr>
            <a:r>
              <a:rPr lang="zh-CN" altLang="en-US" dirty="0"/>
              <a:t>结构简单，实现容易</a:t>
            </a:r>
            <a:endParaRPr lang="zh-CN" altLang="en-US" dirty="0">
              <a:solidFill>
                <a:schemeClr val="bg2">
                  <a:lumMod val="50000"/>
                </a:schemeClr>
              </a:solidFill>
            </a:endParaRPr>
          </a:p>
          <a:p>
            <a:pPr>
              <a:lnSpc>
                <a:spcPct val="150000"/>
              </a:lnSpc>
            </a:pPr>
            <a:r>
              <a:rPr lang="zh-CN" altLang="en-US" b="1" dirty="0"/>
              <a:t>多周期方案</a:t>
            </a:r>
            <a:endParaRPr lang="zh-CN" altLang="en-US" b="1" dirty="0"/>
          </a:p>
          <a:p>
            <a:pPr lvl="1">
              <a:lnSpc>
                <a:spcPct val="150000"/>
              </a:lnSpc>
            </a:pPr>
            <a:r>
              <a:rPr lang="zh-CN" altLang="en-US" b="1" dirty="0">
                <a:solidFill>
                  <a:srgbClr val="C00000"/>
                </a:solidFill>
              </a:rPr>
              <a:t>传统多周期</a:t>
            </a:r>
            <a:endParaRPr lang="zh-CN" altLang="en-US" b="1" dirty="0">
              <a:solidFill>
                <a:srgbClr val="C00000"/>
              </a:solidFill>
            </a:endParaRPr>
          </a:p>
          <a:p>
            <a:pPr marL="1252855" lvl="2" indent="-338455">
              <a:lnSpc>
                <a:spcPct val="150000"/>
              </a:lnSpc>
            </a:pPr>
            <a:r>
              <a:rPr lang="zh-CN" altLang="en-US" dirty="0"/>
              <a:t>提升性能，复用器件</a:t>
            </a:r>
            <a:endParaRPr lang="zh-CN" altLang="en-US" dirty="0"/>
          </a:p>
          <a:p>
            <a:pPr marL="1252855" lvl="2" indent="-338455">
              <a:lnSpc>
                <a:spcPct val="150000"/>
              </a:lnSpc>
            </a:pPr>
            <a:r>
              <a:rPr lang="zh-CN" altLang="en-US" dirty="0">
                <a:solidFill>
                  <a:schemeClr val="bg2">
                    <a:lumMod val="50000"/>
                  </a:schemeClr>
                </a:solidFill>
              </a:rPr>
              <a:t>异步控制，变长指令周期</a:t>
            </a:r>
            <a:endParaRPr lang="zh-CN" altLang="en-US" dirty="0">
              <a:solidFill>
                <a:schemeClr val="bg2">
                  <a:lumMod val="50000"/>
                </a:schemeClr>
              </a:solidFill>
            </a:endParaRPr>
          </a:p>
          <a:p>
            <a:pPr lvl="1">
              <a:lnSpc>
                <a:spcPct val="150000"/>
              </a:lnSpc>
            </a:pPr>
            <a:r>
              <a:rPr lang="zh-CN" altLang="en-US" b="1" dirty="0">
                <a:solidFill>
                  <a:srgbClr val="C00000"/>
                </a:solidFill>
              </a:rPr>
              <a:t>指令流水线</a:t>
            </a:r>
            <a:endParaRPr lang="zh-CN" altLang="en-US" b="1" dirty="0">
              <a:solidFill>
                <a:srgbClr val="C00000"/>
              </a:solidFill>
            </a:endParaRPr>
          </a:p>
          <a:p>
            <a:pPr marL="1252855" lvl="2" indent="-338455">
              <a:lnSpc>
                <a:spcPct val="150000"/>
              </a:lnSpc>
            </a:pPr>
            <a:r>
              <a:rPr lang="zh-CN" altLang="en-US" dirty="0">
                <a:solidFill>
                  <a:schemeClr val="bg2">
                    <a:lumMod val="50000"/>
                  </a:schemeClr>
                </a:solidFill>
              </a:rPr>
              <a:t>多指令并行，提升性能</a:t>
            </a:r>
            <a:endParaRPr lang="en-US" altLang="zh-CN" dirty="0">
              <a:solidFill>
                <a:schemeClr val="bg2">
                  <a:lumMod val="50000"/>
                </a:schemeClr>
              </a:solidFill>
            </a:endParaRPr>
          </a:p>
          <a:p>
            <a:pPr marL="1252855" lvl="2" indent="-338455">
              <a:lnSpc>
                <a:spcPct val="150000"/>
              </a:lnSpc>
            </a:pPr>
            <a:r>
              <a:rPr lang="zh-CN" altLang="en-US" dirty="0"/>
              <a:t>部件并发</a:t>
            </a:r>
            <a:endParaRPr lang="en-US" altLang="zh-CN" dirty="0"/>
          </a:p>
          <a:p>
            <a:pPr marL="1252855" lvl="2" indent="-338455">
              <a:lnSpc>
                <a:spcPct val="150000"/>
              </a:lnSpc>
            </a:pPr>
            <a:endParaRPr lang="zh-CN" altLang="en-US" dirty="0">
              <a:solidFill>
                <a:schemeClr val="bg2">
                  <a:lumMod val="50000"/>
                </a:schemeClr>
              </a:solidFill>
            </a:endParaRPr>
          </a:p>
          <a:p>
            <a:pPr lvl="1">
              <a:lnSpc>
                <a:spcPct val="150000"/>
              </a:lnSpc>
              <a:spcBef>
                <a:spcPct val="15000"/>
              </a:spcBef>
            </a:pPr>
            <a:endParaRPr lang="zh-CN" altLang="en-US" dirty="0"/>
          </a:p>
          <a:p>
            <a:endParaRPr lang="en-US" altLang="zh-CN" dirty="0"/>
          </a:p>
          <a:p>
            <a:endParaRPr lang="zh-CN" altLang="en-US" dirty="0"/>
          </a:p>
        </p:txBody>
      </p:sp>
      <p:pic>
        <p:nvPicPr>
          <p:cNvPr id="52" name="内容占位符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2304" y="1829412"/>
            <a:ext cx="8319696" cy="4672362"/>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68641"/>
    </mc:Choice>
    <mc:Fallback>
      <p:transition spd="slow" advTm="1686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wipe(up)">
                                      <p:cBhvr>
                                        <p:cTn id="18" dur="500"/>
                                        <p:tgtEl>
                                          <p:spTgt spid="5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wipe(down)">
                                      <p:cBhvr>
                                        <p:cTn id="23" dur="500"/>
                                        <p:tgtEl>
                                          <p:spTgt spid="3">
                                            <p:txEl>
                                              <p:pRg st="7" end="7"/>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wipe(down)">
                                      <p:cBhvr>
                                        <p:cTn id="26" dur="500"/>
                                        <p:tgtEl>
                                          <p:spTgt spid="3">
                                            <p:txEl>
                                              <p:pRg st="8" end="8"/>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wipe(down)">
                                      <p:cBhvr>
                                        <p:cTn id="2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4300" y="4669398"/>
            <a:ext cx="12192000"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7106"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单周期指令运行动态</a:t>
            </a:r>
            <a:endParaRPr lang="zh-CN" altLang="en-US" dirty="0">
              <a:latin typeface="宋体" panose="02010600030101010101" pitchFamily="2" charset="-122"/>
            </a:endParaRPr>
          </a:p>
        </p:txBody>
      </p:sp>
      <p:sp>
        <p:nvSpPr>
          <p:cNvPr id="47107" name="Rectangle 3"/>
          <p:cNvSpPr>
            <a:spLocks noGrp="1" noChangeArrowheads="1"/>
          </p:cNvSpPr>
          <p:nvPr>
            <p:ph type="body" idx="1"/>
          </p:nvPr>
        </p:nvSpPr>
        <p:spPr>
          <a:xfrm>
            <a:off x="2328792" y="1119222"/>
            <a:ext cx="8218487" cy="3328986"/>
          </a:xfrm>
        </p:spPr>
        <p:txBody>
          <a:bodyPr>
            <a:normAutofit/>
          </a:bodyPr>
          <a:lstStyle/>
          <a:p>
            <a:pPr marL="571500" indent="-571500" eaLnBrk="1" hangingPunct="1">
              <a:buFont typeface="Wingdings" panose="05000000000000000000" pitchFamily="2" charset="2"/>
              <a:buAutoNum type="arabicPeriod"/>
              <a:defRPr/>
            </a:pPr>
            <a:endParaRPr lang="en-US" altLang="zh-CN" dirty="0">
              <a:solidFill>
                <a:srgbClr val="FF3300"/>
              </a:solidFill>
              <a:latin typeface="华文新魏" panose="02010800040101010101" pitchFamily="2" charset="-122"/>
            </a:endParaRPr>
          </a:p>
          <a:p>
            <a:pPr marL="571500" indent="-571500" eaLnBrk="1" hangingPunct="1">
              <a:buFont typeface="Wingdings" panose="05000000000000000000" pitchFamily="2" charset="2"/>
              <a:buAutoNum type="arabicPeriod"/>
              <a:defRPr/>
            </a:pPr>
            <a:endParaRPr lang="en-US" altLang="zh-CN" dirty="0">
              <a:solidFill>
                <a:srgbClr val="FF3300"/>
              </a:solidFill>
              <a:latin typeface="华文新魏" panose="02010800040101010101" pitchFamily="2" charset="-122"/>
            </a:endParaRPr>
          </a:p>
          <a:p>
            <a:pPr marL="571500" indent="-571500" eaLnBrk="1" hangingPunct="1">
              <a:buFont typeface="Wingdings" panose="05000000000000000000" pitchFamily="2" charset="2"/>
              <a:buAutoNum type="arabicPeriod"/>
              <a:defRPr/>
            </a:pPr>
            <a:endParaRPr lang="en-US" altLang="zh-CN" dirty="0">
              <a:solidFill>
                <a:srgbClr val="FF3300"/>
              </a:solidFill>
              <a:latin typeface="华文新魏" panose="02010800040101010101" pitchFamily="2" charset="-122"/>
            </a:endParaRPr>
          </a:p>
          <a:p>
            <a:pPr marL="571500" indent="-571500" eaLnBrk="1" hangingPunct="1">
              <a:buFont typeface="Wingdings" panose="05000000000000000000" pitchFamily="2" charset="2"/>
              <a:buAutoNum type="arabicPeriod"/>
              <a:defRPr/>
            </a:pPr>
            <a:endParaRPr lang="en-US" altLang="zh-CN" dirty="0">
              <a:solidFill>
                <a:srgbClr val="FF3300"/>
              </a:solidFill>
              <a:latin typeface="华文新魏" panose="02010800040101010101" pitchFamily="2" charset="-122"/>
            </a:endParaRPr>
          </a:p>
          <a:p>
            <a:pPr marL="571500" indent="-571500" eaLnBrk="1" hangingPunct="1">
              <a:defRPr/>
            </a:pPr>
            <a:endParaRPr lang="en-US" altLang="zh-CN" dirty="0"/>
          </a:p>
        </p:txBody>
      </p:sp>
      <p:sp>
        <p:nvSpPr>
          <p:cNvPr id="47113" name="Line 8"/>
          <p:cNvSpPr>
            <a:spLocks noChangeShapeType="1"/>
          </p:cNvSpPr>
          <p:nvPr/>
        </p:nvSpPr>
        <p:spPr bwMode="auto">
          <a:xfrm>
            <a:off x="2827241" y="5115486"/>
            <a:ext cx="719137"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2" name="组合 1"/>
          <p:cNvGrpSpPr/>
          <p:nvPr/>
        </p:nvGrpSpPr>
        <p:grpSpPr>
          <a:xfrm>
            <a:off x="3546378" y="4755124"/>
            <a:ext cx="1152525" cy="792163"/>
            <a:chOff x="3660678" y="4991100"/>
            <a:chExt cx="1152525" cy="792163"/>
          </a:xfrm>
        </p:grpSpPr>
        <p:sp>
          <p:nvSpPr>
            <p:cNvPr id="47109"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20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114"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1" name="组合 20"/>
          <p:cNvGrpSpPr/>
          <p:nvPr/>
        </p:nvGrpSpPr>
        <p:grpSpPr>
          <a:xfrm>
            <a:off x="4704838" y="4755124"/>
            <a:ext cx="1152525" cy="792163"/>
            <a:chOff x="3660678" y="4991100"/>
            <a:chExt cx="1152525" cy="792163"/>
          </a:xfrm>
        </p:grpSpPr>
        <p:sp>
          <p:nvSpPr>
            <p:cNvPr id="22"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3"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4" name="组合 23"/>
          <p:cNvGrpSpPr/>
          <p:nvPr/>
        </p:nvGrpSpPr>
        <p:grpSpPr>
          <a:xfrm>
            <a:off x="5863298" y="4755124"/>
            <a:ext cx="1152525" cy="792163"/>
            <a:chOff x="3660678" y="4991100"/>
            <a:chExt cx="1152525" cy="792163"/>
          </a:xfrm>
        </p:grpSpPr>
        <p:sp>
          <p:nvSpPr>
            <p:cNvPr id="25"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6"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7" name="组合 26"/>
          <p:cNvGrpSpPr/>
          <p:nvPr/>
        </p:nvGrpSpPr>
        <p:grpSpPr>
          <a:xfrm>
            <a:off x="7021758" y="4755124"/>
            <a:ext cx="1152525" cy="792163"/>
            <a:chOff x="3660678" y="4991100"/>
            <a:chExt cx="1152525" cy="792163"/>
          </a:xfrm>
          <a:solidFill>
            <a:schemeClr val="bg1"/>
          </a:solidFill>
        </p:grpSpPr>
        <p:sp>
          <p:nvSpPr>
            <p:cNvPr id="28"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9"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30" name="组合 29"/>
          <p:cNvGrpSpPr/>
          <p:nvPr/>
        </p:nvGrpSpPr>
        <p:grpSpPr>
          <a:xfrm>
            <a:off x="8180218" y="4755124"/>
            <a:ext cx="1152525" cy="792163"/>
            <a:chOff x="3660678" y="4991100"/>
            <a:chExt cx="1152525" cy="792163"/>
          </a:xfrm>
        </p:grpSpPr>
        <p:sp>
          <p:nvSpPr>
            <p:cNvPr id="31"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2"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4" name="组合 3"/>
          <p:cNvGrpSpPr/>
          <p:nvPr/>
        </p:nvGrpSpPr>
        <p:grpSpPr>
          <a:xfrm>
            <a:off x="-3421308" y="4755124"/>
            <a:ext cx="6377551" cy="792163"/>
            <a:chOff x="5505378" y="3032760"/>
            <a:chExt cx="6377551" cy="792163"/>
          </a:xfrm>
        </p:grpSpPr>
        <p:sp>
          <p:nvSpPr>
            <p:cNvPr id="43" name="Rectangle 4"/>
            <p:cNvSpPr>
              <a:spLocks noChangeArrowheads="1"/>
            </p:cNvSpPr>
            <p:nvPr/>
          </p:nvSpPr>
          <p:spPr bwMode="auto">
            <a:xfrm>
              <a:off x="5505378" y="3032760"/>
              <a:ext cx="576263" cy="792163"/>
            </a:xfrm>
            <a:prstGeom prst="rect">
              <a:avLst/>
            </a:prstGeom>
            <a:solidFill>
              <a:srgbClr val="92D05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2" name="Rectangle 4"/>
            <p:cNvSpPr>
              <a:spLocks noChangeArrowheads="1"/>
            </p:cNvSpPr>
            <p:nvPr/>
          </p:nvSpPr>
          <p:spPr bwMode="auto">
            <a:xfrm>
              <a:off x="11306666" y="3032760"/>
              <a:ext cx="576263" cy="792163"/>
            </a:xfrm>
            <a:prstGeom prst="rect">
              <a:avLst/>
            </a:prstGeom>
            <a:solidFill>
              <a:srgbClr val="FFC00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sp>
        <p:nvSpPr>
          <p:cNvPr id="76" name="矩形 75"/>
          <p:cNvSpPr/>
          <p:nvPr/>
        </p:nvSpPr>
        <p:spPr>
          <a:xfrm>
            <a:off x="-140061" y="4706850"/>
            <a:ext cx="3126082" cy="967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 name="矩形 86"/>
          <p:cNvSpPr/>
          <p:nvPr/>
        </p:nvSpPr>
        <p:spPr>
          <a:xfrm>
            <a:off x="9319145" y="4678129"/>
            <a:ext cx="3084465"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文本框 6"/>
          <p:cNvSpPr txBox="1"/>
          <p:nvPr/>
        </p:nvSpPr>
        <p:spPr>
          <a:xfrm>
            <a:off x="3495360" y="567920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取指</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4665970" y="567920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译码</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5" name="文本框 94"/>
          <p:cNvSpPr txBox="1"/>
          <p:nvPr/>
        </p:nvSpPr>
        <p:spPr>
          <a:xfrm>
            <a:off x="5836580" y="567920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6" name="文本框 95"/>
          <p:cNvSpPr txBox="1"/>
          <p:nvPr/>
        </p:nvSpPr>
        <p:spPr>
          <a:xfrm>
            <a:off x="7007190" y="567920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访存</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7" name="文本框 96"/>
          <p:cNvSpPr txBox="1"/>
          <p:nvPr/>
        </p:nvSpPr>
        <p:spPr>
          <a:xfrm>
            <a:off x="8177800" y="567920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写回</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98" name="直接连接符 97"/>
          <p:cNvCxnSpPr/>
          <p:nvPr/>
        </p:nvCxnSpPr>
        <p:spPr>
          <a:xfrm>
            <a:off x="0" y="4660667"/>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0" y="5650473"/>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tangle 4"/>
          <p:cNvSpPr>
            <a:spLocks noChangeArrowheads="1"/>
          </p:cNvSpPr>
          <p:nvPr/>
        </p:nvSpPr>
        <p:spPr bwMode="auto">
          <a:xfrm>
            <a:off x="3544791" y="4765130"/>
            <a:ext cx="576263" cy="792163"/>
          </a:xfrm>
          <a:prstGeom prst="rect">
            <a:avLst/>
          </a:prstGeom>
          <a:solidFill>
            <a:srgbClr val="00B050">
              <a:alpha val="37000"/>
            </a:srgb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6" name="Rectangle 4"/>
          <p:cNvSpPr>
            <a:spLocks noChangeArrowheads="1"/>
          </p:cNvSpPr>
          <p:nvPr/>
        </p:nvSpPr>
        <p:spPr bwMode="auto">
          <a:xfrm>
            <a:off x="4704750" y="4766975"/>
            <a:ext cx="576263" cy="792163"/>
          </a:xfrm>
          <a:prstGeom prst="rect">
            <a:avLst/>
          </a:prstGeom>
          <a:solidFill>
            <a:srgbClr val="00B050">
              <a:alpha val="36863"/>
            </a:srgb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7" name="Rectangle 4"/>
          <p:cNvSpPr>
            <a:spLocks noChangeArrowheads="1"/>
          </p:cNvSpPr>
          <p:nvPr/>
        </p:nvSpPr>
        <p:spPr bwMode="auto">
          <a:xfrm>
            <a:off x="5860345" y="4759489"/>
            <a:ext cx="576263" cy="792163"/>
          </a:xfrm>
          <a:prstGeom prst="rect">
            <a:avLst/>
          </a:prstGeom>
          <a:solidFill>
            <a:srgbClr val="00B050">
              <a:alpha val="36863"/>
            </a:srgb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8" name="Rectangle 4"/>
          <p:cNvSpPr>
            <a:spLocks noChangeArrowheads="1"/>
          </p:cNvSpPr>
          <p:nvPr/>
        </p:nvSpPr>
        <p:spPr bwMode="auto">
          <a:xfrm>
            <a:off x="7016213" y="4763530"/>
            <a:ext cx="576263" cy="792163"/>
          </a:xfrm>
          <a:prstGeom prst="rect">
            <a:avLst/>
          </a:prstGeom>
          <a:solidFill>
            <a:srgbClr val="00B050">
              <a:alpha val="36863"/>
            </a:srgb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9" name="Rectangle 4"/>
          <p:cNvSpPr>
            <a:spLocks noChangeArrowheads="1"/>
          </p:cNvSpPr>
          <p:nvPr/>
        </p:nvSpPr>
        <p:spPr bwMode="auto">
          <a:xfrm>
            <a:off x="8174673" y="4757274"/>
            <a:ext cx="576263" cy="792163"/>
          </a:xfrm>
          <a:prstGeom prst="rect">
            <a:avLst/>
          </a:prstGeom>
          <a:solidFill>
            <a:srgbClr val="00B050">
              <a:alpha val="36863"/>
            </a:srgb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8" name="内容占位符 2"/>
          <p:cNvSpPr txBox="1"/>
          <p:nvPr/>
        </p:nvSpPr>
        <p:spPr>
          <a:xfrm>
            <a:off x="284622" y="942764"/>
            <a:ext cx="10667857" cy="5637024"/>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t>数据通路细分为</a:t>
            </a:r>
            <a:r>
              <a:rPr lang="en-US" altLang="zh-CN" dirty="0"/>
              <a:t>5</a:t>
            </a:r>
            <a:r>
              <a:rPr lang="zh-CN" altLang="en-US" dirty="0"/>
              <a:t>段，总时长为</a:t>
            </a:r>
            <a:r>
              <a:rPr lang="en-US" altLang="zh-CN" dirty="0"/>
              <a:t>1</a:t>
            </a:r>
            <a:r>
              <a:rPr lang="zh-CN" altLang="en-US" dirty="0"/>
              <a:t>个时钟周期</a:t>
            </a:r>
            <a:r>
              <a:rPr lang="en-US" altLang="zh-CN" dirty="0"/>
              <a:t>=5T</a:t>
            </a:r>
            <a:r>
              <a:rPr lang="zh-CN" altLang="en-US" dirty="0"/>
              <a:t>（</a:t>
            </a:r>
            <a:r>
              <a:rPr lang="en-US" altLang="zh-CN" dirty="0"/>
              <a:t>T</a:t>
            </a:r>
            <a:r>
              <a:rPr lang="zh-CN" altLang="en-US" dirty="0"/>
              <a:t>为单个模块的</a:t>
            </a:r>
            <a:r>
              <a:rPr lang="zh-CN" altLang="en-US" dirty="0"/>
              <a:t>延时）</a:t>
            </a:r>
            <a:endParaRPr lang="en-US" altLang="zh-CN" dirty="0"/>
          </a:p>
          <a:p>
            <a:pPr lvl="1">
              <a:lnSpc>
                <a:spcPct val="150000"/>
              </a:lnSpc>
            </a:pPr>
            <a:r>
              <a:rPr lang="zh-CN" altLang="en-US" dirty="0"/>
              <a:t> 取指令        </a:t>
            </a:r>
            <a:r>
              <a:rPr lang="en-US" altLang="zh-CN" dirty="0"/>
              <a:t>IF    (Instruction Fetch)</a:t>
            </a:r>
            <a:endParaRPr lang="en-US" altLang="zh-CN" dirty="0"/>
          </a:p>
          <a:p>
            <a:pPr lvl="1">
              <a:lnSpc>
                <a:spcPct val="150000"/>
              </a:lnSpc>
            </a:pPr>
            <a:r>
              <a:rPr lang="en-US" altLang="zh-CN" dirty="0"/>
              <a:t> </a:t>
            </a:r>
            <a:r>
              <a:rPr lang="zh-CN" altLang="en-US" dirty="0"/>
              <a:t>指令译码    </a:t>
            </a:r>
            <a:r>
              <a:rPr lang="en-US" altLang="zh-CN" dirty="0"/>
              <a:t>ID    (Instruction Decode)</a:t>
            </a:r>
            <a:endParaRPr lang="en-US" altLang="zh-CN" dirty="0"/>
          </a:p>
          <a:p>
            <a:pPr lvl="1">
              <a:lnSpc>
                <a:spcPct val="150000"/>
              </a:lnSpc>
            </a:pPr>
            <a:r>
              <a:rPr lang="en-US" altLang="zh-CN" dirty="0"/>
              <a:t> </a:t>
            </a:r>
            <a:r>
              <a:rPr lang="zh-CN" altLang="en-US" dirty="0"/>
              <a:t>执行运算    </a:t>
            </a:r>
            <a:r>
              <a:rPr lang="en-US" altLang="zh-CN" dirty="0"/>
              <a:t>EX   (Execution)</a:t>
            </a:r>
            <a:endParaRPr lang="en-US" altLang="zh-CN" dirty="0"/>
          </a:p>
          <a:p>
            <a:pPr lvl="1">
              <a:lnSpc>
                <a:spcPct val="150000"/>
              </a:lnSpc>
            </a:pPr>
            <a:r>
              <a:rPr lang="en-US" altLang="zh-CN" dirty="0"/>
              <a:t> </a:t>
            </a:r>
            <a:r>
              <a:rPr lang="zh-CN" altLang="en-US" dirty="0"/>
              <a:t>访存阶段    </a:t>
            </a:r>
            <a:r>
              <a:rPr lang="en-US" altLang="zh-CN" dirty="0"/>
              <a:t>MEM</a:t>
            </a:r>
            <a:r>
              <a:rPr lang="zh-CN" altLang="en-US" dirty="0"/>
              <a:t>（</a:t>
            </a:r>
            <a:r>
              <a:rPr lang="en-US" altLang="zh-CN" dirty="0"/>
              <a:t>Memory For </a:t>
            </a:r>
            <a:r>
              <a:rPr lang="en-US" altLang="zh-CN" dirty="0">
                <a:sym typeface="+mn-ea"/>
              </a:rPr>
              <a:t>Data </a:t>
            </a:r>
            <a:r>
              <a:rPr lang="zh-CN" altLang="en-US" dirty="0"/>
              <a:t>）</a:t>
            </a:r>
            <a:endParaRPr lang="en-US" altLang="zh-CN" dirty="0"/>
          </a:p>
          <a:p>
            <a:pPr lvl="1">
              <a:lnSpc>
                <a:spcPct val="150000"/>
              </a:lnSpc>
            </a:pPr>
            <a:r>
              <a:rPr lang="en-US" altLang="zh-CN" dirty="0"/>
              <a:t> </a:t>
            </a:r>
            <a:r>
              <a:rPr lang="zh-CN" altLang="en-US" dirty="0"/>
              <a:t>结果写回    </a:t>
            </a:r>
            <a:r>
              <a:rPr lang="en-US" altLang="zh-CN" dirty="0"/>
              <a:t>WB  (Write Back)</a:t>
            </a:r>
            <a:endParaRPr lang="en-US" altLang="zh-CN" dirty="0"/>
          </a:p>
        </p:txBody>
      </p:sp>
      <p:pic>
        <p:nvPicPr>
          <p:cNvPr id="3" name="图片 2"/>
          <p:cNvPicPr>
            <a:picLocks noChangeAspect="1"/>
          </p:cNvPicPr>
          <p:nvPr/>
        </p:nvPicPr>
        <p:blipFill>
          <a:blip r:embed="rId1"/>
          <a:stretch>
            <a:fillRect/>
          </a:stretch>
        </p:blipFill>
        <p:spPr>
          <a:xfrm>
            <a:off x="5981700" y="1856330"/>
            <a:ext cx="5867491" cy="2339018"/>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05113"/>
    </mc:Choice>
    <mc:Fallback>
      <p:transition spd="slow" advTm="1051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animEffect transition="in" filter="wipe(down)">
                                      <p:cBhvr>
                                        <p:cTn id="7" dur="500"/>
                                        <p:tgtEl>
                                          <p:spTgt spid="38">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8">
                                            <p:txEl>
                                              <p:pRg st="2" end="2"/>
                                            </p:txEl>
                                          </p:spTgt>
                                        </p:tgtEl>
                                        <p:attrNameLst>
                                          <p:attrName>style.visibility</p:attrName>
                                        </p:attrNameLst>
                                      </p:cBhvr>
                                      <p:to>
                                        <p:strVal val="visible"/>
                                      </p:to>
                                    </p:set>
                                    <p:animEffect transition="in" filter="wipe(down)">
                                      <p:cBhvr>
                                        <p:cTn id="10" dur="500"/>
                                        <p:tgtEl>
                                          <p:spTgt spid="38">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8">
                                            <p:txEl>
                                              <p:pRg st="3" end="3"/>
                                            </p:txEl>
                                          </p:spTgt>
                                        </p:tgtEl>
                                        <p:attrNameLst>
                                          <p:attrName>style.visibility</p:attrName>
                                        </p:attrNameLst>
                                      </p:cBhvr>
                                      <p:to>
                                        <p:strVal val="visible"/>
                                      </p:to>
                                    </p:set>
                                    <p:animEffect transition="in" filter="wipe(down)">
                                      <p:cBhvr>
                                        <p:cTn id="13" dur="500"/>
                                        <p:tgtEl>
                                          <p:spTgt spid="38">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8">
                                            <p:txEl>
                                              <p:pRg st="4" end="4"/>
                                            </p:txEl>
                                          </p:spTgt>
                                        </p:tgtEl>
                                        <p:attrNameLst>
                                          <p:attrName>style.visibility</p:attrName>
                                        </p:attrNameLst>
                                      </p:cBhvr>
                                      <p:to>
                                        <p:strVal val="visible"/>
                                      </p:to>
                                    </p:set>
                                    <p:animEffect transition="in" filter="wipe(down)">
                                      <p:cBhvr>
                                        <p:cTn id="16" dur="500"/>
                                        <p:tgtEl>
                                          <p:spTgt spid="38">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8">
                                            <p:txEl>
                                              <p:pRg st="5" end="5"/>
                                            </p:txEl>
                                          </p:spTgt>
                                        </p:tgtEl>
                                        <p:attrNameLst>
                                          <p:attrName>style.visibility</p:attrName>
                                        </p:attrNameLst>
                                      </p:cBhvr>
                                      <p:to>
                                        <p:strVal val="visible"/>
                                      </p:to>
                                    </p:set>
                                    <p:animEffect transition="in" filter="wipe(down)">
                                      <p:cBhvr>
                                        <p:cTn id="19" dur="500"/>
                                        <p:tgtEl>
                                          <p:spTgt spid="38">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1"/>
                                        </p:tgtEl>
                                        <p:attrNameLst>
                                          <p:attrName>style.visibility</p:attrName>
                                        </p:attrNameLst>
                                      </p:cBhvr>
                                      <p:to>
                                        <p:strVal val="visible"/>
                                      </p:to>
                                    </p:set>
                                    <p:animEffect transition="in" filter="wipe(left)">
                                      <p:cBhvr>
                                        <p:cTn id="24" dur="500"/>
                                        <p:tgtEl>
                                          <p:spTgt spid="10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01"/>
                                        </p:tgtEl>
                                        <p:attrNameLst>
                                          <p:attrName>style.visibility</p:attrName>
                                        </p:attrNameLst>
                                      </p:cBhvr>
                                      <p:to>
                                        <p:strVal val="hidden"/>
                                      </p:to>
                                    </p:set>
                                  </p:childTnLst>
                                </p:cTn>
                              </p:par>
                            </p:childTnLst>
                          </p:cTn>
                        </p:par>
                        <p:par>
                          <p:cTn id="29" fill="hold">
                            <p:stCondLst>
                              <p:cond delay="0"/>
                            </p:stCondLst>
                            <p:childTnLst>
                              <p:par>
                                <p:cTn id="30" presetID="22" presetClass="entr" presetSubtype="8" fill="hold" grpId="0" nodeType="after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wipe(left)">
                                      <p:cBhvr>
                                        <p:cTn id="32" dur="5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06"/>
                                        </p:tgtEl>
                                        <p:attrNameLst>
                                          <p:attrName>style.visibility</p:attrName>
                                        </p:attrNameLst>
                                      </p:cBhvr>
                                      <p:to>
                                        <p:strVal val="hidden"/>
                                      </p:to>
                                    </p:set>
                                  </p:childTnLst>
                                </p:cTn>
                              </p:par>
                            </p:childTnLst>
                          </p:cTn>
                        </p:par>
                        <p:par>
                          <p:cTn id="37" fill="hold">
                            <p:stCondLst>
                              <p:cond delay="0"/>
                            </p:stCondLst>
                            <p:childTnLst>
                              <p:par>
                                <p:cTn id="38" presetID="22" presetClass="entr" presetSubtype="8" fill="hold" grpId="0" nodeType="afterEffect">
                                  <p:stCondLst>
                                    <p:cond delay="0"/>
                                  </p:stCondLst>
                                  <p:childTnLst>
                                    <p:set>
                                      <p:cBhvr>
                                        <p:cTn id="39" dur="1" fill="hold">
                                          <p:stCondLst>
                                            <p:cond delay="0"/>
                                          </p:stCondLst>
                                        </p:cTn>
                                        <p:tgtEl>
                                          <p:spTgt spid="107"/>
                                        </p:tgtEl>
                                        <p:attrNameLst>
                                          <p:attrName>style.visibility</p:attrName>
                                        </p:attrNameLst>
                                      </p:cBhvr>
                                      <p:to>
                                        <p:strVal val="visible"/>
                                      </p:to>
                                    </p:set>
                                    <p:animEffect transition="in" filter="wipe(left)">
                                      <p:cBhvr>
                                        <p:cTn id="40" dur="500"/>
                                        <p:tgtEl>
                                          <p:spTgt spid="10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07"/>
                                        </p:tgtEl>
                                        <p:attrNameLst>
                                          <p:attrName>style.visibility</p:attrName>
                                        </p:attrNameLst>
                                      </p:cBhvr>
                                      <p:to>
                                        <p:strVal val="hidden"/>
                                      </p:to>
                                    </p:set>
                                  </p:childTnLst>
                                </p:cTn>
                              </p:par>
                            </p:childTnLst>
                          </p:cTn>
                        </p:par>
                        <p:par>
                          <p:cTn id="45" fill="hold">
                            <p:stCondLst>
                              <p:cond delay="0"/>
                            </p:stCondLst>
                            <p:childTnLst>
                              <p:par>
                                <p:cTn id="46" presetID="22" presetClass="entr" presetSubtype="8" fill="hold" grpId="0" nodeType="afterEffect">
                                  <p:stCondLst>
                                    <p:cond delay="0"/>
                                  </p:stCondLst>
                                  <p:childTnLst>
                                    <p:set>
                                      <p:cBhvr>
                                        <p:cTn id="47" dur="1" fill="hold">
                                          <p:stCondLst>
                                            <p:cond delay="0"/>
                                          </p:stCondLst>
                                        </p:cTn>
                                        <p:tgtEl>
                                          <p:spTgt spid="108"/>
                                        </p:tgtEl>
                                        <p:attrNameLst>
                                          <p:attrName>style.visibility</p:attrName>
                                        </p:attrNameLst>
                                      </p:cBhvr>
                                      <p:to>
                                        <p:strVal val="visible"/>
                                      </p:to>
                                    </p:set>
                                    <p:animEffect transition="in" filter="wipe(left)">
                                      <p:cBhvr>
                                        <p:cTn id="48" dur="500"/>
                                        <p:tgtEl>
                                          <p:spTgt spid="10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08"/>
                                        </p:tgtEl>
                                        <p:attrNameLst>
                                          <p:attrName>style.visibility</p:attrName>
                                        </p:attrNameLst>
                                      </p:cBhvr>
                                      <p:to>
                                        <p:strVal val="hidden"/>
                                      </p:to>
                                    </p:set>
                                  </p:childTnLst>
                                </p:cTn>
                              </p:par>
                            </p:childTnLst>
                          </p:cTn>
                        </p:par>
                        <p:par>
                          <p:cTn id="53" fill="hold">
                            <p:stCondLst>
                              <p:cond delay="0"/>
                            </p:stCondLst>
                            <p:childTnLst>
                              <p:par>
                                <p:cTn id="54" presetID="22" presetClass="entr" presetSubtype="8" fill="hold" grpId="0" nodeType="afterEffect">
                                  <p:stCondLst>
                                    <p:cond delay="0"/>
                                  </p:stCondLst>
                                  <p:childTnLst>
                                    <p:set>
                                      <p:cBhvr>
                                        <p:cTn id="55" dur="1" fill="hold">
                                          <p:stCondLst>
                                            <p:cond delay="0"/>
                                          </p:stCondLst>
                                        </p:cTn>
                                        <p:tgtEl>
                                          <p:spTgt spid="109"/>
                                        </p:tgtEl>
                                        <p:attrNameLst>
                                          <p:attrName>style.visibility</p:attrName>
                                        </p:attrNameLst>
                                      </p:cBhvr>
                                      <p:to>
                                        <p:strVal val="visible"/>
                                      </p:to>
                                    </p:set>
                                    <p:animEffect transition="in" filter="wipe(left)">
                                      <p:cBhvr>
                                        <p:cTn id="56" dur="500"/>
                                        <p:tgtEl>
                                          <p:spTgt spid="109"/>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0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4.16667E-7 4.07407E-6 L 0.09479 4.07407E-6 " pathEditMode="relative" rAng="0" ptsTypes="AA">
                                      <p:cBhvr>
                                        <p:cTn id="64" dur="500" fill="hold"/>
                                        <p:tgtEl>
                                          <p:spTgt spid="4"/>
                                        </p:tgtEl>
                                        <p:attrNameLst>
                                          <p:attrName>ppt_x</p:attrName>
                                          <p:attrName>ppt_y</p:attrName>
                                        </p:attrNameLst>
                                      </p:cBhvr>
                                      <p:rCtr x="4740" y="0"/>
                                    </p:animMotion>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nodeType="clickEffect">
                                  <p:stCondLst>
                                    <p:cond delay="0"/>
                                  </p:stCondLst>
                                  <p:childTnLst>
                                    <p:animMotion origin="layout" path="M 0.09479 4.07407E-6 L 0.18997 4.07407E-6 " pathEditMode="relative" rAng="0" ptsTypes="AA">
                                      <p:cBhvr>
                                        <p:cTn id="68" dur="500" fill="hold"/>
                                        <p:tgtEl>
                                          <p:spTgt spid="4"/>
                                        </p:tgtEl>
                                        <p:attrNameLst>
                                          <p:attrName>ppt_x</p:attrName>
                                          <p:attrName>ppt_y</p:attrName>
                                        </p:attrNameLst>
                                      </p:cBhvr>
                                      <p:rCtr x="4753" y="0"/>
                                    </p:animMotion>
                                  </p:childTnLst>
                                </p:cTn>
                              </p:par>
                            </p:childTnLst>
                          </p:cTn>
                        </p:par>
                      </p:childTnLst>
                    </p:cTn>
                  </p:par>
                  <p:par>
                    <p:cTn id="69" fill="hold">
                      <p:stCondLst>
                        <p:cond delay="indefinite"/>
                      </p:stCondLst>
                      <p:childTnLst>
                        <p:par>
                          <p:cTn id="70" fill="hold">
                            <p:stCondLst>
                              <p:cond delay="0"/>
                            </p:stCondLst>
                            <p:childTnLst>
                              <p:par>
                                <p:cTn id="71" presetID="63" presetClass="path" presetSubtype="0" accel="50000" decel="50000" fill="hold" nodeType="clickEffect">
                                  <p:stCondLst>
                                    <p:cond delay="0"/>
                                  </p:stCondLst>
                                  <p:childTnLst>
                                    <p:animMotion origin="layout" path="M 0.18997 4.07407E-6 L 0.28529 4.07407E-6 " pathEditMode="relative" rAng="0" ptsTypes="AA">
                                      <p:cBhvr>
                                        <p:cTn id="72" dur="500" fill="hold"/>
                                        <p:tgtEl>
                                          <p:spTgt spid="4"/>
                                        </p:tgtEl>
                                        <p:attrNameLst>
                                          <p:attrName>ppt_x</p:attrName>
                                          <p:attrName>ppt_y</p:attrName>
                                        </p:attrNameLst>
                                      </p:cBhvr>
                                      <p:rCtr x="4766" y="0"/>
                                    </p:animMotion>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nodeType="clickEffect">
                                  <p:stCondLst>
                                    <p:cond delay="0"/>
                                  </p:stCondLst>
                                  <p:childTnLst>
                                    <p:animMotion origin="layout" path="M 0.28529 4.07407E-6 L 0.38047 4.07407E-6 " pathEditMode="relative" rAng="0" ptsTypes="AA">
                                      <p:cBhvr>
                                        <p:cTn id="76" dur="500" fill="hold"/>
                                        <p:tgtEl>
                                          <p:spTgt spid="4"/>
                                        </p:tgtEl>
                                        <p:attrNameLst>
                                          <p:attrName>ppt_x</p:attrName>
                                          <p:attrName>ppt_y</p:attrName>
                                        </p:attrNameLst>
                                      </p:cBhvr>
                                      <p:rCtr x="4753" y="0"/>
                                    </p:animMotion>
                                  </p:childTnLst>
                                </p:cTn>
                              </p:par>
                            </p:childTnLst>
                          </p:cTn>
                        </p:par>
                      </p:childTnLst>
                    </p:cTn>
                  </p:par>
                  <p:par>
                    <p:cTn id="77" fill="hold">
                      <p:stCondLst>
                        <p:cond delay="indefinite"/>
                      </p:stCondLst>
                      <p:childTnLst>
                        <p:par>
                          <p:cTn id="78" fill="hold">
                            <p:stCondLst>
                              <p:cond delay="0"/>
                            </p:stCondLst>
                            <p:childTnLst>
                              <p:par>
                                <p:cTn id="79" presetID="63" presetClass="path" presetSubtype="0" accel="50000" decel="50000" fill="hold" nodeType="clickEffect">
                                  <p:stCondLst>
                                    <p:cond delay="0"/>
                                  </p:stCondLst>
                                  <p:childTnLst>
                                    <p:animMotion origin="layout" path="M 0.38047 4.07407E-6 L 0.47604 4.07407E-6 " pathEditMode="relative" rAng="0" ptsTypes="AA">
                                      <p:cBhvr>
                                        <p:cTn id="80" dur="500" fill="hold"/>
                                        <p:tgtEl>
                                          <p:spTgt spid="4"/>
                                        </p:tgtEl>
                                        <p:attrNameLst>
                                          <p:attrName>ppt_x</p:attrName>
                                          <p:attrName>ppt_y</p:attrName>
                                        </p:attrNameLst>
                                      </p:cBhvr>
                                      <p:rCtr x="4779" y="0"/>
                                    </p:animMotion>
                                  </p:childTnLst>
                                </p:cTn>
                              </p:par>
                            </p:childTnLst>
                          </p:cTn>
                        </p:par>
                      </p:childTnLst>
                    </p:cTn>
                  </p:par>
                  <p:par>
                    <p:cTn id="81" fill="hold">
                      <p:stCondLst>
                        <p:cond delay="indefinite"/>
                      </p:stCondLst>
                      <p:childTnLst>
                        <p:par>
                          <p:cTn id="82" fill="hold">
                            <p:stCondLst>
                              <p:cond delay="0"/>
                            </p:stCondLst>
                            <p:childTnLst>
                              <p:par>
                                <p:cTn id="83" presetID="63" presetClass="path" presetSubtype="0" accel="50000" decel="50000" fill="hold" nodeType="clickEffect">
                                  <p:stCondLst>
                                    <p:cond delay="0"/>
                                  </p:stCondLst>
                                  <p:childTnLst>
                                    <p:animMotion origin="layout" path="M 0.47604 4.07407E-6 L 0.57109 4.07407E-6 " pathEditMode="relative" rAng="0" ptsTypes="AA">
                                      <p:cBhvr>
                                        <p:cTn id="84" dur="500" fill="hold"/>
                                        <p:tgtEl>
                                          <p:spTgt spid="4"/>
                                        </p:tgtEl>
                                        <p:attrNameLst>
                                          <p:attrName>ppt_x</p:attrName>
                                          <p:attrName>ppt_y</p:attrName>
                                        </p:attrNameLst>
                                      </p:cBhvr>
                                      <p:rCtr x="4753" y="0"/>
                                    </p:animMotion>
                                  </p:childTnLst>
                                </p:cTn>
                              </p:par>
                            </p:childTnLst>
                          </p:cTn>
                        </p:par>
                      </p:childTnLst>
                    </p:cTn>
                  </p:par>
                  <p:par>
                    <p:cTn id="85" fill="hold">
                      <p:stCondLst>
                        <p:cond delay="indefinite"/>
                      </p:stCondLst>
                      <p:childTnLst>
                        <p:par>
                          <p:cTn id="86" fill="hold">
                            <p:stCondLst>
                              <p:cond delay="0"/>
                            </p:stCondLst>
                            <p:childTnLst>
                              <p:par>
                                <p:cTn id="87" presetID="63" presetClass="path" presetSubtype="0" accel="50000" decel="50000" fill="hold" nodeType="clickEffect">
                                  <p:stCondLst>
                                    <p:cond delay="0"/>
                                  </p:stCondLst>
                                  <p:childTnLst>
                                    <p:animMotion origin="layout" path="M 0.57109 4.07407E-6 L 0.66615 4.07407E-6 " pathEditMode="relative" rAng="0" ptsTypes="AA">
                                      <p:cBhvr>
                                        <p:cTn id="88" dur="500" fill="hold"/>
                                        <p:tgtEl>
                                          <p:spTgt spid="4"/>
                                        </p:tgtEl>
                                        <p:attrNameLst>
                                          <p:attrName>ppt_x</p:attrName>
                                          <p:attrName>ppt_y</p:attrName>
                                        </p:attrNameLst>
                                      </p:cBhvr>
                                      <p:rCtr x="4753" y="0"/>
                                    </p:animMotion>
                                  </p:childTnLst>
                                </p:cTn>
                              </p:par>
                            </p:childTnLst>
                          </p:cTn>
                        </p:par>
                      </p:childTnLst>
                    </p:cTn>
                  </p:par>
                  <p:par>
                    <p:cTn id="89" fill="hold">
                      <p:stCondLst>
                        <p:cond delay="indefinite"/>
                      </p:stCondLst>
                      <p:childTnLst>
                        <p:par>
                          <p:cTn id="90" fill="hold">
                            <p:stCondLst>
                              <p:cond delay="0"/>
                            </p:stCondLst>
                            <p:childTnLst>
                              <p:par>
                                <p:cTn id="91" presetID="63" presetClass="path" presetSubtype="0" accel="50000" decel="50000" fill="hold" nodeType="clickEffect">
                                  <p:stCondLst>
                                    <p:cond delay="0"/>
                                  </p:stCondLst>
                                  <p:childTnLst>
                                    <p:animMotion origin="layout" path="M 0.66615 4.07407E-6 L 0.7612 4.07407E-6 " pathEditMode="relative" rAng="0" ptsTypes="AA">
                                      <p:cBhvr>
                                        <p:cTn id="92" dur="500" fill="hold"/>
                                        <p:tgtEl>
                                          <p:spTgt spid="4"/>
                                        </p:tgtEl>
                                        <p:attrNameLst>
                                          <p:attrName>ppt_x</p:attrName>
                                          <p:attrName>ppt_y</p:attrName>
                                        </p:attrNameLst>
                                      </p:cBhvr>
                                      <p:rCtr x="4753" y="0"/>
                                    </p:animMotion>
                                  </p:childTnLst>
                                </p:cTn>
                              </p:par>
                            </p:childTnLst>
                          </p:cTn>
                        </p:par>
                      </p:childTnLst>
                    </p:cTn>
                  </p:par>
                  <p:par>
                    <p:cTn id="93" fill="hold">
                      <p:stCondLst>
                        <p:cond delay="indefinite"/>
                      </p:stCondLst>
                      <p:childTnLst>
                        <p:par>
                          <p:cTn id="94" fill="hold">
                            <p:stCondLst>
                              <p:cond delay="0"/>
                            </p:stCondLst>
                            <p:childTnLst>
                              <p:par>
                                <p:cTn id="95" presetID="63" presetClass="path" presetSubtype="0" accel="50000" decel="50000" fill="hold" nodeType="clickEffect">
                                  <p:stCondLst>
                                    <p:cond delay="0"/>
                                  </p:stCondLst>
                                  <p:childTnLst>
                                    <p:animMotion origin="layout" path="M 0.7612 4.07407E-6 L 0.85677 -0.00093 " pathEditMode="relative" rAng="0" ptsTypes="AA">
                                      <p:cBhvr>
                                        <p:cTn id="96" dur="500" fill="hold"/>
                                        <p:tgtEl>
                                          <p:spTgt spid="4"/>
                                        </p:tgtEl>
                                        <p:attrNameLst>
                                          <p:attrName>ppt_x</p:attrName>
                                          <p:attrName>ppt_y</p:attrName>
                                        </p:attrNameLst>
                                      </p:cBhvr>
                                      <p:rCtr x="4779" y="-46"/>
                                    </p:animMotion>
                                  </p:childTnLst>
                                </p:cTn>
                              </p:par>
                            </p:childTnLst>
                          </p:cTn>
                        </p:par>
                      </p:childTnLst>
                    </p:cTn>
                  </p:par>
                  <p:par>
                    <p:cTn id="97" fill="hold">
                      <p:stCondLst>
                        <p:cond delay="indefinite"/>
                      </p:stCondLst>
                      <p:childTnLst>
                        <p:par>
                          <p:cTn id="98" fill="hold">
                            <p:stCondLst>
                              <p:cond delay="0"/>
                            </p:stCondLst>
                            <p:childTnLst>
                              <p:par>
                                <p:cTn id="99" presetID="63" presetClass="path" presetSubtype="0" accel="50000" decel="50000" fill="hold" nodeType="clickEffect">
                                  <p:stCondLst>
                                    <p:cond delay="0"/>
                                  </p:stCondLst>
                                  <p:childTnLst>
                                    <p:animMotion origin="layout" path="M 0.85677 -0.00093 L 0.9513 -0.00093 " pathEditMode="relative" rAng="0" ptsTypes="AA">
                                      <p:cBhvr>
                                        <p:cTn id="100" dur="500" fill="hold"/>
                                        <p:tgtEl>
                                          <p:spTgt spid="4"/>
                                        </p:tgtEl>
                                        <p:attrNameLst>
                                          <p:attrName>ppt_x</p:attrName>
                                          <p:attrName>ppt_y</p:attrName>
                                        </p:attrNameLst>
                                      </p:cBhvr>
                                      <p:rCtr x="47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1" grpId="1" animBg="1"/>
      <p:bldP spid="106" grpId="0" animBg="1"/>
      <p:bldP spid="106" grpId="1" animBg="1"/>
      <p:bldP spid="107" grpId="0" animBg="1"/>
      <p:bldP spid="107" grpId="1" animBg="1"/>
      <p:bldP spid="108" grpId="0" animBg="1"/>
      <p:bldP spid="108" grpId="1" animBg="1"/>
      <p:bldP spid="109" grpId="0" animBg="1"/>
      <p:bldP spid="109"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19"/>
          <p:cNvSpPr>
            <a:spLocks noChangeShapeType="1"/>
          </p:cNvSpPr>
          <p:nvPr/>
        </p:nvSpPr>
        <p:spPr bwMode="auto">
          <a:xfrm flipV="1">
            <a:off x="2576583" y="1914937"/>
            <a:ext cx="7240325"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4" name="Line 9"/>
          <p:cNvSpPr>
            <a:spLocks noChangeShapeType="1"/>
          </p:cNvSpPr>
          <p:nvPr/>
        </p:nvSpPr>
        <p:spPr bwMode="auto">
          <a:xfrm flipV="1">
            <a:off x="3307850" y="1905398"/>
            <a:ext cx="0" cy="3609712"/>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78" name="Rectangle 2"/>
          <p:cNvSpPr>
            <a:spLocks noGrp="1" noChangeArrowheads="1"/>
          </p:cNvSpPr>
          <p:nvPr>
            <p:ph type="title"/>
          </p:nvPr>
        </p:nvSpPr>
        <p:spPr/>
        <p:txBody>
          <a:bodyPr/>
          <a:lstStyle/>
          <a:p>
            <a:pPr eaLnBrk="1" hangingPunct="1"/>
            <a:r>
              <a:rPr lang="zh-CN" altLang="en-US" dirty="0">
                <a:latin typeface="Arial Black" panose="020B0A04020102020204" pitchFamily="34" charset="0"/>
              </a:rPr>
              <a:t>单周期时空图</a:t>
            </a:r>
            <a:endParaRPr lang="zh-CN" altLang="en-US" dirty="0">
              <a:latin typeface="Arial Black" panose="020B0A04020102020204" pitchFamily="34" charset="0"/>
            </a:endParaRPr>
          </a:p>
        </p:txBody>
      </p:sp>
      <p:sp>
        <p:nvSpPr>
          <p:cNvPr id="45" name="Rectangle 22"/>
          <p:cNvSpPr>
            <a:spLocks noChangeArrowheads="1"/>
          </p:cNvSpPr>
          <p:nvPr/>
        </p:nvSpPr>
        <p:spPr bwMode="auto">
          <a:xfrm>
            <a:off x="9071238" y="1908707"/>
            <a:ext cx="739654" cy="72300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688580" name="Rectangle 4"/>
          <p:cNvSpPr>
            <a:spLocks noChangeArrowheads="1"/>
          </p:cNvSpPr>
          <p:nvPr/>
        </p:nvSpPr>
        <p:spPr bwMode="auto">
          <a:xfrm>
            <a:off x="2586615" y="4792107"/>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180" name="Line 5"/>
          <p:cNvSpPr>
            <a:spLocks noChangeShapeType="1"/>
          </p:cNvSpPr>
          <p:nvPr/>
        </p:nvSpPr>
        <p:spPr bwMode="auto">
          <a:xfrm>
            <a:off x="2588382" y="5515110"/>
            <a:ext cx="754292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1" name="Line 6"/>
          <p:cNvSpPr>
            <a:spLocks noChangeShapeType="1"/>
          </p:cNvSpPr>
          <p:nvPr/>
        </p:nvSpPr>
        <p:spPr bwMode="auto">
          <a:xfrm flipH="1" flipV="1">
            <a:off x="2588382" y="1471256"/>
            <a:ext cx="0" cy="404385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2" name="Text Box 7"/>
          <p:cNvSpPr txBox="1">
            <a:spLocks noChangeArrowheads="1"/>
          </p:cNvSpPr>
          <p:nvPr/>
        </p:nvSpPr>
        <p:spPr bwMode="auto">
          <a:xfrm>
            <a:off x="10075213" y="5324582"/>
            <a:ext cx="11225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时间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t</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50183" name="Line 8"/>
          <p:cNvSpPr>
            <a:spLocks noChangeShapeType="1"/>
          </p:cNvSpPr>
          <p:nvPr/>
        </p:nvSpPr>
        <p:spPr bwMode="auto">
          <a:xfrm>
            <a:off x="2586615" y="4792107"/>
            <a:ext cx="7221622"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5" name="Line 10"/>
          <p:cNvSpPr>
            <a:spLocks noChangeShapeType="1"/>
          </p:cNvSpPr>
          <p:nvPr/>
        </p:nvSpPr>
        <p:spPr bwMode="auto">
          <a:xfrm flipV="1">
            <a:off x="4029086" y="1905398"/>
            <a:ext cx="0" cy="3609712"/>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6" name="Line 11"/>
          <p:cNvSpPr>
            <a:spLocks noChangeShapeType="1"/>
          </p:cNvSpPr>
          <p:nvPr/>
        </p:nvSpPr>
        <p:spPr bwMode="auto">
          <a:xfrm flipV="1">
            <a:off x="4750321" y="1905398"/>
            <a:ext cx="0" cy="360971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7" name="Line 12"/>
          <p:cNvSpPr>
            <a:spLocks noChangeShapeType="1"/>
          </p:cNvSpPr>
          <p:nvPr/>
        </p:nvSpPr>
        <p:spPr bwMode="auto">
          <a:xfrm flipV="1">
            <a:off x="6186296" y="1907376"/>
            <a:ext cx="0" cy="3607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8" name="Line 13"/>
          <p:cNvSpPr>
            <a:spLocks noChangeShapeType="1"/>
          </p:cNvSpPr>
          <p:nvPr/>
        </p:nvSpPr>
        <p:spPr bwMode="auto">
          <a:xfrm flipV="1">
            <a:off x="6907532" y="1905398"/>
            <a:ext cx="0" cy="3609712"/>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9" name="Line 14"/>
          <p:cNvSpPr>
            <a:spLocks noChangeShapeType="1"/>
          </p:cNvSpPr>
          <p:nvPr/>
        </p:nvSpPr>
        <p:spPr bwMode="auto">
          <a:xfrm flipV="1">
            <a:off x="7628767" y="1905398"/>
            <a:ext cx="0" cy="3609712"/>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0" name="Line 15"/>
          <p:cNvSpPr>
            <a:spLocks noChangeShapeType="1"/>
          </p:cNvSpPr>
          <p:nvPr/>
        </p:nvSpPr>
        <p:spPr bwMode="auto">
          <a:xfrm flipV="1">
            <a:off x="8350003" y="1899376"/>
            <a:ext cx="0" cy="3615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1" name="Line 16"/>
          <p:cNvSpPr>
            <a:spLocks noChangeShapeType="1"/>
          </p:cNvSpPr>
          <p:nvPr/>
        </p:nvSpPr>
        <p:spPr bwMode="auto">
          <a:xfrm flipV="1">
            <a:off x="9073007" y="1899376"/>
            <a:ext cx="0" cy="3615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2" name="Line 17"/>
          <p:cNvSpPr>
            <a:spLocks noChangeShapeType="1"/>
          </p:cNvSpPr>
          <p:nvPr/>
        </p:nvSpPr>
        <p:spPr bwMode="auto">
          <a:xfrm>
            <a:off x="2586616" y="4070871"/>
            <a:ext cx="7221622"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3" name="Line 18"/>
          <p:cNvSpPr>
            <a:spLocks noChangeShapeType="1"/>
          </p:cNvSpPr>
          <p:nvPr/>
        </p:nvSpPr>
        <p:spPr bwMode="auto">
          <a:xfrm>
            <a:off x="2586615" y="3349636"/>
            <a:ext cx="7221622"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4" name="Line 19"/>
          <p:cNvSpPr>
            <a:spLocks noChangeShapeType="1"/>
          </p:cNvSpPr>
          <p:nvPr/>
        </p:nvSpPr>
        <p:spPr bwMode="auto">
          <a:xfrm>
            <a:off x="2586615" y="2628401"/>
            <a:ext cx="7207930"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8" name="Text Box 23"/>
          <p:cNvSpPr txBox="1">
            <a:spLocks noChangeArrowheads="1"/>
          </p:cNvSpPr>
          <p:nvPr/>
        </p:nvSpPr>
        <p:spPr bwMode="auto">
          <a:xfrm>
            <a:off x="1588308" y="4919644"/>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199" name="Text Box 24"/>
          <p:cNvSpPr txBox="1">
            <a:spLocks noChangeArrowheads="1"/>
          </p:cNvSpPr>
          <p:nvPr/>
        </p:nvSpPr>
        <p:spPr bwMode="auto">
          <a:xfrm>
            <a:off x="1648368" y="4210162"/>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0" name="Text Box 25"/>
          <p:cNvSpPr txBox="1">
            <a:spLocks noChangeArrowheads="1"/>
          </p:cNvSpPr>
          <p:nvPr/>
        </p:nvSpPr>
        <p:spPr bwMode="auto">
          <a:xfrm>
            <a:off x="1655730" y="3462134"/>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1" name="Text Box 26"/>
          <p:cNvSpPr txBox="1">
            <a:spLocks noChangeArrowheads="1"/>
          </p:cNvSpPr>
          <p:nvPr/>
        </p:nvSpPr>
        <p:spPr bwMode="auto">
          <a:xfrm>
            <a:off x="1553426" y="2789266"/>
            <a:ext cx="105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2" name="Text Box 27"/>
          <p:cNvSpPr txBox="1">
            <a:spLocks noChangeArrowheads="1"/>
          </p:cNvSpPr>
          <p:nvPr/>
        </p:nvSpPr>
        <p:spPr bwMode="auto">
          <a:xfrm>
            <a:off x="1535387" y="1285494"/>
            <a:ext cx="10411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空间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s</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688607" name="Rectangle 31"/>
          <p:cNvSpPr>
            <a:spLocks noChangeArrowheads="1"/>
          </p:cNvSpPr>
          <p:nvPr/>
        </p:nvSpPr>
        <p:spPr bwMode="auto">
          <a:xfrm>
            <a:off x="8350807" y="2628305"/>
            <a:ext cx="721236" cy="72300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1" name="Line 13"/>
          <p:cNvSpPr>
            <a:spLocks noChangeShapeType="1"/>
          </p:cNvSpPr>
          <p:nvPr/>
        </p:nvSpPr>
        <p:spPr bwMode="auto">
          <a:xfrm flipV="1">
            <a:off x="5473324" y="1952941"/>
            <a:ext cx="0" cy="3562167"/>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48" name="Rectangle 4"/>
          <p:cNvSpPr>
            <a:spLocks noChangeArrowheads="1"/>
          </p:cNvSpPr>
          <p:nvPr/>
        </p:nvSpPr>
        <p:spPr bwMode="auto">
          <a:xfrm>
            <a:off x="3313292" y="4069103"/>
            <a:ext cx="720578"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9" name="Rectangle 4"/>
          <p:cNvSpPr>
            <a:spLocks noChangeArrowheads="1"/>
          </p:cNvSpPr>
          <p:nvPr/>
        </p:nvSpPr>
        <p:spPr bwMode="auto">
          <a:xfrm>
            <a:off x="4032096" y="3346099"/>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 name="Rectangle 4"/>
          <p:cNvSpPr>
            <a:spLocks noChangeArrowheads="1"/>
          </p:cNvSpPr>
          <p:nvPr/>
        </p:nvSpPr>
        <p:spPr bwMode="auto">
          <a:xfrm>
            <a:off x="4751206" y="2629494"/>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1" name="Rectangle 4"/>
          <p:cNvSpPr>
            <a:spLocks noChangeArrowheads="1"/>
          </p:cNvSpPr>
          <p:nvPr/>
        </p:nvSpPr>
        <p:spPr bwMode="auto">
          <a:xfrm>
            <a:off x="5472501" y="1916707"/>
            <a:ext cx="711698" cy="713442"/>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2" name="Rectangle 31"/>
          <p:cNvSpPr>
            <a:spLocks noChangeArrowheads="1"/>
          </p:cNvSpPr>
          <p:nvPr/>
        </p:nvSpPr>
        <p:spPr bwMode="auto">
          <a:xfrm>
            <a:off x="7634225" y="3347233"/>
            <a:ext cx="722201" cy="72300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3" name="Rectangle 31"/>
          <p:cNvSpPr>
            <a:spLocks noChangeArrowheads="1"/>
          </p:cNvSpPr>
          <p:nvPr/>
        </p:nvSpPr>
        <p:spPr bwMode="auto">
          <a:xfrm>
            <a:off x="6906430" y="4069103"/>
            <a:ext cx="726993" cy="729408"/>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4" name="Rectangle 31"/>
          <p:cNvSpPr>
            <a:spLocks noChangeArrowheads="1"/>
          </p:cNvSpPr>
          <p:nvPr/>
        </p:nvSpPr>
        <p:spPr bwMode="auto">
          <a:xfrm>
            <a:off x="6180649" y="4795414"/>
            <a:ext cx="721236" cy="72300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5" name="Text Box 26"/>
          <p:cNvSpPr txBox="1">
            <a:spLocks noChangeArrowheads="1"/>
          </p:cNvSpPr>
          <p:nvPr/>
        </p:nvSpPr>
        <p:spPr bwMode="auto">
          <a:xfrm>
            <a:off x="1894238" y="2096114"/>
            <a:ext cx="755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nvGrpSpPr>
          <p:cNvPr id="5" name="组合 4"/>
          <p:cNvGrpSpPr/>
          <p:nvPr/>
        </p:nvGrpSpPr>
        <p:grpSpPr>
          <a:xfrm>
            <a:off x="6020649" y="1412645"/>
            <a:ext cx="882098" cy="4098977"/>
            <a:chOff x="6020272" y="1416133"/>
            <a:chExt cx="882098" cy="4098977"/>
          </a:xfrm>
        </p:grpSpPr>
        <p:sp>
          <p:nvSpPr>
            <p:cNvPr id="1688609" name="Text Box 33"/>
            <p:cNvSpPr txBox="1">
              <a:spLocks noChangeArrowheads="1"/>
            </p:cNvSpPr>
            <p:nvPr/>
          </p:nvSpPr>
          <p:spPr bwMode="auto">
            <a:xfrm>
              <a:off x="6020272" y="1416133"/>
              <a:ext cx="882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688608" name="Line 32"/>
            <p:cNvSpPr>
              <a:spLocks noChangeShapeType="1"/>
            </p:cNvSpPr>
            <p:nvPr/>
          </p:nvSpPr>
          <p:spPr bwMode="auto">
            <a:xfrm flipV="1">
              <a:off x="6178393" y="1471256"/>
              <a:ext cx="0" cy="4043854"/>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43" name="矩形 42"/>
          <p:cNvSpPr/>
          <p:nvPr/>
        </p:nvSpPr>
        <p:spPr>
          <a:xfrm>
            <a:off x="3181035" y="557023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45"/>
          <p:cNvSpPr/>
          <p:nvPr/>
        </p:nvSpPr>
        <p:spPr>
          <a:xfrm>
            <a:off x="3776285"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46"/>
          <p:cNvSpPr/>
          <p:nvPr/>
        </p:nvSpPr>
        <p:spPr>
          <a:xfrm>
            <a:off x="4491899"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矩形 55"/>
          <p:cNvSpPr/>
          <p:nvPr/>
        </p:nvSpPr>
        <p:spPr>
          <a:xfrm>
            <a:off x="5207513"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7" name="矩形 56"/>
          <p:cNvSpPr/>
          <p:nvPr/>
        </p:nvSpPr>
        <p:spPr>
          <a:xfrm>
            <a:off x="5923127"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8" name="矩形 57"/>
          <p:cNvSpPr/>
          <p:nvPr/>
        </p:nvSpPr>
        <p:spPr>
          <a:xfrm>
            <a:off x="6638741"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9" name="矩形 58"/>
          <p:cNvSpPr/>
          <p:nvPr/>
        </p:nvSpPr>
        <p:spPr>
          <a:xfrm>
            <a:off x="7354355"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0" name="矩形 59"/>
          <p:cNvSpPr/>
          <p:nvPr/>
        </p:nvSpPr>
        <p:spPr>
          <a:xfrm>
            <a:off x="8069969"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 name="矩形 60"/>
          <p:cNvSpPr/>
          <p:nvPr/>
        </p:nvSpPr>
        <p:spPr>
          <a:xfrm>
            <a:off x="8785583" y="55702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2" name="矩形 61"/>
          <p:cNvSpPr/>
          <p:nvPr/>
        </p:nvSpPr>
        <p:spPr>
          <a:xfrm>
            <a:off x="9444049" y="5570233"/>
            <a:ext cx="5870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3" name="矩形 62"/>
          <p:cNvSpPr/>
          <p:nvPr/>
        </p:nvSpPr>
        <p:spPr>
          <a:xfrm>
            <a:off x="2495235" y="558928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4" name="Rectangle 3"/>
          <p:cNvSpPr txBox="1">
            <a:spLocks noChangeArrowheads="1"/>
          </p:cNvSpPr>
          <p:nvPr/>
        </p:nvSpPr>
        <p:spPr bwMode="auto">
          <a:xfrm>
            <a:off x="3940310" y="6033293"/>
            <a:ext cx="3866413" cy="51930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C000"/>
              </a:buClr>
              <a:buFont typeface="Wingdings" panose="05000000000000000000" pitchFamily="2" charset="2"/>
              <a:buChar char="n"/>
              <a:defRPr lang="zh-CN" altLang="en-US" sz="2400">
                <a:solidFill>
                  <a:schemeClr val="tx1"/>
                </a:solidFill>
                <a:latin typeface="+mn-ea"/>
                <a:ea typeface="+mn-ea"/>
                <a:cs typeface="+mn-cs"/>
              </a:defRPr>
            </a:lvl1pPr>
            <a:lvl2pPr marL="812800" indent="-355600" algn="l" rtl="0" eaLnBrk="0" fontAlgn="base" hangingPunct="0">
              <a:lnSpc>
                <a:spcPct val="120000"/>
              </a:lnSpc>
              <a:spcBef>
                <a:spcPct val="20000"/>
              </a:spcBef>
              <a:spcAft>
                <a:spcPct val="0"/>
              </a:spcAft>
              <a:buClr>
                <a:srgbClr val="FFC000"/>
              </a:buClr>
              <a:buFont typeface="Wingdings" panose="05000000000000000000" pitchFamily="2" charset="2"/>
              <a:buChar char="p"/>
              <a:defRPr lang="zh-CN" altLang="en-US" sz="2000">
                <a:solidFill>
                  <a:srgbClr val="C00000"/>
                </a:solidFill>
                <a:latin typeface="+mn-ea"/>
                <a:ea typeface="+mn-ea"/>
              </a:defRPr>
            </a:lvl2pPr>
            <a:lvl3pPr marL="1143000" indent="-228600" algn="l" rtl="0" eaLnBrk="0" fontAlgn="base" hangingPunct="0">
              <a:lnSpc>
                <a:spcPct val="120000"/>
              </a:lnSpc>
              <a:spcBef>
                <a:spcPct val="20000"/>
              </a:spcBef>
              <a:spcAft>
                <a:spcPct val="0"/>
              </a:spcAft>
              <a:buClr>
                <a:srgbClr val="FFC000"/>
              </a:buClr>
              <a:buFont typeface="Wingdings" panose="05000000000000000000" pitchFamily="2" charset="2"/>
              <a:buChar char="u"/>
              <a:defRPr lang="zh-CN" altLang="en-US" sz="2000">
                <a:solidFill>
                  <a:schemeClr val="tx1"/>
                </a:solidFill>
                <a:latin typeface="+mn-ea"/>
                <a:ea typeface="+mn-ea"/>
              </a:defRPr>
            </a:lvl3pPr>
            <a:lvl4pPr marL="16002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4pPr>
            <a:lvl5pPr marL="20574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完成</a:t>
            </a:r>
            <a:r>
              <a:rPr kumimoji="0" lang="en-US" altLang="zh-CN"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n</a:t>
            </a:r>
            <a:r>
              <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条指令需要  </a:t>
            </a:r>
            <a:r>
              <a:rPr kumimoji="0" lang="en-US" altLang="zh-CN"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5nT</a:t>
            </a:r>
            <a:endPar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Char char="n"/>
              <a:defRPr/>
            </a:pP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5" name="Line 16"/>
          <p:cNvSpPr>
            <a:spLocks noChangeShapeType="1"/>
          </p:cNvSpPr>
          <p:nvPr/>
        </p:nvSpPr>
        <p:spPr bwMode="auto">
          <a:xfrm flipV="1">
            <a:off x="9816908" y="1907376"/>
            <a:ext cx="0" cy="3615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4" name="组合 3"/>
          <p:cNvGrpSpPr/>
          <p:nvPr/>
        </p:nvGrpSpPr>
        <p:grpSpPr>
          <a:xfrm>
            <a:off x="9624172" y="1471255"/>
            <a:ext cx="882098" cy="4043853"/>
            <a:chOff x="9624172" y="1471255"/>
            <a:chExt cx="882098" cy="4043853"/>
          </a:xfrm>
        </p:grpSpPr>
        <p:sp>
          <p:nvSpPr>
            <p:cNvPr id="1688610" name="Text Box 34"/>
            <p:cNvSpPr txBox="1">
              <a:spLocks noChangeArrowheads="1"/>
            </p:cNvSpPr>
            <p:nvPr/>
          </p:nvSpPr>
          <p:spPr bwMode="auto">
            <a:xfrm>
              <a:off x="9624172" y="1471257"/>
              <a:ext cx="882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688611" name="Line 35"/>
            <p:cNvSpPr>
              <a:spLocks noChangeShapeType="1"/>
            </p:cNvSpPr>
            <p:nvPr/>
          </p:nvSpPr>
          <p:spPr bwMode="auto">
            <a:xfrm flipH="1" flipV="1">
              <a:off x="9810005" y="1471255"/>
              <a:ext cx="0" cy="404385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2386"/>
    </mc:Choice>
    <mc:Fallback>
      <p:transition spd="slow" advTm="6238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88580"/>
                                        </p:tgtEl>
                                        <p:attrNameLst>
                                          <p:attrName>style.visibility</p:attrName>
                                        </p:attrNameLst>
                                      </p:cBhvr>
                                      <p:to>
                                        <p:strVal val="visible"/>
                                      </p:to>
                                    </p:set>
                                    <p:animEffect transition="in" filter="wipe(down)">
                                      <p:cBhvr>
                                        <p:cTn id="7" dur="500"/>
                                        <p:tgtEl>
                                          <p:spTgt spid="1688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down)">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down)">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down)">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down)">
                                      <p:cBhvr>
                                        <p:cTn id="27" dur="500"/>
                                        <p:tgtEl>
                                          <p:spTgt spid="51"/>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wipe(down)">
                                      <p:cBhvr>
                                        <p:cTn id="36" dur="500"/>
                                        <p:tgtEl>
                                          <p:spTgt spid="5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down)">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wipe(down)">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688607"/>
                                        </p:tgtEl>
                                        <p:attrNameLst>
                                          <p:attrName>style.visibility</p:attrName>
                                        </p:attrNameLst>
                                      </p:cBhvr>
                                      <p:to>
                                        <p:strVal val="visible"/>
                                      </p:to>
                                    </p:set>
                                    <p:animEffect transition="in" filter="wipe(down)">
                                      <p:cBhvr>
                                        <p:cTn id="51" dur="500"/>
                                        <p:tgtEl>
                                          <p:spTgt spid="168860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ipe(down)">
                                      <p:cBhvr>
                                        <p:cTn id="56" dur="500"/>
                                        <p:tgtEl>
                                          <p:spTgt spid="45"/>
                                        </p:tgtEl>
                                      </p:cBhvr>
                                    </p:animEffect>
                                  </p:childTnLst>
                                </p:cTn>
                              </p:par>
                            </p:childTnLst>
                          </p:cTn>
                        </p:par>
                        <p:par>
                          <p:cTn id="57" fill="hold">
                            <p:stCondLst>
                              <p:cond delay="500"/>
                            </p:stCondLst>
                            <p:childTnLst>
                              <p:par>
                                <p:cTn id="58" presetID="22" presetClass="entr" presetSubtype="4" fill="hold"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down)">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wipe(left)">
                                      <p:cBhvr>
                                        <p:cTn id="6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688580" grpId="0" animBg="1"/>
      <p:bldP spid="1688607" grpId="0" animBg="1"/>
      <p:bldP spid="48" grpId="0" animBg="1"/>
      <p:bldP spid="49" grpId="0" animBg="1"/>
      <p:bldP spid="50" grpId="0" animBg="1"/>
      <p:bldP spid="51" grpId="0" animBg="1"/>
      <p:bldP spid="52" grpId="0" animBg="1"/>
      <p:bldP spid="53" grpId="0" animBg="1"/>
      <p:bldP spid="54" grpId="0" animBg="1"/>
      <p:bldP spid="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4300" y="4905374"/>
            <a:ext cx="12192000"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7106"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多周期指令运行动态</a:t>
            </a:r>
            <a:endParaRPr lang="zh-CN" altLang="en-US" dirty="0">
              <a:latin typeface="宋体" panose="02010600030101010101" pitchFamily="2" charset="-122"/>
            </a:endParaRPr>
          </a:p>
        </p:txBody>
      </p:sp>
      <p:sp>
        <p:nvSpPr>
          <p:cNvPr id="47113" name="Line 8"/>
          <p:cNvSpPr>
            <a:spLocks noChangeShapeType="1"/>
          </p:cNvSpPr>
          <p:nvPr/>
        </p:nvSpPr>
        <p:spPr bwMode="auto">
          <a:xfrm>
            <a:off x="2827241" y="5351462"/>
            <a:ext cx="719137"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2" name="组合 1"/>
          <p:cNvGrpSpPr/>
          <p:nvPr/>
        </p:nvGrpSpPr>
        <p:grpSpPr>
          <a:xfrm>
            <a:off x="3546378" y="4991100"/>
            <a:ext cx="1152525" cy="792163"/>
            <a:chOff x="3660678" y="4991100"/>
            <a:chExt cx="1152525" cy="792163"/>
          </a:xfrm>
          <a:solidFill>
            <a:schemeClr val="bg1"/>
          </a:solidFill>
        </p:grpSpPr>
        <p:sp>
          <p:nvSpPr>
            <p:cNvPr id="47109"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20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114"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1" name="组合 20"/>
          <p:cNvGrpSpPr/>
          <p:nvPr/>
        </p:nvGrpSpPr>
        <p:grpSpPr>
          <a:xfrm>
            <a:off x="4704838" y="4991100"/>
            <a:ext cx="1152525" cy="792163"/>
            <a:chOff x="3660678" y="4991100"/>
            <a:chExt cx="1152525" cy="792163"/>
          </a:xfrm>
        </p:grpSpPr>
        <p:sp>
          <p:nvSpPr>
            <p:cNvPr id="22"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3"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4" name="组合 23"/>
          <p:cNvGrpSpPr/>
          <p:nvPr/>
        </p:nvGrpSpPr>
        <p:grpSpPr>
          <a:xfrm>
            <a:off x="5863298" y="4991100"/>
            <a:ext cx="1152525" cy="792163"/>
            <a:chOff x="3660678" y="4991100"/>
            <a:chExt cx="1152525" cy="792163"/>
          </a:xfrm>
        </p:grpSpPr>
        <p:sp>
          <p:nvSpPr>
            <p:cNvPr id="25"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6"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7" name="组合 26"/>
          <p:cNvGrpSpPr/>
          <p:nvPr/>
        </p:nvGrpSpPr>
        <p:grpSpPr>
          <a:xfrm>
            <a:off x="7021758" y="4991100"/>
            <a:ext cx="1152525" cy="792163"/>
            <a:chOff x="3660678" y="4991100"/>
            <a:chExt cx="1152525" cy="792163"/>
          </a:xfrm>
        </p:grpSpPr>
        <p:sp>
          <p:nvSpPr>
            <p:cNvPr id="28"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9"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30" name="组合 29"/>
          <p:cNvGrpSpPr/>
          <p:nvPr/>
        </p:nvGrpSpPr>
        <p:grpSpPr>
          <a:xfrm>
            <a:off x="8180218" y="4991100"/>
            <a:ext cx="1152525" cy="792163"/>
            <a:chOff x="3660678" y="4991100"/>
            <a:chExt cx="1152525" cy="792163"/>
          </a:xfrm>
        </p:grpSpPr>
        <p:sp>
          <p:nvSpPr>
            <p:cNvPr id="31" name="Rectangle 4"/>
            <p:cNvSpPr>
              <a:spLocks noChangeArrowheads="1"/>
            </p:cNvSpPr>
            <p:nvPr/>
          </p:nvSpPr>
          <p:spPr bwMode="auto">
            <a:xfrm>
              <a:off x="3660678" y="4991100"/>
              <a:ext cx="576263" cy="792163"/>
            </a:xfrm>
            <a:prstGeom prst="rect">
              <a:avLst/>
            </a:prstGeom>
            <a:solidFill>
              <a:schemeClr val="bg1"/>
            </a:solid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2" name="Line 9"/>
            <p:cNvSpPr>
              <a:spLocks noChangeShapeType="1"/>
            </p:cNvSpPr>
            <p:nvPr/>
          </p:nvSpPr>
          <p:spPr bwMode="auto">
            <a:xfrm>
              <a:off x="4238528" y="5351462"/>
              <a:ext cx="574675"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4" name="组合 3"/>
          <p:cNvGrpSpPr/>
          <p:nvPr/>
        </p:nvGrpSpPr>
        <p:grpSpPr>
          <a:xfrm>
            <a:off x="-3421308" y="4991100"/>
            <a:ext cx="6377551" cy="792163"/>
            <a:chOff x="5505378" y="3032760"/>
            <a:chExt cx="6377551" cy="792163"/>
          </a:xfrm>
        </p:grpSpPr>
        <p:sp>
          <p:nvSpPr>
            <p:cNvPr id="43" name="Rectangle 4"/>
            <p:cNvSpPr>
              <a:spLocks noChangeArrowheads="1"/>
            </p:cNvSpPr>
            <p:nvPr/>
          </p:nvSpPr>
          <p:spPr bwMode="auto">
            <a:xfrm>
              <a:off x="5505378" y="3032760"/>
              <a:ext cx="576263" cy="792163"/>
            </a:xfrm>
            <a:prstGeom prst="rect">
              <a:avLst/>
            </a:prstGeom>
            <a:solidFill>
              <a:srgbClr val="92D05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beq</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2" name="Rectangle 4"/>
            <p:cNvSpPr>
              <a:spLocks noChangeArrowheads="1"/>
            </p:cNvSpPr>
            <p:nvPr/>
          </p:nvSpPr>
          <p:spPr bwMode="auto">
            <a:xfrm>
              <a:off x="11306666" y="3032760"/>
              <a:ext cx="576263" cy="792163"/>
            </a:xfrm>
            <a:prstGeom prst="rect">
              <a:avLst/>
            </a:prstGeom>
            <a:solidFill>
              <a:srgbClr val="FFC00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lw</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sp>
        <p:nvSpPr>
          <p:cNvPr id="7" name="文本框 6"/>
          <p:cNvSpPr txBox="1"/>
          <p:nvPr/>
        </p:nvSpPr>
        <p:spPr>
          <a:xfrm>
            <a:off x="3495360" y="59151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取指</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4665970" y="59151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译码</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5" name="文本框 94"/>
          <p:cNvSpPr txBox="1"/>
          <p:nvPr/>
        </p:nvSpPr>
        <p:spPr>
          <a:xfrm>
            <a:off x="5836580" y="59151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6" name="文本框 95"/>
          <p:cNvSpPr txBox="1"/>
          <p:nvPr/>
        </p:nvSpPr>
        <p:spPr>
          <a:xfrm>
            <a:off x="7007190" y="59151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访存</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7" name="文本框 96"/>
          <p:cNvSpPr txBox="1"/>
          <p:nvPr/>
        </p:nvSpPr>
        <p:spPr>
          <a:xfrm>
            <a:off x="8177800" y="59151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写回</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98" name="直接连接符 97"/>
          <p:cNvCxnSpPr/>
          <p:nvPr/>
        </p:nvCxnSpPr>
        <p:spPr>
          <a:xfrm>
            <a:off x="0" y="4896643"/>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0" y="5886449"/>
            <a:ext cx="121920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3415398" y="4991099"/>
            <a:ext cx="6381173" cy="792163"/>
            <a:chOff x="5501756" y="3032760"/>
            <a:chExt cx="6381173" cy="792163"/>
          </a:xfrm>
        </p:grpSpPr>
        <p:sp>
          <p:nvSpPr>
            <p:cNvPr id="40" name="Rectangle 4"/>
            <p:cNvSpPr>
              <a:spLocks noChangeArrowheads="1"/>
            </p:cNvSpPr>
            <p:nvPr/>
          </p:nvSpPr>
          <p:spPr bwMode="auto">
            <a:xfrm>
              <a:off x="5501756" y="3032760"/>
              <a:ext cx="576263" cy="792163"/>
            </a:xfrm>
            <a:prstGeom prst="rect">
              <a:avLst/>
            </a:prstGeom>
            <a:solidFill>
              <a:srgbClr val="92D05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J</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1" name="Rectangle 4"/>
            <p:cNvSpPr>
              <a:spLocks noChangeArrowheads="1"/>
            </p:cNvSpPr>
            <p:nvPr/>
          </p:nvSpPr>
          <p:spPr bwMode="auto">
            <a:xfrm>
              <a:off x="11306666" y="3032760"/>
              <a:ext cx="576263" cy="792163"/>
            </a:xfrm>
            <a:prstGeom prst="rect">
              <a:avLst/>
            </a:prstGeom>
            <a:solidFill>
              <a:srgbClr val="FFC00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add</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sp>
        <p:nvSpPr>
          <p:cNvPr id="76" name="矩形 75"/>
          <p:cNvSpPr/>
          <p:nvPr/>
        </p:nvSpPr>
        <p:spPr>
          <a:xfrm>
            <a:off x="-143412" y="4913964"/>
            <a:ext cx="3126082" cy="967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 name="矩形 86"/>
          <p:cNvSpPr/>
          <p:nvPr/>
        </p:nvSpPr>
        <p:spPr>
          <a:xfrm>
            <a:off x="9319145" y="4914105"/>
            <a:ext cx="3084465"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2" name="Rectangle 4"/>
          <p:cNvSpPr>
            <a:spLocks noChangeArrowheads="1"/>
          </p:cNvSpPr>
          <p:nvPr/>
        </p:nvSpPr>
        <p:spPr bwMode="auto">
          <a:xfrm>
            <a:off x="3547140" y="4990654"/>
            <a:ext cx="576263" cy="792163"/>
          </a:xfrm>
          <a:prstGeom prst="rect">
            <a:avLst/>
          </a:prstGeom>
          <a:solidFill>
            <a:srgbClr val="7030A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prstClr val="white"/>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sw</a:t>
            </a:r>
            <a:endParaRPr kumimoji="0" lang="en-US" altLang="zh-CN" sz="2000" b="0" i="0" u="none" strike="noStrike" kern="1200" cap="none" spc="0" normalizeH="0" baseline="0" noProof="0" dirty="0">
              <a:ln>
                <a:noFill/>
              </a:ln>
              <a:solidFill>
                <a:prstClr val="white"/>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8" name="内容占位符 2"/>
          <p:cNvSpPr txBox="1"/>
          <p:nvPr/>
        </p:nvSpPr>
        <p:spPr>
          <a:xfrm>
            <a:off x="276212" y="700276"/>
            <a:ext cx="10667857" cy="5637024"/>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zh-CN" altLang="en-US" dirty="0"/>
              <a:t>数据通路细分为</a:t>
            </a:r>
            <a:r>
              <a:rPr lang="en-US" altLang="zh-CN" dirty="0"/>
              <a:t>5</a:t>
            </a:r>
            <a:r>
              <a:rPr lang="zh-CN" altLang="en-US" dirty="0"/>
              <a:t>段，可复用功能部件</a:t>
            </a:r>
            <a:endParaRPr lang="en-US" altLang="zh-CN" dirty="0"/>
          </a:p>
          <a:p>
            <a:pPr lvl="1">
              <a:lnSpc>
                <a:spcPct val="200000"/>
              </a:lnSpc>
            </a:pPr>
            <a:r>
              <a:rPr lang="en-US" altLang="zh-CN" dirty="0"/>
              <a:t>LW</a:t>
            </a:r>
            <a:r>
              <a:rPr lang="zh-CN" altLang="en-US" dirty="0"/>
              <a:t>指令		</a:t>
            </a:r>
            <a:r>
              <a:rPr lang="en-US" altLang="zh-CN" dirty="0"/>
              <a:t>5</a:t>
            </a:r>
            <a:r>
              <a:rPr lang="zh-CN" altLang="en-US" dirty="0"/>
              <a:t>个时钟周期</a:t>
            </a:r>
            <a:endParaRPr lang="zh-CN" altLang="en-US" dirty="0"/>
          </a:p>
          <a:p>
            <a:pPr lvl="1">
              <a:lnSpc>
                <a:spcPct val="200000"/>
              </a:lnSpc>
            </a:pPr>
            <a:r>
              <a:rPr lang="en-US" altLang="zh-CN" dirty="0"/>
              <a:t>BEQ</a:t>
            </a:r>
            <a:r>
              <a:rPr lang="zh-CN" altLang="en-US" dirty="0"/>
              <a:t>指令     	</a:t>
            </a:r>
            <a:r>
              <a:rPr lang="en-US" altLang="zh-CN" dirty="0"/>
              <a:t>3</a:t>
            </a:r>
            <a:r>
              <a:rPr lang="zh-CN" altLang="en-US" dirty="0"/>
              <a:t>个时钟周期</a:t>
            </a:r>
            <a:endParaRPr lang="zh-CN" altLang="en-US" dirty="0"/>
          </a:p>
          <a:p>
            <a:pPr lvl="1">
              <a:lnSpc>
                <a:spcPct val="200000"/>
              </a:lnSpc>
            </a:pPr>
            <a:r>
              <a:rPr lang="en-US" altLang="zh-CN" dirty="0"/>
              <a:t>ADD</a:t>
            </a:r>
            <a:r>
              <a:rPr lang="zh-CN" altLang="en-US" dirty="0"/>
              <a:t>指令</a:t>
            </a:r>
            <a:r>
              <a:rPr lang="en-US" altLang="zh-CN" dirty="0"/>
              <a:t>	4</a:t>
            </a:r>
            <a:r>
              <a:rPr lang="zh-CN" altLang="en-US" dirty="0"/>
              <a:t>个时钟周期</a:t>
            </a:r>
            <a:endParaRPr lang="zh-CN" altLang="en-US" dirty="0"/>
          </a:p>
          <a:p>
            <a:pPr lvl="1">
              <a:lnSpc>
                <a:spcPct val="200000"/>
              </a:lnSpc>
            </a:pPr>
            <a:r>
              <a:rPr lang="en-US" altLang="zh-CN" dirty="0"/>
              <a:t>J</a:t>
            </a:r>
            <a:r>
              <a:rPr lang="zh-CN" altLang="en-US" dirty="0"/>
              <a:t>指令          	</a:t>
            </a:r>
            <a:r>
              <a:rPr lang="en-US" altLang="zh-CN" dirty="0"/>
              <a:t>3</a:t>
            </a:r>
            <a:r>
              <a:rPr lang="zh-CN" altLang="en-US" dirty="0"/>
              <a:t>个时钟周期</a:t>
            </a:r>
            <a:endParaRPr lang="zh-CN" altLang="en-US" dirty="0"/>
          </a:p>
        </p:txBody>
      </p:sp>
      <p:pic>
        <p:nvPicPr>
          <p:cNvPr id="6" name="图片 5"/>
          <p:cNvPicPr>
            <a:picLocks noChangeAspect="1"/>
          </p:cNvPicPr>
          <p:nvPr/>
        </p:nvPicPr>
        <p:blipFill>
          <a:blip r:embed="rId1"/>
          <a:stretch>
            <a:fillRect/>
          </a:stretch>
        </p:blipFill>
        <p:spPr>
          <a:xfrm>
            <a:off x="5561589" y="1108016"/>
            <a:ext cx="6230362" cy="3034197"/>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75344"/>
    </mc:Choice>
    <mc:Fallback>
      <p:transition spd="slow" advTm="1753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16667E-7 3.33333E-6 L 0.09479 3.33333E-6 " pathEditMode="relative" rAng="0" ptsTypes="AA">
                                      <p:cBhvr>
                                        <p:cTn id="6" dur="500" fill="hold"/>
                                        <p:tgtEl>
                                          <p:spTgt spid="4"/>
                                        </p:tgtEl>
                                        <p:attrNameLst>
                                          <p:attrName>ppt_x</p:attrName>
                                          <p:attrName>ppt_y</p:attrName>
                                        </p:attrNameLst>
                                      </p:cBhvr>
                                      <p:rCtr x="4740"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9479 3.33333E-6 L 0.18997 3.33333E-6 " pathEditMode="relative" rAng="0" ptsTypes="AA">
                                      <p:cBhvr>
                                        <p:cTn id="10" dur="500" fill="hold"/>
                                        <p:tgtEl>
                                          <p:spTgt spid="4"/>
                                        </p:tgtEl>
                                        <p:attrNameLst>
                                          <p:attrName>ppt_x</p:attrName>
                                          <p:attrName>ppt_y</p:attrName>
                                        </p:attrNameLst>
                                      </p:cBhvr>
                                      <p:rCtr x="4753" y="0"/>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18997 3.33333E-6 L 0.28529 3.33333E-6 " pathEditMode="relative" rAng="0" ptsTypes="AA">
                                      <p:cBhvr>
                                        <p:cTn id="14" dur="500" fill="hold"/>
                                        <p:tgtEl>
                                          <p:spTgt spid="4"/>
                                        </p:tgtEl>
                                        <p:attrNameLst>
                                          <p:attrName>ppt_x</p:attrName>
                                          <p:attrName>ppt_y</p:attrName>
                                        </p:attrNameLst>
                                      </p:cBhvr>
                                      <p:rCtr x="4766" y="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28529 3.33333E-6 L 0.38047 3.33333E-6 " pathEditMode="relative" rAng="0" ptsTypes="AA">
                                      <p:cBhvr>
                                        <p:cTn id="18" dur="500" fill="hold"/>
                                        <p:tgtEl>
                                          <p:spTgt spid="4"/>
                                        </p:tgtEl>
                                        <p:attrNameLst>
                                          <p:attrName>ppt_x</p:attrName>
                                          <p:attrName>ppt_y</p:attrName>
                                        </p:attrNameLst>
                                      </p:cBhvr>
                                      <p:rCtr x="4753" y="0"/>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38047 3.33333E-6 L 0.47604 3.33333E-6 " pathEditMode="relative" rAng="0" ptsTypes="AA">
                                      <p:cBhvr>
                                        <p:cTn id="22" dur="500" fill="hold"/>
                                        <p:tgtEl>
                                          <p:spTgt spid="4"/>
                                        </p:tgtEl>
                                        <p:attrNameLst>
                                          <p:attrName>ppt_x</p:attrName>
                                          <p:attrName>ppt_y</p:attrName>
                                        </p:attrNameLst>
                                      </p:cBhvr>
                                      <p:rCtr x="4779" y="0"/>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47604 3.33333E-6 L 0.57109 3.33333E-6 " pathEditMode="relative" rAng="0" ptsTypes="AA">
                                      <p:cBhvr>
                                        <p:cTn id="26" dur="500" fill="hold"/>
                                        <p:tgtEl>
                                          <p:spTgt spid="4"/>
                                        </p:tgtEl>
                                        <p:attrNameLst>
                                          <p:attrName>ppt_x</p:attrName>
                                          <p:attrName>ppt_y</p:attrName>
                                        </p:attrNameLst>
                                      </p:cBhvr>
                                      <p:rCtr x="4753" y="0"/>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57109 3.33333E-6 L 0.66615 3.33333E-6 " pathEditMode="relative" rAng="0" ptsTypes="AA">
                                      <p:cBhvr>
                                        <p:cTn id="30" dur="500" fill="hold"/>
                                        <p:tgtEl>
                                          <p:spTgt spid="4"/>
                                        </p:tgtEl>
                                        <p:attrNameLst>
                                          <p:attrName>ppt_x</p:attrName>
                                          <p:attrName>ppt_y</p:attrName>
                                        </p:attrNameLst>
                                      </p:cBhvr>
                                      <p:rCtr x="4753" y="0"/>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66615 3.33333E-6 L 0.7612 3.33333E-6 " pathEditMode="relative" rAng="0" ptsTypes="AA">
                                      <p:cBhvr>
                                        <p:cTn id="34" dur="500" fill="hold"/>
                                        <p:tgtEl>
                                          <p:spTgt spid="4"/>
                                        </p:tgtEl>
                                        <p:attrNameLst>
                                          <p:attrName>ppt_x</p:attrName>
                                          <p:attrName>ppt_y</p:attrName>
                                        </p:attrNameLst>
                                      </p:cBhvr>
                                      <p:rCtr x="4753" y="0"/>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4"/>
                                        </p:tgtEl>
                                        <p:attrNameLst>
                                          <p:attrName>style.visibility</p:attrName>
                                        </p:attrNameLst>
                                      </p:cBhvr>
                                      <p:to>
                                        <p:strVal val="hidden"/>
                                      </p:to>
                                    </p:set>
                                  </p:childTnLst>
                                </p:cTn>
                              </p:par>
                            </p:childTnLst>
                          </p:cTn>
                        </p:par>
                        <p:par>
                          <p:cTn id="39" fill="hold">
                            <p:stCondLst>
                              <p:cond delay="0"/>
                            </p:stCondLst>
                            <p:childTnLst>
                              <p:par>
                                <p:cTn id="40" presetID="63" presetClass="path" presetSubtype="0" accel="50000" decel="50000" fill="hold" nodeType="afterEffect">
                                  <p:stCondLst>
                                    <p:cond delay="0"/>
                                  </p:stCondLst>
                                  <p:childTnLst>
                                    <p:animMotion origin="layout" path="M -6.25E-7 3.33333E-6 L 0.09479 3.33333E-6 " pathEditMode="relative" rAng="0" ptsTypes="AA">
                                      <p:cBhvr>
                                        <p:cTn id="41" dur="500" fill="hold"/>
                                        <p:tgtEl>
                                          <p:spTgt spid="39"/>
                                        </p:tgtEl>
                                        <p:attrNameLst>
                                          <p:attrName>ppt_x</p:attrName>
                                          <p:attrName>ppt_y</p:attrName>
                                        </p:attrNameLst>
                                      </p:cBhvr>
                                      <p:rCtr x="4740" y="0"/>
                                    </p:animMotion>
                                  </p:childTnLst>
                                </p:cTn>
                              </p:par>
                            </p:childTnLst>
                          </p:cTn>
                        </p:par>
                      </p:childTnLst>
                    </p:cTn>
                  </p:par>
                  <p:par>
                    <p:cTn id="42" fill="hold">
                      <p:stCondLst>
                        <p:cond delay="indefinite"/>
                      </p:stCondLst>
                      <p:childTnLst>
                        <p:par>
                          <p:cTn id="43" fill="hold">
                            <p:stCondLst>
                              <p:cond delay="0"/>
                            </p:stCondLst>
                            <p:childTnLst>
                              <p:par>
                                <p:cTn id="44" presetID="63" presetClass="path" presetSubtype="0" accel="50000" decel="50000" fill="hold" nodeType="clickEffect">
                                  <p:stCondLst>
                                    <p:cond delay="0"/>
                                  </p:stCondLst>
                                  <p:childTnLst>
                                    <p:animMotion origin="layout" path="M 0.09479 3.33333E-6 L 0.18997 3.33333E-6 " pathEditMode="relative" rAng="0" ptsTypes="AA">
                                      <p:cBhvr>
                                        <p:cTn id="45" dur="500" fill="hold"/>
                                        <p:tgtEl>
                                          <p:spTgt spid="39"/>
                                        </p:tgtEl>
                                        <p:attrNameLst>
                                          <p:attrName>ppt_x</p:attrName>
                                          <p:attrName>ppt_y</p:attrName>
                                        </p:attrNameLst>
                                      </p:cBhvr>
                                      <p:rCtr x="4753" y="0"/>
                                    </p:animMotion>
                                  </p:childTnLst>
                                </p:cTn>
                              </p:par>
                            </p:childTnLst>
                          </p:cTn>
                        </p:par>
                      </p:childTnLst>
                    </p:cTn>
                  </p:par>
                  <p:par>
                    <p:cTn id="46" fill="hold">
                      <p:stCondLst>
                        <p:cond delay="indefinite"/>
                      </p:stCondLst>
                      <p:childTnLst>
                        <p:par>
                          <p:cTn id="47" fill="hold">
                            <p:stCondLst>
                              <p:cond delay="0"/>
                            </p:stCondLst>
                            <p:childTnLst>
                              <p:par>
                                <p:cTn id="48" presetID="63" presetClass="path" presetSubtype="0" accel="50000" decel="50000" fill="hold" nodeType="clickEffect">
                                  <p:stCondLst>
                                    <p:cond delay="0"/>
                                  </p:stCondLst>
                                  <p:childTnLst>
                                    <p:animMotion origin="layout" path="M 0.18997 3.33333E-6 L 0.28529 3.33333E-6 " pathEditMode="relative" rAng="0" ptsTypes="AA">
                                      <p:cBhvr>
                                        <p:cTn id="49" dur="500" fill="hold"/>
                                        <p:tgtEl>
                                          <p:spTgt spid="39"/>
                                        </p:tgtEl>
                                        <p:attrNameLst>
                                          <p:attrName>ppt_x</p:attrName>
                                          <p:attrName>ppt_y</p:attrName>
                                        </p:attrNameLst>
                                      </p:cBhvr>
                                      <p:rCtr x="4766" y="0"/>
                                    </p:animMotion>
                                  </p:childTnLst>
                                </p:cTn>
                              </p:par>
                            </p:childTnLst>
                          </p:cTn>
                        </p:par>
                      </p:childTnLst>
                    </p:cTn>
                  </p:par>
                  <p:par>
                    <p:cTn id="50" fill="hold">
                      <p:stCondLst>
                        <p:cond delay="indefinite"/>
                      </p:stCondLst>
                      <p:childTnLst>
                        <p:par>
                          <p:cTn id="51" fill="hold">
                            <p:stCondLst>
                              <p:cond delay="0"/>
                            </p:stCondLst>
                            <p:childTnLst>
                              <p:par>
                                <p:cTn id="52" presetID="63" presetClass="path" presetSubtype="0" accel="50000" decel="50000" fill="hold" nodeType="clickEffect">
                                  <p:stCondLst>
                                    <p:cond delay="0"/>
                                  </p:stCondLst>
                                  <p:childTnLst>
                                    <p:animMotion origin="layout" path="M 0.28529 3.33333E-6 L 0.47604 3.33333E-6 " pathEditMode="relative" rAng="0" ptsTypes="AA">
                                      <p:cBhvr>
                                        <p:cTn id="53" dur="500" fill="hold"/>
                                        <p:tgtEl>
                                          <p:spTgt spid="39"/>
                                        </p:tgtEl>
                                        <p:attrNameLst>
                                          <p:attrName>ppt_x</p:attrName>
                                          <p:attrName>ppt_y</p:attrName>
                                        </p:attrNameLst>
                                      </p:cBhvr>
                                      <p:rCtr x="9531" y="0"/>
                                    </p:animMotion>
                                  </p:childTnLst>
                                </p:cTn>
                              </p:par>
                            </p:childTnLst>
                          </p:cTn>
                        </p:par>
                      </p:childTnLst>
                    </p:cTn>
                  </p:par>
                  <p:par>
                    <p:cTn id="54" fill="hold">
                      <p:stCondLst>
                        <p:cond delay="indefinite"/>
                      </p:stCondLst>
                      <p:childTnLst>
                        <p:par>
                          <p:cTn id="55" fill="hold">
                            <p:stCondLst>
                              <p:cond delay="0"/>
                            </p:stCondLst>
                            <p:childTnLst>
                              <p:par>
                                <p:cTn id="56" presetID="63" presetClass="path" presetSubtype="0" accel="50000" decel="50000" fill="hold" nodeType="clickEffect">
                                  <p:stCondLst>
                                    <p:cond delay="0"/>
                                  </p:stCondLst>
                                  <p:childTnLst>
                                    <p:animMotion origin="layout" path="M 0.57044 3.33333E-6 L 0.57044 3.33333E-6 " pathEditMode="relative" rAng="0" ptsTypes="AA">
                                      <p:cBhvr>
                                        <p:cTn id="57" dur="500" fill="hold"/>
                                        <p:tgtEl>
                                          <p:spTgt spid="39"/>
                                        </p:tgtEl>
                                        <p:attrNameLst>
                                          <p:attrName>ppt_x</p:attrName>
                                          <p:attrName>ppt_y</p:attrName>
                                        </p:attrNameLst>
                                      </p:cBhvr>
                                      <p:rCtr x="-13" y="0"/>
                                    </p:animMotion>
                                  </p:childTnLst>
                                </p:cTn>
                              </p:par>
                            </p:childTnLst>
                          </p:cTn>
                        </p:par>
                      </p:childTnLst>
                    </p:cTn>
                  </p:par>
                  <p:par>
                    <p:cTn id="58" fill="hold">
                      <p:stCondLst>
                        <p:cond delay="indefinite"/>
                      </p:stCondLst>
                      <p:childTnLst>
                        <p:par>
                          <p:cTn id="59" fill="hold">
                            <p:stCondLst>
                              <p:cond delay="0"/>
                            </p:stCondLst>
                            <p:childTnLst>
                              <p:par>
                                <p:cTn id="60" presetID="63" presetClass="path" presetSubtype="0" accel="50000" decel="50000" fill="hold" nodeType="clickEffect">
                                  <p:stCondLst>
                                    <p:cond delay="0"/>
                                  </p:stCondLst>
                                  <p:childTnLst>
                                    <p:animMotion origin="layout" path="M 0.57045 3.33333E-6 L 0.6655 3.33333E-6 " pathEditMode="relative" rAng="0" ptsTypes="AA">
                                      <p:cBhvr>
                                        <p:cTn id="61" dur="500" fill="hold"/>
                                        <p:tgtEl>
                                          <p:spTgt spid="39"/>
                                        </p:tgtEl>
                                        <p:attrNameLst>
                                          <p:attrName>ppt_x</p:attrName>
                                          <p:attrName>ppt_y</p:attrName>
                                        </p:attrNameLst>
                                      </p:cBhvr>
                                      <p:rCtr x="4609" y="0"/>
                                    </p:animMotion>
                                  </p:childTnLst>
                                </p:cTn>
                              </p:par>
                            </p:childTnLst>
                          </p:cTn>
                        </p:par>
                      </p:childTnLst>
                    </p:cTn>
                  </p:par>
                  <p:par>
                    <p:cTn id="62" fill="hold">
                      <p:stCondLst>
                        <p:cond delay="indefinite"/>
                      </p:stCondLst>
                      <p:childTnLst>
                        <p:par>
                          <p:cTn id="63" fill="hold">
                            <p:stCondLst>
                              <p:cond delay="0"/>
                            </p:stCondLst>
                            <p:childTnLst>
                              <p:par>
                                <p:cTn id="64" presetID="63" presetClass="path" presetSubtype="0" accel="50000" decel="50000" fill="hold" nodeType="clickEffect">
                                  <p:stCondLst>
                                    <p:cond delay="0"/>
                                  </p:stCondLst>
                                  <p:childTnLst>
                                    <p:animMotion origin="layout" path="M 0.6655 3.33333E-6 L 0.76029 3.33333E-6 " pathEditMode="relative" rAng="0" ptsTypes="AA">
                                      <p:cBhvr>
                                        <p:cTn id="65" dur="500" fill="hold"/>
                                        <p:tgtEl>
                                          <p:spTgt spid="39"/>
                                        </p:tgtEl>
                                        <p:attrNameLst>
                                          <p:attrName>ppt_x</p:attrName>
                                          <p:attrName>ppt_y</p:attrName>
                                        </p:attrNameLst>
                                      </p:cBhvr>
                                      <p:rCtr x="4753" y="0"/>
                                    </p:animMotion>
                                  </p:childTnLst>
                                </p:cTn>
                              </p:par>
                            </p:childTnLst>
                          </p:cTn>
                        </p:par>
                      </p:childTnLst>
                    </p:cTn>
                  </p:par>
                  <p:par>
                    <p:cTn id="66" fill="hold">
                      <p:stCondLst>
                        <p:cond delay="indefinite"/>
                      </p:stCondLst>
                      <p:childTnLst>
                        <p:par>
                          <p:cTn id="67" fill="hold">
                            <p:stCondLst>
                              <p:cond delay="0"/>
                            </p:stCondLst>
                            <p:childTnLst>
                              <p:par>
                                <p:cTn id="68" presetID="22" presetClass="exit" presetSubtype="8" fill="hold" nodeType="clickEffect">
                                  <p:stCondLst>
                                    <p:cond delay="0"/>
                                  </p:stCondLst>
                                  <p:childTnLst>
                                    <p:animEffect transition="out" filter="wipe(left)">
                                      <p:cBhvr>
                                        <p:cTn id="69" dur="500"/>
                                        <p:tgtEl>
                                          <p:spTgt spid="39"/>
                                        </p:tgtEl>
                                      </p:cBhvr>
                                    </p:animEffect>
                                    <p:set>
                                      <p:cBhvr>
                                        <p:cTn id="70" dur="1" fill="hold">
                                          <p:stCondLst>
                                            <p:cond delay="499"/>
                                          </p:stCondLst>
                                        </p:cTn>
                                        <p:tgtEl>
                                          <p:spTgt spid="39"/>
                                        </p:tgtEl>
                                        <p:attrNameLst>
                                          <p:attrName>style.visibility</p:attrName>
                                        </p:attrNameLst>
                                      </p:cBhvr>
                                      <p:to>
                                        <p:strVal val="hidden"/>
                                      </p:to>
                                    </p:set>
                                  </p:childTnLst>
                                </p:cTn>
                              </p:par>
                            </p:childTnLst>
                          </p:cTn>
                        </p:par>
                        <p:par>
                          <p:cTn id="71" fill="hold">
                            <p:stCondLst>
                              <p:cond delay="500"/>
                            </p:stCondLst>
                            <p:childTnLst>
                              <p:par>
                                <p:cTn id="72" presetID="1" presetClass="entr" presetSubtype="0" fill="hold" grpId="0" nodeType="after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dirty="0">
                <a:latin typeface="Arial Black" panose="020B0A04020102020204" pitchFamily="34" charset="0"/>
              </a:rPr>
              <a:t>多周期时空图</a:t>
            </a:r>
            <a:endParaRPr lang="zh-CN" altLang="en-US" dirty="0">
              <a:latin typeface="Arial Black" panose="020B0A04020102020204" pitchFamily="34" charset="0"/>
            </a:endParaRPr>
          </a:p>
        </p:txBody>
      </p:sp>
      <p:sp>
        <p:nvSpPr>
          <p:cNvPr id="1688580" name="Rectangle 4"/>
          <p:cNvSpPr>
            <a:spLocks noChangeArrowheads="1"/>
          </p:cNvSpPr>
          <p:nvPr/>
        </p:nvSpPr>
        <p:spPr bwMode="auto">
          <a:xfrm>
            <a:off x="1666246" y="4754007"/>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Iw</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180" name="Line 5"/>
          <p:cNvSpPr>
            <a:spLocks noChangeShapeType="1"/>
          </p:cNvSpPr>
          <p:nvPr/>
        </p:nvSpPr>
        <p:spPr bwMode="auto">
          <a:xfrm>
            <a:off x="1668013" y="5477009"/>
            <a:ext cx="918825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1" name="Line 6"/>
          <p:cNvSpPr>
            <a:spLocks noChangeShapeType="1"/>
          </p:cNvSpPr>
          <p:nvPr/>
        </p:nvSpPr>
        <p:spPr bwMode="auto">
          <a:xfrm flipH="1" flipV="1">
            <a:off x="1668013" y="1433156"/>
            <a:ext cx="0" cy="404385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2" name="Text Box 7"/>
          <p:cNvSpPr txBox="1">
            <a:spLocks noChangeArrowheads="1"/>
          </p:cNvSpPr>
          <p:nvPr/>
        </p:nvSpPr>
        <p:spPr bwMode="auto">
          <a:xfrm>
            <a:off x="10698093" y="5310045"/>
            <a:ext cx="11225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时间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t</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50183" name="Line 8"/>
          <p:cNvSpPr>
            <a:spLocks noChangeShapeType="1"/>
          </p:cNvSpPr>
          <p:nvPr/>
        </p:nvSpPr>
        <p:spPr bwMode="auto">
          <a:xfrm>
            <a:off x="1666246" y="4754007"/>
            <a:ext cx="8705156"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4" name="Line 9"/>
          <p:cNvSpPr>
            <a:spLocks noChangeShapeType="1"/>
          </p:cNvSpPr>
          <p:nvPr/>
        </p:nvSpPr>
        <p:spPr bwMode="auto">
          <a:xfrm flipV="1">
            <a:off x="2387481" y="1867298"/>
            <a:ext cx="0" cy="3609711"/>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5" name="Line 10"/>
          <p:cNvSpPr>
            <a:spLocks noChangeShapeType="1"/>
          </p:cNvSpPr>
          <p:nvPr/>
        </p:nvSpPr>
        <p:spPr bwMode="auto">
          <a:xfrm flipV="1">
            <a:off x="3108717" y="1867298"/>
            <a:ext cx="0" cy="3609711"/>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6" name="Line 11"/>
          <p:cNvSpPr>
            <a:spLocks noChangeShapeType="1"/>
          </p:cNvSpPr>
          <p:nvPr/>
        </p:nvSpPr>
        <p:spPr bwMode="auto">
          <a:xfrm flipV="1">
            <a:off x="3829952" y="1867298"/>
            <a:ext cx="0" cy="360971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7" name="Line 12"/>
          <p:cNvSpPr>
            <a:spLocks noChangeShapeType="1"/>
          </p:cNvSpPr>
          <p:nvPr/>
        </p:nvSpPr>
        <p:spPr bwMode="auto">
          <a:xfrm flipV="1">
            <a:off x="5265927" y="1914841"/>
            <a:ext cx="0" cy="3562168"/>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8" name="Line 13"/>
          <p:cNvSpPr>
            <a:spLocks noChangeShapeType="1"/>
          </p:cNvSpPr>
          <p:nvPr/>
        </p:nvSpPr>
        <p:spPr bwMode="auto">
          <a:xfrm flipV="1">
            <a:off x="5987163" y="1867298"/>
            <a:ext cx="0" cy="3609711"/>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89" name="Line 14"/>
          <p:cNvSpPr>
            <a:spLocks noChangeShapeType="1"/>
          </p:cNvSpPr>
          <p:nvPr/>
        </p:nvSpPr>
        <p:spPr bwMode="auto">
          <a:xfrm flipV="1">
            <a:off x="6708398" y="1867298"/>
            <a:ext cx="0" cy="3609711"/>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0" name="Line 15"/>
          <p:cNvSpPr>
            <a:spLocks noChangeShapeType="1"/>
          </p:cNvSpPr>
          <p:nvPr/>
        </p:nvSpPr>
        <p:spPr bwMode="auto">
          <a:xfrm flipV="1">
            <a:off x="7429634" y="1861276"/>
            <a:ext cx="0" cy="3615733"/>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1" name="Line 16"/>
          <p:cNvSpPr>
            <a:spLocks noChangeShapeType="1"/>
          </p:cNvSpPr>
          <p:nvPr/>
        </p:nvSpPr>
        <p:spPr bwMode="auto">
          <a:xfrm flipV="1">
            <a:off x="8152637" y="1869275"/>
            <a:ext cx="0" cy="3607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2" name="Line 17"/>
          <p:cNvSpPr>
            <a:spLocks noChangeShapeType="1"/>
          </p:cNvSpPr>
          <p:nvPr/>
        </p:nvSpPr>
        <p:spPr bwMode="auto">
          <a:xfrm>
            <a:off x="1666246" y="4032771"/>
            <a:ext cx="8705156"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3" name="Line 18"/>
          <p:cNvSpPr>
            <a:spLocks noChangeShapeType="1"/>
          </p:cNvSpPr>
          <p:nvPr/>
        </p:nvSpPr>
        <p:spPr bwMode="auto">
          <a:xfrm>
            <a:off x="1666245" y="3311536"/>
            <a:ext cx="8712415"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4" name="Line 19"/>
          <p:cNvSpPr>
            <a:spLocks noChangeShapeType="1"/>
          </p:cNvSpPr>
          <p:nvPr/>
        </p:nvSpPr>
        <p:spPr bwMode="auto">
          <a:xfrm>
            <a:off x="1666246" y="2590300"/>
            <a:ext cx="8712414"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50198" name="Text Box 23"/>
          <p:cNvSpPr txBox="1">
            <a:spLocks noChangeArrowheads="1"/>
          </p:cNvSpPr>
          <p:nvPr/>
        </p:nvSpPr>
        <p:spPr bwMode="auto">
          <a:xfrm>
            <a:off x="667939" y="4881544"/>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199" name="Text Box 24"/>
          <p:cNvSpPr txBox="1">
            <a:spLocks noChangeArrowheads="1"/>
          </p:cNvSpPr>
          <p:nvPr/>
        </p:nvSpPr>
        <p:spPr bwMode="auto">
          <a:xfrm>
            <a:off x="727999" y="4172062"/>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0" name="Text Box 25"/>
          <p:cNvSpPr txBox="1">
            <a:spLocks noChangeArrowheads="1"/>
          </p:cNvSpPr>
          <p:nvPr/>
        </p:nvSpPr>
        <p:spPr bwMode="auto">
          <a:xfrm>
            <a:off x="735361" y="3424034"/>
            <a:ext cx="882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1" name="Text Box 26"/>
          <p:cNvSpPr txBox="1">
            <a:spLocks noChangeArrowheads="1"/>
          </p:cNvSpPr>
          <p:nvPr/>
        </p:nvSpPr>
        <p:spPr bwMode="auto">
          <a:xfrm>
            <a:off x="633057" y="2751166"/>
            <a:ext cx="105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202" name="Text Box 27"/>
          <p:cNvSpPr txBox="1">
            <a:spLocks noChangeArrowheads="1"/>
          </p:cNvSpPr>
          <p:nvPr/>
        </p:nvSpPr>
        <p:spPr bwMode="auto">
          <a:xfrm>
            <a:off x="615018" y="1247394"/>
            <a:ext cx="10411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空间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s</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1" name="Line 13"/>
          <p:cNvSpPr>
            <a:spLocks noChangeShapeType="1"/>
          </p:cNvSpPr>
          <p:nvPr/>
        </p:nvSpPr>
        <p:spPr bwMode="auto">
          <a:xfrm flipV="1">
            <a:off x="4552955" y="1914841"/>
            <a:ext cx="0" cy="3562167"/>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44" name="Line 19"/>
          <p:cNvSpPr>
            <a:spLocks noChangeShapeType="1"/>
          </p:cNvSpPr>
          <p:nvPr/>
        </p:nvSpPr>
        <p:spPr bwMode="auto">
          <a:xfrm flipV="1">
            <a:off x="1656214" y="1867506"/>
            <a:ext cx="8715188"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48" name="Rectangle 4"/>
          <p:cNvSpPr>
            <a:spLocks noChangeArrowheads="1"/>
          </p:cNvSpPr>
          <p:nvPr/>
        </p:nvSpPr>
        <p:spPr bwMode="auto">
          <a:xfrm>
            <a:off x="2384321" y="4031003"/>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Iw</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9" name="Rectangle 4"/>
          <p:cNvSpPr>
            <a:spLocks noChangeArrowheads="1"/>
          </p:cNvSpPr>
          <p:nvPr/>
        </p:nvSpPr>
        <p:spPr bwMode="auto">
          <a:xfrm>
            <a:off x="3102396" y="3307999"/>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Iw</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 name="Rectangle 4"/>
          <p:cNvSpPr>
            <a:spLocks noChangeArrowheads="1"/>
          </p:cNvSpPr>
          <p:nvPr/>
        </p:nvSpPr>
        <p:spPr bwMode="auto">
          <a:xfrm>
            <a:off x="3830836" y="2591394"/>
            <a:ext cx="721236" cy="723003"/>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Iw</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1" name="Rectangle 4"/>
          <p:cNvSpPr>
            <a:spLocks noChangeArrowheads="1"/>
          </p:cNvSpPr>
          <p:nvPr/>
        </p:nvSpPr>
        <p:spPr bwMode="auto">
          <a:xfrm>
            <a:off x="4552132" y="1878606"/>
            <a:ext cx="711698" cy="713442"/>
          </a:xfrm>
          <a:prstGeom prst="rect">
            <a:avLst/>
          </a:prstGeom>
          <a:solidFill>
            <a:srgbClr val="FF99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Iw</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2" name="Rectangle 31"/>
          <p:cNvSpPr>
            <a:spLocks noChangeArrowheads="1"/>
          </p:cNvSpPr>
          <p:nvPr/>
        </p:nvSpPr>
        <p:spPr bwMode="auto">
          <a:xfrm>
            <a:off x="6705968" y="3315072"/>
            <a:ext cx="721236" cy="71706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fontAlgn="base">
              <a:spcBef>
                <a:spcPct val="50000"/>
              </a:spcBef>
              <a:spcAft>
                <a:spcPct val="0"/>
              </a:spcAft>
              <a:buNone/>
              <a:defRPr/>
            </a:pPr>
            <a:r>
              <a:rPr lang="en-US" altLang="zh-CN" sz="1600" dirty="0" err="1">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beq</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3" name="Rectangle 31"/>
          <p:cNvSpPr>
            <a:spLocks noChangeArrowheads="1"/>
          </p:cNvSpPr>
          <p:nvPr/>
        </p:nvSpPr>
        <p:spPr bwMode="auto">
          <a:xfrm>
            <a:off x="5986061" y="4028307"/>
            <a:ext cx="721236" cy="732104"/>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fontAlgn="base">
              <a:spcBef>
                <a:spcPct val="50000"/>
              </a:spcBef>
              <a:spcAft>
                <a:spcPct val="0"/>
              </a:spcAft>
              <a:buNone/>
              <a:defRPr/>
            </a:pPr>
            <a:r>
              <a:rPr lang="en-US" altLang="zh-CN" sz="1600" dirty="0" err="1">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beq</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4" name="Rectangle 31"/>
          <p:cNvSpPr>
            <a:spLocks noChangeArrowheads="1"/>
          </p:cNvSpPr>
          <p:nvPr/>
        </p:nvSpPr>
        <p:spPr bwMode="auto">
          <a:xfrm>
            <a:off x="5269611" y="4757543"/>
            <a:ext cx="721236" cy="722773"/>
          </a:xfrm>
          <a:prstGeom prst="rect">
            <a:avLst/>
          </a:prstGeom>
          <a:solidFill>
            <a:srgbClr val="99CC0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beq</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5" name="Text Box 26"/>
          <p:cNvSpPr txBox="1">
            <a:spLocks noChangeArrowheads="1"/>
          </p:cNvSpPr>
          <p:nvPr/>
        </p:nvSpPr>
        <p:spPr bwMode="auto">
          <a:xfrm>
            <a:off x="973869" y="2058014"/>
            <a:ext cx="755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3" name="Rectangle 31"/>
          <p:cNvSpPr>
            <a:spLocks noChangeArrowheads="1"/>
          </p:cNvSpPr>
          <p:nvPr/>
        </p:nvSpPr>
        <p:spPr bwMode="auto">
          <a:xfrm>
            <a:off x="8152940" y="4028306"/>
            <a:ext cx="746725" cy="723003"/>
          </a:xfrm>
          <a:prstGeom prst="rect">
            <a:avLst/>
          </a:prstGeom>
          <a:solidFill>
            <a:srgbClr val="00B0F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fontAlgn="base">
              <a:spcBef>
                <a:spcPct val="50000"/>
              </a:spcBef>
              <a:spcAft>
                <a:spcPct val="0"/>
              </a:spcAft>
              <a:buNone/>
              <a:defRPr/>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add</a:t>
            </a:r>
            <a:endPar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4" name="Rectangle 31"/>
          <p:cNvSpPr>
            <a:spLocks noChangeArrowheads="1"/>
          </p:cNvSpPr>
          <p:nvPr/>
        </p:nvSpPr>
        <p:spPr bwMode="auto">
          <a:xfrm>
            <a:off x="7427525" y="4757543"/>
            <a:ext cx="721236" cy="723003"/>
          </a:xfrm>
          <a:prstGeom prst="rect">
            <a:avLst/>
          </a:prstGeom>
          <a:solidFill>
            <a:srgbClr val="00B0F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add</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5" name="Line 16"/>
          <p:cNvSpPr>
            <a:spLocks noChangeShapeType="1"/>
          </p:cNvSpPr>
          <p:nvPr/>
        </p:nvSpPr>
        <p:spPr bwMode="auto">
          <a:xfrm flipV="1">
            <a:off x="8903503" y="1863251"/>
            <a:ext cx="0" cy="3607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68" name="Rectangle 31"/>
          <p:cNvSpPr>
            <a:spLocks noChangeArrowheads="1"/>
          </p:cNvSpPr>
          <p:nvPr/>
        </p:nvSpPr>
        <p:spPr bwMode="auto">
          <a:xfrm>
            <a:off x="8901553" y="3307999"/>
            <a:ext cx="735690" cy="723003"/>
          </a:xfrm>
          <a:prstGeom prst="rect">
            <a:avLst/>
          </a:prstGeom>
          <a:solidFill>
            <a:srgbClr val="00B0F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fontAlgn="base">
              <a:spcBef>
                <a:spcPct val="50000"/>
              </a:spcBef>
              <a:spcAft>
                <a:spcPct val="0"/>
              </a:spcAft>
              <a:buNone/>
              <a:defRPr/>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add</a:t>
            </a:r>
            <a:endPar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9" name="Rectangle 31"/>
          <p:cNvSpPr>
            <a:spLocks noChangeArrowheads="1"/>
          </p:cNvSpPr>
          <p:nvPr/>
        </p:nvSpPr>
        <p:spPr bwMode="auto">
          <a:xfrm>
            <a:off x="9641082" y="1869786"/>
            <a:ext cx="730319" cy="723003"/>
          </a:xfrm>
          <a:prstGeom prst="rect">
            <a:avLst/>
          </a:prstGeom>
          <a:solidFill>
            <a:srgbClr val="00B0F0"/>
          </a:solidFill>
          <a:ln w="19050" algn="ctr">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add</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1" name="Line 16"/>
          <p:cNvSpPr>
            <a:spLocks noChangeShapeType="1"/>
          </p:cNvSpPr>
          <p:nvPr/>
        </p:nvSpPr>
        <p:spPr bwMode="auto">
          <a:xfrm flipV="1">
            <a:off x="9641082" y="1863251"/>
            <a:ext cx="0" cy="3607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72" name="Line 16"/>
          <p:cNvSpPr>
            <a:spLocks noChangeShapeType="1"/>
          </p:cNvSpPr>
          <p:nvPr/>
        </p:nvSpPr>
        <p:spPr bwMode="auto">
          <a:xfrm flipV="1">
            <a:off x="10378661" y="1863251"/>
            <a:ext cx="0" cy="3607734"/>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5" name="组合 4"/>
          <p:cNvGrpSpPr/>
          <p:nvPr/>
        </p:nvGrpSpPr>
        <p:grpSpPr>
          <a:xfrm>
            <a:off x="10150844" y="1378956"/>
            <a:ext cx="882098" cy="4116889"/>
            <a:chOff x="10131794" y="1340856"/>
            <a:chExt cx="882098" cy="4116889"/>
          </a:xfrm>
        </p:grpSpPr>
        <p:sp>
          <p:nvSpPr>
            <p:cNvPr id="70" name="Line 35"/>
            <p:cNvSpPr>
              <a:spLocks noChangeShapeType="1"/>
            </p:cNvSpPr>
            <p:nvPr/>
          </p:nvSpPr>
          <p:spPr bwMode="auto">
            <a:xfrm flipH="1" flipV="1">
              <a:off x="10371402" y="1413893"/>
              <a:ext cx="0" cy="404385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73" name="Text Box 34"/>
            <p:cNvSpPr txBox="1">
              <a:spLocks noChangeArrowheads="1"/>
            </p:cNvSpPr>
            <p:nvPr/>
          </p:nvSpPr>
          <p:spPr bwMode="auto">
            <a:xfrm>
              <a:off x="10131794" y="1340856"/>
              <a:ext cx="882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grpSp>
        <p:nvGrpSpPr>
          <p:cNvPr id="4" name="组合 3"/>
          <p:cNvGrpSpPr/>
          <p:nvPr/>
        </p:nvGrpSpPr>
        <p:grpSpPr>
          <a:xfrm>
            <a:off x="7209300" y="1321860"/>
            <a:ext cx="882098" cy="4155148"/>
            <a:chOff x="7209300" y="1321860"/>
            <a:chExt cx="882098" cy="4155148"/>
          </a:xfrm>
        </p:grpSpPr>
        <p:sp>
          <p:nvSpPr>
            <p:cNvPr id="1688610" name="Text Box 34"/>
            <p:cNvSpPr txBox="1">
              <a:spLocks noChangeArrowheads="1"/>
            </p:cNvSpPr>
            <p:nvPr/>
          </p:nvSpPr>
          <p:spPr bwMode="auto">
            <a:xfrm>
              <a:off x="7209300" y="1321860"/>
              <a:ext cx="882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688611" name="Line 35"/>
            <p:cNvSpPr>
              <a:spLocks noChangeShapeType="1"/>
            </p:cNvSpPr>
            <p:nvPr/>
          </p:nvSpPr>
          <p:spPr bwMode="auto">
            <a:xfrm flipH="1" flipV="1">
              <a:off x="7426762" y="1433156"/>
              <a:ext cx="0" cy="404385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43" name="矩形 42"/>
          <p:cNvSpPr/>
          <p:nvPr/>
        </p:nvSpPr>
        <p:spPr>
          <a:xfrm>
            <a:off x="2260666" y="553213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45"/>
          <p:cNvSpPr/>
          <p:nvPr/>
        </p:nvSpPr>
        <p:spPr>
          <a:xfrm>
            <a:off x="2855916"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46"/>
          <p:cNvSpPr/>
          <p:nvPr/>
        </p:nvSpPr>
        <p:spPr>
          <a:xfrm>
            <a:off x="3571530"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矩形 55"/>
          <p:cNvSpPr/>
          <p:nvPr/>
        </p:nvSpPr>
        <p:spPr>
          <a:xfrm>
            <a:off x="4287144"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7" name="矩形 56"/>
          <p:cNvSpPr/>
          <p:nvPr/>
        </p:nvSpPr>
        <p:spPr>
          <a:xfrm>
            <a:off x="5002758"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8" name="矩形 57"/>
          <p:cNvSpPr/>
          <p:nvPr/>
        </p:nvSpPr>
        <p:spPr>
          <a:xfrm>
            <a:off x="5718372"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9" name="矩形 58"/>
          <p:cNvSpPr/>
          <p:nvPr/>
        </p:nvSpPr>
        <p:spPr>
          <a:xfrm>
            <a:off x="6433986"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0" name="矩形 59"/>
          <p:cNvSpPr/>
          <p:nvPr/>
        </p:nvSpPr>
        <p:spPr>
          <a:xfrm>
            <a:off x="7149600"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 name="矩形 60"/>
          <p:cNvSpPr/>
          <p:nvPr/>
        </p:nvSpPr>
        <p:spPr>
          <a:xfrm>
            <a:off x="7865214" y="5532133"/>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2" name="矩形 61"/>
          <p:cNvSpPr/>
          <p:nvPr/>
        </p:nvSpPr>
        <p:spPr>
          <a:xfrm>
            <a:off x="8523680" y="5532133"/>
            <a:ext cx="5870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6" name="矩形 65"/>
          <p:cNvSpPr/>
          <p:nvPr/>
        </p:nvSpPr>
        <p:spPr>
          <a:xfrm>
            <a:off x="1574866" y="555118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4" name="矩形 73"/>
          <p:cNvSpPr/>
          <p:nvPr/>
        </p:nvSpPr>
        <p:spPr>
          <a:xfrm>
            <a:off x="9347572" y="5532133"/>
            <a:ext cx="5870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5" name="矩形 74"/>
          <p:cNvSpPr/>
          <p:nvPr/>
        </p:nvSpPr>
        <p:spPr>
          <a:xfrm>
            <a:off x="10049727" y="5532133"/>
            <a:ext cx="5870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6" name="Rectangle 3"/>
          <p:cNvSpPr txBox="1">
            <a:spLocks noChangeArrowheads="1"/>
          </p:cNvSpPr>
          <p:nvPr/>
        </p:nvSpPr>
        <p:spPr bwMode="auto">
          <a:xfrm>
            <a:off x="3940310" y="6033293"/>
            <a:ext cx="4583370" cy="51930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C000"/>
              </a:buClr>
              <a:buFont typeface="Wingdings" panose="05000000000000000000" pitchFamily="2" charset="2"/>
              <a:buChar char="n"/>
              <a:defRPr lang="zh-CN" altLang="en-US" sz="2400">
                <a:solidFill>
                  <a:schemeClr val="tx1"/>
                </a:solidFill>
                <a:latin typeface="+mn-ea"/>
                <a:ea typeface="+mn-ea"/>
                <a:cs typeface="+mn-cs"/>
              </a:defRPr>
            </a:lvl1pPr>
            <a:lvl2pPr marL="812800" indent="-355600" algn="l" rtl="0" eaLnBrk="0" fontAlgn="base" hangingPunct="0">
              <a:lnSpc>
                <a:spcPct val="120000"/>
              </a:lnSpc>
              <a:spcBef>
                <a:spcPct val="20000"/>
              </a:spcBef>
              <a:spcAft>
                <a:spcPct val="0"/>
              </a:spcAft>
              <a:buClr>
                <a:srgbClr val="FFC000"/>
              </a:buClr>
              <a:buFont typeface="Wingdings" panose="05000000000000000000" pitchFamily="2" charset="2"/>
              <a:buChar char="p"/>
              <a:defRPr lang="zh-CN" altLang="en-US" sz="2000">
                <a:solidFill>
                  <a:srgbClr val="C00000"/>
                </a:solidFill>
                <a:latin typeface="+mn-ea"/>
                <a:ea typeface="+mn-ea"/>
              </a:defRPr>
            </a:lvl2pPr>
            <a:lvl3pPr marL="1143000" indent="-228600" algn="l" rtl="0" eaLnBrk="0" fontAlgn="base" hangingPunct="0">
              <a:lnSpc>
                <a:spcPct val="120000"/>
              </a:lnSpc>
              <a:spcBef>
                <a:spcPct val="20000"/>
              </a:spcBef>
              <a:spcAft>
                <a:spcPct val="0"/>
              </a:spcAft>
              <a:buClr>
                <a:srgbClr val="FFC000"/>
              </a:buClr>
              <a:buFont typeface="Wingdings" panose="05000000000000000000" pitchFamily="2" charset="2"/>
              <a:buChar char="u"/>
              <a:defRPr lang="zh-CN" altLang="en-US" sz="2000">
                <a:solidFill>
                  <a:schemeClr val="tx1"/>
                </a:solidFill>
                <a:latin typeface="+mn-ea"/>
                <a:ea typeface="+mn-ea"/>
              </a:defRPr>
            </a:lvl3pPr>
            <a:lvl4pPr marL="16002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4pPr>
            <a:lvl5pPr marL="20574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完成</a:t>
            </a:r>
            <a:r>
              <a:rPr kumimoji="0" lang="en-US" altLang="zh-CN"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n</a:t>
            </a:r>
            <a:r>
              <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rPr>
              <a:t>条指令</a:t>
            </a:r>
            <a:r>
              <a:rPr lang="zh-CN" altLang="en-US" b="1" kern="0" dirty="0">
                <a:solidFill>
                  <a:schemeClr val="bg2">
                    <a:lumMod val="50000"/>
                  </a:schemeClr>
                </a:solidFill>
                <a:latin typeface="微软雅黑" panose="020B0503020204020204" pitchFamily="34" charset="-122"/>
                <a:ea typeface="微软雅黑" panose="020B0503020204020204" pitchFamily="34" charset="-122"/>
              </a:rPr>
              <a:t>时间与指令有关</a:t>
            </a:r>
            <a:endPar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Char char="n"/>
              <a:defRPr/>
            </a:pP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5108374" y="1404640"/>
            <a:ext cx="882098" cy="4098976"/>
            <a:chOff x="5099903" y="1378033"/>
            <a:chExt cx="882098" cy="4098976"/>
          </a:xfrm>
        </p:grpSpPr>
        <p:sp>
          <p:nvSpPr>
            <p:cNvPr id="1688609" name="Text Box 33"/>
            <p:cNvSpPr txBox="1">
              <a:spLocks noChangeArrowheads="1"/>
            </p:cNvSpPr>
            <p:nvPr/>
          </p:nvSpPr>
          <p:spPr bwMode="auto">
            <a:xfrm>
              <a:off x="5099903" y="1378033"/>
              <a:ext cx="882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800" b="0" i="0" u="none" strike="noStrike" kern="1200" cap="none" spc="0" normalizeH="0" baseline="-25000" noProof="0" dirty="0">
                <a:ln>
                  <a:noFill/>
                </a:ln>
                <a:solidFill>
                  <a:srgbClr val="005D9C"/>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688608" name="Line 32"/>
            <p:cNvSpPr>
              <a:spLocks noChangeShapeType="1"/>
            </p:cNvSpPr>
            <p:nvPr/>
          </p:nvSpPr>
          <p:spPr bwMode="auto">
            <a:xfrm flipV="1">
              <a:off x="5269078" y="1433156"/>
              <a:ext cx="0" cy="404385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3439"/>
    </mc:Choice>
    <mc:Fallback>
      <p:transition spd="slow" advTm="7343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88580"/>
                                        </p:tgtEl>
                                        <p:attrNameLst>
                                          <p:attrName>style.visibility</p:attrName>
                                        </p:attrNameLst>
                                      </p:cBhvr>
                                      <p:to>
                                        <p:strVal val="visible"/>
                                      </p:to>
                                    </p:set>
                                    <p:animEffect transition="in" filter="wipe(down)">
                                      <p:cBhvr>
                                        <p:cTn id="7" dur="500"/>
                                        <p:tgtEl>
                                          <p:spTgt spid="1688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down)">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down)">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down)">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down)">
                                      <p:cBhvr>
                                        <p:cTn id="27" dur="500"/>
                                        <p:tgtEl>
                                          <p:spTgt spid="51"/>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wipe(down)">
                                      <p:cBhvr>
                                        <p:cTn id="36" dur="500"/>
                                        <p:tgtEl>
                                          <p:spTgt spid="5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down)">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wipe(down)">
                                      <p:cBhvr>
                                        <p:cTn id="46" dur="500"/>
                                        <p:tgtEl>
                                          <p:spTgt spid="52"/>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down)">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wipe(down)">
                                      <p:cBhvr>
                                        <p:cTn id="55" dur="5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63"/>
                                        </p:tgtEl>
                                        <p:attrNameLst>
                                          <p:attrName>style.visibility</p:attrName>
                                        </p:attrNameLst>
                                      </p:cBhvr>
                                      <p:to>
                                        <p:strVal val="visible"/>
                                      </p:to>
                                    </p:set>
                                    <p:animEffect transition="in" filter="wipe(down)">
                                      <p:cBhvr>
                                        <p:cTn id="60" dur="500"/>
                                        <p:tgtEl>
                                          <p:spTgt spid="6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wipe(down)">
                                      <p:cBhvr>
                                        <p:cTn id="65" dur="500"/>
                                        <p:tgtEl>
                                          <p:spTgt spid="6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wipe(down)">
                                      <p:cBhvr>
                                        <p:cTn id="70" dur="500"/>
                                        <p:tgtEl>
                                          <p:spTgt spid="69"/>
                                        </p:tgtEl>
                                      </p:cBhvr>
                                    </p:animEffect>
                                  </p:childTnLst>
                                </p:cTn>
                              </p:par>
                            </p:childTnLst>
                          </p:cTn>
                        </p:par>
                        <p:par>
                          <p:cTn id="71" fill="hold">
                            <p:stCondLst>
                              <p:cond delay="500"/>
                            </p:stCondLst>
                            <p:childTnLst>
                              <p:par>
                                <p:cTn id="72" presetID="22" presetClass="entr" presetSubtype="4" fill="hold" nodeType="after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wipe(down)">
                                      <p:cBhvr>
                                        <p:cTn id="74" dur="500"/>
                                        <p:tgtEl>
                                          <p:spTgt spid="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6"/>
                                        </p:tgtEl>
                                        <p:attrNameLst>
                                          <p:attrName>style.visibility</p:attrName>
                                        </p:attrNameLst>
                                      </p:cBhvr>
                                      <p:to>
                                        <p:strVal val="visible"/>
                                      </p:to>
                                    </p:set>
                                    <p:animEffect transition="in" filter="wipe(left)">
                                      <p:cBhvr>
                                        <p:cTn id="7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8580" grpId="0" animBg="1"/>
      <p:bldP spid="48" grpId="0" animBg="1"/>
      <p:bldP spid="49" grpId="0" animBg="1"/>
      <p:bldP spid="50" grpId="0" animBg="1"/>
      <p:bldP spid="51" grpId="0" animBg="1"/>
      <p:bldP spid="52" grpId="0" animBg="1"/>
      <p:bldP spid="53" grpId="0" animBg="1"/>
      <p:bldP spid="54" grpId="0" animBg="1"/>
      <p:bldP spid="63" grpId="0" animBg="1"/>
      <p:bldP spid="64" grpId="0" animBg="1"/>
      <p:bldP spid="68" grpId="0" animBg="1"/>
      <p:bldP spid="69" grpId="0" animBg="1"/>
      <p:bldP spid="7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4300" y="4791074"/>
            <a:ext cx="12192000"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7106" name="Rectangle 2"/>
          <p:cNvSpPr>
            <a:spLocks noGrp="1" noChangeArrowheads="1"/>
          </p:cNvSpPr>
          <p:nvPr>
            <p:ph type="title"/>
          </p:nvPr>
        </p:nvSpPr>
        <p:spPr/>
        <p:txBody>
          <a:bodyPr/>
          <a:lstStyle/>
          <a:p>
            <a:r>
              <a:rPr lang="zh-CN" altLang="en-US" dirty="0">
                <a:latin typeface="宋体" panose="02010600030101010101" pitchFamily="2" charset="-122"/>
              </a:rPr>
              <a:t>流水线指令运行动态</a:t>
            </a:r>
            <a:endParaRPr lang="zh-CN" altLang="en-US" dirty="0">
              <a:latin typeface="宋体" panose="02010600030101010101" pitchFamily="2" charset="-122"/>
            </a:endParaRPr>
          </a:p>
        </p:txBody>
      </p:sp>
      <p:sp>
        <p:nvSpPr>
          <p:cNvPr id="47113" name="Line 8"/>
          <p:cNvSpPr>
            <a:spLocks noChangeShapeType="1"/>
          </p:cNvSpPr>
          <p:nvPr/>
        </p:nvSpPr>
        <p:spPr bwMode="auto">
          <a:xfrm>
            <a:off x="2827241" y="5237162"/>
            <a:ext cx="719137" cy="0"/>
          </a:xfrm>
          <a:prstGeom prst="line">
            <a:avLst/>
          </a:prstGeom>
          <a:noFill/>
          <a:ln w="28575">
            <a:solidFill>
              <a:srgbClr val="00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2" name="组合 1"/>
          <p:cNvGrpSpPr/>
          <p:nvPr/>
        </p:nvGrpSpPr>
        <p:grpSpPr>
          <a:xfrm>
            <a:off x="3546378" y="4876800"/>
            <a:ext cx="1152525" cy="792163"/>
            <a:chOff x="3660678" y="4991100"/>
            <a:chExt cx="1152525" cy="792163"/>
          </a:xfrm>
          <a:solidFill>
            <a:schemeClr val="bg1"/>
          </a:solidFill>
        </p:grpSpPr>
        <p:sp>
          <p:nvSpPr>
            <p:cNvPr id="47109"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20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114"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1" name="组合 20"/>
          <p:cNvGrpSpPr/>
          <p:nvPr/>
        </p:nvGrpSpPr>
        <p:grpSpPr>
          <a:xfrm>
            <a:off x="4704838" y="4876800"/>
            <a:ext cx="1152525" cy="792163"/>
            <a:chOff x="3660678" y="4991100"/>
            <a:chExt cx="1152525" cy="792163"/>
          </a:xfrm>
          <a:solidFill>
            <a:schemeClr val="bg1"/>
          </a:solidFill>
        </p:grpSpPr>
        <p:sp>
          <p:nvSpPr>
            <p:cNvPr id="22"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3"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4" name="组合 23"/>
          <p:cNvGrpSpPr/>
          <p:nvPr/>
        </p:nvGrpSpPr>
        <p:grpSpPr>
          <a:xfrm>
            <a:off x="5863298" y="4876800"/>
            <a:ext cx="1152525" cy="792163"/>
            <a:chOff x="3660678" y="4991100"/>
            <a:chExt cx="1152525" cy="792163"/>
          </a:xfrm>
          <a:solidFill>
            <a:schemeClr val="bg1"/>
          </a:solidFill>
        </p:grpSpPr>
        <p:sp>
          <p:nvSpPr>
            <p:cNvPr id="25"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6"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7" name="组合 26"/>
          <p:cNvGrpSpPr/>
          <p:nvPr/>
        </p:nvGrpSpPr>
        <p:grpSpPr>
          <a:xfrm>
            <a:off x="7021758" y="4876800"/>
            <a:ext cx="1152525" cy="792163"/>
            <a:chOff x="3660678" y="4991100"/>
            <a:chExt cx="1152525" cy="792163"/>
          </a:xfrm>
          <a:solidFill>
            <a:schemeClr val="bg1"/>
          </a:solidFill>
        </p:grpSpPr>
        <p:sp>
          <p:nvSpPr>
            <p:cNvPr id="28"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29"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30" name="组合 29"/>
          <p:cNvGrpSpPr/>
          <p:nvPr/>
        </p:nvGrpSpPr>
        <p:grpSpPr>
          <a:xfrm>
            <a:off x="8180218" y="4876800"/>
            <a:ext cx="1152525" cy="792163"/>
            <a:chOff x="3660678" y="4991100"/>
            <a:chExt cx="1152525" cy="792163"/>
          </a:xfrm>
          <a:solidFill>
            <a:schemeClr val="bg1"/>
          </a:solidFill>
        </p:grpSpPr>
        <p:sp>
          <p:nvSpPr>
            <p:cNvPr id="31" name="Rectangle 4"/>
            <p:cNvSpPr>
              <a:spLocks noChangeArrowheads="1"/>
            </p:cNvSpPr>
            <p:nvPr/>
          </p:nvSpPr>
          <p:spPr bwMode="auto">
            <a:xfrm>
              <a:off x="3660678" y="4991100"/>
              <a:ext cx="576263" cy="792163"/>
            </a:xfrm>
            <a:prstGeom prst="rect">
              <a:avLst/>
            </a:prstGeom>
            <a:grpFill/>
            <a:ln w="19050" algn="ctr">
              <a:solidFill>
                <a:srgbClr val="003300"/>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1"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2" name="Line 9"/>
            <p:cNvSpPr>
              <a:spLocks noChangeShapeType="1"/>
            </p:cNvSpPr>
            <p:nvPr/>
          </p:nvSpPr>
          <p:spPr bwMode="auto">
            <a:xfrm>
              <a:off x="4238528" y="5351462"/>
              <a:ext cx="574675" cy="0"/>
            </a:xfrm>
            <a:prstGeom prst="line">
              <a:avLst/>
            </a:prstGeom>
            <a:grpFill/>
            <a:ln w="28575">
              <a:solidFill>
                <a:srgbClr val="003300"/>
              </a:solidFill>
              <a:round/>
              <a:tailEnd type="triangle" w="med" len="med"/>
            </a:ln>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4" name="组合 3"/>
          <p:cNvGrpSpPr/>
          <p:nvPr/>
        </p:nvGrpSpPr>
        <p:grpSpPr>
          <a:xfrm>
            <a:off x="-6896688" y="4876800"/>
            <a:ext cx="9852931" cy="792163"/>
            <a:chOff x="2029998" y="3032760"/>
            <a:chExt cx="9852931" cy="792163"/>
          </a:xfrm>
        </p:grpSpPr>
        <p:sp>
          <p:nvSpPr>
            <p:cNvPr id="34" name="Rectangle 4"/>
            <p:cNvSpPr>
              <a:spLocks noChangeArrowheads="1"/>
            </p:cNvSpPr>
            <p:nvPr/>
          </p:nvSpPr>
          <p:spPr bwMode="auto">
            <a:xfrm>
              <a:off x="2029998" y="3032760"/>
              <a:ext cx="576263" cy="792163"/>
            </a:xfrm>
            <a:prstGeom prst="rect">
              <a:avLst/>
            </a:prstGeom>
            <a:solidFill>
              <a:schemeClr val="accent2">
                <a:lumMod val="40000"/>
                <a:lumOff val="60000"/>
              </a:scheme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9</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37" name="Rectangle 4"/>
            <p:cNvSpPr>
              <a:spLocks noChangeArrowheads="1"/>
            </p:cNvSpPr>
            <p:nvPr/>
          </p:nvSpPr>
          <p:spPr bwMode="auto">
            <a:xfrm>
              <a:off x="3188458" y="3032760"/>
              <a:ext cx="576263" cy="792163"/>
            </a:xfrm>
            <a:prstGeom prst="rect">
              <a:avLst/>
            </a:prstGeom>
            <a:solidFill>
              <a:srgbClr val="00B0F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0" name="Rectangle 4"/>
            <p:cNvSpPr>
              <a:spLocks noChangeArrowheads="1"/>
            </p:cNvSpPr>
            <p:nvPr/>
          </p:nvSpPr>
          <p:spPr bwMode="auto">
            <a:xfrm>
              <a:off x="4346918" y="3032760"/>
              <a:ext cx="576263" cy="792163"/>
            </a:xfrm>
            <a:prstGeom prst="rect">
              <a:avLst/>
            </a:prstGeom>
            <a:solidFill>
              <a:srgbClr val="92D05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3" name="Rectangle 4"/>
            <p:cNvSpPr>
              <a:spLocks noChangeArrowheads="1"/>
            </p:cNvSpPr>
            <p:nvPr/>
          </p:nvSpPr>
          <p:spPr bwMode="auto">
            <a:xfrm>
              <a:off x="5505378" y="3032760"/>
              <a:ext cx="576263" cy="792163"/>
            </a:xfrm>
            <a:prstGeom prst="rect">
              <a:avLst/>
            </a:prstGeom>
            <a:solidFill>
              <a:srgbClr val="FFC00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6</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6" name="Rectangle 4"/>
            <p:cNvSpPr>
              <a:spLocks noChangeArrowheads="1"/>
            </p:cNvSpPr>
            <p:nvPr/>
          </p:nvSpPr>
          <p:spPr bwMode="auto">
            <a:xfrm>
              <a:off x="6663838" y="3032760"/>
              <a:ext cx="576263" cy="792163"/>
            </a:xfrm>
            <a:prstGeom prst="rect">
              <a:avLst/>
            </a:prstGeom>
            <a:solidFill>
              <a:srgbClr val="7030A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prstClr val="white"/>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prstClr val="white"/>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2000" b="0" i="0" u="none" strike="noStrike" kern="1200" cap="none" spc="0" normalizeH="0" baseline="0" noProof="0" dirty="0">
                <a:ln>
                  <a:noFill/>
                </a:ln>
                <a:solidFill>
                  <a:prstClr val="white"/>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3" name="Rectangle 4"/>
            <p:cNvSpPr>
              <a:spLocks noChangeArrowheads="1"/>
            </p:cNvSpPr>
            <p:nvPr/>
          </p:nvSpPr>
          <p:spPr bwMode="auto">
            <a:xfrm>
              <a:off x="7824545" y="3032760"/>
              <a:ext cx="576263" cy="792163"/>
            </a:xfrm>
            <a:prstGeom prst="rect">
              <a:avLst/>
            </a:prstGeom>
            <a:solidFill>
              <a:schemeClr val="accent2">
                <a:lumMod val="40000"/>
                <a:lumOff val="60000"/>
              </a:schemeClr>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6" name="Rectangle 4"/>
            <p:cNvSpPr>
              <a:spLocks noChangeArrowheads="1"/>
            </p:cNvSpPr>
            <p:nvPr/>
          </p:nvSpPr>
          <p:spPr bwMode="auto">
            <a:xfrm>
              <a:off x="8985252" y="3032760"/>
              <a:ext cx="576263" cy="792163"/>
            </a:xfrm>
            <a:prstGeom prst="rect">
              <a:avLst/>
            </a:prstGeom>
            <a:solidFill>
              <a:srgbClr val="00B0F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9" name="Rectangle 4"/>
            <p:cNvSpPr>
              <a:spLocks noChangeArrowheads="1"/>
            </p:cNvSpPr>
            <p:nvPr/>
          </p:nvSpPr>
          <p:spPr bwMode="auto">
            <a:xfrm>
              <a:off x="10145959" y="3032760"/>
              <a:ext cx="576263" cy="792163"/>
            </a:xfrm>
            <a:prstGeom prst="rect">
              <a:avLst/>
            </a:prstGeom>
            <a:solidFill>
              <a:srgbClr val="92D05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2" name="Rectangle 4"/>
            <p:cNvSpPr>
              <a:spLocks noChangeArrowheads="1"/>
            </p:cNvSpPr>
            <p:nvPr/>
          </p:nvSpPr>
          <p:spPr bwMode="auto">
            <a:xfrm>
              <a:off x="11306666" y="3032760"/>
              <a:ext cx="576263" cy="792163"/>
            </a:xfrm>
            <a:prstGeom prst="rect">
              <a:avLst/>
            </a:prstGeom>
            <a:solidFill>
              <a:srgbClr val="FFC000"/>
            </a:solidFill>
            <a:ln w="28575" algn="ctr">
              <a:solidFill>
                <a:schemeClr val="accent2">
                  <a:lumMod val="75000"/>
                </a:schemeClr>
              </a:solidFill>
              <a:miter lim="800000"/>
            </a:ln>
            <a:effectLst/>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2000" b="0" i="0" u="none" strike="noStrike" kern="1200" cap="none" spc="0" normalizeH="0" baseline="-25000" noProof="0" dirty="0">
                <a:ln>
                  <a:noFill/>
                </a:ln>
                <a:solidFill>
                  <a:srgbClr val="000000"/>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sp>
        <p:nvSpPr>
          <p:cNvPr id="76" name="矩形 75"/>
          <p:cNvSpPr/>
          <p:nvPr/>
        </p:nvSpPr>
        <p:spPr>
          <a:xfrm>
            <a:off x="-120234" y="4782343"/>
            <a:ext cx="3126082"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 name="矩形 86"/>
          <p:cNvSpPr/>
          <p:nvPr/>
        </p:nvSpPr>
        <p:spPr>
          <a:xfrm>
            <a:off x="9319145" y="4799805"/>
            <a:ext cx="3084465" cy="981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文本框 6"/>
          <p:cNvSpPr txBox="1"/>
          <p:nvPr/>
        </p:nvSpPr>
        <p:spPr>
          <a:xfrm>
            <a:off x="3495360" y="58008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取指</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4665970" y="58008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译码</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5" name="文本框 94"/>
          <p:cNvSpPr txBox="1"/>
          <p:nvPr/>
        </p:nvSpPr>
        <p:spPr>
          <a:xfrm>
            <a:off x="5836580" y="58008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6" name="文本框 95"/>
          <p:cNvSpPr txBox="1"/>
          <p:nvPr/>
        </p:nvSpPr>
        <p:spPr>
          <a:xfrm>
            <a:off x="7007190" y="58008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访存</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7" name="文本框 96"/>
          <p:cNvSpPr txBox="1"/>
          <p:nvPr/>
        </p:nvSpPr>
        <p:spPr>
          <a:xfrm>
            <a:off x="8177800" y="580088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写回</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p:nvCxnSpPr>
        <p:spPr>
          <a:xfrm>
            <a:off x="0" y="4782343"/>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577214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内容占位符 2"/>
          <p:cNvSpPr txBox="1"/>
          <p:nvPr/>
        </p:nvSpPr>
        <p:spPr>
          <a:xfrm>
            <a:off x="284622" y="942764"/>
            <a:ext cx="10667857" cy="5637024"/>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t>数据通路细分为</a:t>
            </a:r>
            <a:r>
              <a:rPr lang="en-US" altLang="zh-CN" dirty="0"/>
              <a:t>5</a:t>
            </a:r>
            <a:r>
              <a:rPr lang="zh-CN" altLang="en-US" dirty="0"/>
              <a:t>段，</a:t>
            </a:r>
            <a:r>
              <a:rPr lang="zh-CN" altLang="en-US" u="sng" dirty="0">
                <a:solidFill>
                  <a:srgbClr val="C00000"/>
                </a:solidFill>
              </a:rPr>
              <a:t>各段完全并发</a:t>
            </a:r>
            <a:endParaRPr lang="en-US" altLang="zh-CN" u="sng" dirty="0">
              <a:solidFill>
                <a:srgbClr val="C00000"/>
              </a:solidFill>
            </a:endParaRPr>
          </a:p>
          <a:p>
            <a:pPr lvl="1">
              <a:lnSpc>
                <a:spcPct val="150000"/>
              </a:lnSpc>
            </a:pPr>
            <a:r>
              <a:rPr lang="zh-CN" altLang="en-US" dirty="0"/>
              <a:t> 取指令        </a:t>
            </a:r>
            <a:r>
              <a:rPr lang="en-US" altLang="zh-CN" dirty="0"/>
              <a:t>IF    (Instruction Fetch)</a:t>
            </a:r>
            <a:endParaRPr lang="en-US" altLang="zh-CN" dirty="0"/>
          </a:p>
          <a:p>
            <a:pPr lvl="1">
              <a:lnSpc>
                <a:spcPct val="150000"/>
              </a:lnSpc>
            </a:pPr>
            <a:r>
              <a:rPr lang="en-US" altLang="zh-CN" dirty="0"/>
              <a:t> </a:t>
            </a:r>
            <a:r>
              <a:rPr lang="zh-CN" altLang="en-US" dirty="0"/>
              <a:t>指令译码    </a:t>
            </a:r>
            <a:r>
              <a:rPr lang="en-US" altLang="zh-CN" dirty="0"/>
              <a:t>ID    (Instruction Decode)</a:t>
            </a:r>
            <a:endParaRPr lang="en-US" altLang="zh-CN" dirty="0"/>
          </a:p>
          <a:p>
            <a:pPr lvl="1">
              <a:lnSpc>
                <a:spcPct val="150000"/>
              </a:lnSpc>
            </a:pPr>
            <a:r>
              <a:rPr lang="en-US" altLang="zh-CN" dirty="0"/>
              <a:t> </a:t>
            </a:r>
            <a:r>
              <a:rPr lang="zh-CN" altLang="en-US" dirty="0"/>
              <a:t>执行运算    </a:t>
            </a:r>
            <a:r>
              <a:rPr lang="en-US" altLang="zh-CN" dirty="0"/>
              <a:t>EX   (Execution)</a:t>
            </a:r>
            <a:endParaRPr lang="en-US" altLang="zh-CN" dirty="0"/>
          </a:p>
          <a:p>
            <a:pPr lvl="1">
              <a:lnSpc>
                <a:spcPct val="150000"/>
              </a:lnSpc>
            </a:pPr>
            <a:r>
              <a:rPr lang="en-US" altLang="zh-CN" dirty="0"/>
              <a:t> </a:t>
            </a:r>
            <a:r>
              <a:rPr lang="zh-CN" altLang="en-US" dirty="0"/>
              <a:t>访存阶段    </a:t>
            </a:r>
            <a:r>
              <a:rPr lang="en-US" altLang="zh-CN" dirty="0"/>
              <a:t>MEM</a:t>
            </a:r>
            <a:r>
              <a:rPr lang="zh-CN" altLang="en-US" dirty="0"/>
              <a:t>（</a:t>
            </a:r>
            <a:r>
              <a:rPr lang="en-US" altLang="zh-CN" dirty="0"/>
              <a:t>Memory For Data </a:t>
            </a:r>
            <a:r>
              <a:rPr lang="zh-CN" altLang="en-US" dirty="0"/>
              <a:t>）</a:t>
            </a:r>
            <a:endParaRPr lang="zh-CN" altLang="en-US" dirty="0"/>
          </a:p>
          <a:p>
            <a:pPr lvl="1">
              <a:lnSpc>
                <a:spcPct val="150000"/>
              </a:lnSpc>
            </a:pPr>
            <a:r>
              <a:rPr lang="en-US" altLang="zh-CN" dirty="0"/>
              <a:t> </a:t>
            </a:r>
            <a:r>
              <a:rPr lang="zh-CN" altLang="en-US" dirty="0"/>
              <a:t>结果写回    </a:t>
            </a:r>
            <a:r>
              <a:rPr lang="en-US" altLang="zh-CN" dirty="0"/>
              <a:t>WB  (Write Back)</a:t>
            </a:r>
            <a:endParaRPr lang="en-US" altLang="zh-CN" dirty="0"/>
          </a:p>
        </p:txBody>
      </p:sp>
      <p:pic>
        <p:nvPicPr>
          <p:cNvPr id="3" name="图片 2"/>
          <p:cNvPicPr>
            <a:picLocks noChangeAspect="1"/>
          </p:cNvPicPr>
          <p:nvPr/>
        </p:nvPicPr>
        <p:blipFill>
          <a:blip r:embed="rId1"/>
          <a:stretch>
            <a:fillRect/>
          </a:stretch>
        </p:blipFill>
        <p:spPr>
          <a:xfrm>
            <a:off x="6200544" y="1294836"/>
            <a:ext cx="5526699" cy="276528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71696"/>
    </mc:Choice>
    <mc:Fallback>
      <p:transition spd="slow" advTm="1716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45833E-6 1.11022E-16 L 0.09479 1.11022E-16 " pathEditMode="relative" rAng="0" ptsTypes="AA">
                                      <p:cBhvr>
                                        <p:cTn id="6" dur="2000" fill="hold"/>
                                        <p:tgtEl>
                                          <p:spTgt spid="4"/>
                                        </p:tgtEl>
                                        <p:attrNameLst>
                                          <p:attrName>ppt_x</p:attrName>
                                          <p:attrName>ppt_y</p:attrName>
                                        </p:attrNameLst>
                                      </p:cBhvr>
                                      <p:rCtr x="4740"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9479 1.11022E-16 L 0.18998 1.11022E-16 " pathEditMode="relative" rAng="0" ptsTypes="AA">
                                      <p:cBhvr>
                                        <p:cTn id="10" dur="2000" fill="hold"/>
                                        <p:tgtEl>
                                          <p:spTgt spid="4"/>
                                        </p:tgtEl>
                                        <p:attrNameLst>
                                          <p:attrName>ppt_x</p:attrName>
                                          <p:attrName>ppt_y</p:attrName>
                                        </p:attrNameLst>
                                      </p:cBhvr>
                                      <p:rCtr x="4766" y="0"/>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18998 1.11022E-16 L 0.28529 1.11022E-16 " pathEditMode="relative" rAng="0" ptsTypes="AA">
                                      <p:cBhvr>
                                        <p:cTn id="14" dur="2000" fill="hold"/>
                                        <p:tgtEl>
                                          <p:spTgt spid="4"/>
                                        </p:tgtEl>
                                        <p:attrNameLst>
                                          <p:attrName>ppt_x</p:attrName>
                                          <p:attrName>ppt_y</p:attrName>
                                        </p:attrNameLst>
                                      </p:cBhvr>
                                      <p:rCtr x="4766" y="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28529 1.11022E-16 L 0.38047 1.11022E-16 " pathEditMode="relative" rAng="0" ptsTypes="AA">
                                      <p:cBhvr>
                                        <p:cTn id="18" dur="2000" fill="hold"/>
                                        <p:tgtEl>
                                          <p:spTgt spid="4"/>
                                        </p:tgtEl>
                                        <p:attrNameLst>
                                          <p:attrName>ppt_x</p:attrName>
                                          <p:attrName>ppt_y</p:attrName>
                                        </p:attrNameLst>
                                      </p:cBhvr>
                                      <p:rCtr x="4753" y="0"/>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38047 1.11022E-16 L 0.47604 1.11022E-16 " pathEditMode="relative" rAng="0" ptsTypes="AA">
                                      <p:cBhvr>
                                        <p:cTn id="22" dur="2000" fill="hold"/>
                                        <p:tgtEl>
                                          <p:spTgt spid="4"/>
                                        </p:tgtEl>
                                        <p:attrNameLst>
                                          <p:attrName>ppt_x</p:attrName>
                                          <p:attrName>ppt_y</p:attrName>
                                        </p:attrNameLst>
                                      </p:cBhvr>
                                      <p:rCtr x="4779" y="0"/>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47604 1.11022E-16 L 0.5711 1.11022E-16 " pathEditMode="relative" rAng="0" ptsTypes="AA">
                                      <p:cBhvr>
                                        <p:cTn id="26" dur="2000" fill="hold"/>
                                        <p:tgtEl>
                                          <p:spTgt spid="4"/>
                                        </p:tgtEl>
                                        <p:attrNameLst>
                                          <p:attrName>ppt_x</p:attrName>
                                          <p:attrName>ppt_y</p:attrName>
                                        </p:attrNameLst>
                                      </p:cBhvr>
                                      <p:rCtr x="4753" y="0"/>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5711 1.11022E-16 L 0.66615 1.11022E-16 " pathEditMode="relative" rAng="0" ptsTypes="AA">
                                      <p:cBhvr>
                                        <p:cTn id="30" dur="2000" fill="hold"/>
                                        <p:tgtEl>
                                          <p:spTgt spid="4"/>
                                        </p:tgtEl>
                                        <p:attrNameLst>
                                          <p:attrName>ppt_x</p:attrName>
                                          <p:attrName>ppt_y</p:attrName>
                                        </p:attrNameLst>
                                      </p:cBhvr>
                                      <p:rCtr x="4753" y="0"/>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66615 1.11022E-16 L 0.7612 1.11022E-16 " pathEditMode="relative" rAng="0" ptsTypes="AA">
                                      <p:cBhvr>
                                        <p:cTn id="34" dur="2000" fill="hold"/>
                                        <p:tgtEl>
                                          <p:spTgt spid="4"/>
                                        </p:tgtEl>
                                        <p:attrNameLst>
                                          <p:attrName>ppt_x</p:attrName>
                                          <p:attrName>ppt_y</p:attrName>
                                        </p:attrNameLst>
                                      </p:cBhvr>
                                      <p:rCtr x="47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dirty="0">
                <a:latin typeface="Arial Black" panose="020B0A04020102020204" pitchFamily="34" charset="0"/>
              </a:rPr>
              <a:t>指令流水线时空图</a:t>
            </a:r>
            <a:endParaRPr lang="zh-CN" altLang="en-US" dirty="0">
              <a:latin typeface="Arial Black" panose="020B0A04020102020204" pitchFamily="34" charset="0"/>
            </a:endParaRPr>
          </a:p>
        </p:txBody>
      </p:sp>
      <p:sp>
        <p:nvSpPr>
          <p:cNvPr id="42" name="矩形 41"/>
          <p:cNvSpPr/>
          <p:nvPr/>
        </p:nvSpPr>
        <p:spPr>
          <a:xfrm flipH="1">
            <a:off x="2781432" y="4704681"/>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3" name="矩形 42"/>
          <p:cNvSpPr/>
          <p:nvPr/>
        </p:nvSpPr>
        <p:spPr>
          <a:xfrm flipH="1">
            <a:off x="3464404"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6" name="矩形 45"/>
          <p:cNvSpPr/>
          <p:nvPr/>
        </p:nvSpPr>
        <p:spPr>
          <a:xfrm flipH="1">
            <a:off x="4147376" y="4704681"/>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 name="矩形 46"/>
          <p:cNvSpPr/>
          <p:nvPr/>
        </p:nvSpPr>
        <p:spPr>
          <a:xfrm flipH="1">
            <a:off x="4830348" y="4704681"/>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6" name="矩形 55"/>
          <p:cNvSpPr/>
          <p:nvPr/>
        </p:nvSpPr>
        <p:spPr>
          <a:xfrm flipH="1">
            <a:off x="5513320" y="4704681"/>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7" name="矩形 56"/>
          <p:cNvSpPr/>
          <p:nvPr/>
        </p:nvSpPr>
        <p:spPr>
          <a:xfrm flipH="1">
            <a:off x="6196292" y="4704681"/>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6</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8" name="矩形 57"/>
          <p:cNvSpPr/>
          <p:nvPr/>
        </p:nvSpPr>
        <p:spPr>
          <a:xfrm flipH="1">
            <a:off x="6879264"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9" name="矩形 58"/>
          <p:cNvSpPr/>
          <p:nvPr/>
        </p:nvSpPr>
        <p:spPr>
          <a:xfrm flipH="1">
            <a:off x="7562236" y="4704681"/>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0" name="矩形 59"/>
          <p:cNvSpPr/>
          <p:nvPr/>
        </p:nvSpPr>
        <p:spPr>
          <a:xfrm flipH="1">
            <a:off x="8245208" y="4704681"/>
            <a:ext cx="682972" cy="682972"/>
          </a:xfrm>
          <a:prstGeom prst="rect">
            <a:avLst/>
          </a:prstGeom>
          <a:solidFill>
            <a:srgbClr val="F8CBAD"/>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9</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4" name="矩形 73"/>
          <p:cNvSpPr/>
          <p:nvPr/>
        </p:nvSpPr>
        <p:spPr>
          <a:xfrm flipH="1">
            <a:off x="3464404" y="4021709"/>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5" name="矩形 74"/>
          <p:cNvSpPr/>
          <p:nvPr/>
        </p:nvSpPr>
        <p:spPr>
          <a:xfrm flipH="1">
            <a:off x="4147376" y="4021709"/>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6" name="矩形 75"/>
          <p:cNvSpPr/>
          <p:nvPr/>
        </p:nvSpPr>
        <p:spPr>
          <a:xfrm flipH="1">
            <a:off x="4830348" y="4021709"/>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7" name="矩形 76"/>
          <p:cNvSpPr/>
          <p:nvPr/>
        </p:nvSpPr>
        <p:spPr>
          <a:xfrm flipH="1">
            <a:off x="5513320" y="4021709"/>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8" name="矩形 77"/>
          <p:cNvSpPr/>
          <p:nvPr/>
        </p:nvSpPr>
        <p:spPr>
          <a:xfrm flipH="1">
            <a:off x="6196292" y="4021709"/>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9" name="矩形 78"/>
          <p:cNvSpPr/>
          <p:nvPr/>
        </p:nvSpPr>
        <p:spPr>
          <a:xfrm flipH="1">
            <a:off x="6879264" y="4021709"/>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6</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0" name="矩形 79"/>
          <p:cNvSpPr/>
          <p:nvPr/>
        </p:nvSpPr>
        <p:spPr>
          <a:xfrm flipH="1">
            <a:off x="7562236" y="4021709"/>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1" name="矩形 80"/>
          <p:cNvSpPr/>
          <p:nvPr/>
        </p:nvSpPr>
        <p:spPr>
          <a:xfrm flipH="1">
            <a:off x="8245208" y="4021709"/>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5" name="矩形 84"/>
          <p:cNvSpPr/>
          <p:nvPr/>
        </p:nvSpPr>
        <p:spPr>
          <a:xfrm flipH="1">
            <a:off x="4147376" y="3338737"/>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6" name="矩形 85"/>
          <p:cNvSpPr/>
          <p:nvPr/>
        </p:nvSpPr>
        <p:spPr>
          <a:xfrm flipH="1">
            <a:off x="4830348" y="3338737"/>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7" name="矩形 86"/>
          <p:cNvSpPr/>
          <p:nvPr/>
        </p:nvSpPr>
        <p:spPr>
          <a:xfrm flipH="1">
            <a:off x="5513320" y="3338737"/>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8" name="矩形 87"/>
          <p:cNvSpPr/>
          <p:nvPr/>
        </p:nvSpPr>
        <p:spPr>
          <a:xfrm flipH="1">
            <a:off x="6196292" y="3338737"/>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9" name="矩形 88"/>
          <p:cNvSpPr/>
          <p:nvPr/>
        </p:nvSpPr>
        <p:spPr>
          <a:xfrm flipH="1">
            <a:off x="6879264" y="3338737"/>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0" name="矩形 89"/>
          <p:cNvSpPr/>
          <p:nvPr/>
        </p:nvSpPr>
        <p:spPr>
          <a:xfrm flipH="1">
            <a:off x="7562236" y="3338737"/>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1" name="矩形 90"/>
          <p:cNvSpPr/>
          <p:nvPr/>
        </p:nvSpPr>
        <p:spPr>
          <a:xfrm flipH="1">
            <a:off x="8245208" y="3338737"/>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6" name="矩形 95"/>
          <p:cNvSpPr/>
          <p:nvPr/>
        </p:nvSpPr>
        <p:spPr>
          <a:xfrm flipH="1">
            <a:off x="4830348" y="2655765"/>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7" name="矩形 96"/>
          <p:cNvSpPr/>
          <p:nvPr/>
        </p:nvSpPr>
        <p:spPr>
          <a:xfrm flipH="1">
            <a:off x="5513320" y="2655765"/>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8" name="矩形 97"/>
          <p:cNvSpPr/>
          <p:nvPr/>
        </p:nvSpPr>
        <p:spPr>
          <a:xfrm flipH="1">
            <a:off x="6196292" y="2655765"/>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9" name="矩形 98"/>
          <p:cNvSpPr/>
          <p:nvPr/>
        </p:nvSpPr>
        <p:spPr>
          <a:xfrm flipH="1">
            <a:off x="6879264" y="2655765"/>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0" name="矩形 99"/>
          <p:cNvSpPr/>
          <p:nvPr/>
        </p:nvSpPr>
        <p:spPr>
          <a:xfrm flipH="1">
            <a:off x="7562236" y="2655765"/>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1" name="矩形 100"/>
          <p:cNvSpPr/>
          <p:nvPr/>
        </p:nvSpPr>
        <p:spPr>
          <a:xfrm flipH="1">
            <a:off x="8245208" y="2655765"/>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7" name="矩形 106"/>
          <p:cNvSpPr/>
          <p:nvPr/>
        </p:nvSpPr>
        <p:spPr>
          <a:xfrm flipH="1">
            <a:off x="5513320" y="1972793"/>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8" name="矩形 107"/>
          <p:cNvSpPr/>
          <p:nvPr/>
        </p:nvSpPr>
        <p:spPr>
          <a:xfrm flipH="1">
            <a:off x="6196292" y="1972793"/>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9" name="矩形 108"/>
          <p:cNvSpPr/>
          <p:nvPr/>
        </p:nvSpPr>
        <p:spPr>
          <a:xfrm flipH="1">
            <a:off x="6879264" y="1972793"/>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0" name="矩形 109"/>
          <p:cNvSpPr/>
          <p:nvPr/>
        </p:nvSpPr>
        <p:spPr>
          <a:xfrm flipH="1">
            <a:off x="7562236" y="1972793"/>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1" name="矩形 110"/>
          <p:cNvSpPr/>
          <p:nvPr/>
        </p:nvSpPr>
        <p:spPr>
          <a:xfrm flipH="1">
            <a:off x="8245208" y="1972793"/>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2" name="Line 5"/>
          <p:cNvSpPr>
            <a:spLocks noChangeShapeType="1"/>
          </p:cNvSpPr>
          <p:nvPr/>
        </p:nvSpPr>
        <p:spPr bwMode="auto">
          <a:xfrm>
            <a:off x="2782908" y="5388094"/>
            <a:ext cx="688155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3" name="Line 6"/>
          <p:cNvSpPr>
            <a:spLocks noChangeShapeType="1"/>
          </p:cNvSpPr>
          <p:nvPr/>
        </p:nvSpPr>
        <p:spPr bwMode="auto">
          <a:xfrm flipH="1" flipV="1">
            <a:off x="2782907" y="1546030"/>
            <a:ext cx="0" cy="3842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4" name="Text Box 7"/>
          <p:cNvSpPr txBox="1">
            <a:spLocks noChangeArrowheads="1"/>
          </p:cNvSpPr>
          <p:nvPr/>
        </p:nvSpPr>
        <p:spPr bwMode="auto">
          <a:xfrm>
            <a:off x="9382500" y="5392252"/>
            <a:ext cx="1066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defPPr>
              <a:defRPr lang="zh-CN"/>
            </a:defPPr>
            <a:lvl1pPr algn="r" fontAlgn="base">
              <a:spcBef>
                <a:spcPct val="50000"/>
              </a:spcBef>
              <a:spcAft>
                <a:spcPct val="0"/>
              </a:spcAft>
              <a:buFont typeface="Arial" panose="020B0604020202020204" pitchFamily="34" charset="0"/>
              <a:buNone/>
              <a:defRPr b="1">
                <a:latin typeface="微软雅黑" panose="020B0503020204020204" pitchFamily="34" charset="-122"/>
                <a:ea typeface="微软雅黑" panose="020B0503020204020204" pitchFamily="34" charset="-122"/>
                <a:cs typeface="Segoe UI Black" panose="020B0A02040204020203" pitchFamily="34" charset="0"/>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时间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15" name="Text Box 23"/>
          <p:cNvSpPr txBox="1">
            <a:spLocks noChangeArrowheads="1"/>
          </p:cNvSpPr>
          <p:nvPr/>
        </p:nvSpPr>
        <p:spPr bwMode="auto">
          <a:xfrm>
            <a:off x="1966464" y="4847753"/>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6" name="Text Box 24"/>
          <p:cNvSpPr txBox="1">
            <a:spLocks noChangeArrowheads="1"/>
          </p:cNvSpPr>
          <p:nvPr/>
        </p:nvSpPr>
        <p:spPr bwMode="auto">
          <a:xfrm>
            <a:off x="1971744" y="4144311"/>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7" name="Text Box 25"/>
          <p:cNvSpPr txBox="1">
            <a:spLocks noChangeArrowheads="1"/>
          </p:cNvSpPr>
          <p:nvPr/>
        </p:nvSpPr>
        <p:spPr bwMode="auto">
          <a:xfrm>
            <a:off x="1994434" y="3429626"/>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8" name="Text Box 26"/>
          <p:cNvSpPr txBox="1">
            <a:spLocks noChangeArrowheads="1"/>
          </p:cNvSpPr>
          <p:nvPr/>
        </p:nvSpPr>
        <p:spPr bwMode="auto">
          <a:xfrm>
            <a:off x="1844167" y="2796588"/>
            <a:ext cx="10053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9" name="Text Box 27"/>
          <p:cNvSpPr txBox="1">
            <a:spLocks noChangeArrowheads="1"/>
          </p:cNvSpPr>
          <p:nvPr/>
        </p:nvSpPr>
        <p:spPr bwMode="auto">
          <a:xfrm>
            <a:off x="1759238" y="1355509"/>
            <a:ext cx="989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空间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s</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20" name="Line 19"/>
          <p:cNvSpPr>
            <a:spLocks noChangeShapeType="1"/>
          </p:cNvSpPr>
          <p:nvPr/>
        </p:nvSpPr>
        <p:spPr bwMode="auto">
          <a:xfrm flipV="1">
            <a:off x="2772005" y="1972793"/>
            <a:ext cx="615063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1" name="Text Box 26"/>
          <p:cNvSpPr txBox="1">
            <a:spLocks noChangeArrowheads="1"/>
          </p:cNvSpPr>
          <p:nvPr/>
        </p:nvSpPr>
        <p:spPr bwMode="auto">
          <a:xfrm>
            <a:off x="2123400" y="2139707"/>
            <a:ext cx="717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22" name="Line 19"/>
          <p:cNvSpPr>
            <a:spLocks noChangeShapeType="1"/>
          </p:cNvSpPr>
          <p:nvPr/>
        </p:nvSpPr>
        <p:spPr bwMode="auto">
          <a:xfrm flipV="1">
            <a:off x="2772005" y="2655765"/>
            <a:ext cx="615063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3" name="Line 19"/>
          <p:cNvSpPr>
            <a:spLocks noChangeShapeType="1"/>
          </p:cNvSpPr>
          <p:nvPr/>
        </p:nvSpPr>
        <p:spPr bwMode="auto">
          <a:xfrm flipV="1">
            <a:off x="2777231" y="3338737"/>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4" name="Line 19"/>
          <p:cNvSpPr>
            <a:spLocks noChangeShapeType="1"/>
          </p:cNvSpPr>
          <p:nvPr/>
        </p:nvSpPr>
        <p:spPr bwMode="auto">
          <a:xfrm flipV="1">
            <a:off x="2777231" y="4021709"/>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5" name="Line 19"/>
          <p:cNvSpPr>
            <a:spLocks noChangeShapeType="1"/>
          </p:cNvSpPr>
          <p:nvPr/>
        </p:nvSpPr>
        <p:spPr bwMode="auto">
          <a:xfrm flipV="1">
            <a:off x="2777231" y="4704681"/>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6" name="Line 9"/>
          <p:cNvSpPr>
            <a:spLocks noChangeShapeType="1"/>
          </p:cNvSpPr>
          <p:nvPr/>
        </p:nvSpPr>
        <p:spPr bwMode="auto">
          <a:xfrm flipV="1">
            <a:off x="346440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7" name="Line 9"/>
          <p:cNvSpPr>
            <a:spLocks noChangeShapeType="1"/>
          </p:cNvSpPr>
          <p:nvPr/>
        </p:nvSpPr>
        <p:spPr bwMode="auto">
          <a:xfrm flipV="1">
            <a:off x="414737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8" name="Line 9"/>
          <p:cNvSpPr>
            <a:spLocks noChangeShapeType="1"/>
          </p:cNvSpPr>
          <p:nvPr/>
        </p:nvSpPr>
        <p:spPr bwMode="auto">
          <a:xfrm flipV="1">
            <a:off x="483034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9" name="Line 9"/>
          <p:cNvSpPr>
            <a:spLocks noChangeShapeType="1"/>
          </p:cNvSpPr>
          <p:nvPr/>
        </p:nvSpPr>
        <p:spPr bwMode="auto">
          <a:xfrm flipV="1">
            <a:off x="5513320"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0" name="Line 9"/>
          <p:cNvSpPr>
            <a:spLocks noChangeShapeType="1"/>
          </p:cNvSpPr>
          <p:nvPr/>
        </p:nvSpPr>
        <p:spPr bwMode="auto">
          <a:xfrm flipV="1">
            <a:off x="6196292"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1" name="Line 9"/>
          <p:cNvSpPr>
            <a:spLocks noChangeShapeType="1"/>
          </p:cNvSpPr>
          <p:nvPr/>
        </p:nvSpPr>
        <p:spPr bwMode="auto">
          <a:xfrm flipV="1">
            <a:off x="687926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2" name="Line 9"/>
          <p:cNvSpPr>
            <a:spLocks noChangeShapeType="1"/>
          </p:cNvSpPr>
          <p:nvPr/>
        </p:nvSpPr>
        <p:spPr bwMode="auto">
          <a:xfrm flipV="1">
            <a:off x="756223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3" name="Line 9"/>
          <p:cNvSpPr>
            <a:spLocks noChangeShapeType="1"/>
          </p:cNvSpPr>
          <p:nvPr/>
        </p:nvSpPr>
        <p:spPr bwMode="auto">
          <a:xfrm flipV="1">
            <a:off x="824520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4" name="Line 9"/>
          <p:cNvSpPr>
            <a:spLocks noChangeShapeType="1"/>
          </p:cNvSpPr>
          <p:nvPr/>
        </p:nvSpPr>
        <p:spPr bwMode="auto">
          <a:xfrm flipV="1">
            <a:off x="8928180"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7" name="组合 6"/>
          <p:cNvGrpSpPr/>
          <p:nvPr/>
        </p:nvGrpSpPr>
        <p:grpSpPr>
          <a:xfrm>
            <a:off x="8687667" y="1537708"/>
            <a:ext cx="838083" cy="3850740"/>
            <a:chOff x="8687667" y="1537708"/>
            <a:chExt cx="838083" cy="3850740"/>
          </a:xfrm>
        </p:grpSpPr>
        <p:sp>
          <p:nvSpPr>
            <p:cNvPr id="138" name="Text Box 34"/>
            <p:cNvSpPr txBox="1">
              <a:spLocks noChangeArrowheads="1"/>
            </p:cNvSpPr>
            <p:nvPr/>
          </p:nvSpPr>
          <p:spPr bwMode="auto">
            <a:xfrm>
              <a:off x="8687667" y="153770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0" name="Line 35"/>
            <p:cNvSpPr>
              <a:spLocks noChangeShapeType="1"/>
            </p:cNvSpPr>
            <p:nvPr/>
          </p:nvSpPr>
          <p:spPr bwMode="auto">
            <a:xfrm flipH="1" flipV="1">
              <a:off x="8922642" y="1546385"/>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 name="组合 1"/>
          <p:cNvGrpSpPr/>
          <p:nvPr/>
        </p:nvGrpSpPr>
        <p:grpSpPr>
          <a:xfrm>
            <a:off x="6038552" y="1526638"/>
            <a:ext cx="838083" cy="3861456"/>
            <a:chOff x="6038552" y="1526638"/>
            <a:chExt cx="838083" cy="3861456"/>
          </a:xfrm>
        </p:grpSpPr>
        <p:sp>
          <p:nvSpPr>
            <p:cNvPr id="135" name="Text Box 33"/>
            <p:cNvSpPr txBox="1">
              <a:spLocks noChangeArrowheads="1"/>
            </p:cNvSpPr>
            <p:nvPr/>
          </p:nvSpPr>
          <p:spPr bwMode="auto">
            <a:xfrm>
              <a:off x="6038552"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1" name="Line 32"/>
            <p:cNvSpPr>
              <a:spLocks noChangeShapeType="1"/>
            </p:cNvSpPr>
            <p:nvPr/>
          </p:nvSpPr>
          <p:spPr bwMode="auto">
            <a:xfrm flipV="1">
              <a:off x="6196292" y="1546030"/>
              <a:ext cx="0" cy="3842064"/>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3" name="组合 2"/>
          <p:cNvGrpSpPr/>
          <p:nvPr/>
        </p:nvGrpSpPr>
        <p:grpSpPr>
          <a:xfrm>
            <a:off x="6655500" y="1515641"/>
            <a:ext cx="838083" cy="3876611"/>
            <a:chOff x="6655500" y="1515641"/>
            <a:chExt cx="838083" cy="3876611"/>
          </a:xfrm>
        </p:grpSpPr>
        <p:sp>
          <p:nvSpPr>
            <p:cNvPr id="136" name="Text Box 34"/>
            <p:cNvSpPr txBox="1">
              <a:spLocks noChangeArrowheads="1"/>
            </p:cNvSpPr>
            <p:nvPr/>
          </p:nvSpPr>
          <p:spPr bwMode="auto">
            <a:xfrm>
              <a:off x="6655500" y="1515641"/>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2" name="Line 35"/>
            <p:cNvSpPr>
              <a:spLocks noChangeShapeType="1"/>
            </p:cNvSpPr>
            <p:nvPr/>
          </p:nvSpPr>
          <p:spPr bwMode="auto">
            <a:xfrm flipH="1" flipV="1">
              <a:off x="6879607" y="1550189"/>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4" name="组合 3"/>
          <p:cNvGrpSpPr/>
          <p:nvPr/>
        </p:nvGrpSpPr>
        <p:grpSpPr>
          <a:xfrm>
            <a:off x="7311154" y="1526638"/>
            <a:ext cx="838083" cy="3865614"/>
            <a:chOff x="7311154" y="1526638"/>
            <a:chExt cx="838083" cy="3865614"/>
          </a:xfrm>
        </p:grpSpPr>
        <p:sp>
          <p:nvSpPr>
            <p:cNvPr id="137" name="Text Box 34"/>
            <p:cNvSpPr txBox="1">
              <a:spLocks noChangeArrowheads="1"/>
            </p:cNvSpPr>
            <p:nvPr/>
          </p:nvSpPr>
          <p:spPr bwMode="auto">
            <a:xfrm>
              <a:off x="7311154"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3" name="Line 35"/>
            <p:cNvSpPr>
              <a:spLocks noChangeShapeType="1"/>
            </p:cNvSpPr>
            <p:nvPr/>
          </p:nvSpPr>
          <p:spPr bwMode="auto">
            <a:xfrm flipH="1" flipV="1">
              <a:off x="7562438" y="1550189"/>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5" name="组合 4"/>
          <p:cNvGrpSpPr/>
          <p:nvPr/>
        </p:nvGrpSpPr>
        <p:grpSpPr>
          <a:xfrm>
            <a:off x="7999411" y="1532174"/>
            <a:ext cx="838083" cy="3851465"/>
            <a:chOff x="7999411" y="1532174"/>
            <a:chExt cx="838083" cy="3851465"/>
          </a:xfrm>
        </p:grpSpPr>
        <p:sp>
          <p:nvSpPr>
            <p:cNvPr id="139" name="Text Box 34"/>
            <p:cNvSpPr txBox="1">
              <a:spLocks noChangeArrowheads="1"/>
            </p:cNvSpPr>
            <p:nvPr/>
          </p:nvSpPr>
          <p:spPr bwMode="auto">
            <a:xfrm>
              <a:off x="7999411" y="1532174"/>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4" name="Line 35"/>
            <p:cNvSpPr>
              <a:spLocks noChangeShapeType="1"/>
            </p:cNvSpPr>
            <p:nvPr/>
          </p:nvSpPr>
          <p:spPr bwMode="auto">
            <a:xfrm flipH="1" flipV="1">
              <a:off x="8237995" y="1541576"/>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145" name="Rectangle 3"/>
          <p:cNvSpPr txBox="1">
            <a:spLocks noChangeArrowheads="1"/>
          </p:cNvSpPr>
          <p:nvPr/>
        </p:nvSpPr>
        <p:spPr bwMode="auto">
          <a:xfrm>
            <a:off x="1759238" y="5978026"/>
            <a:ext cx="10344684" cy="51930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C000"/>
              </a:buClr>
              <a:buFont typeface="Wingdings" panose="05000000000000000000" pitchFamily="2" charset="2"/>
              <a:buChar char="n"/>
              <a:defRPr lang="zh-CN" altLang="en-US" sz="2400">
                <a:solidFill>
                  <a:schemeClr val="tx1"/>
                </a:solidFill>
                <a:latin typeface="+mn-ea"/>
                <a:ea typeface="+mn-ea"/>
                <a:cs typeface="+mn-cs"/>
              </a:defRPr>
            </a:lvl1pPr>
            <a:lvl2pPr marL="812800" indent="-355600" algn="l" rtl="0" eaLnBrk="0" fontAlgn="base" hangingPunct="0">
              <a:lnSpc>
                <a:spcPct val="120000"/>
              </a:lnSpc>
              <a:spcBef>
                <a:spcPct val="20000"/>
              </a:spcBef>
              <a:spcAft>
                <a:spcPct val="0"/>
              </a:spcAft>
              <a:buClr>
                <a:srgbClr val="FFC000"/>
              </a:buClr>
              <a:buFont typeface="Wingdings" panose="05000000000000000000" pitchFamily="2" charset="2"/>
              <a:buChar char="p"/>
              <a:defRPr lang="zh-CN" altLang="en-US" sz="2000">
                <a:solidFill>
                  <a:srgbClr val="C00000"/>
                </a:solidFill>
                <a:latin typeface="+mn-ea"/>
                <a:ea typeface="+mn-ea"/>
              </a:defRPr>
            </a:lvl2pPr>
            <a:lvl3pPr marL="1143000" indent="-228600" algn="l" rtl="0" eaLnBrk="0" fontAlgn="base" hangingPunct="0">
              <a:lnSpc>
                <a:spcPct val="120000"/>
              </a:lnSpc>
              <a:spcBef>
                <a:spcPct val="20000"/>
              </a:spcBef>
              <a:spcAft>
                <a:spcPct val="0"/>
              </a:spcAft>
              <a:buClr>
                <a:srgbClr val="FFC000"/>
              </a:buClr>
              <a:buFont typeface="Wingdings" panose="05000000000000000000" pitchFamily="2" charset="2"/>
              <a:buChar char="u"/>
              <a:defRPr lang="zh-CN" altLang="en-US" sz="2000">
                <a:solidFill>
                  <a:schemeClr val="tx1"/>
                </a:solidFill>
                <a:latin typeface="+mn-ea"/>
                <a:ea typeface="+mn-ea"/>
              </a:defRPr>
            </a:lvl3pPr>
            <a:lvl4pPr marL="16002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4pPr>
            <a:lvl5pPr marL="20574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n</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条指令的时间</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完成第一条指令时间</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r>
              <a:rPr lang="en-US" altLang="zh-CN" b="1" kern="0" dirty="0">
                <a:solidFill>
                  <a:srgbClr val="000000"/>
                </a:solidFill>
                <a:latin typeface="微软雅黑" panose="020B0503020204020204" pitchFamily="34" charset="-122"/>
                <a:ea typeface="微软雅黑" panose="020B0503020204020204" pitchFamily="34" charset="-122"/>
              </a:rPr>
              <a:t>(n-1)</a:t>
            </a:r>
            <a:r>
              <a:rPr lang="zh-CN" altLang="en-US" b="1" kern="0" dirty="0">
                <a:solidFill>
                  <a:srgbClr val="000000"/>
                </a:solidFill>
                <a:latin typeface="微软雅黑" panose="020B0503020204020204" pitchFamily="34" charset="-122"/>
                <a:ea typeface="微软雅黑" panose="020B0503020204020204" pitchFamily="34" charset="-122"/>
              </a:rPr>
              <a:t>*</a:t>
            </a:r>
            <a:r>
              <a:rPr lang="en-US" altLang="zh-CN" b="1" kern="0" dirty="0">
                <a:solidFill>
                  <a:srgbClr val="000000"/>
                </a:solidFill>
                <a:latin typeface="微软雅黑" panose="020B0503020204020204" pitchFamily="34" charset="-122"/>
                <a:ea typeface="微软雅黑" panose="020B0503020204020204" pitchFamily="34" charset="-122"/>
              </a:rPr>
              <a:t>T=(n+4)T</a:t>
            </a:r>
            <a:endParaRPr lang="zh-CN" altLang="en-US" b="1" kern="0" dirty="0">
              <a:solidFill>
                <a:srgbClr val="000000"/>
              </a:solidFill>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Char char="n"/>
              <a:defRPr/>
            </a:pP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3305546" y="5392252"/>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6" name="矩形 145"/>
          <p:cNvSpPr/>
          <p:nvPr/>
        </p:nvSpPr>
        <p:spPr>
          <a:xfrm>
            <a:off x="396222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7" name="矩形 146"/>
          <p:cNvSpPr/>
          <p:nvPr/>
        </p:nvSpPr>
        <p:spPr>
          <a:xfrm>
            <a:off x="462334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8" name="矩形 147"/>
          <p:cNvSpPr/>
          <p:nvPr/>
        </p:nvSpPr>
        <p:spPr>
          <a:xfrm>
            <a:off x="5269314"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9" name="矩形 148"/>
          <p:cNvSpPr/>
          <p:nvPr/>
        </p:nvSpPr>
        <p:spPr>
          <a:xfrm>
            <a:off x="5992958"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0" name="矩形 149"/>
          <p:cNvSpPr/>
          <p:nvPr/>
        </p:nvSpPr>
        <p:spPr>
          <a:xfrm>
            <a:off x="66989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1" name="矩形 150"/>
          <p:cNvSpPr/>
          <p:nvPr/>
        </p:nvSpPr>
        <p:spPr>
          <a:xfrm>
            <a:off x="7309011"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2" name="矩形 151"/>
          <p:cNvSpPr/>
          <p:nvPr/>
        </p:nvSpPr>
        <p:spPr>
          <a:xfrm>
            <a:off x="79858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3" name="矩形 152"/>
          <p:cNvSpPr/>
          <p:nvPr/>
        </p:nvSpPr>
        <p:spPr>
          <a:xfrm>
            <a:off x="864692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2" name="矩形 81"/>
          <p:cNvSpPr/>
          <p:nvPr/>
        </p:nvSpPr>
        <p:spPr>
          <a:xfrm>
            <a:off x="2628585" y="536068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96510"/>
    </mc:Choice>
    <mc:Fallback>
      <p:transition spd="slow" advTm="965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down)">
                                      <p:cBhvr>
                                        <p:cTn id="12" dur="500"/>
                                        <p:tgtEl>
                                          <p:spTgt spid="7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down)">
                                      <p:cBhvr>
                                        <p:cTn id="15" dur="500"/>
                                        <p:tgtEl>
                                          <p:spTgt spid="4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wipe(down)">
                                      <p:cBhvr>
                                        <p:cTn id="20" dur="500"/>
                                        <p:tgtEl>
                                          <p:spTgt spid="8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down)">
                                      <p:cBhvr>
                                        <p:cTn id="23" dur="500"/>
                                        <p:tgtEl>
                                          <p:spTgt spid="7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down)">
                                      <p:cBhvr>
                                        <p:cTn id="26" dur="5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6"/>
                                        </p:tgtEl>
                                        <p:attrNameLst>
                                          <p:attrName>style.visibility</p:attrName>
                                        </p:attrNameLst>
                                      </p:cBhvr>
                                      <p:to>
                                        <p:strVal val="visible"/>
                                      </p:to>
                                    </p:set>
                                    <p:animEffect transition="in" filter="wipe(down)">
                                      <p:cBhvr>
                                        <p:cTn id="31" dur="500"/>
                                        <p:tgtEl>
                                          <p:spTgt spid="96"/>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wipe(down)">
                                      <p:cBhvr>
                                        <p:cTn id="34" dur="500"/>
                                        <p:tgtEl>
                                          <p:spTgt spid="8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wipe(down)">
                                      <p:cBhvr>
                                        <p:cTn id="37" dur="500"/>
                                        <p:tgtEl>
                                          <p:spTgt spid="7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wipe(down)">
                                      <p:cBhvr>
                                        <p:cTn id="40" dur="500"/>
                                        <p:tgtEl>
                                          <p:spTgt spid="4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7"/>
                                        </p:tgtEl>
                                        <p:attrNameLst>
                                          <p:attrName>style.visibility</p:attrName>
                                        </p:attrNameLst>
                                      </p:cBhvr>
                                      <p:to>
                                        <p:strVal val="visible"/>
                                      </p:to>
                                    </p:set>
                                    <p:animEffect transition="in" filter="wipe(down)">
                                      <p:cBhvr>
                                        <p:cTn id="45" dur="500"/>
                                        <p:tgtEl>
                                          <p:spTgt spid="107"/>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97"/>
                                        </p:tgtEl>
                                        <p:attrNameLst>
                                          <p:attrName>style.visibility</p:attrName>
                                        </p:attrNameLst>
                                      </p:cBhvr>
                                      <p:to>
                                        <p:strVal val="visible"/>
                                      </p:to>
                                    </p:set>
                                    <p:animEffect transition="in" filter="wipe(down)">
                                      <p:cBhvr>
                                        <p:cTn id="48" dur="500"/>
                                        <p:tgtEl>
                                          <p:spTgt spid="97"/>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87"/>
                                        </p:tgtEl>
                                        <p:attrNameLst>
                                          <p:attrName>style.visibility</p:attrName>
                                        </p:attrNameLst>
                                      </p:cBhvr>
                                      <p:to>
                                        <p:strVal val="visible"/>
                                      </p:to>
                                    </p:set>
                                    <p:animEffect transition="in" filter="wipe(down)">
                                      <p:cBhvr>
                                        <p:cTn id="51" dur="500"/>
                                        <p:tgtEl>
                                          <p:spTgt spid="87"/>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77"/>
                                        </p:tgtEl>
                                        <p:attrNameLst>
                                          <p:attrName>style.visibility</p:attrName>
                                        </p:attrNameLst>
                                      </p:cBhvr>
                                      <p:to>
                                        <p:strVal val="visible"/>
                                      </p:to>
                                    </p:set>
                                    <p:animEffect transition="in" filter="wipe(down)">
                                      <p:cBhvr>
                                        <p:cTn id="54" dur="500"/>
                                        <p:tgtEl>
                                          <p:spTgt spid="77"/>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wipe(down)">
                                      <p:cBhvr>
                                        <p:cTn id="57" dur="500"/>
                                        <p:tgtEl>
                                          <p:spTgt spid="56"/>
                                        </p:tgtEl>
                                      </p:cBhvr>
                                    </p:animEffect>
                                  </p:childTnLst>
                                </p:cTn>
                              </p:par>
                            </p:childTnLst>
                          </p:cTn>
                        </p:par>
                        <p:par>
                          <p:cTn id="58" fill="hold">
                            <p:stCondLst>
                              <p:cond delay="500"/>
                            </p:stCondLst>
                            <p:childTnLst>
                              <p:par>
                                <p:cTn id="59" presetID="22" presetClass="entr" presetSubtype="4" fill="hold" nodeType="after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down)">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08"/>
                                        </p:tgtEl>
                                        <p:attrNameLst>
                                          <p:attrName>style.visibility</p:attrName>
                                        </p:attrNameLst>
                                      </p:cBhvr>
                                      <p:to>
                                        <p:strVal val="visible"/>
                                      </p:to>
                                    </p:set>
                                    <p:animEffect transition="in" filter="wipe(down)">
                                      <p:cBhvr>
                                        <p:cTn id="66" dur="500"/>
                                        <p:tgtEl>
                                          <p:spTgt spid="10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98"/>
                                        </p:tgtEl>
                                        <p:attrNameLst>
                                          <p:attrName>style.visibility</p:attrName>
                                        </p:attrNameLst>
                                      </p:cBhvr>
                                      <p:to>
                                        <p:strVal val="visible"/>
                                      </p:to>
                                    </p:set>
                                    <p:animEffect transition="in" filter="wipe(down)">
                                      <p:cBhvr>
                                        <p:cTn id="69" dur="500"/>
                                        <p:tgtEl>
                                          <p:spTgt spid="98"/>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88"/>
                                        </p:tgtEl>
                                        <p:attrNameLst>
                                          <p:attrName>style.visibility</p:attrName>
                                        </p:attrNameLst>
                                      </p:cBhvr>
                                      <p:to>
                                        <p:strVal val="visible"/>
                                      </p:to>
                                    </p:set>
                                    <p:animEffect transition="in" filter="wipe(down)">
                                      <p:cBhvr>
                                        <p:cTn id="72" dur="500"/>
                                        <p:tgtEl>
                                          <p:spTgt spid="88"/>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animEffect transition="in" filter="wipe(down)">
                                      <p:cBhvr>
                                        <p:cTn id="75" dur="500"/>
                                        <p:tgtEl>
                                          <p:spTgt spid="78"/>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wipe(down)">
                                      <p:cBhvr>
                                        <p:cTn id="78" dur="500"/>
                                        <p:tgtEl>
                                          <p:spTgt spid="57"/>
                                        </p:tgtEl>
                                      </p:cBhvr>
                                    </p:animEffect>
                                  </p:childTnLst>
                                </p:cTn>
                              </p:par>
                            </p:childTnLst>
                          </p:cTn>
                        </p:par>
                        <p:par>
                          <p:cTn id="79" fill="hold">
                            <p:stCondLst>
                              <p:cond delay="500"/>
                            </p:stCondLst>
                            <p:childTnLst>
                              <p:par>
                                <p:cTn id="80" presetID="22" presetClass="entr" presetSubtype="4" fill="hold" nodeType="after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wipe(down)">
                                      <p:cBhvr>
                                        <p:cTn id="82" dur="500"/>
                                        <p:tgtEl>
                                          <p:spTgt spid="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109"/>
                                        </p:tgtEl>
                                        <p:attrNameLst>
                                          <p:attrName>style.visibility</p:attrName>
                                        </p:attrNameLst>
                                      </p:cBhvr>
                                      <p:to>
                                        <p:strVal val="visible"/>
                                      </p:to>
                                    </p:set>
                                    <p:animEffect transition="in" filter="wipe(down)">
                                      <p:cBhvr>
                                        <p:cTn id="87" dur="500"/>
                                        <p:tgtEl>
                                          <p:spTgt spid="109"/>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99"/>
                                        </p:tgtEl>
                                        <p:attrNameLst>
                                          <p:attrName>style.visibility</p:attrName>
                                        </p:attrNameLst>
                                      </p:cBhvr>
                                      <p:to>
                                        <p:strVal val="visible"/>
                                      </p:to>
                                    </p:set>
                                    <p:animEffect transition="in" filter="wipe(down)">
                                      <p:cBhvr>
                                        <p:cTn id="90" dur="500"/>
                                        <p:tgtEl>
                                          <p:spTgt spid="99"/>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89"/>
                                        </p:tgtEl>
                                        <p:attrNameLst>
                                          <p:attrName>style.visibility</p:attrName>
                                        </p:attrNameLst>
                                      </p:cBhvr>
                                      <p:to>
                                        <p:strVal val="visible"/>
                                      </p:to>
                                    </p:set>
                                    <p:animEffect transition="in" filter="wipe(down)">
                                      <p:cBhvr>
                                        <p:cTn id="93" dur="500"/>
                                        <p:tgtEl>
                                          <p:spTgt spid="8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79"/>
                                        </p:tgtEl>
                                        <p:attrNameLst>
                                          <p:attrName>style.visibility</p:attrName>
                                        </p:attrNameLst>
                                      </p:cBhvr>
                                      <p:to>
                                        <p:strVal val="visible"/>
                                      </p:to>
                                    </p:set>
                                    <p:animEffect transition="in" filter="wipe(down)">
                                      <p:cBhvr>
                                        <p:cTn id="96" dur="500"/>
                                        <p:tgtEl>
                                          <p:spTgt spid="79"/>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58"/>
                                        </p:tgtEl>
                                        <p:attrNameLst>
                                          <p:attrName>style.visibility</p:attrName>
                                        </p:attrNameLst>
                                      </p:cBhvr>
                                      <p:to>
                                        <p:strVal val="visible"/>
                                      </p:to>
                                    </p:set>
                                    <p:animEffect transition="in" filter="wipe(down)">
                                      <p:cBhvr>
                                        <p:cTn id="99" dur="500"/>
                                        <p:tgtEl>
                                          <p:spTgt spid="58"/>
                                        </p:tgtEl>
                                      </p:cBhvr>
                                    </p:animEffect>
                                  </p:childTnLst>
                                </p:cTn>
                              </p:par>
                            </p:childTnLst>
                          </p:cTn>
                        </p:par>
                        <p:par>
                          <p:cTn id="100" fill="hold">
                            <p:stCondLst>
                              <p:cond delay="500"/>
                            </p:stCondLst>
                            <p:childTnLst>
                              <p:par>
                                <p:cTn id="101" presetID="22" presetClass="entr" presetSubtype="4" fill="hold"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wipe(down)">
                                      <p:cBhvr>
                                        <p:cTn id="103" dur="500"/>
                                        <p:tgtEl>
                                          <p:spTgt spid="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110"/>
                                        </p:tgtEl>
                                        <p:attrNameLst>
                                          <p:attrName>style.visibility</p:attrName>
                                        </p:attrNameLst>
                                      </p:cBhvr>
                                      <p:to>
                                        <p:strVal val="visible"/>
                                      </p:to>
                                    </p:set>
                                    <p:animEffect transition="in" filter="wipe(down)">
                                      <p:cBhvr>
                                        <p:cTn id="108" dur="500"/>
                                        <p:tgtEl>
                                          <p:spTgt spid="110"/>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100"/>
                                        </p:tgtEl>
                                        <p:attrNameLst>
                                          <p:attrName>style.visibility</p:attrName>
                                        </p:attrNameLst>
                                      </p:cBhvr>
                                      <p:to>
                                        <p:strVal val="visible"/>
                                      </p:to>
                                    </p:set>
                                    <p:animEffect transition="in" filter="wipe(down)">
                                      <p:cBhvr>
                                        <p:cTn id="111" dur="500"/>
                                        <p:tgtEl>
                                          <p:spTgt spid="10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90"/>
                                        </p:tgtEl>
                                        <p:attrNameLst>
                                          <p:attrName>style.visibility</p:attrName>
                                        </p:attrNameLst>
                                      </p:cBhvr>
                                      <p:to>
                                        <p:strVal val="visible"/>
                                      </p:to>
                                    </p:set>
                                    <p:animEffect transition="in" filter="wipe(down)">
                                      <p:cBhvr>
                                        <p:cTn id="114" dur="500"/>
                                        <p:tgtEl>
                                          <p:spTgt spid="90"/>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80"/>
                                        </p:tgtEl>
                                        <p:attrNameLst>
                                          <p:attrName>style.visibility</p:attrName>
                                        </p:attrNameLst>
                                      </p:cBhvr>
                                      <p:to>
                                        <p:strVal val="visible"/>
                                      </p:to>
                                    </p:set>
                                    <p:animEffect transition="in" filter="wipe(down)">
                                      <p:cBhvr>
                                        <p:cTn id="117" dur="500"/>
                                        <p:tgtEl>
                                          <p:spTgt spid="8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9"/>
                                        </p:tgtEl>
                                        <p:attrNameLst>
                                          <p:attrName>style.visibility</p:attrName>
                                        </p:attrNameLst>
                                      </p:cBhvr>
                                      <p:to>
                                        <p:strVal val="visible"/>
                                      </p:to>
                                    </p:set>
                                    <p:animEffect transition="in" filter="wipe(down)">
                                      <p:cBhvr>
                                        <p:cTn id="120" dur="500"/>
                                        <p:tgtEl>
                                          <p:spTgt spid="59"/>
                                        </p:tgtEl>
                                      </p:cBhvr>
                                    </p:animEffect>
                                  </p:childTnLst>
                                </p:cTn>
                              </p:par>
                            </p:childTnLst>
                          </p:cTn>
                        </p:par>
                        <p:par>
                          <p:cTn id="121" fill="hold">
                            <p:stCondLst>
                              <p:cond delay="500"/>
                            </p:stCondLst>
                            <p:childTnLst>
                              <p:par>
                                <p:cTn id="122" presetID="22" presetClass="entr" presetSubtype="4" fill="hold" nodeType="afterEffect">
                                  <p:stCondLst>
                                    <p:cond delay="0"/>
                                  </p:stCondLst>
                                  <p:childTnLst>
                                    <p:set>
                                      <p:cBhvr>
                                        <p:cTn id="123" dur="1" fill="hold">
                                          <p:stCondLst>
                                            <p:cond delay="0"/>
                                          </p:stCondLst>
                                        </p:cTn>
                                        <p:tgtEl>
                                          <p:spTgt spid="5"/>
                                        </p:tgtEl>
                                        <p:attrNameLst>
                                          <p:attrName>style.visibility</p:attrName>
                                        </p:attrNameLst>
                                      </p:cBhvr>
                                      <p:to>
                                        <p:strVal val="visible"/>
                                      </p:to>
                                    </p:set>
                                    <p:animEffect transition="in" filter="wipe(down)">
                                      <p:cBhvr>
                                        <p:cTn id="124" dur="500"/>
                                        <p:tgtEl>
                                          <p:spTgt spid="5"/>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111"/>
                                        </p:tgtEl>
                                        <p:attrNameLst>
                                          <p:attrName>style.visibility</p:attrName>
                                        </p:attrNameLst>
                                      </p:cBhvr>
                                      <p:to>
                                        <p:strVal val="visible"/>
                                      </p:to>
                                    </p:set>
                                    <p:animEffect transition="in" filter="wipe(down)">
                                      <p:cBhvr>
                                        <p:cTn id="129" dur="500"/>
                                        <p:tgtEl>
                                          <p:spTgt spid="111"/>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101"/>
                                        </p:tgtEl>
                                        <p:attrNameLst>
                                          <p:attrName>style.visibility</p:attrName>
                                        </p:attrNameLst>
                                      </p:cBhvr>
                                      <p:to>
                                        <p:strVal val="visible"/>
                                      </p:to>
                                    </p:set>
                                    <p:animEffect transition="in" filter="wipe(down)">
                                      <p:cBhvr>
                                        <p:cTn id="132" dur="500"/>
                                        <p:tgtEl>
                                          <p:spTgt spid="101"/>
                                        </p:tgtEl>
                                      </p:cBhvr>
                                    </p:animEffect>
                                  </p:childTnLst>
                                </p:cTn>
                              </p:par>
                              <p:par>
                                <p:cTn id="133" presetID="22" presetClass="entr" presetSubtype="4" fill="hold" grpId="0" nodeType="withEffect">
                                  <p:stCondLst>
                                    <p:cond delay="0"/>
                                  </p:stCondLst>
                                  <p:childTnLst>
                                    <p:set>
                                      <p:cBhvr>
                                        <p:cTn id="134" dur="1" fill="hold">
                                          <p:stCondLst>
                                            <p:cond delay="0"/>
                                          </p:stCondLst>
                                        </p:cTn>
                                        <p:tgtEl>
                                          <p:spTgt spid="91"/>
                                        </p:tgtEl>
                                        <p:attrNameLst>
                                          <p:attrName>style.visibility</p:attrName>
                                        </p:attrNameLst>
                                      </p:cBhvr>
                                      <p:to>
                                        <p:strVal val="visible"/>
                                      </p:to>
                                    </p:set>
                                    <p:animEffect transition="in" filter="wipe(down)">
                                      <p:cBhvr>
                                        <p:cTn id="135" dur="500"/>
                                        <p:tgtEl>
                                          <p:spTgt spid="91"/>
                                        </p:tgtEl>
                                      </p:cBhvr>
                                    </p:animEffect>
                                  </p:childTnLst>
                                </p:cTn>
                              </p:par>
                              <p:par>
                                <p:cTn id="136" presetID="22" presetClass="entr" presetSubtype="4" fill="hold" grpId="0" nodeType="withEffect">
                                  <p:stCondLst>
                                    <p:cond delay="0"/>
                                  </p:stCondLst>
                                  <p:childTnLst>
                                    <p:set>
                                      <p:cBhvr>
                                        <p:cTn id="137" dur="1" fill="hold">
                                          <p:stCondLst>
                                            <p:cond delay="0"/>
                                          </p:stCondLst>
                                        </p:cTn>
                                        <p:tgtEl>
                                          <p:spTgt spid="81"/>
                                        </p:tgtEl>
                                        <p:attrNameLst>
                                          <p:attrName>style.visibility</p:attrName>
                                        </p:attrNameLst>
                                      </p:cBhvr>
                                      <p:to>
                                        <p:strVal val="visible"/>
                                      </p:to>
                                    </p:set>
                                    <p:animEffect transition="in" filter="wipe(down)">
                                      <p:cBhvr>
                                        <p:cTn id="138" dur="500"/>
                                        <p:tgtEl>
                                          <p:spTgt spid="81"/>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60"/>
                                        </p:tgtEl>
                                        <p:attrNameLst>
                                          <p:attrName>style.visibility</p:attrName>
                                        </p:attrNameLst>
                                      </p:cBhvr>
                                      <p:to>
                                        <p:strVal val="visible"/>
                                      </p:to>
                                    </p:set>
                                    <p:animEffect transition="in" filter="wipe(down)">
                                      <p:cBhvr>
                                        <p:cTn id="141" dur="500"/>
                                        <p:tgtEl>
                                          <p:spTgt spid="60"/>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nodeType="clickEffect">
                                  <p:stCondLst>
                                    <p:cond delay="0"/>
                                  </p:stCondLst>
                                  <p:childTnLst>
                                    <p:set>
                                      <p:cBhvr>
                                        <p:cTn id="145" dur="1" fill="hold">
                                          <p:stCondLst>
                                            <p:cond delay="0"/>
                                          </p:stCondLst>
                                        </p:cTn>
                                        <p:tgtEl>
                                          <p:spTgt spid="7"/>
                                        </p:tgtEl>
                                        <p:attrNameLst>
                                          <p:attrName>style.visibility</p:attrName>
                                        </p:attrNameLst>
                                      </p:cBhvr>
                                      <p:to>
                                        <p:strVal val="visible"/>
                                      </p:to>
                                    </p:set>
                                    <p:animEffect transition="in" filter="wipe(down)">
                                      <p:cBhvr>
                                        <p:cTn id="146" dur="500"/>
                                        <p:tgtEl>
                                          <p:spTgt spid="7"/>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145"/>
                                        </p:tgtEl>
                                        <p:attrNameLst>
                                          <p:attrName>style.visibility</p:attrName>
                                        </p:attrNameLst>
                                      </p:cBhvr>
                                      <p:to>
                                        <p:strVal val="visible"/>
                                      </p:to>
                                    </p:set>
                                    <p:animEffect transition="in" filter="wipe(left)">
                                      <p:cBhvr>
                                        <p:cTn id="151"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6" grpId="0" animBg="1"/>
      <p:bldP spid="47" grpId="0" animBg="1"/>
      <p:bldP spid="56" grpId="0" animBg="1"/>
      <p:bldP spid="57" grpId="0" animBg="1"/>
      <p:bldP spid="58" grpId="0" animBg="1"/>
      <p:bldP spid="59" grpId="0" animBg="1"/>
      <p:bldP spid="60" grpId="0" animBg="1"/>
      <p:bldP spid="74" grpId="0" animBg="1"/>
      <p:bldP spid="75" grpId="0" animBg="1"/>
      <p:bldP spid="76" grpId="0" animBg="1"/>
      <p:bldP spid="77" grpId="0" animBg="1"/>
      <p:bldP spid="78" grpId="0" animBg="1"/>
      <p:bldP spid="79" grpId="0" animBg="1"/>
      <p:bldP spid="80" grpId="0" animBg="1"/>
      <p:bldP spid="81" grpId="0" animBg="1"/>
      <p:bldP spid="85" grpId="0" animBg="1"/>
      <p:bldP spid="86" grpId="0" animBg="1"/>
      <p:bldP spid="87" grpId="0" animBg="1"/>
      <p:bldP spid="88" grpId="0" animBg="1"/>
      <p:bldP spid="89" grpId="0" animBg="1"/>
      <p:bldP spid="90" grpId="0" animBg="1"/>
      <p:bldP spid="91" grpId="0" animBg="1"/>
      <p:bldP spid="96" grpId="0" animBg="1"/>
      <p:bldP spid="97" grpId="0" animBg="1"/>
      <p:bldP spid="98" grpId="0" animBg="1"/>
      <p:bldP spid="99" grpId="0" animBg="1"/>
      <p:bldP spid="100" grpId="0" animBg="1"/>
      <p:bldP spid="101" grpId="0" animBg="1"/>
      <p:bldP spid="107" grpId="0" animBg="1"/>
      <p:bldP spid="108" grpId="0" animBg="1"/>
      <p:bldP spid="109" grpId="0" animBg="1"/>
      <p:bldP spid="110" grpId="0" animBg="1"/>
      <p:bldP spid="111" grpId="0" animBg="1"/>
      <p:bldP spid="1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p:txBody>
          <a:bodyPr/>
          <a:lstStyle/>
          <a:p>
            <a:r>
              <a:rPr lang="zh-CN" altLang="en-US" dirty="0"/>
              <a:t>理想流水线</a:t>
            </a:r>
            <a:endParaRPr lang="zh-CN" altLang="en-US" dirty="0"/>
          </a:p>
        </p:txBody>
      </p:sp>
      <p:sp>
        <p:nvSpPr>
          <p:cNvPr id="124932" name="Rectangle 3"/>
          <p:cNvSpPr>
            <a:spLocks noGrp="1" noChangeArrowheads="1"/>
          </p:cNvSpPr>
          <p:nvPr>
            <p:ph type="body" idx="1"/>
          </p:nvPr>
        </p:nvSpPr>
        <p:spPr>
          <a:xfrm>
            <a:off x="487680" y="942975"/>
            <a:ext cx="11544935" cy="5636895"/>
          </a:xfrm>
        </p:spPr>
        <p:txBody>
          <a:bodyPr/>
          <a:lstStyle/>
          <a:p>
            <a:pPr>
              <a:lnSpc>
                <a:spcPct val="150000"/>
              </a:lnSpc>
            </a:pPr>
            <a:r>
              <a:rPr lang="zh-CN" altLang="en-US" dirty="0"/>
              <a:t>适用范围</a:t>
            </a:r>
            <a:endParaRPr lang="en-US" altLang="zh-CN" dirty="0"/>
          </a:p>
          <a:p>
            <a:pPr lvl="1">
              <a:lnSpc>
                <a:spcPct val="150000"/>
              </a:lnSpc>
            </a:pPr>
            <a:r>
              <a:rPr lang="zh-CN" altLang="en-US" b="1" dirty="0">
                <a:solidFill>
                  <a:srgbClr val="C00000"/>
                </a:solidFill>
              </a:rPr>
              <a:t>工业自动化流水线</a:t>
            </a:r>
            <a:endParaRPr lang="en-US" altLang="zh-CN" b="1" dirty="0">
              <a:solidFill>
                <a:srgbClr val="C00000"/>
              </a:solidFill>
            </a:endParaRPr>
          </a:p>
          <a:p>
            <a:pPr lvl="1">
              <a:lnSpc>
                <a:spcPct val="150000"/>
              </a:lnSpc>
            </a:pPr>
            <a:r>
              <a:rPr lang="zh-CN" altLang="en-US" b="1" dirty="0">
                <a:solidFill>
                  <a:srgbClr val="C00000"/>
                </a:solidFill>
              </a:rPr>
              <a:t>指令流水线？</a:t>
            </a:r>
            <a:endParaRPr lang="en-US" altLang="zh-CN" b="1" dirty="0">
              <a:solidFill>
                <a:srgbClr val="C00000"/>
              </a:solidFill>
            </a:endParaRPr>
          </a:p>
          <a:p>
            <a:pPr>
              <a:lnSpc>
                <a:spcPct val="150000"/>
              </a:lnSpc>
            </a:pPr>
            <a:r>
              <a:rPr lang="zh-CN" altLang="en-US" dirty="0"/>
              <a:t>理想流水线特征</a:t>
            </a:r>
            <a:endParaRPr lang="en-US" altLang="zh-CN" dirty="0"/>
          </a:p>
          <a:p>
            <a:pPr lvl="1">
              <a:lnSpc>
                <a:spcPct val="150000"/>
              </a:lnSpc>
            </a:pPr>
            <a:r>
              <a:rPr lang="zh-CN" altLang="en-US" b="1" dirty="0">
                <a:solidFill>
                  <a:srgbClr val="C00000"/>
                </a:solidFill>
              </a:rPr>
              <a:t>阶段数相同：</a:t>
            </a:r>
            <a:r>
              <a:rPr lang="zh-CN" altLang="en-US" dirty="0"/>
              <a:t>所有加工对象均通过同样的工序（阶段）</a:t>
            </a:r>
            <a:r>
              <a:rPr lang="en-US" altLang="zh-CN" dirty="0"/>
              <a:t>                        </a:t>
            </a:r>
            <a:r>
              <a:rPr lang="zh-CN" altLang="en-US" b="1" u="sng" dirty="0">
                <a:solidFill>
                  <a:srgbClr val="005D9A"/>
                </a:solidFill>
              </a:rPr>
              <a:t>不同指令</a:t>
            </a:r>
            <a:r>
              <a:rPr lang="zh-CN" altLang="en-US" b="1" u="sng" dirty="0">
                <a:solidFill>
                  <a:srgbClr val="2975A9"/>
                </a:solidFill>
              </a:rPr>
              <a:t>阶段数不同</a:t>
            </a:r>
            <a:endParaRPr lang="zh-CN" altLang="en-US" b="1" u="sng" dirty="0">
              <a:solidFill>
                <a:srgbClr val="2975A9"/>
              </a:solidFill>
            </a:endParaRPr>
          </a:p>
          <a:p>
            <a:pPr lvl="1">
              <a:lnSpc>
                <a:spcPct val="150000"/>
              </a:lnSpc>
            </a:pPr>
            <a:r>
              <a:rPr lang="zh-CN" altLang="en-US" b="1" dirty="0">
                <a:solidFill>
                  <a:srgbClr val="C00000"/>
                </a:solidFill>
              </a:rPr>
              <a:t>段时延相同：</a:t>
            </a:r>
            <a:r>
              <a:rPr lang="zh-CN" altLang="en-US" dirty="0"/>
              <a:t>各段传输延迟一致，不能有等待现象，取最慢的同步       </a:t>
            </a:r>
            <a:r>
              <a:rPr lang="zh-CN" altLang="en-US" b="1" u="sng" dirty="0">
                <a:solidFill>
                  <a:srgbClr val="2975A9"/>
                </a:solidFill>
              </a:rPr>
              <a:t>一般取指，访存段最慢</a:t>
            </a:r>
            <a:endParaRPr lang="en-US" altLang="zh-CN" b="1" u="sng" dirty="0">
              <a:solidFill>
                <a:srgbClr val="2975A9"/>
              </a:solidFill>
            </a:endParaRPr>
          </a:p>
          <a:p>
            <a:pPr lvl="1">
              <a:lnSpc>
                <a:spcPct val="150000"/>
              </a:lnSpc>
            </a:pPr>
            <a:r>
              <a:rPr lang="zh-CN" altLang="en-US" b="1" dirty="0">
                <a:solidFill>
                  <a:srgbClr val="C00000"/>
                </a:solidFill>
              </a:rPr>
              <a:t>无资源冲突：</a:t>
            </a:r>
            <a:r>
              <a:rPr lang="zh-CN" altLang="en-US" dirty="0"/>
              <a:t>不同阶段之间无共享资源，各段完全并发           </a:t>
            </a:r>
            <a:r>
              <a:rPr lang="zh-CN" altLang="en-US" b="1" u="sng" dirty="0">
                <a:solidFill>
                  <a:srgbClr val="2975A9"/>
                </a:solidFill>
              </a:rPr>
              <a:t>取指令、取数存在内存争用</a:t>
            </a:r>
            <a:endParaRPr lang="en-US" altLang="zh-CN" b="1" u="sng" dirty="0">
              <a:solidFill>
                <a:srgbClr val="2975A9"/>
              </a:solidFill>
            </a:endParaRPr>
          </a:p>
          <a:p>
            <a:pPr lvl="1">
              <a:lnSpc>
                <a:spcPct val="150000"/>
              </a:lnSpc>
            </a:pPr>
            <a:r>
              <a:rPr lang="zh-CN" altLang="en-US" b="1" dirty="0">
                <a:solidFill>
                  <a:srgbClr val="C00000"/>
                </a:solidFill>
              </a:rPr>
              <a:t>无段间互锁：</a:t>
            </a:r>
            <a:r>
              <a:rPr lang="zh-CN" altLang="en-US" dirty="0"/>
              <a:t>进入流水线的对象不受其他阶段的影响              </a:t>
            </a:r>
            <a:r>
              <a:rPr lang="zh-CN" altLang="en-US" b="1" u="sng" dirty="0">
                <a:solidFill>
                  <a:srgbClr val="C00000"/>
                </a:solidFill>
              </a:rPr>
              <a:t>多条指令间存在相关和依赖</a:t>
            </a:r>
            <a:endParaRPr lang="zh-CN" altLang="en-US" u="sng" dirty="0">
              <a:solidFill>
                <a:srgbClr val="2975A9"/>
              </a:solidFill>
            </a:endParaRPr>
          </a:p>
          <a:p>
            <a:pPr lvl="1">
              <a:lnSpc>
                <a:spcPct val="150000"/>
              </a:lnSpc>
            </a:pPr>
            <a:endParaRPr lang="en-US" altLang="zh-CN" b="1" dirty="0">
              <a:solidFill>
                <a:srgbClr val="C00000"/>
              </a:solidFill>
            </a:endParaRPr>
          </a:p>
          <a:p>
            <a:pPr marL="457200" lvl="1" indent="0">
              <a:lnSpc>
                <a:spcPct val="150000"/>
              </a:lnSpc>
              <a:buNone/>
            </a:pPr>
            <a:endParaRPr lang="zh-CN" altLang="en-US" dirty="0"/>
          </a:p>
          <a:p>
            <a:pPr marL="457200" lvl="1" indent="0">
              <a:buNone/>
            </a:pPr>
            <a:endParaRPr lang="zh-CN" altLang="en-US" dirty="0"/>
          </a:p>
          <a:p>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39739"/>
    </mc:Choice>
    <mc:Fallback>
      <p:transition spd="slow" advTm="13973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4932">
                                            <p:txEl>
                                              <p:pRg st="3" end="3"/>
                                            </p:txEl>
                                          </p:spTgt>
                                        </p:tgtEl>
                                        <p:attrNameLst>
                                          <p:attrName>style.visibility</p:attrName>
                                        </p:attrNameLst>
                                      </p:cBhvr>
                                      <p:to>
                                        <p:strVal val="visible"/>
                                      </p:to>
                                    </p:set>
                                    <p:animEffect transition="in" filter="wipe(down)">
                                      <p:cBhvr>
                                        <p:cTn id="7" dur="500"/>
                                        <p:tgtEl>
                                          <p:spTgt spid="12493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4932">
                                            <p:txEl>
                                              <p:pRg st="4" end="4"/>
                                            </p:txEl>
                                          </p:spTgt>
                                        </p:tgtEl>
                                        <p:attrNameLst>
                                          <p:attrName>style.visibility</p:attrName>
                                        </p:attrNameLst>
                                      </p:cBhvr>
                                      <p:to>
                                        <p:strVal val="visible"/>
                                      </p:to>
                                    </p:set>
                                    <p:animEffect transition="in" filter="wipe(down)">
                                      <p:cBhvr>
                                        <p:cTn id="10" dur="500"/>
                                        <p:tgtEl>
                                          <p:spTgt spid="12493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24932">
                                            <p:txEl>
                                              <p:pRg st="5" end="5"/>
                                            </p:txEl>
                                          </p:spTgt>
                                        </p:tgtEl>
                                        <p:attrNameLst>
                                          <p:attrName>style.visibility</p:attrName>
                                        </p:attrNameLst>
                                      </p:cBhvr>
                                      <p:to>
                                        <p:strVal val="visible"/>
                                      </p:to>
                                    </p:set>
                                    <p:animEffect transition="in" filter="wipe(down)">
                                      <p:cBhvr>
                                        <p:cTn id="15" dur="500"/>
                                        <p:tgtEl>
                                          <p:spTgt spid="124932">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24932">
                                            <p:txEl>
                                              <p:pRg st="6" end="6"/>
                                            </p:txEl>
                                          </p:spTgt>
                                        </p:tgtEl>
                                        <p:attrNameLst>
                                          <p:attrName>style.visibility</p:attrName>
                                        </p:attrNameLst>
                                      </p:cBhvr>
                                      <p:to>
                                        <p:strVal val="visible"/>
                                      </p:to>
                                    </p:set>
                                    <p:animEffect transition="in" filter="wipe(down)">
                                      <p:cBhvr>
                                        <p:cTn id="20" dur="500"/>
                                        <p:tgtEl>
                                          <p:spTgt spid="124932">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24932">
                                            <p:txEl>
                                              <p:pRg st="7" end="7"/>
                                            </p:txEl>
                                          </p:spTgt>
                                        </p:tgtEl>
                                        <p:attrNameLst>
                                          <p:attrName>style.visibility</p:attrName>
                                        </p:attrNameLst>
                                      </p:cBhvr>
                                      <p:to>
                                        <p:strVal val="visible"/>
                                      </p:to>
                                    </p:set>
                                    <p:animEffect transition="in" filter="wipe(down)">
                                      <p:cBhvr>
                                        <p:cTn id="25" dur="500"/>
                                        <p:tgtEl>
                                          <p:spTgt spid="1249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p:txBody>
          <a:bodyPr/>
          <a:lstStyle/>
          <a:p>
            <a:r>
              <a:rPr lang="zh-CN" altLang="en-US" dirty="0"/>
              <a:t>指令流水线的相关、冲突、冒险（</a:t>
            </a:r>
            <a:r>
              <a:rPr lang="en-US" altLang="zh-CN" dirty="0"/>
              <a:t>hazard</a:t>
            </a:r>
            <a:r>
              <a:rPr lang="zh-CN" altLang="en-US" dirty="0"/>
              <a:t>）</a:t>
            </a:r>
            <a:endParaRPr lang="zh-CN" altLang="en-US" dirty="0"/>
          </a:p>
        </p:txBody>
      </p:sp>
      <p:sp>
        <p:nvSpPr>
          <p:cNvPr id="124932" name="Rectangle 3"/>
          <p:cNvSpPr>
            <a:spLocks noGrp="1" noChangeArrowheads="1"/>
          </p:cNvSpPr>
          <p:nvPr>
            <p:ph type="body" idx="1"/>
          </p:nvPr>
        </p:nvSpPr>
        <p:spPr>
          <a:xfrm>
            <a:off x="487822" y="942764"/>
            <a:ext cx="10275427" cy="5637024"/>
          </a:xfrm>
        </p:spPr>
        <p:txBody>
          <a:bodyPr/>
          <a:lstStyle/>
          <a:p>
            <a:pPr>
              <a:lnSpc>
                <a:spcPct val="130000"/>
              </a:lnSpc>
            </a:pPr>
            <a:r>
              <a:rPr lang="zh-CN" altLang="en-US" dirty="0"/>
              <a:t>资源相关</a:t>
            </a:r>
            <a:endParaRPr lang="zh-CN" altLang="en-US" dirty="0"/>
          </a:p>
          <a:p>
            <a:pPr lvl="1">
              <a:lnSpc>
                <a:spcPct val="130000"/>
              </a:lnSpc>
            </a:pPr>
            <a:r>
              <a:rPr lang="zh-CN" altLang="en-US" b="1" dirty="0">
                <a:solidFill>
                  <a:srgbClr val="C00000"/>
                </a:solidFill>
              </a:rPr>
              <a:t>争用主存：</a:t>
            </a:r>
            <a:r>
              <a:rPr lang="en-US" altLang="zh-CN" dirty="0"/>
              <a:t>IF</a:t>
            </a:r>
            <a:r>
              <a:rPr lang="zh-CN" altLang="en-US" dirty="0"/>
              <a:t>段取指令、</a:t>
            </a:r>
            <a:r>
              <a:rPr lang="en-US" altLang="zh-CN" dirty="0"/>
              <a:t>MEM</a:t>
            </a:r>
            <a:r>
              <a:rPr lang="zh-CN" altLang="en-US" dirty="0"/>
              <a:t>段取操作数</a:t>
            </a:r>
            <a:endParaRPr lang="en-US" altLang="zh-CN" dirty="0">
              <a:solidFill>
                <a:srgbClr val="C00000"/>
              </a:solidFill>
            </a:endParaRPr>
          </a:p>
          <a:p>
            <a:pPr lvl="1">
              <a:lnSpc>
                <a:spcPct val="130000"/>
              </a:lnSpc>
            </a:pPr>
            <a:r>
              <a:rPr lang="zh-CN" altLang="en-US" b="1" dirty="0">
                <a:solidFill>
                  <a:srgbClr val="C00000"/>
                </a:solidFill>
              </a:rPr>
              <a:t>争用</a:t>
            </a:r>
            <a:r>
              <a:rPr lang="en-US" altLang="zh-CN" b="1" dirty="0">
                <a:solidFill>
                  <a:srgbClr val="C00000"/>
                </a:solidFill>
              </a:rPr>
              <a:t>ALU</a:t>
            </a:r>
            <a:r>
              <a:rPr lang="zh-CN" altLang="en-US" b="1" dirty="0">
                <a:solidFill>
                  <a:srgbClr val="C00000"/>
                </a:solidFill>
              </a:rPr>
              <a:t>：</a:t>
            </a:r>
            <a:r>
              <a:rPr lang="zh-CN" altLang="en-US" dirty="0"/>
              <a:t>多周期方案中计算</a:t>
            </a:r>
            <a:r>
              <a:rPr lang="en-US" altLang="zh-CN" dirty="0"/>
              <a:t>PC+4</a:t>
            </a:r>
            <a:r>
              <a:rPr lang="zh-CN" altLang="en-US" dirty="0"/>
              <a:t>、分支地址，运算指令 </a:t>
            </a:r>
            <a:endParaRPr lang="en-US" altLang="zh-CN" dirty="0">
              <a:solidFill>
                <a:srgbClr val="C00000"/>
              </a:solidFill>
            </a:endParaRPr>
          </a:p>
          <a:p>
            <a:pPr lvl="1">
              <a:lnSpc>
                <a:spcPct val="130000"/>
              </a:lnSpc>
            </a:pPr>
            <a:r>
              <a:rPr lang="zh-CN" altLang="en-US" b="1" dirty="0">
                <a:solidFill>
                  <a:srgbClr val="C00000"/>
                </a:solidFill>
              </a:rPr>
              <a:t>解决方案：</a:t>
            </a:r>
            <a:r>
              <a:rPr lang="zh-CN" altLang="en-US" dirty="0"/>
              <a:t>增加部件消除</a:t>
            </a:r>
            <a:endParaRPr lang="zh-CN" altLang="en-US" dirty="0"/>
          </a:p>
          <a:p>
            <a:pPr>
              <a:lnSpc>
                <a:spcPct val="130000"/>
              </a:lnSpc>
            </a:pPr>
            <a:r>
              <a:rPr lang="zh-CN" altLang="en-US" dirty="0"/>
              <a:t>分支相关</a:t>
            </a:r>
            <a:endParaRPr lang="zh-CN" altLang="en-US" dirty="0"/>
          </a:p>
          <a:p>
            <a:pPr lvl="1">
              <a:lnSpc>
                <a:spcPct val="130000"/>
              </a:lnSpc>
            </a:pPr>
            <a:r>
              <a:rPr lang="zh-CN" altLang="en-US" dirty="0"/>
              <a:t>提前取出的指令作废，流水线清空</a:t>
            </a:r>
            <a:endParaRPr lang="en-US" altLang="zh-CN" dirty="0"/>
          </a:p>
          <a:p>
            <a:pPr lvl="1">
              <a:lnSpc>
                <a:spcPct val="130000"/>
              </a:lnSpc>
            </a:pPr>
            <a:r>
              <a:rPr lang="zh-CN" altLang="en-US" dirty="0"/>
              <a:t>流水线发生中断</a:t>
            </a:r>
            <a:endParaRPr lang="en-US" altLang="zh-CN" dirty="0"/>
          </a:p>
          <a:p>
            <a:pPr>
              <a:lnSpc>
                <a:spcPct val="130000"/>
              </a:lnSpc>
            </a:pPr>
            <a:r>
              <a:rPr lang="zh-CN" altLang="en-US" dirty="0"/>
              <a:t>数据相关</a:t>
            </a:r>
            <a:endParaRPr lang="zh-CN" altLang="en-US" dirty="0"/>
          </a:p>
          <a:p>
            <a:pPr lvl="1">
              <a:lnSpc>
                <a:spcPct val="130000"/>
              </a:lnSpc>
            </a:pPr>
            <a:r>
              <a:rPr lang="zh-CN" altLang="en-US" dirty="0"/>
              <a:t>指令操作数依赖于前一条指令的执行结果       </a:t>
            </a:r>
            <a:r>
              <a:rPr lang="en-US" altLang="zh-CN" b="1" dirty="0">
                <a:latin typeface="Courier New" panose="02070309020205020404" pitchFamily="49" charset="0"/>
                <a:cs typeface="Courier New" panose="02070309020205020404" pitchFamily="49" charset="0"/>
              </a:rPr>
              <a:t>ADD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$s2, $s3</a:t>
            </a:r>
            <a:endParaRPr lang="en-US" altLang="zh-CN" b="1" dirty="0">
              <a:latin typeface="Courier New" panose="02070309020205020404" pitchFamily="49" charset="0"/>
              <a:cs typeface="Courier New" panose="02070309020205020404" pitchFamily="49" charset="0"/>
            </a:endParaRPr>
          </a:p>
          <a:p>
            <a:pPr lvl="1">
              <a:lnSpc>
                <a:spcPct val="130000"/>
              </a:lnSpc>
            </a:pPr>
            <a:r>
              <a:rPr lang="zh-CN" altLang="en-US" dirty="0"/>
              <a:t>引起流水线停顿直到数据写回                        </a:t>
            </a:r>
            <a:r>
              <a:rPr lang="en-US" altLang="zh-CN" b="1" dirty="0">
                <a:latin typeface="Courier New" panose="02070309020205020404" pitchFamily="49" charset="0"/>
                <a:cs typeface="Courier New" panose="02070309020205020404" pitchFamily="49" charset="0"/>
              </a:rPr>
              <a:t>ADD $s4,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$s3</a:t>
            </a:r>
            <a:endParaRPr lang="en-US" altLang="zh-CN" b="1" dirty="0">
              <a:latin typeface="Courier New" panose="02070309020205020404" pitchFamily="49" charset="0"/>
              <a:cs typeface="Courier New" panose="02070309020205020404" pitchFamily="49" charset="0"/>
            </a:endParaRPr>
          </a:p>
          <a:p>
            <a:pPr marL="457200" lvl="1" indent="0">
              <a:buNone/>
            </a:pPr>
            <a:endParaRPr lang="zh-CN" altLang="en-US" dirty="0"/>
          </a:p>
          <a:p>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34096"/>
    </mc:Choice>
    <mc:Fallback>
      <p:transition spd="slow" advTm="1340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4932">
                                            <p:txEl>
                                              <p:pRg st="0" end="0"/>
                                            </p:txEl>
                                          </p:spTgt>
                                        </p:tgtEl>
                                        <p:attrNameLst>
                                          <p:attrName>style.visibility</p:attrName>
                                        </p:attrNameLst>
                                      </p:cBhvr>
                                      <p:to>
                                        <p:strVal val="visible"/>
                                      </p:to>
                                    </p:set>
                                    <p:animEffect transition="in" filter="wipe(down)">
                                      <p:cBhvr>
                                        <p:cTn id="7" dur="500"/>
                                        <p:tgtEl>
                                          <p:spTgt spid="12493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4932">
                                            <p:txEl>
                                              <p:pRg st="1" end="1"/>
                                            </p:txEl>
                                          </p:spTgt>
                                        </p:tgtEl>
                                        <p:attrNameLst>
                                          <p:attrName>style.visibility</p:attrName>
                                        </p:attrNameLst>
                                      </p:cBhvr>
                                      <p:to>
                                        <p:strVal val="visible"/>
                                      </p:to>
                                    </p:set>
                                    <p:animEffect transition="in" filter="wipe(down)">
                                      <p:cBhvr>
                                        <p:cTn id="10" dur="500"/>
                                        <p:tgtEl>
                                          <p:spTgt spid="12493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4932">
                                            <p:txEl>
                                              <p:pRg st="2" end="2"/>
                                            </p:txEl>
                                          </p:spTgt>
                                        </p:tgtEl>
                                        <p:attrNameLst>
                                          <p:attrName>style.visibility</p:attrName>
                                        </p:attrNameLst>
                                      </p:cBhvr>
                                      <p:to>
                                        <p:strVal val="visible"/>
                                      </p:to>
                                    </p:set>
                                    <p:animEffect transition="in" filter="wipe(down)">
                                      <p:cBhvr>
                                        <p:cTn id="13" dur="500"/>
                                        <p:tgtEl>
                                          <p:spTgt spid="12493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4932">
                                            <p:txEl>
                                              <p:pRg st="3" end="3"/>
                                            </p:txEl>
                                          </p:spTgt>
                                        </p:tgtEl>
                                        <p:attrNameLst>
                                          <p:attrName>style.visibility</p:attrName>
                                        </p:attrNameLst>
                                      </p:cBhvr>
                                      <p:to>
                                        <p:strVal val="visible"/>
                                      </p:to>
                                    </p:set>
                                    <p:animEffect transition="in" filter="wipe(down)">
                                      <p:cBhvr>
                                        <p:cTn id="16" dur="500"/>
                                        <p:tgtEl>
                                          <p:spTgt spid="12493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24932">
                                            <p:txEl>
                                              <p:pRg st="4" end="4"/>
                                            </p:txEl>
                                          </p:spTgt>
                                        </p:tgtEl>
                                        <p:attrNameLst>
                                          <p:attrName>style.visibility</p:attrName>
                                        </p:attrNameLst>
                                      </p:cBhvr>
                                      <p:to>
                                        <p:strVal val="visible"/>
                                      </p:to>
                                    </p:set>
                                    <p:animEffect transition="in" filter="wipe(down)">
                                      <p:cBhvr>
                                        <p:cTn id="21" dur="500"/>
                                        <p:tgtEl>
                                          <p:spTgt spid="124932">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24932">
                                            <p:txEl>
                                              <p:pRg st="5" end="5"/>
                                            </p:txEl>
                                          </p:spTgt>
                                        </p:tgtEl>
                                        <p:attrNameLst>
                                          <p:attrName>style.visibility</p:attrName>
                                        </p:attrNameLst>
                                      </p:cBhvr>
                                      <p:to>
                                        <p:strVal val="visible"/>
                                      </p:to>
                                    </p:set>
                                    <p:animEffect transition="in" filter="wipe(down)">
                                      <p:cBhvr>
                                        <p:cTn id="24" dur="500"/>
                                        <p:tgtEl>
                                          <p:spTgt spid="124932">
                                            <p:txEl>
                                              <p:pRg st="5" end="5"/>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24932">
                                            <p:txEl>
                                              <p:pRg st="6" end="6"/>
                                            </p:txEl>
                                          </p:spTgt>
                                        </p:tgtEl>
                                        <p:attrNameLst>
                                          <p:attrName>style.visibility</p:attrName>
                                        </p:attrNameLst>
                                      </p:cBhvr>
                                      <p:to>
                                        <p:strVal val="visible"/>
                                      </p:to>
                                    </p:set>
                                    <p:animEffect transition="in" filter="wipe(down)">
                                      <p:cBhvr>
                                        <p:cTn id="27" dur="500"/>
                                        <p:tgtEl>
                                          <p:spTgt spid="12493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4932">
                                            <p:txEl>
                                              <p:pRg st="7" end="7"/>
                                            </p:txEl>
                                          </p:spTgt>
                                        </p:tgtEl>
                                        <p:attrNameLst>
                                          <p:attrName>style.visibility</p:attrName>
                                        </p:attrNameLst>
                                      </p:cBhvr>
                                      <p:to>
                                        <p:strVal val="visible"/>
                                      </p:to>
                                    </p:set>
                                    <p:animEffect transition="in" filter="wipe(down)">
                                      <p:cBhvr>
                                        <p:cTn id="32" dur="500"/>
                                        <p:tgtEl>
                                          <p:spTgt spid="124932">
                                            <p:txEl>
                                              <p:pRg st="7" end="7"/>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24932">
                                            <p:txEl>
                                              <p:pRg st="8" end="8"/>
                                            </p:txEl>
                                          </p:spTgt>
                                        </p:tgtEl>
                                        <p:attrNameLst>
                                          <p:attrName>style.visibility</p:attrName>
                                        </p:attrNameLst>
                                      </p:cBhvr>
                                      <p:to>
                                        <p:strVal val="visible"/>
                                      </p:to>
                                    </p:set>
                                    <p:animEffect transition="in" filter="wipe(down)">
                                      <p:cBhvr>
                                        <p:cTn id="35" dur="500"/>
                                        <p:tgtEl>
                                          <p:spTgt spid="124932">
                                            <p:txEl>
                                              <p:pRg st="8" end="8"/>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24932">
                                            <p:txEl>
                                              <p:pRg st="9" end="9"/>
                                            </p:txEl>
                                          </p:spTgt>
                                        </p:tgtEl>
                                        <p:attrNameLst>
                                          <p:attrName>style.visibility</p:attrName>
                                        </p:attrNameLst>
                                      </p:cBhvr>
                                      <p:to>
                                        <p:strVal val="visible"/>
                                      </p:to>
                                    </p:set>
                                    <p:animEffect transition="in" filter="wipe(down)">
                                      <p:cBhvr>
                                        <p:cTn id="38" dur="500"/>
                                        <p:tgtEl>
                                          <p:spTgt spid="12493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saturation sat="400000"/>
                    </a14:imgEffect>
                  </a14:imgLayer>
                </a14:imgProps>
              </a:ext>
              <a:ext uri="{28A0092B-C50C-407E-A947-70E740481C1C}">
                <a14:useLocalDpi xmlns:a14="http://schemas.microsoft.com/office/drawing/2010/main" val="0"/>
              </a:ext>
            </a:extLst>
          </a:blip>
          <a:srcRect l="78775"/>
          <a:stretch>
            <a:fillRect/>
          </a:stretch>
        </p:blipFill>
        <p:spPr>
          <a:xfrm>
            <a:off x="0" y="0"/>
            <a:ext cx="3591499" cy="6858000"/>
          </a:xfrm>
          <a:prstGeom prst="rect">
            <a:avLst/>
          </a:prstGeom>
        </p:spPr>
      </p:pic>
      <p:sp>
        <p:nvSpPr>
          <p:cNvPr id="12" name="矩形 11"/>
          <p:cNvSpPr/>
          <p:nvPr/>
        </p:nvSpPr>
        <p:spPr>
          <a:xfrm>
            <a:off x="114300" y="0"/>
            <a:ext cx="3591499" cy="6858000"/>
          </a:xfrm>
          <a:prstGeom prst="rect">
            <a:avLst/>
          </a:prstGeom>
          <a:solidFill>
            <a:srgbClr val="005D9C">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11243" y="2595892"/>
            <a:ext cx="6062130" cy="783096"/>
          </a:xfrm>
          <a:prstGeom prst="rect">
            <a:avLst/>
          </a:prstGeom>
          <a:solidFill>
            <a:srgbClr val="CDFBFF"/>
          </a:solidFill>
          <a:ln w="38100">
            <a:solidFill>
              <a:srgbClr val="005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243529" y="2633497"/>
            <a:ext cx="5507731" cy="707886"/>
          </a:xfrm>
          <a:prstGeom prst="rect">
            <a:avLst/>
          </a:prstGeom>
          <a:noFill/>
        </p:spPr>
        <p:txBody>
          <a:bodyPr wrap="square" rtlCol="0">
            <a:spAutoFit/>
          </a:bodyPr>
          <a:lstStyle/>
          <a:p>
            <a:r>
              <a:rPr lang="zh-CN" altLang="en-US" sz="4000" b="1" spc="600" dirty="0">
                <a:solidFill>
                  <a:srgbClr val="005D9C"/>
                </a:solidFill>
                <a:latin typeface="微软雅黑" panose="020B0503020204020204" pitchFamily="34" charset="-122"/>
                <a:ea typeface="微软雅黑" panose="020B0503020204020204" pitchFamily="34" charset="-122"/>
              </a:rPr>
              <a:t>理想指令流水线设计</a:t>
            </a:r>
            <a:endParaRPr lang="zh-CN" altLang="en-US" sz="4000" b="1" spc="600" dirty="0">
              <a:solidFill>
                <a:srgbClr val="005D9C"/>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clrChange>
              <a:clrFrom>
                <a:srgbClr val="656D78"/>
              </a:clrFrom>
              <a:clrTo>
                <a:srgbClr val="656D78">
                  <a:alpha val="0"/>
                </a:srgbClr>
              </a:clrTo>
            </a:clrChange>
          </a:blip>
          <a:stretch>
            <a:fillRect/>
          </a:stretch>
        </p:blipFill>
        <p:spPr>
          <a:xfrm>
            <a:off x="1352099" y="715288"/>
            <a:ext cx="880575" cy="877289"/>
          </a:xfrm>
          <a:prstGeom prst="rect">
            <a:avLst/>
          </a:prstGeom>
        </p:spPr>
      </p:pic>
      <p:sp>
        <p:nvSpPr>
          <p:cNvPr id="18" name="圆角矩形 17"/>
          <p:cNvSpPr/>
          <p:nvPr/>
        </p:nvSpPr>
        <p:spPr>
          <a:xfrm>
            <a:off x="1235765" y="606295"/>
            <a:ext cx="1083362" cy="1083362"/>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4"/>
          <a:stretch>
            <a:fillRect/>
          </a:stretch>
        </p:blipFill>
        <p:spPr>
          <a:xfrm>
            <a:off x="114614" y="1997703"/>
            <a:ext cx="3476885" cy="635794"/>
          </a:xfrm>
          <a:prstGeom prst="rect">
            <a:avLst/>
          </a:prstGeom>
        </p:spPr>
      </p:pic>
      <p:cxnSp>
        <p:nvCxnSpPr>
          <p:cNvPr id="22" name="直接连接符 21"/>
          <p:cNvCxnSpPr/>
          <p:nvPr/>
        </p:nvCxnSpPr>
        <p:spPr>
          <a:xfrm>
            <a:off x="321366" y="2440240"/>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21366" y="2452007"/>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1690">
        <p15:prstTrans prst="pageCurlDouble" invX="1"/>
        <p:sndAc>
          <p:stSnd>
            <p:snd r:embed="rId5" name="chimes.wav"/>
          </p:stSnd>
        </p:sndAc>
      </p:transition>
    </mc:Choice>
    <mc:Fallback>
      <p:transition spd="slow" advTm="31690">
        <p:fade/>
        <p:sndAc>
          <p:stSnd>
            <p:snd r:embed="rId5" name="chimes.wav"/>
          </p:stSnd>
        </p:sndAc>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p:txBody>
          <a:bodyPr/>
          <a:lstStyle/>
          <a:p>
            <a:r>
              <a:rPr lang="zh-CN" altLang="en-US" dirty="0"/>
              <a:t>理想指令流水线设计</a:t>
            </a:r>
            <a:endParaRPr lang="zh-CN" altLang="en-US" dirty="0"/>
          </a:p>
        </p:txBody>
      </p:sp>
      <p:sp>
        <p:nvSpPr>
          <p:cNvPr id="124932" name="Rectangle 3"/>
          <p:cNvSpPr>
            <a:spLocks noGrp="1" noChangeArrowheads="1"/>
          </p:cNvSpPr>
          <p:nvPr>
            <p:ph type="body" idx="1"/>
          </p:nvPr>
        </p:nvSpPr>
        <p:spPr>
          <a:xfrm>
            <a:off x="487822" y="942764"/>
            <a:ext cx="11363519" cy="5637024"/>
          </a:xfrm>
        </p:spPr>
        <p:txBody>
          <a:bodyPr/>
          <a:lstStyle/>
          <a:p>
            <a:pPr>
              <a:lnSpc>
                <a:spcPct val="150000"/>
              </a:lnSpc>
            </a:pPr>
            <a:r>
              <a:rPr lang="zh-CN" altLang="en-US" dirty="0"/>
              <a:t>理想流水线关键问题</a:t>
            </a:r>
            <a:endParaRPr lang="en-US" altLang="zh-CN" dirty="0"/>
          </a:p>
          <a:p>
            <a:pPr lvl="1">
              <a:lnSpc>
                <a:spcPct val="150000"/>
              </a:lnSpc>
            </a:pPr>
            <a:r>
              <a:rPr lang="zh-CN" altLang="en-US" b="1" dirty="0">
                <a:solidFill>
                  <a:srgbClr val="C00000"/>
                </a:solidFill>
              </a:rPr>
              <a:t>阶段数相同：</a:t>
            </a:r>
            <a:r>
              <a:rPr lang="zh-CN" altLang="en-US" dirty="0"/>
              <a:t>所有加工对象均通过同样的工序（阶段）</a:t>
            </a:r>
            <a:r>
              <a:rPr lang="en-US" altLang="zh-CN" dirty="0"/>
              <a:t>                    </a:t>
            </a:r>
            <a:endParaRPr lang="en-US" altLang="zh-CN" dirty="0"/>
          </a:p>
          <a:p>
            <a:pPr lvl="2">
              <a:lnSpc>
                <a:spcPct val="150000"/>
              </a:lnSpc>
            </a:pPr>
            <a:r>
              <a:rPr lang="en-US" altLang="zh-CN" dirty="0"/>
              <a:t> </a:t>
            </a:r>
            <a:r>
              <a:rPr lang="zh-CN" altLang="en-US" b="1" dirty="0">
                <a:solidFill>
                  <a:srgbClr val="005D9A"/>
                </a:solidFill>
              </a:rPr>
              <a:t>不同指令</a:t>
            </a:r>
            <a:r>
              <a:rPr lang="zh-CN" altLang="en-US" b="1" dirty="0">
                <a:solidFill>
                  <a:srgbClr val="2975A9"/>
                </a:solidFill>
              </a:rPr>
              <a:t>阶段数不同，让所有指令均经过</a:t>
            </a:r>
            <a:r>
              <a:rPr lang="en-US" altLang="zh-CN" b="1" dirty="0">
                <a:solidFill>
                  <a:srgbClr val="2975A9"/>
                </a:solidFill>
              </a:rPr>
              <a:t>5</a:t>
            </a:r>
            <a:r>
              <a:rPr lang="zh-CN" altLang="en-US" b="1" dirty="0">
                <a:solidFill>
                  <a:srgbClr val="2975A9"/>
                </a:solidFill>
              </a:rPr>
              <a:t>个阶段，部分阶段可能不工作</a:t>
            </a:r>
            <a:endParaRPr lang="zh-CN" altLang="en-US" b="1" dirty="0">
              <a:solidFill>
                <a:srgbClr val="2975A9"/>
              </a:solidFill>
            </a:endParaRPr>
          </a:p>
          <a:p>
            <a:pPr lvl="1">
              <a:lnSpc>
                <a:spcPct val="150000"/>
              </a:lnSpc>
            </a:pPr>
            <a:r>
              <a:rPr lang="zh-CN" altLang="en-US" b="1" dirty="0">
                <a:solidFill>
                  <a:srgbClr val="C00000"/>
                </a:solidFill>
              </a:rPr>
              <a:t>段时延相同：</a:t>
            </a:r>
            <a:r>
              <a:rPr lang="zh-CN" altLang="en-US" dirty="0"/>
              <a:t>各段传输延迟一致</a:t>
            </a:r>
            <a:r>
              <a:rPr lang="en-US" altLang="zh-CN" dirty="0"/>
              <a:t>=T</a:t>
            </a:r>
            <a:r>
              <a:rPr lang="zh-CN" altLang="en-US" dirty="0"/>
              <a:t>，不能有等待现象，</a:t>
            </a:r>
            <a:r>
              <a:rPr lang="en-US" altLang="zh-CN" dirty="0"/>
              <a:t>T=</a:t>
            </a:r>
            <a:r>
              <a:rPr lang="zh-CN" altLang="en-US" dirty="0"/>
              <a:t>最慢的同步</a:t>
            </a:r>
            <a:endParaRPr lang="en-US" altLang="zh-CN" dirty="0"/>
          </a:p>
          <a:p>
            <a:pPr lvl="2">
              <a:lnSpc>
                <a:spcPct val="150000"/>
              </a:lnSpc>
            </a:pPr>
            <a:r>
              <a:rPr lang="zh-CN" altLang="en-US" dirty="0"/>
              <a:t> </a:t>
            </a:r>
            <a:r>
              <a:rPr lang="zh-CN" altLang="en-US" b="1" dirty="0">
                <a:solidFill>
                  <a:srgbClr val="2975A9"/>
                </a:solidFill>
              </a:rPr>
              <a:t>取指，访存段最慢，按访存时延进行流水同步</a:t>
            </a:r>
            <a:endParaRPr lang="en-US" altLang="zh-CN" b="1" dirty="0">
              <a:solidFill>
                <a:srgbClr val="2975A9"/>
              </a:solidFill>
            </a:endParaRPr>
          </a:p>
          <a:p>
            <a:pPr lvl="1">
              <a:lnSpc>
                <a:spcPct val="150000"/>
              </a:lnSpc>
            </a:pPr>
            <a:r>
              <a:rPr lang="zh-CN" altLang="en-US" b="1" dirty="0">
                <a:solidFill>
                  <a:srgbClr val="C00000"/>
                </a:solidFill>
              </a:rPr>
              <a:t>无资源冲突：</a:t>
            </a:r>
            <a:r>
              <a:rPr lang="zh-CN" altLang="en-US" dirty="0"/>
              <a:t>不同阶段之间无共享资源，各段完全并发           </a:t>
            </a:r>
            <a:endParaRPr lang="en-US" altLang="zh-CN" dirty="0"/>
          </a:p>
          <a:p>
            <a:pPr lvl="2">
              <a:lnSpc>
                <a:spcPct val="150000"/>
              </a:lnSpc>
            </a:pPr>
            <a:r>
              <a:rPr lang="zh-CN" altLang="en-US" b="1" dirty="0">
                <a:solidFill>
                  <a:srgbClr val="2975A9"/>
                </a:solidFill>
              </a:rPr>
              <a:t>内存争用：哈佛结构   运算器争用：增设加法器</a:t>
            </a:r>
            <a:endParaRPr lang="en-US" altLang="zh-CN" b="1" dirty="0">
              <a:solidFill>
                <a:srgbClr val="2975A9"/>
              </a:solidFill>
            </a:endParaRPr>
          </a:p>
          <a:p>
            <a:pPr lvl="1">
              <a:lnSpc>
                <a:spcPct val="150000"/>
              </a:lnSpc>
            </a:pPr>
            <a:r>
              <a:rPr lang="zh-CN" altLang="en-US" b="1" dirty="0">
                <a:solidFill>
                  <a:srgbClr val="C00000"/>
                </a:solidFill>
              </a:rPr>
              <a:t>无段间互锁：</a:t>
            </a:r>
            <a:r>
              <a:rPr lang="zh-CN" altLang="en-US" dirty="0"/>
              <a:t>进入流水线的对象不受其他阶段的影响  </a:t>
            </a:r>
            <a:endParaRPr lang="en-US" altLang="zh-CN" dirty="0"/>
          </a:p>
          <a:p>
            <a:pPr lvl="2">
              <a:lnSpc>
                <a:spcPct val="150000"/>
              </a:lnSpc>
            </a:pPr>
            <a:r>
              <a:rPr lang="zh-CN" altLang="en-US" b="1" dirty="0">
                <a:solidFill>
                  <a:srgbClr val="2975A9"/>
                </a:solidFill>
              </a:rPr>
              <a:t>多条指令间存在相关和依赖，仅运行无数据相关，无分支相关的程序</a:t>
            </a:r>
            <a:endParaRPr lang="en-US" altLang="zh-CN" b="1" dirty="0">
              <a:solidFill>
                <a:srgbClr val="2975A9"/>
              </a:solidFill>
            </a:endParaRPr>
          </a:p>
          <a:p>
            <a:pPr lvl="2">
              <a:lnSpc>
                <a:spcPct val="150000"/>
              </a:lnSpc>
            </a:pPr>
            <a:r>
              <a:rPr lang="zh-CN" altLang="en-US" u="sng" dirty="0"/>
              <a:t>理想流水线测试</a:t>
            </a:r>
            <a:r>
              <a:rPr lang="en-US" altLang="zh-CN" u="sng" dirty="0"/>
              <a:t>.hex</a:t>
            </a:r>
            <a:endParaRPr lang="en-US" altLang="zh-CN" u="sng" dirty="0"/>
          </a:p>
          <a:p>
            <a:pPr lvl="2">
              <a:lnSpc>
                <a:spcPct val="150000"/>
              </a:lnSpc>
            </a:pPr>
            <a:endParaRPr lang="en-US" altLang="zh-CN" b="1" dirty="0">
              <a:solidFill>
                <a:srgbClr val="2975A9"/>
              </a:solidFill>
            </a:endParaRPr>
          </a:p>
          <a:p>
            <a:pPr lvl="1">
              <a:lnSpc>
                <a:spcPct val="150000"/>
              </a:lnSpc>
            </a:pPr>
            <a:endParaRPr lang="zh-CN" altLang="en-US" u="sng" dirty="0">
              <a:solidFill>
                <a:srgbClr val="2975A9"/>
              </a:solidFill>
            </a:endParaRPr>
          </a:p>
          <a:p>
            <a:pPr lvl="1">
              <a:lnSpc>
                <a:spcPct val="150000"/>
              </a:lnSpc>
            </a:pPr>
            <a:endParaRPr lang="en-US" altLang="zh-CN" b="1" dirty="0">
              <a:solidFill>
                <a:srgbClr val="C00000"/>
              </a:solidFill>
            </a:endParaRPr>
          </a:p>
          <a:p>
            <a:pPr lvl="1">
              <a:lnSpc>
                <a:spcPct val="150000"/>
              </a:lnSpc>
            </a:pPr>
            <a:endParaRPr lang="zh-CN" altLang="en-US" dirty="0"/>
          </a:p>
          <a:p>
            <a:pPr marL="457200" lvl="1" indent="0">
              <a:buNone/>
            </a:pPr>
            <a:endParaRPr lang="zh-CN" altLang="en-US" dirty="0"/>
          </a:p>
          <a:p>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59934"/>
    </mc:Choice>
    <mc:Fallback>
      <p:transition spd="slow" advTm="159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4932">
                                            <p:txEl>
                                              <p:pRg st="2" end="2"/>
                                            </p:txEl>
                                          </p:spTgt>
                                        </p:tgtEl>
                                        <p:attrNameLst>
                                          <p:attrName>style.visibility</p:attrName>
                                        </p:attrNameLst>
                                      </p:cBhvr>
                                      <p:to>
                                        <p:strVal val="visible"/>
                                      </p:to>
                                    </p:set>
                                    <p:animEffect transition="in" filter="wipe(left)">
                                      <p:cBhvr>
                                        <p:cTn id="7" dur="500"/>
                                        <p:tgtEl>
                                          <p:spTgt spid="1249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4932">
                                            <p:txEl>
                                              <p:pRg st="4" end="4"/>
                                            </p:txEl>
                                          </p:spTgt>
                                        </p:tgtEl>
                                        <p:attrNameLst>
                                          <p:attrName>style.visibility</p:attrName>
                                        </p:attrNameLst>
                                      </p:cBhvr>
                                      <p:to>
                                        <p:strVal val="visible"/>
                                      </p:to>
                                    </p:set>
                                    <p:animEffect transition="in" filter="wipe(left)">
                                      <p:cBhvr>
                                        <p:cTn id="12" dur="500"/>
                                        <p:tgtEl>
                                          <p:spTgt spid="12493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4932">
                                            <p:txEl>
                                              <p:pRg st="6" end="6"/>
                                            </p:txEl>
                                          </p:spTgt>
                                        </p:tgtEl>
                                        <p:attrNameLst>
                                          <p:attrName>style.visibility</p:attrName>
                                        </p:attrNameLst>
                                      </p:cBhvr>
                                      <p:to>
                                        <p:strVal val="visible"/>
                                      </p:to>
                                    </p:set>
                                    <p:animEffect transition="in" filter="wipe(left)">
                                      <p:cBhvr>
                                        <p:cTn id="17" dur="500"/>
                                        <p:tgtEl>
                                          <p:spTgt spid="12493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4932">
                                            <p:txEl>
                                              <p:pRg st="8" end="8"/>
                                            </p:txEl>
                                          </p:spTgt>
                                        </p:tgtEl>
                                        <p:attrNameLst>
                                          <p:attrName>style.visibility</p:attrName>
                                        </p:attrNameLst>
                                      </p:cBhvr>
                                      <p:to>
                                        <p:strVal val="visible"/>
                                      </p:to>
                                    </p:set>
                                    <p:animEffect transition="in" filter="wipe(left)">
                                      <p:cBhvr>
                                        <p:cTn id="22" dur="500"/>
                                        <p:tgtEl>
                                          <p:spTgt spid="124932">
                                            <p:txEl>
                                              <p:pRg st="8" end="8"/>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24932">
                                            <p:txEl>
                                              <p:pRg st="9" end="9"/>
                                            </p:txEl>
                                          </p:spTgt>
                                        </p:tgtEl>
                                        <p:attrNameLst>
                                          <p:attrName>style.visibility</p:attrName>
                                        </p:attrNameLst>
                                      </p:cBhvr>
                                      <p:to>
                                        <p:strVal val="visible"/>
                                      </p:to>
                                    </p:set>
                                    <p:animEffect transition="in" filter="wipe(left)">
                                      <p:cBhvr>
                                        <p:cTn id="25" dur="500"/>
                                        <p:tgtEl>
                                          <p:spTgt spid="12493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dirty="0"/>
              <a:t>理想流水线构建步骤</a:t>
            </a:r>
            <a:endParaRPr lang="zh-CN" altLang="en-US" dirty="0"/>
          </a:p>
        </p:txBody>
      </p:sp>
      <p:sp>
        <p:nvSpPr>
          <p:cNvPr id="41" name="Rectangle 3"/>
          <p:cNvSpPr txBox="1">
            <a:spLocks noChangeArrowheads="1"/>
          </p:cNvSpPr>
          <p:nvPr/>
        </p:nvSpPr>
        <p:spPr>
          <a:xfrm>
            <a:off x="487822" y="942764"/>
            <a:ext cx="10275427" cy="2970349"/>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a:pPr>
            <a:r>
              <a:rPr lang="zh-CN" altLang="en-US" dirty="0"/>
              <a:t>将单周期</a:t>
            </a:r>
            <a:r>
              <a:rPr lang="en-US" altLang="zh-CN" dirty="0"/>
              <a:t>CPU</a:t>
            </a:r>
            <a:r>
              <a:rPr lang="zh-CN" altLang="en-US" dirty="0"/>
              <a:t>细分成五个阶段：</a:t>
            </a:r>
            <a:r>
              <a:rPr lang="en-US" altLang="zh-CN" dirty="0"/>
              <a:t>IF</a:t>
            </a:r>
            <a:r>
              <a:rPr lang="zh-CN" altLang="en-US" dirty="0"/>
              <a:t>、</a:t>
            </a:r>
            <a:r>
              <a:rPr lang="en-US" altLang="zh-CN" dirty="0"/>
              <a:t>ID</a:t>
            </a:r>
            <a:r>
              <a:rPr lang="zh-CN" altLang="en-US" dirty="0"/>
              <a:t>、</a:t>
            </a:r>
            <a:r>
              <a:rPr lang="en-US" altLang="zh-CN" dirty="0"/>
              <a:t>EX</a:t>
            </a:r>
            <a:r>
              <a:rPr lang="zh-CN" altLang="en-US" dirty="0"/>
              <a:t>、</a:t>
            </a:r>
            <a:r>
              <a:rPr lang="en-US" altLang="zh-CN" dirty="0"/>
              <a:t>MEM</a:t>
            </a:r>
            <a:r>
              <a:rPr lang="zh-CN" altLang="en-US" dirty="0"/>
              <a:t>、</a:t>
            </a:r>
            <a:r>
              <a:rPr lang="en-US" altLang="zh-CN" dirty="0"/>
              <a:t>WB</a:t>
            </a:r>
            <a:endParaRPr lang="en-US" altLang="zh-CN" dirty="0"/>
          </a:p>
          <a:p>
            <a:pPr>
              <a:lnSpc>
                <a:spcPct val="150000"/>
              </a:lnSpc>
              <a:defRPr/>
            </a:pPr>
            <a:r>
              <a:rPr lang="zh-CN" altLang="en-US" dirty="0"/>
              <a:t>段间设置流水接口部件 </a:t>
            </a:r>
            <a:r>
              <a:rPr lang="en-US" altLang="zh-CN" dirty="0"/>
              <a:t>IF/ID,ID/EX,WX/MEM,MEM/WB</a:t>
            </a:r>
            <a:r>
              <a:rPr lang="zh-CN" altLang="en-US" dirty="0"/>
              <a:t> </a:t>
            </a:r>
            <a:r>
              <a:rPr lang="en-US" altLang="zh-CN" dirty="0"/>
              <a:t> </a:t>
            </a:r>
            <a:endParaRPr lang="zh-CN" altLang="en-US" dirty="0"/>
          </a:p>
          <a:p>
            <a:pPr lvl="1">
              <a:lnSpc>
                <a:spcPct val="150000"/>
              </a:lnSpc>
              <a:defRPr/>
            </a:pPr>
            <a:r>
              <a:rPr lang="zh-CN" altLang="en-US" dirty="0"/>
              <a:t>接口部件本质是寄存器，锁存前段加工完成的数据和后继模块的</a:t>
            </a:r>
            <a:r>
              <a:rPr lang="zh-CN" altLang="en-US" dirty="0"/>
              <a:t>控制信号</a:t>
            </a:r>
            <a:endParaRPr lang="zh-CN" altLang="en-US" dirty="0"/>
          </a:p>
          <a:p>
            <a:pPr lvl="1">
              <a:lnSpc>
                <a:spcPct val="150000"/>
              </a:lnSpc>
              <a:defRPr/>
            </a:pPr>
            <a:r>
              <a:rPr lang="zh-CN" altLang="en-US" dirty="0"/>
              <a:t>通过接口传递与指令相关的数据、控制、反馈信息</a:t>
            </a:r>
            <a:endParaRPr lang="zh-CN" altLang="en-US" dirty="0"/>
          </a:p>
          <a:p>
            <a:pPr lvl="1">
              <a:lnSpc>
                <a:spcPct val="150000"/>
              </a:lnSpc>
              <a:defRPr/>
            </a:pPr>
            <a:r>
              <a:rPr lang="zh-CN" altLang="en-US" dirty="0"/>
              <a:t>后段模块对数据的加工处理</a:t>
            </a:r>
            <a:r>
              <a:rPr lang="zh-CN" altLang="en-US" dirty="0"/>
              <a:t>完全依赖于前段接口传递过来的信息</a:t>
            </a:r>
            <a:endParaRPr lang="en-US" altLang="zh-CN" dirty="0"/>
          </a:p>
        </p:txBody>
      </p:sp>
      <p:grpSp>
        <p:nvGrpSpPr>
          <p:cNvPr id="11" name="组合 10"/>
          <p:cNvGrpSpPr/>
          <p:nvPr>
            <p:custDataLst>
              <p:tags r:id="rId1"/>
            </p:custDataLst>
          </p:nvPr>
        </p:nvGrpSpPr>
        <p:grpSpPr>
          <a:xfrm>
            <a:off x="430636" y="4052924"/>
            <a:ext cx="11130889" cy="2112818"/>
            <a:chOff x="430636" y="4052924"/>
            <a:chExt cx="11130889" cy="2112818"/>
          </a:xfrm>
        </p:grpSpPr>
        <p:grpSp>
          <p:nvGrpSpPr>
            <p:cNvPr id="10" name="组合 9"/>
            <p:cNvGrpSpPr/>
            <p:nvPr/>
          </p:nvGrpSpPr>
          <p:grpSpPr>
            <a:xfrm>
              <a:off x="430636" y="4052924"/>
              <a:ext cx="11130889" cy="2112818"/>
              <a:chOff x="430636" y="3661038"/>
              <a:chExt cx="11130889" cy="2112818"/>
            </a:xfrm>
          </p:grpSpPr>
          <p:grpSp>
            <p:nvGrpSpPr>
              <p:cNvPr id="9" name="组合 8"/>
              <p:cNvGrpSpPr/>
              <p:nvPr/>
            </p:nvGrpSpPr>
            <p:grpSpPr>
              <a:xfrm>
                <a:off x="430636" y="3962584"/>
                <a:ext cx="11130889" cy="1811272"/>
                <a:chOff x="2358188" y="5041158"/>
                <a:chExt cx="7736293" cy="1258887"/>
              </a:xfrm>
            </p:grpSpPr>
            <p:grpSp>
              <p:nvGrpSpPr>
                <p:cNvPr id="2" name="组合 1"/>
                <p:cNvGrpSpPr/>
                <p:nvPr/>
              </p:nvGrpSpPr>
              <p:grpSpPr>
                <a:xfrm>
                  <a:off x="2463879" y="5803158"/>
                  <a:ext cx="6244017" cy="496887"/>
                  <a:chOff x="230698" y="4300538"/>
                  <a:chExt cx="6244017" cy="496887"/>
                </a:xfrm>
              </p:grpSpPr>
              <p:cxnSp>
                <p:nvCxnSpPr>
                  <p:cNvPr id="3" name="直接连接符 2"/>
                  <p:cNvCxnSpPr/>
                  <p:nvPr/>
                </p:nvCxnSpPr>
                <p:spPr>
                  <a:xfrm>
                    <a:off x="230698" y="4797425"/>
                    <a:ext cx="624401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custDataLst>
                      <p:tags r:id="rId2"/>
                    </p:custDataLst>
                  </p:nvPr>
                </p:nvCxnSpPr>
                <p:spPr>
                  <a:xfrm>
                    <a:off x="1910477" y="4310063"/>
                    <a:ext cx="0" cy="482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custDataLst>
                      <p:tags r:id="rId3"/>
                    </p:custDataLst>
                  </p:nvPr>
                </p:nvCxnSpPr>
                <p:spPr>
                  <a:xfrm>
                    <a:off x="3416300" y="4310063"/>
                    <a:ext cx="0" cy="482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custDataLst>
                      <p:tags r:id="rId4"/>
                    </p:custDataLst>
                  </p:nvPr>
                </p:nvCxnSpPr>
                <p:spPr>
                  <a:xfrm>
                    <a:off x="4943014" y="4305300"/>
                    <a:ext cx="0" cy="482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custDataLst>
                      <p:tags r:id="rId5"/>
                    </p:custDataLst>
                  </p:nvPr>
                </p:nvCxnSpPr>
                <p:spPr>
                  <a:xfrm>
                    <a:off x="6465888" y="4300538"/>
                    <a:ext cx="0" cy="482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2358188" y="5041158"/>
                  <a:ext cx="7736293" cy="1235114"/>
                  <a:chOff x="162586" y="1268760"/>
                  <a:chExt cx="7736293" cy="1235114"/>
                </a:xfrm>
              </p:grpSpPr>
              <p:grpSp>
                <p:nvGrpSpPr>
                  <p:cNvPr id="5" name="Group 4"/>
                  <p:cNvGrpSpPr/>
                  <p:nvPr/>
                </p:nvGrpSpPr>
                <p:grpSpPr bwMode="auto">
                  <a:xfrm>
                    <a:off x="899592" y="1268760"/>
                    <a:ext cx="6999287" cy="862012"/>
                    <a:chOff x="-287" y="837"/>
                    <a:chExt cx="5878" cy="725"/>
                  </a:xfrm>
                </p:grpSpPr>
                <p:sp>
                  <p:nvSpPr>
                    <p:cNvPr id="49163" name="Rectangle 5"/>
                    <p:cNvSpPr>
                      <a:spLocks noChangeArrowheads="1"/>
                    </p:cNvSpPr>
                    <p:nvPr>
                      <p:custDataLst>
                        <p:tags r:id="rId6"/>
                      </p:custDataLst>
                    </p:nvPr>
                  </p:nvSpPr>
                  <p:spPr bwMode="auto">
                    <a:xfrm>
                      <a:off x="951" y="845"/>
                      <a:ext cx="608" cy="704"/>
                    </a:xfrm>
                    <a:prstGeom prst="rect">
                      <a:avLst/>
                    </a:prstGeom>
                    <a:solidFill>
                      <a:schemeClr val="bg1"/>
                    </a:solidFill>
                    <a:ln w="25400">
                      <a:solidFill>
                        <a:schemeClr val="tx1"/>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64" name="Rectangle 6"/>
                    <p:cNvSpPr>
                      <a:spLocks noChangeArrowheads="1"/>
                    </p:cNvSpPr>
                    <p:nvPr>
                      <p:custDataLst>
                        <p:tags r:id="rId7"/>
                      </p:custDataLst>
                    </p:nvPr>
                  </p:nvSpPr>
                  <p:spPr bwMode="auto">
                    <a:xfrm>
                      <a:off x="1759" y="893"/>
                      <a:ext cx="200" cy="600"/>
                    </a:xfrm>
                    <a:prstGeom prst="rect">
                      <a:avLst/>
                    </a:prstGeom>
                    <a:solidFill>
                      <a:srgbClr val="92D050"/>
                    </a:solidFill>
                    <a:ln w="9525">
                      <a:solidFill>
                        <a:srgbClr val="FF0000"/>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65" name="Line 7"/>
                    <p:cNvSpPr>
                      <a:spLocks noChangeShapeType="1"/>
                    </p:cNvSpPr>
                    <p:nvPr>
                      <p:custDataLst>
                        <p:tags r:id="rId8"/>
                      </p:custDataLst>
                    </p:nvPr>
                  </p:nvSpPr>
                  <p:spPr bwMode="auto">
                    <a:xfrm>
                      <a:off x="1566" y="1204"/>
                      <a:ext cx="20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66" name="Rectangle 8"/>
                    <p:cNvSpPr>
                      <a:spLocks noChangeArrowheads="1"/>
                    </p:cNvSpPr>
                    <p:nvPr>
                      <p:custDataLst>
                        <p:tags r:id="rId9"/>
                      </p:custDataLst>
                    </p:nvPr>
                  </p:nvSpPr>
                  <p:spPr bwMode="auto">
                    <a:xfrm>
                      <a:off x="2231" y="837"/>
                      <a:ext cx="608" cy="704"/>
                    </a:xfrm>
                    <a:prstGeom prst="rect">
                      <a:avLst/>
                    </a:prstGeom>
                    <a:solidFill>
                      <a:schemeClr val="bg1"/>
                    </a:solidFill>
                    <a:ln w="25400">
                      <a:solidFill>
                        <a:schemeClr val="tx1"/>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67" name="Rectangle 9"/>
                    <p:cNvSpPr>
                      <a:spLocks noChangeArrowheads="1"/>
                    </p:cNvSpPr>
                    <p:nvPr>
                      <p:custDataLst>
                        <p:tags r:id="rId10"/>
                      </p:custDataLst>
                    </p:nvPr>
                  </p:nvSpPr>
                  <p:spPr bwMode="auto">
                    <a:xfrm>
                      <a:off x="3039" y="885"/>
                      <a:ext cx="200" cy="600"/>
                    </a:xfrm>
                    <a:prstGeom prst="rect">
                      <a:avLst/>
                    </a:prstGeom>
                    <a:solidFill>
                      <a:srgbClr val="92D050"/>
                    </a:solidFill>
                    <a:ln w="9525">
                      <a:solidFill>
                        <a:srgbClr val="FF0000"/>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68" name="Line 10"/>
                    <p:cNvSpPr>
                      <a:spLocks noChangeShapeType="1"/>
                    </p:cNvSpPr>
                    <p:nvPr>
                      <p:custDataLst>
                        <p:tags r:id="rId11"/>
                      </p:custDataLst>
                    </p:nvPr>
                  </p:nvSpPr>
                  <p:spPr bwMode="auto">
                    <a:xfrm>
                      <a:off x="2839" y="1189"/>
                      <a:ext cx="20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69" name="Rectangle 11"/>
                    <p:cNvSpPr>
                      <a:spLocks noChangeArrowheads="1"/>
                    </p:cNvSpPr>
                    <p:nvPr>
                      <p:custDataLst>
                        <p:tags r:id="rId12"/>
                      </p:custDataLst>
                    </p:nvPr>
                  </p:nvSpPr>
                  <p:spPr bwMode="auto">
                    <a:xfrm>
                      <a:off x="3511" y="837"/>
                      <a:ext cx="608" cy="704"/>
                    </a:xfrm>
                    <a:prstGeom prst="rect">
                      <a:avLst/>
                    </a:prstGeom>
                    <a:solidFill>
                      <a:schemeClr val="bg1"/>
                    </a:solidFill>
                    <a:ln w="25400">
                      <a:solidFill>
                        <a:schemeClr val="tx1"/>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70" name="Rectangle 12"/>
                    <p:cNvSpPr>
                      <a:spLocks noChangeArrowheads="1"/>
                    </p:cNvSpPr>
                    <p:nvPr>
                      <p:custDataLst>
                        <p:tags r:id="rId13"/>
                      </p:custDataLst>
                    </p:nvPr>
                  </p:nvSpPr>
                  <p:spPr bwMode="auto">
                    <a:xfrm>
                      <a:off x="4319" y="885"/>
                      <a:ext cx="200" cy="600"/>
                    </a:xfrm>
                    <a:prstGeom prst="rect">
                      <a:avLst/>
                    </a:prstGeom>
                    <a:solidFill>
                      <a:srgbClr val="92D050"/>
                    </a:solidFill>
                    <a:ln w="9525">
                      <a:solidFill>
                        <a:srgbClr val="FF0000"/>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71" name="Line 13"/>
                    <p:cNvSpPr>
                      <a:spLocks noChangeShapeType="1"/>
                    </p:cNvSpPr>
                    <p:nvPr>
                      <p:custDataLst>
                        <p:tags r:id="rId14"/>
                      </p:custDataLst>
                    </p:nvPr>
                  </p:nvSpPr>
                  <p:spPr bwMode="auto">
                    <a:xfrm>
                      <a:off x="4119" y="1189"/>
                      <a:ext cx="199"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72" name="Rectangle 14"/>
                    <p:cNvSpPr>
                      <a:spLocks noChangeArrowheads="1"/>
                    </p:cNvSpPr>
                    <p:nvPr>
                      <p:custDataLst>
                        <p:tags r:id="rId15"/>
                      </p:custDataLst>
                    </p:nvPr>
                  </p:nvSpPr>
                  <p:spPr bwMode="auto">
                    <a:xfrm>
                      <a:off x="4798" y="837"/>
                      <a:ext cx="608" cy="704"/>
                    </a:xfrm>
                    <a:prstGeom prst="rect">
                      <a:avLst/>
                    </a:prstGeom>
                    <a:solidFill>
                      <a:schemeClr val="bg1"/>
                    </a:solidFill>
                    <a:ln w="25400">
                      <a:solidFill>
                        <a:schemeClr val="tx1"/>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73" name="Line 15"/>
                    <p:cNvSpPr>
                      <a:spLocks noChangeShapeType="1"/>
                    </p:cNvSpPr>
                    <p:nvPr/>
                  </p:nvSpPr>
                  <p:spPr bwMode="auto">
                    <a:xfrm>
                      <a:off x="5415" y="1189"/>
                      <a:ext cx="17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74" name="Rectangle 16"/>
                    <p:cNvSpPr>
                      <a:spLocks noChangeArrowheads="1"/>
                    </p:cNvSpPr>
                    <p:nvPr>
                      <p:custDataLst>
                        <p:tags r:id="rId16"/>
                      </p:custDataLst>
                    </p:nvPr>
                  </p:nvSpPr>
                  <p:spPr bwMode="auto">
                    <a:xfrm>
                      <a:off x="495" y="889"/>
                      <a:ext cx="200" cy="600"/>
                    </a:xfrm>
                    <a:prstGeom prst="rect">
                      <a:avLst/>
                    </a:prstGeom>
                    <a:solidFill>
                      <a:srgbClr val="92D050"/>
                    </a:solidFill>
                    <a:ln w="9525">
                      <a:solidFill>
                        <a:srgbClr val="FF0000"/>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49175" name="Line 17"/>
                    <p:cNvSpPr>
                      <a:spLocks noChangeShapeType="1"/>
                    </p:cNvSpPr>
                    <p:nvPr>
                      <p:custDataLst>
                        <p:tags r:id="rId17"/>
                      </p:custDataLst>
                    </p:nvPr>
                  </p:nvSpPr>
                  <p:spPr bwMode="auto">
                    <a:xfrm flipV="1">
                      <a:off x="703" y="1199"/>
                      <a:ext cx="245" cy="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19" name="Rectangle 18"/>
                    <p:cNvSpPr>
                      <a:spLocks noChangeArrowheads="1"/>
                    </p:cNvSpPr>
                    <p:nvPr>
                      <p:custDataLst>
                        <p:tags r:id="rId18"/>
                      </p:custDataLst>
                    </p:nvPr>
                  </p:nvSpPr>
                  <p:spPr bwMode="auto">
                    <a:xfrm>
                      <a:off x="1113" y="1085"/>
                      <a:ext cx="286" cy="219"/>
                    </a:xfrm>
                    <a:prstGeom prst="rect">
                      <a:avLst/>
                    </a:prstGeom>
                    <a:noFill/>
                    <a:ln w="25400">
                      <a:noFill/>
                      <a:miter lim="800000"/>
                    </a:ln>
                    <a:effectLst/>
                  </p:spPr>
                  <p:txBody>
                    <a:bodyPr wrap="none" lIns="67866" tIns="33338" rIns="67866" bIns="33338">
                      <a:spAutoFit/>
                    </a:bodyPr>
                    <a:lstStyle>
                      <a:defPPr>
                        <a:defRPr lang="en-US"/>
                      </a:defPPr>
                      <a:lvl1pPr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1pPr>
                      <a:lvl2pPr marL="4572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2pPr>
                      <a:lvl3pPr marL="9144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3pPr>
                      <a:lvl4pPr marL="13716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4pPr>
                      <a:lvl5pPr marL="18288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5pPr>
                      <a:lvl6pPr marL="2286000" algn="l" defTabSz="457200" rtl="0" eaLnBrk="1" latinLnBrk="0" hangingPunct="1">
                        <a:defRPr sz="1600" kern="1200">
                          <a:solidFill>
                            <a:schemeClr val="hlink"/>
                          </a:solidFill>
                          <a:latin typeface="Arial" panose="020B0604020202020204" pitchFamily="34" charset="0"/>
                          <a:ea typeface="+mn-ea"/>
                          <a:cs typeface="+mn-cs"/>
                        </a:defRPr>
                      </a:lvl6pPr>
                      <a:lvl7pPr marL="2743200" algn="l" defTabSz="457200" rtl="0" eaLnBrk="1" latinLnBrk="0" hangingPunct="1">
                        <a:defRPr sz="1600" kern="1200">
                          <a:solidFill>
                            <a:schemeClr val="hlink"/>
                          </a:solidFill>
                          <a:latin typeface="Arial" panose="020B0604020202020204" pitchFamily="34" charset="0"/>
                          <a:ea typeface="+mn-ea"/>
                          <a:cs typeface="+mn-cs"/>
                        </a:defRPr>
                      </a:lvl7pPr>
                      <a:lvl8pPr marL="3200400" algn="l" defTabSz="457200" rtl="0" eaLnBrk="1" latinLnBrk="0" hangingPunct="1">
                        <a:defRPr sz="1600" kern="1200">
                          <a:solidFill>
                            <a:schemeClr val="hlink"/>
                          </a:solidFill>
                          <a:latin typeface="Arial" panose="020B0604020202020204" pitchFamily="34" charset="0"/>
                          <a:ea typeface="+mn-ea"/>
                          <a:cs typeface="+mn-cs"/>
                        </a:defRPr>
                      </a:lvl8pPr>
                      <a:lvl9pPr marL="3657600" algn="l" defTabSz="457200" rtl="0" eaLnBrk="1" latinLnBrk="0" hangingPunct="1">
                        <a:defRPr sz="1600" kern="1200">
                          <a:solidFill>
                            <a:schemeClr val="hlink"/>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rPr>
                        <a:t>ID</a:t>
                      </a:r>
                      <a:endParaRPr kumimoji="0" lang="en-US"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endParaRPr>
                    </a:p>
                  </p:txBody>
                </p:sp>
                <p:sp>
                  <p:nvSpPr>
                    <p:cNvPr id="20" name="Rectangle 19"/>
                    <p:cNvSpPr>
                      <a:spLocks noChangeArrowheads="1"/>
                    </p:cNvSpPr>
                    <p:nvPr>
                      <p:custDataLst>
                        <p:tags r:id="rId19"/>
                      </p:custDataLst>
                    </p:nvPr>
                  </p:nvSpPr>
                  <p:spPr bwMode="auto">
                    <a:xfrm>
                      <a:off x="2378" y="1081"/>
                      <a:ext cx="296" cy="219"/>
                    </a:xfrm>
                    <a:prstGeom prst="rect">
                      <a:avLst/>
                    </a:prstGeom>
                    <a:noFill/>
                    <a:ln w="25400">
                      <a:noFill/>
                      <a:miter lim="800000"/>
                    </a:ln>
                    <a:effectLst/>
                  </p:spPr>
                  <p:txBody>
                    <a:bodyPr wrap="none" lIns="67866" tIns="33338" rIns="67866" bIns="33338">
                      <a:spAutoFit/>
                    </a:bodyPr>
                    <a:lstStyle>
                      <a:defPPr>
                        <a:defRPr lang="en-US"/>
                      </a:defPPr>
                      <a:lvl1pPr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1pPr>
                      <a:lvl2pPr marL="4572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2pPr>
                      <a:lvl3pPr marL="9144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3pPr>
                      <a:lvl4pPr marL="13716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4pPr>
                      <a:lvl5pPr marL="18288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5pPr>
                      <a:lvl6pPr marL="2286000" algn="l" defTabSz="457200" rtl="0" eaLnBrk="1" latinLnBrk="0" hangingPunct="1">
                        <a:defRPr sz="1600" kern="1200">
                          <a:solidFill>
                            <a:schemeClr val="hlink"/>
                          </a:solidFill>
                          <a:latin typeface="Arial" panose="020B0604020202020204" pitchFamily="34" charset="0"/>
                          <a:ea typeface="+mn-ea"/>
                          <a:cs typeface="+mn-cs"/>
                        </a:defRPr>
                      </a:lvl6pPr>
                      <a:lvl7pPr marL="2743200" algn="l" defTabSz="457200" rtl="0" eaLnBrk="1" latinLnBrk="0" hangingPunct="1">
                        <a:defRPr sz="1600" kern="1200">
                          <a:solidFill>
                            <a:schemeClr val="hlink"/>
                          </a:solidFill>
                          <a:latin typeface="Arial" panose="020B0604020202020204" pitchFamily="34" charset="0"/>
                          <a:ea typeface="+mn-ea"/>
                          <a:cs typeface="+mn-cs"/>
                        </a:defRPr>
                      </a:lvl7pPr>
                      <a:lvl8pPr marL="3200400" algn="l" defTabSz="457200" rtl="0" eaLnBrk="1" latinLnBrk="0" hangingPunct="1">
                        <a:defRPr sz="1600" kern="1200">
                          <a:solidFill>
                            <a:schemeClr val="hlink"/>
                          </a:solidFill>
                          <a:latin typeface="Arial" panose="020B0604020202020204" pitchFamily="34" charset="0"/>
                          <a:ea typeface="+mn-ea"/>
                          <a:cs typeface="+mn-cs"/>
                        </a:defRPr>
                      </a:lvl8pPr>
                      <a:lvl9pPr marL="3657600" algn="l" defTabSz="457200" rtl="0" eaLnBrk="1" latinLnBrk="0" hangingPunct="1">
                        <a:defRPr sz="1600" kern="1200">
                          <a:solidFill>
                            <a:schemeClr val="hlink"/>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rPr>
                        <a:t>EX</a:t>
                      </a:r>
                      <a:endParaRPr kumimoji="0" lang="en-US"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endParaRPr>
                    </a:p>
                  </p:txBody>
                </p:sp>
                <p:sp>
                  <p:nvSpPr>
                    <p:cNvPr id="21" name="Rectangle 20"/>
                    <p:cNvSpPr>
                      <a:spLocks noChangeArrowheads="1"/>
                    </p:cNvSpPr>
                    <p:nvPr>
                      <p:custDataLst>
                        <p:tags r:id="rId20"/>
                      </p:custDataLst>
                    </p:nvPr>
                  </p:nvSpPr>
                  <p:spPr bwMode="auto">
                    <a:xfrm>
                      <a:off x="3581" y="1075"/>
                      <a:ext cx="466" cy="219"/>
                    </a:xfrm>
                    <a:prstGeom prst="rect">
                      <a:avLst/>
                    </a:prstGeom>
                    <a:noFill/>
                    <a:ln w="25400">
                      <a:noFill/>
                      <a:miter lim="800000"/>
                    </a:ln>
                    <a:effectLst/>
                  </p:spPr>
                  <p:txBody>
                    <a:bodyPr wrap="none" lIns="67866" tIns="33338" rIns="67866" bIns="33338">
                      <a:spAutoFit/>
                    </a:bodyPr>
                    <a:lstStyle>
                      <a:defPPr>
                        <a:defRPr lang="en-US"/>
                      </a:defPPr>
                      <a:lvl1pPr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1pPr>
                      <a:lvl2pPr marL="4572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2pPr>
                      <a:lvl3pPr marL="9144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3pPr>
                      <a:lvl4pPr marL="13716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4pPr>
                      <a:lvl5pPr marL="18288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5pPr>
                      <a:lvl6pPr marL="2286000" algn="l" defTabSz="457200" rtl="0" eaLnBrk="1" latinLnBrk="0" hangingPunct="1">
                        <a:defRPr sz="1600" kern="1200">
                          <a:solidFill>
                            <a:schemeClr val="hlink"/>
                          </a:solidFill>
                          <a:latin typeface="Arial" panose="020B0604020202020204" pitchFamily="34" charset="0"/>
                          <a:ea typeface="+mn-ea"/>
                          <a:cs typeface="+mn-cs"/>
                        </a:defRPr>
                      </a:lvl6pPr>
                      <a:lvl7pPr marL="2743200" algn="l" defTabSz="457200" rtl="0" eaLnBrk="1" latinLnBrk="0" hangingPunct="1">
                        <a:defRPr sz="1600" kern="1200">
                          <a:solidFill>
                            <a:schemeClr val="hlink"/>
                          </a:solidFill>
                          <a:latin typeface="Arial" panose="020B0604020202020204" pitchFamily="34" charset="0"/>
                          <a:ea typeface="+mn-ea"/>
                          <a:cs typeface="+mn-cs"/>
                        </a:defRPr>
                      </a:lvl7pPr>
                      <a:lvl8pPr marL="3200400" algn="l" defTabSz="457200" rtl="0" eaLnBrk="1" latinLnBrk="0" hangingPunct="1">
                        <a:defRPr sz="1600" kern="1200">
                          <a:solidFill>
                            <a:schemeClr val="hlink"/>
                          </a:solidFill>
                          <a:latin typeface="Arial" panose="020B0604020202020204" pitchFamily="34" charset="0"/>
                          <a:ea typeface="+mn-ea"/>
                          <a:cs typeface="+mn-cs"/>
                        </a:defRPr>
                      </a:lvl8pPr>
                      <a:lvl9pPr marL="3657600" algn="l" defTabSz="457200" rtl="0" eaLnBrk="1" latinLnBrk="0" hangingPunct="1">
                        <a:defRPr sz="1600" kern="1200">
                          <a:solidFill>
                            <a:schemeClr val="hlink"/>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rPr>
                        <a:t>MEM</a:t>
                      </a:r>
                      <a:endParaRPr kumimoji="0" lang="en-US"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endParaRPr>
                    </a:p>
                  </p:txBody>
                </p:sp>
                <p:sp>
                  <p:nvSpPr>
                    <p:cNvPr id="22" name="Rectangle 21"/>
                    <p:cNvSpPr>
                      <a:spLocks noChangeArrowheads="1"/>
                    </p:cNvSpPr>
                    <p:nvPr>
                      <p:custDataLst>
                        <p:tags r:id="rId21"/>
                      </p:custDataLst>
                    </p:nvPr>
                  </p:nvSpPr>
                  <p:spPr bwMode="auto">
                    <a:xfrm>
                      <a:off x="4913" y="1049"/>
                      <a:ext cx="364" cy="219"/>
                    </a:xfrm>
                    <a:prstGeom prst="rect">
                      <a:avLst/>
                    </a:prstGeom>
                    <a:noFill/>
                    <a:ln w="25400">
                      <a:noFill/>
                      <a:miter lim="800000"/>
                    </a:ln>
                    <a:effectLst/>
                  </p:spPr>
                  <p:txBody>
                    <a:bodyPr wrap="none" lIns="67866" tIns="33338" rIns="67866" bIns="33338">
                      <a:spAutoFit/>
                    </a:bodyPr>
                    <a:lstStyle>
                      <a:defPPr>
                        <a:defRPr lang="en-US"/>
                      </a:defPPr>
                      <a:lvl1pPr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1pPr>
                      <a:lvl2pPr marL="4572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2pPr>
                      <a:lvl3pPr marL="9144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3pPr>
                      <a:lvl4pPr marL="13716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4pPr>
                      <a:lvl5pPr marL="18288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5pPr>
                      <a:lvl6pPr marL="2286000" algn="l" defTabSz="457200" rtl="0" eaLnBrk="1" latinLnBrk="0" hangingPunct="1">
                        <a:defRPr sz="1600" kern="1200">
                          <a:solidFill>
                            <a:schemeClr val="hlink"/>
                          </a:solidFill>
                          <a:latin typeface="Arial" panose="020B0604020202020204" pitchFamily="34" charset="0"/>
                          <a:ea typeface="+mn-ea"/>
                          <a:cs typeface="+mn-cs"/>
                        </a:defRPr>
                      </a:lvl6pPr>
                      <a:lvl7pPr marL="2743200" algn="l" defTabSz="457200" rtl="0" eaLnBrk="1" latinLnBrk="0" hangingPunct="1">
                        <a:defRPr sz="1600" kern="1200">
                          <a:solidFill>
                            <a:schemeClr val="hlink"/>
                          </a:solidFill>
                          <a:latin typeface="Arial" panose="020B0604020202020204" pitchFamily="34" charset="0"/>
                          <a:ea typeface="+mn-ea"/>
                          <a:cs typeface="+mn-cs"/>
                        </a:defRPr>
                      </a:lvl7pPr>
                      <a:lvl8pPr marL="3200400" algn="l" defTabSz="457200" rtl="0" eaLnBrk="1" latinLnBrk="0" hangingPunct="1">
                        <a:defRPr sz="1600" kern="1200">
                          <a:solidFill>
                            <a:schemeClr val="hlink"/>
                          </a:solidFill>
                          <a:latin typeface="Arial" panose="020B0604020202020204" pitchFamily="34" charset="0"/>
                          <a:ea typeface="+mn-ea"/>
                          <a:cs typeface="+mn-cs"/>
                        </a:defRPr>
                      </a:lvl8pPr>
                      <a:lvl9pPr marL="3657600" algn="l" defTabSz="457200" rtl="0" eaLnBrk="1" latinLnBrk="0" hangingPunct="1">
                        <a:defRPr sz="1600" kern="1200">
                          <a:solidFill>
                            <a:schemeClr val="hlink"/>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rPr>
                        <a:t>WB</a:t>
                      </a:r>
                      <a:endParaRPr kumimoji="0" lang="en-US"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endParaRPr>
                    </a:p>
                  </p:txBody>
                </p:sp>
                <p:sp>
                  <p:nvSpPr>
                    <p:cNvPr id="49181" name="Line 23"/>
                    <p:cNvSpPr>
                      <a:spLocks noChangeShapeType="1"/>
                    </p:cNvSpPr>
                    <p:nvPr>
                      <p:custDataLst>
                        <p:tags r:id="rId22"/>
                      </p:custDataLst>
                    </p:nvPr>
                  </p:nvSpPr>
                  <p:spPr bwMode="auto">
                    <a:xfrm flipV="1">
                      <a:off x="3249" y="1185"/>
                      <a:ext cx="25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83" name="Line 25"/>
                    <p:cNvSpPr>
                      <a:spLocks noChangeShapeType="1"/>
                    </p:cNvSpPr>
                    <p:nvPr>
                      <p:custDataLst>
                        <p:tags r:id="rId23"/>
                      </p:custDataLst>
                    </p:nvPr>
                  </p:nvSpPr>
                  <p:spPr bwMode="auto">
                    <a:xfrm>
                      <a:off x="321" y="1210"/>
                      <a:ext cx="176"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49184" name="Rectangle 5"/>
                    <p:cNvSpPr>
                      <a:spLocks noChangeArrowheads="1"/>
                    </p:cNvSpPr>
                    <p:nvPr>
                      <p:custDataLst>
                        <p:tags r:id="rId24"/>
                      </p:custDataLst>
                    </p:nvPr>
                  </p:nvSpPr>
                  <p:spPr bwMode="auto">
                    <a:xfrm>
                      <a:off x="-287" y="858"/>
                      <a:ext cx="608" cy="704"/>
                    </a:xfrm>
                    <a:prstGeom prst="rect">
                      <a:avLst/>
                    </a:prstGeom>
                    <a:solidFill>
                      <a:schemeClr val="bg1"/>
                    </a:solidFill>
                    <a:ln w="25400">
                      <a:solidFill>
                        <a:schemeClr val="tx1"/>
                      </a:solidFill>
                      <a:miter lim="800000"/>
                    </a:ln>
                  </p:spPr>
                  <p:txBody>
                    <a:bodyPr wrap="none" anchor="ct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000" b="1" u="none" strike="noStrike" kern="1200" cap="none" spc="0" normalizeH="0" baseline="0" noProof="0">
                        <a:ln>
                          <a:noFill/>
                        </a:ln>
                        <a:solidFill>
                          <a:srgbClr val="FFCC00"/>
                        </a:solidFill>
                        <a:effectLst/>
                        <a:uLnTx/>
                        <a:uFillTx/>
                        <a:latin typeface="Arial" panose="020B0604020202020204" pitchFamily="34" charset="0"/>
                        <a:ea typeface="微软雅黑" panose="020B0503020204020204" pitchFamily="34" charset="-122"/>
                        <a:cs typeface="+mn-cs"/>
                      </a:endParaRPr>
                    </a:p>
                  </p:txBody>
                </p:sp>
                <p:sp>
                  <p:nvSpPr>
                    <p:cNvPr id="28" name="Rectangle 18"/>
                    <p:cNvSpPr>
                      <a:spLocks noChangeArrowheads="1"/>
                    </p:cNvSpPr>
                    <p:nvPr>
                      <p:custDataLst>
                        <p:tags r:id="rId25"/>
                      </p:custDataLst>
                    </p:nvPr>
                  </p:nvSpPr>
                  <p:spPr bwMode="auto">
                    <a:xfrm>
                      <a:off x="-102" y="1095"/>
                      <a:ext cx="259" cy="219"/>
                    </a:xfrm>
                    <a:prstGeom prst="rect">
                      <a:avLst/>
                    </a:prstGeom>
                    <a:noFill/>
                    <a:ln w="25400">
                      <a:noFill/>
                      <a:miter lim="800000"/>
                    </a:ln>
                    <a:effectLst/>
                  </p:spPr>
                  <p:txBody>
                    <a:bodyPr wrap="none" lIns="67866" tIns="33338" rIns="67866" bIns="33338">
                      <a:spAutoFit/>
                    </a:bodyPr>
                    <a:lstStyle>
                      <a:defPPr>
                        <a:defRPr lang="en-US"/>
                      </a:defPPr>
                      <a:lvl1pPr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1pPr>
                      <a:lvl2pPr marL="4572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2pPr>
                      <a:lvl3pPr marL="9144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3pPr>
                      <a:lvl4pPr marL="13716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4pPr>
                      <a:lvl5pPr marL="1828800" algn="l" rtl="0" eaLnBrk="0" fontAlgn="base" hangingPunct="0">
                        <a:spcBef>
                          <a:spcPct val="50000"/>
                        </a:spcBef>
                        <a:spcAft>
                          <a:spcPct val="0"/>
                        </a:spcAft>
                        <a:defRPr sz="1600" kern="1200">
                          <a:solidFill>
                            <a:schemeClr val="hlink"/>
                          </a:solidFill>
                          <a:latin typeface="Arial" panose="020B0604020202020204" pitchFamily="34" charset="0"/>
                          <a:ea typeface="+mn-ea"/>
                          <a:cs typeface="+mn-cs"/>
                        </a:defRPr>
                      </a:lvl5pPr>
                      <a:lvl6pPr marL="2286000" algn="l" defTabSz="457200" rtl="0" eaLnBrk="1" latinLnBrk="0" hangingPunct="1">
                        <a:defRPr sz="1600" kern="1200">
                          <a:solidFill>
                            <a:schemeClr val="hlink"/>
                          </a:solidFill>
                          <a:latin typeface="Arial" panose="020B0604020202020204" pitchFamily="34" charset="0"/>
                          <a:ea typeface="+mn-ea"/>
                          <a:cs typeface="+mn-cs"/>
                        </a:defRPr>
                      </a:lvl6pPr>
                      <a:lvl7pPr marL="2743200" algn="l" defTabSz="457200" rtl="0" eaLnBrk="1" latinLnBrk="0" hangingPunct="1">
                        <a:defRPr sz="1600" kern="1200">
                          <a:solidFill>
                            <a:schemeClr val="hlink"/>
                          </a:solidFill>
                          <a:latin typeface="Arial" panose="020B0604020202020204" pitchFamily="34" charset="0"/>
                          <a:ea typeface="+mn-ea"/>
                          <a:cs typeface="+mn-cs"/>
                        </a:defRPr>
                      </a:lvl7pPr>
                      <a:lvl8pPr marL="3200400" algn="l" defTabSz="457200" rtl="0" eaLnBrk="1" latinLnBrk="0" hangingPunct="1">
                        <a:defRPr sz="1600" kern="1200">
                          <a:solidFill>
                            <a:schemeClr val="hlink"/>
                          </a:solidFill>
                          <a:latin typeface="Arial" panose="020B0604020202020204" pitchFamily="34" charset="0"/>
                          <a:ea typeface="+mn-ea"/>
                          <a:cs typeface="+mn-cs"/>
                        </a:defRPr>
                      </a:lvl8pPr>
                      <a:lvl9pPr marL="3657600" algn="l" defTabSz="457200" rtl="0" eaLnBrk="1" latinLnBrk="0" hangingPunct="1">
                        <a:defRPr sz="1600" kern="1200">
                          <a:solidFill>
                            <a:schemeClr val="hlink"/>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rPr>
                        <a:t>IF</a:t>
                      </a:r>
                      <a:endParaRPr kumimoji="0" lang="en-US" sz="2000" b="1" u="none" strike="noStrike" kern="1200" cap="none" spc="0" normalizeH="0" baseline="0" noProof="0" dirty="0">
                        <a:ln>
                          <a:noFill/>
                        </a:ln>
                        <a:solidFill>
                          <a:srgbClr val="56127A"/>
                        </a:solidFill>
                        <a:effectLst/>
                        <a:uLnTx/>
                        <a:uFillTx/>
                        <a:latin typeface="Verdana" panose="020B0604030504040204" pitchFamily="34" charset="0"/>
                        <a:ea typeface="微软雅黑" panose="020B0503020204020204" pitchFamily="34" charset="-122"/>
                        <a:cs typeface="+mn-cs"/>
                      </a:endParaRPr>
                    </a:p>
                  </p:txBody>
                </p:sp>
                <p:sp>
                  <p:nvSpPr>
                    <p:cNvPr id="57" name="Line 17"/>
                    <p:cNvSpPr>
                      <a:spLocks noChangeShapeType="1"/>
                    </p:cNvSpPr>
                    <p:nvPr>
                      <p:custDataLst>
                        <p:tags r:id="rId26"/>
                      </p:custDataLst>
                    </p:nvPr>
                  </p:nvSpPr>
                  <p:spPr bwMode="auto">
                    <a:xfrm flipV="1">
                      <a:off x="1958" y="1201"/>
                      <a:ext cx="277"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sp>
                  <p:nvSpPr>
                    <p:cNvPr id="58" name="Line 17"/>
                    <p:cNvSpPr>
                      <a:spLocks noChangeShapeType="1"/>
                    </p:cNvSpPr>
                    <p:nvPr>
                      <p:custDataLst>
                        <p:tags r:id="rId27"/>
                      </p:custDataLst>
                    </p:nvPr>
                  </p:nvSpPr>
                  <p:spPr bwMode="auto">
                    <a:xfrm flipV="1">
                      <a:off x="4519" y="1189"/>
                      <a:ext cx="277"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200" b="1" u="none" strike="noStrike" kern="1200" cap="none" spc="0" normalizeH="0" baseline="0" noProof="0">
                        <a:ln>
                          <a:noFill/>
                        </a:ln>
                        <a:solidFill>
                          <a:srgbClr val="000000"/>
                        </a:solidFill>
                        <a:effectLst/>
                        <a:uLnTx/>
                        <a:uFillTx/>
                        <a:latin typeface="Arial" panose="020B0604020202020204" pitchFamily="34" charset="0"/>
                        <a:ea typeface="华文细黑" panose="02010600040101010101" pitchFamily="2" charset="-122"/>
                        <a:cs typeface="+mn-cs"/>
                      </a:endParaRPr>
                    </a:p>
                  </p:txBody>
                </p:sp>
              </p:grpSp>
              <p:sp>
                <p:nvSpPr>
                  <p:cNvPr id="4" name="文本框 3"/>
                  <p:cNvSpPr txBox="1"/>
                  <p:nvPr/>
                </p:nvSpPr>
                <p:spPr>
                  <a:xfrm>
                    <a:off x="162586" y="2268569"/>
                    <a:ext cx="420252" cy="235305"/>
                  </a:xfrm>
                  <a:prstGeom prst="rect">
                    <a:avLst/>
                  </a:prstGeom>
                  <a:noFill/>
                </p:spPr>
                <p:txBody>
                  <a:bodyPr wrap="none" rtlCol="0">
                    <a:spAutoFit/>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600" b="1" u="none" strike="noStrike" kern="1200" cap="none" spc="0" normalizeH="0" baseline="0" noProof="0" dirty="0">
                        <a:ln>
                          <a:noFill/>
                        </a:ln>
                        <a:solidFill>
                          <a:srgbClr val="000000"/>
                        </a:solidFill>
                        <a:effectLst/>
                        <a:uLnTx/>
                        <a:uFillTx/>
                        <a:latin typeface="Arial" panose="020B0604020202020204" pitchFamily="34" charset="0"/>
                        <a:ea typeface="华文细黑" panose="02010600040101010101" pitchFamily="2" charset="-122"/>
                        <a:cs typeface="+mn-cs"/>
                      </a:rPr>
                      <a:t>CLK</a:t>
                    </a:r>
                    <a:endParaRPr kumimoji="0" lang="zh-CN" altLang="en-US" sz="1600" b="1" u="none" strike="noStrike" kern="1200" cap="none" spc="0" normalizeH="0" baseline="0" noProof="0" dirty="0">
                      <a:ln>
                        <a:noFill/>
                      </a:ln>
                      <a:solidFill>
                        <a:srgbClr val="000000"/>
                      </a:solidFill>
                      <a:effectLst/>
                      <a:uLnTx/>
                      <a:uFillTx/>
                      <a:latin typeface="Arial" panose="020B0604020202020204" pitchFamily="34" charset="0"/>
                      <a:ea typeface="华文细黑" panose="02010600040101010101" pitchFamily="2" charset="-122"/>
                      <a:cs typeface="+mn-cs"/>
                    </a:endParaRPr>
                  </a:p>
                </p:txBody>
              </p:sp>
            </p:grpSp>
          </p:grpSp>
          <p:sp>
            <p:nvSpPr>
              <p:cNvPr id="42" name="文本框 41"/>
              <p:cNvSpPr txBox="1"/>
              <p:nvPr>
                <p:custDataLst>
                  <p:tags r:id="rId28"/>
                </p:custDataLst>
              </p:nvPr>
            </p:nvSpPr>
            <p:spPr>
              <a:xfrm>
                <a:off x="2728267" y="3661039"/>
                <a:ext cx="6351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IF/ID</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文本框 42"/>
              <p:cNvSpPr txBox="1"/>
              <p:nvPr>
                <p:custDataLst>
                  <p:tags r:id="rId29"/>
                </p:custDataLst>
              </p:nvPr>
            </p:nvSpPr>
            <p:spPr>
              <a:xfrm>
                <a:off x="4903100" y="3661038"/>
                <a:ext cx="70083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ID/EX</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custDataLst>
                  <p:tags r:id="rId30"/>
                </p:custDataLst>
              </p:nvPr>
            </p:nvSpPr>
            <p:spPr>
              <a:xfrm>
                <a:off x="6934090" y="3661039"/>
                <a:ext cx="96853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EX/MEM</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5" name="文本框 44"/>
              <p:cNvSpPr txBox="1"/>
              <p:nvPr>
                <p:custDataLst>
                  <p:tags r:id="rId31"/>
                </p:custDataLst>
              </p:nvPr>
            </p:nvSpPr>
            <p:spPr>
              <a:xfrm>
                <a:off x="9093933" y="3661038"/>
                <a:ext cx="105830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MEM/WB</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52" name="等腰三角形 51"/>
            <p:cNvSpPr/>
            <p:nvPr>
              <p:custDataLst>
                <p:tags r:id="rId32"/>
              </p:custDataLst>
            </p:nvPr>
          </p:nvSpPr>
          <p:spPr>
            <a:xfrm>
              <a:off x="2840571" y="5300877"/>
              <a:ext cx="329597" cy="171260"/>
            </a:xfrm>
            <a:prstGeom prst="triangle">
              <a:avLst/>
            </a:prstGeom>
            <a:solidFill>
              <a:srgbClr val="92D050"/>
            </a:solidFill>
            <a:ln w="12700" cap="flat" cmpd="sng" algn="ctr">
              <a:solidFill>
                <a:srgbClr val="FF0000"/>
              </a:solidFill>
              <a:prstDash val="solid"/>
              <a:miter lim="800000"/>
            </a:ln>
            <a:effectLst/>
          </p:spPr>
          <p:txBody>
            <a:bodyPr rtlCol="0" anchor="ctr"/>
            <a:lstStyle/>
            <a:p>
              <a:pPr algn="ctr"/>
              <a:endParaRPr lang="zh-CN" altLang="en-US" sz="1600" kern="0">
                <a:solidFill>
                  <a:prstClr val="white"/>
                </a:solidFill>
                <a:latin typeface="等线" panose="02010600030101010101" charset="-122"/>
                <a:ea typeface="等线" panose="02010600030101010101" charset="-122"/>
              </a:endParaRPr>
            </a:p>
          </p:txBody>
        </p:sp>
        <p:sp>
          <p:nvSpPr>
            <p:cNvPr id="53" name="等腰三角形 52"/>
            <p:cNvSpPr/>
            <p:nvPr>
              <p:custDataLst>
                <p:tags r:id="rId33"/>
              </p:custDataLst>
            </p:nvPr>
          </p:nvSpPr>
          <p:spPr>
            <a:xfrm>
              <a:off x="5006656" y="5300877"/>
              <a:ext cx="329597" cy="171260"/>
            </a:xfrm>
            <a:prstGeom prst="triangle">
              <a:avLst/>
            </a:prstGeom>
            <a:solidFill>
              <a:srgbClr val="92D050"/>
            </a:solidFill>
            <a:ln w="12700" cap="flat" cmpd="sng" algn="ctr">
              <a:solidFill>
                <a:srgbClr val="FF0000"/>
              </a:solidFill>
              <a:prstDash val="solid"/>
              <a:miter lim="800000"/>
            </a:ln>
            <a:effectLst/>
          </p:spPr>
          <p:txBody>
            <a:bodyPr rtlCol="0" anchor="ctr"/>
            <a:lstStyle/>
            <a:p>
              <a:pPr algn="ctr"/>
              <a:endParaRPr lang="zh-CN" altLang="en-US" sz="1600" kern="0">
                <a:solidFill>
                  <a:prstClr val="white"/>
                </a:solidFill>
                <a:latin typeface="等线" panose="02010600030101010101" charset="-122"/>
                <a:ea typeface="等线" panose="02010600030101010101" charset="-122"/>
              </a:endParaRPr>
            </a:p>
          </p:txBody>
        </p:sp>
        <p:sp>
          <p:nvSpPr>
            <p:cNvPr id="54" name="等腰三角形 53"/>
            <p:cNvSpPr/>
            <p:nvPr>
              <p:custDataLst>
                <p:tags r:id="rId34"/>
              </p:custDataLst>
            </p:nvPr>
          </p:nvSpPr>
          <p:spPr>
            <a:xfrm>
              <a:off x="7192308" y="5293271"/>
              <a:ext cx="329597" cy="171260"/>
            </a:xfrm>
            <a:prstGeom prst="triangle">
              <a:avLst/>
            </a:prstGeom>
            <a:solidFill>
              <a:srgbClr val="92D050"/>
            </a:solidFill>
            <a:ln w="12700" cap="flat" cmpd="sng" algn="ctr">
              <a:solidFill>
                <a:srgbClr val="FF0000"/>
              </a:solidFill>
              <a:prstDash val="solid"/>
              <a:miter lim="800000"/>
            </a:ln>
            <a:effectLst/>
          </p:spPr>
          <p:txBody>
            <a:bodyPr rtlCol="0" anchor="ctr"/>
            <a:lstStyle/>
            <a:p>
              <a:pPr algn="ctr"/>
              <a:endParaRPr lang="zh-CN" altLang="en-US" sz="1600" kern="0">
                <a:solidFill>
                  <a:prstClr val="white"/>
                </a:solidFill>
                <a:latin typeface="等线" panose="02010600030101010101" charset="-122"/>
                <a:ea typeface="等线" panose="02010600030101010101" charset="-122"/>
              </a:endParaRPr>
            </a:p>
          </p:txBody>
        </p:sp>
        <p:sp>
          <p:nvSpPr>
            <p:cNvPr id="55" name="等腰三角形 54"/>
            <p:cNvSpPr/>
            <p:nvPr>
              <p:custDataLst>
                <p:tags r:id="rId35"/>
              </p:custDataLst>
            </p:nvPr>
          </p:nvSpPr>
          <p:spPr>
            <a:xfrm>
              <a:off x="9395322" y="5293271"/>
              <a:ext cx="329597" cy="171260"/>
            </a:xfrm>
            <a:prstGeom prst="triangle">
              <a:avLst/>
            </a:prstGeom>
            <a:solidFill>
              <a:srgbClr val="92D050"/>
            </a:solidFill>
            <a:ln w="12700" cap="flat" cmpd="sng" algn="ctr">
              <a:solidFill>
                <a:srgbClr val="FF0000"/>
              </a:solidFill>
              <a:prstDash val="solid"/>
              <a:miter lim="800000"/>
            </a:ln>
            <a:effectLst/>
          </p:spPr>
          <p:txBody>
            <a:bodyPr rtlCol="0" anchor="ctr"/>
            <a:lstStyle/>
            <a:p>
              <a:pPr algn="ctr"/>
              <a:endParaRPr lang="zh-CN" altLang="en-US" sz="1600" kern="0">
                <a:solidFill>
                  <a:prstClr val="white"/>
                </a:solidFill>
                <a:latin typeface="等线" panose="02010600030101010101" charset="-122"/>
                <a:ea typeface="等线" panose="02010600030101010101" charset="-122"/>
              </a:endParaRPr>
            </a:p>
          </p:txBody>
        </p:sp>
      </p:grpSp>
    </p:spTree>
    <p:custDataLst>
      <p:tags r:id="rId36"/>
    </p:custDataLst>
  </p:cSld>
  <p:clrMapOvr>
    <a:masterClrMapping/>
  </p:clrMapOvr>
  <mc:AlternateContent xmlns:mc="http://schemas.openxmlformats.org/markup-compatibility/2006">
    <mc:Choice xmlns:p14="http://schemas.microsoft.com/office/powerpoint/2010/main" Requires="p14">
      <p:transition spd="slow" p14:dur="2000" advTm="153614"/>
    </mc:Choice>
    <mc:Fallback>
      <p:transition spd="slow" advTm="1536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up)">
                                      <p:cBhvr>
                                        <p:cTn id="7" dur="5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wipe(up)">
                                      <p:cBhvr>
                                        <p:cTn id="12" dur="500"/>
                                        <p:tgtEl>
                                          <p:spTgt spid="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1">
                                            <p:txEl>
                                              <p:pRg st="2" end="2"/>
                                            </p:txEl>
                                          </p:spTgt>
                                        </p:tgtEl>
                                        <p:attrNameLst>
                                          <p:attrName>style.visibility</p:attrName>
                                        </p:attrNameLst>
                                      </p:cBhvr>
                                      <p:to>
                                        <p:strVal val="visible"/>
                                      </p:to>
                                    </p:set>
                                    <p:animEffect transition="in" filter="wipe(up)">
                                      <p:cBhvr>
                                        <p:cTn id="22" dur="500"/>
                                        <p:tgtEl>
                                          <p:spTgt spid="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1">
                                            <p:txEl>
                                              <p:pRg st="3" end="3"/>
                                            </p:txEl>
                                          </p:spTgt>
                                        </p:tgtEl>
                                        <p:attrNameLst>
                                          <p:attrName>style.visibility</p:attrName>
                                        </p:attrNameLst>
                                      </p:cBhvr>
                                      <p:to>
                                        <p:strVal val="visible"/>
                                      </p:to>
                                    </p:set>
                                    <p:animEffect transition="in" filter="wipe(up)">
                                      <p:cBhvr>
                                        <p:cTn id="27" dur="500"/>
                                        <p:tgtEl>
                                          <p:spTgt spid="4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1">
                                            <p:txEl>
                                              <p:pRg st="4" end="4"/>
                                            </p:txEl>
                                          </p:spTgt>
                                        </p:tgtEl>
                                        <p:attrNameLst>
                                          <p:attrName>style.visibility</p:attrName>
                                        </p:attrNameLst>
                                      </p:cBhvr>
                                      <p:to>
                                        <p:strVal val="visible"/>
                                      </p:to>
                                    </p:set>
                                    <p:animEffect transition="in" filter="wipe(up)">
                                      <p:cBhvr>
                                        <p:cTn id="32" dur="500"/>
                                        <p:tgtEl>
                                          <p:spTgt spid="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MIPS</a:t>
            </a:r>
            <a:r>
              <a:rPr lang="zh-CN" altLang="en-US" dirty="0"/>
              <a:t>五段流水数据通路</a:t>
            </a:r>
            <a:endParaRPr lang="zh-CN" altLang="en-US" dirty="0"/>
          </a:p>
        </p:txBody>
      </p:sp>
      <p:sp>
        <p:nvSpPr>
          <p:cNvPr id="189" name="Rectangle 3"/>
          <p:cNvSpPr txBox="1">
            <a:spLocks noChangeArrowheads="1"/>
          </p:cNvSpPr>
          <p:nvPr/>
        </p:nvSpPr>
        <p:spPr>
          <a:xfrm>
            <a:off x="1080770" y="5929630"/>
            <a:ext cx="10166985" cy="560705"/>
          </a:xfrm>
          <a:prstGeom prst="rect">
            <a:avLst/>
          </a:prstGeom>
        </p:spPr>
        <p:txBody>
          <a:bodyPr vert="horz" lIns="91440" tIns="45720" rIns="91440" bIns="45720" rtlCol="0"/>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1800" dirty="0">
                <a:solidFill>
                  <a:srgbClr val="C00000"/>
                </a:solidFill>
              </a:rPr>
              <a:t>内存争用</a:t>
            </a:r>
            <a:r>
              <a:rPr lang="zh-CN" altLang="en-US" sz="1800" dirty="0">
                <a:solidFill>
                  <a:schemeClr val="bg2">
                    <a:lumMod val="25000"/>
                  </a:schemeClr>
                </a:solidFill>
              </a:rPr>
              <a:t>：</a:t>
            </a:r>
            <a:r>
              <a:rPr lang="zh-CN" altLang="en-US" sz="1800" b="0" dirty="0">
                <a:solidFill>
                  <a:schemeClr val="bg2">
                    <a:lumMod val="25000"/>
                  </a:schemeClr>
                </a:solidFill>
              </a:rPr>
              <a:t>哈佛结构</a:t>
            </a:r>
            <a:r>
              <a:rPr lang="zh-CN" altLang="en-US" sz="1800" dirty="0">
                <a:solidFill>
                  <a:schemeClr val="bg2">
                    <a:lumMod val="25000"/>
                  </a:schemeClr>
                </a:solidFill>
              </a:rPr>
              <a:t>；    </a:t>
            </a:r>
            <a:r>
              <a:rPr lang="zh-CN" altLang="en-US" sz="1800" dirty="0">
                <a:solidFill>
                  <a:srgbClr val="C00000"/>
                </a:solidFill>
              </a:rPr>
              <a:t>寄存器争用： </a:t>
            </a:r>
            <a:r>
              <a:rPr lang="zh-CN" altLang="en-US" sz="1800" b="0" dirty="0">
                <a:solidFill>
                  <a:schemeClr val="bg2">
                    <a:lumMod val="25000"/>
                  </a:schemeClr>
                </a:solidFill>
              </a:rPr>
              <a:t>寄存器读，寄存器写</a:t>
            </a:r>
            <a:r>
              <a:rPr lang="en-US" altLang="zh-CN" sz="1800" b="0" dirty="0">
                <a:solidFill>
                  <a:schemeClr val="bg2">
                    <a:lumMod val="25000"/>
                  </a:schemeClr>
                </a:solidFill>
              </a:rPr>
              <a:t>    </a:t>
            </a:r>
            <a:r>
              <a:rPr lang="en-US" altLang="zh-CN" sz="1800" dirty="0">
                <a:solidFill>
                  <a:srgbClr val="C00000"/>
                </a:solidFill>
                <a:sym typeface="+mn-ea"/>
              </a:rPr>
              <a:t>ALU</a:t>
            </a:r>
            <a:r>
              <a:rPr lang="zh-CN" altLang="en-US" sz="1800" dirty="0">
                <a:solidFill>
                  <a:srgbClr val="C00000"/>
                </a:solidFill>
                <a:sym typeface="+mn-ea"/>
              </a:rPr>
              <a:t>争用： </a:t>
            </a:r>
            <a:r>
              <a:rPr lang="zh-CN" altLang="en-US" sz="1800" b="0" dirty="0">
                <a:solidFill>
                  <a:schemeClr val="bg2">
                    <a:lumMod val="25000"/>
                  </a:schemeClr>
                </a:solidFill>
                <a:sym typeface="+mn-ea"/>
              </a:rPr>
              <a:t>恢复两个加法器</a:t>
            </a:r>
            <a:endParaRPr lang="zh-CN" altLang="en-US" sz="1800" b="0" dirty="0">
              <a:solidFill>
                <a:schemeClr val="bg2">
                  <a:lumMod val="25000"/>
                </a:schemeClr>
              </a:solidFill>
              <a:sym typeface="+mn-ea"/>
            </a:endParaRPr>
          </a:p>
        </p:txBody>
      </p:sp>
      <p:grpSp>
        <p:nvGrpSpPr>
          <p:cNvPr id="24" name="组合 23"/>
          <p:cNvGrpSpPr/>
          <p:nvPr/>
        </p:nvGrpSpPr>
        <p:grpSpPr>
          <a:xfrm>
            <a:off x="1274324" y="1184024"/>
            <a:ext cx="9647359" cy="4364289"/>
            <a:chOff x="1668024" y="1152274"/>
            <a:chExt cx="9647359" cy="4364289"/>
          </a:xfrm>
        </p:grpSpPr>
        <p:cxnSp>
          <p:nvCxnSpPr>
            <p:cNvPr id="733" name="直接连接符 732"/>
            <p:cNvCxnSpPr/>
            <p:nvPr/>
          </p:nvCxnSpPr>
          <p:spPr>
            <a:xfrm>
              <a:off x="6557954" y="4059333"/>
              <a:ext cx="0" cy="206242"/>
            </a:xfrm>
            <a:prstGeom prst="line">
              <a:avLst/>
            </a:prstGeom>
            <a:noFill/>
            <a:ln w="6350" cap="flat" cmpd="sng" algn="ctr">
              <a:solidFill>
                <a:srgbClr val="5B9BD5"/>
              </a:solidFill>
              <a:prstDash val="solid"/>
              <a:miter lim="800000"/>
            </a:ln>
            <a:effectLst/>
          </p:spPr>
        </p:cxnSp>
        <p:cxnSp>
          <p:nvCxnSpPr>
            <p:cNvPr id="734" name="直接连接符 733"/>
            <p:cNvCxnSpPr/>
            <p:nvPr/>
          </p:nvCxnSpPr>
          <p:spPr>
            <a:xfrm>
              <a:off x="2024665" y="3344388"/>
              <a:ext cx="0" cy="206242"/>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470945" y="4435345"/>
              <a:ext cx="345788" cy="292739"/>
              <a:chOff x="1674530" y="3252387"/>
              <a:chExt cx="372218" cy="315114"/>
            </a:xfrm>
          </p:grpSpPr>
          <p:cxnSp>
            <p:nvCxnSpPr>
              <p:cNvPr id="736" name="直接连接符 735"/>
              <p:cNvCxnSpPr/>
              <p:nvPr/>
            </p:nvCxnSpPr>
            <p:spPr>
              <a:xfrm>
                <a:off x="1868559" y="3252387"/>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674530" y="3352057"/>
                <a:ext cx="37221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38" name="组合 737"/>
            <p:cNvGrpSpPr/>
            <p:nvPr/>
          </p:nvGrpSpPr>
          <p:grpSpPr>
            <a:xfrm>
              <a:off x="10713639" y="3989143"/>
              <a:ext cx="345788" cy="328983"/>
              <a:chOff x="8531090" y="3084163"/>
              <a:chExt cx="372218" cy="354129"/>
            </a:xfrm>
          </p:grpSpPr>
          <p:cxnSp>
            <p:nvCxnSpPr>
              <p:cNvPr id="739" name="直接连接符 738"/>
              <p:cNvCxnSpPr/>
              <p:nvPr/>
            </p:nvCxnSpPr>
            <p:spPr>
              <a:xfrm>
                <a:off x="8705935" y="3084163"/>
                <a:ext cx="0" cy="149962"/>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8531090" y="3222848"/>
                <a:ext cx="37221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41" name="组合 740"/>
            <p:cNvGrpSpPr/>
            <p:nvPr/>
          </p:nvGrpSpPr>
          <p:grpSpPr>
            <a:xfrm>
              <a:off x="3925143" y="5093120"/>
              <a:ext cx="348172" cy="423443"/>
              <a:chOff x="1972644" y="3154126"/>
              <a:chExt cx="374784" cy="369765"/>
            </a:xfrm>
          </p:grpSpPr>
          <p:sp>
            <p:nvSpPr>
              <p:cNvPr id="742" name="文本框 741"/>
              <p:cNvSpPr txBox="1"/>
              <p:nvPr/>
            </p:nvSpPr>
            <p:spPr>
              <a:xfrm>
                <a:off x="1972644" y="3349196"/>
                <a:ext cx="374784" cy="1746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743" name="直接连接符 742"/>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744" name="组合 743"/>
            <p:cNvGrpSpPr/>
            <p:nvPr/>
          </p:nvGrpSpPr>
          <p:grpSpPr>
            <a:xfrm>
              <a:off x="3868140" y="1763132"/>
              <a:ext cx="482792" cy="3332916"/>
              <a:chOff x="853537" y="1717759"/>
              <a:chExt cx="519694" cy="3587666"/>
            </a:xfrm>
          </p:grpSpPr>
          <p:sp>
            <p:nvSpPr>
              <p:cNvPr id="745" name="矩形 74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46" name="等腰三角形 74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47" name="文本框 746"/>
              <p:cNvSpPr txBox="1"/>
              <p:nvPr/>
            </p:nvSpPr>
            <p:spPr>
              <a:xfrm>
                <a:off x="853537" y="1717759"/>
                <a:ext cx="519694"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IF/ID</a:t>
                </a:r>
                <a:endPar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48" name="组合 747"/>
            <p:cNvGrpSpPr/>
            <p:nvPr/>
          </p:nvGrpSpPr>
          <p:grpSpPr>
            <a:xfrm>
              <a:off x="5679666" y="1763132"/>
              <a:ext cx="514065" cy="3332916"/>
              <a:chOff x="853537" y="1717759"/>
              <a:chExt cx="553357" cy="3587666"/>
            </a:xfrm>
          </p:grpSpPr>
          <p:sp>
            <p:nvSpPr>
              <p:cNvPr id="749" name="矩形 74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50" name="等腰三角形 74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51" name="文本框 750"/>
              <p:cNvSpPr txBox="1"/>
              <p:nvPr/>
            </p:nvSpPr>
            <p:spPr>
              <a:xfrm>
                <a:off x="853537" y="1717759"/>
                <a:ext cx="5533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ID/EX</a:t>
                </a:r>
                <a:endPar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52" name="直接箭头连接符 751"/>
            <p:cNvCxnSpPr/>
            <p:nvPr/>
          </p:nvCxnSpPr>
          <p:spPr>
            <a:xfrm>
              <a:off x="2483446" y="3224293"/>
              <a:ext cx="443661"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2130334" y="3224293"/>
              <a:ext cx="223240" cy="0"/>
            </a:xfrm>
            <a:prstGeom prst="straightConnector1">
              <a:avLst/>
            </a:prstGeom>
            <a:noFill/>
            <a:ln w="19050" cap="flat" cmpd="sng" algn="ctr">
              <a:solidFill>
                <a:sysClr val="windowText" lastClr="000000"/>
              </a:solidFill>
              <a:prstDash val="solid"/>
              <a:miter lim="800000"/>
              <a:tailEnd type="triangle"/>
            </a:ln>
            <a:effectLst/>
          </p:spPr>
        </p:cxnSp>
        <p:cxnSp>
          <p:nvCxnSpPr>
            <p:cNvPr id="754" name="直接箭头连接符 753"/>
            <p:cNvCxnSpPr/>
            <p:nvPr/>
          </p:nvCxnSpPr>
          <p:spPr>
            <a:xfrm>
              <a:off x="3677061" y="3689290"/>
              <a:ext cx="325739"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3514191" y="2414903"/>
              <a:ext cx="488610" cy="0"/>
            </a:xfrm>
            <a:prstGeom prst="straightConnector1">
              <a:avLst/>
            </a:prstGeom>
            <a:noFill/>
            <a:ln w="19050" cap="flat" cmpd="sng" algn="ctr">
              <a:solidFill>
                <a:sysClr val="windowText" lastClr="000000"/>
              </a:solidFill>
              <a:prstDash val="solid"/>
              <a:miter lim="800000"/>
              <a:tailEnd type="triangle"/>
            </a:ln>
            <a:effectLst/>
          </p:spPr>
        </p:cxnSp>
        <p:cxnSp>
          <p:nvCxnSpPr>
            <p:cNvPr id="757" name="直接箭头连接符 756"/>
            <p:cNvCxnSpPr/>
            <p:nvPr/>
          </p:nvCxnSpPr>
          <p:spPr>
            <a:xfrm>
              <a:off x="7187224" y="3714699"/>
              <a:ext cx="429860" cy="0"/>
            </a:xfrm>
            <a:prstGeom prst="straightConnector1">
              <a:avLst/>
            </a:prstGeom>
            <a:noFill/>
            <a:ln w="19050" cap="flat" cmpd="sng" algn="ctr">
              <a:solidFill>
                <a:sysClr val="windowText" lastClr="000000"/>
              </a:solidFill>
              <a:prstDash val="solid"/>
              <a:miter lim="800000"/>
              <a:tailEnd type="triangle"/>
            </a:ln>
            <a:effectLst/>
          </p:spPr>
        </p:cxnSp>
        <p:grpSp>
          <p:nvGrpSpPr>
            <p:cNvPr id="758" name="组合 757"/>
            <p:cNvGrpSpPr/>
            <p:nvPr/>
          </p:nvGrpSpPr>
          <p:grpSpPr>
            <a:xfrm>
              <a:off x="6835934" y="3284364"/>
              <a:ext cx="557552" cy="763389"/>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60" name="文本框 759"/>
              <p:cNvSpPr txBox="1"/>
              <p:nvPr/>
            </p:nvSpPr>
            <p:spPr>
              <a:xfrm>
                <a:off x="2794661" y="4453118"/>
                <a:ext cx="398942" cy="1984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ALU</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1" name="文本框 760"/>
              <p:cNvSpPr txBox="1"/>
              <p:nvPr/>
            </p:nvSpPr>
            <p:spPr>
              <a:xfrm>
                <a:off x="3042929" y="4391513"/>
                <a:ext cx="350627" cy="16791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Zero</a:t>
                </a:r>
                <a:endParaRPr kumimoji="0" lang="en-US" altLang="zh-CN" sz="5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2" name="文本框 761"/>
              <p:cNvSpPr txBox="1"/>
              <p:nvPr/>
            </p:nvSpPr>
            <p:spPr>
              <a:xfrm>
                <a:off x="2990710" y="4553116"/>
                <a:ext cx="404119" cy="16791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5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Result</a:t>
                </a:r>
                <a:endParaRPr kumimoji="0" lang="en-US" altLang="zh-CN" sz="5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63" name="直接箭头连接符 762"/>
            <p:cNvCxnSpPr/>
            <p:nvPr/>
          </p:nvCxnSpPr>
          <p:spPr>
            <a:xfrm>
              <a:off x="6629849" y="3941148"/>
              <a:ext cx="206085"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6018769" y="3383445"/>
              <a:ext cx="808496"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633791" y="2308986"/>
              <a:ext cx="393056" cy="586223"/>
              <a:chOff x="6528478" y="2016658"/>
              <a:chExt cx="523165"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67" name="文本框 766"/>
              <p:cNvSpPr txBox="1"/>
              <p:nvPr/>
            </p:nvSpPr>
            <p:spPr>
              <a:xfrm>
                <a:off x="6528478" y="2220851"/>
                <a:ext cx="523165" cy="2153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68" name="组合 767"/>
            <p:cNvGrpSpPr/>
            <p:nvPr/>
          </p:nvGrpSpPr>
          <p:grpSpPr>
            <a:xfrm>
              <a:off x="3150346" y="2114274"/>
              <a:ext cx="373482" cy="590648"/>
              <a:chOff x="2890754" y="1790940"/>
              <a:chExt cx="402029"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70" name="文本框 769"/>
              <p:cNvSpPr txBox="1"/>
              <p:nvPr/>
            </p:nvSpPr>
            <p:spPr>
              <a:xfrm>
                <a:off x="2899727" y="2016504"/>
                <a:ext cx="39305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71" name="组合 770"/>
            <p:cNvGrpSpPr/>
            <p:nvPr/>
          </p:nvGrpSpPr>
          <p:grpSpPr>
            <a:xfrm>
              <a:off x="4552525" y="3214613"/>
              <a:ext cx="1040031" cy="945860"/>
              <a:chOff x="2233099" y="4481511"/>
              <a:chExt cx="1111013"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73" name="文本框 772"/>
              <p:cNvSpPr txBox="1"/>
              <p:nvPr/>
            </p:nvSpPr>
            <p:spPr>
              <a:xfrm>
                <a:off x="2233099" y="4515647"/>
                <a:ext cx="351888" cy="20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R1#</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4" name="文本框 773"/>
              <p:cNvSpPr txBox="1"/>
              <p:nvPr/>
            </p:nvSpPr>
            <p:spPr>
              <a:xfrm>
                <a:off x="2429808" y="4893149"/>
                <a:ext cx="745240" cy="37161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kern="0" dirty="0">
                    <a:solidFill>
                      <a:prstClr val="black"/>
                    </a:solidFill>
                    <a:latin typeface="微软雅黑" panose="020B0503020204020204" pitchFamily="34" charset="-122"/>
                    <a:ea typeface="微软雅黑" panose="020B0503020204020204" pitchFamily="34" charset="-122"/>
                  </a:rPr>
                  <a:t>读逻辑</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5" name="文本框 774"/>
              <p:cNvSpPr txBox="1"/>
              <p:nvPr/>
            </p:nvSpPr>
            <p:spPr>
              <a:xfrm>
                <a:off x="2971058" y="4579772"/>
                <a:ext cx="363025" cy="20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7" name="文本框 776"/>
              <p:cNvSpPr txBox="1"/>
              <p:nvPr/>
            </p:nvSpPr>
            <p:spPr>
              <a:xfrm>
                <a:off x="2233099" y="4714175"/>
                <a:ext cx="351888" cy="20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R2#</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8" name="文本框 777"/>
              <p:cNvSpPr txBox="1"/>
              <p:nvPr/>
            </p:nvSpPr>
            <p:spPr>
              <a:xfrm>
                <a:off x="2981087" y="5079368"/>
                <a:ext cx="363025" cy="20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80" name="组合 779"/>
            <p:cNvGrpSpPr/>
            <p:nvPr/>
          </p:nvGrpSpPr>
          <p:grpSpPr>
            <a:xfrm>
              <a:off x="6366459" y="3713336"/>
              <a:ext cx="355895" cy="469100"/>
              <a:chOff x="1245770" y="3824904"/>
              <a:chExt cx="383097"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82" name="文本框 781"/>
              <p:cNvSpPr txBox="1"/>
              <p:nvPr/>
            </p:nvSpPr>
            <p:spPr>
              <a:xfrm>
                <a:off x="1257533" y="3955851"/>
                <a:ext cx="371334"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3" name="文本框 782"/>
              <p:cNvSpPr txBox="1"/>
              <p:nvPr/>
            </p:nvSpPr>
            <p:spPr>
              <a:xfrm>
                <a:off x="1250558" y="3854112"/>
                <a:ext cx="241920"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4" name="文本框 783"/>
              <p:cNvSpPr txBox="1"/>
              <p:nvPr/>
            </p:nvSpPr>
            <p:spPr>
              <a:xfrm>
                <a:off x="1245770" y="4063984"/>
                <a:ext cx="241920"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85" name="直接箭头连接符 784"/>
            <p:cNvCxnSpPr/>
            <p:nvPr/>
          </p:nvCxnSpPr>
          <p:spPr>
            <a:xfrm>
              <a:off x="2944917" y="2619383"/>
              <a:ext cx="213765"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2723311" y="2248700"/>
              <a:ext cx="435371"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2716582" y="2248700"/>
              <a:ext cx="0" cy="977838"/>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3463877" y="2414903"/>
              <a:ext cx="538924"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3677061" y="1757309"/>
              <a:ext cx="0" cy="657594"/>
            </a:xfrm>
            <a:prstGeom prst="line">
              <a:avLst/>
            </a:prstGeom>
            <a:noFill/>
            <a:ln w="19050" cap="sq" cmpd="sng" algn="ctr">
              <a:solidFill>
                <a:sysClr val="windowText" lastClr="000000"/>
              </a:solidFill>
              <a:prstDash val="solid"/>
              <a:miter lim="800000"/>
              <a:tailEnd type="oval"/>
            </a:ln>
            <a:effectLst/>
          </p:spPr>
        </p:cxnSp>
        <p:cxnSp>
          <p:nvCxnSpPr>
            <p:cNvPr id="790" name="直接箭头连接符 789"/>
            <p:cNvCxnSpPr/>
            <p:nvPr/>
          </p:nvCxnSpPr>
          <p:spPr>
            <a:xfrm>
              <a:off x="1769562" y="1757309"/>
              <a:ext cx="1907499"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1769562" y="1757309"/>
              <a:ext cx="0" cy="1333485"/>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1769562" y="3090794"/>
              <a:ext cx="118749"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1668024" y="1633428"/>
              <a:ext cx="5627834"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1668024" y="1648230"/>
              <a:ext cx="0" cy="1684692"/>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1668024" y="3333579"/>
              <a:ext cx="225121"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315905" y="1633428"/>
              <a:ext cx="0" cy="985955"/>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6980937" y="2619383"/>
              <a:ext cx="315893"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377386" y="2780838"/>
              <a:ext cx="287904" cy="0"/>
            </a:xfrm>
            <a:prstGeom prst="straightConnector1">
              <a:avLst/>
            </a:prstGeom>
            <a:noFill/>
            <a:ln w="19050" cap="flat" cmpd="sng" algn="ctr">
              <a:solidFill>
                <a:sysClr val="windowText" lastClr="000000"/>
              </a:solidFill>
              <a:prstDash val="solid"/>
              <a:miter lim="800000"/>
              <a:tailEnd type="triangle"/>
            </a:ln>
            <a:effectLst/>
          </p:spPr>
        </p:cxnSp>
        <p:cxnSp>
          <p:nvCxnSpPr>
            <p:cNvPr id="799" name="直接箭头连接符 798"/>
            <p:cNvCxnSpPr/>
            <p:nvPr/>
          </p:nvCxnSpPr>
          <p:spPr>
            <a:xfrm>
              <a:off x="6010100" y="2405982"/>
              <a:ext cx="644262" cy="0"/>
            </a:xfrm>
            <a:prstGeom prst="straightConnector1">
              <a:avLst/>
            </a:prstGeom>
            <a:noFill/>
            <a:ln w="19050" cap="flat" cmpd="sng" algn="ctr">
              <a:solidFill>
                <a:sysClr val="windowText" lastClr="000000"/>
              </a:solidFill>
              <a:prstDash val="solid"/>
              <a:miter lim="800000"/>
              <a:tailEnd type="triangle"/>
            </a:ln>
            <a:effectLst/>
          </p:spPr>
        </p:cxnSp>
        <p:cxnSp>
          <p:nvCxnSpPr>
            <p:cNvPr id="800" name="直接箭头连接符 799"/>
            <p:cNvCxnSpPr/>
            <p:nvPr/>
          </p:nvCxnSpPr>
          <p:spPr>
            <a:xfrm>
              <a:off x="4198575" y="2414903"/>
              <a:ext cx="1615752" cy="0"/>
            </a:xfrm>
            <a:prstGeom prst="straightConnector1">
              <a:avLst/>
            </a:prstGeom>
            <a:noFill/>
            <a:ln w="19050" cap="flat" cmpd="sng" algn="ctr">
              <a:solidFill>
                <a:sysClr val="windowText" lastClr="000000"/>
              </a:solidFill>
              <a:prstDash val="solid"/>
              <a:miter lim="800000"/>
              <a:tailEnd type="triangle"/>
            </a:ln>
            <a:effectLst/>
          </p:spPr>
        </p:cxnSp>
        <p:cxnSp>
          <p:nvCxnSpPr>
            <p:cNvPr id="804" name="直接箭头连接符 803"/>
            <p:cNvCxnSpPr/>
            <p:nvPr/>
          </p:nvCxnSpPr>
          <p:spPr>
            <a:xfrm>
              <a:off x="9571296" y="3728355"/>
              <a:ext cx="328437" cy="0"/>
            </a:xfrm>
            <a:prstGeom prst="straightConnector1">
              <a:avLst/>
            </a:prstGeom>
            <a:noFill/>
            <a:ln w="19050" cap="flat" cmpd="sng" algn="ctr">
              <a:solidFill>
                <a:sysClr val="windowText" lastClr="000000"/>
              </a:solidFill>
              <a:prstDash val="solid"/>
              <a:miter lim="800000"/>
              <a:tailEnd type="triangle"/>
            </a:ln>
            <a:effectLst/>
          </p:spPr>
        </p:cxnSp>
        <p:cxnSp>
          <p:nvCxnSpPr>
            <p:cNvPr id="805" name="直接箭头连接符 804"/>
            <p:cNvCxnSpPr/>
            <p:nvPr/>
          </p:nvCxnSpPr>
          <p:spPr>
            <a:xfrm>
              <a:off x="9717404" y="3968826"/>
              <a:ext cx="190997"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9717404" y="3968826"/>
              <a:ext cx="0" cy="757525"/>
            </a:xfrm>
            <a:prstGeom prst="line">
              <a:avLst/>
            </a:prstGeom>
            <a:noFill/>
            <a:ln w="19050" cap="sq" cmpd="sng" algn="ctr">
              <a:solidFill>
                <a:sysClr val="windowText" lastClr="000000"/>
              </a:solidFill>
              <a:prstDash val="solid"/>
              <a:miter lim="800000"/>
              <a:tailEnd type="none"/>
            </a:ln>
            <a:effectLst/>
          </p:spPr>
        </p:cxnSp>
        <p:cxnSp>
          <p:nvCxnSpPr>
            <p:cNvPr id="807" name="直接箭头连接符 806"/>
            <p:cNvCxnSpPr/>
            <p:nvPr/>
          </p:nvCxnSpPr>
          <p:spPr>
            <a:xfrm>
              <a:off x="9597301" y="4728127"/>
              <a:ext cx="111435" cy="0"/>
            </a:xfrm>
            <a:prstGeom prst="straightConnector1">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8866062" y="3734994"/>
              <a:ext cx="538392"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8017237" y="4726351"/>
              <a:ext cx="1388401" cy="0"/>
            </a:xfrm>
            <a:prstGeom prst="straightConnector1">
              <a:avLst/>
            </a:prstGeom>
            <a:noFill/>
            <a:ln w="19050" cap="flat" cmpd="sng" algn="ctr">
              <a:solidFill>
                <a:sysClr val="windowText" lastClr="000000"/>
              </a:solidFill>
              <a:prstDash val="solid"/>
              <a:miter lim="800000"/>
              <a:tailEnd type="triangle"/>
            </a:ln>
            <a:effectLst/>
          </p:spPr>
        </p:cxnSp>
        <p:cxnSp>
          <p:nvCxnSpPr>
            <p:cNvPr id="810" name="直接连接符 809"/>
            <p:cNvCxnSpPr/>
            <p:nvPr/>
          </p:nvCxnSpPr>
          <p:spPr>
            <a:xfrm>
              <a:off x="8017237" y="3722896"/>
              <a:ext cx="0" cy="994786"/>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782245" y="3726169"/>
              <a:ext cx="461388"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127921" y="4345125"/>
              <a:ext cx="1475887" cy="0"/>
            </a:xfrm>
            <a:prstGeom prst="straightConnector1">
              <a:avLst/>
            </a:prstGeom>
            <a:noFill/>
            <a:ln w="19050" cap="flat" cmpd="sng" algn="ctr">
              <a:solidFill>
                <a:sysClr val="windowText" lastClr="000000"/>
              </a:solidFill>
              <a:prstDash val="solid"/>
              <a:miter lim="800000"/>
              <a:tailEnd type="triangle"/>
            </a:ln>
            <a:effectLst/>
          </p:spPr>
        </p:cxnSp>
        <p:cxnSp>
          <p:nvCxnSpPr>
            <p:cNvPr id="814" name="直接箭头连接符 813"/>
            <p:cNvCxnSpPr/>
            <p:nvPr/>
          </p:nvCxnSpPr>
          <p:spPr>
            <a:xfrm>
              <a:off x="6023274" y="5038531"/>
              <a:ext cx="1585137" cy="0"/>
            </a:xfrm>
            <a:prstGeom prst="straightConnector1">
              <a:avLst/>
            </a:prstGeom>
            <a:noFill/>
            <a:ln w="19050" cap="flat" cmpd="sng" algn="ctr">
              <a:solidFill>
                <a:sysClr val="windowText" lastClr="000000"/>
              </a:solidFill>
              <a:prstDash val="solid"/>
              <a:miter lim="800000"/>
              <a:tailEnd type="triangle"/>
            </a:ln>
            <a:effectLst/>
          </p:spPr>
        </p:cxnSp>
        <p:cxnSp>
          <p:nvCxnSpPr>
            <p:cNvPr id="816" name="直接箭头连接符 815"/>
            <p:cNvCxnSpPr/>
            <p:nvPr/>
          </p:nvCxnSpPr>
          <p:spPr>
            <a:xfrm>
              <a:off x="9597342" y="5032196"/>
              <a:ext cx="641059" cy="0"/>
            </a:xfrm>
            <a:prstGeom prst="straightConnector1">
              <a:avLst/>
            </a:prstGeom>
            <a:noFill/>
            <a:ln w="19050" cap="sq" cmpd="sng" algn="ctr">
              <a:solidFill>
                <a:sysClr val="windowText" lastClr="000000"/>
              </a:solidFill>
              <a:prstDash val="solid"/>
              <a:miter lim="800000"/>
              <a:tailEnd type="none"/>
            </a:ln>
            <a:effectLst/>
          </p:spPr>
        </p:cxnSp>
        <p:cxnSp>
          <p:nvCxnSpPr>
            <p:cNvPr id="818" name="直接连接符 817"/>
            <p:cNvCxnSpPr/>
            <p:nvPr/>
          </p:nvCxnSpPr>
          <p:spPr>
            <a:xfrm>
              <a:off x="4333825" y="3332922"/>
              <a:ext cx="0" cy="1705609"/>
            </a:xfrm>
            <a:prstGeom prst="line">
              <a:avLst/>
            </a:prstGeom>
            <a:noFill/>
            <a:ln w="19050" cap="sq" cmpd="sng" algn="ctr">
              <a:solidFill>
                <a:sysClr val="windowText" lastClr="000000"/>
              </a:solidFill>
              <a:prstDash val="solid"/>
              <a:miter lim="800000"/>
              <a:tailEnd type="none"/>
            </a:ln>
            <a:effectLst/>
          </p:spPr>
        </p:cxnSp>
        <p:cxnSp>
          <p:nvCxnSpPr>
            <p:cNvPr id="819" name="直接箭头连接符 818"/>
            <p:cNvCxnSpPr/>
            <p:nvPr/>
          </p:nvCxnSpPr>
          <p:spPr>
            <a:xfrm>
              <a:off x="4333825" y="5038531"/>
              <a:ext cx="1480501" cy="0"/>
            </a:xfrm>
            <a:prstGeom prst="straightConnector1">
              <a:avLst/>
            </a:prstGeom>
            <a:noFill/>
            <a:ln w="19050" cap="flat" cmpd="sng" algn="ctr">
              <a:solidFill>
                <a:sysClr val="windowText" lastClr="000000"/>
              </a:solidFill>
              <a:prstDash val="solid"/>
              <a:miter lim="800000"/>
              <a:tailEnd type="triangle"/>
            </a:ln>
            <a:effectLst/>
          </p:spPr>
        </p:cxnSp>
        <p:cxnSp>
          <p:nvCxnSpPr>
            <p:cNvPr id="820" name="直接箭头连接符 819"/>
            <p:cNvCxnSpPr/>
            <p:nvPr/>
          </p:nvCxnSpPr>
          <p:spPr>
            <a:xfrm>
              <a:off x="4333825" y="4627954"/>
              <a:ext cx="801404"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1" name="直接箭头连接符 820"/>
            <p:cNvCxnSpPr/>
            <p:nvPr/>
          </p:nvCxnSpPr>
          <p:spPr>
            <a:xfrm>
              <a:off x="5502328" y="4627954"/>
              <a:ext cx="311999" cy="0"/>
            </a:xfrm>
            <a:prstGeom prst="straightConnector1">
              <a:avLst/>
            </a:prstGeom>
            <a:noFill/>
            <a:ln w="19050" cap="flat" cmpd="sng" algn="ctr">
              <a:solidFill>
                <a:sysClr val="windowText" lastClr="000000"/>
              </a:solidFill>
              <a:prstDash val="solid"/>
              <a:miter lim="800000"/>
              <a:tailEnd type="triangle"/>
            </a:ln>
            <a:effectLst/>
          </p:spPr>
        </p:cxnSp>
        <p:cxnSp>
          <p:nvCxnSpPr>
            <p:cNvPr id="822" name="直接连接符 821"/>
            <p:cNvCxnSpPr/>
            <p:nvPr/>
          </p:nvCxnSpPr>
          <p:spPr>
            <a:xfrm>
              <a:off x="10227938" y="3706241"/>
              <a:ext cx="10463" cy="1325955"/>
            </a:xfrm>
            <a:prstGeom prst="line">
              <a:avLst/>
            </a:prstGeom>
            <a:noFill/>
            <a:ln w="19050" cap="sq" cmpd="sng" algn="ctr">
              <a:solidFill>
                <a:sysClr val="windowText" lastClr="000000"/>
              </a:solidFill>
              <a:prstDash val="solid"/>
              <a:miter lim="800000"/>
              <a:tailEnd type="none"/>
            </a:ln>
            <a:effectLst/>
          </p:spPr>
        </p:cxnSp>
        <p:cxnSp>
          <p:nvCxnSpPr>
            <p:cNvPr id="824" name="直接箭头连接符 823"/>
            <p:cNvCxnSpPr/>
            <p:nvPr/>
          </p:nvCxnSpPr>
          <p:spPr>
            <a:xfrm>
              <a:off x="5534782" y="3846367"/>
              <a:ext cx="2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25" name="直接箭头连接符 824"/>
            <p:cNvCxnSpPr/>
            <p:nvPr/>
          </p:nvCxnSpPr>
          <p:spPr>
            <a:xfrm>
              <a:off x="5534782" y="3391905"/>
              <a:ext cx="2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26" name="直接箭头连接符 825"/>
            <p:cNvCxnSpPr/>
            <p:nvPr/>
          </p:nvCxnSpPr>
          <p:spPr>
            <a:xfrm>
              <a:off x="4326745" y="3332922"/>
              <a:ext cx="263048"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333825" y="3509235"/>
              <a:ext cx="25593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10224345" y="3706241"/>
              <a:ext cx="155404"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129268" y="4336541"/>
              <a:ext cx="369569" cy="589516"/>
              <a:chOff x="3762650" y="5685260"/>
              <a:chExt cx="39781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0000"/>
                  </a:solidFill>
                  <a:effectLst/>
                  <a:uLnTx/>
                  <a:uFillTx/>
                  <a:latin typeface="等线" panose="02010600030101010101" charset="-122"/>
                  <a:ea typeface="等线" panose="02010600030101010101" charset="-122"/>
                  <a:cs typeface="+mn-cs"/>
                </a:endParaRPr>
              </a:p>
            </p:txBody>
          </p:sp>
          <p:sp>
            <p:nvSpPr>
              <p:cNvPr id="832" name="文本框 831"/>
              <p:cNvSpPr txBox="1"/>
              <p:nvPr/>
            </p:nvSpPr>
            <p:spPr>
              <a:xfrm>
                <a:off x="3770617" y="5855433"/>
                <a:ext cx="38985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符号</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33" name="直接连接符 832"/>
            <p:cNvCxnSpPr/>
            <p:nvPr/>
          </p:nvCxnSpPr>
          <p:spPr>
            <a:xfrm>
              <a:off x="6252308" y="2986899"/>
              <a:ext cx="0" cy="1641055"/>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6010100" y="4627954"/>
              <a:ext cx="242207"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136589" y="3849965"/>
              <a:ext cx="0" cy="492504"/>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6023274" y="3845031"/>
              <a:ext cx="404229"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208110" y="3687543"/>
              <a:ext cx="126599"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1835307" y="2976794"/>
              <a:ext cx="355895" cy="469100"/>
              <a:chOff x="1245770" y="3824904"/>
              <a:chExt cx="383097"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40" name="文本框 839"/>
              <p:cNvSpPr txBox="1"/>
              <p:nvPr/>
            </p:nvSpPr>
            <p:spPr>
              <a:xfrm>
                <a:off x="1257533" y="3963369"/>
                <a:ext cx="371334"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1" name="文本框 840"/>
              <p:cNvSpPr txBox="1"/>
              <p:nvPr/>
            </p:nvSpPr>
            <p:spPr>
              <a:xfrm>
                <a:off x="1250558" y="3859229"/>
                <a:ext cx="241920"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2" name="文本框 841"/>
              <p:cNvSpPr txBox="1"/>
              <p:nvPr/>
            </p:nvSpPr>
            <p:spPr>
              <a:xfrm>
                <a:off x="1245770" y="4063984"/>
                <a:ext cx="241920" cy="14681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43" name="组合 842"/>
            <p:cNvGrpSpPr/>
            <p:nvPr/>
          </p:nvGrpSpPr>
          <p:grpSpPr>
            <a:xfrm>
              <a:off x="2887474" y="3102860"/>
              <a:ext cx="924510" cy="835284"/>
              <a:chOff x="2233099" y="4481511"/>
              <a:chExt cx="1105193"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45" name="文本框 844"/>
              <p:cNvSpPr txBox="1"/>
              <p:nvPr/>
            </p:nvSpPr>
            <p:spPr>
              <a:xfrm>
                <a:off x="2233099" y="4481511"/>
                <a:ext cx="534422" cy="2487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6" name="文本框 845"/>
              <p:cNvSpPr txBox="1"/>
              <p:nvPr/>
            </p:nvSpPr>
            <p:spPr>
              <a:xfrm>
                <a:off x="2463809" y="4705107"/>
                <a:ext cx="588685" cy="546814"/>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7" name="文本框 846"/>
              <p:cNvSpPr txBox="1"/>
              <p:nvPr/>
            </p:nvSpPr>
            <p:spPr>
              <a:xfrm>
                <a:off x="2964232" y="5097799"/>
                <a:ext cx="374060" cy="248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48" name="文本框 847"/>
            <p:cNvSpPr txBox="1"/>
            <p:nvPr/>
          </p:nvSpPr>
          <p:spPr>
            <a:xfrm>
              <a:off x="2775714" y="2507697"/>
              <a:ext cx="23756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49" name="组合 848"/>
            <p:cNvGrpSpPr/>
            <p:nvPr/>
          </p:nvGrpSpPr>
          <p:grpSpPr>
            <a:xfrm>
              <a:off x="2304640" y="3002174"/>
              <a:ext cx="320922" cy="456868"/>
              <a:chOff x="5454427" y="2426371"/>
              <a:chExt cx="955568"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51" name="文本框 850"/>
              <p:cNvSpPr txBox="1"/>
              <p:nvPr/>
            </p:nvSpPr>
            <p:spPr>
              <a:xfrm>
                <a:off x="5454427" y="2539629"/>
                <a:ext cx="955568" cy="23191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PC</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52" name="直接箭头连接符 851"/>
            <p:cNvCxnSpPr/>
            <p:nvPr/>
          </p:nvCxnSpPr>
          <p:spPr>
            <a:xfrm>
              <a:off x="7782245" y="4339956"/>
              <a:ext cx="458620" cy="0"/>
            </a:xfrm>
            <a:prstGeom prst="straightConnector1">
              <a:avLst/>
            </a:prstGeom>
            <a:noFill/>
            <a:ln w="19050" cap="flat" cmpd="sng" algn="ctr">
              <a:solidFill>
                <a:sysClr val="windowText" lastClr="000000"/>
              </a:solidFill>
              <a:prstDash val="solid"/>
              <a:miter lim="800000"/>
              <a:tailEnd type="triangle"/>
            </a:ln>
            <a:effectLst/>
          </p:spPr>
        </p:cxnSp>
        <p:grpSp>
          <p:nvGrpSpPr>
            <p:cNvPr id="853" name="组合 852"/>
            <p:cNvGrpSpPr/>
            <p:nvPr/>
          </p:nvGrpSpPr>
          <p:grpSpPr>
            <a:xfrm>
              <a:off x="7356537" y="1763131"/>
              <a:ext cx="692766" cy="3332917"/>
              <a:chOff x="722989" y="1717758"/>
              <a:chExt cx="745717" cy="3587667"/>
            </a:xfrm>
          </p:grpSpPr>
          <p:sp>
            <p:nvSpPr>
              <p:cNvPr id="854" name="矩形 85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55" name="等腰三角形 85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56" name="文本框 855"/>
              <p:cNvSpPr txBox="1"/>
              <p:nvPr/>
            </p:nvSpPr>
            <p:spPr>
              <a:xfrm>
                <a:off x="722989" y="1717758"/>
                <a:ext cx="74571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EX/MEM</a:t>
                </a:r>
                <a:endPar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57" name="组合 856"/>
            <p:cNvGrpSpPr/>
            <p:nvPr/>
          </p:nvGrpSpPr>
          <p:grpSpPr>
            <a:xfrm>
              <a:off x="9174893" y="1757309"/>
              <a:ext cx="750845" cy="3338739"/>
              <a:chOff x="754534" y="1711491"/>
              <a:chExt cx="808235" cy="3593934"/>
            </a:xfrm>
          </p:grpSpPr>
          <p:sp>
            <p:nvSpPr>
              <p:cNvPr id="858" name="矩形 85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59" name="等腰三角形 85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60" name="文本框 859"/>
              <p:cNvSpPr txBox="1"/>
              <p:nvPr/>
            </p:nvSpPr>
            <p:spPr>
              <a:xfrm>
                <a:off x="754534" y="1711491"/>
                <a:ext cx="80823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MEM/WB</a:t>
                </a:r>
                <a:endParaRPr kumimoji="0" lang="en-US" altLang="zh-CN" sz="9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61" name="直接箭头连接符 860"/>
            <p:cNvCxnSpPr/>
            <p:nvPr/>
          </p:nvCxnSpPr>
          <p:spPr>
            <a:xfrm>
              <a:off x="6252308" y="4074303"/>
              <a:ext cx="175194"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071222" y="2550128"/>
              <a:ext cx="362168" cy="447347"/>
              <a:chOff x="3717347" y="5685260"/>
              <a:chExt cx="389850"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0000"/>
                  </a:solidFill>
                  <a:effectLst/>
                  <a:uLnTx/>
                  <a:uFillTx/>
                  <a:latin typeface="等线" panose="02010600030101010101" charset="-122"/>
                  <a:ea typeface="等线" panose="02010600030101010101" charset="-122"/>
                  <a:cs typeface="+mn-cs"/>
                </a:endParaRPr>
              </a:p>
            </p:txBody>
          </p:sp>
          <p:sp>
            <p:nvSpPr>
              <p:cNvPr id="864" name="文本框 863"/>
              <p:cNvSpPr txBox="1"/>
              <p:nvPr/>
            </p:nvSpPr>
            <p:spPr>
              <a:xfrm>
                <a:off x="3717347" y="5771493"/>
                <a:ext cx="38985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左移</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位</a:t>
                </a:r>
                <a:endParaRPr kumimoji="0" lang="en-US" altLang="zh-CN" sz="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65" name="组合 864"/>
            <p:cNvGrpSpPr/>
            <p:nvPr/>
          </p:nvGrpSpPr>
          <p:grpSpPr>
            <a:xfrm>
              <a:off x="8198507" y="3630962"/>
              <a:ext cx="889129" cy="832629"/>
              <a:chOff x="2233099" y="4480021"/>
              <a:chExt cx="1063423"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67" name="文本框 866"/>
              <p:cNvSpPr txBox="1"/>
              <p:nvPr/>
            </p:nvSpPr>
            <p:spPr>
              <a:xfrm>
                <a:off x="2233099" y="4481511"/>
                <a:ext cx="49372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8" name="文本框 867"/>
              <p:cNvSpPr txBox="1"/>
              <p:nvPr/>
            </p:nvSpPr>
            <p:spPr>
              <a:xfrm>
                <a:off x="2468323" y="4669973"/>
                <a:ext cx="588976" cy="473555"/>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9" name="文本框 868"/>
              <p:cNvSpPr txBox="1"/>
              <p:nvPr/>
            </p:nvSpPr>
            <p:spPr>
              <a:xfrm>
                <a:off x="2945285" y="4480021"/>
                <a:ext cx="351237" cy="19878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0" name="文本框 869"/>
              <p:cNvSpPr txBox="1"/>
              <p:nvPr/>
            </p:nvSpPr>
            <p:spPr>
              <a:xfrm>
                <a:off x="2250880" y="5146023"/>
                <a:ext cx="7223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WD</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71" name="直接箭头连接符 870"/>
            <p:cNvCxnSpPr/>
            <p:nvPr/>
          </p:nvCxnSpPr>
          <p:spPr>
            <a:xfrm>
              <a:off x="7816919" y="5038531"/>
              <a:ext cx="1585137" cy="0"/>
            </a:xfrm>
            <a:prstGeom prst="straightConnector1">
              <a:avLst/>
            </a:prstGeom>
            <a:noFill/>
            <a:ln w="19050" cap="flat" cmpd="sng" algn="ctr">
              <a:solidFill>
                <a:sysClr val="windowText" lastClr="000000"/>
              </a:solidFill>
              <a:prstDash val="solid"/>
              <a:miter lim="800000"/>
              <a:tailEnd type="triangle"/>
            </a:ln>
            <a:effectLst/>
          </p:spPr>
        </p:cxnSp>
        <p:sp>
          <p:nvSpPr>
            <p:cNvPr id="872" name="等腰三角形 871"/>
            <p:cNvSpPr/>
            <p:nvPr/>
          </p:nvSpPr>
          <p:spPr>
            <a:xfrm>
              <a:off x="2366355" y="3343058"/>
              <a:ext cx="199314" cy="115985"/>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3" name="文本框 872"/>
            <p:cNvSpPr txBox="1"/>
            <p:nvPr/>
          </p:nvSpPr>
          <p:spPr>
            <a:xfrm>
              <a:off x="4401658" y="4442334"/>
              <a:ext cx="457476"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立即数</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4" name="文本框 873"/>
            <p:cNvSpPr txBox="1"/>
            <p:nvPr/>
          </p:nvSpPr>
          <p:spPr>
            <a:xfrm>
              <a:off x="4616022" y="4865206"/>
              <a:ext cx="685320"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Write </a:t>
              </a:r>
              <a:r>
                <a:rPr kumimoji="0" lang="en-US" altLang="zh-CN" sz="7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Reg</a:t>
              </a: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876" name="直接连接符 875"/>
            <p:cNvCxnSpPr/>
            <p:nvPr/>
          </p:nvCxnSpPr>
          <p:spPr>
            <a:xfrm>
              <a:off x="4913705" y="4584894"/>
              <a:ext cx="67218" cy="92260"/>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5584036" y="4587778"/>
              <a:ext cx="67218" cy="92260"/>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4784976" y="4428759"/>
              <a:ext cx="290465"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16</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9" name="文本框 878"/>
            <p:cNvSpPr txBox="1"/>
            <p:nvPr/>
          </p:nvSpPr>
          <p:spPr>
            <a:xfrm>
              <a:off x="5463972" y="4422977"/>
              <a:ext cx="290465"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32</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80" name="组合 879"/>
            <p:cNvGrpSpPr/>
            <p:nvPr/>
          </p:nvGrpSpPr>
          <p:grpSpPr>
            <a:xfrm>
              <a:off x="2297342" y="3449123"/>
              <a:ext cx="345788" cy="302863"/>
              <a:chOff x="1972553" y="3227818"/>
              <a:chExt cx="372218" cy="326012"/>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7221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83" name="组合 882"/>
            <p:cNvGrpSpPr/>
            <p:nvPr/>
          </p:nvGrpSpPr>
          <p:grpSpPr>
            <a:xfrm>
              <a:off x="5745217" y="5093120"/>
              <a:ext cx="348172" cy="423443"/>
              <a:chOff x="1972644" y="3154126"/>
              <a:chExt cx="374784" cy="369765"/>
            </a:xfrm>
          </p:grpSpPr>
          <p:cxnSp>
            <p:nvCxnSpPr>
              <p:cNvPr id="884" name="直接连接符 8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5" name="文本框 884"/>
              <p:cNvSpPr txBox="1"/>
              <p:nvPr/>
            </p:nvSpPr>
            <p:spPr>
              <a:xfrm>
                <a:off x="1972644" y="3349196"/>
                <a:ext cx="374784" cy="1746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86" name="组合 885"/>
            <p:cNvGrpSpPr/>
            <p:nvPr/>
          </p:nvGrpSpPr>
          <p:grpSpPr>
            <a:xfrm>
              <a:off x="7544312" y="5093120"/>
              <a:ext cx="348172" cy="423443"/>
              <a:chOff x="1972644" y="3154126"/>
              <a:chExt cx="374784" cy="369765"/>
            </a:xfrm>
          </p:grpSpPr>
          <p:cxnSp>
            <p:nvCxnSpPr>
              <p:cNvPr id="887" name="直接连接符 886"/>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8" name="文本框 887"/>
              <p:cNvSpPr txBox="1"/>
              <p:nvPr/>
            </p:nvSpPr>
            <p:spPr>
              <a:xfrm>
                <a:off x="1972644" y="3349196"/>
                <a:ext cx="374784" cy="1746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89" name="组合 888"/>
            <p:cNvGrpSpPr/>
            <p:nvPr/>
          </p:nvGrpSpPr>
          <p:grpSpPr>
            <a:xfrm>
              <a:off x="9334417" y="5093120"/>
              <a:ext cx="348172" cy="423443"/>
              <a:chOff x="1972644" y="3154126"/>
              <a:chExt cx="374784" cy="369765"/>
            </a:xfrm>
          </p:grpSpPr>
          <p:cxnSp>
            <p:nvCxnSpPr>
              <p:cNvPr id="890" name="直接连接符 88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91" name="文本框 890"/>
              <p:cNvSpPr txBox="1"/>
              <p:nvPr/>
            </p:nvSpPr>
            <p:spPr>
              <a:xfrm>
                <a:off x="1972644" y="3349196"/>
                <a:ext cx="374784" cy="1746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92" name="直接箭头连接符 891"/>
            <p:cNvCxnSpPr/>
            <p:nvPr/>
          </p:nvCxnSpPr>
          <p:spPr>
            <a:xfrm>
              <a:off x="4098036" y="1152274"/>
              <a:ext cx="0" cy="3861658"/>
            </a:xfrm>
            <a:prstGeom prst="straightConnector1">
              <a:avLst/>
            </a:prstGeom>
            <a:noFill/>
            <a:ln w="12700" cap="flat" cmpd="sng" algn="ctr">
              <a:solidFill>
                <a:srgbClr val="5B9BD5"/>
              </a:solidFill>
              <a:prstDash val="dash"/>
              <a:miter lim="800000"/>
              <a:tailEnd type="none"/>
            </a:ln>
            <a:effectLst/>
          </p:spPr>
        </p:cxnSp>
        <p:cxnSp>
          <p:nvCxnSpPr>
            <p:cNvPr id="894" name="直接箭头连接符 893"/>
            <p:cNvCxnSpPr/>
            <p:nvPr/>
          </p:nvCxnSpPr>
          <p:spPr>
            <a:xfrm>
              <a:off x="5915239" y="1152274"/>
              <a:ext cx="0" cy="3852810"/>
            </a:xfrm>
            <a:prstGeom prst="straightConnector1">
              <a:avLst/>
            </a:prstGeom>
            <a:noFill/>
            <a:ln w="12700" cap="flat" cmpd="sng" algn="ctr">
              <a:solidFill>
                <a:srgbClr val="5B9BD5"/>
              </a:solidFill>
              <a:prstDash val="dash"/>
              <a:miter lim="800000"/>
              <a:tailEnd type="none"/>
            </a:ln>
            <a:effectLst/>
          </p:spPr>
        </p:cxnSp>
        <p:cxnSp>
          <p:nvCxnSpPr>
            <p:cNvPr id="895" name="直接箭头连接符 894"/>
            <p:cNvCxnSpPr/>
            <p:nvPr/>
          </p:nvCxnSpPr>
          <p:spPr>
            <a:xfrm>
              <a:off x="7707666" y="1152274"/>
              <a:ext cx="0" cy="3852810"/>
            </a:xfrm>
            <a:prstGeom prst="straightConnector1">
              <a:avLst/>
            </a:prstGeom>
            <a:noFill/>
            <a:ln w="12700" cap="flat" cmpd="sng" algn="ctr">
              <a:solidFill>
                <a:srgbClr val="5B9BD5"/>
              </a:solidFill>
              <a:prstDash val="dash"/>
              <a:miter lim="800000"/>
              <a:tailEnd type="none"/>
            </a:ln>
            <a:effectLst/>
          </p:spPr>
        </p:cxnSp>
        <p:cxnSp>
          <p:nvCxnSpPr>
            <p:cNvPr id="896" name="直接箭头连接符 895"/>
            <p:cNvCxnSpPr/>
            <p:nvPr/>
          </p:nvCxnSpPr>
          <p:spPr>
            <a:xfrm>
              <a:off x="9500092" y="1152274"/>
              <a:ext cx="0" cy="3852810"/>
            </a:xfrm>
            <a:prstGeom prst="straightConnector1">
              <a:avLst/>
            </a:prstGeom>
            <a:noFill/>
            <a:ln w="12700" cap="flat" cmpd="sng" algn="ctr">
              <a:solidFill>
                <a:srgbClr val="5B9BD5"/>
              </a:solidFill>
              <a:prstDash val="dash"/>
              <a:miter lim="800000"/>
              <a:tailEnd type="none"/>
            </a:ln>
            <a:effectLst/>
          </p:spPr>
        </p:cxnSp>
        <p:sp>
          <p:nvSpPr>
            <p:cNvPr id="897" name="文本框 896"/>
            <p:cNvSpPr txBox="1"/>
            <p:nvPr/>
          </p:nvSpPr>
          <p:spPr>
            <a:xfrm>
              <a:off x="4710751" y="1161799"/>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898" name="文本框 897"/>
            <p:cNvSpPr txBox="1"/>
            <p:nvPr/>
          </p:nvSpPr>
          <p:spPr>
            <a:xfrm>
              <a:off x="6472657" y="1161799"/>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899" name="文本框 898"/>
            <p:cNvSpPr txBox="1"/>
            <p:nvPr/>
          </p:nvSpPr>
          <p:spPr>
            <a:xfrm>
              <a:off x="8151995" y="1161799"/>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00" name="文本框 899"/>
            <p:cNvSpPr txBox="1"/>
            <p:nvPr/>
          </p:nvSpPr>
          <p:spPr>
            <a:xfrm>
              <a:off x="9901918" y="1161799"/>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01" name="文本框 900"/>
            <p:cNvSpPr txBox="1"/>
            <p:nvPr/>
          </p:nvSpPr>
          <p:spPr>
            <a:xfrm>
              <a:off x="2698073" y="1161799"/>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02" name="文本框 901"/>
            <p:cNvSpPr txBox="1"/>
            <p:nvPr/>
          </p:nvSpPr>
          <p:spPr>
            <a:xfrm>
              <a:off x="4160674" y="3092477"/>
              <a:ext cx="38985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指令</a:t>
              </a:r>
              <a:endPar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903" name="直接连接符 902"/>
            <p:cNvCxnSpPr/>
            <p:nvPr/>
          </p:nvCxnSpPr>
          <p:spPr>
            <a:xfrm>
              <a:off x="10038049" y="3984906"/>
              <a:ext cx="0" cy="206242"/>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9850136" y="3610061"/>
              <a:ext cx="355895" cy="469100"/>
              <a:chOff x="1245770" y="3824904"/>
              <a:chExt cx="383097"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06" name="文本框 905"/>
              <p:cNvSpPr txBox="1"/>
              <p:nvPr/>
            </p:nvSpPr>
            <p:spPr>
              <a:xfrm>
                <a:off x="1257533" y="3963369"/>
                <a:ext cx="371334" cy="1468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MUX</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7" name="文本框 906"/>
              <p:cNvSpPr txBox="1"/>
              <p:nvPr/>
            </p:nvSpPr>
            <p:spPr>
              <a:xfrm>
                <a:off x="1250558" y="3854112"/>
                <a:ext cx="241920" cy="1468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8" name="文本框 907"/>
              <p:cNvSpPr txBox="1"/>
              <p:nvPr/>
            </p:nvSpPr>
            <p:spPr>
              <a:xfrm>
                <a:off x="1245770" y="4063984"/>
                <a:ext cx="241920" cy="1468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5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909" name="文本框 908"/>
            <p:cNvSpPr txBox="1"/>
            <p:nvPr/>
          </p:nvSpPr>
          <p:spPr>
            <a:xfrm>
              <a:off x="9668383" y="4716428"/>
              <a:ext cx="661493"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ALU.Result</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0" name="文本框 909"/>
            <p:cNvSpPr txBox="1"/>
            <p:nvPr/>
          </p:nvSpPr>
          <p:spPr>
            <a:xfrm>
              <a:off x="9649036" y="3389575"/>
              <a:ext cx="666849" cy="200055"/>
            </a:xfrm>
            <a:prstGeom prst="rect">
              <a:avLst/>
            </a:prstGeom>
            <a:noFill/>
          </p:spPr>
          <p:txBody>
            <a:bodyPr wrap="non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MEM.ReadData</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1" name="文本框 910"/>
            <p:cNvSpPr txBox="1"/>
            <p:nvPr/>
          </p:nvSpPr>
          <p:spPr>
            <a:xfrm>
              <a:off x="4760688" y="2209902"/>
              <a:ext cx="420247"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PC+4</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2" name="文本框 911"/>
            <p:cNvSpPr txBox="1"/>
            <p:nvPr/>
          </p:nvSpPr>
          <p:spPr>
            <a:xfrm>
              <a:off x="8394161" y="4723226"/>
              <a:ext cx="661493"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ALU.Result</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3" name="文本框 912"/>
            <p:cNvSpPr txBox="1"/>
            <p:nvPr/>
          </p:nvSpPr>
          <p:spPr>
            <a:xfrm>
              <a:off x="5963392" y="3188907"/>
              <a:ext cx="363658"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4" name="文本框 913"/>
            <p:cNvSpPr txBox="1"/>
            <p:nvPr/>
          </p:nvSpPr>
          <p:spPr>
            <a:xfrm>
              <a:off x="5963720" y="3660050"/>
              <a:ext cx="363658" cy="2001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7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10388072" y="3031733"/>
              <a:ext cx="927311" cy="945860"/>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nvSpPr>
          <p:spPr>
            <a:xfrm>
              <a:off x="10527865" y="3406750"/>
              <a:ext cx="697627"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kern="0" dirty="0">
                  <a:solidFill>
                    <a:prstClr val="black"/>
                  </a:solidFill>
                  <a:latin typeface="微软雅黑" panose="020B0503020204020204" pitchFamily="34" charset="-122"/>
                  <a:ea typeface="微软雅黑" panose="020B0503020204020204" pitchFamily="34" charset="-122"/>
                </a:rPr>
                <a:t>写逻辑</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10333073" y="3755264"/>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Din</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333073" y="3615948"/>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t>
              </a:r>
              <a:endParaRPr kumimoji="0" lang="en-US" altLang="zh-CN" sz="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6"/>
            <p:cNvSpPr/>
            <p:nvPr/>
          </p:nvSpPr>
          <p:spPr>
            <a:xfrm>
              <a:off x="10814267" y="3891707"/>
              <a:ext cx="133765" cy="7784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7" name="直接箭头连接符 16"/>
            <p:cNvCxnSpPr/>
            <p:nvPr/>
          </p:nvCxnSpPr>
          <p:spPr>
            <a:xfrm>
              <a:off x="10153118" y="3852206"/>
              <a:ext cx="226631" cy="0"/>
            </a:xfrm>
            <a:prstGeom prst="straightConnector1">
              <a:avLst/>
            </a:prstGeom>
            <a:noFill/>
            <a:ln w="19050" cap="flat" cmpd="sng" algn="ctr">
              <a:solidFill>
                <a:sysClr val="windowText" lastClr="000000"/>
              </a:solidFill>
              <a:prstDash val="solid"/>
              <a:miter lim="800000"/>
              <a:tailEnd type="triangle"/>
            </a:ln>
            <a:effectLst/>
          </p:spPr>
        </p:cxnSp>
      </p:grpSp>
      <p:sp>
        <p:nvSpPr>
          <p:cNvPr id="8" name="等腰三角形 7"/>
          <p:cNvSpPr/>
          <p:nvPr/>
        </p:nvSpPr>
        <p:spPr>
          <a:xfrm>
            <a:off x="8195391" y="4414982"/>
            <a:ext cx="133765" cy="7784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49569"/>
    </mc:Choice>
    <mc:Fallback>
      <p:transition spd="slow" advTm="4956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8" name="组合 227"/>
          <p:cNvGrpSpPr/>
          <p:nvPr/>
        </p:nvGrpSpPr>
        <p:grpSpPr>
          <a:xfrm>
            <a:off x="7214951" y="3049676"/>
            <a:ext cx="2588989" cy="458694"/>
            <a:chOff x="4923110" y="3050193"/>
            <a:chExt cx="2588989" cy="458694"/>
          </a:xfrm>
        </p:grpSpPr>
        <p:cxnSp>
          <p:nvCxnSpPr>
            <p:cNvPr id="229" name="直接箭头连接符 228"/>
            <p:cNvCxnSpPr/>
            <p:nvPr/>
          </p:nvCxnSpPr>
          <p:spPr>
            <a:xfrm flipV="1">
              <a:off x="4923110" y="3050193"/>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31" name="直接箭头连接符 230"/>
            <p:cNvCxnSpPr/>
            <p:nvPr/>
          </p:nvCxnSpPr>
          <p:spPr>
            <a:xfrm flipV="1">
              <a:off x="4936917" y="3507853"/>
              <a:ext cx="2575182" cy="1034"/>
            </a:xfrm>
            <a:prstGeom prst="straightConnector1">
              <a:avLst/>
            </a:prstGeom>
            <a:noFill/>
            <a:ln w="19050" cap="flat" cmpd="sng" algn="ctr">
              <a:solidFill>
                <a:sysClr val="windowText" lastClr="000000"/>
              </a:solidFill>
              <a:prstDash val="solid"/>
              <a:miter lim="800000"/>
              <a:tailEnd type="triangle"/>
            </a:ln>
            <a:effectLst/>
          </p:spPr>
        </p:cxnSp>
      </p:grpSp>
      <p:sp>
        <p:nvSpPr>
          <p:cNvPr id="2" name="标题 1"/>
          <p:cNvSpPr>
            <a:spLocks noGrp="1"/>
          </p:cNvSpPr>
          <p:nvPr>
            <p:ph type="title"/>
          </p:nvPr>
        </p:nvSpPr>
        <p:spPr/>
        <p:txBody>
          <a:bodyPr/>
          <a:lstStyle/>
          <a:p>
            <a:r>
              <a:rPr lang="en-US" altLang="zh-CN" dirty="0"/>
              <a:t>5</a:t>
            </a:r>
            <a:r>
              <a:rPr lang="zh-CN" altLang="en-US" dirty="0"/>
              <a:t>段指令流水线数据与信号传递</a:t>
            </a:r>
            <a:endParaRPr lang="zh-CN" altLang="en-US" dirty="0"/>
          </a:p>
        </p:txBody>
      </p:sp>
      <p:grpSp>
        <p:nvGrpSpPr>
          <p:cNvPr id="9" name="组合 8"/>
          <p:cNvGrpSpPr/>
          <p:nvPr/>
        </p:nvGrpSpPr>
        <p:grpSpPr>
          <a:xfrm>
            <a:off x="1117505" y="5606258"/>
            <a:ext cx="481222" cy="562160"/>
            <a:chOff x="1996852" y="3154126"/>
            <a:chExt cx="324859" cy="384557"/>
          </a:xfrm>
        </p:grpSpPr>
        <p:sp>
          <p:nvSpPr>
            <p:cNvPr id="181" name="文本框 180"/>
            <p:cNvSpPr txBox="1"/>
            <p:nvPr/>
          </p:nvSpPr>
          <p:spPr>
            <a:xfrm>
              <a:off x="1996852" y="3349196"/>
              <a:ext cx="324859" cy="1894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82" name="直接连接符 181"/>
            <p:cNvCxnSpPr/>
            <p:nvPr/>
          </p:nvCxnSpPr>
          <p:spPr>
            <a:xfrm>
              <a:off x="2151982" y="3154126"/>
              <a:ext cx="0" cy="223656"/>
            </a:xfrm>
            <a:prstGeom prst="line">
              <a:avLst/>
            </a:prstGeom>
            <a:noFill/>
            <a:ln w="9525" cap="flat" cmpd="sng" algn="ctr">
              <a:solidFill>
                <a:schemeClr val="tx1"/>
              </a:solidFill>
              <a:prstDash val="solid"/>
              <a:miter lim="800000"/>
            </a:ln>
            <a:effectLst/>
          </p:spPr>
        </p:cxnSp>
      </p:grpSp>
      <p:cxnSp>
        <p:nvCxnSpPr>
          <p:cNvPr id="126" name="直接连接符 125"/>
          <p:cNvCxnSpPr/>
          <p:nvPr/>
        </p:nvCxnSpPr>
        <p:spPr>
          <a:xfrm>
            <a:off x="4251141" y="5606258"/>
            <a:ext cx="0" cy="158048"/>
          </a:xfrm>
          <a:prstGeom prst="line">
            <a:avLst/>
          </a:prstGeom>
          <a:noFill/>
          <a:ln w="9525" cap="flat" cmpd="sng" algn="ctr">
            <a:solidFill>
              <a:sysClr val="windowText" lastClr="000000"/>
            </a:solidFill>
            <a:prstDash val="solid"/>
            <a:miter lim="800000"/>
          </a:ln>
          <a:effectLst/>
        </p:spPr>
      </p:cxnSp>
      <p:cxnSp>
        <p:nvCxnSpPr>
          <p:cNvPr id="124" name="直接连接符 123"/>
          <p:cNvCxnSpPr>
            <a:stCxn id="141" idx="3"/>
          </p:cNvCxnSpPr>
          <p:nvPr/>
        </p:nvCxnSpPr>
        <p:spPr>
          <a:xfrm flipH="1">
            <a:off x="7116577" y="5610003"/>
            <a:ext cx="811" cy="154303"/>
          </a:xfrm>
          <a:prstGeom prst="line">
            <a:avLst/>
          </a:prstGeom>
          <a:noFill/>
          <a:ln w="9525" cap="flat" cmpd="sng" algn="ctr">
            <a:solidFill>
              <a:sysClr val="windowText" lastClr="000000"/>
            </a:solidFill>
            <a:prstDash val="solid"/>
            <a:miter lim="800000"/>
          </a:ln>
          <a:effectLst/>
        </p:spPr>
      </p:cxnSp>
      <p:cxnSp>
        <p:nvCxnSpPr>
          <p:cNvPr id="122" name="直接连接符 121"/>
          <p:cNvCxnSpPr>
            <a:stCxn id="137" idx="2"/>
          </p:cNvCxnSpPr>
          <p:nvPr/>
        </p:nvCxnSpPr>
        <p:spPr>
          <a:xfrm flipH="1">
            <a:off x="9970124" y="5610001"/>
            <a:ext cx="1" cy="154305"/>
          </a:xfrm>
          <a:prstGeom prst="line">
            <a:avLst/>
          </a:prstGeom>
          <a:noFill/>
          <a:ln w="9525" cap="flat" cmpd="sng" algn="ctr">
            <a:solidFill>
              <a:sysClr val="windowText" lastClr="000000"/>
            </a:solidFill>
            <a:prstDash val="solid"/>
            <a:miter lim="800000"/>
          </a:ln>
          <a:effectLst/>
        </p:spPr>
      </p:cxnSp>
      <p:grpSp>
        <p:nvGrpSpPr>
          <p:cNvPr id="10" name="组合 9"/>
          <p:cNvGrpSpPr/>
          <p:nvPr/>
        </p:nvGrpSpPr>
        <p:grpSpPr>
          <a:xfrm>
            <a:off x="1054285" y="1005166"/>
            <a:ext cx="635111" cy="4604835"/>
            <a:chOff x="896425" y="1654512"/>
            <a:chExt cx="428743" cy="3650913"/>
          </a:xfrm>
        </p:grpSpPr>
        <p:sp>
          <p:nvSpPr>
            <p:cNvPr id="178" name="矩形 17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9" name="等腰三角形 17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0" name="文本框 179"/>
            <p:cNvSpPr txBox="1"/>
            <p:nvPr/>
          </p:nvSpPr>
          <p:spPr>
            <a:xfrm>
              <a:off x="896425" y="1654512"/>
              <a:ext cx="428743"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IF/ID</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1" name="组合 10"/>
          <p:cNvGrpSpPr/>
          <p:nvPr/>
        </p:nvGrpSpPr>
        <p:grpSpPr>
          <a:xfrm>
            <a:off x="3911290" y="1005166"/>
            <a:ext cx="700833" cy="4604836"/>
            <a:chOff x="875115" y="1654512"/>
            <a:chExt cx="473111" cy="3650913"/>
          </a:xfrm>
        </p:grpSpPr>
        <p:sp>
          <p:nvSpPr>
            <p:cNvPr id="175" name="矩形 17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6" name="等腰三角形 17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7" name="文本框 176"/>
            <p:cNvSpPr txBox="1"/>
            <p:nvPr/>
          </p:nvSpPr>
          <p:spPr>
            <a:xfrm>
              <a:off x="875115" y="1654512"/>
              <a:ext cx="473111"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ID/EX</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1" name="组合 80"/>
          <p:cNvGrpSpPr/>
          <p:nvPr/>
        </p:nvGrpSpPr>
        <p:grpSpPr>
          <a:xfrm>
            <a:off x="6638962" y="1005167"/>
            <a:ext cx="968535" cy="4604837"/>
            <a:chOff x="780889" y="1654512"/>
            <a:chExt cx="653828" cy="3650913"/>
          </a:xfrm>
        </p:grpSpPr>
        <p:sp>
          <p:nvSpPr>
            <p:cNvPr id="140" name="矩形 13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1" name="等腰三角形 14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2" name="文本框 141"/>
            <p:cNvSpPr txBox="1"/>
            <p:nvPr/>
          </p:nvSpPr>
          <p:spPr>
            <a:xfrm>
              <a:off x="780889" y="1654512"/>
              <a:ext cx="653828"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EX/MEM</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2" name="组合 81"/>
          <p:cNvGrpSpPr/>
          <p:nvPr/>
        </p:nvGrpSpPr>
        <p:grpSpPr>
          <a:xfrm>
            <a:off x="9451953" y="1005166"/>
            <a:ext cx="1058304" cy="4604835"/>
            <a:chOff x="754058" y="1654513"/>
            <a:chExt cx="714428" cy="3650912"/>
          </a:xfrm>
        </p:grpSpPr>
        <p:sp>
          <p:nvSpPr>
            <p:cNvPr id="137" name="矩形 13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8" name="等腰三角形 13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文本框 138"/>
            <p:cNvSpPr txBox="1"/>
            <p:nvPr/>
          </p:nvSpPr>
          <p:spPr>
            <a:xfrm>
              <a:off x="754058" y="1654513"/>
              <a:ext cx="714428"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MEM/WB</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99" name="直接箭头连接符 98"/>
          <p:cNvCxnSpPr>
            <a:endCxn id="179" idx="0"/>
          </p:cNvCxnSpPr>
          <p:nvPr/>
        </p:nvCxnSpPr>
        <p:spPr>
          <a:xfrm>
            <a:off x="1357338" y="1345128"/>
            <a:ext cx="4225" cy="4108696"/>
          </a:xfrm>
          <a:prstGeom prst="straightConnector1">
            <a:avLst/>
          </a:prstGeom>
          <a:noFill/>
          <a:ln w="12700" cap="flat" cmpd="sng" algn="ctr">
            <a:solidFill>
              <a:srgbClr val="5B9BD5"/>
            </a:solidFill>
            <a:prstDash val="dash"/>
            <a:miter lim="800000"/>
            <a:tailEnd type="none"/>
          </a:ln>
          <a:effectLst/>
        </p:spPr>
      </p:cxnSp>
      <p:cxnSp>
        <p:nvCxnSpPr>
          <p:cNvPr id="102" name="直接箭头连接符 101"/>
          <p:cNvCxnSpPr>
            <a:stCxn id="76" idx="0"/>
            <a:endCxn id="141" idx="0"/>
          </p:cNvCxnSpPr>
          <p:nvPr/>
        </p:nvCxnSpPr>
        <p:spPr>
          <a:xfrm>
            <a:off x="7116577" y="1335939"/>
            <a:ext cx="810" cy="4117885"/>
          </a:xfrm>
          <a:prstGeom prst="straightConnector1">
            <a:avLst/>
          </a:prstGeom>
          <a:noFill/>
          <a:ln w="12700" cap="flat" cmpd="sng" algn="ctr">
            <a:solidFill>
              <a:srgbClr val="5B9BD5"/>
            </a:solidFill>
            <a:prstDash val="dash"/>
            <a:miter lim="800000"/>
            <a:tailEnd type="none"/>
          </a:ln>
          <a:effectLst/>
        </p:spPr>
      </p:cxnSp>
      <p:cxnSp>
        <p:nvCxnSpPr>
          <p:cNvPr id="103" name="直接箭头连接符 102"/>
          <p:cNvCxnSpPr>
            <a:stCxn id="84" idx="0"/>
            <a:endCxn id="138" idx="0"/>
          </p:cNvCxnSpPr>
          <p:nvPr/>
        </p:nvCxnSpPr>
        <p:spPr>
          <a:xfrm flipH="1">
            <a:off x="9970124" y="1335939"/>
            <a:ext cx="4693" cy="4117885"/>
          </a:xfrm>
          <a:prstGeom prst="straightConnector1">
            <a:avLst/>
          </a:prstGeom>
          <a:noFill/>
          <a:ln w="12700" cap="flat" cmpd="sng" algn="ctr">
            <a:solidFill>
              <a:srgbClr val="5B9BD5"/>
            </a:solidFill>
            <a:prstDash val="dash"/>
            <a:miter lim="800000"/>
            <a:tailEnd type="none"/>
          </a:ln>
          <a:effectLst/>
        </p:spPr>
      </p:cxnSp>
      <p:sp>
        <p:nvSpPr>
          <p:cNvPr id="104" name="文本框 103"/>
          <p:cNvSpPr txBox="1"/>
          <p:nvPr/>
        </p:nvSpPr>
        <p:spPr>
          <a:xfrm>
            <a:off x="2323623" y="5280267"/>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5" name="文本框 104"/>
          <p:cNvSpPr txBox="1"/>
          <p:nvPr/>
        </p:nvSpPr>
        <p:spPr>
          <a:xfrm>
            <a:off x="5340316" y="5280267"/>
            <a:ext cx="77476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6" name="文本框 105"/>
          <p:cNvSpPr txBox="1"/>
          <p:nvPr/>
        </p:nvSpPr>
        <p:spPr>
          <a:xfrm>
            <a:off x="8162297" y="5280322"/>
            <a:ext cx="101502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p:cNvSpPr txBox="1"/>
          <p:nvPr/>
        </p:nvSpPr>
        <p:spPr>
          <a:xfrm>
            <a:off x="10276584" y="5280607"/>
            <a:ext cx="861133" cy="307777"/>
          </a:xfrm>
          <a:prstGeom prst="rect">
            <a:avLst/>
          </a:prstGeom>
          <a:noFill/>
        </p:spPr>
        <p:txBody>
          <a:bodyPr wrap="none" rtlCol="0">
            <a:sp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chemeClr val="bg2">
                    <a:lumMod val="25000"/>
                  </a:scheme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005D9C"/>
                </a:solidFill>
              </a:rPr>
              <a:t>写回</a:t>
            </a:r>
            <a:r>
              <a:rPr lang="en-US" altLang="zh-CN" dirty="0">
                <a:solidFill>
                  <a:srgbClr val="005D9C"/>
                </a:solidFill>
              </a:rPr>
              <a:t>WB</a:t>
            </a:r>
            <a:endParaRPr lang="en-US" altLang="zh-CN" dirty="0">
              <a:solidFill>
                <a:srgbClr val="005D9C"/>
              </a:solidFill>
            </a:endParaRPr>
          </a:p>
        </p:txBody>
      </p:sp>
      <p:sp>
        <p:nvSpPr>
          <p:cNvPr id="108" name="文本框 107"/>
          <p:cNvSpPr txBox="1"/>
          <p:nvPr/>
        </p:nvSpPr>
        <p:spPr>
          <a:xfrm>
            <a:off x="359123" y="5280267"/>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nvGrpSpPr>
          <p:cNvPr id="188" name="组合 187"/>
          <p:cNvGrpSpPr/>
          <p:nvPr/>
        </p:nvGrpSpPr>
        <p:grpSpPr bwMode="auto">
          <a:xfrm>
            <a:off x="1188437" y="3296199"/>
            <a:ext cx="346249" cy="405224"/>
            <a:chOff x="251021" y="5056211"/>
            <a:chExt cx="346423" cy="381526"/>
          </a:xfrm>
        </p:grpSpPr>
        <p:sp>
          <p:nvSpPr>
            <p:cNvPr id="189" name="矩形 18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90" name="文本框 189"/>
            <p:cNvSpPr txBox="1"/>
            <p:nvPr/>
          </p:nvSpPr>
          <p:spPr>
            <a:xfrm>
              <a:off x="251021" y="5056211"/>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91" name="组合 190"/>
          <p:cNvGrpSpPr/>
          <p:nvPr/>
        </p:nvGrpSpPr>
        <p:grpSpPr bwMode="auto">
          <a:xfrm>
            <a:off x="1201805" y="2816744"/>
            <a:ext cx="346249" cy="405224"/>
            <a:chOff x="263515" y="5041476"/>
            <a:chExt cx="346423" cy="381526"/>
          </a:xfrm>
        </p:grpSpPr>
        <p:sp>
          <p:nvSpPr>
            <p:cNvPr id="192" name="矩形 19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93" name="文本框 192"/>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4" name="组合 13"/>
          <p:cNvGrpSpPr/>
          <p:nvPr/>
        </p:nvGrpSpPr>
        <p:grpSpPr>
          <a:xfrm>
            <a:off x="1517651" y="3237326"/>
            <a:ext cx="2559050" cy="276999"/>
            <a:chOff x="2057401" y="3237326"/>
            <a:chExt cx="2559050" cy="276999"/>
          </a:xfrm>
        </p:grpSpPr>
        <p:sp>
          <p:nvSpPr>
            <p:cNvPr id="114" name="文本框 113"/>
            <p:cNvSpPr txBox="1"/>
            <p:nvPr/>
          </p:nvSpPr>
          <p:spPr>
            <a:xfrm>
              <a:off x="2087804" y="3237326"/>
              <a:ext cx="3818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cxnSp>
          <p:nvCxnSpPr>
            <p:cNvPr id="194" name="直接箭头连接符 193"/>
            <p:cNvCxnSpPr>
              <a:stCxn id="178" idx="3"/>
              <a:endCxn id="121" idx="1"/>
            </p:cNvCxnSpPr>
            <p:nvPr/>
          </p:nvCxnSpPr>
          <p:spPr>
            <a:xfrm>
              <a:off x="2057401" y="3477566"/>
              <a:ext cx="2559050" cy="19685"/>
            </a:xfrm>
            <a:prstGeom prst="straightConnector1">
              <a:avLst/>
            </a:prstGeom>
            <a:noFill/>
            <a:ln w="19050" cap="flat" cmpd="sng" algn="ctr">
              <a:solidFill>
                <a:sysClr val="windowText" lastClr="000000"/>
              </a:solidFill>
              <a:prstDash val="solid"/>
              <a:miter lim="800000"/>
              <a:tailEnd type="triangle"/>
            </a:ln>
            <a:effectLst/>
          </p:spPr>
        </p:cxnSp>
      </p:grpSp>
      <p:grpSp>
        <p:nvGrpSpPr>
          <p:cNvPr id="285" name="组合 284"/>
          <p:cNvGrpSpPr/>
          <p:nvPr/>
        </p:nvGrpSpPr>
        <p:grpSpPr>
          <a:xfrm>
            <a:off x="3024932" y="1458643"/>
            <a:ext cx="1069119" cy="1139706"/>
            <a:chOff x="3475035" y="1422784"/>
            <a:chExt cx="1069119" cy="1139706"/>
          </a:xfrm>
        </p:grpSpPr>
        <p:cxnSp>
          <p:nvCxnSpPr>
            <p:cNvPr id="221" name="直接箭头连接符 220"/>
            <p:cNvCxnSpPr/>
            <p:nvPr/>
          </p:nvCxnSpPr>
          <p:spPr>
            <a:xfrm>
              <a:off x="3475035" y="1422784"/>
              <a:ext cx="1069119" cy="0"/>
            </a:xfrm>
            <a:prstGeom prst="straightConnector1">
              <a:avLst/>
            </a:prstGeom>
            <a:noFill/>
            <a:ln w="19050" cap="flat" cmpd="sng" algn="ctr">
              <a:solidFill>
                <a:srgbClr val="C00000"/>
              </a:solidFill>
              <a:prstDash val="solid"/>
              <a:miter lim="800000"/>
              <a:tailEnd type="triangle"/>
            </a:ln>
            <a:effectLst/>
          </p:spPr>
        </p:cxnSp>
        <p:cxnSp>
          <p:nvCxnSpPr>
            <p:cNvPr id="66" name="直接箭头连接符 65"/>
            <p:cNvCxnSpPr/>
            <p:nvPr/>
          </p:nvCxnSpPr>
          <p:spPr>
            <a:xfrm>
              <a:off x="3475035" y="1548290"/>
              <a:ext cx="1069119" cy="0"/>
            </a:xfrm>
            <a:prstGeom prst="straightConnector1">
              <a:avLst/>
            </a:prstGeom>
            <a:noFill/>
            <a:ln w="19050" cap="flat" cmpd="sng" algn="ctr">
              <a:solidFill>
                <a:srgbClr val="C00000"/>
              </a:solidFill>
              <a:prstDash val="solid"/>
              <a:miter lim="800000"/>
              <a:tailEnd type="triangle"/>
            </a:ln>
            <a:effectLst/>
          </p:spPr>
        </p:cxnSp>
        <p:cxnSp>
          <p:nvCxnSpPr>
            <p:cNvPr id="67" name="直接箭头连接符 66"/>
            <p:cNvCxnSpPr/>
            <p:nvPr/>
          </p:nvCxnSpPr>
          <p:spPr>
            <a:xfrm>
              <a:off x="3475035" y="1673796"/>
              <a:ext cx="1069119" cy="0"/>
            </a:xfrm>
            <a:prstGeom prst="straightConnector1">
              <a:avLst/>
            </a:prstGeom>
            <a:noFill/>
            <a:ln w="19050" cap="flat" cmpd="sng" algn="ctr">
              <a:solidFill>
                <a:srgbClr val="C00000"/>
              </a:solidFill>
              <a:prstDash val="solid"/>
              <a:miter lim="800000"/>
              <a:tailEnd type="triangle"/>
            </a:ln>
            <a:effectLst/>
          </p:spPr>
        </p:cxnSp>
        <p:cxnSp>
          <p:nvCxnSpPr>
            <p:cNvPr id="68" name="直接箭头连接符 67"/>
            <p:cNvCxnSpPr/>
            <p:nvPr/>
          </p:nvCxnSpPr>
          <p:spPr>
            <a:xfrm>
              <a:off x="3475035" y="1867131"/>
              <a:ext cx="1069119" cy="0"/>
            </a:xfrm>
            <a:prstGeom prst="straightConnector1">
              <a:avLst/>
            </a:prstGeom>
            <a:noFill/>
            <a:ln w="19050" cap="flat" cmpd="sng" algn="ctr">
              <a:solidFill>
                <a:srgbClr val="C00000"/>
              </a:solidFill>
              <a:prstDash val="solid"/>
              <a:miter lim="800000"/>
              <a:tailEnd type="triangle"/>
            </a:ln>
            <a:effectLst/>
          </p:spPr>
        </p:cxnSp>
        <p:cxnSp>
          <p:nvCxnSpPr>
            <p:cNvPr id="69" name="直接箭头连接符 68"/>
            <p:cNvCxnSpPr/>
            <p:nvPr/>
          </p:nvCxnSpPr>
          <p:spPr>
            <a:xfrm>
              <a:off x="3475035" y="1992637"/>
              <a:ext cx="1069119" cy="0"/>
            </a:xfrm>
            <a:prstGeom prst="straightConnector1">
              <a:avLst/>
            </a:prstGeom>
            <a:noFill/>
            <a:ln w="19050" cap="flat" cmpd="sng" algn="ctr">
              <a:solidFill>
                <a:srgbClr val="C00000"/>
              </a:solidFill>
              <a:prstDash val="solid"/>
              <a:miter lim="800000"/>
              <a:tailEnd type="triangle"/>
            </a:ln>
            <a:effectLst/>
          </p:spPr>
        </p:cxnSp>
        <p:cxnSp>
          <p:nvCxnSpPr>
            <p:cNvPr id="70" name="直接箭头连接符 69"/>
            <p:cNvCxnSpPr/>
            <p:nvPr/>
          </p:nvCxnSpPr>
          <p:spPr>
            <a:xfrm>
              <a:off x="3475035" y="2118143"/>
              <a:ext cx="1069119" cy="0"/>
            </a:xfrm>
            <a:prstGeom prst="straightConnector1">
              <a:avLst/>
            </a:prstGeom>
            <a:noFill/>
            <a:ln w="19050" cap="flat" cmpd="sng" algn="ctr">
              <a:solidFill>
                <a:srgbClr val="C00000"/>
              </a:solidFill>
              <a:prstDash val="solid"/>
              <a:miter lim="800000"/>
              <a:tailEnd type="triangle"/>
            </a:ln>
            <a:effectLst/>
          </p:spPr>
        </p:cxnSp>
        <p:cxnSp>
          <p:nvCxnSpPr>
            <p:cNvPr id="71" name="直接箭头连接符 70"/>
            <p:cNvCxnSpPr/>
            <p:nvPr/>
          </p:nvCxnSpPr>
          <p:spPr>
            <a:xfrm>
              <a:off x="3475035" y="2311478"/>
              <a:ext cx="1069119" cy="0"/>
            </a:xfrm>
            <a:prstGeom prst="straightConnector1">
              <a:avLst/>
            </a:prstGeom>
            <a:noFill/>
            <a:ln w="19050" cap="flat" cmpd="sng" algn="ctr">
              <a:solidFill>
                <a:srgbClr val="C00000"/>
              </a:solidFill>
              <a:prstDash val="solid"/>
              <a:miter lim="800000"/>
              <a:tailEnd type="triangle"/>
            </a:ln>
            <a:effectLst/>
          </p:spPr>
        </p:cxnSp>
        <p:cxnSp>
          <p:nvCxnSpPr>
            <p:cNvPr id="72" name="直接箭头连接符 71"/>
            <p:cNvCxnSpPr/>
            <p:nvPr/>
          </p:nvCxnSpPr>
          <p:spPr>
            <a:xfrm>
              <a:off x="3475035" y="2436984"/>
              <a:ext cx="1069119" cy="0"/>
            </a:xfrm>
            <a:prstGeom prst="straightConnector1">
              <a:avLst/>
            </a:prstGeom>
            <a:noFill/>
            <a:ln w="19050" cap="flat" cmpd="sng" algn="ctr">
              <a:solidFill>
                <a:srgbClr val="C00000"/>
              </a:solidFill>
              <a:prstDash val="solid"/>
              <a:miter lim="800000"/>
              <a:tailEnd type="triangle"/>
            </a:ln>
            <a:effectLst/>
          </p:spPr>
        </p:cxnSp>
        <p:cxnSp>
          <p:nvCxnSpPr>
            <p:cNvPr id="73" name="直接箭头连接符 72"/>
            <p:cNvCxnSpPr/>
            <p:nvPr/>
          </p:nvCxnSpPr>
          <p:spPr>
            <a:xfrm>
              <a:off x="3475035" y="2562490"/>
              <a:ext cx="1069119" cy="0"/>
            </a:xfrm>
            <a:prstGeom prst="straightConnector1">
              <a:avLst/>
            </a:prstGeom>
            <a:noFill/>
            <a:ln w="19050" cap="flat" cmpd="sng" algn="ctr">
              <a:solidFill>
                <a:srgbClr val="C00000"/>
              </a:solidFill>
              <a:prstDash val="solid"/>
              <a:miter lim="800000"/>
              <a:tailEnd type="triangle"/>
            </a:ln>
            <a:effectLst/>
          </p:spPr>
        </p:cxnSp>
      </p:grpSp>
      <p:grpSp>
        <p:nvGrpSpPr>
          <p:cNvPr id="83" name="组合 82"/>
          <p:cNvGrpSpPr/>
          <p:nvPr/>
        </p:nvGrpSpPr>
        <p:grpSpPr>
          <a:xfrm>
            <a:off x="9792436" y="1335939"/>
            <a:ext cx="377341" cy="461633"/>
            <a:chOff x="4402678" y="2057282"/>
            <a:chExt cx="381000" cy="434037"/>
          </a:xfrm>
        </p:grpSpPr>
        <p:sp>
          <p:nvSpPr>
            <p:cNvPr id="84" name="矩形 8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85" name="文本框 84"/>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0" name="组合 19"/>
          <p:cNvGrpSpPr/>
          <p:nvPr/>
        </p:nvGrpSpPr>
        <p:grpSpPr>
          <a:xfrm>
            <a:off x="4412492" y="1458643"/>
            <a:ext cx="2541671" cy="695359"/>
            <a:chOff x="4952242" y="1458643"/>
            <a:chExt cx="2541671" cy="695359"/>
          </a:xfrm>
        </p:grpSpPr>
        <p:cxnSp>
          <p:nvCxnSpPr>
            <p:cNvPr id="92" name="直接箭头连接符 91"/>
            <p:cNvCxnSpPr/>
            <p:nvPr/>
          </p:nvCxnSpPr>
          <p:spPr>
            <a:xfrm>
              <a:off x="4952242" y="1458643"/>
              <a:ext cx="2541671" cy="0"/>
            </a:xfrm>
            <a:prstGeom prst="straightConnector1">
              <a:avLst/>
            </a:prstGeom>
            <a:noFill/>
            <a:ln w="19050" cap="flat" cmpd="sng" algn="ctr">
              <a:solidFill>
                <a:srgbClr val="C00000"/>
              </a:solidFill>
              <a:prstDash val="solid"/>
              <a:miter lim="800000"/>
              <a:tailEnd type="triangle"/>
            </a:ln>
            <a:effectLst/>
          </p:spPr>
        </p:cxnSp>
        <p:cxnSp>
          <p:nvCxnSpPr>
            <p:cNvPr id="93" name="直接箭头连接符 92"/>
            <p:cNvCxnSpPr/>
            <p:nvPr/>
          </p:nvCxnSpPr>
          <p:spPr>
            <a:xfrm>
              <a:off x="4952242" y="1584149"/>
              <a:ext cx="2541671" cy="0"/>
            </a:xfrm>
            <a:prstGeom prst="straightConnector1">
              <a:avLst/>
            </a:prstGeom>
            <a:noFill/>
            <a:ln w="19050" cap="flat" cmpd="sng" algn="ctr">
              <a:solidFill>
                <a:srgbClr val="C00000"/>
              </a:solidFill>
              <a:prstDash val="solid"/>
              <a:miter lim="800000"/>
              <a:tailEnd type="triangle"/>
            </a:ln>
            <a:effectLst/>
          </p:spPr>
        </p:cxnSp>
        <p:cxnSp>
          <p:nvCxnSpPr>
            <p:cNvPr id="94" name="直接箭头连接符 93"/>
            <p:cNvCxnSpPr/>
            <p:nvPr/>
          </p:nvCxnSpPr>
          <p:spPr>
            <a:xfrm>
              <a:off x="4952242" y="1709655"/>
              <a:ext cx="2541671" cy="0"/>
            </a:xfrm>
            <a:prstGeom prst="straightConnector1">
              <a:avLst/>
            </a:prstGeom>
            <a:noFill/>
            <a:ln w="19050" cap="flat" cmpd="sng" algn="ctr">
              <a:solidFill>
                <a:srgbClr val="C00000"/>
              </a:solidFill>
              <a:prstDash val="solid"/>
              <a:miter lim="800000"/>
              <a:tailEnd type="triangle"/>
            </a:ln>
            <a:effectLst/>
          </p:spPr>
        </p:cxnSp>
        <p:cxnSp>
          <p:nvCxnSpPr>
            <p:cNvPr id="95" name="直接箭头连接符 94"/>
            <p:cNvCxnSpPr/>
            <p:nvPr/>
          </p:nvCxnSpPr>
          <p:spPr>
            <a:xfrm>
              <a:off x="4952242" y="1902990"/>
              <a:ext cx="2541671" cy="0"/>
            </a:xfrm>
            <a:prstGeom prst="straightConnector1">
              <a:avLst/>
            </a:prstGeom>
            <a:noFill/>
            <a:ln w="19050" cap="flat" cmpd="sng" algn="ctr">
              <a:solidFill>
                <a:srgbClr val="C00000"/>
              </a:solidFill>
              <a:prstDash val="solid"/>
              <a:miter lim="800000"/>
              <a:tailEnd type="triangle"/>
            </a:ln>
            <a:effectLst/>
          </p:spPr>
        </p:cxnSp>
        <p:cxnSp>
          <p:nvCxnSpPr>
            <p:cNvPr id="100" name="直接箭头连接符 99"/>
            <p:cNvCxnSpPr/>
            <p:nvPr/>
          </p:nvCxnSpPr>
          <p:spPr>
            <a:xfrm>
              <a:off x="4952242" y="2028496"/>
              <a:ext cx="2541671" cy="0"/>
            </a:xfrm>
            <a:prstGeom prst="straightConnector1">
              <a:avLst/>
            </a:prstGeom>
            <a:noFill/>
            <a:ln w="19050" cap="flat" cmpd="sng" algn="ctr">
              <a:solidFill>
                <a:srgbClr val="C00000"/>
              </a:solidFill>
              <a:prstDash val="solid"/>
              <a:miter lim="800000"/>
              <a:tailEnd type="triangle"/>
            </a:ln>
            <a:effectLst/>
          </p:spPr>
        </p:cxnSp>
        <p:cxnSp>
          <p:nvCxnSpPr>
            <p:cNvPr id="109" name="直接箭头连接符 108"/>
            <p:cNvCxnSpPr/>
            <p:nvPr/>
          </p:nvCxnSpPr>
          <p:spPr>
            <a:xfrm>
              <a:off x="4952242" y="2154002"/>
              <a:ext cx="2541671" cy="0"/>
            </a:xfrm>
            <a:prstGeom prst="straightConnector1">
              <a:avLst/>
            </a:prstGeom>
            <a:noFill/>
            <a:ln w="19050" cap="flat" cmpd="sng" algn="ctr">
              <a:solidFill>
                <a:srgbClr val="C00000"/>
              </a:solidFill>
              <a:prstDash val="solid"/>
              <a:miter lim="800000"/>
              <a:tailEnd type="triangle"/>
            </a:ln>
            <a:effectLst/>
          </p:spPr>
        </p:cxnSp>
      </p:grpSp>
      <p:cxnSp>
        <p:nvCxnSpPr>
          <p:cNvPr id="230" name="直接箭头连接符 229"/>
          <p:cNvCxnSpPr/>
          <p:nvPr/>
        </p:nvCxnSpPr>
        <p:spPr>
          <a:xfrm>
            <a:off x="4383517" y="2490380"/>
            <a:ext cx="1322178" cy="0"/>
          </a:xfrm>
          <a:prstGeom prst="straightConnector1">
            <a:avLst/>
          </a:prstGeom>
          <a:noFill/>
          <a:ln w="19050" cap="flat" cmpd="sng" algn="ctr">
            <a:solidFill>
              <a:srgbClr val="C00000"/>
            </a:solidFill>
            <a:prstDash val="solid"/>
            <a:miter lim="800000"/>
            <a:tailEnd type="none"/>
          </a:ln>
          <a:effectLst/>
        </p:spPr>
      </p:cxnSp>
      <p:cxnSp>
        <p:nvCxnSpPr>
          <p:cNvPr id="233" name="直接箭头连接符 232"/>
          <p:cNvCxnSpPr/>
          <p:nvPr/>
        </p:nvCxnSpPr>
        <p:spPr>
          <a:xfrm>
            <a:off x="7279525" y="2022946"/>
            <a:ext cx="1293422" cy="0"/>
          </a:xfrm>
          <a:prstGeom prst="straightConnector1">
            <a:avLst/>
          </a:prstGeom>
          <a:noFill/>
          <a:ln w="19050" cap="sq" cmpd="sng" algn="ctr">
            <a:solidFill>
              <a:srgbClr val="C00000"/>
            </a:solidFill>
            <a:prstDash val="solid"/>
            <a:miter lim="800000"/>
            <a:tailEnd type="none"/>
          </a:ln>
          <a:effectLst/>
        </p:spPr>
      </p:cxnSp>
      <p:grpSp>
        <p:nvGrpSpPr>
          <p:cNvPr id="111" name="组合 110"/>
          <p:cNvGrpSpPr/>
          <p:nvPr/>
        </p:nvGrpSpPr>
        <p:grpSpPr>
          <a:xfrm>
            <a:off x="7270254" y="1442747"/>
            <a:ext cx="2541671" cy="251012"/>
            <a:chOff x="4746052" y="1915843"/>
            <a:chExt cx="1069119" cy="251012"/>
          </a:xfrm>
        </p:grpSpPr>
        <p:cxnSp>
          <p:nvCxnSpPr>
            <p:cNvPr id="112" name="直接箭头连接符 111"/>
            <p:cNvCxnSpPr/>
            <p:nvPr/>
          </p:nvCxnSpPr>
          <p:spPr>
            <a:xfrm>
              <a:off x="4746052" y="1915843"/>
              <a:ext cx="1069119" cy="0"/>
            </a:xfrm>
            <a:prstGeom prst="straightConnector1">
              <a:avLst/>
            </a:prstGeom>
            <a:noFill/>
            <a:ln w="19050" cap="flat" cmpd="sng" algn="ctr">
              <a:solidFill>
                <a:srgbClr val="C00000"/>
              </a:solidFill>
              <a:prstDash val="solid"/>
              <a:miter lim="800000"/>
              <a:tailEnd type="triangle"/>
            </a:ln>
            <a:effectLst/>
          </p:spPr>
        </p:cxnSp>
        <p:cxnSp>
          <p:nvCxnSpPr>
            <p:cNvPr id="113" name="直接箭头连接符 112"/>
            <p:cNvCxnSpPr/>
            <p:nvPr/>
          </p:nvCxnSpPr>
          <p:spPr>
            <a:xfrm>
              <a:off x="4746052" y="2041349"/>
              <a:ext cx="1069119" cy="0"/>
            </a:xfrm>
            <a:prstGeom prst="straightConnector1">
              <a:avLst/>
            </a:prstGeom>
            <a:noFill/>
            <a:ln w="19050" cap="flat" cmpd="sng" algn="ctr">
              <a:solidFill>
                <a:srgbClr val="C00000"/>
              </a:solidFill>
              <a:prstDash val="solid"/>
              <a:miter lim="800000"/>
              <a:tailEnd type="triangle"/>
            </a:ln>
            <a:effectLst/>
          </p:spPr>
        </p:cxnSp>
        <p:cxnSp>
          <p:nvCxnSpPr>
            <p:cNvPr id="115" name="直接箭头连接符 114"/>
            <p:cNvCxnSpPr/>
            <p:nvPr/>
          </p:nvCxnSpPr>
          <p:spPr>
            <a:xfrm>
              <a:off x="4746052" y="2166855"/>
              <a:ext cx="1069119" cy="0"/>
            </a:xfrm>
            <a:prstGeom prst="straightConnector1">
              <a:avLst/>
            </a:prstGeom>
            <a:noFill/>
            <a:ln w="19050" cap="flat" cmpd="sng" algn="ctr">
              <a:solidFill>
                <a:srgbClr val="C00000"/>
              </a:solidFill>
              <a:prstDash val="solid"/>
              <a:miter lim="800000"/>
              <a:tailEnd type="triangle"/>
            </a:ln>
            <a:effectLst/>
          </p:spPr>
        </p:cxnSp>
      </p:grpSp>
      <p:cxnSp>
        <p:nvCxnSpPr>
          <p:cNvPr id="101" name="直接箭头连接符 100"/>
          <p:cNvCxnSpPr>
            <a:stCxn id="204" idx="0"/>
          </p:cNvCxnSpPr>
          <p:nvPr/>
        </p:nvCxnSpPr>
        <p:spPr>
          <a:xfrm>
            <a:off x="4251141" y="1345128"/>
            <a:ext cx="3824" cy="4154304"/>
          </a:xfrm>
          <a:prstGeom prst="straightConnector1">
            <a:avLst/>
          </a:prstGeom>
          <a:noFill/>
          <a:ln w="12700" cap="flat" cmpd="sng" algn="ctr">
            <a:solidFill>
              <a:srgbClr val="5B9BD5"/>
            </a:solidFill>
            <a:prstDash val="dash"/>
            <a:miter lim="800000"/>
            <a:tailEnd type="none"/>
          </a:ln>
          <a:effectLst/>
        </p:spPr>
      </p:cxnSp>
      <p:grpSp>
        <p:nvGrpSpPr>
          <p:cNvPr id="18" name="组合 17"/>
          <p:cNvGrpSpPr/>
          <p:nvPr/>
        </p:nvGrpSpPr>
        <p:grpSpPr>
          <a:xfrm>
            <a:off x="4054237" y="1345128"/>
            <a:ext cx="392228" cy="1377164"/>
            <a:chOff x="4593987" y="1345128"/>
            <a:chExt cx="392228" cy="1377164"/>
          </a:xfrm>
        </p:grpSpPr>
        <p:grpSp>
          <p:nvGrpSpPr>
            <p:cNvPr id="213" name="组合 212"/>
            <p:cNvGrpSpPr/>
            <p:nvPr/>
          </p:nvGrpSpPr>
          <p:grpSpPr>
            <a:xfrm>
              <a:off x="4593987" y="2260659"/>
              <a:ext cx="376616" cy="461633"/>
              <a:chOff x="4387262" y="2057282"/>
              <a:chExt cx="381000" cy="434037"/>
            </a:xfrm>
          </p:grpSpPr>
          <p:sp>
            <p:nvSpPr>
              <p:cNvPr id="214" name="矩形 21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15" name="文本框 214"/>
              <p:cNvSpPr txBox="1"/>
              <p:nvPr/>
            </p:nvSpPr>
            <p:spPr bwMode="auto">
              <a:xfrm rot="16200000">
                <a:off x="4414986"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10" name="组合 209"/>
            <p:cNvGrpSpPr/>
            <p:nvPr/>
          </p:nvGrpSpPr>
          <p:grpSpPr>
            <a:xfrm>
              <a:off x="4608874" y="1799281"/>
              <a:ext cx="377341" cy="461633"/>
              <a:chOff x="4402676" y="2057282"/>
              <a:chExt cx="381000" cy="434037"/>
            </a:xfrm>
          </p:grpSpPr>
          <p:sp>
            <p:nvSpPr>
              <p:cNvPr id="211" name="矩形 210"/>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12" name="文本框 211"/>
              <p:cNvSpPr txBox="1"/>
              <p:nvPr/>
            </p:nvSpPr>
            <p:spPr bwMode="auto">
              <a:xfrm rot="16200000">
                <a:off x="4448487" y="2087259"/>
                <a:ext cx="289378"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8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rPr>
                  <a:t>MEM</a:t>
                </a:r>
                <a:endParaRPr kumimoji="0" lang="zh-CN" altLang="en-US" sz="10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09" name="组合 208"/>
            <p:cNvGrpSpPr/>
            <p:nvPr/>
          </p:nvGrpSpPr>
          <p:grpSpPr>
            <a:xfrm>
              <a:off x="4608510" y="1345128"/>
              <a:ext cx="377341" cy="461633"/>
              <a:chOff x="4402678" y="2057282"/>
              <a:chExt cx="381000" cy="434037"/>
            </a:xfrm>
          </p:grpSpPr>
          <p:sp>
            <p:nvSpPr>
              <p:cNvPr id="204" name="矩形 20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08" name="文本框 207"/>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21" name="组合 20"/>
          <p:cNvGrpSpPr/>
          <p:nvPr/>
        </p:nvGrpSpPr>
        <p:grpSpPr>
          <a:xfrm>
            <a:off x="6934196" y="1335939"/>
            <a:ext cx="377705" cy="915786"/>
            <a:chOff x="7473946" y="1335939"/>
            <a:chExt cx="377705" cy="915786"/>
          </a:xfrm>
        </p:grpSpPr>
        <p:grpSp>
          <p:nvGrpSpPr>
            <p:cNvPr id="78" name="组合 77"/>
            <p:cNvGrpSpPr/>
            <p:nvPr/>
          </p:nvGrpSpPr>
          <p:grpSpPr>
            <a:xfrm>
              <a:off x="7474310" y="1790092"/>
              <a:ext cx="377341" cy="461633"/>
              <a:chOff x="4402676" y="2057282"/>
              <a:chExt cx="381000" cy="434037"/>
            </a:xfrm>
          </p:grpSpPr>
          <p:sp>
            <p:nvSpPr>
              <p:cNvPr id="79" name="矩形 78"/>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80" name="文本框 79"/>
              <p:cNvSpPr txBox="1"/>
              <p:nvPr/>
            </p:nvSpPr>
            <p:spPr bwMode="auto">
              <a:xfrm rot="16200000">
                <a:off x="4448487" y="2087259"/>
                <a:ext cx="289378"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8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rPr>
                  <a:t>MEM</a:t>
                </a:r>
                <a:endParaRPr kumimoji="0" lang="zh-CN" altLang="en-US" sz="10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75" name="组合 74"/>
            <p:cNvGrpSpPr/>
            <p:nvPr/>
          </p:nvGrpSpPr>
          <p:grpSpPr>
            <a:xfrm>
              <a:off x="7473946" y="1335939"/>
              <a:ext cx="377341" cy="461633"/>
              <a:chOff x="4402678" y="2057282"/>
              <a:chExt cx="381000" cy="434037"/>
            </a:xfrm>
          </p:grpSpPr>
          <p:sp>
            <p:nvSpPr>
              <p:cNvPr id="76" name="矩形 75"/>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77" name="文本框 76"/>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9" name="组合 18"/>
          <p:cNvGrpSpPr/>
          <p:nvPr/>
        </p:nvGrpSpPr>
        <p:grpSpPr>
          <a:xfrm>
            <a:off x="4076638" y="2829123"/>
            <a:ext cx="361799" cy="870725"/>
            <a:chOff x="4606863" y="2829123"/>
            <a:chExt cx="361799" cy="870725"/>
          </a:xfrm>
        </p:grpSpPr>
        <p:grpSp>
          <p:nvGrpSpPr>
            <p:cNvPr id="119" name="组合 118"/>
            <p:cNvGrpSpPr/>
            <p:nvPr/>
          </p:nvGrpSpPr>
          <p:grpSpPr bwMode="auto">
            <a:xfrm>
              <a:off x="4606863" y="3294624"/>
              <a:ext cx="346249" cy="405224"/>
              <a:chOff x="247957" y="5061258"/>
              <a:chExt cx="346423" cy="381526"/>
            </a:xfrm>
          </p:grpSpPr>
          <p:sp>
            <p:nvSpPr>
              <p:cNvPr id="120" name="矩形 119"/>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21" name="文本框 120"/>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28" name="组合 127"/>
            <p:cNvGrpSpPr/>
            <p:nvPr/>
          </p:nvGrpSpPr>
          <p:grpSpPr bwMode="auto">
            <a:xfrm>
              <a:off x="4622413" y="2829123"/>
              <a:ext cx="346249" cy="405224"/>
              <a:chOff x="263515" y="5041476"/>
              <a:chExt cx="346423" cy="381526"/>
            </a:xfrm>
          </p:grpSpPr>
          <p:sp>
            <p:nvSpPr>
              <p:cNvPr id="129" name="矩形 12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0" name="文本框 129"/>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7" name="组合 16"/>
          <p:cNvGrpSpPr/>
          <p:nvPr/>
        </p:nvGrpSpPr>
        <p:grpSpPr>
          <a:xfrm>
            <a:off x="4051084" y="3783790"/>
            <a:ext cx="405224" cy="808217"/>
            <a:chOff x="4584750" y="3784588"/>
            <a:chExt cx="405224" cy="808217"/>
          </a:xfrm>
        </p:grpSpPr>
        <p:grpSp>
          <p:nvGrpSpPr>
            <p:cNvPr id="131" name="组合 130"/>
            <p:cNvGrpSpPr/>
            <p:nvPr/>
          </p:nvGrpSpPr>
          <p:grpSpPr bwMode="auto">
            <a:xfrm>
              <a:off x="4584750" y="3784588"/>
              <a:ext cx="405224" cy="349958"/>
              <a:chOff x="225834" y="5083938"/>
              <a:chExt cx="405428" cy="329492"/>
            </a:xfrm>
          </p:grpSpPr>
          <p:sp>
            <p:nvSpPr>
              <p:cNvPr id="132" name="矩形 13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3" name="文本框 132"/>
              <p:cNvSpPr txBox="1"/>
              <p:nvPr/>
            </p:nvSpPr>
            <p:spPr>
              <a:xfrm rot="16200000">
                <a:off x="265548" y="5044224"/>
                <a:ext cx="326000" cy="405428"/>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34" name="组合 133"/>
            <p:cNvGrpSpPr/>
            <p:nvPr/>
          </p:nvGrpSpPr>
          <p:grpSpPr bwMode="auto">
            <a:xfrm>
              <a:off x="4584750" y="4242850"/>
              <a:ext cx="405224" cy="349955"/>
              <a:chOff x="225833" y="5083941"/>
              <a:chExt cx="405427" cy="329489"/>
            </a:xfrm>
          </p:grpSpPr>
          <p:sp>
            <p:nvSpPr>
              <p:cNvPr id="135" name="矩形 134"/>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6" name="文本框 135"/>
              <p:cNvSpPr txBox="1"/>
              <p:nvPr/>
            </p:nvSpPr>
            <p:spPr>
              <a:xfrm rot="16200000">
                <a:off x="265547" y="5044227"/>
                <a:ext cx="326000" cy="405427"/>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43" name="组合 142"/>
          <p:cNvGrpSpPr/>
          <p:nvPr/>
        </p:nvGrpSpPr>
        <p:grpSpPr bwMode="auto">
          <a:xfrm>
            <a:off x="4108939" y="4679601"/>
            <a:ext cx="346249" cy="405224"/>
            <a:chOff x="280275" y="5063698"/>
            <a:chExt cx="346423" cy="381526"/>
          </a:xfrm>
        </p:grpSpPr>
        <p:sp>
          <p:nvSpPr>
            <p:cNvPr id="144" name="矩形 143"/>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45" name="文本框 144"/>
            <p:cNvSpPr txBox="1"/>
            <p:nvPr/>
          </p:nvSpPr>
          <p:spPr>
            <a:xfrm>
              <a:off x="280275" y="506369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Imm</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4" name="组合 23"/>
          <p:cNvGrpSpPr/>
          <p:nvPr/>
        </p:nvGrpSpPr>
        <p:grpSpPr>
          <a:xfrm>
            <a:off x="6945974" y="2836672"/>
            <a:ext cx="361799" cy="870725"/>
            <a:chOff x="7473024" y="2836672"/>
            <a:chExt cx="361799" cy="870725"/>
          </a:xfrm>
        </p:grpSpPr>
        <p:grpSp>
          <p:nvGrpSpPr>
            <p:cNvPr id="146" name="组合 145"/>
            <p:cNvGrpSpPr/>
            <p:nvPr/>
          </p:nvGrpSpPr>
          <p:grpSpPr bwMode="auto">
            <a:xfrm>
              <a:off x="7473024" y="3302173"/>
              <a:ext cx="346249" cy="405224"/>
              <a:chOff x="247957" y="5061258"/>
              <a:chExt cx="346423" cy="381526"/>
            </a:xfrm>
          </p:grpSpPr>
          <p:sp>
            <p:nvSpPr>
              <p:cNvPr id="147" name="矩形 146"/>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48" name="文本框 147"/>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49" name="组合 148"/>
            <p:cNvGrpSpPr/>
            <p:nvPr/>
          </p:nvGrpSpPr>
          <p:grpSpPr bwMode="auto">
            <a:xfrm>
              <a:off x="7488574" y="2836672"/>
              <a:ext cx="346249" cy="405224"/>
              <a:chOff x="263515" y="5041476"/>
              <a:chExt cx="346423" cy="381526"/>
            </a:xfrm>
          </p:grpSpPr>
          <p:sp>
            <p:nvSpPr>
              <p:cNvPr id="150" name="矩形 149"/>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1" name="文本框 150"/>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52" name="组合 151"/>
          <p:cNvGrpSpPr/>
          <p:nvPr/>
        </p:nvGrpSpPr>
        <p:grpSpPr bwMode="auto">
          <a:xfrm>
            <a:off x="6937887" y="4208559"/>
            <a:ext cx="346249" cy="405224"/>
            <a:chOff x="239867" y="5067734"/>
            <a:chExt cx="346423" cy="381526"/>
          </a:xfrm>
        </p:grpSpPr>
        <p:sp>
          <p:nvSpPr>
            <p:cNvPr id="153" name="矩形 152"/>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4" name="文本框 153"/>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6" name="组合 25"/>
          <p:cNvGrpSpPr/>
          <p:nvPr/>
        </p:nvGrpSpPr>
        <p:grpSpPr>
          <a:xfrm>
            <a:off x="9803013" y="2839361"/>
            <a:ext cx="361799" cy="870725"/>
            <a:chOff x="10330063" y="2839361"/>
            <a:chExt cx="361799" cy="870725"/>
          </a:xfrm>
        </p:grpSpPr>
        <p:grpSp>
          <p:nvGrpSpPr>
            <p:cNvPr id="155" name="组合 154"/>
            <p:cNvGrpSpPr/>
            <p:nvPr/>
          </p:nvGrpSpPr>
          <p:grpSpPr bwMode="auto">
            <a:xfrm>
              <a:off x="10330063" y="3304862"/>
              <a:ext cx="346249" cy="405224"/>
              <a:chOff x="247957" y="5061258"/>
              <a:chExt cx="346423" cy="381526"/>
            </a:xfrm>
          </p:grpSpPr>
          <p:sp>
            <p:nvSpPr>
              <p:cNvPr id="156" name="矩形 155"/>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7" name="文本框 156"/>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58" name="组合 157"/>
            <p:cNvGrpSpPr/>
            <p:nvPr/>
          </p:nvGrpSpPr>
          <p:grpSpPr bwMode="auto">
            <a:xfrm>
              <a:off x="10345613" y="2839361"/>
              <a:ext cx="346249" cy="405224"/>
              <a:chOff x="263515" y="5041476"/>
              <a:chExt cx="346423" cy="381526"/>
            </a:xfrm>
          </p:grpSpPr>
          <p:sp>
            <p:nvSpPr>
              <p:cNvPr id="159" name="矩形 15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0" name="文本框 159"/>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61" name="组合 160"/>
          <p:cNvGrpSpPr/>
          <p:nvPr/>
        </p:nvGrpSpPr>
        <p:grpSpPr bwMode="auto">
          <a:xfrm>
            <a:off x="9794926" y="3777615"/>
            <a:ext cx="346249" cy="405224"/>
            <a:chOff x="239867" y="5067734"/>
            <a:chExt cx="346423" cy="381526"/>
          </a:xfrm>
        </p:grpSpPr>
        <p:sp>
          <p:nvSpPr>
            <p:cNvPr id="162" name="矩形 16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3" name="文本框 162"/>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64" name="组合 163"/>
          <p:cNvGrpSpPr/>
          <p:nvPr/>
        </p:nvGrpSpPr>
        <p:grpSpPr bwMode="auto">
          <a:xfrm>
            <a:off x="9790312" y="4224839"/>
            <a:ext cx="346249" cy="405224"/>
            <a:chOff x="239867" y="5067734"/>
            <a:chExt cx="346423" cy="381526"/>
          </a:xfrm>
        </p:grpSpPr>
        <p:sp>
          <p:nvSpPr>
            <p:cNvPr id="165" name="矩形 164"/>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6" name="文本框 165"/>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MD</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87" name="组合 286"/>
          <p:cNvGrpSpPr/>
          <p:nvPr/>
        </p:nvGrpSpPr>
        <p:grpSpPr>
          <a:xfrm>
            <a:off x="432083" y="3211801"/>
            <a:ext cx="779115" cy="276999"/>
            <a:chOff x="882186" y="3175942"/>
            <a:chExt cx="779115" cy="276999"/>
          </a:xfrm>
        </p:grpSpPr>
        <p:cxnSp>
          <p:nvCxnSpPr>
            <p:cNvPr id="15" name="直接箭头连接符 14"/>
            <p:cNvCxnSpPr/>
            <p:nvPr/>
          </p:nvCxnSpPr>
          <p:spPr>
            <a:xfrm>
              <a:off x="882186" y="3440673"/>
              <a:ext cx="779115" cy="0"/>
            </a:xfrm>
            <a:prstGeom prst="straightConnector1">
              <a:avLst/>
            </a:prstGeom>
            <a:noFill/>
            <a:ln w="19050" cap="flat" cmpd="sng" algn="ctr">
              <a:solidFill>
                <a:sysClr val="windowText" lastClr="000000"/>
              </a:solidFill>
              <a:prstDash val="solid"/>
              <a:miter lim="800000"/>
              <a:tailEnd type="triangle"/>
            </a:ln>
            <a:effectLst/>
          </p:spPr>
        </p:cxnSp>
        <p:sp>
          <p:nvSpPr>
            <p:cNvPr id="169" name="文本框 168"/>
            <p:cNvSpPr txBox="1"/>
            <p:nvPr/>
          </p:nvSpPr>
          <p:spPr>
            <a:xfrm>
              <a:off x="954675" y="3175942"/>
              <a:ext cx="3818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grpSp>
        <p:nvGrpSpPr>
          <p:cNvPr id="286" name="组合 285"/>
          <p:cNvGrpSpPr/>
          <p:nvPr/>
        </p:nvGrpSpPr>
        <p:grpSpPr>
          <a:xfrm>
            <a:off x="432083" y="2760374"/>
            <a:ext cx="779115" cy="294963"/>
            <a:chOff x="882186" y="2724515"/>
            <a:chExt cx="779115" cy="294963"/>
          </a:xfrm>
        </p:grpSpPr>
        <p:cxnSp>
          <p:nvCxnSpPr>
            <p:cNvPr id="168" name="直接箭头连接符 167"/>
            <p:cNvCxnSpPr/>
            <p:nvPr/>
          </p:nvCxnSpPr>
          <p:spPr>
            <a:xfrm>
              <a:off x="882186" y="3019478"/>
              <a:ext cx="779115" cy="0"/>
            </a:xfrm>
            <a:prstGeom prst="straightConnector1">
              <a:avLst/>
            </a:prstGeom>
            <a:noFill/>
            <a:ln w="19050" cap="flat" cmpd="sng" algn="ctr">
              <a:solidFill>
                <a:sysClr val="windowText" lastClr="000000"/>
              </a:solidFill>
              <a:prstDash val="solid"/>
              <a:miter lim="800000"/>
              <a:tailEnd type="triangle"/>
            </a:ln>
            <a:effectLst/>
          </p:spPr>
        </p:cxnSp>
        <p:sp>
          <p:nvSpPr>
            <p:cNvPr id="170" name="文本框 169"/>
            <p:cNvSpPr txBox="1"/>
            <p:nvPr/>
          </p:nvSpPr>
          <p:spPr>
            <a:xfrm>
              <a:off x="886849" y="2724515"/>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指令字</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grpSp>
      <p:cxnSp>
        <p:nvCxnSpPr>
          <p:cNvPr id="35" name="直接连接符 34"/>
          <p:cNvCxnSpPr/>
          <p:nvPr/>
        </p:nvCxnSpPr>
        <p:spPr>
          <a:xfrm>
            <a:off x="1347303" y="5764306"/>
            <a:ext cx="862282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Rectangle 3"/>
          <p:cNvSpPr txBox="1">
            <a:spLocks noChangeArrowheads="1"/>
          </p:cNvSpPr>
          <p:nvPr/>
        </p:nvSpPr>
        <p:spPr>
          <a:xfrm>
            <a:off x="2463793" y="5990117"/>
            <a:ext cx="6996071" cy="56060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chemeClr val="bg2">
                    <a:lumMod val="25000"/>
                  </a:schemeClr>
                </a:solidFill>
              </a:rPr>
              <a:t>译码段生成各段所需的控制信号，依次向后传递</a:t>
            </a:r>
            <a:endParaRPr lang="en-US" altLang="zh-CN" dirty="0">
              <a:solidFill>
                <a:schemeClr val="bg2">
                  <a:lumMod val="25000"/>
                </a:schemeClr>
              </a:solidFill>
            </a:endParaRPr>
          </a:p>
        </p:txBody>
      </p:sp>
      <p:grpSp>
        <p:nvGrpSpPr>
          <p:cNvPr id="5" name="组合 4"/>
          <p:cNvGrpSpPr/>
          <p:nvPr/>
        </p:nvGrpSpPr>
        <p:grpSpPr>
          <a:xfrm>
            <a:off x="5410189" y="3708457"/>
            <a:ext cx="557170" cy="930946"/>
            <a:chOff x="5949939" y="3708457"/>
            <a:chExt cx="557170" cy="930946"/>
          </a:xfrm>
        </p:grpSpPr>
        <p:sp>
          <p:nvSpPr>
            <p:cNvPr id="184" name="任意多边形 183"/>
            <p:cNvSpPr/>
            <p:nvPr/>
          </p:nvSpPr>
          <p:spPr>
            <a:xfrm>
              <a:off x="5949939" y="3708457"/>
              <a:ext cx="557170" cy="930946"/>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5" name="文本框 184"/>
            <p:cNvSpPr txBox="1"/>
            <p:nvPr/>
          </p:nvSpPr>
          <p:spPr>
            <a:xfrm>
              <a:off x="5991649" y="4071118"/>
              <a:ext cx="47641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ALU</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5978135" y="4190212"/>
            <a:ext cx="974820" cy="216672"/>
            <a:chOff x="6517885" y="4190212"/>
            <a:chExt cx="974820" cy="216672"/>
          </a:xfrm>
        </p:grpSpPr>
        <p:cxnSp>
          <p:nvCxnSpPr>
            <p:cNvPr id="220" name="直接箭头连接符 219"/>
            <p:cNvCxnSpPr/>
            <p:nvPr/>
          </p:nvCxnSpPr>
          <p:spPr>
            <a:xfrm>
              <a:off x="6884894" y="4406884"/>
              <a:ext cx="607811" cy="0"/>
            </a:xfrm>
            <a:prstGeom prst="straightConnector1">
              <a:avLst/>
            </a:prstGeom>
            <a:noFill/>
            <a:ln w="19050" cap="sq" cmpd="sng" algn="ctr">
              <a:solidFill>
                <a:sysClr val="windowText" lastClr="000000"/>
              </a:solidFill>
              <a:prstDash val="solid"/>
              <a:miter lim="800000"/>
              <a:tailEnd type="triangle"/>
            </a:ln>
            <a:effectLst/>
          </p:spPr>
        </p:cxnSp>
        <p:cxnSp>
          <p:nvCxnSpPr>
            <p:cNvPr id="222" name="直接箭头连接符 221"/>
            <p:cNvCxnSpPr/>
            <p:nvPr/>
          </p:nvCxnSpPr>
          <p:spPr>
            <a:xfrm>
              <a:off x="6517885" y="4190434"/>
              <a:ext cx="367009" cy="0"/>
            </a:xfrm>
            <a:prstGeom prst="straightConnector1">
              <a:avLst/>
            </a:prstGeom>
            <a:noFill/>
            <a:ln w="19050" cap="sq" cmpd="sng" algn="ctr">
              <a:solidFill>
                <a:sysClr val="windowText" lastClr="000000"/>
              </a:solidFill>
              <a:prstDash val="solid"/>
              <a:miter lim="800000"/>
              <a:tailEnd type="none"/>
            </a:ln>
            <a:effectLst/>
          </p:spPr>
        </p:cxnSp>
        <p:cxnSp>
          <p:nvCxnSpPr>
            <p:cNvPr id="46" name="直接连接符 45"/>
            <p:cNvCxnSpPr/>
            <p:nvPr/>
          </p:nvCxnSpPr>
          <p:spPr>
            <a:xfrm>
              <a:off x="6884894" y="4190212"/>
              <a:ext cx="0" cy="216672"/>
            </a:xfrm>
            <a:prstGeom prst="line">
              <a:avLst/>
            </a:prstGeom>
            <a:noFill/>
            <a:ln w="19050" cap="sq" cmpd="sng" algn="ctr">
              <a:solidFill>
                <a:sysClr val="windowText" lastClr="000000"/>
              </a:solidFill>
              <a:prstDash val="solid"/>
              <a:miter lim="800000"/>
              <a:tailEnd type="none"/>
            </a:ln>
            <a:effectLst/>
          </p:spPr>
        </p:cxnSp>
      </p:grpSp>
      <p:cxnSp>
        <p:nvCxnSpPr>
          <p:cNvPr id="227" name="直接箭头连接符 226"/>
          <p:cNvCxnSpPr/>
          <p:nvPr/>
        </p:nvCxnSpPr>
        <p:spPr>
          <a:xfrm>
            <a:off x="9165485" y="4395729"/>
            <a:ext cx="648553"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连接符 233"/>
          <p:cNvCxnSpPr/>
          <p:nvPr/>
        </p:nvCxnSpPr>
        <p:spPr>
          <a:xfrm>
            <a:off x="8572946" y="2028496"/>
            <a:ext cx="0" cy="1832688"/>
          </a:xfrm>
          <a:prstGeom prst="line">
            <a:avLst/>
          </a:prstGeom>
          <a:noFill/>
          <a:ln w="19050" cap="sq" cmpd="sng" algn="ctr">
            <a:solidFill>
              <a:srgbClr val="C00000"/>
            </a:solidFill>
            <a:prstDash val="solid"/>
            <a:miter lim="800000"/>
            <a:tailEnd type="triangle"/>
          </a:ln>
          <a:effectLst/>
        </p:spPr>
      </p:cxnSp>
      <p:grpSp>
        <p:nvGrpSpPr>
          <p:cNvPr id="7" name="组合 6"/>
          <p:cNvGrpSpPr/>
          <p:nvPr/>
        </p:nvGrpSpPr>
        <p:grpSpPr>
          <a:xfrm>
            <a:off x="7952205" y="3848752"/>
            <a:ext cx="1219958" cy="1186311"/>
            <a:chOff x="8491955" y="3848752"/>
            <a:chExt cx="1219958" cy="1186311"/>
          </a:xfrm>
        </p:grpSpPr>
        <p:sp>
          <p:nvSpPr>
            <p:cNvPr id="203" name="矩形 202"/>
            <p:cNvSpPr/>
            <p:nvPr/>
          </p:nvSpPr>
          <p:spPr>
            <a:xfrm>
              <a:off x="8537478" y="3868970"/>
              <a:ext cx="1159582" cy="1163786"/>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5" name="文本框 204"/>
            <p:cNvSpPr txBox="1"/>
            <p:nvPr/>
          </p:nvSpPr>
          <p:spPr>
            <a:xfrm>
              <a:off x="8491955" y="4312324"/>
              <a:ext cx="51809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6" name="文本框 205"/>
            <p:cNvSpPr txBox="1"/>
            <p:nvPr/>
          </p:nvSpPr>
          <p:spPr>
            <a:xfrm>
              <a:off x="8833656" y="4121455"/>
              <a:ext cx="588623" cy="548548"/>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7" name="文本框 206"/>
            <p:cNvSpPr txBox="1"/>
            <p:nvPr/>
          </p:nvSpPr>
          <p:spPr>
            <a:xfrm>
              <a:off x="9363741" y="4310897"/>
              <a:ext cx="34817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6" name="文本框 215"/>
            <p:cNvSpPr txBox="1"/>
            <p:nvPr/>
          </p:nvSpPr>
          <p:spPr>
            <a:xfrm>
              <a:off x="8530433" y="4719683"/>
              <a:ext cx="84551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7" name="等腰三角形 216"/>
            <p:cNvSpPr/>
            <p:nvPr/>
          </p:nvSpPr>
          <p:spPr>
            <a:xfrm>
              <a:off x="9068679" y="4926083"/>
              <a:ext cx="187278" cy="10898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1" name="文本框 240"/>
            <p:cNvSpPr txBox="1"/>
            <p:nvPr/>
          </p:nvSpPr>
          <p:spPr>
            <a:xfrm>
              <a:off x="8934516" y="3848752"/>
              <a:ext cx="365806"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WE</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42" name="组合 241"/>
          <p:cNvGrpSpPr/>
          <p:nvPr/>
        </p:nvGrpSpPr>
        <p:grpSpPr bwMode="auto">
          <a:xfrm>
            <a:off x="6922351" y="3794825"/>
            <a:ext cx="405224" cy="349958"/>
            <a:chOff x="225834" y="5083938"/>
            <a:chExt cx="405428" cy="329492"/>
          </a:xfrm>
        </p:grpSpPr>
        <p:sp>
          <p:nvSpPr>
            <p:cNvPr id="243" name="矩形 242"/>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244" name="文本框 243"/>
            <p:cNvSpPr txBox="1"/>
            <p:nvPr/>
          </p:nvSpPr>
          <p:spPr>
            <a:xfrm rot="16200000">
              <a:off x="265548" y="5044224"/>
              <a:ext cx="326000" cy="405428"/>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5" name="组合 24"/>
          <p:cNvGrpSpPr/>
          <p:nvPr/>
        </p:nvGrpSpPr>
        <p:grpSpPr>
          <a:xfrm>
            <a:off x="7263656" y="3964168"/>
            <a:ext cx="734072" cy="850191"/>
            <a:chOff x="7803406" y="3964168"/>
            <a:chExt cx="734072" cy="850191"/>
          </a:xfrm>
        </p:grpSpPr>
        <p:cxnSp>
          <p:nvCxnSpPr>
            <p:cNvPr id="224" name="直接箭头连接符 223"/>
            <p:cNvCxnSpPr/>
            <p:nvPr/>
          </p:nvCxnSpPr>
          <p:spPr>
            <a:xfrm>
              <a:off x="7803406" y="4406884"/>
              <a:ext cx="734072" cy="0"/>
            </a:xfrm>
            <a:prstGeom prst="straightConnector1">
              <a:avLst/>
            </a:prstGeom>
            <a:noFill/>
            <a:ln w="19050" cap="flat" cmpd="sng" algn="ctr">
              <a:solidFill>
                <a:sysClr val="windowText" lastClr="000000"/>
              </a:solidFill>
              <a:prstDash val="solid"/>
              <a:miter lim="800000"/>
              <a:tailEnd type="triangle"/>
            </a:ln>
            <a:effectLst/>
          </p:spPr>
        </p:cxnSp>
        <p:cxnSp>
          <p:nvCxnSpPr>
            <p:cNvPr id="250" name="直接箭头连接符 249"/>
            <p:cNvCxnSpPr/>
            <p:nvPr/>
          </p:nvCxnSpPr>
          <p:spPr>
            <a:xfrm>
              <a:off x="7819273" y="3965439"/>
              <a:ext cx="367009" cy="0"/>
            </a:xfrm>
            <a:prstGeom prst="straightConnector1">
              <a:avLst/>
            </a:prstGeom>
            <a:noFill/>
            <a:ln w="19050" cap="sq" cmpd="sng" algn="ctr">
              <a:solidFill>
                <a:sysClr val="windowText" lastClr="000000"/>
              </a:solidFill>
              <a:prstDash val="solid"/>
              <a:miter lim="800000"/>
              <a:tailEnd type="none"/>
            </a:ln>
            <a:effectLst/>
          </p:spPr>
        </p:cxnSp>
        <p:cxnSp>
          <p:nvCxnSpPr>
            <p:cNvPr id="251" name="直接连接符 250"/>
            <p:cNvCxnSpPr/>
            <p:nvPr/>
          </p:nvCxnSpPr>
          <p:spPr>
            <a:xfrm>
              <a:off x="8185286" y="3964168"/>
              <a:ext cx="0" cy="850191"/>
            </a:xfrm>
            <a:prstGeom prst="line">
              <a:avLst/>
            </a:prstGeom>
            <a:noFill/>
            <a:ln w="19050" cap="sq" cmpd="sng" algn="ctr">
              <a:solidFill>
                <a:sysClr val="windowText" lastClr="000000"/>
              </a:solidFill>
              <a:prstDash val="solid"/>
              <a:miter lim="800000"/>
              <a:tailEnd type="none"/>
            </a:ln>
            <a:effectLst/>
          </p:spPr>
        </p:cxnSp>
        <p:cxnSp>
          <p:nvCxnSpPr>
            <p:cNvPr id="253" name="直接箭头连接符 252"/>
            <p:cNvCxnSpPr/>
            <p:nvPr/>
          </p:nvCxnSpPr>
          <p:spPr>
            <a:xfrm>
              <a:off x="8185286" y="4814359"/>
              <a:ext cx="352192" cy="0"/>
            </a:xfrm>
            <a:prstGeom prst="straightConnector1">
              <a:avLst/>
            </a:prstGeom>
            <a:noFill/>
            <a:ln w="19050" cap="sq" cmpd="sng" algn="ctr">
              <a:solidFill>
                <a:sysClr val="windowText" lastClr="000000"/>
              </a:solidFill>
              <a:prstDash val="solid"/>
              <a:miter lim="800000"/>
              <a:tailEnd type="triangle"/>
            </a:ln>
            <a:effectLst/>
          </p:spPr>
        </p:cxnSp>
      </p:grpSp>
      <p:grpSp>
        <p:nvGrpSpPr>
          <p:cNvPr id="22" name="组合 21"/>
          <p:cNvGrpSpPr/>
          <p:nvPr/>
        </p:nvGrpSpPr>
        <p:grpSpPr>
          <a:xfrm>
            <a:off x="4423557" y="3964168"/>
            <a:ext cx="1005771" cy="938421"/>
            <a:chOff x="4963307" y="3964168"/>
            <a:chExt cx="1005771" cy="938421"/>
          </a:xfrm>
        </p:grpSpPr>
        <p:cxnSp>
          <p:nvCxnSpPr>
            <p:cNvPr id="218" name="直接箭头连接符 217"/>
            <p:cNvCxnSpPr/>
            <p:nvPr/>
          </p:nvCxnSpPr>
          <p:spPr>
            <a:xfrm>
              <a:off x="4963307" y="3964168"/>
              <a:ext cx="1005771" cy="0"/>
            </a:xfrm>
            <a:prstGeom prst="straightConnector1">
              <a:avLst/>
            </a:prstGeom>
            <a:noFill/>
            <a:ln w="19050" cap="flat" cmpd="sng" algn="ctr">
              <a:solidFill>
                <a:sysClr val="windowText" lastClr="000000"/>
              </a:solidFill>
              <a:prstDash val="solid"/>
              <a:miter lim="800000"/>
              <a:tailEnd type="triangle"/>
            </a:ln>
            <a:effectLst/>
          </p:spPr>
        </p:cxnSp>
        <p:grpSp>
          <p:nvGrpSpPr>
            <p:cNvPr id="3" name="组合 2"/>
            <p:cNvGrpSpPr/>
            <p:nvPr/>
          </p:nvGrpSpPr>
          <p:grpSpPr>
            <a:xfrm>
              <a:off x="4963307" y="4436185"/>
              <a:ext cx="986632" cy="466404"/>
              <a:chOff x="4963307" y="4436185"/>
              <a:chExt cx="986632" cy="466404"/>
            </a:xfrm>
          </p:grpSpPr>
          <p:cxnSp>
            <p:nvCxnSpPr>
              <p:cNvPr id="219" name="直接箭头连接符 218"/>
              <p:cNvCxnSpPr/>
              <p:nvPr/>
            </p:nvCxnSpPr>
            <p:spPr>
              <a:xfrm>
                <a:off x="5530327" y="4436185"/>
                <a:ext cx="419612" cy="0"/>
              </a:xfrm>
              <a:prstGeom prst="straightConnector1">
                <a:avLst/>
              </a:prstGeom>
              <a:noFill/>
              <a:ln w="19050" cap="sq" cmpd="sng" algn="ctr">
                <a:solidFill>
                  <a:sysClr val="windowText" lastClr="000000"/>
                </a:solidFill>
                <a:prstDash val="solid"/>
                <a:miter lim="800000"/>
                <a:tailEnd type="triangle"/>
              </a:ln>
              <a:effectLst/>
            </p:spPr>
          </p:cxnSp>
          <p:cxnSp>
            <p:nvCxnSpPr>
              <p:cNvPr id="260" name="直接连接符 259"/>
              <p:cNvCxnSpPr/>
              <p:nvPr/>
            </p:nvCxnSpPr>
            <p:spPr>
              <a:xfrm>
                <a:off x="5530327" y="4436185"/>
                <a:ext cx="0" cy="466404"/>
              </a:xfrm>
              <a:prstGeom prst="line">
                <a:avLst/>
              </a:prstGeom>
              <a:noFill/>
              <a:ln w="19050" cap="sq" cmpd="sng" algn="ctr">
                <a:solidFill>
                  <a:sysClr val="windowText" lastClr="000000"/>
                </a:solidFill>
                <a:prstDash val="solid"/>
                <a:miter lim="800000"/>
                <a:tailEnd type="none"/>
              </a:ln>
              <a:effectLst/>
            </p:spPr>
          </p:cxnSp>
          <p:cxnSp>
            <p:nvCxnSpPr>
              <p:cNvPr id="263" name="直接箭头连接符 262"/>
              <p:cNvCxnSpPr/>
              <p:nvPr/>
            </p:nvCxnSpPr>
            <p:spPr>
              <a:xfrm>
                <a:off x="4963307" y="4902589"/>
                <a:ext cx="567020" cy="0"/>
              </a:xfrm>
              <a:prstGeom prst="straightConnector1">
                <a:avLst/>
              </a:prstGeom>
              <a:noFill/>
              <a:ln w="19050" cap="sq" cmpd="sng" algn="ctr">
                <a:solidFill>
                  <a:sysClr val="windowText" lastClr="000000"/>
                </a:solidFill>
                <a:prstDash val="solid"/>
                <a:miter lim="800000"/>
                <a:tailEnd type="none"/>
              </a:ln>
              <a:effectLst/>
            </p:spPr>
          </p:cxnSp>
        </p:grpSp>
      </p:grpSp>
      <p:grpSp>
        <p:nvGrpSpPr>
          <p:cNvPr id="27" name="组合 26"/>
          <p:cNvGrpSpPr/>
          <p:nvPr/>
        </p:nvGrpSpPr>
        <p:grpSpPr>
          <a:xfrm>
            <a:off x="5692692" y="2490380"/>
            <a:ext cx="662361" cy="1370804"/>
            <a:chOff x="6232442" y="2490380"/>
            <a:chExt cx="662361" cy="1370804"/>
          </a:xfrm>
        </p:grpSpPr>
        <p:cxnSp>
          <p:nvCxnSpPr>
            <p:cNvPr id="232" name="直接连接符 231"/>
            <p:cNvCxnSpPr/>
            <p:nvPr/>
          </p:nvCxnSpPr>
          <p:spPr>
            <a:xfrm>
              <a:off x="6245442" y="2490380"/>
              <a:ext cx="0" cy="1370804"/>
            </a:xfrm>
            <a:prstGeom prst="line">
              <a:avLst/>
            </a:prstGeom>
            <a:noFill/>
            <a:ln w="19050" cap="sq" cmpd="sng" algn="ctr">
              <a:solidFill>
                <a:srgbClr val="C00000"/>
              </a:solidFill>
              <a:prstDash val="solid"/>
              <a:miter lim="800000"/>
              <a:tailEnd type="triangle"/>
            </a:ln>
            <a:effectLst/>
          </p:spPr>
        </p:cxnSp>
        <p:sp>
          <p:nvSpPr>
            <p:cNvPr id="274" name="文本框 273"/>
            <p:cNvSpPr txBox="1"/>
            <p:nvPr/>
          </p:nvSpPr>
          <p:spPr>
            <a:xfrm>
              <a:off x="6232442" y="3476688"/>
              <a:ext cx="6623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r>
                <a:rPr lang="en-US" altLang="zh-CN" sz="1200"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rPr>
                <a:t>OP</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grpSp>
        <p:nvGrpSpPr>
          <p:cNvPr id="16" name="组合 15"/>
          <p:cNvGrpSpPr/>
          <p:nvPr/>
        </p:nvGrpSpPr>
        <p:grpSpPr>
          <a:xfrm>
            <a:off x="3335918" y="3953517"/>
            <a:ext cx="763496" cy="469647"/>
            <a:chOff x="3875668" y="3953517"/>
            <a:chExt cx="763496" cy="469647"/>
          </a:xfrm>
        </p:grpSpPr>
        <p:cxnSp>
          <p:nvCxnSpPr>
            <p:cNvPr id="275" name="直接箭头连接符 274"/>
            <p:cNvCxnSpPr/>
            <p:nvPr/>
          </p:nvCxnSpPr>
          <p:spPr>
            <a:xfrm>
              <a:off x="3875668" y="3953517"/>
              <a:ext cx="746745" cy="0"/>
            </a:xfrm>
            <a:prstGeom prst="straightConnector1">
              <a:avLst/>
            </a:prstGeom>
            <a:noFill/>
            <a:ln w="19050" cap="flat" cmpd="sng" algn="ctr">
              <a:solidFill>
                <a:sysClr val="windowText" lastClr="000000"/>
              </a:solidFill>
              <a:prstDash val="solid"/>
              <a:miter lim="800000"/>
              <a:tailEnd type="triangle"/>
            </a:ln>
            <a:effectLst/>
          </p:spPr>
        </p:cxnSp>
        <p:cxnSp>
          <p:nvCxnSpPr>
            <p:cNvPr id="280" name="直接箭头连接符 279"/>
            <p:cNvCxnSpPr/>
            <p:nvPr/>
          </p:nvCxnSpPr>
          <p:spPr>
            <a:xfrm>
              <a:off x="3892419" y="4423164"/>
              <a:ext cx="746745" cy="0"/>
            </a:xfrm>
            <a:prstGeom prst="straightConnector1">
              <a:avLst/>
            </a:prstGeom>
            <a:noFill/>
            <a:ln w="19050" cap="flat" cmpd="sng" algn="ctr">
              <a:solidFill>
                <a:sysClr val="windowText" lastClr="000000"/>
              </a:solidFill>
              <a:prstDash val="solid"/>
              <a:miter lim="800000"/>
              <a:tailEnd type="triangle"/>
            </a:ln>
            <a:effectLst/>
          </p:spPr>
        </p:cxnSp>
      </p:grpSp>
      <p:grpSp>
        <p:nvGrpSpPr>
          <p:cNvPr id="12" name="组合 11"/>
          <p:cNvGrpSpPr/>
          <p:nvPr/>
        </p:nvGrpSpPr>
        <p:grpSpPr>
          <a:xfrm>
            <a:off x="1512595" y="1329130"/>
            <a:ext cx="2575182" cy="1723478"/>
            <a:chOff x="2052345" y="1329130"/>
            <a:chExt cx="2575182" cy="1723478"/>
          </a:xfrm>
        </p:grpSpPr>
        <p:sp>
          <p:nvSpPr>
            <p:cNvPr id="200" name="文本框 199"/>
            <p:cNvSpPr txBox="1"/>
            <p:nvPr/>
          </p:nvSpPr>
          <p:spPr>
            <a:xfrm>
              <a:off x="2390964" y="1904596"/>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指令字</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01" name="圆角矩形 200"/>
            <p:cNvSpPr/>
            <p:nvPr/>
          </p:nvSpPr>
          <p:spPr>
            <a:xfrm>
              <a:off x="3006479" y="1329130"/>
              <a:ext cx="533267" cy="1393162"/>
            </a:xfrm>
            <a:prstGeom prst="roundRect">
              <a:avLst/>
            </a:prstGeom>
            <a:solidFill>
              <a:srgbClr val="C00000"/>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单周期</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CN" altLang="en-US" sz="1400" dirty="0">
                  <a:solidFill>
                    <a:schemeClr val="bg1"/>
                  </a:solidFill>
                  <a:latin typeface="微软雅黑" panose="020B0503020204020204" pitchFamily="34" charset="-122"/>
                  <a:ea typeface="微软雅黑" panose="020B0503020204020204" pitchFamily="34" charset="-122"/>
                </a:rPr>
                <a:t>控制器</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74" name="直接箭头连接符 73"/>
            <p:cNvCxnSpPr/>
            <p:nvPr/>
          </p:nvCxnSpPr>
          <p:spPr>
            <a:xfrm>
              <a:off x="2526179" y="2187101"/>
              <a:ext cx="465696" cy="0"/>
            </a:xfrm>
            <a:prstGeom prst="straightConnector1">
              <a:avLst/>
            </a:prstGeom>
            <a:noFill/>
            <a:ln w="19050" cap="flat" cmpd="sng" algn="ctr">
              <a:solidFill>
                <a:sysClr val="windowText" lastClr="000000"/>
              </a:solidFill>
              <a:prstDash val="solid"/>
              <a:miter lim="800000"/>
              <a:tailEnd type="triangle"/>
            </a:ln>
            <a:effectLst/>
          </p:spPr>
        </p:cxnSp>
        <p:cxnSp>
          <p:nvCxnSpPr>
            <p:cNvPr id="288" name="直接箭头连接符 287"/>
            <p:cNvCxnSpPr/>
            <p:nvPr/>
          </p:nvCxnSpPr>
          <p:spPr>
            <a:xfrm flipV="1">
              <a:off x="2052345" y="3051574"/>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91" name="直接连接符 290"/>
            <p:cNvCxnSpPr/>
            <p:nvPr/>
          </p:nvCxnSpPr>
          <p:spPr>
            <a:xfrm>
              <a:off x="2526179" y="2196290"/>
              <a:ext cx="0" cy="842994"/>
            </a:xfrm>
            <a:prstGeom prst="line">
              <a:avLst/>
            </a:prstGeom>
            <a:noFill/>
            <a:ln w="19050" cap="sq" cmpd="sng" algn="ctr">
              <a:solidFill>
                <a:sysClr val="windowText" lastClr="000000"/>
              </a:solidFill>
              <a:prstDash val="solid"/>
              <a:miter lim="800000"/>
              <a:tailEnd type="none"/>
            </a:ln>
            <a:effectLst/>
          </p:spPr>
        </p:cxnSp>
      </p:grpSp>
      <p:grpSp>
        <p:nvGrpSpPr>
          <p:cNvPr id="6" name="组合 5"/>
          <p:cNvGrpSpPr/>
          <p:nvPr/>
        </p:nvGrpSpPr>
        <p:grpSpPr>
          <a:xfrm>
            <a:off x="2364260" y="3763615"/>
            <a:ext cx="1048371" cy="953910"/>
            <a:chOff x="2904010" y="3763615"/>
            <a:chExt cx="1048371" cy="953910"/>
          </a:xfrm>
        </p:grpSpPr>
        <p:sp>
          <p:nvSpPr>
            <p:cNvPr id="186" name="矩形 185"/>
            <p:cNvSpPr/>
            <p:nvPr/>
          </p:nvSpPr>
          <p:spPr>
            <a:xfrm>
              <a:off x="2948358" y="3771665"/>
              <a:ext cx="927310" cy="945860"/>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7" name="文本框 186"/>
            <p:cNvSpPr txBox="1"/>
            <p:nvPr/>
          </p:nvSpPr>
          <p:spPr>
            <a:xfrm>
              <a:off x="2904010" y="3802764"/>
              <a:ext cx="33695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R1#</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5" name="文本框 194"/>
            <p:cNvSpPr txBox="1"/>
            <p:nvPr/>
          </p:nvSpPr>
          <p:spPr>
            <a:xfrm>
              <a:off x="2999535" y="4146682"/>
              <a:ext cx="85792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读逻辑</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6" name="文本框 195"/>
            <p:cNvSpPr txBox="1"/>
            <p:nvPr/>
          </p:nvSpPr>
          <p:spPr>
            <a:xfrm>
              <a:off x="3594821" y="3861184"/>
              <a:ext cx="3481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8" name="文本框 197"/>
            <p:cNvSpPr txBox="1"/>
            <p:nvPr/>
          </p:nvSpPr>
          <p:spPr>
            <a:xfrm>
              <a:off x="2904010" y="3983630"/>
              <a:ext cx="33695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R2#</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9" name="文本框 198"/>
            <p:cNvSpPr txBox="1"/>
            <p:nvPr/>
          </p:nvSpPr>
          <p:spPr>
            <a:xfrm>
              <a:off x="3604209" y="4316334"/>
              <a:ext cx="3481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4" name="文本框 283"/>
            <p:cNvSpPr txBox="1"/>
            <p:nvPr/>
          </p:nvSpPr>
          <p:spPr>
            <a:xfrm>
              <a:off x="3246438" y="3763615"/>
              <a:ext cx="365806"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WE</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3" name="组合 22"/>
          <p:cNvGrpSpPr/>
          <p:nvPr/>
        </p:nvGrpSpPr>
        <p:grpSpPr>
          <a:xfrm>
            <a:off x="4383360" y="3050193"/>
            <a:ext cx="2588989" cy="458694"/>
            <a:chOff x="4923110" y="3050193"/>
            <a:chExt cx="2588989" cy="458694"/>
          </a:xfrm>
        </p:grpSpPr>
        <p:cxnSp>
          <p:nvCxnSpPr>
            <p:cNvPr id="225" name="直接箭头连接符 224"/>
            <p:cNvCxnSpPr/>
            <p:nvPr/>
          </p:nvCxnSpPr>
          <p:spPr>
            <a:xfrm flipV="1">
              <a:off x="4923110" y="3050193"/>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26" name="直接箭头连接符 225"/>
            <p:cNvCxnSpPr/>
            <p:nvPr/>
          </p:nvCxnSpPr>
          <p:spPr>
            <a:xfrm flipV="1">
              <a:off x="4936917" y="3507853"/>
              <a:ext cx="2575182" cy="1034"/>
            </a:xfrm>
            <a:prstGeom prst="straightConnector1">
              <a:avLst/>
            </a:prstGeom>
            <a:noFill/>
            <a:ln w="19050" cap="flat" cmpd="sng" algn="ctr">
              <a:solidFill>
                <a:sysClr val="windowText" lastClr="000000"/>
              </a:solidFill>
              <a:prstDash val="solid"/>
              <a:miter lim="800000"/>
              <a:tailEnd type="triangle"/>
            </a:ln>
            <a:effectLst/>
          </p:spPr>
        </p:cxnSp>
      </p:grpSp>
      <p:grpSp>
        <p:nvGrpSpPr>
          <p:cNvPr id="8" name="组合 7"/>
          <p:cNvGrpSpPr/>
          <p:nvPr/>
        </p:nvGrpSpPr>
        <p:grpSpPr>
          <a:xfrm>
            <a:off x="10675478" y="3419038"/>
            <a:ext cx="982309" cy="955507"/>
            <a:chOff x="2893359" y="3763615"/>
            <a:chExt cx="982309" cy="955507"/>
          </a:xfrm>
        </p:grpSpPr>
        <p:sp>
          <p:nvSpPr>
            <p:cNvPr id="13" name="矩形 12"/>
            <p:cNvSpPr/>
            <p:nvPr/>
          </p:nvSpPr>
          <p:spPr>
            <a:xfrm>
              <a:off x="2948358" y="3771665"/>
              <a:ext cx="927310" cy="945860"/>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9" name="文本框 28"/>
            <p:cNvSpPr txBox="1"/>
            <p:nvPr/>
          </p:nvSpPr>
          <p:spPr>
            <a:xfrm>
              <a:off x="3003768" y="4095884"/>
              <a:ext cx="85792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写逻辑</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1" name="文本框 30"/>
            <p:cNvSpPr txBox="1"/>
            <p:nvPr/>
          </p:nvSpPr>
          <p:spPr>
            <a:xfrm>
              <a:off x="2893359" y="4495196"/>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Din</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2893359" y="4360113"/>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nvSpPr>
          <p:spPr>
            <a:xfrm>
              <a:off x="3250671" y="3763615"/>
              <a:ext cx="365806"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WE</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等腰三角形 36"/>
            <p:cNvSpPr/>
            <p:nvPr/>
          </p:nvSpPr>
          <p:spPr>
            <a:xfrm>
              <a:off x="3318854" y="4610142"/>
              <a:ext cx="187278" cy="10898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40" name="Group 4"/>
          <p:cNvGrpSpPr>
            <a:grpSpLocks noChangeAspect="1"/>
          </p:cNvGrpSpPr>
          <p:nvPr/>
        </p:nvGrpSpPr>
        <p:grpSpPr bwMode="auto">
          <a:xfrm>
            <a:off x="10212388" y="3870325"/>
            <a:ext cx="447675" cy="844550"/>
            <a:chOff x="6773" y="2438"/>
            <a:chExt cx="282" cy="532"/>
          </a:xfrm>
        </p:grpSpPr>
        <p:sp>
          <p:nvSpPr>
            <p:cNvPr id="41" name="AutoShape 3"/>
            <p:cNvSpPr>
              <a:spLocks noChangeAspect="1" noChangeArrowheads="1" noTextEdit="1"/>
            </p:cNvSpPr>
            <p:nvPr/>
          </p:nvSpPr>
          <p:spPr bwMode="auto">
            <a:xfrm>
              <a:off x="6773" y="2438"/>
              <a:ext cx="264"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3" name="Freeform 6"/>
            <p:cNvSpPr/>
            <p:nvPr/>
          </p:nvSpPr>
          <p:spPr bwMode="auto">
            <a:xfrm>
              <a:off x="6794" y="2453"/>
              <a:ext cx="207" cy="417"/>
            </a:xfrm>
            <a:custGeom>
              <a:avLst/>
              <a:gdLst>
                <a:gd name="T0" fmla="*/ 0 w 207"/>
                <a:gd name="T1" fmla="*/ 417 h 417"/>
                <a:gd name="T2" fmla="*/ 0 w 207"/>
                <a:gd name="T3" fmla="*/ 0 h 417"/>
                <a:gd name="T4" fmla="*/ 207 w 207"/>
                <a:gd name="T5" fmla="*/ 84 h 417"/>
                <a:gd name="T6" fmla="*/ 207 w 207"/>
                <a:gd name="T7" fmla="*/ 334 h 417"/>
                <a:gd name="T8" fmla="*/ 0 w 207"/>
                <a:gd name="T9" fmla="*/ 417 h 417"/>
              </a:gdLst>
              <a:ahLst/>
              <a:cxnLst>
                <a:cxn ang="0">
                  <a:pos x="T0" y="T1"/>
                </a:cxn>
                <a:cxn ang="0">
                  <a:pos x="T2" y="T3"/>
                </a:cxn>
                <a:cxn ang="0">
                  <a:pos x="T4" y="T5"/>
                </a:cxn>
                <a:cxn ang="0">
                  <a:pos x="T6" y="T7"/>
                </a:cxn>
                <a:cxn ang="0">
                  <a:pos x="T8" y="T9"/>
                </a:cxn>
              </a:cxnLst>
              <a:rect l="0" t="0" r="r" b="b"/>
              <a:pathLst>
                <a:path w="207" h="417">
                  <a:moveTo>
                    <a:pt x="0" y="417"/>
                  </a:moveTo>
                  <a:lnTo>
                    <a:pt x="0" y="0"/>
                  </a:lnTo>
                  <a:lnTo>
                    <a:pt x="207" y="84"/>
                  </a:lnTo>
                  <a:lnTo>
                    <a:pt x="207" y="334"/>
                  </a:lnTo>
                  <a:lnTo>
                    <a:pt x="0" y="4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7"/>
            <p:cNvSpPr/>
            <p:nvPr/>
          </p:nvSpPr>
          <p:spPr bwMode="auto">
            <a:xfrm>
              <a:off x="6794" y="2453"/>
              <a:ext cx="207" cy="417"/>
            </a:xfrm>
            <a:custGeom>
              <a:avLst/>
              <a:gdLst>
                <a:gd name="T0" fmla="*/ 0 w 207"/>
                <a:gd name="T1" fmla="*/ 417 h 417"/>
                <a:gd name="T2" fmla="*/ 0 w 207"/>
                <a:gd name="T3" fmla="*/ 0 h 417"/>
                <a:gd name="T4" fmla="*/ 207 w 207"/>
                <a:gd name="T5" fmla="*/ 84 h 417"/>
                <a:gd name="T6" fmla="*/ 207 w 207"/>
                <a:gd name="T7" fmla="*/ 334 h 417"/>
                <a:gd name="T8" fmla="*/ 0 w 207"/>
                <a:gd name="T9" fmla="*/ 417 h 417"/>
              </a:gdLst>
              <a:ahLst/>
              <a:cxnLst>
                <a:cxn ang="0">
                  <a:pos x="T0" y="T1"/>
                </a:cxn>
                <a:cxn ang="0">
                  <a:pos x="T2" y="T3"/>
                </a:cxn>
                <a:cxn ang="0">
                  <a:pos x="T4" y="T5"/>
                </a:cxn>
                <a:cxn ang="0">
                  <a:pos x="T6" y="T7"/>
                </a:cxn>
                <a:cxn ang="0">
                  <a:pos x="T8" y="T9"/>
                </a:cxn>
              </a:cxnLst>
              <a:rect l="0" t="0" r="r" b="b"/>
              <a:pathLst>
                <a:path w="207" h="417">
                  <a:moveTo>
                    <a:pt x="0" y="417"/>
                  </a:moveTo>
                  <a:lnTo>
                    <a:pt x="0" y="0"/>
                  </a:lnTo>
                  <a:lnTo>
                    <a:pt x="207" y="84"/>
                  </a:lnTo>
                  <a:lnTo>
                    <a:pt x="207" y="334"/>
                  </a:lnTo>
                  <a:lnTo>
                    <a:pt x="0" y="417"/>
                  </a:lnTo>
                  <a:close/>
                </a:path>
              </a:pathLst>
            </a:custGeom>
            <a:noFill/>
            <a:ln w="19050"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5" name="Rectangle 8"/>
            <p:cNvSpPr>
              <a:spLocks noChangeArrowheads="1"/>
            </p:cNvSpPr>
            <p:nvPr/>
          </p:nvSpPr>
          <p:spPr bwMode="auto">
            <a:xfrm>
              <a:off x="6836" y="2624"/>
              <a:ext cx="21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MUX</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7" name="Rectangle 9"/>
            <p:cNvSpPr>
              <a:spLocks noChangeArrowheads="1"/>
            </p:cNvSpPr>
            <p:nvPr/>
          </p:nvSpPr>
          <p:spPr bwMode="auto">
            <a:xfrm>
              <a:off x="6821" y="2519"/>
              <a:ext cx="7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8" name="Rectangle 10"/>
            <p:cNvSpPr>
              <a:spLocks noChangeArrowheads="1"/>
            </p:cNvSpPr>
            <p:nvPr/>
          </p:nvSpPr>
          <p:spPr bwMode="auto">
            <a:xfrm>
              <a:off x="6817" y="2727"/>
              <a:ext cx="8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cxnSp>
        <p:nvCxnSpPr>
          <p:cNvPr id="51" name="直接箭头连接符 50"/>
          <p:cNvCxnSpPr/>
          <p:nvPr/>
        </p:nvCxnSpPr>
        <p:spPr>
          <a:xfrm>
            <a:off x="10116243" y="4064460"/>
            <a:ext cx="143377" cy="885"/>
          </a:xfrm>
          <a:prstGeom prst="straightConnector1">
            <a:avLst/>
          </a:prstGeom>
          <a:noFill/>
          <a:ln w="19050" cap="flat" cmpd="sng" algn="ctr">
            <a:solidFill>
              <a:sysClr val="windowText" lastClr="000000"/>
            </a:solidFill>
            <a:prstDash val="solid"/>
            <a:miter lim="800000"/>
            <a:tailEnd type="triangle"/>
          </a:ln>
          <a:effectLst/>
        </p:spPr>
      </p:cxnSp>
      <p:cxnSp>
        <p:nvCxnSpPr>
          <p:cNvPr id="58" name="直接箭头连接符 57"/>
          <p:cNvCxnSpPr/>
          <p:nvPr/>
        </p:nvCxnSpPr>
        <p:spPr>
          <a:xfrm>
            <a:off x="10115580" y="4395729"/>
            <a:ext cx="143377" cy="885"/>
          </a:xfrm>
          <a:prstGeom prst="straightConnector1">
            <a:avLst/>
          </a:prstGeom>
          <a:noFill/>
          <a:ln w="19050" cap="flat" cmpd="sng" algn="ctr">
            <a:solidFill>
              <a:sysClr val="windowText" lastClr="000000"/>
            </a:solidFill>
            <a:prstDash val="solid"/>
            <a:miter lim="800000"/>
            <a:tailEnd type="triangle"/>
          </a:ln>
          <a:effectLst/>
        </p:spPr>
      </p:cxnSp>
      <p:cxnSp>
        <p:nvCxnSpPr>
          <p:cNvPr id="59" name="直接箭头连接符 58"/>
          <p:cNvCxnSpPr/>
          <p:nvPr/>
        </p:nvCxnSpPr>
        <p:spPr>
          <a:xfrm>
            <a:off x="10580412" y="4231383"/>
            <a:ext cx="143377" cy="885"/>
          </a:xfrm>
          <a:prstGeom prst="straightConnector1">
            <a:avLst/>
          </a:prstGeom>
          <a:noFill/>
          <a:ln w="19050" cap="flat" cmpd="sng" algn="ctr">
            <a:solidFill>
              <a:sysClr val="windowText" lastClr="000000"/>
            </a:solidFill>
            <a:prstDash val="solid"/>
            <a:miter lim="800000"/>
            <a:tailEnd type="triangle"/>
          </a:ln>
          <a:effectLst/>
        </p:spPr>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1282"/>
    </mc:Choice>
    <mc:Fallback>
      <p:transition spd="slow" advTm="3512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200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animEffect transition="in" filter="wipe(left)">
                                      <p:cBhvr>
                                        <p:cTn id="7" dur="500"/>
                                        <p:tgtEl>
                                          <p:spTgt spid="286"/>
                                        </p:tgtEl>
                                      </p:cBhvr>
                                    </p:animEffect>
                                  </p:childTnLst>
                                </p:cTn>
                              </p:par>
                              <p:par>
                                <p:cTn id="8" presetID="22" presetClass="entr" presetSubtype="8" repeatCount="2000"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Effect transition="in" filter="wipe(left)">
                                      <p:cBhvr>
                                        <p:cTn id="10" dur="500"/>
                                        <p:tgtEl>
                                          <p:spTgt spid="19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repeatCount="2000" fill="hold" nodeType="clickEffect">
                                  <p:stCondLst>
                                    <p:cond delay="0"/>
                                  </p:stCondLst>
                                  <p:childTnLst>
                                    <p:set>
                                      <p:cBhvr>
                                        <p:cTn id="14" dur="1" fill="hold">
                                          <p:stCondLst>
                                            <p:cond delay="0"/>
                                          </p:stCondLst>
                                        </p:cTn>
                                        <p:tgtEl>
                                          <p:spTgt spid="287"/>
                                        </p:tgtEl>
                                        <p:attrNameLst>
                                          <p:attrName>style.visibility</p:attrName>
                                        </p:attrNameLst>
                                      </p:cBhvr>
                                      <p:to>
                                        <p:strVal val="visible"/>
                                      </p:to>
                                    </p:set>
                                    <p:animEffect transition="in" filter="wipe(left)">
                                      <p:cBhvr>
                                        <p:cTn id="15" dur="500"/>
                                        <p:tgtEl>
                                          <p:spTgt spid="287"/>
                                        </p:tgtEl>
                                      </p:cBhvr>
                                    </p:animEffect>
                                  </p:childTnLst>
                                </p:cTn>
                              </p:par>
                              <p:par>
                                <p:cTn id="16" presetID="22" presetClass="entr" presetSubtype="8" repeatCount="2000" fill="hold" nodeType="withEffect">
                                  <p:stCondLst>
                                    <p:cond delay="0"/>
                                  </p:stCondLst>
                                  <p:childTnLst>
                                    <p:set>
                                      <p:cBhvr>
                                        <p:cTn id="17" dur="1" fill="hold">
                                          <p:stCondLst>
                                            <p:cond delay="0"/>
                                          </p:stCondLst>
                                        </p:cTn>
                                        <p:tgtEl>
                                          <p:spTgt spid="188"/>
                                        </p:tgtEl>
                                        <p:attrNameLst>
                                          <p:attrName>style.visibility</p:attrName>
                                        </p:attrNameLst>
                                      </p:cBhvr>
                                      <p:to>
                                        <p:strVal val="visible"/>
                                      </p:to>
                                    </p:set>
                                    <p:animEffect transition="in" filter="wipe(left)">
                                      <p:cBhvr>
                                        <p:cTn id="18" dur="500"/>
                                        <p:tgtEl>
                                          <p:spTgt spid="18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repeatCount="200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repeatCount="200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repeatCount="200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repeatCount="2000" fill="hold" nodeType="clickEffect">
                                  <p:stCondLst>
                                    <p:cond delay="0"/>
                                  </p:stCondLst>
                                  <p:childTnLst>
                                    <p:set>
                                      <p:cBhvr>
                                        <p:cTn id="37" dur="1" fill="hold">
                                          <p:stCondLst>
                                            <p:cond delay="0"/>
                                          </p:stCondLst>
                                        </p:cTn>
                                        <p:tgtEl>
                                          <p:spTgt spid="285"/>
                                        </p:tgtEl>
                                        <p:attrNameLst>
                                          <p:attrName>style.visibility</p:attrName>
                                        </p:attrNameLst>
                                      </p:cBhvr>
                                      <p:to>
                                        <p:strVal val="visible"/>
                                      </p:to>
                                    </p:set>
                                    <p:animEffect transition="in" filter="wipe(left)">
                                      <p:cBhvr>
                                        <p:cTn id="38" dur="500"/>
                                        <p:tgtEl>
                                          <p:spTgt spid="28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repeatCount="200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83"/>
                                        </p:tgtEl>
                                        <p:attrNameLst>
                                          <p:attrName>style.visibility</p:attrName>
                                        </p:attrNameLst>
                                      </p:cBhvr>
                                      <p:to>
                                        <p:strVal val="visible"/>
                                      </p:to>
                                    </p:set>
                                    <p:animEffect transition="in" filter="wipe(left)">
                                      <p:cBhvr>
                                        <p:cTn id="47" dur="500"/>
                                        <p:tgtEl>
                                          <p:spTgt spid="1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up)">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wipe(left)">
                                      <p:cBhvr>
                                        <p:cTn id="62" dur="500"/>
                                        <p:tgtEl>
                                          <p:spTgt spid="11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83"/>
                                        </p:tgtEl>
                                        <p:attrNameLst>
                                          <p:attrName>style.visibility</p:attrName>
                                        </p:attrNameLst>
                                      </p:cBhvr>
                                      <p:to>
                                        <p:strVal val="visible"/>
                                      </p:to>
                                    </p:set>
                                    <p:animEffect transition="in" filter="wipe(up)">
                                      <p:cBhvr>
                                        <p:cTn id="67" dur="500"/>
                                        <p:tgtEl>
                                          <p:spTgt spid="8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repeatCount="2000"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repeatCount="200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repeatCount="2000" fill="hold" nodeType="clickEffect">
                                  <p:stCondLst>
                                    <p:cond delay="0"/>
                                  </p:stCondLst>
                                  <p:childTnLst>
                                    <p:set>
                                      <p:cBhvr>
                                        <p:cTn id="81" dur="1" fill="hold">
                                          <p:stCondLst>
                                            <p:cond delay="0"/>
                                          </p:stCondLst>
                                        </p:cTn>
                                        <p:tgtEl>
                                          <p:spTgt spid="143"/>
                                        </p:tgtEl>
                                        <p:attrNameLst>
                                          <p:attrName>style.visibility</p:attrName>
                                        </p:attrNameLst>
                                      </p:cBhvr>
                                      <p:to>
                                        <p:strVal val="visible"/>
                                      </p:to>
                                    </p:set>
                                    <p:animEffect transition="in" filter="wipe(up)">
                                      <p:cBhvr>
                                        <p:cTn id="82" dur="500"/>
                                        <p:tgtEl>
                                          <p:spTgt spid="14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30"/>
                                        </p:tgtEl>
                                        <p:attrNameLst>
                                          <p:attrName>style.visibility</p:attrName>
                                        </p:attrNameLst>
                                      </p:cBhvr>
                                      <p:to>
                                        <p:strVal val="visible"/>
                                      </p:to>
                                    </p:set>
                                    <p:animEffect transition="in" filter="wipe(left)">
                                      <p:cBhvr>
                                        <p:cTn id="87" dur="500"/>
                                        <p:tgtEl>
                                          <p:spTgt spid="230"/>
                                        </p:tgtEl>
                                      </p:cBhvr>
                                    </p:animEffect>
                                  </p:childTnLst>
                                </p:cTn>
                              </p:par>
                            </p:childTnLst>
                          </p:cTn>
                        </p:par>
                        <p:par>
                          <p:cTn id="88" fill="hold">
                            <p:stCondLst>
                              <p:cond delay="500"/>
                            </p:stCondLst>
                            <p:childTnLst>
                              <p:par>
                                <p:cTn id="89" presetID="22" presetClass="entr" presetSubtype="1" fill="hold" nodeType="after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wipe(up)">
                                      <p:cBhvr>
                                        <p:cTn id="91" dur="500"/>
                                        <p:tgtEl>
                                          <p:spTgt spid="2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4"/>
                                        </p:tgtEl>
                                        <p:attrNameLst>
                                          <p:attrName>style.visibility</p:attrName>
                                        </p:attrNameLst>
                                      </p:cBhvr>
                                      <p:to>
                                        <p:strVal val="visible"/>
                                      </p:to>
                                    </p:set>
                                    <p:animEffect transition="in" filter="wipe(left)">
                                      <p:cBhvr>
                                        <p:cTn id="101" dur="500"/>
                                        <p:tgtEl>
                                          <p:spTgt spid="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152"/>
                                        </p:tgtEl>
                                        <p:attrNameLst>
                                          <p:attrName>style.visibility</p:attrName>
                                        </p:attrNameLst>
                                      </p:cBhvr>
                                      <p:to>
                                        <p:strVal val="visible"/>
                                      </p:to>
                                    </p:set>
                                    <p:animEffect transition="in" filter="wipe(down)">
                                      <p:cBhvr>
                                        <p:cTn id="106" dur="500"/>
                                        <p:tgtEl>
                                          <p:spTgt spid="152"/>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wipe(left)">
                                      <p:cBhvr>
                                        <p:cTn id="111" dur="500"/>
                                        <p:tgtEl>
                                          <p:spTgt spid="23"/>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wipe(left)">
                                      <p:cBhvr>
                                        <p:cTn id="116" dur="500"/>
                                        <p:tgtEl>
                                          <p:spTgt spid="24"/>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1" fill="hold" nodeType="clickEffect">
                                  <p:stCondLst>
                                    <p:cond delay="0"/>
                                  </p:stCondLst>
                                  <p:childTnLst>
                                    <p:set>
                                      <p:cBhvr>
                                        <p:cTn id="120" dur="1" fill="hold">
                                          <p:stCondLst>
                                            <p:cond delay="0"/>
                                          </p:stCondLst>
                                        </p:cTn>
                                        <p:tgtEl>
                                          <p:spTgt spid="242"/>
                                        </p:tgtEl>
                                        <p:attrNameLst>
                                          <p:attrName>style.visibility</p:attrName>
                                        </p:attrNameLst>
                                      </p:cBhvr>
                                      <p:to>
                                        <p:strVal val="visible"/>
                                      </p:to>
                                    </p:set>
                                    <p:animEffect transition="in" filter="wipe(up)">
                                      <p:cBhvr>
                                        <p:cTn id="121" dur="500"/>
                                        <p:tgtEl>
                                          <p:spTgt spid="242"/>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33"/>
                                        </p:tgtEl>
                                        <p:attrNameLst>
                                          <p:attrName>style.visibility</p:attrName>
                                        </p:attrNameLst>
                                      </p:cBhvr>
                                      <p:to>
                                        <p:strVal val="visible"/>
                                      </p:to>
                                    </p:set>
                                    <p:animEffect transition="in" filter="wipe(left)">
                                      <p:cBhvr>
                                        <p:cTn id="126" dur="500"/>
                                        <p:tgtEl>
                                          <p:spTgt spid="233"/>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234"/>
                                        </p:tgtEl>
                                        <p:attrNameLst>
                                          <p:attrName>style.visibility</p:attrName>
                                        </p:attrNameLst>
                                      </p:cBhvr>
                                      <p:to>
                                        <p:strVal val="visible"/>
                                      </p:to>
                                    </p:set>
                                    <p:animEffect transition="in" filter="wipe(left)">
                                      <p:cBhvr>
                                        <p:cTn id="130" dur="500"/>
                                        <p:tgtEl>
                                          <p:spTgt spid="23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5"/>
                                        </p:tgtEl>
                                        <p:attrNameLst>
                                          <p:attrName>style.visibility</p:attrName>
                                        </p:attrNameLst>
                                      </p:cBhvr>
                                      <p:to>
                                        <p:strVal val="visible"/>
                                      </p:to>
                                    </p:set>
                                    <p:animEffect transition="in" filter="wipe(left)">
                                      <p:cBhvr>
                                        <p:cTn id="135" dur="500"/>
                                        <p:tgtEl>
                                          <p:spTgt spid="2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27"/>
                                        </p:tgtEl>
                                        <p:attrNameLst>
                                          <p:attrName>style.visibility</p:attrName>
                                        </p:attrNameLst>
                                      </p:cBhvr>
                                      <p:to>
                                        <p:strVal val="visible"/>
                                      </p:to>
                                    </p:set>
                                    <p:animEffect transition="in" filter="wipe(left)">
                                      <p:cBhvr>
                                        <p:cTn id="140" dur="500"/>
                                        <p:tgtEl>
                                          <p:spTgt spid="227"/>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nodeType="clickEffect">
                                  <p:stCondLst>
                                    <p:cond delay="0"/>
                                  </p:stCondLst>
                                  <p:childTnLst>
                                    <p:set>
                                      <p:cBhvr>
                                        <p:cTn id="144" dur="1" fill="hold">
                                          <p:stCondLst>
                                            <p:cond delay="0"/>
                                          </p:stCondLst>
                                        </p:cTn>
                                        <p:tgtEl>
                                          <p:spTgt spid="164"/>
                                        </p:tgtEl>
                                        <p:attrNameLst>
                                          <p:attrName>style.visibility</p:attrName>
                                        </p:attrNameLst>
                                      </p:cBhvr>
                                      <p:to>
                                        <p:strVal val="visible"/>
                                      </p:to>
                                    </p:set>
                                    <p:animEffect transition="in" filter="wipe(left)">
                                      <p:cBhvr>
                                        <p:cTn id="145" dur="500"/>
                                        <p:tgtEl>
                                          <p:spTgt spid="164"/>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228"/>
                                        </p:tgtEl>
                                        <p:attrNameLst>
                                          <p:attrName>style.visibility</p:attrName>
                                        </p:attrNameLst>
                                      </p:cBhvr>
                                      <p:to>
                                        <p:strVal val="visible"/>
                                      </p:to>
                                    </p:set>
                                    <p:animEffect transition="in" filter="wipe(left)">
                                      <p:cBhvr>
                                        <p:cTn id="150" dur="500"/>
                                        <p:tgtEl>
                                          <p:spTgt spid="228"/>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nodeType="clickEffect">
                                  <p:stCondLst>
                                    <p:cond delay="0"/>
                                  </p:stCondLst>
                                  <p:childTnLst>
                                    <p:set>
                                      <p:cBhvr>
                                        <p:cTn id="154" dur="1" fill="hold">
                                          <p:stCondLst>
                                            <p:cond delay="0"/>
                                          </p:stCondLst>
                                        </p:cTn>
                                        <p:tgtEl>
                                          <p:spTgt spid="26"/>
                                        </p:tgtEl>
                                        <p:attrNameLst>
                                          <p:attrName>style.visibility</p:attrName>
                                        </p:attrNameLst>
                                      </p:cBhvr>
                                      <p:to>
                                        <p:strVal val="visible"/>
                                      </p:to>
                                    </p:set>
                                    <p:animEffect transition="in" filter="wipe(left)">
                                      <p:cBhvr>
                                        <p:cTn id="155" dur="500"/>
                                        <p:tgtEl>
                                          <p:spTgt spid="26"/>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nodeType="clickEffect">
                                  <p:stCondLst>
                                    <p:cond delay="0"/>
                                  </p:stCondLst>
                                  <p:childTnLst>
                                    <p:set>
                                      <p:cBhvr>
                                        <p:cTn id="159" dur="1" fill="hold">
                                          <p:stCondLst>
                                            <p:cond delay="0"/>
                                          </p:stCondLst>
                                        </p:cTn>
                                        <p:tgtEl>
                                          <p:spTgt spid="161"/>
                                        </p:tgtEl>
                                        <p:attrNameLst>
                                          <p:attrName>style.visibility</p:attrName>
                                        </p:attrNameLst>
                                      </p:cBhvr>
                                      <p:to>
                                        <p:strVal val="visible"/>
                                      </p:to>
                                    </p:set>
                                    <p:animEffect transition="in" filter="wipe(down)">
                                      <p:cBhvr>
                                        <p:cTn id="160" dur="500"/>
                                        <p:tgtEl>
                                          <p:spTgt spid="161"/>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nodeType="clickEffect">
                                  <p:stCondLst>
                                    <p:cond delay="0"/>
                                  </p:stCondLst>
                                  <p:childTnLst>
                                    <p:set>
                                      <p:cBhvr>
                                        <p:cTn id="164" dur="1" fill="hold">
                                          <p:stCondLst>
                                            <p:cond delay="0"/>
                                          </p:stCondLst>
                                        </p:cTn>
                                        <p:tgtEl>
                                          <p:spTgt spid="51"/>
                                        </p:tgtEl>
                                        <p:attrNameLst>
                                          <p:attrName>style.visibility</p:attrName>
                                        </p:attrNameLst>
                                      </p:cBhvr>
                                      <p:to>
                                        <p:strVal val="visible"/>
                                      </p:to>
                                    </p:set>
                                    <p:animEffect transition="in" filter="wipe(left)">
                                      <p:cBhvr>
                                        <p:cTn id="165" dur="50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nodeType="click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wipe(left)">
                                      <p:cBhvr>
                                        <p:cTn id="170" dur="500"/>
                                        <p:tgtEl>
                                          <p:spTgt spid="58"/>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59"/>
                                        </p:tgtEl>
                                        <p:attrNameLst>
                                          <p:attrName>style.visibility</p:attrName>
                                        </p:attrNameLst>
                                      </p:cBhvr>
                                      <p:to>
                                        <p:strVal val="visible"/>
                                      </p:to>
                                    </p:set>
                                    <p:animEffect transition="in" filter="wipe(left)">
                                      <p:cBhvr>
                                        <p:cTn id="17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8" name="组合 227"/>
          <p:cNvGrpSpPr/>
          <p:nvPr/>
        </p:nvGrpSpPr>
        <p:grpSpPr>
          <a:xfrm>
            <a:off x="7754701" y="3049676"/>
            <a:ext cx="2588989" cy="458694"/>
            <a:chOff x="4923110" y="3050193"/>
            <a:chExt cx="2588989" cy="458694"/>
          </a:xfrm>
        </p:grpSpPr>
        <p:cxnSp>
          <p:nvCxnSpPr>
            <p:cNvPr id="229" name="直接箭头连接符 228"/>
            <p:cNvCxnSpPr/>
            <p:nvPr/>
          </p:nvCxnSpPr>
          <p:spPr>
            <a:xfrm flipV="1">
              <a:off x="4923110" y="3050193"/>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31" name="直接箭头连接符 230"/>
            <p:cNvCxnSpPr/>
            <p:nvPr/>
          </p:nvCxnSpPr>
          <p:spPr>
            <a:xfrm flipV="1">
              <a:off x="4936917" y="3507853"/>
              <a:ext cx="2575182" cy="1034"/>
            </a:xfrm>
            <a:prstGeom prst="straightConnector1">
              <a:avLst/>
            </a:prstGeom>
            <a:noFill/>
            <a:ln w="19050" cap="flat" cmpd="sng" algn="ctr">
              <a:solidFill>
                <a:sysClr val="windowText" lastClr="000000"/>
              </a:solidFill>
              <a:prstDash val="solid"/>
              <a:miter lim="800000"/>
              <a:tailEnd type="triangle"/>
            </a:ln>
            <a:effectLst/>
          </p:spPr>
        </p:cxnSp>
      </p:grpSp>
      <p:sp>
        <p:nvSpPr>
          <p:cNvPr id="2" name="标题 1"/>
          <p:cNvSpPr>
            <a:spLocks noGrp="1"/>
          </p:cNvSpPr>
          <p:nvPr>
            <p:ph type="title"/>
          </p:nvPr>
        </p:nvSpPr>
        <p:spPr/>
        <p:txBody>
          <a:bodyPr/>
          <a:lstStyle/>
          <a:p>
            <a:r>
              <a:rPr lang="en-US" altLang="zh-CN" dirty="0"/>
              <a:t>5</a:t>
            </a:r>
            <a:r>
              <a:rPr lang="zh-CN" altLang="en-US" dirty="0"/>
              <a:t>段指令流水线数据与信号传递</a:t>
            </a:r>
            <a:endParaRPr lang="zh-CN" altLang="en-US" dirty="0"/>
          </a:p>
        </p:txBody>
      </p:sp>
      <p:grpSp>
        <p:nvGrpSpPr>
          <p:cNvPr id="9" name="组合 8"/>
          <p:cNvGrpSpPr/>
          <p:nvPr/>
        </p:nvGrpSpPr>
        <p:grpSpPr>
          <a:xfrm>
            <a:off x="1657255" y="5606258"/>
            <a:ext cx="481222" cy="562160"/>
            <a:chOff x="1996852" y="3154126"/>
            <a:chExt cx="324859" cy="384557"/>
          </a:xfrm>
        </p:grpSpPr>
        <p:sp>
          <p:nvSpPr>
            <p:cNvPr id="181" name="文本框 180"/>
            <p:cNvSpPr txBox="1"/>
            <p:nvPr/>
          </p:nvSpPr>
          <p:spPr>
            <a:xfrm>
              <a:off x="1996852" y="3349196"/>
              <a:ext cx="324859" cy="1894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CLK</a:t>
              </a:r>
              <a:endPar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82" name="直接连接符 181"/>
            <p:cNvCxnSpPr/>
            <p:nvPr/>
          </p:nvCxnSpPr>
          <p:spPr>
            <a:xfrm>
              <a:off x="2151982" y="3154126"/>
              <a:ext cx="0" cy="223656"/>
            </a:xfrm>
            <a:prstGeom prst="line">
              <a:avLst/>
            </a:prstGeom>
            <a:noFill/>
            <a:ln w="9525" cap="flat" cmpd="sng" algn="ctr">
              <a:solidFill>
                <a:schemeClr val="tx1"/>
              </a:solidFill>
              <a:prstDash val="solid"/>
              <a:miter lim="800000"/>
            </a:ln>
            <a:effectLst/>
          </p:spPr>
        </p:cxnSp>
      </p:grpSp>
      <p:cxnSp>
        <p:nvCxnSpPr>
          <p:cNvPr id="126" name="直接连接符 125"/>
          <p:cNvCxnSpPr/>
          <p:nvPr/>
        </p:nvCxnSpPr>
        <p:spPr>
          <a:xfrm>
            <a:off x="4790891" y="5606258"/>
            <a:ext cx="0" cy="158048"/>
          </a:xfrm>
          <a:prstGeom prst="line">
            <a:avLst/>
          </a:prstGeom>
          <a:noFill/>
          <a:ln w="9525" cap="flat" cmpd="sng" algn="ctr">
            <a:solidFill>
              <a:sysClr val="windowText" lastClr="000000"/>
            </a:solidFill>
            <a:prstDash val="solid"/>
            <a:miter lim="800000"/>
          </a:ln>
          <a:effectLst/>
        </p:spPr>
      </p:cxnSp>
      <p:cxnSp>
        <p:nvCxnSpPr>
          <p:cNvPr id="124" name="直接连接符 123"/>
          <p:cNvCxnSpPr>
            <a:stCxn id="141" idx="3"/>
          </p:cNvCxnSpPr>
          <p:nvPr/>
        </p:nvCxnSpPr>
        <p:spPr>
          <a:xfrm flipH="1">
            <a:off x="7656327" y="5610003"/>
            <a:ext cx="811" cy="154303"/>
          </a:xfrm>
          <a:prstGeom prst="line">
            <a:avLst/>
          </a:prstGeom>
          <a:noFill/>
          <a:ln w="9525" cap="flat" cmpd="sng" algn="ctr">
            <a:solidFill>
              <a:sysClr val="windowText" lastClr="000000"/>
            </a:solidFill>
            <a:prstDash val="solid"/>
            <a:miter lim="800000"/>
          </a:ln>
          <a:effectLst/>
        </p:spPr>
      </p:cxnSp>
      <p:cxnSp>
        <p:nvCxnSpPr>
          <p:cNvPr id="122" name="直接连接符 121"/>
          <p:cNvCxnSpPr>
            <a:stCxn id="137" idx="2"/>
          </p:cNvCxnSpPr>
          <p:nvPr/>
        </p:nvCxnSpPr>
        <p:spPr>
          <a:xfrm flipH="1">
            <a:off x="10509874" y="5610001"/>
            <a:ext cx="1" cy="154305"/>
          </a:xfrm>
          <a:prstGeom prst="line">
            <a:avLst/>
          </a:prstGeom>
          <a:noFill/>
          <a:ln w="9525" cap="flat" cmpd="sng" algn="ctr">
            <a:solidFill>
              <a:sysClr val="windowText" lastClr="000000"/>
            </a:solidFill>
            <a:prstDash val="solid"/>
            <a:miter lim="800000"/>
          </a:ln>
          <a:effectLst/>
        </p:spPr>
      </p:cxnSp>
      <p:grpSp>
        <p:nvGrpSpPr>
          <p:cNvPr id="10" name="组合 9"/>
          <p:cNvGrpSpPr/>
          <p:nvPr/>
        </p:nvGrpSpPr>
        <p:grpSpPr>
          <a:xfrm>
            <a:off x="1594035" y="1005166"/>
            <a:ext cx="635111" cy="4604835"/>
            <a:chOff x="896425" y="1654512"/>
            <a:chExt cx="428743" cy="3650913"/>
          </a:xfrm>
        </p:grpSpPr>
        <p:sp>
          <p:nvSpPr>
            <p:cNvPr id="178" name="矩形 17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9" name="等腰三角形 17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0" name="文本框 179"/>
            <p:cNvSpPr txBox="1"/>
            <p:nvPr/>
          </p:nvSpPr>
          <p:spPr>
            <a:xfrm>
              <a:off x="896425" y="1654512"/>
              <a:ext cx="428743"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IF/ID</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1" name="组合 10"/>
          <p:cNvGrpSpPr/>
          <p:nvPr/>
        </p:nvGrpSpPr>
        <p:grpSpPr>
          <a:xfrm>
            <a:off x="4451040" y="1005166"/>
            <a:ext cx="700833" cy="4604836"/>
            <a:chOff x="875115" y="1654512"/>
            <a:chExt cx="473111" cy="3650913"/>
          </a:xfrm>
        </p:grpSpPr>
        <p:sp>
          <p:nvSpPr>
            <p:cNvPr id="175" name="矩形 17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6" name="等腰三角形 17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7" name="文本框 176"/>
            <p:cNvSpPr txBox="1"/>
            <p:nvPr/>
          </p:nvSpPr>
          <p:spPr>
            <a:xfrm>
              <a:off x="875115" y="1654512"/>
              <a:ext cx="473111"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ID/EX</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1" name="组合 80"/>
          <p:cNvGrpSpPr/>
          <p:nvPr/>
        </p:nvGrpSpPr>
        <p:grpSpPr>
          <a:xfrm>
            <a:off x="7178712" y="1005167"/>
            <a:ext cx="968535" cy="4604837"/>
            <a:chOff x="780889" y="1654512"/>
            <a:chExt cx="653828" cy="3650913"/>
          </a:xfrm>
        </p:grpSpPr>
        <p:sp>
          <p:nvSpPr>
            <p:cNvPr id="140" name="矩形 13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1" name="等腰三角形 14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2" name="文本框 141"/>
            <p:cNvSpPr txBox="1"/>
            <p:nvPr/>
          </p:nvSpPr>
          <p:spPr>
            <a:xfrm>
              <a:off x="780889" y="1654512"/>
              <a:ext cx="653828"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EX/MEM</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82" name="组合 81"/>
          <p:cNvGrpSpPr/>
          <p:nvPr/>
        </p:nvGrpSpPr>
        <p:grpSpPr>
          <a:xfrm>
            <a:off x="9991703" y="1005166"/>
            <a:ext cx="1058304" cy="4604835"/>
            <a:chOff x="754058" y="1654513"/>
            <a:chExt cx="714428" cy="3650912"/>
          </a:xfrm>
        </p:grpSpPr>
        <p:sp>
          <p:nvSpPr>
            <p:cNvPr id="137" name="矩形 13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8" name="等腰三角形 13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文本框 138"/>
            <p:cNvSpPr txBox="1"/>
            <p:nvPr/>
          </p:nvSpPr>
          <p:spPr>
            <a:xfrm>
              <a:off x="754058" y="1654513"/>
              <a:ext cx="714428" cy="2440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MEM/WB</a:t>
              </a:r>
              <a:endPar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99" name="直接箭头连接符 98"/>
          <p:cNvCxnSpPr>
            <a:endCxn id="179" idx="0"/>
          </p:cNvCxnSpPr>
          <p:nvPr/>
        </p:nvCxnSpPr>
        <p:spPr>
          <a:xfrm>
            <a:off x="1897088" y="1345128"/>
            <a:ext cx="4225" cy="4108696"/>
          </a:xfrm>
          <a:prstGeom prst="straightConnector1">
            <a:avLst/>
          </a:prstGeom>
          <a:noFill/>
          <a:ln w="12700" cap="flat" cmpd="sng" algn="ctr">
            <a:solidFill>
              <a:srgbClr val="5B9BD5"/>
            </a:solidFill>
            <a:prstDash val="dash"/>
            <a:miter lim="800000"/>
            <a:tailEnd type="none"/>
          </a:ln>
          <a:effectLst/>
        </p:spPr>
      </p:cxnSp>
      <p:cxnSp>
        <p:nvCxnSpPr>
          <p:cNvPr id="102" name="直接箭头连接符 101"/>
          <p:cNvCxnSpPr>
            <a:stCxn id="76" idx="0"/>
            <a:endCxn id="141" idx="0"/>
          </p:cNvCxnSpPr>
          <p:nvPr/>
        </p:nvCxnSpPr>
        <p:spPr>
          <a:xfrm>
            <a:off x="7656327" y="1335939"/>
            <a:ext cx="810" cy="4117885"/>
          </a:xfrm>
          <a:prstGeom prst="straightConnector1">
            <a:avLst/>
          </a:prstGeom>
          <a:noFill/>
          <a:ln w="12700" cap="flat" cmpd="sng" algn="ctr">
            <a:solidFill>
              <a:srgbClr val="5B9BD5"/>
            </a:solidFill>
            <a:prstDash val="dash"/>
            <a:miter lim="800000"/>
            <a:tailEnd type="none"/>
          </a:ln>
          <a:effectLst/>
        </p:spPr>
      </p:cxnSp>
      <p:cxnSp>
        <p:nvCxnSpPr>
          <p:cNvPr id="103" name="直接箭头连接符 102"/>
          <p:cNvCxnSpPr>
            <a:stCxn id="84" idx="0"/>
            <a:endCxn id="138" idx="0"/>
          </p:cNvCxnSpPr>
          <p:nvPr/>
        </p:nvCxnSpPr>
        <p:spPr>
          <a:xfrm flipH="1">
            <a:off x="10509874" y="1335939"/>
            <a:ext cx="4693" cy="4117885"/>
          </a:xfrm>
          <a:prstGeom prst="straightConnector1">
            <a:avLst/>
          </a:prstGeom>
          <a:noFill/>
          <a:ln w="12700" cap="flat" cmpd="sng" algn="ctr">
            <a:solidFill>
              <a:srgbClr val="5B9BD5"/>
            </a:solidFill>
            <a:prstDash val="dash"/>
            <a:miter lim="800000"/>
            <a:tailEnd type="none"/>
          </a:ln>
          <a:effectLst/>
        </p:spPr>
      </p:cxnSp>
      <p:sp>
        <p:nvSpPr>
          <p:cNvPr id="104" name="文本框 103"/>
          <p:cNvSpPr txBox="1"/>
          <p:nvPr/>
        </p:nvSpPr>
        <p:spPr>
          <a:xfrm>
            <a:off x="2863373" y="5280267"/>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5" name="文本框 104"/>
          <p:cNvSpPr txBox="1"/>
          <p:nvPr/>
        </p:nvSpPr>
        <p:spPr>
          <a:xfrm>
            <a:off x="5880066" y="5280267"/>
            <a:ext cx="77476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6" name="文本框 105"/>
          <p:cNvSpPr txBox="1"/>
          <p:nvPr/>
        </p:nvSpPr>
        <p:spPr>
          <a:xfrm>
            <a:off x="8702047" y="5280322"/>
            <a:ext cx="101502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p:cNvSpPr txBox="1"/>
          <p:nvPr/>
        </p:nvSpPr>
        <p:spPr>
          <a:xfrm>
            <a:off x="10816334" y="5280607"/>
            <a:ext cx="861133" cy="307777"/>
          </a:xfrm>
          <a:prstGeom prst="rect">
            <a:avLst/>
          </a:prstGeom>
          <a:noFill/>
        </p:spPr>
        <p:txBody>
          <a:bodyPr wrap="none" rtlCol="0">
            <a:sp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chemeClr val="bg2">
                    <a:lumMod val="25000"/>
                  </a:scheme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005D9C"/>
                </a:solidFill>
              </a:rPr>
              <a:t>写回</a:t>
            </a:r>
            <a:r>
              <a:rPr lang="en-US" altLang="zh-CN" dirty="0">
                <a:solidFill>
                  <a:srgbClr val="005D9C"/>
                </a:solidFill>
              </a:rPr>
              <a:t>WB</a:t>
            </a:r>
            <a:endParaRPr lang="en-US" altLang="zh-CN" dirty="0">
              <a:solidFill>
                <a:srgbClr val="005D9C"/>
              </a:solidFill>
            </a:endParaRPr>
          </a:p>
        </p:txBody>
      </p:sp>
      <p:sp>
        <p:nvSpPr>
          <p:cNvPr id="108" name="文本框 107"/>
          <p:cNvSpPr txBox="1"/>
          <p:nvPr/>
        </p:nvSpPr>
        <p:spPr>
          <a:xfrm>
            <a:off x="898873" y="5280267"/>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5D9C"/>
              </a:solidFill>
              <a:effectLst/>
              <a:uLnTx/>
              <a:uFillTx/>
              <a:latin typeface="微软雅黑" panose="020B0503020204020204" pitchFamily="34" charset="-122"/>
              <a:ea typeface="微软雅黑" panose="020B0503020204020204" pitchFamily="34" charset="-122"/>
              <a:cs typeface="+mn-cs"/>
            </a:endParaRPr>
          </a:p>
        </p:txBody>
      </p:sp>
      <p:grpSp>
        <p:nvGrpSpPr>
          <p:cNvPr id="188" name="组合 187"/>
          <p:cNvGrpSpPr/>
          <p:nvPr/>
        </p:nvGrpSpPr>
        <p:grpSpPr bwMode="auto">
          <a:xfrm>
            <a:off x="1728187" y="3296199"/>
            <a:ext cx="346249" cy="405224"/>
            <a:chOff x="251021" y="5056211"/>
            <a:chExt cx="346423" cy="381526"/>
          </a:xfrm>
        </p:grpSpPr>
        <p:sp>
          <p:nvSpPr>
            <p:cNvPr id="189" name="矩形 18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90" name="文本框 189"/>
            <p:cNvSpPr txBox="1"/>
            <p:nvPr/>
          </p:nvSpPr>
          <p:spPr>
            <a:xfrm>
              <a:off x="251021" y="5056211"/>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91" name="组合 190"/>
          <p:cNvGrpSpPr/>
          <p:nvPr/>
        </p:nvGrpSpPr>
        <p:grpSpPr bwMode="auto">
          <a:xfrm>
            <a:off x="1741555" y="2816744"/>
            <a:ext cx="346249" cy="405224"/>
            <a:chOff x="263515" y="5041476"/>
            <a:chExt cx="346423" cy="381526"/>
          </a:xfrm>
        </p:grpSpPr>
        <p:sp>
          <p:nvSpPr>
            <p:cNvPr id="192" name="矩形 19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93" name="文本框 192"/>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4" name="组合 13"/>
          <p:cNvGrpSpPr/>
          <p:nvPr/>
        </p:nvGrpSpPr>
        <p:grpSpPr>
          <a:xfrm>
            <a:off x="2057401" y="3237326"/>
            <a:ext cx="2575182" cy="276999"/>
            <a:chOff x="2057401" y="3237326"/>
            <a:chExt cx="2575182" cy="276999"/>
          </a:xfrm>
        </p:grpSpPr>
        <p:sp>
          <p:nvSpPr>
            <p:cNvPr id="114" name="文本框 113"/>
            <p:cNvSpPr txBox="1"/>
            <p:nvPr/>
          </p:nvSpPr>
          <p:spPr>
            <a:xfrm>
              <a:off x="2087804" y="3237326"/>
              <a:ext cx="3818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cxnSp>
          <p:nvCxnSpPr>
            <p:cNvPr id="194" name="直接箭头连接符 193"/>
            <p:cNvCxnSpPr>
              <a:stCxn id="178" idx="3"/>
            </p:cNvCxnSpPr>
            <p:nvPr/>
          </p:nvCxnSpPr>
          <p:spPr>
            <a:xfrm flipV="1">
              <a:off x="2057401" y="3476532"/>
              <a:ext cx="2575182" cy="1034"/>
            </a:xfrm>
            <a:prstGeom prst="straightConnector1">
              <a:avLst/>
            </a:prstGeom>
            <a:noFill/>
            <a:ln w="19050" cap="flat" cmpd="sng" algn="ctr">
              <a:solidFill>
                <a:sysClr val="windowText" lastClr="000000"/>
              </a:solidFill>
              <a:prstDash val="solid"/>
              <a:miter lim="800000"/>
              <a:tailEnd type="triangle"/>
            </a:ln>
            <a:effectLst/>
          </p:spPr>
        </p:cxnSp>
      </p:grpSp>
      <p:grpSp>
        <p:nvGrpSpPr>
          <p:cNvPr id="285" name="组合 284"/>
          <p:cNvGrpSpPr/>
          <p:nvPr/>
        </p:nvGrpSpPr>
        <p:grpSpPr>
          <a:xfrm>
            <a:off x="3564682" y="1458643"/>
            <a:ext cx="1069119" cy="1139706"/>
            <a:chOff x="3475035" y="1422784"/>
            <a:chExt cx="1069119" cy="1139706"/>
          </a:xfrm>
        </p:grpSpPr>
        <p:cxnSp>
          <p:nvCxnSpPr>
            <p:cNvPr id="221" name="直接箭头连接符 220"/>
            <p:cNvCxnSpPr/>
            <p:nvPr/>
          </p:nvCxnSpPr>
          <p:spPr>
            <a:xfrm>
              <a:off x="3475035" y="1422784"/>
              <a:ext cx="1069119" cy="0"/>
            </a:xfrm>
            <a:prstGeom prst="straightConnector1">
              <a:avLst/>
            </a:prstGeom>
            <a:noFill/>
            <a:ln w="19050" cap="flat" cmpd="sng" algn="ctr">
              <a:solidFill>
                <a:srgbClr val="C00000"/>
              </a:solidFill>
              <a:prstDash val="solid"/>
              <a:miter lim="800000"/>
              <a:tailEnd type="triangle"/>
            </a:ln>
            <a:effectLst/>
          </p:spPr>
        </p:cxnSp>
        <p:cxnSp>
          <p:nvCxnSpPr>
            <p:cNvPr id="66" name="直接箭头连接符 65"/>
            <p:cNvCxnSpPr/>
            <p:nvPr/>
          </p:nvCxnSpPr>
          <p:spPr>
            <a:xfrm>
              <a:off x="3475035" y="1548290"/>
              <a:ext cx="1069119" cy="0"/>
            </a:xfrm>
            <a:prstGeom prst="straightConnector1">
              <a:avLst/>
            </a:prstGeom>
            <a:noFill/>
            <a:ln w="19050" cap="flat" cmpd="sng" algn="ctr">
              <a:solidFill>
                <a:srgbClr val="C00000"/>
              </a:solidFill>
              <a:prstDash val="solid"/>
              <a:miter lim="800000"/>
              <a:tailEnd type="triangle"/>
            </a:ln>
            <a:effectLst/>
          </p:spPr>
        </p:cxnSp>
        <p:cxnSp>
          <p:nvCxnSpPr>
            <p:cNvPr id="67" name="直接箭头连接符 66"/>
            <p:cNvCxnSpPr/>
            <p:nvPr/>
          </p:nvCxnSpPr>
          <p:spPr>
            <a:xfrm>
              <a:off x="3475035" y="1673796"/>
              <a:ext cx="1069119" cy="0"/>
            </a:xfrm>
            <a:prstGeom prst="straightConnector1">
              <a:avLst/>
            </a:prstGeom>
            <a:noFill/>
            <a:ln w="19050" cap="flat" cmpd="sng" algn="ctr">
              <a:solidFill>
                <a:srgbClr val="C00000"/>
              </a:solidFill>
              <a:prstDash val="solid"/>
              <a:miter lim="800000"/>
              <a:tailEnd type="triangle"/>
            </a:ln>
            <a:effectLst/>
          </p:spPr>
        </p:cxnSp>
        <p:cxnSp>
          <p:nvCxnSpPr>
            <p:cNvPr id="68" name="直接箭头连接符 67"/>
            <p:cNvCxnSpPr/>
            <p:nvPr/>
          </p:nvCxnSpPr>
          <p:spPr>
            <a:xfrm>
              <a:off x="3475035" y="1867131"/>
              <a:ext cx="1069119" cy="0"/>
            </a:xfrm>
            <a:prstGeom prst="straightConnector1">
              <a:avLst/>
            </a:prstGeom>
            <a:noFill/>
            <a:ln w="19050" cap="flat" cmpd="sng" algn="ctr">
              <a:solidFill>
                <a:srgbClr val="C00000"/>
              </a:solidFill>
              <a:prstDash val="solid"/>
              <a:miter lim="800000"/>
              <a:tailEnd type="triangle"/>
            </a:ln>
            <a:effectLst/>
          </p:spPr>
        </p:cxnSp>
        <p:cxnSp>
          <p:nvCxnSpPr>
            <p:cNvPr id="69" name="直接箭头连接符 68"/>
            <p:cNvCxnSpPr/>
            <p:nvPr/>
          </p:nvCxnSpPr>
          <p:spPr>
            <a:xfrm>
              <a:off x="3475035" y="1992637"/>
              <a:ext cx="1069119" cy="0"/>
            </a:xfrm>
            <a:prstGeom prst="straightConnector1">
              <a:avLst/>
            </a:prstGeom>
            <a:noFill/>
            <a:ln w="19050" cap="flat" cmpd="sng" algn="ctr">
              <a:solidFill>
                <a:srgbClr val="C00000"/>
              </a:solidFill>
              <a:prstDash val="solid"/>
              <a:miter lim="800000"/>
              <a:tailEnd type="triangle"/>
            </a:ln>
            <a:effectLst/>
          </p:spPr>
        </p:cxnSp>
        <p:cxnSp>
          <p:nvCxnSpPr>
            <p:cNvPr id="70" name="直接箭头连接符 69"/>
            <p:cNvCxnSpPr/>
            <p:nvPr/>
          </p:nvCxnSpPr>
          <p:spPr>
            <a:xfrm>
              <a:off x="3475035" y="2118143"/>
              <a:ext cx="1069119" cy="0"/>
            </a:xfrm>
            <a:prstGeom prst="straightConnector1">
              <a:avLst/>
            </a:prstGeom>
            <a:noFill/>
            <a:ln w="19050" cap="flat" cmpd="sng" algn="ctr">
              <a:solidFill>
                <a:srgbClr val="C00000"/>
              </a:solidFill>
              <a:prstDash val="solid"/>
              <a:miter lim="800000"/>
              <a:tailEnd type="triangle"/>
            </a:ln>
            <a:effectLst/>
          </p:spPr>
        </p:cxnSp>
        <p:cxnSp>
          <p:nvCxnSpPr>
            <p:cNvPr id="71" name="直接箭头连接符 70"/>
            <p:cNvCxnSpPr/>
            <p:nvPr/>
          </p:nvCxnSpPr>
          <p:spPr>
            <a:xfrm>
              <a:off x="3475035" y="2311478"/>
              <a:ext cx="1069119" cy="0"/>
            </a:xfrm>
            <a:prstGeom prst="straightConnector1">
              <a:avLst/>
            </a:prstGeom>
            <a:noFill/>
            <a:ln w="19050" cap="flat" cmpd="sng" algn="ctr">
              <a:solidFill>
                <a:srgbClr val="C00000"/>
              </a:solidFill>
              <a:prstDash val="solid"/>
              <a:miter lim="800000"/>
              <a:tailEnd type="triangle"/>
            </a:ln>
            <a:effectLst/>
          </p:spPr>
        </p:cxnSp>
        <p:cxnSp>
          <p:nvCxnSpPr>
            <p:cNvPr id="72" name="直接箭头连接符 71"/>
            <p:cNvCxnSpPr/>
            <p:nvPr/>
          </p:nvCxnSpPr>
          <p:spPr>
            <a:xfrm>
              <a:off x="3475035" y="2436984"/>
              <a:ext cx="1069119" cy="0"/>
            </a:xfrm>
            <a:prstGeom prst="straightConnector1">
              <a:avLst/>
            </a:prstGeom>
            <a:noFill/>
            <a:ln w="19050" cap="flat" cmpd="sng" algn="ctr">
              <a:solidFill>
                <a:srgbClr val="C00000"/>
              </a:solidFill>
              <a:prstDash val="solid"/>
              <a:miter lim="800000"/>
              <a:tailEnd type="triangle"/>
            </a:ln>
            <a:effectLst/>
          </p:spPr>
        </p:cxnSp>
        <p:cxnSp>
          <p:nvCxnSpPr>
            <p:cNvPr id="73" name="直接箭头连接符 72"/>
            <p:cNvCxnSpPr/>
            <p:nvPr/>
          </p:nvCxnSpPr>
          <p:spPr>
            <a:xfrm>
              <a:off x="3475035" y="2562490"/>
              <a:ext cx="1069119" cy="0"/>
            </a:xfrm>
            <a:prstGeom prst="straightConnector1">
              <a:avLst/>
            </a:prstGeom>
            <a:noFill/>
            <a:ln w="19050" cap="flat" cmpd="sng" algn="ctr">
              <a:solidFill>
                <a:srgbClr val="C00000"/>
              </a:solidFill>
              <a:prstDash val="solid"/>
              <a:miter lim="800000"/>
              <a:tailEnd type="triangle"/>
            </a:ln>
            <a:effectLst/>
          </p:spPr>
        </p:cxnSp>
      </p:grpSp>
      <p:grpSp>
        <p:nvGrpSpPr>
          <p:cNvPr id="83" name="组合 82"/>
          <p:cNvGrpSpPr/>
          <p:nvPr/>
        </p:nvGrpSpPr>
        <p:grpSpPr>
          <a:xfrm>
            <a:off x="10332186" y="1335939"/>
            <a:ext cx="377341" cy="461633"/>
            <a:chOff x="4402678" y="2057282"/>
            <a:chExt cx="381000" cy="434037"/>
          </a:xfrm>
        </p:grpSpPr>
        <p:sp>
          <p:nvSpPr>
            <p:cNvPr id="84" name="矩形 8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85" name="文本框 84"/>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0" name="组合 19"/>
          <p:cNvGrpSpPr/>
          <p:nvPr/>
        </p:nvGrpSpPr>
        <p:grpSpPr>
          <a:xfrm>
            <a:off x="4952242" y="1458643"/>
            <a:ext cx="2541671" cy="695359"/>
            <a:chOff x="4952242" y="1458643"/>
            <a:chExt cx="2541671" cy="695359"/>
          </a:xfrm>
        </p:grpSpPr>
        <p:cxnSp>
          <p:nvCxnSpPr>
            <p:cNvPr id="92" name="直接箭头连接符 91"/>
            <p:cNvCxnSpPr/>
            <p:nvPr/>
          </p:nvCxnSpPr>
          <p:spPr>
            <a:xfrm>
              <a:off x="4952242" y="1458643"/>
              <a:ext cx="2541671" cy="0"/>
            </a:xfrm>
            <a:prstGeom prst="straightConnector1">
              <a:avLst/>
            </a:prstGeom>
            <a:noFill/>
            <a:ln w="19050" cap="flat" cmpd="sng" algn="ctr">
              <a:solidFill>
                <a:srgbClr val="C00000"/>
              </a:solidFill>
              <a:prstDash val="solid"/>
              <a:miter lim="800000"/>
              <a:tailEnd type="triangle"/>
            </a:ln>
            <a:effectLst/>
          </p:spPr>
        </p:cxnSp>
        <p:cxnSp>
          <p:nvCxnSpPr>
            <p:cNvPr id="93" name="直接箭头连接符 92"/>
            <p:cNvCxnSpPr/>
            <p:nvPr/>
          </p:nvCxnSpPr>
          <p:spPr>
            <a:xfrm>
              <a:off x="4952242" y="1584149"/>
              <a:ext cx="2541671" cy="0"/>
            </a:xfrm>
            <a:prstGeom prst="straightConnector1">
              <a:avLst/>
            </a:prstGeom>
            <a:noFill/>
            <a:ln w="19050" cap="flat" cmpd="sng" algn="ctr">
              <a:solidFill>
                <a:srgbClr val="C00000"/>
              </a:solidFill>
              <a:prstDash val="solid"/>
              <a:miter lim="800000"/>
              <a:tailEnd type="triangle"/>
            </a:ln>
            <a:effectLst/>
          </p:spPr>
        </p:cxnSp>
        <p:cxnSp>
          <p:nvCxnSpPr>
            <p:cNvPr id="94" name="直接箭头连接符 93"/>
            <p:cNvCxnSpPr/>
            <p:nvPr/>
          </p:nvCxnSpPr>
          <p:spPr>
            <a:xfrm>
              <a:off x="4952242" y="1709655"/>
              <a:ext cx="2541671" cy="0"/>
            </a:xfrm>
            <a:prstGeom prst="straightConnector1">
              <a:avLst/>
            </a:prstGeom>
            <a:noFill/>
            <a:ln w="19050" cap="flat" cmpd="sng" algn="ctr">
              <a:solidFill>
                <a:srgbClr val="C00000"/>
              </a:solidFill>
              <a:prstDash val="solid"/>
              <a:miter lim="800000"/>
              <a:tailEnd type="triangle"/>
            </a:ln>
            <a:effectLst/>
          </p:spPr>
        </p:cxnSp>
        <p:cxnSp>
          <p:nvCxnSpPr>
            <p:cNvPr id="95" name="直接箭头连接符 94"/>
            <p:cNvCxnSpPr/>
            <p:nvPr/>
          </p:nvCxnSpPr>
          <p:spPr>
            <a:xfrm>
              <a:off x="4952242" y="1902990"/>
              <a:ext cx="2541671" cy="0"/>
            </a:xfrm>
            <a:prstGeom prst="straightConnector1">
              <a:avLst/>
            </a:prstGeom>
            <a:noFill/>
            <a:ln w="19050" cap="flat" cmpd="sng" algn="ctr">
              <a:solidFill>
                <a:srgbClr val="C00000"/>
              </a:solidFill>
              <a:prstDash val="solid"/>
              <a:miter lim="800000"/>
              <a:tailEnd type="triangle"/>
            </a:ln>
            <a:effectLst/>
          </p:spPr>
        </p:cxnSp>
        <p:cxnSp>
          <p:nvCxnSpPr>
            <p:cNvPr id="100" name="直接箭头连接符 99"/>
            <p:cNvCxnSpPr/>
            <p:nvPr/>
          </p:nvCxnSpPr>
          <p:spPr>
            <a:xfrm>
              <a:off x="4952242" y="2028496"/>
              <a:ext cx="2541671" cy="0"/>
            </a:xfrm>
            <a:prstGeom prst="straightConnector1">
              <a:avLst/>
            </a:prstGeom>
            <a:noFill/>
            <a:ln w="19050" cap="flat" cmpd="sng" algn="ctr">
              <a:solidFill>
                <a:srgbClr val="C00000"/>
              </a:solidFill>
              <a:prstDash val="solid"/>
              <a:miter lim="800000"/>
              <a:tailEnd type="triangle"/>
            </a:ln>
            <a:effectLst/>
          </p:spPr>
        </p:cxnSp>
        <p:cxnSp>
          <p:nvCxnSpPr>
            <p:cNvPr id="109" name="直接箭头连接符 108"/>
            <p:cNvCxnSpPr/>
            <p:nvPr/>
          </p:nvCxnSpPr>
          <p:spPr>
            <a:xfrm>
              <a:off x="4952242" y="2154002"/>
              <a:ext cx="2541671" cy="0"/>
            </a:xfrm>
            <a:prstGeom prst="straightConnector1">
              <a:avLst/>
            </a:prstGeom>
            <a:noFill/>
            <a:ln w="19050" cap="flat" cmpd="sng" algn="ctr">
              <a:solidFill>
                <a:srgbClr val="C00000"/>
              </a:solidFill>
              <a:prstDash val="solid"/>
              <a:miter lim="800000"/>
              <a:tailEnd type="triangle"/>
            </a:ln>
            <a:effectLst/>
          </p:spPr>
        </p:cxnSp>
      </p:grpSp>
      <p:cxnSp>
        <p:nvCxnSpPr>
          <p:cNvPr id="230" name="直接箭头连接符 229"/>
          <p:cNvCxnSpPr/>
          <p:nvPr/>
        </p:nvCxnSpPr>
        <p:spPr>
          <a:xfrm>
            <a:off x="4923267" y="2490380"/>
            <a:ext cx="1322178" cy="0"/>
          </a:xfrm>
          <a:prstGeom prst="straightConnector1">
            <a:avLst/>
          </a:prstGeom>
          <a:noFill/>
          <a:ln w="19050" cap="flat" cmpd="sng" algn="ctr">
            <a:solidFill>
              <a:srgbClr val="C00000"/>
            </a:solidFill>
            <a:prstDash val="solid"/>
            <a:miter lim="800000"/>
            <a:tailEnd type="none"/>
          </a:ln>
          <a:effectLst/>
        </p:spPr>
      </p:cxnSp>
      <p:cxnSp>
        <p:nvCxnSpPr>
          <p:cNvPr id="233" name="直接箭头连接符 232"/>
          <p:cNvCxnSpPr/>
          <p:nvPr/>
        </p:nvCxnSpPr>
        <p:spPr>
          <a:xfrm>
            <a:off x="7819275" y="2022946"/>
            <a:ext cx="1293422" cy="0"/>
          </a:xfrm>
          <a:prstGeom prst="straightConnector1">
            <a:avLst/>
          </a:prstGeom>
          <a:noFill/>
          <a:ln w="19050" cap="sq" cmpd="sng" algn="ctr">
            <a:solidFill>
              <a:srgbClr val="C00000"/>
            </a:solidFill>
            <a:prstDash val="solid"/>
            <a:miter lim="800000"/>
            <a:tailEnd type="none"/>
          </a:ln>
          <a:effectLst/>
        </p:spPr>
      </p:cxnSp>
      <p:grpSp>
        <p:nvGrpSpPr>
          <p:cNvPr id="111" name="组合 110"/>
          <p:cNvGrpSpPr/>
          <p:nvPr/>
        </p:nvGrpSpPr>
        <p:grpSpPr>
          <a:xfrm>
            <a:off x="7810004" y="1442747"/>
            <a:ext cx="2541671" cy="251012"/>
            <a:chOff x="4746052" y="1915843"/>
            <a:chExt cx="1069119" cy="251012"/>
          </a:xfrm>
        </p:grpSpPr>
        <p:cxnSp>
          <p:nvCxnSpPr>
            <p:cNvPr id="112" name="直接箭头连接符 111"/>
            <p:cNvCxnSpPr/>
            <p:nvPr/>
          </p:nvCxnSpPr>
          <p:spPr>
            <a:xfrm>
              <a:off x="4746052" y="1915843"/>
              <a:ext cx="1069119" cy="0"/>
            </a:xfrm>
            <a:prstGeom prst="straightConnector1">
              <a:avLst/>
            </a:prstGeom>
            <a:noFill/>
            <a:ln w="19050" cap="flat" cmpd="sng" algn="ctr">
              <a:solidFill>
                <a:srgbClr val="C00000"/>
              </a:solidFill>
              <a:prstDash val="solid"/>
              <a:miter lim="800000"/>
              <a:tailEnd type="triangle"/>
            </a:ln>
            <a:effectLst/>
          </p:spPr>
        </p:cxnSp>
        <p:cxnSp>
          <p:nvCxnSpPr>
            <p:cNvPr id="113" name="直接箭头连接符 112"/>
            <p:cNvCxnSpPr/>
            <p:nvPr/>
          </p:nvCxnSpPr>
          <p:spPr>
            <a:xfrm>
              <a:off x="4746052" y="2041349"/>
              <a:ext cx="1069119" cy="0"/>
            </a:xfrm>
            <a:prstGeom prst="straightConnector1">
              <a:avLst/>
            </a:prstGeom>
            <a:noFill/>
            <a:ln w="19050" cap="flat" cmpd="sng" algn="ctr">
              <a:solidFill>
                <a:srgbClr val="C00000"/>
              </a:solidFill>
              <a:prstDash val="solid"/>
              <a:miter lim="800000"/>
              <a:tailEnd type="triangle"/>
            </a:ln>
            <a:effectLst/>
          </p:spPr>
        </p:cxnSp>
        <p:cxnSp>
          <p:nvCxnSpPr>
            <p:cNvPr id="115" name="直接箭头连接符 114"/>
            <p:cNvCxnSpPr/>
            <p:nvPr/>
          </p:nvCxnSpPr>
          <p:spPr>
            <a:xfrm>
              <a:off x="4746052" y="2166855"/>
              <a:ext cx="1069119" cy="0"/>
            </a:xfrm>
            <a:prstGeom prst="straightConnector1">
              <a:avLst/>
            </a:prstGeom>
            <a:noFill/>
            <a:ln w="19050" cap="flat" cmpd="sng" algn="ctr">
              <a:solidFill>
                <a:srgbClr val="C00000"/>
              </a:solidFill>
              <a:prstDash val="solid"/>
              <a:miter lim="800000"/>
              <a:tailEnd type="triangle"/>
            </a:ln>
            <a:effectLst/>
          </p:spPr>
        </p:cxnSp>
      </p:grpSp>
      <p:cxnSp>
        <p:nvCxnSpPr>
          <p:cNvPr id="101" name="直接箭头连接符 100"/>
          <p:cNvCxnSpPr>
            <a:stCxn id="204" idx="0"/>
          </p:cNvCxnSpPr>
          <p:nvPr/>
        </p:nvCxnSpPr>
        <p:spPr>
          <a:xfrm>
            <a:off x="4790891" y="1345128"/>
            <a:ext cx="3824" cy="4154304"/>
          </a:xfrm>
          <a:prstGeom prst="straightConnector1">
            <a:avLst/>
          </a:prstGeom>
          <a:noFill/>
          <a:ln w="12700" cap="flat" cmpd="sng" algn="ctr">
            <a:solidFill>
              <a:srgbClr val="5B9BD5"/>
            </a:solidFill>
            <a:prstDash val="dash"/>
            <a:miter lim="800000"/>
            <a:tailEnd type="none"/>
          </a:ln>
          <a:effectLst/>
        </p:spPr>
      </p:cxnSp>
      <p:grpSp>
        <p:nvGrpSpPr>
          <p:cNvPr id="18" name="组合 17"/>
          <p:cNvGrpSpPr/>
          <p:nvPr/>
        </p:nvGrpSpPr>
        <p:grpSpPr>
          <a:xfrm>
            <a:off x="4593987" y="1345128"/>
            <a:ext cx="392228" cy="1377164"/>
            <a:chOff x="4593987" y="1345128"/>
            <a:chExt cx="392228" cy="1377164"/>
          </a:xfrm>
        </p:grpSpPr>
        <p:grpSp>
          <p:nvGrpSpPr>
            <p:cNvPr id="213" name="组合 212"/>
            <p:cNvGrpSpPr/>
            <p:nvPr/>
          </p:nvGrpSpPr>
          <p:grpSpPr>
            <a:xfrm>
              <a:off x="4593987" y="2260659"/>
              <a:ext cx="376616" cy="461633"/>
              <a:chOff x="4387262" y="2057282"/>
              <a:chExt cx="381000" cy="434037"/>
            </a:xfrm>
          </p:grpSpPr>
          <p:sp>
            <p:nvSpPr>
              <p:cNvPr id="214" name="矩形 21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15" name="文本框 214"/>
              <p:cNvSpPr txBox="1"/>
              <p:nvPr/>
            </p:nvSpPr>
            <p:spPr bwMode="auto">
              <a:xfrm rot="16200000">
                <a:off x="4414986"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10" name="组合 209"/>
            <p:cNvGrpSpPr/>
            <p:nvPr/>
          </p:nvGrpSpPr>
          <p:grpSpPr>
            <a:xfrm>
              <a:off x="4608874" y="1799281"/>
              <a:ext cx="377341" cy="461633"/>
              <a:chOff x="4402676" y="2057282"/>
              <a:chExt cx="381000" cy="434037"/>
            </a:xfrm>
          </p:grpSpPr>
          <p:sp>
            <p:nvSpPr>
              <p:cNvPr id="211" name="矩形 210"/>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12" name="文本框 211"/>
              <p:cNvSpPr txBox="1"/>
              <p:nvPr/>
            </p:nvSpPr>
            <p:spPr bwMode="auto">
              <a:xfrm rot="16200000">
                <a:off x="4448487" y="2087259"/>
                <a:ext cx="289378"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8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rPr>
                  <a:t>MEM</a:t>
                </a:r>
                <a:endParaRPr kumimoji="0" lang="zh-CN" altLang="en-US" sz="10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09" name="组合 208"/>
            <p:cNvGrpSpPr/>
            <p:nvPr/>
          </p:nvGrpSpPr>
          <p:grpSpPr>
            <a:xfrm>
              <a:off x="4608510" y="1345128"/>
              <a:ext cx="377341" cy="461633"/>
              <a:chOff x="4402678" y="2057282"/>
              <a:chExt cx="381000" cy="434037"/>
            </a:xfrm>
          </p:grpSpPr>
          <p:sp>
            <p:nvSpPr>
              <p:cNvPr id="204" name="矩形 203"/>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208" name="文本框 207"/>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21" name="组合 20"/>
          <p:cNvGrpSpPr/>
          <p:nvPr/>
        </p:nvGrpSpPr>
        <p:grpSpPr>
          <a:xfrm>
            <a:off x="7473946" y="1335939"/>
            <a:ext cx="377705" cy="915786"/>
            <a:chOff x="7473946" y="1335939"/>
            <a:chExt cx="377705" cy="915786"/>
          </a:xfrm>
        </p:grpSpPr>
        <p:grpSp>
          <p:nvGrpSpPr>
            <p:cNvPr id="78" name="组合 77"/>
            <p:cNvGrpSpPr/>
            <p:nvPr/>
          </p:nvGrpSpPr>
          <p:grpSpPr>
            <a:xfrm>
              <a:off x="7474310" y="1790092"/>
              <a:ext cx="377341" cy="461633"/>
              <a:chOff x="4402676" y="2057282"/>
              <a:chExt cx="381000" cy="434037"/>
            </a:xfrm>
          </p:grpSpPr>
          <p:sp>
            <p:nvSpPr>
              <p:cNvPr id="79" name="矩形 78"/>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80" name="文本框 79"/>
              <p:cNvSpPr txBox="1"/>
              <p:nvPr/>
            </p:nvSpPr>
            <p:spPr bwMode="auto">
              <a:xfrm rot="16200000">
                <a:off x="4448487" y="2087259"/>
                <a:ext cx="289378"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8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rPr>
                  <a:t>MEM</a:t>
                </a:r>
                <a:endParaRPr kumimoji="0" lang="zh-CN" altLang="en-US" sz="100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75" name="组合 74"/>
            <p:cNvGrpSpPr/>
            <p:nvPr/>
          </p:nvGrpSpPr>
          <p:grpSpPr>
            <a:xfrm>
              <a:off x="7473946" y="1335939"/>
              <a:ext cx="377341" cy="461633"/>
              <a:chOff x="4402678" y="2057282"/>
              <a:chExt cx="381000" cy="434037"/>
            </a:xfrm>
          </p:grpSpPr>
          <p:sp>
            <p:nvSpPr>
              <p:cNvPr id="76" name="矩形 75"/>
              <p:cNvSpPr/>
              <p:nvPr/>
            </p:nvSpPr>
            <p:spPr>
              <a:xfrm>
                <a:off x="4430257" y="2057282"/>
                <a:ext cx="313141" cy="434037"/>
              </a:xfrm>
              <a:prstGeom prst="rect">
                <a:avLst/>
              </a:prstGeom>
              <a:solidFill>
                <a:srgbClr val="C00000"/>
              </a:solidFill>
              <a:ln w="28575" cap="flat" cmpd="sng" algn="ctr">
                <a:solidFill>
                  <a:sysClr val="windowText" lastClr="000000"/>
                </a:solidFill>
                <a:prstDash val="solid"/>
                <a:miter lim="800000"/>
              </a:ln>
              <a:effectLst/>
            </p:spPr>
            <p:txBody>
              <a:bodyPr rtlCol="0" anchor="ctr"/>
              <a:lstStyle/>
              <a:p>
                <a:pPr algn="ctr"/>
                <a:endParaRPr lang="zh-CN" altLang="en-US" sz="1600" kern="0" dirty="0">
                  <a:solidFill>
                    <a:prstClr val="white"/>
                  </a:solidFill>
                  <a:latin typeface="等线" panose="02010600030101010101" charset="-122"/>
                  <a:ea typeface="等线" panose="02010600030101010101" charset="-122"/>
                </a:endParaRPr>
              </a:p>
            </p:txBody>
          </p:sp>
          <p:sp>
            <p:nvSpPr>
              <p:cNvPr id="77" name="文本框 76"/>
              <p:cNvSpPr txBox="1"/>
              <p:nvPr/>
            </p:nvSpPr>
            <p:spPr bwMode="auto">
              <a:xfrm rot="16200000">
                <a:off x="4430402" y="2087259"/>
                <a:ext cx="325551" cy="381000"/>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9" name="组合 18"/>
          <p:cNvGrpSpPr/>
          <p:nvPr/>
        </p:nvGrpSpPr>
        <p:grpSpPr>
          <a:xfrm>
            <a:off x="4616388" y="2829123"/>
            <a:ext cx="361799" cy="870725"/>
            <a:chOff x="4606863" y="2829123"/>
            <a:chExt cx="361799" cy="870725"/>
          </a:xfrm>
        </p:grpSpPr>
        <p:grpSp>
          <p:nvGrpSpPr>
            <p:cNvPr id="119" name="组合 118"/>
            <p:cNvGrpSpPr/>
            <p:nvPr/>
          </p:nvGrpSpPr>
          <p:grpSpPr bwMode="auto">
            <a:xfrm>
              <a:off x="4606863" y="3294624"/>
              <a:ext cx="346249" cy="405224"/>
              <a:chOff x="247957" y="5061258"/>
              <a:chExt cx="346423" cy="381526"/>
            </a:xfrm>
          </p:grpSpPr>
          <p:sp>
            <p:nvSpPr>
              <p:cNvPr id="120" name="矩形 119"/>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21" name="文本框 120"/>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28" name="组合 127"/>
            <p:cNvGrpSpPr/>
            <p:nvPr/>
          </p:nvGrpSpPr>
          <p:grpSpPr bwMode="auto">
            <a:xfrm>
              <a:off x="4622413" y="2829123"/>
              <a:ext cx="346249" cy="405224"/>
              <a:chOff x="263515" y="5041476"/>
              <a:chExt cx="346423" cy="381526"/>
            </a:xfrm>
          </p:grpSpPr>
          <p:sp>
            <p:nvSpPr>
              <p:cNvPr id="129" name="矩形 12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0" name="文本框 129"/>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7" name="组合 16"/>
          <p:cNvGrpSpPr/>
          <p:nvPr/>
        </p:nvGrpSpPr>
        <p:grpSpPr>
          <a:xfrm>
            <a:off x="4590834" y="3783790"/>
            <a:ext cx="405224" cy="808217"/>
            <a:chOff x="4584750" y="3784588"/>
            <a:chExt cx="405224" cy="808217"/>
          </a:xfrm>
        </p:grpSpPr>
        <p:grpSp>
          <p:nvGrpSpPr>
            <p:cNvPr id="131" name="组合 130"/>
            <p:cNvGrpSpPr/>
            <p:nvPr/>
          </p:nvGrpSpPr>
          <p:grpSpPr bwMode="auto">
            <a:xfrm>
              <a:off x="4584750" y="3784588"/>
              <a:ext cx="405224" cy="349958"/>
              <a:chOff x="225834" y="5083938"/>
              <a:chExt cx="405428" cy="329492"/>
            </a:xfrm>
          </p:grpSpPr>
          <p:sp>
            <p:nvSpPr>
              <p:cNvPr id="132" name="矩形 13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3" name="文本框 132"/>
              <p:cNvSpPr txBox="1"/>
              <p:nvPr/>
            </p:nvSpPr>
            <p:spPr>
              <a:xfrm rot="16200000">
                <a:off x="265548" y="5044224"/>
                <a:ext cx="326000" cy="405428"/>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34" name="组合 133"/>
            <p:cNvGrpSpPr/>
            <p:nvPr/>
          </p:nvGrpSpPr>
          <p:grpSpPr bwMode="auto">
            <a:xfrm>
              <a:off x="4584750" y="4242850"/>
              <a:ext cx="405224" cy="349955"/>
              <a:chOff x="225833" y="5083941"/>
              <a:chExt cx="405427" cy="329489"/>
            </a:xfrm>
          </p:grpSpPr>
          <p:sp>
            <p:nvSpPr>
              <p:cNvPr id="135" name="矩形 134"/>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36" name="文本框 135"/>
              <p:cNvSpPr txBox="1"/>
              <p:nvPr/>
            </p:nvSpPr>
            <p:spPr>
              <a:xfrm rot="16200000">
                <a:off x="265547" y="5044227"/>
                <a:ext cx="326000" cy="405427"/>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43" name="组合 142"/>
          <p:cNvGrpSpPr/>
          <p:nvPr/>
        </p:nvGrpSpPr>
        <p:grpSpPr bwMode="auto">
          <a:xfrm>
            <a:off x="4648689" y="4679601"/>
            <a:ext cx="346249" cy="405224"/>
            <a:chOff x="280275" y="5063698"/>
            <a:chExt cx="346423" cy="381526"/>
          </a:xfrm>
        </p:grpSpPr>
        <p:sp>
          <p:nvSpPr>
            <p:cNvPr id="144" name="矩形 143"/>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45" name="文本框 144"/>
            <p:cNvSpPr txBox="1"/>
            <p:nvPr/>
          </p:nvSpPr>
          <p:spPr>
            <a:xfrm>
              <a:off x="280275" y="506369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err="1">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Imm</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4" name="组合 23"/>
          <p:cNvGrpSpPr/>
          <p:nvPr/>
        </p:nvGrpSpPr>
        <p:grpSpPr>
          <a:xfrm>
            <a:off x="7485724" y="2836672"/>
            <a:ext cx="361799" cy="870725"/>
            <a:chOff x="7473024" y="2836672"/>
            <a:chExt cx="361799" cy="870725"/>
          </a:xfrm>
        </p:grpSpPr>
        <p:grpSp>
          <p:nvGrpSpPr>
            <p:cNvPr id="146" name="组合 145"/>
            <p:cNvGrpSpPr/>
            <p:nvPr/>
          </p:nvGrpSpPr>
          <p:grpSpPr bwMode="auto">
            <a:xfrm>
              <a:off x="7473024" y="3302173"/>
              <a:ext cx="346249" cy="405224"/>
              <a:chOff x="247957" y="5061258"/>
              <a:chExt cx="346423" cy="381526"/>
            </a:xfrm>
          </p:grpSpPr>
          <p:sp>
            <p:nvSpPr>
              <p:cNvPr id="147" name="矩形 146"/>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48" name="文本框 147"/>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49" name="组合 148"/>
            <p:cNvGrpSpPr/>
            <p:nvPr/>
          </p:nvGrpSpPr>
          <p:grpSpPr bwMode="auto">
            <a:xfrm>
              <a:off x="7488574" y="2836672"/>
              <a:ext cx="346249" cy="405224"/>
              <a:chOff x="263515" y="5041476"/>
              <a:chExt cx="346423" cy="381526"/>
            </a:xfrm>
          </p:grpSpPr>
          <p:sp>
            <p:nvSpPr>
              <p:cNvPr id="150" name="矩形 149"/>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1" name="文本框 150"/>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52" name="组合 151"/>
          <p:cNvGrpSpPr/>
          <p:nvPr/>
        </p:nvGrpSpPr>
        <p:grpSpPr bwMode="auto">
          <a:xfrm>
            <a:off x="7477637" y="4208559"/>
            <a:ext cx="346249" cy="405224"/>
            <a:chOff x="239867" y="5067734"/>
            <a:chExt cx="346423" cy="381526"/>
          </a:xfrm>
        </p:grpSpPr>
        <p:sp>
          <p:nvSpPr>
            <p:cNvPr id="153" name="矩形 152"/>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4" name="文本框 153"/>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6" name="组合 25"/>
          <p:cNvGrpSpPr/>
          <p:nvPr/>
        </p:nvGrpSpPr>
        <p:grpSpPr>
          <a:xfrm>
            <a:off x="10342763" y="2839361"/>
            <a:ext cx="361799" cy="870725"/>
            <a:chOff x="10330063" y="2839361"/>
            <a:chExt cx="361799" cy="870725"/>
          </a:xfrm>
        </p:grpSpPr>
        <p:grpSp>
          <p:nvGrpSpPr>
            <p:cNvPr id="155" name="组合 154"/>
            <p:cNvGrpSpPr/>
            <p:nvPr/>
          </p:nvGrpSpPr>
          <p:grpSpPr bwMode="auto">
            <a:xfrm>
              <a:off x="10330063" y="3304862"/>
              <a:ext cx="346249" cy="405224"/>
              <a:chOff x="247957" y="5061258"/>
              <a:chExt cx="346423" cy="381526"/>
            </a:xfrm>
          </p:grpSpPr>
          <p:sp>
            <p:nvSpPr>
              <p:cNvPr id="156" name="矩形 155"/>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ysClr val="windowText" lastClr="000000"/>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57" name="文本框 156"/>
              <p:cNvSpPr txBox="1"/>
              <p:nvPr/>
            </p:nvSpPr>
            <p:spPr>
              <a:xfrm>
                <a:off x="247957" y="5061258"/>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58" name="组合 157"/>
            <p:cNvGrpSpPr/>
            <p:nvPr/>
          </p:nvGrpSpPr>
          <p:grpSpPr bwMode="auto">
            <a:xfrm>
              <a:off x="10345613" y="2839361"/>
              <a:ext cx="346249" cy="405224"/>
              <a:chOff x="263515" y="5041476"/>
              <a:chExt cx="346423" cy="381526"/>
            </a:xfrm>
          </p:grpSpPr>
          <p:sp>
            <p:nvSpPr>
              <p:cNvPr id="159" name="矩形 158"/>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0" name="文本框 159"/>
              <p:cNvSpPr txBox="1"/>
              <p:nvPr/>
            </p:nvSpPr>
            <p:spPr>
              <a:xfrm>
                <a:off x="263515" y="5041476"/>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IR</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grpSp>
        <p:nvGrpSpPr>
          <p:cNvPr id="161" name="组合 160"/>
          <p:cNvGrpSpPr/>
          <p:nvPr/>
        </p:nvGrpSpPr>
        <p:grpSpPr bwMode="auto">
          <a:xfrm>
            <a:off x="10334676" y="3777615"/>
            <a:ext cx="346249" cy="405224"/>
            <a:chOff x="239867" y="5067734"/>
            <a:chExt cx="346423" cy="381526"/>
          </a:xfrm>
        </p:grpSpPr>
        <p:sp>
          <p:nvSpPr>
            <p:cNvPr id="162" name="矩形 161"/>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3" name="文本框 162"/>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64" name="组合 163"/>
          <p:cNvGrpSpPr/>
          <p:nvPr/>
        </p:nvGrpSpPr>
        <p:grpSpPr bwMode="auto">
          <a:xfrm>
            <a:off x="10330062" y="4224839"/>
            <a:ext cx="346249" cy="405224"/>
            <a:chOff x="239867" y="5067734"/>
            <a:chExt cx="346423" cy="381526"/>
          </a:xfrm>
        </p:grpSpPr>
        <p:sp>
          <p:nvSpPr>
            <p:cNvPr id="165" name="矩形 164"/>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166" name="文本框 165"/>
            <p:cNvSpPr txBox="1"/>
            <p:nvPr/>
          </p:nvSpPr>
          <p:spPr>
            <a:xfrm>
              <a:off x="239867" y="5067734"/>
              <a:ext cx="346423" cy="381526"/>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MD</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87" name="组合 286"/>
          <p:cNvGrpSpPr/>
          <p:nvPr/>
        </p:nvGrpSpPr>
        <p:grpSpPr>
          <a:xfrm>
            <a:off x="971833" y="3211801"/>
            <a:ext cx="779115" cy="276999"/>
            <a:chOff x="882186" y="3175942"/>
            <a:chExt cx="779115" cy="276999"/>
          </a:xfrm>
        </p:grpSpPr>
        <p:cxnSp>
          <p:nvCxnSpPr>
            <p:cNvPr id="15" name="直接箭头连接符 14"/>
            <p:cNvCxnSpPr/>
            <p:nvPr/>
          </p:nvCxnSpPr>
          <p:spPr>
            <a:xfrm>
              <a:off x="882186" y="3440673"/>
              <a:ext cx="779115" cy="0"/>
            </a:xfrm>
            <a:prstGeom prst="straightConnector1">
              <a:avLst/>
            </a:prstGeom>
            <a:noFill/>
            <a:ln w="19050" cap="flat" cmpd="sng" algn="ctr">
              <a:solidFill>
                <a:sysClr val="windowText" lastClr="000000"/>
              </a:solidFill>
              <a:prstDash val="solid"/>
              <a:miter lim="800000"/>
              <a:tailEnd type="triangle"/>
            </a:ln>
            <a:effectLst/>
          </p:spPr>
        </p:cxnSp>
        <p:sp>
          <p:nvSpPr>
            <p:cNvPr id="169" name="文本框 168"/>
            <p:cNvSpPr txBox="1"/>
            <p:nvPr/>
          </p:nvSpPr>
          <p:spPr>
            <a:xfrm>
              <a:off x="954675" y="3175942"/>
              <a:ext cx="3818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PC</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grpSp>
        <p:nvGrpSpPr>
          <p:cNvPr id="286" name="组合 285"/>
          <p:cNvGrpSpPr/>
          <p:nvPr/>
        </p:nvGrpSpPr>
        <p:grpSpPr>
          <a:xfrm>
            <a:off x="971833" y="2760374"/>
            <a:ext cx="779115" cy="294963"/>
            <a:chOff x="882186" y="2724515"/>
            <a:chExt cx="779115" cy="294963"/>
          </a:xfrm>
        </p:grpSpPr>
        <p:cxnSp>
          <p:nvCxnSpPr>
            <p:cNvPr id="168" name="直接箭头连接符 167"/>
            <p:cNvCxnSpPr/>
            <p:nvPr/>
          </p:nvCxnSpPr>
          <p:spPr>
            <a:xfrm>
              <a:off x="882186" y="3019478"/>
              <a:ext cx="779115" cy="0"/>
            </a:xfrm>
            <a:prstGeom prst="straightConnector1">
              <a:avLst/>
            </a:prstGeom>
            <a:noFill/>
            <a:ln w="19050" cap="flat" cmpd="sng" algn="ctr">
              <a:solidFill>
                <a:sysClr val="windowText" lastClr="000000"/>
              </a:solidFill>
              <a:prstDash val="solid"/>
              <a:miter lim="800000"/>
              <a:tailEnd type="triangle"/>
            </a:ln>
            <a:effectLst/>
          </p:spPr>
        </p:cxnSp>
        <p:sp>
          <p:nvSpPr>
            <p:cNvPr id="170" name="文本框 169"/>
            <p:cNvSpPr txBox="1"/>
            <p:nvPr/>
          </p:nvSpPr>
          <p:spPr>
            <a:xfrm>
              <a:off x="886849" y="2724515"/>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指令字</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grpSp>
      <p:cxnSp>
        <p:nvCxnSpPr>
          <p:cNvPr id="35" name="直接连接符 34"/>
          <p:cNvCxnSpPr/>
          <p:nvPr/>
        </p:nvCxnSpPr>
        <p:spPr>
          <a:xfrm>
            <a:off x="1887053" y="5764306"/>
            <a:ext cx="862282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Rectangle 3"/>
          <p:cNvSpPr txBox="1">
            <a:spLocks noChangeArrowheads="1"/>
          </p:cNvSpPr>
          <p:nvPr/>
        </p:nvSpPr>
        <p:spPr>
          <a:xfrm>
            <a:off x="2463793" y="5990117"/>
            <a:ext cx="6996071" cy="56060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000"/>
              </a:spcBef>
              <a:buClr>
                <a:srgbClr val="FFC000"/>
              </a:buClr>
              <a:buFont typeface="Wingdings" panose="05000000000000000000" pitchFamily="2" charset="2"/>
              <a:buChar char="n"/>
              <a:defRPr sz="24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l" defTabSz="914400" rtl="0" eaLnBrk="1" latinLnBrk="0" hangingPunct="1">
              <a:lnSpc>
                <a:spcPct val="120000"/>
              </a:lnSpc>
              <a:spcBef>
                <a:spcPts val="500"/>
              </a:spcBef>
              <a:buClr>
                <a:srgbClr val="FFC000"/>
              </a:buClr>
              <a:buFont typeface="Wingdings" panose="05000000000000000000" pitchFamily="2" charset="2"/>
              <a:buChar char="p"/>
              <a:defRPr sz="2000" kern="1200">
                <a:solidFill>
                  <a:schemeClr val="bg2">
                    <a:lumMod val="50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Clr>
                <a:srgbClr val="FFC000"/>
              </a:buClr>
              <a:buFont typeface="Wingdings" panose="05000000000000000000" pitchFamily="2" charset="2"/>
              <a:buChar char="u"/>
              <a:defRPr sz="2000" kern="1200">
                <a:solidFill>
                  <a:schemeClr val="bg2">
                    <a:lumMod val="50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2">
                    <a:lumMod val="50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chemeClr val="bg2">
                    <a:lumMod val="25000"/>
                  </a:schemeClr>
                </a:solidFill>
              </a:rPr>
              <a:t>译码段生成各段所需的控制信号，依次向后传递</a:t>
            </a:r>
            <a:endParaRPr lang="en-US" altLang="zh-CN" dirty="0">
              <a:solidFill>
                <a:schemeClr val="bg2">
                  <a:lumMod val="25000"/>
                </a:schemeClr>
              </a:solidFill>
            </a:endParaRPr>
          </a:p>
        </p:txBody>
      </p:sp>
      <p:grpSp>
        <p:nvGrpSpPr>
          <p:cNvPr id="5" name="组合 4"/>
          <p:cNvGrpSpPr/>
          <p:nvPr/>
        </p:nvGrpSpPr>
        <p:grpSpPr>
          <a:xfrm>
            <a:off x="5949939" y="3708457"/>
            <a:ext cx="557170" cy="930946"/>
            <a:chOff x="5949939" y="3708457"/>
            <a:chExt cx="557170" cy="930946"/>
          </a:xfrm>
        </p:grpSpPr>
        <p:sp>
          <p:nvSpPr>
            <p:cNvPr id="184" name="任意多边形 183"/>
            <p:cNvSpPr/>
            <p:nvPr/>
          </p:nvSpPr>
          <p:spPr>
            <a:xfrm>
              <a:off x="5949939" y="3708457"/>
              <a:ext cx="557170" cy="930946"/>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5" name="文本框 184"/>
            <p:cNvSpPr txBox="1"/>
            <p:nvPr/>
          </p:nvSpPr>
          <p:spPr>
            <a:xfrm>
              <a:off x="5991649" y="4071118"/>
              <a:ext cx="47641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ALU</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6517885" y="4190212"/>
            <a:ext cx="974820" cy="216672"/>
            <a:chOff x="6517885" y="4190212"/>
            <a:chExt cx="974820" cy="216672"/>
          </a:xfrm>
        </p:grpSpPr>
        <p:cxnSp>
          <p:nvCxnSpPr>
            <p:cNvPr id="220" name="直接箭头连接符 219"/>
            <p:cNvCxnSpPr/>
            <p:nvPr/>
          </p:nvCxnSpPr>
          <p:spPr>
            <a:xfrm>
              <a:off x="6884894" y="4406884"/>
              <a:ext cx="607811" cy="0"/>
            </a:xfrm>
            <a:prstGeom prst="straightConnector1">
              <a:avLst/>
            </a:prstGeom>
            <a:noFill/>
            <a:ln w="19050" cap="sq" cmpd="sng" algn="ctr">
              <a:solidFill>
                <a:sysClr val="windowText" lastClr="000000"/>
              </a:solidFill>
              <a:prstDash val="solid"/>
              <a:miter lim="800000"/>
              <a:tailEnd type="triangle"/>
            </a:ln>
            <a:effectLst/>
          </p:spPr>
        </p:cxnSp>
        <p:cxnSp>
          <p:nvCxnSpPr>
            <p:cNvPr id="222" name="直接箭头连接符 221"/>
            <p:cNvCxnSpPr/>
            <p:nvPr/>
          </p:nvCxnSpPr>
          <p:spPr>
            <a:xfrm>
              <a:off x="6517885" y="4190434"/>
              <a:ext cx="367009" cy="0"/>
            </a:xfrm>
            <a:prstGeom prst="straightConnector1">
              <a:avLst/>
            </a:prstGeom>
            <a:noFill/>
            <a:ln w="19050" cap="sq" cmpd="sng" algn="ctr">
              <a:solidFill>
                <a:sysClr val="windowText" lastClr="000000"/>
              </a:solidFill>
              <a:prstDash val="solid"/>
              <a:miter lim="800000"/>
              <a:tailEnd type="none"/>
            </a:ln>
            <a:effectLst/>
          </p:spPr>
        </p:cxnSp>
        <p:cxnSp>
          <p:nvCxnSpPr>
            <p:cNvPr id="46" name="直接连接符 45"/>
            <p:cNvCxnSpPr/>
            <p:nvPr/>
          </p:nvCxnSpPr>
          <p:spPr>
            <a:xfrm>
              <a:off x="6884894" y="4190212"/>
              <a:ext cx="0" cy="216672"/>
            </a:xfrm>
            <a:prstGeom prst="line">
              <a:avLst/>
            </a:prstGeom>
            <a:noFill/>
            <a:ln w="19050" cap="sq" cmpd="sng" algn="ctr">
              <a:solidFill>
                <a:sysClr val="windowText" lastClr="000000"/>
              </a:solidFill>
              <a:prstDash val="solid"/>
              <a:miter lim="800000"/>
              <a:tailEnd type="none"/>
            </a:ln>
            <a:effectLst/>
          </p:spPr>
        </p:cxnSp>
      </p:grpSp>
      <p:cxnSp>
        <p:nvCxnSpPr>
          <p:cNvPr id="227" name="直接箭头连接符 226"/>
          <p:cNvCxnSpPr/>
          <p:nvPr/>
        </p:nvCxnSpPr>
        <p:spPr>
          <a:xfrm>
            <a:off x="9705235" y="4395729"/>
            <a:ext cx="648553"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连接符 233"/>
          <p:cNvCxnSpPr/>
          <p:nvPr/>
        </p:nvCxnSpPr>
        <p:spPr>
          <a:xfrm>
            <a:off x="9112696" y="2028496"/>
            <a:ext cx="0" cy="1832688"/>
          </a:xfrm>
          <a:prstGeom prst="line">
            <a:avLst/>
          </a:prstGeom>
          <a:noFill/>
          <a:ln w="19050" cap="sq" cmpd="sng" algn="ctr">
            <a:solidFill>
              <a:srgbClr val="C00000"/>
            </a:solidFill>
            <a:prstDash val="solid"/>
            <a:miter lim="800000"/>
            <a:tailEnd type="triangle"/>
          </a:ln>
          <a:effectLst/>
        </p:spPr>
      </p:cxnSp>
      <p:grpSp>
        <p:nvGrpSpPr>
          <p:cNvPr id="7" name="组合 6"/>
          <p:cNvGrpSpPr/>
          <p:nvPr/>
        </p:nvGrpSpPr>
        <p:grpSpPr>
          <a:xfrm>
            <a:off x="8491955" y="3848752"/>
            <a:ext cx="1219958" cy="1186311"/>
            <a:chOff x="8491955" y="3848752"/>
            <a:chExt cx="1219958" cy="1186311"/>
          </a:xfrm>
        </p:grpSpPr>
        <p:sp>
          <p:nvSpPr>
            <p:cNvPr id="203" name="矩形 202"/>
            <p:cNvSpPr/>
            <p:nvPr/>
          </p:nvSpPr>
          <p:spPr>
            <a:xfrm>
              <a:off x="8537478" y="3868970"/>
              <a:ext cx="1159582" cy="1163786"/>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5" name="文本框 204"/>
            <p:cNvSpPr txBox="1"/>
            <p:nvPr/>
          </p:nvSpPr>
          <p:spPr>
            <a:xfrm>
              <a:off x="8491955" y="4312324"/>
              <a:ext cx="51809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ADDR</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6" name="文本框 205"/>
            <p:cNvSpPr txBox="1"/>
            <p:nvPr/>
          </p:nvSpPr>
          <p:spPr>
            <a:xfrm>
              <a:off x="8833656" y="4121455"/>
              <a:ext cx="588623" cy="548548"/>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存储器</a:t>
              </a:r>
              <a:endParaRPr kumimoji="0" lang="en-US" altLang="zh-CN" sz="105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7" name="文本框 206"/>
            <p:cNvSpPr txBox="1"/>
            <p:nvPr/>
          </p:nvSpPr>
          <p:spPr>
            <a:xfrm>
              <a:off x="9363741" y="4310897"/>
              <a:ext cx="34817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6" name="文本框 215"/>
            <p:cNvSpPr txBox="1"/>
            <p:nvPr/>
          </p:nvSpPr>
          <p:spPr>
            <a:xfrm>
              <a:off x="8530433" y="4719683"/>
              <a:ext cx="84551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WD</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7" name="等腰三角形 216"/>
            <p:cNvSpPr/>
            <p:nvPr/>
          </p:nvSpPr>
          <p:spPr>
            <a:xfrm>
              <a:off x="9068679" y="4926083"/>
              <a:ext cx="187278" cy="10898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1" name="文本框 240"/>
            <p:cNvSpPr txBox="1"/>
            <p:nvPr/>
          </p:nvSpPr>
          <p:spPr>
            <a:xfrm>
              <a:off x="8934516" y="3848752"/>
              <a:ext cx="365806"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WE</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42" name="组合 241"/>
          <p:cNvGrpSpPr/>
          <p:nvPr/>
        </p:nvGrpSpPr>
        <p:grpSpPr bwMode="auto">
          <a:xfrm>
            <a:off x="7462101" y="3794825"/>
            <a:ext cx="405224" cy="349958"/>
            <a:chOff x="225834" y="5083938"/>
            <a:chExt cx="405428" cy="329492"/>
          </a:xfrm>
        </p:grpSpPr>
        <p:sp>
          <p:nvSpPr>
            <p:cNvPr id="243" name="矩形 242"/>
            <p:cNvSpPr/>
            <p:nvPr/>
          </p:nvSpPr>
          <p:spPr>
            <a:xfrm>
              <a:off x="319313" y="5095492"/>
              <a:ext cx="216009" cy="317938"/>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u="none" strike="noStrike" kern="1200" cap="none" spc="0" normalizeH="0" baseline="0" noProof="0" dirty="0">
                <a:ln>
                  <a:noFill/>
                </a:ln>
                <a:solidFill>
                  <a:srgbClr val="FFFFFF"/>
                </a:solidFill>
                <a:effectLst/>
                <a:uLnTx/>
                <a:uFillTx/>
                <a:latin typeface="Segoe UI Black" panose="020B0A02040204020203" pitchFamily="34" charset="0"/>
                <a:ea typeface="微软雅黑" panose="020B0503020204020204" pitchFamily="34" charset="-122"/>
                <a:cs typeface="Segoe UI Black" panose="020B0A02040204020203" pitchFamily="34" charset="0"/>
              </a:endParaRPr>
            </a:p>
          </p:txBody>
        </p:sp>
        <p:sp>
          <p:nvSpPr>
            <p:cNvPr id="244" name="文本框 243"/>
            <p:cNvSpPr txBox="1"/>
            <p:nvPr/>
          </p:nvSpPr>
          <p:spPr>
            <a:xfrm rot="16200000">
              <a:off x="265548" y="5044224"/>
              <a:ext cx="326000" cy="405428"/>
            </a:xfrm>
            <a:prstGeom prst="rect">
              <a:avLst/>
            </a:prstGeom>
            <a:noFill/>
          </p:spPr>
          <p:txBody>
            <a:bodyPr vert="eaVe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B</a:t>
              </a:r>
              <a:endParaRPr kumimoji="0" lang="zh-CN" altLang="en-US" sz="1050" u="none" strike="noStrike" kern="1200" cap="none" spc="0" normalizeH="0" baseline="0" noProof="0" dirty="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25" name="组合 24"/>
          <p:cNvGrpSpPr/>
          <p:nvPr/>
        </p:nvGrpSpPr>
        <p:grpSpPr>
          <a:xfrm>
            <a:off x="7803406" y="3964168"/>
            <a:ext cx="734072" cy="850191"/>
            <a:chOff x="7803406" y="3964168"/>
            <a:chExt cx="734072" cy="850191"/>
          </a:xfrm>
        </p:grpSpPr>
        <p:cxnSp>
          <p:nvCxnSpPr>
            <p:cNvPr id="224" name="直接箭头连接符 223"/>
            <p:cNvCxnSpPr/>
            <p:nvPr/>
          </p:nvCxnSpPr>
          <p:spPr>
            <a:xfrm>
              <a:off x="7803406" y="4406884"/>
              <a:ext cx="734072" cy="0"/>
            </a:xfrm>
            <a:prstGeom prst="straightConnector1">
              <a:avLst/>
            </a:prstGeom>
            <a:noFill/>
            <a:ln w="19050" cap="flat" cmpd="sng" algn="ctr">
              <a:solidFill>
                <a:sysClr val="windowText" lastClr="000000"/>
              </a:solidFill>
              <a:prstDash val="solid"/>
              <a:miter lim="800000"/>
              <a:tailEnd type="triangle"/>
            </a:ln>
            <a:effectLst/>
          </p:spPr>
        </p:cxnSp>
        <p:cxnSp>
          <p:nvCxnSpPr>
            <p:cNvPr id="250" name="直接箭头连接符 249"/>
            <p:cNvCxnSpPr/>
            <p:nvPr/>
          </p:nvCxnSpPr>
          <p:spPr>
            <a:xfrm>
              <a:off x="7819273" y="3965439"/>
              <a:ext cx="367009" cy="0"/>
            </a:xfrm>
            <a:prstGeom prst="straightConnector1">
              <a:avLst/>
            </a:prstGeom>
            <a:noFill/>
            <a:ln w="19050" cap="sq" cmpd="sng" algn="ctr">
              <a:solidFill>
                <a:sysClr val="windowText" lastClr="000000"/>
              </a:solidFill>
              <a:prstDash val="solid"/>
              <a:miter lim="800000"/>
              <a:tailEnd type="none"/>
            </a:ln>
            <a:effectLst/>
          </p:spPr>
        </p:cxnSp>
        <p:cxnSp>
          <p:nvCxnSpPr>
            <p:cNvPr id="251" name="直接连接符 250"/>
            <p:cNvCxnSpPr/>
            <p:nvPr/>
          </p:nvCxnSpPr>
          <p:spPr>
            <a:xfrm>
              <a:off x="8185286" y="3964168"/>
              <a:ext cx="0" cy="850191"/>
            </a:xfrm>
            <a:prstGeom prst="line">
              <a:avLst/>
            </a:prstGeom>
            <a:noFill/>
            <a:ln w="19050" cap="sq" cmpd="sng" algn="ctr">
              <a:solidFill>
                <a:sysClr val="windowText" lastClr="000000"/>
              </a:solidFill>
              <a:prstDash val="solid"/>
              <a:miter lim="800000"/>
              <a:tailEnd type="none"/>
            </a:ln>
            <a:effectLst/>
          </p:spPr>
        </p:cxnSp>
        <p:cxnSp>
          <p:nvCxnSpPr>
            <p:cNvPr id="253" name="直接箭头连接符 252"/>
            <p:cNvCxnSpPr/>
            <p:nvPr/>
          </p:nvCxnSpPr>
          <p:spPr>
            <a:xfrm>
              <a:off x="8185286" y="4814359"/>
              <a:ext cx="352192" cy="0"/>
            </a:xfrm>
            <a:prstGeom prst="straightConnector1">
              <a:avLst/>
            </a:prstGeom>
            <a:noFill/>
            <a:ln w="19050" cap="sq" cmpd="sng" algn="ctr">
              <a:solidFill>
                <a:sysClr val="windowText" lastClr="000000"/>
              </a:solidFill>
              <a:prstDash val="solid"/>
              <a:miter lim="800000"/>
              <a:tailEnd type="triangle"/>
            </a:ln>
            <a:effectLst/>
          </p:spPr>
        </p:cxnSp>
      </p:grpSp>
      <p:grpSp>
        <p:nvGrpSpPr>
          <p:cNvPr id="22" name="组合 21"/>
          <p:cNvGrpSpPr/>
          <p:nvPr/>
        </p:nvGrpSpPr>
        <p:grpSpPr>
          <a:xfrm>
            <a:off x="4963307" y="3964168"/>
            <a:ext cx="1005771" cy="938421"/>
            <a:chOff x="4963307" y="3964168"/>
            <a:chExt cx="1005771" cy="938421"/>
          </a:xfrm>
        </p:grpSpPr>
        <p:cxnSp>
          <p:nvCxnSpPr>
            <p:cNvPr id="218" name="直接箭头连接符 217"/>
            <p:cNvCxnSpPr/>
            <p:nvPr/>
          </p:nvCxnSpPr>
          <p:spPr>
            <a:xfrm>
              <a:off x="4963307" y="3964168"/>
              <a:ext cx="1005771" cy="0"/>
            </a:xfrm>
            <a:prstGeom prst="straightConnector1">
              <a:avLst/>
            </a:prstGeom>
            <a:noFill/>
            <a:ln w="19050" cap="flat" cmpd="sng" algn="ctr">
              <a:solidFill>
                <a:sysClr val="windowText" lastClr="000000"/>
              </a:solidFill>
              <a:prstDash val="solid"/>
              <a:miter lim="800000"/>
              <a:tailEnd type="triangle"/>
            </a:ln>
            <a:effectLst/>
          </p:spPr>
        </p:cxnSp>
        <p:grpSp>
          <p:nvGrpSpPr>
            <p:cNvPr id="3" name="组合 2"/>
            <p:cNvGrpSpPr/>
            <p:nvPr/>
          </p:nvGrpSpPr>
          <p:grpSpPr>
            <a:xfrm>
              <a:off x="4963307" y="4436185"/>
              <a:ext cx="986632" cy="466404"/>
              <a:chOff x="4963307" y="4436185"/>
              <a:chExt cx="986632" cy="466404"/>
            </a:xfrm>
          </p:grpSpPr>
          <p:cxnSp>
            <p:nvCxnSpPr>
              <p:cNvPr id="219" name="直接箭头连接符 218"/>
              <p:cNvCxnSpPr/>
              <p:nvPr/>
            </p:nvCxnSpPr>
            <p:spPr>
              <a:xfrm>
                <a:off x="5530327" y="4436185"/>
                <a:ext cx="419612" cy="0"/>
              </a:xfrm>
              <a:prstGeom prst="straightConnector1">
                <a:avLst/>
              </a:prstGeom>
              <a:noFill/>
              <a:ln w="19050" cap="sq" cmpd="sng" algn="ctr">
                <a:solidFill>
                  <a:sysClr val="windowText" lastClr="000000"/>
                </a:solidFill>
                <a:prstDash val="solid"/>
                <a:miter lim="800000"/>
                <a:tailEnd type="triangle"/>
              </a:ln>
              <a:effectLst/>
            </p:spPr>
          </p:cxnSp>
          <p:cxnSp>
            <p:nvCxnSpPr>
              <p:cNvPr id="260" name="直接连接符 259"/>
              <p:cNvCxnSpPr/>
              <p:nvPr/>
            </p:nvCxnSpPr>
            <p:spPr>
              <a:xfrm>
                <a:off x="5530327" y="4436185"/>
                <a:ext cx="0" cy="466404"/>
              </a:xfrm>
              <a:prstGeom prst="line">
                <a:avLst/>
              </a:prstGeom>
              <a:noFill/>
              <a:ln w="19050" cap="sq" cmpd="sng" algn="ctr">
                <a:solidFill>
                  <a:sysClr val="windowText" lastClr="000000"/>
                </a:solidFill>
                <a:prstDash val="solid"/>
                <a:miter lim="800000"/>
                <a:tailEnd type="none"/>
              </a:ln>
              <a:effectLst/>
            </p:spPr>
          </p:cxnSp>
          <p:cxnSp>
            <p:nvCxnSpPr>
              <p:cNvPr id="263" name="直接箭头连接符 262"/>
              <p:cNvCxnSpPr/>
              <p:nvPr/>
            </p:nvCxnSpPr>
            <p:spPr>
              <a:xfrm>
                <a:off x="4963307" y="4902589"/>
                <a:ext cx="567020" cy="0"/>
              </a:xfrm>
              <a:prstGeom prst="straightConnector1">
                <a:avLst/>
              </a:prstGeom>
              <a:noFill/>
              <a:ln w="19050" cap="sq" cmpd="sng" algn="ctr">
                <a:solidFill>
                  <a:sysClr val="windowText" lastClr="000000"/>
                </a:solidFill>
                <a:prstDash val="solid"/>
                <a:miter lim="800000"/>
                <a:tailEnd type="none"/>
              </a:ln>
              <a:effectLst/>
            </p:spPr>
          </p:cxnSp>
        </p:grpSp>
      </p:grpSp>
      <p:grpSp>
        <p:nvGrpSpPr>
          <p:cNvPr id="27" name="组合 26"/>
          <p:cNvGrpSpPr/>
          <p:nvPr/>
        </p:nvGrpSpPr>
        <p:grpSpPr>
          <a:xfrm>
            <a:off x="6232442" y="2490380"/>
            <a:ext cx="662361" cy="1370804"/>
            <a:chOff x="6232442" y="2490380"/>
            <a:chExt cx="662361" cy="1370804"/>
          </a:xfrm>
        </p:grpSpPr>
        <p:cxnSp>
          <p:nvCxnSpPr>
            <p:cNvPr id="232" name="直接连接符 231"/>
            <p:cNvCxnSpPr/>
            <p:nvPr/>
          </p:nvCxnSpPr>
          <p:spPr>
            <a:xfrm>
              <a:off x="6245442" y="2490380"/>
              <a:ext cx="0" cy="1370804"/>
            </a:xfrm>
            <a:prstGeom prst="line">
              <a:avLst/>
            </a:prstGeom>
            <a:noFill/>
            <a:ln w="19050" cap="sq" cmpd="sng" algn="ctr">
              <a:solidFill>
                <a:srgbClr val="C00000"/>
              </a:solidFill>
              <a:prstDash val="solid"/>
              <a:miter lim="800000"/>
              <a:tailEnd type="triangle"/>
            </a:ln>
            <a:effectLst/>
          </p:spPr>
        </p:cxnSp>
        <p:sp>
          <p:nvSpPr>
            <p:cNvPr id="274" name="文本框 273"/>
            <p:cNvSpPr txBox="1"/>
            <p:nvPr/>
          </p:nvSpPr>
          <p:spPr>
            <a:xfrm>
              <a:off x="6232442" y="3476688"/>
              <a:ext cx="6623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Alu</a:t>
              </a:r>
              <a:r>
                <a:rPr lang="en-US" altLang="zh-CN" sz="1200"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rPr>
                <a:t>OP</a:t>
              </a:r>
              <a:endParaRPr kumimoji="0" lang="en-US" altLang="zh-CN" sz="12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grpSp>
      <p:grpSp>
        <p:nvGrpSpPr>
          <p:cNvPr id="16" name="组合 15"/>
          <p:cNvGrpSpPr/>
          <p:nvPr/>
        </p:nvGrpSpPr>
        <p:grpSpPr>
          <a:xfrm>
            <a:off x="3875668" y="3953517"/>
            <a:ext cx="763496" cy="469647"/>
            <a:chOff x="3875668" y="3953517"/>
            <a:chExt cx="763496" cy="469647"/>
          </a:xfrm>
        </p:grpSpPr>
        <p:cxnSp>
          <p:nvCxnSpPr>
            <p:cNvPr id="275" name="直接箭头连接符 274"/>
            <p:cNvCxnSpPr/>
            <p:nvPr/>
          </p:nvCxnSpPr>
          <p:spPr>
            <a:xfrm>
              <a:off x="3875668" y="3953517"/>
              <a:ext cx="746745" cy="0"/>
            </a:xfrm>
            <a:prstGeom prst="straightConnector1">
              <a:avLst/>
            </a:prstGeom>
            <a:noFill/>
            <a:ln w="19050" cap="flat" cmpd="sng" algn="ctr">
              <a:solidFill>
                <a:sysClr val="windowText" lastClr="000000"/>
              </a:solidFill>
              <a:prstDash val="solid"/>
              <a:miter lim="800000"/>
              <a:tailEnd type="triangle"/>
            </a:ln>
            <a:effectLst/>
          </p:spPr>
        </p:cxnSp>
        <p:cxnSp>
          <p:nvCxnSpPr>
            <p:cNvPr id="280" name="直接箭头连接符 279"/>
            <p:cNvCxnSpPr/>
            <p:nvPr/>
          </p:nvCxnSpPr>
          <p:spPr>
            <a:xfrm>
              <a:off x="3892419" y="4423164"/>
              <a:ext cx="746745" cy="0"/>
            </a:xfrm>
            <a:prstGeom prst="straightConnector1">
              <a:avLst/>
            </a:prstGeom>
            <a:noFill/>
            <a:ln w="19050" cap="flat" cmpd="sng" algn="ctr">
              <a:solidFill>
                <a:sysClr val="windowText" lastClr="000000"/>
              </a:solidFill>
              <a:prstDash val="solid"/>
              <a:miter lim="800000"/>
              <a:tailEnd type="triangle"/>
            </a:ln>
            <a:effectLst/>
          </p:spPr>
        </p:cxnSp>
      </p:grpSp>
      <p:grpSp>
        <p:nvGrpSpPr>
          <p:cNvPr id="12" name="组合 11"/>
          <p:cNvGrpSpPr/>
          <p:nvPr/>
        </p:nvGrpSpPr>
        <p:grpSpPr>
          <a:xfrm>
            <a:off x="2052345" y="1329130"/>
            <a:ext cx="2575182" cy="1723478"/>
            <a:chOff x="2052345" y="1329130"/>
            <a:chExt cx="2575182" cy="1723478"/>
          </a:xfrm>
        </p:grpSpPr>
        <p:sp>
          <p:nvSpPr>
            <p:cNvPr id="200" name="文本框 199"/>
            <p:cNvSpPr txBox="1"/>
            <p:nvPr/>
          </p:nvSpPr>
          <p:spPr>
            <a:xfrm>
              <a:off x="2390964" y="1904596"/>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指令字</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01" name="圆角矩形 200"/>
            <p:cNvSpPr/>
            <p:nvPr/>
          </p:nvSpPr>
          <p:spPr>
            <a:xfrm>
              <a:off x="3006479" y="1329130"/>
              <a:ext cx="533267" cy="1393162"/>
            </a:xfrm>
            <a:prstGeom prst="roundRect">
              <a:avLst/>
            </a:prstGeom>
            <a:solidFill>
              <a:srgbClr val="C00000"/>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单周期</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CN" altLang="en-US" sz="1400" dirty="0">
                  <a:solidFill>
                    <a:schemeClr val="bg1"/>
                  </a:solidFill>
                  <a:latin typeface="微软雅黑" panose="020B0503020204020204" pitchFamily="34" charset="-122"/>
                  <a:ea typeface="微软雅黑" panose="020B0503020204020204" pitchFamily="34" charset="-122"/>
                </a:rPr>
                <a:t>控制器</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74" name="直接箭头连接符 73"/>
            <p:cNvCxnSpPr/>
            <p:nvPr/>
          </p:nvCxnSpPr>
          <p:spPr>
            <a:xfrm>
              <a:off x="2526179" y="2187101"/>
              <a:ext cx="465696" cy="0"/>
            </a:xfrm>
            <a:prstGeom prst="straightConnector1">
              <a:avLst/>
            </a:prstGeom>
            <a:noFill/>
            <a:ln w="19050" cap="flat" cmpd="sng" algn="ctr">
              <a:solidFill>
                <a:sysClr val="windowText" lastClr="000000"/>
              </a:solidFill>
              <a:prstDash val="solid"/>
              <a:miter lim="800000"/>
              <a:tailEnd type="triangle"/>
            </a:ln>
            <a:effectLst/>
          </p:spPr>
        </p:cxnSp>
        <p:cxnSp>
          <p:nvCxnSpPr>
            <p:cNvPr id="288" name="直接箭头连接符 287"/>
            <p:cNvCxnSpPr/>
            <p:nvPr/>
          </p:nvCxnSpPr>
          <p:spPr>
            <a:xfrm flipV="1">
              <a:off x="2052345" y="3051574"/>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91" name="直接连接符 290"/>
            <p:cNvCxnSpPr/>
            <p:nvPr/>
          </p:nvCxnSpPr>
          <p:spPr>
            <a:xfrm>
              <a:off x="2526179" y="2196290"/>
              <a:ext cx="0" cy="842994"/>
            </a:xfrm>
            <a:prstGeom prst="line">
              <a:avLst/>
            </a:prstGeom>
            <a:noFill/>
            <a:ln w="19050" cap="sq" cmpd="sng" algn="ctr">
              <a:solidFill>
                <a:sysClr val="windowText" lastClr="000000"/>
              </a:solidFill>
              <a:prstDash val="solid"/>
              <a:miter lim="800000"/>
              <a:tailEnd type="none"/>
            </a:ln>
            <a:effectLst/>
          </p:spPr>
        </p:cxnSp>
      </p:grpSp>
      <p:grpSp>
        <p:nvGrpSpPr>
          <p:cNvPr id="6" name="组合 5"/>
          <p:cNvGrpSpPr/>
          <p:nvPr/>
        </p:nvGrpSpPr>
        <p:grpSpPr>
          <a:xfrm>
            <a:off x="2893359" y="3763615"/>
            <a:ext cx="1059022" cy="955507"/>
            <a:chOff x="2893359" y="3763615"/>
            <a:chExt cx="1059022" cy="955507"/>
          </a:xfrm>
        </p:grpSpPr>
        <p:sp>
          <p:nvSpPr>
            <p:cNvPr id="186" name="矩形 185"/>
            <p:cNvSpPr/>
            <p:nvPr/>
          </p:nvSpPr>
          <p:spPr>
            <a:xfrm>
              <a:off x="2948358" y="3771665"/>
              <a:ext cx="927310" cy="945860"/>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7" name="文本框 186"/>
            <p:cNvSpPr txBox="1"/>
            <p:nvPr/>
          </p:nvSpPr>
          <p:spPr>
            <a:xfrm>
              <a:off x="2904010" y="3802764"/>
              <a:ext cx="33695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R1#</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5" name="文本框 194"/>
            <p:cNvSpPr txBox="1"/>
            <p:nvPr/>
          </p:nvSpPr>
          <p:spPr>
            <a:xfrm>
              <a:off x="3083136" y="4146682"/>
              <a:ext cx="707657" cy="214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寄存器文件</a:t>
              </a:r>
              <a:endParaRPr kumimoji="0" lang="en-US" altLang="zh-CN"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6" name="文本框 195"/>
            <p:cNvSpPr txBox="1"/>
            <p:nvPr/>
          </p:nvSpPr>
          <p:spPr>
            <a:xfrm>
              <a:off x="3594821" y="3861184"/>
              <a:ext cx="3481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RD1</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7" name="文本框 196"/>
            <p:cNvSpPr txBox="1"/>
            <p:nvPr/>
          </p:nvSpPr>
          <p:spPr>
            <a:xfrm>
              <a:off x="2893359" y="4495196"/>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Din</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8" name="文本框 197"/>
            <p:cNvSpPr txBox="1"/>
            <p:nvPr/>
          </p:nvSpPr>
          <p:spPr>
            <a:xfrm>
              <a:off x="2904010" y="3983630"/>
              <a:ext cx="33695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R2#</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9" name="文本框 198"/>
            <p:cNvSpPr txBox="1"/>
            <p:nvPr/>
          </p:nvSpPr>
          <p:spPr>
            <a:xfrm>
              <a:off x="3604209" y="4316334"/>
              <a:ext cx="3481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RD2</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2" name="文本框 201"/>
            <p:cNvSpPr txBox="1"/>
            <p:nvPr/>
          </p:nvSpPr>
          <p:spPr>
            <a:xfrm>
              <a:off x="2893359" y="4355880"/>
              <a:ext cx="652069" cy="1858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t>
              </a:r>
              <a:endParaRPr kumimoji="0" lang="en-US" altLang="zh-CN" sz="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4" name="文本框 283"/>
            <p:cNvSpPr txBox="1"/>
            <p:nvPr/>
          </p:nvSpPr>
          <p:spPr>
            <a:xfrm>
              <a:off x="3157534" y="3763615"/>
              <a:ext cx="365806"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WE</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1" name="等腰三角形 170"/>
            <p:cNvSpPr/>
            <p:nvPr/>
          </p:nvSpPr>
          <p:spPr>
            <a:xfrm>
              <a:off x="3318854" y="4610142"/>
              <a:ext cx="187278" cy="10898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a:off x="4923110" y="3050193"/>
            <a:ext cx="2588989" cy="458694"/>
            <a:chOff x="4923110" y="3050193"/>
            <a:chExt cx="2588989" cy="458694"/>
          </a:xfrm>
        </p:grpSpPr>
        <p:cxnSp>
          <p:nvCxnSpPr>
            <p:cNvPr id="225" name="直接箭头连接符 224"/>
            <p:cNvCxnSpPr/>
            <p:nvPr/>
          </p:nvCxnSpPr>
          <p:spPr>
            <a:xfrm flipV="1">
              <a:off x="4923110" y="3050193"/>
              <a:ext cx="2575182" cy="1034"/>
            </a:xfrm>
            <a:prstGeom prst="straightConnector1">
              <a:avLst/>
            </a:prstGeom>
            <a:noFill/>
            <a:ln w="19050" cap="flat" cmpd="sng" algn="ctr">
              <a:solidFill>
                <a:sysClr val="windowText" lastClr="000000"/>
              </a:solidFill>
              <a:prstDash val="solid"/>
              <a:miter lim="800000"/>
              <a:tailEnd type="triangle"/>
            </a:ln>
            <a:effectLst/>
          </p:spPr>
        </p:cxnSp>
        <p:cxnSp>
          <p:nvCxnSpPr>
            <p:cNvPr id="226" name="直接箭头连接符 225"/>
            <p:cNvCxnSpPr/>
            <p:nvPr/>
          </p:nvCxnSpPr>
          <p:spPr>
            <a:xfrm flipV="1">
              <a:off x="4936917" y="3507853"/>
              <a:ext cx="2575182" cy="1034"/>
            </a:xfrm>
            <a:prstGeom prst="straightConnector1">
              <a:avLst/>
            </a:prstGeom>
            <a:noFill/>
            <a:ln w="19050" cap="flat" cmpd="sng" algn="ctr">
              <a:solidFill>
                <a:sysClr val="windowText" lastClr="000000"/>
              </a:solidFill>
              <a:prstDash val="solid"/>
              <a:miter lim="800000"/>
              <a:tailEnd type="triangle"/>
            </a:ln>
            <a:effectLst/>
          </p:spPr>
        </p:cxn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1282"/>
    </mc:Choice>
    <mc:Fallback>
      <p:transition spd="slow" advTm="3512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200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animEffect transition="in" filter="wipe(left)">
                                      <p:cBhvr>
                                        <p:cTn id="7" dur="500"/>
                                        <p:tgtEl>
                                          <p:spTgt spid="286"/>
                                        </p:tgtEl>
                                      </p:cBhvr>
                                    </p:animEffect>
                                  </p:childTnLst>
                                </p:cTn>
                              </p:par>
                              <p:par>
                                <p:cTn id="8" presetID="22" presetClass="entr" presetSubtype="8" repeatCount="2000"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Effect transition="in" filter="wipe(left)">
                                      <p:cBhvr>
                                        <p:cTn id="10" dur="500"/>
                                        <p:tgtEl>
                                          <p:spTgt spid="19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repeatCount="2000" fill="hold" nodeType="clickEffect">
                                  <p:stCondLst>
                                    <p:cond delay="0"/>
                                  </p:stCondLst>
                                  <p:childTnLst>
                                    <p:set>
                                      <p:cBhvr>
                                        <p:cTn id="14" dur="1" fill="hold">
                                          <p:stCondLst>
                                            <p:cond delay="0"/>
                                          </p:stCondLst>
                                        </p:cTn>
                                        <p:tgtEl>
                                          <p:spTgt spid="287"/>
                                        </p:tgtEl>
                                        <p:attrNameLst>
                                          <p:attrName>style.visibility</p:attrName>
                                        </p:attrNameLst>
                                      </p:cBhvr>
                                      <p:to>
                                        <p:strVal val="visible"/>
                                      </p:to>
                                    </p:set>
                                    <p:animEffect transition="in" filter="wipe(left)">
                                      <p:cBhvr>
                                        <p:cTn id="15" dur="500"/>
                                        <p:tgtEl>
                                          <p:spTgt spid="287"/>
                                        </p:tgtEl>
                                      </p:cBhvr>
                                    </p:animEffect>
                                  </p:childTnLst>
                                </p:cTn>
                              </p:par>
                              <p:par>
                                <p:cTn id="16" presetID="22" presetClass="entr" presetSubtype="8" repeatCount="2000" fill="hold" nodeType="withEffect">
                                  <p:stCondLst>
                                    <p:cond delay="0"/>
                                  </p:stCondLst>
                                  <p:childTnLst>
                                    <p:set>
                                      <p:cBhvr>
                                        <p:cTn id="17" dur="1" fill="hold">
                                          <p:stCondLst>
                                            <p:cond delay="0"/>
                                          </p:stCondLst>
                                        </p:cTn>
                                        <p:tgtEl>
                                          <p:spTgt spid="188"/>
                                        </p:tgtEl>
                                        <p:attrNameLst>
                                          <p:attrName>style.visibility</p:attrName>
                                        </p:attrNameLst>
                                      </p:cBhvr>
                                      <p:to>
                                        <p:strVal val="visible"/>
                                      </p:to>
                                    </p:set>
                                    <p:animEffect transition="in" filter="wipe(left)">
                                      <p:cBhvr>
                                        <p:cTn id="18" dur="500"/>
                                        <p:tgtEl>
                                          <p:spTgt spid="18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repeatCount="200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repeatCount="200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repeatCount="200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repeatCount="2000" fill="hold" nodeType="clickEffect">
                                  <p:stCondLst>
                                    <p:cond delay="0"/>
                                  </p:stCondLst>
                                  <p:childTnLst>
                                    <p:set>
                                      <p:cBhvr>
                                        <p:cTn id="37" dur="1" fill="hold">
                                          <p:stCondLst>
                                            <p:cond delay="0"/>
                                          </p:stCondLst>
                                        </p:cTn>
                                        <p:tgtEl>
                                          <p:spTgt spid="285"/>
                                        </p:tgtEl>
                                        <p:attrNameLst>
                                          <p:attrName>style.visibility</p:attrName>
                                        </p:attrNameLst>
                                      </p:cBhvr>
                                      <p:to>
                                        <p:strVal val="visible"/>
                                      </p:to>
                                    </p:set>
                                    <p:animEffect transition="in" filter="wipe(left)">
                                      <p:cBhvr>
                                        <p:cTn id="38" dur="500"/>
                                        <p:tgtEl>
                                          <p:spTgt spid="28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repeatCount="200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83"/>
                                        </p:tgtEl>
                                        <p:attrNameLst>
                                          <p:attrName>style.visibility</p:attrName>
                                        </p:attrNameLst>
                                      </p:cBhvr>
                                      <p:to>
                                        <p:strVal val="visible"/>
                                      </p:to>
                                    </p:set>
                                    <p:animEffect transition="in" filter="wipe(left)">
                                      <p:cBhvr>
                                        <p:cTn id="47" dur="500"/>
                                        <p:tgtEl>
                                          <p:spTgt spid="1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up)">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wipe(left)">
                                      <p:cBhvr>
                                        <p:cTn id="62" dur="500"/>
                                        <p:tgtEl>
                                          <p:spTgt spid="11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83"/>
                                        </p:tgtEl>
                                        <p:attrNameLst>
                                          <p:attrName>style.visibility</p:attrName>
                                        </p:attrNameLst>
                                      </p:cBhvr>
                                      <p:to>
                                        <p:strVal val="visible"/>
                                      </p:to>
                                    </p:set>
                                    <p:animEffect transition="in" filter="wipe(up)">
                                      <p:cBhvr>
                                        <p:cTn id="67" dur="500"/>
                                        <p:tgtEl>
                                          <p:spTgt spid="8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repeatCount="2000"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repeatCount="200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repeatCount="2000" fill="hold" nodeType="clickEffect">
                                  <p:stCondLst>
                                    <p:cond delay="0"/>
                                  </p:stCondLst>
                                  <p:childTnLst>
                                    <p:set>
                                      <p:cBhvr>
                                        <p:cTn id="81" dur="1" fill="hold">
                                          <p:stCondLst>
                                            <p:cond delay="0"/>
                                          </p:stCondLst>
                                        </p:cTn>
                                        <p:tgtEl>
                                          <p:spTgt spid="143"/>
                                        </p:tgtEl>
                                        <p:attrNameLst>
                                          <p:attrName>style.visibility</p:attrName>
                                        </p:attrNameLst>
                                      </p:cBhvr>
                                      <p:to>
                                        <p:strVal val="visible"/>
                                      </p:to>
                                    </p:set>
                                    <p:animEffect transition="in" filter="wipe(up)">
                                      <p:cBhvr>
                                        <p:cTn id="82" dur="500"/>
                                        <p:tgtEl>
                                          <p:spTgt spid="14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30"/>
                                        </p:tgtEl>
                                        <p:attrNameLst>
                                          <p:attrName>style.visibility</p:attrName>
                                        </p:attrNameLst>
                                      </p:cBhvr>
                                      <p:to>
                                        <p:strVal val="visible"/>
                                      </p:to>
                                    </p:set>
                                    <p:animEffect transition="in" filter="wipe(left)">
                                      <p:cBhvr>
                                        <p:cTn id="87" dur="500"/>
                                        <p:tgtEl>
                                          <p:spTgt spid="230"/>
                                        </p:tgtEl>
                                      </p:cBhvr>
                                    </p:animEffect>
                                  </p:childTnLst>
                                </p:cTn>
                              </p:par>
                            </p:childTnLst>
                          </p:cTn>
                        </p:par>
                        <p:par>
                          <p:cTn id="88" fill="hold">
                            <p:stCondLst>
                              <p:cond delay="500"/>
                            </p:stCondLst>
                            <p:childTnLst>
                              <p:par>
                                <p:cTn id="89" presetID="22" presetClass="entr" presetSubtype="1" fill="hold" nodeType="after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wipe(up)">
                                      <p:cBhvr>
                                        <p:cTn id="91" dur="500"/>
                                        <p:tgtEl>
                                          <p:spTgt spid="2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4"/>
                                        </p:tgtEl>
                                        <p:attrNameLst>
                                          <p:attrName>style.visibility</p:attrName>
                                        </p:attrNameLst>
                                      </p:cBhvr>
                                      <p:to>
                                        <p:strVal val="visible"/>
                                      </p:to>
                                    </p:set>
                                    <p:animEffect transition="in" filter="wipe(left)">
                                      <p:cBhvr>
                                        <p:cTn id="101" dur="500"/>
                                        <p:tgtEl>
                                          <p:spTgt spid="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152"/>
                                        </p:tgtEl>
                                        <p:attrNameLst>
                                          <p:attrName>style.visibility</p:attrName>
                                        </p:attrNameLst>
                                      </p:cBhvr>
                                      <p:to>
                                        <p:strVal val="visible"/>
                                      </p:to>
                                    </p:set>
                                    <p:animEffect transition="in" filter="wipe(down)">
                                      <p:cBhvr>
                                        <p:cTn id="106" dur="500"/>
                                        <p:tgtEl>
                                          <p:spTgt spid="152"/>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wipe(left)">
                                      <p:cBhvr>
                                        <p:cTn id="111" dur="500"/>
                                        <p:tgtEl>
                                          <p:spTgt spid="23"/>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wipe(left)">
                                      <p:cBhvr>
                                        <p:cTn id="116" dur="500"/>
                                        <p:tgtEl>
                                          <p:spTgt spid="24"/>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1" fill="hold" nodeType="clickEffect">
                                  <p:stCondLst>
                                    <p:cond delay="0"/>
                                  </p:stCondLst>
                                  <p:childTnLst>
                                    <p:set>
                                      <p:cBhvr>
                                        <p:cTn id="120" dur="1" fill="hold">
                                          <p:stCondLst>
                                            <p:cond delay="0"/>
                                          </p:stCondLst>
                                        </p:cTn>
                                        <p:tgtEl>
                                          <p:spTgt spid="242"/>
                                        </p:tgtEl>
                                        <p:attrNameLst>
                                          <p:attrName>style.visibility</p:attrName>
                                        </p:attrNameLst>
                                      </p:cBhvr>
                                      <p:to>
                                        <p:strVal val="visible"/>
                                      </p:to>
                                    </p:set>
                                    <p:animEffect transition="in" filter="wipe(up)">
                                      <p:cBhvr>
                                        <p:cTn id="121" dur="500"/>
                                        <p:tgtEl>
                                          <p:spTgt spid="242"/>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33"/>
                                        </p:tgtEl>
                                        <p:attrNameLst>
                                          <p:attrName>style.visibility</p:attrName>
                                        </p:attrNameLst>
                                      </p:cBhvr>
                                      <p:to>
                                        <p:strVal val="visible"/>
                                      </p:to>
                                    </p:set>
                                    <p:animEffect transition="in" filter="wipe(left)">
                                      <p:cBhvr>
                                        <p:cTn id="126" dur="500"/>
                                        <p:tgtEl>
                                          <p:spTgt spid="233"/>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234"/>
                                        </p:tgtEl>
                                        <p:attrNameLst>
                                          <p:attrName>style.visibility</p:attrName>
                                        </p:attrNameLst>
                                      </p:cBhvr>
                                      <p:to>
                                        <p:strVal val="visible"/>
                                      </p:to>
                                    </p:set>
                                    <p:animEffect transition="in" filter="wipe(left)">
                                      <p:cBhvr>
                                        <p:cTn id="130" dur="500"/>
                                        <p:tgtEl>
                                          <p:spTgt spid="23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5"/>
                                        </p:tgtEl>
                                        <p:attrNameLst>
                                          <p:attrName>style.visibility</p:attrName>
                                        </p:attrNameLst>
                                      </p:cBhvr>
                                      <p:to>
                                        <p:strVal val="visible"/>
                                      </p:to>
                                    </p:set>
                                    <p:animEffect transition="in" filter="wipe(left)">
                                      <p:cBhvr>
                                        <p:cTn id="135" dur="500"/>
                                        <p:tgtEl>
                                          <p:spTgt spid="2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27"/>
                                        </p:tgtEl>
                                        <p:attrNameLst>
                                          <p:attrName>style.visibility</p:attrName>
                                        </p:attrNameLst>
                                      </p:cBhvr>
                                      <p:to>
                                        <p:strVal val="visible"/>
                                      </p:to>
                                    </p:set>
                                    <p:animEffect transition="in" filter="wipe(left)">
                                      <p:cBhvr>
                                        <p:cTn id="140" dur="500"/>
                                        <p:tgtEl>
                                          <p:spTgt spid="227"/>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nodeType="clickEffect">
                                  <p:stCondLst>
                                    <p:cond delay="0"/>
                                  </p:stCondLst>
                                  <p:childTnLst>
                                    <p:set>
                                      <p:cBhvr>
                                        <p:cTn id="144" dur="1" fill="hold">
                                          <p:stCondLst>
                                            <p:cond delay="0"/>
                                          </p:stCondLst>
                                        </p:cTn>
                                        <p:tgtEl>
                                          <p:spTgt spid="164"/>
                                        </p:tgtEl>
                                        <p:attrNameLst>
                                          <p:attrName>style.visibility</p:attrName>
                                        </p:attrNameLst>
                                      </p:cBhvr>
                                      <p:to>
                                        <p:strVal val="visible"/>
                                      </p:to>
                                    </p:set>
                                    <p:animEffect transition="in" filter="wipe(left)">
                                      <p:cBhvr>
                                        <p:cTn id="145" dur="500"/>
                                        <p:tgtEl>
                                          <p:spTgt spid="164"/>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228"/>
                                        </p:tgtEl>
                                        <p:attrNameLst>
                                          <p:attrName>style.visibility</p:attrName>
                                        </p:attrNameLst>
                                      </p:cBhvr>
                                      <p:to>
                                        <p:strVal val="visible"/>
                                      </p:to>
                                    </p:set>
                                    <p:animEffect transition="in" filter="wipe(left)">
                                      <p:cBhvr>
                                        <p:cTn id="150" dur="500"/>
                                        <p:tgtEl>
                                          <p:spTgt spid="228"/>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nodeType="clickEffect">
                                  <p:stCondLst>
                                    <p:cond delay="0"/>
                                  </p:stCondLst>
                                  <p:childTnLst>
                                    <p:set>
                                      <p:cBhvr>
                                        <p:cTn id="154" dur="1" fill="hold">
                                          <p:stCondLst>
                                            <p:cond delay="0"/>
                                          </p:stCondLst>
                                        </p:cTn>
                                        <p:tgtEl>
                                          <p:spTgt spid="26"/>
                                        </p:tgtEl>
                                        <p:attrNameLst>
                                          <p:attrName>style.visibility</p:attrName>
                                        </p:attrNameLst>
                                      </p:cBhvr>
                                      <p:to>
                                        <p:strVal val="visible"/>
                                      </p:to>
                                    </p:set>
                                    <p:animEffect transition="in" filter="wipe(left)">
                                      <p:cBhvr>
                                        <p:cTn id="155" dur="500"/>
                                        <p:tgtEl>
                                          <p:spTgt spid="26"/>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nodeType="clickEffect">
                                  <p:stCondLst>
                                    <p:cond delay="0"/>
                                  </p:stCondLst>
                                  <p:childTnLst>
                                    <p:set>
                                      <p:cBhvr>
                                        <p:cTn id="159" dur="1" fill="hold">
                                          <p:stCondLst>
                                            <p:cond delay="0"/>
                                          </p:stCondLst>
                                        </p:cTn>
                                        <p:tgtEl>
                                          <p:spTgt spid="161"/>
                                        </p:tgtEl>
                                        <p:attrNameLst>
                                          <p:attrName>style.visibility</p:attrName>
                                        </p:attrNameLst>
                                      </p:cBhvr>
                                      <p:to>
                                        <p:strVal val="visible"/>
                                      </p:to>
                                    </p:set>
                                    <p:animEffect transition="in" filter="wipe(down)">
                                      <p:cBhvr>
                                        <p:cTn id="160"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285115" y="186055"/>
            <a:ext cx="11906250" cy="66516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6346088" y="2766135"/>
            <a:ext cx="5611134" cy="3690706"/>
          </a:xfrm>
          <a:prstGeom prst="rect">
            <a:avLst/>
          </a:prstGeom>
        </p:spPr>
      </p:pic>
      <p:sp>
        <p:nvSpPr>
          <p:cNvPr id="2" name="标题 1"/>
          <p:cNvSpPr>
            <a:spLocks noGrp="1"/>
          </p:cNvSpPr>
          <p:nvPr>
            <p:ph type="title"/>
          </p:nvPr>
        </p:nvSpPr>
        <p:spPr/>
        <p:txBody>
          <a:bodyPr/>
          <a:lstStyle/>
          <a:p>
            <a:r>
              <a:rPr lang="zh-CN" altLang="en-US" dirty="0"/>
              <a:t>理想指令流水线设计实验</a:t>
            </a:r>
            <a:endParaRPr lang="zh-CN" altLang="en-US" dirty="0"/>
          </a:p>
        </p:txBody>
      </p:sp>
      <p:sp>
        <p:nvSpPr>
          <p:cNvPr id="3" name="内容占位符 2"/>
          <p:cNvSpPr>
            <a:spLocks noGrp="1"/>
          </p:cNvSpPr>
          <p:nvPr>
            <p:ph idx="1"/>
          </p:nvPr>
        </p:nvSpPr>
        <p:spPr>
          <a:xfrm>
            <a:off x="487822" y="942764"/>
            <a:ext cx="10157173" cy="5637024"/>
          </a:xfrm>
        </p:spPr>
        <p:txBody>
          <a:bodyPr>
            <a:normAutofit/>
          </a:bodyPr>
          <a:lstStyle/>
          <a:p>
            <a:r>
              <a:rPr lang="zh-CN" altLang="en-US" dirty="0"/>
              <a:t>实验任务</a:t>
            </a:r>
            <a:endParaRPr lang="en-US" altLang="zh-CN" dirty="0"/>
          </a:p>
          <a:p>
            <a:pPr lvl="1"/>
            <a:r>
              <a:rPr lang="zh-CN" altLang="en-US" b="1" dirty="0"/>
              <a:t>将单周期</a:t>
            </a:r>
            <a:r>
              <a:rPr lang="en-US" altLang="zh-CN" b="1" dirty="0"/>
              <a:t>CPU</a:t>
            </a:r>
            <a:r>
              <a:rPr lang="zh-CN" altLang="en-US" b="1" dirty="0"/>
              <a:t>修改为理想流水线</a:t>
            </a:r>
            <a:r>
              <a:rPr lang="zh-CN" altLang="en-US" dirty="0"/>
              <a:t>        实验电路：</a:t>
            </a:r>
            <a:r>
              <a:rPr lang="en-US" altLang="zh-CN" u="sng" dirty="0">
                <a:solidFill>
                  <a:srgbClr val="2975A9"/>
                </a:solidFill>
              </a:rPr>
              <a:t>cpu24.circ</a:t>
            </a:r>
            <a:endParaRPr lang="en-US" altLang="zh-CN" u="sng" dirty="0">
              <a:solidFill>
                <a:srgbClr val="2975A9"/>
              </a:solidFill>
            </a:endParaRPr>
          </a:p>
          <a:p>
            <a:pPr lvl="1"/>
            <a:r>
              <a:rPr lang="zh-CN" altLang="en-US" dirty="0"/>
              <a:t>设计流水接口子电路    </a:t>
            </a:r>
            <a:r>
              <a:rPr lang="en-US" altLang="zh-CN" dirty="0"/>
              <a:t>IF/ID</a:t>
            </a:r>
            <a:r>
              <a:rPr lang="zh-CN" altLang="en-US" dirty="0"/>
              <a:t>、</a:t>
            </a:r>
            <a:r>
              <a:rPr lang="en-US" altLang="zh-CN" b="1" dirty="0">
                <a:solidFill>
                  <a:srgbClr val="C00000"/>
                </a:solidFill>
              </a:rPr>
              <a:t>ID/EX</a:t>
            </a:r>
            <a:r>
              <a:rPr lang="zh-CN" altLang="en-US" dirty="0"/>
              <a:t>、</a:t>
            </a:r>
            <a:r>
              <a:rPr lang="en-US" altLang="zh-CN" dirty="0"/>
              <a:t>EX/MEM</a:t>
            </a:r>
            <a:r>
              <a:rPr lang="zh-CN" altLang="en-US" dirty="0"/>
              <a:t>、</a:t>
            </a:r>
            <a:r>
              <a:rPr lang="en-US" altLang="zh-CN" dirty="0"/>
              <a:t>MEM/WB</a:t>
            </a:r>
            <a:endParaRPr lang="en-US" altLang="zh-CN" dirty="0"/>
          </a:p>
          <a:p>
            <a:pPr lvl="1"/>
            <a:r>
              <a:rPr lang="zh-CN" altLang="en-US" dirty="0"/>
              <a:t>将单周期数据通路 </a:t>
            </a:r>
            <a:r>
              <a:rPr lang="en-US" altLang="zh-CN" dirty="0">
                <a:sym typeface="Wingdings" panose="05000000000000000000" pitchFamily="2" charset="2"/>
              </a:rPr>
              <a:t> </a:t>
            </a:r>
            <a:r>
              <a:rPr lang="zh-CN" altLang="en-US" dirty="0"/>
              <a:t>流水数据通路</a:t>
            </a:r>
            <a:endParaRPr lang="en-US" altLang="zh-CN" dirty="0"/>
          </a:p>
          <a:p>
            <a:pPr lvl="1"/>
            <a:r>
              <a:rPr lang="zh-CN" altLang="en-US" b="1" dirty="0">
                <a:solidFill>
                  <a:srgbClr val="C00000"/>
                </a:solidFill>
              </a:rPr>
              <a:t>测试联调：</a:t>
            </a:r>
            <a:endParaRPr lang="en-US" altLang="zh-CN" b="1" dirty="0">
              <a:solidFill>
                <a:srgbClr val="C00000"/>
              </a:solidFill>
            </a:endParaRPr>
          </a:p>
          <a:p>
            <a:pPr lvl="2"/>
            <a:r>
              <a:rPr lang="zh-CN" altLang="en-US" dirty="0"/>
              <a:t>指令存储器载入 </a:t>
            </a:r>
            <a:r>
              <a:rPr lang="zh-CN" altLang="en-US" u="sng" dirty="0">
                <a:solidFill>
                  <a:srgbClr val="C00000"/>
                </a:solidFill>
              </a:rPr>
              <a:t>理想流水线测试</a:t>
            </a:r>
            <a:r>
              <a:rPr lang="en-US" altLang="zh-CN" u="sng" dirty="0">
                <a:solidFill>
                  <a:srgbClr val="C00000"/>
                </a:solidFill>
              </a:rPr>
              <a:t>.hex</a:t>
            </a:r>
            <a:endParaRPr lang="en-US" altLang="zh-CN" u="sng" dirty="0">
              <a:solidFill>
                <a:srgbClr val="C00000"/>
              </a:solidFill>
            </a:endParaRPr>
          </a:p>
          <a:p>
            <a:pPr lvl="2"/>
            <a:r>
              <a:rPr lang="en-US" altLang="zh-CN" b="0" dirty="0" err="1"/>
              <a:t>Ctrl+k</a:t>
            </a:r>
            <a:r>
              <a:rPr lang="zh-CN" altLang="en-US" dirty="0"/>
              <a:t>自动</a:t>
            </a:r>
            <a:r>
              <a:rPr lang="zh-CN" altLang="en-US" b="0" dirty="0"/>
              <a:t>仿真，</a:t>
            </a:r>
            <a:r>
              <a:rPr lang="zh-CN" altLang="en-US" dirty="0"/>
              <a:t>运行</a:t>
            </a:r>
            <a:r>
              <a:rPr lang="en-US" altLang="zh-CN" dirty="0"/>
              <a:t>17</a:t>
            </a:r>
            <a:r>
              <a:rPr lang="zh-CN" altLang="en-US" dirty="0"/>
              <a:t>条指令后</a:t>
            </a:r>
            <a:r>
              <a:rPr lang="zh-CN" altLang="en-US" b="0" dirty="0"/>
              <a:t>停机</a:t>
            </a:r>
            <a:endParaRPr lang="en-US" altLang="zh-CN" b="0" dirty="0"/>
          </a:p>
          <a:p>
            <a:pPr marL="787400" lvl="2" indent="0">
              <a:buNone/>
            </a:pPr>
            <a:endParaRPr lang="en-US" altLang="zh-CN" dirty="0">
              <a:solidFill>
                <a:srgbClr val="C00000"/>
              </a:solidFill>
            </a:endParaRPr>
          </a:p>
          <a:p>
            <a:pPr lvl="1"/>
            <a:endParaRPr lang="zh-CN" altLang="en-US" dirty="0"/>
          </a:p>
        </p:txBody>
      </p:sp>
      <p:pic>
        <p:nvPicPr>
          <p:cNvPr id="4" name="图片 3"/>
          <p:cNvPicPr>
            <a:picLocks noChangeAspect="1"/>
          </p:cNvPicPr>
          <p:nvPr/>
        </p:nvPicPr>
        <p:blipFill rotWithShape="1">
          <a:blip r:embed="rId2">
            <a:clrChange>
              <a:clrFrom>
                <a:srgbClr val="FFFFFF"/>
              </a:clrFrom>
              <a:clrTo>
                <a:srgbClr val="FFFFFF">
                  <a:alpha val="0"/>
                </a:srgbClr>
              </a:clrTo>
            </a:clrChange>
          </a:blip>
          <a:srcRect b="29017"/>
          <a:stretch>
            <a:fillRect/>
          </a:stretch>
        </p:blipFill>
        <p:spPr>
          <a:xfrm>
            <a:off x="2148123" y="4246027"/>
            <a:ext cx="2115646" cy="1439674"/>
          </a:xfrm>
          <a:prstGeom prst="rect">
            <a:avLst/>
          </a:prstGeom>
        </p:spPr>
      </p:pic>
      <p:pic>
        <p:nvPicPr>
          <p:cNvPr id="5" name="图片 4"/>
          <p:cNvPicPr>
            <a:picLocks noChangeAspect="1"/>
          </p:cNvPicPr>
          <p:nvPr/>
        </p:nvPicPr>
        <p:blipFill>
          <a:blip r:embed="rId3">
            <a:clrChange>
              <a:clrFrom>
                <a:srgbClr val="FFFFFF"/>
              </a:clrFrom>
              <a:clrTo>
                <a:srgbClr val="FFFFFF">
                  <a:alpha val="0"/>
                </a:srgbClr>
              </a:clrTo>
            </a:clrChange>
          </a:blip>
          <a:stretch>
            <a:fillRect/>
          </a:stretch>
        </p:blipFill>
        <p:spPr>
          <a:xfrm>
            <a:off x="1766264" y="5791364"/>
            <a:ext cx="3301382" cy="559662"/>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115926"/>
    </mc:Choice>
    <mc:Fallback>
      <p:transition spd="slow" advTm="1159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par>
                                <p:cTn id="42" presetID="22" presetClass="entr" presetSubtype="4"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down)">
                                      <p:cBhvr>
                                        <p:cTn id="4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saturation sat="400000"/>
                    </a14:imgEffect>
                  </a14:imgLayer>
                </a14:imgProps>
              </a:ext>
              <a:ext uri="{28A0092B-C50C-407E-A947-70E740481C1C}">
                <a14:useLocalDpi xmlns:a14="http://schemas.microsoft.com/office/drawing/2010/main" val="0"/>
              </a:ext>
            </a:extLst>
          </a:blip>
          <a:srcRect l="78775"/>
          <a:stretch>
            <a:fillRect/>
          </a:stretch>
        </p:blipFill>
        <p:spPr>
          <a:xfrm>
            <a:off x="0" y="0"/>
            <a:ext cx="3591499" cy="6858000"/>
          </a:xfrm>
          <a:prstGeom prst="rect">
            <a:avLst/>
          </a:prstGeom>
        </p:spPr>
      </p:pic>
      <p:sp>
        <p:nvSpPr>
          <p:cNvPr id="13" name="矩形 12"/>
          <p:cNvSpPr/>
          <p:nvPr/>
        </p:nvSpPr>
        <p:spPr>
          <a:xfrm>
            <a:off x="4911243" y="2595892"/>
            <a:ext cx="6062130" cy="783096"/>
          </a:xfrm>
          <a:prstGeom prst="rect">
            <a:avLst/>
          </a:prstGeom>
          <a:solidFill>
            <a:srgbClr val="CDFBFF"/>
          </a:solidFill>
          <a:ln w="38100">
            <a:solidFill>
              <a:srgbClr val="005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243529" y="2633497"/>
            <a:ext cx="5507731" cy="707886"/>
          </a:xfrm>
          <a:prstGeom prst="rect">
            <a:avLst/>
          </a:prstGeom>
          <a:noFill/>
        </p:spPr>
        <p:txBody>
          <a:bodyPr wrap="square" rtlCol="0">
            <a:spAutoFit/>
          </a:bodyPr>
          <a:lstStyle/>
          <a:p>
            <a:r>
              <a:rPr lang="zh-CN" altLang="en-US" sz="4000" b="1" spc="600" dirty="0">
                <a:solidFill>
                  <a:srgbClr val="005D9C"/>
                </a:solidFill>
                <a:latin typeface="微软雅黑" panose="020B0503020204020204" pitchFamily="34" charset="-122"/>
                <a:ea typeface="微软雅黑" panose="020B0503020204020204" pitchFamily="34" charset="-122"/>
              </a:rPr>
              <a:t>流水线分支相关处理</a:t>
            </a:r>
            <a:endParaRPr lang="zh-CN" altLang="en-US" sz="4000" b="1" spc="600" dirty="0">
              <a:solidFill>
                <a:srgbClr val="005D9C"/>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clrChange>
              <a:clrFrom>
                <a:srgbClr val="656D78"/>
              </a:clrFrom>
              <a:clrTo>
                <a:srgbClr val="656D78">
                  <a:alpha val="0"/>
                </a:srgbClr>
              </a:clrTo>
            </a:clrChange>
          </a:blip>
          <a:stretch>
            <a:fillRect/>
          </a:stretch>
        </p:blipFill>
        <p:spPr>
          <a:xfrm>
            <a:off x="1352099" y="715288"/>
            <a:ext cx="880575" cy="877289"/>
          </a:xfrm>
          <a:prstGeom prst="rect">
            <a:avLst/>
          </a:prstGeom>
        </p:spPr>
      </p:pic>
      <p:sp>
        <p:nvSpPr>
          <p:cNvPr id="18" name="圆角矩形 17"/>
          <p:cNvSpPr/>
          <p:nvPr/>
        </p:nvSpPr>
        <p:spPr>
          <a:xfrm>
            <a:off x="1235765" y="606295"/>
            <a:ext cx="1083362" cy="1083362"/>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4"/>
          <a:stretch>
            <a:fillRect/>
          </a:stretch>
        </p:blipFill>
        <p:spPr>
          <a:xfrm>
            <a:off x="114614" y="1997703"/>
            <a:ext cx="3476885" cy="635794"/>
          </a:xfrm>
          <a:prstGeom prst="rect">
            <a:avLst/>
          </a:prstGeom>
        </p:spPr>
      </p:pic>
      <p:cxnSp>
        <p:nvCxnSpPr>
          <p:cNvPr id="22" name="直接连接符 21"/>
          <p:cNvCxnSpPr/>
          <p:nvPr/>
        </p:nvCxnSpPr>
        <p:spPr>
          <a:xfrm>
            <a:off x="321366" y="2440240"/>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21366" y="2452007"/>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7844">
        <p15:prstTrans prst="pageCurlDouble" invX="1"/>
        <p:sndAc>
          <p:stSnd>
            <p:snd r:embed="rId5" name="chimes.wav"/>
          </p:stSnd>
        </p:sndAc>
      </p:transition>
    </mc:Choice>
    <mc:Fallback>
      <p:transition spd="slow" advTm="7844">
        <p:fade/>
        <p:sndAc>
          <p:stSnd>
            <p:snd r:embed="rId5" name="chimes.wav"/>
          </p:stSnd>
        </p:sndAc>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p:txBody>
          <a:bodyPr/>
          <a:lstStyle/>
          <a:p>
            <a:r>
              <a:rPr lang="zh-CN" altLang="en-US" dirty="0"/>
              <a:t>指令流水线的相关、冲突、冒险（</a:t>
            </a:r>
            <a:r>
              <a:rPr lang="en-US" altLang="zh-CN" dirty="0"/>
              <a:t>hazard</a:t>
            </a:r>
            <a:r>
              <a:rPr lang="zh-CN" altLang="en-US" dirty="0"/>
              <a:t>）</a:t>
            </a:r>
            <a:endParaRPr lang="zh-CN" altLang="en-US" dirty="0"/>
          </a:p>
        </p:txBody>
      </p:sp>
      <p:sp>
        <p:nvSpPr>
          <p:cNvPr id="124932" name="Rectangle 3"/>
          <p:cNvSpPr>
            <a:spLocks noGrp="1" noChangeArrowheads="1"/>
          </p:cNvSpPr>
          <p:nvPr>
            <p:ph type="body" idx="1"/>
          </p:nvPr>
        </p:nvSpPr>
        <p:spPr>
          <a:xfrm>
            <a:off x="487822" y="942764"/>
            <a:ext cx="10275427" cy="5637024"/>
          </a:xfrm>
        </p:spPr>
        <p:txBody>
          <a:bodyPr/>
          <a:lstStyle/>
          <a:p>
            <a:pPr>
              <a:lnSpc>
                <a:spcPct val="130000"/>
              </a:lnSpc>
            </a:pPr>
            <a:r>
              <a:rPr lang="zh-CN" altLang="en-US" dirty="0"/>
              <a:t>资源相关</a:t>
            </a:r>
            <a:endParaRPr lang="zh-CN" altLang="en-US" dirty="0"/>
          </a:p>
          <a:p>
            <a:pPr lvl="1">
              <a:lnSpc>
                <a:spcPct val="130000"/>
              </a:lnSpc>
            </a:pPr>
            <a:r>
              <a:rPr lang="zh-CN" altLang="en-US" b="1" dirty="0"/>
              <a:t>争用主存：</a:t>
            </a:r>
            <a:r>
              <a:rPr lang="en-US" altLang="zh-CN" dirty="0"/>
              <a:t>IF</a:t>
            </a:r>
            <a:r>
              <a:rPr lang="zh-CN" altLang="en-US" dirty="0"/>
              <a:t>段取指令、</a:t>
            </a:r>
            <a:r>
              <a:rPr lang="en-US" altLang="zh-CN" dirty="0"/>
              <a:t>ID</a:t>
            </a:r>
            <a:r>
              <a:rPr lang="zh-CN" altLang="en-US" dirty="0"/>
              <a:t>段取操作数</a:t>
            </a:r>
            <a:endParaRPr lang="en-US" altLang="zh-CN" dirty="0"/>
          </a:p>
          <a:p>
            <a:pPr lvl="1">
              <a:lnSpc>
                <a:spcPct val="130000"/>
              </a:lnSpc>
            </a:pPr>
            <a:r>
              <a:rPr lang="zh-CN" altLang="en-US" b="1" dirty="0"/>
              <a:t>争用</a:t>
            </a:r>
            <a:r>
              <a:rPr lang="en-US" altLang="zh-CN" b="1" dirty="0"/>
              <a:t>ALU</a:t>
            </a:r>
            <a:r>
              <a:rPr lang="zh-CN" altLang="en-US" b="1" dirty="0"/>
              <a:t>：</a:t>
            </a:r>
            <a:r>
              <a:rPr lang="zh-CN" altLang="en-US" dirty="0"/>
              <a:t>多周期方案中计算</a:t>
            </a:r>
            <a:r>
              <a:rPr lang="en-US" altLang="zh-CN" dirty="0"/>
              <a:t>PC</a:t>
            </a:r>
            <a:r>
              <a:rPr lang="zh-CN" altLang="en-US" dirty="0"/>
              <a:t>、分支地址，运算指令 </a:t>
            </a:r>
            <a:endParaRPr lang="en-US" altLang="zh-CN" dirty="0"/>
          </a:p>
          <a:p>
            <a:pPr lvl="1">
              <a:lnSpc>
                <a:spcPct val="130000"/>
              </a:lnSpc>
            </a:pPr>
            <a:r>
              <a:rPr lang="zh-CN" altLang="en-US" b="1" dirty="0"/>
              <a:t>解决方案：</a:t>
            </a:r>
            <a:r>
              <a:rPr lang="zh-CN" altLang="en-US" dirty="0"/>
              <a:t>增加部件消除</a:t>
            </a:r>
            <a:endParaRPr lang="zh-CN" altLang="en-US" dirty="0"/>
          </a:p>
          <a:p>
            <a:pPr>
              <a:lnSpc>
                <a:spcPct val="130000"/>
              </a:lnSpc>
            </a:pPr>
            <a:r>
              <a:rPr lang="zh-CN" altLang="en-US" dirty="0">
                <a:solidFill>
                  <a:srgbClr val="C00000"/>
                </a:solidFill>
              </a:rPr>
              <a:t>分支相关</a:t>
            </a:r>
            <a:endParaRPr lang="zh-CN" altLang="en-US" dirty="0">
              <a:solidFill>
                <a:srgbClr val="C00000"/>
              </a:solidFill>
            </a:endParaRPr>
          </a:p>
          <a:p>
            <a:pPr lvl="1">
              <a:lnSpc>
                <a:spcPct val="130000"/>
              </a:lnSpc>
            </a:pPr>
            <a:r>
              <a:rPr lang="zh-CN" altLang="en-US" dirty="0">
                <a:solidFill>
                  <a:schemeClr val="tx1">
                    <a:lumMod val="75000"/>
                    <a:lumOff val="25000"/>
                  </a:schemeClr>
                </a:solidFill>
              </a:rPr>
              <a:t>控制</a:t>
            </a:r>
            <a:r>
              <a:rPr lang="en-US" altLang="zh-CN" dirty="0">
                <a:solidFill>
                  <a:schemeClr val="tx1">
                    <a:lumMod val="75000"/>
                    <a:lumOff val="25000"/>
                  </a:schemeClr>
                </a:solidFill>
              </a:rPr>
              <a:t>IF</a:t>
            </a:r>
            <a:r>
              <a:rPr lang="zh-CN" altLang="en-US" dirty="0">
                <a:solidFill>
                  <a:schemeClr val="tx1">
                    <a:lumMod val="75000"/>
                    <a:lumOff val="25000"/>
                  </a:schemeClr>
                </a:solidFill>
              </a:rPr>
              <a:t>段进行分支跳转</a:t>
            </a:r>
            <a:endParaRPr lang="en-US" altLang="zh-CN" dirty="0">
              <a:solidFill>
                <a:schemeClr val="tx1">
                  <a:lumMod val="75000"/>
                  <a:lumOff val="25000"/>
                </a:schemeClr>
              </a:solidFill>
            </a:endParaRPr>
          </a:p>
          <a:p>
            <a:pPr lvl="1">
              <a:lnSpc>
                <a:spcPct val="130000"/>
              </a:lnSpc>
            </a:pPr>
            <a:r>
              <a:rPr lang="zh-CN" altLang="en-US" dirty="0">
                <a:solidFill>
                  <a:schemeClr val="tx1">
                    <a:lumMod val="75000"/>
                    <a:lumOff val="25000"/>
                  </a:schemeClr>
                </a:solidFill>
              </a:rPr>
              <a:t>提前取出的指令作废，流水线清空</a:t>
            </a:r>
            <a:endParaRPr lang="en-US" altLang="zh-CN" dirty="0">
              <a:solidFill>
                <a:schemeClr val="tx1">
                  <a:lumMod val="75000"/>
                  <a:lumOff val="25000"/>
                </a:schemeClr>
              </a:solidFill>
            </a:endParaRPr>
          </a:p>
          <a:p>
            <a:pPr>
              <a:lnSpc>
                <a:spcPct val="130000"/>
              </a:lnSpc>
            </a:pPr>
            <a:r>
              <a:rPr lang="zh-CN" altLang="en-US" dirty="0"/>
              <a:t>数据相关</a:t>
            </a:r>
            <a:endParaRPr lang="zh-CN" altLang="en-US" dirty="0"/>
          </a:p>
          <a:p>
            <a:pPr lvl="1">
              <a:lnSpc>
                <a:spcPct val="130000"/>
              </a:lnSpc>
            </a:pPr>
            <a:r>
              <a:rPr lang="zh-CN" altLang="en-US" dirty="0"/>
              <a:t>指令操作数依赖于前一条指令的执行结果       </a:t>
            </a:r>
            <a:r>
              <a:rPr lang="en-US" altLang="zh-CN" b="1" dirty="0">
                <a:latin typeface="Courier New" panose="02070309020205020404" pitchFamily="49" charset="0"/>
                <a:cs typeface="Courier New" panose="02070309020205020404" pitchFamily="49" charset="0"/>
              </a:rPr>
              <a:t>ADD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$s2, $s3</a:t>
            </a:r>
            <a:endParaRPr lang="en-US" altLang="zh-CN" b="1" dirty="0">
              <a:latin typeface="Courier New" panose="02070309020205020404" pitchFamily="49" charset="0"/>
              <a:cs typeface="Courier New" panose="02070309020205020404" pitchFamily="49" charset="0"/>
            </a:endParaRPr>
          </a:p>
          <a:p>
            <a:pPr lvl="1">
              <a:lnSpc>
                <a:spcPct val="130000"/>
              </a:lnSpc>
            </a:pPr>
            <a:r>
              <a:rPr lang="zh-CN" altLang="en-US" dirty="0"/>
              <a:t>引起流水线停顿直到数据写回                        </a:t>
            </a:r>
            <a:r>
              <a:rPr lang="en-US" altLang="zh-CN" b="1" dirty="0">
                <a:latin typeface="Courier New" panose="02070309020205020404" pitchFamily="49" charset="0"/>
                <a:cs typeface="Courier New" panose="02070309020205020404" pitchFamily="49" charset="0"/>
              </a:rPr>
              <a:t>ADD $s4,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$s3</a:t>
            </a:r>
            <a:endParaRPr lang="en-US" altLang="zh-CN" b="1" dirty="0">
              <a:latin typeface="Courier New" panose="02070309020205020404" pitchFamily="49" charset="0"/>
              <a:cs typeface="Courier New" panose="02070309020205020404" pitchFamily="49" charset="0"/>
            </a:endParaRPr>
          </a:p>
          <a:p>
            <a:pPr lvl="1">
              <a:lnSpc>
                <a:spcPct val="130000"/>
              </a:lnSpc>
            </a:pPr>
            <a:endParaRPr lang="en-US" altLang="zh-CN" dirty="0"/>
          </a:p>
          <a:p>
            <a:pPr marL="457200" lvl="1" indent="0">
              <a:buNone/>
            </a:pPr>
            <a:endParaRPr lang="zh-CN" altLang="en-US" dirty="0"/>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advTm="50637"/>
    </mc:Choice>
    <mc:Fallback>
      <p:transition spd="slow" advTm="5063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分支指令</a:t>
            </a:r>
            <a:endParaRPr lang="zh-CN" altLang="en-US" dirty="0"/>
          </a:p>
        </p:txBody>
      </p:sp>
      <p:sp>
        <p:nvSpPr>
          <p:cNvPr id="3" name="内容占位符 2"/>
          <p:cNvSpPr>
            <a:spLocks noGrp="1"/>
          </p:cNvSpPr>
          <p:nvPr>
            <p:ph idx="1"/>
          </p:nvPr>
        </p:nvSpPr>
        <p:spPr/>
        <p:txBody>
          <a:bodyPr/>
          <a:lstStyle/>
          <a:p>
            <a:r>
              <a:rPr lang="zh-CN" altLang="en-US" dirty="0">
                <a:solidFill>
                  <a:srgbClr val="7030A0"/>
                </a:solidFill>
              </a:rPr>
              <a:t>无条件分支</a:t>
            </a:r>
            <a:endParaRPr lang="en-US" altLang="zh-CN" dirty="0">
              <a:solidFill>
                <a:srgbClr val="7030A0"/>
              </a:solidFill>
            </a:endParaRPr>
          </a:p>
          <a:p>
            <a:r>
              <a:rPr lang="zh-CN" altLang="en-US" dirty="0">
                <a:solidFill>
                  <a:srgbClr val="C00000"/>
                </a:solidFill>
              </a:rPr>
              <a:t>有条件分支</a:t>
            </a:r>
            <a:endParaRPr lang="en-US" altLang="zh-CN" dirty="0">
              <a:solidFill>
                <a:srgbClr val="C00000"/>
              </a:solidFill>
            </a:endParaRPr>
          </a:p>
          <a:p>
            <a:pPr marL="0" indent="0">
              <a:buNone/>
            </a:pPr>
            <a:endParaRPr lang="zh-CN" altLang="en-US" dirty="0">
              <a:solidFill>
                <a:srgbClr val="7030A0"/>
              </a:solidFill>
            </a:endParaRPr>
          </a:p>
        </p:txBody>
      </p:sp>
      <p:graphicFrame>
        <p:nvGraphicFramePr>
          <p:cNvPr id="4" name="内容占位符 3"/>
          <p:cNvGraphicFramePr/>
          <p:nvPr/>
        </p:nvGraphicFramePr>
        <p:xfrm>
          <a:off x="530952" y="2533770"/>
          <a:ext cx="11085514" cy="3344712"/>
        </p:xfrm>
        <a:graphic>
          <a:graphicData uri="http://schemas.openxmlformats.org/drawingml/2006/table">
            <a:tbl>
              <a:tblPr firstRow="1" bandRow="1">
                <a:tableStyleId>{5C22544A-7EE6-4342-B048-85BDC9FD1C3A}</a:tableStyleId>
              </a:tblPr>
              <a:tblGrid>
                <a:gridCol w="846138"/>
                <a:gridCol w="1295400"/>
                <a:gridCol w="5459574"/>
                <a:gridCol w="3484402"/>
              </a:tblGrid>
              <a:tr h="810104">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latin typeface="微软雅黑" panose="020B0503020204020204" pitchFamily="34" charset="-122"/>
                          <a:ea typeface="微软雅黑" panose="020B0503020204020204" pitchFamily="34" charset="-122"/>
                        </a:rPr>
                        <a:t>指令类型</a:t>
                      </a:r>
                      <a:endParaRPr lang="zh-CN" altLang="en-US" dirty="0">
                        <a:latin typeface="微软雅黑" panose="020B0503020204020204" pitchFamily="34" charset="-122"/>
                        <a:ea typeface="微软雅黑" panose="020B0503020204020204" pitchFamily="34" charset="-122"/>
                      </a:endParaRPr>
                    </a:p>
                  </a:txBody>
                  <a:tcPr anchor="ctr"/>
                </a:tc>
                <a:tc>
                  <a:txBody>
                    <a:bodyPr/>
                    <a:lstStyle/>
                    <a:p>
                      <a:r>
                        <a:rPr lang="zh-CN" altLang="en-US" dirty="0">
                          <a:latin typeface="微软雅黑" panose="020B0503020204020204" pitchFamily="34" charset="-122"/>
                          <a:ea typeface="微软雅黑" panose="020B0503020204020204" pitchFamily="34" charset="-122"/>
                        </a:rPr>
                        <a:t>指令</a:t>
                      </a:r>
                      <a:endParaRPr lang="zh-CN" altLang="en-US" dirty="0">
                        <a:latin typeface="微软雅黑" panose="020B0503020204020204" pitchFamily="34" charset="-122"/>
                        <a:ea typeface="微软雅黑" panose="020B0503020204020204" pitchFamily="34" charset="-122"/>
                      </a:endParaRPr>
                    </a:p>
                  </a:txBody>
                  <a:tcPr anchor="ctr"/>
                </a:tc>
                <a:tc>
                  <a:txBody>
                    <a:bodyPr/>
                    <a:lstStyle/>
                    <a:p>
                      <a:r>
                        <a:rPr lang="zh-CN" altLang="en-US" dirty="0">
                          <a:latin typeface="微软雅黑" panose="020B0503020204020204" pitchFamily="34" charset="-122"/>
                          <a:ea typeface="微软雅黑" panose="020B0503020204020204" pitchFamily="34" charset="-122"/>
                        </a:rPr>
                        <a:t>调用格式</a:t>
                      </a:r>
                      <a:endParaRPr lang="zh-CN" altLang="en-US" dirty="0">
                        <a:latin typeface="微软雅黑" panose="020B0503020204020204" pitchFamily="34" charset="-122"/>
                        <a:ea typeface="微软雅黑" panose="020B0503020204020204" pitchFamily="34" charset="-122"/>
                      </a:endParaRPr>
                    </a:p>
                  </a:txBody>
                  <a:tcPr anchor="ctr"/>
                </a:tc>
              </a:tr>
              <a:tr h="810104">
                <a:tc>
                  <a:txBody>
                    <a:bodyPr/>
                    <a:lstStyle/>
                    <a:p>
                      <a:pPr algn="ctr"/>
                      <a:r>
                        <a:rPr lang="en-US" altLang="zh-CN" b="1" dirty="0">
                          <a:latin typeface="微软雅黑" panose="020B0503020204020204" pitchFamily="34" charset="-122"/>
                          <a:ea typeface="微软雅黑" panose="020B0503020204020204" pitchFamily="34" charset="-122"/>
                        </a:rPr>
                        <a:t>1</a:t>
                      </a:r>
                      <a:endParaRPr lang="zh-CN" altLang="en-US"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b="1" dirty="0">
                          <a:latin typeface="微软雅黑" panose="020B0503020204020204" pitchFamily="34" charset="-122"/>
                          <a:ea typeface="微软雅黑" panose="020B0503020204020204" pitchFamily="34" charset="-122"/>
                        </a:rPr>
                        <a:t>R</a:t>
                      </a:r>
                      <a:r>
                        <a:rPr lang="zh-CN" altLang="en-US" b="1" dirty="0">
                          <a:latin typeface="微软雅黑" panose="020B0503020204020204" pitchFamily="34" charset="-122"/>
                          <a:ea typeface="微软雅黑" panose="020B0503020204020204" pitchFamily="34" charset="-122"/>
                        </a:rPr>
                        <a:t>型指令</a:t>
                      </a:r>
                      <a:endParaRPr lang="zh-CN" altLang="en-US" b="1"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b="1" dirty="0">
                          <a:solidFill>
                            <a:srgbClr val="7030A0"/>
                          </a:solidFill>
                          <a:latin typeface="微软雅黑" panose="020B0503020204020204" pitchFamily="34" charset="-122"/>
                          <a:ea typeface="微软雅黑" panose="020B0503020204020204" pitchFamily="34" charset="-122"/>
                        </a:rPr>
                        <a:t>JR</a:t>
                      </a:r>
                      <a:r>
                        <a:rPr lang="zh-CN" altLang="en-US" b="1" dirty="0">
                          <a:solidFill>
                            <a:srgbClr val="7030A0"/>
                          </a:solidFill>
                          <a:latin typeface="微软雅黑" panose="020B0503020204020204" pitchFamily="34" charset="-122"/>
                          <a:ea typeface="微软雅黑" panose="020B0503020204020204" pitchFamily="34" charset="-122"/>
                        </a:rPr>
                        <a:t>、</a:t>
                      </a:r>
                      <a:r>
                        <a:rPr lang="en-US" altLang="zh-CN" b="1" dirty="0">
                          <a:solidFill>
                            <a:srgbClr val="7030A0"/>
                          </a:solidFill>
                          <a:latin typeface="微软雅黑" panose="020B0503020204020204" pitchFamily="34" charset="-122"/>
                          <a:ea typeface="微软雅黑" panose="020B0503020204020204" pitchFamily="34" charset="-122"/>
                        </a:rPr>
                        <a:t>JALR</a:t>
                      </a:r>
                      <a:endParaRPr lang="it-IT" altLang="zh-CN" sz="1800" b="1" kern="1200" dirty="0">
                        <a:solidFill>
                          <a:schemeClr val="bg2">
                            <a:lumMod val="50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#JR </a:t>
                      </a:r>
                      <a:r>
                        <a:rPr lang="en-US" altLang="zh-CN" sz="1800" b="1" kern="1200" dirty="0" err="1">
                          <a:solidFill>
                            <a:schemeClr val="bg2">
                              <a:lumMod val="25000"/>
                            </a:schemeClr>
                          </a:solidFill>
                          <a:latin typeface="微软雅黑" panose="020B0503020204020204" pitchFamily="34" charset="-122"/>
                          <a:ea typeface="微软雅黑" panose="020B0503020204020204" pitchFamily="34" charset="-122"/>
                          <a:cs typeface="+mn-cs"/>
                        </a:rPr>
                        <a:t>rs</a:t>
                      </a:r>
                      <a:endParaRPr lang="it-IT"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endParaRPr>
                    </a:p>
                  </a:txBody>
                  <a:tcPr anchor="ctr"/>
                </a:tc>
              </a:tr>
              <a:tr h="810104">
                <a:tc>
                  <a:txBody>
                    <a:bodyPr/>
                    <a:lstStyle/>
                    <a:p>
                      <a:pPr algn="ctr"/>
                      <a:r>
                        <a:rPr lang="en-US" altLang="zh-CN" b="1" dirty="0">
                          <a:latin typeface="微软雅黑" panose="020B0503020204020204" pitchFamily="34" charset="-122"/>
                          <a:ea typeface="微软雅黑" panose="020B0503020204020204" pitchFamily="34" charset="-122"/>
                        </a:rPr>
                        <a:t>2</a:t>
                      </a:r>
                      <a:endParaRPr lang="zh-CN" altLang="en-US"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b="1" dirty="0">
                          <a:latin typeface="微软雅黑" panose="020B0503020204020204" pitchFamily="34" charset="-122"/>
                          <a:ea typeface="微软雅黑" panose="020B0503020204020204" pitchFamily="34" charset="-122"/>
                        </a:rPr>
                        <a:t>I</a:t>
                      </a:r>
                      <a:r>
                        <a:rPr lang="zh-CN" altLang="en-US" b="1" dirty="0">
                          <a:latin typeface="微软雅黑" panose="020B0503020204020204" pitchFamily="34" charset="-122"/>
                          <a:ea typeface="微软雅黑" panose="020B0503020204020204" pitchFamily="34" charset="-122"/>
                        </a:rPr>
                        <a:t>型指令</a:t>
                      </a:r>
                      <a:endParaRPr lang="zh-CN" altLang="en-US" b="1"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it-IT" altLang="zh-CN" b="1" dirty="0">
                          <a:solidFill>
                            <a:srgbClr val="C00000"/>
                          </a:solidFill>
                          <a:latin typeface="微软雅黑" panose="020B0503020204020204" pitchFamily="34" charset="-122"/>
                          <a:ea typeface="微软雅黑" panose="020B0503020204020204" pitchFamily="34" charset="-122"/>
                        </a:rPr>
                        <a:t>BEQ</a:t>
                      </a:r>
                      <a:r>
                        <a:rPr lang="zh-CN" altLang="en-US" b="1" dirty="0">
                          <a:solidFill>
                            <a:srgbClr val="C00000"/>
                          </a:solidFill>
                          <a:latin typeface="微软雅黑" panose="020B0503020204020204" pitchFamily="34" charset="-122"/>
                          <a:ea typeface="微软雅黑" panose="020B0503020204020204" pitchFamily="34" charset="-122"/>
                        </a:rPr>
                        <a:t>、</a:t>
                      </a:r>
                      <a:r>
                        <a:rPr lang="it-IT" altLang="zh-CN" b="1" dirty="0">
                          <a:solidFill>
                            <a:srgbClr val="C00000"/>
                          </a:solidFill>
                          <a:latin typeface="微软雅黑" panose="020B0503020204020204" pitchFamily="34" charset="-122"/>
                          <a:ea typeface="微软雅黑" panose="020B0503020204020204" pitchFamily="34" charset="-122"/>
                        </a:rPr>
                        <a:t>BNE</a:t>
                      </a:r>
                      <a:endParaRPr lang="en-US" altLang="zh-CN" sz="1800" b="1" kern="1200" dirty="0">
                        <a:solidFill>
                          <a:schemeClr val="bg2">
                            <a:lumMod val="50000"/>
                          </a:schemeClr>
                        </a:solidFill>
                        <a:latin typeface="微软雅黑" panose="020B0503020204020204" pitchFamily="34" charset="-122"/>
                        <a:ea typeface="微软雅黑" panose="020B0503020204020204" pitchFamily="34" charset="-122"/>
                        <a:cs typeface="+mn-cs"/>
                      </a:endParaRPr>
                    </a:p>
                    <a:p>
                      <a:pPr>
                        <a:lnSpc>
                          <a:spcPct val="150000"/>
                        </a:lnSpc>
                      </a:pPr>
                      <a:r>
                        <a:rPr lang="en-US" altLang="zh-CN" b="1" dirty="0">
                          <a:solidFill>
                            <a:srgbClr val="C00000"/>
                          </a:solidFill>
                          <a:latin typeface="微软雅黑" panose="020B0503020204020204" pitchFamily="34" charset="-122"/>
                          <a:ea typeface="微软雅黑" panose="020B0503020204020204" pitchFamily="34" charset="-122"/>
                        </a:rPr>
                        <a:t>BGTZ(&gt;0)</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BGEZ(</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0) </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BLTZ(&lt;0)</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BLEZ</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0</a:t>
                      </a:r>
                      <a:r>
                        <a:rPr lang="zh-CN" altLang="en-US" b="1" dirty="0">
                          <a:solidFill>
                            <a:srgbClr val="C00000"/>
                          </a:solidFill>
                          <a:latin typeface="微软雅黑" panose="020B0503020204020204" pitchFamily="34" charset="-122"/>
                          <a:ea typeface="微软雅黑" panose="020B0503020204020204" pitchFamily="34" charset="-122"/>
                        </a:rPr>
                        <a:t>）</a:t>
                      </a:r>
                      <a:endParaRPr lang="en-US" altLang="zh-CN" sz="1800" b="1" kern="1200" dirty="0">
                        <a:solidFill>
                          <a:schemeClr val="bg2">
                            <a:lumMod val="50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a:lnSpc>
                          <a:spcPct val="150000"/>
                        </a:lnSpc>
                      </a:pP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#BEQ </a:t>
                      </a:r>
                      <a:r>
                        <a:rPr lang="en-US" altLang="zh-CN" sz="1800" b="1" kern="1200" dirty="0" err="1">
                          <a:solidFill>
                            <a:schemeClr val="bg2">
                              <a:lumMod val="25000"/>
                            </a:schemeClr>
                          </a:solidFill>
                          <a:latin typeface="微软雅黑" panose="020B0503020204020204" pitchFamily="34" charset="-122"/>
                          <a:ea typeface="微软雅黑" panose="020B0503020204020204" pitchFamily="34" charset="-122"/>
                          <a:cs typeface="+mn-cs"/>
                        </a:rPr>
                        <a:t>rs</a:t>
                      </a: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 </a:t>
                      </a:r>
                      <a:r>
                        <a:rPr lang="en-US" altLang="zh-CN" sz="1800" b="1" kern="1200" dirty="0" err="1">
                          <a:solidFill>
                            <a:schemeClr val="bg2">
                              <a:lumMod val="25000"/>
                            </a:schemeClr>
                          </a:solidFill>
                          <a:latin typeface="微软雅黑" panose="020B0503020204020204" pitchFamily="34" charset="-122"/>
                          <a:ea typeface="微软雅黑" panose="020B0503020204020204" pitchFamily="34" charset="-122"/>
                          <a:cs typeface="+mn-cs"/>
                        </a:rPr>
                        <a:t>rt</a:t>
                      </a: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 offset16 </a:t>
                      </a:r>
                      <a:endPar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#BGEZ </a:t>
                      </a:r>
                      <a:r>
                        <a:rPr lang="en-US" altLang="zh-CN" sz="1800" b="1" kern="1200" dirty="0" err="1">
                          <a:solidFill>
                            <a:schemeClr val="bg2">
                              <a:lumMod val="25000"/>
                            </a:schemeClr>
                          </a:solidFill>
                          <a:latin typeface="微软雅黑" panose="020B0503020204020204" pitchFamily="34" charset="-122"/>
                          <a:ea typeface="微软雅黑" panose="020B0503020204020204" pitchFamily="34" charset="-122"/>
                          <a:cs typeface="+mn-cs"/>
                        </a:rPr>
                        <a:t>rs</a:t>
                      </a: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 offset16</a:t>
                      </a:r>
                      <a:endPar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endParaRPr>
                    </a:p>
                  </a:txBody>
                  <a:tcPr anchor="ctr"/>
                </a:tc>
              </a:tr>
              <a:tr h="810104">
                <a:tc>
                  <a:txBody>
                    <a:bodyPr/>
                    <a:lstStyle/>
                    <a:p>
                      <a:pPr algn="ctr"/>
                      <a:r>
                        <a:rPr lang="en-US" altLang="zh-CN" b="1" dirty="0">
                          <a:latin typeface="微软雅黑" panose="020B0503020204020204" pitchFamily="34" charset="-122"/>
                          <a:ea typeface="微软雅黑" panose="020B0503020204020204" pitchFamily="34" charset="-122"/>
                        </a:rPr>
                        <a:t>3</a:t>
                      </a:r>
                      <a:endParaRPr lang="zh-CN" altLang="en-US"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b="1" dirty="0">
                          <a:latin typeface="微软雅黑" panose="020B0503020204020204" pitchFamily="34" charset="-122"/>
                          <a:ea typeface="微软雅黑" panose="020B0503020204020204" pitchFamily="34" charset="-122"/>
                        </a:rPr>
                        <a:t>J</a:t>
                      </a:r>
                      <a:r>
                        <a:rPr lang="zh-CN" altLang="en-US" b="1" dirty="0">
                          <a:latin typeface="微软雅黑" panose="020B0503020204020204" pitchFamily="34" charset="-122"/>
                          <a:ea typeface="微软雅黑" panose="020B0503020204020204" pitchFamily="34" charset="-122"/>
                        </a:rPr>
                        <a:t>型指令</a:t>
                      </a:r>
                      <a:endParaRPr lang="en-US" altLang="zh-CN" b="1" dirty="0">
                        <a:latin typeface="微软雅黑" panose="020B0503020204020204" pitchFamily="34" charset="-122"/>
                        <a:ea typeface="微软雅黑" panose="020B0503020204020204" pitchFamily="34" charset="-122"/>
                      </a:endParaRPr>
                    </a:p>
                  </a:txBody>
                  <a:tcPr anchor="ctr"/>
                </a:tc>
                <a:tc>
                  <a:txBody>
                    <a:bodyPr/>
                    <a:lstStyle/>
                    <a:p>
                      <a:pPr>
                        <a:lnSpc>
                          <a:spcPct val="150000"/>
                        </a:lnSpc>
                      </a:pPr>
                      <a:r>
                        <a:rPr lang="it-IT" altLang="zh-CN" sz="1800" b="1" kern="1200" dirty="0">
                          <a:solidFill>
                            <a:srgbClr val="7030A0"/>
                          </a:solidFill>
                          <a:latin typeface="微软雅黑" panose="020B0503020204020204" pitchFamily="34" charset="-122"/>
                          <a:ea typeface="微软雅黑" panose="020B0503020204020204" pitchFamily="34" charset="-122"/>
                          <a:cs typeface="+mn-cs"/>
                        </a:rPr>
                        <a:t>J</a:t>
                      </a:r>
                      <a:r>
                        <a:rPr lang="zh-CN" altLang="en-US" sz="1800" b="1" kern="1200" dirty="0">
                          <a:solidFill>
                            <a:srgbClr val="7030A0"/>
                          </a:solidFill>
                          <a:latin typeface="微软雅黑" panose="020B0503020204020204" pitchFamily="34" charset="-122"/>
                          <a:ea typeface="微软雅黑" panose="020B0503020204020204" pitchFamily="34" charset="-122"/>
                          <a:cs typeface="+mn-cs"/>
                        </a:rPr>
                        <a:t>、</a:t>
                      </a:r>
                      <a:r>
                        <a:rPr lang="it-IT" altLang="zh-CN" sz="1800" b="1" kern="1200" dirty="0">
                          <a:solidFill>
                            <a:srgbClr val="7030A0"/>
                          </a:solidFill>
                          <a:latin typeface="微软雅黑" panose="020B0503020204020204" pitchFamily="34" charset="-122"/>
                          <a:ea typeface="微软雅黑" panose="020B0503020204020204" pitchFamily="34" charset="-122"/>
                          <a:cs typeface="+mn-cs"/>
                        </a:rPr>
                        <a:t>JAL</a:t>
                      </a:r>
                      <a:r>
                        <a:rPr lang="zh-CN" altLang="en-US" dirty="0">
                          <a:latin typeface="微软雅黑" panose="020B0503020204020204" pitchFamily="34" charset="-122"/>
                          <a:ea typeface="微软雅黑" panose="020B0503020204020204" pitchFamily="34" charset="-122"/>
                        </a:rPr>
                        <a:t>、</a:t>
                      </a:r>
                      <a:endParaRPr lang="it-IT" altLang="zh-CN" b="1" dirty="0">
                        <a:solidFill>
                          <a:schemeClr val="bg2">
                            <a:lumMod val="50000"/>
                          </a:schemeClr>
                        </a:solidFill>
                        <a:latin typeface="微软雅黑" panose="020B0503020204020204" pitchFamily="34" charset="-122"/>
                        <a:ea typeface="微软雅黑" panose="020B0503020204020204" pitchFamily="34" charset="-122"/>
                      </a:endParaRPr>
                    </a:p>
                  </a:txBody>
                  <a:tcPr anchor="ctr"/>
                </a:tc>
                <a:tc>
                  <a:txBody>
                    <a:bodyPr/>
                    <a:lstStyle/>
                    <a:p>
                      <a:pPr>
                        <a:lnSpc>
                          <a:spcPct val="150000"/>
                        </a:lnSpc>
                      </a:pPr>
                      <a:r>
                        <a:rPr lang="en-US" altLang="zh-CN" sz="1800" b="1" kern="1200" dirty="0">
                          <a:solidFill>
                            <a:schemeClr val="bg2">
                              <a:lumMod val="25000"/>
                            </a:schemeClr>
                          </a:solidFill>
                          <a:latin typeface="微软雅黑" panose="020B0503020204020204" pitchFamily="34" charset="-122"/>
                          <a:ea typeface="微软雅黑" panose="020B0503020204020204" pitchFamily="34" charset="-122"/>
                          <a:cs typeface="+mn-cs"/>
                        </a:rPr>
                        <a:t>#JAL </a:t>
                      </a:r>
                      <a:r>
                        <a:rPr lang="en-US" altLang="zh-CN" b="1" dirty="0">
                          <a:solidFill>
                            <a:schemeClr val="bg2">
                              <a:lumMod val="25000"/>
                            </a:schemeClr>
                          </a:solidFill>
                          <a:latin typeface="微软雅黑" panose="020B0503020204020204" pitchFamily="34" charset="-122"/>
                          <a:ea typeface="微软雅黑" panose="020B0503020204020204" pitchFamily="34" charset="-122"/>
                        </a:rPr>
                        <a:t>target26</a:t>
                      </a:r>
                      <a:endParaRPr lang="it-IT" altLang="zh-CN" b="1" dirty="0">
                        <a:solidFill>
                          <a:schemeClr val="bg2">
                            <a:lumMod val="25000"/>
                          </a:schemeClr>
                        </a:solidFill>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02400"/>
    </mc:Choice>
    <mc:Fallback>
      <p:transition spd="slow" advTm="1024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dirty="0">
                <a:latin typeface="Arial Black" panose="020B0A04020102020204" pitchFamily="34" charset="0"/>
              </a:rPr>
              <a:t>分支相关流水线时空图</a:t>
            </a:r>
            <a:endParaRPr lang="zh-CN" altLang="en-US" dirty="0">
              <a:latin typeface="Arial Black" panose="020B0A04020102020204" pitchFamily="34" charset="0"/>
            </a:endParaRPr>
          </a:p>
        </p:txBody>
      </p:sp>
      <p:sp>
        <p:nvSpPr>
          <p:cNvPr id="43" name="矩形 42"/>
          <p:cNvSpPr/>
          <p:nvPr/>
        </p:nvSpPr>
        <p:spPr>
          <a:xfrm flipH="1">
            <a:off x="3464404"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ADD</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6" name="矩形 45"/>
          <p:cNvSpPr/>
          <p:nvPr/>
        </p:nvSpPr>
        <p:spPr>
          <a:xfrm flipH="1">
            <a:off x="4147376" y="4704681"/>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SUB</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 name="矩形 46"/>
          <p:cNvSpPr/>
          <p:nvPr/>
        </p:nvSpPr>
        <p:spPr>
          <a:xfrm flipH="1">
            <a:off x="4830348" y="4704681"/>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6" name="矩形 55"/>
          <p:cNvSpPr/>
          <p:nvPr/>
        </p:nvSpPr>
        <p:spPr>
          <a:xfrm flipH="1">
            <a:off x="5513320" y="4704681"/>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7" name="矩形 56"/>
          <p:cNvSpPr/>
          <p:nvPr/>
        </p:nvSpPr>
        <p:spPr>
          <a:xfrm flipH="1">
            <a:off x="6196292" y="4704681"/>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6</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8" name="矩形 57"/>
          <p:cNvSpPr/>
          <p:nvPr/>
        </p:nvSpPr>
        <p:spPr>
          <a:xfrm flipH="1">
            <a:off x="6879264"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9" name="矩形 58"/>
          <p:cNvSpPr/>
          <p:nvPr/>
        </p:nvSpPr>
        <p:spPr>
          <a:xfrm flipH="1">
            <a:off x="7562236" y="4704681"/>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0" name="矩形 59"/>
          <p:cNvSpPr/>
          <p:nvPr/>
        </p:nvSpPr>
        <p:spPr>
          <a:xfrm flipH="1">
            <a:off x="8245208" y="4704681"/>
            <a:ext cx="682972" cy="682972"/>
          </a:xfrm>
          <a:prstGeom prst="rect">
            <a:avLst/>
          </a:prstGeom>
          <a:solidFill>
            <a:srgbClr val="F8CBAD"/>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9</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5" name="矩形 74"/>
          <p:cNvSpPr/>
          <p:nvPr/>
        </p:nvSpPr>
        <p:spPr>
          <a:xfrm flipH="1">
            <a:off x="4147376" y="4021709"/>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ADD</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7" name="矩形 76"/>
          <p:cNvSpPr/>
          <p:nvPr/>
        </p:nvSpPr>
        <p:spPr>
          <a:xfrm flipH="1">
            <a:off x="5513320" y="4021709"/>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8" name="矩形 77"/>
          <p:cNvSpPr/>
          <p:nvPr/>
        </p:nvSpPr>
        <p:spPr>
          <a:xfrm flipH="1">
            <a:off x="6196292" y="4021709"/>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9" name="矩形 78"/>
          <p:cNvSpPr/>
          <p:nvPr/>
        </p:nvSpPr>
        <p:spPr>
          <a:xfrm flipH="1">
            <a:off x="6879264" y="4021709"/>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6</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0" name="矩形 79"/>
          <p:cNvSpPr/>
          <p:nvPr/>
        </p:nvSpPr>
        <p:spPr>
          <a:xfrm flipH="1">
            <a:off x="7562236" y="4021709"/>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1" name="矩形 80"/>
          <p:cNvSpPr/>
          <p:nvPr/>
        </p:nvSpPr>
        <p:spPr>
          <a:xfrm flipH="1">
            <a:off x="8245208" y="4021709"/>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8" name="矩形 87"/>
          <p:cNvSpPr/>
          <p:nvPr/>
        </p:nvSpPr>
        <p:spPr>
          <a:xfrm flipH="1">
            <a:off x="6196292" y="3338737"/>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9" name="矩形 88"/>
          <p:cNvSpPr/>
          <p:nvPr/>
        </p:nvSpPr>
        <p:spPr>
          <a:xfrm flipH="1">
            <a:off x="6879264" y="3338737"/>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0" name="矩形 89"/>
          <p:cNvSpPr/>
          <p:nvPr/>
        </p:nvSpPr>
        <p:spPr>
          <a:xfrm flipH="1">
            <a:off x="7562236" y="3338737"/>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1" name="矩形 90"/>
          <p:cNvSpPr/>
          <p:nvPr/>
        </p:nvSpPr>
        <p:spPr>
          <a:xfrm flipH="1">
            <a:off x="8245208" y="3338737"/>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7</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9" name="矩形 98"/>
          <p:cNvSpPr/>
          <p:nvPr/>
        </p:nvSpPr>
        <p:spPr>
          <a:xfrm flipH="1">
            <a:off x="6879264" y="2655765"/>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0" name="矩形 99"/>
          <p:cNvSpPr/>
          <p:nvPr/>
        </p:nvSpPr>
        <p:spPr>
          <a:xfrm flipH="1">
            <a:off x="7562236" y="2655765"/>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1" name="矩形 100"/>
          <p:cNvSpPr/>
          <p:nvPr/>
        </p:nvSpPr>
        <p:spPr>
          <a:xfrm flipH="1">
            <a:off x="8245208" y="2655765"/>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0" name="矩形 109"/>
          <p:cNvSpPr/>
          <p:nvPr/>
        </p:nvSpPr>
        <p:spPr>
          <a:xfrm flipH="1">
            <a:off x="7562236" y="1972793"/>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1" name="矩形 110"/>
          <p:cNvSpPr/>
          <p:nvPr/>
        </p:nvSpPr>
        <p:spPr>
          <a:xfrm flipH="1">
            <a:off x="8245208" y="1972793"/>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2" name="Line 5"/>
          <p:cNvSpPr>
            <a:spLocks noChangeShapeType="1"/>
          </p:cNvSpPr>
          <p:nvPr/>
        </p:nvSpPr>
        <p:spPr bwMode="auto">
          <a:xfrm>
            <a:off x="2782908" y="5388094"/>
            <a:ext cx="688155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3" name="Line 6"/>
          <p:cNvSpPr>
            <a:spLocks noChangeShapeType="1"/>
          </p:cNvSpPr>
          <p:nvPr/>
        </p:nvSpPr>
        <p:spPr bwMode="auto">
          <a:xfrm flipH="1" flipV="1">
            <a:off x="2782907" y="1546030"/>
            <a:ext cx="0" cy="3842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4" name="Text Box 7"/>
          <p:cNvSpPr txBox="1">
            <a:spLocks noChangeArrowheads="1"/>
          </p:cNvSpPr>
          <p:nvPr/>
        </p:nvSpPr>
        <p:spPr bwMode="auto">
          <a:xfrm>
            <a:off x="9382500" y="5392252"/>
            <a:ext cx="1066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defPPr>
              <a:defRPr lang="zh-CN"/>
            </a:defPPr>
            <a:lvl1pPr algn="r" fontAlgn="base">
              <a:spcBef>
                <a:spcPct val="50000"/>
              </a:spcBef>
              <a:spcAft>
                <a:spcPct val="0"/>
              </a:spcAft>
              <a:buFont typeface="Arial" panose="020B0604020202020204" pitchFamily="34" charset="0"/>
              <a:buNone/>
              <a:defRPr b="1">
                <a:latin typeface="微软雅黑" panose="020B0503020204020204" pitchFamily="34" charset="-122"/>
                <a:ea typeface="微软雅黑" panose="020B0503020204020204" pitchFamily="34" charset="-122"/>
                <a:cs typeface="Segoe UI Black" panose="020B0A02040204020203" pitchFamily="34" charset="0"/>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时间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15" name="Text Box 23"/>
          <p:cNvSpPr txBox="1">
            <a:spLocks noChangeArrowheads="1"/>
          </p:cNvSpPr>
          <p:nvPr/>
        </p:nvSpPr>
        <p:spPr bwMode="auto">
          <a:xfrm>
            <a:off x="1966464" y="4847753"/>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6" name="Text Box 24"/>
          <p:cNvSpPr txBox="1">
            <a:spLocks noChangeArrowheads="1"/>
          </p:cNvSpPr>
          <p:nvPr/>
        </p:nvSpPr>
        <p:spPr bwMode="auto">
          <a:xfrm>
            <a:off x="1971744" y="4144311"/>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7" name="Text Box 25"/>
          <p:cNvSpPr txBox="1">
            <a:spLocks noChangeArrowheads="1"/>
          </p:cNvSpPr>
          <p:nvPr/>
        </p:nvSpPr>
        <p:spPr bwMode="auto">
          <a:xfrm>
            <a:off x="1994434" y="3429626"/>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8" name="Text Box 26"/>
          <p:cNvSpPr txBox="1">
            <a:spLocks noChangeArrowheads="1"/>
          </p:cNvSpPr>
          <p:nvPr/>
        </p:nvSpPr>
        <p:spPr bwMode="auto">
          <a:xfrm>
            <a:off x="1844167" y="2796588"/>
            <a:ext cx="10053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9" name="Text Box 27"/>
          <p:cNvSpPr txBox="1">
            <a:spLocks noChangeArrowheads="1"/>
          </p:cNvSpPr>
          <p:nvPr/>
        </p:nvSpPr>
        <p:spPr bwMode="auto">
          <a:xfrm>
            <a:off x="1759238" y="1355509"/>
            <a:ext cx="989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空间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s</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20" name="Line 19"/>
          <p:cNvSpPr>
            <a:spLocks noChangeShapeType="1"/>
          </p:cNvSpPr>
          <p:nvPr/>
        </p:nvSpPr>
        <p:spPr bwMode="auto">
          <a:xfrm flipV="1">
            <a:off x="2772005" y="1972793"/>
            <a:ext cx="615063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1" name="Text Box 26"/>
          <p:cNvSpPr txBox="1">
            <a:spLocks noChangeArrowheads="1"/>
          </p:cNvSpPr>
          <p:nvPr/>
        </p:nvSpPr>
        <p:spPr bwMode="auto">
          <a:xfrm>
            <a:off x="2123400" y="2139707"/>
            <a:ext cx="717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22" name="Line 19"/>
          <p:cNvSpPr>
            <a:spLocks noChangeShapeType="1"/>
          </p:cNvSpPr>
          <p:nvPr/>
        </p:nvSpPr>
        <p:spPr bwMode="auto">
          <a:xfrm flipV="1">
            <a:off x="2772005" y="2655765"/>
            <a:ext cx="615063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3" name="Line 19"/>
          <p:cNvSpPr>
            <a:spLocks noChangeShapeType="1"/>
          </p:cNvSpPr>
          <p:nvPr/>
        </p:nvSpPr>
        <p:spPr bwMode="auto">
          <a:xfrm flipV="1">
            <a:off x="2777231" y="3338737"/>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4" name="Line 19"/>
          <p:cNvSpPr>
            <a:spLocks noChangeShapeType="1"/>
          </p:cNvSpPr>
          <p:nvPr/>
        </p:nvSpPr>
        <p:spPr bwMode="auto">
          <a:xfrm flipV="1">
            <a:off x="2777231" y="4021709"/>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5" name="Line 19"/>
          <p:cNvSpPr>
            <a:spLocks noChangeShapeType="1"/>
          </p:cNvSpPr>
          <p:nvPr/>
        </p:nvSpPr>
        <p:spPr bwMode="auto">
          <a:xfrm flipV="1">
            <a:off x="2777231" y="4704681"/>
            <a:ext cx="6145411"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6" name="Line 9"/>
          <p:cNvSpPr>
            <a:spLocks noChangeShapeType="1"/>
          </p:cNvSpPr>
          <p:nvPr/>
        </p:nvSpPr>
        <p:spPr bwMode="auto">
          <a:xfrm flipV="1">
            <a:off x="346440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7" name="Line 9"/>
          <p:cNvSpPr>
            <a:spLocks noChangeShapeType="1"/>
          </p:cNvSpPr>
          <p:nvPr/>
        </p:nvSpPr>
        <p:spPr bwMode="auto">
          <a:xfrm flipV="1">
            <a:off x="414737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8" name="Line 9"/>
          <p:cNvSpPr>
            <a:spLocks noChangeShapeType="1"/>
          </p:cNvSpPr>
          <p:nvPr/>
        </p:nvSpPr>
        <p:spPr bwMode="auto">
          <a:xfrm flipV="1">
            <a:off x="483034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9" name="Line 9"/>
          <p:cNvSpPr>
            <a:spLocks noChangeShapeType="1"/>
          </p:cNvSpPr>
          <p:nvPr/>
        </p:nvSpPr>
        <p:spPr bwMode="auto">
          <a:xfrm flipV="1">
            <a:off x="5513320"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0" name="Line 9"/>
          <p:cNvSpPr>
            <a:spLocks noChangeShapeType="1"/>
          </p:cNvSpPr>
          <p:nvPr/>
        </p:nvSpPr>
        <p:spPr bwMode="auto">
          <a:xfrm flipV="1">
            <a:off x="6196292"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1" name="Line 9"/>
          <p:cNvSpPr>
            <a:spLocks noChangeShapeType="1"/>
          </p:cNvSpPr>
          <p:nvPr/>
        </p:nvSpPr>
        <p:spPr bwMode="auto">
          <a:xfrm flipV="1">
            <a:off x="687926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2" name="Line 9"/>
          <p:cNvSpPr>
            <a:spLocks noChangeShapeType="1"/>
          </p:cNvSpPr>
          <p:nvPr/>
        </p:nvSpPr>
        <p:spPr bwMode="auto">
          <a:xfrm flipV="1">
            <a:off x="756223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3" name="Line 9"/>
          <p:cNvSpPr>
            <a:spLocks noChangeShapeType="1"/>
          </p:cNvSpPr>
          <p:nvPr/>
        </p:nvSpPr>
        <p:spPr bwMode="auto">
          <a:xfrm flipV="1">
            <a:off x="824520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4" name="Line 9"/>
          <p:cNvSpPr>
            <a:spLocks noChangeShapeType="1"/>
          </p:cNvSpPr>
          <p:nvPr/>
        </p:nvSpPr>
        <p:spPr bwMode="auto">
          <a:xfrm flipV="1">
            <a:off x="8928180"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7" name="组合 6"/>
          <p:cNvGrpSpPr/>
          <p:nvPr/>
        </p:nvGrpSpPr>
        <p:grpSpPr>
          <a:xfrm>
            <a:off x="8687667" y="1537708"/>
            <a:ext cx="838083" cy="3850740"/>
            <a:chOff x="8687667" y="1537708"/>
            <a:chExt cx="838083" cy="3850740"/>
          </a:xfrm>
        </p:grpSpPr>
        <p:sp>
          <p:nvSpPr>
            <p:cNvPr id="138" name="Text Box 34"/>
            <p:cNvSpPr txBox="1">
              <a:spLocks noChangeArrowheads="1"/>
            </p:cNvSpPr>
            <p:nvPr/>
          </p:nvSpPr>
          <p:spPr bwMode="auto">
            <a:xfrm>
              <a:off x="8687667" y="153770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0" name="Line 35"/>
            <p:cNvSpPr>
              <a:spLocks noChangeShapeType="1"/>
            </p:cNvSpPr>
            <p:nvPr/>
          </p:nvSpPr>
          <p:spPr bwMode="auto">
            <a:xfrm flipH="1" flipV="1">
              <a:off x="8922642" y="1546385"/>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5" name="组合 4"/>
          <p:cNvGrpSpPr/>
          <p:nvPr/>
        </p:nvGrpSpPr>
        <p:grpSpPr>
          <a:xfrm>
            <a:off x="7999411" y="1532174"/>
            <a:ext cx="838083" cy="3851465"/>
            <a:chOff x="7999411" y="1532174"/>
            <a:chExt cx="838083" cy="3851465"/>
          </a:xfrm>
        </p:grpSpPr>
        <p:sp>
          <p:nvSpPr>
            <p:cNvPr id="139" name="Text Box 34"/>
            <p:cNvSpPr txBox="1">
              <a:spLocks noChangeArrowheads="1"/>
            </p:cNvSpPr>
            <p:nvPr/>
          </p:nvSpPr>
          <p:spPr bwMode="auto">
            <a:xfrm>
              <a:off x="7999411" y="1532174"/>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4" name="Line 35"/>
            <p:cNvSpPr>
              <a:spLocks noChangeShapeType="1"/>
            </p:cNvSpPr>
            <p:nvPr/>
          </p:nvSpPr>
          <p:spPr bwMode="auto">
            <a:xfrm flipH="1" flipV="1">
              <a:off x="8237995" y="1541576"/>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145" name="Rectangle 3"/>
          <p:cNvSpPr txBox="1">
            <a:spLocks noChangeArrowheads="1"/>
          </p:cNvSpPr>
          <p:nvPr/>
        </p:nvSpPr>
        <p:spPr bwMode="auto">
          <a:xfrm>
            <a:off x="1301115" y="5962015"/>
            <a:ext cx="10349865" cy="51943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C000"/>
              </a:buClr>
              <a:buFont typeface="Wingdings" panose="05000000000000000000" pitchFamily="2" charset="2"/>
              <a:buChar char="n"/>
              <a:defRPr lang="zh-CN" altLang="en-US" sz="2400">
                <a:solidFill>
                  <a:schemeClr val="tx1"/>
                </a:solidFill>
                <a:latin typeface="+mn-ea"/>
                <a:ea typeface="+mn-ea"/>
                <a:cs typeface="+mn-cs"/>
              </a:defRPr>
            </a:lvl1pPr>
            <a:lvl2pPr marL="812800" indent="-355600" algn="l" rtl="0" eaLnBrk="0" fontAlgn="base" hangingPunct="0">
              <a:lnSpc>
                <a:spcPct val="120000"/>
              </a:lnSpc>
              <a:spcBef>
                <a:spcPct val="20000"/>
              </a:spcBef>
              <a:spcAft>
                <a:spcPct val="0"/>
              </a:spcAft>
              <a:buClr>
                <a:srgbClr val="FFC000"/>
              </a:buClr>
              <a:buFont typeface="Wingdings" panose="05000000000000000000" pitchFamily="2" charset="2"/>
              <a:buChar char="p"/>
              <a:defRPr lang="zh-CN" altLang="en-US" sz="2000">
                <a:solidFill>
                  <a:srgbClr val="C00000"/>
                </a:solidFill>
                <a:latin typeface="+mn-ea"/>
                <a:ea typeface="+mn-ea"/>
              </a:defRPr>
            </a:lvl2pPr>
            <a:lvl3pPr marL="1143000" indent="-228600" algn="l" rtl="0" eaLnBrk="0" fontAlgn="base" hangingPunct="0">
              <a:lnSpc>
                <a:spcPct val="120000"/>
              </a:lnSpc>
              <a:spcBef>
                <a:spcPct val="20000"/>
              </a:spcBef>
              <a:spcAft>
                <a:spcPct val="0"/>
              </a:spcAft>
              <a:buClr>
                <a:srgbClr val="FFC000"/>
              </a:buClr>
              <a:buFont typeface="Wingdings" panose="05000000000000000000" pitchFamily="2" charset="2"/>
              <a:buChar char="u"/>
              <a:defRPr lang="zh-CN" altLang="en-US" sz="2000">
                <a:solidFill>
                  <a:schemeClr val="tx1"/>
                </a:solidFill>
                <a:latin typeface="+mn-ea"/>
                <a:ea typeface="+mn-ea"/>
              </a:defRPr>
            </a:lvl3pPr>
            <a:lvl4pPr marL="16002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4pPr>
            <a:lvl5pPr marL="20574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lang="zh-CN" altLang="en-US" b="1" kern="0" dirty="0">
                <a:solidFill>
                  <a:srgbClr val="000000"/>
                </a:solidFill>
                <a:latin typeface="微软雅黑" panose="020B0503020204020204" pitchFamily="34" charset="-122"/>
                <a:ea typeface="微软雅黑" panose="020B0503020204020204" pitchFamily="34" charset="-122"/>
              </a:rPr>
              <a:t>误取两条指令作废，将</a:t>
            </a:r>
            <a:r>
              <a:rPr lang="en-US" altLang="zh-CN" b="1" kern="0" dirty="0">
                <a:solidFill>
                  <a:srgbClr val="000000"/>
                </a:solidFill>
                <a:latin typeface="微软雅黑" panose="020B0503020204020204" pitchFamily="34" charset="-122"/>
                <a:ea typeface="微软雅黑" panose="020B0503020204020204" pitchFamily="34" charset="-122"/>
              </a:rPr>
              <a:t>IF/ID</a:t>
            </a:r>
            <a:r>
              <a:rPr b="1" kern="0" dirty="0">
                <a:solidFill>
                  <a:srgbClr val="000000"/>
                </a:solidFill>
                <a:latin typeface="微软雅黑" panose="020B0503020204020204" pitchFamily="34" charset="-122"/>
                <a:ea typeface="微软雅黑" panose="020B0503020204020204" pitchFamily="34" charset="-122"/>
              </a:rPr>
              <a:t>和</a:t>
            </a:r>
            <a:r>
              <a:rPr lang="en-US" altLang="zh-CN" b="1" kern="0" dirty="0">
                <a:solidFill>
                  <a:srgbClr val="000000"/>
                </a:solidFill>
                <a:latin typeface="微软雅黑" panose="020B0503020204020204" pitchFamily="34" charset="-122"/>
                <a:ea typeface="微软雅黑" panose="020B0503020204020204" pitchFamily="34" charset="-122"/>
              </a:rPr>
              <a:t>ID</a:t>
            </a:r>
            <a:r>
              <a:rPr b="1" kern="0" dirty="0">
                <a:solidFill>
                  <a:srgbClr val="000000"/>
                </a:solidFill>
                <a:latin typeface="微软雅黑" panose="020B0503020204020204" pitchFamily="34" charset="-122"/>
                <a:ea typeface="微软雅黑" panose="020B0503020204020204" pitchFamily="34" charset="-122"/>
              </a:rPr>
              <a:t>/</a:t>
            </a:r>
            <a:r>
              <a:rPr lang="en-US" altLang="zh-CN" b="1" kern="0" dirty="0">
                <a:solidFill>
                  <a:srgbClr val="000000"/>
                </a:solidFill>
                <a:latin typeface="微软雅黑" panose="020B0503020204020204" pitchFamily="34" charset="-122"/>
                <a:ea typeface="微软雅黑" panose="020B0503020204020204" pitchFamily="34" charset="-122"/>
              </a:rPr>
              <a:t>EX</a:t>
            </a:r>
            <a:r>
              <a:rPr b="1" kern="0" dirty="0">
                <a:solidFill>
                  <a:srgbClr val="000000"/>
                </a:solidFill>
                <a:latin typeface="微软雅黑" panose="020B0503020204020204" pitchFamily="34" charset="-122"/>
                <a:ea typeface="微软雅黑" panose="020B0503020204020204" pitchFamily="34" charset="-122"/>
              </a:rPr>
              <a:t>同步清零，</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流水线损失了</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Char char="n"/>
              <a:defRPr/>
            </a:pP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3305546" y="5392252"/>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6" name="矩形 145"/>
          <p:cNvSpPr/>
          <p:nvPr/>
        </p:nvSpPr>
        <p:spPr>
          <a:xfrm>
            <a:off x="396222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7" name="矩形 146"/>
          <p:cNvSpPr/>
          <p:nvPr/>
        </p:nvSpPr>
        <p:spPr>
          <a:xfrm>
            <a:off x="462334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8" name="矩形 147"/>
          <p:cNvSpPr/>
          <p:nvPr/>
        </p:nvSpPr>
        <p:spPr>
          <a:xfrm>
            <a:off x="5269314"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9" name="矩形 148"/>
          <p:cNvSpPr/>
          <p:nvPr/>
        </p:nvSpPr>
        <p:spPr>
          <a:xfrm>
            <a:off x="5992958"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0" name="矩形 149"/>
          <p:cNvSpPr/>
          <p:nvPr/>
        </p:nvSpPr>
        <p:spPr>
          <a:xfrm>
            <a:off x="66989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1" name="矩形 150"/>
          <p:cNvSpPr/>
          <p:nvPr/>
        </p:nvSpPr>
        <p:spPr>
          <a:xfrm>
            <a:off x="7309011"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2" name="矩形 151"/>
          <p:cNvSpPr/>
          <p:nvPr/>
        </p:nvSpPr>
        <p:spPr>
          <a:xfrm>
            <a:off x="79858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3" name="矩形 152"/>
          <p:cNvSpPr/>
          <p:nvPr/>
        </p:nvSpPr>
        <p:spPr>
          <a:xfrm>
            <a:off x="864692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2" name="矩形 81"/>
          <p:cNvSpPr/>
          <p:nvPr/>
        </p:nvSpPr>
        <p:spPr>
          <a:xfrm>
            <a:off x="2628585" y="536068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矩形 41"/>
          <p:cNvSpPr/>
          <p:nvPr/>
        </p:nvSpPr>
        <p:spPr>
          <a:xfrm flipH="1">
            <a:off x="2781432" y="4704681"/>
            <a:ext cx="682972" cy="682972"/>
          </a:xfrm>
          <a:prstGeom prst="rect">
            <a:avLst/>
          </a:prstGeom>
          <a:solidFill>
            <a:srgbClr val="FF9900"/>
          </a:solidFill>
          <a:ln w="19050" algn="ctr">
            <a:solidFill>
              <a:srgbClr val="00B0F0"/>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lang="en-US" altLang="zh-CN" sz="1600" dirty="0">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rPr>
              <a:t>Beq</a:t>
            </a:r>
            <a:endParaRPr kumimoji="0" lang="en-US" altLang="zh-CN" sz="1600" b="0" i="0" u="none" strike="noStrike" kern="1200" cap="none" spc="0" normalizeH="0" baseline="0" noProof="0" dirty="0">
              <a:ln>
                <a:noFill/>
              </a:ln>
              <a:solidFill>
                <a:schemeClr val="bg1">
                  <a:lumMod val="95000"/>
                </a:schemeClr>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4" name="矩形 73"/>
          <p:cNvSpPr/>
          <p:nvPr/>
        </p:nvSpPr>
        <p:spPr>
          <a:xfrm flipH="1">
            <a:off x="3464404" y="4021709"/>
            <a:ext cx="682972" cy="682972"/>
          </a:xfrm>
          <a:prstGeom prst="rect">
            <a:avLst/>
          </a:prstGeom>
          <a:solidFill>
            <a:srgbClr val="FF9900"/>
          </a:solidFill>
          <a:ln w="19050" algn="ctr">
            <a:solidFill>
              <a:srgbClr val="00B0F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err="1">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rPr>
              <a:t>Beq</a:t>
            </a:r>
            <a:endParaRPr lang="en-US" altLang="zh-CN" sz="1600" dirty="0">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5" name="矩形 84"/>
          <p:cNvSpPr/>
          <p:nvPr/>
        </p:nvSpPr>
        <p:spPr>
          <a:xfrm flipH="1">
            <a:off x="4147376" y="3338737"/>
            <a:ext cx="682972" cy="682972"/>
          </a:xfrm>
          <a:prstGeom prst="rect">
            <a:avLst/>
          </a:prstGeom>
          <a:solidFill>
            <a:srgbClr val="FF9900"/>
          </a:solidFill>
          <a:ln w="19050" algn="ctr">
            <a:solidFill>
              <a:srgbClr val="00B0F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err="1">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rPr>
              <a:t>Beq</a:t>
            </a:r>
            <a:endParaRPr lang="en-US" altLang="zh-CN" sz="1600" dirty="0">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6" name="矩形 95"/>
          <p:cNvSpPr/>
          <p:nvPr/>
        </p:nvSpPr>
        <p:spPr>
          <a:xfrm flipH="1">
            <a:off x="4830348" y="2655765"/>
            <a:ext cx="682972" cy="682972"/>
          </a:xfrm>
          <a:prstGeom prst="rect">
            <a:avLst/>
          </a:prstGeom>
          <a:solidFill>
            <a:srgbClr val="FF9900"/>
          </a:solidFill>
          <a:ln w="19050" algn="ctr">
            <a:solidFill>
              <a:srgbClr val="00B0F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err="1">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rPr>
              <a:t>Beq</a:t>
            </a:r>
            <a:endParaRPr lang="en-US" altLang="zh-CN" sz="1600" dirty="0">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7" name="矩形 106"/>
          <p:cNvSpPr/>
          <p:nvPr/>
        </p:nvSpPr>
        <p:spPr>
          <a:xfrm flipH="1">
            <a:off x="5513320" y="1972793"/>
            <a:ext cx="682972" cy="682972"/>
          </a:xfrm>
          <a:prstGeom prst="rect">
            <a:avLst/>
          </a:prstGeom>
          <a:solidFill>
            <a:srgbClr val="FF9900"/>
          </a:solidFill>
          <a:ln w="19050" algn="ctr">
            <a:solidFill>
              <a:srgbClr val="00B0F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err="1">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rPr>
              <a:t>Beq</a:t>
            </a:r>
            <a:endParaRPr lang="en-US" altLang="zh-CN" sz="1600" dirty="0">
              <a:solidFill>
                <a:schemeClr val="bg1">
                  <a:lumMod val="95000"/>
                </a:schemeClr>
              </a:solidFill>
              <a:latin typeface="Segoe UI Black" panose="020B0A02040204020203" pitchFamily="34" charset="0"/>
              <a:ea typeface="Segoe UI Black" panose="020B0A02040204020203" pitchFamily="34" charset="0"/>
              <a:cs typeface="Segoe UI Black" panose="020B0A02040204020203" pitchFamily="34" charset="0"/>
            </a:endParaRPr>
          </a:p>
        </p:txBody>
      </p:sp>
      <p:grpSp>
        <p:nvGrpSpPr>
          <p:cNvPr id="4" name="组合 3"/>
          <p:cNvGrpSpPr/>
          <p:nvPr/>
        </p:nvGrpSpPr>
        <p:grpSpPr>
          <a:xfrm>
            <a:off x="3931335" y="2243281"/>
            <a:ext cx="943194" cy="1449660"/>
            <a:chOff x="3866902" y="2243333"/>
            <a:chExt cx="943194" cy="1449660"/>
          </a:xfrm>
        </p:grpSpPr>
        <p:pic>
          <p:nvPicPr>
            <p:cNvPr id="76" name="图片 7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010226" flipV="1">
              <a:off x="4072234" y="2955131"/>
              <a:ext cx="1176055" cy="299669"/>
            </a:xfrm>
            <a:prstGeom prst="rect">
              <a:avLst/>
            </a:prstGeom>
          </p:spPr>
        </p:pic>
        <p:sp>
          <p:nvSpPr>
            <p:cNvPr id="83" name="文本框 82"/>
            <p:cNvSpPr txBox="1"/>
            <p:nvPr/>
          </p:nvSpPr>
          <p:spPr>
            <a:xfrm>
              <a:off x="3866902" y="2243333"/>
              <a:ext cx="646331"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气泡</a:t>
              </a:r>
              <a:endParaRPr lang="zh-CN" altLang="en-US" dirty="0">
                <a:solidFill>
                  <a:srgbClr val="FF0000"/>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38552" y="1526638"/>
            <a:ext cx="838083" cy="3861456"/>
            <a:chOff x="6038552" y="1526638"/>
            <a:chExt cx="838083" cy="3861456"/>
          </a:xfrm>
        </p:grpSpPr>
        <p:sp>
          <p:nvSpPr>
            <p:cNvPr id="135" name="Text Box 33"/>
            <p:cNvSpPr txBox="1">
              <a:spLocks noChangeArrowheads="1"/>
            </p:cNvSpPr>
            <p:nvPr/>
          </p:nvSpPr>
          <p:spPr bwMode="auto">
            <a:xfrm>
              <a:off x="6038552"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1" name="Line 32"/>
            <p:cNvSpPr>
              <a:spLocks noChangeShapeType="1"/>
            </p:cNvSpPr>
            <p:nvPr/>
          </p:nvSpPr>
          <p:spPr bwMode="auto">
            <a:xfrm flipV="1">
              <a:off x="6196292" y="1546030"/>
              <a:ext cx="0" cy="3842064"/>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10" name="组合 9"/>
          <p:cNvGrpSpPr/>
          <p:nvPr/>
        </p:nvGrpSpPr>
        <p:grpSpPr>
          <a:xfrm>
            <a:off x="2911688" y="2826013"/>
            <a:ext cx="1858725" cy="2452443"/>
            <a:chOff x="2911688" y="2826013"/>
            <a:chExt cx="1858725" cy="2452443"/>
          </a:xfrm>
        </p:grpSpPr>
        <p:sp>
          <p:nvSpPr>
            <p:cNvPr id="3" name="圆角矩形 2"/>
            <p:cNvSpPr/>
            <p:nvPr/>
          </p:nvSpPr>
          <p:spPr>
            <a:xfrm>
              <a:off x="4219371" y="4070612"/>
              <a:ext cx="551042" cy="1207844"/>
            </a:xfrm>
            <a:prstGeom prst="roundRect">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2911688" y="2826013"/>
              <a:ext cx="1122967" cy="1441362"/>
              <a:chOff x="2911688" y="2826013"/>
              <a:chExt cx="1122967" cy="1441362"/>
            </a:xfrm>
          </p:grpSpPr>
          <p:sp>
            <p:nvSpPr>
              <p:cNvPr id="84" name="文本框 83"/>
              <p:cNvSpPr txBox="1"/>
              <p:nvPr/>
            </p:nvSpPr>
            <p:spPr>
              <a:xfrm>
                <a:off x="2911688" y="2826013"/>
                <a:ext cx="1107996"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误取指令</a:t>
                </a:r>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97" name="图片 9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010226" flipV="1">
                <a:off x="3296793" y="3529513"/>
                <a:ext cx="1176055" cy="299669"/>
              </a:xfrm>
              <a:prstGeom prst="rect">
                <a:avLst/>
              </a:prstGeom>
            </p:spPr>
          </p:pic>
        </p:gr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74244"/>
    </mc:Choice>
    <mc:Fallback>
      <p:transition spd="slow" advTm="1742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down)">
                                      <p:cBhvr>
                                        <p:cTn id="12" dur="500"/>
                                        <p:tgtEl>
                                          <p:spTgt spid="7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down)">
                                      <p:cBhvr>
                                        <p:cTn id="15" dur="500"/>
                                        <p:tgtEl>
                                          <p:spTgt spid="4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wipe(down)">
                                      <p:cBhvr>
                                        <p:cTn id="20" dur="500"/>
                                        <p:tgtEl>
                                          <p:spTgt spid="8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down)">
                                      <p:cBhvr>
                                        <p:cTn id="23" dur="500"/>
                                        <p:tgtEl>
                                          <p:spTgt spid="7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down)">
                                      <p:cBhvr>
                                        <p:cTn id="26" dur="5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96"/>
                                        </p:tgtEl>
                                        <p:attrNameLst>
                                          <p:attrName>style.visibility</p:attrName>
                                        </p:attrNameLst>
                                      </p:cBhvr>
                                      <p:to>
                                        <p:strVal val="visible"/>
                                      </p:to>
                                    </p:set>
                                    <p:animEffect transition="in" filter="wipe(down)">
                                      <p:cBhvr>
                                        <p:cTn id="36" dur="500"/>
                                        <p:tgtEl>
                                          <p:spTgt spid="96"/>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down)">
                                      <p:cBhvr>
                                        <p:cTn id="39" dur="500"/>
                                        <p:tgtEl>
                                          <p:spTgt spid="4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up)">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7"/>
                                        </p:tgtEl>
                                        <p:attrNameLst>
                                          <p:attrName>style.visibility</p:attrName>
                                        </p:attrNameLst>
                                      </p:cBhvr>
                                      <p:to>
                                        <p:strVal val="visible"/>
                                      </p:to>
                                    </p:set>
                                    <p:animEffect transition="in" filter="wipe(down)">
                                      <p:cBhvr>
                                        <p:cTn id="49" dur="500"/>
                                        <p:tgtEl>
                                          <p:spTgt spid="107"/>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wipe(down)">
                                      <p:cBhvr>
                                        <p:cTn id="52" dur="500"/>
                                        <p:tgtEl>
                                          <p:spTgt spid="7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ipe(down)">
                                      <p:cBhvr>
                                        <p:cTn id="55" dur="500"/>
                                        <p:tgtEl>
                                          <p:spTgt spid="56"/>
                                        </p:tgtEl>
                                      </p:cBhvr>
                                    </p:animEffect>
                                  </p:childTnLst>
                                </p:cTn>
                              </p:par>
                            </p:childTnLst>
                          </p:cTn>
                        </p:par>
                        <p:par>
                          <p:cTn id="56" fill="hold">
                            <p:stCondLst>
                              <p:cond delay="500"/>
                            </p:stCondLst>
                            <p:childTnLst>
                              <p:par>
                                <p:cTn id="57" presetID="22" presetClass="entr" presetSubtype="4"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down)">
                                      <p:cBhvr>
                                        <p:cTn id="59" dur="500"/>
                                        <p:tgtEl>
                                          <p:spTgt spid="2"/>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ipe(down)">
                                      <p:cBhvr>
                                        <p:cTn id="62" dur="500"/>
                                        <p:tgtEl>
                                          <p:spTgt spid="88"/>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ipe(down)">
                                      <p:cBhvr>
                                        <p:cTn id="65" dur="500"/>
                                        <p:tgtEl>
                                          <p:spTgt spid="78"/>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down)">
                                      <p:cBhvr>
                                        <p:cTn id="68" dur="500"/>
                                        <p:tgtEl>
                                          <p:spTgt spid="57"/>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99"/>
                                        </p:tgtEl>
                                        <p:attrNameLst>
                                          <p:attrName>style.visibility</p:attrName>
                                        </p:attrNameLst>
                                      </p:cBhvr>
                                      <p:to>
                                        <p:strVal val="visible"/>
                                      </p:to>
                                    </p:set>
                                    <p:animEffect transition="in" filter="wipe(down)">
                                      <p:cBhvr>
                                        <p:cTn id="71" dur="500"/>
                                        <p:tgtEl>
                                          <p:spTgt spid="99"/>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89"/>
                                        </p:tgtEl>
                                        <p:attrNameLst>
                                          <p:attrName>style.visibility</p:attrName>
                                        </p:attrNameLst>
                                      </p:cBhvr>
                                      <p:to>
                                        <p:strVal val="visible"/>
                                      </p:to>
                                    </p:set>
                                    <p:animEffect transition="in" filter="wipe(down)">
                                      <p:cBhvr>
                                        <p:cTn id="74" dur="500"/>
                                        <p:tgtEl>
                                          <p:spTgt spid="89"/>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79"/>
                                        </p:tgtEl>
                                        <p:attrNameLst>
                                          <p:attrName>style.visibility</p:attrName>
                                        </p:attrNameLst>
                                      </p:cBhvr>
                                      <p:to>
                                        <p:strVal val="visible"/>
                                      </p:to>
                                    </p:set>
                                    <p:animEffect transition="in" filter="wipe(down)">
                                      <p:cBhvr>
                                        <p:cTn id="77" dur="500"/>
                                        <p:tgtEl>
                                          <p:spTgt spid="79"/>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58"/>
                                        </p:tgtEl>
                                        <p:attrNameLst>
                                          <p:attrName>style.visibility</p:attrName>
                                        </p:attrNameLst>
                                      </p:cBhvr>
                                      <p:to>
                                        <p:strVal val="visible"/>
                                      </p:to>
                                    </p:set>
                                    <p:animEffect transition="in" filter="wipe(down)">
                                      <p:cBhvr>
                                        <p:cTn id="80" dur="500"/>
                                        <p:tgtEl>
                                          <p:spTgt spid="5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110"/>
                                        </p:tgtEl>
                                        <p:attrNameLst>
                                          <p:attrName>style.visibility</p:attrName>
                                        </p:attrNameLst>
                                      </p:cBhvr>
                                      <p:to>
                                        <p:strVal val="visible"/>
                                      </p:to>
                                    </p:set>
                                    <p:animEffect transition="in" filter="wipe(down)">
                                      <p:cBhvr>
                                        <p:cTn id="85" dur="500"/>
                                        <p:tgtEl>
                                          <p:spTgt spid="110"/>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wipe(down)">
                                      <p:cBhvr>
                                        <p:cTn id="88" dur="500"/>
                                        <p:tgtEl>
                                          <p:spTgt spid="100"/>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90"/>
                                        </p:tgtEl>
                                        <p:attrNameLst>
                                          <p:attrName>style.visibility</p:attrName>
                                        </p:attrNameLst>
                                      </p:cBhvr>
                                      <p:to>
                                        <p:strVal val="visible"/>
                                      </p:to>
                                    </p:set>
                                    <p:animEffect transition="in" filter="wipe(down)">
                                      <p:cBhvr>
                                        <p:cTn id="91" dur="500"/>
                                        <p:tgtEl>
                                          <p:spTgt spid="90"/>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80"/>
                                        </p:tgtEl>
                                        <p:attrNameLst>
                                          <p:attrName>style.visibility</p:attrName>
                                        </p:attrNameLst>
                                      </p:cBhvr>
                                      <p:to>
                                        <p:strVal val="visible"/>
                                      </p:to>
                                    </p:set>
                                    <p:animEffect transition="in" filter="wipe(down)">
                                      <p:cBhvr>
                                        <p:cTn id="94" dur="500"/>
                                        <p:tgtEl>
                                          <p:spTgt spid="80"/>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animEffect transition="in" filter="wipe(down)">
                                      <p:cBhvr>
                                        <p:cTn id="97" dur="500"/>
                                        <p:tgtEl>
                                          <p:spTgt spid="59"/>
                                        </p:tgtEl>
                                      </p:cBhvr>
                                    </p:animEffect>
                                  </p:childTnLst>
                                </p:cTn>
                              </p:par>
                            </p:childTnLst>
                          </p:cTn>
                        </p:par>
                        <p:par>
                          <p:cTn id="98" fill="hold">
                            <p:stCondLst>
                              <p:cond delay="500"/>
                            </p:stCondLst>
                            <p:childTnLst>
                              <p:par>
                                <p:cTn id="99" presetID="22" presetClass="entr" presetSubtype="4" fill="hold" nodeType="afterEffect">
                                  <p:stCondLst>
                                    <p:cond delay="0"/>
                                  </p:stCondLst>
                                  <p:childTnLst>
                                    <p:set>
                                      <p:cBhvr>
                                        <p:cTn id="100" dur="1" fill="hold">
                                          <p:stCondLst>
                                            <p:cond delay="0"/>
                                          </p:stCondLst>
                                        </p:cTn>
                                        <p:tgtEl>
                                          <p:spTgt spid="5"/>
                                        </p:tgtEl>
                                        <p:attrNameLst>
                                          <p:attrName>style.visibility</p:attrName>
                                        </p:attrNameLst>
                                      </p:cBhvr>
                                      <p:to>
                                        <p:strVal val="visible"/>
                                      </p:to>
                                    </p:set>
                                    <p:animEffect transition="in" filter="wipe(down)">
                                      <p:cBhvr>
                                        <p:cTn id="101" dur="500"/>
                                        <p:tgtEl>
                                          <p:spTgt spid="5"/>
                                        </p:tgtEl>
                                      </p:cBhvr>
                                    </p:animEffect>
                                  </p:childTnLst>
                                </p:cTn>
                              </p:par>
                            </p:childTnLst>
                          </p:cTn>
                        </p:par>
                        <p:par>
                          <p:cTn id="102" fill="hold">
                            <p:stCondLst>
                              <p:cond delay="1000"/>
                            </p:stCondLst>
                            <p:childTnLst>
                              <p:par>
                                <p:cTn id="103" presetID="22" presetClass="entr" presetSubtype="4" fill="hold" grpId="0" nodeType="afterEffect">
                                  <p:stCondLst>
                                    <p:cond delay="0"/>
                                  </p:stCondLst>
                                  <p:childTnLst>
                                    <p:set>
                                      <p:cBhvr>
                                        <p:cTn id="104" dur="1" fill="hold">
                                          <p:stCondLst>
                                            <p:cond delay="0"/>
                                          </p:stCondLst>
                                        </p:cTn>
                                        <p:tgtEl>
                                          <p:spTgt spid="111"/>
                                        </p:tgtEl>
                                        <p:attrNameLst>
                                          <p:attrName>style.visibility</p:attrName>
                                        </p:attrNameLst>
                                      </p:cBhvr>
                                      <p:to>
                                        <p:strVal val="visible"/>
                                      </p:to>
                                    </p:set>
                                    <p:animEffect transition="in" filter="wipe(down)">
                                      <p:cBhvr>
                                        <p:cTn id="105" dur="500"/>
                                        <p:tgtEl>
                                          <p:spTgt spid="111"/>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101"/>
                                        </p:tgtEl>
                                        <p:attrNameLst>
                                          <p:attrName>style.visibility</p:attrName>
                                        </p:attrNameLst>
                                      </p:cBhvr>
                                      <p:to>
                                        <p:strVal val="visible"/>
                                      </p:to>
                                    </p:set>
                                    <p:animEffect transition="in" filter="wipe(down)">
                                      <p:cBhvr>
                                        <p:cTn id="108" dur="500"/>
                                        <p:tgtEl>
                                          <p:spTgt spid="10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91"/>
                                        </p:tgtEl>
                                        <p:attrNameLst>
                                          <p:attrName>style.visibility</p:attrName>
                                        </p:attrNameLst>
                                      </p:cBhvr>
                                      <p:to>
                                        <p:strVal val="visible"/>
                                      </p:to>
                                    </p:set>
                                    <p:animEffect transition="in" filter="wipe(down)">
                                      <p:cBhvr>
                                        <p:cTn id="111" dur="500"/>
                                        <p:tgtEl>
                                          <p:spTgt spid="91"/>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81"/>
                                        </p:tgtEl>
                                        <p:attrNameLst>
                                          <p:attrName>style.visibility</p:attrName>
                                        </p:attrNameLst>
                                      </p:cBhvr>
                                      <p:to>
                                        <p:strVal val="visible"/>
                                      </p:to>
                                    </p:set>
                                    <p:animEffect transition="in" filter="wipe(down)">
                                      <p:cBhvr>
                                        <p:cTn id="114" dur="500"/>
                                        <p:tgtEl>
                                          <p:spTgt spid="81"/>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wipe(down)">
                                      <p:cBhvr>
                                        <p:cTn id="117" dur="500"/>
                                        <p:tgtEl>
                                          <p:spTgt spid="60"/>
                                        </p:tgtEl>
                                      </p:cBhvr>
                                    </p:animEffect>
                                  </p:childTnLst>
                                </p:cTn>
                              </p:par>
                              <p:par>
                                <p:cTn id="118" presetID="22" presetClass="entr" presetSubtype="4" fill="hold" nodeType="withEffect">
                                  <p:stCondLst>
                                    <p:cond delay="0"/>
                                  </p:stCondLst>
                                  <p:childTnLst>
                                    <p:set>
                                      <p:cBhvr>
                                        <p:cTn id="119" dur="1" fill="hold">
                                          <p:stCondLst>
                                            <p:cond delay="0"/>
                                          </p:stCondLst>
                                        </p:cTn>
                                        <p:tgtEl>
                                          <p:spTgt spid="7"/>
                                        </p:tgtEl>
                                        <p:attrNameLst>
                                          <p:attrName>style.visibility</p:attrName>
                                        </p:attrNameLst>
                                      </p:cBhvr>
                                      <p:to>
                                        <p:strVal val="visible"/>
                                      </p:to>
                                    </p:set>
                                    <p:animEffect transition="in" filter="wipe(down)">
                                      <p:cBhvr>
                                        <p:cTn id="120" dur="500"/>
                                        <p:tgtEl>
                                          <p:spTgt spid="7"/>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145"/>
                                        </p:tgtEl>
                                        <p:attrNameLst>
                                          <p:attrName>style.visibility</p:attrName>
                                        </p:attrNameLst>
                                      </p:cBhvr>
                                      <p:to>
                                        <p:strVal val="visible"/>
                                      </p:to>
                                    </p:set>
                                    <p:animEffect transition="in" filter="wipe(left)">
                                      <p:cBhvr>
                                        <p:cTn id="123"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6" grpId="0" bldLvl="0" animBg="1"/>
      <p:bldP spid="47" grpId="0" bldLvl="0" animBg="1"/>
      <p:bldP spid="56" grpId="0" bldLvl="0" animBg="1"/>
      <p:bldP spid="57" grpId="0" bldLvl="0" animBg="1"/>
      <p:bldP spid="58" grpId="0" bldLvl="0" animBg="1"/>
      <p:bldP spid="59" grpId="0" bldLvl="0" animBg="1"/>
      <p:bldP spid="60" grpId="0" bldLvl="0" animBg="1"/>
      <p:bldP spid="75" grpId="0" bldLvl="0" animBg="1"/>
      <p:bldP spid="77" grpId="0" bldLvl="0" animBg="1"/>
      <p:bldP spid="78" grpId="0" bldLvl="0" animBg="1"/>
      <p:bldP spid="79" grpId="0" bldLvl="0" animBg="1"/>
      <p:bldP spid="80" grpId="0" bldLvl="0" animBg="1"/>
      <p:bldP spid="81" grpId="0" bldLvl="0" animBg="1"/>
      <p:bldP spid="88" grpId="0" bldLvl="0" animBg="1"/>
      <p:bldP spid="89" grpId="0" bldLvl="0" animBg="1"/>
      <p:bldP spid="90" grpId="0" bldLvl="0" animBg="1"/>
      <p:bldP spid="91" grpId="0" bldLvl="0" animBg="1"/>
      <p:bldP spid="99" grpId="0" bldLvl="0" animBg="1"/>
      <p:bldP spid="100" grpId="0" bldLvl="0" animBg="1"/>
      <p:bldP spid="101" grpId="0" bldLvl="0" animBg="1"/>
      <p:bldP spid="110" grpId="0" bldLvl="0" animBg="1"/>
      <p:bldP spid="111" grpId="0" bldLvl="0" animBg="1"/>
      <p:bldP spid="145" grpId="0"/>
      <p:bldP spid="42" grpId="0" bldLvl="0" animBg="1"/>
      <p:bldP spid="74" grpId="0" bldLvl="0" animBg="1"/>
      <p:bldP spid="85" grpId="0" bldLvl="0" animBg="1"/>
      <p:bldP spid="96" grpId="0" bldLvl="0" animBg="1"/>
      <p:bldP spid="107"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分支相关</a:t>
            </a:r>
            <a:endParaRPr lang="zh-CN" altLang="en-US" dirty="0"/>
          </a:p>
        </p:txBody>
      </p:sp>
      <p:grpSp>
        <p:nvGrpSpPr>
          <p:cNvPr id="915" name="组合 914"/>
          <p:cNvGrpSpPr/>
          <p:nvPr/>
        </p:nvGrpSpPr>
        <p:grpSpPr>
          <a:xfrm>
            <a:off x="1703513" y="1411214"/>
            <a:ext cx="8670731" cy="4365155"/>
            <a:chOff x="1295132" y="1392653"/>
            <a:chExt cx="9333476" cy="4698804"/>
          </a:xfrm>
        </p:grpSpPr>
        <p:cxnSp>
          <p:nvCxnSpPr>
            <p:cNvPr id="733" name="直接连接符 732"/>
            <p:cNvCxnSpPr/>
            <p:nvPr/>
          </p:nvCxnSpPr>
          <p:spPr>
            <a:xfrm>
              <a:off x="6558819" y="4522844"/>
              <a:ext cx="0" cy="222006"/>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916051" y="4903028"/>
              <a:ext cx="372218" cy="326012"/>
              <a:chOff x="1972553" y="3227818"/>
              <a:chExt cx="372218" cy="326012"/>
            </a:xfrm>
          </p:grpSpPr>
          <p:cxnSp>
            <p:nvCxnSpPr>
              <p:cNvPr id="736" name="直接连接符 735"/>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38" name="组合 737"/>
            <p:cNvGrpSpPr/>
            <p:nvPr/>
          </p:nvGrpSpPr>
          <p:grpSpPr>
            <a:xfrm>
              <a:off x="4473604" y="4590944"/>
              <a:ext cx="372218" cy="326012"/>
              <a:chOff x="1972553" y="3227818"/>
              <a:chExt cx="372218" cy="326012"/>
            </a:xfrm>
          </p:grpSpPr>
          <p:cxnSp>
            <p:nvCxnSpPr>
              <p:cNvPr id="739" name="直接连接符 73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41" name="组合 740"/>
            <p:cNvGrpSpPr/>
            <p:nvPr/>
          </p:nvGrpSpPr>
          <p:grpSpPr>
            <a:xfrm>
              <a:off x="3724772" y="5635648"/>
              <a:ext cx="374784" cy="455809"/>
              <a:chOff x="1972644" y="3154126"/>
              <a:chExt cx="374784" cy="369765"/>
            </a:xfrm>
          </p:grpSpPr>
          <p:sp>
            <p:nvSpPr>
              <p:cNvPr id="742" name="文本框 741"/>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743" name="直接连接符 742"/>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744" name="组合 743"/>
            <p:cNvGrpSpPr/>
            <p:nvPr/>
          </p:nvGrpSpPr>
          <p:grpSpPr>
            <a:xfrm>
              <a:off x="3663412" y="2051134"/>
              <a:ext cx="519694" cy="3587666"/>
              <a:chOff x="853537" y="1717759"/>
              <a:chExt cx="519694" cy="3587666"/>
            </a:xfrm>
          </p:grpSpPr>
          <p:sp>
            <p:nvSpPr>
              <p:cNvPr id="745" name="矩形 74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6" name="等腰三角形 74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7" name="文本框 746"/>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748" name="组合 747"/>
            <p:cNvGrpSpPr/>
            <p:nvPr/>
          </p:nvGrpSpPr>
          <p:grpSpPr>
            <a:xfrm>
              <a:off x="5613400" y="2051134"/>
              <a:ext cx="553357" cy="3587666"/>
              <a:chOff x="853537" y="1717759"/>
              <a:chExt cx="553357" cy="3587666"/>
            </a:xfrm>
          </p:grpSpPr>
          <p:sp>
            <p:nvSpPr>
              <p:cNvPr id="749" name="矩形 74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0" name="等腰三角形 74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1" name="文本框 750"/>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752" name="直接箭头连接符 751"/>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754" name="直接箭头连接符 753"/>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756" name="直接箭头连接符 755"/>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757" name="直接箭头连接符 756"/>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758" name="组合 757"/>
            <p:cNvGrpSpPr/>
            <p:nvPr/>
          </p:nvGrpSpPr>
          <p:grpSpPr>
            <a:xfrm>
              <a:off x="6858046" y="3688641"/>
              <a:ext cx="600168" cy="821738"/>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0" name="文本框 759"/>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761" name="文本框 760"/>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762" name="文本框 761"/>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763" name="直接箭头连接符 762"/>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640453" y="2638710"/>
              <a:ext cx="423099" cy="631031"/>
              <a:chOff x="6528478" y="2016658"/>
              <a:chExt cx="523165"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7" name="文本框 766"/>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768" name="组合 767"/>
            <p:cNvGrpSpPr/>
            <p:nvPr/>
          </p:nvGrpSpPr>
          <p:grpSpPr>
            <a:xfrm>
              <a:off x="2890754" y="2429115"/>
              <a:ext cx="402029" cy="635794"/>
              <a:chOff x="2890754" y="1790940"/>
              <a:chExt cx="402029"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0" name="文本框 7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771" name="组合 770"/>
            <p:cNvGrpSpPr/>
            <p:nvPr/>
          </p:nvGrpSpPr>
          <p:grpSpPr>
            <a:xfrm>
              <a:off x="4388641" y="3613558"/>
              <a:ext cx="1130990" cy="1018157"/>
              <a:chOff x="2221721" y="4481511"/>
              <a:chExt cx="1122391"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3" name="文本框 772"/>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4" name="文本框 773"/>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775" name="文本框 774"/>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6" name="文本框 775"/>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7" name="文本框 776"/>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8" name="文本框 777"/>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9" name="文本框 778"/>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780" name="组合 779"/>
            <p:cNvGrpSpPr/>
            <p:nvPr/>
          </p:nvGrpSpPr>
          <p:grpSpPr>
            <a:xfrm>
              <a:off x="6352687" y="4150401"/>
              <a:ext cx="383097" cy="504955"/>
              <a:chOff x="1245770" y="3824904"/>
              <a:chExt cx="383097"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82" name="文本框 781"/>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3" name="文本框 782"/>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4" name="文本框 78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785" name="直接箭头连接符 784"/>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790" name="直接箭头连接符 789"/>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799" name="直接箭头连接符 798"/>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800" name="直接箭头连接符 799"/>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801" name="直接箭头连接符 800"/>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802" name="直接连接符 801"/>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803" name="直接箭头连接符 802"/>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804" name="直接箭头连接符 803"/>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805" name="直接箭头连接符 804"/>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807" name="直接箭头连接符 806"/>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810" name="直接连接符 809"/>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814" name="直接箭头连接符 813"/>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815" name="直接箭头连接符 814"/>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816" name="直接箭头连接符 815"/>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817" name="直接连接符 816"/>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818" name="直接连接符 817"/>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819" name="直接箭头连接符 818"/>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820" name="直接箭头连接符 819"/>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1" name="直接箭头连接符 820"/>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822" name="直接连接符 821"/>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823" name="直接连接符 822"/>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824" name="直接箭头连接符 823"/>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5" name="直接箭头连接符 824"/>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6" name="直接箭头连接符 825"/>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829" name="直接箭头连接符 828"/>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020933" y="4821240"/>
              <a:ext cx="397817" cy="634576"/>
              <a:chOff x="3762650" y="5685260"/>
              <a:chExt cx="39781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32" name="文本框 831"/>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833" name="直接连接符 832"/>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1475201" y="3357562"/>
              <a:ext cx="383097" cy="504955"/>
              <a:chOff x="1245770" y="3824904"/>
              <a:chExt cx="383097"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0" name="文本框 839"/>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1" name="文本框 840"/>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2" name="文本框 841"/>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srgbClr val="00B0F0"/>
                    </a:solidFill>
                    <a:latin typeface="微软雅黑" panose="020B0503020204020204" pitchFamily="34" charset="-122"/>
                    <a:ea typeface="微软雅黑" panose="020B0503020204020204" pitchFamily="34" charset="-122"/>
                  </a:rPr>
                  <a:t>1</a:t>
                </a:r>
                <a:endParaRPr lang="en-US" altLang="zh-CN" sz="500" b="1" kern="0" dirty="0">
                  <a:solidFill>
                    <a:srgbClr val="00B0F0"/>
                  </a:solidFill>
                  <a:latin typeface="微软雅黑" panose="020B0503020204020204" pitchFamily="34" charset="-122"/>
                  <a:ea typeface="微软雅黑" panose="020B0503020204020204" pitchFamily="34" charset="-122"/>
                </a:endParaRPr>
              </a:p>
            </p:txBody>
          </p:sp>
        </p:grpSp>
        <p:grpSp>
          <p:nvGrpSpPr>
            <p:cNvPr id="843" name="组合 842"/>
            <p:cNvGrpSpPr/>
            <p:nvPr/>
          </p:nvGrpSpPr>
          <p:grpSpPr>
            <a:xfrm>
              <a:off x="2607791" y="3493263"/>
              <a:ext cx="995174" cy="899129"/>
              <a:chOff x="2233099" y="4481511"/>
              <a:chExt cx="1105193"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5" name="文本框 844"/>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846" name="文本框 845"/>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47" name="文本框 846"/>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848" name="文本框 847"/>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49" name="组合 848"/>
            <p:cNvGrpSpPr/>
            <p:nvPr/>
          </p:nvGrpSpPr>
          <p:grpSpPr>
            <a:xfrm>
              <a:off x="1980407" y="3384882"/>
              <a:ext cx="345451" cy="491789"/>
              <a:chOff x="5454427" y="2426371"/>
              <a:chExt cx="955568"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1" name="文本框 850"/>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852" name="直接箭头连接符 851"/>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853" name="组合 852"/>
            <p:cNvGrpSpPr/>
            <p:nvPr/>
          </p:nvGrpSpPr>
          <p:grpSpPr>
            <a:xfrm>
              <a:off x="7418442" y="2051133"/>
              <a:ext cx="745717" cy="3587667"/>
              <a:chOff x="722989" y="1717758"/>
              <a:chExt cx="745717" cy="3587667"/>
            </a:xfrm>
          </p:grpSpPr>
          <p:sp>
            <p:nvSpPr>
              <p:cNvPr id="854" name="矩形 85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5" name="等腰三角形 85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6" name="文本框 855"/>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857" name="组合 856"/>
            <p:cNvGrpSpPr/>
            <p:nvPr/>
          </p:nvGrpSpPr>
          <p:grpSpPr>
            <a:xfrm>
              <a:off x="9375782" y="2044866"/>
              <a:ext cx="808235" cy="3593934"/>
              <a:chOff x="754534" y="1711491"/>
              <a:chExt cx="808235" cy="3593934"/>
            </a:xfrm>
          </p:grpSpPr>
          <p:sp>
            <p:nvSpPr>
              <p:cNvPr id="858" name="矩形 85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9" name="等腰三角形 85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0" name="文本框 859"/>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861" name="直接箭头连接符 86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034884" y="2898284"/>
              <a:ext cx="389850" cy="481540"/>
              <a:chOff x="3717347" y="5685260"/>
              <a:chExt cx="389850"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64" name="文本框 863"/>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865" name="组合 864"/>
            <p:cNvGrpSpPr/>
            <p:nvPr/>
          </p:nvGrpSpPr>
          <p:grpSpPr>
            <a:xfrm>
              <a:off x="8324766" y="4061731"/>
              <a:ext cx="957089" cy="896271"/>
              <a:chOff x="2233099" y="4480021"/>
              <a:chExt cx="1063423"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7" name="文本框 866"/>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68" name="文本框 867"/>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69" name="文本框 868"/>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70" name="文本框 869"/>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871" name="直接箭头连接符 870"/>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872" name="等腰三角形 871"/>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73" name="文本框 872"/>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4" name="文本框 873"/>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5" name="等腰三角形 874"/>
            <p:cNvSpPr/>
            <p:nvPr/>
          </p:nvSpPr>
          <p:spPr>
            <a:xfrm>
              <a:off x="4578518" y="4548830"/>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76" name="直接连接符 875"/>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9" name="文本框 878"/>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80" name="组合 879"/>
            <p:cNvGrpSpPr/>
            <p:nvPr/>
          </p:nvGrpSpPr>
          <p:grpSpPr>
            <a:xfrm>
              <a:off x="1972553" y="3865993"/>
              <a:ext cx="372218" cy="326012"/>
              <a:chOff x="1972553" y="3227818"/>
              <a:chExt cx="372218" cy="326012"/>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3" name="组合 882"/>
            <p:cNvGrpSpPr/>
            <p:nvPr/>
          </p:nvGrpSpPr>
          <p:grpSpPr>
            <a:xfrm>
              <a:off x="5683963" y="5635648"/>
              <a:ext cx="374784" cy="455809"/>
              <a:chOff x="1972644" y="3154126"/>
              <a:chExt cx="374784" cy="369765"/>
            </a:xfrm>
          </p:grpSpPr>
          <p:cxnSp>
            <p:nvCxnSpPr>
              <p:cNvPr id="884" name="直接连接符 8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5" name="文本框 88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6" name="组合 885"/>
            <p:cNvGrpSpPr/>
            <p:nvPr/>
          </p:nvGrpSpPr>
          <p:grpSpPr>
            <a:xfrm>
              <a:off x="7620570" y="5635648"/>
              <a:ext cx="374784" cy="455809"/>
              <a:chOff x="1972644" y="3154126"/>
              <a:chExt cx="374784" cy="369765"/>
            </a:xfrm>
          </p:grpSpPr>
          <p:cxnSp>
            <p:nvCxnSpPr>
              <p:cNvPr id="887" name="直接连接符 886"/>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8" name="文本框 887"/>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9" name="组合 888"/>
            <p:cNvGrpSpPr/>
            <p:nvPr/>
          </p:nvGrpSpPr>
          <p:grpSpPr>
            <a:xfrm>
              <a:off x="9547500" y="5635648"/>
              <a:ext cx="374784" cy="455809"/>
              <a:chOff x="1972644" y="3154126"/>
              <a:chExt cx="374784" cy="369765"/>
            </a:xfrm>
          </p:grpSpPr>
          <p:cxnSp>
            <p:nvCxnSpPr>
              <p:cNvPr id="890" name="直接连接符 88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91" name="文本框 890"/>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892" name="直接箭头连接符 891"/>
            <p:cNvCxnSpPr/>
            <p:nvPr/>
          </p:nvCxnSpPr>
          <p:spPr>
            <a:xfrm>
              <a:off x="3910881" y="1392653"/>
              <a:ext cx="0" cy="4156823"/>
            </a:xfrm>
            <a:prstGeom prst="straightConnector1">
              <a:avLst/>
            </a:prstGeom>
            <a:noFill/>
            <a:ln w="12700" cap="flat" cmpd="sng" algn="ctr">
              <a:solidFill>
                <a:srgbClr val="5B9BD5"/>
              </a:solidFill>
              <a:prstDash val="dash"/>
              <a:miter lim="800000"/>
              <a:tailEnd type="none"/>
            </a:ln>
            <a:effectLst/>
          </p:spPr>
        </p:cxnSp>
        <p:sp>
          <p:nvSpPr>
            <p:cNvPr id="893" name="等腰三角形 892"/>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94" name="直接箭头连接符 893"/>
            <p:cNvCxnSpPr/>
            <p:nvPr/>
          </p:nvCxnSpPr>
          <p:spPr>
            <a:xfrm>
              <a:off x="5866980" y="1392653"/>
              <a:ext cx="0" cy="4147298"/>
            </a:xfrm>
            <a:prstGeom prst="straightConnector1">
              <a:avLst/>
            </a:prstGeom>
            <a:noFill/>
            <a:ln w="12700" cap="flat" cmpd="sng" algn="ctr">
              <a:solidFill>
                <a:srgbClr val="5B9BD5"/>
              </a:solidFill>
              <a:prstDash val="dash"/>
              <a:miter lim="800000"/>
              <a:tailEnd type="none"/>
            </a:ln>
            <a:effectLst/>
          </p:spPr>
        </p:cxnSp>
        <p:cxnSp>
          <p:nvCxnSpPr>
            <p:cNvPr id="895" name="直接箭头连接符 894"/>
            <p:cNvCxnSpPr/>
            <p:nvPr/>
          </p:nvCxnSpPr>
          <p:spPr>
            <a:xfrm>
              <a:off x="7796408" y="1392653"/>
              <a:ext cx="0" cy="4147298"/>
            </a:xfrm>
            <a:prstGeom prst="straightConnector1">
              <a:avLst/>
            </a:prstGeom>
            <a:noFill/>
            <a:ln w="12700" cap="flat" cmpd="sng" algn="ctr">
              <a:solidFill>
                <a:srgbClr val="5B9BD5"/>
              </a:solidFill>
              <a:prstDash val="dash"/>
              <a:miter lim="800000"/>
              <a:tailEnd type="none"/>
            </a:ln>
            <a:effectLst/>
          </p:spPr>
        </p:cxnSp>
        <p:cxnSp>
          <p:nvCxnSpPr>
            <p:cNvPr id="896" name="直接箭头连接符 895"/>
            <p:cNvCxnSpPr/>
            <p:nvPr/>
          </p:nvCxnSpPr>
          <p:spPr>
            <a:xfrm>
              <a:off x="9725838" y="1392653"/>
              <a:ext cx="0" cy="4147298"/>
            </a:xfrm>
            <a:prstGeom prst="straightConnector1">
              <a:avLst/>
            </a:prstGeom>
            <a:noFill/>
            <a:ln w="12700" cap="flat" cmpd="sng" algn="ctr">
              <a:solidFill>
                <a:srgbClr val="5B9BD5"/>
              </a:solidFill>
              <a:prstDash val="dash"/>
              <a:miter lim="800000"/>
              <a:tailEnd type="none"/>
            </a:ln>
            <a:effectLst/>
          </p:spPr>
        </p:cxnSp>
        <p:sp>
          <p:nvSpPr>
            <p:cNvPr id="902" name="文本框 90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903" name="直接连接符 90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10102638" y="4039232"/>
              <a:ext cx="383097" cy="504955"/>
              <a:chOff x="1245770" y="3824904"/>
              <a:chExt cx="383097"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906" name="文本框 905"/>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7" name="文本框 906"/>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8" name="文本框 907"/>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909" name="文本框 908"/>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1" name="文本框 910"/>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2" name="文本框 911"/>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3" name="文本框 912"/>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4" name="文本框 913"/>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cxnSp>
          <p:nvCxnSpPr>
            <p:cNvPr id="208" name="直接连接符 207"/>
            <p:cNvCxnSpPr/>
            <p:nvPr/>
          </p:nvCxnSpPr>
          <p:spPr>
            <a:xfrm>
              <a:off x="1679032" y="2573816"/>
              <a:ext cx="0" cy="826347"/>
            </a:xfrm>
            <a:prstGeom prst="line">
              <a:avLst/>
            </a:prstGeom>
            <a:noFill/>
            <a:ln w="19050" cap="sq" cmpd="sng" algn="ctr">
              <a:solidFill>
                <a:srgbClr val="00B0F0"/>
              </a:solidFill>
              <a:prstDash val="solid"/>
              <a:miter lim="800000"/>
              <a:tailEnd type="none"/>
            </a:ln>
            <a:effectLst/>
          </p:spPr>
        </p:cxnSp>
      </p:grpSp>
      <p:grpSp>
        <p:nvGrpSpPr>
          <p:cNvPr id="10" name="组合 9"/>
          <p:cNvGrpSpPr/>
          <p:nvPr/>
        </p:nvGrpSpPr>
        <p:grpSpPr>
          <a:xfrm>
            <a:off x="6098144" y="1569435"/>
            <a:ext cx="1508366" cy="261610"/>
            <a:chOff x="6098144" y="1569435"/>
            <a:chExt cx="1508366" cy="261610"/>
          </a:xfrm>
        </p:grpSpPr>
        <p:sp>
          <p:nvSpPr>
            <p:cNvPr id="196" name="矩形 195"/>
            <p:cNvSpPr/>
            <p:nvPr/>
          </p:nvSpPr>
          <p:spPr>
            <a:xfrm>
              <a:off x="6098144" y="1594088"/>
              <a:ext cx="1508366" cy="205520"/>
            </a:xfrm>
            <a:prstGeom prst="rect">
              <a:avLst/>
            </a:prstGeom>
            <a:solidFill>
              <a:srgbClr val="FFC000">
                <a:lumMod val="60000"/>
                <a:lumOff val="40000"/>
              </a:srgbClr>
            </a:solidFill>
            <a:ln w="19050" cap="flat" cmpd="sng" algn="ctr">
              <a:solidFill>
                <a:schemeClr val="tx1"/>
              </a:solidFill>
              <a:prstDash val="solid"/>
              <a:miter lim="800000"/>
            </a:ln>
            <a:effectLst/>
          </p:spPr>
          <p:txBody>
            <a:bodyPr rtlCol="0" anchor="ctr"/>
            <a:lstStyle/>
            <a:p>
              <a:pPr algn="ctr"/>
              <a:endParaRPr lang="zh-CN" altLang="en-US" sz="900" kern="0">
                <a:solidFill>
                  <a:srgbClr val="FF0000"/>
                </a:solidFill>
                <a:latin typeface="等线" panose="02010600030101010101" charset="-122"/>
                <a:ea typeface="等线" panose="02010600030101010101" charset="-122"/>
              </a:endParaRPr>
            </a:p>
          </p:txBody>
        </p:sp>
        <p:sp>
          <p:nvSpPr>
            <p:cNvPr id="192" name="文本框 191"/>
            <p:cNvSpPr txBox="1">
              <a:spLocks noChangeArrowheads="1"/>
            </p:cNvSpPr>
            <p:nvPr/>
          </p:nvSpPr>
          <p:spPr bwMode="auto">
            <a:xfrm>
              <a:off x="6266140" y="1569435"/>
              <a:ext cx="11678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FF0000"/>
                  </a:solidFill>
                </a:rPr>
                <a:t>Beq</a:t>
              </a:r>
              <a:r>
                <a:rPr lang="en-US" altLang="zh-CN" sz="1100" b="1" dirty="0">
                  <a:solidFill>
                    <a:srgbClr val="FF0000"/>
                  </a:solidFill>
                </a:rPr>
                <a:t> $0,$0,16</a:t>
              </a:r>
              <a:endParaRPr lang="zh-CN" altLang="en-US" sz="1100" b="1" dirty="0">
                <a:solidFill>
                  <a:srgbClr val="FF0000"/>
                </a:solidFill>
              </a:endParaRPr>
            </a:p>
          </p:txBody>
        </p:sp>
      </p:grpSp>
      <p:sp>
        <p:nvSpPr>
          <p:cNvPr id="194" name="文本框 193"/>
          <p:cNvSpPr txBox="1"/>
          <p:nvPr/>
        </p:nvSpPr>
        <p:spPr>
          <a:xfrm>
            <a:off x="4681689" y="1996558"/>
            <a:ext cx="800219" cy="276999"/>
          </a:xfrm>
          <a:prstGeom prst="rect">
            <a:avLst/>
          </a:prstGeom>
          <a:noFill/>
        </p:spPr>
        <p:txBody>
          <a:bodyPr wrap="none" rtlCol="0">
            <a:spAutoFit/>
          </a:bodyPr>
          <a:lstStyle/>
          <a:p>
            <a:pPr algn="ctr"/>
            <a:r>
              <a:rPr lang="zh-CN" altLang="en-US" sz="1200" b="1" dirty="0">
                <a:solidFill>
                  <a:srgbClr val="000000"/>
                </a:solidFill>
                <a:latin typeface="微软雅黑" panose="020B0503020204020204" pitchFamily="34" charset="-122"/>
                <a:ea typeface="微软雅黑" panose="020B0503020204020204" pitchFamily="34" charset="-122"/>
              </a:rPr>
              <a:t>预取指令</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4705383" y="1182874"/>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4" name="文本框 203"/>
          <p:cNvSpPr txBox="1"/>
          <p:nvPr/>
        </p:nvSpPr>
        <p:spPr>
          <a:xfrm>
            <a:off x="6467289" y="1182874"/>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5" name="文本框 204"/>
          <p:cNvSpPr txBox="1"/>
          <p:nvPr/>
        </p:nvSpPr>
        <p:spPr>
          <a:xfrm>
            <a:off x="8184727" y="1182874"/>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6" name="文本框 205"/>
          <p:cNvSpPr txBox="1"/>
          <p:nvPr/>
        </p:nvSpPr>
        <p:spPr>
          <a:xfrm>
            <a:off x="9896550" y="1182874"/>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7" name="文本框 206"/>
          <p:cNvSpPr txBox="1"/>
          <p:nvPr/>
        </p:nvSpPr>
        <p:spPr>
          <a:xfrm>
            <a:off x="2692705" y="1182874"/>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2389062" y="1574050"/>
            <a:ext cx="3412948" cy="217441"/>
            <a:chOff x="2389062" y="1636042"/>
            <a:chExt cx="3412948" cy="217441"/>
          </a:xfrm>
        </p:grpSpPr>
        <p:sp>
          <p:nvSpPr>
            <p:cNvPr id="3" name="矩形 2"/>
            <p:cNvSpPr/>
            <p:nvPr/>
          </p:nvSpPr>
          <p:spPr>
            <a:xfrm>
              <a:off x="2389062" y="1636042"/>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10" name="矩形 209"/>
            <p:cNvSpPr/>
            <p:nvPr/>
          </p:nvSpPr>
          <p:spPr>
            <a:xfrm>
              <a:off x="4287444" y="1643397"/>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sp>
        <p:nvSpPr>
          <p:cNvPr id="198" name="文本框 197"/>
          <p:cNvSpPr txBox="1">
            <a:spLocks noChangeArrowheads="1"/>
          </p:cNvSpPr>
          <p:nvPr/>
        </p:nvSpPr>
        <p:spPr bwMode="auto">
          <a:xfrm>
            <a:off x="2563971" y="1567769"/>
            <a:ext cx="12437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sub $3,$1,$2</a:t>
            </a:r>
            <a:endParaRPr lang="en-US" altLang="zh-CN" sz="1100" b="1" dirty="0">
              <a:solidFill>
                <a:srgbClr val="000000"/>
              </a:solidFill>
            </a:endParaRPr>
          </a:p>
        </p:txBody>
      </p:sp>
      <p:sp>
        <p:nvSpPr>
          <p:cNvPr id="191" name="文本框 190"/>
          <p:cNvSpPr txBox="1">
            <a:spLocks noChangeArrowheads="1"/>
          </p:cNvSpPr>
          <p:nvPr/>
        </p:nvSpPr>
        <p:spPr bwMode="auto">
          <a:xfrm>
            <a:off x="4505610" y="1560483"/>
            <a:ext cx="111926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$3,$1,$2</a:t>
            </a:r>
            <a:endParaRPr lang="en-US" altLang="zh-CN" sz="1100" b="1" dirty="0">
              <a:solidFill>
                <a:srgbClr val="000000"/>
              </a:solidFill>
            </a:endParaRPr>
          </a:p>
        </p:txBody>
      </p:sp>
      <p:grpSp>
        <p:nvGrpSpPr>
          <p:cNvPr id="5" name="组合 4"/>
          <p:cNvGrpSpPr/>
          <p:nvPr/>
        </p:nvGrpSpPr>
        <p:grpSpPr>
          <a:xfrm>
            <a:off x="719698" y="3639927"/>
            <a:ext cx="1569660" cy="1271199"/>
            <a:chOff x="770570" y="3650757"/>
            <a:chExt cx="1569660" cy="1271199"/>
          </a:xfrm>
        </p:grpSpPr>
        <p:sp>
          <p:nvSpPr>
            <p:cNvPr id="212" name="文本框 211"/>
            <p:cNvSpPr txBox="1"/>
            <p:nvPr/>
          </p:nvSpPr>
          <p:spPr>
            <a:xfrm>
              <a:off x="770570" y="4552624"/>
              <a:ext cx="1569660"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分支目标地址</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213" name="图片 2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1272432" y="3911795"/>
              <a:ext cx="829405" cy="307330"/>
            </a:xfrm>
            <a:prstGeom prst="rect">
              <a:avLst/>
            </a:prstGeom>
          </p:spPr>
        </p:pic>
      </p:grpSp>
      <p:grpSp>
        <p:nvGrpSpPr>
          <p:cNvPr id="6" name="组合 5"/>
          <p:cNvGrpSpPr/>
          <p:nvPr/>
        </p:nvGrpSpPr>
        <p:grpSpPr>
          <a:xfrm>
            <a:off x="3360194" y="387130"/>
            <a:ext cx="1569660" cy="1252259"/>
            <a:chOff x="3360194" y="387130"/>
            <a:chExt cx="1569660" cy="1252259"/>
          </a:xfrm>
        </p:grpSpPr>
        <p:sp>
          <p:nvSpPr>
            <p:cNvPr id="211" name="文本框 210"/>
            <p:cNvSpPr txBox="1"/>
            <p:nvPr/>
          </p:nvSpPr>
          <p:spPr>
            <a:xfrm>
              <a:off x="3360194" y="387130"/>
              <a:ext cx="1569660"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误取指令作废</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214" name="图片 2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8331240">
              <a:off x="3338249" y="1071022"/>
              <a:ext cx="829405" cy="307330"/>
            </a:xfrm>
            <a:prstGeom prst="rect">
              <a:avLst/>
            </a:prstGeom>
          </p:spPr>
        </p:pic>
        <p:pic>
          <p:nvPicPr>
            <p:cNvPr id="215" name="图片 2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216369">
              <a:off x="4052660" y="1066606"/>
              <a:ext cx="829405" cy="307330"/>
            </a:xfrm>
            <a:prstGeom prst="rect">
              <a:avLst/>
            </a:prstGeom>
          </p:spPr>
        </p:pic>
      </p:grpSp>
      <p:sp>
        <p:nvSpPr>
          <p:cNvPr id="216" name="TextBox 24"/>
          <p:cNvSpPr txBox="1"/>
          <p:nvPr/>
        </p:nvSpPr>
        <p:spPr>
          <a:xfrm>
            <a:off x="4264566" y="5880109"/>
            <a:ext cx="4495828" cy="580352"/>
          </a:xfrm>
          <a:prstGeom prst="rect">
            <a:avLst/>
          </a:prstGeom>
          <a:noFill/>
        </p:spPr>
        <p:txBody>
          <a:bodyPr wrap="square" rtlCol="0">
            <a:spAutoFit/>
          </a:bodyPr>
          <a:lstStyle/>
          <a:p>
            <a:pPr marL="457200" marR="0" lvl="1" indent="0" algn="l" defTabSz="914400" rtl="0" eaLnBrk="1" fontAlgn="auto" latinLnBrk="0" hangingPunct="1">
              <a:lnSpc>
                <a:spcPct val="150000"/>
              </a:lnSpc>
              <a:spcBef>
                <a:spcPts val="570"/>
              </a:spcBef>
              <a:spcAft>
                <a:spcPts val="570"/>
              </a:spcAft>
              <a:buClr>
                <a:srgbClr val="FFC000"/>
              </a:buClr>
              <a:buSzTx/>
              <a:buFontTx/>
              <a:buNone/>
              <a:defRPr/>
            </a:pPr>
            <a:r>
              <a:rPr lang="zh-CN" altLang="en-US" sz="24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如何清除误取指令？</a:t>
            </a:r>
            <a:endParaRPr kumimoji="0" lang="en-US" altLang="zh-CN" sz="2400" b="1"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endParaRPr>
          </a:p>
        </p:txBody>
      </p:sp>
      <p:cxnSp>
        <p:nvCxnSpPr>
          <p:cNvPr id="218" name="直接箭头连接符 217"/>
          <p:cNvCxnSpPr/>
          <p:nvPr/>
        </p:nvCxnSpPr>
        <p:spPr>
          <a:xfrm>
            <a:off x="1697258" y="1890283"/>
            <a:ext cx="5627830" cy="0"/>
          </a:xfrm>
          <a:prstGeom prst="straightConnector1">
            <a:avLst/>
          </a:prstGeom>
          <a:noFill/>
          <a:ln w="57150" cap="sq" cmpd="sng" algn="ctr">
            <a:solidFill>
              <a:srgbClr val="7030A0"/>
            </a:solidFill>
            <a:prstDash val="solid"/>
            <a:miter lim="800000"/>
            <a:tailEnd type="none"/>
          </a:ln>
          <a:effectLst/>
        </p:spPr>
      </p:cxnSp>
      <p:cxnSp>
        <p:nvCxnSpPr>
          <p:cNvPr id="219" name="直接连接符 218"/>
          <p:cNvCxnSpPr/>
          <p:nvPr/>
        </p:nvCxnSpPr>
        <p:spPr>
          <a:xfrm>
            <a:off x="1697258" y="1905085"/>
            <a:ext cx="0" cy="1684692"/>
          </a:xfrm>
          <a:prstGeom prst="line">
            <a:avLst/>
          </a:prstGeom>
          <a:noFill/>
          <a:ln w="57150" cap="sq" cmpd="sng" algn="ctr">
            <a:solidFill>
              <a:srgbClr val="7030A0"/>
            </a:solidFill>
            <a:prstDash val="solid"/>
            <a:miter lim="800000"/>
            <a:tailEnd type="none"/>
          </a:ln>
          <a:effectLst/>
        </p:spPr>
      </p:cxnSp>
      <p:cxnSp>
        <p:nvCxnSpPr>
          <p:cNvPr id="220" name="直接箭头连接符 219"/>
          <p:cNvCxnSpPr/>
          <p:nvPr/>
        </p:nvCxnSpPr>
        <p:spPr>
          <a:xfrm>
            <a:off x="1697258" y="3589777"/>
            <a:ext cx="207722" cy="0"/>
          </a:xfrm>
          <a:prstGeom prst="straightConnector1">
            <a:avLst/>
          </a:prstGeom>
          <a:noFill/>
          <a:ln w="57150" cap="sq" cmpd="sng" algn="ctr">
            <a:solidFill>
              <a:srgbClr val="7030A0"/>
            </a:solidFill>
            <a:prstDash val="solid"/>
            <a:miter lim="800000"/>
            <a:tailEnd type="none"/>
          </a:ln>
          <a:effectLst/>
        </p:spPr>
      </p:cxnSp>
      <p:cxnSp>
        <p:nvCxnSpPr>
          <p:cNvPr id="221" name="直接连接符 220"/>
          <p:cNvCxnSpPr/>
          <p:nvPr/>
        </p:nvCxnSpPr>
        <p:spPr>
          <a:xfrm>
            <a:off x="7345136" y="1890283"/>
            <a:ext cx="0" cy="985955"/>
          </a:xfrm>
          <a:prstGeom prst="line">
            <a:avLst/>
          </a:prstGeom>
          <a:noFill/>
          <a:ln w="57150" cap="sq" cmpd="sng" algn="ctr">
            <a:solidFill>
              <a:srgbClr val="7030A0"/>
            </a:solidFill>
            <a:prstDash val="solid"/>
            <a:miter lim="800000"/>
            <a:tailEnd type="none"/>
          </a:ln>
          <a:effectLst/>
        </p:spPr>
      </p:cxnSp>
      <p:cxnSp>
        <p:nvCxnSpPr>
          <p:cNvPr id="222" name="直接箭头连接符 221"/>
          <p:cNvCxnSpPr/>
          <p:nvPr/>
        </p:nvCxnSpPr>
        <p:spPr>
          <a:xfrm>
            <a:off x="7049670" y="2876238"/>
            <a:ext cx="276391" cy="0"/>
          </a:xfrm>
          <a:prstGeom prst="straightConnector1">
            <a:avLst/>
          </a:prstGeom>
          <a:noFill/>
          <a:ln w="57150" cap="sq" cmpd="sng" algn="ctr">
            <a:solidFill>
              <a:srgbClr val="7030A0"/>
            </a:solidFill>
            <a:prstDash val="solid"/>
            <a:miter lim="800000"/>
            <a:tailEnd type="none"/>
          </a:ln>
          <a:effectLst/>
        </p:spPr>
      </p:cxnSp>
      <p:sp>
        <p:nvSpPr>
          <p:cNvPr id="217" name="文本框 216"/>
          <p:cNvSpPr txBox="1"/>
          <p:nvPr/>
        </p:nvSpPr>
        <p:spPr>
          <a:xfrm>
            <a:off x="1825443" y="2162388"/>
            <a:ext cx="969816" cy="276999"/>
          </a:xfrm>
          <a:prstGeom prst="rect">
            <a:avLst/>
          </a:prstGeom>
          <a:noFill/>
        </p:spPr>
        <p:txBody>
          <a:bodyPr wrap="none" rtlCol="0">
            <a:spAutoFit/>
          </a:bodyPr>
          <a:lstStyle/>
          <a:p>
            <a:pPr algn="ctr"/>
            <a:r>
              <a:rPr lang="en-US" altLang="zh-CN" sz="1200" b="1" dirty="0" err="1">
                <a:solidFill>
                  <a:srgbClr val="00B0F0"/>
                </a:solidFill>
                <a:latin typeface="微软雅黑" panose="020B0503020204020204" pitchFamily="34" charset="-122"/>
                <a:ea typeface="微软雅黑" panose="020B0503020204020204" pitchFamily="34" charset="-122"/>
              </a:rPr>
              <a:t>EX.Branch</a:t>
            </a:r>
            <a:endParaRPr lang="en-US" altLang="zh-CN" sz="1200" b="1" dirty="0">
              <a:solidFill>
                <a:srgbClr val="00B0F0"/>
              </a:solidFill>
              <a:latin typeface="微软雅黑" panose="020B0503020204020204" pitchFamily="34" charset="-122"/>
              <a:ea typeface="微软雅黑" panose="020B0503020204020204" pitchFamily="34" charset="-122"/>
            </a:endParaRPr>
          </a:p>
        </p:txBody>
      </p:sp>
      <p:sp>
        <p:nvSpPr>
          <p:cNvPr id="209" name="圆角矩形 208"/>
          <p:cNvSpPr/>
          <p:nvPr/>
        </p:nvSpPr>
        <p:spPr>
          <a:xfrm>
            <a:off x="1904981" y="2162389"/>
            <a:ext cx="861902" cy="27099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30974"/>
    </mc:Choice>
    <mc:Fallback>
      <p:transition spd="slow" advTm="1309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2"/>
                                        </p:tgtEl>
                                        <p:attrNameLst>
                                          <p:attrName>style.visibility</p:attrName>
                                        </p:attrNameLst>
                                      </p:cBhvr>
                                      <p:to>
                                        <p:strVal val="visible"/>
                                      </p:to>
                                    </p:set>
                                    <p:animEffect transition="in" filter="wipe(left)">
                                      <p:cBhvr>
                                        <p:cTn id="17" dur="500"/>
                                        <p:tgtEl>
                                          <p:spTgt spid="222"/>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221"/>
                                        </p:tgtEl>
                                        <p:attrNameLst>
                                          <p:attrName>style.visibility</p:attrName>
                                        </p:attrNameLst>
                                      </p:cBhvr>
                                      <p:to>
                                        <p:strVal val="visible"/>
                                      </p:to>
                                    </p:set>
                                    <p:animEffect transition="in" filter="wipe(down)">
                                      <p:cBhvr>
                                        <p:cTn id="21" dur="500"/>
                                        <p:tgtEl>
                                          <p:spTgt spid="221"/>
                                        </p:tgtEl>
                                      </p:cBhvr>
                                    </p:animEffect>
                                  </p:childTnLst>
                                </p:cTn>
                              </p:par>
                            </p:childTnLst>
                          </p:cTn>
                        </p:par>
                        <p:par>
                          <p:cTn id="22" fill="hold">
                            <p:stCondLst>
                              <p:cond delay="1000"/>
                            </p:stCondLst>
                            <p:childTnLst>
                              <p:par>
                                <p:cTn id="23" presetID="22" presetClass="entr" presetSubtype="2" fill="hold" nodeType="afterEffect">
                                  <p:stCondLst>
                                    <p:cond delay="0"/>
                                  </p:stCondLst>
                                  <p:childTnLst>
                                    <p:set>
                                      <p:cBhvr>
                                        <p:cTn id="24" dur="1" fill="hold">
                                          <p:stCondLst>
                                            <p:cond delay="0"/>
                                          </p:stCondLst>
                                        </p:cTn>
                                        <p:tgtEl>
                                          <p:spTgt spid="218"/>
                                        </p:tgtEl>
                                        <p:attrNameLst>
                                          <p:attrName>style.visibility</p:attrName>
                                        </p:attrNameLst>
                                      </p:cBhvr>
                                      <p:to>
                                        <p:strVal val="visible"/>
                                      </p:to>
                                    </p:set>
                                    <p:animEffect transition="in" filter="wipe(right)">
                                      <p:cBhvr>
                                        <p:cTn id="25" dur="500"/>
                                        <p:tgtEl>
                                          <p:spTgt spid="218"/>
                                        </p:tgtEl>
                                      </p:cBhvr>
                                    </p:animEffect>
                                  </p:childTnLst>
                                </p:cTn>
                              </p:par>
                            </p:childTnLst>
                          </p:cTn>
                        </p:par>
                        <p:par>
                          <p:cTn id="26" fill="hold">
                            <p:stCondLst>
                              <p:cond delay="1500"/>
                            </p:stCondLst>
                            <p:childTnLst>
                              <p:par>
                                <p:cTn id="27" presetID="22" presetClass="entr" presetSubtype="1" fill="hold" nodeType="afterEffect">
                                  <p:stCondLst>
                                    <p:cond delay="0"/>
                                  </p:stCondLst>
                                  <p:childTnLst>
                                    <p:set>
                                      <p:cBhvr>
                                        <p:cTn id="28" dur="1" fill="hold">
                                          <p:stCondLst>
                                            <p:cond delay="0"/>
                                          </p:stCondLst>
                                        </p:cTn>
                                        <p:tgtEl>
                                          <p:spTgt spid="219"/>
                                        </p:tgtEl>
                                        <p:attrNameLst>
                                          <p:attrName>style.visibility</p:attrName>
                                        </p:attrNameLst>
                                      </p:cBhvr>
                                      <p:to>
                                        <p:strVal val="visible"/>
                                      </p:to>
                                    </p:set>
                                    <p:animEffect transition="in" filter="wipe(up)">
                                      <p:cBhvr>
                                        <p:cTn id="29" dur="500"/>
                                        <p:tgtEl>
                                          <p:spTgt spid="219"/>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220"/>
                                        </p:tgtEl>
                                        <p:attrNameLst>
                                          <p:attrName>style.visibility</p:attrName>
                                        </p:attrNameLst>
                                      </p:cBhvr>
                                      <p:to>
                                        <p:strVal val="visible"/>
                                      </p:to>
                                    </p:set>
                                    <p:animEffect transition="in" filter="wipe(left)">
                                      <p:cBhvr>
                                        <p:cTn id="33" dur="500"/>
                                        <p:tgtEl>
                                          <p:spTgt spid="220"/>
                                        </p:tgtEl>
                                      </p:cBhvr>
                                    </p:animEffect>
                                  </p:childTnLst>
                                </p:cTn>
                              </p:par>
                            </p:childTnLst>
                          </p:cTn>
                        </p:par>
                        <p:par>
                          <p:cTn id="34" fill="hold">
                            <p:stCondLst>
                              <p:cond delay="2500"/>
                            </p:stCondLst>
                            <p:childTnLst>
                              <p:par>
                                <p:cTn id="35" presetID="22" presetClass="entr" presetSubtype="4"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repeatCount="2000" fill="hold" grpId="0" nodeType="clickEffect">
                                  <p:stCondLst>
                                    <p:cond delay="0"/>
                                  </p:stCondLst>
                                  <p:childTnLst>
                                    <p:set>
                                      <p:cBhvr>
                                        <p:cTn id="41" dur="1" fill="hold">
                                          <p:stCondLst>
                                            <p:cond delay="0"/>
                                          </p:stCondLst>
                                        </p:cTn>
                                        <p:tgtEl>
                                          <p:spTgt spid="209"/>
                                        </p:tgtEl>
                                        <p:attrNameLst>
                                          <p:attrName>style.visibility</p:attrName>
                                        </p:attrNameLst>
                                      </p:cBhvr>
                                      <p:to>
                                        <p:strVal val="visible"/>
                                      </p:to>
                                    </p:set>
                                    <p:animEffect transition="in" filter="wipe(left)">
                                      <p:cBhvr>
                                        <p:cTn id="42" dur="500"/>
                                        <p:tgtEl>
                                          <p:spTgt spid="20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6"/>
                                        </p:tgtEl>
                                        <p:attrNameLst>
                                          <p:attrName>style.visibility</p:attrName>
                                        </p:attrNameLst>
                                      </p:cBhvr>
                                      <p:to>
                                        <p:strVal val="visible"/>
                                      </p:to>
                                    </p:set>
                                    <p:animEffect transition="in" filter="wipe(left)">
                                      <p:cBhvr>
                                        <p:cTn id="47"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p:bldP spid="209"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插入气泡</a:t>
            </a:r>
            <a:endParaRPr lang="zh-CN" altLang="en-US" dirty="0"/>
          </a:p>
        </p:txBody>
      </p:sp>
      <p:grpSp>
        <p:nvGrpSpPr>
          <p:cNvPr id="915" name="组合 914"/>
          <p:cNvGrpSpPr/>
          <p:nvPr/>
        </p:nvGrpSpPr>
        <p:grpSpPr>
          <a:xfrm>
            <a:off x="1703513" y="1421605"/>
            <a:ext cx="8670731" cy="4354764"/>
            <a:chOff x="1295132" y="1403838"/>
            <a:chExt cx="9333476" cy="4687619"/>
          </a:xfrm>
        </p:grpSpPr>
        <p:cxnSp>
          <p:nvCxnSpPr>
            <p:cNvPr id="733" name="直接连接符 73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734" name="直接连接符 73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916051" y="4903028"/>
              <a:ext cx="372218" cy="326012"/>
              <a:chOff x="1972553" y="3227818"/>
              <a:chExt cx="372218" cy="326012"/>
            </a:xfrm>
          </p:grpSpPr>
          <p:cxnSp>
            <p:nvCxnSpPr>
              <p:cNvPr id="736" name="直接连接符 735"/>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38" name="组合 737"/>
            <p:cNvGrpSpPr/>
            <p:nvPr/>
          </p:nvGrpSpPr>
          <p:grpSpPr>
            <a:xfrm>
              <a:off x="4473604" y="4590944"/>
              <a:ext cx="372218" cy="326012"/>
              <a:chOff x="1972553" y="3227818"/>
              <a:chExt cx="372218" cy="326012"/>
            </a:xfrm>
          </p:grpSpPr>
          <p:cxnSp>
            <p:nvCxnSpPr>
              <p:cNvPr id="739" name="直接连接符 73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41" name="组合 740"/>
            <p:cNvGrpSpPr/>
            <p:nvPr/>
          </p:nvGrpSpPr>
          <p:grpSpPr>
            <a:xfrm>
              <a:off x="3724772" y="5635648"/>
              <a:ext cx="374784" cy="455809"/>
              <a:chOff x="1972644" y="3154126"/>
              <a:chExt cx="374784" cy="369765"/>
            </a:xfrm>
          </p:grpSpPr>
          <p:sp>
            <p:nvSpPr>
              <p:cNvPr id="742" name="文本框 741"/>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743" name="直接连接符 742"/>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744" name="组合 743"/>
            <p:cNvGrpSpPr/>
            <p:nvPr/>
          </p:nvGrpSpPr>
          <p:grpSpPr>
            <a:xfrm>
              <a:off x="3663412" y="2051134"/>
              <a:ext cx="519694" cy="3587666"/>
              <a:chOff x="853537" y="1717759"/>
              <a:chExt cx="519694" cy="3587666"/>
            </a:xfrm>
          </p:grpSpPr>
          <p:sp>
            <p:nvSpPr>
              <p:cNvPr id="745" name="矩形 74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6" name="等腰三角形 74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7" name="文本框 746"/>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748" name="组合 747"/>
            <p:cNvGrpSpPr/>
            <p:nvPr/>
          </p:nvGrpSpPr>
          <p:grpSpPr>
            <a:xfrm>
              <a:off x="5613400" y="2051134"/>
              <a:ext cx="553357" cy="3587666"/>
              <a:chOff x="853537" y="1717759"/>
              <a:chExt cx="553357" cy="3587666"/>
            </a:xfrm>
          </p:grpSpPr>
          <p:sp>
            <p:nvSpPr>
              <p:cNvPr id="749" name="矩形 74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0" name="等腰三角形 74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1" name="文本框 750"/>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752" name="直接箭头连接符 751"/>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754" name="直接箭头连接符 753"/>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756" name="直接箭头连接符 755"/>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757" name="直接箭头连接符 756"/>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758" name="组合 757"/>
            <p:cNvGrpSpPr/>
            <p:nvPr/>
          </p:nvGrpSpPr>
          <p:grpSpPr>
            <a:xfrm>
              <a:off x="6858046" y="3688641"/>
              <a:ext cx="600168" cy="821738"/>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0" name="文本框 759"/>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761" name="文本框 760"/>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762" name="文本框 761"/>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763" name="直接箭头连接符 762"/>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640453" y="2638710"/>
              <a:ext cx="423099" cy="631031"/>
              <a:chOff x="6528478" y="2016658"/>
              <a:chExt cx="523165"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7" name="文本框 766"/>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768" name="组合 767"/>
            <p:cNvGrpSpPr/>
            <p:nvPr/>
          </p:nvGrpSpPr>
          <p:grpSpPr>
            <a:xfrm>
              <a:off x="2890754" y="2429115"/>
              <a:ext cx="402029" cy="635794"/>
              <a:chOff x="2890754" y="1790940"/>
              <a:chExt cx="402029"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0" name="文本框 7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771" name="组合 770"/>
            <p:cNvGrpSpPr/>
            <p:nvPr/>
          </p:nvGrpSpPr>
          <p:grpSpPr>
            <a:xfrm>
              <a:off x="4388641" y="3613558"/>
              <a:ext cx="1130990" cy="1018157"/>
              <a:chOff x="2221721" y="4481511"/>
              <a:chExt cx="1122391"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3" name="文本框 772"/>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4" name="文本框 773"/>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775" name="文本框 774"/>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6" name="文本框 775"/>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7" name="文本框 776"/>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8" name="文本框 777"/>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9" name="文本框 778"/>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780" name="组合 779"/>
            <p:cNvGrpSpPr/>
            <p:nvPr/>
          </p:nvGrpSpPr>
          <p:grpSpPr>
            <a:xfrm>
              <a:off x="6352687" y="4150401"/>
              <a:ext cx="383097" cy="504955"/>
              <a:chOff x="1245770" y="3824904"/>
              <a:chExt cx="383097"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82" name="文本框 781"/>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3" name="文本框 782"/>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4" name="文本框 78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785" name="直接箭头连接符 784"/>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790" name="直接箭头连接符 789"/>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799" name="直接箭头连接符 798"/>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800" name="直接箭头连接符 799"/>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801" name="直接箭头连接符 800"/>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802" name="直接连接符 801"/>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803" name="直接箭头连接符 802"/>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804" name="直接箭头连接符 803"/>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805" name="直接箭头连接符 804"/>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807" name="直接箭头连接符 806"/>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810" name="直接连接符 809"/>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814" name="直接箭头连接符 813"/>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815" name="直接箭头连接符 814"/>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816" name="直接箭头连接符 815"/>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817" name="直接连接符 816"/>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818" name="直接连接符 817"/>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819" name="直接箭头连接符 818"/>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820" name="直接箭头连接符 819"/>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1" name="直接箭头连接符 820"/>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822" name="直接连接符 821"/>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823" name="直接连接符 822"/>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824" name="直接箭头连接符 823"/>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5" name="直接箭头连接符 824"/>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6" name="直接箭头连接符 825"/>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829" name="直接箭头连接符 828"/>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020933" y="4821240"/>
              <a:ext cx="397817" cy="634576"/>
              <a:chOff x="3762650" y="5685260"/>
              <a:chExt cx="39781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32" name="文本框 831"/>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833" name="直接连接符 832"/>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1475201" y="3357562"/>
              <a:ext cx="383097" cy="504955"/>
              <a:chOff x="1245770" y="3824904"/>
              <a:chExt cx="383097"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0" name="文本框 839"/>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1" name="文本框 840"/>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2" name="文本框 841"/>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843" name="组合 842"/>
            <p:cNvGrpSpPr/>
            <p:nvPr/>
          </p:nvGrpSpPr>
          <p:grpSpPr>
            <a:xfrm>
              <a:off x="2607791" y="3493263"/>
              <a:ext cx="995174" cy="899129"/>
              <a:chOff x="2233099" y="4481511"/>
              <a:chExt cx="1105193"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5" name="文本框 844"/>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846" name="文本框 845"/>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47" name="文本框 846"/>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848" name="文本框 847"/>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49" name="组合 848"/>
            <p:cNvGrpSpPr/>
            <p:nvPr/>
          </p:nvGrpSpPr>
          <p:grpSpPr>
            <a:xfrm>
              <a:off x="1980407" y="3384882"/>
              <a:ext cx="345451" cy="491789"/>
              <a:chOff x="5454427" y="2426371"/>
              <a:chExt cx="955568"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1" name="文本框 850"/>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852" name="直接箭头连接符 851"/>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853" name="组合 852"/>
            <p:cNvGrpSpPr/>
            <p:nvPr/>
          </p:nvGrpSpPr>
          <p:grpSpPr>
            <a:xfrm>
              <a:off x="7418442" y="2051133"/>
              <a:ext cx="745717" cy="3587667"/>
              <a:chOff x="722989" y="1717758"/>
              <a:chExt cx="745717" cy="3587667"/>
            </a:xfrm>
          </p:grpSpPr>
          <p:sp>
            <p:nvSpPr>
              <p:cNvPr id="854" name="矩形 85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5" name="等腰三角形 85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6" name="文本框 855"/>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857" name="组合 856"/>
            <p:cNvGrpSpPr/>
            <p:nvPr/>
          </p:nvGrpSpPr>
          <p:grpSpPr>
            <a:xfrm>
              <a:off x="9375782" y="2044866"/>
              <a:ext cx="808235" cy="3593934"/>
              <a:chOff x="754534" y="1711491"/>
              <a:chExt cx="808235" cy="3593934"/>
            </a:xfrm>
          </p:grpSpPr>
          <p:sp>
            <p:nvSpPr>
              <p:cNvPr id="858" name="矩形 85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9" name="等腰三角形 85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0" name="文本框 859"/>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861" name="直接箭头连接符 86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034884" y="2898284"/>
              <a:ext cx="389850" cy="481540"/>
              <a:chOff x="3717347" y="5685260"/>
              <a:chExt cx="389850"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64" name="文本框 863"/>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865" name="组合 864"/>
            <p:cNvGrpSpPr/>
            <p:nvPr/>
          </p:nvGrpSpPr>
          <p:grpSpPr>
            <a:xfrm>
              <a:off x="8324766" y="4061731"/>
              <a:ext cx="957089" cy="896271"/>
              <a:chOff x="2233099" y="4480021"/>
              <a:chExt cx="1063423"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7" name="文本框 866"/>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68" name="文本框 867"/>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69" name="文本框 868"/>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70" name="文本框 869"/>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871" name="直接箭头连接符 870"/>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872" name="等腰三角形 871"/>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73" name="文本框 872"/>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4" name="文本框 873"/>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5" name="等腰三角形 874"/>
            <p:cNvSpPr/>
            <p:nvPr/>
          </p:nvSpPr>
          <p:spPr>
            <a:xfrm>
              <a:off x="4578518" y="4532426"/>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76" name="直接连接符 875"/>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9" name="文本框 878"/>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80" name="组合 879"/>
            <p:cNvGrpSpPr/>
            <p:nvPr/>
          </p:nvGrpSpPr>
          <p:grpSpPr>
            <a:xfrm>
              <a:off x="1972553" y="3865993"/>
              <a:ext cx="372218" cy="326012"/>
              <a:chOff x="1972553" y="3227818"/>
              <a:chExt cx="372218" cy="326012"/>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3" name="组合 882"/>
            <p:cNvGrpSpPr/>
            <p:nvPr/>
          </p:nvGrpSpPr>
          <p:grpSpPr>
            <a:xfrm>
              <a:off x="5683963" y="5635648"/>
              <a:ext cx="374784" cy="455809"/>
              <a:chOff x="1972644" y="3154126"/>
              <a:chExt cx="374784" cy="369765"/>
            </a:xfrm>
          </p:grpSpPr>
          <p:cxnSp>
            <p:nvCxnSpPr>
              <p:cNvPr id="884" name="直接连接符 8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5" name="文本框 88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6" name="组合 885"/>
            <p:cNvGrpSpPr/>
            <p:nvPr/>
          </p:nvGrpSpPr>
          <p:grpSpPr>
            <a:xfrm>
              <a:off x="7620570" y="5635648"/>
              <a:ext cx="374784" cy="455809"/>
              <a:chOff x="1972644" y="3154126"/>
              <a:chExt cx="374784" cy="369765"/>
            </a:xfrm>
          </p:grpSpPr>
          <p:cxnSp>
            <p:nvCxnSpPr>
              <p:cNvPr id="887" name="直接连接符 886"/>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8" name="文本框 887"/>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9" name="组合 888"/>
            <p:cNvGrpSpPr/>
            <p:nvPr/>
          </p:nvGrpSpPr>
          <p:grpSpPr>
            <a:xfrm>
              <a:off x="9547500" y="5635648"/>
              <a:ext cx="374784" cy="455809"/>
              <a:chOff x="1972644" y="3154126"/>
              <a:chExt cx="374784" cy="369765"/>
            </a:xfrm>
          </p:grpSpPr>
          <p:cxnSp>
            <p:nvCxnSpPr>
              <p:cNvPr id="890" name="直接连接符 88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91" name="文本框 890"/>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892" name="直接箭头连接符 891"/>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893" name="等腰三角形 892"/>
            <p:cNvSpPr/>
            <p:nvPr/>
          </p:nvSpPr>
          <p:spPr>
            <a:xfrm>
              <a:off x="9028189" y="4871500"/>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94" name="直接箭头连接符 893"/>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895" name="直接箭头连接符 894"/>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896" name="直接箭头连接符 895"/>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902" name="文本框 90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903" name="直接连接符 90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10102638" y="4039232"/>
              <a:ext cx="383097" cy="504955"/>
              <a:chOff x="1245770" y="3824904"/>
              <a:chExt cx="383097"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906" name="文本框 905"/>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7" name="文本框 906"/>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8" name="文本框 907"/>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909" name="文本框 908"/>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1" name="文本框 910"/>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2" name="文本框 911"/>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3" name="文本框 912"/>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4" name="文本框 913"/>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4527800" y="1996558"/>
            <a:ext cx="2854068" cy="291291"/>
            <a:chOff x="4527800" y="1996558"/>
            <a:chExt cx="2854068" cy="291291"/>
          </a:xfrm>
        </p:grpSpPr>
        <p:sp>
          <p:nvSpPr>
            <p:cNvPr id="194" name="文本框 193"/>
            <p:cNvSpPr txBox="1"/>
            <p:nvPr/>
          </p:nvSpPr>
          <p:spPr>
            <a:xfrm>
              <a:off x="4527800" y="1996558"/>
              <a:ext cx="1107997" cy="276999"/>
            </a:xfrm>
            <a:prstGeom prst="rect">
              <a:avLst/>
            </a:prstGeom>
            <a:noFill/>
          </p:spPr>
          <p:txBody>
            <a:bodyPr wrap="none" rtlCol="0">
              <a:spAutoFit/>
            </a:bodyPr>
            <a:lstStyle/>
            <a:p>
              <a:pPr algn="ctr"/>
              <a:r>
                <a:rPr lang="zh-CN" altLang="en-US" sz="1200" b="1" dirty="0">
                  <a:solidFill>
                    <a:srgbClr val="FF3300"/>
                  </a:solidFill>
                  <a:latin typeface="微软雅黑" panose="020B0503020204020204" pitchFamily="34" charset="-122"/>
                  <a:ea typeface="微软雅黑" panose="020B0503020204020204" pitchFamily="34" charset="-122"/>
                </a:rPr>
                <a:t>清空误取指令</a:t>
              </a:r>
              <a:endParaRPr lang="en-US" altLang="zh-CN" sz="1200" b="1" dirty="0">
                <a:solidFill>
                  <a:srgbClr val="FF3300"/>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6273872" y="2010850"/>
              <a:ext cx="1107996" cy="276999"/>
            </a:xfrm>
            <a:prstGeom prst="rect">
              <a:avLst/>
            </a:prstGeom>
            <a:noFill/>
          </p:spPr>
          <p:txBody>
            <a:bodyPr wrap="none" rtlCol="0">
              <a:spAutoFit/>
            </a:bodyPr>
            <a:lstStyle/>
            <a:p>
              <a:pPr algn="ctr"/>
              <a:r>
                <a:rPr lang="zh-CN" altLang="en-US" sz="1200" b="1" dirty="0">
                  <a:solidFill>
                    <a:srgbClr val="FF3300"/>
                  </a:solidFill>
                  <a:latin typeface="微软雅黑" panose="020B0503020204020204" pitchFamily="34" charset="-122"/>
                  <a:ea typeface="微软雅黑" panose="020B0503020204020204" pitchFamily="34" charset="-122"/>
                </a:rPr>
                <a:t>清空误取指令</a:t>
              </a:r>
              <a:endParaRPr lang="en-US" altLang="zh-CN" sz="1200" b="1" dirty="0">
                <a:solidFill>
                  <a:srgbClr val="FF3300"/>
                </a:solidFill>
                <a:latin typeface="微软雅黑" panose="020B0503020204020204" pitchFamily="34" charset="-122"/>
                <a:ea typeface="微软雅黑" panose="020B0503020204020204" pitchFamily="34" charset="-122"/>
              </a:endParaRPr>
            </a:p>
          </p:txBody>
        </p:sp>
      </p:grpSp>
      <p:sp>
        <p:nvSpPr>
          <p:cNvPr id="208" name="文本框 207"/>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3611655" y="5339594"/>
            <a:ext cx="2080238" cy="838862"/>
            <a:chOff x="3611655" y="5339594"/>
            <a:chExt cx="2080238" cy="830393"/>
          </a:xfrm>
        </p:grpSpPr>
        <p:pic>
          <p:nvPicPr>
            <p:cNvPr id="214" name="图片 2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3350617" y="5600632"/>
              <a:ext cx="829405" cy="307330"/>
            </a:xfrm>
            <a:prstGeom prst="rect">
              <a:avLst/>
            </a:prstGeom>
          </p:spPr>
        </p:pic>
        <p:pic>
          <p:nvPicPr>
            <p:cNvPr id="216" name="图片 2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5123525" y="5601620"/>
              <a:ext cx="829405" cy="307330"/>
            </a:xfrm>
            <a:prstGeom prst="rect">
              <a:avLst/>
            </a:prstGeom>
          </p:spPr>
        </p:pic>
      </p:grpSp>
      <p:sp>
        <p:nvSpPr>
          <p:cNvPr id="213" name="文本框 212"/>
          <p:cNvSpPr txBox="1"/>
          <p:nvPr/>
        </p:nvSpPr>
        <p:spPr>
          <a:xfrm>
            <a:off x="2856865" y="6103620"/>
            <a:ext cx="3101975" cy="460375"/>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插入气泡（同步清零</a:t>
            </a:r>
            <a:r>
              <a:rPr lang="zh-CN" altLang="en-US" sz="2400" b="1" dirty="0">
                <a:solidFill>
                  <a:srgbClr val="FF0000"/>
                </a:solidFill>
                <a:latin typeface="微软雅黑" panose="020B0503020204020204" pitchFamily="34" charset="-122"/>
                <a:ea typeface="微软雅黑" panose="020B0503020204020204" pitchFamily="34" charset="-122"/>
              </a:rPr>
              <a:t>）</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grpSp>
        <p:nvGrpSpPr>
          <p:cNvPr id="218" name="组合 217"/>
          <p:cNvGrpSpPr/>
          <p:nvPr/>
        </p:nvGrpSpPr>
        <p:grpSpPr>
          <a:xfrm>
            <a:off x="6172030" y="5846637"/>
            <a:ext cx="5723890" cy="645160"/>
            <a:chOff x="2534093" y="5706073"/>
            <a:chExt cx="5895898" cy="645160"/>
          </a:xfrm>
        </p:grpSpPr>
        <p:sp>
          <p:nvSpPr>
            <p:cNvPr id="219" name="矩形 218"/>
            <p:cNvSpPr/>
            <p:nvPr/>
          </p:nvSpPr>
          <p:spPr>
            <a:xfrm>
              <a:off x="3087859" y="5731541"/>
              <a:ext cx="5286593" cy="61942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0" name="TextBox 24"/>
            <p:cNvSpPr txBox="1"/>
            <p:nvPr/>
          </p:nvSpPr>
          <p:spPr>
            <a:xfrm>
              <a:off x="2534093" y="5706073"/>
              <a:ext cx="5895898" cy="645160"/>
            </a:xfrm>
            <a:prstGeom prst="rect">
              <a:avLst/>
            </a:prstGeom>
            <a:noFill/>
          </p:spPr>
          <p:txBody>
            <a:bodyPr wrap="square" rtlCol="0">
              <a:spAutoFit/>
            </a:bodyPr>
            <a:lstStyle/>
            <a:p>
              <a:pPr marL="457200" marR="0" lvl="1" indent="0" algn="l" defTabSz="914400" rtl="0" eaLnBrk="1" fontAlgn="auto" latinLnBrk="0" hangingPunct="1">
                <a:lnSpc>
                  <a:spcPct val="150000"/>
                </a:lnSpc>
                <a:spcBef>
                  <a:spcPts val="570"/>
                </a:spcBef>
                <a:spcAft>
                  <a:spcPts val="570"/>
                </a:spcAft>
                <a:buClr>
                  <a:srgbClr val="FFC000"/>
                </a:buClr>
                <a:buSzTx/>
                <a:buFontTx/>
                <a:buNone/>
                <a:defRPr/>
              </a:pPr>
              <a:r>
                <a:rPr lang="zh-CN" altLang="en-US" sz="2400"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气泡：流水接口清零</a:t>
              </a:r>
              <a:r>
                <a:rPr lang="zh-CN" sz="2400" dirty="0">
                  <a:solidFill>
                    <a:prstClr val="black"/>
                  </a:solidFill>
                  <a:latin typeface="Segoe UI Black" panose="020B0A02040204020203" pitchFamily="34" charset="0"/>
                  <a:ea typeface="宋体" panose="02010600030101010101" pitchFamily="2" charset="-122"/>
                  <a:cs typeface="Segoe UI Black" panose="020B0A02040204020203" pitchFamily="34" charset="0"/>
                  <a:sym typeface="Arial" panose="020B0604020202020204" pitchFamily="34" charset="0"/>
                </a:rPr>
                <a:t>，为什么要</a:t>
              </a:r>
              <a:r>
                <a:rPr lang="zh-CN" sz="2400" dirty="0">
                  <a:solidFill>
                    <a:prstClr val="black"/>
                  </a:solidFill>
                  <a:latin typeface="Segoe UI Black" panose="020B0A02040204020203" pitchFamily="34" charset="0"/>
                  <a:ea typeface="宋体" panose="02010600030101010101" pitchFamily="2" charset="-122"/>
                  <a:cs typeface="Segoe UI Black" panose="020B0A02040204020203" pitchFamily="34" charset="0"/>
                  <a:sym typeface="Arial" panose="020B0604020202020204" pitchFamily="34" charset="0"/>
                </a:rPr>
                <a:t>同步？</a:t>
              </a:r>
              <a:endParaRPr lang="zh-CN" sz="2400" dirty="0">
                <a:solidFill>
                  <a:prstClr val="black"/>
                </a:solidFill>
                <a:latin typeface="Segoe UI Black" panose="020B0A02040204020203" pitchFamily="34" charset="0"/>
                <a:ea typeface="宋体" panose="02010600030101010101" pitchFamily="2" charset="-122"/>
                <a:cs typeface="Segoe UI Black" panose="020B0A02040204020203" pitchFamily="34" charset="0"/>
                <a:sym typeface="Arial" panose="020B0604020202020204" pitchFamily="34" charset="0"/>
              </a:endParaRPr>
            </a:p>
          </p:txBody>
        </p:sp>
      </p:grpSp>
      <p:grpSp>
        <p:nvGrpSpPr>
          <p:cNvPr id="11" name="组合 10"/>
          <p:cNvGrpSpPr/>
          <p:nvPr/>
        </p:nvGrpSpPr>
        <p:grpSpPr>
          <a:xfrm>
            <a:off x="2692705" y="1182874"/>
            <a:ext cx="8064978" cy="307777"/>
            <a:chOff x="2692705" y="1182874"/>
            <a:chExt cx="8064978" cy="307777"/>
          </a:xfrm>
        </p:grpSpPr>
        <p:sp>
          <p:nvSpPr>
            <p:cNvPr id="215" name="文本框 214"/>
            <p:cNvSpPr txBox="1"/>
            <p:nvPr/>
          </p:nvSpPr>
          <p:spPr>
            <a:xfrm>
              <a:off x="4705383" y="1182874"/>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21" name="文本框 220"/>
            <p:cNvSpPr txBox="1"/>
            <p:nvPr/>
          </p:nvSpPr>
          <p:spPr>
            <a:xfrm>
              <a:off x="6467289" y="1182874"/>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22" name="文本框 221"/>
            <p:cNvSpPr txBox="1"/>
            <p:nvPr/>
          </p:nvSpPr>
          <p:spPr>
            <a:xfrm>
              <a:off x="8184727" y="1182874"/>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23" name="文本框 222"/>
            <p:cNvSpPr txBox="1"/>
            <p:nvPr/>
          </p:nvSpPr>
          <p:spPr>
            <a:xfrm>
              <a:off x="9896550" y="1182874"/>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24" name="文本框 223"/>
            <p:cNvSpPr txBox="1"/>
            <p:nvPr/>
          </p:nvSpPr>
          <p:spPr>
            <a:xfrm>
              <a:off x="2692705" y="1182874"/>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grpSp>
        <p:nvGrpSpPr>
          <p:cNvPr id="225" name="组合 224"/>
          <p:cNvGrpSpPr/>
          <p:nvPr/>
        </p:nvGrpSpPr>
        <p:grpSpPr>
          <a:xfrm>
            <a:off x="7888844" y="1556735"/>
            <a:ext cx="1508366" cy="261610"/>
            <a:chOff x="6098144" y="1569435"/>
            <a:chExt cx="1508366" cy="261610"/>
          </a:xfrm>
        </p:grpSpPr>
        <p:sp>
          <p:nvSpPr>
            <p:cNvPr id="226" name="矩形 225"/>
            <p:cNvSpPr/>
            <p:nvPr/>
          </p:nvSpPr>
          <p:spPr>
            <a:xfrm>
              <a:off x="6098144" y="1594088"/>
              <a:ext cx="1508366" cy="205520"/>
            </a:xfrm>
            <a:prstGeom prst="rect">
              <a:avLst/>
            </a:prstGeom>
            <a:solidFill>
              <a:srgbClr val="FFC000">
                <a:lumMod val="60000"/>
                <a:lumOff val="40000"/>
              </a:srgbClr>
            </a:solidFill>
            <a:ln w="19050" cap="flat" cmpd="sng" algn="ctr">
              <a:solidFill>
                <a:schemeClr val="tx1"/>
              </a:solidFill>
              <a:prstDash val="solid"/>
              <a:miter lim="800000"/>
            </a:ln>
            <a:effectLst/>
          </p:spPr>
          <p:txBody>
            <a:bodyPr rtlCol="0" anchor="ctr"/>
            <a:lstStyle/>
            <a:p>
              <a:pPr algn="ctr"/>
              <a:endParaRPr lang="zh-CN" altLang="en-US" sz="900" kern="0">
                <a:solidFill>
                  <a:srgbClr val="FF0000"/>
                </a:solidFill>
                <a:latin typeface="等线" panose="02010600030101010101" charset="-122"/>
                <a:ea typeface="等线" panose="02010600030101010101" charset="-122"/>
              </a:endParaRPr>
            </a:p>
          </p:txBody>
        </p:sp>
        <p:sp>
          <p:nvSpPr>
            <p:cNvPr id="227" name="文本框 226"/>
            <p:cNvSpPr txBox="1">
              <a:spLocks noChangeArrowheads="1"/>
            </p:cNvSpPr>
            <p:nvPr/>
          </p:nvSpPr>
          <p:spPr bwMode="auto">
            <a:xfrm>
              <a:off x="6266140" y="1569435"/>
              <a:ext cx="11678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FF0000"/>
                  </a:solidFill>
                </a:rPr>
                <a:t>Beq</a:t>
              </a:r>
              <a:r>
                <a:rPr lang="en-US" altLang="zh-CN" sz="1100" b="1" dirty="0">
                  <a:solidFill>
                    <a:srgbClr val="FF0000"/>
                  </a:solidFill>
                </a:rPr>
                <a:t> $0,$0,16</a:t>
              </a:r>
              <a:endParaRPr lang="zh-CN" altLang="en-US" sz="1100" b="1" dirty="0">
                <a:solidFill>
                  <a:srgbClr val="FF0000"/>
                </a:solidFill>
              </a:endParaRPr>
            </a:p>
          </p:txBody>
        </p:sp>
      </p:grpSp>
      <p:grpSp>
        <p:nvGrpSpPr>
          <p:cNvPr id="228" name="组合 227"/>
          <p:cNvGrpSpPr/>
          <p:nvPr/>
        </p:nvGrpSpPr>
        <p:grpSpPr>
          <a:xfrm>
            <a:off x="2465978" y="1549350"/>
            <a:ext cx="1531533" cy="261610"/>
            <a:chOff x="6098144" y="1561868"/>
            <a:chExt cx="1531533" cy="261610"/>
          </a:xfrm>
        </p:grpSpPr>
        <p:sp>
          <p:nvSpPr>
            <p:cNvPr id="229" name="矩形 228"/>
            <p:cNvSpPr/>
            <p:nvPr/>
          </p:nvSpPr>
          <p:spPr>
            <a:xfrm>
              <a:off x="6098144" y="1594088"/>
              <a:ext cx="1508366" cy="205520"/>
            </a:xfrm>
            <a:prstGeom prst="rect">
              <a:avLst/>
            </a:prstGeom>
            <a:solidFill>
              <a:srgbClr val="92D050"/>
            </a:solidFill>
            <a:ln w="19050" cap="flat" cmpd="sng" algn="ctr">
              <a:solidFill>
                <a:schemeClr val="tx1"/>
              </a:solidFill>
              <a:prstDash val="solid"/>
              <a:miter lim="800000"/>
            </a:ln>
            <a:effectLst/>
          </p:spPr>
          <p:txBody>
            <a:bodyPr rtlCol="0" anchor="ctr"/>
            <a:lstStyle/>
            <a:p>
              <a:pPr algn="ctr"/>
              <a:endParaRPr lang="zh-CN" altLang="en-US" sz="900" kern="0">
                <a:solidFill>
                  <a:srgbClr val="FF0000"/>
                </a:solidFill>
                <a:latin typeface="等线" panose="02010600030101010101" charset="-122"/>
                <a:ea typeface="等线" panose="02010600030101010101" charset="-122"/>
              </a:endParaRPr>
            </a:p>
          </p:txBody>
        </p:sp>
        <p:sp>
          <p:nvSpPr>
            <p:cNvPr id="230" name="文本框 229"/>
            <p:cNvSpPr txBox="1">
              <a:spLocks noChangeArrowheads="1"/>
            </p:cNvSpPr>
            <p:nvPr/>
          </p:nvSpPr>
          <p:spPr bwMode="auto">
            <a:xfrm>
              <a:off x="6100497" y="1561868"/>
              <a:ext cx="152918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zh-CN" altLang="en-US" sz="1100" b="1" dirty="0">
                  <a:solidFill>
                    <a:schemeClr val="bg1"/>
                  </a:solidFill>
                </a:rPr>
                <a:t>分支目标地址指令</a:t>
              </a:r>
              <a:endParaRPr lang="zh-CN" altLang="en-US" sz="1100" b="1" dirty="0">
                <a:solidFill>
                  <a:schemeClr val="bg1"/>
                </a:solidFill>
              </a:endParaRPr>
            </a:p>
          </p:txBody>
        </p:sp>
      </p:grpSp>
      <p:grpSp>
        <p:nvGrpSpPr>
          <p:cNvPr id="231" name="组合 230"/>
          <p:cNvGrpSpPr/>
          <p:nvPr/>
        </p:nvGrpSpPr>
        <p:grpSpPr>
          <a:xfrm>
            <a:off x="4305357" y="1532039"/>
            <a:ext cx="3313095" cy="264469"/>
            <a:chOff x="4284843" y="1564451"/>
            <a:chExt cx="3313095" cy="264469"/>
          </a:xfrm>
        </p:grpSpPr>
        <p:sp>
          <p:nvSpPr>
            <p:cNvPr id="232" name="矩形 231"/>
            <p:cNvSpPr/>
            <p:nvPr/>
          </p:nvSpPr>
          <p:spPr>
            <a:xfrm>
              <a:off x="4284843" y="1606758"/>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232"/>
            <p:cNvSpPr/>
            <p:nvPr/>
          </p:nvSpPr>
          <p:spPr>
            <a:xfrm>
              <a:off x="6083372" y="1607425"/>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4" name="文本框 233"/>
            <p:cNvSpPr txBox="1">
              <a:spLocks noChangeArrowheads="1"/>
            </p:cNvSpPr>
            <p:nvPr/>
          </p:nvSpPr>
          <p:spPr bwMode="auto">
            <a:xfrm>
              <a:off x="4820463" y="1567310"/>
              <a:ext cx="4940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en-US" altLang="zh-CN" sz="1100" b="1" dirty="0">
                <a:solidFill>
                  <a:srgbClr val="000000"/>
                </a:solidFill>
              </a:endParaRPr>
            </a:p>
          </p:txBody>
        </p:sp>
        <p:sp>
          <p:nvSpPr>
            <p:cNvPr id="235" name="文本框 234"/>
            <p:cNvSpPr txBox="1">
              <a:spLocks noChangeArrowheads="1"/>
            </p:cNvSpPr>
            <p:nvPr/>
          </p:nvSpPr>
          <p:spPr bwMode="auto">
            <a:xfrm>
              <a:off x="6615743" y="1564451"/>
              <a:ext cx="4940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en-US" altLang="zh-CN" sz="1100" b="1" dirty="0">
                <a:solidFill>
                  <a:srgbClr val="000000"/>
                </a:solidFill>
              </a:endParaRPr>
            </a:p>
          </p:txBody>
        </p:sp>
      </p:grpSp>
      <p:grpSp>
        <p:nvGrpSpPr>
          <p:cNvPr id="236" name="组合 235"/>
          <p:cNvGrpSpPr/>
          <p:nvPr/>
        </p:nvGrpSpPr>
        <p:grpSpPr>
          <a:xfrm>
            <a:off x="1703513" y="1411214"/>
            <a:ext cx="8670731" cy="4365155"/>
            <a:chOff x="1295132" y="1392653"/>
            <a:chExt cx="9333476" cy="4698804"/>
          </a:xfrm>
        </p:grpSpPr>
        <p:cxnSp>
          <p:nvCxnSpPr>
            <p:cNvPr id="237" name="直接连接符 236"/>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38" name="直接连接符 237"/>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39" name="组合 238"/>
            <p:cNvGrpSpPr/>
            <p:nvPr/>
          </p:nvGrpSpPr>
          <p:grpSpPr>
            <a:xfrm>
              <a:off x="8916051" y="4903028"/>
              <a:ext cx="372218" cy="326012"/>
              <a:chOff x="1972553" y="3227818"/>
              <a:chExt cx="372218" cy="326012"/>
            </a:xfrm>
          </p:grpSpPr>
          <p:cxnSp>
            <p:nvCxnSpPr>
              <p:cNvPr id="411" name="直接连接符 41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412" name="文本框 411"/>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40" name="组合 239"/>
            <p:cNvGrpSpPr/>
            <p:nvPr/>
          </p:nvGrpSpPr>
          <p:grpSpPr>
            <a:xfrm>
              <a:off x="4473604" y="4590944"/>
              <a:ext cx="372218" cy="326012"/>
              <a:chOff x="1972553" y="3227818"/>
              <a:chExt cx="372218" cy="326012"/>
            </a:xfrm>
          </p:grpSpPr>
          <p:cxnSp>
            <p:nvCxnSpPr>
              <p:cNvPr id="409" name="直接连接符 40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410" name="文本框 409"/>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41" name="组合 240"/>
            <p:cNvGrpSpPr/>
            <p:nvPr/>
          </p:nvGrpSpPr>
          <p:grpSpPr>
            <a:xfrm>
              <a:off x="3724772" y="5635648"/>
              <a:ext cx="374784" cy="455809"/>
              <a:chOff x="1972644" y="3154126"/>
              <a:chExt cx="374784" cy="369765"/>
            </a:xfrm>
          </p:grpSpPr>
          <p:sp>
            <p:nvSpPr>
              <p:cNvPr id="407" name="文本框 40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408" name="直接连接符 40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42" name="组合 241"/>
            <p:cNvGrpSpPr/>
            <p:nvPr/>
          </p:nvGrpSpPr>
          <p:grpSpPr>
            <a:xfrm>
              <a:off x="3663412" y="2051134"/>
              <a:ext cx="519694" cy="3587666"/>
              <a:chOff x="853537" y="1717759"/>
              <a:chExt cx="519694" cy="3587666"/>
            </a:xfrm>
          </p:grpSpPr>
          <p:sp>
            <p:nvSpPr>
              <p:cNvPr id="404" name="矩形 40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405" name="等腰三角形 40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406" name="文本框 405"/>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43" name="组合 242"/>
            <p:cNvGrpSpPr/>
            <p:nvPr/>
          </p:nvGrpSpPr>
          <p:grpSpPr>
            <a:xfrm>
              <a:off x="5613400" y="2051134"/>
              <a:ext cx="553357" cy="3587666"/>
              <a:chOff x="853537" y="1717759"/>
              <a:chExt cx="553357" cy="3587666"/>
            </a:xfrm>
          </p:grpSpPr>
          <p:sp>
            <p:nvSpPr>
              <p:cNvPr id="401" name="矩形 400"/>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402" name="等腰三角形 401"/>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403" name="文本框 402"/>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44" name="直接箭头连接符 243"/>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45" name="直接箭头连接符 244"/>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46" name="直接箭头连接符 245"/>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50" name="组合 249"/>
            <p:cNvGrpSpPr/>
            <p:nvPr/>
          </p:nvGrpSpPr>
          <p:grpSpPr>
            <a:xfrm>
              <a:off x="6858046" y="3688641"/>
              <a:ext cx="600168" cy="821738"/>
              <a:chOff x="2794661" y="4182222"/>
              <a:chExt cx="600168" cy="757237"/>
            </a:xfrm>
          </p:grpSpPr>
          <p:sp>
            <p:nvSpPr>
              <p:cNvPr id="397" name="任意多边形 396"/>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98" name="文本框 397"/>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99" name="文本框 398"/>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400" name="文本框 399"/>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51" name="直接箭头连接符 250"/>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52" name="直接箭头连接符 251"/>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53" name="组合 252"/>
            <p:cNvGrpSpPr/>
            <p:nvPr/>
          </p:nvGrpSpPr>
          <p:grpSpPr>
            <a:xfrm>
              <a:off x="6640453" y="2638710"/>
              <a:ext cx="423099" cy="631031"/>
              <a:chOff x="6528478" y="2016658"/>
              <a:chExt cx="523165" cy="631031"/>
            </a:xfrm>
          </p:grpSpPr>
          <p:sp>
            <p:nvSpPr>
              <p:cNvPr id="395" name="任意多边形 394"/>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96" name="文本框 395"/>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54" name="组合 253"/>
            <p:cNvGrpSpPr/>
            <p:nvPr/>
          </p:nvGrpSpPr>
          <p:grpSpPr>
            <a:xfrm>
              <a:off x="2890754" y="2429115"/>
              <a:ext cx="402029" cy="635794"/>
              <a:chOff x="2890754" y="1790940"/>
              <a:chExt cx="402029" cy="635794"/>
            </a:xfrm>
          </p:grpSpPr>
          <p:sp>
            <p:nvSpPr>
              <p:cNvPr id="393" name="任意多边形 392"/>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94" name="文本框 393"/>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55" name="组合 254"/>
            <p:cNvGrpSpPr/>
            <p:nvPr/>
          </p:nvGrpSpPr>
          <p:grpSpPr>
            <a:xfrm>
              <a:off x="4388641" y="3613558"/>
              <a:ext cx="1130990" cy="1018157"/>
              <a:chOff x="2221721" y="4481511"/>
              <a:chExt cx="1122391" cy="1038225"/>
            </a:xfrm>
          </p:grpSpPr>
          <p:sp>
            <p:nvSpPr>
              <p:cNvPr id="385" name="矩形 384"/>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6" name="文本框 385"/>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87" name="文本框 386"/>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88" name="文本框 387"/>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89" name="文本框 388"/>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90" name="文本框 389"/>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91" name="文本框 390"/>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92" name="文本框 391"/>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56" name="组合 255"/>
            <p:cNvGrpSpPr/>
            <p:nvPr/>
          </p:nvGrpSpPr>
          <p:grpSpPr>
            <a:xfrm>
              <a:off x="6352687" y="4150401"/>
              <a:ext cx="383097" cy="504955"/>
              <a:chOff x="1245770" y="3824904"/>
              <a:chExt cx="383097" cy="406857"/>
            </a:xfrm>
          </p:grpSpPr>
          <p:sp>
            <p:nvSpPr>
              <p:cNvPr id="381" name="流程图: 手动操作 3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83" name="文本框 382"/>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84" name="文本框 38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57" name="直接箭头连接符 256"/>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箭头连接符 257"/>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59" name="直接连接符 258"/>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60" name="直接箭头连接符 259"/>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连接符 260"/>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62" name="直接箭头连接符 261"/>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63" name="直接连接符 262"/>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箭头连接符 264"/>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68" name="直接连接符 267"/>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69" name="直接箭头连接符 268"/>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70" name="直接箭头连接符 269"/>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71" name="直接箭头连接符 270"/>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72" name="直接箭头连接符 271"/>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74" name="直接连接符 273"/>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75" name="直接箭头连接符 274"/>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76" name="直接箭头连接符 275"/>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78" name="直接连接符 277"/>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79" name="直接箭头连接符 278"/>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81" name="直接箭头连接符 280"/>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82" name="直接连接符 281"/>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83" name="直接箭头连接符 282"/>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84" name="直接箭头连接符 283"/>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85" name="直接箭头连接符 284"/>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86" name="直接箭头连接符 285"/>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87" name="直接箭头连接符 286"/>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88" name="直接连接符 287"/>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89" name="直接连接符 288"/>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90" name="直接箭头连接符 289"/>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91" name="直接箭头连接符 290"/>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92" name="直接箭头连接符 291"/>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93" name="直接连接符 292"/>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94" name="直接连接符 293"/>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95" name="直接箭头连接符 294"/>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96" name="直接箭头连接符 295"/>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97" name="直接箭头连接符 296"/>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98" name="直接箭头连接符 297"/>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99" name="直接箭头连接符 298"/>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300" name="直接箭头连接符 299"/>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301" name="组合 300"/>
            <p:cNvGrpSpPr/>
            <p:nvPr/>
          </p:nvGrpSpPr>
          <p:grpSpPr>
            <a:xfrm>
              <a:off x="5020933" y="4821240"/>
              <a:ext cx="397817" cy="634576"/>
              <a:chOff x="3762650" y="5685260"/>
              <a:chExt cx="397817" cy="634576"/>
            </a:xfrm>
          </p:grpSpPr>
          <p:sp>
            <p:nvSpPr>
              <p:cNvPr id="379" name="椭圆 378"/>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80" name="文本框 379"/>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302" name="直接连接符 301"/>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303" name="直接箭头连接符 302"/>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304" name="直接连接符 303"/>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305" name="直接箭头连接符 304"/>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306" name="直接箭头连接符 305"/>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307" name="组合 306"/>
            <p:cNvGrpSpPr/>
            <p:nvPr/>
          </p:nvGrpSpPr>
          <p:grpSpPr>
            <a:xfrm>
              <a:off x="1475201" y="3357562"/>
              <a:ext cx="383097" cy="504955"/>
              <a:chOff x="1245770" y="3824904"/>
              <a:chExt cx="383097" cy="406857"/>
            </a:xfrm>
          </p:grpSpPr>
          <p:sp>
            <p:nvSpPr>
              <p:cNvPr id="375" name="流程图: 手动操作 37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6" name="文本框 375"/>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77" name="文本框 376"/>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78" name="文本框 377"/>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308" name="组合 307"/>
            <p:cNvGrpSpPr/>
            <p:nvPr/>
          </p:nvGrpSpPr>
          <p:grpSpPr>
            <a:xfrm>
              <a:off x="2607791" y="3493263"/>
              <a:ext cx="995174" cy="899129"/>
              <a:chOff x="2233099" y="4481511"/>
              <a:chExt cx="1105193" cy="1038225"/>
            </a:xfrm>
          </p:grpSpPr>
          <p:sp>
            <p:nvSpPr>
              <p:cNvPr id="371" name="矩形 370"/>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73" name="文本框 372"/>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74" name="文本框 373"/>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309" name="文本框 308"/>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10" name="组合 309"/>
            <p:cNvGrpSpPr/>
            <p:nvPr/>
          </p:nvGrpSpPr>
          <p:grpSpPr>
            <a:xfrm>
              <a:off x="1980407" y="3384882"/>
              <a:ext cx="345451" cy="491789"/>
              <a:chOff x="5454427" y="2426371"/>
              <a:chExt cx="955568" cy="491789"/>
            </a:xfrm>
          </p:grpSpPr>
          <p:sp>
            <p:nvSpPr>
              <p:cNvPr id="369" name="矩形 368"/>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311" name="直接箭头连接符 310"/>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312" name="组合 311"/>
            <p:cNvGrpSpPr/>
            <p:nvPr/>
          </p:nvGrpSpPr>
          <p:grpSpPr>
            <a:xfrm>
              <a:off x="7418442" y="2051133"/>
              <a:ext cx="745717" cy="3587667"/>
              <a:chOff x="722989" y="1717758"/>
              <a:chExt cx="745717" cy="3587667"/>
            </a:xfrm>
          </p:grpSpPr>
          <p:sp>
            <p:nvSpPr>
              <p:cNvPr id="366" name="矩形 365"/>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7" name="等腰三角形 366"/>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8" name="文本框 367"/>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313" name="组合 312"/>
            <p:cNvGrpSpPr/>
            <p:nvPr/>
          </p:nvGrpSpPr>
          <p:grpSpPr>
            <a:xfrm>
              <a:off x="9375782" y="2044866"/>
              <a:ext cx="808235" cy="3593934"/>
              <a:chOff x="754534" y="1711491"/>
              <a:chExt cx="808235" cy="3593934"/>
            </a:xfrm>
          </p:grpSpPr>
          <p:sp>
            <p:nvSpPr>
              <p:cNvPr id="363" name="矩形 362"/>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4" name="等腰三角形 363"/>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5" name="文本框 364"/>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314" name="直接箭头连接符 313"/>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315" name="组合 314"/>
            <p:cNvGrpSpPr/>
            <p:nvPr/>
          </p:nvGrpSpPr>
          <p:grpSpPr>
            <a:xfrm>
              <a:off x="6034884" y="2898284"/>
              <a:ext cx="389850" cy="481540"/>
              <a:chOff x="3717347" y="5685260"/>
              <a:chExt cx="389850" cy="481540"/>
            </a:xfrm>
          </p:grpSpPr>
          <p:sp>
            <p:nvSpPr>
              <p:cNvPr id="361" name="椭圆 360"/>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62" name="文本框 361"/>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316" name="组合 315"/>
            <p:cNvGrpSpPr/>
            <p:nvPr/>
          </p:nvGrpSpPr>
          <p:grpSpPr>
            <a:xfrm>
              <a:off x="8324766" y="4061731"/>
              <a:ext cx="957089" cy="896271"/>
              <a:chOff x="2233099" y="4480021"/>
              <a:chExt cx="1063423" cy="896271"/>
            </a:xfrm>
          </p:grpSpPr>
          <p:sp>
            <p:nvSpPr>
              <p:cNvPr id="356" name="矩形 35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7" name="文本框 356"/>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58" name="文本框 357"/>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317" name="直接箭头连接符 316"/>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318" name="等腰三角形 317"/>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19" name="文本框 318"/>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20" name="文本框 319"/>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21" name="等腰三角形 320"/>
            <p:cNvSpPr/>
            <p:nvPr/>
          </p:nvSpPr>
          <p:spPr>
            <a:xfrm>
              <a:off x="4578518" y="4548830"/>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22" name="直接连接符 321"/>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23" name="直接连接符 322"/>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24" name="文本框 323"/>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25" name="文本框 324"/>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26" name="组合 325"/>
            <p:cNvGrpSpPr/>
            <p:nvPr/>
          </p:nvGrpSpPr>
          <p:grpSpPr>
            <a:xfrm>
              <a:off x="1972553" y="3865993"/>
              <a:ext cx="372218" cy="326012"/>
              <a:chOff x="1972553" y="3227818"/>
              <a:chExt cx="372218" cy="326012"/>
            </a:xfrm>
          </p:grpSpPr>
          <p:cxnSp>
            <p:nvCxnSpPr>
              <p:cNvPr id="354" name="直接连接符 353"/>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55" name="文本框 354"/>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27" name="组合 326"/>
            <p:cNvGrpSpPr/>
            <p:nvPr/>
          </p:nvGrpSpPr>
          <p:grpSpPr>
            <a:xfrm>
              <a:off x="5683963" y="5635648"/>
              <a:ext cx="374784" cy="455809"/>
              <a:chOff x="1972644" y="3154126"/>
              <a:chExt cx="374784" cy="369765"/>
            </a:xfrm>
          </p:grpSpPr>
          <p:cxnSp>
            <p:nvCxnSpPr>
              <p:cNvPr id="352" name="直接连接符 351"/>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53" name="文本框 35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28" name="组合 327"/>
            <p:cNvGrpSpPr/>
            <p:nvPr/>
          </p:nvGrpSpPr>
          <p:grpSpPr>
            <a:xfrm>
              <a:off x="7620570" y="5635648"/>
              <a:ext cx="374784" cy="455809"/>
              <a:chOff x="1972644" y="3154126"/>
              <a:chExt cx="374784" cy="369765"/>
            </a:xfrm>
          </p:grpSpPr>
          <p:cxnSp>
            <p:nvCxnSpPr>
              <p:cNvPr id="350" name="直接连接符 34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51" name="文本框 350"/>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29" name="组合 328"/>
            <p:cNvGrpSpPr/>
            <p:nvPr/>
          </p:nvGrpSpPr>
          <p:grpSpPr>
            <a:xfrm>
              <a:off x="9547500" y="5635648"/>
              <a:ext cx="374784" cy="455809"/>
              <a:chOff x="1972644" y="3154126"/>
              <a:chExt cx="374784" cy="369765"/>
            </a:xfrm>
          </p:grpSpPr>
          <p:cxnSp>
            <p:nvCxnSpPr>
              <p:cNvPr id="348" name="直接连接符 34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49" name="文本框 34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30" name="直接箭头连接符 329"/>
            <p:cNvCxnSpPr/>
            <p:nvPr/>
          </p:nvCxnSpPr>
          <p:spPr>
            <a:xfrm>
              <a:off x="3910881" y="1392653"/>
              <a:ext cx="0" cy="4156823"/>
            </a:xfrm>
            <a:prstGeom prst="straightConnector1">
              <a:avLst/>
            </a:prstGeom>
            <a:noFill/>
            <a:ln w="12700" cap="flat" cmpd="sng" algn="ctr">
              <a:solidFill>
                <a:srgbClr val="5B9BD5"/>
              </a:solidFill>
              <a:prstDash val="dash"/>
              <a:miter lim="800000"/>
              <a:tailEnd type="none"/>
            </a:ln>
            <a:effectLst/>
          </p:spPr>
        </p:cxnSp>
        <p:sp>
          <p:nvSpPr>
            <p:cNvPr id="331" name="等腰三角形 330"/>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32" name="直接箭头连接符 331"/>
            <p:cNvCxnSpPr/>
            <p:nvPr/>
          </p:nvCxnSpPr>
          <p:spPr>
            <a:xfrm>
              <a:off x="5866980" y="1392653"/>
              <a:ext cx="0" cy="4147298"/>
            </a:xfrm>
            <a:prstGeom prst="straightConnector1">
              <a:avLst/>
            </a:prstGeom>
            <a:noFill/>
            <a:ln w="12700" cap="flat" cmpd="sng" algn="ctr">
              <a:solidFill>
                <a:srgbClr val="5B9BD5"/>
              </a:solidFill>
              <a:prstDash val="dash"/>
              <a:miter lim="800000"/>
              <a:tailEnd type="none"/>
            </a:ln>
            <a:effectLst/>
          </p:spPr>
        </p:cxnSp>
        <p:cxnSp>
          <p:nvCxnSpPr>
            <p:cNvPr id="333" name="直接箭头连接符 332"/>
            <p:cNvCxnSpPr/>
            <p:nvPr/>
          </p:nvCxnSpPr>
          <p:spPr>
            <a:xfrm>
              <a:off x="7796408" y="1392653"/>
              <a:ext cx="0" cy="4147298"/>
            </a:xfrm>
            <a:prstGeom prst="straightConnector1">
              <a:avLst/>
            </a:prstGeom>
            <a:noFill/>
            <a:ln w="12700" cap="flat" cmpd="sng" algn="ctr">
              <a:solidFill>
                <a:srgbClr val="5B9BD5"/>
              </a:solidFill>
              <a:prstDash val="dash"/>
              <a:miter lim="800000"/>
              <a:tailEnd type="none"/>
            </a:ln>
            <a:effectLst/>
          </p:spPr>
        </p:cxnSp>
        <p:cxnSp>
          <p:nvCxnSpPr>
            <p:cNvPr id="334" name="直接箭头连接符 333"/>
            <p:cNvCxnSpPr/>
            <p:nvPr/>
          </p:nvCxnSpPr>
          <p:spPr>
            <a:xfrm>
              <a:off x="9725838" y="1392653"/>
              <a:ext cx="0" cy="4147298"/>
            </a:xfrm>
            <a:prstGeom prst="straightConnector1">
              <a:avLst/>
            </a:prstGeom>
            <a:noFill/>
            <a:ln w="12700" cap="flat" cmpd="sng" algn="ctr">
              <a:solidFill>
                <a:srgbClr val="5B9BD5"/>
              </a:solidFill>
              <a:prstDash val="dash"/>
              <a:miter lim="800000"/>
              <a:tailEnd type="none"/>
            </a:ln>
            <a:effectLst/>
          </p:spPr>
        </p:cxnSp>
        <p:sp>
          <p:nvSpPr>
            <p:cNvPr id="335" name="文本框 334"/>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36" name="直接连接符 335"/>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37" name="组合 336"/>
            <p:cNvGrpSpPr/>
            <p:nvPr/>
          </p:nvGrpSpPr>
          <p:grpSpPr>
            <a:xfrm>
              <a:off x="10102638" y="4039232"/>
              <a:ext cx="383097" cy="504955"/>
              <a:chOff x="1245770" y="3824904"/>
              <a:chExt cx="383097" cy="406857"/>
            </a:xfrm>
          </p:grpSpPr>
          <p:sp>
            <p:nvSpPr>
              <p:cNvPr id="344" name="流程图: 手动操作 343"/>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5" name="文本框 344"/>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46" name="文本框 345"/>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47" name="文本框 346"/>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38" name="文本框 337"/>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39" name="文本框 338"/>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40" name="文本框 339"/>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41" name="文本框 340"/>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42" name="文本框 341"/>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cxnSp>
          <p:nvCxnSpPr>
            <p:cNvPr id="343" name="直接连接符 342"/>
            <p:cNvCxnSpPr/>
            <p:nvPr/>
          </p:nvCxnSpPr>
          <p:spPr>
            <a:xfrm>
              <a:off x="1679032" y="2573816"/>
              <a:ext cx="0" cy="826347"/>
            </a:xfrm>
            <a:prstGeom prst="line">
              <a:avLst/>
            </a:prstGeom>
            <a:noFill/>
            <a:ln w="19050" cap="sq" cmpd="sng" algn="ctr">
              <a:solidFill>
                <a:sysClr val="windowText" lastClr="000000"/>
              </a:solidFill>
              <a:prstDash val="solid"/>
              <a:miter lim="800000"/>
              <a:tailEnd type="none"/>
            </a:ln>
            <a:effectLst/>
          </p:spPr>
        </p:cxnSp>
      </p:grpSp>
      <p:sp>
        <p:nvSpPr>
          <p:cNvPr id="413" name="文本框 412"/>
          <p:cNvSpPr txBox="1"/>
          <p:nvPr/>
        </p:nvSpPr>
        <p:spPr>
          <a:xfrm>
            <a:off x="1825443" y="2162388"/>
            <a:ext cx="969816" cy="276999"/>
          </a:xfrm>
          <a:prstGeom prst="rect">
            <a:avLst/>
          </a:prstGeom>
          <a:noFill/>
        </p:spPr>
        <p:txBody>
          <a:bodyPr wrap="none" rtlCol="0">
            <a:spAutoFit/>
          </a:bodyPr>
          <a:lstStyle/>
          <a:p>
            <a:pPr algn="ctr"/>
            <a:r>
              <a:rPr lang="en-US" altLang="zh-CN" sz="1200" b="1" dirty="0" err="1">
                <a:solidFill>
                  <a:srgbClr val="000000"/>
                </a:solidFill>
                <a:latin typeface="微软雅黑" panose="020B0503020204020204" pitchFamily="34" charset="-122"/>
                <a:ea typeface="微软雅黑" panose="020B0503020204020204" pitchFamily="34" charset="-122"/>
              </a:rPr>
              <a:t>EX.Branch</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63246"/>
    </mc:Choice>
    <mc:Fallback>
      <p:transition spd="slow" advTm="1632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wipe(left)">
                                      <p:cBhvr>
                                        <p:cTn id="7" dur="500"/>
                                        <p:tgtEl>
                                          <p:spTgt spid="2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8"/>
                                        </p:tgtEl>
                                        <p:attrNameLst>
                                          <p:attrName>style.visibility</p:attrName>
                                        </p:attrNameLst>
                                      </p:cBhvr>
                                      <p:to>
                                        <p:strVal val="visible"/>
                                      </p:to>
                                    </p:set>
                                    <p:animEffect transition="in" filter="wipe(left)">
                                      <p:cBhvr>
                                        <p:cTn id="12" dur="500"/>
                                        <p:tgtEl>
                                          <p:spTgt spid="2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
                                        </p:tgtEl>
                                        <p:attrNameLst>
                                          <p:attrName>style.visibility</p:attrName>
                                        </p:attrNameLst>
                                      </p:cBhvr>
                                      <p:to>
                                        <p:strVal val="visible"/>
                                      </p:to>
                                    </p:set>
                                    <p:animEffect transition="in" filter="wipe(left)">
                                      <p:cBhvr>
                                        <p:cTn id="22" dur="500"/>
                                        <p:tgtEl>
                                          <p:spTgt spid="2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8"/>
                                        </p:tgtEl>
                                        <p:attrNameLst>
                                          <p:attrName>style.visibility</p:attrName>
                                        </p:attrNameLst>
                                      </p:cBhvr>
                                      <p:to>
                                        <p:strVal val="visible"/>
                                      </p:to>
                                    </p:set>
                                    <p:animEffect transition="in" filter="wipe(left)">
                                      <p:cBhvr>
                                        <p:cTn id="32"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分支相关处理逻辑</a:t>
            </a:r>
            <a:endParaRPr lang="zh-CN" altLang="en-US" dirty="0"/>
          </a:p>
        </p:txBody>
      </p:sp>
      <p:grpSp>
        <p:nvGrpSpPr>
          <p:cNvPr id="915" name="组合 914"/>
          <p:cNvGrpSpPr/>
          <p:nvPr/>
        </p:nvGrpSpPr>
        <p:grpSpPr>
          <a:xfrm>
            <a:off x="1703513" y="1411214"/>
            <a:ext cx="8670731" cy="4365155"/>
            <a:chOff x="1295132" y="1392653"/>
            <a:chExt cx="9333476" cy="4698804"/>
          </a:xfrm>
        </p:grpSpPr>
        <p:cxnSp>
          <p:nvCxnSpPr>
            <p:cNvPr id="733" name="直接连接符 732"/>
            <p:cNvCxnSpPr/>
            <p:nvPr/>
          </p:nvCxnSpPr>
          <p:spPr>
            <a:xfrm>
              <a:off x="6558819" y="4522844"/>
              <a:ext cx="0" cy="222006"/>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916051" y="4903028"/>
              <a:ext cx="372218" cy="326012"/>
              <a:chOff x="1972553" y="3227818"/>
              <a:chExt cx="372218" cy="326012"/>
            </a:xfrm>
          </p:grpSpPr>
          <p:cxnSp>
            <p:nvCxnSpPr>
              <p:cNvPr id="736" name="直接连接符 735"/>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38" name="组合 737"/>
            <p:cNvGrpSpPr/>
            <p:nvPr/>
          </p:nvGrpSpPr>
          <p:grpSpPr>
            <a:xfrm>
              <a:off x="4473604" y="4590944"/>
              <a:ext cx="372218" cy="326012"/>
              <a:chOff x="1972553" y="3227818"/>
              <a:chExt cx="372218" cy="326012"/>
            </a:xfrm>
          </p:grpSpPr>
          <p:cxnSp>
            <p:nvCxnSpPr>
              <p:cNvPr id="739" name="直接连接符 73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41" name="组合 740"/>
            <p:cNvGrpSpPr/>
            <p:nvPr/>
          </p:nvGrpSpPr>
          <p:grpSpPr>
            <a:xfrm>
              <a:off x="3724772" y="5635648"/>
              <a:ext cx="374784" cy="455809"/>
              <a:chOff x="1972644" y="3154126"/>
              <a:chExt cx="374784" cy="369765"/>
            </a:xfrm>
          </p:grpSpPr>
          <p:sp>
            <p:nvSpPr>
              <p:cNvPr id="742" name="文本框 741"/>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743" name="直接连接符 742"/>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744" name="组合 743"/>
            <p:cNvGrpSpPr/>
            <p:nvPr/>
          </p:nvGrpSpPr>
          <p:grpSpPr>
            <a:xfrm>
              <a:off x="3663412" y="2051134"/>
              <a:ext cx="519694" cy="3587666"/>
              <a:chOff x="853537" y="1717759"/>
              <a:chExt cx="519694" cy="3587666"/>
            </a:xfrm>
          </p:grpSpPr>
          <p:sp>
            <p:nvSpPr>
              <p:cNvPr id="745" name="矩形 74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6" name="等腰三角形 74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7" name="文本框 746"/>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748" name="组合 747"/>
            <p:cNvGrpSpPr/>
            <p:nvPr/>
          </p:nvGrpSpPr>
          <p:grpSpPr>
            <a:xfrm>
              <a:off x="5613400" y="2051134"/>
              <a:ext cx="553357" cy="3587666"/>
              <a:chOff x="853537" y="1717759"/>
              <a:chExt cx="553357" cy="3587666"/>
            </a:xfrm>
          </p:grpSpPr>
          <p:sp>
            <p:nvSpPr>
              <p:cNvPr id="749" name="矩形 74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0" name="等腰三角形 74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1" name="文本框 750"/>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752" name="直接箭头连接符 751"/>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754" name="直接箭头连接符 753"/>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756" name="直接箭头连接符 755"/>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757" name="直接箭头连接符 756"/>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758" name="组合 757"/>
            <p:cNvGrpSpPr/>
            <p:nvPr/>
          </p:nvGrpSpPr>
          <p:grpSpPr>
            <a:xfrm>
              <a:off x="6858046" y="3688641"/>
              <a:ext cx="600168" cy="821738"/>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0" name="文本框 759"/>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761" name="文本框 760"/>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762" name="文本框 761"/>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763" name="直接箭头连接符 762"/>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640453" y="2638710"/>
              <a:ext cx="423099" cy="631031"/>
              <a:chOff x="6528478" y="2016658"/>
              <a:chExt cx="523165"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7" name="文本框 766"/>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768" name="组合 767"/>
            <p:cNvGrpSpPr/>
            <p:nvPr/>
          </p:nvGrpSpPr>
          <p:grpSpPr>
            <a:xfrm>
              <a:off x="2890754" y="2429115"/>
              <a:ext cx="402029" cy="635794"/>
              <a:chOff x="2890754" y="1790940"/>
              <a:chExt cx="402029"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0" name="文本框 7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771" name="组合 770"/>
            <p:cNvGrpSpPr/>
            <p:nvPr/>
          </p:nvGrpSpPr>
          <p:grpSpPr>
            <a:xfrm>
              <a:off x="4388641" y="3613558"/>
              <a:ext cx="1130990" cy="1018157"/>
              <a:chOff x="2221721" y="4481511"/>
              <a:chExt cx="1122391"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3" name="文本框 772"/>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4" name="文本框 773"/>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775" name="文本框 774"/>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6" name="文本框 775"/>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7" name="文本框 776"/>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8" name="文本框 777"/>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9" name="文本框 778"/>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780" name="组合 779"/>
            <p:cNvGrpSpPr/>
            <p:nvPr/>
          </p:nvGrpSpPr>
          <p:grpSpPr>
            <a:xfrm>
              <a:off x="6352687" y="4150401"/>
              <a:ext cx="383097" cy="504955"/>
              <a:chOff x="1245770" y="3824904"/>
              <a:chExt cx="383097"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82" name="文本框 781"/>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3" name="文本框 782"/>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4" name="文本框 78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785" name="直接箭头连接符 784"/>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790" name="直接箭头连接符 789"/>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799" name="直接箭头连接符 798"/>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800" name="直接箭头连接符 799"/>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801" name="直接箭头连接符 800"/>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802" name="直接连接符 801"/>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803" name="直接箭头连接符 802"/>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804" name="直接箭头连接符 803"/>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805" name="直接箭头连接符 804"/>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807" name="直接箭头连接符 806"/>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810" name="直接连接符 809"/>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814" name="直接箭头连接符 813"/>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815" name="直接箭头连接符 814"/>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816" name="直接箭头连接符 815"/>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817" name="直接连接符 816"/>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818" name="直接连接符 817"/>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819" name="直接箭头连接符 818"/>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820" name="直接箭头连接符 819"/>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1" name="直接箭头连接符 820"/>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822" name="直接连接符 821"/>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823" name="直接连接符 822"/>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824" name="直接箭头连接符 823"/>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5" name="直接箭头连接符 824"/>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6" name="直接箭头连接符 825"/>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829" name="直接箭头连接符 828"/>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020933" y="4821240"/>
              <a:ext cx="397817" cy="634576"/>
              <a:chOff x="3762650" y="5685260"/>
              <a:chExt cx="39781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32" name="文本框 831"/>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833" name="直接连接符 832"/>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1475201" y="3357562"/>
              <a:ext cx="383097" cy="504955"/>
              <a:chOff x="1245770" y="3824904"/>
              <a:chExt cx="383097"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0" name="文本框 839"/>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1" name="文本框 840"/>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2" name="文本框 841"/>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srgbClr val="00B0F0"/>
                    </a:solidFill>
                    <a:latin typeface="微软雅黑" panose="020B0503020204020204" pitchFamily="34" charset="-122"/>
                    <a:ea typeface="微软雅黑" panose="020B0503020204020204" pitchFamily="34" charset="-122"/>
                  </a:rPr>
                  <a:t>1</a:t>
                </a:r>
                <a:endParaRPr lang="en-US" altLang="zh-CN" sz="500" b="1" kern="0" dirty="0">
                  <a:solidFill>
                    <a:srgbClr val="00B0F0"/>
                  </a:solidFill>
                  <a:latin typeface="微软雅黑" panose="020B0503020204020204" pitchFamily="34" charset="-122"/>
                  <a:ea typeface="微软雅黑" panose="020B0503020204020204" pitchFamily="34" charset="-122"/>
                </a:endParaRPr>
              </a:p>
            </p:txBody>
          </p:sp>
        </p:grpSp>
        <p:grpSp>
          <p:nvGrpSpPr>
            <p:cNvPr id="843" name="组合 842"/>
            <p:cNvGrpSpPr/>
            <p:nvPr/>
          </p:nvGrpSpPr>
          <p:grpSpPr>
            <a:xfrm>
              <a:off x="2607791" y="3493263"/>
              <a:ext cx="995174" cy="899129"/>
              <a:chOff x="2233099" y="4481511"/>
              <a:chExt cx="1105193"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5" name="文本框 844"/>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846" name="文本框 845"/>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47" name="文本框 846"/>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848" name="文本框 847"/>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49" name="组合 848"/>
            <p:cNvGrpSpPr/>
            <p:nvPr/>
          </p:nvGrpSpPr>
          <p:grpSpPr>
            <a:xfrm>
              <a:off x="1980407" y="3384882"/>
              <a:ext cx="345451" cy="491789"/>
              <a:chOff x="5454427" y="2426371"/>
              <a:chExt cx="955568"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1" name="文本框 850"/>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852" name="直接箭头连接符 851"/>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853" name="组合 852"/>
            <p:cNvGrpSpPr/>
            <p:nvPr/>
          </p:nvGrpSpPr>
          <p:grpSpPr>
            <a:xfrm>
              <a:off x="7418442" y="2051133"/>
              <a:ext cx="745717" cy="3587667"/>
              <a:chOff x="722989" y="1717758"/>
              <a:chExt cx="745717" cy="3587667"/>
            </a:xfrm>
          </p:grpSpPr>
          <p:sp>
            <p:nvSpPr>
              <p:cNvPr id="854" name="矩形 85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5" name="等腰三角形 85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6" name="文本框 855"/>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857" name="组合 856"/>
            <p:cNvGrpSpPr/>
            <p:nvPr/>
          </p:nvGrpSpPr>
          <p:grpSpPr>
            <a:xfrm>
              <a:off x="9375782" y="2044866"/>
              <a:ext cx="808235" cy="3593934"/>
              <a:chOff x="754534" y="1711491"/>
              <a:chExt cx="808235" cy="3593934"/>
            </a:xfrm>
          </p:grpSpPr>
          <p:sp>
            <p:nvSpPr>
              <p:cNvPr id="858" name="矩形 85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9" name="等腰三角形 85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0" name="文本框 859"/>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861" name="直接箭头连接符 86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034884" y="2898284"/>
              <a:ext cx="389850" cy="481540"/>
              <a:chOff x="3717347" y="5685260"/>
              <a:chExt cx="389850"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64" name="文本框 863"/>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865" name="组合 864"/>
            <p:cNvGrpSpPr/>
            <p:nvPr/>
          </p:nvGrpSpPr>
          <p:grpSpPr>
            <a:xfrm>
              <a:off x="8324766" y="4061731"/>
              <a:ext cx="957089" cy="896271"/>
              <a:chOff x="2233099" y="4480021"/>
              <a:chExt cx="1063423"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7" name="文本框 866"/>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68" name="文本框 867"/>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69" name="文本框 868"/>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70" name="文本框 869"/>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871" name="直接箭头连接符 870"/>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872" name="等腰三角形 871"/>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73" name="文本框 872"/>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4" name="文本框 873"/>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5" name="等腰三角形 874"/>
            <p:cNvSpPr/>
            <p:nvPr/>
          </p:nvSpPr>
          <p:spPr>
            <a:xfrm>
              <a:off x="4578518" y="4548830"/>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76" name="直接连接符 875"/>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9" name="文本框 878"/>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80" name="组合 879"/>
            <p:cNvGrpSpPr/>
            <p:nvPr/>
          </p:nvGrpSpPr>
          <p:grpSpPr>
            <a:xfrm>
              <a:off x="1972553" y="3865993"/>
              <a:ext cx="372218" cy="326012"/>
              <a:chOff x="1972553" y="3227818"/>
              <a:chExt cx="372218" cy="326012"/>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3" name="组合 882"/>
            <p:cNvGrpSpPr/>
            <p:nvPr/>
          </p:nvGrpSpPr>
          <p:grpSpPr>
            <a:xfrm>
              <a:off x="5683963" y="5635648"/>
              <a:ext cx="374784" cy="455809"/>
              <a:chOff x="1972644" y="3154126"/>
              <a:chExt cx="374784" cy="369765"/>
            </a:xfrm>
          </p:grpSpPr>
          <p:cxnSp>
            <p:nvCxnSpPr>
              <p:cNvPr id="884" name="直接连接符 8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5" name="文本框 88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6" name="组合 885"/>
            <p:cNvGrpSpPr/>
            <p:nvPr/>
          </p:nvGrpSpPr>
          <p:grpSpPr>
            <a:xfrm>
              <a:off x="7620570" y="5635648"/>
              <a:ext cx="374784" cy="455809"/>
              <a:chOff x="1972644" y="3154126"/>
              <a:chExt cx="374784" cy="369765"/>
            </a:xfrm>
          </p:grpSpPr>
          <p:cxnSp>
            <p:nvCxnSpPr>
              <p:cNvPr id="887" name="直接连接符 886"/>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8" name="文本框 887"/>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9" name="组合 888"/>
            <p:cNvGrpSpPr/>
            <p:nvPr/>
          </p:nvGrpSpPr>
          <p:grpSpPr>
            <a:xfrm>
              <a:off x="9547500" y="5635648"/>
              <a:ext cx="374784" cy="455809"/>
              <a:chOff x="1972644" y="3154126"/>
              <a:chExt cx="374784" cy="369765"/>
            </a:xfrm>
          </p:grpSpPr>
          <p:cxnSp>
            <p:nvCxnSpPr>
              <p:cNvPr id="890" name="直接连接符 88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91" name="文本框 890"/>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892" name="直接箭头连接符 891"/>
            <p:cNvCxnSpPr/>
            <p:nvPr/>
          </p:nvCxnSpPr>
          <p:spPr>
            <a:xfrm>
              <a:off x="3910881" y="1392653"/>
              <a:ext cx="0" cy="4156823"/>
            </a:xfrm>
            <a:prstGeom prst="straightConnector1">
              <a:avLst/>
            </a:prstGeom>
            <a:noFill/>
            <a:ln w="12700" cap="flat" cmpd="sng" algn="ctr">
              <a:solidFill>
                <a:srgbClr val="5B9BD5"/>
              </a:solidFill>
              <a:prstDash val="dash"/>
              <a:miter lim="800000"/>
              <a:tailEnd type="none"/>
            </a:ln>
            <a:effectLst/>
          </p:spPr>
        </p:cxnSp>
        <p:sp>
          <p:nvSpPr>
            <p:cNvPr id="893" name="等腰三角形 892"/>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94" name="直接箭头连接符 893"/>
            <p:cNvCxnSpPr/>
            <p:nvPr/>
          </p:nvCxnSpPr>
          <p:spPr>
            <a:xfrm>
              <a:off x="5866980" y="1392653"/>
              <a:ext cx="0" cy="4147298"/>
            </a:xfrm>
            <a:prstGeom prst="straightConnector1">
              <a:avLst/>
            </a:prstGeom>
            <a:noFill/>
            <a:ln w="12700" cap="flat" cmpd="sng" algn="ctr">
              <a:solidFill>
                <a:srgbClr val="5B9BD5"/>
              </a:solidFill>
              <a:prstDash val="dash"/>
              <a:miter lim="800000"/>
              <a:tailEnd type="none"/>
            </a:ln>
            <a:effectLst/>
          </p:spPr>
        </p:cxnSp>
        <p:cxnSp>
          <p:nvCxnSpPr>
            <p:cNvPr id="895" name="直接箭头连接符 894"/>
            <p:cNvCxnSpPr/>
            <p:nvPr/>
          </p:nvCxnSpPr>
          <p:spPr>
            <a:xfrm>
              <a:off x="7796408" y="1392653"/>
              <a:ext cx="0" cy="4147298"/>
            </a:xfrm>
            <a:prstGeom prst="straightConnector1">
              <a:avLst/>
            </a:prstGeom>
            <a:noFill/>
            <a:ln w="12700" cap="flat" cmpd="sng" algn="ctr">
              <a:solidFill>
                <a:srgbClr val="5B9BD5"/>
              </a:solidFill>
              <a:prstDash val="dash"/>
              <a:miter lim="800000"/>
              <a:tailEnd type="none"/>
            </a:ln>
            <a:effectLst/>
          </p:spPr>
        </p:cxnSp>
        <p:cxnSp>
          <p:nvCxnSpPr>
            <p:cNvPr id="896" name="直接箭头连接符 895"/>
            <p:cNvCxnSpPr/>
            <p:nvPr/>
          </p:nvCxnSpPr>
          <p:spPr>
            <a:xfrm>
              <a:off x="9725838" y="1392653"/>
              <a:ext cx="0" cy="4147298"/>
            </a:xfrm>
            <a:prstGeom prst="straightConnector1">
              <a:avLst/>
            </a:prstGeom>
            <a:noFill/>
            <a:ln w="12700" cap="flat" cmpd="sng" algn="ctr">
              <a:solidFill>
                <a:srgbClr val="5B9BD5"/>
              </a:solidFill>
              <a:prstDash val="dash"/>
              <a:miter lim="800000"/>
              <a:tailEnd type="none"/>
            </a:ln>
            <a:effectLst/>
          </p:spPr>
        </p:cxnSp>
        <p:sp>
          <p:nvSpPr>
            <p:cNvPr id="902" name="文本框 90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903" name="直接连接符 90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10102638" y="4039232"/>
              <a:ext cx="383097" cy="504955"/>
              <a:chOff x="1245770" y="3824904"/>
              <a:chExt cx="383097"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906" name="文本框 905"/>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7" name="文本框 906"/>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8" name="文本框 907"/>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909" name="文本框 908"/>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1" name="文本框 910"/>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2" name="文本框 911"/>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3" name="文本框 912"/>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4" name="文本框 913"/>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cxnSp>
          <p:nvCxnSpPr>
            <p:cNvPr id="208" name="直接连接符 207"/>
            <p:cNvCxnSpPr/>
            <p:nvPr/>
          </p:nvCxnSpPr>
          <p:spPr>
            <a:xfrm>
              <a:off x="1679032" y="2573816"/>
              <a:ext cx="0" cy="826347"/>
            </a:xfrm>
            <a:prstGeom prst="line">
              <a:avLst/>
            </a:prstGeom>
            <a:noFill/>
            <a:ln w="19050" cap="sq" cmpd="sng" algn="ctr">
              <a:solidFill>
                <a:srgbClr val="00B0F0"/>
              </a:solidFill>
              <a:prstDash val="solid"/>
              <a:miter lim="800000"/>
              <a:tailEnd type="none"/>
            </a:ln>
            <a:effectLst/>
          </p:spPr>
        </p:cxnSp>
      </p:grpSp>
      <p:grpSp>
        <p:nvGrpSpPr>
          <p:cNvPr id="10" name="组合 9"/>
          <p:cNvGrpSpPr/>
          <p:nvPr/>
        </p:nvGrpSpPr>
        <p:grpSpPr>
          <a:xfrm>
            <a:off x="6098144" y="1569435"/>
            <a:ext cx="1508366" cy="261610"/>
            <a:chOff x="6098144" y="1569435"/>
            <a:chExt cx="1508366" cy="261610"/>
          </a:xfrm>
        </p:grpSpPr>
        <p:sp>
          <p:nvSpPr>
            <p:cNvPr id="196" name="矩形 195"/>
            <p:cNvSpPr/>
            <p:nvPr/>
          </p:nvSpPr>
          <p:spPr>
            <a:xfrm>
              <a:off x="6098144" y="1594088"/>
              <a:ext cx="1508366" cy="205520"/>
            </a:xfrm>
            <a:prstGeom prst="rect">
              <a:avLst/>
            </a:prstGeom>
            <a:solidFill>
              <a:srgbClr val="FFC000">
                <a:lumMod val="60000"/>
                <a:lumOff val="40000"/>
              </a:srgbClr>
            </a:solidFill>
            <a:ln w="19050" cap="flat" cmpd="sng" algn="ctr">
              <a:solidFill>
                <a:schemeClr val="tx1"/>
              </a:solidFill>
              <a:prstDash val="solid"/>
              <a:miter lim="800000"/>
            </a:ln>
            <a:effectLst/>
          </p:spPr>
          <p:txBody>
            <a:bodyPr rtlCol="0" anchor="ctr"/>
            <a:lstStyle/>
            <a:p>
              <a:pPr algn="ctr"/>
              <a:endParaRPr lang="zh-CN" altLang="en-US" sz="900" kern="0">
                <a:solidFill>
                  <a:srgbClr val="FF0000"/>
                </a:solidFill>
                <a:latin typeface="等线" panose="02010600030101010101" charset="-122"/>
                <a:ea typeface="等线" panose="02010600030101010101" charset="-122"/>
              </a:endParaRPr>
            </a:p>
          </p:txBody>
        </p:sp>
        <p:sp>
          <p:nvSpPr>
            <p:cNvPr id="192" name="文本框 191"/>
            <p:cNvSpPr txBox="1">
              <a:spLocks noChangeArrowheads="1"/>
            </p:cNvSpPr>
            <p:nvPr/>
          </p:nvSpPr>
          <p:spPr bwMode="auto">
            <a:xfrm>
              <a:off x="6266140" y="1569435"/>
              <a:ext cx="11678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FF0000"/>
                  </a:solidFill>
                </a:rPr>
                <a:t>Beq</a:t>
              </a:r>
              <a:r>
                <a:rPr lang="en-US" altLang="zh-CN" sz="1100" b="1" dirty="0">
                  <a:solidFill>
                    <a:srgbClr val="FF0000"/>
                  </a:solidFill>
                </a:rPr>
                <a:t> $0,$0,16</a:t>
              </a:r>
              <a:endParaRPr lang="zh-CN" altLang="en-US" sz="1100" b="1" dirty="0">
                <a:solidFill>
                  <a:srgbClr val="FF0000"/>
                </a:solidFill>
              </a:endParaRPr>
            </a:p>
          </p:txBody>
        </p:sp>
      </p:grpSp>
      <p:sp>
        <p:nvSpPr>
          <p:cNvPr id="194" name="文本框 193"/>
          <p:cNvSpPr txBox="1"/>
          <p:nvPr/>
        </p:nvSpPr>
        <p:spPr>
          <a:xfrm>
            <a:off x="4681689" y="1996558"/>
            <a:ext cx="800219" cy="276999"/>
          </a:xfrm>
          <a:prstGeom prst="rect">
            <a:avLst/>
          </a:prstGeom>
          <a:noFill/>
        </p:spPr>
        <p:txBody>
          <a:bodyPr wrap="none" rtlCol="0">
            <a:spAutoFit/>
          </a:bodyPr>
          <a:lstStyle/>
          <a:p>
            <a:pPr algn="ctr"/>
            <a:r>
              <a:rPr lang="zh-CN" altLang="en-US" sz="1200" b="1" dirty="0">
                <a:solidFill>
                  <a:srgbClr val="000000"/>
                </a:solidFill>
                <a:latin typeface="微软雅黑" panose="020B0503020204020204" pitchFamily="34" charset="-122"/>
                <a:ea typeface="微软雅黑" panose="020B0503020204020204" pitchFamily="34" charset="-122"/>
              </a:rPr>
              <a:t>预取指令</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4705383" y="1182874"/>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4" name="文本框 203"/>
          <p:cNvSpPr txBox="1"/>
          <p:nvPr/>
        </p:nvSpPr>
        <p:spPr>
          <a:xfrm>
            <a:off x="6467289" y="1182874"/>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5" name="文本框 204"/>
          <p:cNvSpPr txBox="1"/>
          <p:nvPr/>
        </p:nvSpPr>
        <p:spPr>
          <a:xfrm>
            <a:off x="8184727" y="1182874"/>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6" name="文本框 205"/>
          <p:cNvSpPr txBox="1"/>
          <p:nvPr/>
        </p:nvSpPr>
        <p:spPr>
          <a:xfrm>
            <a:off x="9896550" y="1182874"/>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7" name="文本框 206"/>
          <p:cNvSpPr txBox="1"/>
          <p:nvPr/>
        </p:nvSpPr>
        <p:spPr>
          <a:xfrm>
            <a:off x="2692705" y="1182874"/>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2389062" y="1574050"/>
            <a:ext cx="3412948" cy="217441"/>
            <a:chOff x="2389062" y="1636042"/>
            <a:chExt cx="3412948" cy="217441"/>
          </a:xfrm>
        </p:grpSpPr>
        <p:sp>
          <p:nvSpPr>
            <p:cNvPr id="3" name="矩形 2"/>
            <p:cNvSpPr/>
            <p:nvPr/>
          </p:nvSpPr>
          <p:spPr>
            <a:xfrm>
              <a:off x="2389062" y="1636042"/>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209"/>
            <p:cNvSpPr/>
            <p:nvPr/>
          </p:nvSpPr>
          <p:spPr>
            <a:xfrm>
              <a:off x="4287444" y="1643397"/>
              <a:ext cx="1514566" cy="210086"/>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8" name="文本框 197"/>
          <p:cNvSpPr txBox="1">
            <a:spLocks noChangeArrowheads="1"/>
          </p:cNvSpPr>
          <p:nvPr/>
        </p:nvSpPr>
        <p:spPr bwMode="auto">
          <a:xfrm>
            <a:off x="2563971" y="1567769"/>
            <a:ext cx="12437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dirty="0">
                <a:solidFill>
                  <a:srgbClr val="000000"/>
                </a:solidFill>
              </a:rPr>
              <a:t>sub $3,$1,$2</a:t>
            </a:r>
            <a:endParaRPr lang="en-US" altLang="zh-CN" sz="1100" dirty="0">
              <a:solidFill>
                <a:srgbClr val="000000"/>
              </a:solidFill>
            </a:endParaRPr>
          </a:p>
        </p:txBody>
      </p:sp>
      <p:sp>
        <p:nvSpPr>
          <p:cNvPr id="191" name="文本框 190"/>
          <p:cNvSpPr txBox="1">
            <a:spLocks noChangeArrowheads="1"/>
          </p:cNvSpPr>
          <p:nvPr/>
        </p:nvSpPr>
        <p:spPr bwMode="auto">
          <a:xfrm>
            <a:off x="4505610" y="1560483"/>
            <a:ext cx="111926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dirty="0">
                <a:solidFill>
                  <a:srgbClr val="000000"/>
                </a:solidFill>
              </a:rPr>
              <a:t>add $3,$1,$2</a:t>
            </a:r>
            <a:endParaRPr lang="en-US" altLang="zh-CN" sz="1100" dirty="0">
              <a:solidFill>
                <a:srgbClr val="000000"/>
              </a:solidFill>
            </a:endParaRPr>
          </a:p>
        </p:txBody>
      </p:sp>
      <p:grpSp>
        <p:nvGrpSpPr>
          <p:cNvPr id="5" name="组合 4"/>
          <p:cNvGrpSpPr/>
          <p:nvPr/>
        </p:nvGrpSpPr>
        <p:grpSpPr>
          <a:xfrm>
            <a:off x="719698" y="3639927"/>
            <a:ext cx="1569660" cy="1271199"/>
            <a:chOff x="770570" y="3650757"/>
            <a:chExt cx="1569660" cy="1271199"/>
          </a:xfrm>
        </p:grpSpPr>
        <p:sp>
          <p:nvSpPr>
            <p:cNvPr id="212" name="文本框 211"/>
            <p:cNvSpPr txBox="1"/>
            <p:nvPr/>
          </p:nvSpPr>
          <p:spPr>
            <a:xfrm>
              <a:off x="770570" y="4552624"/>
              <a:ext cx="1569660"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分支目标地址</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213" name="图片 2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1272432" y="3911795"/>
              <a:ext cx="829405" cy="307330"/>
            </a:xfrm>
            <a:prstGeom prst="rect">
              <a:avLst/>
            </a:prstGeom>
          </p:spPr>
        </p:pic>
      </p:grpSp>
      <p:grpSp>
        <p:nvGrpSpPr>
          <p:cNvPr id="11" name="组合 10"/>
          <p:cNvGrpSpPr/>
          <p:nvPr/>
        </p:nvGrpSpPr>
        <p:grpSpPr>
          <a:xfrm>
            <a:off x="3564817" y="579319"/>
            <a:ext cx="1672045" cy="1068328"/>
            <a:chOff x="3564817" y="579319"/>
            <a:chExt cx="1672045" cy="1068328"/>
          </a:xfrm>
        </p:grpSpPr>
        <p:sp>
          <p:nvSpPr>
            <p:cNvPr id="211" name="文本框 210"/>
            <p:cNvSpPr txBox="1"/>
            <p:nvPr/>
          </p:nvSpPr>
          <p:spPr>
            <a:xfrm>
              <a:off x="3667202" y="579319"/>
              <a:ext cx="1569660"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误取指令作废</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214" name="图片 2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8331240">
              <a:off x="3363108" y="1119310"/>
              <a:ext cx="710747" cy="307330"/>
            </a:xfrm>
            <a:prstGeom prst="rect">
              <a:avLst/>
            </a:prstGeom>
          </p:spPr>
        </p:pic>
        <p:pic>
          <p:nvPicPr>
            <p:cNvPr id="215" name="图片 2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216369">
              <a:off x="4111212" y="1180536"/>
              <a:ext cx="709071" cy="225152"/>
            </a:xfrm>
            <a:prstGeom prst="rect">
              <a:avLst/>
            </a:prstGeom>
          </p:spPr>
        </p:pic>
      </p:grpSp>
      <p:cxnSp>
        <p:nvCxnSpPr>
          <p:cNvPr id="218" name="直接箭头连接符 217"/>
          <p:cNvCxnSpPr/>
          <p:nvPr/>
        </p:nvCxnSpPr>
        <p:spPr>
          <a:xfrm>
            <a:off x="1697258" y="1890283"/>
            <a:ext cx="5627830" cy="0"/>
          </a:xfrm>
          <a:prstGeom prst="straightConnector1">
            <a:avLst/>
          </a:prstGeom>
          <a:noFill/>
          <a:ln w="57150" cap="sq" cmpd="sng" algn="ctr">
            <a:solidFill>
              <a:srgbClr val="7030A0"/>
            </a:solidFill>
            <a:prstDash val="solid"/>
            <a:miter lim="800000"/>
            <a:tailEnd type="none"/>
          </a:ln>
          <a:effectLst/>
        </p:spPr>
      </p:cxnSp>
      <p:cxnSp>
        <p:nvCxnSpPr>
          <p:cNvPr id="219" name="直接连接符 218"/>
          <p:cNvCxnSpPr/>
          <p:nvPr/>
        </p:nvCxnSpPr>
        <p:spPr>
          <a:xfrm>
            <a:off x="1697258" y="1905085"/>
            <a:ext cx="0" cy="1684692"/>
          </a:xfrm>
          <a:prstGeom prst="line">
            <a:avLst/>
          </a:prstGeom>
          <a:noFill/>
          <a:ln w="57150" cap="sq" cmpd="sng" algn="ctr">
            <a:solidFill>
              <a:srgbClr val="7030A0"/>
            </a:solidFill>
            <a:prstDash val="solid"/>
            <a:miter lim="800000"/>
            <a:tailEnd type="none"/>
          </a:ln>
          <a:effectLst/>
        </p:spPr>
      </p:cxnSp>
      <p:cxnSp>
        <p:nvCxnSpPr>
          <p:cNvPr id="220" name="直接箭头连接符 219"/>
          <p:cNvCxnSpPr/>
          <p:nvPr/>
        </p:nvCxnSpPr>
        <p:spPr>
          <a:xfrm>
            <a:off x="1697258" y="3589777"/>
            <a:ext cx="207722" cy="0"/>
          </a:xfrm>
          <a:prstGeom prst="straightConnector1">
            <a:avLst/>
          </a:prstGeom>
          <a:noFill/>
          <a:ln w="57150" cap="sq" cmpd="sng" algn="ctr">
            <a:solidFill>
              <a:srgbClr val="7030A0"/>
            </a:solidFill>
            <a:prstDash val="solid"/>
            <a:miter lim="800000"/>
            <a:tailEnd type="none"/>
          </a:ln>
          <a:effectLst/>
        </p:spPr>
      </p:cxnSp>
      <p:cxnSp>
        <p:nvCxnSpPr>
          <p:cNvPr id="221" name="直接连接符 220"/>
          <p:cNvCxnSpPr/>
          <p:nvPr/>
        </p:nvCxnSpPr>
        <p:spPr>
          <a:xfrm>
            <a:off x="7345136" y="1890283"/>
            <a:ext cx="0" cy="985955"/>
          </a:xfrm>
          <a:prstGeom prst="line">
            <a:avLst/>
          </a:prstGeom>
          <a:noFill/>
          <a:ln w="57150" cap="sq" cmpd="sng" algn="ctr">
            <a:solidFill>
              <a:srgbClr val="7030A0"/>
            </a:solidFill>
            <a:prstDash val="solid"/>
            <a:miter lim="800000"/>
            <a:tailEnd type="none"/>
          </a:ln>
          <a:effectLst/>
        </p:spPr>
      </p:cxnSp>
      <p:cxnSp>
        <p:nvCxnSpPr>
          <p:cNvPr id="222" name="直接箭头连接符 221"/>
          <p:cNvCxnSpPr/>
          <p:nvPr/>
        </p:nvCxnSpPr>
        <p:spPr>
          <a:xfrm>
            <a:off x="7049670" y="2876238"/>
            <a:ext cx="276391" cy="0"/>
          </a:xfrm>
          <a:prstGeom prst="straightConnector1">
            <a:avLst/>
          </a:prstGeom>
          <a:noFill/>
          <a:ln w="57150" cap="sq" cmpd="sng" algn="ctr">
            <a:solidFill>
              <a:srgbClr val="7030A0"/>
            </a:solidFill>
            <a:prstDash val="solid"/>
            <a:miter lim="800000"/>
            <a:tailEnd type="none"/>
          </a:ln>
          <a:effectLst/>
        </p:spPr>
      </p:cxnSp>
      <p:sp>
        <p:nvSpPr>
          <p:cNvPr id="217" name="文本框 216"/>
          <p:cNvSpPr txBox="1"/>
          <p:nvPr/>
        </p:nvSpPr>
        <p:spPr>
          <a:xfrm>
            <a:off x="1825443" y="2162388"/>
            <a:ext cx="969816" cy="276999"/>
          </a:xfrm>
          <a:prstGeom prst="rect">
            <a:avLst/>
          </a:prstGeom>
          <a:noFill/>
        </p:spPr>
        <p:txBody>
          <a:bodyPr wrap="none" rtlCol="0">
            <a:spAutoFit/>
          </a:bodyPr>
          <a:lstStyle/>
          <a:p>
            <a:pPr algn="ctr"/>
            <a:r>
              <a:rPr lang="en-US" altLang="zh-CN" sz="1200" b="1" dirty="0" err="1">
                <a:solidFill>
                  <a:srgbClr val="00B0F0"/>
                </a:solidFill>
                <a:latin typeface="微软雅黑" panose="020B0503020204020204" pitchFamily="34" charset="-122"/>
                <a:ea typeface="微软雅黑" panose="020B0503020204020204" pitchFamily="34" charset="-122"/>
              </a:rPr>
              <a:t>EX.Branch</a:t>
            </a:r>
            <a:endParaRPr lang="en-US" altLang="zh-CN" sz="1200" b="1" dirty="0">
              <a:solidFill>
                <a:srgbClr val="00B0F0"/>
              </a:solidFill>
              <a:latin typeface="微软雅黑" panose="020B0503020204020204" pitchFamily="34" charset="-122"/>
              <a:ea typeface="微软雅黑" panose="020B0503020204020204" pitchFamily="34" charset="-122"/>
            </a:endParaRPr>
          </a:p>
        </p:txBody>
      </p:sp>
      <p:grpSp>
        <p:nvGrpSpPr>
          <p:cNvPr id="209" name="组合 208"/>
          <p:cNvGrpSpPr/>
          <p:nvPr/>
        </p:nvGrpSpPr>
        <p:grpSpPr>
          <a:xfrm>
            <a:off x="3720077" y="4942564"/>
            <a:ext cx="2080238" cy="778207"/>
            <a:chOff x="3611655" y="5339594"/>
            <a:chExt cx="2080238" cy="830393"/>
          </a:xfrm>
        </p:grpSpPr>
        <p:pic>
          <p:nvPicPr>
            <p:cNvPr id="223" name="图片 2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3350617" y="5600632"/>
              <a:ext cx="829405" cy="307330"/>
            </a:xfrm>
            <a:prstGeom prst="rect">
              <a:avLst/>
            </a:prstGeom>
          </p:spPr>
        </p:pic>
        <p:pic>
          <p:nvPicPr>
            <p:cNvPr id="224" name="图片 22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126786">
              <a:off x="5123525" y="5601620"/>
              <a:ext cx="829405" cy="307330"/>
            </a:xfrm>
            <a:prstGeom prst="rect">
              <a:avLst/>
            </a:prstGeom>
          </p:spPr>
        </p:pic>
      </p:grpSp>
      <p:grpSp>
        <p:nvGrpSpPr>
          <p:cNvPr id="225" name="组合 224"/>
          <p:cNvGrpSpPr/>
          <p:nvPr/>
        </p:nvGrpSpPr>
        <p:grpSpPr>
          <a:xfrm>
            <a:off x="2068778" y="5332131"/>
            <a:ext cx="3319854" cy="400110"/>
            <a:chOff x="1966174" y="6054279"/>
            <a:chExt cx="3319854" cy="400110"/>
          </a:xfrm>
        </p:grpSpPr>
        <p:sp>
          <p:nvSpPr>
            <p:cNvPr id="226" name="文本框 225"/>
            <p:cNvSpPr txBox="1"/>
            <p:nvPr/>
          </p:nvSpPr>
          <p:spPr>
            <a:xfrm>
              <a:off x="1966174" y="6054279"/>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同步清零</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cxnSp>
          <p:nvCxnSpPr>
            <p:cNvPr id="227" name="直接连接符 226"/>
            <p:cNvCxnSpPr/>
            <p:nvPr/>
          </p:nvCxnSpPr>
          <p:spPr>
            <a:xfrm>
              <a:off x="2063218" y="6433502"/>
              <a:ext cx="322281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8" name="组合 227"/>
          <p:cNvGrpSpPr/>
          <p:nvPr/>
        </p:nvGrpSpPr>
        <p:grpSpPr>
          <a:xfrm>
            <a:off x="2028213" y="5988928"/>
            <a:ext cx="8077662" cy="619421"/>
            <a:chOff x="3171687" y="5875471"/>
            <a:chExt cx="7476617" cy="619421"/>
          </a:xfrm>
        </p:grpSpPr>
        <p:sp>
          <p:nvSpPr>
            <p:cNvPr id="229" name="矩形 228"/>
            <p:cNvSpPr/>
            <p:nvPr/>
          </p:nvSpPr>
          <p:spPr>
            <a:xfrm>
              <a:off x="3499651" y="5875471"/>
              <a:ext cx="6806978" cy="61942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0" name="TextBox 24"/>
            <p:cNvSpPr txBox="1"/>
            <p:nvPr/>
          </p:nvSpPr>
          <p:spPr>
            <a:xfrm>
              <a:off x="3171687" y="5895256"/>
              <a:ext cx="7476617" cy="553998"/>
            </a:xfrm>
            <a:prstGeom prst="rect">
              <a:avLst/>
            </a:prstGeom>
            <a:noFill/>
          </p:spPr>
          <p:txBody>
            <a:bodyPr wrap="square" rtlCol="0">
              <a:spAutoFit/>
            </a:bodyPr>
            <a:lstStyle/>
            <a:p>
              <a:pPr lvl="1">
                <a:lnSpc>
                  <a:spcPct val="150000"/>
                </a:lnSpc>
                <a:spcBef>
                  <a:spcPts val="570"/>
                </a:spcBef>
                <a:spcAft>
                  <a:spcPts val="570"/>
                </a:spcAft>
                <a:buClr>
                  <a:srgbClr val="FFC000"/>
                </a:buClr>
                <a:defRPr/>
              </a:pP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分支逻辑：</a:t>
              </a:r>
              <a:r>
                <a:rPr lang="en-US" altLang="zh-CN"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EX</a:t>
              </a: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段选择</a:t>
              </a:r>
              <a:r>
                <a:rPr lang="en-US" altLang="zh-CN"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IF</a:t>
              </a: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段</a:t>
              </a:r>
              <a:r>
                <a:rPr lang="en-US" altLang="zh-CN"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PC</a:t>
              </a: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地址</a:t>
              </a:r>
              <a:r>
                <a:rPr lang="en-US" altLang="zh-CN"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a:t>
              </a: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并给出</a:t>
              </a:r>
              <a:r>
                <a:rPr lang="en-US" altLang="zh-CN"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IF/ID,ID/EX</a:t>
              </a:r>
              <a:r>
                <a:rPr lang="zh-CN" altLang="en-US" sz="2000" b="1" dirty="0">
                  <a:solidFill>
                    <a:prstClr val="black"/>
                  </a:solidFill>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rPr>
                <a:t>清零信号</a:t>
              </a:r>
              <a:endParaRPr kumimoji="0" lang="en-US" altLang="zh-CN" sz="2000" b="1"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sym typeface="Arial" panose="020B0604020202020204" pitchFamily="34" charset="0"/>
              </a:endParaRPr>
            </a:p>
          </p:txBody>
        </p:sp>
      </p:grpSp>
      <p:sp>
        <p:nvSpPr>
          <p:cNvPr id="9" name="圆角矩形 8"/>
          <p:cNvSpPr/>
          <p:nvPr/>
        </p:nvSpPr>
        <p:spPr>
          <a:xfrm>
            <a:off x="1904981" y="2162389"/>
            <a:ext cx="861902" cy="27099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85758"/>
    </mc:Choice>
    <mc:Fallback>
      <p:transition spd="slow" advTm="857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ipe(left)">
                                      <p:cBhvr>
                                        <p:cTn id="7" dur="500"/>
                                        <p:tgtEl>
                                          <p:spTgt spid="22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21"/>
                                        </p:tgtEl>
                                        <p:attrNameLst>
                                          <p:attrName>style.visibility</p:attrName>
                                        </p:attrNameLst>
                                      </p:cBhvr>
                                      <p:to>
                                        <p:strVal val="visible"/>
                                      </p:to>
                                    </p:set>
                                    <p:animEffect transition="in" filter="wipe(down)">
                                      <p:cBhvr>
                                        <p:cTn id="11" dur="500"/>
                                        <p:tgtEl>
                                          <p:spTgt spid="221"/>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218"/>
                                        </p:tgtEl>
                                        <p:attrNameLst>
                                          <p:attrName>style.visibility</p:attrName>
                                        </p:attrNameLst>
                                      </p:cBhvr>
                                      <p:to>
                                        <p:strVal val="visible"/>
                                      </p:to>
                                    </p:set>
                                    <p:animEffect transition="in" filter="wipe(right)">
                                      <p:cBhvr>
                                        <p:cTn id="15" dur="500"/>
                                        <p:tgtEl>
                                          <p:spTgt spid="218"/>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19"/>
                                        </p:tgtEl>
                                        <p:attrNameLst>
                                          <p:attrName>style.visibility</p:attrName>
                                        </p:attrNameLst>
                                      </p:cBhvr>
                                      <p:to>
                                        <p:strVal val="visible"/>
                                      </p:to>
                                    </p:set>
                                    <p:animEffect transition="in" filter="wipe(up)">
                                      <p:cBhvr>
                                        <p:cTn id="19" dur="500"/>
                                        <p:tgtEl>
                                          <p:spTgt spid="219"/>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20"/>
                                        </p:tgtEl>
                                        <p:attrNameLst>
                                          <p:attrName>style.visibility</p:attrName>
                                        </p:attrNameLst>
                                      </p:cBhvr>
                                      <p:to>
                                        <p:strVal val="visible"/>
                                      </p:to>
                                    </p:set>
                                    <p:animEffect transition="in" filter="wipe(left)">
                                      <p:cBhvr>
                                        <p:cTn id="23" dur="500"/>
                                        <p:tgtEl>
                                          <p:spTgt spid="220"/>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repeatCount="200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500"/>
                                        <p:tgtEl>
                                          <p:spTgt spid="11"/>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09"/>
                                        </p:tgtEl>
                                        <p:attrNameLst>
                                          <p:attrName>style.visibility</p:attrName>
                                        </p:attrNameLst>
                                      </p:cBhvr>
                                      <p:to>
                                        <p:strVal val="visible"/>
                                      </p:to>
                                    </p:set>
                                    <p:animEffect transition="in" filter="wipe(down)">
                                      <p:cBhvr>
                                        <p:cTn id="46" dur="500"/>
                                        <p:tgtEl>
                                          <p:spTgt spid="209"/>
                                        </p:tgtEl>
                                      </p:cBhvr>
                                    </p:animEffect>
                                  </p:childTnLst>
                                </p:cTn>
                              </p:par>
                            </p:childTnLst>
                          </p:cTn>
                        </p:par>
                        <p:par>
                          <p:cTn id="47" fill="hold">
                            <p:stCondLst>
                              <p:cond delay="500"/>
                            </p:stCondLst>
                            <p:childTnLst>
                              <p:par>
                                <p:cTn id="48" presetID="22" presetClass="entr" presetSubtype="2" fill="hold" nodeType="afterEffect">
                                  <p:stCondLst>
                                    <p:cond delay="0"/>
                                  </p:stCondLst>
                                  <p:childTnLst>
                                    <p:set>
                                      <p:cBhvr>
                                        <p:cTn id="49" dur="1" fill="hold">
                                          <p:stCondLst>
                                            <p:cond delay="0"/>
                                          </p:stCondLst>
                                        </p:cTn>
                                        <p:tgtEl>
                                          <p:spTgt spid="225"/>
                                        </p:tgtEl>
                                        <p:attrNameLst>
                                          <p:attrName>style.visibility</p:attrName>
                                        </p:attrNameLst>
                                      </p:cBhvr>
                                      <p:to>
                                        <p:strVal val="visible"/>
                                      </p:to>
                                    </p:set>
                                    <p:animEffect transition="in" filter="wipe(right)">
                                      <p:cBhvr>
                                        <p:cTn id="50"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p:cNvPicPr>
            <a:picLocks noChangeAspect="1"/>
          </p:cNvPicPr>
          <p:nvPr>
            <p:ph idx="1"/>
          </p:nvPr>
        </p:nvPicPr>
        <p:blipFill>
          <a:blip r:embed="rId1"/>
          <a:stretch>
            <a:fillRect/>
          </a:stretch>
        </p:blipFill>
        <p:spPr>
          <a:xfrm>
            <a:off x="0" y="0"/>
            <a:ext cx="12116435" cy="6794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172720" y="185420"/>
            <a:ext cx="11971020" cy="6167755"/>
          </a:xfrm>
          <a:prstGeom prst="rect">
            <a:avLst/>
          </a:prstGeom>
        </p:spPr>
      </p:pic>
      <p:sp>
        <p:nvSpPr>
          <p:cNvPr id="3" name="椭圆 2"/>
          <p:cNvSpPr/>
          <p:nvPr/>
        </p:nvSpPr>
        <p:spPr>
          <a:xfrm>
            <a:off x="9810750" y="2068830"/>
            <a:ext cx="1184910" cy="757555"/>
          </a:xfrm>
          <a:prstGeom prst="ellipse">
            <a:avLst/>
          </a:prstGeom>
          <a:noFill/>
          <a:ln w="508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椭圆 5"/>
          <p:cNvSpPr/>
          <p:nvPr/>
        </p:nvSpPr>
        <p:spPr>
          <a:xfrm>
            <a:off x="670560" y="2953385"/>
            <a:ext cx="1184910" cy="757555"/>
          </a:xfrm>
          <a:prstGeom prst="ellipse">
            <a:avLst/>
          </a:prstGeom>
          <a:noFill/>
          <a:ln w="508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nvSpPr>
        <p:spPr>
          <a:xfrm>
            <a:off x="6713220" y="2068830"/>
            <a:ext cx="1184910" cy="757555"/>
          </a:xfrm>
          <a:prstGeom prst="ellipse">
            <a:avLst/>
          </a:prstGeom>
          <a:noFill/>
          <a:ln w="508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487045" y="414655"/>
            <a:ext cx="5692775" cy="894080"/>
          </a:xfrm>
          <a:prstGeom prst="rect">
            <a:avLst/>
          </a:prstGeom>
          <a:noFill/>
        </p:spPr>
        <p:txBody>
          <a:bodyPr wrap="square" rtlCol="0" anchor="t">
            <a:spAutoFit/>
          </a:bodyPr>
          <a:p>
            <a:pPr marL="0" lvl="1" indent="0" algn="l" fontAlgn="auto">
              <a:lnSpc>
                <a:spcPct val="120000"/>
              </a:lnSpc>
              <a:spcBef>
                <a:spcPts val="500"/>
              </a:spcBef>
              <a:buClr>
                <a:srgbClr val="FFC000"/>
              </a:buClr>
              <a:buFont typeface="Wingdings" panose="05000000000000000000" pitchFamily="2" charset="2"/>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BranchTaken=1</a:t>
            </a:r>
            <a:r>
              <a:rPr lang="zh-CN" altLang="en-US" sz="2000" dirty="0">
                <a:solidFill>
                  <a:srgbClr val="FF0000"/>
                </a:solidFill>
                <a:latin typeface="微软雅黑" panose="020B0503020204020204" pitchFamily="34" charset="-122"/>
                <a:ea typeface="微软雅黑" panose="020B0503020204020204" pitchFamily="34" charset="-122"/>
                <a:sym typeface="+mn-ea"/>
              </a:rPr>
              <a:t>造成</a:t>
            </a:r>
            <a:r>
              <a:rPr lang="en-US" altLang="zh-CN" sz="2000" dirty="0">
                <a:solidFill>
                  <a:srgbClr val="FF0000"/>
                </a:solidFill>
                <a:latin typeface="微软雅黑" panose="020B0503020204020204" pitchFamily="34" charset="-122"/>
                <a:ea typeface="微软雅黑" panose="020B0503020204020204" pitchFamily="34" charset="-122"/>
                <a:sym typeface="+mn-ea"/>
              </a:rPr>
              <a:t>IF/ID</a:t>
            </a:r>
            <a:r>
              <a:rPr lang="zh-CN" altLang="en-US" sz="2000" dirty="0">
                <a:solidFill>
                  <a:srgbClr val="FF0000"/>
                </a:solidFill>
                <a:latin typeface="微软雅黑" panose="020B0503020204020204" pitchFamily="34" charset="-122"/>
                <a:ea typeface="微软雅黑" panose="020B0503020204020204" pitchFamily="34" charset="-122"/>
                <a:sym typeface="+mn-ea"/>
              </a:rPr>
              <a:t>、</a:t>
            </a:r>
            <a:r>
              <a:rPr lang="en-US" altLang="zh-CN" sz="2000" dirty="0">
                <a:solidFill>
                  <a:srgbClr val="FF0000"/>
                </a:solidFill>
                <a:latin typeface="微软雅黑" panose="020B0503020204020204" pitchFamily="34" charset="-122"/>
                <a:ea typeface="微软雅黑" panose="020B0503020204020204" pitchFamily="34" charset="-122"/>
                <a:sym typeface="+mn-ea"/>
              </a:rPr>
              <a:t>ID/EX</a:t>
            </a:r>
            <a:r>
              <a:rPr lang="zh-CN" altLang="en-US" sz="2000" dirty="0">
                <a:solidFill>
                  <a:srgbClr val="FF0000"/>
                </a:solidFill>
                <a:latin typeface="微软雅黑" panose="020B0503020204020204" pitchFamily="34" charset="-122"/>
                <a:ea typeface="微软雅黑" panose="020B0503020204020204" pitchFamily="34" charset="-122"/>
                <a:sym typeface="+mn-ea"/>
              </a:rPr>
              <a:t>同步清零</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a:p>
            <a:pPr marL="0" lvl="1" indent="0" algn="l" fontAlgn="auto">
              <a:lnSpc>
                <a:spcPct val="120000"/>
              </a:lnSpc>
              <a:spcBef>
                <a:spcPts val="500"/>
              </a:spcBef>
              <a:buClr>
                <a:srgbClr val="FFC000"/>
              </a:buClr>
              <a:buFont typeface="Wingdings" panose="05000000000000000000" pitchFamily="2" charset="2"/>
              <a:buNone/>
            </a:pPr>
            <a:r>
              <a:rPr lang="zh-CN" altLang="en-US" sz="2000" dirty="0">
                <a:solidFill>
                  <a:srgbClr val="FF0000"/>
                </a:solidFill>
                <a:latin typeface="微软雅黑" panose="020B0503020204020204" pitchFamily="34" charset="-122"/>
                <a:ea typeface="微软雅黑" panose="020B0503020204020204" pitchFamily="34" charset="-122"/>
                <a:sym typeface="+mn-ea"/>
              </a:rPr>
              <a:t>相当于加入</a:t>
            </a:r>
            <a:r>
              <a:rPr lang="en-US" altLang="zh-CN" sz="2000" dirty="0">
                <a:solidFill>
                  <a:srgbClr val="FF0000"/>
                </a:solidFill>
                <a:latin typeface="微软雅黑" panose="020B0503020204020204" pitchFamily="34" charset="-122"/>
                <a:ea typeface="微软雅黑" panose="020B0503020204020204" pitchFamily="34" charset="-122"/>
                <a:sym typeface="+mn-ea"/>
              </a:rPr>
              <a:t>2</a:t>
            </a:r>
            <a:r>
              <a:rPr lang="zh-CN" altLang="en-US" sz="2000" dirty="0">
                <a:solidFill>
                  <a:srgbClr val="FF0000"/>
                </a:solidFill>
                <a:latin typeface="微软雅黑" panose="020B0503020204020204" pitchFamily="34" charset="-122"/>
                <a:ea typeface="微软雅黑" panose="020B0503020204020204" pitchFamily="34" charset="-122"/>
                <a:sym typeface="+mn-ea"/>
              </a:rPr>
              <a:t>个</a:t>
            </a:r>
            <a:r>
              <a:rPr lang="zh-CN" altLang="en-US" sz="2000" dirty="0">
                <a:solidFill>
                  <a:srgbClr val="FF0000"/>
                </a:solidFill>
                <a:latin typeface="微软雅黑" panose="020B0503020204020204" pitchFamily="34" charset="-122"/>
                <a:ea typeface="微软雅黑" panose="020B0503020204020204" pitchFamily="34" charset="-122"/>
                <a:sym typeface="+mn-ea"/>
              </a:rPr>
              <a:t>气泡</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同步清零的寄存器设计（参教材</a:t>
            </a:r>
            <a:r>
              <a:rPr lang="en-US" altLang="zh-CN"/>
              <a:t>P165</a:t>
            </a:r>
            <a:r>
              <a:rPr lang="zh-CN" altLang="en-US"/>
              <a:t>）</a:t>
            </a:r>
            <a:endParaRPr lang="zh-CN" altLang="en-US"/>
          </a:p>
        </p:txBody>
      </p:sp>
      <p:pic>
        <p:nvPicPr>
          <p:cNvPr id="4" name="内容占位符 3"/>
          <p:cNvPicPr>
            <a:picLocks noChangeAspect="1"/>
          </p:cNvPicPr>
          <p:nvPr>
            <p:ph idx="1"/>
          </p:nvPr>
        </p:nvPicPr>
        <p:blipFill>
          <a:blip r:embed="rId1"/>
          <a:stretch>
            <a:fillRect/>
          </a:stretch>
        </p:blipFill>
        <p:spPr>
          <a:xfrm>
            <a:off x="1285875" y="1169035"/>
            <a:ext cx="8985885" cy="5507990"/>
          </a:xfrm>
          <a:prstGeom prst="rect">
            <a:avLst/>
          </a:prstGeom>
        </p:spPr>
      </p:pic>
      <p:sp>
        <p:nvSpPr>
          <p:cNvPr id="3" name="文本框 2"/>
          <p:cNvSpPr txBox="1"/>
          <p:nvPr/>
        </p:nvSpPr>
        <p:spPr>
          <a:xfrm>
            <a:off x="5059680" y="2757170"/>
            <a:ext cx="705485" cy="368300"/>
          </a:xfrm>
          <a:prstGeom prst="rect">
            <a:avLst/>
          </a:prstGeom>
          <a:noFill/>
        </p:spPr>
        <p:txBody>
          <a:bodyPr wrap="square" rtlCol="0">
            <a:spAutoFit/>
          </a:bodyPr>
          <a:p>
            <a:r>
              <a:rPr lang="zh-CN" altLang="en-US" b="1"/>
              <a:t>片选</a:t>
            </a:r>
            <a:endParaRPr lang="zh-CN" altLang="en-US" b="1"/>
          </a:p>
        </p:txBody>
      </p:sp>
      <p:sp>
        <p:nvSpPr>
          <p:cNvPr id="5" name="文本框 4"/>
          <p:cNvSpPr txBox="1"/>
          <p:nvPr/>
        </p:nvSpPr>
        <p:spPr>
          <a:xfrm>
            <a:off x="6254115" y="2143760"/>
            <a:ext cx="705485" cy="368300"/>
          </a:xfrm>
          <a:prstGeom prst="rect">
            <a:avLst/>
          </a:prstGeom>
          <a:noFill/>
        </p:spPr>
        <p:txBody>
          <a:bodyPr wrap="square" rtlCol="0">
            <a:spAutoFit/>
          </a:bodyPr>
          <a:p>
            <a:r>
              <a:rPr lang="zh-CN" altLang="en-US" b="1"/>
              <a:t>置位</a:t>
            </a:r>
            <a:endParaRPr lang="zh-CN" altLang="en-US"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分支相关总结</a:t>
            </a:r>
            <a:endParaRPr lang="zh-CN" altLang="en-US" dirty="0"/>
          </a:p>
        </p:txBody>
      </p:sp>
      <p:sp>
        <p:nvSpPr>
          <p:cNvPr id="3" name="内容占位符 2"/>
          <p:cNvSpPr>
            <a:spLocks noGrp="1"/>
          </p:cNvSpPr>
          <p:nvPr>
            <p:ph idx="1"/>
          </p:nvPr>
        </p:nvSpPr>
        <p:spPr>
          <a:xfrm>
            <a:off x="487823" y="942764"/>
            <a:ext cx="10862348" cy="5637024"/>
          </a:xfrm>
        </p:spPr>
        <p:txBody>
          <a:bodyPr/>
          <a:lstStyle/>
          <a:p>
            <a:r>
              <a:rPr lang="zh-CN" altLang="en-US" dirty="0"/>
              <a:t>指令跳转</a:t>
            </a:r>
            <a:endParaRPr lang="en-US" altLang="zh-CN" dirty="0"/>
          </a:p>
          <a:p>
            <a:pPr lvl="1"/>
            <a:r>
              <a:rPr lang="en-US" altLang="zh-CN" dirty="0"/>
              <a:t>IF</a:t>
            </a:r>
            <a:r>
              <a:rPr lang="zh-CN" altLang="en-US" dirty="0"/>
              <a:t>段重新取新的指令    </a:t>
            </a:r>
            <a:endParaRPr lang="en-US" altLang="zh-CN" dirty="0"/>
          </a:p>
          <a:p>
            <a:r>
              <a:rPr lang="zh-CN" altLang="en-US" dirty="0"/>
              <a:t>清除误取指令</a:t>
            </a:r>
            <a:endParaRPr lang="en-US" altLang="zh-CN" dirty="0"/>
          </a:p>
          <a:p>
            <a:pPr lvl="1"/>
            <a:r>
              <a:rPr lang="en-US" altLang="zh-CN" dirty="0"/>
              <a:t>IF/ID</a:t>
            </a:r>
            <a:r>
              <a:rPr lang="zh-CN" altLang="en-US" dirty="0"/>
              <a:t>、</a:t>
            </a:r>
            <a:r>
              <a:rPr lang="en-US" altLang="zh-CN" dirty="0"/>
              <a:t>ID/EX</a:t>
            </a:r>
            <a:r>
              <a:rPr lang="zh-CN" altLang="en-US" dirty="0"/>
              <a:t>段给出同步清零信号</a:t>
            </a:r>
            <a:endParaRPr lang="en-US" altLang="zh-CN" dirty="0"/>
          </a:p>
          <a:p>
            <a:r>
              <a:rPr lang="zh-CN" altLang="en-US" dirty="0"/>
              <a:t>分支指令执行阶段？</a:t>
            </a:r>
            <a:endParaRPr lang="en-US" altLang="zh-CN" dirty="0"/>
          </a:p>
          <a:p>
            <a:pPr lvl="1"/>
            <a:r>
              <a:rPr lang="zh-CN" altLang="en-US" dirty="0"/>
              <a:t>越早执行，性能损失越小</a:t>
            </a:r>
            <a:endParaRPr lang="en-US" altLang="zh-CN" dirty="0"/>
          </a:p>
          <a:p>
            <a:pPr lvl="1"/>
            <a:r>
              <a:rPr lang="en-US" altLang="zh-CN" dirty="0"/>
              <a:t>MIPS</a:t>
            </a:r>
            <a:r>
              <a:rPr lang="zh-CN" altLang="en-US" dirty="0"/>
              <a:t>中通常为</a:t>
            </a:r>
            <a:r>
              <a:rPr lang="en-US" altLang="zh-CN" dirty="0"/>
              <a:t>ID</a:t>
            </a:r>
            <a:r>
              <a:rPr lang="zh-CN" altLang="en-US" dirty="0"/>
              <a:t>段执行，为了简化本实验在</a:t>
            </a:r>
            <a:r>
              <a:rPr lang="en-US" altLang="zh-CN" dirty="0"/>
              <a:t>EX</a:t>
            </a:r>
            <a:r>
              <a:rPr lang="zh-CN" altLang="en-US" dirty="0"/>
              <a:t>段执行</a:t>
            </a:r>
            <a:endParaRPr lang="en-US" altLang="zh-CN" dirty="0"/>
          </a:p>
          <a:p>
            <a:r>
              <a:rPr lang="zh-CN" altLang="en-US" dirty="0"/>
              <a:t>分支延迟槽技术</a:t>
            </a:r>
            <a:endParaRPr lang="en-US" altLang="zh-CN" dirty="0"/>
          </a:p>
          <a:p>
            <a:pPr lvl="1"/>
            <a:r>
              <a:rPr lang="zh-CN" altLang="en-US" dirty="0"/>
              <a:t>配合</a:t>
            </a:r>
            <a:r>
              <a:rPr lang="en-US" altLang="zh-CN" dirty="0"/>
              <a:t>ID</a:t>
            </a:r>
            <a:r>
              <a:rPr lang="zh-CN" altLang="en-US" dirty="0"/>
              <a:t>段执行分支指令，彻底消除分支带来的流水性能损失</a:t>
            </a:r>
            <a:endParaRPr lang="en-US" altLang="zh-CN" dirty="0"/>
          </a:p>
          <a:p>
            <a:pPr lvl="1"/>
            <a:r>
              <a:rPr lang="zh-CN" altLang="en-US" dirty="0"/>
              <a:t>如何将有用的指令载入延迟槽比较关键</a:t>
            </a:r>
            <a:endParaRPr lang="en-US" altLang="zh-CN" dirty="0"/>
          </a:p>
          <a:p>
            <a:pPr lvl="1"/>
            <a:r>
              <a:rPr lang="en-US" altLang="zh-CN" dirty="0"/>
              <a:t>X86</a:t>
            </a:r>
            <a:r>
              <a:rPr lang="zh-CN" altLang="en-US" dirty="0"/>
              <a:t>中没有分支延迟槽，采用动态分支预测技术</a:t>
            </a:r>
            <a:endParaRPr lang="en-US" altLang="zh-CN" dirty="0"/>
          </a:p>
          <a:p>
            <a:pPr lvl="1"/>
            <a:endParaRPr lang="en-US" altLang="zh-CN" dirty="0"/>
          </a:p>
          <a:p>
            <a:pPr lvl="1"/>
            <a:endParaRPr lang="en-US" altLang="zh-CN" dirty="0"/>
          </a:p>
          <a:p>
            <a:pPr lvl="1"/>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99259"/>
    </mc:Choice>
    <mc:Fallback>
      <p:transition spd="slow" advTm="99259"/>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分支相关处理实验</a:t>
            </a:r>
            <a:endParaRPr lang="zh-CN" altLang="en-US" dirty="0"/>
          </a:p>
        </p:txBody>
      </p:sp>
      <p:sp>
        <p:nvSpPr>
          <p:cNvPr id="3" name="内容占位符 2"/>
          <p:cNvSpPr>
            <a:spLocks noGrp="1"/>
          </p:cNvSpPr>
          <p:nvPr>
            <p:ph idx="1"/>
          </p:nvPr>
        </p:nvSpPr>
        <p:spPr/>
        <p:txBody>
          <a:bodyPr/>
          <a:lstStyle/>
          <a:p>
            <a:r>
              <a:rPr lang="zh-CN" altLang="en-US" dirty="0"/>
              <a:t>为流水接口增加气泡逻辑</a:t>
            </a:r>
            <a:endParaRPr lang="en-US" altLang="zh-CN" dirty="0"/>
          </a:p>
          <a:p>
            <a:r>
              <a:rPr lang="zh-CN" altLang="en-US" dirty="0"/>
              <a:t>实现流水线分支跳转逻辑</a:t>
            </a:r>
            <a:endParaRPr lang="en-US" altLang="zh-CN" dirty="0"/>
          </a:p>
          <a:p>
            <a:pPr lvl="1"/>
            <a:r>
              <a:rPr lang="zh-CN" altLang="en-US" dirty="0"/>
              <a:t>完成</a:t>
            </a:r>
            <a:r>
              <a:rPr lang="en-US" altLang="zh-CN" dirty="0"/>
              <a:t>EX</a:t>
            </a:r>
            <a:r>
              <a:rPr lang="zh-CN" altLang="en-US" dirty="0"/>
              <a:t>段分支地址与</a:t>
            </a:r>
            <a:r>
              <a:rPr lang="en-US" altLang="zh-CN" dirty="0"/>
              <a:t>IF</a:t>
            </a:r>
            <a:r>
              <a:rPr lang="zh-CN" altLang="en-US" dirty="0"/>
              <a:t>段的数据通路连接</a:t>
            </a:r>
            <a:endParaRPr lang="en-US" altLang="zh-CN" dirty="0"/>
          </a:p>
          <a:p>
            <a:pPr lvl="1"/>
            <a:r>
              <a:rPr lang="zh-CN" altLang="en-US" dirty="0"/>
              <a:t>完成</a:t>
            </a:r>
            <a:r>
              <a:rPr lang="en-US" altLang="zh-CN" dirty="0"/>
              <a:t>IF</a:t>
            </a:r>
            <a:r>
              <a:rPr lang="zh-CN" altLang="en-US" dirty="0"/>
              <a:t>段</a:t>
            </a:r>
            <a:r>
              <a:rPr lang="en-US" altLang="zh-CN" dirty="0"/>
              <a:t>PC</a:t>
            </a:r>
            <a:r>
              <a:rPr lang="zh-CN" altLang="en-US" dirty="0"/>
              <a:t>输入端多路选择器选择信号的连接</a:t>
            </a:r>
            <a:endParaRPr lang="en-US" altLang="zh-CN" dirty="0"/>
          </a:p>
          <a:p>
            <a:pPr lvl="1"/>
            <a:r>
              <a:rPr lang="zh-CN" altLang="en-US" dirty="0"/>
              <a:t>给出分支相关的气泡逻辑</a:t>
            </a:r>
            <a:endParaRPr lang="en-US" altLang="zh-CN" dirty="0"/>
          </a:p>
          <a:p>
            <a:r>
              <a:rPr lang="zh-CN" altLang="en-US" dirty="0"/>
              <a:t>在指令存储器中加载</a:t>
            </a:r>
            <a:r>
              <a:rPr lang="zh-CN" altLang="en-US" dirty="0">
                <a:solidFill>
                  <a:srgbClr val="0066FF"/>
                </a:solidFill>
              </a:rPr>
              <a:t>分支相关测试</a:t>
            </a:r>
            <a:r>
              <a:rPr lang="en-US" altLang="zh-CN" dirty="0">
                <a:solidFill>
                  <a:srgbClr val="0066FF"/>
                </a:solidFill>
              </a:rPr>
              <a:t>.hex</a:t>
            </a:r>
            <a:endParaRPr lang="en-US" altLang="zh-CN" dirty="0">
              <a:solidFill>
                <a:srgbClr val="0066FF"/>
              </a:solidFill>
            </a:endParaRPr>
          </a:p>
          <a:p>
            <a:r>
              <a:rPr lang="en-US" altLang="zh-CN" dirty="0" err="1"/>
              <a:t>Ctrl+k</a:t>
            </a:r>
            <a:r>
              <a:rPr lang="zh-CN" altLang="en-US" dirty="0"/>
              <a:t>驱动自动仿真后，程序停机</a:t>
            </a:r>
            <a:endParaRPr lang="en-US" altLang="zh-CN" dirty="0"/>
          </a:p>
          <a:p>
            <a:r>
              <a:rPr lang="zh-CN" altLang="en-US" dirty="0"/>
              <a:t>程序效果：</a:t>
            </a:r>
            <a:r>
              <a:rPr lang="en-US" altLang="zh-CN" dirty="0"/>
              <a:t>LED</a:t>
            </a:r>
            <a:r>
              <a:rPr lang="zh-CN" altLang="en-US" dirty="0"/>
              <a:t>显示区倒计数到零停止</a:t>
            </a:r>
            <a:endParaRPr lang="en-US" altLang="zh-CN" dirty="0"/>
          </a:p>
        </p:txBody>
      </p:sp>
      <p:pic>
        <p:nvPicPr>
          <p:cNvPr id="7" name="图片 6"/>
          <p:cNvPicPr>
            <a:picLocks noChangeAspect="1"/>
          </p:cNvPicPr>
          <p:nvPr/>
        </p:nvPicPr>
        <p:blipFill>
          <a:blip r:embed="rId1"/>
          <a:stretch>
            <a:fillRect/>
          </a:stretch>
        </p:blipFill>
        <p:spPr>
          <a:xfrm>
            <a:off x="6859596" y="515617"/>
            <a:ext cx="5078404" cy="6064171"/>
          </a:xfrm>
          <a:prstGeom prst="rect">
            <a:avLst/>
          </a:prstGeom>
        </p:spPr>
      </p:pic>
      <p:pic>
        <p:nvPicPr>
          <p:cNvPr id="5" name="Rec 0002_clip">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248113" y="5254590"/>
            <a:ext cx="3936363" cy="1178479"/>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17673"/>
    </mc:Choice>
    <mc:Fallback>
      <p:transition spd="slow" advTm="1176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left)">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up)">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down)">
                                      <p:cBhvr>
                                        <p:cTn id="48" dur="500"/>
                                        <p:tgtEl>
                                          <p:spTgt spid="5"/>
                                        </p:tgtEl>
                                      </p:cBhvr>
                                    </p:animEffect>
                                  </p:childTnLst>
                                </p:cTn>
                              </p:par>
                            </p:childTnLst>
                          </p:cTn>
                        </p:par>
                        <p:par>
                          <p:cTn id="49" fill="hold">
                            <p:stCondLst>
                              <p:cond delay="500"/>
                            </p:stCondLst>
                            <p:childTnLst>
                              <p:par>
                                <p:cTn id="50" presetID="1" presetClass="mediacall" presetSubtype="0" fill="hold" nodeType="afterEffect">
                                  <p:stCondLst>
                                    <p:cond delay="0"/>
                                  </p:stCondLst>
                                  <p:childTnLst>
                                    <p:cmd type="call" cmd="playFrom(0.0)">
                                      <p:cBhvr>
                                        <p:cTn id="51" dur="815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52" fill="hold" display="0">
                  <p:stCondLst>
                    <p:cond delay="indefinite"/>
                  </p:stCondLst>
                </p:cTn>
                <p:tgtEl>
                  <p:spTgt spid="5"/>
                </p:tgtEl>
              </p:cMediaNode>
            </p:video>
            <p:seq concurrent="1" nextAc="seek">
              <p:cTn id="53" restart="whenNotActive" fill="hold" evtFilter="cancelBubble" nodeType="interactiveSeq">
                <p:stCondLst>
                  <p:cond evt="onClick" delay="0">
                    <p:tgtEl>
                      <p:spTgt spid="5"/>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saturation sat="400000"/>
                    </a14:imgEffect>
                  </a14:imgLayer>
                </a14:imgProps>
              </a:ext>
              <a:ext uri="{28A0092B-C50C-407E-A947-70E740481C1C}">
                <a14:useLocalDpi xmlns:a14="http://schemas.microsoft.com/office/drawing/2010/main" val="0"/>
              </a:ext>
            </a:extLst>
          </a:blip>
          <a:srcRect l="78775"/>
          <a:stretch>
            <a:fillRect/>
          </a:stretch>
        </p:blipFill>
        <p:spPr>
          <a:xfrm>
            <a:off x="0" y="0"/>
            <a:ext cx="3591499" cy="6858000"/>
          </a:xfrm>
          <a:prstGeom prst="rect">
            <a:avLst/>
          </a:prstGeom>
        </p:spPr>
      </p:pic>
      <p:sp>
        <p:nvSpPr>
          <p:cNvPr id="12" name="矩形 11"/>
          <p:cNvSpPr/>
          <p:nvPr/>
        </p:nvSpPr>
        <p:spPr>
          <a:xfrm>
            <a:off x="0" y="0"/>
            <a:ext cx="3591499" cy="6858000"/>
          </a:xfrm>
          <a:prstGeom prst="rect">
            <a:avLst/>
          </a:prstGeom>
          <a:solidFill>
            <a:srgbClr val="005D9C">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11243" y="2595892"/>
            <a:ext cx="6062130" cy="783096"/>
          </a:xfrm>
          <a:prstGeom prst="rect">
            <a:avLst/>
          </a:prstGeom>
          <a:solidFill>
            <a:srgbClr val="CDFBFF"/>
          </a:solidFill>
          <a:ln w="38100">
            <a:solidFill>
              <a:srgbClr val="005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243529" y="2633497"/>
            <a:ext cx="5507731" cy="707886"/>
          </a:xfrm>
          <a:prstGeom prst="rect">
            <a:avLst/>
          </a:prstGeom>
          <a:noFill/>
        </p:spPr>
        <p:txBody>
          <a:bodyPr wrap="square" rtlCol="0">
            <a:spAutoFit/>
          </a:bodyPr>
          <a:lstStyle/>
          <a:p>
            <a:r>
              <a:rPr lang="zh-CN" altLang="en-US" sz="4000" b="1" spc="600" dirty="0">
                <a:solidFill>
                  <a:srgbClr val="005D9C"/>
                </a:solidFill>
                <a:latin typeface="微软雅黑" panose="020B0503020204020204" pitchFamily="34" charset="-122"/>
                <a:ea typeface="微软雅黑" panose="020B0503020204020204" pitchFamily="34" charset="-122"/>
              </a:rPr>
              <a:t>流水线数据相关处理</a:t>
            </a:r>
            <a:endParaRPr lang="zh-CN" altLang="en-US" sz="4000" b="1" spc="600" dirty="0">
              <a:solidFill>
                <a:srgbClr val="005D9C"/>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clrChange>
              <a:clrFrom>
                <a:srgbClr val="656D78"/>
              </a:clrFrom>
              <a:clrTo>
                <a:srgbClr val="656D78">
                  <a:alpha val="0"/>
                </a:srgbClr>
              </a:clrTo>
            </a:clrChange>
          </a:blip>
          <a:stretch>
            <a:fillRect/>
          </a:stretch>
        </p:blipFill>
        <p:spPr>
          <a:xfrm>
            <a:off x="1352099" y="715288"/>
            <a:ext cx="880575" cy="877289"/>
          </a:xfrm>
          <a:prstGeom prst="rect">
            <a:avLst/>
          </a:prstGeom>
        </p:spPr>
      </p:pic>
      <p:sp>
        <p:nvSpPr>
          <p:cNvPr id="18" name="圆角矩形 17"/>
          <p:cNvSpPr/>
          <p:nvPr/>
        </p:nvSpPr>
        <p:spPr>
          <a:xfrm>
            <a:off x="1235765" y="606295"/>
            <a:ext cx="1083362" cy="1083362"/>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4"/>
          <a:stretch>
            <a:fillRect/>
          </a:stretch>
        </p:blipFill>
        <p:spPr>
          <a:xfrm>
            <a:off x="114614" y="1997703"/>
            <a:ext cx="3476885" cy="635794"/>
          </a:xfrm>
          <a:prstGeom prst="rect">
            <a:avLst/>
          </a:prstGeom>
        </p:spPr>
      </p:pic>
      <p:cxnSp>
        <p:nvCxnSpPr>
          <p:cNvPr id="22" name="直接连接符 21"/>
          <p:cNvCxnSpPr/>
          <p:nvPr/>
        </p:nvCxnSpPr>
        <p:spPr>
          <a:xfrm>
            <a:off x="321366" y="2440240"/>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21366" y="2452007"/>
            <a:ext cx="299167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5964">
        <p15:prstTrans prst="pageCurlDouble" invX="1"/>
        <p:sndAc>
          <p:stSnd>
            <p:snd r:embed="rId5" name="chimes.wav"/>
          </p:stSnd>
        </p:sndAc>
      </p:transition>
    </mc:Choice>
    <mc:Fallback>
      <p:transition spd="slow" advTm="5964">
        <p:fade/>
        <p:sndAc>
          <p:stSnd>
            <p:snd r:embed="rId5" name="chimes.wav"/>
          </p:stSnd>
        </p:sndAc>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p:txBody>
          <a:bodyPr/>
          <a:lstStyle/>
          <a:p>
            <a:r>
              <a:rPr lang="zh-CN" altLang="en-US" dirty="0"/>
              <a:t>指令流水线的相关、冲突、冒险（</a:t>
            </a:r>
            <a:r>
              <a:rPr lang="en-US" altLang="zh-CN" dirty="0"/>
              <a:t>hazard</a:t>
            </a:r>
            <a:r>
              <a:rPr lang="zh-CN" altLang="en-US" dirty="0"/>
              <a:t>）</a:t>
            </a:r>
            <a:endParaRPr lang="zh-CN" altLang="en-US" dirty="0"/>
          </a:p>
        </p:txBody>
      </p:sp>
      <p:sp>
        <p:nvSpPr>
          <p:cNvPr id="124932" name="Rectangle 3"/>
          <p:cNvSpPr>
            <a:spLocks noGrp="1" noChangeArrowheads="1"/>
          </p:cNvSpPr>
          <p:nvPr>
            <p:ph type="body" idx="1"/>
          </p:nvPr>
        </p:nvSpPr>
        <p:spPr>
          <a:xfrm>
            <a:off x="487822" y="942764"/>
            <a:ext cx="10275427" cy="5637024"/>
          </a:xfrm>
        </p:spPr>
        <p:txBody>
          <a:bodyPr/>
          <a:lstStyle/>
          <a:p>
            <a:pPr>
              <a:lnSpc>
                <a:spcPct val="130000"/>
              </a:lnSpc>
            </a:pPr>
            <a:r>
              <a:rPr lang="zh-CN" altLang="en-US" dirty="0"/>
              <a:t>资源相关</a:t>
            </a:r>
            <a:endParaRPr lang="zh-CN" altLang="en-US" dirty="0"/>
          </a:p>
          <a:p>
            <a:pPr lvl="1">
              <a:lnSpc>
                <a:spcPct val="130000"/>
              </a:lnSpc>
            </a:pPr>
            <a:r>
              <a:rPr lang="zh-CN" altLang="en-US" b="1" dirty="0"/>
              <a:t>争用主存：</a:t>
            </a:r>
            <a:r>
              <a:rPr lang="en-US" altLang="zh-CN" dirty="0"/>
              <a:t>IF</a:t>
            </a:r>
            <a:r>
              <a:rPr lang="zh-CN" altLang="en-US" dirty="0"/>
              <a:t>段取指令、</a:t>
            </a:r>
            <a:r>
              <a:rPr lang="en-US" altLang="zh-CN" dirty="0"/>
              <a:t>ID</a:t>
            </a:r>
            <a:r>
              <a:rPr lang="zh-CN" altLang="en-US" dirty="0"/>
              <a:t>段取操作数</a:t>
            </a:r>
            <a:endParaRPr lang="en-US" altLang="zh-CN" dirty="0"/>
          </a:p>
          <a:p>
            <a:pPr lvl="1">
              <a:lnSpc>
                <a:spcPct val="130000"/>
              </a:lnSpc>
            </a:pPr>
            <a:r>
              <a:rPr lang="zh-CN" altLang="en-US" b="1" dirty="0"/>
              <a:t>争用</a:t>
            </a:r>
            <a:r>
              <a:rPr lang="en-US" altLang="zh-CN" b="1" dirty="0"/>
              <a:t>ALU</a:t>
            </a:r>
            <a:r>
              <a:rPr lang="zh-CN" altLang="en-US" b="1" dirty="0"/>
              <a:t>：</a:t>
            </a:r>
            <a:r>
              <a:rPr lang="zh-CN" altLang="en-US" dirty="0"/>
              <a:t>多周期方案中计算</a:t>
            </a:r>
            <a:r>
              <a:rPr lang="en-US" altLang="zh-CN" dirty="0"/>
              <a:t>PC</a:t>
            </a:r>
            <a:r>
              <a:rPr lang="zh-CN" altLang="en-US" dirty="0"/>
              <a:t>、分支地址，运算指令 </a:t>
            </a:r>
            <a:endParaRPr lang="en-US" altLang="zh-CN" dirty="0"/>
          </a:p>
          <a:p>
            <a:pPr lvl="1">
              <a:lnSpc>
                <a:spcPct val="130000"/>
              </a:lnSpc>
            </a:pPr>
            <a:r>
              <a:rPr lang="zh-CN" altLang="en-US" b="1" dirty="0"/>
              <a:t>解决方案：</a:t>
            </a:r>
            <a:r>
              <a:rPr lang="zh-CN" altLang="en-US" dirty="0"/>
              <a:t>增加部件消除</a:t>
            </a:r>
            <a:endParaRPr lang="zh-CN" altLang="en-US" dirty="0"/>
          </a:p>
          <a:p>
            <a:pPr>
              <a:lnSpc>
                <a:spcPct val="130000"/>
              </a:lnSpc>
            </a:pPr>
            <a:r>
              <a:rPr lang="zh-CN" altLang="en-US" dirty="0"/>
              <a:t>分支相关</a:t>
            </a:r>
            <a:endParaRPr lang="zh-CN" altLang="en-US" dirty="0"/>
          </a:p>
          <a:p>
            <a:pPr lvl="1">
              <a:lnSpc>
                <a:spcPct val="130000"/>
              </a:lnSpc>
            </a:pPr>
            <a:r>
              <a:rPr lang="zh-CN" altLang="en-US" dirty="0"/>
              <a:t>控制</a:t>
            </a:r>
            <a:r>
              <a:rPr lang="en-US" altLang="zh-CN" dirty="0"/>
              <a:t>IF</a:t>
            </a:r>
            <a:r>
              <a:rPr lang="zh-CN" altLang="en-US" dirty="0"/>
              <a:t>段进行分支跳转</a:t>
            </a:r>
            <a:endParaRPr lang="en-US" altLang="zh-CN" dirty="0"/>
          </a:p>
          <a:p>
            <a:pPr lvl="1">
              <a:lnSpc>
                <a:spcPct val="130000"/>
              </a:lnSpc>
            </a:pPr>
            <a:r>
              <a:rPr lang="zh-CN" altLang="en-US" dirty="0"/>
              <a:t>提前取出的指令作废，流水线清空</a:t>
            </a:r>
            <a:endParaRPr lang="en-US" altLang="zh-CN" dirty="0"/>
          </a:p>
          <a:p>
            <a:pPr>
              <a:lnSpc>
                <a:spcPct val="130000"/>
              </a:lnSpc>
            </a:pPr>
            <a:r>
              <a:rPr lang="zh-CN" altLang="en-US" dirty="0">
                <a:solidFill>
                  <a:srgbClr val="C00000"/>
                </a:solidFill>
              </a:rPr>
              <a:t>数据相关</a:t>
            </a:r>
            <a:endParaRPr lang="zh-CN" altLang="en-US" dirty="0">
              <a:solidFill>
                <a:srgbClr val="C00000"/>
              </a:solidFill>
            </a:endParaRPr>
          </a:p>
          <a:p>
            <a:pPr lvl="1">
              <a:lnSpc>
                <a:spcPct val="130000"/>
              </a:lnSpc>
            </a:pPr>
            <a:r>
              <a:rPr lang="zh-CN" altLang="en-US" dirty="0"/>
              <a:t>指令操作数依赖于前一条指令的执行结果       </a:t>
            </a:r>
            <a:r>
              <a:rPr lang="en-US" altLang="zh-CN" b="1" dirty="0">
                <a:latin typeface="Courier New" panose="02070309020205020404" pitchFamily="49" charset="0"/>
                <a:cs typeface="Courier New" panose="02070309020205020404" pitchFamily="49" charset="0"/>
              </a:rPr>
              <a:t>ADD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$s2, $s3</a:t>
            </a:r>
            <a:endParaRPr lang="en-US" altLang="zh-CN" b="1" dirty="0">
              <a:latin typeface="Courier New" panose="02070309020205020404" pitchFamily="49" charset="0"/>
              <a:cs typeface="Courier New" panose="02070309020205020404" pitchFamily="49" charset="0"/>
            </a:endParaRPr>
          </a:p>
          <a:p>
            <a:pPr lvl="1">
              <a:lnSpc>
                <a:spcPct val="130000"/>
              </a:lnSpc>
            </a:pPr>
            <a:r>
              <a:rPr lang="zh-CN" altLang="en-US" dirty="0"/>
              <a:t>引起流水线停顿直到数据写回                        </a:t>
            </a:r>
            <a:r>
              <a:rPr lang="en-US" altLang="zh-CN" b="1" dirty="0">
                <a:latin typeface="Courier New" panose="02070309020205020404" pitchFamily="49" charset="0"/>
                <a:cs typeface="Courier New" panose="02070309020205020404" pitchFamily="49" charset="0"/>
              </a:rPr>
              <a:t>ADD $s4, </a:t>
            </a:r>
            <a:r>
              <a:rPr lang="en-US" altLang="zh-CN" b="1" dirty="0">
                <a:solidFill>
                  <a:srgbClr val="C00000"/>
                </a:solidFill>
                <a:latin typeface="Courier New" panose="02070309020205020404" pitchFamily="49" charset="0"/>
                <a:cs typeface="Courier New" panose="02070309020205020404" pitchFamily="49" charset="0"/>
              </a:rPr>
              <a:t>$s1</a:t>
            </a:r>
            <a:r>
              <a:rPr lang="en-US" altLang="zh-CN" b="1" dirty="0">
                <a:latin typeface="Courier New" panose="02070309020205020404" pitchFamily="49" charset="0"/>
                <a:cs typeface="Courier New" panose="02070309020205020404" pitchFamily="49" charset="0"/>
              </a:rPr>
              <a:t>, $s3</a:t>
            </a:r>
            <a:endParaRPr lang="en-US" altLang="zh-CN" b="1" dirty="0">
              <a:latin typeface="Courier New" panose="02070309020205020404" pitchFamily="49" charset="0"/>
              <a:cs typeface="Courier New" panose="02070309020205020404" pitchFamily="49" charset="0"/>
            </a:endParaRPr>
          </a:p>
          <a:p>
            <a:pPr lvl="1">
              <a:lnSpc>
                <a:spcPct val="130000"/>
              </a:lnSpc>
            </a:pPr>
            <a:endParaRPr lang="en-US" altLang="zh-CN" dirty="0"/>
          </a:p>
          <a:p>
            <a:pPr marL="457200" lvl="1" indent="0">
              <a:buNone/>
            </a:pPr>
            <a:endParaRPr lang="zh-CN" altLang="en-US" dirty="0"/>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advTm="78853"/>
    </mc:Choice>
    <mc:Fallback>
      <p:transition spd="slow" advTm="7885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矩形 218"/>
          <p:cNvSpPr/>
          <p:nvPr/>
        </p:nvSpPr>
        <p:spPr>
          <a:xfrm>
            <a:off x="6080449" y="1581400"/>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217"/>
          <p:cNvSpPr/>
          <p:nvPr/>
        </p:nvSpPr>
        <p:spPr>
          <a:xfrm>
            <a:off x="9686707" y="1584189"/>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数据相关</a:t>
            </a:r>
            <a:endParaRPr lang="zh-CN" altLang="en-US" dirty="0"/>
          </a:p>
        </p:txBody>
      </p:sp>
      <p:grpSp>
        <p:nvGrpSpPr>
          <p:cNvPr id="915" name="组合 914"/>
          <p:cNvGrpSpPr/>
          <p:nvPr/>
        </p:nvGrpSpPr>
        <p:grpSpPr>
          <a:xfrm>
            <a:off x="1703513" y="1421605"/>
            <a:ext cx="8670731" cy="4354764"/>
            <a:chOff x="1295132" y="1403838"/>
            <a:chExt cx="9333476" cy="4687619"/>
          </a:xfrm>
        </p:grpSpPr>
        <p:cxnSp>
          <p:nvCxnSpPr>
            <p:cNvPr id="733" name="直接连接符 73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734" name="直接连接符 73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735" name="组合 734"/>
            <p:cNvGrpSpPr/>
            <p:nvPr/>
          </p:nvGrpSpPr>
          <p:grpSpPr>
            <a:xfrm>
              <a:off x="8916051" y="4903028"/>
              <a:ext cx="372218" cy="326012"/>
              <a:chOff x="1972553" y="3227818"/>
              <a:chExt cx="372218" cy="326012"/>
            </a:xfrm>
          </p:grpSpPr>
          <p:cxnSp>
            <p:nvCxnSpPr>
              <p:cNvPr id="736" name="直接连接符 735"/>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37" name="文本框 736"/>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38" name="组合 737"/>
            <p:cNvGrpSpPr/>
            <p:nvPr/>
          </p:nvGrpSpPr>
          <p:grpSpPr>
            <a:xfrm>
              <a:off x="4473604" y="4590944"/>
              <a:ext cx="372218" cy="326012"/>
              <a:chOff x="1972553" y="3227818"/>
              <a:chExt cx="372218" cy="326012"/>
            </a:xfrm>
          </p:grpSpPr>
          <p:cxnSp>
            <p:nvCxnSpPr>
              <p:cNvPr id="739" name="直接连接符 738"/>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740" name="文本框 739"/>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741" name="组合 740"/>
            <p:cNvGrpSpPr/>
            <p:nvPr/>
          </p:nvGrpSpPr>
          <p:grpSpPr>
            <a:xfrm>
              <a:off x="3724772" y="5635648"/>
              <a:ext cx="374784" cy="455809"/>
              <a:chOff x="1972644" y="3154126"/>
              <a:chExt cx="374784" cy="369765"/>
            </a:xfrm>
          </p:grpSpPr>
          <p:sp>
            <p:nvSpPr>
              <p:cNvPr id="742" name="文本框 741"/>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743" name="直接连接符 742"/>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744" name="组合 743"/>
            <p:cNvGrpSpPr/>
            <p:nvPr/>
          </p:nvGrpSpPr>
          <p:grpSpPr>
            <a:xfrm>
              <a:off x="3663412" y="2051134"/>
              <a:ext cx="519694" cy="3587666"/>
              <a:chOff x="853537" y="1717759"/>
              <a:chExt cx="519694" cy="3587666"/>
            </a:xfrm>
          </p:grpSpPr>
          <p:sp>
            <p:nvSpPr>
              <p:cNvPr id="745" name="矩形 744"/>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6" name="等腰三角形 745"/>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47" name="文本框 746"/>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748" name="组合 747"/>
            <p:cNvGrpSpPr/>
            <p:nvPr/>
          </p:nvGrpSpPr>
          <p:grpSpPr>
            <a:xfrm>
              <a:off x="5613400" y="2051134"/>
              <a:ext cx="553357" cy="3587666"/>
              <a:chOff x="853537" y="1717759"/>
              <a:chExt cx="553357" cy="3587666"/>
            </a:xfrm>
          </p:grpSpPr>
          <p:sp>
            <p:nvSpPr>
              <p:cNvPr id="749" name="矩形 74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0" name="等腰三角形 74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51" name="文本框 750"/>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752" name="直接箭头连接符 751"/>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753" name="直接箭头连接符 752"/>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754" name="直接箭头连接符 753"/>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755" name="直接箭头连接符 754"/>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756" name="直接箭头连接符 755"/>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757" name="直接箭头连接符 756"/>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758" name="组合 757"/>
            <p:cNvGrpSpPr/>
            <p:nvPr/>
          </p:nvGrpSpPr>
          <p:grpSpPr>
            <a:xfrm>
              <a:off x="6858046" y="3688641"/>
              <a:ext cx="600168" cy="821738"/>
              <a:chOff x="2794661" y="4182222"/>
              <a:chExt cx="600168" cy="757237"/>
            </a:xfrm>
          </p:grpSpPr>
          <p:sp>
            <p:nvSpPr>
              <p:cNvPr id="759" name="任意多边形 758"/>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0" name="文本框 759"/>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761" name="文本框 760"/>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762" name="文本框 761"/>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763" name="直接箭头连接符 762"/>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764" name="直接箭头连接符 763"/>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765" name="组合 764"/>
            <p:cNvGrpSpPr/>
            <p:nvPr/>
          </p:nvGrpSpPr>
          <p:grpSpPr>
            <a:xfrm>
              <a:off x="6640453" y="2638710"/>
              <a:ext cx="423099" cy="631031"/>
              <a:chOff x="6528478" y="2016658"/>
              <a:chExt cx="523165" cy="631031"/>
            </a:xfrm>
          </p:grpSpPr>
          <p:sp>
            <p:nvSpPr>
              <p:cNvPr id="766" name="任意多边形 765"/>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67" name="文本框 766"/>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768" name="组合 767"/>
            <p:cNvGrpSpPr/>
            <p:nvPr/>
          </p:nvGrpSpPr>
          <p:grpSpPr>
            <a:xfrm>
              <a:off x="2890754" y="2429115"/>
              <a:ext cx="402029" cy="635794"/>
              <a:chOff x="2890754" y="1790940"/>
              <a:chExt cx="402029" cy="635794"/>
            </a:xfrm>
          </p:grpSpPr>
          <p:sp>
            <p:nvSpPr>
              <p:cNvPr id="769" name="任意多边形 7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0" name="文本框 7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771" name="组合 770"/>
            <p:cNvGrpSpPr/>
            <p:nvPr/>
          </p:nvGrpSpPr>
          <p:grpSpPr>
            <a:xfrm>
              <a:off x="4388641" y="3613558"/>
              <a:ext cx="1130990" cy="1018157"/>
              <a:chOff x="2221721" y="4481511"/>
              <a:chExt cx="1122391" cy="1038225"/>
            </a:xfrm>
          </p:grpSpPr>
          <p:sp>
            <p:nvSpPr>
              <p:cNvPr id="772" name="矩形 771"/>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73" name="文本框 772"/>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4" name="文本框 773"/>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775" name="文本框 774"/>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6" name="文本框 775"/>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7" name="文本框 776"/>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8" name="文本框 777"/>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779" name="文本框 778"/>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780" name="组合 779"/>
            <p:cNvGrpSpPr/>
            <p:nvPr/>
          </p:nvGrpSpPr>
          <p:grpSpPr>
            <a:xfrm>
              <a:off x="6352687" y="4150401"/>
              <a:ext cx="383097" cy="504955"/>
              <a:chOff x="1245770" y="3824904"/>
              <a:chExt cx="383097" cy="406857"/>
            </a:xfrm>
          </p:grpSpPr>
          <p:sp>
            <p:nvSpPr>
              <p:cNvPr id="781" name="流程图: 手动操作 78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782" name="文本框 781"/>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3" name="文本框 782"/>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784" name="文本框 78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785" name="直接箭头连接符 784"/>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786" name="直接箭头连接符 785"/>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787" name="直接连接符 786"/>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788" name="直接箭头连接符 787"/>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789" name="直接连接符 788"/>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790" name="直接箭头连接符 789"/>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791" name="直接连接符 790"/>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792" name="直接箭头连接符 791"/>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793" name="直接箭头连接符 792"/>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794" name="直接连接符 793"/>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795" name="直接箭头连接符 794"/>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796" name="直接连接符 795"/>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797" name="直接箭头连接符 796"/>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798" name="直接箭头连接符 797"/>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799" name="直接箭头连接符 798"/>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800" name="直接箭头连接符 799"/>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801" name="直接箭头连接符 800"/>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802" name="直接连接符 801"/>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803" name="直接箭头连接符 802"/>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804" name="直接箭头连接符 803"/>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805" name="直接箭头连接符 804"/>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806" name="直接连接符 805"/>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807" name="直接箭头连接符 806"/>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808" name="直接箭头连接符 807"/>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809" name="直接箭头连接符 808"/>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810" name="直接连接符 809"/>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811" name="直接箭头连接符 810"/>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813" name="直接箭头连接符 812"/>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814" name="直接箭头连接符 813"/>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815" name="直接箭头连接符 814"/>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816" name="直接箭头连接符 815"/>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817" name="直接连接符 816"/>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818" name="直接连接符 817"/>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819" name="直接箭头连接符 818"/>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820" name="直接箭头连接符 819"/>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1" name="直接箭头连接符 820"/>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822" name="直接连接符 821"/>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823" name="直接连接符 822"/>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824" name="直接箭头连接符 823"/>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5" name="直接箭头连接符 824"/>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826" name="直接箭头连接符 825"/>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827" name="直接箭头连接符 826"/>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828" name="直接箭头连接符 827"/>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829" name="直接箭头连接符 828"/>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830" name="组合 829"/>
            <p:cNvGrpSpPr/>
            <p:nvPr/>
          </p:nvGrpSpPr>
          <p:grpSpPr>
            <a:xfrm>
              <a:off x="5020933" y="4821240"/>
              <a:ext cx="397817" cy="634576"/>
              <a:chOff x="3762650" y="5685260"/>
              <a:chExt cx="397817" cy="634576"/>
            </a:xfrm>
          </p:grpSpPr>
          <p:sp>
            <p:nvSpPr>
              <p:cNvPr id="831" name="椭圆 830"/>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32" name="文本框 831"/>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833" name="直接连接符 832"/>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834" name="直接箭头连接符 833"/>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835" name="直接连接符 834"/>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836" name="直接箭头连接符 835"/>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837" name="直接箭头连接符 836"/>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838" name="组合 837"/>
            <p:cNvGrpSpPr/>
            <p:nvPr/>
          </p:nvGrpSpPr>
          <p:grpSpPr>
            <a:xfrm>
              <a:off x="1475201" y="3357562"/>
              <a:ext cx="383097" cy="504955"/>
              <a:chOff x="1245770" y="3824904"/>
              <a:chExt cx="383097" cy="406857"/>
            </a:xfrm>
          </p:grpSpPr>
          <p:sp>
            <p:nvSpPr>
              <p:cNvPr id="839" name="流程图: 手动操作 838"/>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0" name="文本框 839"/>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1" name="文本框 840"/>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842" name="文本框 841"/>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843" name="组合 842"/>
            <p:cNvGrpSpPr/>
            <p:nvPr/>
          </p:nvGrpSpPr>
          <p:grpSpPr>
            <a:xfrm>
              <a:off x="2607791" y="3493263"/>
              <a:ext cx="995174" cy="899129"/>
              <a:chOff x="2233099" y="4481511"/>
              <a:chExt cx="1105193" cy="1038225"/>
            </a:xfrm>
          </p:grpSpPr>
          <p:sp>
            <p:nvSpPr>
              <p:cNvPr id="844" name="矩形 843"/>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45" name="文本框 844"/>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846" name="文本框 845"/>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47" name="文本框 846"/>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848" name="文本框 847"/>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49" name="组合 848"/>
            <p:cNvGrpSpPr/>
            <p:nvPr/>
          </p:nvGrpSpPr>
          <p:grpSpPr>
            <a:xfrm>
              <a:off x="1980407" y="3384882"/>
              <a:ext cx="345451" cy="491789"/>
              <a:chOff x="5454427" y="2426371"/>
              <a:chExt cx="955568" cy="491789"/>
            </a:xfrm>
          </p:grpSpPr>
          <p:sp>
            <p:nvSpPr>
              <p:cNvPr id="850" name="矩形 849"/>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1" name="文本框 850"/>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852" name="直接箭头连接符 851"/>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853" name="组合 852"/>
            <p:cNvGrpSpPr/>
            <p:nvPr/>
          </p:nvGrpSpPr>
          <p:grpSpPr>
            <a:xfrm>
              <a:off x="7418442" y="2051133"/>
              <a:ext cx="745717" cy="3587667"/>
              <a:chOff x="722989" y="1717758"/>
              <a:chExt cx="745717" cy="3587667"/>
            </a:xfrm>
          </p:grpSpPr>
          <p:sp>
            <p:nvSpPr>
              <p:cNvPr id="854" name="矩形 853"/>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5" name="等腰三角形 854"/>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6" name="文本框 855"/>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857" name="组合 856"/>
            <p:cNvGrpSpPr/>
            <p:nvPr/>
          </p:nvGrpSpPr>
          <p:grpSpPr>
            <a:xfrm>
              <a:off x="9375782" y="2044866"/>
              <a:ext cx="808235" cy="3593934"/>
              <a:chOff x="754534" y="1711491"/>
              <a:chExt cx="808235" cy="3593934"/>
            </a:xfrm>
          </p:grpSpPr>
          <p:sp>
            <p:nvSpPr>
              <p:cNvPr id="858" name="矩形 857"/>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59" name="等腰三角形 858"/>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0" name="文本框 859"/>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861" name="直接箭头连接符 86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862" name="组合 861"/>
            <p:cNvGrpSpPr/>
            <p:nvPr/>
          </p:nvGrpSpPr>
          <p:grpSpPr>
            <a:xfrm>
              <a:off x="6034884" y="2898284"/>
              <a:ext cx="389850" cy="481540"/>
              <a:chOff x="3717347" y="5685260"/>
              <a:chExt cx="389850" cy="481540"/>
            </a:xfrm>
          </p:grpSpPr>
          <p:sp>
            <p:nvSpPr>
              <p:cNvPr id="863" name="椭圆 862"/>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864" name="文本框 863"/>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865" name="组合 864"/>
            <p:cNvGrpSpPr/>
            <p:nvPr/>
          </p:nvGrpSpPr>
          <p:grpSpPr>
            <a:xfrm>
              <a:off x="8324766" y="4061731"/>
              <a:ext cx="957089" cy="896271"/>
              <a:chOff x="2233099" y="4480021"/>
              <a:chExt cx="1063423" cy="896271"/>
            </a:xfrm>
          </p:grpSpPr>
          <p:sp>
            <p:nvSpPr>
              <p:cNvPr id="866" name="矩形 865"/>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67" name="文本框 866"/>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68" name="文本框 867"/>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869" name="文本框 868"/>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870" name="文本框 869"/>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871" name="直接箭头连接符 870"/>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872" name="等腰三角形 871"/>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873" name="文本框 872"/>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4" name="文本框 873"/>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5" name="等腰三角形 874"/>
            <p:cNvSpPr/>
            <p:nvPr/>
          </p:nvSpPr>
          <p:spPr>
            <a:xfrm>
              <a:off x="4578518" y="4552933"/>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76" name="直接连接符 875"/>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877" name="直接连接符 876"/>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878" name="文本框 877"/>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879" name="文本框 878"/>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880" name="组合 879"/>
            <p:cNvGrpSpPr/>
            <p:nvPr/>
          </p:nvGrpSpPr>
          <p:grpSpPr>
            <a:xfrm>
              <a:off x="1972553" y="3865993"/>
              <a:ext cx="372218" cy="326012"/>
              <a:chOff x="1972553" y="3227818"/>
              <a:chExt cx="372218" cy="326012"/>
            </a:xfrm>
          </p:grpSpPr>
          <p:cxnSp>
            <p:nvCxnSpPr>
              <p:cNvPr id="881" name="直接连接符 880"/>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882" name="文本框 881"/>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3" name="组合 882"/>
            <p:cNvGrpSpPr/>
            <p:nvPr/>
          </p:nvGrpSpPr>
          <p:grpSpPr>
            <a:xfrm>
              <a:off x="5683963" y="5635648"/>
              <a:ext cx="374784" cy="455809"/>
              <a:chOff x="1972644" y="3154126"/>
              <a:chExt cx="374784" cy="369765"/>
            </a:xfrm>
          </p:grpSpPr>
          <p:cxnSp>
            <p:nvCxnSpPr>
              <p:cNvPr id="884" name="直接连接符 8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5" name="文本框 88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6" name="组合 885"/>
            <p:cNvGrpSpPr/>
            <p:nvPr/>
          </p:nvGrpSpPr>
          <p:grpSpPr>
            <a:xfrm>
              <a:off x="7620570" y="5635648"/>
              <a:ext cx="374784" cy="455809"/>
              <a:chOff x="1972644" y="3154126"/>
              <a:chExt cx="374784" cy="369765"/>
            </a:xfrm>
          </p:grpSpPr>
          <p:cxnSp>
            <p:nvCxnSpPr>
              <p:cNvPr id="887" name="直接连接符 886"/>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88" name="文本框 887"/>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889" name="组合 888"/>
            <p:cNvGrpSpPr/>
            <p:nvPr/>
          </p:nvGrpSpPr>
          <p:grpSpPr>
            <a:xfrm>
              <a:off x="9547500" y="5635648"/>
              <a:ext cx="374784" cy="455809"/>
              <a:chOff x="1972644" y="3154126"/>
              <a:chExt cx="374784" cy="369765"/>
            </a:xfrm>
          </p:grpSpPr>
          <p:cxnSp>
            <p:nvCxnSpPr>
              <p:cNvPr id="890" name="直接连接符 889"/>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891" name="文本框 890"/>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892" name="直接箭头连接符 891"/>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893" name="等腰三角形 892"/>
            <p:cNvSpPr/>
            <p:nvPr/>
          </p:nvSpPr>
          <p:spPr>
            <a:xfrm>
              <a:off x="9028189" y="4874918"/>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894" name="直接箭头连接符 893"/>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895" name="直接箭头连接符 894"/>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896" name="直接箭头连接符 895"/>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902" name="文本框 90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903" name="直接连接符 90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904" name="组合 903"/>
            <p:cNvGrpSpPr/>
            <p:nvPr/>
          </p:nvGrpSpPr>
          <p:grpSpPr>
            <a:xfrm>
              <a:off x="10102638" y="4039232"/>
              <a:ext cx="383097" cy="504955"/>
              <a:chOff x="1245770" y="3824904"/>
              <a:chExt cx="383097" cy="406857"/>
            </a:xfrm>
          </p:grpSpPr>
          <p:sp>
            <p:nvSpPr>
              <p:cNvPr id="905" name="流程图: 手动操作 904"/>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906" name="文本框 905"/>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7" name="文本框 906"/>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908" name="文本框 907"/>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909" name="文本框 908"/>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1" name="文本框 910"/>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2" name="文本框 911"/>
            <p:cNvSpPr txBox="1"/>
            <p:nvPr/>
          </p:nvSpPr>
          <p:spPr>
            <a:xfrm>
              <a:off x="8535377" y="5237482"/>
              <a:ext cx="730244" cy="215346"/>
            </a:xfrm>
            <a:prstGeom prst="rect">
              <a:avLst/>
            </a:prstGeom>
            <a:noFill/>
          </p:spPr>
          <p:txBody>
            <a:bodyPr wrap="none" rtlCol="0">
              <a:spAutoFit/>
            </a:bodyPr>
            <a:lstStyle/>
            <a:p>
              <a:r>
                <a:rPr lang="en-US" altLang="zh-CN" sz="700" b="1" dirty="0" err="1">
                  <a:solidFill>
                    <a:prstClr val="black"/>
                  </a:solidFill>
                  <a:latin typeface="微软雅黑" panose="020B0503020204020204" pitchFamily="34" charset="-122"/>
                  <a:ea typeface="微软雅黑" panose="020B0503020204020204" pitchFamily="34" charset="-122"/>
                </a:rPr>
                <a:t>ALU.Result</a:t>
              </a:r>
              <a:endParaRPr lang="en-US" altLang="zh-CN" sz="700" b="1" dirty="0">
                <a:solidFill>
                  <a:prstClr val="black"/>
                </a:solidFill>
                <a:latin typeface="微软雅黑" panose="020B0503020204020204" pitchFamily="34" charset="-122"/>
                <a:ea typeface="微软雅黑" panose="020B0503020204020204" pitchFamily="34" charset="-122"/>
              </a:endParaRPr>
            </a:p>
          </p:txBody>
        </p:sp>
        <p:sp>
          <p:nvSpPr>
            <p:cNvPr id="913" name="文本框 912"/>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914" name="文本框 913"/>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191" name="文本框 190"/>
          <p:cNvSpPr txBox="1">
            <a:spLocks noChangeArrowheads="1"/>
          </p:cNvSpPr>
          <p:nvPr/>
        </p:nvSpPr>
        <p:spPr bwMode="auto">
          <a:xfrm>
            <a:off x="4152600" y="1585721"/>
            <a:ext cx="179839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192" name="文本框 191"/>
          <p:cNvSpPr txBox="1">
            <a:spLocks noChangeArrowheads="1"/>
          </p:cNvSpPr>
          <p:nvPr/>
        </p:nvSpPr>
        <p:spPr bwMode="auto">
          <a:xfrm>
            <a:off x="6274479" y="1563171"/>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solidFill>
                  <a:srgbClr val="C00000"/>
                </a:solidFill>
              </a:rPr>
              <a:t>$1</a:t>
            </a:r>
            <a:r>
              <a:rPr lang="en-US" altLang="zh-CN" sz="1100" b="1" dirty="0">
                <a:solidFill>
                  <a:srgbClr val="000000"/>
                </a:solidFill>
              </a:rPr>
              <a:t>,$1,$2</a:t>
            </a:r>
            <a:endParaRPr lang="zh-CN" altLang="en-US" sz="1100" b="1" dirty="0">
              <a:solidFill>
                <a:srgbClr val="000000"/>
              </a:solidFill>
            </a:endParaRPr>
          </a:p>
        </p:txBody>
      </p:sp>
      <p:sp>
        <p:nvSpPr>
          <p:cNvPr id="194" name="文本框 193"/>
          <p:cNvSpPr txBox="1">
            <a:spLocks noChangeArrowheads="1"/>
          </p:cNvSpPr>
          <p:nvPr/>
        </p:nvSpPr>
        <p:spPr bwMode="auto">
          <a:xfrm>
            <a:off x="9974992" y="1571353"/>
            <a:ext cx="96585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lw</a:t>
            </a:r>
            <a:r>
              <a:rPr lang="en-US" altLang="zh-CN" sz="1100" b="1" dirty="0">
                <a:solidFill>
                  <a:srgbClr val="000000"/>
                </a:solidFill>
              </a:rPr>
              <a:t> </a:t>
            </a:r>
            <a:r>
              <a:rPr lang="en-US" altLang="zh-CN" sz="1100" b="1" dirty="0">
                <a:solidFill>
                  <a:srgbClr val="C00000"/>
                </a:solidFill>
              </a:rPr>
              <a:t>$1</a:t>
            </a:r>
            <a:r>
              <a:rPr lang="en-US" altLang="zh-CN" sz="1100" b="1" dirty="0">
                <a:solidFill>
                  <a:srgbClr val="000000"/>
                </a:solidFill>
              </a:rPr>
              <a:t>,4($2)</a:t>
            </a:r>
            <a:endParaRPr lang="zh-CN" altLang="en-US" sz="1100" b="1" dirty="0">
              <a:solidFill>
                <a:srgbClr val="000000"/>
              </a:solidFill>
            </a:endParaRPr>
          </a:p>
        </p:txBody>
      </p:sp>
      <p:sp>
        <p:nvSpPr>
          <p:cNvPr id="195" name="内容占位符 2"/>
          <p:cNvSpPr>
            <a:spLocks noGrp="1"/>
          </p:cNvSpPr>
          <p:nvPr>
            <p:ph idx="1"/>
          </p:nvPr>
        </p:nvSpPr>
        <p:spPr>
          <a:xfrm>
            <a:off x="1565707" y="5980652"/>
            <a:ext cx="11542775" cy="1164084"/>
          </a:xfrm>
        </p:spPr>
        <p:txBody>
          <a:bodyPr/>
          <a:lstStyle/>
          <a:p>
            <a:pPr>
              <a:defRPr/>
            </a:pPr>
            <a:r>
              <a:rPr lang="en-US" altLang="zh-CN" dirty="0"/>
              <a:t>ID</a:t>
            </a:r>
            <a:r>
              <a:rPr lang="zh-CN" altLang="en-US" dirty="0"/>
              <a:t>段所需数据可能还未及时写回，涉及</a:t>
            </a:r>
            <a:r>
              <a:rPr lang="en-US" altLang="zh-CN" dirty="0"/>
              <a:t>EX</a:t>
            </a:r>
            <a:r>
              <a:rPr lang="zh-CN" altLang="en-US" dirty="0"/>
              <a:t>、</a:t>
            </a:r>
            <a:r>
              <a:rPr lang="en-US" altLang="zh-CN" dirty="0"/>
              <a:t>MEM</a:t>
            </a:r>
            <a:r>
              <a:rPr lang="zh-CN" altLang="en-US" dirty="0"/>
              <a:t>、</a:t>
            </a:r>
            <a:r>
              <a:rPr lang="en-US" altLang="zh-CN" dirty="0"/>
              <a:t>WB</a:t>
            </a:r>
            <a:r>
              <a:rPr lang="zh-CN" altLang="en-US" dirty="0"/>
              <a:t>段</a:t>
            </a:r>
            <a:r>
              <a:rPr lang="en-US" altLang="zh-CN" dirty="0"/>
              <a:t>3</a:t>
            </a:r>
            <a:r>
              <a:rPr lang="zh-CN" altLang="en-US" dirty="0"/>
              <a:t>条指令</a:t>
            </a:r>
            <a:endParaRPr lang="zh-CN" altLang="en-US" dirty="0"/>
          </a:p>
        </p:txBody>
      </p:sp>
      <p:sp>
        <p:nvSpPr>
          <p:cNvPr id="196" name="文本框 195"/>
          <p:cNvSpPr txBox="1"/>
          <p:nvPr/>
        </p:nvSpPr>
        <p:spPr>
          <a:xfrm>
            <a:off x="9684520" y="3649382"/>
            <a:ext cx="698909" cy="200055"/>
          </a:xfrm>
          <a:prstGeom prst="rect">
            <a:avLst/>
          </a:prstGeom>
          <a:noFill/>
        </p:spPr>
        <p:txBody>
          <a:bodyPr wrap="none" lIns="0" rIns="0" rtlCol="0">
            <a:spAutoFit/>
          </a:bodyPr>
          <a:lstStyle/>
          <a:p>
            <a:r>
              <a:rPr lang="en-US" altLang="zh-CN" sz="700" b="1" dirty="0" err="1">
                <a:solidFill>
                  <a:prstClr val="black"/>
                </a:solidFill>
                <a:latin typeface="微软雅黑" panose="020B0503020204020204" pitchFamily="34" charset="-122"/>
                <a:ea typeface="微软雅黑" panose="020B0503020204020204" pitchFamily="34" charset="-122"/>
              </a:rPr>
              <a:t>MEM.ReadData</a:t>
            </a:r>
            <a:endParaRPr lang="en-US" altLang="zh-CN" sz="700" b="1" dirty="0">
              <a:solidFill>
                <a:prstClr val="black"/>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98" name="文本框 197"/>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99" name="文本框 198"/>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0" name="文本框 199"/>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01" name="文本框 200"/>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207" name="直接箭头连接符 206"/>
          <p:cNvCxnSpPr/>
          <p:nvPr/>
        </p:nvCxnSpPr>
        <p:spPr>
          <a:xfrm>
            <a:off x="4441234" y="5550982"/>
            <a:ext cx="5934902" cy="0"/>
          </a:xfrm>
          <a:prstGeom prst="straightConnector1">
            <a:avLst/>
          </a:prstGeom>
          <a:noFill/>
          <a:ln w="38100" cap="sq" cmpd="sng" algn="ctr">
            <a:solidFill>
              <a:srgbClr val="7030A0"/>
            </a:solidFill>
            <a:prstDash val="solid"/>
            <a:miter lim="800000"/>
            <a:tailEnd type="none"/>
          </a:ln>
          <a:effectLst/>
        </p:spPr>
      </p:cxnSp>
      <p:cxnSp>
        <p:nvCxnSpPr>
          <p:cNvPr id="208" name="直接连接符 207"/>
          <p:cNvCxnSpPr/>
          <p:nvPr/>
        </p:nvCxnSpPr>
        <p:spPr>
          <a:xfrm>
            <a:off x="10376136" y="4113398"/>
            <a:ext cx="0" cy="1437584"/>
          </a:xfrm>
          <a:prstGeom prst="line">
            <a:avLst/>
          </a:prstGeom>
          <a:noFill/>
          <a:ln w="38100" cap="sq" cmpd="sng" algn="ctr">
            <a:solidFill>
              <a:srgbClr val="7030A0"/>
            </a:solidFill>
            <a:prstDash val="solid"/>
            <a:miter lim="800000"/>
            <a:tailEnd type="none"/>
          </a:ln>
          <a:effectLst/>
        </p:spPr>
      </p:cxnSp>
      <p:cxnSp>
        <p:nvCxnSpPr>
          <p:cNvPr id="209" name="直接箭头连接符 208"/>
          <p:cNvCxnSpPr/>
          <p:nvPr/>
        </p:nvCxnSpPr>
        <p:spPr>
          <a:xfrm>
            <a:off x="10175418" y="4098103"/>
            <a:ext cx="200718" cy="0"/>
          </a:xfrm>
          <a:prstGeom prst="straightConnector1">
            <a:avLst/>
          </a:prstGeom>
          <a:noFill/>
          <a:ln w="38100" cap="sq" cmpd="sng" algn="ctr">
            <a:solidFill>
              <a:srgbClr val="7030A0"/>
            </a:solidFill>
            <a:prstDash val="solid"/>
            <a:miter lim="800000"/>
            <a:tailEnd type="none"/>
          </a:ln>
          <a:effectLst/>
        </p:spPr>
      </p:cxnSp>
      <p:cxnSp>
        <p:nvCxnSpPr>
          <p:cNvPr id="210" name="直接连接符 209"/>
          <p:cNvCxnSpPr/>
          <p:nvPr/>
        </p:nvCxnSpPr>
        <p:spPr>
          <a:xfrm>
            <a:off x="4441234" y="4288818"/>
            <a:ext cx="0" cy="1262164"/>
          </a:xfrm>
          <a:prstGeom prst="line">
            <a:avLst/>
          </a:prstGeom>
          <a:noFill/>
          <a:ln w="38100" cap="sq" cmpd="sng" algn="ctr">
            <a:solidFill>
              <a:srgbClr val="7030A0"/>
            </a:solidFill>
            <a:prstDash val="solid"/>
            <a:miter lim="800000"/>
            <a:tailEnd type="none"/>
          </a:ln>
          <a:effectLst/>
        </p:spPr>
      </p:cxnSp>
      <p:cxnSp>
        <p:nvCxnSpPr>
          <p:cNvPr id="211" name="直接箭头连接符 210"/>
          <p:cNvCxnSpPr/>
          <p:nvPr/>
        </p:nvCxnSpPr>
        <p:spPr>
          <a:xfrm>
            <a:off x="4453924" y="4289507"/>
            <a:ext cx="173158" cy="0"/>
          </a:xfrm>
          <a:prstGeom prst="straightConnector1">
            <a:avLst/>
          </a:prstGeom>
          <a:noFill/>
          <a:ln w="38100" cap="sq" cmpd="sng" algn="ctr">
            <a:solidFill>
              <a:srgbClr val="7030A0"/>
            </a:solidFill>
            <a:prstDash val="solid"/>
            <a:miter lim="800000"/>
            <a:tailEnd type="triangle"/>
          </a:ln>
          <a:effectLst/>
        </p:spPr>
      </p:cxnSp>
      <p:grpSp>
        <p:nvGrpSpPr>
          <p:cNvPr id="12" name="组合 11"/>
          <p:cNvGrpSpPr/>
          <p:nvPr/>
        </p:nvGrpSpPr>
        <p:grpSpPr>
          <a:xfrm>
            <a:off x="5570269" y="3643251"/>
            <a:ext cx="279544" cy="454461"/>
            <a:chOff x="5570269" y="3643251"/>
            <a:chExt cx="279544" cy="454461"/>
          </a:xfrm>
        </p:grpSpPr>
        <p:cxnSp>
          <p:nvCxnSpPr>
            <p:cNvPr id="212" name="直接箭头连接符 211"/>
            <p:cNvCxnSpPr/>
            <p:nvPr/>
          </p:nvCxnSpPr>
          <p:spPr>
            <a:xfrm>
              <a:off x="5570269" y="4097712"/>
              <a:ext cx="279544" cy="0"/>
            </a:xfrm>
            <a:prstGeom prst="straightConnector1">
              <a:avLst/>
            </a:prstGeom>
            <a:noFill/>
            <a:ln w="38100" cap="flat" cmpd="sng" algn="ctr">
              <a:solidFill>
                <a:srgbClr val="FF0000"/>
              </a:solidFill>
              <a:prstDash val="solid"/>
              <a:miter lim="800000"/>
              <a:tailEnd type="triangle"/>
            </a:ln>
            <a:effectLst/>
          </p:spPr>
        </p:cxnSp>
        <p:cxnSp>
          <p:nvCxnSpPr>
            <p:cNvPr id="213" name="直接箭头连接符 212"/>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grpSp>
      <p:sp>
        <p:nvSpPr>
          <p:cNvPr id="220" name="矩形 219"/>
          <p:cNvSpPr/>
          <p:nvPr/>
        </p:nvSpPr>
        <p:spPr>
          <a:xfrm>
            <a:off x="7890008" y="1590466"/>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文本框 192"/>
          <p:cNvSpPr txBox="1">
            <a:spLocks noChangeArrowheads="1"/>
          </p:cNvSpPr>
          <p:nvPr/>
        </p:nvSpPr>
        <p:spPr bwMode="auto">
          <a:xfrm>
            <a:off x="7958582" y="1572456"/>
            <a:ext cx="1435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and </a:t>
            </a:r>
            <a:r>
              <a:rPr lang="en-US" altLang="zh-CN" sz="1100" b="1" dirty="0">
                <a:solidFill>
                  <a:srgbClr val="C00000"/>
                </a:solidFill>
              </a:rPr>
              <a:t>$1</a:t>
            </a:r>
            <a:r>
              <a:rPr lang="en-US" altLang="zh-CN" sz="1100" b="1" dirty="0">
                <a:solidFill>
                  <a:srgbClr val="000000"/>
                </a:solidFill>
              </a:rPr>
              <a:t>,$1,$2</a:t>
            </a:r>
            <a:endParaRPr lang="zh-CN" altLang="en-US" sz="1100" b="1" dirty="0">
              <a:solidFill>
                <a:srgbClr val="000000"/>
              </a:solidFill>
            </a:endParaRPr>
          </a:p>
        </p:txBody>
      </p:sp>
      <p:pic>
        <p:nvPicPr>
          <p:cNvPr id="221" name="图片 2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216369">
            <a:off x="7055376" y="3377921"/>
            <a:ext cx="568549" cy="210672"/>
          </a:xfrm>
          <a:prstGeom prst="rect">
            <a:avLst/>
          </a:prstGeom>
        </p:spPr>
      </p:pic>
      <p:pic>
        <p:nvPicPr>
          <p:cNvPr id="222" name="图片 22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4216369">
            <a:off x="8838813" y="4556637"/>
            <a:ext cx="568549" cy="210672"/>
          </a:xfrm>
          <a:prstGeom prst="rect">
            <a:avLst/>
          </a:prstGeom>
        </p:spPr>
      </p:pic>
      <p:pic>
        <p:nvPicPr>
          <p:cNvPr id="223" name="图片 2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8992722">
            <a:off x="10021943" y="3344923"/>
            <a:ext cx="568549" cy="210672"/>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97334"/>
    </mc:Choice>
    <mc:Fallback>
      <p:transition spd="slow" advTm="973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3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repeatCount="2000" fill="hold" grpId="0"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wipe(left)">
                                      <p:cBhvr>
                                        <p:cTn id="12" dur="500"/>
                                        <p:tgtEl>
                                          <p:spTgt spid="2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repeatCount="2000" fill="hold" nodeType="clickEffect">
                                  <p:stCondLst>
                                    <p:cond delay="0"/>
                                  </p:stCondLst>
                                  <p:childTnLst>
                                    <p:set>
                                      <p:cBhvr>
                                        <p:cTn id="16" dur="1" fill="hold">
                                          <p:stCondLst>
                                            <p:cond delay="0"/>
                                          </p:stCondLst>
                                        </p:cTn>
                                        <p:tgtEl>
                                          <p:spTgt spid="221"/>
                                        </p:tgtEl>
                                        <p:attrNameLst>
                                          <p:attrName>style.visibility</p:attrName>
                                        </p:attrNameLst>
                                      </p:cBhvr>
                                      <p:to>
                                        <p:strVal val="visible"/>
                                      </p:to>
                                    </p:set>
                                    <p:animEffect transition="in" filter="wipe(up)">
                                      <p:cBhvr>
                                        <p:cTn id="17" dur="500"/>
                                        <p:tgtEl>
                                          <p:spTgt spid="2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repeatCount="2000" fill="hold" grpId="0" nodeType="clickEffect">
                                  <p:stCondLst>
                                    <p:cond delay="0"/>
                                  </p:stCondLst>
                                  <p:childTnLst>
                                    <p:set>
                                      <p:cBhvr>
                                        <p:cTn id="21" dur="1" fill="hold">
                                          <p:stCondLst>
                                            <p:cond delay="0"/>
                                          </p:stCondLst>
                                        </p:cTn>
                                        <p:tgtEl>
                                          <p:spTgt spid="220"/>
                                        </p:tgtEl>
                                        <p:attrNameLst>
                                          <p:attrName>style.visibility</p:attrName>
                                        </p:attrNameLst>
                                      </p:cBhvr>
                                      <p:to>
                                        <p:strVal val="visible"/>
                                      </p:to>
                                    </p:set>
                                    <p:animEffect transition="in" filter="wipe(left)">
                                      <p:cBhvr>
                                        <p:cTn id="22" dur="500"/>
                                        <p:tgtEl>
                                          <p:spTgt spid="2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repeatCount="2000" fill="hold" nodeType="clickEffect">
                                  <p:stCondLst>
                                    <p:cond delay="0"/>
                                  </p:stCondLst>
                                  <p:childTnLst>
                                    <p:set>
                                      <p:cBhvr>
                                        <p:cTn id="26" dur="1" fill="hold">
                                          <p:stCondLst>
                                            <p:cond delay="0"/>
                                          </p:stCondLst>
                                        </p:cTn>
                                        <p:tgtEl>
                                          <p:spTgt spid="222"/>
                                        </p:tgtEl>
                                        <p:attrNameLst>
                                          <p:attrName>style.visibility</p:attrName>
                                        </p:attrNameLst>
                                      </p:cBhvr>
                                      <p:to>
                                        <p:strVal val="visible"/>
                                      </p:to>
                                    </p:set>
                                    <p:animEffect transition="in" filter="wipe(up)">
                                      <p:cBhvr>
                                        <p:cTn id="27" dur="500"/>
                                        <p:tgtEl>
                                          <p:spTgt spid="2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repeatCount="2000" fill="hold" grpId="0" nodeType="clickEffect">
                                  <p:stCondLst>
                                    <p:cond delay="0"/>
                                  </p:stCondLst>
                                  <p:childTnLst>
                                    <p:set>
                                      <p:cBhvr>
                                        <p:cTn id="31" dur="1" fill="hold">
                                          <p:stCondLst>
                                            <p:cond delay="0"/>
                                          </p:stCondLst>
                                        </p:cTn>
                                        <p:tgtEl>
                                          <p:spTgt spid="218"/>
                                        </p:tgtEl>
                                        <p:attrNameLst>
                                          <p:attrName>style.visibility</p:attrName>
                                        </p:attrNameLst>
                                      </p:cBhvr>
                                      <p:to>
                                        <p:strVal val="visible"/>
                                      </p:to>
                                    </p:set>
                                    <p:animEffect transition="in" filter="wipe(left)">
                                      <p:cBhvr>
                                        <p:cTn id="32" dur="500"/>
                                        <p:tgtEl>
                                          <p:spTgt spid="2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repeatCount="2000" fill="hold" nodeType="clickEffect">
                                  <p:stCondLst>
                                    <p:cond delay="0"/>
                                  </p:stCondLst>
                                  <p:childTnLst>
                                    <p:set>
                                      <p:cBhvr>
                                        <p:cTn id="36" dur="1" fill="hold">
                                          <p:stCondLst>
                                            <p:cond delay="0"/>
                                          </p:stCondLst>
                                        </p:cTn>
                                        <p:tgtEl>
                                          <p:spTgt spid="223"/>
                                        </p:tgtEl>
                                        <p:attrNameLst>
                                          <p:attrName>style.visibility</p:attrName>
                                        </p:attrNameLst>
                                      </p:cBhvr>
                                      <p:to>
                                        <p:strVal val="visible"/>
                                      </p:to>
                                    </p:set>
                                    <p:animEffect transition="in" filter="wipe(up)">
                                      <p:cBhvr>
                                        <p:cTn id="37" dur="500"/>
                                        <p:tgtEl>
                                          <p:spTgt spid="2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9"/>
                                        </p:tgtEl>
                                        <p:attrNameLst>
                                          <p:attrName>style.visibility</p:attrName>
                                        </p:attrNameLst>
                                      </p:cBhvr>
                                      <p:to>
                                        <p:strVal val="visible"/>
                                      </p:to>
                                    </p:set>
                                    <p:animEffect transition="in" filter="wipe(left)">
                                      <p:cBhvr>
                                        <p:cTn id="42" dur="500"/>
                                        <p:tgtEl>
                                          <p:spTgt spid="209"/>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208"/>
                                        </p:tgtEl>
                                        <p:attrNameLst>
                                          <p:attrName>style.visibility</p:attrName>
                                        </p:attrNameLst>
                                      </p:cBhvr>
                                      <p:to>
                                        <p:strVal val="visible"/>
                                      </p:to>
                                    </p:set>
                                    <p:animEffect transition="in" filter="wipe(up)">
                                      <p:cBhvr>
                                        <p:cTn id="46" dur="500"/>
                                        <p:tgtEl>
                                          <p:spTgt spid="208"/>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207"/>
                                        </p:tgtEl>
                                        <p:attrNameLst>
                                          <p:attrName>style.visibility</p:attrName>
                                        </p:attrNameLst>
                                      </p:cBhvr>
                                      <p:to>
                                        <p:strVal val="visible"/>
                                      </p:to>
                                    </p:set>
                                    <p:animEffect transition="in" filter="wipe(right)">
                                      <p:cBhvr>
                                        <p:cTn id="50" dur="500"/>
                                        <p:tgtEl>
                                          <p:spTgt spid="207"/>
                                        </p:tgtEl>
                                      </p:cBhvr>
                                    </p:animEffect>
                                  </p:childTnLst>
                                </p:cTn>
                              </p:par>
                            </p:childTnLst>
                          </p:cTn>
                        </p:par>
                        <p:par>
                          <p:cTn id="51" fill="hold">
                            <p:stCondLst>
                              <p:cond delay="1500"/>
                            </p:stCondLst>
                            <p:childTnLst>
                              <p:par>
                                <p:cTn id="52" presetID="22" presetClass="entr" presetSubtype="4" fill="hold" nodeType="afterEffect">
                                  <p:stCondLst>
                                    <p:cond delay="0"/>
                                  </p:stCondLst>
                                  <p:childTnLst>
                                    <p:set>
                                      <p:cBhvr>
                                        <p:cTn id="53" dur="1" fill="hold">
                                          <p:stCondLst>
                                            <p:cond delay="0"/>
                                          </p:stCondLst>
                                        </p:cTn>
                                        <p:tgtEl>
                                          <p:spTgt spid="210"/>
                                        </p:tgtEl>
                                        <p:attrNameLst>
                                          <p:attrName>style.visibility</p:attrName>
                                        </p:attrNameLst>
                                      </p:cBhvr>
                                      <p:to>
                                        <p:strVal val="visible"/>
                                      </p:to>
                                    </p:set>
                                    <p:animEffect transition="in" filter="wipe(down)">
                                      <p:cBhvr>
                                        <p:cTn id="54" dur="500"/>
                                        <p:tgtEl>
                                          <p:spTgt spid="210"/>
                                        </p:tgtEl>
                                      </p:cBhvr>
                                    </p:animEffect>
                                  </p:childTnLst>
                                </p:cTn>
                              </p:par>
                            </p:childTnLst>
                          </p:cTn>
                        </p:par>
                        <p:par>
                          <p:cTn id="55" fill="hold">
                            <p:stCondLst>
                              <p:cond delay="2000"/>
                            </p:stCondLst>
                            <p:childTnLst>
                              <p:par>
                                <p:cTn id="56" presetID="22" presetClass="entr" presetSubtype="8" fill="hold" nodeType="afterEffect">
                                  <p:stCondLst>
                                    <p:cond delay="0"/>
                                  </p:stCondLst>
                                  <p:childTnLst>
                                    <p:set>
                                      <p:cBhvr>
                                        <p:cTn id="57" dur="1" fill="hold">
                                          <p:stCondLst>
                                            <p:cond delay="0"/>
                                          </p:stCondLst>
                                        </p:cTn>
                                        <p:tgtEl>
                                          <p:spTgt spid="211"/>
                                        </p:tgtEl>
                                        <p:attrNameLst>
                                          <p:attrName>style.visibility</p:attrName>
                                        </p:attrNameLst>
                                      </p:cBhvr>
                                      <p:to>
                                        <p:strVal val="visible"/>
                                      </p:to>
                                    </p:set>
                                    <p:animEffect transition="in" filter="wipe(left)">
                                      <p:cBhvr>
                                        <p:cTn id="5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bldLvl="0" animBg="1"/>
      <p:bldP spid="218" grpId="0" bldLvl="0" animBg="1"/>
      <p:bldP spid="220"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数据相关处理机制</a:t>
            </a:r>
            <a:endParaRPr lang="zh-CN" altLang="en-US" dirty="0"/>
          </a:p>
        </p:txBody>
      </p:sp>
      <p:sp>
        <p:nvSpPr>
          <p:cNvPr id="3" name="内容占位符 2"/>
          <p:cNvSpPr>
            <a:spLocks noGrp="1"/>
          </p:cNvSpPr>
          <p:nvPr>
            <p:ph idx="1"/>
          </p:nvPr>
        </p:nvSpPr>
        <p:spPr>
          <a:xfrm>
            <a:off x="487822" y="942764"/>
            <a:ext cx="10515599" cy="5637024"/>
          </a:xfrm>
        </p:spPr>
        <p:txBody>
          <a:bodyPr/>
          <a:lstStyle/>
          <a:p>
            <a:pPr>
              <a:lnSpc>
                <a:spcPct val="150000"/>
              </a:lnSpc>
              <a:buFont typeface="Wingdings" panose="05000000000000000000" pitchFamily="2" charset="2"/>
              <a:buChar char="u"/>
              <a:defRPr/>
            </a:pPr>
            <a:r>
              <a:rPr lang="zh-CN" altLang="en-US" dirty="0"/>
              <a:t>软件方法（编译器完成）</a:t>
            </a:r>
            <a:endParaRPr lang="zh-CN" altLang="en-US" dirty="0"/>
          </a:p>
          <a:p>
            <a:pPr lvl="1">
              <a:lnSpc>
                <a:spcPct val="150000"/>
              </a:lnSpc>
              <a:buFont typeface="Wingdings" panose="05000000000000000000" pitchFamily="2" charset="2"/>
              <a:buChar char="u"/>
              <a:defRPr/>
            </a:pPr>
            <a:r>
              <a:rPr lang="zh-CN" altLang="en-US" dirty="0"/>
              <a:t>插入空指令</a:t>
            </a:r>
            <a:endParaRPr lang="zh-CN" altLang="en-US" dirty="0"/>
          </a:p>
          <a:p>
            <a:pPr lvl="1">
              <a:lnSpc>
                <a:spcPct val="150000"/>
              </a:lnSpc>
              <a:buFont typeface="Wingdings" panose="05000000000000000000" pitchFamily="2" charset="2"/>
              <a:buChar char="u"/>
              <a:defRPr/>
            </a:pPr>
            <a:r>
              <a:rPr lang="zh-CN" altLang="en-US" dirty="0"/>
              <a:t>调整程序顺序，使相关性在流水线中消失</a:t>
            </a:r>
            <a:endParaRPr lang="zh-CN" altLang="en-US" dirty="0"/>
          </a:p>
          <a:p>
            <a:pPr>
              <a:lnSpc>
                <a:spcPct val="150000"/>
              </a:lnSpc>
              <a:buFont typeface="Wingdings" panose="05000000000000000000" pitchFamily="2" charset="2"/>
              <a:buChar char="u"/>
              <a:defRPr/>
            </a:pPr>
            <a:r>
              <a:rPr lang="zh-CN" altLang="en-US" dirty="0"/>
              <a:t>硬件方法</a:t>
            </a:r>
            <a:endParaRPr lang="zh-CN" altLang="en-US" dirty="0"/>
          </a:p>
          <a:p>
            <a:pPr lvl="1">
              <a:lnSpc>
                <a:spcPct val="150000"/>
              </a:lnSpc>
              <a:buFont typeface="Wingdings" panose="05000000000000000000" pitchFamily="2" charset="2"/>
              <a:buChar char="u"/>
              <a:defRPr/>
            </a:pPr>
            <a:r>
              <a:rPr lang="zh-CN" altLang="en-US" b="1" dirty="0"/>
              <a:t>插入气泡（空操作）</a:t>
            </a:r>
            <a:endParaRPr lang="zh-CN" altLang="en-US" b="1" dirty="0"/>
          </a:p>
          <a:p>
            <a:pPr marL="1212850" lvl="2" indent="-355600">
              <a:lnSpc>
                <a:spcPct val="150000"/>
              </a:lnSpc>
              <a:buFont typeface="Wingdings" panose="05000000000000000000" pitchFamily="2" charset="2"/>
              <a:buChar char="p"/>
              <a:defRPr/>
            </a:pPr>
            <a:r>
              <a:rPr lang="zh-CN" altLang="en-US" sz="1800" dirty="0"/>
              <a:t>向后段</a:t>
            </a:r>
            <a:r>
              <a:rPr lang="en-US" altLang="zh-CN" sz="1800" dirty="0"/>
              <a:t>(ID/EX</a:t>
            </a:r>
            <a:r>
              <a:rPr lang="zh-CN" altLang="en-US" sz="1800" dirty="0"/>
              <a:t>）插入气泡</a:t>
            </a:r>
            <a:r>
              <a:rPr lang="zh-CN" altLang="en-US" sz="1800" dirty="0">
                <a:solidFill>
                  <a:srgbClr val="FF0000"/>
                </a:solidFill>
              </a:rPr>
              <a:t>（接口信号清零）</a:t>
            </a:r>
            <a:endParaRPr lang="zh-CN" altLang="en-US" sz="1800" dirty="0">
              <a:solidFill>
                <a:srgbClr val="FF0000"/>
              </a:solidFill>
            </a:endParaRPr>
          </a:p>
          <a:p>
            <a:pPr marL="1212850" lvl="2" indent="-355600">
              <a:lnSpc>
                <a:spcPct val="150000"/>
              </a:lnSpc>
              <a:buFont typeface="Wingdings" panose="05000000000000000000" pitchFamily="2" charset="2"/>
              <a:buChar char="p"/>
              <a:defRPr/>
            </a:pPr>
            <a:r>
              <a:rPr lang="zh-CN" altLang="en-US" sz="1800" dirty="0"/>
              <a:t>向前（</a:t>
            </a:r>
            <a:r>
              <a:rPr lang="en-US" altLang="zh-CN" sz="1800" dirty="0"/>
              <a:t>IF/ID</a:t>
            </a:r>
            <a:r>
              <a:rPr lang="zh-CN" altLang="en-US" sz="1800" dirty="0"/>
              <a:t>暂停）给出阻塞信号</a:t>
            </a:r>
            <a:r>
              <a:rPr lang="zh-CN" altLang="en-US" sz="1800" dirty="0">
                <a:solidFill>
                  <a:srgbClr val="FF0000"/>
                </a:solidFill>
              </a:rPr>
              <a:t>（流水线停顿），</a:t>
            </a:r>
            <a:r>
              <a:rPr lang="zh-CN" altLang="en-US" sz="1800" dirty="0"/>
              <a:t>避免当前指令被新指令取代</a:t>
            </a:r>
            <a:endParaRPr lang="zh-CN" altLang="en-US" sz="1800" dirty="0"/>
          </a:p>
          <a:p>
            <a:pPr lvl="1">
              <a:lnSpc>
                <a:spcPct val="150000"/>
              </a:lnSpc>
              <a:buFont typeface="Wingdings" panose="05000000000000000000" pitchFamily="2" charset="2"/>
              <a:buChar char="u"/>
              <a:defRPr/>
            </a:pPr>
            <a:r>
              <a:rPr lang="zh-CN" altLang="en-US" b="1" dirty="0"/>
              <a:t>数据重定向</a:t>
            </a:r>
            <a:r>
              <a:rPr lang="en-US" altLang="zh-CN" dirty="0"/>
              <a:t>bypass</a:t>
            </a:r>
            <a:r>
              <a:rPr lang="zh-CN" altLang="en-US" dirty="0"/>
              <a:t>（数据旁路）</a:t>
            </a:r>
            <a:endParaRPr lang="zh-CN" altLang="en-US" dirty="0"/>
          </a:p>
          <a:p>
            <a:pPr lvl="2">
              <a:lnSpc>
                <a:spcPct val="150000"/>
              </a:lnSpc>
              <a:defRPr/>
            </a:pPr>
            <a:r>
              <a:rPr lang="zh-CN" altLang="en-US" sz="1800" dirty="0"/>
              <a:t>将后端处理后的数据（还没来得及写回）重定向</a:t>
            </a:r>
            <a:endParaRPr lang="zh-CN" altLang="en-US" sz="1800" dirty="0"/>
          </a:p>
          <a:p>
            <a:pPr lvl="2">
              <a:lnSpc>
                <a:spcPct val="150000"/>
              </a:lnSpc>
              <a:defRPr/>
            </a:pPr>
            <a:r>
              <a:rPr lang="zh-CN" altLang="en-US" sz="1800" dirty="0"/>
              <a:t>数据在哪就从哪送到运算器</a:t>
            </a:r>
            <a:endParaRPr lang="zh-CN" altLang="en-US" sz="1800" dirty="0"/>
          </a:p>
          <a:p>
            <a:pPr>
              <a:defRPr/>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49344"/>
    </mc:Choice>
    <mc:Fallback>
      <p:transition spd="slow" advTm="49344"/>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254635" y="72390"/>
            <a:ext cx="11226800" cy="4558030"/>
          </a:xfrm>
          <a:prstGeom prst="rect">
            <a:avLst/>
          </a:prstGeom>
        </p:spPr>
      </p:pic>
      <p:sp>
        <p:nvSpPr>
          <p:cNvPr id="5" name="椭圆 4"/>
          <p:cNvSpPr/>
          <p:nvPr/>
        </p:nvSpPr>
        <p:spPr>
          <a:xfrm>
            <a:off x="487680" y="864235"/>
            <a:ext cx="2403475" cy="213995"/>
          </a:xfrm>
          <a:prstGeom prst="ellipse">
            <a:avLst/>
          </a:prstGeom>
          <a:no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椭圆 5"/>
          <p:cNvSpPr/>
          <p:nvPr/>
        </p:nvSpPr>
        <p:spPr>
          <a:xfrm>
            <a:off x="365760" y="3980180"/>
            <a:ext cx="2403475" cy="558165"/>
          </a:xfrm>
          <a:prstGeom prst="ellipse">
            <a:avLst/>
          </a:prstGeom>
          <a:no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nvPicPr>
        <p:blipFill>
          <a:blip r:embed="rId2"/>
          <a:stretch>
            <a:fillRect/>
          </a:stretch>
        </p:blipFill>
        <p:spPr>
          <a:xfrm>
            <a:off x="2481580" y="4538980"/>
            <a:ext cx="9222740" cy="2319655"/>
          </a:xfrm>
          <a:prstGeom prst="rect">
            <a:avLst/>
          </a:prstGeom>
        </p:spPr>
      </p:pic>
      <p:sp>
        <p:nvSpPr>
          <p:cNvPr id="8" name="椭圆 7"/>
          <p:cNvSpPr/>
          <p:nvPr/>
        </p:nvSpPr>
        <p:spPr>
          <a:xfrm>
            <a:off x="3201035" y="4218940"/>
            <a:ext cx="1846580" cy="2639695"/>
          </a:xfrm>
          <a:prstGeom prst="ellipse">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3913"/>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矩形 411"/>
          <p:cNvSpPr/>
          <p:nvPr/>
        </p:nvSpPr>
        <p:spPr>
          <a:xfrm>
            <a:off x="9686707" y="1595206"/>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WB</a:t>
            </a:r>
            <a:r>
              <a:rPr lang="zh-CN" altLang="en-US" dirty="0"/>
              <a:t>段数据相关消除</a:t>
            </a:r>
            <a:r>
              <a:rPr lang="en-US" altLang="zh-CN" dirty="0"/>
              <a:t>(</a:t>
            </a:r>
            <a:r>
              <a:rPr lang="zh-CN" altLang="en-US" dirty="0"/>
              <a:t>一个周期的方波，先下降再上升</a:t>
            </a:r>
            <a:r>
              <a:rPr lang="en-US" altLang="zh-CN" dirty="0"/>
              <a:t>)</a:t>
            </a:r>
            <a:endParaRPr lang="en-US" altLang="zh-CN" dirty="0"/>
          </a:p>
        </p:txBody>
      </p:sp>
      <p:sp>
        <p:nvSpPr>
          <p:cNvPr id="201" name="文本框 200"/>
          <p:cNvSpPr txBox="1"/>
          <p:nvPr/>
        </p:nvSpPr>
        <p:spPr>
          <a:xfrm>
            <a:off x="1602258" y="5992639"/>
            <a:ext cx="9520555"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先写后读，寄存器文件</a:t>
            </a:r>
            <a:r>
              <a:rPr lang="zh-CN" altLang="en-US" sz="2800" b="1" dirty="0">
                <a:solidFill>
                  <a:srgbClr val="FF0000"/>
                </a:solidFill>
                <a:latin typeface="微软雅黑" panose="020B0503020204020204" pitchFamily="34" charset="-122"/>
                <a:ea typeface="微软雅黑" panose="020B0503020204020204" pitchFamily="34" charset="-122"/>
              </a:rPr>
              <a:t>下跳沿</a:t>
            </a:r>
            <a:r>
              <a:rPr lang="zh-CN" altLang="en-US" sz="2800" b="1" dirty="0">
                <a:latin typeface="微软雅黑" panose="020B0503020204020204" pitchFamily="34" charset="-122"/>
                <a:ea typeface="微软雅黑" panose="020B0503020204020204" pitchFamily="34" charset="-122"/>
              </a:rPr>
              <a:t>写入，流水接口</a:t>
            </a:r>
            <a:r>
              <a:rPr lang="zh-CN" altLang="en-US" sz="2800" b="1" dirty="0">
                <a:solidFill>
                  <a:srgbClr val="005D9C"/>
                </a:solidFill>
                <a:latin typeface="微软雅黑" panose="020B0503020204020204" pitchFamily="34" charset="-122"/>
                <a:ea typeface="微软雅黑" panose="020B0503020204020204" pitchFamily="34" charset="-122"/>
              </a:rPr>
              <a:t>上跳沿</a:t>
            </a:r>
            <a:r>
              <a:rPr lang="zh-CN" altLang="en-US" sz="2800" b="1" dirty="0">
                <a:latin typeface="微软雅黑" panose="020B0503020204020204" pitchFamily="34" charset="-122"/>
                <a:ea typeface="微软雅黑" panose="020B0503020204020204" pitchFamily="34" charset="-122"/>
              </a:rPr>
              <a:t>有效</a:t>
            </a:r>
            <a:endParaRPr lang="zh-CN" altLang="en-US" sz="2800" b="1" dirty="0">
              <a:latin typeface="微软雅黑" panose="020B0503020204020204" pitchFamily="34" charset="-122"/>
              <a:ea typeface="微软雅黑" panose="020B0503020204020204" pitchFamily="34" charset="-122"/>
            </a:endParaRPr>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152600" y="1588992"/>
            <a:ext cx="179839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1" name="文本框 390"/>
          <p:cNvSpPr txBox="1">
            <a:spLocks noChangeArrowheads="1"/>
          </p:cNvSpPr>
          <p:nvPr/>
        </p:nvSpPr>
        <p:spPr bwMode="auto">
          <a:xfrm>
            <a:off x="9974992" y="1582370"/>
            <a:ext cx="96585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lw</a:t>
            </a:r>
            <a:r>
              <a:rPr lang="en-US" altLang="zh-CN" sz="1100" b="1" dirty="0">
                <a:solidFill>
                  <a:srgbClr val="000000"/>
                </a:solidFill>
              </a:rPr>
              <a:t> </a:t>
            </a:r>
            <a:r>
              <a:rPr lang="en-US" altLang="zh-CN" sz="1100" b="1" dirty="0">
                <a:solidFill>
                  <a:srgbClr val="C00000"/>
                </a:solidFill>
              </a:rPr>
              <a:t>$1</a:t>
            </a:r>
            <a:r>
              <a:rPr lang="en-US" altLang="zh-CN" sz="1100" b="1" dirty="0">
                <a:solidFill>
                  <a:srgbClr val="000000"/>
                </a:solidFill>
              </a:rPr>
              <a:t>,4($2)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96803"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pic>
        <p:nvPicPr>
          <p:cNvPr id="416" name="图片 4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921180">
            <a:off x="4279603" y="4546850"/>
            <a:ext cx="568549" cy="210672"/>
          </a:xfrm>
          <a:prstGeom prst="rect">
            <a:avLst/>
          </a:prstGeom>
        </p:spPr>
      </p:pic>
      <p:pic>
        <p:nvPicPr>
          <p:cNvPr id="417" name="图片 416"/>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5433106" y="5514633"/>
            <a:ext cx="568549" cy="210672"/>
          </a:xfrm>
          <a:prstGeom prst="rect">
            <a:avLst/>
          </a:prstGeom>
        </p:spPr>
      </p:pic>
      <p:cxnSp>
        <p:nvCxnSpPr>
          <p:cNvPr id="202" name="直接箭头连接符 201"/>
          <p:cNvCxnSpPr/>
          <p:nvPr/>
        </p:nvCxnSpPr>
        <p:spPr>
          <a:xfrm>
            <a:off x="4441234" y="5550982"/>
            <a:ext cx="5934902" cy="0"/>
          </a:xfrm>
          <a:prstGeom prst="straightConnector1">
            <a:avLst/>
          </a:prstGeom>
          <a:noFill/>
          <a:ln w="38100" cap="sq" cmpd="sng" algn="ctr">
            <a:solidFill>
              <a:srgbClr val="7030A0"/>
            </a:solidFill>
            <a:prstDash val="solid"/>
            <a:miter lim="800000"/>
            <a:tailEnd type="none"/>
          </a:ln>
          <a:effectLst/>
        </p:spPr>
      </p:cxnSp>
      <p:cxnSp>
        <p:nvCxnSpPr>
          <p:cNvPr id="203" name="直接连接符 202"/>
          <p:cNvCxnSpPr/>
          <p:nvPr/>
        </p:nvCxnSpPr>
        <p:spPr>
          <a:xfrm>
            <a:off x="10376136" y="4113398"/>
            <a:ext cx="0" cy="1437584"/>
          </a:xfrm>
          <a:prstGeom prst="line">
            <a:avLst/>
          </a:prstGeom>
          <a:noFill/>
          <a:ln w="38100" cap="sq" cmpd="sng" algn="ctr">
            <a:solidFill>
              <a:srgbClr val="7030A0"/>
            </a:solidFill>
            <a:prstDash val="solid"/>
            <a:miter lim="800000"/>
            <a:tailEnd type="none"/>
          </a:ln>
          <a:effectLst/>
        </p:spPr>
      </p:cxnSp>
      <p:cxnSp>
        <p:nvCxnSpPr>
          <p:cNvPr id="204" name="直接箭头连接符 203"/>
          <p:cNvCxnSpPr/>
          <p:nvPr/>
        </p:nvCxnSpPr>
        <p:spPr>
          <a:xfrm>
            <a:off x="10175418" y="4098103"/>
            <a:ext cx="200718" cy="0"/>
          </a:xfrm>
          <a:prstGeom prst="straightConnector1">
            <a:avLst/>
          </a:prstGeom>
          <a:noFill/>
          <a:ln w="38100" cap="sq" cmpd="sng" algn="ctr">
            <a:solidFill>
              <a:srgbClr val="7030A0"/>
            </a:solidFill>
            <a:prstDash val="solid"/>
            <a:miter lim="800000"/>
            <a:tailEnd type="none"/>
          </a:ln>
          <a:effectLst/>
        </p:spPr>
      </p:cxnSp>
      <p:cxnSp>
        <p:nvCxnSpPr>
          <p:cNvPr id="205" name="直接连接符 204"/>
          <p:cNvCxnSpPr/>
          <p:nvPr/>
        </p:nvCxnSpPr>
        <p:spPr>
          <a:xfrm>
            <a:off x="4441234" y="4288818"/>
            <a:ext cx="0" cy="1262164"/>
          </a:xfrm>
          <a:prstGeom prst="line">
            <a:avLst/>
          </a:prstGeom>
          <a:noFill/>
          <a:ln w="38100" cap="sq" cmpd="sng" algn="ctr">
            <a:solidFill>
              <a:srgbClr val="7030A0"/>
            </a:solidFill>
            <a:prstDash val="solid"/>
            <a:miter lim="800000"/>
            <a:tailEnd type="none"/>
          </a:ln>
          <a:effectLst/>
        </p:spPr>
      </p:cxnSp>
      <p:cxnSp>
        <p:nvCxnSpPr>
          <p:cNvPr id="206" name="直接箭头连接符 205"/>
          <p:cNvCxnSpPr/>
          <p:nvPr/>
        </p:nvCxnSpPr>
        <p:spPr>
          <a:xfrm>
            <a:off x="4453924" y="4289507"/>
            <a:ext cx="173158" cy="0"/>
          </a:xfrm>
          <a:prstGeom prst="straightConnector1">
            <a:avLst/>
          </a:prstGeom>
          <a:noFill/>
          <a:ln w="38100" cap="sq" cmpd="sng" algn="ctr">
            <a:solidFill>
              <a:srgbClr val="7030A0"/>
            </a:solidFill>
            <a:prstDash val="solid"/>
            <a:miter lim="800000"/>
            <a:tailEnd type="triangle"/>
          </a:ln>
          <a:effectLst/>
        </p:spPr>
      </p:cxn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34968"/>
    </mc:Choice>
    <mc:Fallback>
      <p:transition spd="slow" advTm="1349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2000" fill="hold" grpId="0" nodeType="click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wipe(left)">
                                      <p:cBhvr>
                                        <p:cTn id="7" dur="500"/>
                                        <p:tgtEl>
                                          <p:spTgt spid="413"/>
                                        </p:tgtEl>
                                      </p:cBhvr>
                                    </p:animEffect>
                                  </p:childTnLst>
                                </p:cTn>
                              </p:par>
                            </p:childTnLst>
                          </p:cTn>
                        </p:par>
                        <p:par>
                          <p:cTn id="8" fill="hold">
                            <p:stCondLst>
                              <p:cond delay="500"/>
                            </p:stCondLst>
                            <p:childTnLst>
                              <p:par>
                                <p:cTn id="9" presetID="22" presetClass="entr" presetSubtype="8" repeatCount="2000" fill="hold" grpId="0" nodeType="afterEffect">
                                  <p:stCondLst>
                                    <p:cond delay="0"/>
                                  </p:stCondLst>
                                  <p:childTnLst>
                                    <p:set>
                                      <p:cBhvr>
                                        <p:cTn id="10" dur="1" fill="hold">
                                          <p:stCondLst>
                                            <p:cond delay="0"/>
                                          </p:stCondLst>
                                        </p:cTn>
                                        <p:tgtEl>
                                          <p:spTgt spid="412"/>
                                        </p:tgtEl>
                                        <p:attrNameLst>
                                          <p:attrName>style.visibility</p:attrName>
                                        </p:attrNameLst>
                                      </p:cBhvr>
                                      <p:to>
                                        <p:strVal val="visible"/>
                                      </p:to>
                                    </p:set>
                                    <p:animEffect transition="in" filter="wipe(left)">
                                      <p:cBhvr>
                                        <p:cTn id="11" dur="500"/>
                                        <p:tgtEl>
                                          <p:spTgt spid="4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04"/>
                                        </p:tgtEl>
                                        <p:attrNameLst>
                                          <p:attrName>style.visibility</p:attrName>
                                        </p:attrNameLst>
                                      </p:cBhvr>
                                      <p:to>
                                        <p:strVal val="visible"/>
                                      </p:to>
                                    </p:set>
                                    <p:animEffect transition="in" filter="wipe(left)">
                                      <p:cBhvr>
                                        <p:cTn id="16" dur="500"/>
                                        <p:tgtEl>
                                          <p:spTgt spid="204"/>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203"/>
                                        </p:tgtEl>
                                        <p:attrNameLst>
                                          <p:attrName>style.visibility</p:attrName>
                                        </p:attrNameLst>
                                      </p:cBhvr>
                                      <p:to>
                                        <p:strVal val="visible"/>
                                      </p:to>
                                    </p:set>
                                    <p:animEffect transition="in" filter="wipe(up)">
                                      <p:cBhvr>
                                        <p:cTn id="20" dur="500"/>
                                        <p:tgtEl>
                                          <p:spTgt spid="203"/>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202"/>
                                        </p:tgtEl>
                                        <p:attrNameLst>
                                          <p:attrName>style.visibility</p:attrName>
                                        </p:attrNameLst>
                                      </p:cBhvr>
                                      <p:to>
                                        <p:strVal val="visible"/>
                                      </p:to>
                                    </p:set>
                                    <p:animEffect transition="in" filter="wipe(right)">
                                      <p:cBhvr>
                                        <p:cTn id="24" dur="500"/>
                                        <p:tgtEl>
                                          <p:spTgt spid="202"/>
                                        </p:tgtEl>
                                      </p:cBhvr>
                                    </p:animEffec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205"/>
                                        </p:tgtEl>
                                        <p:attrNameLst>
                                          <p:attrName>style.visibility</p:attrName>
                                        </p:attrNameLst>
                                      </p:cBhvr>
                                      <p:to>
                                        <p:strVal val="visible"/>
                                      </p:to>
                                    </p:set>
                                    <p:animEffect transition="in" filter="wipe(down)">
                                      <p:cBhvr>
                                        <p:cTn id="28" dur="500"/>
                                        <p:tgtEl>
                                          <p:spTgt spid="205"/>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206"/>
                                        </p:tgtEl>
                                        <p:attrNameLst>
                                          <p:attrName>style.visibility</p:attrName>
                                        </p:attrNameLst>
                                      </p:cBhvr>
                                      <p:to>
                                        <p:strVal val="visible"/>
                                      </p:to>
                                    </p:set>
                                    <p:animEffect transition="in" filter="wipe(left)">
                                      <p:cBhvr>
                                        <p:cTn id="32" dur="500"/>
                                        <p:tgtEl>
                                          <p:spTgt spid="2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repeatCount="2000" fill="hold" nodeType="clickEffect">
                                  <p:stCondLst>
                                    <p:cond delay="0"/>
                                  </p:stCondLst>
                                  <p:childTnLst>
                                    <p:set>
                                      <p:cBhvr>
                                        <p:cTn id="36" dur="1" fill="hold">
                                          <p:stCondLst>
                                            <p:cond delay="0"/>
                                          </p:stCondLst>
                                        </p:cTn>
                                        <p:tgtEl>
                                          <p:spTgt spid="416"/>
                                        </p:tgtEl>
                                        <p:attrNameLst>
                                          <p:attrName>style.visibility</p:attrName>
                                        </p:attrNameLst>
                                      </p:cBhvr>
                                      <p:to>
                                        <p:strVal val="visible"/>
                                      </p:to>
                                    </p:set>
                                    <p:animEffect transition="in" filter="wipe(down)">
                                      <p:cBhvr>
                                        <p:cTn id="37" dur="500"/>
                                        <p:tgtEl>
                                          <p:spTgt spid="4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repeatCount="3000" fill="hold" nodeType="clickEffect">
                                  <p:stCondLst>
                                    <p:cond delay="0"/>
                                  </p:stCondLst>
                                  <p:childTnLst>
                                    <p:set>
                                      <p:cBhvr>
                                        <p:cTn id="41" dur="1" fill="hold">
                                          <p:stCondLst>
                                            <p:cond delay="0"/>
                                          </p:stCondLst>
                                        </p:cTn>
                                        <p:tgtEl>
                                          <p:spTgt spid="405"/>
                                        </p:tgtEl>
                                        <p:attrNameLst>
                                          <p:attrName>style.visibility</p:attrName>
                                        </p:attrNameLst>
                                      </p:cBhvr>
                                      <p:to>
                                        <p:strVal val="visible"/>
                                      </p:to>
                                    </p:set>
                                    <p:animEffect transition="in" filter="wipe(left)">
                                      <p:cBhvr>
                                        <p:cTn id="42" dur="500"/>
                                        <p:tgtEl>
                                          <p:spTgt spid="40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repeatCount="2000" fill="hold" nodeType="clickEffect">
                                  <p:stCondLst>
                                    <p:cond delay="0"/>
                                  </p:stCondLst>
                                  <p:childTnLst>
                                    <p:set>
                                      <p:cBhvr>
                                        <p:cTn id="46" dur="1" fill="hold">
                                          <p:stCondLst>
                                            <p:cond delay="0"/>
                                          </p:stCondLst>
                                        </p:cTn>
                                        <p:tgtEl>
                                          <p:spTgt spid="417"/>
                                        </p:tgtEl>
                                        <p:attrNameLst>
                                          <p:attrName>style.visibility</p:attrName>
                                        </p:attrNameLst>
                                      </p:cBhvr>
                                      <p:to>
                                        <p:strVal val="visible"/>
                                      </p:to>
                                    </p:set>
                                    <p:animEffect transition="in" filter="wipe(down)">
                                      <p:cBhvr>
                                        <p:cTn id="47" dur="5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0" bldLvl="0" animBg="1"/>
      <p:bldP spid="412"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540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MEM</a:t>
            </a:r>
            <a:r>
              <a:rPr lang="zh-CN" altLang="en-US" dirty="0"/>
              <a:t>段数据相关</a:t>
            </a:r>
            <a:endParaRPr lang="zh-CN" altLang="en-US" dirty="0"/>
          </a:p>
        </p:txBody>
      </p:sp>
      <p:sp>
        <p:nvSpPr>
          <p:cNvPr id="201" name="文本框 200"/>
          <p:cNvSpPr txBox="1"/>
          <p:nvPr/>
        </p:nvSpPr>
        <p:spPr>
          <a:xfrm>
            <a:off x="2165822" y="6005392"/>
            <a:ext cx="8982710" cy="953135"/>
          </a:xfrm>
          <a:prstGeom prst="rect">
            <a:avLst/>
          </a:prstGeom>
          <a:noFill/>
        </p:spPr>
        <p:txBody>
          <a:bodyPr wrap="none" rtlCol="0">
            <a:spAutoFit/>
          </a:bodyPr>
          <a:lstStyle/>
          <a:p>
            <a:r>
              <a:rPr lang="en-US" altLang="zh-CN" sz="2800" b="1" dirty="0">
                <a:latin typeface="微软雅黑" panose="020B0503020204020204" pitchFamily="34" charset="-122"/>
                <a:ea typeface="微软雅黑" panose="020B0503020204020204" pitchFamily="34" charset="-122"/>
              </a:rPr>
              <a:t>IF/ID</a:t>
            </a:r>
            <a:r>
              <a:rPr lang="zh-CN" altLang="en-US" sz="2800" b="1" dirty="0">
                <a:latin typeface="微软雅黑" panose="020B0503020204020204" pitchFamily="34" charset="-122"/>
                <a:ea typeface="微软雅黑" panose="020B0503020204020204" pitchFamily="34" charset="-122"/>
              </a:rPr>
              <a:t>暂停，</a:t>
            </a:r>
            <a:r>
              <a:rPr lang="en-US" sz="2800" b="1" dirty="0">
                <a:latin typeface="微软雅黑" panose="020B0503020204020204" pitchFamily="34" charset="-122"/>
                <a:ea typeface="微软雅黑" panose="020B0503020204020204" pitchFamily="34" charset="-122"/>
              </a:rPr>
              <a:t>ID/EX</a:t>
            </a:r>
            <a:r>
              <a:rPr lang="zh-CN" altLang="en-US" sz="2800" b="1" dirty="0">
                <a:latin typeface="微软雅黑" panose="020B0503020204020204" pitchFamily="34" charset="-122"/>
                <a:ea typeface="微软雅黑" panose="020B0503020204020204" pitchFamily="34" charset="-122"/>
              </a:rPr>
              <a:t>清零（插入</a:t>
            </a:r>
            <a:r>
              <a:rPr lang="zh-CN" altLang="en-US" sz="2800" b="1" dirty="0">
                <a:latin typeface="微软雅黑" panose="020B0503020204020204" pitchFamily="34" charset="-122"/>
                <a:ea typeface="微软雅黑" panose="020B0503020204020204" pitchFamily="34" charset="-122"/>
              </a:rPr>
              <a:t>气泡）等待数据写回</a:t>
            </a:r>
            <a:endParaRPr lang="zh-CN" altLang="en-US" sz="2800" b="1" dirty="0">
              <a:latin typeface="微软雅黑" panose="020B0503020204020204" pitchFamily="34" charset="-122"/>
              <a:ea typeface="微软雅黑" panose="020B0503020204020204" pitchFamily="34" charset="-122"/>
            </a:endParaRPr>
          </a:p>
          <a:p>
            <a:r>
              <a:rPr lang="en-US" altLang="zh-CN" sz="2800" b="1" dirty="0">
                <a:latin typeface="微软雅黑" panose="020B0503020204020204" pitchFamily="34" charset="-122"/>
                <a:ea typeface="微软雅黑" panose="020B0503020204020204" pitchFamily="34" charset="-122"/>
              </a:rPr>
              <a:t>IF/ID</a:t>
            </a:r>
            <a:r>
              <a:rPr lang="zh-CN" altLang="en-US" sz="2800" b="1" dirty="0">
                <a:latin typeface="微软雅黑" panose="020B0503020204020204" pitchFamily="34" charset="-122"/>
                <a:ea typeface="微软雅黑" panose="020B0503020204020204" pitchFamily="34" charset="-122"/>
              </a:rPr>
              <a:t>预留暂停（</a:t>
            </a:r>
            <a:r>
              <a:rPr lang="en-US" altLang="zh-CN" sz="2800" b="1" dirty="0">
                <a:latin typeface="微软雅黑" panose="020B0503020204020204" pitchFamily="34" charset="-122"/>
                <a:ea typeface="微软雅黑" panose="020B0503020204020204" pitchFamily="34" charset="-122"/>
              </a:rPr>
              <a:t>stall</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清零输入；</a:t>
            </a:r>
            <a:r>
              <a:rPr lang="en-US" altLang="zh-CN" sz="2800" b="1" dirty="0">
                <a:latin typeface="微软雅黑" panose="020B0503020204020204" pitchFamily="34" charset="-122"/>
                <a:ea typeface="微软雅黑" panose="020B0503020204020204" pitchFamily="34" charset="-122"/>
              </a:rPr>
              <a:t>ID/EX</a:t>
            </a:r>
            <a:r>
              <a:rPr lang="zh-CN" altLang="en-US" sz="2800" b="1" dirty="0">
                <a:latin typeface="微软雅黑" panose="020B0503020204020204" pitchFamily="34" charset="-122"/>
                <a:ea typeface="微软雅黑" panose="020B0503020204020204" pitchFamily="34" charset="-122"/>
              </a:rPr>
              <a:t>预留清零</a:t>
            </a:r>
            <a:r>
              <a:rPr lang="zh-CN" altLang="en-US" sz="2800" b="1" dirty="0">
                <a:latin typeface="微软雅黑" panose="020B0503020204020204" pitchFamily="34" charset="-122"/>
                <a:ea typeface="微软雅黑" panose="020B0503020204020204" pitchFamily="34" charset="-122"/>
              </a:rPr>
              <a:t>输入</a:t>
            </a:r>
            <a:endParaRPr lang="zh-CN" altLang="en-US" sz="2800" b="1" dirty="0">
              <a:latin typeface="微软雅黑" panose="020B0503020204020204" pitchFamily="34" charset="-122"/>
              <a:ea typeface="微软雅黑" panose="020B0503020204020204" pitchFamily="34" charset="-122"/>
            </a:endParaRPr>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445895" y="1575680"/>
            <a:ext cx="1252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1" name="文本框 390"/>
          <p:cNvSpPr txBox="1">
            <a:spLocks noChangeArrowheads="1"/>
          </p:cNvSpPr>
          <p:nvPr/>
        </p:nvSpPr>
        <p:spPr bwMode="auto">
          <a:xfrm>
            <a:off x="9974992" y="1572845"/>
            <a:ext cx="96585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lw</a:t>
            </a:r>
            <a:r>
              <a:rPr lang="en-US" altLang="zh-CN" sz="1100" b="1" dirty="0">
                <a:solidFill>
                  <a:srgbClr val="000000"/>
                </a:solidFill>
              </a:rPr>
              <a:t> </a:t>
            </a:r>
            <a:r>
              <a:rPr lang="en-US" altLang="zh-CN" sz="1100" b="1" dirty="0"/>
              <a:t>$2</a:t>
            </a:r>
            <a:r>
              <a:rPr lang="en-US" altLang="zh-CN" sz="1100" b="1" dirty="0">
                <a:solidFill>
                  <a:srgbClr val="000000"/>
                </a:solidFill>
              </a:rPr>
              <a:t>,4($2)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sp>
        <p:nvSpPr>
          <p:cNvPr id="203" name="矩形 202"/>
          <p:cNvSpPr/>
          <p:nvPr/>
        </p:nvSpPr>
        <p:spPr>
          <a:xfrm>
            <a:off x="7901025" y="158773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a:spLocks noChangeArrowheads="1"/>
          </p:cNvSpPr>
          <p:nvPr/>
        </p:nvSpPr>
        <p:spPr bwMode="auto">
          <a:xfrm>
            <a:off x="7980616" y="1566454"/>
            <a:ext cx="1435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and </a:t>
            </a:r>
            <a:r>
              <a:rPr lang="en-US" altLang="zh-CN" sz="1100" b="1" dirty="0">
                <a:solidFill>
                  <a:srgbClr val="C00000"/>
                </a:solidFill>
              </a:rPr>
              <a:t>$1</a:t>
            </a:r>
            <a:r>
              <a:rPr lang="en-US" altLang="zh-CN" sz="1100" b="1" dirty="0">
                <a:solidFill>
                  <a:srgbClr val="000000"/>
                </a:solidFill>
              </a:rPr>
              <a:t>,$1,$2</a:t>
            </a:r>
            <a:endParaRPr lang="zh-CN" altLang="en-US" sz="1100" b="1" dirty="0">
              <a:solidFill>
                <a:srgbClr val="000000"/>
              </a:solidFill>
            </a:endParaRPr>
          </a:p>
        </p:txBody>
      </p:sp>
      <p:sp>
        <p:nvSpPr>
          <p:cNvPr id="206" name="文本框 205"/>
          <p:cNvSpPr txBox="1">
            <a:spLocks noChangeArrowheads="1"/>
          </p:cNvSpPr>
          <p:nvPr/>
        </p:nvSpPr>
        <p:spPr bwMode="auto">
          <a:xfrm>
            <a:off x="6274479" y="1575680"/>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t>$3,$</a:t>
            </a:r>
            <a:r>
              <a:rPr lang="en-US" altLang="zh-CN" sz="1100" b="1" dirty="0">
                <a:solidFill>
                  <a:srgbClr val="000000"/>
                </a:solidFill>
              </a:rPr>
              <a:t>1,$2</a:t>
            </a:r>
            <a:endParaRPr lang="zh-CN" altLang="en-US" sz="1100" b="1" dirty="0">
              <a:solidFill>
                <a:srgbClr val="000000"/>
              </a:solidFill>
            </a:endParaRPr>
          </a:p>
        </p:txBody>
      </p:sp>
      <p:grpSp>
        <p:nvGrpSpPr>
          <p:cNvPr id="5" name="组合 4"/>
          <p:cNvGrpSpPr/>
          <p:nvPr/>
        </p:nvGrpSpPr>
        <p:grpSpPr>
          <a:xfrm>
            <a:off x="1687388" y="3771562"/>
            <a:ext cx="2179899" cy="1583936"/>
            <a:chOff x="1687388" y="3771562"/>
            <a:chExt cx="2179899" cy="1583936"/>
          </a:xfrm>
        </p:grpSpPr>
        <p:pic>
          <p:nvPicPr>
            <p:cNvPr id="416" name="图片 415"/>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3477676" y="4965888"/>
              <a:ext cx="568549" cy="210672"/>
            </a:xfrm>
            <a:prstGeom prst="rect">
              <a:avLst/>
            </a:prstGeom>
          </p:spPr>
        </p:pic>
        <p:sp>
          <p:nvSpPr>
            <p:cNvPr id="207" name="文本框 206"/>
            <p:cNvSpPr txBox="1"/>
            <p:nvPr/>
          </p:nvSpPr>
          <p:spPr>
            <a:xfrm>
              <a:off x="1687388" y="4804743"/>
              <a:ext cx="1648208" cy="523220"/>
            </a:xfrm>
            <a:prstGeom prst="rect">
              <a:avLst/>
            </a:prstGeom>
            <a:noFill/>
          </p:spPr>
          <p:txBody>
            <a:bodyPr wrap="none" rtlCol="0">
              <a:spAutoFit/>
            </a:bodyPr>
            <a:lstStyle/>
            <a:p>
              <a:r>
                <a:rPr lang="zh-CN" altLang="en-US" sz="2800" b="1" dirty="0">
                  <a:solidFill>
                    <a:srgbClr val="4E71AF"/>
                  </a:solidFill>
                  <a:latin typeface="微软雅黑" panose="020B0503020204020204" pitchFamily="34" charset="-122"/>
                  <a:ea typeface="微软雅黑" panose="020B0503020204020204" pitchFamily="34" charset="-122"/>
                </a:rPr>
                <a:t>暂停</a:t>
              </a:r>
              <a:r>
                <a:rPr lang="en-US" altLang="zh-CN" sz="2800" b="1" dirty="0">
                  <a:solidFill>
                    <a:srgbClr val="4E71AF"/>
                  </a:solidFill>
                  <a:latin typeface="微软雅黑" panose="020B0503020204020204" pitchFamily="34" charset="-122"/>
                  <a:ea typeface="微软雅黑" panose="020B0503020204020204" pitchFamily="34" charset="-122"/>
                </a:rPr>
                <a:t>stall</a:t>
              </a:r>
              <a:endParaRPr lang="zh-CN" altLang="en-US" sz="2800" b="1" dirty="0">
                <a:solidFill>
                  <a:srgbClr val="4E71AF"/>
                </a:solidFill>
                <a:latin typeface="微软雅黑" panose="020B0503020204020204" pitchFamily="34" charset="-122"/>
                <a:ea typeface="微软雅黑" panose="020B0503020204020204" pitchFamily="34" charset="-122"/>
              </a:endParaRPr>
            </a:p>
          </p:txBody>
        </p:sp>
        <p:pic>
          <p:nvPicPr>
            <p:cNvPr id="208" name="图片 207"/>
            <p:cNvPicPr>
              <a:picLocks noChangeAspect="1"/>
            </p:cNvPicPr>
            <p:nvPr/>
          </p:nvPicPr>
          <p:blipFill>
            <a:blip r:embed="rId1"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1942475" y="3950501"/>
              <a:ext cx="568549" cy="210672"/>
            </a:xfrm>
            <a:prstGeom prst="rect">
              <a:avLst/>
            </a:prstGeom>
          </p:spPr>
        </p:pic>
      </p:grpSp>
      <p:grpSp>
        <p:nvGrpSpPr>
          <p:cNvPr id="6" name="组合 5"/>
          <p:cNvGrpSpPr/>
          <p:nvPr/>
        </p:nvGrpSpPr>
        <p:grpSpPr>
          <a:xfrm>
            <a:off x="4369200" y="5043073"/>
            <a:ext cx="1376870" cy="896189"/>
            <a:chOff x="4369200" y="5043073"/>
            <a:chExt cx="1376870" cy="896189"/>
          </a:xfrm>
        </p:grpSpPr>
        <p:pic>
          <p:nvPicPr>
            <p:cNvPr id="417" name="图片 4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921180">
              <a:off x="5356459" y="5222012"/>
              <a:ext cx="568549" cy="210672"/>
            </a:xfrm>
            <a:prstGeom prst="rect">
              <a:avLst/>
            </a:prstGeom>
          </p:spPr>
        </p:pic>
        <p:sp>
          <p:nvSpPr>
            <p:cNvPr id="209" name="文本框 208"/>
            <p:cNvSpPr txBox="1"/>
            <p:nvPr/>
          </p:nvSpPr>
          <p:spPr>
            <a:xfrm>
              <a:off x="4369200" y="5539152"/>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插入气泡</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222676" y="4460964"/>
            <a:ext cx="1210588" cy="907252"/>
            <a:chOff x="8222676" y="4511764"/>
            <a:chExt cx="1210588" cy="907252"/>
          </a:xfrm>
        </p:grpSpPr>
        <p:pic>
          <p:nvPicPr>
            <p:cNvPr id="205" name="图片 20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8794793">
              <a:off x="8956665" y="4690703"/>
              <a:ext cx="568549" cy="210672"/>
            </a:xfrm>
            <a:prstGeom prst="rect">
              <a:avLst/>
            </a:prstGeom>
          </p:spPr>
        </p:pic>
        <p:sp>
          <p:nvSpPr>
            <p:cNvPr id="210" name="文本框 209"/>
            <p:cNvSpPr txBox="1"/>
            <p:nvPr/>
          </p:nvSpPr>
          <p:spPr>
            <a:xfrm>
              <a:off x="8222676" y="5018906"/>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正确数据</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28601"/>
    </mc:Choice>
    <mc:Fallback>
      <p:transition spd="slow" advTm="1286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2000" fill="hold" grpId="0" nodeType="click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wipe(left)">
                                      <p:cBhvr>
                                        <p:cTn id="7" dur="500"/>
                                        <p:tgtEl>
                                          <p:spTgt spid="413"/>
                                        </p:tgtEl>
                                      </p:cBhvr>
                                    </p:animEffect>
                                  </p:childTnLst>
                                </p:cTn>
                              </p:par>
                            </p:childTnLst>
                          </p:cTn>
                        </p:par>
                        <p:par>
                          <p:cTn id="8" fill="hold">
                            <p:stCondLst>
                              <p:cond delay="500"/>
                            </p:stCondLst>
                            <p:childTnLst>
                              <p:par>
                                <p:cTn id="9" presetID="22" presetClass="entr" presetSubtype="8" repeatCount="2000" fill="hold" grpId="0"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wipe(left)">
                                      <p:cBhvr>
                                        <p:cTn id="11" dur="500"/>
                                        <p:tgtEl>
                                          <p:spTgt spid="20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repeatCount="200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repeatCount="200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0" bldLvl="0" animBg="1"/>
      <p:bldP spid="203"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540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MEM</a:t>
            </a:r>
            <a:r>
              <a:rPr lang="zh-CN" altLang="en-US" dirty="0"/>
              <a:t>段数据相关</a:t>
            </a:r>
            <a:endParaRPr lang="zh-CN" altLang="en-US" dirty="0"/>
          </a:p>
        </p:txBody>
      </p:sp>
      <p:sp>
        <p:nvSpPr>
          <p:cNvPr id="201" name="文本框 200"/>
          <p:cNvSpPr txBox="1"/>
          <p:nvPr/>
        </p:nvSpPr>
        <p:spPr>
          <a:xfrm>
            <a:off x="2823989" y="5995710"/>
            <a:ext cx="5843266"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下一时刻数据相关变成与</a:t>
            </a:r>
            <a:r>
              <a:rPr lang="en-US" altLang="zh-CN" sz="2800" b="1" dirty="0">
                <a:latin typeface="微软雅黑" panose="020B0503020204020204" pitchFamily="34" charset="-122"/>
                <a:ea typeface="微软雅黑" panose="020B0503020204020204" pitchFamily="34" charset="-122"/>
              </a:rPr>
              <a:t>WB</a:t>
            </a:r>
            <a:r>
              <a:rPr lang="zh-CN" altLang="en-US" sz="2800" b="1" dirty="0">
                <a:latin typeface="微软雅黑" panose="020B0503020204020204" pitchFamily="34" charset="-122"/>
                <a:ea typeface="微软雅黑" panose="020B0503020204020204" pitchFamily="34" charset="-122"/>
              </a:rPr>
              <a:t>段相关</a:t>
            </a:r>
            <a:endParaRPr lang="zh-CN" altLang="en-US" sz="2800" b="1" dirty="0">
              <a:latin typeface="微软雅黑" panose="020B0503020204020204" pitchFamily="34" charset="-122"/>
              <a:ea typeface="微软雅黑" panose="020B0503020204020204" pitchFamily="34" charset="-122"/>
            </a:endParaRPr>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445895" y="1575680"/>
            <a:ext cx="1252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398" name="直接箭头连接符 397"/>
          <p:cNvCxnSpPr/>
          <p:nvPr/>
        </p:nvCxnSpPr>
        <p:spPr>
          <a:xfrm>
            <a:off x="4441234" y="5550982"/>
            <a:ext cx="5934902" cy="0"/>
          </a:xfrm>
          <a:prstGeom prst="straightConnector1">
            <a:avLst/>
          </a:prstGeom>
          <a:noFill/>
          <a:ln w="38100" cap="sq" cmpd="sng" algn="ctr">
            <a:solidFill>
              <a:srgbClr val="7030A0"/>
            </a:solidFill>
            <a:prstDash val="solid"/>
            <a:miter lim="800000"/>
            <a:tailEnd type="none"/>
          </a:ln>
          <a:effectLst/>
        </p:spPr>
      </p:cxnSp>
      <p:cxnSp>
        <p:nvCxnSpPr>
          <p:cNvPr id="399" name="直接连接符 398"/>
          <p:cNvCxnSpPr/>
          <p:nvPr/>
        </p:nvCxnSpPr>
        <p:spPr>
          <a:xfrm>
            <a:off x="10376136" y="4113398"/>
            <a:ext cx="0" cy="1437584"/>
          </a:xfrm>
          <a:prstGeom prst="line">
            <a:avLst/>
          </a:prstGeom>
          <a:noFill/>
          <a:ln w="38100" cap="sq" cmpd="sng" algn="ctr">
            <a:solidFill>
              <a:srgbClr val="7030A0"/>
            </a:solidFill>
            <a:prstDash val="solid"/>
            <a:miter lim="800000"/>
            <a:tailEnd type="none"/>
          </a:ln>
          <a:effectLst/>
        </p:spPr>
      </p:cxnSp>
      <p:cxnSp>
        <p:nvCxnSpPr>
          <p:cNvPr id="400" name="直接箭头连接符 399"/>
          <p:cNvCxnSpPr/>
          <p:nvPr/>
        </p:nvCxnSpPr>
        <p:spPr>
          <a:xfrm>
            <a:off x="10175418" y="4098103"/>
            <a:ext cx="200718" cy="0"/>
          </a:xfrm>
          <a:prstGeom prst="straightConnector1">
            <a:avLst/>
          </a:prstGeom>
          <a:noFill/>
          <a:ln w="38100" cap="sq" cmpd="sng" algn="ctr">
            <a:solidFill>
              <a:srgbClr val="7030A0"/>
            </a:solidFill>
            <a:prstDash val="solid"/>
            <a:miter lim="800000"/>
            <a:tailEnd type="none"/>
          </a:ln>
          <a:effectLst/>
        </p:spPr>
      </p:cxnSp>
      <p:cxnSp>
        <p:nvCxnSpPr>
          <p:cNvPr id="401" name="直接连接符 400"/>
          <p:cNvCxnSpPr/>
          <p:nvPr/>
        </p:nvCxnSpPr>
        <p:spPr>
          <a:xfrm>
            <a:off x="4441234" y="4288818"/>
            <a:ext cx="0" cy="1262164"/>
          </a:xfrm>
          <a:prstGeom prst="line">
            <a:avLst/>
          </a:prstGeom>
          <a:noFill/>
          <a:ln w="38100" cap="sq" cmpd="sng" algn="ctr">
            <a:solidFill>
              <a:srgbClr val="7030A0"/>
            </a:solidFill>
            <a:prstDash val="solid"/>
            <a:miter lim="800000"/>
            <a:tailEnd type="none"/>
          </a:ln>
          <a:effectLst/>
        </p:spPr>
      </p:cxnSp>
      <p:cxnSp>
        <p:nvCxnSpPr>
          <p:cNvPr id="402" name="直接箭头连接符 401"/>
          <p:cNvCxnSpPr/>
          <p:nvPr/>
        </p:nvCxnSpPr>
        <p:spPr>
          <a:xfrm>
            <a:off x="4453924" y="4289507"/>
            <a:ext cx="173158" cy="0"/>
          </a:xfrm>
          <a:prstGeom prst="straightConnector1">
            <a:avLst/>
          </a:prstGeom>
          <a:noFill/>
          <a:ln w="38100" cap="sq" cmpd="sng" algn="ctr">
            <a:solidFill>
              <a:srgbClr val="7030A0"/>
            </a:solidFill>
            <a:prstDash val="solid"/>
            <a:miter lim="800000"/>
            <a:tailEnd type="triangle"/>
          </a:ln>
          <a:effectLst/>
        </p:spPr>
      </p:cxn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sp>
        <p:nvSpPr>
          <p:cNvPr id="203" name="矩形 202"/>
          <p:cNvSpPr/>
          <p:nvPr/>
        </p:nvSpPr>
        <p:spPr>
          <a:xfrm>
            <a:off x="9742830" y="1592399"/>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a:spLocks noChangeArrowheads="1"/>
          </p:cNvSpPr>
          <p:nvPr/>
        </p:nvSpPr>
        <p:spPr bwMode="auto">
          <a:xfrm>
            <a:off x="9800387" y="1571118"/>
            <a:ext cx="1435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and </a:t>
            </a:r>
            <a:r>
              <a:rPr lang="en-US" altLang="zh-CN" sz="1100" b="1" dirty="0">
                <a:solidFill>
                  <a:srgbClr val="C00000"/>
                </a:solidFill>
              </a:rPr>
              <a:t>$1</a:t>
            </a:r>
            <a:r>
              <a:rPr lang="en-US" altLang="zh-CN" sz="1100" b="1" dirty="0">
                <a:solidFill>
                  <a:srgbClr val="000000"/>
                </a:solidFill>
              </a:rPr>
              <a:t>,$1,$2</a:t>
            </a:r>
            <a:endParaRPr lang="zh-CN" altLang="en-US" sz="1100" b="1" dirty="0">
              <a:solidFill>
                <a:srgbClr val="000000"/>
              </a:solidFill>
            </a:endParaRPr>
          </a:p>
        </p:txBody>
      </p:sp>
      <p:sp>
        <p:nvSpPr>
          <p:cNvPr id="206" name="文本框 205"/>
          <p:cNvSpPr txBox="1">
            <a:spLocks noChangeArrowheads="1"/>
          </p:cNvSpPr>
          <p:nvPr/>
        </p:nvSpPr>
        <p:spPr bwMode="auto">
          <a:xfrm>
            <a:off x="8131154" y="1561874"/>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t>$3,$</a:t>
            </a:r>
            <a:r>
              <a:rPr lang="en-US" altLang="zh-CN" sz="1100" b="1" dirty="0">
                <a:solidFill>
                  <a:srgbClr val="000000"/>
                </a:solidFill>
              </a:rPr>
              <a:t>1,$2</a:t>
            </a:r>
            <a:endParaRPr lang="zh-CN" altLang="en-US" sz="1100" b="1" dirty="0">
              <a:solidFill>
                <a:srgbClr val="000000"/>
              </a:solidFill>
            </a:endParaRPr>
          </a:p>
        </p:txBody>
      </p:sp>
      <p:grpSp>
        <p:nvGrpSpPr>
          <p:cNvPr id="6" name="组合 5"/>
          <p:cNvGrpSpPr/>
          <p:nvPr/>
        </p:nvGrpSpPr>
        <p:grpSpPr>
          <a:xfrm>
            <a:off x="6093722" y="1556735"/>
            <a:ext cx="1514566" cy="261610"/>
            <a:chOff x="6093722" y="1556735"/>
            <a:chExt cx="1514566" cy="261610"/>
          </a:xfrm>
        </p:grpSpPr>
        <p:sp>
          <p:nvSpPr>
            <p:cNvPr id="211" name="矩形 210"/>
            <p:cNvSpPr/>
            <p:nvPr/>
          </p:nvSpPr>
          <p:spPr>
            <a:xfrm>
              <a:off x="6093722" y="1584185"/>
              <a:ext cx="1514566" cy="210086"/>
            </a:xfrm>
            <a:prstGeom prst="rect">
              <a:avLst/>
            </a:prstGeom>
            <a:solidFill>
              <a:schemeClr val="accent6">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文本框 208"/>
            <p:cNvSpPr txBox="1">
              <a:spLocks noChangeArrowheads="1"/>
            </p:cNvSpPr>
            <p:nvPr/>
          </p:nvSpPr>
          <p:spPr bwMode="auto">
            <a:xfrm>
              <a:off x="6296748" y="1556735"/>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zh-CN" altLang="en-US" sz="1100" b="1" dirty="0">
                <a:solidFill>
                  <a:srgbClr val="00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76199"/>
    </mc:Choice>
    <mc:Fallback>
      <p:transition spd="slow" advTm="76199"/>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540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EX</a:t>
            </a:r>
            <a:r>
              <a:rPr lang="zh-CN" altLang="en-US" dirty="0"/>
              <a:t>段数据相关</a:t>
            </a:r>
            <a:endParaRPr lang="zh-CN" altLang="en-US" dirty="0"/>
          </a:p>
        </p:txBody>
      </p:sp>
      <p:sp>
        <p:nvSpPr>
          <p:cNvPr id="201" name="文本框 200"/>
          <p:cNvSpPr txBox="1"/>
          <p:nvPr/>
        </p:nvSpPr>
        <p:spPr>
          <a:xfrm>
            <a:off x="2510344" y="5992639"/>
            <a:ext cx="7477175" cy="523220"/>
          </a:xfrm>
          <a:prstGeom prst="rect">
            <a:avLst/>
          </a:prstGeom>
          <a:noFill/>
        </p:spPr>
        <p:txBody>
          <a:bodyPr wrap="none" rtlCol="0">
            <a:spAutoFit/>
          </a:bodyPr>
          <a:lstStyle/>
          <a:p>
            <a:r>
              <a:rPr lang="en-US" altLang="zh-CN" sz="2800" b="1" dirty="0">
                <a:latin typeface="微软雅黑" panose="020B0503020204020204" pitchFamily="34" charset="-122"/>
                <a:ea typeface="微软雅黑" panose="020B0503020204020204" pitchFamily="34" charset="-122"/>
              </a:rPr>
              <a:t>IF</a:t>
            </a:r>
            <a:r>
              <a:rPr lang="zh-CN" altLang="en-US" sz="2800" b="1" dirty="0">
                <a:latin typeface="微软雅黑" panose="020B0503020204020204" pitchFamily="34" charset="-122"/>
                <a:ea typeface="微软雅黑" panose="020B0503020204020204" pitchFamily="34" charset="-122"/>
              </a:rPr>
              <a:t>段，</a:t>
            </a:r>
            <a:r>
              <a:rPr lang="en-US" altLang="zh-CN" sz="2800" b="1" dirty="0">
                <a:latin typeface="微软雅黑" panose="020B0503020204020204" pitchFamily="34" charset="-122"/>
                <a:ea typeface="微软雅黑" panose="020B0503020204020204" pitchFamily="34" charset="-122"/>
              </a:rPr>
              <a:t>ID</a:t>
            </a:r>
            <a:r>
              <a:rPr lang="zh-CN" altLang="en-US" sz="2800" b="1" dirty="0">
                <a:latin typeface="微软雅黑" panose="020B0503020204020204" pitchFamily="34" charset="-122"/>
                <a:ea typeface="微软雅黑" panose="020B0503020204020204" pitchFamily="34" charset="-122"/>
              </a:rPr>
              <a:t>段暂停等待数据写回，</a:t>
            </a:r>
            <a:r>
              <a:rPr lang="en-US" altLang="zh-CN" sz="2800" b="1" dirty="0">
                <a:latin typeface="微软雅黑" panose="020B0503020204020204" pitchFamily="34" charset="-122"/>
                <a:ea typeface="微软雅黑" panose="020B0503020204020204" pitchFamily="34" charset="-122"/>
              </a:rPr>
              <a:t>EX</a:t>
            </a:r>
            <a:r>
              <a:rPr lang="zh-CN" altLang="en-US" sz="2800" b="1" dirty="0">
                <a:latin typeface="微软雅黑" panose="020B0503020204020204" pitchFamily="34" charset="-122"/>
                <a:ea typeface="微软雅黑" panose="020B0503020204020204" pitchFamily="34" charset="-122"/>
              </a:rPr>
              <a:t>段插入气泡</a:t>
            </a:r>
            <a:endParaRPr lang="zh-CN" altLang="en-US" sz="2800" b="1" dirty="0">
              <a:latin typeface="微软雅黑" panose="020B0503020204020204" pitchFamily="34" charset="-122"/>
              <a:ea typeface="微软雅黑" panose="020B0503020204020204" pitchFamily="34" charset="-122"/>
            </a:endParaRPr>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445895" y="1575680"/>
            <a:ext cx="1252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1" name="文本框 390"/>
          <p:cNvSpPr txBox="1">
            <a:spLocks noChangeArrowheads="1"/>
          </p:cNvSpPr>
          <p:nvPr/>
        </p:nvSpPr>
        <p:spPr bwMode="auto">
          <a:xfrm>
            <a:off x="9974992" y="1572845"/>
            <a:ext cx="96585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lw</a:t>
            </a:r>
            <a:r>
              <a:rPr lang="en-US" altLang="zh-CN" sz="1100" b="1" dirty="0">
                <a:solidFill>
                  <a:srgbClr val="000000"/>
                </a:solidFill>
              </a:rPr>
              <a:t> </a:t>
            </a:r>
            <a:r>
              <a:rPr lang="en-US" altLang="zh-CN" sz="1100" b="1" dirty="0"/>
              <a:t>$2</a:t>
            </a:r>
            <a:r>
              <a:rPr lang="en-US" altLang="zh-CN" sz="1100" b="1" dirty="0">
                <a:solidFill>
                  <a:srgbClr val="000000"/>
                </a:solidFill>
              </a:rPr>
              <a:t>,4($2)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sp>
        <p:nvSpPr>
          <p:cNvPr id="203" name="矩形 202"/>
          <p:cNvSpPr/>
          <p:nvPr/>
        </p:nvSpPr>
        <p:spPr>
          <a:xfrm>
            <a:off x="6106708" y="1595270"/>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a:spLocks noChangeArrowheads="1"/>
          </p:cNvSpPr>
          <p:nvPr/>
        </p:nvSpPr>
        <p:spPr bwMode="auto">
          <a:xfrm>
            <a:off x="7980829" y="1566454"/>
            <a:ext cx="1435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and $3,$1,$2</a:t>
            </a:r>
            <a:endParaRPr lang="zh-CN" altLang="en-US" sz="1100" b="1" dirty="0">
              <a:solidFill>
                <a:srgbClr val="000000"/>
              </a:solidFill>
            </a:endParaRPr>
          </a:p>
        </p:txBody>
      </p:sp>
      <p:sp>
        <p:nvSpPr>
          <p:cNvPr id="206" name="文本框 205"/>
          <p:cNvSpPr txBox="1">
            <a:spLocks noChangeArrowheads="1"/>
          </p:cNvSpPr>
          <p:nvPr/>
        </p:nvSpPr>
        <p:spPr bwMode="auto">
          <a:xfrm>
            <a:off x="6274479" y="1575680"/>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solidFill>
                  <a:srgbClr val="C00000"/>
                </a:solidFill>
              </a:rPr>
              <a:t>$1</a:t>
            </a:r>
            <a:r>
              <a:rPr lang="en-US" altLang="zh-CN" sz="1100" b="1" dirty="0"/>
              <a:t>,$</a:t>
            </a:r>
            <a:r>
              <a:rPr lang="en-US" altLang="zh-CN" sz="1100" b="1" dirty="0">
                <a:solidFill>
                  <a:srgbClr val="000000"/>
                </a:solidFill>
              </a:rPr>
              <a:t>1,$2</a:t>
            </a:r>
            <a:endParaRPr lang="zh-CN" altLang="en-US" sz="1100" b="1" dirty="0">
              <a:solidFill>
                <a:srgbClr val="000000"/>
              </a:solidFill>
            </a:endParaRPr>
          </a:p>
        </p:txBody>
      </p:sp>
      <p:grpSp>
        <p:nvGrpSpPr>
          <p:cNvPr id="3" name="组合 2"/>
          <p:cNvGrpSpPr/>
          <p:nvPr/>
        </p:nvGrpSpPr>
        <p:grpSpPr>
          <a:xfrm>
            <a:off x="1674074" y="3771562"/>
            <a:ext cx="2193213" cy="1583936"/>
            <a:chOff x="1674074" y="3771562"/>
            <a:chExt cx="2193213" cy="1583936"/>
          </a:xfrm>
        </p:grpSpPr>
        <p:pic>
          <p:nvPicPr>
            <p:cNvPr id="416" name="图片 415"/>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3477676" y="4965888"/>
              <a:ext cx="568549" cy="210672"/>
            </a:xfrm>
            <a:prstGeom prst="rect">
              <a:avLst/>
            </a:prstGeom>
          </p:spPr>
        </p:pic>
        <p:sp>
          <p:nvSpPr>
            <p:cNvPr id="207" name="文本框 206"/>
            <p:cNvSpPr txBox="1"/>
            <p:nvPr/>
          </p:nvSpPr>
          <p:spPr>
            <a:xfrm>
              <a:off x="1674074" y="4745664"/>
              <a:ext cx="1648208" cy="523220"/>
            </a:xfrm>
            <a:prstGeom prst="rect">
              <a:avLst/>
            </a:prstGeom>
            <a:noFill/>
          </p:spPr>
          <p:txBody>
            <a:bodyPr wrap="none" rtlCol="0">
              <a:spAutoFit/>
            </a:bodyPr>
            <a:lstStyle/>
            <a:p>
              <a:r>
                <a:rPr lang="zh-CN" altLang="en-US" sz="2800" b="1" dirty="0">
                  <a:solidFill>
                    <a:srgbClr val="4E71AF"/>
                  </a:solidFill>
                  <a:latin typeface="微软雅黑" panose="020B0503020204020204" pitchFamily="34" charset="-122"/>
                  <a:ea typeface="微软雅黑" panose="020B0503020204020204" pitchFamily="34" charset="-122"/>
                </a:rPr>
                <a:t>暂停</a:t>
              </a:r>
              <a:r>
                <a:rPr lang="en-US" altLang="zh-CN" sz="2800" b="1" dirty="0">
                  <a:solidFill>
                    <a:srgbClr val="4E71AF"/>
                  </a:solidFill>
                  <a:latin typeface="微软雅黑" panose="020B0503020204020204" pitchFamily="34" charset="-122"/>
                  <a:ea typeface="微软雅黑" panose="020B0503020204020204" pitchFamily="34" charset="-122"/>
                </a:rPr>
                <a:t>stall</a:t>
              </a:r>
              <a:endParaRPr lang="zh-CN" altLang="en-US" sz="2800" b="1" dirty="0">
                <a:solidFill>
                  <a:srgbClr val="4E71AF"/>
                </a:solidFill>
                <a:latin typeface="微软雅黑" panose="020B0503020204020204" pitchFamily="34" charset="-122"/>
                <a:ea typeface="微软雅黑" panose="020B0503020204020204" pitchFamily="34" charset="-122"/>
              </a:endParaRPr>
            </a:p>
          </p:txBody>
        </p:sp>
        <p:pic>
          <p:nvPicPr>
            <p:cNvPr id="208" name="图片 207"/>
            <p:cNvPicPr>
              <a:picLocks noChangeAspect="1"/>
            </p:cNvPicPr>
            <p:nvPr/>
          </p:nvPicPr>
          <p:blipFill>
            <a:blip r:embed="rId1"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1942475" y="3950501"/>
              <a:ext cx="568549" cy="210672"/>
            </a:xfrm>
            <a:prstGeom prst="rect">
              <a:avLst/>
            </a:prstGeom>
          </p:spPr>
        </p:pic>
      </p:grpSp>
      <p:grpSp>
        <p:nvGrpSpPr>
          <p:cNvPr id="6" name="组合 5"/>
          <p:cNvGrpSpPr/>
          <p:nvPr/>
        </p:nvGrpSpPr>
        <p:grpSpPr>
          <a:xfrm>
            <a:off x="4369200" y="5043073"/>
            <a:ext cx="1376870" cy="896189"/>
            <a:chOff x="4369200" y="5043073"/>
            <a:chExt cx="1376870" cy="896189"/>
          </a:xfrm>
        </p:grpSpPr>
        <p:pic>
          <p:nvPicPr>
            <p:cNvPr id="417" name="图片 4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921180">
              <a:off x="5356459" y="5222012"/>
              <a:ext cx="568549" cy="210672"/>
            </a:xfrm>
            <a:prstGeom prst="rect">
              <a:avLst/>
            </a:prstGeom>
          </p:spPr>
        </p:pic>
        <p:sp>
          <p:nvSpPr>
            <p:cNvPr id="210" name="文本框 209"/>
            <p:cNvSpPr txBox="1"/>
            <p:nvPr/>
          </p:nvSpPr>
          <p:spPr>
            <a:xfrm>
              <a:off x="4369200" y="5539152"/>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插入气泡</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407627" y="4051291"/>
            <a:ext cx="1210588" cy="981641"/>
            <a:chOff x="6407627" y="4051291"/>
            <a:chExt cx="1210588" cy="981641"/>
          </a:xfrm>
        </p:grpSpPr>
        <p:pic>
          <p:nvPicPr>
            <p:cNvPr id="205" name="图片 20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611192">
              <a:off x="7124977" y="4230230"/>
              <a:ext cx="568549" cy="210672"/>
            </a:xfrm>
            <a:prstGeom prst="rect">
              <a:avLst/>
            </a:prstGeom>
          </p:spPr>
        </p:pic>
        <p:sp>
          <p:nvSpPr>
            <p:cNvPr id="211" name="文本框 210"/>
            <p:cNvSpPr txBox="1"/>
            <p:nvPr/>
          </p:nvSpPr>
          <p:spPr>
            <a:xfrm>
              <a:off x="6407627" y="4632822"/>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正确数据</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63457"/>
    </mc:Choice>
    <mc:Fallback>
      <p:transition spd="slow" advTm="634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2000" fill="hold" grpId="0" nodeType="click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wipe(left)">
                                      <p:cBhvr>
                                        <p:cTn id="7" dur="500"/>
                                        <p:tgtEl>
                                          <p:spTgt spid="413"/>
                                        </p:tgtEl>
                                      </p:cBhvr>
                                    </p:animEffect>
                                  </p:childTnLst>
                                </p:cTn>
                              </p:par>
                            </p:childTnLst>
                          </p:cTn>
                        </p:par>
                        <p:par>
                          <p:cTn id="8" fill="hold">
                            <p:stCondLst>
                              <p:cond delay="500"/>
                            </p:stCondLst>
                            <p:childTnLst>
                              <p:par>
                                <p:cTn id="9" presetID="22" presetClass="entr" presetSubtype="8" repeatCount="2000" fill="hold" grpId="0"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wipe(left)">
                                      <p:cBhvr>
                                        <p:cTn id="11" dur="500"/>
                                        <p:tgtEl>
                                          <p:spTgt spid="20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repeatCount="200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repeatCount="200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0" bldLvl="0" animBg="1"/>
      <p:bldP spid="203"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540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EX</a:t>
            </a:r>
            <a:r>
              <a:rPr lang="zh-CN" altLang="en-US" dirty="0"/>
              <a:t>段数据相关</a:t>
            </a:r>
            <a:endParaRPr lang="zh-CN" altLang="en-US" dirty="0"/>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445895" y="1575680"/>
            <a:ext cx="1252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398" name="直接箭头连接符 397"/>
          <p:cNvCxnSpPr/>
          <p:nvPr/>
        </p:nvCxnSpPr>
        <p:spPr>
          <a:xfrm>
            <a:off x="4441234" y="5550982"/>
            <a:ext cx="5934902" cy="0"/>
          </a:xfrm>
          <a:prstGeom prst="straightConnector1">
            <a:avLst/>
          </a:prstGeom>
          <a:noFill/>
          <a:ln w="38100" cap="sq" cmpd="sng" algn="ctr">
            <a:solidFill>
              <a:srgbClr val="7030A0"/>
            </a:solidFill>
            <a:prstDash val="solid"/>
            <a:miter lim="800000"/>
            <a:tailEnd type="none"/>
          </a:ln>
          <a:effectLst/>
        </p:spPr>
      </p:cxnSp>
      <p:cxnSp>
        <p:nvCxnSpPr>
          <p:cNvPr id="399" name="直接连接符 398"/>
          <p:cNvCxnSpPr/>
          <p:nvPr/>
        </p:nvCxnSpPr>
        <p:spPr>
          <a:xfrm>
            <a:off x="10376136" y="4113398"/>
            <a:ext cx="0" cy="1437584"/>
          </a:xfrm>
          <a:prstGeom prst="line">
            <a:avLst/>
          </a:prstGeom>
          <a:noFill/>
          <a:ln w="38100" cap="sq" cmpd="sng" algn="ctr">
            <a:solidFill>
              <a:srgbClr val="7030A0"/>
            </a:solidFill>
            <a:prstDash val="solid"/>
            <a:miter lim="800000"/>
            <a:tailEnd type="none"/>
          </a:ln>
          <a:effectLst/>
        </p:spPr>
      </p:cxnSp>
      <p:cxnSp>
        <p:nvCxnSpPr>
          <p:cNvPr id="400" name="直接箭头连接符 399"/>
          <p:cNvCxnSpPr/>
          <p:nvPr/>
        </p:nvCxnSpPr>
        <p:spPr>
          <a:xfrm>
            <a:off x="10175418" y="4098103"/>
            <a:ext cx="200718" cy="0"/>
          </a:xfrm>
          <a:prstGeom prst="straightConnector1">
            <a:avLst/>
          </a:prstGeom>
          <a:noFill/>
          <a:ln w="38100" cap="sq" cmpd="sng" algn="ctr">
            <a:solidFill>
              <a:srgbClr val="7030A0"/>
            </a:solidFill>
            <a:prstDash val="solid"/>
            <a:miter lim="800000"/>
            <a:tailEnd type="none"/>
          </a:ln>
          <a:effectLst/>
        </p:spPr>
      </p:cxnSp>
      <p:cxnSp>
        <p:nvCxnSpPr>
          <p:cNvPr id="401" name="直接连接符 400"/>
          <p:cNvCxnSpPr/>
          <p:nvPr/>
        </p:nvCxnSpPr>
        <p:spPr>
          <a:xfrm>
            <a:off x="4441234" y="4288818"/>
            <a:ext cx="0" cy="1262164"/>
          </a:xfrm>
          <a:prstGeom prst="line">
            <a:avLst/>
          </a:prstGeom>
          <a:noFill/>
          <a:ln w="38100" cap="sq" cmpd="sng" algn="ctr">
            <a:solidFill>
              <a:srgbClr val="7030A0"/>
            </a:solidFill>
            <a:prstDash val="solid"/>
            <a:miter lim="800000"/>
            <a:tailEnd type="none"/>
          </a:ln>
          <a:effectLst/>
        </p:spPr>
      </p:cxnSp>
      <p:cxnSp>
        <p:nvCxnSpPr>
          <p:cNvPr id="402" name="直接箭头连接符 401"/>
          <p:cNvCxnSpPr/>
          <p:nvPr/>
        </p:nvCxnSpPr>
        <p:spPr>
          <a:xfrm>
            <a:off x="4453924" y="4289507"/>
            <a:ext cx="173158" cy="0"/>
          </a:xfrm>
          <a:prstGeom prst="straightConnector1">
            <a:avLst/>
          </a:prstGeom>
          <a:noFill/>
          <a:ln w="38100" cap="sq" cmpd="sng" algn="ctr">
            <a:solidFill>
              <a:srgbClr val="7030A0"/>
            </a:solidFill>
            <a:prstDash val="solid"/>
            <a:miter lim="800000"/>
            <a:tailEnd type="triangle"/>
          </a:ln>
          <a:effectLst/>
        </p:spPr>
      </p:cxnSp>
      <p:grpSp>
        <p:nvGrpSpPr>
          <p:cNvPr id="403" name="组合 402"/>
          <p:cNvGrpSpPr/>
          <p:nvPr/>
        </p:nvGrpSpPr>
        <p:grpSpPr>
          <a:xfrm>
            <a:off x="5570269" y="3643251"/>
            <a:ext cx="279544" cy="465478"/>
            <a:chOff x="5570269" y="3643251"/>
            <a:chExt cx="279544" cy="465478"/>
          </a:xfrm>
        </p:grpSpPr>
        <p:cxnSp>
          <p:nvCxnSpPr>
            <p:cNvPr id="404" name="直接箭头连接符 403"/>
            <p:cNvCxnSpPr/>
            <p:nvPr/>
          </p:nvCxnSpPr>
          <p:spPr>
            <a:xfrm>
              <a:off x="5570269" y="4108729"/>
              <a:ext cx="279544" cy="0"/>
            </a:xfrm>
            <a:prstGeom prst="straightConnector1">
              <a:avLst/>
            </a:prstGeom>
            <a:noFill/>
            <a:ln w="38100" cap="flat" cmpd="sng" algn="ctr">
              <a:solidFill>
                <a:srgbClr val="FF0000"/>
              </a:solidFill>
              <a:prstDash val="solid"/>
              <a:miter lim="800000"/>
              <a:tailEnd type="triangle"/>
            </a:ln>
            <a:effectLst/>
          </p:spPr>
        </p:cxn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grpSp>
      <p:sp>
        <p:nvSpPr>
          <p:cNvPr id="203" name="矩形 202"/>
          <p:cNvSpPr/>
          <p:nvPr/>
        </p:nvSpPr>
        <p:spPr>
          <a:xfrm>
            <a:off x="7891443" y="1584253"/>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a:spLocks noChangeArrowheads="1"/>
          </p:cNvSpPr>
          <p:nvPr/>
        </p:nvSpPr>
        <p:spPr bwMode="auto">
          <a:xfrm>
            <a:off x="9765564" y="1566454"/>
            <a:ext cx="1435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and $3,$1,$2</a:t>
            </a:r>
            <a:endParaRPr lang="zh-CN" altLang="en-US" sz="1100" b="1" dirty="0">
              <a:solidFill>
                <a:srgbClr val="000000"/>
              </a:solidFill>
            </a:endParaRPr>
          </a:p>
        </p:txBody>
      </p:sp>
      <p:sp>
        <p:nvSpPr>
          <p:cNvPr id="206" name="文本框 205"/>
          <p:cNvSpPr txBox="1">
            <a:spLocks noChangeArrowheads="1"/>
          </p:cNvSpPr>
          <p:nvPr/>
        </p:nvSpPr>
        <p:spPr bwMode="auto">
          <a:xfrm>
            <a:off x="8048197" y="1575680"/>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solidFill>
                  <a:srgbClr val="C00000"/>
                </a:solidFill>
              </a:rPr>
              <a:t>$1</a:t>
            </a:r>
            <a:r>
              <a:rPr lang="en-US" altLang="zh-CN" sz="1100" b="1" dirty="0"/>
              <a:t>,$</a:t>
            </a:r>
            <a:r>
              <a:rPr lang="en-US" altLang="zh-CN" sz="1100" b="1" dirty="0">
                <a:solidFill>
                  <a:srgbClr val="000000"/>
                </a:solidFill>
              </a:rPr>
              <a:t>1,$2</a:t>
            </a:r>
            <a:endParaRPr lang="zh-CN" altLang="en-US" sz="1100" b="1" dirty="0">
              <a:solidFill>
                <a:srgbClr val="000000"/>
              </a:solidFill>
            </a:endParaRPr>
          </a:p>
        </p:txBody>
      </p:sp>
      <p:grpSp>
        <p:nvGrpSpPr>
          <p:cNvPr id="3" name="组合 2"/>
          <p:cNvGrpSpPr/>
          <p:nvPr/>
        </p:nvGrpSpPr>
        <p:grpSpPr>
          <a:xfrm>
            <a:off x="1687388" y="3771562"/>
            <a:ext cx="2179899" cy="1583936"/>
            <a:chOff x="1687388" y="3771562"/>
            <a:chExt cx="2179899" cy="1583936"/>
          </a:xfrm>
        </p:grpSpPr>
        <p:pic>
          <p:nvPicPr>
            <p:cNvPr id="416" name="图片 415"/>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3477676" y="4965888"/>
              <a:ext cx="568549" cy="210672"/>
            </a:xfrm>
            <a:prstGeom prst="rect">
              <a:avLst/>
            </a:prstGeom>
          </p:spPr>
        </p:pic>
        <p:sp>
          <p:nvSpPr>
            <p:cNvPr id="207" name="文本框 206"/>
            <p:cNvSpPr txBox="1"/>
            <p:nvPr/>
          </p:nvSpPr>
          <p:spPr>
            <a:xfrm>
              <a:off x="1687388" y="4804743"/>
              <a:ext cx="1648208" cy="523220"/>
            </a:xfrm>
            <a:prstGeom prst="rect">
              <a:avLst/>
            </a:prstGeom>
            <a:noFill/>
          </p:spPr>
          <p:txBody>
            <a:bodyPr wrap="none" rtlCol="0">
              <a:spAutoFit/>
            </a:bodyPr>
            <a:lstStyle/>
            <a:p>
              <a:r>
                <a:rPr lang="zh-CN" altLang="en-US" sz="2800" b="1" dirty="0">
                  <a:solidFill>
                    <a:srgbClr val="4E71AF"/>
                  </a:solidFill>
                  <a:latin typeface="微软雅黑" panose="020B0503020204020204" pitchFamily="34" charset="-122"/>
                  <a:ea typeface="微软雅黑" panose="020B0503020204020204" pitchFamily="34" charset="-122"/>
                </a:rPr>
                <a:t>暂停</a:t>
              </a:r>
              <a:r>
                <a:rPr lang="en-US" altLang="zh-CN" sz="2800" b="1" dirty="0">
                  <a:solidFill>
                    <a:srgbClr val="4E71AF"/>
                  </a:solidFill>
                  <a:latin typeface="微软雅黑" panose="020B0503020204020204" pitchFamily="34" charset="-122"/>
                  <a:ea typeface="微软雅黑" panose="020B0503020204020204" pitchFamily="34" charset="-122"/>
                </a:rPr>
                <a:t>stall</a:t>
              </a:r>
              <a:endParaRPr lang="zh-CN" altLang="en-US" sz="2800" b="1" dirty="0">
                <a:solidFill>
                  <a:srgbClr val="4E71AF"/>
                </a:solidFill>
                <a:latin typeface="微软雅黑" panose="020B0503020204020204" pitchFamily="34" charset="-122"/>
                <a:ea typeface="微软雅黑" panose="020B0503020204020204" pitchFamily="34" charset="-122"/>
              </a:endParaRPr>
            </a:p>
          </p:txBody>
        </p:sp>
        <p:pic>
          <p:nvPicPr>
            <p:cNvPr id="208" name="图片 207"/>
            <p:cNvPicPr>
              <a:picLocks noChangeAspect="1"/>
            </p:cNvPicPr>
            <p:nvPr/>
          </p:nvPicPr>
          <p:blipFill>
            <a:blip r:embed="rId1"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rot="7921180">
              <a:off x="1942475" y="3950501"/>
              <a:ext cx="568549" cy="210672"/>
            </a:xfrm>
            <a:prstGeom prst="rect">
              <a:avLst/>
            </a:prstGeom>
          </p:spPr>
        </p:pic>
      </p:grpSp>
      <p:grpSp>
        <p:nvGrpSpPr>
          <p:cNvPr id="205" name="组合 204"/>
          <p:cNvGrpSpPr/>
          <p:nvPr/>
        </p:nvGrpSpPr>
        <p:grpSpPr>
          <a:xfrm>
            <a:off x="6093722" y="1556735"/>
            <a:ext cx="1514566" cy="261610"/>
            <a:chOff x="6093722" y="1556735"/>
            <a:chExt cx="1514566" cy="261610"/>
          </a:xfrm>
        </p:grpSpPr>
        <p:sp>
          <p:nvSpPr>
            <p:cNvPr id="209" name="矩形 208"/>
            <p:cNvSpPr/>
            <p:nvPr/>
          </p:nvSpPr>
          <p:spPr>
            <a:xfrm>
              <a:off x="6093722" y="1584185"/>
              <a:ext cx="1514566" cy="210086"/>
            </a:xfrm>
            <a:prstGeom prst="rect">
              <a:avLst/>
            </a:prstGeom>
            <a:solidFill>
              <a:schemeClr val="accent6">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文本框 209"/>
            <p:cNvSpPr txBox="1">
              <a:spLocks noChangeArrowheads="1"/>
            </p:cNvSpPr>
            <p:nvPr/>
          </p:nvSpPr>
          <p:spPr bwMode="auto">
            <a:xfrm>
              <a:off x="6296748" y="1556735"/>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zh-CN" altLang="en-US" sz="1100" b="1" dirty="0">
                <a:solidFill>
                  <a:srgbClr val="000000"/>
                </a:solidFill>
              </a:endParaRPr>
            </a:p>
          </p:txBody>
        </p:sp>
      </p:grpSp>
      <p:sp>
        <p:nvSpPr>
          <p:cNvPr id="211" name="文本框 210"/>
          <p:cNvSpPr txBox="1"/>
          <p:nvPr/>
        </p:nvSpPr>
        <p:spPr>
          <a:xfrm>
            <a:off x="3181868" y="5992639"/>
            <a:ext cx="5392823"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下一时刻相关变成与</a:t>
            </a:r>
            <a:r>
              <a:rPr lang="en-US" altLang="zh-CN" sz="2800" b="1" dirty="0">
                <a:latin typeface="微软雅黑" panose="020B0503020204020204" pitchFamily="34" charset="-122"/>
                <a:ea typeface="微软雅黑" panose="020B0503020204020204" pitchFamily="34" charset="-122"/>
              </a:rPr>
              <a:t>MEM</a:t>
            </a:r>
            <a:r>
              <a:rPr lang="zh-CN" altLang="en-US" sz="2800" b="1" dirty="0">
                <a:latin typeface="微软雅黑" panose="020B0503020204020204" pitchFamily="34" charset="-122"/>
                <a:ea typeface="微软雅黑" panose="020B0503020204020204" pitchFamily="34" charset="-122"/>
              </a:rPr>
              <a:t>段相关</a:t>
            </a:r>
            <a:endParaRPr lang="zh-CN" altLang="en-US" sz="28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4369200" y="5043073"/>
            <a:ext cx="1376870" cy="896189"/>
            <a:chOff x="4369200" y="5043073"/>
            <a:chExt cx="1376870" cy="896189"/>
          </a:xfrm>
        </p:grpSpPr>
        <p:pic>
          <p:nvPicPr>
            <p:cNvPr id="417" name="图片 4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921180">
              <a:off x="5356459" y="5222012"/>
              <a:ext cx="568549" cy="210672"/>
            </a:xfrm>
            <a:prstGeom prst="rect">
              <a:avLst/>
            </a:prstGeom>
          </p:spPr>
        </p:pic>
        <p:sp>
          <p:nvSpPr>
            <p:cNvPr id="260" name="文本框 259"/>
            <p:cNvSpPr txBox="1"/>
            <p:nvPr/>
          </p:nvSpPr>
          <p:spPr>
            <a:xfrm>
              <a:off x="4369200" y="5539152"/>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插入气泡</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grpSp>
        <p:nvGrpSpPr>
          <p:cNvPr id="390" name="组合 389"/>
          <p:cNvGrpSpPr/>
          <p:nvPr/>
        </p:nvGrpSpPr>
        <p:grpSpPr>
          <a:xfrm>
            <a:off x="8008961" y="4964968"/>
            <a:ext cx="1210588" cy="981641"/>
            <a:chOff x="6407627" y="4051291"/>
            <a:chExt cx="1210588" cy="981641"/>
          </a:xfrm>
        </p:grpSpPr>
        <p:pic>
          <p:nvPicPr>
            <p:cNvPr id="391" name="图片 39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7611192">
              <a:off x="7124977" y="4230230"/>
              <a:ext cx="568549" cy="210672"/>
            </a:xfrm>
            <a:prstGeom prst="rect">
              <a:avLst/>
            </a:prstGeom>
          </p:spPr>
        </p:pic>
        <p:sp>
          <p:nvSpPr>
            <p:cNvPr id="406" name="文本框 405"/>
            <p:cNvSpPr txBox="1"/>
            <p:nvPr/>
          </p:nvSpPr>
          <p:spPr>
            <a:xfrm>
              <a:off x="6407627" y="4632822"/>
              <a:ext cx="1210588"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正确数据</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38228"/>
    </mc:Choice>
    <mc:Fallback>
      <p:transition spd="slow" advTm="382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2000" fill="hold" nodeType="clickEffect">
                                  <p:stCondLst>
                                    <p:cond delay="0"/>
                                  </p:stCondLst>
                                  <p:childTnLst>
                                    <p:set>
                                      <p:cBhvr>
                                        <p:cTn id="6" dur="1" fill="hold">
                                          <p:stCondLst>
                                            <p:cond delay="0"/>
                                          </p:stCondLst>
                                        </p:cTn>
                                        <p:tgtEl>
                                          <p:spTgt spid="390"/>
                                        </p:tgtEl>
                                        <p:attrNameLst>
                                          <p:attrName>style.visibility</p:attrName>
                                        </p:attrNameLst>
                                      </p:cBhvr>
                                      <p:to>
                                        <p:strVal val="visible"/>
                                      </p:to>
                                    </p:set>
                                    <p:animEffect transition="in" filter="wipe(down)">
                                      <p:cBhvr>
                                        <p:cTn id="7" dur="500"/>
                                        <p:tgtEl>
                                          <p:spTgt spid="3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矩形 412"/>
          <p:cNvSpPr/>
          <p:nvPr/>
        </p:nvSpPr>
        <p:spPr>
          <a:xfrm>
            <a:off x="4294380" y="1595405"/>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ID</a:t>
            </a:r>
            <a:r>
              <a:rPr lang="zh-CN" altLang="en-US" dirty="0"/>
              <a:t>段与</a:t>
            </a:r>
            <a:r>
              <a:rPr lang="en-US" altLang="zh-CN" dirty="0"/>
              <a:t>EX</a:t>
            </a:r>
            <a:r>
              <a:rPr lang="zh-CN" altLang="en-US" dirty="0"/>
              <a:t>段数据相关</a:t>
            </a:r>
            <a:endParaRPr lang="zh-CN" altLang="en-US" dirty="0"/>
          </a:p>
        </p:txBody>
      </p:sp>
      <p:grpSp>
        <p:nvGrpSpPr>
          <p:cNvPr id="212" name="组合 211"/>
          <p:cNvGrpSpPr/>
          <p:nvPr/>
        </p:nvGrpSpPr>
        <p:grpSpPr>
          <a:xfrm>
            <a:off x="1703513" y="1421605"/>
            <a:ext cx="8670731" cy="4354764"/>
            <a:chOff x="1295132" y="1403838"/>
            <a:chExt cx="9333476" cy="4687619"/>
          </a:xfrm>
        </p:grpSpPr>
        <p:cxnSp>
          <p:nvCxnSpPr>
            <p:cNvPr id="213" name="直接连接符 212"/>
            <p:cNvCxnSpPr/>
            <p:nvPr/>
          </p:nvCxnSpPr>
          <p:spPr>
            <a:xfrm>
              <a:off x="6558819" y="4522844"/>
              <a:ext cx="0" cy="222006"/>
            </a:xfrm>
            <a:prstGeom prst="line">
              <a:avLst/>
            </a:prstGeom>
            <a:noFill/>
            <a:ln w="6350" cap="flat" cmpd="sng" algn="ctr">
              <a:solidFill>
                <a:srgbClr val="5B9BD5"/>
              </a:solidFill>
              <a:prstDash val="solid"/>
              <a:miter lim="800000"/>
            </a:ln>
            <a:effectLst/>
          </p:spPr>
        </p:cxnSp>
        <p:cxnSp>
          <p:nvCxnSpPr>
            <p:cNvPr id="214" name="直接连接符 213"/>
            <p:cNvCxnSpPr/>
            <p:nvPr/>
          </p:nvCxnSpPr>
          <p:spPr>
            <a:xfrm>
              <a:off x="1679032" y="3753252"/>
              <a:ext cx="0" cy="222006"/>
            </a:xfrm>
            <a:prstGeom prst="line">
              <a:avLst/>
            </a:prstGeom>
            <a:noFill/>
            <a:ln w="6350" cap="flat" cmpd="sng" algn="ctr">
              <a:solidFill>
                <a:srgbClr val="5B9BD5"/>
              </a:solidFill>
              <a:prstDash val="solid"/>
              <a:miter lim="800000"/>
            </a:ln>
            <a:effectLst/>
          </p:spPr>
        </p:cxnSp>
        <p:grpSp>
          <p:nvGrpSpPr>
            <p:cNvPr id="215" name="组合 214"/>
            <p:cNvGrpSpPr/>
            <p:nvPr/>
          </p:nvGrpSpPr>
          <p:grpSpPr>
            <a:xfrm>
              <a:off x="8916051" y="4903028"/>
              <a:ext cx="372218" cy="326012"/>
              <a:chOff x="1972553" y="3227818"/>
              <a:chExt cx="372218" cy="326012"/>
            </a:xfrm>
          </p:grpSpPr>
          <p:cxnSp>
            <p:nvCxnSpPr>
              <p:cNvPr id="387" name="直接连接符 386"/>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8" name="文本框 387"/>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6" name="组合 215"/>
            <p:cNvGrpSpPr/>
            <p:nvPr/>
          </p:nvGrpSpPr>
          <p:grpSpPr>
            <a:xfrm>
              <a:off x="4473604" y="4590944"/>
              <a:ext cx="372218" cy="326012"/>
              <a:chOff x="1972553" y="3227818"/>
              <a:chExt cx="372218" cy="326012"/>
            </a:xfrm>
          </p:grpSpPr>
          <p:cxnSp>
            <p:nvCxnSpPr>
              <p:cNvPr id="385" name="直接连接符 384"/>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86" name="文本框 385"/>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217" name="组合 216"/>
            <p:cNvGrpSpPr/>
            <p:nvPr/>
          </p:nvGrpSpPr>
          <p:grpSpPr>
            <a:xfrm>
              <a:off x="3724772" y="5635648"/>
              <a:ext cx="374784" cy="455809"/>
              <a:chOff x="1972644" y="3154126"/>
              <a:chExt cx="374784" cy="369765"/>
            </a:xfrm>
          </p:grpSpPr>
          <p:sp>
            <p:nvSpPr>
              <p:cNvPr id="383" name="文本框 382"/>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cxnSp>
            <p:nvCxnSpPr>
              <p:cNvPr id="384" name="直接连接符 38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grpSp>
        <p:grpSp>
          <p:nvGrpSpPr>
            <p:cNvPr id="218" name="组合 217"/>
            <p:cNvGrpSpPr/>
            <p:nvPr/>
          </p:nvGrpSpPr>
          <p:grpSpPr>
            <a:xfrm>
              <a:off x="3663412" y="2051134"/>
              <a:ext cx="519694" cy="3587666"/>
              <a:chOff x="853537" y="1717759"/>
              <a:chExt cx="519694" cy="3587666"/>
            </a:xfrm>
          </p:grpSpPr>
          <p:sp>
            <p:nvSpPr>
              <p:cNvPr id="380" name="矩形 379"/>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1" name="等腰三角形 380"/>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82" name="文本框 381"/>
              <p:cNvSpPr txBox="1"/>
              <p:nvPr/>
            </p:nvSpPr>
            <p:spPr>
              <a:xfrm>
                <a:off x="853537" y="1717759"/>
                <a:ext cx="519694" cy="253916"/>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IF/ID</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19" name="组合 218"/>
            <p:cNvGrpSpPr/>
            <p:nvPr/>
          </p:nvGrpSpPr>
          <p:grpSpPr>
            <a:xfrm>
              <a:off x="5613400" y="2051134"/>
              <a:ext cx="553357" cy="3587666"/>
              <a:chOff x="853537" y="1717759"/>
              <a:chExt cx="553357" cy="3587666"/>
            </a:xfrm>
          </p:grpSpPr>
          <p:sp>
            <p:nvSpPr>
              <p:cNvPr id="377" name="矩形 376"/>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8" name="等腰三角形 377"/>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9" name="文本框 378"/>
              <p:cNvSpPr txBox="1"/>
              <p:nvPr/>
            </p:nvSpPr>
            <p:spPr>
              <a:xfrm>
                <a:off x="853537" y="1717759"/>
                <a:ext cx="55335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ID/EX</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20" name="直接箭头连接符 219"/>
            <p:cNvCxnSpPr/>
            <p:nvPr/>
          </p:nvCxnSpPr>
          <p:spPr>
            <a:xfrm>
              <a:off x="2172880" y="3623978"/>
              <a:ext cx="477572" cy="0"/>
            </a:xfrm>
            <a:prstGeom prst="straightConnector1">
              <a:avLst/>
            </a:prstGeom>
            <a:noFill/>
            <a:ln w="19050" cap="flat" cmpd="sng" algn="ctr">
              <a:solidFill>
                <a:sysClr val="windowText" lastClr="000000"/>
              </a:solidFill>
              <a:prstDash val="solid"/>
              <a:miter lim="800000"/>
              <a:tailEnd type="triangle"/>
            </a:ln>
            <a:effectLst/>
          </p:spPr>
        </p:cxnSp>
        <p:cxnSp>
          <p:nvCxnSpPr>
            <p:cNvPr id="221" name="直接箭头连接符 220"/>
            <p:cNvCxnSpPr/>
            <p:nvPr/>
          </p:nvCxnSpPr>
          <p:spPr>
            <a:xfrm>
              <a:off x="1792778" y="3623978"/>
              <a:ext cx="240303" cy="0"/>
            </a:xfrm>
            <a:prstGeom prst="straightConnector1">
              <a:avLst/>
            </a:prstGeom>
            <a:noFill/>
            <a:ln w="19050" cap="flat" cmpd="sng" algn="ctr">
              <a:solidFill>
                <a:sysClr val="windowText" lastClr="000000"/>
              </a:solidFill>
              <a:prstDash val="solid"/>
              <a:miter lim="800000"/>
              <a:tailEnd type="triangle"/>
            </a:ln>
            <a:effectLst/>
          </p:spPr>
        </p:cxnSp>
        <p:cxnSp>
          <p:nvCxnSpPr>
            <p:cNvPr id="222" name="直接箭头连接符 221"/>
            <p:cNvCxnSpPr/>
            <p:nvPr/>
          </p:nvCxnSpPr>
          <p:spPr>
            <a:xfrm>
              <a:off x="3457728" y="4124517"/>
              <a:ext cx="350637" cy="0"/>
            </a:xfrm>
            <a:prstGeom prst="straightConnector1">
              <a:avLst/>
            </a:prstGeom>
            <a:noFill/>
            <a:ln w="19050" cap="flat" cmpd="sng" algn="ctr">
              <a:solidFill>
                <a:sysClr val="windowText" lastClr="000000"/>
              </a:solidFill>
              <a:prstDash val="solid"/>
              <a:miter lim="800000"/>
              <a:tailEnd type="triangle"/>
            </a:ln>
            <a:effectLst/>
          </p:spPr>
        </p:cxnSp>
        <p:cxnSp>
          <p:nvCxnSpPr>
            <p:cNvPr id="223" name="直接箭头连接符 222"/>
            <p:cNvCxnSpPr/>
            <p:nvPr/>
          </p:nvCxnSpPr>
          <p:spPr>
            <a:xfrm>
              <a:off x="3282409" y="2752723"/>
              <a:ext cx="525956" cy="0"/>
            </a:xfrm>
            <a:prstGeom prst="straightConnector1">
              <a:avLst/>
            </a:prstGeom>
            <a:noFill/>
            <a:ln w="19050" cap="flat" cmpd="sng" algn="ctr">
              <a:solidFill>
                <a:sysClr val="windowText" lastClr="000000"/>
              </a:solidFill>
              <a:prstDash val="solid"/>
              <a:miter lim="800000"/>
              <a:tailEnd type="triangle"/>
            </a:ln>
            <a:effectLst/>
          </p:spPr>
        </p:cxnSp>
        <p:cxnSp>
          <p:nvCxnSpPr>
            <p:cNvPr id="224" name="直接箭头连接符 223"/>
            <p:cNvCxnSpPr/>
            <p:nvPr/>
          </p:nvCxnSpPr>
          <p:spPr>
            <a:xfrm>
              <a:off x="7302465" y="3986436"/>
              <a:ext cx="395479" cy="0"/>
            </a:xfrm>
            <a:prstGeom prst="straightConnector1">
              <a:avLst/>
            </a:prstGeom>
            <a:noFill/>
            <a:ln w="19050" cap="flat" cmpd="sng" algn="ctr">
              <a:solidFill>
                <a:sysClr val="windowText" lastClr="000000"/>
              </a:solidFill>
              <a:prstDash val="solid"/>
              <a:miter lim="800000"/>
              <a:tailEnd type="triangle"/>
            </a:ln>
            <a:effectLst/>
          </p:spPr>
        </p:cxnSp>
        <p:cxnSp>
          <p:nvCxnSpPr>
            <p:cNvPr id="225" name="直接箭头连接符 224"/>
            <p:cNvCxnSpPr/>
            <p:nvPr/>
          </p:nvCxnSpPr>
          <p:spPr>
            <a:xfrm>
              <a:off x="7236187" y="4151868"/>
              <a:ext cx="462716" cy="0"/>
            </a:xfrm>
            <a:prstGeom prst="straightConnector1">
              <a:avLst/>
            </a:prstGeom>
            <a:noFill/>
            <a:ln w="19050" cap="flat" cmpd="sng" algn="ctr">
              <a:solidFill>
                <a:sysClr val="windowText" lastClr="000000"/>
              </a:solidFill>
              <a:prstDash val="solid"/>
              <a:miter lim="800000"/>
              <a:tailEnd type="triangle"/>
            </a:ln>
            <a:effectLst/>
          </p:spPr>
        </p:cxnSp>
        <p:grpSp>
          <p:nvGrpSpPr>
            <p:cNvPr id="226" name="组合 225"/>
            <p:cNvGrpSpPr/>
            <p:nvPr/>
          </p:nvGrpSpPr>
          <p:grpSpPr>
            <a:xfrm>
              <a:off x="6858046" y="3688641"/>
              <a:ext cx="600168" cy="821738"/>
              <a:chOff x="2794661" y="4182222"/>
              <a:chExt cx="600168" cy="757237"/>
            </a:xfrm>
          </p:grpSpPr>
          <p:sp>
            <p:nvSpPr>
              <p:cNvPr id="373" name="任意多边形 372"/>
              <p:cNvSpPr/>
              <p:nvPr/>
            </p:nvSpPr>
            <p:spPr>
              <a:xfrm>
                <a:off x="2794661" y="4182222"/>
                <a:ext cx="526257" cy="757237"/>
              </a:xfrm>
              <a:custGeom>
                <a:avLst/>
                <a:gdLst>
                  <a:gd name="connsiteX0" fmla="*/ 0 w 526257"/>
                  <a:gd name="connsiteY0" fmla="*/ 0 h 757237"/>
                  <a:gd name="connsiteX1" fmla="*/ 0 w 526257"/>
                  <a:gd name="connsiteY1" fmla="*/ 295275 h 757237"/>
                  <a:gd name="connsiteX2" fmla="*/ 59532 w 526257"/>
                  <a:gd name="connsiteY2" fmla="*/ 381000 h 757237"/>
                  <a:gd name="connsiteX3" fmla="*/ 4763 w 526257"/>
                  <a:gd name="connsiteY3" fmla="*/ 452437 h 757237"/>
                  <a:gd name="connsiteX4" fmla="*/ 4763 w 526257"/>
                  <a:gd name="connsiteY4" fmla="*/ 757237 h 757237"/>
                  <a:gd name="connsiteX5" fmla="*/ 526257 w 526257"/>
                  <a:gd name="connsiteY5" fmla="*/ 547687 h 757237"/>
                  <a:gd name="connsiteX6" fmla="*/ 526257 w 526257"/>
                  <a:gd name="connsiteY6" fmla="*/ 252412 h 757237"/>
                  <a:gd name="connsiteX7" fmla="*/ 0 w 526257"/>
                  <a:gd name="connsiteY7" fmla="*/ 0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757237">
                    <a:moveTo>
                      <a:pt x="0" y="0"/>
                    </a:moveTo>
                    <a:lnTo>
                      <a:pt x="0" y="295275"/>
                    </a:lnTo>
                    <a:lnTo>
                      <a:pt x="59532" y="381000"/>
                    </a:lnTo>
                    <a:lnTo>
                      <a:pt x="4763" y="452437"/>
                    </a:lnTo>
                    <a:lnTo>
                      <a:pt x="4763" y="757237"/>
                    </a:lnTo>
                    <a:lnTo>
                      <a:pt x="526257" y="547687"/>
                    </a:lnTo>
                    <a:lnTo>
                      <a:pt x="526257" y="2524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4" name="文本框 373"/>
              <p:cNvSpPr txBox="1"/>
              <p:nvPr/>
            </p:nvSpPr>
            <p:spPr>
              <a:xfrm>
                <a:off x="2794661" y="4453118"/>
                <a:ext cx="398942" cy="198443"/>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ALU</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sp>
            <p:nvSpPr>
              <p:cNvPr id="375" name="文本框 374"/>
              <p:cNvSpPr txBox="1"/>
              <p:nvPr/>
            </p:nvSpPr>
            <p:spPr>
              <a:xfrm>
                <a:off x="3042929" y="4391513"/>
                <a:ext cx="350627" cy="167913"/>
              </a:xfrm>
              <a:prstGeom prst="rect">
                <a:avLst/>
              </a:prstGeom>
              <a:noFill/>
            </p:spPr>
            <p:txBody>
              <a:bodyPr wrap="none" rtlCol="0">
                <a:spAutoFit/>
              </a:bodyPr>
              <a:lstStyle/>
              <a:p>
                <a:pPr>
                  <a:defRPr/>
                </a:pPr>
                <a:r>
                  <a:rPr lang="en-US" altLang="zh-CN" sz="500" kern="0" dirty="0">
                    <a:solidFill>
                      <a:prstClr val="black"/>
                    </a:solidFill>
                    <a:latin typeface="微软雅黑" panose="020B0503020204020204" pitchFamily="34" charset="-122"/>
                    <a:ea typeface="微软雅黑" panose="020B0503020204020204" pitchFamily="34" charset="-122"/>
                  </a:rPr>
                  <a:t>Zero</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sp>
            <p:nvSpPr>
              <p:cNvPr id="376" name="文本框 375"/>
              <p:cNvSpPr txBox="1"/>
              <p:nvPr/>
            </p:nvSpPr>
            <p:spPr>
              <a:xfrm>
                <a:off x="2990710" y="4553116"/>
                <a:ext cx="404119" cy="167913"/>
              </a:xfrm>
              <a:prstGeom prst="rect">
                <a:avLst/>
              </a:prstGeom>
              <a:noFill/>
            </p:spPr>
            <p:txBody>
              <a:bodyPr wrap="none" rtlCol="0">
                <a:spAutoFit/>
              </a:bodyPr>
              <a:lstStyle/>
              <a:p>
                <a:pPr algn="r">
                  <a:defRPr/>
                </a:pPr>
                <a:r>
                  <a:rPr lang="en-US" altLang="zh-CN" sz="500" kern="0" dirty="0">
                    <a:solidFill>
                      <a:prstClr val="black"/>
                    </a:solidFill>
                    <a:latin typeface="微软雅黑" panose="020B0503020204020204" pitchFamily="34" charset="-122"/>
                    <a:ea typeface="微软雅黑" panose="020B0503020204020204" pitchFamily="34" charset="-122"/>
                  </a:rPr>
                  <a:t>Result</a:t>
                </a:r>
                <a:endParaRPr lang="en-US" altLang="zh-CN" sz="500" kern="0" dirty="0">
                  <a:solidFill>
                    <a:prstClr val="black"/>
                  </a:solidFill>
                  <a:latin typeface="微软雅黑" panose="020B0503020204020204" pitchFamily="34" charset="-122"/>
                  <a:ea typeface="微软雅黑" panose="020B0503020204020204" pitchFamily="34" charset="-122"/>
                </a:endParaRPr>
              </a:p>
            </p:txBody>
          </p:sp>
        </p:grpSp>
        <p:cxnSp>
          <p:nvCxnSpPr>
            <p:cNvPr id="227" name="直接箭头连接符 226"/>
            <p:cNvCxnSpPr/>
            <p:nvPr/>
          </p:nvCxnSpPr>
          <p:spPr>
            <a:xfrm>
              <a:off x="6636209" y="4395626"/>
              <a:ext cx="221837" cy="0"/>
            </a:xfrm>
            <a:prstGeom prst="straightConnector1">
              <a:avLst/>
            </a:prstGeom>
            <a:noFill/>
            <a:ln w="19050" cap="flat" cmpd="sng" algn="ctr">
              <a:solidFill>
                <a:sysClr val="windowText" lastClr="000000"/>
              </a:solidFill>
              <a:prstDash val="solid"/>
              <a:miter lim="800000"/>
              <a:tailEnd type="triangle"/>
            </a:ln>
            <a:effectLst/>
          </p:spPr>
        </p:cxnSp>
        <p:cxnSp>
          <p:nvCxnSpPr>
            <p:cNvPr id="228" name="直接箭头连接符 227"/>
            <p:cNvCxnSpPr/>
            <p:nvPr/>
          </p:nvCxnSpPr>
          <p:spPr>
            <a:xfrm>
              <a:off x="5978422" y="3795295"/>
              <a:ext cx="870293" cy="0"/>
            </a:xfrm>
            <a:prstGeom prst="straightConnector1">
              <a:avLst/>
            </a:prstGeom>
            <a:noFill/>
            <a:ln w="19050" cap="flat" cmpd="sng" algn="ctr">
              <a:solidFill>
                <a:sysClr val="windowText" lastClr="000000"/>
              </a:solidFill>
              <a:prstDash val="solid"/>
              <a:miter lim="800000"/>
              <a:tailEnd type="triangle"/>
            </a:ln>
            <a:effectLst/>
          </p:spPr>
        </p:cxnSp>
        <p:grpSp>
          <p:nvGrpSpPr>
            <p:cNvPr id="229" name="组合 228"/>
            <p:cNvGrpSpPr/>
            <p:nvPr/>
          </p:nvGrpSpPr>
          <p:grpSpPr>
            <a:xfrm>
              <a:off x="6640453" y="2638710"/>
              <a:ext cx="423099" cy="631031"/>
              <a:chOff x="6528478" y="2016658"/>
              <a:chExt cx="523165" cy="631031"/>
            </a:xfrm>
          </p:grpSpPr>
          <p:sp>
            <p:nvSpPr>
              <p:cNvPr id="371" name="任意多边形 370"/>
              <p:cNvSpPr/>
              <p:nvPr/>
            </p:nvSpPr>
            <p:spPr>
              <a:xfrm>
                <a:off x="6554771" y="2016658"/>
                <a:ext cx="435769" cy="631031"/>
              </a:xfrm>
              <a:custGeom>
                <a:avLst/>
                <a:gdLst>
                  <a:gd name="connsiteX0" fmla="*/ 0 w 435769"/>
                  <a:gd name="connsiteY0" fmla="*/ 0 h 631031"/>
                  <a:gd name="connsiteX1" fmla="*/ 0 w 435769"/>
                  <a:gd name="connsiteY1" fmla="*/ 259556 h 631031"/>
                  <a:gd name="connsiteX2" fmla="*/ 45244 w 435769"/>
                  <a:gd name="connsiteY2" fmla="*/ 304800 h 631031"/>
                  <a:gd name="connsiteX3" fmla="*/ 4763 w 435769"/>
                  <a:gd name="connsiteY3" fmla="*/ 381000 h 631031"/>
                  <a:gd name="connsiteX4" fmla="*/ 4763 w 435769"/>
                  <a:gd name="connsiteY4" fmla="*/ 631031 h 631031"/>
                  <a:gd name="connsiteX5" fmla="*/ 435769 w 435769"/>
                  <a:gd name="connsiteY5" fmla="*/ 454819 h 631031"/>
                  <a:gd name="connsiteX6" fmla="*/ 435769 w 435769"/>
                  <a:gd name="connsiteY6" fmla="*/ 207169 h 631031"/>
                  <a:gd name="connsiteX7" fmla="*/ 0 w 435769"/>
                  <a:gd name="connsiteY7" fmla="*/ 0 h 63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69" h="631031">
                    <a:moveTo>
                      <a:pt x="0" y="0"/>
                    </a:moveTo>
                    <a:lnTo>
                      <a:pt x="0" y="259556"/>
                    </a:lnTo>
                    <a:lnTo>
                      <a:pt x="45244" y="304800"/>
                    </a:lnTo>
                    <a:lnTo>
                      <a:pt x="4763" y="381000"/>
                    </a:lnTo>
                    <a:lnTo>
                      <a:pt x="4763" y="631031"/>
                    </a:lnTo>
                    <a:lnTo>
                      <a:pt x="435769" y="454819"/>
                    </a:lnTo>
                    <a:lnTo>
                      <a:pt x="435769" y="207169"/>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2" name="文本框 371"/>
              <p:cNvSpPr txBox="1"/>
              <p:nvPr/>
            </p:nvSpPr>
            <p:spPr>
              <a:xfrm>
                <a:off x="6528478" y="2220851"/>
                <a:ext cx="523165" cy="215346"/>
              </a:xfrm>
              <a:prstGeom prst="rect">
                <a:avLst/>
              </a:prstGeom>
              <a:noFill/>
            </p:spPr>
            <p:txBody>
              <a:bodyPr wrap="none" rtlCol="0">
                <a:spAutoFit/>
              </a:bodyPr>
              <a:lstStyle/>
              <a:p>
                <a:pPr>
                  <a:defRPr/>
                </a:pPr>
                <a:r>
                  <a:rPr lang="en-US" altLang="zh-CN" sz="700" b="1" kern="0" dirty="0">
                    <a:solidFill>
                      <a:prstClr val="black"/>
                    </a:solidFill>
                    <a:latin typeface="微软雅黑" panose="020B0503020204020204" pitchFamily="34" charset="-122"/>
                    <a:ea typeface="微软雅黑" panose="020B0503020204020204" pitchFamily="34" charset="-122"/>
                  </a:rPr>
                  <a:t>ADD</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30" name="组合 229"/>
            <p:cNvGrpSpPr/>
            <p:nvPr/>
          </p:nvGrpSpPr>
          <p:grpSpPr>
            <a:xfrm>
              <a:off x="2890754" y="2429115"/>
              <a:ext cx="402029" cy="635794"/>
              <a:chOff x="2890754" y="1790940"/>
              <a:chExt cx="402029" cy="635794"/>
            </a:xfrm>
          </p:grpSpPr>
          <p:sp>
            <p:nvSpPr>
              <p:cNvPr id="369" name="任意多边形 368"/>
              <p:cNvSpPr/>
              <p:nvPr/>
            </p:nvSpPr>
            <p:spPr>
              <a:xfrm>
                <a:off x="2890754" y="1790940"/>
                <a:ext cx="342900" cy="635794"/>
              </a:xfrm>
              <a:custGeom>
                <a:avLst/>
                <a:gdLst>
                  <a:gd name="connsiteX0" fmla="*/ 0 w 342900"/>
                  <a:gd name="connsiteY0" fmla="*/ 0 h 635794"/>
                  <a:gd name="connsiteX1" fmla="*/ 2382 w 342900"/>
                  <a:gd name="connsiteY1" fmla="*/ 259556 h 635794"/>
                  <a:gd name="connsiteX2" fmla="*/ 61913 w 342900"/>
                  <a:gd name="connsiteY2" fmla="*/ 316706 h 635794"/>
                  <a:gd name="connsiteX3" fmla="*/ 4763 w 342900"/>
                  <a:gd name="connsiteY3" fmla="*/ 378619 h 635794"/>
                  <a:gd name="connsiteX4" fmla="*/ 4763 w 342900"/>
                  <a:gd name="connsiteY4" fmla="*/ 635794 h 635794"/>
                  <a:gd name="connsiteX5" fmla="*/ 342900 w 342900"/>
                  <a:gd name="connsiteY5" fmla="*/ 423862 h 635794"/>
                  <a:gd name="connsiteX6" fmla="*/ 342900 w 342900"/>
                  <a:gd name="connsiteY6" fmla="*/ 214312 h 635794"/>
                  <a:gd name="connsiteX7" fmla="*/ 0 w 342900"/>
                  <a:gd name="connsiteY7" fmla="*/ 0 h 63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635794">
                    <a:moveTo>
                      <a:pt x="0" y="0"/>
                    </a:moveTo>
                    <a:lnTo>
                      <a:pt x="2382" y="259556"/>
                    </a:lnTo>
                    <a:lnTo>
                      <a:pt x="61913" y="316706"/>
                    </a:lnTo>
                    <a:lnTo>
                      <a:pt x="4763" y="378619"/>
                    </a:lnTo>
                    <a:lnTo>
                      <a:pt x="4763" y="635794"/>
                    </a:lnTo>
                    <a:lnTo>
                      <a:pt x="342900" y="423862"/>
                    </a:lnTo>
                    <a:lnTo>
                      <a:pt x="342900" y="214312"/>
                    </a:lnTo>
                    <a:lnTo>
                      <a:pt x="0" y="0"/>
                    </a:lnTo>
                    <a:close/>
                  </a:path>
                </a:pathLst>
              </a:custGeom>
              <a:solidFill>
                <a:srgbClr val="ED7D31"/>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70" name="文本框 369"/>
              <p:cNvSpPr txBox="1"/>
              <p:nvPr/>
            </p:nvSpPr>
            <p:spPr>
              <a:xfrm>
                <a:off x="2899727" y="2016504"/>
                <a:ext cx="393056" cy="200055"/>
              </a:xfrm>
              <a:prstGeom prst="rect">
                <a:avLst/>
              </a:prstGeom>
              <a:noFill/>
            </p:spPr>
            <p:txBody>
              <a:bodyPr wrap="none" rtlCol="0">
                <a:spAutoFit/>
              </a:bodyPr>
              <a:lstStyle/>
              <a:p>
                <a:pPr>
                  <a:defRPr/>
                </a:pPr>
                <a:r>
                  <a:rPr lang="en-US" altLang="zh-CN" sz="600" b="1" kern="0" dirty="0">
                    <a:solidFill>
                      <a:prstClr val="black"/>
                    </a:solidFill>
                    <a:latin typeface="微软雅黑" panose="020B0503020204020204" pitchFamily="34" charset="-122"/>
                    <a:ea typeface="微软雅黑" panose="020B0503020204020204" pitchFamily="34" charset="-122"/>
                  </a:rPr>
                  <a:t>ADD</a:t>
                </a:r>
                <a:endParaRPr lang="en-US" altLang="zh-CN" sz="600" b="1" kern="0" dirty="0">
                  <a:solidFill>
                    <a:prstClr val="black"/>
                  </a:solidFill>
                  <a:latin typeface="微软雅黑" panose="020B0503020204020204" pitchFamily="34" charset="-122"/>
                  <a:ea typeface="微软雅黑" panose="020B0503020204020204" pitchFamily="34" charset="-122"/>
                </a:endParaRPr>
              </a:p>
            </p:txBody>
          </p:sp>
        </p:grpSp>
        <p:grpSp>
          <p:nvGrpSpPr>
            <p:cNvPr id="231" name="组合 230"/>
            <p:cNvGrpSpPr/>
            <p:nvPr/>
          </p:nvGrpSpPr>
          <p:grpSpPr>
            <a:xfrm>
              <a:off x="4388641" y="3613558"/>
              <a:ext cx="1130990" cy="1018157"/>
              <a:chOff x="2221721" y="4481511"/>
              <a:chExt cx="1122391" cy="1038225"/>
            </a:xfrm>
          </p:grpSpPr>
          <p:sp>
            <p:nvSpPr>
              <p:cNvPr id="361" name="矩形 360"/>
              <p:cNvSpPr/>
              <p:nvPr/>
            </p:nvSpPr>
            <p:spPr>
              <a:xfrm>
                <a:off x="2280474" y="4481511"/>
                <a:ext cx="990600" cy="1038225"/>
              </a:xfrm>
              <a:prstGeom prst="rect">
                <a:avLst/>
              </a:prstGeom>
              <a:solidFill>
                <a:srgbClr val="FFCC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62" name="文本框 361"/>
              <p:cNvSpPr txBox="1"/>
              <p:nvPr/>
            </p:nvSpPr>
            <p:spPr>
              <a:xfrm>
                <a:off x="2233099" y="4515647"/>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3" name="文本框 362"/>
              <p:cNvSpPr txBox="1"/>
              <p:nvPr/>
            </p:nvSpPr>
            <p:spPr>
              <a:xfrm>
                <a:off x="2424450" y="4893149"/>
                <a:ext cx="755955" cy="235382"/>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寄存器文件</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64" name="文本框 363"/>
              <p:cNvSpPr txBox="1"/>
              <p:nvPr/>
            </p:nvSpPr>
            <p:spPr>
              <a:xfrm>
                <a:off x="2971058" y="4579772"/>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RD1</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5" name="文本框 364"/>
              <p:cNvSpPr txBox="1"/>
              <p:nvPr/>
            </p:nvSpPr>
            <p:spPr>
              <a:xfrm>
                <a:off x="2221721" y="527569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Din</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6" name="文本框 365"/>
              <p:cNvSpPr txBox="1"/>
              <p:nvPr/>
            </p:nvSpPr>
            <p:spPr>
              <a:xfrm>
                <a:off x="2233099" y="4714175"/>
                <a:ext cx="351888"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7" name="文本框 366"/>
              <p:cNvSpPr txBox="1"/>
              <p:nvPr/>
            </p:nvSpPr>
            <p:spPr>
              <a:xfrm>
                <a:off x="2981087" y="5079368"/>
                <a:ext cx="363025" cy="203998"/>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RD2</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2221721" y="5122776"/>
                <a:ext cx="696573" cy="203998"/>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grpSp>
          <p:nvGrpSpPr>
            <p:cNvPr id="232" name="组合 231"/>
            <p:cNvGrpSpPr/>
            <p:nvPr/>
          </p:nvGrpSpPr>
          <p:grpSpPr>
            <a:xfrm>
              <a:off x="6352687" y="4150401"/>
              <a:ext cx="383097" cy="504955"/>
              <a:chOff x="1245770" y="3824904"/>
              <a:chExt cx="383097" cy="406857"/>
            </a:xfrm>
          </p:grpSpPr>
          <p:sp>
            <p:nvSpPr>
              <p:cNvPr id="357" name="流程图: 手动操作 356"/>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8" name="文本框 357"/>
              <p:cNvSpPr txBox="1"/>
              <p:nvPr/>
            </p:nvSpPr>
            <p:spPr>
              <a:xfrm>
                <a:off x="1257533" y="3955851"/>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9" name="文本框 358"/>
              <p:cNvSpPr txBox="1"/>
              <p:nvPr/>
            </p:nvSpPr>
            <p:spPr>
              <a:xfrm>
                <a:off x="1250558" y="3854112"/>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60" name="文本框 359"/>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cxnSp>
          <p:nvCxnSpPr>
            <p:cNvPr id="233" name="直接箭头连接符 232"/>
            <p:cNvCxnSpPr/>
            <p:nvPr/>
          </p:nvCxnSpPr>
          <p:spPr>
            <a:xfrm>
              <a:off x="2669623" y="2972832"/>
              <a:ext cx="230104" cy="0"/>
            </a:xfrm>
            <a:prstGeom prst="straightConnector1">
              <a:avLst/>
            </a:prstGeom>
            <a:noFill/>
            <a:ln w="19050" cap="flat" cmpd="sng" algn="ctr">
              <a:solidFill>
                <a:sysClr val="windowText" lastClr="000000"/>
              </a:solidFill>
              <a:prstDash val="solid"/>
              <a:miter lim="800000"/>
              <a:tailEnd type="triangle"/>
            </a:ln>
            <a:effectLst/>
          </p:spPr>
        </p:cxnSp>
        <p:cxnSp>
          <p:nvCxnSpPr>
            <p:cNvPr id="234" name="直接箭头连接符 233"/>
            <p:cNvCxnSpPr/>
            <p:nvPr/>
          </p:nvCxnSpPr>
          <p:spPr>
            <a:xfrm>
              <a:off x="2431079" y="2573816"/>
              <a:ext cx="468648" cy="0"/>
            </a:xfrm>
            <a:prstGeom prst="straightConnector1">
              <a:avLst/>
            </a:prstGeom>
            <a:noFill/>
            <a:ln w="19050" cap="sq" cmpd="sng" algn="ctr">
              <a:solidFill>
                <a:sysClr val="windowText" lastClr="000000"/>
              </a:solidFill>
              <a:prstDash val="solid"/>
              <a:miter lim="800000"/>
              <a:tailEnd type="triangle"/>
            </a:ln>
            <a:effectLst/>
          </p:spPr>
        </p:cxnSp>
        <p:cxnSp>
          <p:nvCxnSpPr>
            <p:cNvPr id="235" name="直接连接符 234"/>
            <p:cNvCxnSpPr/>
            <p:nvPr/>
          </p:nvCxnSpPr>
          <p:spPr>
            <a:xfrm>
              <a:off x="2423836" y="2573816"/>
              <a:ext cx="0" cy="1052579"/>
            </a:xfrm>
            <a:prstGeom prst="line">
              <a:avLst/>
            </a:prstGeom>
            <a:noFill/>
            <a:ln w="19050" cap="sq" cmpd="sng" algn="ctr">
              <a:solidFill>
                <a:sysClr val="windowText" lastClr="000000"/>
              </a:solidFill>
              <a:prstDash val="solid"/>
              <a:miter lim="800000"/>
              <a:tailEnd type="oval"/>
            </a:ln>
            <a:effectLst/>
          </p:spPr>
        </p:cxnSp>
        <p:cxnSp>
          <p:nvCxnSpPr>
            <p:cNvPr id="236" name="直接箭头连接符 235"/>
            <p:cNvCxnSpPr/>
            <p:nvPr/>
          </p:nvCxnSpPr>
          <p:spPr>
            <a:xfrm>
              <a:off x="3228249" y="2752723"/>
              <a:ext cx="580116" cy="0"/>
            </a:xfrm>
            <a:prstGeom prst="straightConnector1">
              <a:avLst/>
            </a:prstGeom>
            <a:noFill/>
            <a:ln w="19050" cap="flat" cmpd="sng" algn="ctr">
              <a:solidFill>
                <a:sysClr val="windowText" lastClr="000000"/>
              </a:solidFill>
              <a:prstDash val="solid"/>
              <a:miter lim="800000"/>
              <a:tailEnd type="triangle"/>
            </a:ln>
            <a:effectLst/>
          </p:spPr>
        </p:cxnSp>
        <p:cxnSp>
          <p:nvCxnSpPr>
            <p:cNvPr id="237" name="直接连接符 236"/>
            <p:cNvCxnSpPr/>
            <p:nvPr/>
          </p:nvCxnSpPr>
          <p:spPr>
            <a:xfrm>
              <a:off x="3457728" y="2044866"/>
              <a:ext cx="0" cy="707857"/>
            </a:xfrm>
            <a:prstGeom prst="line">
              <a:avLst/>
            </a:prstGeom>
            <a:noFill/>
            <a:ln w="19050" cap="sq" cmpd="sng" algn="ctr">
              <a:solidFill>
                <a:sysClr val="windowText" lastClr="000000"/>
              </a:solidFill>
              <a:prstDash val="solid"/>
              <a:miter lim="800000"/>
              <a:tailEnd type="oval"/>
            </a:ln>
            <a:effectLst/>
          </p:spPr>
        </p:cxnSp>
        <p:cxnSp>
          <p:nvCxnSpPr>
            <p:cNvPr id="238" name="直接箭头连接符 237"/>
            <p:cNvCxnSpPr/>
            <p:nvPr/>
          </p:nvCxnSpPr>
          <p:spPr>
            <a:xfrm>
              <a:off x="1404431" y="2044866"/>
              <a:ext cx="2053297" cy="0"/>
            </a:xfrm>
            <a:prstGeom prst="straightConnector1">
              <a:avLst/>
            </a:prstGeom>
            <a:noFill/>
            <a:ln w="19050" cap="sq" cmpd="sng" algn="ctr">
              <a:solidFill>
                <a:sysClr val="windowText" lastClr="000000"/>
              </a:solidFill>
              <a:prstDash val="solid"/>
              <a:miter lim="800000"/>
              <a:tailEnd type="none"/>
            </a:ln>
            <a:effectLst/>
          </p:spPr>
        </p:cxnSp>
        <p:cxnSp>
          <p:nvCxnSpPr>
            <p:cNvPr id="239" name="直接连接符 238"/>
            <p:cNvCxnSpPr/>
            <p:nvPr/>
          </p:nvCxnSpPr>
          <p:spPr>
            <a:xfrm>
              <a:off x="1404431" y="2044866"/>
              <a:ext cx="0" cy="1435409"/>
            </a:xfrm>
            <a:prstGeom prst="line">
              <a:avLst/>
            </a:prstGeom>
            <a:noFill/>
            <a:ln w="19050" cap="sq" cmpd="sng" algn="ctr">
              <a:solidFill>
                <a:sysClr val="windowText" lastClr="000000"/>
              </a:solidFill>
              <a:prstDash val="solid"/>
              <a:miter lim="800000"/>
              <a:tailEnd type="none"/>
            </a:ln>
            <a:effectLst/>
          </p:spPr>
        </p:cxnSp>
        <p:cxnSp>
          <p:nvCxnSpPr>
            <p:cNvPr id="240" name="直接箭头连接符 239"/>
            <p:cNvCxnSpPr/>
            <p:nvPr/>
          </p:nvCxnSpPr>
          <p:spPr>
            <a:xfrm>
              <a:off x="1404431" y="3480275"/>
              <a:ext cx="127826" cy="0"/>
            </a:xfrm>
            <a:prstGeom prst="straightConnector1">
              <a:avLst/>
            </a:prstGeom>
            <a:noFill/>
            <a:ln w="19050" cap="sq" cmpd="sng" algn="ctr">
              <a:solidFill>
                <a:sysClr val="windowText" lastClr="000000"/>
              </a:solidFill>
              <a:prstDash val="solid"/>
              <a:miter lim="800000"/>
              <a:tailEnd type="none"/>
            </a:ln>
            <a:effectLst/>
          </p:spPr>
        </p:cxnSp>
        <p:cxnSp>
          <p:nvCxnSpPr>
            <p:cNvPr id="241" name="直接箭头连接符 240"/>
            <p:cNvCxnSpPr/>
            <p:nvPr/>
          </p:nvCxnSpPr>
          <p:spPr>
            <a:xfrm>
              <a:off x="1295132" y="1911516"/>
              <a:ext cx="6057992" cy="0"/>
            </a:xfrm>
            <a:prstGeom prst="straightConnector1">
              <a:avLst/>
            </a:prstGeom>
            <a:noFill/>
            <a:ln w="19050" cap="sq" cmpd="sng" algn="ctr">
              <a:solidFill>
                <a:sysClr val="windowText" lastClr="000000"/>
              </a:solidFill>
              <a:prstDash val="solid"/>
              <a:miter lim="800000"/>
              <a:tailEnd type="none"/>
            </a:ln>
            <a:effectLst/>
          </p:spPr>
        </p:cxnSp>
        <p:cxnSp>
          <p:nvCxnSpPr>
            <p:cNvPr id="242" name="直接连接符 241"/>
            <p:cNvCxnSpPr/>
            <p:nvPr/>
          </p:nvCxnSpPr>
          <p:spPr>
            <a:xfrm>
              <a:off x="1295132" y="1927449"/>
              <a:ext cx="0" cy="1813461"/>
            </a:xfrm>
            <a:prstGeom prst="line">
              <a:avLst/>
            </a:prstGeom>
            <a:noFill/>
            <a:ln w="19050" cap="sq" cmpd="sng" algn="ctr">
              <a:solidFill>
                <a:sysClr val="windowText" lastClr="000000"/>
              </a:solidFill>
              <a:prstDash val="solid"/>
              <a:miter lim="800000"/>
              <a:tailEnd type="none"/>
            </a:ln>
            <a:effectLst/>
          </p:spPr>
        </p:cxnSp>
        <p:cxnSp>
          <p:nvCxnSpPr>
            <p:cNvPr id="243" name="直接箭头连接符 242"/>
            <p:cNvCxnSpPr/>
            <p:nvPr/>
          </p:nvCxnSpPr>
          <p:spPr>
            <a:xfrm>
              <a:off x="1295132" y="3741617"/>
              <a:ext cx="242328" cy="0"/>
            </a:xfrm>
            <a:prstGeom prst="straightConnector1">
              <a:avLst/>
            </a:prstGeom>
            <a:noFill/>
            <a:ln w="19050" cap="sq" cmpd="sng" algn="ctr">
              <a:solidFill>
                <a:sysClr val="windowText" lastClr="000000"/>
              </a:solidFill>
              <a:prstDash val="solid"/>
              <a:miter lim="800000"/>
              <a:tailEnd type="none"/>
            </a:ln>
            <a:effectLst/>
          </p:spPr>
        </p:cxnSp>
        <p:cxnSp>
          <p:nvCxnSpPr>
            <p:cNvPr id="244" name="直接连接符 243"/>
            <p:cNvCxnSpPr/>
            <p:nvPr/>
          </p:nvCxnSpPr>
          <p:spPr>
            <a:xfrm>
              <a:off x="7374704" y="1911516"/>
              <a:ext cx="0" cy="1061316"/>
            </a:xfrm>
            <a:prstGeom prst="line">
              <a:avLst/>
            </a:prstGeom>
            <a:noFill/>
            <a:ln w="19050" cap="sq" cmpd="sng" algn="ctr">
              <a:solidFill>
                <a:sysClr val="windowText" lastClr="000000"/>
              </a:solidFill>
              <a:prstDash val="solid"/>
              <a:miter lim="800000"/>
              <a:tailEnd type="none"/>
            </a:ln>
            <a:effectLst/>
          </p:spPr>
        </p:cxnSp>
        <p:cxnSp>
          <p:nvCxnSpPr>
            <p:cNvPr id="245" name="直接箭头连接符 244"/>
            <p:cNvCxnSpPr/>
            <p:nvPr/>
          </p:nvCxnSpPr>
          <p:spPr>
            <a:xfrm>
              <a:off x="7014133" y="2972832"/>
              <a:ext cx="340038" cy="0"/>
            </a:xfrm>
            <a:prstGeom prst="straightConnector1">
              <a:avLst/>
            </a:prstGeom>
            <a:noFill/>
            <a:ln w="19050" cap="sq" cmpd="sng" algn="ctr">
              <a:solidFill>
                <a:sysClr val="windowText" lastClr="000000"/>
              </a:solidFill>
              <a:prstDash val="solid"/>
              <a:miter lim="800000"/>
              <a:tailEnd type="none"/>
            </a:ln>
            <a:effectLst/>
          </p:spPr>
        </p:cxnSp>
        <p:cxnSp>
          <p:nvCxnSpPr>
            <p:cNvPr id="246" name="直接箭头连接符 245"/>
            <p:cNvCxnSpPr/>
            <p:nvPr/>
          </p:nvCxnSpPr>
          <p:spPr>
            <a:xfrm>
              <a:off x="6364450" y="3146628"/>
              <a:ext cx="309910" cy="0"/>
            </a:xfrm>
            <a:prstGeom prst="straightConnector1">
              <a:avLst/>
            </a:prstGeom>
            <a:noFill/>
            <a:ln w="19050" cap="flat" cmpd="sng" algn="ctr">
              <a:solidFill>
                <a:sysClr val="windowText" lastClr="000000"/>
              </a:solidFill>
              <a:prstDash val="solid"/>
              <a:miter lim="800000"/>
              <a:tailEnd type="triangle"/>
            </a:ln>
            <a:effectLst/>
          </p:spPr>
        </p:cxnSp>
        <p:cxnSp>
          <p:nvCxnSpPr>
            <p:cNvPr id="247" name="直接箭头连接符 246"/>
            <p:cNvCxnSpPr/>
            <p:nvPr/>
          </p:nvCxnSpPr>
          <p:spPr>
            <a:xfrm>
              <a:off x="5969091" y="2743120"/>
              <a:ext cx="693506" cy="0"/>
            </a:xfrm>
            <a:prstGeom prst="straightConnector1">
              <a:avLst/>
            </a:prstGeom>
            <a:noFill/>
            <a:ln w="19050" cap="flat" cmpd="sng" algn="ctr">
              <a:solidFill>
                <a:sysClr val="windowText" lastClr="000000"/>
              </a:solidFill>
              <a:prstDash val="solid"/>
              <a:miter lim="800000"/>
              <a:tailEnd type="triangle"/>
            </a:ln>
            <a:effectLst/>
          </p:spPr>
        </p:cxnSp>
        <p:cxnSp>
          <p:nvCxnSpPr>
            <p:cNvPr id="248" name="直接箭头连接符 247"/>
            <p:cNvCxnSpPr/>
            <p:nvPr/>
          </p:nvCxnSpPr>
          <p:spPr>
            <a:xfrm>
              <a:off x="4019103" y="2752723"/>
              <a:ext cx="1739250" cy="0"/>
            </a:xfrm>
            <a:prstGeom prst="straightConnector1">
              <a:avLst/>
            </a:prstGeom>
            <a:noFill/>
            <a:ln w="19050" cap="flat" cmpd="sng" algn="ctr">
              <a:solidFill>
                <a:sysClr val="windowText" lastClr="000000"/>
              </a:solidFill>
              <a:prstDash val="solid"/>
              <a:miter lim="800000"/>
              <a:tailEnd type="triangle"/>
            </a:ln>
            <a:effectLst/>
          </p:spPr>
        </p:cxnSp>
        <p:cxnSp>
          <p:nvCxnSpPr>
            <p:cNvPr id="249" name="直接箭头连接符 248"/>
            <p:cNvCxnSpPr/>
            <p:nvPr/>
          </p:nvCxnSpPr>
          <p:spPr>
            <a:xfrm>
              <a:off x="4253733" y="5851056"/>
              <a:ext cx="6374875" cy="0"/>
            </a:xfrm>
            <a:prstGeom prst="straightConnector1">
              <a:avLst/>
            </a:prstGeom>
            <a:noFill/>
            <a:ln w="19050" cap="sq" cmpd="sng" algn="ctr">
              <a:solidFill>
                <a:sysClr val="windowText" lastClr="000000"/>
              </a:solidFill>
              <a:prstDash val="solid"/>
              <a:miter lim="800000"/>
              <a:tailEnd type="none"/>
            </a:ln>
            <a:effectLst/>
          </p:spPr>
        </p:cxnSp>
        <p:cxnSp>
          <p:nvCxnSpPr>
            <p:cNvPr id="250" name="直接连接符 249"/>
            <p:cNvCxnSpPr/>
            <p:nvPr/>
          </p:nvCxnSpPr>
          <p:spPr>
            <a:xfrm>
              <a:off x="10628608" y="4303590"/>
              <a:ext cx="0" cy="1547466"/>
            </a:xfrm>
            <a:prstGeom prst="line">
              <a:avLst/>
            </a:prstGeom>
            <a:noFill/>
            <a:ln w="19050" cap="sq" cmpd="sng" algn="ctr">
              <a:solidFill>
                <a:sysClr val="windowText" lastClr="000000"/>
              </a:solidFill>
              <a:prstDash val="solid"/>
              <a:miter lim="800000"/>
              <a:tailEnd type="none"/>
            </a:ln>
            <a:effectLst/>
          </p:spPr>
        </p:cxnSp>
        <p:cxnSp>
          <p:nvCxnSpPr>
            <p:cNvPr id="251" name="直接箭头连接符 250"/>
            <p:cNvCxnSpPr/>
            <p:nvPr/>
          </p:nvCxnSpPr>
          <p:spPr>
            <a:xfrm>
              <a:off x="10412548" y="4287126"/>
              <a:ext cx="216060" cy="0"/>
            </a:xfrm>
            <a:prstGeom prst="straightConnector1">
              <a:avLst/>
            </a:prstGeom>
            <a:noFill/>
            <a:ln w="19050" cap="sq" cmpd="sng" algn="ctr">
              <a:solidFill>
                <a:sysClr val="windowText" lastClr="000000"/>
              </a:solidFill>
              <a:prstDash val="solid"/>
              <a:miter lim="800000"/>
              <a:tailEnd type="none"/>
            </a:ln>
            <a:effectLst/>
          </p:spPr>
        </p:cxnSp>
        <p:cxnSp>
          <p:nvCxnSpPr>
            <p:cNvPr id="252" name="直接箭头连接符 251"/>
            <p:cNvCxnSpPr/>
            <p:nvPr/>
          </p:nvCxnSpPr>
          <p:spPr>
            <a:xfrm>
              <a:off x="9802483" y="4166568"/>
              <a:ext cx="353541" cy="0"/>
            </a:xfrm>
            <a:prstGeom prst="straightConnector1">
              <a:avLst/>
            </a:prstGeom>
            <a:noFill/>
            <a:ln w="19050" cap="flat" cmpd="sng" algn="ctr">
              <a:solidFill>
                <a:sysClr val="windowText" lastClr="000000"/>
              </a:solidFill>
              <a:prstDash val="solid"/>
              <a:miter lim="800000"/>
              <a:tailEnd type="triangle"/>
            </a:ln>
            <a:effectLst/>
          </p:spPr>
        </p:cxnSp>
        <p:cxnSp>
          <p:nvCxnSpPr>
            <p:cNvPr id="253" name="直接箭头连接符 252"/>
            <p:cNvCxnSpPr/>
            <p:nvPr/>
          </p:nvCxnSpPr>
          <p:spPr>
            <a:xfrm>
              <a:off x="9959759" y="4425419"/>
              <a:ext cx="205596" cy="0"/>
            </a:xfrm>
            <a:prstGeom prst="straightConnector1">
              <a:avLst/>
            </a:prstGeom>
            <a:noFill/>
            <a:ln w="19050" cap="flat" cmpd="sng" algn="ctr">
              <a:solidFill>
                <a:sysClr val="windowText" lastClr="000000"/>
              </a:solidFill>
              <a:prstDash val="solid"/>
              <a:miter lim="800000"/>
              <a:tailEnd type="triangle"/>
            </a:ln>
            <a:effectLst/>
          </p:spPr>
        </p:cxnSp>
        <p:cxnSp>
          <p:nvCxnSpPr>
            <p:cNvPr id="254" name="直接连接符 253"/>
            <p:cNvCxnSpPr/>
            <p:nvPr/>
          </p:nvCxnSpPr>
          <p:spPr>
            <a:xfrm>
              <a:off x="9959759" y="4425419"/>
              <a:ext cx="0" cy="815426"/>
            </a:xfrm>
            <a:prstGeom prst="line">
              <a:avLst/>
            </a:prstGeom>
            <a:noFill/>
            <a:ln w="19050" cap="sq" cmpd="sng" algn="ctr">
              <a:solidFill>
                <a:sysClr val="windowText" lastClr="000000"/>
              </a:solidFill>
              <a:prstDash val="solid"/>
              <a:miter lim="800000"/>
              <a:tailEnd type="none"/>
            </a:ln>
            <a:effectLst/>
          </p:spPr>
        </p:cxnSp>
        <p:cxnSp>
          <p:nvCxnSpPr>
            <p:cNvPr id="255" name="直接箭头连接符 254"/>
            <p:cNvCxnSpPr/>
            <p:nvPr/>
          </p:nvCxnSpPr>
          <p:spPr>
            <a:xfrm>
              <a:off x="9830476" y="5242757"/>
              <a:ext cx="119952" cy="0"/>
            </a:xfrm>
            <a:prstGeom prst="straightConnector1">
              <a:avLst/>
            </a:prstGeom>
            <a:noFill/>
            <a:ln w="19050" cap="sq" cmpd="sng" algn="ctr">
              <a:solidFill>
                <a:sysClr val="windowText" lastClr="000000"/>
              </a:solidFill>
              <a:prstDash val="solid"/>
              <a:miter lim="800000"/>
              <a:tailEnd type="none"/>
            </a:ln>
            <a:effectLst/>
          </p:spPr>
        </p:cxnSp>
        <p:cxnSp>
          <p:nvCxnSpPr>
            <p:cNvPr id="256" name="直接箭头连接符 255"/>
            <p:cNvCxnSpPr/>
            <p:nvPr/>
          </p:nvCxnSpPr>
          <p:spPr>
            <a:xfrm>
              <a:off x="9043345" y="4173714"/>
              <a:ext cx="579544" cy="0"/>
            </a:xfrm>
            <a:prstGeom prst="straightConnector1">
              <a:avLst/>
            </a:prstGeom>
            <a:noFill/>
            <a:ln w="19050" cap="flat" cmpd="sng" algn="ctr">
              <a:solidFill>
                <a:sysClr val="windowText" lastClr="000000"/>
              </a:solidFill>
              <a:prstDash val="solid"/>
              <a:miter lim="800000"/>
              <a:tailEnd type="triangle"/>
            </a:ln>
            <a:effectLst/>
          </p:spPr>
        </p:cxnSp>
        <p:cxnSp>
          <p:nvCxnSpPr>
            <p:cNvPr id="257" name="直接箭头连接符 256"/>
            <p:cNvCxnSpPr/>
            <p:nvPr/>
          </p:nvCxnSpPr>
          <p:spPr>
            <a:xfrm>
              <a:off x="8129641" y="5240845"/>
              <a:ext cx="1494522" cy="0"/>
            </a:xfrm>
            <a:prstGeom prst="straightConnector1">
              <a:avLst/>
            </a:prstGeom>
            <a:noFill/>
            <a:ln w="19050" cap="flat" cmpd="sng" algn="ctr">
              <a:solidFill>
                <a:sysClr val="windowText" lastClr="000000"/>
              </a:solidFill>
              <a:prstDash val="solid"/>
              <a:miter lim="800000"/>
              <a:tailEnd type="triangle"/>
            </a:ln>
            <a:effectLst/>
          </p:spPr>
        </p:cxnSp>
        <p:cxnSp>
          <p:nvCxnSpPr>
            <p:cNvPr id="258" name="直接连接符 257"/>
            <p:cNvCxnSpPr/>
            <p:nvPr/>
          </p:nvCxnSpPr>
          <p:spPr>
            <a:xfrm>
              <a:off x="8129641" y="4160692"/>
              <a:ext cx="0" cy="1070822"/>
            </a:xfrm>
            <a:prstGeom prst="line">
              <a:avLst/>
            </a:prstGeom>
            <a:noFill/>
            <a:ln w="19050" cap="sq" cmpd="sng" algn="ctr">
              <a:solidFill>
                <a:sysClr val="windowText" lastClr="000000"/>
              </a:solidFill>
              <a:prstDash val="solid"/>
              <a:miter lim="800000"/>
              <a:headEnd type="oval"/>
              <a:tailEnd type="none"/>
            </a:ln>
            <a:effectLst/>
          </p:spPr>
        </p:cxnSp>
        <p:cxnSp>
          <p:nvCxnSpPr>
            <p:cNvPr id="259" name="直接箭头连接符 258"/>
            <p:cNvCxnSpPr/>
            <p:nvPr/>
          </p:nvCxnSpPr>
          <p:spPr>
            <a:xfrm>
              <a:off x="7876688" y="4164215"/>
              <a:ext cx="496654" cy="0"/>
            </a:xfrm>
            <a:prstGeom prst="straightConnector1">
              <a:avLst/>
            </a:prstGeom>
            <a:noFill/>
            <a:ln w="19050" cap="flat" cmpd="sng" algn="ctr">
              <a:solidFill>
                <a:sysClr val="windowText" lastClr="000000"/>
              </a:solidFill>
              <a:prstDash val="solid"/>
              <a:miter lim="800000"/>
              <a:tailEnd type="triangle"/>
            </a:ln>
            <a:effectLst/>
          </p:spPr>
        </p:cxnSp>
        <p:cxnSp>
          <p:nvCxnSpPr>
            <p:cNvPr id="261" name="直接箭头连接符 260"/>
            <p:cNvCxnSpPr/>
            <p:nvPr/>
          </p:nvCxnSpPr>
          <p:spPr>
            <a:xfrm>
              <a:off x="6095917" y="4830481"/>
              <a:ext cx="1588695" cy="0"/>
            </a:xfrm>
            <a:prstGeom prst="straightConnector1">
              <a:avLst/>
            </a:prstGeom>
            <a:noFill/>
            <a:ln w="19050" cap="flat" cmpd="sng" algn="ctr">
              <a:solidFill>
                <a:sysClr val="windowText" lastClr="000000"/>
              </a:solidFill>
              <a:prstDash val="solid"/>
              <a:miter lim="800000"/>
              <a:tailEnd type="triangle"/>
            </a:ln>
            <a:effectLst/>
          </p:spPr>
        </p:cxnSp>
        <p:cxnSp>
          <p:nvCxnSpPr>
            <p:cNvPr id="262" name="直接箭头连接符 261"/>
            <p:cNvCxnSpPr/>
            <p:nvPr/>
          </p:nvCxnSpPr>
          <p:spPr>
            <a:xfrm>
              <a:off x="5983271" y="5576887"/>
              <a:ext cx="1706295" cy="0"/>
            </a:xfrm>
            <a:prstGeom prst="straightConnector1">
              <a:avLst/>
            </a:prstGeom>
            <a:noFill/>
            <a:ln w="19050" cap="flat" cmpd="sng" algn="ctr">
              <a:solidFill>
                <a:sysClr val="windowText" lastClr="000000"/>
              </a:solidFill>
              <a:prstDash val="solid"/>
              <a:miter lim="800000"/>
              <a:tailEnd type="triangle"/>
            </a:ln>
            <a:effectLst/>
          </p:spPr>
        </p:cxnSp>
        <p:cxnSp>
          <p:nvCxnSpPr>
            <p:cNvPr id="263" name="直接箭头连接符 262"/>
            <p:cNvCxnSpPr/>
            <p:nvPr/>
          </p:nvCxnSpPr>
          <p:spPr>
            <a:xfrm>
              <a:off x="4095847" y="5751996"/>
              <a:ext cx="6088170" cy="0"/>
            </a:xfrm>
            <a:prstGeom prst="straightConnector1">
              <a:avLst/>
            </a:prstGeom>
            <a:noFill/>
            <a:ln w="19050" cap="sq" cmpd="sng" algn="ctr">
              <a:solidFill>
                <a:sysClr val="windowText" lastClr="000000"/>
              </a:solidFill>
              <a:prstDash val="solid"/>
              <a:miter lim="800000"/>
              <a:tailEnd type="none"/>
            </a:ln>
            <a:effectLst/>
          </p:spPr>
        </p:cxnSp>
        <p:cxnSp>
          <p:nvCxnSpPr>
            <p:cNvPr id="264" name="直接箭头连接符 263"/>
            <p:cNvCxnSpPr/>
            <p:nvPr/>
          </p:nvCxnSpPr>
          <p:spPr>
            <a:xfrm>
              <a:off x="9830520" y="5570068"/>
              <a:ext cx="353497" cy="0"/>
            </a:xfrm>
            <a:prstGeom prst="straightConnector1">
              <a:avLst/>
            </a:prstGeom>
            <a:noFill/>
            <a:ln w="19050" cap="sq" cmpd="sng" algn="ctr">
              <a:solidFill>
                <a:sysClr val="windowText" lastClr="000000"/>
              </a:solidFill>
              <a:prstDash val="solid"/>
              <a:miter lim="800000"/>
              <a:tailEnd type="none"/>
            </a:ln>
            <a:effectLst/>
          </p:spPr>
        </p:cxnSp>
        <p:cxnSp>
          <p:nvCxnSpPr>
            <p:cNvPr id="265" name="直接连接符 264"/>
            <p:cNvCxnSpPr/>
            <p:nvPr/>
          </p:nvCxnSpPr>
          <p:spPr>
            <a:xfrm>
              <a:off x="10184017" y="5570067"/>
              <a:ext cx="0" cy="181928"/>
            </a:xfrm>
            <a:prstGeom prst="line">
              <a:avLst/>
            </a:prstGeom>
            <a:noFill/>
            <a:ln w="19050" cap="sq" cmpd="sng" algn="ctr">
              <a:solidFill>
                <a:sysClr val="windowText" lastClr="000000"/>
              </a:solidFill>
              <a:prstDash val="solid"/>
              <a:miter lim="800000"/>
              <a:tailEnd type="none"/>
            </a:ln>
            <a:effectLst/>
          </p:spPr>
        </p:cxnSp>
        <p:cxnSp>
          <p:nvCxnSpPr>
            <p:cNvPr id="266" name="直接连接符 265"/>
            <p:cNvCxnSpPr/>
            <p:nvPr/>
          </p:nvCxnSpPr>
          <p:spPr>
            <a:xfrm>
              <a:off x="4164691" y="3740910"/>
              <a:ext cx="0" cy="1835977"/>
            </a:xfrm>
            <a:prstGeom prst="line">
              <a:avLst/>
            </a:prstGeom>
            <a:noFill/>
            <a:ln w="19050" cap="sq" cmpd="sng" algn="ctr">
              <a:solidFill>
                <a:sysClr val="windowText" lastClr="000000"/>
              </a:solidFill>
              <a:prstDash val="solid"/>
              <a:miter lim="800000"/>
              <a:tailEnd type="none"/>
            </a:ln>
            <a:effectLst/>
          </p:spPr>
        </p:cxnSp>
        <p:cxnSp>
          <p:nvCxnSpPr>
            <p:cNvPr id="267" name="直接箭头连接符 266"/>
            <p:cNvCxnSpPr/>
            <p:nvPr/>
          </p:nvCxnSpPr>
          <p:spPr>
            <a:xfrm>
              <a:off x="4164691" y="5576887"/>
              <a:ext cx="1593662" cy="0"/>
            </a:xfrm>
            <a:prstGeom prst="straightConnector1">
              <a:avLst/>
            </a:prstGeom>
            <a:noFill/>
            <a:ln w="19050" cap="flat" cmpd="sng" algn="ctr">
              <a:solidFill>
                <a:sysClr val="windowText" lastClr="000000"/>
              </a:solidFill>
              <a:prstDash val="solid"/>
              <a:miter lim="800000"/>
              <a:tailEnd type="triangle"/>
            </a:ln>
            <a:effectLst/>
          </p:spPr>
        </p:cxnSp>
        <p:cxnSp>
          <p:nvCxnSpPr>
            <p:cNvPr id="268" name="直接箭头连接符 267"/>
            <p:cNvCxnSpPr/>
            <p:nvPr/>
          </p:nvCxnSpPr>
          <p:spPr>
            <a:xfrm>
              <a:off x="4164691" y="5134927"/>
              <a:ext cx="862659"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69" name="直接箭头连接符 268"/>
            <p:cNvCxnSpPr/>
            <p:nvPr/>
          </p:nvCxnSpPr>
          <p:spPr>
            <a:xfrm>
              <a:off x="5422507" y="5134927"/>
              <a:ext cx="335846" cy="0"/>
            </a:xfrm>
            <a:prstGeom prst="straightConnector1">
              <a:avLst/>
            </a:prstGeom>
            <a:noFill/>
            <a:ln w="19050" cap="flat" cmpd="sng" algn="ctr">
              <a:solidFill>
                <a:sysClr val="windowText" lastClr="000000"/>
              </a:solidFill>
              <a:prstDash val="solid"/>
              <a:miter lim="800000"/>
              <a:tailEnd type="triangle"/>
            </a:ln>
            <a:effectLst/>
          </p:spPr>
        </p:cxnSp>
        <p:cxnSp>
          <p:nvCxnSpPr>
            <p:cNvPr id="270" name="直接连接符 269"/>
            <p:cNvCxnSpPr/>
            <p:nvPr/>
          </p:nvCxnSpPr>
          <p:spPr>
            <a:xfrm>
              <a:off x="4095847" y="4323257"/>
              <a:ext cx="0" cy="1428739"/>
            </a:xfrm>
            <a:prstGeom prst="line">
              <a:avLst/>
            </a:prstGeom>
            <a:noFill/>
            <a:ln w="19050" cap="sq" cmpd="sng" algn="ctr">
              <a:solidFill>
                <a:sysClr val="windowText" lastClr="000000"/>
              </a:solidFill>
              <a:prstDash val="solid"/>
              <a:miter lim="800000"/>
              <a:tailEnd type="none"/>
            </a:ln>
            <a:effectLst/>
          </p:spPr>
        </p:cxnSp>
        <p:cxnSp>
          <p:nvCxnSpPr>
            <p:cNvPr id="271" name="直接连接符 270"/>
            <p:cNvCxnSpPr/>
            <p:nvPr/>
          </p:nvCxnSpPr>
          <p:spPr>
            <a:xfrm>
              <a:off x="4240073" y="4492419"/>
              <a:ext cx="0" cy="1358637"/>
            </a:xfrm>
            <a:prstGeom prst="line">
              <a:avLst/>
            </a:prstGeom>
            <a:noFill/>
            <a:ln w="19050" cap="sq" cmpd="sng" algn="ctr">
              <a:solidFill>
                <a:sysClr val="windowText" lastClr="000000"/>
              </a:solidFill>
              <a:prstDash val="solid"/>
              <a:miter lim="800000"/>
              <a:tailEnd type="none"/>
            </a:ln>
            <a:effectLst/>
          </p:spPr>
        </p:cxnSp>
        <p:cxnSp>
          <p:nvCxnSpPr>
            <p:cNvPr id="272" name="直接箭头连接符 271"/>
            <p:cNvCxnSpPr/>
            <p:nvPr/>
          </p:nvCxnSpPr>
          <p:spPr>
            <a:xfrm>
              <a:off x="5457442" y="4293600"/>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3" name="直接箭头连接符 272"/>
            <p:cNvCxnSpPr/>
            <p:nvPr/>
          </p:nvCxnSpPr>
          <p:spPr>
            <a:xfrm>
              <a:off x="5457442" y="3804402"/>
              <a:ext cx="300911" cy="0"/>
            </a:xfrm>
            <a:prstGeom prst="straightConnector1">
              <a:avLst/>
            </a:prstGeom>
            <a:noFill/>
            <a:ln w="19050" cap="flat" cmpd="sng" algn="ctr">
              <a:solidFill>
                <a:sysClr val="windowText" lastClr="000000"/>
              </a:solidFill>
              <a:prstDash val="solid"/>
              <a:miter lim="800000"/>
              <a:tailEnd type="triangle"/>
            </a:ln>
            <a:effectLst/>
          </p:spPr>
        </p:cxnSp>
        <p:cxnSp>
          <p:nvCxnSpPr>
            <p:cNvPr id="274" name="直接箭头连接符 273"/>
            <p:cNvCxnSpPr/>
            <p:nvPr/>
          </p:nvCxnSpPr>
          <p:spPr>
            <a:xfrm>
              <a:off x="4157071" y="3740910"/>
              <a:ext cx="283154" cy="0"/>
            </a:xfrm>
            <a:prstGeom prst="straightConnector1">
              <a:avLst/>
            </a:prstGeom>
            <a:noFill/>
            <a:ln w="19050" cap="flat" cmpd="sng" algn="ctr">
              <a:solidFill>
                <a:sysClr val="windowText" lastClr="000000"/>
              </a:solidFill>
              <a:prstDash val="solid"/>
              <a:miter lim="800000"/>
              <a:tailEnd type="triangle"/>
            </a:ln>
            <a:effectLst/>
          </p:spPr>
        </p:cxnSp>
        <p:cxnSp>
          <p:nvCxnSpPr>
            <p:cNvPr id="275" name="直接箭头连接符 274"/>
            <p:cNvCxnSpPr/>
            <p:nvPr/>
          </p:nvCxnSpPr>
          <p:spPr>
            <a:xfrm>
              <a:off x="4164691" y="3930700"/>
              <a:ext cx="275501" cy="0"/>
            </a:xfrm>
            <a:prstGeom prst="straightConnector1">
              <a:avLst/>
            </a:prstGeom>
            <a:noFill/>
            <a:ln w="19050" cap="flat" cmpd="sng" algn="ctr">
              <a:solidFill>
                <a:sysClr val="windowText" lastClr="000000"/>
              </a:solidFill>
              <a:prstDash val="solid"/>
              <a:miter lim="800000"/>
              <a:headEnd type="oval"/>
              <a:tailEnd type="triangle"/>
            </a:ln>
            <a:effectLst/>
          </p:spPr>
        </p:cxnSp>
        <p:cxnSp>
          <p:nvCxnSpPr>
            <p:cNvPr id="276" name="直接箭头连接符 275"/>
            <p:cNvCxnSpPr/>
            <p:nvPr/>
          </p:nvCxnSpPr>
          <p:spPr>
            <a:xfrm>
              <a:off x="4103467" y="4324960"/>
              <a:ext cx="336692" cy="0"/>
            </a:xfrm>
            <a:prstGeom prst="straightConnector1">
              <a:avLst/>
            </a:prstGeom>
            <a:noFill/>
            <a:ln w="19050" cap="flat" cmpd="sng" algn="ctr">
              <a:solidFill>
                <a:sysClr val="windowText" lastClr="000000"/>
              </a:solidFill>
              <a:prstDash val="solid"/>
              <a:miter lim="800000"/>
              <a:tailEnd type="triangle"/>
            </a:ln>
            <a:effectLst/>
          </p:spPr>
        </p:cxnSp>
        <p:cxnSp>
          <p:nvCxnSpPr>
            <p:cNvPr id="277" name="直接箭头连接符 276"/>
            <p:cNvCxnSpPr/>
            <p:nvPr/>
          </p:nvCxnSpPr>
          <p:spPr>
            <a:xfrm>
              <a:off x="4236720" y="4493160"/>
              <a:ext cx="203406" cy="0"/>
            </a:xfrm>
            <a:prstGeom prst="straightConnector1">
              <a:avLst/>
            </a:prstGeom>
            <a:noFill/>
            <a:ln w="19050" cap="flat" cmpd="sng" algn="ctr">
              <a:solidFill>
                <a:sysClr val="windowText" lastClr="000000"/>
              </a:solidFill>
              <a:prstDash val="solid"/>
              <a:miter lim="800000"/>
              <a:tailEnd type="triangle"/>
            </a:ln>
            <a:effectLst/>
          </p:spPr>
        </p:cxnSp>
        <p:grpSp>
          <p:nvGrpSpPr>
            <p:cNvPr id="278" name="组合 277"/>
            <p:cNvGrpSpPr/>
            <p:nvPr/>
          </p:nvGrpSpPr>
          <p:grpSpPr>
            <a:xfrm>
              <a:off x="5020933" y="4821240"/>
              <a:ext cx="397817" cy="634576"/>
              <a:chOff x="3762650" y="5685260"/>
              <a:chExt cx="397817" cy="634576"/>
            </a:xfrm>
          </p:grpSpPr>
          <p:sp>
            <p:nvSpPr>
              <p:cNvPr id="355" name="椭圆 354"/>
              <p:cNvSpPr/>
              <p:nvPr/>
            </p:nvSpPr>
            <p:spPr>
              <a:xfrm>
                <a:off x="3762650" y="5685260"/>
                <a:ext cx="394347" cy="634576"/>
              </a:xfrm>
              <a:prstGeom prst="ellipse">
                <a:avLst/>
              </a:prstGeom>
              <a:solidFill>
                <a:srgbClr val="FFC000">
                  <a:lumMod val="60000"/>
                  <a:lumOff val="40000"/>
                </a:srgbClr>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56" name="文本框 355"/>
              <p:cNvSpPr txBox="1"/>
              <p:nvPr/>
            </p:nvSpPr>
            <p:spPr>
              <a:xfrm>
                <a:off x="3770617" y="5855433"/>
                <a:ext cx="389850" cy="338554"/>
              </a:xfrm>
              <a:prstGeom prst="rect">
                <a:avLst/>
              </a:prstGeom>
              <a:noFill/>
            </p:spPr>
            <p:txBody>
              <a:bodyPr wrap="none" rtlCol="0">
                <a:spAutoFit/>
              </a:bodyPr>
              <a:lstStyle/>
              <a:p>
                <a:pPr>
                  <a:defRPr/>
                </a:pPr>
                <a:r>
                  <a:rPr lang="zh-CN" altLang="en-US" sz="700" b="1" kern="0" dirty="0">
                    <a:solidFill>
                      <a:prstClr val="black"/>
                    </a:solidFill>
                    <a:latin typeface="微软雅黑" panose="020B0503020204020204" pitchFamily="34" charset="-122"/>
                    <a:ea typeface="微软雅黑" panose="020B0503020204020204" pitchFamily="34" charset="-122"/>
                  </a:rPr>
                  <a:t>符号</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700" b="1" kern="0" dirty="0">
                    <a:solidFill>
                      <a:prstClr val="black"/>
                    </a:solidFill>
                    <a:latin typeface="微软雅黑" panose="020B0503020204020204" pitchFamily="34" charset="-122"/>
                    <a:ea typeface="微软雅黑" panose="020B0503020204020204" pitchFamily="34" charset="-122"/>
                  </a:rPr>
                  <a:t>扩展</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cxnSp>
          <p:nvCxnSpPr>
            <p:cNvPr id="279" name="直接连接符 278"/>
            <p:cNvCxnSpPr/>
            <p:nvPr/>
          </p:nvCxnSpPr>
          <p:spPr>
            <a:xfrm>
              <a:off x="6229811" y="3368439"/>
              <a:ext cx="0" cy="1766488"/>
            </a:xfrm>
            <a:prstGeom prst="line">
              <a:avLst/>
            </a:prstGeom>
            <a:noFill/>
            <a:ln w="19050" cap="sq" cmpd="sng" algn="ctr">
              <a:solidFill>
                <a:sysClr val="windowText" lastClr="000000"/>
              </a:solidFill>
              <a:prstDash val="solid"/>
              <a:miter lim="800000"/>
              <a:tailEnd type="none"/>
            </a:ln>
            <a:effectLst/>
          </p:spPr>
        </p:cxnSp>
        <p:cxnSp>
          <p:nvCxnSpPr>
            <p:cNvPr id="280" name="直接箭头连接符 279"/>
            <p:cNvCxnSpPr/>
            <p:nvPr/>
          </p:nvCxnSpPr>
          <p:spPr>
            <a:xfrm>
              <a:off x="5969091" y="5134927"/>
              <a:ext cx="260720" cy="0"/>
            </a:xfrm>
            <a:prstGeom prst="straightConnector1">
              <a:avLst/>
            </a:prstGeom>
            <a:noFill/>
            <a:ln w="19050" cap="sq" cmpd="sng" algn="ctr">
              <a:solidFill>
                <a:sysClr val="windowText" lastClr="000000"/>
              </a:solidFill>
              <a:prstDash val="solid"/>
              <a:miter lim="800000"/>
              <a:tailEnd type="none"/>
            </a:ln>
            <a:effectLst/>
          </p:spPr>
        </p:cxnSp>
        <p:cxnSp>
          <p:nvCxnSpPr>
            <p:cNvPr id="281" name="直接连接符 280"/>
            <p:cNvCxnSpPr/>
            <p:nvPr/>
          </p:nvCxnSpPr>
          <p:spPr>
            <a:xfrm>
              <a:off x="6105248" y="4297473"/>
              <a:ext cx="0" cy="530148"/>
            </a:xfrm>
            <a:prstGeom prst="line">
              <a:avLst/>
            </a:prstGeom>
            <a:noFill/>
            <a:ln w="19050" cap="sq" cmpd="sng" algn="ctr">
              <a:solidFill>
                <a:sysClr val="windowText" lastClr="000000"/>
              </a:solidFill>
              <a:prstDash val="solid"/>
              <a:miter lim="800000"/>
              <a:headEnd type="oval"/>
              <a:tailEnd type="none"/>
            </a:ln>
            <a:effectLst/>
          </p:spPr>
        </p:cxnSp>
        <p:cxnSp>
          <p:nvCxnSpPr>
            <p:cNvPr id="282" name="直接箭头连接符 281"/>
            <p:cNvCxnSpPr/>
            <p:nvPr/>
          </p:nvCxnSpPr>
          <p:spPr>
            <a:xfrm>
              <a:off x="5983271" y="4292162"/>
              <a:ext cx="435126" cy="0"/>
            </a:xfrm>
            <a:prstGeom prst="straightConnector1">
              <a:avLst/>
            </a:prstGeom>
            <a:noFill/>
            <a:ln w="19050" cap="flat" cmpd="sng" algn="ctr">
              <a:solidFill>
                <a:sysClr val="windowText" lastClr="000000"/>
              </a:solidFill>
              <a:prstDash val="solid"/>
              <a:miter lim="800000"/>
              <a:tailEnd type="triangle"/>
            </a:ln>
            <a:effectLst/>
          </p:spPr>
        </p:cxnSp>
        <p:cxnSp>
          <p:nvCxnSpPr>
            <p:cNvPr id="283" name="直接箭头连接符 282"/>
            <p:cNvCxnSpPr/>
            <p:nvPr/>
          </p:nvCxnSpPr>
          <p:spPr>
            <a:xfrm>
              <a:off x="4029367" y="4122636"/>
              <a:ext cx="136276" cy="0"/>
            </a:xfrm>
            <a:prstGeom prst="straightConnector1">
              <a:avLst/>
            </a:prstGeom>
            <a:noFill/>
            <a:ln w="19050" cap="sq" cmpd="sng" algn="ctr">
              <a:solidFill>
                <a:sysClr val="windowText" lastClr="000000"/>
              </a:solidFill>
              <a:prstDash val="solid"/>
              <a:miter lim="800000"/>
              <a:tailEnd type="oval"/>
            </a:ln>
            <a:effectLst/>
          </p:spPr>
        </p:cxnSp>
        <p:grpSp>
          <p:nvGrpSpPr>
            <p:cNvPr id="284" name="组合 283"/>
            <p:cNvGrpSpPr/>
            <p:nvPr/>
          </p:nvGrpSpPr>
          <p:grpSpPr>
            <a:xfrm>
              <a:off x="1475201" y="3357562"/>
              <a:ext cx="383097" cy="504955"/>
              <a:chOff x="1245770" y="3824904"/>
              <a:chExt cx="383097" cy="406857"/>
            </a:xfrm>
          </p:grpSpPr>
          <p:sp>
            <p:nvSpPr>
              <p:cNvPr id="351" name="流程图: 手动操作 350"/>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52" name="文本框 351"/>
              <p:cNvSpPr txBox="1"/>
              <p:nvPr/>
            </p:nvSpPr>
            <p:spPr>
              <a:xfrm>
                <a:off x="1257533" y="3963369"/>
                <a:ext cx="371334"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3" name="文本框 352"/>
              <p:cNvSpPr txBox="1"/>
              <p:nvPr/>
            </p:nvSpPr>
            <p:spPr>
              <a:xfrm>
                <a:off x="1250558" y="3859229"/>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54" name="文本框 353"/>
              <p:cNvSpPr txBox="1"/>
              <p:nvPr/>
            </p:nvSpPr>
            <p:spPr>
              <a:xfrm>
                <a:off x="1245770" y="4063984"/>
                <a:ext cx="241920" cy="146817"/>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grpSp>
          <p:nvGrpSpPr>
            <p:cNvPr id="285" name="组合 284"/>
            <p:cNvGrpSpPr/>
            <p:nvPr/>
          </p:nvGrpSpPr>
          <p:grpSpPr>
            <a:xfrm>
              <a:off x="2607791" y="3493263"/>
              <a:ext cx="995174" cy="899129"/>
              <a:chOff x="2233099" y="4481511"/>
              <a:chExt cx="1105193" cy="1038225"/>
            </a:xfrm>
          </p:grpSpPr>
          <p:sp>
            <p:nvSpPr>
              <p:cNvPr id="347" name="矩形 346"/>
              <p:cNvSpPr/>
              <p:nvPr/>
            </p:nvSpPr>
            <p:spPr>
              <a:xfrm>
                <a:off x="2280474" y="4481511"/>
                <a:ext cx="990600" cy="1038225"/>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8" name="文本框 347"/>
              <p:cNvSpPr txBox="1"/>
              <p:nvPr/>
            </p:nvSpPr>
            <p:spPr>
              <a:xfrm>
                <a:off x="2233099" y="4481511"/>
                <a:ext cx="534422" cy="248773"/>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ADDR</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sp>
            <p:nvSpPr>
              <p:cNvPr id="349" name="文本框 348"/>
              <p:cNvSpPr txBox="1"/>
              <p:nvPr/>
            </p:nvSpPr>
            <p:spPr>
              <a:xfrm>
                <a:off x="2509350" y="4811313"/>
                <a:ext cx="588685" cy="420809"/>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指令</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50" name="文本框 349"/>
              <p:cNvSpPr txBox="1"/>
              <p:nvPr/>
            </p:nvSpPr>
            <p:spPr>
              <a:xfrm>
                <a:off x="2964232" y="5097799"/>
                <a:ext cx="374060" cy="248660"/>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RD</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sp>
          <p:nvSpPr>
            <p:cNvPr id="286" name="文本框 285"/>
            <p:cNvSpPr txBox="1"/>
            <p:nvPr/>
          </p:nvSpPr>
          <p:spPr>
            <a:xfrm>
              <a:off x="2487488" y="2852609"/>
              <a:ext cx="255724"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4</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287" name="组合 286"/>
            <p:cNvGrpSpPr/>
            <p:nvPr/>
          </p:nvGrpSpPr>
          <p:grpSpPr>
            <a:xfrm>
              <a:off x="1980407" y="3384882"/>
              <a:ext cx="345451" cy="491789"/>
              <a:chOff x="5454427" y="2426371"/>
              <a:chExt cx="955568" cy="491789"/>
            </a:xfrm>
          </p:grpSpPr>
          <p:sp>
            <p:nvSpPr>
              <p:cNvPr id="345" name="矩形 344"/>
              <p:cNvSpPr/>
              <p:nvPr/>
            </p:nvSpPr>
            <p:spPr>
              <a:xfrm>
                <a:off x="5614872" y="2426371"/>
                <a:ext cx="628315" cy="491789"/>
              </a:xfrm>
              <a:prstGeom prst="rect">
                <a:avLst/>
              </a:prstGeom>
              <a:solidFill>
                <a:srgbClr val="9CDCF8"/>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6" name="文本框 345"/>
              <p:cNvSpPr txBox="1"/>
              <p:nvPr/>
            </p:nvSpPr>
            <p:spPr>
              <a:xfrm>
                <a:off x="5454427" y="2539629"/>
                <a:ext cx="955568" cy="231912"/>
              </a:xfrm>
              <a:prstGeom prst="rect">
                <a:avLst/>
              </a:prstGeom>
              <a:noFill/>
            </p:spPr>
            <p:txBody>
              <a:bodyPr wrap="none" rtlCol="0">
                <a:spAutoFit/>
              </a:bodyPr>
              <a:lstStyle/>
              <a:p>
                <a:pPr>
                  <a:defRPr/>
                </a:pPr>
                <a:r>
                  <a:rPr lang="en-US" altLang="zh-CN" sz="800" b="1" kern="0" dirty="0">
                    <a:solidFill>
                      <a:prstClr val="black"/>
                    </a:solidFill>
                    <a:latin typeface="微软雅黑" panose="020B0503020204020204" pitchFamily="34" charset="-122"/>
                    <a:ea typeface="微软雅黑" panose="020B0503020204020204" pitchFamily="34" charset="-122"/>
                  </a:rPr>
                  <a:t>PC</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grpSp>
        <p:cxnSp>
          <p:nvCxnSpPr>
            <p:cNvPr id="288" name="直接箭头连接符 287"/>
            <p:cNvCxnSpPr/>
            <p:nvPr/>
          </p:nvCxnSpPr>
          <p:spPr>
            <a:xfrm>
              <a:off x="7876688" y="4824916"/>
              <a:ext cx="493674" cy="0"/>
            </a:xfrm>
            <a:prstGeom prst="straightConnector1">
              <a:avLst/>
            </a:prstGeom>
            <a:noFill/>
            <a:ln w="19050" cap="flat" cmpd="sng" algn="ctr">
              <a:solidFill>
                <a:sysClr val="windowText" lastClr="000000"/>
              </a:solidFill>
              <a:prstDash val="solid"/>
              <a:miter lim="800000"/>
              <a:tailEnd type="triangle"/>
            </a:ln>
            <a:effectLst/>
          </p:spPr>
        </p:cxnSp>
        <p:grpSp>
          <p:nvGrpSpPr>
            <p:cNvPr id="289" name="组合 288"/>
            <p:cNvGrpSpPr/>
            <p:nvPr/>
          </p:nvGrpSpPr>
          <p:grpSpPr>
            <a:xfrm>
              <a:off x="7418442" y="2051133"/>
              <a:ext cx="745717" cy="3587667"/>
              <a:chOff x="722989" y="1717758"/>
              <a:chExt cx="745717" cy="3587667"/>
            </a:xfrm>
          </p:grpSpPr>
          <p:sp>
            <p:nvSpPr>
              <p:cNvPr id="342" name="矩形 341"/>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3" name="等腰三角形 342"/>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4" name="文本框 343"/>
              <p:cNvSpPr txBox="1"/>
              <p:nvPr/>
            </p:nvSpPr>
            <p:spPr>
              <a:xfrm>
                <a:off x="722989" y="1717758"/>
                <a:ext cx="745717"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EX/MEM</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grpSp>
          <p:nvGrpSpPr>
            <p:cNvPr id="290" name="组合 289"/>
            <p:cNvGrpSpPr/>
            <p:nvPr/>
          </p:nvGrpSpPr>
          <p:grpSpPr>
            <a:xfrm>
              <a:off x="9375782" y="2044866"/>
              <a:ext cx="808235" cy="3593934"/>
              <a:chOff x="754534" y="1711491"/>
              <a:chExt cx="808235" cy="3593934"/>
            </a:xfrm>
          </p:grpSpPr>
          <p:sp>
            <p:nvSpPr>
              <p:cNvPr id="339" name="矩形 338"/>
              <p:cNvSpPr/>
              <p:nvPr/>
            </p:nvSpPr>
            <p:spPr>
              <a:xfrm>
                <a:off x="998491" y="1924050"/>
                <a:ext cx="210737" cy="3381375"/>
              </a:xfrm>
              <a:prstGeom prst="rect">
                <a:avLst/>
              </a:prstGeom>
              <a:solidFill>
                <a:srgbClr val="9CDCF8"/>
              </a:solidFill>
              <a:ln w="28575"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0" name="等腰三角形 339"/>
              <p:cNvSpPr/>
              <p:nvPr/>
            </p:nvSpPr>
            <p:spPr>
              <a:xfrm>
                <a:off x="998490" y="5181600"/>
                <a:ext cx="210738" cy="123824"/>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41" name="文本框 340"/>
              <p:cNvSpPr txBox="1"/>
              <p:nvPr/>
            </p:nvSpPr>
            <p:spPr>
              <a:xfrm>
                <a:off x="754534" y="1711491"/>
                <a:ext cx="808235" cy="246221"/>
              </a:xfrm>
              <a:prstGeom prst="rect">
                <a:avLst/>
              </a:prstGeom>
              <a:noFill/>
            </p:spPr>
            <p:txBody>
              <a:bodyPr wrap="none" rtlCol="0">
                <a:spAutoFit/>
              </a:bodyPr>
              <a:lstStyle/>
              <a:p>
                <a:pPr>
                  <a:defRPr/>
                </a:pPr>
                <a:r>
                  <a:rPr lang="en-US" altLang="zh-CN" sz="900" b="1" kern="0" dirty="0">
                    <a:solidFill>
                      <a:prstClr val="black"/>
                    </a:solidFill>
                    <a:latin typeface="微软雅黑" panose="020B0503020204020204" pitchFamily="34" charset="-122"/>
                    <a:ea typeface="微软雅黑" panose="020B0503020204020204" pitchFamily="34" charset="-122"/>
                  </a:rPr>
                  <a:t>MEM/WB</a:t>
                </a:r>
                <a:endParaRPr lang="en-US" altLang="zh-CN" sz="900" b="1" kern="0" dirty="0">
                  <a:solidFill>
                    <a:prstClr val="black"/>
                  </a:solidFill>
                  <a:latin typeface="微软雅黑" panose="020B0503020204020204" pitchFamily="34" charset="-122"/>
                  <a:ea typeface="微软雅黑" panose="020B0503020204020204" pitchFamily="34" charset="-122"/>
                </a:endParaRPr>
              </a:p>
            </p:txBody>
          </p:sp>
        </p:grpSp>
        <p:cxnSp>
          <p:nvCxnSpPr>
            <p:cNvPr id="291" name="直接箭头连接符 290"/>
            <p:cNvCxnSpPr/>
            <p:nvPr/>
          </p:nvCxnSpPr>
          <p:spPr>
            <a:xfrm>
              <a:off x="6229811" y="4538958"/>
              <a:ext cx="188585" cy="0"/>
            </a:xfrm>
            <a:prstGeom prst="straightConnector1">
              <a:avLst/>
            </a:prstGeom>
            <a:noFill/>
            <a:ln w="19050" cap="flat" cmpd="sng" algn="ctr">
              <a:solidFill>
                <a:sysClr val="windowText" lastClr="000000"/>
              </a:solidFill>
              <a:prstDash val="solid"/>
              <a:miter lim="800000"/>
              <a:headEnd type="oval"/>
              <a:tailEnd type="triangle"/>
            </a:ln>
            <a:effectLst/>
          </p:spPr>
        </p:cxnSp>
        <p:grpSp>
          <p:nvGrpSpPr>
            <p:cNvPr id="292" name="组合 291"/>
            <p:cNvGrpSpPr/>
            <p:nvPr/>
          </p:nvGrpSpPr>
          <p:grpSpPr>
            <a:xfrm>
              <a:off x="6034884" y="2898284"/>
              <a:ext cx="389850" cy="481540"/>
              <a:chOff x="3717347" y="5685260"/>
              <a:chExt cx="389850" cy="481540"/>
            </a:xfrm>
          </p:grpSpPr>
          <p:sp>
            <p:nvSpPr>
              <p:cNvPr id="337" name="椭圆 336"/>
              <p:cNvSpPr/>
              <p:nvPr/>
            </p:nvSpPr>
            <p:spPr>
              <a:xfrm>
                <a:off x="3762650" y="5685260"/>
                <a:ext cx="299245" cy="481540"/>
              </a:xfrm>
              <a:prstGeom prst="ellipse">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900" kern="0" dirty="0">
                  <a:solidFill>
                    <a:srgbClr val="FF0000"/>
                  </a:solidFill>
                  <a:latin typeface="等线" panose="02010600030101010101" charset="-122"/>
                  <a:ea typeface="等线" panose="02010600030101010101" charset="-122"/>
                </a:endParaRPr>
              </a:p>
            </p:txBody>
          </p:sp>
          <p:sp>
            <p:nvSpPr>
              <p:cNvPr id="338" name="文本框 337"/>
              <p:cNvSpPr txBox="1"/>
              <p:nvPr/>
            </p:nvSpPr>
            <p:spPr>
              <a:xfrm>
                <a:off x="3717347" y="5771493"/>
                <a:ext cx="389850" cy="338554"/>
              </a:xfrm>
              <a:prstGeom prst="rect">
                <a:avLst/>
              </a:prstGeom>
              <a:noFill/>
            </p:spPr>
            <p:txBody>
              <a:bodyPr wrap="none" rtlCol="0">
                <a:spAutoFit/>
              </a:bodyPr>
              <a:lstStyle/>
              <a:p>
                <a:pPr algn="ctr">
                  <a:defRPr/>
                </a:pPr>
                <a:r>
                  <a:rPr lang="zh-CN" altLang="en-US" sz="700" b="1" kern="0" dirty="0">
                    <a:solidFill>
                      <a:prstClr val="black"/>
                    </a:solidFill>
                    <a:latin typeface="微软雅黑" panose="020B0503020204020204" pitchFamily="34" charset="-122"/>
                    <a:ea typeface="微软雅黑" panose="020B0503020204020204" pitchFamily="34" charset="-122"/>
                  </a:rPr>
                  <a:t>左移</a:t>
                </a:r>
                <a:endParaRPr lang="en-US" altLang="zh-CN" sz="700" b="1" kern="0" dirty="0">
                  <a:solidFill>
                    <a:prstClr val="black"/>
                  </a:solidFill>
                  <a:latin typeface="微软雅黑" panose="020B0503020204020204" pitchFamily="34" charset="-122"/>
                  <a:ea typeface="微软雅黑" panose="020B0503020204020204" pitchFamily="34" charset="-122"/>
                </a:endParaRPr>
              </a:p>
              <a:p>
                <a:pPr algn="ctr">
                  <a:defRPr/>
                </a:pPr>
                <a:r>
                  <a:rPr lang="en-US" altLang="zh-CN" sz="700" b="1" kern="0" dirty="0">
                    <a:solidFill>
                      <a:prstClr val="black"/>
                    </a:solidFill>
                    <a:latin typeface="微软雅黑" panose="020B0503020204020204" pitchFamily="34" charset="-122"/>
                    <a:ea typeface="微软雅黑" panose="020B0503020204020204" pitchFamily="34" charset="-122"/>
                  </a:rPr>
                  <a:t>2</a:t>
                </a:r>
                <a:r>
                  <a:rPr lang="zh-CN" altLang="en-US" sz="700" b="1" kern="0" dirty="0">
                    <a:solidFill>
                      <a:prstClr val="black"/>
                    </a:solidFill>
                    <a:latin typeface="微软雅黑" panose="020B0503020204020204" pitchFamily="34" charset="-122"/>
                    <a:ea typeface="微软雅黑" panose="020B0503020204020204" pitchFamily="34" charset="-122"/>
                  </a:rPr>
                  <a:t>位</a:t>
                </a:r>
                <a:endParaRPr lang="en-US" altLang="zh-CN" sz="700" b="1" kern="0" dirty="0">
                  <a:solidFill>
                    <a:prstClr val="black"/>
                  </a:solidFill>
                  <a:latin typeface="微软雅黑" panose="020B0503020204020204" pitchFamily="34" charset="-122"/>
                  <a:ea typeface="微软雅黑" panose="020B0503020204020204" pitchFamily="34" charset="-122"/>
                </a:endParaRPr>
              </a:p>
            </p:txBody>
          </p:sp>
        </p:grpSp>
        <p:grpSp>
          <p:nvGrpSpPr>
            <p:cNvPr id="293" name="组合 292"/>
            <p:cNvGrpSpPr/>
            <p:nvPr/>
          </p:nvGrpSpPr>
          <p:grpSpPr>
            <a:xfrm>
              <a:off x="8324766" y="4061731"/>
              <a:ext cx="957089" cy="896271"/>
              <a:chOff x="2233099" y="4480021"/>
              <a:chExt cx="1063423" cy="896271"/>
            </a:xfrm>
          </p:grpSpPr>
          <p:sp>
            <p:nvSpPr>
              <p:cNvPr id="332" name="矩形 331"/>
              <p:cNvSpPr/>
              <p:nvPr/>
            </p:nvSpPr>
            <p:spPr>
              <a:xfrm>
                <a:off x="2280475" y="4481512"/>
                <a:ext cx="990600" cy="894780"/>
              </a:xfrm>
              <a:prstGeom prst="rect">
                <a:avLst/>
              </a:prstGeom>
              <a:solidFill>
                <a:srgbClr val="92D050"/>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33" name="文本框 332"/>
              <p:cNvSpPr txBox="1"/>
              <p:nvPr/>
            </p:nvSpPr>
            <p:spPr>
              <a:xfrm>
                <a:off x="2233099" y="4481511"/>
                <a:ext cx="493720" cy="200055"/>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ADDR</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4" name="文本框 333"/>
              <p:cNvSpPr txBox="1"/>
              <p:nvPr/>
            </p:nvSpPr>
            <p:spPr>
              <a:xfrm>
                <a:off x="2490428" y="4741547"/>
                <a:ext cx="588975" cy="364431"/>
              </a:xfrm>
              <a:prstGeom prst="rect">
                <a:avLst/>
              </a:prstGeom>
              <a:noFill/>
            </p:spPr>
            <p:txBody>
              <a:bodyPr wrap="none" rtlCol="0">
                <a:spAutoFit/>
              </a:bodyP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数据</a:t>
                </a:r>
                <a:endParaRPr lang="en-US" altLang="zh-CN" sz="800" b="1" kern="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800" b="1" kern="0" dirty="0">
                    <a:solidFill>
                      <a:prstClr val="black"/>
                    </a:solidFill>
                    <a:latin typeface="微软雅黑" panose="020B0503020204020204" pitchFamily="34" charset="-122"/>
                    <a:ea typeface="微软雅黑" panose="020B0503020204020204" pitchFamily="34" charset="-122"/>
                  </a:rPr>
                  <a:t>存储器</a:t>
                </a:r>
                <a:endParaRPr lang="en-US" altLang="zh-CN" sz="800" b="1" kern="0" dirty="0">
                  <a:solidFill>
                    <a:prstClr val="black"/>
                  </a:solidFill>
                  <a:latin typeface="微软雅黑" panose="020B0503020204020204" pitchFamily="34" charset="-122"/>
                  <a:ea typeface="微软雅黑" panose="020B0503020204020204" pitchFamily="34" charset="-122"/>
                </a:endParaRPr>
              </a:p>
            </p:txBody>
          </p:sp>
          <p:sp>
            <p:nvSpPr>
              <p:cNvPr id="335" name="文本框 334"/>
              <p:cNvSpPr txBox="1"/>
              <p:nvPr/>
            </p:nvSpPr>
            <p:spPr>
              <a:xfrm>
                <a:off x="2945285" y="4480021"/>
                <a:ext cx="351237" cy="198781"/>
              </a:xfrm>
              <a:prstGeom prst="rect">
                <a:avLst/>
              </a:prstGeom>
              <a:noFill/>
            </p:spPr>
            <p:txBody>
              <a:bodyPr wrap="non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RD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sp>
            <p:nvSpPr>
              <p:cNvPr id="336" name="文本框 335"/>
              <p:cNvSpPr txBox="1"/>
              <p:nvPr/>
            </p:nvSpPr>
            <p:spPr>
              <a:xfrm>
                <a:off x="2250880" y="5146023"/>
                <a:ext cx="722300" cy="200055"/>
              </a:xfrm>
              <a:prstGeom prst="rect">
                <a:avLst/>
              </a:prstGeom>
              <a:noFill/>
            </p:spPr>
            <p:txBody>
              <a:bodyPr wrap="square" rtlCol="0">
                <a:spAutoFit/>
              </a:bodyPr>
              <a:lstStyle/>
              <a:p>
                <a:pPr>
                  <a:defRPr/>
                </a:pPr>
                <a:r>
                  <a:rPr lang="en-US" altLang="zh-CN" sz="600" kern="0" dirty="0">
                    <a:solidFill>
                      <a:prstClr val="black"/>
                    </a:solidFill>
                    <a:latin typeface="微软雅黑" panose="020B0503020204020204" pitchFamily="34" charset="-122"/>
                    <a:ea typeface="微软雅黑" panose="020B0503020204020204" pitchFamily="34" charset="-122"/>
                  </a:rPr>
                  <a:t>WD</a:t>
                </a:r>
                <a:endParaRPr lang="en-US" altLang="zh-CN" sz="600" kern="0" dirty="0">
                  <a:solidFill>
                    <a:prstClr val="black"/>
                  </a:solidFill>
                  <a:latin typeface="微软雅黑" panose="020B0503020204020204" pitchFamily="34" charset="-122"/>
                  <a:ea typeface="微软雅黑" panose="020B0503020204020204" pitchFamily="34" charset="-122"/>
                </a:endParaRPr>
              </a:p>
            </p:txBody>
          </p:sp>
        </p:grpSp>
        <p:cxnSp>
          <p:nvCxnSpPr>
            <p:cNvPr id="294" name="直接箭头连接符 293"/>
            <p:cNvCxnSpPr/>
            <p:nvPr/>
          </p:nvCxnSpPr>
          <p:spPr>
            <a:xfrm>
              <a:off x="7914012" y="5576887"/>
              <a:ext cx="1706295" cy="0"/>
            </a:xfrm>
            <a:prstGeom prst="straightConnector1">
              <a:avLst/>
            </a:prstGeom>
            <a:noFill/>
            <a:ln w="19050" cap="flat" cmpd="sng" algn="ctr">
              <a:solidFill>
                <a:sysClr val="windowText" lastClr="000000"/>
              </a:solidFill>
              <a:prstDash val="solid"/>
              <a:miter lim="800000"/>
              <a:tailEnd type="triangle"/>
            </a:ln>
            <a:effectLst/>
          </p:spPr>
        </p:cxnSp>
        <p:sp>
          <p:nvSpPr>
            <p:cNvPr id="295" name="等腰三角形 294"/>
            <p:cNvSpPr/>
            <p:nvPr/>
          </p:nvSpPr>
          <p:spPr>
            <a:xfrm>
              <a:off x="2046839" y="3751821"/>
              <a:ext cx="214548" cy="124850"/>
            </a:xfrm>
            <a:prstGeom prst="triangle">
              <a:avLst/>
            </a:prstGeom>
            <a:solidFill>
              <a:srgbClr val="9CDCF8"/>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296" name="文本框 295"/>
            <p:cNvSpPr txBox="1"/>
            <p:nvPr/>
          </p:nvSpPr>
          <p:spPr>
            <a:xfrm>
              <a:off x="4237709" y="4935120"/>
              <a:ext cx="492443" cy="215444"/>
            </a:xfrm>
            <a:prstGeom prst="rect">
              <a:avLst/>
            </a:prstGeom>
            <a:noFill/>
          </p:spPr>
          <p:txBody>
            <a:bodyPr wrap="none" rtlCol="0">
              <a:spAutoFit/>
            </a:bodyPr>
            <a:lstStyle/>
            <a:p>
              <a:r>
                <a:rPr lang="zh-CN" altLang="en-US" sz="700" dirty="0">
                  <a:solidFill>
                    <a:prstClr val="black"/>
                  </a:solidFill>
                  <a:latin typeface="微软雅黑" panose="020B0503020204020204" pitchFamily="34" charset="-122"/>
                  <a:ea typeface="微软雅黑" panose="020B0503020204020204" pitchFamily="34" charset="-122"/>
                </a:rPr>
                <a:t>立即数</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7" name="文本框 296"/>
            <p:cNvSpPr txBox="1"/>
            <p:nvPr/>
          </p:nvSpPr>
          <p:spPr>
            <a:xfrm>
              <a:off x="4468458" y="5390314"/>
              <a:ext cx="737702"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Write </a:t>
              </a:r>
              <a:r>
                <a:rPr lang="en-US" altLang="zh-CN" sz="700" dirty="0" err="1">
                  <a:solidFill>
                    <a:prstClr val="black"/>
                  </a:solidFill>
                  <a:latin typeface="微软雅黑" panose="020B0503020204020204" pitchFamily="34" charset="-122"/>
                  <a:ea typeface="微软雅黑" panose="020B0503020204020204" pitchFamily="34" charset="-122"/>
                </a:rPr>
                <a:t>Reg</a:t>
              </a:r>
              <a:r>
                <a:rPr lang="en-US" altLang="zh-CN" sz="700" dirty="0">
                  <a:solidFill>
                    <a:prstClr val="black"/>
                  </a:solidFill>
                  <a:latin typeface="微软雅黑" panose="020B0503020204020204" pitchFamily="34" charset="-122"/>
                  <a:ea typeface="微软雅黑" panose="020B0503020204020204" pitchFamily="34" charset="-122"/>
                </a:rPr>
                <a: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298" name="等腰三角形 297"/>
            <p:cNvSpPr/>
            <p:nvPr/>
          </p:nvSpPr>
          <p:spPr>
            <a:xfrm>
              <a:off x="4578518" y="4548831"/>
              <a:ext cx="143989" cy="83790"/>
            </a:xfrm>
            <a:prstGeom prst="triangle">
              <a:avLst/>
            </a:prstGeom>
            <a:solidFill>
              <a:srgbClr val="FFCCFF"/>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299" name="直接连接符 298"/>
            <p:cNvCxnSpPr/>
            <p:nvPr/>
          </p:nvCxnSpPr>
          <p:spPr>
            <a:xfrm>
              <a:off x="4788894" y="5088576"/>
              <a:ext cx="72356" cy="99312"/>
            </a:xfrm>
            <a:prstGeom prst="line">
              <a:avLst/>
            </a:prstGeom>
            <a:noFill/>
            <a:ln w="19050" cap="sq" cmpd="sng" algn="ctr">
              <a:solidFill>
                <a:sysClr val="windowText" lastClr="000000"/>
              </a:solidFill>
              <a:prstDash val="solid"/>
              <a:miter lim="800000"/>
              <a:tailEnd type="none"/>
            </a:ln>
            <a:effectLst/>
          </p:spPr>
        </p:cxnSp>
        <p:cxnSp>
          <p:nvCxnSpPr>
            <p:cNvPr id="300" name="直接连接符 299"/>
            <p:cNvCxnSpPr/>
            <p:nvPr/>
          </p:nvCxnSpPr>
          <p:spPr>
            <a:xfrm>
              <a:off x="5510462" y="5091681"/>
              <a:ext cx="72356" cy="99312"/>
            </a:xfrm>
            <a:prstGeom prst="line">
              <a:avLst/>
            </a:prstGeom>
            <a:noFill/>
            <a:ln w="19050" cap="sq" cmpd="sng" algn="ctr">
              <a:solidFill>
                <a:sysClr val="windowText" lastClr="000000"/>
              </a:solidFill>
              <a:prstDash val="solid"/>
              <a:miter lim="800000"/>
              <a:tailEnd type="none"/>
            </a:ln>
            <a:effectLst/>
          </p:spPr>
        </p:cxnSp>
        <p:sp>
          <p:nvSpPr>
            <p:cNvPr id="301" name="文本框 300"/>
            <p:cNvSpPr txBox="1"/>
            <p:nvPr/>
          </p:nvSpPr>
          <p:spPr>
            <a:xfrm>
              <a:off x="4650325" y="4920507"/>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16</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02" name="文本框 301"/>
            <p:cNvSpPr txBox="1"/>
            <p:nvPr/>
          </p:nvSpPr>
          <p:spPr>
            <a:xfrm>
              <a:off x="5381221" y="4914283"/>
              <a:ext cx="312666" cy="215346"/>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32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nvGrpSpPr>
            <p:cNvPr id="303" name="组合 302"/>
            <p:cNvGrpSpPr/>
            <p:nvPr/>
          </p:nvGrpSpPr>
          <p:grpSpPr>
            <a:xfrm>
              <a:off x="1972553" y="3865993"/>
              <a:ext cx="372218" cy="326012"/>
              <a:chOff x="1972553" y="3227818"/>
              <a:chExt cx="372218" cy="326012"/>
            </a:xfrm>
          </p:grpSpPr>
          <p:cxnSp>
            <p:nvCxnSpPr>
              <p:cNvPr id="330" name="直接连接符 329"/>
              <p:cNvCxnSpPr/>
              <p:nvPr/>
            </p:nvCxnSpPr>
            <p:spPr>
              <a:xfrm>
                <a:off x="2151982" y="3227818"/>
                <a:ext cx="0" cy="149964"/>
              </a:xfrm>
              <a:prstGeom prst="line">
                <a:avLst/>
              </a:prstGeom>
              <a:noFill/>
              <a:ln w="6350" cap="flat" cmpd="sng" algn="ctr">
                <a:solidFill>
                  <a:sysClr val="windowText" lastClr="000000"/>
                </a:solidFill>
                <a:prstDash val="solid"/>
                <a:miter lim="800000"/>
              </a:ln>
              <a:effectLst/>
            </p:spPr>
          </p:cxnSp>
          <p:sp>
            <p:nvSpPr>
              <p:cNvPr id="331" name="文本框 330"/>
              <p:cNvSpPr txBox="1"/>
              <p:nvPr/>
            </p:nvSpPr>
            <p:spPr>
              <a:xfrm>
                <a:off x="1972553" y="3338386"/>
                <a:ext cx="372218" cy="215444"/>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4" name="组合 303"/>
            <p:cNvGrpSpPr/>
            <p:nvPr/>
          </p:nvGrpSpPr>
          <p:grpSpPr>
            <a:xfrm>
              <a:off x="5683963" y="5635648"/>
              <a:ext cx="374784" cy="455809"/>
              <a:chOff x="1972644" y="3154126"/>
              <a:chExt cx="374784" cy="369765"/>
            </a:xfrm>
          </p:grpSpPr>
          <p:cxnSp>
            <p:nvCxnSpPr>
              <p:cNvPr id="328" name="直接连接符 327"/>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9" name="文本框 328"/>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5" name="组合 304"/>
            <p:cNvGrpSpPr/>
            <p:nvPr/>
          </p:nvGrpSpPr>
          <p:grpSpPr>
            <a:xfrm>
              <a:off x="7620570" y="5635648"/>
              <a:ext cx="374784" cy="455809"/>
              <a:chOff x="1972644" y="3154126"/>
              <a:chExt cx="374784" cy="369765"/>
            </a:xfrm>
          </p:grpSpPr>
          <p:cxnSp>
            <p:nvCxnSpPr>
              <p:cNvPr id="326" name="直接连接符 325"/>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7" name="文本框 326"/>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grpSp>
          <p:nvGrpSpPr>
            <p:cNvPr id="306" name="组合 305"/>
            <p:cNvGrpSpPr/>
            <p:nvPr/>
          </p:nvGrpSpPr>
          <p:grpSpPr>
            <a:xfrm>
              <a:off x="9547500" y="5635648"/>
              <a:ext cx="374784" cy="455809"/>
              <a:chOff x="1972644" y="3154126"/>
              <a:chExt cx="374784" cy="369765"/>
            </a:xfrm>
          </p:grpSpPr>
          <p:cxnSp>
            <p:nvCxnSpPr>
              <p:cNvPr id="324" name="直接连接符 323"/>
              <p:cNvCxnSpPr/>
              <p:nvPr/>
            </p:nvCxnSpPr>
            <p:spPr>
              <a:xfrm>
                <a:off x="2151982" y="3154126"/>
                <a:ext cx="0" cy="223656"/>
              </a:xfrm>
              <a:prstGeom prst="line">
                <a:avLst/>
              </a:prstGeom>
              <a:noFill/>
              <a:ln w="6350" cap="flat" cmpd="sng" algn="ctr">
                <a:solidFill>
                  <a:sysClr val="windowText" lastClr="000000"/>
                </a:solidFill>
                <a:prstDash val="solid"/>
                <a:miter lim="800000"/>
              </a:ln>
              <a:effectLst/>
            </p:spPr>
          </p:cxnSp>
          <p:sp>
            <p:nvSpPr>
              <p:cNvPr id="325" name="文本框 324"/>
              <p:cNvSpPr txBox="1"/>
              <p:nvPr/>
            </p:nvSpPr>
            <p:spPr>
              <a:xfrm>
                <a:off x="1972644" y="3349196"/>
                <a:ext cx="374784" cy="174695"/>
              </a:xfrm>
              <a:prstGeom prst="rect">
                <a:avLst/>
              </a:prstGeom>
              <a:noFill/>
            </p:spPr>
            <p:txBody>
              <a:bodyPr wrap="none" rtlCol="0">
                <a:spAutoFit/>
              </a:bodyPr>
              <a:lstStyle/>
              <a:p>
                <a:pPr>
                  <a:defRPr/>
                </a:pPr>
                <a:r>
                  <a:rPr lang="en-US" altLang="zh-CN" sz="700" kern="0" dirty="0">
                    <a:solidFill>
                      <a:prstClr val="black"/>
                    </a:solidFill>
                    <a:latin typeface="微软雅黑" panose="020B0503020204020204" pitchFamily="34" charset="-122"/>
                    <a:ea typeface="微软雅黑" panose="020B0503020204020204" pitchFamily="34" charset="-122"/>
                  </a:rPr>
                  <a:t>CLK</a:t>
                </a:r>
                <a:endParaRPr lang="en-US" altLang="zh-CN" sz="700" kern="0" dirty="0">
                  <a:solidFill>
                    <a:prstClr val="black"/>
                  </a:solidFill>
                  <a:latin typeface="微软雅黑" panose="020B0503020204020204" pitchFamily="34" charset="-122"/>
                  <a:ea typeface="微软雅黑" panose="020B0503020204020204" pitchFamily="34" charset="-122"/>
                </a:endParaRPr>
              </a:p>
            </p:txBody>
          </p:sp>
        </p:grpSp>
        <p:cxnSp>
          <p:nvCxnSpPr>
            <p:cNvPr id="307" name="直接箭头连接符 306"/>
            <p:cNvCxnSpPr/>
            <p:nvPr/>
          </p:nvCxnSpPr>
          <p:spPr>
            <a:xfrm>
              <a:off x="3910881" y="1403838"/>
              <a:ext cx="0" cy="4156823"/>
            </a:xfrm>
            <a:prstGeom prst="straightConnector1">
              <a:avLst/>
            </a:prstGeom>
            <a:noFill/>
            <a:ln w="12700" cap="flat" cmpd="sng" algn="ctr">
              <a:solidFill>
                <a:srgbClr val="5B9BD5"/>
              </a:solidFill>
              <a:prstDash val="dash"/>
              <a:miter lim="800000"/>
              <a:tailEnd type="none"/>
            </a:ln>
            <a:effectLst/>
          </p:spPr>
        </p:cxnSp>
        <p:sp>
          <p:nvSpPr>
            <p:cNvPr id="308" name="等腰三角形 307"/>
            <p:cNvSpPr/>
            <p:nvPr/>
          </p:nvSpPr>
          <p:spPr>
            <a:xfrm>
              <a:off x="9028189" y="4879703"/>
              <a:ext cx="143989" cy="83790"/>
            </a:xfrm>
            <a:prstGeom prst="triangle">
              <a:avLst/>
            </a:prstGeom>
            <a:solidFill>
              <a:srgbClr val="92D050"/>
            </a:solidFill>
            <a:ln w="1270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cxnSp>
          <p:nvCxnSpPr>
            <p:cNvPr id="309" name="直接箭头连接符 308"/>
            <p:cNvCxnSpPr/>
            <p:nvPr/>
          </p:nvCxnSpPr>
          <p:spPr>
            <a:xfrm>
              <a:off x="5866980" y="1403838"/>
              <a:ext cx="0" cy="4147298"/>
            </a:xfrm>
            <a:prstGeom prst="straightConnector1">
              <a:avLst/>
            </a:prstGeom>
            <a:noFill/>
            <a:ln w="12700" cap="flat" cmpd="sng" algn="ctr">
              <a:solidFill>
                <a:srgbClr val="5B9BD5"/>
              </a:solidFill>
              <a:prstDash val="dash"/>
              <a:miter lim="800000"/>
              <a:tailEnd type="none"/>
            </a:ln>
            <a:effectLst/>
          </p:spPr>
        </p:cxnSp>
        <p:cxnSp>
          <p:nvCxnSpPr>
            <p:cNvPr id="310" name="直接箭头连接符 309"/>
            <p:cNvCxnSpPr/>
            <p:nvPr/>
          </p:nvCxnSpPr>
          <p:spPr>
            <a:xfrm>
              <a:off x="7796409" y="1403838"/>
              <a:ext cx="0" cy="4147298"/>
            </a:xfrm>
            <a:prstGeom prst="straightConnector1">
              <a:avLst/>
            </a:prstGeom>
            <a:noFill/>
            <a:ln w="12700" cap="flat" cmpd="sng" algn="ctr">
              <a:solidFill>
                <a:srgbClr val="5B9BD5"/>
              </a:solidFill>
              <a:prstDash val="dash"/>
              <a:miter lim="800000"/>
              <a:tailEnd type="none"/>
            </a:ln>
            <a:effectLst/>
          </p:spPr>
        </p:cxnSp>
        <p:cxnSp>
          <p:nvCxnSpPr>
            <p:cNvPr id="311" name="直接箭头连接符 310"/>
            <p:cNvCxnSpPr/>
            <p:nvPr/>
          </p:nvCxnSpPr>
          <p:spPr>
            <a:xfrm>
              <a:off x="9725838" y="1403838"/>
              <a:ext cx="0" cy="4147298"/>
            </a:xfrm>
            <a:prstGeom prst="straightConnector1">
              <a:avLst/>
            </a:prstGeom>
            <a:noFill/>
            <a:ln w="12700" cap="flat" cmpd="sng" algn="ctr">
              <a:solidFill>
                <a:srgbClr val="5B9BD5"/>
              </a:solidFill>
              <a:prstDash val="dash"/>
              <a:miter lim="800000"/>
              <a:tailEnd type="none"/>
            </a:ln>
            <a:effectLst/>
          </p:spPr>
        </p:cxnSp>
        <p:sp>
          <p:nvSpPr>
            <p:cNvPr id="312" name="文本框 311"/>
            <p:cNvSpPr txBox="1"/>
            <p:nvPr/>
          </p:nvSpPr>
          <p:spPr>
            <a:xfrm>
              <a:off x="3978307" y="3482088"/>
              <a:ext cx="419648" cy="231911"/>
            </a:xfrm>
            <a:prstGeom prst="rect">
              <a:avLst/>
            </a:prstGeom>
            <a:noFill/>
          </p:spPr>
          <p:txBody>
            <a:bodyPr wrap="none" rtlCol="0">
              <a:spAutoFit/>
            </a:bodyPr>
            <a:lstStyle/>
            <a:p>
              <a:pPr algn="ctr"/>
              <a:r>
                <a:rPr lang="zh-CN" altLang="en-US" sz="800" b="1" dirty="0">
                  <a:solidFill>
                    <a:prstClr val="black"/>
                  </a:solidFill>
                  <a:latin typeface="微软雅黑" panose="020B0503020204020204" pitchFamily="34" charset="-122"/>
                  <a:ea typeface="微软雅黑" panose="020B0503020204020204" pitchFamily="34" charset="-122"/>
                </a:rPr>
                <a:t>指令</a:t>
              </a:r>
              <a:endParaRPr lang="en-US" altLang="zh-CN" sz="800" b="1" dirty="0">
                <a:solidFill>
                  <a:prstClr val="black"/>
                </a:solidFill>
                <a:latin typeface="微软雅黑" panose="020B0503020204020204" pitchFamily="34" charset="-122"/>
                <a:ea typeface="微软雅黑" panose="020B0503020204020204" pitchFamily="34" charset="-122"/>
              </a:endParaRPr>
            </a:p>
          </p:txBody>
        </p:sp>
        <p:cxnSp>
          <p:nvCxnSpPr>
            <p:cNvPr id="313" name="直接连接符 312"/>
            <p:cNvCxnSpPr/>
            <p:nvPr/>
          </p:nvCxnSpPr>
          <p:spPr>
            <a:xfrm>
              <a:off x="10304914" y="4442728"/>
              <a:ext cx="0" cy="222006"/>
            </a:xfrm>
            <a:prstGeom prst="line">
              <a:avLst/>
            </a:prstGeom>
            <a:noFill/>
            <a:ln w="6350" cap="flat" cmpd="sng" algn="ctr">
              <a:solidFill>
                <a:srgbClr val="5B9BD5"/>
              </a:solidFill>
              <a:prstDash val="solid"/>
              <a:miter lim="800000"/>
            </a:ln>
            <a:effectLst/>
          </p:spPr>
        </p:cxnSp>
        <p:grpSp>
          <p:nvGrpSpPr>
            <p:cNvPr id="314" name="组合 313"/>
            <p:cNvGrpSpPr/>
            <p:nvPr/>
          </p:nvGrpSpPr>
          <p:grpSpPr>
            <a:xfrm>
              <a:off x="10102638" y="4039232"/>
              <a:ext cx="383097" cy="504955"/>
              <a:chOff x="1245770" y="3824904"/>
              <a:chExt cx="383097" cy="406857"/>
            </a:xfrm>
          </p:grpSpPr>
          <p:sp>
            <p:nvSpPr>
              <p:cNvPr id="320" name="流程图: 手动操作 319"/>
              <p:cNvSpPr/>
              <p:nvPr/>
            </p:nvSpPr>
            <p:spPr>
              <a:xfrm rot="16200000">
                <a:off x="1228426" y="3904508"/>
                <a:ext cx="406857" cy="247650"/>
              </a:xfrm>
              <a:prstGeom prst="flowChartManualOperation">
                <a:avLst/>
              </a:prstGeom>
              <a:solidFill>
                <a:sysClr val="window" lastClr="FFFFFF"/>
              </a:solidFill>
              <a:ln w="19050" cap="flat" cmpd="sng" algn="ctr">
                <a:solidFill>
                  <a:sysClr val="windowText" lastClr="000000"/>
                </a:solidFill>
                <a:prstDash val="solid"/>
                <a:miter lim="800000"/>
              </a:ln>
              <a:effectLst/>
            </p:spPr>
            <p:txBody>
              <a:bodyPr rtlCol="0" anchor="ctr"/>
              <a:lstStyle/>
              <a:p>
                <a:pPr algn="ctr">
                  <a:defRPr/>
                </a:pPr>
                <a:endParaRPr lang="zh-CN" altLang="en-US" sz="1600" kern="0">
                  <a:solidFill>
                    <a:prstClr val="white"/>
                  </a:solidFill>
                  <a:latin typeface="等线" panose="02010600030101010101" charset="-122"/>
                  <a:ea typeface="等线" panose="02010600030101010101" charset="-122"/>
                </a:endParaRPr>
              </a:p>
            </p:txBody>
          </p:sp>
          <p:sp>
            <p:nvSpPr>
              <p:cNvPr id="321" name="文本框 320"/>
              <p:cNvSpPr txBox="1"/>
              <p:nvPr/>
            </p:nvSpPr>
            <p:spPr>
              <a:xfrm>
                <a:off x="1257533" y="3963369"/>
                <a:ext cx="371334"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MUX</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2" name="文本框 321"/>
              <p:cNvSpPr txBox="1"/>
              <p:nvPr/>
            </p:nvSpPr>
            <p:spPr>
              <a:xfrm>
                <a:off x="1250558" y="3854112"/>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0</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sp>
            <p:nvSpPr>
              <p:cNvPr id="323" name="文本框 322"/>
              <p:cNvSpPr txBox="1"/>
              <p:nvPr/>
            </p:nvSpPr>
            <p:spPr>
              <a:xfrm>
                <a:off x="1245770" y="4063984"/>
                <a:ext cx="241920" cy="146816"/>
              </a:xfrm>
              <a:prstGeom prst="rect">
                <a:avLst/>
              </a:prstGeom>
              <a:noFill/>
            </p:spPr>
            <p:txBody>
              <a:bodyPr wrap="none" rtlCol="0">
                <a:spAutoFit/>
              </a:bodyPr>
              <a:lstStyle/>
              <a:p>
                <a:pPr>
                  <a:defRPr/>
                </a:pPr>
                <a:r>
                  <a:rPr lang="en-US" altLang="zh-CN" sz="500" b="1" kern="0" dirty="0">
                    <a:solidFill>
                      <a:prstClr val="black"/>
                    </a:solidFill>
                    <a:latin typeface="微软雅黑" panose="020B0503020204020204" pitchFamily="34" charset="-122"/>
                    <a:ea typeface="微软雅黑" panose="020B0503020204020204" pitchFamily="34" charset="-122"/>
                  </a:rPr>
                  <a:t>1</a:t>
                </a:r>
                <a:endParaRPr lang="en-US" altLang="zh-CN" sz="500" b="1" kern="0" dirty="0">
                  <a:solidFill>
                    <a:prstClr val="black"/>
                  </a:solidFill>
                  <a:latin typeface="微软雅黑" panose="020B0503020204020204" pitchFamily="34" charset="-122"/>
                  <a:ea typeface="微软雅黑" panose="020B0503020204020204" pitchFamily="34" charset="-122"/>
                </a:endParaRPr>
              </a:p>
            </p:txBody>
          </p:sp>
        </p:grpSp>
        <p:sp>
          <p:nvSpPr>
            <p:cNvPr id="315" name="文本框 314"/>
            <p:cNvSpPr txBox="1"/>
            <p:nvPr/>
          </p:nvSpPr>
          <p:spPr>
            <a:xfrm>
              <a:off x="9906992" y="5230164"/>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6" name="文本框 315"/>
            <p:cNvSpPr txBox="1"/>
            <p:nvPr/>
          </p:nvSpPr>
          <p:spPr>
            <a:xfrm>
              <a:off x="4624183" y="2532053"/>
              <a:ext cx="452368"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PC+4</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7" name="文本框 316"/>
            <p:cNvSpPr txBox="1"/>
            <p:nvPr/>
          </p:nvSpPr>
          <p:spPr>
            <a:xfrm>
              <a:off x="8535377" y="5237482"/>
              <a:ext cx="712054" cy="215444"/>
            </a:xfrm>
            <a:prstGeom prst="rect">
              <a:avLst/>
            </a:prstGeom>
            <a:noFill/>
          </p:spPr>
          <p:txBody>
            <a:bodyPr wrap="none"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ALU.Result</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8" name="文本框 317"/>
            <p:cNvSpPr txBox="1"/>
            <p:nvPr/>
          </p:nvSpPr>
          <p:spPr>
            <a:xfrm>
              <a:off x="5918812" y="3585885"/>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RD1</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19" name="文本框 318"/>
            <p:cNvSpPr txBox="1"/>
            <p:nvPr/>
          </p:nvSpPr>
          <p:spPr>
            <a:xfrm>
              <a:off x="5919168" y="4093038"/>
              <a:ext cx="391454" cy="215444"/>
            </a:xfrm>
            <a:prstGeom prst="rect">
              <a:avLst/>
            </a:prstGeom>
            <a:noFill/>
          </p:spPr>
          <p:txBody>
            <a:bodyPr wrap="none" rtlCol="0">
              <a:spAutoFit/>
            </a:bodyPr>
            <a:lstStyle/>
            <a:p>
              <a:r>
                <a:rPr lang="en-US" altLang="zh-CN" sz="700" dirty="0">
                  <a:solidFill>
                    <a:prstClr val="black"/>
                  </a:solidFill>
                  <a:latin typeface="微软雅黑" panose="020B0503020204020204" pitchFamily="34" charset="-122"/>
                  <a:ea typeface="微软雅黑" panose="020B0503020204020204" pitchFamily="34" charset="-122"/>
                </a:rPr>
                <a:t>RD2</a:t>
              </a:r>
              <a:endParaRPr lang="en-US" altLang="zh-CN" sz="700" dirty="0">
                <a:solidFill>
                  <a:prstClr val="black"/>
                </a:solidFill>
                <a:latin typeface="微软雅黑" panose="020B0503020204020204" pitchFamily="34" charset="-122"/>
                <a:ea typeface="微软雅黑" panose="020B0503020204020204" pitchFamily="34" charset="-122"/>
              </a:endParaRPr>
            </a:p>
          </p:txBody>
        </p:sp>
      </p:grpSp>
      <p:sp>
        <p:nvSpPr>
          <p:cNvPr id="389" name="文本框 388"/>
          <p:cNvSpPr txBox="1">
            <a:spLocks noChangeArrowheads="1"/>
          </p:cNvSpPr>
          <p:nvPr/>
        </p:nvSpPr>
        <p:spPr bwMode="auto">
          <a:xfrm>
            <a:off x="4445895" y="1575680"/>
            <a:ext cx="1252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add $3</a:t>
            </a:r>
            <a:r>
              <a:rPr lang="en-US" altLang="zh-CN" sz="1100" b="1" dirty="0">
                <a:solidFill>
                  <a:srgbClr val="C00000"/>
                </a:solidFill>
              </a:rPr>
              <a:t>,$1</a:t>
            </a:r>
            <a:r>
              <a:rPr lang="en-US" altLang="zh-CN" sz="1100" b="1" dirty="0">
                <a:solidFill>
                  <a:srgbClr val="000000"/>
                </a:solidFill>
              </a:rPr>
              <a:t>,$2</a:t>
            </a:r>
            <a:endParaRPr lang="zh-CN" altLang="en-US" sz="1100" b="1" dirty="0">
              <a:solidFill>
                <a:srgbClr val="000000"/>
              </a:solidFill>
            </a:endParaRPr>
          </a:p>
        </p:txBody>
      </p:sp>
      <p:sp>
        <p:nvSpPr>
          <p:cNvPr id="392" name="文本框 391"/>
          <p:cNvSpPr txBox="1"/>
          <p:nvPr/>
        </p:nvSpPr>
        <p:spPr>
          <a:xfrm>
            <a:off x="9684520" y="3649382"/>
            <a:ext cx="666849" cy="200055"/>
          </a:xfrm>
          <a:prstGeom prst="rect">
            <a:avLst/>
          </a:prstGeom>
          <a:noFill/>
        </p:spPr>
        <p:txBody>
          <a:bodyPr wrap="none" lIns="0" rIns="0" rtlCol="0">
            <a:spAutoFit/>
          </a:bodyPr>
          <a:lstStyle/>
          <a:p>
            <a:r>
              <a:rPr lang="en-US" altLang="zh-CN" sz="700" dirty="0" err="1">
                <a:solidFill>
                  <a:prstClr val="black"/>
                </a:solidFill>
                <a:latin typeface="微软雅黑" panose="020B0503020204020204" pitchFamily="34" charset="-122"/>
                <a:ea typeface="微软雅黑" panose="020B0503020204020204" pitchFamily="34" charset="-122"/>
              </a:rPr>
              <a:t>MEM.ReadData</a:t>
            </a:r>
            <a:endParaRPr lang="en-US" altLang="zh-CN" sz="700" dirty="0">
              <a:solidFill>
                <a:prstClr val="black"/>
              </a:solidFill>
              <a:latin typeface="微软雅黑" panose="020B0503020204020204" pitchFamily="34" charset="-122"/>
              <a:ea typeface="微软雅黑" panose="020B0503020204020204" pitchFamily="34" charset="-122"/>
            </a:endParaRPr>
          </a:p>
        </p:txBody>
      </p:sp>
      <p:sp>
        <p:nvSpPr>
          <p:cNvPr id="393" name="文本框 392"/>
          <p:cNvSpPr txBox="1"/>
          <p:nvPr/>
        </p:nvSpPr>
        <p:spPr>
          <a:xfrm>
            <a:off x="4717459" y="1277861"/>
            <a:ext cx="74732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译码</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ID</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4" name="文本框 393"/>
          <p:cNvSpPr txBox="1"/>
          <p:nvPr/>
        </p:nvSpPr>
        <p:spPr>
          <a:xfrm>
            <a:off x="6479365" y="1277861"/>
            <a:ext cx="77476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执行</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EX</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5" name="文本框 394"/>
          <p:cNvSpPr txBox="1"/>
          <p:nvPr/>
        </p:nvSpPr>
        <p:spPr>
          <a:xfrm>
            <a:off x="8174769" y="1277861"/>
            <a:ext cx="101502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访存</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MEM</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6" name="文本框 395"/>
          <p:cNvSpPr txBox="1"/>
          <p:nvPr/>
        </p:nvSpPr>
        <p:spPr>
          <a:xfrm>
            <a:off x="9985745" y="1277861"/>
            <a:ext cx="86113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写回</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WB</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97" name="文本框 396"/>
          <p:cNvSpPr txBox="1"/>
          <p:nvPr/>
        </p:nvSpPr>
        <p:spPr>
          <a:xfrm>
            <a:off x="2704781" y="1277861"/>
            <a:ext cx="88517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取指令</a:t>
            </a:r>
            <a:r>
              <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IF</a:t>
            </a:r>
            <a:endParaRPr kumimoji="0" lang="en-US" altLang="zh-CN" sz="1400" b="1" i="0"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405" name="直接箭头连接符 404"/>
          <p:cNvCxnSpPr/>
          <p:nvPr/>
        </p:nvCxnSpPr>
        <p:spPr>
          <a:xfrm>
            <a:off x="5570269" y="3643251"/>
            <a:ext cx="279544" cy="0"/>
          </a:xfrm>
          <a:prstGeom prst="straightConnector1">
            <a:avLst/>
          </a:prstGeom>
          <a:noFill/>
          <a:ln w="38100" cap="flat" cmpd="sng" algn="ctr">
            <a:solidFill>
              <a:srgbClr val="FF0000"/>
            </a:solidFill>
            <a:prstDash val="solid"/>
            <a:miter lim="800000"/>
            <a:tailEnd type="triangle"/>
          </a:ln>
          <a:effectLst/>
        </p:spPr>
      </p:cxnSp>
      <p:sp>
        <p:nvSpPr>
          <p:cNvPr id="203" name="矩形 202"/>
          <p:cNvSpPr/>
          <p:nvPr/>
        </p:nvSpPr>
        <p:spPr>
          <a:xfrm>
            <a:off x="9687195" y="1573236"/>
            <a:ext cx="1514566" cy="210086"/>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a:spLocks noChangeArrowheads="1"/>
          </p:cNvSpPr>
          <p:nvPr/>
        </p:nvSpPr>
        <p:spPr bwMode="auto">
          <a:xfrm>
            <a:off x="9854966" y="1553646"/>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a:solidFill>
                  <a:srgbClr val="000000"/>
                </a:solidFill>
              </a:rPr>
              <a:t>or </a:t>
            </a:r>
            <a:r>
              <a:rPr lang="en-US" altLang="zh-CN" sz="1100" b="1" dirty="0">
                <a:solidFill>
                  <a:srgbClr val="C00000"/>
                </a:solidFill>
              </a:rPr>
              <a:t>$1</a:t>
            </a:r>
            <a:r>
              <a:rPr lang="en-US" altLang="zh-CN" sz="1100" b="1" dirty="0"/>
              <a:t>,$</a:t>
            </a:r>
            <a:r>
              <a:rPr lang="en-US" altLang="zh-CN" sz="1100" b="1" dirty="0">
                <a:solidFill>
                  <a:srgbClr val="000000"/>
                </a:solidFill>
              </a:rPr>
              <a:t>1,$2</a:t>
            </a:r>
            <a:endParaRPr lang="zh-CN" altLang="en-US" sz="1100" b="1" dirty="0">
              <a:solidFill>
                <a:srgbClr val="000000"/>
              </a:solidFill>
            </a:endParaRPr>
          </a:p>
        </p:txBody>
      </p:sp>
      <p:grpSp>
        <p:nvGrpSpPr>
          <p:cNvPr id="205" name="组合 204"/>
          <p:cNvGrpSpPr/>
          <p:nvPr/>
        </p:nvGrpSpPr>
        <p:grpSpPr>
          <a:xfrm>
            <a:off x="6093722" y="1556735"/>
            <a:ext cx="1514566" cy="261610"/>
            <a:chOff x="6093722" y="1556735"/>
            <a:chExt cx="1514566" cy="261610"/>
          </a:xfrm>
        </p:grpSpPr>
        <p:sp>
          <p:nvSpPr>
            <p:cNvPr id="209" name="矩形 208"/>
            <p:cNvSpPr/>
            <p:nvPr/>
          </p:nvSpPr>
          <p:spPr>
            <a:xfrm>
              <a:off x="6093722" y="1584185"/>
              <a:ext cx="1514566" cy="210086"/>
            </a:xfrm>
            <a:prstGeom prst="rect">
              <a:avLst/>
            </a:prstGeom>
            <a:solidFill>
              <a:schemeClr val="accent6">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文本框 209"/>
            <p:cNvSpPr txBox="1">
              <a:spLocks noChangeArrowheads="1"/>
            </p:cNvSpPr>
            <p:nvPr/>
          </p:nvSpPr>
          <p:spPr bwMode="auto">
            <a:xfrm>
              <a:off x="6296748" y="1556735"/>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zh-CN" altLang="en-US" sz="1100" b="1" dirty="0">
                <a:solidFill>
                  <a:srgbClr val="000000"/>
                </a:solidFill>
              </a:endParaRPr>
            </a:p>
          </p:txBody>
        </p:sp>
      </p:grpSp>
      <p:sp>
        <p:nvSpPr>
          <p:cNvPr id="211" name="文本框 210"/>
          <p:cNvSpPr txBox="1"/>
          <p:nvPr/>
        </p:nvSpPr>
        <p:spPr>
          <a:xfrm>
            <a:off x="3553341" y="5992639"/>
            <a:ext cx="544411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再下一时刻相关变成与</a:t>
            </a:r>
            <a:r>
              <a:rPr lang="en-US" altLang="zh-CN" sz="2800" b="1" dirty="0">
                <a:latin typeface="微软雅黑" panose="020B0503020204020204" pitchFamily="34" charset="-122"/>
                <a:ea typeface="微软雅黑" panose="020B0503020204020204" pitchFamily="34" charset="-122"/>
              </a:rPr>
              <a:t>WB</a:t>
            </a:r>
            <a:r>
              <a:rPr lang="zh-CN" altLang="en-US" sz="2800" b="1" dirty="0">
                <a:latin typeface="微软雅黑" panose="020B0503020204020204" pitchFamily="34" charset="-122"/>
                <a:ea typeface="微软雅黑" panose="020B0503020204020204" pitchFamily="34" charset="-122"/>
              </a:rPr>
              <a:t>段相关</a:t>
            </a:r>
            <a:endParaRPr lang="zh-CN" altLang="en-US" sz="2800" b="1" dirty="0">
              <a:latin typeface="微软雅黑" panose="020B0503020204020204" pitchFamily="34" charset="-122"/>
              <a:ea typeface="微软雅黑" panose="020B0503020204020204" pitchFamily="34" charset="-122"/>
            </a:endParaRPr>
          </a:p>
        </p:txBody>
      </p:sp>
      <p:grpSp>
        <p:nvGrpSpPr>
          <p:cNvPr id="407" name="组合 406"/>
          <p:cNvGrpSpPr/>
          <p:nvPr/>
        </p:nvGrpSpPr>
        <p:grpSpPr>
          <a:xfrm>
            <a:off x="7887689" y="1542942"/>
            <a:ext cx="1514566" cy="261610"/>
            <a:chOff x="6093722" y="1556735"/>
            <a:chExt cx="1514566" cy="261610"/>
          </a:xfrm>
        </p:grpSpPr>
        <p:sp>
          <p:nvSpPr>
            <p:cNvPr id="408" name="矩形 407"/>
            <p:cNvSpPr/>
            <p:nvPr/>
          </p:nvSpPr>
          <p:spPr>
            <a:xfrm>
              <a:off x="6093722" y="1584185"/>
              <a:ext cx="1514566" cy="210086"/>
            </a:xfrm>
            <a:prstGeom prst="rect">
              <a:avLst/>
            </a:prstGeom>
            <a:solidFill>
              <a:schemeClr val="accent6">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文本框 408"/>
            <p:cNvSpPr txBox="1">
              <a:spLocks noChangeArrowheads="1"/>
            </p:cNvSpPr>
            <p:nvPr/>
          </p:nvSpPr>
          <p:spPr bwMode="auto">
            <a:xfrm>
              <a:off x="6296748" y="1556735"/>
              <a:ext cx="11265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fontAlgn="base">
                <a:spcBef>
                  <a:spcPct val="0"/>
                </a:spcBef>
                <a:spcAft>
                  <a:spcPct val="0"/>
                </a:spcAft>
                <a:buNone/>
              </a:pPr>
              <a:r>
                <a:rPr lang="en-US" altLang="zh-CN" sz="1100" b="1" dirty="0" err="1">
                  <a:solidFill>
                    <a:srgbClr val="000000"/>
                  </a:solidFill>
                </a:rPr>
                <a:t>nop</a:t>
              </a:r>
              <a:endParaRPr lang="zh-CN" altLang="en-US" sz="1100" b="1" dirty="0">
                <a:solidFill>
                  <a:srgbClr val="00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64567"/>
    </mc:Choice>
    <mc:Fallback>
      <p:transition spd="slow" advTm="6456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Line 19"/>
          <p:cNvSpPr>
            <a:spLocks noChangeShapeType="1"/>
          </p:cNvSpPr>
          <p:nvPr/>
        </p:nvSpPr>
        <p:spPr bwMode="auto">
          <a:xfrm flipV="1">
            <a:off x="2777231" y="3338737"/>
            <a:ext cx="683945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3" name="Line 9"/>
          <p:cNvSpPr>
            <a:spLocks noChangeShapeType="1"/>
          </p:cNvSpPr>
          <p:nvPr/>
        </p:nvSpPr>
        <p:spPr bwMode="auto">
          <a:xfrm flipV="1">
            <a:off x="824520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2" name="Line 19"/>
          <p:cNvSpPr>
            <a:spLocks noChangeShapeType="1"/>
          </p:cNvSpPr>
          <p:nvPr/>
        </p:nvSpPr>
        <p:spPr bwMode="auto">
          <a:xfrm flipV="1">
            <a:off x="2772005" y="2655765"/>
            <a:ext cx="6844683"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0" name="Line 19"/>
          <p:cNvSpPr>
            <a:spLocks noChangeShapeType="1"/>
          </p:cNvSpPr>
          <p:nvPr/>
        </p:nvSpPr>
        <p:spPr bwMode="auto">
          <a:xfrm flipV="1">
            <a:off x="2772005" y="1972793"/>
            <a:ext cx="6844683"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5" name="Line 19"/>
          <p:cNvSpPr>
            <a:spLocks noChangeShapeType="1"/>
          </p:cNvSpPr>
          <p:nvPr/>
        </p:nvSpPr>
        <p:spPr bwMode="auto">
          <a:xfrm flipV="1">
            <a:off x="2777231" y="4704681"/>
            <a:ext cx="683945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4" name="Line 19"/>
          <p:cNvSpPr>
            <a:spLocks noChangeShapeType="1"/>
          </p:cNvSpPr>
          <p:nvPr/>
        </p:nvSpPr>
        <p:spPr bwMode="auto">
          <a:xfrm flipV="1">
            <a:off x="2777231" y="4021709"/>
            <a:ext cx="6839457" cy="0"/>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92" name="矩形 91"/>
          <p:cNvSpPr/>
          <p:nvPr/>
        </p:nvSpPr>
        <p:spPr>
          <a:xfrm flipH="1">
            <a:off x="6201829" y="4019241"/>
            <a:ext cx="682972" cy="682972"/>
          </a:xfrm>
          <a:prstGeom prst="rect">
            <a:avLst/>
          </a:prstGeom>
          <a:solidFill>
            <a:schemeClr val="accent2">
              <a:lumMod val="40000"/>
              <a:lumOff val="60000"/>
            </a:schemeClr>
          </a:solidFill>
          <a:ln w="19050" algn="ctr">
            <a:solidFill>
              <a:srgbClr val="FF0000"/>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0178" name="Rectangle 2"/>
          <p:cNvSpPr>
            <a:spLocks noGrp="1" noChangeArrowheads="1"/>
          </p:cNvSpPr>
          <p:nvPr>
            <p:ph type="title"/>
          </p:nvPr>
        </p:nvSpPr>
        <p:spPr/>
        <p:txBody>
          <a:bodyPr/>
          <a:lstStyle/>
          <a:p>
            <a:pPr eaLnBrk="1" hangingPunct="1"/>
            <a:r>
              <a:rPr lang="zh-CN" altLang="en-US" dirty="0">
                <a:latin typeface="Arial Black" panose="020B0A04020102020204" pitchFamily="34" charset="0"/>
              </a:rPr>
              <a:t>数据相关流水线时空图</a:t>
            </a:r>
            <a:endParaRPr lang="zh-CN" altLang="en-US" dirty="0">
              <a:latin typeface="Arial Black" panose="020B0A04020102020204" pitchFamily="34" charset="0"/>
            </a:endParaRPr>
          </a:p>
        </p:txBody>
      </p:sp>
      <p:sp>
        <p:nvSpPr>
          <p:cNvPr id="42" name="矩形 41"/>
          <p:cNvSpPr/>
          <p:nvPr/>
        </p:nvSpPr>
        <p:spPr>
          <a:xfrm flipH="1">
            <a:off x="2781432" y="4704681"/>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3" name="矩形 42"/>
          <p:cNvSpPr/>
          <p:nvPr/>
        </p:nvSpPr>
        <p:spPr>
          <a:xfrm flipH="1">
            <a:off x="3464404"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6" name="矩形 45"/>
          <p:cNvSpPr/>
          <p:nvPr/>
        </p:nvSpPr>
        <p:spPr>
          <a:xfrm flipH="1">
            <a:off x="4147376" y="4704681"/>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7" name="矩形 46"/>
          <p:cNvSpPr/>
          <p:nvPr/>
        </p:nvSpPr>
        <p:spPr>
          <a:xfrm flipH="1">
            <a:off x="4830348" y="4704681"/>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6" name="矩形 55"/>
          <p:cNvSpPr/>
          <p:nvPr/>
        </p:nvSpPr>
        <p:spPr>
          <a:xfrm flipH="1">
            <a:off x="5513320" y="4704681"/>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5</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7" name="矩形 56"/>
          <p:cNvSpPr/>
          <p:nvPr/>
        </p:nvSpPr>
        <p:spPr>
          <a:xfrm flipH="1">
            <a:off x="6196292" y="4704681"/>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5</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8" name="矩形 57"/>
          <p:cNvSpPr/>
          <p:nvPr/>
        </p:nvSpPr>
        <p:spPr>
          <a:xfrm flipH="1">
            <a:off x="6879264" y="4704681"/>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5</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59" name="矩形 58"/>
          <p:cNvSpPr/>
          <p:nvPr/>
        </p:nvSpPr>
        <p:spPr>
          <a:xfrm flipH="1">
            <a:off x="7562236" y="4704681"/>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6</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60" name="矩形 59"/>
          <p:cNvSpPr/>
          <p:nvPr/>
        </p:nvSpPr>
        <p:spPr>
          <a:xfrm flipH="1">
            <a:off x="8245208" y="4704681"/>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7</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4" name="矩形 73"/>
          <p:cNvSpPr/>
          <p:nvPr/>
        </p:nvSpPr>
        <p:spPr>
          <a:xfrm flipH="1">
            <a:off x="3464404" y="4021709"/>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5" name="矩形 74"/>
          <p:cNvSpPr/>
          <p:nvPr/>
        </p:nvSpPr>
        <p:spPr>
          <a:xfrm flipH="1">
            <a:off x="4147376" y="4021709"/>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6" name="矩形 75"/>
          <p:cNvSpPr/>
          <p:nvPr/>
        </p:nvSpPr>
        <p:spPr>
          <a:xfrm flipH="1">
            <a:off x="4830348" y="4021709"/>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9" name="矩形 78"/>
          <p:cNvSpPr/>
          <p:nvPr/>
        </p:nvSpPr>
        <p:spPr>
          <a:xfrm flipH="1">
            <a:off x="6879264" y="4021709"/>
            <a:ext cx="682972" cy="682972"/>
          </a:xfrm>
          <a:prstGeom prst="rect">
            <a:avLst/>
          </a:prstGeom>
          <a:solidFill>
            <a:schemeClr val="accent2">
              <a:lumMod val="40000"/>
              <a:lumOff val="60000"/>
            </a:schemeClr>
          </a:solidFill>
          <a:ln w="19050" algn="ctr">
            <a:solidFill>
              <a:srgbClr val="FF000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rPr>
              <a:t>4</a:t>
            </a:r>
            <a:endPar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0" name="矩形 79"/>
          <p:cNvSpPr/>
          <p:nvPr/>
        </p:nvSpPr>
        <p:spPr>
          <a:xfrm flipH="1">
            <a:off x="7562236" y="4021709"/>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5</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1" name="矩形 80"/>
          <p:cNvSpPr/>
          <p:nvPr/>
        </p:nvSpPr>
        <p:spPr>
          <a:xfrm flipH="1">
            <a:off x="8245208" y="4021709"/>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6</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5" name="矩形 84"/>
          <p:cNvSpPr/>
          <p:nvPr/>
        </p:nvSpPr>
        <p:spPr>
          <a:xfrm flipH="1">
            <a:off x="4147376" y="3338737"/>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6" name="矩形 85"/>
          <p:cNvSpPr/>
          <p:nvPr/>
        </p:nvSpPr>
        <p:spPr>
          <a:xfrm flipH="1">
            <a:off x="4830348" y="3338737"/>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0" name="矩形 89"/>
          <p:cNvSpPr/>
          <p:nvPr/>
        </p:nvSpPr>
        <p:spPr>
          <a:xfrm flipH="1">
            <a:off x="7562236" y="3338737"/>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rPr>
              <a:t>4</a:t>
            </a:r>
            <a:endPar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1" name="矩形 90"/>
          <p:cNvSpPr/>
          <p:nvPr/>
        </p:nvSpPr>
        <p:spPr>
          <a:xfrm flipH="1">
            <a:off x="8245208" y="3338737"/>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5</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6" name="矩形 95"/>
          <p:cNvSpPr/>
          <p:nvPr/>
        </p:nvSpPr>
        <p:spPr>
          <a:xfrm flipH="1">
            <a:off x="4830348" y="2655765"/>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7" name="矩形 96"/>
          <p:cNvSpPr/>
          <p:nvPr/>
        </p:nvSpPr>
        <p:spPr>
          <a:xfrm flipH="1">
            <a:off x="5513320" y="2655765"/>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1" name="矩形 100"/>
          <p:cNvSpPr/>
          <p:nvPr/>
        </p:nvSpPr>
        <p:spPr>
          <a:xfrm flipH="1">
            <a:off x="8245208" y="2655765"/>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rPr>
              <a:t>4</a:t>
            </a:r>
            <a:endPar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7" name="矩形 106"/>
          <p:cNvSpPr/>
          <p:nvPr/>
        </p:nvSpPr>
        <p:spPr>
          <a:xfrm flipH="1">
            <a:off x="5513320" y="1972793"/>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8" name="矩形 107"/>
          <p:cNvSpPr/>
          <p:nvPr/>
        </p:nvSpPr>
        <p:spPr>
          <a:xfrm flipH="1">
            <a:off x="6196292" y="1972793"/>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9" name="矩形 108"/>
          <p:cNvSpPr/>
          <p:nvPr/>
        </p:nvSpPr>
        <p:spPr>
          <a:xfrm flipH="1">
            <a:off x="6879264" y="1972793"/>
            <a:ext cx="682972" cy="682972"/>
          </a:xfrm>
          <a:prstGeom prst="rect">
            <a:avLst/>
          </a:prstGeom>
          <a:solidFill>
            <a:srgbClr val="00B0F0"/>
          </a:solidFill>
          <a:ln w="19050" algn="ctr">
            <a:solidFill>
              <a:srgbClr val="FF000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3</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2" name="Line 5"/>
          <p:cNvSpPr>
            <a:spLocks noChangeShapeType="1"/>
          </p:cNvSpPr>
          <p:nvPr/>
        </p:nvSpPr>
        <p:spPr bwMode="auto">
          <a:xfrm>
            <a:off x="2782908" y="5388094"/>
            <a:ext cx="7132841"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3" name="Line 6"/>
          <p:cNvSpPr>
            <a:spLocks noChangeShapeType="1"/>
          </p:cNvSpPr>
          <p:nvPr/>
        </p:nvSpPr>
        <p:spPr bwMode="auto">
          <a:xfrm flipH="1" flipV="1">
            <a:off x="2782907" y="1546030"/>
            <a:ext cx="0" cy="3842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14" name="Text Box 7"/>
          <p:cNvSpPr txBox="1">
            <a:spLocks noChangeArrowheads="1"/>
          </p:cNvSpPr>
          <p:nvPr/>
        </p:nvSpPr>
        <p:spPr bwMode="auto">
          <a:xfrm>
            <a:off x="9382500" y="5392252"/>
            <a:ext cx="1066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defPPr>
              <a:defRPr lang="zh-CN"/>
            </a:defPPr>
            <a:lvl1pPr algn="r" fontAlgn="base">
              <a:spcBef>
                <a:spcPct val="50000"/>
              </a:spcBef>
              <a:spcAft>
                <a:spcPct val="0"/>
              </a:spcAft>
              <a:buFont typeface="Arial" panose="020B0604020202020204" pitchFamily="34" charset="0"/>
              <a:buNone/>
              <a:defRPr b="1">
                <a:latin typeface="微软雅黑" panose="020B0503020204020204" pitchFamily="34" charset="-122"/>
                <a:ea typeface="微软雅黑" panose="020B0503020204020204" pitchFamily="34" charset="-122"/>
                <a:cs typeface="Segoe UI Black" panose="020B0A02040204020203" pitchFamily="34" charset="0"/>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时间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15" name="Text Box 23"/>
          <p:cNvSpPr txBox="1">
            <a:spLocks noChangeArrowheads="1"/>
          </p:cNvSpPr>
          <p:nvPr/>
        </p:nvSpPr>
        <p:spPr bwMode="auto">
          <a:xfrm>
            <a:off x="1966464" y="4847753"/>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IF</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6" name="Text Box 24"/>
          <p:cNvSpPr txBox="1">
            <a:spLocks noChangeArrowheads="1"/>
          </p:cNvSpPr>
          <p:nvPr/>
        </p:nvSpPr>
        <p:spPr bwMode="auto">
          <a:xfrm>
            <a:off x="1971744" y="4144311"/>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ID</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7" name="Text Box 25"/>
          <p:cNvSpPr txBox="1">
            <a:spLocks noChangeArrowheads="1"/>
          </p:cNvSpPr>
          <p:nvPr/>
        </p:nvSpPr>
        <p:spPr bwMode="auto">
          <a:xfrm>
            <a:off x="1994434" y="3429626"/>
            <a:ext cx="838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EX</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8" name="Text Box 26"/>
          <p:cNvSpPr txBox="1">
            <a:spLocks noChangeArrowheads="1"/>
          </p:cNvSpPr>
          <p:nvPr/>
        </p:nvSpPr>
        <p:spPr bwMode="auto">
          <a:xfrm>
            <a:off x="1844167" y="2796588"/>
            <a:ext cx="10053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MEM</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19" name="Text Box 27"/>
          <p:cNvSpPr txBox="1">
            <a:spLocks noChangeArrowheads="1"/>
          </p:cNvSpPr>
          <p:nvPr/>
        </p:nvSpPr>
        <p:spPr bwMode="auto">
          <a:xfrm>
            <a:off x="1759238" y="1355509"/>
            <a:ext cx="989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空间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rPr>
              <a:t>s</a:t>
            </a:r>
            <a:endParaRPr kumimoji="0" lang="en-US" altLang="zh-CN" sz="1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21" name="Text Box 26"/>
          <p:cNvSpPr txBox="1">
            <a:spLocks noChangeArrowheads="1"/>
          </p:cNvSpPr>
          <p:nvPr/>
        </p:nvSpPr>
        <p:spPr bwMode="auto">
          <a:xfrm>
            <a:off x="2123400" y="2139707"/>
            <a:ext cx="717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WB</a:t>
            </a:r>
            <a:endParaRPr kumimoji="0" lang="en-US" altLang="zh-CN" sz="1800" b="0" i="0" u="none" strike="noStrike" kern="1200" cap="none" spc="0" normalizeH="0" baseline="-25000" noProof="0" dirty="0">
              <a:ln>
                <a:noFill/>
              </a:ln>
              <a:solidFill>
                <a:prstClr val="black"/>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26" name="Line 9"/>
          <p:cNvSpPr>
            <a:spLocks noChangeShapeType="1"/>
          </p:cNvSpPr>
          <p:nvPr/>
        </p:nvSpPr>
        <p:spPr bwMode="auto">
          <a:xfrm flipV="1">
            <a:off x="346440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7" name="Line 9"/>
          <p:cNvSpPr>
            <a:spLocks noChangeShapeType="1"/>
          </p:cNvSpPr>
          <p:nvPr/>
        </p:nvSpPr>
        <p:spPr bwMode="auto">
          <a:xfrm flipV="1">
            <a:off x="414737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8" name="Line 9"/>
          <p:cNvSpPr>
            <a:spLocks noChangeShapeType="1"/>
          </p:cNvSpPr>
          <p:nvPr/>
        </p:nvSpPr>
        <p:spPr bwMode="auto">
          <a:xfrm flipV="1">
            <a:off x="4830348"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29" name="Line 9"/>
          <p:cNvSpPr>
            <a:spLocks noChangeShapeType="1"/>
          </p:cNvSpPr>
          <p:nvPr/>
        </p:nvSpPr>
        <p:spPr bwMode="auto">
          <a:xfrm flipV="1">
            <a:off x="5513320"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0" name="Line 9"/>
          <p:cNvSpPr>
            <a:spLocks noChangeShapeType="1"/>
          </p:cNvSpPr>
          <p:nvPr/>
        </p:nvSpPr>
        <p:spPr bwMode="auto">
          <a:xfrm flipV="1">
            <a:off x="6196292"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1" name="Line 9"/>
          <p:cNvSpPr>
            <a:spLocks noChangeShapeType="1"/>
          </p:cNvSpPr>
          <p:nvPr/>
        </p:nvSpPr>
        <p:spPr bwMode="auto">
          <a:xfrm flipV="1">
            <a:off x="6879264"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2" name="Line 9"/>
          <p:cNvSpPr>
            <a:spLocks noChangeShapeType="1"/>
          </p:cNvSpPr>
          <p:nvPr/>
        </p:nvSpPr>
        <p:spPr bwMode="auto">
          <a:xfrm flipV="1">
            <a:off x="7562236" y="1958067"/>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sp>
        <p:nvSpPr>
          <p:cNvPr id="134" name="Line 9"/>
          <p:cNvSpPr>
            <a:spLocks noChangeShapeType="1"/>
          </p:cNvSpPr>
          <p:nvPr/>
        </p:nvSpPr>
        <p:spPr bwMode="auto">
          <a:xfrm flipV="1">
            <a:off x="8928180" y="1969084"/>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3" name="组合 2"/>
          <p:cNvGrpSpPr/>
          <p:nvPr/>
        </p:nvGrpSpPr>
        <p:grpSpPr>
          <a:xfrm>
            <a:off x="6655500" y="1515641"/>
            <a:ext cx="838083" cy="3876611"/>
            <a:chOff x="6655500" y="1515641"/>
            <a:chExt cx="838083" cy="3876611"/>
          </a:xfrm>
        </p:grpSpPr>
        <p:sp>
          <p:nvSpPr>
            <p:cNvPr id="136" name="Text Box 34"/>
            <p:cNvSpPr txBox="1">
              <a:spLocks noChangeArrowheads="1"/>
            </p:cNvSpPr>
            <p:nvPr/>
          </p:nvSpPr>
          <p:spPr bwMode="auto">
            <a:xfrm>
              <a:off x="6655500" y="1515641"/>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2</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2" name="Line 35"/>
            <p:cNvSpPr>
              <a:spLocks noChangeShapeType="1"/>
            </p:cNvSpPr>
            <p:nvPr/>
          </p:nvSpPr>
          <p:spPr bwMode="auto">
            <a:xfrm flipH="1" flipV="1">
              <a:off x="6879607" y="1550189"/>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grpSp>
        <p:nvGrpSpPr>
          <p:cNvPr id="4" name="组合 3"/>
          <p:cNvGrpSpPr/>
          <p:nvPr/>
        </p:nvGrpSpPr>
        <p:grpSpPr>
          <a:xfrm>
            <a:off x="7311154" y="1526638"/>
            <a:ext cx="838083" cy="3865614"/>
            <a:chOff x="7311154" y="1526638"/>
            <a:chExt cx="838083" cy="3865614"/>
          </a:xfrm>
        </p:grpSpPr>
        <p:sp>
          <p:nvSpPr>
            <p:cNvPr id="137" name="Text Box 34"/>
            <p:cNvSpPr txBox="1">
              <a:spLocks noChangeArrowheads="1"/>
            </p:cNvSpPr>
            <p:nvPr/>
          </p:nvSpPr>
          <p:spPr bwMode="auto">
            <a:xfrm>
              <a:off x="7311154"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3" name="Line 35"/>
            <p:cNvSpPr>
              <a:spLocks noChangeShapeType="1"/>
            </p:cNvSpPr>
            <p:nvPr/>
          </p:nvSpPr>
          <p:spPr bwMode="auto">
            <a:xfrm flipH="1" flipV="1">
              <a:off x="7562438" y="1550189"/>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145" name="Rectangle 3"/>
          <p:cNvSpPr txBox="1">
            <a:spLocks noChangeArrowheads="1"/>
          </p:cNvSpPr>
          <p:nvPr/>
        </p:nvSpPr>
        <p:spPr bwMode="auto">
          <a:xfrm>
            <a:off x="4414594" y="5951158"/>
            <a:ext cx="4632281" cy="51930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C000"/>
              </a:buClr>
              <a:buFont typeface="Wingdings" panose="05000000000000000000" pitchFamily="2" charset="2"/>
              <a:buChar char="n"/>
              <a:defRPr lang="zh-CN" altLang="en-US" sz="2400">
                <a:solidFill>
                  <a:schemeClr val="tx1"/>
                </a:solidFill>
                <a:latin typeface="+mn-ea"/>
                <a:ea typeface="+mn-ea"/>
                <a:cs typeface="+mn-cs"/>
              </a:defRPr>
            </a:lvl1pPr>
            <a:lvl2pPr marL="812800" indent="-355600" algn="l" rtl="0" eaLnBrk="0" fontAlgn="base" hangingPunct="0">
              <a:lnSpc>
                <a:spcPct val="120000"/>
              </a:lnSpc>
              <a:spcBef>
                <a:spcPct val="20000"/>
              </a:spcBef>
              <a:spcAft>
                <a:spcPct val="0"/>
              </a:spcAft>
              <a:buClr>
                <a:srgbClr val="FFC000"/>
              </a:buClr>
              <a:buFont typeface="Wingdings" panose="05000000000000000000" pitchFamily="2" charset="2"/>
              <a:buChar char="p"/>
              <a:defRPr lang="zh-CN" altLang="en-US" sz="2000">
                <a:solidFill>
                  <a:srgbClr val="C00000"/>
                </a:solidFill>
                <a:latin typeface="+mn-ea"/>
                <a:ea typeface="+mn-ea"/>
              </a:defRPr>
            </a:lvl2pPr>
            <a:lvl3pPr marL="1143000" indent="-228600" algn="l" rtl="0" eaLnBrk="0" fontAlgn="base" hangingPunct="0">
              <a:lnSpc>
                <a:spcPct val="120000"/>
              </a:lnSpc>
              <a:spcBef>
                <a:spcPct val="20000"/>
              </a:spcBef>
              <a:spcAft>
                <a:spcPct val="0"/>
              </a:spcAft>
              <a:buClr>
                <a:srgbClr val="FFC000"/>
              </a:buClr>
              <a:buFont typeface="Wingdings" panose="05000000000000000000" pitchFamily="2" charset="2"/>
              <a:buChar char="u"/>
              <a:defRPr lang="zh-CN" altLang="en-US" sz="2000">
                <a:solidFill>
                  <a:schemeClr val="tx1"/>
                </a:solidFill>
                <a:latin typeface="+mn-ea"/>
                <a:ea typeface="+mn-ea"/>
              </a:defRPr>
            </a:lvl3pPr>
            <a:lvl4pPr marL="16002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4pPr>
            <a:lvl5pPr marL="2057400" indent="-228600" algn="l" rtl="0" eaLnBrk="0" fontAlgn="base" hangingPunct="0">
              <a:lnSpc>
                <a:spcPct val="120000"/>
              </a:lnSpc>
              <a:spcBef>
                <a:spcPct val="20000"/>
              </a:spcBef>
              <a:spcAft>
                <a:spcPct val="0"/>
              </a:spcAft>
              <a:buFont typeface="Arial" panose="020B0604020202020204" pitchFamily="34" charset="0"/>
              <a:buChar char="»"/>
              <a:defRPr sz="1600">
                <a:solidFill>
                  <a:schemeClr val="tx1"/>
                </a:solidFill>
                <a:latin typeface="+mn-ea"/>
                <a:ea typeface="+mn-ea"/>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None/>
              <a:defRPr/>
            </a:pPr>
            <a:r>
              <a:rPr lang="zh-CN" altLang="en-US" b="1" kern="0" dirty="0">
                <a:solidFill>
                  <a:srgbClr val="000000"/>
                </a:solidFill>
                <a:latin typeface="微软雅黑" panose="020B0503020204020204" pitchFamily="34" charset="-122"/>
                <a:ea typeface="微软雅黑" panose="020B0503020204020204" pitchFamily="34" charset="-122"/>
              </a:rPr>
              <a:t>流水线暂停两个时钟周期</a:t>
            </a:r>
            <a:endParaRPr kumimoji="0" lang="zh-CN" altLang="en-US" sz="2400" b="1" i="0" u="none" strike="noStrike" kern="0" cap="none" spc="0" normalizeH="0" baseline="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20000"/>
              </a:lnSpc>
              <a:spcBef>
                <a:spcPct val="20000"/>
              </a:spcBef>
              <a:spcAft>
                <a:spcPct val="0"/>
              </a:spcAft>
              <a:buClr>
                <a:srgbClr val="FFC000"/>
              </a:buClr>
              <a:buSzTx/>
              <a:buFont typeface="Wingdings" panose="05000000000000000000" pitchFamily="2" charset="2"/>
              <a:buChar char="n"/>
              <a:defRPr/>
            </a:pP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3305546" y="5392252"/>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6" name="矩形 145"/>
          <p:cNvSpPr/>
          <p:nvPr/>
        </p:nvSpPr>
        <p:spPr>
          <a:xfrm>
            <a:off x="396222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7" name="矩形 146"/>
          <p:cNvSpPr/>
          <p:nvPr/>
        </p:nvSpPr>
        <p:spPr>
          <a:xfrm>
            <a:off x="4623346"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8" name="矩形 147"/>
          <p:cNvSpPr/>
          <p:nvPr/>
        </p:nvSpPr>
        <p:spPr>
          <a:xfrm>
            <a:off x="5269314"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9" name="矩形 148"/>
          <p:cNvSpPr/>
          <p:nvPr/>
        </p:nvSpPr>
        <p:spPr>
          <a:xfrm>
            <a:off x="5992958"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0" name="矩形 149"/>
          <p:cNvSpPr/>
          <p:nvPr/>
        </p:nvSpPr>
        <p:spPr>
          <a:xfrm>
            <a:off x="66989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1" name="矩形 150"/>
          <p:cNvSpPr/>
          <p:nvPr/>
        </p:nvSpPr>
        <p:spPr>
          <a:xfrm>
            <a:off x="7309011"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2" name="矩形 151"/>
          <p:cNvSpPr/>
          <p:nvPr/>
        </p:nvSpPr>
        <p:spPr>
          <a:xfrm>
            <a:off x="798580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3" name="矩形 152"/>
          <p:cNvSpPr/>
          <p:nvPr/>
        </p:nvSpPr>
        <p:spPr>
          <a:xfrm>
            <a:off x="8646923" y="5392252"/>
            <a:ext cx="4523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2" name="矩形 81"/>
          <p:cNvSpPr/>
          <p:nvPr/>
        </p:nvSpPr>
        <p:spPr>
          <a:xfrm>
            <a:off x="2628585" y="5360683"/>
            <a:ext cx="3177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 name="矩形 76"/>
          <p:cNvSpPr/>
          <p:nvPr/>
        </p:nvSpPr>
        <p:spPr>
          <a:xfrm flipH="1">
            <a:off x="5513320" y="4021709"/>
            <a:ext cx="682972" cy="682972"/>
          </a:xfrm>
          <a:prstGeom prst="rect">
            <a:avLst/>
          </a:prstGeom>
          <a:solidFill>
            <a:schemeClr val="accent2">
              <a:lumMod val="40000"/>
              <a:lumOff val="60000"/>
            </a:schemeClr>
          </a:solidFill>
          <a:ln w="19050" algn="ctr">
            <a:solidFill>
              <a:srgbClr val="FF0000"/>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600" b="0" i="0" u="none" strike="noStrike" kern="1200" cap="none" spc="0" normalizeH="0" baseline="0" noProof="0" dirty="0">
              <a:ln>
                <a:noFill/>
              </a:ln>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87" name="矩形 86"/>
          <p:cNvSpPr/>
          <p:nvPr/>
        </p:nvSpPr>
        <p:spPr>
          <a:xfrm flipH="1">
            <a:off x="5513320" y="3338737"/>
            <a:ext cx="682972" cy="682972"/>
          </a:xfrm>
          <a:prstGeom prst="rect">
            <a:avLst/>
          </a:prstGeom>
          <a:solidFill>
            <a:srgbClr val="00B0F0"/>
          </a:solidFill>
          <a:ln w="19050" algn="ctr">
            <a:solidFill>
              <a:srgbClr val="FF0000"/>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3</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8" name="矩形 97"/>
          <p:cNvSpPr/>
          <p:nvPr/>
        </p:nvSpPr>
        <p:spPr>
          <a:xfrm flipH="1">
            <a:off x="6196292" y="2655765"/>
            <a:ext cx="682972" cy="682972"/>
          </a:xfrm>
          <a:prstGeom prst="rect">
            <a:avLst/>
          </a:prstGeom>
          <a:solidFill>
            <a:srgbClr val="00B0F0"/>
          </a:solidFill>
          <a:ln w="19050" algn="ctr">
            <a:solidFill>
              <a:srgbClr val="FF0000"/>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I3</a:t>
            </a:r>
            <a:endPar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grpSp>
        <p:nvGrpSpPr>
          <p:cNvPr id="2" name="组合 1"/>
          <p:cNvGrpSpPr/>
          <p:nvPr/>
        </p:nvGrpSpPr>
        <p:grpSpPr>
          <a:xfrm>
            <a:off x="6038552" y="1526638"/>
            <a:ext cx="838083" cy="3861456"/>
            <a:chOff x="6038552" y="1526638"/>
            <a:chExt cx="838083" cy="3861456"/>
          </a:xfrm>
        </p:grpSpPr>
        <p:sp>
          <p:nvSpPr>
            <p:cNvPr id="135" name="Text Box 33"/>
            <p:cNvSpPr txBox="1">
              <a:spLocks noChangeArrowheads="1"/>
            </p:cNvSpPr>
            <p:nvPr/>
          </p:nvSpPr>
          <p:spPr bwMode="auto">
            <a:xfrm>
              <a:off x="6038552"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1</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41" name="Line 32"/>
            <p:cNvSpPr>
              <a:spLocks noChangeShapeType="1"/>
            </p:cNvSpPr>
            <p:nvPr/>
          </p:nvSpPr>
          <p:spPr bwMode="auto">
            <a:xfrm flipV="1">
              <a:off x="6196292" y="1546030"/>
              <a:ext cx="0" cy="3842064"/>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
        <p:nvSpPr>
          <p:cNvPr id="93" name="矩形 92"/>
          <p:cNvSpPr/>
          <p:nvPr/>
        </p:nvSpPr>
        <p:spPr>
          <a:xfrm flipH="1">
            <a:off x="8933716" y="4018000"/>
            <a:ext cx="682972" cy="682972"/>
          </a:xfrm>
          <a:prstGeom prst="rect">
            <a:avLst/>
          </a:prstGeom>
          <a:solidFill>
            <a:srgbClr val="92D05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7</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4" name="矩形 93"/>
          <p:cNvSpPr/>
          <p:nvPr/>
        </p:nvSpPr>
        <p:spPr>
          <a:xfrm flipH="1">
            <a:off x="8933716" y="3335028"/>
            <a:ext cx="682972" cy="682972"/>
          </a:xfrm>
          <a:prstGeom prst="rect">
            <a:avLst/>
          </a:prstGeom>
          <a:solidFill>
            <a:srgbClr val="FF990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6</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95" name="矩形 94"/>
          <p:cNvSpPr/>
          <p:nvPr/>
        </p:nvSpPr>
        <p:spPr>
          <a:xfrm flipH="1">
            <a:off x="8933716" y="2652056"/>
            <a:ext cx="682972" cy="682972"/>
          </a:xfrm>
          <a:prstGeom prst="rect">
            <a:avLst/>
          </a:prstGeom>
          <a:solidFill>
            <a:srgbClr val="7030A0"/>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5</a:t>
            </a:r>
            <a:endParaRPr lang="en-US" altLang="zh-CN" sz="1600" baseline="-25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2" name="矩形 101"/>
          <p:cNvSpPr/>
          <p:nvPr/>
        </p:nvSpPr>
        <p:spPr>
          <a:xfrm flipH="1">
            <a:off x="8933716" y="1969084"/>
            <a:ext cx="682972" cy="682972"/>
          </a:xfrm>
          <a:prstGeom prst="rect">
            <a:avLst/>
          </a:prstGeom>
          <a:solidFill>
            <a:schemeClr val="accent2">
              <a:lumMod val="40000"/>
              <a:lumOff val="60000"/>
            </a:schemeClr>
          </a:solidFill>
          <a:ln w="19050" algn="ctr">
            <a:solidFill>
              <a:schemeClr val="tx1"/>
            </a:solidFill>
            <a:miter lim="800000"/>
            <a:headEnd type="none" w="sm" len="sm"/>
            <a:tailEnd type="none" w="sm" len="sm"/>
          </a:ln>
        </p:spPr>
        <p:txBody>
          <a:bodyPr wrap="none" anchor="ctr"/>
          <a:lstStyle/>
          <a:p>
            <a:pPr algn="ctr" fontAlgn="base">
              <a:spcBef>
                <a:spcPct val="50000"/>
              </a:spcBef>
              <a:spcAft>
                <a:spcPct val="0"/>
              </a:spcAft>
            </a:pPr>
            <a:r>
              <a:rPr lang="en-US" altLang="zh-CN" sz="1600" dirty="0">
                <a:latin typeface="Segoe UI Black" panose="020B0A02040204020203" pitchFamily="34" charset="0"/>
                <a:ea typeface="Segoe UI Black" panose="020B0A02040204020203" pitchFamily="34" charset="0"/>
                <a:cs typeface="Segoe UI Black" panose="020B0A02040204020203" pitchFamily="34" charset="0"/>
              </a:rPr>
              <a:t>I</a:t>
            </a:r>
            <a:r>
              <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rPr>
              <a:t>4</a:t>
            </a:r>
            <a:endParaRPr lang="en-US" altLang="zh-CN" sz="1600" baseline="-25000" dirty="0">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3" name="矩形 102"/>
          <p:cNvSpPr/>
          <p:nvPr/>
        </p:nvSpPr>
        <p:spPr>
          <a:xfrm flipH="1">
            <a:off x="8933716" y="4701950"/>
            <a:ext cx="682972" cy="682972"/>
          </a:xfrm>
          <a:prstGeom prst="rect">
            <a:avLst/>
          </a:prstGeom>
          <a:solidFill>
            <a:srgbClr val="00B0F0"/>
          </a:solidFill>
          <a:ln w="19050" algn="ctr">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600" b="0" i="0" u="none" strike="noStrike" kern="1200" cap="none" spc="0" normalizeH="0" baseline="-2500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8</a:t>
            </a:r>
            <a:endParaRPr kumimoji="0" lang="en-US" altLang="zh-CN" sz="1600" b="0"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04" name="Line 9"/>
          <p:cNvSpPr>
            <a:spLocks noChangeShapeType="1"/>
          </p:cNvSpPr>
          <p:nvPr/>
        </p:nvSpPr>
        <p:spPr bwMode="auto">
          <a:xfrm flipV="1">
            <a:off x="9616688" y="1955336"/>
            <a:ext cx="0" cy="3429586"/>
          </a:xfrm>
          <a:prstGeom prst="line">
            <a:avLst/>
          </a:prstGeom>
          <a:noFill/>
          <a:ln w="19050">
            <a:solidFill>
              <a:srgbClr val="003300"/>
            </a:solidFill>
            <a:prstDash val="sysDot"/>
            <a:roun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chemeClr val="bg1"/>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nvGrpSpPr>
          <p:cNvPr id="105" name="组合 104"/>
          <p:cNvGrpSpPr/>
          <p:nvPr/>
        </p:nvGrpSpPr>
        <p:grpSpPr>
          <a:xfrm>
            <a:off x="9358075" y="1513277"/>
            <a:ext cx="838083" cy="3865614"/>
            <a:chOff x="7311154" y="1526638"/>
            <a:chExt cx="838083" cy="3865614"/>
          </a:xfrm>
        </p:grpSpPr>
        <p:sp>
          <p:nvSpPr>
            <p:cNvPr id="106" name="Text Box 34"/>
            <p:cNvSpPr txBox="1">
              <a:spLocks noChangeArrowheads="1"/>
            </p:cNvSpPr>
            <p:nvPr/>
          </p:nvSpPr>
          <p:spPr bwMode="auto">
            <a:xfrm>
              <a:off x="7311154" y="1526638"/>
              <a:ext cx="8380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000">
                  <a:solidFill>
                    <a:srgbClr val="C00000"/>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I</a:t>
              </a:r>
              <a:r>
                <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rPr>
                <a:t>4</a:t>
              </a:r>
              <a:endParaRPr kumimoji="0" lang="en-US" altLang="zh-CN" sz="1800" b="0" i="0" u="none" strike="noStrike" kern="1200" cap="none" spc="0" normalizeH="0" baseline="-25000" noProof="0" dirty="0">
                <a:ln>
                  <a:noFill/>
                </a:ln>
                <a:solidFill>
                  <a:srgbClr val="2975A9"/>
                </a:solidFill>
                <a:effectLst/>
                <a:uLnTx/>
                <a:uFillTx/>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154" name="Line 35"/>
            <p:cNvSpPr>
              <a:spLocks noChangeShapeType="1"/>
            </p:cNvSpPr>
            <p:nvPr/>
          </p:nvSpPr>
          <p:spPr bwMode="auto">
            <a:xfrm flipH="1" flipV="1">
              <a:off x="7562438" y="1550189"/>
              <a:ext cx="0" cy="38420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600" b="0" i="1" u="none" strike="noStrike" kern="1200" cap="none" spc="0" normalizeH="0" baseline="0" noProof="0">
                <a:ln>
                  <a:noFill/>
                </a:ln>
                <a:solidFill>
                  <a:srgbClr val="000000"/>
                </a:solidFill>
                <a:effectLst/>
                <a:uLnTx/>
                <a:uFillTx/>
                <a:latin typeface="Segoe UI Black" panose="020B0A02040204020203" pitchFamily="34" charset="0"/>
                <a:ea typeface="华文细黑" panose="02010600040101010101" pitchFamily="2" charset="-122"/>
                <a:cs typeface="Segoe UI Black" panose="020B0A02040204020203" pitchFamily="34" charset="0"/>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98758"/>
    </mc:Choice>
    <mc:Fallback>
      <p:transition spd="slow" advTm="987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wipe(down)">
                                      <p:cBhvr>
                                        <p:cTn id="7" dur="500"/>
                                        <p:tgtEl>
                                          <p:spTgt spid="10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wipe(down)">
                                      <p:cBhvr>
                                        <p:cTn id="10" dur="500"/>
                                        <p:tgtEl>
                                          <p:spTgt spid="9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8"/>
                                        </p:tgtEl>
                                        <p:attrNameLst>
                                          <p:attrName>style.visibility</p:attrName>
                                        </p:attrNameLst>
                                      </p:cBhvr>
                                      <p:to>
                                        <p:strVal val="visible"/>
                                      </p:to>
                                    </p:set>
                                    <p:animEffect transition="in" filter="wipe(down)">
                                      <p:cBhvr>
                                        <p:cTn id="13" dur="500"/>
                                        <p:tgtEl>
                                          <p:spTgt spid="9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wipe(down)">
                                      <p:cBhvr>
                                        <p:cTn id="16" dur="500"/>
                                        <p:tgtEl>
                                          <p:spTgt spid="57"/>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9"/>
                                        </p:tgtEl>
                                        <p:attrNameLst>
                                          <p:attrName>style.visibility</p:attrName>
                                        </p:attrNameLst>
                                      </p:cBhvr>
                                      <p:to>
                                        <p:strVal val="visible"/>
                                      </p:to>
                                    </p:set>
                                    <p:animEffect transition="in" filter="wipe(down)">
                                      <p:cBhvr>
                                        <p:cTn id="25" dur="500"/>
                                        <p:tgtEl>
                                          <p:spTgt spid="109"/>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wipe(down)">
                                      <p:cBhvr>
                                        <p:cTn id="28" dur="500"/>
                                        <p:tgtEl>
                                          <p:spTgt spid="7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wipe(down)">
                                      <p:cBhvr>
                                        <p:cTn id="31" dur="500"/>
                                        <p:tgtEl>
                                          <p:spTgt spid="58"/>
                                        </p:tgtEl>
                                      </p:cBhvr>
                                    </p:animEffect>
                                  </p:childTnLst>
                                </p:cTn>
                              </p:par>
                            </p:childTnLst>
                          </p:cTn>
                        </p:par>
                        <p:par>
                          <p:cTn id="32" fill="hold">
                            <p:stCondLst>
                              <p:cond delay="500"/>
                            </p:stCondLst>
                            <p:childTnLst>
                              <p:par>
                                <p:cTn id="33" presetID="22" presetClass="entr" presetSubtype="4"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down)">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90"/>
                                        </p:tgtEl>
                                        <p:attrNameLst>
                                          <p:attrName>style.visibility</p:attrName>
                                        </p:attrNameLst>
                                      </p:cBhvr>
                                      <p:to>
                                        <p:strVal val="visible"/>
                                      </p:to>
                                    </p:set>
                                    <p:animEffect transition="in" filter="wipe(down)">
                                      <p:cBhvr>
                                        <p:cTn id="40" dur="500"/>
                                        <p:tgtEl>
                                          <p:spTgt spid="9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wipe(down)">
                                      <p:cBhvr>
                                        <p:cTn id="43" dur="500"/>
                                        <p:tgtEl>
                                          <p:spTgt spid="80"/>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down)">
                                      <p:cBhvr>
                                        <p:cTn id="46" dur="500"/>
                                        <p:tgtEl>
                                          <p:spTgt spid="5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1"/>
                                        </p:tgtEl>
                                        <p:attrNameLst>
                                          <p:attrName>style.visibility</p:attrName>
                                        </p:attrNameLst>
                                      </p:cBhvr>
                                      <p:to>
                                        <p:strVal val="visible"/>
                                      </p:to>
                                    </p:set>
                                    <p:animEffect transition="in" filter="wipe(down)">
                                      <p:cBhvr>
                                        <p:cTn id="51" dur="500"/>
                                        <p:tgtEl>
                                          <p:spTgt spid="101"/>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91"/>
                                        </p:tgtEl>
                                        <p:attrNameLst>
                                          <p:attrName>style.visibility</p:attrName>
                                        </p:attrNameLst>
                                      </p:cBhvr>
                                      <p:to>
                                        <p:strVal val="visible"/>
                                      </p:to>
                                    </p:set>
                                    <p:animEffect transition="in" filter="wipe(down)">
                                      <p:cBhvr>
                                        <p:cTn id="54" dur="500"/>
                                        <p:tgtEl>
                                          <p:spTgt spid="9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down)">
                                      <p:cBhvr>
                                        <p:cTn id="57" dur="500"/>
                                        <p:tgtEl>
                                          <p:spTgt spid="81"/>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60"/>
                                        </p:tgtEl>
                                        <p:attrNameLst>
                                          <p:attrName>style.visibility</p:attrName>
                                        </p:attrNameLst>
                                      </p:cBhvr>
                                      <p:to>
                                        <p:strVal val="visible"/>
                                      </p:to>
                                    </p:set>
                                    <p:animEffect transition="in" filter="wipe(down)">
                                      <p:cBhvr>
                                        <p:cTn id="60" dur="500"/>
                                        <p:tgtEl>
                                          <p:spTgt spid="60"/>
                                        </p:tgtEl>
                                      </p:cBhvr>
                                    </p:animEffect>
                                  </p:childTnLst>
                                </p:cTn>
                              </p:par>
                            </p:childTnLst>
                          </p:cTn>
                        </p:par>
                        <p:par>
                          <p:cTn id="61" fill="hold">
                            <p:stCondLst>
                              <p:cond delay="500"/>
                            </p:stCondLst>
                            <p:childTnLst>
                              <p:par>
                                <p:cTn id="62" presetID="22" presetClass="entr" presetSubtype="4" fill="hold" grpId="0" nodeType="afterEffect">
                                  <p:stCondLst>
                                    <p:cond delay="0"/>
                                  </p:stCondLst>
                                  <p:childTnLst>
                                    <p:set>
                                      <p:cBhvr>
                                        <p:cTn id="63" dur="1" fill="hold">
                                          <p:stCondLst>
                                            <p:cond delay="0"/>
                                          </p:stCondLst>
                                        </p:cTn>
                                        <p:tgtEl>
                                          <p:spTgt spid="102"/>
                                        </p:tgtEl>
                                        <p:attrNameLst>
                                          <p:attrName>style.visibility</p:attrName>
                                        </p:attrNameLst>
                                      </p:cBhvr>
                                      <p:to>
                                        <p:strVal val="visible"/>
                                      </p:to>
                                    </p:set>
                                    <p:animEffect transition="in" filter="wipe(down)">
                                      <p:cBhvr>
                                        <p:cTn id="64" dur="500"/>
                                        <p:tgtEl>
                                          <p:spTgt spid="102"/>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95"/>
                                        </p:tgtEl>
                                        <p:attrNameLst>
                                          <p:attrName>style.visibility</p:attrName>
                                        </p:attrNameLst>
                                      </p:cBhvr>
                                      <p:to>
                                        <p:strVal val="visible"/>
                                      </p:to>
                                    </p:set>
                                    <p:animEffect transition="in" filter="wipe(down)">
                                      <p:cBhvr>
                                        <p:cTn id="67" dur="500"/>
                                        <p:tgtEl>
                                          <p:spTgt spid="95"/>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wipe(down)">
                                      <p:cBhvr>
                                        <p:cTn id="70" dur="500"/>
                                        <p:tgtEl>
                                          <p:spTgt spid="94"/>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93"/>
                                        </p:tgtEl>
                                        <p:attrNameLst>
                                          <p:attrName>style.visibility</p:attrName>
                                        </p:attrNameLst>
                                      </p:cBhvr>
                                      <p:to>
                                        <p:strVal val="visible"/>
                                      </p:to>
                                    </p:set>
                                    <p:animEffect transition="in" filter="wipe(down)">
                                      <p:cBhvr>
                                        <p:cTn id="73" dur="500"/>
                                        <p:tgtEl>
                                          <p:spTgt spid="93"/>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103"/>
                                        </p:tgtEl>
                                        <p:attrNameLst>
                                          <p:attrName>style.visibility</p:attrName>
                                        </p:attrNameLst>
                                      </p:cBhvr>
                                      <p:to>
                                        <p:strVal val="visible"/>
                                      </p:to>
                                    </p:set>
                                    <p:animEffect transition="in" filter="wipe(down)">
                                      <p:cBhvr>
                                        <p:cTn id="76" dur="500"/>
                                        <p:tgtEl>
                                          <p:spTgt spid="103"/>
                                        </p:tgtEl>
                                      </p:cBhvr>
                                    </p:animEffect>
                                  </p:childTnLst>
                                </p:cTn>
                              </p:par>
                            </p:childTnLst>
                          </p:cTn>
                        </p:par>
                        <p:par>
                          <p:cTn id="77" fill="hold">
                            <p:stCondLst>
                              <p:cond delay="1000"/>
                            </p:stCondLst>
                            <p:childTnLst>
                              <p:par>
                                <p:cTn id="78" presetID="22" presetClass="entr" presetSubtype="4" fill="hold" nodeType="afterEffect">
                                  <p:stCondLst>
                                    <p:cond delay="0"/>
                                  </p:stCondLst>
                                  <p:childTnLst>
                                    <p:set>
                                      <p:cBhvr>
                                        <p:cTn id="79" dur="1" fill="hold">
                                          <p:stCondLst>
                                            <p:cond delay="0"/>
                                          </p:stCondLst>
                                        </p:cTn>
                                        <p:tgtEl>
                                          <p:spTgt spid="105"/>
                                        </p:tgtEl>
                                        <p:attrNameLst>
                                          <p:attrName>style.visibility</p:attrName>
                                        </p:attrNameLst>
                                      </p:cBhvr>
                                      <p:to>
                                        <p:strVal val="visible"/>
                                      </p:to>
                                    </p:set>
                                    <p:animEffect transition="in" filter="wipe(down)">
                                      <p:cBhvr>
                                        <p:cTn id="80" dur="500"/>
                                        <p:tgtEl>
                                          <p:spTgt spid="105"/>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145"/>
                                        </p:tgtEl>
                                        <p:attrNameLst>
                                          <p:attrName>style.visibility</p:attrName>
                                        </p:attrNameLst>
                                      </p:cBhvr>
                                      <p:to>
                                        <p:strVal val="visible"/>
                                      </p:to>
                                    </p:set>
                                    <p:animEffect transition="in" filter="wipe(left)">
                                      <p:cBhvr>
                                        <p:cTn id="84"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ldLvl="0" animBg="1"/>
      <p:bldP spid="57" grpId="0" bldLvl="0" animBg="1"/>
      <p:bldP spid="58" grpId="0" bldLvl="0" animBg="1"/>
      <p:bldP spid="59" grpId="0" bldLvl="0" animBg="1"/>
      <p:bldP spid="60" grpId="0" bldLvl="0" animBg="1"/>
      <p:bldP spid="79" grpId="0" bldLvl="0" animBg="1"/>
      <p:bldP spid="80" grpId="0" bldLvl="0" animBg="1"/>
      <p:bldP spid="81" grpId="0" bldLvl="0" animBg="1"/>
      <p:bldP spid="90" grpId="0" bldLvl="0" animBg="1"/>
      <p:bldP spid="91" grpId="0" bldLvl="0" animBg="1"/>
      <p:bldP spid="101" grpId="0" bldLvl="0" animBg="1"/>
      <p:bldP spid="108" grpId="0" bldLvl="0" animBg="1"/>
      <p:bldP spid="109" grpId="0" bldLvl="0" animBg="1"/>
      <p:bldP spid="145" grpId="0"/>
      <p:bldP spid="98" grpId="0" bldLvl="0" animBg="1"/>
      <p:bldP spid="93" grpId="0" bldLvl="0" animBg="1"/>
      <p:bldP spid="94" grpId="0" bldLvl="0" animBg="1"/>
      <p:bldP spid="95" grpId="0" bldLvl="0" animBg="1"/>
      <p:bldP spid="102" grpId="0" bldLvl="0" animBg="1"/>
      <p:bldP spid="103"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数据相关处理总结</a:t>
            </a:r>
            <a:endParaRPr lang="zh-CN" altLang="en-US" dirty="0"/>
          </a:p>
        </p:txBody>
      </p:sp>
      <p:sp>
        <p:nvSpPr>
          <p:cNvPr id="3" name="内容占位符 2"/>
          <p:cNvSpPr>
            <a:spLocks noGrp="1"/>
          </p:cNvSpPr>
          <p:nvPr>
            <p:ph idx="1"/>
          </p:nvPr>
        </p:nvSpPr>
        <p:spPr>
          <a:xfrm>
            <a:off x="487823" y="942764"/>
            <a:ext cx="10396842" cy="5637024"/>
          </a:xfrm>
        </p:spPr>
        <p:txBody>
          <a:bodyPr>
            <a:normAutofit/>
          </a:bodyPr>
          <a:lstStyle/>
          <a:p>
            <a:pPr>
              <a:lnSpc>
                <a:spcPct val="150000"/>
              </a:lnSpc>
            </a:pPr>
            <a:r>
              <a:rPr lang="en-US" altLang="zh-CN" dirty="0"/>
              <a:t>ID</a:t>
            </a:r>
            <a:r>
              <a:rPr lang="zh-CN" altLang="en-US" dirty="0"/>
              <a:t>段与</a:t>
            </a:r>
            <a:r>
              <a:rPr lang="en-US" altLang="zh-CN" dirty="0"/>
              <a:t>WB</a:t>
            </a:r>
            <a:r>
              <a:rPr lang="zh-CN" altLang="en-US" dirty="0"/>
              <a:t>段相关</a:t>
            </a:r>
            <a:endParaRPr lang="en-US" altLang="zh-CN" dirty="0"/>
          </a:p>
          <a:p>
            <a:pPr lvl="1">
              <a:lnSpc>
                <a:spcPct val="150000"/>
              </a:lnSpc>
            </a:pPr>
            <a:r>
              <a:rPr lang="zh-CN" altLang="en-US" dirty="0"/>
              <a:t>寄存器文件先写后读（下跳沿写入）</a:t>
            </a:r>
            <a:endParaRPr lang="en-US" altLang="zh-CN" dirty="0"/>
          </a:p>
          <a:p>
            <a:pPr>
              <a:lnSpc>
                <a:spcPct val="150000"/>
              </a:lnSpc>
            </a:pPr>
            <a:r>
              <a:rPr lang="en-US" altLang="zh-CN" dirty="0"/>
              <a:t>ID</a:t>
            </a:r>
            <a:r>
              <a:rPr lang="zh-CN" altLang="en-US" dirty="0"/>
              <a:t>段与</a:t>
            </a:r>
            <a:r>
              <a:rPr lang="en-US" altLang="zh-CN" dirty="0"/>
              <a:t>EX</a:t>
            </a:r>
            <a:r>
              <a:rPr lang="zh-CN" altLang="en-US" dirty="0"/>
              <a:t>、</a:t>
            </a:r>
            <a:r>
              <a:rPr lang="en-US" altLang="zh-CN" dirty="0"/>
              <a:t>MEM</a:t>
            </a:r>
            <a:r>
              <a:rPr lang="zh-CN" altLang="en-US" dirty="0"/>
              <a:t>段数据相关</a:t>
            </a:r>
            <a:endParaRPr lang="en-US" altLang="zh-CN" dirty="0"/>
          </a:p>
          <a:p>
            <a:pPr lvl="1">
              <a:lnSpc>
                <a:spcPct val="150000"/>
              </a:lnSpc>
            </a:pPr>
            <a:r>
              <a:rPr lang="zh-CN" altLang="en-US" dirty="0"/>
              <a:t>在</a:t>
            </a:r>
            <a:r>
              <a:rPr lang="en-US" altLang="zh-CN" dirty="0"/>
              <a:t>ID</a:t>
            </a:r>
            <a:r>
              <a:rPr lang="zh-CN" altLang="en-US" dirty="0"/>
              <a:t>段增加</a:t>
            </a:r>
            <a:r>
              <a:rPr lang="zh-CN" altLang="en-US" u="sng" dirty="0">
                <a:solidFill>
                  <a:srgbClr val="C00000"/>
                </a:solidFill>
              </a:rPr>
              <a:t>数据相关检测</a:t>
            </a:r>
            <a:r>
              <a:rPr lang="zh-CN" altLang="en-US" dirty="0"/>
              <a:t>逻辑</a:t>
            </a:r>
            <a:endParaRPr lang="en-US" altLang="zh-CN" dirty="0"/>
          </a:p>
          <a:p>
            <a:pPr lvl="1">
              <a:lnSpc>
                <a:spcPct val="150000"/>
              </a:lnSpc>
            </a:pPr>
            <a:r>
              <a:rPr lang="en-US" altLang="zh-CN" dirty="0"/>
              <a:t>IF</a:t>
            </a:r>
            <a:r>
              <a:rPr lang="zh-CN" altLang="en-US" dirty="0"/>
              <a:t>段，</a:t>
            </a:r>
            <a:r>
              <a:rPr lang="en-US" altLang="zh-CN" dirty="0"/>
              <a:t>ID</a:t>
            </a:r>
            <a:r>
              <a:rPr lang="zh-CN" altLang="en-US" dirty="0"/>
              <a:t>段暂停，应该给出</a:t>
            </a:r>
            <a:r>
              <a:rPr lang="en-US" altLang="zh-CN" dirty="0"/>
              <a:t>PC</a:t>
            </a:r>
            <a:r>
              <a:rPr lang="zh-CN" altLang="en-US" dirty="0"/>
              <a:t>和</a:t>
            </a:r>
            <a:r>
              <a:rPr lang="en-US" altLang="zh-CN" dirty="0"/>
              <a:t>ID/EX</a:t>
            </a:r>
            <a:r>
              <a:rPr lang="zh-CN" altLang="en-US" dirty="0"/>
              <a:t>的阻塞信号</a:t>
            </a:r>
            <a:r>
              <a:rPr lang="en-US" altLang="zh-CN" dirty="0"/>
              <a:t>stall</a:t>
            </a:r>
            <a:endParaRPr lang="en-US" altLang="zh-CN" dirty="0"/>
          </a:p>
          <a:p>
            <a:pPr lvl="2">
              <a:lnSpc>
                <a:spcPct val="150000"/>
              </a:lnSpc>
            </a:pPr>
            <a:r>
              <a:rPr lang="en-US" altLang="zh-CN" dirty="0"/>
              <a:t>stall</a:t>
            </a:r>
            <a:r>
              <a:rPr lang="zh-CN" altLang="en-US" dirty="0"/>
              <a:t>取非</a:t>
            </a:r>
            <a:r>
              <a:rPr lang="zh-CN" altLang="en-US" dirty="0"/>
              <a:t>，控制</a:t>
            </a:r>
            <a:r>
              <a:rPr lang="en-US" altLang="zh-CN" dirty="0"/>
              <a:t>PC</a:t>
            </a:r>
            <a:r>
              <a:rPr lang="zh-CN" altLang="en-US" dirty="0"/>
              <a:t>写使能，</a:t>
            </a:r>
            <a:r>
              <a:rPr lang="en-US" altLang="zh-CN" dirty="0"/>
              <a:t>IF/ID</a:t>
            </a:r>
            <a:r>
              <a:rPr lang="zh-CN" altLang="en-US" dirty="0"/>
              <a:t>流水接口写使能</a:t>
            </a:r>
            <a:endParaRPr lang="en-US" altLang="zh-CN" dirty="0"/>
          </a:p>
          <a:p>
            <a:pPr lvl="2">
              <a:lnSpc>
                <a:spcPct val="150000"/>
              </a:lnSpc>
            </a:pPr>
            <a:r>
              <a:rPr lang="en-US" altLang="zh-CN" dirty="0"/>
              <a:t>IF/ID</a:t>
            </a:r>
            <a:r>
              <a:rPr lang="zh-CN" altLang="en-US" dirty="0"/>
              <a:t>必须</a:t>
            </a:r>
            <a:r>
              <a:rPr lang="zh-CN" altLang="en-US" dirty="0"/>
              <a:t>设计写使能接口</a:t>
            </a:r>
            <a:endParaRPr lang="en-US" altLang="zh-CN" dirty="0"/>
          </a:p>
          <a:p>
            <a:pPr lvl="1">
              <a:lnSpc>
                <a:spcPct val="150000"/>
              </a:lnSpc>
            </a:pPr>
            <a:r>
              <a:rPr lang="en-US" altLang="zh-CN" dirty="0"/>
              <a:t>ID</a:t>
            </a:r>
            <a:r>
              <a:rPr lang="zh-CN" altLang="en-US" dirty="0"/>
              <a:t>向</a:t>
            </a:r>
            <a:r>
              <a:rPr lang="en-US" altLang="zh-CN" dirty="0"/>
              <a:t>EX</a:t>
            </a:r>
            <a:r>
              <a:rPr lang="zh-CN" altLang="en-US" dirty="0"/>
              <a:t>段插入一个气泡  （给出</a:t>
            </a:r>
            <a:r>
              <a:rPr lang="en-US" altLang="zh-CN" dirty="0"/>
              <a:t>ID/EX</a:t>
            </a:r>
            <a:r>
              <a:rPr lang="zh-CN" altLang="en-US" dirty="0"/>
              <a:t>接口同步清零信号）</a:t>
            </a:r>
            <a:endParaRPr lang="zh-CN" altLang="en-US" dirty="0"/>
          </a:p>
          <a:p>
            <a:pPr lvl="1">
              <a:lnSpc>
                <a:spcPct val="150000"/>
              </a:lnSpc>
            </a:pPr>
            <a:r>
              <a:rPr lang="zh-CN" altLang="en-US" dirty="0"/>
              <a:t>下一时刻如果相关解除，暂停信号，气泡信号也自然解除</a:t>
            </a:r>
            <a:endParaRPr lang="en-US" altLang="zh-CN" dirty="0"/>
          </a:p>
          <a:p>
            <a:pPr marL="0" indent="0">
              <a:buNone/>
            </a:pPr>
            <a:endParaRPr lang="zh-CN" altLang="en-US" dirty="0"/>
          </a:p>
          <a:p>
            <a:pPr lvl="1"/>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advTm="91444"/>
    </mc:Choice>
    <mc:Fallback>
      <p:transition spd="slow" advTm="91444"/>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数据相关检测逻辑</a:t>
            </a:r>
            <a:endParaRPr lang="zh-CN" altLang="en-US" dirty="0"/>
          </a:p>
        </p:txBody>
      </p:sp>
      <p:sp>
        <p:nvSpPr>
          <p:cNvPr id="3" name="内容占位符 2"/>
          <p:cNvSpPr>
            <a:spLocks noGrp="1"/>
          </p:cNvSpPr>
          <p:nvPr>
            <p:ph idx="1"/>
          </p:nvPr>
        </p:nvSpPr>
        <p:spPr>
          <a:xfrm>
            <a:off x="487822" y="942764"/>
            <a:ext cx="10683281" cy="5637024"/>
          </a:xfrm>
        </p:spPr>
        <p:txBody>
          <a:bodyPr>
            <a:normAutofit lnSpcReduction="10000"/>
          </a:bodyPr>
          <a:lstStyle/>
          <a:p>
            <a:r>
              <a:rPr lang="zh-CN" altLang="en-US" dirty="0"/>
              <a:t>相关检测逻辑</a:t>
            </a:r>
            <a:endParaRPr lang="en-US" altLang="zh-CN" dirty="0"/>
          </a:p>
          <a:p>
            <a:pPr lvl="1"/>
            <a:r>
              <a:rPr lang="en-US" altLang="zh-CN" dirty="0"/>
              <a:t>ID</a:t>
            </a:r>
            <a:r>
              <a:rPr lang="zh-CN" altLang="en-US" dirty="0"/>
              <a:t>段当前指令读寄存器与后续</a:t>
            </a:r>
            <a:r>
              <a:rPr lang="en-US" altLang="zh-CN" dirty="0"/>
              <a:t>2</a:t>
            </a:r>
            <a:r>
              <a:rPr lang="zh-CN" altLang="en-US" dirty="0"/>
              <a:t>条指令写寄存器相同</a:t>
            </a:r>
            <a:endParaRPr lang="en-US" altLang="zh-CN" dirty="0"/>
          </a:p>
          <a:p>
            <a:pPr lvl="2"/>
            <a:r>
              <a:rPr lang="en-US" altLang="zh-CN" dirty="0"/>
              <a:t>(</a:t>
            </a:r>
            <a:r>
              <a:rPr lang="en-US" altLang="zh-CN" dirty="0" err="1"/>
              <a:t>ID.ReadReg</a:t>
            </a:r>
            <a:r>
              <a:rPr lang="en-US" altLang="zh-CN" dirty="0"/>
              <a:t># ==     </a:t>
            </a:r>
            <a:r>
              <a:rPr lang="en-US" altLang="zh-CN" dirty="0" err="1"/>
              <a:t>EX.WriteReg</a:t>
            </a:r>
            <a:r>
              <a:rPr lang="en-US" altLang="zh-CN" dirty="0"/>
              <a:t>#</a:t>
            </a:r>
            <a:r>
              <a:rPr lang="zh-CN" altLang="en-US" dirty="0"/>
              <a:t>） </a:t>
            </a:r>
            <a:r>
              <a:rPr lang="en-US" altLang="zh-CN" dirty="0"/>
              <a:t>&amp;&amp; </a:t>
            </a:r>
            <a:r>
              <a:rPr lang="zh-CN" altLang="en-US" dirty="0"/>
              <a:t>（    </a:t>
            </a:r>
            <a:r>
              <a:rPr lang="en-US" altLang="zh-CN" dirty="0" err="1"/>
              <a:t>EX.RegWrite</a:t>
            </a:r>
            <a:r>
              <a:rPr lang="en-US" altLang="zh-CN" dirty="0"/>
              <a:t>==1</a:t>
            </a:r>
            <a:r>
              <a:rPr lang="zh-CN" altLang="en-US" dirty="0"/>
              <a:t>）</a:t>
            </a:r>
            <a:endParaRPr lang="en-US" altLang="zh-CN" dirty="0"/>
          </a:p>
          <a:p>
            <a:pPr lvl="2"/>
            <a:r>
              <a:rPr lang="en-US" altLang="zh-CN" dirty="0"/>
              <a:t>(</a:t>
            </a:r>
            <a:r>
              <a:rPr lang="en-US" altLang="zh-CN" dirty="0" err="1"/>
              <a:t>ID.ReadReg</a:t>
            </a:r>
            <a:r>
              <a:rPr lang="en-US" altLang="zh-CN" dirty="0"/>
              <a:t># == </a:t>
            </a:r>
            <a:r>
              <a:rPr lang="en-US" altLang="zh-CN" dirty="0" err="1"/>
              <a:t>MEM.WriteReg</a:t>
            </a:r>
            <a:r>
              <a:rPr lang="en-US" altLang="zh-CN" dirty="0"/>
              <a:t>#</a:t>
            </a:r>
            <a:r>
              <a:rPr lang="zh-CN" altLang="en-US" dirty="0"/>
              <a:t>） </a:t>
            </a:r>
            <a:r>
              <a:rPr lang="en-US" altLang="zh-CN" dirty="0"/>
              <a:t>&amp;&amp; </a:t>
            </a:r>
            <a:r>
              <a:rPr lang="zh-CN" altLang="en-US" dirty="0"/>
              <a:t>（</a:t>
            </a:r>
            <a:r>
              <a:rPr lang="en-US" altLang="zh-CN" dirty="0" err="1"/>
              <a:t>MEM.RegWrite</a:t>
            </a:r>
            <a:r>
              <a:rPr lang="en-US" altLang="zh-CN" dirty="0"/>
              <a:t>==1</a:t>
            </a:r>
            <a:r>
              <a:rPr lang="zh-CN" altLang="en-US" dirty="0"/>
              <a:t>）</a:t>
            </a:r>
            <a:endParaRPr lang="en-US" altLang="zh-CN" dirty="0"/>
          </a:p>
          <a:p>
            <a:pPr lvl="2"/>
            <a:r>
              <a:rPr lang="en-US" altLang="zh-CN" dirty="0"/>
              <a:t>0</a:t>
            </a:r>
            <a:r>
              <a:rPr lang="zh-CN" altLang="en-US" dirty="0"/>
              <a:t>号寄存器不考虑相关性</a:t>
            </a:r>
            <a:endParaRPr lang="en-US" altLang="zh-CN" dirty="0"/>
          </a:p>
          <a:p>
            <a:r>
              <a:rPr lang="en-US" altLang="zh-CN" dirty="0"/>
              <a:t>ID</a:t>
            </a:r>
            <a:r>
              <a:rPr lang="zh-CN" altLang="en-US" dirty="0"/>
              <a:t>段包括</a:t>
            </a:r>
            <a:r>
              <a:rPr lang="en-US" altLang="zh-CN" dirty="0"/>
              <a:t>0~2</a:t>
            </a:r>
            <a:r>
              <a:rPr lang="zh-CN" altLang="en-US" dirty="0"/>
              <a:t>个源寄存器：</a:t>
            </a:r>
            <a:r>
              <a:rPr lang="en-US" altLang="zh-CN" dirty="0"/>
              <a:t>R</a:t>
            </a:r>
            <a:r>
              <a:rPr lang="en-US" altLang="zh-CN" baseline="-25000" dirty="0"/>
              <a:t>1</a:t>
            </a:r>
            <a:r>
              <a:rPr lang="zh-CN" altLang="en-US" dirty="0"/>
              <a:t>，</a:t>
            </a:r>
            <a:r>
              <a:rPr lang="en-US" altLang="zh-CN" dirty="0"/>
              <a:t>R</a:t>
            </a:r>
            <a:r>
              <a:rPr lang="en-US" altLang="zh-CN" baseline="-25000" dirty="0"/>
              <a:t>2    </a:t>
            </a:r>
            <a:r>
              <a:rPr lang="zh-CN" altLang="en-US" dirty="0"/>
              <a:t>是否使用标识：</a:t>
            </a:r>
            <a:r>
              <a:rPr lang="en-US" altLang="zh-CN" dirty="0"/>
              <a:t>R</a:t>
            </a:r>
            <a:r>
              <a:rPr lang="en-US" altLang="zh-CN" baseline="-25000" dirty="0"/>
              <a:t>1</a:t>
            </a:r>
            <a:r>
              <a:rPr lang="en-US" altLang="zh-CN" dirty="0"/>
              <a:t>_Used,R</a:t>
            </a:r>
            <a:r>
              <a:rPr lang="en-US" altLang="zh-CN" baseline="-25000" dirty="0"/>
              <a:t>2</a:t>
            </a:r>
            <a:r>
              <a:rPr lang="en-US" altLang="zh-CN" dirty="0"/>
              <a:t>_Used</a:t>
            </a:r>
            <a:endParaRPr lang="zh-CN" altLang="en-US" dirty="0"/>
          </a:p>
          <a:p>
            <a:pPr lvl="1">
              <a:lnSpc>
                <a:spcPct val="130000"/>
              </a:lnSpc>
            </a:pPr>
            <a:r>
              <a:rPr lang="en-US" altLang="zh-CN" dirty="0"/>
              <a:t>R</a:t>
            </a:r>
            <a:r>
              <a:rPr lang="zh-CN" altLang="en-US" dirty="0"/>
              <a:t>型指令</a:t>
            </a:r>
            <a:endParaRPr lang="en-US" altLang="zh-CN" dirty="0"/>
          </a:p>
          <a:p>
            <a:pPr lvl="2">
              <a:lnSpc>
                <a:spcPct val="130000"/>
              </a:lnSpc>
            </a:pPr>
            <a:r>
              <a:rPr lang="zh-CN" altLang="en-US" dirty="0"/>
              <a:t>运算指令</a:t>
            </a:r>
            <a:r>
              <a:rPr lang="en-US" altLang="zh-CN" dirty="0"/>
              <a:t>	2</a:t>
            </a:r>
            <a:r>
              <a:rPr lang="zh-CN" altLang="en-US" dirty="0"/>
              <a:t>个源操作数</a:t>
            </a:r>
            <a:r>
              <a:rPr lang="en-US" altLang="zh-CN" dirty="0"/>
              <a:t>		R</a:t>
            </a:r>
            <a:r>
              <a:rPr lang="en-US" altLang="zh-CN" baseline="-25000" dirty="0"/>
              <a:t>1</a:t>
            </a:r>
            <a:r>
              <a:rPr lang="en-US" altLang="zh-CN" dirty="0"/>
              <a:t>#=</a:t>
            </a:r>
            <a:r>
              <a:rPr lang="en-US" altLang="zh-CN" dirty="0" err="1"/>
              <a:t>rs</a:t>
            </a:r>
            <a:r>
              <a:rPr lang="en-US" altLang="zh-CN" dirty="0"/>
              <a:t>,   R</a:t>
            </a:r>
            <a:r>
              <a:rPr lang="en-US" altLang="zh-CN" baseline="-25000" dirty="0"/>
              <a:t>2</a:t>
            </a:r>
            <a:r>
              <a:rPr lang="en-US" altLang="zh-CN" dirty="0"/>
              <a:t>#=</a:t>
            </a:r>
            <a:r>
              <a:rPr lang="en-US" altLang="zh-CN" dirty="0" err="1"/>
              <a:t>rt</a:t>
            </a:r>
            <a:endParaRPr lang="en-US" altLang="zh-CN" dirty="0"/>
          </a:p>
          <a:p>
            <a:pPr lvl="2">
              <a:lnSpc>
                <a:spcPct val="130000"/>
              </a:lnSpc>
            </a:pPr>
            <a:r>
              <a:rPr lang="en-US" altLang="zh-CN" dirty="0" err="1"/>
              <a:t>syscall</a:t>
            </a:r>
            <a:r>
              <a:rPr lang="zh-CN" altLang="en-US" dirty="0"/>
              <a:t>指令  </a:t>
            </a:r>
            <a:r>
              <a:rPr lang="en-US" altLang="zh-CN" dirty="0"/>
              <a:t> 	2</a:t>
            </a:r>
            <a:r>
              <a:rPr lang="zh-CN" altLang="en-US" dirty="0"/>
              <a:t>个源操作数    </a:t>
            </a:r>
            <a:r>
              <a:rPr lang="en-US" altLang="zh-CN" dirty="0"/>
              <a:t>		R</a:t>
            </a:r>
            <a:r>
              <a:rPr lang="en-US" altLang="zh-CN" baseline="-25000" dirty="0"/>
              <a:t>1</a:t>
            </a:r>
            <a:r>
              <a:rPr lang="en-US" altLang="zh-CN" dirty="0"/>
              <a:t>#=$v</a:t>
            </a:r>
            <a:r>
              <a:rPr lang="en-US" altLang="zh-CN" baseline="-25000" dirty="0"/>
              <a:t>0</a:t>
            </a:r>
            <a:r>
              <a:rPr lang="en-US" altLang="zh-CN" dirty="0"/>
              <a:t>, R</a:t>
            </a:r>
            <a:r>
              <a:rPr lang="en-US" altLang="zh-CN" baseline="-25000" dirty="0"/>
              <a:t>2</a:t>
            </a:r>
            <a:r>
              <a:rPr lang="en-US" altLang="zh-CN" dirty="0"/>
              <a:t>#=$a</a:t>
            </a:r>
            <a:r>
              <a:rPr lang="en-US" altLang="zh-CN" baseline="-25000" dirty="0"/>
              <a:t>0</a:t>
            </a:r>
            <a:endParaRPr lang="en-US" altLang="zh-CN" baseline="-25000" dirty="0"/>
          </a:p>
          <a:p>
            <a:pPr lvl="2">
              <a:lnSpc>
                <a:spcPct val="130000"/>
              </a:lnSpc>
            </a:pPr>
            <a:r>
              <a:rPr lang="en-US" altLang="zh-CN" dirty="0"/>
              <a:t>Jr </a:t>
            </a:r>
            <a:r>
              <a:rPr lang="zh-CN" altLang="en-US" dirty="0"/>
              <a:t>指令</a:t>
            </a:r>
            <a:r>
              <a:rPr lang="en-US" altLang="zh-CN" dirty="0"/>
              <a:t>	1</a:t>
            </a:r>
            <a:r>
              <a:rPr lang="zh-CN" altLang="en-US" dirty="0"/>
              <a:t>个源操作数 </a:t>
            </a:r>
            <a:r>
              <a:rPr lang="en-US" altLang="zh-CN" dirty="0"/>
              <a:t>		R</a:t>
            </a:r>
            <a:r>
              <a:rPr lang="en-US" altLang="zh-CN" baseline="-25000" dirty="0"/>
              <a:t>1</a:t>
            </a:r>
            <a:r>
              <a:rPr lang="en-US" altLang="zh-CN" dirty="0"/>
              <a:t>#=</a:t>
            </a:r>
            <a:r>
              <a:rPr lang="en-US" altLang="zh-CN" dirty="0" err="1"/>
              <a:t>rs</a:t>
            </a:r>
            <a:endParaRPr lang="en-US" altLang="zh-CN" dirty="0"/>
          </a:p>
          <a:p>
            <a:pPr lvl="1">
              <a:lnSpc>
                <a:spcPct val="130000"/>
              </a:lnSpc>
            </a:pPr>
            <a:r>
              <a:rPr lang="en-US" altLang="zh-CN" dirty="0"/>
              <a:t>I</a:t>
            </a:r>
            <a:r>
              <a:rPr lang="zh-CN" altLang="en-US" dirty="0"/>
              <a:t>型指令              </a:t>
            </a:r>
            <a:r>
              <a:rPr lang="en-US" altLang="zh-CN" dirty="0"/>
              <a:t>1~2</a:t>
            </a:r>
            <a:r>
              <a:rPr lang="zh-CN" altLang="en-US" dirty="0"/>
              <a:t>两个源操作数 </a:t>
            </a:r>
            <a:r>
              <a:rPr lang="en-US" altLang="zh-CN" dirty="0"/>
              <a:t>	R</a:t>
            </a:r>
            <a:r>
              <a:rPr lang="en-US" altLang="zh-CN" baseline="-25000" dirty="0"/>
              <a:t>1</a:t>
            </a:r>
            <a:r>
              <a:rPr lang="en-US" altLang="zh-CN" dirty="0"/>
              <a:t>#=</a:t>
            </a:r>
            <a:r>
              <a:rPr lang="en-US" altLang="zh-CN" dirty="0" err="1"/>
              <a:t>rs</a:t>
            </a:r>
            <a:r>
              <a:rPr lang="en-US" altLang="zh-CN" dirty="0"/>
              <a:t>,   R</a:t>
            </a:r>
            <a:r>
              <a:rPr lang="en-US" altLang="zh-CN" baseline="-25000" dirty="0"/>
              <a:t>2</a:t>
            </a:r>
            <a:r>
              <a:rPr lang="en-US" altLang="zh-CN" dirty="0"/>
              <a:t>#=</a:t>
            </a:r>
            <a:r>
              <a:rPr lang="en-US" altLang="zh-CN" dirty="0" err="1"/>
              <a:t>rt</a:t>
            </a:r>
            <a:endParaRPr lang="zh-CN" altLang="en-US" baseline="-25000" dirty="0"/>
          </a:p>
          <a:p>
            <a:pPr>
              <a:lnSpc>
                <a:spcPct val="130000"/>
              </a:lnSpc>
            </a:pPr>
            <a:r>
              <a:rPr lang="zh-CN" altLang="en-US" dirty="0"/>
              <a:t>不同类型指令包含写入</a:t>
            </a:r>
            <a:r>
              <a:rPr lang="en-US" altLang="zh-CN" dirty="0"/>
              <a:t>0~1</a:t>
            </a:r>
            <a:r>
              <a:rPr lang="zh-CN" altLang="en-US" dirty="0"/>
              <a:t>个写入寄存器</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01975"/>
    </mc:Choice>
    <mc:Fallback>
      <p:transition spd="slow" advTm="1019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wipe(down)">
                                      <p:cBhvr>
                                        <p:cTn id="22" dur="500"/>
                                        <p:tgtEl>
                                          <p:spTgt spid="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wipe(down)">
                                      <p:cBhvr>
                                        <p:cTn id="2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87680" y="257810"/>
            <a:ext cx="11870690" cy="617855"/>
          </a:xfrm>
        </p:spPr>
        <p:txBody>
          <a:bodyPr>
            <a:normAutofit fontScale="90000"/>
          </a:bodyPr>
          <a:p>
            <a:r>
              <a:rPr lang="zh-CN" altLang="en-US"/>
              <a:t>数据冲突判断：</a:t>
            </a:r>
            <a:r>
              <a:rPr lang="en-US" altLang="zh-CN">
                <a:sym typeface="+mn-ea"/>
              </a:rPr>
              <a:t>Stall=1</a:t>
            </a:r>
            <a:br>
              <a:rPr lang="en-US" altLang="zh-CN">
                <a:sym typeface="+mn-ea"/>
              </a:rPr>
            </a:br>
            <a:r>
              <a:rPr lang="zh-CN" altLang="en-US">
                <a:sym typeface="+mn-ea"/>
              </a:rPr>
              <a:t>会造成</a:t>
            </a:r>
            <a:r>
              <a:rPr lang="en-US" altLang="zh-CN">
                <a:sym typeface="+mn-ea"/>
              </a:rPr>
              <a:t>PC</a:t>
            </a:r>
            <a:r>
              <a:rPr lang="zh-CN" altLang="en-US">
                <a:sym typeface="+mn-ea"/>
              </a:rPr>
              <a:t>和</a:t>
            </a:r>
            <a:r>
              <a:rPr lang="en-US" altLang="zh-CN">
                <a:sym typeface="+mn-ea"/>
              </a:rPr>
              <a:t>IF/ID</a:t>
            </a:r>
            <a:r>
              <a:rPr lang="zh-CN" altLang="en-US">
                <a:sym typeface="+mn-ea"/>
              </a:rPr>
              <a:t>保持，</a:t>
            </a:r>
            <a:r>
              <a:rPr lang="en-US" altLang="zh-CN">
                <a:sym typeface="+mn-ea"/>
              </a:rPr>
              <a:t>ID/EX</a:t>
            </a:r>
            <a:r>
              <a:rPr lang="zh-CN" altLang="en-US">
                <a:sym typeface="+mn-ea"/>
              </a:rPr>
              <a:t>清零（</a:t>
            </a:r>
            <a:r>
              <a:rPr lang="zh-CN" altLang="en-US">
                <a:sym typeface="+mn-ea"/>
              </a:rPr>
              <a:t>加入气泡）</a:t>
            </a:r>
            <a:endParaRPr lang="zh-CN" altLang="en-US">
              <a:sym typeface="+mn-ea"/>
            </a:endParaRPr>
          </a:p>
        </p:txBody>
      </p:sp>
      <p:sp>
        <p:nvSpPr>
          <p:cNvPr id="3" name="内容占位符 2"/>
          <p:cNvSpPr>
            <a:spLocks noGrp="1"/>
          </p:cNvSpPr>
          <p:nvPr>
            <p:ph idx="1"/>
          </p:nvPr>
        </p:nvSpPr>
        <p:spPr>
          <a:xfrm>
            <a:off x="487680" y="942975"/>
            <a:ext cx="7564120" cy="5636895"/>
          </a:xfrm>
        </p:spPr>
        <p:txBody>
          <a:bodyPr/>
          <a:p>
            <a:pPr marL="0" indent="0">
              <a:buNone/>
            </a:pPr>
            <a:r>
              <a:rPr lang="en-US" altLang="zh-CN" sz="1600"/>
              <a:t>S</a:t>
            </a:r>
            <a:r>
              <a:rPr lang="en-US" altLang="zh-CN" sz="1600"/>
              <a:t>tall=RsUsed &amp; (rs≠0) &amp; EX.RegWrite &amp; (rs==EX.WriteReg#)</a:t>
            </a:r>
            <a:endParaRPr lang="en-US" altLang="zh-CN" sz="1600"/>
          </a:p>
          <a:p>
            <a:pPr marL="0" indent="0">
              <a:buNone/>
            </a:pPr>
            <a:r>
              <a:rPr lang="en-US" altLang="zh-CN" sz="1600"/>
              <a:t>+ RtUsed &amp; (rt≠0) &amp; EX.RegWrite &amp; (rt==EX.WriteReg#)</a:t>
            </a:r>
            <a:endParaRPr lang="en-US" altLang="zh-CN" sz="1600"/>
          </a:p>
          <a:p>
            <a:pPr marL="0" indent="0">
              <a:buNone/>
            </a:pPr>
            <a:r>
              <a:rPr lang="en-US" altLang="zh-CN" sz="1600"/>
              <a:t>+ RsUsed &amp; (rs≠0) &amp; MEM.RegWrite &amp; (rs== MEM.WriteReg#)</a:t>
            </a:r>
            <a:endParaRPr lang="en-US" altLang="zh-CN" sz="1600"/>
          </a:p>
          <a:p>
            <a:pPr marL="0" indent="0">
              <a:buNone/>
            </a:pPr>
            <a:r>
              <a:rPr lang="en-US" altLang="zh-CN" sz="1600"/>
              <a:t>+ RtUsed &amp; (rt≠0) &amp; MEM.RegWrite &amp; (rt== MEM.WriteReg#)</a:t>
            </a:r>
            <a:endParaRPr lang="en-US" altLang="zh-CN" sz="1600"/>
          </a:p>
        </p:txBody>
      </p:sp>
      <p:pic>
        <p:nvPicPr>
          <p:cNvPr id="4" name="图片 3"/>
          <p:cNvPicPr>
            <a:picLocks noChangeAspect="1"/>
          </p:cNvPicPr>
          <p:nvPr/>
        </p:nvPicPr>
        <p:blipFill>
          <a:blip r:embed="rId1"/>
          <a:stretch>
            <a:fillRect/>
          </a:stretch>
        </p:blipFill>
        <p:spPr>
          <a:xfrm>
            <a:off x="8163560" y="78740"/>
            <a:ext cx="3769995" cy="6699885"/>
          </a:xfrm>
          <a:prstGeom prst="rect">
            <a:avLst/>
          </a:prstGeom>
        </p:spPr>
      </p:pic>
      <p:pic>
        <p:nvPicPr>
          <p:cNvPr id="6" name="图片 5"/>
          <p:cNvPicPr>
            <a:picLocks noChangeAspect="1"/>
          </p:cNvPicPr>
          <p:nvPr/>
        </p:nvPicPr>
        <p:blipFill>
          <a:blip r:embed="rId2"/>
          <a:stretch>
            <a:fillRect/>
          </a:stretch>
        </p:blipFill>
        <p:spPr>
          <a:xfrm>
            <a:off x="189230" y="2701290"/>
            <a:ext cx="3389630" cy="3312795"/>
          </a:xfrm>
          <a:prstGeom prst="rect">
            <a:avLst/>
          </a:prstGeom>
        </p:spPr>
      </p:pic>
      <p:pic>
        <p:nvPicPr>
          <p:cNvPr id="7" name="图片 6"/>
          <p:cNvPicPr>
            <a:picLocks noChangeAspect="1"/>
          </p:cNvPicPr>
          <p:nvPr/>
        </p:nvPicPr>
        <p:blipFill>
          <a:blip r:embed="rId3"/>
          <a:stretch>
            <a:fillRect/>
          </a:stretch>
        </p:blipFill>
        <p:spPr>
          <a:xfrm>
            <a:off x="3806190" y="2530475"/>
            <a:ext cx="3959860" cy="42481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p:cNvPicPr>
            <a:picLocks noChangeAspect="1"/>
          </p:cNvPicPr>
          <p:nvPr>
            <p:ph idx="1"/>
          </p:nvPr>
        </p:nvPicPr>
        <p:blipFill>
          <a:blip r:embed="rId1"/>
          <a:stretch>
            <a:fillRect/>
          </a:stretch>
        </p:blipFill>
        <p:spPr>
          <a:xfrm>
            <a:off x="110490" y="88900"/>
            <a:ext cx="11828780" cy="6687185"/>
          </a:xfrm>
          <a:prstGeom prst="rect">
            <a:avLst/>
          </a:prstGeom>
        </p:spPr>
      </p:pic>
      <p:sp>
        <p:nvSpPr>
          <p:cNvPr id="7" name="椭圆 6"/>
          <p:cNvSpPr/>
          <p:nvPr/>
        </p:nvSpPr>
        <p:spPr>
          <a:xfrm>
            <a:off x="6938645" y="285750"/>
            <a:ext cx="576580" cy="245745"/>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p:nvSpPr>
        <p:spPr>
          <a:xfrm>
            <a:off x="9895205" y="875030"/>
            <a:ext cx="746760" cy="383540"/>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nvSpPr>
        <p:spPr>
          <a:xfrm>
            <a:off x="7641590" y="1002030"/>
            <a:ext cx="864235" cy="906145"/>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椭圆 9"/>
          <p:cNvSpPr/>
          <p:nvPr/>
        </p:nvSpPr>
        <p:spPr>
          <a:xfrm>
            <a:off x="3029585" y="1524635"/>
            <a:ext cx="746760" cy="649605"/>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椭圆 10"/>
          <p:cNvSpPr/>
          <p:nvPr/>
        </p:nvSpPr>
        <p:spPr>
          <a:xfrm>
            <a:off x="2453005" y="6134735"/>
            <a:ext cx="810895" cy="245745"/>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nvSpPr>
        <p:spPr>
          <a:xfrm>
            <a:off x="254000" y="4502150"/>
            <a:ext cx="576580" cy="245745"/>
          </a:xfrm>
          <a:prstGeom prst="ellipse">
            <a:avLst/>
          </a:prstGeom>
          <a:noFill/>
          <a:ln w="349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数据相关处理实验</a:t>
            </a:r>
            <a:endParaRPr lang="zh-CN" altLang="en-US" dirty="0"/>
          </a:p>
        </p:txBody>
      </p:sp>
      <p:sp>
        <p:nvSpPr>
          <p:cNvPr id="3" name="内容占位符 2"/>
          <p:cNvSpPr>
            <a:spLocks noGrp="1"/>
          </p:cNvSpPr>
          <p:nvPr>
            <p:ph idx="1"/>
          </p:nvPr>
        </p:nvSpPr>
        <p:spPr>
          <a:xfrm>
            <a:off x="487823" y="942764"/>
            <a:ext cx="11818018" cy="5637024"/>
          </a:xfrm>
        </p:spPr>
        <p:txBody>
          <a:bodyPr>
            <a:normAutofit lnSpcReduction="10000"/>
          </a:bodyPr>
          <a:lstStyle/>
          <a:p>
            <a:r>
              <a:rPr lang="zh-CN" altLang="en-US" dirty="0"/>
              <a:t>实现数据相关检测逻辑</a:t>
            </a:r>
            <a:endParaRPr lang="en-US" altLang="zh-CN" dirty="0"/>
          </a:p>
          <a:p>
            <a:pPr lvl="1"/>
            <a:r>
              <a:rPr lang="zh-CN" altLang="en-US" dirty="0"/>
              <a:t>构建源寄存器使用情况子电路</a:t>
            </a:r>
            <a:endParaRPr lang="en-US" altLang="zh-CN" dirty="0"/>
          </a:p>
          <a:p>
            <a:pPr lvl="2"/>
            <a:r>
              <a:rPr lang="zh-CN" altLang="en-US" dirty="0"/>
              <a:t>输入：</a:t>
            </a:r>
            <a:r>
              <a:rPr lang="en-US" altLang="zh-CN" dirty="0"/>
              <a:t>OP</a:t>
            </a:r>
            <a:r>
              <a:rPr lang="zh-CN" altLang="en-US" dirty="0"/>
              <a:t>，</a:t>
            </a:r>
            <a:r>
              <a:rPr lang="en-US" altLang="zh-CN" dirty="0" err="1"/>
              <a:t>Funct</a:t>
            </a:r>
            <a:r>
              <a:rPr lang="zh-CN" altLang="en-US" dirty="0"/>
              <a:t>，输出：</a:t>
            </a:r>
            <a:r>
              <a:rPr lang="en-US" altLang="zh-CN" dirty="0"/>
              <a:t>R</a:t>
            </a:r>
            <a:r>
              <a:rPr lang="en-US" altLang="zh-CN" baseline="-25000" dirty="0"/>
              <a:t>1</a:t>
            </a:r>
            <a:r>
              <a:rPr lang="en-US" altLang="zh-CN" dirty="0"/>
              <a:t>_Used</a:t>
            </a:r>
            <a:r>
              <a:rPr lang="zh-CN" altLang="en-US" dirty="0"/>
              <a:t>，</a:t>
            </a:r>
            <a:r>
              <a:rPr lang="en-US" altLang="zh-CN" dirty="0"/>
              <a:t> R</a:t>
            </a:r>
            <a:r>
              <a:rPr lang="en-US" altLang="zh-CN" baseline="-25000" dirty="0"/>
              <a:t>2</a:t>
            </a:r>
            <a:r>
              <a:rPr lang="en-US" altLang="zh-CN" dirty="0"/>
              <a:t>_Used</a:t>
            </a:r>
            <a:r>
              <a:rPr lang="zh-CN" altLang="en-US" dirty="0"/>
              <a:t>，可利用控制器真值表自动生成</a:t>
            </a:r>
            <a:endParaRPr lang="en-US" altLang="zh-CN" dirty="0"/>
          </a:p>
          <a:p>
            <a:pPr lvl="1"/>
            <a:r>
              <a:rPr lang="zh-CN" altLang="en-US" dirty="0"/>
              <a:t>构建数据相关检测逻辑子电路</a:t>
            </a:r>
            <a:endParaRPr lang="en-US" altLang="zh-CN" dirty="0"/>
          </a:p>
          <a:p>
            <a:pPr lvl="2"/>
            <a:r>
              <a:rPr lang="zh-CN" altLang="en-US" dirty="0"/>
              <a:t>输入：</a:t>
            </a:r>
            <a:r>
              <a:rPr lang="en-US" altLang="zh-CN" dirty="0"/>
              <a:t>R</a:t>
            </a:r>
            <a:r>
              <a:rPr lang="en-US" altLang="zh-CN" baseline="-25000" dirty="0"/>
              <a:t>1 </a:t>
            </a:r>
            <a:r>
              <a:rPr lang="en-US" altLang="zh-CN" dirty="0"/>
              <a:t>_Used, R</a:t>
            </a:r>
            <a:r>
              <a:rPr lang="en-US" altLang="zh-CN" baseline="-25000" dirty="0"/>
              <a:t>2</a:t>
            </a:r>
            <a:r>
              <a:rPr lang="en-US" altLang="zh-CN" dirty="0"/>
              <a:t> _Used</a:t>
            </a:r>
            <a:r>
              <a:rPr lang="zh-CN" altLang="en-US" dirty="0"/>
              <a:t>，</a:t>
            </a:r>
            <a:r>
              <a:rPr lang="en-US" altLang="zh-CN" dirty="0"/>
              <a:t>R</a:t>
            </a:r>
            <a:r>
              <a:rPr lang="en-US" altLang="zh-CN" baseline="-25000" dirty="0"/>
              <a:t>1</a:t>
            </a:r>
            <a:r>
              <a:rPr lang="en-US" altLang="zh-CN" dirty="0"/>
              <a:t>#</a:t>
            </a:r>
            <a:r>
              <a:rPr lang="zh-CN" altLang="en-US" dirty="0"/>
              <a:t>，</a:t>
            </a:r>
            <a:r>
              <a:rPr lang="en-US" altLang="zh-CN" dirty="0"/>
              <a:t>R</a:t>
            </a:r>
            <a:r>
              <a:rPr lang="en-US" altLang="zh-CN" baseline="-25000" dirty="0"/>
              <a:t>2</a:t>
            </a:r>
            <a:r>
              <a:rPr lang="en-US" altLang="zh-CN" dirty="0"/>
              <a:t>#</a:t>
            </a:r>
            <a:r>
              <a:rPr lang="zh-CN" altLang="en-US" dirty="0"/>
              <a:t>，</a:t>
            </a:r>
            <a:r>
              <a:rPr lang="en-US" altLang="zh-CN" dirty="0" err="1"/>
              <a:t>EX.WriteReg</a:t>
            </a:r>
            <a:r>
              <a:rPr lang="en-US" altLang="zh-CN" dirty="0"/>
              <a:t>#, </a:t>
            </a:r>
            <a:r>
              <a:rPr lang="en-US" altLang="zh-CN" dirty="0" err="1"/>
              <a:t>MEM.WriteReg</a:t>
            </a:r>
            <a:r>
              <a:rPr lang="en-US" altLang="zh-CN" dirty="0"/>
              <a:t>#</a:t>
            </a:r>
            <a:r>
              <a:rPr lang="zh-CN" altLang="en-US" dirty="0"/>
              <a:t>，</a:t>
            </a:r>
            <a:r>
              <a:rPr lang="en-US" altLang="zh-CN" dirty="0" err="1"/>
              <a:t>RegWrite</a:t>
            </a:r>
            <a:endParaRPr lang="en-US" altLang="zh-CN" dirty="0"/>
          </a:p>
          <a:p>
            <a:pPr lvl="2"/>
            <a:r>
              <a:rPr lang="zh-CN" altLang="en-US" dirty="0"/>
              <a:t>输出：数据相关信号</a:t>
            </a:r>
            <a:r>
              <a:rPr lang="en-US" altLang="zh-CN" dirty="0"/>
              <a:t>stall</a:t>
            </a:r>
            <a:endParaRPr lang="en-US" altLang="zh-CN" dirty="0"/>
          </a:p>
          <a:p>
            <a:r>
              <a:rPr lang="zh-CN" altLang="en-US" dirty="0"/>
              <a:t>实现</a:t>
            </a:r>
            <a:r>
              <a:rPr lang="en-US" altLang="zh-CN" dirty="0"/>
              <a:t>IF</a:t>
            </a:r>
            <a:r>
              <a:rPr lang="zh-CN" altLang="en-US" dirty="0"/>
              <a:t>，</a:t>
            </a:r>
            <a:r>
              <a:rPr lang="en-US" altLang="zh-CN" dirty="0"/>
              <a:t>ID</a:t>
            </a:r>
            <a:r>
              <a:rPr lang="zh-CN" altLang="en-US" dirty="0"/>
              <a:t>段暂停逻辑</a:t>
            </a:r>
            <a:endParaRPr lang="en-US" altLang="zh-CN" dirty="0"/>
          </a:p>
          <a:p>
            <a:pPr lvl="1"/>
            <a:r>
              <a:rPr lang="zh-CN" altLang="en-US" dirty="0"/>
              <a:t>利用数据相关信号控制对应部件写使能，低电平有效</a:t>
            </a:r>
            <a:endParaRPr lang="en-US" altLang="zh-CN" dirty="0"/>
          </a:p>
          <a:p>
            <a:r>
              <a:rPr lang="zh-CN" altLang="en-US" dirty="0"/>
              <a:t>实现</a:t>
            </a:r>
            <a:r>
              <a:rPr lang="en-US" altLang="zh-CN" dirty="0"/>
              <a:t>EX</a:t>
            </a:r>
            <a:r>
              <a:rPr lang="zh-CN" altLang="en-US" dirty="0"/>
              <a:t>段插入气泡逻辑</a:t>
            </a:r>
            <a:endParaRPr lang="en-US" altLang="zh-CN" dirty="0"/>
          </a:p>
          <a:p>
            <a:pPr lvl="1"/>
            <a:r>
              <a:rPr lang="zh-CN" altLang="en-US" dirty="0"/>
              <a:t>利用数据相关信号控制</a:t>
            </a:r>
            <a:r>
              <a:rPr lang="en-US" altLang="zh-CN" dirty="0"/>
              <a:t>ID/EX</a:t>
            </a:r>
            <a:r>
              <a:rPr lang="zh-CN" altLang="en-US" dirty="0"/>
              <a:t>接口的同步清零信号</a:t>
            </a:r>
            <a:endParaRPr lang="en-US" altLang="zh-CN" dirty="0"/>
          </a:p>
          <a:p>
            <a:r>
              <a:rPr lang="zh-CN" altLang="en-US" dirty="0"/>
              <a:t>测试联调</a:t>
            </a:r>
            <a:endParaRPr lang="en-US" altLang="zh-CN" dirty="0"/>
          </a:p>
          <a:p>
            <a:pPr lvl="1"/>
            <a:r>
              <a:rPr lang="zh-CN" altLang="en-US" dirty="0"/>
              <a:t>先测试</a:t>
            </a:r>
            <a:r>
              <a:rPr lang="zh-CN" altLang="en-US" dirty="0">
                <a:solidFill>
                  <a:srgbClr val="C00000"/>
                </a:solidFill>
              </a:rPr>
              <a:t>数据相关测试程序</a:t>
            </a:r>
            <a:r>
              <a:rPr lang="en-US" altLang="zh-CN" dirty="0">
                <a:solidFill>
                  <a:srgbClr val="C00000"/>
                </a:solidFill>
              </a:rPr>
              <a:t>.hex</a:t>
            </a:r>
            <a:r>
              <a:rPr lang="zh-CN" altLang="en-US" dirty="0"/>
              <a:t>，最后测试</a:t>
            </a:r>
            <a:r>
              <a:rPr lang="en-US" altLang="zh-CN" dirty="0"/>
              <a:t>benchmark</a:t>
            </a:r>
            <a:r>
              <a:rPr lang="zh-CN" altLang="en-US" dirty="0"/>
              <a:t>，要求统计运行周期数等运行参数</a:t>
            </a:r>
            <a:endParaRPr lang="en-US" altLang="zh-CN" dirty="0"/>
          </a:p>
        </p:txBody>
      </p:sp>
      <p:pic>
        <p:nvPicPr>
          <p:cNvPr id="4" name="图片 3"/>
          <p:cNvPicPr>
            <a:picLocks noChangeAspect="1"/>
          </p:cNvPicPr>
          <p:nvPr/>
        </p:nvPicPr>
        <p:blipFill>
          <a:blip r:embed="rId1"/>
          <a:stretch>
            <a:fillRect/>
          </a:stretch>
        </p:blipFill>
        <p:spPr>
          <a:xfrm>
            <a:off x="8203468" y="3227162"/>
            <a:ext cx="2799954" cy="2418896"/>
          </a:xfrm>
          <a:prstGeom prst="rect">
            <a:avLst/>
          </a:prstGeom>
          <a:ln>
            <a:solidFill>
              <a:srgbClr val="0070C0"/>
            </a:solidFill>
          </a:ln>
        </p:spPr>
      </p:pic>
      <p:sp>
        <p:nvSpPr>
          <p:cNvPr id="5" name="圆角矩形 4"/>
          <p:cNvSpPr/>
          <p:nvPr/>
        </p:nvSpPr>
        <p:spPr>
          <a:xfrm>
            <a:off x="8203468" y="3512458"/>
            <a:ext cx="2624189" cy="580572"/>
          </a:xfrm>
          <a:prstGeom prst="roundRect">
            <a:avLst/>
          </a:pr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8203468" y="5355772"/>
            <a:ext cx="2624189" cy="290286"/>
          </a:xfrm>
          <a:prstGeom prst="roundRect">
            <a:avLst/>
          </a:pr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44433"/>
    </mc:Choice>
    <mc:Fallback>
      <p:transition spd="slow" advTm="1444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left)">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left)">
                                      <p:cBhvr>
                                        <p:cTn id="23" dur="500"/>
                                        <p:tgtEl>
                                          <p:spTgt spid="3">
                                            <p:txEl>
                                              <p:pRg st="6" end="6"/>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ipe(left)">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left)">
                                      <p:cBhvr>
                                        <p:cTn id="34" dur="5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wipe(left)">
                                      <p:cBhvr>
                                        <p:cTn id="39" dur="500"/>
                                        <p:tgtEl>
                                          <p:spTgt spid="3">
                                            <p:txEl>
                                              <p:pRg st="10" end="10"/>
                                            </p:txEl>
                                          </p:spTgt>
                                        </p:tgtEl>
                                      </p:cBhvr>
                                    </p:animEffect>
                                  </p:childTnLst>
                                </p:cTn>
                              </p:par>
                              <p:par>
                                <p:cTn id="40" presetID="22" presetClass="entr" presetSubtype="8" fill="hold"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wipe(left)">
                                      <p:cBhvr>
                                        <p:cTn id="4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数据相关测试程序</a:t>
            </a:r>
            <a:endParaRPr lang="zh-CN" altLang="en-US" dirty="0"/>
          </a:p>
        </p:txBody>
      </p:sp>
      <p:pic>
        <p:nvPicPr>
          <p:cNvPr id="5" name="内容占位符 4"/>
          <p:cNvPicPr>
            <a:picLocks noGrp="1" noChangeAspect="1"/>
          </p:cNvPicPr>
          <p:nvPr>
            <p:ph idx="1"/>
          </p:nvPr>
        </p:nvPicPr>
        <p:blipFill rotWithShape="1">
          <a:blip r:embed="rId1"/>
          <a:srcRect b="16853"/>
          <a:stretch>
            <a:fillRect/>
          </a:stretch>
        </p:blipFill>
        <p:spPr>
          <a:xfrm>
            <a:off x="576205" y="875255"/>
            <a:ext cx="8114209" cy="5379254"/>
          </a:xfrm>
          <a:prstGeom prst="rect">
            <a:avLst/>
          </a:prstGeom>
        </p:spPr>
      </p:pic>
      <p:pic>
        <p:nvPicPr>
          <p:cNvPr id="6" name="图片 5"/>
          <p:cNvPicPr>
            <a:picLocks noChangeAspect="1"/>
          </p:cNvPicPr>
          <p:nvPr/>
        </p:nvPicPr>
        <p:blipFill>
          <a:blip r:embed="rId2"/>
          <a:stretch>
            <a:fillRect/>
          </a:stretch>
        </p:blipFill>
        <p:spPr>
          <a:xfrm>
            <a:off x="576205" y="6254509"/>
            <a:ext cx="9515489" cy="383852"/>
          </a:xfrm>
          <a:prstGeom prst="rect">
            <a:avLst/>
          </a:prstGeom>
        </p:spPr>
      </p:pic>
      <p:pic>
        <p:nvPicPr>
          <p:cNvPr id="7" name="图片 6"/>
          <p:cNvPicPr>
            <a:picLocks noChangeAspect="1"/>
          </p:cNvPicPr>
          <p:nvPr/>
        </p:nvPicPr>
        <p:blipFill>
          <a:blip r:embed="rId3">
            <a:clrChange>
              <a:clrFrom>
                <a:srgbClr val="FFFFFF"/>
              </a:clrFrom>
              <a:clrTo>
                <a:srgbClr val="FFFFFF">
                  <a:alpha val="0"/>
                </a:srgbClr>
              </a:clrTo>
            </a:clrChange>
          </a:blip>
          <a:stretch>
            <a:fillRect/>
          </a:stretch>
        </p:blipFill>
        <p:spPr>
          <a:xfrm>
            <a:off x="8778797" y="3997325"/>
            <a:ext cx="3076575" cy="2114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75"/>
    </mc:Choice>
    <mc:Fallback>
      <p:transition spd="slow" advTm="38075"/>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Benchmark</a:t>
            </a:r>
            <a:r>
              <a:rPr lang="zh-CN" altLang="en-US" dirty="0"/>
              <a:t>运行结果与周期数统计</a:t>
            </a:r>
            <a:endParaRPr lang="zh-CN" altLang="en-US" dirty="0"/>
          </a:p>
        </p:txBody>
      </p:sp>
      <p:pic>
        <p:nvPicPr>
          <p:cNvPr id="6" name="Rec 0005">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9854" y="991225"/>
            <a:ext cx="11060935" cy="1787320"/>
          </a:xfrm>
          <a:prstGeom prst="rect">
            <a:avLst/>
          </a:prstGeom>
        </p:spPr>
      </p:pic>
      <p:sp>
        <p:nvSpPr>
          <p:cNvPr id="4" name="矩形 3"/>
          <p:cNvSpPr/>
          <p:nvPr/>
        </p:nvSpPr>
        <p:spPr>
          <a:xfrm>
            <a:off x="662608" y="3095584"/>
            <a:ext cx="11821156" cy="461665"/>
          </a:xfrm>
          <a:prstGeom prst="rect">
            <a:avLst/>
          </a:prstGeom>
        </p:spPr>
        <p:txBody>
          <a:bodyPr wrap="square">
            <a:spAutoFit/>
          </a:bodyPr>
          <a:lstStyle/>
          <a:p>
            <a:pPr marL="812800" lvl="1" indent="-355600">
              <a:lnSpc>
                <a:spcPct val="120000"/>
              </a:lnSpc>
              <a:spcBef>
                <a:spcPts val="500"/>
              </a:spcBef>
              <a:buClr>
                <a:srgbClr val="FFC000"/>
              </a:buClr>
              <a:buFont typeface="Wingdings" panose="05000000000000000000" pitchFamily="2" charset="2"/>
              <a:buChar char="p"/>
            </a:pPr>
            <a:r>
              <a:rPr lang="zh-CN" altLang="en-US" sz="2000" b="1" dirty="0">
                <a:solidFill>
                  <a:srgbClr val="C00000"/>
                </a:solidFill>
                <a:latin typeface="微软雅黑" panose="020B0503020204020204" pitchFamily="34" charset="-122"/>
                <a:ea typeface="微软雅黑" panose="020B0503020204020204" pitchFamily="34" charset="-122"/>
              </a:rPr>
              <a:t>指令条数</a:t>
            </a:r>
            <a:r>
              <a:rPr lang="zh-CN" altLang="zh-CN" sz="2000" b="1" dirty="0">
                <a:solidFill>
                  <a:srgbClr val="C0000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zh-CN" sz="2000" b="1" dirty="0">
                <a:solidFill>
                  <a:srgbClr val="C00000"/>
                </a:solidFill>
                <a:latin typeface="微软雅黑" panose="020B0503020204020204" pitchFamily="34" charset="-122"/>
                <a:ea typeface="微软雅黑" panose="020B0503020204020204" pitchFamily="34" charset="-122"/>
              </a:rPr>
              <a:t>流水</a:t>
            </a:r>
            <a:r>
              <a:rPr lang="zh-CN" altLang="en-US" sz="2000" b="1" dirty="0">
                <a:solidFill>
                  <a:srgbClr val="C00000"/>
                </a:solidFill>
                <a:latin typeface="微软雅黑" panose="020B0503020204020204" pitchFamily="34" charset="-122"/>
                <a:ea typeface="微软雅黑" panose="020B0503020204020204" pitchFamily="34" charset="-122"/>
              </a:rPr>
              <a:t>充</a:t>
            </a:r>
            <a:r>
              <a:rPr lang="zh-CN" altLang="zh-CN" sz="2000" b="1" dirty="0">
                <a:solidFill>
                  <a:srgbClr val="C00000"/>
                </a:solidFill>
                <a:latin typeface="微软雅黑" panose="020B0503020204020204" pitchFamily="34" charset="-122"/>
                <a:ea typeface="微软雅黑" panose="020B0503020204020204" pitchFamily="34" charset="-122"/>
              </a:rPr>
              <a:t>满时间</a:t>
            </a:r>
            <a:r>
              <a:rPr lang="en-US" altLang="zh-CN" sz="2000" b="1" dirty="0">
                <a:solidFill>
                  <a:srgbClr val="C00000"/>
                </a:solidFill>
                <a:latin typeface="微软雅黑" panose="020B0503020204020204" pitchFamily="34" charset="-122"/>
                <a:ea typeface="微软雅黑" panose="020B0503020204020204" pitchFamily="34" charset="-122"/>
              </a:rPr>
              <a:t> – 1)</a:t>
            </a:r>
            <a:r>
              <a:rPr lang="zh-CN" altLang="zh-CN"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a:t>
            </a:r>
            <a:r>
              <a:rPr lang="zh-CN" altLang="zh-CN" sz="2000" b="1" dirty="0">
                <a:solidFill>
                  <a:srgbClr val="C00000"/>
                </a:solidFill>
                <a:latin typeface="微软雅黑" panose="020B0503020204020204" pitchFamily="34" charset="-122"/>
                <a:ea typeface="微软雅黑" panose="020B0503020204020204" pitchFamily="34" charset="-122"/>
              </a:rPr>
              <a:t>分支</a:t>
            </a:r>
            <a:r>
              <a:rPr lang="zh-CN" altLang="en-US" sz="2000" b="1" dirty="0">
                <a:solidFill>
                  <a:srgbClr val="C00000"/>
                </a:solidFill>
                <a:latin typeface="微软雅黑" panose="020B0503020204020204" pitchFamily="34" charset="-122"/>
                <a:ea typeface="微软雅黑" panose="020B0503020204020204" pitchFamily="34" charset="-122"/>
              </a:rPr>
              <a:t>跳转</a:t>
            </a:r>
            <a:r>
              <a:rPr lang="zh-CN" altLang="zh-CN" sz="2000" b="1" dirty="0">
                <a:solidFill>
                  <a:srgbClr val="C00000"/>
                </a:solidFill>
                <a:latin typeface="微软雅黑" panose="020B0503020204020204" pitchFamily="34" charset="-122"/>
                <a:ea typeface="微软雅黑" panose="020B0503020204020204" pitchFamily="34" charset="-122"/>
              </a:rPr>
              <a:t>次数</a:t>
            </a:r>
            <a:r>
              <a:rPr lang="en-US" altLang="zh-CN" sz="2000" b="1" dirty="0">
                <a:solidFill>
                  <a:srgbClr val="C00000"/>
                </a:solidFill>
                <a:latin typeface="微软雅黑" panose="020B0503020204020204" pitchFamily="34" charset="-122"/>
                <a:ea typeface="微软雅黑" panose="020B0503020204020204" pitchFamily="34" charset="-122"/>
              </a:rPr>
              <a:t>) * </a:t>
            </a:r>
            <a:r>
              <a:rPr lang="zh-CN" altLang="zh-CN" sz="2000" b="1" dirty="0">
                <a:solidFill>
                  <a:srgbClr val="C00000"/>
                </a:solidFill>
                <a:latin typeface="微软雅黑" panose="020B0503020204020204" pitchFamily="34" charset="-122"/>
                <a:ea typeface="微软雅黑" panose="020B0503020204020204" pitchFamily="34" charset="-122"/>
              </a:rPr>
              <a:t>预取深度＋ </a:t>
            </a:r>
            <a:r>
              <a:rPr lang="zh-CN" altLang="en-US" sz="2000" b="1" dirty="0">
                <a:solidFill>
                  <a:srgbClr val="C00000"/>
                </a:solidFill>
                <a:latin typeface="微软雅黑" panose="020B0503020204020204" pitchFamily="34" charset="-122"/>
                <a:ea typeface="微软雅黑" panose="020B0503020204020204" pitchFamily="34" charset="-122"/>
              </a:rPr>
              <a:t>数据相关</a:t>
            </a:r>
            <a:r>
              <a:rPr lang="zh-CN" altLang="zh-CN" sz="2000" b="1" dirty="0">
                <a:solidFill>
                  <a:srgbClr val="C00000"/>
                </a:solidFill>
                <a:latin typeface="微软雅黑" panose="020B0503020204020204" pitchFamily="34" charset="-122"/>
                <a:ea typeface="微软雅黑" panose="020B0503020204020204" pitchFamily="34" charset="-122"/>
              </a:rPr>
              <a:t>气泡数</a:t>
            </a:r>
            <a:endParaRPr lang="en-US" altLang="zh-CN" sz="2000" b="1" dirty="0">
              <a:solidFill>
                <a:srgbClr val="C0000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4"/>
          <a:stretch>
            <a:fillRect/>
          </a:stretch>
        </p:blipFill>
        <p:spPr>
          <a:xfrm>
            <a:off x="509854" y="3663266"/>
            <a:ext cx="11043408" cy="2830299"/>
          </a:xfrm>
          <a:prstGeom prst="rect">
            <a:avLst/>
          </a:prstGeom>
        </p:spPr>
      </p:pic>
      <p:sp>
        <p:nvSpPr>
          <p:cNvPr id="3" name="文本框 2"/>
          <p:cNvSpPr txBox="1"/>
          <p:nvPr/>
        </p:nvSpPr>
        <p:spPr>
          <a:xfrm>
            <a:off x="5761355" y="3732530"/>
            <a:ext cx="812165" cy="829945"/>
          </a:xfrm>
          <a:prstGeom prst="rect">
            <a:avLst/>
          </a:prstGeom>
          <a:solidFill>
            <a:srgbClr val="C4D79B"/>
          </a:solidFill>
        </p:spPr>
        <p:txBody>
          <a:bodyPr wrap="square" rtlCol="0">
            <a:spAutoFit/>
          </a:bodyPr>
          <a:p>
            <a:pPr algn="ctr"/>
            <a:r>
              <a:rPr lang="zh-CN" altLang="en-US" sz="1600" b="1"/>
              <a:t>数据</a:t>
            </a:r>
            <a:endParaRPr lang="zh-CN" altLang="en-US" sz="1600" b="1"/>
          </a:p>
          <a:p>
            <a:pPr algn="ctr"/>
            <a:r>
              <a:rPr lang="zh-CN" altLang="en-US" sz="1600" b="1"/>
              <a:t>相关</a:t>
            </a:r>
            <a:endParaRPr lang="zh-CN" altLang="en-US" sz="1600" b="1"/>
          </a:p>
          <a:p>
            <a:pPr algn="ctr"/>
            <a:r>
              <a:rPr lang="zh-CN" altLang="en-US" sz="1600" b="1"/>
              <a:t>气泡数</a:t>
            </a:r>
            <a:endParaRPr lang="zh-CN" altLang="en-US" sz="1600" b="1"/>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22931"/>
    </mc:Choice>
    <mc:Fallback>
      <p:transition spd="slow" advTm="122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333"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6077" y="1229799"/>
            <a:ext cx="10515600" cy="617641"/>
          </a:xfrm>
        </p:spPr>
        <p:txBody>
          <a:bodyPr>
            <a:noAutofit/>
          </a:bodyPr>
          <a:p>
            <a:r>
              <a:rPr lang="zh-CN" altLang="en-US" sz="6000">
                <a:sym typeface="+mn-ea"/>
              </a:rPr>
              <a:t>感谢：</a:t>
            </a:r>
            <a:endParaRPr lang="zh-CN" altLang="en-US" sz="6000">
              <a:sym typeface="+mn-ea"/>
            </a:endParaRPr>
          </a:p>
        </p:txBody>
      </p:sp>
      <p:sp>
        <p:nvSpPr>
          <p:cNvPr id="3" name="内容占位符 2"/>
          <p:cNvSpPr>
            <a:spLocks noGrp="1"/>
          </p:cNvSpPr>
          <p:nvPr>
            <p:ph idx="1"/>
          </p:nvPr>
        </p:nvSpPr>
        <p:spPr>
          <a:xfrm>
            <a:off x="346075" y="2839720"/>
            <a:ext cx="10978515" cy="3375660"/>
          </a:xfrm>
        </p:spPr>
        <p:txBody>
          <a:bodyPr/>
          <a:p>
            <a:r>
              <a:rPr lang="zh-CN" altLang="en-US" sz="3200">
                <a:solidFill>
                  <a:schemeClr val="accent6">
                    <a:lumMod val="75000"/>
                  </a:schemeClr>
                </a:solidFill>
              </a:rPr>
              <a:t>焦浚恒同学完成本</a:t>
            </a:r>
            <a:r>
              <a:rPr lang="en-US" altLang="zh-CN" sz="3200">
                <a:solidFill>
                  <a:schemeClr val="accent6">
                    <a:lumMod val="75000"/>
                  </a:schemeClr>
                </a:solidFill>
              </a:rPr>
              <a:t>PPT</a:t>
            </a:r>
            <a:r>
              <a:rPr lang="zh-CN" altLang="en-US" sz="3200">
                <a:solidFill>
                  <a:schemeClr val="accent6">
                    <a:lumMod val="75000"/>
                  </a:schemeClr>
                </a:solidFill>
              </a:rPr>
              <a:t>的部分图表，在此表示感谢</a:t>
            </a:r>
            <a:endParaRPr lang="zh-CN" altLang="en-US" sz="3200">
              <a:solidFill>
                <a:schemeClr val="accent6">
                  <a:lumMod val="75000"/>
                </a:schemeClr>
              </a:solidFill>
            </a:endParaRPr>
          </a:p>
        </p:txBody>
      </p:sp>
    </p:spTree>
  </p:cSld>
  <p:clrMapOvr>
    <a:masterClrMapping/>
  </p:clrMapOvr>
</p:sld>
</file>

<file path=ppt/tags/tag1.xml><?xml version="1.0" encoding="utf-8"?>
<p:tagLst xmlns:p="http://schemas.openxmlformats.org/presentationml/2006/main">
  <p:tag name="TIMING" val="|11.8|4.9|1.7|80.2"/>
</p:tagLst>
</file>

<file path=ppt/tags/tag2.xml><?xml version="1.0" encoding="utf-8"?>
<p:tagLst xmlns:p="http://schemas.openxmlformats.org/presentationml/2006/main">
  <p:tag name="TIMING" val="|31.4|4.1|12.9|21|7.6|7.6"/>
</p:tagLst>
</file>

<file path=ppt/tags/tag3.xml><?xml version="1.0" encoding="utf-8"?>
<p:tagLst xmlns:p="http://schemas.openxmlformats.org/presentationml/2006/main">
  <p:tag name="TIMING" val="|11.8|4.9|1.7|80.2"/>
</p:tagLst>
</file>

<file path=ppt/tags/tag4.xml><?xml version="1.0" encoding="utf-8"?>
<p:tagLst xmlns:p="http://schemas.openxmlformats.org/presentationml/2006/main">
  <p:tag name="TIMING" val="|57.8|53.3|7.3"/>
</p:tagLst>
</file>

<file path=ppt/tags/tag5.xml><?xml version="1.0" encoding="utf-8"?>
<p:tagLst xmlns:p="http://schemas.openxmlformats.org/presentationml/2006/main">
  <p:tag name="TIMING" val="|80.4|7|6.7|3.8"/>
</p:tagLst>
</file>

<file path=ppt/tags/tag6.xml><?xml version="1.0" encoding="utf-8"?>
<p:tagLst xmlns:p="http://schemas.openxmlformats.org/presentationml/2006/main">
  <p:tag name="TIMING" val="|57.8|53.3|7.3"/>
</p:tagLst>
</file>

<file path=ppt/tags/tag7.xml><?xml version="1.0" encoding="utf-8"?>
<p:tagLst xmlns:p="http://schemas.openxmlformats.org/presentationml/2006/main">
  <p:tag name="TIMING" val="|11.8|4.9|1.7|80.2"/>
</p:tagLst>
</file>

<file path=ppt/tags/tag8.xml><?xml version="1.0" encoding="utf-8"?>
<p:tagLst xmlns:p="http://schemas.openxmlformats.org/presentationml/2006/main">
  <p:tag name="TIMING" val="|11.8|4.9|1.7|80.2"/>
</p:tagLst>
</file>

<file path=ppt/tags/tag9.xml><?xml version="1.0" encoding="utf-8"?>
<p:tagLst xmlns:p="http://schemas.openxmlformats.org/presentationml/2006/main">
  <p:tag name="TIMING" val="|12.1|25.8|83.9"/>
</p:tagLst>
</file>

<file path=ppt/tags/tag10.xml><?xml version="1.0" encoding="utf-8"?>
<p:tagLst xmlns:p="http://schemas.openxmlformats.org/presentationml/2006/main">
  <p:tag name="TIMING" val="|16.1|1.2|3.4|5.8|4.8|2.7|25.8|10.8|6.1|1.6|1.2|1.1|3.9|5.4|0.7|1|0.9"/>
</p:tagLst>
</file>

<file path=ppt/tags/tag11.xml><?xml version="1.0" encoding="utf-8"?>
<p:tagLst xmlns:p="http://schemas.openxmlformats.org/presentationml/2006/main">
  <p:tag name="TIMING" val="|15.7|5.3|3.6|1.9|2.3|7.7|2.9|1.3|1.2|0.7|11"/>
</p:tagLst>
</file>

<file path=ppt/tags/tag12.xml><?xml version="1.0" encoding="utf-8"?>
<p:tagLst xmlns:p="http://schemas.openxmlformats.org/presentationml/2006/main">
  <p:tag name="TIMING" val="|66.6|8.8|1|0.8|0.8|10.5|6.2|0.9|10.6|4|1|4.5|5.6|3.1|0.5|6.3"/>
</p:tagLst>
</file>

<file path=ppt/tags/tag13.xml><?xml version="1.0" encoding="utf-8"?>
<p:tagLst xmlns:p="http://schemas.openxmlformats.org/presentationml/2006/main">
  <p:tag name="TIMING" val="|15.5|6.6|0.6|0.7|0.9|2.9|2|1.2|6|1.7|2.5|3.1|15.9"/>
</p:tagLst>
</file>

<file path=ppt/tags/tag14.xml><?xml version="1.0" encoding="utf-8"?>
<p:tagLst xmlns:p="http://schemas.openxmlformats.org/presentationml/2006/main">
  <p:tag name="TIMING" val="|114.3|6.2|5.4|3.6|1|12.4|8.8|14.6"/>
</p:tagLst>
</file>

<file path=ppt/tags/tag15.xml><?xml version="1.0" encoding="utf-8"?>
<p:tagLst xmlns:p="http://schemas.openxmlformats.org/presentationml/2006/main">
  <p:tag name="TIMING" val="|3.3|3|5.8|7.2|3.1|27.4|2.8|1|1.8|13.2|1.3"/>
</p:tagLst>
</file>

<file path=ppt/tags/tag16.xml><?xml version="1.0" encoding="utf-8"?>
<p:tagLst xmlns:p="http://schemas.openxmlformats.org/presentationml/2006/main">
  <p:tag name="TIMING" val="|11.4|24.5|26.1|21.5"/>
</p:tagLst>
</file>

<file path=ppt/tags/tag17.xml><?xml version="1.0" encoding="utf-8"?>
<p:tagLst xmlns:p="http://schemas.openxmlformats.org/presentationml/2006/main">
  <p:tag name="TIMING" val="|16|32.2|29.8"/>
</p:tagLst>
</file>

<file path=ppt/tags/tag18.xml><?xml version="1.0" encoding="utf-8"?>
<p:tagLst xmlns:p="http://schemas.openxmlformats.org/presentationml/2006/main">
  <p:tag name="TIMING" val="|35.9|21.3|35.9|27.8"/>
</p:tagLst>
</file>

<file path=ppt/tags/tag19.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0.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1.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2.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3.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4.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5.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6.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7.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8.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29.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0.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1.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2.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3.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4.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5.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6.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7.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8.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39.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0.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1.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2.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3.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4.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5.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6.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7.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8.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49.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50.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51.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52.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53.xml><?xml version="1.0" encoding="utf-8"?>
<p:tagLst xmlns:p="http://schemas.openxmlformats.org/presentationml/2006/main">
  <p:tag name="KSO_WM_DIAGRAM_VIRTUALLY_FRAME" val="{&quot;height&quot;:168.69409448818902,&quot;left&quot;:33.90834645669291,&quot;top&quot;:317.2148818897638,&quot;width&quot;:876.4479527559055}"/>
</p:tagLst>
</file>

<file path=ppt/tags/tag54.xml><?xml version="1.0" encoding="utf-8"?>
<p:tagLst xmlns:p="http://schemas.openxmlformats.org/presentationml/2006/main">
  <p:tag name="TIMING" val="|4.3|6.7|2|27.4|26.3|7.7"/>
</p:tagLst>
</file>

<file path=ppt/tags/tag55.xml><?xml version="1.0" encoding="utf-8"?>
<p:tagLst xmlns:p="http://schemas.openxmlformats.org/presentationml/2006/main">
  <p:tag name="TIMING" val="|16.2|10.6|52.4|15.3|27.8|1.6|11.5|12.8|11.9|4.4|5.7|17.1|16.6|6.5|13.5|8.7|15.3|3.8|4.8|3.3|2.9|12.5|8.2|9.3|2.9|5.8|2.5|5.1"/>
</p:tagLst>
</file>

<file path=ppt/tags/tag56.xml><?xml version="1.0" encoding="utf-8"?>
<p:tagLst xmlns:p="http://schemas.openxmlformats.org/presentationml/2006/main">
  <p:tag name="TIMING" val="|16.2|10.6|52.4|15.3|27.8|1.6|11.5|12.8|11.9|4.4|5.7|17.1|16.6|6.5|13.5|8.7|15.3|3.8|4.8|3.3|2.9|12.5|8.2|9.3|2.9|5.8|2.5|5.1"/>
</p:tagLst>
</file>

<file path=ppt/tags/tag57.xml><?xml version="1.0" encoding="utf-8"?>
<p:tagLst xmlns:p="http://schemas.openxmlformats.org/presentationml/2006/main">
  <p:tag name="TIMING" val="|4.8|29|13|9.2|24.2"/>
</p:tagLst>
</file>

<file path=ppt/tags/tag58.xml><?xml version="1.0" encoding="utf-8"?>
<p:tagLst xmlns:p="http://schemas.openxmlformats.org/presentationml/2006/main">
  <p:tag name="TIMING" val="|5.9|2.9|2.2|18.6|17.2|30.3|1.5|4.7|81.5|1.3|1.2"/>
</p:tagLst>
</file>

<file path=ppt/tags/tag59.xml><?xml version="1.0" encoding="utf-8"?>
<p:tagLst xmlns:p="http://schemas.openxmlformats.org/presentationml/2006/main">
  <p:tag name="TIMING" val="|40.8|7.8|11.8|21.9|27.4|4.6"/>
</p:tagLst>
</file>

<file path=ppt/tags/tag60.xml><?xml version="1.0" encoding="utf-8"?>
<p:tagLst xmlns:p="http://schemas.openxmlformats.org/presentationml/2006/main">
  <p:tag name="TIMING" val="|9|5.8|11.5|2.6|3.4|83"/>
</p:tagLst>
</file>

<file path=ppt/tags/tag61.xml><?xml version="1.0" encoding="utf-8"?>
<p:tagLst xmlns:p="http://schemas.openxmlformats.org/presentationml/2006/main">
  <p:tag name="TIMING" val="|12.5|9.2|21.2|11.1"/>
</p:tagLst>
</file>

<file path=ppt/tags/tag62.xml><?xml version="1.0" encoding="utf-8"?>
<p:tagLst xmlns:p="http://schemas.openxmlformats.org/presentationml/2006/main">
  <p:tag name="TIMING" val="|10.6|9.8|3.7|29.3|11.2|5.6|5.9|20.4"/>
</p:tagLst>
</file>

<file path=ppt/tags/tag63.xml><?xml version="1.0" encoding="utf-8"?>
<p:tagLst xmlns:p="http://schemas.openxmlformats.org/presentationml/2006/main">
  <p:tag name="TIMING" val="|25.6|18|5|2.9|2.4|2.4|3.8|5.5"/>
</p:tagLst>
</file>

<file path=ppt/tags/tag64.xml><?xml version="1.0" encoding="utf-8"?>
<p:tagLst xmlns:p="http://schemas.openxmlformats.org/presentationml/2006/main">
  <p:tag name="TIMING" val="|8.7|38.2|18.6|18.8|8.4"/>
</p:tagLst>
</file>

<file path=ppt/tags/tag65.xml><?xml version="1.0" encoding="utf-8"?>
<p:tagLst xmlns:p="http://schemas.openxmlformats.org/presentationml/2006/main">
  <p:tag name="TIMING" val="|4.9|7.3|33.2|58.5"/>
</p:tagLst>
</file>

<file path=ppt/tags/tag66.xml><?xml version="1.0" encoding="utf-8"?>
<p:tagLst xmlns:p="http://schemas.openxmlformats.org/presentationml/2006/main">
  <p:tag name="TIMING" val="|5.6|11.4|33.5|8"/>
</p:tagLst>
</file>

<file path=ppt/tags/tag67.xml><?xml version="1.0" encoding="utf-8"?>
<p:tagLst xmlns:p="http://schemas.openxmlformats.org/presentationml/2006/main">
  <p:tag name="TIMING" val="|16.2|14.1|4.4"/>
</p:tagLst>
</file>

<file path=ppt/tags/tag68.xml><?xml version="1.0" encoding="utf-8"?>
<p:tagLst xmlns:p="http://schemas.openxmlformats.org/presentationml/2006/main">
  <p:tag name="TIMING" val="|27.9|17.1|22.5|9"/>
</p:tagLst>
</file>

<file path=ppt/tags/tag69.xml><?xml version="1.0" encoding="utf-8"?>
<p:tagLst xmlns:p="http://schemas.openxmlformats.org/presentationml/2006/main">
  <p:tag name="TIMING" val="|33.8|54.6"/>
</p:tagLst>
</file>

<file path=ppt/tags/tag70.xml><?xml version="1.0" encoding="utf-8"?>
<p:tagLst xmlns:p="http://schemas.openxmlformats.org/presentationml/2006/main">
  <p:tag name="TIMING" val="|17.3|25.8|43.4|19.6|13.6"/>
</p:tagLst>
</file>

<file path=ppt/tags/tag71.xml><?xml version="1.0" encoding="utf-8"?>
<p:tagLst xmlns:p="http://schemas.openxmlformats.org/presentationml/2006/main">
  <p:tag name="TIMING" val="|45.8|39"/>
</p:tagLst>
</file>

<file path=ppt/tags/tag72.xml><?xml version="1.0" encoding="utf-8"?>
<p:tagLst xmlns:p="http://schemas.openxmlformats.org/presentationml/2006/main">
  <p:tag name="KSO_WPP_MARK_KEY" val="7d400584-54fd-4a6d-9a0c-b3b7a1cd1397"/>
  <p:tag name="COMMONDATA" val="eyJoZGlkIjoiZjExMDE4MjYwOTdhYTViYzIyM2NiY2VlMzhmMjRiY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10489</Words>
  <Application>WPS 演示</Application>
  <PresentationFormat>宽屏</PresentationFormat>
  <Paragraphs>3501</Paragraphs>
  <Slides>60</Slides>
  <Notes>10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79" baseType="lpstr">
      <vt:lpstr>Arial</vt:lpstr>
      <vt:lpstr>宋体</vt:lpstr>
      <vt:lpstr>Wingdings</vt:lpstr>
      <vt:lpstr>微软雅黑</vt:lpstr>
      <vt:lpstr>Segoe UI</vt:lpstr>
      <vt:lpstr>Times New Roman</vt:lpstr>
      <vt:lpstr>Segoe UI Black</vt:lpstr>
      <vt:lpstr>等线</vt:lpstr>
      <vt:lpstr>Microsoft New Tai Lue</vt:lpstr>
      <vt:lpstr>Arial Black</vt:lpstr>
      <vt:lpstr>Arial Unicode MS</vt:lpstr>
      <vt:lpstr>华文新魏</vt:lpstr>
      <vt:lpstr>华文细黑</vt:lpstr>
      <vt:lpstr>Verdana</vt:lpstr>
      <vt:lpstr>Courier New</vt:lpstr>
      <vt:lpstr>Office 主题​​</vt:lpstr>
      <vt:lpstr>Visio.Drawing.15</vt:lpstr>
      <vt:lpstr>Visio.Drawing.15</vt:lpstr>
      <vt:lpstr>Visio.Drawing.15</vt:lpstr>
      <vt:lpstr>PowerPoint 演示文稿</vt:lpstr>
      <vt:lpstr>单周期MIPS参考数据通路</vt:lpstr>
      <vt:lpstr>单周期CPU  寄存器文件的读逻辑和写逻辑电路分别属于ID和WB两个模块</vt:lpstr>
      <vt:lpstr>单周期MIPS关键路径 ---LW指令（分析电路的延迟）</vt:lpstr>
      <vt:lpstr>单周期CPU  多周期CPU的基本思路（加中间寄存器）</vt:lpstr>
      <vt:lpstr>构建指令状态变换图</vt:lpstr>
      <vt:lpstr>存储器即属于IF，又属于MEM;ALU兼顾PC+4和跳转地址计算2个加法器的功能</vt:lpstr>
      <vt:lpstr>单周期MIPS参考数据通路</vt:lpstr>
      <vt:lpstr>构建指令状态变换图</vt:lpstr>
      <vt:lpstr>单周期CPU  五段流水线</vt:lpstr>
      <vt:lpstr>单周期CPU  五段流水线</vt:lpstr>
      <vt:lpstr>MIPS CPU实现方案</vt:lpstr>
      <vt:lpstr>单周期指令运行动态</vt:lpstr>
      <vt:lpstr>单周期时空图</vt:lpstr>
      <vt:lpstr>多周期指令运行动态</vt:lpstr>
      <vt:lpstr>多周期时空图</vt:lpstr>
      <vt:lpstr>流水线指令运行动态</vt:lpstr>
      <vt:lpstr>指令流水线时空图</vt:lpstr>
      <vt:lpstr>理想流水线</vt:lpstr>
      <vt:lpstr>指令流水线的相关、冲突、冒险（hazard）</vt:lpstr>
      <vt:lpstr>PowerPoint 演示文稿</vt:lpstr>
      <vt:lpstr>理想指令流水线设计</vt:lpstr>
      <vt:lpstr>理想流水线构建步骤</vt:lpstr>
      <vt:lpstr>MIPS五段流水数据通路</vt:lpstr>
      <vt:lpstr>5段指令流水线数据与信号传递</vt:lpstr>
      <vt:lpstr>5段指令流水线数据与信号传递</vt:lpstr>
      <vt:lpstr>PowerPoint 演示文稿</vt:lpstr>
      <vt:lpstr>理想指令流水线设计实验</vt:lpstr>
      <vt:lpstr>PowerPoint 演示文稿</vt:lpstr>
      <vt:lpstr>指令流水线的相关、冲突、冒险（hazard）</vt:lpstr>
      <vt:lpstr>分支指令</vt:lpstr>
      <vt:lpstr>分支相关流水线时空图</vt:lpstr>
      <vt:lpstr>分支相关</vt:lpstr>
      <vt:lpstr>插入气泡</vt:lpstr>
      <vt:lpstr>分支相关处理逻辑</vt:lpstr>
      <vt:lpstr>PowerPoint 演示文稿</vt:lpstr>
      <vt:lpstr>PowerPoint 演示文稿</vt:lpstr>
      <vt:lpstr>同步清零的寄存器设计（参教材P165）</vt:lpstr>
      <vt:lpstr>分支相关总结</vt:lpstr>
      <vt:lpstr>分支相关处理实验</vt:lpstr>
      <vt:lpstr>PowerPoint 演示文稿</vt:lpstr>
      <vt:lpstr>指令流水线的相关、冲突、冒险（hazard）</vt:lpstr>
      <vt:lpstr>数据相关</vt:lpstr>
      <vt:lpstr>数据相关处理机制</vt:lpstr>
      <vt:lpstr>PowerPoint 演示文稿</vt:lpstr>
      <vt:lpstr>ID段与WB段数据相关消除(一个周期的方波，先下降再上升)</vt:lpstr>
      <vt:lpstr>ID段与MEM段数据相关</vt:lpstr>
      <vt:lpstr>ID段与MEM段数据相关</vt:lpstr>
      <vt:lpstr>ID段与EX段数据相关</vt:lpstr>
      <vt:lpstr>ID段与EX段数据相关</vt:lpstr>
      <vt:lpstr>ID段与EX段数据相关</vt:lpstr>
      <vt:lpstr>数据相关流水线时空图</vt:lpstr>
      <vt:lpstr>数据相关处理总结</vt:lpstr>
      <vt:lpstr>数据相关检测逻辑</vt:lpstr>
      <vt:lpstr>数据冲突判断：Stall=1 会造成PC和IF/ID保持，ID/EX清零（加入气泡）</vt:lpstr>
      <vt:lpstr>PowerPoint 演示文稿</vt:lpstr>
      <vt:lpstr>数据相关处理实验</vt:lpstr>
      <vt:lpstr>数据相关测试程序</vt:lpstr>
      <vt:lpstr>Benchmark运行结果与周期数统计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tanzh</dc:creator>
  <cp:lastModifiedBy>刘峰</cp:lastModifiedBy>
  <cp:revision>172</cp:revision>
  <dcterms:created xsi:type="dcterms:W3CDTF">2019-02-01T08:55:00Z</dcterms:created>
  <dcterms:modified xsi:type="dcterms:W3CDTF">2025-12-01T03:49:38Z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54F0F73AE7494247BF607656154089A6_13</vt:lpwstr>
  </property>
  <property fmtid="{D5CDD505-2E9C-101B-9397-08002B2CF9AE}" pid="3" name="KSOProductBuildVer">
    <vt:lpwstr>2052-12.1.0.23542</vt:lpwstr>
  </property>
</Properties>
</file>