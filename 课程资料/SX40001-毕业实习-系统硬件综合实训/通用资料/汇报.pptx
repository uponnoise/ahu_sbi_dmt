
<file path=[Content_Types].xml><?xml version="1.0" encoding="utf-8"?>
<Types xmlns="http://schemas.openxmlformats.org/package/2006/content-types">
  <Default Extension="png" ContentType="image/png"/>
  <Default Extension="mp3" ContentType="audio/mp3"/>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handoutMasterIdLst>
    <p:handoutMasterId r:id="rId15"/>
  </p:handoutMasterIdLst>
  <p:sldIdLst>
    <p:sldId id="1823" r:id="rId3"/>
    <p:sldId id="1824" r:id="rId5"/>
    <p:sldId id="1865" r:id="rId6"/>
    <p:sldId id="1867" r:id="rId7"/>
    <p:sldId id="1866" r:id="rId8"/>
    <p:sldId id="1849" r:id="rId9"/>
    <p:sldId id="1868" r:id="rId10"/>
    <p:sldId id="1836" r:id="rId11"/>
    <p:sldId id="1838" r:id="rId12"/>
    <p:sldId id="1845" r:id="rId13"/>
    <p:sldId id="1850" r:id="rId14"/>
  </p:sldIdLst>
  <p:sldSz cx="9144000" cy="5143500" type="screen16x9"/>
  <p:notesSz cx="6858000" cy="9144000"/>
  <p:embeddedFontLst>
    <p:embeddedFont>
      <p:font typeface="Agency FB" panose="020B0503020202020204" pitchFamily="34" charset="0"/>
      <p:regular r:id="rId20"/>
      <p:bold r:id="rId21"/>
    </p:embeddedFont>
    <p:embeddedFont>
      <p:font typeface="方正苏新诗柳楷简体" panose="02000000000000000000" charset="-122"/>
      <p:regular r:id="rId22"/>
    </p:embeddedFont>
    <p:embeddedFont>
      <p:font typeface="华文行楷" panose="02010800040101010101" charset="-122"/>
      <p:regular r:id="rId23"/>
    </p:embeddedFont>
    <p:embeddedFont>
      <p:font typeface="Calibri" panose="020F0502020204030204" charset="0"/>
      <p:regular r:id="rId24"/>
      <p:bold r:id="rId25"/>
      <p:italic r:id="rId26"/>
      <p:boldItalic r:id="rId27"/>
    </p:embeddedFont>
  </p:embeddedFontLst>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875" userDrawn="1">
          <p15:clr>
            <a:srgbClr val="A4A3A4"/>
          </p15:clr>
        </p15:guide>
        <p15:guide id="2" pos="385" userDrawn="1">
          <p15:clr>
            <a:srgbClr val="A4A3A4"/>
          </p15:clr>
        </p15:guide>
        <p15:guide id="3" pos="5423" userDrawn="1">
          <p15:clr>
            <a:srgbClr val="A4A3A4"/>
          </p15:clr>
        </p15:guide>
        <p15:guide id="4" orient="horz" pos="166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7F7F7"/>
    <a:srgbClr val="FDFDFD"/>
    <a:srgbClr val="EDFBFF"/>
    <a:srgbClr val="DDF7E6"/>
    <a:srgbClr val="FFFFFF"/>
    <a:srgbClr val="54B8E7"/>
    <a:srgbClr val="588824"/>
    <a:srgbClr val="49701E"/>
    <a:srgbClr val="72AF2F"/>
    <a:srgbClr val="0082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6318" autoAdjust="0"/>
  </p:normalViewPr>
  <p:slideViewPr>
    <p:cSldViewPr showGuides="1">
      <p:cViewPr varScale="1">
        <p:scale>
          <a:sx n="121" d="100"/>
          <a:sy n="121" d="100"/>
        </p:scale>
        <p:origin x="114" y="522"/>
      </p:cViewPr>
      <p:guideLst>
        <p:guide pos="2875"/>
        <p:guide pos="385"/>
        <p:guide pos="5423"/>
        <p:guide orient="horz" pos="1665"/>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83" d="100"/>
          <a:sy n="83" d="100"/>
        </p:scale>
        <p:origin x="3828" y="6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gs" Target="tags/tag13.xml"/><Relationship Id="rId27" Type="http://schemas.openxmlformats.org/officeDocument/2006/relationships/font" Target="fonts/font8.fntdata"/><Relationship Id="rId26" Type="http://schemas.openxmlformats.org/officeDocument/2006/relationships/font" Target="fonts/font7.fntdata"/><Relationship Id="rId25" Type="http://schemas.openxmlformats.org/officeDocument/2006/relationships/font" Target="fonts/font6.fntdata"/><Relationship Id="rId24" Type="http://schemas.openxmlformats.org/officeDocument/2006/relationships/font" Target="fonts/font5.fntdata"/><Relationship Id="rId23" Type="http://schemas.openxmlformats.org/officeDocument/2006/relationships/font" Target="fonts/font4.fntdata"/><Relationship Id="rId22" Type="http://schemas.openxmlformats.org/officeDocument/2006/relationships/font" Target="fonts/font3.fntdata"/><Relationship Id="rId21" Type="http://schemas.openxmlformats.org/officeDocument/2006/relationships/font" Target="fonts/font2.fntdata"/><Relationship Id="rId20" Type="http://schemas.openxmlformats.org/officeDocument/2006/relationships/font" Target="fonts/font1.fntdata"/><Relationship Id="rId2" Type="http://schemas.openxmlformats.org/officeDocument/2006/relationships/theme" Target="theme/theme1.xml"/><Relationship Id="rId19" Type="http://schemas.openxmlformats.org/officeDocument/2006/relationships/commentAuthors" Target="commentAuthors.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671E8F-9B2B-491C-BF18-E33909BE8334}"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A1C2023-A398-416E-AC65-CBA0D090EB2B}"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491C0ED-1C8B-4FF3-91A6-E652895D463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66ED419-5B3F-423C-8358-46E41EBE13C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矩形 1"/>
          <p:cNvSpPr/>
          <p:nvPr userDrawn="1"/>
        </p:nvSpPr>
        <p:spPr>
          <a:xfrm>
            <a:off x="0" y="0"/>
            <a:ext cx="9144000" cy="51435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cs typeface="+mn-ea"/>
            </a:endParaRPr>
          </a:p>
        </p:txBody>
      </p:sp>
    </p:spTree>
  </p:cSld>
  <p:clrMapOvr>
    <a:masterClrMapping/>
  </p:clrMapOvr>
  <p:transition spd="slow" advTm="0">
    <p:pull/>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Tree>
  </p:cSld>
  <p:clrMapOvr>
    <a:masterClrMapping/>
  </p:clrMapOvr>
  <p:transition spd="slow" advTm="0">
    <p:pull/>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Tree>
  </p:cSld>
  <p:clrMapOvr>
    <a:masterClrMapping/>
  </p:clrMapOvr>
  <p:transition spd="slow" advTm="0">
    <p:pull/>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Tree>
  </p:cSld>
  <p:clrMapOvr>
    <a:masterClrMapping/>
  </p:clrMapOvr>
  <p:transition spd="slow" advTm="0">
    <p:pull/>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media" Target="../media/media1.mp3"/><Relationship Id="rId3" Type="http://schemas.openxmlformats.org/officeDocument/2006/relationships/audio" Target="../media/media1.mp3"/><Relationship Id="rId2" Type="http://schemas.openxmlformats.org/officeDocument/2006/relationships/image" Target="../media/image2.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3" Type="http://schemas.openxmlformats.org/officeDocument/2006/relationships/notesSlide" Target="../notesSlides/notesSlide2.xml"/><Relationship Id="rId12" Type="http://schemas.openxmlformats.org/officeDocument/2006/relationships/slideLayout" Target="../slideLayouts/slideLayout1.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0" y="411510"/>
            <a:ext cx="8366158" cy="4731990"/>
          </a:xfrm>
          <a:prstGeom prst="rect">
            <a:avLst/>
          </a:prstGeom>
        </p:spPr>
      </p:pic>
      <p:sp>
        <p:nvSpPr>
          <p:cNvPr id="12" name="文本框 11"/>
          <p:cNvSpPr txBox="1"/>
          <p:nvPr/>
        </p:nvSpPr>
        <p:spPr>
          <a:xfrm>
            <a:off x="4283777" y="124103"/>
            <a:ext cx="4032448" cy="2306955"/>
          </a:xfrm>
          <a:prstGeom prst="rect">
            <a:avLst/>
          </a:prstGeom>
          <a:noFill/>
        </p:spPr>
        <p:txBody>
          <a:bodyPr wrap="square" rtlCol="0">
            <a:spAutoFit/>
          </a:bodyPr>
          <a:lstStyle/>
          <a:p>
            <a:pPr algn="ctr"/>
            <a:r>
              <a:rPr lang="zh-CN" altLang="en-US" sz="4800" dirty="0" smtClean="0">
                <a:latin typeface="+mn-ea"/>
                <a:cs typeface="+mn-ea"/>
              </a:rPr>
              <a:t>系统硬件课程</a:t>
            </a:r>
            <a:r>
              <a:rPr lang="zh-CN" altLang="en-US" sz="4800" dirty="0" smtClean="0">
                <a:latin typeface="+mn-ea"/>
                <a:cs typeface="+mn-ea"/>
              </a:rPr>
              <a:t>总结</a:t>
            </a:r>
            <a:endParaRPr lang="zh-CN" altLang="en-US" sz="4800" dirty="0" smtClean="0">
              <a:latin typeface="+mn-ea"/>
              <a:cs typeface="+mn-ea"/>
            </a:endParaRPr>
          </a:p>
          <a:p>
            <a:pPr algn="ctr"/>
            <a:endParaRPr lang="zh-CN" altLang="en-US" sz="4800" dirty="0">
              <a:latin typeface="+mn-ea"/>
              <a:cs typeface="+mn-ea"/>
            </a:endParaRPr>
          </a:p>
        </p:txBody>
      </p:sp>
      <p:pic>
        <p:nvPicPr>
          <p:cNvPr id="8" name="Two Steps From Hell - I Love You Forever">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972616" y="-1100658"/>
            <a:ext cx="487363" cy="487363"/>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8"/>
                                        </p:tgtEl>
                                      </p:cBhvr>
                                    </p:cmd>
                                  </p:childTnLst>
                                </p:cTn>
                              </p:par>
                            </p:childTnLst>
                          </p:cTn>
                        </p:par>
                        <p:par>
                          <p:cTn id="7" fill="hold">
                            <p:stCondLst>
                              <p:cond delay="0"/>
                            </p:stCondLst>
                            <p:childTnLst>
                              <p:par>
                                <p:cTn id="8" presetID="42" presetClass="entr" presetSubtype="0" fill="hold"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anim calcmode="lin" valueType="num">
                                      <p:cBhvr>
                                        <p:cTn id="11" dur="1000" fill="hold"/>
                                        <p:tgtEl>
                                          <p:spTgt spid="6"/>
                                        </p:tgtEl>
                                        <p:attrNameLst>
                                          <p:attrName>ppt_x</p:attrName>
                                        </p:attrNameLst>
                                      </p:cBhvr>
                                      <p:tavLst>
                                        <p:tav tm="0">
                                          <p:val>
                                            <p:strVal val="#ppt_x"/>
                                          </p:val>
                                        </p:tav>
                                        <p:tav tm="100000">
                                          <p:val>
                                            <p:strVal val="#ppt_x"/>
                                          </p:val>
                                        </p:tav>
                                      </p:tavLst>
                                    </p:anim>
                                    <p:anim calcmode="lin" valueType="num">
                                      <p:cBhvr>
                                        <p:cTn id="12" dur="1000" fill="hold"/>
                                        <p:tgtEl>
                                          <p:spTgt spid="6"/>
                                        </p:tgtEl>
                                        <p:attrNameLst>
                                          <p:attrName>ppt_y</p:attrName>
                                        </p:attrNameLst>
                                      </p:cBhvr>
                                      <p:tavLst>
                                        <p:tav tm="0">
                                          <p:val>
                                            <p:strVal val="#ppt_y+.1"/>
                                          </p:val>
                                        </p:tav>
                                        <p:tav tm="100000">
                                          <p:val>
                                            <p:strVal val="#ppt_y"/>
                                          </p:val>
                                        </p:tav>
                                      </p:tavLst>
                                    </p:anim>
                                  </p:childTnLst>
                                </p:cTn>
                              </p:par>
                            </p:childTnLst>
                          </p:cTn>
                        </p:par>
                        <p:par>
                          <p:cTn id="13" fill="hold">
                            <p:stCondLst>
                              <p:cond delay="1000"/>
                            </p:stCondLst>
                            <p:childTnLst>
                              <p:par>
                                <p:cTn id="14" presetID="52" presetClass="entr" presetSubtype="0" fill="hold" grpId="0" nodeType="afterEffect">
                                  <p:stCondLst>
                                    <p:cond delay="0"/>
                                  </p:stCondLst>
                                  <p:iterate type="lt">
                                    <p:tmPct val="10000"/>
                                  </p:iterate>
                                  <p:childTnLst>
                                    <p:set>
                                      <p:cBhvr>
                                        <p:cTn id="15" dur="1" fill="hold">
                                          <p:stCondLst>
                                            <p:cond delay="0"/>
                                          </p:stCondLst>
                                        </p:cTn>
                                        <p:tgtEl>
                                          <p:spTgt spid="12"/>
                                        </p:tgtEl>
                                        <p:attrNameLst>
                                          <p:attrName>style.visibility</p:attrName>
                                        </p:attrNameLst>
                                      </p:cBhvr>
                                      <p:to>
                                        <p:strVal val="visible"/>
                                      </p:to>
                                    </p:set>
                                    <p:animScale>
                                      <p:cBhvr>
                                        <p:cTn id="16" dur="1000" decel="50000" fill="hold">
                                          <p:stCondLst>
                                            <p:cond delay="0"/>
                                          </p:stCondLst>
                                        </p:cTn>
                                        <p:tgtEl>
                                          <p:spTgt spid="1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7" dur="1000" decel="50000" fill="hold">
                                          <p:stCondLst>
                                            <p:cond delay="0"/>
                                          </p:stCondLst>
                                        </p:cTn>
                                        <p:tgtEl>
                                          <p:spTgt spid="12"/>
                                        </p:tgtEl>
                                        <p:attrNameLst>
                                          <p:attrName>ppt_x</p:attrName>
                                          <p:attrName>ppt_y</p:attrName>
                                        </p:attrNameLst>
                                      </p:cBhvr>
                                    </p:animMotion>
                                    <p:animEffect transition="in" filter="fade">
                                      <p:cBhvr>
                                        <p:cTn id="18"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p:cTn id="19" repeatCount="indefinite" fill="hold" display="0">
                  <p:stCondLst>
                    <p:cond delay="indefinite"/>
                  </p:stCondLst>
                  <p:endCondLst>
                    <p:cond evt="onStopAudio" delay="0">
                      <p:tgtEl>
                        <p:sldTgt/>
                      </p:tgtEl>
                    </p:cond>
                  </p:endCondLst>
                </p:cTn>
                <p:tgtEl>
                  <p:spTgt spid="8"/>
                </p:tgtEl>
              </p:cMediaNode>
            </p:audio>
          </p:childTnLst>
        </p:cTn>
      </p:par>
    </p:tnLst>
    <p:bldLst>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_方块"/>
          <p:cNvSpPr/>
          <p:nvPr>
            <p:custDataLst>
              <p:tags r:id="rId1"/>
            </p:custDataLst>
          </p:nvPr>
        </p:nvSpPr>
        <p:spPr>
          <a:xfrm>
            <a:off x="498586" y="703129"/>
            <a:ext cx="2381945" cy="3737242"/>
          </a:xfrm>
          <a:prstGeom prst="rect">
            <a:avLst/>
          </a:prstGeom>
          <a:solidFill>
            <a:schemeClr val="accent1">
              <a:alpha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endParaRPr>
          </a:p>
        </p:txBody>
      </p:sp>
      <p:sp>
        <p:nvSpPr>
          <p:cNvPr id="3" name="PA_文本框 11"/>
          <p:cNvSpPr txBox="1"/>
          <p:nvPr>
            <p:custDataLst>
              <p:tags r:id="rId2"/>
            </p:custDataLst>
          </p:nvPr>
        </p:nvSpPr>
        <p:spPr>
          <a:xfrm>
            <a:off x="1026262" y="1932599"/>
            <a:ext cx="1326592" cy="854080"/>
          </a:xfrm>
          <a:prstGeom prst="rect">
            <a:avLst/>
          </a:prstGeom>
          <a:noFill/>
        </p:spPr>
        <p:txBody>
          <a:bodyPr wrap="square" lIns="0" rIns="0" rtlCol="0">
            <a:spAutoFit/>
          </a:bodyPr>
          <a:lstStyle/>
          <a:p>
            <a:pPr algn="dist"/>
            <a:r>
              <a:rPr lang="zh-CN" altLang="en-US" sz="4950" b="1" dirty="0" smtClean="0">
                <a:ln w="6350">
                  <a:noFill/>
                </a:ln>
                <a:solidFill>
                  <a:schemeClr val="bg1"/>
                </a:solidFill>
                <a:latin typeface="+mn-ea"/>
                <a:cs typeface="+mn-ea"/>
              </a:rPr>
              <a:t>目录</a:t>
            </a:r>
            <a:endParaRPr lang="zh-CN" altLang="en-US" sz="4950" b="1" dirty="0">
              <a:ln w="6350">
                <a:noFill/>
              </a:ln>
              <a:solidFill>
                <a:schemeClr val="bg1"/>
              </a:solidFill>
              <a:latin typeface="+mn-ea"/>
              <a:cs typeface="+mn-ea"/>
            </a:endParaRPr>
          </a:p>
        </p:txBody>
      </p:sp>
      <p:sp>
        <p:nvSpPr>
          <p:cNvPr id="4" name="PA_文本框 12"/>
          <p:cNvSpPr txBox="1"/>
          <p:nvPr>
            <p:custDataLst>
              <p:tags r:id="rId3"/>
            </p:custDataLst>
          </p:nvPr>
        </p:nvSpPr>
        <p:spPr>
          <a:xfrm>
            <a:off x="969836" y="2643758"/>
            <a:ext cx="1439445" cy="415498"/>
          </a:xfrm>
          <a:prstGeom prst="rect">
            <a:avLst/>
          </a:prstGeom>
          <a:noFill/>
        </p:spPr>
        <p:txBody>
          <a:bodyPr wrap="square" lIns="0" rIns="0" rtlCol="0">
            <a:spAutoFit/>
          </a:bodyPr>
          <a:lstStyle/>
          <a:p>
            <a:pPr algn="dist"/>
            <a:r>
              <a:rPr lang="en-US" altLang="zh-CN" sz="2100" dirty="0">
                <a:ln w="6350">
                  <a:noFill/>
                </a:ln>
                <a:solidFill>
                  <a:schemeClr val="bg1"/>
                </a:solidFill>
                <a:latin typeface="方正美黑简体" panose="02010601030101010101" pitchFamily="2" charset="-122"/>
                <a:ea typeface="方正美黑简体" panose="02010601030101010101" pitchFamily="2" charset="-122"/>
                <a:cs typeface="+mn-ea"/>
              </a:rPr>
              <a:t>CONTENTS</a:t>
            </a:r>
            <a:endParaRPr lang="zh-CN" altLang="en-US" sz="2100" dirty="0">
              <a:ln w="6350">
                <a:noFill/>
              </a:ln>
              <a:solidFill>
                <a:schemeClr val="bg1"/>
              </a:solidFill>
              <a:latin typeface="方正美黑简体" panose="02010601030101010101" pitchFamily="2" charset="-122"/>
              <a:ea typeface="方正美黑简体" panose="02010601030101010101" pitchFamily="2" charset="-122"/>
              <a:cs typeface="+mn-ea"/>
            </a:endParaRPr>
          </a:p>
        </p:txBody>
      </p:sp>
      <p:sp>
        <p:nvSpPr>
          <p:cNvPr id="6" name="矩形 5"/>
          <p:cNvSpPr/>
          <p:nvPr>
            <p:custDataLst>
              <p:tags r:id="rId4"/>
            </p:custDataLst>
          </p:nvPr>
        </p:nvSpPr>
        <p:spPr>
          <a:xfrm>
            <a:off x="3733099" y="1773735"/>
            <a:ext cx="450211" cy="450211"/>
          </a:xfrm>
          <a:prstGeom prst="rect">
            <a:avLst/>
          </a:prstGeom>
          <a:solidFill>
            <a:schemeClr val="accent1">
              <a:alpha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dirty="0">
                <a:solidFill>
                  <a:schemeClr val="bg1"/>
                </a:solidFill>
                <a:latin typeface="Agency FB" panose="020B0503020202020204" pitchFamily="34" charset="0"/>
                <a:cs typeface="+mn-ea"/>
              </a:rPr>
              <a:t>01</a:t>
            </a:r>
            <a:endParaRPr lang="zh-CN" altLang="en-US" sz="2400" dirty="0">
              <a:solidFill>
                <a:schemeClr val="bg1"/>
              </a:solidFill>
              <a:latin typeface="Agency FB" panose="020B0503020202020204" pitchFamily="34" charset="0"/>
              <a:cs typeface="+mn-ea"/>
            </a:endParaRPr>
          </a:p>
        </p:txBody>
      </p:sp>
      <p:sp>
        <p:nvSpPr>
          <p:cNvPr id="7" name="文本框 6"/>
          <p:cNvSpPr txBox="1"/>
          <p:nvPr>
            <p:custDataLst>
              <p:tags r:id="rId5"/>
            </p:custDataLst>
          </p:nvPr>
        </p:nvSpPr>
        <p:spPr>
          <a:xfrm>
            <a:off x="4284712" y="1756465"/>
            <a:ext cx="792480" cy="275590"/>
          </a:xfrm>
          <a:prstGeom prst="rect">
            <a:avLst/>
          </a:prstGeom>
          <a:noFill/>
        </p:spPr>
        <p:txBody>
          <a:bodyPr wrap="none" rtlCol="0">
            <a:spAutoFit/>
          </a:bodyPr>
          <a:lstStyle/>
          <a:p>
            <a:r>
              <a:rPr lang="zh-CN" altLang="en-US" sz="1200" dirty="0">
                <a:solidFill>
                  <a:schemeClr val="accent1">
                    <a:lumMod val="50000"/>
                    <a:alpha val="85000"/>
                  </a:schemeClr>
                </a:solidFill>
                <a:latin typeface="+mj-ea"/>
                <a:ea typeface="+mj-ea"/>
                <a:cs typeface="MiSans Normal" panose="00000500000000000000" charset="-122"/>
                <a:sym typeface="+mn-ea"/>
              </a:rPr>
              <a:t>课程收获</a:t>
            </a:r>
            <a:endParaRPr lang="zh-CN" altLang="en-US" sz="1200" dirty="0">
              <a:solidFill>
                <a:schemeClr val="accent1">
                  <a:lumMod val="50000"/>
                  <a:alpha val="85000"/>
                </a:schemeClr>
              </a:solidFill>
              <a:latin typeface="+mj-ea"/>
              <a:ea typeface="+mj-ea"/>
              <a:cs typeface="MiSans Normal" panose="00000500000000000000" charset="-122"/>
              <a:sym typeface="+mn-ea"/>
            </a:endParaRPr>
          </a:p>
        </p:txBody>
      </p:sp>
      <p:sp>
        <p:nvSpPr>
          <p:cNvPr id="9" name="矩形 8"/>
          <p:cNvSpPr/>
          <p:nvPr>
            <p:custDataLst>
              <p:tags r:id="rId6"/>
            </p:custDataLst>
          </p:nvPr>
        </p:nvSpPr>
        <p:spPr>
          <a:xfrm>
            <a:off x="3733099" y="2927032"/>
            <a:ext cx="450211" cy="450211"/>
          </a:xfrm>
          <a:prstGeom prst="rect">
            <a:avLst/>
          </a:prstGeom>
          <a:solidFill>
            <a:schemeClr val="accent1">
              <a:alpha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dirty="0">
                <a:solidFill>
                  <a:schemeClr val="bg1"/>
                </a:solidFill>
                <a:latin typeface="Agency FB" panose="020B0503020202020204" pitchFamily="34" charset="0"/>
                <a:cs typeface="+mn-ea"/>
              </a:rPr>
              <a:t>03</a:t>
            </a:r>
            <a:endParaRPr lang="zh-CN" altLang="en-US" sz="2400" dirty="0">
              <a:solidFill>
                <a:schemeClr val="bg1"/>
              </a:solidFill>
              <a:latin typeface="Agency FB" panose="020B0503020202020204" pitchFamily="34" charset="0"/>
              <a:cs typeface="+mn-ea"/>
            </a:endParaRPr>
          </a:p>
        </p:txBody>
      </p:sp>
      <p:sp>
        <p:nvSpPr>
          <p:cNvPr id="10" name="文本框 9"/>
          <p:cNvSpPr txBox="1"/>
          <p:nvPr>
            <p:custDataLst>
              <p:tags r:id="rId7"/>
            </p:custDataLst>
          </p:nvPr>
        </p:nvSpPr>
        <p:spPr>
          <a:xfrm>
            <a:off x="4284712" y="2909762"/>
            <a:ext cx="906780" cy="275590"/>
          </a:xfrm>
          <a:prstGeom prst="rect">
            <a:avLst/>
          </a:prstGeom>
          <a:noFill/>
        </p:spPr>
        <p:txBody>
          <a:bodyPr wrap="none" rtlCol="0">
            <a:spAutoFit/>
          </a:bodyPr>
          <a:lstStyle/>
          <a:p>
            <a:pPr lvl="0" algn="l">
              <a:buClrTx/>
              <a:buSzTx/>
              <a:buFontTx/>
            </a:pPr>
            <a:r>
              <a:rPr lang="zh-CN" altLang="en-US" sz="1200" spc="225" dirty="0">
                <a:latin typeface="+mn-ea"/>
                <a:cs typeface="+mn-ea"/>
              </a:rPr>
              <a:t>难度</a:t>
            </a:r>
            <a:r>
              <a:rPr lang="zh-CN" altLang="en-US" sz="1200" spc="225" dirty="0">
                <a:latin typeface="+mn-ea"/>
                <a:cs typeface="+mn-ea"/>
              </a:rPr>
              <a:t>排序</a:t>
            </a:r>
            <a:endParaRPr lang="zh-CN" altLang="en-US" sz="1200" spc="225" dirty="0">
              <a:latin typeface="+mn-ea"/>
              <a:cs typeface="+mn-ea"/>
            </a:endParaRPr>
          </a:p>
        </p:txBody>
      </p:sp>
      <p:sp>
        <p:nvSpPr>
          <p:cNvPr id="12" name="矩形 11"/>
          <p:cNvSpPr/>
          <p:nvPr>
            <p:custDataLst>
              <p:tags r:id="rId8"/>
            </p:custDataLst>
          </p:nvPr>
        </p:nvSpPr>
        <p:spPr>
          <a:xfrm>
            <a:off x="6384859" y="1773735"/>
            <a:ext cx="450211" cy="450211"/>
          </a:xfrm>
          <a:prstGeom prst="rect">
            <a:avLst/>
          </a:prstGeom>
          <a:solidFill>
            <a:schemeClr val="accent1">
              <a:alpha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dirty="0">
                <a:solidFill>
                  <a:schemeClr val="bg1"/>
                </a:solidFill>
                <a:latin typeface="Agency FB" panose="020B0503020202020204" pitchFamily="34" charset="0"/>
                <a:cs typeface="+mn-ea"/>
              </a:rPr>
              <a:t>02</a:t>
            </a:r>
            <a:endParaRPr lang="zh-CN" altLang="en-US" sz="2400" dirty="0">
              <a:solidFill>
                <a:schemeClr val="bg1"/>
              </a:solidFill>
              <a:latin typeface="Agency FB" panose="020B0503020202020204" pitchFamily="34" charset="0"/>
              <a:cs typeface="+mn-ea"/>
            </a:endParaRPr>
          </a:p>
        </p:txBody>
      </p:sp>
      <p:sp>
        <p:nvSpPr>
          <p:cNvPr id="15" name="矩形 14"/>
          <p:cNvSpPr/>
          <p:nvPr>
            <p:custDataLst>
              <p:tags r:id="rId9"/>
            </p:custDataLst>
          </p:nvPr>
        </p:nvSpPr>
        <p:spPr>
          <a:xfrm>
            <a:off x="6384859" y="2927032"/>
            <a:ext cx="450211" cy="450211"/>
          </a:xfrm>
          <a:prstGeom prst="rect">
            <a:avLst/>
          </a:prstGeom>
          <a:solidFill>
            <a:schemeClr val="accent1">
              <a:alpha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dirty="0">
                <a:solidFill>
                  <a:schemeClr val="bg1"/>
                </a:solidFill>
                <a:latin typeface="Agency FB" panose="020B0503020202020204" pitchFamily="34" charset="0"/>
                <a:cs typeface="+mn-ea"/>
              </a:rPr>
              <a:t>04</a:t>
            </a:r>
            <a:endParaRPr lang="zh-CN" altLang="en-US" sz="2400" dirty="0">
              <a:solidFill>
                <a:schemeClr val="bg1"/>
              </a:solidFill>
              <a:latin typeface="Agency FB" panose="020B0503020202020204" pitchFamily="34" charset="0"/>
              <a:cs typeface="+mn-ea"/>
            </a:endParaRPr>
          </a:p>
        </p:txBody>
      </p:sp>
      <p:sp>
        <p:nvSpPr>
          <p:cNvPr id="16" name="文本框 15"/>
          <p:cNvSpPr txBox="1"/>
          <p:nvPr>
            <p:custDataLst>
              <p:tags r:id="rId10"/>
            </p:custDataLst>
          </p:nvPr>
        </p:nvSpPr>
        <p:spPr>
          <a:xfrm>
            <a:off x="6936472" y="2909762"/>
            <a:ext cx="544830" cy="275590"/>
          </a:xfrm>
          <a:prstGeom prst="rect">
            <a:avLst/>
          </a:prstGeom>
          <a:noFill/>
        </p:spPr>
        <p:txBody>
          <a:bodyPr wrap="none" rtlCol="0">
            <a:spAutoFit/>
          </a:bodyPr>
          <a:lstStyle/>
          <a:p>
            <a:pPr lvl="0" algn="l">
              <a:buClrTx/>
              <a:buSzTx/>
              <a:buFontTx/>
            </a:pPr>
            <a:r>
              <a:rPr lang="zh-CN" altLang="en-US" sz="1200" spc="225" dirty="0">
                <a:latin typeface="+mn-ea"/>
                <a:cs typeface="+mn-ea"/>
              </a:rPr>
              <a:t>建议</a:t>
            </a:r>
            <a:endParaRPr lang="zh-CN" altLang="en-US" sz="1200" spc="225" dirty="0">
              <a:latin typeface="+mn-ea"/>
              <a:cs typeface="+mn-ea"/>
            </a:endParaRPr>
          </a:p>
        </p:txBody>
      </p:sp>
      <p:sp>
        <p:nvSpPr>
          <p:cNvPr id="5" name="文本框 4"/>
          <p:cNvSpPr txBox="1"/>
          <p:nvPr>
            <p:custDataLst>
              <p:tags r:id="rId11"/>
            </p:custDataLst>
          </p:nvPr>
        </p:nvSpPr>
        <p:spPr>
          <a:xfrm>
            <a:off x="6948170" y="1756410"/>
            <a:ext cx="3048000" cy="275590"/>
          </a:xfrm>
          <a:prstGeom prst="rect">
            <a:avLst/>
          </a:prstGeom>
          <a:noFill/>
        </p:spPr>
        <p:txBody>
          <a:bodyPr wrap="square" rtlCol="0">
            <a:spAutoFit/>
          </a:bodyPr>
          <a:p>
            <a:r>
              <a:rPr lang="zh-CN" altLang="en-US" sz="1200" dirty="0">
                <a:solidFill>
                  <a:schemeClr val="accent1">
                    <a:lumMod val="50000"/>
                    <a:alpha val="85000"/>
                  </a:schemeClr>
                </a:solidFill>
                <a:latin typeface="+mj-ea"/>
                <a:ea typeface="+mj-ea"/>
                <a:cs typeface="MiSans Normal" panose="00000500000000000000" charset="-122"/>
                <a:sym typeface="+mn-ea"/>
              </a:rPr>
              <a:t>最有价值</a:t>
            </a:r>
            <a:r>
              <a:rPr lang="zh-CN" altLang="en-US" sz="1200" dirty="0">
                <a:solidFill>
                  <a:schemeClr val="accent1">
                    <a:lumMod val="50000"/>
                    <a:alpha val="85000"/>
                  </a:schemeClr>
                </a:solidFill>
                <a:latin typeface="+mj-ea"/>
                <a:ea typeface="+mj-ea"/>
                <a:cs typeface="MiSans Normal" panose="00000500000000000000" charset="-122"/>
                <a:sym typeface="+mn-ea"/>
              </a:rPr>
              <a:t>实验</a:t>
            </a:r>
            <a:endParaRPr lang="zh-CN" altLang="en-US" sz="1200" dirty="0">
              <a:solidFill>
                <a:schemeClr val="accent1">
                  <a:lumMod val="50000"/>
                  <a:alpha val="85000"/>
                </a:schemeClr>
              </a:solidFill>
              <a:latin typeface="+mj-ea"/>
              <a:ea typeface="+mj-ea"/>
              <a:cs typeface="MiSans Normal" panose="000005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800" advClick="0" advTm="0">
        <p14:flythrough/>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9" presetClass="entr" presetSubtype="0" decel="100000" fill="hold" grpId="0" nodeType="afterEffect">
                                  <p:stCondLst>
                                    <p:cond delay="0"/>
                                  </p:stCondLst>
                                  <p:iterate type="lt">
                                    <p:tmPct val="10000"/>
                                  </p:iterate>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 calcmode="lin" valueType="num">
                                      <p:cBhvr>
                                        <p:cTn id="14" dur="500" fill="hold"/>
                                        <p:tgtEl>
                                          <p:spTgt spid="3"/>
                                        </p:tgtEl>
                                        <p:attrNameLst>
                                          <p:attrName>style.rotation</p:attrName>
                                        </p:attrNameLst>
                                      </p:cBhvr>
                                      <p:tavLst>
                                        <p:tav tm="0">
                                          <p:val>
                                            <p:fltVal val="360"/>
                                          </p:val>
                                        </p:tav>
                                        <p:tav tm="100000">
                                          <p:val>
                                            <p:fltVal val="0"/>
                                          </p:val>
                                        </p:tav>
                                      </p:tavLst>
                                    </p:anim>
                                    <p:animEffect transition="in" filter="fade">
                                      <p:cBhvr>
                                        <p:cTn id="15" dur="500"/>
                                        <p:tgtEl>
                                          <p:spTgt spid="3"/>
                                        </p:tgtEl>
                                      </p:cBhvr>
                                    </p:animEffect>
                                  </p:childTnLst>
                                </p:cTn>
                              </p:par>
                            </p:childTnLst>
                          </p:cTn>
                        </p:par>
                        <p:par>
                          <p:cTn id="16" fill="hold">
                            <p:stCondLst>
                              <p:cond delay="1049"/>
                            </p:stCondLst>
                            <p:childTnLst>
                              <p:par>
                                <p:cTn id="17" presetID="47" presetClass="entr" presetSubtype="0"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anim calcmode="lin" valueType="num">
                                      <p:cBhvr>
                                        <p:cTn id="20" dur="500" fill="hold"/>
                                        <p:tgtEl>
                                          <p:spTgt spid="4"/>
                                        </p:tgtEl>
                                        <p:attrNameLst>
                                          <p:attrName>ppt_x</p:attrName>
                                        </p:attrNameLst>
                                      </p:cBhvr>
                                      <p:tavLst>
                                        <p:tav tm="0">
                                          <p:val>
                                            <p:strVal val="#ppt_x"/>
                                          </p:val>
                                        </p:tav>
                                        <p:tav tm="100000">
                                          <p:val>
                                            <p:strVal val="#ppt_x"/>
                                          </p:val>
                                        </p:tav>
                                      </p:tavLst>
                                    </p:anim>
                                    <p:anim calcmode="lin" valueType="num">
                                      <p:cBhvr>
                                        <p:cTn id="21" dur="500" fill="hold"/>
                                        <p:tgtEl>
                                          <p:spTgt spid="4"/>
                                        </p:tgtEl>
                                        <p:attrNameLst>
                                          <p:attrName>ppt_y</p:attrName>
                                        </p:attrNameLst>
                                      </p:cBhvr>
                                      <p:tavLst>
                                        <p:tav tm="0">
                                          <p:val>
                                            <p:strVal val="#ppt_y-.1"/>
                                          </p:val>
                                        </p:tav>
                                        <p:tav tm="100000">
                                          <p:val>
                                            <p:strVal val="#ppt_y"/>
                                          </p:val>
                                        </p:tav>
                                      </p:tavLst>
                                    </p:anim>
                                  </p:childTnLst>
                                </p:cTn>
                              </p:par>
                            </p:childTnLst>
                          </p:cTn>
                        </p:par>
                        <p:par>
                          <p:cTn id="22" fill="hold">
                            <p:stCondLst>
                              <p:cond delay="1549"/>
                            </p:stCondLst>
                            <p:childTnLst>
                              <p:par>
                                <p:cTn id="23" presetID="53" presetClass="entr" presetSubtype="16"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fill="hold"/>
                                        <p:tgtEl>
                                          <p:spTgt spid="6"/>
                                        </p:tgtEl>
                                        <p:attrNameLst>
                                          <p:attrName>ppt_w</p:attrName>
                                        </p:attrNameLst>
                                      </p:cBhvr>
                                      <p:tavLst>
                                        <p:tav tm="0">
                                          <p:val>
                                            <p:fltVal val="0"/>
                                          </p:val>
                                        </p:tav>
                                        <p:tav tm="100000">
                                          <p:val>
                                            <p:strVal val="#ppt_w"/>
                                          </p:val>
                                        </p:tav>
                                      </p:tavLst>
                                    </p:anim>
                                    <p:anim calcmode="lin" valueType="num">
                                      <p:cBhvr>
                                        <p:cTn id="26" dur="500" fill="hold"/>
                                        <p:tgtEl>
                                          <p:spTgt spid="6"/>
                                        </p:tgtEl>
                                        <p:attrNameLst>
                                          <p:attrName>ppt_h</p:attrName>
                                        </p:attrNameLst>
                                      </p:cBhvr>
                                      <p:tavLst>
                                        <p:tav tm="0">
                                          <p:val>
                                            <p:fltVal val="0"/>
                                          </p:val>
                                        </p:tav>
                                        <p:tav tm="100000">
                                          <p:val>
                                            <p:strVal val="#ppt_h"/>
                                          </p:val>
                                        </p:tav>
                                      </p:tavLst>
                                    </p:anim>
                                    <p:animEffect transition="in" filter="fade">
                                      <p:cBhvr>
                                        <p:cTn id="27" dur="500"/>
                                        <p:tgtEl>
                                          <p:spTgt spid="6"/>
                                        </p:tgtEl>
                                      </p:cBhvr>
                                    </p:animEffect>
                                  </p:childTnLst>
                                </p:cTn>
                              </p:par>
                            </p:childTnLst>
                          </p:cTn>
                        </p:par>
                        <p:par>
                          <p:cTn id="28" fill="hold">
                            <p:stCondLst>
                              <p:cond delay="2049"/>
                            </p:stCondLst>
                            <p:childTnLst>
                              <p:par>
                                <p:cTn id="29" presetID="41" presetClass="entr" presetSubtype="0" fill="hold" grpId="0" nodeType="afterEffect">
                                  <p:stCondLst>
                                    <p:cond delay="0"/>
                                  </p:stCondLst>
                                  <p:iterate type="lt">
                                    <p:tmPct val="10000"/>
                                  </p:iterate>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32" dur="500" fill="hold"/>
                                        <p:tgtEl>
                                          <p:spTgt spid="7"/>
                                        </p:tgtEl>
                                        <p:attrNameLst>
                                          <p:attrName>ppt_y</p:attrName>
                                        </p:attrNameLst>
                                      </p:cBhvr>
                                      <p:tavLst>
                                        <p:tav tm="0">
                                          <p:val>
                                            <p:strVal val="#ppt_y"/>
                                          </p:val>
                                        </p:tav>
                                        <p:tav tm="100000">
                                          <p:val>
                                            <p:strVal val="#ppt_y"/>
                                          </p:val>
                                        </p:tav>
                                      </p:tavLst>
                                    </p:anim>
                                    <p:anim calcmode="lin" valueType="num">
                                      <p:cBhvr>
                                        <p:cTn id="33"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34"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35" dur="500" tmFilter="0,0; .5, 1; 1, 1"/>
                                        <p:tgtEl>
                                          <p:spTgt spid="7"/>
                                        </p:tgtEl>
                                      </p:cBhvr>
                                    </p:animEffect>
                                  </p:childTnLst>
                                </p:cTn>
                              </p:par>
                            </p:childTnLst>
                          </p:cTn>
                        </p:par>
                        <p:par>
                          <p:cTn id="36" fill="hold">
                            <p:stCondLst>
                              <p:cond delay="2700"/>
                            </p:stCondLst>
                            <p:childTnLst>
                              <p:par>
                                <p:cTn id="37" presetID="53" presetClass="entr" presetSubtype="16"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p:cTn id="39" dur="500" fill="hold"/>
                                        <p:tgtEl>
                                          <p:spTgt spid="12"/>
                                        </p:tgtEl>
                                        <p:attrNameLst>
                                          <p:attrName>ppt_w</p:attrName>
                                        </p:attrNameLst>
                                      </p:cBhvr>
                                      <p:tavLst>
                                        <p:tav tm="0">
                                          <p:val>
                                            <p:fltVal val="0"/>
                                          </p:val>
                                        </p:tav>
                                        <p:tav tm="100000">
                                          <p:val>
                                            <p:strVal val="#ppt_w"/>
                                          </p:val>
                                        </p:tav>
                                      </p:tavLst>
                                    </p:anim>
                                    <p:anim calcmode="lin" valueType="num">
                                      <p:cBhvr>
                                        <p:cTn id="40" dur="500" fill="hold"/>
                                        <p:tgtEl>
                                          <p:spTgt spid="12"/>
                                        </p:tgtEl>
                                        <p:attrNameLst>
                                          <p:attrName>ppt_h</p:attrName>
                                        </p:attrNameLst>
                                      </p:cBhvr>
                                      <p:tavLst>
                                        <p:tav tm="0">
                                          <p:val>
                                            <p:fltVal val="0"/>
                                          </p:val>
                                        </p:tav>
                                        <p:tav tm="100000">
                                          <p:val>
                                            <p:strVal val="#ppt_h"/>
                                          </p:val>
                                        </p:tav>
                                      </p:tavLst>
                                    </p:anim>
                                    <p:animEffect transition="in" filter="fade">
                                      <p:cBhvr>
                                        <p:cTn id="41" dur="500"/>
                                        <p:tgtEl>
                                          <p:spTgt spid="12"/>
                                        </p:tgtEl>
                                      </p:cBhvr>
                                    </p:animEffect>
                                  </p:childTnLst>
                                </p:cTn>
                              </p:par>
                            </p:childTnLst>
                          </p:cTn>
                        </p:par>
                        <p:par>
                          <p:cTn id="42" fill="hold">
                            <p:stCondLst>
                              <p:cond delay="3200"/>
                            </p:stCondLst>
                            <p:childTnLst>
                              <p:par>
                                <p:cTn id="43" presetID="53" presetClass="entr" presetSubtype="16" fill="hold" grpId="0" nodeType="after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p:cTn id="45" dur="500" fill="hold"/>
                                        <p:tgtEl>
                                          <p:spTgt spid="9"/>
                                        </p:tgtEl>
                                        <p:attrNameLst>
                                          <p:attrName>ppt_w</p:attrName>
                                        </p:attrNameLst>
                                      </p:cBhvr>
                                      <p:tavLst>
                                        <p:tav tm="0">
                                          <p:val>
                                            <p:fltVal val="0"/>
                                          </p:val>
                                        </p:tav>
                                        <p:tav tm="100000">
                                          <p:val>
                                            <p:strVal val="#ppt_w"/>
                                          </p:val>
                                        </p:tav>
                                      </p:tavLst>
                                    </p:anim>
                                    <p:anim calcmode="lin" valueType="num">
                                      <p:cBhvr>
                                        <p:cTn id="46" dur="500" fill="hold"/>
                                        <p:tgtEl>
                                          <p:spTgt spid="9"/>
                                        </p:tgtEl>
                                        <p:attrNameLst>
                                          <p:attrName>ppt_h</p:attrName>
                                        </p:attrNameLst>
                                      </p:cBhvr>
                                      <p:tavLst>
                                        <p:tav tm="0">
                                          <p:val>
                                            <p:fltVal val="0"/>
                                          </p:val>
                                        </p:tav>
                                        <p:tav tm="100000">
                                          <p:val>
                                            <p:strVal val="#ppt_h"/>
                                          </p:val>
                                        </p:tav>
                                      </p:tavLst>
                                    </p:anim>
                                    <p:animEffect transition="in" filter="fade">
                                      <p:cBhvr>
                                        <p:cTn id="47" dur="500"/>
                                        <p:tgtEl>
                                          <p:spTgt spid="9"/>
                                        </p:tgtEl>
                                      </p:cBhvr>
                                    </p:animEffect>
                                  </p:childTnLst>
                                </p:cTn>
                              </p:par>
                            </p:childTnLst>
                          </p:cTn>
                        </p:par>
                        <p:par>
                          <p:cTn id="48" fill="hold">
                            <p:stCondLst>
                              <p:cond delay="3700"/>
                            </p:stCondLst>
                            <p:childTnLst>
                              <p:par>
                                <p:cTn id="49" presetID="41" presetClass="entr" presetSubtype="0" fill="hold" grpId="0" nodeType="afterEffect">
                                  <p:stCondLst>
                                    <p:cond delay="0"/>
                                  </p:stCondLst>
                                  <p:iterate type="lt">
                                    <p:tmPct val="10000"/>
                                  </p:iterate>
                                  <p:childTnLst>
                                    <p:set>
                                      <p:cBhvr>
                                        <p:cTn id="50" dur="1" fill="hold">
                                          <p:stCondLst>
                                            <p:cond delay="0"/>
                                          </p:stCondLst>
                                        </p:cTn>
                                        <p:tgtEl>
                                          <p:spTgt spid="10"/>
                                        </p:tgtEl>
                                        <p:attrNameLst>
                                          <p:attrName>style.visibility</p:attrName>
                                        </p:attrNameLst>
                                      </p:cBhvr>
                                      <p:to>
                                        <p:strVal val="visible"/>
                                      </p:to>
                                    </p:set>
                                    <p:anim calcmode="lin" valueType="num">
                                      <p:cBhvr>
                                        <p:cTn id="51" dur="500" fill="hold"/>
                                        <p:tgtEl>
                                          <p:spTgt spid="10"/>
                                        </p:tgtEl>
                                        <p:attrNameLst>
                                          <p:attrName>ppt_x</p:attrName>
                                        </p:attrNameLst>
                                      </p:cBhvr>
                                      <p:tavLst>
                                        <p:tav tm="0">
                                          <p:val>
                                            <p:strVal val="#ppt_x"/>
                                          </p:val>
                                        </p:tav>
                                        <p:tav tm="50000">
                                          <p:val>
                                            <p:strVal val="#ppt_x+.1"/>
                                          </p:val>
                                        </p:tav>
                                        <p:tav tm="100000">
                                          <p:val>
                                            <p:strVal val="#ppt_x"/>
                                          </p:val>
                                        </p:tav>
                                      </p:tavLst>
                                    </p:anim>
                                    <p:anim calcmode="lin" valueType="num">
                                      <p:cBhvr>
                                        <p:cTn id="52" dur="500" fill="hold"/>
                                        <p:tgtEl>
                                          <p:spTgt spid="10"/>
                                        </p:tgtEl>
                                        <p:attrNameLst>
                                          <p:attrName>ppt_y</p:attrName>
                                        </p:attrNameLst>
                                      </p:cBhvr>
                                      <p:tavLst>
                                        <p:tav tm="0">
                                          <p:val>
                                            <p:strVal val="#ppt_y"/>
                                          </p:val>
                                        </p:tav>
                                        <p:tav tm="100000">
                                          <p:val>
                                            <p:strVal val="#ppt_y"/>
                                          </p:val>
                                        </p:tav>
                                      </p:tavLst>
                                    </p:anim>
                                    <p:anim calcmode="lin" valueType="num">
                                      <p:cBhvr>
                                        <p:cTn id="53" dur="500" fill="hold"/>
                                        <p:tgtEl>
                                          <p:spTgt spid="10"/>
                                        </p:tgtEl>
                                        <p:attrNameLst>
                                          <p:attrName>ppt_h</p:attrName>
                                        </p:attrNameLst>
                                      </p:cBhvr>
                                      <p:tavLst>
                                        <p:tav tm="0">
                                          <p:val>
                                            <p:strVal val="#ppt_h/10"/>
                                          </p:val>
                                        </p:tav>
                                        <p:tav tm="50000">
                                          <p:val>
                                            <p:strVal val="#ppt_h+.01"/>
                                          </p:val>
                                        </p:tav>
                                        <p:tav tm="100000">
                                          <p:val>
                                            <p:strVal val="#ppt_h"/>
                                          </p:val>
                                        </p:tav>
                                      </p:tavLst>
                                    </p:anim>
                                    <p:anim calcmode="lin" valueType="num">
                                      <p:cBhvr>
                                        <p:cTn id="54" dur="500" fill="hold"/>
                                        <p:tgtEl>
                                          <p:spTgt spid="10"/>
                                        </p:tgtEl>
                                        <p:attrNameLst>
                                          <p:attrName>ppt_w</p:attrName>
                                        </p:attrNameLst>
                                      </p:cBhvr>
                                      <p:tavLst>
                                        <p:tav tm="0">
                                          <p:val>
                                            <p:strVal val="#ppt_w/10"/>
                                          </p:val>
                                        </p:tav>
                                        <p:tav tm="50000">
                                          <p:val>
                                            <p:strVal val="#ppt_w+.01"/>
                                          </p:val>
                                        </p:tav>
                                        <p:tav tm="100000">
                                          <p:val>
                                            <p:strVal val="#ppt_w"/>
                                          </p:val>
                                        </p:tav>
                                      </p:tavLst>
                                    </p:anim>
                                    <p:animEffect transition="in" filter="fade">
                                      <p:cBhvr>
                                        <p:cTn id="55" dur="500" tmFilter="0,0; .5, 1; 1, 1"/>
                                        <p:tgtEl>
                                          <p:spTgt spid="10"/>
                                        </p:tgtEl>
                                      </p:cBhvr>
                                    </p:animEffect>
                                  </p:childTnLst>
                                </p:cTn>
                              </p:par>
                            </p:childTnLst>
                          </p:cTn>
                        </p:par>
                        <p:par>
                          <p:cTn id="56" fill="hold">
                            <p:stCondLst>
                              <p:cond delay="4349"/>
                            </p:stCondLst>
                            <p:childTnLst>
                              <p:par>
                                <p:cTn id="57" presetID="53" presetClass="entr" presetSubtype="16" fill="hold" grpId="0" nodeType="after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p:cTn id="59" dur="500" fill="hold"/>
                                        <p:tgtEl>
                                          <p:spTgt spid="15"/>
                                        </p:tgtEl>
                                        <p:attrNameLst>
                                          <p:attrName>ppt_w</p:attrName>
                                        </p:attrNameLst>
                                      </p:cBhvr>
                                      <p:tavLst>
                                        <p:tav tm="0">
                                          <p:val>
                                            <p:fltVal val="0"/>
                                          </p:val>
                                        </p:tav>
                                        <p:tav tm="100000">
                                          <p:val>
                                            <p:strVal val="#ppt_w"/>
                                          </p:val>
                                        </p:tav>
                                      </p:tavLst>
                                    </p:anim>
                                    <p:anim calcmode="lin" valueType="num">
                                      <p:cBhvr>
                                        <p:cTn id="60" dur="500" fill="hold"/>
                                        <p:tgtEl>
                                          <p:spTgt spid="15"/>
                                        </p:tgtEl>
                                        <p:attrNameLst>
                                          <p:attrName>ppt_h</p:attrName>
                                        </p:attrNameLst>
                                      </p:cBhvr>
                                      <p:tavLst>
                                        <p:tav tm="0">
                                          <p:val>
                                            <p:fltVal val="0"/>
                                          </p:val>
                                        </p:tav>
                                        <p:tav tm="100000">
                                          <p:val>
                                            <p:strVal val="#ppt_h"/>
                                          </p:val>
                                        </p:tav>
                                      </p:tavLst>
                                    </p:anim>
                                    <p:animEffect transition="in" filter="fade">
                                      <p:cBhvr>
                                        <p:cTn id="61" dur="500"/>
                                        <p:tgtEl>
                                          <p:spTgt spid="15"/>
                                        </p:tgtEl>
                                      </p:cBhvr>
                                    </p:animEffect>
                                  </p:childTnLst>
                                </p:cTn>
                              </p:par>
                            </p:childTnLst>
                          </p:cTn>
                        </p:par>
                        <p:par>
                          <p:cTn id="62" fill="hold">
                            <p:stCondLst>
                              <p:cond delay="4849"/>
                            </p:stCondLst>
                            <p:childTnLst>
                              <p:par>
                                <p:cTn id="63" presetID="41" presetClass="entr" presetSubtype="0" fill="hold" grpId="0" nodeType="afterEffect">
                                  <p:stCondLst>
                                    <p:cond delay="0"/>
                                  </p:stCondLst>
                                  <p:iterate type="lt">
                                    <p:tmPct val="10000"/>
                                  </p:iterate>
                                  <p:childTnLst>
                                    <p:set>
                                      <p:cBhvr>
                                        <p:cTn id="64" dur="1" fill="hold">
                                          <p:stCondLst>
                                            <p:cond delay="0"/>
                                          </p:stCondLst>
                                        </p:cTn>
                                        <p:tgtEl>
                                          <p:spTgt spid="16"/>
                                        </p:tgtEl>
                                        <p:attrNameLst>
                                          <p:attrName>style.visibility</p:attrName>
                                        </p:attrNameLst>
                                      </p:cBhvr>
                                      <p:to>
                                        <p:strVal val="visible"/>
                                      </p:to>
                                    </p:set>
                                    <p:anim calcmode="lin" valueType="num">
                                      <p:cBhvr>
                                        <p:cTn id="65"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66" dur="500" fill="hold"/>
                                        <p:tgtEl>
                                          <p:spTgt spid="16"/>
                                        </p:tgtEl>
                                        <p:attrNameLst>
                                          <p:attrName>ppt_y</p:attrName>
                                        </p:attrNameLst>
                                      </p:cBhvr>
                                      <p:tavLst>
                                        <p:tav tm="0">
                                          <p:val>
                                            <p:strVal val="#ppt_y"/>
                                          </p:val>
                                        </p:tav>
                                        <p:tav tm="100000">
                                          <p:val>
                                            <p:strVal val="#ppt_y"/>
                                          </p:val>
                                        </p:tav>
                                      </p:tavLst>
                                    </p:anim>
                                    <p:anim calcmode="lin" valueType="num">
                                      <p:cBhvr>
                                        <p:cTn id="67"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68"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69" dur="500" tmFilter="0,0; .5, 1; 1, 1"/>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6" grpId="0" animBg="1"/>
      <p:bldP spid="7" grpId="0"/>
      <p:bldP spid="9" grpId="0" animBg="1"/>
      <p:bldP spid="10" grpId="0"/>
      <p:bldP spid="12" grpId="0" animBg="1"/>
      <p:bldP spid="15" grpId="0" animBg="1"/>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411510"/>
            <a:ext cx="8366158" cy="4731990"/>
          </a:xfrm>
          <a:prstGeom prst="rect">
            <a:avLst/>
          </a:prstGeom>
        </p:spPr>
      </p:pic>
      <p:sp>
        <p:nvSpPr>
          <p:cNvPr id="12" name="文本框 11"/>
          <p:cNvSpPr txBox="1"/>
          <p:nvPr/>
        </p:nvSpPr>
        <p:spPr>
          <a:xfrm>
            <a:off x="4319972" y="843558"/>
            <a:ext cx="4032448" cy="2306955"/>
          </a:xfrm>
          <a:prstGeom prst="rect">
            <a:avLst/>
          </a:prstGeom>
          <a:noFill/>
        </p:spPr>
        <p:txBody>
          <a:bodyPr wrap="square" rtlCol="0">
            <a:spAutoFit/>
          </a:bodyPr>
          <a:lstStyle/>
          <a:p>
            <a:pPr algn="l"/>
            <a:r>
              <a:rPr lang="zh-CN" altLang="en-US" sz="4800" dirty="0">
                <a:solidFill>
                  <a:schemeClr val="accent1">
                    <a:lumMod val="50000"/>
                    <a:alpha val="85000"/>
                  </a:schemeClr>
                </a:solidFill>
                <a:latin typeface="+mj-ea"/>
                <a:ea typeface="+mj-ea"/>
                <a:cs typeface="MiSans Normal" panose="00000500000000000000" charset="-122"/>
                <a:sym typeface="+mn-ea"/>
              </a:rPr>
              <a:t>课程</a:t>
            </a:r>
            <a:r>
              <a:rPr lang="zh-CN" altLang="en-US" sz="4800" dirty="0">
                <a:solidFill>
                  <a:schemeClr val="accent1">
                    <a:lumMod val="50000"/>
                    <a:alpha val="85000"/>
                  </a:schemeClr>
                </a:solidFill>
                <a:latin typeface="+mj-ea"/>
                <a:ea typeface="+mj-ea"/>
                <a:cs typeface="MiSans Normal" panose="00000500000000000000" charset="-122"/>
                <a:sym typeface="+mn-ea"/>
              </a:rPr>
              <a:t>收获</a:t>
            </a:r>
            <a:endParaRPr lang="zh-CN" altLang="en-US" sz="4800" dirty="0">
              <a:solidFill>
                <a:schemeClr val="accent1">
                  <a:lumMod val="50000"/>
                  <a:alpha val="85000"/>
                </a:schemeClr>
              </a:solidFill>
              <a:latin typeface="+mj-ea"/>
              <a:ea typeface="+mj-ea"/>
              <a:cs typeface="MiSans Normal" panose="00000500000000000000" charset="-122"/>
              <a:sym typeface="+mn-ea"/>
            </a:endParaRPr>
          </a:p>
          <a:p>
            <a:pPr algn="ctr"/>
            <a:endParaRPr lang="zh-CN" altLang="en-US" sz="4800" spc="225" dirty="0">
              <a:latin typeface="+mn-ea"/>
              <a:cs typeface="+mn-ea"/>
            </a:endParaRPr>
          </a:p>
          <a:p>
            <a:pPr algn="ctr"/>
            <a:endParaRPr lang="zh-CN" altLang="en-US" sz="4800" dirty="0" smtClean="0">
              <a:latin typeface="+mn-ea"/>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800" advClick="0" advTm="0">
        <p14:flythrough/>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2" presetClass="entr" presetSubtype="0" fill="hold" grpId="0" nodeType="afterEffect">
                                  <p:stCondLst>
                                    <p:cond delay="0"/>
                                  </p:stCondLst>
                                  <p:iterate type="lt">
                                    <p:tmPct val="10000"/>
                                  </p:iterate>
                                  <p:childTnLst>
                                    <p:set>
                                      <p:cBhvr>
                                        <p:cTn id="12" dur="1" fill="hold">
                                          <p:stCondLst>
                                            <p:cond delay="0"/>
                                          </p:stCondLst>
                                        </p:cTn>
                                        <p:tgtEl>
                                          <p:spTgt spid="12"/>
                                        </p:tgtEl>
                                        <p:attrNameLst>
                                          <p:attrName>style.visibility</p:attrName>
                                        </p:attrNameLst>
                                      </p:cBhvr>
                                      <p:to>
                                        <p:strVal val="visible"/>
                                      </p:to>
                                    </p:set>
                                    <p:animScale>
                                      <p:cBhvr>
                                        <p:cTn id="13" dur="1000" decel="50000" fill="hold">
                                          <p:stCondLst>
                                            <p:cond delay="0"/>
                                          </p:stCondLst>
                                        </p:cTn>
                                        <p:tgtEl>
                                          <p:spTgt spid="1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4" dur="1000" decel="50000" fill="hold">
                                          <p:stCondLst>
                                            <p:cond delay="0"/>
                                          </p:stCondLst>
                                        </p:cTn>
                                        <p:tgtEl>
                                          <p:spTgt spid="12"/>
                                        </p:tgtEl>
                                        <p:attrNameLst>
                                          <p:attrName>ppt_x</p:attrName>
                                          <p:attrName>ppt_y</p:attrName>
                                        </p:attrNameLst>
                                      </p:cBhvr>
                                    </p:animMotion>
                                    <p:animEffect transition="in" filter="fade">
                                      <p:cBhvr>
                                        <p:cTn id="15"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580130" y="153323"/>
            <a:ext cx="1668780" cy="506730"/>
          </a:xfrm>
          <a:prstGeom prst="rect">
            <a:avLst/>
          </a:prstGeom>
          <a:noFill/>
        </p:spPr>
        <p:txBody>
          <a:bodyPr wrap="none" rtlCol="0">
            <a:spAutoFit/>
          </a:bodyPr>
          <a:lstStyle/>
          <a:p>
            <a:pPr algn="ctr"/>
            <a:r>
              <a:rPr lang="zh-CN" altLang="en-US" sz="2700" spc="225" dirty="0">
                <a:latin typeface="+mn-ea"/>
                <a:cs typeface="+mn-ea"/>
              </a:rPr>
              <a:t>课程</a:t>
            </a:r>
            <a:r>
              <a:rPr lang="zh-CN" altLang="en-US" sz="2700" spc="225" dirty="0">
                <a:latin typeface="+mn-ea"/>
                <a:cs typeface="+mn-ea"/>
              </a:rPr>
              <a:t>收获</a:t>
            </a:r>
            <a:endParaRPr lang="zh-CN" altLang="en-US" sz="2700" spc="225" dirty="0">
              <a:latin typeface="+mn-ea"/>
              <a:cs typeface="+mn-ea"/>
            </a:endParaRPr>
          </a:p>
        </p:txBody>
      </p:sp>
      <p:sp>
        <p:nvSpPr>
          <p:cNvPr id="4" name="文本框 3"/>
          <p:cNvSpPr txBox="1"/>
          <p:nvPr/>
        </p:nvSpPr>
        <p:spPr>
          <a:xfrm>
            <a:off x="107950" y="1275715"/>
            <a:ext cx="8403590" cy="2306955"/>
          </a:xfrm>
          <a:prstGeom prst="rect">
            <a:avLst/>
          </a:prstGeom>
          <a:noFill/>
        </p:spPr>
        <p:txBody>
          <a:bodyPr wrap="square" rtlCol="0">
            <a:spAutoFit/>
          </a:bodyPr>
          <a:p>
            <a:r>
              <a:rPr lang="zh-CN" altLang="en-US">
                <a:sym typeface="+mn-ea"/>
              </a:rPr>
              <a:t>通过这六个实验，我从一开始只会照着连简单电路，到后来能够独立完成单周期和多周期 MIPS CPU 的整体设计，逐步学会了万能表格的填写方法，并能利用万能表格去设计控制器、进行封装和调用，不再是盲目地堆控制信号。同时也对 CPU 的五大基本模块形成了较为系统、完整的认识。在不断反复调试的过程中，我对各类电路元器件的工作原理及其相互配合有了更深刻的理解，也逐渐养成了规范撰写实验报告、总结实验过程的习惯，整体工程意识和动手能力都有了明显提升。</a:t>
            </a:r>
            <a:endParaRPr lang="zh-CN" altLang="en-US"/>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advClick="0" advTm="0">
        <p14:flythrough/>
      </p:transition>
    </mc:Choice>
    <mc:Fallback>
      <p:transition spd="slow" advClick="0" advTm="0">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411510"/>
            <a:ext cx="8366158" cy="4731990"/>
          </a:xfrm>
          <a:prstGeom prst="rect">
            <a:avLst/>
          </a:prstGeom>
        </p:spPr>
      </p:pic>
      <p:sp>
        <p:nvSpPr>
          <p:cNvPr id="12" name="文本框 11"/>
          <p:cNvSpPr txBox="1"/>
          <p:nvPr/>
        </p:nvSpPr>
        <p:spPr>
          <a:xfrm>
            <a:off x="4319972" y="843558"/>
            <a:ext cx="4032448" cy="2306955"/>
          </a:xfrm>
          <a:prstGeom prst="rect">
            <a:avLst/>
          </a:prstGeom>
          <a:noFill/>
        </p:spPr>
        <p:txBody>
          <a:bodyPr wrap="square" rtlCol="0">
            <a:spAutoFit/>
          </a:bodyPr>
          <a:lstStyle/>
          <a:p>
            <a:pPr algn="l"/>
            <a:r>
              <a:rPr lang="zh-CN" altLang="en-US" sz="4800" dirty="0">
                <a:solidFill>
                  <a:schemeClr val="accent1">
                    <a:lumMod val="50000"/>
                    <a:alpha val="85000"/>
                  </a:schemeClr>
                </a:solidFill>
                <a:latin typeface="+mj-ea"/>
                <a:ea typeface="+mj-ea"/>
                <a:cs typeface="MiSans Normal" panose="00000500000000000000" charset="-122"/>
                <a:sym typeface="+mn-ea"/>
              </a:rPr>
              <a:t>最有价值</a:t>
            </a:r>
            <a:r>
              <a:rPr lang="zh-CN" altLang="en-US" sz="4800" dirty="0">
                <a:solidFill>
                  <a:schemeClr val="accent1">
                    <a:lumMod val="50000"/>
                    <a:alpha val="85000"/>
                  </a:schemeClr>
                </a:solidFill>
                <a:latin typeface="+mj-ea"/>
                <a:ea typeface="+mj-ea"/>
                <a:cs typeface="MiSans Normal" panose="00000500000000000000" charset="-122"/>
                <a:sym typeface="+mn-ea"/>
              </a:rPr>
              <a:t>实验</a:t>
            </a:r>
            <a:endParaRPr lang="zh-CN" altLang="en-US" sz="4800" dirty="0">
              <a:solidFill>
                <a:schemeClr val="accent1">
                  <a:lumMod val="50000"/>
                  <a:alpha val="85000"/>
                </a:schemeClr>
              </a:solidFill>
              <a:latin typeface="+mj-ea"/>
              <a:ea typeface="+mj-ea"/>
              <a:cs typeface="MiSans Normal" panose="00000500000000000000" charset="-122"/>
              <a:sym typeface="+mn-ea"/>
            </a:endParaRPr>
          </a:p>
          <a:p>
            <a:pPr algn="ctr"/>
            <a:endParaRPr lang="zh-CN" altLang="en-US" sz="4800" spc="225" dirty="0">
              <a:latin typeface="+mn-ea"/>
              <a:cs typeface="+mn-ea"/>
            </a:endParaRPr>
          </a:p>
          <a:p>
            <a:pPr algn="ctr"/>
            <a:endParaRPr lang="zh-CN" altLang="en-US" sz="4800" dirty="0" smtClean="0">
              <a:latin typeface="+mn-ea"/>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800" advClick="0" advTm="0">
        <p14:flythrough/>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2" presetClass="entr" presetSubtype="0" fill="hold" grpId="0" nodeType="afterEffect">
                                  <p:stCondLst>
                                    <p:cond delay="0"/>
                                  </p:stCondLst>
                                  <p:iterate type="lt">
                                    <p:tmPct val="10000"/>
                                  </p:iterate>
                                  <p:childTnLst>
                                    <p:set>
                                      <p:cBhvr>
                                        <p:cTn id="12" dur="1" fill="hold">
                                          <p:stCondLst>
                                            <p:cond delay="0"/>
                                          </p:stCondLst>
                                        </p:cTn>
                                        <p:tgtEl>
                                          <p:spTgt spid="12"/>
                                        </p:tgtEl>
                                        <p:attrNameLst>
                                          <p:attrName>style.visibility</p:attrName>
                                        </p:attrNameLst>
                                      </p:cBhvr>
                                      <p:to>
                                        <p:strVal val="visible"/>
                                      </p:to>
                                    </p:set>
                                    <p:animScale>
                                      <p:cBhvr>
                                        <p:cTn id="13" dur="1000" decel="50000" fill="hold">
                                          <p:stCondLst>
                                            <p:cond delay="0"/>
                                          </p:stCondLst>
                                        </p:cTn>
                                        <p:tgtEl>
                                          <p:spTgt spid="1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4" dur="1000" decel="50000" fill="hold">
                                          <p:stCondLst>
                                            <p:cond delay="0"/>
                                          </p:stCondLst>
                                        </p:cTn>
                                        <p:tgtEl>
                                          <p:spTgt spid="12"/>
                                        </p:tgtEl>
                                        <p:attrNameLst>
                                          <p:attrName>ppt_x</p:attrName>
                                          <p:attrName>ppt_y</p:attrName>
                                        </p:attrNameLst>
                                      </p:cBhvr>
                                    </p:animMotion>
                                    <p:animEffect transition="in" filter="fade">
                                      <p:cBhvr>
                                        <p:cTn id="15"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2627630" y="153323"/>
            <a:ext cx="3573780" cy="922020"/>
          </a:xfrm>
          <a:prstGeom prst="rect">
            <a:avLst/>
          </a:prstGeom>
          <a:noFill/>
        </p:spPr>
        <p:txBody>
          <a:bodyPr wrap="none" rtlCol="0">
            <a:spAutoFit/>
          </a:bodyPr>
          <a:lstStyle/>
          <a:p>
            <a:pPr algn="l"/>
            <a:r>
              <a:rPr lang="zh-CN" altLang="en-US" sz="2700" dirty="0">
                <a:solidFill>
                  <a:schemeClr val="accent1">
                    <a:lumMod val="50000"/>
                    <a:alpha val="85000"/>
                  </a:schemeClr>
                </a:solidFill>
                <a:latin typeface="+mj-ea"/>
                <a:ea typeface="+mj-ea"/>
                <a:cs typeface="MiSans Normal" panose="00000500000000000000" charset="-122"/>
                <a:sym typeface="+mn-ea"/>
              </a:rPr>
              <a:t>多周期</a:t>
            </a:r>
            <a:r>
              <a:rPr lang="en-US" altLang="zh-CN" sz="2700" dirty="0">
                <a:solidFill>
                  <a:schemeClr val="accent1">
                    <a:lumMod val="50000"/>
                    <a:alpha val="85000"/>
                  </a:schemeClr>
                </a:solidFill>
                <a:latin typeface="+mj-ea"/>
                <a:ea typeface="+mj-ea"/>
                <a:cs typeface="MiSans Normal" panose="00000500000000000000" charset="-122"/>
                <a:sym typeface="+mn-ea"/>
              </a:rPr>
              <a:t> MIPS CPU</a:t>
            </a:r>
            <a:r>
              <a:rPr lang="zh-CN" altLang="en-US" sz="2700" dirty="0">
                <a:solidFill>
                  <a:schemeClr val="accent1">
                    <a:lumMod val="50000"/>
                    <a:alpha val="85000"/>
                  </a:schemeClr>
                </a:solidFill>
                <a:latin typeface="+mj-ea"/>
                <a:ea typeface="+mj-ea"/>
                <a:cs typeface="MiSans Normal" panose="00000500000000000000" charset="-122"/>
                <a:sym typeface="+mn-ea"/>
              </a:rPr>
              <a:t>设计</a:t>
            </a:r>
            <a:endParaRPr lang="zh-CN" altLang="en-US" sz="2700" dirty="0">
              <a:solidFill>
                <a:schemeClr val="accent1">
                  <a:lumMod val="50000"/>
                  <a:alpha val="85000"/>
                </a:schemeClr>
              </a:solidFill>
              <a:latin typeface="+mj-ea"/>
              <a:ea typeface="+mj-ea"/>
              <a:cs typeface="MiSans Normal" panose="00000500000000000000" charset="-122"/>
              <a:sym typeface="+mn-ea"/>
            </a:endParaRPr>
          </a:p>
          <a:p>
            <a:pPr algn="ctr"/>
            <a:endParaRPr lang="zh-CN" altLang="en-US" sz="2700" spc="225" dirty="0">
              <a:latin typeface="+mn-ea"/>
              <a:cs typeface="+mn-ea"/>
            </a:endParaRPr>
          </a:p>
        </p:txBody>
      </p:sp>
      <p:pic>
        <p:nvPicPr>
          <p:cNvPr id="3" name="图片 1"/>
          <p:cNvPicPr>
            <a:picLocks noChangeAspect="1"/>
          </p:cNvPicPr>
          <p:nvPr/>
        </p:nvPicPr>
        <p:blipFill>
          <a:blip r:embed="rId1"/>
          <a:srcRect t="15579" b="22030"/>
          <a:stretch>
            <a:fillRect/>
          </a:stretch>
        </p:blipFill>
        <p:spPr>
          <a:xfrm>
            <a:off x="1907540" y="555625"/>
            <a:ext cx="5261610" cy="2087880"/>
          </a:xfrm>
          <a:prstGeom prst="rect">
            <a:avLst/>
          </a:prstGeom>
          <a:noFill/>
          <a:ln>
            <a:noFill/>
          </a:ln>
        </p:spPr>
      </p:pic>
      <p:sp>
        <p:nvSpPr>
          <p:cNvPr id="4" name="文本框 3"/>
          <p:cNvSpPr txBox="1"/>
          <p:nvPr/>
        </p:nvSpPr>
        <p:spPr>
          <a:xfrm>
            <a:off x="107315" y="2644140"/>
            <a:ext cx="8403590" cy="2030095"/>
          </a:xfrm>
          <a:prstGeom prst="rect">
            <a:avLst/>
          </a:prstGeom>
          <a:noFill/>
        </p:spPr>
        <p:txBody>
          <a:bodyPr wrap="square" rtlCol="0">
            <a:spAutoFit/>
          </a:bodyPr>
          <a:p>
            <a:r>
              <a:rPr lang="zh-CN" altLang="en-US"/>
              <a:t>设计微程序控制器是一个系统化的过程，首先要定义所有必要的状态和对应的微指令，然后绘制出状态转换图以明确不同状态间的转换逻辑。接着，基于状态转换图，需要在Excel等工具中设计微程序地址转移逻辑，这通常涉及到编写逻辑表达式。同时，必须为控制指令设置相应的控制信号，并在控制存储器中输入这些信号的十六进制值。此外，还需设计指令译码逻辑和运算器控制逻辑，以确保正确地激活控制信号并控制运算器的行为。最后，使用Logisim构建微程序控制器的电路图，并进行详尽的测试和验证以确保设计的正确性</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advClick="0" advTm="0">
        <p14:flythrough/>
      </p:transition>
    </mc:Choice>
    <mc:Fallback>
      <p:transition spd="slow" advClick="0" advTm="0">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2627630" y="153323"/>
            <a:ext cx="3573780" cy="922020"/>
          </a:xfrm>
          <a:prstGeom prst="rect">
            <a:avLst/>
          </a:prstGeom>
          <a:noFill/>
        </p:spPr>
        <p:txBody>
          <a:bodyPr wrap="none" rtlCol="0">
            <a:spAutoFit/>
          </a:bodyPr>
          <a:lstStyle/>
          <a:p>
            <a:pPr algn="l"/>
            <a:r>
              <a:rPr lang="zh-CN" altLang="en-US" sz="2700" dirty="0">
                <a:solidFill>
                  <a:schemeClr val="accent1">
                    <a:lumMod val="50000"/>
                    <a:alpha val="85000"/>
                  </a:schemeClr>
                </a:solidFill>
                <a:latin typeface="+mj-ea"/>
                <a:ea typeface="+mj-ea"/>
                <a:cs typeface="MiSans Normal" panose="00000500000000000000" charset="-122"/>
                <a:sym typeface="+mn-ea"/>
              </a:rPr>
              <a:t>多周期</a:t>
            </a:r>
            <a:r>
              <a:rPr lang="en-US" altLang="zh-CN" sz="2700" dirty="0">
                <a:solidFill>
                  <a:schemeClr val="accent1">
                    <a:lumMod val="50000"/>
                    <a:alpha val="85000"/>
                  </a:schemeClr>
                </a:solidFill>
                <a:latin typeface="+mj-ea"/>
                <a:ea typeface="+mj-ea"/>
                <a:cs typeface="MiSans Normal" panose="00000500000000000000" charset="-122"/>
                <a:sym typeface="+mn-ea"/>
              </a:rPr>
              <a:t> MIPS CPU</a:t>
            </a:r>
            <a:r>
              <a:rPr lang="zh-CN" altLang="en-US" sz="2700" dirty="0">
                <a:solidFill>
                  <a:schemeClr val="accent1">
                    <a:lumMod val="50000"/>
                    <a:alpha val="85000"/>
                  </a:schemeClr>
                </a:solidFill>
                <a:latin typeface="+mj-ea"/>
                <a:ea typeface="+mj-ea"/>
                <a:cs typeface="MiSans Normal" panose="00000500000000000000" charset="-122"/>
                <a:sym typeface="+mn-ea"/>
              </a:rPr>
              <a:t>设计</a:t>
            </a:r>
            <a:endParaRPr lang="zh-CN" altLang="en-US" sz="2700" dirty="0">
              <a:solidFill>
                <a:schemeClr val="accent1">
                  <a:lumMod val="50000"/>
                  <a:alpha val="85000"/>
                </a:schemeClr>
              </a:solidFill>
              <a:latin typeface="+mj-ea"/>
              <a:ea typeface="+mj-ea"/>
              <a:cs typeface="MiSans Normal" panose="00000500000000000000" charset="-122"/>
              <a:sym typeface="+mn-ea"/>
            </a:endParaRPr>
          </a:p>
          <a:p>
            <a:pPr algn="ctr"/>
            <a:endParaRPr lang="zh-CN" altLang="en-US" sz="2700" spc="225" dirty="0">
              <a:latin typeface="+mn-ea"/>
              <a:cs typeface="+mn-ea"/>
            </a:endParaRPr>
          </a:p>
        </p:txBody>
      </p:sp>
      <p:pic>
        <p:nvPicPr>
          <p:cNvPr id="3" name="图片 1"/>
          <p:cNvPicPr>
            <a:picLocks noChangeAspect="1"/>
          </p:cNvPicPr>
          <p:nvPr/>
        </p:nvPicPr>
        <p:blipFill>
          <a:blip r:embed="rId1"/>
          <a:srcRect t="15579" b="22030"/>
          <a:stretch>
            <a:fillRect/>
          </a:stretch>
        </p:blipFill>
        <p:spPr>
          <a:xfrm>
            <a:off x="1907540" y="555625"/>
            <a:ext cx="5261610" cy="2087880"/>
          </a:xfrm>
          <a:prstGeom prst="rect">
            <a:avLst/>
          </a:prstGeom>
          <a:noFill/>
          <a:ln>
            <a:noFill/>
          </a:ln>
        </p:spPr>
      </p:pic>
      <p:sp>
        <p:nvSpPr>
          <p:cNvPr id="4" name="文本框 3"/>
          <p:cNvSpPr txBox="1"/>
          <p:nvPr/>
        </p:nvSpPr>
        <p:spPr>
          <a:xfrm>
            <a:off x="107315" y="2644140"/>
            <a:ext cx="8403590" cy="2030095"/>
          </a:xfrm>
          <a:prstGeom prst="rect">
            <a:avLst/>
          </a:prstGeom>
          <a:noFill/>
        </p:spPr>
        <p:txBody>
          <a:bodyPr wrap="square" rtlCol="0">
            <a:spAutoFit/>
          </a:bodyPr>
          <a:p>
            <a:r>
              <a:rPr lang="zh-CN" altLang="en-US"/>
              <a:t>我认为多周期 MIPS CPU</a:t>
            </a:r>
            <a:r>
              <a:rPr lang="zh-CN" altLang="en-US"/>
              <a:t>设计是最有价值的一个实验。它是“万能表格+控制思想”的真正起点，正是在这个实验中学会将一条指令拆分为多个时序阶段，为每个阶段精确填写控制信号，并进行统一调度，从而建立起“指令语义—时序控制—控制信号”的完整映射关系。同时，该实验最直观地展示了 CPU 一拍一拍完成取指、译码、执行、访存和写回的全过程，使我真正理解了指令在硬件中的运行机制。更重要的是，它为后续单周期和硬连线多周期实验提供了稳定的参考模板和理论基础。</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advClick="0" advTm="0">
        <p14:flythrough/>
      </p:transition>
    </mc:Choice>
    <mc:Fallback>
      <p:transition spd="slow" advClick="0" advTm="0">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970" y="411510"/>
            <a:ext cx="8366158" cy="4731990"/>
          </a:xfrm>
          <a:prstGeom prst="rect">
            <a:avLst/>
          </a:prstGeom>
        </p:spPr>
      </p:pic>
      <p:sp>
        <p:nvSpPr>
          <p:cNvPr id="12" name="文本框 11"/>
          <p:cNvSpPr txBox="1"/>
          <p:nvPr/>
        </p:nvSpPr>
        <p:spPr>
          <a:xfrm>
            <a:off x="4319972" y="843558"/>
            <a:ext cx="4032448" cy="1568450"/>
          </a:xfrm>
          <a:prstGeom prst="rect">
            <a:avLst/>
          </a:prstGeom>
          <a:noFill/>
        </p:spPr>
        <p:txBody>
          <a:bodyPr wrap="square" rtlCol="0">
            <a:spAutoFit/>
          </a:bodyPr>
          <a:lstStyle/>
          <a:p>
            <a:pPr algn="ctr"/>
            <a:r>
              <a:rPr lang="zh-CN" altLang="en-US" sz="4800" dirty="0">
                <a:solidFill>
                  <a:schemeClr val="accent1">
                    <a:lumMod val="50000"/>
                    <a:alpha val="85000"/>
                  </a:schemeClr>
                </a:solidFill>
                <a:latin typeface="+mj-ea"/>
                <a:ea typeface="+mj-ea"/>
                <a:cs typeface="MiSans Normal" panose="00000500000000000000" charset="-122"/>
                <a:sym typeface="+mn-ea"/>
              </a:rPr>
              <a:t>难度排序</a:t>
            </a:r>
            <a:endParaRPr lang="zh-CN" altLang="en-US" sz="4800"/>
          </a:p>
          <a:p>
            <a:pPr algn="ctr"/>
            <a:endParaRPr lang="zh-CN" altLang="en-US" sz="4800" dirty="0">
              <a:latin typeface="+mn-ea"/>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800" advClick="0" advTm="0">
        <p14:flythrough/>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2" presetClass="entr" presetSubtype="0" fill="hold" grpId="0" nodeType="afterEffect">
                                  <p:stCondLst>
                                    <p:cond delay="0"/>
                                  </p:stCondLst>
                                  <p:iterate type="lt">
                                    <p:tmPct val="10000"/>
                                  </p:iterate>
                                  <p:childTnLst>
                                    <p:set>
                                      <p:cBhvr>
                                        <p:cTn id="12" dur="1" fill="hold">
                                          <p:stCondLst>
                                            <p:cond delay="0"/>
                                          </p:stCondLst>
                                        </p:cTn>
                                        <p:tgtEl>
                                          <p:spTgt spid="12"/>
                                        </p:tgtEl>
                                        <p:attrNameLst>
                                          <p:attrName>style.visibility</p:attrName>
                                        </p:attrNameLst>
                                      </p:cBhvr>
                                      <p:to>
                                        <p:strVal val="visible"/>
                                      </p:to>
                                    </p:set>
                                    <p:animScale>
                                      <p:cBhvr>
                                        <p:cTn id="13" dur="1000" decel="50000" fill="hold">
                                          <p:stCondLst>
                                            <p:cond delay="0"/>
                                          </p:stCondLst>
                                        </p:cTn>
                                        <p:tgtEl>
                                          <p:spTgt spid="1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4" dur="1000" decel="50000" fill="hold">
                                          <p:stCondLst>
                                            <p:cond delay="0"/>
                                          </p:stCondLst>
                                        </p:cTn>
                                        <p:tgtEl>
                                          <p:spTgt spid="12"/>
                                        </p:tgtEl>
                                        <p:attrNameLst>
                                          <p:attrName>ppt_x</p:attrName>
                                          <p:attrName>ppt_y</p:attrName>
                                        </p:attrNameLst>
                                      </p:cBhvr>
                                    </p:animMotion>
                                    <p:animEffect transition="in" filter="fade">
                                      <p:cBhvr>
                                        <p:cTn id="15"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417060" y="123478"/>
            <a:ext cx="309880" cy="922020"/>
          </a:xfrm>
          <a:prstGeom prst="rect">
            <a:avLst/>
          </a:prstGeom>
          <a:noFill/>
        </p:spPr>
        <p:txBody>
          <a:bodyPr wrap="none" rtlCol="0">
            <a:spAutoFit/>
          </a:bodyPr>
          <a:lstStyle/>
          <a:p>
            <a:pPr algn="ctr"/>
            <a:endParaRPr lang="zh-CN" altLang="en-US" sz="2700" dirty="0">
              <a:latin typeface="+mn-ea"/>
              <a:cs typeface="+mn-ea"/>
            </a:endParaRPr>
          </a:p>
          <a:p>
            <a:pPr algn="ctr"/>
            <a:endParaRPr lang="zh-CN" altLang="en-US" sz="2700" spc="225" dirty="0">
              <a:latin typeface="+mn-ea"/>
              <a:cs typeface="+mn-ea"/>
            </a:endParaRPr>
          </a:p>
        </p:txBody>
      </p:sp>
      <p:sp>
        <p:nvSpPr>
          <p:cNvPr id="4" name="文本框 3"/>
          <p:cNvSpPr txBox="1"/>
          <p:nvPr/>
        </p:nvSpPr>
        <p:spPr>
          <a:xfrm>
            <a:off x="251460" y="411480"/>
            <a:ext cx="8512810" cy="460375"/>
          </a:xfrm>
          <a:prstGeom prst="rect">
            <a:avLst/>
          </a:prstGeom>
          <a:noFill/>
        </p:spPr>
        <p:txBody>
          <a:bodyPr wrap="square" rtlCol="0">
            <a:spAutoFit/>
          </a:bodyPr>
          <a:p>
            <a:r>
              <a:rPr lang="zh-CN" altLang="en-US" sz="1200"/>
              <a:t>指令流水线电路设计</a:t>
            </a:r>
            <a:r>
              <a:rPr lang="en-US" altLang="zh-CN" sz="1200"/>
              <a:t>&gt;</a:t>
            </a:r>
            <a:r>
              <a:rPr lang="zh-CN" altLang="en-US" sz="1200"/>
              <a:t>单周期</a:t>
            </a:r>
            <a:r>
              <a:rPr lang="en-US" altLang="zh-CN" sz="1200"/>
              <a:t>24+3</a:t>
            </a:r>
            <a:r>
              <a:rPr lang="zh-CN" altLang="en-US" sz="1200"/>
              <a:t>指令硬布线</a:t>
            </a:r>
            <a:r>
              <a:rPr lang="en-US" altLang="zh-CN" sz="1200"/>
              <a:t>CPU</a:t>
            </a:r>
            <a:r>
              <a:rPr lang="zh-CN" altLang="en-US" sz="1200"/>
              <a:t>设计</a:t>
            </a:r>
            <a:r>
              <a:rPr lang="en-US" altLang="zh-CN" sz="1200"/>
              <a:t>&gt;</a:t>
            </a:r>
            <a:r>
              <a:rPr lang="zh-CN" altLang="en-US" sz="1200"/>
              <a:t>多周期</a:t>
            </a:r>
            <a:r>
              <a:rPr lang="en-US" altLang="zh-CN" sz="1200"/>
              <a:t>MIPS CPU</a:t>
            </a:r>
            <a:r>
              <a:rPr lang="zh-CN" altLang="en-US" sz="1200"/>
              <a:t>设计</a:t>
            </a:r>
            <a:r>
              <a:rPr lang="en-US" altLang="zh-CN" sz="1200"/>
              <a:t>&gt;</a:t>
            </a:r>
            <a:r>
              <a:rPr lang="zh-CN" altLang="en-US" sz="1200"/>
              <a:t>多周期硬布线</a:t>
            </a:r>
            <a:r>
              <a:rPr lang="en-US" altLang="zh-CN" sz="1200"/>
              <a:t>CPU</a:t>
            </a:r>
            <a:r>
              <a:rPr lang="zh-CN" altLang="en-US" sz="1200"/>
              <a:t>设计</a:t>
            </a:r>
            <a:r>
              <a:rPr lang="en-US" altLang="zh-CN" sz="1200"/>
              <a:t>&gt;</a:t>
            </a:r>
            <a:r>
              <a:rPr lang="zh-CN" altLang="en-US" sz="1200"/>
              <a:t>单周期</a:t>
            </a:r>
            <a:r>
              <a:rPr lang="en-US" altLang="zh-CN" sz="1200"/>
              <a:t>8+3CPU</a:t>
            </a:r>
            <a:r>
              <a:rPr lang="zh-CN" altLang="en-US" sz="1200"/>
              <a:t>设计</a:t>
            </a:r>
            <a:r>
              <a:rPr lang="en-US" altLang="zh-CN" sz="1200"/>
              <a:t>&gt;</a:t>
            </a:r>
            <a:r>
              <a:rPr lang="zh-CN" altLang="en-US" sz="1200"/>
              <a:t>运动</a:t>
            </a:r>
            <a:r>
              <a:rPr lang="zh-CN" altLang="en-US" sz="1200"/>
              <a:t>码表</a:t>
            </a:r>
            <a:endParaRPr lang="zh-CN" altLang="en-US" sz="1200"/>
          </a:p>
        </p:txBody>
      </p:sp>
      <p:sp>
        <p:nvSpPr>
          <p:cNvPr id="2" name="文本框 1"/>
          <p:cNvSpPr txBox="1"/>
          <p:nvPr/>
        </p:nvSpPr>
        <p:spPr>
          <a:xfrm>
            <a:off x="971550" y="1707515"/>
            <a:ext cx="3030855" cy="364490"/>
          </a:xfrm>
          <a:prstGeom prst="rect">
            <a:avLst/>
          </a:prstGeom>
          <a:noFill/>
        </p:spPr>
        <p:txBody>
          <a:bodyPr wrap="square" rtlCol="0">
            <a:noAutofit/>
          </a:bodyPr>
          <a:p>
            <a:endParaRPr lang="zh-CN" altLang="en-US"/>
          </a:p>
        </p:txBody>
      </p:sp>
      <p:sp>
        <p:nvSpPr>
          <p:cNvPr id="5" name="文本框 4"/>
          <p:cNvSpPr txBox="1"/>
          <p:nvPr/>
        </p:nvSpPr>
        <p:spPr>
          <a:xfrm>
            <a:off x="251460" y="1339215"/>
            <a:ext cx="8158480" cy="2946400"/>
          </a:xfrm>
          <a:prstGeom prst="rect">
            <a:avLst/>
          </a:prstGeom>
          <a:noFill/>
        </p:spPr>
        <p:txBody>
          <a:bodyPr wrap="square" rtlCol="0">
            <a:noAutofit/>
          </a:bodyPr>
          <a:p>
            <a:r>
              <a:rPr lang="zh-CN" altLang="en-US"/>
              <a:t>指令流水线电路设计不仅要保证单条指令正确执行，还要同时处理多条指令并行带来的数据相关、控制冒险和时序对齐问题，调试往往跨多个周期进行，是综合难度最高的实验。单周期24+3指令硬布线CPU设计指令数量多、控制信号极其复杂，数据通路庞大，对整体结构把控和连线规范要求都很高。多周期MIPS CPU设计需要将指令拆分为多个阶段执行，重点训练时序控制与整体调度能力。多周期硬布线CPU设计强调状态机与组合逻辑的严密配合，逻辑一旦出错排查成本较大。单周期8+3 CPU设计结构相对简单，主要用于建立CPU基本框架认知。运动码表更多是基础时序电路和状态机的综合应用，系统复杂度最低。</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advClick="0" advTm="0">
        <p14:flythrough/>
      </p:transition>
    </mc:Choice>
    <mc:Fallback>
      <p:transition spd="slow" advClick="0" advTm="0">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411510"/>
            <a:ext cx="8366158" cy="4731990"/>
          </a:xfrm>
          <a:prstGeom prst="rect">
            <a:avLst/>
          </a:prstGeom>
        </p:spPr>
      </p:pic>
      <p:sp>
        <p:nvSpPr>
          <p:cNvPr id="12" name="文本框 11"/>
          <p:cNvSpPr txBox="1"/>
          <p:nvPr/>
        </p:nvSpPr>
        <p:spPr>
          <a:xfrm>
            <a:off x="4319972" y="843558"/>
            <a:ext cx="4032448" cy="1568450"/>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pPr algn="ctr"/>
            <a:r>
              <a:rPr lang="zh-CN" altLang="en-US" sz="4800" spc="225" dirty="0">
                <a:ln/>
                <a:solidFill>
                  <a:schemeClr val="accent4"/>
                </a:solidFill>
                <a:effectLst/>
                <a:latin typeface="+mn-ea"/>
                <a:cs typeface="+mn-ea"/>
              </a:rPr>
              <a:t>建议</a:t>
            </a:r>
            <a:endParaRPr lang="zh-CN" altLang="en-US" sz="4800" spc="225" dirty="0">
              <a:ln/>
              <a:solidFill>
                <a:schemeClr val="accent4"/>
              </a:solidFill>
              <a:effectLst/>
              <a:latin typeface="+mn-ea"/>
              <a:cs typeface="+mn-ea"/>
            </a:endParaRPr>
          </a:p>
          <a:p>
            <a:pPr algn="ctr"/>
            <a:endParaRPr lang="zh-CN" altLang="en-US" sz="4800" spc="225" dirty="0">
              <a:ln/>
              <a:solidFill>
                <a:schemeClr val="accent4"/>
              </a:solidFill>
              <a:effectLst/>
              <a:latin typeface="+mn-ea"/>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800" advClick="0" advTm="0">
        <p14:flythrough/>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2" presetClass="entr" presetSubtype="0" fill="hold" grpId="0" nodeType="afterEffect">
                                  <p:stCondLst>
                                    <p:cond delay="0"/>
                                  </p:stCondLst>
                                  <p:iterate type="lt">
                                    <p:tmPct val="10000"/>
                                  </p:iterate>
                                  <p:childTnLst>
                                    <p:set>
                                      <p:cBhvr>
                                        <p:cTn id="12" dur="1" fill="hold">
                                          <p:stCondLst>
                                            <p:cond delay="0"/>
                                          </p:stCondLst>
                                        </p:cTn>
                                        <p:tgtEl>
                                          <p:spTgt spid="12"/>
                                        </p:tgtEl>
                                        <p:attrNameLst>
                                          <p:attrName>style.visibility</p:attrName>
                                        </p:attrNameLst>
                                      </p:cBhvr>
                                      <p:to>
                                        <p:strVal val="visible"/>
                                      </p:to>
                                    </p:set>
                                    <p:animScale>
                                      <p:cBhvr>
                                        <p:cTn id="13" dur="1000" decel="50000" fill="hold">
                                          <p:stCondLst>
                                            <p:cond delay="0"/>
                                          </p:stCondLst>
                                        </p:cTn>
                                        <p:tgtEl>
                                          <p:spTgt spid="1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4" dur="1000" decel="50000" fill="hold">
                                          <p:stCondLst>
                                            <p:cond delay="0"/>
                                          </p:stCondLst>
                                        </p:cTn>
                                        <p:tgtEl>
                                          <p:spTgt spid="12"/>
                                        </p:tgtEl>
                                        <p:attrNameLst>
                                          <p:attrName>ppt_x</p:attrName>
                                          <p:attrName>ppt_y</p:attrName>
                                        </p:attrNameLst>
                                      </p:cBhvr>
                                    </p:animMotion>
                                    <p:animEffect transition="in" filter="fade">
                                      <p:cBhvr>
                                        <p:cTn id="15"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rcRect r="21025"/>
          <a:stretch>
            <a:fillRect/>
          </a:stretch>
        </p:blipFill>
        <p:spPr>
          <a:xfrm>
            <a:off x="0" y="339725"/>
            <a:ext cx="6607175" cy="4732020"/>
          </a:xfrm>
          <a:prstGeom prst="rect">
            <a:avLst/>
          </a:prstGeom>
        </p:spPr>
      </p:pic>
      <p:sp>
        <p:nvSpPr>
          <p:cNvPr id="12" name="文本框 11"/>
          <p:cNvSpPr txBox="1"/>
          <p:nvPr/>
        </p:nvSpPr>
        <p:spPr>
          <a:xfrm>
            <a:off x="4333942" y="555903"/>
            <a:ext cx="4032448" cy="829945"/>
          </a:xfrm>
          <a:prstGeom prst="rect">
            <a:avLst/>
          </a:prstGeom>
          <a:noFill/>
        </p:spPr>
        <p:txBody>
          <a:bodyPr wrap="square" rtlCol="0">
            <a:spAutoFit/>
          </a:bodyPr>
          <a:lstStyle/>
          <a:p>
            <a:pPr algn="ctr"/>
            <a:r>
              <a:rPr lang="zh-CN" altLang="en-US" sz="4800" dirty="0" smtClean="0">
                <a:latin typeface="+mn-ea"/>
                <a:cs typeface="+mn-ea"/>
              </a:rPr>
              <a:t>汇报完毕！</a:t>
            </a:r>
            <a:endParaRPr lang="zh-CN" altLang="en-US" sz="4800" dirty="0">
              <a:latin typeface="+mn-ea"/>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800" advClick="0" advTm="0">
        <p14:flythrough/>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2" presetClass="entr" presetSubtype="0" fill="hold" grpId="0" nodeType="afterEffect">
                                  <p:stCondLst>
                                    <p:cond delay="0"/>
                                  </p:stCondLst>
                                  <p:iterate type="lt">
                                    <p:tmPct val="10000"/>
                                  </p:iterate>
                                  <p:childTnLst>
                                    <p:set>
                                      <p:cBhvr>
                                        <p:cTn id="12" dur="1" fill="hold">
                                          <p:stCondLst>
                                            <p:cond delay="0"/>
                                          </p:stCondLst>
                                        </p:cTn>
                                        <p:tgtEl>
                                          <p:spTgt spid="12"/>
                                        </p:tgtEl>
                                        <p:attrNameLst>
                                          <p:attrName>style.visibility</p:attrName>
                                        </p:attrNameLst>
                                      </p:cBhvr>
                                      <p:to>
                                        <p:strVal val="visible"/>
                                      </p:to>
                                    </p:set>
                                    <p:animScale>
                                      <p:cBhvr>
                                        <p:cTn id="13" dur="1000" decel="50000" fill="hold">
                                          <p:stCondLst>
                                            <p:cond delay="0"/>
                                          </p:stCondLst>
                                        </p:cTn>
                                        <p:tgtEl>
                                          <p:spTgt spid="1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4" dur="1000" decel="50000" fill="hold">
                                          <p:stCondLst>
                                            <p:cond delay="0"/>
                                          </p:stCondLst>
                                        </p:cTn>
                                        <p:tgtEl>
                                          <p:spTgt spid="12"/>
                                        </p:tgtEl>
                                        <p:attrNameLst>
                                          <p:attrName>ppt_x</p:attrName>
                                          <p:attrName>ppt_y</p:attrName>
                                        </p:attrNameLst>
                                      </p:cBhvr>
                                    </p:animMotion>
                                    <p:animEffect transition="in" filter="fade">
                                      <p:cBhvr>
                                        <p:cTn id="15"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tags/tag1.xml><?xml version="1.0" encoding="utf-8"?>
<p:tagLst xmlns:p="http://schemas.openxmlformats.org/presentationml/2006/main">
  <p:tag name="KSO_WM_UNIT_PLACING_PICTURE_USER_VIEWPORT" val="{&quot;height&quot;:7451.952755905511,&quot;width&quot;:13175.051968503936}"/>
</p:tagLst>
</file>

<file path=ppt/tags/tag2.xml><?xml version="1.0" encoding="utf-8"?>
<p:tagLst xmlns:p="http://schemas.openxmlformats.org/presentationml/2006/main">
  <p:tag name="PA" val="v3.0.0"/>
</p:tagLst>
</file>

<file path=ppt/tags/tag3.xml><?xml version="1.0" encoding="utf-8"?>
<p:tagLst xmlns:p="http://schemas.openxmlformats.org/presentationml/2006/main">
  <p:tag name="PA" val="v3.0.0"/>
</p:tagLst>
</file>

<file path=ppt/tags/tag4.xml><?xml version="1.0" encoding="utf-8"?>
<p:tagLst xmlns:p="http://schemas.openxmlformats.org/presentationml/2006/main">
  <p:tag name="PA" val="v3.0.0"/>
</p:tagLst>
</file>

<file path=ppt/tags/tag5.xml><?xml version="1.0" encoding="utf-8"?>
<p:tagLst xmlns:p="http://schemas.openxmlformats.org/presentationml/2006/main">
  <p:tag name="KSO_WM_DIAGRAM_VIRTUALLY_FRAME" val="{&quot;height&quot;:130.80181102362204,&quot;left&quot;:293.9448031496063,&quot;top&quot;:138.3,&quot;width&quot;:498.8551968503937}"/>
</p:tagLst>
</file>

<file path=ppt/tags/tag6.xml><?xml version="1.0" encoding="utf-8"?>
<p:tagLst xmlns:p="http://schemas.openxmlformats.org/presentationml/2006/main">
  <p:tag name="KSO_WM_DIAGRAM_VIRTUALLY_FRAME" val="{&quot;height&quot;:130.80181102362204,&quot;left&quot;:293.9448031496063,&quot;top&quot;:138.3,&quot;width&quot;:498.8551968503937}"/>
</p:tagLst>
</file>

<file path=ppt/tags/tag7.xml><?xml version="1.0" encoding="utf-8"?>
<p:tagLst xmlns:p="http://schemas.openxmlformats.org/presentationml/2006/main">
  <p:tag name="KSO_WM_DIAGRAM_VIRTUALLY_FRAME" val="{&quot;height&quot;:130.80181102362204,&quot;left&quot;:293.9448031496063,&quot;top&quot;:138.3,&quot;width&quot;:498.8551968503937}"/>
</p:tagLst>
</file>

<file path=ppt/tags/tag8.xml><?xml version="1.0" encoding="utf-8"?>
<p:tagLst xmlns:p="http://schemas.openxmlformats.org/presentationml/2006/main">
  <p:tag name="KSO_WM_DIAGRAM_VIRTUALLY_FRAME" val="{&quot;height&quot;:130.80181102362204,&quot;left&quot;:293.9448031496063,&quot;top&quot;:138.3,&quot;width&quot;:498.8551968503937}"/>
</p:tagLst>
</file>

<file path=ppt/tags/tag9.xml><?xml version="1.0" encoding="utf-8"?>
<p:tagLst xmlns:p="http://schemas.openxmlformats.org/presentationml/2006/main">
  <p:tag name="KSO_WM_DIAGRAM_VIRTUALLY_FRAME" val="{&quot;height&quot;:130.80181102362204,&quot;left&quot;:293.9448031496063,&quot;top&quot;:138.3,&quot;width&quot;:498.8551968503937}"/>
</p:tagLst>
</file>

<file path=ppt/tags/tag10.xml><?xml version="1.0" encoding="utf-8"?>
<p:tagLst xmlns:p="http://schemas.openxmlformats.org/presentationml/2006/main">
  <p:tag name="KSO_WM_DIAGRAM_VIRTUALLY_FRAME" val="{&quot;height&quot;:130.80181102362204,&quot;left&quot;:293.9448031496063,&quot;top&quot;:138.3,&quot;width&quot;:498.8551968503937}"/>
</p:tagLst>
</file>

<file path=ppt/tags/tag11.xml><?xml version="1.0" encoding="utf-8"?>
<p:tagLst xmlns:p="http://schemas.openxmlformats.org/presentationml/2006/main">
  <p:tag name="KSO_WM_DIAGRAM_VIRTUALLY_FRAME" val="{&quot;height&quot;:130.80181102362204,&quot;left&quot;:293.9448031496063,&quot;top&quot;:138.3,&quot;width&quot;:498.8551968503937}"/>
</p:tagLst>
</file>

<file path=ppt/tags/tag12.xml><?xml version="1.0" encoding="utf-8"?>
<p:tagLst xmlns:p="http://schemas.openxmlformats.org/presentationml/2006/main">
  <p:tag name="KSO_WM_DIAGRAM_VIRTUALLY_FRAME" val="{&quot;height&quot;:130.80181102362204,&quot;left&quot;:293.9448031496063,&quot;top&quot;:138.3,&quot;width&quot;:498.8551968503937}"/>
</p:tagLst>
</file>

<file path=ppt/tags/tag13.xml><?xml version="1.0" encoding="utf-8"?>
<p:tagLst xmlns:p="http://schemas.openxmlformats.org/presentationml/2006/main">
  <p:tag name="ISPRING_PRESENTATION_TITLE" val="PowerPoint 演示文稿"/>
  <p:tag name="MH_CONTENTSID" val="1283"/>
  <p:tag name="MH_SECTIONID" val="1284,1285,"/>
  <p:tag name="KSO_WPP_MARK_KEY" val="63739304-979e-4d8b-b2d8-ff729e128786"/>
  <p:tag name="COMMONDATA" val="eyJjb3VudCI6MSwiaGRpZCI6ImI1N2VjY2U5OWRlZDg5MWQzMzNkZjdiOTlmMzk1YzViIiwidXNlckNvdW50IjoxfQ=="/>
  <p:tag name="commondata" val="eyJjb3VudCI6MiwiaGRpZCI6IjFmYjIwY2E5NDAyNzdlYjc4NWQxZDM0Yzc4ZTMzN2E5IiwidXNlckNvdW50IjoxfQ=="/>
</p:tagLst>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Office 主题​​">
  <a:themeElements>
    <a:clrScheme name="自定义 826">
      <a:dk1>
        <a:srgbClr val="000000"/>
      </a:dk1>
      <a:lt1>
        <a:srgbClr val="FFFFFF"/>
      </a:lt1>
      <a:dk2>
        <a:srgbClr val="000000"/>
      </a:dk2>
      <a:lt2>
        <a:srgbClr val="FFFFFF"/>
      </a:lt2>
      <a:accent1>
        <a:srgbClr val="AA3A29"/>
      </a:accent1>
      <a:accent2>
        <a:srgbClr val="AA3A29"/>
      </a:accent2>
      <a:accent3>
        <a:srgbClr val="AA3A29"/>
      </a:accent3>
      <a:accent4>
        <a:srgbClr val="AA3A29"/>
      </a:accent4>
      <a:accent5>
        <a:srgbClr val="AA3A29"/>
      </a:accent5>
      <a:accent6>
        <a:srgbClr val="AA3A29"/>
      </a:accent6>
      <a:hlink>
        <a:srgbClr val="AA3A29"/>
      </a:hlink>
      <a:folHlink>
        <a:srgbClr val="AA3A29"/>
      </a:folHlink>
    </a:clrScheme>
    <a:fontScheme name="Temp">
      <a:majorFont>
        <a:latin typeface="方正苏新诗柳楷简体"/>
        <a:ea typeface="华文行楷"/>
        <a:cs typeface=""/>
      </a:majorFont>
      <a:minorFont>
        <a:latin typeface="方正苏新诗柳楷简体"/>
        <a:ea typeface="华文行楷"/>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a:blip xmlns:r="http://schemas.openxmlformats.org/officeDocument/2006/relationships" r:embed="rId1"/>
          <a:stretch>
            <a:fillRect/>
          </a:stretch>
        </a:blipFill>
        <a:ln>
          <a:noFill/>
        </a:ln>
        <a:effectLst>
          <a:outerShdw blurRad="63500" algn="ctr" rotWithShape="0">
            <a:prstClr val="black">
              <a:alpha val="40000"/>
            </a:prstClr>
          </a:outerShdw>
        </a:effectLst>
      </a:spPr>
      <a:bodyPr rtlCol="0" anchor="ctr"/>
      <a:lstStyle>
        <a:defPPr algn="ctr" defTabSz="914400">
          <a:defRPr sz="1800">
            <a:cs typeface="+mn-ea"/>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1135</Words>
  <Application>WPS 演示</Application>
  <PresentationFormat>全屏显示(16:9)</PresentationFormat>
  <Paragraphs>60</Paragraphs>
  <Slides>11</Slides>
  <Notes>20</Notes>
  <HiddenSlides>0</HiddenSlides>
  <MMClips>1</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11</vt:i4>
      </vt:variant>
    </vt:vector>
  </HeadingPairs>
  <TitlesOfParts>
    <vt:vector size="25" baseType="lpstr">
      <vt:lpstr>Arial</vt:lpstr>
      <vt:lpstr>宋体</vt:lpstr>
      <vt:lpstr>Wingdings</vt:lpstr>
      <vt:lpstr>方正美黑简体</vt:lpstr>
      <vt:lpstr>黑体</vt:lpstr>
      <vt:lpstr>Agency FB</vt:lpstr>
      <vt:lpstr>MiSans Normal</vt:lpstr>
      <vt:lpstr>楷体</vt:lpstr>
      <vt:lpstr>方正苏新诗柳楷简体</vt:lpstr>
      <vt:lpstr>华文行楷</vt:lpstr>
      <vt:lpstr>微软雅黑</vt:lpstr>
      <vt:lpstr>Arial Unicode MS</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柚子设计</dc:creator>
  <cp:lastModifiedBy>乐鱼</cp:lastModifiedBy>
  <cp:revision>3341</cp:revision>
  <dcterms:created xsi:type="dcterms:W3CDTF">2016-03-09T04:37:00Z</dcterms:created>
  <dcterms:modified xsi:type="dcterms:W3CDTF">2025-12-07T07:22:23Z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KSOTemplateUUID">
    <vt:lpwstr>v1.0_mb_T1kpy92V3QJj47GGDuGeow==</vt:lpwstr>
  </property>
  <property fmtid="{D5CDD505-2E9C-101B-9397-08002B2CF9AE}" pid="4" name="ICV">
    <vt:lpwstr>D97D3767312E4B6099916EFED6C3322F_13</vt:lpwstr>
  </property>
</Properties>
</file>