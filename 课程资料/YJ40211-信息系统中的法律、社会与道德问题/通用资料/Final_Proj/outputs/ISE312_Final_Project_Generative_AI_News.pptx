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9671b98294f44e7" /><Relationship Type="http://schemas.openxmlformats.org/officeDocument/2006/relationships/extended-properties" Target="/docProps/app.xml" Id="R186001c2689e42a9" /><Relationship Type="http://schemas.openxmlformats.org/officeDocument/2006/relationships/officeDocument" Target="/ppt/presentation.xml" Id="R13347c63a5594f8e" /></Relationships>
</file>

<file path=ppt/presentation.xml><?xml version="1.0" encoding="utf-8"?>
<p:presentation xmlns:p="http://schemas.openxmlformats.org/presentationml/2006/main">
  <p:sldMasterIdLst>
    <p:sldMasterId xmlns:r="http://schemas.openxmlformats.org/officeDocument/2006/relationships" id="2147483648" r:id="R464e79cf59be420d"/>
  </p:sldMasterIdLst>
  <p:notesMasterIdLst>
    <p:notesMasterId xmlns:r="http://schemas.openxmlformats.org/officeDocument/2006/relationships" r:id="R869f5fb74d194310"/>
  </p:notesMasterIdLst>
  <p:sldIdLst>
    <p:sldId xmlns:r="http://schemas.openxmlformats.org/officeDocument/2006/relationships" id="256" r:id="Rbf685883fa0e4255"/>
    <p:sldId xmlns:r="http://schemas.openxmlformats.org/officeDocument/2006/relationships" id="257" r:id="R4a2a7ca533c942de"/>
    <p:sldId xmlns:r="http://schemas.openxmlformats.org/officeDocument/2006/relationships" id="258" r:id="R1c632d9a98124c2d"/>
    <p:sldId xmlns:r="http://schemas.openxmlformats.org/officeDocument/2006/relationships" id="259" r:id="Rf099d7034ff64fd7"/>
    <p:sldId xmlns:r="http://schemas.openxmlformats.org/officeDocument/2006/relationships" id="260" r:id="R5736207c968a4173"/>
    <p:sldId xmlns:r="http://schemas.openxmlformats.org/officeDocument/2006/relationships" id="261" r:id="Ra2a853a4d6814e79"/>
    <p:sldId xmlns:r="http://schemas.openxmlformats.org/officeDocument/2006/relationships" id="262" r:id="R298baee9c88048b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30ab3e254147f9" /><Relationship Type="http://schemas.openxmlformats.org/officeDocument/2006/relationships/slideMaster" Target="/ppt/slideMasters/slideMaster1.xml" Id="R464e79cf59be420d" /><Relationship Type="http://schemas.openxmlformats.org/officeDocument/2006/relationships/notesMaster" Target="/ppt/notesMasters/notesMaster1.xml" Id="R869f5fb74d194310" /><Relationship Type="http://schemas.openxmlformats.org/officeDocument/2006/relationships/presProps" Target="/ppt/presProps.xml" Id="R660bc986083f4600" /><Relationship Type="http://schemas.openxmlformats.org/officeDocument/2006/relationships/tableStyles" Target="/ppt/tableStyles.xml" Id="R2bfa56775ce34b4c" /><Relationship Type="http://schemas.openxmlformats.org/officeDocument/2006/relationships/slide" Target="/ppt/slides/slide1.xml" Id="Rbf685883fa0e4255" /><Relationship Type="http://schemas.openxmlformats.org/officeDocument/2006/relationships/slide" Target="/ppt/slides/slide2.xml" Id="R4a2a7ca533c942de" /><Relationship Type="http://schemas.openxmlformats.org/officeDocument/2006/relationships/slide" Target="/ppt/slides/slide3.xml" Id="R1c632d9a98124c2d" /><Relationship Type="http://schemas.openxmlformats.org/officeDocument/2006/relationships/slide" Target="/ppt/slides/slide4.xml" Id="Rf099d7034ff64fd7" /><Relationship Type="http://schemas.openxmlformats.org/officeDocument/2006/relationships/slide" Target="/ppt/slides/slide5.xml" Id="R5736207c968a4173" /><Relationship Type="http://schemas.openxmlformats.org/officeDocument/2006/relationships/slide" Target="/ppt/slides/slide6.xml" Id="Ra2a853a4d6814e79" /><Relationship Type="http://schemas.openxmlformats.org/officeDocument/2006/relationships/slide" Target="/ppt/slides/slide7.xml" Id="R298baee9c88048b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d1827ef63c4a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c744d5dd9b2479b" /><Relationship Type="http://schemas.openxmlformats.org/officeDocument/2006/relationships/notesMaster" Target="/ppt/notesMasters/notesMaster1.xml" Id="Rfbe0dade6ddf4f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0577c035dd041dc" /><Relationship Type="http://schemas.openxmlformats.org/officeDocument/2006/relationships/notesMaster" Target="/ppt/notesMasters/notesMaster1.xml" Id="Rcb328a217dac49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0e99677e244da1" /><Relationship Type="http://schemas.openxmlformats.org/officeDocument/2006/relationships/notesMaster" Target="/ppt/notesMasters/notesMaster1.xml" Id="Ra447ee83775047e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4087e5b54d459e" /><Relationship Type="http://schemas.openxmlformats.org/officeDocument/2006/relationships/notesMaster" Target="/ppt/notesMasters/notesMaster1.xml" Id="R8869348117d743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7d649fcf08748bf" /><Relationship Type="http://schemas.openxmlformats.org/officeDocument/2006/relationships/notesMaster" Target="/ppt/notesMasters/notesMaster1.xml" Id="R7eba6fe3bc444bd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4233d8c41d49d7" /><Relationship Type="http://schemas.openxmlformats.org/officeDocument/2006/relationships/notesMaster" Target="/ppt/notesMasters/notesMaster1.xml" Id="R57088f144b8246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ffec84b8834566" /><Relationship Type="http://schemas.openxmlformats.org/officeDocument/2006/relationships/notesMaster" Target="/ppt/notesMasters/notesMaster1.xml" Id="R80ac0309cea241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day professor and classmates. Today, our group presents a final project on a landmark dispute in information systems: The New York Times versus OpenAI and Microsoft. Our focus is how generative AI systems use copyrighted journalism for training and outputs, and why that creates both legal uncertainty and ethical responsibility for AI developers. We will connect this case to course concepts including intellectual property, digital rights management, professional ethics, societal impact, and risk assessment.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mass adoption of generative AI relies heavily on vast training datasets. The problem appears when those datasets include copyrighted journalism created through expensive professional labor, but are used without direct consent, credit, or compensation. This creates tension between innovation and the economic survival of high-quality news production. If AI answers become substitutes for original news articles, the market harm is not abstract: it may reduce traffic, licensing value, and incentives to produce reliable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legal dispute centers on copyright infringement and the defense of fair use. The plaintiffs argue that copying articles for training and generating outputs that can reproduce or substitute for protected text require permission. The defendants are expected to emphasize transformation, technological innovation, and public benefit. A key question is whether model training is comparable to analysis and learning, or whether it creates a product that competes with the original market. Related DMCA and platform-liability arguments also matter because they could affect how AI providers manage training data and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Ethically, this case asks whether AI companies can fairly benefit from human-created journalism without meaningful consent, credit, or compensation. Professional responsibility requires engineers and managers to consider more than technical performance. They must also consider whether the system shifts costs to people who created the underlying information. If journalism loses revenue and audiences because AI outputs replace original articles, society may lose trustworthy reporting. The ethical challenge is to design AI systems that support innovation without damaging the ecosystem that supplies reliable knowledge.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stakeholders show why this is not a simple technology-versus-copyright dispute. AI companies gain product value from broad access to data, but they also face legal and reputational risk. Publishers and creators need compensation and market visibility, yet they also need to operate in an AI-mediated information environment. The public benefits from advanced tools, but may suffer if professional journalism becomes less sustainable. A balanced approach would move away from unauthorized scraping and toward licensing APIs, reliable opt-out mechanisms, and revenue-sharing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member will briefly present their part. Shengxuan handled the legal breakdown and slide organization, focusing on how AI systems create new uncertainty in copyright law. Jisong focused on case details, legal updates, and the DMCA-related issues, learning how provider liability and statutory claims operate in AI disputes. Yihang developed the ethical analysis and practical solutions, connecting the case to professional responsibility, fairness, transparency, and sustainable licensing. This slide is important because the project guidelines require each student to clearly explain individual contribution and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conclusion, this case shows that AI innovation must coexist with legal frameworks and ethical responsibility. Generative AI depends on human-created information, so sustainable information systems should not weaken the people and institutions that produce reliable journalism. The outcome of cases like The New York Times v. OpenAI and Microsoft may determine whether future AI data governance is based on licensing and collaboration, or on continuing litigation. Our references are embedded on this slide as required by the project guidelines. Thank you for your time, and we welcome questions about legal impact, ethical concerns, and risks versus benefits.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733a7749474e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9a2f9a6d0c74c71" /><Relationship Type="http://schemas.openxmlformats.org/officeDocument/2006/relationships/slideLayout" Target="/ppt/slideLayouts/slideLayout1.xml" Id="R6e3641c785c44d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3641c785c44d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1d020c0ec54a03" /><Relationship Type="http://schemas.openxmlformats.org/officeDocument/2006/relationships/notesSlide" Target="/ppt/notesSlides/notesSlide1.xml" Id="R7b4977e448b143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e68bb76b494b1b" /><Relationship Type="http://schemas.openxmlformats.org/officeDocument/2006/relationships/notesSlide" Target="/ppt/notesSlides/notesSlide2.xml" Id="Rf83e0d8b24f745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acbb6b7356402d" /><Relationship Type="http://schemas.openxmlformats.org/officeDocument/2006/relationships/notesSlide" Target="/ppt/notesSlides/notesSlide3.xml" Id="R80e9d928459b4f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e96b07a216e4ed9" /><Relationship Type="http://schemas.openxmlformats.org/officeDocument/2006/relationships/notesSlide" Target="/ppt/notesSlides/notesSlide4.xml" Id="R0dfd3af40dc644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c30b22b4f249b5" /><Relationship Type="http://schemas.openxmlformats.org/officeDocument/2006/relationships/notesSlide" Target="/ppt/notesSlides/notesSlide5.xml" Id="Ra559fd9a2d2a4e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81863245134cd9" /><Relationship Type="http://schemas.openxmlformats.org/officeDocument/2006/relationships/notesSlide" Target="/ppt/notesSlides/notesSlide6.xml" Id="Rb3656765d22847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6ac3c375c64214" /><Relationship Type="http://schemas.openxmlformats.org/officeDocument/2006/relationships/notesSlide" Target="/ppt/notesSlides/notesSlide7.xml" Id="Ra4223cfbda354b43"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cover-left-band">
            <a:extLst xmlns:a="http://schemas.openxmlformats.org/drawingml/2006/main">
              <a:ext uri="{FF2B5EF4-FFF2-40B4-BE49-F238E27FC236}">
                <a16:creationId xmlns:a16="http://schemas.microsoft.com/office/drawing/2014/main" id="{5E80FC74-9F25-4546-BA79-822069C207A5}"/>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 name="cover-top-line">
            <a:extLst xmlns:a="http://schemas.openxmlformats.org/drawingml/2006/main">
              <a:ext uri="{FF2B5EF4-FFF2-40B4-BE49-F238E27FC236}">
                <a16:creationId xmlns:a16="http://schemas.microsoft.com/office/drawing/2014/main" id="{C94137DC-9A39-4BF1-8C7B-F9526B097544}"/>
              </a:ext>
            </a:extLst>
          </p:cNvPr>
          <p:cNvSpPr>
            <a:spLocks xmlns:a="http://schemas.openxmlformats.org/drawingml/2006/main" noGrp="1"/>
          </p:cNvSpPr>
          <p:nvPr/>
        </p:nvSpPr>
        <p:spPr>
          <a:xfrm xmlns:a="http://schemas.openxmlformats.org/drawingml/2006/main">
            <a:off x="685800" y="666750"/>
            <a:ext cx="7810500" cy="38100"/>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3" name="cover-course">
            <a:extLst xmlns:a="http://schemas.openxmlformats.org/drawingml/2006/main">
              <a:ext uri="{FF2B5EF4-FFF2-40B4-BE49-F238E27FC236}">
                <a16:creationId xmlns:a16="http://schemas.microsoft.com/office/drawing/2014/main" id="{4752A82A-6147-470C-A9C9-45B8FFB30B1A}"/>
              </a:ext>
            </a:extLst>
          </p:cNvPr>
          <p:cNvSpPr>
            <a:spLocks xmlns:a="http://schemas.openxmlformats.org/drawingml/2006/main" noGrp="1"/>
          </p:cNvSpPr>
          <p:nvPr/>
        </p:nvSpPr>
        <p:spPr>
          <a:xfrm xmlns:a="http://schemas.openxmlformats.org/drawingml/2006/main">
            <a:off x="685800" y="9144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0F766E"/>
                </a:solidFill>
                <a:latin typeface="Aptos"/>
                <a:ea typeface="Aptos"/>
                <a:cs typeface="Aptos"/>
              </a:defRPr>
            </a:pPr>
            <a:r>
              <a:rPr sz="1125" b="1">
                <a:solidFill>
                  <a:srgbClr val="0F766E"/>
                </a:solidFill>
                <a:latin typeface="Aptos"/>
                <a:ea typeface="Aptos"/>
                <a:cs typeface="Aptos"/>
              </a:rPr>
              <a:t>ISE 312 FINAL PROJECT</a:t>
            </a:r>
          </a:p>
        </p:txBody>
      </p:sp>
      <p:sp>
        <p:nvSpPr>
          <p:cNvPr id="4" name="cover-title">
            <a:extLst xmlns:a="http://schemas.openxmlformats.org/drawingml/2006/main">
              <a:ext uri="{FF2B5EF4-FFF2-40B4-BE49-F238E27FC236}">
                <a16:creationId xmlns:a16="http://schemas.microsoft.com/office/drawing/2014/main" id="{53FF2C10-5679-4FFF-B4AF-42F73CF2ED3B}"/>
              </a:ext>
            </a:extLst>
          </p:cNvPr>
          <p:cNvSpPr>
            <a:spLocks xmlns:a="http://schemas.openxmlformats.org/drawingml/2006/main" noGrp="1"/>
          </p:cNvSpPr>
          <p:nvPr/>
        </p:nvSpPr>
        <p:spPr>
          <a:xfrm xmlns:a="http://schemas.openxmlformats.org/drawingml/2006/main">
            <a:off x="685800" y="1428750"/>
            <a:ext cx="828675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0F172A"/>
                </a:solidFill>
                <a:latin typeface="Aptos Display"/>
                <a:ea typeface="Aptos Display"/>
                <a:cs typeface="Aptos Display"/>
              </a:defRPr>
            </a:pPr>
            <a:r>
              <a:rPr sz="4050" b="1">
                <a:solidFill>
                  <a:srgbClr val="0F172A"/>
                </a:solidFill>
                <a:latin typeface="Aptos Display"/>
                <a:ea typeface="Aptos Display"/>
                <a:cs typeface="Aptos Display"/>
              </a:rPr>
              <a:t>Generative AI Training</a:t>
            </a:r>
          </a:p>
          <a:p xmlns:a="http://schemas.openxmlformats.org/drawingml/2006/main">
            <a:pPr algn="l">
              <a:defRPr sz="4050" b="1">
                <a:solidFill>
                  <a:srgbClr val="0F172A"/>
                </a:solidFill>
                <a:latin typeface="Aptos Display"/>
                <a:ea typeface="Aptos Display"/>
                <a:cs typeface="Aptos Display"/>
              </a:defRPr>
            </a:pPr>
            <a:r>
              <a:rPr sz="4050" b="1">
                <a:solidFill>
                  <a:srgbClr val="0F172A"/>
                </a:solidFill>
                <a:latin typeface="Aptos Display"/>
                <a:ea typeface="Aptos Display"/>
                <a:cs typeface="Aptos Display"/>
              </a:rPr>
              <a:t>and News Copyright</a:t>
            </a:r>
          </a:p>
        </p:txBody>
      </p:sp>
      <p:sp>
        <p:nvSpPr>
          <p:cNvPr id="5" name="cover-subtitle">
            <a:extLst xmlns:a="http://schemas.openxmlformats.org/drawingml/2006/main">
              <a:ext uri="{FF2B5EF4-FFF2-40B4-BE49-F238E27FC236}">
                <a16:creationId xmlns:a16="http://schemas.microsoft.com/office/drawing/2014/main" id="{5C2439F3-4A67-43F7-8B38-D9EBA0CB77B8}"/>
              </a:ext>
            </a:extLst>
          </p:cNvPr>
          <p:cNvSpPr>
            <a:spLocks xmlns:a="http://schemas.openxmlformats.org/drawingml/2006/main" noGrp="1"/>
          </p:cNvSpPr>
          <p:nvPr/>
        </p:nvSpPr>
        <p:spPr>
          <a:xfrm xmlns:a="http://schemas.openxmlformats.org/drawingml/2006/main">
            <a:off x="723900" y="30289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E3A8A"/>
                </a:solidFill>
                <a:latin typeface="Aptos"/>
                <a:ea typeface="Aptos"/>
                <a:cs typeface="Aptos"/>
              </a:defRPr>
            </a:pPr>
            <a:r>
              <a:rPr sz="1800" b="1">
                <a:solidFill>
                  <a:srgbClr val="1E3A8A"/>
                </a:solidFill>
                <a:latin typeface="Aptos"/>
                <a:ea typeface="Aptos"/>
                <a:cs typeface="Aptos"/>
              </a:rPr>
              <a:t>The New York Times v. OpenAI and Microsoft</a:t>
            </a:r>
          </a:p>
        </p:txBody>
      </p:sp>
      <p:sp>
        <p:nvSpPr>
          <p:cNvPr id="6" name="cover-case-panel">
            <a:extLst xmlns:a="http://schemas.openxmlformats.org/drawingml/2006/main">
              <a:ext uri="{FF2B5EF4-FFF2-40B4-BE49-F238E27FC236}">
                <a16:creationId xmlns:a16="http://schemas.microsoft.com/office/drawing/2014/main" id="{56953B31-C8E9-44CF-ADD9-98A1A7ABEEEA}"/>
              </a:ext>
            </a:extLst>
          </p:cNvPr>
          <p:cNvSpPr>
            <a:spLocks xmlns:a="http://schemas.openxmlformats.org/drawingml/2006/main" noGrp="1"/>
          </p:cNvSpPr>
          <p:nvPr/>
        </p:nvSpPr>
        <p:spPr>
          <a:xfrm xmlns:a="http://schemas.openxmlformats.org/drawingml/2006/main">
            <a:off x="7905750" y="1162050"/>
            <a:ext cx="3143250" cy="342900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E2E8F0"/>
            </a:solidFill>
            <a:prstDash val="solid"/>
          </a:ln>
        </p:spPr>
      </p:sp>
      <p:sp>
        <p:nvSpPr>
          <p:cNvPr id="7" name="cover-case-label">
            <a:extLst xmlns:a="http://schemas.openxmlformats.org/drawingml/2006/main">
              <a:ext uri="{FF2B5EF4-FFF2-40B4-BE49-F238E27FC236}">
                <a16:creationId xmlns:a16="http://schemas.microsoft.com/office/drawing/2014/main" id="{D66C0A96-730C-4203-BE79-E34C9C9DCD68}"/>
              </a:ext>
            </a:extLst>
          </p:cNvPr>
          <p:cNvSpPr>
            <a:spLocks xmlns:a="http://schemas.openxmlformats.org/drawingml/2006/main" noGrp="1"/>
          </p:cNvSpPr>
          <p:nvPr/>
        </p:nvSpPr>
        <p:spPr>
          <a:xfrm xmlns:a="http://schemas.openxmlformats.org/drawingml/2006/main">
            <a:off x="8210550" y="15049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0F766E"/>
                </a:solidFill>
                <a:latin typeface="Aptos"/>
                <a:ea typeface="Aptos"/>
                <a:cs typeface="Aptos"/>
              </a:defRPr>
            </a:pPr>
            <a:r>
              <a:rPr sz="1050" b="1">
                <a:solidFill>
                  <a:srgbClr val="0F766E"/>
                </a:solidFill>
                <a:latin typeface="Aptos"/>
                <a:ea typeface="Aptos"/>
                <a:cs typeface="Aptos"/>
              </a:rPr>
              <a:t>CASE FOCUS</a:t>
            </a:r>
          </a:p>
        </p:txBody>
      </p:sp>
      <p:sp>
        <p:nvSpPr>
          <p:cNvPr id="8" name="cover-case-copy">
            <a:extLst xmlns:a="http://schemas.openxmlformats.org/drawingml/2006/main">
              <a:ext uri="{FF2B5EF4-FFF2-40B4-BE49-F238E27FC236}">
                <a16:creationId xmlns:a16="http://schemas.microsoft.com/office/drawing/2014/main" id="{DE0EEA93-3785-4746-ACC9-6783E12058FE}"/>
              </a:ext>
            </a:extLst>
          </p:cNvPr>
          <p:cNvSpPr>
            <a:spLocks xmlns:a="http://schemas.openxmlformats.org/drawingml/2006/main" noGrp="1"/>
          </p:cNvSpPr>
          <p:nvPr/>
        </p:nvSpPr>
        <p:spPr>
          <a:xfrm xmlns:a="http://schemas.openxmlformats.org/drawingml/2006/main">
            <a:off x="8210550" y="1952625"/>
            <a:ext cx="238125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Copyright infringement</a:t>
            </a:r>
          </a:p>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Fair use</a:t>
            </a:r>
          </a:p>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DMCA claims</a:t>
            </a:r>
          </a:p>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Platform liability</a:t>
            </a:r>
          </a:p>
          <a:p xmlns:a="http://schemas.openxmlformats.org/drawingml/2006/main">
            <a:pPr algn="l">
              <a:defRPr sz="1800" b="1">
                <a:solidFill>
                  <a:srgbClr val="0F172A"/>
                </a:solidFill>
                <a:latin typeface="Aptos"/>
                <a:ea typeface="Aptos"/>
                <a:cs typeface="Aptos"/>
              </a:defRPr>
            </a:pPr>
            <a:r>
              <a:rPr sz="1800" b="1">
                <a:solidFill>
                  <a:srgbClr val="0F172A"/>
                </a:solidFill>
                <a:latin typeface="Aptos"/>
                <a:ea typeface="Aptos"/>
                <a:cs typeface="Aptos"/>
              </a:rPr>
              <a:t>Professional ethics</a:t>
            </a:r>
          </a:p>
        </p:txBody>
      </p:sp>
      <p:sp>
        <p:nvSpPr>
          <p:cNvPr id="9" name="cover-case-rule">
            <a:extLst xmlns:a="http://schemas.openxmlformats.org/drawingml/2006/main">
              <a:ext uri="{FF2B5EF4-FFF2-40B4-BE49-F238E27FC236}">
                <a16:creationId xmlns:a16="http://schemas.microsoft.com/office/drawing/2014/main" id="{C84D1C26-79A5-4729-B177-D1AD4BBA2BCE}"/>
              </a:ext>
            </a:extLst>
          </p:cNvPr>
          <p:cNvSpPr>
            <a:spLocks xmlns:a="http://schemas.openxmlformats.org/drawingml/2006/main" noGrp="1"/>
          </p:cNvSpPr>
          <p:nvPr/>
        </p:nvSpPr>
        <p:spPr>
          <a:xfrm xmlns:a="http://schemas.openxmlformats.org/drawingml/2006/main">
            <a:off x="8210550" y="3829050"/>
            <a:ext cx="2000250" cy="2857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10" name="cover-presenters-label">
            <a:extLst xmlns:a="http://schemas.openxmlformats.org/drawingml/2006/main">
              <a:ext uri="{FF2B5EF4-FFF2-40B4-BE49-F238E27FC236}">
                <a16:creationId xmlns:a16="http://schemas.microsoft.com/office/drawing/2014/main" id="{E819BF77-9E92-4344-9717-DBE137E8814B}"/>
              </a:ext>
            </a:extLst>
          </p:cNvPr>
          <p:cNvSpPr>
            <a:spLocks xmlns:a="http://schemas.openxmlformats.org/drawingml/2006/main" noGrp="1"/>
          </p:cNvSpPr>
          <p:nvPr/>
        </p:nvSpPr>
        <p:spPr>
          <a:xfrm xmlns:a="http://schemas.openxmlformats.org/drawingml/2006/main">
            <a:off x="723900" y="4095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F172A"/>
                </a:solidFill>
                <a:latin typeface="Aptos"/>
                <a:ea typeface="Aptos"/>
                <a:cs typeface="Aptos"/>
              </a:defRPr>
            </a:pPr>
            <a:r>
              <a:rPr sz="1275" b="1">
                <a:solidFill>
                  <a:srgbClr val="0F172A"/>
                </a:solidFill>
                <a:latin typeface="Aptos"/>
                <a:ea typeface="Aptos"/>
                <a:cs typeface="Aptos"/>
              </a:rPr>
              <a:t>Presenters</a:t>
            </a:r>
          </a:p>
        </p:txBody>
      </p:sp>
      <p:sp>
        <p:nvSpPr>
          <p:cNvPr id="11" name="cover-presenters">
            <a:extLst xmlns:a="http://schemas.openxmlformats.org/drawingml/2006/main">
              <a:ext uri="{FF2B5EF4-FFF2-40B4-BE49-F238E27FC236}">
                <a16:creationId xmlns:a16="http://schemas.microsoft.com/office/drawing/2014/main" id="{16C70BAF-3098-46A9-AB85-B14579F046DB}"/>
              </a:ext>
            </a:extLst>
          </p:cNvPr>
          <p:cNvSpPr>
            <a:spLocks xmlns:a="http://schemas.openxmlformats.org/drawingml/2006/main" noGrp="1"/>
          </p:cNvSpPr>
          <p:nvPr/>
        </p:nvSpPr>
        <p:spPr>
          <a:xfrm xmlns:a="http://schemas.openxmlformats.org/drawingml/2006/main">
            <a:off x="723900" y="4438650"/>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475569"/>
                </a:solidFill>
                <a:latin typeface="Aptos"/>
                <a:ea typeface="Aptos"/>
                <a:cs typeface="Aptos"/>
              </a:defRPr>
            </a:pPr>
            <a:r>
              <a:rPr sz="1500" b="0">
                <a:solidFill>
                  <a:srgbClr val="475569"/>
                </a:solidFill>
                <a:latin typeface="Aptos"/>
                <a:ea typeface="Aptos"/>
                <a:cs typeface="Aptos"/>
              </a:rPr>
              <a:t>Shengxuan You / 尤晟喧 (R32314015)</a:t>
            </a:r>
          </a:p>
          <a:p xmlns:a="http://schemas.openxmlformats.org/drawingml/2006/main">
            <a:pPr algn="l">
              <a:defRPr sz="1500" b="0">
                <a:solidFill>
                  <a:srgbClr val="475569"/>
                </a:solidFill>
                <a:latin typeface="Aptos"/>
                <a:ea typeface="Aptos"/>
                <a:cs typeface="Aptos"/>
              </a:defRPr>
            </a:pPr>
            <a:r>
              <a:rPr sz="1500" b="0">
                <a:solidFill>
                  <a:srgbClr val="475569"/>
                </a:solidFill>
                <a:latin typeface="Aptos"/>
                <a:ea typeface="Aptos"/>
                <a:cs typeface="Aptos"/>
              </a:rPr>
              <a:t>Jisong Liao / 廖霁松 (R32314065)</a:t>
            </a:r>
          </a:p>
          <a:p xmlns:a="http://schemas.openxmlformats.org/drawingml/2006/main">
            <a:pPr algn="l">
              <a:defRPr sz="1500" b="0">
                <a:solidFill>
                  <a:srgbClr val="475569"/>
                </a:solidFill>
                <a:latin typeface="Aptos"/>
                <a:ea typeface="Aptos"/>
                <a:cs typeface="Aptos"/>
              </a:defRPr>
            </a:pPr>
            <a:r>
              <a:rPr sz="1500" b="0">
                <a:solidFill>
                  <a:srgbClr val="475569"/>
                </a:solidFill>
                <a:latin typeface="Aptos"/>
                <a:ea typeface="Aptos"/>
                <a:cs typeface="Aptos"/>
              </a:rPr>
              <a:t>Yihang Wang / 王一航 (R32314063)</a:t>
            </a:r>
          </a:p>
        </p:txBody>
      </p:sp>
      <p:sp>
        <p:nvSpPr>
          <p:cNvPr id="12" name="cover-course-full">
            <a:extLst xmlns:a="http://schemas.openxmlformats.org/drawingml/2006/main">
              <a:ext uri="{FF2B5EF4-FFF2-40B4-BE49-F238E27FC236}">
                <a16:creationId xmlns:a16="http://schemas.microsoft.com/office/drawing/2014/main" id="{29817CD7-4578-43E2-90AF-500B4D3456BD}"/>
              </a:ext>
            </a:extLst>
          </p:cNvPr>
          <p:cNvSpPr>
            <a:spLocks xmlns:a="http://schemas.openxmlformats.org/drawingml/2006/main" noGrp="1"/>
          </p:cNvSpPr>
          <p:nvPr/>
        </p:nvSpPr>
        <p:spPr>
          <a:xfrm xmlns:a="http://schemas.openxmlformats.org/drawingml/2006/main">
            <a:off x="723900" y="57531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475569"/>
                </a:solidFill>
                <a:latin typeface="Aptos"/>
                <a:ea typeface="Aptos"/>
                <a:cs typeface="Aptos"/>
              </a:defRPr>
            </a:pPr>
            <a:r>
              <a:rPr sz="1350" b="0">
                <a:solidFill>
                  <a:srgbClr val="475569"/>
                </a:solidFill>
                <a:latin typeface="Aptos"/>
                <a:ea typeface="Aptos"/>
                <a:cs typeface="Aptos"/>
              </a:rPr>
              <a:t>ISE 312: Legal, Social, and Ethical Issues in Information Systems</a:t>
            </a:r>
          </a:p>
        </p:txBody>
      </p:sp>
      <p:sp>
        <p:nvSpPr>
          <p:cNvPr id="13" name="cover-date">
            <a:extLst xmlns:a="http://schemas.openxmlformats.org/drawingml/2006/main">
              <a:ext uri="{FF2B5EF4-FFF2-40B4-BE49-F238E27FC236}">
                <a16:creationId xmlns:a16="http://schemas.microsoft.com/office/drawing/2014/main" id="{239739C2-1787-4E2D-B326-9330E79CA20A}"/>
              </a:ext>
            </a:extLst>
          </p:cNvPr>
          <p:cNvSpPr>
            <a:spLocks xmlns:a="http://schemas.openxmlformats.org/drawingml/2006/main" noGrp="1"/>
          </p:cNvSpPr>
          <p:nvPr/>
        </p:nvSpPr>
        <p:spPr>
          <a:xfrm xmlns:a="http://schemas.openxmlformats.org/drawingml/2006/main">
            <a:off x="723900" y="60198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475569"/>
                </a:solidFill>
                <a:latin typeface="Aptos"/>
                <a:ea typeface="Aptos"/>
                <a:cs typeface="Aptos"/>
              </a:defRPr>
            </a:pPr>
            <a:r>
              <a:rPr sz="1125" b="0">
                <a:solidFill>
                  <a:srgbClr val="475569"/>
                </a:solidFill>
                <a:latin typeface="Aptos"/>
                <a:ea typeface="Aptos"/>
                <a:cs typeface="Aptos"/>
              </a:rPr>
              <a:t>Final Submission | June 23, 2026</a:t>
            </a:r>
          </a:p>
        </p:txBody>
      </p:sp>
    </p:spTree>
    <p:extLst>
      <p:ext uri="{BB962C8B-B14F-4D97-AF65-F5344CB8AC3E}">
        <p14:creationId xmlns:p14="http://schemas.microsoft.com/office/powerpoint/2010/main" val="107260021"/>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kicker-2">
            <a:extLst xmlns:a="http://schemas.openxmlformats.org/drawingml/2006/main">
              <a:ext uri="{FF2B5EF4-FFF2-40B4-BE49-F238E27FC236}">
                <a16:creationId xmlns:a16="http://schemas.microsoft.com/office/drawing/2014/main" id="{618C208E-5A98-43A8-BE71-37D7E2E90C47}"/>
              </a:ext>
            </a:extLst>
          </p:cNvPr>
          <p:cNvSpPr>
            <a:spLocks xmlns:a="http://schemas.openxmlformats.org/drawingml/2006/main" noGrp="1"/>
          </p:cNvSpPr>
          <p:nvPr/>
        </p:nvSpPr>
        <p:spPr>
          <a:xfrm xmlns:a="http://schemas.openxmlformats.org/drawingml/2006/main">
            <a:off x="685800" y="4000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GENERATIVE AI TRAINING AND NEWS COPYRIGHT</a:t>
            </a:r>
          </a:p>
        </p:txBody>
      </p:sp>
      <p:sp>
        <p:nvSpPr>
          <p:cNvPr id="2" name="title-2">
            <a:extLst xmlns:a="http://schemas.openxmlformats.org/drawingml/2006/main">
              <a:ext uri="{FF2B5EF4-FFF2-40B4-BE49-F238E27FC236}">
                <a16:creationId xmlns:a16="http://schemas.microsoft.com/office/drawing/2014/main" id="{B76725A6-90D6-4B48-B0EB-42FC89F6B3EE}"/>
              </a:ext>
            </a:extLst>
          </p:cNvPr>
          <p:cNvSpPr>
            <a:spLocks xmlns:a="http://schemas.openxmlformats.org/drawingml/2006/main" noGrp="1"/>
          </p:cNvSpPr>
          <p:nvPr/>
        </p:nvSpPr>
        <p:spPr>
          <a:xfrm xmlns:a="http://schemas.openxmlformats.org/drawingml/2006/main">
            <a:off x="685800" y="6477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0F172A"/>
                </a:solidFill>
                <a:latin typeface="Aptos Display"/>
                <a:ea typeface="Aptos Display"/>
                <a:cs typeface="Aptos Display"/>
              </a:defRPr>
            </a:pPr>
            <a:r>
              <a:rPr sz="2700" b="1">
                <a:solidFill>
                  <a:srgbClr val="0F172A"/>
                </a:solidFill>
                <a:latin typeface="Aptos Display"/>
                <a:ea typeface="Aptos Display"/>
                <a:cs typeface="Aptos Display"/>
              </a:rPr>
              <a:t>Background &amp; Importance</a:t>
            </a:r>
          </a:p>
        </p:txBody>
      </p:sp>
      <p:sp>
        <p:nvSpPr>
          <p:cNvPr id="3" name="accent-2">
            <a:extLst xmlns:a="http://schemas.openxmlformats.org/drawingml/2006/main">
              <a:ext uri="{FF2B5EF4-FFF2-40B4-BE49-F238E27FC236}">
                <a16:creationId xmlns:a16="http://schemas.microsoft.com/office/drawing/2014/main" id="{93ACB805-6DF7-400C-A698-9BF94061C573}"/>
              </a:ext>
            </a:extLst>
          </p:cNvPr>
          <p:cNvSpPr>
            <a:spLocks xmlns:a="http://schemas.openxmlformats.org/drawingml/2006/main" noGrp="1"/>
          </p:cNvSpPr>
          <p:nvPr/>
        </p:nvSpPr>
        <p:spPr>
          <a:xfrm xmlns:a="http://schemas.openxmlformats.org/drawingml/2006/main">
            <a:off x="685800" y="1238250"/>
            <a:ext cx="800100" cy="4762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4" name="footer-rule-2">
            <a:extLst xmlns:a="http://schemas.openxmlformats.org/drawingml/2006/main">
              <a:ext uri="{FF2B5EF4-FFF2-40B4-BE49-F238E27FC236}">
                <a16:creationId xmlns:a16="http://schemas.microsoft.com/office/drawing/2014/main" id="{6F98568D-05C0-4C85-8781-A6704535F859}"/>
              </a:ext>
            </a:extLst>
          </p:cNvPr>
          <p:cNvSpPr>
            <a:spLocks xmlns:a="http://schemas.openxmlformats.org/drawingml/2006/main" noGrp="1"/>
          </p:cNvSpPr>
          <p:nvPr/>
        </p:nvSpPr>
        <p:spPr>
          <a:xfrm xmlns:a="http://schemas.openxmlformats.org/drawingml/2006/main">
            <a:off x="685800" y="6324600"/>
            <a:ext cx="10820400" cy="14288"/>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5" name="footer-course-2">
            <a:extLst xmlns:a="http://schemas.openxmlformats.org/drawingml/2006/main">
              <a:ext uri="{FF2B5EF4-FFF2-40B4-BE49-F238E27FC236}">
                <a16:creationId xmlns:a16="http://schemas.microsoft.com/office/drawing/2014/main" id="{3C06F7AF-D9A3-4CFD-9773-B4D1E4AEECB6}"/>
              </a:ext>
            </a:extLst>
          </p:cNvPr>
          <p:cNvSpPr>
            <a:spLocks xmlns:a="http://schemas.openxmlformats.org/drawingml/2006/main" noGrp="1"/>
          </p:cNvSpPr>
          <p:nvPr/>
        </p:nvSpPr>
        <p:spPr>
          <a:xfrm xmlns:a="http://schemas.openxmlformats.org/drawingml/2006/main">
            <a:off x="685800" y="64389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ISE 312 | Legal, Social, and Ethical Issues in Information Systems</a:t>
            </a:r>
          </a:p>
        </p:txBody>
      </p:sp>
      <p:sp>
        <p:nvSpPr>
          <p:cNvPr id="6" name="footer-page-2">
            <a:extLst xmlns:a="http://schemas.openxmlformats.org/drawingml/2006/main">
              <a:ext uri="{FF2B5EF4-FFF2-40B4-BE49-F238E27FC236}">
                <a16:creationId xmlns:a16="http://schemas.microsoft.com/office/drawing/2014/main" id="{659177BF-AC1C-401E-9CD4-0C00333889E2}"/>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475569"/>
                </a:solidFill>
                <a:latin typeface="Aptos"/>
                <a:ea typeface="Aptos"/>
                <a:cs typeface="Aptos"/>
              </a:defRPr>
            </a:pPr>
            <a:r>
              <a:rPr sz="975" b="0">
                <a:solidFill>
                  <a:srgbClr val="475569"/>
                </a:solidFill>
                <a:latin typeface="Aptos"/>
                <a:ea typeface="Aptos"/>
                <a:cs typeface="Aptos"/>
              </a:rPr>
              <a:t>02</a:t>
            </a:r>
          </a:p>
        </p:txBody>
      </p:sp>
      <p:sp>
        <p:nvSpPr>
          <p:cNvPr id="7" name="s2-left-panel">
            <a:extLst xmlns:a="http://schemas.openxmlformats.org/drawingml/2006/main">
              <a:ext uri="{FF2B5EF4-FFF2-40B4-BE49-F238E27FC236}">
                <a16:creationId xmlns:a16="http://schemas.microsoft.com/office/drawing/2014/main" id="{5EA03DC1-7095-4991-A3D8-BD9AA37D8CF5}"/>
              </a:ext>
            </a:extLst>
          </p:cNvPr>
          <p:cNvSpPr>
            <a:spLocks xmlns:a="http://schemas.openxmlformats.org/drawingml/2006/main" noGrp="1"/>
          </p:cNvSpPr>
          <p:nvPr/>
        </p:nvSpPr>
        <p:spPr>
          <a:xfrm xmlns:a="http://schemas.openxmlformats.org/drawingml/2006/main">
            <a:off x="685800" y="1562100"/>
            <a:ext cx="5095875"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E2E8F0"/>
            </a:solidFill>
            <a:prstDash val="solid"/>
          </a:ln>
        </p:spPr>
      </p:sp>
      <p:sp>
        <p:nvSpPr>
          <p:cNvPr id="8" name="s2-right-panel">
            <a:extLst xmlns:a="http://schemas.openxmlformats.org/drawingml/2006/main">
              <a:ext uri="{FF2B5EF4-FFF2-40B4-BE49-F238E27FC236}">
                <a16:creationId xmlns:a16="http://schemas.microsoft.com/office/drawing/2014/main" id="{E1E4D9CD-5587-4FB6-BAC4-6F0BD313ED3F}"/>
              </a:ext>
            </a:extLst>
          </p:cNvPr>
          <p:cNvSpPr>
            <a:spLocks xmlns:a="http://schemas.openxmlformats.org/drawingml/2006/main" noGrp="1"/>
          </p:cNvSpPr>
          <p:nvPr/>
        </p:nvSpPr>
        <p:spPr>
          <a:xfrm xmlns:a="http://schemas.openxmlformats.org/drawingml/2006/main">
            <a:off x="6410325" y="1562100"/>
            <a:ext cx="5095875" cy="3810000"/>
          </a:xfrm>
          <a:prstGeom xmlns:a="http://schemas.openxmlformats.org/drawingml/2006/main" prst="roundRect">
            <a:avLst>
              <a:gd name="adj" fmla="val 2000"/>
            </a:avLst>
          </a:prstGeom>
          <a:solidFill xmlns:a="http://schemas.openxmlformats.org/drawingml/2006/main">
            <a:srgbClr val="FFFFFF"/>
          </a:solidFill>
          <a:ln xmlns:a="http://schemas.openxmlformats.org/drawingml/2006/main" w="9525">
            <a:solidFill>
              <a:srgbClr val="E2E8F0"/>
            </a:solidFill>
            <a:prstDash val="solid"/>
          </a:ln>
        </p:spPr>
      </p:sp>
      <p:sp>
        <p:nvSpPr>
          <p:cNvPr id="9" name="s2-left-title">
            <a:extLst xmlns:a="http://schemas.openxmlformats.org/drawingml/2006/main">
              <a:ext uri="{FF2B5EF4-FFF2-40B4-BE49-F238E27FC236}">
                <a16:creationId xmlns:a16="http://schemas.microsoft.com/office/drawing/2014/main" id="{0A15168B-AA9B-4155-B0B6-7F1B77262A0B}"/>
              </a:ext>
            </a:extLst>
          </p:cNvPr>
          <p:cNvSpPr>
            <a:spLocks xmlns:a="http://schemas.openxmlformats.org/drawingml/2006/main" noGrp="1"/>
          </p:cNvSpPr>
          <p:nvPr/>
        </p:nvSpPr>
        <p:spPr>
          <a:xfrm xmlns:a="http://schemas.openxmlformats.org/drawingml/2006/main">
            <a:off x="1028700" y="185737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E3A8A"/>
                </a:solidFill>
                <a:latin typeface="Aptos"/>
                <a:ea typeface="Aptos"/>
                <a:cs typeface="Aptos"/>
              </a:defRPr>
            </a:pPr>
            <a:r>
              <a:rPr sz="1800" b="1">
                <a:solidFill>
                  <a:srgbClr val="1E3A8A"/>
                </a:solidFill>
                <a:latin typeface="Aptos"/>
                <a:ea typeface="Aptos"/>
                <a:cs typeface="Aptos"/>
              </a:rPr>
              <a:t>Overview of the Issue</a:t>
            </a:r>
          </a:p>
        </p:txBody>
      </p:sp>
      <p:sp>
        <p:nvSpPr>
          <p:cNvPr id="10" name="s2-left-bullets">
            <a:extLst xmlns:a="http://schemas.openxmlformats.org/drawingml/2006/main">
              <a:ext uri="{FF2B5EF4-FFF2-40B4-BE49-F238E27FC236}">
                <a16:creationId xmlns:a16="http://schemas.microsoft.com/office/drawing/2014/main" id="{915A2640-5CE6-4452-99E0-2282DEB7257A}"/>
              </a:ext>
            </a:extLst>
          </p:cNvPr>
          <p:cNvSpPr>
            <a:spLocks xmlns:a="http://schemas.openxmlformats.org/drawingml/2006/main" noGrp="1"/>
          </p:cNvSpPr>
          <p:nvPr/>
        </p:nvSpPr>
        <p:spPr>
          <a:xfrm xmlns:a="http://schemas.openxmlformats.org/drawingml/2006/main">
            <a:off x="1028700" y="2362200"/>
            <a:ext cx="4286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NYT filed a major lawsuit against OpenAI and Microsoft.</a:t>
            </a:r>
          </a:p>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LLMs allegedly trained on copyrighted journalism without explicit permission or payment.</a:t>
            </a:r>
          </a:p>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Chatbot outputs may reproduce or substitute for protected news content.</a:t>
            </a:r>
          </a:p>
        </p:txBody>
      </p:sp>
      <p:sp>
        <p:nvSpPr>
          <p:cNvPr id="11" name="s2-left-tag">
            <a:extLst xmlns:a="http://schemas.openxmlformats.org/drawingml/2006/main">
              <a:ext uri="{FF2B5EF4-FFF2-40B4-BE49-F238E27FC236}">
                <a16:creationId xmlns:a16="http://schemas.microsoft.com/office/drawing/2014/main" id="{F9C5F342-B38A-4850-BCA2-C4CB393193F7}"/>
              </a:ext>
            </a:extLst>
          </p:cNvPr>
          <p:cNvSpPr>
            <a:spLocks xmlns:a="http://schemas.openxmlformats.org/drawingml/2006/main" noGrp="1"/>
          </p:cNvSpPr>
          <p:nvPr/>
        </p:nvSpPr>
        <p:spPr>
          <a:xfrm xmlns:a="http://schemas.openxmlformats.org/drawingml/2006/main">
            <a:off x="1028700" y="4781550"/>
            <a:ext cx="1809750" cy="304800"/>
          </a:xfrm>
          <a:prstGeom xmlns:a="http://schemas.openxmlformats.org/drawingml/2006/main" prst="roundRect">
            <a:avLst>
              <a:gd name="adj" fmla="val 25000"/>
            </a:avLst>
          </a:prstGeom>
          <a:solidFill xmlns:a="http://schemas.openxmlformats.org/drawingml/2006/main">
            <a:srgbClr val="FEE2E2"/>
          </a:solidFill>
          <a:ln xmlns:a="http://schemas.openxmlformats.org/drawingml/2006/main" w="9525">
            <a:solidFill>
              <a:srgbClr val="B91C1C"/>
            </a:solidFill>
            <a:prstDash val="solid"/>
          </a:ln>
        </p:spPr>
      </p:sp>
      <p:sp>
        <p:nvSpPr>
          <p:cNvPr id="12" name="s2-left-tag-text">
            <a:extLst xmlns:a="http://schemas.openxmlformats.org/drawingml/2006/main">
              <a:ext uri="{FF2B5EF4-FFF2-40B4-BE49-F238E27FC236}">
                <a16:creationId xmlns:a16="http://schemas.microsoft.com/office/drawing/2014/main" id="{AA77FEC0-1F31-400B-810A-CC6457AEEC25}"/>
              </a:ext>
            </a:extLst>
          </p:cNvPr>
          <p:cNvSpPr>
            <a:spLocks xmlns:a="http://schemas.openxmlformats.org/drawingml/2006/main" noGrp="1"/>
          </p:cNvSpPr>
          <p:nvPr/>
        </p:nvSpPr>
        <p:spPr>
          <a:xfrm xmlns:a="http://schemas.openxmlformats.org/drawingml/2006/main">
            <a:off x="1200150" y="483870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B91C1C"/>
                </a:solidFill>
                <a:latin typeface="Aptos"/>
                <a:ea typeface="Aptos"/>
                <a:cs typeface="Aptos"/>
              </a:defRPr>
            </a:pPr>
            <a:r>
              <a:rPr sz="1200" b="1">
                <a:solidFill>
                  <a:srgbClr val="B91C1C"/>
                </a:solidFill>
                <a:latin typeface="Aptos"/>
                <a:ea typeface="Aptos"/>
                <a:cs typeface="Aptos"/>
              </a:rPr>
              <a:t>Legal conflict</a:t>
            </a:r>
          </a:p>
        </p:txBody>
      </p:sp>
      <p:sp>
        <p:nvSpPr>
          <p:cNvPr id="13" name="s2-right-title">
            <a:extLst xmlns:a="http://schemas.openxmlformats.org/drawingml/2006/main">
              <a:ext uri="{FF2B5EF4-FFF2-40B4-BE49-F238E27FC236}">
                <a16:creationId xmlns:a16="http://schemas.microsoft.com/office/drawing/2014/main" id="{63DED456-1F9E-4C67-A83D-9A6049777DAE}"/>
              </a:ext>
            </a:extLst>
          </p:cNvPr>
          <p:cNvSpPr>
            <a:spLocks xmlns:a="http://schemas.openxmlformats.org/drawingml/2006/main" noGrp="1"/>
          </p:cNvSpPr>
          <p:nvPr/>
        </p:nvSpPr>
        <p:spPr>
          <a:xfrm xmlns:a="http://schemas.openxmlformats.org/drawingml/2006/main">
            <a:off x="6753225" y="185737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E3A8A"/>
                </a:solidFill>
                <a:latin typeface="Aptos"/>
                <a:ea typeface="Aptos"/>
                <a:cs typeface="Aptos"/>
              </a:defRPr>
            </a:pPr>
            <a:r>
              <a:rPr sz="1800" b="1">
                <a:solidFill>
                  <a:srgbClr val="1E3A8A"/>
                </a:solidFill>
                <a:latin typeface="Aptos"/>
                <a:ea typeface="Aptos"/>
                <a:cs typeface="Aptos"/>
              </a:rPr>
              <a:t>Why It Matters Today</a:t>
            </a:r>
          </a:p>
        </p:txBody>
      </p:sp>
      <p:sp>
        <p:nvSpPr>
          <p:cNvPr id="14" name="s2-right-bullets">
            <a:extLst xmlns:a="http://schemas.openxmlformats.org/drawingml/2006/main">
              <a:ext uri="{FF2B5EF4-FFF2-40B4-BE49-F238E27FC236}">
                <a16:creationId xmlns:a16="http://schemas.microsoft.com/office/drawing/2014/main" id="{9E3BD01C-F1C7-4DA2-B769-ABFFCC46D1BE}"/>
              </a:ext>
            </a:extLst>
          </p:cNvPr>
          <p:cNvSpPr>
            <a:spLocks xmlns:a="http://schemas.openxmlformats.org/drawingml/2006/main" noGrp="1"/>
          </p:cNvSpPr>
          <p:nvPr/>
        </p:nvSpPr>
        <p:spPr>
          <a:xfrm xmlns:a="http://schemas.openxmlformats.org/drawingml/2006/main">
            <a:off x="6753225" y="2362200"/>
            <a:ext cx="4286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GenAI is widely used for search, writing, summarizing, and decision support.</a:t>
            </a:r>
          </a:p>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AI value depends on large datasets built from professional creative work.</a:t>
            </a:r>
          </a:p>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The outcome may shape future licensing models and journalism sustainability.</a:t>
            </a:r>
          </a:p>
        </p:txBody>
      </p:sp>
      <p:sp>
        <p:nvSpPr>
          <p:cNvPr id="15" name="s2-right-tag">
            <a:extLst xmlns:a="http://schemas.openxmlformats.org/drawingml/2006/main">
              <a:ext uri="{FF2B5EF4-FFF2-40B4-BE49-F238E27FC236}">
                <a16:creationId xmlns:a16="http://schemas.microsoft.com/office/drawing/2014/main" id="{8722F69A-07FD-47D9-97F8-09960BF2DAF8}"/>
              </a:ext>
            </a:extLst>
          </p:cNvPr>
          <p:cNvSpPr>
            <a:spLocks xmlns:a="http://schemas.openxmlformats.org/drawingml/2006/main" noGrp="1"/>
          </p:cNvSpPr>
          <p:nvPr/>
        </p:nvSpPr>
        <p:spPr>
          <a:xfrm xmlns:a="http://schemas.openxmlformats.org/drawingml/2006/main">
            <a:off x="6753225" y="4781550"/>
            <a:ext cx="2286000" cy="304800"/>
          </a:xfrm>
          <a:prstGeom xmlns:a="http://schemas.openxmlformats.org/drawingml/2006/main" prst="roundRect">
            <a:avLst>
              <a:gd name="adj" fmla="val 25000"/>
            </a:avLst>
          </a:prstGeom>
          <a:solidFill xmlns:a="http://schemas.openxmlformats.org/drawingml/2006/main">
            <a:srgbClr val="DCFCE7"/>
          </a:solidFill>
          <a:ln xmlns:a="http://schemas.openxmlformats.org/drawingml/2006/main" w="9525">
            <a:solidFill>
              <a:srgbClr val="15803D"/>
            </a:solidFill>
            <a:prstDash val="solid"/>
          </a:ln>
        </p:spPr>
      </p:sp>
      <p:sp>
        <p:nvSpPr>
          <p:cNvPr id="16" name="s2-right-tag-text">
            <a:extLst xmlns:a="http://schemas.openxmlformats.org/drawingml/2006/main">
              <a:ext uri="{FF2B5EF4-FFF2-40B4-BE49-F238E27FC236}">
                <a16:creationId xmlns:a16="http://schemas.microsoft.com/office/drawing/2014/main" id="{6B80527F-29C1-4C91-BA16-BA23ECF57B95}"/>
              </a:ext>
            </a:extLst>
          </p:cNvPr>
          <p:cNvSpPr>
            <a:spLocks xmlns:a="http://schemas.openxmlformats.org/drawingml/2006/main" noGrp="1"/>
          </p:cNvSpPr>
          <p:nvPr/>
        </p:nvSpPr>
        <p:spPr>
          <a:xfrm xmlns:a="http://schemas.openxmlformats.org/drawingml/2006/main">
            <a:off x="6924675" y="4838700"/>
            <a:ext cx="1857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15803D"/>
                </a:solidFill>
                <a:latin typeface="Aptos"/>
                <a:ea typeface="Aptos"/>
                <a:cs typeface="Aptos"/>
              </a:defRPr>
            </a:pPr>
            <a:r>
              <a:rPr sz="1200" b="1">
                <a:solidFill>
                  <a:srgbClr val="15803D"/>
                </a:solidFill>
                <a:latin typeface="Aptos"/>
                <a:ea typeface="Aptos"/>
                <a:cs typeface="Aptos"/>
              </a:rPr>
              <a:t>Systemic impact</a:t>
            </a:r>
          </a:p>
        </p:txBody>
      </p:sp>
    </p:spTree>
    <p:extLst>
      <p:ext uri="{BB962C8B-B14F-4D97-AF65-F5344CB8AC3E}">
        <p14:creationId xmlns:p14="http://schemas.microsoft.com/office/powerpoint/2010/main" val="1175216954"/>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kicker-3">
            <a:extLst xmlns:a="http://schemas.openxmlformats.org/drawingml/2006/main">
              <a:ext uri="{FF2B5EF4-FFF2-40B4-BE49-F238E27FC236}">
                <a16:creationId xmlns:a16="http://schemas.microsoft.com/office/drawing/2014/main" id="{316EC97D-395C-474E-91EE-874816BB7F71}"/>
              </a:ext>
            </a:extLst>
          </p:cNvPr>
          <p:cNvSpPr>
            <a:spLocks xmlns:a="http://schemas.openxmlformats.org/drawingml/2006/main" noGrp="1"/>
          </p:cNvSpPr>
          <p:nvPr/>
        </p:nvSpPr>
        <p:spPr>
          <a:xfrm xmlns:a="http://schemas.openxmlformats.org/drawingml/2006/main">
            <a:off x="685800" y="4000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GENERATIVE AI TRAINING AND NEWS COPYRIGHT</a:t>
            </a:r>
          </a:p>
        </p:txBody>
      </p:sp>
      <p:sp>
        <p:nvSpPr>
          <p:cNvPr id="2" name="title-3">
            <a:extLst xmlns:a="http://schemas.openxmlformats.org/drawingml/2006/main">
              <a:ext uri="{FF2B5EF4-FFF2-40B4-BE49-F238E27FC236}">
                <a16:creationId xmlns:a16="http://schemas.microsoft.com/office/drawing/2014/main" id="{AF1CDA49-E8EF-4AB9-88DA-17EC0FFD72A9}"/>
              </a:ext>
            </a:extLst>
          </p:cNvPr>
          <p:cNvSpPr>
            <a:spLocks xmlns:a="http://schemas.openxmlformats.org/drawingml/2006/main" noGrp="1"/>
          </p:cNvSpPr>
          <p:nvPr/>
        </p:nvSpPr>
        <p:spPr>
          <a:xfrm xmlns:a="http://schemas.openxmlformats.org/drawingml/2006/main">
            <a:off x="685800" y="6477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0F172A"/>
                </a:solidFill>
                <a:latin typeface="Aptos Display"/>
                <a:ea typeface="Aptos Display"/>
                <a:cs typeface="Aptos Display"/>
              </a:defRPr>
            </a:pPr>
            <a:r>
              <a:rPr sz="2700" b="1">
                <a:solidFill>
                  <a:srgbClr val="0F172A"/>
                </a:solidFill>
                <a:latin typeface="Aptos Display"/>
                <a:ea typeface="Aptos Display"/>
                <a:cs typeface="Aptos Display"/>
              </a:rPr>
              <a:t>Legal Issues</a:t>
            </a:r>
          </a:p>
        </p:txBody>
      </p:sp>
      <p:sp>
        <p:nvSpPr>
          <p:cNvPr id="3" name="accent-3">
            <a:extLst xmlns:a="http://schemas.openxmlformats.org/drawingml/2006/main">
              <a:ext uri="{FF2B5EF4-FFF2-40B4-BE49-F238E27FC236}">
                <a16:creationId xmlns:a16="http://schemas.microsoft.com/office/drawing/2014/main" id="{63529B4A-7DCF-4914-BD27-984B61EBCC6B}"/>
              </a:ext>
            </a:extLst>
          </p:cNvPr>
          <p:cNvSpPr>
            <a:spLocks xmlns:a="http://schemas.openxmlformats.org/drawingml/2006/main" noGrp="1"/>
          </p:cNvSpPr>
          <p:nvPr/>
        </p:nvSpPr>
        <p:spPr>
          <a:xfrm xmlns:a="http://schemas.openxmlformats.org/drawingml/2006/main">
            <a:off x="685800" y="1238250"/>
            <a:ext cx="800100" cy="4762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4" name="footer-rule-3">
            <a:extLst xmlns:a="http://schemas.openxmlformats.org/drawingml/2006/main">
              <a:ext uri="{FF2B5EF4-FFF2-40B4-BE49-F238E27FC236}">
                <a16:creationId xmlns:a16="http://schemas.microsoft.com/office/drawing/2014/main" id="{10F3F17C-50FF-4D9F-98AF-948564DB1500}"/>
              </a:ext>
            </a:extLst>
          </p:cNvPr>
          <p:cNvSpPr>
            <a:spLocks xmlns:a="http://schemas.openxmlformats.org/drawingml/2006/main" noGrp="1"/>
          </p:cNvSpPr>
          <p:nvPr/>
        </p:nvSpPr>
        <p:spPr>
          <a:xfrm xmlns:a="http://schemas.openxmlformats.org/drawingml/2006/main">
            <a:off x="685800" y="6324600"/>
            <a:ext cx="10820400" cy="14288"/>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5" name="footer-course-3">
            <a:extLst xmlns:a="http://schemas.openxmlformats.org/drawingml/2006/main">
              <a:ext uri="{FF2B5EF4-FFF2-40B4-BE49-F238E27FC236}">
                <a16:creationId xmlns:a16="http://schemas.microsoft.com/office/drawing/2014/main" id="{FD6A4DF6-F800-41D0-8C9A-9CBB96CB22D8}"/>
              </a:ext>
            </a:extLst>
          </p:cNvPr>
          <p:cNvSpPr>
            <a:spLocks xmlns:a="http://schemas.openxmlformats.org/drawingml/2006/main" noGrp="1"/>
          </p:cNvSpPr>
          <p:nvPr/>
        </p:nvSpPr>
        <p:spPr>
          <a:xfrm xmlns:a="http://schemas.openxmlformats.org/drawingml/2006/main">
            <a:off x="685800" y="64389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ISE 312 | Legal, Social, and Ethical Issues in Information Systems</a:t>
            </a:r>
          </a:p>
        </p:txBody>
      </p:sp>
      <p:sp>
        <p:nvSpPr>
          <p:cNvPr id="6" name="footer-page-3">
            <a:extLst xmlns:a="http://schemas.openxmlformats.org/drawingml/2006/main">
              <a:ext uri="{FF2B5EF4-FFF2-40B4-BE49-F238E27FC236}">
                <a16:creationId xmlns:a16="http://schemas.microsoft.com/office/drawing/2014/main" id="{432FB5A2-09FB-4C10-BF6E-2D7EFD8C3535}"/>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475569"/>
                </a:solidFill>
                <a:latin typeface="Aptos"/>
                <a:ea typeface="Aptos"/>
                <a:cs typeface="Aptos"/>
              </a:defRPr>
            </a:pPr>
            <a:r>
              <a:rPr sz="975" b="0">
                <a:solidFill>
                  <a:srgbClr val="475569"/>
                </a:solidFill>
                <a:latin typeface="Aptos"/>
                <a:ea typeface="Aptos"/>
                <a:cs typeface="Aptos"/>
              </a:rPr>
              <a:t>03</a:t>
            </a:r>
          </a:p>
        </p:txBody>
      </p:sp>
      <p:sp>
        <p:nvSpPr>
          <p:cNvPr id="7" name="s3-panel-COPYRIGHT">
            <a:extLst xmlns:a="http://schemas.openxmlformats.org/drawingml/2006/main">
              <a:ext uri="{FF2B5EF4-FFF2-40B4-BE49-F238E27FC236}">
                <a16:creationId xmlns:a16="http://schemas.microsoft.com/office/drawing/2014/main" id="{9F482449-B44E-4A1B-A994-2BFFC4AE3551}"/>
              </a:ext>
            </a:extLst>
          </p:cNvPr>
          <p:cNvSpPr>
            <a:spLocks xmlns:a="http://schemas.openxmlformats.org/drawingml/2006/main" noGrp="1"/>
          </p:cNvSpPr>
          <p:nvPr/>
        </p:nvSpPr>
        <p:spPr>
          <a:xfrm xmlns:a="http://schemas.openxmlformats.org/drawingml/2006/main">
            <a:off x="685800" y="1638300"/>
            <a:ext cx="3048000" cy="382905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E2E8F0"/>
            </a:solidFill>
            <a:prstDash val="solid"/>
          </a:ln>
        </p:spPr>
      </p:sp>
      <p:sp>
        <p:nvSpPr>
          <p:cNvPr id="8" name="s3-chip-COPYRIGHT">
            <a:extLst xmlns:a="http://schemas.openxmlformats.org/drawingml/2006/main">
              <a:ext uri="{FF2B5EF4-FFF2-40B4-BE49-F238E27FC236}">
                <a16:creationId xmlns:a16="http://schemas.microsoft.com/office/drawing/2014/main" id="{ADAFEA60-9B12-47E4-8F16-19098076B309}"/>
              </a:ext>
            </a:extLst>
          </p:cNvPr>
          <p:cNvSpPr>
            <a:spLocks xmlns:a="http://schemas.openxmlformats.org/drawingml/2006/main" noGrp="1"/>
          </p:cNvSpPr>
          <p:nvPr/>
        </p:nvSpPr>
        <p:spPr>
          <a:xfrm xmlns:a="http://schemas.openxmlformats.org/drawingml/2006/main">
            <a:off x="952500" y="1924050"/>
            <a:ext cx="1219200" cy="323850"/>
          </a:xfrm>
          <a:prstGeom xmlns:a="http://schemas.openxmlformats.org/drawingml/2006/main" prst="roundRect">
            <a:avLst>
              <a:gd name="adj" fmla="val 23529"/>
            </a:avLst>
          </a:prstGeom>
          <a:solidFill xmlns:a="http://schemas.openxmlformats.org/drawingml/2006/main">
            <a:srgbClr val="FEE2E2"/>
          </a:solidFill>
          <a:ln xmlns:a="http://schemas.openxmlformats.org/drawingml/2006/main" w="9525">
            <a:solidFill>
              <a:srgbClr val="B91C1C"/>
            </a:solidFill>
            <a:prstDash val="solid"/>
          </a:ln>
        </p:spPr>
      </p:sp>
      <p:sp>
        <p:nvSpPr>
          <p:cNvPr id="9" name="s3-chip-text-COPYRIGHT">
            <a:extLst xmlns:a="http://schemas.openxmlformats.org/drawingml/2006/main">
              <a:ext uri="{FF2B5EF4-FFF2-40B4-BE49-F238E27FC236}">
                <a16:creationId xmlns:a16="http://schemas.microsoft.com/office/drawing/2014/main" id="{F2467624-FD05-4B57-A55F-E6E362DD6D93}"/>
              </a:ext>
            </a:extLst>
          </p:cNvPr>
          <p:cNvSpPr>
            <a:spLocks xmlns:a="http://schemas.openxmlformats.org/drawingml/2006/main" noGrp="1"/>
          </p:cNvSpPr>
          <p:nvPr/>
        </p:nvSpPr>
        <p:spPr>
          <a:xfrm xmlns:a="http://schemas.openxmlformats.org/drawingml/2006/main">
            <a:off x="1085850" y="19907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B91C1C"/>
                </a:solidFill>
                <a:latin typeface="Aptos"/>
                <a:ea typeface="Aptos"/>
                <a:cs typeface="Aptos"/>
              </a:defRPr>
            </a:pPr>
            <a:r>
              <a:rPr sz="1050" b="1">
                <a:solidFill>
                  <a:srgbClr val="B91C1C"/>
                </a:solidFill>
                <a:latin typeface="Aptos"/>
                <a:ea typeface="Aptos"/>
                <a:cs typeface="Aptos"/>
              </a:rPr>
              <a:t>COPYRIGHT</a:t>
            </a:r>
          </a:p>
        </p:txBody>
      </p:sp>
      <p:sp>
        <p:nvSpPr>
          <p:cNvPr id="10" name="s3-title-COPYRIGHT">
            <a:extLst xmlns:a="http://schemas.openxmlformats.org/drawingml/2006/main">
              <a:ext uri="{FF2B5EF4-FFF2-40B4-BE49-F238E27FC236}">
                <a16:creationId xmlns:a16="http://schemas.microsoft.com/office/drawing/2014/main" id="{F4883A6E-D334-4A6C-9873-94256E67F49F}"/>
              </a:ext>
            </a:extLst>
          </p:cNvPr>
          <p:cNvSpPr>
            <a:spLocks xmlns:a="http://schemas.openxmlformats.org/drawingml/2006/main" noGrp="1"/>
          </p:cNvSpPr>
          <p:nvPr/>
        </p:nvSpPr>
        <p:spPr>
          <a:xfrm xmlns:a="http://schemas.openxmlformats.org/drawingml/2006/main">
            <a:off x="952500" y="24765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Core Infringement Claims</a:t>
            </a:r>
          </a:p>
        </p:txBody>
      </p:sp>
      <p:sp>
        <p:nvSpPr>
          <p:cNvPr id="11" name="s3-body-COPYRIGHT">
            <a:extLst xmlns:a="http://schemas.openxmlformats.org/drawingml/2006/main">
              <a:ext uri="{FF2B5EF4-FFF2-40B4-BE49-F238E27FC236}">
                <a16:creationId xmlns:a16="http://schemas.microsoft.com/office/drawing/2014/main" id="{B50E2A00-98D2-4A63-91DD-5B90DCC9D8F0}"/>
              </a:ext>
            </a:extLst>
          </p:cNvPr>
          <p:cNvSpPr>
            <a:spLocks xmlns:a="http://schemas.openxmlformats.org/drawingml/2006/main" noGrp="1"/>
          </p:cNvSpPr>
          <p:nvPr/>
        </p:nvSpPr>
        <p:spPr>
          <a:xfrm xmlns:a="http://schemas.openxmlformats.org/drawingml/2006/main">
            <a:off x="952500" y="3238500"/>
            <a:ext cx="24003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 Unauthorized copying of articles for model training.</a:t>
            </a:r>
          </a:p>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 Potential storage of protected expression in model weights.</a:t>
            </a:r>
          </a:p>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 Outputs that reproduce near-verbatim or substitutive text.</a:t>
            </a:r>
          </a:p>
        </p:txBody>
      </p:sp>
      <p:sp>
        <p:nvSpPr>
          <p:cNvPr id="12" name="s3-panel-FAIR USE">
            <a:extLst xmlns:a="http://schemas.openxmlformats.org/drawingml/2006/main">
              <a:ext uri="{FF2B5EF4-FFF2-40B4-BE49-F238E27FC236}">
                <a16:creationId xmlns:a16="http://schemas.microsoft.com/office/drawing/2014/main" id="{CEC133B4-3005-4143-B1E9-20D5E668ECF6}"/>
              </a:ext>
            </a:extLst>
          </p:cNvPr>
          <p:cNvSpPr>
            <a:spLocks xmlns:a="http://schemas.openxmlformats.org/drawingml/2006/main" noGrp="1"/>
          </p:cNvSpPr>
          <p:nvPr/>
        </p:nvSpPr>
        <p:spPr>
          <a:xfrm xmlns:a="http://schemas.openxmlformats.org/drawingml/2006/main">
            <a:off x="4229100" y="1638300"/>
            <a:ext cx="3048000" cy="382905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E2E8F0"/>
            </a:solidFill>
            <a:prstDash val="solid"/>
          </a:ln>
        </p:spPr>
      </p:sp>
      <p:sp>
        <p:nvSpPr>
          <p:cNvPr id="13" name="s3-chip-FAIR USE">
            <a:extLst xmlns:a="http://schemas.openxmlformats.org/drawingml/2006/main">
              <a:ext uri="{FF2B5EF4-FFF2-40B4-BE49-F238E27FC236}">
                <a16:creationId xmlns:a16="http://schemas.microsoft.com/office/drawing/2014/main" id="{B5FC526E-5416-4AF3-91B3-68A6329E94E1}"/>
              </a:ext>
            </a:extLst>
          </p:cNvPr>
          <p:cNvSpPr>
            <a:spLocks xmlns:a="http://schemas.openxmlformats.org/drawingml/2006/main" noGrp="1"/>
          </p:cNvSpPr>
          <p:nvPr/>
        </p:nvSpPr>
        <p:spPr>
          <a:xfrm xmlns:a="http://schemas.openxmlformats.org/drawingml/2006/main">
            <a:off x="4495800" y="1924050"/>
            <a:ext cx="1219200" cy="323850"/>
          </a:xfrm>
          <a:prstGeom xmlns:a="http://schemas.openxmlformats.org/drawingml/2006/main" prst="roundRect">
            <a:avLst>
              <a:gd name="adj" fmla="val 23529"/>
            </a:avLst>
          </a:prstGeom>
          <a:solidFill xmlns:a="http://schemas.openxmlformats.org/drawingml/2006/main">
            <a:srgbClr val="CCFBF1"/>
          </a:solidFill>
          <a:ln xmlns:a="http://schemas.openxmlformats.org/drawingml/2006/main" w="9525">
            <a:solidFill>
              <a:srgbClr val="0F766E"/>
            </a:solidFill>
            <a:prstDash val="solid"/>
          </a:ln>
        </p:spPr>
      </p:sp>
      <p:sp>
        <p:nvSpPr>
          <p:cNvPr id="14" name="s3-chip-text-FAIR USE">
            <a:extLst xmlns:a="http://schemas.openxmlformats.org/drawingml/2006/main">
              <a:ext uri="{FF2B5EF4-FFF2-40B4-BE49-F238E27FC236}">
                <a16:creationId xmlns:a16="http://schemas.microsoft.com/office/drawing/2014/main" id="{E6B62C37-33A7-4DB4-9750-93C2032F92B5}"/>
              </a:ext>
            </a:extLst>
          </p:cNvPr>
          <p:cNvSpPr>
            <a:spLocks xmlns:a="http://schemas.openxmlformats.org/drawingml/2006/main" noGrp="1"/>
          </p:cNvSpPr>
          <p:nvPr/>
        </p:nvSpPr>
        <p:spPr>
          <a:xfrm xmlns:a="http://schemas.openxmlformats.org/drawingml/2006/main">
            <a:off x="4629150" y="19907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0F766E"/>
                </a:solidFill>
                <a:latin typeface="Aptos"/>
                <a:ea typeface="Aptos"/>
                <a:cs typeface="Aptos"/>
              </a:defRPr>
            </a:pPr>
            <a:r>
              <a:rPr sz="1050" b="1">
                <a:solidFill>
                  <a:srgbClr val="0F766E"/>
                </a:solidFill>
                <a:latin typeface="Aptos"/>
                <a:ea typeface="Aptos"/>
                <a:cs typeface="Aptos"/>
              </a:rPr>
              <a:t>FAIR USE</a:t>
            </a:r>
          </a:p>
        </p:txBody>
      </p:sp>
      <p:sp>
        <p:nvSpPr>
          <p:cNvPr id="15" name="s3-title-FAIR USE">
            <a:extLst xmlns:a="http://schemas.openxmlformats.org/drawingml/2006/main">
              <a:ext uri="{FF2B5EF4-FFF2-40B4-BE49-F238E27FC236}">
                <a16:creationId xmlns:a16="http://schemas.microsoft.com/office/drawing/2014/main" id="{5E90BE6E-B03E-4726-B874-6468344822F6}"/>
              </a:ext>
            </a:extLst>
          </p:cNvPr>
          <p:cNvSpPr>
            <a:spLocks xmlns:a="http://schemas.openxmlformats.org/drawingml/2006/main" noGrp="1"/>
          </p:cNvSpPr>
          <p:nvPr/>
        </p:nvSpPr>
        <p:spPr>
          <a:xfrm xmlns:a="http://schemas.openxmlformats.org/drawingml/2006/main">
            <a:off x="4495800" y="24765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The Fair Use Debate</a:t>
            </a:r>
          </a:p>
        </p:txBody>
      </p:sp>
      <p:sp>
        <p:nvSpPr>
          <p:cNvPr id="16" name="s3-body-FAIR USE">
            <a:extLst xmlns:a="http://schemas.openxmlformats.org/drawingml/2006/main">
              <a:ext uri="{FF2B5EF4-FFF2-40B4-BE49-F238E27FC236}">
                <a16:creationId xmlns:a16="http://schemas.microsoft.com/office/drawing/2014/main" id="{89334FF9-7072-4ADF-B0EE-9F67C33A0512}"/>
              </a:ext>
            </a:extLst>
          </p:cNvPr>
          <p:cNvSpPr>
            <a:spLocks xmlns:a="http://schemas.openxmlformats.org/drawingml/2006/main" noGrp="1"/>
          </p:cNvSpPr>
          <p:nvPr/>
        </p:nvSpPr>
        <p:spPr>
          <a:xfrm xmlns:a="http://schemas.openxmlformats.org/drawingml/2006/main">
            <a:off x="4495800" y="3238500"/>
            <a:ext cx="24003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 Whether training is sufficiently transformative.</a:t>
            </a:r>
          </a:p>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 How courts weigh purpose, nature, amount, and market effect.</a:t>
            </a:r>
          </a:p>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 Market harm if AI tools replace access to original journalism.</a:t>
            </a:r>
          </a:p>
        </p:txBody>
      </p:sp>
      <p:sp>
        <p:nvSpPr>
          <p:cNvPr id="17" name="s3-panel-DMCA">
            <a:extLst xmlns:a="http://schemas.openxmlformats.org/drawingml/2006/main">
              <a:ext uri="{FF2B5EF4-FFF2-40B4-BE49-F238E27FC236}">
                <a16:creationId xmlns:a16="http://schemas.microsoft.com/office/drawing/2014/main" id="{682A91DC-D891-446E-9F2F-389B54A56D52}"/>
              </a:ext>
            </a:extLst>
          </p:cNvPr>
          <p:cNvSpPr>
            <a:spLocks xmlns:a="http://schemas.openxmlformats.org/drawingml/2006/main" noGrp="1"/>
          </p:cNvSpPr>
          <p:nvPr/>
        </p:nvSpPr>
        <p:spPr>
          <a:xfrm xmlns:a="http://schemas.openxmlformats.org/drawingml/2006/main">
            <a:off x="7772400" y="1638300"/>
            <a:ext cx="3048000" cy="3829050"/>
          </a:xfrm>
          <a:prstGeom xmlns:a="http://schemas.openxmlformats.org/drawingml/2006/main" prst="roundRect">
            <a:avLst>
              <a:gd name="adj" fmla="val 2500"/>
            </a:avLst>
          </a:prstGeom>
          <a:solidFill xmlns:a="http://schemas.openxmlformats.org/drawingml/2006/main">
            <a:srgbClr val="FFFFFF"/>
          </a:solidFill>
          <a:ln xmlns:a="http://schemas.openxmlformats.org/drawingml/2006/main" w="9525">
            <a:solidFill>
              <a:srgbClr val="E2E8F0"/>
            </a:solidFill>
            <a:prstDash val="solid"/>
          </a:ln>
        </p:spPr>
      </p:sp>
      <p:sp>
        <p:nvSpPr>
          <p:cNvPr id="18" name="s3-chip-DMCA">
            <a:extLst xmlns:a="http://schemas.openxmlformats.org/drawingml/2006/main">
              <a:ext uri="{FF2B5EF4-FFF2-40B4-BE49-F238E27FC236}">
                <a16:creationId xmlns:a16="http://schemas.microsoft.com/office/drawing/2014/main" id="{3CC20F8B-0021-4423-A246-58F35DB68C85}"/>
              </a:ext>
            </a:extLst>
          </p:cNvPr>
          <p:cNvSpPr>
            <a:spLocks xmlns:a="http://schemas.openxmlformats.org/drawingml/2006/main" noGrp="1"/>
          </p:cNvSpPr>
          <p:nvPr/>
        </p:nvSpPr>
        <p:spPr>
          <a:xfrm xmlns:a="http://schemas.openxmlformats.org/drawingml/2006/main">
            <a:off x="8039100" y="1924050"/>
            <a:ext cx="1219200" cy="323850"/>
          </a:xfrm>
          <a:prstGeom xmlns:a="http://schemas.openxmlformats.org/drawingml/2006/main" prst="roundRect">
            <a:avLst>
              <a:gd name="adj" fmla="val 23529"/>
            </a:avLst>
          </a:prstGeom>
          <a:solidFill xmlns:a="http://schemas.openxmlformats.org/drawingml/2006/main">
            <a:srgbClr val="DBEAFE"/>
          </a:solidFill>
          <a:ln xmlns:a="http://schemas.openxmlformats.org/drawingml/2006/main" w="9525">
            <a:solidFill>
              <a:srgbClr val="1E3A8A"/>
            </a:solidFill>
            <a:prstDash val="solid"/>
          </a:ln>
        </p:spPr>
      </p:sp>
      <p:sp>
        <p:nvSpPr>
          <p:cNvPr id="19" name="s3-chip-text-DMCA">
            <a:extLst xmlns:a="http://schemas.openxmlformats.org/drawingml/2006/main">
              <a:ext uri="{FF2B5EF4-FFF2-40B4-BE49-F238E27FC236}">
                <a16:creationId xmlns:a16="http://schemas.microsoft.com/office/drawing/2014/main" id="{F622DA5C-EA08-4B34-8C3B-7AD54BCDD280}"/>
              </a:ext>
            </a:extLst>
          </p:cNvPr>
          <p:cNvSpPr>
            <a:spLocks xmlns:a="http://schemas.openxmlformats.org/drawingml/2006/main" noGrp="1"/>
          </p:cNvSpPr>
          <p:nvPr/>
        </p:nvSpPr>
        <p:spPr>
          <a:xfrm xmlns:a="http://schemas.openxmlformats.org/drawingml/2006/main">
            <a:off x="8172450" y="1990725"/>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1E3A8A"/>
                </a:solidFill>
                <a:latin typeface="Aptos"/>
                <a:ea typeface="Aptos"/>
                <a:cs typeface="Aptos"/>
              </a:defRPr>
            </a:pPr>
            <a:r>
              <a:rPr sz="1050" b="1">
                <a:solidFill>
                  <a:srgbClr val="1E3A8A"/>
                </a:solidFill>
                <a:latin typeface="Aptos"/>
                <a:ea typeface="Aptos"/>
                <a:cs typeface="Aptos"/>
              </a:rPr>
              <a:t>DMCA</a:t>
            </a:r>
          </a:p>
        </p:txBody>
      </p:sp>
      <p:sp>
        <p:nvSpPr>
          <p:cNvPr id="20" name="s3-title-DMCA">
            <a:extLst xmlns:a="http://schemas.openxmlformats.org/drawingml/2006/main">
              <a:ext uri="{FF2B5EF4-FFF2-40B4-BE49-F238E27FC236}">
                <a16:creationId xmlns:a16="http://schemas.microsoft.com/office/drawing/2014/main" id="{1DB7C11E-39B3-436C-9D66-01DAF0768477}"/>
              </a:ext>
            </a:extLst>
          </p:cNvPr>
          <p:cNvSpPr>
            <a:spLocks xmlns:a="http://schemas.openxmlformats.org/drawingml/2006/main" noGrp="1"/>
          </p:cNvSpPr>
          <p:nvPr/>
        </p:nvSpPr>
        <p:spPr>
          <a:xfrm xmlns:a="http://schemas.openxmlformats.org/drawingml/2006/main">
            <a:off x="8039100" y="247650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F172A"/>
                </a:solidFill>
                <a:latin typeface="Aptos"/>
                <a:ea typeface="Aptos"/>
                <a:cs typeface="Aptos"/>
              </a:defRPr>
            </a:pPr>
            <a:r>
              <a:rPr sz="1725" b="1">
                <a:solidFill>
                  <a:srgbClr val="0F172A"/>
                </a:solidFill>
                <a:latin typeface="Aptos"/>
                <a:ea typeface="Aptos"/>
                <a:cs typeface="Aptos"/>
              </a:rPr>
              <a:t>Platform &amp; Statutory Liability</a:t>
            </a:r>
          </a:p>
        </p:txBody>
      </p:sp>
      <p:sp>
        <p:nvSpPr>
          <p:cNvPr id="21" name="s3-body-DMCA">
            <a:extLst xmlns:a="http://schemas.openxmlformats.org/drawingml/2006/main">
              <a:ext uri="{FF2B5EF4-FFF2-40B4-BE49-F238E27FC236}">
                <a16:creationId xmlns:a16="http://schemas.microsoft.com/office/drawing/2014/main" id="{652045AD-9C84-490B-B6EA-A3D3B865B3C5}"/>
              </a:ext>
            </a:extLst>
          </p:cNvPr>
          <p:cNvSpPr>
            <a:spLocks xmlns:a="http://schemas.openxmlformats.org/drawingml/2006/main" noGrp="1"/>
          </p:cNvSpPr>
          <p:nvPr/>
        </p:nvSpPr>
        <p:spPr>
          <a:xfrm xmlns:a="http://schemas.openxmlformats.org/drawingml/2006/main">
            <a:off x="8039100" y="3238500"/>
            <a:ext cx="24003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 Potential liability for providers hosting or distributing infringing models.</a:t>
            </a:r>
          </a:p>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 DMCA claims and copyright management information issues.</a:t>
            </a:r>
          </a:p>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 Risk that litigation reshapes data governance obligations.</a:t>
            </a:r>
          </a:p>
        </p:txBody>
      </p:sp>
    </p:spTree>
    <p:extLst>
      <p:ext uri="{BB962C8B-B14F-4D97-AF65-F5344CB8AC3E}">
        <p14:creationId xmlns:p14="http://schemas.microsoft.com/office/powerpoint/2010/main" val="265648287"/>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kicker-4">
            <a:extLst xmlns:a="http://schemas.openxmlformats.org/drawingml/2006/main">
              <a:ext uri="{FF2B5EF4-FFF2-40B4-BE49-F238E27FC236}">
                <a16:creationId xmlns:a16="http://schemas.microsoft.com/office/drawing/2014/main" id="{F71F7CEB-F9DB-4938-9B69-5682C65177E9}"/>
              </a:ext>
            </a:extLst>
          </p:cNvPr>
          <p:cNvSpPr>
            <a:spLocks xmlns:a="http://schemas.openxmlformats.org/drawingml/2006/main" noGrp="1"/>
          </p:cNvSpPr>
          <p:nvPr/>
        </p:nvSpPr>
        <p:spPr>
          <a:xfrm xmlns:a="http://schemas.openxmlformats.org/drawingml/2006/main">
            <a:off x="685800" y="4000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GENERATIVE AI TRAINING AND NEWS COPYRIGHT</a:t>
            </a:r>
          </a:p>
        </p:txBody>
      </p:sp>
      <p:sp>
        <p:nvSpPr>
          <p:cNvPr id="2" name="title-4">
            <a:extLst xmlns:a="http://schemas.openxmlformats.org/drawingml/2006/main">
              <a:ext uri="{FF2B5EF4-FFF2-40B4-BE49-F238E27FC236}">
                <a16:creationId xmlns:a16="http://schemas.microsoft.com/office/drawing/2014/main" id="{0E7D968A-9E77-43E6-9520-EAB68B1F8774}"/>
              </a:ext>
            </a:extLst>
          </p:cNvPr>
          <p:cNvSpPr>
            <a:spLocks xmlns:a="http://schemas.openxmlformats.org/drawingml/2006/main" noGrp="1"/>
          </p:cNvSpPr>
          <p:nvPr/>
        </p:nvSpPr>
        <p:spPr>
          <a:xfrm xmlns:a="http://schemas.openxmlformats.org/drawingml/2006/main">
            <a:off x="685800" y="6477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0F172A"/>
                </a:solidFill>
                <a:latin typeface="Aptos Display"/>
                <a:ea typeface="Aptos Display"/>
                <a:cs typeface="Aptos Display"/>
              </a:defRPr>
            </a:pPr>
            <a:r>
              <a:rPr sz="2700" b="1">
                <a:solidFill>
                  <a:srgbClr val="0F172A"/>
                </a:solidFill>
                <a:latin typeface="Aptos Display"/>
                <a:ea typeface="Aptos Display"/>
                <a:cs typeface="Aptos Display"/>
              </a:rPr>
              <a:t>Ethical Issues</a:t>
            </a:r>
          </a:p>
        </p:txBody>
      </p:sp>
      <p:sp>
        <p:nvSpPr>
          <p:cNvPr id="3" name="accent-4">
            <a:extLst xmlns:a="http://schemas.openxmlformats.org/drawingml/2006/main">
              <a:ext uri="{FF2B5EF4-FFF2-40B4-BE49-F238E27FC236}">
                <a16:creationId xmlns:a16="http://schemas.microsoft.com/office/drawing/2014/main" id="{4ECB0113-F8B8-4D1C-85BA-45E63583FA4F}"/>
              </a:ext>
            </a:extLst>
          </p:cNvPr>
          <p:cNvSpPr>
            <a:spLocks xmlns:a="http://schemas.openxmlformats.org/drawingml/2006/main" noGrp="1"/>
          </p:cNvSpPr>
          <p:nvPr/>
        </p:nvSpPr>
        <p:spPr>
          <a:xfrm xmlns:a="http://schemas.openxmlformats.org/drawingml/2006/main">
            <a:off x="685800" y="1238250"/>
            <a:ext cx="800100" cy="4762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4" name="footer-rule-4">
            <a:extLst xmlns:a="http://schemas.openxmlformats.org/drawingml/2006/main">
              <a:ext uri="{FF2B5EF4-FFF2-40B4-BE49-F238E27FC236}">
                <a16:creationId xmlns:a16="http://schemas.microsoft.com/office/drawing/2014/main" id="{ABA664AD-AF40-418C-A335-08A2C82FF52D}"/>
              </a:ext>
            </a:extLst>
          </p:cNvPr>
          <p:cNvSpPr>
            <a:spLocks xmlns:a="http://schemas.openxmlformats.org/drawingml/2006/main" noGrp="1"/>
          </p:cNvSpPr>
          <p:nvPr/>
        </p:nvSpPr>
        <p:spPr>
          <a:xfrm xmlns:a="http://schemas.openxmlformats.org/drawingml/2006/main">
            <a:off x="685800" y="6324600"/>
            <a:ext cx="10820400" cy="14288"/>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5" name="footer-course-4">
            <a:extLst xmlns:a="http://schemas.openxmlformats.org/drawingml/2006/main">
              <a:ext uri="{FF2B5EF4-FFF2-40B4-BE49-F238E27FC236}">
                <a16:creationId xmlns:a16="http://schemas.microsoft.com/office/drawing/2014/main" id="{372E403E-A581-40E3-8A96-896B1F282370}"/>
              </a:ext>
            </a:extLst>
          </p:cNvPr>
          <p:cNvSpPr>
            <a:spLocks xmlns:a="http://schemas.openxmlformats.org/drawingml/2006/main" noGrp="1"/>
          </p:cNvSpPr>
          <p:nvPr/>
        </p:nvSpPr>
        <p:spPr>
          <a:xfrm xmlns:a="http://schemas.openxmlformats.org/drawingml/2006/main">
            <a:off x="685800" y="64389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ISE 312 | Legal, Social, and Ethical Issues in Information Systems</a:t>
            </a:r>
          </a:p>
        </p:txBody>
      </p:sp>
      <p:sp>
        <p:nvSpPr>
          <p:cNvPr id="6" name="footer-page-4">
            <a:extLst xmlns:a="http://schemas.openxmlformats.org/drawingml/2006/main">
              <a:ext uri="{FF2B5EF4-FFF2-40B4-BE49-F238E27FC236}">
                <a16:creationId xmlns:a16="http://schemas.microsoft.com/office/drawing/2014/main" id="{2AEDB199-13D7-489D-8A08-9587208DC816}"/>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475569"/>
                </a:solidFill>
                <a:latin typeface="Aptos"/>
                <a:ea typeface="Aptos"/>
                <a:cs typeface="Aptos"/>
              </a:defRPr>
            </a:pPr>
            <a:r>
              <a:rPr sz="975" b="0">
                <a:solidFill>
                  <a:srgbClr val="475569"/>
                </a:solidFill>
                <a:latin typeface="Aptos"/>
                <a:ea typeface="Aptos"/>
                <a:cs typeface="Aptos"/>
              </a:rPr>
              <a:t>04</a:t>
            </a:r>
          </a:p>
        </p:txBody>
      </p:sp>
      <p:sp>
        <p:nvSpPr>
          <p:cNvPr id="7" name="s4-left">
            <a:extLst xmlns:a="http://schemas.openxmlformats.org/drawingml/2006/main">
              <a:ext uri="{FF2B5EF4-FFF2-40B4-BE49-F238E27FC236}">
                <a16:creationId xmlns:a16="http://schemas.microsoft.com/office/drawing/2014/main" id="{C2D8BD45-E853-4109-9B84-66E93704F71D}"/>
              </a:ext>
            </a:extLst>
          </p:cNvPr>
          <p:cNvSpPr>
            <a:spLocks xmlns:a="http://schemas.openxmlformats.org/drawingml/2006/main" noGrp="1"/>
          </p:cNvSpPr>
          <p:nvPr/>
        </p:nvSpPr>
        <p:spPr>
          <a:xfrm xmlns:a="http://schemas.openxmlformats.org/drawingml/2006/main">
            <a:off x="685800" y="1581150"/>
            <a:ext cx="4953000" cy="3314700"/>
          </a:xfrm>
          <a:prstGeom xmlns:a="http://schemas.openxmlformats.org/drawingml/2006/main" prst="roundRect">
            <a:avLst>
              <a:gd name="adj" fmla="val 2299"/>
            </a:avLst>
          </a:prstGeom>
          <a:solidFill xmlns:a="http://schemas.openxmlformats.org/drawingml/2006/main">
            <a:srgbClr val="FFFFFF"/>
          </a:solidFill>
          <a:ln xmlns:a="http://schemas.openxmlformats.org/drawingml/2006/main" w="9525">
            <a:solidFill>
              <a:srgbClr val="E2E8F0"/>
            </a:solidFill>
            <a:prstDash val="solid"/>
          </a:ln>
        </p:spPr>
      </p:sp>
      <p:sp>
        <p:nvSpPr>
          <p:cNvPr id="8" name="s4-right">
            <a:extLst xmlns:a="http://schemas.openxmlformats.org/drawingml/2006/main">
              <a:ext uri="{FF2B5EF4-FFF2-40B4-BE49-F238E27FC236}">
                <a16:creationId xmlns:a16="http://schemas.microsoft.com/office/drawing/2014/main" id="{AB3F84B1-FF0F-4C4E-A5D7-1BBA84E01A42}"/>
              </a:ext>
            </a:extLst>
          </p:cNvPr>
          <p:cNvSpPr>
            <a:spLocks xmlns:a="http://schemas.openxmlformats.org/drawingml/2006/main" noGrp="1"/>
          </p:cNvSpPr>
          <p:nvPr/>
        </p:nvSpPr>
        <p:spPr>
          <a:xfrm xmlns:a="http://schemas.openxmlformats.org/drawingml/2006/main">
            <a:off x="6553200" y="1581150"/>
            <a:ext cx="4953000" cy="3314700"/>
          </a:xfrm>
          <a:prstGeom xmlns:a="http://schemas.openxmlformats.org/drawingml/2006/main" prst="roundRect">
            <a:avLst>
              <a:gd name="adj" fmla="val 2299"/>
            </a:avLst>
          </a:prstGeom>
          <a:solidFill xmlns:a="http://schemas.openxmlformats.org/drawingml/2006/main">
            <a:srgbClr val="FFFFFF"/>
          </a:solidFill>
          <a:ln xmlns:a="http://schemas.openxmlformats.org/drawingml/2006/main" w="9525">
            <a:solidFill>
              <a:srgbClr val="E2E8F0"/>
            </a:solidFill>
            <a:prstDash val="solid"/>
          </a:ln>
        </p:spPr>
      </p:sp>
      <p:sp>
        <p:nvSpPr>
          <p:cNvPr id="9" name="s4-left-title">
            <a:extLst xmlns:a="http://schemas.openxmlformats.org/drawingml/2006/main">
              <a:ext uri="{FF2B5EF4-FFF2-40B4-BE49-F238E27FC236}">
                <a16:creationId xmlns:a16="http://schemas.microsoft.com/office/drawing/2014/main" id="{C2CC005C-35CB-493D-AC79-0E79EA640D6F}"/>
              </a:ext>
            </a:extLst>
          </p:cNvPr>
          <p:cNvSpPr>
            <a:spLocks xmlns:a="http://schemas.openxmlformats.org/drawingml/2006/main" noGrp="1"/>
          </p:cNvSpPr>
          <p:nvPr/>
        </p:nvSpPr>
        <p:spPr>
          <a:xfrm xmlns:a="http://schemas.openxmlformats.org/drawingml/2006/main">
            <a:off x="1047750" y="19431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766E"/>
                </a:solidFill>
                <a:latin typeface="Aptos"/>
                <a:ea typeface="Aptos"/>
                <a:cs typeface="Aptos"/>
              </a:defRPr>
            </a:pPr>
            <a:r>
              <a:rPr sz="1800" b="1">
                <a:solidFill>
                  <a:srgbClr val="0F766E"/>
                </a:solidFill>
                <a:latin typeface="Aptos"/>
                <a:ea typeface="Aptos"/>
                <a:cs typeface="Aptos"/>
              </a:rPr>
              <a:t>Professional Responsibility</a:t>
            </a:r>
          </a:p>
        </p:txBody>
      </p:sp>
      <p:sp>
        <p:nvSpPr>
          <p:cNvPr id="10" name="s4-left-body">
            <a:extLst xmlns:a="http://schemas.openxmlformats.org/drawingml/2006/main">
              <a:ext uri="{FF2B5EF4-FFF2-40B4-BE49-F238E27FC236}">
                <a16:creationId xmlns:a16="http://schemas.microsoft.com/office/drawing/2014/main" id="{AFCFD784-5E9C-4E25-B2E2-643FF3DBC84E}"/>
              </a:ext>
            </a:extLst>
          </p:cNvPr>
          <p:cNvSpPr>
            <a:spLocks xmlns:a="http://schemas.openxmlformats.org/drawingml/2006/main" noGrp="1"/>
          </p:cNvSpPr>
          <p:nvPr/>
        </p:nvSpPr>
        <p:spPr>
          <a:xfrm xmlns:a="http://schemas.openxmlformats.org/drawingml/2006/main">
            <a:off x="1047750" y="2514600"/>
            <a:ext cx="3905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AI developers should uphold fair data practices during system development.</a:t>
            </a:r>
          </a:p>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Consent, credit, and compensation remain weak or unclear for human creators.</a:t>
            </a:r>
          </a:p>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Transparency is limited when training sources and output risks are opaque.</a:t>
            </a:r>
          </a:p>
        </p:txBody>
      </p:sp>
      <p:sp>
        <p:nvSpPr>
          <p:cNvPr id="11" name="s4-right-title">
            <a:extLst xmlns:a="http://schemas.openxmlformats.org/drawingml/2006/main">
              <a:ext uri="{FF2B5EF4-FFF2-40B4-BE49-F238E27FC236}">
                <a16:creationId xmlns:a16="http://schemas.microsoft.com/office/drawing/2014/main" id="{29237EC6-0A42-47C9-BEE8-CE445FA83EF1}"/>
              </a:ext>
            </a:extLst>
          </p:cNvPr>
          <p:cNvSpPr>
            <a:spLocks xmlns:a="http://schemas.openxmlformats.org/drawingml/2006/main" noGrp="1"/>
          </p:cNvSpPr>
          <p:nvPr/>
        </p:nvSpPr>
        <p:spPr>
          <a:xfrm xmlns:a="http://schemas.openxmlformats.org/drawingml/2006/main">
            <a:off x="6915150" y="19431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766E"/>
                </a:solidFill>
                <a:latin typeface="Aptos"/>
                <a:ea typeface="Aptos"/>
                <a:cs typeface="Aptos"/>
              </a:defRPr>
            </a:pPr>
            <a:r>
              <a:rPr sz="1800" b="1">
                <a:solidFill>
                  <a:srgbClr val="0F766E"/>
                </a:solidFill>
                <a:latin typeface="Aptos"/>
                <a:ea typeface="Aptos"/>
                <a:cs typeface="Aptos"/>
              </a:rPr>
              <a:t>Societal Impact &amp; Fairness</a:t>
            </a:r>
          </a:p>
        </p:txBody>
      </p:sp>
      <p:sp>
        <p:nvSpPr>
          <p:cNvPr id="12" name="s4-right-body">
            <a:extLst xmlns:a="http://schemas.openxmlformats.org/drawingml/2006/main">
              <a:ext uri="{FF2B5EF4-FFF2-40B4-BE49-F238E27FC236}">
                <a16:creationId xmlns:a16="http://schemas.microsoft.com/office/drawing/2014/main" id="{F103AF74-1029-427A-92AE-07B53C7B8A12}"/>
              </a:ext>
            </a:extLst>
          </p:cNvPr>
          <p:cNvSpPr>
            <a:spLocks xmlns:a="http://schemas.openxmlformats.org/drawingml/2006/main" noGrp="1"/>
          </p:cNvSpPr>
          <p:nvPr/>
        </p:nvSpPr>
        <p:spPr>
          <a:xfrm xmlns:a="http://schemas.openxmlformats.org/drawingml/2006/main">
            <a:off x="6915150" y="2514600"/>
            <a:ext cx="39052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Potential harm to journalism may degrade the information ecosystem.</a:t>
            </a:r>
          </a:p>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Power imbalance favors large technology companies over creators.</a:t>
            </a:r>
          </a:p>
          <a:p xmlns:a="http://schemas.openxmlformats.org/drawingml/2006/main">
            <a:pPr algn="l">
              <a:defRPr sz="1575" b="0">
                <a:solidFill>
                  <a:srgbClr val="0F172A"/>
                </a:solidFill>
                <a:latin typeface="Aptos"/>
                <a:ea typeface="Aptos"/>
                <a:cs typeface="Aptos"/>
              </a:defRPr>
            </a:pPr>
            <a:r>
              <a:rPr sz="1575" b="0">
                <a:solidFill>
                  <a:srgbClr val="0F172A"/>
                </a:solidFill>
                <a:latin typeface="Aptos"/>
                <a:ea typeface="Aptos"/>
                <a:cs typeface="Aptos"/>
              </a:rPr>
              <a:t>• AI public utility must be weighed against costs imposed on writers.</a:t>
            </a:r>
          </a:p>
        </p:txBody>
      </p:sp>
      <p:sp>
        <p:nvSpPr>
          <p:cNvPr id="13" name="s4-bottom">
            <a:extLst xmlns:a="http://schemas.openxmlformats.org/drawingml/2006/main">
              <a:ext uri="{FF2B5EF4-FFF2-40B4-BE49-F238E27FC236}">
                <a16:creationId xmlns:a16="http://schemas.microsoft.com/office/drawing/2014/main" id="{FE8EED2F-3AFC-4D58-BA57-AF4C491D1039}"/>
              </a:ext>
            </a:extLst>
          </p:cNvPr>
          <p:cNvSpPr>
            <a:spLocks xmlns:a="http://schemas.openxmlformats.org/drawingml/2006/main" noGrp="1"/>
          </p:cNvSpPr>
          <p:nvPr/>
        </p:nvSpPr>
        <p:spPr>
          <a:xfrm xmlns:a="http://schemas.openxmlformats.org/drawingml/2006/main">
            <a:off x="1752600" y="5105400"/>
            <a:ext cx="8686800" cy="704850"/>
          </a:xfrm>
          <a:prstGeom xmlns:a="http://schemas.openxmlformats.org/drawingml/2006/main" prst="roundRect">
            <a:avLst>
              <a:gd name="adj" fmla="val 10811"/>
            </a:avLst>
          </a:prstGeom>
          <a:solidFill xmlns:a="http://schemas.openxmlformats.org/drawingml/2006/main">
            <a:srgbClr val="FEF3C7"/>
          </a:solidFill>
          <a:ln xmlns:a="http://schemas.openxmlformats.org/drawingml/2006/main" w="9525">
            <a:solidFill>
              <a:srgbClr val="F59E0B"/>
            </a:solidFill>
            <a:prstDash val="solid"/>
          </a:ln>
        </p:spPr>
      </p:sp>
      <p:sp>
        <p:nvSpPr>
          <p:cNvPr id="14" name="s4-bottom-text">
            <a:extLst xmlns:a="http://schemas.openxmlformats.org/drawingml/2006/main">
              <a:ext uri="{FF2B5EF4-FFF2-40B4-BE49-F238E27FC236}">
                <a16:creationId xmlns:a16="http://schemas.microsoft.com/office/drawing/2014/main" id="{A398C84A-9F8C-4468-8B5F-DBF7426CDDA3}"/>
              </a:ext>
            </a:extLst>
          </p:cNvPr>
          <p:cNvSpPr>
            <a:spLocks xmlns:a="http://schemas.openxmlformats.org/drawingml/2006/main" noGrp="1"/>
          </p:cNvSpPr>
          <p:nvPr/>
        </p:nvSpPr>
        <p:spPr>
          <a:xfrm xmlns:a="http://schemas.openxmlformats.org/drawingml/2006/main">
            <a:off x="2076450" y="5257800"/>
            <a:ext cx="8039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0F172A"/>
                </a:solidFill>
                <a:latin typeface="Aptos"/>
                <a:ea typeface="Aptos"/>
                <a:cs typeface="Aptos"/>
              </a:defRPr>
            </a:pPr>
            <a:r>
              <a:rPr sz="1500" b="1">
                <a:solidFill>
                  <a:srgbClr val="0F172A"/>
                </a:solidFill>
                <a:latin typeface="Aptos"/>
                <a:ea typeface="Aptos"/>
                <a:cs typeface="Aptos"/>
              </a:rPr>
              <a:t>Ethical test: innovation should not externalize data costs</a:t>
            </a:r>
          </a:p>
          <a:p xmlns:a="http://schemas.openxmlformats.org/drawingml/2006/main">
            <a:pPr algn="ctr">
              <a:defRPr sz="1500" b="1">
                <a:solidFill>
                  <a:srgbClr val="0F172A"/>
                </a:solidFill>
                <a:latin typeface="Aptos"/>
                <a:ea typeface="Aptos"/>
                <a:cs typeface="Aptos"/>
              </a:defRPr>
            </a:pPr>
            <a:r>
              <a:rPr sz="1500" b="1">
                <a:solidFill>
                  <a:srgbClr val="0F172A"/>
                </a:solidFill>
                <a:latin typeface="Aptos"/>
                <a:ea typeface="Aptos"/>
                <a:cs typeface="Aptos"/>
              </a:rPr>
              <a:t>onto the creators who make reliable information possible.</a:t>
            </a:r>
          </a:p>
        </p:txBody>
      </p:sp>
    </p:spTree>
    <p:extLst>
      <p:ext uri="{BB962C8B-B14F-4D97-AF65-F5344CB8AC3E}">
        <p14:creationId xmlns:p14="http://schemas.microsoft.com/office/powerpoint/2010/main" val="1042249199"/>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kicker-5">
            <a:extLst xmlns:a="http://schemas.openxmlformats.org/drawingml/2006/main">
              <a:ext uri="{FF2B5EF4-FFF2-40B4-BE49-F238E27FC236}">
                <a16:creationId xmlns:a16="http://schemas.microsoft.com/office/drawing/2014/main" id="{EE53D5A7-D59B-4949-ACE8-AC6E5C49146B}"/>
              </a:ext>
            </a:extLst>
          </p:cNvPr>
          <p:cNvSpPr>
            <a:spLocks xmlns:a="http://schemas.openxmlformats.org/drawingml/2006/main" noGrp="1"/>
          </p:cNvSpPr>
          <p:nvPr/>
        </p:nvSpPr>
        <p:spPr>
          <a:xfrm xmlns:a="http://schemas.openxmlformats.org/drawingml/2006/main">
            <a:off x="685800" y="4000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GENERATIVE AI TRAINING AND NEWS COPYRIGHT</a:t>
            </a:r>
          </a:p>
        </p:txBody>
      </p:sp>
      <p:sp>
        <p:nvSpPr>
          <p:cNvPr id="2" name="title-5">
            <a:extLst xmlns:a="http://schemas.openxmlformats.org/drawingml/2006/main">
              <a:ext uri="{FF2B5EF4-FFF2-40B4-BE49-F238E27FC236}">
                <a16:creationId xmlns:a16="http://schemas.microsoft.com/office/drawing/2014/main" id="{CF60F5AE-B2AB-4552-8AE6-B7D80865CA2E}"/>
              </a:ext>
            </a:extLst>
          </p:cNvPr>
          <p:cNvSpPr>
            <a:spLocks xmlns:a="http://schemas.openxmlformats.org/drawingml/2006/main" noGrp="1"/>
          </p:cNvSpPr>
          <p:nvPr/>
        </p:nvSpPr>
        <p:spPr>
          <a:xfrm xmlns:a="http://schemas.openxmlformats.org/drawingml/2006/main">
            <a:off x="685800" y="6477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0F172A"/>
                </a:solidFill>
                <a:latin typeface="Aptos Display"/>
                <a:ea typeface="Aptos Display"/>
                <a:cs typeface="Aptos Display"/>
              </a:defRPr>
            </a:pPr>
            <a:r>
              <a:rPr sz="2700" b="1">
                <a:solidFill>
                  <a:srgbClr val="0F172A"/>
                </a:solidFill>
                <a:latin typeface="Aptos Display"/>
                <a:ea typeface="Aptos Display"/>
                <a:cs typeface="Aptos Display"/>
              </a:rPr>
              <a:t>Stakeholders, Risks &amp; Solutions</a:t>
            </a:r>
          </a:p>
        </p:txBody>
      </p:sp>
      <p:sp>
        <p:nvSpPr>
          <p:cNvPr id="3" name="accent-5">
            <a:extLst xmlns:a="http://schemas.openxmlformats.org/drawingml/2006/main">
              <a:ext uri="{FF2B5EF4-FFF2-40B4-BE49-F238E27FC236}">
                <a16:creationId xmlns:a16="http://schemas.microsoft.com/office/drawing/2014/main" id="{DAFD0F47-EC78-43C1-B171-FC5D81EC8BEE}"/>
              </a:ext>
            </a:extLst>
          </p:cNvPr>
          <p:cNvSpPr>
            <a:spLocks xmlns:a="http://schemas.openxmlformats.org/drawingml/2006/main" noGrp="1"/>
          </p:cNvSpPr>
          <p:nvPr/>
        </p:nvSpPr>
        <p:spPr>
          <a:xfrm xmlns:a="http://schemas.openxmlformats.org/drawingml/2006/main">
            <a:off x="685800" y="1238250"/>
            <a:ext cx="800100" cy="4762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4" name="footer-rule-5">
            <a:extLst xmlns:a="http://schemas.openxmlformats.org/drawingml/2006/main">
              <a:ext uri="{FF2B5EF4-FFF2-40B4-BE49-F238E27FC236}">
                <a16:creationId xmlns:a16="http://schemas.microsoft.com/office/drawing/2014/main" id="{D508F0AB-AE43-4F2C-A8D0-71AA69407BA3}"/>
              </a:ext>
            </a:extLst>
          </p:cNvPr>
          <p:cNvSpPr>
            <a:spLocks xmlns:a="http://schemas.openxmlformats.org/drawingml/2006/main" noGrp="1"/>
          </p:cNvSpPr>
          <p:nvPr/>
        </p:nvSpPr>
        <p:spPr>
          <a:xfrm xmlns:a="http://schemas.openxmlformats.org/drawingml/2006/main">
            <a:off x="685800" y="6324600"/>
            <a:ext cx="10820400" cy="14288"/>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5" name="footer-course-5">
            <a:extLst xmlns:a="http://schemas.openxmlformats.org/drawingml/2006/main">
              <a:ext uri="{FF2B5EF4-FFF2-40B4-BE49-F238E27FC236}">
                <a16:creationId xmlns:a16="http://schemas.microsoft.com/office/drawing/2014/main" id="{2D6022FA-0CF4-4EAD-8357-22F37720B54A}"/>
              </a:ext>
            </a:extLst>
          </p:cNvPr>
          <p:cNvSpPr>
            <a:spLocks xmlns:a="http://schemas.openxmlformats.org/drawingml/2006/main" noGrp="1"/>
          </p:cNvSpPr>
          <p:nvPr/>
        </p:nvSpPr>
        <p:spPr>
          <a:xfrm xmlns:a="http://schemas.openxmlformats.org/drawingml/2006/main">
            <a:off x="685800" y="64389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ISE 312 | Legal, Social, and Ethical Issues in Information Systems</a:t>
            </a:r>
          </a:p>
        </p:txBody>
      </p:sp>
      <p:sp>
        <p:nvSpPr>
          <p:cNvPr id="6" name="footer-page-5">
            <a:extLst xmlns:a="http://schemas.openxmlformats.org/drawingml/2006/main">
              <a:ext uri="{FF2B5EF4-FFF2-40B4-BE49-F238E27FC236}">
                <a16:creationId xmlns:a16="http://schemas.microsoft.com/office/drawing/2014/main" id="{862566FC-1208-4595-9E86-8DD8AB1F8462}"/>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475569"/>
                </a:solidFill>
                <a:latin typeface="Aptos"/>
                <a:ea typeface="Aptos"/>
                <a:cs typeface="Aptos"/>
              </a:defRPr>
            </a:pPr>
            <a:r>
              <a:rPr sz="975" b="0">
                <a:solidFill>
                  <a:srgbClr val="475569"/>
                </a:solidFill>
                <a:latin typeface="Aptos"/>
                <a:ea typeface="Aptos"/>
                <a:cs typeface="Aptos"/>
              </a:rPr>
              <a:t>05</a:t>
            </a:r>
          </a:p>
        </p:txBody>
      </p:sp>
      <p:sp>
        <p:nvSpPr>
          <p:cNvPr id="7" name="s5-left-title">
            <a:extLst xmlns:a="http://schemas.openxmlformats.org/drawingml/2006/main">
              <a:ext uri="{FF2B5EF4-FFF2-40B4-BE49-F238E27FC236}">
                <a16:creationId xmlns:a16="http://schemas.microsoft.com/office/drawing/2014/main" id="{06A88DC4-577E-457F-BE6F-CA2C4F09EDB8}"/>
              </a:ext>
            </a:extLst>
          </p:cNvPr>
          <p:cNvSpPr>
            <a:spLocks xmlns:a="http://schemas.openxmlformats.org/drawingml/2006/main" noGrp="1"/>
          </p:cNvSpPr>
          <p:nvPr/>
        </p:nvSpPr>
        <p:spPr>
          <a:xfrm xmlns:a="http://schemas.openxmlformats.org/drawingml/2006/main">
            <a:off x="685800" y="15811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E3A8A"/>
                </a:solidFill>
                <a:latin typeface="Aptos"/>
                <a:ea typeface="Aptos"/>
                <a:cs typeface="Aptos"/>
              </a:defRPr>
            </a:pPr>
            <a:r>
              <a:rPr sz="1800" b="1">
                <a:solidFill>
                  <a:srgbClr val="1E3A8A"/>
                </a:solidFill>
                <a:latin typeface="Aptos"/>
                <a:ea typeface="Aptos"/>
                <a:cs typeface="Aptos"/>
              </a:rPr>
              <a:t>Stakeholders Affected</a:t>
            </a:r>
          </a:p>
        </p:txBody>
      </p:sp>
      <p:sp>
        <p:nvSpPr>
          <p:cNvPr id="8" name="s5-row-AI Companies">
            <a:extLst xmlns:a="http://schemas.openxmlformats.org/drawingml/2006/main">
              <a:ext uri="{FF2B5EF4-FFF2-40B4-BE49-F238E27FC236}">
                <a16:creationId xmlns:a16="http://schemas.microsoft.com/office/drawing/2014/main" id="{F508D953-2A68-4B36-A418-8A234D8F1F13}"/>
              </a:ext>
            </a:extLst>
          </p:cNvPr>
          <p:cNvSpPr>
            <a:spLocks xmlns:a="http://schemas.openxmlformats.org/drawingml/2006/main" noGrp="1"/>
          </p:cNvSpPr>
          <p:nvPr/>
        </p:nvSpPr>
        <p:spPr>
          <a:xfrm xmlns:a="http://schemas.openxmlformats.org/drawingml/2006/main">
            <a:off x="685800" y="2038350"/>
            <a:ext cx="49530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E2E8F0"/>
            </a:solidFill>
            <a:prstDash val="solid"/>
          </a:ln>
        </p:spPr>
      </p:sp>
      <p:sp>
        <p:nvSpPr>
          <p:cNvPr id="9" name="s5-name-AI Companies">
            <a:extLst xmlns:a="http://schemas.openxmlformats.org/drawingml/2006/main">
              <a:ext uri="{FF2B5EF4-FFF2-40B4-BE49-F238E27FC236}">
                <a16:creationId xmlns:a16="http://schemas.microsoft.com/office/drawing/2014/main" id="{87D93D9B-BC14-431A-A598-9A8CF2B7AF34}"/>
              </a:ext>
            </a:extLst>
          </p:cNvPr>
          <p:cNvSpPr>
            <a:spLocks xmlns:a="http://schemas.openxmlformats.org/drawingml/2006/main" noGrp="1"/>
          </p:cNvSpPr>
          <p:nvPr/>
        </p:nvSpPr>
        <p:spPr>
          <a:xfrm xmlns:a="http://schemas.openxmlformats.org/drawingml/2006/main">
            <a:off x="952500" y="21812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F766E"/>
                </a:solidFill>
                <a:latin typeface="Aptos"/>
                <a:ea typeface="Aptos"/>
                <a:cs typeface="Aptos"/>
              </a:defRPr>
            </a:pPr>
            <a:r>
              <a:rPr sz="1425" b="1">
                <a:solidFill>
                  <a:srgbClr val="0F766E"/>
                </a:solidFill>
                <a:latin typeface="Aptos"/>
                <a:ea typeface="Aptos"/>
                <a:cs typeface="Aptos"/>
              </a:rPr>
              <a:t>AI Companies</a:t>
            </a:r>
          </a:p>
        </p:txBody>
      </p:sp>
      <p:sp>
        <p:nvSpPr>
          <p:cNvPr id="10" name="s5-desc-AI Companies">
            <a:extLst xmlns:a="http://schemas.openxmlformats.org/drawingml/2006/main">
              <a:ext uri="{FF2B5EF4-FFF2-40B4-BE49-F238E27FC236}">
                <a16:creationId xmlns:a16="http://schemas.microsoft.com/office/drawing/2014/main" id="{D1F91F0E-C9C0-4C32-820F-C306320F569D}"/>
              </a:ext>
            </a:extLst>
          </p:cNvPr>
          <p:cNvSpPr>
            <a:spLocks xmlns:a="http://schemas.openxmlformats.org/drawingml/2006/main" noGrp="1"/>
          </p:cNvSpPr>
          <p:nvPr/>
        </p:nvSpPr>
        <p:spPr>
          <a:xfrm xmlns:a="http://schemas.openxmlformats.org/drawingml/2006/main">
            <a:off x="2476500" y="21717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F172A"/>
                </a:solidFill>
                <a:latin typeface="Aptos"/>
                <a:ea typeface="Aptos"/>
                <a:cs typeface="Aptos"/>
              </a:defRPr>
            </a:pPr>
            <a:r>
              <a:rPr sz="1275" b="0">
                <a:solidFill>
                  <a:srgbClr val="0F172A"/>
                </a:solidFill>
                <a:latin typeface="Aptos"/>
                <a:ea typeface="Aptos"/>
                <a:cs typeface="Aptos"/>
              </a:rPr>
              <a:t>Need broad data access, but face licensing costs and litigation risk.</a:t>
            </a:r>
          </a:p>
        </p:txBody>
      </p:sp>
      <p:sp>
        <p:nvSpPr>
          <p:cNvPr id="11" name="s5-row-Publishers / Creators">
            <a:extLst xmlns:a="http://schemas.openxmlformats.org/drawingml/2006/main">
              <a:ext uri="{FF2B5EF4-FFF2-40B4-BE49-F238E27FC236}">
                <a16:creationId xmlns:a16="http://schemas.microsoft.com/office/drawing/2014/main" id="{591BE41E-F8A2-493D-B1E3-BE11675F8E09}"/>
              </a:ext>
            </a:extLst>
          </p:cNvPr>
          <p:cNvSpPr>
            <a:spLocks xmlns:a="http://schemas.openxmlformats.org/drawingml/2006/main" noGrp="1"/>
          </p:cNvSpPr>
          <p:nvPr/>
        </p:nvSpPr>
        <p:spPr>
          <a:xfrm xmlns:a="http://schemas.openxmlformats.org/drawingml/2006/main">
            <a:off x="685800" y="2952750"/>
            <a:ext cx="49530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E2E8F0"/>
            </a:solidFill>
            <a:prstDash val="solid"/>
          </a:ln>
        </p:spPr>
      </p:sp>
      <p:sp>
        <p:nvSpPr>
          <p:cNvPr id="12" name="s5-name-Publishers / Creators">
            <a:extLst xmlns:a="http://schemas.openxmlformats.org/drawingml/2006/main">
              <a:ext uri="{FF2B5EF4-FFF2-40B4-BE49-F238E27FC236}">
                <a16:creationId xmlns:a16="http://schemas.microsoft.com/office/drawing/2014/main" id="{AB2E86FE-80FB-4CE5-BAFB-8C9645206AA9}"/>
              </a:ext>
            </a:extLst>
          </p:cNvPr>
          <p:cNvSpPr>
            <a:spLocks xmlns:a="http://schemas.openxmlformats.org/drawingml/2006/main" noGrp="1"/>
          </p:cNvSpPr>
          <p:nvPr/>
        </p:nvSpPr>
        <p:spPr>
          <a:xfrm xmlns:a="http://schemas.openxmlformats.org/drawingml/2006/main">
            <a:off x="952500" y="30956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F766E"/>
                </a:solidFill>
                <a:latin typeface="Aptos"/>
                <a:ea typeface="Aptos"/>
                <a:cs typeface="Aptos"/>
              </a:defRPr>
            </a:pPr>
            <a:r>
              <a:rPr sz="1425" b="1">
                <a:solidFill>
                  <a:srgbClr val="0F766E"/>
                </a:solidFill>
                <a:latin typeface="Aptos"/>
                <a:ea typeface="Aptos"/>
                <a:cs typeface="Aptos"/>
              </a:rPr>
              <a:t>Publishers / Creators</a:t>
            </a:r>
          </a:p>
        </p:txBody>
      </p:sp>
      <p:sp>
        <p:nvSpPr>
          <p:cNvPr id="13" name="s5-desc-Publishers / Creators">
            <a:extLst xmlns:a="http://schemas.openxmlformats.org/drawingml/2006/main">
              <a:ext uri="{FF2B5EF4-FFF2-40B4-BE49-F238E27FC236}">
                <a16:creationId xmlns:a16="http://schemas.microsoft.com/office/drawing/2014/main" id="{20ED2E51-8966-45BF-81C7-666F3A9F2ABF}"/>
              </a:ext>
            </a:extLst>
          </p:cNvPr>
          <p:cNvSpPr>
            <a:spLocks xmlns:a="http://schemas.openxmlformats.org/drawingml/2006/main" noGrp="1"/>
          </p:cNvSpPr>
          <p:nvPr/>
        </p:nvSpPr>
        <p:spPr>
          <a:xfrm xmlns:a="http://schemas.openxmlformats.org/drawingml/2006/main">
            <a:off x="2476500" y="30861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F172A"/>
                </a:solidFill>
                <a:latin typeface="Aptos"/>
                <a:ea typeface="Aptos"/>
                <a:cs typeface="Aptos"/>
              </a:defRPr>
            </a:pPr>
            <a:r>
              <a:rPr sz="1275" b="0">
                <a:solidFill>
                  <a:srgbClr val="0F172A"/>
                </a:solidFill>
                <a:latin typeface="Aptos"/>
                <a:ea typeface="Aptos"/>
                <a:cs typeface="Aptos"/>
              </a:rPr>
              <a:t>Need compensation and traffic, but must adapt to AI-driven discovery.</a:t>
            </a:r>
          </a:p>
        </p:txBody>
      </p:sp>
      <p:sp>
        <p:nvSpPr>
          <p:cNvPr id="14" name="s5-row-The Public">
            <a:extLst xmlns:a="http://schemas.openxmlformats.org/drawingml/2006/main">
              <a:ext uri="{FF2B5EF4-FFF2-40B4-BE49-F238E27FC236}">
                <a16:creationId xmlns:a16="http://schemas.microsoft.com/office/drawing/2014/main" id="{BEB2AABF-81AF-4772-92AC-104677B3BEB6}"/>
              </a:ext>
            </a:extLst>
          </p:cNvPr>
          <p:cNvSpPr>
            <a:spLocks xmlns:a="http://schemas.openxmlformats.org/drawingml/2006/main" noGrp="1"/>
          </p:cNvSpPr>
          <p:nvPr/>
        </p:nvSpPr>
        <p:spPr>
          <a:xfrm xmlns:a="http://schemas.openxmlformats.org/drawingml/2006/main">
            <a:off x="685800" y="3867150"/>
            <a:ext cx="4953000" cy="72390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9525">
            <a:solidFill>
              <a:srgbClr val="E2E8F0"/>
            </a:solidFill>
            <a:prstDash val="solid"/>
          </a:ln>
        </p:spPr>
      </p:sp>
      <p:sp>
        <p:nvSpPr>
          <p:cNvPr id="15" name="s5-name-The Public">
            <a:extLst xmlns:a="http://schemas.openxmlformats.org/drawingml/2006/main">
              <a:ext uri="{FF2B5EF4-FFF2-40B4-BE49-F238E27FC236}">
                <a16:creationId xmlns:a16="http://schemas.microsoft.com/office/drawing/2014/main" id="{2143BFBD-FB77-47BB-BC0F-36853125DE13}"/>
              </a:ext>
            </a:extLst>
          </p:cNvPr>
          <p:cNvSpPr>
            <a:spLocks xmlns:a="http://schemas.openxmlformats.org/drawingml/2006/main" noGrp="1"/>
          </p:cNvSpPr>
          <p:nvPr/>
        </p:nvSpPr>
        <p:spPr>
          <a:xfrm xmlns:a="http://schemas.openxmlformats.org/drawingml/2006/main">
            <a:off x="952500" y="40100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F766E"/>
                </a:solidFill>
                <a:latin typeface="Aptos"/>
                <a:ea typeface="Aptos"/>
                <a:cs typeface="Aptos"/>
              </a:defRPr>
            </a:pPr>
            <a:r>
              <a:rPr sz="1425" b="1">
                <a:solidFill>
                  <a:srgbClr val="0F766E"/>
                </a:solidFill>
                <a:latin typeface="Aptos"/>
                <a:ea typeface="Aptos"/>
                <a:cs typeface="Aptos"/>
              </a:rPr>
              <a:t>The Public</a:t>
            </a:r>
          </a:p>
        </p:txBody>
      </p:sp>
      <p:sp>
        <p:nvSpPr>
          <p:cNvPr id="16" name="s5-desc-The Public">
            <a:extLst xmlns:a="http://schemas.openxmlformats.org/drawingml/2006/main">
              <a:ext uri="{FF2B5EF4-FFF2-40B4-BE49-F238E27FC236}">
                <a16:creationId xmlns:a16="http://schemas.microsoft.com/office/drawing/2014/main" id="{2FB31E43-6295-4DBD-AEDC-8E9116BE9244}"/>
              </a:ext>
            </a:extLst>
          </p:cNvPr>
          <p:cNvSpPr>
            <a:spLocks xmlns:a="http://schemas.openxmlformats.org/drawingml/2006/main" noGrp="1"/>
          </p:cNvSpPr>
          <p:nvPr/>
        </p:nvSpPr>
        <p:spPr>
          <a:xfrm xmlns:a="http://schemas.openxmlformats.org/drawingml/2006/main">
            <a:off x="2476500" y="400050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F172A"/>
                </a:solidFill>
                <a:latin typeface="Aptos"/>
                <a:ea typeface="Aptos"/>
                <a:cs typeface="Aptos"/>
              </a:defRPr>
            </a:pPr>
            <a:r>
              <a:rPr sz="1275" b="0">
                <a:solidFill>
                  <a:srgbClr val="0F172A"/>
                </a:solidFill>
                <a:latin typeface="Aptos"/>
                <a:ea typeface="Aptos"/>
                <a:cs typeface="Aptos"/>
              </a:rPr>
              <a:t>Benefits from AI access, but risks a weaker news ecosystem.</a:t>
            </a:r>
          </a:p>
        </p:txBody>
      </p:sp>
      <p:sp>
        <p:nvSpPr>
          <p:cNvPr id="17" name="s5-mid-title">
            <a:extLst xmlns:a="http://schemas.openxmlformats.org/drawingml/2006/main">
              <a:ext uri="{FF2B5EF4-FFF2-40B4-BE49-F238E27FC236}">
                <a16:creationId xmlns:a16="http://schemas.microsoft.com/office/drawing/2014/main" id="{BE29A9D0-50CE-48A7-B488-AA5161418968}"/>
              </a:ext>
            </a:extLst>
          </p:cNvPr>
          <p:cNvSpPr>
            <a:spLocks xmlns:a="http://schemas.openxmlformats.org/drawingml/2006/main" noGrp="1"/>
          </p:cNvSpPr>
          <p:nvPr/>
        </p:nvSpPr>
        <p:spPr>
          <a:xfrm xmlns:a="http://schemas.openxmlformats.org/drawingml/2006/main">
            <a:off x="6191250" y="15811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E3A8A"/>
                </a:solidFill>
                <a:latin typeface="Aptos"/>
                <a:ea typeface="Aptos"/>
                <a:cs typeface="Aptos"/>
              </a:defRPr>
            </a:pPr>
            <a:r>
              <a:rPr sz="1800" b="1">
                <a:solidFill>
                  <a:srgbClr val="1E3A8A"/>
                </a:solidFill>
                <a:latin typeface="Aptos"/>
                <a:ea typeface="Aptos"/>
                <a:cs typeface="Aptos"/>
              </a:rPr>
              <a:t>Risks vs. Benefits</a:t>
            </a:r>
          </a:p>
        </p:txBody>
      </p:sp>
      <p:sp>
        <p:nvSpPr>
          <p:cNvPr id="18" name="s5-risk">
            <a:extLst xmlns:a="http://schemas.openxmlformats.org/drawingml/2006/main">
              <a:ext uri="{FF2B5EF4-FFF2-40B4-BE49-F238E27FC236}">
                <a16:creationId xmlns:a16="http://schemas.microsoft.com/office/drawing/2014/main" id="{D56ABF5B-DB7F-4F8F-B69E-7BF1FB5960EF}"/>
              </a:ext>
            </a:extLst>
          </p:cNvPr>
          <p:cNvSpPr>
            <a:spLocks xmlns:a="http://schemas.openxmlformats.org/drawingml/2006/main" noGrp="1"/>
          </p:cNvSpPr>
          <p:nvPr/>
        </p:nvSpPr>
        <p:spPr>
          <a:xfrm xmlns:a="http://schemas.openxmlformats.org/drawingml/2006/main">
            <a:off x="6191250" y="2038350"/>
            <a:ext cx="2266950" cy="1123950"/>
          </a:xfrm>
          <a:prstGeom xmlns:a="http://schemas.openxmlformats.org/drawingml/2006/main" prst="roundRect">
            <a:avLst>
              <a:gd name="adj" fmla="val 6780"/>
            </a:avLst>
          </a:prstGeom>
          <a:solidFill xmlns:a="http://schemas.openxmlformats.org/drawingml/2006/main">
            <a:srgbClr val="FEE2E2"/>
          </a:solidFill>
          <a:ln xmlns:a="http://schemas.openxmlformats.org/drawingml/2006/main" w="9525">
            <a:solidFill>
              <a:srgbClr val="B91C1C"/>
            </a:solidFill>
            <a:prstDash val="solid"/>
          </a:ln>
        </p:spPr>
      </p:sp>
      <p:sp>
        <p:nvSpPr>
          <p:cNvPr id="19" name="s5-risk-title">
            <a:extLst xmlns:a="http://schemas.openxmlformats.org/drawingml/2006/main">
              <a:ext uri="{FF2B5EF4-FFF2-40B4-BE49-F238E27FC236}">
                <a16:creationId xmlns:a16="http://schemas.microsoft.com/office/drawing/2014/main" id="{8CDCA203-3BF8-4F20-B106-A8E58F4F17C5}"/>
              </a:ext>
            </a:extLst>
          </p:cNvPr>
          <p:cNvSpPr>
            <a:spLocks xmlns:a="http://schemas.openxmlformats.org/drawingml/2006/main" noGrp="1"/>
          </p:cNvSpPr>
          <p:nvPr/>
        </p:nvSpPr>
        <p:spPr>
          <a:xfrm xmlns:a="http://schemas.openxmlformats.org/drawingml/2006/main">
            <a:off x="6419850" y="22669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B91C1C"/>
                </a:solidFill>
                <a:latin typeface="Aptos"/>
                <a:ea typeface="Aptos"/>
                <a:cs typeface="Aptos"/>
              </a:defRPr>
            </a:pPr>
            <a:r>
              <a:rPr sz="1650" b="1">
                <a:solidFill>
                  <a:srgbClr val="B91C1C"/>
                </a:solidFill>
                <a:latin typeface="Aptos"/>
                <a:ea typeface="Aptos"/>
                <a:cs typeface="Aptos"/>
              </a:rPr>
              <a:t>Risk</a:t>
            </a:r>
          </a:p>
        </p:txBody>
      </p:sp>
      <p:sp>
        <p:nvSpPr>
          <p:cNvPr id="20" name="s5-risk-text">
            <a:extLst xmlns:a="http://schemas.openxmlformats.org/drawingml/2006/main">
              <a:ext uri="{FF2B5EF4-FFF2-40B4-BE49-F238E27FC236}">
                <a16:creationId xmlns:a16="http://schemas.microsoft.com/office/drawing/2014/main" id="{97998D25-0990-4E4C-ACDD-8359AF2117BE}"/>
              </a:ext>
            </a:extLst>
          </p:cNvPr>
          <p:cNvSpPr>
            <a:spLocks xmlns:a="http://schemas.openxmlformats.org/drawingml/2006/main" noGrp="1"/>
          </p:cNvSpPr>
          <p:nvPr/>
        </p:nvSpPr>
        <p:spPr>
          <a:xfrm xmlns:a="http://schemas.openxmlformats.org/drawingml/2006/main">
            <a:off x="6419850" y="26860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F172A"/>
                </a:solidFill>
                <a:latin typeface="Aptos"/>
                <a:ea typeface="Aptos"/>
                <a:cs typeface="Aptos"/>
              </a:defRPr>
            </a:pPr>
            <a:r>
              <a:rPr sz="1275" b="0">
                <a:solidFill>
                  <a:srgbClr val="0F172A"/>
                </a:solidFill>
                <a:latin typeface="Aptos"/>
                <a:ea typeface="Aptos"/>
                <a:cs typeface="Aptos"/>
              </a:rPr>
              <a:t>Market harm to</a:t>
            </a:r>
          </a:p>
          <a:p xmlns:a="http://schemas.openxmlformats.org/drawingml/2006/main">
            <a:pPr algn="l">
              <a:defRPr sz="1275" b="0">
                <a:solidFill>
                  <a:srgbClr val="0F172A"/>
                </a:solidFill>
                <a:latin typeface="Aptos"/>
                <a:ea typeface="Aptos"/>
                <a:cs typeface="Aptos"/>
              </a:defRPr>
            </a:pPr>
            <a:r>
              <a:rPr sz="1275" b="0">
                <a:solidFill>
                  <a:srgbClr val="0F172A"/>
                </a:solidFill>
                <a:latin typeface="Aptos"/>
                <a:ea typeface="Aptos"/>
                <a:cs typeface="Aptos"/>
              </a:rPr>
              <a:t>journalism markets.</a:t>
            </a:r>
          </a:p>
        </p:txBody>
      </p:sp>
      <p:sp>
        <p:nvSpPr>
          <p:cNvPr id="21" name="s5-benefit">
            <a:extLst xmlns:a="http://schemas.openxmlformats.org/drawingml/2006/main">
              <a:ext uri="{FF2B5EF4-FFF2-40B4-BE49-F238E27FC236}">
                <a16:creationId xmlns:a16="http://schemas.microsoft.com/office/drawing/2014/main" id="{853B26A6-1EF8-4E6A-B3EA-FC2A7BEC5612}"/>
              </a:ext>
            </a:extLst>
          </p:cNvPr>
          <p:cNvSpPr>
            <a:spLocks xmlns:a="http://schemas.openxmlformats.org/drawingml/2006/main" noGrp="1"/>
          </p:cNvSpPr>
          <p:nvPr/>
        </p:nvSpPr>
        <p:spPr>
          <a:xfrm xmlns:a="http://schemas.openxmlformats.org/drawingml/2006/main">
            <a:off x="6191250" y="3429000"/>
            <a:ext cx="2266950" cy="1123950"/>
          </a:xfrm>
          <a:prstGeom xmlns:a="http://schemas.openxmlformats.org/drawingml/2006/main" prst="roundRect">
            <a:avLst>
              <a:gd name="adj" fmla="val 6780"/>
            </a:avLst>
          </a:prstGeom>
          <a:solidFill xmlns:a="http://schemas.openxmlformats.org/drawingml/2006/main">
            <a:srgbClr val="DCFCE7"/>
          </a:solidFill>
          <a:ln xmlns:a="http://schemas.openxmlformats.org/drawingml/2006/main" w="9525">
            <a:solidFill>
              <a:srgbClr val="15803D"/>
            </a:solidFill>
            <a:prstDash val="solid"/>
          </a:ln>
        </p:spPr>
      </p:sp>
      <p:sp>
        <p:nvSpPr>
          <p:cNvPr id="22" name="s5-benefit-title">
            <a:extLst xmlns:a="http://schemas.openxmlformats.org/drawingml/2006/main">
              <a:ext uri="{FF2B5EF4-FFF2-40B4-BE49-F238E27FC236}">
                <a16:creationId xmlns:a16="http://schemas.microsoft.com/office/drawing/2014/main" id="{BB9D2D7C-F925-4068-A9EC-3F1D4F50FDD7}"/>
              </a:ext>
            </a:extLst>
          </p:cNvPr>
          <p:cNvSpPr>
            <a:spLocks xmlns:a="http://schemas.openxmlformats.org/drawingml/2006/main" noGrp="1"/>
          </p:cNvSpPr>
          <p:nvPr/>
        </p:nvSpPr>
        <p:spPr>
          <a:xfrm xmlns:a="http://schemas.openxmlformats.org/drawingml/2006/main">
            <a:off x="6419850" y="36576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5803D"/>
                </a:solidFill>
                <a:latin typeface="Aptos"/>
                <a:ea typeface="Aptos"/>
                <a:cs typeface="Aptos"/>
              </a:defRPr>
            </a:pPr>
            <a:r>
              <a:rPr sz="1650" b="1">
                <a:solidFill>
                  <a:srgbClr val="15803D"/>
                </a:solidFill>
                <a:latin typeface="Aptos"/>
                <a:ea typeface="Aptos"/>
                <a:cs typeface="Aptos"/>
              </a:rPr>
              <a:t>Benefit</a:t>
            </a:r>
          </a:p>
        </p:txBody>
      </p:sp>
      <p:sp>
        <p:nvSpPr>
          <p:cNvPr id="23" name="s5-benefit-text">
            <a:extLst xmlns:a="http://schemas.openxmlformats.org/drawingml/2006/main">
              <a:ext uri="{FF2B5EF4-FFF2-40B4-BE49-F238E27FC236}">
                <a16:creationId xmlns:a16="http://schemas.microsoft.com/office/drawing/2014/main" id="{52669B61-2931-41F8-AFD1-64D24FE55E7D}"/>
              </a:ext>
            </a:extLst>
          </p:cNvPr>
          <p:cNvSpPr>
            <a:spLocks xmlns:a="http://schemas.openxmlformats.org/drawingml/2006/main" noGrp="1"/>
          </p:cNvSpPr>
          <p:nvPr/>
        </p:nvSpPr>
        <p:spPr>
          <a:xfrm xmlns:a="http://schemas.openxmlformats.org/drawingml/2006/main">
            <a:off x="6419850" y="401955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F172A"/>
                </a:solidFill>
                <a:latin typeface="Aptos"/>
                <a:ea typeface="Aptos"/>
                <a:cs typeface="Aptos"/>
              </a:defRPr>
            </a:pPr>
            <a:r>
              <a:rPr sz="1275" b="0">
                <a:solidFill>
                  <a:srgbClr val="0F172A"/>
                </a:solidFill>
                <a:latin typeface="Aptos"/>
                <a:ea typeface="Aptos"/>
                <a:cs typeface="Aptos"/>
              </a:rPr>
              <a:t>High innovation utility for users and society.</a:t>
            </a:r>
          </a:p>
        </p:txBody>
      </p:sp>
      <p:sp>
        <p:nvSpPr>
          <p:cNvPr id="24" name="s5-right-title">
            <a:extLst xmlns:a="http://schemas.openxmlformats.org/drawingml/2006/main">
              <a:ext uri="{FF2B5EF4-FFF2-40B4-BE49-F238E27FC236}">
                <a16:creationId xmlns:a16="http://schemas.microsoft.com/office/drawing/2014/main" id="{551BE8D7-DE49-4873-8477-01525F45E021}"/>
              </a:ext>
            </a:extLst>
          </p:cNvPr>
          <p:cNvSpPr>
            <a:spLocks xmlns:a="http://schemas.openxmlformats.org/drawingml/2006/main" noGrp="1"/>
          </p:cNvSpPr>
          <p:nvPr/>
        </p:nvSpPr>
        <p:spPr>
          <a:xfrm xmlns:a="http://schemas.openxmlformats.org/drawingml/2006/main">
            <a:off x="8991600" y="15811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E3A8A"/>
                </a:solidFill>
                <a:latin typeface="Aptos"/>
                <a:ea typeface="Aptos"/>
                <a:cs typeface="Aptos"/>
              </a:defRPr>
            </a:pPr>
            <a:r>
              <a:rPr sz="1800" b="1">
                <a:solidFill>
                  <a:srgbClr val="1E3A8A"/>
                </a:solidFill>
                <a:latin typeface="Aptos"/>
                <a:ea typeface="Aptos"/>
                <a:cs typeface="Aptos"/>
              </a:rPr>
              <a:t>Proposed Solutions</a:t>
            </a:r>
          </a:p>
        </p:txBody>
      </p:sp>
      <p:sp>
        <p:nvSpPr>
          <p:cNvPr id="25" name="s5-solutions">
            <a:extLst xmlns:a="http://schemas.openxmlformats.org/drawingml/2006/main">
              <a:ext uri="{FF2B5EF4-FFF2-40B4-BE49-F238E27FC236}">
                <a16:creationId xmlns:a16="http://schemas.microsoft.com/office/drawing/2014/main" id="{B1536EA7-BE18-4BD9-95AC-6F1F3A3A27B6}"/>
              </a:ext>
            </a:extLst>
          </p:cNvPr>
          <p:cNvSpPr>
            <a:spLocks xmlns:a="http://schemas.openxmlformats.org/drawingml/2006/main" noGrp="1"/>
          </p:cNvSpPr>
          <p:nvPr/>
        </p:nvSpPr>
        <p:spPr>
          <a:xfrm xmlns:a="http://schemas.openxmlformats.org/drawingml/2006/main">
            <a:off x="8991600" y="2114550"/>
            <a:ext cx="2286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1. Standardized API licensing for training data</a:t>
            </a:r>
          </a:p>
          <a:p xmlns:a="http://schemas.openxmlformats.org/drawingml/2006/main">
            <a:r>
              <a:t/>
            </a:r>
          </a:p>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2. Robust algorithmic opt-out compliance</a:t>
            </a:r>
          </a:p>
          <a:p xmlns:a="http://schemas.openxmlformats.org/drawingml/2006/main">
            <a:r>
              <a:t/>
            </a:r>
          </a:p>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3. Equitable revenue-sharing between AI platforms and publishers</a:t>
            </a:r>
          </a:p>
        </p:txBody>
      </p:sp>
      <p:sp>
        <p:nvSpPr>
          <p:cNvPr id="26" name="s5-bottom">
            <a:extLst xmlns:a="http://schemas.openxmlformats.org/drawingml/2006/main">
              <a:ext uri="{FF2B5EF4-FFF2-40B4-BE49-F238E27FC236}">
                <a16:creationId xmlns:a16="http://schemas.microsoft.com/office/drawing/2014/main" id="{5DE7085C-FE5D-4BFF-B8F2-F2F40D02DE8B}"/>
              </a:ext>
            </a:extLst>
          </p:cNvPr>
          <p:cNvSpPr>
            <a:spLocks xmlns:a="http://schemas.openxmlformats.org/drawingml/2006/main" noGrp="1"/>
          </p:cNvSpPr>
          <p:nvPr/>
        </p:nvSpPr>
        <p:spPr>
          <a:xfrm xmlns:a="http://schemas.openxmlformats.org/drawingml/2006/main">
            <a:off x="685800" y="5391150"/>
            <a:ext cx="1082040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9525">
            <a:solidFill>
              <a:srgbClr val="E2E8F0"/>
            </a:solidFill>
            <a:prstDash val="solid"/>
          </a:ln>
        </p:spPr>
      </p:sp>
      <p:sp>
        <p:nvSpPr>
          <p:cNvPr id="27" name="s5-bottom-text">
            <a:extLst xmlns:a="http://schemas.openxmlformats.org/drawingml/2006/main">
              <a:ext uri="{FF2B5EF4-FFF2-40B4-BE49-F238E27FC236}">
                <a16:creationId xmlns:a16="http://schemas.microsoft.com/office/drawing/2014/main" id="{349B1326-02B0-46B5-92FF-2321B5190237}"/>
              </a:ext>
            </a:extLst>
          </p:cNvPr>
          <p:cNvSpPr>
            <a:spLocks xmlns:a="http://schemas.openxmlformats.org/drawingml/2006/main" noGrp="1"/>
          </p:cNvSpPr>
          <p:nvPr/>
        </p:nvSpPr>
        <p:spPr>
          <a:xfrm xmlns:a="http://schemas.openxmlformats.org/drawingml/2006/main">
            <a:off x="952500" y="5495925"/>
            <a:ext cx="1028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0F172A"/>
                </a:solidFill>
                <a:latin typeface="Aptos"/>
                <a:ea typeface="Aptos"/>
                <a:cs typeface="Aptos"/>
              </a:defRPr>
            </a:pPr>
            <a:r>
              <a:rPr sz="1425" b="1">
                <a:solidFill>
                  <a:srgbClr val="0F172A"/>
                </a:solidFill>
                <a:latin typeface="Aptos"/>
                <a:ea typeface="Aptos"/>
                <a:cs typeface="Aptos"/>
              </a:rPr>
              <a:t>Balanced governance: enable useful AI while making professional content creation economically sustainable.</a:t>
            </a:r>
          </a:p>
        </p:txBody>
      </p:sp>
    </p:spTree>
    <p:extLst>
      <p:ext uri="{BB962C8B-B14F-4D97-AF65-F5344CB8AC3E}">
        <p14:creationId xmlns:p14="http://schemas.microsoft.com/office/powerpoint/2010/main" val="1154671849"/>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kicker-6">
            <a:extLst xmlns:a="http://schemas.openxmlformats.org/drawingml/2006/main">
              <a:ext uri="{FF2B5EF4-FFF2-40B4-BE49-F238E27FC236}">
                <a16:creationId xmlns:a16="http://schemas.microsoft.com/office/drawing/2014/main" id="{976979B1-659A-42A0-93FF-538B997A0637}"/>
              </a:ext>
            </a:extLst>
          </p:cNvPr>
          <p:cNvSpPr>
            <a:spLocks xmlns:a="http://schemas.openxmlformats.org/drawingml/2006/main" noGrp="1"/>
          </p:cNvSpPr>
          <p:nvPr/>
        </p:nvSpPr>
        <p:spPr>
          <a:xfrm xmlns:a="http://schemas.openxmlformats.org/drawingml/2006/main">
            <a:off x="685800" y="4000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GENERATIVE AI TRAINING AND NEWS COPYRIGHT</a:t>
            </a:r>
          </a:p>
        </p:txBody>
      </p:sp>
      <p:sp>
        <p:nvSpPr>
          <p:cNvPr id="2" name="title-6">
            <a:extLst xmlns:a="http://schemas.openxmlformats.org/drawingml/2006/main">
              <a:ext uri="{FF2B5EF4-FFF2-40B4-BE49-F238E27FC236}">
                <a16:creationId xmlns:a16="http://schemas.microsoft.com/office/drawing/2014/main" id="{7029390F-5171-4851-8D66-4FEC35CF0EF5}"/>
              </a:ext>
            </a:extLst>
          </p:cNvPr>
          <p:cNvSpPr>
            <a:spLocks xmlns:a="http://schemas.openxmlformats.org/drawingml/2006/main" noGrp="1"/>
          </p:cNvSpPr>
          <p:nvPr/>
        </p:nvSpPr>
        <p:spPr>
          <a:xfrm xmlns:a="http://schemas.openxmlformats.org/drawingml/2006/main">
            <a:off x="685800" y="6477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0F172A"/>
                </a:solidFill>
                <a:latin typeface="Aptos Display"/>
                <a:ea typeface="Aptos Display"/>
                <a:cs typeface="Aptos Display"/>
              </a:defRPr>
            </a:pPr>
            <a:r>
              <a:rPr sz="2700" b="1">
                <a:solidFill>
                  <a:srgbClr val="0F172A"/>
                </a:solidFill>
                <a:latin typeface="Aptos Display"/>
                <a:ea typeface="Aptos Display"/>
                <a:cs typeface="Aptos Display"/>
              </a:rPr>
              <a:t>Team Contribution &amp; Learnings</a:t>
            </a:r>
          </a:p>
        </p:txBody>
      </p:sp>
      <p:sp>
        <p:nvSpPr>
          <p:cNvPr id="3" name="accent-6">
            <a:extLst xmlns:a="http://schemas.openxmlformats.org/drawingml/2006/main">
              <a:ext uri="{FF2B5EF4-FFF2-40B4-BE49-F238E27FC236}">
                <a16:creationId xmlns:a16="http://schemas.microsoft.com/office/drawing/2014/main" id="{2DAF0ECA-55F3-42A4-8542-0C67F5B589D7}"/>
              </a:ext>
            </a:extLst>
          </p:cNvPr>
          <p:cNvSpPr>
            <a:spLocks xmlns:a="http://schemas.openxmlformats.org/drawingml/2006/main" noGrp="1"/>
          </p:cNvSpPr>
          <p:nvPr/>
        </p:nvSpPr>
        <p:spPr>
          <a:xfrm xmlns:a="http://schemas.openxmlformats.org/drawingml/2006/main">
            <a:off x="685800" y="1238250"/>
            <a:ext cx="800100" cy="4762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4" name="footer-rule-6">
            <a:extLst xmlns:a="http://schemas.openxmlformats.org/drawingml/2006/main">
              <a:ext uri="{FF2B5EF4-FFF2-40B4-BE49-F238E27FC236}">
                <a16:creationId xmlns:a16="http://schemas.microsoft.com/office/drawing/2014/main" id="{B558B701-7905-4F6D-A01A-AC37C47AD599}"/>
              </a:ext>
            </a:extLst>
          </p:cNvPr>
          <p:cNvSpPr>
            <a:spLocks xmlns:a="http://schemas.openxmlformats.org/drawingml/2006/main" noGrp="1"/>
          </p:cNvSpPr>
          <p:nvPr/>
        </p:nvSpPr>
        <p:spPr>
          <a:xfrm xmlns:a="http://schemas.openxmlformats.org/drawingml/2006/main">
            <a:off x="685800" y="6324600"/>
            <a:ext cx="10820400" cy="14288"/>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5" name="footer-course-6">
            <a:extLst xmlns:a="http://schemas.openxmlformats.org/drawingml/2006/main">
              <a:ext uri="{FF2B5EF4-FFF2-40B4-BE49-F238E27FC236}">
                <a16:creationId xmlns:a16="http://schemas.microsoft.com/office/drawing/2014/main" id="{F098225E-FE4B-4B91-86DE-6866EC7D8155}"/>
              </a:ext>
            </a:extLst>
          </p:cNvPr>
          <p:cNvSpPr>
            <a:spLocks xmlns:a="http://schemas.openxmlformats.org/drawingml/2006/main" noGrp="1"/>
          </p:cNvSpPr>
          <p:nvPr/>
        </p:nvSpPr>
        <p:spPr>
          <a:xfrm xmlns:a="http://schemas.openxmlformats.org/drawingml/2006/main">
            <a:off x="685800" y="64389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ISE 312 | Legal, Social, and Ethical Issues in Information Systems</a:t>
            </a:r>
          </a:p>
        </p:txBody>
      </p:sp>
      <p:sp>
        <p:nvSpPr>
          <p:cNvPr id="6" name="footer-page-6">
            <a:extLst xmlns:a="http://schemas.openxmlformats.org/drawingml/2006/main">
              <a:ext uri="{FF2B5EF4-FFF2-40B4-BE49-F238E27FC236}">
                <a16:creationId xmlns:a16="http://schemas.microsoft.com/office/drawing/2014/main" id="{66B84FDE-95FB-4DB3-B35D-8DC648279DC0}"/>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475569"/>
                </a:solidFill>
                <a:latin typeface="Aptos"/>
                <a:ea typeface="Aptos"/>
                <a:cs typeface="Aptos"/>
              </a:defRPr>
            </a:pPr>
            <a:r>
              <a:rPr sz="975" b="0">
                <a:solidFill>
                  <a:srgbClr val="475569"/>
                </a:solidFill>
                <a:latin typeface="Aptos"/>
                <a:ea typeface="Aptos"/>
                <a:cs typeface="Aptos"/>
              </a:rPr>
              <a:t>06</a:t>
            </a:r>
          </a:p>
        </p:txBody>
      </p:sp>
      <p:sp>
        <p:nvSpPr>
          <p:cNvPr id="7" name="s6-card-R32314015">
            <a:extLst xmlns:a="http://schemas.openxmlformats.org/drawingml/2006/main">
              <a:ext uri="{FF2B5EF4-FFF2-40B4-BE49-F238E27FC236}">
                <a16:creationId xmlns:a16="http://schemas.microsoft.com/office/drawing/2014/main" id="{DBA9762B-E73E-4BCC-BBE9-2C34C7587A7B}"/>
              </a:ext>
            </a:extLst>
          </p:cNvPr>
          <p:cNvSpPr>
            <a:spLocks xmlns:a="http://schemas.openxmlformats.org/drawingml/2006/main" noGrp="1"/>
          </p:cNvSpPr>
          <p:nvPr/>
        </p:nvSpPr>
        <p:spPr>
          <a:xfrm xmlns:a="http://schemas.openxmlformats.org/drawingml/2006/main">
            <a:off x="685800" y="1619250"/>
            <a:ext cx="3200400" cy="3943350"/>
          </a:xfrm>
          <a:prstGeom xmlns:a="http://schemas.openxmlformats.org/drawingml/2006/main" prst="roundRect">
            <a:avLst>
              <a:gd name="adj" fmla="val 2381"/>
            </a:avLst>
          </a:prstGeom>
          <a:solidFill xmlns:a="http://schemas.openxmlformats.org/drawingml/2006/main">
            <a:srgbClr val="FFFFFF"/>
          </a:solidFill>
          <a:ln xmlns:a="http://schemas.openxmlformats.org/drawingml/2006/main" w="9525">
            <a:solidFill>
              <a:srgbClr val="E2E8F0"/>
            </a:solidFill>
            <a:prstDash val="solid"/>
          </a:ln>
        </p:spPr>
      </p:sp>
      <p:sp>
        <p:nvSpPr>
          <p:cNvPr id="8" name="s6-top-R32314015">
            <a:extLst xmlns:a="http://schemas.openxmlformats.org/drawingml/2006/main">
              <a:ext uri="{FF2B5EF4-FFF2-40B4-BE49-F238E27FC236}">
                <a16:creationId xmlns:a16="http://schemas.microsoft.com/office/drawing/2014/main" id="{C422EC46-232A-4169-87CF-0A730416FCF1}"/>
              </a:ext>
            </a:extLst>
          </p:cNvPr>
          <p:cNvSpPr>
            <a:spLocks xmlns:a="http://schemas.openxmlformats.org/drawingml/2006/main" noGrp="1"/>
          </p:cNvSpPr>
          <p:nvPr/>
        </p:nvSpPr>
        <p:spPr>
          <a:xfrm xmlns:a="http://schemas.openxmlformats.org/drawingml/2006/main">
            <a:off x="685800" y="1619250"/>
            <a:ext cx="3200400" cy="76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s6-name-R32314015">
            <a:extLst xmlns:a="http://schemas.openxmlformats.org/drawingml/2006/main">
              <a:ext uri="{FF2B5EF4-FFF2-40B4-BE49-F238E27FC236}">
                <a16:creationId xmlns:a16="http://schemas.microsoft.com/office/drawing/2014/main" id="{563652AC-E06E-4975-A258-FFAA818F150E}"/>
              </a:ext>
            </a:extLst>
          </p:cNvPr>
          <p:cNvSpPr>
            <a:spLocks xmlns:a="http://schemas.openxmlformats.org/drawingml/2006/main" noGrp="1"/>
          </p:cNvSpPr>
          <p:nvPr/>
        </p:nvSpPr>
        <p:spPr>
          <a:xfrm xmlns:a="http://schemas.openxmlformats.org/drawingml/2006/main">
            <a:off x="952500" y="194310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F172A"/>
                </a:solidFill>
                <a:latin typeface="Aptos"/>
                <a:ea typeface="Aptos"/>
                <a:cs typeface="Aptos"/>
              </a:defRPr>
            </a:pPr>
            <a:r>
              <a:rPr sz="1875" b="1">
                <a:solidFill>
                  <a:srgbClr val="0F172A"/>
                </a:solidFill>
                <a:latin typeface="Aptos"/>
                <a:ea typeface="Aptos"/>
                <a:cs typeface="Aptos"/>
              </a:rPr>
              <a:t>Shengxuan You</a:t>
            </a:r>
          </a:p>
          <a:p xmlns:a="http://schemas.openxmlformats.org/drawingml/2006/main">
            <a:pPr algn="l">
              <a:defRPr sz="1875" b="1">
                <a:solidFill>
                  <a:srgbClr val="0F172A"/>
                </a:solidFill>
                <a:latin typeface="Aptos"/>
                <a:ea typeface="Aptos"/>
                <a:cs typeface="Aptos"/>
              </a:defRPr>
            </a:pPr>
            <a:r>
              <a:rPr sz="1875" b="1">
                <a:solidFill>
                  <a:srgbClr val="0F172A"/>
                </a:solidFill>
                <a:latin typeface="Aptos"/>
                <a:ea typeface="Aptos"/>
                <a:cs typeface="Aptos"/>
              </a:rPr>
              <a:t>尤晟喧</a:t>
            </a:r>
          </a:p>
        </p:txBody>
      </p:sp>
      <p:sp>
        <p:nvSpPr>
          <p:cNvPr id="10" name="s6-id-R32314015">
            <a:extLst xmlns:a="http://schemas.openxmlformats.org/drawingml/2006/main">
              <a:ext uri="{FF2B5EF4-FFF2-40B4-BE49-F238E27FC236}">
                <a16:creationId xmlns:a16="http://schemas.microsoft.com/office/drawing/2014/main" id="{153EDD9D-7BFB-4BEC-B164-616D786443DD}"/>
              </a:ext>
            </a:extLst>
          </p:cNvPr>
          <p:cNvSpPr>
            <a:spLocks xmlns:a="http://schemas.openxmlformats.org/drawingml/2006/main" noGrp="1"/>
          </p:cNvSpPr>
          <p:nvPr/>
        </p:nvSpPr>
        <p:spPr>
          <a:xfrm xmlns:a="http://schemas.openxmlformats.org/drawingml/2006/main">
            <a:off x="952500" y="2609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766E"/>
                </a:solidFill>
                <a:latin typeface="Aptos"/>
                <a:ea typeface="Aptos"/>
                <a:cs typeface="Aptos"/>
              </a:defRPr>
            </a:pPr>
            <a:r>
              <a:rPr sz="1200" b="1">
                <a:solidFill>
                  <a:srgbClr val="0F766E"/>
                </a:solidFill>
                <a:latin typeface="Aptos"/>
                <a:ea typeface="Aptos"/>
                <a:cs typeface="Aptos"/>
              </a:rPr>
              <a:t>R32314015</a:t>
            </a:r>
          </a:p>
        </p:txBody>
      </p:sp>
      <p:sp>
        <p:nvSpPr>
          <p:cNvPr id="11" name="s6-c-label-R32314015">
            <a:extLst xmlns:a="http://schemas.openxmlformats.org/drawingml/2006/main">
              <a:ext uri="{FF2B5EF4-FFF2-40B4-BE49-F238E27FC236}">
                <a16:creationId xmlns:a16="http://schemas.microsoft.com/office/drawing/2014/main" id="{C946777E-6190-4DB9-8043-3B09BC27BBD3}"/>
              </a:ext>
            </a:extLst>
          </p:cNvPr>
          <p:cNvSpPr>
            <a:spLocks xmlns:a="http://schemas.openxmlformats.org/drawingml/2006/main" noGrp="1"/>
          </p:cNvSpPr>
          <p:nvPr/>
        </p:nvSpPr>
        <p:spPr>
          <a:xfrm xmlns:a="http://schemas.openxmlformats.org/drawingml/2006/main">
            <a:off x="952500" y="31051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E3A8A"/>
                </a:solidFill>
                <a:latin typeface="Aptos"/>
                <a:ea typeface="Aptos"/>
                <a:cs typeface="Aptos"/>
              </a:defRPr>
            </a:pPr>
            <a:r>
              <a:rPr sz="1350" b="1">
                <a:solidFill>
                  <a:srgbClr val="1E3A8A"/>
                </a:solidFill>
                <a:latin typeface="Aptos"/>
                <a:ea typeface="Aptos"/>
                <a:cs typeface="Aptos"/>
              </a:rPr>
              <a:t>Contribution</a:t>
            </a:r>
          </a:p>
        </p:txBody>
      </p:sp>
      <p:sp>
        <p:nvSpPr>
          <p:cNvPr id="12" name="s6-c-R32314015">
            <a:extLst xmlns:a="http://schemas.openxmlformats.org/drawingml/2006/main">
              <a:ext uri="{FF2B5EF4-FFF2-40B4-BE49-F238E27FC236}">
                <a16:creationId xmlns:a16="http://schemas.microsoft.com/office/drawing/2014/main" id="{ACAE591A-D2D1-41D8-B6A0-4E9833296DF5}"/>
              </a:ext>
            </a:extLst>
          </p:cNvPr>
          <p:cNvSpPr>
            <a:spLocks xmlns:a="http://schemas.openxmlformats.org/drawingml/2006/main" noGrp="1"/>
          </p:cNvSpPr>
          <p:nvPr/>
        </p:nvSpPr>
        <p:spPr>
          <a:xfrm xmlns:a="http://schemas.openxmlformats.org/drawingml/2006/main">
            <a:off x="952500" y="33909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Led legal framework analysis and slide structure design.</a:t>
            </a:r>
          </a:p>
        </p:txBody>
      </p:sp>
      <p:sp>
        <p:nvSpPr>
          <p:cNvPr id="13" name="s6-l-label-R32314015">
            <a:extLst xmlns:a="http://schemas.openxmlformats.org/drawingml/2006/main">
              <a:ext uri="{FF2B5EF4-FFF2-40B4-BE49-F238E27FC236}">
                <a16:creationId xmlns:a16="http://schemas.microsoft.com/office/drawing/2014/main" id="{33E24D1F-DFA3-424A-A170-045356C8CED6}"/>
              </a:ext>
            </a:extLst>
          </p:cNvPr>
          <p:cNvSpPr>
            <a:spLocks xmlns:a="http://schemas.openxmlformats.org/drawingml/2006/main" noGrp="1"/>
          </p:cNvSpPr>
          <p:nvPr/>
        </p:nvSpPr>
        <p:spPr>
          <a:xfrm xmlns:a="http://schemas.openxmlformats.org/drawingml/2006/main">
            <a:off x="952500" y="42481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E3A8A"/>
                </a:solidFill>
                <a:latin typeface="Aptos"/>
                <a:ea typeface="Aptos"/>
                <a:cs typeface="Aptos"/>
              </a:defRPr>
            </a:pPr>
            <a:r>
              <a:rPr sz="1350" b="1">
                <a:solidFill>
                  <a:srgbClr val="1E3A8A"/>
                </a:solidFill>
                <a:latin typeface="Aptos"/>
                <a:ea typeface="Aptos"/>
                <a:cs typeface="Aptos"/>
              </a:rPr>
              <a:t>Key Learning</a:t>
            </a:r>
          </a:p>
        </p:txBody>
      </p:sp>
      <p:sp>
        <p:nvSpPr>
          <p:cNvPr id="14" name="s6-l-R32314015">
            <a:extLst xmlns:a="http://schemas.openxmlformats.org/drawingml/2006/main">
              <a:ext uri="{FF2B5EF4-FFF2-40B4-BE49-F238E27FC236}">
                <a16:creationId xmlns:a16="http://schemas.microsoft.com/office/drawing/2014/main" id="{83CC7ECA-822A-4D97-9A35-B3B50EDCBA7E}"/>
              </a:ext>
            </a:extLst>
          </p:cNvPr>
          <p:cNvSpPr>
            <a:spLocks xmlns:a="http://schemas.openxmlformats.org/drawingml/2006/main" noGrp="1"/>
          </p:cNvSpPr>
          <p:nvPr/>
        </p:nvSpPr>
        <p:spPr>
          <a:xfrm xmlns:a="http://schemas.openxmlformats.org/drawingml/2006/main">
            <a:off x="952500" y="4533900"/>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Understood how information systems can create severe copyright uncertainty.</a:t>
            </a:r>
          </a:p>
        </p:txBody>
      </p:sp>
      <p:sp>
        <p:nvSpPr>
          <p:cNvPr id="15" name="s6-card-R32314065">
            <a:extLst xmlns:a="http://schemas.openxmlformats.org/drawingml/2006/main">
              <a:ext uri="{FF2B5EF4-FFF2-40B4-BE49-F238E27FC236}">
                <a16:creationId xmlns:a16="http://schemas.microsoft.com/office/drawing/2014/main" id="{95170B2F-D8B6-4D8A-B25E-EC7B6D415AD8}"/>
              </a:ext>
            </a:extLst>
          </p:cNvPr>
          <p:cNvSpPr>
            <a:spLocks xmlns:a="http://schemas.openxmlformats.org/drawingml/2006/main" noGrp="1"/>
          </p:cNvSpPr>
          <p:nvPr/>
        </p:nvSpPr>
        <p:spPr>
          <a:xfrm xmlns:a="http://schemas.openxmlformats.org/drawingml/2006/main">
            <a:off x="4343400" y="1619250"/>
            <a:ext cx="3200400" cy="3943350"/>
          </a:xfrm>
          <a:prstGeom xmlns:a="http://schemas.openxmlformats.org/drawingml/2006/main" prst="roundRect">
            <a:avLst>
              <a:gd name="adj" fmla="val 2381"/>
            </a:avLst>
          </a:prstGeom>
          <a:solidFill xmlns:a="http://schemas.openxmlformats.org/drawingml/2006/main">
            <a:srgbClr val="FFFFFF"/>
          </a:solidFill>
          <a:ln xmlns:a="http://schemas.openxmlformats.org/drawingml/2006/main" w="9525">
            <a:solidFill>
              <a:srgbClr val="E2E8F0"/>
            </a:solidFill>
            <a:prstDash val="solid"/>
          </a:ln>
        </p:spPr>
      </p:sp>
      <p:sp>
        <p:nvSpPr>
          <p:cNvPr id="16" name="s6-top-R32314065">
            <a:extLst xmlns:a="http://schemas.openxmlformats.org/drawingml/2006/main">
              <a:ext uri="{FF2B5EF4-FFF2-40B4-BE49-F238E27FC236}">
                <a16:creationId xmlns:a16="http://schemas.microsoft.com/office/drawing/2014/main" id="{5B472AFB-3948-4281-858D-D55C779C9CB1}"/>
              </a:ext>
            </a:extLst>
          </p:cNvPr>
          <p:cNvSpPr>
            <a:spLocks xmlns:a="http://schemas.openxmlformats.org/drawingml/2006/main" noGrp="1"/>
          </p:cNvSpPr>
          <p:nvPr/>
        </p:nvSpPr>
        <p:spPr>
          <a:xfrm xmlns:a="http://schemas.openxmlformats.org/drawingml/2006/main">
            <a:off x="4343400" y="1619250"/>
            <a:ext cx="3200400" cy="76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7" name="s6-name-R32314065">
            <a:extLst xmlns:a="http://schemas.openxmlformats.org/drawingml/2006/main">
              <a:ext uri="{FF2B5EF4-FFF2-40B4-BE49-F238E27FC236}">
                <a16:creationId xmlns:a16="http://schemas.microsoft.com/office/drawing/2014/main" id="{4F0CD6B4-271D-478F-BC68-5D75571AEC1C}"/>
              </a:ext>
            </a:extLst>
          </p:cNvPr>
          <p:cNvSpPr>
            <a:spLocks xmlns:a="http://schemas.openxmlformats.org/drawingml/2006/main" noGrp="1"/>
          </p:cNvSpPr>
          <p:nvPr/>
        </p:nvSpPr>
        <p:spPr>
          <a:xfrm xmlns:a="http://schemas.openxmlformats.org/drawingml/2006/main">
            <a:off x="4610100" y="194310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F172A"/>
                </a:solidFill>
                <a:latin typeface="Aptos"/>
                <a:ea typeface="Aptos"/>
                <a:cs typeface="Aptos"/>
              </a:defRPr>
            </a:pPr>
            <a:r>
              <a:rPr sz="1875" b="1">
                <a:solidFill>
                  <a:srgbClr val="0F172A"/>
                </a:solidFill>
                <a:latin typeface="Aptos"/>
                <a:ea typeface="Aptos"/>
                <a:cs typeface="Aptos"/>
              </a:rPr>
              <a:t>Jisong Liao</a:t>
            </a:r>
          </a:p>
          <a:p xmlns:a="http://schemas.openxmlformats.org/drawingml/2006/main">
            <a:pPr algn="l">
              <a:defRPr sz="1875" b="1">
                <a:solidFill>
                  <a:srgbClr val="0F172A"/>
                </a:solidFill>
                <a:latin typeface="Aptos"/>
                <a:ea typeface="Aptos"/>
                <a:cs typeface="Aptos"/>
              </a:defRPr>
            </a:pPr>
            <a:r>
              <a:rPr sz="1875" b="1">
                <a:solidFill>
                  <a:srgbClr val="0F172A"/>
                </a:solidFill>
                <a:latin typeface="Aptos"/>
                <a:ea typeface="Aptos"/>
                <a:cs typeface="Aptos"/>
              </a:rPr>
              <a:t>廖霁松</a:t>
            </a:r>
          </a:p>
        </p:txBody>
      </p:sp>
      <p:sp>
        <p:nvSpPr>
          <p:cNvPr id="18" name="s6-id-R32314065">
            <a:extLst xmlns:a="http://schemas.openxmlformats.org/drawingml/2006/main">
              <a:ext uri="{FF2B5EF4-FFF2-40B4-BE49-F238E27FC236}">
                <a16:creationId xmlns:a16="http://schemas.microsoft.com/office/drawing/2014/main" id="{21E74213-7CC0-4F6F-A6F4-F617B05A9469}"/>
              </a:ext>
            </a:extLst>
          </p:cNvPr>
          <p:cNvSpPr>
            <a:spLocks xmlns:a="http://schemas.openxmlformats.org/drawingml/2006/main" noGrp="1"/>
          </p:cNvSpPr>
          <p:nvPr/>
        </p:nvSpPr>
        <p:spPr>
          <a:xfrm xmlns:a="http://schemas.openxmlformats.org/drawingml/2006/main">
            <a:off x="4610100" y="2609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766E"/>
                </a:solidFill>
                <a:latin typeface="Aptos"/>
                <a:ea typeface="Aptos"/>
                <a:cs typeface="Aptos"/>
              </a:defRPr>
            </a:pPr>
            <a:r>
              <a:rPr sz="1200" b="1">
                <a:solidFill>
                  <a:srgbClr val="0F766E"/>
                </a:solidFill>
                <a:latin typeface="Aptos"/>
                <a:ea typeface="Aptos"/>
                <a:cs typeface="Aptos"/>
              </a:rPr>
              <a:t>R32314065</a:t>
            </a:r>
          </a:p>
        </p:txBody>
      </p:sp>
      <p:sp>
        <p:nvSpPr>
          <p:cNvPr id="19" name="s6-c-label-R32314065">
            <a:extLst xmlns:a="http://schemas.openxmlformats.org/drawingml/2006/main">
              <a:ext uri="{FF2B5EF4-FFF2-40B4-BE49-F238E27FC236}">
                <a16:creationId xmlns:a16="http://schemas.microsoft.com/office/drawing/2014/main" id="{894DEEE9-89F1-4019-828D-F19AC091CA38}"/>
              </a:ext>
            </a:extLst>
          </p:cNvPr>
          <p:cNvSpPr>
            <a:spLocks xmlns:a="http://schemas.openxmlformats.org/drawingml/2006/main" noGrp="1"/>
          </p:cNvSpPr>
          <p:nvPr/>
        </p:nvSpPr>
        <p:spPr>
          <a:xfrm xmlns:a="http://schemas.openxmlformats.org/drawingml/2006/main">
            <a:off x="4610100" y="31051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E3A8A"/>
                </a:solidFill>
                <a:latin typeface="Aptos"/>
                <a:ea typeface="Aptos"/>
                <a:cs typeface="Aptos"/>
              </a:defRPr>
            </a:pPr>
            <a:r>
              <a:rPr sz="1350" b="1">
                <a:solidFill>
                  <a:srgbClr val="1E3A8A"/>
                </a:solidFill>
                <a:latin typeface="Aptos"/>
                <a:ea typeface="Aptos"/>
                <a:cs typeface="Aptos"/>
              </a:rPr>
              <a:t>Contribution</a:t>
            </a:r>
          </a:p>
        </p:txBody>
      </p:sp>
      <p:sp>
        <p:nvSpPr>
          <p:cNvPr id="20" name="s6-c-R32314065">
            <a:extLst xmlns:a="http://schemas.openxmlformats.org/drawingml/2006/main">
              <a:ext uri="{FF2B5EF4-FFF2-40B4-BE49-F238E27FC236}">
                <a16:creationId xmlns:a16="http://schemas.microsoft.com/office/drawing/2014/main" id="{06B1506A-8456-4784-B7E8-726F3A366D4F}"/>
              </a:ext>
            </a:extLst>
          </p:cNvPr>
          <p:cNvSpPr>
            <a:spLocks xmlns:a="http://schemas.openxmlformats.org/drawingml/2006/main" noGrp="1"/>
          </p:cNvSpPr>
          <p:nvPr/>
        </p:nvSpPr>
        <p:spPr>
          <a:xfrm xmlns:a="http://schemas.openxmlformats.org/drawingml/2006/main">
            <a:off x="4610100" y="33909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Conducted core case research and tracked legal updates / DMCA claims.</a:t>
            </a:r>
          </a:p>
        </p:txBody>
      </p:sp>
      <p:sp>
        <p:nvSpPr>
          <p:cNvPr id="21" name="s6-l-label-R32314065">
            <a:extLst xmlns:a="http://schemas.openxmlformats.org/drawingml/2006/main">
              <a:ext uri="{FF2B5EF4-FFF2-40B4-BE49-F238E27FC236}">
                <a16:creationId xmlns:a16="http://schemas.microsoft.com/office/drawing/2014/main" id="{80F1B9AB-C4AC-4F90-8006-7F51CBC68802}"/>
              </a:ext>
            </a:extLst>
          </p:cNvPr>
          <p:cNvSpPr>
            <a:spLocks xmlns:a="http://schemas.openxmlformats.org/drawingml/2006/main" noGrp="1"/>
          </p:cNvSpPr>
          <p:nvPr/>
        </p:nvSpPr>
        <p:spPr>
          <a:xfrm xmlns:a="http://schemas.openxmlformats.org/drawingml/2006/main">
            <a:off x="4610100" y="42481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E3A8A"/>
                </a:solidFill>
                <a:latin typeface="Aptos"/>
                <a:ea typeface="Aptos"/>
                <a:cs typeface="Aptos"/>
              </a:defRPr>
            </a:pPr>
            <a:r>
              <a:rPr sz="1350" b="1">
                <a:solidFill>
                  <a:srgbClr val="1E3A8A"/>
                </a:solidFill>
                <a:latin typeface="Aptos"/>
                <a:ea typeface="Aptos"/>
                <a:cs typeface="Aptos"/>
              </a:rPr>
              <a:t>Key Learning</a:t>
            </a:r>
          </a:p>
        </p:txBody>
      </p:sp>
      <p:sp>
        <p:nvSpPr>
          <p:cNvPr id="22" name="s6-l-R32314065">
            <a:extLst xmlns:a="http://schemas.openxmlformats.org/drawingml/2006/main">
              <a:ext uri="{FF2B5EF4-FFF2-40B4-BE49-F238E27FC236}">
                <a16:creationId xmlns:a16="http://schemas.microsoft.com/office/drawing/2014/main" id="{BA5CD36B-0D7A-4B73-847B-EBB73FF74A13}"/>
              </a:ext>
            </a:extLst>
          </p:cNvPr>
          <p:cNvSpPr>
            <a:spLocks xmlns:a="http://schemas.openxmlformats.org/drawingml/2006/main" noGrp="1"/>
          </p:cNvSpPr>
          <p:nvPr/>
        </p:nvSpPr>
        <p:spPr>
          <a:xfrm xmlns:a="http://schemas.openxmlformats.org/drawingml/2006/main">
            <a:off x="4610100" y="4533900"/>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Learned complexities of platform liability and statutory limitations.</a:t>
            </a:r>
          </a:p>
        </p:txBody>
      </p:sp>
      <p:sp>
        <p:nvSpPr>
          <p:cNvPr id="23" name="s6-card-R32314063">
            <a:extLst xmlns:a="http://schemas.openxmlformats.org/drawingml/2006/main">
              <a:ext uri="{FF2B5EF4-FFF2-40B4-BE49-F238E27FC236}">
                <a16:creationId xmlns:a16="http://schemas.microsoft.com/office/drawing/2014/main" id="{F942C93C-6D38-4F97-8D13-3F3DC251F5F9}"/>
              </a:ext>
            </a:extLst>
          </p:cNvPr>
          <p:cNvSpPr>
            <a:spLocks xmlns:a="http://schemas.openxmlformats.org/drawingml/2006/main" noGrp="1"/>
          </p:cNvSpPr>
          <p:nvPr/>
        </p:nvSpPr>
        <p:spPr>
          <a:xfrm xmlns:a="http://schemas.openxmlformats.org/drawingml/2006/main">
            <a:off x="8001000" y="1619250"/>
            <a:ext cx="3200400" cy="3943350"/>
          </a:xfrm>
          <a:prstGeom xmlns:a="http://schemas.openxmlformats.org/drawingml/2006/main" prst="roundRect">
            <a:avLst>
              <a:gd name="adj" fmla="val 2381"/>
            </a:avLst>
          </a:prstGeom>
          <a:solidFill xmlns:a="http://schemas.openxmlformats.org/drawingml/2006/main">
            <a:srgbClr val="FFFFFF"/>
          </a:solidFill>
          <a:ln xmlns:a="http://schemas.openxmlformats.org/drawingml/2006/main" w="9525">
            <a:solidFill>
              <a:srgbClr val="E2E8F0"/>
            </a:solidFill>
            <a:prstDash val="solid"/>
          </a:ln>
        </p:spPr>
      </p:sp>
      <p:sp>
        <p:nvSpPr>
          <p:cNvPr id="24" name="s6-top-R32314063">
            <a:extLst xmlns:a="http://schemas.openxmlformats.org/drawingml/2006/main">
              <a:ext uri="{FF2B5EF4-FFF2-40B4-BE49-F238E27FC236}">
                <a16:creationId xmlns:a16="http://schemas.microsoft.com/office/drawing/2014/main" id="{4B749EF5-B5EC-4D19-B31D-1AA6AC5B25F3}"/>
              </a:ext>
            </a:extLst>
          </p:cNvPr>
          <p:cNvSpPr>
            <a:spLocks xmlns:a="http://schemas.openxmlformats.org/drawingml/2006/main" noGrp="1"/>
          </p:cNvSpPr>
          <p:nvPr/>
        </p:nvSpPr>
        <p:spPr>
          <a:xfrm xmlns:a="http://schemas.openxmlformats.org/drawingml/2006/main">
            <a:off x="8001000" y="1619250"/>
            <a:ext cx="3200400" cy="76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5" name="s6-name-R32314063">
            <a:extLst xmlns:a="http://schemas.openxmlformats.org/drawingml/2006/main">
              <a:ext uri="{FF2B5EF4-FFF2-40B4-BE49-F238E27FC236}">
                <a16:creationId xmlns:a16="http://schemas.microsoft.com/office/drawing/2014/main" id="{6A54EF5D-75BD-4088-A9A2-88A9BAF9A9ED}"/>
              </a:ext>
            </a:extLst>
          </p:cNvPr>
          <p:cNvSpPr>
            <a:spLocks xmlns:a="http://schemas.openxmlformats.org/drawingml/2006/main" noGrp="1"/>
          </p:cNvSpPr>
          <p:nvPr/>
        </p:nvSpPr>
        <p:spPr>
          <a:xfrm xmlns:a="http://schemas.openxmlformats.org/drawingml/2006/main">
            <a:off x="8267700" y="194310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F172A"/>
                </a:solidFill>
                <a:latin typeface="Aptos"/>
                <a:ea typeface="Aptos"/>
                <a:cs typeface="Aptos"/>
              </a:defRPr>
            </a:pPr>
            <a:r>
              <a:rPr sz="1875" b="1">
                <a:solidFill>
                  <a:srgbClr val="0F172A"/>
                </a:solidFill>
                <a:latin typeface="Aptos"/>
                <a:ea typeface="Aptos"/>
                <a:cs typeface="Aptos"/>
              </a:rPr>
              <a:t>Yihang Wang</a:t>
            </a:r>
          </a:p>
          <a:p xmlns:a="http://schemas.openxmlformats.org/drawingml/2006/main">
            <a:pPr algn="l">
              <a:defRPr sz="1875" b="1">
                <a:solidFill>
                  <a:srgbClr val="0F172A"/>
                </a:solidFill>
                <a:latin typeface="Aptos"/>
                <a:ea typeface="Aptos"/>
                <a:cs typeface="Aptos"/>
              </a:defRPr>
            </a:pPr>
            <a:r>
              <a:rPr sz="1875" b="1">
                <a:solidFill>
                  <a:srgbClr val="0F172A"/>
                </a:solidFill>
                <a:latin typeface="Aptos"/>
                <a:ea typeface="Aptos"/>
                <a:cs typeface="Aptos"/>
              </a:rPr>
              <a:t>王一航</a:t>
            </a:r>
          </a:p>
        </p:txBody>
      </p:sp>
      <p:sp>
        <p:nvSpPr>
          <p:cNvPr id="26" name="s6-id-R32314063">
            <a:extLst xmlns:a="http://schemas.openxmlformats.org/drawingml/2006/main">
              <a:ext uri="{FF2B5EF4-FFF2-40B4-BE49-F238E27FC236}">
                <a16:creationId xmlns:a16="http://schemas.microsoft.com/office/drawing/2014/main" id="{5797913F-8643-4EFB-A535-800C226D8B62}"/>
              </a:ext>
            </a:extLst>
          </p:cNvPr>
          <p:cNvSpPr>
            <a:spLocks xmlns:a="http://schemas.openxmlformats.org/drawingml/2006/main" noGrp="1"/>
          </p:cNvSpPr>
          <p:nvPr/>
        </p:nvSpPr>
        <p:spPr>
          <a:xfrm xmlns:a="http://schemas.openxmlformats.org/drawingml/2006/main">
            <a:off x="8267700" y="26098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F766E"/>
                </a:solidFill>
                <a:latin typeface="Aptos"/>
                <a:ea typeface="Aptos"/>
                <a:cs typeface="Aptos"/>
              </a:defRPr>
            </a:pPr>
            <a:r>
              <a:rPr sz="1200" b="1">
                <a:solidFill>
                  <a:srgbClr val="0F766E"/>
                </a:solidFill>
                <a:latin typeface="Aptos"/>
                <a:ea typeface="Aptos"/>
                <a:cs typeface="Aptos"/>
              </a:rPr>
              <a:t>R32314063</a:t>
            </a:r>
          </a:p>
        </p:txBody>
      </p:sp>
      <p:sp>
        <p:nvSpPr>
          <p:cNvPr id="27" name="s6-c-label-R32314063">
            <a:extLst xmlns:a="http://schemas.openxmlformats.org/drawingml/2006/main">
              <a:ext uri="{FF2B5EF4-FFF2-40B4-BE49-F238E27FC236}">
                <a16:creationId xmlns:a16="http://schemas.microsoft.com/office/drawing/2014/main" id="{2E1DCA82-BBF3-4842-A559-118B55278BEC}"/>
              </a:ext>
            </a:extLst>
          </p:cNvPr>
          <p:cNvSpPr>
            <a:spLocks xmlns:a="http://schemas.openxmlformats.org/drawingml/2006/main" noGrp="1"/>
          </p:cNvSpPr>
          <p:nvPr/>
        </p:nvSpPr>
        <p:spPr>
          <a:xfrm xmlns:a="http://schemas.openxmlformats.org/drawingml/2006/main">
            <a:off x="8267700" y="31051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E3A8A"/>
                </a:solidFill>
                <a:latin typeface="Aptos"/>
                <a:ea typeface="Aptos"/>
                <a:cs typeface="Aptos"/>
              </a:defRPr>
            </a:pPr>
            <a:r>
              <a:rPr sz="1350" b="1">
                <a:solidFill>
                  <a:srgbClr val="1E3A8A"/>
                </a:solidFill>
                <a:latin typeface="Aptos"/>
                <a:ea typeface="Aptos"/>
                <a:cs typeface="Aptos"/>
              </a:rPr>
              <a:t>Contribution</a:t>
            </a:r>
          </a:p>
        </p:txBody>
      </p:sp>
      <p:sp>
        <p:nvSpPr>
          <p:cNvPr id="28" name="s6-c-R32314063">
            <a:extLst xmlns:a="http://schemas.openxmlformats.org/drawingml/2006/main">
              <a:ext uri="{FF2B5EF4-FFF2-40B4-BE49-F238E27FC236}">
                <a16:creationId xmlns:a16="http://schemas.microsoft.com/office/drawing/2014/main" id="{C02129AA-B56F-40C4-90FB-76A700F3802C}"/>
              </a:ext>
            </a:extLst>
          </p:cNvPr>
          <p:cNvSpPr>
            <a:spLocks xmlns:a="http://schemas.openxmlformats.org/drawingml/2006/main" noGrp="1"/>
          </p:cNvSpPr>
          <p:nvPr/>
        </p:nvSpPr>
        <p:spPr>
          <a:xfrm xmlns:a="http://schemas.openxmlformats.org/drawingml/2006/main">
            <a:off x="8267700" y="3390900"/>
            <a:ext cx="2571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Developed ethical evaluation and synthesized licensing solutions.</a:t>
            </a:r>
          </a:p>
        </p:txBody>
      </p:sp>
      <p:sp>
        <p:nvSpPr>
          <p:cNvPr id="29" name="s6-l-label-R32314063">
            <a:extLst xmlns:a="http://schemas.openxmlformats.org/drawingml/2006/main">
              <a:ext uri="{FF2B5EF4-FFF2-40B4-BE49-F238E27FC236}">
                <a16:creationId xmlns:a16="http://schemas.microsoft.com/office/drawing/2014/main" id="{EB30A82D-2090-4294-B2E8-97160F9E57D4}"/>
              </a:ext>
            </a:extLst>
          </p:cNvPr>
          <p:cNvSpPr>
            <a:spLocks xmlns:a="http://schemas.openxmlformats.org/drawingml/2006/main" noGrp="1"/>
          </p:cNvSpPr>
          <p:nvPr/>
        </p:nvSpPr>
        <p:spPr>
          <a:xfrm xmlns:a="http://schemas.openxmlformats.org/drawingml/2006/main">
            <a:off x="8267700" y="42481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E3A8A"/>
                </a:solidFill>
                <a:latin typeface="Aptos"/>
                <a:ea typeface="Aptos"/>
                <a:cs typeface="Aptos"/>
              </a:defRPr>
            </a:pPr>
            <a:r>
              <a:rPr sz="1350" b="1">
                <a:solidFill>
                  <a:srgbClr val="1E3A8A"/>
                </a:solidFill>
                <a:latin typeface="Aptos"/>
                <a:ea typeface="Aptos"/>
                <a:cs typeface="Aptos"/>
              </a:rPr>
              <a:t>Key Learning</a:t>
            </a:r>
          </a:p>
        </p:txBody>
      </p:sp>
      <p:sp>
        <p:nvSpPr>
          <p:cNvPr id="30" name="s6-l-R32314063">
            <a:extLst xmlns:a="http://schemas.openxmlformats.org/drawingml/2006/main">
              <a:ext uri="{FF2B5EF4-FFF2-40B4-BE49-F238E27FC236}">
                <a16:creationId xmlns:a16="http://schemas.microsoft.com/office/drawing/2014/main" id="{9298A2BD-A176-4568-ADB9-6493C81A8C32}"/>
              </a:ext>
            </a:extLst>
          </p:cNvPr>
          <p:cNvSpPr>
            <a:spLocks xmlns:a="http://schemas.openxmlformats.org/drawingml/2006/main" noGrp="1"/>
          </p:cNvSpPr>
          <p:nvPr/>
        </p:nvSpPr>
        <p:spPr>
          <a:xfrm xmlns:a="http://schemas.openxmlformats.org/drawingml/2006/main">
            <a:off x="8267700" y="4533900"/>
            <a:ext cx="2571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F172A"/>
                </a:solidFill>
                <a:latin typeface="Aptos"/>
                <a:ea typeface="Aptos"/>
                <a:cs typeface="Aptos"/>
              </a:defRPr>
            </a:pPr>
            <a:r>
              <a:rPr sz="1350" b="0">
                <a:solidFill>
                  <a:srgbClr val="0F172A"/>
                </a:solidFill>
                <a:latin typeface="Aptos"/>
                <a:ea typeface="Aptos"/>
                <a:cs typeface="Aptos"/>
              </a:rPr>
              <a:t>Gained insight into AI engineers' responsibilities for societal fairness.</a:t>
            </a:r>
          </a:p>
        </p:txBody>
      </p:sp>
    </p:spTree>
    <p:extLst>
      <p:ext uri="{BB962C8B-B14F-4D97-AF65-F5344CB8AC3E}">
        <p14:creationId xmlns:p14="http://schemas.microsoft.com/office/powerpoint/2010/main" val="742356909"/>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 name="kicker-7">
            <a:extLst xmlns:a="http://schemas.openxmlformats.org/drawingml/2006/main">
              <a:ext uri="{FF2B5EF4-FFF2-40B4-BE49-F238E27FC236}">
                <a16:creationId xmlns:a16="http://schemas.microsoft.com/office/drawing/2014/main" id="{3F261E1D-8988-4D29-9B3F-B0689D98AF2F}"/>
              </a:ext>
            </a:extLst>
          </p:cNvPr>
          <p:cNvSpPr>
            <a:spLocks xmlns:a="http://schemas.openxmlformats.org/drawingml/2006/main" noGrp="1"/>
          </p:cNvSpPr>
          <p:nvPr/>
        </p:nvSpPr>
        <p:spPr>
          <a:xfrm xmlns:a="http://schemas.openxmlformats.org/drawingml/2006/main">
            <a:off x="685800" y="400050"/>
            <a:ext cx="590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F766E"/>
                </a:solidFill>
                <a:latin typeface="Aptos"/>
                <a:ea typeface="Aptos"/>
                <a:cs typeface="Aptos"/>
              </a:defRPr>
            </a:pPr>
            <a:r>
              <a:rPr sz="900" b="1">
                <a:solidFill>
                  <a:srgbClr val="0F766E"/>
                </a:solidFill>
                <a:latin typeface="Aptos"/>
                <a:ea typeface="Aptos"/>
                <a:cs typeface="Aptos"/>
              </a:rPr>
              <a:t>GENERATIVE AI TRAINING AND NEWS COPYRIGHT</a:t>
            </a:r>
          </a:p>
        </p:txBody>
      </p:sp>
      <p:sp>
        <p:nvSpPr>
          <p:cNvPr id="2" name="title-7">
            <a:extLst xmlns:a="http://schemas.openxmlformats.org/drawingml/2006/main">
              <a:ext uri="{FF2B5EF4-FFF2-40B4-BE49-F238E27FC236}">
                <a16:creationId xmlns:a16="http://schemas.microsoft.com/office/drawing/2014/main" id="{41D26CDF-22B0-4F0C-83F7-BE0C27A42FA2}"/>
              </a:ext>
            </a:extLst>
          </p:cNvPr>
          <p:cNvSpPr>
            <a:spLocks xmlns:a="http://schemas.openxmlformats.org/drawingml/2006/main" noGrp="1"/>
          </p:cNvSpPr>
          <p:nvPr/>
        </p:nvSpPr>
        <p:spPr>
          <a:xfrm xmlns:a="http://schemas.openxmlformats.org/drawingml/2006/main">
            <a:off x="685800" y="647700"/>
            <a:ext cx="809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0F172A"/>
                </a:solidFill>
                <a:latin typeface="Aptos Display"/>
                <a:ea typeface="Aptos Display"/>
                <a:cs typeface="Aptos Display"/>
              </a:defRPr>
            </a:pPr>
            <a:r>
              <a:rPr sz="2700" b="1">
                <a:solidFill>
                  <a:srgbClr val="0F172A"/>
                </a:solidFill>
                <a:latin typeface="Aptos Display"/>
                <a:ea typeface="Aptos Display"/>
                <a:cs typeface="Aptos Display"/>
              </a:rPr>
              <a:t>Conclusion &amp; References</a:t>
            </a:r>
          </a:p>
        </p:txBody>
      </p:sp>
      <p:sp>
        <p:nvSpPr>
          <p:cNvPr id="3" name="accent-7">
            <a:extLst xmlns:a="http://schemas.openxmlformats.org/drawingml/2006/main">
              <a:ext uri="{FF2B5EF4-FFF2-40B4-BE49-F238E27FC236}">
                <a16:creationId xmlns:a16="http://schemas.microsoft.com/office/drawing/2014/main" id="{F56CE275-6E78-4CD6-8EBE-F6AC15F06315}"/>
              </a:ext>
            </a:extLst>
          </p:cNvPr>
          <p:cNvSpPr>
            <a:spLocks xmlns:a="http://schemas.openxmlformats.org/drawingml/2006/main" noGrp="1"/>
          </p:cNvSpPr>
          <p:nvPr/>
        </p:nvSpPr>
        <p:spPr>
          <a:xfrm xmlns:a="http://schemas.openxmlformats.org/drawingml/2006/main">
            <a:off x="685800" y="1238250"/>
            <a:ext cx="800100" cy="47625"/>
          </a:xfrm>
          <a:prstGeom xmlns:a="http://schemas.openxmlformats.org/drawingml/2006/main" prst="rect">
            <a:avLst/>
          </a:prstGeom>
          <a:solidFill xmlns:a="http://schemas.openxmlformats.org/drawingml/2006/main">
            <a:srgbClr val="F59E0B"/>
          </a:solidFill>
          <a:ln xmlns:a="http://schemas.openxmlformats.org/drawingml/2006/main" w="0">
            <a:noFill/>
            <a:prstDash val="solid"/>
          </a:ln>
        </p:spPr>
      </p:sp>
      <p:sp>
        <p:nvSpPr>
          <p:cNvPr id="4" name="footer-rule-7">
            <a:extLst xmlns:a="http://schemas.openxmlformats.org/drawingml/2006/main">
              <a:ext uri="{FF2B5EF4-FFF2-40B4-BE49-F238E27FC236}">
                <a16:creationId xmlns:a16="http://schemas.microsoft.com/office/drawing/2014/main" id="{0C8D9A1D-7437-407E-87F2-523CBF61689C}"/>
              </a:ext>
            </a:extLst>
          </p:cNvPr>
          <p:cNvSpPr>
            <a:spLocks xmlns:a="http://schemas.openxmlformats.org/drawingml/2006/main" noGrp="1"/>
          </p:cNvSpPr>
          <p:nvPr/>
        </p:nvSpPr>
        <p:spPr>
          <a:xfrm xmlns:a="http://schemas.openxmlformats.org/drawingml/2006/main">
            <a:off x="685800" y="6324600"/>
            <a:ext cx="10820400" cy="14288"/>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5" name="footer-course-7">
            <a:extLst xmlns:a="http://schemas.openxmlformats.org/drawingml/2006/main">
              <a:ext uri="{FF2B5EF4-FFF2-40B4-BE49-F238E27FC236}">
                <a16:creationId xmlns:a16="http://schemas.microsoft.com/office/drawing/2014/main" id="{5615930F-4E8F-4A0D-A8E6-4D3514842658}"/>
              </a:ext>
            </a:extLst>
          </p:cNvPr>
          <p:cNvSpPr>
            <a:spLocks xmlns:a="http://schemas.openxmlformats.org/drawingml/2006/main" noGrp="1"/>
          </p:cNvSpPr>
          <p:nvPr/>
        </p:nvSpPr>
        <p:spPr>
          <a:xfrm xmlns:a="http://schemas.openxmlformats.org/drawingml/2006/main">
            <a:off x="685800" y="643890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475569"/>
                </a:solidFill>
                <a:latin typeface="Aptos"/>
                <a:ea typeface="Aptos"/>
                <a:cs typeface="Aptos"/>
              </a:defRPr>
            </a:pPr>
            <a:r>
              <a:rPr sz="975" b="0">
                <a:solidFill>
                  <a:srgbClr val="475569"/>
                </a:solidFill>
                <a:latin typeface="Aptos"/>
                <a:ea typeface="Aptos"/>
                <a:cs typeface="Aptos"/>
              </a:rPr>
              <a:t>ISE 312 | Legal, Social, and Ethical Issues in Information Systems</a:t>
            </a:r>
          </a:p>
        </p:txBody>
      </p:sp>
      <p:sp>
        <p:nvSpPr>
          <p:cNvPr id="6" name="footer-page-7">
            <a:extLst xmlns:a="http://schemas.openxmlformats.org/drawingml/2006/main">
              <a:ext uri="{FF2B5EF4-FFF2-40B4-BE49-F238E27FC236}">
                <a16:creationId xmlns:a16="http://schemas.microsoft.com/office/drawing/2014/main" id="{1B4AE7FA-A3DB-4BF3-B895-9CEC0C4316D9}"/>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r">
              <a:defRPr sz="975" b="0">
                <a:solidFill>
                  <a:srgbClr val="475569"/>
                </a:solidFill>
                <a:latin typeface="Aptos"/>
                <a:ea typeface="Aptos"/>
                <a:cs typeface="Aptos"/>
              </a:defRPr>
            </a:pPr>
            <a:r>
              <a:rPr sz="975" b="0">
                <a:solidFill>
                  <a:srgbClr val="475569"/>
                </a:solidFill>
                <a:latin typeface="Aptos"/>
                <a:ea typeface="Aptos"/>
                <a:cs typeface="Aptos"/>
              </a:rPr>
              <a:t>07</a:t>
            </a:r>
          </a:p>
        </p:txBody>
      </p:sp>
      <p:sp>
        <p:nvSpPr>
          <p:cNvPr id="7" name="s7-left">
            <a:extLst xmlns:a="http://schemas.openxmlformats.org/drawingml/2006/main">
              <a:ext uri="{FF2B5EF4-FFF2-40B4-BE49-F238E27FC236}">
                <a16:creationId xmlns:a16="http://schemas.microsoft.com/office/drawing/2014/main" id="{26A49412-E0C4-4999-9293-601E5587A63C}"/>
              </a:ext>
            </a:extLst>
          </p:cNvPr>
          <p:cNvSpPr>
            <a:spLocks xmlns:a="http://schemas.openxmlformats.org/drawingml/2006/main" noGrp="1"/>
          </p:cNvSpPr>
          <p:nvPr/>
        </p:nvSpPr>
        <p:spPr>
          <a:xfrm xmlns:a="http://schemas.openxmlformats.org/drawingml/2006/main">
            <a:off x="685800" y="1581150"/>
            <a:ext cx="47625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E2E8F0"/>
            </a:solidFill>
            <a:prstDash val="solid"/>
          </a:ln>
        </p:spPr>
      </p:sp>
      <p:sp>
        <p:nvSpPr>
          <p:cNvPr id="8" name="s7-takeaway-title">
            <a:extLst xmlns:a="http://schemas.openxmlformats.org/drawingml/2006/main">
              <a:ext uri="{FF2B5EF4-FFF2-40B4-BE49-F238E27FC236}">
                <a16:creationId xmlns:a16="http://schemas.microsoft.com/office/drawing/2014/main" id="{1EC22647-BE11-4497-B125-86B263D555B5}"/>
              </a:ext>
            </a:extLst>
          </p:cNvPr>
          <p:cNvSpPr>
            <a:spLocks xmlns:a="http://schemas.openxmlformats.org/drawingml/2006/main" noGrp="1"/>
          </p:cNvSpPr>
          <p:nvPr/>
        </p:nvSpPr>
        <p:spPr>
          <a:xfrm xmlns:a="http://schemas.openxmlformats.org/drawingml/2006/main">
            <a:off x="1047750" y="198120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766E"/>
                </a:solidFill>
                <a:latin typeface="Aptos"/>
                <a:ea typeface="Aptos"/>
                <a:cs typeface="Aptos"/>
              </a:defRPr>
            </a:pPr>
            <a:r>
              <a:rPr sz="1800" b="1">
                <a:solidFill>
                  <a:srgbClr val="0F766E"/>
                </a:solidFill>
                <a:latin typeface="Aptos"/>
                <a:ea typeface="Aptos"/>
                <a:cs typeface="Aptos"/>
              </a:rPr>
              <a:t>Key Takeaway</a:t>
            </a:r>
          </a:p>
        </p:txBody>
      </p:sp>
      <p:sp>
        <p:nvSpPr>
          <p:cNvPr id="9" name="s7-takeaway">
            <a:extLst xmlns:a="http://schemas.openxmlformats.org/drawingml/2006/main">
              <a:ext uri="{FF2B5EF4-FFF2-40B4-BE49-F238E27FC236}">
                <a16:creationId xmlns:a16="http://schemas.microsoft.com/office/drawing/2014/main" id="{EA6FB8E8-2E73-421D-BBC1-9290318AA2D8}"/>
              </a:ext>
            </a:extLst>
          </p:cNvPr>
          <p:cNvSpPr>
            <a:spLocks xmlns:a="http://schemas.openxmlformats.org/drawingml/2006/main" noGrp="1"/>
          </p:cNvSpPr>
          <p:nvPr/>
        </p:nvSpPr>
        <p:spPr>
          <a:xfrm xmlns:a="http://schemas.openxmlformats.org/drawingml/2006/main">
            <a:off x="1047750" y="2495550"/>
            <a:ext cx="3714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0F172A"/>
                </a:solidFill>
                <a:latin typeface="Aptos"/>
                <a:ea typeface="Aptos"/>
                <a:cs typeface="Aptos"/>
              </a:defRPr>
            </a:pPr>
            <a:r>
              <a:rPr sz="1650" b="0">
                <a:solidFill>
                  <a:srgbClr val="0F172A"/>
                </a:solidFill>
                <a:latin typeface="Aptos"/>
                <a:ea typeface="Aptos"/>
                <a:cs typeface="Aptos"/>
              </a:rPr>
              <a:t>• Technological advancement cannot bypass established legal and ethical boundaries.</a:t>
            </a:r>
          </a:p>
          <a:p xmlns:a="http://schemas.openxmlformats.org/drawingml/2006/main">
            <a:pPr algn="l">
              <a:defRPr sz="1650" b="0">
                <a:solidFill>
                  <a:srgbClr val="0F172A"/>
                </a:solidFill>
                <a:latin typeface="Aptos"/>
                <a:ea typeface="Aptos"/>
                <a:cs typeface="Aptos"/>
              </a:defRPr>
            </a:pPr>
            <a:r>
              <a:rPr sz="1650" b="0">
                <a:solidFill>
                  <a:srgbClr val="0F172A"/>
                </a:solidFill>
                <a:latin typeface="Aptos"/>
                <a:ea typeface="Aptos"/>
                <a:cs typeface="Aptos"/>
              </a:rPr>
              <a:t>• Sustainable information systems must protect the human labor they rely on.</a:t>
            </a:r>
          </a:p>
        </p:txBody>
      </p:sp>
      <p:sp>
        <p:nvSpPr>
          <p:cNvPr id="10" name="s7-future-title">
            <a:extLst xmlns:a="http://schemas.openxmlformats.org/drawingml/2006/main">
              <a:ext uri="{FF2B5EF4-FFF2-40B4-BE49-F238E27FC236}">
                <a16:creationId xmlns:a16="http://schemas.microsoft.com/office/drawing/2014/main" id="{BE2CDCDB-9429-48D5-8124-1BE9518A2CDD}"/>
              </a:ext>
            </a:extLst>
          </p:cNvPr>
          <p:cNvSpPr>
            <a:spLocks xmlns:a="http://schemas.openxmlformats.org/drawingml/2006/main" noGrp="1"/>
          </p:cNvSpPr>
          <p:nvPr/>
        </p:nvSpPr>
        <p:spPr>
          <a:xfrm xmlns:a="http://schemas.openxmlformats.org/drawingml/2006/main">
            <a:off x="1047750" y="40576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F766E"/>
                </a:solidFill>
                <a:latin typeface="Aptos"/>
                <a:ea typeface="Aptos"/>
                <a:cs typeface="Aptos"/>
              </a:defRPr>
            </a:pPr>
            <a:r>
              <a:rPr sz="1800" b="1">
                <a:solidFill>
                  <a:srgbClr val="0F766E"/>
                </a:solidFill>
                <a:latin typeface="Aptos"/>
                <a:ea typeface="Aptos"/>
                <a:cs typeface="Aptos"/>
              </a:rPr>
              <a:t>Future Impact</a:t>
            </a:r>
          </a:p>
        </p:txBody>
      </p:sp>
      <p:sp>
        <p:nvSpPr>
          <p:cNvPr id="11" name="s7-future">
            <a:extLst xmlns:a="http://schemas.openxmlformats.org/drawingml/2006/main">
              <a:ext uri="{FF2B5EF4-FFF2-40B4-BE49-F238E27FC236}">
                <a16:creationId xmlns:a16="http://schemas.microsoft.com/office/drawing/2014/main" id="{E7A9CDA1-BAA5-4840-8AF9-FFFBF63459D1}"/>
              </a:ext>
            </a:extLst>
          </p:cNvPr>
          <p:cNvSpPr>
            <a:spLocks xmlns:a="http://schemas.openxmlformats.org/drawingml/2006/main" noGrp="1"/>
          </p:cNvSpPr>
          <p:nvPr/>
        </p:nvSpPr>
        <p:spPr>
          <a:xfrm xmlns:a="http://schemas.openxmlformats.org/drawingml/2006/main">
            <a:off x="1047750" y="4514850"/>
            <a:ext cx="3714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650" b="0">
                <a:solidFill>
                  <a:srgbClr val="0F172A"/>
                </a:solidFill>
                <a:latin typeface="Aptos"/>
                <a:ea typeface="Aptos"/>
                <a:cs typeface="Aptos"/>
              </a:defRPr>
            </a:pPr>
            <a:r>
              <a:rPr sz="1650" b="0">
                <a:solidFill>
                  <a:srgbClr val="0F172A"/>
                </a:solidFill>
                <a:latin typeface="Aptos"/>
                <a:ea typeface="Aptos"/>
                <a:cs typeface="Aptos"/>
              </a:rPr>
              <a:t>Legal outcomes will decide whether future GenAI is built on collaborative licensing or continuing litigation.</a:t>
            </a:r>
          </a:p>
        </p:txBody>
      </p:sp>
      <p:sp>
        <p:nvSpPr>
          <p:cNvPr id="12" name="s7-right">
            <a:extLst xmlns:a="http://schemas.openxmlformats.org/drawingml/2006/main">
              <a:ext uri="{FF2B5EF4-FFF2-40B4-BE49-F238E27FC236}">
                <a16:creationId xmlns:a16="http://schemas.microsoft.com/office/drawing/2014/main" id="{A3E13F97-138E-4DDC-B663-DE942694C017}"/>
              </a:ext>
            </a:extLst>
          </p:cNvPr>
          <p:cNvSpPr>
            <a:spLocks xmlns:a="http://schemas.openxmlformats.org/drawingml/2006/main" noGrp="1"/>
          </p:cNvSpPr>
          <p:nvPr/>
        </p:nvSpPr>
        <p:spPr>
          <a:xfrm xmlns:a="http://schemas.openxmlformats.org/drawingml/2006/main">
            <a:off x="6019800" y="1581150"/>
            <a:ext cx="548640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E2E8F0"/>
            </a:solidFill>
            <a:prstDash val="solid"/>
          </a:ln>
        </p:spPr>
      </p:sp>
      <p:sp>
        <p:nvSpPr>
          <p:cNvPr id="13" name="s7-ref-title">
            <a:extLst xmlns:a="http://schemas.openxmlformats.org/drawingml/2006/main">
              <a:ext uri="{FF2B5EF4-FFF2-40B4-BE49-F238E27FC236}">
                <a16:creationId xmlns:a16="http://schemas.microsoft.com/office/drawing/2014/main" id="{8D7208A7-23AB-471D-B4E5-2D4DCD9FF6BC}"/>
              </a:ext>
            </a:extLst>
          </p:cNvPr>
          <p:cNvSpPr>
            <a:spLocks xmlns:a="http://schemas.openxmlformats.org/drawingml/2006/main" noGrp="1"/>
          </p:cNvSpPr>
          <p:nvPr/>
        </p:nvSpPr>
        <p:spPr>
          <a:xfrm xmlns:a="http://schemas.openxmlformats.org/drawingml/2006/main">
            <a:off x="6381750" y="19621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1E3A8A"/>
                </a:solidFill>
                <a:latin typeface="Aptos"/>
                <a:ea typeface="Aptos"/>
                <a:cs typeface="Aptos"/>
              </a:defRPr>
            </a:pPr>
            <a:r>
              <a:rPr sz="1800" b="1">
                <a:solidFill>
                  <a:srgbClr val="1E3A8A"/>
                </a:solidFill>
                <a:latin typeface="Aptos"/>
                <a:ea typeface="Aptos"/>
                <a:cs typeface="Aptos"/>
              </a:rPr>
              <a:t>References</a:t>
            </a:r>
          </a:p>
        </p:txBody>
      </p:sp>
      <p:sp>
        <p:nvSpPr>
          <p:cNvPr id="14" name="s7-refs">
            <a:extLst xmlns:a="http://schemas.openxmlformats.org/drawingml/2006/main">
              <a:ext uri="{FF2B5EF4-FFF2-40B4-BE49-F238E27FC236}">
                <a16:creationId xmlns:a16="http://schemas.microsoft.com/office/drawing/2014/main" id="{5C5BE041-D260-4626-B4EF-8B8E3FB5B736}"/>
              </a:ext>
            </a:extLst>
          </p:cNvPr>
          <p:cNvSpPr>
            <a:spLocks xmlns:a="http://schemas.openxmlformats.org/drawingml/2006/main" noGrp="1"/>
          </p:cNvSpPr>
          <p:nvPr/>
        </p:nvSpPr>
        <p:spPr>
          <a:xfrm xmlns:a="http://schemas.openxmlformats.org/drawingml/2006/main">
            <a:off x="6381750" y="2495550"/>
            <a:ext cx="4572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0F172A"/>
                </a:solidFill>
                <a:latin typeface="Aptos"/>
                <a:ea typeface="Aptos"/>
                <a:cs typeface="Aptos"/>
              </a:defRPr>
            </a:pPr>
            <a:r>
              <a:rPr sz="1200" b="0">
                <a:solidFill>
                  <a:srgbClr val="0F172A"/>
                </a:solidFill>
                <a:latin typeface="Aptos"/>
                <a:ea typeface="Aptos"/>
                <a:cs typeface="Aptos"/>
              </a:rPr>
              <a:t>Associated Press. (2025, March 26). Judge allows newspaper copyright lawsuit against OpenAI to proceed.</a:t>
            </a:r>
          </a:p>
          <a:p xmlns:a="http://schemas.openxmlformats.org/drawingml/2006/main">
            <a:r>
              <a:t/>
            </a:r>
          </a:p>
          <a:p xmlns:a="http://schemas.openxmlformats.org/drawingml/2006/main">
            <a:pPr algn="l">
              <a:defRPr sz="1200" b="0">
                <a:solidFill>
                  <a:srgbClr val="0F172A"/>
                </a:solidFill>
                <a:latin typeface="Aptos"/>
                <a:ea typeface="Aptos"/>
                <a:cs typeface="Aptos"/>
              </a:defRPr>
            </a:pPr>
            <a:r>
              <a:rPr sz="1200" b="0">
                <a:solidFill>
                  <a:srgbClr val="0F172A"/>
                </a:solidFill>
                <a:latin typeface="Aptos"/>
                <a:ea typeface="Aptos"/>
                <a:cs typeface="Aptos"/>
              </a:rPr>
              <a:t>U.S. Copyright Office. (2025, May). Copyright and Artificial Intelligence, Part 3: Generative AI Training.</a:t>
            </a:r>
          </a:p>
          <a:p xmlns:a="http://schemas.openxmlformats.org/drawingml/2006/main">
            <a:r>
              <a:t/>
            </a:r>
          </a:p>
          <a:p xmlns:a="http://schemas.openxmlformats.org/drawingml/2006/main">
            <a:pPr algn="l">
              <a:defRPr sz="1200" b="0">
                <a:solidFill>
                  <a:srgbClr val="0F172A"/>
                </a:solidFill>
                <a:latin typeface="Aptos"/>
                <a:ea typeface="Aptos"/>
                <a:cs typeface="Aptos"/>
              </a:defRPr>
            </a:pPr>
            <a:r>
              <a:rPr sz="1200" b="0">
                <a:solidFill>
                  <a:srgbClr val="0F172A"/>
                </a:solidFill>
                <a:latin typeface="Aptos"/>
                <a:ea typeface="Aptos"/>
                <a:cs typeface="Aptos"/>
              </a:rPr>
              <a:t>Justia. (2023-2026). The New York Times Company v. Microsoft Corporation et al., No. 1:23-cv-11195, S.D.N.Y.</a:t>
            </a:r>
          </a:p>
        </p:txBody>
      </p:sp>
      <p:sp>
        <p:nvSpPr>
          <p:cNvPr id="15" name="s7-close">
            <a:extLst xmlns:a="http://schemas.openxmlformats.org/drawingml/2006/main">
              <a:ext uri="{FF2B5EF4-FFF2-40B4-BE49-F238E27FC236}">
                <a16:creationId xmlns:a16="http://schemas.microsoft.com/office/drawing/2014/main" id="{ADDC0176-07C6-4710-8F28-CCF5699F5A1C}"/>
              </a:ext>
            </a:extLst>
          </p:cNvPr>
          <p:cNvSpPr>
            <a:spLocks xmlns:a="http://schemas.openxmlformats.org/drawingml/2006/main" noGrp="1"/>
          </p:cNvSpPr>
          <p:nvPr/>
        </p:nvSpPr>
        <p:spPr>
          <a:xfrm xmlns:a="http://schemas.openxmlformats.org/drawingml/2006/main">
            <a:off x="6381750" y="49339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F766E"/>
                </a:solidFill>
                <a:latin typeface="Aptos"/>
                <a:ea typeface="Aptos"/>
                <a:cs typeface="Aptos"/>
              </a:defRPr>
            </a:pPr>
            <a:r>
              <a:rPr sz="1500" b="1">
                <a:solidFill>
                  <a:srgbClr val="0F766E"/>
                </a:solidFill>
                <a:latin typeface="Aptos"/>
                <a:ea typeface="Aptos"/>
                <a:cs typeface="Aptos"/>
              </a:rPr>
              <a:t>Thank you. Questions are welcome.</a:t>
            </a:r>
          </a:p>
        </p:txBody>
      </p:sp>
    </p:spTree>
    <p:extLst>
      <p:ext uri="{BB962C8B-B14F-4D97-AF65-F5344CB8AC3E}">
        <p14:creationId xmlns:p14="http://schemas.microsoft.com/office/powerpoint/2010/main" val="4329179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2026-06-23T08:13:12.8030000Z</dcterms:created>
  <dcterms:modified xsi:type="dcterms:W3CDTF">2026-06-23T08:13:12.8030000Z</dcterms:modified>
</coreProperties>
</file>